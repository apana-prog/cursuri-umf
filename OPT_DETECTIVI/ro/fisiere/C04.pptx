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38-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Bine ați venit la a patra ședință, „Unde s-a mutat decizia”. Azi urmărim patru povești: o canalizare din Londra, o căutare la două noaptea, un telefon din buzunar și medicul care declară. Toate răspund la aceeași întrebare: cine află primul de o epidemie și cine hotărăște ce se face. Votăm pe Mentimeter, iar linkul este și în chat.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Prima întrebare a ședinței este chiar titlul ei. Dacă mâine ar începe o epidemie în Cluj, cine ar afla primul? Și cine ar hotărî ce se face? Scrieți în chat primul răspuns care vă vine în minte, fără să căutați formularea perfectă. Păstrați-l: la sfârșitul ședinței îl puteți compara cu ce ați aflat.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 prima ședință ați văzut o decizie care încăpea într-o singură mână. În seara de 7 septembrie 1854, John Snow s-a prezentat în fața consiliului parohiei St James, iar a doua zi, la 8 septembrie, mânerul pompei din Broad Street a fost scos. Un medic, o listă de decese, un consiliu local și un gest. Semnalul, argumentul și accesul la cei care puteau hotărî erau în aceleași mâini. Harta de pe ecran este chiar harta lui Snow. Astăzi, aceeași întrebare are un răspuns mai complicat, iar diapozitivul următor vă propune un răspuns provizoriu, pe care restul ședinței îl verifică.</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Răspunsul provizoriu are trei părți. Prima: semnalul s-a mutat mai devreme și mai departe de cabinet. Uneori, primul semn al unei epidemii nu mai este un bolnav, ci o probă de ape uzate, o curbă de căutări pe internet sau o schimbare în felul în care se deplasează oamenii. A doua: decizia nu s-a mutat la mașini. Ea rămâne la instituțiile care răspund pentru ea: direcțiile de sănătate publică, ministerele, comitetele de experți. Mașinile produc semnale; oamenii hotărăsc ce fac cu ele. A treia: primul lanț nu a dispărut. Medicul care pune un diagnostic și îl declară rămâne temelia. Țineți minte cele trei părți: la sfârșit vă întrebăm, pe Mentimeter, dacă le mai credeți pe toate trei.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Prima poveste începe la Londra, în 2022. Cu câteva luni înaintea comunicatului din 10 august, în apele uzate de la stația de epurare Beckton, din estul Londrei, a fost găsit poliovirus de tip 2. Între 8 februarie și 5 iulie 2022, în 19 probe de ape uzate au fost identificate 116 izolate. Cele mai multe semănau cu virusul din vaccinul oral. Numai câteva aveau destule mutații ca să fie numite „poliovirus derivat din vaccin”. Acestea îngrijorau mai mult: un asemenea virus, scrie agenția, se comportă mai degrabă ca virusul „sălbatic” și poate, rareori, să producă paralizie la persoanele nevaccinate. Denumirea nu este un termen de reținut pentru evaluare; este doar numele virusului din această poveste.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Comunicatul agenției britanice pentru securitate sanitară, din 10 august 2022, o citează pe epidemiologa agenției, dr. Vanessa Saliba, cu o frază simplă: „No cases of polio have been reported”, adică nu fusese raportat niciun caz de poliomielită. Opriți-vă puțin asupra acestei fraze. Nu fusese raportat niciun copil paralizat, niciun diagnostic. Exista, în schimb, virusul din canalizare. Semnalul a venit, așadar, înaintea oricărui bolnav. Pe diapozitivul următor treceți voi de partea celor care trebuie să hotărască ce se face cu un asemenea semnal.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Imaginați-vă că lucrați într-o direcție de sănătate publică. Este o dimineață de vară și laboratorul vă sună: în apele uzate ale unui cartier a fost găsit un virus care, la un copil nevaccinat, poate produce paralizie. Spitalele nu au niciun caz. Medicii de familie nu au raportat nimic. Părinții nu știu nimic. Aveți, deci, o singură informație: o probă din canalizare. Întrebarea este simplă de pus și grea de hotărât: așteptați primul bolnav, ca să fiți siguri, sau acționați acum, pe baza probei? Gândiți-vă ce ar însemna fiecare variantă pentru copiii din acel cartier. Pe diapozitivul următor votați.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Dacă ați conduce direcția de sănătate publică, ce ați face? Votul este anonim, pe Mentimeter, la codul de pe ecran sau din linkul din chat. După vot, scrieți în chat, într-o frază, ce informație v-ar lipsi ca să hotărâți. Citim câteva dintre răspunsurile voastre înainte să vedem ce s-a hotărât la Londra.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Să vedem ce ați votat și ce s-a hotărât. Decizia britanică a fost a patra variantă, începută cu a treia. Comitetul mixt pentru vaccinare și imunizare a recomandat ca toți copiii între 1 și 9 ani, din toate cartierele Londrei, să primească o doză suplimentară de vaccin polio inactivat; comunicatul este din 10 august 2022. Programul urma să înceapă cu zonele afectate, unde fusese găsit virusul și acoperirea vaccinală era mică, și să continue rapid în toate cartierele. Cine a votat a treia variantă a ales, deci, începutul programului; cine a votat a patra a ales întregul. Rămâne întrebarea de pe diapozitivul următor: de ce o decizie atât de largă, fără niciun bolnav?</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Comunicatul aduce trei argumente. Primul: cantitatea de virus găsită și diversitatea genetică mare a izolatelor arătau că transmiterea trecuse dincolo de un cerc restrâns de câțiva oameni. Al doilea: zonele în care virusul se transmitea aveau unele dintre cele mai mici acoperiri vaccinale din oraș. Al treilea: doza suplimentară urma să asigure o protecție ridicată față de paralizie și să ajute la reducerea răspândirii. În lectura acestui curs, a aștepta primul caz ar fi însemnat a aștepta exact evenimentul pe care vaccinarea voia să-l împiedice. Agenția nu s-a oprit la vaccinare: recolta probe din 8 puncte ale canalizării, alte 15 urmau să înceapă la jumătatea lunii august, iar în restul țării urmau 10–15 puncte. Canalizarea a devenit o hartă a orașului, la fel cum adresele morților îi arătaseră lui Snow pompa.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Primul termen nou: supravegherea apelor uzate. Înseamnă recoltarea regulată de probe din canalizare sau de la intrarea stațiilor de epurare și căutarea în ele a urmelor unor microbi, adică material genetic sau virusuri întregi, eliminați de oameni prin scaun, urină sau secreții. În limbaj obișnuit: în loc să numărăm bolnavii unul câte unul, analizăm ce a ajuns în canalizare de la toți locuitorii unei zone deodată. Gândiți-vă la căminul vostru. O stație de epurare primește apa de la zeci de mii de oameni: de la cei care s-au dus la medic și de la cei care nu s-au dus. De aceea proba nu depinde de piramida supravegherii despre care am vorbit data trecută. Bolnavul care stă acasă ajunge, totuși, în canalizare.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Supravegherea are și limite, pe care le spunem de la început. Prima: nu arată cine este bolnav. Proba spune că virusul a trecut prin canalizarea unei zone, nu ce persoană îl poartă, iar tratamentul cere, în continuare, diagnosticul individual. A doua: nu spune exact câți bolnavi sunt. Cantitatea de virus din apă depinde de factori pe care proba nu îi arată, așa că din ea nu se poate citi direct numărul bolnavilor. Se poate urmări, în schimb, dacă semnalul crește sau scade de la o probă la alta. A treia: cere o decizie umană. O probă pozitivă nu vaccinează pe nimeni. La Londra, între probă și vaccinare au stat agențiile care au recoltat și analizat probele, un comitet de experți și serviciul public de sănătate.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Cât de devreme vine semnalul? În primul val al pandemiei de COVID-19, cercetătorii de la Universitatea Yale au recoltat zilnic, între 19 martie și 1 iunie 2020, nămol primar, adică partea solidă care se depune la intrarea în stația de epurare, de la stația care deservea circa 200 000 de locuitori ai zonei New Haven. Citiți cu atenție cele trei comparații, pentru că spun lucruri diferite. Față de testele numărate după data recoltării, nămolul a fost înainte cu 0–2 zile, deci aproape nimic. Față de internări, cu 1–4 zile. Față de testele numărate după data raportării, cu 6–8 zile. Concluzia nu este că apele uzate „văd viitorul”. Ele ocolesc întârzierile: drumul bolnavului până la medic, al probei până la laborator, al rezultatului până în raport.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 orașul A, oricine face gratuit un test în aceeași zi, iar rezultatul ajunge la autorități în câteva ore. În orașul B, puțini oameni merg la medic, testele se plătesc, iar rezultatele se raportează o dată pe săptămână. Unde ar fi mai utilă supravegherea apelor uzate? Scrieți în chat argumentul într-o frază, apoi votați pe Mentimeter.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Să vedem ce ați votat. Răspunsul care se sprijină pe studiul de la New Haven este orașul B. Acolo drumurile sunt lungi: până la medic, până la laborator, până în raport, iar canalizarea le ocolește. Autorii studiului adaugă că, acolo unde rezultatele testelor sunt raportate repede, avantajul de timp al apelor uzate se poate reduce mult. Aceasta ar fi situația orașului A. Regula de reținut este simplă: unde drumurile sunt lungi, canalizarea vă câștigă zile; unde sunt scurte, câștigă puțin. Comparați argumentul pe care l-ați scris în chat cu această regulă.</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Ceea ce la Londra a fost munca unor agenții, iar la New Haven studiul unor cercetători, devine, în Uniunea Europeană, o obligație. Directiva (UE) 2024/3019 privind apele uzate urbane cere, la articolul 17, fiecărui stat membru un sistem prin care autoritățile de sănătate publică și cele de epurare urmăresc în apele uzate agenți precum virusul SARS-CoV-2, virusul poliomielitic, virusul gripei și agenții patogeni emergenți. Este un sistem de „cooperare și coordonare”, cu rezultatele comunicate la timp autorităților de sănătate publică. Transpunerea trebuie făcută până la 31 iulie 2027. Potrivit directivei, până la sfârșitul facultății ar trebui să lucrați într-un sistem în care o parte din primele semnale nu mai vin din cabinete. Articolul se oprește însă aici: nu spune ce fac autoritățile mai departe. Decizia rămâne, și aici, la oameni.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 înseamnă toate acestea pentru voi? Un semnal din canalizare nu are nume, vârstă sau adresă. El spune unei instituții unde să caute, nu pe cine să trateze. Când veți vedea vreodată o știre de tipul „virusul a fost găsit în apele uzate ale orașului”, prima întrebare la care vă gândiți este, probabil, „câți bolnavi sunt?”. La ea proba nu poate răspunde, așa cum ați văzut la limitele ei. Întrebarea utilă este alta: „ce s-a hotărât să se facă și de către cine?”. Cu ea se încheie prima poveste. A doua începe la ora două noaptea, într-un cămin.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Este februarie, sesiunea. O colegă de cameră are febră, o durere de cap care nu trece și o tuse seacă. Nu vrea să meargă în unitatea de primiri urgențe (UPU) pentru o răceală. Ia telefonul și scrie în motorul de căutare: „febră mare dureri musculare gripă cât durează”. Căutarea nu ajunge la niciun medic. Nimeni nu o declară, nimeni nu o numără ca bolnavă. Dar căutarea a ajuns undeva: în jurnalele unei companii care primește, în aceeași noapte, milioane de căutări asemănătoare. Dacă într-o săptămână mult mai mulți oameni decât de obicei caută „simptome gripă”, nu înseamnă oare că a venit gripa? Exact această idee a stat la baza unui proiect care, timp de câțiva ani, a fost exemplul preferat al celor care credeau că datele de pe internet vor înlocui supravegherea clasică.</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Proiectul se numea Google Flu Trends. Estima, săptămânal, proporția consultațiilor pentru boală de tip gripal din Statele Unite, pornind de la căutările pe internet. Fusese construit ca să prezică rapoartele Centrelor pentru Controlul și Prevenirea Bolilor (CDC), care apar cu întârziere. Lazer și colegii lui povestesc, într-un articol din 2014, că în februarie 2013 sistemul estima de peste două ori mai multă gripă decât CDC. Nu a fost o greșeală de o săptămână. Între august 2011 și septembrie 2013, sistemul a văzut prea multă gripă în 100 din 108 săptămâni, iar în sezonul 2011–2012 a depășit nivelul real cu peste 50%. Versiunea inițială ratase complet pandemia de gripă din 2009, venită în afara sezonului obișnuit. Autorii îl descriu drept „în parte detector de gripă, în parte detector de iarnă”.</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Înainte de explicație, votați: de ce credeți că un sistem construit din milioane de căutări a văzut mai multă gripă decât exista? Votul este anonim, pe Mentimeter, la cod sau din linkul din chat. După vot, scrieți în chat argumentul vostru într-o frază. Dacă vedeți în chat un coleg care a votat altfel, răspundeți-i lui.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Lazer și colegii lui dau două explicații. Prima privește felul în care a fost construit sistemul. Versiunea inițială a căutat, între 50 de milioane de termeni de căutare, pe cei care se potriveau cel mai bine cu 1 152 de puncte de date ale CDC. Dezvoltatorii au fost nevoiți să elimine termeni care urcau și coborau odată cu sezonul gripal, dar nu aveau nicio legătură cu gripa, de exemplu cei despre baschetul din liceu. Gândiți-vă la ce înseamnă asta. Dacă aveți milioane de curbe și le căutați pe cele care seamănă cu curba gripei, veți găsi multe care seamănă doar din întâmplare: tot ce crește iarna și scade primăvara. Un asemenea sistem învață iarna, nu gripa. Când gripa a venit vara, în 2009, nu a văzut-o.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doua explicație privește chiar motorul de căutare. Compania își testa și își îmbunătățea permanent motorul: numai în iunie și iulie 2012, blogul ei oficial a anunțat 86 de schimbări. Din iunie 2011 motorul sugera căutări suplimentare, iar din februarie 2012 propunea diagnostice posibile pentru simptome ca febra și tusea. Căutările despre deosebirea dintre răceală și gripă urmăresc îndeaproape erorile sistemului. Fiecare schimbare modifica ceea ce caută oamenii și, odată cu aceasta, datele din care se calcula gripa. Panica alimentată de presă poate să fi contat, scriu autorii, dar nu explică peste 2 ani de erori. Autorii presupun că schimbările susțineau modelul de afaceri al companiei. Datele nu veneau, așadar, de la un instrument de măsură, ci de la un produs comercial.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Să vedem ce ați votat. Fiecare variantă are o parte de adevăr. Iarna confundată cu gripa vine din prima explicație, felul în care a fost construit sistemul. Răceala și știrile vin din a doua explicație: ce caută oamenii și cum îi ghidează motorul de căutare. De aceea varianta cea mai apropiată de surse este ultima, „toate acestea pot fi adevărate”, cu o precizare: știrile, singure, nu explică doi ani de erori. Uitați-vă în chat la argumentele scrise înainte de explicație și vedeți care dintre ele se potrivesc cu una dintre cele două explicații.</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doilea termen nou: epidemiologia digitală. În limbaj obișnuit, înseamnă urmele pe care le lăsăm zilnic, folosite ca să înțelegem cum se răspândește o boală. Marcel Salathé propune, în 2018, două definiții. Cea largă: orice epidemiologie care folosește date digitale. Cea îngustă, pe care el o găsește mai atrăgătoare și mai provocatoare: epidemiologia care folosește date care nu au fost produse cu scopul principal de a face epidemiologie, cum sunt căutările, mesajele publice, datele telefoanelor și achizițiile. De aici vin și puterea, și slăbiciunea lor. Sunt multe, sunt rapide și ajung și la oamenii care nu merg la medic. Dar nimeni nu le-a proiectat ca să măsoare ceva anume. În lectura acestui curs, apele uzate nu intră aici: sunt un instrument proiectat pentru sănătate.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 fi ușor să trageți concluzia că datele de pe internet nu sunt bune de nimic. Autorii articolului spun altceva. Ei numesc greșeala de fond „big data hubris”, adică presupunerea, adesea nespusă, că datele de volum mare pot înlocui colectarea și analiza tradițională a datelor, în loc să le completeze. Când au combinat Google Flu Trends cu datele CDC, chiar întârziate, eroarea a scăzut mult față de fiecare sursă luată separat. Salathé adaugă, în 2018, o problemă mai mare decât erorile: datele erau private, așa că nimeni din afara companiei nu putea reproduce și cerceta algoritmul. În lectura acestui curs, este aceeași lecție ca la apele uzate: semnalul nou ajută când se adaugă lanțului clasic, nu când pretinde că îl înlocuiește.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Acum un titlu real din presa științifică, din revista Nature, februarie 2013: „When Google got flu wrong”, adică „Când Google a greșit cu gripa”. Subtitlul spune că epidemia din Statele Unite derutează o metodă de vârf de urmărire a gripei pe internet. Folosim numai titlul și subtitlul public. Scrieți în chat, câte o frază, la cele trei întrebări de pe ecran: din ce date a fost calculată estimarea, cu ce a fost comparată, ce ar fi trebuit să existe ca s-o credeți. Apoi votăm.</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Acum votul: ați crede acest titlu? Da, nu sau ați vrea să știți mai întâi cu ce a fost comparată estimarea. Votul este anonim, pe Mentimeter, la cod sau din linkul din chat. Aici contează mai puțin varianta aleasă și mai mult întrebările pe care vi le-ați pus înainte de a vota.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 revedem în zece minute. Rămâneți conectați; microfonul și camera pot rămâne închise. Ora a doua începe cu telefonul pe care îl aveți în buzunar și cu o întrebare simplă din primul an al pandemiei.</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Primul an al pandemiei. Școlile se închid, restaurantele se închid, oamenii primesc recomandarea să stea acasă. Un ministru, un primar sau o direcție de sănătate publică vrea să știe un lucru simplu: chiar stau oamenii acasă? Compania Google a publicat, în pandemie, rapoarte de mobilitate. Arătau cum s-au schimbat în timp deplasările, pe zone geografice și pe categoriile de locuri de pe ecran: comerț și recreere, alimentare și farmacii, parcuri, stații de transport, locuri de muncă și locuințe. Datele nu veneau dintr-un sondaj, ci de la utilizatorii care activaseră setarea „istoricul locațiilor”, dezactivată implicit. Rapoartele nu mai sunt actualizate din 15 octombrie 2022, iar datele istorice au rămas publice. Erau, în sensul definiției de mai devreme, date de epidemiologie digitală: nimeni nu le crease pentru sănătate.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treilea termen nou: date agregate și anonimizate. Sunt date în care informațiile despre persoane au fost adunate în totaluri, de exemplu câte vizite în parcurile din Cluj săptămâna aceasta, față de o săptămână obișnuită, și din care au fost scoase elementele care ar permite recunoașterea unei persoane. În limbaj obișnuit: se vede mulțimea, nu omul. Compania scrie pe pagina rapoartelor că acestea au fost create din seturi de date agregate și anonimizate. Pagina adaugă fraza de pe ecran: nicio informație care să identifice o persoană, cum ar fi locul în care se află, contactele sau deplasările ei, nu a fost pusă la dispoziție în niciun moment.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Diferența dintre o mulțime și un om este tot ce contează aici. Ambele exemple de pe ecran sunt construite pentru ședință. „Vizitele în parcuri au scăzut cu o treime” este o informație despre un oraș: nu spune nimic despre niciunul dintre voi. „Studentul X a fost aseară în parc, apoi la o petrecere, apoi la cămin” este o informație despre o viață. Pentru a ști dacă oamenii stau acasă ajung totalurile pe regiune; nu este nevoie de traseul fiecăruia. Păstrate pe persoane, aceleași deplasări spun unde a fost fiecare. Pe diapozitivul următor, această diferență devine o convorbire telefonică.</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joc de rol: ancheta epidemiologică, la telefon. Doi voluntari, cu reacția „mână ridicată” din Teams, apoi cu microfonul deschis. Unul este un student cu o boală contagioasă confirmată, care vrea să ajute, dar nu vrea să spună tot. Celălalt este medicul de la direcția de sănătate publică. Apoi votăm toți pe Mentimeter.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Jocul de rol nu este o invenție. Ancheta epidemiologică cere informații personale: la Oswego, în primul laborator, chestionarul întreba cine ce a mâncat la cină. Diferența de azi este că o mare parte din aceste informații există deja, înregistrate automat, în telefonul vostru. Salathé descrie limpede tensiunea: interesul colectiv ca datele să fie accesibile intră în conflict cu dorința, de înțeles, a celor mai mulți oameni de a-și proteja viața privată, iar pentru acest conflict nu există o soluție simplă. Există însă patru întrebări de pus oricărei folosiri a datelor personale pentru sănătate: cu ce scop, câte date, cine le vede și până când. Rapoartele de mobilitate, de exemplu, au avut o dată de încheiere. Cele patru întrebări vă vor folosi în dezbaterea care urmează.</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Urmează dezbaterea. Moțiunea este pe ecran: „Într-o epidemie gravă, autoritatea de sănătate publică ar trebui să poată folosi datele de localizare ale telefoanelor, fără acordul fiecărei persoane.” Întâi votul, pe Mentimeter, la cod sau din linkul din chat: pentru sau împotrivă, fiecare după ce crede acum. Același vot îl repetăm după dezbatere.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Vă împărțim în două tabere după luna nașterii, indiferent de votul fiecăruia. Cei născuți între ianuarie și iunie susțin moțiunea; cei născuți între iulie și decembrie o combat. Fiecare tabără scrie argumentele în chat, cu „Pentru” sau „Împotrivă” în față, folosind cele patru întrebări: cu ce scop, câte date, cine le vede, până când. Apoi câte doi voluntari din fiecare tabără, cu reacția „mână ridicată” din Teams, vorbesc câte un minut, cu microfonul deschis. La sfârșit, același vot. Contează cât s-a mutat votul, nu cine „a câștigat”.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Același vot, după dezbatere, pe Mentimeter, la cod sau din linkul din chat. Votați după ce credeți acum, nu după tabăra în care ați fost. Ne uităm împreună cât s-a mutat votul față de cel dinaintea dezbaterii. Nu căutăm un câștigător; ne interesează cât v-au mișcat argumentele.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Revenim la cele trei părți ale răspunsului de la începutul ședinței. Primele două le-ați văzut: semnalul s-a mutat în canalizare și în telefoane, iar decizia a rămas la instituții. Rămâne a treia: primul lanț nu a dispărut. Apele uzate din Londra au spus că virusul poliomielitic circulă. Nu au spus care copil e nevaccinat, care e bolnav, care are nevoie de tratament. Căutările pe internet au spus, uneori, că a venit gripa. Nu au spus cine a murit de ea. Pentru toate acestea este nevoie de un medic care examinează un pacient, cere o probă, pune un diagnostic și îl declară. Aceasta este a patra poveste.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Data trecută ați văzut piramida supravegherii: între bolnavii reali și cifra oficială stau treptele mersului la medic, ale probei, ale testului de laborator și ale raportării. Supravegherea apelor uzate ocolește primele trepte; dar fără ultimele, nimeni nu ar ști ce boală este, cât de gravă este și pe cine lovește. În România, datele despre bolile transmisibile se colectează și se raportează după o metodologie aprobată prin Hotărârea nr. 657/2022. Fișa pe care o completează medicul când pune un diagnostic de boală cu declarare obligatorie este, deci, intrarea în sistemul de supraveghere. Dacă și cum ajung semnalele noi în același sistem, în România, nu s-a verificat.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doilea joc de rol, tot cu doi voluntari, prin reacția „mână ridicată” din Teams. Unul este rezidentul de gardă la boli infecțioase, care a internat al treilea student cu icter din același cămin: sună acum sau completează fișa mâine? Celălalt este medicul de la direcția de sănătate publică. Apoi votăm toți pe Mentimeter.</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Întoarceți-vă la întrebarea din titlu. În 1854, un medic avea și semnalul, și argumentul, și accesul la cei care puteau scoate mânerul pompei. Astăzi aceste trei lucruri s-au despărțit. Semnalul vine din mai multe locuri decât oricând: cabinete, laboratoare, canalizare, telefoane, căutări. Argumentul îl construiesc echipe: laboratorul care secvențiază virusul, epidemiologul care pune curbele alături, statisticianul care verifică dacă potrivirea nu este întâmplătoare. Decizia o iau instituții, după reguli: la Londra, un comitet de experți a recomandat, iar serviciul public de sănătate urma să ofere doza. Decizia s-a mutat, așadar, de la un singur om la un lanț. La Londra, ea s-a luat înaintea oricărui bolnav raportat. Când există un bolnav, însă, veriga voastră, cea de la patul lui, este prima și rămâne de neînlocuit.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Votul de la începutul ședinței: credeți în continuare toate cele trei părți ale răspunsului provizoriu? Votați pe Mentimeter, la cod sau din linkul din chat. Apoi, cine și-a schimbat răspunsul scrie în chat, într-o frază, de ce. Dacă ați votat altfel decât un coleg care a scris deja, răspundeți-i direct lui.</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Recapitulăm cu Kahoot: opt întrebări despre cele patru povești de azi, câte douăzeci de secunde fiecare. Intrați pe kahoot.it cu PIN-ul de pe ecran; îl găsiți și în chat. Dacă urmăriți ședința pe același ecran, deschideți Kahoot într-o fereastră alăturată sau pe telefon. Rezultatul nu se notează; arată ce s-a reținut. După fiecare întrebare discutăm răspunsul.</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Patru lucruri pe care le puteți face diferit de mâine. Când citiți că un virus a fost găsit în apele uzate, întrebați ce s-a hotărât și de către cine, nu doar câți bolnavi sunt. Când vedeți o predicție calculată din date de pe internet sau din telefoane, întrebați cu ce sursă independentă a fost comparată. Când o aplicație vă cere localizarea, întrebați-vă cu ce scop, câte date, cine le vede și până când. Iar când veți pune un diagnostic de boală cu declarare obligatorie, trimiteți fișa de declarare. Dacă vedeți mai multe cazuri legate între ele, întrebați direcția de sănătate publică a județului ce procedură se aplică. Sunteți prima verigă a lanțului.</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Ultimul pas: biletul de ieșire, anonim, cu trei întrebări deschise. Ce a fost util? Unde v-am pierdut? Ce ați putea folosi mâine? Răspundeți la codul de pe ecran sau din linkul din chat. Răspunsurile voastre schimbă ședințele următoare: publicăm două modificări făcute după ele. Vă mulțumesc.</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82032"/>
          </a:solidFill>
          <a:ln/>
        </p:spPr>
        <p:txBody>
          <a:bodyPr/>
          <a:p/>
        </p:txBody>
      </p:sp>
      <p:sp>
        <p:nvSpPr>
          <p:cNvPr id="3" name="Shape 1"/>
          <p:cNvSpPr/>
          <p:nvPr/>
        </p:nvSpPr>
        <p:spPr>
          <a:xfrm>
            <a:off x="10332720" y="3840480"/>
            <a:ext cx="3474720" cy="3474720"/>
          </a:xfrm>
          <a:prstGeom prst="ellipse">
            <a:avLst/>
          </a:prstGeom>
          <a:solidFill>
            <a:srgbClr val="182032"/>
          </a:solidFill>
          <a:ln/>
        </p:spPr>
        <p:txBody>
          <a:bodyPr/>
          <a:p/>
        </p:txBody>
      </p:sp>
      <p:sp>
        <p:nvSpPr>
          <p:cNvPr id="4" name="Shape 2"/>
          <p:cNvSpPr/>
          <p:nvPr/>
        </p:nvSpPr>
        <p:spPr>
          <a:xfrm>
            <a:off x="685800" y="777240"/>
            <a:ext cx="2377440" cy="329184"/>
          </a:xfrm>
          <a:prstGeom prst="roundRect">
            <a:avLst>
              <a:gd name="adj" fmla="val 50000"/>
            </a:avLst>
          </a:prstGeom>
          <a:solidFill>
            <a:srgbClr val="FF4757"/>
          </a:solidFill>
          <a:ln w="12700">
            <a:solidFill>
              <a:srgbClr val="FF4757"/>
            </a:solidFill>
            <a:prstDash val="solid"/>
          </a:ln>
        </p:spPr>
        <p:txBody>
          <a:bodyPr/>
          <a:p/>
        </p:txBody>
      </p:sp>
      <p:sp>
        <p:nvSpPr>
          <p:cNvPr id="5" name="Text 3"/>
          <p:cNvSpPr/>
          <p:nvPr/>
        </p:nvSpPr>
        <p:spPr>
          <a:xfrm>
            <a:off x="685800" y="777240"/>
            <a:ext cx="23774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ȘEDINȚA A PATRA</a:t>
            </a:r>
            <a:endParaRPr lang="en-US" sz="1300" dirty="0"/>
          </a:p>
        </p:txBody>
      </p:sp>
      <p:sp>
        <p:nvSpPr>
          <p:cNvPr id="6" name="Text 4"/>
          <p:cNvSpPr/>
          <p:nvPr/>
        </p:nvSpPr>
        <p:spPr>
          <a:xfrm>
            <a:off x="685800" y="1463040"/>
            <a:ext cx="9875520" cy="914400"/>
          </a:xfrm>
          <a:prstGeom prst="rect">
            <a:avLst/>
          </a:prstGeom>
          <a:noFill/>
          <a:ln/>
        </p:spPr>
        <p:txBody>
          <a:bodyPr wrap="square" lIns="0" tIns="0" rIns="0" bIns="0" rtlCol="0" anchor="t"/>
          <a:lstStyle/>
          <a:p>
            <a:pPr indent="0" marL="0">
              <a:buNone/>
            </a:pPr>
            <a:r>
              <a:rPr lang="en-US" sz="5400" b="1" dirty="0">
                <a:solidFill>
                  <a:srgbClr val="FFFFFF"/>
                </a:solidFill>
                <a:latin typeface="Palatino Linotype" pitchFamily="34" charset="0"/>
                <a:ea typeface="Palatino Linotype" pitchFamily="34" charset="-122"/>
                <a:cs typeface="Palatino Linotype" pitchFamily="34" charset="-120"/>
              </a:rPr>
              <a:t>Unde s-a mutat</a:t>
            </a:r>
            <a:endParaRPr lang="en-US" sz="5400" dirty="0"/>
          </a:p>
        </p:txBody>
      </p:sp>
      <p:sp>
        <p:nvSpPr>
          <p:cNvPr id="7" name="Text 5"/>
          <p:cNvSpPr/>
          <p:nvPr/>
        </p:nvSpPr>
        <p:spPr>
          <a:xfrm>
            <a:off x="685800" y="2377440"/>
            <a:ext cx="9875520" cy="914400"/>
          </a:xfrm>
          <a:prstGeom prst="rect">
            <a:avLst/>
          </a:prstGeom>
          <a:noFill/>
          <a:ln/>
        </p:spPr>
        <p:txBody>
          <a:bodyPr wrap="square" lIns="0" tIns="0" rIns="0" bIns="0" rtlCol="0" anchor="t"/>
          <a:lstStyle/>
          <a:p>
            <a:pPr indent="0" marL="0">
              <a:buNone/>
            </a:pPr>
            <a:r>
              <a:rPr lang="en-US" sz="5400" b="1" dirty="0">
                <a:solidFill>
                  <a:srgbClr val="27D3BE"/>
                </a:solidFill>
                <a:latin typeface="Palatino Linotype" pitchFamily="34" charset="0"/>
                <a:ea typeface="Palatino Linotype" pitchFamily="34" charset="-122"/>
                <a:cs typeface="Palatino Linotype" pitchFamily="34" charset="-120"/>
              </a:rPr>
              <a:t>decizia</a:t>
            </a:r>
            <a:endParaRPr lang="en-US" sz="5400" dirty="0"/>
          </a:p>
        </p:txBody>
      </p:sp>
      <p:sp>
        <p:nvSpPr>
          <p:cNvPr id="8" name="Text 6"/>
          <p:cNvSpPr/>
          <p:nvPr/>
        </p:nvSpPr>
        <p:spPr>
          <a:xfrm>
            <a:off x="685800" y="3566160"/>
            <a:ext cx="10241280" cy="731520"/>
          </a:xfrm>
          <a:prstGeom prst="rect">
            <a:avLst/>
          </a:prstGeom>
          <a:noFill/>
          <a:ln/>
        </p:spPr>
        <p:txBody>
          <a:bodyPr wrap="square" lIns="0" tIns="0" rIns="0" bIns="0" rtlCol="0" anchor="t"/>
          <a:lstStyle/>
          <a:p>
            <a:pPr indent="0" marL="0">
              <a:buNone/>
            </a:pPr>
            <a:r>
              <a:rPr lang="en-US" sz="1800" dirty="0">
                <a:solidFill>
                  <a:srgbClr val="959BB0"/>
                </a:solidFill>
                <a:latin typeface="Palatino Linotype" pitchFamily="34" charset="0"/>
                <a:ea typeface="Palatino Linotype" pitchFamily="34" charset="-122"/>
                <a:cs typeface="Palatino Linotype" pitchFamily="34" charset="-120"/>
              </a:rPr>
              <a:t>O canalizare din Londra, o căutare la două noaptea, un telefon din buzunar și medicul care declară</a:t>
            </a:r>
            <a:endParaRPr lang="en-US" sz="1800" dirty="0"/>
          </a:p>
        </p:txBody>
      </p:sp>
      <p:sp>
        <p:nvSpPr>
          <p:cNvPr id="9" name="Shape 7"/>
          <p:cNvSpPr/>
          <p:nvPr/>
        </p:nvSpPr>
        <p:spPr>
          <a:xfrm>
            <a:off x="713232" y="4434840"/>
            <a:ext cx="1280160" cy="27432"/>
          </a:xfrm>
          <a:prstGeom prst="rect">
            <a:avLst/>
          </a:prstGeom>
          <a:solidFill>
            <a:srgbClr val="FF4757"/>
          </a:solidFill>
          <a:ln/>
        </p:spPr>
        <p:txBody>
          <a:bodyPr/>
          <a:p/>
        </p:txBody>
      </p:sp>
      <p:sp>
        <p:nvSpPr>
          <p:cNvPr id="10" name="Text 8"/>
          <p:cNvSpPr/>
          <p:nvPr/>
        </p:nvSpPr>
        <p:spPr>
          <a:xfrm>
            <a:off x="685800" y="4663440"/>
            <a:ext cx="1005840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Detectivii epidemiilor: cum ucid bolile milioane de oameni și cum le oprim</a:t>
            </a:r>
            <a:endParaRPr lang="en-US" sz="1300" dirty="0"/>
          </a:p>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2026–2027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4757"/>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2E060B"/>
                </a:solidFill>
                <a:latin typeface="Palatino Linotype" pitchFamily="34" charset="0"/>
                <a:ea typeface="Palatino Linotype" pitchFamily="34" charset="-122"/>
                <a:cs typeface="Palatino Linotype" pitchFamily="34" charset="-120"/>
              </a:rPr>
              <a:t>ÎNTREBAREA DIN TITLU</a:t>
            </a:r>
            <a:endParaRPr lang="en-US" sz="1300" dirty="0"/>
          </a:p>
        </p:txBody>
      </p:sp>
      <p:sp>
        <p:nvSpPr>
          <p:cNvPr id="3" name="Text 1"/>
          <p:cNvSpPr/>
          <p:nvPr/>
        </p:nvSpPr>
        <p:spPr>
          <a:xfrm>
            <a:off x="594360" y="1280160"/>
            <a:ext cx="10972800" cy="2926080"/>
          </a:xfrm>
          <a:prstGeom prst="rect">
            <a:avLst/>
          </a:prstGeom>
          <a:noFill/>
          <a:ln/>
        </p:spPr>
        <p:txBody>
          <a:bodyPr wrap="square" lIns="0" tIns="0" rIns="0" bIns="0" rtlCol="0" anchor="ctr"/>
          <a:lstStyle/>
          <a:p>
            <a:pPr indent="0" marL="0">
              <a:buNone/>
            </a:pPr>
            <a:r>
              <a:rPr lang="en-US" sz="4200" b="1" dirty="0">
                <a:solidFill>
                  <a:srgbClr val="2E060B"/>
                </a:solidFill>
                <a:latin typeface="Palatino Linotype" pitchFamily="34" charset="0"/>
                <a:ea typeface="Palatino Linotype" pitchFamily="34" charset="-122"/>
                <a:cs typeface="Palatino Linotype" pitchFamily="34" charset="-120"/>
              </a:rPr>
              <a:t>Dacă mâine ar începe o epidemie în Cluj, cine ar afla primul și cine ar hotărî ce se face?</a:t>
            </a:r>
            <a:endParaRPr lang="en-US" sz="4200" dirty="0"/>
          </a:p>
        </p:txBody>
      </p:sp>
      <p:sp>
        <p:nvSpPr>
          <p:cNvPr id="4" name="Text 2"/>
          <p:cNvSpPr/>
          <p:nvPr/>
        </p:nvSpPr>
        <p:spPr>
          <a:xfrm>
            <a:off x="594360" y="4846320"/>
            <a:ext cx="10972800" cy="548640"/>
          </a:xfrm>
          <a:prstGeom prst="rect">
            <a:avLst/>
          </a:prstGeom>
          <a:noFill/>
          <a:ln/>
        </p:spPr>
        <p:txBody>
          <a:bodyPr wrap="square" lIns="0" tIns="0" rIns="0" bIns="0" rtlCol="0" anchor="t"/>
          <a:lstStyle/>
          <a:p>
            <a:pPr indent="0" marL="0">
              <a:buNone/>
            </a:pPr>
            <a:r>
              <a:rPr lang="en-US" sz="2000" i="1" dirty="0">
                <a:solidFill>
                  <a:srgbClr val="2E060B"/>
                </a:solidFill>
                <a:latin typeface="Palatino Linotype" pitchFamily="34" charset="0"/>
                <a:ea typeface="Palatino Linotype" pitchFamily="34" charset="-122"/>
                <a:cs typeface="Palatino Linotype" pitchFamily="34" charset="-120"/>
              </a:rPr>
              <a:t>Scrieți în chat primul răspuns la care vă gândiți.</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OPT_DETECTIVI/active/img/harta_holera_snow_1854.jpg">    </p:cNvPr>
          <p:cNvPicPr>
            <a:picLocks noChangeAspect="1"/>
          </p:cNvPicPr>
          <p:nvPr/>
        </p:nvPicPr>
        <p:blipFill>
          <a:blip r:embed="rId1"/>
          <a:srcRect l="0" r="0" t="0" b="0"/>
          <a:stretch/>
        </p:blipFill>
        <p:spPr>
          <a:xfrm>
            <a:off x="6153912" y="0"/>
            <a:ext cx="6035040" cy="5660136"/>
          </a:xfrm>
          <a:prstGeom prst="rect">
            <a:avLst/>
          </a:prstGeom>
        </p:spPr>
      </p:pic>
      <p:sp>
        <p:nvSpPr>
          <p:cNvPr id="3" name="Text 0"/>
          <p:cNvSpPr/>
          <p:nvPr/>
        </p:nvSpPr>
        <p:spPr>
          <a:xfrm>
            <a:off x="6263640" y="5715000"/>
            <a:ext cx="5760720" cy="219456"/>
          </a:xfrm>
          <a:prstGeom prst="rect">
            <a:avLst/>
          </a:prstGeom>
          <a:noFill/>
          <a:ln/>
        </p:spPr>
        <p:txBody>
          <a:bodyPr wrap="square" lIns="0" tIns="0" rIns="0" bIns="0" rtlCol="0" anchor="ctr"/>
          <a:lstStyle/>
          <a:p>
            <a:pPr algn="l" indent="0" marL="0">
              <a:buNone/>
            </a:pPr>
            <a:r>
              <a:rPr lang="en-US" sz="850" i="1" dirty="0">
                <a:solidFill>
                  <a:srgbClr val="585A64"/>
                </a:solidFill>
                <a:latin typeface="Palatino Linotype" pitchFamily="34" charset="0"/>
                <a:ea typeface="Palatino Linotype" pitchFamily="34" charset="-122"/>
                <a:cs typeface="Palatino Linotype" pitchFamily="34" charset="-120"/>
              </a:rPr>
              <a:t>Harta: John Snow, 1854 · domeniu public · Wikimedia Commons</a:t>
            </a:r>
            <a:endParaRPr lang="en-US" sz="850" dirty="0"/>
          </a:p>
        </p:txBody>
      </p:sp>
      <p:sp>
        <p:nvSpPr>
          <p:cNvPr id="4" name="Text 1"/>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1854 · LONDRA</a:t>
            </a:r>
            <a:endParaRPr lang="en-US" sz="1300" dirty="0"/>
          </a:p>
        </p:txBody>
      </p:sp>
      <p:sp>
        <p:nvSpPr>
          <p:cNvPr id="5" name="Text 2"/>
          <p:cNvSpPr/>
          <p:nvPr/>
        </p:nvSpPr>
        <p:spPr>
          <a:xfrm>
            <a:off x="594360" y="731520"/>
            <a:ext cx="5303520" cy="137160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O decizie care încăpea într-o singură mână</a:t>
            </a:r>
            <a:endParaRPr lang="en-US" sz="3000" dirty="0"/>
          </a:p>
        </p:txBody>
      </p:sp>
      <p:sp>
        <p:nvSpPr>
          <p:cNvPr id="6" name="Text 3"/>
          <p:cNvSpPr/>
          <p:nvPr/>
        </p:nvSpPr>
        <p:spPr>
          <a:xfrm>
            <a:off x="594360" y="2286000"/>
            <a:ext cx="5303520" cy="18288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În seara de 7 septembrie, John Snow vorbește în fața consiliului parohiei St James. A doua zi, la 8 septembrie, mânerul pompei din Broad Street este scos.</a:t>
            </a:r>
            <a:endParaRPr lang="en-US" sz="1800" dirty="0"/>
          </a:p>
        </p:txBody>
      </p:sp>
      <p:sp>
        <p:nvSpPr>
          <p:cNvPr id="7" name="Shape 4"/>
          <p:cNvSpPr/>
          <p:nvPr/>
        </p:nvSpPr>
        <p:spPr>
          <a:xfrm>
            <a:off x="594360" y="4297680"/>
            <a:ext cx="5303520" cy="1371600"/>
          </a:xfrm>
          <a:prstGeom prst="roundRect">
            <a:avLst>
              <a:gd name="adj" fmla="val 6000"/>
            </a:avLst>
          </a:prstGeom>
          <a:solidFill>
            <a:srgbClr val="11121A"/>
          </a:solidFill>
          <a:ln w="12700">
            <a:solidFill>
              <a:srgbClr val="11121A"/>
            </a:solidFill>
            <a:prstDash val="solid"/>
          </a:ln>
        </p:spPr>
        <p:txBody>
          <a:bodyPr/>
          <a:p/>
        </p:txBody>
      </p:sp>
      <p:sp>
        <p:nvSpPr>
          <p:cNvPr id="8" name="Text 5"/>
          <p:cNvSpPr/>
          <p:nvPr/>
        </p:nvSpPr>
        <p:spPr>
          <a:xfrm>
            <a:off x="868680" y="4297680"/>
            <a:ext cx="4846320" cy="1371600"/>
          </a:xfrm>
          <a:prstGeom prst="rect">
            <a:avLst/>
          </a:prstGeom>
          <a:noFill/>
          <a:ln/>
        </p:spPr>
        <p:txBody>
          <a:bodyPr wrap="square" lIns="0" tIns="0" rIns="0" bIns="0" rtlCol="0" anchor="ctr"/>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Un medic, o listă de decese, un consiliu local și un gest.</a:t>
            </a:r>
            <a:endParaRPr lang="en-US" sz="2000" dirty="0"/>
          </a:p>
        </p:txBody>
      </p:sp>
      <p:sp>
        <p:nvSpPr>
          <p:cNvPr id="9" name="Text 6"/>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registru A002.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RĂSPUNSUL PROVIZORIU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Trei părți, pe care restul ședinței le verifică</a:t>
            </a:r>
            <a:endParaRPr lang="en-US" sz="3000" dirty="0"/>
          </a:p>
        </p:txBody>
      </p:sp>
      <p:sp>
        <p:nvSpPr>
          <p:cNvPr id="4" name="Shape 2"/>
          <p:cNvSpPr/>
          <p:nvPr/>
        </p:nvSpPr>
        <p:spPr>
          <a:xfrm>
            <a:off x="594360" y="1783080"/>
            <a:ext cx="10972800" cy="1024128"/>
          </a:xfrm>
          <a:prstGeom prst="roundRect">
            <a:avLst>
              <a:gd name="adj" fmla="val 8036"/>
            </a:avLst>
          </a:prstGeom>
          <a:solidFill>
            <a:srgbClr val="1D1F2B"/>
          </a:solidFill>
          <a:ln w="12700">
            <a:solidFill>
              <a:srgbClr val="1D1F2B"/>
            </a:solidFill>
            <a:prstDash val="solid"/>
          </a:ln>
        </p:spPr>
        <p:txBody>
          <a:bodyPr/>
          <a:p/>
        </p:txBody>
      </p:sp>
      <p:sp>
        <p:nvSpPr>
          <p:cNvPr id="5" name="Shape 3"/>
          <p:cNvSpPr/>
          <p:nvPr/>
        </p:nvSpPr>
        <p:spPr>
          <a:xfrm>
            <a:off x="914400" y="2084832"/>
            <a:ext cx="420624" cy="420624"/>
          </a:xfrm>
          <a:prstGeom prst="ellipse">
            <a:avLst/>
          </a:prstGeom>
          <a:solidFill>
            <a:srgbClr val="FFC24B"/>
          </a:solidFill>
          <a:ln/>
        </p:spPr>
        <p:txBody>
          <a:bodyPr/>
          <a:p/>
        </p:txBody>
      </p:sp>
      <p:sp>
        <p:nvSpPr>
          <p:cNvPr id="6" name="Text 4"/>
          <p:cNvSpPr/>
          <p:nvPr/>
        </p:nvSpPr>
        <p:spPr>
          <a:xfrm>
            <a:off x="914400" y="20848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783080"/>
            <a:ext cx="9692640" cy="102412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Semnalul s-a mutat mai devreme și mai departe de cabinet: ape uzate, căutări, deplasări.</a:t>
            </a:r>
            <a:endParaRPr lang="en-US" sz="1800" dirty="0"/>
          </a:p>
        </p:txBody>
      </p:sp>
      <p:sp>
        <p:nvSpPr>
          <p:cNvPr id="8" name="Shape 6"/>
          <p:cNvSpPr/>
          <p:nvPr/>
        </p:nvSpPr>
        <p:spPr>
          <a:xfrm>
            <a:off x="594360" y="2971800"/>
            <a:ext cx="10972800" cy="1024128"/>
          </a:xfrm>
          <a:prstGeom prst="roundRect">
            <a:avLst>
              <a:gd name="adj" fmla="val 8036"/>
            </a:avLst>
          </a:prstGeom>
          <a:solidFill>
            <a:srgbClr val="1D1F2B"/>
          </a:solidFill>
          <a:ln w="12700">
            <a:solidFill>
              <a:srgbClr val="1D1F2B"/>
            </a:solidFill>
            <a:prstDash val="solid"/>
          </a:ln>
        </p:spPr>
        <p:txBody>
          <a:bodyPr/>
          <a:p/>
        </p:txBody>
      </p:sp>
      <p:sp>
        <p:nvSpPr>
          <p:cNvPr id="9" name="Shape 7"/>
          <p:cNvSpPr/>
          <p:nvPr/>
        </p:nvSpPr>
        <p:spPr>
          <a:xfrm>
            <a:off x="914400" y="3273552"/>
            <a:ext cx="420624" cy="420624"/>
          </a:xfrm>
          <a:prstGeom prst="ellipse">
            <a:avLst/>
          </a:prstGeom>
          <a:solidFill>
            <a:srgbClr val="FFC24B"/>
          </a:solidFill>
          <a:ln/>
        </p:spPr>
        <p:txBody>
          <a:bodyPr/>
          <a:p/>
        </p:txBody>
      </p:sp>
      <p:sp>
        <p:nvSpPr>
          <p:cNvPr id="10" name="Text 8"/>
          <p:cNvSpPr/>
          <p:nvPr/>
        </p:nvSpPr>
        <p:spPr>
          <a:xfrm>
            <a:off x="914400" y="327355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2971800"/>
            <a:ext cx="9692640" cy="102412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Decizia nu s-a mutat la mașini. Ea rămâne la instituțiile care răspund pentru ea.</a:t>
            </a:r>
            <a:endParaRPr lang="en-US" sz="1800" dirty="0"/>
          </a:p>
        </p:txBody>
      </p:sp>
      <p:sp>
        <p:nvSpPr>
          <p:cNvPr id="12" name="Shape 10"/>
          <p:cNvSpPr/>
          <p:nvPr/>
        </p:nvSpPr>
        <p:spPr>
          <a:xfrm>
            <a:off x="594360" y="4160520"/>
            <a:ext cx="10972800" cy="1024128"/>
          </a:xfrm>
          <a:prstGeom prst="roundRect">
            <a:avLst>
              <a:gd name="adj" fmla="val 8036"/>
            </a:avLst>
          </a:prstGeom>
          <a:solidFill>
            <a:srgbClr val="1D1F2B"/>
          </a:solidFill>
          <a:ln w="12700">
            <a:solidFill>
              <a:srgbClr val="1D1F2B"/>
            </a:solidFill>
            <a:prstDash val="solid"/>
          </a:ln>
        </p:spPr>
        <p:txBody>
          <a:bodyPr/>
          <a:p/>
        </p:txBody>
      </p:sp>
      <p:sp>
        <p:nvSpPr>
          <p:cNvPr id="13" name="Shape 11"/>
          <p:cNvSpPr/>
          <p:nvPr/>
        </p:nvSpPr>
        <p:spPr>
          <a:xfrm>
            <a:off x="914400" y="4462272"/>
            <a:ext cx="420624" cy="420624"/>
          </a:xfrm>
          <a:prstGeom prst="ellipse">
            <a:avLst/>
          </a:prstGeom>
          <a:solidFill>
            <a:srgbClr val="FFC24B"/>
          </a:solidFill>
          <a:ln/>
        </p:spPr>
        <p:txBody>
          <a:bodyPr/>
          <a:p/>
        </p:txBody>
      </p:sp>
      <p:sp>
        <p:nvSpPr>
          <p:cNvPr id="14" name="Text 12"/>
          <p:cNvSpPr/>
          <p:nvPr/>
        </p:nvSpPr>
        <p:spPr>
          <a:xfrm>
            <a:off x="914400" y="44622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4160520"/>
            <a:ext cx="9692640" cy="102412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Primul lanț nu a dispărut: medicul care pune un diagnostic și îl declară rămâne temelia.</a:t>
            </a:r>
            <a:endParaRPr lang="en-US" sz="1800" dirty="0"/>
          </a:p>
        </p:txBody>
      </p:sp>
      <p:sp>
        <p:nvSpPr>
          <p:cNvPr id="16" name="Text 14"/>
          <p:cNvSpPr/>
          <p:nvPr/>
        </p:nvSpPr>
        <p:spPr>
          <a:xfrm>
            <a:off x="594360" y="5486400"/>
            <a:ext cx="10972800" cy="457200"/>
          </a:xfrm>
          <a:prstGeom prst="rect">
            <a:avLst/>
          </a:prstGeom>
          <a:noFill/>
          <a:ln/>
        </p:spPr>
        <p:txBody>
          <a:bodyPr wrap="square" lIns="0" tIns="0" rIns="0" bIns="0" rtlCol="0" anchor="t"/>
          <a:lstStyle/>
          <a:p>
            <a:pPr indent="0" marL="0">
              <a:buNone/>
            </a:pPr>
            <a:r>
              <a:rPr lang="en-US" sz="1600" i="1" dirty="0">
                <a:solidFill>
                  <a:srgbClr val="27D3BE"/>
                </a:solidFill>
                <a:latin typeface="Palatino Linotype" pitchFamily="34" charset="0"/>
                <a:ea typeface="Palatino Linotype" pitchFamily="34" charset="-122"/>
                <a:cs typeface="Palatino Linotype" pitchFamily="34" charset="-120"/>
              </a:rPr>
              <a:t>La sfârșitul ședinței vă întrebăm dacă le mai credeți pe toate trei.</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POVESTEA ÎNTÂI · LONDRA, 2022</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Un oraș fără niciun bolnav</a:t>
            </a:r>
            <a:endParaRPr lang="en-US" sz="3400" dirty="0"/>
          </a:p>
        </p:txBody>
      </p:sp>
      <p:sp>
        <p:nvSpPr>
          <p:cNvPr id="4" name="Shape 2"/>
          <p:cNvSpPr/>
          <p:nvPr/>
        </p:nvSpPr>
        <p:spPr>
          <a:xfrm>
            <a:off x="594360" y="1783080"/>
            <a:ext cx="4754880" cy="3291840"/>
          </a:xfrm>
          <a:prstGeom prst="roundRect">
            <a:avLst>
              <a:gd name="adj" fmla="val 2500"/>
            </a:avLst>
          </a:prstGeom>
          <a:solidFill>
            <a:srgbClr val="1D1F2B"/>
          </a:solidFill>
          <a:ln w="12700">
            <a:solidFill>
              <a:srgbClr val="1D1F2B"/>
            </a:solidFill>
            <a:prstDash val="solid"/>
          </a:ln>
        </p:spPr>
        <p:txBody>
          <a:bodyPr/>
          <a:p/>
        </p:txBody>
      </p:sp>
      <p:sp>
        <p:nvSpPr>
          <p:cNvPr id="5" name="Text 3"/>
          <p:cNvSpPr/>
          <p:nvPr/>
        </p:nvSpPr>
        <p:spPr>
          <a:xfrm>
            <a:off x="868680" y="1892808"/>
            <a:ext cx="4206240" cy="1645920"/>
          </a:xfrm>
          <a:prstGeom prst="rect">
            <a:avLst/>
          </a:prstGeom>
          <a:noFill/>
          <a:ln/>
        </p:spPr>
        <p:txBody>
          <a:bodyPr wrap="square" lIns="0" tIns="0" rIns="0" bIns="0" rtlCol="0" anchor="ctr"/>
          <a:lstStyle/>
          <a:p>
            <a:pPr indent="0" marL="0">
              <a:buNone/>
            </a:pPr>
            <a:r>
              <a:rPr lang="en-US" sz="9600" b="1" dirty="0">
                <a:solidFill>
                  <a:srgbClr val="FF4757"/>
                </a:solidFill>
                <a:latin typeface="Palatino Linotype" pitchFamily="34" charset="0"/>
                <a:ea typeface="Palatino Linotype" pitchFamily="34" charset="-122"/>
                <a:cs typeface="Palatino Linotype" pitchFamily="34" charset="-120"/>
              </a:rPr>
              <a:t>116</a:t>
            </a:r>
            <a:endParaRPr lang="en-US" sz="9600" dirty="0"/>
          </a:p>
        </p:txBody>
      </p:sp>
      <p:sp>
        <p:nvSpPr>
          <p:cNvPr id="6" name="Text 4"/>
          <p:cNvSpPr/>
          <p:nvPr/>
        </p:nvSpPr>
        <p:spPr>
          <a:xfrm>
            <a:off x="868680" y="3447288"/>
            <a:ext cx="4206240" cy="1514246"/>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izolate de poliovirus de tip 2, în 19 probe de ape uzate, între 8 februarie și 5 iulie 2022</a:t>
            </a:r>
            <a:endParaRPr lang="en-US" sz="1400" dirty="0"/>
          </a:p>
        </p:txBody>
      </p:sp>
      <p:sp>
        <p:nvSpPr>
          <p:cNvPr id="7" name="Text 5"/>
          <p:cNvSpPr/>
          <p:nvPr/>
        </p:nvSpPr>
        <p:spPr>
          <a:xfrm>
            <a:off x="5760720" y="1783080"/>
            <a:ext cx="5806440" cy="118872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Stația Beckton, estul Londrei. Cele mai multe izolate semănau cu virusul din vaccinul oral.</a:t>
            </a:r>
            <a:endParaRPr lang="en-US" sz="1800" dirty="0"/>
          </a:p>
        </p:txBody>
      </p:sp>
      <p:sp>
        <p:nvSpPr>
          <p:cNvPr id="8" name="Shape 6"/>
          <p:cNvSpPr/>
          <p:nvPr/>
        </p:nvSpPr>
        <p:spPr>
          <a:xfrm>
            <a:off x="5760720" y="3063240"/>
            <a:ext cx="5806440" cy="2011680"/>
          </a:xfrm>
          <a:prstGeom prst="roundRect">
            <a:avLst>
              <a:gd name="adj" fmla="val 4091"/>
            </a:avLst>
          </a:prstGeom>
          <a:solidFill>
            <a:srgbClr val="272A38"/>
          </a:solidFill>
          <a:ln w="12700">
            <a:solidFill>
              <a:srgbClr val="272A38"/>
            </a:solidFill>
            <a:prstDash val="solid"/>
          </a:ln>
        </p:spPr>
        <p:txBody>
          <a:bodyPr/>
          <a:p/>
        </p:txBody>
      </p:sp>
      <p:sp>
        <p:nvSpPr>
          <p:cNvPr id="9" name="Text 7"/>
          <p:cNvSpPr/>
          <p:nvPr/>
        </p:nvSpPr>
        <p:spPr>
          <a:xfrm>
            <a:off x="6035040" y="3063240"/>
            <a:ext cx="5303520" cy="201168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Câteva erau „poliovirus derivat din vaccin”: se comportă mai degrabă ca virusul „sălbatic” și poate, rareori, paraliza persoanele nevaccinate.</a:t>
            </a:r>
            <a:endParaRPr lang="en-US" sz="1700" dirty="0"/>
          </a:p>
        </p:txBody>
      </p:sp>
      <p:sp>
        <p:nvSpPr>
          <p:cNvPr id="10" name="Text 8"/>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agenția britanică pentru securitate sanitară, comunicatul din 10 august 2022 (registru A571, A586).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1"/>
        </a:solidFill>
      </p:bgPr>
    </p:bg>
    <p:spTree>
      <p:nvGrpSpPr>
        <p:cNvPr id="1" name=""/>
        <p:cNvGrpSpPr/>
        <p:nvPr/>
      </p:nvGrpSpPr>
      <p:grpSpPr>
        <a:xfrm>
          <a:off x="0" y="0"/>
          <a:ext cx="0" cy="0"/>
          <a:chOff x="0" y="0"/>
          <a:chExt cx="0" cy="0"/>
        </a:xfrm>
      </p:grpSpPr>
      <p:sp>
        <p:nvSpPr>
          <p:cNvPr id="2" name="Shape 0"/>
          <p:cNvSpPr/>
          <p:nvPr/>
        </p:nvSpPr>
        <p:spPr>
          <a:xfrm>
            <a:off x="594360" y="1097280"/>
            <a:ext cx="73152" cy="3017520"/>
          </a:xfrm>
          <a:prstGeom prst="rect">
            <a:avLst/>
          </a:prstGeom>
          <a:solidFill>
            <a:srgbClr val="B02532"/>
          </a:solidFill>
          <a:ln w="12700">
            <a:solidFill>
              <a:srgbClr val="B02532"/>
            </a:solidFill>
            <a:prstDash val="solid"/>
          </a:ln>
        </p:spPr>
        <p:txBody>
          <a:bodyPr/>
          <a:p/>
        </p:txBody>
      </p:sp>
      <p:sp>
        <p:nvSpPr>
          <p:cNvPr id="3" name="Text 1"/>
          <p:cNvSpPr/>
          <p:nvPr/>
        </p:nvSpPr>
        <p:spPr>
          <a:xfrm>
            <a:off x="1005840" y="1051560"/>
            <a:ext cx="10515600" cy="1371600"/>
          </a:xfrm>
          <a:prstGeom prst="rect">
            <a:avLst/>
          </a:prstGeom>
          <a:noFill/>
          <a:ln/>
        </p:spPr>
        <p:txBody>
          <a:bodyPr wrap="square" lIns="0" tIns="0" rIns="0" bIns="0" rtlCol="0" anchor="t"/>
          <a:lstStyle/>
          <a:p>
            <a:pPr indent="0" marL="0">
              <a:buNone/>
            </a:pPr>
            <a:r>
              <a:rPr lang="en-US" sz="4400" b="1" i="1" dirty="0">
                <a:solidFill>
                  <a:srgbClr val="11121A"/>
                </a:solidFill>
                <a:latin typeface="Palatino Linotype" pitchFamily="34" charset="0"/>
                <a:ea typeface="Palatino Linotype" pitchFamily="34" charset="-122"/>
                <a:cs typeface="Palatino Linotype" pitchFamily="34" charset="-120"/>
              </a:rPr>
              <a:t>„No cases of polio have been reported”</a:t>
            </a:r>
            <a:endParaRPr lang="en-US" sz="4400" dirty="0"/>
          </a:p>
        </p:txBody>
      </p:sp>
      <p:sp>
        <p:nvSpPr>
          <p:cNvPr id="4" name="Text 2"/>
          <p:cNvSpPr/>
          <p:nvPr/>
        </p:nvSpPr>
        <p:spPr>
          <a:xfrm>
            <a:off x="1005840" y="2514600"/>
            <a:ext cx="10515600" cy="548640"/>
          </a:xfrm>
          <a:prstGeom prst="rect">
            <a:avLst/>
          </a:prstGeom>
          <a:noFill/>
          <a:ln/>
        </p:spPr>
        <p:txBody>
          <a:bodyPr wrap="square" lIns="0" tIns="0" rIns="0" bIns="0" rtlCol="0" anchor="t"/>
          <a:lstStyle/>
          <a:p>
            <a:pPr indent="0" marL="0">
              <a:buNone/>
            </a:pPr>
            <a:r>
              <a:rPr lang="en-US" sz="2200" dirty="0">
                <a:solidFill>
                  <a:srgbClr val="B02532"/>
                </a:solidFill>
                <a:latin typeface="Palatino Linotype" pitchFamily="34" charset="0"/>
                <a:ea typeface="Palatino Linotype" pitchFamily="34" charset="-122"/>
                <a:cs typeface="Palatino Linotype" pitchFamily="34" charset="-120"/>
              </a:rPr>
              <a:t>Nu fusese raportat niciun caz de poliomielită.</a:t>
            </a:r>
            <a:endParaRPr lang="en-US" sz="2200" dirty="0"/>
          </a:p>
        </p:txBody>
      </p:sp>
      <p:sp>
        <p:nvSpPr>
          <p:cNvPr id="5" name="Text 3"/>
          <p:cNvSpPr/>
          <p:nvPr/>
        </p:nvSpPr>
        <p:spPr>
          <a:xfrm>
            <a:off x="1005840" y="3246120"/>
            <a:ext cx="10515600" cy="822960"/>
          </a:xfrm>
          <a:prstGeom prst="rect">
            <a:avLst/>
          </a:prstGeom>
          <a:noFill/>
          <a:ln/>
        </p:spPr>
        <p:txBody>
          <a:bodyPr wrap="square" lIns="0" tIns="0" rIns="0" bIns="0" rtlCol="0" anchor="t"/>
          <a:lstStyle/>
          <a:p>
            <a:pPr indent="0" marL="0">
              <a:buNone/>
            </a:pPr>
            <a:r>
              <a:rPr lang="en-US" sz="1600" i="1" dirty="0">
                <a:solidFill>
                  <a:srgbClr val="585A64"/>
                </a:solidFill>
                <a:latin typeface="Palatino Linotype" pitchFamily="34" charset="0"/>
                <a:ea typeface="Palatino Linotype" pitchFamily="34" charset="-122"/>
                <a:cs typeface="Palatino Linotype" pitchFamily="34" charset="-120"/>
              </a:rPr>
              <a:t>Dr. Vanessa Saliba, epidemiolog al agenției britanice pentru securitate sanitară, în comunicatul din 10 august 2022</a:t>
            </a:r>
            <a:endParaRPr lang="en-US" sz="1600" dirty="0"/>
          </a:p>
        </p:txBody>
      </p:sp>
      <p:sp>
        <p:nvSpPr>
          <p:cNvPr id="6" name="Text 4"/>
          <p:cNvSpPr/>
          <p:nvPr/>
        </p:nvSpPr>
        <p:spPr>
          <a:xfrm>
            <a:off x="594360" y="4754880"/>
            <a:ext cx="10972800" cy="731520"/>
          </a:xfrm>
          <a:prstGeom prst="rect">
            <a:avLst/>
          </a:prstGeom>
          <a:noFill/>
          <a:ln/>
        </p:spPr>
        <p:txBody>
          <a:bodyPr wrap="square" lIns="0" tIns="0" rIns="0" bIns="0" rtlCol="0" anchor="t"/>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Niciun copil paralizat, niciun diagnostic. Exista, în schimb, virusul din canalizare.</a:t>
            </a:r>
            <a:endParaRPr lang="en-US" sz="2200" dirty="0"/>
          </a:p>
        </p:txBody>
      </p:sp>
      <p:sp>
        <p:nvSpPr>
          <p:cNvPr id="7" name="Text 5"/>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registru A572.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CAZUL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Un apel la Direcția de Sănătate Publică, într-o dimineață de vară</a:t>
            </a:r>
            <a:endParaRPr lang="en-US" sz="2800" dirty="0"/>
          </a:p>
        </p:txBody>
      </p:sp>
      <p:sp>
        <p:nvSpPr>
          <p:cNvPr id="4" name="Shape 2"/>
          <p:cNvSpPr/>
          <p:nvPr/>
        </p:nvSpPr>
        <p:spPr>
          <a:xfrm>
            <a:off x="594360" y="1828800"/>
            <a:ext cx="6492240" cy="2194560"/>
          </a:xfrm>
          <a:prstGeom prst="roundRect">
            <a:avLst>
              <a:gd name="adj" fmla="val 3750"/>
            </a:avLst>
          </a:prstGeom>
          <a:solidFill>
            <a:srgbClr val="11121A"/>
          </a:solidFill>
          <a:ln w="12700">
            <a:solidFill>
              <a:srgbClr val="11121A"/>
            </a:solidFill>
            <a:prstDash val="solid"/>
          </a:ln>
        </p:spPr>
        <p:txBody>
          <a:bodyPr/>
          <a:p/>
        </p:txBody>
      </p:sp>
      <p:sp>
        <p:nvSpPr>
          <p:cNvPr id="5" name="Text 3"/>
          <p:cNvSpPr/>
          <p:nvPr/>
        </p:nvSpPr>
        <p:spPr>
          <a:xfrm>
            <a:off x="914400" y="1965960"/>
            <a:ext cx="5943600" cy="320040"/>
          </a:xfrm>
          <a:prstGeom prst="rect">
            <a:avLst/>
          </a:prstGeom>
          <a:noFill/>
          <a:ln/>
        </p:spPr>
        <p:txBody>
          <a:bodyPr wrap="square" lIns="0" tIns="0" rIns="0" bIns="0" rtlCol="0" anchor="t"/>
          <a:lstStyle/>
          <a:p>
            <a:pPr indent="0" marL="0">
              <a:buNone/>
            </a:pPr>
            <a:r>
              <a:rPr lang="en-US" sz="1200" b="1" spc="200" kern="0" dirty="0">
                <a:solidFill>
                  <a:srgbClr val="FFC24B"/>
                </a:solidFill>
                <a:latin typeface="Palatino Linotype" pitchFamily="34" charset="0"/>
                <a:ea typeface="Palatino Linotype" pitchFamily="34" charset="-122"/>
                <a:cs typeface="Palatino Linotype" pitchFamily="34" charset="-120"/>
              </a:rPr>
              <a:t>LABORATORUL, LA TELEFON</a:t>
            </a:r>
            <a:endParaRPr lang="en-US" sz="1200" dirty="0"/>
          </a:p>
        </p:txBody>
      </p:sp>
      <p:sp>
        <p:nvSpPr>
          <p:cNvPr id="6" name="Text 4"/>
          <p:cNvSpPr/>
          <p:nvPr/>
        </p:nvSpPr>
        <p:spPr>
          <a:xfrm>
            <a:off x="914400" y="2331720"/>
            <a:ext cx="5943600" cy="1554480"/>
          </a:xfrm>
          <a:prstGeom prst="rect">
            <a:avLst/>
          </a:prstGeom>
          <a:noFill/>
          <a:ln/>
        </p:spPr>
        <p:txBody>
          <a:bodyPr wrap="square" lIns="0" tIns="0" rIns="0" bIns="0" rtlCol="0" anchor="t"/>
          <a:lstStyle/>
          <a:p>
            <a:pPr indent="0" marL="0">
              <a:buNone/>
            </a:pPr>
            <a:r>
              <a:rPr lang="en-US" sz="2000" i="1" dirty="0">
                <a:solidFill>
                  <a:srgbClr val="FFFFFF"/>
                </a:solidFill>
                <a:latin typeface="Palatino Linotype" pitchFamily="34" charset="0"/>
                <a:ea typeface="Palatino Linotype" pitchFamily="34" charset="-122"/>
                <a:cs typeface="Palatino Linotype" pitchFamily="34" charset="-120"/>
              </a:rPr>
              <a:t>„În apele uzate ale unui cartier am găsit un virus care, la un copil nevaccinat, poate produce paralizie.”</a:t>
            </a:r>
            <a:endParaRPr lang="en-US" sz="2000" dirty="0"/>
          </a:p>
        </p:txBody>
      </p:sp>
      <p:sp>
        <p:nvSpPr>
          <p:cNvPr id="7" name="Shape 5"/>
          <p:cNvSpPr/>
          <p:nvPr/>
        </p:nvSpPr>
        <p:spPr>
          <a:xfrm>
            <a:off x="7360920" y="1828800"/>
            <a:ext cx="4206240" cy="640080"/>
          </a:xfrm>
          <a:prstGeom prst="roundRect">
            <a:avLst>
              <a:gd name="adj" fmla="val 12857"/>
            </a:avLst>
          </a:prstGeom>
          <a:solidFill>
            <a:srgbClr val="ECEAE4"/>
          </a:solidFill>
          <a:ln w="12700">
            <a:solidFill>
              <a:srgbClr val="ECEAE4"/>
            </a:solidFill>
            <a:prstDash val="solid"/>
          </a:ln>
        </p:spPr>
        <p:txBody>
          <a:bodyPr/>
          <a:p/>
        </p:txBody>
      </p:sp>
      <p:sp>
        <p:nvSpPr>
          <p:cNvPr id="8" name="Text 6"/>
          <p:cNvSpPr/>
          <p:nvPr/>
        </p:nvSpPr>
        <p:spPr>
          <a:xfrm>
            <a:off x="7589520" y="1828800"/>
            <a:ext cx="3840480" cy="640080"/>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Spitalele: </a:t>
            </a:r>
            <a:pPr indent="0" marL="0">
              <a:buNone/>
            </a:pPr>
            <a:r>
              <a:rPr lang="en-US" sz="1700" dirty="0">
                <a:solidFill>
                  <a:srgbClr val="11121A"/>
                </a:solidFill>
                <a:latin typeface="Palatino Linotype" pitchFamily="34" charset="0"/>
                <a:ea typeface="Palatino Linotype" pitchFamily="34" charset="-122"/>
                <a:cs typeface="Palatino Linotype" pitchFamily="34" charset="-120"/>
              </a:rPr>
              <a:t>niciun caz</a:t>
            </a:r>
            <a:endParaRPr lang="en-US" sz="1700" dirty="0"/>
          </a:p>
        </p:txBody>
      </p:sp>
      <p:sp>
        <p:nvSpPr>
          <p:cNvPr id="9" name="Shape 7"/>
          <p:cNvSpPr/>
          <p:nvPr/>
        </p:nvSpPr>
        <p:spPr>
          <a:xfrm>
            <a:off x="7360920" y="2578608"/>
            <a:ext cx="4206240" cy="640080"/>
          </a:xfrm>
          <a:prstGeom prst="roundRect">
            <a:avLst>
              <a:gd name="adj" fmla="val 12857"/>
            </a:avLst>
          </a:prstGeom>
          <a:solidFill>
            <a:srgbClr val="ECEAE4"/>
          </a:solidFill>
          <a:ln w="12700">
            <a:solidFill>
              <a:srgbClr val="ECEAE4"/>
            </a:solidFill>
            <a:prstDash val="solid"/>
          </a:ln>
        </p:spPr>
        <p:txBody>
          <a:bodyPr/>
          <a:p/>
        </p:txBody>
      </p:sp>
      <p:sp>
        <p:nvSpPr>
          <p:cNvPr id="10" name="Text 8"/>
          <p:cNvSpPr/>
          <p:nvPr/>
        </p:nvSpPr>
        <p:spPr>
          <a:xfrm>
            <a:off x="7589520" y="2578608"/>
            <a:ext cx="3840480" cy="640080"/>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Medicii de familie: </a:t>
            </a:r>
            <a:pPr indent="0" marL="0">
              <a:buNone/>
            </a:pPr>
            <a:r>
              <a:rPr lang="en-US" sz="1700" dirty="0">
                <a:solidFill>
                  <a:srgbClr val="11121A"/>
                </a:solidFill>
                <a:latin typeface="Palatino Linotype" pitchFamily="34" charset="0"/>
                <a:ea typeface="Palatino Linotype" pitchFamily="34" charset="-122"/>
                <a:cs typeface="Palatino Linotype" pitchFamily="34" charset="-120"/>
              </a:rPr>
              <a:t>nimic raportat</a:t>
            </a:r>
            <a:endParaRPr lang="en-US" sz="1700" dirty="0"/>
          </a:p>
        </p:txBody>
      </p:sp>
      <p:sp>
        <p:nvSpPr>
          <p:cNvPr id="11" name="Shape 9"/>
          <p:cNvSpPr/>
          <p:nvPr/>
        </p:nvSpPr>
        <p:spPr>
          <a:xfrm>
            <a:off x="7360920" y="3328416"/>
            <a:ext cx="4206240" cy="640080"/>
          </a:xfrm>
          <a:prstGeom prst="roundRect">
            <a:avLst>
              <a:gd name="adj" fmla="val 12857"/>
            </a:avLst>
          </a:prstGeom>
          <a:solidFill>
            <a:srgbClr val="ECEAE4"/>
          </a:solidFill>
          <a:ln w="12700">
            <a:solidFill>
              <a:srgbClr val="ECEAE4"/>
            </a:solidFill>
            <a:prstDash val="solid"/>
          </a:ln>
        </p:spPr>
        <p:txBody>
          <a:bodyPr/>
          <a:p/>
        </p:txBody>
      </p:sp>
      <p:sp>
        <p:nvSpPr>
          <p:cNvPr id="12" name="Text 10"/>
          <p:cNvSpPr/>
          <p:nvPr/>
        </p:nvSpPr>
        <p:spPr>
          <a:xfrm>
            <a:off x="7589520" y="3328416"/>
            <a:ext cx="3840480" cy="640080"/>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Părinții: </a:t>
            </a:r>
            <a:pPr indent="0" marL="0">
              <a:buNone/>
            </a:pPr>
            <a:r>
              <a:rPr lang="en-US" sz="1700" dirty="0">
                <a:solidFill>
                  <a:srgbClr val="11121A"/>
                </a:solidFill>
                <a:latin typeface="Palatino Linotype" pitchFamily="34" charset="0"/>
                <a:ea typeface="Palatino Linotype" pitchFamily="34" charset="-122"/>
                <a:cs typeface="Palatino Linotype" pitchFamily="34" charset="-120"/>
              </a:rPr>
              <a:t>nu știu nimic</a:t>
            </a:r>
            <a:endParaRPr lang="en-US" sz="1700" dirty="0"/>
          </a:p>
        </p:txBody>
      </p:sp>
      <p:sp>
        <p:nvSpPr>
          <p:cNvPr id="13" name="Text 11"/>
          <p:cNvSpPr/>
          <p:nvPr/>
        </p:nvSpPr>
        <p:spPr>
          <a:xfrm>
            <a:off x="594360" y="4389120"/>
            <a:ext cx="10972800" cy="1097280"/>
          </a:xfrm>
          <a:prstGeom prst="rect">
            <a:avLst/>
          </a:prstGeom>
          <a:noFill/>
          <a:ln/>
        </p:spPr>
        <p:txBody>
          <a:bodyPr wrap="square" lIns="0" tIns="0" rIns="0" bIns="0" rtlCol="0" anchor="t"/>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Așteptați primul bolnav, ca să fiți siguri, sau acționați acum, pe baza unei probe din canalizare?</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VOTUL ÎNTÂI</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Dacă ați conduce direcția de sănătate publică, ce ați face?</a:t>
            </a:r>
            <a:endParaRPr lang="en-US" sz="2800" dirty="0"/>
          </a:p>
        </p:txBody>
      </p:sp>
      <p:sp>
        <p:nvSpPr>
          <p:cNvPr id="6" name="Shape 4"/>
          <p:cNvSpPr/>
          <p:nvPr/>
        </p:nvSpPr>
        <p:spPr>
          <a:xfrm>
            <a:off x="594360" y="178308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947672"/>
            <a:ext cx="420624" cy="420624"/>
          </a:xfrm>
          <a:prstGeom prst="ellipse">
            <a:avLst/>
          </a:prstGeom>
          <a:solidFill>
            <a:srgbClr val="FFC24B"/>
          </a:solidFill>
          <a:ln/>
        </p:spPr>
        <p:txBody>
          <a:bodyPr/>
          <a:p/>
        </p:txBody>
      </p:sp>
      <p:sp>
        <p:nvSpPr>
          <p:cNvPr id="8" name="Text 6"/>
          <p:cNvSpPr/>
          <p:nvPr/>
        </p:nvSpPr>
        <p:spPr>
          <a:xfrm>
            <a:off x="914400" y="19476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783080"/>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Aștept primul caz confirmat</a:t>
            </a:r>
            <a:endParaRPr lang="en-US" sz="1700" dirty="0"/>
          </a:p>
        </p:txBody>
      </p:sp>
      <p:sp>
        <p:nvSpPr>
          <p:cNvPr id="10" name="Shape 8"/>
          <p:cNvSpPr/>
          <p:nvPr/>
        </p:nvSpPr>
        <p:spPr>
          <a:xfrm>
            <a:off x="594360" y="2679192"/>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843784"/>
            <a:ext cx="420624" cy="420624"/>
          </a:xfrm>
          <a:prstGeom prst="ellipse">
            <a:avLst/>
          </a:prstGeom>
          <a:solidFill>
            <a:srgbClr val="FFC24B"/>
          </a:solidFill>
          <a:ln/>
        </p:spPr>
        <p:txBody>
          <a:bodyPr/>
          <a:p/>
        </p:txBody>
      </p:sp>
      <p:sp>
        <p:nvSpPr>
          <p:cNvPr id="12" name="Text 10"/>
          <p:cNvSpPr/>
          <p:nvPr/>
        </p:nvSpPr>
        <p:spPr>
          <a:xfrm>
            <a:off x="914400" y="284378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679192"/>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Anunț medicii de familie să fie atenți</a:t>
            </a:r>
            <a:endParaRPr lang="en-US" sz="1700" dirty="0"/>
          </a:p>
        </p:txBody>
      </p:sp>
      <p:sp>
        <p:nvSpPr>
          <p:cNvPr id="14" name="Shape 12"/>
          <p:cNvSpPr/>
          <p:nvPr/>
        </p:nvSpPr>
        <p:spPr>
          <a:xfrm>
            <a:off x="594360" y="3575304"/>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739896"/>
            <a:ext cx="420624" cy="420624"/>
          </a:xfrm>
          <a:prstGeom prst="ellipse">
            <a:avLst/>
          </a:prstGeom>
          <a:solidFill>
            <a:srgbClr val="FFC24B"/>
          </a:solidFill>
          <a:ln/>
        </p:spPr>
        <p:txBody>
          <a:bodyPr/>
          <a:p/>
        </p:txBody>
      </p:sp>
      <p:sp>
        <p:nvSpPr>
          <p:cNvPr id="16" name="Text 14"/>
          <p:cNvSpPr/>
          <p:nvPr/>
        </p:nvSpPr>
        <p:spPr>
          <a:xfrm>
            <a:off x="914400" y="37398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575304"/>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Ofer o doză de vaccin copiilor din cartierele cu virus</a:t>
            </a:r>
            <a:endParaRPr lang="en-US" sz="1700" dirty="0"/>
          </a:p>
        </p:txBody>
      </p:sp>
      <p:sp>
        <p:nvSpPr>
          <p:cNvPr id="18" name="Shape 16"/>
          <p:cNvSpPr/>
          <p:nvPr/>
        </p:nvSpPr>
        <p:spPr>
          <a:xfrm>
            <a:off x="594360" y="4471416"/>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914400" y="4636008"/>
            <a:ext cx="420624" cy="420624"/>
          </a:xfrm>
          <a:prstGeom prst="ellipse">
            <a:avLst/>
          </a:prstGeom>
          <a:solidFill>
            <a:srgbClr val="FFC24B"/>
          </a:solidFill>
          <a:ln/>
        </p:spPr>
        <p:txBody>
          <a:bodyPr/>
          <a:p/>
        </p:txBody>
      </p:sp>
      <p:sp>
        <p:nvSpPr>
          <p:cNvPr id="20" name="Text 18"/>
          <p:cNvSpPr/>
          <p:nvPr/>
        </p:nvSpPr>
        <p:spPr>
          <a:xfrm>
            <a:off x="914400" y="46360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471416"/>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Ofer o doză de vaccin tuturor copiilor mici din oraș</a:t>
            </a:r>
            <a:endParaRPr lang="en-US" sz="1700" dirty="0"/>
          </a:p>
        </p:txBody>
      </p:sp>
      <p:sp>
        <p:nvSpPr>
          <p:cNvPr id="22" name="Shape 20"/>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4" name="Text 22"/>
          <p:cNvSpPr/>
          <p:nvPr/>
        </p:nvSpPr>
        <p:spPr>
          <a:xfrm>
            <a:off x="594360" y="553212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la cod sau din linkul din chat. Apoi scrieți în chat: ce informație v-ar lipsi?</a:t>
            </a:r>
            <a:endParaRPr lang="en-US" sz="1500" dirty="0"/>
          </a:p>
        </p:txBody>
      </p:sp>
      <p:pic>
        <p:nvPicPr>
          <p:cNvPr id="25" name="Picture 24" descr="Mentimeter_OPT_DETECTIVI_C04.png"/>
          <p:cNvPicPr>
            <a:picLocks noChangeAspect="1"/>
          </p:cNvPicPr>
          <p:nvPr/>
        </p:nvPicPr>
        <p:blipFill>
          <a:blip r:embed="rId3"/>
          <a:stretch>
            <a:fillRect/>
          </a:stretch>
        </p:blipFill>
        <p:spPr>
          <a:xfrm>
            <a:off x="8817610" y="1783080"/>
            <a:ext cx="2435860" cy="2435860"/>
          </a:xfrm>
          <a:prstGeom prst="rect">
            <a:avLst/>
          </a:prstGeom>
        </p:spPr>
      </p:pic>
      <p:sp>
        <p:nvSpPr>
          <p:cNvPr id="26" name="TextBox 25"/>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7D3BE"/>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073B34"/>
                </a:solidFill>
                <a:latin typeface="Palatino Linotype" pitchFamily="34" charset="0"/>
                <a:ea typeface="Palatino Linotype" pitchFamily="34" charset="-122"/>
                <a:cs typeface="Palatino Linotype" pitchFamily="34" charset="-120"/>
              </a:rPr>
              <a:t>CE S-A HOTĂRÂT</a:t>
            </a:r>
            <a:endParaRPr lang="en-US" sz="1300" dirty="0"/>
          </a:p>
        </p:txBody>
      </p:sp>
      <p:sp>
        <p:nvSpPr>
          <p:cNvPr id="3" name="Text 1"/>
          <p:cNvSpPr/>
          <p:nvPr/>
        </p:nvSpPr>
        <p:spPr>
          <a:xfrm>
            <a:off x="594360" y="777240"/>
            <a:ext cx="10972800" cy="822960"/>
          </a:xfrm>
          <a:prstGeom prst="rect">
            <a:avLst/>
          </a:prstGeom>
          <a:noFill/>
          <a:ln/>
        </p:spPr>
        <p:txBody>
          <a:bodyPr wrap="square" lIns="0" tIns="0" rIns="0" bIns="0" rtlCol="0" anchor="t"/>
          <a:lstStyle/>
          <a:p>
            <a:pPr indent="0" marL="0">
              <a:buNone/>
            </a:pPr>
            <a:r>
              <a:rPr lang="en-US" sz="3800" b="1" dirty="0">
                <a:solidFill>
                  <a:srgbClr val="073B34"/>
                </a:solidFill>
                <a:latin typeface="Palatino Linotype" pitchFamily="34" charset="0"/>
                <a:ea typeface="Palatino Linotype" pitchFamily="34" charset="-122"/>
                <a:cs typeface="Palatino Linotype" pitchFamily="34" charset="-120"/>
              </a:rPr>
              <a:t>A patra variantă, începută cu a treia</a:t>
            </a:r>
            <a:endParaRPr lang="en-US" sz="3800" dirty="0"/>
          </a:p>
        </p:txBody>
      </p:sp>
      <p:sp>
        <p:nvSpPr>
          <p:cNvPr id="4" name="Text 2"/>
          <p:cNvSpPr/>
          <p:nvPr/>
        </p:nvSpPr>
        <p:spPr>
          <a:xfrm>
            <a:off x="594360" y="1783080"/>
            <a:ext cx="10972800" cy="1188720"/>
          </a:xfrm>
          <a:prstGeom prst="rect">
            <a:avLst/>
          </a:prstGeom>
          <a:noFill/>
          <a:ln/>
        </p:spPr>
        <p:txBody>
          <a:bodyPr wrap="square" lIns="0" tIns="0" rIns="0" bIns="0" rtlCol="0" anchor="t"/>
          <a:lstStyle/>
          <a:p>
            <a:pPr indent="0" marL="0">
              <a:buNone/>
            </a:pPr>
            <a:r>
              <a:rPr lang="en-US" sz="1900" dirty="0">
                <a:solidFill>
                  <a:srgbClr val="073B34"/>
                </a:solidFill>
                <a:latin typeface="Palatino Linotype" pitchFamily="34" charset="0"/>
                <a:ea typeface="Palatino Linotype" pitchFamily="34" charset="-122"/>
                <a:cs typeface="Palatino Linotype" pitchFamily="34" charset="-120"/>
              </a:rPr>
              <a:t>10 august 2022: comitetul mixt pentru vaccinare și imunizare recomandă o doză suplimentară de vaccin polio inactivat pentru toți copiii între 1 și 9 ani, din toate cartierele Londrei.</a:t>
            </a:r>
            <a:endParaRPr lang="en-US" sz="1900" dirty="0"/>
          </a:p>
        </p:txBody>
      </p:sp>
      <p:sp>
        <p:nvSpPr>
          <p:cNvPr id="5" name="Shape 3"/>
          <p:cNvSpPr/>
          <p:nvPr/>
        </p:nvSpPr>
        <p:spPr>
          <a:xfrm>
            <a:off x="594360" y="3291840"/>
            <a:ext cx="5257800" cy="2011680"/>
          </a:xfrm>
          <a:prstGeom prst="roundRect">
            <a:avLst>
              <a:gd name="adj" fmla="val 4091"/>
            </a:avLst>
          </a:prstGeom>
          <a:solidFill>
            <a:srgbClr val="D3F6F1"/>
          </a:solidFill>
          <a:ln w="12700">
            <a:solidFill>
              <a:srgbClr val="D3F6F1"/>
            </a:solidFill>
            <a:prstDash val="solid"/>
          </a:ln>
        </p:spPr>
        <p:txBody>
          <a:bodyPr/>
          <a:p/>
        </p:txBody>
      </p:sp>
      <p:sp>
        <p:nvSpPr>
          <p:cNvPr id="6" name="Text 4"/>
          <p:cNvSpPr/>
          <p:nvPr/>
        </p:nvSpPr>
        <p:spPr>
          <a:xfrm>
            <a:off x="868680" y="3474720"/>
            <a:ext cx="4754880" cy="502920"/>
          </a:xfrm>
          <a:prstGeom prst="rect">
            <a:avLst/>
          </a:prstGeom>
          <a:noFill/>
          <a:ln/>
        </p:spPr>
        <p:txBody>
          <a:bodyPr wrap="square" lIns="0" tIns="0" rIns="0" bIns="0" rtlCol="0" anchor="t"/>
          <a:lstStyle/>
          <a:p>
            <a:pPr indent="0" marL="0">
              <a:buNone/>
            </a:pPr>
            <a:r>
              <a:rPr lang="en-US" sz="2200" b="1" dirty="0">
                <a:solidFill>
                  <a:srgbClr val="073B34"/>
                </a:solidFill>
                <a:latin typeface="Palatino Linotype" pitchFamily="34" charset="0"/>
                <a:ea typeface="Palatino Linotype" pitchFamily="34" charset="-122"/>
                <a:cs typeface="Palatino Linotype" pitchFamily="34" charset="-120"/>
              </a:rPr>
              <a:t>Întâi</a:t>
            </a:r>
            <a:endParaRPr lang="en-US" sz="2200" dirty="0"/>
          </a:p>
        </p:txBody>
      </p:sp>
      <p:sp>
        <p:nvSpPr>
          <p:cNvPr id="7" name="Text 5"/>
          <p:cNvSpPr/>
          <p:nvPr/>
        </p:nvSpPr>
        <p:spPr>
          <a:xfrm>
            <a:off x="868680" y="4023360"/>
            <a:ext cx="4754880" cy="1188720"/>
          </a:xfrm>
          <a:prstGeom prst="rect">
            <a:avLst/>
          </a:prstGeom>
          <a:noFill/>
          <a:ln/>
        </p:spPr>
        <p:txBody>
          <a:bodyPr wrap="square" lIns="0" tIns="0" rIns="0" bIns="0" rtlCol="0" anchor="t"/>
          <a:lstStyle/>
          <a:p>
            <a:pPr indent="0" marL="0">
              <a:buNone/>
            </a:pPr>
            <a:r>
              <a:rPr lang="en-US" sz="1800" dirty="0">
                <a:solidFill>
                  <a:srgbClr val="073B34"/>
                </a:solidFill>
                <a:latin typeface="Palatino Linotype" pitchFamily="34" charset="0"/>
                <a:ea typeface="Palatino Linotype" pitchFamily="34" charset="-122"/>
                <a:cs typeface="Palatino Linotype" pitchFamily="34" charset="-120"/>
              </a:rPr>
              <a:t>zonele afectate: virusul fusese găsit acolo, iar acoperirea vaccinală era mică</a:t>
            </a:r>
            <a:endParaRPr lang="en-US" sz="1800" dirty="0"/>
          </a:p>
        </p:txBody>
      </p:sp>
      <p:sp>
        <p:nvSpPr>
          <p:cNvPr id="8" name="Shape 6"/>
          <p:cNvSpPr/>
          <p:nvPr/>
        </p:nvSpPr>
        <p:spPr>
          <a:xfrm>
            <a:off x="6309360" y="3291840"/>
            <a:ext cx="5257800" cy="2011680"/>
          </a:xfrm>
          <a:prstGeom prst="roundRect">
            <a:avLst>
              <a:gd name="adj" fmla="val 4091"/>
            </a:avLst>
          </a:prstGeom>
          <a:solidFill>
            <a:srgbClr val="D3F6F1"/>
          </a:solidFill>
          <a:ln w="12700">
            <a:solidFill>
              <a:srgbClr val="D3F6F1"/>
            </a:solidFill>
            <a:prstDash val="solid"/>
          </a:ln>
        </p:spPr>
        <p:txBody>
          <a:bodyPr/>
          <a:p/>
        </p:txBody>
      </p:sp>
      <p:sp>
        <p:nvSpPr>
          <p:cNvPr id="9" name="Text 7"/>
          <p:cNvSpPr/>
          <p:nvPr/>
        </p:nvSpPr>
        <p:spPr>
          <a:xfrm>
            <a:off x="6583680" y="3474720"/>
            <a:ext cx="4754880" cy="502920"/>
          </a:xfrm>
          <a:prstGeom prst="rect">
            <a:avLst/>
          </a:prstGeom>
          <a:noFill/>
          <a:ln/>
        </p:spPr>
        <p:txBody>
          <a:bodyPr wrap="square" lIns="0" tIns="0" rIns="0" bIns="0" rtlCol="0" anchor="t"/>
          <a:lstStyle/>
          <a:p>
            <a:pPr indent="0" marL="0">
              <a:buNone/>
            </a:pPr>
            <a:r>
              <a:rPr lang="en-US" sz="2200" b="1" dirty="0">
                <a:solidFill>
                  <a:srgbClr val="073B34"/>
                </a:solidFill>
                <a:latin typeface="Palatino Linotype" pitchFamily="34" charset="0"/>
                <a:ea typeface="Palatino Linotype" pitchFamily="34" charset="-122"/>
                <a:cs typeface="Palatino Linotype" pitchFamily="34" charset="-120"/>
              </a:rPr>
              <a:t>Apoi, rapid</a:t>
            </a:r>
            <a:endParaRPr lang="en-US" sz="2200" dirty="0"/>
          </a:p>
        </p:txBody>
      </p:sp>
      <p:sp>
        <p:nvSpPr>
          <p:cNvPr id="10" name="Text 8"/>
          <p:cNvSpPr/>
          <p:nvPr/>
        </p:nvSpPr>
        <p:spPr>
          <a:xfrm>
            <a:off x="6583680" y="4023360"/>
            <a:ext cx="4754880" cy="1188720"/>
          </a:xfrm>
          <a:prstGeom prst="rect">
            <a:avLst/>
          </a:prstGeom>
          <a:noFill/>
          <a:ln/>
        </p:spPr>
        <p:txBody>
          <a:bodyPr wrap="square" lIns="0" tIns="0" rIns="0" bIns="0" rtlCol="0" anchor="t"/>
          <a:lstStyle/>
          <a:p>
            <a:pPr indent="0" marL="0">
              <a:buNone/>
            </a:pPr>
            <a:r>
              <a:rPr lang="en-US" sz="1800" dirty="0">
                <a:solidFill>
                  <a:srgbClr val="073B34"/>
                </a:solidFill>
                <a:latin typeface="Palatino Linotype" pitchFamily="34" charset="0"/>
                <a:ea typeface="Palatino Linotype" pitchFamily="34" charset="-122"/>
                <a:cs typeface="Palatino Linotype" pitchFamily="34" charset="-120"/>
              </a:rPr>
              <a:t>toate cartierele orașului</a:t>
            </a:r>
            <a:endParaRPr lang="en-US" sz="1800" dirty="0"/>
          </a:p>
        </p:txBody>
      </p:sp>
      <p:sp>
        <p:nvSpPr>
          <p:cNvPr id="11" name="Shape 9"/>
          <p:cNvSpPr/>
          <p:nvPr/>
        </p:nvSpPr>
        <p:spPr>
          <a:xfrm>
            <a:off x="5870448" y="4069080"/>
            <a:ext cx="411480" cy="457200"/>
          </a:xfrm>
          <a:prstGeom prst="rightArrow">
            <a:avLst/>
          </a:prstGeom>
          <a:solidFill>
            <a:srgbClr val="073B34"/>
          </a:solidFill>
          <a:ln w="12700">
            <a:solidFill>
              <a:srgbClr val="073B34"/>
            </a:solidFill>
            <a:prstDash val="solid"/>
          </a:ln>
        </p:spPr>
        <p:txBody>
          <a:bodyPr/>
          <a:p/>
        </p:txBody>
      </p:sp>
      <p:sp>
        <p:nvSpPr>
          <p:cNvPr id="12" name="Text 10"/>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073B34"/>
                </a:solidFill>
                <a:latin typeface="Palatino Linotype" pitchFamily="34" charset="0"/>
                <a:ea typeface="Palatino Linotype" pitchFamily="34" charset="-122"/>
                <a:cs typeface="Palatino Linotype" pitchFamily="34" charset="-120"/>
              </a:rPr>
              <a:t>Sursa: comunicatul din 10 august 2022 (registru A570, A588).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TREI ARGUMENTE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De ce o decizie atât de largă, fără niciun bolnav?</a:t>
            </a:r>
            <a:endParaRPr lang="en-US" sz="3000" dirty="0"/>
          </a:p>
        </p:txBody>
      </p:sp>
      <p:sp>
        <p:nvSpPr>
          <p:cNvPr id="4" name="Shape 2"/>
          <p:cNvSpPr/>
          <p:nvPr/>
        </p:nvSpPr>
        <p:spPr>
          <a:xfrm>
            <a:off x="594360" y="1691640"/>
            <a:ext cx="3520440" cy="2514600"/>
          </a:xfrm>
          <a:prstGeom prst="roundRect">
            <a:avLst>
              <a:gd name="adj" fmla="val 3273"/>
            </a:avLst>
          </a:prstGeom>
          <a:solidFill>
            <a:srgbClr val="F4E0E2"/>
          </a:solidFill>
          <a:ln w="12700">
            <a:solidFill>
              <a:srgbClr val="F4E0E2"/>
            </a:solidFill>
            <a:prstDash val="solid"/>
          </a:ln>
        </p:spPr>
        <p:txBody>
          <a:bodyPr/>
          <a:p/>
        </p:txBody>
      </p:sp>
      <p:sp>
        <p:nvSpPr>
          <p:cNvPr id="5" name="Text 3"/>
          <p:cNvSpPr/>
          <p:nvPr/>
        </p:nvSpPr>
        <p:spPr>
          <a:xfrm>
            <a:off x="868680" y="1874520"/>
            <a:ext cx="3017520" cy="50292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Virusul circula</a:t>
            </a:r>
            <a:endParaRPr lang="en-US" sz="2100" dirty="0"/>
          </a:p>
        </p:txBody>
      </p:sp>
      <p:sp>
        <p:nvSpPr>
          <p:cNvPr id="6" name="Text 4"/>
          <p:cNvSpPr/>
          <p:nvPr/>
        </p:nvSpPr>
        <p:spPr>
          <a:xfrm>
            <a:off x="868680" y="2468880"/>
            <a:ext cx="301752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Cantitatea de virus și diversitatea izolatelor: transmiterea trecuse dincolo de câțiva oameni.</a:t>
            </a:r>
            <a:endParaRPr lang="en-US" sz="1600" dirty="0"/>
          </a:p>
        </p:txBody>
      </p:sp>
      <p:sp>
        <p:nvSpPr>
          <p:cNvPr id="7" name="Shape 5"/>
          <p:cNvSpPr/>
          <p:nvPr/>
        </p:nvSpPr>
        <p:spPr>
          <a:xfrm>
            <a:off x="4343400" y="1691640"/>
            <a:ext cx="3520440" cy="2514600"/>
          </a:xfrm>
          <a:prstGeom prst="roundRect">
            <a:avLst>
              <a:gd name="adj" fmla="val 3273"/>
            </a:avLst>
          </a:prstGeom>
          <a:solidFill>
            <a:srgbClr val="F6EDD5"/>
          </a:solidFill>
          <a:ln w="12700">
            <a:solidFill>
              <a:srgbClr val="F6EDD5"/>
            </a:solidFill>
            <a:prstDash val="solid"/>
          </a:ln>
        </p:spPr>
        <p:txBody>
          <a:bodyPr/>
          <a:p/>
        </p:txBody>
      </p:sp>
      <p:sp>
        <p:nvSpPr>
          <p:cNvPr id="8" name="Text 6"/>
          <p:cNvSpPr/>
          <p:nvPr/>
        </p:nvSpPr>
        <p:spPr>
          <a:xfrm>
            <a:off x="4617720" y="1874520"/>
            <a:ext cx="3017520" cy="502920"/>
          </a:xfrm>
          <a:prstGeom prst="rect">
            <a:avLst/>
          </a:prstGeom>
          <a:noFill/>
          <a:ln/>
        </p:spPr>
        <p:txBody>
          <a:bodyPr wrap="square" lIns="0" tIns="0" rIns="0" bIns="0" rtlCol="0" anchor="t"/>
          <a:lstStyle/>
          <a:p>
            <a:pPr indent="0" marL="0">
              <a:buNone/>
            </a:pPr>
            <a:r>
              <a:rPr lang="en-US" sz="2100" b="1" dirty="0">
                <a:solidFill>
                  <a:srgbClr val="8A6100"/>
                </a:solidFill>
                <a:latin typeface="Palatino Linotype" pitchFamily="34" charset="0"/>
                <a:ea typeface="Palatino Linotype" pitchFamily="34" charset="-122"/>
                <a:cs typeface="Palatino Linotype" pitchFamily="34" charset="-120"/>
              </a:rPr>
              <a:t>Zone slab vaccinate</a:t>
            </a:r>
            <a:endParaRPr lang="en-US" sz="2100" dirty="0"/>
          </a:p>
        </p:txBody>
      </p:sp>
      <p:sp>
        <p:nvSpPr>
          <p:cNvPr id="9" name="Text 7"/>
          <p:cNvSpPr/>
          <p:nvPr/>
        </p:nvSpPr>
        <p:spPr>
          <a:xfrm>
            <a:off x="4617720" y="2468880"/>
            <a:ext cx="301752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Virusul circula în zone cu unele dintre cele mai mici acoperiri vaccinale din oraș.</a:t>
            </a:r>
            <a:endParaRPr lang="en-US" sz="1600" dirty="0"/>
          </a:p>
        </p:txBody>
      </p:sp>
      <p:sp>
        <p:nvSpPr>
          <p:cNvPr id="10" name="Shape 8"/>
          <p:cNvSpPr/>
          <p:nvPr/>
        </p:nvSpPr>
        <p:spPr>
          <a:xfrm>
            <a:off x="8092440" y="1691640"/>
            <a:ext cx="3520440" cy="2514600"/>
          </a:xfrm>
          <a:prstGeom prst="roundRect">
            <a:avLst>
              <a:gd name="adj" fmla="val 3273"/>
            </a:avLst>
          </a:prstGeom>
          <a:solidFill>
            <a:srgbClr val="E1F0EC"/>
          </a:solidFill>
          <a:ln w="12700">
            <a:solidFill>
              <a:srgbClr val="E1F0EC"/>
            </a:solidFill>
            <a:prstDash val="solid"/>
          </a:ln>
        </p:spPr>
        <p:txBody>
          <a:bodyPr/>
          <a:p/>
        </p:txBody>
      </p:sp>
      <p:sp>
        <p:nvSpPr>
          <p:cNvPr id="11" name="Text 9"/>
          <p:cNvSpPr/>
          <p:nvPr/>
        </p:nvSpPr>
        <p:spPr>
          <a:xfrm>
            <a:off x="8366760" y="1874520"/>
            <a:ext cx="3017520" cy="502920"/>
          </a:xfrm>
          <a:prstGeom prst="rect">
            <a:avLst/>
          </a:prstGeom>
          <a:noFill/>
          <a:ln/>
        </p:spPr>
        <p:txBody>
          <a:bodyPr wrap="square" lIns="0" tIns="0" rIns="0" bIns="0" rtlCol="0" anchor="t"/>
          <a:lstStyle/>
          <a:p>
            <a:pPr indent="0" marL="0">
              <a:buNone/>
            </a:pPr>
            <a:r>
              <a:rPr lang="en-US" sz="2100" b="1" dirty="0">
                <a:solidFill>
                  <a:srgbClr val="0E7C6B"/>
                </a:solidFill>
                <a:latin typeface="Palatino Linotype" pitchFamily="34" charset="0"/>
                <a:ea typeface="Palatino Linotype" pitchFamily="34" charset="-122"/>
                <a:cs typeface="Palatino Linotype" pitchFamily="34" charset="-120"/>
              </a:rPr>
              <a:t>Protecția</a:t>
            </a:r>
            <a:endParaRPr lang="en-US" sz="2100" dirty="0"/>
          </a:p>
        </p:txBody>
      </p:sp>
      <p:sp>
        <p:nvSpPr>
          <p:cNvPr id="12" name="Text 10"/>
          <p:cNvSpPr/>
          <p:nvPr/>
        </p:nvSpPr>
        <p:spPr>
          <a:xfrm>
            <a:off x="8366760" y="2468880"/>
            <a:ext cx="301752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Protecție ridicată față de paralizie și mai puțină răspândire.</a:t>
            </a:r>
            <a:endParaRPr lang="en-US" sz="1600" dirty="0"/>
          </a:p>
        </p:txBody>
      </p:sp>
      <p:sp>
        <p:nvSpPr>
          <p:cNvPr id="13" name="Shape 11"/>
          <p:cNvSpPr/>
          <p:nvPr/>
        </p:nvSpPr>
        <p:spPr>
          <a:xfrm>
            <a:off x="594360" y="4434840"/>
            <a:ext cx="10972800" cy="1325880"/>
          </a:xfrm>
          <a:prstGeom prst="roundRect">
            <a:avLst>
              <a:gd name="adj" fmla="val 6207"/>
            </a:avLst>
          </a:prstGeom>
          <a:solidFill>
            <a:srgbClr val="11121A"/>
          </a:solidFill>
          <a:ln w="12700">
            <a:solidFill>
              <a:srgbClr val="11121A"/>
            </a:solidFill>
            <a:prstDash val="solid"/>
          </a:ln>
        </p:spPr>
        <p:txBody>
          <a:bodyPr/>
          <a:p/>
        </p:txBody>
      </p:sp>
      <p:sp>
        <p:nvSpPr>
          <p:cNvPr id="14" name="Text 12"/>
          <p:cNvSpPr/>
          <p:nvPr/>
        </p:nvSpPr>
        <p:spPr>
          <a:xfrm>
            <a:off x="914400" y="4434840"/>
            <a:ext cx="10332720" cy="132588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Canalizarea a devenit o hartă a orașului: 8 puncte de recoltare, alte 15 din august, 10–15 în restul țării.</a:t>
            </a:r>
            <a:endParaRPr lang="en-US" sz="1800" dirty="0"/>
          </a:p>
        </p:txBody>
      </p:sp>
      <p:sp>
        <p:nvSpPr>
          <p:cNvPr id="15" name="Text 13"/>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comunicatul din 10 august 2022 (registru A587, A572, A573).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347472"/>
            <a:ext cx="3291840" cy="32918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594360" y="347472"/>
            <a:ext cx="3291840" cy="329184"/>
          </a:xfrm>
          <a:prstGeom prst="rect">
            <a:avLst/>
          </a:prstGeom>
          <a:noFill/>
          <a:ln/>
        </p:spPr>
        <p:txBody>
          <a:bodyPr wrap="square" lIns="0" tIns="0" rIns="0" bIns="0" rtlCol="0" anchor="ctr"/>
          <a:lstStyle/>
          <a:p>
            <a:pPr algn="ctr" indent="0" marL="0">
              <a:buNone/>
            </a:pPr>
            <a:r>
              <a:rPr lang="en-US" sz="1250" b="1" dirty="0">
                <a:solidFill>
                  <a:srgbClr val="073B34"/>
                </a:solidFill>
                <a:latin typeface="Palatino Linotype" pitchFamily="34" charset="0"/>
                <a:ea typeface="Palatino Linotype" pitchFamily="34" charset="-122"/>
                <a:cs typeface="Palatino Linotype" pitchFamily="34" charset="-120"/>
              </a:rPr>
              <a:t>TERMENUL NOU · 1 DIN 3</a:t>
            </a:r>
            <a:endParaRPr lang="en-US" sz="1250" dirty="0"/>
          </a:p>
        </p:txBody>
      </p:sp>
      <p:sp>
        <p:nvSpPr>
          <p:cNvPr id="4" name="Text 2"/>
          <p:cNvSpPr/>
          <p:nvPr/>
        </p:nvSpPr>
        <p:spPr>
          <a:xfrm>
            <a:off x="594360" y="868680"/>
            <a:ext cx="10972800" cy="82296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Supravegherea apelor uzate</a:t>
            </a:r>
            <a:endParaRPr lang="en-US" sz="3800" dirty="0"/>
          </a:p>
        </p:txBody>
      </p:sp>
      <p:sp>
        <p:nvSpPr>
          <p:cNvPr id="5" name="Shape 3"/>
          <p:cNvSpPr/>
          <p:nvPr/>
        </p:nvSpPr>
        <p:spPr>
          <a:xfrm>
            <a:off x="594360" y="1828800"/>
            <a:ext cx="10972800" cy="1325880"/>
          </a:xfrm>
          <a:prstGeom prst="roundRect">
            <a:avLst>
              <a:gd name="adj" fmla="val 6207"/>
            </a:avLst>
          </a:prstGeom>
          <a:solidFill>
            <a:srgbClr val="07564B"/>
          </a:solidFill>
          <a:ln w="12700">
            <a:solidFill>
              <a:srgbClr val="07564B"/>
            </a:solidFill>
            <a:prstDash val="solid"/>
          </a:ln>
        </p:spPr>
        <p:txBody>
          <a:bodyPr/>
          <a:p/>
        </p:txBody>
      </p:sp>
      <p:sp>
        <p:nvSpPr>
          <p:cNvPr id="6" name="Text 4"/>
          <p:cNvSpPr/>
          <p:nvPr/>
        </p:nvSpPr>
        <p:spPr>
          <a:xfrm>
            <a:off x="914400" y="1828800"/>
            <a:ext cx="10332720" cy="1325880"/>
          </a:xfrm>
          <a:prstGeom prst="rect">
            <a:avLst/>
          </a:prstGeom>
          <a:noFill/>
          <a:ln/>
        </p:spPr>
        <p:txBody>
          <a:bodyPr wrap="square" lIns="0" tIns="0" rIns="0" bIns="0" rtlCol="0" anchor="ctr"/>
          <a:lstStyle/>
          <a:p>
            <a:pPr indent="0" marL="0">
              <a:buNone/>
            </a:pPr>
            <a:r>
              <a:rPr lang="en-US" sz="2200" b="1" dirty="0">
                <a:solidFill>
                  <a:srgbClr val="FFFFFF"/>
                </a:solidFill>
                <a:latin typeface="Palatino Linotype" pitchFamily="34" charset="0"/>
                <a:ea typeface="Palatino Linotype" pitchFamily="34" charset="-122"/>
                <a:cs typeface="Palatino Linotype" pitchFamily="34" charset="-120"/>
              </a:rPr>
              <a:t>În loc să numărăm bolnavii unul câte unul, analizăm ce a ajuns în canalizare de la toți locuitorii unei zone deodată.</a:t>
            </a:r>
            <a:endParaRPr lang="en-US" sz="2200" dirty="0"/>
          </a:p>
        </p:txBody>
      </p:sp>
      <p:sp>
        <p:nvSpPr>
          <p:cNvPr id="7" name="Text 5"/>
          <p:cNvSpPr/>
          <p:nvPr/>
        </p:nvSpPr>
        <p:spPr>
          <a:xfrm>
            <a:off x="594360" y="3383280"/>
            <a:ext cx="10972800" cy="1097280"/>
          </a:xfrm>
          <a:prstGeom prst="rect">
            <a:avLst/>
          </a:prstGeom>
          <a:noFill/>
          <a:ln/>
        </p:spPr>
        <p:txBody>
          <a:bodyPr wrap="square" lIns="0" tIns="0" rIns="0" bIns="0" rtlCol="0" anchor="t"/>
          <a:lstStyle/>
          <a:p>
            <a:pPr indent="0" marL="0">
              <a:buNone/>
            </a:pPr>
            <a:r>
              <a:rPr lang="en-US" sz="1700" dirty="0">
                <a:solidFill>
                  <a:srgbClr val="959BB0"/>
                </a:solidFill>
                <a:latin typeface="Palatino Linotype" pitchFamily="34" charset="0"/>
                <a:ea typeface="Palatino Linotype" pitchFamily="34" charset="-122"/>
                <a:cs typeface="Palatino Linotype" pitchFamily="34" charset="-120"/>
              </a:rPr>
              <a:t>Probe regulate din canalizare sau de la intrarea stațiilor de epurare, în care se caută urmele microbilor eliminați de oameni.</a:t>
            </a:r>
            <a:endParaRPr lang="en-US" sz="1700" dirty="0"/>
          </a:p>
        </p:txBody>
      </p:sp>
      <p:sp>
        <p:nvSpPr>
          <p:cNvPr id="8" name="Shape 6"/>
          <p:cNvSpPr/>
          <p:nvPr/>
        </p:nvSpPr>
        <p:spPr>
          <a:xfrm>
            <a:off x="594360" y="4572000"/>
            <a:ext cx="10972800" cy="1280160"/>
          </a:xfrm>
          <a:prstGeom prst="roundRect">
            <a:avLst>
              <a:gd name="adj" fmla="val 6429"/>
            </a:avLst>
          </a:prstGeom>
          <a:solidFill>
            <a:srgbClr val="1D1F2B"/>
          </a:solidFill>
          <a:ln w="12700">
            <a:solidFill>
              <a:srgbClr val="1D1F2B"/>
            </a:solidFill>
            <a:prstDash val="solid"/>
          </a:ln>
        </p:spPr>
        <p:txBody>
          <a:bodyPr/>
          <a:p/>
        </p:txBody>
      </p:sp>
      <p:sp>
        <p:nvSpPr>
          <p:cNvPr id="9" name="Text 7"/>
          <p:cNvSpPr/>
          <p:nvPr/>
        </p:nvSpPr>
        <p:spPr>
          <a:xfrm>
            <a:off x="914400" y="4572000"/>
            <a:ext cx="10332720" cy="128016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Bolnavul care stă acasă și nu dă nicio probă la laborator ajunge, totuși, în canalizare. Proba nu depinde de piramida supravegherii.</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NU POATE O PROBĂ DIN CANALIZARE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Trei limite, spuse de la început</a:t>
            </a:r>
            <a:endParaRPr lang="en-US" sz="3200" dirty="0"/>
          </a:p>
        </p:txBody>
      </p:sp>
      <p:sp>
        <p:nvSpPr>
          <p:cNvPr id="4" name="Shape 2"/>
          <p:cNvSpPr/>
          <p:nvPr/>
        </p:nvSpPr>
        <p:spPr>
          <a:xfrm>
            <a:off x="594360" y="1691640"/>
            <a:ext cx="10972800" cy="1188720"/>
          </a:xfrm>
          <a:prstGeom prst="roundRect">
            <a:avLst>
              <a:gd name="adj" fmla="val 6923"/>
            </a:avLst>
          </a:prstGeom>
          <a:solidFill>
            <a:srgbClr val="ECEAE4"/>
          </a:solidFill>
          <a:ln w="12700">
            <a:solidFill>
              <a:srgbClr val="ECEAE4"/>
            </a:solidFill>
            <a:prstDash val="solid"/>
          </a:ln>
        </p:spPr>
        <p:txBody>
          <a:bodyPr/>
          <a:p/>
        </p:txBody>
      </p:sp>
      <p:sp>
        <p:nvSpPr>
          <p:cNvPr id="5" name="Shape 3"/>
          <p:cNvSpPr/>
          <p:nvPr/>
        </p:nvSpPr>
        <p:spPr>
          <a:xfrm>
            <a:off x="914400" y="2075688"/>
            <a:ext cx="420624" cy="420624"/>
          </a:xfrm>
          <a:prstGeom prst="ellipse">
            <a:avLst/>
          </a:prstGeom>
          <a:solidFill>
            <a:srgbClr val="FF4757"/>
          </a:solidFill>
          <a:ln/>
        </p:spPr>
        <p:txBody>
          <a:bodyPr/>
          <a:p/>
        </p:txBody>
      </p:sp>
      <p:sp>
        <p:nvSpPr>
          <p:cNvPr id="6" name="Text 4"/>
          <p:cNvSpPr/>
          <p:nvPr/>
        </p:nvSpPr>
        <p:spPr>
          <a:xfrm>
            <a:off x="914400" y="207568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691640"/>
            <a:ext cx="9692640" cy="1188720"/>
          </a:xfrm>
          <a:prstGeom prst="rect">
            <a:avLst/>
          </a:prstGeom>
          <a:noFill/>
          <a:ln/>
        </p:spPr>
        <p:txBody>
          <a:bodyPr wrap="square" lIns="0" tIns="0" rIns="0" bIns="0" rtlCol="0" anchor="ctr"/>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Nu arată cine este bolnav: tratamentul cere, în continuare, diagnosticul individual.</a:t>
            </a:r>
            <a:endParaRPr lang="en-US" sz="1800" dirty="0"/>
          </a:p>
        </p:txBody>
      </p:sp>
      <p:sp>
        <p:nvSpPr>
          <p:cNvPr id="8" name="Shape 6"/>
          <p:cNvSpPr/>
          <p:nvPr/>
        </p:nvSpPr>
        <p:spPr>
          <a:xfrm>
            <a:off x="594360" y="3063240"/>
            <a:ext cx="10972800" cy="1188720"/>
          </a:xfrm>
          <a:prstGeom prst="roundRect">
            <a:avLst>
              <a:gd name="adj" fmla="val 6923"/>
            </a:avLst>
          </a:prstGeom>
          <a:solidFill>
            <a:srgbClr val="ECEAE4"/>
          </a:solidFill>
          <a:ln w="12700">
            <a:solidFill>
              <a:srgbClr val="ECEAE4"/>
            </a:solidFill>
            <a:prstDash val="solid"/>
          </a:ln>
        </p:spPr>
        <p:txBody>
          <a:bodyPr/>
          <a:p/>
        </p:txBody>
      </p:sp>
      <p:sp>
        <p:nvSpPr>
          <p:cNvPr id="9" name="Shape 7"/>
          <p:cNvSpPr/>
          <p:nvPr/>
        </p:nvSpPr>
        <p:spPr>
          <a:xfrm>
            <a:off x="914400" y="3447288"/>
            <a:ext cx="420624" cy="420624"/>
          </a:xfrm>
          <a:prstGeom prst="ellipse">
            <a:avLst/>
          </a:prstGeom>
          <a:solidFill>
            <a:srgbClr val="FF4757"/>
          </a:solidFill>
          <a:ln/>
        </p:spPr>
        <p:txBody>
          <a:bodyPr/>
          <a:p/>
        </p:txBody>
      </p:sp>
      <p:sp>
        <p:nvSpPr>
          <p:cNvPr id="10" name="Text 8"/>
          <p:cNvSpPr/>
          <p:nvPr/>
        </p:nvSpPr>
        <p:spPr>
          <a:xfrm>
            <a:off x="914400" y="344728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3063240"/>
            <a:ext cx="9692640" cy="1188720"/>
          </a:xfrm>
          <a:prstGeom prst="rect">
            <a:avLst/>
          </a:prstGeom>
          <a:noFill/>
          <a:ln/>
        </p:spPr>
        <p:txBody>
          <a:bodyPr wrap="square" lIns="0" tIns="0" rIns="0" bIns="0" rtlCol="0" anchor="ctr"/>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Nu spune exact câți bolnavi sunt. Se poate urmări, în schimb, dacă semnalul crește sau scade de la o probă la alta.</a:t>
            </a:r>
            <a:endParaRPr lang="en-US" sz="1800" dirty="0"/>
          </a:p>
        </p:txBody>
      </p:sp>
      <p:sp>
        <p:nvSpPr>
          <p:cNvPr id="12" name="Shape 10"/>
          <p:cNvSpPr/>
          <p:nvPr/>
        </p:nvSpPr>
        <p:spPr>
          <a:xfrm>
            <a:off x="594360" y="4434840"/>
            <a:ext cx="10972800" cy="1188720"/>
          </a:xfrm>
          <a:prstGeom prst="roundRect">
            <a:avLst>
              <a:gd name="adj" fmla="val 6923"/>
            </a:avLst>
          </a:prstGeom>
          <a:solidFill>
            <a:srgbClr val="ECEAE4"/>
          </a:solidFill>
          <a:ln w="12700">
            <a:solidFill>
              <a:srgbClr val="ECEAE4"/>
            </a:solidFill>
            <a:prstDash val="solid"/>
          </a:ln>
        </p:spPr>
        <p:txBody>
          <a:bodyPr/>
          <a:p/>
        </p:txBody>
      </p:sp>
      <p:sp>
        <p:nvSpPr>
          <p:cNvPr id="13" name="Shape 11"/>
          <p:cNvSpPr/>
          <p:nvPr/>
        </p:nvSpPr>
        <p:spPr>
          <a:xfrm>
            <a:off x="914400" y="4818888"/>
            <a:ext cx="420624" cy="420624"/>
          </a:xfrm>
          <a:prstGeom prst="ellipse">
            <a:avLst/>
          </a:prstGeom>
          <a:solidFill>
            <a:srgbClr val="FF4757"/>
          </a:solidFill>
          <a:ln/>
        </p:spPr>
        <p:txBody>
          <a:bodyPr/>
          <a:p/>
        </p:txBody>
      </p:sp>
      <p:sp>
        <p:nvSpPr>
          <p:cNvPr id="14" name="Text 12"/>
          <p:cNvSpPr/>
          <p:nvPr/>
        </p:nvSpPr>
        <p:spPr>
          <a:xfrm>
            <a:off x="914400" y="481888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4434840"/>
            <a:ext cx="9692640" cy="1188720"/>
          </a:xfrm>
          <a:prstGeom prst="rect">
            <a:avLst/>
          </a:prstGeom>
          <a:noFill/>
          <a:ln/>
        </p:spPr>
        <p:txBody>
          <a:bodyPr wrap="square" lIns="0" tIns="0" rIns="0" bIns="0" rtlCol="0" anchor="ctr"/>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Cere o decizie umană. La Londra, între probă și vaccinare au stat agențiile, un comitet de experți și serviciul public de sănătate.</a:t>
            </a:r>
            <a:endParaRPr lang="en-US" sz="1800" dirty="0"/>
          </a:p>
        </p:txBody>
      </p:sp>
      <p:sp>
        <p:nvSpPr>
          <p:cNvPr id="16" name="Text 14"/>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registru A570, A588.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NEW HAVEN · PRIMUL VAL COVID-19</a:t>
            </a:r>
            <a:endParaRPr lang="en-US" sz="1300" dirty="0"/>
          </a:p>
        </p:txBody>
      </p:sp>
      <p:sp>
        <p:nvSpPr>
          <p:cNvPr id="3" name="Text 1"/>
          <p:cNvSpPr/>
          <p:nvPr/>
        </p:nvSpPr>
        <p:spPr>
          <a:xfrm>
            <a:off x="594360" y="731520"/>
            <a:ext cx="10972800" cy="7315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Cu câte zile înaintea altor surse vine semnalul?</a:t>
            </a:r>
            <a:endParaRPr lang="en-US" sz="3000" dirty="0"/>
          </a:p>
        </p:txBody>
      </p:sp>
      <p:sp>
        <p:nvSpPr>
          <p:cNvPr id="4" name="Text 2"/>
          <p:cNvSpPr/>
          <p:nvPr/>
        </p:nvSpPr>
        <p:spPr>
          <a:xfrm>
            <a:off x="594360" y="1691640"/>
            <a:ext cx="3429000" cy="640080"/>
          </a:xfrm>
          <a:prstGeom prst="rect">
            <a:avLst/>
          </a:prstGeom>
          <a:noFill/>
          <a:ln/>
        </p:spPr>
        <p:txBody>
          <a:bodyPr wrap="square" lIns="0" tIns="0" rIns="0" bIns="0" rtlCol="0" anchor="ctr"/>
          <a:lstStyle/>
          <a:p>
            <a:pPr algn="r" indent="0" marL="0">
              <a:buNone/>
            </a:pPr>
            <a:r>
              <a:rPr lang="en-US" sz="1600" b="1" dirty="0">
                <a:solidFill>
                  <a:srgbClr val="FFFFFF"/>
                </a:solidFill>
                <a:latin typeface="Palatino Linotype" pitchFamily="34" charset="0"/>
                <a:ea typeface="Palatino Linotype" pitchFamily="34" charset="-122"/>
                <a:cs typeface="Palatino Linotype" pitchFamily="34" charset="-120"/>
              </a:rPr>
              <a:t>Testele, după data recoltării</a:t>
            </a:r>
            <a:endParaRPr lang="en-US" sz="1600" dirty="0"/>
          </a:p>
        </p:txBody>
      </p:sp>
      <p:sp>
        <p:nvSpPr>
          <p:cNvPr id="5" name="Shape 3"/>
          <p:cNvSpPr/>
          <p:nvPr/>
        </p:nvSpPr>
        <p:spPr>
          <a:xfrm>
            <a:off x="4206240" y="1984248"/>
            <a:ext cx="6949440" cy="36576"/>
          </a:xfrm>
          <a:prstGeom prst="rect">
            <a:avLst/>
          </a:prstGeom>
          <a:solidFill>
            <a:srgbClr val="3A3E52"/>
          </a:solidFill>
          <a:ln w="12700">
            <a:solidFill>
              <a:srgbClr val="3A3E52"/>
            </a:solidFill>
            <a:prstDash val="solid"/>
          </a:ln>
        </p:spPr>
        <p:txBody>
          <a:bodyPr/>
          <a:p/>
        </p:txBody>
      </p:sp>
      <p:sp>
        <p:nvSpPr>
          <p:cNvPr id="6" name="Shape 4"/>
          <p:cNvSpPr/>
          <p:nvPr/>
        </p:nvSpPr>
        <p:spPr>
          <a:xfrm>
            <a:off x="4206240" y="1783080"/>
            <a:ext cx="1737360" cy="457200"/>
          </a:xfrm>
          <a:prstGeom prst="roundRect">
            <a:avLst>
              <a:gd name="adj" fmla="val 16000"/>
            </a:avLst>
          </a:prstGeom>
          <a:solidFill>
            <a:srgbClr val="8E94A8"/>
          </a:solidFill>
          <a:ln w="12700">
            <a:solidFill>
              <a:srgbClr val="8E94A8"/>
            </a:solidFill>
            <a:prstDash val="solid"/>
          </a:ln>
        </p:spPr>
        <p:txBody>
          <a:bodyPr/>
          <a:p/>
        </p:txBody>
      </p:sp>
      <p:sp>
        <p:nvSpPr>
          <p:cNvPr id="7" name="Text 5"/>
          <p:cNvSpPr/>
          <p:nvPr/>
        </p:nvSpPr>
        <p:spPr>
          <a:xfrm>
            <a:off x="4206240" y="1783080"/>
            <a:ext cx="1737360" cy="45720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0–2 zile</a:t>
            </a:r>
            <a:endParaRPr lang="en-US" sz="1500" dirty="0"/>
          </a:p>
        </p:txBody>
      </p:sp>
      <p:sp>
        <p:nvSpPr>
          <p:cNvPr id="8" name="Text 6"/>
          <p:cNvSpPr/>
          <p:nvPr/>
        </p:nvSpPr>
        <p:spPr>
          <a:xfrm>
            <a:off x="594360" y="2560320"/>
            <a:ext cx="3429000" cy="640080"/>
          </a:xfrm>
          <a:prstGeom prst="rect">
            <a:avLst/>
          </a:prstGeom>
          <a:noFill/>
          <a:ln/>
        </p:spPr>
        <p:txBody>
          <a:bodyPr wrap="square" lIns="0" tIns="0" rIns="0" bIns="0" rtlCol="0" anchor="ctr"/>
          <a:lstStyle/>
          <a:p>
            <a:pPr algn="r" indent="0" marL="0">
              <a:buNone/>
            </a:pPr>
            <a:r>
              <a:rPr lang="en-US" sz="1600" b="1" dirty="0">
                <a:solidFill>
                  <a:srgbClr val="FFFFFF"/>
                </a:solidFill>
                <a:latin typeface="Palatino Linotype" pitchFamily="34" charset="0"/>
                <a:ea typeface="Palatino Linotype" pitchFamily="34" charset="-122"/>
                <a:cs typeface="Palatino Linotype" pitchFamily="34" charset="-120"/>
              </a:rPr>
              <a:t>Internările din spitale</a:t>
            </a:r>
            <a:endParaRPr lang="en-US" sz="1600" dirty="0"/>
          </a:p>
        </p:txBody>
      </p:sp>
      <p:sp>
        <p:nvSpPr>
          <p:cNvPr id="9" name="Shape 7"/>
          <p:cNvSpPr/>
          <p:nvPr/>
        </p:nvSpPr>
        <p:spPr>
          <a:xfrm>
            <a:off x="4206240" y="2852928"/>
            <a:ext cx="6949440" cy="36576"/>
          </a:xfrm>
          <a:prstGeom prst="rect">
            <a:avLst/>
          </a:prstGeom>
          <a:solidFill>
            <a:srgbClr val="3A3E52"/>
          </a:solidFill>
          <a:ln w="12700">
            <a:solidFill>
              <a:srgbClr val="3A3E52"/>
            </a:solidFill>
            <a:prstDash val="solid"/>
          </a:ln>
        </p:spPr>
        <p:txBody>
          <a:bodyPr/>
          <a:p/>
        </p:txBody>
      </p:sp>
      <p:sp>
        <p:nvSpPr>
          <p:cNvPr id="10" name="Shape 8"/>
          <p:cNvSpPr/>
          <p:nvPr/>
        </p:nvSpPr>
        <p:spPr>
          <a:xfrm>
            <a:off x="5074920" y="2651760"/>
            <a:ext cx="2606040" cy="457200"/>
          </a:xfrm>
          <a:prstGeom prst="roundRect">
            <a:avLst>
              <a:gd name="adj" fmla="val 16000"/>
            </a:avLst>
          </a:prstGeom>
          <a:solidFill>
            <a:srgbClr val="FFC24B"/>
          </a:solidFill>
          <a:ln w="12700">
            <a:solidFill>
              <a:srgbClr val="FFC24B"/>
            </a:solidFill>
            <a:prstDash val="solid"/>
          </a:ln>
        </p:spPr>
        <p:txBody>
          <a:bodyPr/>
          <a:p/>
        </p:txBody>
      </p:sp>
      <p:sp>
        <p:nvSpPr>
          <p:cNvPr id="11" name="Text 9"/>
          <p:cNvSpPr/>
          <p:nvPr/>
        </p:nvSpPr>
        <p:spPr>
          <a:xfrm>
            <a:off x="5074920" y="2651760"/>
            <a:ext cx="2606040" cy="45720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1–4 zile</a:t>
            </a:r>
            <a:endParaRPr lang="en-US" sz="1500" dirty="0"/>
          </a:p>
        </p:txBody>
      </p:sp>
      <p:sp>
        <p:nvSpPr>
          <p:cNvPr id="12" name="Text 10"/>
          <p:cNvSpPr/>
          <p:nvPr/>
        </p:nvSpPr>
        <p:spPr>
          <a:xfrm>
            <a:off x="594360" y="3429000"/>
            <a:ext cx="3429000" cy="640080"/>
          </a:xfrm>
          <a:prstGeom prst="rect">
            <a:avLst/>
          </a:prstGeom>
          <a:noFill/>
          <a:ln/>
        </p:spPr>
        <p:txBody>
          <a:bodyPr wrap="square" lIns="0" tIns="0" rIns="0" bIns="0" rtlCol="0" anchor="ctr"/>
          <a:lstStyle/>
          <a:p>
            <a:pPr algn="r" indent="0" marL="0">
              <a:buNone/>
            </a:pPr>
            <a:r>
              <a:rPr lang="en-US" sz="1600" b="1" dirty="0">
                <a:solidFill>
                  <a:srgbClr val="FFFFFF"/>
                </a:solidFill>
                <a:latin typeface="Palatino Linotype" pitchFamily="34" charset="0"/>
                <a:ea typeface="Palatino Linotype" pitchFamily="34" charset="-122"/>
                <a:cs typeface="Palatino Linotype" pitchFamily="34" charset="-120"/>
              </a:rPr>
              <a:t>Testele, după data raportării</a:t>
            </a:r>
            <a:endParaRPr lang="en-US" sz="1600" dirty="0"/>
          </a:p>
        </p:txBody>
      </p:sp>
      <p:sp>
        <p:nvSpPr>
          <p:cNvPr id="13" name="Shape 11"/>
          <p:cNvSpPr/>
          <p:nvPr/>
        </p:nvSpPr>
        <p:spPr>
          <a:xfrm>
            <a:off x="4206240" y="3721608"/>
            <a:ext cx="6949440" cy="36576"/>
          </a:xfrm>
          <a:prstGeom prst="rect">
            <a:avLst/>
          </a:prstGeom>
          <a:solidFill>
            <a:srgbClr val="3A3E52"/>
          </a:solidFill>
          <a:ln w="12700">
            <a:solidFill>
              <a:srgbClr val="3A3E52"/>
            </a:solidFill>
            <a:prstDash val="solid"/>
          </a:ln>
        </p:spPr>
        <p:txBody>
          <a:bodyPr/>
          <a:p/>
        </p:txBody>
      </p:sp>
      <p:sp>
        <p:nvSpPr>
          <p:cNvPr id="14" name="Shape 12"/>
          <p:cNvSpPr/>
          <p:nvPr/>
        </p:nvSpPr>
        <p:spPr>
          <a:xfrm>
            <a:off x="9418320" y="3520440"/>
            <a:ext cx="1737360" cy="457200"/>
          </a:xfrm>
          <a:prstGeom prst="roundRect">
            <a:avLst>
              <a:gd name="adj" fmla="val 16000"/>
            </a:avLst>
          </a:prstGeom>
          <a:solidFill>
            <a:srgbClr val="FF4757"/>
          </a:solidFill>
          <a:ln w="12700">
            <a:solidFill>
              <a:srgbClr val="FF4757"/>
            </a:solidFill>
            <a:prstDash val="solid"/>
          </a:ln>
        </p:spPr>
        <p:txBody>
          <a:bodyPr/>
          <a:p/>
        </p:txBody>
      </p:sp>
      <p:sp>
        <p:nvSpPr>
          <p:cNvPr id="15" name="Text 13"/>
          <p:cNvSpPr/>
          <p:nvPr/>
        </p:nvSpPr>
        <p:spPr>
          <a:xfrm>
            <a:off x="9418320" y="3520440"/>
            <a:ext cx="1737360" cy="45720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6–8 zile</a:t>
            </a:r>
            <a:endParaRPr lang="en-US" sz="1500" dirty="0"/>
          </a:p>
        </p:txBody>
      </p:sp>
      <p:sp>
        <p:nvSpPr>
          <p:cNvPr id="16" name="Text 14"/>
          <p:cNvSpPr/>
          <p:nvPr/>
        </p:nvSpPr>
        <p:spPr>
          <a:xfrm>
            <a:off x="594360" y="443484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Nămol recoltat zilnic, 19 martie – 1 iunie 2020, la o stație pentru circa 200 000 de locuitori.</a:t>
            </a:r>
            <a:endParaRPr lang="en-US" sz="1500" dirty="0"/>
          </a:p>
        </p:txBody>
      </p:sp>
      <p:sp>
        <p:nvSpPr>
          <p:cNvPr id="17" name="Shape 15"/>
          <p:cNvSpPr/>
          <p:nvPr/>
        </p:nvSpPr>
        <p:spPr>
          <a:xfrm>
            <a:off x="594360" y="4983480"/>
            <a:ext cx="10972800" cy="1051560"/>
          </a:xfrm>
          <a:prstGeom prst="roundRect">
            <a:avLst>
              <a:gd name="adj" fmla="val 7826"/>
            </a:avLst>
          </a:prstGeom>
          <a:solidFill>
            <a:srgbClr val="07564B"/>
          </a:solidFill>
          <a:ln w="12700">
            <a:solidFill>
              <a:srgbClr val="07564B"/>
            </a:solidFill>
            <a:prstDash val="solid"/>
          </a:ln>
        </p:spPr>
        <p:txBody>
          <a:bodyPr/>
          <a:p/>
        </p:txBody>
      </p:sp>
      <p:sp>
        <p:nvSpPr>
          <p:cNvPr id="18" name="Text 16"/>
          <p:cNvSpPr/>
          <p:nvPr/>
        </p:nvSpPr>
        <p:spPr>
          <a:xfrm>
            <a:off x="914400" y="4983480"/>
            <a:ext cx="10332720" cy="1051560"/>
          </a:xfrm>
          <a:prstGeom prst="rect">
            <a:avLst/>
          </a:prstGeom>
          <a:noFill/>
          <a:ln/>
        </p:spPr>
        <p:txBody>
          <a:bodyPr wrap="square" lIns="0" tIns="0" rIns="0" bIns="0" rtlCol="0" anchor="ctr"/>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Apele uzate nu „văd viitorul”: ocolesc întârzierile drumului până la medic, până la laborator și până în raport.</a:t>
            </a:r>
            <a:endParaRPr lang="en-US" sz="1800" dirty="0"/>
          </a:p>
        </p:txBody>
      </p:sp>
      <p:sp>
        <p:nvSpPr>
          <p:cNvPr id="19" name="Text 17"/>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studiul observațional de la Universitatea Yale (registru A574, A575).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CHAT, APOI VOT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UN MINUT, ARGUMENTUL ÎN CHAT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Unde ar fi mai utilă supravegherea apelor uzate?</a:t>
            </a:r>
            <a:endParaRPr lang="en-US" sz="2800" dirty="0"/>
          </a:p>
        </p:txBody>
      </p:sp>
      <p:sp>
        <p:nvSpPr>
          <p:cNvPr id="6" name="Shape 4"/>
          <p:cNvSpPr/>
          <p:nvPr/>
        </p:nvSpPr>
        <p:spPr>
          <a:xfrm>
            <a:off x="594360" y="1783080"/>
            <a:ext cx="7635240" cy="1417320"/>
          </a:xfrm>
          <a:prstGeom prst="roundRect">
            <a:avLst>
              <a:gd name="adj" fmla="val 5806"/>
            </a:avLst>
          </a:prstGeom>
          <a:solidFill>
            <a:srgbClr val="1D1F2B"/>
          </a:solidFill>
          <a:ln w="12700">
            <a:solidFill>
              <a:srgbClr val="1D1F2B"/>
            </a:solidFill>
            <a:prstDash val="solid"/>
          </a:ln>
        </p:spPr>
        <p:txBody>
          <a:bodyPr/>
          <a:p/>
        </p:txBody>
      </p:sp>
      <p:sp>
        <p:nvSpPr>
          <p:cNvPr id="7" name="Shape 5"/>
          <p:cNvSpPr/>
          <p:nvPr/>
        </p:nvSpPr>
        <p:spPr>
          <a:xfrm>
            <a:off x="914400" y="2286000"/>
            <a:ext cx="420624" cy="420624"/>
          </a:xfrm>
          <a:prstGeom prst="ellipse">
            <a:avLst/>
          </a:prstGeom>
          <a:solidFill>
            <a:srgbClr val="FFC24B"/>
          </a:solidFill>
          <a:ln/>
        </p:spPr>
        <p:txBody>
          <a:bodyPr/>
          <a:p/>
        </p:txBody>
      </p:sp>
      <p:sp>
        <p:nvSpPr>
          <p:cNvPr id="8" name="Text 6"/>
          <p:cNvSpPr/>
          <p:nvPr/>
        </p:nvSpPr>
        <p:spPr>
          <a:xfrm>
            <a:off x="914400" y="228600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783080"/>
            <a:ext cx="6400800" cy="141732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Orașul A: oricine face gratuit un test în aceeași zi; rezultatul ajunge la autorități în câteva ore.</a:t>
            </a:r>
            <a:endParaRPr lang="en-US" sz="1800" dirty="0"/>
          </a:p>
        </p:txBody>
      </p:sp>
      <p:sp>
        <p:nvSpPr>
          <p:cNvPr id="10" name="Shape 8"/>
          <p:cNvSpPr/>
          <p:nvPr/>
        </p:nvSpPr>
        <p:spPr>
          <a:xfrm>
            <a:off x="594360" y="3383280"/>
            <a:ext cx="7635240" cy="1417320"/>
          </a:xfrm>
          <a:prstGeom prst="roundRect">
            <a:avLst>
              <a:gd name="adj" fmla="val 5806"/>
            </a:avLst>
          </a:prstGeom>
          <a:solidFill>
            <a:srgbClr val="1D1F2B"/>
          </a:solidFill>
          <a:ln w="12700">
            <a:solidFill>
              <a:srgbClr val="1D1F2B"/>
            </a:solidFill>
            <a:prstDash val="solid"/>
          </a:ln>
        </p:spPr>
        <p:txBody>
          <a:bodyPr/>
          <a:p/>
        </p:txBody>
      </p:sp>
      <p:sp>
        <p:nvSpPr>
          <p:cNvPr id="11" name="Shape 9"/>
          <p:cNvSpPr/>
          <p:nvPr/>
        </p:nvSpPr>
        <p:spPr>
          <a:xfrm>
            <a:off x="914400" y="3886200"/>
            <a:ext cx="420624" cy="420624"/>
          </a:xfrm>
          <a:prstGeom prst="ellipse">
            <a:avLst/>
          </a:prstGeom>
          <a:solidFill>
            <a:srgbClr val="FFC24B"/>
          </a:solidFill>
          <a:ln/>
        </p:spPr>
        <p:txBody>
          <a:bodyPr/>
          <a:p/>
        </p:txBody>
      </p:sp>
      <p:sp>
        <p:nvSpPr>
          <p:cNvPr id="12" name="Text 10"/>
          <p:cNvSpPr/>
          <p:nvPr/>
        </p:nvSpPr>
        <p:spPr>
          <a:xfrm>
            <a:off x="914400" y="388620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3383280"/>
            <a:ext cx="6400800" cy="141732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Orașul B: puțini oameni merg la medic, testele se plătesc, rezultatele se raportează o dată pe săptămână.</a:t>
            </a:r>
            <a:endParaRPr lang="en-US" sz="1800" dirty="0"/>
          </a:p>
        </p:txBody>
      </p:sp>
      <p:sp>
        <p:nvSpPr>
          <p:cNvPr id="14" name="Shape 12"/>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16" name="Text 14"/>
          <p:cNvSpPr/>
          <p:nvPr/>
        </p:nvSpPr>
        <p:spPr>
          <a:xfrm>
            <a:off x="594360" y="553212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la cod sau din linkul din chat. Scrieți de ce.</a:t>
            </a:r>
            <a:endParaRPr lang="en-US" sz="1500" dirty="0"/>
          </a:p>
        </p:txBody>
      </p:sp>
      <p:pic>
        <p:nvPicPr>
          <p:cNvPr id="17" name="Picture 16" descr="Mentimeter_OPT_DETECTIVI_C04.png"/>
          <p:cNvPicPr>
            <a:picLocks noChangeAspect="1"/>
          </p:cNvPicPr>
          <p:nvPr/>
        </p:nvPicPr>
        <p:blipFill>
          <a:blip r:embed="rId3"/>
          <a:stretch>
            <a:fillRect/>
          </a:stretch>
        </p:blipFill>
        <p:spPr>
          <a:xfrm>
            <a:off x="8817610" y="1783080"/>
            <a:ext cx="2435860" cy="2435860"/>
          </a:xfrm>
          <a:prstGeom prst="rect">
            <a:avLst/>
          </a:prstGeom>
        </p:spPr>
      </p:pic>
      <p:sp>
        <p:nvSpPr>
          <p:cNvPr id="18" name="TextBox 17"/>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4757"/>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2E060B"/>
                </a:solidFill>
                <a:latin typeface="Palatino Linotype" pitchFamily="34" charset="0"/>
                <a:ea typeface="Palatino Linotype" pitchFamily="34" charset="-122"/>
                <a:cs typeface="Palatino Linotype" pitchFamily="34" charset="-120"/>
              </a:rPr>
              <a:t>DUPĂ VOT</a:t>
            </a:r>
            <a:endParaRPr lang="en-US" sz="1300" dirty="0"/>
          </a:p>
        </p:txBody>
      </p:sp>
      <p:sp>
        <p:nvSpPr>
          <p:cNvPr id="3" name="Text 1"/>
          <p:cNvSpPr/>
          <p:nvPr/>
        </p:nvSpPr>
        <p:spPr>
          <a:xfrm>
            <a:off x="594360" y="777240"/>
            <a:ext cx="10972800" cy="914400"/>
          </a:xfrm>
          <a:prstGeom prst="rect">
            <a:avLst/>
          </a:prstGeom>
          <a:noFill/>
          <a:ln/>
        </p:spPr>
        <p:txBody>
          <a:bodyPr wrap="square" lIns="0" tIns="0" rIns="0" bIns="0" rtlCol="0" anchor="t"/>
          <a:lstStyle/>
          <a:p>
            <a:pPr indent="0" marL="0">
              <a:buNone/>
            </a:pPr>
            <a:r>
              <a:rPr lang="en-US" sz="3800" b="1" dirty="0">
                <a:solidFill>
                  <a:srgbClr val="2E060B"/>
                </a:solidFill>
                <a:latin typeface="Palatino Linotype" pitchFamily="34" charset="0"/>
                <a:ea typeface="Palatino Linotype" pitchFamily="34" charset="-122"/>
                <a:cs typeface="Palatino Linotype" pitchFamily="34" charset="-120"/>
              </a:rPr>
              <a:t>Orașul B</a:t>
            </a:r>
            <a:endParaRPr lang="en-US" sz="3800" dirty="0"/>
          </a:p>
        </p:txBody>
      </p:sp>
      <p:sp>
        <p:nvSpPr>
          <p:cNvPr id="4" name="Shape 2"/>
          <p:cNvSpPr/>
          <p:nvPr/>
        </p:nvSpPr>
        <p:spPr>
          <a:xfrm>
            <a:off x="594360" y="1965960"/>
            <a:ext cx="10972800" cy="960120"/>
          </a:xfrm>
          <a:prstGeom prst="roundRect">
            <a:avLst>
              <a:gd name="adj" fmla="val 8571"/>
            </a:avLst>
          </a:prstGeom>
          <a:solidFill>
            <a:srgbClr val="FFE3E6"/>
          </a:solidFill>
          <a:ln w="12700">
            <a:solidFill>
              <a:srgbClr val="FFE3E6"/>
            </a:solidFill>
            <a:prstDash val="solid"/>
          </a:ln>
        </p:spPr>
        <p:txBody>
          <a:bodyPr/>
          <a:p/>
        </p:txBody>
      </p:sp>
      <p:sp>
        <p:nvSpPr>
          <p:cNvPr id="5" name="Text 3"/>
          <p:cNvSpPr/>
          <p:nvPr/>
        </p:nvSpPr>
        <p:spPr>
          <a:xfrm>
            <a:off x="914400" y="1965960"/>
            <a:ext cx="10332720" cy="960120"/>
          </a:xfrm>
          <a:prstGeom prst="rect">
            <a:avLst/>
          </a:prstGeom>
          <a:noFill/>
          <a:ln/>
        </p:spPr>
        <p:txBody>
          <a:bodyPr wrap="square" lIns="0" tIns="0" rIns="0" bIns="0" rtlCol="0" anchor="ctr"/>
          <a:lstStyle/>
          <a:p>
            <a:pPr indent="0" marL="0">
              <a:buNone/>
            </a:pPr>
            <a:r>
              <a:rPr lang="en-US" sz="1900" dirty="0">
                <a:solidFill>
                  <a:srgbClr val="2E060B"/>
                </a:solidFill>
                <a:latin typeface="Palatino Linotype" pitchFamily="34" charset="0"/>
                <a:ea typeface="Palatino Linotype" pitchFamily="34" charset="-122"/>
                <a:cs typeface="Palatino Linotype" pitchFamily="34" charset="-120"/>
              </a:rPr>
              <a:t>Acolo drumurile sunt lungi: până la medic, până la laborator, până în raport. Canalizarea le ocolește.</a:t>
            </a:r>
            <a:endParaRPr lang="en-US" sz="1900" dirty="0"/>
          </a:p>
        </p:txBody>
      </p:sp>
      <p:sp>
        <p:nvSpPr>
          <p:cNvPr id="6" name="Shape 4"/>
          <p:cNvSpPr/>
          <p:nvPr/>
        </p:nvSpPr>
        <p:spPr>
          <a:xfrm>
            <a:off x="594360" y="3108960"/>
            <a:ext cx="10972800" cy="960120"/>
          </a:xfrm>
          <a:prstGeom prst="roundRect">
            <a:avLst>
              <a:gd name="adj" fmla="val 8571"/>
            </a:avLst>
          </a:prstGeom>
          <a:solidFill>
            <a:srgbClr val="FFE3E6"/>
          </a:solidFill>
          <a:ln w="12700">
            <a:solidFill>
              <a:srgbClr val="FFE3E6"/>
            </a:solidFill>
            <a:prstDash val="solid"/>
          </a:ln>
        </p:spPr>
        <p:txBody>
          <a:bodyPr/>
          <a:p/>
        </p:txBody>
      </p:sp>
      <p:sp>
        <p:nvSpPr>
          <p:cNvPr id="7" name="Text 5"/>
          <p:cNvSpPr/>
          <p:nvPr/>
        </p:nvSpPr>
        <p:spPr>
          <a:xfrm>
            <a:off x="914400" y="3108960"/>
            <a:ext cx="10332720" cy="960120"/>
          </a:xfrm>
          <a:prstGeom prst="rect">
            <a:avLst/>
          </a:prstGeom>
          <a:noFill/>
          <a:ln/>
        </p:spPr>
        <p:txBody>
          <a:bodyPr wrap="square" lIns="0" tIns="0" rIns="0" bIns="0" rtlCol="0" anchor="ctr"/>
          <a:lstStyle/>
          <a:p>
            <a:pPr indent="0" marL="0">
              <a:buNone/>
            </a:pPr>
            <a:r>
              <a:rPr lang="en-US" sz="1900" dirty="0">
                <a:solidFill>
                  <a:srgbClr val="2E060B"/>
                </a:solidFill>
                <a:latin typeface="Palatino Linotype" pitchFamily="34" charset="0"/>
                <a:ea typeface="Palatino Linotype" pitchFamily="34" charset="-122"/>
                <a:cs typeface="Palatino Linotype" pitchFamily="34" charset="-120"/>
              </a:rPr>
              <a:t>În orașul A, unde rezultatele se raportează repede, avantajul de timp al apelor uzate se poate reduce mult.</a:t>
            </a:r>
            <a:endParaRPr lang="en-US" sz="1900" dirty="0"/>
          </a:p>
        </p:txBody>
      </p:sp>
      <p:sp>
        <p:nvSpPr>
          <p:cNvPr id="8" name="Shape 6"/>
          <p:cNvSpPr/>
          <p:nvPr/>
        </p:nvSpPr>
        <p:spPr>
          <a:xfrm>
            <a:off x="594360" y="4251960"/>
            <a:ext cx="10972800" cy="960120"/>
          </a:xfrm>
          <a:prstGeom prst="roundRect">
            <a:avLst>
              <a:gd name="adj" fmla="val 8571"/>
            </a:avLst>
          </a:prstGeom>
          <a:solidFill>
            <a:srgbClr val="FFE3E6"/>
          </a:solidFill>
          <a:ln w="12700">
            <a:solidFill>
              <a:srgbClr val="FFE3E6"/>
            </a:solidFill>
            <a:prstDash val="solid"/>
          </a:ln>
        </p:spPr>
        <p:txBody>
          <a:bodyPr/>
          <a:p/>
        </p:txBody>
      </p:sp>
      <p:sp>
        <p:nvSpPr>
          <p:cNvPr id="9" name="Text 7"/>
          <p:cNvSpPr/>
          <p:nvPr/>
        </p:nvSpPr>
        <p:spPr>
          <a:xfrm>
            <a:off x="914400" y="4251960"/>
            <a:ext cx="10332720" cy="960120"/>
          </a:xfrm>
          <a:prstGeom prst="rect">
            <a:avLst/>
          </a:prstGeom>
          <a:noFill/>
          <a:ln/>
        </p:spPr>
        <p:txBody>
          <a:bodyPr wrap="square" lIns="0" tIns="0" rIns="0" bIns="0" rtlCol="0" anchor="ctr"/>
          <a:lstStyle/>
          <a:p>
            <a:pPr indent="0" marL="0">
              <a:buNone/>
            </a:pPr>
            <a:r>
              <a:rPr lang="en-US" sz="1900" b="1" dirty="0">
                <a:solidFill>
                  <a:srgbClr val="2E060B"/>
                </a:solidFill>
                <a:latin typeface="Palatino Linotype" pitchFamily="34" charset="0"/>
                <a:ea typeface="Palatino Linotype" pitchFamily="34" charset="-122"/>
                <a:cs typeface="Palatino Linotype" pitchFamily="34" charset="-120"/>
              </a:rPr>
              <a:t>Unde drumurile sunt lungi, canalizarea vă câștigă zile. Unde sunt scurte, câștigă puțin.</a:t>
            </a:r>
            <a:endParaRPr lang="en-US" sz="1900" dirty="0"/>
          </a:p>
        </p:txBody>
      </p:sp>
      <p:sp>
        <p:nvSpPr>
          <p:cNvPr id="10" name="Text 8"/>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2E060B"/>
                </a:solidFill>
                <a:latin typeface="Palatino Linotype" pitchFamily="34" charset="0"/>
                <a:ea typeface="Palatino Linotype" pitchFamily="34" charset="-122"/>
                <a:cs typeface="Palatino Linotype" pitchFamily="34" charset="-120"/>
              </a:rPr>
              <a:t>Sursa: registru A575.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DE LA EXPERIMENT LA OBLIGAȚIE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Directiva (UE) 2024/3019, articolul 17</a:t>
            </a:r>
            <a:endParaRPr lang="en-US" sz="3000" dirty="0"/>
          </a:p>
        </p:txBody>
      </p:sp>
      <p:sp>
        <p:nvSpPr>
          <p:cNvPr id="4" name="Shape 2"/>
          <p:cNvSpPr/>
          <p:nvPr/>
        </p:nvSpPr>
        <p:spPr>
          <a:xfrm>
            <a:off x="594360" y="1691640"/>
            <a:ext cx="10972800" cy="2468880"/>
          </a:xfrm>
          <a:prstGeom prst="roundRect">
            <a:avLst>
              <a:gd name="adj" fmla="val 3333"/>
            </a:avLst>
          </a:prstGeom>
          <a:solidFill>
            <a:srgbClr val="FBF8F1"/>
          </a:solidFill>
          <a:ln w="12700">
            <a:solidFill>
              <a:srgbClr val="FBF8F1"/>
            </a:solidFill>
            <a:prstDash val="solid"/>
          </a:ln>
        </p:spPr>
        <p:txBody>
          <a:bodyPr/>
          <a:p/>
        </p:txBody>
      </p:sp>
      <p:sp>
        <p:nvSpPr>
          <p:cNvPr id="5" name="Shape 3"/>
          <p:cNvSpPr/>
          <p:nvPr/>
        </p:nvSpPr>
        <p:spPr>
          <a:xfrm>
            <a:off x="594360" y="1691640"/>
            <a:ext cx="73152" cy="2468880"/>
          </a:xfrm>
          <a:prstGeom prst="rect">
            <a:avLst/>
          </a:prstGeom>
          <a:solidFill>
            <a:srgbClr val="B02532"/>
          </a:solidFill>
          <a:ln w="12700">
            <a:solidFill>
              <a:srgbClr val="B02532"/>
            </a:solidFill>
            <a:prstDash val="solid"/>
          </a:ln>
        </p:spPr>
        <p:txBody>
          <a:bodyPr/>
          <a:p/>
        </p:txBody>
      </p:sp>
      <p:sp>
        <p:nvSpPr>
          <p:cNvPr id="6" name="Text 4"/>
          <p:cNvSpPr/>
          <p:nvPr/>
        </p:nvSpPr>
        <p:spPr>
          <a:xfrm>
            <a:off x="960120" y="1828800"/>
            <a:ext cx="10332720" cy="128016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Fiecare stat membru: autoritățile de sănătate publică și cele de epurare urmăresc în apele uzate agenți precum SARS-CoV-2, virusul poliomielitic, virusul gripei și agenții patogeni emergenți.</a:t>
            </a:r>
            <a:endParaRPr lang="en-US" sz="1800" dirty="0"/>
          </a:p>
        </p:txBody>
      </p:sp>
      <p:sp>
        <p:nvSpPr>
          <p:cNvPr id="7" name="Text 5"/>
          <p:cNvSpPr/>
          <p:nvPr/>
        </p:nvSpPr>
        <p:spPr>
          <a:xfrm>
            <a:off x="960120" y="3154680"/>
            <a:ext cx="10332720" cy="822960"/>
          </a:xfrm>
          <a:prstGeom prst="rect">
            <a:avLst/>
          </a:prstGeom>
          <a:noFill/>
          <a:ln/>
        </p:spPr>
        <p:txBody>
          <a:bodyPr wrap="square" lIns="0" tIns="0" rIns="0" bIns="0" rtlCol="0" anchor="t"/>
          <a:lstStyle/>
          <a:p>
            <a:pPr indent="0" marL="0">
              <a:buNone/>
            </a:pPr>
            <a:r>
              <a:rPr lang="en-US" sz="1800" i="1" dirty="0">
                <a:solidFill>
                  <a:srgbClr val="B02532"/>
                </a:solidFill>
                <a:latin typeface="Palatino Linotype" pitchFamily="34" charset="0"/>
                <a:ea typeface="Palatino Linotype" pitchFamily="34" charset="-122"/>
                <a:cs typeface="Palatino Linotype" pitchFamily="34" charset="-120"/>
              </a:rPr>
              <a:t>Un sistem de „cooperare și coordonare”, cu rezultatele comunicate la timp autorităților de sănătate publică.</a:t>
            </a:r>
            <a:endParaRPr lang="en-US" sz="1800" dirty="0"/>
          </a:p>
        </p:txBody>
      </p:sp>
      <p:sp>
        <p:nvSpPr>
          <p:cNvPr id="8" name="Shape 6"/>
          <p:cNvSpPr/>
          <p:nvPr/>
        </p:nvSpPr>
        <p:spPr>
          <a:xfrm>
            <a:off x="594360" y="4389120"/>
            <a:ext cx="4206240" cy="329184"/>
          </a:xfrm>
          <a:prstGeom prst="roundRect">
            <a:avLst>
              <a:gd name="adj" fmla="val 50000"/>
            </a:avLst>
          </a:prstGeom>
          <a:solidFill>
            <a:srgbClr val="11121A"/>
          </a:solidFill>
          <a:ln w="12700">
            <a:solidFill>
              <a:srgbClr val="11121A"/>
            </a:solidFill>
            <a:prstDash val="solid"/>
          </a:ln>
        </p:spPr>
        <p:txBody>
          <a:bodyPr/>
          <a:p/>
        </p:txBody>
      </p:sp>
      <p:sp>
        <p:nvSpPr>
          <p:cNvPr id="9" name="Text 7"/>
          <p:cNvSpPr/>
          <p:nvPr/>
        </p:nvSpPr>
        <p:spPr>
          <a:xfrm>
            <a:off x="594360" y="4389120"/>
            <a:ext cx="420624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Palatino Linotype" pitchFamily="34" charset="0"/>
                <a:ea typeface="Palatino Linotype" pitchFamily="34" charset="-122"/>
                <a:cs typeface="Palatino Linotype" pitchFamily="34" charset="-120"/>
              </a:rPr>
              <a:t>Transpunerea: până la 31 iulie 2027</a:t>
            </a:r>
            <a:endParaRPr lang="en-US" sz="1300" dirty="0"/>
          </a:p>
        </p:txBody>
      </p:sp>
      <p:sp>
        <p:nvSpPr>
          <p:cNvPr id="10" name="Text 8"/>
          <p:cNvSpPr/>
          <p:nvPr/>
        </p:nvSpPr>
        <p:spPr>
          <a:xfrm>
            <a:off x="594360" y="4937760"/>
            <a:ext cx="10972800" cy="822960"/>
          </a:xfrm>
          <a:prstGeom prst="rect">
            <a:avLst/>
          </a:prstGeom>
          <a:noFill/>
          <a:ln/>
        </p:spPr>
        <p:txBody>
          <a:bodyPr wrap="square" lIns="0" tIns="0" rIns="0" bIns="0" rtlCol="0" anchor="t"/>
          <a:lstStyle/>
          <a:p>
            <a:pPr indent="0" marL="0">
              <a:buNone/>
            </a:pPr>
            <a:r>
              <a:rPr lang="en-US" sz="2000" b="1" dirty="0">
                <a:solidFill>
                  <a:srgbClr val="11121A"/>
                </a:solidFill>
                <a:latin typeface="Palatino Linotype" pitchFamily="34" charset="0"/>
                <a:ea typeface="Palatino Linotype" pitchFamily="34" charset="-122"/>
                <a:cs typeface="Palatino Linotype" pitchFamily="34" charset="-120"/>
              </a:rPr>
              <a:t>Articolul se oprește aici: nu spune ce fac autoritățile mai departe.</a:t>
            </a:r>
            <a:endParaRPr lang="en-US" sz="2000" dirty="0"/>
          </a:p>
        </p:txBody>
      </p:sp>
      <p:sp>
        <p:nvSpPr>
          <p:cNvPr id="11" name="Text 9"/>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Directiva (UE) 2024/3019 privind apele uzate urbane (registru A121, A595).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564B"/>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CE ÎNSEAMNĂ PENTRU VOI</a:t>
            </a:r>
            <a:endParaRPr lang="en-US" sz="1300" dirty="0"/>
          </a:p>
        </p:txBody>
      </p:sp>
      <p:sp>
        <p:nvSpPr>
          <p:cNvPr id="3" name="Text 1"/>
          <p:cNvSpPr/>
          <p:nvPr/>
        </p:nvSpPr>
        <p:spPr>
          <a:xfrm>
            <a:off x="594360" y="868680"/>
            <a:ext cx="10972800" cy="128016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Un semnal din canalizare nu are nume, vârstă sau adresă.</a:t>
            </a:r>
            <a:endParaRPr lang="en-US" sz="3400" dirty="0"/>
          </a:p>
        </p:txBody>
      </p:sp>
      <p:sp>
        <p:nvSpPr>
          <p:cNvPr id="4" name="Text 2"/>
          <p:cNvSpPr/>
          <p:nvPr/>
        </p:nvSpPr>
        <p:spPr>
          <a:xfrm>
            <a:off x="594360" y="2194560"/>
            <a:ext cx="10972800" cy="548640"/>
          </a:xfrm>
          <a:prstGeom prst="rect">
            <a:avLst/>
          </a:prstGeom>
          <a:noFill/>
          <a:ln/>
        </p:spPr>
        <p:txBody>
          <a:bodyPr wrap="square" lIns="0" tIns="0" rIns="0" bIns="0" rtlCol="0" anchor="t"/>
          <a:lstStyle/>
          <a:p>
            <a:pPr indent="0" marL="0">
              <a:buNone/>
            </a:pPr>
            <a:r>
              <a:rPr lang="en-US" sz="2100" dirty="0">
                <a:solidFill>
                  <a:srgbClr val="BFEFE8"/>
                </a:solidFill>
                <a:latin typeface="Palatino Linotype" pitchFamily="34" charset="0"/>
                <a:ea typeface="Palatino Linotype" pitchFamily="34" charset="-122"/>
                <a:cs typeface="Palatino Linotype" pitchFamily="34" charset="-120"/>
              </a:rPr>
              <a:t>Spune unei instituții unde să caute, nu pe cine să trateze.</a:t>
            </a:r>
            <a:endParaRPr lang="en-US" sz="2100" dirty="0"/>
          </a:p>
        </p:txBody>
      </p:sp>
      <p:sp>
        <p:nvSpPr>
          <p:cNvPr id="5" name="Text 3"/>
          <p:cNvSpPr/>
          <p:nvPr/>
        </p:nvSpPr>
        <p:spPr>
          <a:xfrm>
            <a:off x="594360" y="3200400"/>
            <a:ext cx="10972800" cy="457200"/>
          </a:xfrm>
          <a:prstGeom prst="rect">
            <a:avLst/>
          </a:prstGeom>
          <a:noFill/>
          <a:ln/>
        </p:spPr>
        <p:txBody>
          <a:bodyPr wrap="square" lIns="0" tIns="0" rIns="0" bIns="0" rtlCol="0" anchor="t"/>
          <a:lstStyle/>
          <a:p>
            <a:pPr indent="0" marL="0">
              <a:buNone/>
            </a:pPr>
            <a:r>
              <a:rPr lang="en-US" sz="1800" i="1" dirty="0">
                <a:solidFill>
                  <a:srgbClr val="BFEFE8"/>
                </a:solidFill>
                <a:latin typeface="Palatino Linotype" pitchFamily="34" charset="0"/>
                <a:ea typeface="Palatino Linotype" pitchFamily="34" charset="-122"/>
                <a:cs typeface="Palatino Linotype" pitchFamily="34" charset="-120"/>
              </a:rPr>
              <a:t>La știrea „virusul a fost găsit în apele uzate ale orașului”:</a:t>
            </a:r>
            <a:endParaRPr lang="en-US" sz="1800" dirty="0"/>
          </a:p>
        </p:txBody>
      </p:sp>
      <p:sp>
        <p:nvSpPr>
          <p:cNvPr id="6" name="Shape 4"/>
          <p:cNvSpPr/>
          <p:nvPr/>
        </p:nvSpPr>
        <p:spPr>
          <a:xfrm>
            <a:off x="594360" y="3794760"/>
            <a:ext cx="5303520" cy="1463040"/>
          </a:xfrm>
          <a:prstGeom prst="roundRect">
            <a:avLst>
              <a:gd name="adj" fmla="val 5625"/>
            </a:avLst>
          </a:prstGeom>
          <a:solidFill>
            <a:srgbClr val="0A463E"/>
          </a:solidFill>
          <a:ln w="12700">
            <a:solidFill>
              <a:srgbClr val="0A463E"/>
            </a:solidFill>
            <a:prstDash val="solid"/>
          </a:ln>
        </p:spPr>
        <p:txBody>
          <a:bodyPr/>
          <a:p/>
        </p:txBody>
      </p:sp>
      <p:sp>
        <p:nvSpPr>
          <p:cNvPr id="7" name="Text 5"/>
          <p:cNvSpPr/>
          <p:nvPr/>
        </p:nvSpPr>
        <p:spPr>
          <a:xfrm>
            <a:off x="868680" y="3794760"/>
            <a:ext cx="4754880" cy="1463040"/>
          </a:xfrm>
          <a:prstGeom prst="rect">
            <a:avLst/>
          </a:prstGeom>
          <a:noFill/>
          <a:ln/>
        </p:spPr>
        <p:txBody>
          <a:bodyPr wrap="square" lIns="0" tIns="0" rIns="0" bIns="0" rtlCol="0" anchor="ctr"/>
          <a:lstStyle/>
          <a:p>
            <a:pPr indent="0" marL="0">
              <a:buNone/>
            </a:pPr>
            <a:r>
              <a:rPr lang="en-US" sz="2200" dirty="0">
                <a:solidFill>
                  <a:srgbClr val="8FBDB6"/>
                </a:solidFill>
                <a:latin typeface="Palatino Linotype" pitchFamily="34" charset="0"/>
                <a:ea typeface="Palatino Linotype" pitchFamily="34" charset="-122"/>
                <a:cs typeface="Palatino Linotype" pitchFamily="34" charset="-120"/>
              </a:rPr>
              <a:t>„Câți bolnavi sunt?”</a:t>
            </a:r>
            <a:endParaRPr lang="en-US" sz="2200" dirty="0"/>
          </a:p>
        </p:txBody>
      </p:sp>
      <p:sp>
        <p:nvSpPr>
          <p:cNvPr id="8" name="Shape 6"/>
          <p:cNvSpPr/>
          <p:nvPr/>
        </p:nvSpPr>
        <p:spPr>
          <a:xfrm>
            <a:off x="6263640" y="3794760"/>
            <a:ext cx="5303520" cy="1463040"/>
          </a:xfrm>
          <a:prstGeom prst="roundRect">
            <a:avLst>
              <a:gd name="adj" fmla="val 5625"/>
            </a:avLst>
          </a:prstGeom>
          <a:solidFill>
            <a:srgbClr val="FFFFFF"/>
          </a:solidFill>
          <a:ln w="12700">
            <a:solidFill>
              <a:srgbClr val="FFFFFF"/>
            </a:solidFill>
            <a:prstDash val="solid"/>
          </a:ln>
        </p:spPr>
        <p:txBody>
          <a:bodyPr/>
          <a:p/>
        </p:txBody>
      </p:sp>
      <p:sp>
        <p:nvSpPr>
          <p:cNvPr id="9" name="Text 7"/>
          <p:cNvSpPr/>
          <p:nvPr/>
        </p:nvSpPr>
        <p:spPr>
          <a:xfrm>
            <a:off x="6537960" y="3794760"/>
            <a:ext cx="4754880" cy="1463040"/>
          </a:xfrm>
          <a:prstGeom prst="rect">
            <a:avLst/>
          </a:prstGeom>
          <a:noFill/>
          <a:ln/>
        </p:spPr>
        <p:txBody>
          <a:bodyPr wrap="square" lIns="0" tIns="0" rIns="0" bIns="0" rtlCol="0" anchor="ctr"/>
          <a:lstStyle/>
          <a:p>
            <a:pPr indent="0" marL="0">
              <a:buNone/>
            </a:pPr>
            <a:r>
              <a:rPr lang="en-US" sz="2200" b="1" dirty="0">
                <a:solidFill>
                  <a:srgbClr val="07564B"/>
                </a:solidFill>
                <a:latin typeface="Palatino Linotype" pitchFamily="34" charset="0"/>
                <a:ea typeface="Palatino Linotype" pitchFamily="34" charset="-122"/>
                <a:cs typeface="Palatino Linotype" pitchFamily="34" charset="-120"/>
              </a:rPr>
              <a:t>„Ce s-a hotărât să se facă și de către cine?”</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POVESTEA A DOUA · ORA DOUĂ NOAPTEA, ÎN CĂMIN</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Februarie, sesiunea, o colegă cu febră</a:t>
            </a:r>
            <a:endParaRPr lang="en-US" sz="3200" dirty="0"/>
          </a:p>
        </p:txBody>
      </p:sp>
      <p:sp>
        <p:nvSpPr>
          <p:cNvPr id="4" name="Shape 2"/>
          <p:cNvSpPr/>
          <p:nvPr/>
        </p:nvSpPr>
        <p:spPr>
          <a:xfrm>
            <a:off x="594360" y="1783080"/>
            <a:ext cx="10972800" cy="868680"/>
          </a:xfrm>
          <a:prstGeom prst="roundRect">
            <a:avLst>
              <a:gd name="adj" fmla="val 49474"/>
            </a:avLst>
          </a:prstGeom>
          <a:solidFill>
            <a:srgbClr val="FFFFFF"/>
          </a:solidFill>
          <a:ln w="12700">
            <a:solidFill>
              <a:srgbClr val="FFFFFF"/>
            </a:solidFill>
            <a:prstDash val="solid"/>
          </a:ln>
        </p:spPr>
        <p:txBody>
          <a:bodyPr/>
          <a:p/>
        </p:txBody>
      </p:sp>
      <p:sp>
        <p:nvSpPr>
          <p:cNvPr id="5" name="Shape 3"/>
          <p:cNvSpPr/>
          <p:nvPr/>
        </p:nvSpPr>
        <p:spPr>
          <a:xfrm>
            <a:off x="914400" y="2011680"/>
            <a:ext cx="384048" cy="384048"/>
          </a:xfrm>
          <a:prstGeom prst="ellipse">
            <a:avLst/>
          </a:prstGeom>
          <a:solidFill>
            <a:srgbClr val="FFFFFF"/>
          </a:solidFill>
          <a:ln w="31750">
            <a:solidFill>
              <a:srgbClr val="585A64"/>
            </a:solidFill>
            <a:prstDash val="solid"/>
          </a:ln>
        </p:spPr>
        <p:txBody>
          <a:bodyPr/>
          <a:p/>
        </p:txBody>
      </p:sp>
      <p:sp>
        <p:nvSpPr>
          <p:cNvPr id="6" name="Text 4"/>
          <p:cNvSpPr/>
          <p:nvPr/>
        </p:nvSpPr>
        <p:spPr>
          <a:xfrm>
            <a:off x="1554480" y="1783080"/>
            <a:ext cx="9692640" cy="868680"/>
          </a:xfrm>
          <a:prstGeom prst="rect">
            <a:avLst/>
          </a:prstGeom>
          <a:noFill/>
          <a:ln/>
        </p:spPr>
        <p:txBody>
          <a:bodyPr wrap="square" lIns="0" tIns="0" rIns="0" bIns="0" rtlCol="0" anchor="ctr"/>
          <a:lstStyle/>
          <a:p>
            <a:pPr indent="0" marL="0">
              <a:buNone/>
            </a:pPr>
            <a:r>
              <a:rPr lang="en-US" sz="2200" dirty="0">
                <a:solidFill>
                  <a:srgbClr val="11121A"/>
                </a:solidFill>
                <a:latin typeface="Palatino Linotype" pitchFamily="34" charset="0"/>
                <a:ea typeface="Palatino Linotype" pitchFamily="34" charset="-122"/>
                <a:cs typeface="Palatino Linotype" pitchFamily="34" charset="-120"/>
              </a:rPr>
              <a:t>febră mare dureri musculare gripă cât durează</a:t>
            </a:r>
            <a:endParaRPr lang="en-US" sz="2200" dirty="0"/>
          </a:p>
        </p:txBody>
      </p:sp>
      <p:sp>
        <p:nvSpPr>
          <p:cNvPr id="7" name="Text 5"/>
          <p:cNvSpPr/>
          <p:nvPr/>
        </p:nvSpPr>
        <p:spPr>
          <a:xfrm>
            <a:off x="594360" y="2971800"/>
            <a:ext cx="10972800" cy="1280160"/>
          </a:xfrm>
          <a:prstGeom prst="rect">
            <a:avLst/>
          </a:prstGeom>
          <a:noFill/>
          <a:ln/>
        </p:spPr>
        <p:txBody>
          <a:bodyPr wrap="square" lIns="0" tIns="0" rIns="0" bIns="0" rtlCol="0" anchor="t"/>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Nu vrea să meargă la urgențe pentru o răceală. Căutarea nu ajunge la niciun medic. Ajunge în jurnalele unei companii care primește, în aceeași noapte, milioane de căutări asemănătoare.</a:t>
            </a:r>
            <a:endParaRPr lang="en-US" sz="1900" dirty="0"/>
          </a:p>
        </p:txBody>
      </p:sp>
      <p:sp>
        <p:nvSpPr>
          <p:cNvPr id="8" name="Shape 6"/>
          <p:cNvSpPr/>
          <p:nvPr/>
        </p:nvSpPr>
        <p:spPr>
          <a:xfrm>
            <a:off x="594360" y="4480560"/>
            <a:ext cx="10972800" cy="1280160"/>
          </a:xfrm>
          <a:prstGeom prst="roundRect">
            <a:avLst>
              <a:gd name="adj" fmla="val 6429"/>
            </a:avLst>
          </a:prstGeom>
          <a:solidFill>
            <a:srgbClr val="272A38"/>
          </a:solidFill>
          <a:ln w="12700">
            <a:solidFill>
              <a:srgbClr val="272A38"/>
            </a:solidFill>
            <a:prstDash val="solid"/>
          </a:ln>
        </p:spPr>
        <p:txBody>
          <a:bodyPr/>
          <a:p/>
        </p:txBody>
      </p:sp>
      <p:sp>
        <p:nvSpPr>
          <p:cNvPr id="9" name="Text 7"/>
          <p:cNvSpPr/>
          <p:nvPr/>
        </p:nvSpPr>
        <p:spPr>
          <a:xfrm>
            <a:off x="914400" y="4480560"/>
            <a:ext cx="10332720" cy="1280160"/>
          </a:xfrm>
          <a:prstGeom prst="rect">
            <a:avLst/>
          </a:prstGeom>
          <a:noFill/>
          <a:ln/>
        </p:spPr>
        <p:txBody>
          <a:bodyPr wrap="square" lIns="0" tIns="0" rIns="0" bIns="0" rtlCol="0" anchor="ctr"/>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Dacă mult mai mulți oameni decât de obicei caută „simptome gripă”, nu înseamnă oare că a venit gripa?</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GOOGLE FLU TRENDS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Sistemul care a văzut prea multă gripă</a:t>
            </a:r>
            <a:endParaRPr lang="en-US" sz="3200" dirty="0"/>
          </a:p>
        </p:txBody>
      </p:sp>
      <p:sp>
        <p:nvSpPr>
          <p:cNvPr id="4" name="Shape 2"/>
          <p:cNvSpPr/>
          <p:nvPr/>
        </p:nvSpPr>
        <p:spPr>
          <a:xfrm>
            <a:off x="594360" y="1691640"/>
            <a:ext cx="4206240" cy="3200400"/>
          </a:xfrm>
          <a:prstGeom prst="roundRect">
            <a:avLst>
              <a:gd name="adj" fmla="val 2571"/>
            </a:avLst>
          </a:prstGeom>
          <a:solidFill>
            <a:srgbClr val="11121A"/>
          </a:solidFill>
          <a:ln w="12700">
            <a:solidFill>
              <a:srgbClr val="11121A"/>
            </a:solidFill>
            <a:prstDash val="solid"/>
          </a:ln>
        </p:spPr>
        <p:txBody>
          <a:bodyPr/>
          <a:p/>
        </p:txBody>
      </p:sp>
      <p:sp>
        <p:nvSpPr>
          <p:cNvPr id="5" name="Text 3"/>
          <p:cNvSpPr/>
          <p:nvPr/>
        </p:nvSpPr>
        <p:spPr>
          <a:xfrm>
            <a:off x="868680" y="1801368"/>
            <a:ext cx="3657600" cy="1600200"/>
          </a:xfrm>
          <a:prstGeom prst="rect">
            <a:avLst/>
          </a:prstGeom>
          <a:noFill/>
          <a:ln/>
        </p:spPr>
        <p:txBody>
          <a:bodyPr wrap="square" lIns="0" tIns="0" rIns="0" bIns="0" rtlCol="0" anchor="ctr"/>
          <a:lstStyle/>
          <a:p>
            <a:pPr indent="0" marL="0">
              <a:buNone/>
            </a:pPr>
            <a:r>
              <a:rPr lang="en-US" sz="9600" b="1" dirty="0">
                <a:solidFill>
                  <a:srgbClr val="FF4757"/>
                </a:solidFill>
                <a:latin typeface="Palatino Linotype" pitchFamily="34" charset="0"/>
                <a:ea typeface="Palatino Linotype" pitchFamily="34" charset="-122"/>
                <a:cs typeface="Palatino Linotype" pitchFamily="34" charset="-120"/>
              </a:rPr>
              <a:t>100</a:t>
            </a:r>
            <a:endParaRPr lang="en-US" sz="9600" dirty="0"/>
          </a:p>
        </p:txBody>
      </p:sp>
      <p:sp>
        <p:nvSpPr>
          <p:cNvPr id="6" name="Text 4"/>
          <p:cNvSpPr/>
          <p:nvPr/>
        </p:nvSpPr>
        <p:spPr>
          <a:xfrm>
            <a:off x="868680" y="3310128"/>
            <a:ext cx="3657600" cy="1472184"/>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din 108 săptămâni, august 2011 – septembrie 2013, cu prea multă gripă</a:t>
            </a:r>
            <a:endParaRPr lang="en-US" sz="1400" dirty="0"/>
          </a:p>
        </p:txBody>
      </p:sp>
      <p:sp>
        <p:nvSpPr>
          <p:cNvPr id="7" name="Shape 5"/>
          <p:cNvSpPr/>
          <p:nvPr/>
        </p:nvSpPr>
        <p:spPr>
          <a:xfrm>
            <a:off x="5120640" y="1691640"/>
            <a:ext cx="6446520" cy="960120"/>
          </a:xfrm>
          <a:prstGeom prst="roundRect">
            <a:avLst>
              <a:gd name="adj" fmla="val 8571"/>
            </a:avLst>
          </a:prstGeom>
          <a:solidFill>
            <a:srgbClr val="ECEAE4"/>
          </a:solidFill>
          <a:ln w="12700">
            <a:solidFill>
              <a:srgbClr val="ECEAE4"/>
            </a:solidFill>
            <a:prstDash val="solid"/>
          </a:ln>
        </p:spPr>
        <p:txBody>
          <a:bodyPr/>
          <a:p/>
        </p:txBody>
      </p:sp>
      <p:sp>
        <p:nvSpPr>
          <p:cNvPr id="8" name="Text 6"/>
          <p:cNvSpPr/>
          <p:nvPr/>
        </p:nvSpPr>
        <p:spPr>
          <a:xfrm>
            <a:off x="5394960" y="1691640"/>
            <a:ext cx="5989320" cy="96012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Februarie 2013: de peste două ori mai multă gripă decât CDC, pe care trebuia s-o prezică.</a:t>
            </a:r>
            <a:endParaRPr lang="en-US" sz="1600" dirty="0"/>
          </a:p>
        </p:txBody>
      </p:sp>
      <p:sp>
        <p:nvSpPr>
          <p:cNvPr id="9" name="Shape 7"/>
          <p:cNvSpPr/>
          <p:nvPr/>
        </p:nvSpPr>
        <p:spPr>
          <a:xfrm>
            <a:off x="5120640" y="2788920"/>
            <a:ext cx="6446520" cy="960120"/>
          </a:xfrm>
          <a:prstGeom prst="roundRect">
            <a:avLst>
              <a:gd name="adj" fmla="val 8571"/>
            </a:avLst>
          </a:prstGeom>
          <a:solidFill>
            <a:srgbClr val="ECEAE4"/>
          </a:solidFill>
          <a:ln w="12700">
            <a:solidFill>
              <a:srgbClr val="ECEAE4"/>
            </a:solidFill>
            <a:prstDash val="solid"/>
          </a:ln>
        </p:spPr>
        <p:txBody>
          <a:bodyPr/>
          <a:p/>
        </p:txBody>
      </p:sp>
      <p:sp>
        <p:nvSpPr>
          <p:cNvPr id="10" name="Text 8"/>
          <p:cNvSpPr/>
          <p:nvPr/>
        </p:nvSpPr>
        <p:spPr>
          <a:xfrm>
            <a:off x="5394960" y="2788920"/>
            <a:ext cx="5989320" cy="96012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Sezonul 2011–2012: peste nivelul real cu mai mult de 50%.</a:t>
            </a:r>
            <a:endParaRPr lang="en-US" sz="1600" dirty="0"/>
          </a:p>
        </p:txBody>
      </p:sp>
      <p:sp>
        <p:nvSpPr>
          <p:cNvPr id="11" name="Shape 9"/>
          <p:cNvSpPr/>
          <p:nvPr/>
        </p:nvSpPr>
        <p:spPr>
          <a:xfrm>
            <a:off x="5120640" y="3886200"/>
            <a:ext cx="6446520" cy="960120"/>
          </a:xfrm>
          <a:prstGeom prst="roundRect">
            <a:avLst>
              <a:gd name="adj" fmla="val 8571"/>
            </a:avLst>
          </a:prstGeom>
          <a:solidFill>
            <a:srgbClr val="ECEAE4"/>
          </a:solidFill>
          <a:ln w="12700">
            <a:solidFill>
              <a:srgbClr val="ECEAE4"/>
            </a:solidFill>
            <a:prstDash val="solid"/>
          </a:ln>
        </p:spPr>
        <p:txBody>
          <a:bodyPr/>
          <a:p/>
        </p:txBody>
      </p:sp>
      <p:sp>
        <p:nvSpPr>
          <p:cNvPr id="12" name="Text 10"/>
          <p:cNvSpPr/>
          <p:nvPr/>
        </p:nvSpPr>
        <p:spPr>
          <a:xfrm>
            <a:off x="5394960" y="3886200"/>
            <a:ext cx="5989320" cy="96012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Pandemia din 2009, în afara sezonului: ratată complet.</a:t>
            </a:r>
            <a:endParaRPr lang="en-US" sz="1600" dirty="0"/>
          </a:p>
        </p:txBody>
      </p:sp>
      <p:sp>
        <p:nvSpPr>
          <p:cNvPr id="13" name="Text 11"/>
          <p:cNvSpPr/>
          <p:nvPr/>
        </p:nvSpPr>
        <p:spPr>
          <a:xfrm>
            <a:off x="594360" y="5166360"/>
            <a:ext cx="10972800" cy="731520"/>
          </a:xfrm>
          <a:prstGeom prst="rect">
            <a:avLst/>
          </a:prstGeom>
          <a:noFill/>
          <a:ln/>
        </p:spPr>
        <p:txBody>
          <a:bodyPr wrap="square" lIns="0" tIns="0" rIns="0" bIns="0" rtlCol="0" anchor="t"/>
          <a:lstStyle/>
          <a:p>
            <a:pPr indent="0" marL="0">
              <a:buNone/>
            </a:pPr>
            <a:r>
              <a:rPr lang="en-US" sz="1800" b="1" i="1" dirty="0">
                <a:solidFill>
                  <a:srgbClr val="B02532"/>
                </a:solidFill>
                <a:latin typeface="Palatino Linotype" pitchFamily="34" charset="0"/>
                <a:ea typeface="Palatino Linotype" pitchFamily="34" charset="-122"/>
                <a:cs typeface="Palatino Linotype" pitchFamily="34" charset="-120"/>
              </a:rPr>
              <a:t>„Part flu detector, part winter detector”: în parte detector de gripă, în parte detector de iarnă.</a:t>
            </a:r>
            <a:endParaRPr lang="en-US" sz="1800" dirty="0"/>
          </a:p>
        </p:txBody>
      </p:sp>
      <p:sp>
        <p:nvSpPr>
          <p:cNvPr id="14" name="Text 12"/>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Lazer și colab., 2014 (registru A578, A580, A581).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ÎNAINTE DE EXPLICAȚIE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De ce a văzut sistemul mai multă gripă decât exista?</a:t>
            </a:r>
            <a:endParaRPr lang="en-US" sz="2800" dirty="0"/>
          </a:p>
        </p:txBody>
      </p:sp>
      <p:sp>
        <p:nvSpPr>
          <p:cNvPr id="6" name="Shape 4"/>
          <p:cNvSpPr/>
          <p:nvPr/>
        </p:nvSpPr>
        <p:spPr>
          <a:xfrm>
            <a:off x="594360" y="178308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947672"/>
            <a:ext cx="420624" cy="420624"/>
          </a:xfrm>
          <a:prstGeom prst="ellipse">
            <a:avLst/>
          </a:prstGeom>
          <a:solidFill>
            <a:srgbClr val="FFC24B"/>
          </a:solidFill>
          <a:ln/>
        </p:spPr>
        <p:txBody>
          <a:bodyPr/>
          <a:p/>
        </p:txBody>
      </p:sp>
      <p:sp>
        <p:nvSpPr>
          <p:cNvPr id="8" name="Text 6"/>
          <p:cNvSpPr/>
          <p:nvPr/>
        </p:nvSpPr>
        <p:spPr>
          <a:xfrm>
            <a:off x="914400" y="19476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783080"/>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Oamenii caută simptome de gripă și când au doar o răceală</a:t>
            </a:r>
            <a:endParaRPr lang="en-US" sz="1700" dirty="0"/>
          </a:p>
        </p:txBody>
      </p:sp>
      <p:sp>
        <p:nvSpPr>
          <p:cNvPr id="10" name="Shape 8"/>
          <p:cNvSpPr/>
          <p:nvPr/>
        </p:nvSpPr>
        <p:spPr>
          <a:xfrm>
            <a:off x="594360" y="2679192"/>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843784"/>
            <a:ext cx="420624" cy="420624"/>
          </a:xfrm>
          <a:prstGeom prst="ellipse">
            <a:avLst/>
          </a:prstGeom>
          <a:solidFill>
            <a:srgbClr val="FFC24B"/>
          </a:solidFill>
          <a:ln/>
        </p:spPr>
        <p:txBody>
          <a:bodyPr/>
          <a:p/>
        </p:txBody>
      </p:sp>
      <p:sp>
        <p:nvSpPr>
          <p:cNvPr id="12" name="Text 10"/>
          <p:cNvSpPr/>
          <p:nvPr/>
        </p:nvSpPr>
        <p:spPr>
          <a:xfrm>
            <a:off x="914400" y="284378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679192"/>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Știrile despre gripă îi fac pe oameni să caute mai mult</a:t>
            </a:r>
            <a:endParaRPr lang="en-US" sz="1700" dirty="0"/>
          </a:p>
        </p:txBody>
      </p:sp>
      <p:sp>
        <p:nvSpPr>
          <p:cNvPr id="14" name="Shape 12"/>
          <p:cNvSpPr/>
          <p:nvPr/>
        </p:nvSpPr>
        <p:spPr>
          <a:xfrm>
            <a:off x="594360" y="3575304"/>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739896"/>
            <a:ext cx="420624" cy="420624"/>
          </a:xfrm>
          <a:prstGeom prst="ellipse">
            <a:avLst/>
          </a:prstGeom>
          <a:solidFill>
            <a:srgbClr val="FFC24B"/>
          </a:solidFill>
          <a:ln/>
        </p:spPr>
        <p:txBody>
          <a:bodyPr/>
          <a:p/>
        </p:txBody>
      </p:sp>
      <p:sp>
        <p:nvSpPr>
          <p:cNvPr id="16" name="Text 14"/>
          <p:cNvSpPr/>
          <p:nvPr/>
        </p:nvSpPr>
        <p:spPr>
          <a:xfrm>
            <a:off x="914400" y="37398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575304"/>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Sistemul a confundat iarna cu gripa</a:t>
            </a:r>
            <a:endParaRPr lang="en-US" sz="1700" dirty="0"/>
          </a:p>
        </p:txBody>
      </p:sp>
      <p:sp>
        <p:nvSpPr>
          <p:cNvPr id="18" name="Shape 16"/>
          <p:cNvSpPr/>
          <p:nvPr/>
        </p:nvSpPr>
        <p:spPr>
          <a:xfrm>
            <a:off x="594360" y="4471416"/>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914400" y="4636008"/>
            <a:ext cx="420624" cy="420624"/>
          </a:xfrm>
          <a:prstGeom prst="ellipse">
            <a:avLst/>
          </a:prstGeom>
          <a:solidFill>
            <a:srgbClr val="FFC24B"/>
          </a:solidFill>
          <a:ln/>
        </p:spPr>
        <p:txBody>
          <a:bodyPr/>
          <a:p/>
        </p:txBody>
      </p:sp>
      <p:sp>
        <p:nvSpPr>
          <p:cNvPr id="20" name="Text 18"/>
          <p:cNvSpPr/>
          <p:nvPr/>
        </p:nvSpPr>
        <p:spPr>
          <a:xfrm>
            <a:off x="914400" y="46360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471416"/>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Toate acestea pot fi adevărate</a:t>
            </a:r>
            <a:endParaRPr lang="en-US" sz="1700" dirty="0"/>
          </a:p>
        </p:txBody>
      </p:sp>
      <p:sp>
        <p:nvSpPr>
          <p:cNvPr id="22" name="Shape 20"/>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4" name="Text 22"/>
          <p:cNvSpPr/>
          <p:nvPr/>
        </p:nvSpPr>
        <p:spPr>
          <a:xfrm>
            <a:off x="594360" y="553212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la cod sau din linkul din chat. Apoi argumentul, în chat.</a:t>
            </a:r>
            <a:endParaRPr lang="en-US" sz="1500" dirty="0"/>
          </a:p>
        </p:txBody>
      </p:sp>
      <p:pic>
        <p:nvPicPr>
          <p:cNvPr id="25" name="Picture 24" descr="Mentimeter_OPT_DETECTIVI_C04.png"/>
          <p:cNvPicPr>
            <a:picLocks noChangeAspect="1"/>
          </p:cNvPicPr>
          <p:nvPr/>
        </p:nvPicPr>
        <p:blipFill>
          <a:blip r:embed="rId3"/>
          <a:stretch>
            <a:fillRect/>
          </a:stretch>
        </p:blipFill>
        <p:spPr>
          <a:xfrm>
            <a:off x="8817610" y="1783080"/>
            <a:ext cx="2435860" cy="2435860"/>
          </a:xfrm>
          <a:prstGeom prst="rect">
            <a:avLst/>
          </a:prstGeom>
        </p:spPr>
      </p:pic>
      <p:sp>
        <p:nvSpPr>
          <p:cNvPr id="26" name="TextBox 25"/>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PRIMA EXPLICAȚIE · CUM A FOST CONSTRUIT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Un sistem care a învățat iarna</a:t>
            </a:r>
            <a:endParaRPr lang="en-US" sz="3200" dirty="0"/>
          </a:p>
        </p:txBody>
      </p:sp>
      <p:sp>
        <p:nvSpPr>
          <p:cNvPr id="4" name="Shape 2"/>
          <p:cNvSpPr/>
          <p:nvPr/>
        </p:nvSpPr>
        <p:spPr>
          <a:xfrm>
            <a:off x="594360" y="1691640"/>
            <a:ext cx="3657600" cy="1737360"/>
          </a:xfrm>
          <a:prstGeom prst="roundRect">
            <a:avLst>
              <a:gd name="adj" fmla="val 4737"/>
            </a:avLst>
          </a:prstGeom>
          <a:solidFill>
            <a:srgbClr val="1D1F2B"/>
          </a:solidFill>
          <a:ln w="12700">
            <a:solidFill>
              <a:srgbClr val="1D1F2B"/>
            </a:solidFill>
            <a:prstDash val="solid"/>
          </a:ln>
        </p:spPr>
        <p:txBody>
          <a:bodyPr/>
          <a:p/>
        </p:txBody>
      </p:sp>
      <p:sp>
        <p:nvSpPr>
          <p:cNvPr id="5" name="Text 3"/>
          <p:cNvSpPr/>
          <p:nvPr/>
        </p:nvSpPr>
        <p:spPr>
          <a:xfrm>
            <a:off x="868680" y="1801368"/>
            <a:ext cx="3108960" cy="868680"/>
          </a:xfrm>
          <a:prstGeom prst="rect">
            <a:avLst/>
          </a:prstGeom>
          <a:noFill/>
          <a:ln/>
        </p:spPr>
        <p:txBody>
          <a:bodyPr wrap="square" lIns="0" tIns="0" rIns="0" bIns="0" rtlCol="0" anchor="ctr"/>
          <a:lstStyle/>
          <a:p>
            <a:pPr indent="0" marL="0">
              <a:buNone/>
            </a:pPr>
            <a:r>
              <a:rPr lang="en-US" sz="3200" b="1" dirty="0">
                <a:solidFill>
                  <a:srgbClr val="FFC24B"/>
                </a:solidFill>
                <a:latin typeface="Palatino Linotype" pitchFamily="34" charset="0"/>
                <a:ea typeface="Palatino Linotype" pitchFamily="34" charset="-122"/>
                <a:cs typeface="Palatino Linotype" pitchFamily="34" charset="-120"/>
              </a:rPr>
              <a:t>50 de milioane</a:t>
            </a:r>
            <a:endParaRPr lang="en-US" sz="3200" dirty="0"/>
          </a:p>
        </p:txBody>
      </p:sp>
      <p:sp>
        <p:nvSpPr>
          <p:cNvPr id="6" name="Text 4"/>
          <p:cNvSpPr/>
          <p:nvPr/>
        </p:nvSpPr>
        <p:spPr>
          <a:xfrm>
            <a:off x="868680" y="2578608"/>
            <a:ext cx="3108960" cy="799186"/>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de termeni de căutare</a:t>
            </a:r>
            <a:endParaRPr lang="en-US" sz="1400" dirty="0"/>
          </a:p>
        </p:txBody>
      </p:sp>
      <p:sp>
        <p:nvSpPr>
          <p:cNvPr id="7" name="Shape 5"/>
          <p:cNvSpPr/>
          <p:nvPr/>
        </p:nvSpPr>
        <p:spPr>
          <a:xfrm>
            <a:off x="594360" y="3611880"/>
            <a:ext cx="3657600" cy="1737360"/>
          </a:xfrm>
          <a:prstGeom prst="roundRect">
            <a:avLst>
              <a:gd name="adj" fmla="val 4737"/>
            </a:avLst>
          </a:prstGeom>
          <a:solidFill>
            <a:srgbClr val="1D1F2B"/>
          </a:solidFill>
          <a:ln w="12700">
            <a:solidFill>
              <a:srgbClr val="1D1F2B"/>
            </a:solidFill>
            <a:prstDash val="solid"/>
          </a:ln>
        </p:spPr>
        <p:txBody>
          <a:bodyPr/>
          <a:p/>
        </p:txBody>
      </p:sp>
      <p:sp>
        <p:nvSpPr>
          <p:cNvPr id="8" name="Text 6"/>
          <p:cNvSpPr/>
          <p:nvPr/>
        </p:nvSpPr>
        <p:spPr>
          <a:xfrm>
            <a:off x="868680" y="3721608"/>
            <a:ext cx="3108960" cy="868680"/>
          </a:xfrm>
          <a:prstGeom prst="rect">
            <a:avLst/>
          </a:prstGeom>
          <a:noFill/>
          <a:ln/>
        </p:spPr>
        <p:txBody>
          <a:bodyPr wrap="square" lIns="0" tIns="0" rIns="0" bIns="0" rtlCol="0" anchor="ctr"/>
          <a:lstStyle/>
          <a:p>
            <a:pPr indent="0" marL="0">
              <a:buNone/>
            </a:pPr>
            <a:r>
              <a:rPr lang="en-US" sz="4000" b="1" dirty="0">
                <a:solidFill>
                  <a:srgbClr val="27D3BE"/>
                </a:solidFill>
                <a:latin typeface="Palatino Linotype" pitchFamily="34" charset="0"/>
                <a:ea typeface="Palatino Linotype" pitchFamily="34" charset="-122"/>
                <a:cs typeface="Palatino Linotype" pitchFamily="34" charset="-120"/>
              </a:rPr>
              <a:t>1 152</a:t>
            </a:r>
            <a:endParaRPr lang="en-US" sz="4000" dirty="0"/>
          </a:p>
        </p:txBody>
      </p:sp>
      <p:sp>
        <p:nvSpPr>
          <p:cNvPr id="9" name="Text 7"/>
          <p:cNvSpPr/>
          <p:nvPr/>
        </p:nvSpPr>
        <p:spPr>
          <a:xfrm>
            <a:off x="868680" y="4498848"/>
            <a:ext cx="3108960" cy="799186"/>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de puncte de date ale CDC</a:t>
            </a:r>
            <a:endParaRPr lang="en-US" sz="1400" dirty="0"/>
          </a:p>
        </p:txBody>
      </p:sp>
      <p:sp>
        <p:nvSpPr>
          <p:cNvPr id="10" name="Text 8"/>
          <p:cNvSpPr/>
          <p:nvPr/>
        </p:nvSpPr>
        <p:spPr>
          <a:xfrm>
            <a:off x="4572000" y="1691640"/>
            <a:ext cx="6995160" cy="128016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Unii termeni urcau și coborau odată cu sezonul, fără legătură cu gripa: baschetul din liceu.</a:t>
            </a:r>
            <a:endParaRPr lang="en-US" sz="1800" dirty="0"/>
          </a:p>
        </p:txBody>
      </p:sp>
      <p:sp>
        <p:nvSpPr>
          <p:cNvPr id="11" name="Text 9"/>
          <p:cNvSpPr/>
          <p:nvPr/>
        </p:nvSpPr>
        <p:spPr>
          <a:xfrm>
            <a:off x="4572000" y="3063240"/>
            <a:ext cx="6995160" cy="109728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Printre milioane de curbe, multe seamănă cu gripa din întâmplare.</a:t>
            </a:r>
            <a:endParaRPr lang="en-US" sz="1800" dirty="0"/>
          </a:p>
        </p:txBody>
      </p:sp>
      <p:sp>
        <p:nvSpPr>
          <p:cNvPr id="12" name="Shape 10"/>
          <p:cNvSpPr/>
          <p:nvPr/>
        </p:nvSpPr>
        <p:spPr>
          <a:xfrm>
            <a:off x="4572000" y="4297680"/>
            <a:ext cx="6995160" cy="1051560"/>
          </a:xfrm>
          <a:prstGeom prst="roundRect">
            <a:avLst>
              <a:gd name="adj" fmla="val 7826"/>
            </a:avLst>
          </a:prstGeom>
          <a:solidFill>
            <a:srgbClr val="FF4757"/>
          </a:solidFill>
          <a:ln w="12700">
            <a:solidFill>
              <a:srgbClr val="FF4757"/>
            </a:solidFill>
            <a:prstDash val="solid"/>
          </a:ln>
        </p:spPr>
        <p:txBody>
          <a:bodyPr/>
          <a:p/>
        </p:txBody>
      </p:sp>
      <p:sp>
        <p:nvSpPr>
          <p:cNvPr id="13" name="Text 11"/>
          <p:cNvSpPr/>
          <p:nvPr/>
        </p:nvSpPr>
        <p:spPr>
          <a:xfrm>
            <a:off x="4846320" y="4297680"/>
            <a:ext cx="6492240" cy="1051560"/>
          </a:xfrm>
          <a:prstGeom prst="rect">
            <a:avLst/>
          </a:prstGeom>
          <a:noFill/>
          <a:ln/>
        </p:spPr>
        <p:txBody>
          <a:bodyPr wrap="square" lIns="0" tIns="0" rIns="0" bIns="0" rtlCol="0" anchor="ctr"/>
          <a:lstStyle/>
          <a:p>
            <a:pPr indent="0" marL="0">
              <a:buNone/>
            </a:pPr>
            <a:r>
              <a:rPr lang="en-US" sz="1900" b="1" dirty="0">
                <a:solidFill>
                  <a:srgbClr val="2E060B"/>
                </a:solidFill>
                <a:latin typeface="Palatino Linotype" pitchFamily="34" charset="0"/>
                <a:ea typeface="Palatino Linotype" pitchFamily="34" charset="-122"/>
                <a:cs typeface="Palatino Linotype" pitchFamily="34" charset="-120"/>
              </a:rPr>
              <a:t>Când gripa a venit vara, în 2009, sistemul nu a văzut-o.</a:t>
            </a:r>
            <a:endParaRPr lang="en-US" sz="1900" dirty="0"/>
          </a:p>
        </p:txBody>
      </p:sp>
      <p:sp>
        <p:nvSpPr>
          <p:cNvPr id="14" name="Text 12"/>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Lazer și colab., 2014 (registru A579, A580).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 DOUA EXPLICAȚIE · MOTORUL DE CĂUTARE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Datele veneau de la un produs comercial</a:t>
            </a:r>
            <a:endParaRPr lang="en-US" sz="3200" dirty="0"/>
          </a:p>
        </p:txBody>
      </p:sp>
      <p:sp>
        <p:nvSpPr>
          <p:cNvPr id="4" name="Shape 2"/>
          <p:cNvSpPr/>
          <p:nvPr/>
        </p:nvSpPr>
        <p:spPr>
          <a:xfrm>
            <a:off x="594360" y="1691640"/>
            <a:ext cx="3657600" cy="2743200"/>
          </a:xfrm>
          <a:prstGeom prst="roundRect">
            <a:avLst>
              <a:gd name="adj" fmla="val 3000"/>
            </a:avLst>
          </a:prstGeom>
          <a:solidFill>
            <a:srgbClr val="11121A"/>
          </a:solidFill>
          <a:ln w="12700">
            <a:solidFill>
              <a:srgbClr val="11121A"/>
            </a:solidFill>
            <a:prstDash val="solid"/>
          </a:ln>
        </p:spPr>
        <p:txBody>
          <a:bodyPr/>
          <a:p/>
        </p:txBody>
      </p:sp>
      <p:sp>
        <p:nvSpPr>
          <p:cNvPr id="5" name="Text 3"/>
          <p:cNvSpPr/>
          <p:nvPr/>
        </p:nvSpPr>
        <p:spPr>
          <a:xfrm>
            <a:off x="868680" y="1801368"/>
            <a:ext cx="3108960" cy="1371600"/>
          </a:xfrm>
          <a:prstGeom prst="rect">
            <a:avLst/>
          </a:prstGeom>
          <a:noFill/>
          <a:ln/>
        </p:spPr>
        <p:txBody>
          <a:bodyPr wrap="square" lIns="0" tIns="0" rIns="0" bIns="0" rtlCol="0" anchor="ctr"/>
          <a:lstStyle/>
          <a:p>
            <a:pPr indent="0" marL="0">
              <a:buNone/>
            </a:pPr>
            <a:r>
              <a:rPr lang="en-US" sz="8000" b="1" dirty="0">
                <a:solidFill>
                  <a:srgbClr val="FF4757"/>
                </a:solidFill>
                <a:latin typeface="Palatino Linotype" pitchFamily="34" charset="0"/>
                <a:ea typeface="Palatino Linotype" pitchFamily="34" charset="-122"/>
                <a:cs typeface="Palatino Linotype" pitchFamily="34" charset="-120"/>
              </a:rPr>
              <a:t>86</a:t>
            </a:r>
            <a:endParaRPr lang="en-US" sz="8000" dirty="0"/>
          </a:p>
        </p:txBody>
      </p:sp>
      <p:sp>
        <p:nvSpPr>
          <p:cNvPr id="6" name="Text 4"/>
          <p:cNvSpPr/>
          <p:nvPr/>
        </p:nvSpPr>
        <p:spPr>
          <a:xfrm>
            <a:off x="868680" y="3081528"/>
            <a:ext cx="3108960" cy="1261872"/>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de schimbări anunțate de companie numai în iunie și iulie 2012</a:t>
            </a:r>
            <a:endParaRPr lang="en-US" sz="1400" dirty="0"/>
          </a:p>
        </p:txBody>
      </p:sp>
      <p:sp>
        <p:nvSpPr>
          <p:cNvPr id="7" name="Shape 5"/>
          <p:cNvSpPr/>
          <p:nvPr/>
        </p:nvSpPr>
        <p:spPr>
          <a:xfrm>
            <a:off x="4572000" y="1691640"/>
            <a:ext cx="6995160" cy="822960"/>
          </a:xfrm>
          <a:prstGeom prst="roundRect">
            <a:avLst>
              <a:gd name="adj" fmla="val 10000"/>
            </a:avLst>
          </a:prstGeom>
          <a:solidFill>
            <a:srgbClr val="ECEAE4"/>
          </a:solidFill>
          <a:ln w="12700">
            <a:solidFill>
              <a:srgbClr val="ECEAE4"/>
            </a:solidFill>
            <a:prstDash val="solid"/>
          </a:ln>
        </p:spPr>
        <p:txBody>
          <a:bodyPr/>
          <a:p/>
        </p:txBody>
      </p:sp>
      <p:sp>
        <p:nvSpPr>
          <p:cNvPr id="8" name="Text 6"/>
          <p:cNvSpPr/>
          <p:nvPr/>
        </p:nvSpPr>
        <p:spPr>
          <a:xfrm>
            <a:off x="4846320" y="1691640"/>
            <a:ext cx="6537960" cy="82296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Din iunie 2011: căutări suplimentare sugerate.</a:t>
            </a:r>
            <a:endParaRPr lang="en-US" sz="1600" dirty="0"/>
          </a:p>
        </p:txBody>
      </p:sp>
      <p:sp>
        <p:nvSpPr>
          <p:cNvPr id="9" name="Shape 7"/>
          <p:cNvSpPr/>
          <p:nvPr/>
        </p:nvSpPr>
        <p:spPr>
          <a:xfrm>
            <a:off x="4572000" y="2633472"/>
            <a:ext cx="6995160" cy="822960"/>
          </a:xfrm>
          <a:prstGeom prst="roundRect">
            <a:avLst>
              <a:gd name="adj" fmla="val 10000"/>
            </a:avLst>
          </a:prstGeom>
          <a:solidFill>
            <a:srgbClr val="ECEAE4"/>
          </a:solidFill>
          <a:ln w="12700">
            <a:solidFill>
              <a:srgbClr val="ECEAE4"/>
            </a:solidFill>
            <a:prstDash val="solid"/>
          </a:ln>
        </p:spPr>
        <p:txBody>
          <a:bodyPr/>
          <a:p/>
        </p:txBody>
      </p:sp>
      <p:sp>
        <p:nvSpPr>
          <p:cNvPr id="10" name="Text 8"/>
          <p:cNvSpPr/>
          <p:nvPr/>
        </p:nvSpPr>
        <p:spPr>
          <a:xfrm>
            <a:off x="4846320" y="2633472"/>
            <a:ext cx="6537960" cy="82296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Din februarie 2012: diagnostice posibile pentru febră și tuse.</a:t>
            </a:r>
            <a:endParaRPr lang="en-US" sz="1600" dirty="0"/>
          </a:p>
        </p:txBody>
      </p:sp>
      <p:sp>
        <p:nvSpPr>
          <p:cNvPr id="11" name="Shape 9"/>
          <p:cNvSpPr/>
          <p:nvPr/>
        </p:nvSpPr>
        <p:spPr>
          <a:xfrm>
            <a:off x="4572000" y="3575304"/>
            <a:ext cx="6995160" cy="822960"/>
          </a:xfrm>
          <a:prstGeom prst="roundRect">
            <a:avLst>
              <a:gd name="adj" fmla="val 10000"/>
            </a:avLst>
          </a:prstGeom>
          <a:solidFill>
            <a:srgbClr val="ECEAE4"/>
          </a:solidFill>
          <a:ln w="12700">
            <a:solidFill>
              <a:srgbClr val="ECEAE4"/>
            </a:solidFill>
            <a:prstDash val="solid"/>
          </a:ln>
        </p:spPr>
        <p:txBody>
          <a:bodyPr/>
          <a:p/>
        </p:txBody>
      </p:sp>
      <p:sp>
        <p:nvSpPr>
          <p:cNvPr id="12" name="Text 10"/>
          <p:cNvSpPr/>
          <p:nvPr/>
        </p:nvSpPr>
        <p:spPr>
          <a:xfrm>
            <a:off x="4846320" y="3575304"/>
            <a:ext cx="6537960" cy="82296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Căutările „răceală sau gripă” urmăresc îndeaproape erorile.</a:t>
            </a:r>
            <a:endParaRPr lang="en-US" sz="1600" dirty="0"/>
          </a:p>
        </p:txBody>
      </p:sp>
      <p:sp>
        <p:nvSpPr>
          <p:cNvPr id="13" name="Text 11"/>
          <p:cNvSpPr/>
          <p:nvPr/>
        </p:nvSpPr>
        <p:spPr>
          <a:xfrm>
            <a:off x="594360" y="4709160"/>
            <a:ext cx="10972800" cy="109728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Panica presei poate să fi contat, dar nu explică peste 2 ani de erori. Autorii presupun că schimbările susțineau modelul de afaceri.</a:t>
            </a:r>
            <a:endParaRPr lang="en-US" sz="1800" dirty="0"/>
          </a:p>
        </p:txBody>
      </p:sp>
      <p:sp>
        <p:nvSpPr>
          <p:cNvPr id="14" name="Text 12"/>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Lazer și colab., 2014 (registru A589, A590).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4757"/>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2E060B"/>
                </a:solidFill>
                <a:latin typeface="Palatino Linotype" pitchFamily="34" charset="0"/>
                <a:ea typeface="Palatino Linotype" pitchFamily="34" charset="-122"/>
                <a:cs typeface="Palatino Linotype" pitchFamily="34" charset="-120"/>
              </a:rPr>
              <a:t>DUPĂ VOT</a:t>
            </a:r>
            <a:endParaRPr lang="en-US" sz="1300" dirty="0"/>
          </a:p>
        </p:txBody>
      </p:sp>
      <p:sp>
        <p:nvSpPr>
          <p:cNvPr id="3" name="Text 1"/>
          <p:cNvSpPr/>
          <p:nvPr/>
        </p:nvSpPr>
        <p:spPr>
          <a:xfrm>
            <a:off x="594360" y="777240"/>
            <a:ext cx="10972800" cy="914400"/>
          </a:xfrm>
          <a:prstGeom prst="rect">
            <a:avLst/>
          </a:prstGeom>
          <a:noFill/>
          <a:ln/>
        </p:spPr>
        <p:txBody>
          <a:bodyPr wrap="square" lIns="0" tIns="0" rIns="0" bIns="0" rtlCol="0" anchor="t"/>
          <a:lstStyle/>
          <a:p>
            <a:pPr indent="0" marL="0">
              <a:buNone/>
            </a:pPr>
            <a:r>
              <a:rPr lang="en-US" sz="3800" b="1" dirty="0">
                <a:solidFill>
                  <a:srgbClr val="2E060B"/>
                </a:solidFill>
                <a:latin typeface="Palatino Linotype" pitchFamily="34" charset="0"/>
                <a:ea typeface="Palatino Linotype" pitchFamily="34" charset="-122"/>
                <a:cs typeface="Palatino Linotype" pitchFamily="34" charset="-120"/>
              </a:rPr>
              <a:t>Toate acestea pot fi adevărate</a:t>
            </a:r>
            <a:endParaRPr lang="en-US" sz="3800" dirty="0"/>
          </a:p>
        </p:txBody>
      </p:sp>
      <p:sp>
        <p:nvSpPr>
          <p:cNvPr id="4" name="Shape 2"/>
          <p:cNvSpPr/>
          <p:nvPr/>
        </p:nvSpPr>
        <p:spPr>
          <a:xfrm>
            <a:off x="594360" y="1965960"/>
            <a:ext cx="10972800" cy="960120"/>
          </a:xfrm>
          <a:prstGeom prst="roundRect">
            <a:avLst>
              <a:gd name="adj" fmla="val 8571"/>
            </a:avLst>
          </a:prstGeom>
          <a:solidFill>
            <a:srgbClr val="FFE3E6"/>
          </a:solidFill>
          <a:ln w="12700">
            <a:solidFill>
              <a:srgbClr val="FFE3E6"/>
            </a:solidFill>
            <a:prstDash val="solid"/>
          </a:ln>
        </p:spPr>
        <p:txBody>
          <a:bodyPr/>
          <a:p/>
        </p:txBody>
      </p:sp>
      <p:sp>
        <p:nvSpPr>
          <p:cNvPr id="5" name="Text 3"/>
          <p:cNvSpPr/>
          <p:nvPr/>
        </p:nvSpPr>
        <p:spPr>
          <a:xfrm>
            <a:off x="914400" y="1965960"/>
            <a:ext cx="10332720" cy="960120"/>
          </a:xfrm>
          <a:prstGeom prst="rect">
            <a:avLst/>
          </a:prstGeom>
          <a:noFill/>
          <a:ln/>
        </p:spPr>
        <p:txBody>
          <a:bodyPr wrap="square" lIns="0" tIns="0" rIns="0" bIns="0" rtlCol="0" anchor="ctr"/>
          <a:lstStyle/>
          <a:p>
            <a:pPr indent="0" marL="0">
              <a:buNone/>
            </a:pPr>
            <a:r>
              <a:rPr lang="en-US" sz="1900" dirty="0">
                <a:solidFill>
                  <a:srgbClr val="2E060B"/>
                </a:solidFill>
                <a:latin typeface="Palatino Linotype" pitchFamily="34" charset="0"/>
                <a:ea typeface="Palatino Linotype" pitchFamily="34" charset="-122"/>
                <a:cs typeface="Palatino Linotype" pitchFamily="34" charset="-120"/>
              </a:rPr>
              <a:t>Iarna confundată cu gripa: din prima explicație, felul în care a fost construit sistemul.</a:t>
            </a:r>
            <a:endParaRPr lang="en-US" sz="1900" dirty="0"/>
          </a:p>
        </p:txBody>
      </p:sp>
      <p:sp>
        <p:nvSpPr>
          <p:cNvPr id="6" name="Shape 4"/>
          <p:cNvSpPr/>
          <p:nvPr/>
        </p:nvSpPr>
        <p:spPr>
          <a:xfrm>
            <a:off x="594360" y="3108960"/>
            <a:ext cx="10972800" cy="960120"/>
          </a:xfrm>
          <a:prstGeom prst="roundRect">
            <a:avLst>
              <a:gd name="adj" fmla="val 8571"/>
            </a:avLst>
          </a:prstGeom>
          <a:solidFill>
            <a:srgbClr val="FFE3E6"/>
          </a:solidFill>
          <a:ln w="12700">
            <a:solidFill>
              <a:srgbClr val="FFE3E6"/>
            </a:solidFill>
            <a:prstDash val="solid"/>
          </a:ln>
        </p:spPr>
        <p:txBody>
          <a:bodyPr/>
          <a:p/>
        </p:txBody>
      </p:sp>
      <p:sp>
        <p:nvSpPr>
          <p:cNvPr id="7" name="Text 5"/>
          <p:cNvSpPr/>
          <p:nvPr/>
        </p:nvSpPr>
        <p:spPr>
          <a:xfrm>
            <a:off x="914400" y="3108960"/>
            <a:ext cx="10332720" cy="960120"/>
          </a:xfrm>
          <a:prstGeom prst="rect">
            <a:avLst/>
          </a:prstGeom>
          <a:noFill/>
          <a:ln/>
        </p:spPr>
        <p:txBody>
          <a:bodyPr wrap="square" lIns="0" tIns="0" rIns="0" bIns="0" rtlCol="0" anchor="ctr"/>
          <a:lstStyle/>
          <a:p>
            <a:pPr indent="0" marL="0">
              <a:buNone/>
            </a:pPr>
            <a:r>
              <a:rPr lang="en-US" sz="1900" dirty="0">
                <a:solidFill>
                  <a:srgbClr val="2E060B"/>
                </a:solidFill>
                <a:latin typeface="Palatino Linotype" pitchFamily="34" charset="0"/>
                <a:ea typeface="Palatino Linotype" pitchFamily="34" charset="-122"/>
                <a:cs typeface="Palatino Linotype" pitchFamily="34" charset="-120"/>
              </a:rPr>
              <a:t>Răceala și știrile: din a doua explicație, ce caută oamenii și cum îi ghidează motorul.</a:t>
            </a:r>
            <a:endParaRPr lang="en-US" sz="1900" dirty="0"/>
          </a:p>
        </p:txBody>
      </p:sp>
      <p:sp>
        <p:nvSpPr>
          <p:cNvPr id="8" name="Shape 6"/>
          <p:cNvSpPr/>
          <p:nvPr/>
        </p:nvSpPr>
        <p:spPr>
          <a:xfrm>
            <a:off x="594360" y="4251960"/>
            <a:ext cx="10972800" cy="960120"/>
          </a:xfrm>
          <a:prstGeom prst="roundRect">
            <a:avLst>
              <a:gd name="adj" fmla="val 8571"/>
            </a:avLst>
          </a:prstGeom>
          <a:solidFill>
            <a:srgbClr val="FFE3E6"/>
          </a:solidFill>
          <a:ln w="12700">
            <a:solidFill>
              <a:srgbClr val="FFE3E6"/>
            </a:solidFill>
            <a:prstDash val="solid"/>
          </a:ln>
        </p:spPr>
        <p:txBody>
          <a:bodyPr/>
          <a:p/>
        </p:txBody>
      </p:sp>
      <p:sp>
        <p:nvSpPr>
          <p:cNvPr id="9" name="Text 7"/>
          <p:cNvSpPr/>
          <p:nvPr/>
        </p:nvSpPr>
        <p:spPr>
          <a:xfrm>
            <a:off x="914400" y="4251960"/>
            <a:ext cx="10332720" cy="960120"/>
          </a:xfrm>
          <a:prstGeom prst="rect">
            <a:avLst/>
          </a:prstGeom>
          <a:noFill/>
          <a:ln/>
        </p:spPr>
        <p:txBody>
          <a:bodyPr wrap="square" lIns="0" tIns="0" rIns="0" bIns="0" rtlCol="0" anchor="ctr"/>
          <a:lstStyle/>
          <a:p>
            <a:pPr indent="0" marL="0">
              <a:buNone/>
            </a:pPr>
            <a:r>
              <a:rPr lang="en-US" sz="1900" b="1" dirty="0">
                <a:solidFill>
                  <a:srgbClr val="2E060B"/>
                </a:solidFill>
                <a:latin typeface="Palatino Linotype" pitchFamily="34" charset="0"/>
                <a:ea typeface="Palatino Linotype" pitchFamily="34" charset="-122"/>
                <a:cs typeface="Palatino Linotype" pitchFamily="34" charset="-120"/>
              </a:rPr>
              <a:t>Cu o precizare: știrile, singure, nu explică doi ani de erori.</a:t>
            </a:r>
            <a:endParaRPr lang="en-US" sz="1900" dirty="0"/>
          </a:p>
        </p:txBody>
      </p:sp>
      <p:sp>
        <p:nvSpPr>
          <p:cNvPr id="10" name="Text 8"/>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2E060B"/>
                </a:solidFill>
                <a:latin typeface="Palatino Linotype" pitchFamily="34" charset="0"/>
                <a:ea typeface="Palatino Linotype" pitchFamily="34" charset="-122"/>
                <a:cs typeface="Palatino Linotype" pitchFamily="34" charset="-120"/>
              </a:rPr>
              <a:t>Sursa: Lazer și colab., 2014 (registru A590).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347472"/>
            <a:ext cx="3291840" cy="32918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594360" y="347472"/>
            <a:ext cx="3291840" cy="329184"/>
          </a:xfrm>
          <a:prstGeom prst="rect">
            <a:avLst/>
          </a:prstGeom>
          <a:noFill/>
          <a:ln/>
        </p:spPr>
        <p:txBody>
          <a:bodyPr wrap="square" lIns="0" tIns="0" rIns="0" bIns="0" rtlCol="0" anchor="ctr"/>
          <a:lstStyle/>
          <a:p>
            <a:pPr algn="ctr" indent="0" marL="0">
              <a:buNone/>
            </a:pPr>
            <a:r>
              <a:rPr lang="en-US" sz="1250" b="1" dirty="0">
                <a:solidFill>
                  <a:srgbClr val="073B34"/>
                </a:solidFill>
                <a:latin typeface="Palatino Linotype" pitchFamily="34" charset="0"/>
                <a:ea typeface="Palatino Linotype" pitchFamily="34" charset="-122"/>
                <a:cs typeface="Palatino Linotype" pitchFamily="34" charset="-120"/>
              </a:rPr>
              <a:t>TERMENUL NOU · 2 DIN 3</a:t>
            </a:r>
            <a:endParaRPr lang="en-US" sz="1250" dirty="0"/>
          </a:p>
        </p:txBody>
      </p:sp>
      <p:sp>
        <p:nvSpPr>
          <p:cNvPr id="4" name="Text 2"/>
          <p:cNvSpPr/>
          <p:nvPr/>
        </p:nvSpPr>
        <p:spPr>
          <a:xfrm>
            <a:off x="594360" y="868680"/>
            <a:ext cx="10972800" cy="82296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Epidemiologia digitală</a:t>
            </a:r>
            <a:endParaRPr lang="en-US" sz="3800" dirty="0"/>
          </a:p>
        </p:txBody>
      </p:sp>
      <p:sp>
        <p:nvSpPr>
          <p:cNvPr id="5" name="Shape 3"/>
          <p:cNvSpPr/>
          <p:nvPr/>
        </p:nvSpPr>
        <p:spPr>
          <a:xfrm>
            <a:off x="594360" y="1828800"/>
            <a:ext cx="10972800" cy="1325880"/>
          </a:xfrm>
          <a:prstGeom prst="roundRect">
            <a:avLst>
              <a:gd name="adj" fmla="val 6207"/>
            </a:avLst>
          </a:prstGeom>
          <a:solidFill>
            <a:srgbClr val="07564B"/>
          </a:solidFill>
          <a:ln w="12700">
            <a:solidFill>
              <a:srgbClr val="07564B"/>
            </a:solidFill>
            <a:prstDash val="solid"/>
          </a:ln>
        </p:spPr>
        <p:txBody>
          <a:bodyPr/>
          <a:p/>
        </p:txBody>
      </p:sp>
      <p:sp>
        <p:nvSpPr>
          <p:cNvPr id="6" name="Text 4"/>
          <p:cNvSpPr/>
          <p:nvPr/>
        </p:nvSpPr>
        <p:spPr>
          <a:xfrm>
            <a:off x="914400" y="1828800"/>
            <a:ext cx="10332720" cy="1325880"/>
          </a:xfrm>
          <a:prstGeom prst="rect">
            <a:avLst/>
          </a:prstGeom>
          <a:noFill/>
          <a:ln/>
        </p:spPr>
        <p:txBody>
          <a:bodyPr wrap="square" lIns="0" tIns="0" rIns="0" bIns="0" rtlCol="0" anchor="ctr"/>
          <a:lstStyle/>
          <a:p>
            <a:pPr indent="0" marL="0">
              <a:buNone/>
            </a:pPr>
            <a:r>
              <a:rPr lang="en-US" sz="2200" b="1" dirty="0">
                <a:solidFill>
                  <a:srgbClr val="FFFFFF"/>
                </a:solidFill>
                <a:latin typeface="Palatino Linotype" pitchFamily="34" charset="0"/>
                <a:ea typeface="Palatino Linotype" pitchFamily="34" charset="-122"/>
                <a:cs typeface="Palatino Linotype" pitchFamily="34" charset="-120"/>
              </a:rPr>
              <a:t>Urmele pe care le lăsăm zilnic, folosite ca să înțelegem cum se răspândește o boală.</a:t>
            </a:r>
            <a:endParaRPr lang="en-US" sz="2200" dirty="0"/>
          </a:p>
        </p:txBody>
      </p:sp>
      <p:sp>
        <p:nvSpPr>
          <p:cNvPr id="7" name="Text 5"/>
          <p:cNvSpPr/>
          <p:nvPr/>
        </p:nvSpPr>
        <p:spPr>
          <a:xfrm>
            <a:off x="594360" y="3383280"/>
            <a:ext cx="10972800" cy="1097280"/>
          </a:xfrm>
          <a:prstGeom prst="rect">
            <a:avLst/>
          </a:prstGeom>
          <a:noFill/>
          <a:ln/>
        </p:spPr>
        <p:txBody>
          <a:bodyPr wrap="square" lIns="0" tIns="0" rIns="0" bIns="0" rtlCol="0" anchor="t"/>
          <a:lstStyle/>
          <a:p>
            <a:pPr indent="0" marL="0">
              <a:buNone/>
            </a:pPr>
            <a:r>
              <a:rPr lang="en-US" sz="1700" dirty="0">
                <a:solidFill>
                  <a:srgbClr val="959BB0"/>
                </a:solidFill>
                <a:latin typeface="Palatino Linotype" pitchFamily="34" charset="0"/>
                <a:ea typeface="Palatino Linotype" pitchFamily="34" charset="-122"/>
                <a:cs typeface="Palatino Linotype" pitchFamily="34" charset="-120"/>
              </a:rPr>
              <a:t>Definiția îngustă, preferată de Marcel Salathé (2018): date care nu au fost produse pentru epidemiologie. În sens larg: orice epidemiologie cu date digitale.</a:t>
            </a:r>
            <a:endParaRPr lang="en-US" sz="1700" dirty="0"/>
          </a:p>
        </p:txBody>
      </p:sp>
      <p:sp>
        <p:nvSpPr>
          <p:cNvPr id="8" name="Shape 6"/>
          <p:cNvSpPr/>
          <p:nvPr/>
        </p:nvSpPr>
        <p:spPr>
          <a:xfrm>
            <a:off x="594360" y="4617720"/>
            <a:ext cx="5394960" cy="1325880"/>
          </a:xfrm>
          <a:prstGeom prst="roundRect">
            <a:avLst>
              <a:gd name="adj" fmla="val 6207"/>
            </a:avLst>
          </a:prstGeom>
          <a:solidFill>
            <a:srgbClr val="1D1F2B"/>
          </a:solidFill>
          <a:ln w="12700">
            <a:solidFill>
              <a:srgbClr val="1D1F2B"/>
            </a:solidFill>
            <a:prstDash val="solid"/>
          </a:ln>
        </p:spPr>
        <p:txBody>
          <a:bodyPr/>
          <a:p/>
        </p:txBody>
      </p:sp>
      <p:sp>
        <p:nvSpPr>
          <p:cNvPr id="9" name="Text 7"/>
          <p:cNvSpPr/>
          <p:nvPr/>
        </p:nvSpPr>
        <p:spPr>
          <a:xfrm>
            <a:off x="868680" y="4709160"/>
            <a:ext cx="4846320" cy="365760"/>
          </a:xfrm>
          <a:prstGeom prst="rect">
            <a:avLst/>
          </a:prstGeom>
          <a:noFill/>
          <a:ln/>
        </p:spPr>
        <p:txBody>
          <a:bodyPr wrap="square" lIns="0" tIns="0" rIns="0" bIns="0" rtlCol="0" anchor="t"/>
          <a:lstStyle/>
          <a:p>
            <a:pPr indent="0" marL="0">
              <a:buNone/>
            </a:pPr>
            <a:r>
              <a:rPr lang="en-US" sz="1500" b="1" dirty="0">
                <a:solidFill>
                  <a:srgbClr val="27D3BE"/>
                </a:solidFill>
                <a:latin typeface="Palatino Linotype" pitchFamily="34" charset="0"/>
                <a:ea typeface="Palatino Linotype" pitchFamily="34" charset="-122"/>
                <a:cs typeface="Palatino Linotype" pitchFamily="34" charset="-120"/>
              </a:rPr>
              <a:t>Intră</a:t>
            </a:r>
            <a:endParaRPr lang="en-US" sz="1500" dirty="0"/>
          </a:p>
        </p:txBody>
      </p:sp>
      <p:sp>
        <p:nvSpPr>
          <p:cNvPr id="10" name="Text 8"/>
          <p:cNvSpPr/>
          <p:nvPr/>
        </p:nvSpPr>
        <p:spPr>
          <a:xfrm>
            <a:off x="868680" y="5074920"/>
            <a:ext cx="4846320" cy="82296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căutările, mesajele publice, datele telefoanelor, achizițiile</a:t>
            </a:r>
            <a:endParaRPr lang="en-US" sz="1500" dirty="0"/>
          </a:p>
        </p:txBody>
      </p:sp>
      <p:sp>
        <p:nvSpPr>
          <p:cNvPr id="11" name="Shape 9"/>
          <p:cNvSpPr/>
          <p:nvPr/>
        </p:nvSpPr>
        <p:spPr>
          <a:xfrm>
            <a:off x="6172200" y="4617720"/>
            <a:ext cx="5394960" cy="1325880"/>
          </a:xfrm>
          <a:prstGeom prst="roundRect">
            <a:avLst>
              <a:gd name="adj" fmla="val 6207"/>
            </a:avLst>
          </a:prstGeom>
          <a:solidFill>
            <a:srgbClr val="1D1F2B"/>
          </a:solidFill>
          <a:ln w="12700">
            <a:solidFill>
              <a:srgbClr val="1D1F2B"/>
            </a:solidFill>
            <a:prstDash val="solid"/>
          </a:ln>
        </p:spPr>
        <p:txBody>
          <a:bodyPr/>
          <a:p/>
        </p:txBody>
      </p:sp>
      <p:sp>
        <p:nvSpPr>
          <p:cNvPr id="12" name="Text 10"/>
          <p:cNvSpPr/>
          <p:nvPr/>
        </p:nvSpPr>
        <p:spPr>
          <a:xfrm>
            <a:off x="6446520" y="4709160"/>
            <a:ext cx="4846320" cy="365760"/>
          </a:xfrm>
          <a:prstGeom prst="rect">
            <a:avLst/>
          </a:prstGeom>
          <a:noFill/>
          <a:ln/>
        </p:spPr>
        <p:txBody>
          <a:bodyPr wrap="square" lIns="0" tIns="0" rIns="0" bIns="0" rtlCol="0" anchor="t"/>
          <a:lstStyle/>
          <a:p>
            <a:pPr indent="0" marL="0">
              <a:buNone/>
            </a:pPr>
            <a:r>
              <a:rPr lang="en-US" sz="1500" b="1" dirty="0">
                <a:solidFill>
                  <a:srgbClr val="FF4757"/>
                </a:solidFill>
                <a:latin typeface="Palatino Linotype" pitchFamily="34" charset="0"/>
                <a:ea typeface="Palatino Linotype" pitchFamily="34" charset="-122"/>
                <a:cs typeface="Palatino Linotype" pitchFamily="34" charset="-120"/>
              </a:rPr>
              <a:t>Nu intră, în lectura acestui curs</a:t>
            </a:r>
            <a:endParaRPr lang="en-US" sz="1500" dirty="0"/>
          </a:p>
        </p:txBody>
      </p:sp>
      <p:sp>
        <p:nvSpPr>
          <p:cNvPr id="13" name="Text 11"/>
          <p:cNvSpPr/>
          <p:nvPr/>
        </p:nvSpPr>
        <p:spPr>
          <a:xfrm>
            <a:off x="6446520" y="5074920"/>
            <a:ext cx="4846320" cy="82296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apele uzate, un instrument proiectat pentru sănătate</a:t>
            </a:r>
            <a:endParaRPr lang="en-US" sz="1500" dirty="0"/>
          </a:p>
        </p:txBody>
      </p:sp>
      <p:sp>
        <p:nvSpPr>
          <p:cNvPr id="14" name="Text 12"/>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Salathé, 2018 (registru A576).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LECȚIA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Nu „nu vă încredeți în internet”</a:t>
            </a:r>
            <a:endParaRPr lang="en-US" sz="3200" dirty="0"/>
          </a:p>
        </p:txBody>
      </p:sp>
      <p:sp>
        <p:nvSpPr>
          <p:cNvPr id="4" name="Shape 2"/>
          <p:cNvSpPr/>
          <p:nvPr/>
        </p:nvSpPr>
        <p:spPr>
          <a:xfrm>
            <a:off x="594360" y="1691640"/>
            <a:ext cx="5394960" cy="2880360"/>
          </a:xfrm>
          <a:prstGeom prst="roundRect">
            <a:avLst>
              <a:gd name="adj" fmla="val 2857"/>
            </a:avLst>
          </a:prstGeom>
          <a:solidFill>
            <a:srgbClr val="F4E0E2"/>
          </a:solidFill>
          <a:ln w="12700">
            <a:solidFill>
              <a:srgbClr val="F4E0E2"/>
            </a:solidFill>
            <a:prstDash val="solid"/>
          </a:ln>
        </p:spPr>
        <p:txBody>
          <a:bodyPr/>
          <a:p/>
        </p:txBody>
      </p:sp>
      <p:sp>
        <p:nvSpPr>
          <p:cNvPr id="5" name="Text 3"/>
          <p:cNvSpPr/>
          <p:nvPr/>
        </p:nvSpPr>
        <p:spPr>
          <a:xfrm>
            <a:off x="868680" y="1828800"/>
            <a:ext cx="4846320" cy="73152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Greșeala de fond: „big data hubris”</a:t>
            </a:r>
            <a:endParaRPr lang="en-US" sz="1900" dirty="0"/>
          </a:p>
        </p:txBody>
      </p:sp>
      <p:sp>
        <p:nvSpPr>
          <p:cNvPr id="6" name="Text 4"/>
          <p:cNvSpPr/>
          <p:nvPr/>
        </p:nvSpPr>
        <p:spPr>
          <a:xfrm>
            <a:off x="868680" y="2606040"/>
            <a:ext cx="4846320" cy="18745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Presupunerea că datele de volum mare pot înlocui colectarea tradițională, în loc s-o completeze. Alături de datele CDC, eroarea a scăzut mult.</a:t>
            </a:r>
            <a:endParaRPr lang="en-US" sz="1600" dirty="0"/>
          </a:p>
        </p:txBody>
      </p:sp>
      <p:sp>
        <p:nvSpPr>
          <p:cNvPr id="7" name="Shape 5"/>
          <p:cNvSpPr/>
          <p:nvPr/>
        </p:nvSpPr>
        <p:spPr>
          <a:xfrm>
            <a:off x="6172200" y="1691640"/>
            <a:ext cx="5394960" cy="2880360"/>
          </a:xfrm>
          <a:prstGeom prst="roundRect">
            <a:avLst>
              <a:gd name="adj" fmla="val 2857"/>
            </a:avLst>
          </a:prstGeom>
          <a:solidFill>
            <a:srgbClr val="E9E3F6"/>
          </a:solidFill>
          <a:ln w="12700">
            <a:solidFill>
              <a:srgbClr val="E9E3F6"/>
            </a:solidFill>
            <a:prstDash val="solid"/>
          </a:ln>
        </p:spPr>
        <p:txBody>
          <a:bodyPr/>
          <a:p/>
        </p:txBody>
      </p:sp>
      <p:sp>
        <p:nvSpPr>
          <p:cNvPr id="8" name="Text 6"/>
          <p:cNvSpPr/>
          <p:nvPr/>
        </p:nvSpPr>
        <p:spPr>
          <a:xfrm>
            <a:off x="6446520" y="1828800"/>
            <a:ext cx="4846320" cy="731520"/>
          </a:xfrm>
          <a:prstGeom prst="rect">
            <a:avLst/>
          </a:prstGeom>
          <a:noFill/>
          <a:ln/>
        </p:spPr>
        <p:txBody>
          <a:bodyPr wrap="square" lIns="0" tIns="0" rIns="0" bIns="0" rtlCol="0" anchor="t"/>
          <a:lstStyle/>
          <a:p>
            <a:pPr indent="0" marL="0">
              <a:buNone/>
            </a:pPr>
            <a:r>
              <a:rPr lang="en-US" sz="1900" b="1" dirty="0">
                <a:solidFill>
                  <a:srgbClr val="4A2D8C"/>
                </a:solidFill>
                <a:latin typeface="Palatino Linotype" pitchFamily="34" charset="0"/>
                <a:ea typeface="Palatino Linotype" pitchFamily="34" charset="-122"/>
                <a:cs typeface="Palatino Linotype" pitchFamily="34" charset="-120"/>
              </a:rPr>
              <a:t>O problemă mai mare (Salathé, 2018)</a:t>
            </a:r>
            <a:endParaRPr lang="en-US" sz="1900" dirty="0"/>
          </a:p>
        </p:txBody>
      </p:sp>
      <p:sp>
        <p:nvSpPr>
          <p:cNvPr id="9" name="Text 7"/>
          <p:cNvSpPr/>
          <p:nvPr/>
        </p:nvSpPr>
        <p:spPr>
          <a:xfrm>
            <a:off x="6446520" y="2606040"/>
            <a:ext cx="4846320" cy="18745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Datele erau private: nimeni din afara companiei nu putea reproduce și cerceta algoritmul.</a:t>
            </a:r>
            <a:endParaRPr lang="en-US" sz="1600" dirty="0"/>
          </a:p>
        </p:txBody>
      </p:sp>
      <p:sp>
        <p:nvSpPr>
          <p:cNvPr id="10" name="Shape 8"/>
          <p:cNvSpPr/>
          <p:nvPr/>
        </p:nvSpPr>
        <p:spPr>
          <a:xfrm>
            <a:off x="594360" y="4800600"/>
            <a:ext cx="10972800" cy="1051560"/>
          </a:xfrm>
          <a:prstGeom prst="roundRect">
            <a:avLst>
              <a:gd name="adj" fmla="val 7826"/>
            </a:avLst>
          </a:prstGeom>
          <a:solidFill>
            <a:srgbClr val="11121A"/>
          </a:solidFill>
          <a:ln w="12700">
            <a:solidFill>
              <a:srgbClr val="11121A"/>
            </a:solidFill>
            <a:prstDash val="solid"/>
          </a:ln>
        </p:spPr>
        <p:txBody>
          <a:bodyPr/>
          <a:p/>
        </p:txBody>
      </p:sp>
      <p:sp>
        <p:nvSpPr>
          <p:cNvPr id="11" name="Text 9"/>
          <p:cNvSpPr/>
          <p:nvPr/>
        </p:nvSpPr>
        <p:spPr>
          <a:xfrm>
            <a:off x="914400" y="4800600"/>
            <a:ext cx="10332720" cy="105156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Semnalul nou ajută când se adaugă lanțului clasic, nu când pretinde că îl înlocuiește.</a:t>
            </a:r>
            <a:endParaRPr lang="en-US" sz="1900" dirty="0"/>
          </a:p>
        </p:txBody>
      </p:sp>
      <p:sp>
        <p:nvSpPr>
          <p:cNvPr id="12" name="Text 10"/>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Lazer și colab., 2014; Salathé, 2018 (registru A582, A592).</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CHAT, APOI VOT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AȚI CREDE ACEST TITLU?</a:t>
            </a:r>
            <a:endParaRPr lang="en-US" sz="1300" dirty="0"/>
          </a:p>
        </p:txBody>
      </p:sp>
      <p:sp>
        <p:nvSpPr>
          <p:cNvPr id="5" name="Shape 3"/>
          <p:cNvSpPr/>
          <p:nvPr/>
        </p:nvSpPr>
        <p:spPr>
          <a:xfrm>
            <a:off x="594360" y="868680"/>
            <a:ext cx="6675120" cy="4937760"/>
          </a:xfrm>
          <a:prstGeom prst="roundRect">
            <a:avLst>
              <a:gd name="adj" fmla="val 1667"/>
            </a:avLst>
          </a:prstGeom>
          <a:solidFill>
            <a:srgbClr val="FBF8F1"/>
          </a:solidFill>
          <a:ln w="12700">
            <a:solidFill>
              <a:srgbClr val="FBF8F1"/>
            </a:solidFill>
            <a:prstDash val="solid"/>
          </a:ln>
        </p:spPr>
        <p:txBody>
          <a:bodyPr/>
          <a:p/>
        </p:txBody>
      </p:sp>
      <p:sp>
        <p:nvSpPr>
          <p:cNvPr id="6" name="Shape 4"/>
          <p:cNvSpPr/>
          <p:nvPr/>
        </p:nvSpPr>
        <p:spPr>
          <a:xfrm>
            <a:off x="868680" y="1417320"/>
            <a:ext cx="6126480" cy="27432"/>
          </a:xfrm>
          <a:prstGeom prst="rect">
            <a:avLst/>
          </a:prstGeom>
          <a:solidFill>
            <a:srgbClr val="11121A"/>
          </a:solidFill>
          <a:ln w="12700">
            <a:solidFill>
              <a:srgbClr val="11121A"/>
            </a:solidFill>
            <a:prstDash val="solid"/>
          </a:ln>
        </p:spPr>
        <p:txBody>
          <a:bodyPr/>
          <a:p/>
        </p:txBody>
      </p:sp>
      <p:sp>
        <p:nvSpPr>
          <p:cNvPr id="7" name="Text 5"/>
          <p:cNvSpPr/>
          <p:nvPr/>
        </p:nvSpPr>
        <p:spPr>
          <a:xfrm>
            <a:off x="868680" y="1005840"/>
            <a:ext cx="6126480" cy="365760"/>
          </a:xfrm>
          <a:prstGeom prst="rect">
            <a:avLst/>
          </a:prstGeom>
          <a:noFill/>
          <a:ln/>
        </p:spPr>
        <p:txBody>
          <a:bodyPr wrap="square" lIns="0" tIns="0" rIns="0" bIns="0" rtlCol="0" anchor="t"/>
          <a:lstStyle/>
          <a:p>
            <a:pPr indent="0" marL="0">
              <a:buNone/>
            </a:pPr>
            <a:r>
              <a:rPr lang="en-US" sz="1300" b="1" spc="300" kern="0" dirty="0">
                <a:solidFill>
                  <a:srgbClr val="11121A"/>
                </a:solidFill>
                <a:latin typeface="Palatino Linotype" pitchFamily="34" charset="0"/>
                <a:ea typeface="Palatino Linotype" pitchFamily="34" charset="-122"/>
                <a:cs typeface="Palatino Linotype" pitchFamily="34" charset="-120"/>
              </a:rPr>
              <a:t>NATURE · FEBRUARIE 2013</a:t>
            </a:r>
            <a:endParaRPr lang="en-US" sz="1300" dirty="0"/>
          </a:p>
        </p:txBody>
      </p:sp>
      <p:sp>
        <p:nvSpPr>
          <p:cNvPr id="8" name="Text 6"/>
          <p:cNvSpPr/>
          <p:nvPr/>
        </p:nvSpPr>
        <p:spPr>
          <a:xfrm>
            <a:off x="868680" y="1600200"/>
            <a:ext cx="6126480" cy="128016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When Google got flu wrong</a:t>
            </a:r>
            <a:endParaRPr lang="en-US" sz="3600" dirty="0"/>
          </a:p>
        </p:txBody>
      </p:sp>
      <p:sp>
        <p:nvSpPr>
          <p:cNvPr id="9" name="Text 7"/>
          <p:cNvSpPr/>
          <p:nvPr/>
        </p:nvSpPr>
        <p:spPr>
          <a:xfrm>
            <a:off x="868680" y="2926080"/>
            <a:ext cx="6126480" cy="822960"/>
          </a:xfrm>
          <a:prstGeom prst="rect">
            <a:avLst/>
          </a:prstGeom>
          <a:noFill/>
          <a:ln/>
        </p:spPr>
        <p:txBody>
          <a:bodyPr wrap="square" lIns="0" tIns="0" rIns="0" bIns="0" rtlCol="0" anchor="t"/>
          <a:lstStyle/>
          <a:p>
            <a:pPr indent="0" marL="0">
              <a:buNone/>
            </a:pPr>
            <a:r>
              <a:rPr lang="en-US" sz="1700" i="1" dirty="0">
                <a:solidFill>
                  <a:srgbClr val="585A64"/>
                </a:solidFill>
                <a:latin typeface="Palatino Linotype" pitchFamily="34" charset="0"/>
                <a:ea typeface="Palatino Linotype" pitchFamily="34" charset="-122"/>
                <a:cs typeface="Palatino Linotype" pitchFamily="34" charset="-120"/>
              </a:rPr>
              <a:t>US outbreak foxes a leading web-based method for tracking seasonal flu</a:t>
            </a:r>
            <a:endParaRPr lang="en-US" sz="1700" dirty="0"/>
          </a:p>
        </p:txBody>
      </p:sp>
      <p:sp>
        <p:nvSpPr>
          <p:cNvPr id="10" name="Shape 8"/>
          <p:cNvSpPr/>
          <p:nvPr/>
        </p:nvSpPr>
        <p:spPr>
          <a:xfrm>
            <a:off x="868680" y="3931920"/>
            <a:ext cx="6126480" cy="13716"/>
          </a:xfrm>
          <a:prstGeom prst="rect">
            <a:avLst/>
          </a:prstGeom>
          <a:solidFill>
            <a:srgbClr val="C9C6BE"/>
          </a:solidFill>
          <a:ln w="12700">
            <a:solidFill>
              <a:srgbClr val="C9C6BE"/>
            </a:solidFill>
            <a:prstDash val="solid"/>
          </a:ln>
        </p:spPr>
        <p:txBody>
          <a:bodyPr/>
          <a:p/>
        </p:txBody>
      </p:sp>
      <p:sp>
        <p:nvSpPr>
          <p:cNvPr id="11" name="Text 9"/>
          <p:cNvSpPr/>
          <p:nvPr/>
        </p:nvSpPr>
        <p:spPr>
          <a:xfrm>
            <a:off x="868680" y="4069080"/>
            <a:ext cx="6126480" cy="155448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„Când Google a greșit cu gripa”: epidemia din Statele Unite derutează o metodă de vârf de urmărire a gripei sezoniere pe internet.</a:t>
            </a:r>
            <a:endParaRPr lang="en-US" sz="1600" dirty="0"/>
          </a:p>
        </p:txBody>
      </p:sp>
      <p:sp>
        <p:nvSpPr>
          <p:cNvPr id="12" name="Text 10"/>
          <p:cNvSpPr/>
          <p:nvPr/>
        </p:nvSpPr>
        <p:spPr>
          <a:xfrm>
            <a:off x="7589520" y="914400"/>
            <a:ext cx="4023360" cy="45720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În chat, două minute:</a:t>
            </a:r>
            <a:endParaRPr lang="en-US" sz="1600" dirty="0"/>
          </a:p>
        </p:txBody>
      </p:sp>
      <p:sp>
        <p:nvSpPr>
          <p:cNvPr id="13" name="Shape 11"/>
          <p:cNvSpPr/>
          <p:nvPr/>
        </p:nvSpPr>
        <p:spPr>
          <a:xfrm>
            <a:off x="7589520" y="1645920"/>
            <a:ext cx="420624" cy="420624"/>
          </a:xfrm>
          <a:prstGeom prst="ellipse">
            <a:avLst/>
          </a:prstGeom>
          <a:solidFill>
            <a:srgbClr val="FF4757"/>
          </a:solidFill>
          <a:ln/>
        </p:spPr>
        <p:txBody>
          <a:bodyPr/>
          <a:p/>
        </p:txBody>
      </p:sp>
      <p:sp>
        <p:nvSpPr>
          <p:cNvPr id="14" name="Text 12"/>
          <p:cNvSpPr/>
          <p:nvPr/>
        </p:nvSpPr>
        <p:spPr>
          <a:xfrm>
            <a:off x="7589520" y="164592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15" name="Text 13"/>
          <p:cNvSpPr/>
          <p:nvPr/>
        </p:nvSpPr>
        <p:spPr>
          <a:xfrm>
            <a:off x="8183880" y="1463040"/>
            <a:ext cx="3429000" cy="100584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Din ce date a fost calculată estimarea?</a:t>
            </a:r>
            <a:endParaRPr lang="en-US" sz="1700" dirty="0"/>
          </a:p>
        </p:txBody>
      </p:sp>
      <p:sp>
        <p:nvSpPr>
          <p:cNvPr id="16" name="Shape 14"/>
          <p:cNvSpPr/>
          <p:nvPr/>
        </p:nvSpPr>
        <p:spPr>
          <a:xfrm>
            <a:off x="7589520" y="2834640"/>
            <a:ext cx="420624" cy="420624"/>
          </a:xfrm>
          <a:prstGeom prst="ellipse">
            <a:avLst/>
          </a:prstGeom>
          <a:solidFill>
            <a:srgbClr val="FF4757"/>
          </a:solidFill>
          <a:ln/>
        </p:spPr>
        <p:txBody>
          <a:bodyPr/>
          <a:p/>
        </p:txBody>
      </p:sp>
      <p:sp>
        <p:nvSpPr>
          <p:cNvPr id="17" name="Text 15"/>
          <p:cNvSpPr/>
          <p:nvPr/>
        </p:nvSpPr>
        <p:spPr>
          <a:xfrm>
            <a:off x="7589520" y="283464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8" name="Text 16"/>
          <p:cNvSpPr/>
          <p:nvPr/>
        </p:nvSpPr>
        <p:spPr>
          <a:xfrm>
            <a:off x="8183880" y="2651760"/>
            <a:ext cx="3429000" cy="100584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Cu ce a fost comparată?</a:t>
            </a:r>
            <a:endParaRPr lang="en-US" sz="1700" dirty="0"/>
          </a:p>
        </p:txBody>
      </p:sp>
      <p:sp>
        <p:nvSpPr>
          <p:cNvPr id="19" name="Shape 17"/>
          <p:cNvSpPr/>
          <p:nvPr/>
        </p:nvSpPr>
        <p:spPr>
          <a:xfrm>
            <a:off x="7589520" y="4023360"/>
            <a:ext cx="420624" cy="420624"/>
          </a:xfrm>
          <a:prstGeom prst="ellipse">
            <a:avLst/>
          </a:prstGeom>
          <a:solidFill>
            <a:srgbClr val="FF4757"/>
          </a:solidFill>
          <a:ln/>
        </p:spPr>
        <p:txBody>
          <a:bodyPr/>
          <a:p/>
        </p:txBody>
      </p:sp>
      <p:sp>
        <p:nvSpPr>
          <p:cNvPr id="20" name="Text 18"/>
          <p:cNvSpPr/>
          <p:nvPr/>
        </p:nvSpPr>
        <p:spPr>
          <a:xfrm>
            <a:off x="7589520" y="402336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21" name="Text 19"/>
          <p:cNvSpPr/>
          <p:nvPr/>
        </p:nvSpPr>
        <p:spPr>
          <a:xfrm>
            <a:off x="8183880" y="3840480"/>
            <a:ext cx="3429000" cy="100584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Ce ar fi trebuit să existe ca s-o credeți?</a:t>
            </a:r>
            <a:endParaRPr lang="en-US" sz="1700" dirty="0"/>
          </a:p>
        </p:txBody>
      </p:sp>
      <p:sp>
        <p:nvSpPr>
          <p:cNvPr id="22" name="Text 20"/>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titlul și subtitlul public ale articolului (registru A594).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AȚI CREDE ACEST TITLU?</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„When Google got flu wrong”: l-ați crede?</a:t>
            </a:r>
            <a:endParaRPr lang="en-US" sz="3000" dirty="0"/>
          </a:p>
        </p:txBody>
      </p:sp>
      <p:sp>
        <p:nvSpPr>
          <p:cNvPr id="6" name="Shape 4"/>
          <p:cNvSpPr/>
          <p:nvPr/>
        </p:nvSpPr>
        <p:spPr>
          <a:xfrm>
            <a:off x="594360" y="1783080"/>
            <a:ext cx="7635240" cy="822960"/>
          </a:xfrm>
          <a:prstGeom prst="roundRect">
            <a:avLst>
              <a:gd name="adj" fmla="val 10000"/>
            </a:avLst>
          </a:prstGeom>
          <a:solidFill>
            <a:srgbClr val="1D1F2B"/>
          </a:solidFill>
          <a:ln w="12700">
            <a:solidFill>
              <a:srgbClr val="1D1F2B"/>
            </a:solidFill>
            <a:prstDash val="solid"/>
          </a:ln>
        </p:spPr>
        <p:txBody>
          <a:bodyPr/>
          <a:p/>
        </p:txBody>
      </p:sp>
      <p:sp>
        <p:nvSpPr>
          <p:cNvPr id="7" name="Shape 5"/>
          <p:cNvSpPr/>
          <p:nvPr/>
        </p:nvSpPr>
        <p:spPr>
          <a:xfrm>
            <a:off x="914400" y="1984248"/>
            <a:ext cx="420624" cy="420624"/>
          </a:xfrm>
          <a:prstGeom prst="ellipse">
            <a:avLst/>
          </a:prstGeom>
          <a:solidFill>
            <a:srgbClr val="FFC24B"/>
          </a:solidFill>
          <a:ln/>
        </p:spPr>
        <p:txBody>
          <a:bodyPr/>
          <a:p/>
        </p:txBody>
      </p:sp>
      <p:sp>
        <p:nvSpPr>
          <p:cNvPr id="8" name="Text 6"/>
          <p:cNvSpPr/>
          <p:nvPr/>
        </p:nvSpPr>
        <p:spPr>
          <a:xfrm>
            <a:off x="914400" y="19842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783080"/>
            <a:ext cx="6355080" cy="82296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Da</a:t>
            </a:r>
            <a:endParaRPr lang="en-US" sz="1800" dirty="0"/>
          </a:p>
        </p:txBody>
      </p:sp>
      <p:sp>
        <p:nvSpPr>
          <p:cNvPr id="10" name="Shape 8"/>
          <p:cNvSpPr/>
          <p:nvPr/>
        </p:nvSpPr>
        <p:spPr>
          <a:xfrm>
            <a:off x="594360" y="2788920"/>
            <a:ext cx="7635240" cy="822960"/>
          </a:xfrm>
          <a:prstGeom prst="roundRect">
            <a:avLst>
              <a:gd name="adj" fmla="val 10000"/>
            </a:avLst>
          </a:prstGeom>
          <a:solidFill>
            <a:srgbClr val="1D1F2B"/>
          </a:solidFill>
          <a:ln w="12700">
            <a:solidFill>
              <a:srgbClr val="1D1F2B"/>
            </a:solidFill>
            <a:prstDash val="solid"/>
          </a:ln>
        </p:spPr>
        <p:txBody>
          <a:bodyPr/>
          <a:p/>
        </p:txBody>
      </p:sp>
      <p:sp>
        <p:nvSpPr>
          <p:cNvPr id="11" name="Shape 9"/>
          <p:cNvSpPr/>
          <p:nvPr/>
        </p:nvSpPr>
        <p:spPr>
          <a:xfrm>
            <a:off x="914400" y="2990088"/>
            <a:ext cx="420624" cy="420624"/>
          </a:xfrm>
          <a:prstGeom prst="ellipse">
            <a:avLst/>
          </a:prstGeom>
          <a:solidFill>
            <a:srgbClr val="FFC24B"/>
          </a:solidFill>
          <a:ln/>
        </p:spPr>
        <p:txBody>
          <a:bodyPr/>
          <a:p/>
        </p:txBody>
      </p:sp>
      <p:sp>
        <p:nvSpPr>
          <p:cNvPr id="12" name="Text 10"/>
          <p:cNvSpPr/>
          <p:nvPr/>
        </p:nvSpPr>
        <p:spPr>
          <a:xfrm>
            <a:off x="914400" y="29900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788920"/>
            <a:ext cx="6355080" cy="82296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Nu</a:t>
            </a:r>
            <a:endParaRPr lang="en-US" sz="1800" dirty="0"/>
          </a:p>
        </p:txBody>
      </p:sp>
      <p:sp>
        <p:nvSpPr>
          <p:cNvPr id="14" name="Shape 12"/>
          <p:cNvSpPr/>
          <p:nvPr/>
        </p:nvSpPr>
        <p:spPr>
          <a:xfrm>
            <a:off x="594360" y="3794760"/>
            <a:ext cx="7635240" cy="822960"/>
          </a:xfrm>
          <a:prstGeom prst="roundRect">
            <a:avLst>
              <a:gd name="adj" fmla="val 10000"/>
            </a:avLst>
          </a:prstGeom>
          <a:solidFill>
            <a:srgbClr val="1D1F2B"/>
          </a:solidFill>
          <a:ln w="12700">
            <a:solidFill>
              <a:srgbClr val="1D1F2B"/>
            </a:solidFill>
            <a:prstDash val="solid"/>
          </a:ln>
        </p:spPr>
        <p:txBody>
          <a:bodyPr/>
          <a:p/>
        </p:txBody>
      </p:sp>
      <p:sp>
        <p:nvSpPr>
          <p:cNvPr id="15" name="Shape 13"/>
          <p:cNvSpPr/>
          <p:nvPr/>
        </p:nvSpPr>
        <p:spPr>
          <a:xfrm>
            <a:off x="914400" y="3995928"/>
            <a:ext cx="420624" cy="420624"/>
          </a:xfrm>
          <a:prstGeom prst="ellipse">
            <a:avLst/>
          </a:prstGeom>
          <a:solidFill>
            <a:srgbClr val="FFC24B"/>
          </a:solidFill>
          <a:ln/>
        </p:spPr>
        <p:txBody>
          <a:bodyPr/>
          <a:p/>
        </p:txBody>
      </p:sp>
      <p:sp>
        <p:nvSpPr>
          <p:cNvPr id="16" name="Text 14"/>
          <p:cNvSpPr/>
          <p:nvPr/>
        </p:nvSpPr>
        <p:spPr>
          <a:xfrm>
            <a:off x="914400" y="3995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794760"/>
            <a:ext cx="6355080" cy="82296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Aș vrea să știu mai întâi cu ce a fost comparată</a:t>
            </a:r>
            <a:endParaRPr lang="en-US" sz="1800" dirty="0"/>
          </a:p>
        </p:txBody>
      </p:sp>
      <p:sp>
        <p:nvSpPr>
          <p:cNvPr id="18" name="Shape 16"/>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0" name="Text 18"/>
          <p:cNvSpPr/>
          <p:nvPr/>
        </p:nvSpPr>
        <p:spPr>
          <a:xfrm>
            <a:off x="594360" y="553212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pic>
        <p:nvPicPr>
          <p:cNvPr id="21" name="Picture 20" descr="Mentimeter_OPT_DETECTIVI_C04.png"/>
          <p:cNvPicPr>
            <a:picLocks noChangeAspect="1"/>
          </p:cNvPicPr>
          <p:nvPr/>
        </p:nvPicPr>
        <p:blipFill>
          <a:blip r:embed="rId3"/>
          <a:stretch>
            <a:fillRect/>
          </a:stretch>
        </p:blipFill>
        <p:spPr>
          <a:xfrm>
            <a:off x="8817610" y="1783080"/>
            <a:ext cx="2435860" cy="2435860"/>
          </a:xfrm>
          <a:prstGeom prst="rect">
            <a:avLst/>
          </a:prstGeom>
        </p:spPr>
      </p:pic>
      <p:sp>
        <p:nvSpPr>
          <p:cNvPr id="22" name="TextBox 21"/>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564B"/>
        </a:solidFill>
      </p:bgPr>
    </p:bg>
    <p:spTree>
      <p:nvGrpSpPr>
        <p:cNvPr id="1" name=""/>
        <p:cNvGrpSpPr/>
        <p:nvPr/>
      </p:nvGrpSpPr>
      <p:grpSpPr>
        <a:xfrm>
          <a:off x="0" y="0"/>
          <a:ext cx="0" cy="0"/>
          <a:chOff x="0" y="0"/>
          <a:chExt cx="0" cy="0"/>
        </a:xfrm>
      </p:grpSpPr>
      <p:sp>
        <p:nvSpPr>
          <p:cNvPr id="2" name="Text 0"/>
          <p:cNvSpPr/>
          <p:nvPr/>
        </p:nvSpPr>
        <p:spPr>
          <a:xfrm>
            <a:off x="594360" y="1828800"/>
            <a:ext cx="10972800" cy="1280160"/>
          </a:xfrm>
          <a:prstGeom prst="rect">
            <a:avLst/>
          </a:prstGeom>
          <a:noFill/>
          <a:ln/>
        </p:spPr>
        <p:txBody>
          <a:bodyPr wrap="square" lIns="0" tIns="0" rIns="0" bIns="0" rtlCol="0" anchor="ctr"/>
          <a:lstStyle/>
          <a:p>
            <a:pPr algn="ctr" indent="0" marL="0">
              <a:buNone/>
            </a:pPr>
            <a:r>
              <a:rPr lang="en-US" sz="6400" b="1" dirty="0">
                <a:solidFill>
                  <a:srgbClr val="FFFFFF"/>
                </a:solidFill>
                <a:latin typeface="Palatino Linotype" pitchFamily="34" charset="0"/>
                <a:ea typeface="Palatino Linotype" pitchFamily="34" charset="-122"/>
                <a:cs typeface="Palatino Linotype" pitchFamily="34" charset="-120"/>
              </a:rPr>
              <a:t>Zece minute</a:t>
            </a:r>
            <a:endParaRPr lang="en-US" sz="6400" dirty="0"/>
          </a:p>
        </p:txBody>
      </p:sp>
      <p:sp>
        <p:nvSpPr>
          <p:cNvPr id="3" name="Text 1"/>
          <p:cNvSpPr/>
          <p:nvPr/>
        </p:nvSpPr>
        <p:spPr>
          <a:xfrm>
            <a:off x="594360" y="3291840"/>
            <a:ext cx="10972800" cy="731520"/>
          </a:xfrm>
          <a:prstGeom prst="rect">
            <a:avLst/>
          </a:prstGeom>
          <a:noFill/>
          <a:ln/>
        </p:spPr>
        <p:txBody>
          <a:bodyPr wrap="square" lIns="0" tIns="0" rIns="0" bIns="0" rtlCol="0" anchor="t"/>
          <a:lstStyle/>
          <a:p>
            <a:pPr algn="ctr" indent="0" marL="0">
              <a:buNone/>
            </a:pPr>
            <a:r>
              <a:rPr lang="en-US" sz="2400" dirty="0">
                <a:solidFill>
                  <a:srgbClr val="BFEFE8"/>
                </a:solidFill>
                <a:latin typeface="Palatino Linotype" pitchFamily="34" charset="0"/>
                <a:ea typeface="Palatino Linotype" pitchFamily="34" charset="-122"/>
                <a:cs typeface="Palatino Linotype" pitchFamily="34" charset="-120"/>
              </a:rPr>
              <a:t>Ora a doua începe cu telefonul pe care îl aveți în buzunar.</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POVESTEA A TREIA · PRIMUL AN AL PANDEMIEI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Chiar stau oamenii acasă?</a:t>
            </a:r>
            <a:endParaRPr lang="en-US" sz="3400" dirty="0"/>
          </a:p>
        </p:txBody>
      </p:sp>
      <p:sp>
        <p:nvSpPr>
          <p:cNvPr id="4" name="Shape 2"/>
          <p:cNvSpPr/>
          <p:nvPr/>
        </p:nvSpPr>
        <p:spPr>
          <a:xfrm>
            <a:off x="594360" y="1691640"/>
            <a:ext cx="3520440" cy="329184"/>
          </a:xfrm>
          <a:prstGeom prst="roundRect">
            <a:avLst>
              <a:gd name="adj" fmla="val 50000"/>
            </a:avLst>
          </a:prstGeom>
          <a:solidFill>
            <a:srgbClr val="272A38"/>
          </a:solidFill>
          <a:ln w="12700">
            <a:solidFill>
              <a:srgbClr val="272A38"/>
            </a:solidFill>
            <a:prstDash val="solid"/>
          </a:ln>
        </p:spPr>
        <p:txBody>
          <a:bodyPr/>
          <a:p/>
        </p:txBody>
      </p:sp>
      <p:sp>
        <p:nvSpPr>
          <p:cNvPr id="5" name="Text 3"/>
          <p:cNvSpPr/>
          <p:nvPr/>
        </p:nvSpPr>
        <p:spPr>
          <a:xfrm>
            <a:off x="594360" y="1691640"/>
            <a:ext cx="35204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comerț și recreere</a:t>
            </a:r>
            <a:endParaRPr lang="en-US" sz="1400" dirty="0"/>
          </a:p>
        </p:txBody>
      </p:sp>
      <p:sp>
        <p:nvSpPr>
          <p:cNvPr id="6" name="Shape 4"/>
          <p:cNvSpPr/>
          <p:nvPr/>
        </p:nvSpPr>
        <p:spPr>
          <a:xfrm>
            <a:off x="4343400" y="1691640"/>
            <a:ext cx="3520440" cy="329184"/>
          </a:xfrm>
          <a:prstGeom prst="roundRect">
            <a:avLst>
              <a:gd name="adj" fmla="val 50000"/>
            </a:avLst>
          </a:prstGeom>
          <a:solidFill>
            <a:srgbClr val="272A38"/>
          </a:solidFill>
          <a:ln w="12700">
            <a:solidFill>
              <a:srgbClr val="272A38"/>
            </a:solidFill>
            <a:prstDash val="solid"/>
          </a:ln>
        </p:spPr>
        <p:txBody>
          <a:bodyPr/>
          <a:p/>
        </p:txBody>
      </p:sp>
      <p:sp>
        <p:nvSpPr>
          <p:cNvPr id="7" name="Text 5"/>
          <p:cNvSpPr/>
          <p:nvPr/>
        </p:nvSpPr>
        <p:spPr>
          <a:xfrm>
            <a:off x="4343400" y="1691640"/>
            <a:ext cx="35204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alimentare și farmacii</a:t>
            </a:r>
            <a:endParaRPr lang="en-US" sz="1400" dirty="0"/>
          </a:p>
        </p:txBody>
      </p:sp>
      <p:sp>
        <p:nvSpPr>
          <p:cNvPr id="8" name="Shape 6"/>
          <p:cNvSpPr/>
          <p:nvPr/>
        </p:nvSpPr>
        <p:spPr>
          <a:xfrm>
            <a:off x="8092440" y="1691640"/>
            <a:ext cx="3520440" cy="329184"/>
          </a:xfrm>
          <a:prstGeom prst="roundRect">
            <a:avLst>
              <a:gd name="adj" fmla="val 50000"/>
            </a:avLst>
          </a:prstGeom>
          <a:solidFill>
            <a:srgbClr val="272A38"/>
          </a:solidFill>
          <a:ln w="12700">
            <a:solidFill>
              <a:srgbClr val="272A38"/>
            </a:solidFill>
            <a:prstDash val="solid"/>
          </a:ln>
        </p:spPr>
        <p:txBody>
          <a:bodyPr/>
          <a:p/>
        </p:txBody>
      </p:sp>
      <p:sp>
        <p:nvSpPr>
          <p:cNvPr id="9" name="Text 7"/>
          <p:cNvSpPr/>
          <p:nvPr/>
        </p:nvSpPr>
        <p:spPr>
          <a:xfrm>
            <a:off x="8092440" y="1691640"/>
            <a:ext cx="35204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parcuri</a:t>
            </a:r>
            <a:endParaRPr lang="en-US" sz="1400" dirty="0"/>
          </a:p>
        </p:txBody>
      </p:sp>
      <p:sp>
        <p:nvSpPr>
          <p:cNvPr id="10" name="Shape 8"/>
          <p:cNvSpPr/>
          <p:nvPr/>
        </p:nvSpPr>
        <p:spPr>
          <a:xfrm>
            <a:off x="594360" y="2240280"/>
            <a:ext cx="3520440" cy="329184"/>
          </a:xfrm>
          <a:prstGeom prst="roundRect">
            <a:avLst>
              <a:gd name="adj" fmla="val 50000"/>
            </a:avLst>
          </a:prstGeom>
          <a:solidFill>
            <a:srgbClr val="272A38"/>
          </a:solidFill>
          <a:ln w="12700">
            <a:solidFill>
              <a:srgbClr val="272A38"/>
            </a:solidFill>
            <a:prstDash val="solid"/>
          </a:ln>
        </p:spPr>
        <p:txBody>
          <a:bodyPr/>
          <a:p/>
        </p:txBody>
      </p:sp>
      <p:sp>
        <p:nvSpPr>
          <p:cNvPr id="11" name="Text 9"/>
          <p:cNvSpPr/>
          <p:nvPr/>
        </p:nvSpPr>
        <p:spPr>
          <a:xfrm>
            <a:off x="594360" y="2240280"/>
            <a:ext cx="35204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stații de transport</a:t>
            </a:r>
            <a:endParaRPr lang="en-US" sz="1400" dirty="0"/>
          </a:p>
        </p:txBody>
      </p:sp>
      <p:sp>
        <p:nvSpPr>
          <p:cNvPr id="12" name="Shape 10"/>
          <p:cNvSpPr/>
          <p:nvPr/>
        </p:nvSpPr>
        <p:spPr>
          <a:xfrm>
            <a:off x="4343400" y="2240280"/>
            <a:ext cx="3520440" cy="329184"/>
          </a:xfrm>
          <a:prstGeom prst="roundRect">
            <a:avLst>
              <a:gd name="adj" fmla="val 50000"/>
            </a:avLst>
          </a:prstGeom>
          <a:solidFill>
            <a:srgbClr val="272A38"/>
          </a:solidFill>
          <a:ln w="12700">
            <a:solidFill>
              <a:srgbClr val="272A38"/>
            </a:solidFill>
            <a:prstDash val="solid"/>
          </a:ln>
        </p:spPr>
        <p:txBody>
          <a:bodyPr/>
          <a:p/>
        </p:txBody>
      </p:sp>
      <p:sp>
        <p:nvSpPr>
          <p:cNvPr id="13" name="Text 11"/>
          <p:cNvSpPr/>
          <p:nvPr/>
        </p:nvSpPr>
        <p:spPr>
          <a:xfrm>
            <a:off x="4343400" y="2240280"/>
            <a:ext cx="35204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locuri de muncă</a:t>
            </a:r>
            <a:endParaRPr lang="en-US" sz="1400" dirty="0"/>
          </a:p>
        </p:txBody>
      </p:sp>
      <p:sp>
        <p:nvSpPr>
          <p:cNvPr id="14" name="Shape 12"/>
          <p:cNvSpPr/>
          <p:nvPr/>
        </p:nvSpPr>
        <p:spPr>
          <a:xfrm>
            <a:off x="8092440" y="2240280"/>
            <a:ext cx="3520440" cy="329184"/>
          </a:xfrm>
          <a:prstGeom prst="roundRect">
            <a:avLst>
              <a:gd name="adj" fmla="val 50000"/>
            </a:avLst>
          </a:prstGeom>
          <a:solidFill>
            <a:srgbClr val="272A38"/>
          </a:solidFill>
          <a:ln w="12700">
            <a:solidFill>
              <a:srgbClr val="272A38"/>
            </a:solidFill>
            <a:prstDash val="solid"/>
          </a:ln>
        </p:spPr>
        <p:txBody>
          <a:bodyPr/>
          <a:p/>
        </p:txBody>
      </p:sp>
      <p:sp>
        <p:nvSpPr>
          <p:cNvPr id="15" name="Text 13"/>
          <p:cNvSpPr/>
          <p:nvPr/>
        </p:nvSpPr>
        <p:spPr>
          <a:xfrm>
            <a:off x="8092440" y="2240280"/>
            <a:ext cx="35204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locuințe</a:t>
            </a:r>
            <a:endParaRPr lang="en-US" sz="1400" dirty="0"/>
          </a:p>
        </p:txBody>
      </p:sp>
      <p:sp>
        <p:nvSpPr>
          <p:cNvPr id="16" name="Text 14"/>
          <p:cNvSpPr/>
          <p:nvPr/>
        </p:nvSpPr>
        <p:spPr>
          <a:xfrm>
            <a:off x="594360" y="2926080"/>
            <a:ext cx="10972800" cy="118872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Rapoartele de mobilitate Google: cum s-au schimbat deplasările, pe zone și pe categorii de locuri. Neactualizate din 15 octombrie 2022; datele istorice rămân publice.</a:t>
            </a:r>
            <a:endParaRPr lang="en-US" sz="1800" dirty="0"/>
          </a:p>
        </p:txBody>
      </p:sp>
      <p:sp>
        <p:nvSpPr>
          <p:cNvPr id="17" name="Shape 15"/>
          <p:cNvSpPr/>
          <p:nvPr/>
        </p:nvSpPr>
        <p:spPr>
          <a:xfrm>
            <a:off x="594360" y="4343400"/>
            <a:ext cx="10972800" cy="1463040"/>
          </a:xfrm>
          <a:prstGeom prst="roundRect">
            <a:avLst>
              <a:gd name="adj" fmla="val 5625"/>
            </a:avLst>
          </a:prstGeom>
          <a:solidFill>
            <a:srgbClr val="1D1F2B"/>
          </a:solidFill>
          <a:ln w="12700">
            <a:solidFill>
              <a:srgbClr val="1D1F2B"/>
            </a:solidFill>
            <a:prstDash val="solid"/>
          </a:ln>
        </p:spPr>
        <p:txBody>
          <a:bodyPr/>
          <a:p/>
        </p:txBody>
      </p:sp>
      <p:sp>
        <p:nvSpPr>
          <p:cNvPr id="18" name="Text 16"/>
          <p:cNvSpPr/>
          <p:nvPr/>
        </p:nvSpPr>
        <p:spPr>
          <a:xfrm>
            <a:off x="914400" y="4343400"/>
            <a:ext cx="10332720" cy="1463040"/>
          </a:xfrm>
          <a:prstGeom prst="rect">
            <a:avLst/>
          </a:prstGeom>
          <a:noFill/>
          <a:ln/>
        </p:spPr>
        <p:txBody>
          <a:bodyPr wrap="square" lIns="0" tIns="0" rIns="0" bIns="0" rtlCol="0" anchor="ctr"/>
          <a:lstStyle/>
          <a:p>
            <a:pPr indent="0" marL="0">
              <a:buNone/>
            </a:pPr>
            <a:r>
              <a:rPr lang="en-US" sz="1800" dirty="0">
                <a:solidFill>
                  <a:srgbClr val="FFC24B"/>
                </a:solidFill>
                <a:latin typeface="Palatino Linotype" pitchFamily="34" charset="0"/>
                <a:ea typeface="Palatino Linotype" pitchFamily="34" charset="-122"/>
                <a:cs typeface="Palatino Linotype" pitchFamily="34" charset="-120"/>
              </a:rPr>
              <a:t>Datele veneau de la cei care activaseră „istoricul locațiilor”, dezactivat implicit. Nimeni nu le crease pentru sănătate.</a:t>
            </a:r>
            <a:endParaRPr lang="en-US" sz="1800" dirty="0"/>
          </a:p>
        </p:txBody>
      </p:sp>
      <p:sp>
        <p:nvSpPr>
          <p:cNvPr id="19" name="Text 17"/>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pagina rapoartelor de mobilitate (registru A583, A593, A576).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347472"/>
            <a:ext cx="3291840" cy="32918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594360" y="347472"/>
            <a:ext cx="3291840" cy="329184"/>
          </a:xfrm>
          <a:prstGeom prst="rect">
            <a:avLst/>
          </a:prstGeom>
          <a:noFill/>
          <a:ln/>
        </p:spPr>
        <p:txBody>
          <a:bodyPr wrap="square" lIns="0" tIns="0" rIns="0" bIns="0" rtlCol="0" anchor="ctr"/>
          <a:lstStyle/>
          <a:p>
            <a:pPr algn="ctr" indent="0" marL="0">
              <a:buNone/>
            </a:pPr>
            <a:r>
              <a:rPr lang="en-US" sz="1250" b="1" dirty="0">
                <a:solidFill>
                  <a:srgbClr val="073B34"/>
                </a:solidFill>
                <a:latin typeface="Palatino Linotype" pitchFamily="34" charset="0"/>
                <a:ea typeface="Palatino Linotype" pitchFamily="34" charset="-122"/>
                <a:cs typeface="Palatino Linotype" pitchFamily="34" charset="-120"/>
              </a:rPr>
              <a:t>TERMENUL NOU · 3 DIN 3</a:t>
            </a:r>
            <a:endParaRPr lang="en-US" sz="1250" dirty="0"/>
          </a:p>
        </p:txBody>
      </p:sp>
      <p:sp>
        <p:nvSpPr>
          <p:cNvPr id="4" name="Text 2"/>
          <p:cNvSpPr/>
          <p:nvPr/>
        </p:nvSpPr>
        <p:spPr>
          <a:xfrm>
            <a:off x="594360" y="868680"/>
            <a:ext cx="10972800" cy="82296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Date agregate și anonimizate</a:t>
            </a:r>
            <a:endParaRPr lang="en-US" sz="3800" dirty="0"/>
          </a:p>
        </p:txBody>
      </p:sp>
      <p:sp>
        <p:nvSpPr>
          <p:cNvPr id="5" name="Shape 3"/>
          <p:cNvSpPr/>
          <p:nvPr/>
        </p:nvSpPr>
        <p:spPr>
          <a:xfrm>
            <a:off x="594360" y="1828800"/>
            <a:ext cx="10972800" cy="1325880"/>
          </a:xfrm>
          <a:prstGeom prst="roundRect">
            <a:avLst>
              <a:gd name="adj" fmla="val 6207"/>
            </a:avLst>
          </a:prstGeom>
          <a:solidFill>
            <a:srgbClr val="07564B"/>
          </a:solidFill>
          <a:ln w="12700">
            <a:solidFill>
              <a:srgbClr val="07564B"/>
            </a:solidFill>
            <a:prstDash val="solid"/>
          </a:ln>
        </p:spPr>
        <p:txBody>
          <a:bodyPr/>
          <a:p/>
        </p:txBody>
      </p:sp>
      <p:sp>
        <p:nvSpPr>
          <p:cNvPr id="6" name="Text 4"/>
          <p:cNvSpPr/>
          <p:nvPr/>
        </p:nvSpPr>
        <p:spPr>
          <a:xfrm>
            <a:off x="914400" y="1828800"/>
            <a:ext cx="10332720" cy="1325880"/>
          </a:xfrm>
          <a:prstGeom prst="rect">
            <a:avLst/>
          </a:prstGeom>
          <a:noFill/>
          <a:ln/>
        </p:spPr>
        <p:txBody>
          <a:bodyPr wrap="square" lIns="0" tIns="0" rIns="0" bIns="0" rtlCol="0" anchor="ctr"/>
          <a:lstStyle/>
          <a:p>
            <a:pPr indent="0" marL="0">
              <a:buNone/>
            </a:pPr>
            <a:r>
              <a:rPr lang="en-US" sz="2200" b="1" dirty="0">
                <a:solidFill>
                  <a:srgbClr val="FFFFFF"/>
                </a:solidFill>
                <a:latin typeface="Palatino Linotype" pitchFamily="34" charset="0"/>
                <a:ea typeface="Palatino Linotype" pitchFamily="34" charset="-122"/>
                <a:cs typeface="Palatino Linotype" pitchFamily="34" charset="-120"/>
              </a:rPr>
              <a:t>Se vede mulțimea, nu omul.</a:t>
            </a:r>
            <a:endParaRPr lang="en-US" sz="2200" dirty="0"/>
          </a:p>
        </p:txBody>
      </p:sp>
      <p:sp>
        <p:nvSpPr>
          <p:cNvPr id="7" name="Text 5"/>
          <p:cNvSpPr/>
          <p:nvPr/>
        </p:nvSpPr>
        <p:spPr>
          <a:xfrm>
            <a:off x="594360" y="3383280"/>
            <a:ext cx="10972800" cy="1097280"/>
          </a:xfrm>
          <a:prstGeom prst="rect">
            <a:avLst/>
          </a:prstGeom>
          <a:noFill/>
          <a:ln/>
        </p:spPr>
        <p:txBody>
          <a:bodyPr wrap="square" lIns="0" tIns="0" rIns="0" bIns="0" rtlCol="0" anchor="t"/>
          <a:lstStyle/>
          <a:p>
            <a:pPr indent="0" marL="0">
              <a:buNone/>
            </a:pPr>
            <a:r>
              <a:rPr lang="en-US" sz="1700" dirty="0">
                <a:solidFill>
                  <a:srgbClr val="959BB0"/>
                </a:solidFill>
                <a:latin typeface="Palatino Linotype" pitchFamily="34" charset="0"/>
                <a:ea typeface="Palatino Linotype" pitchFamily="34" charset="-122"/>
                <a:cs typeface="Palatino Linotype" pitchFamily="34" charset="-120"/>
              </a:rPr>
              <a:t>Informațiile despre persoane, adunate în totaluri (de exemplu, câte vizite în parcurile din Cluj săptămâna aceasta), fără elementele care ar permite recunoașterea cuiva.</a:t>
            </a:r>
            <a:endParaRPr lang="en-US" sz="1700" dirty="0"/>
          </a:p>
        </p:txBody>
      </p:sp>
      <p:sp>
        <p:nvSpPr>
          <p:cNvPr id="8" name="Shape 6"/>
          <p:cNvSpPr/>
          <p:nvPr/>
        </p:nvSpPr>
        <p:spPr>
          <a:xfrm>
            <a:off x="594360" y="4572000"/>
            <a:ext cx="10972800" cy="1371600"/>
          </a:xfrm>
          <a:prstGeom prst="roundRect">
            <a:avLst>
              <a:gd name="adj" fmla="val 6000"/>
            </a:avLst>
          </a:prstGeom>
          <a:solidFill>
            <a:srgbClr val="1D1F2B"/>
          </a:solidFill>
          <a:ln w="12700">
            <a:solidFill>
              <a:srgbClr val="1D1F2B"/>
            </a:solidFill>
            <a:prstDash val="solid"/>
          </a:ln>
        </p:spPr>
        <p:txBody>
          <a:bodyPr/>
          <a:p/>
        </p:txBody>
      </p:sp>
      <p:sp>
        <p:nvSpPr>
          <p:cNvPr id="9" name="Text 7"/>
          <p:cNvSpPr/>
          <p:nvPr/>
        </p:nvSpPr>
        <p:spPr>
          <a:xfrm>
            <a:off x="914400" y="4572000"/>
            <a:ext cx="10332720" cy="1371600"/>
          </a:xfrm>
          <a:prstGeom prst="rect">
            <a:avLst/>
          </a:prstGeom>
          <a:noFill/>
          <a:ln/>
        </p:spPr>
        <p:txBody>
          <a:bodyPr wrap="square" lIns="0" tIns="0" rIns="0" bIns="0" rtlCol="0" anchor="ctr"/>
          <a:lstStyle/>
          <a:p>
            <a:pPr indent="0" marL="0">
              <a:buNone/>
            </a:pPr>
            <a:r>
              <a:rPr lang="en-US" sz="1600" i="1" dirty="0">
                <a:solidFill>
                  <a:srgbClr val="FFFFFF"/>
                </a:solidFill>
                <a:latin typeface="Palatino Linotype" pitchFamily="34" charset="0"/>
                <a:ea typeface="Palatino Linotype" pitchFamily="34" charset="-122"/>
                <a:cs typeface="Palatino Linotype" pitchFamily="34" charset="-120"/>
              </a:rPr>
              <a:t>„No personally identifiable information, such as an individual’s location, contacts or movement, was made available at any point”</a:t>
            </a:r>
            <a:endParaRPr lang="en-US" sz="1600" dirty="0"/>
          </a:p>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Pagina rapoartelor de mobilitate</a:t>
            </a:r>
            <a:endParaRPr lang="en-US" sz="1600" dirty="0"/>
          </a:p>
        </p:txBody>
      </p:sp>
      <p:sp>
        <p:nvSpPr>
          <p:cNvPr id="10" name="Text 8"/>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registru A584.</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EXEMPLE CONSTRUITE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Diferența dintre o mulțime și un om</a:t>
            </a:r>
            <a:endParaRPr lang="en-US" sz="3200" dirty="0"/>
          </a:p>
        </p:txBody>
      </p:sp>
      <p:sp>
        <p:nvSpPr>
          <p:cNvPr id="4" name="Shape 2"/>
          <p:cNvSpPr/>
          <p:nvPr/>
        </p:nvSpPr>
        <p:spPr>
          <a:xfrm>
            <a:off x="594360" y="1737360"/>
            <a:ext cx="5394960" cy="3931920"/>
          </a:xfrm>
          <a:prstGeom prst="roundRect">
            <a:avLst>
              <a:gd name="adj" fmla="val 2093"/>
            </a:avLst>
          </a:prstGeom>
          <a:solidFill>
            <a:srgbClr val="ECEAE4"/>
          </a:solidFill>
          <a:ln w="12700">
            <a:solidFill>
              <a:srgbClr val="ECEAE4"/>
            </a:solidFill>
            <a:prstDash val="solid"/>
          </a:ln>
        </p:spPr>
        <p:txBody>
          <a:bodyPr/>
          <a:p/>
        </p:txBody>
      </p:sp>
      <p:sp>
        <p:nvSpPr>
          <p:cNvPr id="5" name="Text 3"/>
          <p:cNvSpPr/>
          <p:nvPr/>
        </p:nvSpPr>
        <p:spPr>
          <a:xfrm>
            <a:off x="914400" y="1965960"/>
            <a:ext cx="4754880" cy="45720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O informație despre un oraș</a:t>
            </a:r>
            <a:endParaRPr lang="en-US" sz="1700" dirty="0"/>
          </a:p>
        </p:txBody>
      </p:sp>
      <p:sp>
        <p:nvSpPr>
          <p:cNvPr id="6" name="Text 4"/>
          <p:cNvSpPr/>
          <p:nvPr/>
        </p:nvSpPr>
        <p:spPr>
          <a:xfrm>
            <a:off x="914400" y="2606040"/>
            <a:ext cx="4754880" cy="2834640"/>
          </a:xfrm>
          <a:prstGeom prst="rect">
            <a:avLst/>
          </a:prstGeom>
          <a:noFill/>
          <a:ln/>
        </p:spPr>
        <p:txBody>
          <a:bodyPr wrap="square" lIns="0" tIns="0" rIns="0" bIns="0" rtlCol="0" anchor="ctr"/>
          <a:lstStyle/>
          <a:p>
            <a:pPr indent="0" marL="0">
              <a:buNone/>
            </a:pPr>
            <a:r>
              <a:rPr lang="en-US" sz="2600" b="1" i="1" dirty="0">
                <a:solidFill>
                  <a:srgbClr val="11121A"/>
                </a:solidFill>
                <a:latin typeface="Palatino Linotype" pitchFamily="34" charset="0"/>
                <a:ea typeface="Palatino Linotype" pitchFamily="34" charset="-122"/>
                <a:cs typeface="Palatino Linotype" pitchFamily="34" charset="-120"/>
              </a:rPr>
              <a:t>„Vizitele în parcuri au scăzut cu o treime.”</a:t>
            </a:r>
            <a:endParaRPr lang="en-US" sz="2600" dirty="0"/>
          </a:p>
        </p:txBody>
      </p:sp>
      <p:sp>
        <p:nvSpPr>
          <p:cNvPr id="7" name="Shape 5"/>
          <p:cNvSpPr/>
          <p:nvPr/>
        </p:nvSpPr>
        <p:spPr>
          <a:xfrm>
            <a:off x="6172200" y="1737360"/>
            <a:ext cx="5394960" cy="3931920"/>
          </a:xfrm>
          <a:prstGeom prst="roundRect">
            <a:avLst>
              <a:gd name="adj" fmla="val 2093"/>
            </a:avLst>
          </a:prstGeom>
          <a:solidFill>
            <a:srgbClr val="B02532"/>
          </a:solidFill>
          <a:ln w="12700">
            <a:solidFill>
              <a:srgbClr val="B02532"/>
            </a:solidFill>
            <a:prstDash val="solid"/>
          </a:ln>
        </p:spPr>
        <p:txBody>
          <a:bodyPr/>
          <a:p/>
        </p:txBody>
      </p:sp>
      <p:sp>
        <p:nvSpPr>
          <p:cNvPr id="8" name="Text 6"/>
          <p:cNvSpPr/>
          <p:nvPr/>
        </p:nvSpPr>
        <p:spPr>
          <a:xfrm>
            <a:off x="6492240" y="1965960"/>
            <a:ext cx="4754880" cy="457200"/>
          </a:xfrm>
          <a:prstGeom prst="rect">
            <a:avLst/>
          </a:prstGeom>
          <a:noFill/>
          <a:ln/>
        </p:spPr>
        <p:txBody>
          <a:bodyPr wrap="square" lIns="0" tIns="0" rIns="0" bIns="0" rtlCol="0" anchor="t"/>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O informație despre o viață</a:t>
            </a:r>
            <a:endParaRPr lang="en-US" sz="1700" dirty="0"/>
          </a:p>
        </p:txBody>
      </p:sp>
      <p:sp>
        <p:nvSpPr>
          <p:cNvPr id="9" name="Text 7"/>
          <p:cNvSpPr/>
          <p:nvPr/>
        </p:nvSpPr>
        <p:spPr>
          <a:xfrm>
            <a:off x="6492240" y="2606040"/>
            <a:ext cx="4754880" cy="2834640"/>
          </a:xfrm>
          <a:prstGeom prst="rect">
            <a:avLst/>
          </a:prstGeom>
          <a:noFill/>
          <a:ln/>
        </p:spPr>
        <p:txBody>
          <a:bodyPr wrap="square" lIns="0" tIns="0" rIns="0" bIns="0" rtlCol="0" anchor="ctr"/>
          <a:lstStyle/>
          <a:p>
            <a:pPr indent="0" marL="0">
              <a:buNone/>
            </a:pPr>
            <a:r>
              <a:rPr lang="en-US" sz="2600" b="1" i="1" dirty="0">
                <a:solidFill>
                  <a:srgbClr val="FFFFFF"/>
                </a:solidFill>
                <a:latin typeface="Palatino Linotype" pitchFamily="34" charset="0"/>
                <a:ea typeface="Palatino Linotype" pitchFamily="34" charset="-122"/>
                <a:cs typeface="Palatino Linotype" pitchFamily="34" charset="-120"/>
              </a:rPr>
              <a:t>„Studentul X a fost aseară în parc, apoi la o petrecere, apoi la cămin.”</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JOC DE ROL, APOI VOT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DOI VOLUNTARI · TREI MINUTE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Ancheta epidemiologică, la telefon</a:t>
            </a:r>
            <a:endParaRPr lang="en-US" sz="3000" dirty="0"/>
          </a:p>
        </p:txBody>
      </p:sp>
      <p:sp>
        <p:nvSpPr>
          <p:cNvPr id="6" name="Shape 4"/>
          <p:cNvSpPr/>
          <p:nvPr/>
        </p:nvSpPr>
        <p:spPr>
          <a:xfrm>
            <a:off x="594360" y="1600200"/>
            <a:ext cx="7635240" cy="1051560"/>
          </a:xfrm>
          <a:prstGeom prst="roundRect">
            <a:avLst>
              <a:gd name="adj" fmla="val 7826"/>
            </a:avLst>
          </a:prstGeom>
          <a:solidFill>
            <a:srgbClr val="1D1F2B"/>
          </a:solidFill>
          <a:ln w="12700">
            <a:solidFill>
              <a:srgbClr val="1D1F2B"/>
            </a:solidFill>
            <a:prstDash val="solid"/>
          </a:ln>
        </p:spPr>
        <p:txBody>
          <a:bodyPr/>
          <a:p/>
        </p:txBody>
      </p:sp>
      <p:sp>
        <p:nvSpPr>
          <p:cNvPr id="7" name="Text 5"/>
          <p:cNvSpPr/>
          <p:nvPr/>
        </p:nvSpPr>
        <p:spPr>
          <a:xfrm>
            <a:off x="868680" y="1600200"/>
            <a:ext cx="2194560" cy="1051560"/>
          </a:xfrm>
          <a:prstGeom prst="rect">
            <a:avLst/>
          </a:prstGeom>
          <a:noFill/>
          <a:ln/>
        </p:spPr>
        <p:txBody>
          <a:bodyPr wrap="square" lIns="0" tIns="0" rIns="0" bIns="0" rtlCol="0" anchor="ctr"/>
          <a:lstStyle/>
          <a:p>
            <a:pPr indent="0" marL="0">
              <a:buNone/>
            </a:pPr>
            <a:r>
              <a:rPr lang="en-US" sz="1800" b="1" dirty="0">
                <a:solidFill>
                  <a:srgbClr val="FF4757"/>
                </a:solidFill>
                <a:latin typeface="Palatino Linotype" pitchFamily="34" charset="0"/>
                <a:ea typeface="Palatino Linotype" pitchFamily="34" charset="-122"/>
                <a:cs typeface="Palatino Linotype" pitchFamily="34" charset="-120"/>
              </a:rPr>
              <a:t>Studentul</a:t>
            </a:r>
            <a:endParaRPr lang="en-US" sz="1800" dirty="0"/>
          </a:p>
        </p:txBody>
      </p:sp>
      <p:sp>
        <p:nvSpPr>
          <p:cNvPr id="8" name="Text 6"/>
          <p:cNvSpPr/>
          <p:nvPr/>
        </p:nvSpPr>
        <p:spPr>
          <a:xfrm>
            <a:off x="3063240" y="1600200"/>
            <a:ext cx="4983480" cy="105156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Are o boală contagioasă confirmată. Vrea să ajute, dar nu vrea să spună tot.</a:t>
            </a:r>
            <a:endParaRPr lang="en-US" sz="1600" dirty="0"/>
          </a:p>
        </p:txBody>
      </p:sp>
      <p:sp>
        <p:nvSpPr>
          <p:cNvPr id="9" name="Shape 7"/>
          <p:cNvSpPr/>
          <p:nvPr/>
        </p:nvSpPr>
        <p:spPr>
          <a:xfrm>
            <a:off x="594360" y="2788920"/>
            <a:ext cx="7635240" cy="1051560"/>
          </a:xfrm>
          <a:prstGeom prst="roundRect">
            <a:avLst>
              <a:gd name="adj" fmla="val 7826"/>
            </a:avLst>
          </a:prstGeom>
          <a:solidFill>
            <a:srgbClr val="1D1F2B"/>
          </a:solidFill>
          <a:ln w="12700">
            <a:solidFill>
              <a:srgbClr val="1D1F2B"/>
            </a:solidFill>
            <a:prstDash val="solid"/>
          </a:ln>
        </p:spPr>
        <p:txBody>
          <a:bodyPr/>
          <a:p/>
        </p:txBody>
      </p:sp>
      <p:sp>
        <p:nvSpPr>
          <p:cNvPr id="10" name="Text 8"/>
          <p:cNvSpPr/>
          <p:nvPr/>
        </p:nvSpPr>
        <p:spPr>
          <a:xfrm>
            <a:off x="868680" y="2788920"/>
            <a:ext cx="2194560" cy="1051560"/>
          </a:xfrm>
          <a:prstGeom prst="rect">
            <a:avLst/>
          </a:prstGeom>
          <a:noFill/>
          <a:ln/>
        </p:spPr>
        <p:txBody>
          <a:bodyPr wrap="square" lIns="0" tIns="0" rIns="0" bIns="0" rtlCol="0" anchor="ctr"/>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Medicul de la DSP</a:t>
            </a:r>
            <a:endParaRPr lang="en-US" sz="1800" dirty="0"/>
          </a:p>
        </p:txBody>
      </p:sp>
      <p:sp>
        <p:nvSpPr>
          <p:cNvPr id="11" name="Text 9"/>
          <p:cNvSpPr/>
          <p:nvPr/>
        </p:nvSpPr>
        <p:spPr>
          <a:xfrm>
            <a:off x="3063240" y="2788920"/>
            <a:ext cx="4983480" cy="105156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Trebuie să afle unde a fost studentul în ultimele zile și cu cine s-a întâlnit.</a:t>
            </a:r>
            <a:endParaRPr lang="en-US" sz="1600" dirty="0"/>
          </a:p>
        </p:txBody>
      </p:sp>
      <p:sp>
        <p:nvSpPr>
          <p:cNvPr id="12" name="Text 10"/>
          <p:cNvSpPr/>
          <p:nvPr/>
        </p:nvSpPr>
        <p:spPr>
          <a:xfrm>
            <a:off x="594360" y="4023360"/>
            <a:ext cx="7635240" cy="822960"/>
          </a:xfrm>
          <a:prstGeom prst="rect">
            <a:avLst/>
          </a:prstGeom>
          <a:noFill/>
          <a:ln/>
        </p:spPr>
        <p:txBody>
          <a:bodyPr wrap="square" lIns="0" tIns="0" rIns="0" bIns="0" rtlCol="0" anchor="t"/>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Ar trebui ca medicul să poată cere direct de la operatorul de telefonie locațiile telefonului?</a:t>
            </a:r>
            <a:endParaRPr lang="en-US" sz="1800" dirty="0"/>
          </a:p>
        </p:txBody>
      </p:sp>
      <p:sp>
        <p:nvSpPr>
          <p:cNvPr id="13" name="Shape 11"/>
          <p:cNvSpPr/>
          <p:nvPr/>
        </p:nvSpPr>
        <p:spPr>
          <a:xfrm>
            <a:off x="594360" y="4937760"/>
            <a:ext cx="1463040" cy="329184"/>
          </a:xfrm>
          <a:prstGeom prst="roundRect">
            <a:avLst>
              <a:gd name="adj" fmla="val 50000"/>
            </a:avLst>
          </a:prstGeom>
          <a:solidFill>
            <a:srgbClr val="272A38"/>
          </a:solidFill>
          <a:ln w="12700">
            <a:solidFill>
              <a:srgbClr val="272A38"/>
            </a:solidFill>
            <a:prstDash val="solid"/>
          </a:ln>
        </p:spPr>
        <p:txBody>
          <a:bodyPr/>
          <a:p/>
        </p:txBody>
      </p:sp>
      <p:sp>
        <p:nvSpPr>
          <p:cNvPr id="14" name="Text 12"/>
          <p:cNvSpPr/>
          <p:nvPr/>
        </p:nvSpPr>
        <p:spPr>
          <a:xfrm>
            <a:off x="594360" y="4937760"/>
            <a:ext cx="14630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Da</a:t>
            </a:r>
            <a:endParaRPr lang="en-US" sz="1400" dirty="0"/>
          </a:p>
        </p:txBody>
      </p:sp>
      <p:sp>
        <p:nvSpPr>
          <p:cNvPr id="15" name="Shape 13"/>
          <p:cNvSpPr/>
          <p:nvPr/>
        </p:nvSpPr>
        <p:spPr>
          <a:xfrm>
            <a:off x="2240280" y="4937760"/>
            <a:ext cx="3931920" cy="329184"/>
          </a:xfrm>
          <a:prstGeom prst="roundRect">
            <a:avLst>
              <a:gd name="adj" fmla="val 50000"/>
            </a:avLst>
          </a:prstGeom>
          <a:solidFill>
            <a:srgbClr val="272A38"/>
          </a:solidFill>
          <a:ln w="12700">
            <a:solidFill>
              <a:srgbClr val="272A38"/>
            </a:solidFill>
            <a:prstDash val="solid"/>
          </a:ln>
        </p:spPr>
        <p:txBody>
          <a:bodyPr/>
          <a:p/>
        </p:txBody>
      </p:sp>
      <p:sp>
        <p:nvSpPr>
          <p:cNvPr id="16" name="Text 14"/>
          <p:cNvSpPr/>
          <p:nvPr/>
        </p:nvSpPr>
        <p:spPr>
          <a:xfrm>
            <a:off x="2240280" y="4937760"/>
            <a:ext cx="393192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Numai cu acordul studentului</a:t>
            </a:r>
            <a:endParaRPr lang="en-US" sz="1400" dirty="0"/>
          </a:p>
        </p:txBody>
      </p:sp>
      <p:sp>
        <p:nvSpPr>
          <p:cNvPr id="17" name="Shape 15"/>
          <p:cNvSpPr/>
          <p:nvPr/>
        </p:nvSpPr>
        <p:spPr>
          <a:xfrm>
            <a:off x="6355080" y="4937760"/>
            <a:ext cx="1463040" cy="329184"/>
          </a:xfrm>
          <a:prstGeom prst="roundRect">
            <a:avLst>
              <a:gd name="adj" fmla="val 50000"/>
            </a:avLst>
          </a:prstGeom>
          <a:solidFill>
            <a:srgbClr val="272A38"/>
          </a:solidFill>
          <a:ln w="12700">
            <a:solidFill>
              <a:srgbClr val="272A38"/>
            </a:solidFill>
            <a:prstDash val="solid"/>
          </a:ln>
        </p:spPr>
        <p:txBody>
          <a:bodyPr/>
          <a:p/>
        </p:txBody>
      </p:sp>
      <p:sp>
        <p:nvSpPr>
          <p:cNvPr id="18" name="Text 16"/>
          <p:cNvSpPr/>
          <p:nvPr/>
        </p:nvSpPr>
        <p:spPr>
          <a:xfrm>
            <a:off x="6355080" y="4937760"/>
            <a:ext cx="14630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Nu</a:t>
            </a:r>
            <a:endParaRPr lang="en-US" sz="1400" dirty="0"/>
          </a:p>
        </p:txBody>
      </p:sp>
      <p:sp>
        <p:nvSpPr>
          <p:cNvPr id="19" name="Shape 17"/>
          <p:cNvSpPr/>
          <p:nvPr/>
        </p:nvSpPr>
        <p:spPr>
          <a:xfrm>
            <a:off x="8503920" y="160020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1" name="Text 19"/>
          <p:cNvSpPr/>
          <p:nvPr/>
        </p:nvSpPr>
        <p:spPr>
          <a:xfrm>
            <a:off x="594360" y="553212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pic>
        <p:nvPicPr>
          <p:cNvPr id="22" name="Picture 21" descr="Mentimeter_OPT_DETECTIVI_C04.png"/>
          <p:cNvPicPr>
            <a:picLocks noChangeAspect="1"/>
          </p:cNvPicPr>
          <p:nvPr/>
        </p:nvPicPr>
        <p:blipFill>
          <a:blip r:embed="rId3"/>
          <a:stretch>
            <a:fillRect/>
          </a:stretch>
        </p:blipFill>
        <p:spPr>
          <a:xfrm>
            <a:off x="8817610" y="1600200"/>
            <a:ext cx="2435860" cy="2435860"/>
          </a:xfrm>
          <a:prstGeom prst="rect">
            <a:avLst/>
          </a:prstGeom>
        </p:spPr>
      </p:pic>
      <p:sp>
        <p:nvSpPr>
          <p:cNvPr id="23" name="TextBox 22"/>
          <p:cNvSpPr txBox="1"/>
          <p:nvPr/>
        </p:nvSpPr>
        <p:spPr>
          <a:xfrm>
            <a:off x="8503920" y="407416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VIAȚA PRIVATĂ ȘI SĂNĂTATEA TUTUROR</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Nu există o soluție simplă, dar există întrebări de pus</a:t>
            </a:r>
            <a:endParaRPr lang="en-US" sz="2800" dirty="0"/>
          </a:p>
        </p:txBody>
      </p:sp>
      <p:sp>
        <p:nvSpPr>
          <p:cNvPr id="4" name="Text 2"/>
          <p:cNvSpPr/>
          <p:nvPr/>
        </p:nvSpPr>
        <p:spPr>
          <a:xfrm>
            <a:off x="594360" y="1463040"/>
            <a:ext cx="10972800" cy="731520"/>
          </a:xfrm>
          <a:prstGeom prst="rect">
            <a:avLst/>
          </a:prstGeom>
          <a:noFill/>
          <a:ln/>
        </p:spPr>
        <p:txBody>
          <a:bodyPr wrap="square" lIns="0" tIns="0" rIns="0" bIns="0" rtlCol="0" anchor="t"/>
          <a:lstStyle/>
          <a:p>
            <a:pPr indent="0" marL="0">
              <a:buNone/>
            </a:pPr>
            <a:r>
              <a:rPr lang="en-US" sz="1600" i="1" dirty="0">
                <a:solidFill>
                  <a:srgbClr val="585A64"/>
                </a:solidFill>
                <a:latin typeface="Palatino Linotype" pitchFamily="34" charset="0"/>
                <a:ea typeface="Palatino Linotype" pitchFamily="34" charset="-122"/>
                <a:cs typeface="Palatino Linotype" pitchFamily="34" charset="-120"/>
              </a:rPr>
              <a:t>Salathé: interesul colectiv intră în conflict cu dorința fiecăruia de a-și proteja viața privată.</a:t>
            </a:r>
            <a:endParaRPr lang="en-US" sz="1600" dirty="0"/>
          </a:p>
        </p:txBody>
      </p:sp>
      <p:sp>
        <p:nvSpPr>
          <p:cNvPr id="5" name="Shape 3"/>
          <p:cNvSpPr/>
          <p:nvPr/>
        </p:nvSpPr>
        <p:spPr>
          <a:xfrm>
            <a:off x="594360" y="2286000"/>
            <a:ext cx="5394960" cy="1645920"/>
          </a:xfrm>
          <a:prstGeom prst="roundRect">
            <a:avLst>
              <a:gd name="adj" fmla="val 5000"/>
            </a:avLst>
          </a:prstGeom>
          <a:solidFill>
            <a:srgbClr val="ECEAE4"/>
          </a:solidFill>
          <a:ln w="12700">
            <a:solidFill>
              <a:srgbClr val="ECEAE4"/>
            </a:solidFill>
            <a:prstDash val="solid"/>
          </a:ln>
        </p:spPr>
        <p:txBody>
          <a:bodyPr/>
          <a:p/>
        </p:txBody>
      </p:sp>
      <p:sp>
        <p:nvSpPr>
          <p:cNvPr id="6" name="Text 4"/>
          <p:cNvSpPr/>
          <p:nvPr/>
        </p:nvSpPr>
        <p:spPr>
          <a:xfrm>
            <a:off x="868680" y="2423160"/>
            <a:ext cx="484632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Cu ce scop?</a:t>
            </a:r>
            <a:endParaRPr lang="en-US" sz="2000" dirty="0"/>
          </a:p>
        </p:txBody>
      </p:sp>
      <p:sp>
        <p:nvSpPr>
          <p:cNvPr id="7" name="Text 5"/>
          <p:cNvSpPr/>
          <p:nvPr/>
        </p:nvSpPr>
        <p:spPr>
          <a:xfrm>
            <a:off x="868680" y="2926080"/>
            <a:ext cx="4846320" cy="9144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Un scop declarat dinainte, nu „poate ne folosesc”.</a:t>
            </a:r>
            <a:endParaRPr lang="en-US" sz="1600" dirty="0"/>
          </a:p>
        </p:txBody>
      </p:sp>
      <p:sp>
        <p:nvSpPr>
          <p:cNvPr id="8" name="Shape 6"/>
          <p:cNvSpPr/>
          <p:nvPr/>
        </p:nvSpPr>
        <p:spPr>
          <a:xfrm>
            <a:off x="6172200" y="2286000"/>
            <a:ext cx="5394960" cy="1645920"/>
          </a:xfrm>
          <a:prstGeom prst="roundRect">
            <a:avLst>
              <a:gd name="adj" fmla="val 5000"/>
            </a:avLst>
          </a:prstGeom>
          <a:solidFill>
            <a:srgbClr val="ECEAE4"/>
          </a:solidFill>
          <a:ln w="12700">
            <a:solidFill>
              <a:srgbClr val="ECEAE4"/>
            </a:solidFill>
            <a:prstDash val="solid"/>
          </a:ln>
        </p:spPr>
        <p:txBody>
          <a:bodyPr/>
          <a:p/>
        </p:txBody>
      </p:sp>
      <p:sp>
        <p:nvSpPr>
          <p:cNvPr id="9" name="Text 7"/>
          <p:cNvSpPr/>
          <p:nvPr/>
        </p:nvSpPr>
        <p:spPr>
          <a:xfrm>
            <a:off x="6446520" y="2423160"/>
            <a:ext cx="484632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Câte date?</a:t>
            </a:r>
            <a:endParaRPr lang="en-US" sz="2000" dirty="0"/>
          </a:p>
        </p:txBody>
      </p:sp>
      <p:sp>
        <p:nvSpPr>
          <p:cNvPr id="10" name="Text 8"/>
          <p:cNvSpPr/>
          <p:nvPr/>
        </p:nvSpPr>
        <p:spPr>
          <a:xfrm>
            <a:off x="6446520" y="2926080"/>
            <a:ext cx="4846320" cy="9144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Ajung totalurile pe regiune, nu traseul fiecăruia.</a:t>
            </a:r>
            <a:endParaRPr lang="en-US" sz="1600" dirty="0"/>
          </a:p>
        </p:txBody>
      </p:sp>
      <p:sp>
        <p:nvSpPr>
          <p:cNvPr id="11" name="Shape 9"/>
          <p:cNvSpPr/>
          <p:nvPr/>
        </p:nvSpPr>
        <p:spPr>
          <a:xfrm>
            <a:off x="594360" y="4114800"/>
            <a:ext cx="5394960" cy="1645920"/>
          </a:xfrm>
          <a:prstGeom prst="roundRect">
            <a:avLst>
              <a:gd name="adj" fmla="val 5000"/>
            </a:avLst>
          </a:prstGeom>
          <a:solidFill>
            <a:srgbClr val="ECEAE4"/>
          </a:solidFill>
          <a:ln w="12700">
            <a:solidFill>
              <a:srgbClr val="ECEAE4"/>
            </a:solidFill>
            <a:prstDash val="solid"/>
          </a:ln>
        </p:spPr>
        <p:txBody>
          <a:bodyPr/>
          <a:p/>
        </p:txBody>
      </p:sp>
      <p:sp>
        <p:nvSpPr>
          <p:cNvPr id="12" name="Text 10"/>
          <p:cNvSpPr/>
          <p:nvPr/>
        </p:nvSpPr>
        <p:spPr>
          <a:xfrm>
            <a:off x="868680" y="4251960"/>
            <a:ext cx="484632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Cine le vede?</a:t>
            </a:r>
            <a:endParaRPr lang="en-US" sz="2000" dirty="0"/>
          </a:p>
        </p:txBody>
      </p:sp>
      <p:sp>
        <p:nvSpPr>
          <p:cNvPr id="13" name="Text 11"/>
          <p:cNvSpPr/>
          <p:nvPr/>
        </p:nvSpPr>
        <p:spPr>
          <a:xfrm>
            <a:off x="868680" y="4754880"/>
            <a:ext cx="4846320" cy="9144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 instituție cu obligația secretului sau oricine le cumpără?</a:t>
            </a:r>
            <a:endParaRPr lang="en-US" sz="1600" dirty="0"/>
          </a:p>
        </p:txBody>
      </p:sp>
      <p:sp>
        <p:nvSpPr>
          <p:cNvPr id="14" name="Shape 12"/>
          <p:cNvSpPr/>
          <p:nvPr/>
        </p:nvSpPr>
        <p:spPr>
          <a:xfrm>
            <a:off x="6172200" y="4114800"/>
            <a:ext cx="5394960" cy="1645920"/>
          </a:xfrm>
          <a:prstGeom prst="roundRect">
            <a:avLst>
              <a:gd name="adj" fmla="val 5000"/>
            </a:avLst>
          </a:prstGeom>
          <a:solidFill>
            <a:srgbClr val="ECEAE4"/>
          </a:solidFill>
          <a:ln w="12700">
            <a:solidFill>
              <a:srgbClr val="ECEAE4"/>
            </a:solidFill>
            <a:prstDash val="solid"/>
          </a:ln>
        </p:spPr>
        <p:txBody>
          <a:bodyPr/>
          <a:p/>
        </p:txBody>
      </p:sp>
      <p:sp>
        <p:nvSpPr>
          <p:cNvPr id="15" name="Text 13"/>
          <p:cNvSpPr/>
          <p:nvPr/>
        </p:nvSpPr>
        <p:spPr>
          <a:xfrm>
            <a:off x="6446520" y="4251960"/>
            <a:ext cx="484632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Până când?</a:t>
            </a:r>
            <a:endParaRPr lang="en-US" sz="2000" dirty="0"/>
          </a:p>
        </p:txBody>
      </p:sp>
      <p:sp>
        <p:nvSpPr>
          <p:cNvPr id="16" name="Text 14"/>
          <p:cNvSpPr/>
          <p:nvPr/>
        </p:nvSpPr>
        <p:spPr>
          <a:xfrm>
            <a:off x="6446520" y="4754880"/>
            <a:ext cx="4846320" cy="9144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Un sistem de urgență fără sfârșit nu mai este de urgență.</a:t>
            </a:r>
            <a:endParaRPr lang="en-US" sz="1600" dirty="0"/>
          </a:p>
        </p:txBody>
      </p:sp>
      <p:sp>
        <p:nvSpPr>
          <p:cNvPr id="17" name="Text 15"/>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Salathé, 2018; pagina rapoartelor de mobilitate (registru A577, A583, A584).</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ÎNAINTE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DEZBATEREA</a:t>
            </a:r>
            <a:endParaRPr lang="en-US" sz="1300" dirty="0"/>
          </a:p>
        </p:txBody>
      </p:sp>
      <p:sp>
        <p:nvSpPr>
          <p:cNvPr id="5" name="Shape 3"/>
          <p:cNvSpPr/>
          <p:nvPr/>
        </p:nvSpPr>
        <p:spPr>
          <a:xfrm>
            <a:off x="594360" y="914400"/>
            <a:ext cx="7635240" cy="2743200"/>
          </a:xfrm>
          <a:prstGeom prst="roundRect">
            <a:avLst>
              <a:gd name="adj" fmla="val 3000"/>
            </a:avLst>
          </a:prstGeom>
          <a:solidFill>
            <a:srgbClr val="1D1F2B"/>
          </a:solidFill>
          <a:ln w="12700">
            <a:solidFill>
              <a:srgbClr val="1D1F2B"/>
            </a:solidFill>
            <a:prstDash val="solid"/>
          </a:ln>
        </p:spPr>
        <p:txBody>
          <a:bodyPr/>
          <a:p/>
        </p:txBody>
      </p:sp>
      <p:sp>
        <p:nvSpPr>
          <p:cNvPr id="6" name="Text 4"/>
          <p:cNvSpPr/>
          <p:nvPr/>
        </p:nvSpPr>
        <p:spPr>
          <a:xfrm>
            <a:off x="914400" y="914400"/>
            <a:ext cx="7040880" cy="2743200"/>
          </a:xfrm>
          <a:prstGeom prst="rect">
            <a:avLst/>
          </a:prstGeom>
          <a:noFill/>
          <a:ln/>
        </p:spPr>
        <p:txBody>
          <a:bodyPr wrap="square" lIns="0" tIns="0" rIns="0" bIns="0" rtlCol="0" anchor="ctr"/>
          <a:lstStyle/>
          <a:p>
            <a:pPr indent="0" marL="0">
              <a:buNone/>
            </a:pPr>
            <a:r>
              <a:rPr lang="en-US" sz="2100" b="1" i="1" dirty="0">
                <a:solidFill>
                  <a:srgbClr val="FFFFFF"/>
                </a:solidFill>
                <a:latin typeface="Palatino Linotype" pitchFamily="34" charset="0"/>
                <a:ea typeface="Palatino Linotype" pitchFamily="34" charset="-122"/>
                <a:cs typeface="Palatino Linotype" pitchFamily="34" charset="-120"/>
              </a:rPr>
              <a:t>„Într-o epidemie gravă, autoritatea de sănătate publică ar trebui să poată folosi datele de localizare ale telefoanelor, fără acordul fiecărei persoane.”</a:t>
            </a:r>
            <a:endParaRPr lang="en-US" sz="2100" dirty="0"/>
          </a:p>
        </p:txBody>
      </p:sp>
      <p:sp>
        <p:nvSpPr>
          <p:cNvPr id="7" name="Shape 5"/>
          <p:cNvSpPr/>
          <p:nvPr/>
        </p:nvSpPr>
        <p:spPr>
          <a:xfrm>
            <a:off x="594360" y="3886200"/>
            <a:ext cx="7635240" cy="658368"/>
          </a:xfrm>
          <a:prstGeom prst="roundRect">
            <a:avLst>
              <a:gd name="adj" fmla="val 12500"/>
            </a:avLst>
          </a:prstGeom>
          <a:solidFill>
            <a:srgbClr val="1D1F2B"/>
          </a:solidFill>
          <a:ln w="12700">
            <a:solidFill>
              <a:srgbClr val="1D1F2B"/>
            </a:solidFill>
            <a:prstDash val="solid"/>
          </a:ln>
        </p:spPr>
        <p:txBody>
          <a:bodyPr/>
          <a:p/>
        </p:txBody>
      </p:sp>
      <p:sp>
        <p:nvSpPr>
          <p:cNvPr id="8" name="Shape 6"/>
          <p:cNvSpPr/>
          <p:nvPr/>
        </p:nvSpPr>
        <p:spPr>
          <a:xfrm>
            <a:off x="914400" y="4005072"/>
            <a:ext cx="420624" cy="420624"/>
          </a:xfrm>
          <a:prstGeom prst="ellipse">
            <a:avLst/>
          </a:prstGeom>
          <a:solidFill>
            <a:srgbClr val="FFC24B"/>
          </a:solidFill>
          <a:ln/>
        </p:spPr>
        <p:txBody>
          <a:bodyPr/>
          <a:p/>
        </p:txBody>
      </p:sp>
      <p:sp>
        <p:nvSpPr>
          <p:cNvPr id="9" name="Text 7"/>
          <p:cNvSpPr/>
          <p:nvPr/>
        </p:nvSpPr>
        <p:spPr>
          <a:xfrm>
            <a:off x="914400" y="40050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10" name="Text 8"/>
          <p:cNvSpPr/>
          <p:nvPr/>
        </p:nvSpPr>
        <p:spPr>
          <a:xfrm>
            <a:off x="1600200" y="3886200"/>
            <a:ext cx="6355080" cy="65836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Pentru</a:t>
            </a:r>
            <a:endParaRPr lang="en-US" sz="1800" dirty="0"/>
          </a:p>
        </p:txBody>
      </p:sp>
      <p:sp>
        <p:nvSpPr>
          <p:cNvPr id="11" name="Shape 9"/>
          <p:cNvSpPr/>
          <p:nvPr/>
        </p:nvSpPr>
        <p:spPr>
          <a:xfrm>
            <a:off x="594360" y="4663440"/>
            <a:ext cx="7635240" cy="658368"/>
          </a:xfrm>
          <a:prstGeom prst="roundRect">
            <a:avLst>
              <a:gd name="adj" fmla="val 12500"/>
            </a:avLst>
          </a:prstGeom>
          <a:solidFill>
            <a:srgbClr val="1D1F2B"/>
          </a:solidFill>
          <a:ln w="12700">
            <a:solidFill>
              <a:srgbClr val="1D1F2B"/>
            </a:solidFill>
            <a:prstDash val="solid"/>
          </a:ln>
        </p:spPr>
        <p:txBody>
          <a:bodyPr/>
          <a:p/>
        </p:txBody>
      </p:sp>
      <p:sp>
        <p:nvSpPr>
          <p:cNvPr id="12" name="Shape 10"/>
          <p:cNvSpPr/>
          <p:nvPr/>
        </p:nvSpPr>
        <p:spPr>
          <a:xfrm>
            <a:off x="914400" y="4782312"/>
            <a:ext cx="420624" cy="420624"/>
          </a:xfrm>
          <a:prstGeom prst="ellipse">
            <a:avLst/>
          </a:prstGeom>
          <a:solidFill>
            <a:srgbClr val="FFC24B"/>
          </a:solidFill>
          <a:ln/>
        </p:spPr>
        <p:txBody>
          <a:bodyPr/>
          <a:p/>
        </p:txBody>
      </p:sp>
      <p:sp>
        <p:nvSpPr>
          <p:cNvPr id="13" name="Text 11"/>
          <p:cNvSpPr/>
          <p:nvPr/>
        </p:nvSpPr>
        <p:spPr>
          <a:xfrm>
            <a:off x="914400" y="478231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4" name="Text 12"/>
          <p:cNvSpPr/>
          <p:nvPr/>
        </p:nvSpPr>
        <p:spPr>
          <a:xfrm>
            <a:off x="1600200" y="4663440"/>
            <a:ext cx="6355080" cy="65836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Împotrivă</a:t>
            </a:r>
            <a:endParaRPr lang="en-US" sz="1800" dirty="0"/>
          </a:p>
        </p:txBody>
      </p:sp>
      <p:sp>
        <p:nvSpPr>
          <p:cNvPr id="15" name="Shape 13"/>
          <p:cNvSpPr/>
          <p:nvPr/>
        </p:nvSpPr>
        <p:spPr>
          <a:xfrm>
            <a:off x="8503920" y="91440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17" name="Text 15"/>
          <p:cNvSpPr/>
          <p:nvPr/>
        </p:nvSpPr>
        <p:spPr>
          <a:xfrm>
            <a:off x="594360" y="553212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pic>
        <p:nvPicPr>
          <p:cNvPr id="18" name="Picture 17" descr="Mentimeter_OPT_DETECTIVI_C04.png"/>
          <p:cNvPicPr>
            <a:picLocks noChangeAspect="1"/>
          </p:cNvPicPr>
          <p:nvPr/>
        </p:nvPicPr>
        <p:blipFill>
          <a:blip r:embed="rId3"/>
          <a:stretch>
            <a:fillRect/>
          </a:stretch>
        </p:blipFill>
        <p:spPr>
          <a:xfrm>
            <a:off x="8817610" y="914400"/>
            <a:ext cx="2435860" cy="2435860"/>
          </a:xfrm>
          <a:prstGeom prst="rect">
            <a:avLst/>
          </a:prstGeom>
        </p:spPr>
      </p:pic>
      <p:sp>
        <p:nvSpPr>
          <p:cNvPr id="19" name="TextBox 18"/>
          <p:cNvSpPr txBox="1"/>
          <p:nvPr/>
        </p:nvSpPr>
        <p:spPr>
          <a:xfrm>
            <a:off x="8503920" y="338836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DOUĂ TABERE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Luna nașterii vă alege tabăra</a:t>
            </a:r>
            <a:endParaRPr lang="en-US" sz="3000" dirty="0"/>
          </a:p>
        </p:txBody>
      </p:sp>
      <p:sp>
        <p:nvSpPr>
          <p:cNvPr id="4" name="Shape 2"/>
          <p:cNvSpPr/>
          <p:nvPr/>
        </p:nvSpPr>
        <p:spPr>
          <a:xfrm>
            <a:off x="594360" y="1645920"/>
            <a:ext cx="5394960" cy="1463040"/>
          </a:xfrm>
          <a:prstGeom prst="roundRect">
            <a:avLst>
              <a:gd name="adj" fmla="val 5625"/>
            </a:avLst>
          </a:prstGeom>
          <a:solidFill>
            <a:srgbClr val="E1F0EC"/>
          </a:solidFill>
          <a:ln w="12700">
            <a:solidFill>
              <a:srgbClr val="E1F0EC"/>
            </a:solidFill>
            <a:prstDash val="solid"/>
          </a:ln>
        </p:spPr>
        <p:txBody>
          <a:bodyPr/>
          <a:p/>
        </p:txBody>
      </p:sp>
      <p:sp>
        <p:nvSpPr>
          <p:cNvPr id="5" name="Text 3"/>
          <p:cNvSpPr/>
          <p:nvPr/>
        </p:nvSpPr>
        <p:spPr>
          <a:xfrm>
            <a:off x="868680" y="1737360"/>
            <a:ext cx="4846320" cy="640080"/>
          </a:xfrm>
          <a:prstGeom prst="rect">
            <a:avLst/>
          </a:prstGeom>
          <a:noFill/>
          <a:ln/>
        </p:spPr>
        <p:txBody>
          <a:bodyPr wrap="square" lIns="0" tIns="0" rIns="0" bIns="0" rtlCol="0" anchor="t"/>
          <a:lstStyle/>
          <a:p>
            <a:pPr indent="0" marL="0">
              <a:buNone/>
            </a:pPr>
            <a:r>
              <a:rPr lang="en-US" sz="2600" b="1" dirty="0">
                <a:solidFill>
                  <a:srgbClr val="0E7C6B"/>
                </a:solidFill>
                <a:latin typeface="Palatino Linotype" pitchFamily="34" charset="0"/>
                <a:ea typeface="Palatino Linotype" pitchFamily="34" charset="-122"/>
                <a:cs typeface="Palatino Linotype" pitchFamily="34" charset="-120"/>
              </a:rPr>
              <a:t>Născuți ian.–iun.</a:t>
            </a:r>
            <a:endParaRPr lang="en-US" sz="2600" dirty="0"/>
          </a:p>
        </p:txBody>
      </p:sp>
      <p:sp>
        <p:nvSpPr>
          <p:cNvPr id="6" name="Text 4"/>
          <p:cNvSpPr/>
          <p:nvPr/>
        </p:nvSpPr>
        <p:spPr>
          <a:xfrm>
            <a:off x="868680" y="2377440"/>
            <a:ext cx="4846320" cy="54864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susține moțiunea</a:t>
            </a:r>
            <a:endParaRPr lang="en-US" sz="1900" dirty="0"/>
          </a:p>
        </p:txBody>
      </p:sp>
      <p:sp>
        <p:nvSpPr>
          <p:cNvPr id="7" name="Shape 5"/>
          <p:cNvSpPr/>
          <p:nvPr/>
        </p:nvSpPr>
        <p:spPr>
          <a:xfrm>
            <a:off x="6172200" y="1645920"/>
            <a:ext cx="5394960" cy="1463040"/>
          </a:xfrm>
          <a:prstGeom prst="roundRect">
            <a:avLst>
              <a:gd name="adj" fmla="val 5625"/>
            </a:avLst>
          </a:prstGeom>
          <a:solidFill>
            <a:srgbClr val="F4E0E2"/>
          </a:solidFill>
          <a:ln w="12700">
            <a:solidFill>
              <a:srgbClr val="F4E0E2"/>
            </a:solidFill>
            <a:prstDash val="solid"/>
          </a:ln>
        </p:spPr>
        <p:txBody>
          <a:bodyPr/>
          <a:p/>
        </p:txBody>
      </p:sp>
      <p:sp>
        <p:nvSpPr>
          <p:cNvPr id="8" name="Text 6"/>
          <p:cNvSpPr/>
          <p:nvPr/>
        </p:nvSpPr>
        <p:spPr>
          <a:xfrm>
            <a:off x="6446520" y="1737360"/>
            <a:ext cx="4846320" cy="640080"/>
          </a:xfrm>
          <a:prstGeom prst="rect">
            <a:avLst/>
          </a:prstGeom>
          <a:noFill/>
          <a:ln/>
        </p:spPr>
        <p:txBody>
          <a:bodyPr wrap="square" lIns="0" tIns="0" rIns="0" bIns="0" rtlCol="0" anchor="t"/>
          <a:lstStyle/>
          <a:p>
            <a:pPr indent="0" marL="0">
              <a:buNone/>
            </a:pPr>
            <a:r>
              <a:rPr lang="en-US" sz="2600" b="1" dirty="0">
                <a:solidFill>
                  <a:srgbClr val="B02532"/>
                </a:solidFill>
                <a:latin typeface="Palatino Linotype" pitchFamily="34" charset="0"/>
                <a:ea typeface="Palatino Linotype" pitchFamily="34" charset="-122"/>
                <a:cs typeface="Palatino Linotype" pitchFamily="34" charset="-120"/>
              </a:rPr>
              <a:t>Născuți iul.–dec.</a:t>
            </a:r>
            <a:endParaRPr lang="en-US" sz="2600" dirty="0"/>
          </a:p>
        </p:txBody>
      </p:sp>
      <p:sp>
        <p:nvSpPr>
          <p:cNvPr id="9" name="Text 7"/>
          <p:cNvSpPr/>
          <p:nvPr/>
        </p:nvSpPr>
        <p:spPr>
          <a:xfrm>
            <a:off x="6446520" y="2377440"/>
            <a:ext cx="4846320" cy="54864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o combate</a:t>
            </a:r>
            <a:endParaRPr lang="en-US" sz="1900" dirty="0"/>
          </a:p>
        </p:txBody>
      </p:sp>
      <p:sp>
        <p:nvSpPr>
          <p:cNvPr id="10" name="Shape 8"/>
          <p:cNvSpPr/>
          <p:nvPr/>
        </p:nvSpPr>
        <p:spPr>
          <a:xfrm>
            <a:off x="594360" y="3383280"/>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11" name="Shape 9"/>
          <p:cNvSpPr/>
          <p:nvPr/>
        </p:nvSpPr>
        <p:spPr>
          <a:xfrm>
            <a:off x="914400" y="3538728"/>
            <a:ext cx="420624" cy="420624"/>
          </a:xfrm>
          <a:prstGeom prst="ellipse">
            <a:avLst/>
          </a:prstGeom>
          <a:solidFill>
            <a:srgbClr val="FF4757"/>
          </a:solidFill>
          <a:ln/>
        </p:spPr>
        <p:txBody>
          <a:bodyPr/>
          <a:p/>
        </p:txBody>
      </p:sp>
      <p:sp>
        <p:nvSpPr>
          <p:cNvPr id="12" name="Text 10"/>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13" name="Text 11"/>
          <p:cNvSpPr/>
          <p:nvPr/>
        </p:nvSpPr>
        <p:spPr>
          <a:xfrm>
            <a:off x="1600200" y="3383280"/>
            <a:ext cx="969264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Trei minute: argumentele în chat, cu tabăra în față și cele patru întrebări.</a:t>
            </a:r>
            <a:endParaRPr lang="en-US" sz="1700" dirty="0"/>
          </a:p>
        </p:txBody>
      </p:sp>
      <p:sp>
        <p:nvSpPr>
          <p:cNvPr id="14" name="Shape 12"/>
          <p:cNvSpPr/>
          <p:nvPr/>
        </p:nvSpPr>
        <p:spPr>
          <a:xfrm>
            <a:off x="594360" y="4224528"/>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15" name="Shape 13"/>
          <p:cNvSpPr/>
          <p:nvPr/>
        </p:nvSpPr>
        <p:spPr>
          <a:xfrm>
            <a:off x="914400" y="4379976"/>
            <a:ext cx="420624" cy="420624"/>
          </a:xfrm>
          <a:prstGeom prst="ellipse">
            <a:avLst/>
          </a:prstGeom>
          <a:solidFill>
            <a:srgbClr val="FF4757"/>
          </a:solidFill>
          <a:ln/>
        </p:spPr>
        <p:txBody>
          <a:bodyPr/>
          <a:p/>
        </p:txBody>
      </p:sp>
      <p:sp>
        <p:nvSpPr>
          <p:cNvPr id="16" name="Text 14"/>
          <p:cNvSpPr/>
          <p:nvPr/>
        </p:nvSpPr>
        <p:spPr>
          <a:xfrm>
            <a:off x="914400" y="4379976"/>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7" name="Text 15"/>
          <p:cNvSpPr/>
          <p:nvPr/>
        </p:nvSpPr>
        <p:spPr>
          <a:xfrm>
            <a:off x="1600200" y="4224528"/>
            <a:ext cx="969264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Doi voluntari din fiecare tabără, câte un minut cu microfonul.</a:t>
            </a:r>
            <a:endParaRPr lang="en-US" sz="1700" dirty="0"/>
          </a:p>
        </p:txBody>
      </p:sp>
      <p:sp>
        <p:nvSpPr>
          <p:cNvPr id="18" name="Shape 16"/>
          <p:cNvSpPr/>
          <p:nvPr/>
        </p:nvSpPr>
        <p:spPr>
          <a:xfrm>
            <a:off x="594360" y="5065776"/>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19" name="Shape 17"/>
          <p:cNvSpPr/>
          <p:nvPr/>
        </p:nvSpPr>
        <p:spPr>
          <a:xfrm>
            <a:off x="914400" y="5221224"/>
            <a:ext cx="420624" cy="420624"/>
          </a:xfrm>
          <a:prstGeom prst="ellipse">
            <a:avLst/>
          </a:prstGeom>
          <a:solidFill>
            <a:srgbClr val="FF4757"/>
          </a:solidFill>
          <a:ln/>
        </p:spPr>
        <p:txBody>
          <a:bodyPr/>
          <a:p/>
        </p:txBody>
      </p:sp>
      <p:sp>
        <p:nvSpPr>
          <p:cNvPr id="20" name="Text 18"/>
          <p:cNvSpPr/>
          <p:nvPr/>
        </p:nvSpPr>
        <p:spPr>
          <a:xfrm>
            <a:off x="914400" y="522122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21" name="Text 19"/>
          <p:cNvSpPr/>
          <p:nvPr/>
        </p:nvSpPr>
        <p:spPr>
          <a:xfrm>
            <a:off x="1600200" y="5065776"/>
            <a:ext cx="969264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Apoi același vot. Contează cât s-a mutat votul, nu cine „a câștigat”.</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DUPĂ</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DUPĂ DEZBATERE</a:t>
            </a:r>
            <a:endParaRPr lang="en-US" sz="1300" dirty="0"/>
          </a:p>
        </p:txBody>
      </p:sp>
      <p:sp>
        <p:nvSpPr>
          <p:cNvPr id="5" name="Shape 3"/>
          <p:cNvSpPr/>
          <p:nvPr/>
        </p:nvSpPr>
        <p:spPr>
          <a:xfrm>
            <a:off x="594360" y="914400"/>
            <a:ext cx="7635240" cy="2743200"/>
          </a:xfrm>
          <a:prstGeom prst="roundRect">
            <a:avLst>
              <a:gd name="adj" fmla="val 3000"/>
            </a:avLst>
          </a:prstGeom>
          <a:solidFill>
            <a:srgbClr val="1D1F2B"/>
          </a:solidFill>
          <a:ln w="12700">
            <a:solidFill>
              <a:srgbClr val="1D1F2B"/>
            </a:solidFill>
            <a:prstDash val="solid"/>
          </a:ln>
        </p:spPr>
        <p:txBody>
          <a:bodyPr/>
          <a:p/>
        </p:txBody>
      </p:sp>
      <p:sp>
        <p:nvSpPr>
          <p:cNvPr id="6" name="Text 4"/>
          <p:cNvSpPr/>
          <p:nvPr/>
        </p:nvSpPr>
        <p:spPr>
          <a:xfrm>
            <a:off x="914400" y="914400"/>
            <a:ext cx="7040880" cy="2743200"/>
          </a:xfrm>
          <a:prstGeom prst="rect">
            <a:avLst/>
          </a:prstGeom>
          <a:noFill/>
          <a:ln/>
        </p:spPr>
        <p:txBody>
          <a:bodyPr wrap="square" lIns="0" tIns="0" rIns="0" bIns="0" rtlCol="0" anchor="ctr"/>
          <a:lstStyle/>
          <a:p>
            <a:pPr indent="0" marL="0">
              <a:buNone/>
            </a:pPr>
            <a:r>
              <a:rPr lang="en-US" sz="2100" b="1" i="1" dirty="0">
                <a:solidFill>
                  <a:srgbClr val="FFFFFF"/>
                </a:solidFill>
                <a:latin typeface="Palatino Linotype" pitchFamily="34" charset="0"/>
                <a:ea typeface="Palatino Linotype" pitchFamily="34" charset="-122"/>
                <a:cs typeface="Palatino Linotype" pitchFamily="34" charset="-120"/>
              </a:rPr>
              <a:t>„Într-o epidemie gravă, autoritatea de sănătate publică ar trebui să poată folosi datele de localizare ale telefoanelor, fără acordul fiecărei persoane.”</a:t>
            </a:r>
            <a:endParaRPr lang="en-US" sz="2100" dirty="0"/>
          </a:p>
        </p:txBody>
      </p:sp>
      <p:sp>
        <p:nvSpPr>
          <p:cNvPr id="7" name="Shape 5"/>
          <p:cNvSpPr/>
          <p:nvPr/>
        </p:nvSpPr>
        <p:spPr>
          <a:xfrm>
            <a:off x="594360" y="3886200"/>
            <a:ext cx="7635240" cy="658368"/>
          </a:xfrm>
          <a:prstGeom prst="roundRect">
            <a:avLst>
              <a:gd name="adj" fmla="val 12500"/>
            </a:avLst>
          </a:prstGeom>
          <a:solidFill>
            <a:srgbClr val="1D1F2B"/>
          </a:solidFill>
          <a:ln w="12700">
            <a:solidFill>
              <a:srgbClr val="1D1F2B"/>
            </a:solidFill>
            <a:prstDash val="solid"/>
          </a:ln>
        </p:spPr>
        <p:txBody>
          <a:bodyPr/>
          <a:p/>
        </p:txBody>
      </p:sp>
      <p:sp>
        <p:nvSpPr>
          <p:cNvPr id="8" name="Shape 6"/>
          <p:cNvSpPr/>
          <p:nvPr/>
        </p:nvSpPr>
        <p:spPr>
          <a:xfrm>
            <a:off x="914400" y="4005072"/>
            <a:ext cx="420624" cy="420624"/>
          </a:xfrm>
          <a:prstGeom prst="ellipse">
            <a:avLst/>
          </a:prstGeom>
          <a:solidFill>
            <a:srgbClr val="FFC24B"/>
          </a:solidFill>
          <a:ln/>
        </p:spPr>
        <p:txBody>
          <a:bodyPr/>
          <a:p/>
        </p:txBody>
      </p:sp>
      <p:sp>
        <p:nvSpPr>
          <p:cNvPr id="9" name="Text 7"/>
          <p:cNvSpPr/>
          <p:nvPr/>
        </p:nvSpPr>
        <p:spPr>
          <a:xfrm>
            <a:off x="914400" y="40050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10" name="Text 8"/>
          <p:cNvSpPr/>
          <p:nvPr/>
        </p:nvSpPr>
        <p:spPr>
          <a:xfrm>
            <a:off x="1600200" y="3886200"/>
            <a:ext cx="6355080" cy="65836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Pentru</a:t>
            </a:r>
            <a:endParaRPr lang="en-US" sz="1800" dirty="0"/>
          </a:p>
        </p:txBody>
      </p:sp>
      <p:sp>
        <p:nvSpPr>
          <p:cNvPr id="11" name="Shape 9"/>
          <p:cNvSpPr/>
          <p:nvPr/>
        </p:nvSpPr>
        <p:spPr>
          <a:xfrm>
            <a:off x="594360" y="4663440"/>
            <a:ext cx="7635240" cy="658368"/>
          </a:xfrm>
          <a:prstGeom prst="roundRect">
            <a:avLst>
              <a:gd name="adj" fmla="val 12500"/>
            </a:avLst>
          </a:prstGeom>
          <a:solidFill>
            <a:srgbClr val="1D1F2B"/>
          </a:solidFill>
          <a:ln w="12700">
            <a:solidFill>
              <a:srgbClr val="1D1F2B"/>
            </a:solidFill>
            <a:prstDash val="solid"/>
          </a:ln>
        </p:spPr>
        <p:txBody>
          <a:bodyPr/>
          <a:p/>
        </p:txBody>
      </p:sp>
      <p:sp>
        <p:nvSpPr>
          <p:cNvPr id="12" name="Shape 10"/>
          <p:cNvSpPr/>
          <p:nvPr/>
        </p:nvSpPr>
        <p:spPr>
          <a:xfrm>
            <a:off x="914400" y="4782312"/>
            <a:ext cx="420624" cy="420624"/>
          </a:xfrm>
          <a:prstGeom prst="ellipse">
            <a:avLst/>
          </a:prstGeom>
          <a:solidFill>
            <a:srgbClr val="FFC24B"/>
          </a:solidFill>
          <a:ln/>
        </p:spPr>
        <p:txBody>
          <a:bodyPr/>
          <a:p/>
        </p:txBody>
      </p:sp>
      <p:sp>
        <p:nvSpPr>
          <p:cNvPr id="13" name="Text 11"/>
          <p:cNvSpPr/>
          <p:nvPr/>
        </p:nvSpPr>
        <p:spPr>
          <a:xfrm>
            <a:off x="914400" y="478231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4" name="Text 12"/>
          <p:cNvSpPr/>
          <p:nvPr/>
        </p:nvSpPr>
        <p:spPr>
          <a:xfrm>
            <a:off x="1600200" y="4663440"/>
            <a:ext cx="6355080" cy="65836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Împotrivă</a:t>
            </a:r>
            <a:endParaRPr lang="en-US" sz="1800" dirty="0"/>
          </a:p>
        </p:txBody>
      </p:sp>
      <p:sp>
        <p:nvSpPr>
          <p:cNvPr id="15" name="Shape 13"/>
          <p:cNvSpPr/>
          <p:nvPr/>
        </p:nvSpPr>
        <p:spPr>
          <a:xfrm>
            <a:off x="8503920" y="91440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17" name="Text 15"/>
          <p:cNvSpPr/>
          <p:nvPr/>
        </p:nvSpPr>
        <p:spPr>
          <a:xfrm>
            <a:off x="594360" y="553212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 Contează cât s-a mutat votul.</a:t>
            </a:r>
            <a:endParaRPr lang="en-US" sz="1500" dirty="0"/>
          </a:p>
        </p:txBody>
      </p:sp>
      <p:pic>
        <p:nvPicPr>
          <p:cNvPr id="18" name="Picture 17" descr="Mentimeter_OPT_DETECTIVI_C04.png"/>
          <p:cNvPicPr>
            <a:picLocks noChangeAspect="1"/>
          </p:cNvPicPr>
          <p:nvPr/>
        </p:nvPicPr>
        <p:blipFill>
          <a:blip r:embed="rId3"/>
          <a:stretch>
            <a:fillRect/>
          </a:stretch>
        </p:blipFill>
        <p:spPr>
          <a:xfrm>
            <a:off x="8817610" y="914400"/>
            <a:ext cx="2435860" cy="2435860"/>
          </a:xfrm>
          <a:prstGeom prst="rect">
            <a:avLst/>
          </a:prstGeom>
        </p:spPr>
      </p:pic>
      <p:sp>
        <p:nvSpPr>
          <p:cNvPr id="19" name="TextBox 18"/>
          <p:cNvSpPr txBox="1"/>
          <p:nvPr/>
        </p:nvSpPr>
        <p:spPr>
          <a:xfrm>
            <a:off x="8503920" y="338836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POVESTEA A PATRA · MEDICUL CARE DECLARĂ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nu spun semnalele noi</a:t>
            </a:r>
            <a:endParaRPr lang="en-US" sz="3400" dirty="0"/>
          </a:p>
        </p:txBody>
      </p:sp>
      <p:sp>
        <p:nvSpPr>
          <p:cNvPr id="4" name="Shape 2"/>
          <p:cNvSpPr/>
          <p:nvPr/>
        </p:nvSpPr>
        <p:spPr>
          <a:xfrm>
            <a:off x="594360" y="1691640"/>
            <a:ext cx="5394960" cy="2468880"/>
          </a:xfrm>
          <a:prstGeom prst="roundRect">
            <a:avLst>
              <a:gd name="adj" fmla="val 3333"/>
            </a:avLst>
          </a:prstGeom>
          <a:solidFill>
            <a:srgbClr val="1D1F2B"/>
          </a:solidFill>
          <a:ln w="12700">
            <a:solidFill>
              <a:srgbClr val="1D1F2B"/>
            </a:solidFill>
            <a:prstDash val="solid"/>
          </a:ln>
        </p:spPr>
        <p:txBody>
          <a:bodyPr/>
          <a:p/>
        </p:txBody>
      </p:sp>
      <p:sp>
        <p:nvSpPr>
          <p:cNvPr id="5" name="Text 3"/>
          <p:cNvSpPr/>
          <p:nvPr/>
        </p:nvSpPr>
        <p:spPr>
          <a:xfrm>
            <a:off x="868680" y="1828800"/>
            <a:ext cx="4846320" cy="502920"/>
          </a:xfrm>
          <a:prstGeom prst="rect">
            <a:avLst/>
          </a:prstGeom>
          <a:noFill/>
          <a:ln/>
        </p:spPr>
        <p:txBody>
          <a:bodyPr wrap="square" lIns="0" tIns="0" rIns="0" bIns="0" rtlCol="0" anchor="t"/>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Apele uzate din Londra</a:t>
            </a:r>
            <a:endParaRPr lang="en-US" sz="2000" dirty="0"/>
          </a:p>
        </p:txBody>
      </p:sp>
      <p:sp>
        <p:nvSpPr>
          <p:cNvPr id="6" name="Text 4"/>
          <p:cNvSpPr/>
          <p:nvPr/>
        </p:nvSpPr>
        <p:spPr>
          <a:xfrm>
            <a:off x="868680" y="2423160"/>
            <a:ext cx="4846320" cy="164592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Au spus că virusul circulă. Nu au spus care copil e nevaccinat, care e bolnav, care are nevoie de tratament.</a:t>
            </a:r>
            <a:endParaRPr lang="en-US" sz="1800" dirty="0"/>
          </a:p>
        </p:txBody>
      </p:sp>
      <p:sp>
        <p:nvSpPr>
          <p:cNvPr id="7" name="Shape 5"/>
          <p:cNvSpPr/>
          <p:nvPr/>
        </p:nvSpPr>
        <p:spPr>
          <a:xfrm>
            <a:off x="6172200" y="1691640"/>
            <a:ext cx="5394960" cy="2468880"/>
          </a:xfrm>
          <a:prstGeom prst="roundRect">
            <a:avLst>
              <a:gd name="adj" fmla="val 3333"/>
            </a:avLst>
          </a:prstGeom>
          <a:solidFill>
            <a:srgbClr val="1D1F2B"/>
          </a:solidFill>
          <a:ln w="12700">
            <a:solidFill>
              <a:srgbClr val="1D1F2B"/>
            </a:solidFill>
            <a:prstDash val="solid"/>
          </a:ln>
        </p:spPr>
        <p:txBody>
          <a:bodyPr/>
          <a:p/>
        </p:txBody>
      </p:sp>
      <p:sp>
        <p:nvSpPr>
          <p:cNvPr id="8" name="Text 6"/>
          <p:cNvSpPr/>
          <p:nvPr/>
        </p:nvSpPr>
        <p:spPr>
          <a:xfrm>
            <a:off x="6446520" y="1828800"/>
            <a:ext cx="4846320" cy="502920"/>
          </a:xfrm>
          <a:prstGeom prst="rect">
            <a:avLst/>
          </a:prstGeom>
          <a:noFill/>
          <a:ln/>
        </p:spPr>
        <p:txBody>
          <a:bodyPr wrap="square" lIns="0" tIns="0" rIns="0" bIns="0" rtlCol="0" anchor="t"/>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Căutările pe internet</a:t>
            </a:r>
            <a:endParaRPr lang="en-US" sz="2000" dirty="0"/>
          </a:p>
        </p:txBody>
      </p:sp>
      <p:sp>
        <p:nvSpPr>
          <p:cNvPr id="9" name="Text 7"/>
          <p:cNvSpPr/>
          <p:nvPr/>
        </p:nvSpPr>
        <p:spPr>
          <a:xfrm>
            <a:off x="6446520" y="2423160"/>
            <a:ext cx="4846320" cy="164592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Au spus, uneori, că a venit gripa. Nu au spus cine a murit de ea.</a:t>
            </a:r>
            <a:endParaRPr lang="en-US" sz="1800" dirty="0"/>
          </a:p>
        </p:txBody>
      </p:sp>
      <p:sp>
        <p:nvSpPr>
          <p:cNvPr id="10" name="Shape 8"/>
          <p:cNvSpPr/>
          <p:nvPr/>
        </p:nvSpPr>
        <p:spPr>
          <a:xfrm>
            <a:off x="594360" y="4434840"/>
            <a:ext cx="10972800" cy="1371600"/>
          </a:xfrm>
          <a:prstGeom prst="roundRect">
            <a:avLst>
              <a:gd name="adj" fmla="val 6000"/>
            </a:avLst>
          </a:prstGeom>
          <a:solidFill>
            <a:srgbClr val="07564B"/>
          </a:solidFill>
          <a:ln w="12700">
            <a:solidFill>
              <a:srgbClr val="07564B"/>
            </a:solidFill>
            <a:prstDash val="solid"/>
          </a:ln>
        </p:spPr>
        <p:txBody>
          <a:bodyPr/>
          <a:p/>
        </p:txBody>
      </p:sp>
      <p:sp>
        <p:nvSpPr>
          <p:cNvPr id="11" name="Text 9"/>
          <p:cNvSpPr/>
          <p:nvPr/>
        </p:nvSpPr>
        <p:spPr>
          <a:xfrm>
            <a:off x="914400" y="4434840"/>
            <a:ext cx="10332720" cy="1371600"/>
          </a:xfrm>
          <a:prstGeom prst="rect">
            <a:avLst/>
          </a:prstGeom>
          <a:noFill/>
          <a:ln/>
        </p:spPr>
        <p:txBody>
          <a:bodyPr wrap="square" lIns="0" tIns="0" rIns="0" bIns="0" rtlCol="0" anchor="ctr"/>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Pentru toate acestea e nevoie de un medic care examinează un pacient, cere o probă, pune un diagnostic și îl declară.</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5F2"/>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OPT_DETECTIVI/active/img/formulare_focar_cdc_phil31353.jpg">    </p:cNvPr>
          <p:cNvPicPr>
            <a:picLocks noChangeAspect="1"/>
          </p:cNvPicPr>
          <p:nvPr/>
        </p:nvPicPr>
        <p:blipFill>
          <a:blip r:embed="rId1"/>
          <a:srcRect l="0" r="0" t="0" b="0"/>
          <a:stretch/>
        </p:blipFill>
        <p:spPr>
          <a:xfrm>
            <a:off x="7726680" y="0"/>
            <a:ext cx="4462272" cy="5577840"/>
          </a:xfrm>
          <a:prstGeom prst="rect">
            <a:avLst/>
          </a:prstGeom>
        </p:spPr>
      </p:pic>
      <p:sp>
        <p:nvSpPr>
          <p:cNvPr id="3" name="Text 0"/>
          <p:cNvSpPr/>
          <p:nvPr/>
        </p:nvSpPr>
        <p:spPr>
          <a:xfrm>
            <a:off x="7818120" y="5623560"/>
            <a:ext cx="4297680" cy="219456"/>
          </a:xfrm>
          <a:prstGeom prst="rect">
            <a:avLst/>
          </a:prstGeom>
          <a:noFill/>
          <a:ln/>
        </p:spPr>
        <p:txBody>
          <a:bodyPr wrap="square" lIns="0" tIns="0" rIns="0" bIns="0" rtlCol="0" anchor="ctr"/>
          <a:lstStyle/>
          <a:p>
            <a:pPr algn="l" indent="0" marL="0">
              <a:buNone/>
            </a:pPr>
            <a:r>
              <a:rPr lang="en-US" sz="850" i="1" dirty="0">
                <a:solidFill>
                  <a:srgbClr val="585A64"/>
                </a:solidFill>
                <a:latin typeface="Palatino Linotype" pitchFamily="34" charset="0"/>
                <a:ea typeface="Palatino Linotype" pitchFamily="34" charset="-122"/>
                <a:cs typeface="Palatino Linotype" pitchFamily="34" charset="-120"/>
              </a:rPr>
              <a:t>Foto: CDC/Amy Nham · domeniu public · CDC PHIL</a:t>
            </a:r>
            <a:endParaRPr lang="en-US" sz="850" dirty="0"/>
          </a:p>
        </p:txBody>
      </p:sp>
      <p:sp>
        <p:nvSpPr>
          <p:cNvPr id="4" name="Text 1"/>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UNDE ÎNCEPE LANȚUL</a:t>
            </a:r>
            <a:endParaRPr lang="en-US" sz="1300" dirty="0"/>
          </a:p>
        </p:txBody>
      </p:sp>
      <p:sp>
        <p:nvSpPr>
          <p:cNvPr id="5" name="Text 2"/>
          <p:cNvSpPr/>
          <p:nvPr/>
        </p:nvSpPr>
        <p:spPr>
          <a:xfrm>
            <a:off x="594360" y="731520"/>
            <a:ext cx="6858000" cy="91440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Fișa de declarare: intrarea în sistem</a:t>
            </a:r>
            <a:endParaRPr lang="en-US" sz="3000" dirty="0"/>
          </a:p>
        </p:txBody>
      </p:sp>
      <p:sp>
        <p:nvSpPr>
          <p:cNvPr id="6" name="Text 3"/>
          <p:cNvSpPr/>
          <p:nvPr/>
        </p:nvSpPr>
        <p:spPr>
          <a:xfrm>
            <a:off x="594360" y="1783080"/>
            <a:ext cx="6858000" cy="173736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Între bolnav și cifra oficială: medicul, proba, testul, raportarea. Apele uzate ocolesc primele trepte; fără ultimele, nimeni nu ar ști ce boală este.</a:t>
            </a:r>
            <a:endParaRPr lang="en-US" sz="1700" dirty="0"/>
          </a:p>
        </p:txBody>
      </p:sp>
      <p:sp>
        <p:nvSpPr>
          <p:cNvPr id="7" name="Shape 4"/>
          <p:cNvSpPr/>
          <p:nvPr/>
        </p:nvSpPr>
        <p:spPr>
          <a:xfrm>
            <a:off x="594360" y="3611880"/>
            <a:ext cx="6858000" cy="1325880"/>
          </a:xfrm>
          <a:prstGeom prst="roundRect">
            <a:avLst>
              <a:gd name="adj" fmla="val 6207"/>
            </a:avLst>
          </a:prstGeom>
          <a:solidFill>
            <a:srgbClr val="ECEAE4"/>
          </a:solidFill>
          <a:ln w="12700">
            <a:solidFill>
              <a:srgbClr val="ECEAE4"/>
            </a:solidFill>
            <a:prstDash val="solid"/>
          </a:ln>
        </p:spPr>
        <p:txBody>
          <a:bodyPr/>
          <a:p/>
        </p:txBody>
      </p:sp>
      <p:sp>
        <p:nvSpPr>
          <p:cNvPr id="8" name="Text 5"/>
          <p:cNvSpPr/>
          <p:nvPr/>
        </p:nvSpPr>
        <p:spPr>
          <a:xfrm>
            <a:off x="868680" y="3611880"/>
            <a:ext cx="6309360" cy="13258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În România, datele despre bolile transmisibile se raportează după metodologia aprobată prin Hotărârea nr. 657/2022.</a:t>
            </a:r>
            <a:endParaRPr lang="en-US" sz="1600" dirty="0"/>
          </a:p>
        </p:txBody>
      </p:sp>
      <p:sp>
        <p:nvSpPr>
          <p:cNvPr id="9" name="Text 6"/>
          <p:cNvSpPr/>
          <p:nvPr/>
        </p:nvSpPr>
        <p:spPr>
          <a:xfrm>
            <a:off x="594360" y="5120640"/>
            <a:ext cx="6858000" cy="731520"/>
          </a:xfrm>
          <a:prstGeom prst="rect">
            <a:avLst/>
          </a:prstGeom>
          <a:noFill/>
          <a:ln/>
        </p:spPr>
        <p:txBody>
          <a:bodyPr wrap="square" lIns="0" tIns="0" rIns="0" bIns="0" rtlCol="0" anchor="t"/>
          <a:lstStyle/>
          <a:p>
            <a:pPr indent="0" marL="0">
              <a:buNone/>
            </a:pPr>
            <a:r>
              <a:rPr lang="en-US" sz="1500" i="1" dirty="0">
                <a:solidFill>
                  <a:srgbClr val="B02532"/>
                </a:solidFill>
                <a:latin typeface="Palatino Linotype" pitchFamily="34" charset="0"/>
                <a:ea typeface="Palatino Linotype" pitchFamily="34" charset="-122"/>
                <a:cs typeface="Palatino Linotype" pitchFamily="34" charset="-120"/>
              </a:rPr>
              <a:t>Dacă și cum ajung semnalele noi în același sistem, în România, nu s-a verificat.</a:t>
            </a:r>
            <a:endParaRPr lang="en-US" sz="1500" dirty="0"/>
          </a:p>
        </p:txBody>
      </p:sp>
      <p:sp>
        <p:nvSpPr>
          <p:cNvPr id="10" name="Text 7"/>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registru A508, A585.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JOC DE ROL, APOI VOT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DOI VOLUNTARI · TREI MINUTE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Al treilea student cu icter, din același cămin</a:t>
            </a:r>
            <a:endParaRPr lang="en-US" sz="3000" dirty="0"/>
          </a:p>
        </p:txBody>
      </p:sp>
      <p:sp>
        <p:nvSpPr>
          <p:cNvPr id="6" name="Shape 4"/>
          <p:cNvSpPr/>
          <p:nvPr/>
        </p:nvSpPr>
        <p:spPr>
          <a:xfrm>
            <a:off x="594360" y="1600200"/>
            <a:ext cx="7635240" cy="1417320"/>
          </a:xfrm>
          <a:prstGeom prst="roundRect">
            <a:avLst>
              <a:gd name="adj" fmla="val 5806"/>
            </a:avLst>
          </a:prstGeom>
          <a:solidFill>
            <a:srgbClr val="1D1F2B"/>
          </a:solidFill>
          <a:ln w="12700">
            <a:solidFill>
              <a:srgbClr val="1D1F2B"/>
            </a:solidFill>
            <a:prstDash val="solid"/>
          </a:ln>
        </p:spPr>
        <p:txBody>
          <a:bodyPr/>
          <a:p/>
        </p:txBody>
      </p:sp>
      <p:sp>
        <p:nvSpPr>
          <p:cNvPr id="7" name="Text 5"/>
          <p:cNvSpPr/>
          <p:nvPr/>
        </p:nvSpPr>
        <p:spPr>
          <a:xfrm>
            <a:off x="868680" y="1600200"/>
            <a:ext cx="2286000" cy="1417320"/>
          </a:xfrm>
          <a:prstGeom prst="rect">
            <a:avLst/>
          </a:prstGeom>
          <a:noFill/>
          <a:ln/>
        </p:spPr>
        <p:txBody>
          <a:bodyPr wrap="square" lIns="0" tIns="0" rIns="0" bIns="0" rtlCol="0" anchor="ctr"/>
          <a:lstStyle/>
          <a:p>
            <a:pPr indent="0" marL="0">
              <a:buNone/>
            </a:pPr>
            <a:r>
              <a:rPr lang="en-US" sz="1800" b="1" dirty="0">
                <a:solidFill>
                  <a:srgbClr val="FF4757"/>
                </a:solidFill>
                <a:latin typeface="Palatino Linotype" pitchFamily="34" charset="0"/>
                <a:ea typeface="Palatino Linotype" pitchFamily="34" charset="-122"/>
                <a:cs typeface="Palatino Linotype" pitchFamily="34" charset="-120"/>
              </a:rPr>
              <a:t>Rezidentul de gardă</a:t>
            </a:r>
            <a:endParaRPr lang="en-US" sz="1800" dirty="0"/>
          </a:p>
        </p:txBody>
      </p:sp>
      <p:sp>
        <p:nvSpPr>
          <p:cNvPr id="8" name="Text 6"/>
          <p:cNvSpPr/>
          <p:nvPr/>
        </p:nvSpPr>
        <p:spPr>
          <a:xfrm>
            <a:off x="3154680" y="1600200"/>
            <a:ext cx="4892040" cy="141732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Boli infecțioase. Tocmai a internat al treilea student din același cămin cu icter, în aceeași săptămână. Sună acum sau completează fișa mâine?</a:t>
            </a:r>
            <a:endParaRPr lang="en-US" sz="1600" dirty="0"/>
          </a:p>
        </p:txBody>
      </p:sp>
      <p:sp>
        <p:nvSpPr>
          <p:cNvPr id="9" name="Shape 7"/>
          <p:cNvSpPr/>
          <p:nvPr/>
        </p:nvSpPr>
        <p:spPr>
          <a:xfrm>
            <a:off x="594360" y="3154680"/>
            <a:ext cx="7635240" cy="731520"/>
          </a:xfrm>
          <a:prstGeom prst="roundRect">
            <a:avLst>
              <a:gd name="adj" fmla="val 11250"/>
            </a:avLst>
          </a:prstGeom>
          <a:solidFill>
            <a:srgbClr val="1D1F2B"/>
          </a:solidFill>
          <a:ln w="12700">
            <a:solidFill>
              <a:srgbClr val="1D1F2B"/>
            </a:solidFill>
            <a:prstDash val="solid"/>
          </a:ln>
        </p:spPr>
        <p:txBody>
          <a:bodyPr/>
          <a:p/>
        </p:txBody>
      </p:sp>
      <p:sp>
        <p:nvSpPr>
          <p:cNvPr id="10" name="Text 8"/>
          <p:cNvSpPr/>
          <p:nvPr/>
        </p:nvSpPr>
        <p:spPr>
          <a:xfrm>
            <a:off x="868680" y="3154680"/>
            <a:ext cx="2286000" cy="731520"/>
          </a:xfrm>
          <a:prstGeom prst="rect">
            <a:avLst/>
          </a:prstGeom>
          <a:noFill/>
          <a:ln/>
        </p:spPr>
        <p:txBody>
          <a:bodyPr wrap="square" lIns="0" tIns="0" rIns="0" bIns="0" rtlCol="0" anchor="ctr"/>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Medicul de la DSP</a:t>
            </a:r>
            <a:endParaRPr lang="en-US" sz="1800" dirty="0"/>
          </a:p>
        </p:txBody>
      </p:sp>
      <p:sp>
        <p:nvSpPr>
          <p:cNvPr id="11" name="Text 9"/>
          <p:cNvSpPr/>
          <p:nvPr/>
        </p:nvSpPr>
        <p:spPr>
          <a:xfrm>
            <a:off x="3154680" y="3154680"/>
            <a:ext cx="4892040" cy="73152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Pune trei întrebări.</a:t>
            </a:r>
            <a:endParaRPr lang="en-US" sz="1600" dirty="0"/>
          </a:p>
        </p:txBody>
      </p:sp>
      <p:sp>
        <p:nvSpPr>
          <p:cNvPr id="12" name="Text 10"/>
          <p:cNvSpPr/>
          <p:nvPr/>
        </p:nvSpPr>
        <p:spPr>
          <a:xfrm>
            <a:off x="594360" y="4114800"/>
            <a:ext cx="7635240" cy="548640"/>
          </a:xfrm>
          <a:prstGeom prst="rect">
            <a:avLst/>
          </a:prstGeom>
          <a:noFill/>
          <a:ln/>
        </p:spPr>
        <p:txBody>
          <a:bodyPr wrap="square" lIns="0" tIns="0" rIns="0" bIns="0" rtlCol="0" anchor="t"/>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A făcut bine rezidentul că a sunat în aceeași seară?</a:t>
            </a:r>
            <a:endParaRPr lang="en-US" sz="1800" dirty="0"/>
          </a:p>
        </p:txBody>
      </p:sp>
      <p:sp>
        <p:nvSpPr>
          <p:cNvPr id="13" name="Shape 11"/>
          <p:cNvSpPr/>
          <p:nvPr/>
        </p:nvSpPr>
        <p:spPr>
          <a:xfrm>
            <a:off x="594360" y="4800600"/>
            <a:ext cx="2377440" cy="329184"/>
          </a:xfrm>
          <a:prstGeom prst="roundRect">
            <a:avLst>
              <a:gd name="adj" fmla="val 50000"/>
            </a:avLst>
          </a:prstGeom>
          <a:solidFill>
            <a:srgbClr val="272A38"/>
          </a:solidFill>
          <a:ln w="12700">
            <a:solidFill>
              <a:srgbClr val="272A38"/>
            </a:solidFill>
            <a:prstDash val="solid"/>
          </a:ln>
        </p:spPr>
        <p:txBody>
          <a:bodyPr/>
          <a:p/>
        </p:txBody>
      </p:sp>
      <p:sp>
        <p:nvSpPr>
          <p:cNvPr id="14" name="Text 12"/>
          <p:cNvSpPr/>
          <p:nvPr/>
        </p:nvSpPr>
        <p:spPr>
          <a:xfrm>
            <a:off x="594360" y="4800600"/>
            <a:ext cx="23774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Da</a:t>
            </a:r>
            <a:endParaRPr lang="en-US" sz="1400" dirty="0"/>
          </a:p>
        </p:txBody>
      </p:sp>
      <p:sp>
        <p:nvSpPr>
          <p:cNvPr id="15" name="Shape 13"/>
          <p:cNvSpPr/>
          <p:nvPr/>
        </p:nvSpPr>
        <p:spPr>
          <a:xfrm>
            <a:off x="3200400" y="4800600"/>
            <a:ext cx="2377440" cy="329184"/>
          </a:xfrm>
          <a:prstGeom prst="roundRect">
            <a:avLst>
              <a:gd name="adj" fmla="val 50000"/>
            </a:avLst>
          </a:prstGeom>
          <a:solidFill>
            <a:srgbClr val="272A38"/>
          </a:solidFill>
          <a:ln w="12700">
            <a:solidFill>
              <a:srgbClr val="272A38"/>
            </a:solidFill>
            <a:prstDash val="solid"/>
          </a:ln>
        </p:spPr>
        <p:txBody>
          <a:bodyPr/>
          <a:p/>
        </p:txBody>
      </p:sp>
      <p:sp>
        <p:nvSpPr>
          <p:cNvPr id="16" name="Text 14"/>
          <p:cNvSpPr/>
          <p:nvPr/>
        </p:nvSpPr>
        <p:spPr>
          <a:xfrm>
            <a:off x="3200400" y="4800600"/>
            <a:ext cx="23774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Nu, ajungea fișa</a:t>
            </a:r>
            <a:endParaRPr lang="en-US" sz="1400" dirty="0"/>
          </a:p>
        </p:txBody>
      </p:sp>
      <p:sp>
        <p:nvSpPr>
          <p:cNvPr id="17" name="Shape 15"/>
          <p:cNvSpPr/>
          <p:nvPr/>
        </p:nvSpPr>
        <p:spPr>
          <a:xfrm>
            <a:off x="5806440" y="4800600"/>
            <a:ext cx="2377440" cy="329184"/>
          </a:xfrm>
          <a:prstGeom prst="roundRect">
            <a:avLst>
              <a:gd name="adj" fmla="val 50000"/>
            </a:avLst>
          </a:prstGeom>
          <a:solidFill>
            <a:srgbClr val="272A38"/>
          </a:solidFill>
          <a:ln w="12700">
            <a:solidFill>
              <a:srgbClr val="272A38"/>
            </a:solidFill>
            <a:prstDash val="solid"/>
          </a:ln>
        </p:spPr>
        <p:txBody>
          <a:bodyPr/>
          <a:p/>
        </p:txBody>
      </p:sp>
      <p:sp>
        <p:nvSpPr>
          <p:cNvPr id="18" name="Text 16"/>
          <p:cNvSpPr/>
          <p:nvPr/>
        </p:nvSpPr>
        <p:spPr>
          <a:xfrm>
            <a:off x="5806440" y="4800600"/>
            <a:ext cx="23774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Nu știu</a:t>
            </a:r>
            <a:endParaRPr lang="en-US" sz="1400" dirty="0"/>
          </a:p>
        </p:txBody>
      </p:sp>
      <p:sp>
        <p:nvSpPr>
          <p:cNvPr id="19" name="Shape 17"/>
          <p:cNvSpPr/>
          <p:nvPr/>
        </p:nvSpPr>
        <p:spPr>
          <a:xfrm>
            <a:off x="8503920" y="160020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1" name="Text 19"/>
          <p:cNvSpPr/>
          <p:nvPr/>
        </p:nvSpPr>
        <p:spPr>
          <a:xfrm>
            <a:off x="594360" y="553212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pic>
        <p:nvPicPr>
          <p:cNvPr id="22" name="Picture 21" descr="Mentimeter_OPT_DETECTIVI_C04.png"/>
          <p:cNvPicPr>
            <a:picLocks noChangeAspect="1"/>
          </p:cNvPicPr>
          <p:nvPr/>
        </p:nvPicPr>
        <p:blipFill>
          <a:blip r:embed="rId3"/>
          <a:stretch>
            <a:fillRect/>
          </a:stretch>
        </p:blipFill>
        <p:spPr>
          <a:xfrm>
            <a:off x="8817610" y="1600200"/>
            <a:ext cx="2435860" cy="2435860"/>
          </a:xfrm>
          <a:prstGeom prst="rect">
            <a:avLst/>
          </a:prstGeom>
        </p:spPr>
      </p:pic>
      <p:sp>
        <p:nvSpPr>
          <p:cNvPr id="23" name="TextBox 22"/>
          <p:cNvSpPr txBox="1"/>
          <p:nvPr/>
        </p:nvSpPr>
        <p:spPr>
          <a:xfrm>
            <a:off x="8503920" y="407416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UNDE S-A MUTAT DECIZIA, PÂNĂ LA URMĂ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De la un singur om la un lanț</a:t>
            </a:r>
            <a:endParaRPr lang="en-US" sz="3200" dirty="0"/>
          </a:p>
        </p:txBody>
      </p:sp>
      <p:sp>
        <p:nvSpPr>
          <p:cNvPr id="4" name="Shape 2"/>
          <p:cNvSpPr/>
          <p:nvPr/>
        </p:nvSpPr>
        <p:spPr>
          <a:xfrm>
            <a:off x="594360" y="1691640"/>
            <a:ext cx="3520440" cy="2514600"/>
          </a:xfrm>
          <a:prstGeom prst="roundRect">
            <a:avLst>
              <a:gd name="adj" fmla="val 3273"/>
            </a:avLst>
          </a:prstGeom>
          <a:solidFill>
            <a:srgbClr val="F4E0E2"/>
          </a:solidFill>
          <a:ln w="12700">
            <a:solidFill>
              <a:srgbClr val="F4E0E2"/>
            </a:solidFill>
            <a:prstDash val="solid"/>
          </a:ln>
        </p:spPr>
        <p:txBody>
          <a:bodyPr/>
          <a:p/>
        </p:txBody>
      </p:sp>
      <p:sp>
        <p:nvSpPr>
          <p:cNvPr id="5" name="Text 3"/>
          <p:cNvSpPr/>
          <p:nvPr/>
        </p:nvSpPr>
        <p:spPr>
          <a:xfrm>
            <a:off x="868680" y="1828800"/>
            <a:ext cx="3017520" cy="548640"/>
          </a:xfrm>
          <a:prstGeom prst="rect">
            <a:avLst/>
          </a:prstGeom>
          <a:noFill/>
          <a:ln/>
        </p:spPr>
        <p:txBody>
          <a:bodyPr wrap="square" lIns="0" tIns="0" rIns="0" bIns="0" rtlCol="0" anchor="t"/>
          <a:lstStyle/>
          <a:p>
            <a:pPr indent="0" marL="0">
              <a:buNone/>
            </a:pPr>
            <a:r>
              <a:rPr lang="en-US" sz="2400" b="1" dirty="0">
                <a:solidFill>
                  <a:srgbClr val="B02532"/>
                </a:solidFill>
                <a:latin typeface="Palatino Linotype" pitchFamily="34" charset="0"/>
                <a:ea typeface="Palatino Linotype" pitchFamily="34" charset="-122"/>
                <a:cs typeface="Palatino Linotype" pitchFamily="34" charset="-120"/>
              </a:rPr>
              <a:t>Semnalul</a:t>
            </a:r>
            <a:endParaRPr lang="en-US" sz="2400" dirty="0"/>
          </a:p>
        </p:txBody>
      </p:sp>
      <p:sp>
        <p:nvSpPr>
          <p:cNvPr id="6" name="Text 4"/>
          <p:cNvSpPr/>
          <p:nvPr/>
        </p:nvSpPr>
        <p:spPr>
          <a:xfrm>
            <a:off x="868680" y="2468880"/>
            <a:ext cx="301752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vine din cabinete, laboratoare, canalizare, telefoane, căutări</a:t>
            </a:r>
            <a:endParaRPr lang="en-US" sz="1600" dirty="0"/>
          </a:p>
        </p:txBody>
      </p:sp>
      <p:sp>
        <p:nvSpPr>
          <p:cNvPr id="7" name="Shape 5"/>
          <p:cNvSpPr/>
          <p:nvPr/>
        </p:nvSpPr>
        <p:spPr>
          <a:xfrm>
            <a:off x="4343400" y="1691640"/>
            <a:ext cx="3520440" cy="2514600"/>
          </a:xfrm>
          <a:prstGeom prst="roundRect">
            <a:avLst>
              <a:gd name="adj" fmla="val 3273"/>
            </a:avLst>
          </a:prstGeom>
          <a:solidFill>
            <a:srgbClr val="F6EDD5"/>
          </a:solidFill>
          <a:ln w="12700">
            <a:solidFill>
              <a:srgbClr val="F6EDD5"/>
            </a:solidFill>
            <a:prstDash val="solid"/>
          </a:ln>
        </p:spPr>
        <p:txBody>
          <a:bodyPr/>
          <a:p/>
        </p:txBody>
      </p:sp>
      <p:sp>
        <p:nvSpPr>
          <p:cNvPr id="8" name="Text 6"/>
          <p:cNvSpPr/>
          <p:nvPr/>
        </p:nvSpPr>
        <p:spPr>
          <a:xfrm>
            <a:off x="4617720" y="1828800"/>
            <a:ext cx="3017520" cy="548640"/>
          </a:xfrm>
          <a:prstGeom prst="rect">
            <a:avLst/>
          </a:prstGeom>
          <a:noFill/>
          <a:ln/>
        </p:spPr>
        <p:txBody>
          <a:bodyPr wrap="square" lIns="0" tIns="0" rIns="0" bIns="0" rtlCol="0" anchor="t"/>
          <a:lstStyle/>
          <a:p>
            <a:pPr indent="0" marL="0">
              <a:buNone/>
            </a:pPr>
            <a:r>
              <a:rPr lang="en-US" sz="2400" b="1" dirty="0">
                <a:solidFill>
                  <a:srgbClr val="8A6100"/>
                </a:solidFill>
                <a:latin typeface="Palatino Linotype" pitchFamily="34" charset="0"/>
                <a:ea typeface="Palatino Linotype" pitchFamily="34" charset="-122"/>
                <a:cs typeface="Palatino Linotype" pitchFamily="34" charset="-120"/>
              </a:rPr>
              <a:t>Argumentul</a:t>
            </a:r>
            <a:endParaRPr lang="en-US" sz="2400" dirty="0"/>
          </a:p>
        </p:txBody>
      </p:sp>
      <p:sp>
        <p:nvSpPr>
          <p:cNvPr id="9" name="Text 7"/>
          <p:cNvSpPr/>
          <p:nvPr/>
        </p:nvSpPr>
        <p:spPr>
          <a:xfrm>
            <a:off x="4617720" y="2468880"/>
            <a:ext cx="301752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îl construiesc echipe: laboratorul, epidemiologul, statisticianul</a:t>
            </a:r>
            <a:endParaRPr lang="en-US" sz="1600" dirty="0"/>
          </a:p>
        </p:txBody>
      </p:sp>
      <p:sp>
        <p:nvSpPr>
          <p:cNvPr id="10" name="Shape 8"/>
          <p:cNvSpPr/>
          <p:nvPr/>
        </p:nvSpPr>
        <p:spPr>
          <a:xfrm>
            <a:off x="8092440" y="1691640"/>
            <a:ext cx="3520440" cy="2514600"/>
          </a:xfrm>
          <a:prstGeom prst="roundRect">
            <a:avLst>
              <a:gd name="adj" fmla="val 3273"/>
            </a:avLst>
          </a:prstGeom>
          <a:solidFill>
            <a:srgbClr val="E1F0EC"/>
          </a:solidFill>
          <a:ln w="12700">
            <a:solidFill>
              <a:srgbClr val="E1F0EC"/>
            </a:solidFill>
            <a:prstDash val="solid"/>
          </a:ln>
        </p:spPr>
        <p:txBody>
          <a:bodyPr/>
          <a:p/>
        </p:txBody>
      </p:sp>
      <p:sp>
        <p:nvSpPr>
          <p:cNvPr id="11" name="Text 9"/>
          <p:cNvSpPr/>
          <p:nvPr/>
        </p:nvSpPr>
        <p:spPr>
          <a:xfrm>
            <a:off x="8366760" y="1828800"/>
            <a:ext cx="3017520" cy="548640"/>
          </a:xfrm>
          <a:prstGeom prst="rect">
            <a:avLst/>
          </a:prstGeom>
          <a:noFill/>
          <a:ln/>
        </p:spPr>
        <p:txBody>
          <a:bodyPr wrap="square" lIns="0" tIns="0" rIns="0" bIns="0" rtlCol="0" anchor="t"/>
          <a:lstStyle/>
          <a:p>
            <a:pPr indent="0" marL="0">
              <a:buNone/>
            </a:pPr>
            <a:r>
              <a:rPr lang="en-US" sz="2400" b="1" dirty="0">
                <a:solidFill>
                  <a:srgbClr val="0E7C6B"/>
                </a:solidFill>
                <a:latin typeface="Palatino Linotype" pitchFamily="34" charset="0"/>
                <a:ea typeface="Palatino Linotype" pitchFamily="34" charset="-122"/>
                <a:cs typeface="Palatino Linotype" pitchFamily="34" charset="-120"/>
              </a:rPr>
              <a:t>Decizia</a:t>
            </a:r>
            <a:endParaRPr lang="en-US" sz="2400" dirty="0"/>
          </a:p>
        </p:txBody>
      </p:sp>
      <p:sp>
        <p:nvSpPr>
          <p:cNvPr id="12" name="Text 10"/>
          <p:cNvSpPr/>
          <p:nvPr/>
        </p:nvSpPr>
        <p:spPr>
          <a:xfrm>
            <a:off x="8366760" y="2468880"/>
            <a:ext cx="3017520" cy="16459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 iau instituții, după reguli: la Londra, un comitet de experți, apoi serviciul public de sănătate</a:t>
            </a:r>
            <a:endParaRPr lang="en-US" sz="1600" dirty="0"/>
          </a:p>
        </p:txBody>
      </p:sp>
      <p:sp>
        <p:nvSpPr>
          <p:cNvPr id="13" name="Shape 11"/>
          <p:cNvSpPr/>
          <p:nvPr/>
        </p:nvSpPr>
        <p:spPr>
          <a:xfrm>
            <a:off x="594360" y="4434840"/>
            <a:ext cx="10972800" cy="1371600"/>
          </a:xfrm>
          <a:prstGeom prst="roundRect">
            <a:avLst>
              <a:gd name="adj" fmla="val 6000"/>
            </a:avLst>
          </a:prstGeom>
          <a:solidFill>
            <a:srgbClr val="11121A"/>
          </a:solidFill>
          <a:ln w="12700">
            <a:solidFill>
              <a:srgbClr val="11121A"/>
            </a:solidFill>
            <a:prstDash val="solid"/>
          </a:ln>
        </p:spPr>
        <p:txBody>
          <a:bodyPr/>
          <a:p/>
        </p:txBody>
      </p:sp>
      <p:sp>
        <p:nvSpPr>
          <p:cNvPr id="14" name="Text 12"/>
          <p:cNvSpPr/>
          <p:nvPr/>
        </p:nvSpPr>
        <p:spPr>
          <a:xfrm>
            <a:off x="914400" y="4434840"/>
            <a:ext cx="10332720" cy="1371600"/>
          </a:xfrm>
          <a:prstGeom prst="rect">
            <a:avLst/>
          </a:prstGeom>
          <a:noFill/>
          <a:ln/>
        </p:spPr>
        <p:txBody>
          <a:bodyPr wrap="square" lIns="0" tIns="0" rIns="0" bIns="0" rtlCol="0" anchor="ctr"/>
          <a:lstStyle/>
          <a:p>
            <a:pPr indent="0" marL="0">
              <a:buNone/>
            </a:pPr>
            <a:r>
              <a:rPr lang="en-US" sz="2100" b="1" dirty="0">
                <a:solidFill>
                  <a:srgbClr val="FFFFFF"/>
                </a:solidFill>
                <a:latin typeface="Palatino Linotype" pitchFamily="34" charset="0"/>
                <a:ea typeface="Palatino Linotype" pitchFamily="34" charset="-122"/>
                <a:cs typeface="Palatino Linotype" pitchFamily="34" charset="-120"/>
              </a:rPr>
              <a:t>Când există un bolnav, veriga voastră, cea de la patul lui, este prima și rămâne de neînlocuit.</a:t>
            </a:r>
            <a:endParaRPr lang="en-US" sz="2100" dirty="0"/>
          </a:p>
        </p:txBody>
      </p:sp>
      <p:sp>
        <p:nvSpPr>
          <p:cNvPr id="15" name="Text 13"/>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registru A002, A570, A588.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VOTUL DE LA ÎNCEPUT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Credeți în continuare toate cele trei părți ale răspunsului?</a:t>
            </a:r>
            <a:endParaRPr lang="en-US" sz="2800" dirty="0"/>
          </a:p>
        </p:txBody>
      </p:sp>
      <p:sp>
        <p:nvSpPr>
          <p:cNvPr id="6" name="Shape 4"/>
          <p:cNvSpPr/>
          <p:nvPr/>
        </p:nvSpPr>
        <p:spPr>
          <a:xfrm>
            <a:off x="594360" y="178308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947672"/>
            <a:ext cx="420624" cy="420624"/>
          </a:xfrm>
          <a:prstGeom prst="ellipse">
            <a:avLst/>
          </a:prstGeom>
          <a:solidFill>
            <a:srgbClr val="FFC24B"/>
          </a:solidFill>
          <a:ln/>
        </p:spPr>
        <p:txBody>
          <a:bodyPr/>
          <a:p/>
        </p:txBody>
      </p:sp>
      <p:sp>
        <p:nvSpPr>
          <p:cNvPr id="8" name="Text 6"/>
          <p:cNvSpPr/>
          <p:nvPr/>
        </p:nvSpPr>
        <p:spPr>
          <a:xfrm>
            <a:off x="914400" y="19476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783080"/>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Da, pe toate trei</a:t>
            </a:r>
            <a:endParaRPr lang="en-US" sz="1700" dirty="0"/>
          </a:p>
        </p:txBody>
      </p:sp>
      <p:sp>
        <p:nvSpPr>
          <p:cNvPr id="10" name="Shape 8"/>
          <p:cNvSpPr/>
          <p:nvPr/>
        </p:nvSpPr>
        <p:spPr>
          <a:xfrm>
            <a:off x="594360" y="2679192"/>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843784"/>
            <a:ext cx="420624" cy="420624"/>
          </a:xfrm>
          <a:prstGeom prst="ellipse">
            <a:avLst/>
          </a:prstGeom>
          <a:solidFill>
            <a:srgbClr val="FFC24B"/>
          </a:solidFill>
          <a:ln/>
        </p:spPr>
        <p:txBody>
          <a:bodyPr/>
          <a:p/>
        </p:txBody>
      </p:sp>
      <p:sp>
        <p:nvSpPr>
          <p:cNvPr id="12" name="Text 10"/>
          <p:cNvSpPr/>
          <p:nvPr/>
        </p:nvSpPr>
        <p:spPr>
          <a:xfrm>
            <a:off x="914400" y="284378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679192"/>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Nu cred că decizia a rămas la oameni</a:t>
            </a:r>
            <a:endParaRPr lang="en-US" sz="1700" dirty="0"/>
          </a:p>
        </p:txBody>
      </p:sp>
      <p:sp>
        <p:nvSpPr>
          <p:cNvPr id="14" name="Shape 12"/>
          <p:cNvSpPr/>
          <p:nvPr/>
        </p:nvSpPr>
        <p:spPr>
          <a:xfrm>
            <a:off x="594360" y="3575304"/>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739896"/>
            <a:ext cx="420624" cy="420624"/>
          </a:xfrm>
          <a:prstGeom prst="ellipse">
            <a:avLst/>
          </a:prstGeom>
          <a:solidFill>
            <a:srgbClr val="FFC24B"/>
          </a:solidFill>
          <a:ln/>
        </p:spPr>
        <p:txBody>
          <a:bodyPr/>
          <a:p/>
        </p:txBody>
      </p:sp>
      <p:sp>
        <p:nvSpPr>
          <p:cNvPr id="16" name="Text 14"/>
          <p:cNvSpPr/>
          <p:nvPr/>
        </p:nvSpPr>
        <p:spPr>
          <a:xfrm>
            <a:off x="914400" y="37398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575304"/>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Nu cred că medicul rămâne temelia</a:t>
            </a:r>
            <a:endParaRPr lang="en-US" sz="1700" dirty="0"/>
          </a:p>
        </p:txBody>
      </p:sp>
      <p:sp>
        <p:nvSpPr>
          <p:cNvPr id="18" name="Shape 16"/>
          <p:cNvSpPr/>
          <p:nvPr/>
        </p:nvSpPr>
        <p:spPr>
          <a:xfrm>
            <a:off x="594360" y="4471416"/>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914400" y="4636008"/>
            <a:ext cx="420624" cy="420624"/>
          </a:xfrm>
          <a:prstGeom prst="ellipse">
            <a:avLst/>
          </a:prstGeom>
          <a:solidFill>
            <a:srgbClr val="FFC24B"/>
          </a:solidFill>
          <a:ln/>
        </p:spPr>
        <p:txBody>
          <a:bodyPr/>
          <a:p/>
        </p:txBody>
      </p:sp>
      <p:sp>
        <p:nvSpPr>
          <p:cNvPr id="20" name="Text 18"/>
          <p:cNvSpPr/>
          <p:nvPr/>
        </p:nvSpPr>
        <p:spPr>
          <a:xfrm>
            <a:off x="914400" y="46360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471416"/>
            <a:ext cx="635508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Nu cred că semnalul s-a mutat</a:t>
            </a:r>
            <a:endParaRPr lang="en-US" sz="1700" dirty="0"/>
          </a:p>
        </p:txBody>
      </p:sp>
      <p:sp>
        <p:nvSpPr>
          <p:cNvPr id="22" name="Shape 20"/>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4" name="Text 22"/>
          <p:cNvSpPr/>
          <p:nvPr/>
        </p:nvSpPr>
        <p:spPr>
          <a:xfrm>
            <a:off x="594360" y="553212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la cod sau din linkul din chat. Apoi două minute: cine și-a schimbat răspunsul scrie de ce în chat.</a:t>
            </a:r>
            <a:endParaRPr lang="en-US" sz="1500" dirty="0"/>
          </a:p>
        </p:txBody>
      </p:sp>
      <p:pic>
        <p:nvPicPr>
          <p:cNvPr id="25" name="Picture 24" descr="Mentimeter_OPT_DETECTIVI_C04.png"/>
          <p:cNvPicPr>
            <a:picLocks noChangeAspect="1"/>
          </p:cNvPicPr>
          <p:nvPr/>
        </p:nvPicPr>
        <p:blipFill>
          <a:blip r:embed="rId3"/>
          <a:stretch>
            <a:fillRect/>
          </a:stretch>
        </p:blipFill>
        <p:spPr>
          <a:xfrm>
            <a:off x="8817610" y="1783080"/>
            <a:ext cx="2435860" cy="2435860"/>
          </a:xfrm>
          <a:prstGeom prst="rect">
            <a:avLst/>
          </a:prstGeom>
        </p:spPr>
      </p:pic>
      <p:sp>
        <p:nvSpPr>
          <p:cNvPr id="26" name="TextBox 25"/>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KAHOOT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RECAPITULARE</a:t>
            </a:r>
            <a:endParaRPr lang="en-US" sz="1300" dirty="0"/>
          </a:p>
        </p:txBody>
      </p:sp>
      <p:sp>
        <p:nvSpPr>
          <p:cNvPr id="5" name="Text 3"/>
          <p:cNvSpPr/>
          <p:nvPr/>
        </p:nvSpPr>
        <p:spPr>
          <a:xfrm>
            <a:off x="594360" y="1280160"/>
            <a:ext cx="10972800" cy="91440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Întrebări din cele patru povești de azi</a:t>
            </a:r>
            <a:endParaRPr lang="en-US" sz="4000" dirty="0"/>
          </a:p>
        </p:txBody>
      </p:sp>
      <p:sp>
        <p:nvSpPr>
          <p:cNvPr id="6" name="Text 4"/>
          <p:cNvSpPr/>
          <p:nvPr/>
        </p:nvSpPr>
        <p:spPr>
          <a:xfrm>
            <a:off x="594360" y="2331720"/>
            <a:ext cx="10972800" cy="548640"/>
          </a:xfrm>
          <a:prstGeom prst="rect">
            <a:avLst/>
          </a:prstGeom>
          <a:noFill/>
          <a:ln/>
        </p:spPr>
        <p:txBody>
          <a:bodyPr wrap="square" lIns="0" tIns="0" rIns="0" bIns="0" rtlCol="0" anchor="t"/>
          <a:lstStyle/>
          <a:p>
            <a:pPr indent="0" marL="0">
              <a:buNone/>
            </a:pPr>
            <a:r>
              <a:rPr lang="en-US" sz="2200" dirty="0">
                <a:solidFill>
                  <a:srgbClr val="959BB0"/>
                </a:solidFill>
                <a:latin typeface="Palatino Linotype" pitchFamily="34" charset="0"/>
                <a:ea typeface="Palatino Linotype" pitchFamily="34" charset="-122"/>
                <a:cs typeface="Palatino Linotype" pitchFamily="34" charset="-120"/>
              </a:rPr>
              <a:t>Accesați kahoot.it și introduceți codul jocului.</a:t>
            </a:r>
            <a:endParaRPr lang="en-US" sz="2200" dirty="0"/>
          </a:p>
        </p:txBody>
      </p:sp>
      <p:sp>
        <p:nvSpPr>
          <p:cNvPr id="7" name="Shape 5"/>
          <p:cNvSpPr/>
          <p:nvPr/>
        </p:nvSpPr>
        <p:spPr>
          <a:xfrm>
            <a:off x="594360" y="3200400"/>
            <a:ext cx="5486400" cy="2011680"/>
          </a:xfrm>
          <a:prstGeom prst="roundRect">
            <a:avLst>
              <a:gd name="adj" fmla="val 4091"/>
            </a:avLst>
          </a:prstGeom>
          <a:solidFill>
            <a:srgbClr val="272A38"/>
          </a:solidFill>
          <a:ln w="12700">
            <a:solidFill>
              <a:srgbClr val="272A38"/>
            </a:solidFill>
            <a:prstDash val="solid"/>
          </a:ln>
        </p:spPr>
        <p:txBody>
          <a:bodyPr/>
          <a:p/>
        </p:txBody>
      </p:sp>
      <p:sp>
        <p:nvSpPr>
          <p:cNvPr id="8" name="Text 6"/>
          <p:cNvSpPr/>
          <p:nvPr/>
        </p:nvSpPr>
        <p:spPr>
          <a:xfrm>
            <a:off x="594360" y="3200400"/>
            <a:ext cx="5486400" cy="2011680"/>
          </a:xfrm>
          <a:prstGeom prst="rect">
            <a:avLst/>
          </a:prstGeom>
          <a:noFill/>
          <a:ln/>
        </p:spPr>
        <p:txBody>
          <a:bodyPr wrap="square" lIns="228600" tIns="0" rIns="228600" bIns="0" rtlCol="0" anchor="ctr"/>
          <a:lstStyle/>
          <a:p>
            <a:pPr algn="ctr" indent="0" marL="0">
              <a:buNone/>
            </a:pPr>
            <a:r>
              <a:rPr lang="en-US" sz="1800" dirty="0" i="1">
                <a:solidFill>
                  <a:srgbClr val="959BB0"/>
                </a:solidFill>
                <a:latin typeface="Palatino Linotype" pitchFamily="34" charset="0"/>
                <a:ea typeface="Palatino Linotype" pitchFamily="34" charset="-122"/>
                <a:cs typeface="Palatino Linotype" pitchFamily="34" charset="-120"/>
              </a:rPr>
              <a:t>Kahoot: kahoot.it, cu PIN-ul de pe ecran sau din chat.</a:t>
            </a:r>
            <a:endParaRPr lang="en-US" sz="1800" dirty="0"/>
          </a:p>
        </p:txBody>
      </p:sp>
      <p:sp>
        <p:nvSpPr>
          <p:cNvPr id="9" name="Text 7"/>
          <p:cNvSpPr/>
          <p:nvPr/>
        </p:nvSpPr>
        <p:spPr>
          <a:xfrm>
            <a:off x="6400800" y="3200400"/>
            <a:ext cx="5166360" cy="2011680"/>
          </a:xfrm>
          <a:prstGeom prst="rect">
            <a:avLst/>
          </a:prstGeom>
          <a:noFill/>
          <a:ln/>
        </p:spPr>
        <p:txBody>
          <a:bodyPr wrap="square" lIns="0" tIns="0" rIns="0" bIns="0" rtlCol="0" anchor="ctr"/>
          <a:lstStyle/>
          <a:p>
            <a:pPr indent="0" marL="0">
              <a:buNone/>
            </a:pPr>
            <a:r>
              <a:rPr lang="en-US" sz="1900" i="1" dirty="0">
                <a:solidFill>
                  <a:srgbClr val="FFFFFF"/>
                </a:solidFill>
                <a:latin typeface="Palatino Linotype" pitchFamily="34" charset="0"/>
                <a:ea typeface="Palatino Linotype" pitchFamily="34" charset="-122"/>
                <a:cs typeface="Palatino Linotype" pitchFamily="34" charset="-120"/>
              </a:rPr>
              <a:t>Rezultatul nu se notează; arată ce s-a reținut din ședință.</a:t>
            </a:r>
            <a:endParaRPr lang="en-US" sz="1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ÎN PRACTICĂ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Ce faceți diferit de mâine</a:t>
            </a:r>
            <a:endParaRPr lang="en-US" sz="3100" dirty="0"/>
          </a:p>
        </p:txBody>
      </p:sp>
      <p:sp>
        <p:nvSpPr>
          <p:cNvPr id="4" name="Shape 2"/>
          <p:cNvSpPr/>
          <p:nvPr/>
        </p:nvSpPr>
        <p:spPr>
          <a:xfrm>
            <a:off x="594360" y="1691640"/>
            <a:ext cx="10972800" cy="896112"/>
          </a:xfrm>
          <a:prstGeom prst="roundRect">
            <a:avLst>
              <a:gd name="adj" fmla="val 9184"/>
            </a:avLst>
          </a:prstGeom>
          <a:solidFill>
            <a:srgbClr val="ECEAE4"/>
          </a:solidFill>
          <a:ln w="12700">
            <a:solidFill>
              <a:srgbClr val="ECEAE4"/>
            </a:solidFill>
            <a:prstDash val="solid"/>
          </a:ln>
        </p:spPr>
        <p:txBody>
          <a:bodyPr/>
          <a:p/>
        </p:txBody>
      </p:sp>
      <p:sp>
        <p:nvSpPr>
          <p:cNvPr id="5" name="Shape 3"/>
          <p:cNvSpPr/>
          <p:nvPr/>
        </p:nvSpPr>
        <p:spPr>
          <a:xfrm>
            <a:off x="868680" y="1929384"/>
            <a:ext cx="420624" cy="420624"/>
          </a:xfrm>
          <a:prstGeom prst="ellipse">
            <a:avLst/>
          </a:prstGeom>
          <a:solidFill>
            <a:srgbClr val="FF4757"/>
          </a:solidFill>
          <a:ln/>
        </p:spPr>
        <p:txBody>
          <a:bodyPr/>
          <a:p/>
        </p:txBody>
      </p:sp>
      <p:sp>
        <p:nvSpPr>
          <p:cNvPr id="6" name="Text 4"/>
          <p:cNvSpPr/>
          <p:nvPr/>
        </p:nvSpPr>
        <p:spPr>
          <a:xfrm>
            <a:off x="868680" y="192938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508760" y="1691640"/>
            <a:ext cx="9875520" cy="89611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Un virus găsit în apele uzate: întrebați ce s-a hotărât și de către cine, nu doar câți bolnavi sunt.</a:t>
            </a:r>
            <a:endParaRPr lang="en-US" sz="1700" dirty="0"/>
          </a:p>
        </p:txBody>
      </p:sp>
      <p:sp>
        <p:nvSpPr>
          <p:cNvPr id="8" name="Shape 6"/>
          <p:cNvSpPr/>
          <p:nvPr/>
        </p:nvSpPr>
        <p:spPr>
          <a:xfrm>
            <a:off x="594360" y="2715768"/>
            <a:ext cx="10972800" cy="896112"/>
          </a:xfrm>
          <a:prstGeom prst="roundRect">
            <a:avLst>
              <a:gd name="adj" fmla="val 9184"/>
            </a:avLst>
          </a:prstGeom>
          <a:solidFill>
            <a:srgbClr val="F9F8F5"/>
          </a:solidFill>
          <a:ln w="12700">
            <a:solidFill>
              <a:srgbClr val="F9F8F5"/>
            </a:solidFill>
            <a:prstDash val="solid"/>
          </a:ln>
        </p:spPr>
        <p:txBody>
          <a:bodyPr/>
          <a:p/>
        </p:txBody>
      </p:sp>
      <p:sp>
        <p:nvSpPr>
          <p:cNvPr id="9" name="Shape 7"/>
          <p:cNvSpPr/>
          <p:nvPr/>
        </p:nvSpPr>
        <p:spPr>
          <a:xfrm>
            <a:off x="868680" y="2953512"/>
            <a:ext cx="420624" cy="420624"/>
          </a:xfrm>
          <a:prstGeom prst="ellipse">
            <a:avLst/>
          </a:prstGeom>
          <a:solidFill>
            <a:srgbClr val="FF4757"/>
          </a:solidFill>
          <a:ln/>
        </p:spPr>
        <p:txBody>
          <a:bodyPr/>
          <a:p/>
        </p:txBody>
      </p:sp>
      <p:sp>
        <p:nvSpPr>
          <p:cNvPr id="10" name="Text 8"/>
          <p:cNvSpPr/>
          <p:nvPr/>
        </p:nvSpPr>
        <p:spPr>
          <a:xfrm>
            <a:off x="868680" y="2953512"/>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508760" y="2715768"/>
            <a:ext cx="9875520" cy="89611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O predicție din date de pe internet sau din telefoane: cu ce sursă independentă a fost comparată?</a:t>
            </a:r>
            <a:endParaRPr lang="en-US" sz="1700" dirty="0"/>
          </a:p>
        </p:txBody>
      </p:sp>
      <p:sp>
        <p:nvSpPr>
          <p:cNvPr id="12" name="Shape 10"/>
          <p:cNvSpPr/>
          <p:nvPr/>
        </p:nvSpPr>
        <p:spPr>
          <a:xfrm>
            <a:off x="594360" y="3739896"/>
            <a:ext cx="10972800" cy="896112"/>
          </a:xfrm>
          <a:prstGeom prst="roundRect">
            <a:avLst>
              <a:gd name="adj" fmla="val 9184"/>
            </a:avLst>
          </a:prstGeom>
          <a:solidFill>
            <a:srgbClr val="ECEAE4"/>
          </a:solidFill>
          <a:ln w="12700">
            <a:solidFill>
              <a:srgbClr val="ECEAE4"/>
            </a:solidFill>
            <a:prstDash val="solid"/>
          </a:ln>
        </p:spPr>
        <p:txBody>
          <a:bodyPr/>
          <a:p/>
        </p:txBody>
      </p:sp>
      <p:sp>
        <p:nvSpPr>
          <p:cNvPr id="13" name="Shape 11"/>
          <p:cNvSpPr/>
          <p:nvPr/>
        </p:nvSpPr>
        <p:spPr>
          <a:xfrm>
            <a:off x="868680" y="3977640"/>
            <a:ext cx="420624" cy="420624"/>
          </a:xfrm>
          <a:prstGeom prst="ellipse">
            <a:avLst/>
          </a:prstGeom>
          <a:solidFill>
            <a:srgbClr val="FF4757"/>
          </a:solidFill>
          <a:ln/>
        </p:spPr>
        <p:txBody>
          <a:bodyPr/>
          <a:p/>
        </p:txBody>
      </p:sp>
      <p:sp>
        <p:nvSpPr>
          <p:cNvPr id="14" name="Text 12"/>
          <p:cNvSpPr/>
          <p:nvPr/>
        </p:nvSpPr>
        <p:spPr>
          <a:xfrm>
            <a:off x="868680" y="397764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508760" y="3739896"/>
            <a:ext cx="9875520" cy="89611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O aplicație vă cere localizarea: cu ce scop, câte date, cine le vede și până când?</a:t>
            </a:r>
            <a:endParaRPr lang="en-US" sz="1700" dirty="0"/>
          </a:p>
        </p:txBody>
      </p:sp>
      <p:sp>
        <p:nvSpPr>
          <p:cNvPr id="16" name="Shape 14"/>
          <p:cNvSpPr/>
          <p:nvPr/>
        </p:nvSpPr>
        <p:spPr>
          <a:xfrm>
            <a:off x="594360" y="4764024"/>
            <a:ext cx="10972800" cy="896112"/>
          </a:xfrm>
          <a:prstGeom prst="roundRect">
            <a:avLst>
              <a:gd name="adj" fmla="val 9184"/>
            </a:avLst>
          </a:prstGeom>
          <a:solidFill>
            <a:srgbClr val="F9F8F5"/>
          </a:solidFill>
          <a:ln w="12700">
            <a:solidFill>
              <a:srgbClr val="F9F8F5"/>
            </a:solidFill>
            <a:prstDash val="solid"/>
          </a:ln>
        </p:spPr>
        <p:txBody>
          <a:bodyPr/>
          <a:p/>
        </p:txBody>
      </p:sp>
      <p:sp>
        <p:nvSpPr>
          <p:cNvPr id="17" name="Shape 15"/>
          <p:cNvSpPr/>
          <p:nvPr/>
        </p:nvSpPr>
        <p:spPr>
          <a:xfrm>
            <a:off x="868680" y="5001768"/>
            <a:ext cx="420624" cy="420624"/>
          </a:xfrm>
          <a:prstGeom prst="ellipse">
            <a:avLst/>
          </a:prstGeom>
          <a:solidFill>
            <a:srgbClr val="FF4757"/>
          </a:solidFill>
          <a:ln/>
        </p:spPr>
        <p:txBody>
          <a:bodyPr/>
          <a:p/>
        </p:txBody>
      </p:sp>
      <p:sp>
        <p:nvSpPr>
          <p:cNvPr id="18" name="Text 16"/>
          <p:cNvSpPr/>
          <p:nvPr/>
        </p:nvSpPr>
        <p:spPr>
          <a:xfrm>
            <a:off x="868680" y="500176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508760" y="4764024"/>
            <a:ext cx="9875520" cy="89611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Un diagnostic de boală cu declarare obligatorie: trimiteți fișa. Sunteți prima verigă a lanțului.</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Biletul de ieșire</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 fost util?</a:t>
            </a:r>
            <a:endParaRPr lang="en-US" sz="20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Unde v-am pierdut?</a:t>
            </a:r>
            <a:endParaRPr lang="en-US" sz="20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0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6" name="Text 14"/>
          <p:cNvSpPr/>
          <p:nvPr/>
        </p:nvSpPr>
        <p:spPr>
          <a:xfrm>
            <a:off x="594360" y="5349240"/>
            <a:ext cx="10972800" cy="6400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Răspundeți la cod sau din linkul din chat. Luni publicăm două modificări făcute după răspunsurile voastre.</a:t>
            </a:r>
            <a:endParaRPr lang="en-US" sz="1700" dirty="0"/>
          </a:p>
        </p:txBody>
      </p:sp>
      <p:pic>
        <p:nvPicPr>
          <p:cNvPr id="17" name="Picture 16" descr="Mentimeter_OPT_DETECTIVI_C04.png"/>
          <p:cNvPicPr>
            <a:picLocks noChangeAspect="1"/>
          </p:cNvPicPr>
          <p:nvPr/>
        </p:nvPicPr>
        <p:blipFill>
          <a:blip r:embed="rId3"/>
          <a:stretch>
            <a:fillRect/>
          </a:stretch>
        </p:blipFill>
        <p:spPr>
          <a:xfrm>
            <a:off x="9137650" y="2514600"/>
            <a:ext cx="1841500" cy="1841500"/>
          </a:xfrm>
          <a:prstGeom prst="rect">
            <a:avLst/>
          </a:prstGeom>
        </p:spPr>
      </p:pic>
      <p:sp>
        <p:nvSpPr>
          <p:cNvPr id="18" name="TextBox 17"/>
          <p:cNvSpPr txBox="1"/>
          <p:nvPr/>
        </p:nvSpPr>
        <p:spPr>
          <a:xfrm>
            <a:off x="8549640" y="4394200"/>
            <a:ext cx="301752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Ședința 4 - Unde s-a mutat decizia</dc:title>
  <dc:subject>PptxGenJS Presentation</dc:subject>
  <dc:creator>Conf. Univ. Dr. Adrian Pana</dc:creator>
  <cp:lastModifiedBy>Conf. Univ. Dr. Adrian Pana</cp:lastModifiedBy>
  <cp:revision>1</cp:revision>
  <dcterms:created xsi:type="dcterms:W3CDTF">2026-10-17T10:51:58Z</dcterms:created>
  <dcterms:modified xsi:type="dcterms:W3CDTF">2026-10-17T10:51:59Z</dcterms:modified>
  <cp:keywords>sursa_amprenta=ba92d5c886aec5c6; proiectie</cp:keywords>
</cp:coreProperties>
</file>