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1.jpg" ContentType="image/jpg"/>
  <Override PartName="/ppt/media/image-38-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Azi urmărim patru povești și o singură întrebare: cine află primul de o epidemie și cine hotărăște ce se 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 întrebare a ședinței este chiar titlul ei. Dacă mâine ar începe o epidemie în Cluj, cine ar afla primul? Și cine ar hotărî ce se 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prima ședință ați văzut o decizie care încăpea într-o singură mână: un medic, o listă de decese, un consiliu local și un gest. Astăzi, aceeași întrebare are un răspuns mai complicat.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Răspunsul provizoriu are trei părți. Semnalul s-a mutat. Decizia a rămas la oameni. Medicul care declară rămâne temelia. Țineți minte cele trei părți: la sfârșit vă întrebăm dacă le mai credeți pe toate.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 câteva luni înaintea comunicatului din august, în apele uzate de la stația Beckton s-a găsit poliovirus de tip 2. Denumirea „derivat din vaccin” nu este un termen de reținut pentru evaluare; este doar numele virusului din această poveste.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Comunicatul o citează pe epidemiologa agenției cu o frază simplă: nu fusese raportat niciun caz de poliomielită. Nu exista niciun copil paralizat, niciun diagnostic. Exista, în schimb, virusul din canalizare.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Imaginați-vă că lucrați într-o direcție de sănătate publică. Laboratorul vă sună. Spitalele nu au niciun caz, medicii de familie nu au raportat nimic, părinții nu știu nimic. Ce faceți?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Dacă ați conduce direcția de sănătate publică, ce ați face? Votul este anonim. Apoi două minute cu colegul de bancă: ce informație v-ar lipsi ca să hotărâți?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Decizia britanică a fost a patra variantă, începută cu a treia. Programul pornea din zonele în care fusese găsit virusul și acoperirea vaccinală era mică, apoi continua rapid în tot orașul.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Comunicatul aduce trei argumente. În lectura acestui curs, a aștepta primul caz ar fi însemnat a aștepta exact evenimentul pe care vaccinarea voia să-l împiedice. Canalizarea a devenit o hartă a orașului, la fel cum adresele morților îi arătaseră lui Snow pompa.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Primul termen nou. Gândiți-vă la căminul vostru: stația de epurare primește apa și de la cei care s-au dus la medic, și de la cei care nu s-au dus. Bolnavul care stă acasă ajunge, totuși, în canalizare.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probă pozitivă nu vaccinează pe nimeni. Cantitatea de virus din apă depinde de factori pe care proba nu îi arată, așa că din ea nu se citește direct numărul bolnavilor.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Citiți cu atenție cele trei comparații, pentru că spun lucruri diferite. Față de testele numărate după ziua recoltării, nămolul nu a câștigat aproape nimic. Avantajul a apărut față de internări și, mai ales, față de rezultatele numărate după ziua raportării.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Două orașe. În primul, oricine face un test gratuit, iar rezultatul ajunge repede la autorități. În al doilea, testele se plătesc și se raportează o dată pe săptămână. Un minut cu colegul, apoi votul.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Autorii studiului adaugă că acolo unde rezultatele testelor sunt raportate repede, avantajul de timp al apelor uzate se poate reduce mult. Unde drumurile sunt lungi, canalizarea vă câștigă timp.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la Londra a fost munca unor agenții devine, în Uniunea Europeană, o obligație. Potrivit directivei, până la sfârșitul facultății ar trebui să lucrați într-un sistem în care o parte din primele semnale nu mai vin din cabinete. Decizia rămâne, și aici, la oameni.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semnal din canalizare spune unei instituții unde să caute, nu pe cine să trateze. Când veți vedea o asemenea știre, întrebarea utilă nu este câți bolnavi sunt, ci ce s-a hotărât să se facă și de către cine.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februarie, sesiunea. O colegă de cameră are febră și o tuse seacă. Nu o declară nimeni, nimeni nu o numără ca bolnavă. Dar căutarea ei a ajuns undeva. Exact această idee a stat la baza unui proiect celebru.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Flu Trends estima săptămânal gripa din Statele Unite pornind de la căutări. Fusese construit ca să prezică rapoartele CDC, care vin cu întârziere. Nu a fost o greșeală de o săptămână.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Înainte de explicație: de ce credeți că un sistem construit din milioane de căutări a văzut mai multă gripă decât exista? Votați, apoi un minut cu colegul.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Lazer și colegii lui dau două explicații. Prima privește felul în care a fost construit sistemul. Dacă aveți milioane de curbe și le căutați pe cele care seamănă cu gripa, veți găsi multe care seamănă doar din întâmplare. Un asemenea sistem învață iarna, nu gripa.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doua explicație privește chiar motorul de căutare. Fiecare schimbare a motorului modifica ceea ce caută oamenii și, odată cu aceasta, datele din care sistemul calcula gripa. Datele nu veneau de la un instrument de măsură, ci de la un produs comercial.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Fiecare variantă are o parte de adevăr. Varianta cea mai apropiată de surse este ultima, cu o precizare: știrile, singure, nu explică doi ani de erori.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doilea termen nou. Datele acestea sunt multe, sunt rapide și ajung și la oamenii care nu merg la medic. Dar nimeni nu le-a proiectat ca să măsoare ceva anume, așa că nu știm dinainte ce măsoară.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 fi ușor să trageți concluzia că datele de pe internet nu sunt bune de nimic. Autorii spun altceva. În lectura acestui curs, este aceeași lecție ca la apele uzate: semnalul nou completează lanțul clasic.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titlu real din presa științifică, din februarie 2013: „Când Google a greșit cu gripa”. Cu colegul de bancă, două minute, pe cele trei întrebări. Apoi votăm.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Acum votul: l-ați crede? Da, nu sau ați vrea să știți mai întâi cu ce a fost comparată estimarea.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revedem în zece minute. Ora a doua începe cu telefonul pe care îl aveți în buzunar.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Primul an al pandemiei. Școlile și restaurantele se închid. O direcție de sănătate publică vrea să știe un lucru simplu: chiar stau oamenii acasă? Datele acestea sunt, în sensul definiției de mai devreme, date de epidemiologie digitală.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treilea termen nou. Compania scrie că rapoartele au fost create din date agregate și anonimizate și că nicio informație care să identifice o persoană, locul ei, contactele sau deplasările ei, nu a fost pusă la dispoziție.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Diferența dintre o mulțime și un om este tot ce contează aici. Prima propoziție vorbește despre un oraș. A doua vorbește despre o viață.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Doi voluntari, trei minute: un student cu o boală contagioasă confirmată și medicul de la direcția de sănătate publică, care face ancheta epidemiologică. Apoi votăm toți.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Jocul de rol nu este o invenție: ancheta epidemiologică cere informații personale. La Oswego, chestionarul întreba cine ce a mâncat la cină. Diferența de azi este că multe informații există deja în telefonul vostru. Cele patru întrebări vă vor folosi în dezbatere.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Moțiunea dezbaterii. Întâi votul, pentru sau împotrivă, fiecare după ce crede acum.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Partea stângă a amfiteatrului susține moțiunea, partea dreaptă o combate, indiferent de votul fiecăruia. Folosiți cele patru întrebări. Contează cât s-a mutat votul, nu cine a câștigat.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Același vot, după dezbatere. Ne uităm cât s-a mutat.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Revenim la cele trei părți ale răspunsului de la început. Primele două le-ați văzut. Rămâne a treia: primul lanț nu a dispărut.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trecută ați văzut piramida supravegherii. Fișa pe care o completează medicul când pune un diagnostic de boală cu declarare obligatorie este intrarea în sistemul de supraveghere.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Doi voluntari, trei minute: un rezident de gardă la boli infecțioase, care a internat al treilea student cu icter din același cămin, și medicul de la direcția de sănătate publică. Apoi votăm toți.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1854, un medic avea și semnalul, și argumentul, și accesul la cei care puteau scoate mânerul pompei. Astăzi aceste trei lucruri s-au despărțit. La Londra, decizia s-a luat înaintea oricărui bolnav raportat. Când există un bolnav, însă, veriga voastră este prima.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Votul de la începutul ședinței: credeți în continuare toate cele trei părți ale răspunsului provizoriu? Apoi, două minute: cine și-a schimbat răspunsul spune de 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Câteva întrebări despre cele patru povești de azi, câte douăzeci de secunde fiecare. Rezultatul nu se notează.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Patru lucruri pe care le puteți face diferit de mâine. Dacă vedeți mai multe cazuri legate între ele, întrebați direcția de sănătate publică a județului ce procedură se aplică.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 întrebări anonime, pe telefon. Luni veți vedea pe pagina cursului ce am schimbat după răspunsurile voastre.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95360" y="-1463040"/>
            <a:ext cx="5669280" cy="5669280"/>
          </a:xfrm>
          <a:prstGeom prst="ellipse">
            <a:avLst/>
          </a:prstGeom>
          <a:solidFill>
            <a:srgbClr val="182032"/>
          </a:solidFill>
          <a:ln/>
        </p:spPr>
        <p:txBody>
          <a:bodyPr/>
          <a:p/>
        </p:txBody>
      </p:sp>
      <p:sp>
        <p:nvSpPr>
          <p:cNvPr id="3" name="Shape 1"/>
          <p:cNvSpPr/>
          <p:nvPr/>
        </p:nvSpPr>
        <p:spPr>
          <a:xfrm>
            <a:off x="10332720" y="3840480"/>
            <a:ext cx="3474720" cy="3474720"/>
          </a:xfrm>
          <a:prstGeom prst="ellipse">
            <a:avLst/>
          </a:prstGeom>
          <a:solidFill>
            <a:srgbClr val="182032"/>
          </a:solidFill>
          <a:ln/>
        </p:spPr>
        <p:txBody>
          <a:bodyPr/>
          <a:p/>
        </p:txBody>
      </p:sp>
      <p:sp>
        <p:nvSpPr>
          <p:cNvPr id="4" name="Shape 2"/>
          <p:cNvSpPr/>
          <p:nvPr/>
        </p:nvSpPr>
        <p:spPr>
          <a:xfrm>
            <a:off x="685800" y="777240"/>
            <a:ext cx="2377440" cy="329184"/>
          </a:xfrm>
          <a:prstGeom prst="roundRect">
            <a:avLst>
              <a:gd name="adj" fmla="val 50000"/>
            </a:avLst>
          </a:prstGeom>
          <a:solidFill>
            <a:srgbClr val="FF4757"/>
          </a:solidFill>
          <a:ln w="12700">
            <a:solidFill>
              <a:srgbClr val="FF4757"/>
            </a:solidFill>
            <a:prstDash val="solid"/>
          </a:ln>
        </p:spPr>
        <p:txBody>
          <a:bodyPr/>
          <a:p/>
        </p:txBody>
      </p:sp>
      <p:sp>
        <p:nvSpPr>
          <p:cNvPr id="5" name="Text 3"/>
          <p:cNvSpPr/>
          <p:nvPr/>
        </p:nvSpPr>
        <p:spPr>
          <a:xfrm>
            <a:off x="685800" y="777240"/>
            <a:ext cx="23774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ȘEDINȚA A PATRA</a:t>
            </a:r>
            <a:endParaRPr lang="en-US" sz="1300" dirty="0"/>
          </a:p>
        </p:txBody>
      </p:sp>
      <p:sp>
        <p:nvSpPr>
          <p:cNvPr id="6" name="Text 4"/>
          <p:cNvSpPr/>
          <p:nvPr/>
        </p:nvSpPr>
        <p:spPr>
          <a:xfrm>
            <a:off x="685800" y="1463040"/>
            <a:ext cx="9875520" cy="914400"/>
          </a:xfrm>
          <a:prstGeom prst="rect">
            <a:avLst/>
          </a:prstGeom>
          <a:noFill/>
          <a:ln/>
        </p:spPr>
        <p:txBody>
          <a:bodyPr wrap="square" lIns="0" tIns="0" rIns="0" bIns="0" rtlCol="0" anchor="t"/>
          <a:lstStyle/>
          <a:p>
            <a:pPr indent="0" marL="0">
              <a:buNone/>
            </a:pPr>
            <a:r>
              <a:rPr lang="en-US" sz="5400" b="1" dirty="0">
                <a:solidFill>
                  <a:srgbClr val="FFFFFF"/>
                </a:solidFill>
                <a:latin typeface="Palatino Linotype" pitchFamily="34" charset="0"/>
                <a:ea typeface="Palatino Linotype" pitchFamily="34" charset="-122"/>
                <a:cs typeface="Palatino Linotype" pitchFamily="34" charset="-120"/>
              </a:rPr>
              <a:t>Unde s-a mutat</a:t>
            </a:r>
            <a:endParaRPr lang="en-US" sz="5400" dirty="0"/>
          </a:p>
        </p:txBody>
      </p:sp>
      <p:sp>
        <p:nvSpPr>
          <p:cNvPr id="7" name="Text 5"/>
          <p:cNvSpPr/>
          <p:nvPr/>
        </p:nvSpPr>
        <p:spPr>
          <a:xfrm>
            <a:off x="685800" y="2377440"/>
            <a:ext cx="9875520" cy="914400"/>
          </a:xfrm>
          <a:prstGeom prst="rect">
            <a:avLst/>
          </a:prstGeom>
          <a:noFill/>
          <a:ln/>
        </p:spPr>
        <p:txBody>
          <a:bodyPr wrap="square" lIns="0" tIns="0" rIns="0" bIns="0" rtlCol="0" anchor="t"/>
          <a:lstStyle/>
          <a:p>
            <a:pPr indent="0" marL="0">
              <a:buNone/>
            </a:pPr>
            <a:r>
              <a:rPr lang="en-US" sz="5400" b="1" dirty="0">
                <a:solidFill>
                  <a:srgbClr val="27D3BE"/>
                </a:solidFill>
                <a:latin typeface="Palatino Linotype" pitchFamily="34" charset="0"/>
                <a:ea typeface="Palatino Linotype" pitchFamily="34" charset="-122"/>
                <a:cs typeface="Palatino Linotype" pitchFamily="34" charset="-120"/>
              </a:rPr>
              <a:t>decizia</a:t>
            </a:r>
            <a:endParaRPr lang="en-US" sz="5400" dirty="0"/>
          </a:p>
        </p:txBody>
      </p:sp>
      <p:sp>
        <p:nvSpPr>
          <p:cNvPr id="8" name="Text 6"/>
          <p:cNvSpPr/>
          <p:nvPr/>
        </p:nvSpPr>
        <p:spPr>
          <a:xfrm>
            <a:off x="685800" y="3566160"/>
            <a:ext cx="10241280" cy="731520"/>
          </a:xfrm>
          <a:prstGeom prst="rect">
            <a:avLst/>
          </a:prstGeom>
          <a:noFill/>
          <a:ln/>
        </p:spPr>
        <p:txBody>
          <a:bodyPr wrap="square" lIns="0" tIns="0" rIns="0" bIns="0" rtlCol="0" anchor="t"/>
          <a:lstStyle/>
          <a:p>
            <a:pPr indent="0" marL="0">
              <a:buNone/>
            </a:pPr>
            <a:r>
              <a:rPr lang="en-US" sz="1800" dirty="0">
                <a:solidFill>
                  <a:srgbClr val="959BB0"/>
                </a:solidFill>
                <a:latin typeface="Palatino Linotype" pitchFamily="34" charset="0"/>
                <a:ea typeface="Palatino Linotype" pitchFamily="34" charset="-122"/>
                <a:cs typeface="Palatino Linotype" pitchFamily="34" charset="-120"/>
              </a:rPr>
              <a:t>O canalizare din Londra, o căutare la două noaptea, un telefon din buzunar și medicul care declară</a:t>
            </a:r>
            <a:endParaRPr lang="en-US" sz="1800" dirty="0"/>
          </a:p>
        </p:txBody>
      </p:sp>
      <p:sp>
        <p:nvSpPr>
          <p:cNvPr id="9" name="Shape 7"/>
          <p:cNvSpPr/>
          <p:nvPr/>
        </p:nvSpPr>
        <p:spPr>
          <a:xfrm>
            <a:off x="713232" y="4434840"/>
            <a:ext cx="1280160" cy="27432"/>
          </a:xfrm>
          <a:prstGeom prst="rect">
            <a:avLst/>
          </a:prstGeom>
          <a:solidFill>
            <a:srgbClr val="FF4757"/>
          </a:solidFill>
          <a:ln/>
        </p:spPr>
        <p:txBody>
          <a:bodyPr/>
          <a:p/>
        </p:txBody>
      </p:sp>
      <p:sp>
        <p:nvSpPr>
          <p:cNvPr id="10" name="Text 8"/>
          <p:cNvSpPr/>
          <p:nvPr/>
        </p:nvSpPr>
        <p:spPr>
          <a:xfrm>
            <a:off x="685800" y="4663440"/>
            <a:ext cx="10058400" cy="731520"/>
          </a:xfrm>
          <a:prstGeom prst="rect">
            <a:avLst/>
          </a:prstGeom>
          <a:noFill/>
          <a:ln/>
        </p:spPr>
        <p:txBody>
          <a:bodyPr wrap="square" lIns="0" tIns="0" rIns="0" bIns="0" rtlCol="0" anchor="t"/>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Detectivii epidemiilor: cum ucid bolile milioane de oameni și cum le oprim</a:t>
            </a:r>
            <a:endParaRPr lang="en-US" sz="1300" dirty="0"/>
          </a:p>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Conf. univ. dr. Adrian Pană · UMF „Iuliu Hațieganu” Cluj-Napoca · 2026–2027</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4757"/>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2E060B"/>
                </a:solidFill>
                <a:latin typeface="Palatino Linotype" pitchFamily="34" charset="0"/>
                <a:ea typeface="Palatino Linotype" pitchFamily="34" charset="-122"/>
                <a:cs typeface="Palatino Linotype" pitchFamily="34" charset="-120"/>
              </a:rPr>
              <a:t>ÎNTREBAREA DIN TITLU</a:t>
            </a:r>
            <a:endParaRPr lang="en-US" sz="1300" dirty="0"/>
          </a:p>
        </p:txBody>
      </p:sp>
      <p:sp>
        <p:nvSpPr>
          <p:cNvPr id="3" name="Text 1"/>
          <p:cNvSpPr/>
          <p:nvPr/>
        </p:nvSpPr>
        <p:spPr>
          <a:xfrm>
            <a:off x="594360" y="1280160"/>
            <a:ext cx="10972800" cy="2926080"/>
          </a:xfrm>
          <a:prstGeom prst="rect">
            <a:avLst/>
          </a:prstGeom>
          <a:noFill/>
          <a:ln/>
        </p:spPr>
        <p:txBody>
          <a:bodyPr wrap="square" lIns="0" tIns="0" rIns="0" bIns="0" rtlCol="0" anchor="ctr"/>
          <a:lstStyle/>
          <a:p>
            <a:pPr indent="0" marL="0">
              <a:buNone/>
            </a:pPr>
            <a:r>
              <a:rPr lang="en-US" sz="4200" b="1" dirty="0">
                <a:solidFill>
                  <a:srgbClr val="2E060B"/>
                </a:solidFill>
                <a:latin typeface="Palatino Linotype" pitchFamily="34" charset="0"/>
                <a:ea typeface="Palatino Linotype" pitchFamily="34" charset="-122"/>
                <a:cs typeface="Palatino Linotype" pitchFamily="34" charset="-120"/>
              </a:rPr>
              <a:t>Dacă mâine ar începe o epidemie în Cluj, cine ar afla primul și cine ar hotărî ce se face?</a:t>
            </a:r>
            <a:endParaRPr lang="en-US" sz="4200" dirty="0"/>
          </a:p>
        </p:txBody>
      </p:sp>
      <p:sp>
        <p:nvSpPr>
          <p:cNvPr id="4" name="Text 2"/>
          <p:cNvSpPr/>
          <p:nvPr/>
        </p:nvSpPr>
        <p:spPr>
          <a:xfrm>
            <a:off x="594360" y="4846320"/>
            <a:ext cx="10972800" cy="548640"/>
          </a:xfrm>
          <a:prstGeom prst="rect">
            <a:avLst/>
          </a:prstGeom>
          <a:noFill/>
          <a:ln/>
        </p:spPr>
        <p:txBody>
          <a:bodyPr wrap="square" lIns="0" tIns="0" rIns="0" bIns="0" rtlCol="0" anchor="t"/>
          <a:lstStyle/>
          <a:p>
            <a:pPr indent="0" marL="0">
              <a:buNone/>
            </a:pPr>
            <a:r>
              <a:rPr lang="en-US" sz="2000" i="1" dirty="0">
                <a:solidFill>
                  <a:srgbClr val="2E060B"/>
                </a:solidFill>
                <a:latin typeface="Palatino Linotype" pitchFamily="34" charset="0"/>
                <a:ea typeface="Palatino Linotype" pitchFamily="34" charset="-122"/>
                <a:cs typeface="Palatino Linotype" pitchFamily="34" charset="-120"/>
              </a:rPr>
              <a:t>Spuneți primul răspuns care vă vine în minte.</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2"/>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OPT_DETECTIVI/active/img/harta_holera_snow_1854.jpg">    </p:cNvPr>
          <p:cNvPicPr>
            <a:picLocks noChangeAspect="1"/>
          </p:cNvPicPr>
          <p:nvPr/>
        </p:nvPicPr>
        <p:blipFill>
          <a:blip r:embed="rId1"/>
          <a:srcRect l="0" r="0" t="0" b="0"/>
          <a:stretch/>
        </p:blipFill>
        <p:spPr>
          <a:xfrm>
            <a:off x="6153912" y="0"/>
            <a:ext cx="6035040" cy="5660136"/>
          </a:xfrm>
          <a:prstGeom prst="rect">
            <a:avLst/>
          </a:prstGeom>
        </p:spPr>
      </p:pic>
      <p:sp>
        <p:nvSpPr>
          <p:cNvPr id="3" name="Text 0"/>
          <p:cNvSpPr/>
          <p:nvPr/>
        </p:nvSpPr>
        <p:spPr>
          <a:xfrm>
            <a:off x="6263640" y="5715000"/>
            <a:ext cx="5760720" cy="219456"/>
          </a:xfrm>
          <a:prstGeom prst="rect">
            <a:avLst/>
          </a:prstGeom>
          <a:noFill/>
          <a:ln/>
        </p:spPr>
        <p:txBody>
          <a:bodyPr wrap="square" lIns="0" tIns="0" rIns="0" bIns="0" rtlCol="0" anchor="ctr"/>
          <a:lstStyle/>
          <a:p>
            <a:pPr algn="l" indent="0" marL="0">
              <a:buNone/>
            </a:pPr>
            <a:r>
              <a:rPr lang="en-US" sz="850" i="1" dirty="0">
                <a:solidFill>
                  <a:srgbClr val="585A64"/>
                </a:solidFill>
                <a:latin typeface="Palatino Linotype" pitchFamily="34" charset="0"/>
                <a:ea typeface="Palatino Linotype" pitchFamily="34" charset="-122"/>
                <a:cs typeface="Palatino Linotype" pitchFamily="34" charset="-120"/>
              </a:rPr>
              <a:t>Harta: John Snow, 1854 · domeniu public · Wikimedia Commons</a:t>
            </a:r>
            <a:endParaRPr lang="en-US" sz="850" dirty="0"/>
          </a:p>
        </p:txBody>
      </p:sp>
      <p:sp>
        <p:nvSpPr>
          <p:cNvPr id="4" name="Text 1"/>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1854 · LONDRA</a:t>
            </a:r>
            <a:endParaRPr lang="en-US" sz="1300" dirty="0"/>
          </a:p>
        </p:txBody>
      </p:sp>
      <p:sp>
        <p:nvSpPr>
          <p:cNvPr id="5" name="Text 2"/>
          <p:cNvSpPr/>
          <p:nvPr/>
        </p:nvSpPr>
        <p:spPr>
          <a:xfrm>
            <a:off x="594360" y="731520"/>
            <a:ext cx="5303520" cy="137160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O decizie care încăpea într-o singură mână</a:t>
            </a:r>
            <a:endParaRPr lang="en-US" sz="3000" dirty="0"/>
          </a:p>
        </p:txBody>
      </p:sp>
      <p:sp>
        <p:nvSpPr>
          <p:cNvPr id="6" name="Text 3"/>
          <p:cNvSpPr/>
          <p:nvPr/>
        </p:nvSpPr>
        <p:spPr>
          <a:xfrm>
            <a:off x="594360" y="2286000"/>
            <a:ext cx="5303520" cy="18288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În seara de 7 septembrie, John Snow vorbește în fața consiliului parohiei St James. A doua zi, la 8 septembrie, mânerul pompei din Broad Street este scos.</a:t>
            </a:r>
            <a:endParaRPr lang="en-US" sz="1800" dirty="0"/>
          </a:p>
        </p:txBody>
      </p:sp>
      <p:sp>
        <p:nvSpPr>
          <p:cNvPr id="7" name="Shape 4"/>
          <p:cNvSpPr/>
          <p:nvPr/>
        </p:nvSpPr>
        <p:spPr>
          <a:xfrm>
            <a:off x="594360" y="4297680"/>
            <a:ext cx="5303520" cy="1371600"/>
          </a:xfrm>
          <a:prstGeom prst="roundRect">
            <a:avLst>
              <a:gd name="adj" fmla="val 6000"/>
            </a:avLst>
          </a:prstGeom>
          <a:solidFill>
            <a:srgbClr val="11121A"/>
          </a:solidFill>
          <a:ln w="12700">
            <a:solidFill>
              <a:srgbClr val="11121A"/>
            </a:solidFill>
            <a:prstDash val="solid"/>
          </a:ln>
        </p:spPr>
        <p:txBody>
          <a:bodyPr/>
          <a:p/>
        </p:txBody>
      </p:sp>
      <p:sp>
        <p:nvSpPr>
          <p:cNvPr id="8" name="Text 5"/>
          <p:cNvSpPr/>
          <p:nvPr/>
        </p:nvSpPr>
        <p:spPr>
          <a:xfrm>
            <a:off x="868680" y="4297680"/>
            <a:ext cx="4846320" cy="1371600"/>
          </a:xfrm>
          <a:prstGeom prst="rect">
            <a:avLst/>
          </a:prstGeom>
          <a:noFill/>
          <a:ln/>
        </p:spPr>
        <p:txBody>
          <a:bodyPr wrap="square" lIns="0" tIns="0" rIns="0" bIns="0" rtlCol="0" anchor="ctr"/>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Un medic, o listă de decese, un consiliu local și un gest.</a:t>
            </a:r>
            <a:endParaRPr lang="en-US" sz="2000" dirty="0"/>
          </a:p>
        </p:txBody>
      </p:sp>
      <p:sp>
        <p:nvSpPr>
          <p:cNvPr id="9" name="Text 6"/>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registru A002.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RĂSPUNSUL PROVIZORIU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Trei părți, pe care restul ședinței le verifică</a:t>
            </a:r>
            <a:endParaRPr lang="en-US" sz="3000" dirty="0"/>
          </a:p>
        </p:txBody>
      </p:sp>
      <p:sp>
        <p:nvSpPr>
          <p:cNvPr id="4" name="Shape 2"/>
          <p:cNvSpPr/>
          <p:nvPr/>
        </p:nvSpPr>
        <p:spPr>
          <a:xfrm>
            <a:off x="594360" y="1783080"/>
            <a:ext cx="10972800" cy="1024128"/>
          </a:xfrm>
          <a:prstGeom prst="roundRect">
            <a:avLst>
              <a:gd name="adj" fmla="val 8036"/>
            </a:avLst>
          </a:prstGeom>
          <a:solidFill>
            <a:srgbClr val="1D1F2B"/>
          </a:solidFill>
          <a:ln w="12700">
            <a:solidFill>
              <a:srgbClr val="1D1F2B"/>
            </a:solidFill>
            <a:prstDash val="solid"/>
          </a:ln>
        </p:spPr>
        <p:txBody>
          <a:bodyPr/>
          <a:p/>
        </p:txBody>
      </p:sp>
      <p:sp>
        <p:nvSpPr>
          <p:cNvPr id="5" name="Shape 3"/>
          <p:cNvSpPr/>
          <p:nvPr/>
        </p:nvSpPr>
        <p:spPr>
          <a:xfrm>
            <a:off x="914400" y="2084832"/>
            <a:ext cx="420624" cy="420624"/>
          </a:xfrm>
          <a:prstGeom prst="ellipse">
            <a:avLst/>
          </a:prstGeom>
          <a:solidFill>
            <a:srgbClr val="FFC24B"/>
          </a:solidFill>
          <a:ln/>
        </p:spPr>
        <p:txBody>
          <a:bodyPr/>
          <a:p/>
        </p:txBody>
      </p:sp>
      <p:sp>
        <p:nvSpPr>
          <p:cNvPr id="6" name="Text 4"/>
          <p:cNvSpPr/>
          <p:nvPr/>
        </p:nvSpPr>
        <p:spPr>
          <a:xfrm>
            <a:off x="914400" y="20848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1783080"/>
            <a:ext cx="9692640" cy="102412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Semnalul s-a mutat mai devreme și mai departe de cabinet: ape uzate, căutări, deplasări.</a:t>
            </a:r>
            <a:endParaRPr lang="en-US" sz="1800" dirty="0"/>
          </a:p>
        </p:txBody>
      </p:sp>
      <p:sp>
        <p:nvSpPr>
          <p:cNvPr id="8" name="Shape 6"/>
          <p:cNvSpPr/>
          <p:nvPr/>
        </p:nvSpPr>
        <p:spPr>
          <a:xfrm>
            <a:off x="594360" y="2971800"/>
            <a:ext cx="10972800" cy="1024128"/>
          </a:xfrm>
          <a:prstGeom prst="roundRect">
            <a:avLst>
              <a:gd name="adj" fmla="val 8036"/>
            </a:avLst>
          </a:prstGeom>
          <a:solidFill>
            <a:srgbClr val="1D1F2B"/>
          </a:solidFill>
          <a:ln w="12700">
            <a:solidFill>
              <a:srgbClr val="1D1F2B"/>
            </a:solidFill>
            <a:prstDash val="solid"/>
          </a:ln>
        </p:spPr>
        <p:txBody>
          <a:bodyPr/>
          <a:p/>
        </p:txBody>
      </p:sp>
      <p:sp>
        <p:nvSpPr>
          <p:cNvPr id="9" name="Shape 7"/>
          <p:cNvSpPr/>
          <p:nvPr/>
        </p:nvSpPr>
        <p:spPr>
          <a:xfrm>
            <a:off x="914400" y="3273552"/>
            <a:ext cx="420624" cy="420624"/>
          </a:xfrm>
          <a:prstGeom prst="ellipse">
            <a:avLst/>
          </a:prstGeom>
          <a:solidFill>
            <a:srgbClr val="FFC24B"/>
          </a:solidFill>
          <a:ln/>
        </p:spPr>
        <p:txBody>
          <a:bodyPr/>
          <a:p/>
        </p:txBody>
      </p:sp>
      <p:sp>
        <p:nvSpPr>
          <p:cNvPr id="10" name="Text 8"/>
          <p:cNvSpPr/>
          <p:nvPr/>
        </p:nvSpPr>
        <p:spPr>
          <a:xfrm>
            <a:off x="914400" y="32735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600200" y="2971800"/>
            <a:ext cx="9692640" cy="102412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Decizia nu s-a mutat la mașini. Ea rămâne la instituțiile care răspund pentru ea.</a:t>
            </a:r>
            <a:endParaRPr lang="en-US" sz="1800" dirty="0"/>
          </a:p>
        </p:txBody>
      </p:sp>
      <p:sp>
        <p:nvSpPr>
          <p:cNvPr id="12" name="Shape 10"/>
          <p:cNvSpPr/>
          <p:nvPr/>
        </p:nvSpPr>
        <p:spPr>
          <a:xfrm>
            <a:off x="594360" y="4160520"/>
            <a:ext cx="10972800" cy="1024128"/>
          </a:xfrm>
          <a:prstGeom prst="roundRect">
            <a:avLst>
              <a:gd name="adj" fmla="val 8036"/>
            </a:avLst>
          </a:prstGeom>
          <a:solidFill>
            <a:srgbClr val="1D1F2B"/>
          </a:solidFill>
          <a:ln w="12700">
            <a:solidFill>
              <a:srgbClr val="1D1F2B"/>
            </a:solidFill>
            <a:prstDash val="solid"/>
          </a:ln>
        </p:spPr>
        <p:txBody>
          <a:bodyPr/>
          <a:p/>
        </p:txBody>
      </p:sp>
      <p:sp>
        <p:nvSpPr>
          <p:cNvPr id="13" name="Shape 11"/>
          <p:cNvSpPr/>
          <p:nvPr/>
        </p:nvSpPr>
        <p:spPr>
          <a:xfrm>
            <a:off x="914400" y="4462272"/>
            <a:ext cx="420624" cy="420624"/>
          </a:xfrm>
          <a:prstGeom prst="ellipse">
            <a:avLst/>
          </a:prstGeom>
          <a:solidFill>
            <a:srgbClr val="FFC24B"/>
          </a:solidFill>
          <a:ln/>
        </p:spPr>
        <p:txBody>
          <a:bodyPr/>
          <a:p/>
        </p:txBody>
      </p:sp>
      <p:sp>
        <p:nvSpPr>
          <p:cNvPr id="14" name="Text 12"/>
          <p:cNvSpPr/>
          <p:nvPr/>
        </p:nvSpPr>
        <p:spPr>
          <a:xfrm>
            <a:off x="914400" y="44622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600200" y="4160520"/>
            <a:ext cx="9692640" cy="102412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Primul lanț nu a dispărut: medicul care pune un diagnostic și îl declară rămâne temelia.</a:t>
            </a:r>
            <a:endParaRPr lang="en-US" sz="1800" dirty="0"/>
          </a:p>
        </p:txBody>
      </p:sp>
      <p:sp>
        <p:nvSpPr>
          <p:cNvPr id="16" name="Text 14"/>
          <p:cNvSpPr/>
          <p:nvPr/>
        </p:nvSpPr>
        <p:spPr>
          <a:xfrm>
            <a:off x="594360" y="5486400"/>
            <a:ext cx="10972800" cy="457200"/>
          </a:xfrm>
          <a:prstGeom prst="rect">
            <a:avLst/>
          </a:prstGeom>
          <a:noFill/>
          <a:ln/>
        </p:spPr>
        <p:txBody>
          <a:bodyPr wrap="square" lIns="0" tIns="0" rIns="0" bIns="0" rtlCol="0" anchor="t"/>
          <a:lstStyle/>
          <a:p>
            <a:pPr indent="0" marL="0">
              <a:buNone/>
            </a:pPr>
            <a:r>
              <a:rPr lang="en-US" sz="1600" i="1" dirty="0">
                <a:solidFill>
                  <a:srgbClr val="27D3BE"/>
                </a:solidFill>
                <a:latin typeface="Palatino Linotype" pitchFamily="34" charset="0"/>
                <a:ea typeface="Palatino Linotype" pitchFamily="34" charset="-122"/>
                <a:cs typeface="Palatino Linotype" pitchFamily="34" charset="-120"/>
              </a:rPr>
              <a:t>La sfârșitul ședinței vă întrebăm dacă le mai credeți pe toate trei.</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POVESTEA ÎNTÂI · LONDRA, 2022</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Un oraș fără niciun bolnav</a:t>
            </a:r>
            <a:endParaRPr lang="en-US" sz="3400" dirty="0"/>
          </a:p>
        </p:txBody>
      </p:sp>
      <p:sp>
        <p:nvSpPr>
          <p:cNvPr id="4" name="Shape 2"/>
          <p:cNvSpPr/>
          <p:nvPr/>
        </p:nvSpPr>
        <p:spPr>
          <a:xfrm>
            <a:off x="594360" y="1783080"/>
            <a:ext cx="4754880" cy="3291840"/>
          </a:xfrm>
          <a:prstGeom prst="roundRect">
            <a:avLst>
              <a:gd name="adj" fmla="val 2500"/>
            </a:avLst>
          </a:prstGeom>
          <a:solidFill>
            <a:srgbClr val="1D1F2B"/>
          </a:solidFill>
          <a:ln w="12700">
            <a:solidFill>
              <a:srgbClr val="1D1F2B"/>
            </a:solidFill>
            <a:prstDash val="solid"/>
          </a:ln>
        </p:spPr>
        <p:txBody>
          <a:bodyPr/>
          <a:p/>
        </p:txBody>
      </p:sp>
      <p:sp>
        <p:nvSpPr>
          <p:cNvPr id="5" name="Text 3"/>
          <p:cNvSpPr/>
          <p:nvPr/>
        </p:nvSpPr>
        <p:spPr>
          <a:xfrm>
            <a:off x="868680" y="1892808"/>
            <a:ext cx="4206240" cy="1645920"/>
          </a:xfrm>
          <a:prstGeom prst="rect">
            <a:avLst/>
          </a:prstGeom>
          <a:noFill/>
          <a:ln/>
        </p:spPr>
        <p:txBody>
          <a:bodyPr wrap="square" lIns="0" tIns="0" rIns="0" bIns="0" rtlCol="0" anchor="ctr"/>
          <a:lstStyle/>
          <a:p>
            <a:pPr indent="0" marL="0">
              <a:buNone/>
            </a:pPr>
            <a:r>
              <a:rPr lang="en-US" sz="9600" b="1" dirty="0">
                <a:solidFill>
                  <a:srgbClr val="FF4757"/>
                </a:solidFill>
                <a:latin typeface="Palatino Linotype" pitchFamily="34" charset="0"/>
                <a:ea typeface="Palatino Linotype" pitchFamily="34" charset="-122"/>
                <a:cs typeface="Palatino Linotype" pitchFamily="34" charset="-120"/>
              </a:rPr>
              <a:t>116</a:t>
            </a:r>
            <a:endParaRPr lang="en-US" sz="9600" dirty="0"/>
          </a:p>
        </p:txBody>
      </p:sp>
      <p:sp>
        <p:nvSpPr>
          <p:cNvPr id="6" name="Text 4"/>
          <p:cNvSpPr/>
          <p:nvPr/>
        </p:nvSpPr>
        <p:spPr>
          <a:xfrm>
            <a:off x="868680" y="3447288"/>
            <a:ext cx="4206240" cy="1514246"/>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izolate de poliovirus de tip 2, în 19 probe de ape uzate, între 8 februarie și 5 iulie 2022</a:t>
            </a:r>
            <a:endParaRPr lang="en-US" sz="1400" dirty="0"/>
          </a:p>
        </p:txBody>
      </p:sp>
      <p:sp>
        <p:nvSpPr>
          <p:cNvPr id="7" name="Text 5"/>
          <p:cNvSpPr/>
          <p:nvPr/>
        </p:nvSpPr>
        <p:spPr>
          <a:xfrm>
            <a:off x="5760720" y="1783080"/>
            <a:ext cx="5806440" cy="118872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Stația Beckton, estul Londrei. Cele mai multe izolate semănau cu virusul din vaccinul oral.</a:t>
            </a:r>
            <a:endParaRPr lang="en-US" sz="1800" dirty="0"/>
          </a:p>
        </p:txBody>
      </p:sp>
      <p:sp>
        <p:nvSpPr>
          <p:cNvPr id="8" name="Shape 6"/>
          <p:cNvSpPr/>
          <p:nvPr/>
        </p:nvSpPr>
        <p:spPr>
          <a:xfrm>
            <a:off x="5760720" y="3063240"/>
            <a:ext cx="5806440" cy="2011680"/>
          </a:xfrm>
          <a:prstGeom prst="roundRect">
            <a:avLst>
              <a:gd name="adj" fmla="val 4091"/>
            </a:avLst>
          </a:prstGeom>
          <a:solidFill>
            <a:srgbClr val="272A38"/>
          </a:solidFill>
          <a:ln w="12700">
            <a:solidFill>
              <a:srgbClr val="272A38"/>
            </a:solidFill>
            <a:prstDash val="solid"/>
          </a:ln>
        </p:spPr>
        <p:txBody>
          <a:bodyPr/>
          <a:p/>
        </p:txBody>
      </p:sp>
      <p:sp>
        <p:nvSpPr>
          <p:cNvPr id="9" name="Text 7"/>
          <p:cNvSpPr/>
          <p:nvPr/>
        </p:nvSpPr>
        <p:spPr>
          <a:xfrm>
            <a:off x="6035040" y="3063240"/>
            <a:ext cx="5303520" cy="20116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Câteva erau „poliovirus derivat din vaccin”: se comportă mai degrabă ca virusul „sălbatic” și poate, rareori, paraliza persoanele nevaccinate.</a:t>
            </a:r>
            <a:endParaRPr lang="en-US" sz="1700" dirty="0"/>
          </a:p>
        </p:txBody>
      </p:sp>
      <p:sp>
        <p:nvSpPr>
          <p:cNvPr id="10" name="Text 8"/>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agenția britanică pentru securitate sanitară, comunicatul din 10 august 2022 (registru A571, A586).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8F1"/>
        </a:solidFill>
      </p:bgPr>
    </p:bg>
    <p:spTree>
      <p:nvGrpSpPr>
        <p:cNvPr id="1" name=""/>
        <p:cNvGrpSpPr/>
        <p:nvPr/>
      </p:nvGrpSpPr>
      <p:grpSpPr>
        <a:xfrm>
          <a:off x="0" y="0"/>
          <a:ext cx="0" cy="0"/>
          <a:chOff x="0" y="0"/>
          <a:chExt cx="0" cy="0"/>
        </a:xfrm>
      </p:grpSpPr>
      <p:sp>
        <p:nvSpPr>
          <p:cNvPr id="2" name="Shape 0"/>
          <p:cNvSpPr/>
          <p:nvPr/>
        </p:nvSpPr>
        <p:spPr>
          <a:xfrm>
            <a:off x="594360" y="1097280"/>
            <a:ext cx="73152" cy="3017520"/>
          </a:xfrm>
          <a:prstGeom prst="rect">
            <a:avLst/>
          </a:prstGeom>
          <a:solidFill>
            <a:srgbClr val="B02532"/>
          </a:solidFill>
          <a:ln w="12700">
            <a:solidFill>
              <a:srgbClr val="B02532"/>
            </a:solidFill>
            <a:prstDash val="solid"/>
          </a:ln>
        </p:spPr>
        <p:txBody>
          <a:bodyPr/>
          <a:p/>
        </p:txBody>
      </p:sp>
      <p:sp>
        <p:nvSpPr>
          <p:cNvPr id="3" name="Text 1"/>
          <p:cNvSpPr/>
          <p:nvPr/>
        </p:nvSpPr>
        <p:spPr>
          <a:xfrm>
            <a:off x="1005840" y="1051560"/>
            <a:ext cx="10515600" cy="1371600"/>
          </a:xfrm>
          <a:prstGeom prst="rect">
            <a:avLst/>
          </a:prstGeom>
          <a:noFill/>
          <a:ln/>
        </p:spPr>
        <p:txBody>
          <a:bodyPr wrap="square" lIns="0" tIns="0" rIns="0" bIns="0" rtlCol="0" anchor="t"/>
          <a:lstStyle/>
          <a:p>
            <a:pPr indent="0" marL="0">
              <a:buNone/>
            </a:pPr>
            <a:r>
              <a:rPr lang="en-US" sz="4400" b="1" i="1" dirty="0">
                <a:solidFill>
                  <a:srgbClr val="11121A"/>
                </a:solidFill>
                <a:latin typeface="Palatino Linotype" pitchFamily="34" charset="0"/>
                <a:ea typeface="Palatino Linotype" pitchFamily="34" charset="-122"/>
                <a:cs typeface="Palatino Linotype" pitchFamily="34" charset="-120"/>
              </a:rPr>
              <a:t>„No cases of polio have been reported”</a:t>
            </a:r>
            <a:endParaRPr lang="en-US" sz="4400" dirty="0"/>
          </a:p>
        </p:txBody>
      </p:sp>
      <p:sp>
        <p:nvSpPr>
          <p:cNvPr id="4" name="Text 2"/>
          <p:cNvSpPr/>
          <p:nvPr/>
        </p:nvSpPr>
        <p:spPr>
          <a:xfrm>
            <a:off x="1005840" y="2514600"/>
            <a:ext cx="10515600" cy="548640"/>
          </a:xfrm>
          <a:prstGeom prst="rect">
            <a:avLst/>
          </a:prstGeom>
          <a:noFill/>
          <a:ln/>
        </p:spPr>
        <p:txBody>
          <a:bodyPr wrap="square" lIns="0" tIns="0" rIns="0" bIns="0" rtlCol="0" anchor="t"/>
          <a:lstStyle/>
          <a:p>
            <a:pPr indent="0" marL="0">
              <a:buNone/>
            </a:pPr>
            <a:r>
              <a:rPr lang="en-US" sz="2200" dirty="0">
                <a:solidFill>
                  <a:srgbClr val="B02532"/>
                </a:solidFill>
                <a:latin typeface="Palatino Linotype" pitchFamily="34" charset="0"/>
                <a:ea typeface="Palatino Linotype" pitchFamily="34" charset="-122"/>
                <a:cs typeface="Palatino Linotype" pitchFamily="34" charset="-120"/>
              </a:rPr>
              <a:t>Nu fusese raportat niciun caz de poliomielită.</a:t>
            </a:r>
            <a:endParaRPr lang="en-US" sz="2200" dirty="0"/>
          </a:p>
        </p:txBody>
      </p:sp>
      <p:sp>
        <p:nvSpPr>
          <p:cNvPr id="5" name="Text 3"/>
          <p:cNvSpPr/>
          <p:nvPr/>
        </p:nvSpPr>
        <p:spPr>
          <a:xfrm>
            <a:off x="1005840" y="3246120"/>
            <a:ext cx="10515600" cy="822960"/>
          </a:xfrm>
          <a:prstGeom prst="rect">
            <a:avLst/>
          </a:prstGeom>
          <a:noFill/>
          <a:ln/>
        </p:spPr>
        <p:txBody>
          <a:bodyPr wrap="square" lIns="0" tIns="0" rIns="0" bIns="0" rtlCol="0" anchor="t"/>
          <a:lstStyle/>
          <a:p>
            <a:pPr indent="0" marL="0">
              <a:buNone/>
            </a:pPr>
            <a:r>
              <a:rPr lang="en-US" sz="1600" i="1" dirty="0">
                <a:solidFill>
                  <a:srgbClr val="585A64"/>
                </a:solidFill>
                <a:latin typeface="Palatino Linotype" pitchFamily="34" charset="0"/>
                <a:ea typeface="Palatino Linotype" pitchFamily="34" charset="-122"/>
                <a:cs typeface="Palatino Linotype" pitchFamily="34" charset="-120"/>
              </a:rPr>
              <a:t>Dr. Vanessa Saliba, epidemiolog al agenției britanice pentru securitate sanitară, în comunicatul din 10 august 2022</a:t>
            </a:r>
            <a:endParaRPr lang="en-US" sz="1600" dirty="0"/>
          </a:p>
        </p:txBody>
      </p:sp>
      <p:sp>
        <p:nvSpPr>
          <p:cNvPr id="6" name="Text 4"/>
          <p:cNvSpPr/>
          <p:nvPr/>
        </p:nvSpPr>
        <p:spPr>
          <a:xfrm>
            <a:off x="594360" y="4754880"/>
            <a:ext cx="10972800" cy="731520"/>
          </a:xfrm>
          <a:prstGeom prst="rect">
            <a:avLst/>
          </a:prstGeom>
          <a:noFill/>
          <a:ln/>
        </p:spPr>
        <p:txBody>
          <a:bodyPr wrap="square" lIns="0" tIns="0" rIns="0" bIns="0" rtlCol="0" anchor="t"/>
          <a:lstStyle/>
          <a:p>
            <a:pPr indent="0" marL="0">
              <a:buNone/>
            </a:pPr>
            <a:r>
              <a:rPr lang="en-US" sz="2200" b="1" dirty="0">
                <a:solidFill>
                  <a:srgbClr val="11121A"/>
                </a:solidFill>
                <a:latin typeface="Palatino Linotype" pitchFamily="34" charset="0"/>
                <a:ea typeface="Palatino Linotype" pitchFamily="34" charset="-122"/>
                <a:cs typeface="Palatino Linotype" pitchFamily="34" charset="-120"/>
              </a:rPr>
              <a:t>Niciun copil paralizat, niciun diagnostic. Exista, în schimb, virusul din canalizare.</a:t>
            </a:r>
            <a:endParaRPr lang="en-US" sz="2200" dirty="0"/>
          </a:p>
        </p:txBody>
      </p:sp>
      <p:sp>
        <p:nvSpPr>
          <p:cNvPr id="7" name="Text 5"/>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registru A572.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CAZUL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Un apel la Direcția de Sănătate Publică, într-o dimineață de vară</a:t>
            </a:r>
            <a:endParaRPr lang="en-US" sz="2800" dirty="0"/>
          </a:p>
        </p:txBody>
      </p:sp>
      <p:sp>
        <p:nvSpPr>
          <p:cNvPr id="4" name="Shape 2"/>
          <p:cNvSpPr/>
          <p:nvPr/>
        </p:nvSpPr>
        <p:spPr>
          <a:xfrm>
            <a:off x="594360" y="1828800"/>
            <a:ext cx="6492240" cy="2194560"/>
          </a:xfrm>
          <a:prstGeom prst="roundRect">
            <a:avLst>
              <a:gd name="adj" fmla="val 3750"/>
            </a:avLst>
          </a:prstGeom>
          <a:solidFill>
            <a:srgbClr val="11121A"/>
          </a:solidFill>
          <a:ln w="12700">
            <a:solidFill>
              <a:srgbClr val="11121A"/>
            </a:solidFill>
            <a:prstDash val="solid"/>
          </a:ln>
        </p:spPr>
        <p:txBody>
          <a:bodyPr/>
          <a:p/>
        </p:txBody>
      </p:sp>
      <p:sp>
        <p:nvSpPr>
          <p:cNvPr id="5" name="Text 3"/>
          <p:cNvSpPr/>
          <p:nvPr/>
        </p:nvSpPr>
        <p:spPr>
          <a:xfrm>
            <a:off x="914400" y="1965960"/>
            <a:ext cx="5943600" cy="320040"/>
          </a:xfrm>
          <a:prstGeom prst="rect">
            <a:avLst/>
          </a:prstGeom>
          <a:noFill/>
          <a:ln/>
        </p:spPr>
        <p:txBody>
          <a:bodyPr wrap="square" lIns="0" tIns="0" rIns="0" bIns="0" rtlCol="0" anchor="t"/>
          <a:lstStyle/>
          <a:p>
            <a:pPr indent="0" marL="0">
              <a:buNone/>
            </a:pPr>
            <a:r>
              <a:rPr lang="en-US" sz="1200" b="1" spc="200" kern="0" dirty="0">
                <a:solidFill>
                  <a:srgbClr val="FFC24B"/>
                </a:solidFill>
                <a:latin typeface="Palatino Linotype" pitchFamily="34" charset="0"/>
                <a:ea typeface="Palatino Linotype" pitchFamily="34" charset="-122"/>
                <a:cs typeface="Palatino Linotype" pitchFamily="34" charset="-120"/>
              </a:rPr>
              <a:t>LABORATORUL, LA TELEFON</a:t>
            </a:r>
            <a:endParaRPr lang="en-US" sz="1200" dirty="0"/>
          </a:p>
        </p:txBody>
      </p:sp>
      <p:sp>
        <p:nvSpPr>
          <p:cNvPr id="6" name="Text 4"/>
          <p:cNvSpPr/>
          <p:nvPr/>
        </p:nvSpPr>
        <p:spPr>
          <a:xfrm>
            <a:off x="914400" y="2331720"/>
            <a:ext cx="5943600" cy="1554480"/>
          </a:xfrm>
          <a:prstGeom prst="rect">
            <a:avLst/>
          </a:prstGeom>
          <a:noFill/>
          <a:ln/>
        </p:spPr>
        <p:txBody>
          <a:bodyPr wrap="square" lIns="0" tIns="0" rIns="0" bIns="0" rtlCol="0" anchor="t"/>
          <a:lstStyle/>
          <a:p>
            <a:pPr indent="0" marL="0">
              <a:buNone/>
            </a:pPr>
            <a:r>
              <a:rPr lang="en-US" sz="2000" i="1" dirty="0">
                <a:solidFill>
                  <a:srgbClr val="FFFFFF"/>
                </a:solidFill>
                <a:latin typeface="Palatino Linotype" pitchFamily="34" charset="0"/>
                <a:ea typeface="Palatino Linotype" pitchFamily="34" charset="-122"/>
                <a:cs typeface="Palatino Linotype" pitchFamily="34" charset="-120"/>
              </a:rPr>
              <a:t>„În apele uzate ale unui cartier am găsit un virus care, la un copil nevaccinat, poate produce paralizie.”</a:t>
            </a:r>
            <a:endParaRPr lang="en-US" sz="2000" dirty="0"/>
          </a:p>
        </p:txBody>
      </p:sp>
      <p:sp>
        <p:nvSpPr>
          <p:cNvPr id="7" name="Shape 5"/>
          <p:cNvSpPr/>
          <p:nvPr/>
        </p:nvSpPr>
        <p:spPr>
          <a:xfrm>
            <a:off x="7360920" y="1828800"/>
            <a:ext cx="4206240" cy="640080"/>
          </a:xfrm>
          <a:prstGeom prst="roundRect">
            <a:avLst>
              <a:gd name="adj" fmla="val 12857"/>
            </a:avLst>
          </a:prstGeom>
          <a:solidFill>
            <a:srgbClr val="ECEAE4"/>
          </a:solidFill>
          <a:ln w="12700">
            <a:solidFill>
              <a:srgbClr val="ECEAE4"/>
            </a:solidFill>
            <a:prstDash val="solid"/>
          </a:ln>
        </p:spPr>
        <p:txBody>
          <a:bodyPr/>
          <a:p/>
        </p:txBody>
      </p:sp>
      <p:sp>
        <p:nvSpPr>
          <p:cNvPr id="8" name="Text 6"/>
          <p:cNvSpPr/>
          <p:nvPr/>
        </p:nvSpPr>
        <p:spPr>
          <a:xfrm>
            <a:off x="7589520" y="1828800"/>
            <a:ext cx="3840480" cy="64008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Spitalele: </a:t>
            </a:r>
            <a:pPr indent="0" marL="0">
              <a:buNone/>
            </a:pPr>
            <a:r>
              <a:rPr lang="en-US" sz="1700" dirty="0">
                <a:solidFill>
                  <a:srgbClr val="11121A"/>
                </a:solidFill>
                <a:latin typeface="Palatino Linotype" pitchFamily="34" charset="0"/>
                <a:ea typeface="Palatino Linotype" pitchFamily="34" charset="-122"/>
                <a:cs typeface="Palatino Linotype" pitchFamily="34" charset="-120"/>
              </a:rPr>
              <a:t>niciun caz</a:t>
            </a:r>
            <a:endParaRPr lang="en-US" sz="1700" dirty="0"/>
          </a:p>
        </p:txBody>
      </p:sp>
      <p:sp>
        <p:nvSpPr>
          <p:cNvPr id="9" name="Shape 7"/>
          <p:cNvSpPr/>
          <p:nvPr/>
        </p:nvSpPr>
        <p:spPr>
          <a:xfrm>
            <a:off x="7360920" y="2578608"/>
            <a:ext cx="4206240" cy="640080"/>
          </a:xfrm>
          <a:prstGeom prst="roundRect">
            <a:avLst>
              <a:gd name="adj" fmla="val 12857"/>
            </a:avLst>
          </a:prstGeom>
          <a:solidFill>
            <a:srgbClr val="ECEAE4"/>
          </a:solidFill>
          <a:ln w="12700">
            <a:solidFill>
              <a:srgbClr val="ECEAE4"/>
            </a:solidFill>
            <a:prstDash val="solid"/>
          </a:ln>
        </p:spPr>
        <p:txBody>
          <a:bodyPr/>
          <a:p/>
        </p:txBody>
      </p:sp>
      <p:sp>
        <p:nvSpPr>
          <p:cNvPr id="10" name="Text 8"/>
          <p:cNvSpPr/>
          <p:nvPr/>
        </p:nvSpPr>
        <p:spPr>
          <a:xfrm>
            <a:off x="7589520" y="2578608"/>
            <a:ext cx="3840480" cy="64008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Medicii de familie: </a:t>
            </a:r>
            <a:pPr indent="0" marL="0">
              <a:buNone/>
            </a:pPr>
            <a:r>
              <a:rPr lang="en-US" sz="1700" dirty="0">
                <a:solidFill>
                  <a:srgbClr val="11121A"/>
                </a:solidFill>
                <a:latin typeface="Palatino Linotype" pitchFamily="34" charset="0"/>
                <a:ea typeface="Palatino Linotype" pitchFamily="34" charset="-122"/>
                <a:cs typeface="Palatino Linotype" pitchFamily="34" charset="-120"/>
              </a:rPr>
              <a:t>nimic raportat</a:t>
            </a:r>
            <a:endParaRPr lang="en-US" sz="1700" dirty="0"/>
          </a:p>
        </p:txBody>
      </p:sp>
      <p:sp>
        <p:nvSpPr>
          <p:cNvPr id="11" name="Shape 9"/>
          <p:cNvSpPr/>
          <p:nvPr/>
        </p:nvSpPr>
        <p:spPr>
          <a:xfrm>
            <a:off x="7360920" y="3328416"/>
            <a:ext cx="4206240" cy="640080"/>
          </a:xfrm>
          <a:prstGeom prst="roundRect">
            <a:avLst>
              <a:gd name="adj" fmla="val 12857"/>
            </a:avLst>
          </a:prstGeom>
          <a:solidFill>
            <a:srgbClr val="ECEAE4"/>
          </a:solidFill>
          <a:ln w="12700">
            <a:solidFill>
              <a:srgbClr val="ECEAE4"/>
            </a:solidFill>
            <a:prstDash val="solid"/>
          </a:ln>
        </p:spPr>
        <p:txBody>
          <a:bodyPr/>
          <a:p/>
        </p:txBody>
      </p:sp>
      <p:sp>
        <p:nvSpPr>
          <p:cNvPr id="12" name="Text 10"/>
          <p:cNvSpPr/>
          <p:nvPr/>
        </p:nvSpPr>
        <p:spPr>
          <a:xfrm>
            <a:off x="7589520" y="3328416"/>
            <a:ext cx="3840480" cy="64008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Părinții: </a:t>
            </a:r>
            <a:pPr indent="0" marL="0">
              <a:buNone/>
            </a:pPr>
            <a:r>
              <a:rPr lang="en-US" sz="1700" dirty="0">
                <a:solidFill>
                  <a:srgbClr val="11121A"/>
                </a:solidFill>
                <a:latin typeface="Palatino Linotype" pitchFamily="34" charset="0"/>
                <a:ea typeface="Palatino Linotype" pitchFamily="34" charset="-122"/>
                <a:cs typeface="Palatino Linotype" pitchFamily="34" charset="-120"/>
              </a:rPr>
              <a:t>nu știu nimic</a:t>
            </a:r>
            <a:endParaRPr lang="en-US" sz="1700" dirty="0"/>
          </a:p>
        </p:txBody>
      </p:sp>
      <p:sp>
        <p:nvSpPr>
          <p:cNvPr id="13" name="Text 11"/>
          <p:cNvSpPr/>
          <p:nvPr/>
        </p:nvSpPr>
        <p:spPr>
          <a:xfrm>
            <a:off x="594360" y="4389120"/>
            <a:ext cx="10972800" cy="1097280"/>
          </a:xfrm>
          <a:prstGeom prst="rect">
            <a:avLst/>
          </a:prstGeom>
          <a:noFill/>
          <a:ln/>
        </p:spPr>
        <p:txBody>
          <a:bodyPr wrap="square" lIns="0" tIns="0" rIns="0" bIns="0" rtlCol="0" anchor="t"/>
          <a:lstStyle/>
          <a:p>
            <a:pPr indent="0" marL="0">
              <a:buNone/>
            </a:pPr>
            <a:r>
              <a:rPr lang="en-US" sz="2200" b="1" dirty="0">
                <a:solidFill>
                  <a:srgbClr val="11121A"/>
                </a:solidFill>
                <a:latin typeface="Palatino Linotype" pitchFamily="34" charset="0"/>
                <a:ea typeface="Palatino Linotype" pitchFamily="34" charset="-122"/>
                <a:cs typeface="Palatino Linotype" pitchFamily="34" charset="-120"/>
              </a:rPr>
              <a:t>Așteptați primul bolnav, ca să fiți siguri, sau acționați acum, pe baza unei probe din canalizare?</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VOTUL ÎNTÂI</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Dacă ați conduce direcția de sănătate publică, ce ați face?</a:t>
            </a:r>
            <a:endParaRPr lang="en-US" sz="2800" dirty="0"/>
          </a:p>
        </p:txBody>
      </p:sp>
      <p:sp>
        <p:nvSpPr>
          <p:cNvPr id="6" name="Shape 4"/>
          <p:cNvSpPr/>
          <p:nvPr/>
        </p:nvSpPr>
        <p:spPr>
          <a:xfrm>
            <a:off x="594360" y="1783080"/>
            <a:ext cx="7635240" cy="749808"/>
          </a:xfrm>
          <a:prstGeom prst="roundRect">
            <a:avLst>
              <a:gd name="adj" fmla="val 10976"/>
            </a:avLst>
          </a:prstGeom>
          <a:solidFill>
            <a:srgbClr val="1D1F2B"/>
          </a:solidFill>
          <a:ln w="12700">
            <a:solidFill>
              <a:srgbClr val="1D1F2B"/>
            </a:solidFill>
            <a:prstDash val="solid"/>
          </a:ln>
        </p:spPr>
        <p:txBody>
          <a:bodyPr/>
          <a:p/>
        </p:txBody>
      </p:sp>
      <p:sp>
        <p:nvSpPr>
          <p:cNvPr id="7" name="Shape 5"/>
          <p:cNvSpPr/>
          <p:nvPr/>
        </p:nvSpPr>
        <p:spPr>
          <a:xfrm>
            <a:off x="914400" y="1947672"/>
            <a:ext cx="420624" cy="420624"/>
          </a:xfrm>
          <a:prstGeom prst="ellipse">
            <a:avLst/>
          </a:prstGeom>
          <a:solidFill>
            <a:srgbClr val="FFC24B"/>
          </a:solidFill>
          <a:ln/>
        </p:spPr>
        <p:txBody>
          <a:bodyPr/>
          <a:p/>
        </p:txBody>
      </p:sp>
      <p:sp>
        <p:nvSpPr>
          <p:cNvPr id="8" name="Text 6"/>
          <p:cNvSpPr/>
          <p:nvPr/>
        </p:nvSpPr>
        <p:spPr>
          <a:xfrm>
            <a:off x="914400" y="19476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1783080"/>
            <a:ext cx="6355080" cy="74980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Aștept primul caz confirmat</a:t>
            </a:r>
            <a:endParaRPr lang="en-US" sz="1700" dirty="0"/>
          </a:p>
        </p:txBody>
      </p:sp>
      <p:sp>
        <p:nvSpPr>
          <p:cNvPr id="10" name="Shape 8"/>
          <p:cNvSpPr/>
          <p:nvPr/>
        </p:nvSpPr>
        <p:spPr>
          <a:xfrm>
            <a:off x="594360" y="2679192"/>
            <a:ext cx="7635240" cy="749808"/>
          </a:xfrm>
          <a:prstGeom prst="roundRect">
            <a:avLst>
              <a:gd name="adj" fmla="val 10976"/>
            </a:avLst>
          </a:prstGeom>
          <a:solidFill>
            <a:srgbClr val="1D1F2B"/>
          </a:solidFill>
          <a:ln w="12700">
            <a:solidFill>
              <a:srgbClr val="1D1F2B"/>
            </a:solidFill>
            <a:prstDash val="solid"/>
          </a:ln>
        </p:spPr>
        <p:txBody>
          <a:bodyPr/>
          <a:p/>
        </p:txBody>
      </p:sp>
      <p:sp>
        <p:nvSpPr>
          <p:cNvPr id="11" name="Shape 9"/>
          <p:cNvSpPr/>
          <p:nvPr/>
        </p:nvSpPr>
        <p:spPr>
          <a:xfrm>
            <a:off x="914400" y="2843784"/>
            <a:ext cx="420624" cy="420624"/>
          </a:xfrm>
          <a:prstGeom prst="ellipse">
            <a:avLst/>
          </a:prstGeom>
          <a:solidFill>
            <a:srgbClr val="FFC24B"/>
          </a:solidFill>
          <a:ln/>
        </p:spPr>
        <p:txBody>
          <a:bodyPr/>
          <a:p/>
        </p:txBody>
      </p:sp>
      <p:sp>
        <p:nvSpPr>
          <p:cNvPr id="12" name="Text 10"/>
          <p:cNvSpPr/>
          <p:nvPr/>
        </p:nvSpPr>
        <p:spPr>
          <a:xfrm>
            <a:off x="914400" y="28437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2679192"/>
            <a:ext cx="6355080" cy="74980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Anunț medicii de familie să fie atenți</a:t>
            </a:r>
            <a:endParaRPr lang="en-US" sz="1700" dirty="0"/>
          </a:p>
        </p:txBody>
      </p:sp>
      <p:sp>
        <p:nvSpPr>
          <p:cNvPr id="14" name="Shape 12"/>
          <p:cNvSpPr/>
          <p:nvPr/>
        </p:nvSpPr>
        <p:spPr>
          <a:xfrm>
            <a:off x="594360" y="3575304"/>
            <a:ext cx="7635240" cy="749808"/>
          </a:xfrm>
          <a:prstGeom prst="roundRect">
            <a:avLst>
              <a:gd name="adj" fmla="val 10976"/>
            </a:avLst>
          </a:prstGeom>
          <a:solidFill>
            <a:srgbClr val="1D1F2B"/>
          </a:solidFill>
          <a:ln w="12700">
            <a:solidFill>
              <a:srgbClr val="1D1F2B"/>
            </a:solidFill>
            <a:prstDash val="solid"/>
          </a:ln>
        </p:spPr>
        <p:txBody>
          <a:bodyPr/>
          <a:p/>
        </p:txBody>
      </p:sp>
      <p:sp>
        <p:nvSpPr>
          <p:cNvPr id="15" name="Shape 13"/>
          <p:cNvSpPr/>
          <p:nvPr/>
        </p:nvSpPr>
        <p:spPr>
          <a:xfrm>
            <a:off x="914400" y="3739896"/>
            <a:ext cx="420624" cy="420624"/>
          </a:xfrm>
          <a:prstGeom prst="ellipse">
            <a:avLst/>
          </a:prstGeom>
          <a:solidFill>
            <a:srgbClr val="FFC24B"/>
          </a:solidFill>
          <a:ln/>
        </p:spPr>
        <p:txBody>
          <a:bodyPr/>
          <a:p/>
        </p:txBody>
      </p:sp>
      <p:sp>
        <p:nvSpPr>
          <p:cNvPr id="16" name="Text 14"/>
          <p:cNvSpPr/>
          <p:nvPr/>
        </p:nvSpPr>
        <p:spPr>
          <a:xfrm>
            <a:off x="914400" y="373989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3575304"/>
            <a:ext cx="6355080" cy="74980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Ofer o doză de vaccin copiilor din cartierele cu virus</a:t>
            </a:r>
            <a:endParaRPr lang="en-US" sz="1700" dirty="0"/>
          </a:p>
        </p:txBody>
      </p:sp>
      <p:sp>
        <p:nvSpPr>
          <p:cNvPr id="18" name="Shape 16"/>
          <p:cNvSpPr/>
          <p:nvPr/>
        </p:nvSpPr>
        <p:spPr>
          <a:xfrm>
            <a:off x="594360" y="4471416"/>
            <a:ext cx="7635240" cy="749808"/>
          </a:xfrm>
          <a:prstGeom prst="roundRect">
            <a:avLst>
              <a:gd name="adj" fmla="val 10976"/>
            </a:avLst>
          </a:prstGeom>
          <a:solidFill>
            <a:srgbClr val="1D1F2B"/>
          </a:solidFill>
          <a:ln w="12700">
            <a:solidFill>
              <a:srgbClr val="1D1F2B"/>
            </a:solidFill>
            <a:prstDash val="solid"/>
          </a:ln>
        </p:spPr>
        <p:txBody>
          <a:bodyPr/>
          <a:p/>
        </p:txBody>
      </p:sp>
      <p:sp>
        <p:nvSpPr>
          <p:cNvPr id="19" name="Shape 17"/>
          <p:cNvSpPr/>
          <p:nvPr/>
        </p:nvSpPr>
        <p:spPr>
          <a:xfrm>
            <a:off x="914400" y="4636008"/>
            <a:ext cx="420624" cy="420624"/>
          </a:xfrm>
          <a:prstGeom prst="ellipse">
            <a:avLst/>
          </a:prstGeom>
          <a:solidFill>
            <a:srgbClr val="FFC24B"/>
          </a:solidFill>
          <a:ln/>
        </p:spPr>
        <p:txBody>
          <a:bodyPr/>
          <a:p/>
        </p:txBody>
      </p:sp>
      <p:sp>
        <p:nvSpPr>
          <p:cNvPr id="20" name="Text 18"/>
          <p:cNvSpPr/>
          <p:nvPr/>
        </p:nvSpPr>
        <p:spPr>
          <a:xfrm>
            <a:off x="914400" y="46360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600200" y="4471416"/>
            <a:ext cx="6355080" cy="74980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Ofer o doză de vaccin tuturor copiilor mici din oraș</a:t>
            </a:r>
            <a:endParaRPr lang="en-US" sz="1700" dirty="0"/>
          </a:p>
        </p:txBody>
      </p:sp>
      <p:sp>
        <p:nvSpPr>
          <p:cNvPr id="22" name="Shape 20"/>
          <p:cNvSpPr/>
          <p:nvPr/>
        </p:nvSpPr>
        <p:spPr>
          <a:xfrm>
            <a:off x="8503920" y="1783080"/>
            <a:ext cx="3063240" cy="3063240"/>
          </a:xfrm>
          <a:prstGeom prst="roundRect">
            <a:avLst>
              <a:gd name="adj" fmla="val 2687"/>
            </a:avLst>
          </a:prstGeom>
          <a:solidFill>
            <a:srgbClr val="FFFFFF"/>
          </a:solidFill>
          <a:ln w="12700">
            <a:solidFill>
              <a:srgbClr val="FFFFFF"/>
            </a:solidFill>
            <a:prstDash val="solid"/>
          </a:ln>
        </p:spPr>
        <p:txBody>
          <a:bodyPr/>
          <a:p/>
        </p:txBody>
      </p:sp>
      <p:sp>
        <p:nvSpPr>
          <p:cNvPr id="24" name="Text 22"/>
          <p:cNvSpPr/>
          <p:nvPr/>
        </p:nvSpPr>
        <p:spPr>
          <a:xfrm>
            <a:off x="594360" y="5532120"/>
            <a:ext cx="10972800" cy="45720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Răspundeți pe telefon, la codul afișat. Apoi două minute cu colegul de bancă: ce informație v-ar lipsi?</a:t>
            </a:r>
            <a:endParaRPr lang="en-US" sz="1500" dirty="0"/>
          </a:p>
        </p:txBody>
      </p:sp>
      <p:pic>
        <p:nvPicPr>
          <p:cNvPr id="25" name="Picture 24" descr="Mentimeter_OPT_DETECTIVI_C04.png"/>
          <p:cNvPicPr>
            <a:picLocks noChangeAspect="1"/>
          </p:cNvPicPr>
          <p:nvPr/>
        </p:nvPicPr>
        <p:blipFill>
          <a:blip r:embed="rId3"/>
          <a:stretch>
            <a:fillRect/>
          </a:stretch>
        </p:blipFill>
        <p:spPr>
          <a:xfrm>
            <a:off x="8817610" y="1783080"/>
            <a:ext cx="2435860" cy="2435860"/>
          </a:xfrm>
          <a:prstGeom prst="rect">
            <a:avLst/>
          </a:prstGeom>
        </p:spPr>
      </p:pic>
      <p:sp>
        <p:nvSpPr>
          <p:cNvPr id="26" name="TextBox 25"/>
          <p:cNvSpPr txBox="1"/>
          <p:nvPr/>
        </p:nvSpPr>
        <p:spPr>
          <a:xfrm>
            <a:off x="8503920" y="4257040"/>
            <a:ext cx="306324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7D3BE"/>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073B34"/>
                </a:solidFill>
                <a:latin typeface="Palatino Linotype" pitchFamily="34" charset="0"/>
                <a:ea typeface="Palatino Linotype" pitchFamily="34" charset="-122"/>
                <a:cs typeface="Palatino Linotype" pitchFamily="34" charset="-120"/>
              </a:rPr>
              <a:t>CE S-A HOTĂRÂT</a:t>
            </a:r>
            <a:endParaRPr lang="en-US" sz="1300" dirty="0"/>
          </a:p>
        </p:txBody>
      </p:sp>
      <p:sp>
        <p:nvSpPr>
          <p:cNvPr id="3" name="Text 1"/>
          <p:cNvSpPr/>
          <p:nvPr/>
        </p:nvSpPr>
        <p:spPr>
          <a:xfrm>
            <a:off x="594360" y="777240"/>
            <a:ext cx="10972800" cy="822960"/>
          </a:xfrm>
          <a:prstGeom prst="rect">
            <a:avLst/>
          </a:prstGeom>
          <a:noFill/>
          <a:ln/>
        </p:spPr>
        <p:txBody>
          <a:bodyPr wrap="square" lIns="0" tIns="0" rIns="0" bIns="0" rtlCol="0" anchor="t"/>
          <a:lstStyle/>
          <a:p>
            <a:pPr indent="0" marL="0">
              <a:buNone/>
            </a:pPr>
            <a:r>
              <a:rPr lang="en-US" sz="3800" b="1" dirty="0">
                <a:solidFill>
                  <a:srgbClr val="073B34"/>
                </a:solidFill>
                <a:latin typeface="Palatino Linotype" pitchFamily="34" charset="0"/>
                <a:ea typeface="Palatino Linotype" pitchFamily="34" charset="-122"/>
                <a:cs typeface="Palatino Linotype" pitchFamily="34" charset="-120"/>
              </a:rPr>
              <a:t>A patra variantă, începută cu a treia</a:t>
            </a:r>
            <a:endParaRPr lang="en-US" sz="3800" dirty="0"/>
          </a:p>
        </p:txBody>
      </p:sp>
      <p:sp>
        <p:nvSpPr>
          <p:cNvPr id="4" name="Text 2"/>
          <p:cNvSpPr/>
          <p:nvPr/>
        </p:nvSpPr>
        <p:spPr>
          <a:xfrm>
            <a:off x="594360" y="1783080"/>
            <a:ext cx="10972800" cy="1188720"/>
          </a:xfrm>
          <a:prstGeom prst="rect">
            <a:avLst/>
          </a:prstGeom>
          <a:noFill/>
          <a:ln/>
        </p:spPr>
        <p:txBody>
          <a:bodyPr wrap="square" lIns="0" tIns="0" rIns="0" bIns="0" rtlCol="0" anchor="t"/>
          <a:lstStyle/>
          <a:p>
            <a:pPr indent="0" marL="0">
              <a:buNone/>
            </a:pPr>
            <a:r>
              <a:rPr lang="en-US" sz="1900" dirty="0">
                <a:solidFill>
                  <a:srgbClr val="073B34"/>
                </a:solidFill>
                <a:latin typeface="Palatino Linotype" pitchFamily="34" charset="0"/>
                <a:ea typeface="Palatino Linotype" pitchFamily="34" charset="-122"/>
                <a:cs typeface="Palatino Linotype" pitchFamily="34" charset="-120"/>
              </a:rPr>
              <a:t>10 august 2022: comitetul mixt pentru vaccinare și imunizare recomandă o doză suplimentară de vaccin polio inactivat pentru toți copiii între 1 și 9 ani, din toate cartierele Londrei.</a:t>
            </a:r>
            <a:endParaRPr lang="en-US" sz="1900" dirty="0"/>
          </a:p>
        </p:txBody>
      </p:sp>
      <p:sp>
        <p:nvSpPr>
          <p:cNvPr id="5" name="Shape 3"/>
          <p:cNvSpPr/>
          <p:nvPr/>
        </p:nvSpPr>
        <p:spPr>
          <a:xfrm>
            <a:off x="594360" y="3291840"/>
            <a:ext cx="5257800" cy="2011680"/>
          </a:xfrm>
          <a:prstGeom prst="roundRect">
            <a:avLst>
              <a:gd name="adj" fmla="val 4091"/>
            </a:avLst>
          </a:prstGeom>
          <a:solidFill>
            <a:srgbClr val="D3F6F1"/>
          </a:solidFill>
          <a:ln w="12700">
            <a:solidFill>
              <a:srgbClr val="D3F6F1"/>
            </a:solidFill>
            <a:prstDash val="solid"/>
          </a:ln>
        </p:spPr>
        <p:txBody>
          <a:bodyPr/>
          <a:p/>
        </p:txBody>
      </p:sp>
      <p:sp>
        <p:nvSpPr>
          <p:cNvPr id="6" name="Text 4"/>
          <p:cNvSpPr/>
          <p:nvPr/>
        </p:nvSpPr>
        <p:spPr>
          <a:xfrm>
            <a:off x="868680" y="3474720"/>
            <a:ext cx="4754880" cy="502920"/>
          </a:xfrm>
          <a:prstGeom prst="rect">
            <a:avLst/>
          </a:prstGeom>
          <a:noFill/>
          <a:ln/>
        </p:spPr>
        <p:txBody>
          <a:bodyPr wrap="square" lIns="0" tIns="0" rIns="0" bIns="0" rtlCol="0" anchor="t"/>
          <a:lstStyle/>
          <a:p>
            <a:pPr indent="0" marL="0">
              <a:buNone/>
            </a:pPr>
            <a:r>
              <a:rPr lang="en-US" sz="2200" b="1" dirty="0">
                <a:solidFill>
                  <a:srgbClr val="073B34"/>
                </a:solidFill>
                <a:latin typeface="Palatino Linotype" pitchFamily="34" charset="0"/>
                <a:ea typeface="Palatino Linotype" pitchFamily="34" charset="-122"/>
                <a:cs typeface="Palatino Linotype" pitchFamily="34" charset="-120"/>
              </a:rPr>
              <a:t>Întâi</a:t>
            </a:r>
            <a:endParaRPr lang="en-US" sz="2200" dirty="0"/>
          </a:p>
        </p:txBody>
      </p:sp>
      <p:sp>
        <p:nvSpPr>
          <p:cNvPr id="7" name="Text 5"/>
          <p:cNvSpPr/>
          <p:nvPr/>
        </p:nvSpPr>
        <p:spPr>
          <a:xfrm>
            <a:off x="868680" y="4023360"/>
            <a:ext cx="4754880" cy="1188720"/>
          </a:xfrm>
          <a:prstGeom prst="rect">
            <a:avLst/>
          </a:prstGeom>
          <a:noFill/>
          <a:ln/>
        </p:spPr>
        <p:txBody>
          <a:bodyPr wrap="square" lIns="0" tIns="0" rIns="0" bIns="0" rtlCol="0" anchor="t"/>
          <a:lstStyle/>
          <a:p>
            <a:pPr indent="0" marL="0">
              <a:buNone/>
            </a:pPr>
            <a:r>
              <a:rPr lang="en-US" sz="1800" dirty="0">
                <a:solidFill>
                  <a:srgbClr val="073B34"/>
                </a:solidFill>
                <a:latin typeface="Palatino Linotype" pitchFamily="34" charset="0"/>
                <a:ea typeface="Palatino Linotype" pitchFamily="34" charset="-122"/>
                <a:cs typeface="Palatino Linotype" pitchFamily="34" charset="-120"/>
              </a:rPr>
              <a:t>zonele afectate: virusul fusese găsit acolo, iar acoperirea vaccinală era mică</a:t>
            </a:r>
            <a:endParaRPr lang="en-US" sz="1800" dirty="0"/>
          </a:p>
        </p:txBody>
      </p:sp>
      <p:sp>
        <p:nvSpPr>
          <p:cNvPr id="8" name="Shape 6"/>
          <p:cNvSpPr/>
          <p:nvPr/>
        </p:nvSpPr>
        <p:spPr>
          <a:xfrm>
            <a:off x="6309360" y="3291840"/>
            <a:ext cx="5257800" cy="2011680"/>
          </a:xfrm>
          <a:prstGeom prst="roundRect">
            <a:avLst>
              <a:gd name="adj" fmla="val 4091"/>
            </a:avLst>
          </a:prstGeom>
          <a:solidFill>
            <a:srgbClr val="D3F6F1"/>
          </a:solidFill>
          <a:ln w="12700">
            <a:solidFill>
              <a:srgbClr val="D3F6F1"/>
            </a:solidFill>
            <a:prstDash val="solid"/>
          </a:ln>
        </p:spPr>
        <p:txBody>
          <a:bodyPr/>
          <a:p/>
        </p:txBody>
      </p:sp>
      <p:sp>
        <p:nvSpPr>
          <p:cNvPr id="9" name="Text 7"/>
          <p:cNvSpPr/>
          <p:nvPr/>
        </p:nvSpPr>
        <p:spPr>
          <a:xfrm>
            <a:off x="6583680" y="3474720"/>
            <a:ext cx="4754880" cy="502920"/>
          </a:xfrm>
          <a:prstGeom prst="rect">
            <a:avLst/>
          </a:prstGeom>
          <a:noFill/>
          <a:ln/>
        </p:spPr>
        <p:txBody>
          <a:bodyPr wrap="square" lIns="0" tIns="0" rIns="0" bIns="0" rtlCol="0" anchor="t"/>
          <a:lstStyle/>
          <a:p>
            <a:pPr indent="0" marL="0">
              <a:buNone/>
            </a:pPr>
            <a:r>
              <a:rPr lang="en-US" sz="2200" b="1" dirty="0">
                <a:solidFill>
                  <a:srgbClr val="073B34"/>
                </a:solidFill>
                <a:latin typeface="Palatino Linotype" pitchFamily="34" charset="0"/>
                <a:ea typeface="Palatino Linotype" pitchFamily="34" charset="-122"/>
                <a:cs typeface="Palatino Linotype" pitchFamily="34" charset="-120"/>
              </a:rPr>
              <a:t>Apoi, rapid</a:t>
            </a:r>
            <a:endParaRPr lang="en-US" sz="2200" dirty="0"/>
          </a:p>
        </p:txBody>
      </p:sp>
      <p:sp>
        <p:nvSpPr>
          <p:cNvPr id="10" name="Text 8"/>
          <p:cNvSpPr/>
          <p:nvPr/>
        </p:nvSpPr>
        <p:spPr>
          <a:xfrm>
            <a:off x="6583680" y="4023360"/>
            <a:ext cx="4754880" cy="1188720"/>
          </a:xfrm>
          <a:prstGeom prst="rect">
            <a:avLst/>
          </a:prstGeom>
          <a:noFill/>
          <a:ln/>
        </p:spPr>
        <p:txBody>
          <a:bodyPr wrap="square" lIns="0" tIns="0" rIns="0" bIns="0" rtlCol="0" anchor="t"/>
          <a:lstStyle/>
          <a:p>
            <a:pPr indent="0" marL="0">
              <a:buNone/>
            </a:pPr>
            <a:r>
              <a:rPr lang="en-US" sz="1800" dirty="0">
                <a:solidFill>
                  <a:srgbClr val="073B34"/>
                </a:solidFill>
                <a:latin typeface="Palatino Linotype" pitchFamily="34" charset="0"/>
                <a:ea typeface="Palatino Linotype" pitchFamily="34" charset="-122"/>
                <a:cs typeface="Palatino Linotype" pitchFamily="34" charset="-120"/>
              </a:rPr>
              <a:t>toate cartierele orașului</a:t>
            </a:r>
            <a:endParaRPr lang="en-US" sz="1800" dirty="0"/>
          </a:p>
        </p:txBody>
      </p:sp>
      <p:sp>
        <p:nvSpPr>
          <p:cNvPr id="11" name="Shape 9"/>
          <p:cNvSpPr/>
          <p:nvPr/>
        </p:nvSpPr>
        <p:spPr>
          <a:xfrm>
            <a:off x="5870448" y="4069080"/>
            <a:ext cx="411480" cy="457200"/>
          </a:xfrm>
          <a:prstGeom prst="rightArrow">
            <a:avLst/>
          </a:prstGeom>
          <a:solidFill>
            <a:srgbClr val="073B34"/>
          </a:solidFill>
          <a:ln w="12700">
            <a:solidFill>
              <a:srgbClr val="073B34"/>
            </a:solidFill>
            <a:prstDash val="solid"/>
          </a:ln>
        </p:spPr>
        <p:txBody>
          <a:bodyPr/>
          <a:p/>
        </p:txBody>
      </p:sp>
      <p:sp>
        <p:nvSpPr>
          <p:cNvPr id="12" name="Text 10"/>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073B34"/>
                </a:solidFill>
                <a:latin typeface="Palatino Linotype" pitchFamily="34" charset="0"/>
                <a:ea typeface="Palatino Linotype" pitchFamily="34" charset="-122"/>
                <a:cs typeface="Palatino Linotype" pitchFamily="34" charset="-120"/>
              </a:rPr>
              <a:t>Sursa: comunicatul din 10 august 2022 (registru A570, A588).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TREI ARGUMENTE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De ce o decizie atât de largă, fără niciun bolnav?</a:t>
            </a:r>
            <a:endParaRPr lang="en-US" sz="3000" dirty="0"/>
          </a:p>
        </p:txBody>
      </p:sp>
      <p:sp>
        <p:nvSpPr>
          <p:cNvPr id="4" name="Shape 2"/>
          <p:cNvSpPr/>
          <p:nvPr/>
        </p:nvSpPr>
        <p:spPr>
          <a:xfrm>
            <a:off x="594360" y="1691640"/>
            <a:ext cx="3520440" cy="2514600"/>
          </a:xfrm>
          <a:prstGeom prst="roundRect">
            <a:avLst>
              <a:gd name="adj" fmla="val 3273"/>
            </a:avLst>
          </a:prstGeom>
          <a:solidFill>
            <a:srgbClr val="F4E0E2"/>
          </a:solidFill>
          <a:ln w="12700">
            <a:solidFill>
              <a:srgbClr val="F4E0E2"/>
            </a:solidFill>
            <a:prstDash val="solid"/>
          </a:ln>
        </p:spPr>
        <p:txBody>
          <a:bodyPr/>
          <a:p/>
        </p:txBody>
      </p:sp>
      <p:sp>
        <p:nvSpPr>
          <p:cNvPr id="5" name="Text 3"/>
          <p:cNvSpPr/>
          <p:nvPr/>
        </p:nvSpPr>
        <p:spPr>
          <a:xfrm>
            <a:off x="868680" y="1874520"/>
            <a:ext cx="3017520" cy="502920"/>
          </a:xfrm>
          <a:prstGeom prst="rect">
            <a:avLst/>
          </a:prstGeom>
          <a:noFill/>
          <a:ln/>
        </p:spPr>
        <p:txBody>
          <a:bodyPr wrap="square" lIns="0" tIns="0" rIns="0" bIns="0" rtlCol="0" anchor="t"/>
          <a:lstStyle/>
          <a:p>
            <a:pPr indent="0" marL="0">
              <a:buNone/>
            </a:pPr>
            <a:r>
              <a:rPr lang="en-US" sz="2100" b="1" dirty="0">
                <a:solidFill>
                  <a:srgbClr val="B02532"/>
                </a:solidFill>
                <a:latin typeface="Palatino Linotype" pitchFamily="34" charset="0"/>
                <a:ea typeface="Palatino Linotype" pitchFamily="34" charset="-122"/>
                <a:cs typeface="Palatino Linotype" pitchFamily="34" charset="-120"/>
              </a:rPr>
              <a:t>Virusul circula</a:t>
            </a:r>
            <a:endParaRPr lang="en-US" sz="2100" dirty="0"/>
          </a:p>
        </p:txBody>
      </p:sp>
      <p:sp>
        <p:nvSpPr>
          <p:cNvPr id="6" name="Text 4"/>
          <p:cNvSpPr/>
          <p:nvPr/>
        </p:nvSpPr>
        <p:spPr>
          <a:xfrm>
            <a:off x="868680" y="2468880"/>
            <a:ext cx="3017520" cy="16459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Cantitatea de virus și diversitatea izolatelor: transmiterea trecuse dincolo de câțiva oameni.</a:t>
            </a:r>
            <a:endParaRPr lang="en-US" sz="1600" dirty="0"/>
          </a:p>
        </p:txBody>
      </p:sp>
      <p:sp>
        <p:nvSpPr>
          <p:cNvPr id="7" name="Shape 5"/>
          <p:cNvSpPr/>
          <p:nvPr/>
        </p:nvSpPr>
        <p:spPr>
          <a:xfrm>
            <a:off x="4343400" y="1691640"/>
            <a:ext cx="3520440" cy="2514600"/>
          </a:xfrm>
          <a:prstGeom prst="roundRect">
            <a:avLst>
              <a:gd name="adj" fmla="val 3273"/>
            </a:avLst>
          </a:prstGeom>
          <a:solidFill>
            <a:srgbClr val="F6EDD5"/>
          </a:solidFill>
          <a:ln w="12700">
            <a:solidFill>
              <a:srgbClr val="F6EDD5"/>
            </a:solidFill>
            <a:prstDash val="solid"/>
          </a:ln>
        </p:spPr>
        <p:txBody>
          <a:bodyPr/>
          <a:p/>
        </p:txBody>
      </p:sp>
      <p:sp>
        <p:nvSpPr>
          <p:cNvPr id="8" name="Text 6"/>
          <p:cNvSpPr/>
          <p:nvPr/>
        </p:nvSpPr>
        <p:spPr>
          <a:xfrm>
            <a:off x="4617720" y="1874520"/>
            <a:ext cx="3017520" cy="502920"/>
          </a:xfrm>
          <a:prstGeom prst="rect">
            <a:avLst/>
          </a:prstGeom>
          <a:noFill/>
          <a:ln/>
        </p:spPr>
        <p:txBody>
          <a:bodyPr wrap="square" lIns="0" tIns="0" rIns="0" bIns="0" rtlCol="0" anchor="t"/>
          <a:lstStyle/>
          <a:p>
            <a:pPr indent="0" marL="0">
              <a:buNone/>
            </a:pPr>
            <a:r>
              <a:rPr lang="en-US" sz="2100" b="1" dirty="0">
                <a:solidFill>
                  <a:srgbClr val="8A6100"/>
                </a:solidFill>
                <a:latin typeface="Palatino Linotype" pitchFamily="34" charset="0"/>
                <a:ea typeface="Palatino Linotype" pitchFamily="34" charset="-122"/>
                <a:cs typeface="Palatino Linotype" pitchFamily="34" charset="-120"/>
              </a:rPr>
              <a:t>Zone slab vaccinate</a:t>
            </a:r>
            <a:endParaRPr lang="en-US" sz="2100" dirty="0"/>
          </a:p>
        </p:txBody>
      </p:sp>
      <p:sp>
        <p:nvSpPr>
          <p:cNvPr id="9" name="Text 7"/>
          <p:cNvSpPr/>
          <p:nvPr/>
        </p:nvSpPr>
        <p:spPr>
          <a:xfrm>
            <a:off x="4617720" y="2468880"/>
            <a:ext cx="3017520" cy="16459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Virusul circula în zone cu unele dintre cele mai mici acoperiri vaccinale din oraș.</a:t>
            </a:r>
            <a:endParaRPr lang="en-US" sz="1600" dirty="0"/>
          </a:p>
        </p:txBody>
      </p:sp>
      <p:sp>
        <p:nvSpPr>
          <p:cNvPr id="10" name="Shape 8"/>
          <p:cNvSpPr/>
          <p:nvPr/>
        </p:nvSpPr>
        <p:spPr>
          <a:xfrm>
            <a:off x="8092440" y="1691640"/>
            <a:ext cx="3520440" cy="2514600"/>
          </a:xfrm>
          <a:prstGeom prst="roundRect">
            <a:avLst>
              <a:gd name="adj" fmla="val 3273"/>
            </a:avLst>
          </a:prstGeom>
          <a:solidFill>
            <a:srgbClr val="E1F0EC"/>
          </a:solidFill>
          <a:ln w="12700">
            <a:solidFill>
              <a:srgbClr val="E1F0EC"/>
            </a:solidFill>
            <a:prstDash val="solid"/>
          </a:ln>
        </p:spPr>
        <p:txBody>
          <a:bodyPr/>
          <a:p/>
        </p:txBody>
      </p:sp>
      <p:sp>
        <p:nvSpPr>
          <p:cNvPr id="11" name="Text 9"/>
          <p:cNvSpPr/>
          <p:nvPr/>
        </p:nvSpPr>
        <p:spPr>
          <a:xfrm>
            <a:off x="8366760" y="1874520"/>
            <a:ext cx="3017520" cy="502920"/>
          </a:xfrm>
          <a:prstGeom prst="rect">
            <a:avLst/>
          </a:prstGeom>
          <a:noFill/>
          <a:ln/>
        </p:spPr>
        <p:txBody>
          <a:bodyPr wrap="square" lIns="0" tIns="0" rIns="0" bIns="0" rtlCol="0" anchor="t"/>
          <a:lstStyle/>
          <a:p>
            <a:pPr indent="0" marL="0">
              <a:buNone/>
            </a:pPr>
            <a:r>
              <a:rPr lang="en-US" sz="2100" b="1" dirty="0">
                <a:solidFill>
                  <a:srgbClr val="0E7C6B"/>
                </a:solidFill>
                <a:latin typeface="Palatino Linotype" pitchFamily="34" charset="0"/>
                <a:ea typeface="Palatino Linotype" pitchFamily="34" charset="-122"/>
                <a:cs typeface="Palatino Linotype" pitchFamily="34" charset="-120"/>
              </a:rPr>
              <a:t>Protecția</a:t>
            </a:r>
            <a:endParaRPr lang="en-US" sz="2100" dirty="0"/>
          </a:p>
        </p:txBody>
      </p:sp>
      <p:sp>
        <p:nvSpPr>
          <p:cNvPr id="12" name="Text 10"/>
          <p:cNvSpPr/>
          <p:nvPr/>
        </p:nvSpPr>
        <p:spPr>
          <a:xfrm>
            <a:off x="8366760" y="2468880"/>
            <a:ext cx="3017520" cy="16459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Protecție ridicată față de paralizie și mai puțină răspândire.</a:t>
            </a:r>
            <a:endParaRPr lang="en-US" sz="1600" dirty="0"/>
          </a:p>
        </p:txBody>
      </p:sp>
      <p:sp>
        <p:nvSpPr>
          <p:cNvPr id="13" name="Shape 11"/>
          <p:cNvSpPr/>
          <p:nvPr/>
        </p:nvSpPr>
        <p:spPr>
          <a:xfrm>
            <a:off x="594360" y="4434840"/>
            <a:ext cx="10972800" cy="1325880"/>
          </a:xfrm>
          <a:prstGeom prst="roundRect">
            <a:avLst>
              <a:gd name="adj" fmla="val 6207"/>
            </a:avLst>
          </a:prstGeom>
          <a:solidFill>
            <a:srgbClr val="11121A"/>
          </a:solidFill>
          <a:ln w="12700">
            <a:solidFill>
              <a:srgbClr val="11121A"/>
            </a:solidFill>
            <a:prstDash val="solid"/>
          </a:ln>
        </p:spPr>
        <p:txBody>
          <a:bodyPr/>
          <a:p/>
        </p:txBody>
      </p:sp>
      <p:sp>
        <p:nvSpPr>
          <p:cNvPr id="14" name="Text 12"/>
          <p:cNvSpPr/>
          <p:nvPr/>
        </p:nvSpPr>
        <p:spPr>
          <a:xfrm>
            <a:off x="914400" y="4434840"/>
            <a:ext cx="10332720" cy="132588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Canalizarea a devenit o hartă a orașului: 8 puncte de recoltare, alte 15 din august, 10–15 în restul țării.</a:t>
            </a:r>
            <a:endParaRPr lang="en-US" sz="1800" dirty="0"/>
          </a:p>
        </p:txBody>
      </p:sp>
      <p:sp>
        <p:nvSpPr>
          <p:cNvPr id="15" name="Text 13"/>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comunicatul din 10 august 2022 (registru A587, A572, A573).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594360" y="347472"/>
            <a:ext cx="3291840" cy="32918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594360" y="347472"/>
            <a:ext cx="3291840" cy="329184"/>
          </a:xfrm>
          <a:prstGeom prst="rect">
            <a:avLst/>
          </a:prstGeom>
          <a:noFill/>
          <a:ln/>
        </p:spPr>
        <p:txBody>
          <a:bodyPr wrap="square" lIns="0" tIns="0" rIns="0" bIns="0" rtlCol="0" anchor="ctr"/>
          <a:lstStyle/>
          <a:p>
            <a:pPr algn="ctr" indent="0" marL="0">
              <a:buNone/>
            </a:pPr>
            <a:r>
              <a:rPr lang="en-US" sz="1250" b="1" dirty="0">
                <a:solidFill>
                  <a:srgbClr val="073B34"/>
                </a:solidFill>
                <a:latin typeface="Palatino Linotype" pitchFamily="34" charset="0"/>
                <a:ea typeface="Palatino Linotype" pitchFamily="34" charset="-122"/>
                <a:cs typeface="Palatino Linotype" pitchFamily="34" charset="-120"/>
              </a:rPr>
              <a:t>TERMENUL NOU · 1 DIN 3</a:t>
            </a:r>
            <a:endParaRPr lang="en-US" sz="1250" dirty="0"/>
          </a:p>
        </p:txBody>
      </p:sp>
      <p:sp>
        <p:nvSpPr>
          <p:cNvPr id="4" name="Text 2"/>
          <p:cNvSpPr/>
          <p:nvPr/>
        </p:nvSpPr>
        <p:spPr>
          <a:xfrm>
            <a:off x="594360" y="868680"/>
            <a:ext cx="10972800" cy="822960"/>
          </a:xfrm>
          <a:prstGeom prst="rect">
            <a:avLst/>
          </a:prstGeom>
          <a:noFill/>
          <a:ln/>
        </p:spPr>
        <p:txBody>
          <a:bodyPr wrap="square" lIns="0" tIns="0" rIns="0" bIns="0" rtlCol="0" anchor="t"/>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Supravegherea apelor uzate</a:t>
            </a:r>
            <a:endParaRPr lang="en-US" sz="3800" dirty="0"/>
          </a:p>
        </p:txBody>
      </p:sp>
      <p:sp>
        <p:nvSpPr>
          <p:cNvPr id="5" name="Shape 3"/>
          <p:cNvSpPr/>
          <p:nvPr/>
        </p:nvSpPr>
        <p:spPr>
          <a:xfrm>
            <a:off x="594360" y="1828800"/>
            <a:ext cx="10972800" cy="1325880"/>
          </a:xfrm>
          <a:prstGeom prst="roundRect">
            <a:avLst>
              <a:gd name="adj" fmla="val 6207"/>
            </a:avLst>
          </a:prstGeom>
          <a:solidFill>
            <a:srgbClr val="07564B"/>
          </a:solidFill>
          <a:ln w="12700">
            <a:solidFill>
              <a:srgbClr val="07564B"/>
            </a:solidFill>
            <a:prstDash val="solid"/>
          </a:ln>
        </p:spPr>
        <p:txBody>
          <a:bodyPr/>
          <a:p/>
        </p:txBody>
      </p:sp>
      <p:sp>
        <p:nvSpPr>
          <p:cNvPr id="6" name="Text 4"/>
          <p:cNvSpPr/>
          <p:nvPr/>
        </p:nvSpPr>
        <p:spPr>
          <a:xfrm>
            <a:off x="914400" y="1828800"/>
            <a:ext cx="10332720" cy="1325880"/>
          </a:xfrm>
          <a:prstGeom prst="rect">
            <a:avLst/>
          </a:prstGeom>
          <a:noFill/>
          <a:ln/>
        </p:spPr>
        <p:txBody>
          <a:bodyPr wrap="square" lIns="0" tIns="0" rIns="0" bIns="0" rtlCol="0" anchor="ctr"/>
          <a:lstStyle/>
          <a:p>
            <a:pPr indent="0" marL="0">
              <a:buNone/>
            </a:pPr>
            <a:r>
              <a:rPr lang="en-US" sz="2200" b="1" dirty="0">
                <a:solidFill>
                  <a:srgbClr val="FFFFFF"/>
                </a:solidFill>
                <a:latin typeface="Palatino Linotype" pitchFamily="34" charset="0"/>
                <a:ea typeface="Palatino Linotype" pitchFamily="34" charset="-122"/>
                <a:cs typeface="Palatino Linotype" pitchFamily="34" charset="-120"/>
              </a:rPr>
              <a:t>În loc să numărăm bolnavii unul câte unul, analizăm ce a ajuns în canalizare de la toți locuitorii unei zone deodată.</a:t>
            </a:r>
            <a:endParaRPr lang="en-US" sz="2200" dirty="0"/>
          </a:p>
        </p:txBody>
      </p:sp>
      <p:sp>
        <p:nvSpPr>
          <p:cNvPr id="7" name="Text 5"/>
          <p:cNvSpPr/>
          <p:nvPr/>
        </p:nvSpPr>
        <p:spPr>
          <a:xfrm>
            <a:off x="594360" y="3383280"/>
            <a:ext cx="10972800" cy="1097280"/>
          </a:xfrm>
          <a:prstGeom prst="rect">
            <a:avLst/>
          </a:prstGeom>
          <a:noFill/>
          <a:ln/>
        </p:spPr>
        <p:txBody>
          <a:bodyPr wrap="square" lIns="0" tIns="0" rIns="0" bIns="0" rtlCol="0" anchor="t"/>
          <a:lstStyle/>
          <a:p>
            <a:pPr indent="0" marL="0">
              <a:buNone/>
            </a:pPr>
            <a:r>
              <a:rPr lang="en-US" sz="1700" dirty="0">
                <a:solidFill>
                  <a:srgbClr val="959BB0"/>
                </a:solidFill>
                <a:latin typeface="Palatino Linotype" pitchFamily="34" charset="0"/>
                <a:ea typeface="Palatino Linotype" pitchFamily="34" charset="-122"/>
                <a:cs typeface="Palatino Linotype" pitchFamily="34" charset="-120"/>
              </a:rPr>
              <a:t>Probe regulate din canalizare sau de la intrarea stațiilor de epurare, în care se caută urmele microbilor eliminați de oameni.</a:t>
            </a:r>
            <a:endParaRPr lang="en-US" sz="1700" dirty="0"/>
          </a:p>
        </p:txBody>
      </p:sp>
      <p:sp>
        <p:nvSpPr>
          <p:cNvPr id="8" name="Shape 6"/>
          <p:cNvSpPr/>
          <p:nvPr/>
        </p:nvSpPr>
        <p:spPr>
          <a:xfrm>
            <a:off x="594360" y="4572000"/>
            <a:ext cx="10972800" cy="1280160"/>
          </a:xfrm>
          <a:prstGeom prst="roundRect">
            <a:avLst>
              <a:gd name="adj" fmla="val 6429"/>
            </a:avLst>
          </a:prstGeom>
          <a:solidFill>
            <a:srgbClr val="1D1F2B"/>
          </a:solidFill>
          <a:ln w="12700">
            <a:solidFill>
              <a:srgbClr val="1D1F2B"/>
            </a:solidFill>
            <a:prstDash val="solid"/>
          </a:ln>
        </p:spPr>
        <p:txBody>
          <a:bodyPr/>
          <a:p/>
        </p:txBody>
      </p:sp>
      <p:sp>
        <p:nvSpPr>
          <p:cNvPr id="9" name="Text 7"/>
          <p:cNvSpPr/>
          <p:nvPr/>
        </p:nvSpPr>
        <p:spPr>
          <a:xfrm>
            <a:off x="914400" y="4572000"/>
            <a:ext cx="10332720" cy="128016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Bolnavul care stă acasă și nu dă nicio probă la laborator ajunge, totuși, în canalizare. Proba nu depinde de piramida supravegherii.</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NU POATE O PROBĂ DIN CANALIZARE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Trei limite, spuse de la început</a:t>
            </a:r>
            <a:endParaRPr lang="en-US" sz="3200" dirty="0"/>
          </a:p>
        </p:txBody>
      </p:sp>
      <p:sp>
        <p:nvSpPr>
          <p:cNvPr id="4" name="Shape 2"/>
          <p:cNvSpPr/>
          <p:nvPr/>
        </p:nvSpPr>
        <p:spPr>
          <a:xfrm>
            <a:off x="594360" y="1691640"/>
            <a:ext cx="10972800" cy="1188720"/>
          </a:xfrm>
          <a:prstGeom prst="roundRect">
            <a:avLst>
              <a:gd name="adj" fmla="val 6923"/>
            </a:avLst>
          </a:prstGeom>
          <a:solidFill>
            <a:srgbClr val="ECEAE4"/>
          </a:solidFill>
          <a:ln w="12700">
            <a:solidFill>
              <a:srgbClr val="ECEAE4"/>
            </a:solidFill>
            <a:prstDash val="solid"/>
          </a:ln>
        </p:spPr>
        <p:txBody>
          <a:bodyPr/>
          <a:p/>
        </p:txBody>
      </p:sp>
      <p:sp>
        <p:nvSpPr>
          <p:cNvPr id="5" name="Shape 3"/>
          <p:cNvSpPr/>
          <p:nvPr/>
        </p:nvSpPr>
        <p:spPr>
          <a:xfrm>
            <a:off x="914400" y="2075688"/>
            <a:ext cx="420624" cy="420624"/>
          </a:xfrm>
          <a:prstGeom prst="ellipse">
            <a:avLst/>
          </a:prstGeom>
          <a:solidFill>
            <a:srgbClr val="FF4757"/>
          </a:solidFill>
          <a:ln/>
        </p:spPr>
        <p:txBody>
          <a:bodyPr/>
          <a:p/>
        </p:txBody>
      </p:sp>
      <p:sp>
        <p:nvSpPr>
          <p:cNvPr id="6" name="Text 4"/>
          <p:cNvSpPr/>
          <p:nvPr/>
        </p:nvSpPr>
        <p:spPr>
          <a:xfrm>
            <a:off x="914400" y="207568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1691640"/>
            <a:ext cx="9692640" cy="118872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Nu arată cine este bolnav: tratamentul cere, în continuare, diagnosticul individual.</a:t>
            </a:r>
            <a:endParaRPr lang="en-US" sz="1800" dirty="0"/>
          </a:p>
        </p:txBody>
      </p:sp>
      <p:sp>
        <p:nvSpPr>
          <p:cNvPr id="8" name="Shape 6"/>
          <p:cNvSpPr/>
          <p:nvPr/>
        </p:nvSpPr>
        <p:spPr>
          <a:xfrm>
            <a:off x="594360" y="3063240"/>
            <a:ext cx="10972800" cy="1188720"/>
          </a:xfrm>
          <a:prstGeom prst="roundRect">
            <a:avLst>
              <a:gd name="adj" fmla="val 6923"/>
            </a:avLst>
          </a:prstGeom>
          <a:solidFill>
            <a:srgbClr val="ECEAE4"/>
          </a:solidFill>
          <a:ln w="12700">
            <a:solidFill>
              <a:srgbClr val="ECEAE4"/>
            </a:solidFill>
            <a:prstDash val="solid"/>
          </a:ln>
        </p:spPr>
        <p:txBody>
          <a:bodyPr/>
          <a:p/>
        </p:txBody>
      </p:sp>
      <p:sp>
        <p:nvSpPr>
          <p:cNvPr id="9" name="Shape 7"/>
          <p:cNvSpPr/>
          <p:nvPr/>
        </p:nvSpPr>
        <p:spPr>
          <a:xfrm>
            <a:off x="914400" y="3447288"/>
            <a:ext cx="420624" cy="420624"/>
          </a:xfrm>
          <a:prstGeom prst="ellipse">
            <a:avLst/>
          </a:prstGeom>
          <a:solidFill>
            <a:srgbClr val="FF4757"/>
          </a:solidFill>
          <a:ln/>
        </p:spPr>
        <p:txBody>
          <a:bodyPr/>
          <a:p/>
        </p:txBody>
      </p:sp>
      <p:sp>
        <p:nvSpPr>
          <p:cNvPr id="10" name="Text 8"/>
          <p:cNvSpPr/>
          <p:nvPr/>
        </p:nvSpPr>
        <p:spPr>
          <a:xfrm>
            <a:off x="914400" y="344728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600200" y="3063240"/>
            <a:ext cx="9692640" cy="118872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Nu spune exact câți bolnavi sunt. Se poate urmări, în schimb, dacă semnalul crește sau scade de la o probă la alta.</a:t>
            </a:r>
            <a:endParaRPr lang="en-US" sz="1800" dirty="0"/>
          </a:p>
        </p:txBody>
      </p:sp>
      <p:sp>
        <p:nvSpPr>
          <p:cNvPr id="12" name="Shape 10"/>
          <p:cNvSpPr/>
          <p:nvPr/>
        </p:nvSpPr>
        <p:spPr>
          <a:xfrm>
            <a:off x="594360" y="4434840"/>
            <a:ext cx="10972800" cy="1188720"/>
          </a:xfrm>
          <a:prstGeom prst="roundRect">
            <a:avLst>
              <a:gd name="adj" fmla="val 6923"/>
            </a:avLst>
          </a:prstGeom>
          <a:solidFill>
            <a:srgbClr val="ECEAE4"/>
          </a:solidFill>
          <a:ln w="12700">
            <a:solidFill>
              <a:srgbClr val="ECEAE4"/>
            </a:solidFill>
            <a:prstDash val="solid"/>
          </a:ln>
        </p:spPr>
        <p:txBody>
          <a:bodyPr/>
          <a:p/>
        </p:txBody>
      </p:sp>
      <p:sp>
        <p:nvSpPr>
          <p:cNvPr id="13" name="Shape 11"/>
          <p:cNvSpPr/>
          <p:nvPr/>
        </p:nvSpPr>
        <p:spPr>
          <a:xfrm>
            <a:off x="914400" y="4818888"/>
            <a:ext cx="420624" cy="420624"/>
          </a:xfrm>
          <a:prstGeom prst="ellipse">
            <a:avLst/>
          </a:prstGeom>
          <a:solidFill>
            <a:srgbClr val="FF4757"/>
          </a:solidFill>
          <a:ln/>
        </p:spPr>
        <p:txBody>
          <a:bodyPr/>
          <a:p/>
        </p:txBody>
      </p:sp>
      <p:sp>
        <p:nvSpPr>
          <p:cNvPr id="14" name="Text 12"/>
          <p:cNvSpPr/>
          <p:nvPr/>
        </p:nvSpPr>
        <p:spPr>
          <a:xfrm>
            <a:off x="914400" y="481888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600200" y="4434840"/>
            <a:ext cx="9692640" cy="118872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Cere o decizie umană. La Londra, între probă și vaccinare au stat agențiile, un comitet de experți și serviciul public de sănătate.</a:t>
            </a:r>
            <a:endParaRPr lang="en-US" sz="1800" dirty="0"/>
          </a:p>
        </p:txBody>
      </p:sp>
      <p:sp>
        <p:nvSpPr>
          <p:cNvPr id="16" name="Text 14"/>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registru A570, A588.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NEW HAVEN · PRIMUL VAL COVID-19</a:t>
            </a:r>
            <a:endParaRPr lang="en-US" sz="1300" dirty="0"/>
          </a:p>
        </p:txBody>
      </p:sp>
      <p:sp>
        <p:nvSpPr>
          <p:cNvPr id="3" name="Text 1"/>
          <p:cNvSpPr/>
          <p:nvPr/>
        </p:nvSpPr>
        <p:spPr>
          <a:xfrm>
            <a:off x="594360" y="731520"/>
            <a:ext cx="10972800" cy="7315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Cu câte zile înaintea altor surse vine semnalul?</a:t>
            </a:r>
            <a:endParaRPr lang="en-US" sz="3000" dirty="0"/>
          </a:p>
        </p:txBody>
      </p:sp>
      <p:sp>
        <p:nvSpPr>
          <p:cNvPr id="4" name="Text 2"/>
          <p:cNvSpPr/>
          <p:nvPr/>
        </p:nvSpPr>
        <p:spPr>
          <a:xfrm>
            <a:off x="594360" y="1691640"/>
            <a:ext cx="3429000" cy="640080"/>
          </a:xfrm>
          <a:prstGeom prst="rect">
            <a:avLst/>
          </a:prstGeom>
          <a:noFill/>
          <a:ln/>
        </p:spPr>
        <p:txBody>
          <a:bodyPr wrap="square" lIns="0" tIns="0" rIns="0" bIns="0" rtlCol="0" anchor="ctr"/>
          <a:lstStyle/>
          <a:p>
            <a:pPr algn="r" indent="0" marL="0">
              <a:buNone/>
            </a:pPr>
            <a:r>
              <a:rPr lang="en-US" sz="1600" b="1" dirty="0">
                <a:solidFill>
                  <a:srgbClr val="FFFFFF"/>
                </a:solidFill>
                <a:latin typeface="Palatino Linotype" pitchFamily="34" charset="0"/>
                <a:ea typeface="Palatino Linotype" pitchFamily="34" charset="-122"/>
                <a:cs typeface="Palatino Linotype" pitchFamily="34" charset="-120"/>
              </a:rPr>
              <a:t>Testele, după data recoltării</a:t>
            </a:r>
            <a:endParaRPr lang="en-US" sz="1600" dirty="0"/>
          </a:p>
        </p:txBody>
      </p:sp>
      <p:sp>
        <p:nvSpPr>
          <p:cNvPr id="5" name="Shape 3"/>
          <p:cNvSpPr/>
          <p:nvPr/>
        </p:nvSpPr>
        <p:spPr>
          <a:xfrm>
            <a:off x="4206240" y="1984248"/>
            <a:ext cx="6949440" cy="36576"/>
          </a:xfrm>
          <a:prstGeom prst="rect">
            <a:avLst/>
          </a:prstGeom>
          <a:solidFill>
            <a:srgbClr val="3A3E52"/>
          </a:solidFill>
          <a:ln w="12700">
            <a:solidFill>
              <a:srgbClr val="3A3E52"/>
            </a:solidFill>
            <a:prstDash val="solid"/>
          </a:ln>
        </p:spPr>
        <p:txBody>
          <a:bodyPr/>
          <a:p/>
        </p:txBody>
      </p:sp>
      <p:sp>
        <p:nvSpPr>
          <p:cNvPr id="6" name="Shape 4"/>
          <p:cNvSpPr/>
          <p:nvPr/>
        </p:nvSpPr>
        <p:spPr>
          <a:xfrm>
            <a:off x="4206240" y="1783080"/>
            <a:ext cx="1737360" cy="457200"/>
          </a:xfrm>
          <a:prstGeom prst="roundRect">
            <a:avLst>
              <a:gd name="adj" fmla="val 16000"/>
            </a:avLst>
          </a:prstGeom>
          <a:solidFill>
            <a:srgbClr val="8E94A8"/>
          </a:solidFill>
          <a:ln w="12700">
            <a:solidFill>
              <a:srgbClr val="8E94A8"/>
            </a:solidFill>
            <a:prstDash val="solid"/>
          </a:ln>
        </p:spPr>
        <p:txBody>
          <a:bodyPr/>
          <a:p/>
        </p:txBody>
      </p:sp>
      <p:sp>
        <p:nvSpPr>
          <p:cNvPr id="7" name="Text 5"/>
          <p:cNvSpPr/>
          <p:nvPr/>
        </p:nvSpPr>
        <p:spPr>
          <a:xfrm>
            <a:off x="4206240" y="1783080"/>
            <a:ext cx="1737360" cy="457200"/>
          </a:xfrm>
          <a:prstGeom prst="rect">
            <a:avLst/>
          </a:prstGeom>
          <a:noFill/>
          <a:ln/>
        </p:spPr>
        <p:txBody>
          <a:bodyPr wrap="square" lIns="0" tIns="0" rIns="0" bIns="0" rtlCol="0" anchor="ctr"/>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0–2 zile</a:t>
            </a:r>
            <a:endParaRPr lang="en-US" sz="1500" dirty="0"/>
          </a:p>
        </p:txBody>
      </p:sp>
      <p:sp>
        <p:nvSpPr>
          <p:cNvPr id="8" name="Text 6"/>
          <p:cNvSpPr/>
          <p:nvPr/>
        </p:nvSpPr>
        <p:spPr>
          <a:xfrm>
            <a:off x="594360" y="2560320"/>
            <a:ext cx="3429000" cy="640080"/>
          </a:xfrm>
          <a:prstGeom prst="rect">
            <a:avLst/>
          </a:prstGeom>
          <a:noFill/>
          <a:ln/>
        </p:spPr>
        <p:txBody>
          <a:bodyPr wrap="square" lIns="0" tIns="0" rIns="0" bIns="0" rtlCol="0" anchor="ctr"/>
          <a:lstStyle/>
          <a:p>
            <a:pPr algn="r" indent="0" marL="0">
              <a:buNone/>
            </a:pPr>
            <a:r>
              <a:rPr lang="en-US" sz="1600" b="1" dirty="0">
                <a:solidFill>
                  <a:srgbClr val="FFFFFF"/>
                </a:solidFill>
                <a:latin typeface="Palatino Linotype" pitchFamily="34" charset="0"/>
                <a:ea typeface="Palatino Linotype" pitchFamily="34" charset="-122"/>
                <a:cs typeface="Palatino Linotype" pitchFamily="34" charset="-120"/>
              </a:rPr>
              <a:t>Internările din spitale</a:t>
            </a:r>
            <a:endParaRPr lang="en-US" sz="1600" dirty="0"/>
          </a:p>
        </p:txBody>
      </p:sp>
      <p:sp>
        <p:nvSpPr>
          <p:cNvPr id="9" name="Shape 7"/>
          <p:cNvSpPr/>
          <p:nvPr/>
        </p:nvSpPr>
        <p:spPr>
          <a:xfrm>
            <a:off x="4206240" y="2852928"/>
            <a:ext cx="6949440" cy="36576"/>
          </a:xfrm>
          <a:prstGeom prst="rect">
            <a:avLst/>
          </a:prstGeom>
          <a:solidFill>
            <a:srgbClr val="3A3E52"/>
          </a:solidFill>
          <a:ln w="12700">
            <a:solidFill>
              <a:srgbClr val="3A3E52"/>
            </a:solidFill>
            <a:prstDash val="solid"/>
          </a:ln>
        </p:spPr>
        <p:txBody>
          <a:bodyPr/>
          <a:p/>
        </p:txBody>
      </p:sp>
      <p:sp>
        <p:nvSpPr>
          <p:cNvPr id="10" name="Shape 8"/>
          <p:cNvSpPr/>
          <p:nvPr/>
        </p:nvSpPr>
        <p:spPr>
          <a:xfrm>
            <a:off x="5074920" y="2651760"/>
            <a:ext cx="2606040" cy="457200"/>
          </a:xfrm>
          <a:prstGeom prst="roundRect">
            <a:avLst>
              <a:gd name="adj" fmla="val 16000"/>
            </a:avLst>
          </a:prstGeom>
          <a:solidFill>
            <a:srgbClr val="FFC24B"/>
          </a:solidFill>
          <a:ln w="12700">
            <a:solidFill>
              <a:srgbClr val="FFC24B"/>
            </a:solidFill>
            <a:prstDash val="solid"/>
          </a:ln>
        </p:spPr>
        <p:txBody>
          <a:bodyPr/>
          <a:p/>
        </p:txBody>
      </p:sp>
      <p:sp>
        <p:nvSpPr>
          <p:cNvPr id="11" name="Text 9"/>
          <p:cNvSpPr/>
          <p:nvPr/>
        </p:nvSpPr>
        <p:spPr>
          <a:xfrm>
            <a:off x="5074920" y="2651760"/>
            <a:ext cx="2606040" cy="457200"/>
          </a:xfrm>
          <a:prstGeom prst="rect">
            <a:avLst/>
          </a:prstGeom>
          <a:noFill/>
          <a:ln/>
        </p:spPr>
        <p:txBody>
          <a:bodyPr wrap="square" lIns="0" tIns="0" rIns="0" bIns="0" rtlCol="0" anchor="ctr"/>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1–4 zile</a:t>
            </a:r>
            <a:endParaRPr lang="en-US" sz="1500" dirty="0"/>
          </a:p>
        </p:txBody>
      </p:sp>
      <p:sp>
        <p:nvSpPr>
          <p:cNvPr id="12" name="Text 10"/>
          <p:cNvSpPr/>
          <p:nvPr/>
        </p:nvSpPr>
        <p:spPr>
          <a:xfrm>
            <a:off x="594360" y="3429000"/>
            <a:ext cx="3429000" cy="640080"/>
          </a:xfrm>
          <a:prstGeom prst="rect">
            <a:avLst/>
          </a:prstGeom>
          <a:noFill/>
          <a:ln/>
        </p:spPr>
        <p:txBody>
          <a:bodyPr wrap="square" lIns="0" tIns="0" rIns="0" bIns="0" rtlCol="0" anchor="ctr"/>
          <a:lstStyle/>
          <a:p>
            <a:pPr algn="r" indent="0" marL="0">
              <a:buNone/>
            </a:pPr>
            <a:r>
              <a:rPr lang="en-US" sz="1600" b="1" dirty="0">
                <a:solidFill>
                  <a:srgbClr val="FFFFFF"/>
                </a:solidFill>
                <a:latin typeface="Palatino Linotype" pitchFamily="34" charset="0"/>
                <a:ea typeface="Palatino Linotype" pitchFamily="34" charset="-122"/>
                <a:cs typeface="Palatino Linotype" pitchFamily="34" charset="-120"/>
              </a:rPr>
              <a:t>Testele, după data raportării</a:t>
            </a:r>
            <a:endParaRPr lang="en-US" sz="1600" dirty="0"/>
          </a:p>
        </p:txBody>
      </p:sp>
      <p:sp>
        <p:nvSpPr>
          <p:cNvPr id="13" name="Shape 11"/>
          <p:cNvSpPr/>
          <p:nvPr/>
        </p:nvSpPr>
        <p:spPr>
          <a:xfrm>
            <a:off x="4206240" y="3721608"/>
            <a:ext cx="6949440" cy="36576"/>
          </a:xfrm>
          <a:prstGeom prst="rect">
            <a:avLst/>
          </a:prstGeom>
          <a:solidFill>
            <a:srgbClr val="3A3E52"/>
          </a:solidFill>
          <a:ln w="12700">
            <a:solidFill>
              <a:srgbClr val="3A3E52"/>
            </a:solidFill>
            <a:prstDash val="solid"/>
          </a:ln>
        </p:spPr>
        <p:txBody>
          <a:bodyPr/>
          <a:p/>
        </p:txBody>
      </p:sp>
      <p:sp>
        <p:nvSpPr>
          <p:cNvPr id="14" name="Shape 12"/>
          <p:cNvSpPr/>
          <p:nvPr/>
        </p:nvSpPr>
        <p:spPr>
          <a:xfrm>
            <a:off x="9418320" y="3520440"/>
            <a:ext cx="1737360" cy="457200"/>
          </a:xfrm>
          <a:prstGeom prst="roundRect">
            <a:avLst>
              <a:gd name="adj" fmla="val 16000"/>
            </a:avLst>
          </a:prstGeom>
          <a:solidFill>
            <a:srgbClr val="FF4757"/>
          </a:solidFill>
          <a:ln w="12700">
            <a:solidFill>
              <a:srgbClr val="FF4757"/>
            </a:solidFill>
            <a:prstDash val="solid"/>
          </a:ln>
        </p:spPr>
        <p:txBody>
          <a:bodyPr/>
          <a:p/>
        </p:txBody>
      </p:sp>
      <p:sp>
        <p:nvSpPr>
          <p:cNvPr id="15" name="Text 13"/>
          <p:cNvSpPr/>
          <p:nvPr/>
        </p:nvSpPr>
        <p:spPr>
          <a:xfrm>
            <a:off x="9418320" y="3520440"/>
            <a:ext cx="1737360" cy="457200"/>
          </a:xfrm>
          <a:prstGeom prst="rect">
            <a:avLst/>
          </a:prstGeom>
          <a:noFill/>
          <a:ln/>
        </p:spPr>
        <p:txBody>
          <a:bodyPr wrap="square" lIns="0" tIns="0" rIns="0" bIns="0" rtlCol="0" anchor="ctr"/>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6–8 zile</a:t>
            </a:r>
            <a:endParaRPr lang="en-US" sz="1500" dirty="0"/>
          </a:p>
        </p:txBody>
      </p:sp>
      <p:sp>
        <p:nvSpPr>
          <p:cNvPr id="16" name="Text 14"/>
          <p:cNvSpPr/>
          <p:nvPr/>
        </p:nvSpPr>
        <p:spPr>
          <a:xfrm>
            <a:off x="594360" y="4434840"/>
            <a:ext cx="10972800" cy="45720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Nămol recoltat zilnic, 19 martie – 1 iunie 2020, la o stație pentru circa 200 000 de locuitori.</a:t>
            </a:r>
            <a:endParaRPr lang="en-US" sz="1500" dirty="0"/>
          </a:p>
        </p:txBody>
      </p:sp>
      <p:sp>
        <p:nvSpPr>
          <p:cNvPr id="17" name="Shape 15"/>
          <p:cNvSpPr/>
          <p:nvPr/>
        </p:nvSpPr>
        <p:spPr>
          <a:xfrm>
            <a:off x="594360" y="4983480"/>
            <a:ext cx="10972800" cy="1051560"/>
          </a:xfrm>
          <a:prstGeom prst="roundRect">
            <a:avLst>
              <a:gd name="adj" fmla="val 7826"/>
            </a:avLst>
          </a:prstGeom>
          <a:solidFill>
            <a:srgbClr val="07564B"/>
          </a:solidFill>
          <a:ln w="12700">
            <a:solidFill>
              <a:srgbClr val="07564B"/>
            </a:solidFill>
            <a:prstDash val="solid"/>
          </a:ln>
        </p:spPr>
        <p:txBody>
          <a:bodyPr/>
          <a:p/>
        </p:txBody>
      </p:sp>
      <p:sp>
        <p:nvSpPr>
          <p:cNvPr id="18" name="Text 16"/>
          <p:cNvSpPr/>
          <p:nvPr/>
        </p:nvSpPr>
        <p:spPr>
          <a:xfrm>
            <a:off x="914400" y="4983480"/>
            <a:ext cx="10332720" cy="105156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Apele uzate nu „văd viitorul”: ocolesc întârzierile drumului până la medic, până la laborator și până în raport.</a:t>
            </a:r>
            <a:endParaRPr lang="en-US" sz="1800" dirty="0"/>
          </a:p>
        </p:txBody>
      </p:sp>
      <p:sp>
        <p:nvSpPr>
          <p:cNvPr id="19" name="Text 17"/>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studiul observațional de la Universitatea Yale (registru A574, A575).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APOI VOT</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UN MINUT CU COLEGUL DE BANCĂ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Unde ar fi mai utilă supravegherea apelor uzate?</a:t>
            </a:r>
            <a:endParaRPr lang="en-US" sz="2800" dirty="0"/>
          </a:p>
        </p:txBody>
      </p:sp>
      <p:sp>
        <p:nvSpPr>
          <p:cNvPr id="6" name="Shape 4"/>
          <p:cNvSpPr/>
          <p:nvPr/>
        </p:nvSpPr>
        <p:spPr>
          <a:xfrm>
            <a:off x="594360" y="1783080"/>
            <a:ext cx="7635240" cy="1417320"/>
          </a:xfrm>
          <a:prstGeom prst="roundRect">
            <a:avLst>
              <a:gd name="adj" fmla="val 5806"/>
            </a:avLst>
          </a:prstGeom>
          <a:solidFill>
            <a:srgbClr val="1D1F2B"/>
          </a:solidFill>
          <a:ln w="12700">
            <a:solidFill>
              <a:srgbClr val="1D1F2B"/>
            </a:solidFill>
            <a:prstDash val="solid"/>
          </a:ln>
        </p:spPr>
        <p:txBody>
          <a:bodyPr/>
          <a:p/>
        </p:txBody>
      </p:sp>
      <p:sp>
        <p:nvSpPr>
          <p:cNvPr id="7" name="Shape 5"/>
          <p:cNvSpPr/>
          <p:nvPr/>
        </p:nvSpPr>
        <p:spPr>
          <a:xfrm>
            <a:off x="914400" y="2286000"/>
            <a:ext cx="420624" cy="420624"/>
          </a:xfrm>
          <a:prstGeom prst="ellipse">
            <a:avLst/>
          </a:prstGeom>
          <a:solidFill>
            <a:srgbClr val="FFC24B"/>
          </a:solidFill>
          <a:ln/>
        </p:spPr>
        <p:txBody>
          <a:bodyPr/>
          <a:p/>
        </p:txBody>
      </p:sp>
      <p:sp>
        <p:nvSpPr>
          <p:cNvPr id="8" name="Text 6"/>
          <p:cNvSpPr/>
          <p:nvPr/>
        </p:nvSpPr>
        <p:spPr>
          <a:xfrm>
            <a:off x="914400" y="22860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1783080"/>
            <a:ext cx="6400800" cy="14173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Orașul A: oricine face gratuit un test în aceeași zi; rezultatul ajunge la autorități în câteva ore.</a:t>
            </a:r>
            <a:endParaRPr lang="en-US" sz="1800" dirty="0"/>
          </a:p>
        </p:txBody>
      </p:sp>
      <p:sp>
        <p:nvSpPr>
          <p:cNvPr id="10" name="Shape 8"/>
          <p:cNvSpPr/>
          <p:nvPr/>
        </p:nvSpPr>
        <p:spPr>
          <a:xfrm>
            <a:off x="594360" y="3383280"/>
            <a:ext cx="7635240" cy="1417320"/>
          </a:xfrm>
          <a:prstGeom prst="roundRect">
            <a:avLst>
              <a:gd name="adj" fmla="val 5806"/>
            </a:avLst>
          </a:prstGeom>
          <a:solidFill>
            <a:srgbClr val="1D1F2B"/>
          </a:solidFill>
          <a:ln w="12700">
            <a:solidFill>
              <a:srgbClr val="1D1F2B"/>
            </a:solidFill>
            <a:prstDash val="solid"/>
          </a:ln>
        </p:spPr>
        <p:txBody>
          <a:bodyPr/>
          <a:p/>
        </p:txBody>
      </p:sp>
      <p:sp>
        <p:nvSpPr>
          <p:cNvPr id="11" name="Shape 9"/>
          <p:cNvSpPr/>
          <p:nvPr/>
        </p:nvSpPr>
        <p:spPr>
          <a:xfrm>
            <a:off x="914400" y="3886200"/>
            <a:ext cx="420624" cy="420624"/>
          </a:xfrm>
          <a:prstGeom prst="ellipse">
            <a:avLst/>
          </a:prstGeom>
          <a:solidFill>
            <a:srgbClr val="FFC24B"/>
          </a:solidFill>
          <a:ln/>
        </p:spPr>
        <p:txBody>
          <a:bodyPr/>
          <a:p/>
        </p:txBody>
      </p:sp>
      <p:sp>
        <p:nvSpPr>
          <p:cNvPr id="12" name="Text 10"/>
          <p:cNvSpPr/>
          <p:nvPr/>
        </p:nvSpPr>
        <p:spPr>
          <a:xfrm>
            <a:off x="914400" y="38862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3383280"/>
            <a:ext cx="6400800" cy="14173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Orașul B: puțini oameni merg la medic, testele se plătesc, rezultatele se raportează o dată pe săptămână.</a:t>
            </a:r>
            <a:endParaRPr lang="en-US" sz="1800" dirty="0"/>
          </a:p>
        </p:txBody>
      </p:sp>
      <p:sp>
        <p:nvSpPr>
          <p:cNvPr id="14" name="Shape 12"/>
          <p:cNvSpPr/>
          <p:nvPr/>
        </p:nvSpPr>
        <p:spPr>
          <a:xfrm>
            <a:off x="8503920" y="1783080"/>
            <a:ext cx="3063240" cy="3063240"/>
          </a:xfrm>
          <a:prstGeom prst="roundRect">
            <a:avLst>
              <a:gd name="adj" fmla="val 2687"/>
            </a:avLst>
          </a:prstGeom>
          <a:solidFill>
            <a:srgbClr val="FFFFFF"/>
          </a:solidFill>
          <a:ln w="12700">
            <a:solidFill>
              <a:srgbClr val="FFFFFF"/>
            </a:solidFill>
            <a:prstDash val="solid"/>
          </a:ln>
        </p:spPr>
        <p:txBody>
          <a:bodyPr/>
          <a:p/>
        </p:txBody>
      </p:sp>
      <p:sp>
        <p:nvSpPr>
          <p:cNvPr id="16" name="Text 14"/>
          <p:cNvSpPr/>
          <p:nvPr/>
        </p:nvSpPr>
        <p:spPr>
          <a:xfrm>
            <a:off x="594360" y="5532120"/>
            <a:ext cx="10972800" cy="45720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Răspundeți pe telefon, la codul afișat. Spuneți și de ce.</a:t>
            </a:r>
            <a:endParaRPr lang="en-US" sz="1500" dirty="0"/>
          </a:p>
        </p:txBody>
      </p:sp>
      <p:pic>
        <p:nvPicPr>
          <p:cNvPr id="17" name="Picture 16" descr="Mentimeter_OPT_DETECTIVI_C04.png"/>
          <p:cNvPicPr>
            <a:picLocks noChangeAspect="1"/>
          </p:cNvPicPr>
          <p:nvPr/>
        </p:nvPicPr>
        <p:blipFill>
          <a:blip r:embed="rId3"/>
          <a:stretch>
            <a:fillRect/>
          </a:stretch>
        </p:blipFill>
        <p:spPr>
          <a:xfrm>
            <a:off x="8817610" y="1783080"/>
            <a:ext cx="2435860" cy="2435860"/>
          </a:xfrm>
          <a:prstGeom prst="rect">
            <a:avLst/>
          </a:prstGeom>
        </p:spPr>
      </p:pic>
      <p:sp>
        <p:nvSpPr>
          <p:cNvPr id="18" name="TextBox 17"/>
          <p:cNvSpPr txBox="1"/>
          <p:nvPr/>
        </p:nvSpPr>
        <p:spPr>
          <a:xfrm>
            <a:off x="8503920" y="4257040"/>
            <a:ext cx="306324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4757"/>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2E060B"/>
                </a:solidFill>
                <a:latin typeface="Palatino Linotype" pitchFamily="34" charset="0"/>
                <a:ea typeface="Palatino Linotype" pitchFamily="34" charset="-122"/>
                <a:cs typeface="Palatino Linotype" pitchFamily="34" charset="-120"/>
              </a:rPr>
              <a:t>DUPĂ VOT</a:t>
            </a:r>
            <a:endParaRPr lang="en-US" sz="1300" dirty="0"/>
          </a:p>
        </p:txBody>
      </p:sp>
      <p:sp>
        <p:nvSpPr>
          <p:cNvPr id="3" name="Text 1"/>
          <p:cNvSpPr/>
          <p:nvPr/>
        </p:nvSpPr>
        <p:spPr>
          <a:xfrm>
            <a:off x="594360" y="777240"/>
            <a:ext cx="10972800" cy="914400"/>
          </a:xfrm>
          <a:prstGeom prst="rect">
            <a:avLst/>
          </a:prstGeom>
          <a:noFill/>
          <a:ln/>
        </p:spPr>
        <p:txBody>
          <a:bodyPr wrap="square" lIns="0" tIns="0" rIns="0" bIns="0" rtlCol="0" anchor="t"/>
          <a:lstStyle/>
          <a:p>
            <a:pPr indent="0" marL="0">
              <a:buNone/>
            </a:pPr>
            <a:r>
              <a:rPr lang="en-US" sz="3800" b="1" dirty="0">
                <a:solidFill>
                  <a:srgbClr val="2E060B"/>
                </a:solidFill>
                <a:latin typeface="Palatino Linotype" pitchFamily="34" charset="0"/>
                <a:ea typeface="Palatino Linotype" pitchFamily="34" charset="-122"/>
                <a:cs typeface="Palatino Linotype" pitchFamily="34" charset="-120"/>
              </a:rPr>
              <a:t>Orașul B</a:t>
            </a:r>
            <a:endParaRPr lang="en-US" sz="3800" dirty="0"/>
          </a:p>
        </p:txBody>
      </p:sp>
      <p:sp>
        <p:nvSpPr>
          <p:cNvPr id="4" name="Shape 2"/>
          <p:cNvSpPr/>
          <p:nvPr/>
        </p:nvSpPr>
        <p:spPr>
          <a:xfrm>
            <a:off x="594360" y="1965960"/>
            <a:ext cx="10972800" cy="960120"/>
          </a:xfrm>
          <a:prstGeom prst="roundRect">
            <a:avLst>
              <a:gd name="adj" fmla="val 8571"/>
            </a:avLst>
          </a:prstGeom>
          <a:solidFill>
            <a:srgbClr val="FFE3E6"/>
          </a:solidFill>
          <a:ln w="12700">
            <a:solidFill>
              <a:srgbClr val="FFE3E6"/>
            </a:solidFill>
            <a:prstDash val="solid"/>
          </a:ln>
        </p:spPr>
        <p:txBody>
          <a:bodyPr/>
          <a:p/>
        </p:txBody>
      </p:sp>
      <p:sp>
        <p:nvSpPr>
          <p:cNvPr id="5" name="Text 3"/>
          <p:cNvSpPr/>
          <p:nvPr/>
        </p:nvSpPr>
        <p:spPr>
          <a:xfrm>
            <a:off x="914400" y="1965960"/>
            <a:ext cx="10332720" cy="960120"/>
          </a:xfrm>
          <a:prstGeom prst="rect">
            <a:avLst/>
          </a:prstGeom>
          <a:noFill/>
          <a:ln/>
        </p:spPr>
        <p:txBody>
          <a:bodyPr wrap="square" lIns="0" tIns="0" rIns="0" bIns="0" rtlCol="0" anchor="ctr"/>
          <a:lstStyle/>
          <a:p>
            <a:pPr indent="0" marL="0">
              <a:buNone/>
            </a:pPr>
            <a:r>
              <a:rPr lang="en-US" sz="1900" dirty="0">
                <a:solidFill>
                  <a:srgbClr val="2E060B"/>
                </a:solidFill>
                <a:latin typeface="Palatino Linotype" pitchFamily="34" charset="0"/>
                <a:ea typeface="Palatino Linotype" pitchFamily="34" charset="-122"/>
                <a:cs typeface="Palatino Linotype" pitchFamily="34" charset="-120"/>
              </a:rPr>
              <a:t>Acolo drumurile sunt lungi: până la medic, până la laborator, până în raport. Canalizarea le ocolește.</a:t>
            </a:r>
            <a:endParaRPr lang="en-US" sz="1900" dirty="0"/>
          </a:p>
        </p:txBody>
      </p:sp>
      <p:sp>
        <p:nvSpPr>
          <p:cNvPr id="6" name="Shape 4"/>
          <p:cNvSpPr/>
          <p:nvPr/>
        </p:nvSpPr>
        <p:spPr>
          <a:xfrm>
            <a:off x="594360" y="3108960"/>
            <a:ext cx="10972800" cy="960120"/>
          </a:xfrm>
          <a:prstGeom prst="roundRect">
            <a:avLst>
              <a:gd name="adj" fmla="val 8571"/>
            </a:avLst>
          </a:prstGeom>
          <a:solidFill>
            <a:srgbClr val="FFE3E6"/>
          </a:solidFill>
          <a:ln w="12700">
            <a:solidFill>
              <a:srgbClr val="FFE3E6"/>
            </a:solidFill>
            <a:prstDash val="solid"/>
          </a:ln>
        </p:spPr>
        <p:txBody>
          <a:bodyPr/>
          <a:p/>
        </p:txBody>
      </p:sp>
      <p:sp>
        <p:nvSpPr>
          <p:cNvPr id="7" name="Text 5"/>
          <p:cNvSpPr/>
          <p:nvPr/>
        </p:nvSpPr>
        <p:spPr>
          <a:xfrm>
            <a:off x="914400" y="3108960"/>
            <a:ext cx="10332720" cy="960120"/>
          </a:xfrm>
          <a:prstGeom prst="rect">
            <a:avLst/>
          </a:prstGeom>
          <a:noFill/>
          <a:ln/>
        </p:spPr>
        <p:txBody>
          <a:bodyPr wrap="square" lIns="0" tIns="0" rIns="0" bIns="0" rtlCol="0" anchor="ctr"/>
          <a:lstStyle/>
          <a:p>
            <a:pPr indent="0" marL="0">
              <a:buNone/>
            </a:pPr>
            <a:r>
              <a:rPr lang="en-US" sz="1900" dirty="0">
                <a:solidFill>
                  <a:srgbClr val="2E060B"/>
                </a:solidFill>
                <a:latin typeface="Palatino Linotype" pitchFamily="34" charset="0"/>
                <a:ea typeface="Palatino Linotype" pitchFamily="34" charset="-122"/>
                <a:cs typeface="Palatino Linotype" pitchFamily="34" charset="-120"/>
              </a:rPr>
              <a:t>În orașul A, unde rezultatele se raportează repede, avantajul de timp al apelor uzate se poate reduce mult.</a:t>
            </a:r>
            <a:endParaRPr lang="en-US" sz="1900" dirty="0"/>
          </a:p>
        </p:txBody>
      </p:sp>
      <p:sp>
        <p:nvSpPr>
          <p:cNvPr id="8" name="Shape 6"/>
          <p:cNvSpPr/>
          <p:nvPr/>
        </p:nvSpPr>
        <p:spPr>
          <a:xfrm>
            <a:off x="594360" y="4251960"/>
            <a:ext cx="10972800" cy="960120"/>
          </a:xfrm>
          <a:prstGeom prst="roundRect">
            <a:avLst>
              <a:gd name="adj" fmla="val 8571"/>
            </a:avLst>
          </a:prstGeom>
          <a:solidFill>
            <a:srgbClr val="FFE3E6"/>
          </a:solidFill>
          <a:ln w="12700">
            <a:solidFill>
              <a:srgbClr val="FFE3E6"/>
            </a:solidFill>
            <a:prstDash val="solid"/>
          </a:ln>
        </p:spPr>
        <p:txBody>
          <a:bodyPr/>
          <a:p/>
        </p:txBody>
      </p:sp>
      <p:sp>
        <p:nvSpPr>
          <p:cNvPr id="9" name="Text 7"/>
          <p:cNvSpPr/>
          <p:nvPr/>
        </p:nvSpPr>
        <p:spPr>
          <a:xfrm>
            <a:off x="914400" y="4251960"/>
            <a:ext cx="10332720" cy="960120"/>
          </a:xfrm>
          <a:prstGeom prst="rect">
            <a:avLst/>
          </a:prstGeom>
          <a:noFill/>
          <a:ln/>
        </p:spPr>
        <p:txBody>
          <a:bodyPr wrap="square" lIns="0" tIns="0" rIns="0" bIns="0" rtlCol="0" anchor="ctr"/>
          <a:lstStyle/>
          <a:p>
            <a:pPr indent="0" marL="0">
              <a:buNone/>
            </a:pPr>
            <a:r>
              <a:rPr lang="en-US" sz="1900" b="1" dirty="0">
                <a:solidFill>
                  <a:srgbClr val="2E060B"/>
                </a:solidFill>
                <a:latin typeface="Palatino Linotype" pitchFamily="34" charset="0"/>
                <a:ea typeface="Palatino Linotype" pitchFamily="34" charset="-122"/>
                <a:cs typeface="Palatino Linotype" pitchFamily="34" charset="-120"/>
              </a:rPr>
              <a:t>Unde drumurile sunt lungi, canalizarea vă câștigă zile. Unde sunt scurte, câștigă puțin.</a:t>
            </a:r>
            <a:endParaRPr lang="en-US" sz="1900" dirty="0"/>
          </a:p>
        </p:txBody>
      </p:sp>
      <p:sp>
        <p:nvSpPr>
          <p:cNvPr id="10" name="Text 8"/>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2E060B"/>
                </a:solidFill>
                <a:latin typeface="Palatino Linotype" pitchFamily="34" charset="0"/>
                <a:ea typeface="Palatino Linotype" pitchFamily="34" charset="-122"/>
                <a:cs typeface="Palatino Linotype" pitchFamily="34" charset="-120"/>
              </a:rPr>
              <a:t>Sursa: registru A575.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 LA EXPERIMENT LA OBLIGAȚIE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Directiva (UE) 2024/3019, articolul 17</a:t>
            </a:r>
            <a:endParaRPr lang="en-US" sz="3000" dirty="0"/>
          </a:p>
        </p:txBody>
      </p:sp>
      <p:sp>
        <p:nvSpPr>
          <p:cNvPr id="4" name="Shape 2"/>
          <p:cNvSpPr/>
          <p:nvPr/>
        </p:nvSpPr>
        <p:spPr>
          <a:xfrm>
            <a:off x="594360" y="1691640"/>
            <a:ext cx="10972800" cy="2468880"/>
          </a:xfrm>
          <a:prstGeom prst="roundRect">
            <a:avLst>
              <a:gd name="adj" fmla="val 3333"/>
            </a:avLst>
          </a:prstGeom>
          <a:solidFill>
            <a:srgbClr val="FBF8F1"/>
          </a:solidFill>
          <a:ln w="12700">
            <a:solidFill>
              <a:srgbClr val="FBF8F1"/>
            </a:solidFill>
            <a:prstDash val="solid"/>
          </a:ln>
        </p:spPr>
        <p:txBody>
          <a:bodyPr/>
          <a:p/>
        </p:txBody>
      </p:sp>
      <p:sp>
        <p:nvSpPr>
          <p:cNvPr id="5" name="Shape 3"/>
          <p:cNvSpPr/>
          <p:nvPr/>
        </p:nvSpPr>
        <p:spPr>
          <a:xfrm>
            <a:off x="594360" y="1691640"/>
            <a:ext cx="73152" cy="2468880"/>
          </a:xfrm>
          <a:prstGeom prst="rect">
            <a:avLst/>
          </a:prstGeom>
          <a:solidFill>
            <a:srgbClr val="B02532"/>
          </a:solidFill>
          <a:ln w="12700">
            <a:solidFill>
              <a:srgbClr val="B02532"/>
            </a:solidFill>
            <a:prstDash val="solid"/>
          </a:ln>
        </p:spPr>
        <p:txBody>
          <a:bodyPr/>
          <a:p/>
        </p:txBody>
      </p:sp>
      <p:sp>
        <p:nvSpPr>
          <p:cNvPr id="6" name="Text 4"/>
          <p:cNvSpPr/>
          <p:nvPr/>
        </p:nvSpPr>
        <p:spPr>
          <a:xfrm>
            <a:off x="960120" y="1828800"/>
            <a:ext cx="10332720" cy="128016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Fiecare stat membru: autoritățile de sănătate publică și cele de epurare urmăresc în apele uzate agenți precum SARS-CoV-2, virusul poliomielitic, virusul gripei și agenții patogeni emergenți.</a:t>
            </a:r>
            <a:endParaRPr lang="en-US" sz="1800" dirty="0"/>
          </a:p>
        </p:txBody>
      </p:sp>
      <p:sp>
        <p:nvSpPr>
          <p:cNvPr id="7" name="Text 5"/>
          <p:cNvSpPr/>
          <p:nvPr/>
        </p:nvSpPr>
        <p:spPr>
          <a:xfrm>
            <a:off x="960120" y="3154680"/>
            <a:ext cx="10332720" cy="822960"/>
          </a:xfrm>
          <a:prstGeom prst="rect">
            <a:avLst/>
          </a:prstGeom>
          <a:noFill/>
          <a:ln/>
        </p:spPr>
        <p:txBody>
          <a:bodyPr wrap="square" lIns="0" tIns="0" rIns="0" bIns="0" rtlCol="0" anchor="t"/>
          <a:lstStyle/>
          <a:p>
            <a:pPr indent="0" marL="0">
              <a:buNone/>
            </a:pPr>
            <a:r>
              <a:rPr lang="en-US" sz="1800" i="1" dirty="0">
                <a:solidFill>
                  <a:srgbClr val="B02532"/>
                </a:solidFill>
                <a:latin typeface="Palatino Linotype" pitchFamily="34" charset="0"/>
                <a:ea typeface="Palatino Linotype" pitchFamily="34" charset="-122"/>
                <a:cs typeface="Palatino Linotype" pitchFamily="34" charset="-120"/>
              </a:rPr>
              <a:t>Un sistem de „cooperare și coordonare”, cu rezultatele comunicate la timp autorităților de sănătate publică.</a:t>
            </a:r>
            <a:endParaRPr lang="en-US" sz="1800" dirty="0"/>
          </a:p>
        </p:txBody>
      </p:sp>
      <p:sp>
        <p:nvSpPr>
          <p:cNvPr id="8" name="Shape 6"/>
          <p:cNvSpPr/>
          <p:nvPr/>
        </p:nvSpPr>
        <p:spPr>
          <a:xfrm>
            <a:off x="594360" y="4389120"/>
            <a:ext cx="4206240" cy="329184"/>
          </a:xfrm>
          <a:prstGeom prst="roundRect">
            <a:avLst>
              <a:gd name="adj" fmla="val 50000"/>
            </a:avLst>
          </a:prstGeom>
          <a:solidFill>
            <a:srgbClr val="11121A"/>
          </a:solidFill>
          <a:ln w="12700">
            <a:solidFill>
              <a:srgbClr val="11121A"/>
            </a:solidFill>
            <a:prstDash val="solid"/>
          </a:ln>
        </p:spPr>
        <p:txBody>
          <a:bodyPr/>
          <a:p/>
        </p:txBody>
      </p:sp>
      <p:sp>
        <p:nvSpPr>
          <p:cNvPr id="9" name="Text 7"/>
          <p:cNvSpPr/>
          <p:nvPr/>
        </p:nvSpPr>
        <p:spPr>
          <a:xfrm>
            <a:off x="594360" y="4389120"/>
            <a:ext cx="420624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Transpunerea: până la 31 iulie 2027</a:t>
            </a:r>
            <a:endParaRPr lang="en-US" sz="1300" dirty="0"/>
          </a:p>
        </p:txBody>
      </p:sp>
      <p:sp>
        <p:nvSpPr>
          <p:cNvPr id="10" name="Text 8"/>
          <p:cNvSpPr/>
          <p:nvPr/>
        </p:nvSpPr>
        <p:spPr>
          <a:xfrm>
            <a:off x="594360" y="4937760"/>
            <a:ext cx="10972800" cy="822960"/>
          </a:xfrm>
          <a:prstGeom prst="rect">
            <a:avLst/>
          </a:prstGeom>
          <a:noFill/>
          <a:ln/>
        </p:spPr>
        <p:txBody>
          <a:bodyPr wrap="square" lIns="0" tIns="0" rIns="0" bIns="0" rtlCol="0" anchor="t"/>
          <a:lstStyle/>
          <a:p>
            <a:pPr indent="0" marL="0">
              <a:buNone/>
            </a:pPr>
            <a:r>
              <a:rPr lang="en-US" sz="2000" b="1" dirty="0">
                <a:solidFill>
                  <a:srgbClr val="11121A"/>
                </a:solidFill>
                <a:latin typeface="Palatino Linotype" pitchFamily="34" charset="0"/>
                <a:ea typeface="Palatino Linotype" pitchFamily="34" charset="-122"/>
                <a:cs typeface="Palatino Linotype" pitchFamily="34" charset="-120"/>
              </a:rPr>
              <a:t>Articolul se oprește aici: nu spune ce fac autoritățile mai departe.</a:t>
            </a:r>
            <a:endParaRPr lang="en-US" sz="2000" dirty="0"/>
          </a:p>
        </p:txBody>
      </p:sp>
      <p:sp>
        <p:nvSpPr>
          <p:cNvPr id="11" name="Text 9"/>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Directiva (UE) 2024/3019 privind apele uzate urbane (registru A121, A595).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7564B"/>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CE ÎNSEAMNĂ PENTRU VOI</a:t>
            </a:r>
            <a:endParaRPr lang="en-US" sz="1300" dirty="0"/>
          </a:p>
        </p:txBody>
      </p:sp>
      <p:sp>
        <p:nvSpPr>
          <p:cNvPr id="3" name="Text 1"/>
          <p:cNvSpPr/>
          <p:nvPr/>
        </p:nvSpPr>
        <p:spPr>
          <a:xfrm>
            <a:off x="594360" y="868680"/>
            <a:ext cx="10972800" cy="128016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Un semnal din canalizare nu are nume, vârstă sau adresă.</a:t>
            </a:r>
            <a:endParaRPr lang="en-US" sz="3400" dirty="0"/>
          </a:p>
        </p:txBody>
      </p:sp>
      <p:sp>
        <p:nvSpPr>
          <p:cNvPr id="4" name="Text 2"/>
          <p:cNvSpPr/>
          <p:nvPr/>
        </p:nvSpPr>
        <p:spPr>
          <a:xfrm>
            <a:off x="594360" y="2194560"/>
            <a:ext cx="10972800" cy="548640"/>
          </a:xfrm>
          <a:prstGeom prst="rect">
            <a:avLst/>
          </a:prstGeom>
          <a:noFill/>
          <a:ln/>
        </p:spPr>
        <p:txBody>
          <a:bodyPr wrap="square" lIns="0" tIns="0" rIns="0" bIns="0" rtlCol="0" anchor="t"/>
          <a:lstStyle/>
          <a:p>
            <a:pPr indent="0" marL="0">
              <a:buNone/>
            </a:pPr>
            <a:r>
              <a:rPr lang="en-US" sz="2100" dirty="0">
                <a:solidFill>
                  <a:srgbClr val="BFEFE8"/>
                </a:solidFill>
                <a:latin typeface="Palatino Linotype" pitchFamily="34" charset="0"/>
                <a:ea typeface="Palatino Linotype" pitchFamily="34" charset="-122"/>
                <a:cs typeface="Palatino Linotype" pitchFamily="34" charset="-120"/>
              </a:rPr>
              <a:t>Spune unei instituții unde să caute, nu pe cine să trateze.</a:t>
            </a:r>
            <a:endParaRPr lang="en-US" sz="2100" dirty="0"/>
          </a:p>
        </p:txBody>
      </p:sp>
      <p:sp>
        <p:nvSpPr>
          <p:cNvPr id="5" name="Text 3"/>
          <p:cNvSpPr/>
          <p:nvPr/>
        </p:nvSpPr>
        <p:spPr>
          <a:xfrm>
            <a:off x="594360" y="3200400"/>
            <a:ext cx="10972800" cy="457200"/>
          </a:xfrm>
          <a:prstGeom prst="rect">
            <a:avLst/>
          </a:prstGeom>
          <a:noFill/>
          <a:ln/>
        </p:spPr>
        <p:txBody>
          <a:bodyPr wrap="square" lIns="0" tIns="0" rIns="0" bIns="0" rtlCol="0" anchor="t"/>
          <a:lstStyle/>
          <a:p>
            <a:pPr indent="0" marL="0">
              <a:buNone/>
            </a:pPr>
            <a:r>
              <a:rPr lang="en-US" sz="1800" i="1" dirty="0">
                <a:solidFill>
                  <a:srgbClr val="BFEFE8"/>
                </a:solidFill>
                <a:latin typeface="Palatino Linotype" pitchFamily="34" charset="0"/>
                <a:ea typeface="Palatino Linotype" pitchFamily="34" charset="-122"/>
                <a:cs typeface="Palatino Linotype" pitchFamily="34" charset="-120"/>
              </a:rPr>
              <a:t>La știrea „virusul a fost găsit în apele uzate ale orașului”:</a:t>
            </a:r>
            <a:endParaRPr lang="en-US" sz="1800" dirty="0"/>
          </a:p>
        </p:txBody>
      </p:sp>
      <p:sp>
        <p:nvSpPr>
          <p:cNvPr id="6" name="Shape 4"/>
          <p:cNvSpPr/>
          <p:nvPr/>
        </p:nvSpPr>
        <p:spPr>
          <a:xfrm>
            <a:off x="594360" y="3794760"/>
            <a:ext cx="5303520" cy="1463040"/>
          </a:xfrm>
          <a:prstGeom prst="roundRect">
            <a:avLst>
              <a:gd name="adj" fmla="val 5625"/>
            </a:avLst>
          </a:prstGeom>
          <a:solidFill>
            <a:srgbClr val="0A463E"/>
          </a:solidFill>
          <a:ln w="12700">
            <a:solidFill>
              <a:srgbClr val="0A463E"/>
            </a:solidFill>
            <a:prstDash val="solid"/>
          </a:ln>
        </p:spPr>
        <p:txBody>
          <a:bodyPr/>
          <a:p/>
        </p:txBody>
      </p:sp>
      <p:sp>
        <p:nvSpPr>
          <p:cNvPr id="7" name="Text 5"/>
          <p:cNvSpPr/>
          <p:nvPr/>
        </p:nvSpPr>
        <p:spPr>
          <a:xfrm>
            <a:off x="868680" y="3794760"/>
            <a:ext cx="4754880" cy="1463040"/>
          </a:xfrm>
          <a:prstGeom prst="rect">
            <a:avLst/>
          </a:prstGeom>
          <a:noFill/>
          <a:ln/>
        </p:spPr>
        <p:txBody>
          <a:bodyPr wrap="square" lIns="0" tIns="0" rIns="0" bIns="0" rtlCol="0" anchor="ctr"/>
          <a:lstStyle/>
          <a:p>
            <a:pPr indent="0" marL="0">
              <a:buNone/>
            </a:pPr>
            <a:r>
              <a:rPr lang="en-US" sz="2200" dirty="0">
                <a:solidFill>
                  <a:srgbClr val="8FBDB6"/>
                </a:solidFill>
                <a:latin typeface="Palatino Linotype" pitchFamily="34" charset="0"/>
                <a:ea typeface="Palatino Linotype" pitchFamily="34" charset="-122"/>
                <a:cs typeface="Palatino Linotype" pitchFamily="34" charset="-120"/>
              </a:rPr>
              <a:t>„Câți bolnavi sunt?”</a:t>
            </a:r>
            <a:endParaRPr lang="en-US" sz="2200" dirty="0"/>
          </a:p>
        </p:txBody>
      </p:sp>
      <p:sp>
        <p:nvSpPr>
          <p:cNvPr id="8" name="Shape 6"/>
          <p:cNvSpPr/>
          <p:nvPr/>
        </p:nvSpPr>
        <p:spPr>
          <a:xfrm>
            <a:off x="6263640" y="3794760"/>
            <a:ext cx="5303520" cy="1463040"/>
          </a:xfrm>
          <a:prstGeom prst="roundRect">
            <a:avLst>
              <a:gd name="adj" fmla="val 5625"/>
            </a:avLst>
          </a:prstGeom>
          <a:solidFill>
            <a:srgbClr val="FFFFFF"/>
          </a:solidFill>
          <a:ln w="12700">
            <a:solidFill>
              <a:srgbClr val="FFFFFF"/>
            </a:solidFill>
            <a:prstDash val="solid"/>
          </a:ln>
        </p:spPr>
        <p:txBody>
          <a:bodyPr/>
          <a:p/>
        </p:txBody>
      </p:sp>
      <p:sp>
        <p:nvSpPr>
          <p:cNvPr id="9" name="Text 7"/>
          <p:cNvSpPr/>
          <p:nvPr/>
        </p:nvSpPr>
        <p:spPr>
          <a:xfrm>
            <a:off x="6537960" y="3794760"/>
            <a:ext cx="4754880" cy="1463040"/>
          </a:xfrm>
          <a:prstGeom prst="rect">
            <a:avLst/>
          </a:prstGeom>
          <a:noFill/>
          <a:ln/>
        </p:spPr>
        <p:txBody>
          <a:bodyPr wrap="square" lIns="0" tIns="0" rIns="0" bIns="0" rtlCol="0" anchor="ctr"/>
          <a:lstStyle/>
          <a:p>
            <a:pPr indent="0" marL="0">
              <a:buNone/>
            </a:pPr>
            <a:r>
              <a:rPr lang="en-US" sz="2200" b="1" dirty="0">
                <a:solidFill>
                  <a:srgbClr val="07564B"/>
                </a:solidFill>
                <a:latin typeface="Palatino Linotype" pitchFamily="34" charset="0"/>
                <a:ea typeface="Palatino Linotype" pitchFamily="34" charset="-122"/>
                <a:cs typeface="Palatino Linotype" pitchFamily="34" charset="-120"/>
              </a:rPr>
              <a:t>„Ce s-a hotărât să se facă și de către cine?”</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POVESTEA A DOUA · ORA DOUĂ NOAPTEA, ÎN CĂMIN</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Februarie, sesiunea, o colegă cu febră</a:t>
            </a:r>
            <a:endParaRPr lang="en-US" sz="3200" dirty="0"/>
          </a:p>
        </p:txBody>
      </p:sp>
      <p:sp>
        <p:nvSpPr>
          <p:cNvPr id="4" name="Shape 2"/>
          <p:cNvSpPr/>
          <p:nvPr/>
        </p:nvSpPr>
        <p:spPr>
          <a:xfrm>
            <a:off x="594360" y="1783080"/>
            <a:ext cx="10972800" cy="868680"/>
          </a:xfrm>
          <a:prstGeom prst="roundRect">
            <a:avLst>
              <a:gd name="adj" fmla="val 49474"/>
            </a:avLst>
          </a:prstGeom>
          <a:solidFill>
            <a:srgbClr val="FFFFFF"/>
          </a:solidFill>
          <a:ln w="12700">
            <a:solidFill>
              <a:srgbClr val="FFFFFF"/>
            </a:solidFill>
            <a:prstDash val="solid"/>
          </a:ln>
        </p:spPr>
        <p:txBody>
          <a:bodyPr/>
          <a:p/>
        </p:txBody>
      </p:sp>
      <p:sp>
        <p:nvSpPr>
          <p:cNvPr id="5" name="Shape 3"/>
          <p:cNvSpPr/>
          <p:nvPr/>
        </p:nvSpPr>
        <p:spPr>
          <a:xfrm>
            <a:off x="914400" y="2011680"/>
            <a:ext cx="384048" cy="384048"/>
          </a:xfrm>
          <a:prstGeom prst="ellipse">
            <a:avLst/>
          </a:prstGeom>
          <a:solidFill>
            <a:srgbClr val="FFFFFF"/>
          </a:solidFill>
          <a:ln w="31750">
            <a:solidFill>
              <a:srgbClr val="585A64"/>
            </a:solidFill>
            <a:prstDash val="solid"/>
          </a:ln>
        </p:spPr>
        <p:txBody>
          <a:bodyPr/>
          <a:p/>
        </p:txBody>
      </p:sp>
      <p:sp>
        <p:nvSpPr>
          <p:cNvPr id="6" name="Text 4"/>
          <p:cNvSpPr/>
          <p:nvPr/>
        </p:nvSpPr>
        <p:spPr>
          <a:xfrm>
            <a:off x="1554480" y="1783080"/>
            <a:ext cx="9692640" cy="868680"/>
          </a:xfrm>
          <a:prstGeom prst="rect">
            <a:avLst/>
          </a:prstGeom>
          <a:noFill/>
          <a:ln/>
        </p:spPr>
        <p:txBody>
          <a:bodyPr wrap="square" lIns="0" tIns="0" rIns="0" bIns="0" rtlCol="0" anchor="ctr"/>
          <a:lstStyle/>
          <a:p>
            <a:pPr indent="0" marL="0">
              <a:buNone/>
            </a:pPr>
            <a:r>
              <a:rPr lang="en-US" sz="2200" dirty="0">
                <a:solidFill>
                  <a:srgbClr val="11121A"/>
                </a:solidFill>
                <a:latin typeface="Palatino Linotype" pitchFamily="34" charset="0"/>
                <a:ea typeface="Palatino Linotype" pitchFamily="34" charset="-122"/>
                <a:cs typeface="Palatino Linotype" pitchFamily="34" charset="-120"/>
              </a:rPr>
              <a:t>febră mare dureri musculare gripă cât durează</a:t>
            </a:r>
            <a:endParaRPr lang="en-US" sz="2200" dirty="0"/>
          </a:p>
        </p:txBody>
      </p:sp>
      <p:sp>
        <p:nvSpPr>
          <p:cNvPr id="7" name="Text 5"/>
          <p:cNvSpPr/>
          <p:nvPr/>
        </p:nvSpPr>
        <p:spPr>
          <a:xfrm>
            <a:off x="594360" y="2971800"/>
            <a:ext cx="10972800" cy="128016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Nu vrea să meargă la urgențe pentru o răceală. Căutarea nu ajunge la niciun medic. Ajunge în jurnalele unei companii care primește, în aceeași noapte, milioane de căutări asemănătoare.</a:t>
            </a:r>
            <a:endParaRPr lang="en-US" sz="1900" dirty="0"/>
          </a:p>
        </p:txBody>
      </p:sp>
      <p:sp>
        <p:nvSpPr>
          <p:cNvPr id="8" name="Shape 6"/>
          <p:cNvSpPr/>
          <p:nvPr/>
        </p:nvSpPr>
        <p:spPr>
          <a:xfrm>
            <a:off x="594360" y="4480560"/>
            <a:ext cx="10972800" cy="1280160"/>
          </a:xfrm>
          <a:prstGeom prst="roundRect">
            <a:avLst>
              <a:gd name="adj" fmla="val 6429"/>
            </a:avLst>
          </a:prstGeom>
          <a:solidFill>
            <a:srgbClr val="272A38"/>
          </a:solidFill>
          <a:ln w="12700">
            <a:solidFill>
              <a:srgbClr val="272A38"/>
            </a:solidFill>
            <a:prstDash val="solid"/>
          </a:ln>
        </p:spPr>
        <p:txBody>
          <a:bodyPr/>
          <a:p/>
        </p:txBody>
      </p:sp>
      <p:sp>
        <p:nvSpPr>
          <p:cNvPr id="9" name="Text 7"/>
          <p:cNvSpPr/>
          <p:nvPr/>
        </p:nvSpPr>
        <p:spPr>
          <a:xfrm>
            <a:off x="914400" y="4480560"/>
            <a:ext cx="10332720" cy="1280160"/>
          </a:xfrm>
          <a:prstGeom prst="rect">
            <a:avLst/>
          </a:prstGeom>
          <a:noFill/>
          <a:ln/>
        </p:spPr>
        <p:txBody>
          <a:bodyPr wrap="square" lIns="0" tIns="0" rIns="0" bIns="0" rtlCol="0" anchor="ctr"/>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Dacă mult mai mulți oameni decât de obicei caută „simptome gripă”, nu înseamnă oare că a venit gripa?</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GOOGLE FLU TRENDS</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Sistemul care a văzut prea multă gripă</a:t>
            </a:r>
            <a:endParaRPr lang="en-US" sz="3200" dirty="0"/>
          </a:p>
        </p:txBody>
      </p:sp>
      <p:sp>
        <p:nvSpPr>
          <p:cNvPr id="4" name="Shape 2"/>
          <p:cNvSpPr/>
          <p:nvPr/>
        </p:nvSpPr>
        <p:spPr>
          <a:xfrm>
            <a:off x="594360" y="1691640"/>
            <a:ext cx="4206240" cy="3200400"/>
          </a:xfrm>
          <a:prstGeom prst="roundRect">
            <a:avLst>
              <a:gd name="adj" fmla="val 2571"/>
            </a:avLst>
          </a:prstGeom>
          <a:solidFill>
            <a:srgbClr val="11121A"/>
          </a:solidFill>
          <a:ln w="12700">
            <a:solidFill>
              <a:srgbClr val="11121A"/>
            </a:solidFill>
            <a:prstDash val="solid"/>
          </a:ln>
        </p:spPr>
        <p:txBody>
          <a:bodyPr/>
          <a:p/>
        </p:txBody>
      </p:sp>
      <p:sp>
        <p:nvSpPr>
          <p:cNvPr id="5" name="Text 3"/>
          <p:cNvSpPr/>
          <p:nvPr/>
        </p:nvSpPr>
        <p:spPr>
          <a:xfrm>
            <a:off x="868680" y="1801368"/>
            <a:ext cx="3657600" cy="1600200"/>
          </a:xfrm>
          <a:prstGeom prst="rect">
            <a:avLst/>
          </a:prstGeom>
          <a:noFill/>
          <a:ln/>
        </p:spPr>
        <p:txBody>
          <a:bodyPr wrap="square" lIns="0" tIns="0" rIns="0" bIns="0" rtlCol="0" anchor="ctr"/>
          <a:lstStyle/>
          <a:p>
            <a:pPr indent="0" marL="0">
              <a:buNone/>
            </a:pPr>
            <a:r>
              <a:rPr lang="en-US" sz="9600" b="1" dirty="0">
                <a:solidFill>
                  <a:srgbClr val="FF4757"/>
                </a:solidFill>
                <a:latin typeface="Palatino Linotype" pitchFamily="34" charset="0"/>
                <a:ea typeface="Palatino Linotype" pitchFamily="34" charset="-122"/>
                <a:cs typeface="Palatino Linotype" pitchFamily="34" charset="-120"/>
              </a:rPr>
              <a:t>100</a:t>
            </a:r>
            <a:endParaRPr lang="en-US" sz="9600" dirty="0"/>
          </a:p>
        </p:txBody>
      </p:sp>
      <p:sp>
        <p:nvSpPr>
          <p:cNvPr id="6" name="Text 4"/>
          <p:cNvSpPr/>
          <p:nvPr/>
        </p:nvSpPr>
        <p:spPr>
          <a:xfrm>
            <a:off x="868680" y="3310128"/>
            <a:ext cx="3657600" cy="1472184"/>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din 108 săptămâni, august 2011 – septembrie 2013, cu prea multă gripă</a:t>
            </a:r>
            <a:endParaRPr lang="en-US" sz="1400" dirty="0"/>
          </a:p>
        </p:txBody>
      </p:sp>
      <p:sp>
        <p:nvSpPr>
          <p:cNvPr id="7" name="Shape 5"/>
          <p:cNvSpPr/>
          <p:nvPr/>
        </p:nvSpPr>
        <p:spPr>
          <a:xfrm>
            <a:off x="5120640" y="1691640"/>
            <a:ext cx="6446520" cy="960120"/>
          </a:xfrm>
          <a:prstGeom prst="roundRect">
            <a:avLst>
              <a:gd name="adj" fmla="val 8571"/>
            </a:avLst>
          </a:prstGeom>
          <a:solidFill>
            <a:srgbClr val="ECEAE4"/>
          </a:solidFill>
          <a:ln w="12700">
            <a:solidFill>
              <a:srgbClr val="ECEAE4"/>
            </a:solidFill>
            <a:prstDash val="solid"/>
          </a:ln>
        </p:spPr>
        <p:txBody>
          <a:bodyPr/>
          <a:p/>
        </p:txBody>
      </p:sp>
      <p:sp>
        <p:nvSpPr>
          <p:cNvPr id="8" name="Text 6"/>
          <p:cNvSpPr/>
          <p:nvPr/>
        </p:nvSpPr>
        <p:spPr>
          <a:xfrm>
            <a:off x="5394960" y="1691640"/>
            <a:ext cx="5989320" cy="96012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Februarie 2013: de peste două ori mai multă gripă decât CDC, pe care trebuia s-o prezică.</a:t>
            </a:r>
            <a:endParaRPr lang="en-US" sz="1600" dirty="0"/>
          </a:p>
        </p:txBody>
      </p:sp>
      <p:sp>
        <p:nvSpPr>
          <p:cNvPr id="9" name="Shape 7"/>
          <p:cNvSpPr/>
          <p:nvPr/>
        </p:nvSpPr>
        <p:spPr>
          <a:xfrm>
            <a:off x="5120640" y="2788920"/>
            <a:ext cx="6446520" cy="960120"/>
          </a:xfrm>
          <a:prstGeom prst="roundRect">
            <a:avLst>
              <a:gd name="adj" fmla="val 8571"/>
            </a:avLst>
          </a:prstGeom>
          <a:solidFill>
            <a:srgbClr val="ECEAE4"/>
          </a:solidFill>
          <a:ln w="12700">
            <a:solidFill>
              <a:srgbClr val="ECEAE4"/>
            </a:solidFill>
            <a:prstDash val="solid"/>
          </a:ln>
        </p:spPr>
        <p:txBody>
          <a:bodyPr/>
          <a:p/>
        </p:txBody>
      </p:sp>
      <p:sp>
        <p:nvSpPr>
          <p:cNvPr id="10" name="Text 8"/>
          <p:cNvSpPr/>
          <p:nvPr/>
        </p:nvSpPr>
        <p:spPr>
          <a:xfrm>
            <a:off x="5394960" y="2788920"/>
            <a:ext cx="5989320" cy="96012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Sezonul 2011–2012: peste nivelul real cu mai mult de 50%.</a:t>
            </a:r>
            <a:endParaRPr lang="en-US" sz="1600" dirty="0"/>
          </a:p>
        </p:txBody>
      </p:sp>
      <p:sp>
        <p:nvSpPr>
          <p:cNvPr id="11" name="Shape 9"/>
          <p:cNvSpPr/>
          <p:nvPr/>
        </p:nvSpPr>
        <p:spPr>
          <a:xfrm>
            <a:off x="5120640" y="3886200"/>
            <a:ext cx="6446520" cy="960120"/>
          </a:xfrm>
          <a:prstGeom prst="roundRect">
            <a:avLst>
              <a:gd name="adj" fmla="val 8571"/>
            </a:avLst>
          </a:prstGeom>
          <a:solidFill>
            <a:srgbClr val="ECEAE4"/>
          </a:solidFill>
          <a:ln w="12700">
            <a:solidFill>
              <a:srgbClr val="ECEAE4"/>
            </a:solidFill>
            <a:prstDash val="solid"/>
          </a:ln>
        </p:spPr>
        <p:txBody>
          <a:bodyPr/>
          <a:p/>
        </p:txBody>
      </p:sp>
      <p:sp>
        <p:nvSpPr>
          <p:cNvPr id="12" name="Text 10"/>
          <p:cNvSpPr/>
          <p:nvPr/>
        </p:nvSpPr>
        <p:spPr>
          <a:xfrm>
            <a:off x="5394960" y="3886200"/>
            <a:ext cx="5989320" cy="96012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Pandemia din 2009, în afara sezonului: ratată complet.</a:t>
            </a:r>
            <a:endParaRPr lang="en-US" sz="1600" dirty="0"/>
          </a:p>
        </p:txBody>
      </p:sp>
      <p:sp>
        <p:nvSpPr>
          <p:cNvPr id="13" name="Text 11"/>
          <p:cNvSpPr/>
          <p:nvPr/>
        </p:nvSpPr>
        <p:spPr>
          <a:xfrm>
            <a:off x="594360" y="5166360"/>
            <a:ext cx="10972800" cy="731520"/>
          </a:xfrm>
          <a:prstGeom prst="rect">
            <a:avLst/>
          </a:prstGeom>
          <a:noFill/>
          <a:ln/>
        </p:spPr>
        <p:txBody>
          <a:bodyPr wrap="square" lIns="0" tIns="0" rIns="0" bIns="0" rtlCol="0" anchor="t"/>
          <a:lstStyle/>
          <a:p>
            <a:pPr indent="0" marL="0">
              <a:buNone/>
            </a:pPr>
            <a:r>
              <a:rPr lang="en-US" sz="1800" b="1" i="1" dirty="0">
                <a:solidFill>
                  <a:srgbClr val="B02532"/>
                </a:solidFill>
                <a:latin typeface="Palatino Linotype" pitchFamily="34" charset="0"/>
                <a:ea typeface="Palatino Linotype" pitchFamily="34" charset="-122"/>
                <a:cs typeface="Palatino Linotype" pitchFamily="34" charset="-120"/>
              </a:rPr>
              <a:t>„Part flu detector, part winter detector”: în parte detector de gripă, în parte detector de iarnă.</a:t>
            </a:r>
            <a:endParaRPr lang="en-US" sz="1800" dirty="0"/>
          </a:p>
        </p:txBody>
      </p:sp>
      <p:sp>
        <p:nvSpPr>
          <p:cNvPr id="14" name="Text 12"/>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Lazer și colab., 2014 (registru A578, A580, A581).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ÎNAINTE DE EXPLICAȚIE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De ce a văzut sistemul mai multă gripă decât exista?</a:t>
            </a:r>
            <a:endParaRPr lang="en-US" sz="2800" dirty="0"/>
          </a:p>
        </p:txBody>
      </p:sp>
      <p:sp>
        <p:nvSpPr>
          <p:cNvPr id="6" name="Shape 4"/>
          <p:cNvSpPr/>
          <p:nvPr/>
        </p:nvSpPr>
        <p:spPr>
          <a:xfrm>
            <a:off x="594360" y="1783080"/>
            <a:ext cx="7635240" cy="749808"/>
          </a:xfrm>
          <a:prstGeom prst="roundRect">
            <a:avLst>
              <a:gd name="adj" fmla="val 10976"/>
            </a:avLst>
          </a:prstGeom>
          <a:solidFill>
            <a:srgbClr val="1D1F2B"/>
          </a:solidFill>
          <a:ln w="12700">
            <a:solidFill>
              <a:srgbClr val="1D1F2B"/>
            </a:solidFill>
            <a:prstDash val="solid"/>
          </a:ln>
        </p:spPr>
        <p:txBody>
          <a:bodyPr/>
          <a:p/>
        </p:txBody>
      </p:sp>
      <p:sp>
        <p:nvSpPr>
          <p:cNvPr id="7" name="Shape 5"/>
          <p:cNvSpPr/>
          <p:nvPr/>
        </p:nvSpPr>
        <p:spPr>
          <a:xfrm>
            <a:off x="914400" y="1947672"/>
            <a:ext cx="420624" cy="420624"/>
          </a:xfrm>
          <a:prstGeom prst="ellipse">
            <a:avLst/>
          </a:prstGeom>
          <a:solidFill>
            <a:srgbClr val="FFC24B"/>
          </a:solidFill>
          <a:ln/>
        </p:spPr>
        <p:txBody>
          <a:bodyPr/>
          <a:p/>
        </p:txBody>
      </p:sp>
      <p:sp>
        <p:nvSpPr>
          <p:cNvPr id="8" name="Text 6"/>
          <p:cNvSpPr/>
          <p:nvPr/>
        </p:nvSpPr>
        <p:spPr>
          <a:xfrm>
            <a:off x="914400" y="19476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1783080"/>
            <a:ext cx="6355080" cy="74980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Oamenii caută simptome de gripă și când au doar o răceală</a:t>
            </a:r>
            <a:endParaRPr lang="en-US" sz="1700" dirty="0"/>
          </a:p>
        </p:txBody>
      </p:sp>
      <p:sp>
        <p:nvSpPr>
          <p:cNvPr id="10" name="Shape 8"/>
          <p:cNvSpPr/>
          <p:nvPr/>
        </p:nvSpPr>
        <p:spPr>
          <a:xfrm>
            <a:off x="594360" y="2679192"/>
            <a:ext cx="7635240" cy="749808"/>
          </a:xfrm>
          <a:prstGeom prst="roundRect">
            <a:avLst>
              <a:gd name="adj" fmla="val 10976"/>
            </a:avLst>
          </a:prstGeom>
          <a:solidFill>
            <a:srgbClr val="1D1F2B"/>
          </a:solidFill>
          <a:ln w="12700">
            <a:solidFill>
              <a:srgbClr val="1D1F2B"/>
            </a:solidFill>
            <a:prstDash val="solid"/>
          </a:ln>
        </p:spPr>
        <p:txBody>
          <a:bodyPr/>
          <a:p/>
        </p:txBody>
      </p:sp>
      <p:sp>
        <p:nvSpPr>
          <p:cNvPr id="11" name="Shape 9"/>
          <p:cNvSpPr/>
          <p:nvPr/>
        </p:nvSpPr>
        <p:spPr>
          <a:xfrm>
            <a:off x="914400" y="2843784"/>
            <a:ext cx="420624" cy="420624"/>
          </a:xfrm>
          <a:prstGeom prst="ellipse">
            <a:avLst/>
          </a:prstGeom>
          <a:solidFill>
            <a:srgbClr val="FFC24B"/>
          </a:solidFill>
          <a:ln/>
        </p:spPr>
        <p:txBody>
          <a:bodyPr/>
          <a:p/>
        </p:txBody>
      </p:sp>
      <p:sp>
        <p:nvSpPr>
          <p:cNvPr id="12" name="Text 10"/>
          <p:cNvSpPr/>
          <p:nvPr/>
        </p:nvSpPr>
        <p:spPr>
          <a:xfrm>
            <a:off x="914400" y="28437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2679192"/>
            <a:ext cx="6355080" cy="74980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Știrile despre gripă îi fac pe oameni să caute mai mult</a:t>
            </a:r>
            <a:endParaRPr lang="en-US" sz="1700" dirty="0"/>
          </a:p>
        </p:txBody>
      </p:sp>
      <p:sp>
        <p:nvSpPr>
          <p:cNvPr id="14" name="Shape 12"/>
          <p:cNvSpPr/>
          <p:nvPr/>
        </p:nvSpPr>
        <p:spPr>
          <a:xfrm>
            <a:off x="594360" y="3575304"/>
            <a:ext cx="7635240" cy="749808"/>
          </a:xfrm>
          <a:prstGeom prst="roundRect">
            <a:avLst>
              <a:gd name="adj" fmla="val 10976"/>
            </a:avLst>
          </a:prstGeom>
          <a:solidFill>
            <a:srgbClr val="1D1F2B"/>
          </a:solidFill>
          <a:ln w="12700">
            <a:solidFill>
              <a:srgbClr val="1D1F2B"/>
            </a:solidFill>
            <a:prstDash val="solid"/>
          </a:ln>
        </p:spPr>
        <p:txBody>
          <a:bodyPr/>
          <a:p/>
        </p:txBody>
      </p:sp>
      <p:sp>
        <p:nvSpPr>
          <p:cNvPr id="15" name="Shape 13"/>
          <p:cNvSpPr/>
          <p:nvPr/>
        </p:nvSpPr>
        <p:spPr>
          <a:xfrm>
            <a:off x="914400" y="3739896"/>
            <a:ext cx="420624" cy="420624"/>
          </a:xfrm>
          <a:prstGeom prst="ellipse">
            <a:avLst/>
          </a:prstGeom>
          <a:solidFill>
            <a:srgbClr val="FFC24B"/>
          </a:solidFill>
          <a:ln/>
        </p:spPr>
        <p:txBody>
          <a:bodyPr/>
          <a:p/>
        </p:txBody>
      </p:sp>
      <p:sp>
        <p:nvSpPr>
          <p:cNvPr id="16" name="Text 14"/>
          <p:cNvSpPr/>
          <p:nvPr/>
        </p:nvSpPr>
        <p:spPr>
          <a:xfrm>
            <a:off x="914400" y="373989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3575304"/>
            <a:ext cx="6355080" cy="74980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Sistemul a confundat iarna cu gripa</a:t>
            </a:r>
            <a:endParaRPr lang="en-US" sz="1700" dirty="0"/>
          </a:p>
        </p:txBody>
      </p:sp>
      <p:sp>
        <p:nvSpPr>
          <p:cNvPr id="18" name="Shape 16"/>
          <p:cNvSpPr/>
          <p:nvPr/>
        </p:nvSpPr>
        <p:spPr>
          <a:xfrm>
            <a:off x="594360" y="4471416"/>
            <a:ext cx="7635240" cy="749808"/>
          </a:xfrm>
          <a:prstGeom prst="roundRect">
            <a:avLst>
              <a:gd name="adj" fmla="val 10976"/>
            </a:avLst>
          </a:prstGeom>
          <a:solidFill>
            <a:srgbClr val="1D1F2B"/>
          </a:solidFill>
          <a:ln w="12700">
            <a:solidFill>
              <a:srgbClr val="1D1F2B"/>
            </a:solidFill>
            <a:prstDash val="solid"/>
          </a:ln>
        </p:spPr>
        <p:txBody>
          <a:bodyPr/>
          <a:p/>
        </p:txBody>
      </p:sp>
      <p:sp>
        <p:nvSpPr>
          <p:cNvPr id="19" name="Shape 17"/>
          <p:cNvSpPr/>
          <p:nvPr/>
        </p:nvSpPr>
        <p:spPr>
          <a:xfrm>
            <a:off x="914400" y="4636008"/>
            <a:ext cx="420624" cy="420624"/>
          </a:xfrm>
          <a:prstGeom prst="ellipse">
            <a:avLst/>
          </a:prstGeom>
          <a:solidFill>
            <a:srgbClr val="FFC24B"/>
          </a:solidFill>
          <a:ln/>
        </p:spPr>
        <p:txBody>
          <a:bodyPr/>
          <a:p/>
        </p:txBody>
      </p:sp>
      <p:sp>
        <p:nvSpPr>
          <p:cNvPr id="20" name="Text 18"/>
          <p:cNvSpPr/>
          <p:nvPr/>
        </p:nvSpPr>
        <p:spPr>
          <a:xfrm>
            <a:off x="914400" y="46360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600200" y="4471416"/>
            <a:ext cx="6355080" cy="74980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Toate acestea pot fi adevărate</a:t>
            </a:r>
            <a:endParaRPr lang="en-US" sz="1700" dirty="0"/>
          </a:p>
        </p:txBody>
      </p:sp>
      <p:sp>
        <p:nvSpPr>
          <p:cNvPr id="22" name="Shape 20"/>
          <p:cNvSpPr/>
          <p:nvPr/>
        </p:nvSpPr>
        <p:spPr>
          <a:xfrm>
            <a:off x="8503920" y="1783080"/>
            <a:ext cx="3063240" cy="3063240"/>
          </a:xfrm>
          <a:prstGeom prst="roundRect">
            <a:avLst>
              <a:gd name="adj" fmla="val 2687"/>
            </a:avLst>
          </a:prstGeom>
          <a:solidFill>
            <a:srgbClr val="FFFFFF"/>
          </a:solidFill>
          <a:ln w="12700">
            <a:solidFill>
              <a:srgbClr val="FFFFFF"/>
            </a:solidFill>
            <a:prstDash val="solid"/>
          </a:ln>
        </p:spPr>
        <p:txBody>
          <a:bodyPr/>
          <a:p/>
        </p:txBody>
      </p:sp>
      <p:sp>
        <p:nvSpPr>
          <p:cNvPr id="24" name="Text 22"/>
          <p:cNvSpPr/>
          <p:nvPr/>
        </p:nvSpPr>
        <p:spPr>
          <a:xfrm>
            <a:off x="594360" y="5532120"/>
            <a:ext cx="10972800" cy="45720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Răspundeți pe telefon, la codul afișat. Apoi un minut cu colegul de bancă.</a:t>
            </a:r>
            <a:endParaRPr lang="en-US" sz="1500" dirty="0"/>
          </a:p>
        </p:txBody>
      </p:sp>
      <p:pic>
        <p:nvPicPr>
          <p:cNvPr id="25" name="Picture 24" descr="Mentimeter_OPT_DETECTIVI_C04.png"/>
          <p:cNvPicPr>
            <a:picLocks noChangeAspect="1"/>
          </p:cNvPicPr>
          <p:nvPr/>
        </p:nvPicPr>
        <p:blipFill>
          <a:blip r:embed="rId3"/>
          <a:stretch>
            <a:fillRect/>
          </a:stretch>
        </p:blipFill>
        <p:spPr>
          <a:xfrm>
            <a:off x="8817610" y="1783080"/>
            <a:ext cx="2435860" cy="2435860"/>
          </a:xfrm>
          <a:prstGeom prst="rect">
            <a:avLst/>
          </a:prstGeom>
        </p:spPr>
      </p:pic>
      <p:sp>
        <p:nvSpPr>
          <p:cNvPr id="26" name="TextBox 25"/>
          <p:cNvSpPr txBox="1"/>
          <p:nvPr/>
        </p:nvSpPr>
        <p:spPr>
          <a:xfrm>
            <a:off x="8503920" y="4257040"/>
            <a:ext cx="306324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PRIMA EXPLICAȚIE · CUM A FOST CONSTRUIT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Un sistem care a învățat iarna</a:t>
            </a:r>
            <a:endParaRPr lang="en-US" sz="3200" dirty="0"/>
          </a:p>
        </p:txBody>
      </p:sp>
      <p:sp>
        <p:nvSpPr>
          <p:cNvPr id="4" name="Shape 2"/>
          <p:cNvSpPr/>
          <p:nvPr/>
        </p:nvSpPr>
        <p:spPr>
          <a:xfrm>
            <a:off x="594360" y="1691640"/>
            <a:ext cx="3657600" cy="1737360"/>
          </a:xfrm>
          <a:prstGeom prst="roundRect">
            <a:avLst>
              <a:gd name="adj" fmla="val 4737"/>
            </a:avLst>
          </a:prstGeom>
          <a:solidFill>
            <a:srgbClr val="1D1F2B"/>
          </a:solidFill>
          <a:ln w="12700">
            <a:solidFill>
              <a:srgbClr val="1D1F2B"/>
            </a:solidFill>
            <a:prstDash val="solid"/>
          </a:ln>
        </p:spPr>
        <p:txBody>
          <a:bodyPr/>
          <a:p/>
        </p:txBody>
      </p:sp>
      <p:sp>
        <p:nvSpPr>
          <p:cNvPr id="5" name="Text 3"/>
          <p:cNvSpPr/>
          <p:nvPr/>
        </p:nvSpPr>
        <p:spPr>
          <a:xfrm>
            <a:off x="868680" y="1801368"/>
            <a:ext cx="3108960" cy="868680"/>
          </a:xfrm>
          <a:prstGeom prst="rect">
            <a:avLst/>
          </a:prstGeom>
          <a:noFill/>
          <a:ln/>
        </p:spPr>
        <p:txBody>
          <a:bodyPr wrap="square" lIns="0" tIns="0" rIns="0" bIns="0" rtlCol="0" anchor="ctr"/>
          <a:lstStyle/>
          <a:p>
            <a:pPr indent="0" marL="0">
              <a:buNone/>
            </a:pPr>
            <a:r>
              <a:rPr lang="en-US" sz="3200" b="1" dirty="0">
                <a:solidFill>
                  <a:srgbClr val="FFC24B"/>
                </a:solidFill>
                <a:latin typeface="Palatino Linotype" pitchFamily="34" charset="0"/>
                <a:ea typeface="Palatino Linotype" pitchFamily="34" charset="-122"/>
                <a:cs typeface="Palatino Linotype" pitchFamily="34" charset="-120"/>
              </a:rPr>
              <a:t>50 de milioane</a:t>
            </a:r>
            <a:endParaRPr lang="en-US" sz="3200" dirty="0"/>
          </a:p>
        </p:txBody>
      </p:sp>
      <p:sp>
        <p:nvSpPr>
          <p:cNvPr id="6" name="Text 4"/>
          <p:cNvSpPr/>
          <p:nvPr/>
        </p:nvSpPr>
        <p:spPr>
          <a:xfrm>
            <a:off x="868680" y="2578608"/>
            <a:ext cx="3108960" cy="799186"/>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de termeni de căutare</a:t>
            </a:r>
            <a:endParaRPr lang="en-US" sz="1400" dirty="0"/>
          </a:p>
        </p:txBody>
      </p:sp>
      <p:sp>
        <p:nvSpPr>
          <p:cNvPr id="7" name="Shape 5"/>
          <p:cNvSpPr/>
          <p:nvPr/>
        </p:nvSpPr>
        <p:spPr>
          <a:xfrm>
            <a:off x="594360" y="3611880"/>
            <a:ext cx="3657600" cy="1737360"/>
          </a:xfrm>
          <a:prstGeom prst="roundRect">
            <a:avLst>
              <a:gd name="adj" fmla="val 4737"/>
            </a:avLst>
          </a:prstGeom>
          <a:solidFill>
            <a:srgbClr val="1D1F2B"/>
          </a:solidFill>
          <a:ln w="12700">
            <a:solidFill>
              <a:srgbClr val="1D1F2B"/>
            </a:solidFill>
            <a:prstDash val="solid"/>
          </a:ln>
        </p:spPr>
        <p:txBody>
          <a:bodyPr/>
          <a:p/>
        </p:txBody>
      </p:sp>
      <p:sp>
        <p:nvSpPr>
          <p:cNvPr id="8" name="Text 6"/>
          <p:cNvSpPr/>
          <p:nvPr/>
        </p:nvSpPr>
        <p:spPr>
          <a:xfrm>
            <a:off x="868680" y="3721608"/>
            <a:ext cx="3108960" cy="868680"/>
          </a:xfrm>
          <a:prstGeom prst="rect">
            <a:avLst/>
          </a:prstGeom>
          <a:noFill/>
          <a:ln/>
        </p:spPr>
        <p:txBody>
          <a:bodyPr wrap="square" lIns="0" tIns="0" rIns="0" bIns="0" rtlCol="0" anchor="ctr"/>
          <a:lstStyle/>
          <a:p>
            <a:pPr indent="0" marL="0">
              <a:buNone/>
            </a:pPr>
            <a:r>
              <a:rPr lang="en-US" sz="4000" b="1" dirty="0">
                <a:solidFill>
                  <a:srgbClr val="27D3BE"/>
                </a:solidFill>
                <a:latin typeface="Palatino Linotype" pitchFamily="34" charset="0"/>
                <a:ea typeface="Palatino Linotype" pitchFamily="34" charset="-122"/>
                <a:cs typeface="Palatino Linotype" pitchFamily="34" charset="-120"/>
              </a:rPr>
              <a:t>1 152</a:t>
            </a:r>
            <a:endParaRPr lang="en-US" sz="4000" dirty="0"/>
          </a:p>
        </p:txBody>
      </p:sp>
      <p:sp>
        <p:nvSpPr>
          <p:cNvPr id="9" name="Text 7"/>
          <p:cNvSpPr/>
          <p:nvPr/>
        </p:nvSpPr>
        <p:spPr>
          <a:xfrm>
            <a:off x="868680" y="4498848"/>
            <a:ext cx="3108960" cy="799186"/>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de puncte de date ale CDC</a:t>
            </a:r>
            <a:endParaRPr lang="en-US" sz="1400" dirty="0"/>
          </a:p>
        </p:txBody>
      </p:sp>
      <p:sp>
        <p:nvSpPr>
          <p:cNvPr id="10" name="Text 8"/>
          <p:cNvSpPr/>
          <p:nvPr/>
        </p:nvSpPr>
        <p:spPr>
          <a:xfrm>
            <a:off x="4572000" y="1691640"/>
            <a:ext cx="6995160" cy="128016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Unii termeni urcau și coborau odată cu sezonul, fără legătură cu gripa: baschetul din liceu.</a:t>
            </a:r>
            <a:endParaRPr lang="en-US" sz="1800" dirty="0"/>
          </a:p>
        </p:txBody>
      </p:sp>
      <p:sp>
        <p:nvSpPr>
          <p:cNvPr id="11" name="Text 9"/>
          <p:cNvSpPr/>
          <p:nvPr/>
        </p:nvSpPr>
        <p:spPr>
          <a:xfrm>
            <a:off x="4572000" y="3063240"/>
            <a:ext cx="6995160" cy="109728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Printre milioane de curbe, multe seamănă cu gripa din întâmplare.</a:t>
            </a:r>
            <a:endParaRPr lang="en-US" sz="1800" dirty="0"/>
          </a:p>
        </p:txBody>
      </p:sp>
      <p:sp>
        <p:nvSpPr>
          <p:cNvPr id="12" name="Shape 10"/>
          <p:cNvSpPr/>
          <p:nvPr/>
        </p:nvSpPr>
        <p:spPr>
          <a:xfrm>
            <a:off x="4572000" y="4297680"/>
            <a:ext cx="6995160" cy="1051560"/>
          </a:xfrm>
          <a:prstGeom prst="roundRect">
            <a:avLst>
              <a:gd name="adj" fmla="val 7826"/>
            </a:avLst>
          </a:prstGeom>
          <a:solidFill>
            <a:srgbClr val="FF4757"/>
          </a:solidFill>
          <a:ln w="12700">
            <a:solidFill>
              <a:srgbClr val="FF4757"/>
            </a:solidFill>
            <a:prstDash val="solid"/>
          </a:ln>
        </p:spPr>
        <p:txBody>
          <a:bodyPr/>
          <a:p/>
        </p:txBody>
      </p:sp>
      <p:sp>
        <p:nvSpPr>
          <p:cNvPr id="13" name="Text 11"/>
          <p:cNvSpPr/>
          <p:nvPr/>
        </p:nvSpPr>
        <p:spPr>
          <a:xfrm>
            <a:off x="4846320" y="4297680"/>
            <a:ext cx="6492240" cy="1051560"/>
          </a:xfrm>
          <a:prstGeom prst="rect">
            <a:avLst/>
          </a:prstGeom>
          <a:noFill/>
          <a:ln/>
        </p:spPr>
        <p:txBody>
          <a:bodyPr wrap="square" lIns="0" tIns="0" rIns="0" bIns="0" rtlCol="0" anchor="ctr"/>
          <a:lstStyle/>
          <a:p>
            <a:pPr indent="0" marL="0">
              <a:buNone/>
            </a:pPr>
            <a:r>
              <a:rPr lang="en-US" sz="1900" b="1" dirty="0">
                <a:solidFill>
                  <a:srgbClr val="2E060B"/>
                </a:solidFill>
                <a:latin typeface="Palatino Linotype" pitchFamily="34" charset="0"/>
                <a:ea typeface="Palatino Linotype" pitchFamily="34" charset="-122"/>
                <a:cs typeface="Palatino Linotype" pitchFamily="34" charset="-120"/>
              </a:rPr>
              <a:t>Când gripa a venit vara, în 2009, sistemul nu a văzut-o.</a:t>
            </a:r>
            <a:endParaRPr lang="en-US" sz="1900" dirty="0"/>
          </a:p>
        </p:txBody>
      </p:sp>
      <p:sp>
        <p:nvSpPr>
          <p:cNvPr id="14" name="Text 12"/>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Lazer și colab., 2014 (registru A579, A580).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 DOUA EXPLICAȚIE · MOTORUL DE CĂUTARE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Datele veneau de la un produs comercial</a:t>
            </a:r>
            <a:endParaRPr lang="en-US" sz="3200" dirty="0"/>
          </a:p>
        </p:txBody>
      </p:sp>
      <p:sp>
        <p:nvSpPr>
          <p:cNvPr id="4" name="Shape 2"/>
          <p:cNvSpPr/>
          <p:nvPr/>
        </p:nvSpPr>
        <p:spPr>
          <a:xfrm>
            <a:off x="594360" y="1691640"/>
            <a:ext cx="3657600" cy="2743200"/>
          </a:xfrm>
          <a:prstGeom prst="roundRect">
            <a:avLst>
              <a:gd name="adj" fmla="val 3000"/>
            </a:avLst>
          </a:prstGeom>
          <a:solidFill>
            <a:srgbClr val="11121A"/>
          </a:solidFill>
          <a:ln w="12700">
            <a:solidFill>
              <a:srgbClr val="11121A"/>
            </a:solidFill>
            <a:prstDash val="solid"/>
          </a:ln>
        </p:spPr>
        <p:txBody>
          <a:bodyPr/>
          <a:p/>
        </p:txBody>
      </p:sp>
      <p:sp>
        <p:nvSpPr>
          <p:cNvPr id="5" name="Text 3"/>
          <p:cNvSpPr/>
          <p:nvPr/>
        </p:nvSpPr>
        <p:spPr>
          <a:xfrm>
            <a:off x="868680" y="1801368"/>
            <a:ext cx="3108960" cy="1371600"/>
          </a:xfrm>
          <a:prstGeom prst="rect">
            <a:avLst/>
          </a:prstGeom>
          <a:noFill/>
          <a:ln/>
        </p:spPr>
        <p:txBody>
          <a:bodyPr wrap="square" lIns="0" tIns="0" rIns="0" bIns="0" rtlCol="0" anchor="ctr"/>
          <a:lstStyle/>
          <a:p>
            <a:pPr indent="0" marL="0">
              <a:buNone/>
            </a:pPr>
            <a:r>
              <a:rPr lang="en-US" sz="8000" b="1" dirty="0">
                <a:solidFill>
                  <a:srgbClr val="FF4757"/>
                </a:solidFill>
                <a:latin typeface="Palatino Linotype" pitchFamily="34" charset="0"/>
                <a:ea typeface="Palatino Linotype" pitchFamily="34" charset="-122"/>
                <a:cs typeface="Palatino Linotype" pitchFamily="34" charset="-120"/>
              </a:rPr>
              <a:t>86</a:t>
            </a:r>
            <a:endParaRPr lang="en-US" sz="8000" dirty="0"/>
          </a:p>
        </p:txBody>
      </p:sp>
      <p:sp>
        <p:nvSpPr>
          <p:cNvPr id="6" name="Text 4"/>
          <p:cNvSpPr/>
          <p:nvPr/>
        </p:nvSpPr>
        <p:spPr>
          <a:xfrm>
            <a:off x="868680" y="3081528"/>
            <a:ext cx="3108960" cy="1261872"/>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de schimbări anunțate de companie numai în iunie și iulie 2012</a:t>
            </a:r>
            <a:endParaRPr lang="en-US" sz="1400" dirty="0"/>
          </a:p>
        </p:txBody>
      </p:sp>
      <p:sp>
        <p:nvSpPr>
          <p:cNvPr id="7" name="Shape 5"/>
          <p:cNvSpPr/>
          <p:nvPr/>
        </p:nvSpPr>
        <p:spPr>
          <a:xfrm>
            <a:off x="4572000" y="1691640"/>
            <a:ext cx="6995160" cy="822960"/>
          </a:xfrm>
          <a:prstGeom prst="roundRect">
            <a:avLst>
              <a:gd name="adj" fmla="val 10000"/>
            </a:avLst>
          </a:prstGeom>
          <a:solidFill>
            <a:srgbClr val="ECEAE4"/>
          </a:solidFill>
          <a:ln w="12700">
            <a:solidFill>
              <a:srgbClr val="ECEAE4"/>
            </a:solidFill>
            <a:prstDash val="solid"/>
          </a:ln>
        </p:spPr>
        <p:txBody>
          <a:bodyPr/>
          <a:p/>
        </p:txBody>
      </p:sp>
      <p:sp>
        <p:nvSpPr>
          <p:cNvPr id="8" name="Text 6"/>
          <p:cNvSpPr/>
          <p:nvPr/>
        </p:nvSpPr>
        <p:spPr>
          <a:xfrm>
            <a:off x="4846320" y="1691640"/>
            <a:ext cx="6537960" cy="82296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Din iunie 2011: căutări suplimentare sugerate.</a:t>
            </a:r>
            <a:endParaRPr lang="en-US" sz="1600" dirty="0"/>
          </a:p>
        </p:txBody>
      </p:sp>
      <p:sp>
        <p:nvSpPr>
          <p:cNvPr id="9" name="Shape 7"/>
          <p:cNvSpPr/>
          <p:nvPr/>
        </p:nvSpPr>
        <p:spPr>
          <a:xfrm>
            <a:off x="4572000" y="2633472"/>
            <a:ext cx="6995160" cy="822960"/>
          </a:xfrm>
          <a:prstGeom prst="roundRect">
            <a:avLst>
              <a:gd name="adj" fmla="val 10000"/>
            </a:avLst>
          </a:prstGeom>
          <a:solidFill>
            <a:srgbClr val="ECEAE4"/>
          </a:solidFill>
          <a:ln w="12700">
            <a:solidFill>
              <a:srgbClr val="ECEAE4"/>
            </a:solidFill>
            <a:prstDash val="solid"/>
          </a:ln>
        </p:spPr>
        <p:txBody>
          <a:bodyPr/>
          <a:p/>
        </p:txBody>
      </p:sp>
      <p:sp>
        <p:nvSpPr>
          <p:cNvPr id="10" name="Text 8"/>
          <p:cNvSpPr/>
          <p:nvPr/>
        </p:nvSpPr>
        <p:spPr>
          <a:xfrm>
            <a:off x="4846320" y="2633472"/>
            <a:ext cx="6537960" cy="82296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Din februarie 2012: diagnostice posibile pentru febră și tuse.</a:t>
            </a:r>
            <a:endParaRPr lang="en-US" sz="1600" dirty="0"/>
          </a:p>
        </p:txBody>
      </p:sp>
      <p:sp>
        <p:nvSpPr>
          <p:cNvPr id="11" name="Shape 9"/>
          <p:cNvSpPr/>
          <p:nvPr/>
        </p:nvSpPr>
        <p:spPr>
          <a:xfrm>
            <a:off x="4572000" y="3575304"/>
            <a:ext cx="6995160" cy="822960"/>
          </a:xfrm>
          <a:prstGeom prst="roundRect">
            <a:avLst>
              <a:gd name="adj" fmla="val 10000"/>
            </a:avLst>
          </a:prstGeom>
          <a:solidFill>
            <a:srgbClr val="ECEAE4"/>
          </a:solidFill>
          <a:ln w="12700">
            <a:solidFill>
              <a:srgbClr val="ECEAE4"/>
            </a:solidFill>
            <a:prstDash val="solid"/>
          </a:ln>
        </p:spPr>
        <p:txBody>
          <a:bodyPr/>
          <a:p/>
        </p:txBody>
      </p:sp>
      <p:sp>
        <p:nvSpPr>
          <p:cNvPr id="12" name="Text 10"/>
          <p:cNvSpPr/>
          <p:nvPr/>
        </p:nvSpPr>
        <p:spPr>
          <a:xfrm>
            <a:off x="4846320" y="3575304"/>
            <a:ext cx="6537960" cy="82296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Căutările „răceală sau gripă” urmăresc îndeaproape erorile.</a:t>
            </a:r>
            <a:endParaRPr lang="en-US" sz="1600" dirty="0"/>
          </a:p>
        </p:txBody>
      </p:sp>
      <p:sp>
        <p:nvSpPr>
          <p:cNvPr id="13" name="Text 11"/>
          <p:cNvSpPr/>
          <p:nvPr/>
        </p:nvSpPr>
        <p:spPr>
          <a:xfrm>
            <a:off x="594360" y="4709160"/>
            <a:ext cx="10972800" cy="109728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Panica presei poate să fi contat, dar nu explică peste 2 ani de erori. Autorii presupun că schimbările susțineau modelul de afaceri.</a:t>
            </a:r>
            <a:endParaRPr lang="en-US" sz="1800" dirty="0"/>
          </a:p>
        </p:txBody>
      </p:sp>
      <p:sp>
        <p:nvSpPr>
          <p:cNvPr id="14" name="Text 12"/>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Lazer și colab., 2014 (registru A589, A590).</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4757"/>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2E060B"/>
                </a:solidFill>
                <a:latin typeface="Palatino Linotype" pitchFamily="34" charset="0"/>
                <a:ea typeface="Palatino Linotype" pitchFamily="34" charset="-122"/>
                <a:cs typeface="Palatino Linotype" pitchFamily="34" charset="-120"/>
              </a:rPr>
              <a:t>DUPĂ VOT</a:t>
            </a:r>
            <a:endParaRPr lang="en-US" sz="1300" dirty="0"/>
          </a:p>
        </p:txBody>
      </p:sp>
      <p:sp>
        <p:nvSpPr>
          <p:cNvPr id="3" name="Text 1"/>
          <p:cNvSpPr/>
          <p:nvPr/>
        </p:nvSpPr>
        <p:spPr>
          <a:xfrm>
            <a:off x="594360" y="777240"/>
            <a:ext cx="10972800" cy="914400"/>
          </a:xfrm>
          <a:prstGeom prst="rect">
            <a:avLst/>
          </a:prstGeom>
          <a:noFill/>
          <a:ln/>
        </p:spPr>
        <p:txBody>
          <a:bodyPr wrap="square" lIns="0" tIns="0" rIns="0" bIns="0" rtlCol="0" anchor="t"/>
          <a:lstStyle/>
          <a:p>
            <a:pPr indent="0" marL="0">
              <a:buNone/>
            </a:pPr>
            <a:r>
              <a:rPr lang="en-US" sz="3800" b="1" dirty="0">
                <a:solidFill>
                  <a:srgbClr val="2E060B"/>
                </a:solidFill>
                <a:latin typeface="Palatino Linotype" pitchFamily="34" charset="0"/>
                <a:ea typeface="Palatino Linotype" pitchFamily="34" charset="-122"/>
                <a:cs typeface="Palatino Linotype" pitchFamily="34" charset="-120"/>
              </a:rPr>
              <a:t>Toate acestea pot fi adevărate</a:t>
            </a:r>
            <a:endParaRPr lang="en-US" sz="3800" dirty="0"/>
          </a:p>
        </p:txBody>
      </p:sp>
      <p:sp>
        <p:nvSpPr>
          <p:cNvPr id="4" name="Shape 2"/>
          <p:cNvSpPr/>
          <p:nvPr/>
        </p:nvSpPr>
        <p:spPr>
          <a:xfrm>
            <a:off x="594360" y="1965960"/>
            <a:ext cx="10972800" cy="960120"/>
          </a:xfrm>
          <a:prstGeom prst="roundRect">
            <a:avLst>
              <a:gd name="adj" fmla="val 8571"/>
            </a:avLst>
          </a:prstGeom>
          <a:solidFill>
            <a:srgbClr val="FFE3E6"/>
          </a:solidFill>
          <a:ln w="12700">
            <a:solidFill>
              <a:srgbClr val="FFE3E6"/>
            </a:solidFill>
            <a:prstDash val="solid"/>
          </a:ln>
        </p:spPr>
        <p:txBody>
          <a:bodyPr/>
          <a:p/>
        </p:txBody>
      </p:sp>
      <p:sp>
        <p:nvSpPr>
          <p:cNvPr id="5" name="Text 3"/>
          <p:cNvSpPr/>
          <p:nvPr/>
        </p:nvSpPr>
        <p:spPr>
          <a:xfrm>
            <a:off x="914400" y="1965960"/>
            <a:ext cx="10332720" cy="960120"/>
          </a:xfrm>
          <a:prstGeom prst="rect">
            <a:avLst/>
          </a:prstGeom>
          <a:noFill/>
          <a:ln/>
        </p:spPr>
        <p:txBody>
          <a:bodyPr wrap="square" lIns="0" tIns="0" rIns="0" bIns="0" rtlCol="0" anchor="ctr"/>
          <a:lstStyle/>
          <a:p>
            <a:pPr indent="0" marL="0">
              <a:buNone/>
            </a:pPr>
            <a:r>
              <a:rPr lang="en-US" sz="1900" dirty="0">
                <a:solidFill>
                  <a:srgbClr val="2E060B"/>
                </a:solidFill>
                <a:latin typeface="Palatino Linotype" pitchFamily="34" charset="0"/>
                <a:ea typeface="Palatino Linotype" pitchFamily="34" charset="-122"/>
                <a:cs typeface="Palatino Linotype" pitchFamily="34" charset="-120"/>
              </a:rPr>
              <a:t>Iarna confundată cu gripa: din prima explicație, felul în care a fost construit sistemul.</a:t>
            </a:r>
            <a:endParaRPr lang="en-US" sz="1900" dirty="0"/>
          </a:p>
        </p:txBody>
      </p:sp>
      <p:sp>
        <p:nvSpPr>
          <p:cNvPr id="6" name="Shape 4"/>
          <p:cNvSpPr/>
          <p:nvPr/>
        </p:nvSpPr>
        <p:spPr>
          <a:xfrm>
            <a:off x="594360" y="3108960"/>
            <a:ext cx="10972800" cy="960120"/>
          </a:xfrm>
          <a:prstGeom prst="roundRect">
            <a:avLst>
              <a:gd name="adj" fmla="val 8571"/>
            </a:avLst>
          </a:prstGeom>
          <a:solidFill>
            <a:srgbClr val="FFE3E6"/>
          </a:solidFill>
          <a:ln w="12700">
            <a:solidFill>
              <a:srgbClr val="FFE3E6"/>
            </a:solidFill>
            <a:prstDash val="solid"/>
          </a:ln>
        </p:spPr>
        <p:txBody>
          <a:bodyPr/>
          <a:p/>
        </p:txBody>
      </p:sp>
      <p:sp>
        <p:nvSpPr>
          <p:cNvPr id="7" name="Text 5"/>
          <p:cNvSpPr/>
          <p:nvPr/>
        </p:nvSpPr>
        <p:spPr>
          <a:xfrm>
            <a:off x="914400" y="3108960"/>
            <a:ext cx="10332720" cy="960120"/>
          </a:xfrm>
          <a:prstGeom prst="rect">
            <a:avLst/>
          </a:prstGeom>
          <a:noFill/>
          <a:ln/>
        </p:spPr>
        <p:txBody>
          <a:bodyPr wrap="square" lIns="0" tIns="0" rIns="0" bIns="0" rtlCol="0" anchor="ctr"/>
          <a:lstStyle/>
          <a:p>
            <a:pPr indent="0" marL="0">
              <a:buNone/>
            </a:pPr>
            <a:r>
              <a:rPr lang="en-US" sz="1900" dirty="0">
                <a:solidFill>
                  <a:srgbClr val="2E060B"/>
                </a:solidFill>
                <a:latin typeface="Palatino Linotype" pitchFamily="34" charset="0"/>
                <a:ea typeface="Palatino Linotype" pitchFamily="34" charset="-122"/>
                <a:cs typeface="Palatino Linotype" pitchFamily="34" charset="-120"/>
              </a:rPr>
              <a:t>Răceala și știrile: din a doua explicație, ce caută oamenii și cum îi ghidează motorul.</a:t>
            </a:r>
            <a:endParaRPr lang="en-US" sz="1900" dirty="0"/>
          </a:p>
        </p:txBody>
      </p:sp>
      <p:sp>
        <p:nvSpPr>
          <p:cNvPr id="8" name="Shape 6"/>
          <p:cNvSpPr/>
          <p:nvPr/>
        </p:nvSpPr>
        <p:spPr>
          <a:xfrm>
            <a:off x="594360" y="4251960"/>
            <a:ext cx="10972800" cy="960120"/>
          </a:xfrm>
          <a:prstGeom prst="roundRect">
            <a:avLst>
              <a:gd name="adj" fmla="val 8571"/>
            </a:avLst>
          </a:prstGeom>
          <a:solidFill>
            <a:srgbClr val="FFE3E6"/>
          </a:solidFill>
          <a:ln w="12700">
            <a:solidFill>
              <a:srgbClr val="FFE3E6"/>
            </a:solidFill>
            <a:prstDash val="solid"/>
          </a:ln>
        </p:spPr>
        <p:txBody>
          <a:bodyPr/>
          <a:p/>
        </p:txBody>
      </p:sp>
      <p:sp>
        <p:nvSpPr>
          <p:cNvPr id="9" name="Text 7"/>
          <p:cNvSpPr/>
          <p:nvPr/>
        </p:nvSpPr>
        <p:spPr>
          <a:xfrm>
            <a:off x="914400" y="4251960"/>
            <a:ext cx="10332720" cy="960120"/>
          </a:xfrm>
          <a:prstGeom prst="rect">
            <a:avLst/>
          </a:prstGeom>
          <a:noFill/>
          <a:ln/>
        </p:spPr>
        <p:txBody>
          <a:bodyPr wrap="square" lIns="0" tIns="0" rIns="0" bIns="0" rtlCol="0" anchor="ctr"/>
          <a:lstStyle/>
          <a:p>
            <a:pPr indent="0" marL="0">
              <a:buNone/>
            </a:pPr>
            <a:r>
              <a:rPr lang="en-US" sz="1900" b="1" dirty="0">
                <a:solidFill>
                  <a:srgbClr val="2E060B"/>
                </a:solidFill>
                <a:latin typeface="Palatino Linotype" pitchFamily="34" charset="0"/>
                <a:ea typeface="Palatino Linotype" pitchFamily="34" charset="-122"/>
                <a:cs typeface="Palatino Linotype" pitchFamily="34" charset="-120"/>
              </a:rPr>
              <a:t>Cu o precizare: știrile, singure, nu explică doi ani de erori.</a:t>
            </a:r>
            <a:endParaRPr lang="en-US" sz="1900" dirty="0"/>
          </a:p>
        </p:txBody>
      </p:sp>
      <p:sp>
        <p:nvSpPr>
          <p:cNvPr id="10" name="Text 8"/>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2E060B"/>
                </a:solidFill>
                <a:latin typeface="Palatino Linotype" pitchFamily="34" charset="0"/>
                <a:ea typeface="Palatino Linotype" pitchFamily="34" charset="-122"/>
                <a:cs typeface="Palatino Linotype" pitchFamily="34" charset="-120"/>
              </a:rPr>
              <a:t>Sursa: Lazer și colab., 2014 (registru A590).</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594360" y="347472"/>
            <a:ext cx="3291840" cy="32918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594360" y="347472"/>
            <a:ext cx="3291840" cy="329184"/>
          </a:xfrm>
          <a:prstGeom prst="rect">
            <a:avLst/>
          </a:prstGeom>
          <a:noFill/>
          <a:ln/>
        </p:spPr>
        <p:txBody>
          <a:bodyPr wrap="square" lIns="0" tIns="0" rIns="0" bIns="0" rtlCol="0" anchor="ctr"/>
          <a:lstStyle/>
          <a:p>
            <a:pPr algn="ctr" indent="0" marL="0">
              <a:buNone/>
            </a:pPr>
            <a:r>
              <a:rPr lang="en-US" sz="1250" b="1" dirty="0">
                <a:solidFill>
                  <a:srgbClr val="073B34"/>
                </a:solidFill>
                <a:latin typeface="Palatino Linotype" pitchFamily="34" charset="0"/>
                <a:ea typeface="Palatino Linotype" pitchFamily="34" charset="-122"/>
                <a:cs typeface="Palatino Linotype" pitchFamily="34" charset="-120"/>
              </a:rPr>
              <a:t>TERMENUL NOU · 2 DIN 3</a:t>
            </a:r>
            <a:endParaRPr lang="en-US" sz="1250" dirty="0"/>
          </a:p>
        </p:txBody>
      </p:sp>
      <p:sp>
        <p:nvSpPr>
          <p:cNvPr id="4" name="Text 2"/>
          <p:cNvSpPr/>
          <p:nvPr/>
        </p:nvSpPr>
        <p:spPr>
          <a:xfrm>
            <a:off x="594360" y="868680"/>
            <a:ext cx="10972800" cy="822960"/>
          </a:xfrm>
          <a:prstGeom prst="rect">
            <a:avLst/>
          </a:prstGeom>
          <a:noFill/>
          <a:ln/>
        </p:spPr>
        <p:txBody>
          <a:bodyPr wrap="square" lIns="0" tIns="0" rIns="0" bIns="0" rtlCol="0" anchor="t"/>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Epidemiologia digitală</a:t>
            </a:r>
            <a:endParaRPr lang="en-US" sz="3800" dirty="0"/>
          </a:p>
        </p:txBody>
      </p:sp>
      <p:sp>
        <p:nvSpPr>
          <p:cNvPr id="5" name="Shape 3"/>
          <p:cNvSpPr/>
          <p:nvPr/>
        </p:nvSpPr>
        <p:spPr>
          <a:xfrm>
            <a:off x="594360" y="1828800"/>
            <a:ext cx="10972800" cy="1325880"/>
          </a:xfrm>
          <a:prstGeom prst="roundRect">
            <a:avLst>
              <a:gd name="adj" fmla="val 6207"/>
            </a:avLst>
          </a:prstGeom>
          <a:solidFill>
            <a:srgbClr val="07564B"/>
          </a:solidFill>
          <a:ln w="12700">
            <a:solidFill>
              <a:srgbClr val="07564B"/>
            </a:solidFill>
            <a:prstDash val="solid"/>
          </a:ln>
        </p:spPr>
        <p:txBody>
          <a:bodyPr/>
          <a:p/>
        </p:txBody>
      </p:sp>
      <p:sp>
        <p:nvSpPr>
          <p:cNvPr id="6" name="Text 4"/>
          <p:cNvSpPr/>
          <p:nvPr/>
        </p:nvSpPr>
        <p:spPr>
          <a:xfrm>
            <a:off x="914400" y="1828800"/>
            <a:ext cx="10332720" cy="1325880"/>
          </a:xfrm>
          <a:prstGeom prst="rect">
            <a:avLst/>
          </a:prstGeom>
          <a:noFill/>
          <a:ln/>
        </p:spPr>
        <p:txBody>
          <a:bodyPr wrap="square" lIns="0" tIns="0" rIns="0" bIns="0" rtlCol="0" anchor="ctr"/>
          <a:lstStyle/>
          <a:p>
            <a:pPr indent="0" marL="0">
              <a:buNone/>
            </a:pPr>
            <a:r>
              <a:rPr lang="en-US" sz="2200" b="1" dirty="0">
                <a:solidFill>
                  <a:srgbClr val="FFFFFF"/>
                </a:solidFill>
                <a:latin typeface="Palatino Linotype" pitchFamily="34" charset="0"/>
                <a:ea typeface="Palatino Linotype" pitchFamily="34" charset="-122"/>
                <a:cs typeface="Palatino Linotype" pitchFamily="34" charset="-120"/>
              </a:rPr>
              <a:t>Urmele pe care le lăsăm zilnic, folosite ca să înțelegem cum se răspândește o boală.</a:t>
            </a:r>
            <a:endParaRPr lang="en-US" sz="2200" dirty="0"/>
          </a:p>
        </p:txBody>
      </p:sp>
      <p:sp>
        <p:nvSpPr>
          <p:cNvPr id="7" name="Text 5"/>
          <p:cNvSpPr/>
          <p:nvPr/>
        </p:nvSpPr>
        <p:spPr>
          <a:xfrm>
            <a:off x="594360" y="3383280"/>
            <a:ext cx="10972800" cy="1097280"/>
          </a:xfrm>
          <a:prstGeom prst="rect">
            <a:avLst/>
          </a:prstGeom>
          <a:noFill/>
          <a:ln/>
        </p:spPr>
        <p:txBody>
          <a:bodyPr wrap="square" lIns="0" tIns="0" rIns="0" bIns="0" rtlCol="0" anchor="t"/>
          <a:lstStyle/>
          <a:p>
            <a:pPr indent="0" marL="0">
              <a:buNone/>
            </a:pPr>
            <a:r>
              <a:rPr lang="en-US" sz="1700" dirty="0">
                <a:solidFill>
                  <a:srgbClr val="959BB0"/>
                </a:solidFill>
                <a:latin typeface="Palatino Linotype" pitchFamily="34" charset="0"/>
                <a:ea typeface="Palatino Linotype" pitchFamily="34" charset="-122"/>
                <a:cs typeface="Palatino Linotype" pitchFamily="34" charset="-120"/>
              </a:rPr>
              <a:t>Definiția îngustă, preferată de Marcel Salathé (2018): date care nu au fost produse pentru epidemiologie. În sens larg: orice epidemiologie cu date digitale.</a:t>
            </a:r>
            <a:endParaRPr lang="en-US" sz="1700" dirty="0"/>
          </a:p>
        </p:txBody>
      </p:sp>
      <p:sp>
        <p:nvSpPr>
          <p:cNvPr id="8" name="Shape 6"/>
          <p:cNvSpPr/>
          <p:nvPr/>
        </p:nvSpPr>
        <p:spPr>
          <a:xfrm>
            <a:off x="594360" y="4617720"/>
            <a:ext cx="5394960" cy="1325880"/>
          </a:xfrm>
          <a:prstGeom prst="roundRect">
            <a:avLst>
              <a:gd name="adj" fmla="val 6207"/>
            </a:avLst>
          </a:prstGeom>
          <a:solidFill>
            <a:srgbClr val="1D1F2B"/>
          </a:solidFill>
          <a:ln w="12700">
            <a:solidFill>
              <a:srgbClr val="1D1F2B"/>
            </a:solidFill>
            <a:prstDash val="solid"/>
          </a:ln>
        </p:spPr>
        <p:txBody>
          <a:bodyPr/>
          <a:p/>
        </p:txBody>
      </p:sp>
      <p:sp>
        <p:nvSpPr>
          <p:cNvPr id="9" name="Text 7"/>
          <p:cNvSpPr/>
          <p:nvPr/>
        </p:nvSpPr>
        <p:spPr>
          <a:xfrm>
            <a:off x="868680" y="4709160"/>
            <a:ext cx="4846320" cy="365760"/>
          </a:xfrm>
          <a:prstGeom prst="rect">
            <a:avLst/>
          </a:prstGeom>
          <a:noFill/>
          <a:ln/>
        </p:spPr>
        <p:txBody>
          <a:bodyPr wrap="square" lIns="0" tIns="0" rIns="0" bIns="0" rtlCol="0" anchor="t"/>
          <a:lstStyle/>
          <a:p>
            <a:pPr indent="0" marL="0">
              <a:buNone/>
            </a:pPr>
            <a:r>
              <a:rPr lang="en-US" sz="1500" b="1" dirty="0">
                <a:solidFill>
                  <a:srgbClr val="27D3BE"/>
                </a:solidFill>
                <a:latin typeface="Palatino Linotype" pitchFamily="34" charset="0"/>
                <a:ea typeface="Palatino Linotype" pitchFamily="34" charset="-122"/>
                <a:cs typeface="Palatino Linotype" pitchFamily="34" charset="-120"/>
              </a:rPr>
              <a:t>Intră</a:t>
            </a:r>
            <a:endParaRPr lang="en-US" sz="1500" dirty="0"/>
          </a:p>
        </p:txBody>
      </p:sp>
      <p:sp>
        <p:nvSpPr>
          <p:cNvPr id="10" name="Text 8"/>
          <p:cNvSpPr/>
          <p:nvPr/>
        </p:nvSpPr>
        <p:spPr>
          <a:xfrm>
            <a:off x="868680" y="5074920"/>
            <a:ext cx="4846320" cy="82296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căutările, mesajele publice, datele telefoanelor, achizițiile</a:t>
            </a:r>
            <a:endParaRPr lang="en-US" sz="1500" dirty="0"/>
          </a:p>
        </p:txBody>
      </p:sp>
      <p:sp>
        <p:nvSpPr>
          <p:cNvPr id="11" name="Shape 9"/>
          <p:cNvSpPr/>
          <p:nvPr/>
        </p:nvSpPr>
        <p:spPr>
          <a:xfrm>
            <a:off x="6172200" y="4617720"/>
            <a:ext cx="5394960" cy="1325880"/>
          </a:xfrm>
          <a:prstGeom prst="roundRect">
            <a:avLst>
              <a:gd name="adj" fmla="val 6207"/>
            </a:avLst>
          </a:prstGeom>
          <a:solidFill>
            <a:srgbClr val="1D1F2B"/>
          </a:solidFill>
          <a:ln w="12700">
            <a:solidFill>
              <a:srgbClr val="1D1F2B"/>
            </a:solidFill>
            <a:prstDash val="solid"/>
          </a:ln>
        </p:spPr>
        <p:txBody>
          <a:bodyPr/>
          <a:p/>
        </p:txBody>
      </p:sp>
      <p:sp>
        <p:nvSpPr>
          <p:cNvPr id="12" name="Text 10"/>
          <p:cNvSpPr/>
          <p:nvPr/>
        </p:nvSpPr>
        <p:spPr>
          <a:xfrm>
            <a:off x="6446520" y="4709160"/>
            <a:ext cx="4846320" cy="365760"/>
          </a:xfrm>
          <a:prstGeom prst="rect">
            <a:avLst/>
          </a:prstGeom>
          <a:noFill/>
          <a:ln/>
        </p:spPr>
        <p:txBody>
          <a:bodyPr wrap="square" lIns="0" tIns="0" rIns="0" bIns="0" rtlCol="0" anchor="t"/>
          <a:lstStyle/>
          <a:p>
            <a:pPr indent="0" marL="0">
              <a:buNone/>
            </a:pPr>
            <a:r>
              <a:rPr lang="en-US" sz="1500" b="1" dirty="0">
                <a:solidFill>
                  <a:srgbClr val="FF4757"/>
                </a:solidFill>
                <a:latin typeface="Palatino Linotype" pitchFamily="34" charset="0"/>
                <a:ea typeface="Palatino Linotype" pitchFamily="34" charset="-122"/>
                <a:cs typeface="Palatino Linotype" pitchFamily="34" charset="-120"/>
              </a:rPr>
              <a:t>Nu intră, în lectura acestui curs</a:t>
            </a:r>
            <a:endParaRPr lang="en-US" sz="1500" dirty="0"/>
          </a:p>
        </p:txBody>
      </p:sp>
      <p:sp>
        <p:nvSpPr>
          <p:cNvPr id="13" name="Text 11"/>
          <p:cNvSpPr/>
          <p:nvPr/>
        </p:nvSpPr>
        <p:spPr>
          <a:xfrm>
            <a:off x="6446520" y="5074920"/>
            <a:ext cx="4846320" cy="82296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apele uzate, un instrument proiectat pentru sănătate</a:t>
            </a:r>
            <a:endParaRPr lang="en-US" sz="1500" dirty="0"/>
          </a:p>
        </p:txBody>
      </p:sp>
      <p:sp>
        <p:nvSpPr>
          <p:cNvPr id="14" name="Text 12"/>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Salathé, 2018 (registru A576).</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LECȚIA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Nu „nu vă încredeți în internet”</a:t>
            </a:r>
            <a:endParaRPr lang="en-US" sz="3200" dirty="0"/>
          </a:p>
        </p:txBody>
      </p:sp>
      <p:sp>
        <p:nvSpPr>
          <p:cNvPr id="4" name="Shape 2"/>
          <p:cNvSpPr/>
          <p:nvPr/>
        </p:nvSpPr>
        <p:spPr>
          <a:xfrm>
            <a:off x="594360" y="1691640"/>
            <a:ext cx="5394960" cy="2880360"/>
          </a:xfrm>
          <a:prstGeom prst="roundRect">
            <a:avLst>
              <a:gd name="adj" fmla="val 2857"/>
            </a:avLst>
          </a:prstGeom>
          <a:solidFill>
            <a:srgbClr val="F4E0E2"/>
          </a:solidFill>
          <a:ln w="12700">
            <a:solidFill>
              <a:srgbClr val="F4E0E2"/>
            </a:solidFill>
            <a:prstDash val="solid"/>
          </a:ln>
        </p:spPr>
        <p:txBody>
          <a:bodyPr/>
          <a:p/>
        </p:txBody>
      </p:sp>
      <p:sp>
        <p:nvSpPr>
          <p:cNvPr id="5" name="Text 3"/>
          <p:cNvSpPr/>
          <p:nvPr/>
        </p:nvSpPr>
        <p:spPr>
          <a:xfrm>
            <a:off x="868680" y="1828800"/>
            <a:ext cx="4846320" cy="73152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Greșeala de fond: „big data hubris”</a:t>
            </a:r>
            <a:endParaRPr lang="en-US" sz="1900" dirty="0"/>
          </a:p>
        </p:txBody>
      </p:sp>
      <p:sp>
        <p:nvSpPr>
          <p:cNvPr id="6" name="Text 4"/>
          <p:cNvSpPr/>
          <p:nvPr/>
        </p:nvSpPr>
        <p:spPr>
          <a:xfrm>
            <a:off x="868680" y="2606040"/>
            <a:ext cx="4846320" cy="18745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Presupunerea că datele de volum mare pot înlocui colectarea tradițională, în loc s-o completeze. Alături de datele CDC, eroarea a scăzut mult.</a:t>
            </a:r>
            <a:endParaRPr lang="en-US" sz="1600" dirty="0"/>
          </a:p>
        </p:txBody>
      </p:sp>
      <p:sp>
        <p:nvSpPr>
          <p:cNvPr id="7" name="Shape 5"/>
          <p:cNvSpPr/>
          <p:nvPr/>
        </p:nvSpPr>
        <p:spPr>
          <a:xfrm>
            <a:off x="6172200" y="1691640"/>
            <a:ext cx="5394960" cy="2880360"/>
          </a:xfrm>
          <a:prstGeom prst="roundRect">
            <a:avLst>
              <a:gd name="adj" fmla="val 2857"/>
            </a:avLst>
          </a:prstGeom>
          <a:solidFill>
            <a:srgbClr val="E9E3F6"/>
          </a:solidFill>
          <a:ln w="12700">
            <a:solidFill>
              <a:srgbClr val="E9E3F6"/>
            </a:solidFill>
            <a:prstDash val="solid"/>
          </a:ln>
        </p:spPr>
        <p:txBody>
          <a:bodyPr/>
          <a:p/>
        </p:txBody>
      </p:sp>
      <p:sp>
        <p:nvSpPr>
          <p:cNvPr id="8" name="Text 6"/>
          <p:cNvSpPr/>
          <p:nvPr/>
        </p:nvSpPr>
        <p:spPr>
          <a:xfrm>
            <a:off x="6446520" y="1828800"/>
            <a:ext cx="4846320" cy="731520"/>
          </a:xfrm>
          <a:prstGeom prst="rect">
            <a:avLst/>
          </a:prstGeom>
          <a:noFill/>
          <a:ln/>
        </p:spPr>
        <p:txBody>
          <a:bodyPr wrap="square" lIns="0" tIns="0" rIns="0" bIns="0" rtlCol="0" anchor="t"/>
          <a:lstStyle/>
          <a:p>
            <a:pPr indent="0" marL="0">
              <a:buNone/>
            </a:pPr>
            <a:r>
              <a:rPr lang="en-US" sz="1900" b="1" dirty="0">
                <a:solidFill>
                  <a:srgbClr val="4A2D8C"/>
                </a:solidFill>
                <a:latin typeface="Palatino Linotype" pitchFamily="34" charset="0"/>
                <a:ea typeface="Palatino Linotype" pitchFamily="34" charset="-122"/>
                <a:cs typeface="Palatino Linotype" pitchFamily="34" charset="-120"/>
              </a:rPr>
              <a:t>O problemă mai mare (Salathé, 2018)</a:t>
            </a:r>
            <a:endParaRPr lang="en-US" sz="1900" dirty="0"/>
          </a:p>
        </p:txBody>
      </p:sp>
      <p:sp>
        <p:nvSpPr>
          <p:cNvPr id="9" name="Text 7"/>
          <p:cNvSpPr/>
          <p:nvPr/>
        </p:nvSpPr>
        <p:spPr>
          <a:xfrm>
            <a:off x="6446520" y="2606040"/>
            <a:ext cx="4846320" cy="18745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Datele erau private: nimeni din afara companiei nu putea reproduce și cerceta algoritmul.</a:t>
            </a:r>
            <a:endParaRPr lang="en-US" sz="1600" dirty="0"/>
          </a:p>
        </p:txBody>
      </p:sp>
      <p:sp>
        <p:nvSpPr>
          <p:cNvPr id="10" name="Shape 8"/>
          <p:cNvSpPr/>
          <p:nvPr/>
        </p:nvSpPr>
        <p:spPr>
          <a:xfrm>
            <a:off x="594360" y="4800600"/>
            <a:ext cx="10972800" cy="1051560"/>
          </a:xfrm>
          <a:prstGeom prst="roundRect">
            <a:avLst>
              <a:gd name="adj" fmla="val 7826"/>
            </a:avLst>
          </a:prstGeom>
          <a:solidFill>
            <a:srgbClr val="11121A"/>
          </a:solidFill>
          <a:ln w="12700">
            <a:solidFill>
              <a:srgbClr val="11121A"/>
            </a:solidFill>
            <a:prstDash val="solid"/>
          </a:ln>
        </p:spPr>
        <p:txBody>
          <a:bodyPr/>
          <a:p/>
        </p:txBody>
      </p:sp>
      <p:sp>
        <p:nvSpPr>
          <p:cNvPr id="11" name="Text 9"/>
          <p:cNvSpPr/>
          <p:nvPr/>
        </p:nvSpPr>
        <p:spPr>
          <a:xfrm>
            <a:off x="914400" y="4800600"/>
            <a:ext cx="10332720" cy="105156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Semnalul nou ajută când se adaugă lanțului clasic, nu când pretinde că îl înlocuiește.</a:t>
            </a:r>
            <a:endParaRPr lang="en-US" sz="1900" dirty="0"/>
          </a:p>
        </p:txBody>
      </p:sp>
      <p:sp>
        <p:nvSpPr>
          <p:cNvPr id="12" name="Text 10"/>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Lazer și colab., 2014; Salathé, 2018 (registru A582, A592).</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APOI VOT</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AȚI CREDE ACEST TITLU?</a:t>
            </a:r>
            <a:endParaRPr lang="en-US" sz="1300" dirty="0"/>
          </a:p>
        </p:txBody>
      </p:sp>
      <p:sp>
        <p:nvSpPr>
          <p:cNvPr id="5" name="Shape 3"/>
          <p:cNvSpPr/>
          <p:nvPr/>
        </p:nvSpPr>
        <p:spPr>
          <a:xfrm>
            <a:off x="594360" y="868680"/>
            <a:ext cx="6675120" cy="4937760"/>
          </a:xfrm>
          <a:prstGeom prst="roundRect">
            <a:avLst>
              <a:gd name="adj" fmla="val 1667"/>
            </a:avLst>
          </a:prstGeom>
          <a:solidFill>
            <a:srgbClr val="FBF8F1"/>
          </a:solidFill>
          <a:ln w="12700">
            <a:solidFill>
              <a:srgbClr val="FBF8F1"/>
            </a:solidFill>
            <a:prstDash val="solid"/>
          </a:ln>
        </p:spPr>
        <p:txBody>
          <a:bodyPr/>
          <a:p/>
        </p:txBody>
      </p:sp>
      <p:sp>
        <p:nvSpPr>
          <p:cNvPr id="6" name="Shape 4"/>
          <p:cNvSpPr/>
          <p:nvPr/>
        </p:nvSpPr>
        <p:spPr>
          <a:xfrm>
            <a:off x="868680" y="1417320"/>
            <a:ext cx="6126480" cy="27432"/>
          </a:xfrm>
          <a:prstGeom prst="rect">
            <a:avLst/>
          </a:prstGeom>
          <a:solidFill>
            <a:srgbClr val="11121A"/>
          </a:solidFill>
          <a:ln w="12700">
            <a:solidFill>
              <a:srgbClr val="11121A"/>
            </a:solidFill>
            <a:prstDash val="solid"/>
          </a:ln>
        </p:spPr>
        <p:txBody>
          <a:bodyPr/>
          <a:p/>
        </p:txBody>
      </p:sp>
      <p:sp>
        <p:nvSpPr>
          <p:cNvPr id="7" name="Text 5"/>
          <p:cNvSpPr/>
          <p:nvPr/>
        </p:nvSpPr>
        <p:spPr>
          <a:xfrm>
            <a:off x="868680" y="1005840"/>
            <a:ext cx="6126480" cy="365760"/>
          </a:xfrm>
          <a:prstGeom prst="rect">
            <a:avLst/>
          </a:prstGeom>
          <a:noFill/>
          <a:ln/>
        </p:spPr>
        <p:txBody>
          <a:bodyPr wrap="square" lIns="0" tIns="0" rIns="0" bIns="0" rtlCol="0" anchor="t"/>
          <a:lstStyle/>
          <a:p>
            <a:pPr indent="0" marL="0">
              <a:buNone/>
            </a:pPr>
            <a:r>
              <a:rPr lang="en-US" sz="1300" b="1" spc="300" kern="0" dirty="0">
                <a:solidFill>
                  <a:srgbClr val="11121A"/>
                </a:solidFill>
                <a:latin typeface="Palatino Linotype" pitchFamily="34" charset="0"/>
                <a:ea typeface="Palatino Linotype" pitchFamily="34" charset="-122"/>
                <a:cs typeface="Palatino Linotype" pitchFamily="34" charset="-120"/>
              </a:rPr>
              <a:t>NATURE · FEBRUARIE 2013</a:t>
            </a:r>
            <a:endParaRPr lang="en-US" sz="1300" dirty="0"/>
          </a:p>
        </p:txBody>
      </p:sp>
      <p:sp>
        <p:nvSpPr>
          <p:cNvPr id="8" name="Text 6"/>
          <p:cNvSpPr/>
          <p:nvPr/>
        </p:nvSpPr>
        <p:spPr>
          <a:xfrm>
            <a:off x="868680" y="1600200"/>
            <a:ext cx="6126480" cy="1280160"/>
          </a:xfrm>
          <a:prstGeom prst="rect">
            <a:avLst/>
          </a:prstGeom>
          <a:noFill/>
          <a:ln/>
        </p:spPr>
        <p:txBody>
          <a:bodyPr wrap="square" lIns="0" tIns="0" rIns="0" bIns="0" rtlCol="0" anchor="t"/>
          <a:lstStyle/>
          <a:p>
            <a:pPr indent="0" marL="0">
              <a:buNone/>
            </a:pPr>
            <a:r>
              <a:rPr lang="en-US" sz="3600" b="1" dirty="0">
                <a:solidFill>
                  <a:srgbClr val="11121A"/>
                </a:solidFill>
                <a:latin typeface="Palatino Linotype" pitchFamily="34" charset="0"/>
                <a:ea typeface="Palatino Linotype" pitchFamily="34" charset="-122"/>
                <a:cs typeface="Palatino Linotype" pitchFamily="34" charset="-120"/>
              </a:rPr>
              <a:t>When Google got flu wrong</a:t>
            </a:r>
            <a:endParaRPr lang="en-US" sz="3600" dirty="0"/>
          </a:p>
        </p:txBody>
      </p:sp>
      <p:sp>
        <p:nvSpPr>
          <p:cNvPr id="9" name="Text 7"/>
          <p:cNvSpPr/>
          <p:nvPr/>
        </p:nvSpPr>
        <p:spPr>
          <a:xfrm>
            <a:off x="868680" y="2926080"/>
            <a:ext cx="6126480" cy="822960"/>
          </a:xfrm>
          <a:prstGeom prst="rect">
            <a:avLst/>
          </a:prstGeom>
          <a:noFill/>
          <a:ln/>
        </p:spPr>
        <p:txBody>
          <a:bodyPr wrap="square" lIns="0" tIns="0" rIns="0" bIns="0" rtlCol="0" anchor="t"/>
          <a:lstStyle/>
          <a:p>
            <a:pPr indent="0" marL="0">
              <a:buNone/>
            </a:pPr>
            <a:r>
              <a:rPr lang="en-US" sz="1700" i="1" dirty="0">
                <a:solidFill>
                  <a:srgbClr val="585A64"/>
                </a:solidFill>
                <a:latin typeface="Palatino Linotype" pitchFamily="34" charset="0"/>
                <a:ea typeface="Palatino Linotype" pitchFamily="34" charset="-122"/>
                <a:cs typeface="Palatino Linotype" pitchFamily="34" charset="-120"/>
              </a:rPr>
              <a:t>US outbreak foxes a leading web-based method for tracking seasonal flu</a:t>
            </a:r>
            <a:endParaRPr lang="en-US" sz="1700" dirty="0"/>
          </a:p>
        </p:txBody>
      </p:sp>
      <p:sp>
        <p:nvSpPr>
          <p:cNvPr id="10" name="Shape 8"/>
          <p:cNvSpPr/>
          <p:nvPr/>
        </p:nvSpPr>
        <p:spPr>
          <a:xfrm>
            <a:off x="868680" y="3931920"/>
            <a:ext cx="6126480" cy="13716"/>
          </a:xfrm>
          <a:prstGeom prst="rect">
            <a:avLst/>
          </a:prstGeom>
          <a:solidFill>
            <a:srgbClr val="C9C6BE"/>
          </a:solidFill>
          <a:ln w="12700">
            <a:solidFill>
              <a:srgbClr val="C9C6BE"/>
            </a:solidFill>
            <a:prstDash val="solid"/>
          </a:ln>
        </p:spPr>
        <p:txBody>
          <a:bodyPr/>
          <a:p/>
        </p:txBody>
      </p:sp>
      <p:sp>
        <p:nvSpPr>
          <p:cNvPr id="11" name="Text 9"/>
          <p:cNvSpPr/>
          <p:nvPr/>
        </p:nvSpPr>
        <p:spPr>
          <a:xfrm>
            <a:off x="868680" y="4069080"/>
            <a:ext cx="6126480" cy="15544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„Când Google a greșit cu gripa”: epidemia din Statele Unite derutează o metodă de vârf de urmărire a gripei sezoniere pe internet.</a:t>
            </a:r>
            <a:endParaRPr lang="en-US" sz="1600" dirty="0"/>
          </a:p>
        </p:txBody>
      </p:sp>
      <p:sp>
        <p:nvSpPr>
          <p:cNvPr id="12" name="Text 10"/>
          <p:cNvSpPr/>
          <p:nvPr/>
        </p:nvSpPr>
        <p:spPr>
          <a:xfrm>
            <a:off x="7589520" y="914400"/>
            <a:ext cx="4023360" cy="45720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Cu colegul de bancă, două minute:</a:t>
            </a:r>
            <a:endParaRPr lang="en-US" sz="1600" dirty="0"/>
          </a:p>
        </p:txBody>
      </p:sp>
      <p:sp>
        <p:nvSpPr>
          <p:cNvPr id="13" name="Shape 11"/>
          <p:cNvSpPr/>
          <p:nvPr/>
        </p:nvSpPr>
        <p:spPr>
          <a:xfrm>
            <a:off x="7589520" y="1645920"/>
            <a:ext cx="420624" cy="420624"/>
          </a:xfrm>
          <a:prstGeom prst="ellipse">
            <a:avLst/>
          </a:prstGeom>
          <a:solidFill>
            <a:srgbClr val="FF4757"/>
          </a:solidFill>
          <a:ln/>
        </p:spPr>
        <p:txBody>
          <a:bodyPr/>
          <a:p/>
        </p:txBody>
      </p:sp>
      <p:sp>
        <p:nvSpPr>
          <p:cNvPr id="14" name="Text 12"/>
          <p:cNvSpPr/>
          <p:nvPr/>
        </p:nvSpPr>
        <p:spPr>
          <a:xfrm>
            <a:off x="7589520" y="164592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15" name="Text 13"/>
          <p:cNvSpPr/>
          <p:nvPr/>
        </p:nvSpPr>
        <p:spPr>
          <a:xfrm>
            <a:off x="8183880" y="1463040"/>
            <a:ext cx="3429000" cy="10058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Din ce date a fost calculată estimarea?</a:t>
            </a:r>
            <a:endParaRPr lang="en-US" sz="1700" dirty="0"/>
          </a:p>
        </p:txBody>
      </p:sp>
      <p:sp>
        <p:nvSpPr>
          <p:cNvPr id="16" name="Shape 14"/>
          <p:cNvSpPr/>
          <p:nvPr/>
        </p:nvSpPr>
        <p:spPr>
          <a:xfrm>
            <a:off x="7589520" y="2834640"/>
            <a:ext cx="420624" cy="420624"/>
          </a:xfrm>
          <a:prstGeom prst="ellipse">
            <a:avLst/>
          </a:prstGeom>
          <a:solidFill>
            <a:srgbClr val="FF4757"/>
          </a:solidFill>
          <a:ln/>
        </p:spPr>
        <p:txBody>
          <a:bodyPr/>
          <a:p/>
        </p:txBody>
      </p:sp>
      <p:sp>
        <p:nvSpPr>
          <p:cNvPr id="17" name="Text 15"/>
          <p:cNvSpPr/>
          <p:nvPr/>
        </p:nvSpPr>
        <p:spPr>
          <a:xfrm>
            <a:off x="7589520" y="283464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8" name="Text 16"/>
          <p:cNvSpPr/>
          <p:nvPr/>
        </p:nvSpPr>
        <p:spPr>
          <a:xfrm>
            <a:off x="8183880" y="2651760"/>
            <a:ext cx="3429000" cy="10058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Cu ce a fost comparată?</a:t>
            </a:r>
            <a:endParaRPr lang="en-US" sz="1700" dirty="0"/>
          </a:p>
        </p:txBody>
      </p:sp>
      <p:sp>
        <p:nvSpPr>
          <p:cNvPr id="19" name="Shape 17"/>
          <p:cNvSpPr/>
          <p:nvPr/>
        </p:nvSpPr>
        <p:spPr>
          <a:xfrm>
            <a:off x="7589520" y="4023360"/>
            <a:ext cx="420624" cy="420624"/>
          </a:xfrm>
          <a:prstGeom prst="ellipse">
            <a:avLst/>
          </a:prstGeom>
          <a:solidFill>
            <a:srgbClr val="FF4757"/>
          </a:solidFill>
          <a:ln/>
        </p:spPr>
        <p:txBody>
          <a:bodyPr/>
          <a:p/>
        </p:txBody>
      </p:sp>
      <p:sp>
        <p:nvSpPr>
          <p:cNvPr id="20" name="Text 18"/>
          <p:cNvSpPr/>
          <p:nvPr/>
        </p:nvSpPr>
        <p:spPr>
          <a:xfrm>
            <a:off x="7589520" y="402336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21" name="Text 19"/>
          <p:cNvSpPr/>
          <p:nvPr/>
        </p:nvSpPr>
        <p:spPr>
          <a:xfrm>
            <a:off x="8183880" y="3840480"/>
            <a:ext cx="3429000" cy="10058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Ce ar fi trebuit să existe ca s-o credeți?</a:t>
            </a:r>
            <a:endParaRPr lang="en-US" sz="1700" dirty="0"/>
          </a:p>
        </p:txBody>
      </p:sp>
      <p:sp>
        <p:nvSpPr>
          <p:cNvPr id="22" name="Text 20"/>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titlul și subtitlul public ale articolului (registru A594).</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AȚI CREDE ACEST TITLU?</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„When Google got flu wrong”: l-ați crede?</a:t>
            </a:r>
            <a:endParaRPr lang="en-US" sz="3000" dirty="0"/>
          </a:p>
        </p:txBody>
      </p:sp>
      <p:sp>
        <p:nvSpPr>
          <p:cNvPr id="6" name="Shape 4"/>
          <p:cNvSpPr/>
          <p:nvPr/>
        </p:nvSpPr>
        <p:spPr>
          <a:xfrm>
            <a:off x="594360" y="1783080"/>
            <a:ext cx="7635240" cy="822960"/>
          </a:xfrm>
          <a:prstGeom prst="roundRect">
            <a:avLst>
              <a:gd name="adj" fmla="val 10000"/>
            </a:avLst>
          </a:prstGeom>
          <a:solidFill>
            <a:srgbClr val="1D1F2B"/>
          </a:solidFill>
          <a:ln w="12700">
            <a:solidFill>
              <a:srgbClr val="1D1F2B"/>
            </a:solidFill>
            <a:prstDash val="solid"/>
          </a:ln>
        </p:spPr>
        <p:txBody>
          <a:bodyPr/>
          <a:p/>
        </p:txBody>
      </p:sp>
      <p:sp>
        <p:nvSpPr>
          <p:cNvPr id="7" name="Shape 5"/>
          <p:cNvSpPr/>
          <p:nvPr/>
        </p:nvSpPr>
        <p:spPr>
          <a:xfrm>
            <a:off x="914400" y="1984248"/>
            <a:ext cx="420624" cy="420624"/>
          </a:xfrm>
          <a:prstGeom prst="ellipse">
            <a:avLst/>
          </a:prstGeom>
          <a:solidFill>
            <a:srgbClr val="FFC24B"/>
          </a:solidFill>
          <a:ln/>
        </p:spPr>
        <p:txBody>
          <a:bodyPr/>
          <a:p/>
        </p:txBody>
      </p:sp>
      <p:sp>
        <p:nvSpPr>
          <p:cNvPr id="8" name="Text 6"/>
          <p:cNvSpPr/>
          <p:nvPr/>
        </p:nvSpPr>
        <p:spPr>
          <a:xfrm>
            <a:off x="914400" y="19842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1783080"/>
            <a:ext cx="6355080" cy="82296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Da</a:t>
            </a:r>
            <a:endParaRPr lang="en-US" sz="1800" dirty="0"/>
          </a:p>
        </p:txBody>
      </p:sp>
      <p:sp>
        <p:nvSpPr>
          <p:cNvPr id="10" name="Shape 8"/>
          <p:cNvSpPr/>
          <p:nvPr/>
        </p:nvSpPr>
        <p:spPr>
          <a:xfrm>
            <a:off x="594360" y="2788920"/>
            <a:ext cx="7635240" cy="822960"/>
          </a:xfrm>
          <a:prstGeom prst="roundRect">
            <a:avLst>
              <a:gd name="adj" fmla="val 10000"/>
            </a:avLst>
          </a:prstGeom>
          <a:solidFill>
            <a:srgbClr val="1D1F2B"/>
          </a:solidFill>
          <a:ln w="12700">
            <a:solidFill>
              <a:srgbClr val="1D1F2B"/>
            </a:solidFill>
            <a:prstDash val="solid"/>
          </a:ln>
        </p:spPr>
        <p:txBody>
          <a:bodyPr/>
          <a:p/>
        </p:txBody>
      </p:sp>
      <p:sp>
        <p:nvSpPr>
          <p:cNvPr id="11" name="Shape 9"/>
          <p:cNvSpPr/>
          <p:nvPr/>
        </p:nvSpPr>
        <p:spPr>
          <a:xfrm>
            <a:off x="914400" y="2990088"/>
            <a:ext cx="420624" cy="420624"/>
          </a:xfrm>
          <a:prstGeom prst="ellipse">
            <a:avLst/>
          </a:prstGeom>
          <a:solidFill>
            <a:srgbClr val="FFC24B"/>
          </a:solidFill>
          <a:ln/>
        </p:spPr>
        <p:txBody>
          <a:bodyPr/>
          <a:p/>
        </p:txBody>
      </p:sp>
      <p:sp>
        <p:nvSpPr>
          <p:cNvPr id="12" name="Text 10"/>
          <p:cNvSpPr/>
          <p:nvPr/>
        </p:nvSpPr>
        <p:spPr>
          <a:xfrm>
            <a:off x="914400" y="29900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2788920"/>
            <a:ext cx="6355080" cy="82296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Nu</a:t>
            </a:r>
            <a:endParaRPr lang="en-US" sz="1800" dirty="0"/>
          </a:p>
        </p:txBody>
      </p:sp>
      <p:sp>
        <p:nvSpPr>
          <p:cNvPr id="14" name="Shape 12"/>
          <p:cNvSpPr/>
          <p:nvPr/>
        </p:nvSpPr>
        <p:spPr>
          <a:xfrm>
            <a:off x="594360" y="3794760"/>
            <a:ext cx="7635240" cy="822960"/>
          </a:xfrm>
          <a:prstGeom prst="roundRect">
            <a:avLst>
              <a:gd name="adj" fmla="val 10000"/>
            </a:avLst>
          </a:prstGeom>
          <a:solidFill>
            <a:srgbClr val="1D1F2B"/>
          </a:solidFill>
          <a:ln w="12700">
            <a:solidFill>
              <a:srgbClr val="1D1F2B"/>
            </a:solidFill>
            <a:prstDash val="solid"/>
          </a:ln>
        </p:spPr>
        <p:txBody>
          <a:bodyPr/>
          <a:p/>
        </p:txBody>
      </p:sp>
      <p:sp>
        <p:nvSpPr>
          <p:cNvPr id="15" name="Shape 13"/>
          <p:cNvSpPr/>
          <p:nvPr/>
        </p:nvSpPr>
        <p:spPr>
          <a:xfrm>
            <a:off x="914400" y="3995928"/>
            <a:ext cx="420624" cy="420624"/>
          </a:xfrm>
          <a:prstGeom prst="ellipse">
            <a:avLst/>
          </a:prstGeom>
          <a:solidFill>
            <a:srgbClr val="FFC24B"/>
          </a:solidFill>
          <a:ln/>
        </p:spPr>
        <p:txBody>
          <a:bodyPr/>
          <a:p/>
        </p:txBody>
      </p:sp>
      <p:sp>
        <p:nvSpPr>
          <p:cNvPr id="16" name="Text 14"/>
          <p:cNvSpPr/>
          <p:nvPr/>
        </p:nvSpPr>
        <p:spPr>
          <a:xfrm>
            <a:off x="914400" y="39959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3794760"/>
            <a:ext cx="6355080" cy="82296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Aș vrea să știu mai întâi cu ce a fost comparată</a:t>
            </a:r>
            <a:endParaRPr lang="en-US" sz="1800" dirty="0"/>
          </a:p>
        </p:txBody>
      </p:sp>
      <p:sp>
        <p:nvSpPr>
          <p:cNvPr id="18" name="Shape 16"/>
          <p:cNvSpPr/>
          <p:nvPr/>
        </p:nvSpPr>
        <p:spPr>
          <a:xfrm>
            <a:off x="8503920" y="1783080"/>
            <a:ext cx="3063240" cy="3063240"/>
          </a:xfrm>
          <a:prstGeom prst="roundRect">
            <a:avLst>
              <a:gd name="adj" fmla="val 2687"/>
            </a:avLst>
          </a:prstGeom>
          <a:solidFill>
            <a:srgbClr val="FFFFFF"/>
          </a:solidFill>
          <a:ln w="12700">
            <a:solidFill>
              <a:srgbClr val="FFFFFF"/>
            </a:solidFill>
            <a:prstDash val="solid"/>
          </a:ln>
        </p:spPr>
        <p:txBody>
          <a:bodyPr/>
          <a:p/>
        </p:txBody>
      </p:sp>
      <p:sp>
        <p:nvSpPr>
          <p:cNvPr id="20" name="Text 18"/>
          <p:cNvSpPr/>
          <p:nvPr/>
        </p:nvSpPr>
        <p:spPr>
          <a:xfrm>
            <a:off x="594360" y="5532120"/>
            <a:ext cx="10972800" cy="45720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500" dirty="0"/>
          </a:p>
        </p:txBody>
      </p:sp>
      <p:pic>
        <p:nvPicPr>
          <p:cNvPr id="21" name="Picture 20" descr="Mentimeter_OPT_DETECTIVI_C04.png"/>
          <p:cNvPicPr>
            <a:picLocks noChangeAspect="1"/>
          </p:cNvPicPr>
          <p:nvPr/>
        </p:nvPicPr>
        <p:blipFill>
          <a:blip r:embed="rId3"/>
          <a:stretch>
            <a:fillRect/>
          </a:stretch>
        </p:blipFill>
        <p:spPr>
          <a:xfrm>
            <a:off x="8817610" y="1783080"/>
            <a:ext cx="2435860" cy="2435860"/>
          </a:xfrm>
          <a:prstGeom prst="rect">
            <a:avLst/>
          </a:prstGeom>
        </p:spPr>
      </p:pic>
      <p:sp>
        <p:nvSpPr>
          <p:cNvPr id="22" name="TextBox 21"/>
          <p:cNvSpPr txBox="1"/>
          <p:nvPr/>
        </p:nvSpPr>
        <p:spPr>
          <a:xfrm>
            <a:off x="8503920" y="4257040"/>
            <a:ext cx="306324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7564B"/>
        </a:solidFill>
      </p:bgPr>
    </p:bg>
    <p:spTree>
      <p:nvGrpSpPr>
        <p:cNvPr id="1" name=""/>
        <p:cNvGrpSpPr/>
        <p:nvPr/>
      </p:nvGrpSpPr>
      <p:grpSpPr>
        <a:xfrm>
          <a:off x="0" y="0"/>
          <a:ext cx="0" cy="0"/>
          <a:chOff x="0" y="0"/>
          <a:chExt cx="0" cy="0"/>
        </a:xfrm>
      </p:grpSpPr>
      <p:sp>
        <p:nvSpPr>
          <p:cNvPr id="2" name="Text 0"/>
          <p:cNvSpPr/>
          <p:nvPr/>
        </p:nvSpPr>
        <p:spPr>
          <a:xfrm>
            <a:off x="594360" y="1828800"/>
            <a:ext cx="10972800" cy="1280160"/>
          </a:xfrm>
          <a:prstGeom prst="rect">
            <a:avLst/>
          </a:prstGeom>
          <a:noFill/>
          <a:ln/>
        </p:spPr>
        <p:txBody>
          <a:bodyPr wrap="square" lIns="0" tIns="0" rIns="0" bIns="0" rtlCol="0" anchor="ctr"/>
          <a:lstStyle/>
          <a:p>
            <a:pPr algn="ctr" indent="0" marL="0">
              <a:buNone/>
            </a:pPr>
            <a:r>
              <a:rPr lang="en-US" sz="6400" b="1" dirty="0">
                <a:solidFill>
                  <a:srgbClr val="FFFFFF"/>
                </a:solidFill>
                <a:latin typeface="Palatino Linotype" pitchFamily="34" charset="0"/>
                <a:ea typeface="Palatino Linotype" pitchFamily="34" charset="-122"/>
                <a:cs typeface="Palatino Linotype" pitchFamily="34" charset="-120"/>
              </a:rPr>
              <a:t>Zece minute</a:t>
            </a:r>
            <a:endParaRPr lang="en-US" sz="6400" dirty="0"/>
          </a:p>
        </p:txBody>
      </p:sp>
      <p:sp>
        <p:nvSpPr>
          <p:cNvPr id="3" name="Text 1"/>
          <p:cNvSpPr/>
          <p:nvPr/>
        </p:nvSpPr>
        <p:spPr>
          <a:xfrm>
            <a:off x="594360" y="3291840"/>
            <a:ext cx="10972800" cy="731520"/>
          </a:xfrm>
          <a:prstGeom prst="rect">
            <a:avLst/>
          </a:prstGeom>
          <a:noFill/>
          <a:ln/>
        </p:spPr>
        <p:txBody>
          <a:bodyPr wrap="square" lIns="0" tIns="0" rIns="0" bIns="0" rtlCol="0" anchor="t"/>
          <a:lstStyle/>
          <a:p>
            <a:pPr algn="ctr" indent="0" marL="0">
              <a:buNone/>
            </a:pPr>
            <a:r>
              <a:rPr lang="en-US" sz="2400" dirty="0">
                <a:solidFill>
                  <a:srgbClr val="BFEFE8"/>
                </a:solidFill>
                <a:latin typeface="Palatino Linotype" pitchFamily="34" charset="0"/>
                <a:ea typeface="Palatino Linotype" pitchFamily="34" charset="-122"/>
                <a:cs typeface="Palatino Linotype" pitchFamily="34" charset="-120"/>
              </a:rPr>
              <a:t>Ora a doua începe cu telefonul pe care îl aveți în buzunar.</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POVESTEA A TREIA · PRIMUL AN AL PANDEMIEI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Chiar stau oamenii acasă?</a:t>
            </a:r>
            <a:endParaRPr lang="en-US" sz="3400" dirty="0"/>
          </a:p>
        </p:txBody>
      </p:sp>
      <p:sp>
        <p:nvSpPr>
          <p:cNvPr id="4" name="Shape 2"/>
          <p:cNvSpPr/>
          <p:nvPr/>
        </p:nvSpPr>
        <p:spPr>
          <a:xfrm>
            <a:off x="594360" y="1691640"/>
            <a:ext cx="3520440" cy="329184"/>
          </a:xfrm>
          <a:prstGeom prst="roundRect">
            <a:avLst>
              <a:gd name="adj" fmla="val 50000"/>
            </a:avLst>
          </a:prstGeom>
          <a:solidFill>
            <a:srgbClr val="272A38"/>
          </a:solidFill>
          <a:ln w="12700">
            <a:solidFill>
              <a:srgbClr val="272A38"/>
            </a:solidFill>
            <a:prstDash val="solid"/>
          </a:ln>
        </p:spPr>
        <p:txBody>
          <a:bodyPr/>
          <a:p/>
        </p:txBody>
      </p:sp>
      <p:sp>
        <p:nvSpPr>
          <p:cNvPr id="5" name="Text 3"/>
          <p:cNvSpPr/>
          <p:nvPr/>
        </p:nvSpPr>
        <p:spPr>
          <a:xfrm>
            <a:off x="594360" y="1691640"/>
            <a:ext cx="352044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comerț și recreere</a:t>
            </a:r>
            <a:endParaRPr lang="en-US" sz="1400" dirty="0"/>
          </a:p>
        </p:txBody>
      </p:sp>
      <p:sp>
        <p:nvSpPr>
          <p:cNvPr id="6" name="Shape 4"/>
          <p:cNvSpPr/>
          <p:nvPr/>
        </p:nvSpPr>
        <p:spPr>
          <a:xfrm>
            <a:off x="4343400" y="1691640"/>
            <a:ext cx="3520440" cy="329184"/>
          </a:xfrm>
          <a:prstGeom prst="roundRect">
            <a:avLst>
              <a:gd name="adj" fmla="val 50000"/>
            </a:avLst>
          </a:prstGeom>
          <a:solidFill>
            <a:srgbClr val="272A38"/>
          </a:solidFill>
          <a:ln w="12700">
            <a:solidFill>
              <a:srgbClr val="272A38"/>
            </a:solidFill>
            <a:prstDash val="solid"/>
          </a:ln>
        </p:spPr>
        <p:txBody>
          <a:bodyPr/>
          <a:p/>
        </p:txBody>
      </p:sp>
      <p:sp>
        <p:nvSpPr>
          <p:cNvPr id="7" name="Text 5"/>
          <p:cNvSpPr/>
          <p:nvPr/>
        </p:nvSpPr>
        <p:spPr>
          <a:xfrm>
            <a:off x="4343400" y="1691640"/>
            <a:ext cx="352044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alimentare și farmacii</a:t>
            </a:r>
            <a:endParaRPr lang="en-US" sz="1400" dirty="0"/>
          </a:p>
        </p:txBody>
      </p:sp>
      <p:sp>
        <p:nvSpPr>
          <p:cNvPr id="8" name="Shape 6"/>
          <p:cNvSpPr/>
          <p:nvPr/>
        </p:nvSpPr>
        <p:spPr>
          <a:xfrm>
            <a:off x="8092440" y="1691640"/>
            <a:ext cx="3520440" cy="329184"/>
          </a:xfrm>
          <a:prstGeom prst="roundRect">
            <a:avLst>
              <a:gd name="adj" fmla="val 50000"/>
            </a:avLst>
          </a:prstGeom>
          <a:solidFill>
            <a:srgbClr val="272A38"/>
          </a:solidFill>
          <a:ln w="12700">
            <a:solidFill>
              <a:srgbClr val="272A38"/>
            </a:solidFill>
            <a:prstDash val="solid"/>
          </a:ln>
        </p:spPr>
        <p:txBody>
          <a:bodyPr/>
          <a:p/>
        </p:txBody>
      </p:sp>
      <p:sp>
        <p:nvSpPr>
          <p:cNvPr id="9" name="Text 7"/>
          <p:cNvSpPr/>
          <p:nvPr/>
        </p:nvSpPr>
        <p:spPr>
          <a:xfrm>
            <a:off x="8092440" y="1691640"/>
            <a:ext cx="352044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parcuri</a:t>
            </a:r>
            <a:endParaRPr lang="en-US" sz="1400" dirty="0"/>
          </a:p>
        </p:txBody>
      </p:sp>
      <p:sp>
        <p:nvSpPr>
          <p:cNvPr id="10" name="Shape 8"/>
          <p:cNvSpPr/>
          <p:nvPr/>
        </p:nvSpPr>
        <p:spPr>
          <a:xfrm>
            <a:off x="594360" y="2240280"/>
            <a:ext cx="3520440" cy="329184"/>
          </a:xfrm>
          <a:prstGeom prst="roundRect">
            <a:avLst>
              <a:gd name="adj" fmla="val 50000"/>
            </a:avLst>
          </a:prstGeom>
          <a:solidFill>
            <a:srgbClr val="272A38"/>
          </a:solidFill>
          <a:ln w="12700">
            <a:solidFill>
              <a:srgbClr val="272A38"/>
            </a:solidFill>
            <a:prstDash val="solid"/>
          </a:ln>
        </p:spPr>
        <p:txBody>
          <a:bodyPr/>
          <a:p/>
        </p:txBody>
      </p:sp>
      <p:sp>
        <p:nvSpPr>
          <p:cNvPr id="11" name="Text 9"/>
          <p:cNvSpPr/>
          <p:nvPr/>
        </p:nvSpPr>
        <p:spPr>
          <a:xfrm>
            <a:off x="594360" y="2240280"/>
            <a:ext cx="352044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stații de transport</a:t>
            </a:r>
            <a:endParaRPr lang="en-US" sz="1400" dirty="0"/>
          </a:p>
        </p:txBody>
      </p:sp>
      <p:sp>
        <p:nvSpPr>
          <p:cNvPr id="12" name="Shape 10"/>
          <p:cNvSpPr/>
          <p:nvPr/>
        </p:nvSpPr>
        <p:spPr>
          <a:xfrm>
            <a:off x="4343400" y="2240280"/>
            <a:ext cx="3520440" cy="329184"/>
          </a:xfrm>
          <a:prstGeom prst="roundRect">
            <a:avLst>
              <a:gd name="adj" fmla="val 50000"/>
            </a:avLst>
          </a:prstGeom>
          <a:solidFill>
            <a:srgbClr val="272A38"/>
          </a:solidFill>
          <a:ln w="12700">
            <a:solidFill>
              <a:srgbClr val="272A38"/>
            </a:solidFill>
            <a:prstDash val="solid"/>
          </a:ln>
        </p:spPr>
        <p:txBody>
          <a:bodyPr/>
          <a:p/>
        </p:txBody>
      </p:sp>
      <p:sp>
        <p:nvSpPr>
          <p:cNvPr id="13" name="Text 11"/>
          <p:cNvSpPr/>
          <p:nvPr/>
        </p:nvSpPr>
        <p:spPr>
          <a:xfrm>
            <a:off x="4343400" y="2240280"/>
            <a:ext cx="352044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locuri de muncă</a:t>
            </a:r>
            <a:endParaRPr lang="en-US" sz="1400" dirty="0"/>
          </a:p>
        </p:txBody>
      </p:sp>
      <p:sp>
        <p:nvSpPr>
          <p:cNvPr id="14" name="Shape 12"/>
          <p:cNvSpPr/>
          <p:nvPr/>
        </p:nvSpPr>
        <p:spPr>
          <a:xfrm>
            <a:off x="8092440" y="2240280"/>
            <a:ext cx="3520440" cy="329184"/>
          </a:xfrm>
          <a:prstGeom prst="roundRect">
            <a:avLst>
              <a:gd name="adj" fmla="val 50000"/>
            </a:avLst>
          </a:prstGeom>
          <a:solidFill>
            <a:srgbClr val="272A38"/>
          </a:solidFill>
          <a:ln w="12700">
            <a:solidFill>
              <a:srgbClr val="272A38"/>
            </a:solidFill>
            <a:prstDash val="solid"/>
          </a:ln>
        </p:spPr>
        <p:txBody>
          <a:bodyPr/>
          <a:p/>
        </p:txBody>
      </p:sp>
      <p:sp>
        <p:nvSpPr>
          <p:cNvPr id="15" name="Text 13"/>
          <p:cNvSpPr/>
          <p:nvPr/>
        </p:nvSpPr>
        <p:spPr>
          <a:xfrm>
            <a:off x="8092440" y="2240280"/>
            <a:ext cx="352044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locuințe</a:t>
            </a:r>
            <a:endParaRPr lang="en-US" sz="1400" dirty="0"/>
          </a:p>
        </p:txBody>
      </p:sp>
      <p:sp>
        <p:nvSpPr>
          <p:cNvPr id="16" name="Text 14"/>
          <p:cNvSpPr/>
          <p:nvPr/>
        </p:nvSpPr>
        <p:spPr>
          <a:xfrm>
            <a:off x="594360" y="2926080"/>
            <a:ext cx="10972800" cy="118872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Rapoartele de mobilitate Google: cum s-au schimbat deplasările, pe zone și pe categorii de locuri. Neactualizate din 15 octombrie 2022; datele istorice rămân publice.</a:t>
            </a:r>
            <a:endParaRPr lang="en-US" sz="1800" dirty="0"/>
          </a:p>
        </p:txBody>
      </p:sp>
      <p:sp>
        <p:nvSpPr>
          <p:cNvPr id="17" name="Shape 15"/>
          <p:cNvSpPr/>
          <p:nvPr/>
        </p:nvSpPr>
        <p:spPr>
          <a:xfrm>
            <a:off x="594360" y="4343400"/>
            <a:ext cx="10972800" cy="1463040"/>
          </a:xfrm>
          <a:prstGeom prst="roundRect">
            <a:avLst>
              <a:gd name="adj" fmla="val 5625"/>
            </a:avLst>
          </a:prstGeom>
          <a:solidFill>
            <a:srgbClr val="1D1F2B"/>
          </a:solidFill>
          <a:ln w="12700">
            <a:solidFill>
              <a:srgbClr val="1D1F2B"/>
            </a:solidFill>
            <a:prstDash val="solid"/>
          </a:ln>
        </p:spPr>
        <p:txBody>
          <a:bodyPr/>
          <a:p/>
        </p:txBody>
      </p:sp>
      <p:sp>
        <p:nvSpPr>
          <p:cNvPr id="18" name="Text 16"/>
          <p:cNvSpPr/>
          <p:nvPr/>
        </p:nvSpPr>
        <p:spPr>
          <a:xfrm>
            <a:off x="914400" y="4343400"/>
            <a:ext cx="10332720" cy="1463040"/>
          </a:xfrm>
          <a:prstGeom prst="rect">
            <a:avLst/>
          </a:prstGeom>
          <a:noFill/>
          <a:ln/>
        </p:spPr>
        <p:txBody>
          <a:bodyPr wrap="square" lIns="0" tIns="0" rIns="0" bIns="0" rtlCol="0" anchor="ctr"/>
          <a:lstStyle/>
          <a:p>
            <a:pPr indent="0" marL="0">
              <a:buNone/>
            </a:pPr>
            <a:r>
              <a:rPr lang="en-US" sz="1800" dirty="0">
                <a:solidFill>
                  <a:srgbClr val="FFC24B"/>
                </a:solidFill>
                <a:latin typeface="Palatino Linotype" pitchFamily="34" charset="0"/>
                <a:ea typeface="Palatino Linotype" pitchFamily="34" charset="-122"/>
                <a:cs typeface="Palatino Linotype" pitchFamily="34" charset="-120"/>
              </a:rPr>
              <a:t>Datele veneau de la cei care activaseră „istoricul locațiilor”, dezactivat implicit. Nimeni nu le crease pentru sănătate.</a:t>
            </a:r>
            <a:endParaRPr lang="en-US" sz="1800" dirty="0"/>
          </a:p>
        </p:txBody>
      </p:sp>
      <p:sp>
        <p:nvSpPr>
          <p:cNvPr id="19" name="Text 17"/>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pagina rapoartelor de mobilitate (registru A583, A593, A576).</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594360" y="347472"/>
            <a:ext cx="3291840" cy="32918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594360" y="347472"/>
            <a:ext cx="3291840" cy="329184"/>
          </a:xfrm>
          <a:prstGeom prst="rect">
            <a:avLst/>
          </a:prstGeom>
          <a:noFill/>
          <a:ln/>
        </p:spPr>
        <p:txBody>
          <a:bodyPr wrap="square" lIns="0" tIns="0" rIns="0" bIns="0" rtlCol="0" anchor="ctr"/>
          <a:lstStyle/>
          <a:p>
            <a:pPr algn="ctr" indent="0" marL="0">
              <a:buNone/>
            </a:pPr>
            <a:r>
              <a:rPr lang="en-US" sz="1250" b="1" dirty="0">
                <a:solidFill>
                  <a:srgbClr val="073B34"/>
                </a:solidFill>
                <a:latin typeface="Palatino Linotype" pitchFamily="34" charset="0"/>
                <a:ea typeface="Palatino Linotype" pitchFamily="34" charset="-122"/>
                <a:cs typeface="Palatino Linotype" pitchFamily="34" charset="-120"/>
              </a:rPr>
              <a:t>TERMENUL NOU · 3 DIN 3</a:t>
            </a:r>
            <a:endParaRPr lang="en-US" sz="1250" dirty="0"/>
          </a:p>
        </p:txBody>
      </p:sp>
      <p:sp>
        <p:nvSpPr>
          <p:cNvPr id="4" name="Text 2"/>
          <p:cNvSpPr/>
          <p:nvPr/>
        </p:nvSpPr>
        <p:spPr>
          <a:xfrm>
            <a:off x="594360" y="868680"/>
            <a:ext cx="10972800" cy="822960"/>
          </a:xfrm>
          <a:prstGeom prst="rect">
            <a:avLst/>
          </a:prstGeom>
          <a:noFill/>
          <a:ln/>
        </p:spPr>
        <p:txBody>
          <a:bodyPr wrap="square" lIns="0" tIns="0" rIns="0" bIns="0" rtlCol="0" anchor="t"/>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Date agregate și anonimizate</a:t>
            </a:r>
            <a:endParaRPr lang="en-US" sz="3800" dirty="0"/>
          </a:p>
        </p:txBody>
      </p:sp>
      <p:sp>
        <p:nvSpPr>
          <p:cNvPr id="5" name="Shape 3"/>
          <p:cNvSpPr/>
          <p:nvPr/>
        </p:nvSpPr>
        <p:spPr>
          <a:xfrm>
            <a:off x="594360" y="1828800"/>
            <a:ext cx="10972800" cy="1325880"/>
          </a:xfrm>
          <a:prstGeom prst="roundRect">
            <a:avLst>
              <a:gd name="adj" fmla="val 6207"/>
            </a:avLst>
          </a:prstGeom>
          <a:solidFill>
            <a:srgbClr val="07564B"/>
          </a:solidFill>
          <a:ln w="12700">
            <a:solidFill>
              <a:srgbClr val="07564B"/>
            </a:solidFill>
            <a:prstDash val="solid"/>
          </a:ln>
        </p:spPr>
        <p:txBody>
          <a:bodyPr/>
          <a:p/>
        </p:txBody>
      </p:sp>
      <p:sp>
        <p:nvSpPr>
          <p:cNvPr id="6" name="Text 4"/>
          <p:cNvSpPr/>
          <p:nvPr/>
        </p:nvSpPr>
        <p:spPr>
          <a:xfrm>
            <a:off x="914400" y="1828800"/>
            <a:ext cx="10332720" cy="1325880"/>
          </a:xfrm>
          <a:prstGeom prst="rect">
            <a:avLst/>
          </a:prstGeom>
          <a:noFill/>
          <a:ln/>
        </p:spPr>
        <p:txBody>
          <a:bodyPr wrap="square" lIns="0" tIns="0" rIns="0" bIns="0" rtlCol="0" anchor="ctr"/>
          <a:lstStyle/>
          <a:p>
            <a:pPr indent="0" marL="0">
              <a:buNone/>
            </a:pPr>
            <a:r>
              <a:rPr lang="en-US" sz="2200" b="1" dirty="0">
                <a:solidFill>
                  <a:srgbClr val="FFFFFF"/>
                </a:solidFill>
                <a:latin typeface="Palatino Linotype" pitchFamily="34" charset="0"/>
                <a:ea typeface="Palatino Linotype" pitchFamily="34" charset="-122"/>
                <a:cs typeface="Palatino Linotype" pitchFamily="34" charset="-120"/>
              </a:rPr>
              <a:t>Se vede mulțimea, nu omul.</a:t>
            </a:r>
            <a:endParaRPr lang="en-US" sz="2200" dirty="0"/>
          </a:p>
        </p:txBody>
      </p:sp>
      <p:sp>
        <p:nvSpPr>
          <p:cNvPr id="7" name="Text 5"/>
          <p:cNvSpPr/>
          <p:nvPr/>
        </p:nvSpPr>
        <p:spPr>
          <a:xfrm>
            <a:off x="594360" y="3383280"/>
            <a:ext cx="10972800" cy="1097280"/>
          </a:xfrm>
          <a:prstGeom prst="rect">
            <a:avLst/>
          </a:prstGeom>
          <a:noFill/>
          <a:ln/>
        </p:spPr>
        <p:txBody>
          <a:bodyPr wrap="square" lIns="0" tIns="0" rIns="0" bIns="0" rtlCol="0" anchor="t"/>
          <a:lstStyle/>
          <a:p>
            <a:pPr indent="0" marL="0">
              <a:buNone/>
            </a:pPr>
            <a:r>
              <a:rPr lang="en-US" sz="1700" dirty="0">
                <a:solidFill>
                  <a:srgbClr val="959BB0"/>
                </a:solidFill>
                <a:latin typeface="Palatino Linotype" pitchFamily="34" charset="0"/>
                <a:ea typeface="Palatino Linotype" pitchFamily="34" charset="-122"/>
                <a:cs typeface="Palatino Linotype" pitchFamily="34" charset="-120"/>
              </a:rPr>
              <a:t>Informațiile despre persoane, adunate în totaluri (de exemplu, câte vizite în parcurile din Cluj săptămâna aceasta), fără elementele care ar permite recunoașterea cuiva.</a:t>
            </a:r>
            <a:endParaRPr lang="en-US" sz="1700" dirty="0"/>
          </a:p>
        </p:txBody>
      </p:sp>
      <p:sp>
        <p:nvSpPr>
          <p:cNvPr id="8" name="Shape 6"/>
          <p:cNvSpPr/>
          <p:nvPr/>
        </p:nvSpPr>
        <p:spPr>
          <a:xfrm>
            <a:off x="594360" y="4572000"/>
            <a:ext cx="10972800" cy="1371600"/>
          </a:xfrm>
          <a:prstGeom prst="roundRect">
            <a:avLst>
              <a:gd name="adj" fmla="val 6000"/>
            </a:avLst>
          </a:prstGeom>
          <a:solidFill>
            <a:srgbClr val="1D1F2B"/>
          </a:solidFill>
          <a:ln w="12700">
            <a:solidFill>
              <a:srgbClr val="1D1F2B"/>
            </a:solidFill>
            <a:prstDash val="solid"/>
          </a:ln>
        </p:spPr>
        <p:txBody>
          <a:bodyPr/>
          <a:p/>
        </p:txBody>
      </p:sp>
      <p:sp>
        <p:nvSpPr>
          <p:cNvPr id="9" name="Text 7"/>
          <p:cNvSpPr/>
          <p:nvPr/>
        </p:nvSpPr>
        <p:spPr>
          <a:xfrm>
            <a:off x="914400" y="4572000"/>
            <a:ext cx="10332720" cy="1371600"/>
          </a:xfrm>
          <a:prstGeom prst="rect">
            <a:avLst/>
          </a:prstGeom>
          <a:noFill/>
          <a:ln/>
        </p:spPr>
        <p:txBody>
          <a:bodyPr wrap="square" lIns="0" tIns="0" rIns="0" bIns="0" rtlCol="0" anchor="ctr"/>
          <a:lstStyle/>
          <a:p>
            <a:pPr indent="0" marL="0">
              <a:buNone/>
            </a:pPr>
            <a:r>
              <a:rPr lang="en-US" sz="1600" i="1" dirty="0">
                <a:solidFill>
                  <a:srgbClr val="FFFFFF"/>
                </a:solidFill>
                <a:latin typeface="Palatino Linotype" pitchFamily="34" charset="0"/>
                <a:ea typeface="Palatino Linotype" pitchFamily="34" charset="-122"/>
                <a:cs typeface="Palatino Linotype" pitchFamily="34" charset="-120"/>
              </a:rPr>
              <a:t>„No personally identifiable information, such as an individual’s location, contacts or movement, was made available at any point”</a:t>
            </a:r>
            <a:endParaRPr lang="en-US" sz="1600" dirty="0"/>
          </a:p>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Pagina rapoartelor de mobilitate</a:t>
            </a:r>
            <a:endParaRPr lang="en-US" sz="1600" dirty="0"/>
          </a:p>
        </p:txBody>
      </p:sp>
      <p:sp>
        <p:nvSpPr>
          <p:cNvPr id="10" name="Text 8"/>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registru A584.</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EXEMPLE CONSTRUITE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Diferența dintre o mulțime și un om</a:t>
            </a:r>
            <a:endParaRPr lang="en-US" sz="3200" dirty="0"/>
          </a:p>
        </p:txBody>
      </p:sp>
      <p:sp>
        <p:nvSpPr>
          <p:cNvPr id="4" name="Shape 2"/>
          <p:cNvSpPr/>
          <p:nvPr/>
        </p:nvSpPr>
        <p:spPr>
          <a:xfrm>
            <a:off x="594360" y="1737360"/>
            <a:ext cx="5394960" cy="3931920"/>
          </a:xfrm>
          <a:prstGeom prst="roundRect">
            <a:avLst>
              <a:gd name="adj" fmla="val 2093"/>
            </a:avLst>
          </a:prstGeom>
          <a:solidFill>
            <a:srgbClr val="ECEAE4"/>
          </a:solidFill>
          <a:ln w="12700">
            <a:solidFill>
              <a:srgbClr val="ECEAE4"/>
            </a:solidFill>
            <a:prstDash val="solid"/>
          </a:ln>
        </p:spPr>
        <p:txBody>
          <a:bodyPr/>
          <a:p/>
        </p:txBody>
      </p:sp>
      <p:sp>
        <p:nvSpPr>
          <p:cNvPr id="5" name="Text 3"/>
          <p:cNvSpPr/>
          <p:nvPr/>
        </p:nvSpPr>
        <p:spPr>
          <a:xfrm>
            <a:off x="914400" y="1965960"/>
            <a:ext cx="4754880" cy="45720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O informație despre un oraș</a:t>
            </a:r>
            <a:endParaRPr lang="en-US" sz="1700" dirty="0"/>
          </a:p>
        </p:txBody>
      </p:sp>
      <p:sp>
        <p:nvSpPr>
          <p:cNvPr id="6" name="Text 4"/>
          <p:cNvSpPr/>
          <p:nvPr/>
        </p:nvSpPr>
        <p:spPr>
          <a:xfrm>
            <a:off x="914400" y="2606040"/>
            <a:ext cx="4754880" cy="2834640"/>
          </a:xfrm>
          <a:prstGeom prst="rect">
            <a:avLst/>
          </a:prstGeom>
          <a:noFill/>
          <a:ln/>
        </p:spPr>
        <p:txBody>
          <a:bodyPr wrap="square" lIns="0" tIns="0" rIns="0" bIns="0" rtlCol="0" anchor="ctr"/>
          <a:lstStyle/>
          <a:p>
            <a:pPr indent="0" marL="0">
              <a:buNone/>
            </a:pPr>
            <a:r>
              <a:rPr lang="en-US" sz="2600" b="1" i="1" dirty="0">
                <a:solidFill>
                  <a:srgbClr val="11121A"/>
                </a:solidFill>
                <a:latin typeface="Palatino Linotype" pitchFamily="34" charset="0"/>
                <a:ea typeface="Palatino Linotype" pitchFamily="34" charset="-122"/>
                <a:cs typeface="Palatino Linotype" pitchFamily="34" charset="-120"/>
              </a:rPr>
              <a:t>„Vizitele în parcuri au scăzut cu o treime.”</a:t>
            </a:r>
            <a:endParaRPr lang="en-US" sz="2600" dirty="0"/>
          </a:p>
        </p:txBody>
      </p:sp>
      <p:sp>
        <p:nvSpPr>
          <p:cNvPr id="7" name="Shape 5"/>
          <p:cNvSpPr/>
          <p:nvPr/>
        </p:nvSpPr>
        <p:spPr>
          <a:xfrm>
            <a:off x="6172200" y="1737360"/>
            <a:ext cx="5394960" cy="3931920"/>
          </a:xfrm>
          <a:prstGeom prst="roundRect">
            <a:avLst>
              <a:gd name="adj" fmla="val 2093"/>
            </a:avLst>
          </a:prstGeom>
          <a:solidFill>
            <a:srgbClr val="B02532"/>
          </a:solidFill>
          <a:ln w="12700">
            <a:solidFill>
              <a:srgbClr val="B02532"/>
            </a:solidFill>
            <a:prstDash val="solid"/>
          </a:ln>
        </p:spPr>
        <p:txBody>
          <a:bodyPr/>
          <a:p/>
        </p:txBody>
      </p:sp>
      <p:sp>
        <p:nvSpPr>
          <p:cNvPr id="8" name="Text 6"/>
          <p:cNvSpPr/>
          <p:nvPr/>
        </p:nvSpPr>
        <p:spPr>
          <a:xfrm>
            <a:off x="6492240" y="1965960"/>
            <a:ext cx="4754880" cy="457200"/>
          </a:xfrm>
          <a:prstGeom prst="rect">
            <a:avLst/>
          </a:prstGeom>
          <a:noFill/>
          <a:ln/>
        </p:spPr>
        <p:txBody>
          <a:bodyPr wrap="square" lIns="0" tIns="0" rIns="0" bIns="0" rtlCol="0" anchor="t"/>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O informație despre o viață</a:t>
            </a:r>
            <a:endParaRPr lang="en-US" sz="1700" dirty="0"/>
          </a:p>
        </p:txBody>
      </p:sp>
      <p:sp>
        <p:nvSpPr>
          <p:cNvPr id="9" name="Text 7"/>
          <p:cNvSpPr/>
          <p:nvPr/>
        </p:nvSpPr>
        <p:spPr>
          <a:xfrm>
            <a:off x="6492240" y="2606040"/>
            <a:ext cx="4754880" cy="2834640"/>
          </a:xfrm>
          <a:prstGeom prst="rect">
            <a:avLst/>
          </a:prstGeom>
          <a:noFill/>
          <a:ln/>
        </p:spPr>
        <p:txBody>
          <a:bodyPr wrap="square" lIns="0" tIns="0" rIns="0" bIns="0" rtlCol="0" anchor="ctr"/>
          <a:lstStyle/>
          <a:p>
            <a:pPr indent="0" marL="0">
              <a:buNone/>
            </a:pPr>
            <a:r>
              <a:rPr lang="en-US" sz="2600" b="1" i="1" dirty="0">
                <a:solidFill>
                  <a:srgbClr val="FFFFFF"/>
                </a:solidFill>
                <a:latin typeface="Palatino Linotype" pitchFamily="34" charset="0"/>
                <a:ea typeface="Palatino Linotype" pitchFamily="34" charset="-122"/>
                <a:cs typeface="Palatino Linotype" pitchFamily="34" charset="-120"/>
              </a:rPr>
              <a:t>„Studentul X a fost aseară în parc, apoi la o petrecere, apoi la cămin.”</a:t>
            </a:r>
            <a:endParaRPr lang="en-US" sz="2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JOC DE ROL, APOI VOT</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DOI VOLUNTARI · TREI MINUTE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Ancheta epidemiologică, la telefon</a:t>
            </a:r>
            <a:endParaRPr lang="en-US" sz="3000" dirty="0"/>
          </a:p>
        </p:txBody>
      </p:sp>
      <p:sp>
        <p:nvSpPr>
          <p:cNvPr id="6" name="Shape 4"/>
          <p:cNvSpPr/>
          <p:nvPr/>
        </p:nvSpPr>
        <p:spPr>
          <a:xfrm>
            <a:off x="594360" y="1600200"/>
            <a:ext cx="7635240" cy="1051560"/>
          </a:xfrm>
          <a:prstGeom prst="roundRect">
            <a:avLst>
              <a:gd name="adj" fmla="val 7826"/>
            </a:avLst>
          </a:prstGeom>
          <a:solidFill>
            <a:srgbClr val="1D1F2B"/>
          </a:solidFill>
          <a:ln w="12700">
            <a:solidFill>
              <a:srgbClr val="1D1F2B"/>
            </a:solidFill>
            <a:prstDash val="solid"/>
          </a:ln>
        </p:spPr>
        <p:txBody>
          <a:bodyPr/>
          <a:p/>
        </p:txBody>
      </p:sp>
      <p:sp>
        <p:nvSpPr>
          <p:cNvPr id="7" name="Text 5"/>
          <p:cNvSpPr/>
          <p:nvPr/>
        </p:nvSpPr>
        <p:spPr>
          <a:xfrm>
            <a:off x="868680" y="1600200"/>
            <a:ext cx="2194560" cy="1051560"/>
          </a:xfrm>
          <a:prstGeom prst="rect">
            <a:avLst/>
          </a:prstGeom>
          <a:noFill/>
          <a:ln/>
        </p:spPr>
        <p:txBody>
          <a:bodyPr wrap="square" lIns="0" tIns="0" rIns="0" bIns="0" rtlCol="0" anchor="ctr"/>
          <a:lstStyle/>
          <a:p>
            <a:pPr indent="0" marL="0">
              <a:buNone/>
            </a:pPr>
            <a:r>
              <a:rPr lang="en-US" sz="1800" b="1" dirty="0">
                <a:solidFill>
                  <a:srgbClr val="FF4757"/>
                </a:solidFill>
                <a:latin typeface="Palatino Linotype" pitchFamily="34" charset="0"/>
                <a:ea typeface="Palatino Linotype" pitchFamily="34" charset="-122"/>
                <a:cs typeface="Palatino Linotype" pitchFamily="34" charset="-120"/>
              </a:rPr>
              <a:t>Studentul</a:t>
            </a:r>
            <a:endParaRPr lang="en-US" sz="1800" dirty="0"/>
          </a:p>
        </p:txBody>
      </p:sp>
      <p:sp>
        <p:nvSpPr>
          <p:cNvPr id="8" name="Text 6"/>
          <p:cNvSpPr/>
          <p:nvPr/>
        </p:nvSpPr>
        <p:spPr>
          <a:xfrm>
            <a:off x="3063240" y="1600200"/>
            <a:ext cx="4983480" cy="105156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Are o boală contagioasă confirmată. Vrea să ajute, dar nu vrea să spună tot.</a:t>
            </a:r>
            <a:endParaRPr lang="en-US" sz="1600" dirty="0"/>
          </a:p>
        </p:txBody>
      </p:sp>
      <p:sp>
        <p:nvSpPr>
          <p:cNvPr id="9" name="Shape 7"/>
          <p:cNvSpPr/>
          <p:nvPr/>
        </p:nvSpPr>
        <p:spPr>
          <a:xfrm>
            <a:off x="594360" y="2788920"/>
            <a:ext cx="7635240" cy="1051560"/>
          </a:xfrm>
          <a:prstGeom prst="roundRect">
            <a:avLst>
              <a:gd name="adj" fmla="val 7826"/>
            </a:avLst>
          </a:prstGeom>
          <a:solidFill>
            <a:srgbClr val="1D1F2B"/>
          </a:solidFill>
          <a:ln w="12700">
            <a:solidFill>
              <a:srgbClr val="1D1F2B"/>
            </a:solidFill>
            <a:prstDash val="solid"/>
          </a:ln>
        </p:spPr>
        <p:txBody>
          <a:bodyPr/>
          <a:p/>
        </p:txBody>
      </p:sp>
      <p:sp>
        <p:nvSpPr>
          <p:cNvPr id="10" name="Text 8"/>
          <p:cNvSpPr/>
          <p:nvPr/>
        </p:nvSpPr>
        <p:spPr>
          <a:xfrm>
            <a:off x="868680" y="2788920"/>
            <a:ext cx="2194560" cy="1051560"/>
          </a:xfrm>
          <a:prstGeom prst="rect">
            <a:avLst/>
          </a:prstGeom>
          <a:noFill/>
          <a:ln/>
        </p:spPr>
        <p:txBody>
          <a:bodyPr wrap="square" lIns="0" tIns="0" rIns="0" bIns="0" rtlCol="0" anchor="ctr"/>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Medicul de la DSP</a:t>
            </a:r>
            <a:endParaRPr lang="en-US" sz="1800" dirty="0"/>
          </a:p>
        </p:txBody>
      </p:sp>
      <p:sp>
        <p:nvSpPr>
          <p:cNvPr id="11" name="Text 9"/>
          <p:cNvSpPr/>
          <p:nvPr/>
        </p:nvSpPr>
        <p:spPr>
          <a:xfrm>
            <a:off x="3063240" y="2788920"/>
            <a:ext cx="4983480" cy="105156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Trebuie să afle unde a fost studentul în ultimele zile și cu cine s-a întâlnit.</a:t>
            </a:r>
            <a:endParaRPr lang="en-US" sz="1600" dirty="0"/>
          </a:p>
        </p:txBody>
      </p:sp>
      <p:sp>
        <p:nvSpPr>
          <p:cNvPr id="12" name="Text 10"/>
          <p:cNvSpPr/>
          <p:nvPr/>
        </p:nvSpPr>
        <p:spPr>
          <a:xfrm>
            <a:off x="594360" y="4023360"/>
            <a:ext cx="7635240" cy="82296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Ar trebui ca medicul să poată cere direct de la operatorul de telefonie locațiile telefonului?</a:t>
            </a:r>
            <a:endParaRPr lang="en-US" sz="1800" dirty="0"/>
          </a:p>
        </p:txBody>
      </p:sp>
      <p:sp>
        <p:nvSpPr>
          <p:cNvPr id="13" name="Shape 11"/>
          <p:cNvSpPr/>
          <p:nvPr/>
        </p:nvSpPr>
        <p:spPr>
          <a:xfrm>
            <a:off x="594360" y="4937760"/>
            <a:ext cx="1463040" cy="329184"/>
          </a:xfrm>
          <a:prstGeom prst="roundRect">
            <a:avLst>
              <a:gd name="adj" fmla="val 50000"/>
            </a:avLst>
          </a:prstGeom>
          <a:solidFill>
            <a:srgbClr val="272A38"/>
          </a:solidFill>
          <a:ln w="12700">
            <a:solidFill>
              <a:srgbClr val="272A38"/>
            </a:solidFill>
            <a:prstDash val="solid"/>
          </a:ln>
        </p:spPr>
        <p:txBody>
          <a:bodyPr/>
          <a:p/>
        </p:txBody>
      </p:sp>
      <p:sp>
        <p:nvSpPr>
          <p:cNvPr id="14" name="Text 12"/>
          <p:cNvSpPr/>
          <p:nvPr/>
        </p:nvSpPr>
        <p:spPr>
          <a:xfrm>
            <a:off x="594360" y="4937760"/>
            <a:ext cx="146304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Da</a:t>
            </a:r>
            <a:endParaRPr lang="en-US" sz="1400" dirty="0"/>
          </a:p>
        </p:txBody>
      </p:sp>
      <p:sp>
        <p:nvSpPr>
          <p:cNvPr id="15" name="Shape 13"/>
          <p:cNvSpPr/>
          <p:nvPr/>
        </p:nvSpPr>
        <p:spPr>
          <a:xfrm>
            <a:off x="2240280" y="4937760"/>
            <a:ext cx="3931920" cy="329184"/>
          </a:xfrm>
          <a:prstGeom prst="roundRect">
            <a:avLst>
              <a:gd name="adj" fmla="val 50000"/>
            </a:avLst>
          </a:prstGeom>
          <a:solidFill>
            <a:srgbClr val="272A38"/>
          </a:solidFill>
          <a:ln w="12700">
            <a:solidFill>
              <a:srgbClr val="272A38"/>
            </a:solidFill>
            <a:prstDash val="solid"/>
          </a:ln>
        </p:spPr>
        <p:txBody>
          <a:bodyPr/>
          <a:p/>
        </p:txBody>
      </p:sp>
      <p:sp>
        <p:nvSpPr>
          <p:cNvPr id="16" name="Text 14"/>
          <p:cNvSpPr/>
          <p:nvPr/>
        </p:nvSpPr>
        <p:spPr>
          <a:xfrm>
            <a:off x="2240280" y="4937760"/>
            <a:ext cx="393192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Numai cu acordul studentului</a:t>
            </a:r>
            <a:endParaRPr lang="en-US" sz="1400" dirty="0"/>
          </a:p>
        </p:txBody>
      </p:sp>
      <p:sp>
        <p:nvSpPr>
          <p:cNvPr id="17" name="Shape 15"/>
          <p:cNvSpPr/>
          <p:nvPr/>
        </p:nvSpPr>
        <p:spPr>
          <a:xfrm>
            <a:off x="6355080" y="4937760"/>
            <a:ext cx="1463040" cy="329184"/>
          </a:xfrm>
          <a:prstGeom prst="roundRect">
            <a:avLst>
              <a:gd name="adj" fmla="val 50000"/>
            </a:avLst>
          </a:prstGeom>
          <a:solidFill>
            <a:srgbClr val="272A38"/>
          </a:solidFill>
          <a:ln w="12700">
            <a:solidFill>
              <a:srgbClr val="272A38"/>
            </a:solidFill>
            <a:prstDash val="solid"/>
          </a:ln>
        </p:spPr>
        <p:txBody>
          <a:bodyPr/>
          <a:p/>
        </p:txBody>
      </p:sp>
      <p:sp>
        <p:nvSpPr>
          <p:cNvPr id="18" name="Text 16"/>
          <p:cNvSpPr/>
          <p:nvPr/>
        </p:nvSpPr>
        <p:spPr>
          <a:xfrm>
            <a:off x="6355080" y="4937760"/>
            <a:ext cx="146304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Nu</a:t>
            </a:r>
            <a:endParaRPr lang="en-US" sz="1400" dirty="0"/>
          </a:p>
        </p:txBody>
      </p:sp>
      <p:sp>
        <p:nvSpPr>
          <p:cNvPr id="19" name="Shape 17"/>
          <p:cNvSpPr/>
          <p:nvPr/>
        </p:nvSpPr>
        <p:spPr>
          <a:xfrm>
            <a:off x="8503920" y="1600200"/>
            <a:ext cx="3063240" cy="3063240"/>
          </a:xfrm>
          <a:prstGeom prst="roundRect">
            <a:avLst>
              <a:gd name="adj" fmla="val 2687"/>
            </a:avLst>
          </a:prstGeom>
          <a:solidFill>
            <a:srgbClr val="FFFFFF"/>
          </a:solidFill>
          <a:ln w="12700">
            <a:solidFill>
              <a:srgbClr val="FFFFFF"/>
            </a:solidFill>
            <a:prstDash val="solid"/>
          </a:ln>
        </p:spPr>
        <p:txBody>
          <a:bodyPr/>
          <a:p/>
        </p:txBody>
      </p:sp>
      <p:sp>
        <p:nvSpPr>
          <p:cNvPr id="21" name="Text 19"/>
          <p:cNvSpPr/>
          <p:nvPr/>
        </p:nvSpPr>
        <p:spPr>
          <a:xfrm>
            <a:off x="594360" y="5532120"/>
            <a:ext cx="10972800" cy="45720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500" dirty="0"/>
          </a:p>
        </p:txBody>
      </p:sp>
      <p:pic>
        <p:nvPicPr>
          <p:cNvPr id="22" name="Picture 21" descr="Mentimeter_OPT_DETECTIVI_C04.png"/>
          <p:cNvPicPr>
            <a:picLocks noChangeAspect="1"/>
          </p:cNvPicPr>
          <p:nvPr/>
        </p:nvPicPr>
        <p:blipFill>
          <a:blip r:embed="rId3"/>
          <a:stretch>
            <a:fillRect/>
          </a:stretch>
        </p:blipFill>
        <p:spPr>
          <a:xfrm>
            <a:off x="8817610" y="1600200"/>
            <a:ext cx="2435860" cy="2435860"/>
          </a:xfrm>
          <a:prstGeom prst="rect">
            <a:avLst/>
          </a:prstGeom>
        </p:spPr>
      </p:pic>
      <p:sp>
        <p:nvSpPr>
          <p:cNvPr id="23" name="TextBox 22"/>
          <p:cNvSpPr txBox="1"/>
          <p:nvPr/>
        </p:nvSpPr>
        <p:spPr>
          <a:xfrm>
            <a:off x="8503920" y="4074160"/>
            <a:ext cx="306324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VIAȚA PRIVATĂ ȘI SĂNĂTATEA TUTUROR</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Nu există o soluție simplă, dar există întrebări de pus</a:t>
            </a:r>
            <a:endParaRPr lang="en-US" sz="2800" dirty="0"/>
          </a:p>
        </p:txBody>
      </p:sp>
      <p:sp>
        <p:nvSpPr>
          <p:cNvPr id="4" name="Text 2"/>
          <p:cNvSpPr/>
          <p:nvPr/>
        </p:nvSpPr>
        <p:spPr>
          <a:xfrm>
            <a:off x="594360" y="1463040"/>
            <a:ext cx="10972800" cy="731520"/>
          </a:xfrm>
          <a:prstGeom prst="rect">
            <a:avLst/>
          </a:prstGeom>
          <a:noFill/>
          <a:ln/>
        </p:spPr>
        <p:txBody>
          <a:bodyPr wrap="square" lIns="0" tIns="0" rIns="0" bIns="0" rtlCol="0" anchor="t"/>
          <a:lstStyle/>
          <a:p>
            <a:pPr indent="0" marL="0">
              <a:buNone/>
            </a:pPr>
            <a:r>
              <a:rPr lang="en-US" sz="1600" i="1" dirty="0">
                <a:solidFill>
                  <a:srgbClr val="585A64"/>
                </a:solidFill>
                <a:latin typeface="Palatino Linotype" pitchFamily="34" charset="0"/>
                <a:ea typeface="Palatino Linotype" pitchFamily="34" charset="-122"/>
                <a:cs typeface="Palatino Linotype" pitchFamily="34" charset="-120"/>
              </a:rPr>
              <a:t>Salathé: interesul colectiv intră în conflict cu dorința fiecăruia de a-și proteja viața privată.</a:t>
            </a:r>
            <a:endParaRPr lang="en-US" sz="1600" dirty="0"/>
          </a:p>
        </p:txBody>
      </p:sp>
      <p:sp>
        <p:nvSpPr>
          <p:cNvPr id="5" name="Shape 3"/>
          <p:cNvSpPr/>
          <p:nvPr/>
        </p:nvSpPr>
        <p:spPr>
          <a:xfrm>
            <a:off x="594360" y="2286000"/>
            <a:ext cx="5394960" cy="1645920"/>
          </a:xfrm>
          <a:prstGeom prst="roundRect">
            <a:avLst>
              <a:gd name="adj" fmla="val 5000"/>
            </a:avLst>
          </a:prstGeom>
          <a:solidFill>
            <a:srgbClr val="ECEAE4"/>
          </a:solidFill>
          <a:ln w="12700">
            <a:solidFill>
              <a:srgbClr val="ECEAE4"/>
            </a:solidFill>
            <a:prstDash val="solid"/>
          </a:ln>
        </p:spPr>
        <p:txBody>
          <a:bodyPr/>
          <a:p/>
        </p:txBody>
      </p:sp>
      <p:sp>
        <p:nvSpPr>
          <p:cNvPr id="6" name="Text 4"/>
          <p:cNvSpPr/>
          <p:nvPr/>
        </p:nvSpPr>
        <p:spPr>
          <a:xfrm>
            <a:off x="868680" y="2423160"/>
            <a:ext cx="4846320" cy="45720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Cu ce scop?</a:t>
            </a:r>
            <a:endParaRPr lang="en-US" sz="2000" dirty="0"/>
          </a:p>
        </p:txBody>
      </p:sp>
      <p:sp>
        <p:nvSpPr>
          <p:cNvPr id="7" name="Text 5"/>
          <p:cNvSpPr/>
          <p:nvPr/>
        </p:nvSpPr>
        <p:spPr>
          <a:xfrm>
            <a:off x="868680" y="2926080"/>
            <a:ext cx="4846320" cy="9144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Un scop declarat dinainte, nu „poate ne folosesc”.</a:t>
            </a:r>
            <a:endParaRPr lang="en-US" sz="1600" dirty="0"/>
          </a:p>
        </p:txBody>
      </p:sp>
      <p:sp>
        <p:nvSpPr>
          <p:cNvPr id="8" name="Shape 6"/>
          <p:cNvSpPr/>
          <p:nvPr/>
        </p:nvSpPr>
        <p:spPr>
          <a:xfrm>
            <a:off x="6172200" y="2286000"/>
            <a:ext cx="5394960" cy="1645920"/>
          </a:xfrm>
          <a:prstGeom prst="roundRect">
            <a:avLst>
              <a:gd name="adj" fmla="val 5000"/>
            </a:avLst>
          </a:prstGeom>
          <a:solidFill>
            <a:srgbClr val="ECEAE4"/>
          </a:solidFill>
          <a:ln w="12700">
            <a:solidFill>
              <a:srgbClr val="ECEAE4"/>
            </a:solidFill>
            <a:prstDash val="solid"/>
          </a:ln>
        </p:spPr>
        <p:txBody>
          <a:bodyPr/>
          <a:p/>
        </p:txBody>
      </p:sp>
      <p:sp>
        <p:nvSpPr>
          <p:cNvPr id="9" name="Text 7"/>
          <p:cNvSpPr/>
          <p:nvPr/>
        </p:nvSpPr>
        <p:spPr>
          <a:xfrm>
            <a:off x="6446520" y="2423160"/>
            <a:ext cx="4846320" cy="45720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Câte date?</a:t>
            </a:r>
            <a:endParaRPr lang="en-US" sz="2000" dirty="0"/>
          </a:p>
        </p:txBody>
      </p:sp>
      <p:sp>
        <p:nvSpPr>
          <p:cNvPr id="10" name="Text 8"/>
          <p:cNvSpPr/>
          <p:nvPr/>
        </p:nvSpPr>
        <p:spPr>
          <a:xfrm>
            <a:off x="6446520" y="2926080"/>
            <a:ext cx="4846320" cy="9144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Ajung totalurile pe regiune, nu traseul fiecăruia.</a:t>
            </a:r>
            <a:endParaRPr lang="en-US" sz="1600" dirty="0"/>
          </a:p>
        </p:txBody>
      </p:sp>
      <p:sp>
        <p:nvSpPr>
          <p:cNvPr id="11" name="Shape 9"/>
          <p:cNvSpPr/>
          <p:nvPr/>
        </p:nvSpPr>
        <p:spPr>
          <a:xfrm>
            <a:off x="594360" y="4114800"/>
            <a:ext cx="5394960" cy="1645920"/>
          </a:xfrm>
          <a:prstGeom prst="roundRect">
            <a:avLst>
              <a:gd name="adj" fmla="val 5000"/>
            </a:avLst>
          </a:prstGeom>
          <a:solidFill>
            <a:srgbClr val="ECEAE4"/>
          </a:solidFill>
          <a:ln w="12700">
            <a:solidFill>
              <a:srgbClr val="ECEAE4"/>
            </a:solidFill>
            <a:prstDash val="solid"/>
          </a:ln>
        </p:spPr>
        <p:txBody>
          <a:bodyPr/>
          <a:p/>
        </p:txBody>
      </p:sp>
      <p:sp>
        <p:nvSpPr>
          <p:cNvPr id="12" name="Text 10"/>
          <p:cNvSpPr/>
          <p:nvPr/>
        </p:nvSpPr>
        <p:spPr>
          <a:xfrm>
            <a:off x="868680" y="4251960"/>
            <a:ext cx="4846320" cy="45720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Cine le vede?</a:t>
            </a:r>
            <a:endParaRPr lang="en-US" sz="2000" dirty="0"/>
          </a:p>
        </p:txBody>
      </p:sp>
      <p:sp>
        <p:nvSpPr>
          <p:cNvPr id="13" name="Text 11"/>
          <p:cNvSpPr/>
          <p:nvPr/>
        </p:nvSpPr>
        <p:spPr>
          <a:xfrm>
            <a:off x="868680" y="4754880"/>
            <a:ext cx="4846320" cy="9144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O instituție cu obligația secretului sau oricine le cumpără?</a:t>
            </a:r>
            <a:endParaRPr lang="en-US" sz="1600" dirty="0"/>
          </a:p>
        </p:txBody>
      </p:sp>
      <p:sp>
        <p:nvSpPr>
          <p:cNvPr id="14" name="Shape 12"/>
          <p:cNvSpPr/>
          <p:nvPr/>
        </p:nvSpPr>
        <p:spPr>
          <a:xfrm>
            <a:off x="6172200" y="4114800"/>
            <a:ext cx="5394960" cy="1645920"/>
          </a:xfrm>
          <a:prstGeom prst="roundRect">
            <a:avLst>
              <a:gd name="adj" fmla="val 5000"/>
            </a:avLst>
          </a:prstGeom>
          <a:solidFill>
            <a:srgbClr val="ECEAE4"/>
          </a:solidFill>
          <a:ln w="12700">
            <a:solidFill>
              <a:srgbClr val="ECEAE4"/>
            </a:solidFill>
            <a:prstDash val="solid"/>
          </a:ln>
        </p:spPr>
        <p:txBody>
          <a:bodyPr/>
          <a:p/>
        </p:txBody>
      </p:sp>
      <p:sp>
        <p:nvSpPr>
          <p:cNvPr id="15" name="Text 13"/>
          <p:cNvSpPr/>
          <p:nvPr/>
        </p:nvSpPr>
        <p:spPr>
          <a:xfrm>
            <a:off x="6446520" y="4251960"/>
            <a:ext cx="4846320" cy="45720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Până când?</a:t>
            </a:r>
            <a:endParaRPr lang="en-US" sz="2000" dirty="0"/>
          </a:p>
        </p:txBody>
      </p:sp>
      <p:sp>
        <p:nvSpPr>
          <p:cNvPr id="16" name="Text 14"/>
          <p:cNvSpPr/>
          <p:nvPr/>
        </p:nvSpPr>
        <p:spPr>
          <a:xfrm>
            <a:off x="6446520" y="4754880"/>
            <a:ext cx="4846320" cy="9144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Un sistem de urgență fără sfârșit nu mai este de urgență.</a:t>
            </a:r>
            <a:endParaRPr lang="en-US" sz="1600" dirty="0"/>
          </a:p>
        </p:txBody>
      </p:sp>
      <p:sp>
        <p:nvSpPr>
          <p:cNvPr id="17" name="Text 15"/>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Salathé, 2018; pagina rapoartelor de mobilitate (registru A577, A583, A584).</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ÎNAINTE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DEZBATEREA</a:t>
            </a:r>
            <a:endParaRPr lang="en-US" sz="1300" dirty="0"/>
          </a:p>
        </p:txBody>
      </p:sp>
      <p:sp>
        <p:nvSpPr>
          <p:cNvPr id="5" name="Shape 3"/>
          <p:cNvSpPr/>
          <p:nvPr/>
        </p:nvSpPr>
        <p:spPr>
          <a:xfrm>
            <a:off x="594360" y="914400"/>
            <a:ext cx="7635240" cy="2743200"/>
          </a:xfrm>
          <a:prstGeom prst="roundRect">
            <a:avLst>
              <a:gd name="adj" fmla="val 3000"/>
            </a:avLst>
          </a:prstGeom>
          <a:solidFill>
            <a:srgbClr val="1D1F2B"/>
          </a:solidFill>
          <a:ln w="12700">
            <a:solidFill>
              <a:srgbClr val="1D1F2B"/>
            </a:solidFill>
            <a:prstDash val="solid"/>
          </a:ln>
        </p:spPr>
        <p:txBody>
          <a:bodyPr/>
          <a:p/>
        </p:txBody>
      </p:sp>
      <p:sp>
        <p:nvSpPr>
          <p:cNvPr id="6" name="Text 4"/>
          <p:cNvSpPr/>
          <p:nvPr/>
        </p:nvSpPr>
        <p:spPr>
          <a:xfrm>
            <a:off x="914400" y="914400"/>
            <a:ext cx="7040880" cy="2743200"/>
          </a:xfrm>
          <a:prstGeom prst="rect">
            <a:avLst/>
          </a:prstGeom>
          <a:noFill/>
          <a:ln/>
        </p:spPr>
        <p:txBody>
          <a:bodyPr wrap="square" lIns="0" tIns="0" rIns="0" bIns="0" rtlCol="0" anchor="ctr"/>
          <a:lstStyle/>
          <a:p>
            <a:pPr indent="0" marL="0">
              <a:buNone/>
            </a:pPr>
            <a:r>
              <a:rPr lang="en-US" sz="2100" b="1" i="1" dirty="0">
                <a:solidFill>
                  <a:srgbClr val="FFFFFF"/>
                </a:solidFill>
                <a:latin typeface="Palatino Linotype" pitchFamily="34" charset="0"/>
                <a:ea typeface="Palatino Linotype" pitchFamily="34" charset="-122"/>
                <a:cs typeface="Palatino Linotype" pitchFamily="34" charset="-120"/>
              </a:rPr>
              <a:t>„Într-o epidemie gravă, autoritatea de sănătate publică ar trebui să poată folosi datele de localizare ale telefoanelor, fără acordul fiecărei persoane.”</a:t>
            </a:r>
            <a:endParaRPr lang="en-US" sz="2100" dirty="0"/>
          </a:p>
        </p:txBody>
      </p:sp>
      <p:sp>
        <p:nvSpPr>
          <p:cNvPr id="7" name="Shape 5"/>
          <p:cNvSpPr/>
          <p:nvPr/>
        </p:nvSpPr>
        <p:spPr>
          <a:xfrm>
            <a:off x="594360" y="3886200"/>
            <a:ext cx="7635240" cy="658368"/>
          </a:xfrm>
          <a:prstGeom prst="roundRect">
            <a:avLst>
              <a:gd name="adj" fmla="val 12500"/>
            </a:avLst>
          </a:prstGeom>
          <a:solidFill>
            <a:srgbClr val="1D1F2B"/>
          </a:solidFill>
          <a:ln w="12700">
            <a:solidFill>
              <a:srgbClr val="1D1F2B"/>
            </a:solidFill>
            <a:prstDash val="solid"/>
          </a:ln>
        </p:spPr>
        <p:txBody>
          <a:bodyPr/>
          <a:p/>
        </p:txBody>
      </p:sp>
      <p:sp>
        <p:nvSpPr>
          <p:cNvPr id="8" name="Shape 6"/>
          <p:cNvSpPr/>
          <p:nvPr/>
        </p:nvSpPr>
        <p:spPr>
          <a:xfrm>
            <a:off x="914400" y="4005072"/>
            <a:ext cx="420624" cy="420624"/>
          </a:xfrm>
          <a:prstGeom prst="ellipse">
            <a:avLst/>
          </a:prstGeom>
          <a:solidFill>
            <a:srgbClr val="FFC24B"/>
          </a:solidFill>
          <a:ln/>
        </p:spPr>
        <p:txBody>
          <a:bodyPr/>
          <a:p/>
        </p:txBody>
      </p:sp>
      <p:sp>
        <p:nvSpPr>
          <p:cNvPr id="9" name="Text 7"/>
          <p:cNvSpPr/>
          <p:nvPr/>
        </p:nvSpPr>
        <p:spPr>
          <a:xfrm>
            <a:off x="914400" y="40050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0" name="Text 8"/>
          <p:cNvSpPr/>
          <p:nvPr/>
        </p:nvSpPr>
        <p:spPr>
          <a:xfrm>
            <a:off x="1600200" y="3886200"/>
            <a:ext cx="6355080" cy="65836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Pentru</a:t>
            </a:r>
            <a:endParaRPr lang="en-US" sz="1800" dirty="0"/>
          </a:p>
        </p:txBody>
      </p:sp>
      <p:sp>
        <p:nvSpPr>
          <p:cNvPr id="11" name="Shape 9"/>
          <p:cNvSpPr/>
          <p:nvPr/>
        </p:nvSpPr>
        <p:spPr>
          <a:xfrm>
            <a:off x="594360" y="4663440"/>
            <a:ext cx="7635240" cy="658368"/>
          </a:xfrm>
          <a:prstGeom prst="roundRect">
            <a:avLst>
              <a:gd name="adj" fmla="val 12500"/>
            </a:avLst>
          </a:prstGeom>
          <a:solidFill>
            <a:srgbClr val="1D1F2B"/>
          </a:solidFill>
          <a:ln w="12700">
            <a:solidFill>
              <a:srgbClr val="1D1F2B"/>
            </a:solidFill>
            <a:prstDash val="solid"/>
          </a:ln>
        </p:spPr>
        <p:txBody>
          <a:bodyPr/>
          <a:p/>
        </p:txBody>
      </p:sp>
      <p:sp>
        <p:nvSpPr>
          <p:cNvPr id="12" name="Shape 10"/>
          <p:cNvSpPr/>
          <p:nvPr/>
        </p:nvSpPr>
        <p:spPr>
          <a:xfrm>
            <a:off x="914400" y="4782312"/>
            <a:ext cx="420624" cy="420624"/>
          </a:xfrm>
          <a:prstGeom prst="ellipse">
            <a:avLst/>
          </a:prstGeom>
          <a:solidFill>
            <a:srgbClr val="FFC24B"/>
          </a:solidFill>
          <a:ln/>
        </p:spPr>
        <p:txBody>
          <a:bodyPr/>
          <a:p/>
        </p:txBody>
      </p:sp>
      <p:sp>
        <p:nvSpPr>
          <p:cNvPr id="13" name="Text 11"/>
          <p:cNvSpPr/>
          <p:nvPr/>
        </p:nvSpPr>
        <p:spPr>
          <a:xfrm>
            <a:off x="914400" y="47823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4" name="Text 12"/>
          <p:cNvSpPr/>
          <p:nvPr/>
        </p:nvSpPr>
        <p:spPr>
          <a:xfrm>
            <a:off x="1600200" y="4663440"/>
            <a:ext cx="6355080" cy="65836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Împotrivă</a:t>
            </a:r>
            <a:endParaRPr lang="en-US" sz="1800" dirty="0"/>
          </a:p>
        </p:txBody>
      </p:sp>
      <p:sp>
        <p:nvSpPr>
          <p:cNvPr id="15" name="Shape 13"/>
          <p:cNvSpPr/>
          <p:nvPr/>
        </p:nvSpPr>
        <p:spPr>
          <a:xfrm>
            <a:off x="8503920" y="914400"/>
            <a:ext cx="3063240" cy="3063240"/>
          </a:xfrm>
          <a:prstGeom prst="roundRect">
            <a:avLst>
              <a:gd name="adj" fmla="val 2687"/>
            </a:avLst>
          </a:prstGeom>
          <a:solidFill>
            <a:srgbClr val="FFFFFF"/>
          </a:solidFill>
          <a:ln w="12700">
            <a:solidFill>
              <a:srgbClr val="FFFFFF"/>
            </a:solidFill>
            <a:prstDash val="solid"/>
          </a:ln>
        </p:spPr>
        <p:txBody>
          <a:bodyPr/>
          <a:p/>
        </p:txBody>
      </p:sp>
      <p:sp>
        <p:nvSpPr>
          <p:cNvPr id="17" name="Text 15"/>
          <p:cNvSpPr/>
          <p:nvPr/>
        </p:nvSpPr>
        <p:spPr>
          <a:xfrm>
            <a:off x="594360" y="5532120"/>
            <a:ext cx="10972800" cy="45720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500" dirty="0"/>
          </a:p>
        </p:txBody>
      </p:sp>
      <p:pic>
        <p:nvPicPr>
          <p:cNvPr id="18" name="Picture 17" descr="Mentimeter_OPT_DETECTIVI_C04.png"/>
          <p:cNvPicPr>
            <a:picLocks noChangeAspect="1"/>
          </p:cNvPicPr>
          <p:nvPr/>
        </p:nvPicPr>
        <p:blipFill>
          <a:blip r:embed="rId3"/>
          <a:stretch>
            <a:fillRect/>
          </a:stretch>
        </p:blipFill>
        <p:spPr>
          <a:xfrm>
            <a:off x="8817610" y="914400"/>
            <a:ext cx="2435860" cy="2435860"/>
          </a:xfrm>
          <a:prstGeom prst="rect">
            <a:avLst/>
          </a:prstGeom>
        </p:spPr>
      </p:pic>
      <p:sp>
        <p:nvSpPr>
          <p:cNvPr id="19" name="TextBox 18"/>
          <p:cNvSpPr txBox="1"/>
          <p:nvPr/>
        </p:nvSpPr>
        <p:spPr>
          <a:xfrm>
            <a:off x="8503920" y="3388360"/>
            <a:ext cx="306324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DOUĂ TABERE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Stânga susține moțiunea, dreapta o combate</a:t>
            </a:r>
            <a:endParaRPr lang="en-US" sz="3000" dirty="0"/>
          </a:p>
        </p:txBody>
      </p:sp>
      <p:sp>
        <p:nvSpPr>
          <p:cNvPr id="4" name="Shape 2"/>
          <p:cNvSpPr/>
          <p:nvPr/>
        </p:nvSpPr>
        <p:spPr>
          <a:xfrm>
            <a:off x="594360" y="1645920"/>
            <a:ext cx="5394960" cy="1463040"/>
          </a:xfrm>
          <a:prstGeom prst="roundRect">
            <a:avLst>
              <a:gd name="adj" fmla="val 5625"/>
            </a:avLst>
          </a:prstGeom>
          <a:solidFill>
            <a:srgbClr val="E1F0EC"/>
          </a:solidFill>
          <a:ln w="12700">
            <a:solidFill>
              <a:srgbClr val="E1F0EC"/>
            </a:solidFill>
            <a:prstDash val="solid"/>
          </a:ln>
        </p:spPr>
        <p:txBody>
          <a:bodyPr/>
          <a:p/>
        </p:txBody>
      </p:sp>
      <p:sp>
        <p:nvSpPr>
          <p:cNvPr id="5" name="Text 3"/>
          <p:cNvSpPr/>
          <p:nvPr/>
        </p:nvSpPr>
        <p:spPr>
          <a:xfrm>
            <a:off x="868680" y="1737360"/>
            <a:ext cx="4846320" cy="640080"/>
          </a:xfrm>
          <a:prstGeom prst="rect">
            <a:avLst/>
          </a:prstGeom>
          <a:noFill/>
          <a:ln/>
        </p:spPr>
        <p:txBody>
          <a:bodyPr wrap="square" lIns="0" tIns="0" rIns="0" bIns="0" rtlCol="0" anchor="t"/>
          <a:lstStyle/>
          <a:p>
            <a:pPr indent="0" marL="0">
              <a:buNone/>
            </a:pPr>
            <a:r>
              <a:rPr lang="en-US" sz="2600" b="1" dirty="0">
                <a:solidFill>
                  <a:srgbClr val="0E7C6B"/>
                </a:solidFill>
                <a:latin typeface="Palatino Linotype" pitchFamily="34" charset="0"/>
                <a:ea typeface="Palatino Linotype" pitchFamily="34" charset="-122"/>
                <a:cs typeface="Palatino Linotype" pitchFamily="34" charset="-120"/>
              </a:rPr>
              <a:t>Partea stângă</a:t>
            </a:r>
            <a:endParaRPr lang="en-US" sz="2600" dirty="0"/>
          </a:p>
        </p:txBody>
      </p:sp>
      <p:sp>
        <p:nvSpPr>
          <p:cNvPr id="6" name="Text 4"/>
          <p:cNvSpPr/>
          <p:nvPr/>
        </p:nvSpPr>
        <p:spPr>
          <a:xfrm>
            <a:off x="868680" y="2377440"/>
            <a:ext cx="4846320" cy="54864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susține moțiunea</a:t>
            </a:r>
            <a:endParaRPr lang="en-US" sz="1900" dirty="0"/>
          </a:p>
        </p:txBody>
      </p:sp>
      <p:sp>
        <p:nvSpPr>
          <p:cNvPr id="7" name="Shape 5"/>
          <p:cNvSpPr/>
          <p:nvPr/>
        </p:nvSpPr>
        <p:spPr>
          <a:xfrm>
            <a:off x="6172200" y="1645920"/>
            <a:ext cx="5394960" cy="1463040"/>
          </a:xfrm>
          <a:prstGeom prst="roundRect">
            <a:avLst>
              <a:gd name="adj" fmla="val 5625"/>
            </a:avLst>
          </a:prstGeom>
          <a:solidFill>
            <a:srgbClr val="F4E0E2"/>
          </a:solidFill>
          <a:ln w="12700">
            <a:solidFill>
              <a:srgbClr val="F4E0E2"/>
            </a:solidFill>
            <a:prstDash val="solid"/>
          </a:ln>
        </p:spPr>
        <p:txBody>
          <a:bodyPr/>
          <a:p/>
        </p:txBody>
      </p:sp>
      <p:sp>
        <p:nvSpPr>
          <p:cNvPr id="8" name="Text 6"/>
          <p:cNvSpPr/>
          <p:nvPr/>
        </p:nvSpPr>
        <p:spPr>
          <a:xfrm>
            <a:off x="6446520" y="1737360"/>
            <a:ext cx="4846320" cy="640080"/>
          </a:xfrm>
          <a:prstGeom prst="rect">
            <a:avLst/>
          </a:prstGeom>
          <a:noFill/>
          <a:ln/>
        </p:spPr>
        <p:txBody>
          <a:bodyPr wrap="square" lIns="0" tIns="0" rIns="0" bIns="0" rtlCol="0" anchor="t"/>
          <a:lstStyle/>
          <a:p>
            <a:pPr indent="0" marL="0">
              <a:buNone/>
            </a:pPr>
            <a:r>
              <a:rPr lang="en-US" sz="2600" b="1" dirty="0">
                <a:solidFill>
                  <a:srgbClr val="B02532"/>
                </a:solidFill>
                <a:latin typeface="Palatino Linotype" pitchFamily="34" charset="0"/>
                <a:ea typeface="Palatino Linotype" pitchFamily="34" charset="-122"/>
                <a:cs typeface="Palatino Linotype" pitchFamily="34" charset="-120"/>
              </a:rPr>
              <a:t>Partea dreaptă</a:t>
            </a:r>
            <a:endParaRPr lang="en-US" sz="2600" dirty="0"/>
          </a:p>
        </p:txBody>
      </p:sp>
      <p:sp>
        <p:nvSpPr>
          <p:cNvPr id="9" name="Text 7"/>
          <p:cNvSpPr/>
          <p:nvPr/>
        </p:nvSpPr>
        <p:spPr>
          <a:xfrm>
            <a:off x="6446520" y="2377440"/>
            <a:ext cx="4846320" cy="54864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o combate</a:t>
            </a:r>
            <a:endParaRPr lang="en-US" sz="1900" dirty="0"/>
          </a:p>
        </p:txBody>
      </p:sp>
      <p:sp>
        <p:nvSpPr>
          <p:cNvPr id="10" name="Shape 8"/>
          <p:cNvSpPr/>
          <p:nvPr/>
        </p:nvSpPr>
        <p:spPr>
          <a:xfrm>
            <a:off x="594360" y="3383280"/>
            <a:ext cx="10972800" cy="731520"/>
          </a:xfrm>
          <a:prstGeom prst="roundRect">
            <a:avLst>
              <a:gd name="adj" fmla="val 11250"/>
            </a:avLst>
          </a:prstGeom>
          <a:solidFill>
            <a:srgbClr val="ECEAE4"/>
          </a:solidFill>
          <a:ln w="12700">
            <a:solidFill>
              <a:srgbClr val="ECEAE4"/>
            </a:solidFill>
            <a:prstDash val="solid"/>
          </a:ln>
        </p:spPr>
        <p:txBody>
          <a:bodyPr/>
          <a:p/>
        </p:txBody>
      </p:sp>
      <p:sp>
        <p:nvSpPr>
          <p:cNvPr id="11" name="Shape 9"/>
          <p:cNvSpPr/>
          <p:nvPr/>
        </p:nvSpPr>
        <p:spPr>
          <a:xfrm>
            <a:off x="914400" y="3538728"/>
            <a:ext cx="420624" cy="420624"/>
          </a:xfrm>
          <a:prstGeom prst="ellipse">
            <a:avLst/>
          </a:prstGeom>
          <a:solidFill>
            <a:srgbClr val="FF4757"/>
          </a:solidFill>
          <a:ln/>
        </p:spPr>
        <p:txBody>
          <a:bodyPr/>
          <a:p/>
        </p:txBody>
      </p:sp>
      <p:sp>
        <p:nvSpPr>
          <p:cNvPr id="12" name="Text 10"/>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13" name="Text 11"/>
          <p:cNvSpPr/>
          <p:nvPr/>
        </p:nvSpPr>
        <p:spPr>
          <a:xfrm>
            <a:off x="1600200" y="3383280"/>
            <a:ext cx="969264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Trei minute: fiecare tabără își alege argumentele, cu cele patru întrebări.</a:t>
            </a:r>
            <a:endParaRPr lang="en-US" sz="1700" dirty="0"/>
          </a:p>
        </p:txBody>
      </p:sp>
      <p:sp>
        <p:nvSpPr>
          <p:cNvPr id="14" name="Shape 12"/>
          <p:cNvSpPr/>
          <p:nvPr/>
        </p:nvSpPr>
        <p:spPr>
          <a:xfrm>
            <a:off x="594360" y="4224528"/>
            <a:ext cx="10972800" cy="731520"/>
          </a:xfrm>
          <a:prstGeom prst="roundRect">
            <a:avLst>
              <a:gd name="adj" fmla="val 11250"/>
            </a:avLst>
          </a:prstGeom>
          <a:solidFill>
            <a:srgbClr val="ECEAE4"/>
          </a:solidFill>
          <a:ln w="12700">
            <a:solidFill>
              <a:srgbClr val="ECEAE4"/>
            </a:solidFill>
            <a:prstDash val="solid"/>
          </a:ln>
        </p:spPr>
        <p:txBody>
          <a:bodyPr/>
          <a:p/>
        </p:txBody>
      </p:sp>
      <p:sp>
        <p:nvSpPr>
          <p:cNvPr id="15" name="Shape 13"/>
          <p:cNvSpPr/>
          <p:nvPr/>
        </p:nvSpPr>
        <p:spPr>
          <a:xfrm>
            <a:off x="914400" y="4379976"/>
            <a:ext cx="420624" cy="420624"/>
          </a:xfrm>
          <a:prstGeom prst="ellipse">
            <a:avLst/>
          </a:prstGeom>
          <a:solidFill>
            <a:srgbClr val="FF4757"/>
          </a:solidFill>
          <a:ln/>
        </p:spPr>
        <p:txBody>
          <a:bodyPr/>
          <a:p/>
        </p:txBody>
      </p:sp>
      <p:sp>
        <p:nvSpPr>
          <p:cNvPr id="16" name="Text 14"/>
          <p:cNvSpPr/>
          <p:nvPr/>
        </p:nvSpPr>
        <p:spPr>
          <a:xfrm>
            <a:off x="914400" y="4379976"/>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7" name="Text 15"/>
          <p:cNvSpPr/>
          <p:nvPr/>
        </p:nvSpPr>
        <p:spPr>
          <a:xfrm>
            <a:off x="1600200" y="4224528"/>
            <a:ext cx="969264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Doi voluntari din fiecare tabără, câte un minut la microfon.</a:t>
            </a:r>
            <a:endParaRPr lang="en-US" sz="1700" dirty="0"/>
          </a:p>
        </p:txBody>
      </p:sp>
      <p:sp>
        <p:nvSpPr>
          <p:cNvPr id="18" name="Shape 16"/>
          <p:cNvSpPr/>
          <p:nvPr/>
        </p:nvSpPr>
        <p:spPr>
          <a:xfrm>
            <a:off x="594360" y="5065776"/>
            <a:ext cx="10972800" cy="731520"/>
          </a:xfrm>
          <a:prstGeom prst="roundRect">
            <a:avLst>
              <a:gd name="adj" fmla="val 11250"/>
            </a:avLst>
          </a:prstGeom>
          <a:solidFill>
            <a:srgbClr val="ECEAE4"/>
          </a:solidFill>
          <a:ln w="12700">
            <a:solidFill>
              <a:srgbClr val="ECEAE4"/>
            </a:solidFill>
            <a:prstDash val="solid"/>
          </a:ln>
        </p:spPr>
        <p:txBody>
          <a:bodyPr/>
          <a:p/>
        </p:txBody>
      </p:sp>
      <p:sp>
        <p:nvSpPr>
          <p:cNvPr id="19" name="Shape 17"/>
          <p:cNvSpPr/>
          <p:nvPr/>
        </p:nvSpPr>
        <p:spPr>
          <a:xfrm>
            <a:off x="914400" y="5221224"/>
            <a:ext cx="420624" cy="420624"/>
          </a:xfrm>
          <a:prstGeom prst="ellipse">
            <a:avLst/>
          </a:prstGeom>
          <a:solidFill>
            <a:srgbClr val="FF4757"/>
          </a:solidFill>
          <a:ln/>
        </p:spPr>
        <p:txBody>
          <a:bodyPr/>
          <a:p/>
        </p:txBody>
      </p:sp>
      <p:sp>
        <p:nvSpPr>
          <p:cNvPr id="20" name="Text 18"/>
          <p:cNvSpPr/>
          <p:nvPr/>
        </p:nvSpPr>
        <p:spPr>
          <a:xfrm>
            <a:off x="914400" y="522122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21" name="Text 19"/>
          <p:cNvSpPr/>
          <p:nvPr/>
        </p:nvSpPr>
        <p:spPr>
          <a:xfrm>
            <a:off x="1600200" y="5065776"/>
            <a:ext cx="969264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Apoi același vot. Contează cât s-a mutat votul, nu cine „a câștigat”.</a:t>
            </a:r>
            <a:endParaRPr lang="en-US" sz="1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DUPĂ</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DUPĂ DEZBATERE</a:t>
            </a:r>
            <a:endParaRPr lang="en-US" sz="1300" dirty="0"/>
          </a:p>
        </p:txBody>
      </p:sp>
      <p:sp>
        <p:nvSpPr>
          <p:cNvPr id="5" name="Shape 3"/>
          <p:cNvSpPr/>
          <p:nvPr/>
        </p:nvSpPr>
        <p:spPr>
          <a:xfrm>
            <a:off x="594360" y="914400"/>
            <a:ext cx="7635240" cy="2743200"/>
          </a:xfrm>
          <a:prstGeom prst="roundRect">
            <a:avLst>
              <a:gd name="adj" fmla="val 3000"/>
            </a:avLst>
          </a:prstGeom>
          <a:solidFill>
            <a:srgbClr val="1D1F2B"/>
          </a:solidFill>
          <a:ln w="12700">
            <a:solidFill>
              <a:srgbClr val="1D1F2B"/>
            </a:solidFill>
            <a:prstDash val="solid"/>
          </a:ln>
        </p:spPr>
        <p:txBody>
          <a:bodyPr/>
          <a:p/>
        </p:txBody>
      </p:sp>
      <p:sp>
        <p:nvSpPr>
          <p:cNvPr id="6" name="Text 4"/>
          <p:cNvSpPr/>
          <p:nvPr/>
        </p:nvSpPr>
        <p:spPr>
          <a:xfrm>
            <a:off x="914400" y="914400"/>
            <a:ext cx="7040880" cy="2743200"/>
          </a:xfrm>
          <a:prstGeom prst="rect">
            <a:avLst/>
          </a:prstGeom>
          <a:noFill/>
          <a:ln/>
        </p:spPr>
        <p:txBody>
          <a:bodyPr wrap="square" lIns="0" tIns="0" rIns="0" bIns="0" rtlCol="0" anchor="ctr"/>
          <a:lstStyle/>
          <a:p>
            <a:pPr indent="0" marL="0">
              <a:buNone/>
            </a:pPr>
            <a:r>
              <a:rPr lang="en-US" sz="2100" b="1" i="1" dirty="0">
                <a:solidFill>
                  <a:srgbClr val="FFFFFF"/>
                </a:solidFill>
                <a:latin typeface="Palatino Linotype" pitchFamily="34" charset="0"/>
                <a:ea typeface="Palatino Linotype" pitchFamily="34" charset="-122"/>
                <a:cs typeface="Palatino Linotype" pitchFamily="34" charset="-120"/>
              </a:rPr>
              <a:t>„Într-o epidemie gravă, autoritatea de sănătate publică ar trebui să poată folosi datele de localizare ale telefoanelor, fără acordul fiecărei persoane.”</a:t>
            </a:r>
            <a:endParaRPr lang="en-US" sz="2100" dirty="0"/>
          </a:p>
        </p:txBody>
      </p:sp>
      <p:sp>
        <p:nvSpPr>
          <p:cNvPr id="7" name="Shape 5"/>
          <p:cNvSpPr/>
          <p:nvPr/>
        </p:nvSpPr>
        <p:spPr>
          <a:xfrm>
            <a:off x="594360" y="3886200"/>
            <a:ext cx="7635240" cy="658368"/>
          </a:xfrm>
          <a:prstGeom prst="roundRect">
            <a:avLst>
              <a:gd name="adj" fmla="val 12500"/>
            </a:avLst>
          </a:prstGeom>
          <a:solidFill>
            <a:srgbClr val="1D1F2B"/>
          </a:solidFill>
          <a:ln w="12700">
            <a:solidFill>
              <a:srgbClr val="1D1F2B"/>
            </a:solidFill>
            <a:prstDash val="solid"/>
          </a:ln>
        </p:spPr>
        <p:txBody>
          <a:bodyPr/>
          <a:p/>
        </p:txBody>
      </p:sp>
      <p:sp>
        <p:nvSpPr>
          <p:cNvPr id="8" name="Shape 6"/>
          <p:cNvSpPr/>
          <p:nvPr/>
        </p:nvSpPr>
        <p:spPr>
          <a:xfrm>
            <a:off x="914400" y="4005072"/>
            <a:ext cx="420624" cy="420624"/>
          </a:xfrm>
          <a:prstGeom prst="ellipse">
            <a:avLst/>
          </a:prstGeom>
          <a:solidFill>
            <a:srgbClr val="FFC24B"/>
          </a:solidFill>
          <a:ln/>
        </p:spPr>
        <p:txBody>
          <a:bodyPr/>
          <a:p/>
        </p:txBody>
      </p:sp>
      <p:sp>
        <p:nvSpPr>
          <p:cNvPr id="9" name="Text 7"/>
          <p:cNvSpPr/>
          <p:nvPr/>
        </p:nvSpPr>
        <p:spPr>
          <a:xfrm>
            <a:off x="914400" y="40050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0" name="Text 8"/>
          <p:cNvSpPr/>
          <p:nvPr/>
        </p:nvSpPr>
        <p:spPr>
          <a:xfrm>
            <a:off x="1600200" y="3886200"/>
            <a:ext cx="6355080" cy="65836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Pentru</a:t>
            </a:r>
            <a:endParaRPr lang="en-US" sz="1800" dirty="0"/>
          </a:p>
        </p:txBody>
      </p:sp>
      <p:sp>
        <p:nvSpPr>
          <p:cNvPr id="11" name="Shape 9"/>
          <p:cNvSpPr/>
          <p:nvPr/>
        </p:nvSpPr>
        <p:spPr>
          <a:xfrm>
            <a:off x="594360" y="4663440"/>
            <a:ext cx="7635240" cy="658368"/>
          </a:xfrm>
          <a:prstGeom prst="roundRect">
            <a:avLst>
              <a:gd name="adj" fmla="val 12500"/>
            </a:avLst>
          </a:prstGeom>
          <a:solidFill>
            <a:srgbClr val="1D1F2B"/>
          </a:solidFill>
          <a:ln w="12700">
            <a:solidFill>
              <a:srgbClr val="1D1F2B"/>
            </a:solidFill>
            <a:prstDash val="solid"/>
          </a:ln>
        </p:spPr>
        <p:txBody>
          <a:bodyPr/>
          <a:p/>
        </p:txBody>
      </p:sp>
      <p:sp>
        <p:nvSpPr>
          <p:cNvPr id="12" name="Shape 10"/>
          <p:cNvSpPr/>
          <p:nvPr/>
        </p:nvSpPr>
        <p:spPr>
          <a:xfrm>
            <a:off x="914400" y="4782312"/>
            <a:ext cx="420624" cy="420624"/>
          </a:xfrm>
          <a:prstGeom prst="ellipse">
            <a:avLst/>
          </a:prstGeom>
          <a:solidFill>
            <a:srgbClr val="FFC24B"/>
          </a:solidFill>
          <a:ln/>
        </p:spPr>
        <p:txBody>
          <a:bodyPr/>
          <a:p/>
        </p:txBody>
      </p:sp>
      <p:sp>
        <p:nvSpPr>
          <p:cNvPr id="13" name="Text 11"/>
          <p:cNvSpPr/>
          <p:nvPr/>
        </p:nvSpPr>
        <p:spPr>
          <a:xfrm>
            <a:off x="914400" y="47823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4" name="Text 12"/>
          <p:cNvSpPr/>
          <p:nvPr/>
        </p:nvSpPr>
        <p:spPr>
          <a:xfrm>
            <a:off x="1600200" y="4663440"/>
            <a:ext cx="6355080" cy="65836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Împotrivă</a:t>
            </a:r>
            <a:endParaRPr lang="en-US" sz="1800" dirty="0"/>
          </a:p>
        </p:txBody>
      </p:sp>
      <p:sp>
        <p:nvSpPr>
          <p:cNvPr id="15" name="Shape 13"/>
          <p:cNvSpPr/>
          <p:nvPr/>
        </p:nvSpPr>
        <p:spPr>
          <a:xfrm>
            <a:off x="8503920" y="914400"/>
            <a:ext cx="3063240" cy="3063240"/>
          </a:xfrm>
          <a:prstGeom prst="roundRect">
            <a:avLst>
              <a:gd name="adj" fmla="val 2687"/>
            </a:avLst>
          </a:prstGeom>
          <a:solidFill>
            <a:srgbClr val="FFFFFF"/>
          </a:solidFill>
          <a:ln w="12700">
            <a:solidFill>
              <a:srgbClr val="FFFFFF"/>
            </a:solidFill>
            <a:prstDash val="solid"/>
          </a:ln>
        </p:spPr>
        <p:txBody>
          <a:bodyPr/>
          <a:p/>
        </p:txBody>
      </p:sp>
      <p:sp>
        <p:nvSpPr>
          <p:cNvPr id="17" name="Text 15"/>
          <p:cNvSpPr/>
          <p:nvPr/>
        </p:nvSpPr>
        <p:spPr>
          <a:xfrm>
            <a:off x="594360" y="5532120"/>
            <a:ext cx="10972800" cy="45720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Răspundeți pe telefon, la codul afișat. Contează cât s-a mutat votul.</a:t>
            </a:r>
            <a:endParaRPr lang="en-US" sz="1500" dirty="0"/>
          </a:p>
        </p:txBody>
      </p:sp>
      <p:pic>
        <p:nvPicPr>
          <p:cNvPr id="18" name="Picture 17" descr="Mentimeter_OPT_DETECTIVI_C04.png"/>
          <p:cNvPicPr>
            <a:picLocks noChangeAspect="1"/>
          </p:cNvPicPr>
          <p:nvPr/>
        </p:nvPicPr>
        <p:blipFill>
          <a:blip r:embed="rId3"/>
          <a:stretch>
            <a:fillRect/>
          </a:stretch>
        </p:blipFill>
        <p:spPr>
          <a:xfrm>
            <a:off x="8817610" y="914400"/>
            <a:ext cx="2435860" cy="2435860"/>
          </a:xfrm>
          <a:prstGeom prst="rect">
            <a:avLst/>
          </a:prstGeom>
        </p:spPr>
      </p:pic>
      <p:sp>
        <p:nvSpPr>
          <p:cNvPr id="19" name="TextBox 18"/>
          <p:cNvSpPr txBox="1"/>
          <p:nvPr/>
        </p:nvSpPr>
        <p:spPr>
          <a:xfrm>
            <a:off x="8503920" y="3388360"/>
            <a:ext cx="306324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POVESTEA A PATRA · MEDICUL CARE DECLARĂ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Ce nu spun semnalele noi</a:t>
            </a:r>
            <a:endParaRPr lang="en-US" sz="3400" dirty="0"/>
          </a:p>
        </p:txBody>
      </p:sp>
      <p:sp>
        <p:nvSpPr>
          <p:cNvPr id="4" name="Shape 2"/>
          <p:cNvSpPr/>
          <p:nvPr/>
        </p:nvSpPr>
        <p:spPr>
          <a:xfrm>
            <a:off x="594360" y="1691640"/>
            <a:ext cx="5394960" cy="2468880"/>
          </a:xfrm>
          <a:prstGeom prst="roundRect">
            <a:avLst>
              <a:gd name="adj" fmla="val 3333"/>
            </a:avLst>
          </a:prstGeom>
          <a:solidFill>
            <a:srgbClr val="1D1F2B"/>
          </a:solidFill>
          <a:ln w="12700">
            <a:solidFill>
              <a:srgbClr val="1D1F2B"/>
            </a:solidFill>
            <a:prstDash val="solid"/>
          </a:ln>
        </p:spPr>
        <p:txBody>
          <a:bodyPr/>
          <a:p/>
        </p:txBody>
      </p:sp>
      <p:sp>
        <p:nvSpPr>
          <p:cNvPr id="5" name="Text 3"/>
          <p:cNvSpPr/>
          <p:nvPr/>
        </p:nvSpPr>
        <p:spPr>
          <a:xfrm>
            <a:off x="868680" y="1828800"/>
            <a:ext cx="4846320" cy="50292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Apele uzate din Londra</a:t>
            </a:r>
            <a:endParaRPr lang="en-US" sz="2000" dirty="0"/>
          </a:p>
        </p:txBody>
      </p:sp>
      <p:sp>
        <p:nvSpPr>
          <p:cNvPr id="6" name="Text 4"/>
          <p:cNvSpPr/>
          <p:nvPr/>
        </p:nvSpPr>
        <p:spPr>
          <a:xfrm>
            <a:off x="868680" y="2423160"/>
            <a:ext cx="4846320" cy="164592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Au spus că virusul circulă. Nu au spus care copil e nevaccinat, care e bolnav, care are nevoie de tratament.</a:t>
            </a:r>
            <a:endParaRPr lang="en-US" sz="1800" dirty="0"/>
          </a:p>
        </p:txBody>
      </p:sp>
      <p:sp>
        <p:nvSpPr>
          <p:cNvPr id="7" name="Shape 5"/>
          <p:cNvSpPr/>
          <p:nvPr/>
        </p:nvSpPr>
        <p:spPr>
          <a:xfrm>
            <a:off x="6172200" y="1691640"/>
            <a:ext cx="5394960" cy="2468880"/>
          </a:xfrm>
          <a:prstGeom prst="roundRect">
            <a:avLst>
              <a:gd name="adj" fmla="val 3333"/>
            </a:avLst>
          </a:prstGeom>
          <a:solidFill>
            <a:srgbClr val="1D1F2B"/>
          </a:solidFill>
          <a:ln w="12700">
            <a:solidFill>
              <a:srgbClr val="1D1F2B"/>
            </a:solidFill>
            <a:prstDash val="solid"/>
          </a:ln>
        </p:spPr>
        <p:txBody>
          <a:bodyPr/>
          <a:p/>
        </p:txBody>
      </p:sp>
      <p:sp>
        <p:nvSpPr>
          <p:cNvPr id="8" name="Text 6"/>
          <p:cNvSpPr/>
          <p:nvPr/>
        </p:nvSpPr>
        <p:spPr>
          <a:xfrm>
            <a:off x="6446520" y="1828800"/>
            <a:ext cx="4846320" cy="50292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Căutările pe internet</a:t>
            </a:r>
            <a:endParaRPr lang="en-US" sz="2000" dirty="0"/>
          </a:p>
        </p:txBody>
      </p:sp>
      <p:sp>
        <p:nvSpPr>
          <p:cNvPr id="9" name="Text 7"/>
          <p:cNvSpPr/>
          <p:nvPr/>
        </p:nvSpPr>
        <p:spPr>
          <a:xfrm>
            <a:off x="6446520" y="2423160"/>
            <a:ext cx="4846320" cy="164592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Au spus, uneori, că a venit gripa. Nu au spus cine a murit de ea.</a:t>
            </a:r>
            <a:endParaRPr lang="en-US" sz="1800" dirty="0"/>
          </a:p>
        </p:txBody>
      </p:sp>
      <p:sp>
        <p:nvSpPr>
          <p:cNvPr id="10" name="Shape 8"/>
          <p:cNvSpPr/>
          <p:nvPr/>
        </p:nvSpPr>
        <p:spPr>
          <a:xfrm>
            <a:off x="594360" y="4434840"/>
            <a:ext cx="10972800" cy="1371600"/>
          </a:xfrm>
          <a:prstGeom prst="roundRect">
            <a:avLst>
              <a:gd name="adj" fmla="val 6000"/>
            </a:avLst>
          </a:prstGeom>
          <a:solidFill>
            <a:srgbClr val="07564B"/>
          </a:solidFill>
          <a:ln w="12700">
            <a:solidFill>
              <a:srgbClr val="07564B"/>
            </a:solidFill>
            <a:prstDash val="solid"/>
          </a:ln>
        </p:spPr>
        <p:txBody>
          <a:bodyPr/>
          <a:p/>
        </p:txBody>
      </p:sp>
      <p:sp>
        <p:nvSpPr>
          <p:cNvPr id="11" name="Text 9"/>
          <p:cNvSpPr/>
          <p:nvPr/>
        </p:nvSpPr>
        <p:spPr>
          <a:xfrm>
            <a:off x="914400" y="4434840"/>
            <a:ext cx="10332720" cy="1371600"/>
          </a:xfrm>
          <a:prstGeom prst="rect">
            <a:avLst/>
          </a:prstGeom>
          <a:noFill/>
          <a:ln/>
        </p:spPr>
        <p:txBody>
          <a:bodyPr wrap="square" lIns="0" tIns="0" rIns="0" bIns="0" rtlCol="0" anchor="ctr"/>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Pentru toate acestea e nevoie de un medic care examinează un pacient, cere o probă, pune un diagnostic și îl declară.</a:t>
            </a:r>
            <a:endParaRPr 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5F2"/>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OPT_DETECTIVI/active/img/formulare_focar_cdc_phil31353.jpg">    </p:cNvPr>
          <p:cNvPicPr>
            <a:picLocks noChangeAspect="1"/>
          </p:cNvPicPr>
          <p:nvPr/>
        </p:nvPicPr>
        <p:blipFill>
          <a:blip r:embed="rId1"/>
          <a:srcRect l="0" r="0" t="0" b="0"/>
          <a:stretch/>
        </p:blipFill>
        <p:spPr>
          <a:xfrm>
            <a:off x="7726680" y="0"/>
            <a:ext cx="4462272" cy="5577840"/>
          </a:xfrm>
          <a:prstGeom prst="rect">
            <a:avLst/>
          </a:prstGeom>
        </p:spPr>
      </p:pic>
      <p:sp>
        <p:nvSpPr>
          <p:cNvPr id="3" name="Text 0"/>
          <p:cNvSpPr/>
          <p:nvPr/>
        </p:nvSpPr>
        <p:spPr>
          <a:xfrm>
            <a:off x="7818120" y="5623560"/>
            <a:ext cx="4297680" cy="219456"/>
          </a:xfrm>
          <a:prstGeom prst="rect">
            <a:avLst/>
          </a:prstGeom>
          <a:noFill/>
          <a:ln/>
        </p:spPr>
        <p:txBody>
          <a:bodyPr wrap="square" lIns="0" tIns="0" rIns="0" bIns="0" rtlCol="0" anchor="ctr"/>
          <a:lstStyle/>
          <a:p>
            <a:pPr algn="l" indent="0" marL="0">
              <a:buNone/>
            </a:pPr>
            <a:r>
              <a:rPr lang="en-US" sz="850" i="1" dirty="0">
                <a:solidFill>
                  <a:srgbClr val="585A64"/>
                </a:solidFill>
                <a:latin typeface="Palatino Linotype" pitchFamily="34" charset="0"/>
                <a:ea typeface="Palatino Linotype" pitchFamily="34" charset="-122"/>
                <a:cs typeface="Palatino Linotype" pitchFamily="34" charset="-120"/>
              </a:rPr>
              <a:t>Foto: CDC/Amy Nham · domeniu public · CDC PHIL</a:t>
            </a:r>
            <a:endParaRPr lang="en-US" sz="850" dirty="0"/>
          </a:p>
        </p:txBody>
      </p:sp>
      <p:sp>
        <p:nvSpPr>
          <p:cNvPr id="4" name="Text 1"/>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UNDE ÎNCEPE LANȚUL</a:t>
            </a:r>
            <a:endParaRPr lang="en-US" sz="1300" dirty="0"/>
          </a:p>
        </p:txBody>
      </p:sp>
      <p:sp>
        <p:nvSpPr>
          <p:cNvPr id="5" name="Text 2"/>
          <p:cNvSpPr/>
          <p:nvPr/>
        </p:nvSpPr>
        <p:spPr>
          <a:xfrm>
            <a:off x="594360" y="731520"/>
            <a:ext cx="6858000" cy="91440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Fișa de declarare: intrarea în sistem</a:t>
            </a:r>
            <a:endParaRPr lang="en-US" sz="3000" dirty="0"/>
          </a:p>
        </p:txBody>
      </p:sp>
      <p:sp>
        <p:nvSpPr>
          <p:cNvPr id="6" name="Text 3"/>
          <p:cNvSpPr/>
          <p:nvPr/>
        </p:nvSpPr>
        <p:spPr>
          <a:xfrm>
            <a:off x="594360" y="1783080"/>
            <a:ext cx="6858000" cy="17373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Între bolnav și cifra oficială: medicul, proba, testul, raportarea. Apele uzate ocolesc primele trepte; fără ultimele, nimeni nu ar ști ce boală este.</a:t>
            </a:r>
            <a:endParaRPr lang="en-US" sz="1700" dirty="0"/>
          </a:p>
        </p:txBody>
      </p:sp>
      <p:sp>
        <p:nvSpPr>
          <p:cNvPr id="7" name="Shape 4"/>
          <p:cNvSpPr/>
          <p:nvPr/>
        </p:nvSpPr>
        <p:spPr>
          <a:xfrm>
            <a:off x="594360" y="3611880"/>
            <a:ext cx="6858000" cy="1325880"/>
          </a:xfrm>
          <a:prstGeom prst="roundRect">
            <a:avLst>
              <a:gd name="adj" fmla="val 6207"/>
            </a:avLst>
          </a:prstGeom>
          <a:solidFill>
            <a:srgbClr val="ECEAE4"/>
          </a:solidFill>
          <a:ln w="12700">
            <a:solidFill>
              <a:srgbClr val="ECEAE4"/>
            </a:solidFill>
            <a:prstDash val="solid"/>
          </a:ln>
        </p:spPr>
        <p:txBody>
          <a:bodyPr/>
          <a:p/>
        </p:txBody>
      </p:sp>
      <p:sp>
        <p:nvSpPr>
          <p:cNvPr id="8" name="Text 5"/>
          <p:cNvSpPr/>
          <p:nvPr/>
        </p:nvSpPr>
        <p:spPr>
          <a:xfrm>
            <a:off x="868680" y="3611880"/>
            <a:ext cx="6309360" cy="13258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În România, datele despre bolile transmisibile se raportează după metodologia aprobată prin Hotărârea nr. 657/2022.</a:t>
            </a:r>
            <a:endParaRPr lang="en-US" sz="1600" dirty="0"/>
          </a:p>
        </p:txBody>
      </p:sp>
      <p:sp>
        <p:nvSpPr>
          <p:cNvPr id="9" name="Text 6"/>
          <p:cNvSpPr/>
          <p:nvPr/>
        </p:nvSpPr>
        <p:spPr>
          <a:xfrm>
            <a:off x="594360" y="5120640"/>
            <a:ext cx="6858000" cy="731520"/>
          </a:xfrm>
          <a:prstGeom prst="rect">
            <a:avLst/>
          </a:prstGeom>
          <a:noFill/>
          <a:ln/>
        </p:spPr>
        <p:txBody>
          <a:bodyPr wrap="square" lIns="0" tIns="0" rIns="0" bIns="0" rtlCol="0" anchor="t"/>
          <a:lstStyle/>
          <a:p>
            <a:pPr indent="0" marL="0">
              <a:buNone/>
            </a:pPr>
            <a:r>
              <a:rPr lang="en-US" sz="1500" i="1" dirty="0">
                <a:solidFill>
                  <a:srgbClr val="B02532"/>
                </a:solidFill>
                <a:latin typeface="Palatino Linotype" pitchFamily="34" charset="0"/>
                <a:ea typeface="Palatino Linotype" pitchFamily="34" charset="-122"/>
                <a:cs typeface="Palatino Linotype" pitchFamily="34" charset="-120"/>
              </a:rPr>
              <a:t>Dacă și cum ajung semnalele noi în același sistem, în România, nu s-a verificat.</a:t>
            </a:r>
            <a:endParaRPr lang="en-US" sz="1500" dirty="0"/>
          </a:p>
        </p:txBody>
      </p:sp>
      <p:sp>
        <p:nvSpPr>
          <p:cNvPr id="10" name="Text 7"/>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registru A508, A585.</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JOC DE ROL, APOI VOT</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DOI VOLUNTARI · TREI MINUTE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Al treilea student cu icter, din același cămin</a:t>
            </a:r>
            <a:endParaRPr lang="en-US" sz="3000" dirty="0"/>
          </a:p>
        </p:txBody>
      </p:sp>
      <p:sp>
        <p:nvSpPr>
          <p:cNvPr id="6" name="Shape 4"/>
          <p:cNvSpPr/>
          <p:nvPr/>
        </p:nvSpPr>
        <p:spPr>
          <a:xfrm>
            <a:off x="594360" y="1600200"/>
            <a:ext cx="7635240" cy="1417320"/>
          </a:xfrm>
          <a:prstGeom prst="roundRect">
            <a:avLst>
              <a:gd name="adj" fmla="val 5806"/>
            </a:avLst>
          </a:prstGeom>
          <a:solidFill>
            <a:srgbClr val="1D1F2B"/>
          </a:solidFill>
          <a:ln w="12700">
            <a:solidFill>
              <a:srgbClr val="1D1F2B"/>
            </a:solidFill>
            <a:prstDash val="solid"/>
          </a:ln>
        </p:spPr>
        <p:txBody>
          <a:bodyPr/>
          <a:p/>
        </p:txBody>
      </p:sp>
      <p:sp>
        <p:nvSpPr>
          <p:cNvPr id="7" name="Text 5"/>
          <p:cNvSpPr/>
          <p:nvPr/>
        </p:nvSpPr>
        <p:spPr>
          <a:xfrm>
            <a:off x="868680" y="1600200"/>
            <a:ext cx="2286000" cy="1417320"/>
          </a:xfrm>
          <a:prstGeom prst="rect">
            <a:avLst/>
          </a:prstGeom>
          <a:noFill/>
          <a:ln/>
        </p:spPr>
        <p:txBody>
          <a:bodyPr wrap="square" lIns="0" tIns="0" rIns="0" bIns="0" rtlCol="0" anchor="ctr"/>
          <a:lstStyle/>
          <a:p>
            <a:pPr indent="0" marL="0">
              <a:buNone/>
            </a:pPr>
            <a:r>
              <a:rPr lang="en-US" sz="1800" b="1" dirty="0">
                <a:solidFill>
                  <a:srgbClr val="FF4757"/>
                </a:solidFill>
                <a:latin typeface="Palatino Linotype" pitchFamily="34" charset="0"/>
                <a:ea typeface="Palatino Linotype" pitchFamily="34" charset="-122"/>
                <a:cs typeface="Palatino Linotype" pitchFamily="34" charset="-120"/>
              </a:rPr>
              <a:t>Rezidentul de gardă</a:t>
            </a:r>
            <a:endParaRPr lang="en-US" sz="1800" dirty="0"/>
          </a:p>
        </p:txBody>
      </p:sp>
      <p:sp>
        <p:nvSpPr>
          <p:cNvPr id="8" name="Text 6"/>
          <p:cNvSpPr/>
          <p:nvPr/>
        </p:nvSpPr>
        <p:spPr>
          <a:xfrm>
            <a:off x="3154680" y="1600200"/>
            <a:ext cx="4892040" cy="141732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Boli infecțioase. Tocmai a internat al treilea student din același cămin cu icter, în aceeași săptămână. Sună acum sau completează fișa mâine?</a:t>
            </a:r>
            <a:endParaRPr lang="en-US" sz="1600" dirty="0"/>
          </a:p>
        </p:txBody>
      </p:sp>
      <p:sp>
        <p:nvSpPr>
          <p:cNvPr id="9" name="Shape 7"/>
          <p:cNvSpPr/>
          <p:nvPr/>
        </p:nvSpPr>
        <p:spPr>
          <a:xfrm>
            <a:off x="594360" y="3154680"/>
            <a:ext cx="7635240" cy="731520"/>
          </a:xfrm>
          <a:prstGeom prst="roundRect">
            <a:avLst>
              <a:gd name="adj" fmla="val 11250"/>
            </a:avLst>
          </a:prstGeom>
          <a:solidFill>
            <a:srgbClr val="1D1F2B"/>
          </a:solidFill>
          <a:ln w="12700">
            <a:solidFill>
              <a:srgbClr val="1D1F2B"/>
            </a:solidFill>
            <a:prstDash val="solid"/>
          </a:ln>
        </p:spPr>
        <p:txBody>
          <a:bodyPr/>
          <a:p/>
        </p:txBody>
      </p:sp>
      <p:sp>
        <p:nvSpPr>
          <p:cNvPr id="10" name="Text 8"/>
          <p:cNvSpPr/>
          <p:nvPr/>
        </p:nvSpPr>
        <p:spPr>
          <a:xfrm>
            <a:off x="868680" y="3154680"/>
            <a:ext cx="2286000" cy="731520"/>
          </a:xfrm>
          <a:prstGeom prst="rect">
            <a:avLst/>
          </a:prstGeom>
          <a:noFill/>
          <a:ln/>
        </p:spPr>
        <p:txBody>
          <a:bodyPr wrap="square" lIns="0" tIns="0" rIns="0" bIns="0" rtlCol="0" anchor="ctr"/>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Medicul de la DSP</a:t>
            </a:r>
            <a:endParaRPr lang="en-US" sz="1800" dirty="0"/>
          </a:p>
        </p:txBody>
      </p:sp>
      <p:sp>
        <p:nvSpPr>
          <p:cNvPr id="11" name="Text 9"/>
          <p:cNvSpPr/>
          <p:nvPr/>
        </p:nvSpPr>
        <p:spPr>
          <a:xfrm>
            <a:off x="3154680" y="3154680"/>
            <a:ext cx="4892040" cy="73152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Pune trei întrebări.</a:t>
            </a:r>
            <a:endParaRPr lang="en-US" sz="1600" dirty="0"/>
          </a:p>
        </p:txBody>
      </p:sp>
      <p:sp>
        <p:nvSpPr>
          <p:cNvPr id="12" name="Text 10"/>
          <p:cNvSpPr/>
          <p:nvPr/>
        </p:nvSpPr>
        <p:spPr>
          <a:xfrm>
            <a:off x="594360" y="4114800"/>
            <a:ext cx="7635240" cy="54864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A făcut bine rezidentul că a sunat în aceeași seară?</a:t>
            </a:r>
            <a:endParaRPr lang="en-US" sz="1800" dirty="0"/>
          </a:p>
        </p:txBody>
      </p:sp>
      <p:sp>
        <p:nvSpPr>
          <p:cNvPr id="13" name="Shape 11"/>
          <p:cNvSpPr/>
          <p:nvPr/>
        </p:nvSpPr>
        <p:spPr>
          <a:xfrm>
            <a:off x="594360" y="4800600"/>
            <a:ext cx="2377440" cy="329184"/>
          </a:xfrm>
          <a:prstGeom prst="roundRect">
            <a:avLst>
              <a:gd name="adj" fmla="val 50000"/>
            </a:avLst>
          </a:prstGeom>
          <a:solidFill>
            <a:srgbClr val="272A38"/>
          </a:solidFill>
          <a:ln w="12700">
            <a:solidFill>
              <a:srgbClr val="272A38"/>
            </a:solidFill>
            <a:prstDash val="solid"/>
          </a:ln>
        </p:spPr>
        <p:txBody>
          <a:bodyPr/>
          <a:p/>
        </p:txBody>
      </p:sp>
      <p:sp>
        <p:nvSpPr>
          <p:cNvPr id="14" name="Text 12"/>
          <p:cNvSpPr/>
          <p:nvPr/>
        </p:nvSpPr>
        <p:spPr>
          <a:xfrm>
            <a:off x="594360" y="4800600"/>
            <a:ext cx="237744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Da</a:t>
            </a:r>
            <a:endParaRPr lang="en-US" sz="1400" dirty="0"/>
          </a:p>
        </p:txBody>
      </p:sp>
      <p:sp>
        <p:nvSpPr>
          <p:cNvPr id="15" name="Shape 13"/>
          <p:cNvSpPr/>
          <p:nvPr/>
        </p:nvSpPr>
        <p:spPr>
          <a:xfrm>
            <a:off x="3200400" y="4800600"/>
            <a:ext cx="2377440" cy="329184"/>
          </a:xfrm>
          <a:prstGeom prst="roundRect">
            <a:avLst>
              <a:gd name="adj" fmla="val 50000"/>
            </a:avLst>
          </a:prstGeom>
          <a:solidFill>
            <a:srgbClr val="272A38"/>
          </a:solidFill>
          <a:ln w="12700">
            <a:solidFill>
              <a:srgbClr val="272A38"/>
            </a:solidFill>
            <a:prstDash val="solid"/>
          </a:ln>
        </p:spPr>
        <p:txBody>
          <a:bodyPr/>
          <a:p/>
        </p:txBody>
      </p:sp>
      <p:sp>
        <p:nvSpPr>
          <p:cNvPr id="16" name="Text 14"/>
          <p:cNvSpPr/>
          <p:nvPr/>
        </p:nvSpPr>
        <p:spPr>
          <a:xfrm>
            <a:off x="3200400" y="4800600"/>
            <a:ext cx="237744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Nu, ajungea fișa</a:t>
            </a:r>
            <a:endParaRPr lang="en-US" sz="1400" dirty="0"/>
          </a:p>
        </p:txBody>
      </p:sp>
      <p:sp>
        <p:nvSpPr>
          <p:cNvPr id="17" name="Shape 15"/>
          <p:cNvSpPr/>
          <p:nvPr/>
        </p:nvSpPr>
        <p:spPr>
          <a:xfrm>
            <a:off x="5806440" y="4800600"/>
            <a:ext cx="2377440" cy="329184"/>
          </a:xfrm>
          <a:prstGeom prst="roundRect">
            <a:avLst>
              <a:gd name="adj" fmla="val 50000"/>
            </a:avLst>
          </a:prstGeom>
          <a:solidFill>
            <a:srgbClr val="272A38"/>
          </a:solidFill>
          <a:ln w="12700">
            <a:solidFill>
              <a:srgbClr val="272A38"/>
            </a:solidFill>
            <a:prstDash val="solid"/>
          </a:ln>
        </p:spPr>
        <p:txBody>
          <a:bodyPr/>
          <a:p/>
        </p:txBody>
      </p:sp>
      <p:sp>
        <p:nvSpPr>
          <p:cNvPr id="18" name="Text 16"/>
          <p:cNvSpPr/>
          <p:nvPr/>
        </p:nvSpPr>
        <p:spPr>
          <a:xfrm>
            <a:off x="5806440" y="4800600"/>
            <a:ext cx="237744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Nu știu</a:t>
            </a:r>
            <a:endParaRPr lang="en-US" sz="1400" dirty="0"/>
          </a:p>
        </p:txBody>
      </p:sp>
      <p:sp>
        <p:nvSpPr>
          <p:cNvPr id="19" name="Shape 17"/>
          <p:cNvSpPr/>
          <p:nvPr/>
        </p:nvSpPr>
        <p:spPr>
          <a:xfrm>
            <a:off x="8503920" y="1600200"/>
            <a:ext cx="3063240" cy="3063240"/>
          </a:xfrm>
          <a:prstGeom prst="roundRect">
            <a:avLst>
              <a:gd name="adj" fmla="val 2687"/>
            </a:avLst>
          </a:prstGeom>
          <a:solidFill>
            <a:srgbClr val="FFFFFF"/>
          </a:solidFill>
          <a:ln w="12700">
            <a:solidFill>
              <a:srgbClr val="FFFFFF"/>
            </a:solidFill>
            <a:prstDash val="solid"/>
          </a:ln>
        </p:spPr>
        <p:txBody>
          <a:bodyPr/>
          <a:p/>
        </p:txBody>
      </p:sp>
      <p:sp>
        <p:nvSpPr>
          <p:cNvPr id="21" name="Text 19"/>
          <p:cNvSpPr/>
          <p:nvPr/>
        </p:nvSpPr>
        <p:spPr>
          <a:xfrm>
            <a:off x="594360" y="5532120"/>
            <a:ext cx="10972800" cy="45720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500" dirty="0"/>
          </a:p>
        </p:txBody>
      </p:sp>
      <p:pic>
        <p:nvPicPr>
          <p:cNvPr id="22" name="Picture 21" descr="Mentimeter_OPT_DETECTIVI_C04.png"/>
          <p:cNvPicPr>
            <a:picLocks noChangeAspect="1"/>
          </p:cNvPicPr>
          <p:nvPr/>
        </p:nvPicPr>
        <p:blipFill>
          <a:blip r:embed="rId3"/>
          <a:stretch>
            <a:fillRect/>
          </a:stretch>
        </p:blipFill>
        <p:spPr>
          <a:xfrm>
            <a:off x="8817610" y="1600200"/>
            <a:ext cx="2435860" cy="2435860"/>
          </a:xfrm>
          <a:prstGeom prst="rect">
            <a:avLst/>
          </a:prstGeom>
        </p:spPr>
      </p:pic>
      <p:sp>
        <p:nvSpPr>
          <p:cNvPr id="23" name="TextBox 22"/>
          <p:cNvSpPr txBox="1"/>
          <p:nvPr/>
        </p:nvSpPr>
        <p:spPr>
          <a:xfrm>
            <a:off x="8503920" y="4074160"/>
            <a:ext cx="306324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UNDE S-A MUTAT DECIZIA, PÂNĂ LA URMĂ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De la un singur om la un lanț</a:t>
            </a:r>
            <a:endParaRPr lang="en-US" sz="3200" dirty="0"/>
          </a:p>
        </p:txBody>
      </p:sp>
      <p:sp>
        <p:nvSpPr>
          <p:cNvPr id="4" name="Shape 2"/>
          <p:cNvSpPr/>
          <p:nvPr/>
        </p:nvSpPr>
        <p:spPr>
          <a:xfrm>
            <a:off x="594360" y="1691640"/>
            <a:ext cx="3520440" cy="2514600"/>
          </a:xfrm>
          <a:prstGeom prst="roundRect">
            <a:avLst>
              <a:gd name="adj" fmla="val 3273"/>
            </a:avLst>
          </a:prstGeom>
          <a:solidFill>
            <a:srgbClr val="F4E0E2"/>
          </a:solidFill>
          <a:ln w="12700">
            <a:solidFill>
              <a:srgbClr val="F4E0E2"/>
            </a:solidFill>
            <a:prstDash val="solid"/>
          </a:ln>
        </p:spPr>
        <p:txBody>
          <a:bodyPr/>
          <a:p/>
        </p:txBody>
      </p:sp>
      <p:sp>
        <p:nvSpPr>
          <p:cNvPr id="5" name="Text 3"/>
          <p:cNvSpPr/>
          <p:nvPr/>
        </p:nvSpPr>
        <p:spPr>
          <a:xfrm>
            <a:off x="868680" y="1828800"/>
            <a:ext cx="3017520" cy="548640"/>
          </a:xfrm>
          <a:prstGeom prst="rect">
            <a:avLst/>
          </a:prstGeom>
          <a:noFill/>
          <a:ln/>
        </p:spPr>
        <p:txBody>
          <a:bodyPr wrap="square" lIns="0" tIns="0" rIns="0" bIns="0" rtlCol="0" anchor="t"/>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Semnalul</a:t>
            </a:r>
            <a:endParaRPr lang="en-US" sz="2400" dirty="0"/>
          </a:p>
        </p:txBody>
      </p:sp>
      <p:sp>
        <p:nvSpPr>
          <p:cNvPr id="6" name="Text 4"/>
          <p:cNvSpPr/>
          <p:nvPr/>
        </p:nvSpPr>
        <p:spPr>
          <a:xfrm>
            <a:off x="868680" y="2468880"/>
            <a:ext cx="3017520" cy="16459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vine din cabinete, laboratoare, canalizare, telefoane, căutări</a:t>
            </a:r>
            <a:endParaRPr lang="en-US" sz="1600" dirty="0"/>
          </a:p>
        </p:txBody>
      </p:sp>
      <p:sp>
        <p:nvSpPr>
          <p:cNvPr id="7" name="Shape 5"/>
          <p:cNvSpPr/>
          <p:nvPr/>
        </p:nvSpPr>
        <p:spPr>
          <a:xfrm>
            <a:off x="4343400" y="1691640"/>
            <a:ext cx="3520440" cy="2514600"/>
          </a:xfrm>
          <a:prstGeom prst="roundRect">
            <a:avLst>
              <a:gd name="adj" fmla="val 3273"/>
            </a:avLst>
          </a:prstGeom>
          <a:solidFill>
            <a:srgbClr val="F6EDD5"/>
          </a:solidFill>
          <a:ln w="12700">
            <a:solidFill>
              <a:srgbClr val="F6EDD5"/>
            </a:solidFill>
            <a:prstDash val="solid"/>
          </a:ln>
        </p:spPr>
        <p:txBody>
          <a:bodyPr/>
          <a:p/>
        </p:txBody>
      </p:sp>
      <p:sp>
        <p:nvSpPr>
          <p:cNvPr id="8" name="Text 6"/>
          <p:cNvSpPr/>
          <p:nvPr/>
        </p:nvSpPr>
        <p:spPr>
          <a:xfrm>
            <a:off x="4617720" y="1828800"/>
            <a:ext cx="3017520" cy="548640"/>
          </a:xfrm>
          <a:prstGeom prst="rect">
            <a:avLst/>
          </a:prstGeom>
          <a:noFill/>
          <a:ln/>
        </p:spPr>
        <p:txBody>
          <a:bodyPr wrap="square" lIns="0" tIns="0" rIns="0" bIns="0" rtlCol="0" anchor="t"/>
          <a:lstStyle/>
          <a:p>
            <a:pPr indent="0" marL="0">
              <a:buNone/>
            </a:pPr>
            <a:r>
              <a:rPr lang="en-US" sz="2400" b="1" dirty="0">
                <a:solidFill>
                  <a:srgbClr val="8A6100"/>
                </a:solidFill>
                <a:latin typeface="Palatino Linotype" pitchFamily="34" charset="0"/>
                <a:ea typeface="Palatino Linotype" pitchFamily="34" charset="-122"/>
                <a:cs typeface="Palatino Linotype" pitchFamily="34" charset="-120"/>
              </a:rPr>
              <a:t>Argumentul</a:t>
            </a:r>
            <a:endParaRPr lang="en-US" sz="2400" dirty="0"/>
          </a:p>
        </p:txBody>
      </p:sp>
      <p:sp>
        <p:nvSpPr>
          <p:cNvPr id="9" name="Text 7"/>
          <p:cNvSpPr/>
          <p:nvPr/>
        </p:nvSpPr>
        <p:spPr>
          <a:xfrm>
            <a:off x="4617720" y="2468880"/>
            <a:ext cx="3017520" cy="16459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îl construiesc echipe: laboratorul, epidemiologul, statisticianul</a:t>
            </a:r>
            <a:endParaRPr lang="en-US" sz="1600" dirty="0"/>
          </a:p>
        </p:txBody>
      </p:sp>
      <p:sp>
        <p:nvSpPr>
          <p:cNvPr id="10" name="Shape 8"/>
          <p:cNvSpPr/>
          <p:nvPr/>
        </p:nvSpPr>
        <p:spPr>
          <a:xfrm>
            <a:off x="8092440" y="1691640"/>
            <a:ext cx="3520440" cy="2514600"/>
          </a:xfrm>
          <a:prstGeom prst="roundRect">
            <a:avLst>
              <a:gd name="adj" fmla="val 3273"/>
            </a:avLst>
          </a:prstGeom>
          <a:solidFill>
            <a:srgbClr val="E1F0EC"/>
          </a:solidFill>
          <a:ln w="12700">
            <a:solidFill>
              <a:srgbClr val="E1F0EC"/>
            </a:solidFill>
            <a:prstDash val="solid"/>
          </a:ln>
        </p:spPr>
        <p:txBody>
          <a:bodyPr/>
          <a:p/>
        </p:txBody>
      </p:sp>
      <p:sp>
        <p:nvSpPr>
          <p:cNvPr id="11" name="Text 9"/>
          <p:cNvSpPr/>
          <p:nvPr/>
        </p:nvSpPr>
        <p:spPr>
          <a:xfrm>
            <a:off x="8366760" y="1828800"/>
            <a:ext cx="3017520" cy="548640"/>
          </a:xfrm>
          <a:prstGeom prst="rect">
            <a:avLst/>
          </a:prstGeom>
          <a:noFill/>
          <a:ln/>
        </p:spPr>
        <p:txBody>
          <a:bodyPr wrap="square" lIns="0" tIns="0" rIns="0" bIns="0" rtlCol="0" anchor="t"/>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Decizia</a:t>
            </a:r>
            <a:endParaRPr lang="en-US" sz="2400" dirty="0"/>
          </a:p>
        </p:txBody>
      </p:sp>
      <p:sp>
        <p:nvSpPr>
          <p:cNvPr id="12" name="Text 10"/>
          <p:cNvSpPr/>
          <p:nvPr/>
        </p:nvSpPr>
        <p:spPr>
          <a:xfrm>
            <a:off x="8366760" y="2468880"/>
            <a:ext cx="3017520" cy="16459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o iau instituții, după reguli: la Londra, un comitet de experți, apoi serviciul public de sănătate</a:t>
            </a:r>
            <a:endParaRPr lang="en-US" sz="1600" dirty="0"/>
          </a:p>
        </p:txBody>
      </p:sp>
      <p:sp>
        <p:nvSpPr>
          <p:cNvPr id="13" name="Shape 11"/>
          <p:cNvSpPr/>
          <p:nvPr/>
        </p:nvSpPr>
        <p:spPr>
          <a:xfrm>
            <a:off x="594360" y="4434840"/>
            <a:ext cx="10972800" cy="1371600"/>
          </a:xfrm>
          <a:prstGeom prst="roundRect">
            <a:avLst>
              <a:gd name="adj" fmla="val 6000"/>
            </a:avLst>
          </a:prstGeom>
          <a:solidFill>
            <a:srgbClr val="11121A"/>
          </a:solidFill>
          <a:ln w="12700">
            <a:solidFill>
              <a:srgbClr val="11121A"/>
            </a:solidFill>
            <a:prstDash val="solid"/>
          </a:ln>
        </p:spPr>
        <p:txBody>
          <a:bodyPr/>
          <a:p/>
        </p:txBody>
      </p:sp>
      <p:sp>
        <p:nvSpPr>
          <p:cNvPr id="14" name="Text 12"/>
          <p:cNvSpPr/>
          <p:nvPr/>
        </p:nvSpPr>
        <p:spPr>
          <a:xfrm>
            <a:off x="914400" y="4434840"/>
            <a:ext cx="10332720" cy="1371600"/>
          </a:xfrm>
          <a:prstGeom prst="rect">
            <a:avLst/>
          </a:prstGeom>
          <a:noFill/>
          <a:ln/>
        </p:spPr>
        <p:txBody>
          <a:bodyPr wrap="square" lIns="0" tIns="0" rIns="0" bIns="0" rtlCol="0" anchor="ctr"/>
          <a:lstStyle/>
          <a:p>
            <a:pPr indent="0" marL="0">
              <a:buNone/>
            </a:pPr>
            <a:r>
              <a:rPr lang="en-US" sz="2100" b="1" dirty="0">
                <a:solidFill>
                  <a:srgbClr val="FFFFFF"/>
                </a:solidFill>
                <a:latin typeface="Palatino Linotype" pitchFamily="34" charset="0"/>
                <a:ea typeface="Palatino Linotype" pitchFamily="34" charset="-122"/>
                <a:cs typeface="Palatino Linotype" pitchFamily="34" charset="-120"/>
              </a:rPr>
              <a:t>Când există un bolnav, veriga voastră, cea de la patul lui, este prima și rămâne de neînlocuit.</a:t>
            </a:r>
            <a:endParaRPr lang="en-US" sz="2100" dirty="0"/>
          </a:p>
        </p:txBody>
      </p:sp>
      <p:sp>
        <p:nvSpPr>
          <p:cNvPr id="15" name="Text 13"/>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registru A002, A570, A588.</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VOTUL DE LA ÎNCEPUT</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Credeți în continuare toate cele trei părți ale răspunsului?</a:t>
            </a:r>
            <a:endParaRPr lang="en-US" sz="2800" dirty="0"/>
          </a:p>
        </p:txBody>
      </p:sp>
      <p:sp>
        <p:nvSpPr>
          <p:cNvPr id="6" name="Shape 4"/>
          <p:cNvSpPr/>
          <p:nvPr/>
        </p:nvSpPr>
        <p:spPr>
          <a:xfrm>
            <a:off x="594360" y="1783080"/>
            <a:ext cx="7635240" cy="749808"/>
          </a:xfrm>
          <a:prstGeom prst="roundRect">
            <a:avLst>
              <a:gd name="adj" fmla="val 10976"/>
            </a:avLst>
          </a:prstGeom>
          <a:solidFill>
            <a:srgbClr val="1D1F2B"/>
          </a:solidFill>
          <a:ln w="12700">
            <a:solidFill>
              <a:srgbClr val="1D1F2B"/>
            </a:solidFill>
            <a:prstDash val="solid"/>
          </a:ln>
        </p:spPr>
        <p:txBody>
          <a:bodyPr/>
          <a:p/>
        </p:txBody>
      </p:sp>
      <p:sp>
        <p:nvSpPr>
          <p:cNvPr id="7" name="Shape 5"/>
          <p:cNvSpPr/>
          <p:nvPr/>
        </p:nvSpPr>
        <p:spPr>
          <a:xfrm>
            <a:off x="914400" y="1947672"/>
            <a:ext cx="420624" cy="420624"/>
          </a:xfrm>
          <a:prstGeom prst="ellipse">
            <a:avLst/>
          </a:prstGeom>
          <a:solidFill>
            <a:srgbClr val="FFC24B"/>
          </a:solidFill>
          <a:ln/>
        </p:spPr>
        <p:txBody>
          <a:bodyPr/>
          <a:p/>
        </p:txBody>
      </p:sp>
      <p:sp>
        <p:nvSpPr>
          <p:cNvPr id="8" name="Text 6"/>
          <p:cNvSpPr/>
          <p:nvPr/>
        </p:nvSpPr>
        <p:spPr>
          <a:xfrm>
            <a:off x="914400" y="19476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1783080"/>
            <a:ext cx="6355080" cy="74980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Da, pe toate trei</a:t>
            </a:r>
            <a:endParaRPr lang="en-US" sz="1700" dirty="0"/>
          </a:p>
        </p:txBody>
      </p:sp>
      <p:sp>
        <p:nvSpPr>
          <p:cNvPr id="10" name="Shape 8"/>
          <p:cNvSpPr/>
          <p:nvPr/>
        </p:nvSpPr>
        <p:spPr>
          <a:xfrm>
            <a:off x="594360" y="2679192"/>
            <a:ext cx="7635240" cy="749808"/>
          </a:xfrm>
          <a:prstGeom prst="roundRect">
            <a:avLst>
              <a:gd name="adj" fmla="val 10976"/>
            </a:avLst>
          </a:prstGeom>
          <a:solidFill>
            <a:srgbClr val="1D1F2B"/>
          </a:solidFill>
          <a:ln w="12700">
            <a:solidFill>
              <a:srgbClr val="1D1F2B"/>
            </a:solidFill>
            <a:prstDash val="solid"/>
          </a:ln>
        </p:spPr>
        <p:txBody>
          <a:bodyPr/>
          <a:p/>
        </p:txBody>
      </p:sp>
      <p:sp>
        <p:nvSpPr>
          <p:cNvPr id="11" name="Shape 9"/>
          <p:cNvSpPr/>
          <p:nvPr/>
        </p:nvSpPr>
        <p:spPr>
          <a:xfrm>
            <a:off x="914400" y="2843784"/>
            <a:ext cx="420624" cy="420624"/>
          </a:xfrm>
          <a:prstGeom prst="ellipse">
            <a:avLst/>
          </a:prstGeom>
          <a:solidFill>
            <a:srgbClr val="FFC24B"/>
          </a:solidFill>
          <a:ln/>
        </p:spPr>
        <p:txBody>
          <a:bodyPr/>
          <a:p/>
        </p:txBody>
      </p:sp>
      <p:sp>
        <p:nvSpPr>
          <p:cNvPr id="12" name="Text 10"/>
          <p:cNvSpPr/>
          <p:nvPr/>
        </p:nvSpPr>
        <p:spPr>
          <a:xfrm>
            <a:off x="914400" y="28437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2679192"/>
            <a:ext cx="6355080" cy="74980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Nu cred că decizia a rămas la oameni</a:t>
            </a:r>
            <a:endParaRPr lang="en-US" sz="1700" dirty="0"/>
          </a:p>
        </p:txBody>
      </p:sp>
      <p:sp>
        <p:nvSpPr>
          <p:cNvPr id="14" name="Shape 12"/>
          <p:cNvSpPr/>
          <p:nvPr/>
        </p:nvSpPr>
        <p:spPr>
          <a:xfrm>
            <a:off x="594360" y="3575304"/>
            <a:ext cx="7635240" cy="749808"/>
          </a:xfrm>
          <a:prstGeom prst="roundRect">
            <a:avLst>
              <a:gd name="adj" fmla="val 10976"/>
            </a:avLst>
          </a:prstGeom>
          <a:solidFill>
            <a:srgbClr val="1D1F2B"/>
          </a:solidFill>
          <a:ln w="12700">
            <a:solidFill>
              <a:srgbClr val="1D1F2B"/>
            </a:solidFill>
            <a:prstDash val="solid"/>
          </a:ln>
        </p:spPr>
        <p:txBody>
          <a:bodyPr/>
          <a:p/>
        </p:txBody>
      </p:sp>
      <p:sp>
        <p:nvSpPr>
          <p:cNvPr id="15" name="Shape 13"/>
          <p:cNvSpPr/>
          <p:nvPr/>
        </p:nvSpPr>
        <p:spPr>
          <a:xfrm>
            <a:off x="914400" y="3739896"/>
            <a:ext cx="420624" cy="420624"/>
          </a:xfrm>
          <a:prstGeom prst="ellipse">
            <a:avLst/>
          </a:prstGeom>
          <a:solidFill>
            <a:srgbClr val="FFC24B"/>
          </a:solidFill>
          <a:ln/>
        </p:spPr>
        <p:txBody>
          <a:bodyPr/>
          <a:p/>
        </p:txBody>
      </p:sp>
      <p:sp>
        <p:nvSpPr>
          <p:cNvPr id="16" name="Text 14"/>
          <p:cNvSpPr/>
          <p:nvPr/>
        </p:nvSpPr>
        <p:spPr>
          <a:xfrm>
            <a:off x="914400" y="373989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3575304"/>
            <a:ext cx="6355080" cy="74980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Nu cred că medicul rămâne temelia</a:t>
            </a:r>
            <a:endParaRPr lang="en-US" sz="1700" dirty="0"/>
          </a:p>
        </p:txBody>
      </p:sp>
      <p:sp>
        <p:nvSpPr>
          <p:cNvPr id="18" name="Shape 16"/>
          <p:cNvSpPr/>
          <p:nvPr/>
        </p:nvSpPr>
        <p:spPr>
          <a:xfrm>
            <a:off x="594360" y="4471416"/>
            <a:ext cx="7635240" cy="749808"/>
          </a:xfrm>
          <a:prstGeom prst="roundRect">
            <a:avLst>
              <a:gd name="adj" fmla="val 10976"/>
            </a:avLst>
          </a:prstGeom>
          <a:solidFill>
            <a:srgbClr val="1D1F2B"/>
          </a:solidFill>
          <a:ln w="12700">
            <a:solidFill>
              <a:srgbClr val="1D1F2B"/>
            </a:solidFill>
            <a:prstDash val="solid"/>
          </a:ln>
        </p:spPr>
        <p:txBody>
          <a:bodyPr/>
          <a:p/>
        </p:txBody>
      </p:sp>
      <p:sp>
        <p:nvSpPr>
          <p:cNvPr id="19" name="Shape 17"/>
          <p:cNvSpPr/>
          <p:nvPr/>
        </p:nvSpPr>
        <p:spPr>
          <a:xfrm>
            <a:off x="914400" y="4636008"/>
            <a:ext cx="420624" cy="420624"/>
          </a:xfrm>
          <a:prstGeom prst="ellipse">
            <a:avLst/>
          </a:prstGeom>
          <a:solidFill>
            <a:srgbClr val="FFC24B"/>
          </a:solidFill>
          <a:ln/>
        </p:spPr>
        <p:txBody>
          <a:bodyPr/>
          <a:p/>
        </p:txBody>
      </p:sp>
      <p:sp>
        <p:nvSpPr>
          <p:cNvPr id="20" name="Text 18"/>
          <p:cNvSpPr/>
          <p:nvPr/>
        </p:nvSpPr>
        <p:spPr>
          <a:xfrm>
            <a:off x="914400" y="46360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600200" y="4471416"/>
            <a:ext cx="6355080" cy="74980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Nu cred că semnalul s-a mutat</a:t>
            </a:r>
            <a:endParaRPr lang="en-US" sz="1700" dirty="0"/>
          </a:p>
        </p:txBody>
      </p:sp>
      <p:sp>
        <p:nvSpPr>
          <p:cNvPr id="22" name="Shape 20"/>
          <p:cNvSpPr/>
          <p:nvPr/>
        </p:nvSpPr>
        <p:spPr>
          <a:xfrm>
            <a:off x="8503920" y="1783080"/>
            <a:ext cx="3063240" cy="3063240"/>
          </a:xfrm>
          <a:prstGeom prst="roundRect">
            <a:avLst>
              <a:gd name="adj" fmla="val 2687"/>
            </a:avLst>
          </a:prstGeom>
          <a:solidFill>
            <a:srgbClr val="FFFFFF"/>
          </a:solidFill>
          <a:ln w="12700">
            <a:solidFill>
              <a:srgbClr val="FFFFFF"/>
            </a:solidFill>
            <a:prstDash val="solid"/>
          </a:ln>
        </p:spPr>
        <p:txBody>
          <a:bodyPr/>
          <a:p/>
        </p:txBody>
      </p:sp>
      <p:sp>
        <p:nvSpPr>
          <p:cNvPr id="24" name="Text 22"/>
          <p:cNvSpPr/>
          <p:nvPr/>
        </p:nvSpPr>
        <p:spPr>
          <a:xfrm>
            <a:off x="594360" y="5532120"/>
            <a:ext cx="10972800" cy="45720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Răspundeți pe telefon, la codul afișat. Apoi două minute: cine și-a schimbat răspunsul spune de ce.</a:t>
            </a:r>
            <a:endParaRPr lang="en-US" sz="1500" dirty="0"/>
          </a:p>
        </p:txBody>
      </p:sp>
      <p:pic>
        <p:nvPicPr>
          <p:cNvPr id="25" name="Picture 24" descr="Mentimeter_OPT_DETECTIVI_C04.png"/>
          <p:cNvPicPr>
            <a:picLocks noChangeAspect="1"/>
          </p:cNvPicPr>
          <p:nvPr/>
        </p:nvPicPr>
        <p:blipFill>
          <a:blip r:embed="rId3"/>
          <a:stretch>
            <a:fillRect/>
          </a:stretch>
        </p:blipFill>
        <p:spPr>
          <a:xfrm>
            <a:off x="8817610" y="1783080"/>
            <a:ext cx="2435860" cy="2435860"/>
          </a:xfrm>
          <a:prstGeom prst="rect">
            <a:avLst/>
          </a:prstGeom>
        </p:spPr>
      </p:pic>
      <p:sp>
        <p:nvSpPr>
          <p:cNvPr id="26" name="TextBox 25"/>
          <p:cNvSpPr txBox="1"/>
          <p:nvPr/>
        </p:nvSpPr>
        <p:spPr>
          <a:xfrm>
            <a:off x="8503920" y="4257040"/>
            <a:ext cx="306324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KAHOOT</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RECAPITULARE</a:t>
            </a:r>
            <a:endParaRPr lang="en-US" sz="1300" dirty="0"/>
          </a:p>
        </p:txBody>
      </p:sp>
      <p:sp>
        <p:nvSpPr>
          <p:cNvPr id="5" name="Text 3"/>
          <p:cNvSpPr/>
          <p:nvPr/>
        </p:nvSpPr>
        <p:spPr>
          <a:xfrm>
            <a:off x="594360" y="1280160"/>
            <a:ext cx="10972800" cy="91440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Întrebări din cele patru povești de azi</a:t>
            </a:r>
            <a:endParaRPr lang="en-US" sz="4000" dirty="0"/>
          </a:p>
        </p:txBody>
      </p:sp>
      <p:sp>
        <p:nvSpPr>
          <p:cNvPr id="6" name="Text 4"/>
          <p:cNvSpPr/>
          <p:nvPr/>
        </p:nvSpPr>
        <p:spPr>
          <a:xfrm>
            <a:off x="594360" y="2331720"/>
            <a:ext cx="10972800" cy="548640"/>
          </a:xfrm>
          <a:prstGeom prst="rect">
            <a:avLst/>
          </a:prstGeom>
          <a:noFill/>
          <a:ln/>
        </p:spPr>
        <p:txBody>
          <a:bodyPr wrap="square" lIns="0" tIns="0" rIns="0" bIns="0" rtlCol="0" anchor="t"/>
          <a:lstStyle/>
          <a:p>
            <a:pPr indent="0" marL="0">
              <a:buNone/>
            </a:pPr>
            <a:r>
              <a:rPr lang="en-US" sz="2200" dirty="0">
                <a:solidFill>
                  <a:srgbClr val="959BB0"/>
                </a:solidFill>
                <a:latin typeface="Palatino Linotype" pitchFamily="34" charset="0"/>
                <a:ea typeface="Palatino Linotype" pitchFamily="34" charset="-122"/>
                <a:cs typeface="Palatino Linotype" pitchFamily="34" charset="-120"/>
              </a:rPr>
              <a:t>Accesați kahoot.it și introduceți codul jocului.</a:t>
            </a:r>
            <a:endParaRPr lang="en-US" sz="2200" dirty="0"/>
          </a:p>
        </p:txBody>
      </p:sp>
      <p:sp>
        <p:nvSpPr>
          <p:cNvPr id="7" name="Shape 5"/>
          <p:cNvSpPr/>
          <p:nvPr/>
        </p:nvSpPr>
        <p:spPr>
          <a:xfrm>
            <a:off x="594360" y="3200400"/>
            <a:ext cx="5486400" cy="2011680"/>
          </a:xfrm>
          <a:prstGeom prst="roundRect">
            <a:avLst>
              <a:gd name="adj" fmla="val 4091"/>
            </a:avLst>
          </a:prstGeom>
          <a:solidFill>
            <a:srgbClr val="272A38"/>
          </a:solidFill>
          <a:ln w="12700">
            <a:solidFill>
              <a:srgbClr val="272A38"/>
            </a:solidFill>
            <a:prstDash val="solid"/>
          </a:ln>
        </p:spPr>
        <p:txBody>
          <a:bodyPr/>
          <a:p/>
        </p:txBody>
      </p:sp>
      <p:sp>
        <p:nvSpPr>
          <p:cNvPr id="8" name="Text 6"/>
          <p:cNvSpPr/>
          <p:nvPr/>
        </p:nvSpPr>
        <p:spPr>
          <a:xfrm>
            <a:off x="594360" y="3200400"/>
            <a:ext cx="5486400" cy="2011680"/>
          </a:xfrm>
          <a:prstGeom prst="rect">
            <a:avLst/>
          </a:prstGeom>
          <a:noFill/>
          <a:ln/>
        </p:spPr>
        <p:txBody>
          <a:bodyPr wrap="square" lIns="228600" tIns="0" rIns="228600" bIns="0" rtlCol="0" anchor="ctr"/>
          <a:lstStyle/>
          <a:p>
            <a:pPr algn="ctr" indent="0" marL="0">
              <a:buNone/>
            </a:pPr>
            <a:r>
              <a:rPr lang="en-US" sz="1800" dirty="0" i="1">
                <a:solidFill>
                  <a:srgbClr val="959BB0"/>
                </a:solidFill>
                <a:latin typeface="Palatino Linotype" pitchFamily="34" charset="0"/>
                <a:ea typeface="Palatino Linotype" pitchFamily="34" charset="-122"/>
                <a:cs typeface="Palatino Linotype" pitchFamily="34" charset="-120"/>
              </a:rPr>
              <a:t>Kahoot: intrați pe kahoot.it cu PIN-ul afișat pe ecran.</a:t>
            </a:r>
            <a:endParaRPr lang="en-US" sz="1800" dirty="0"/>
          </a:p>
        </p:txBody>
      </p:sp>
      <p:sp>
        <p:nvSpPr>
          <p:cNvPr id="9" name="Text 7"/>
          <p:cNvSpPr/>
          <p:nvPr/>
        </p:nvSpPr>
        <p:spPr>
          <a:xfrm>
            <a:off x="6400800" y="3200400"/>
            <a:ext cx="5166360" cy="2011680"/>
          </a:xfrm>
          <a:prstGeom prst="rect">
            <a:avLst/>
          </a:prstGeom>
          <a:noFill/>
          <a:ln/>
        </p:spPr>
        <p:txBody>
          <a:bodyPr wrap="square" lIns="0" tIns="0" rIns="0" bIns="0" rtlCol="0" anchor="ctr"/>
          <a:lstStyle/>
          <a:p>
            <a:pPr indent="0" marL="0">
              <a:buNone/>
            </a:pPr>
            <a:r>
              <a:rPr lang="en-US" sz="1900" i="1" dirty="0">
                <a:solidFill>
                  <a:srgbClr val="FFFFFF"/>
                </a:solidFill>
                <a:latin typeface="Palatino Linotype" pitchFamily="34" charset="0"/>
                <a:ea typeface="Palatino Linotype" pitchFamily="34" charset="-122"/>
                <a:cs typeface="Palatino Linotype" pitchFamily="34" charset="-120"/>
              </a:rPr>
              <a:t>Rezultatul nu se notează; arată ce s-a reținut din ședință.</a:t>
            </a:r>
            <a:endParaRPr lang="en-US" sz="1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ÎN PRACTICĂ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Ce faceți diferit de mâine</a:t>
            </a:r>
            <a:endParaRPr lang="en-US" sz="3100" dirty="0"/>
          </a:p>
        </p:txBody>
      </p:sp>
      <p:sp>
        <p:nvSpPr>
          <p:cNvPr id="4" name="Shape 2"/>
          <p:cNvSpPr/>
          <p:nvPr/>
        </p:nvSpPr>
        <p:spPr>
          <a:xfrm>
            <a:off x="594360" y="1691640"/>
            <a:ext cx="10972800" cy="896112"/>
          </a:xfrm>
          <a:prstGeom prst="roundRect">
            <a:avLst>
              <a:gd name="adj" fmla="val 9184"/>
            </a:avLst>
          </a:prstGeom>
          <a:solidFill>
            <a:srgbClr val="ECEAE4"/>
          </a:solidFill>
          <a:ln w="12700">
            <a:solidFill>
              <a:srgbClr val="ECEAE4"/>
            </a:solidFill>
            <a:prstDash val="solid"/>
          </a:ln>
        </p:spPr>
        <p:txBody>
          <a:bodyPr/>
          <a:p/>
        </p:txBody>
      </p:sp>
      <p:sp>
        <p:nvSpPr>
          <p:cNvPr id="5" name="Shape 3"/>
          <p:cNvSpPr/>
          <p:nvPr/>
        </p:nvSpPr>
        <p:spPr>
          <a:xfrm>
            <a:off x="868680" y="1929384"/>
            <a:ext cx="420624" cy="420624"/>
          </a:xfrm>
          <a:prstGeom prst="ellipse">
            <a:avLst/>
          </a:prstGeom>
          <a:solidFill>
            <a:srgbClr val="FF4757"/>
          </a:solidFill>
          <a:ln/>
        </p:spPr>
        <p:txBody>
          <a:bodyPr/>
          <a:p/>
        </p:txBody>
      </p:sp>
      <p:sp>
        <p:nvSpPr>
          <p:cNvPr id="6" name="Text 4"/>
          <p:cNvSpPr/>
          <p:nvPr/>
        </p:nvSpPr>
        <p:spPr>
          <a:xfrm>
            <a:off x="868680" y="192938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691640"/>
            <a:ext cx="9875520" cy="89611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Un virus găsit în apele uzate: întrebați ce s-a hotărât și de către cine, nu doar câți bolnavi sunt.</a:t>
            </a:r>
            <a:endParaRPr lang="en-US" sz="1700" dirty="0"/>
          </a:p>
        </p:txBody>
      </p:sp>
      <p:sp>
        <p:nvSpPr>
          <p:cNvPr id="8" name="Shape 6"/>
          <p:cNvSpPr/>
          <p:nvPr/>
        </p:nvSpPr>
        <p:spPr>
          <a:xfrm>
            <a:off x="594360" y="2715768"/>
            <a:ext cx="10972800" cy="896112"/>
          </a:xfrm>
          <a:prstGeom prst="roundRect">
            <a:avLst>
              <a:gd name="adj" fmla="val 9184"/>
            </a:avLst>
          </a:prstGeom>
          <a:solidFill>
            <a:srgbClr val="F9F8F5"/>
          </a:solidFill>
          <a:ln w="12700">
            <a:solidFill>
              <a:srgbClr val="F9F8F5"/>
            </a:solidFill>
            <a:prstDash val="solid"/>
          </a:ln>
        </p:spPr>
        <p:txBody>
          <a:bodyPr/>
          <a:p/>
        </p:txBody>
      </p:sp>
      <p:sp>
        <p:nvSpPr>
          <p:cNvPr id="9" name="Shape 7"/>
          <p:cNvSpPr/>
          <p:nvPr/>
        </p:nvSpPr>
        <p:spPr>
          <a:xfrm>
            <a:off x="868680" y="2953512"/>
            <a:ext cx="420624" cy="420624"/>
          </a:xfrm>
          <a:prstGeom prst="ellipse">
            <a:avLst/>
          </a:prstGeom>
          <a:solidFill>
            <a:srgbClr val="FF4757"/>
          </a:solidFill>
          <a:ln/>
        </p:spPr>
        <p:txBody>
          <a:bodyPr/>
          <a:p/>
        </p:txBody>
      </p:sp>
      <p:sp>
        <p:nvSpPr>
          <p:cNvPr id="10" name="Text 8"/>
          <p:cNvSpPr/>
          <p:nvPr/>
        </p:nvSpPr>
        <p:spPr>
          <a:xfrm>
            <a:off x="868680" y="2953512"/>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715768"/>
            <a:ext cx="9875520" cy="89611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O predicție din date de pe internet sau din telefoane: cu ce sursă independentă a fost comparată?</a:t>
            </a:r>
            <a:endParaRPr lang="en-US" sz="1700" dirty="0"/>
          </a:p>
        </p:txBody>
      </p:sp>
      <p:sp>
        <p:nvSpPr>
          <p:cNvPr id="12" name="Shape 10"/>
          <p:cNvSpPr/>
          <p:nvPr/>
        </p:nvSpPr>
        <p:spPr>
          <a:xfrm>
            <a:off x="594360" y="3739896"/>
            <a:ext cx="10972800" cy="896112"/>
          </a:xfrm>
          <a:prstGeom prst="roundRect">
            <a:avLst>
              <a:gd name="adj" fmla="val 9184"/>
            </a:avLst>
          </a:prstGeom>
          <a:solidFill>
            <a:srgbClr val="ECEAE4"/>
          </a:solidFill>
          <a:ln w="12700">
            <a:solidFill>
              <a:srgbClr val="ECEAE4"/>
            </a:solidFill>
            <a:prstDash val="solid"/>
          </a:ln>
        </p:spPr>
        <p:txBody>
          <a:bodyPr/>
          <a:p/>
        </p:txBody>
      </p:sp>
      <p:sp>
        <p:nvSpPr>
          <p:cNvPr id="13" name="Shape 11"/>
          <p:cNvSpPr/>
          <p:nvPr/>
        </p:nvSpPr>
        <p:spPr>
          <a:xfrm>
            <a:off x="868680" y="3977640"/>
            <a:ext cx="420624" cy="420624"/>
          </a:xfrm>
          <a:prstGeom prst="ellipse">
            <a:avLst/>
          </a:prstGeom>
          <a:solidFill>
            <a:srgbClr val="FF4757"/>
          </a:solidFill>
          <a:ln/>
        </p:spPr>
        <p:txBody>
          <a:bodyPr/>
          <a:p/>
        </p:txBody>
      </p:sp>
      <p:sp>
        <p:nvSpPr>
          <p:cNvPr id="14" name="Text 12"/>
          <p:cNvSpPr/>
          <p:nvPr/>
        </p:nvSpPr>
        <p:spPr>
          <a:xfrm>
            <a:off x="868680" y="397764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739896"/>
            <a:ext cx="9875520" cy="89611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O aplicație vă cere localizarea: cu ce scop, câte date, cine le vede și până când?</a:t>
            </a:r>
            <a:endParaRPr lang="en-US" sz="1700" dirty="0"/>
          </a:p>
        </p:txBody>
      </p:sp>
      <p:sp>
        <p:nvSpPr>
          <p:cNvPr id="16" name="Shape 14"/>
          <p:cNvSpPr/>
          <p:nvPr/>
        </p:nvSpPr>
        <p:spPr>
          <a:xfrm>
            <a:off x="594360" y="4764024"/>
            <a:ext cx="10972800" cy="896112"/>
          </a:xfrm>
          <a:prstGeom prst="roundRect">
            <a:avLst>
              <a:gd name="adj" fmla="val 9184"/>
            </a:avLst>
          </a:prstGeom>
          <a:solidFill>
            <a:srgbClr val="F9F8F5"/>
          </a:solidFill>
          <a:ln w="12700">
            <a:solidFill>
              <a:srgbClr val="F9F8F5"/>
            </a:solidFill>
            <a:prstDash val="solid"/>
          </a:ln>
        </p:spPr>
        <p:txBody>
          <a:bodyPr/>
          <a:p/>
        </p:txBody>
      </p:sp>
      <p:sp>
        <p:nvSpPr>
          <p:cNvPr id="17" name="Shape 15"/>
          <p:cNvSpPr/>
          <p:nvPr/>
        </p:nvSpPr>
        <p:spPr>
          <a:xfrm>
            <a:off x="868680" y="5001768"/>
            <a:ext cx="420624" cy="420624"/>
          </a:xfrm>
          <a:prstGeom prst="ellipse">
            <a:avLst/>
          </a:prstGeom>
          <a:solidFill>
            <a:srgbClr val="FF4757"/>
          </a:solidFill>
          <a:ln/>
        </p:spPr>
        <p:txBody>
          <a:bodyPr/>
          <a:p/>
        </p:txBody>
      </p:sp>
      <p:sp>
        <p:nvSpPr>
          <p:cNvPr id="18" name="Text 16"/>
          <p:cNvSpPr/>
          <p:nvPr/>
        </p:nvSpPr>
        <p:spPr>
          <a:xfrm>
            <a:off x="868680" y="500176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4764024"/>
            <a:ext cx="9875520" cy="89611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Un diagnostic de boală cu declarare obligatorie: trimiteți fișa. Sunteți prima verigă a lanțului.</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84048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38404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ULTIMELE CINCI MINUTE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Biletul de ieșire</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 fost util?</a:t>
            </a:r>
            <a:endParaRPr lang="en-US" sz="20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Unde v-am pierdut?</a:t>
            </a:r>
            <a:endParaRPr lang="en-US" sz="20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ați putea folosi mâine?</a:t>
            </a:r>
            <a:endParaRPr lang="en-US" sz="2000" dirty="0"/>
          </a:p>
        </p:txBody>
      </p:sp>
      <p:sp>
        <p:nvSpPr>
          <p:cNvPr id="14" name="Shape 12"/>
          <p:cNvSpPr/>
          <p:nvPr/>
        </p:nvSpPr>
        <p:spPr>
          <a:xfrm>
            <a:off x="8549640" y="2514600"/>
            <a:ext cx="3017520" cy="2468880"/>
          </a:xfrm>
          <a:prstGeom prst="roundRect">
            <a:avLst>
              <a:gd name="adj" fmla="val 3333"/>
            </a:avLst>
          </a:prstGeom>
          <a:solidFill>
            <a:srgbClr val="FFFFFF"/>
          </a:solidFill>
          <a:ln w="12700">
            <a:solidFill>
              <a:srgbClr val="FFFFFF"/>
            </a:solidFill>
            <a:prstDash val="solid"/>
          </a:ln>
        </p:spPr>
        <p:txBody>
          <a:bodyPr/>
          <a:p/>
        </p:txBody>
      </p:sp>
      <p:sp>
        <p:nvSpPr>
          <p:cNvPr id="16" name="Text 14"/>
          <p:cNvSpPr/>
          <p:nvPr/>
        </p:nvSpPr>
        <p:spPr>
          <a:xfrm>
            <a:off x="594360" y="5349240"/>
            <a:ext cx="10972800" cy="64008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Răspundeți pe telefon, la codul afișat. Luni publicăm două modificări făcute după răspunsurile voastre.</a:t>
            </a:r>
            <a:endParaRPr lang="en-US" sz="1700" dirty="0"/>
          </a:p>
        </p:txBody>
      </p:sp>
      <p:pic>
        <p:nvPicPr>
          <p:cNvPr id="17" name="Picture 16" descr="Mentimeter_OPT_DETECTIVI_C04.png"/>
          <p:cNvPicPr>
            <a:picLocks noChangeAspect="1"/>
          </p:cNvPicPr>
          <p:nvPr/>
        </p:nvPicPr>
        <p:blipFill>
          <a:blip r:embed="rId3"/>
          <a:stretch>
            <a:fillRect/>
          </a:stretch>
        </p:blipFill>
        <p:spPr>
          <a:xfrm>
            <a:off x="9137650" y="2514600"/>
            <a:ext cx="1841500" cy="1841500"/>
          </a:xfrm>
          <a:prstGeom prst="rect">
            <a:avLst/>
          </a:prstGeom>
        </p:spPr>
      </p:pic>
      <p:sp>
        <p:nvSpPr>
          <p:cNvPr id="18" name="TextBox 17"/>
          <p:cNvSpPr txBox="1"/>
          <p:nvPr/>
        </p:nvSpPr>
        <p:spPr>
          <a:xfrm>
            <a:off x="8549640" y="4394200"/>
            <a:ext cx="301752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Ședința 4 - Unde s-a mutat decizia</dc:title>
  <dc:subject>PptxGenJS Presentation</dc:subject>
  <dc:creator>Conf. Univ. Dr. Adrian Pana</dc:creator>
  <cp:lastModifiedBy>Conf. Univ. Dr. Adrian Pana</cp:lastModifiedBy>
  <cp:revision>1</cp:revision>
  <dcterms:created xsi:type="dcterms:W3CDTF">2026-10-17T10:51:58Z</dcterms:created>
  <dcterms:modified xsi:type="dcterms:W3CDTF">2026-10-17T10:51:59Z</dcterms:modified>
  <cp:keywords>sursa_amprenta=ba92d5c886aec5c6; proiectie</cp:keywords>
</cp:coreProperties>
</file>