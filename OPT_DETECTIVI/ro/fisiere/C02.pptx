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.jpg" ContentType="image/jpg"/>
  <Override PartName="/ppt/media/image-14-1.jpg" ContentType="image/jpg"/>
  <Override PartName="/ppt/media/image-28-1.jpg" ContentType="image/jpg"/>
  <Override PartName="/ppt/media/image-3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8203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3840480"/>
            <a:ext cx="3474720" cy="3474720"/>
          </a:xfrm>
          <a:prstGeom prst="ellipse">
            <a:avLst/>
          </a:prstGeom>
          <a:solidFill>
            <a:srgbClr val="182032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7772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ȘEDINȚA A DOUA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bolnavi are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epidemie?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 cine îi numără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bal, o zi din prima iarnă a pandemiei și o cameră de cămin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" y="452628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4800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Detectivii epidemiilor: cum ucid bolile milioane de oameni și cum le oprim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 · UMF „Iuliu Hațieganu” Cluj-Napoca ·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PRIMA ȘEDINȚĂ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mi-ați spus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0985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098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multe definiții și metode, prea puțin din ce trăiți voi.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32415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241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971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promite epidemii care ucid milioane; răspunsul a venit prea târziu.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4400" y="43845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384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4114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 fost clar cum sunteți evaluați.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trei sunt întemeiate. Ședința de azi pornește de la ele.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AZI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schimbă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povestea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20640" y="178308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Metoda, numai cât o cere cazul.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60604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trei termeni noi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606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cu un exemplu.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42900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Jumătate din timp lucrați în sală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342900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Vot, discuție cu colegul, joc de rol.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5196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Evaluarea, pe o pagină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425196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diapozitivul următor.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07492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anonime la final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507492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vedeți ce am schimbat.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D3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EVALUEAZĂ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componente notate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8308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01752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unei știri, pe o pagină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245059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știre reală despre un focar: ce e stabilit, ce e nedovedit, ce ați face ca medici. Ședința a șasea.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2044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01752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Chestionarul final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41879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 întrebări cu un singur răspuns corect, din cazurile discutate în sală. În ultima ședință, douăzeci de minute.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Prezența: cel puțin cinci din cele șapte ședințe. Votul, discuțiile, jocul de rol și Kahoot-ul nu se notează.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povești, trei cuvinte noi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70992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09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0–5′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600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schimbă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34086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3408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5–36′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2311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Balul Bobocilor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23113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bolnavi are focarul?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862072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29718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2971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36–60′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2862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zi din prima iarnă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28620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crescută de zece ori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493008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360273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A0A6B8"/>
          </a:solidFill>
          <a:ln w="12700">
            <a:solidFill>
              <a:srgbClr val="A0A6B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36027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60–70′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123944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8680" y="423367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2336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70–100′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41239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Colega de cameră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1239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un focar?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475488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68680" y="48646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4864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100–115′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23160" y="4754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0640" y="47548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întrebări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94360" y="5385816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68680" y="549554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54955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115–120′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23160" y="53858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20640" y="53858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anonimă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Termenii noi de azi: definiția de caz · treptele cazului · focarul.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DUMINICĂ, DUPĂ BALUL BOBOCILOR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anului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5120640" cy="4800600"/>
          </a:xfrm>
          <a:prstGeom prst="roundRect">
            <a:avLst>
              <a:gd name="adj" fmla="val 6667"/>
            </a:avLst>
          </a:prstGeom>
          <a:solidFill>
            <a:srgbClr val="0B0C12"/>
          </a:solidFill>
          <a:ln w="1905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645920"/>
            <a:ext cx="4846320" cy="4526280"/>
          </a:xfrm>
          <a:prstGeom prst="roundRect">
            <a:avLst>
              <a:gd name="adj" fmla="val 5051"/>
            </a:avLst>
          </a:prstGeom>
          <a:solidFill>
            <a:srgbClr val="1B1D27"/>
          </a:solidFill>
          <a:ln w="12700">
            <a:solidFill>
              <a:srgbClr val="1B1D2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1560" y="1783080"/>
            <a:ext cx="4846320" cy="502920"/>
          </a:xfrm>
          <a:prstGeom prst="rect">
            <a:avLst/>
          </a:prstGeom>
          <a:solidFill>
            <a:srgbClr val="262938"/>
          </a:solidFill>
          <a:ln w="12700">
            <a:solidFill>
              <a:srgbClr val="2629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34440" y="1865376"/>
            <a:ext cx="347472" cy="347472"/>
          </a:xfrm>
          <a:prstGeom prst="ellipse">
            <a:avLst/>
          </a:prstGeom>
          <a:solidFill>
            <a:srgbClr val="0756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3444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810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Anul I · MG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conversație de grup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2468880"/>
            <a:ext cx="3383280" cy="512064"/>
          </a:xfrm>
          <a:prstGeom prst="roundRect">
            <a:avLst>
              <a:gd name="adj" fmla="val 21429"/>
            </a:avLst>
          </a:prstGeom>
          <a:solidFill>
            <a:srgbClr val="30344A"/>
          </a:solidFill>
          <a:ln w="12700">
            <a:solidFill>
              <a:srgbClr val="3034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25146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Andrei</a:t>
            </a:r>
            <a:endParaRPr lang="en-US" sz="9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e cineva rău?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27340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CC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09:12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3090672"/>
            <a:ext cx="3291840" cy="512064"/>
          </a:xfrm>
          <a:prstGeom prst="roundRect">
            <a:avLst>
              <a:gd name="adj" fmla="val 21429"/>
            </a:avLst>
          </a:prstGeom>
          <a:solidFill>
            <a:srgbClr val="0F5A4F"/>
          </a:solidFill>
          <a:ln w="12700">
            <a:solidFill>
              <a:srgbClr val="0F5A4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0" y="31363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E8D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Ioana</a:t>
            </a:r>
            <a:endParaRPr lang="en-US" sz="9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 am vomitat toată noaptea.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66360" y="3355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CC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09:14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34440" y="3712464"/>
            <a:ext cx="3383280" cy="512064"/>
          </a:xfrm>
          <a:prstGeom prst="roundRect">
            <a:avLst>
              <a:gd name="adj" fmla="val 21429"/>
            </a:avLst>
          </a:prstGeom>
          <a:solidFill>
            <a:srgbClr val="30344A"/>
          </a:solidFill>
          <a:ln w="12700">
            <a:solidFill>
              <a:srgbClr val="3034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1600" y="3758184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Vlad</a:t>
            </a:r>
            <a:endParaRPr lang="en-US" sz="9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eu, dar cred că de la băutură.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69080" y="39776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CC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09:15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23160" y="4334256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0F5A4F"/>
          </a:solidFill>
          <a:ln w="12700">
            <a:solidFill>
              <a:srgbClr val="0F5A4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60320" y="43799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E8D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Ioana</a:t>
            </a:r>
            <a:endParaRPr lang="en-US" sz="9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Colega de cameră n-a fost la bal și are și ea diaree.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66360" y="4745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CC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09:19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5102352"/>
            <a:ext cx="3383280" cy="658368"/>
          </a:xfrm>
          <a:prstGeom prst="roundRect">
            <a:avLst>
              <a:gd name="adj" fmla="val 16667"/>
            </a:avLst>
          </a:prstGeom>
          <a:solidFill>
            <a:srgbClr val="30344A"/>
          </a:solidFill>
          <a:ln w="12700">
            <a:solidFill>
              <a:srgbClr val="3034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71600" y="5148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Maria</a:t>
            </a:r>
            <a:endParaRPr lang="en-US" sz="9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Mie mi-e rău de joi, nu știu dacă se pune.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69080" y="5513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CC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09:30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92024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4088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8:10 · APEL DE LA DSP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camera de gardă au venit mai mulți tineri cu vărsături, toți de la aceeași petrecere.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3703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„Câți bolnavi aveți?”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72084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Scenă reconstituită; numele sunt fictive.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DIN TITLU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bolnavi are focarul de la bal?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29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Toți cei care au scris în grup că le este rău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7980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5176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cei care au vomitat sau au avut diaree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6667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2044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cei care au ajuns la medic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5354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38912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cei la care laboratorul a găsit microbul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există încă un răspuns corect. Revenim la acest vot la sfârșitul poveștii.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pare de numărat. Este de hotărât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Dureri de cap după o noapte de băutură: se pune?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889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Colega de cameră care n-a fost la bal, dar are diaree: se pune?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7033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Diaree de joi, dinainte de petrecere: se pune?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5720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457200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număr de bolnavi există numai împreună cu regula lui. Iar regula o scrie un om.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 · 2 VOLUNTARI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DIMINEAȚA, LA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Telefonul de la DSP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F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EPIDEMIOLOGUL DSP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trei minute să afle ce îi trebuie ca să poată număra bolnavii.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ORGANIZATORUL BALULUI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 prefera ca povestea să rămână mică.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4343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scenă, pentru toată sala: ce a întrebat epidemiologul fără de care nu poate număra?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OPT_DETECTIVI/active/img/ancheta_restaurant_cdc_phil316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053328"/>
            <a:ext cx="5486400" cy="80467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74320" y="6089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Inspecție după un focar de boală digestivă · Seattle, 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74320" y="65471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CDC · domeniu public · CDC PHIL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0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SCENĂ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777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întreabă întâi un epidemiolog bun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035040" y="1874520"/>
            <a:ext cx="64008" cy="6400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26364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Există o listă a participanților?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035040" y="2679192"/>
            <a:ext cx="64008" cy="64008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263640" y="26791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Când?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0" y="2679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au început primele simptome?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035040" y="3483864"/>
            <a:ext cx="64008" cy="6400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63640" y="348386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Ce, concret?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0" y="34838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Vărsături, diaree, febră?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035040" y="4288536"/>
            <a:ext cx="64008" cy="6400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263640" y="428853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grav?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29600" y="42885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ajuns cineva la spital?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035040" y="5212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„Ce ați mâncat?” vine abia mai târziu.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35040" y="5669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Organizatorul poate încerca să micșoreze problema; de aceea epidemiologul lucrează cu criterii, nu cu impresii.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de caz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„Cine intră în număr”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64008" cy="13716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8803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scrisă după care hotărâți cine se numără printre bolnavii unui focar: semnele bolii și limite de timp, de loc și de persoană. Se aplică la fel tuturor.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4663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Manualul CDC o pune printre primii pași ai anchetei, înaintea căutării bolnavilor. Fără ea, fiecare membru al echipei numără după altă regulă, iar numărul final nu mai înseamnă nimic.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SCRIE REGULA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pași, înainte să numărați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· Semnele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Vărsături, diaree, febră; nu „mi-a fost rău”.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1188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· Timpul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cina de sâmbătă până luni; diareea de joi, afară.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9E3F6"/>
          </a:solidFill>
          <a:ln w="12700">
            <a:solidFill>
              <a:srgbClr val="E9E3F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· Locul și persoana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Participanții, inclusiv cei care au servit; colega de cameră, separat.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002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8972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· Scrierea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8972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frază, înainte de numărare. Regula schimbată: totul se renumără.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4983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cu dureri de cap după băutură nu mai intră automat în număr. Nu este o judecată despre el, ci o regulă aplicată la fel tuturor.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142 DE PARTICIPANȚI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bal, trei reguli, trei focare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largă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oricine s-a simțit rău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645920"/>
            <a:ext cx="6583680" cy="73152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96696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46120" y="2423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s-au plâns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986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de lucru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3101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vărsături sau diaree, după cină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2944368"/>
            <a:ext cx="5321056" cy="7315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04336" y="29443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46120" y="3721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boală, probabil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strictă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460857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microbul, în laborator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4242816"/>
            <a:ext cx="631312" cy="7315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14592" y="424281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246120" y="50200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doar 11 au dat probe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64456" y="29443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ies 8 cu dureri de cap, 6 cu diaree dinainte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corecte, fiecare pentru întrebarea lui. Greșeala: numărul fără regulă.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ȘEDINȚĂ · LONDRA, 1854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focar, mai multe numere</a:t>
            </a:r>
            <a:endParaRPr lang="en-US" sz="3000" dirty="0"/>
          </a:p>
        </p:txBody>
      </p:sp>
      <p:pic>
        <p:nvPicPr>
          <p:cNvPr id="4" name="Image 0" descr="/Users/adrianpana/Downloads/UMF_Cluj_SP/Materiale SP/Atelier_didactic/discipline/OPT_DETECTIVI/active/img/harta_holera_snow_18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02920"/>
            <a:ext cx="5486400" cy="51462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56875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Harta: John Snow, 1854 · domeniu public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616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8346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atacuri fatale, tabelate de Snow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834640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prin holeră, înregistrate de comitetul parohial în 17 săptămâni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3931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700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83464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atacuri fatale, estimate de același comitet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5120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nu a greșit la adunare: fiecare a numărat altceva, pe alt interval. Azi îi spunem definiția de caz.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JOCUL DE 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Sunteți epidemiologul. Luni dimineață, ce regulă scrieți?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21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largă: oricine s-a simțit rău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127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926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de lucru: vărsături sau diaree, în intervalul fixat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133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strictă: numai cu dovadă de laborator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individual. Răspunsul depinde de momentul anchetei.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Într-o anchetă de focar: întâi larg, apoi strict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11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anchetei: o definiție largă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Vedeți cât de mare este problema și pe cine afectează; nu scapă nimeni.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0998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testați o ipoteză: o definiție strictă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5570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Cazurile false pot produce rezultate înșelătoare.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288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„Get it while you can”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tot ați ajuns la cămin, luați informații despre toți cei care ar putea fi bolnavi.</a:t>
            </a:r>
            <a:endParaRPr lang="en-US" sz="1600" dirty="0"/>
          </a:p>
        </p:txBody>
      </p:sp>
      <p:sp>
        <p:nvSpPr>
          <p:cNvPr id="14" name="Text 12 bis"/>
          <p:cNvSpPr/>
          <p:nvPr/>
        </p:nvSpPr>
        <p:spPr>
          <a:xfrm>
            <a:off x="594360" y="5330000"/>
            <a:ext cx="10972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 boală nouă, invers: SIDA și SARS au pornit cu definiții stricte; în China, definiția noului coronavirus a fost la început îngustă și lărgită treptat.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5960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strictă nu este greșită, dar luni dimineață ar pierde aproape toți bolnavii care nu au dat probe.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DESERTURI ȘI UN ZVON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desertului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46304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student din echipa de anchetă propune: „bolnav este orice participant cu vărsături sau diaree care a mâncat prăjitura cu cremă”.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în neregulă cu regula propusă?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348386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38328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Nimic: este o regulă bună și precisă.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4400" y="421538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411480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 arăta mereu că prăjitura este de vină, orice ar fi adevărat.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484632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494690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846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prea strictă și va pierde bolnavi, dar altfel este corectă.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colegul, apoi vot.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B. Prăjitura nu are voie în definiție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11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Toți bolnavii găsiți vor fi mâncat prăjitura, prin definiție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„dovedit” ce ați presupus de la început.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0998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CDC: definiția de caz nu conține expunerea cercetată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5570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greșeală frecventă.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288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Balul poate sta în definiție; prăjitura, nu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Balul delimitează grupul. Prăjitura este întrebarea.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verifică atunci prăjitura?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142 DE PARTICIPANȚI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Prăjitura, verificată corect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din 10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86968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71600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53312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56232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37944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40864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22576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825496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807208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10128" y="2788920"/>
            <a:ext cx="329184" cy="329184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91840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794760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776472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79392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61104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45736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248656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230368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 dintre cei 83 care au mâncat prăjitura (52 de bolnavi)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60020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92240" y="1783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din 10</a:t>
            </a:r>
            <a:endParaRPr lang="en-US" sz="4600" dirty="0"/>
          </a:p>
        </p:txBody>
      </p:sp>
      <p:sp>
        <p:nvSpPr>
          <p:cNvPr id="29" name="Shape 27"/>
          <p:cNvSpPr/>
          <p:nvPr/>
        </p:nvSpPr>
        <p:spPr>
          <a:xfrm>
            <a:off x="6510528" y="2788920"/>
            <a:ext cx="329184" cy="32918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92240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995160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976872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79792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461504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64424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946136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449056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430768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933688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915400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418320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00032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902952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884664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0387584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369296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872216" y="27889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853928" y="3154680"/>
            <a:ext cx="3657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9B6A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9224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 dintre cei 59 care nu au mâncat-o (7 bolnavi)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4360" y="4846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indiciu serios. Dar cei 7 bolnavi fără prăjitură trebuie explicați: au gustat din farfuria altcuiva, au mâncat altceva contaminat sau sunt bolnavi din alt motiv?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prăjitura în definiție, ar fi dispărut, cu tot cu pista spre altă sursă.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POVESTE · O ZI DIN PRIMA IARNĂ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cuvânt: ce simțiți când vedeți la știri „explozie de cazuri”?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21792" y="393192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anonim, într-un singur cuvânt; răspunsurile apar pe ecran sub forma unui nor de cuvinte.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NEWSWEEK · 12 FEBRUARIE 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480560" cy="4846320"/>
          </a:xfrm>
          <a:prstGeom prst="roundRect">
            <a:avLst>
              <a:gd name="adj" fmla="val 7143"/>
            </a:avLst>
          </a:prstGeom>
          <a:solidFill>
            <a:srgbClr val="0B0C12"/>
          </a:solidFill>
          <a:ln w="1905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600200"/>
            <a:ext cx="4206240" cy="4572000"/>
          </a:xfrm>
          <a:prstGeom prst="roundRect">
            <a:avLst>
              <a:gd name="adj" fmla="val 5435"/>
            </a:avLst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1965960"/>
            <a:ext cx="4206240" cy="18288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FEBRUARIE 2020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„Provincia chineză Hubei raportează 14 840 de cazuri noi de COVID-19 și 242 de decese noi”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34440" y="5349240"/>
            <a:ext cx="365760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34440" y="5550408"/>
            <a:ext cx="365760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34440" y="5751576"/>
            <a:ext cx="219456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760720" y="1600200"/>
            <a:ext cx="580644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18379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08076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60020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Da: epidemia a explodat într-o singură zi.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760720" y="2651760"/>
            <a:ext cx="580644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80760" y="2889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8076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65176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Da, cifra este corectă, dar ceva s-a schimbat în felul de numărare.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760720" y="3703320"/>
            <a:ext cx="580644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80760" y="39410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8076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70332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Nu: cifra este inventată.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760720" y="484632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Apoi, cu colegul: ce informație v-ar lipsi?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296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citat din presă; așezarea pe telefon este reconstituită.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· OMS, 13 FEBRUARIE 2020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B. Cifra era adevărată. Regula era nouă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5669280"/>
            <a:ext cx="548640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0160" y="5297605"/>
            <a:ext cx="1737360" cy="371675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4703245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1 508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742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veche: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laboratorul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5297605"/>
            <a:ext cx="1737360" cy="371675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23360" y="2011680"/>
            <a:ext cx="1737360" cy="3285925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02336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13 332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14 840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5742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nouă: și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 clinic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din 10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040880" y="2971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ale zilei nu apăruseră în cifrele de până atunci, numai cu laborator.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068312" y="4251960"/>
            <a:ext cx="1097280" cy="27432"/>
          </a:xfrm>
          <a:prstGeom prst="rect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0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Saltul de aproape zece ori nu l-a produs virusul, ci regula.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rapoartele de situație 23 și 24 (12–13 februarie 2020); calcul propriu (registru A130, A132). Aceeași zi, două reguli.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Treptele cazului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291840"/>
            <a:ext cx="3611880" cy="2331720"/>
          </a:xfrm>
          <a:prstGeom prst="rect">
            <a:avLst/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3291840"/>
            <a:ext cx="361188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Posibil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„poate”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semne tipice.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bal: cei 8 cu greață și dureri de cap.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6260" y="2468880"/>
            <a:ext cx="3611880" cy="3154680"/>
          </a:xfrm>
          <a:prstGeom prst="rect">
            <a:avLst/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66260" y="2468880"/>
            <a:ext cx="3611880" cy="73152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05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0580" y="3154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„aproape sigur”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058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tipice, fără laborator.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40580" y="4069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bal: cei 48 fără probă. În Hubei: „diagnosticat clinic” (echivalent didactic).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11880" cy="3977640"/>
          </a:xfrm>
          <a:prstGeom prst="rect">
            <a:avLst/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361188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Confirmat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12480" y="2331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„sigur”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obicei, cu dovadă de laborator.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bal: cei 7 cu proba pozitivă.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623560"/>
            <a:ext cx="1115568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„7 cazuri” sau „59 de cazuri”: același bal, ambele corecte, alte trepte.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REGULĂ NOUĂ, CU UN SCOP DECLARAT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regulă care poate hotărî cine primește tratament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607040" cy="27432"/>
          </a:xfrm>
          <a:prstGeom prst="rect">
            <a:avLst/>
          </a:prstGeom>
          <a:solidFill>
            <a:srgbClr val="3A3E5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2194560"/>
            <a:ext cx="301752" cy="301752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raportau numai cazurile confirmate în laborator; testele nu ajungeau.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62272" y="2194560"/>
            <a:ext cx="301752" cy="301752"/>
          </a:xfrm>
          <a:prstGeom prst="ellipse">
            <a:avLst/>
          </a:prstGeom>
          <a:solidFill>
            <a:srgbClr val="FFC24B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FEBRUARIE 2020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697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Apar cazurile „diagnosticate clinic”. Scopul declarat (comunicatul autorităților, citat de Newsweek): tratament cât mai devreme; analiza Tsang 2020: izolare și tratament la timp pentru cei netestați.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19872" y="2194560"/>
            <a:ext cx="301752" cy="301752"/>
          </a:xfrm>
          <a:prstGeom prst="ellipse">
            <a:avLst/>
          </a:prstGeom>
          <a:solidFill>
            <a:srgbClr val="27D3BE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FEBRUARIE 2020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697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China renunțase la categorie. Rămân cazurile suspecte și cele confirmate.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5262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definiție de caz nu doar măsoară lumea: poate hotărî și cine primește tratament.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UNIVERSITATEA DIN HONG KONG · O ESTIMARE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regulă de la început: de peste 4 ori mai multe cazuri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5806440"/>
            <a:ext cx="512064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4953205"/>
            <a:ext cx="1828800" cy="853235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404565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55 508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8613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raportate până 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februarie 2020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240280"/>
            <a:ext cx="1828800" cy="35661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718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jur de 232 000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58613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estimate, cu a cincea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versiune de la început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versiuni ale definiției, între 15 ianuarie și 3 martie 2020.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curba cazurilor se calculează cât de repede se dublează epidemia; din asta se decid paturi, stocuri și restricții.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9672" y="4160520"/>
            <a:ext cx="1097280" cy="27432"/>
          </a:xfrm>
          <a:prstGeom prst="rect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4343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fața unui grafic care sare: s-a schimbat boala sau regula?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CORECTĂ, INFORMAȚIA CORECTĂ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titlul, păstrând cifra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6002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„Provincia chineză Hubei raportează 14 840 de cazuri noi de COVID-19 și 242 de decese noi”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minut cu colegul: un titlu pe care un cititor grăbit să nu-l înțeleagă greșit.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de numărare apărea abia în corpul articolului. Cei mai mulți oameni citesc titlul și se uită la grafic.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TITLU POSIBIL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lung, mai puțin spectaculos, adevărat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-90000">
            <a:off x="822960" y="1783080"/>
            <a:ext cx="6400800" cy="37490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 rot="-90000">
            <a:off x="1234440" y="2103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EPIDEMIA DIN CHINA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-90000">
            <a:off x="1234440" y="2441448"/>
            <a:ext cx="557784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-90000">
            <a:off x="1234440" y="260604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Hubei își schimbă regula de numărare: 14 840 de cazuri noi într-o zi, dintre care 13 332 fără test de laborator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propus; tăietura este reconstituită.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2103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cifră, plus regula după care a fost numărată.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91272" y="3611880"/>
            <a:ext cx="1097280" cy="27432"/>
          </a:xfrm>
          <a:prstGeom prst="rect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0" y="38404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dintre o cifră corectă și o informație corectă.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OPT_DETECTIVI/active/img/formulare_focar_cdc_phil313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053328"/>
            <a:ext cx="5486400" cy="80467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74320" y="6089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Fișe completate într-un focar de rujeolă · Chicago, 2024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74320" y="65471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CDC/Amy Nham · domeniu public · CDC PHIL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0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777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Căsuța de pe fișa de declarare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080760" y="1856232"/>
            <a:ext cx="347472" cy="347472"/>
          </a:xfrm>
          <a:prstGeom prst="rect">
            <a:avLst/>
          </a:prstGeom>
          <a:solidFill>
            <a:srgbClr val="11121A"/>
          </a:solidFill>
          <a:ln w="254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6294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Confirmat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080760" y="2423160"/>
            <a:ext cx="347472" cy="347472"/>
          </a:xfrm>
          <a:prstGeom prst="rect">
            <a:avLst/>
          </a:prstGeom>
          <a:solidFill>
            <a:srgbClr val="11121A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29400" y="2350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080760" y="2990088"/>
            <a:ext cx="347472" cy="347472"/>
          </a:xfrm>
          <a:prstGeom prst="rect">
            <a:avLst/>
          </a:prstGeom>
          <a:solidFill>
            <a:srgbClr val="11121A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62940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Posibil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câțiva ani o veți bifa voi. Pare administrativă; adunată de la mii de medici, desenează curba pe care o văd guvernele, presa și părinții voștri.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48006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Bifați după regula în vigoare, nu după impresie. Dacă nu se potrivește cu ce vedeți la pacient, semnalați în scris, cu exemplul concret.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ÎNAPOI LA TITLUL CURSULUI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milioane? Depinde cine numără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1,3–4,0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milioane de cazuri de holeră pe an, în lume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21 000–143 000</a:t>
            </a:r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de decese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Estimarea e departe de ce se raportează. OMS: probabil supravegherea limitată și cazurile neînregistrate de teama efectelor asupra comerțului și turismului.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66344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46634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„milioane”, întrebați ca la bal: cine a fost numărat, după ce regulă, cine a rămas pe dinafară?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94360" y="617220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Estimarea cercetătorilor, citată de OMS.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9436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 Urmează a treia poveste: colega de cameră.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POVESTE · CĂMINUL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Ochii galbeni</a:t>
            </a:r>
            <a:endParaRPr lang="en-US" sz="3600" dirty="0"/>
          </a:p>
        </p:txBody>
      </p:sp>
      <p:pic>
        <p:nvPicPr>
          <p:cNvPr id="4" name="Image 0" descr="/Users/adrianpana/Downloads/UMF_Cluj_SP/Materiale SP/Atelier_didactic/discipline/OPT_DETECTIVI/active/img/icter_hepatita_a_cdc_phil28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822960"/>
            <a:ext cx="6035040" cy="46597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5532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Icter: ochii și pielea galbene, în hepatita 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97880" y="58155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AE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CDC/Dr. Thomas F. Sellers, Emory University · domeniu public · CDC PHIL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Colega voastră de cameră e obosită de câteva zile și nu mai mănâncă. Azi are ochii galbeni. Seara vine rezultatul: hepatită A, confirmată. Medicul de familie va anunța DSP.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411480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411480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săptămână, același palier: altă colegă are greață și urina închisă la culoare. N-a fost încă la medic.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acesta un focar?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476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Da: sunt două bolnave în același cămin, în aceeași săptămână.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437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7919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încă: a doua colegă nu are diagnostic.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57530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7398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7530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Nu: un focar înseamnă zeci de bolnavi.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47141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636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47141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știu ce înseamnă „focar”.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Focarul: mai multe cazuri decât v-ați aștepta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cazuri de boală decât v-ați aștepta, în același loc sau grup și în aceeași perioadă, de obicei cu o cauză comună (CDC). Câte și de ce fel: spune regula fiecărui raport.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Hepatita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INSP, raportul pentru 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2 cazuri confirmate, aceeași sursă, timp și loc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Toxiinfecția alimentară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metodologia INSP, definiția OMS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sau mai multe persoane bolnave după același aliment; fără laborator pentru fiecare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48463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Balul: un focar cu 7 bolnavi după regula hepatitei A; după regula toxiinfecțiilor, cu toți bolnavii care au mâncat alimentul contaminat, cu probe sau fără. Fără regulă, numerele nu se compară.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regula INSP, căminul nu are încă un focar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11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caz confirmat (colega de cameră) și unul posibil (colega de pe palier)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hepatitei A cere cazuri confirmate.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0998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colegei iese pozitiv și ancheta găsește o sursă comună?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5570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Atunci căminul are un focar.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701C22"/>
          </a:solidFill>
          <a:ln w="12700">
            <a:solidFill>
              <a:srgbClr val="701C2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288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 nu s-a schimbat între timp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4D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schimbat ce știm despre ea.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D a fost cea mai cinstită: și „focarul” are o definiție scrisă.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 · HEPATITA A · 2024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focare de hepatită A în România, într-un singur 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1 374</a:t>
            </a:r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de cazuri în aceste focare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Județele cu cele mai multe focare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Bihor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09560" y="1901952"/>
            <a:ext cx="3017520" cy="402336"/>
          </a:xfrm>
          <a:prstGeom prst="rect">
            <a:avLst/>
          </a:prstGeom>
          <a:solidFill>
            <a:srgbClr val="5A5F75"/>
          </a:solidFill>
          <a:ln w="12700">
            <a:solidFill>
              <a:srgbClr val="5A5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036808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0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Cluj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09560" y="2724912"/>
            <a:ext cx="2398542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1783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6656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Sălaj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09560" y="3547872"/>
            <a:ext cx="2011680" cy="402336"/>
          </a:xfrm>
          <a:prstGeom prst="rect">
            <a:avLst/>
          </a:prstGeom>
          <a:solidFill>
            <a:srgbClr val="5A5F75"/>
          </a:solidFill>
          <a:ln w="12700">
            <a:solidFill>
              <a:srgbClr val="5A5F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30968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Clujul, orașul în care studiați, e al doilea.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5349240"/>
            <a:ext cx="10972800" cy="13716"/>
          </a:xfrm>
          <a:prstGeom prst="rect">
            <a:avLst/>
          </a:prstGeom>
          <a:solidFill>
            <a:srgbClr val="3A3E5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5468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focar: cel puțin două cazuri confirmate, legate între ele. Cifra oficială numără ce s-a putut dovedi, nu tot ce s-a întâmplat.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63550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INSP–CNSCBT, Analiza bolilor transmisibile, raport pentru 2024, p. 25 (registru A104, A109).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SITE DE ȘTIRI NAȚIONAL · 13 DECEMBRIE 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480560" cy="4846320"/>
          </a:xfrm>
          <a:prstGeom prst="roundRect">
            <a:avLst>
              <a:gd name="adj" fmla="val 7143"/>
            </a:avLst>
          </a:prstGeom>
          <a:solidFill>
            <a:srgbClr val="0B0C12"/>
          </a:solidFill>
          <a:ln w="1905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600200"/>
            <a:ext cx="4206240" cy="4572000"/>
          </a:xfrm>
          <a:prstGeom prst="roundRect">
            <a:avLst>
              <a:gd name="adj" fmla="val 5435"/>
            </a:avLst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1965960"/>
            <a:ext cx="4206240" cy="18288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DECEMBRIE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„Focar de Hepatită A la un liceu din Cluj / 9 cazuri au fost confirmate”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34440" y="5349240"/>
            <a:ext cx="365760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34440" y="5550408"/>
            <a:ext cx="365760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34440" y="5751576"/>
            <a:ext cx="2194560" cy="73152"/>
          </a:xfrm>
          <a:prstGeom prst="rect">
            <a:avLst/>
          </a:prstGeom>
          <a:solidFill>
            <a:srgbClr val="DAD7CF"/>
          </a:solidFill>
          <a:ln w="12700">
            <a:solidFill>
              <a:srgbClr val="DAD7C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0" y="146304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verificați înainte să-l dați mai departe?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760720" y="2468880"/>
            <a:ext cx="580644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80760" y="2596896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46888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este liceul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760720" y="3273552"/>
            <a:ext cx="580644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80760" y="34015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8076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27355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confirmat cazurile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760720" y="4078224"/>
            <a:ext cx="580644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080760" y="420624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8076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07822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cât timp au apărut cazurile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760720" y="4882896"/>
            <a:ext cx="580644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080760" y="5010912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8076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88289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au o sursă comună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760720" y="57607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colegul, apoi vot.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citat din presă; așezarea pe telefon este reconstituită.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· AL DOILEA PARAGRAF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Focarul real, în alt județ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27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liceu din Aleșd, județul Bihor. Informația venea de la DSP Bihor, prin Rador, care cita Radio Cluj. Presupunem că de aici vine „Cluj” din titlu; articolul nu o spune.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627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confirmat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DSP: cazuri confirmate. Titlul nu minte despre boală.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cât timp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10515600" cy="27432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4434840"/>
            <a:ext cx="301752" cy="301752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 AUGUST 2024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caz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53712" y="4434840"/>
            <a:ext cx="301752" cy="301752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 NOIEMBRIE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nouălea caz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02752" y="4434840"/>
            <a:ext cx="301752" cy="301752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DECEMBRIE 2024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cazuri în peste trei luni: nu o „explozie”. Articolul nu spune cum s-a transmis boala. Întrebarea bună: ce mai trebuie citit ca să știu ce s-a întâmplat, unde și după ce regulă?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013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număr de bolnavi: după ce regulă au fost numărați?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64261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871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grafic care sare brusc: s-a schimbat boala sau s-a schimbat regula de numărare?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328416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48386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32841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titlu despre un focar: citiți și al doilea paragraf (locul, sursa, perioada, cazuri confirmate sau nu).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169664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32511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6966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 după un eveniment comun: spuneți medicului ce ați avut, când a început și cu cine ați stat.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010912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1663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01091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 medici, scrieți regula de numărare înainte să vedeți rezultatele, fără răspunsul pe care îl așteptați.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CURS · LUCRAREA PRACTICĂ ÎNTÂI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 de la Oswego: o anchetă adevărată, pe telefon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02082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focar real, după o cină: cine e caz, ce s-a mâncat, când, ce se face.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307238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trei-patru vecini de bancă, pe un formular deschis prin cod QR.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4400" y="412394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886200"/>
            <a:ext cx="9692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pas se deschide după răspunsul corect.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de caz de azi este primul pas al anchetei.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întrebări din poveștile de azi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jocului.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Kahoot: intrați pe kahoot.it cu PIN-ul afișat pe ecran.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notează; arată ce s-a reținut din ședință.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anonimă a ședinței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pe pagina cursului, veți găsi două modificări făcute pe baza răspunsurilor.</a:t>
            </a:r>
            <a:endParaRPr lang="en-US" sz="1700" dirty="0"/>
          </a:p>
        </p:txBody>
      </p:sp>
      <p:pic>
        <p:nvPicPr>
          <p:cNvPr id="17" name="Picture 16" descr="Mentimeter_OPT_DETECTIVI_C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650" y="2514600"/>
            <a:ext cx="1841500" cy="184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37650" y="4394200"/>
            <a:ext cx="1841500" cy="627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Ședința 2 - Câți bolnavi are o epidemie? Depinde cine îi numără</dc:title>
  <dc:subject>PptxGenJS Presentation</dc:subject>
  <dc:creator>Conf. Univ. Dr. Adrian Pana</dc:creator>
  <cp:lastModifiedBy>Conf. Univ. Dr. Adrian Pana</cp:lastModifiedBy>
  <cp:revision>1</cp:revision>
  <dcterms:created xsi:type="dcterms:W3CDTF">2026-10-03T13:45:17Z</dcterms:created>
  <dcterms:modified xsi:type="dcterms:W3CDTF">2026-10-03T13:45:18Z</dcterms:modified>
  <cp:keywords>sursa_amprenta=7c1244d7eacb1dcc; proiectie</cp:keywords>
</cp:coreProperties>
</file>