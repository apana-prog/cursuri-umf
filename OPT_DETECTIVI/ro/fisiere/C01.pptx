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273" r:id="rId19"/>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8" r:id="rId44"/>
    <p:sldId id="299" r:id="rId45"/>
    <p:sldId id="307" r:id="rId58"/>
    <p:sldId id="300" r:id="rId46"/>
    <p:sldId id="301" r:id="rId47"/>
    <p:sldId id="302" r:id="rId48"/>
    <p:sldId id="303" r:id="rId49"/>
    <p:sldId id="304" r:id="rId50"/>
    <p:sldId id="305" r:id="rId51"/>
    <p:sldId id="306" r:id="rId5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53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3.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 Id="rId58" Type="http://schemas.openxmlformats.org/officeDocument/2006/relationships/slide" Target="slides/slide4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Atacuri fatale</c:v>
                </c:pt>
              </c:strCache>
            </c:strRef>
          </c:tx>
          <c:spPr>
            <a:solidFill>
              <a:srgbClr val="6E7488"/>
            </a:solidFill>
            <a:effectLst/>
          </c:spPr>
          <c:invertIfNegative val="0"/>
          <c:dPt>
            <c:idx val="0"/>
            <c:invertIfNegative val="0"/>
            <c:bubble3D val="0"/>
            <c:extLst>
              <c:ext xmlns:c16="http://schemas.microsoft.com/office/drawing/2014/chart" uri="{C3380CC4-5D6E-409C-BE32-E72D297353CC}">
                <c16:uniqueId val="{00000001-4EF0-F74B-820F-25A72D30F08F}"/>
              </c:ext>
            </c:extLst>
          </c:dPt>
          <c:dPt>
            <c:idx val="1"/>
            <c:invertIfNegative val="0"/>
            <c:bubble3D val="0"/>
            <c:spPr>
              <a:solidFill>
                <a:srgbClr val="FF4757"/>
              </a:solidFill>
              <a:effectLst/>
            </c:spPr>
            <c:extLst>
              <c:ext xmlns:c16="http://schemas.microsoft.com/office/drawing/2014/chart" uri="{C3380CC4-5D6E-409C-BE32-E72D297353CC}">
                <c16:uniqueId val="{00000003-4EF0-F74B-820F-25A72D30F08F}"/>
              </c:ext>
            </c:extLst>
          </c:dPt>
          <c:dPt>
            <c:idx val="2"/>
            <c:invertIfNegative val="0"/>
            <c:bubble3D val="0"/>
            <c:spPr>
              <a:solidFill>
                <a:srgbClr val="8A5560"/>
              </a:solidFill>
              <a:effectLst/>
            </c:spPr>
            <c:extLst>
              <c:ext xmlns:c16="http://schemas.microsoft.com/office/drawing/2014/chart" uri="{C3380CC4-5D6E-409C-BE32-E72D297353CC}">
                <c16:uniqueId val="{00000005-4EF0-F74B-820F-25A72D30F08F}"/>
              </c:ext>
            </c:extLst>
          </c:dPt>
          <c:dPt>
            <c:idx val="3"/>
            <c:invertIfNegative val="0"/>
            <c:bubble3D val="0"/>
            <c:extLst>
              <c:ext xmlns:c16="http://schemas.microsoft.com/office/drawing/2014/chart" uri="{C3380CC4-5D6E-409C-BE32-E72D297353CC}">
                <c16:uniqueId val="{00000007-4EF0-F74B-820F-25A72D30F08F}"/>
              </c:ext>
            </c:extLst>
          </c:dPt>
          <c:dPt>
            <c:idx val="4"/>
            <c:invertIfNegative val="0"/>
            <c:bubble3D val="0"/>
            <c:extLst>
              <c:ext xmlns:c16="http://schemas.microsoft.com/office/drawing/2014/chart" uri="{C3380CC4-5D6E-409C-BE32-E72D297353CC}">
                <c16:uniqueId val="{00000009-4EF0-F74B-820F-25A72D30F08F}"/>
              </c:ext>
            </c:extLst>
          </c:dPt>
          <c:dPt>
            <c:idx val="5"/>
            <c:invertIfNegative val="0"/>
            <c:bubble3D val="0"/>
            <c:extLst>
              <c:ext xmlns:c16="http://schemas.microsoft.com/office/drawing/2014/chart" uri="{C3380CC4-5D6E-409C-BE32-E72D297353CC}">
                <c16:uniqueId val="{0000000B-4EF0-F74B-820F-25A72D30F08F}"/>
              </c:ext>
            </c:extLst>
          </c:dPt>
          <c:dPt>
            <c:idx val="6"/>
            <c:invertIfNegative val="0"/>
            <c:bubble3D val="0"/>
            <c:extLst>
              <c:ext xmlns:c16="http://schemas.microsoft.com/office/drawing/2014/chart" uri="{C3380CC4-5D6E-409C-BE32-E72D297353CC}">
                <c16:uniqueId val="{0000000D-4EF0-F74B-820F-25A72D30F08F}"/>
              </c:ext>
            </c:extLst>
          </c:dPt>
          <c:dPt>
            <c:idx val="7"/>
            <c:invertIfNegative val="0"/>
            <c:bubble3D val="0"/>
            <c:extLst>
              <c:ext xmlns:c16="http://schemas.microsoft.com/office/drawing/2014/chart" uri="{C3380CC4-5D6E-409C-BE32-E72D297353CC}">
                <c16:uniqueId val="{0000000F-4EF0-F74B-820F-25A72D30F08F}"/>
              </c:ext>
            </c:extLst>
          </c:dPt>
          <c:dPt>
            <c:idx val="8"/>
            <c:invertIfNegative val="0"/>
            <c:bubble3D val="0"/>
            <c:spPr>
              <a:solidFill>
                <a:srgbClr val="FFC24B"/>
              </a:solidFill>
              <a:effectLst/>
            </c:spPr>
            <c:extLst>
              <c:ext xmlns:c16="http://schemas.microsoft.com/office/drawing/2014/chart" uri="{C3380CC4-5D6E-409C-BE32-E72D297353CC}">
                <c16:uniqueId val="{00000011-4EF0-F74B-820F-25A72D30F08F}"/>
              </c:ext>
            </c:extLst>
          </c:dPt>
          <c:dPt>
            <c:idx val="9"/>
            <c:invertIfNegative val="0"/>
            <c:bubble3D val="0"/>
            <c:extLst>
              <c:ext xmlns:c16="http://schemas.microsoft.com/office/drawing/2014/chart" uri="{C3380CC4-5D6E-409C-BE32-E72D297353CC}">
                <c16:uniqueId val="{00000013-4EF0-F74B-820F-25A72D30F08F}"/>
              </c:ext>
            </c:extLst>
          </c:dPt>
          <c:dPt>
            <c:idx val="10"/>
            <c:invertIfNegative val="0"/>
            <c:bubble3D val="0"/>
            <c:extLst>
              <c:ext xmlns:c16="http://schemas.microsoft.com/office/drawing/2014/chart" uri="{C3380CC4-5D6E-409C-BE32-E72D297353CC}">
                <c16:uniqueId val="{00000015-4EF0-F74B-820F-25A72D30F08F}"/>
              </c:ext>
            </c:extLst>
          </c:dPt>
          <c:dLbls>
            <c:numFmt formatCode="[$-418]0" sourceLinked="0"/>
            <c:spPr>
              <a:noFill/>
              <a:ln>
                <a:noFill/>
              </a:ln>
              <a:effectLst/>
            </c:spPr>
            <c:txPr>
              <a:bodyPr/>
              <a:lstStyle/>
              <a:p>
                <a:pPr>
                  <a:defRPr sz="1000" b="0" i="0" u="none" strike="noStrike">
                    <a:solidFill>
                      <a:srgbClr val="FFFFFF"/>
                    </a:solidFill>
                    <a:latin typeface="Arial"/>
                  </a:defRPr>
                </a:pPr>
                <a:endParaRPr lang="en-R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31 aug</c:v>
                </c:pt>
                <c:pt idx="1">
                  <c:v>1 sep</c:v>
                </c:pt>
                <c:pt idx="2">
                  <c:v>2 sep</c:v>
                </c:pt>
                <c:pt idx="3">
                  <c:v>3 sep</c:v>
                </c:pt>
                <c:pt idx="4">
                  <c:v>4 sep</c:v>
                </c:pt>
                <c:pt idx="5">
                  <c:v>5 sep</c:v>
                </c:pt>
                <c:pt idx="6">
                  <c:v>6 sep</c:v>
                </c:pt>
                <c:pt idx="7">
                  <c:v>7 sep</c:v>
                </c:pt>
                <c:pt idx="8">
                  <c:v>8 sep</c:v>
                </c:pt>
                <c:pt idx="9">
                  <c:v>9 sep</c:v>
                </c:pt>
                <c:pt idx="10">
                  <c:v>10 sep</c:v>
                </c:pt>
              </c:strCache>
            </c:strRef>
          </c:cat>
          <c:val>
            <c:numRef>
              <c:f>Sheet1!$B$2:$B$12</c:f>
              <c:numCache>
                <c:formatCode>General</c:formatCode>
                <c:ptCount val="11"/>
                <c:pt idx="0">
                  <c:v>56</c:v>
                </c:pt>
                <c:pt idx="1">
                  <c:v>143</c:v>
                </c:pt>
                <c:pt idx="2">
                  <c:v>116</c:v>
                </c:pt>
                <c:pt idx="3">
                  <c:v>54</c:v>
                </c:pt>
                <c:pt idx="4">
                  <c:v>46</c:v>
                </c:pt>
                <c:pt idx="5">
                  <c:v>36</c:v>
                </c:pt>
                <c:pt idx="6">
                  <c:v>20</c:v>
                </c:pt>
                <c:pt idx="7">
                  <c:v>28</c:v>
                </c:pt>
                <c:pt idx="8">
                  <c:v>12</c:v>
                </c:pt>
                <c:pt idx="9">
                  <c:v>11</c:v>
                </c:pt>
                <c:pt idx="10">
                  <c:v>5</c:v>
                </c:pt>
              </c:numCache>
            </c:numRef>
          </c:val>
          <c:extLst>
            <c:ext xmlns:c16="http://schemas.microsoft.com/office/drawing/2014/chart" uri="{C3380CC4-5D6E-409C-BE32-E72D297353CC}">
              <c16:uniqueId val="{00000016-4EF0-F74B-820F-25A72D30F08F}"/>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FFFFFF"/>
                </a:solidFill>
                <a:latin typeface="Arial"/>
              </a:defRPr>
            </a:pPr>
            <a:endParaRPr lang="en-US"/>
          </a:p>
        </c:txPr>
        <c:crossAx val="2094734552"/>
        <c:crosses val="autoZero"/>
        <c:auto val="1"/>
        <c:lblAlgn val="ctr"/>
        <c:lblOffset val="100"/>
        <c:noMultiLvlLbl val="1"/>
      </c:catAx>
      <c:valAx>
        <c:axId val="2094734552"/>
        <c:scaling>
          <c:orientation val="minMax"/>
          <c:max val="160"/>
          <c:min val="0"/>
        </c:scaling>
        <c:delete val="0"/>
        <c:axPos val="l"/>
        <c:majorGridlines>
          <c:spPr>
            <a:ln w="12700" cap="flat">
              <a:solidFill>
                <a:srgbClr val="2B2E3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59BB0"/>
                </a:solidFill>
                <a:latin typeface="Arial"/>
              </a:defRPr>
            </a:pPr>
            <a:endParaRPr lang="en-US"/>
          </a:p>
        </c:txPr>
        <c:crossAx val="2094734554"/>
        <c:crosses val="autoZero"/>
        <c:crossBetween val="between"/>
        <c:majorUnit val="40"/>
      </c:valAx>
      <c:spPr>
        <a:solidFill>
          <a:srgbClr val="11121A"/>
        </a:solidFill>
        <a:ln>
          <a:noFill/>
        </a:ln>
        <a:effectLst/>
      </c:spPr>
    </c:plotArea>
    <c:plotVisOnly val="1"/>
    <c:dispBlanksAs val="span"/>
    <c:showDLblsOverMax val="1"/>
  </c:chart>
  <c:spPr>
    <a:solidFill>
      <a:srgbClr val="11121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Decese la 10.000 de case</c:v>
                </c:pt>
              </c:strCache>
            </c:strRef>
          </c:tx>
          <c:spPr>
            <a:solidFill>
              <a:srgbClr val="FF4757"/>
            </a:solidFill>
            <a:effectLst/>
          </c:spPr>
          <c:invertIfNegative val="0"/>
          <c:dPt>
            <c:idx val="0"/>
            <c:invertIfNegative val="0"/>
            <c:bubble3D val="0"/>
            <c:extLst>
              <c:ext xmlns:c16="http://schemas.microsoft.com/office/drawing/2014/chart" uri="{C3380CC4-5D6E-409C-BE32-E72D297353CC}">
                <c16:uniqueId val="{00000001-5465-EA49-BE67-03E4F23BFEC8}"/>
              </c:ext>
            </c:extLst>
          </c:dPt>
          <c:dPt>
            <c:idx val="1"/>
            <c:invertIfNegative val="0"/>
            <c:bubble3D val="0"/>
            <c:spPr>
              <a:solidFill>
                <a:srgbClr val="27D3BE"/>
              </a:solidFill>
              <a:effectLst/>
            </c:spPr>
            <c:extLst>
              <c:ext xmlns:c16="http://schemas.microsoft.com/office/drawing/2014/chart" uri="{C3380CC4-5D6E-409C-BE32-E72D297353CC}">
                <c16:uniqueId val="{00000003-5465-EA49-BE67-03E4F23BFEC8}"/>
              </c:ext>
            </c:extLst>
          </c:dPt>
          <c:dPt>
            <c:idx val="2"/>
            <c:invertIfNegative val="0"/>
            <c:bubble3D val="0"/>
            <c:spPr>
              <a:solidFill>
                <a:srgbClr val="6E7488"/>
              </a:solidFill>
              <a:effectLst/>
            </c:spPr>
            <c:extLst>
              <c:ext xmlns:c16="http://schemas.microsoft.com/office/drawing/2014/chart" uri="{C3380CC4-5D6E-409C-BE32-E72D297353CC}">
                <c16:uniqueId val="{00000005-5465-EA49-BE67-03E4F23BFEC8}"/>
              </c:ext>
            </c:extLst>
          </c:dPt>
          <c:dLbls>
            <c:numFmt formatCode="[$-418]0" sourceLinked="0"/>
            <c:spPr>
              <a:noFill/>
              <a:ln>
                <a:noFill/>
              </a:ln>
              <a:effectLst/>
            </c:spPr>
            <c:txPr>
              <a:bodyPr/>
              <a:lstStyle/>
              <a:p>
                <a:pPr>
                  <a:defRPr sz="1800" b="0" i="0" u="none" strike="noStrike">
                    <a:solidFill>
                      <a:srgbClr val="FFFFFF"/>
                    </a:solidFill>
                    <a:latin typeface="Arial"/>
                  </a:defRPr>
                </a:pPr>
                <a:endParaRPr lang="en-R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Southwark &amp; Vauxhall</c:v>
                </c:pt>
                <c:pt idx="1">
                  <c:v>Lambeth</c:v>
                </c:pt>
                <c:pt idx="2">
                  <c:v>Restul Londrei</c:v>
                </c:pt>
              </c:strCache>
            </c:strRef>
          </c:cat>
          <c:val>
            <c:numRef>
              <c:f>Sheet1!$B$2:$B$4</c:f>
              <c:numCache>
                <c:formatCode>General</c:formatCode>
                <c:ptCount val="3"/>
                <c:pt idx="0">
                  <c:v>315</c:v>
                </c:pt>
                <c:pt idx="1">
                  <c:v>37</c:v>
                </c:pt>
                <c:pt idx="2">
                  <c:v>59</c:v>
                </c:pt>
              </c:numCache>
            </c:numRef>
          </c:val>
          <c:extLst>
            <c:ext xmlns:c16="http://schemas.microsoft.com/office/drawing/2014/chart" uri="{C3380CC4-5D6E-409C-BE32-E72D297353CC}">
              <c16:uniqueId val="{00000006-5465-EA49-BE67-03E4F23BFEC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lblOffset val="100"/>
        <c:noMultiLvlLbl val="1"/>
      </c:catAx>
      <c:valAx>
        <c:axId val="2094734552"/>
        <c:scaling>
          <c:orientation val="minMax"/>
          <c:max val="350"/>
          <c:min val="0"/>
        </c:scaling>
        <c:delete val="0"/>
        <c:axPos val="l"/>
        <c:majorGridlines>
          <c:spPr>
            <a:ln w="12700" cap="flat">
              <a:solidFill>
                <a:srgbClr val="2B2E3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59BB0"/>
                </a:solidFill>
                <a:latin typeface="Arial"/>
              </a:defRPr>
            </a:pPr>
            <a:endParaRPr lang="en-US"/>
          </a:p>
        </c:txPr>
        <c:crossAx val="2094734554"/>
        <c:crosses val="autoZero"/>
        <c:crossBetween val="between"/>
        <c:majorUnit val="70"/>
      </c:valAx>
      <c:spPr>
        <a:solidFill>
          <a:srgbClr val="11121A"/>
        </a:solidFill>
        <a:ln>
          <a:noFill/>
        </a:ln>
        <a:effectLst/>
      </c:spPr>
    </c:plotArea>
    <c:plotVisOnly val="1"/>
    <c:dispBlanksAs val="span"/>
    <c:showDLblsOverMax val="1"/>
  </c:chart>
  <c:spPr>
    <a:solidFill>
      <a:srgbClr val="11121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2948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Capul de coloană spune „No. of Fatal Attacks”: atacuri fatale, nu atacuri. 143 și 12 sunt numărători fără numitor.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Care jumătate a frazei se citează de obicei? Ce pierde versiunea scurtă?</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Lucrarea lui Snow a fost retipărită în 1936, cu o introducere a lui Wade Hampton Frost.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Etapele nu se cer după număr. Chestionarul de 15 grile din ultima ședință poate întreba ordinea lor logică, cu definiția de caz înaintea căutării cazurilor.</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prima întrebare, nu se poate da un an: acceptarea largă a lucrării lui Snow a cerut o schimbare majoră a felului în care erau gândite cauzele bolilor.</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chart" Target="../charts/char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669280" cy="5669280"/>
          </a:xfrm>
          <a:prstGeom prst="ellipse">
            <a:avLst/>
          </a:prstGeom>
          <a:solidFill>
            <a:srgbClr val="19202E"/>
          </a:solidFill>
          <a:ln/>
        </p:spPr>
        <p:txBody>
          <a:bodyPr/>
          <a:lstStyle/>
          <a:p>
            <a:endParaRPr lang="ro-RO"/>
          </a:p>
        </p:txBody>
      </p:sp>
      <p:sp>
        <p:nvSpPr>
          <p:cNvPr id="3" name="Shape 1"/>
          <p:cNvSpPr/>
          <p:nvPr/>
        </p:nvSpPr>
        <p:spPr>
          <a:xfrm>
            <a:off x="10332720" y="3840480"/>
            <a:ext cx="3291840" cy="3291840"/>
          </a:xfrm>
          <a:prstGeom prst="ellipse">
            <a:avLst/>
          </a:prstGeom>
          <a:solidFill>
            <a:srgbClr val="1A1D2A"/>
          </a:solidFill>
          <a:ln/>
        </p:spPr>
        <p:txBody>
          <a:bodyPr/>
          <a:lstStyle/>
          <a:p>
            <a:endParaRPr lang="ro-RO"/>
          </a:p>
        </p:txBody>
      </p:sp>
      <p:sp>
        <p:nvSpPr>
          <p:cNvPr id="4" name="Shape 2"/>
          <p:cNvSpPr/>
          <p:nvPr/>
        </p:nvSpPr>
        <p:spPr>
          <a:xfrm>
            <a:off x="685800" y="777240"/>
            <a:ext cx="2377440" cy="329184"/>
          </a:xfrm>
          <a:prstGeom prst="roundRect">
            <a:avLst>
              <a:gd name="adj" fmla="val 50000"/>
            </a:avLst>
          </a:prstGeom>
          <a:solidFill>
            <a:srgbClr val="FF4757"/>
          </a:solidFill>
          <a:ln w="12700">
            <a:solidFill>
              <a:srgbClr val="FF4757"/>
            </a:solidFill>
            <a:prstDash val="solid"/>
          </a:ln>
        </p:spPr>
        <p:txBody>
          <a:bodyPr/>
          <a:lstStyle/>
          <a:p>
            <a:endParaRPr lang="ro-RO"/>
          </a:p>
        </p:txBody>
      </p:sp>
      <p:sp>
        <p:nvSpPr>
          <p:cNvPr id="5" name="Text 3"/>
          <p:cNvSpPr/>
          <p:nvPr/>
        </p:nvSpPr>
        <p:spPr>
          <a:xfrm>
            <a:off x="685800" y="777240"/>
            <a:ext cx="2377440" cy="329184"/>
          </a:xfrm>
          <a:prstGeom prst="rect">
            <a:avLst/>
          </a:prstGeom>
          <a:noFill/>
          <a:ln/>
        </p:spPr>
        <p:txBody>
          <a:bodyPr wrap="square" lIns="0" tIns="0" rIns="0" bIns="0" rtlCol="0" anchor="ctr"/>
          <a:lstStyle/>
          <a:p>
            <a:pPr marL="0" indent="0" algn="ctr">
              <a:buNone/>
            </a:pPr>
            <a:r>
              <a:rPr lang="en-US" sz="1150" b="1" dirty="0">
                <a:solidFill>
                  <a:srgbClr val="2E060B"/>
                </a:solidFill>
                <a:latin typeface="Palatino Linotype" pitchFamily="34" charset="0"/>
                <a:ea typeface="Palatino Linotype" pitchFamily="34" charset="-122"/>
                <a:cs typeface="Palatino Linotype" pitchFamily="34" charset="-120"/>
              </a:rPr>
              <a:t>SESIUNEA 1 / 7</a:t>
            </a:r>
            <a:endParaRPr lang="en-US" sz="1150" dirty="0"/>
          </a:p>
        </p:txBody>
      </p:sp>
      <p:sp>
        <p:nvSpPr>
          <p:cNvPr id="6" name="Text 4"/>
          <p:cNvSpPr/>
          <p:nvPr/>
        </p:nvSpPr>
        <p:spPr>
          <a:xfrm>
            <a:off x="685800" y="1371600"/>
            <a:ext cx="9875520" cy="822960"/>
          </a:xfrm>
          <a:prstGeom prst="rect">
            <a:avLst/>
          </a:prstGeom>
          <a:noFill/>
          <a:ln/>
        </p:spPr>
        <p:txBody>
          <a:bodyPr wrap="square" lIns="0" tIns="0" rIns="0" bIns="0" rtlCol="0" anchor="ctr"/>
          <a:lstStyle/>
          <a:p>
            <a:pPr marL="0" indent="0">
              <a:buNone/>
            </a:pPr>
            <a:r>
              <a:rPr lang="en-US" sz="4600" b="1" dirty="0">
                <a:solidFill>
                  <a:srgbClr val="FFFFFF"/>
                </a:solidFill>
                <a:latin typeface="Palatino Linotype" pitchFamily="34" charset="0"/>
                <a:ea typeface="Palatino Linotype" pitchFamily="34" charset="-122"/>
                <a:cs typeface="Palatino Linotype" pitchFamily="34" charset="-120"/>
              </a:rPr>
              <a:t>Mânerul pompei:</a:t>
            </a:r>
            <a:endParaRPr lang="en-US" sz="4600" dirty="0"/>
          </a:p>
        </p:txBody>
      </p:sp>
      <p:sp>
        <p:nvSpPr>
          <p:cNvPr id="7" name="Text 5"/>
          <p:cNvSpPr/>
          <p:nvPr/>
        </p:nvSpPr>
        <p:spPr>
          <a:xfrm>
            <a:off x="685800" y="2148840"/>
            <a:ext cx="9875520" cy="822960"/>
          </a:xfrm>
          <a:prstGeom prst="rect">
            <a:avLst/>
          </a:prstGeom>
          <a:noFill/>
          <a:ln/>
        </p:spPr>
        <p:txBody>
          <a:bodyPr wrap="square" lIns="0" tIns="0" rIns="0" bIns="0" rtlCol="0" anchor="ctr"/>
          <a:lstStyle/>
          <a:p>
            <a:pPr marL="0" indent="0">
              <a:buNone/>
            </a:pPr>
            <a:r>
              <a:rPr lang="en-US" sz="4600" b="1" dirty="0">
                <a:solidFill>
                  <a:srgbClr val="27D3BE"/>
                </a:solidFill>
                <a:latin typeface="Palatino Linotype" pitchFamily="34" charset="0"/>
                <a:ea typeface="Palatino Linotype" pitchFamily="34" charset="-122"/>
                <a:cs typeface="Palatino Linotype" pitchFamily="34" charset="-120"/>
              </a:rPr>
              <a:t>cum se rezolvă</a:t>
            </a:r>
            <a:endParaRPr lang="en-US" sz="4600" dirty="0"/>
          </a:p>
        </p:txBody>
      </p:sp>
      <p:sp>
        <p:nvSpPr>
          <p:cNvPr id="8" name="Text 6"/>
          <p:cNvSpPr/>
          <p:nvPr/>
        </p:nvSpPr>
        <p:spPr>
          <a:xfrm>
            <a:off x="685800" y="2926080"/>
            <a:ext cx="9875520" cy="822960"/>
          </a:xfrm>
          <a:prstGeom prst="rect">
            <a:avLst/>
          </a:prstGeom>
          <a:noFill/>
          <a:ln/>
        </p:spPr>
        <p:txBody>
          <a:bodyPr wrap="square" lIns="0" tIns="0" rIns="0" bIns="0" rtlCol="0" anchor="ctr"/>
          <a:lstStyle/>
          <a:p>
            <a:pPr marL="0" indent="0">
              <a:buNone/>
            </a:pPr>
            <a:r>
              <a:rPr lang="en-US" sz="4600" b="1" dirty="0">
                <a:solidFill>
                  <a:srgbClr val="27D3BE"/>
                </a:solidFill>
                <a:latin typeface="Palatino Linotype" pitchFamily="34" charset="0"/>
                <a:ea typeface="Palatino Linotype" pitchFamily="34" charset="-122"/>
                <a:cs typeface="Palatino Linotype" pitchFamily="34" charset="-120"/>
              </a:rPr>
              <a:t>de fapt un focar</a:t>
            </a:r>
            <a:endParaRPr lang="en-US" sz="4600" dirty="0"/>
          </a:p>
        </p:txBody>
      </p:sp>
      <p:sp>
        <p:nvSpPr>
          <p:cNvPr id="9" name="Text 7"/>
          <p:cNvSpPr/>
          <p:nvPr/>
        </p:nvSpPr>
        <p:spPr>
          <a:xfrm>
            <a:off x="685800" y="3886200"/>
            <a:ext cx="9692640" cy="457200"/>
          </a:xfrm>
          <a:prstGeom prst="rect">
            <a:avLst/>
          </a:prstGeom>
          <a:noFill/>
          <a:ln/>
        </p:spPr>
        <p:txBody>
          <a:bodyPr wrap="square" lIns="0" tIns="0" rIns="0" bIns="0" rtlCol="0" anchor="ctr"/>
          <a:lstStyle/>
          <a:p>
            <a:pPr marL="0" indent="0">
              <a:buNone/>
            </a:pPr>
            <a:r>
              <a:rPr lang="en-US" sz="1800" dirty="0">
                <a:solidFill>
                  <a:srgbClr val="959BB0"/>
                </a:solidFill>
                <a:latin typeface="Palatino Linotype" pitchFamily="34" charset="0"/>
                <a:ea typeface="Palatino Linotype" pitchFamily="34" charset="-122"/>
                <a:cs typeface="Palatino Linotype" pitchFamily="34" charset="-120"/>
              </a:rPr>
              <a:t>Londra 1854 · anatomia unei investigații de teren · și profesia care s-a născut din ea</a:t>
            </a:r>
            <a:endParaRPr lang="en-US" sz="1800" dirty="0"/>
          </a:p>
        </p:txBody>
      </p:sp>
      <p:sp>
        <p:nvSpPr>
          <p:cNvPr id="10" name="Shape 8"/>
          <p:cNvSpPr/>
          <p:nvPr/>
        </p:nvSpPr>
        <p:spPr>
          <a:xfrm>
            <a:off x="713232" y="4526280"/>
            <a:ext cx="1645920" cy="32004"/>
          </a:xfrm>
          <a:prstGeom prst="rect">
            <a:avLst/>
          </a:prstGeom>
          <a:solidFill>
            <a:srgbClr val="FF4757"/>
          </a:solidFill>
          <a:ln/>
        </p:spPr>
        <p:txBody>
          <a:bodyPr/>
          <a:lstStyle/>
          <a:p>
            <a:endParaRPr lang="ro-RO"/>
          </a:p>
        </p:txBody>
      </p:sp>
      <p:sp>
        <p:nvSpPr>
          <p:cNvPr id="11" name="Text 9"/>
          <p:cNvSpPr/>
          <p:nvPr/>
        </p:nvSpPr>
        <p:spPr>
          <a:xfrm>
            <a:off x="685800" y="4800600"/>
            <a:ext cx="10058400" cy="914400"/>
          </a:xfrm>
          <a:prstGeom prst="rect">
            <a:avLst/>
          </a:prstGeom>
          <a:noFill/>
          <a:ln/>
        </p:spPr>
        <p:txBody>
          <a:bodyPr wrap="square" lIns="0" tIns="0" rIns="0" bIns="0" rtlCol="0" anchor="ctr"/>
          <a:lstStyle/>
          <a:p>
            <a:pPr marL="0" indent="0">
              <a:lnSpc>
                <a:spcPts val="2200"/>
              </a:lnSpc>
              <a:buNone/>
            </a:pPr>
            <a:r>
              <a:rPr lang="en-US" sz="1250" b="1" dirty="0">
                <a:solidFill>
                  <a:srgbClr val="FFFFFF"/>
                </a:solidFill>
                <a:latin typeface="Palatino Linotype" pitchFamily="34" charset="0"/>
                <a:ea typeface="Palatino Linotype" pitchFamily="34" charset="-122"/>
                <a:cs typeface="Palatino Linotype" pitchFamily="34" charset="-120"/>
              </a:rPr>
              <a:t>DETECTIVII EPIDEMIILOR: cum ucid bolile milioane de oameni și cum le oprim</a:t>
            </a:r>
            <a:endParaRPr lang="en-US" sz="1250" dirty="0"/>
          </a:p>
          <a:p>
            <a:pPr marL="0" indent="0">
              <a:lnSpc>
                <a:spcPts val="2200"/>
              </a:lnSpc>
              <a:buNone/>
            </a:pPr>
            <a:r>
              <a:rPr lang="en-US" sz="1250" dirty="0">
                <a:solidFill>
                  <a:srgbClr val="959BB0"/>
                </a:solidFill>
                <a:latin typeface="Palatino Linotype" pitchFamily="34" charset="0"/>
                <a:ea typeface="Palatino Linotype" pitchFamily="34" charset="-122"/>
                <a:cs typeface="Palatino Linotype" pitchFamily="34" charset="-120"/>
              </a:rPr>
              <a:t>Conf. Univ. Dr. Adrian Pană · UMF „Iuliu Hațieganu” Cluj-Napoca · An II, Sem. I · 2026–2027</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PROPOZIȚIA PE CARE O ȘTIE TOATĂ LUMEA</a:t>
            </a:r>
            <a:endParaRPr lang="en-US" sz="1150" dirty="0"/>
          </a:p>
        </p:txBody>
      </p:sp>
      <p:sp>
        <p:nvSpPr>
          <p:cNvPr id="3" name="Shape 1"/>
          <p:cNvSpPr/>
          <p:nvPr/>
        </p:nvSpPr>
        <p:spPr>
          <a:xfrm>
            <a:off x="594360" y="1234440"/>
            <a:ext cx="10972800" cy="1828800"/>
          </a:xfrm>
          <a:prstGeom prst="roundRect">
            <a:avLst>
              <a:gd name="adj" fmla="val 4500"/>
            </a:avLst>
          </a:prstGeom>
          <a:solidFill>
            <a:srgbClr val="272A38"/>
          </a:solidFill>
          <a:ln w="12700">
            <a:solidFill>
              <a:srgbClr val="272A38"/>
            </a:solidFill>
            <a:prstDash val="solid"/>
          </a:ln>
        </p:spPr>
        <p:txBody>
          <a:bodyPr/>
          <a:lstStyle/>
          <a:p>
            <a:endParaRPr lang="ro-RO"/>
          </a:p>
        </p:txBody>
      </p:sp>
      <p:sp>
        <p:nvSpPr>
          <p:cNvPr id="4" name="Text 2"/>
          <p:cNvSpPr/>
          <p:nvPr/>
        </p:nvSpPr>
        <p:spPr>
          <a:xfrm>
            <a:off x="1051560" y="1234440"/>
            <a:ext cx="10058400" cy="1828800"/>
          </a:xfrm>
          <a:prstGeom prst="rect">
            <a:avLst/>
          </a:prstGeom>
          <a:noFill/>
          <a:ln/>
        </p:spPr>
        <p:txBody>
          <a:bodyPr wrap="square" lIns="0" tIns="0" rIns="0" bIns="0" rtlCol="0" anchor="ctr"/>
          <a:lstStyle/>
          <a:p>
            <a:pPr marL="0" indent="0">
              <a:lnSpc>
                <a:spcPts val="3800"/>
              </a:lnSpc>
              <a:buNone/>
            </a:pPr>
            <a:r>
              <a:rPr lang="en-US" sz="2700" b="1" i="1" dirty="0">
                <a:solidFill>
                  <a:srgbClr val="FFFFFF"/>
                </a:solidFill>
                <a:latin typeface="Palatino Linotype" pitchFamily="34" charset="0"/>
                <a:ea typeface="Palatino Linotype" pitchFamily="34" charset="-122"/>
                <a:cs typeface="Palatino Linotype" pitchFamily="34" charset="-120"/>
              </a:rPr>
              <a:t>„John Snow a scos mânerul pompei din Broad Street</a:t>
            </a:r>
            <a:endParaRPr lang="en-US" sz="2700" dirty="0"/>
          </a:p>
          <a:p>
            <a:pPr marL="0" indent="0">
              <a:lnSpc>
                <a:spcPts val="3800"/>
              </a:lnSpc>
              <a:buNone/>
            </a:pPr>
            <a:r>
              <a:rPr lang="en-US" sz="2700" b="1" i="1" dirty="0">
                <a:solidFill>
                  <a:srgbClr val="FFFFFF"/>
                </a:solidFill>
                <a:latin typeface="Palatino Linotype" pitchFamily="34" charset="0"/>
                <a:ea typeface="Palatino Linotype" pitchFamily="34" charset="-122"/>
                <a:cs typeface="Palatino Linotype" pitchFamily="34" charset="-120"/>
              </a:rPr>
              <a:t>și a oprit epidemia de holeră din Londra.”</a:t>
            </a:r>
            <a:endParaRPr lang="en-US" sz="2700" dirty="0"/>
          </a:p>
        </p:txBody>
      </p:sp>
      <p:sp>
        <p:nvSpPr>
          <p:cNvPr id="5" name="Text 3"/>
          <p:cNvSpPr/>
          <p:nvPr/>
        </p:nvSpPr>
        <p:spPr>
          <a:xfrm>
            <a:off x="594360" y="3429000"/>
            <a:ext cx="10972800" cy="411480"/>
          </a:xfrm>
          <a:prstGeom prst="rect">
            <a:avLst/>
          </a:prstGeom>
          <a:noFill/>
          <a:ln/>
        </p:spPr>
        <p:txBody>
          <a:bodyPr wrap="square" lIns="0" tIns="0" rIns="0" bIns="0" rtlCol="0" anchor="ctr"/>
          <a:lstStyle/>
          <a:p>
            <a:pPr marL="0" indent="0">
              <a:buNone/>
            </a:pPr>
            <a:r>
              <a:rPr lang="en-US" sz="1800" dirty="0">
                <a:solidFill>
                  <a:srgbClr val="959BB0"/>
                </a:solidFill>
                <a:latin typeface="Palatino Linotype" pitchFamily="34" charset="0"/>
                <a:ea typeface="Palatino Linotype" pitchFamily="34" charset="-122"/>
                <a:cs typeface="Palatino Linotype" pitchFamily="34" charset="-120"/>
              </a:rPr>
              <a:t>Are un erou. Are un obiect. Are un gest. Are un efect.</a:t>
            </a:r>
            <a:endParaRPr lang="en-US" sz="1800" dirty="0"/>
          </a:p>
        </p:txBody>
      </p:sp>
      <p:sp>
        <p:nvSpPr>
          <p:cNvPr id="6" name="Shape 4"/>
          <p:cNvSpPr/>
          <p:nvPr/>
        </p:nvSpPr>
        <p:spPr>
          <a:xfrm>
            <a:off x="621792" y="4069080"/>
            <a:ext cx="1828800" cy="32004"/>
          </a:xfrm>
          <a:prstGeom prst="rect">
            <a:avLst/>
          </a:prstGeom>
          <a:solidFill>
            <a:srgbClr val="FFC24B"/>
          </a:solidFill>
          <a:ln/>
        </p:spPr>
        <p:txBody>
          <a:bodyPr/>
          <a:lstStyle/>
          <a:p>
            <a:endParaRPr lang="ro-RO"/>
          </a:p>
        </p:txBody>
      </p:sp>
      <p:sp>
        <p:nvSpPr>
          <p:cNvPr id="7" name="Text 5"/>
          <p:cNvSpPr/>
          <p:nvPr/>
        </p:nvSpPr>
        <p:spPr>
          <a:xfrm>
            <a:off x="594360" y="4343400"/>
            <a:ext cx="10972800" cy="640080"/>
          </a:xfrm>
          <a:prstGeom prst="rect">
            <a:avLst/>
          </a:prstGeom>
          <a:noFill/>
          <a:ln/>
        </p:spPr>
        <p:txBody>
          <a:bodyPr wrap="square" lIns="0" tIns="0" rIns="0" bIns="0" rtlCol="0" anchor="ctr"/>
          <a:lstStyle/>
          <a:p>
            <a:pPr marL="0" indent="0">
              <a:buNone/>
            </a:pPr>
            <a:r>
              <a:rPr lang="en-US" sz="4400" b="1" dirty="0">
                <a:solidFill>
                  <a:srgbClr val="FFC24B"/>
                </a:solidFill>
                <a:latin typeface="Palatino Linotype" pitchFamily="34" charset="0"/>
                <a:ea typeface="Palatino Linotype" pitchFamily="34" charset="-122"/>
                <a:cs typeface="Palatino Linotype" pitchFamily="34" charset="-120"/>
              </a:rPr>
              <a:t>Este falsă.</a:t>
            </a:r>
            <a:endParaRPr lang="en-US" sz="4400" dirty="0"/>
          </a:p>
        </p:txBody>
      </p:sp>
      <p:sp>
        <p:nvSpPr>
          <p:cNvPr id="8" name="Text 6"/>
          <p:cNvSpPr/>
          <p:nvPr/>
        </p:nvSpPr>
        <p:spPr>
          <a:xfrm>
            <a:off x="594360" y="5166360"/>
            <a:ext cx="10972800" cy="457200"/>
          </a:xfrm>
          <a:prstGeom prst="rect">
            <a:avLst/>
          </a:prstGeom>
          <a:noFill/>
          <a:ln/>
        </p:spPr>
        <p:txBody>
          <a:bodyPr wrap="square" lIns="0" tIns="0" rIns="0" bIns="0" rtlCol="0" anchor="ctr"/>
          <a:lstStyle/>
          <a:p>
            <a:pPr marL="0" indent="0">
              <a:buNone/>
            </a:pPr>
            <a:r>
              <a:rPr lang="en-US" sz="1700" dirty="0">
                <a:solidFill>
                  <a:srgbClr val="FFFFFF"/>
                </a:solidFill>
                <a:latin typeface="Palatino Linotype" pitchFamily="34" charset="0"/>
                <a:ea typeface="Palatino Linotype" pitchFamily="34" charset="-122"/>
                <a:cs typeface="Palatino Linotype" pitchFamily="34" charset="-120"/>
              </a:rPr>
              <a:t>Nu pentru că vreun element ar fi inventat. Pentru felul în care sunt legate între ele.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a:effectLst/>
      </p:bgPr>
    </p:bg>
    <p:spTree>
      <p:nvGrpSpPr>
        <p:cNvPr id="1" name=""/>
        <p:cNvGrpSpPr/>
        <p:nvPr/>
      </p:nvGrpSpPr>
      <p:grpSpPr>
        <a:xfrm>
          <a:off x="0" y="0"/>
          <a:ext cx="0" cy="0"/>
          <a:chOff x="0" y="0"/>
          <a:chExt cx="0" cy="0"/>
        </a:xfrm>
      </p:grpSpPr>
      <p:sp>
        <p:nvSpPr>
          <p:cNvPr id="2" name="Shape 0"/>
          <p:cNvSpPr/>
          <p:nvPr/>
        </p:nvSpPr>
        <p:spPr>
          <a:xfrm>
            <a:off x="9098280" y="329184"/>
            <a:ext cx="2468880" cy="402336"/>
          </a:xfrm>
          <a:prstGeom prst="roundRect">
            <a:avLst>
              <a:gd name="adj" fmla="val 50000"/>
            </a:avLst>
          </a:prstGeom>
          <a:solidFill>
            <a:srgbClr val="FFC24B"/>
          </a:solidFill>
          <a:ln w="12700">
            <a:solidFill>
              <a:srgbClr val="FFC24B"/>
            </a:solidFill>
            <a:prstDash val="solid"/>
          </a:ln>
        </p:spPr>
        <p:txBody>
          <a:bodyPr/>
          <a:lstStyle/>
          <a:p>
            <a:endParaRPr lang="ro-RO"/>
          </a:p>
        </p:txBody>
      </p:sp>
      <p:sp>
        <p:nvSpPr>
          <p:cNvPr id="3" name="Text 1"/>
          <p:cNvSpPr/>
          <p:nvPr/>
        </p:nvSpPr>
        <p:spPr>
          <a:xfrm>
            <a:off x="9098280" y="329184"/>
            <a:ext cx="2468880" cy="402336"/>
          </a:xfrm>
          <a:prstGeom prst="rect">
            <a:avLst/>
          </a:prstGeom>
          <a:noFill/>
          <a:ln/>
        </p:spPr>
        <p:txBody>
          <a:bodyPr wrap="square" lIns="0" tIns="0" rIns="0" bIns="0" rtlCol="0" anchor="ctr"/>
          <a:lstStyle/>
          <a:p>
            <a:pPr marL="0" indent="0" algn="ctr">
              <a:buNone/>
            </a:pPr>
            <a:r>
              <a:rPr lang="en-US" sz="1050" b="1" dirty="0">
                <a:solidFill>
                  <a:srgbClr val="11121A"/>
                </a:solidFill>
                <a:latin typeface="Palatino Linotype" pitchFamily="34" charset="0"/>
                <a:ea typeface="Palatino Linotype" pitchFamily="34" charset="-122"/>
                <a:cs typeface="Palatino Linotype" pitchFamily="34" charset="-120"/>
              </a:rPr>
              <a:t>MENTIMETER · ANONIM</a:t>
            </a:r>
            <a:endParaRPr lang="en-US" sz="1050" dirty="0"/>
          </a:p>
        </p:txBody>
      </p:sp>
      <p:sp>
        <p:nvSpPr>
          <p:cNvPr id="4" name="Text 2"/>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C24B"/>
                </a:solidFill>
                <a:latin typeface="Palatino Linotype" pitchFamily="34" charset="0"/>
                <a:ea typeface="Palatino Linotype" pitchFamily="34" charset="-122"/>
                <a:cs typeface="Palatino Linotype" pitchFamily="34" charset="-120"/>
              </a:rPr>
              <a:t>MĂSURARE INIȚIALĂ</a:t>
            </a:r>
            <a:endParaRPr lang="en-US" sz="115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Patru întrebări. Le reluăm la final.</a:t>
            </a:r>
            <a:endParaRPr lang="en-US" sz="3000" dirty="0"/>
          </a:p>
        </p:txBody>
      </p:sp>
      <p:sp>
        <p:nvSpPr>
          <p:cNvPr id="6" name="Shape 4"/>
          <p:cNvSpPr/>
          <p:nvPr/>
        </p:nvSpPr>
        <p:spPr>
          <a:xfrm>
            <a:off x="594360" y="1965960"/>
            <a:ext cx="10972800" cy="822960"/>
          </a:xfrm>
          <a:prstGeom prst="roundRect">
            <a:avLst>
              <a:gd name="adj" fmla="val 10000"/>
            </a:avLst>
          </a:prstGeom>
          <a:solidFill>
            <a:srgbClr val="1D1F2B"/>
          </a:solidFill>
          <a:ln w="12700">
            <a:solidFill>
              <a:srgbClr val="1D1F2B"/>
            </a:solidFill>
            <a:prstDash val="solid"/>
          </a:ln>
        </p:spPr>
        <p:txBody>
          <a:bodyPr/>
          <a:lstStyle/>
          <a:p>
            <a:endParaRPr lang="ro-RO"/>
          </a:p>
        </p:txBody>
      </p:sp>
      <p:sp>
        <p:nvSpPr>
          <p:cNvPr id="7" name="Shape 5"/>
          <p:cNvSpPr/>
          <p:nvPr/>
        </p:nvSpPr>
        <p:spPr>
          <a:xfrm>
            <a:off x="914400" y="2167128"/>
            <a:ext cx="420624" cy="420624"/>
          </a:xfrm>
          <a:prstGeom prst="ellipse">
            <a:avLst/>
          </a:prstGeom>
          <a:solidFill>
            <a:srgbClr val="FFC24B"/>
          </a:solidFill>
          <a:ln/>
        </p:spPr>
        <p:txBody>
          <a:bodyPr/>
          <a:lstStyle/>
          <a:p>
            <a:endParaRPr lang="ro-RO"/>
          </a:p>
        </p:txBody>
      </p:sp>
      <p:sp>
        <p:nvSpPr>
          <p:cNvPr id="8" name="Text 6"/>
          <p:cNvSpPr/>
          <p:nvPr/>
        </p:nvSpPr>
        <p:spPr>
          <a:xfrm>
            <a:off x="914400" y="2167128"/>
            <a:ext cx="420624" cy="420624"/>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M1</a:t>
            </a:r>
            <a:endParaRPr lang="en-US" sz="1400" dirty="0"/>
          </a:p>
        </p:txBody>
      </p:sp>
      <p:sp>
        <p:nvSpPr>
          <p:cNvPr id="9" name="Text 7"/>
          <p:cNvSpPr/>
          <p:nvPr/>
        </p:nvSpPr>
        <p:spPr>
          <a:xfrm>
            <a:off x="1600200" y="1965960"/>
            <a:ext cx="9692640" cy="822960"/>
          </a:xfrm>
          <a:prstGeom prst="rect">
            <a:avLst/>
          </a:prstGeom>
          <a:noFill/>
          <a:ln/>
        </p:spPr>
        <p:txBody>
          <a:bodyPr wrap="square" lIns="0" tIns="0" rIns="0" bIns="0" rtlCol="0" anchor="ctr"/>
          <a:lstStyle/>
          <a:p>
            <a:pPr marL="0" indent="0">
              <a:buNone/>
            </a:pPr>
            <a:r>
              <a:rPr lang="en-US" sz="1600" dirty="0">
                <a:solidFill>
                  <a:srgbClr val="FFFFFF"/>
                </a:solidFill>
                <a:latin typeface="Palatino Linotype" pitchFamily="34" charset="0"/>
                <a:ea typeface="Palatino Linotype" pitchFamily="34" charset="-122"/>
                <a:cs typeface="Palatino Linotype" pitchFamily="34" charset="-120"/>
              </a:rPr>
              <a:t>În ce an au acceptat autoritățile britanice teoria lui Snow?</a:t>
            </a:r>
            <a:endParaRPr lang="en-US" sz="1600" dirty="0"/>
          </a:p>
        </p:txBody>
      </p:sp>
      <p:sp>
        <p:nvSpPr>
          <p:cNvPr id="10" name="Shape 8"/>
          <p:cNvSpPr/>
          <p:nvPr/>
        </p:nvSpPr>
        <p:spPr>
          <a:xfrm>
            <a:off x="594360" y="2935224"/>
            <a:ext cx="10972800" cy="822960"/>
          </a:xfrm>
          <a:prstGeom prst="roundRect">
            <a:avLst>
              <a:gd name="adj" fmla="val 10000"/>
            </a:avLst>
          </a:prstGeom>
          <a:solidFill>
            <a:srgbClr val="1D1F2B"/>
          </a:solidFill>
          <a:ln w="12700">
            <a:solidFill>
              <a:srgbClr val="1D1F2B"/>
            </a:solidFill>
            <a:prstDash val="solid"/>
          </a:ln>
        </p:spPr>
        <p:txBody>
          <a:bodyPr/>
          <a:lstStyle/>
          <a:p>
            <a:endParaRPr lang="ro-RO"/>
          </a:p>
        </p:txBody>
      </p:sp>
      <p:sp>
        <p:nvSpPr>
          <p:cNvPr id="11" name="Shape 9"/>
          <p:cNvSpPr/>
          <p:nvPr/>
        </p:nvSpPr>
        <p:spPr>
          <a:xfrm>
            <a:off x="914400" y="3136392"/>
            <a:ext cx="420624" cy="420624"/>
          </a:xfrm>
          <a:prstGeom prst="ellipse">
            <a:avLst/>
          </a:prstGeom>
          <a:solidFill>
            <a:srgbClr val="FFC24B"/>
          </a:solidFill>
          <a:ln/>
        </p:spPr>
        <p:txBody>
          <a:bodyPr/>
          <a:lstStyle/>
          <a:p>
            <a:endParaRPr lang="ro-RO"/>
          </a:p>
        </p:txBody>
      </p:sp>
      <p:sp>
        <p:nvSpPr>
          <p:cNvPr id="12" name="Text 10"/>
          <p:cNvSpPr/>
          <p:nvPr/>
        </p:nvSpPr>
        <p:spPr>
          <a:xfrm>
            <a:off x="914400" y="3136392"/>
            <a:ext cx="420624" cy="420624"/>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M2</a:t>
            </a:r>
            <a:endParaRPr lang="en-US" sz="1400" dirty="0"/>
          </a:p>
        </p:txBody>
      </p:sp>
      <p:sp>
        <p:nvSpPr>
          <p:cNvPr id="13" name="Text 11"/>
          <p:cNvSpPr/>
          <p:nvPr/>
        </p:nvSpPr>
        <p:spPr>
          <a:xfrm>
            <a:off x="1600200" y="2935224"/>
            <a:ext cx="9692640" cy="822960"/>
          </a:xfrm>
          <a:prstGeom prst="rect">
            <a:avLst/>
          </a:prstGeom>
          <a:noFill/>
          <a:ln/>
        </p:spPr>
        <p:txBody>
          <a:bodyPr wrap="square" lIns="0" tIns="0" rIns="0" bIns="0" rtlCol="0" anchor="ctr"/>
          <a:lstStyle/>
          <a:p>
            <a:pPr marL="0" indent="0">
              <a:buNone/>
            </a:pPr>
            <a:r>
              <a:rPr lang="en-US" sz="1600" dirty="0">
                <a:solidFill>
                  <a:srgbClr val="FFFFFF"/>
                </a:solidFill>
                <a:latin typeface="Palatino Linotype" pitchFamily="34" charset="0"/>
                <a:ea typeface="Palatino Linotype" pitchFamily="34" charset="-122"/>
                <a:cs typeface="Palatino Linotype" pitchFamily="34" charset="-120"/>
              </a:rPr>
              <a:t>Câte zile după vârful epidemic a fost scos mânerul pompei?</a:t>
            </a:r>
            <a:endParaRPr lang="en-US" sz="1600" dirty="0"/>
          </a:p>
        </p:txBody>
      </p:sp>
      <p:sp>
        <p:nvSpPr>
          <p:cNvPr id="14" name="Shape 12"/>
          <p:cNvSpPr/>
          <p:nvPr/>
        </p:nvSpPr>
        <p:spPr>
          <a:xfrm>
            <a:off x="594360" y="3904488"/>
            <a:ext cx="10972800" cy="822960"/>
          </a:xfrm>
          <a:prstGeom prst="roundRect">
            <a:avLst>
              <a:gd name="adj" fmla="val 10000"/>
            </a:avLst>
          </a:prstGeom>
          <a:solidFill>
            <a:srgbClr val="1D1F2B"/>
          </a:solidFill>
          <a:ln w="12700">
            <a:solidFill>
              <a:srgbClr val="1D1F2B"/>
            </a:solidFill>
            <a:prstDash val="solid"/>
          </a:ln>
        </p:spPr>
        <p:txBody>
          <a:bodyPr/>
          <a:lstStyle/>
          <a:p>
            <a:endParaRPr lang="ro-RO"/>
          </a:p>
        </p:txBody>
      </p:sp>
      <p:sp>
        <p:nvSpPr>
          <p:cNvPr id="15" name="Shape 13"/>
          <p:cNvSpPr/>
          <p:nvPr/>
        </p:nvSpPr>
        <p:spPr>
          <a:xfrm>
            <a:off x="914400" y="4105656"/>
            <a:ext cx="420624" cy="420624"/>
          </a:xfrm>
          <a:prstGeom prst="ellipse">
            <a:avLst/>
          </a:prstGeom>
          <a:solidFill>
            <a:srgbClr val="FFC24B"/>
          </a:solidFill>
          <a:ln/>
        </p:spPr>
        <p:txBody>
          <a:bodyPr/>
          <a:lstStyle/>
          <a:p>
            <a:endParaRPr lang="ro-RO"/>
          </a:p>
        </p:txBody>
      </p:sp>
      <p:sp>
        <p:nvSpPr>
          <p:cNvPr id="16" name="Text 14"/>
          <p:cNvSpPr/>
          <p:nvPr/>
        </p:nvSpPr>
        <p:spPr>
          <a:xfrm>
            <a:off x="914400" y="4105656"/>
            <a:ext cx="420624" cy="420624"/>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M3</a:t>
            </a:r>
            <a:endParaRPr lang="en-US" sz="1400" dirty="0"/>
          </a:p>
        </p:txBody>
      </p:sp>
      <p:sp>
        <p:nvSpPr>
          <p:cNvPr id="17" name="Text 15"/>
          <p:cNvSpPr/>
          <p:nvPr/>
        </p:nvSpPr>
        <p:spPr>
          <a:xfrm>
            <a:off x="1600200" y="3904488"/>
            <a:ext cx="9692640" cy="822960"/>
          </a:xfrm>
          <a:prstGeom prst="rect">
            <a:avLst/>
          </a:prstGeom>
          <a:noFill/>
          <a:ln/>
        </p:spPr>
        <p:txBody>
          <a:bodyPr wrap="square" lIns="0" tIns="0" rIns="0" bIns="0" rtlCol="0" anchor="ctr"/>
          <a:lstStyle/>
          <a:p>
            <a:pPr marL="0" indent="0">
              <a:buNone/>
            </a:pPr>
            <a:r>
              <a:rPr lang="en-US" sz="1600" dirty="0">
                <a:solidFill>
                  <a:srgbClr val="FFFFFF"/>
                </a:solidFill>
                <a:latin typeface="Palatino Linotype" pitchFamily="34" charset="0"/>
                <a:ea typeface="Palatino Linotype" pitchFamily="34" charset="-122"/>
                <a:cs typeface="Palatino Linotype" pitchFamily="34" charset="-120"/>
              </a:rPr>
              <a:t>Cine a identificat cazul index din Broad Street?</a:t>
            </a:r>
            <a:endParaRPr lang="en-US" sz="1600" dirty="0"/>
          </a:p>
        </p:txBody>
      </p:sp>
      <p:sp>
        <p:nvSpPr>
          <p:cNvPr id="18" name="Shape 16"/>
          <p:cNvSpPr/>
          <p:nvPr/>
        </p:nvSpPr>
        <p:spPr>
          <a:xfrm>
            <a:off x="594360" y="4873752"/>
            <a:ext cx="10972800" cy="822960"/>
          </a:xfrm>
          <a:prstGeom prst="roundRect">
            <a:avLst>
              <a:gd name="adj" fmla="val 10000"/>
            </a:avLst>
          </a:prstGeom>
          <a:solidFill>
            <a:srgbClr val="1D1F2B"/>
          </a:solidFill>
          <a:ln w="12700">
            <a:solidFill>
              <a:srgbClr val="1D1F2B"/>
            </a:solidFill>
            <a:prstDash val="solid"/>
          </a:ln>
        </p:spPr>
        <p:txBody>
          <a:bodyPr/>
          <a:lstStyle/>
          <a:p>
            <a:endParaRPr lang="ro-RO"/>
          </a:p>
        </p:txBody>
      </p:sp>
      <p:sp>
        <p:nvSpPr>
          <p:cNvPr id="19" name="Shape 17"/>
          <p:cNvSpPr/>
          <p:nvPr/>
        </p:nvSpPr>
        <p:spPr>
          <a:xfrm>
            <a:off x="914400" y="5074920"/>
            <a:ext cx="420624" cy="420624"/>
          </a:xfrm>
          <a:prstGeom prst="ellipse">
            <a:avLst/>
          </a:prstGeom>
          <a:solidFill>
            <a:srgbClr val="FFC24B"/>
          </a:solidFill>
          <a:ln/>
        </p:spPr>
        <p:txBody>
          <a:bodyPr/>
          <a:lstStyle/>
          <a:p>
            <a:endParaRPr lang="ro-RO"/>
          </a:p>
        </p:txBody>
      </p:sp>
      <p:sp>
        <p:nvSpPr>
          <p:cNvPr id="20" name="Text 18"/>
          <p:cNvSpPr/>
          <p:nvPr/>
        </p:nvSpPr>
        <p:spPr>
          <a:xfrm>
            <a:off x="914400" y="5074920"/>
            <a:ext cx="420624" cy="420624"/>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M4</a:t>
            </a:r>
            <a:endParaRPr lang="en-US" sz="1400" dirty="0"/>
          </a:p>
        </p:txBody>
      </p:sp>
      <p:sp>
        <p:nvSpPr>
          <p:cNvPr id="21" name="Text 19"/>
          <p:cNvSpPr/>
          <p:nvPr/>
        </p:nvSpPr>
        <p:spPr>
          <a:xfrm>
            <a:off x="1600200" y="4873752"/>
            <a:ext cx="9692640" cy="822960"/>
          </a:xfrm>
          <a:prstGeom prst="rect">
            <a:avLst/>
          </a:prstGeom>
          <a:noFill/>
          <a:ln/>
        </p:spPr>
        <p:txBody>
          <a:bodyPr wrap="square" lIns="0" tIns="0" rIns="0" bIns="0" rtlCol="0" anchor="ctr"/>
          <a:lstStyle/>
          <a:p>
            <a:pPr marL="0" indent="0">
              <a:buNone/>
            </a:pPr>
            <a:r>
              <a:rPr lang="en-US" sz="1600" dirty="0">
                <a:solidFill>
                  <a:srgbClr val="FFFFFF"/>
                </a:solidFill>
                <a:latin typeface="Palatino Linotype" pitchFamily="34" charset="0"/>
                <a:ea typeface="Palatino Linotype" pitchFamily="34" charset="-122"/>
                <a:cs typeface="Palatino Linotype" pitchFamily="34" charset="-120"/>
              </a:rPr>
              <a:t>Câți pași are o investigație de focar, conform CDC?</a:t>
            </a:r>
            <a:endParaRPr lang="en-US" sz="1600" dirty="0"/>
          </a:p>
        </p:txBody>
      </p:sp>
      <p:sp>
        <p:nvSpPr>
          <p:cNvPr id="22" name="Text 20"/>
          <p:cNvSpPr/>
          <p:nvPr/>
        </p:nvSpPr>
        <p:spPr>
          <a:xfrm>
            <a:off x="594360" y="5989320"/>
            <a:ext cx="10972800" cy="365760"/>
          </a:xfrm>
          <a:prstGeom prst="rect">
            <a:avLst/>
          </a:prstGeom>
          <a:noFill/>
          <a:ln/>
        </p:spPr>
        <p:txBody>
          <a:bodyPr wrap="square" lIns="0" tIns="0" rIns="0" bIns="0" rtlCol="0" anchor="ctr"/>
          <a:lstStyle/>
          <a:p>
            <a:pPr marL="0" indent="0">
              <a:buNone/>
            </a:pPr>
            <a:r>
              <a:rPr lang="en-US" sz="1250" i="1" dirty="0">
                <a:solidFill>
                  <a:srgbClr val="959BB0"/>
                </a:solidFill>
                <a:latin typeface="Palatino Linotype" pitchFamily="34" charset="0"/>
                <a:ea typeface="Palatino Linotype" pitchFamily="34" charset="-122"/>
                <a:cs typeface="Palatino Linotype" pitchFamily="34" charset="-120"/>
              </a:rPr>
              <a:t>La una, răspunsul depinde de lista pe care o citiți.</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C24B"/>
                </a:solidFill>
                <a:latin typeface="Palatino Linotype" pitchFamily="34" charset="0"/>
                <a:ea typeface="Palatino Linotype" pitchFamily="34" charset="-122"/>
                <a:cs typeface="Palatino Linotype" pitchFamily="34" charset="-120"/>
              </a:rPr>
              <a:t>„NO. OF FATAL ATTACKS” PE ZI, BROAD STREET, 1854</a:t>
            </a:r>
            <a:endParaRPr lang="en-US" sz="1150" dirty="0"/>
          </a:p>
        </p:txBody>
      </p:sp>
      <p:sp>
        <p:nvSpPr>
          <p:cNvPr id="3" name="Text 1"/>
          <p:cNvSpPr/>
          <p:nvPr/>
        </p:nvSpPr>
        <p:spPr>
          <a:xfrm>
            <a:off x="594360" y="1097280"/>
            <a:ext cx="5120640" cy="1371600"/>
          </a:xfrm>
          <a:prstGeom prst="rect">
            <a:avLst/>
          </a:prstGeom>
          <a:noFill/>
          <a:ln/>
        </p:spPr>
        <p:txBody>
          <a:bodyPr wrap="square" lIns="0" tIns="0" rIns="0" bIns="0" rtlCol="0" anchor="ctr"/>
          <a:lstStyle/>
          <a:p>
            <a:pPr marL="0" indent="0">
              <a:buNone/>
            </a:pPr>
            <a:r>
              <a:rPr lang="en-US" sz="11400" b="1" dirty="0">
                <a:solidFill>
                  <a:srgbClr val="FF4757"/>
                </a:solidFill>
                <a:latin typeface="Palatino Linotype" pitchFamily="34" charset="0"/>
                <a:ea typeface="Palatino Linotype" pitchFamily="34" charset="-122"/>
                <a:cs typeface="Palatino Linotype" pitchFamily="34" charset="-120"/>
              </a:rPr>
              <a:t>143</a:t>
            </a:r>
            <a:endParaRPr lang="en-US" sz="11400" dirty="0"/>
          </a:p>
        </p:txBody>
      </p:sp>
      <p:sp>
        <p:nvSpPr>
          <p:cNvPr id="4" name="Text 2"/>
          <p:cNvSpPr/>
          <p:nvPr/>
        </p:nvSpPr>
        <p:spPr>
          <a:xfrm>
            <a:off x="6400800" y="1097280"/>
            <a:ext cx="5120640" cy="1371600"/>
          </a:xfrm>
          <a:prstGeom prst="rect">
            <a:avLst/>
          </a:prstGeom>
          <a:noFill/>
          <a:ln/>
        </p:spPr>
        <p:txBody>
          <a:bodyPr wrap="square" lIns="0" tIns="0" rIns="0" bIns="0" rtlCol="0" anchor="ctr"/>
          <a:lstStyle/>
          <a:p>
            <a:pPr marL="0" indent="0">
              <a:buNone/>
            </a:pPr>
            <a:r>
              <a:rPr lang="en-US" sz="11400" b="1" dirty="0">
                <a:solidFill>
                  <a:srgbClr val="27D3BE"/>
                </a:solidFill>
                <a:latin typeface="Palatino Linotype" pitchFamily="34" charset="0"/>
                <a:ea typeface="Palatino Linotype" pitchFamily="34" charset="-122"/>
                <a:cs typeface="Palatino Linotype" pitchFamily="34" charset="-120"/>
              </a:rPr>
              <a:t>12</a:t>
            </a:r>
            <a:endParaRPr lang="en-US" sz="11400" dirty="0"/>
          </a:p>
        </p:txBody>
      </p:sp>
      <p:sp>
        <p:nvSpPr>
          <p:cNvPr id="5" name="Text 3"/>
          <p:cNvSpPr/>
          <p:nvPr/>
        </p:nvSpPr>
        <p:spPr>
          <a:xfrm>
            <a:off x="594360" y="2560320"/>
            <a:ext cx="5120640" cy="384048"/>
          </a:xfrm>
          <a:prstGeom prst="rect">
            <a:avLst/>
          </a:prstGeom>
          <a:noFill/>
          <a:ln/>
        </p:spPr>
        <p:txBody>
          <a:bodyPr wrap="square" lIns="0" tIns="0" rIns="0" bIns="0" rtlCol="0" anchor="ctr"/>
          <a:lstStyle/>
          <a:p>
            <a:pPr marL="0" indent="0">
              <a:buNone/>
            </a:pPr>
            <a:r>
              <a:rPr lang="en-US" sz="1700" dirty="0">
                <a:solidFill>
                  <a:srgbClr val="FFFFFF"/>
                </a:solidFill>
                <a:latin typeface="Palatino Linotype" pitchFamily="34" charset="0"/>
                <a:ea typeface="Palatino Linotype" pitchFamily="34" charset="-122"/>
                <a:cs typeface="Palatino Linotype" pitchFamily="34" charset="-120"/>
              </a:rPr>
              <a:t>1 septembrie — vârful</a:t>
            </a:r>
            <a:endParaRPr lang="en-US" sz="1700" dirty="0"/>
          </a:p>
        </p:txBody>
      </p:sp>
      <p:sp>
        <p:nvSpPr>
          <p:cNvPr id="6" name="Text 4"/>
          <p:cNvSpPr/>
          <p:nvPr/>
        </p:nvSpPr>
        <p:spPr>
          <a:xfrm>
            <a:off x="6400800" y="2560320"/>
            <a:ext cx="5120640" cy="384048"/>
          </a:xfrm>
          <a:prstGeom prst="rect">
            <a:avLst/>
          </a:prstGeom>
          <a:noFill/>
          <a:ln/>
        </p:spPr>
        <p:txBody>
          <a:bodyPr wrap="square" lIns="0" tIns="0" rIns="0" bIns="0" rtlCol="0" anchor="ctr"/>
          <a:lstStyle/>
          <a:p>
            <a:pPr marL="0" indent="0">
              <a:buNone/>
            </a:pPr>
            <a:r>
              <a:rPr lang="en-US" sz="1700" dirty="0">
                <a:solidFill>
                  <a:srgbClr val="FFFFFF"/>
                </a:solidFill>
                <a:latin typeface="Palatino Linotype" pitchFamily="34" charset="0"/>
                <a:ea typeface="Palatino Linotype" pitchFamily="34" charset="-122"/>
                <a:cs typeface="Palatino Linotype" pitchFamily="34" charset="-120"/>
              </a:rPr>
              <a:t>8 septembrie — ziua intervenției</a:t>
            </a:r>
            <a:endParaRPr lang="en-US" sz="1700" dirty="0"/>
          </a:p>
        </p:txBody>
      </p:sp>
      <p:sp>
        <p:nvSpPr>
          <p:cNvPr id="7" name="Shape 5"/>
          <p:cNvSpPr/>
          <p:nvPr/>
        </p:nvSpPr>
        <p:spPr>
          <a:xfrm>
            <a:off x="621792" y="3246120"/>
            <a:ext cx="1828800" cy="32004"/>
          </a:xfrm>
          <a:prstGeom prst="rect">
            <a:avLst/>
          </a:prstGeom>
          <a:solidFill>
            <a:srgbClr val="FFC24B"/>
          </a:solidFill>
          <a:ln/>
        </p:spPr>
        <p:txBody>
          <a:bodyPr/>
          <a:lstStyle/>
          <a:p>
            <a:endParaRPr lang="ro-RO"/>
          </a:p>
        </p:txBody>
      </p:sp>
      <p:sp>
        <p:nvSpPr>
          <p:cNvPr id="8" name="Text 6"/>
          <p:cNvSpPr/>
          <p:nvPr/>
        </p:nvSpPr>
        <p:spPr>
          <a:xfrm>
            <a:off x="594360" y="3520440"/>
            <a:ext cx="10972800" cy="530352"/>
          </a:xfrm>
          <a:prstGeom prst="rect">
            <a:avLst/>
          </a:prstGeom>
          <a:noFill/>
          <a:ln/>
        </p:spPr>
        <p:txBody>
          <a:bodyPr wrap="square" lIns="0" tIns="0" rIns="0" bIns="0" rtlCol="0" anchor="ctr"/>
          <a:lstStyle/>
          <a:p>
            <a:pPr marL="0" indent="0">
              <a:buNone/>
            </a:pPr>
            <a:r>
              <a:rPr lang="en-US" sz="2500" b="1" dirty="0">
                <a:solidFill>
                  <a:srgbClr val="FFC24B"/>
                </a:solidFill>
                <a:latin typeface="Palatino Linotype" pitchFamily="34" charset="0"/>
                <a:ea typeface="Palatino Linotype" pitchFamily="34" charset="-122"/>
                <a:cs typeface="Palatino Linotype" pitchFamily="34" charset="-120"/>
              </a:rPr>
              <a:t>Citiți capul de coloană: atacuri FATALE, nu atacuri.</a:t>
            </a:r>
            <a:endParaRPr lang="en-US" sz="2500" dirty="0"/>
          </a:p>
        </p:txBody>
      </p:sp>
      <p:sp>
        <p:nvSpPr>
          <p:cNvPr id="9" name="Text 7"/>
          <p:cNvSpPr/>
          <p:nvPr/>
        </p:nvSpPr>
        <p:spPr>
          <a:xfrm>
            <a:off x="594360" y="4114800"/>
            <a:ext cx="10972800" cy="411480"/>
          </a:xfrm>
          <a:prstGeom prst="rect">
            <a:avLst/>
          </a:prstGeom>
          <a:noFill/>
          <a:ln/>
        </p:spPr>
        <p:txBody>
          <a:bodyPr wrap="square" lIns="0" tIns="0" rIns="0" bIns="0" rtlCol="0" anchor="ctr"/>
          <a:lstStyle/>
          <a:p>
            <a:pPr marL="0" indent="0">
              <a:buNone/>
            </a:pPr>
            <a:r>
              <a:rPr lang="en-US" sz="1500" dirty="0">
                <a:solidFill>
                  <a:srgbClr val="FFFFFF"/>
                </a:solidFill>
                <a:latin typeface="Palatino Linotype" pitchFamily="34" charset="0"/>
                <a:ea typeface="Palatino Linotype" pitchFamily="34" charset="-122"/>
                <a:cs typeface="Palatino Linotype" pitchFamily="34" charset="-120"/>
              </a:rPr>
              <a:t>Snow a numărat morții, nu bolnavii: o curbă a îmbolnăvirilor încheiate cu decesul, după ziua atacului.</a:t>
            </a:r>
            <a:endParaRPr lang="en-US" sz="1500" dirty="0"/>
          </a:p>
        </p:txBody>
      </p:sp>
      <p:sp>
        <p:nvSpPr>
          <p:cNvPr id="10" name="Shape 8"/>
          <p:cNvSpPr/>
          <p:nvPr/>
        </p:nvSpPr>
        <p:spPr>
          <a:xfrm>
            <a:off x="594360" y="4617720"/>
            <a:ext cx="10972800" cy="1325880"/>
          </a:xfrm>
          <a:prstGeom prst="roundRect">
            <a:avLst>
              <a:gd name="adj" fmla="val 6207"/>
            </a:avLst>
          </a:prstGeom>
          <a:solidFill>
            <a:srgbClr val="2A1E22"/>
          </a:solidFill>
          <a:ln w="12700">
            <a:solidFill>
              <a:srgbClr val="2A1E22"/>
            </a:solidFill>
            <a:prstDash val="solid"/>
          </a:ln>
        </p:spPr>
        <p:txBody>
          <a:bodyPr/>
          <a:lstStyle/>
          <a:p>
            <a:endParaRPr lang="ro-RO"/>
          </a:p>
        </p:txBody>
      </p:sp>
      <p:sp>
        <p:nvSpPr>
          <p:cNvPr id="11" name="Text 9"/>
          <p:cNvSpPr/>
          <p:nvPr/>
        </p:nvSpPr>
        <p:spPr>
          <a:xfrm>
            <a:off x="960120" y="4617720"/>
            <a:ext cx="10241280" cy="1325880"/>
          </a:xfrm>
          <a:prstGeom prst="rect">
            <a:avLst/>
          </a:prstGeom>
          <a:noFill/>
          <a:ln/>
        </p:spPr>
        <p:txBody>
          <a:bodyPr wrap="square" lIns="0" tIns="0" rIns="0" bIns="0" rtlCol="0" anchor="ctr"/>
          <a:lstStyle/>
          <a:p>
            <a:pPr marL="0" indent="0">
              <a:buNone/>
            </a:pPr>
            <a:r>
              <a:rPr lang="en-US" sz="1600" b="1" dirty="0">
                <a:solidFill>
                  <a:srgbClr val="FF4757"/>
                </a:solidFill>
                <a:latin typeface="Palatino Linotype" pitchFamily="34" charset="0"/>
                <a:ea typeface="Palatino Linotype" pitchFamily="34" charset="-122"/>
                <a:cs typeface="Palatino Linotype" pitchFamily="34" charset="-120"/>
              </a:rPr>
              <a:t>Și încă ceva, mai important: 143 și 12 sunt NUMĂRĂTORI FĂRĂ NUMITOR. Nu sunt incidențe. Populația Soho se golea în exact zilele în care numărul scade — prin fugă și prin deces.</a:t>
            </a:r>
            <a:endParaRPr lang="en-US" sz="1600" dirty="0"/>
          </a:p>
        </p:txBody>
      </p:sp>
      <p:sp>
        <p:nvSpPr>
          <p:cNvPr id="12" name="Text 10"/>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Sursa: Snow J. On the Mode of Communication of Cholera, ed. 2. Londra: Churchill, 1855, tabel p. 49, cap de coloană „No. of Fatal Attacks”.</a:t>
            </a:r>
            <a:endParaRPr lang="en-US" sz="900" dirty="0"/>
          </a:p>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12/143 = 8,4% — calcul propriu.</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27D3BE"/>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073B34"/>
                </a:solidFill>
                <a:latin typeface="Palatino Linotype" pitchFamily="34" charset="0"/>
                <a:ea typeface="Palatino Linotype" pitchFamily="34" charset="-122"/>
                <a:cs typeface="Palatino Linotype" pitchFamily="34" charset="-120"/>
              </a:rPr>
              <a:t>TEZA ACESTEI SESIUNI</a:t>
            </a:r>
            <a:endParaRPr lang="en-US" sz="1150" dirty="0"/>
          </a:p>
        </p:txBody>
      </p:sp>
      <p:sp>
        <p:nvSpPr>
          <p:cNvPr id="3" name="Text 1"/>
          <p:cNvSpPr/>
          <p:nvPr/>
        </p:nvSpPr>
        <p:spPr>
          <a:xfrm>
            <a:off x="594360" y="960120"/>
            <a:ext cx="10972800" cy="640080"/>
          </a:xfrm>
          <a:prstGeom prst="rect">
            <a:avLst/>
          </a:prstGeom>
          <a:noFill/>
          <a:ln/>
        </p:spPr>
        <p:txBody>
          <a:bodyPr wrap="square" lIns="0" tIns="0" rIns="0" bIns="0" rtlCol="0" anchor="ctr"/>
          <a:lstStyle/>
          <a:p>
            <a:pPr marL="0" indent="0">
              <a:buNone/>
            </a:pPr>
            <a:r>
              <a:rPr lang="en-US" sz="3200" b="1" dirty="0">
                <a:solidFill>
                  <a:srgbClr val="073B34"/>
                </a:solidFill>
                <a:latin typeface="Palatino Linotype" pitchFamily="34" charset="0"/>
                <a:ea typeface="Palatino Linotype" pitchFamily="34" charset="-122"/>
                <a:cs typeface="Palatino Linotype" pitchFamily="34" charset="-120"/>
              </a:rPr>
              <a:t>Ce ține minte lumea vs. ce a decis de fapt cazul</a:t>
            </a:r>
            <a:endParaRPr lang="en-US" sz="3200" dirty="0"/>
          </a:p>
        </p:txBody>
      </p:sp>
      <p:sp>
        <p:nvSpPr>
          <p:cNvPr id="4" name="Text 2"/>
          <p:cNvSpPr/>
          <p:nvPr/>
        </p:nvSpPr>
        <p:spPr>
          <a:xfrm>
            <a:off x="3977640" y="2331720"/>
            <a:ext cx="3566160" cy="274320"/>
          </a:xfrm>
          <a:prstGeom prst="rect">
            <a:avLst/>
          </a:prstGeom>
          <a:noFill/>
          <a:ln/>
        </p:spPr>
        <p:txBody>
          <a:bodyPr wrap="square" lIns="0" tIns="0" rIns="0" bIns="0" rtlCol="0" anchor="ctr"/>
          <a:lstStyle/>
          <a:p>
            <a:pPr marL="0" indent="0">
              <a:buNone/>
            </a:pPr>
            <a:r>
              <a:rPr lang="en-US" sz="1250" b="1" dirty="0">
                <a:solidFill>
                  <a:srgbClr val="073B34"/>
                </a:solidFill>
                <a:latin typeface="Palatino Linotype" pitchFamily="34" charset="0"/>
                <a:ea typeface="Palatino Linotype" pitchFamily="34" charset="-122"/>
                <a:cs typeface="Palatino Linotype" pitchFamily="34" charset="-120"/>
              </a:rPr>
              <a:t>Ce ține minte lumea</a:t>
            </a:r>
            <a:endParaRPr lang="en-US" sz="1250" dirty="0"/>
          </a:p>
        </p:txBody>
      </p:sp>
      <p:sp>
        <p:nvSpPr>
          <p:cNvPr id="5" name="Text 3"/>
          <p:cNvSpPr/>
          <p:nvPr/>
        </p:nvSpPr>
        <p:spPr>
          <a:xfrm>
            <a:off x="7726680" y="2331720"/>
            <a:ext cx="3657600" cy="274320"/>
          </a:xfrm>
          <a:prstGeom prst="rect">
            <a:avLst/>
          </a:prstGeom>
          <a:noFill/>
          <a:ln/>
        </p:spPr>
        <p:txBody>
          <a:bodyPr wrap="square" lIns="0" tIns="0" rIns="0" bIns="0" rtlCol="0" anchor="ctr"/>
          <a:lstStyle/>
          <a:p>
            <a:pPr marL="0" indent="0">
              <a:buNone/>
            </a:pPr>
            <a:r>
              <a:rPr lang="en-US" sz="1250" b="1" dirty="0">
                <a:solidFill>
                  <a:srgbClr val="073B34"/>
                </a:solidFill>
                <a:latin typeface="Palatino Linotype" pitchFamily="34" charset="0"/>
                <a:ea typeface="Palatino Linotype" pitchFamily="34" charset="-122"/>
                <a:cs typeface="Palatino Linotype" pitchFamily="34" charset="-120"/>
              </a:rPr>
              <a:t>Ce a decis cazul</a:t>
            </a:r>
            <a:endParaRPr lang="en-US" sz="1250" dirty="0"/>
          </a:p>
        </p:txBody>
      </p:sp>
      <p:sp>
        <p:nvSpPr>
          <p:cNvPr id="6" name="Shape 4"/>
          <p:cNvSpPr/>
          <p:nvPr/>
        </p:nvSpPr>
        <p:spPr>
          <a:xfrm>
            <a:off x="594360" y="2615184"/>
            <a:ext cx="10972800" cy="566928"/>
          </a:xfrm>
          <a:prstGeom prst="roundRect">
            <a:avLst>
              <a:gd name="adj" fmla="val 14516"/>
            </a:avLst>
          </a:prstGeom>
          <a:solidFill>
            <a:srgbClr val="07564B"/>
          </a:solidFill>
          <a:ln w="12700">
            <a:solidFill>
              <a:srgbClr val="07564B"/>
            </a:solidFill>
            <a:prstDash val="solid"/>
          </a:ln>
        </p:spPr>
        <p:txBody>
          <a:bodyPr/>
          <a:lstStyle/>
          <a:p>
            <a:endParaRPr lang="ro-RO"/>
          </a:p>
        </p:txBody>
      </p:sp>
      <p:sp>
        <p:nvSpPr>
          <p:cNvPr id="7" name="Text 5"/>
          <p:cNvSpPr/>
          <p:nvPr/>
        </p:nvSpPr>
        <p:spPr>
          <a:xfrm>
            <a:off x="914400" y="2615184"/>
            <a:ext cx="2926080" cy="566928"/>
          </a:xfrm>
          <a:prstGeom prst="rect">
            <a:avLst/>
          </a:prstGeom>
          <a:noFill/>
          <a:ln/>
        </p:spPr>
        <p:txBody>
          <a:bodyPr wrap="square" lIns="0" tIns="0" rIns="0" bIns="0" rtlCol="0" anchor="ctr"/>
          <a:lstStyle/>
          <a:p>
            <a:pPr marL="0" indent="0">
              <a:buNone/>
            </a:pPr>
            <a:r>
              <a:rPr lang="en-US" sz="1350" b="1" dirty="0">
                <a:solidFill>
                  <a:srgbClr val="FFFFFF"/>
                </a:solidFill>
                <a:latin typeface="Palatino Linotype" pitchFamily="34" charset="0"/>
                <a:ea typeface="Palatino Linotype" pitchFamily="34" charset="-122"/>
                <a:cs typeface="Palatino Linotype" pitchFamily="34" charset="-120"/>
              </a:rPr>
              <a:t>Actul</a:t>
            </a:r>
            <a:endParaRPr lang="en-US" sz="1350" dirty="0"/>
          </a:p>
        </p:txBody>
      </p:sp>
      <p:sp>
        <p:nvSpPr>
          <p:cNvPr id="8" name="Text 6"/>
          <p:cNvSpPr/>
          <p:nvPr/>
        </p:nvSpPr>
        <p:spPr>
          <a:xfrm>
            <a:off x="3977640" y="2615184"/>
            <a:ext cx="3566160" cy="566928"/>
          </a:xfrm>
          <a:prstGeom prst="rect">
            <a:avLst/>
          </a:prstGeom>
          <a:noFill/>
          <a:ln/>
        </p:spPr>
        <p:txBody>
          <a:bodyPr wrap="square" lIns="0" tIns="0" rIns="0" bIns="0" rtlCol="0" anchor="ctr"/>
          <a:lstStyle/>
          <a:p>
            <a:pPr marL="0" indent="0">
              <a:buNone/>
            </a:pPr>
            <a:r>
              <a:rPr lang="en-US" sz="1200" dirty="0">
                <a:solidFill>
                  <a:srgbClr val="BFE9E1"/>
                </a:solidFill>
                <a:latin typeface="Palatino Linotype" pitchFamily="34" charset="0"/>
                <a:ea typeface="Palatino Linotype" pitchFamily="34" charset="-122"/>
                <a:cs typeface="Palatino Linotype" pitchFamily="34" charset="-120"/>
              </a:rPr>
              <a:t>mânerul, 8 septembrie</a:t>
            </a:r>
            <a:endParaRPr lang="en-US" sz="1200" dirty="0"/>
          </a:p>
        </p:txBody>
      </p:sp>
      <p:sp>
        <p:nvSpPr>
          <p:cNvPr id="9" name="Text 7"/>
          <p:cNvSpPr/>
          <p:nvPr/>
        </p:nvSpPr>
        <p:spPr>
          <a:xfrm>
            <a:off x="7726680" y="2615184"/>
            <a:ext cx="3657600" cy="566928"/>
          </a:xfrm>
          <a:prstGeom prst="rect">
            <a:avLst/>
          </a:prstGeom>
          <a:noFill/>
          <a:ln/>
        </p:spPr>
        <p:txBody>
          <a:bodyPr wrap="square" lIns="0" tIns="0" rIns="0" bIns="0" rtlCol="0" anchor="ctr"/>
          <a:lstStyle/>
          <a:p>
            <a:pPr marL="0" indent="0">
              <a:buNone/>
            </a:pPr>
            <a:r>
              <a:rPr lang="en-US" sz="1150" b="1" dirty="0">
                <a:solidFill>
                  <a:srgbClr val="FFC24B"/>
                </a:solidFill>
                <a:latin typeface="Palatino Linotype" pitchFamily="34" charset="0"/>
                <a:ea typeface="Palatino Linotype" pitchFamily="34" charset="-122"/>
                <a:cs typeface="Palatino Linotype" pitchFamily="34" charset="-120"/>
              </a:rPr>
              <a:t>12 atacuri fatale în acea zi — dar populația fugea</a:t>
            </a:r>
            <a:endParaRPr lang="en-US" sz="1150" dirty="0"/>
          </a:p>
        </p:txBody>
      </p:sp>
      <p:sp>
        <p:nvSpPr>
          <p:cNvPr id="10" name="Shape 8"/>
          <p:cNvSpPr/>
          <p:nvPr/>
        </p:nvSpPr>
        <p:spPr>
          <a:xfrm>
            <a:off x="594360" y="3255264"/>
            <a:ext cx="10972800" cy="566928"/>
          </a:xfrm>
          <a:prstGeom prst="roundRect">
            <a:avLst>
              <a:gd name="adj" fmla="val 14516"/>
            </a:avLst>
          </a:prstGeom>
          <a:solidFill>
            <a:srgbClr val="FFFFFF"/>
          </a:solidFill>
          <a:ln w="12700">
            <a:solidFill>
              <a:srgbClr val="FFFFFF"/>
            </a:solidFill>
            <a:prstDash val="solid"/>
          </a:ln>
        </p:spPr>
        <p:txBody>
          <a:bodyPr/>
          <a:lstStyle/>
          <a:p>
            <a:endParaRPr lang="ro-RO"/>
          </a:p>
        </p:txBody>
      </p:sp>
      <p:sp>
        <p:nvSpPr>
          <p:cNvPr id="11" name="Text 9"/>
          <p:cNvSpPr/>
          <p:nvPr/>
        </p:nvSpPr>
        <p:spPr>
          <a:xfrm>
            <a:off x="914400" y="3255264"/>
            <a:ext cx="2926080" cy="566928"/>
          </a:xfrm>
          <a:prstGeom prst="rect">
            <a:avLst/>
          </a:prstGeom>
          <a:noFill/>
          <a:ln/>
        </p:spPr>
        <p:txBody>
          <a:bodyPr wrap="square" lIns="0" tIns="0" rIns="0" bIns="0" rtlCol="0" anchor="ctr"/>
          <a:lstStyle/>
          <a:p>
            <a:pPr marL="0" indent="0">
              <a:buNone/>
            </a:pPr>
            <a:r>
              <a:rPr lang="en-US" sz="1350" b="1" dirty="0">
                <a:solidFill>
                  <a:srgbClr val="11121A"/>
                </a:solidFill>
                <a:latin typeface="Palatino Linotype" pitchFamily="34" charset="0"/>
                <a:ea typeface="Palatino Linotype" pitchFamily="34" charset="-122"/>
                <a:cs typeface="Palatino Linotype" pitchFamily="34" charset="-120"/>
              </a:rPr>
              <a:t>Instrumentul</a:t>
            </a:r>
            <a:endParaRPr lang="en-US" sz="1350" dirty="0"/>
          </a:p>
        </p:txBody>
      </p:sp>
      <p:sp>
        <p:nvSpPr>
          <p:cNvPr id="12" name="Text 10"/>
          <p:cNvSpPr/>
          <p:nvPr/>
        </p:nvSpPr>
        <p:spPr>
          <a:xfrm>
            <a:off x="3977640" y="3255264"/>
            <a:ext cx="3566160" cy="566928"/>
          </a:xfrm>
          <a:prstGeom prst="rect">
            <a:avLst/>
          </a:prstGeom>
          <a:noFill/>
          <a:ln/>
        </p:spPr>
        <p:txBody>
          <a:bodyPr wrap="square" lIns="0" tIns="0" rIns="0" bIns="0" rtlCol="0" anchor="ctr"/>
          <a:lstStyle/>
          <a:p>
            <a:pPr marL="0" indent="0">
              <a:buNone/>
            </a:pPr>
            <a:r>
              <a:rPr lang="en-US" sz="1200" dirty="0">
                <a:solidFill>
                  <a:srgbClr val="585A64"/>
                </a:solidFill>
                <a:latin typeface="Palatino Linotype" pitchFamily="34" charset="0"/>
                <a:ea typeface="Palatino Linotype" pitchFamily="34" charset="-122"/>
                <a:cs typeface="Palatino Linotype" pitchFamily="34" charset="-120"/>
              </a:rPr>
              <a:t>harta cu bare negre</a:t>
            </a:r>
            <a:endParaRPr lang="en-US" sz="1200" dirty="0"/>
          </a:p>
        </p:txBody>
      </p:sp>
      <p:sp>
        <p:nvSpPr>
          <p:cNvPr id="13" name="Text 11"/>
          <p:cNvSpPr/>
          <p:nvPr/>
        </p:nvSpPr>
        <p:spPr>
          <a:xfrm>
            <a:off x="7726680" y="3255264"/>
            <a:ext cx="3657600" cy="566928"/>
          </a:xfrm>
          <a:prstGeom prst="rect">
            <a:avLst/>
          </a:prstGeom>
          <a:noFill/>
          <a:ln/>
        </p:spPr>
        <p:txBody>
          <a:bodyPr wrap="square" lIns="0" tIns="0" rIns="0" bIns="0" rtlCol="0" anchor="ctr"/>
          <a:lstStyle/>
          <a:p>
            <a:pPr marL="0" indent="0">
              <a:buNone/>
            </a:pPr>
            <a:r>
              <a:rPr lang="en-US" sz="1150" b="1" dirty="0">
                <a:solidFill>
                  <a:srgbClr val="0E7C6B"/>
                </a:solidFill>
                <a:latin typeface="Palatino Linotype" pitchFamily="34" charset="0"/>
                <a:ea typeface="Palatino Linotype" pitchFamily="34" charset="-122"/>
                <a:cs typeface="Palatino Linotype" pitchFamily="34" charset="-120"/>
              </a:rPr>
              <a:t>315 vs. 37 la 10 000 de case</a:t>
            </a:r>
            <a:endParaRPr lang="en-US" sz="1150" dirty="0"/>
          </a:p>
        </p:txBody>
      </p:sp>
      <p:sp>
        <p:nvSpPr>
          <p:cNvPr id="14" name="Shape 12"/>
          <p:cNvSpPr/>
          <p:nvPr/>
        </p:nvSpPr>
        <p:spPr>
          <a:xfrm>
            <a:off x="594360" y="3895344"/>
            <a:ext cx="10972800" cy="566928"/>
          </a:xfrm>
          <a:prstGeom prst="roundRect">
            <a:avLst>
              <a:gd name="adj" fmla="val 14516"/>
            </a:avLst>
          </a:prstGeom>
          <a:solidFill>
            <a:srgbClr val="07564B"/>
          </a:solidFill>
          <a:ln w="12700">
            <a:solidFill>
              <a:srgbClr val="07564B"/>
            </a:solidFill>
            <a:prstDash val="solid"/>
          </a:ln>
        </p:spPr>
        <p:txBody>
          <a:bodyPr/>
          <a:lstStyle/>
          <a:p>
            <a:endParaRPr lang="ro-RO"/>
          </a:p>
        </p:txBody>
      </p:sp>
      <p:sp>
        <p:nvSpPr>
          <p:cNvPr id="15" name="Text 13"/>
          <p:cNvSpPr/>
          <p:nvPr/>
        </p:nvSpPr>
        <p:spPr>
          <a:xfrm>
            <a:off x="914400" y="3895344"/>
            <a:ext cx="2926080" cy="566928"/>
          </a:xfrm>
          <a:prstGeom prst="rect">
            <a:avLst/>
          </a:prstGeom>
          <a:noFill/>
          <a:ln/>
        </p:spPr>
        <p:txBody>
          <a:bodyPr wrap="square" lIns="0" tIns="0" rIns="0" bIns="0" rtlCol="0" anchor="ctr"/>
          <a:lstStyle/>
          <a:p>
            <a:pPr marL="0" indent="0">
              <a:buNone/>
            </a:pPr>
            <a:r>
              <a:rPr lang="en-US" sz="1350" b="1" dirty="0">
                <a:solidFill>
                  <a:srgbClr val="FFFFFF"/>
                </a:solidFill>
                <a:latin typeface="Palatino Linotype" pitchFamily="34" charset="0"/>
                <a:ea typeface="Palatino Linotype" pitchFamily="34" charset="-122"/>
                <a:cs typeface="Palatino Linotype" pitchFamily="34" charset="-120"/>
              </a:rPr>
              <a:t>Autorul</a:t>
            </a:r>
            <a:endParaRPr lang="en-US" sz="1350" dirty="0"/>
          </a:p>
        </p:txBody>
      </p:sp>
      <p:sp>
        <p:nvSpPr>
          <p:cNvPr id="16" name="Text 14"/>
          <p:cNvSpPr/>
          <p:nvPr/>
        </p:nvSpPr>
        <p:spPr>
          <a:xfrm>
            <a:off x="3977640" y="3895344"/>
            <a:ext cx="3566160" cy="566928"/>
          </a:xfrm>
          <a:prstGeom prst="rect">
            <a:avLst/>
          </a:prstGeom>
          <a:noFill/>
          <a:ln/>
        </p:spPr>
        <p:txBody>
          <a:bodyPr wrap="square" lIns="0" tIns="0" rIns="0" bIns="0" rtlCol="0" anchor="ctr"/>
          <a:lstStyle/>
          <a:p>
            <a:pPr marL="0" indent="0">
              <a:buNone/>
            </a:pPr>
            <a:r>
              <a:rPr lang="en-US" sz="1200" dirty="0">
                <a:solidFill>
                  <a:srgbClr val="BFE9E1"/>
                </a:solidFill>
                <a:latin typeface="Palatino Linotype" pitchFamily="34" charset="0"/>
                <a:ea typeface="Palatino Linotype" pitchFamily="34" charset="-122"/>
                <a:cs typeface="Palatino Linotype" pitchFamily="34" charset="-120"/>
              </a:rPr>
              <a:t>Snow, geniul singuratic</a:t>
            </a:r>
            <a:endParaRPr lang="en-US" sz="1200" dirty="0"/>
          </a:p>
        </p:txBody>
      </p:sp>
      <p:sp>
        <p:nvSpPr>
          <p:cNvPr id="17" name="Text 15"/>
          <p:cNvSpPr/>
          <p:nvPr/>
        </p:nvSpPr>
        <p:spPr>
          <a:xfrm>
            <a:off x="7726680" y="3895344"/>
            <a:ext cx="3657600" cy="566928"/>
          </a:xfrm>
          <a:prstGeom prst="rect">
            <a:avLst/>
          </a:prstGeom>
          <a:noFill/>
          <a:ln/>
        </p:spPr>
        <p:txBody>
          <a:bodyPr wrap="square" lIns="0" tIns="0" rIns="0" bIns="0" rtlCol="0" anchor="ctr"/>
          <a:lstStyle/>
          <a:p>
            <a:pPr marL="0" indent="0">
              <a:buNone/>
            </a:pPr>
            <a:r>
              <a:rPr lang="en-US" sz="1150" b="1" dirty="0">
                <a:solidFill>
                  <a:srgbClr val="FFC24B"/>
                </a:solidFill>
                <a:latin typeface="Palatino Linotype" pitchFamily="34" charset="0"/>
                <a:ea typeface="Palatino Linotype" pitchFamily="34" charset="-122"/>
                <a:cs typeface="Palatino Linotype" pitchFamily="34" charset="-120"/>
              </a:rPr>
              <a:t>Whitehead a găsit cazul index</a:t>
            </a:r>
            <a:endParaRPr lang="en-US" sz="1150" dirty="0"/>
          </a:p>
        </p:txBody>
      </p:sp>
      <p:sp>
        <p:nvSpPr>
          <p:cNvPr id="18" name="Shape 16"/>
          <p:cNvSpPr/>
          <p:nvPr/>
        </p:nvSpPr>
        <p:spPr>
          <a:xfrm>
            <a:off x="594360" y="4535424"/>
            <a:ext cx="10972800" cy="566928"/>
          </a:xfrm>
          <a:prstGeom prst="roundRect">
            <a:avLst>
              <a:gd name="adj" fmla="val 14516"/>
            </a:avLst>
          </a:prstGeom>
          <a:solidFill>
            <a:srgbClr val="FFFFFF"/>
          </a:solidFill>
          <a:ln w="12700">
            <a:solidFill>
              <a:srgbClr val="FFFFFF"/>
            </a:solidFill>
            <a:prstDash val="solid"/>
          </a:ln>
        </p:spPr>
        <p:txBody>
          <a:bodyPr/>
          <a:lstStyle/>
          <a:p>
            <a:endParaRPr lang="ro-RO"/>
          </a:p>
        </p:txBody>
      </p:sp>
      <p:sp>
        <p:nvSpPr>
          <p:cNvPr id="19" name="Text 17"/>
          <p:cNvSpPr/>
          <p:nvPr/>
        </p:nvSpPr>
        <p:spPr>
          <a:xfrm>
            <a:off x="914400" y="4535424"/>
            <a:ext cx="2926080" cy="566928"/>
          </a:xfrm>
          <a:prstGeom prst="rect">
            <a:avLst/>
          </a:prstGeom>
          <a:noFill/>
          <a:ln/>
        </p:spPr>
        <p:txBody>
          <a:bodyPr wrap="square" lIns="0" tIns="0" rIns="0" bIns="0" rtlCol="0" anchor="ctr"/>
          <a:lstStyle/>
          <a:p>
            <a:pPr marL="0" indent="0">
              <a:buNone/>
            </a:pPr>
            <a:r>
              <a:rPr lang="en-US" sz="1350" b="1" dirty="0">
                <a:solidFill>
                  <a:srgbClr val="11121A"/>
                </a:solidFill>
                <a:latin typeface="Palatino Linotype" pitchFamily="34" charset="0"/>
                <a:ea typeface="Palatino Linotype" pitchFamily="34" charset="-122"/>
                <a:cs typeface="Palatino Linotype" pitchFamily="34" charset="-120"/>
              </a:rPr>
              <a:t>Rezultatul</a:t>
            </a:r>
            <a:endParaRPr lang="en-US" sz="1350" dirty="0"/>
          </a:p>
        </p:txBody>
      </p:sp>
      <p:sp>
        <p:nvSpPr>
          <p:cNvPr id="20" name="Text 18"/>
          <p:cNvSpPr/>
          <p:nvPr/>
        </p:nvSpPr>
        <p:spPr>
          <a:xfrm>
            <a:off x="3977640" y="4535424"/>
            <a:ext cx="3566160" cy="566928"/>
          </a:xfrm>
          <a:prstGeom prst="rect">
            <a:avLst/>
          </a:prstGeom>
          <a:noFill/>
          <a:ln/>
        </p:spPr>
        <p:txBody>
          <a:bodyPr wrap="square" lIns="0" tIns="0" rIns="0" bIns="0" rtlCol="0" anchor="ctr"/>
          <a:lstStyle/>
          <a:p>
            <a:pPr marL="0" indent="0">
              <a:buNone/>
            </a:pPr>
            <a:r>
              <a:rPr lang="en-US" sz="1200" dirty="0">
                <a:solidFill>
                  <a:srgbClr val="585A64"/>
                </a:solidFill>
                <a:latin typeface="Palatino Linotype" pitchFamily="34" charset="0"/>
                <a:ea typeface="Palatino Linotype" pitchFamily="34" charset="-122"/>
                <a:cs typeface="Palatino Linotype" pitchFamily="34" charset="-120"/>
              </a:rPr>
              <a:t>„Snow a convins Londra”</a:t>
            </a:r>
            <a:endParaRPr lang="en-US" sz="1200" dirty="0"/>
          </a:p>
        </p:txBody>
      </p:sp>
      <p:sp>
        <p:nvSpPr>
          <p:cNvPr id="21" name="Text 19"/>
          <p:cNvSpPr/>
          <p:nvPr/>
        </p:nvSpPr>
        <p:spPr>
          <a:xfrm>
            <a:off x="7726680" y="4535424"/>
            <a:ext cx="3657600" cy="566928"/>
          </a:xfrm>
          <a:prstGeom prst="rect">
            <a:avLst/>
          </a:prstGeom>
          <a:noFill/>
          <a:ln/>
        </p:spPr>
        <p:txBody>
          <a:bodyPr wrap="square" lIns="0" tIns="0" rIns="0" bIns="0" rtlCol="0" anchor="ctr"/>
          <a:lstStyle/>
          <a:p>
            <a:pPr marL="0" indent="0">
              <a:buNone/>
            </a:pPr>
            <a:r>
              <a:rPr lang="en-US" sz="1150" b="1" dirty="0">
                <a:solidFill>
                  <a:srgbClr val="0E7C6B"/>
                </a:solidFill>
                <a:latin typeface="Palatino Linotype" pitchFamily="34" charset="0"/>
                <a:ea typeface="Palatino Linotype" pitchFamily="34" charset="-122"/>
                <a:cs typeface="Palatino Linotype" pitchFamily="34" charset="-120"/>
              </a:rPr>
              <a:t>„we see no reason to adopt this belief”</a:t>
            </a:r>
            <a:endParaRPr lang="en-US" sz="1150" dirty="0"/>
          </a:p>
        </p:txBody>
      </p:sp>
      <p:sp>
        <p:nvSpPr>
          <p:cNvPr id="22" name="Shape 20"/>
          <p:cNvSpPr/>
          <p:nvPr/>
        </p:nvSpPr>
        <p:spPr>
          <a:xfrm>
            <a:off x="594360" y="5175504"/>
            <a:ext cx="10972800" cy="566928"/>
          </a:xfrm>
          <a:prstGeom prst="roundRect">
            <a:avLst>
              <a:gd name="adj" fmla="val 14516"/>
            </a:avLst>
          </a:prstGeom>
          <a:solidFill>
            <a:srgbClr val="07564B"/>
          </a:solidFill>
          <a:ln w="12700">
            <a:solidFill>
              <a:srgbClr val="07564B"/>
            </a:solidFill>
            <a:prstDash val="solid"/>
          </a:ln>
        </p:spPr>
        <p:txBody>
          <a:bodyPr/>
          <a:lstStyle/>
          <a:p>
            <a:endParaRPr lang="ro-RO"/>
          </a:p>
        </p:txBody>
      </p:sp>
      <p:sp>
        <p:nvSpPr>
          <p:cNvPr id="23" name="Text 21"/>
          <p:cNvSpPr/>
          <p:nvPr/>
        </p:nvSpPr>
        <p:spPr>
          <a:xfrm>
            <a:off x="914400" y="5175504"/>
            <a:ext cx="2926080" cy="566928"/>
          </a:xfrm>
          <a:prstGeom prst="rect">
            <a:avLst/>
          </a:prstGeom>
          <a:noFill/>
          <a:ln/>
        </p:spPr>
        <p:txBody>
          <a:bodyPr wrap="square" lIns="0" tIns="0" rIns="0" bIns="0" rtlCol="0" anchor="ctr"/>
          <a:lstStyle/>
          <a:p>
            <a:pPr marL="0" indent="0">
              <a:buNone/>
            </a:pPr>
            <a:r>
              <a:rPr lang="en-US" sz="1350" b="1" dirty="0">
                <a:solidFill>
                  <a:srgbClr val="FFFFFF"/>
                </a:solidFill>
                <a:latin typeface="Palatino Linotype" pitchFamily="34" charset="0"/>
                <a:ea typeface="Palatino Linotype" pitchFamily="34" charset="-122"/>
                <a:cs typeface="Palatino Linotype" pitchFamily="34" charset="-120"/>
              </a:rPr>
              <a:t>Sursa</a:t>
            </a:r>
            <a:endParaRPr lang="en-US" sz="1350" dirty="0"/>
          </a:p>
        </p:txBody>
      </p:sp>
      <p:sp>
        <p:nvSpPr>
          <p:cNvPr id="24" name="Text 22"/>
          <p:cNvSpPr/>
          <p:nvPr/>
        </p:nvSpPr>
        <p:spPr>
          <a:xfrm>
            <a:off x="3977640" y="5175504"/>
            <a:ext cx="3566160" cy="566928"/>
          </a:xfrm>
          <a:prstGeom prst="rect">
            <a:avLst/>
          </a:prstGeom>
          <a:noFill/>
          <a:ln/>
        </p:spPr>
        <p:txBody>
          <a:bodyPr wrap="square" lIns="0" tIns="0" rIns="0" bIns="0" rtlCol="0" anchor="ctr"/>
          <a:lstStyle/>
          <a:p>
            <a:pPr marL="0" indent="0">
              <a:buNone/>
            </a:pPr>
            <a:r>
              <a:rPr lang="en-US" sz="1200" dirty="0">
                <a:solidFill>
                  <a:srgbClr val="BFE9E1"/>
                </a:solidFill>
                <a:latin typeface="Palatino Linotype" pitchFamily="34" charset="0"/>
                <a:ea typeface="Palatino Linotype" pitchFamily="34" charset="-122"/>
                <a:cs typeface="Palatino Linotype" pitchFamily="34" charset="-120"/>
              </a:rPr>
              <a:t>„scrie în manual”</a:t>
            </a:r>
            <a:endParaRPr lang="en-US" sz="1200" dirty="0"/>
          </a:p>
        </p:txBody>
      </p:sp>
      <p:sp>
        <p:nvSpPr>
          <p:cNvPr id="25" name="Text 23"/>
          <p:cNvSpPr/>
          <p:nvPr/>
        </p:nvSpPr>
        <p:spPr>
          <a:xfrm>
            <a:off x="7726680" y="5175504"/>
            <a:ext cx="3657600" cy="566928"/>
          </a:xfrm>
          <a:prstGeom prst="rect">
            <a:avLst/>
          </a:prstGeom>
          <a:noFill/>
          <a:ln/>
        </p:spPr>
        <p:txBody>
          <a:bodyPr wrap="square" lIns="0" tIns="0" rIns="0" bIns="0" rtlCol="0" anchor="ctr"/>
          <a:lstStyle/>
          <a:p>
            <a:pPr marL="0" indent="0">
              <a:buNone/>
            </a:pPr>
            <a:r>
              <a:rPr lang="en-US" sz="1150" b="1" dirty="0">
                <a:solidFill>
                  <a:srgbClr val="FFC24B"/>
                </a:solidFill>
                <a:latin typeface="Palatino Linotype" pitchFamily="34" charset="0"/>
                <a:ea typeface="Palatino Linotype" pitchFamily="34" charset="-122"/>
                <a:cs typeface="Palatino Linotype" pitchFamily="34" charset="-120"/>
              </a:rPr>
              <a:t>ce scrie efectiv documentul — verificăm după pauză</a:t>
            </a:r>
            <a:endParaRPr lang="en-US" sz="1150" dirty="0"/>
          </a:p>
        </p:txBody>
      </p:sp>
      <p:sp>
        <p:nvSpPr>
          <p:cNvPr id="26" name="Shape 24"/>
          <p:cNvSpPr/>
          <p:nvPr/>
        </p:nvSpPr>
        <p:spPr>
          <a:xfrm>
            <a:off x="594360" y="5870448"/>
            <a:ext cx="10972800" cy="274320"/>
          </a:xfrm>
          <a:prstGeom prst="roundRect">
            <a:avLst>
              <a:gd name="adj" fmla="val 30000"/>
            </a:avLst>
          </a:prstGeom>
          <a:solidFill>
            <a:srgbClr val="073B34"/>
          </a:solidFill>
          <a:ln w="12700">
            <a:solidFill>
              <a:srgbClr val="073B34"/>
            </a:solidFill>
            <a:prstDash val="solid"/>
          </a:ln>
        </p:spPr>
        <p:txBody>
          <a:bodyPr/>
          <a:lstStyle/>
          <a:p>
            <a:endParaRPr lang="ro-RO"/>
          </a:p>
        </p:txBody>
      </p:sp>
      <p:sp>
        <p:nvSpPr>
          <p:cNvPr id="27" name="Text 25"/>
          <p:cNvSpPr/>
          <p:nvPr/>
        </p:nvSpPr>
        <p:spPr>
          <a:xfrm>
            <a:off x="960120" y="5870448"/>
            <a:ext cx="10241280" cy="274320"/>
          </a:xfrm>
          <a:prstGeom prst="rect">
            <a:avLst/>
          </a:prstGeom>
          <a:noFill/>
          <a:ln/>
        </p:spPr>
        <p:txBody>
          <a:bodyPr wrap="square" lIns="0" tIns="0" rIns="0" bIns="0" rtlCol="0" anchor="ctr"/>
          <a:lstStyle/>
          <a:p>
            <a:pPr marL="0" indent="0">
              <a:buNone/>
            </a:pPr>
            <a:r>
              <a:rPr lang="en-US" sz="1200" b="1" dirty="0">
                <a:solidFill>
                  <a:srgbClr val="FFFFFF"/>
                </a:solidFill>
                <a:latin typeface="Palatino Linotype" pitchFamily="34" charset="0"/>
                <a:ea typeface="Palatino Linotype" pitchFamily="34" charset="-122"/>
                <a:cs typeface="Palatino Linotype" pitchFamily="34" charset="-120"/>
              </a:rPr>
              <a:t>O promisiune de demonstrat, nu o concluzie. O reluăm, cu o coloană goală, la final.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PARCURSUL</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11121A"/>
                </a:solidFill>
                <a:latin typeface="Palatino Linotype" pitchFamily="34" charset="0"/>
                <a:ea typeface="Palatino Linotype" pitchFamily="34" charset="-122"/>
                <a:cs typeface="Palatino Linotype" pitchFamily="34" charset="-120"/>
              </a:rPr>
              <a:t>Harta celor două ore</a:t>
            </a:r>
            <a:endParaRPr lang="en-US" sz="3100" dirty="0"/>
          </a:p>
        </p:txBody>
      </p:sp>
      <p:sp>
        <p:nvSpPr>
          <p:cNvPr id="4" name="Shape 2"/>
          <p:cNvSpPr/>
          <p:nvPr/>
        </p:nvSpPr>
        <p:spPr>
          <a:xfrm>
            <a:off x="594360" y="1664208"/>
            <a:ext cx="10972800" cy="429768"/>
          </a:xfrm>
          <a:prstGeom prst="roundRect">
            <a:avLst>
              <a:gd name="adj" fmla="val 19149"/>
            </a:avLst>
          </a:prstGeom>
          <a:solidFill>
            <a:srgbClr val="ECEAE4"/>
          </a:solidFill>
          <a:ln w="12700">
            <a:solidFill>
              <a:srgbClr val="ECEAE4"/>
            </a:solidFill>
            <a:prstDash val="solid"/>
          </a:ln>
        </p:spPr>
        <p:txBody>
          <a:bodyPr/>
          <a:lstStyle/>
          <a:p>
            <a:endParaRPr lang="ro-RO"/>
          </a:p>
        </p:txBody>
      </p:sp>
      <p:sp>
        <p:nvSpPr>
          <p:cNvPr id="5" name="Shape 3"/>
          <p:cNvSpPr/>
          <p:nvPr/>
        </p:nvSpPr>
        <p:spPr>
          <a:xfrm>
            <a:off x="868680" y="1714500"/>
            <a:ext cx="1143000" cy="329184"/>
          </a:xfrm>
          <a:prstGeom prst="roundRect">
            <a:avLst>
              <a:gd name="adj" fmla="val 50000"/>
            </a:avLst>
          </a:prstGeom>
          <a:solidFill>
            <a:srgbClr val="FF4757"/>
          </a:solidFill>
          <a:ln w="12700">
            <a:solidFill>
              <a:srgbClr val="FF4757"/>
            </a:solidFill>
            <a:prstDash val="solid"/>
          </a:ln>
        </p:spPr>
        <p:txBody>
          <a:bodyPr/>
          <a:lstStyle/>
          <a:p>
            <a:endParaRPr lang="ro-RO"/>
          </a:p>
        </p:txBody>
      </p:sp>
      <p:sp>
        <p:nvSpPr>
          <p:cNvPr id="6" name="Text 4"/>
          <p:cNvSpPr/>
          <p:nvPr/>
        </p:nvSpPr>
        <p:spPr>
          <a:xfrm>
            <a:off x="868680" y="1714500"/>
            <a:ext cx="1143000" cy="329184"/>
          </a:xfrm>
          <a:prstGeom prst="rect">
            <a:avLst/>
          </a:prstGeom>
          <a:noFill/>
          <a:ln/>
        </p:spPr>
        <p:txBody>
          <a:bodyPr wrap="square" lIns="0" tIns="0" rIns="0" bIns="0" rtlCol="0" anchor="ctr"/>
          <a:lstStyle/>
          <a:p>
            <a:pPr marL="0" indent="0" algn="ctr">
              <a:buNone/>
            </a:pPr>
            <a:r>
              <a:rPr lang="en-US" sz="1000" b="1" dirty="0">
                <a:solidFill>
                  <a:srgbClr val="11121A"/>
                </a:solidFill>
                <a:latin typeface="Palatino Linotype" pitchFamily="34" charset="0"/>
                <a:ea typeface="Palatino Linotype" pitchFamily="34" charset="-122"/>
                <a:cs typeface="Palatino Linotype" pitchFamily="34" charset="-120"/>
              </a:rPr>
              <a:t>0–10'</a:t>
            </a:r>
            <a:endParaRPr lang="en-US" sz="1000" dirty="0"/>
          </a:p>
        </p:txBody>
      </p:sp>
      <p:sp>
        <p:nvSpPr>
          <p:cNvPr id="7" name="Text 5"/>
          <p:cNvSpPr/>
          <p:nvPr/>
        </p:nvSpPr>
        <p:spPr>
          <a:xfrm>
            <a:off x="2240280" y="1664208"/>
            <a:ext cx="3200400" cy="429768"/>
          </a:xfrm>
          <a:prstGeom prst="rect">
            <a:avLst/>
          </a:prstGeom>
          <a:noFill/>
          <a:ln/>
        </p:spPr>
        <p:txBody>
          <a:bodyPr wrap="square" lIns="0" tIns="0" rIns="0" bIns="0" rtlCol="0" anchor="ctr"/>
          <a:lstStyle/>
          <a:p>
            <a:pPr marL="0" indent="0">
              <a:buNone/>
            </a:pPr>
            <a:r>
              <a:rPr lang="en-US" sz="1250" b="1" dirty="0">
                <a:solidFill>
                  <a:srgbClr val="11121A"/>
                </a:solidFill>
                <a:latin typeface="Palatino Linotype" pitchFamily="34" charset="0"/>
                <a:ea typeface="Palatino Linotype" pitchFamily="34" charset="-122"/>
                <a:cs typeface="Palatino Linotype" pitchFamily="34" charset="-120"/>
              </a:rPr>
              <a:t>Deschiderea</a:t>
            </a:r>
            <a:endParaRPr lang="en-US" sz="1250" dirty="0"/>
          </a:p>
        </p:txBody>
      </p:sp>
      <p:sp>
        <p:nvSpPr>
          <p:cNvPr id="8" name="Text 6"/>
          <p:cNvSpPr/>
          <p:nvPr/>
        </p:nvSpPr>
        <p:spPr>
          <a:xfrm>
            <a:off x="5577840" y="1664208"/>
            <a:ext cx="5760720" cy="429768"/>
          </a:xfrm>
          <a:prstGeom prst="rect">
            <a:avLst/>
          </a:prstGeom>
          <a:noFill/>
          <a:ln/>
        </p:spPr>
        <p:txBody>
          <a:bodyPr wrap="square" lIns="0" tIns="0" rIns="0" bIns="0" rtlCol="0" anchor="ctr"/>
          <a:lstStyle/>
          <a:p>
            <a:pPr marL="0" indent="0">
              <a:buNone/>
            </a:pPr>
            <a:r>
              <a:rPr lang="en-US" sz="1100" dirty="0">
                <a:solidFill>
                  <a:srgbClr val="585A64"/>
                </a:solidFill>
                <a:latin typeface="Palatino Linotype" pitchFamily="34" charset="0"/>
                <a:ea typeface="Palatino Linotype" pitchFamily="34" charset="-122"/>
                <a:cs typeface="Palatino Linotype" pitchFamily="34" charset="-120"/>
              </a:rPr>
              <a:t>propoziția pe care o știe toată lumea, Mentimeter — și cifra care o desface</a:t>
            </a:r>
            <a:endParaRPr lang="en-US" sz="1100" dirty="0"/>
          </a:p>
        </p:txBody>
      </p:sp>
      <p:sp>
        <p:nvSpPr>
          <p:cNvPr id="9" name="Shape 7"/>
          <p:cNvSpPr/>
          <p:nvPr/>
        </p:nvSpPr>
        <p:spPr>
          <a:xfrm>
            <a:off x="594360" y="2162556"/>
            <a:ext cx="10972800" cy="429768"/>
          </a:xfrm>
          <a:prstGeom prst="roundRect">
            <a:avLst>
              <a:gd name="adj" fmla="val 19149"/>
            </a:avLst>
          </a:prstGeom>
          <a:solidFill>
            <a:srgbClr val="F9F8F5"/>
          </a:solidFill>
          <a:ln w="12700">
            <a:solidFill>
              <a:srgbClr val="F9F8F5"/>
            </a:solidFill>
            <a:prstDash val="solid"/>
          </a:ln>
        </p:spPr>
        <p:txBody>
          <a:bodyPr/>
          <a:lstStyle/>
          <a:p>
            <a:endParaRPr lang="ro-RO"/>
          </a:p>
        </p:txBody>
      </p:sp>
      <p:sp>
        <p:nvSpPr>
          <p:cNvPr id="10" name="Shape 8"/>
          <p:cNvSpPr/>
          <p:nvPr/>
        </p:nvSpPr>
        <p:spPr>
          <a:xfrm>
            <a:off x="868680" y="2212848"/>
            <a:ext cx="1143000" cy="329184"/>
          </a:xfrm>
          <a:prstGeom prst="roundRect">
            <a:avLst>
              <a:gd name="adj" fmla="val 50000"/>
            </a:avLst>
          </a:prstGeom>
          <a:solidFill>
            <a:srgbClr val="9B7EF7"/>
          </a:solidFill>
          <a:ln w="12700">
            <a:solidFill>
              <a:srgbClr val="9B7EF7"/>
            </a:solidFill>
            <a:prstDash val="solid"/>
          </a:ln>
        </p:spPr>
        <p:txBody>
          <a:bodyPr/>
          <a:lstStyle/>
          <a:p>
            <a:endParaRPr lang="ro-RO"/>
          </a:p>
        </p:txBody>
      </p:sp>
      <p:sp>
        <p:nvSpPr>
          <p:cNvPr id="11" name="Text 9"/>
          <p:cNvSpPr/>
          <p:nvPr/>
        </p:nvSpPr>
        <p:spPr>
          <a:xfrm>
            <a:off x="868680" y="2212848"/>
            <a:ext cx="1143000" cy="329184"/>
          </a:xfrm>
          <a:prstGeom prst="rect">
            <a:avLst/>
          </a:prstGeom>
          <a:noFill/>
          <a:ln/>
        </p:spPr>
        <p:txBody>
          <a:bodyPr wrap="square" lIns="0" tIns="0" rIns="0" bIns="0" rtlCol="0" anchor="ctr"/>
          <a:lstStyle/>
          <a:p>
            <a:pPr marL="0" indent="0" algn="ctr">
              <a:buNone/>
            </a:pPr>
            <a:r>
              <a:rPr lang="en-US" sz="1000" b="1" dirty="0">
                <a:solidFill>
                  <a:srgbClr val="11121A"/>
                </a:solidFill>
                <a:latin typeface="Palatino Linotype" pitchFamily="34" charset="0"/>
                <a:ea typeface="Palatino Linotype" pitchFamily="34" charset="-122"/>
                <a:cs typeface="Palatino Linotype" pitchFamily="34" charset="-120"/>
              </a:rPr>
              <a:t>10–24'</a:t>
            </a:r>
            <a:endParaRPr lang="en-US" sz="1000" dirty="0"/>
          </a:p>
        </p:txBody>
      </p:sp>
      <p:sp>
        <p:nvSpPr>
          <p:cNvPr id="12" name="Text 10"/>
          <p:cNvSpPr/>
          <p:nvPr/>
        </p:nvSpPr>
        <p:spPr>
          <a:xfrm>
            <a:off x="2240280" y="2162556"/>
            <a:ext cx="3200400" cy="429768"/>
          </a:xfrm>
          <a:prstGeom prst="rect">
            <a:avLst/>
          </a:prstGeom>
          <a:noFill/>
          <a:ln/>
        </p:spPr>
        <p:txBody>
          <a:bodyPr wrap="square" lIns="0" tIns="0" rIns="0" bIns="0" rtlCol="0" anchor="ctr"/>
          <a:lstStyle/>
          <a:p>
            <a:pPr marL="0" indent="0">
              <a:buNone/>
            </a:pPr>
            <a:r>
              <a:rPr lang="en-US" sz="1250" b="1" dirty="0">
                <a:solidFill>
                  <a:srgbClr val="11121A"/>
                </a:solidFill>
                <a:latin typeface="Palatino Linotype" pitchFamily="34" charset="0"/>
                <a:ea typeface="Palatino Linotype" pitchFamily="34" charset="-122"/>
                <a:cs typeface="Palatino Linotype" pitchFamily="34" charset="-120"/>
              </a:rPr>
              <a:t>Dosarul 1854</a:t>
            </a:r>
            <a:endParaRPr lang="en-US" sz="1250" dirty="0"/>
          </a:p>
        </p:txBody>
      </p:sp>
      <p:sp>
        <p:nvSpPr>
          <p:cNvPr id="13" name="Text 11"/>
          <p:cNvSpPr/>
          <p:nvPr/>
        </p:nvSpPr>
        <p:spPr>
          <a:xfrm>
            <a:off x="5577840" y="2162556"/>
            <a:ext cx="5760720" cy="429768"/>
          </a:xfrm>
          <a:prstGeom prst="rect">
            <a:avLst/>
          </a:prstGeom>
          <a:noFill/>
          <a:ln/>
        </p:spPr>
        <p:txBody>
          <a:bodyPr wrap="square" lIns="0" tIns="0" rIns="0" bIns="0" rtlCol="0" anchor="ctr"/>
          <a:lstStyle/>
          <a:p>
            <a:pPr marL="0" indent="0">
              <a:buNone/>
            </a:pPr>
            <a:r>
              <a:rPr lang="en-US" sz="1100" dirty="0">
                <a:solidFill>
                  <a:srgbClr val="585A64"/>
                </a:solidFill>
                <a:latin typeface="Palatino Linotype" pitchFamily="34" charset="0"/>
                <a:ea typeface="Palatino Linotype" pitchFamily="34" charset="-122"/>
                <a:cs typeface="Palatino Linotype" pitchFamily="34" charset="-120"/>
              </a:rPr>
              <a:t>contextul, curba, contra-argumentul care se citează rar</a:t>
            </a:r>
            <a:endParaRPr lang="en-US" sz="1100" dirty="0"/>
          </a:p>
        </p:txBody>
      </p:sp>
      <p:sp>
        <p:nvSpPr>
          <p:cNvPr id="14" name="Shape 12"/>
          <p:cNvSpPr/>
          <p:nvPr/>
        </p:nvSpPr>
        <p:spPr>
          <a:xfrm>
            <a:off x="594360" y="2660904"/>
            <a:ext cx="10972800" cy="429768"/>
          </a:xfrm>
          <a:prstGeom prst="roundRect">
            <a:avLst>
              <a:gd name="adj" fmla="val 19149"/>
            </a:avLst>
          </a:prstGeom>
          <a:solidFill>
            <a:srgbClr val="ECEAE4"/>
          </a:solidFill>
          <a:ln w="12700">
            <a:solidFill>
              <a:srgbClr val="ECEAE4"/>
            </a:solidFill>
            <a:prstDash val="solid"/>
          </a:ln>
        </p:spPr>
        <p:txBody>
          <a:bodyPr/>
          <a:lstStyle/>
          <a:p>
            <a:endParaRPr lang="ro-RO"/>
          </a:p>
        </p:txBody>
      </p:sp>
      <p:sp>
        <p:nvSpPr>
          <p:cNvPr id="15" name="Shape 13"/>
          <p:cNvSpPr/>
          <p:nvPr/>
        </p:nvSpPr>
        <p:spPr>
          <a:xfrm>
            <a:off x="868680" y="2711196"/>
            <a:ext cx="1143000" cy="329184"/>
          </a:xfrm>
          <a:prstGeom prst="roundRect">
            <a:avLst>
              <a:gd name="adj" fmla="val 50000"/>
            </a:avLst>
          </a:prstGeom>
          <a:solidFill>
            <a:srgbClr val="FFC24B"/>
          </a:solidFill>
          <a:ln w="12700">
            <a:solidFill>
              <a:srgbClr val="FFC24B"/>
            </a:solidFill>
            <a:prstDash val="solid"/>
          </a:ln>
        </p:spPr>
        <p:txBody>
          <a:bodyPr/>
          <a:lstStyle/>
          <a:p>
            <a:endParaRPr lang="ro-RO"/>
          </a:p>
        </p:txBody>
      </p:sp>
      <p:sp>
        <p:nvSpPr>
          <p:cNvPr id="16" name="Text 14"/>
          <p:cNvSpPr/>
          <p:nvPr/>
        </p:nvSpPr>
        <p:spPr>
          <a:xfrm>
            <a:off x="868680" y="2711196"/>
            <a:ext cx="1143000" cy="329184"/>
          </a:xfrm>
          <a:prstGeom prst="rect">
            <a:avLst/>
          </a:prstGeom>
          <a:noFill/>
          <a:ln/>
        </p:spPr>
        <p:txBody>
          <a:bodyPr wrap="square" lIns="0" tIns="0" rIns="0" bIns="0" rtlCol="0" anchor="ctr"/>
          <a:lstStyle/>
          <a:p>
            <a:pPr marL="0" indent="0" algn="ctr">
              <a:buNone/>
            </a:pPr>
            <a:r>
              <a:rPr lang="en-US" sz="1000" b="1" dirty="0">
                <a:solidFill>
                  <a:srgbClr val="11121A"/>
                </a:solidFill>
                <a:latin typeface="Palatino Linotype" pitchFamily="34" charset="0"/>
                <a:ea typeface="Palatino Linotype" pitchFamily="34" charset="-122"/>
                <a:cs typeface="Palatino Linotype" pitchFamily="34" charset="-120"/>
              </a:rPr>
              <a:t>24–36'</a:t>
            </a:r>
            <a:endParaRPr lang="en-US" sz="1000" dirty="0"/>
          </a:p>
        </p:txBody>
      </p:sp>
      <p:sp>
        <p:nvSpPr>
          <p:cNvPr id="17" name="Text 15"/>
          <p:cNvSpPr/>
          <p:nvPr/>
        </p:nvSpPr>
        <p:spPr>
          <a:xfrm>
            <a:off x="2240280" y="2660904"/>
            <a:ext cx="3200400" cy="429768"/>
          </a:xfrm>
          <a:prstGeom prst="rect">
            <a:avLst/>
          </a:prstGeom>
          <a:noFill/>
          <a:ln/>
        </p:spPr>
        <p:txBody>
          <a:bodyPr wrap="square" lIns="0" tIns="0" rIns="0" bIns="0" rtlCol="0" anchor="ctr"/>
          <a:lstStyle/>
          <a:p>
            <a:pPr marL="0" indent="0">
              <a:buNone/>
            </a:pPr>
            <a:r>
              <a:rPr lang="en-US" sz="1250" b="1" dirty="0">
                <a:solidFill>
                  <a:srgbClr val="11121A"/>
                </a:solidFill>
                <a:latin typeface="Palatino Linotype" pitchFamily="34" charset="0"/>
                <a:ea typeface="Palatino Linotype" pitchFamily="34" charset="-122"/>
                <a:cs typeface="Palatino Linotype" pitchFamily="34" charset="-120"/>
              </a:rPr>
              <a:t>Trei controale naturale</a:t>
            </a:r>
            <a:endParaRPr lang="en-US" sz="1250" dirty="0"/>
          </a:p>
        </p:txBody>
      </p:sp>
      <p:sp>
        <p:nvSpPr>
          <p:cNvPr id="18" name="Text 16"/>
          <p:cNvSpPr/>
          <p:nvPr/>
        </p:nvSpPr>
        <p:spPr>
          <a:xfrm>
            <a:off x="5577840" y="2660904"/>
            <a:ext cx="5760720" cy="429768"/>
          </a:xfrm>
          <a:prstGeom prst="rect">
            <a:avLst/>
          </a:prstGeom>
          <a:noFill/>
          <a:ln/>
        </p:spPr>
        <p:txBody>
          <a:bodyPr wrap="square" lIns="0" tIns="0" rIns="0" bIns="0" rtlCol="0" anchor="ctr"/>
          <a:lstStyle/>
          <a:p>
            <a:pPr marL="0" indent="0">
              <a:buNone/>
            </a:pPr>
            <a:r>
              <a:rPr lang="en-US" sz="1100" dirty="0">
                <a:solidFill>
                  <a:srgbClr val="585A64"/>
                </a:solidFill>
                <a:latin typeface="Palatino Linotype" pitchFamily="34" charset="0"/>
                <a:ea typeface="Palatino Linotype" pitchFamily="34" charset="-122"/>
                <a:cs typeface="Palatino Linotype" pitchFamily="34" charset="-120"/>
              </a:rPr>
              <a:t>casa de muncă, berăria, fabrica de capse</a:t>
            </a:r>
            <a:endParaRPr lang="en-US" sz="1100" dirty="0"/>
          </a:p>
        </p:txBody>
      </p:sp>
      <p:sp>
        <p:nvSpPr>
          <p:cNvPr id="19" name="Shape 17"/>
          <p:cNvSpPr/>
          <p:nvPr/>
        </p:nvSpPr>
        <p:spPr>
          <a:xfrm>
            <a:off x="594360" y="3159252"/>
            <a:ext cx="10972800" cy="429768"/>
          </a:xfrm>
          <a:prstGeom prst="roundRect">
            <a:avLst>
              <a:gd name="adj" fmla="val 19149"/>
            </a:avLst>
          </a:prstGeom>
          <a:solidFill>
            <a:srgbClr val="F9F8F5"/>
          </a:solidFill>
          <a:ln w="12700">
            <a:solidFill>
              <a:srgbClr val="F9F8F5"/>
            </a:solidFill>
            <a:prstDash val="solid"/>
          </a:ln>
        </p:spPr>
        <p:txBody>
          <a:bodyPr/>
          <a:lstStyle/>
          <a:p>
            <a:endParaRPr lang="ro-RO"/>
          </a:p>
        </p:txBody>
      </p:sp>
      <p:sp>
        <p:nvSpPr>
          <p:cNvPr id="20" name="Shape 18"/>
          <p:cNvSpPr/>
          <p:nvPr/>
        </p:nvSpPr>
        <p:spPr>
          <a:xfrm>
            <a:off x="868680" y="3209544"/>
            <a:ext cx="1143000" cy="329184"/>
          </a:xfrm>
          <a:prstGeom prst="roundRect">
            <a:avLst>
              <a:gd name="adj" fmla="val 50000"/>
            </a:avLst>
          </a:prstGeom>
          <a:solidFill>
            <a:srgbClr val="27D3BE"/>
          </a:solidFill>
          <a:ln w="12700">
            <a:solidFill>
              <a:srgbClr val="27D3BE"/>
            </a:solidFill>
            <a:prstDash val="solid"/>
          </a:ln>
        </p:spPr>
        <p:txBody>
          <a:bodyPr/>
          <a:lstStyle/>
          <a:p>
            <a:endParaRPr lang="ro-RO"/>
          </a:p>
        </p:txBody>
      </p:sp>
      <p:sp>
        <p:nvSpPr>
          <p:cNvPr id="21" name="Text 19"/>
          <p:cNvSpPr/>
          <p:nvPr/>
        </p:nvSpPr>
        <p:spPr>
          <a:xfrm>
            <a:off x="868680" y="3209544"/>
            <a:ext cx="1143000" cy="329184"/>
          </a:xfrm>
          <a:prstGeom prst="rect">
            <a:avLst/>
          </a:prstGeom>
          <a:noFill/>
          <a:ln/>
        </p:spPr>
        <p:txBody>
          <a:bodyPr wrap="square" lIns="0" tIns="0" rIns="0" bIns="0" rtlCol="0" anchor="ctr"/>
          <a:lstStyle/>
          <a:p>
            <a:pPr marL="0" indent="0" algn="ctr">
              <a:buNone/>
            </a:pPr>
            <a:r>
              <a:rPr lang="en-US" sz="1000" b="1" dirty="0">
                <a:solidFill>
                  <a:srgbClr val="11121A"/>
                </a:solidFill>
                <a:latin typeface="Palatino Linotype" pitchFamily="34" charset="0"/>
                <a:ea typeface="Palatino Linotype" pitchFamily="34" charset="-122"/>
                <a:cs typeface="Palatino Linotype" pitchFamily="34" charset="-120"/>
              </a:rPr>
              <a:t>36–48'</a:t>
            </a:r>
            <a:endParaRPr lang="en-US" sz="1000" dirty="0"/>
          </a:p>
        </p:txBody>
      </p:sp>
      <p:sp>
        <p:nvSpPr>
          <p:cNvPr id="22" name="Text 20"/>
          <p:cNvSpPr/>
          <p:nvPr/>
        </p:nvSpPr>
        <p:spPr>
          <a:xfrm>
            <a:off x="2240280" y="3159252"/>
            <a:ext cx="3200400" cy="429768"/>
          </a:xfrm>
          <a:prstGeom prst="rect">
            <a:avLst/>
          </a:prstGeom>
          <a:noFill/>
          <a:ln/>
        </p:spPr>
        <p:txBody>
          <a:bodyPr wrap="square" lIns="0" tIns="0" rIns="0" bIns="0" rtlCol="0" anchor="ctr"/>
          <a:lstStyle/>
          <a:p>
            <a:pPr marL="0" indent="0">
              <a:buNone/>
            </a:pPr>
            <a:r>
              <a:rPr lang="en-US" sz="1250" b="1" dirty="0">
                <a:solidFill>
                  <a:srgbClr val="11121A"/>
                </a:solidFill>
                <a:latin typeface="Palatino Linotype" pitchFamily="34" charset="0"/>
                <a:ea typeface="Palatino Linotype" pitchFamily="34" charset="-122"/>
                <a:cs typeface="Palatino Linotype" pitchFamily="34" charset="-120"/>
              </a:rPr>
              <a:t>Numitorul</a:t>
            </a:r>
            <a:endParaRPr lang="en-US" sz="1250" dirty="0"/>
          </a:p>
        </p:txBody>
      </p:sp>
      <p:sp>
        <p:nvSpPr>
          <p:cNvPr id="23" name="Text 21"/>
          <p:cNvSpPr/>
          <p:nvPr/>
        </p:nvSpPr>
        <p:spPr>
          <a:xfrm>
            <a:off x="5577840" y="3159252"/>
            <a:ext cx="5760720" cy="429768"/>
          </a:xfrm>
          <a:prstGeom prst="rect">
            <a:avLst/>
          </a:prstGeom>
          <a:noFill/>
          <a:ln/>
        </p:spPr>
        <p:txBody>
          <a:bodyPr wrap="square" lIns="0" tIns="0" rIns="0" bIns="0" rtlCol="0" anchor="ctr"/>
          <a:lstStyle/>
          <a:p>
            <a:pPr marL="0" indent="0">
              <a:buNone/>
            </a:pPr>
            <a:r>
              <a:rPr lang="en-US" sz="1100" dirty="0">
                <a:solidFill>
                  <a:srgbClr val="585A64"/>
                </a:solidFill>
                <a:latin typeface="Palatino Linotype" pitchFamily="34" charset="0"/>
                <a:ea typeface="Palatino Linotype" pitchFamily="34" charset="-122"/>
                <a:cs typeface="Palatino Linotype" pitchFamily="34" charset="-120"/>
              </a:rPr>
              <a:t>cvasiexperimentul pe cel puțin 300 000 de oameni</a:t>
            </a:r>
            <a:endParaRPr lang="en-US" sz="1100" dirty="0"/>
          </a:p>
        </p:txBody>
      </p:sp>
      <p:sp>
        <p:nvSpPr>
          <p:cNvPr id="24" name="Shape 22"/>
          <p:cNvSpPr/>
          <p:nvPr/>
        </p:nvSpPr>
        <p:spPr>
          <a:xfrm>
            <a:off x="594360" y="3657600"/>
            <a:ext cx="10972800" cy="429768"/>
          </a:xfrm>
          <a:prstGeom prst="roundRect">
            <a:avLst>
              <a:gd name="adj" fmla="val 19149"/>
            </a:avLst>
          </a:prstGeom>
          <a:solidFill>
            <a:srgbClr val="ECEAE4"/>
          </a:solidFill>
          <a:ln w="12700">
            <a:solidFill>
              <a:srgbClr val="ECEAE4"/>
            </a:solidFill>
            <a:prstDash val="solid"/>
          </a:ln>
        </p:spPr>
        <p:txBody>
          <a:bodyPr/>
          <a:lstStyle/>
          <a:p>
            <a:endParaRPr lang="ro-RO"/>
          </a:p>
        </p:txBody>
      </p:sp>
      <p:sp>
        <p:nvSpPr>
          <p:cNvPr id="25" name="Shape 23"/>
          <p:cNvSpPr/>
          <p:nvPr/>
        </p:nvSpPr>
        <p:spPr>
          <a:xfrm>
            <a:off x="868680" y="3707892"/>
            <a:ext cx="1143000" cy="329184"/>
          </a:xfrm>
          <a:prstGeom prst="roundRect">
            <a:avLst>
              <a:gd name="adj" fmla="val 50000"/>
            </a:avLst>
          </a:prstGeom>
          <a:solidFill>
            <a:srgbClr val="FF8A3D"/>
          </a:solidFill>
          <a:ln w="12700">
            <a:solidFill>
              <a:srgbClr val="FF8A3D"/>
            </a:solidFill>
            <a:prstDash val="solid"/>
          </a:ln>
        </p:spPr>
        <p:txBody>
          <a:bodyPr/>
          <a:lstStyle/>
          <a:p>
            <a:endParaRPr lang="ro-RO"/>
          </a:p>
        </p:txBody>
      </p:sp>
      <p:sp>
        <p:nvSpPr>
          <p:cNvPr id="26" name="Text 24"/>
          <p:cNvSpPr/>
          <p:nvPr/>
        </p:nvSpPr>
        <p:spPr>
          <a:xfrm>
            <a:off x="868680" y="3707892"/>
            <a:ext cx="1143000" cy="329184"/>
          </a:xfrm>
          <a:prstGeom prst="rect">
            <a:avLst/>
          </a:prstGeom>
          <a:noFill/>
          <a:ln/>
        </p:spPr>
        <p:txBody>
          <a:bodyPr wrap="square" lIns="0" tIns="0" rIns="0" bIns="0" rtlCol="0" anchor="ctr"/>
          <a:lstStyle/>
          <a:p>
            <a:pPr marL="0" indent="0" algn="ctr">
              <a:buNone/>
            </a:pPr>
            <a:r>
              <a:rPr lang="en-US" sz="1000" b="1" dirty="0">
                <a:solidFill>
                  <a:srgbClr val="11121A"/>
                </a:solidFill>
                <a:latin typeface="Palatino Linotype" pitchFamily="34" charset="0"/>
                <a:ea typeface="Palatino Linotype" pitchFamily="34" charset="-122"/>
                <a:cs typeface="Palatino Linotype" pitchFamily="34" charset="-120"/>
              </a:rPr>
              <a:t>48–58'</a:t>
            </a:r>
            <a:endParaRPr lang="en-US" sz="1000" dirty="0"/>
          </a:p>
        </p:txBody>
      </p:sp>
      <p:sp>
        <p:nvSpPr>
          <p:cNvPr id="27" name="Text 25"/>
          <p:cNvSpPr/>
          <p:nvPr/>
        </p:nvSpPr>
        <p:spPr>
          <a:xfrm>
            <a:off x="2240280" y="3657600"/>
            <a:ext cx="3200400" cy="429768"/>
          </a:xfrm>
          <a:prstGeom prst="rect">
            <a:avLst/>
          </a:prstGeom>
          <a:noFill/>
          <a:ln/>
        </p:spPr>
        <p:txBody>
          <a:bodyPr wrap="square" lIns="0" tIns="0" rIns="0" bIns="0" rtlCol="0" anchor="ctr"/>
          <a:lstStyle/>
          <a:p>
            <a:pPr marL="0" indent="0">
              <a:buNone/>
            </a:pPr>
            <a:r>
              <a:rPr lang="en-US" sz="1250" b="1" dirty="0">
                <a:solidFill>
                  <a:srgbClr val="11121A"/>
                </a:solidFill>
                <a:latin typeface="Palatino Linotype" pitchFamily="34" charset="0"/>
                <a:ea typeface="Palatino Linotype" pitchFamily="34" charset="-122"/>
                <a:cs typeface="Palatino Linotype" pitchFamily="34" charset="-120"/>
              </a:rPr>
              <a:t>Cazul index și verdictul</a:t>
            </a:r>
            <a:endParaRPr lang="en-US" sz="1250" dirty="0"/>
          </a:p>
        </p:txBody>
      </p:sp>
      <p:sp>
        <p:nvSpPr>
          <p:cNvPr id="28" name="Text 26"/>
          <p:cNvSpPr/>
          <p:nvPr/>
        </p:nvSpPr>
        <p:spPr>
          <a:xfrm>
            <a:off x="5577840" y="3657600"/>
            <a:ext cx="5760720" cy="429768"/>
          </a:xfrm>
          <a:prstGeom prst="rect">
            <a:avLst/>
          </a:prstGeom>
          <a:noFill/>
          <a:ln/>
        </p:spPr>
        <p:txBody>
          <a:bodyPr wrap="square" lIns="0" tIns="0" rIns="0" bIns="0" rtlCol="0" anchor="ctr"/>
          <a:lstStyle/>
          <a:p>
            <a:pPr marL="0" indent="0">
              <a:buNone/>
            </a:pPr>
            <a:r>
              <a:rPr lang="en-US" sz="1100" dirty="0">
                <a:solidFill>
                  <a:srgbClr val="585A64"/>
                </a:solidFill>
                <a:latin typeface="Palatino Linotype" pitchFamily="34" charset="0"/>
                <a:ea typeface="Palatino Linotype" pitchFamily="34" charset="-122"/>
                <a:cs typeface="Palatino Linotype" pitchFamily="34" charset="-120"/>
              </a:rPr>
              <a:t>preotul, bebelușul, și „nu vedem niciun motiv”</a:t>
            </a:r>
            <a:endParaRPr lang="en-US" sz="1100" dirty="0"/>
          </a:p>
        </p:txBody>
      </p:sp>
      <p:sp>
        <p:nvSpPr>
          <p:cNvPr id="29" name="Shape 27"/>
          <p:cNvSpPr/>
          <p:nvPr/>
        </p:nvSpPr>
        <p:spPr>
          <a:xfrm>
            <a:off x="594360" y="4155948"/>
            <a:ext cx="10972800" cy="429768"/>
          </a:xfrm>
          <a:prstGeom prst="roundRect">
            <a:avLst>
              <a:gd name="adj" fmla="val 19149"/>
            </a:avLst>
          </a:prstGeom>
          <a:solidFill>
            <a:srgbClr val="F9F8F5"/>
          </a:solidFill>
          <a:ln w="12700">
            <a:solidFill>
              <a:srgbClr val="F9F8F5"/>
            </a:solidFill>
            <a:prstDash val="solid"/>
          </a:ln>
        </p:spPr>
        <p:txBody>
          <a:bodyPr/>
          <a:lstStyle/>
          <a:p>
            <a:endParaRPr lang="ro-RO"/>
          </a:p>
        </p:txBody>
      </p:sp>
      <p:sp>
        <p:nvSpPr>
          <p:cNvPr id="30" name="Shape 28"/>
          <p:cNvSpPr/>
          <p:nvPr/>
        </p:nvSpPr>
        <p:spPr>
          <a:xfrm>
            <a:off x="868680" y="4206240"/>
            <a:ext cx="1143000" cy="329184"/>
          </a:xfrm>
          <a:prstGeom prst="roundRect">
            <a:avLst>
              <a:gd name="adj" fmla="val 50000"/>
            </a:avLst>
          </a:prstGeom>
          <a:solidFill>
            <a:srgbClr val="9AA0B4"/>
          </a:solidFill>
          <a:ln w="12700">
            <a:solidFill>
              <a:srgbClr val="9AA0B4"/>
            </a:solidFill>
            <a:prstDash val="solid"/>
          </a:ln>
        </p:spPr>
        <p:txBody>
          <a:bodyPr/>
          <a:lstStyle/>
          <a:p>
            <a:endParaRPr lang="ro-RO"/>
          </a:p>
        </p:txBody>
      </p:sp>
      <p:sp>
        <p:nvSpPr>
          <p:cNvPr id="31" name="Text 29"/>
          <p:cNvSpPr/>
          <p:nvPr/>
        </p:nvSpPr>
        <p:spPr>
          <a:xfrm>
            <a:off x="868680" y="4206240"/>
            <a:ext cx="1143000" cy="329184"/>
          </a:xfrm>
          <a:prstGeom prst="rect">
            <a:avLst/>
          </a:prstGeom>
          <a:noFill/>
          <a:ln/>
        </p:spPr>
        <p:txBody>
          <a:bodyPr wrap="square" lIns="0" tIns="0" rIns="0" bIns="0" rtlCol="0" anchor="ctr"/>
          <a:lstStyle/>
          <a:p>
            <a:pPr marL="0" indent="0" algn="ctr">
              <a:buNone/>
            </a:pPr>
            <a:r>
              <a:rPr lang="en-US" sz="1000" b="1" dirty="0">
                <a:solidFill>
                  <a:srgbClr val="11121A"/>
                </a:solidFill>
                <a:latin typeface="Palatino Linotype" pitchFamily="34" charset="0"/>
                <a:ea typeface="Palatino Linotype" pitchFamily="34" charset="-122"/>
                <a:cs typeface="Palatino Linotype" pitchFamily="34" charset="-120"/>
              </a:rPr>
              <a:t>58–62'</a:t>
            </a:r>
            <a:endParaRPr lang="en-US" sz="1000" dirty="0"/>
          </a:p>
        </p:txBody>
      </p:sp>
      <p:sp>
        <p:nvSpPr>
          <p:cNvPr id="32" name="Text 30"/>
          <p:cNvSpPr/>
          <p:nvPr/>
        </p:nvSpPr>
        <p:spPr>
          <a:xfrm>
            <a:off x="2240280" y="4155948"/>
            <a:ext cx="3200400" cy="429768"/>
          </a:xfrm>
          <a:prstGeom prst="rect">
            <a:avLst/>
          </a:prstGeom>
          <a:noFill/>
          <a:ln/>
        </p:spPr>
        <p:txBody>
          <a:bodyPr wrap="square" lIns="0" tIns="0" rIns="0" bIns="0" rtlCol="0" anchor="ctr"/>
          <a:lstStyle/>
          <a:p>
            <a:pPr marL="0" indent="0">
              <a:buNone/>
            </a:pPr>
            <a:r>
              <a:rPr lang="en-US" sz="1250" b="1" dirty="0">
                <a:solidFill>
                  <a:srgbClr val="11121A"/>
                </a:solidFill>
                <a:latin typeface="Palatino Linotype" pitchFamily="34" charset="0"/>
                <a:ea typeface="Palatino Linotype" pitchFamily="34" charset="-122"/>
                <a:cs typeface="Palatino Linotype" pitchFamily="34" charset="-120"/>
              </a:rPr>
              <a:t>PAUZĂ</a:t>
            </a:r>
            <a:endParaRPr lang="en-US" sz="1250" dirty="0"/>
          </a:p>
        </p:txBody>
      </p:sp>
      <p:sp>
        <p:nvSpPr>
          <p:cNvPr id="33" name="Text 31"/>
          <p:cNvSpPr/>
          <p:nvPr/>
        </p:nvSpPr>
        <p:spPr>
          <a:xfrm>
            <a:off x="5577840" y="4155948"/>
            <a:ext cx="5760720" cy="429768"/>
          </a:xfrm>
          <a:prstGeom prst="rect">
            <a:avLst/>
          </a:prstGeom>
          <a:noFill/>
          <a:ln/>
        </p:spPr>
        <p:txBody>
          <a:bodyPr wrap="square" lIns="0" tIns="0" rIns="0" bIns="0" rtlCol="0" anchor="ctr"/>
          <a:lstStyle/>
          <a:p>
            <a:pPr marL="0" indent="0">
              <a:buNone/>
            </a:pPr>
            <a:endParaRPr lang="en-US" sz="1100" dirty="0"/>
          </a:p>
        </p:txBody>
      </p:sp>
      <p:sp>
        <p:nvSpPr>
          <p:cNvPr id="34" name="Shape 32"/>
          <p:cNvSpPr/>
          <p:nvPr/>
        </p:nvSpPr>
        <p:spPr>
          <a:xfrm>
            <a:off x="594360" y="4654296"/>
            <a:ext cx="10972800" cy="429768"/>
          </a:xfrm>
          <a:prstGeom prst="roundRect">
            <a:avLst>
              <a:gd name="adj" fmla="val 19149"/>
            </a:avLst>
          </a:prstGeom>
          <a:solidFill>
            <a:srgbClr val="ECEAE4"/>
          </a:solidFill>
          <a:ln w="12700">
            <a:solidFill>
              <a:srgbClr val="ECEAE4"/>
            </a:solidFill>
            <a:prstDash val="solid"/>
          </a:ln>
        </p:spPr>
        <p:txBody>
          <a:bodyPr/>
          <a:lstStyle/>
          <a:p>
            <a:endParaRPr lang="ro-RO"/>
          </a:p>
        </p:txBody>
      </p:sp>
      <p:sp>
        <p:nvSpPr>
          <p:cNvPr id="35" name="Shape 33"/>
          <p:cNvSpPr/>
          <p:nvPr/>
        </p:nvSpPr>
        <p:spPr>
          <a:xfrm>
            <a:off x="868680" y="4704588"/>
            <a:ext cx="1143000" cy="329184"/>
          </a:xfrm>
          <a:prstGeom prst="roundRect">
            <a:avLst>
              <a:gd name="adj" fmla="val 50000"/>
            </a:avLst>
          </a:prstGeom>
          <a:solidFill>
            <a:srgbClr val="FF4757"/>
          </a:solidFill>
          <a:ln w="12700">
            <a:solidFill>
              <a:srgbClr val="FF4757"/>
            </a:solidFill>
            <a:prstDash val="solid"/>
          </a:ln>
        </p:spPr>
        <p:txBody>
          <a:bodyPr/>
          <a:lstStyle/>
          <a:p>
            <a:endParaRPr lang="ro-RO"/>
          </a:p>
        </p:txBody>
      </p:sp>
      <p:sp>
        <p:nvSpPr>
          <p:cNvPr id="36" name="Text 34"/>
          <p:cNvSpPr/>
          <p:nvPr/>
        </p:nvSpPr>
        <p:spPr>
          <a:xfrm>
            <a:off x="868680" y="4704588"/>
            <a:ext cx="1143000" cy="329184"/>
          </a:xfrm>
          <a:prstGeom prst="rect">
            <a:avLst/>
          </a:prstGeom>
          <a:noFill/>
          <a:ln/>
        </p:spPr>
        <p:txBody>
          <a:bodyPr wrap="square" lIns="0" tIns="0" rIns="0" bIns="0" rtlCol="0" anchor="ctr"/>
          <a:lstStyle/>
          <a:p>
            <a:pPr marL="0" indent="0" algn="ctr">
              <a:buNone/>
            </a:pPr>
            <a:r>
              <a:rPr lang="en-US" sz="1000" b="1" dirty="0">
                <a:solidFill>
                  <a:srgbClr val="11121A"/>
                </a:solidFill>
                <a:latin typeface="Palatino Linotype" pitchFamily="34" charset="0"/>
                <a:ea typeface="Palatino Linotype" pitchFamily="34" charset="-122"/>
                <a:cs typeface="Palatino Linotype" pitchFamily="34" charset="-120"/>
              </a:rPr>
              <a:t>62–80'</a:t>
            </a:r>
            <a:endParaRPr lang="en-US" sz="1000" dirty="0"/>
          </a:p>
        </p:txBody>
      </p:sp>
      <p:sp>
        <p:nvSpPr>
          <p:cNvPr id="37" name="Text 35"/>
          <p:cNvSpPr/>
          <p:nvPr/>
        </p:nvSpPr>
        <p:spPr>
          <a:xfrm>
            <a:off x="2240280" y="4654296"/>
            <a:ext cx="3200400" cy="429768"/>
          </a:xfrm>
          <a:prstGeom prst="rect">
            <a:avLst/>
          </a:prstGeom>
          <a:noFill/>
          <a:ln/>
        </p:spPr>
        <p:txBody>
          <a:bodyPr wrap="square" lIns="0" tIns="0" rIns="0" bIns="0" rtlCol="0" anchor="ctr"/>
          <a:lstStyle/>
          <a:p>
            <a:pPr marL="0" indent="0">
              <a:buNone/>
            </a:pPr>
            <a:r>
              <a:rPr lang="en-US" sz="1250" b="1" dirty="0">
                <a:solidFill>
                  <a:srgbClr val="11121A"/>
                </a:solidFill>
                <a:latin typeface="Palatino Linotype" pitchFamily="34" charset="0"/>
                <a:ea typeface="Palatino Linotype" pitchFamily="34" charset="-122"/>
                <a:cs typeface="Palatino Linotype" pitchFamily="34" charset="-120"/>
              </a:rPr>
              <a:t>Dosarul Broad Street</a:t>
            </a:r>
            <a:endParaRPr lang="en-US" sz="1250" dirty="0"/>
          </a:p>
        </p:txBody>
      </p:sp>
      <p:sp>
        <p:nvSpPr>
          <p:cNvPr id="38" name="Text 36"/>
          <p:cNvSpPr/>
          <p:nvPr/>
        </p:nvSpPr>
        <p:spPr>
          <a:xfrm>
            <a:off x="5577840" y="4654296"/>
            <a:ext cx="5760720" cy="429768"/>
          </a:xfrm>
          <a:prstGeom prst="rect">
            <a:avLst/>
          </a:prstGeom>
          <a:noFill/>
          <a:ln/>
        </p:spPr>
        <p:txBody>
          <a:bodyPr wrap="square" lIns="0" tIns="0" rIns="0" bIns="0" rtlCol="0" anchor="ctr"/>
          <a:lstStyle/>
          <a:p>
            <a:pPr marL="0" indent="0">
              <a:buNone/>
            </a:pPr>
            <a:r>
              <a:rPr lang="en-US" sz="1100" dirty="0">
                <a:solidFill>
                  <a:srgbClr val="585A64"/>
                </a:solidFill>
                <a:latin typeface="Palatino Linotype" pitchFamily="34" charset="0"/>
                <a:ea typeface="Palatino Linotype" pitchFamily="34" charset="-122"/>
                <a:cs typeface="Palatino Linotype" pitchFamily="34" charset="-120"/>
              </a:rPr>
              <a:t>exercițiu în echipe, patru plicuri</a:t>
            </a:r>
            <a:endParaRPr lang="en-US" sz="1100" dirty="0"/>
          </a:p>
        </p:txBody>
      </p:sp>
      <p:sp>
        <p:nvSpPr>
          <p:cNvPr id="39" name="Shape 37"/>
          <p:cNvSpPr/>
          <p:nvPr/>
        </p:nvSpPr>
        <p:spPr>
          <a:xfrm>
            <a:off x="594360" y="5152644"/>
            <a:ext cx="10972800" cy="429768"/>
          </a:xfrm>
          <a:prstGeom prst="roundRect">
            <a:avLst>
              <a:gd name="adj" fmla="val 19149"/>
            </a:avLst>
          </a:prstGeom>
          <a:solidFill>
            <a:srgbClr val="F9F8F5"/>
          </a:solidFill>
          <a:ln w="12700">
            <a:solidFill>
              <a:srgbClr val="F9F8F5"/>
            </a:solidFill>
            <a:prstDash val="solid"/>
          </a:ln>
        </p:spPr>
        <p:txBody>
          <a:bodyPr/>
          <a:lstStyle/>
          <a:p>
            <a:endParaRPr lang="ro-RO"/>
          </a:p>
        </p:txBody>
      </p:sp>
      <p:sp>
        <p:nvSpPr>
          <p:cNvPr id="40" name="Shape 38"/>
          <p:cNvSpPr/>
          <p:nvPr/>
        </p:nvSpPr>
        <p:spPr>
          <a:xfrm>
            <a:off x="868680" y="5202936"/>
            <a:ext cx="1143000" cy="329184"/>
          </a:xfrm>
          <a:prstGeom prst="roundRect">
            <a:avLst>
              <a:gd name="adj" fmla="val 50000"/>
            </a:avLst>
          </a:prstGeom>
          <a:solidFill>
            <a:srgbClr val="9B7EF7"/>
          </a:solidFill>
          <a:ln w="12700">
            <a:solidFill>
              <a:srgbClr val="9B7EF7"/>
            </a:solidFill>
            <a:prstDash val="solid"/>
          </a:ln>
        </p:spPr>
        <p:txBody>
          <a:bodyPr/>
          <a:lstStyle/>
          <a:p>
            <a:endParaRPr lang="ro-RO"/>
          </a:p>
        </p:txBody>
      </p:sp>
      <p:sp>
        <p:nvSpPr>
          <p:cNvPr id="41" name="Text 39"/>
          <p:cNvSpPr/>
          <p:nvPr/>
        </p:nvSpPr>
        <p:spPr>
          <a:xfrm>
            <a:off x="868680" y="5202936"/>
            <a:ext cx="1143000" cy="329184"/>
          </a:xfrm>
          <a:prstGeom prst="rect">
            <a:avLst/>
          </a:prstGeom>
          <a:noFill/>
          <a:ln/>
        </p:spPr>
        <p:txBody>
          <a:bodyPr wrap="square" lIns="0" tIns="0" rIns="0" bIns="0" rtlCol="0" anchor="ctr"/>
          <a:lstStyle/>
          <a:p>
            <a:pPr marL="0" indent="0" algn="ctr">
              <a:buNone/>
            </a:pPr>
            <a:r>
              <a:rPr lang="en-US" sz="1000" b="1" dirty="0">
                <a:solidFill>
                  <a:srgbClr val="11121A"/>
                </a:solidFill>
                <a:latin typeface="Palatino Linotype" pitchFamily="34" charset="0"/>
                <a:ea typeface="Palatino Linotype" pitchFamily="34" charset="-122"/>
                <a:cs typeface="Palatino Linotype" pitchFamily="34" charset="-120"/>
              </a:rPr>
              <a:t>80–92'</a:t>
            </a:r>
            <a:endParaRPr lang="en-US" sz="1000" dirty="0"/>
          </a:p>
        </p:txBody>
      </p:sp>
      <p:sp>
        <p:nvSpPr>
          <p:cNvPr id="42" name="Text 40"/>
          <p:cNvSpPr/>
          <p:nvPr/>
        </p:nvSpPr>
        <p:spPr>
          <a:xfrm>
            <a:off x="2240280" y="5152644"/>
            <a:ext cx="3200400" cy="429768"/>
          </a:xfrm>
          <a:prstGeom prst="rect">
            <a:avLst/>
          </a:prstGeom>
          <a:noFill/>
          <a:ln/>
        </p:spPr>
        <p:txBody>
          <a:bodyPr wrap="square" lIns="0" tIns="0" rIns="0" bIns="0" rtlCol="0" anchor="ctr"/>
          <a:lstStyle/>
          <a:p>
            <a:pPr marL="0" indent="0">
              <a:buNone/>
            </a:pPr>
            <a:r>
              <a:rPr lang="en-US" sz="1250" b="1" dirty="0">
                <a:solidFill>
                  <a:srgbClr val="11121A"/>
                </a:solidFill>
                <a:latin typeface="Palatino Linotype" pitchFamily="34" charset="0"/>
                <a:ea typeface="Palatino Linotype" pitchFamily="34" charset="-122"/>
                <a:cs typeface="Palatino Linotype" pitchFamily="34" charset="-120"/>
              </a:rPr>
              <a:t>Meseria, azi</a:t>
            </a:r>
            <a:endParaRPr lang="en-US" sz="1250" dirty="0"/>
          </a:p>
        </p:txBody>
      </p:sp>
      <p:sp>
        <p:nvSpPr>
          <p:cNvPr id="43" name="Text 41"/>
          <p:cNvSpPr/>
          <p:nvPr/>
        </p:nvSpPr>
        <p:spPr>
          <a:xfrm>
            <a:off x="5577840" y="5152644"/>
            <a:ext cx="5760720" cy="429768"/>
          </a:xfrm>
          <a:prstGeom prst="rect">
            <a:avLst/>
          </a:prstGeom>
          <a:noFill/>
          <a:ln/>
        </p:spPr>
        <p:txBody>
          <a:bodyPr wrap="square" lIns="0" tIns="0" rIns="0" bIns="0" rtlCol="0" anchor="ctr"/>
          <a:lstStyle/>
          <a:p>
            <a:pPr marL="0" indent="0">
              <a:buNone/>
            </a:pPr>
            <a:r>
              <a:rPr lang="en-US" sz="1100" dirty="0">
                <a:solidFill>
                  <a:srgbClr val="585A64"/>
                </a:solidFill>
                <a:latin typeface="Palatino Linotype" pitchFamily="34" charset="0"/>
                <a:ea typeface="Palatino Linotype" pitchFamily="34" charset="-122"/>
                <a:cs typeface="Palatino Linotype" pitchFamily="34" charset="-120"/>
              </a:rPr>
              <a:t>cele 10 etape, focarele din Cluj</a:t>
            </a:r>
            <a:endParaRPr lang="en-US" sz="1100" dirty="0"/>
          </a:p>
        </p:txBody>
      </p:sp>
      <p:sp>
        <p:nvSpPr>
          <p:cNvPr id="44" name="Shape 42"/>
          <p:cNvSpPr/>
          <p:nvPr/>
        </p:nvSpPr>
        <p:spPr>
          <a:xfrm>
            <a:off x="594360" y="5650992"/>
            <a:ext cx="10972800" cy="429768"/>
          </a:xfrm>
          <a:prstGeom prst="roundRect">
            <a:avLst>
              <a:gd name="adj" fmla="val 19149"/>
            </a:avLst>
          </a:prstGeom>
          <a:solidFill>
            <a:srgbClr val="ECEAE4"/>
          </a:solidFill>
          <a:ln w="12700">
            <a:solidFill>
              <a:srgbClr val="ECEAE4"/>
            </a:solidFill>
            <a:prstDash val="solid"/>
          </a:ln>
        </p:spPr>
        <p:txBody>
          <a:bodyPr/>
          <a:lstStyle/>
          <a:p>
            <a:endParaRPr lang="ro-RO"/>
          </a:p>
        </p:txBody>
      </p:sp>
      <p:sp>
        <p:nvSpPr>
          <p:cNvPr id="45" name="Shape 43"/>
          <p:cNvSpPr/>
          <p:nvPr/>
        </p:nvSpPr>
        <p:spPr>
          <a:xfrm>
            <a:off x="868680" y="5701284"/>
            <a:ext cx="1143000" cy="329184"/>
          </a:xfrm>
          <a:prstGeom prst="roundRect">
            <a:avLst>
              <a:gd name="adj" fmla="val 50000"/>
            </a:avLst>
          </a:prstGeom>
          <a:solidFill>
            <a:srgbClr val="9AA0B4"/>
          </a:solidFill>
          <a:ln w="12700">
            <a:solidFill>
              <a:srgbClr val="9AA0B4"/>
            </a:solidFill>
            <a:prstDash val="solid"/>
          </a:ln>
        </p:spPr>
        <p:txBody>
          <a:bodyPr/>
          <a:lstStyle/>
          <a:p>
            <a:endParaRPr lang="ro-RO"/>
          </a:p>
        </p:txBody>
      </p:sp>
      <p:sp>
        <p:nvSpPr>
          <p:cNvPr id="46" name="Text 44"/>
          <p:cNvSpPr/>
          <p:nvPr/>
        </p:nvSpPr>
        <p:spPr>
          <a:xfrm>
            <a:off x="868680" y="5701284"/>
            <a:ext cx="1143000" cy="329184"/>
          </a:xfrm>
          <a:prstGeom prst="rect">
            <a:avLst/>
          </a:prstGeom>
          <a:noFill/>
          <a:ln/>
        </p:spPr>
        <p:txBody>
          <a:bodyPr wrap="square" lIns="0" tIns="0" rIns="0" bIns="0" rtlCol="0" anchor="ctr"/>
          <a:lstStyle/>
          <a:p>
            <a:pPr marL="0" indent="0" algn="ctr">
              <a:buNone/>
            </a:pPr>
            <a:r>
              <a:rPr lang="en-US" sz="1000" b="1" dirty="0">
                <a:solidFill>
                  <a:srgbClr val="11121A"/>
                </a:solidFill>
                <a:latin typeface="Palatino Linotype" pitchFamily="34" charset="0"/>
                <a:ea typeface="Palatino Linotype" pitchFamily="34" charset="-122"/>
                <a:cs typeface="Palatino Linotype" pitchFamily="34" charset="-120"/>
              </a:rPr>
              <a:t>92–100'</a:t>
            </a:r>
            <a:endParaRPr lang="en-US" sz="1000" dirty="0"/>
          </a:p>
        </p:txBody>
      </p:sp>
      <p:sp>
        <p:nvSpPr>
          <p:cNvPr id="47" name="Text 45"/>
          <p:cNvSpPr/>
          <p:nvPr/>
        </p:nvSpPr>
        <p:spPr>
          <a:xfrm>
            <a:off x="2240280" y="5650992"/>
            <a:ext cx="3200400" cy="429768"/>
          </a:xfrm>
          <a:prstGeom prst="rect">
            <a:avLst/>
          </a:prstGeom>
          <a:noFill/>
          <a:ln/>
        </p:spPr>
        <p:txBody>
          <a:bodyPr wrap="square" lIns="0" tIns="0" rIns="0" bIns="0" rtlCol="0" anchor="ctr"/>
          <a:lstStyle/>
          <a:p>
            <a:pPr marL="0" indent="0">
              <a:buNone/>
            </a:pPr>
            <a:r>
              <a:rPr lang="en-US" sz="1250" b="1" dirty="0">
                <a:solidFill>
                  <a:srgbClr val="11121A"/>
                </a:solidFill>
                <a:latin typeface="Palatino Linotype" pitchFamily="34" charset="0"/>
                <a:ea typeface="Palatino Linotype" pitchFamily="34" charset="-122"/>
                <a:cs typeface="Palatino Linotype" pitchFamily="34" charset="-120"/>
              </a:rPr>
              <a:t>Sinteză și Kahoot</a:t>
            </a:r>
            <a:endParaRPr lang="en-US" sz="1250" dirty="0"/>
          </a:p>
        </p:txBody>
      </p:sp>
      <p:sp>
        <p:nvSpPr>
          <p:cNvPr id="48" name="Text 46"/>
          <p:cNvSpPr/>
          <p:nvPr/>
        </p:nvSpPr>
        <p:spPr>
          <a:xfrm>
            <a:off x="5577840" y="5650992"/>
            <a:ext cx="5760720" cy="429768"/>
          </a:xfrm>
          <a:prstGeom prst="rect">
            <a:avLst/>
          </a:prstGeom>
          <a:noFill/>
          <a:ln/>
        </p:spPr>
        <p:txBody>
          <a:bodyPr wrap="square" lIns="0" tIns="0" rIns="0" bIns="0" rtlCol="0" anchor="ctr"/>
          <a:lstStyle/>
          <a:p>
            <a:pPr marL="0" indent="0">
              <a:buNone/>
            </a:pPr>
            <a:r>
              <a:rPr lang="en-US" sz="1100" dirty="0">
                <a:solidFill>
                  <a:srgbClr val="585A64"/>
                </a:solidFill>
                <a:latin typeface="Palatino Linotype" pitchFamily="34" charset="0"/>
                <a:ea typeface="Palatino Linotype" pitchFamily="34" charset="-122"/>
                <a:cs typeface="Palatino Linotype" pitchFamily="34" charset="-120"/>
              </a:rPr>
              <a:t>teza reluată, cinci reguli, 10 itemi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822960" y="1371600"/>
            <a:ext cx="3108960" cy="2377440"/>
          </a:xfrm>
          <a:prstGeom prst="rect">
            <a:avLst/>
          </a:prstGeom>
          <a:noFill/>
          <a:ln/>
        </p:spPr>
        <p:txBody>
          <a:bodyPr wrap="square" lIns="0" tIns="0" rIns="0" bIns="0" rtlCol="0" anchor="ctr"/>
          <a:lstStyle/>
          <a:p>
            <a:pPr marL="0" indent="0">
              <a:buNone/>
            </a:pPr>
            <a:r>
              <a:rPr lang="en-US" sz="14000" b="1" dirty="0">
                <a:solidFill>
                  <a:srgbClr val="FF4757"/>
                </a:solidFill>
                <a:latin typeface="Palatino Linotype" pitchFamily="34" charset="0"/>
                <a:ea typeface="Palatino Linotype" pitchFamily="34" charset="-122"/>
                <a:cs typeface="Palatino Linotype" pitchFamily="34" charset="-120"/>
              </a:rPr>
              <a:t>01</a:t>
            </a:r>
            <a:endParaRPr lang="en-US" sz="14000" dirty="0"/>
          </a:p>
        </p:txBody>
      </p:sp>
      <p:sp>
        <p:nvSpPr>
          <p:cNvPr id="3" name="Shape 1"/>
          <p:cNvSpPr/>
          <p:nvPr/>
        </p:nvSpPr>
        <p:spPr>
          <a:xfrm>
            <a:off x="4206240" y="1737360"/>
            <a:ext cx="32004" cy="1737360"/>
          </a:xfrm>
          <a:prstGeom prst="rect">
            <a:avLst/>
          </a:prstGeom>
          <a:solidFill>
            <a:srgbClr val="FF4757"/>
          </a:solidFill>
          <a:ln/>
        </p:spPr>
        <p:txBody>
          <a:bodyPr/>
          <a:lstStyle/>
          <a:p>
            <a:endParaRPr lang="ro-RO"/>
          </a:p>
        </p:txBody>
      </p:sp>
      <p:sp>
        <p:nvSpPr>
          <p:cNvPr id="4" name="Text 2"/>
          <p:cNvSpPr/>
          <p:nvPr/>
        </p:nvSpPr>
        <p:spPr>
          <a:xfrm>
            <a:off x="4709160" y="1755648"/>
            <a:ext cx="6858000" cy="1005840"/>
          </a:xfrm>
          <a:prstGeom prst="rect">
            <a:avLst/>
          </a:prstGeom>
          <a:noFill/>
          <a:ln/>
        </p:spPr>
        <p:txBody>
          <a:bodyPr wrap="square" lIns="0" tIns="0" rIns="0" bIns="0" rtlCol="0" anchor="t"/>
          <a:lstStyle/>
          <a:p>
            <a:pPr marL="0" indent="0">
              <a:buNone/>
            </a:pPr>
            <a:r>
              <a:rPr lang="en-US" sz="3400" b="1" dirty="0">
                <a:solidFill>
                  <a:srgbClr val="FFFFFF"/>
                </a:solidFill>
                <a:latin typeface="Palatino Linotype" pitchFamily="34" charset="0"/>
                <a:ea typeface="Palatino Linotype" pitchFamily="34" charset="-122"/>
                <a:cs typeface="Palatino Linotype" pitchFamily="34" charset="-120"/>
              </a:rPr>
              <a:t>Dosarul 1854</a:t>
            </a:r>
            <a:endParaRPr lang="en-US" sz="3400" dirty="0"/>
          </a:p>
        </p:txBody>
      </p:sp>
      <p:sp>
        <p:nvSpPr>
          <p:cNvPr id="5" name="Text 3"/>
          <p:cNvSpPr/>
          <p:nvPr/>
        </p:nvSpPr>
        <p:spPr>
          <a:xfrm>
            <a:off x="4709160" y="2788920"/>
            <a:ext cx="6858000" cy="868680"/>
          </a:xfrm>
          <a:prstGeom prst="rect">
            <a:avLst/>
          </a:prstGeom>
          <a:noFill/>
          <a:ln/>
        </p:spPr>
        <p:txBody>
          <a:bodyPr wrap="square" lIns="0" tIns="0" rIns="0" bIns="0" rtlCol="0" anchor="t"/>
          <a:lstStyle/>
          <a:p>
            <a:pPr marL="0" indent="0">
              <a:buNone/>
            </a:pPr>
            <a:r>
              <a:rPr lang="en-US" sz="1550" dirty="0">
                <a:solidFill>
                  <a:srgbClr val="959BB0"/>
                </a:solidFill>
                <a:latin typeface="Palatino Linotype" pitchFamily="34" charset="0"/>
                <a:ea typeface="Palatino Linotype" pitchFamily="34" charset="-122"/>
                <a:cs typeface="Palatino Linotype" pitchFamily="34" charset="-120"/>
              </a:rPr>
              <a:t>Ce s-a întâmplat efectiv în Soho, din documente — nu din legendă</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CONTEXTUL</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FFFFFF"/>
                </a:solidFill>
                <a:latin typeface="Palatino Linotype" pitchFamily="34" charset="0"/>
                <a:ea typeface="Palatino Linotype" pitchFamily="34" charset="-122"/>
                <a:cs typeface="Palatino Linotype" pitchFamily="34" charset="-120"/>
              </a:rPr>
              <a:t>Londra, august 1854</a:t>
            </a:r>
            <a:endParaRPr lang="en-US" sz="3100" dirty="0"/>
          </a:p>
        </p:txBody>
      </p:sp>
      <p:sp>
        <p:nvSpPr>
          <p:cNvPr id="4" name="Shape 2"/>
          <p:cNvSpPr/>
          <p:nvPr/>
        </p:nvSpPr>
        <p:spPr>
          <a:xfrm>
            <a:off x="594360" y="1783080"/>
            <a:ext cx="3429000" cy="1691640"/>
          </a:xfrm>
          <a:prstGeom prst="roundRect">
            <a:avLst>
              <a:gd name="adj" fmla="val 4865"/>
            </a:avLst>
          </a:prstGeom>
          <a:solidFill>
            <a:srgbClr val="1D1F2B"/>
          </a:solidFill>
          <a:ln w="12700">
            <a:solidFill>
              <a:srgbClr val="1D1F2B"/>
            </a:solidFill>
            <a:prstDash val="solid"/>
          </a:ln>
        </p:spPr>
        <p:txBody>
          <a:bodyPr/>
          <a:lstStyle/>
          <a:p>
            <a:endParaRPr lang="ro-RO"/>
          </a:p>
        </p:txBody>
      </p:sp>
      <p:sp>
        <p:nvSpPr>
          <p:cNvPr id="5" name="Text 3"/>
          <p:cNvSpPr/>
          <p:nvPr/>
        </p:nvSpPr>
        <p:spPr>
          <a:xfrm>
            <a:off x="868680" y="1892808"/>
            <a:ext cx="2880360" cy="845820"/>
          </a:xfrm>
          <a:prstGeom prst="rect">
            <a:avLst/>
          </a:prstGeom>
          <a:noFill/>
          <a:ln/>
        </p:spPr>
        <p:txBody>
          <a:bodyPr wrap="square" lIns="0" tIns="0" rIns="0" bIns="0" rtlCol="0" anchor="ctr"/>
          <a:lstStyle/>
          <a:p>
            <a:pPr marL="0" indent="0">
              <a:buNone/>
            </a:pPr>
            <a:r>
              <a:rPr lang="en-US" sz="3400" b="1" dirty="0">
                <a:solidFill>
                  <a:srgbClr val="FF4757"/>
                </a:solidFill>
                <a:latin typeface="Palatino Linotype" pitchFamily="34" charset="0"/>
                <a:ea typeface="Palatino Linotype" pitchFamily="34" charset="-122"/>
                <a:cs typeface="Palatino Linotype" pitchFamily="34" charset="-120"/>
              </a:rPr>
              <a:t>2 362 236</a:t>
            </a:r>
            <a:endParaRPr lang="en-US" sz="3400" dirty="0"/>
          </a:p>
        </p:txBody>
      </p:sp>
      <p:sp>
        <p:nvSpPr>
          <p:cNvPr id="6" name="Text 4"/>
          <p:cNvSpPr/>
          <p:nvPr/>
        </p:nvSpPr>
        <p:spPr>
          <a:xfrm>
            <a:off x="868680" y="2647188"/>
            <a:ext cx="2880360" cy="778154"/>
          </a:xfrm>
          <a:prstGeom prst="rect">
            <a:avLst/>
          </a:prstGeom>
          <a:noFill/>
          <a:ln/>
        </p:spPr>
        <p:txBody>
          <a:bodyPr wrap="square" lIns="0" tIns="0" rIns="0" bIns="0" rtlCol="0" anchor="t"/>
          <a:lstStyle/>
          <a:p>
            <a:pPr marL="0" indent="0">
              <a:buNone/>
            </a:pPr>
            <a:r>
              <a:rPr lang="en-US" sz="1200" dirty="0">
                <a:solidFill>
                  <a:srgbClr val="FFFFFF"/>
                </a:solidFill>
                <a:latin typeface="Palatino Linotype" pitchFamily="34" charset="0"/>
                <a:ea typeface="Palatino Linotype" pitchFamily="34" charset="-122"/>
                <a:cs typeface="Palatino Linotype" pitchFamily="34" charset="-120"/>
              </a:rPr>
              <a:t>locuitori în Londra, la recensământul din 1851</a:t>
            </a:r>
            <a:endParaRPr lang="en-US" sz="1200" dirty="0"/>
          </a:p>
        </p:txBody>
      </p:sp>
      <p:sp>
        <p:nvSpPr>
          <p:cNvPr id="7" name="Shape 5"/>
          <p:cNvSpPr/>
          <p:nvPr/>
        </p:nvSpPr>
        <p:spPr>
          <a:xfrm>
            <a:off x="4297680" y="1783080"/>
            <a:ext cx="3429000" cy="1691640"/>
          </a:xfrm>
          <a:prstGeom prst="roundRect">
            <a:avLst>
              <a:gd name="adj" fmla="val 4865"/>
            </a:avLst>
          </a:prstGeom>
          <a:solidFill>
            <a:srgbClr val="1D1F2B"/>
          </a:solidFill>
          <a:ln w="12700">
            <a:solidFill>
              <a:srgbClr val="1D1F2B"/>
            </a:solidFill>
            <a:prstDash val="solid"/>
          </a:ln>
        </p:spPr>
        <p:txBody>
          <a:bodyPr/>
          <a:lstStyle/>
          <a:p>
            <a:endParaRPr lang="ro-RO"/>
          </a:p>
        </p:txBody>
      </p:sp>
      <p:sp>
        <p:nvSpPr>
          <p:cNvPr id="8" name="Text 6"/>
          <p:cNvSpPr/>
          <p:nvPr/>
        </p:nvSpPr>
        <p:spPr>
          <a:xfrm>
            <a:off x="4572000" y="1892808"/>
            <a:ext cx="2880360" cy="845820"/>
          </a:xfrm>
          <a:prstGeom prst="rect">
            <a:avLst/>
          </a:prstGeom>
          <a:noFill/>
          <a:ln/>
        </p:spPr>
        <p:txBody>
          <a:bodyPr wrap="square" lIns="0" tIns="0" rIns="0" bIns="0" rtlCol="0" anchor="ctr"/>
          <a:lstStyle/>
          <a:p>
            <a:pPr marL="0" indent="0">
              <a:buNone/>
            </a:pPr>
            <a:r>
              <a:rPr lang="en-US" sz="3400" b="1" dirty="0">
                <a:solidFill>
                  <a:srgbClr val="FFC24B"/>
                </a:solidFill>
                <a:latin typeface="Palatino Linotype" pitchFamily="34" charset="0"/>
                <a:ea typeface="Palatino Linotype" pitchFamily="34" charset="-122"/>
                <a:cs typeface="Palatino Linotype" pitchFamily="34" charset="-120"/>
              </a:rPr>
              <a:t>36 406</a:t>
            </a:r>
            <a:endParaRPr lang="en-US" sz="3400" dirty="0"/>
          </a:p>
        </p:txBody>
      </p:sp>
      <p:sp>
        <p:nvSpPr>
          <p:cNvPr id="9" name="Text 7"/>
          <p:cNvSpPr/>
          <p:nvPr/>
        </p:nvSpPr>
        <p:spPr>
          <a:xfrm>
            <a:off x="4572000" y="2647188"/>
            <a:ext cx="2880360" cy="778154"/>
          </a:xfrm>
          <a:prstGeom prst="rect">
            <a:avLst/>
          </a:prstGeom>
          <a:noFill/>
          <a:ln/>
        </p:spPr>
        <p:txBody>
          <a:bodyPr wrap="square" lIns="0" tIns="0" rIns="0" bIns="0" rtlCol="0" anchor="t"/>
          <a:lstStyle/>
          <a:p>
            <a:pPr marL="0" indent="0">
              <a:buNone/>
            </a:pPr>
            <a:r>
              <a:rPr lang="en-US" sz="1200" dirty="0">
                <a:solidFill>
                  <a:srgbClr val="FFFFFF"/>
                </a:solidFill>
                <a:latin typeface="Palatino Linotype" pitchFamily="34" charset="0"/>
                <a:ea typeface="Palatino Linotype" pitchFamily="34" charset="-122"/>
                <a:cs typeface="Palatino Linotype" pitchFamily="34" charset="-120"/>
              </a:rPr>
              <a:t>locuitori în parohia St James, pe 164 de acri</a:t>
            </a:r>
            <a:endParaRPr lang="en-US" sz="1200" dirty="0"/>
          </a:p>
        </p:txBody>
      </p:sp>
      <p:sp>
        <p:nvSpPr>
          <p:cNvPr id="10" name="Shape 8"/>
          <p:cNvSpPr/>
          <p:nvPr/>
        </p:nvSpPr>
        <p:spPr>
          <a:xfrm>
            <a:off x="8001000" y="1783080"/>
            <a:ext cx="3429000" cy="1691640"/>
          </a:xfrm>
          <a:prstGeom prst="roundRect">
            <a:avLst>
              <a:gd name="adj" fmla="val 4865"/>
            </a:avLst>
          </a:prstGeom>
          <a:solidFill>
            <a:srgbClr val="1D1F2B"/>
          </a:solidFill>
          <a:ln w="12700">
            <a:solidFill>
              <a:srgbClr val="1D1F2B"/>
            </a:solidFill>
            <a:prstDash val="solid"/>
          </a:ln>
        </p:spPr>
        <p:txBody>
          <a:bodyPr/>
          <a:lstStyle/>
          <a:p>
            <a:endParaRPr lang="ro-RO"/>
          </a:p>
        </p:txBody>
      </p:sp>
      <p:sp>
        <p:nvSpPr>
          <p:cNvPr id="11" name="Text 9"/>
          <p:cNvSpPr/>
          <p:nvPr/>
        </p:nvSpPr>
        <p:spPr>
          <a:xfrm>
            <a:off x="8275320" y="1892808"/>
            <a:ext cx="2880360" cy="845820"/>
          </a:xfrm>
          <a:prstGeom prst="rect">
            <a:avLst/>
          </a:prstGeom>
          <a:noFill/>
          <a:ln/>
        </p:spPr>
        <p:txBody>
          <a:bodyPr wrap="square" lIns="0" tIns="0" rIns="0" bIns="0" rtlCol="0" anchor="ctr"/>
          <a:lstStyle/>
          <a:p>
            <a:pPr marL="0" indent="0">
              <a:buNone/>
            </a:pPr>
            <a:r>
              <a:rPr lang="en-US" sz="3400" b="1" dirty="0">
                <a:solidFill>
                  <a:srgbClr val="27D3BE"/>
                </a:solidFill>
                <a:latin typeface="Palatino Linotype" pitchFamily="34" charset="0"/>
                <a:ea typeface="Palatino Linotype" pitchFamily="34" charset="-122"/>
                <a:cs typeface="Palatino Linotype" pitchFamily="34" charset="-120"/>
              </a:rPr>
              <a:t>14 139</a:t>
            </a:r>
            <a:endParaRPr lang="en-US" sz="3400" dirty="0"/>
          </a:p>
        </p:txBody>
      </p:sp>
      <p:sp>
        <p:nvSpPr>
          <p:cNvPr id="12" name="Text 10"/>
          <p:cNvSpPr/>
          <p:nvPr/>
        </p:nvSpPr>
        <p:spPr>
          <a:xfrm>
            <a:off x="8275320" y="2647188"/>
            <a:ext cx="2880360" cy="778154"/>
          </a:xfrm>
          <a:prstGeom prst="rect">
            <a:avLst/>
          </a:prstGeom>
          <a:noFill/>
          <a:ln/>
        </p:spPr>
        <p:txBody>
          <a:bodyPr wrap="square" lIns="0" tIns="0" rIns="0" bIns="0" rtlCol="0" anchor="t"/>
          <a:lstStyle/>
          <a:p>
            <a:pPr marL="0" indent="0">
              <a:buNone/>
            </a:pPr>
            <a:r>
              <a:rPr lang="en-US" sz="1200" dirty="0">
                <a:solidFill>
                  <a:srgbClr val="FFFFFF"/>
                </a:solidFill>
                <a:latin typeface="Palatino Linotype" pitchFamily="34" charset="0"/>
                <a:ea typeface="Palatino Linotype" pitchFamily="34" charset="-122"/>
                <a:cs typeface="Palatino Linotype" pitchFamily="34" charset="-120"/>
              </a:rPr>
              <a:t>locuitori în subdistrictul Golden Square, pe 54 de acri</a:t>
            </a:r>
            <a:endParaRPr lang="en-US" sz="1200" dirty="0"/>
          </a:p>
        </p:txBody>
      </p:sp>
      <p:sp>
        <p:nvSpPr>
          <p:cNvPr id="13" name="Shape 11"/>
          <p:cNvSpPr/>
          <p:nvPr/>
        </p:nvSpPr>
        <p:spPr>
          <a:xfrm>
            <a:off x="594360" y="3794760"/>
            <a:ext cx="10972800" cy="960120"/>
          </a:xfrm>
          <a:prstGeom prst="roundRect">
            <a:avLst>
              <a:gd name="adj" fmla="val 8571"/>
            </a:avLst>
          </a:prstGeom>
          <a:solidFill>
            <a:srgbClr val="272A38"/>
          </a:solidFill>
          <a:ln w="12700">
            <a:solidFill>
              <a:srgbClr val="272A38"/>
            </a:solidFill>
            <a:prstDash val="solid"/>
          </a:ln>
        </p:spPr>
        <p:txBody>
          <a:bodyPr/>
          <a:lstStyle/>
          <a:p>
            <a:endParaRPr lang="ro-RO"/>
          </a:p>
        </p:txBody>
      </p:sp>
      <p:sp>
        <p:nvSpPr>
          <p:cNvPr id="14" name="Text 12"/>
          <p:cNvSpPr/>
          <p:nvPr/>
        </p:nvSpPr>
        <p:spPr>
          <a:xfrm>
            <a:off x="960120" y="3794760"/>
            <a:ext cx="10241280" cy="960120"/>
          </a:xfrm>
          <a:prstGeom prst="rect">
            <a:avLst/>
          </a:prstGeom>
          <a:noFill/>
          <a:ln/>
        </p:spPr>
        <p:txBody>
          <a:bodyPr wrap="square" lIns="0" tIns="0" rIns="0" bIns="0" rtlCol="0" anchor="ctr"/>
          <a:lstStyle/>
          <a:p>
            <a:pPr marL="0" indent="0">
              <a:buNone/>
            </a:pPr>
            <a:r>
              <a:rPr lang="en-US" sz="1500" dirty="0">
                <a:solidFill>
                  <a:srgbClr val="FFFFFF"/>
                </a:solidFill>
                <a:latin typeface="Palatino Linotype" pitchFamily="34" charset="0"/>
                <a:ea typeface="Palatino Linotype" pitchFamily="34" charset="-122"/>
                <a:cs typeface="Palatino Linotype" pitchFamily="34" charset="-120"/>
              </a:rPr>
              <a:t>Haznale numeroase, multe defectuoase; fântâni publice puțin adânci, cu pereți de cărămidă fără mortar. O parte a orașului bea apă captată de companii din Tamisa, în care se descărcau canalele.</a:t>
            </a:r>
            <a:endParaRPr lang="en-US" sz="1500" dirty="0"/>
          </a:p>
        </p:txBody>
      </p:sp>
      <p:sp>
        <p:nvSpPr>
          <p:cNvPr id="15" name="Shape 13"/>
          <p:cNvSpPr/>
          <p:nvPr/>
        </p:nvSpPr>
        <p:spPr>
          <a:xfrm>
            <a:off x="594360" y="4937760"/>
            <a:ext cx="10972800" cy="960120"/>
          </a:xfrm>
          <a:prstGeom prst="roundRect">
            <a:avLst>
              <a:gd name="adj" fmla="val 8571"/>
            </a:avLst>
          </a:prstGeom>
          <a:solidFill>
            <a:srgbClr val="1A2430"/>
          </a:solidFill>
          <a:ln w="12700">
            <a:solidFill>
              <a:srgbClr val="1A2430"/>
            </a:solidFill>
            <a:prstDash val="solid"/>
          </a:ln>
        </p:spPr>
        <p:txBody>
          <a:bodyPr/>
          <a:lstStyle/>
          <a:p>
            <a:endParaRPr lang="ro-RO"/>
          </a:p>
        </p:txBody>
      </p:sp>
      <p:sp>
        <p:nvSpPr>
          <p:cNvPr id="16" name="Text 14"/>
          <p:cNvSpPr/>
          <p:nvPr/>
        </p:nvSpPr>
        <p:spPr>
          <a:xfrm>
            <a:off x="960120" y="4937760"/>
            <a:ext cx="10241280" cy="960120"/>
          </a:xfrm>
          <a:prstGeom prst="rect">
            <a:avLst/>
          </a:prstGeom>
          <a:noFill/>
          <a:ln/>
        </p:spPr>
        <p:txBody>
          <a:bodyPr wrap="square" lIns="0" tIns="0" rIns="0" bIns="0" rtlCol="0" anchor="ctr"/>
          <a:lstStyle/>
          <a:p>
            <a:pPr marL="0" indent="0">
              <a:buNone/>
            </a:pPr>
            <a:r>
              <a:rPr lang="en-US" sz="1500" b="1" dirty="0">
                <a:solidFill>
                  <a:srgbClr val="27D3BE"/>
                </a:solidFill>
                <a:latin typeface="Palatino Linotype" pitchFamily="34" charset="0"/>
                <a:ea typeface="Palatino Linotype" pitchFamily="34" charset="-122"/>
                <a:cs typeface="Palatino Linotype" pitchFamily="34" charset="-120"/>
              </a:rPr>
              <a:t>Teoria dominantă: miasma. Bolile epidemice se transmit prin aer viciat. Vom vedea mai târziu de ce era, pentru un om rațional din 1854, o teorie bine susținută.</a:t>
            </a:r>
            <a:endParaRPr lang="en-US" sz="1500" dirty="0"/>
          </a:p>
        </p:txBody>
      </p:sp>
      <p:sp>
        <p:nvSpPr>
          <p:cNvPr id="17" name="Text 15"/>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Surse: Londra: Snow 1855, Tabelul XI, p. 88 (recensământul din 1851). Parohia St James: Cholera Inquiry Committee 1855, p. 9, 57–58 și 70–71. Companiile de apă: Snow 1855, p. 65–69.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C24B"/>
                </a:solidFill>
                <a:latin typeface="Palatino Linotype" pitchFamily="34" charset="0"/>
                <a:ea typeface="Palatino Linotype" pitchFamily="34" charset="-122"/>
                <a:cs typeface="Palatino Linotype" pitchFamily="34" charset="-120"/>
              </a:rPr>
              <a:t>CURBA EPIDEMICĂ · TABELUL I, SNOW 1855</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2900" b="1" dirty="0">
                <a:solidFill>
                  <a:srgbClr val="FFFFFF"/>
                </a:solidFill>
                <a:latin typeface="Palatino Linotype" pitchFamily="34" charset="0"/>
                <a:ea typeface="Palatino Linotype" pitchFamily="34" charset="-122"/>
                <a:cs typeface="Palatino Linotype" pitchFamily="34" charset="-120"/>
              </a:rPr>
              <a:t>Atacuri fatale pe zi, tabelate de Snow</a:t>
            </a:r>
            <a:endParaRPr lang="en-US" sz="2900" dirty="0"/>
          </a:p>
        </p:txBody>
      </p:sp>
      <p:graphicFrame>
        <p:nvGraphicFramePr>
          <p:cNvPr id="4" name="Chart 0"/>
          <p:cNvGraphicFramePr/>
          <p:nvPr/>
        </p:nvGraphicFramePr>
        <p:xfrm>
          <a:off x="594360" y="1783080"/>
          <a:ext cx="786384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778240" y="1783080"/>
            <a:ext cx="2788920" cy="1600200"/>
          </a:xfrm>
          <a:prstGeom prst="roundRect">
            <a:avLst>
              <a:gd name="adj" fmla="val 5143"/>
            </a:avLst>
          </a:prstGeom>
          <a:solidFill>
            <a:srgbClr val="1D1F2B"/>
          </a:solidFill>
          <a:ln w="12700">
            <a:solidFill>
              <a:srgbClr val="1D1F2B"/>
            </a:solidFill>
            <a:prstDash val="solid"/>
          </a:ln>
        </p:spPr>
        <p:txBody>
          <a:bodyPr/>
          <a:lstStyle/>
          <a:p>
            <a:endParaRPr lang="ro-RO"/>
          </a:p>
        </p:txBody>
      </p:sp>
      <p:sp>
        <p:nvSpPr>
          <p:cNvPr id="6" name="Text 3"/>
          <p:cNvSpPr/>
          <p:nvPr/>
        </p:nvSpPr>
        <p:spPr>
          <a:xfrm>
            <a:off x="9052560" y="1920240"/>
            <a:ext cx="2240280" cy="292608"/>
          </a:xfrm>
          <a:prstGeom prst="rect">
            <a:avLst/>
          </a:prstGeom>
          <a:noFill/>
          <a:ln/>
        </p:spPr>
        <p:txBody>
          <a:bodyPr wrap="square" lIns="0" tIns="0" rIns="0" bIns="0" rtlCol="0" anchor="ctr"/>
          <a:lstStyle/>
          <a:p>
            <a:pPr marL="0" indent="0">
              <a:buNone/>
            </a:pPr>
            <a:r>
              <a:rPr lang="en-US" sz="1400" b="1" dirty="0">
                <a:solidFill>
                  <a:srgbClr val="FF4757"/>
                </a:solidFill>
                <a:latin typeface="Palatino Linotype" pitchFamily="34" charset="0"/>
                <a:ea typeface="Palatino Linotype" pitchFamily="34" charset="-122"/>
                <a:cs typeface="Palatino Linotype" pitchFamily="34" charset="-120"/>
              </a:rPr>
              <a:t>1 septembrie</a:t>
            </a:r>
            <a:endParaRPr lang="en-US" sz="1400" dirty="0"/>
          </a:p>
        </p:txBody>
      </p:sp>
      <p:sp>
        <p:nvSpPr>
          <p:cNvPr id="7" name="Text 4"/>
          <p:cNvSpPr/>
          <p:nvPr/>
        </p:nvSpPr>
        <p:spPr>
          <a:xfrm>
            <a:off x="9052560" y="2267712"/>
            <a:ext cx="2240280" cy="1005840"/>
          </a:xfrm>
          <a:prstGeom prst="rect">
            <a:avLst/>
          </a:prstGeom>
          <a:noFill/>
          <a:ln/>
        </p:spPr>
        <p:txBody>
          <a:bodyPr wrap="square" lIns="0" tIns="0" rIns="0" bIns="0" rtlCol="0" anchor="ctr"/>
          <a:lstStyle/>
          <a:p>
            <a:pPr marL="0" indent="0">
              <a:buNone/>
            </a:pPr>
            <a:r>
              <a:rPr lang="en-US" sz="1200" dirty="0">
                <a:solidFill>
                  <a:srgbClr val="FFFFFF"/>
                </a:solidFill>
                <a:latin typeface="Palatino Linotype" pitchFamily="34" charset="0"/>
                <a:ea typeface="Palatino Linotype" pitchFamily="34" charset="-122"/>
                <a:cs typeface="Palatino Linotype" pitchFamily="34" charset="-120"/>
              </a:rPr>
              <a:t>143 de atacuri fatale. Vârful. Nimeni nu intervenise încă.</a:t>
            </a:r>
            <a:endParaRPr lang="en-US" sz="1200" dirty="0"/>
          </a:p>
        </p:txBody>
      </p:sp>
      <p:sp>
        <p:nvSpPr>
          <p:cNvPr id="8" name="Shape 5"/>
          <p:cNvSpPr/>
          <p:nvPr/>
        </p:nvSpPr>
        <p:spPr>
          <a:xfrm>
            <a:off x="8778240" y="3566160"/>
            <a:ext cx="2788920" cy="1600200"/>
          </a:xfrm>
          <a:prstGeom prst="roundRect">
            <a:avLst>
              <a:gd name="adj" fmla="val 5143"/>
            </a:avLst>
          </a:prstGeom>
          <a:solidFill>
            <a:srgbClr val="1D1F2B"/>
          </a:solidFill>
          <a:ln w="12700">
            <a:solidFill>
              <a:srgbClr val="1D1F2B"/>
            </a:solidFill>
            <a:prstDash val="solid"/>
          </a:ln>
        </p:spPr>
        <p:txBody>
          <a:bodyPr/>
          <a:lstStyle/>
          <a:p>
            <a:endParaRPr lang="ro-RO"/>
          </a:p>
        </p:txBody>
      </p:sp>
      <p:sp>
        <p:nvSpPr>
          <p:cNvPr id="9" name="Text 6"/>
          <p:cNvSpPr/>
          <p:nvPr/>
        </p:nvSpPr>
        <p:spPr>
          <a:xfrm>
            <a:off x="9052560" y="3703320"/>
            <a:ext cx="2240280" cy="292608"/>
          </a:xfrm>
          <a:prstGeom prst="rect">
            <a:avLst/>
          </a:prstGeom>
          <a:noFill/>
          <a:ln/>
        </p:spPr>
        <p:txBody>
          <a:bodyPr wrap="square" lIns="0" tIns="0" rIns="0" bIns="0" rtlCol="0" anchor="ctr"/>
          <a:lstStyle/>
          <a:p>
            <a:pPr marL="0" indent="0">
              <a:buNone/>
            </a:pPr>
            <a:r>
              <a:rPr lang="en-US" sz="1400" b="1" dirty="0">
                <a:solidFill>
                  <a:srgbClr val="FFC24B"/>
                </a:solidFill>
                <a:latin typeface="Palatino Linotype" pitchFamily="34" charset="0"/>
                <a:ea typeface="Palatino Linotype" pitchFamily="34" charset="-122"/>
                <a:cs typeface="Palatino Linotype" pitchFamily="34" charset="-120"/>
              </a:rPr>
              <a:t>8 septembrie</a:t>
            </a:r>
            <a:endParaRPr lang="en-US" sz="1400" dirty="0"/>
          </a:p>
        </p:txBody>
      </p:sp>
      <p:sp>
        <p:nvSpPr>
          <p:cNvPr id="10" name="Text 7"/>
          <p:cNvSpPr/>
          <p:nvPr/>
        </p:nvSpPr>
        <p:spPr>
          <a:xfrm>
            <a:off x="9052560" y="4050792"/>
            <a:ext cx="2240280" cy="1005840"/>
          </a:xfrm>
          <a:prstGeom prst="rect">
            <a:avLst/>
          </a:prstGeom>
          <a:noFill/>
          <a:ln/>
        </p:spPr>
        <p:txBody>
          <a:bodyPr wrap="square" lIns="0" tIns="0" rIns="0" bIns="0" rtlCol="0" anchor="ctr"/>
          <a:lstStyle/>
          <a:p>
            <a:pPr marL="0" indent="0">
              <a:buNone/>
            </a:pPr>
            <a:r>
              <a:rPr lang="en-US" sz="1200" dirty="0">
                <a:solidFill>
                  <a:srgbClr val="FFFFFF"/>
                </a:solidFill>
                <a:latin typeface="Palatino Linotype" pitchFamily="34" charset="0"/>
                <a:ea typeface="Palatino Linotype" pitchFamily="34" charset="-122"/>
                <a:cs typeface="Palatino Linotype" pitchFamily="34" charset="-120"/>
              </a:rPr>
              <a:t>12 atacuri fatale. Ziua în care se scoate mânerul.</a:t>
            </a:r>
            <a:endParaRPr lang="en-US" sz="1200" dirty="0"/>
          </a:p>
        </p:txBody>
      </p:sp>
      <p:sp>
        <p:nvSpPr>
          <p:cNvPr id="11" name="Shape 8"/>
          <p:cNvSpPr/>
          <p:nvPr/>
        </p:nvSpPr>
        <p:spPr>
          <a:xfrm>
            <a:off x="8778240" y="5349240"/>
            <a:ext cx="2788920" cy="960120"/>
          </a:xfrm>
          <a:prstGeom prst="roundRect">
            <a:avLst>
              <a:gd name="adj" fmla="val 8571"/>
            </a:avLst>
          </a:prstGeom>
          <a:solidFill>
            <a:srgbClr val="2A1E22"/>
          </a:solidFill>
          <a:ln w="12700">
            <a:solidFill>
              <a:srgbClr val="2A1E22"/>
            </a:solidFill>
            <a:prstDash val="solid"/>
          </a:ln>
        </p:spPr>
        <p:txBody>
          <a:bodyPr/>
          <a:lstStyle/>
          <a:p>
            <a:endParaRPr lang="ro-RO"/>
          </a:p>
        </p:txBody>
      </p:sp>
      <p:sp>
        <p:nvSpPr>
          <p:cNvPr id="12" name="Text 9"/>
          <p:cNvSpPr/>
          <p:nvPr/>
        </p:nvSpPr>
        <p:spPr>
          <a:xfrm>
            <a:off x="9052560" y="5349240"/>
            <a:ext cx="2240280" cy="960120"/>
          </a:xfrm>
          <a:prstGeom prst="rect">
            <a:avLst/>
          </a:prstGeom>
          <a:noFill/>
          <a:ln/>
        </p:spPr>
        <p:txBody>
          <a:bodyPr wrap="square" lIns="0" tIns="0" rIns="0" bIns="0" rtlCol="0" anchor="ctr"/>
          <a:lstStyle/>
          <a:p>
            <a:pPr marL="0" indent="0">
              <a:buNone/>
            </a:pPr>
            <a:r>
              <a:rPr lang="en-US" sz="1150" b="1" dirty="0">
                <a:solidFill>
                  <a:srgbClr val="FF4757"/>
                </a:solidFill>
                <a:latin typeface="Palatino Linotype" pitchFamily="34" charset="0"/>
                <a:ea typeface="Palatino Linotype" pitchFamily="34" charset="-122"/>
                <a:cs typeface="Palatino Linotype" pitchFamily="34" charset="-120"/>
              </a:rPr>
              <a:t>Axa verticală nu are numitor. Sunt atacuri fatale, nu rate.</a:t>
            </a:r>
            <a:endParaRPr lang="en-US" sz="1150" dirty="0"/>
          </a:p>
        </p:txBody>
      </p:sp>
      <p:sp>
        <p:nvSpPr>
          <p:cNvPr id="13" name="Text 10"/>
          <p:cNvSpPr/>
          <p:nvPr/>
        </p:nvSpPr>
        <p:spPr>
          <a:xfrm>
            <a:off x="594360" y="5669280"/>
            <a:ext cx="7863840" cy="320040"/>
          </a:xfrm>
          <a:prstGeom prst="rect">
            <a:avLst/>
          </a:prstGeom>
          <a:noFill/>
          <a:ln/>
        </p:spPr>
        <p:txBody>
          <a:bodyPr wrap="square" lIns="0" tIns="0" rIns="0" bIns="0" rtlCol="0" anchor="ctr"/>
          <a:lstStyle/>
          <a:p>
            <a:pPr marL="0" indent="0">
              <a:buNone/>
            </a:pPr>
            <a:r>
              <a:rPr lang="en-US" sz="1250" i="1" dirty="0">
                <a:solidFill>
                  <a:srgbClr val="959BB0"/>
                </a:solidFill>
                <a:latin typeface="Palatino Linotype" pitchFamily="34" charset="0"/>
                <a:ea typeface="Palatino Linotype" pitchFamily="34" charset="-122"/>
                <a:cs typeface="Palatino Linotype" pitchFamily="34" charset="-120"/>
              </a:rPr>
              <a:t>Snow tabelează după data ATACULUI, nu a decesului. În Sesiunea 2 veți face la fel.</a:t>
            </a:r>
            <a:endParaRPr lang="en-US" sz="1250" dirty="0"/>
          </a:p>
        </p:txBody>
      </p:sp>
      <p:sp>
        <p:nvSpPr>
          <p:cNvPr id="14" name="Text 11"/>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Sursa: Snow J. On the Mode of Communication of Cholera, ed. 2, 1855, tabel p. 49 („No. of Fatal Attacks”) și text pp. 51–52.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1121A"/>
        </a:solidFill>
        <a:effectLst/>
      </p:bgPr>
    </p:bg>
    <p:spTree>
      <p:nvGrpSpPr>
        <p:cNvPr id="1" name=""/>
        <p:cNvGrpSpPr/>
        <p:nvPr/>
      </p:nvGrpSpPr>
      <p:grpSpPr>
        <a:xfrm>
          <a:off x="0" y="0"/>
          <a:ext cx="0" cy="0"/>
          <a:chOff x="0" y="0"/>
          <a:chExt cx="0" cy="0"/>
        </a:xfrm>
      </p:grpSpPr>
      <p:sp>
        <p:nvSpPr>
          <p:cNvPr id="2" name="Shape 0"/>
          <p:cNvSpPr/>
          <p:nvPr/>
        </p:nvSpPr>
        <p:spPr>
          <a:xfrm>
            <a:off x="594360" y="329184"/>
            <a:ext cx="3840480" cy="402336"/>
          </a:xfrm>
          <a:prstGeom prst="roundRect">
            <a:avLst>
              <a:gd name="adj" fmla="val 50000"/>
            </a:avLst>
          </a:prstGeom>
          <a:solidFill>
            <a:srgbClr val="FF4757"/>
          </a:solidFill>
          <a:ln w="12700">
            <a:solidFill>
              <a:srgbClr val="FF4757"/>
            </a:solidFill>
            <a:prstDash val="solid"/>
          </a:ln>
        </p:spPr>
        <p:txBody>
          <a:bodyPr/>
          <a:lstStyle/>
          <a:p>
            <a:endParaRPr lang="ro-RO"/>
          </a:p>
        </p:txBody>
      </p:sp>
      <p:sp>
        <p:nvSpPr>
          <p:cNvPr id="3" name="Text 1"/>
          <p:cNvSpPr/>
          <p:nvPr/>
        </p:nvSpPr>
        <p:spPr>
          <a:xfrm>
            <a:off x="594360" y="329184"/>
            <a:ext cx="3840480" cy="402336"/>
          </a:xfrm>
          <a:prstGeom prst="rect">
            <a:avLst/>
          </a:prstGeom>
          <a:noFill/>
          <a:ln/>
        </p:spPr>
        <p:txBody>
          <a:bodyPr wrap="square" lIns="0" tIns="0" rIns="0" bIns="0" rtlCol="0" anchor="ctr"/>
          <a:lstStyle/>
          <a:p>
            <a:pPr marL="0" indent="0" algn="ctr">
              <a:buNone/>
            </a:pPr>
            <a:r>
              <a:rPr lang="en-US" sz="1050" b="1" dirty="0">
                <a:solidFill>
                  <a:srgbClr val="2E060B"/>
                </a:solidFill>
                <a:latin typeface="Palatino Linotype" pitchFamily="34" charset="0"/>
                <a:ea typeface="Palatino Linotype" pitchFamily="34" charset="-122"/>
                <a:cs typeface="Palatino Linotype" pitchFamily="34" charset="-120"/>
              </a:rPr>
              <a:t>CE NU E ÎN LEGENDĂ  ·  01</a:t>
            </a:r>
            <a:endParaRPr lang="en-US" sz="1050" dirty="0"/>
          </a:p>
        </p:txBody>
      </p:sp>
      <p:sp>
        <p:nvSpPr>
          <p:cNvPr id="4" name="Text 2"/>
          <p:cNvSpPr/>
          <p:nvPr/>
        </p:nvSpPr>
        <p:spPr>
          <a:xfrm>
            <a:off x="594360" y="694944"/>
            <a:ext cx="10972800" cy="960120"/>
          </a:xfrm>
          <a:prstGeom prst="rect">
            <a:avLst/>
          </a:prstGeom>
          <a:noFill/>
          <a:ln/>
        </p:spPr>
        <p:txBody>
          <a:bodyPr wrap="square" lIns="0" tIns="0" rIns="0" bIns="0" rtlCol="0" anchor="t"/>
          <a:lstStyle/>
          <a:p>
            <a:pPr marL="0" indent="0">
              <a:buNone/>
            </a:pPr>
            <a:r>
              <a:rPr lang="en-US" sz="3300" b="1" dirty="0">
                <a:solidFill>
                  <a:srgbClr val="FFFFFF"/>
                </a:solidFill>
                <a:latin typeface="Palatino Linotype" pitchFamily="34" charset="0"/>
                <a:ea typeface="Palatino Linotype" pitchFamily="34" charset="-122"/>
                <a:cs typeface="Palatino Linotype" pitchFamily="34" charset="-120"/>
              </a:rPr>
              <a:t>Fraza pe care relatările o taie la jumătate</a:t>
            </a:r>
            <a:endParaRPr lang="en-US" sz="3300" dirty="0"/>
          </a:p>
        </p:txBody>
      </p:sp>
      <p:sp>
        <p:nvSpPr>
          <p:cNvPr id="5" name="Shape 3"/>
          <p:cNvSpPr/>
          <p:nvPr/>
        </p:nvSpPr>
        <p:spPr>
          <a:xfrm>
            <a:off x="594360" y="1645920"/>
            <a:ext cx="10972800" cy="1783080"/>
          </a:xfrm>
          <a:prstGeom prst="roundRect">
            <a:avLst>
              <a:gd name="adj" fmla="val 4615"/>
            </a:avLst>
          </a:prstGeom>
          <a:solidFill>
            <a:srgbClr val="1D1F2B"/>
          </a:solidFill>
          <a:ln w="12700">
            <a:solidFill>
              <a:srgbClr val="1D1F2B"/>
            </a:solidFill>
            <a:prstDash val="solid"/>
          </a:ln>
        </p:spPr>
        <p:txBody>
          <a:bodyPr/>
          <a:lstStyle/>
          <a:p>
            <a:endParaRPr lang="ro-RO"/>
          </a:p>
        </p:txBody>
      </p:sp>
      <p:sp>
        <p:nvSpPr>
          <p:cNvPr id="6" name="Text 4"/>
          <p:cNvSpPr/>
          <p:nvPr/>
        </p:nvSpPr>
        <p:spPr>
          <a:xfrm>
            <a:off x="960120" y="1645920"/>
            <a:ext cx="10241280" cy="1783080"/>
          </a:xfrm>
          <a:prstGeom prst="rect">
            <a:avLst/>
          </a:prstGeom>
          <a:noFill/>
          <a:ln/>
        </p:spPr>
        <p:txBody>
          <a:bodyPr wrap="square" lIns="0" tIns="0" rIns="0" bIns="0" rtlCol="0" anchor="ctr"/>
          <a:lstStyle/>
          <a:p>
            <a:pPr marL="0" indent="0">
              <a:lnSpc>
                <a:spcPts val="2400"/>
              </a:lnSpc>
              <a:buNone/>
            </a:pPr>
            <a:r>
              <a:rPr lang="en-US" sz="1500" i="1" dirty="0">
                <a:solidFill>
                  <a:srgbClr val="959BB0"/>
                </a:solidFill>
                <a:latin typeface="Palatino Linotype" pitchFamily="34" charset="0"/>
                <a:ea typeface="Palatino Linotype" pitchFamily="34" charset="-122"/>
                <a:cs typeface="Palatino Linotype" pitchFamily="34" charset="-120"/>
              </a:rPr>
              <a:t>„There is no doubt that the mortality was much diminished, as I said before, </a:t>
            </a:r>
            <a:r>
              <a:rPr lang="en-US" sz="1500" b="1" i="1" dirty="0">
                <a:solidFill>
                  <a:srgbClr val="FFC24B"/>
                </a:solidFill>
                <a:latin typeface="Palatino Linotype" pitchFamily="34" charset="0"/>
                <a:ea typeface="Palatino Linotype" pitchFamily="34" charset="-122"/>
                <a:cs typeface="Palatino Linotype" pitchFamily="34" charset="-120"/>
              </a:rPr>
              <a:t>by the flight of the population</a:t>
            </a:r>
            <a:r>
              <a:rPr lang="en-US" sz="1500" i="1" dirty="0">
                <a:solidFill>
                  <a:srgbClr val="959BB0"/>
                </a:solidFill>
                <a:latin typeface="Palatino Linotype" pitchFamily="34" charset="0"/>
                <a:ea typeface="Palatino Linotype" pitchFamily="34" charset="-122"/>
                <a:cs typeface="Palatino Linotype" pitchFamily="34" charset="-120"/>
              </a:rPr>
              <a:t>, which commenced soon after the outbreak; but the attacks had so far diminished before the use of the water was stopped, that it is impossible to decide whether the well still contained the cholera poison in an active state…”</a:t>
            </a:r>
            <a:endParaRPr lang="en-US" sz="1500" dirty="0"/>
          </a:p>
        </p:txBody>
      </p:sp>
      <p:sp>
        <p:nvSpPr>
          <p:cNvPr id="7" name="Shape 5"/>
          <p:cNvSpPr/>
          <p:nvPr/>
        </p:nvSpPr>
        <p:spPr>
          <a:xfrm>
            <a:off x="594360" y="3566160"/>
            <a:ext cx="10972800" cy="685800"/>
          </a:xfrm>
          <a:prstGeom prst="roundRect">
            <a:avLst>
              <a:gd name="adj" fmla="val 12000"/>
            </a:avLst>
          </a:prstGeom>
          <a:solidFill>
            <a:srgbClr val="1A2430"/>
          </a:solidFill>
          <a:ln w="12700">
            <a:solidFill>
              <a:srgbClr val="1A2430"/>
            </a:solidFill>
            <a:prstDash val="solid"/>
          </a:ln>
        </p:spPr>
        <p:txBody>
          <a:bodyPr/>
          <a:lstStyle/>
          <a:p>
            <a:endParaRPr lang="ro-RO"/>
          </a:p>
        </p:txBody>
      </p:sp>
      <p:sp>
        <p:nvSpPr>
          <p:cNvPr id="8" name="Text 6"/>
          <p:cNvSpPr/>
          <p:nvPr/>
        </p:nvSpPr>
        <p:spPr>
          <a:xfrm>
            <a:off x="960120" y="3566160"/>
            <a:ext cx="10241280" cy="685800"/>
          </a:xfrm>
          <a:prstGeom prst="rect">
            <a:avLst/>
          </a:prstGeom>
          <a:noFill/>
          <a:ln/>
        </p:spPr>
        <p:txBody>
          <a:bodyPr wrap="square" lIns="0" tIns="0" rIns="0" bIns="0" rtlCol="0" anchor="ctr"/>
          <a:lstStyle/>
          <a:p>
            <a:pPr marL="0" indent="0">
              <a:buNone/>
            </a:pPr>
            <a:r>
              <a:rPr lang="en-US" sz="1550" b="1" dirty="0">
                <a:solidFill>
                  <a:srgbClr val="27D3BE"/>
                </a:solidFill>
                <a:latin typeface="Palatino Linotype" pitchFamily="34" charset="0"/>
                <a:ea typeface="Palatino Linotype" pitchFamily="34" charset="-122"/>
                <a:cs typeface="Palatino Linotype" pitchFamily="34" charset="-120"/>
              </a:rPr>
              <a:t>Snow numește el însuși numitorul care dispărea. Versiunea trunchiată dă un argument mai spectaculos și mai slab.</a:t>
            </a:r>
            <a:endParaRPr lang="en-US" sz="1550" dirty="0"/>
          </a:p>
        </p:txBody>
      </p:sp>
      <p:sp>
        <p:nvSpPr>
          <p:cNvPr id="9" name="Text 7"/>
          <p:cNvSpPr/>
          <p:nvPr/>
        </p:nvSpPr>
        <p:spPr>
          <a:xfrm>
            <a:off x="594360" y="4434840"/>
            <a:ext cx="10972800" cy="292608"/>
          </a:xfrm>
          <a:prstGeom prst="rect">
            <a:avLst/>
          </a:prstGeom>
          <a:noFill/>
          <a:ln/>
        </p:spPr>
        <p:txBody>
          <a:bodyPr wrap="square" lIns="0" tIns="0" rIns="0" bIns="0" rtlCol="0" anchor="ctr"/>
          <a:lstStyle/>
          <a:p>
            <a:pPr marL="0" indent="0">
              <a:buNone/>
            </a:pPr>
            <a:r>
              <a:rPr lang="en-US" sz="1300" dirty="0">
                <a:solidFill>
                  <a:srgbClr val="959BB0"/>
                </a:solidFill>
                <a:latin typeface="Palatino Linotype" pitchFamily="34" charset="0"/>
                <a:ea typeface="Palatino Linotype" pitchFamily="34" charset="-122"/>
                <a:cs typeface="Palatino Linotype" pitchFamily="34" charset="-120"/>
              </a:rPr>
              <a:t>Nu una, ci cel puțin trei explicații compatibile cu datele:</a:t>
            </a:r>
            <a:endParaRPr lang="en-US" sz="1300" dirty="0"/>
          </a:p>
        </p:txBody>
      </p:sp>
      <p:sp>
        <p:nvSpPr>
          <p:cNvPr id="10" name="Shape 8"/>
          <p:cNvSpPr/>
          <p:nvPr/>
        </p:nvSpPr>
        <p:spPr>
          <a:xfrm>
            <a:off x="1988820" y="4800600"/>
            <a:ext cx="2606040" cy="914400"/>
          </a:xfrm>
          <a:prstGeom prst="roundRect">
            <a:avLst>
              <a:gd name="adj" fmla="val 9000"/>
            </a:avLst>
          </a:prstGeom>
          <a:solidFill>
            <a:srgbClr val="272A38"/>
          </a:solidFill>
          <a:ln w="12700">
            <a:solidFill>
              <a:srgbClr val="272A38"/>
            </a:solidFill>
            <a:prstDash val="solid"/>
          </a:ln>
        </p:spPr>
        <p:txBody>
          <a:bodyPr/>
          <a:lstStyle/>
          <a:p>
            <a:endParaRPr lang="ro-RO"/>
          </a:p>
        </p:txBody>
      </p:sp>
      <p:sp>
        <p:nvSpPr>
          <p:cNvPr id="11" name="Text 9"/>
          <p:cNvSpPr/>
          <p:nvPr/>
        </p:nvSpPr>
        <p:spPr>
          <a:xfrm>
            <a:off x="2171700" y="4892040"/>
            <a:ext cx="2240280" cy="502920"/>
          </a:xfrm>
          <a:prstGeom prst="rect">
            <a:avLst/>
          </a:prstGeom>
          <a:noFill/>
          <a:ln/>
        </p:spPr>
        <p:txBody>
          <a:bodyPr wrap="square" lIns="0" tIns="0" rIns="0" bIns="0" rtlCol="0" anchor="ctr"/>
          <a:lstStyle/>
          <a:p>
            <a:pPr marL="0" indent="0">
              <a:buNone/>
            </a:pPr>
            <a:r>
              <a:rPr lang="en-US" sz="1300" b="1" dirty="0">
                <a:solidFill>
                  <a:srgbClr val="FF4757"/>
                </a:solidFill>
                <a:latin typeface="Palatino Linotype" pitchFamily="34" charset="0"/>
                <a:ea typeface="Palatino Linotype" pitchFamily="34" charset="-122"/>
                <a:cs typeface="Palatino Linotype" pitchFamily="34" charset="-120"/>
              </a:rPr>
              <a:t>Fuga populației</a:t>
            </a:r>
            <a:endParaRPr lang="en-US" sz="1300" dirty="0"/>
          </a:p>
        </p:txBody>
      </p:sp>
      <p:sp>
        <p:nvSpPr>
          <p:cNvPr id="12" name="Text 10"/>
          <p:cNvSpPr/>
          <p:nvPr/>
        </p:nvSpPr>
        <p:spPr>
          <a:xfrm>
            <a:off x="2171700" y="5376672"/>
            <a:ext cx="2240280" cy="274320"/>
          </a:xfrm>
          <a:prstGeom prst="rect">
            <a:avLst/>
          </a:prstGeom>
          <a:noFill/>
          <a:ln/>
        </p:spPr>
        <p:txBody>
          <a:bodyPr wrap="square" lIns="0" tIns="0" rIns="0" bIns="0" rtlCol="0" anchor="ctr"/>
          <a:lstStyle/>
          <a:p>
            <a:pPr marL="0" indent="0">
              <a:buNone/>
            </a:pPr>
            <a:r>
              <a:rPr lang="en-US" sz="1000" i="1" dirty="0">
                <a:solidFill>
                  <a:srgbClr val="959BB0"/>
                </a:solidFill>
                <a:latin typeface="Palatino Linotype" pitchFamily="34" charset="0"/>
                <a:ea typeface="Palatino Linotype" pitchFamily="34" charset="-122"/>
                <a:cs typeface="Palatino Linotype" pitchFamily="34" charset="-120"/>
              </a:rPr>
              <a:t>Snow, p. 51</a:t>
            </a:r>
            <a:endParaRPr lang="en-US" sz="1000" dirty="0"/>
          </a:p>
        </p:txBody>
      </p:sp>
      <p:sp>
        <p:nvSpPr>
          <p:cNvPr id="13" name="Shape 11"/>
          <p:cNvSpPr/>
          <p:nvPr/>
        </p:nvSpPr>
        <p:spPr>
          <a:xfrm>
            <a:off x="4777740" y="4800600"/>
            <a:ext cx="2606040" cy="914400"/>
          </a:xfrm>
          <a:prstGeom prst="roundRect">
            <a:avLst>
              <a:gd name="adj" fmla="val 9000"/>
            </a:avLst>
          </a:prstGeom>
          <a:solidFill>
            <a:srgbClr val="272A38"/>
          </a:solidFill>
          <a:ln w="12700">
            <a:solidFill>
              <a:srgbClr val="272A38"/>
            </a:solidFill>
            <a:prstDash val="solid"/>
          </a:ln>
        </p:spPr>
        <p:txBody>
          <a:bodyPr/>
          <a:lstStyle/>
          <a:p>
            <a:endParaRPr lang="ro-RO"/>
          </a:p>
        </p:txBody>
      </p:sp>
      <p:sp>
        <p:nvSpPr>
          <p:cNvPr id="14" name="Text 12"/>
          <p:cNvSpPr/>
          <p:nvPr/>
        </p:nvSpPr>
        <p:spPr>
          <a:xfrm>
            <a:off x="4960620" y="4892040"/>
            <a:ext cx="2240280" cy="502920"/>
          </a:xfrm>
          <a:prstGeom prst="rect">
            <a:avLst/>
          </a:prstGeom>
          <a:noFill/>
          <a:ln/>
        </p:spPr>
        <p:txBody>
          <a:bodyPr wrap="square" lIns="0" tIns="0" rIns="0" bIns="0" rtlCol="0" anchor="ctr"/>
          <a:lstStyle/>
          <a:p>
            <a:pPr marL="0" indent="0">
              <a:buNone/>
            </a:pPr>
            <a:r>
              <a:rPr lang="en-US" sz="1300" b="1" dirty="0">
                <a:solidFill>
                  <a:srgbClr val="FFC24B"/>
                </a:solidFill>
                <a:latin typeface="Palatino Linotype" pitchFamily="34" charset="0"/>
                <a:ea typeface="Palatino Linotype" pitchFamily="34" charset="-122"/>
                <a:cs typeface="Palatino Linotype" pitchFamily="34" charset="-120"/>
              </a:rPr>
              <a:t>Epuizarea expușilor</a:t>
            </a:r>
            <a:endParaRPr lang="en-US" sz="1300" dirty="0"/>
          </a:p>
        </p:txBody>
      </p:sp>
      <p:sp>
        <p:nvSpPr>
          <p:cNvPr id="15" name="Text 13"/>
          <p:cNvSpPr/>
          <p:nvPr/>
        </p:nvSpPr>
        <p:spPr>
          <a:xfrm>
            <a:off x="4960620" y="5376672"/>
            <a:ext cx="2240280" cy="274320"/>
          </a:xfrm>
          <a:prstGeom prst="rect">
            <a:avLst/>
          </a:prstGeom>
          <a:noFill/>
          <a:ln/>
        </p:spPr>
        <p:txBody>
          <a:bodyPr wrap="square" lIns="0" tIns="0" rIns="0" bIns="0" rtlCol="0" anchor="ctr"/>
          <a:lstStyle/>
          <a:p>
            <a:pPr marL="0" indent="0">
              <a:buNone/>
            </a:pPr>
            <a:r>
              <a:rPr lang="en-US" sz="1000" i="1" dirty="0">
                <a:solidFill>
                  <a:srgbClr val="959BB0"/>
                </a:solidFill>
                <a:latin typeface="Palatino Linotype" pitchFamily="34" charset="0"/>
                <a:ea typeface="Palatino Linotype" pitchFamily="34" charset="-122"/>
                <a:cs typeface="Palatino Linotype" pitchFamily="34" charset="-120"/>
              </a:rPr>
              <a:t>Whitehead, p. 162 (sugestie)</a:t>
            </a:r>
            <a:endParaRPr lang="en-US" sz="1000" dirty="0"/>
          </a:p>
        </p:txBody>
      </p:sp>
      <p:sp>
        <p:nvSpPr>
          <p:cNvPr id="16" name="Shape 14"/>
          <p:cNvSpPr/>
          <p:nvPr/>
        </p:nvSpPr>
        <p:spPr>
          <a:xfrm>
            <a:off x="7566660" y="4800600"/>
            <a:ext cx="2606040" cy="914400"/>
          </a:xfrm>
          <a:prstGeom prst="roundRect">
            <a:avLst>
              <a:gd name="adj" fmla="val 9000"/>
            </a:avLst>
          </a:prstGeom>
          <a:solidFill>
            <a:srgbClr val="272A38"/>
          </a:solidFill>
          <a:ln w="12700">
            <a:solidFill>
              <a:srgbClr val="272A38"/>
            </a:solidFill>
            <a:prstDash val="solid"/>
          </a:ln>
        </p:spPr>
        <p:txBody>
          <a:bodyPr/>
          <a:lstStyle/>
          <a:p>
            <a:endParaRPr lang="ro-RO"/>
          </a:p>
        </p:txBody>
      </p:sp>
      <p:sp>
        <p:nvSpPr>
          <p:cNvPr id="17" name="Text 15"/>
          <p:cNvSpPr/>
          <p:nvPr/>
        </p:nvSpPr>
        <p:spPr>
          <a:xfrm>
            <a:off x="7749540" y="4892040"/>
            <a:ext cx="2240280" cy="502920"/>
          </a:xfrm>
          <a:prstGeom prst="rect">
            <a:avLst/>
          </a:prstGeom>
          <a:noFill/>
          <a:ln/>
        </p:spPr>
        <p:txBody>
          <a:bodyPr wrap="square" lIns="0" tIns="0" rIns="0" bIns="0" rtlCol="0" anchor="ctr"/>
          <a:lstStyle/>
          <a:p>
            <a:pPr marL="0" indent="0">
              <a:buNone/>
            </a:pPr>
            <a:r>
              <a:rPr lang="en-US" sz="1300" b="1" dirty="0">
                <a:solidFill>
                  <a:srgbClr val="27D3BE"/>
                </a:solidFill>
                <a:latin typeface="Palatino Linotype" pitchFamily="34" charset="0"/>
                <a:ea typeface="Palatino Linotype" pitchFamily="34" charset="-122"/>
                <a:cs typeface="Palatino Linotype" pitchFamily="34" charset="-120"/>
              </a:rPr>
              <a:t>Sursa se curăță</a:t>
            </a:r>
            <a:endParaRPr lang="en-US" sz="1300" dirty="0"/>
          </a:p>
        </p:txBody>
      </p:sp>
      <p:sp>
        <p:nvSpPr>
          <p:cNvPr id="18" name="Text 16"/>
          <p:cNvSpPr/>
          <p:nvPr/>
        </p:nvSpPr>
        <p:spPr>
          <a:xfrm>
            <a:off x="7749540" y="5376672"/>
            <a:ext cx="2240280" cy="274320"/>
          </a:xfrm>
          <a:prstGeom prst="rect">
            <a:avLst/>
          </a:prstGeom>
          <a:noFill/>
          <a:ln/>
        </p:spPr>
        <p:txBody>
          <a:bodyPr wrap="square" lIns="0" tIns="0" rIns="0" bIns="0" rtlCol="0" anchor="ctr"/>
          <a:lstStyle/>
          <a:p>
            <a:pPr marL="0" indent="0">
              <a:buNone/>
            </a:pPr>
            <a:r>
              <a:rPr lang="en-US" sz="1000" i="1" dirty="0">
                <a:solidFill>
                  <a:srgbClr val="959BB0"/>
                </a:solidFill>
                <a:latin typeface="Palatino Linotype" pitchFamily="34" charset="0"/>
                <a:ea typeface="Palatino Linotype" pitchFamily="34" charset="-122"/>
                <a:cs typeface="Palatino Linotype" pitchFamily="34" charset="-120"/>
              </a:rPr>
              <a:t>Snow, p. 51; Whitehead, p. 162</a:t>
            </a:r>
            <a:endParaRPr lang="en-US" sz="1000" dirty="0"/>
          </a:p>
        </p:txBody>
      </p:sp>
      <p:sp>
        <p:nvSpPr>
          <p:cNvPr id="22" name="Text 20"/>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Surse: Snow 1855, pp. 51–52 (citat integral). Whitehead, în Cholera Inquiry Committee 1855, p. 162: „the drinkers of the pump water were not so numerous when so many who habitually used it were already dead” — „plausible suggestions”, pe care nu le consideră concludente.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C24B"/>
                </a:solidFill>
                <a:latin typeface="Palatino Linotype" pitchFamily="34" charset="0"/>
                <a:ea typeface="Palatino Linotype" pitchFamily="34" charset="-122"/>
                <a:cs typeface="Palatino Linotype" pitchFamily="34" charset="-120"/>
              </a:rPr>
              <a:t>PARTEA CARE SE CITEAZĂ RAR</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300" b="1" dirty="0">
                <a:solidFill>
                  <a:srgbClr val="FFFFFF"/>
                </a:solidFill>
                <a:latin typeface="Palatino Linotype" pitchFamily="34" charset="0"/>
                <a:ea typeface="Palatino Linotype" pitchFamily="34" charset="-122"/>
                <a:cs typeface="Palatino Linotype" pitchFamily="34" charset="-120"/>
              </a:rPr>
              <a:t>Mânerul a fost, probabil, decizia corectă</a:t>
            </a:r>
            <a:endParaRPr lang="en-US" sz="3300" dirty="0"/>
          </a:p>
        </p:txBody>
      </p:sp>
      <p:sp>
        <p:nvSpPr>
          <p:cNvPr id="4" name="Shape 2"/>
          <p:cNvSpPr/>
          <p:nvPr/>
        </p:nvSpPr>
        <p:spPr>
          <a:xfrm>
            <a:off x="594360" y="1737360"/>
            <a:ext cx="10972800" cy="1234440"/>
          </a:xfrm>
          <a:prstGeom prst="roundRect">
            <a:avLst>
              <a:gd name="adj" fmla="val 6667"/>
            </a:avLst>
          </a:prstGeom>
          <a:solidFill>
            <a:srgbClr val="1D1F2B"/>
          </a:solidFill>
          <a:ln w="12700">
            <a:solidFill>
              <a:srgbClr val="1D1F2B"/>
            </a:solidFill>
            <a:prstDash val="solid"/>
          </a:ln>
        </p:spPr>
        <p:txBody>
          <a:bodyPr/>
          <a:lstStyle/>
          <a:p>
            <a:endParaRPr lang="ro-RO"/>
          </a:p>
        </p:txBody>
      </p:sp>
      <p:sp>
        <p:nvSpPr>
          <p:cNvPr id="5" name="Text 3"/>
          <p:cNvSpPr/>
          <p:nvPr/>
        </p:nvSpPr>
        <p:spPr>
          <a:xfrm>
            <a:off x="960120" y="1737360"/>
            <a:ext cx="10241280" cy="1234440"/>
          </a:xfrm>
          <a:prstGeom prst="rect">
            <a:avLst/>
          </a:prstGeom>
          <a:noFill/>
          <a:ln/>
        </p:spPr>
        <p:txBody>
          <a:bodyPr wrap="square" lIns="0" tIns="0" rIns="0" bIns="0" rtlCol="0" anchor="ctr"/>
          <a:lstStyle/>
          <a:p>
            <a:pPr marL="0" indent="0">
              <a:buNone/>
            </a:pPr>
            <a:r>
              <a:rPr lang="en-US" sz="1600" dirty="0">
                <a:solidFill>
                  <a:srgbClr val="FFFFFF"/>
                </a:solidFill>
                <a:latin typeface="Palatino Linotype" pitchFamily="34" charset="0"/>
                <a:ea typeface="Palatino Linotype" pitchFamily="34" charset="-122"/>
                <a:cs typeface="Palatino Linotype" pitchFamily="34" charset="-120"/>
              </a:rPr>
              <a:t>Whitehead, 1867: scoaterea mânerului a avut probabil „everything to do with preventing a new outbreak” — adică un nou focar. Ancora documentară: tatăl copilului de la nr. 40 a fost atacat chiar în ziua blocării pompei.</a:t>
            </a:r>
            <a:endParaRPr lang="en-US" sz="1600" dirty="0"/>
          </a:p>
        </p:txBody>
      </p:sp>
      <p:sp>
        <p:nvSpPr>
          <p:cNvPr id="6" name="Shape 4"/>
          <p:cNvSpPr/>
          <p:nvPr/>
        </p:nvSpPr>
        <p:spPr>
          <a:xfrm>
            <a:off x="594360" y="3154680"/>
            <a:ext cx="10972800" cy="777240"/>
          </a:xfrm>
          <a:prstGeom prst="roundRect">
            <a:avLst>
              <a:gd name="adj" fmla="val 10588"/>
            </a:avLst>
          </a:prstGeom>
          <a:solidFill>
            <a:srgbClr val="1A2430"/>
          </a:solidFill>
          <a:ln w="12700">
            <a:solidFill>
              <a:srgbClr val="1A2430"/>
            </a:solidFill>
            <a:prstDash val="solid"/>
          </a:ln>
        </p:spPr>
        <p:txBody>
          <a:bodyPr/>
          <a:lstStyle/>
          <a:p>
            <a:endParaRPr lang="ro-RO"/>
          </a:p>
        </p:txBody>
      </p:sp>
      <p:sp>
        <p:nvSpPr>
          <p:cNvPr id="7" name="Text 5"/>
          <p:cNvSpPr/>
          <p:nvPr/>
        </p:nvSpPr>
        <p:spPr>
          <a:xfrm>
            <a:off x="960120" y="3154680"/>
            <a:ext cx="10241280" cy="777240"/>
          </a:xfrm>
          <a:prstGeom prst="rect">
            <a:avLst/>
          </a:prstGeom>
          <a:noFill/>
          <a:ln/>
        </p:spPr>
        <p:txBody>
          <a:bodyPr wrap="square" lIns="0" tIns="0" rIns="0" bIns="0" rtlCol="0" anchor="ctr"/>
          <a:lstStyle/>
          <a:p>
            <a:pPr marL="0" indent="0">
              <a:buNone/>
            </a:pPr>
            <a:r>
              <a:rPr lang="en-US" sz="1500" b="1" i="1" dirty="0">
                <a:solidFill>
                  <a:srgbClr val="FFC24B"/>
                </a:solidFill>
                <a:latin typeface="Palatino Linotype" pitchFamily="34" charset="0"/>
                <a:ea typeface="Palatino Linotype" pitchFamily="34" charset="-122"/>
                <a:cs typeface="Palatino Linotype" pitchFamily="34" charset="-120"/>
              </a:rPr>
              <a:t>„the father was not attacked till the day the pump was locked up”</a:t>
            </a:r>
            <a:endParaRPr lang="en-US" sz="1500" dirty="0"/>
          </a:p>
          <a:p>
            <a:pPr marL="0" indent="0">
              <a:buNone/>
            </a:pPr>
            <a:r>
              <a:rPr lang="en-US" sz="1500" b="1" i="1" dirty="0">
                <a:solidFill>
                  <a:srgbClr val="FFC24B"/>
                </a:solidFill>
                <a:latin typeface="Palatino Linotype" pitchFamily="34" charset="0"/>
                <a:ea typeface="Palatino Linotype" pitchFamily="34" charset="-122"/>
                <a:cs typeface="Palatino Linotype" pitchFamily="34" charset="-120"/>
              </a:rPr>
              <a:t>Sursa: Cholera Inquiry Committee 1855, p. 161</a:t>
            </a:r>
            <a:endParaRPr lang="en-US" sz="1500" dirty="0"/>
          </a:p>
        </p:txBody>
      </p:sp>
      <p:sp>
        <p:nvSpPr>
          <p:cNvPr id="8" name="Text 6"/>
          <p:cNvSpPr/>
          <p:nvPr/>
        </p:nvSpPr>
        <p:spPr>
          <a:xfrm>
            <a:off x="594360" y="4069080"/>
            <a:ext cx="10972800" cy="320040"/>
          </a:xfrm>
          <a:prstGeom prst="rect">
            <a:avLst/>
          </a:prstGeom>
          <a:noFill/>
          <a:ln/>
        </p:spPr>
        <p:txBody>
          <a:bodyPr wrap="square" lIns="0" tIns="0" rIns="0" bIns="0" rtlCol="0" anchor="ctr"/>
          <a:lstStyle/>
          <a:p>
            <a:pPr marL="0" indent="0">
              <a:buNone/>
            </a:pPr>
            <a:r>
              <a:rPr lang="en-US" sz="1400" dirty="0">
                <a:solidFill>
                  <a:srgbClr val="959BB0"/>
                </a:solidFill>
                <a:latin typeface="Palatino Linotype" pitchFamily="34" charset="0"/>
                <a:ea typeface="Palatino Linotype" pitchFamily="34" charset="-122"/>
                <a:cs typeface="Palatino Linotype" pitchFamily="34" charset="-120"/>
              </a:rPr>
              <a:t>Sursa putea fi încă activă în gospodăria de origine pe 8 septembrie.</a:t>
            </a:r>
            <a:endParaRPr lang="en-US" sz="1400" dirty="0"/>
          </a:p>
        </p:txBody>
      </p:sp>
      <p:sp>
        <p:nvSpPr>
          <p:cNvPr id="9" name="Shape 7"/>
          <p:cNvSpPr/>
          <p:nvPr/>
        </p:nvSpPr>
        <p:spPr>
          <a:xfrm>
            <a:off x="594360" y="4526280"/>
            <a:ext cx="10972800" cy="1188720"/>
          </a:xfrm>
          <a:prstGeom prst="roundRect">
            <a:avLst>
              <a:gd name="adj" fmla="val 6923"/>
            </a:avLst>
          </a:prstGeom>
          <a:solidFill>
            <a:srgbClr val="FF4757"/>
          </a:solidFill>
          <a:ln w="12700">
            <a:solidFill>
              <a:srgbClr val="FF4757"/>
            </a:solidFill>
            <a:prstDash val="solid"/>
          </a:ln>
        </p:spPr>
        <p:txBody>
          <a:bodyPr/>
          <a:lstStyle/>
          <a:p>
            <a:endParaRPr lang="ro-RO"/>
          </a:p>
        </p:txBody>
      </p:sp>
      <p:sp>
        <p:nvSpPr>
          <p:cNvPr id="10" name="Text 8"/>
          <p:cNvSpPr/>
          <p:nvPr/>
        </p:nvSpPr>
        <p:spPr>
          <a:xfrm>
            <a:off x="960120" y="4526280"/>
            <a:ext cx="10241280" cy="1188720"/>
          </a:xfrm>
          <a:prstGeom prst="rect">
            <a:avLst/>
          </a:prstGeom>
          <a:noFill/>
          <a:ln/>
        </p:spPr>
        <p:txBody>
          <a:bodyPr wrap="square" lIns="0" tIns="0" rIns="0" bIns="0" rtlCol="0" anchor="ctr"/>
          <a:lstStyle/>
          <a:p>
            <a:pPr marL="0" indent="0">
              <a:buNone/>
            </a:pPr>
            <a:r>
              <a:rPr lang="en-US" sz="1500" b="1" dirty="0">
                <a:solidFill>
                  <a:srgbClr val="2E060B"/>
                </a:solidFill>
                <a:latin typeface="Palatino Linotype" pitchFamily="34" charset="0"/>
                <a:ea typeface="Palatino Linotype" pitchFamily="34" charset="-122"/>
                <a:cs typeface="Palatino Linotype" pitchFamily="34" charset="-120"/>
              </a:rPr>
              <a:t>Poziția defensabilă: mânerul nu a oprit primul val, dar a fost probabil decizia corectă. Cost aproape zero, beneficiu potențial mare, incertitudine ireductibilă. Cursul acesta NU vă învață să așteptați numitorul. Vă învață să nu confundați acțiunea cu dovada.</a:t>
            </a:r>
            <a:endParaRPr lang="en-US" sz="1500" dirty="0"/>
          </a:p>
        </p:txBody>
      </p:sp>
      <p:sp>
        <p:nvSpPr>
          <p:cNvPr id="11" name="Text 9"/>
          <p:cNvSpPr/>
          <p:nvPr/>
        </p:nvSpPr>
        <p:spPr>
          <a:xfrm>
            <a:off x="594360" y="5852160"/>
            <a:ext cx="10972800" cy="320040"/>
          </a:xfrm>
          <a:prstGeom prst="rect">
            <a:avLst/>
          </a:prstGeom>
          <a:noFill/>
          <a:ln/>
        </p:spPr>
        <p:txBody>
          <a:bodyPr wrap="square" lIns="0" tIns="0" rIns="0" bIns="0" rtlCol="0" anchor="ctr"/>
          <a:lstStyle/>
          <a:p>
            <a:pPr marL="0" indent="0">
              <a:buNone/>
            </a:pPr>
            <a:r>
              <a:rPr lang="en-US" sz="1250" i="1" dirty="0">
                <a:solidFill>
                  <a:srgbClr val="959BB0"/>
                </a:solidFill>
                <a:latin typeface="Palatino Linotype" pitchFamily="34" charset="0"/>
                <a:ea typeface="Palatino Linotype" pitchFamily="34" charset="-122"/>
                <a:cs typeface="Palatino Linotype" pitchFamily="34" charset="-120"/>
              </a:rPr>
              <a:t>Contra-imaginea vine spre final: Guineea, 2013–2014, aproape trei luni între primul caz și anunțul public al OMS.</a:t>
            </a:r>
            <a:endParaRPr lang="en-US" sz="1250" dirty="0"/>
          </a:p>
        </p:txBody>
      </p:sp>
      <p:sp>
        <p:nvSpPr>
          <p:cNvPr id="12" name="Text 10"/>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Surse: Cholera Inquiry Committee 1855, p. 161; Whitehead H. The Broad Street Pump. Macmillan’s Magazine. 1865;13:113–122, p. 122. Prezentarea din 1867: după reproducerea de pe situl John Snow al UCLA (sursă secundară).</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a:effectLst/>
      </p:bgPr>
    </p:bg>
    <p:spTree>
      <p:nvGrpSpPr>
        <p:cNvPr id="1" name=""/>
        <p:cNvGrpSpPr/>
        <p:nvPr/>
      </p:nvGrpSpPr>
      <p:grpSpPr>
        <a:xfrm>
          <a:off x="0" y="0"/>
          <a:ext cx="0" cy="0"/>
          <a:chOff x="0" y="0"/>
          <a:chExt cx="0" cy="0"/>
        </a:xfrm>
      </p:grpSpPr>
      <p:sp>
        <p:nvSpPr>
          <p:cNvPr id="2" name="Shape 0"/>
          <p:cNvSpPr/>
          <p:nvPr/>
        </p:nvSpPr>
        <p:spPr>
          <a:xfrm>
            <a:off x="594360" y="329184"/>
            <a:ext cx="3840480" cy="402336"/>
          </a:xfrm>
          <a:prstGeom prst="roundRect">
            <a:avLst>
              <a:gd name="adj" fmla="val 50000"/>
            </a:avLst>
          </a:prstGeom>
          <a:solidFill>
            <a:srgbClr val="FF4757"/>
          </a:solidFill>
          <a:ln w="12700">
            <a:solidFill>
              <a:srgbClr val="FF4757"/>
            </a:solidFill>
            <a:prstDash val="solid"/>
          </a:ln>
        </p:spPr>
        <p:txBody>
          <a:bodyPr/>
          <a:lstStyle/>
          <a:p>
            <a:endParaRPr lang="ro-RO"/>
          </a:p>
        </p:txBody>
      </p:sp>
      <p:sp>
        <p:nvSpPr>
          <p:cNvPr id="3" name="Text 1"/>
          <p:cNvSpPr/>
          <p:nvPr/>
        </p:nvSpPr>
        <p:spPr>
          <a:xfrm>
            <a:off x="594360" y="329184"/>
            <a:ext cx="3840480" cy="402336"/>
          </a:xfrm>
          <a:prstGeom prst="rect">
            <a:avLst/>
          </a:prstGeom>
          <a:noFill/>
          <a:ln/>
        </p:spPr>
        <p:txBody>
          <a:bodyPr wrap="square" lIns="0" tIns="0" rIns="0" bIns="0" rtlCol="0" anchor="ctr"/>
          <a:lstStyle/>
          <a:p>
            <a:pPr marL="0" indent="0" algn="ctr">
              <a:buNone/>
            </a:pPr>
            <a:r>
              <a:rPr lang="en-US" sz="1050" b="1" dirty="0">
                <a:solidFill>
                  <a:srgbClr val="2E060B"/>
                </a:solidFill>
                <a:latin typeface="Palatino Linotype" pitchFamily="34" charset="0"/>
                <a:ea typeface="Palatino Linotype" pitchFamily="34" charset="-122"/>
                <a:cs typeface="Palatino Linotype" pitchFamily="34" charset="-120"/>
              </a:rPr>
              <a:t>CE NU E ÎN LEGENDĂ  ·  01b</a:t>
            </a:r>
            <a:endParaRPr lang="en-US" sz="1050" dirty="0"/>
          </a:p>
        </p:txBody>
      </p:sp>
      <p:sp>
        <p:nvSpPr>
          <p:cNvPr id="4" name="Text 2"/>
          <p:cNvSpPr/>
          <p:nvPr/>
        </p:nvSpPr>
        <p:spPr>
          <a:xfrm>
            <a:off x="594360" y="694944"/>
            <a:ext cx="10972800" cy="960120"/>
          </a:xfrm>
          <a:prstGeom prst="rect">
            <a:avLst/>
          </a:prstGeom>
          <a:noFill/>
          <a:ln/>
        </p:spPr>
        <p:txBody>
          <a:bodyPr wrap="square" lIns="0" tIns="0" rIns="0" bIns="0" rtlCol="0" anchor="t"/>
          <a:lstStyle/>
          <a:p>
            <a:pPr marL="0" indent="0">
              <a:buNone/>
            </a:pPr>
            <a:r>
              <a:rPr lang="en-US" sz="3400" b="1" dirty="0">
                <a:solidFill>
                  <a:srgbClr val="FFFFFF"/>
                </a:solidFill>
                <a:latin typeface="Palatino Linotype" pitchFamily="34" charset="0"/>
                <a:ea typeface="Palatino Linotype" pitchFamily="34" charset="-122"/>
                <a:cs typeface="Palatino Linotype" pitchFamily="34" charset="-120"/>
              </a:rPr>
              <a:t>Veți face acest gest de zeci de ori</a:t>
            </a:r>
            <a:endParaRPr lang="en-US" sz="3400" dirty="0"/>
          </a:p>
        </p:txBody>
      </p:sp>
      <p:sp>
        <p:nvSpPr>
          <p:cNvPr id="5" name="Shape 3"/>
          <p:cNvSpPr/>
          <p:nvPr/>
        </p:nvSpPr>
        <p:spPr>
          <a:xfrm>
            <a:off x="594360" y="1920240"/>
            <a:ext cx="10972800" cy="1600200"/>
          </a:xfrm>
          <a:prstGeom prst="roundRect">
            <a:avLst>
              <a:gd name="adj" fmla="val 5143"/>
            </a:avLst>
          </a:prstGeom>
          <a:solidFill>
            <a:srgbClr val="FF4757"/>
          </a:solidFill>
          <a:ln w="12700">
            <a:solidFill>
              <a:srgbClr val="FF4757"/>
            </a:solidFill>
            <a:prstDash val="solid"/>
          </a:ln>
        </p:spPr>
        <p:txBody>
          <a:bodyPr/>
          <a:lstStyle/>
          <a:p>
            <a:endParaRPr lang="ro-RO"/>
          </a:p>
        </p:txBody>
      </p:sp>
      <p:sp>
        <p:nvSpPr>
          <p:cNvPr id="6" name="Text 4"/>
          <p:cNvSpPr/>
          <p:nvPr/>
        </p:nvSpPr>
        <p:spPr>
          <a:xfrm>
            <a:off x="960120" y="1920240"/>
            <a:ext cx="10241280" cy="1600200"/>
          </a:xfrm>
          <a:prstGeom prst="rect">
            <a:avLst/>
          </a:prstGeom>
          <a:noFill/>
          <a:ln/>
        </p:spPr>
        <p:txBody>
          <a:bodyPr wrap="square" lIns="0" tIns="0" rIns="0" bIns="0" rtlCol="0" anchor="ctr"/>
          <a:lstStyle/>
          <a:p>
            <a:pPr marL="0" indent="0">
              <a:buNone/>
            </a:pPr>
            <a:r>
              <a:rPr lang="en-US" sz="1800" b="1" dirty="0">
                <a:solidFill>
                  <a:srgbClr val="2E060B"/>
                </a:solidFill>
                <a:latin typeface="Palatino Linotype" pitchFamily="34" charset="0"/>
                <a:ea typeface="Palatino Linotype" pitchFamily="34" charset="-122"/>
                <a:cs typeface="Palatino Linotype" pitchFamily="34" charset="-120"/>
              </a:rPr>
              <a:t>Veți închide o secție, veți schimba un protocol, veți opri un lot. Adesea după vârf — pentru că detectarea are latență. Și veți fi tentați să atribuiți scăderea intervenției voastre.</a:t>
            </a:r>
            <a:endParaRPr lang="en-US" sz="1800" dirty="0"/>
          </a:p>
        </p:txBody>
      </p:sp>
      <p:sp>
        <p:nvSpPr>
          <p:cNvPr id="7" name="Shape 5"/>
          <p:cNvSpPr/>
          <p:nvPr/>
        </p:nvSpPr>
        <p:spPr>
          <a:xfrm>
            <a:off x="594360" y="3749040"/>
            <a:ext cx="10972800" cy="1143000"/>
          </a:xfrm>
          <a:prstGeom prst="roundRect">
            <a:avLst>
              <a:gd name="adj" fmla="val 7200"/>
            </a:avLst>
          </a:prstGeom>
          <a:solidFill>
            <a:srgbClr val="1D1F2B"/>
          </a:solidFill>
          <a:ln w="12700">
            <a:solidFill>
              <a:srgbClr val="1D1F2B"/>
            </a:solidFill>
            <a:prstDash val="solid"/>
          </a:ln>
        </p:spPr>
        <p:txBody>
          <a:bodyPr/>
          <a:lstStyle/>
          <a:p>
            <a:endParaRPr lang="ro-RO"/>
          </a:p>
        </p:txBody>
      </p:sp>
      <p:sp>
        <p:nvSpPr>
          <p:cNvPr id="8" name="Text 6"/>
          <p:cNvSpPr/>
          <p:nvPr/>
        </p:nvSpPr>
        <p:spPr>
          <a:xfrm>
            <a:off x="960120" y="3749040"/>
            <a:ext cx="10241280" cy="1143000"/>
          </a:xfrm>
          <a:prstGeom prst="rect">
            <a:avLst/>
          </a:prstGeom>
          <a:noFill/>
          <a:ln/>
        </p:spPr>
        <p:txBody>
          <a:bodyPr wrap="square" lIns="0" tIns="0" rIns="0" bIns="0" rtlCol="0" anchor="ctr"/>
          <a:lstStyle/>
          <a:p>
            <a:pPr marL="0" indent="0">
              <a:buNone/>
            </a:pPr>
            <a:r>
              <a:rPr lang="en-US" sz="1700" b="1" dirty="0">
                <a:solidFill>
                  <a:srgbClr val="27D3BE"/>
                </a:solidFill>
                <a:latin typeface="Palatino Linotype" pitchFamily="34" charset="0"/>
                <a:ea typeface="Palatino Linotype" pitchFamily="34" charset="-122"/>
                <a:cs typeface="Palatino Linotype" pitchFamily="34" charset="-120"/>
              </a:rPr>
              <a:t>Nu puteți evita tentația. O puteți numi cu voce tare, ca Snow: „it is impossible to decide”.</a:t>
            </a:r>
            <a:endParaRPr lang="en-US" sz="1700" dirty="0"/>
          </a:p>
        </p:txBody>
      </p:sp>
      <p:sp>
        <p:nvSpPr>
          <p:cNvPr id="9" name="Text 7"/>
          <p:cNvSpPr/>
          <p:nvPr/>
        </p:nvSpPr>
        <p:spPr>
          <a:xfrm>
            <a:off x="594360" y="5166360"/>
            <a:ext cx="10972800" cy="365760"/>
          </a:xfrm>
          <a:prstGeom prst="rect">
            <a:avLst/>
          </a:prstGeom>
          <a:noFill/>
          <a:ln/>
        </p:spPr>
        <p:txBody>
          <a:bodyPr wrap="square" lIns="0" tIns="0" rIns="0" bIns="0" rtlCol="0" anchor="ctr"/>
          <a:lstStyle/>
          <a:p>
            <a:pPr marL="0" indent="0">
              <a:buNone/>
            </a:pPr>
            <a:r>
              <a:rPr lang="en-US" sz="1350" i="1" dirty="0">
                <a:solidFill>
                  <a:srgbClr val="959BB0"/>
                </a:solidFill>
                <a:latin typeface="Palatino Linotype" pitchFamily="34" charset="0"/>
                <a:ea typeface="Palatino Linotype" pitchFamily="34" charset="-122"/>
                <a:cs typeface="Palatino Linotype" pitchFamily="34" charset="-120"/>
              </a:rPr>
              <a:t>Firul se reia în Sesiunea 4, la Google Flu Trends, și în Sesiunea 7, pe date reale de la DSP Cluj.</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DOUĂ NUMĂRĂTORI, ACELAȘI FOCAR</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11121A"/>
                </a:solidFill>
                <a:latin typeface="Palatino Linotype" pitchFamily="34" charset="0"/>
                <a:ea typeface="Palatino Linotype" pitchFamily="34" charset="-122"/>
                <a:cs typeface="Palatino Linotype" pitchFamily="34" charset="-120"/>
              </a:rPr>
              <a:t>De ce numărul de cazuri nu este un fapt natural</a:t>
            </a:r>
            <a:endParaRPr lang="en-US" sz="3100" dirty="0"/>
          </a:p>
        </p:txBody>
      </p:sp>
      <p:sp>
        <p:nvSpPr>
          <p:cNvPr id="4" name="Shape 2"/>
          <p:cNvSpPr/>
          <p:nvPr/>
        </p:nvSpPr>
        <p:spPr>
          <a:xfrm>
            <a:off x="594360" y="1783080"/>
            <a:ext cx="10972800" cy="1097280"/>
          </a:xfrm>
          <a:prstGeom prst="roundRect">
            <a:avLst>
              <a:gd name="adj" fmla="val 7500"/>
            </a:avLst>
          </a:prstGeom>
          <a:solidFill>
            <a:srgbClr val="ECEAE4"/>
          </a:solidFill>
          <a:ln w="12700">
            <a:solidFill>
              <a:srgbClr val="ECEAE4"/>
            </a:solidFill>
            <a:prstDash val="solid"/>
          </a:ln>
        </p:spPr>
        <p:txBody>
          <a:bodyPr/>
          <a:lstStyle/>
          <a:p>
            <a:endParaRPr lang="ro-RO"/>
          </a:p>
        </p:txBody>
      </p:sp>
      <p:sp>
        <p:nvSpPr>
          <p:cNvPr id="5" name="Text 3"/>
          <p:cNvSpPr/>
          <p:nvPr/>
        </p:nvSpPr>
        <p:spPr>
          <a:xfrm>
            <a:off x="914400" y="1874520"/>
            <a:ext cx="2011680" cy="914400"/>
          </a:xfrm>
          <a:prstGeom prst="rect">
            <a:avLst/>
          </a:prstGeom>
          <a:noFill/>
          <a:ln/>
        </p:spPr>
        <p:txBody>
          <a:bodyPr wrap="square" lIns="0" tIns="0" rIns="0" bIns="0" rtlCol="0" anchor="ctr"/>
          <a:lstStyle/>
          <a:p>
            <a:pPr marL="0" indent="0">
              <a:buNone/>
            </a:pPr>
            <a:r>
              <a:rPr lang="en-US" sz="4200" b="1" dirty="0">
                <a:solidFill>
                  <a:srgbClr val="B02532"/>
                </a:solidFill>
                <a:latin typeface="Palatino Linotype" pitchFamily="34" charset="0"/>
                <a:ea typeface="Palatino Linotype" pitchFamily="34" charset="-122"/>
                <a:cs typeface="Palatino Linotype" pitchFamily="34" charset="-120"/>
              </a:rPr>
              <a:t>616</a:t>
            </a:r>
            <a:endParaRPr lang="en-US" sz="4200" dirty="0"/>
          </a:p>
        </p:txBody>
      </p:sp>
      <p:sp>
        <p:nvSpPr>
          <p:cNvPr id="6" name="Text 4"/>
          <p:cNvSpPr/>
          <p:nvPr/>
        </p:nvSpPr>
        <p:spPr>
          <a:xfrm>
            <a:off x="3108960" y="1911096"/>
            <a:ext cx="8138160" cy="566928"/>
          </a:xfrm>
          <a:prstGeom prst="rect">
            <a:avLst/>
          </a:prstGeom>
          <a:noFill/>
          <a:ln/>
        </p:spPr>
        <p:txBody>
          <a:bodyPr wrap="square" lIns="0" tIns="0" rIns="0" bIns="0" rtlCol="0" anchor="ctr"/>
          <a:lstStyle/>
          <a:p>
            <a:pPr marL="0" indent="0">
              <a:buNone/>
            </a:pPr>
            <a:r>
              <a:rPr lang="en-US" sz="1400" dirty="0">
                <a:solidFill>
                  <a:srgbClr val="11121A"/>
                </a:solidFill>
                <a:latin typeface="Palatino Linotype" pitchFamily="34" charset="0"/>
                <a:ea typeface="Palatino Linotype" pitchFamily="34" charset="-122"/>
                <a:cs typeface="Palatino Linotype" pitchFamily="34" charset="-120"/>
              </a:rPr>
              <a:t>decese tabelate de Snow, 19 august – 30 septembrie 1854</a:t>
            </a:r>
            <a:endParaRPr lang="en-US" sz="1400" dirty="0"/>
          </a:p>
        </p:txBody>
      </p:sp>
      <p:sp>
        <p:nvSpPr>
          <p:cNvPr id="7" name="Text 5"/>
          <p:cNvSpPr/>
          <p:nvPr/>
        </p:nvSpPr>
        <p:spPr>
          <a:xfrm>
            <a:off x="3108960" y="2496312"/>
            <a:ext cx="8138160" cy="292608"/>
          </a:xfrm>
          <a:prstGeom prst="rect">
            <a:avLst/>
          </a:prstGeom>
          <a:noFill/>
          <a:ln/>
        </p:spPr>
        <p:txBody>
          <a:bodyPr wrap="square" lIns="0" tIns="0" rIns="0" bIns="0" rtlCol="0" anchor="ctr"/>
          <a:lstStyle/>
          <a:p>
            <a:pPr marL="0" indent="0">
              <a:buNone/>
            </a:pPr>
            <a:r>
              <a:rPr lang="en-US" sz="1050" i="1" dirty="0">
                <a:solidFill>
                  <a:srgbClr val="585A64"/>
                </a:solidFill>
                <a:latin typeface="Palatino Linotype" pitchFamily="34" charset="0"/>
                <a:ea typeface="Palatino Linotype" pitchFamily="34" charset="-122"/>
                <a:cs typeface="Palatino Linotype" pitchFamily="34" charset="-120"/>
              </a:rPr>
              <a:t>Sursa: Snow 1855, tabel p. 49</a:t>
            </a:r>
            <a:endParaRPr lang="en-US" sz="1050" dirty="0"/>
          </a:p>
        </p:txBody>
      </p:sp>
      <p:sp>
        <p:nvSpPr>
          <p:cNvPr id="8" name="Shape 6"/>
          <p:cNvSpPr/>
          <p:nvPr/>
        </p:nvSpPr>
        <p:spPr>
          <a:xfrm>
            <a:off x="594360" y="3017520"/>
            <a:ext cx="10972800" cy="1097280"/>
          </a:xfrm>
          <a:prstGeom prst="roundRect">
            <a:avLst>
              <a:gd name="adj" fmla="val 7500"/>
            </a:avLst>
          </a:prstGeom>
          <a:solidFill>
            <a:srgbClr val="F9F8F5"/>
          </a:solidFill>
          <a:ln w="12700">
            <a:solidFill>
              <a:srgbClr val="F9F8F5"/>
            </a:solidFill>
            <a:prstDash val="solid"/>
          </a:ln>
        </p:spPr>
        <p:txBody>
          <a:bodyPr/>
          <a:lstStyle/>
          <a:p>
            <a:endParaRPr lang="ro-RO"/>
          </a:p>
        </p:txBody>
      </p:sp>
      <p:sp>
        <p:nvSpPr>
          <p:cNvPr id="9" name="Text 7"/>
          <p:cNvSpPr/>
          <p:nvPr/>
        </p:nvSpPr>
        <p:spPr>
          <a:xfrm>
            <a:off x="914400" y="3108960"/>
            <a:ext cx="2011680" cy="914400"/>
          </a:xfrm>
          <a:prstGeom prst="rect">
            <a:avLst/>
          </a:prstGeom>
          <a:noFill/>
          <a:ln/>
        </p:spPr>
        <p:txBody>
          <a:bodyPr wrap="square" lIns="0" tIns="0" rIns="0" bIns="0" rtlCol="0" anchor="ctr"/>
          <a:lstStyle/>
          <a:p>
            <a:pPr marL="0" indent="0">
              <a:buNone/>
            </a:pPr>
            <a:r>
              <a:rPr lang="en-US" sz="4200" b="1" dirty="0">
                <a:solidFill>
                  <a:srgbClr val="4A2D8C"/>
                </a:solidFill>
                <a:latin typeface="Palatino Linotype" pitchFamily="34" charset="0"/>
                <a:ea typeface="Palatino Linotype" pitchFamily="34" charset="-122"/>
                <a:cs typeface="Palatino Linotype" pitchFamily="34" charset="-120"/>
              </a:rPr>
              <a:t>484</a:t>
            </a:r>
            <a:endParaRPr lang="en-US" sz="4200" dirty="0"/>
          </a:p>
        </p:txBody>
      </p:sp>
      <p:sp>
        <p:nvSpPr>
          <p:cNvPr id="10" name="Text 8"/>
          <p:cNvSpPr/>
          <p:nvPr/>
        </p:nvSpPr>
        <p:spPr>
          <a:xfrm>
            <a:off x="3108960" y="3145536"/>
            <a:ext cx="8138160" cy="566928"/>
          </a:xfrm>
          <a:prstGeom prst="rect">
            <a:avLst/>
          </a:prstGeom>
          <a:noFill/>
          <a:ln/>
        </p:spPr>
        <p:txBody>
          <a:bodyPr wrap="square" lIns="0" tIns="0" rIns="0" bIns="0" rtlCol="0" anchor="ctr"/>
          <a:lstStyle/>
          <a:p>
            <a:pPr marL="0" indent="0">
              <a:buNone/>
            </a:pPr>
            <a:r>
              <a:rPr lang="en-US" sz="1400" dirty="0">
                <a:solidFill>
                  <a:srgbClr val="11121A"/>
                </a:solidFill>
                <a:latin typeface="Palatino Linotype" pitchFamily="34" charset="0"/>
                <a:ea typeface="Palatino Linotype" pitchFamily="34" charset="-122"/>
                <a:cs typeface="Palatino Linotype" pitchFamily="34" charset="-120"/>
              </a:rPr>
              <a:t>decese înregistrate de comitetul parohial în 17 săptămâni, până la 4 noiembrie</a:t>
            </a:r>
            <a:endParaRPr lang="en-US" sz="1400" dirty="0"/>
          </a:p>
        </p:txBody>
      </p:sp>
      <p:sp>
        <p:nvSpPr>
          <p:cNvPr id="11" name="Text 9"/>
          <p:cNvSpPr/>
          <p:nvPr/>
        </p:nvSpPr>
        <p:spPr>
          <a:xfrm>
            <a:off x="3108960" y="3730752"/>
            <a:ext cx="8138160" cy="292608"/>
          </a:xfrm>
          <a:prstGeom prst="rect">
            <a:avLst/>
          </a:prstGeom>
          <a:noFill/>
          <a:ln/>
        </p:spPr>
        <p:txBody>
          <a:bodyPr wrap="square" lIns="0" tIns="0" rIns="0" bIns="0" rtlCol="0" anchor="ctr"/>
          <a:lstStyle/>
          <a:p>
            <a:pPr marL="0" indent="0">
              <a:buNone/>
            </a:pPr>
            <a:r>
              <a:rPr lang="en-US" sz="1050" i="1" dirty="0">
                <a:solidFill>
                  <a:srgbClr val="585A64"/>
                </a:solidFill>
                <a:latin typeface="Palatino Linotype" pitchFamily="34" charset="0"/>
                <a:ea typeface="Palatino Linotype" pitchFamily="34" charset="-122"/>
                <a:cs typeface="Palatino Linotype" pitchFamily="34" charset="-120"/>
              </a:rPr>
              <a:t>Sursa: Cholera Inquiry Committee 1855, p. 15</a:t>
            </a:r>
            <a:endParaRPr lang="en-US" sz="1050" dirty="0"/>
          </a:p>
        </p:txBody>
      </p:sp>
      <p:sp>
        <p:nvSpPr>
          <p:cNvPr id="12" name="Shape 10"/>
          <p:cNvSpPr/>
          <p:nvPr/>
        </p:nvSpPr>
        <p:spPr>
          <a:xfrm>
            <a:off x="594360" y="4251960"/>
            <a:ext cx="10972800" cy="1097280"/>
          </a:xfrm>
          <a:prstGeom prst="roundRect">
            <a:avLst>
              <a:gd name="adj" fmla="val 7500"/>
            </a:avLst>
          </a:prstGeom>
          <a:solidFill>
            <a:srgbClr val="ECEAE4"/>
          </a:solidFill>
          <a:ln w="12700">
            <a:solidFill>
              <a:srgbClr val="ECEAE4"/>
            </a:solidFill>
            <a:prstDash val="solid"/>
          </a:ln>
        </p:spPr>
        <p:txBody>
          <a:bodyPr/>
          <a:lstStyle/>
          <a:p>
            <a:endParaRPr lang="ro-RO"/>
          </a:p>
        </p:txBody>
      </p:sp>
      <p:sp>
        <p:nvSpPr>
          <p:cNvPr id="13" name="Text 11"/>
          <p:cNvSpPr/>
          <p:nvPr/>
        </p:nvSpPr>
        <p:spPr>
          <a:xfrm>
            <a:off x="914400" y="4343400"/>
            <a:ext cx="2011680" cy="914400"/>
          </a:xfrm>
          <a:prstGeom prst="rect">
            <a:avLst/>
          </a:prstGeom>
          <a:noFill/>
          <a:ln/>
        </p:spPr>
        <p:txBody>
          <a:bodyPr wrap="square" lIns="0" tIns="0" rIns="0" bIns="0" rtlCol="0" anchor="ctr"/>
          <a:lstStyle/>
          <a:p>
            <a:pPr marL="0" indent="0">
              <a:buNone/>
            </a:pPr>
            <a:r>
              <a:rPr lang="en-US" sz="4200" b="1" dirty="0">
                <a:solidFill>
                  <a:srgbClr val="8A6100"/>
                </a:solidFill>
                <a:latin typeface="Palatino Linotype" pitchFamily="34" charset="0"/>
                <a:ea typeface="Palatino Linotype" pitchFamily="34" charset="-122"/>
                <a:cs typeface="Palatino Linotype" pitchFamily="34" charset="-120"/>
              </a:rPr>
              <a:t>≥ 700</a:t>
            </a:r>
            <a:endParaRPr lang="en-US" sz="4200" dirty="0"/>
          </a:p>
        </p:txBody>
      </p:sp>
      <p:sp>
        <p:nvSpPr>
          <p:cNvPr id="14" name="Text 12"/>
          <p:cNvSpPr/>
          <p:nvPr/>
        </p:nvSpPr>
        <p:spPr>
          <a:xfrm>
            <a:off x="3108960" y="4379976"/>
            <a:ext cx="8138160" cy="566928"/>
          </a:xfrm>
          <a:prstGeom prst="rect">
            <a:avLst/>
          </a:prstGeom>
          <a:noFill/>
          <a:ln/>
        </p:spPr>
        <p:txBody>
          <a:bodyPr wrap="square" lIns="0" tIns="0" rIns="0" bIns="0" rtlCol="0" anchor="ctr"/>
          <a:lstStyle/>
          <a:p>
            <a:pPr marL="0" indent="0">
              <a:buNone/>
            </a:pPr>
            <a:r>
              <a:rPr lang="en-US" sz="1400" dirty="0">
                <a:solidFill>
                  <a:srgbClr val="11121A"/>
                </a:solidFill>
                <a:latin typeface="Palatino Linotype" pitchFamily="34" charset="0"/>
                <a:ea typeface="Palatino Linotype" pitchFamily="34" charset="-122"/>
                <a:cs typeface="Palatino Linotype" pitchFamily="34" charset="-120"/>
              </a:rPr>
              <a:t>atacuri fatale, estimarea comitetului; mortalitatea lui: 220 la 10 000, față de 152 după datele stării civile</a:t>
            </a:r>
            <a:endParaRPr lang="en-US" sz="1400" dirty="0"/>
          </a:p>
        </p:txBody>
      </p:sp>
      <p:sp>
        <p:nvSpPr>
          <p:cNvPr id="15" name="Text 13"/>
          <p:cNvSpPr/>
          <p:nvPr/>
        </p:nvSpPr>
        <p:spPr>
          <a:xfrm>
            <a:off x="3108960" y="4965192"/>
            <a:ext cx="8138160" cy="292608"/>
          </a:xfrm>
          <a:prstGeom prst="rect">
            <a:avLst/>
          </a:prstGeom>
          <a:noFill/>
          <a:ln/>
        </p:spPr>
        <p:txBody>
          <a:bodyPr wrap="square" lIns="0" tIns="0" rIns="0" bIns="0" rtlCol="0" anchor="ctr"/>
          <a:lstStyle/>
          <a:p>
            <a:pPr marL="0" indent="0">
              <a:buNone/>
            </a:pPr>
            <a:r>
              <a:rPr lang="en-US" sz="1050" i="1" dirty="0">
                <a:solidFill>
                  <a:srgbClr val="585A64"/>
                </a:solidFill>
                <a:latin typeface="Palatino Linotype" pitchFamily="34" charset="0"/>
                <a:ea typeface="Palatino Linotype" pitchFamily="34" charset="-122"/>
                <a:cs typeface="Palatino Linotype" pitchFamily="34" charset="-120"/>
              </a:rPr>
              <a:t>ATENȚIE: niciuna nu se reface din 36 406 de locuitori (484 → 133; 700 → 192). Numitorul implicit, circa 31 800, nu a fost identificat în raport.</a:t>
            </a:r>
            <a:endParaRPr lang="en-US" sz="1050" dirty="0"/>
          </a:p>
        </p:txBody>
      </p:sp>
      <p:sp>
        <p:nvSpPr>
          <p:cNvPr id="16" name="Shape 14"/>
          <p:cNvSpPr/>
          <p:nvPr/>
        </p:nvSpPr>
        <p:spPr>
          <a:xfrm>
            <a:off x="594360" y="5486400"/>
            <a:ext cx="10972800" cy="530352"/>
          </a:xfrm>
          <a:prstGeom prst="roundRect">
            <a:avLst>
              <a:gd name="adj" fmla="val 15517"/>
            </a:avLst>
          </a:prstGeom>
          <a:solidFill>
            <a:srgbClr val="B02532"/>
          </a:solidFill>
          <a:ln w="12700">
            <a:solidFill>
              <a:srgbClr val="B02532"/>
            </a:solidFill>
            <a:prstDash val="solid"/>
          </a:ln>
        </p:spPr>
        <p:txBody>
          <a:bodyPr/>
          <a:lstStyle/>
          <a:p>
            <a:endParaRPr lang="ro-RO"/>
          </a:p>
        </p:txBody>
      </p:sp>
      <p:sp>
        <p:nvSpPr>
          <p:cNvPr id="17" name="Text 15"/>
          <p:cNvSpPr/>
          <p:nvPr/>
        </p:nvSpPr>
        <p:spPr>
          <a:xfrm>
            <a:off x="960120" y="5486400"/>
            <a:ext cx="10241280" cy="530352"/>
          </a:xfrm>
          <a:prstGeom prst="rect">
            <a:avLst/>
          </a:prstGeom>
          <a:noFill/>
          <a:ln/>
        </p:spPr>
        <p:txBody>
          <a:bodyPr wrap="square" lIns="0" tIns="0" rIns="0" bIns="0" rtlCol="0" anchor="ctr"/>
          <a:lstStyle/>
          <a:p>
            <a:pPr marL="0" indent="0">
              <a:buNone/>
            </a:pPr>
            <a:r>
              <a:rPr lang="en-US" sz="1400" b="1" dirty="0">
                <a:solidFill>
                  <a:srgbClr val="FFFFFF"/>
                </a:solidFill>
                <a:latin typeface="Palatino Linotype" pitchFamily="34" charset="0"/>
                <a:ea typeface="Palatino Linotype" pitchFamily="34" charset="-122"/>
                <a:cs typeface="Palatino Linotype" pitchFamily="34" charset="-120"/>
              </a:rPr>
              <a:t>Nu este o eroare a niciuneia: definiții și perioade diferite dau numere diferite, și amândouă pot fi corecte. Snow a fost cooptat ulterior în comitet.</a:t>
            </a:r>
            <a:endParaRPr lang="en-US" sz="1400" dirty="0"/>
          </a:p>
        </p:txBody>
      </p:sp>
      <p:sp>
        <p:nvSpPr>
          <p:cNvPr id="18" name="Text 16"/>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585A64"/>
                </a:solidFill>
                <a:latin typeface="Palatino Linotype" pitchFamily="34" charset="0"/>
                <a:ea typeface="Palatino Linotype" pitchFamily="34" charset="-122"/>
                <a:cs typeface="Palatino Linotype" pitchFamily="34" charset="-120"/>
              </a:rPr>
              <a:t>Surse: Snow 1855, tabel p. 49; Cholera Inquiry Committee 1855, p. 9 și 15.</a:t>
            </a:r>
            <a:endParaRPr lang="en-US" sz="900" dirty="0"/>
          </a:p>
          <a:p>
            <a:pPr marL="0" indent="0">
              <a:buNone/>
            </a:pPr>
            <a:r>
              <a:rPr lang="en-US" sz="900" i="1" dirty="0">
                <a:solidFill>
                  <a:srgbClr val="585A64"/>
                </a:solidFill>
                <a:latin typeface="Palatino Linotype" pitchFamily="34" charset="0"/>
                <a:ea typeface="Palatino Linotype" pitchFamily="34" charset="-122"/>
                <a:cs typeface="Palatino Linotype" pitchFamily="34" charset="-120"/>
              </a:rPr>
              <a:t>133, 192 și 31 800: calcul propriu. Lecția practică: o rată publicată al cărei numitor nu e declarat NU este verificabilă, oricât de oficială ar fi sursa.</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METODA</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Nu a desenat mai întâi o hartă. A bătut la uși.</a:t>
            </a:r>
            <a:endParaRPr lang="en-US" sz="3000" dirty="0"/>
          </a:p>
        </p:txBody>
      </p:sp>
      <p:sp>
        <p:nvSpPr>
          <p:cNvPr id="4" name="Text 2"/>
          <p:cNvSpPr/>
          <p:nvPr/>
        </p:nvSpPr>
        <p:spPr>
          <a:xfrm>
            <a:off x="594360" y="1691640"/>
            <a:ext cx="10972800" cy="365760"/>
          </a:xfrm>
          <a:prstGeom prst="rect">
            <a:avLst/>
          </a:prstGeom>
          <a:noFill/>
          <a:ln/>
        </p:spPr>
        <p:txBody>
          <a:bodyPr wrap="square" lIns="0" tIns="0" rIns="0" bIns="0" rtlCol="0" anchor="ctr"/>
          <a:lstStyle/>
          <a:p>
            <a:pPr marL="0" indent="0">
              <a:buNone/>
            </a:pPr>
            <a:r>
              <a:rPr lang="en-US" sz="1600" dirty="0">
                <a:solidFill>
                  <a:srgbClr val="959BB0"/>
                </a:solidFill>
                <a:latin typeface="Palatino Linotype" pitchFamily="34" charset="0"/>
                <a:ea typeface="Palatino Linotype" pitchFamily="34" charset="-122"/>
                <a:cs typeface="Palatino Linotype" pitchFamily="34" charset="-120"/>
              </a:rPr>
              <a:t>Pentru fiecare deces, o singură întrebare: de unde bea apă persoana decedată?</a:t>
            </a:r>
            <a:endParaRPr lang="en-US" sz="1600" dirty="0"/>
          </a:p>
        </p:txBody>
      </p:sp>
      <p:sp>
        <p:nvSpPr>
          <p:cNvPr id="5" name="Shape 3"/>
          <p:cNvSpPr/>
          <p:nvPr/>
        </p:nvSpPr>
        <p:spPr>
          <a:xfrm>
            <a:off x="594360" y="2194560"/>
            <a:ext cx="10972800" cy="585216"/>
          </a:xfrm>
          <a:prstGeom prst="roundRect">
            <a:avLst>
              <a:gd name="adj" fmla="val 14063"/>
            </a:avLst>
          </a:prstGeom>
          <a:solidFill>
            <a:srgbClr val="1D1F2B"/>
          </a:solidFill>
          <a:ln w="12700">
            <a:solidFill>
              <a:srgbClr val="1D1F2B"/>
            </a:solidFill>
            <a:prstDash val="solid"/>
          </a:ln>
        </p:spPr>
        <p:txBody>
          <a:bodyPr/>
          <a:lstStyle/>
          <a:p>
            <a:endParaRPr lang="ro-RO"/>
          </a:p>
        </p:txBody>
      </p:sp>
      <p:sp>
        <p:nvSpPr>
          <p:cNvPr id="6" name="Text 4"/>
          <p:cNvSpPr/>
          <p:nvPr/>
        </p:nvSpPr>
        <p:spPr>
          <a:xfrm>
            <a:off x="914400" y="2194560"/>
            <a:ext cx="1371600" cy="585216"/>
          </a:xfrm>
          <a:prstGeom prst="rect">
            <a:avLst/>
          </a:prstGeom>
          <a:noFill/>
          <a:ln/>
        </p:spPr>
        <p:txBody>
          <a:bodyPr wrap="square" lIns="0" tIns="0" rIns="0" bIns="0" rtlCol="0" anchor="ctr"/>
          <a:lstStyle/>
          <a:p>
            <a:pPr marL="0" indent="0">
              <a:buNone/>
            </a:pPr>
            <a:r>
              <a:rPr lang="en-US" sz="2600" b="1" dirty="0">
                <a:solidFill>
                  <a:srgbClr val="FF4757"/>
                </a:solidFill>
                <a:latin typeface="Palatino Linotype" pitchFamily="34" charset="0"/>
                <a:ea typeface="Palatino Linotype" pitchFamily="34" charset="-122"/>
                <a:cs typeface="Palatino Linotype" pitchFamily="34" charset="-120"/>
              </a:rPr>
              <a:t>61</a:t>
            </a:r>
            <a:endParaRPr lang="en-US" sz="2600" dirty="0"/>
          </a:p>
        </p:txBody>
      </p:sp>
      <p:sp>
        <p:nvSpPr>
          <p:cNvPr id="7" name="Text 5"/>
          <p:cNvSpPr/>
          <p:nvPr/>
        </p:nvSpPr>
        <p:spPr>
          <a:xfrm>
            <a:off x="2468880" y="2194560"/>
            <a:ext cx="8778240" cy="585216"/>
          </a:xfrm>
          <a:prstGeom prst="rect">
            <a:avLst/>
          </a:prstGeom>
          <a:noFill/>
          <a:ln/>
        </p:spPr>
        <p:txBody>
          <a:bodyPr wrap="square" lIns="0" tIns="0" rIns="0" bIns="0" rtlCol="0" anchor="ctr"/>
          <a:lstStyle/>
          <a:p>
            <a:pPr marL="0" indent="0">
              <a:buNone/>
            </a:pPr>
            <a:r>
              <a:rPr lang="en-US" sz="1350" dirty="0">
                <a:solidFill>
                  <a:srgbClr val="FFFFFF"/>
                </a:solidFill>
                <a:latin typeface="Palatino Linotype" pitchFamily="34" charset="0"/>
                <a:ea typeface="Palatino Linotype" pitchFamily="34" charset="-122"/>
                <a:cs typeface="Palatino Linotype" pitchFamily="34" charset="-120"/>
              </a:rPr>
              <a:t>decese la persoane despre care a AFLAT că beau de la pompa din Broad Street</a:t>
            </a:r>
            <a:endParaRPr lang="en-US" sz="1350" dirty="0"/>
          </a:p>
        </p:txBody>
      </p:sp>
      <p:sp>
        <p:nvSpPr>
          <p:cNvPr id="8" name="Shape 6"/>
          <p:cNvSpPr/>
          <p:nvPr/>
        </p:nvSpPr>
        <p:spPr>
          <a:xfrm>
            <a:off x="594360" y="2889504"/>
            <a:ext cx="10972800" cy="585216"/>
          </a:xfrm>
          <a:prstGeom prst="roundRect">
            <a:avLst>
              <a:gd name="adj" fmla="val 14063"/>
            </a:avLst>
          </a:prstGeom>
          <a:solidFill>
            <a:srgbClr val="272A38"/>
          </a:solidFill>
          <a:ln w="12700">
            <a:solidFill>
              <a:srgbClr val="272A38"/>
            </a:solidFill>
            <a:prstDash val="solid"/>
          </a:ln>
        </p:spPr>
        <p:txBody>
          <a:bodyPr/>
          <a:lstStyle/>
          <a:p>
            <a:endParaRPr lang="ro-RO"/>
          </a:p>
        </p:txBody>
      </p:sp>
      <p:sp>
        <p:nvSpPr>
          <p:cNvPr id="9" name="Text 7"/>
          <p:cNvSpPr/>
          <p:nvPr/>
        </p:nvSpPr>
        <p:spPr>
          <a:xfrm>
            <a:off x="914400" y="2889504"/>
            <a:ext cx="1371600" cy="585216"/>
          </a:xfrm>
          <a:prstGeom prst="rect">
            <a:avLst/>
          </a:prstGeom>
          <a:noFill/>
          <a:ln/>
        </p:spPr>
        <p:txBody>
          <a:bodyPr wrap="square" lIns="0" tIns="0" rIns="0" bIns="0" rtlCol="0" anchor="ctr"/>
          <a:lstStyle/>
          <a:p>
            <a:pPr marL="0" indent="0">
              <a:buNone/>
            </a:pPr>
            <a:r>
              <a:rPr lang="en-US" sz="2600" b="1" dirty="0">
                <a:solidFill>
                  <a:srgbClr val="27D3BE"/>
                </a:solidFill>
                <a:latin typeface="Palatino Linotype" pitchFamily="34" charset="0"/>
                <a:ea typeface="Palatino Linotype" pitchFamily="34" charset="-122"/>
                <a:cs typeface="Palatino Linotype" pitchFamily="34" charset="-120"/>
              </a:rPr>
              <a:t>6</a:t>
            </a:r>
            <a:endParaRPr lang="en-US" sz="2600" dirty="0"/>
          </a:p>
        </p:txBody>
      </p:sp>
      <p:sp>
        <p:nvSpPr>
          <p:cNvPr id="10" name="Text 8"/>
          <p:cNvSpPr/>
          <p:nvPr/>
        </p:nvSpPr>
        <p:spPr>
          <a:xfrm>
            <a:off x="2468880" y="2889504"/>
            <a:ext cx="8778240" cy="585216"/>
          </a:xfrm>
          <a:prstGeom prst="rect">
            <a:avLst/>
          </a:prstGeom>
          <a:noFill/>
          <a:ln/>
        </p:spPr>
        <p:txBody>
          <a:bodyPr wrap="square" lIns="0" tIns="0" rIns="0" bIns="0" rtlCol="0" anchor="ctr"/>
          <a:lstStyle/>
          <a:p>
            <a:pPr marL="0" indent="0">
              <a:buNone/>
            </a:pPr>
            <a:r>
              <a:rPr lang="en-US" sz="1350" dirty="0">
                <a:solidFill>
                  <a:srgbClr val="FFFFFF"/>
                </a:solidFill>
                <a:latin typeface="Palatino Linotype" pitchFamily="34" charset="0"/>
                <a:ea typeface="Palatino Linotype" pitchFamily="34" charset="-122"/>
                <a:cs typeface="Palatino Linotype" pitchFamily="34" charset="-120"/>
              </a:rPr>
              <a:t>decese la persoane despre care a aflat că NU beau de acolo</a:t>
            </a:r>
            <a:endParaRPr lang="en-US" sz="1350" dirty="0"/>
          </a:p>
        </p:txBody>
      </p:sp>
      <p:sp>
        <p:nvSpPr>
          <p:cNvPr id="11" name="Shape 9"/>
          <p:cNvSpPr/>
          <p:nvPr/>
        </p:nvSpPr>
        <p:spPr>
          <a:xfrm>
            <a:off x="594360" y="3584448"/>
            <a:ext cx="10972800" cy="585216"/>
          </a:xfrm>
          <a:prstGeom prst="roundRect">
            <a:avLst>
              <a:gd name="adj" fmla="val 14063"/>
            </a:avLst>
          </a:prstGeom>
          <a:solidFill>
            <a:srgbClr val="1D1F2B"/>
          </a:solidFill>
          <a:ln w="12700">
            <a:solidFill>
              <a:srgbClr val="1D1F2B"/>
            </a:solidFill>
            <a:prstDash val="solid"/>
          </a:ln>
        </p:spPr>
        <p:txBody>
          <a:bodyPr/>
          <a:lstStyle/>
          <a:p>
            <a:endParaRPr lang="ro-RO"/>
          </a:p>
        </p:txBody>
      </p:sp>
      <p:sp>
        <p:nvSpPr>
          <p:cNvPr id="12" name="Text 10"/>
          <p:cNvSpPr/>
          <p:nvPr/>
        </p:nvSpPr>
        <p:spPr>
          <a:xfrm>
            <a:off x="914400" y="3584448"/>
            <a:ext cx="1371600" cy="585216"/>
          </a:xfrm>
          <a:prstGeom prst="rect">
            <a:avLst/>
          </a:prstGeom>
          <a:noFill/>
          <a:ln/>
        </p:spPr>
        <p:txBody>
          <a:bodyPr wrap="square" lIns="0" tIns="0" rIns="0" bIns="0" rtlCol="0" anchor="ctr"/>
          <a:lstStyle/>
          <a:p>
            <a:pPr marL="0" indent="0">
              <a:buNone/>
            </a:pPr>
            <a:r>
              <a:rPr lang="en-US" sz="2600" b="1" dirty="0">
                <a:solidFill>
                  <a:srgbClr val="FFC24B"/>
                </a:solidFill>
                <a:latin typeface="Palatino Linotype" pitchFamily="34" charset="0"/>
                <a:ea typeface="Palatino Linotype" pitchFamily="34" charset="-122"/>
                <a:cs typeface="Palatino Linotype" pitchFamily="34" charset="-120"/>
              </a:rPr>
              <a:t>6</a:t>
            </a:r>
            <a:endParaRPr lang="en-US" sz="2600" dirty="0"/>
          </a:p>
        </p:txBody>
      </p:sp>
      <p:sp>
        <p:nvSpPr>
          <p:cNvPr id="13" name="Text 11"/>
          <p:cNvSpPr/>
          <p:nvPr/>
        </p:nvSpPr>
        <p:spPr>
          <a:xfrm>
            <a:off x="2468880" y="3584448"/>
            <a:ext cx="8778240" cy="585216"/>
          </a:xfrm>
          <a:prstGeom prst="rect">
            <a:avLst/>
          </a:prstGeom>
          <a:noFill/>
          <a:ln/>
        </p:spPr>
        <p:txBody>
          <a:bodyPr wrap="square" lIns="0" tIns="0" rIns="0" bIns="0" rtlCol="0" anchor="ctr"/>
          <a:lstStyle/>
          <a:p>
            <a:pPr marL="0" indent="0">
              <a:buNone/>
            </a:pPr>
            <a:r>
              <a:rPr lang="en-US" sz="1350" dirty="0">
                <a:solidFill>
                  <a:srgbClr val="FFFFFF"/>
                </a:solidFill>
                <a:latin typeface="Palatino Linotype" pitchFamily="34" charset="0"/>
                <a:ea typeface="Palatino Linotype" pitchFamily="34" charset="-122"/>
                <a:cs typeface="Palatino Linotype" pitchFamily="34" charset="-120"/>
              </a:rPr>
              <a:t>decese pentru care nu a obținut informația</a:t>
            </a:r>
            <a:endParaRPr lang="en-US" sz="1350" dirty="0"/>
          </a:p>
        </p:txBody>
      </p:sp>
      <p:sp>
        <p:nvSpPr>
          <p:cNvPr id="14" name="Shape 12"/>
          <p:cNvSpPr/>
          <p:nvPr/>
        </p:nvSpPr>
        <p:spPr>
          <a:xfrm>
            <a:off x="594360" y="4279392"/>
            <a:ext cx="10972800" cy="585216"/>
          </a:xfrm>
          <a:prstGeom prst="roundRect">
            <a:avLst>
              <a:gd name="adj" fmla="val 14063"/>
            </a:avLst>
          </a:prstGeom>
          <a:solidFill>
            <a:srgbClr val="272A38"/>
          </a:solidFill>
          <a:ln w="12700">
            <a:solidFill>
              <a:srgbClr val="272A38"/>
            </a:solidFill>
            <a:prstDash val="solid"/>
          </a:ln>
        </p:spPr>
        <p:txBody>
          <a:bodyPr/>
          <a:lstStyle/>
          <a:p>
            <a:endParaRPr lang="ro-RO"/>
          </a:p>
        </p:txBody>
      </p:sp>
      <p:sp>
        <p:nvSpPr>
          <p:cNvPr id="15" name="Text 13"/>
          <p:cNvSpPr/>
          <p:nvPr/>
        </p:nvSpPr>
        <p:spPr>
          <a:xfrm>
            <a:off x="914400" y="4279392"/>
            <a:ext cx="1371600" cy="585216"/>
          </a:xfrm>
          <a:prstGeom prst="rect">
            <a:avLst/>
          </a:prstGeom>
          <a:noFill/>
          <a:ln/>
        </p:spPr>
        <p:txBody>
          <a:bodyPr wrap="square" lIns="0" tIns="0" rIns="0" bIns="0" rtlCol="0" anchor="ctr"/>
          <a:lstStyle/>
          <a:p>
            <a:pPr marL="0" indent="0">
              <a:buNone/>
            </a:pPr>
            <a:r>
              <a:rPr lang="en-US" sz="2600" b="1" dirty="0">
                <a:solidFill>
                  <a:srgbClr val="9B7EF7"/>
                </a:solidFill>
                <a:latin typeface="Palatino Linotype" pitchFamily="34" charset="0"/>
                <a:ea typeface="Palatino Linotype" pitchFamily="34" charset="-122"/>
                <a:cs typeface="Palatino Linotype" pitchFamily="34" charset="-120"/>
              </a:rPr>
              <a:t>10</a:t>
            </a:r>
            <a:endParaRPr lang="en-US" sz="2600" dirty="0"/>
          </a:p>
        </p:txBody>
      </p:sp>
      <p:sp>
        <p:nvSpPr>
          <p:cNvPr id="16" name="Text 14"/>
          <p:cNvSpPr/>
          <p:nvPr/>
        </p:nvSpPr>
        <p:spPr>
          <a:xfrm>
            <a:off x="2468880" y="4279392"/>
            <a:ext cx="8778240" cy="585216"/>
          </a:xfrm>
          <a:prstGeom prst="rect">
            <a:avLst/>
          </a:prstGeom>
          <a:noFill/>
          <a:ln/>
        </p:spPr>
        <p:txBody>
          <a:bodyPr wrap="square" lIns="0" tIns="0" rIns="0" bIns="0" rtlCol="0" anchor="ctr"/>
          <a:lstStyle/>
          <a:p>
            <a:pPr marL="0" indent="0">
              <a:buNone/>
            </a:pPr>
            <a:r>
              <a:rPr lang="en-US" sz="1350" dirty="0">
                <a:solidFill>
                  <a:srgbClr val="FFFFFF"/>
                </a:solidFill>
                <a:latin typeface="Palatino Linotype" pitchFamily="34" charset="0"/>
                <a:ea typeface="Palatino Linotype" pitchFamily="34" charset="-122"/>
                <a:cs typeface="Palatino Linotype" pitchFamily="34" charset="-120"/>
              </a:rPr>
              <a:t>decese în case net mai apropiate de o ALTĂ pompă: 5 familii trimiteau totuși la Broad Street, 3 copii mergeau la școală lângă pompă</a:t>
            </a:r>
            <a:endParaRPr lang="en-US" sz="1350" dirty="0"/>
          </a:p>
        </p:txBody>
      </p:sp>
      <p:sp>
        <p:nvSpPr>
          <p:cNvPr id="17" name="Shape 15"/>
          <p:cNvSpPr/>
          <p:nvPr/>
        </p:nvSpPr>
        <p:spPr>
          <a:xfrm>
            <a:off x="594360" y="4974336"/>
            <a:ext cx="10972800" cy="585216"/>
          </a:xfrm>
          <a:prstGeom prst="roundRect">
            <a:avLst>
              <a:gd name="adj" fmla="val 14063"/>
            </a:avLst>
          </a:prstGeom>
          <a:solidFill>
            <a:srgbClr val="2A1E22"/>
          </a:solidFill>
          <a:ln w="12700">
            <a:solidFill>
              <a:srgbClr val="2A1E22"/>
            </a:solidFill>
            <a:prstDash val="solid"/>
          </a:ln>
        </p:spPr>
        <p:txBody>
          <a:bodyPr/>
          <a:lstStyle/>
          <a:p>
            <a:endParaRPr lang="ro-RO"/>
          </a:p>
        </p:txBody>
      </p:sp>
      <p:sp>
        <p:nvSpPr>
          <p:cNvPr id="18" name="Text 16"/>
          <p:cNvSpPr/>
          <p:nvPr/>
        </p:nvSpPr>
        <p:spPr>
          <a:xfrm>
            <a:off x="914400" y="4974336"/>
            <a:ext cx="1371600" cy="585216"/>
          </a:xfrm>
          <a:prstGeom prst="rect">
            <a:avLst/>
          </a:prstGeom>
          <a:noFill/>
          <a:ln/>
        </p:spPr>
        <p:txBody>
          <a:bodyPr wrap="square" lIns="0" tIns="0" rIns="0" bIns="0" rtlCol="0" anchor="ctr"/>
          <a:lstStyle/>
          <a:p>
            <a:pPr marL="0" indent="0">
              <a:buNone/>
            </a:pPr>
            <a:r>
              <a:rPr lang="en-US" sz="2600" b="1" dirty="0">
                <a:solidFill>
                  <a:srgbClr val="FFFFFF"/>
                </a:solidFill>
                <a:latin typeface="Palatino Linotype" pitchFamily="34" charset="0"/>
                <a:ea typeface="Palatino Linotype" pitchFamily="34" charset="-122"/>
                <a:cs typeface="Palatino Linotype" pitchFamily="34" charset="-120"/>
              </a:rPr>
              <a:t>83</a:t>
            </a:r>
            <a:endParaRPr lang="en-US" sz="2600" dirty="0"/>
          </a:p>
        </p:txBody>
      </p:sp>
      <p:sp>
        <p:nvSpPr>
          <p:cNvPr id="19" name="Text 17"/>
          <p:cNvSpPr/>
          <p:nvPr/>
        </p:nvSpPr>
        <p:spPr>
          <a:xfrm>
            <a:off x="2468880" y="4974336"/>
            <a:ext cx="8778240" cy="585216"/>
          </a:xfrm>
          <a:prstGeom prst="rect">
            <a:avLst/>
          </a:prstGeom>
          <a:noFill/>
          <a:ln/>
        </p:spPr>
        <p:txBody>
          <a:bodyPr wrap="square" lIns="0" tIns="0" rIns="0" bIns="0" rtlCol="0" anchor="ctr"/>
          <a:lstStyle/>
          <a:p>
            <a:pPr marL="0" indent="0">
              <a:buNone/>
            </a:pPr>
            <a:r>
              <a:rPr lang="en-US" sz="1350" b="1" dirty="0">
                <a:solidFill>
                  <a:srgbClr val="FF4757"/>
                </a:solidFill>
                <a:latin typeface="Palatino Linotype" pitchFamily="34" charset="0"/>
                <a:ea typeface="Palatino Linotype" pitchFamily="34" charset="-122"/>
                <a:cs typeface="Palatino Linotype" pitchFamily="34" charset="-120"/>
              </a:rPr>
              <a:t>decese din ultimele trei zile ale săptămânii încheiate la 2 septembrie, anchetate una câte una</a:t>
            </a:r>
            <a:endParaRPr lang="en-US" sz="1350" dirty="0"/>
          </a:p>
        </p:txBody>
      </p:sp>
      <p:sp>
        <p:nvSpPr>
          <p:cNvPr id="20" name="Shape 18"/>
          <p:cNvSpPr/>
          <p:nvPr/>
        </p:nvSpPr>
        <p:spPr>
          <a:xfrm>
            <a:off x="594360" y="5742432"/>
            <a:ext cx="10972800" cy="502920"/>
          </a:xfrm>
          <a:prstGeom prst="roundRect">
            <a:avLst>
              <a:gd name="adj" fmla="val 16364"/>
            </a:avLst>
          </a:prstGeom>
          <a:solidFill>
            <a:srgbClr val="1A2430"/>
          </a:solidFill>
          <a:ln w="12700">
            <a:solidFill>
              <a:srgbClr val="1A2430"/>
            </a:solidFill>
            <a:prstDash val="solid"/>
          </a:ln>
        </p:spPr>
        <p:txBody>
          <a:bodyPr/>
          <a:lstStyle/>
          <a:p>
            <a:endParaRPr lang="ro-RO"/>
          </a:p>
        </p:txBody>
      </p:sp>
      <p:sp>
        <p:nvSpPr>
          <p:cNvPr id="21" name="Text 19"/>
          <p:cNvSpPr/>
          <p:nvPr/>
        </p:nvSpPr>
        <p:spPr>
          <a:xfrm>
            <a:off x="960120" y="5742432"/>
            <a:ext cx="10241280" cy="502920"/>
          </a:xfrm>
          <a:prstGeom prst="rect">
            <a:avLst/>
          </a:prstGeom>
          <a:noFill/>
          <a:ln/>
        </p:spPr>
        <p:txBody>
          <a:bodyPr wrap="square" lIns="0" tIns="0" rIns="0" bIns="0" rtlCol="0" anchor="ctr"/>
          <a:lstStyle/>
          <a:p>
            <a:pPr marL="0" indent="0">
              <a:buNone/>
            </a:pPr>
            <a:r>
              <a:rPr lang="en-US" sz="1250" b="1" dirty="0">
                <a:solidFill>
                  <a:srgbClr val="27D3BE"/>
                </a:solidFill>
                <a:latin typeface="Palatino Linotype" pitchFamily="34" charset="0"/>
                <a:ea typeface="Palatino Linotype" pitchFamily="34" charset="-122"/>
                <a:cs typeface="Palatino Linotype" pitchFamily="34" charset="-120"/>
              </a:rPr>
              <a:t>NU este un studiu caz-control: nu există niciun grup de comparație, sunt exclusiv decedați. Este o SERIE DE CAZURI cu verificarea individuală a expunerii. Din aceste cifre nu se poate calcula niciun raport al cotelor.</a:t>
            </a:r>
            <a:endParaRPr lang="en-US" sz="1250" dirty="0"/>
          </a:p>
        </p:txBody>
      </p:sp>
      <p:sp>
        <p:nvSpPr>
          <p:cNvPr id="22" name="Text 20"/>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Sursa: Snow J. On the Mode of Communication of Cholera, ed. 2, 1855, pp. 39–40.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822960" y="1371600"/>
            <a:ext cx="3108960" cy="2377440"/>
          </a:xfrm>
          <a:prstGeom prst="rect">
            <a:avLst/>
          </a:prstGeom>
          <a:noFill/>
          <a:ln/>
        </p:spPr>
        <p:txBody>
          <a:bodyPr wrap="square" lIns="0" tIns="0" rIns="0" bIns="0" rtlCol="0" anchor="ctr"/>
          <a:lstStyle/>
          <a:p>
            <a:pPr marL="0" indent="0">
              <a:buNone/>
            </a:pPr>
            <a:r>
              <a:rPr lang="en-US" sz="14000" b="1" dirty="0">
                <a:solidFill>
                  <a:srgbClr val="FFC24B"/>
                </a:solidFill>
                <a:latin typeface="Palatino Linotype" pitchFamily="34" charset="0"/>
                <a:ea typeface="Palatino Linotype" pitchFamily="34" charset="-122"/>
                <a:cs typeface="Palatino Linotype" pitchFamily="34" charset="-120"/>
              </a:rPr>
              <a:t>02</a:t>
            </a:r>
            <a:endParaRPr lang="en-US" sz="14000" dirty="0"/>
          </a:p>
        </p:txBody>
      </p:sp>
      <p:sp>
        <p:nvSpPr>
          <p:cNvPr id="3" name="Shape 1"/>
          <p:cNvSpPr/>
          <p:nvPr/>
        </p:nvSpPr>
        <p:spPr>
          <a:xfrm>
            <a:off x="4206240" y="1737360"/>
            <a:ext cx="32004" cy="1737360"/>
          </a:xfrm>
          <a:prstGeom prst="rect">
            <a:avLst/>
          </a:prstGeom>
          <a:solidFill>
            <a:srgbClr val="FFC24B"/>
          </a:solidFill>
          <a:ln/>
        </p:spPr>
        <p:txBody>
          <a:bodyPr/>
          <a:lstStyle/>
          <a:p>
            <a:endParaRPr lang="ro-RO"/>
          </a:p>
        </p:txBody>
      </p:sp>
      <p:sp>
        <p:nvSpPr>
          <p:cNvPr id="4" name="Text 2"/>
          <p:cNvSpPr/>
          <p:nvPr/>
        </p:nvSpPr>
        <p:spPr>
          <a:xfrm>
            <a:off x="4709160" y="1755648"/>
            <a:ext cx="6858000" cy="1005840"/>
          </a:xfrm>
          <a:prstGeom prst="rect">
            <a:avLst/>
          </a:prstGeom>
          <a:noFill/>
          <a:ln/>
        </p:spPr>
        <p:txBody>
          <a:bodyPr wrap="square" lIns="0" tIns="0" rIns="0" bIns="0" rtlCol="0" anchor="t"/>
          <a:lstStyle/>
          <a:p>
            <a:pPr marL="0" indent="0">
              <a:buNone/>
            </a:pPr>
            <a:r>
              <a:rPr lang="en-US" sz="3400" b="1" dirty="0">
                <a:solidFill>
                  <a:srgbClr val="FFFFFF"/>
                </a:solidFill>
                <a:latin typeface="Palatino Linotype" pitchFamily="34" charset="0"/>
                <a:ea typeface="Palatino Linotype" pitchFamily="34" charset="-122"/>
                <a:cs typeface="Palatino Linotype" pitchFamily="34" charset="-120"/>
              </a:rPr>
              <a:t>Trei controale naturale</a:t>
            </a:r>
            <a:endParaRPr lang="en-US" sz="3400" dirty="0"/>
          </a:p>
        </p:txBody>
      </p:sp>
      <p:sp>
        <p:nvSpPr>
          <p:cNvPr id="5" name="Text 3"/>
          <p:cNvSpPr/>
          <p:nvPr/>
        </p:nvSpPr>
        <p:spPr>
          <a:xfrm>
            <a:off x="4709160" y="2788920"/>
            <a:ext cx="6858000" cy="868680"/>
          </a:xfrm>
          <a:prstGeom prst="rect">
            <a:avLst/>
          </a:prstGeom>
          <a:noFill/>
          <a:ln/>
        </p:spPr>
        <p:txBody>
          <a:bodyPr wrap="square" lIns="0" tIns="0" rIns="0" bIns="0" rtlCol="0" anchor="t"/>
          <a:lstStyle/>
          <a:p>
            <a:pPr marL="0" indent="0">
              <a:buNone/>
            </a:pPr>
            <a:r>
              <a:rPr lang="en-US" sz="1550" dirty="0">
                <a:solidFill>
                  <a:srgbClr val="959BB0"/>
                </a:solidFill>
                <a:latin typeface="Palatino Linotype" pitchFamily="34" charset="0"/>
                <a:ea typeface="Palatino Linotype" pitchFamily="34" charset="-122"/>
                <a:cs typeface="Palatino Linotype" pitchFamily="34" charset="-120"/>
              </a:rPr>
              <a:t>Anomaliile care păreau să îl contrazică — și care i-au devenit un argument</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CONTROLUL 1</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11121A"/>
                </a:solidFill>
                <a:latin typeface="Palatino Linotype" pitchFamily="34" charset="0"/>
                <a:ea typeface="Palatino Linotype" pitchFamily="34" charset="-122"/>
                <a:cs typeface="Palatino Linotype" pitchFamily="34" charset="-120"/>
              </a:rPr>
              <a:t>Casa de muncă (workhouse) din Poland Street</a:t>
            </a:r>
            <a:endParaRPr lang="en-US" sz="3100" dirty="0"/>
          </a:p>
        </p:txBody>
      </p:sp>
      <p:sp>
        <p:nvSpPr>
          <p:cNvPr id="4" name="Shape 2"/>
          <p:cNvSpPr/>
          <p:nvPr/>
        </p:nvSpPr>
        <p:spPr>
          <a:xfrm>
            <a:off x="594360" y="1783080"/>
            <a:ext cx="5349240" cy="1965960"/>
          </a:xfrm>
          <a:prstGeom prst="roundRect">
            <a:avLst>
              <a:gd name="adj" fmla="val 4186"/>
            </a:avLst>
          </a:prstGeom>
          <a:solidFill>
            <a:srgbClr val="ECEAE4"/>
          </a:solidFill>
          <a:ln w="12700">
            <a:solidFill>
              <a:srgbClr val="ECEAE4"/>
            </a:solidFill>
            <a:prstDash val="solid"/>
          </a:ln>
        </p:spPr>
        <p:txBody>
          <a:bodyPr/>
          <a:lstStyle/>
          <a:p>
            <a:endParaRPr lang="ro-RO"/>
          </a:p>
        </p:txBody>
      </p:sp>
      <p:sp>
        <p:nvSpPr>
          <p:cNvPr id="5" name="Text 3"/>
          <p:cNvSpPr/>
          <p:nvPr/>
        </p:nvSpPr>
        <p:spPr>
          <a:xfrm>
            <a:off x="868680" y="1892808"/>
            <a:ext cx="4800600" cy="982980"/>
          </a:xfrm>
          <a:prstGeom prst="rect">
            <a:avLst/>
          </a:prstGeom>
          <a:noFill/>
          <a:ln/>
        </p:spPr>
        <p:txBody>
          <a:bodyPr wrap="square" lIns="0" tIns="0" rIns="0" bIns="0" rtlCol="0" anchor="ctr"/>
          <a:lstStyle/>
          <a:p>
            <a:pPr marL="0" indent="0">
              <a:buNone/>
            </a:pPr>
            <a:r>
              <a:rPr lang="en-US" sz="5800" b="1" dirty="0">
                <a:solidFill>
                  <a:srgbClr val="4A2D8C"/>
                </a:solidFill>
                <a:latin typeface="Palatino Linotype" pitchFamily="34" charset="0"/>
                <a:ea typeface="Palatino Linotype" pitchFamily="34" charset="-122"/>
                <a:cs typeface="Palatino Linotype" pitchFamily="34" charset="-120"/>
              </a:rPr>
              <a:t>535</a:t>
            </a:r>
            <a:endParaRPr lang="en-US" sz="5800" dirty="0"/>
          </a:p>
        </p:txBody>
      </p:sp>
      <p:sp>
        <p:nvSpPr>
          <p:cNvPr id="6" name="Text 4"/>
          <p:cNvSpPr/>
          <p:nvPr/>
        </p:nvSpPr>
        <p:spPr>
          <a:xfrm>
            <a:off x="868680" y="2784348"/>
            <a:ext cx="4800600" cy="904342"/>
          </a:xfrm>
          <a:prstGeom prst="rect">
            <a:avLst/>
          </a:prstGeom>
          <a:noFill/>
          <a:ln/>
        </p:spPr>
        <p:txBody>
          <a:bodyPr wrap="square" lIns="0" tIns="0" rIns="0" bIns="0" rtlCol="0" anchor="t"/>
          <a:lstStyle/>
          <a:p>
            <a:pPr marL="0" indent="0">
              <a:buNone/>
            </a:pPr>
            <a:r>
              <a:rPr lang="en-US" sz="1200" dirty="0">
                <a:solidFill>
                  <a:srgbClr val="11121A"/>
                </a:solidFill>
                <a:latin typeface="Palatino Linotype" pitchFamily="34" charset="0"/>
                <a:ea typeface="Palatino Linotype" pitchFamily="34" charset="-122"/>
                <a:cs typeface="Palatino Linotype" pitchFamily="34" charset="-120"/>
              </a:rPr>
              <a:t>internați, într-o clădire înconjurată pe mai mult de trei sferturi de case cu decese</a:t>
            </a:r>
            <a:endParaRPr lang="en-US" sz="1200" dirty="0"/>
          </a:p>
        </p:txBody>
      </p:sp>
      <p:sp>
        <p:nvSpPr>
          <p:cNvPr id="7" name="Shape 5"/>
          <p:cNvSpPr/>
          <p:nvPr/>
        </p:nvSpPr>
        <p:spPr>
          <a:xfrm>
            <a:off x="6217920" y="1783080"/>
            <a:ext cx="5349240" cy="1965960"/>
          </a:xfrm>
          <a:prstGeom prst="roundRect">
            <a:avLst>
              <a:gd name="adj" fmla="val 4186"/>
            </a:avLst>
          </a:prstGeom>
          <a:solidFill>
            <a:srgbClr val="ECEAE4"/>
          </a:solidFill>
          <a:ln w="12700">
            <a:solidFill>
              <a:srgbClr val="ECEAE4"/>
            </a:solidFill>
            <a:prstDash val="solid"/>
          </a:ln>
        </p:spPr>
        <p:txBody>
          <a:bodyPr/>
          <a:lstStyle/>
          <a:p>
            <a:endParaRPr lang="ro-RO"/>
          </a:p>
        </p:txBody>
      </p:sp>
      <p:sp>
        <p:nvSpPr>
          <p:cNvPr id="8" name="Text 6"/>
          <p:cNvSpPr/>
          <p:nvPr/>
        </p:nvSpPr>
        <p:spPr>
          <a:xfrm>
            <a:off x="6492240" y="1892808"/>
            <a:ext cx="4800600" cy="982980"/>
          </a:xfrm>
          <a:prstGeom prst="rect">
            <a:avLst/>
          </a:prstGeom>
          <a:noFill/>
          <a:ln/>
        </p:spPr>
        <p:txBody>
          <a:bodyPr wrap="square" lIns="0" tIns="0" rIns="0" bIns="0" rtlCol="0" anchor="ctr"/>
          <a:lstStyle/>
          <a:p>
            <a:pPr marL="0" indent="0">
              <a:buNone/>
            </a:pPr>
            <a:r>
              <a:rPr lang="en-US" sz="5800" b="1" dirty="0">
                <a:solidFill>
                  <a:srgbClr val="B02532"/>
                </a:solidFill>
                <a:latin typeface="Palatino Linotype" pitchFamily="34" charset="0"/>
                <a:ea typeface="Palatino Linotype" pitchFamily="34" charset="-122"/>
                <a:cs typeface="Palatino Linotype" pitchFamily="34" charset="-120"/>
              </a:rPr>
              <a:t>5</a:t>
            </a:r>
            <a:endParaRPr lang="en-US" sz="5800" dirty="0"/>
          </a:p>
        </p:txBody>
      </p:sp>
      <p:sp>
        <p:nvSpPr>
          <p:cNvPr id="9" name="Text 7"/>
          <p:cNvSpPr/>
          <p:nvPr/>
        </p:nvSpPr>
        <p:spPr>
          <a:xfrm>
            <a:off x="6492240" y="2784348"/>
            <a:ext cx="4800600" cy="904342"/>
          </a:xfrm>
          <a:prstGeom prst="rect">
            <a:avLst/>
          </a:prstGeom>
          <a:noFill/>
          <a:ln/>
        </p:spPr>
        <p:txBody>
          <a:bodyPr wrap="square" lIns="0" tIns="0" rIns="0" bIns="0" rtlCol="0" anchor="t"/>
          <a:lstStyle/>
          <a:p>
            <a:pPr marL="0" indent="0">
              <a:buNone/>
            </a:pPr>
            <a:r>
              <a:rPr lang="en-US" sz="1200" dirty="0">
                <a:solidFill>
                  <a:srgbClr val="11121A"/>
                </a:solidFill>
                <a:latin typeface="Palatino Linotype" pitchFamily="34" charset="0"/>
                <a:ea typeface="Palatino Linotype" pitchFamily="34" charset="-122"/>
                <a:cs typeface="Palatino Linotype" pitchFamily="34" charset="-120"/>
              </a:rPr>
              <a:t>decese. Snow scrie că erau de așteptat „upwards of one hundred”.</a:t>
            </a:r>
            <a:endParaRPr lang="en-US" sz="1200" dirty="0"/>
          </a:p>
        </p:txBody>
      </p:sp>
      <p:sp>
        <p:nvSpPr>
          <p:cNvPr id="10" name="Shape 8"/>
          <p:cNvSpPr/>
          <p:nvPr/>
        </p:nvSpPr>
        <p:spPr>
          <a:xfrm>
            <a:off x="594360" y="3977640"/>
            <a:ext cx="10972800" cy="914400"/>
          </a:xfrm>
          <a:prstGeom prst="roundRect">
            <a:avLst>
              <a:gd name="adj" fmla="val 9000"/>
            </a:avLst>
          </a:prstGeom>
          <a:solidFill>
            <a:srgbClr val="F9F8F5"/>
          </a:solidFill>
          <a:ln w="12700">
            <a:solidFill>
              <a:srgbClr val="F9F8F5"/>
            </a:solidFill>
            <a:prstDash val="solid"/>
          </a:ln>
        </p:spPr>
        <p:txBody>
          <a:bodyPr/>
          <a:lstStyle/>
          <a:p>
            <a:endParaRPr lang="ro-RO"/>
          </a:p>
        </p:txBody>
      </p:sp>
      <p:sp>
        <p:nvSpPr>
          <p:cNvPr id="11" name="Text 9"/>
          <p:cNvSpPr/>
          <p:nvPr/>
        </p:nvSpPr>
        <p:spPr>
          <a:xfrm>
            <a:off x="960120" y="3977640"/>
            <a:ext cx="10241280" cy="914400"/>
          </a:xfrm>
          <a:prstGeom prst="rect">
            <a:avLst/>
          </a:prstGeom>
          <a:noFill/>
          <a:ln/>
        </p:spPr>
        <p:txBody>
          <a:bodyPr wrap="square" lIns="0" tIns="0" rIns="0" bIns="0" rtlCol="0" anchor="ctr"/>
          <a:lstStyle/>
          <a:p>
            <a:pPr marL="0" indent="0">
              <a:buNone/>
            </a:pPr>
            <a:r>
              <a:rPr lang="en-US" sz="1500" dirty="0">
                <a:solidFill>
                  <a:srgbClr val="11121A"/>
                </a:solidFill>
                <a:latin typeface="Palatino Linotype" pitchFamily="34" charset="0"/>
                <a:ea typeface="Palatino Linotype" pitchFamily="34" charset="-122"/>
                <a:cs typeface="Palatino Linotype" pitchFamily="34" charset="-120"/>
              </a:rPr>
              <a:t>Casa de muncă avea fântână proprie în incintă și era racordată la compania Grand Junction. Internații nu trimiteau niciodată după apă la Broad Street.</a:t>
            </a:r>
            <a:endParaRPr lang="en-US" sz="1500" dirty="0"/>
          </a:p>
        </p:txBody>
      </p:sp>
      <p:sp>
        <p:nvSpPr>
          <p:cNvPr id="12" name="Shape 10"/>
          <p:cNvSpPr/>
          <p:nvPr/>
        </p:nvSpPr>
        <p:spPr>
          <a:xfrm>
            <a:off x="594360" y="5029200"/>
            <a:ext cx="10972800" cy="685800"/>
          </a:xfrm>
          <a:prstGeom prst="roundRect">
            <a:avLst>
              <a:gd name="adj" fmla="val 12000"/>
            </a:avLst>
          </a:prstGeom>
          <a:solidFill>
            <a:srgbClr val="0E7C6B"/>
          </a:solidFill>
          <a:ln w="12700">
            <a:solidFill>
              <a:srgbClr val="0E7C6B"/>
            </a:solidFill>
            <a:prstDash val="solid"/>
          </a:ln>
        </p:spPr>
        <p:txBody>
          <a:bodyPr/>
          <a:lstStyle/>
          <a:p>
            <a:endParaRPr lang="ro-RO"/>
          </a:p>
        </p:txBody>
      </p:sp>
      <p:sp>
        <p:nvSpPr>
          <p:cNvPr id="13" name="Text 11"/>
          <p:cNvSpPr/>
          <p:nvPr/>
        </p:nvSpPr>
        <p:spPr>
          <a:xfrm>
            <a:off x="960120" y="5029200"/>
            <a:ext cx="10241280" cy="685800"/>
          </a:xfrm>
          <a:prstGeom prst="rect">
            <a:avLst/>
          </a:prstGeom>
          <a:noFill/>
          <a:ln/>
        </p:spPr>
        <p:txBody>
          <a:bodyPr wrap="square" lIns="0" tIns="0" rIns="0" bIns="0" rtlCol="0" anchor="ctr"/>
          <a:lstStyle/>
          <a:p>
            <a:pPr marL="0" indent="0">
              <a:buNone/>
            </a:pPr>
            <a:r>
              <a:rPr lang="en-US" sz="1500" b="1" dirty="0">
                <a:solidFill>
                  <a:srgbClr val="FFFFFF"/>
                </a:solidFill>
                <a:latin typeface="Palatino Linotype" pitchFamily="34" charset="0"/>
                <a:ea typeface="Palatino Linotype" pitchFamily="34" charset="-122"/>
                <a:cs typeface="Palatino Linotype" pitchFamily="34" charset="-120"/>
              </a:rPr>
              <a:t>Aceleași străzi. Dacă miasma străzilor era cauza, de ce doar 5 decese? Replica miasmatică: o instituție bine administrată are alt aer (vezi Bethlem).</a:t>
            </a:r>
            <a:endParaRPr lang="en-US" sz="1500" dirty="0"/>
          </a:p>
        </p:txBody>
      </p:sp>
      <p:sp>
        <p:nvSpPr>
          <p:cNvPr id="14" name="Text 12"/>
          <p:cNvSpPr/>
          <p:nvPr/>
        </p:nvSpPr>
        <p:spPr>
          <a:xfrm>
            <a:off x="594360" y="5852160"/>
            <a:ext cx="10972800" cy="347472"/>
          </a:xfrm>
          <a:prstGeom prst="rect">
            <a:avLst/>
          </a:prstGeom>
          <a:noFill/>
          <a:ln/>
        </p:spPr>
        <p:txBody>
          <a:bodyPr wrap="square" lIns="0" tIns="0" rIns="0" bIns="0" rtlCol="0" anchor="ctr"/>
          <a:lstStyle/>
          <a:p>
            <a:pPr marL="0" indent="0">
              <a:buNone/>
            </a:pPr>
            <a:r>
              <a:rPr lang="en-US" sz="1250" i="1" dirty="0">
                <a:solidFill>
                  <a:srgbClr val="585A64"/>
                </a:solidFill>
                <a:latin typeface="Palatino Linotype" pitchFamily="34" charset="0"/>
                <a:ea typeface="Palatino Linotype" pitchFamily="34" charset="-122"/>
                <a:cs typeface="Palatino Linotype" pitchFamily="34" charset="-120"/>
              </a:rPr>
              <a:t>Diferență reziduală de declarat: este o populație instituționalizată — vârstă, dietă și mobilitate diferite de ale populației generale.</a:t>
            </a:r>
            <a:endParaRPr lang="en-US" sz="1250" dirty="0"/>
          </a:p>
        </p:txBody>
      </p:sp>
      <p:sp>
        <p:nvSpPr>
          <p:cNvPr id="15" name="Text 13"/>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585A64"/>
                </a:solidFill>
                <a:latin typeface="Palatino Linotype" pitchFamily="34" charset="0"/>
                <a:ea typeface="Palatino Linotype" pitchFamily="34" charset="-122"/>
                <a:cs typeface="Palatino Linotype" pitchFamily="34" charset="-120"/>
              </a:rPr>
              <a:t>Surse: Snow J. On the Mode of Communication of Cholera, ed. 2, 1855, p. 42; General Board of Health 1855, p. 39 (Bethlem). „Workhouse” = casă de muncă, nu azil.</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CONTROALELE 2 ȘI 3</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11121A"/>
                </a:solidFill>
                <a:latin typeface="Palatino Linotype" pitchFamily="34" charset="0"/>
                <a:ea typeface="Palatino Linotype" pitchFamily="34" charset="-122"/>
                <a:cs typeface="Palatino Linotype" pitchFamily="34" charset="-120"/>
              </a:rPr>
              <a:t>Berăria și fabrica de capse percutante</a:t>
            </a:r>
            <a:endParaRPr lang="en-US" sz="3100" dirty="0"/>
          </a:p>
        </p:txBody>
      </p:sp>
      <p:sp>
        <p:nvSpPr>
          <p:cNvPr id="4" name="Shape 2"/>
          <p:cNvSpPr/>
          <p:nvPr/>
        </p:nvSpPr>
        <p:spPr>
          <a:xfrm>
            <a:off x="594360" y="1783080"/>
            <a:ext cx="5349240" cy="2331720"/>
          </a:xfrm>
          <a:prstGeom prst="roundRect">
            <a:avLst>
              <a:gd name="adj" fmla="val 3529"/>
            </a:avLst>
          </a:prstGeom>
          <a:solidFill>
            <a:srgbClr val="ECEAE4"/>
          </a:solidFill>
          <a:ln w="12700">
            <a:solidFill>
              <a:srgbClr val="ECEAE4"/>
            </a:solidFill>
            <a:prstDash val="solid"/>
          </a:ln>
        </p:spPr>
        <p:txBody>
          <a:bodyPr/>
          <a:lstStyle/>
          <a:p>
            <a:endParaRPr lang="ro-RO"/>
          </a:p>
        </p:txBody>
      </p:sp>
      <p:sp>
        <p:nvSpPr>
          <p:cNvPr id="5" name="Shape 3"/>
          <p:cNvSpPr/>
          <p:nvPr/>
        </p:nvSpPr>
        <p:spPr>
          <a:xfrm>
            <a:off x="914400" y="1965960"/>
            <a:ext cx="2286000" cy="329184"/>
          </a:xfrm>
          <a:prstGeom prst="roundRect">
            <a:avLst>
              <a:gd name="adj" fmla="val 50000"/>
            </a:avLst>
          </a:prstGeom>
          <a:solidFill>
            <a:srgbClr val="0E7C6B"/>
          </a:solidFill>
          <a:ln w="12700">
            <a:solidFill>
              <a:srgbClr val="0E7C6B"/>
            </a:solidFill>
            <a:prstDash val="solid"/>
          </a:ln>
        </p:spPr>
        <p:txBody>
          <a:bodyPr/>
          <a:lstStyle/>
          <a:p>
            <a:endParaRPr lang="ro-RO"/>
          </a:p>
        </p:txBody>
      </p:sp>
      <p:sp>
        <p:nvSpPr>
          <p:cNvPr id="6" name="Text 4"/>
          <p:cNvSpPr/>
          <p:nvPr/>
        </p:nvSpPr>
        <p:spPr>
          <a:xfrm>
            <a:off x="914400" y="1965960"/>
            <a:ext cx="228600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BERĂRIA</a:t>
            </a:r>
            <a:endParaRPr lang="en-US" sz="1100" dirty="0"/>
          </a:p>
        </p:txBody>
      </p:sp>
      <p:sp>
        <p:nvSpPr>
          <p:cNvPr id="7" name="Text 5"/>
          <p:cNvSpPr/>
          <p:nvPr/>
        </p:nvSpPr>
        <p:spPr>
          <a:xfrm>
            <a:off x="914400" y="2423160"/>
            <a:ext cx="2011680" cy="914400"/>
          </a:xfrm>
          <a:prstGeom prst="rect">
            <a:avLst/>
          </a:prstGeom>
          <a:noFill/>
          <a:ln/>
        </p:spPr>
        <p:txBody>
          <a:bodyPr wrap="square" lIns="0" tIns="0" rIns="0" bIns="0" rtlCol="0" anchor="ctr"/>
          <a:lstStyle/>
          <a:p>
            <a:pPr marL="0" indent="0">
              <a:buNone/>
            </a:pPr>
            <a:r>
              <a:rPr lang="en-US" sz="6400" b="1" dirty="0">
                <a:solidFill>
                  <a:srgbClr val="0E7C6B"/>
                </a:solidFill>
                <a:latin typeface="Palatino Linotype" pitchFamily="34" charset="0"/>
                <a:ea typeface="Palatino Linotype" pitchFamily="34" charset="-122"/>
                <a:cs typeface="Palatino Linotype" pitchFamily="34" charset="-120"/>
              </a:rPr>
              <a:t>0</a:t>
            </a:r>
            <a:endParaRPr lang="en-US" sz="6400" dirty="0"/>
          </a:p>
        </p:txBody>
      </p:sp>
      <p:sp>
        <p:nvSpPr>
          <p:cNvPr id="8" name="Text 6"/>
          <p:cNvSpPr/>
          <p:nvPr/>
        </p:nvSpPr>
        <p:spPr>
          <a:xfrm>
            <a:off x="3017520" y="2331720"/>
            <a:ext cx="2697480" cy="1691640"/>
          </a:xfrm>
          <a:prstGeom prst="rect">
            <a:avLst/>
          </a:prstGeom>
          <a:noFill/>
          <a:ln/>
        </p:spPr>
        <p:txBody>
          <a:bodyPr wrap="square" lIns="0" tIns="0" rIns="0" bIns="0" rtlCol="0" anchor="ctr"/>
          <a:lstStyle/>
          <a:p>
            <a:pPr marL="0" indent="0">
              <a:buNone/>
            </a:pPr>
            <a:r>
              <a:rPr lang="en-US" sz="1100" dirty="0">
                <a:solidFill>
                  <a:srgbClr val="11121A"/>
                </a:solidFill>
                <a:latin typeface="Palatino Linotype" pitchFamily="34" charset="0"/>
                <a:ea typeface="Palatino Linotype" pitchFamily="34" charset="-122"/>
                <a:cs typeface="Palatino Linotype" pitchFamily="34" charset="-120"/>
              </a:rPr>
              <a:t>decese în registre și nicio formă SEVERĂ, după proprietar, din peste 70 de muncitori: „none of them had suffered from cholera, — at least in a severe form, — only two having been indisposed”.</a:t>
            </a:r>
            <a:endParaRPr lang="en-US" sz="1100" dirty="0"/>
          </a:p>
        </p:txBody>
      </p:sp>
      <p:sp>
        <p:nvSpPr>
          <p:cNvPr id="9" name="Shape 7"/>
          <p:cNvSpPr/>
          <p:nvPr/>
        </p:nvSpPr>
        <p:spPr>
          <a:xfrm>
            <a:off x="6217920" y="1783080"/>
            <a:ext cx="5349240" cy="2331720"/>
          </a:xfrm>
          <a:prstGeom prst="roundRect">
            <a:avLst>
              <a:gd name="adj" fmla="val 3529"/>
            </a:avLst>
          </a:prstGeom>
          <a:solidFill>
            <a:srgbClr val="ECEAE4"/>
          </a:solidFill>
          <a:ln w="12700">
            <a:solidFill>
              <a:srgbClr val="ECEAE4"/>
            </a:solidFill>
            <a:prstDash val="solid"/>
          </a:ln>
        </p:spPr>
        <p:txBody>
          <a:bodyPr/>
          <a:lstStyle/>
          <a:p>
            <a:endParaRPr lang="ro-RO"/>
          </a:p>
        </p:txBody>
      </p:sp>
      <p:sp>
        <p:nvSpPr>
          <p:cNvPr id="10" name="Shape 8"/>
          <p:cNvSpPr/>
          <p:nvPr/>
        </p:nvSpPr>
        <p:spPr>
          <a:xfrm>
            <a:off x="6537960" y="1965960"/>
            <a:ext cx="3108960" cy="329184"/>
          </a:xfrm>
          <a:prstGeom prst="roundRect">
            <a:avLst>
              <a:gd name="adj" fmla="val 50000"/>
            </a:avLst>
          </a:prstGeom>
          <a:solidFill>
            <a:srgbClr val="B02532"/>
          </a:solidFill>
          <a:ln w="12700">
            <a:solidFill>
              <a:srgbClr val="B02532"/>
            </a:solidFill>
            <a:prstDash val="solid"/>
          </a:ln>
        </p:spPr>
        <p:txBody>
          <a:bodyPr/>
          <a:lstStyle/>
          <a:p>
            <a:endParaRPr lang="ro-RO"/>
          </a:p>
        </p:txBody>
      </p:sp>
      <p:sp>
        <p:nvSpPr>
          <p:cNvPr id="11" name="Text 9"/>
          <p:cNvSpPr/>
          <p:nvPr/>
        </p:nvSpPr>
        <p:spPr>
          <a:xfrm>
            <a:off x="6537960" y="1965960"/>
            <a:ext cx="310896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Palatino Linotype" pitchFamily="34" charset="0"/>
                <a:ea typeface="Palatino Linotype" pitchFamily="34" charset="-122"/>
                <a:cs typeface="Palatino Linotype" pitchFamily="34" charset="-120"/>
              </a:rPr>
              <a:t>FABRICA, NR. 37</a:t>
            </a:r>
            <a:endParaRPr lang="en-US" sz="1100" dirty="0"/>
          </a:p>
        </p:txBody>
      </p:sp>
      <p:sp>
        <p:nvSpPr>
          <p:cNvPr id="12" name="Text 10"/>
          <p:cNvSpPr/>
          <p:nvPr/>
        </p:nvSpPr>
        <p:spPr>
          <a:xfrm>
            <a:off x="6537960" y="2423160"/>
            <a:ext cx="2011680" cy="914400"/>
          </a:xfrm>
          <a:prstGeom prst="rect">
            <a:avLst/>
          </a:prstGeom>
          <a:noFill/>
          <a:ln/>
        </p:spPr>
        <p:txBody>
          <a:bodyPr wrap="square" lIns="0" tIns="0" rIns="0" bIns="0" rtlCol="0" anchor="ctr"/>
          <a:lstStyle/>
          <a:p>
            <a:pPr marL="0" indent="0">
              <a:buNone/>
            </a:pPr>
            <a:r>
              <a:rPr lang="en-US" sz="6400" b="1" dirty="0">
                <a:solidFill>
                  <a:srgbClr val="B02532"/>
                </a:solidFill>
                <a:latin typeface="Palatino Linotype" pitchFamily="34" charset="0"/>
                <a:ea typeface="Palatino Linotype" pitchFamily="34" charset="-122"/>
                <a:cs typeface="Palatino Linotype" pitchFamily="34" charset="-120"/>
              </a:rPr>
              <a:t>18</a:t>
            </a:r>
            <a:endParaRPr lang="en-US" sz="6400" dirty="0"/>
          </a:p>
        </p:txBody>
      </p:sp>
      <p:sp>
        <p:nvSpPr>
          <p:cNvPr id="13" name="Text 11"/>
          <p:cNvSpPr/>
          <p:nvPr/>
        </p:nvSpPr>
        <p:spPr>
          <a:xfrm>
            <a:off x="8641080" y="2468880"/>
            <a:ext cx="2697480" cy="1463040"/>
          </a:xfrm>
          <a:prstGeom prst="rect">
            <a:avLst/>
          </a:prstGeom>
          <a:noFill/>
          <a:ln/>
        </p:spPr>
        <p:txBody>
          <a:bodyPr wrap="square" lIns="0" tIns="0" rIns="0" bIns="0" rtlCol="0" anchor="ctr"/>
          <a:lstStyle/>
          <a:p>
            <a:pPr marL="0" indent="0">
              <a:buNone/>
            </a:pPr>
            <a:r>
              <a:rPr lang="en-US" sz="1250" dirty="0">
                <a:solidFill>
                  <a:srgbClr val="11121A"/>
                </a:solidFill>
                <a:latin typeface="Palatino Linotype" pitchFamily="34" charset="0"/>
                <a:ea typeface="Palatino Linotype" pitchFamily="34" charset="-122"/>
                <a:cs typeface="Palatino Linotype" pitchFamily="34" charset="-120"/>
              </a:rPr>
              <a:t>decese, din ~200 de lucrători. Ținea DOUĂ BUTOAIE cu apă adusă de la pompa din Broad Street.</a:t>
            </a:r>
            <a:endParaRPr lang="en-US" sz="1250" dirty="0"/>
          </a:p>
        </p:txBody>
      </p:sp>
      <p:sp>
        <p:nvSpPr>
          <p:cNvPr id="14" name="Shape 12"/>
          <p:cNvSpPr/>
          <p:nvPr/>
        </p:nvSpPr>
        <p:spPr>
          <a:xfrm>
            <a:off x="594360" y="4343400"/>
            <a:ext cx="10972800" cy="868680"/>
          </a:xfrm>
          <a:prstGeom prst="roundRect">
            <a:avLst>
              <a:gd name="adj" fmla="val 9474"/>
            </a:avLst>
          </a:prstGeom>
          <a:solidFill>
            <a:srgbClr val="8A6100"/>
          </a:solidFill>
          <a:ln w="12700">
            <a:solidFill>
              <a:srgbClr val="8A6100"/>
            </a:solidFill>
            <a:prstDash val="solid"/>
          </a:ln>
        </p:spPr>
        <p:txBody>
          <a:bodyPr/>
          <a:lstStyle/>
          <a:p>
            <a:endParaRPr lang="ro-RO"/>
          </a:p>
        </p:txBody>
      </p:sp>
      <p:sp>
        <p:nvSpPr>
          <p:cNvPr id="15" name="Text 13"/>
          <p:cNvSpPr/>
          <p:nvPr/>
        </p:nvSpPr>
        <p:spPr>
          <a:xfrm>
            <a:off x="960120" y="4343400"/>
            <a:ext cx="10241280" cy="868680"/>
          </a:xfrm>
          <a:prstGeom prst="rect">
            <a:avLst/>
          </a:prstGeom>
          <a:noFill/>
          <a:ln/>
        </p:spPr>
        <p:txBody>
          <a:bodyPr wrap="square" lIns="0" tIns="0" rIns="0" bIns="0" rtlCol="0" anchor="ctr"/>
          <a:lstStyle/>
          <a:p>
            <a:pPr marL="0" indent="0">
              <a:buNone/>
            </a:pPr>
            <a:r>
              <a:rPr lang="en-US" sz="1600" b="1" dirty="0">
                <a:solidFill>
                  <a:srgbClr val="FFFFFF"/>
                </a:solidFill>
                <a:latin typeface="Palatino Linotype" pitchFamily="34" charset="0"/>
                <a:ea typeface="Palatino Linotype" pitchFamily="34" charset="-122"/>
                <a:cs typeface="Palatino Linotype" pitchFamily="34" charset="-120"/>
              </a:rPr>
              <a:t>Al treilea nu este un control negativ. Este o COHORTĂ EXPUSĂ, organizată, în interiorul aceleiași zone.</a:t>
            </a:r>
            <a:endParaRPr lang="en-US" sz="1600" dirty="0"/>
          </a:p>
        </p:txBody>
      </p:sp>
      <p:sp>
        <p:nvSpPr>
          <p:cNvPr id="16" name="Text 14"/>
          <p:cNvSpPr/>
          <p:nvPr/>
        </p:nvSpPr>
        <p:spPr>
          <a:xfrm>
            <a:off x="594360" y="5394960"/>
            <a:ext cx="10972800" cy="411480"/>
          </a:xfrm>
          <a:prstGeom prst="rect">
            <a:avLst/>
          </a:prstGeom>
          <a:noFill/>
          <a:ln/>
        </p:spPr>
        <p:txBody>
          <a:bodyPr wrap="square" lIns="0" tIns="0" rIns="0" bIns="0" rtlCol="0" anchor="ctr"/>
          <a:lstStyle/>
          <a:p>
            <a:pPr marL="0" indent="0">
              <a:buNone/>
            </a:pPr>
            <a:r>
              <a:rPr lang="en-US" sz="1450" i="1" dirty="0">
                <a:solidFill>
                  <a:srgbClr val="585A64"/>
                </a:solidFill>
                <a:latin typeface="Palatino Linotype" pitchFamily="34" charset="0"/>
                <a:ea typeface="Palatino Linotype" pitchFamily="34" charset="-122"/>
                <a:cs typeface="Palatino Linotype" pitchFamily="34" charset="-120"/>
              </a:rPr>
              <a:t>Un epidemiolog bun nu caută confirmări. Caută excepțiile aparente.</a:t>
            </a:r>
            <a:endParaRPr lang="en-US" sz="1450" dirty="0"/>
          </a:p>
        </p:txBody>
      </p:sp>
      <p:sp>
        <p:nvSpPr>
          <p:cNvPr id="17" name="Text 15"/>
          <p:cNvSpPr/>
          <p:nvPr/>
        </p:nvSpPr>
        <p:spPr>
          <a:xfrm>
            <a:off x="594360" y="5833872"/>
            <a:ext cx="10972800" cy="347472"/>
          </a:xfrm>
          <a:prstGeom prst="rect">
            <a:avLst/>
          </a:prstGeom>
          <a:noFill/>
          <a:ln/>
        </p:spPr>
        <p:txBody>
          <a:bodyPr wrap="square" lIns="0" tIns="0" rIns="0" bIns="0" rtlCol="0" anchor="ctr"/>
          <a:lstStyle/>
          <a:p>
            <a:pPr marL="0" indent="0">
              <a:buNone/>
            </a:pPr>
            <a:r>
              <a:rPr lang="en-US" sz="1250" i="1" dirty="0">
                <a:solidFill>
                  <a:srgbClr val="585A64"/>
                </a:solidFill>
                <a:latin typeface="Palatino Linotype" pitchFamily="34" charset="0"/>
                <a:ea typeface="Palatino Linotype" pitchFamily="34" charset="-122"/>
                <a:cs typeface="Palatino Linotype" pitchFamily="34" charset="-120"/>
              </a:rPr>
              <a:t>Diferență reziduală de declarat la berărie: efectul lucrătorului sănătos. Berăria angaja bărbați adulți capabili de muncă fizică. Iar 70 de oameni nu susțin singuri nicio concluzie.</a:t>
            </a:r>
            <a:endParaRPr lang="en-US" sz="1250" dirty="0"/>
          </a:p>
        </p:txBody>
      </p:sp>
      <p:sp>
        <p:nvSpPr>
          <p:cNvPr id="18" name="Text 16"/>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585A64"/>
                </a:solidFill>
                <a:latin typeface="Palatino Linotype" pitchFamily="34" charset="0"/>
                <a:ea typeface="Palatino Linotype" pitchFamily="34" charset="-122"/>
                <a:cs typeface="Palatino Linotype" pitchFamily="34" charset="-120"/>
              </a:rPr>
              <a:t>Sursa: Snow J. On the Mode of Communication of Cholera, ed. 2, 1855, pp. 42–43.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1121A"/>
        </a:solidFill>
        <a:effectLst/>
      </p:bgPr>
    </p:bg>
    <p:spTree>
      <p:nvGrpSpPr>
        <p:cNvPr id="1" name=""/>
        <p:cNvGrpSpPr/>
        <p:nvPr/>
      </p:nvGrpSpPr>
      <p:grpSpPr>
        <a:xfrm>
          <a:off x="0" y="0"/>
          <a:ext cx="0" cy="0"/>
          <a:chOff x="0" y="0"/>
          <a:chExt cx="0" cy="0"/>
        </a:xfrm>
      </p:grpSpPr>
      <p:sp>
        <p:nvSpPr>
          <p:cNvPr id="2" name="Shape 0"/>
          <p:cNvSpPr/>
          <p:nvPr/>
        </p:nvSpPr>
        <p:spPr>
          <a:xfrm>
            <a:off x="594360" y="329184"/>
            <a:ext cx="3840480" cy="402336"/>
          </a:xfrm>
          <a:prstGeom prst="roundRect">
            <a:avLst>
              <a:gd name="adj" fmla="val 50000"/>
            </a:avLst>
          </a:prstGeom>
          <a:solidFill>
            <a:srgbClr val="FF4757"/>
          </a:solidFill>
          <a:ln w="12700">
            <a:solidFill>
              <a:srgbClr val="FF4757"/>
            </a:solidFill>
            <a:prstDash val="solid"/>
          </a:ln>
        </p:spPr>
        <p:txBody>
          <a:bodyPr/>
          <a:lstStyle/>
          <a:p>
            <a:endParaRPr lang="ro-RO"/>
          </a:p>
        </p:txBody>
      </p:sp>
      <p:sp>
        <p:nvSpPr>
          <p:cNvPr id="3" name="Text 1"/>
          <p:cNvSpPr/>
          <p:nvPr/>
        </p:nvSpPr>
        <p:spPr>
          <a:xfrm>
            <a:off x="594360" y="329184"/>
            <a:ext cx="3840480" cy="402336"/>
          </a:xfrm>
          <a:prstGeom prst="rect">
            <a:avLst/>
          </a:prstGeom>
          <a:noFill/>
          <a:ln/>
        </p:spPr>
        <p:txBody>
          <a:bodyPr wrap="square" lIns="0" tIns="0" rIns="0" bIns="0" rtlCol="0" anchor="ctr"/>
          <a:lstStyle/>
          <a:p>
            <a:pPr marL="0" indent="0" algn="ctr">
              <a:buNone/>
            </a:pPr>
            <a:r>
              <a:rPr lang="en-US" sz="1050" b="1" dirty="0">
                <a:solidFill>
                  <a:srgbClr val="2E060B"/>
                </a:solidFill>
                <a:latin typeface="Palatino Linotype" pitchFamily="34" charset="0"/>
                <a:ea typeface="Palatino Linotype" pitchFamily="34" charset="-122"/>
                <a:cs typeface="Palatino Linotype" pitchFamily="34" charset="-120"/>
              </a:rPr>
              <a:t>CE NU E ÎN LEGENDĂ  ·  02</a:t>
            </a:r>
            <a:endParaRPr lang="en-US" sz="1050" dirty="0"/>
          </a:p>
        </p:txBody>
      </p:sp>
      <p:sp>
        <p:nvSpPr>
          <p:cNvPr id="4" name="Text 2"/>
          <p:cNvSpPr/>
          <p:nvPr/>
        </p:nvSpPr>
        <p:spPr>
          <a:xfrm>
            <a:off x="594360" y="694944"/>
            <a:ext cx="10972800" cy="960120"/>
          </a:xfrm>
          <a:prstGeom prst="rect">
            <a:avLst/>
          </a:prstGeom>
          <a:noFill/>
          <a:ln/>
        </p:spPr>
        <p:txBody>
          <a:bodyPr wrap="square" lIns="0" tIns="0" rIns="0" bIns="0" rtlCol="0" anchor="t"/>
          <a:lstStyle/>
          <a:p>
            <a:pPr marL="0" indent="0">
              <a:buNone/>
            </a:pPr>
            <a:r>
              <a:rPr lang="en-US" sz="3200" b="1" dirty="0">
                <a:solidFill>
                  <a:srgbClr val="FFFFFF"/>
                </a:solidFill>
                <a:latin typeface="Palatino Linotype" pitchFamily="34" charset="0"/>
                <a:ea typeface="Palatino Linotype" pitchFamily="34" charset="-122"/>
                <a:cs typeface="Palatino Linotype" pitchFamily="34" charset="-120"/>
              </a:rPr>
              <a:t>Cine părea expus și NU s-a îmbolnăvit?</a:t>
            </a:r>
            <a:endParaRPr lang="en-US" sz="3200" dirty="0"/>
          </a:p>
        </p:txBody>
      </p:sp>
      <p:sp>
        <p:nvSpPr>
          <p:cNvPr id="5" name="Shape 3"/>
          <p:cNvSpPr/>
          <p:nvPr/>
        </p:nvSpPr>
        <p:spPr>
          <a:xfrm>
            <a:off x="594360" y="1737360"/>
            <a:ext cx="10972800" cy="621792"/>
          </a:xfrm>
          <a:prstGeom prst="roundRect">
            <a:avLst>
              <a:gd name="adj" fmla="val 13235"/>
            </a:avLst>
          </a:prstGeom>
          <a:solidFill>
            <a:srgbClr val="2E3242"/>
          </a:solidFill>
          <a:ln w="12700">
            <a:solidFill>
              <a:srgbClr val="2E3242"/>
            </a:solidFill>
            <a:prstDash val="solid"/>
          </a:ln>
        </p:spPr>
        <p:txBody>
          <a:bodyPr/>
          <a:lstStyle/>
          <a:p>
            <a:endParaRPr lang="ro-RO"/>
          </a:p>
        </p:txBody>
      </p:sp>
      <p:sp>
        <p:nvSpPr>
          <p:cNvPr id="6" name="Text 4"/>
          <p:cNvSpPr/>
          <p:nvPr/>
        </p:nvSpPr>
        <p:spPr>
          <a:xfrm>
            <a:off x="914400" y="1737360"/>
            <a:ext cx="2743200" cy="621792"/>
          </a:xfrm>
          <a:prstGeom prst="rect">
            <a:avLst/>
          </a:prstGeom>
          <a:noFill/>
          <a:ln/>
        </p:spPr>
        <p:txBody>
          <a:bodyPr wrap="square" lIns="0" tIns="0" rIns="0" bIns="0" rtlCol="0" anchor="ctr"/>
          <a:lstStyle/>
          <a:p>
            <a:pPr marL="0" indent="0">
              <a:buNone/>
            </a:pPr>
            <a:r>
              <a:rPr lang="en-US" sz="1150" b="1" dirty="0">
                <a:solidFill>
                  <a:srgbClr val="FFC24B"/>
                </a:solidFill>
                <a:latin typeface="Palatino Linotype" pitchFamily="34" charset="0"/>
                <a:ea typeface="Palatino Linotype" pitchFamily="34" charset="-122"/>
                <a:cs typeface="Palatino Linotype" pitchFamily="34" charset="-120"/>
              </a:rPr>
              <a:t>Locul</a:t>
            </a:r>
            <a:endParaRPr lang="en-US" sz="1150" dirty="0"/>
          </a:p>
        </p:txBody>
      </p:sp>
      <p:sp>
        <p:nvSpPr>
          <p:cNvPr id="7" name="Text 5"/>
          <p:cNvSpPr/>
          <p:nvPr/>
        </p:nvSpPr>
        <p:spPr>
          <a:xfrm>
            <a:off x="3794760" y="1737360"/>
            <a:ext cx="2743200" cy="621792"/>
          </a:xfrm>
          <a:prstGeom prst="rect">
            <a:avLst/>
          </a:prstGeom>
          <a:noFill/>
          <a:ln/>
        </p:spPr>
        <p:txBody>
          <a:bodyPr wrap="square" lIns="0" tIns="0" rIns="0" bIns="0" rtlCol="0" anchor="ctr"/>
          <a:lstStyle/>
          <a:p>
            <a:pPr marL="0" indent="0">
              <a:buNone/>
            </a:pPr>
            <a:r>
              <a:rPr lang="en-US" sz="1150" b="1" dirty="0">
                <a:solidFill>
                  <a:srgbClr val="FFC24B"/>
                </a:solidFill>
                <a:latin typeface="Palatino Linotype" pitchFamily="34" charset="0"/>
                <a:ea typeface="Palatino Linotype" pitchFamily="34" charset="-122"/>
                <a:cs typeface="Palatino Linotype" pitchFamily="34" charset="-120"/>
              </a:rPr>
              <a:t>Expunerea la apa Broad Street</a:t>
            </a:r>
            <a:endParaRPr lang="en-US" sz="1150" dirty="0"/>
          </a:p>
        </p:txBody>
      </p:sp>
      <p:sp>
        <p:nvSpPr>
          <p:cNvPr id="8" name="Text 6"/>
          <p:cNvSpPr/>
          <p:nvPr/>
        </p:nvSpPr>
        <p:spPr>
          <a:xfrm>
            <a:off x="6675120" y="1737360"/>
            <a:ext cx="822960" cy="621792"/>
          </a:xfrm>
          <a:prstGeom prst="rect">
            <a:avLst/>
          </a:prstGeom>
          <a:noFill/>
          <a:ln/>
        </p:spPr>
        <p:txBody>
          <a:bodyPr wrap="square" lIns="0" tIns="0" rIns="0" bIns="0" rtlCol="0" anchor="ctr"/>
          <a:lstStyle/>
          <a:p>
            <a:pPr marL="0" indent="0" algn="r">
              <a:buNone/>
            </a:pPr>
            <a:r>
              <a:rPr lang="en-US" sz="1150" b="1" dirty="0">
                <a:solidFill>
                  <a:srgbClr val="FFC24B"/>
                </a:solidFill>
                <a:latin typeface="Palatino Linotype" pitchFamily="34" charset="0"/>
                <a:ea typeface="Palatino Linotype" pitchFamily="34" charset="-122"/>
                <a:cs typeface="Palatino Linotype" pitchFamily="34" charset="-120"/>
              </a:rPr>
              <a:t>Pop.</a:t>
            </a:r>
            <a:endParaRPr lang="en-US" sz="1150" dirty="0"/>
          </a:p>
        </p:txBody>
      </p:sp>
      <p:sp>
        <p:nvSpPr>
          <p:cNvPr id="9" name="Text 7"/>
          <p:cNvSpPr/>
          <p:nvPr/>
        </p:nvSpPr>
        <p:spPr>
          <a:xfrm>
            <a:off x="7635240" y="1737360"/>
            <a:ext cx="777240" cy="621792"/>
          </a:xfrm>
          <a:prstGeom prst="rect">
            <a:avLst/>
          </a:prstGeom>
          <a:noFill/>
          <a:ln/>
        </p:spPr>
        <p:txBody>
          <a:bodyPr wrap="square" lIns="0" tIns="0" rIns="0" bIns="0" rtlCol="0" anchor="ctr"/>
          <a:lstStyle/>
          <a:p>
            <a:pPr marL="0" indent="0" algn="r">
              <a:buNone/>
            </a:pPr>
            <a:r>
              <a:rPr lang="en-US" sz="1150" b="1" dirty="0">
                <a:solidFill>
                  <a:srgbClr val="FFC24B"/>
                </a:solidFill>
                <a:latin typeface="Palatino Linotype" pitchFamily="34" charset="0"/>
                <a:ea typeface="Palatino Linotype" pitchFamily="34" charset="-122"/>
                <a:cs typeface="Palatino Linotype" pitchFamily="34" charset="-120"/>
              </a:rPr>
              <a:t>Rezultat</a:t>
            </a:r>
            <a:endParaRPr lang="en-US" sz="1150" dirty="0"/>
          </a:p>
        </p:txBody>
      </p:sp>
      <p:sp>
        <p:nvSpPr>
          <p:cNvPr id="10" name="Text 8"/>
          <p:cNvSpPr/>
          <p:nvPr/>
        </p:nvSpPr>
        <p:spPr>
          <a:xfrm>
            <a:off x="8641080" y="1737360"/>
            <a:ext cx="2697480" cy="621792"/>
          </a:xfrm>
          <a:prstGeom prst="rect">
            <a:avLst/>
          </a:prstGeom>
          <a:noFill/>
          <a:ln/>
        </p:spPr>
        <p:txBody>
          <a:bodyPr wrap="square" lIns="0" tIns="0" rIns="0" bIns="0" rtlCol="0" anchor="ctr"/>
          <a:lstStyle/>
          <a:p>
            <a:pPr marL="0" indent="0">
              <a:buNone/>
            </a:pPr>
            <a:r>
              <a:rPr lang="en-US" sz="1100" b="1" dirty="0">
                <a:solidFill>
                  <a:srgbClr val="FFC24B"/>
                </a:solidFill>
                <a:latin typeface="Palatino Linotype" pitchFamily="34" charset="0"/>
                <a:ea typeface="Palatino Linotype" pitchFamily="34" charset="-122"/>
                <a:cs typeface="Palatino Linotype" pitchFamily="34" charset="-120"/>
              </a:rPr>
              <a:t>Cum a fost stabilit rezultatul</a:t>
            </a:r>
            <a:endParaRPr lang="en-US" sz="1100" dirty="0"/>
          </a:p>
        </p:txBody>
      </p:sp>
      <p:sp>
        <p:nvSpPr>
          <p:cNvPr id="11" name="Shape 9"/>
          <p:cNvSpPr/>
          <p:nvPr/>
        </p:nvSpPr>
        <p:spPr>
          <a:xfrm>
            <a:off x="594360" y="2468880"/>
            <a:ext cx="10972800" cy="621792"/>
          </a:xfrm>
          <a:prstGeom prst="roundRect">
            <a:avLst>
              <a:gd name="adj" fmla="val 13235"/>
            </a:avLst>
          </a:prstGeom>
          <a:solidFill>
            <a:srgbClr val="1D1F2B"/>
          </a:solidFill>
          <a:ln w="12700">
            <a:solidFill>
              <a:srgbClr val="1D1F2B"/>
            </a:solidFill>
            <a:prstDash val="solid"/>
          </a:ln>
        </p:spPr>
        <p:txBody>
          <a:bodyPr/>
          <a:lstStyle/>
          <a:p>
            <a:endParaRPr lang="ro-RO"/>
          </a:p>
        </p:txBody>
      </p:sp>
      <p:sp>
        <p:nvSpPr>
          <p:cNvPr id="12" name="Text 10"/>
          <p:cNvSpPr/>
          <p:nvPr/>
        </p:nvSpPr>
        <p:spPr>
          <a:xfrm>
            <a:off x="914400" y="2468880"/>
            <a:ext cx="2743200" cy="621792"/>
          </a:xfrm>
          <a:prstGeom prst="rect">
            <a:avLst/>
          </a:prstGeom>
          <a:noFill/>
          <a:ln/>
        </p:spPr>
        <p:txBody>
          <a:bodyPr wrap="square" lIns="0" tIns="0" rIns="0" bIns="0" rtlCol="0" anchor="ctr"/>
          <a:lstStyle/>
          <a:p>
            <a:pPr marL="0" indent="0">
              <a:buNone/>
            </a:pPr>
            <a:r>
              <a:rPr lang="en-US" sz="1300" b="1" dirty="0">
                <a:solidFill>
                  <a:srgbClr val="FFFFFF"/>
                </a:solidFill>
                <a:latin typeface="Palatino Linotype" pitchFamily="34" charset="0"/>
                <a:ea typeface="Palatino Linotype" pitchFamily="34" charset="-122"/>
                <a:cs typeface="Palatino Linotype" pitchFamily="34" charset="-120"/>
              </a:rPr>
              <a:t>Casa de muncă Poland St.</a:t>
            </a:r>
            <a:endParaRPr lang="en-US" sz="1300" dirty="0"/>
          </a:p>
        </p:txBody>
      </p:sp>
      <p:sp>
        <p:nvSpPr>
          <p:cNvPr id="13" name="Text 11"/>
          <p:cNvSpPr/>
          <p:nvPr/>
        </p:nvSpPr>
        <p:spPr>
          <a:xfrm>
            <a:off x="3794760" y="2468880"/>
            <a:ext cx="2743200" cy="621792"/>
          </a:xfrm>
          <a:prstGeom prst="rect">
            <a:avLst/>
          </a:prstGeom>
          <a:noFill/>
          <a:ln/>
        </p:spPr>
        <p:txBody>
          <a:bodyPr wrap="square" lIns="0" tIns="0" rIns="0" bIns="0" rtlCol="0" anchor="ctr"/>
          <a:lstStyle/>
          <a:p>
            <a:pPr marL="0" indent="0">
              <a:buNone/>
            </a:pPr>
            <a:r>
              <a:rPr lang="en-US" sz="1150" dirty="0">
                <a:solidFill>
                  <a:srgbClr val="959BB0"/>
                </a:solidFill>
                <a:latin typeface="Palatino Linotype" pitchFamily="34" charset="0"/>
                <a:ea typeface="Palatino Linotype" pitchFamily="34" charset="-122"/>
                <a:cs typeface="Palatino Linotype" pitchFamily="34" charset="-120"/>
              </a:rPr>
              <a:t>absentă — fântână proprie + Grand Junction</a:t>
            </a:r>
            <a:endParaRPr lang="en-US" sz="1150" dirty="0"/>
          </a:p>
        </p:txBody>
      </p:sp>
      <p:sp>
        <p:nvSpPr>
          <p:cNvPr id="14" name="Text 12"/>
          <p:cNvSpPr/>
          <p:nvPr/>
        </p:nvSpPr>
        <p:spPr>
          <a:xfrm>
            <a:off x="6675120" y="2468880"/>
            <a:ext cx="822960" cy="621792"/>
          </a:xfrm>
          <a:prstGeom prst="rect">
            <a:avLst/>
          </a:prstGeom>
          <a:noFill/>
          <a:ln/>
        </p:spPr>
        <p:txBody>
          <a:bodyPr wrap="square" lIns="0" tIns="0" rIns="0" bIns="0" rtlCol="0" anchor="ctr"/>
          <a:lstStyle/>
          <a:p>
            <a:pPr marL="0" indent="0" algn="r">
              <a:buNone/>
            </a:pPr>
            <a:r>
              <a:rPr lang="en-US" sz="1300" b="1" dirty="0">
                <a:solidFill>
                  <a:srgbClr val="FFFFFF"/>
                </a:solidFill>
                <a:latin typeface="Palatino Linotype" pitchFamily="34" charset="0"/>
                <a:ea typeface="Palatino Linotype" pitchFamily="34" charset="-122"/>
                <a:cs typeface="Palatino Linotype" pitchFamily="34" charset="-120"/>
              </a:rPr>
              <a:t>535</a:t>
            </a:r>
            <a:endParaRPr lang="en-US" sz="1300" dirty="0"/>
          </a:p>
        </p:txBody>
      </p:sp>
      <p:sp>
        <p:nvSpPr>
          <p:cNvPr id="15" name="Text 13"/>
          <p:cNvSpPr/>
          <p:nvPr/>
        </p:nvSpPr>
        <p:spPr>
          <a:xfrm>
            <a:off x="7635240" y="2468880"/>
            <a:ext cx="777240" cy="621792"/>
          </a:xfrm>
          <a:prstGeom prst="rect">
            <a:avLst/>
          </a:prstGeom>
          <a:noFill/>
          <a:ln/>
        </p:spPr>
        <p:txBody>
          <a:bodyPr wrap="square" lIns="0" tIns="0" rIns="0" bIns="0" rtlCol="0" anchor="ctr"/>
          <a:lstStyle/>
          <a:p>
            <a:pPr marL="0" indent="0" algn="r">
              <a:buNone/>
            </a:pPr>
            <a:r>
              <a:rPr lang="en-US" sz="1900" b="1" dirty="0">
                <a:solidFill>
                  <a:srgbClr val="27D3BE"/>
                </a:solidFill>
                <a:latin typeface="Palatino Linotype" pitchFamily="34" charset="0"/>
                <a:ea typeface="Palatino Linotype" pitchFamily="34" charset="-122"/>
                <a:cs typeface="Palatino Linotype" pitchFamily="34" charset="-120"/>
              </a:rPr>
              <a:t>5</a:t>
            </a:r>
            <a:endParaRPr lang="en-US" sz="1900" dirty="0"/>
          </a:p>
        </p:txBody>
      </p:sp>
      <p:sp>
        <p:nvSpPr>
          <p:cNvPr id="16" name="Text 14"/>
          <p:cNvSpPr/>
          <p:nvPr/>
        </p:nvSpPr>
        <p:spPr>
          <a:xfrm>
            <a:off x="8641080" y="2468880"/>
            <a:ext cx="2697480" cy="621792"/>
          </a:xfrm>
          <a:prstGeom prst="rect">
            <a:avLst/>
          </a:prstGeom>
          <a:noFill/>
          <a:ln/>
        </p:spPr>
        <p:txBody>
          <a:bodyPr wrap="square" lIns="0" tIns="0" rIns="0" bIns="0" rtlCol="0" anchor="ctr"/>
          <a:lstStyle/>
          <a:p>
            <a:pPr marL="0" indent="0">
              <a:buNone/>
            </a:pPr>
            <a:r>
              <a:rPr lang="en-US" sz="1050" i="1" dirty="0">
                <a:solidFill>
                  <a:srgbClr val="959BB0"/>
                </a:solidFill>
                <a:latin typeface="Palatino Linotype" pitchFamily="34" charset="0"/>
                <a:ea typeface="Palatino Linotype" pitchFamily="34" charset="-122"/>
                <a:cs typeface="Palatino Linotype" pitchFamily="34" charset="-120"/>
              </a:rPr>
              <a:t>decese; Snow nu spune de unde are cifra</a:t>
            </a:r>
            <a:endParaRPr lang="en-US" sz="1050" dirty="0"/>
          </a:p>
        </p:txBody>
      </p:sp>
      <p:sp>
        <p:nvSpPr>
          <p:cNvPr id="17" name="Shape 15"/>
          <p:cNvSpPr/>
          <p:nvPr/>
        </p:nvSpPr>
        <p:spPr>
          <a:xfrm>
            <a:off x="594360" y="3200400"/>
            <a:ext cx="10972800" cy="621792"/>
          </a:xfrm>
          <a:prstGeom prst="roundRect">
            <a:avLst>
              <a:gd name="adj" fmla="val 13235"/>
            </a:avLst>
          </a:prstGeom>
          <a:solidFill>
            <a:srgbClr val="272A38"/>
          </a:solidFill>
          <a:ln w="12700">
            <a:solidFill>
              <a:srgbClr val="272A38"/>
            </a:solidFill>
            <a:prstDash val="solid"/>
          </a:ln>
        </p:spPr>
        <p:txBody>
          <a:bodyPr/>
          <a:lstStyle/>
          <a:p>
            <a:endParaRPr lang="ro-RO"/>
          </a:p>
        </p:txBody>
      </p:sp>
      <p:sp>
        <p:nvSpPr>
          <p:cNvPr id="18" name="Text 16"/>
          <p:cNvSpPr/>
          <p:nvPr/>
        </p:nvSpPr>
        <p:spPr>
          <a:xfrm>
            <a:off x="914400" y="3200400"/>
            <a:ext cx="2743200" cy="621792"/>
          </a:xfrm>
          <a:prstGeom prst="rect">
            <a:avLst/>
          </a:prstGeom>
          <a:noFill/>
          <a:ln/>
        </p:spPr>
        <p:txBody>
          <a:bodyPr wrap="square" lIns="0" tIns="0" rIns="0" bIns="0" rtlCol="0" anchor="ctr"/>
          <a:lstStyle/>
          <a:p>
            <a:pPr marL="0" indent="0">
              <a:buNone/>
            </a:pPr>
            <a:r>
              <a:rPr lang="en-US" sz="1300" b="1" dirty="0">
                <a:solidFill>
                  <a:srgbClr val="FFFFFF"/>
                </a:solidFill>
                <a:latin typeface="Palatino Linotype" pitchFamily="34" charset="0"/>
                <a:ea typeface="Palatino Linotype" pitchFamily="34" charset="-122"/>
                <a:cs typeface="Palatino Linotype" pitchFamily="34" charset="-120"/>
              </a:rPr>
              <a:t>Berăria</a:t>
            </a:r>
            <a:endParaRPr lang="en-US" sz="1300" dirty="0"/>
          </a:p>
        </p:txBody>
      </p:sp>
      <p:sp>
        <p:nvSpPr>
          <p:cNvPr id="19" name="Text 17"/>
          <p:cNvSpPr/>
          <p:nvPr/>
        </p:nvSpPr>
        <p:spPr>
          <a:xfrm>
            <a:off x="3794760" y="3200400"/>
            <a:ext cx="2743200" cy="621792"/>
          </a:xfrm>
          <a:prstGeom prst="rect">
            <a:avLst/>
          </a:prstGeom>
          <a:noFill/>
          <a:ln/>
        </p:spPr>
        <p:txBody>
          <a:bodyPr wrap="square" lIns="0" tIns="0" rIns="0" bIns="0" rtlCol="0" anchor="ctr"/>
          <a:lstStyle/>
          <a:p>
            <a:pPr marL="0" indent="0">
              <a:buNone/>
            </a:pPr>
            <a:r>
              <a:rPr lang="en-US" sz="1150" dirty="0">
                <a:solidFill>
                  <a:srgbClr val="959BB0"/>
                </a:solidFill>
                <a:latin typeface="Palatino Linotype" pitchFamily="34" charset="0"/>
                <a:ea typeface="Palatino Linotype" pitchFamily="34" charset="-122"/>
                <a:cs typeface="Palatino Linotype" pitchFamily="34" charset="-120"/>
              </a:rPr>
              <a:t>absentă — bere de malț + fântână adâncă</a:t>
            </a:r>
            <a:endParaRPr lang="en-US" sz="1150" dirty="0"/>
          </a:p>
        </p:txBody>
      </p:sp>
      <p:sp>
        <p:nvSpPr>
          <p:cNvPr id="20" name="Text 18"/>
          <p:cNvSpPr/>
          <p:nvPr/>
        </p:nvSpPr>
        <p:spPr>
          <a:xfrm>
            <a:off x="6675120" y="3200400"/>
            <a:ext cx="822960" cy="621792"/>
          </a:xfrm>
          <a:prstGeom prst="rect">
            <a:avLst/>
          </a:prstGeom>
          <a:noFill/>
          <a:ln/>
        </p:spPr>
        <p:txBody>
          <a:bodyPr wrap="square" lIns="0" tIns="0" rIns="0" bIns="0" rtlCol="0" anchor="ctr"/>
          <a:lstStyle/>
          <a:p>
            <a:pPr marL="0" indent="0" algn="r">
              <a:buNone/>
            </a:pPr>
            <a:r>
              <a:rPr lang="en-US" sz="1300" b="1" dirty="0">
                <a:solidFill>
                  <a:srgbClr val="FFFFFF"/>
                </a:solidFill>
                <a:latin typeface="Palatino Linotype" pitchFamily="34" charset="0"/>
                <a:ea typeface="Palatino Linotype" pitchFamily="34" charset="-122"/>
                <a:cs typeface="Palatino Linotype" pitchFamily="34" charset="-120"/>
              </a:rPr>
              <a:t>&gt; 70</a:t>
            </a:r>
            <a:endParaRPr lang="en-US" sz="1300" dirty="0"/>
          </a:p>
        </p:txBody>
      </p:sp>
      <p:sp>
        <p:nvSpPr>
          <p:cNvPr id="21" name="Text 19"/>
          <p:cNvSpPr/>
          <p:nvPr/>
        </p:nvSpPr>
        <p:spPr>
          <a:xfrm>
            <a:off x="7635240" y="3200400"/>
            <a:ext cx="777240" cy="621792"/>
          </a:xfrm>
          <a:prstGeom prst="rect">
            <a:avLst/>
          </a:prstGeom>
          <a:noFill/>
          <a:ln/>
        </p:spPr>
        <p:txBody>
          <a:bodyPr wrap="square" lIns="0" tIns="0" rIns="0" bIns="0" rtlCol="0" anchor="ctr"/>
          <a:lstStyle/>
          <a:p>
            <a:pPr marL="0" indent="0" algn="r">
              <a:buNone/>
            </a:pPr>
            <a:r>
              <a:rPr lang="en-US" sz="1900" b="1" dirty="0">
                <a:solidFill>
                  <a:srgbClr val="27D3BE"/>
                </a:solidFill>
                <a:latin typeface="Palatino Linotype" pitchFamily="34" charset="0"/>
                <a:ea typeface="Palatino Linotype" pitchFamily="34" charset="-122"/>
                <a:cs typeface="Palatino Linotype" pitchFamily="34" charset="-120"/>
              </a:rPr>
              <a:t>0</a:t>
            </a:r>
            <a:endParaRPr lang="en-US" sz="1900" dirty="0"/>
          </a:p>
        </p:txBody>
      </p:sp>
      <p:sp>
        <p:nvSpPr>
          <p:cNvPr id="22" name="Text 20"/>
          <p:cNvSpPr/>
          <p:nvPr/>
        </p:nvSpPr>
        <p:spPr>
          <a:xfrm>
            <a:off x="8641080" y="3200400"/>
            <a:ext cx="2697480" cy="621792"/>
          </a:xfrm>
          <a:prstGeom prst="rect">
            <a:avLst/>
          </a:prstGeom>
          <a:noFill/>
          <a:ln/>
        </p:spPr>
        <p:txBody>
          <a:bodyPr wrap="square" lIns="0" tIns="0" rIns="0" bIns="0" rtlCol="0" anchor="ctr"/>
          <a:lstStyle/>
          <a:p>
            <a:pPr marL="0" indent="0">
              <a:buNone/>
            </a:pPr>
            <a:r>
              <a:rPr lang="en-US" sz="1050" i="1" dirty="0">
                <a:solidFill>
                  <a:srgbClr val="959BB0"/>
                </a:solidFill>
                <a:latin typeface="Palatino Linotype" pitchFamily="34" charset="0"/>
                <a:ea typeface="Palatino Linotype" pitchFamily="34" charset="-122"/>
                <a:cs typeface="Palatino Linotype" pitchFamily="34" charset="-120"/>
              </a:rPr>
              <a:t>decese: registre; forme severe: proprietarul</a:t>
            </a:r>
            <a:endParaRPr lang="en-US" sz="1050" dirty="0"/>
          </a:p>
        </p:txBody>
      </p:sp>
      <p:sp>
        <p:nvSpPr>
          <p:cNvPr id="23" name="Shape 21"/>
          <p:cNvSpPr/>
          <p:nvPr/>
        </p:nvSpPr>
        <p:spPr>
          <a:xfrm>
            <a:off x="594360" y="3931920"/>
            <a:ext cx="10972800" cy="621792"/>
          </a:xfrm>
          <a:prstGeom prst="roundRect">
            <a:avLst>
              <a:gd name="adj" fmla="val 13235"/>
            </a:avLst>
          </a:prstGeom>
          <a:solidFill>
            <a:srgbClr val="1D1F2B"/>
          </a:solidFill>
          <a:ln w="12700">
            <a:solidFill>
              <a:srgbClr val="1D1F2B"/>
            </a:solidFill>
            <a:prstDash val="solid"/>
          </a:ln>
        </p:spPr>
        <p:txBody>
          <a:bodyPr/>
          <a:lstStyle/>
          <a:p>
            <a:endParaRPr lang="ro-RO"/>
          </a:p>
        </p:txBody>
      </p:sp>
      <p:sp>
        <p:nvSpPr>
          <p:cNvPr id="24" name="Text 22"/>
          <p:cNvSpPr/>
          <p:nvPr/>
        </p:nvSpPr>
        <p:spPr>
          <a:xfrm>
            <a:off x="914400" y="3931920"/>
            <a:ext cx="2743200" cy="621792"/>
          </a:xfrm>
          <a:prstGeom prst="rect">
            <a:avLst/>
          </a:prstGeom>
          <a:noFill/>
          <a:ln/>
        </p:spPr>
        <p:txBody>
          <a:bodyPr wrap="square" lIns="0" tIns="0" rIns="0" bIns="0" rtlCol="0" anchor="ctr"/>
          <a:lstStyle/>
          <a:p>
            <a:pPr marL="0" indent="0">
              <a:buNone/>
            </a:pPr>
            <a:r>
              <a:rPr lang="en-US" sz="1300" b="1" dirty="0">
                <a:solidFill>
                  <a:srgbClr val="FFFFFF"/>
                </a:solidFill>
                <a:latin typeface="Palatino Linotype" pitchFamily="34" charset="0"/>
                <a:ea typeface="Palatino Linotype" pitchFamily="34" charset="-122"/>
                <a:cs typeface="Palatino Linotype" pitchFamily="34" charset="-120"/>
              </a:rPr>
              <a:t>Fabrica de capse, nr. 37</a:t>
            </a:r>
            <a:endParaRPr lang="en-US" sz="1300" dirty="0"/>
          </a:p>
        </p:txBody>
      </p:sp>
      <p:sp>
        <p:nvSpPr>
          <p:cNvPr id="25" name="Text 23"/>
          <p:cNvSpPr/>
          <p:nvPr/>
        </p:nvSpPr>
        <p:spPr>
          <a:xfrm>
            <a:off x="3794760" y="3931920"/>
            <a:ext cx="2743200" cy="621792"/>
          </a:xfrm>
          <a:prstGeom prst="rect">
            <a:avLst/>
          </a:prstGeom>
          <a:noFill/>
          <a:ln/>
        </p:spPr>
        <p:txBody>
          <a:bodyPr wrap="square" lIns="0" tIns="0" rIns="0" bIns="0" rtlCol="0" anchor="ctr"/>
          <a:lstStyle/>
          <a:p>
            <a:pPr marL="0" indent="0">
              <a:buNone/>
            </a:pPr>
            <a:r>
              <a:rPr lang="en-US" sz="1150" dirty="0">
                <a:solidFill>
                  <a:srgbClr val="959BB0"/>
                </a:solidFill>
                <a:latin typeface="Palatino Linotype" pitchFamily="34" charset="0"/>
                <a:ea typeface="Palatino Linotype" pitchFamily="34" charset="-122"/>
                <a:cs typeface="Palatino Linotype" pitchFamily="34" charset="-120"/>
              </a:rPr>
              <a:t>prezentă — două butoaie</a:t>
            </a:r>
            <a:endParaRPr lang="en-US" sz="1150" dirty="0"/>
          </a:p>
        </p:txBody>
      </p:sp>
      <p:sp>
        <p:nvSpPr>
          <p:cNvPr id="26" name="Text 24"/>
          <p:cNvSpPr/>
          <p:nvPr/>
        </p:nvSpPr>
        <p:spPr>
          <a:xfrm>
            <a:off x="6675120" y="3931920"/>
            <a:ext cx="822960" cy="621792"/>
          </a:xfrm>
          <a:prstGeom prst="rect">
            <a:avLst/>
          </a:prstGeom>
          <a:noFill/>
          <a:ln/>
        </p:spPr>
        <p:txBody>
          <a:bodyPr wrap="square" lIns="0" tIns="0" rIns="0" bIns="0" rtlCol="0" anchor="ctr"/>
          <a:lstStyle/>
          <a:p>
            <a:pPr marL="0" indent="0" algn="r">
              <a:buNone/>
            </a:pPr>
            <a:r>
              <a:rPr lang="en-US" sz="1300" b="1" dirty="0">
                <a:solidFill>
                  <a:srgbClr val="FFFFFF"/>
                </a:solidFill>
                <a:latin typeface="Palatino Linotype" pitchFamily="34" charset="0"/>
                <a:ea typeface="Palatino Linotype" pitchFamily="34" charset="-122"/>
                <a:cs typeface="Palatino Linotype" pitchFamily="34" charset="-120"/>
              </a:rPr>
              <a:t>~200</a:t>
            </a:r>
            <a:endParaRPr lang="en-US" sz="1300" dirty="0"/>
          </a:p>
        </p:txBody>
      </p:sp>
      <p:sp>
        <p:nvSpPr>
          <p:cNvPr id="27" name="Text 25"/>
          <p:cNvSpPr/>
          <p:nvPr/>
        </p:nvSpPr>
        <p:spPr>
          <a:xfrm>
            <a:off x="7635240" y="3931920"/>
            <a:ext cx="777240" cy="621792"/>
          </a:xfrm>
          <a:prstGeom prst="rect">
            <a:avLst/>
          </a:prstGeom>
          <a:noFill/>
          <a:ln/>
        </p:spPr>
        <p:txBody>
          <a:bodyPr wrap="square" lIns="0" tIns="0" rIns="0" bIns="0" rtlCol="0" anchor="ctr"/>
          <a:lstStyle/>
          <a:p>
            <a:pPr marL="0" indent="0" algn="r">
              <a:buNone/>
            </a:pPr>
            <a:r>
              <a:rPr lang="en-US" sz="1900" b="1" dirty="0">
                <a:solidFill>
                  <a:srgbClr val="FF4757"/>
                </a:solidFill>
                <a:latin typeface="Palatino Linotype" pitchFamily="34" charset="0"/>
                <a:ea typeface="Palatino Linotype" pitchFamily="34" charset="-122"/>
                <a:cs typeface="Palatino Linotype" pitchFamily="34" charset="-120"/>
              </a:rPr>
              <a:t>18</a:t>
            </a:r>
            <a:endParaRPr lang="en-US" sz="1900" dirty="0"/>
          </a:p>
        </p:txBody>
      </p:sp>
      <p:sp>
        <p:nvSpPr>
          <p:cNvPr id="28" name="Text 26"/>
          <p:cNvSpPr/>
          <p:nvPr/>
        </p:nvSpPr>
        <p:spPr>
          <a:xfrm>
            <a:off x="8641080" y="3931920"/>
            <a:ext cx="2697480" cy="621792"/>
          </a:xfrm>
          <a:prstGeom prst="rect">
            <a:avLst/>
          </a:prstGeom>
          <a:noFill/>
          <a:ln/>
        </p:spPr>
        <p:txBody>
          <a:bodyPr wrap="square" lIns="0" tIns="0" rIns="0" bIns="0" rtlCol="0" anchor="ctr"/>
          <a:lstStyle/>
          <a:p>
            <a:pPr marL="0" indent="0">
              <a:buNone/>
            </a:pPr>
            <a:r>
              <a:rPr lang="en-US" sz="1050" i="1" dirty="0">
                <a:solidFill>
                  <a:srgbClr val="959BB0"/>
                </a:solidFill>
                <a:latin typeface="Palatino Linotype" pitchFamily="34" charset="0"/>
                <a:ea typeface="Palatino Linotype" pitchFamily="34" charset="-122"/>
                <a:cs typeface="Palatino Linotype" pitchFamily="34" charset="-120"/>
              </a:rPr>
              <a:t>decese la domiciliu</a:t>
            </a:r>
            <a:endParaRPr lang="en-US" sz="1050" dirty="0"/>
          </a:p>
        </p:txBody>
      </p:sp>
      <p:sp>
        <p:nvSpPr>
          <p:cNvPr id="29" name="Text 27"/>
          <p:cNvSpPr/>
          <p:nvPr/>
        </p:nvSpPr>
        <p:spPr>
          <a:xfrm>
            <a:off x="594360" y="4590288"/>
            <a:ext cx="10972800" cy="365760"/>
          </a:xfrm>
          <a:prstGeom prst="rect">
            <a:avLst/>
          </a:prstGeom>
          <a:noFill/>
          <a:ln/>
        </p:spPr>
        <p:txBody>
          <a:bodyPr wrap="square" lIns="0" tIns="0" rIns="0" bIns="0" rtlCol="0" anchor="ctr"/>
          <a:lstStyle/>
          <a:p>
            <a:pPr marL="0" indent="0">
              <a:buNone/>
            </a:pPr>
            <a:r>
              <a:rPr lang="en-US" sz="1250" i="1" dirty="0">
                <a:solidFill>
                  <a:srgbClr val="FFC24B"/>
                </a:solidFill>
                <a:latin typeface="Palatino Linotype" pitchFamily="34" charset="0"/>
                <a:ea typeface="Palatino Linotype" pitchFamily="34" charset="-122"/>
                <a:cs typeface="Palatino Linotype" pitchFamily="34" charset="-120"/>
              </a:rPr>
              <a:t>Ultima coloană ÎNAINTEA cifrelor: la berărie, absența deceselor vine din registre; a formelor severe, numai de la proprietar.</a:t>
            </a:r>
            <a:endParaRPr lang="en-US" sz="1250" dirty="0"/>
          </a:p>
        </p:txBody>
      </p:sp>
      <p:sp>
        <p:nvSpPr>
          <p:cNvPr id="30" name="Shape 28"/>
          <p:cNvSpPr/>
          <p:nvPr/>
        </p:nvSpPr>
        <p:spPr>
          <a:xfrm>
            <a:off x="594360" y="5029200"/>
            <a:ext cx="10972800" cy="1005840"/>
          </a:xfrm>
          <a:prstGeom prst="roundRect">
            <a:avLst>
              <a:gd name="adj" fmla="val 8182"/>
            </a:avLst>
          </a:prstGeom>
          <a:solidFill>
            <a:srgbClr val="FF4757"/>
          </a:solidFill>
          <a:ln w="12700">
            <a:solidFill>
              <a:srgbClr val="FF4757"/>
            </a:solidFill>
            <a:prstDash val="solid"/>
          </a:ln>
        </p:spPr>
        <p:txBody>
          <a:bodyPr/>
          <a:lstStyle/>
          <a:p>
            <a:endParaRPr lang="ro-RO"/>
          </a:p>
        </p:txBody>
      </p:sp>
      <p:sp>
        <p:nvSpPr>
          <p:cNvPr id="31" name="Text 29"/>
          <p:cNvSpPr/>
          <p:nvPr/>
        </p:nvSpPr>
        <p:spPr>
          <a:xfrm>
            <a:off x="960120" y="5029200"/>
            <a:ext cx="10241280" cy="1005840"/>
          </a:xfrm>
          <a:prstGeom prst="rect">
            <a:avLst/>
          </a:prstGeom>
          <a:noFill/>
          <a:ln/>
        </p:spPr>
        <p:txBody>
          <a:bodyPr wrap="square" lIns="0" tIns="0" rIns="0" bIns="0" rtlCol="0" anchor="ctr"/>
          <a:lstStyle/>
          <a:p>
            <a:pPr marL="0" indent="0">
              <a:buNone/>
            </a:pPr>
            <a:r>
              <a:rPr lang="en-US" sz="1350" b="1" dirty="0">
                <a:solidFill>
                  <a:srgbClr val="2E060B"/>
                </a:solidFill>
                <a:latin typeface="Palatino Linotype" pitchFamily="34" charset="0"/>
                <a:ea typeface="Palatino Linotype" pitchFamily="34" charset="-122"/>
                <a:cs typeface="Palatino Linotype" pitchFamily="34" charset="-120"/>
              </a:rPr>
              <a:t>Definiția pe care o luați cu voi NU este „un grup identic în toate privințele”. Este: un grup de comparație natural, plauzibil neexpus, cu diferențe reziduale cunoscute și DECLARATE. Comparabilitatea grupurilor este o ipoteză pe care o susțineți, nu o constatare pe care o observați.</a:t>
            </a:r>
            <a:endParaRPr lang="en-US" sz="1350" dirty="0"/>
          </a:p>
        </p:txBody>
      </p:sp>
      <p:sp>
        <p:nvSpPr>
          <p:cNvPr id="32" name="Text 30"/>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Sursa: Snow 1855, pp. 42–43.</a:t>
            </a:r>
            <a:endParaRPr lang="en-US" sz="900" dirty="0"/>
          </a:p>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În Escape Room-ul din Sesiunea 2, grupul expus care nu s-a îmbolnăvit nu este o eroare din dosar — este cheia.</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822960" y="1371600"/>
            <a:ext cx="3108960" cy="2377440"/>
          </a:xfrm>
          <a:prstGeom prst="rect">
            <a:avLst/>
          </a:prstGeom>
          <a:noFill/>
          <a:ln/>
        </p:spPr>
        <p:txBody>
          <a:bodyPr wrap="square" lIns="0" tIns="0" rIns="0" bIns="0" rtlCol="0" anchor="ctr"/>
          <a:lstStyle/>
          <a:p>
            <a:pPr marL="0" indent="0">
              <a:buNone/>
            </a:pPr>
            <a:r>
              <a:rPr lang="en-US" sz="14000" b="1" dirty="0">
                <a:solidFill>
                  <a:srgbClr val="27D3BE"/>
                </a:solidFill>
                <a:latin typeface="Palatino Linotype" pitchFamily="34" charset="0"/>
                <a:ea typeface="Palatino Linotype" pitchFamily="34" charset="-122"/>
                <a:cs typeface="Palatino Linotype" pitchFamily="34" charset="-120"/>
              </a:rPr>
              <a:t>03</a:t>
            </a:r>
            <a:endParaRPr lang="en-US" sz="14000" dirty="0"/>
          </a:p>
        </p:txBody>
      </p:sp>
      <p:sp>
        <p:nvSpPr>
          <p:cNvPr id="3" name="Shape 1"/>
          <p:cNvSpPr/>
          <p:nvPr/>
        </p:nvSpPr>
        <p:spPr>
          <a:xfrm>
            <a:off x="4206240" y="1737360"/>
            <a:ext cx="32004" cy="1737360"/>
          </a:xfrm>
          <a:prstGeom prst="rect">
            <a:avLst/>
          </a:prstGeom>
          <a:solidFill>
            <a:srgbClr val="27D3BE"/>
          </a:solidFill>
          <a:ln/>
        </p:spPr>
        <p:txBody>
          <a:bodyPr/>
          <a:lstStyle/>
          <a:p>
            <a:endParaRPr lang="ro-RO"/>
          </a:p>
        </p:txBody>
      </p:sp>
      <p:sp>
        <p:nvSpPr>
          <p:cNvPr id="4" name="Text 2"/>
          <p:cNvSpPr/>
          <p:nvPr/>
        </p:nvSpPr>
        <p:spPr>
          <a:xfrm>
            <a:off x="4709160" y="1755648"/>
            <a:ext cx="6858000" cy="1005840"/>
          </a:xfrm>
          <a:prstGeom prst="rect">
            <a:avLst/>
          </a:prstGeom>
          <a:noFill/>
          <a:ln/>
        </p:spPr>
        <p:txBody>
          <a:bodyPr wrap="square" lIns="0" tIns="0" rIns="0" bIns="0" rtlCol="0" anchor="t"/>
          <a:lstStyle/>
          <a:p>
            <a:pPr marL="0" indent="0">
              <a:buNone/>
            </a:pPr>
            <a:r>
              <a:rPr lang="en-US" sz="3400" b="1" dirty="0">
                <a:solidFill>
                  <a:srgbClr val="FFFFFF"/>
                </a:solidFill>
                <a:latin typeface="Palatino Linotype" pitchFamily="34" charset="0"/>
                <a:ea typeface="Palatino Linotype" pitchFamily="34" charset="-122"/>
                <a:cs typeface="Palatino Linotype" pitchFamily="34" charset="-120"/>
              </a:rPr>
              <a:t>Numitorul</a:t>
            </a:r>
            <a:endParaRPr lang="en-US" sz="3400" dirty="0"/>
          </a:p>
        </p:txBody>
      </p:sp>
      <p:sp>
        <p:nvSpPr>
          <p:cNvPr id="5" name="Text 3"/>
          <p:cNvSpPr/>
          <p:nvPr/>
        </p:nvSpPr>
        <p:spPr>
          <a:xfrm>
            <a:off x="4709160" y="2788920"/>
            <a:ext cx="6858000" cy="868680"/>
          </a:xfrm>
          <a:prstGeom prst="rect">
            <a:avLst/>
          </a:prstGeom>
          <a:noFill/>
          <a:ln/>
        </p:spPr>
        <p:txBody>
          <a:bodyPr wrap="square" lIns="0" tIns="0" rIns="0" bIns="0" rtlCol="0" anchor="t"/>
          <a:lstStyle/>
          <a:p>
            <a:pPr marL="0" indent="0">
              <a:buNone/>
            </a:pPr>
            <a:r>
              <a:rPr lang="en-US" sz="1550" dirty="0">
                <a:solidFill>
                  <a:srgbClr val="959BB0"/>
                </a:solidFill>
                <a:latin typeface="Palatino Linotype" pitchFamily="34" charset="0"/>
                <a:ea typeface="Palatino Linotype" pitchFamily="34" charset="-122"/>
                <a:cs typeface="Palatino Linotype" pitchFamily="34" charset="-120"/>
              </a:rPr>
              <a:t>Argumentul care a decis efectiv problema — și pe care nu îl ține minte nimeni</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SUDUL LONDREI, 1852–1854</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FFFFFF"/>
                </a:solidFill>
                <a:latin typeface="Palatino Linotype" pitchFamily="34" charset="0"/>
                <a:ea typeface="Palatino Linotype" pitchFamily="34" charset="-122"/>
                <a:cs typeface="Palatino Linotype" pitchFamily="34" charset="-120"/>
              </a:rPr>
              <a:t>Două companii, aceleași străzi</a:t>
            </a:r>
            <a:endParaRPr lang="en-US" sz="3100" dirty="0"/>
          </a:p>
        </p:txBody>
      </p:sp>
      <p:sp>
        <p:nvSpPr>
          <p:cNvPr id="4" name="Shape 2"/>
          <p:cNvSpPr/>
          <p:nvPr/>
        </p:nvSpPr>
        <p:spPr>
          <a:xfrm>
            <a:off x="594360" y="1783080"/>
            <a:ext cx="5349240" cy="2103120"/>
          </a:xfrm>
          <a:prstGeom prst="roundRect">
            <a:avLst>
              <a:gd name="adj" fmla="val 3913"/>
            </a:avLst>
          </a:prstGeom>
          <a:solidFill>
            <a:srgbClr val="1D1F2B"/>
          </a:solidFill>
          <a:ln w="12700">
            <a:solidFill>
              <a:srgbClr val="1D1F2B"/>
            </a:solidFill>
            <a:prstDash val="solid"/>
          </a:ln>
        </p:spPr>
        <p:txBody>
          <a:bodyPr/>
          <a:lstStyle/>
          <a:p>
            <a:endParaRPr lang="ro-RO"/>
          </a:p>
        </p:txBody>
      </p:sp>
      <p:sp>
        <p:nvSpPr>
          <p:cNvPr id="5" name="Shape 3"/>
          <p:cNvSpPr/>
          <p:nvPr/>
        </p:nvSpPr>
        <p:spPr>
          <a:xfrm>
            <a:off x="914400" y="1965960"/>
            <a:ext cx="3474720" cy="329184"/>
          </a:xfrm>
          <a:prstGeom prst="roundRect">
            <a:avLst>
              <a:gd name="adj" fmla="val 50000"/>
            </a:avLst>
          </a:prstGeom>
          <a:solidFill>
            <a:srgbClr val="FF4757"/>
          </a:solidFill>
          <a:ln w="12700">
            <a:solidFill>
              <a:srgbClr val="FF4757"/>
            </a:solidFill>
            <a:prstDash val="solid"/>
          </a:ln>
        </p:spPr>
        <p:txBody>
          <a:bodyPr/>
          <a:lstStyle/>
          <a:p>
            <a:endParaRPr lang="ro-RO"/>
          </a:p>
        </p:txBody>
      </p:sp>
      <p:sp>
        <p:nvSpPr>
          <p:cNvPr id="6" name="Text 4"/>
          <p:cNvSpPr/>
          <p:nvPr/>
        </p:nvSpPr>
        <p:spPr>
          <a:xfrm>
            <a:off x="914400" y="1965960"/>
            <a:ext cx="3474720" cy="329184"/>
          </a:xfrm>
          <a:prstGeom prst="rect">
            <a:avLst/>
          </a:prstGeom>
          <a:noFill/>
          <a:ln/>
        </p:spPr>
        <p:txBody>
          <a:bodyPr wrap="square" lIns="0" tIns="0" rIns="0" bIns="0" rtlCol="0" anchor="ctr"/>
          <a:lstStyle/>
          <a:p>
            <a:pPr marL="0" indent="0" algn="ctr">
              <a:buNone/>
            </a:pPr>
            <a:r>
              <a:rPr lang="en-US" sz="1050" b="1" dirty="0">
                <a:solidFill>
                  <a:srgbClr val="2E060B"/>
                </a:solidFill>
                <a:latin typeface="Palatino Linotype" pitchFamily="34" charset="0"/>
                <a:ea typeface="Palatino Linotype" pitchFamily="34" charset="-122"/>
                <a:cs typeface="Palatino Linotype" pitchFamily="34" charset="-120"/>
              </a:rPr>
              <a:t>SOUTHWARK &amp; VAUXHALL</a:t>
            </a:r>
            <a:endParaRPr lang="en-US" sz="1050" dirty="0"/>
          </a:p>
        </p:txBody>
      </p:sp>
      <p:sp>
        <p:nvSpPr>
          <p:cNvPr id="7" name="Text 5"/>
          <p:cNvSpPr/>
          <p:nvPr/>
        </p:nvSpPr>
        <p:spPr>
          <a:xfrm>
            <a:off x="914400" y="2514600"/>
            <a:ext cx="4709160" cy="1188720"/>
          </a:xfrm>
          <a:prstGeom prst="rect">
            <a:avLst/>
          </a:prstGeom>
          <a:noFill/>
          <a:ln/>
        </p:spPr>
        <p:txBody>
          <a:bodyPr wrap="square" lIns="0" tIns="0" rIns="0" bIns="0" rtlCol="0" anchor="ctr"/>
          <a:lstStyle/>
          <a:p>
            <a:pPr marL="0" indent="0">
              <a:buNone/>
            </a:pPr>
            <a:r>
              <a:rPr lang="en-US" sz="1450" dirty="0">
                <a:solidFill>
                  <a:srgbClr val="FFFFFF"/>
                </a:solidFill>
                <a:latin typeface="Palatino Linotype" pitchFamily="34" charset="0"/>
                <a:ea typeface="Palatino Linotype" pitchFamily="34" charset="-122"/>
                <a:cs typeface="Palatino Linotype" pitchFamily="34" charset="-120"/>
              </a:rPr>
              <a:t>Capta apă din Tamisa la Battersea, în zona în care se descărcau canalele orașului.</a:t>
            </a:r>
            <a:endParaRPr lang="en-US" sz="1450" dirty="0"/>
          </a:p>
        </p:txBody>
      </p:sp>
      <p:sp>
        <p:nvSpPr>
          <p:cNvPr id="8" name="Shape 6"/>
          <p:cNvSpPr/>
          <p:nvPr/>
        </p:nvSpPr>
        <p:spPr>
          <a:xfrm>
            <a:off x="6217920" y="1783080"/>
            <a:ext cx="5349240" cy="2103120"/>
          </a:xfrm>
          <a:prstGeom prst="roundRect">
            <a:avLst>
              <a:gd name="adj" fmla="val 3913"/>
            </a:avLst>
          </a:prstGeom>
          <a:solidFill>
            <a:srgbClr val="1D1F2B"/>
          </a:solidFill>
          <a:ln w="12700">
            <a:solidFill>
              <a:srgbClr val="1D1F2B"/>
            </a:solidFill>
            <a:prstDash val="solid"/>
          </a:ln>
        </p:spPr>
        <p:txBody>
          <a:bodyPr/>
          <a:lstStyle/>
          <a:p>
            <a:endParaRPr lang="ro-RO"/>
          </a:p>
        </p:txBody>
      </p:sp>
      <p:sp>
        <p:nvSpPr>
          <p:cNvPr id="9" name="Shape 7"/>
          <p:cNvSpPr/>
          <p:nvPr/>
        </p:nvSpPr>
        <p:spPr>
          <a:xfrm>
            <a:off x="6537960" y="1965960"/>
            <a:ext cx="2194560" cy="329184"/>
          </a:xfrm>
          <a:prstGeom prst="roundRect">
            <a:avLst>
              <a:gd name="adj" fmla="val 50000"/>
            </a:avLst>
          </a:prstGeom>
          <a:solidFill>
            <a:srgbClr val="27D3BE"/>
          </a:solidFill>
          <a:ln w="12700">
            <a:solidFill>
              <a:srgbClr val="27D3BE"/>
            </a:solidFill>
            <a:prstDash val="solid"/>
          </a:ln>
        </p:spPr>
        <p:txBody>
          <a:bodyPr/>
          <a:lstStyle/>
          <a:p>
            <a:endParaRPr lang="ro-RO"/>
          </a:p>
        </p:txBody>
      </p:sp>
      <p:sp>
        <p:nvSpPr>
          <p:cNvPr id="10" name="Text 8"/>
          <p:cNvSpPr/>
          <p:nvPr/>
        </p:nvSpPr>
        <p:spPr>
          <a:xfrm>
            <a:off x="6537960" y="1965960"/>
            <a:ext cx="2194560" cy="329184"/>
          </a:xfrm>
          <a:prstGeom prst="rect">
            <a:avLst/>
          </a:prstGeom>
          <a:noFill/>
          <a:ln/>
        </p:spPr>
        <p:txBody>
          <a:bodyPr wrap="square" lIns="0" tIns="0" rIns="0" bIns="0" rtlCol="0" anchor="ctr"/>
          <a:lstStyle/>
          <a:p>
            <a:pPr marL="0" indent="0" algn="ctr">
              <a:buNone/>
            </a:pPr>
            <a:r>
              <a:rPr lang="en-US" sz="1050" b="1" dirty="0">
                <a:solidFill>
                  <a:srgbClr val="073B34"/>
                </a:solidFill>
                <a:latin typeface="Palatino Linotype" pitchFamily="34" charset="0"/>
                <a:ea typeface="Palatino Linotype" pitchFamily="34" charset="-122"/>
                <a:cs typeface="Palatino Linotype" pitchFamily="34" charset="-120"/>
              </a:rPr>
              <a:t>LAMBETH</a:t>
            </a:r>
            <a:endParaRPr lang="en-US" sz="1050" dirty="0"/>
          </a:p>
        </p:txBody>
      </p:sp>
      <p:sp>
        <p:nvSpPr>
          <p:cNvPr id="11" name="Text 9"/>
          <p:cNvSpPr/>
          <p:nvPr/>
        </p:nvSpPr>
        <p:spPr>
          <a:xfrm>
            <a:off x="6537960" y="2514600"/>
            <a:ext cx="4709160" cy="1188720"/>
          </a:xfrm>
          <a:prstGeom prst="rect">
            <a:avLst/>
          </a:prstGeom>
          <a:noFill/>
          <a:ln/>
        </p:spPr>
        <p:txBody>
          <a:bodyPr wrap="square" lIns="0" tIns="0" rIns="0" bIns="0" rtlCol="0" anchor="ctr"/>
          <a:lstStyle/>
          <a:p>
            <a:pPr marL="0" indent="0">
              <a:buNone/>
            </a:pPr>
            <a:r>
              <a:rPr lang="en-US" sz="1450" dirty="0">
                <a:solidFill>
                  <a:srgbClr val="FFFFFF"/>
                </a:solidFill>
                <a:latin typeface="Palatino Linotype" pitchFamily="34" charset="0"/>
                <a:ea typeface="Palatino Linotype" pitchFamily="34" charset="-122"/>
                <a:cs typeface="Palatino Linotype" pitchFamily="34" charset="-120"/>
              </a:rPr>
              <a:t>În 1852 își mută priza la Thames Ditton, în amonte, deasupra zonei de descărcare a canalelor.</a:t>
            </a:r>
            <a:endParaRPr lang="en-US" sz="1450" dirty="0"/>
          </a:p>
        </p:txBody>
      </p:sp>
      <p:sp>
        <p:nvSpPr>
          <p:cNvPr id="12" name="Shape 10"/>
          <p:cNvSpPr/>
          <p:nvPr/>
        </p:nvSpPr>
        <p:spPr>
          <a:xfrm>
            <a:off x="594360" y="4114800"/>
            <a:ext cx="10972800" cy="1234440"/>
          </a:xfrm>
          <a:prstGeom prst="roundRect">
            <a:avLst>
              <a:gd name="adj" fmla="val 6667"/>
            </a:avLst>
          </a:prstGeom>
          <a:solidFill>
            <a:srgbClr val="07564B"/>
          </a:solidFill>
          <a:ln w="12700">
            <a:solidFill>
              <a:srgbClr val="07564B"/>
            </a:solidFill>
            <a:prstDash val="solid"/>
          </a:ln>
        </p:spPr>
        <p:txBody>
          <a:bodyPr/>
          <a:lstStyle/>
          <a:p>
            <a:endParaRPr lang="ro-RO"/>
          </a:p>
        </p:txBody>
      </p:sp>
      <p:sp>
        <p:nvSpPr>
          <p:cNvPr id="13" name="Text 11"/>
          <p:cNvSpPr/>
          <p:nvPr/>
        </p:nvSpPr>
        <p:spPr>
          <a:xfrm>
            <a:off x="960120" y="4114800"/>
            <a:ext cx="10241280" cy="1234440"/>
          </a:xfrm>
          <a:prstGeom prst="rect">
            <a:avLst/>
          </a:prstGeom>
          <a:noFill/>
          <a:ln/>
        </p:spPr>
        <p:txBody>
          <a:bodyPr wrap="square" lIns="0" tIns="0" rIns="0" bIns="0" rtlCol="0" anchor="ctr"/>
          <a:lstStyle/>
          <a:p>
            <a:pPr marL="0" indent="0">
              <a:lnSpc>
                <a:spcPts val="2600"/>
              </a:lnSpc>
              <a:buNone/>
            </a:pPr>
            <a:r>
              <a:rPr lang="en-US" sz="1800" b="1" i="1" dirty="0">
                <a:solidFill>
                  <a:srgbClr val="FFFFFF"/>
                </a:solidFill>
                <a:latin typeface="Palatino Linotype" pitchFamily="34" charset="0"/>
                <a:ea typeface="Palatino Linotype" pitchFamily="34" charset="-122"/>
                <a:cs typeface="Palatino Linotype" pitchFamily="34" charset="-120"/>
              </a:rPr>
              <a:t>„divided into two groups without their choice, and, in most cases, without their knowledge”</a:t>
            </a:r>
            <a:endParaRPr lang="en-US" sz="1800" dirty="0"/>
          </a:p>
          <a:p>
            <a:pPr marL="0" indent="0">
              <a:lnSpc>
                <a:spcPts val="2600"/>
              </a:lnSpc>
              <a:buNone/>
            </a:pPr>
            <a:r>
              <a:rPr lang="en-US" sz="1800" b="1" i="1" dirty="0">
                <a:solidFill>
                  <a:srgbClr val="FFFFFF"/>
                </a:solidFill>
                <a:latin typeface="Palatino Linotype" pitchFamily="34" charset="0"/>
                <a:ea typeface="Palatino Linotype" pitchFamily="34" charset="-122"/>
                <a:cs typeface="Palatino Linotype" pitchFamily="34" charset="-120"/>
              </a:rPr>
              <a:t>Cel puțin 300 000 de oameni, împărțiți fără să fi ales și, în cele mai multe cazuri, fără să știe.</a:t>
            </a:r>
            <a:endParaRPr lang="en-US" sz="1800" dirty="0"/>
          </a:p>
        </p:txBody>
      </p:sp>
      <p:sp>
        <p:nvSpPr>
          <p:cNvPr id="14" name="Text 12"/>
          <p:cNvSpPr/>
          <p:nvPr/>
        </p:nvSpPr>
        <p:spPr>
          <a:xfrm>
            <a:off x="594360" y="5486400"/>
            <a:ext cx="10972800" cy="566928"/>
          </a:xfrm>
          <a:prstGeom prst="rect">
            <a:avLst/>
          </a:prstGeom>
          <a:noFill/>
          <a:ln/>
        </p:spPr>
        <p:txBody>
          <a:bodyPr wrap="square" lIns="0" tIns="0" rIns="0" bIns="0" rtlCol="0" anchor="ctr"/>
          <a:lstStyle/>
          <a:p>
            <a:pPr marL="0" indent="0">
              <a:buNone/>
            </a:pPr>
            <a:r>
              <a:rPr lang="en-US" sz="1300" dirty="0">
                <a:solidFill>
                  <a:srgbClr val="959BB0"/>
                </a:solidFill>
                <a:latin typeface="Palatino Linotype" pitchFamily="34" charset="0"/>
                <a:ea typeface="Palatino Linotype" pitchFamily="34" charset="-122"/>
                <a:cs typeface="Palatino Linotype" pitchFamily="34" charset="-120"/>
              </a:rPr>
              <a:t>Repartizarea depindea de istoria concurenței dintre companii, nu de venit, altitudine sau ocupație. NU este randomizare — nimeni nu a randomizat nimic și nu există nicio garanție de echilibru între grupuri. Este un CVASIEXPERIMENT cu alocare plauzibil independentă de risc: cel mai bun lucru pe care îl obții fără să randomizezi.</a:t>
            </a:r>
            <a:endParaRPr lang="en-US" sz="1300" dirty="0"/>
          </a:p>
        </p:txBody>
      </p:sp>
      <p:sp>
        <p:nvSpPr>
          <p:cNvPr id="15" name="Text 13"/>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Sursa: Snow J. On the Mode of Communication of Cholera, ed. 2, 1855, p. 61, 68 și 75.</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PROBLEMA PRACTICĂ</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11121A"/>
                </a:solidFill>
                <a:latin typeface="Palatino Linotype" pitchFamily="34" charset="0"/>
                <a:ea typeface="Palatino Linotype" pitchFamily="34" charset="-122"/>
                <a:cs typeface="Palatino Linotype" pitchFamily="34" charset="-120"/>
              </a:rPr>
              <a:t>Locatarii rareori știau ce companie îi alimenta</a:t>
            </a:r>
            <a:endParaRPr lang="en-US" sz="3100" dirty="0"/>
          </a:p>
        </p:txBody>
      </p:sp>
      <p:sp>
        <p:nvSpPr>
          <p:cNvPr id="4" name="Shape 2"/>
          <p:cNvSpPr/>
          <p:nvPr/>
        </p:nvSpPr>
        <p:spPr>
          <a:xfrm>
            <a:off x="594360" y="1783080"/>
            <a:ext cx="10972800" cy="1371600"/>
          </a:xfrm>
          <a:prstGeom prst="roundRect">
            <a:avLst>
              <a:gd name="adj" fmla="val 6000"/>
            </a:avLst>
          </a:prstGeom>
          <a:solidFill>
            <a:srgbClr val="ECEAE4"/>
          </a:solidFill>
          <a:ln w="12700">
            <a:solidFill>
              <a:srgbClr val="ECEAE4"/>
            </a:solidFill>
            <a:prstDash val="solid"/>
          </a:ln>
        </p:spPr>
        <p:txBody>
          <a:bodyPr/>
          <a:lstStyle/>
          <a:p>
            <a:endParaRPr lang="ro-RO"/>
          </a:p>
        </p:txBody>
      </p:sp>
      <p:sp>
        <p:nvSpPr>
          <p:cNvPr id="5" name="Text 3"/>
          <p:cNvSpPr/>
          <p:nvPr/>
        </p:nvSpPr>
        <p:spPr>
          <a:xfrm>
            <a:off x="960120" y="1783080"/>
            <a:ext cx="10241280" cy="1371600"/>
          </a:xfrm>
          <a:prstGeom prst="rect">
            <a:avLst/>
          </a:prstGeom>
          <a:noFill/>
          <a:ln/>
        </p:spPr>
        <p:txBody>
          <a:bodyPr wrap="square" lIns="0" tIns="0" rIns="0" bIns="0" rtlCol="0" anchor="ctr"/>
          <a:lstStyle/>
          <a:p>
            <a:pPr marL="0" indent="0">
              <a:buNone/>
            </a:pPr>
            <a:r>
              <a:rPr lang="en-US" sz="1600" dirty="0">
                <a:solidFill>
                  <a:srgbClr val="11121A"/>
                </a:solidFill>
                <a:latin typeface="Palatino Linotype" pitchFamily="34" charset="0"/>
                <a:ea typeface="Palatino Linotype" pitchFamily="34" charset="-122"/>
                <a:cs typeface="Palatino Linotype" pitchFamily="34" charset="-120"/>
              </a:rPr>
              <a:t>Snow a rezolvat-o cu un test chimic: apa Lambeth, captată la Thames Ditton, avea circa 0,95 grani de sare pe galon; apa Southwark &amp; Vauxhall, circa 37,9 grani. Cu azotat de argint, diferența se vedea imediat. Sarea nu venea numai din canalizare, cum crezuse Snow la început: apa de mare urca până la Battersea. Testul rămânea valid.</a:t>
            </a:r>
            <a:endParaRPr lang="en-US" sz="1600" dirty="0"/>
          </a:p>
        </p:txBody>
      </p:sp>
      <p:sp>
        <p:nvSpPr>
          <p:cNvPr id="6" name="Shape 4"/>
          <p:cNvSpPr/>
          <p:nvPr/>
        </p:nvSpPr>
        <p:spPr>
          <a:xfrm>
            <a:off x="594360" y="3337560"/>
            <a:ext cx="10972800" cy="1143000"/>
          </a:xfrm>
          <a:prstGeom prst="roundRect">
            <a:avLst>
              <a:gd name="adj" fmla="val 7200"/>
            </a:avLst>
          </a:prstGeom>
          <a:solidFill>
            <a:srgbClr val="4A2D8C"/>
          </a:solidFill>
          <a:ln w="12700">
            <a:solidFill>
              <a:srgbClr val="4A2D8C"/>
            </a:solidFill>
            <a:prstDash val="solid"/>
          </a:ln>
        </p:spPr>
        <p:txBody>
          <a:bodyPr/>
          <a:lstStyle/>
          <a:p>
            <a:endParaRPr lang="ro-RO"/>
          </a:p>
        </p:txBody>
      </p:sp>
      <p:sp>
        <p:nvSpPr>
          <p:cNvPr id="7" name="Text 5"/>
          <p:cNvSpPr/>
          <p:nvPr/>
        </p:nvSpPr>
        <p:spPr>
          <a:xfrm>
            <a:off x="960120" y="3337560"/>
            <a:ext cx="10241280" cy="1143000"/>
          </a:xfrm>
          <a:prstGeom prst="rect">
            <a:avLst/>
          </a:prstGeom>
          <a:noFill/>
          <a:ln/>
        </p:spPr>
        <p:txBody>
          <a:bodyPr wrap="square" lIns="0" tIns="0" rIns="0" bIns="0" rtlCol="0" anchor="ctr"/>
          <a:lstStyle/>
          <a:p>
            <a:pPr marL="0" indent="0">
              <a:buNone/>
            </a:pPr>
            <a:r>
              <a:rPr lang="en-US" sz="1700" b="1" dirty="0">
                <a:solidFill>
                  <a:srgbClr val="FFFFFF"/>
                </a:solidFill>
                <a:latin typeface="Palatino Linotype" pitchFamily="34" charset="0"/>
                <a:ea typeface="Palatino Linotype" pitchFamily="34" charset="-122"/>
                <a:cs typeface="Palatino Linotype" pitchFamily="34" charset="-120"/>
              </a:rPr>
              <a:t>Când locatarul nu știa, Snow lua apă într-o fiolă, scria adresa pe dop și o examina acasă. Aspectul apei și ora livrării serveau doar drept confirmare.</a:t>
            </a:r>
            <a:endParaRPr lang="en-US" sz="1700" dirty="0"/>
          </a:p>
        </p:txBody>
      </p:sp>
      <p:sp>
        <p:nvSpPr>
          <p:cNvPr id="8" name="Shape 6"/>
          <p:cNvSpPr/>
          <p:nvPr/>
        </p:nvSpPr>
        <p:spPr>
          <a:xfrm>
            <a:off x="621792" y="4800600"/>
            <a:ext cx="1828800" cy="32004"/>
          </a:xfrm>
          <a:prstGeom prst="rect">
            <a:avLst/>
          </a:prstGeom>
          <a:solidFill>
            <a:srgbClr val="B02532"/>
          </a:solidFill>
          <a:ln/>
        </p:spPr>
        <p:txBody>
          <a:bodyPr/>
          <a:lstStyle/>
          <a:p>
            <a:endParaRPr lang="ro-RO"/>
          </a:p>
        </p:txBody>
      </p:sp>
      <p:sp>
        <p:nvSpPr>
          <p:cNvPr id="9" name="Text 7"/>
          <p:cNvSpPr/>
          <p:nvPr/>
        </p:nvSpPr>
        <p:spPr>
          <a:xfrm>
            <a:off x="594360" y="5074920"/>
            <a:ext cx="10972800" cy="640080"/>
          </a:xfrm>
          <a:prstGeom prst="rect">
            <a:avLst/>
          </a:prstGeom>
          <a:noFill/>
          <a:ln/>
        </p:spPr>
        <p:txBody>
          <a:bodyPr wrap="square" lIns="0" tIns="0" rIns="0" bIns="0" rtlCol="0" anchor="ctr"/>
          <a:lstStyle/>
          <a:p>
            <a:pPr marL="0" indent="0">
              <a:buNone/>
            </a:pPr>
            <a:r>
              <a:rPr lang="en-US" sz="3200" b="1" dirty="0">
                <a:solidFill>
                  <a:srgbClr val="B02532"/>
                </a:solidFill>
                <a:latin typeface="Palatino Linotype" pitchFamily="34" charset="0"/>
                <a:ea typeface="Palatino Linotype" pitchFamily="34" charset="-122"/>
                <a:cs typeface="Palatino Linotype" pitchFamily="34" charset="-120"/>
              </a:rPr>
              <a:t>Nu ghicești expunerea. O măsori.</a:t>
            </a:r>
            <a:endParaRPr lang="en-US" sz="3200" dirty="0"/>
          </a:p>
        </p:txBody>
      </p:sp>
      <p:sp>
        <p:nvSpPr>
          <p:cNvPr id="10" name="Text 8"/>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585A64"/>
                </a:solidFill>
                <a:latin typeface="Palatino Linotype" pitchFamily="34" charset="0"/>
                <a:ea typeface="Palatino Linotype" pitchFamily="34" charset="-122"/>
                <a:cs typeface="Palatino Linotype" pitchFamily="34" charset="-120"/>
              </a:rPr>
              <a:t>Sursa: Snow J. On the Mode of Communication of Cholera, ed. 2, 1855, pp. 77–78 și 95–97.</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C24B"/>
                </a:solidFill>
                <a:latin typeface="Palatino Linotype" pitchFamily="34" charset="0"/>
                <a:ea typeface="Palatino Linotype" pitchFamily="34" charset="-122"/>
                <a:cs typeface="Palatino Linotype" pitchFamily="34" charset="-120"/>
              </a:rPr>
              <a:t>TABELUL IX · PRIMELE ȘAPTE SĂPTĂMÂNI, PÂNĂ LA 26 AUGUST 1854</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Decese la 10 000 de case</a:t>
            </a:r>
            <a:endParaRPr lang="en-US" sz="3000" dirty="0"/>
          </a:p>
        </p:txBody>
      </p:sp>
      <p:graphicFrame>
        <p:nvGraphicFramePr>
          <p:cNvPr id="4" name="Chart 0"/>
          <p:cNvGraphicFramePr/>
          <p:nvPr/>
        </p:nvGraphicFramePr>
        <p:xfrm>
          <a:off x="594360" y="1783080"/>
          <a:ext cx="6675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589520" y="1783080"/>
            <a:ext cx="3977640" cy="1051560"/>
          </a:xfrm>
          <a:prstGeom prst="roundRect">
            <a:avLst>
              <a:gd name="adj" fmla="val 7826"/>
            </a:avLst>
          </a:prstGeom>
          <a:solidFill>
            <a:srgbClr val="1D1F2B"/>
          </a:solidFill>
          <a:ln w="12700">
            <a:solidFill>
              <a:srgbClr val="1D1F2B"/>
            </a:solidFill>
            <a:prstDash val="solid"/>
          </a:ln>
        </p:spPr>
        <p:txBody>
          <a:bodyPr/>
          <a:lstStyle/>
          <a:p>
            <a:endParaRPr lang="ro-RO"/>
          </a:p>
        </p:txBody>
      </p:sp>
      <p:sp>
        <p:nvSpPr>
          <p:cNvPr id="6" name="Text 3"/>
          <p:cNvSpPr/>
          <p:nvPr/>
        </p:nvSpPr>
        <p:spPr>
          <a:xfrm>
            <a:off x="7863840" y="1837944"/>
            <a:ext cx="3474720" cy="502920"/>
          </a:xfrm>
          <a:prstGeom prst="rect">
            <a:avLst/>
          </a:prstGeom>
          <a:noFill/>
          <a:ln/>
        </p:spPr>
        <p:txBody>
          <a:bodyPr wrap="square" lIns="0" tIns="0" rIns="0" bIns="0" rtlCol="0" anchor="ctr"/>
          <a:lstStyle/>
          <a:p>
            <a:pPr marL="0" indent="0">
              <a:buNone/>
            </a:pPr>
            <a:r>
              <a:rPr lang="en-US" sz="2600" b="1" dirty="0">
                <a:solidFill>
                  <a:srgbClr val="FF4757"/>
                </a:solidFill>
                <a:latin typeface="Palatino Linotype" pitchFamily="34" charset="0"/>
                <a:ea typeface="Palatino Linotype" pitchFamily="34" charset="-122"/>
                <a:cs typeface="Palatino Linotype" pitchFamily="34" charset="-120"/>
              </a:rPr>
              <a:t>40 046</a:t>
            </a:r>
            <a:endParaRPr lang="en-US" sz="2600" dirty="0"/>
          </a:p>
        </p:txBody>
      </p:sp>
      <p:sp>
        <p:nvSpPr>
          <p:cNvPr id="7" name="Text 4"/>
          <p:cNvSpPr/>
          <p:nvPr/>
        </p:nvSpPr>
        <p:spPr>
          <a:xfrm>
            <a:off x="7863840" y="2359152"/>
            <a:ext cx="3474720" cy="411480"/>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case S&amp;V · 1 263 decese</a:t>
            </a:r>
            <a:endParaRPr lang="en-US" sz="1150" dirty="0"/>
          </a:p>
        </p:txBody>
      </p:sp>
      <p:sp>
        <p:nvSpPr>
          <p:cNvPr id="8" name="Shape 5"/>
          <p:cNvSpPr/>
          <p:nvPr/>
        </p:nvSpPr>
        <p:spPr>
          <a:xfrm>
            <a:off x="7589520" y="2990088"/>
            <a:ext cx="3977640" cy="1051560"/>
          </a:xfrm>
          <a:prstGeom prst="roundRect">
            <a:avLst>
              <a:gd name="adj" fmla="val 7826"/>
            </a:avLst>
          </a:prstGeom>
          <a:solidFill>
            <a:srgbClr val="1D1F2B"/>
          </a:solidFill>
          <a:ln w="12700">
            <a:solidFill>
              <a:srgbClr val="1D1F2B"/>
            </a:solidFill>
            <a:prstDash val="solid"/>
          </a:ln>
        </p:spPr>
        <p:txBody>
          <a:bodyPr/>
          <a:lstStyle/>
          <a:p>
            <a:endParaRPr lang="ro-RO"/>
          </a:p>
        </p:txBody>
      </p:sp>
      <p:sp>
        <p:nvSpPr>
          <p:cNvPr id="9" name="Text 6"/>
          <p:cNvSpPr/>
          <p:nvPr/>
        </p:nvSpPr>
        <p:spPr>
          <a:xfrm>
            <a:off x="7863840" y="3044952"/>
            <a:ext cx="3474720" cy="502920"/>
          </a:xfrm>
          <a:prstGeom prst="rect">
            <a:avLst/>
          </a:prstGeom>
          <a:noFill/>
          <a:ln/>
        </p:spPr>
        <p:txBody>
          <a:bodyPr wrap="square" lIns="0" tIns="0" rIns="0" bIns="0" rtlCol="0" anchor="ctr"/>
          <a:lstStyle/>
          <a:p>
            <a:pPr marL="0" indent="0">
              <a:buNone/>
            </a:pPr>
            <a:r>
              <a:rPr lang="en-US" sz="2600" b="1" dirty="0">
                <a:solidFill>
                  <a:srgbClr val="27D3BE"/>
                </a:solidFill>
                <a:latin typeface="Palatino Linotype" pitchFamily="34" charset="0"/>
                <a:ea typeface="Palatino Linotype" pitchFamily="34" charset="-122"/>
                <a:cs typeface="Palatino Linotype" pitchFamily="34" charset="-120"/>
              </a:rPr>
              <a:t>26 107</a:t>
            </a:r>
            <a:endParaRPr lang="en-US" sz="2600" dirty="0"/>
          </a:p>
        </p:txBody>
      </p:sp>
      <p:sp>
        <p:nvSpPr>
          <p:cNvPr id="10" name="Text 7"/>
          <p:cNvSpPr/>
          <p:nvPr/>
        </p:nvSpPr>
        <p:spPr>
          <a:xfrm>
            <a:off x="7863840" y="3566160"/>
            <a:ext cx="3474720" cy="411480"/>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case Lambeth · 98 decese</a:t>
            </a:r>
            <a:endParaRPr lang="en-US" sz="1150" dirty="0"/>
          </a:p>
        </p:txBody>
      </p:sp>
      <p:sp>
        <p:nvSpPr>
          <p:cNvPr id="11" name="Shape 8"/>
          <p:cNvSpPr/>
          <p:nvPr/>
        </p:nvSpPr>
        <p:spPr>
          <a:xfrm>
            <a:off x="7589520" y="4197096"/>
            <a:ext cx="3977640" cy="1051560"/>
          </a:xfrm>
          <a:prstGeom prst="roundRect">
            <a:avLst>
              <a:gd name="adj" fmla="val 7826"/>
            </a:avLst>
          </a:prstGeom>
          <a:solidFill>
            <a:srgbClr val="1D1F2B"/>
          </a:solidFill>
          <a:ln w="12700">
            <a:solidFill>
              <a:srgbClr val="1D1F2B"/>
            </a:solidFill>
            <a:prstDash val="solid"/>
          </a:ln>
        </p:spPr>
        <p:txBody>
          <a:bodyPr/>
          <a:lstStyle/>
          <a:p>
            <a:endParaRPr lang="ro-RO"/>
          </a:p>
        </p:txBody>
      </p:sp>
      <p:sp>
        <p:nvSpPr>
          <p:cNvPr id="12" name="Text 9"/>
          <p:cNvSpPr/>
          <p:nvPr/>
        </p:nvSpPr>
        <p:spPr>
          <a:xfrm>
            <a:off x="7863840" y="4251960"/>
            <a:ext cx="3474720" cy="502920"/>
          </a:xfrm>
          <a:prstGeom prst="rect">
            <a:avLst/>
          </a:prstGeom>
          <a:noFill/>
          <a:ln/>
        </p:spPr>
        <p:txBody>
          <a:bodyPr wrap="square" lIns="0" tIns="0" rIns="0" bIns="0" rtlCol="0" anchor="ctr"/>
          <a:lstStyle/>
          <a:p>
            <a:pPr marL="0" indent="0">
              <a:buNone/>
            </a:pPr>
            <a:r>
              <a:rPr lang="en-US" sz="2600" b="1" dirty="0">
                <a:solidFill>
                  <a:srgbClr val="9AA0B4"/>
                </a:solidFill>
                <a:latin typeface="Palatino Linotype" pitchFamily="34" charset="0"/>
                <a:ea typeface="Palatino Linotype" pitchFamily="34" charset="-122"/>
                <a:cs typeface="Palatino Linotype" pitchFamily="34" charset="-120"/>
              </a:rPr>
              <a:t>256 423</a:t>
            </a:r>
            <a:endParaRPr lang="en-US" sz="2600" dirty="0"/>
          </a:p>
        </p:txBody>
      </p:sp>
      <p:sp>
        <p:nvSpPr>
          <p:cNvPr id="13" name="Text 10"/>
          <p:cNvSpPr/>
          <p:nvPr/>
        </p:nvSpPr>
        <p:spPr>
          <a:xfrm>
            <a:off x="7863840" y="4773168"/>
            <a:ext cx="3474720" cy="411480"/>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case restul Londrei · 1 422 decese</a:t>
            </a:r>
            <a:endParaRPr lang="en-US" sz="1150" dirty="0"/>
          </a:p>
        </p:txBody>
      </p:sp>
      <p:sp>
        <p:nvSpPr>
          <p:cNvPr id="14" name="Shape 11"/>
          <p:cNvSpPr/>
          <p:nvPr/>
        </p:nvSpPr>
        <p:spPr>
          <a:xfrm>
            <a:off x="7589520" y="5394960"/>
            <a:ext cx="3977640" cy="566928"/>
          </a:xfrm>
          <a:prstGeom prst="roundRect">
            <a:avLst>
              <a:gd name="adj" fmla="val 14516"/>
            </a:avLst>
          </a:prstGeom>
          <a:solidFill>
            <a:srgbClr val="2A1E22"/>
          </a:solidFill>
          <a:ln w="12700">
            <a:solidFill>
              <a:srgbClr val="2A1E22"/>
            </a:solidFill>
            <a:prstDash val="solid"/>
          </a:ln>
        </p:spPr>
        <p:txBody>
          <a:bodyPr/>
          <a:lstStyle/>
          <a:p>
            <a:endParaRPr lang="ro-RO"/>
          </a:p>
        </p:txBody>
      </p:sp>
      <p:sp>
        <p:nvSpPr>
          <p:cNvPr id="15" name="Text 12"/>
          <p:cNvSpPr/>
          <p:nvPr/>
        </p:nvSpPr>
        <p:spPr>
          <a:xfrm>
            <a:off x="7818120" y="5394960"/>
            <a:ext cx="3566160" cy="566928"/>
          </a:xfrm>
          <a:prstGeom prst="rect">
            <a:avLst/>
          </a:prstGeom>
          <a:noFill/>
          <a:ln/>
        </p:spPr>
        <p:txBody>
          <a:bodyPr wrap="square" lIns="0" tIns="0" rIns="0" bIns="0" rtlCol="0" anchor="ctr"/>
          <a:lstStyle/>
          <a:p>
            <a:pPr marL="0" indent="0">
              <a:buNone/>
            </a:pPr>
            <a:r>
              <a:rPr lang="en-US" sz="1150" b="1" dirty="0">
                <a:solidFill>
                  <a:srgbClr val="FF4757"/>
                </a:solidFill>
                <a:latin typeface="Palatino Linotype" pitchFamily="34" charset="0"/>
                <a:ea typeface="Palatino Linotype" pitchFamily="34" charset="-122"/>
                <a:cs typeface="Palatino Linotype" pitchFamily="34" charset="-120"/>
              </a:rPr>
              <a:t>Refaceți al treilea rând: 1 422/256 423 → 55,5, nu 59.</a:t>
            </a:r>
            <a:endParaRPr lang="en-US" sz="1150" dirty="0"/>
          </a:p>
        </p:txBody>
      </p:sp>
      <p:sp>
        <p:nvSpPr>
          <p:cNvPr id="16" name="Text 13"/>
          <p:cNvSpPr/>
          <p:nvPr/>
        </p:nvSpPr>
        <p:spPr>
          <a:xfrm>
            <a:off x="594360" y="5504688"/>
            <a:ext cx="6766560" cy="548640"/>
          </a:xfrm>
          <a:prstGeom prst="rect">
            <a:avLst/>
          </a:prstGeom>
          <a:noFill/>
          <a:ln/>
        </p:spPr>
        <p:txBody>
          <a:bodyPr wrap="square" lIns="0" tIns="0" rIns="0" bIns="0" rtlCol="0" anchor="ctr"/>
          <a:lstStyle/>
          <a:p>
            <a:pPr marL="0" indent="0">
              <a:buNone/>
            </a:pPr>
            <a:r>
              <a:rPr lang="en-US" sz="1250" i="1" dirty="0">
                <a:solidFill>
                  <a:srgbClr val="959BB0"/>
                </a:solidFill>
                <a:latin typeface="Palatino Linotype" pitchFamily="34" charset="0"/>
                <a:ea typeface="Palatino Linotype" pitchFamily="34" charset="-122"/>
                <a:cs typeface="Palatino Linotype" pitchFamily="34" charset="-120"/>
              </a:rPr>
              <a:t>Snow formulează prudent: „between eight and nine times”. Rândurile 1 și 2 se reproduc (315,4 și 37,5, trunchiate de Snow la 315 și 37); al treilea nu. Inconsecvență din sursă, reprodusă deliberat.</a:t>
            </a:r>
            <a:endParaRPr lang="en-US" sz="1250" dirty="0"/>
          </a:p>
        </p:txBody>
      </p:sp>
      <p:sp>
        <p:nvSpPr>
          <p:cNvPr id="17" name="Text 14"/>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Sursa: Snow J. On the Mode of Communication of Cholera, ed. 2, 1855, Tabelul IX, p. 86.</a:t>
            </a:r>
            <a:endParaRPr lang="en-US" sz="900" dirty="0"/>
          </a:p>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Numitor: raport parlamentar 1853; decese: registrele GRO 1854. Când o cifră publicată nu se reface din propriile ei componente, o semnalați — nu o rescrieți în tăcere.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B02532"/>
                </a:solidFill>
                <a:latin typeface="Palatino Linotype" pitchFamily="34" charset="0"/>
                <a:ea typeface="Palatino Linotype" pitchFamily="34" charset="-122"/>
                <a:cs typeface="Palatino Linotype" pitchFamily="34" charset="-120"/>
              </a:rPr>
              <a:t>CALCUL PROPRIU — NU AFIRMAȚIA LUI SNOW</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11121A"/>
                </a:solidFill>
                <a:latin typeface="Palatino Linotype" pitchFamily="34" charset="0"/>
                <a:ea typeface="Palatino Linotype" pitchFamily="34" charset="-122"/>
                <a:cs typeface="Palatino Linotype" pitchFamily="34" charset="-120"/>
              </a:rPr>
              <a:t>Riscul relativ, cu interval de încredere</a:t>
            </a:r>
            <a:endParaRPr lang="en-US" sz="3100" dirty="0"/>
          </a:p>
        </p:txBody>
      </p:sp>
      <p:sp>
        <p:nvSpPr>
          <p:cNvPr id="4" name="Shape 2"/>
          <p:cNvSpPr/>
          <p:nvPr/>
        </p:nvSpPr>
        <p:spPr>
          <a:xfrm>
            <a:off x="594360" y="1737360"/>
            <a:ext cx="5349240" cy="2194560"/>
          </a:xfrm>
          <a:prstGeom prst="roundRect">
            <a:avLst>
              <a:gd name="adj" fmla="val 3750"/>
            </a:avLst>
          </a:prstGeom>
          <a:solidFill>
            <a:srgbClr val="ECEAE4"/>
          </a:solidFill>
          <a:ln w="12700">
            <a:solidFill>
              <a:srgbClr val="ECEAE4"/>
            </a:solidFill>
            <a:prstDash val="solid"/>
          </a:ln>
        </p:spPr>
        <p:txBody>
          <a:bodyPr/>
          <a:lstStyle/>
          <a:p>
            <a:endParaRPr lang="ro-RO"/>
          </a:p>
        </p:txBody>
      </p:sp>
      <p:sp>
        <p:nvSpPr>
          <p:cNvPr id="5" name="Text 3"/>
          <p:cNvSpPr/>
          <p:nvPr/>
        </p:nvSpPr>
        <p:spPr>
          <a:xfrm>
            <a:off x="914400" y="1874520"/>
            <a:ext cx="4709160" cy="1051560"/>
          </a:xfrm>
          <a:prstGeom prst="rect">
            <a:avLst/>
          </a:prstGeom>
          <a:noFill/>
          <a:ln/>
        </p:spPr>
        <p:txBody>
          <a:bodyPr wrap="square" lIns="0" tIns="0" rIns="0" bIns="0" rtlCol="0" anchor="ctr"/>
          <a:lstStyle/>
          <a:p>
            <a:pPr marL="0" indent="0">
              <a:buNone/>
            </a:pPr>
            <a:r>
              <a:rPr lang="en-US" sz="7600" b="1" dirty="0">
                <a:solidFill>
                  <a:srgbClr val="B02532"/>
                </a:solidFill>
                <a:latin typeface="Palatino Linotype" pitchFamily="34" charset="0"/>
                <a:ea typeface="Palatino Linotype" pitchFamily="34" charset="-122"/>
                <a:cs typeface="Palatino Linotype" pitchFamily="34" charset="-120"/>
              </a:rPr>
              <a:t>8,40</a:t>
            </a:r>
            <a:endParaRPr lang="en-US" sz="7600" dirty="0"/>
          </a:p>
        </p:txBody>
      </p:sp>
      <p:sp>
        <p:nvSpPr>
          <p:cNvPr id="6" name="Text 4"/>
          <p:cNvSpPr/>
          <p:nvPr/>
        </p:nvSpPr>
        <p:spPr>
          <a:xfrm>
            <a:off x="914400" y="2971800"/>
            <a:ext cx="4709160" cy="868680"/>
          </a:xfrm>
          <a:prstGeom prst="rect">
            <a:avLst/>
          </a:prstGeom>
          <a:noFill/>
          <a:ln/>
        </p:spPr>
        <p:txBody>
          <a:bodyPr wrap="square" lIns="0" tIns="0" rIns="0" bIns="0" rtlCol="0" anchor="ctr"/>
          <a:lstStyle/>
          <a:p>
            <a:pPr marL="0" indent="0">
              <a:lnSpc>
                <a:spcPts val="2000"/>
              </a:lnSpc>
              <a:buNone/>
            </a:pPr>
            <a:r>
              <a:rPr lang="en-US" sz="1400" dirty="0">
                <a:solidFill>
                  <a:srgbClr val="11121A"/>
                </a:solidFill>
                <a:latin typeface="Palatino Linotype" pitchFamily="34" charset="0"/>
                <a:ea typeface="Palatino Linotype" pitchFamily="34" charset="-122"/>
                <a:cs typeface="Palatino Linotype" pitchFamily="34" charset="-120"/>
              </a:rPr>
              <a:t>IÎ 95%: 6,84–10,32</a:t>
            </a:r>
            <a:endParaRPr lang="en-US" sz="1400" dirty="0"/>
          </a:p>
          <a:p>
            <a:pPr marL="0" indent="0">
              <a:lnSpc>
                <a:spcPts val="2000"/>
              </a:lnSpc>
              <a:buNone/>
            </a:pPr>
            <a:r>
              <a:rPr lang="en-US" sz="1400" dirty="0">
                <a:solidFill>
                  <a:srgbClr val="11121A"/>
                </a:solidFill>
                <a:latin typeface="Palatino Linotype" pitchFamily="34" charset="0"/>
                <a:ea typeface="Palatino Linotype" pitchFamily="34" charset="-122"/>
                <a:cs typeface="Palatino Linotype" pitchFamily="34" charset="-120"/>
              </a:rPr>
              <a:t>Diferență de rată: 278 la 10 000 de case (IÎ 95%: 259–297)</a:t>
            </a:r>
            <a:endParaRPr lang="en-US" sz="1400" dirty="0"/>
          </a:p>
        </p:txBody>
      </p:sp>
      <p:sp>
        <p:nvSpPr>
          <p:cNvPr id="7" name="Shape 5"/>
          <p:cNvSpPr/>
          <p:nvPr/>
        </p:nvSpPr>
        <p:spPr>
          <a:xfrm>
            <a:off x="6217920" y="1737360"/>
            <a:ext cx="5349240" cy="2194560"/>
          </a:xfrm>
          <a:prstGeom prst="roundRect">
            <a:avLst>
              <a:gd name="adj" fmla="val 3750"/>
            </a:avLst>
          </a:prstGeom>
          <a:solidFill>
            <a:srgbClr val="ECEAE4"/>
          </a:solidFill>
          <a:ln w="12700">
            <a:solidFill>
              <a:srgbClr val="ECEAE4"/>
            </a:solidFill>
            <a:prstDash val="solid"/>
          </a:ln>
        </p:spPr>
        <p:txBody>
          <a:bodyPr/>
          <a:lstStyle/>
          <a:p>
            <a:endParaRPr lang="ro-RO"/>
          </a:p>
        </p:txBody>
      </p:sp>
      <p:sp>
        <p:nvSpPr>
          <p:cNvPr id="8" name="Text 6"/>
          <p:cNvSpPr/>
          <p:nvPr/>
        </p:nvSpPr>
        <p:spPr>
          <a:xfrm>
            <a:off x="6537960" y="1874520"/>
            <a:ext cx="4709160" cy="1051560"/>
          </a:xfrm>
          <a:prstGeom prst="rect">
            <a:avLst/>
          </a:prstGeom>
          <a:noFill/>
          <a:ln/>
        </p:spPr>
        <p:txBody>
          <a:bodyPr wrap="square" lIns="0" tIns="0" rIns="0" bIns="0" rtlCol="0" anchor="ctr"/>
          <a:lstStyle/>
          <a:p>
            <a:pPr marL="0" indent="0">
              <a:buNone/>
            </a:pPr>
            <a:r>
              <a:rPr lang="en-US" sz="7600" b="1" dirty="0">
                <a:solidFill>
                  <a:srgbClr val="8A6100"/>
                </a:solidFill>
                <a:latin typeface="Palatino Linotype" pitchFamily="34" charset="0"/>
                <a:ea typeface="Palatino Linotype" pitchFamily="34" charset="-122"/>
                <a:cs typeface="Palatino Linotype" pitchFamily="34" charset="-120"/>
              </a:rPr>
              <a:t>13,3</a:t>
            </a:r>
            <a:endParaRPr lang="en-US" sz="7600" dirty="0"/>
          </a:p>
        </p:txBody>
      </p:sp>
      <p:sp>
        <p:nvSpPr>
          <p:cNvPr id="9" name="Text 7"/>
          <p:cNvSpPr/>
          <p:nvPr/>
        </p:nvSpPr>
        <p:spPr>
          <a:xfrm>
            <a:off x="6537960" y="2971800"/>
            <a:ext cx="4709160" cy="868680"/>
          </a:xfrm>
          <a:prstGeom prst="rect">
            <a:avLst/>
          </a:prstGeom>
          <a:noFill/>
          <a:ln/>
        </p:spPr>
        <p:txBody>
          <a:bodyPr wrap="square" lIns="0" tIns="0" rIns="0" bIns="0" rtlCol="0" anchor="ctr"/>
          <a:lstStyle/>
          <a:p>
            <a:pPr marL="0" indent="0">
              <a:lnSpc>
                <a:spcPts val="2000"/>
              </a:lnSpc>
              <a:buNone/>
            </a:pPr>
            <a:r>
              <a:rPr lang="en-US" sz="1400" dirty="0">
                <a:solidFill>
                  <a:srgbClr val="11121A"/>
                </a:solidFill>
                <a:latin typeface="Palatino Linotype" pitchFamily="34" charset="0"/>
                <a:ea typeface="Palatino Linotype" pitchFamily="34" charset="-122"/>
                <a:cs typeface="Palatino Linotype" pitchFamily="34" charset="-120"/>
              </a:rPr>
              <a:t>IÎ 95%: 7,8–22,8 — primele patru săptămâni (286 față de 14 atacuri fatale)</a:t>
            </a:r>
            <a:endParaRPr lang="en-US" sz="1400" dirty="0"/>
          </a:p>
          <a:p>
            <a:pPr marL="0" indent="0">
              <a:lnSpc>
                <a:spcPts val="2000"/>
              </a:lnSpc>
              <a:buNone/>
            </a:pPr>
            <a:r>
              <a:rPr lang="en-US" sz="1400" dirty="0">
                <a:solidFill>
                  <a:srgbClr val="11121A"/>
                </a:solidFill>
                <a:latin typeface="Palatino Linotype" pitchFamily="34" charset="0"/>
                <a:ea typeface="Palatino Linotype" pitchFamily="34" charset="-122"/>
                <a:cs typeface="Palatino Linotype" pitchFamily="34" charset="-120"/>
              </a:rPr>
              <a:t>Snow spune „de paisprezece ori”</a:t>
            </a:r>
            <a:endParaRPr lang="en-US" sz="1400" dirty="0"/>
          </a:p>
        </p:txBody>
      </p:sp>
      <p:sp>
        <p:nvSpPr>
          <p:cNvPr id="10" name="Shape 8"/>
          <p:cNvSpPr/>
          <p:nvPr/>
        </p:nvSpPr>
        <p:spPr>
          <a:xfrm>
            <a:off x="594360" y="4114800"/>
            <a:ext cx="10972800" cy="914400"/>
          </a:xfrm>
          <a:prstGeom prst="roundRect">
            <a:avLst>
              <a:gd name="adj" fmla="val 9000"/>
            </a:avLst>
          </a:prstGeom>
          <a:solidFill>
            <a:srgbClr val="F9F8F5"/>
          </a:solidFill>
          <a:ln w="12700">
            <a:solidFill>
              <a:srgbClr val="F9F8F5"/>
            </a:solidFill>
            <a:prstDash val="solid"/>
          </a:ln>
        </p:spPr>
        <p:txBody>
          <a:bodyPr/>
          <a:lstStyle/>
          <a:p>
            <a:endParaRPr lang="ro-RO"/>
          </a:p>
        </p:txBody>
      </p:sp>
      <p:sp>
        <p:nvSpPr>
          <p:cNvPr id="11" name="Text 9"/>
          <p:cNvSpPr/>
          <p:nvPr/>
        </p:nvSpPr>
        <p:spPr>
          <a:xfrm>
            <a:off x="960120" y="4114800"/>
            <a:ext cx="10241280" cy="914400"/>
          </a:xfrm>
          <a:prstGeom prst="rect">
            <a:avLst/>
          </a:prstGeom>
          <a:noFill/>
          <a:ln/>
        </p:spPr>
        <p:txBody>
          <a:bodyPr wrap="square" lIns="0" tIns="0" rIns="0" bIns="0" rtlCol="0" anchor="ctr"/>
          <a:lstStyle/>
          <a:p>
            <a:pPr marL="0" indent="0">
              <a:buNone/>
            </a:pPr>
            <a:r>
              <a:rPr lang="en-US" sz="1400" dirty="0">
                <a:solidFill>
                  <a:srgbClr val="11121A"/>
                </a:solidFill>
                <a:latin typeface="Palatino Linotype" pitchFamily="34" charset="0"/>
                <a:ea typeface="Palatino Linotype" pitchFamily="34" charset="-122"/>
                <a:cs typeface="Palatino Linotype" pitchFamily="34" charset="-120"/>
              </a:rPr>
              <a:t>Următoarele șapte săptămâni, până la 14 octombrie (Tabelul X, datele Registrar General): 2 353 față de 302 decese; Snow: „nearly five times”. Snow tipărește 537 la 10 000 de case; din cifre rezultă 587,6. RR: 5,08 (IÎ 95%: 4,51–5,73). Pentru 795 de decese, registratorii nu au stabilit sursa de apă.</a:t>
            </a:r>
            <a:endParaRPr lang="en-US" sz="1400" dirty="0"/>
          </a:p>
        </p:txBody>
      </p:sp>
      <p:sp>
        <p:nvSpPr>
          <p:cNvPr id="12" name="Shape 10"/>
          <p:cNvSpPr/>
          <p:nvPr/>
        </p:nvSpPr>
        <p:spPr>
          <a:xfrm>
            <a:off x="594360" y="5166360"/>
            <a:ext cx="10972800" cy="868680"/>
          </a:xfrm>
          <a:prstGeom prst="roundRect">
            <a:avLst>
              <a:gd name="adj" fmla="val 9474"/>
            </a:avLst>
          </a:prstGeom>
          <a:solidFill>
            <a:srgbClr val="4A2D8C"/>
          </a:solidFill>
          <a:ln w="12700">
            <a:solidFill>
              <a:srgbClr val="4A2D8C"/>
            </a:solidFill>
            <a:prstDash val="solid"/>
          </a:ln>
        </p:spPr>
        <p:txBody>
          <a:bodyPr/>
          <a:lstStyle/>
          <a:p>
            <a:endParaRPr lang="ro-RO"/>
          </a:p>
        </p:txBody>
      </p:sp>
      <p:sp>
        <p:nvSpPr>
          <p:cNvPr id="13" name="Text 11"/>
          <p:cNvSpPr/>
          <p:nvPr/>
        </p:nvSpPr>
        <p:spPr>
          <a:xfrm>
            <a:off x="960120" y="5166360"/>
            <a:ext cx="10241280" cy="868680"/>
          </a:xfrm>
          <a:prstGeom prst="rect">
            <a:avLst/>
          </a:prstGeom>
          <a:noFill/>
          <a:ln/>
        </p:spPr>
        <p:txBody>
          <a:bodyPr wrap="square" lIns="0" tIns="0" rIns="0" bIns="0" rtlCol="0" anchor="ctr"/>
          <a:lstStyle/>
          <a:p>
            <a:pPr marL="0" indent="0">
              <a:buNone/>
            </a:pPr>
            <a:r>
              <a:rPr lang="en-US" sz="1250" b="1" dirty="0">
                <a:solidFill>
                  <a:srgbClr val="FFFFFF"/>
                </a:solidFill>
                <a:latin typeface="Palatino Linotype" pitchFamily="34" charset="0"/>
                <a:ea typeface="Palatino Linotype" pitchFamily="34" charset="-122"/>
                <a:cs typeface="Palatino Linotype" pitchFamily="34" charset="-120"/>
              </a:rPr>
              <a:t>TREI LIMITE DE DECLARAT. (1) Numitorul este CASA, nu persoana: decesele se grupează, deci intervalul e mai îngust decât incertitudinea reală — o limită inferioară. (2) Numitorul e din 1853, decesele din 1854. (3) În unele subdistricte, sursa de apă din ultimele trei săptămâni a fost calculată proporțional, nu anchetată: o parte din cele 1 263 de decese este o estimare.</a:t>
            </a:r>
            <a:endParaRPr lang="en-US" sz="1250" dirty="0"/>
          </a:p>
        </p:txBody>
      </p:sp>
      <p:sp>
        <p:nvSpPr>
          <p:cNvPr id="14" name="Text 12"/>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585A64"/>
                </a:solidFill>
                <a:latin typeface="Palatino Linotype" pitchFamily="34" charset="0"/>
                <a:ea typeface="Palatino Linotype" pitchFamily="34" charset="-122"/>
                <a:cs typeface="Palatino Linotype" pitchFamily="34" charset="-120"/>
              </a:rPr>
              <a:t>Surse: Snow 1855, p. 80, 83 și Tabelele VIII–X, pp. 84–88.</a:t>
            </a:r>
            <a:endParaRPr lang="en-US" sz="900" dirty="0"/>
          </a:p>
          <a:p>
            <a:pPr marL="0" indent="0">
              <a:buNone/>
            </a:pPr>
            <a:r>
              <a:rPr lang="en-US" sz="900" i="1" dirty="0">
                <a:solidFill>
                  <a:srgbClr val="585A64"/>
                </a:solidFill>
                <a:latin typeface="Palatino Linotype" pitchFamily="34" charset="0"/>
                <a:ea typeface="Palatino Linotype" pitchFamily="34" charset="-122"/>
                <a:cs typeface="Palatino Linotype" pitchFamily="34" charset="-120"/>
              </a:rPr>
              <a:t>RR și IÎ: calcul propriu, pe scara logaritmică; calculul complet este în registrul surselor. Sursele din secolul al XIX-lea nu raportează intervale de încredere.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TREI MOTIVE</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FFFFFF"/>
                </a:solidFill>
                <a:latin typeface="Palatino Linotype" pitchFamily="34" charset="0"/>
                <a:ea typeface="Palatino Linotype" pitchFamily="34" charset="-122"/>
                <a:cs typeface="Palatino Linotype" pitchFamily="34" charset="-120"/>
              </a:rPr>
              <a:t>De ce tabelul, și nu harta</a:t>
            </a:r>
            <a:endParaRPr lang="en-US" sz="3100" dirty="0"/>
          </a:p>
        </p:txBody>
      </p:sp>
      <p:sp>
        <p:nvSpPr>
          <p:cNvPr id="4" name="Shape 2"/>
          <p:cNvSpPr/>
          <p:nvPr/>
        </p:nvSpPr>
        <p:spPr>
          <a:xfrm>
            <a:off x="594360" y="1783080"/>
            <a:ext cx="10972800" cy="1170432"/>
          </a:xfrm>
          <a:prstGeom prst="roundRect">
            <a:avLst>
              <a:gd name="adj" fmla="val 7031"/>
            </a:avLst>
          </a:prstGeom>
          <a:solidFill>
            <a:srgbClr val="1D1F2B"/>
          </a:solidFill>
          <a:ln w="12700">
            <a:solidFill>
              <a:srgbClr val="1D1F2B"/>
            </a:solidFill>
            <a:prstDash val="solid"/>
          </a:ln>
        </p:spPr>
        <p:txBody>
          <a:bodyPr/>
          <a:lstStyle/>
          <a:p>
            <a:endParaRPr lang="ro-RO"/>
          </a:p>
        </p:txBody>
      </p:sp>
      <p:sp>
        <p:nvSpPr>
          <p:cNvPr id="5" name="Shape 3"/>
          <p:cNvSpPr/>
          <p:nvPr/>
        </p:nvSpPr>
        <p:spPr>
          <a:xfrm>
            <a:off x="914400" y="2130552"/>
            <a:ext cx="475488" cy="475488"/>
          </a:xfrm>
          <a:prstGeom prst="ellipse">
            <a:avLst/>
          </a:prstGeom>
          <a:solidFill>
            <a:srgbClr val="FF4757"/>
          </a:solidFill>
          <a:ln/>
        </p:spPr>
        <p:txBody>
          <a:bodyPr/>
          <a:lstStyle/>
          <a:p>
            <a:endParaRPr lang="ro-RO"/>
          </a:p>
        </p:txBody>
      </p:sp>
      <p:sp>
        <p:nvSpPr>
          <p:cNvPr id="6" name="Text 4"/>
          <p:cNvSpPr/>
          <p:nvPr/>
        </p:nvSpPr>
        <p:spPr>
          <a:xfrm>
            <a:off x="914400" y="2130552"/>
            <a:ext cx="475488" cy="475488"/>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91640" y="1911096"/>
            <a:ext cx="9601200" cy="384048"/>
          </a:xfrm>
          <a:prstGeom prst="rect">
            <a:avLst/>
          </a:prstGeom>
          <a:noFill/>
          <a:ln/>
        </p:spPr>
        <p:txBody>
          <a:bodyPr wrap="square" lIns="0" tIns="0" rIns="0" bIns="0" rtlCol="0" anchor="ctr"/>
          <a:lstStyle/>
          <a:p>
            <a:pPr marL="0" indent="0">
              <a:buNone/>
            </a:pPr>
            <a:r>
              <a:rPr lang="en-US" sz="1700" b="1" dirty="0">
                <a:solidFill>
                  <a:srgbClr val="FF4757"/>
                </a:solidFill>
                <a:latin typeface="Palatino Linotype" pitchFamily="34" charset="0"/>
                <a:ea typeface="Palatino Linotype" pitchFamily="34" charset="-122"/>
                <a:cs typeface="Palatino Linotype" pitchFamily="34" charset="-120"/>
              </a:rPr>
              <a:t>Are numitor</a:t>
            </a:r>
            <a:endParaRPr lang="en-US" sz="1700" dirty="0"/>
          </a:p>
        </p:txBody>
      </p:sp>
      <p:sp>
        <p:nvSpPr>
          <p:cNvPr id="8" name="Text 6"/>
          <p:cNvSpPr/>
          <p:nvPr/>
        </p:nvSpPr>
        <p:spPr>
          <a:xfrm>
            <a:off x="1691640" y="2313432"/>
            <a:ext cx="9601200" cy="566928"/>
          </a:xfrm>
          <a:prstGeom prst="rect">
            <a:avLst/>
          </a:prstGeom>
          <a:noFill/>
          <a:ln/>
        </p:spPr>
        <p:txBody>
          <a:bodyPr wrap="square" lIns="0" tIns="0" rIns="0" bIns="0" rtlCol="0" anchor="ctr"/>
          <a:lstStyle/>
          <a:p>
            <a:pPr marL="0" indent="0">
              <a:buNone/>
            </a:pPr>
            <a:r>
              <a:rPr lang="en-US" sz="1300" dirty="0">
                <a:solidFill>
                  <a:srgbClr val="FFFFFF"/>
                </a:solidFill>
                <a:latin typeface="Palatino Linotype" pitchFamily="34" charset="0"/>
                <a:ea typeface="Palatino Linotype" pitchFamily="34" charset="-122"/>
                <a:cs typeface="Palatino Linotype" pitchFamily="34" charset="-120"/>
              </a:rPr>
              <a:t>Harta arată unde au murit oamenii. Nu arată câți locuiau acolo. Fără numitor, un numărător este o anecdotă bine desenată.</a:t>
            </a:r>
            <a:endParaRPr lang="en-US" sz="1300" dirty="0"/>
          </a:p>
        </p:txBody>
      </p:sp>
      <p:sp>
        <p:nvSpPr>
          <p:cNvPr id="9" name="Shape 7"/>
          <p:cNvSpPr/>
          <p:nvPr/>
        </p:nvSpPr>
        <p:spPr>
          <a:xfrm>
            <a:off x="594360" y="3081528"/>
            <a:ext cx="10972800" cy="1170432"/>
          </a:xfrm>
          <a:prstGeom prst="roundRect">
            <a:avLst>
              <a:gd name="adj" fmla="val 7031"/>
            </a:avLst>
          </a:prstGeom>
          <a:solidFill>
            <a:srgbClr val="272A38"/>
          </a:solidFill>
          <a:ln w="12700">
            <a:solidFill>
              <a:srgbClr val="272A38"/>
            </a:solidFill>
            <a:prstDash val="solid"/>
          </a:ln>
        </p:spPr>
        <p:txBody>
          <a:bodyPr/>
          <a:lstStyle/>
          <a:p>
            <a:endParaRPr lang="ro-RO"/>
          </a:p>
        </p:txBody>
      </p:sp>
      <p:sp>
        <p:nvSpPr>
          <p:cNvPr id="10" name="Shape 8"/>
          <p:cNvSpPr/>
          <p:nvPr/>
        </p:nvSpPr>
        <p:spPr>
          <a:xfrm>
            <a:off x="914400" y="3429000"/>
            <a:ext cx="475488" cy="475488"/>
          </a:xfrm>
          <a:prstGeom prst="ellipse">
            <a:avLst/>
          </a:prstGeom>
          <a:solidFill>
            <a:srgbClr val="FFC24B"/>
          </a:solidFill>
          <a:ln/>
        </p:spPr>
        <p:txBody>
          <a:bodyPr/>
          <a:lstStyle/>
          <a:p>
            <a:endParaRPr lang="ro-RO"/>
          </a:p>
        </p:txBody>
      </p:sp>
      <p:sp>
        <p:nvSpPr>
          <p:cNvPr id="11" name="Text 9"/>
          <p:cNvSpPr/>
          <p:nvPr/>
        </p:nvSpPr>
        <p:spPr>
          <a:xfrm>
            <a:off x="914400" y="3429000"/>
            <a:ext cx="475488" cy="475488"/>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691640" y="3209544"/>
            <a:ext cx="9601200" cy="384048"/>
          </a:xfrm>
          <a:prstGeom prst="rect">
            <a:avLst/>
          </a:prstGeom>
          <a:noFill/>
          <a:ln/>
        </p:spPr>
        <p:txBody>
          <a:bodyPr wrap="square" lIns="0" tIns="0" rIns="0" bIns="0" rtlCol="0" anchor="ctr"/>
          <a:lstStyle/>
          <a:p>
            <a:pPr marL="0" indent="0">
              <a:buNone/>
            </a:pPr>
            <a:r>
              <a:rPr lang="en-US" sz="1700" b="1" dirty="0">
                <a:solidFill>
                  <a:srgbClr val="FFC24B"/>
                </a:solidFill>
                <a:latin typeface="Palatino Linotype" pitchFamily="34" charset="0"/>
                <a:ea typeface="Palatino Linotype" pitchFamily="34" charset="-122"/>
                <a:cs typeface="Palatino Linotype" pitchFamily="34" charset="-120"/>
              </a:rPr>
              <a:t>Are un grup de comparație pe care nu l-ai ales tu</a:t>
            </a:r>
            <a:endParaRPr lang="en-US" sz="1700" dirty="0"/>
          </a:p>
        </p:txBody>
      </p:sp>
      <p:sp>
        <p:nvSpPr>
          <p:cNvPr id="13" name="Text 11"/>
          <p:cNvSpPr/>
          <p:nvPr/>
        </p:nvSpPr>
        <p:spPr>
          <a:xfrm>
            <a:off x="1691640" y="3611880"/>
            <a:ext cx="9601200" cy="566928"/>
          </a:xfrm>
          <a:prstGeom prst="rect">
            <a:avLst/>
          </a:prstGeom>
          <a:noFill/>
          <a:ln/>
        </p:spPr>
        <p:txBody>
          <a:bodyPr wrap="square" lIns="0" tIns="0" rIns="0" bIns="0" rtlCol="0" anchor="ctr"/>
          <a:lstStyle/>
          <a:p>
            <a:pPr marL="0" indent="0">
              <a:buNone/>
            </a:pPr>
            <a:r>
              <a:rPr lang="en-US" sz="1300" dirty="0">
                <a:solidFill>
                  <a:srgbClr val="FFFFFF"/>
                </a:solidFill>
                <a:latin typeface="Palatino Linotype" pitchFamily="34" charset="0"/>
                <a:ea typeface="Palatino Linotype" pitchFamily="34" charset="-122"/>
                <a:cs typeface="Palatino Linotype" pitchFamily="34" charset="-120"/>
              </a:rPr>
              <a:t>Nimeni nu a decis ce familie primește ce apă în funcție de vreo caracteristică asociată cu riscul. Alocarea era plauzibil independentă de risc — nu randomizată.</a:t>
            </a:r>
            <a:endParaRPr lang="en-US" sz="1300" dirty="0"/>
          </a:p>
        </p:txBody>
      </p:sp>
      <p:sp>
        <p:nvSpPr>
          <p:cNvPr id="14" name="Shape 12"/>
          <p:cNvSpPr/>
          <p:nvPr/>
        </p:nvSpPr>
        <p:spPr>
          <a:xfrm>
            <a:off x="594360" y="4379976"/>
            <a:ext cx="10972800" cy="1170432"/>
          </a:xfrm>
          <a:prstGeom prst="roundRect">
            <a:avLst>
              <a:gd name="adj" fmla="val 7031"/>
            </a:avLst>
          </a:prstGeom>
          <a:solidFill>
            <a:srgbClr val="1D1F2B"/>
          </a:solidFill>
          <a:ln w="12700">
            <a:solidFill>
              <a:srgbClr val="1D1F2B"/>
            </a:solidFill>
            <a:prstDash val="solid"/>
          </a:ln>
        </p:spPr>
        <p:txBody>
          <a:bodyPr/>
          <a:lstStyle/>
          <a:p>
            <a:endParaRPr lang="ro-RO"/>
          </a:p>
        </p:txBody>
      </p:sp>
      <p:sp>
        <p:nvSpPr>
          <p:cNvPr id="15" name="Shape 13"/>
          <p:cNvSpPr/>
          <p:nvPr/>
        </p:nvSpPr>
        <p:spPr>
          <a:xfrm>
            <a:off x="914400" y="4727448"/>
            <a:ext cx="475488" cy="475488"/>
          </a:xfrm>
          <a:prstGeom prst="ellipse">
            <a:avLst/>
          </a:prstGeom>
          <a:solidFill>
            <a:srgbClr val="27D3BE"/>
          </a:solidFill>
          <a:ln/>
        </p:spPr>
        <p:txBody>
          <a:bodyPr/>
          <a:lstStyle/>
          <a:p>
            <a:endParaRPr lang="ro-RO"/>
          </a:p>
        </p:txBody>
      </p:sp>
      <p:sp>
        <p:nvSpPr>
          <p:cNvPr id="16" name="Text 14"/>
          <p:cNvSpPr/>
          <p:nvPr/>
        </p:nvSpPr>
        <p:spPr>
          <a:xfrm>
            <a:off x="914400" y="4727448"/>
            <a:ext cx="475488" cy="475488"/>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691640" y="4507992"/>
            <a:ext cx="9601200" cy="384048"/>
          </a:xfrm>
          <a:prstGeom prst="rect">
            <a:avLst/>
          </a:prstGeom>
          <a:noFill/>
          <a:ln/>
        </p:spPr>
        <p:txBody>
          <a:bodyPr wrap="square" lIns="0" tIns="0" rIns="0" bIns="0" rtlCol="0" anchor="ctr"/>
          <a:lstStyle/>
          <a:p>
            <a:pPr marL="0" indent="0">
              <a:buNone/>
            </a:pPr>
            <a:r>
              <a:rPr lang="en-US" sz="1700" b="1" dirty="0">
                <a:solidFill>
                  <a:srgbClr val="27D3BE"/>
                </a:solidFill>
                <a:latin typeface="Palatino Linotype" pitchFamily="34" charset="0"/>
                <a:ea typeface="Palatino Linotype" pitchFamily="34" charset="-122"/>
                <a:cs typeface="Palatino Linotype" pitchFamily="34" charset="-120"/>
              </a:rPr>
              <a:t>Are dimensiune</a:t>
            </a:r>
            <a:endParaRPr lang="en-US" sz="1700" dirty="0"/>
          </a:p>
        </p:txBody>
      </p:sp>
      <p:sp>
        <p:nvSpPr>
          <p:cNvPr id="18" name="Text 16"/>
          <p:cNvSpPr/>
          <p:nvPr/>
        </p:nvSpPr>
        <p:spPr>
          <a:xfrm>
            <a:off x="1691640" y="4910328"/>
            <a:ext cx="9601200" cy="566928"/>
          </a:xfrm>
          <a:prstGeom prst="rect">
            <a:avLst/>
          </a:prstGeom>
          <a:noFill/>
          <a:ln/>
        </p:spPr>
        <p:txBody>
          <a:bodyPr wrap="square" lIns="0" tIns="0" rIns="0" bIns="0" rtlCol="0" anchor="ctr"/>
          <a:lstStyle/>
          <a:p>
            <a:pPr marL="0" indent="0">
              <a:buNone/>
            </a:pPr>
            <a:r>
              <a:rPr lang="en-US" sz="1300" dirty="0">
                <a:solidFill>
                  <a:srgbClr val="FFFFFF"/>
                </a:solidFill>
                <a:latin typeface="Palatino Linotype" pitchFamily="34" charset="0"/>
                <a:ea typeface="Palatino Linotype" pitchFamily="34" charset="-122"/>
                <a:cs typeface="Palatino Linotype" pitchFamily="34" charset="-120"/>
              </a:rPr>
              <a:t>Cel puțin 300 000 de oameni, față de 616 atacuri fatale pe câteva străzi, în Broad Street.</a:t>
            </a:r>
            <a:endParaRPr lang="en-US" sz="1300" dirty="0"/>
          </a:p>
        </p:txBody>
      </p:sp>
      <p:sp>
        <p:nvSpPr>
          <p:cNvPr id="19" name="Text 17"/>
          <p:cNvSpPr/>
          <p:nvPr/>
        </p:nvSpPr>
        <p:spPr>
          <a:xfrm>
            <a:off x="594360" y="5760720"/>
            <a:ext cx="10972800" cy="365760"/>
          </a:xfrm>
          <a:prstGeom prst="rect">
            <a:avLst/>
          </a:prstGeom>
          <a:noFill/>
          <a:ln/>
        </p:spPr>
        <p:txBody>
          <a:bodyPr wrap="square" lIns="0" tIns="0" rIns="0" bIns="0" rtlCol="0" anchor="ctr"/>
          <a:lstStyle/>
          <a:p>
            <a:pPr marL="0" indent="0">
              <a:buNone/>
            </a:pPr>
            <a:r>
              <a:rPr lang="en-US" sz="1400" b="1" i="1" dirty="0">
                <a:solidFill>
                  <a:srgbClr val="FFC24B"/>
                </a:solidFill>
                <a:latin typeface="Palatino Linotype" pitchFamily="34" charset="0"/>
                <a:ea typeface="Palatino Linotype" pitchFamily="34" charset="-122"/>
                <a:cs typeface="Palatino Linotype" pitchFamily="34" charset="-120"/>
              </a:rPr>
              <a:t>Relatarea obișnuită reține gestul: „a scos mânerul pompei”. Gestul memorabil a înghițit dovada.</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a:effectLst/>
      </p:bgPr>
    </p:bg>
    <p:spTree>
      <p:nvGrpSpPr>
        <p:cNvPr id="1" name=""/>
        <p:cNvGrpSpPr/>
        <p:nvPr/>
      </p:nvGrpSpPr>
      <p:grpSpPr>
        <a:xfrm>
          <a:off x="0" y="0"/>
          <a:ext cx="0" cy="0"/>
          <a:chOff x="0" y="0"/>
          <a:chExt cx="0" cy="0"/>
        </a:xfrm>
      </p:grpSpPr>
      <p:sp>
        <p:nvSpPr>
          <p:cNvPr id="2" name="Shape 0"/>
          <p:cNvSpPr/>
          <p:nvPr/>
        </p:nvSpPr>
        <p:spPr>
          <a:xfrm>
            <a:off x="594360" y="329184"/>
            <a:ext cx="3840480" cy="402336"/>
          </a:xfrm>
          <a:prstGeom prst="roundRect">
            <a:avLst>
              <a:gd name="adj" fmla="val 50000"/>
            </a:avLst>
          </a:prstGeom>
          <a:solidFill>
            <a:srgbClr val="FF4757"/>
          </a:solidFill>
          <a:ln w="12700">
            <a:solidFill>
              <a:srgbClr val="FF4757"/>
            </a:solidFill>
            <a:prstDash val="solid"/>
          </a:ln>
        </p:spPr>
        <p:txBody>
          <a:bodyPr/>
          <a:lstStyle/>
          <a:p>
            <a:endParaRPr lang="ro-RO"/>
          </a:p>
        </p:txBody>
      </p:sp>
      <p:sp>
        <p:nvSpPr>
          <p:cNvPr id="3" name="Text 1"/>
          <p:cNvSpPr/>
          <p:nvPr/>
        </p:nvSpPr>
        <p:spPr>
          <a:xfrm>
            <a:off x="594360" y="329184"/>
            <a:ext cx="3840480" cy="402336"/>
          </a:xfrm>
          <a:prstGeom prst="rect">
            <a:avLst/>
          </a:prstGeom>
          <a:noFill/>
          <a:ln/>
        </p:spPr>
        <p:txBody>
          <a:bodyPr wrap="square" lIns="0" tIns="0" rIns="0" bIns="0" rtlCol="0" anchor="ctr"/>
          <a:lstStyle/>
          <a:p>
            <a:pPr marL="0" indent="0" algn="ctr">
              <a:buNone/>
            </a:pPr>
            <a:r>
              <a:rPr lang="en-US" sz="1050" b="1" dirty="0">
                <a:solidFill>
                  <a:srgbClr val="2E060B"/>
                </a:solidFill>
                <a:latin typeface="Palatino Linotype" pitchFamily="34" charset="0"/>
                <a:ea typeface="Palatino Linotype" pitchFamily="34" charset="-122"/>
                <a:cs typeface="Palatino Linotype" pitchFamily="34" charset="-120"/>
              </a:rPr>
              <a:t>CE NU E ÎN LEGENDĂ  ·  03</a:t>
            </a:r>
            <a:endParaRPr lang="en-US" sz="1050" dirty="0"/>
          </a:p>
        </p:txBody>
      </p:sp>
      <p:sp>
        <p:nvSpPr>
          <p:cNvPr id="4" name="Text 2"/>
          <p:cNvSpPr/>
          <p:nvPr/>
        </p:nvSpPr>
        <p:spPr>
          <a:xfrm>
            <a:off x="594360" y="694944"/>
            <a:ext cx="10972800" cy="960120"/>
          </a:xfrm>
          <a:prstGeom prst="rect">
            <a:avLst/>
          </a:prstGeom>
          <a:noFill/>
          <a:ln/>
        </p:spPr>
        <p:txBody>
          <a:bodyPr wrap="square" lIns="0" tIns="0" rIns="0" bIns="0" rtlCol="0" anchor="t"/>
          <a:lstStyle/>
          <a:p>
            <a:pPr marL="0" indent="0">
              <a:buNone/>
            </a:pPr>
            <a:r>
              <a:rPr lang="en-US" sz="3400" b="1" dirty="0">
                <a:solidFill>
                  <a:srgbClr val="FFFFFF"/>
                </a:solidFill>
                <a:latin typeface="Palatino Linotype" pitchFamily="34" charset="0"/>
                <a:ea typeface="Palatino Linotype" pitchFamily="34" charset="-122"/>
                <a:cs typeface="Palatino Linotype" pitchFamily="34" charset="-120"/>
              </a:rPr>
              <a:t>Numărătorul singur nu este o dovadă</a:t>
            </a:r>
            <a:endParaRPr lang="en-US" sz="3400" dirty="0"/>
          </a:p>
        </p:txBody>
      </p:sp>
      <p:sp>
        <p:nvSpPr>
          <p:cNvPr id="5" name="Text 3"/>
          <p:cNvSpPr/>
          <p:nvPr/>
        </p:nvSpPr>
        <p:spPr>
          <a:xfrm>
            <a:off x="594360" y="1691640"/>
            <a:ext cx="10972800" cy="365760"/>
          </a:xfrm>
          <a:prstGeom prst="rect">
            <a:avLst/>
          </a:prstGeom>
          <a:noFill/>
          <a:ln/>
        </p:spPr>
        <p:txBody>
          <a:bodyPr wrap="square" lIns="0" tIns="0" rIns="0" bIns="0" rtlCol="0" anchor="ctr"/>
          <a:lstStyle/>
          <a:p>
            <a:pPr marL="0" indent="0">
              <a:buNone/>
            </a:pPr>
            <a:r>
              <a:rPr lang="en-US" sz="1400" dirty="0">
                <a:solidFill>
                  <a:srgbClr val="959BB0"/>
                </a:solidFill>
                <a:latin typeface="Palatino Linotype" pitchFamily="34" charset="0"/>
                <a:ea typeface="Palatino Linotype" pitchFamily="34" charset="-122"/>
                <a:cs typeface="Palatino Linotype" pitchFamily="34" charset="-120"/>
              </a:rPr>
              <a:t>A doua oară în această sesiune — prima a fost la cifra de deschidere a sesiunii, 143 față de 12. O veți întâlni de cel puțin patru ori în curs:</a:t>
            </a:r>
            <a:endParaRPr lang="en-US" sz="1400" dirty="0"/>
          </a:p>
        </p:txBody>
      </p:sp>
      <p:sp>
        <p:nvSpPr>
          <p:cNvPr id="6" name="Shape 4"/>
          <p:cNvSpPr/>
          <p:nvPr/>
        </p:nvSpPr>
        <p:spPr>
          <a:xfrm>
            <a:off x="594360" y="2148840"/>
            <a:ext cx="10972800" cy="749808"/>
          </a:xfrm>
          <a:prstGeom prst="roundRect">
            <a:avLst>
              <a:gd name="adj" fmla="val 10976"/>
            </a:avLst>
          </a:prstGeom>
          <a:solidFill>
            <a:srgbClr val="1D1F2B"/>
          </a:solidFill>
          <a:ln w="12700">
            <a:solidFill>
              <a:srgbClr val="1D1F2B"/>
            </a:solidFill>
            <a:prstDash val="solid"/>
          </a:ln>
        </p:spPr>
        <p:txBody>
          <a:bodyPr/>
          <a:lstStyle/>
          <a:p>
            <a:endParaRPr lang="ro-RO"/>
          </a:p>
        </p:txBody>
      </p:sp>
      <p:sp>
        <p:nvSpPr>
          <p:cNvPr id="7" name="Shape 5"/>
          <p:cNvSpPr/>
          <p:nvPr/>
        </p:nvSpPr>
        <p:spPr>
          <a:xfrm>
            <a:off x="914400" y="2313432"/>
            <a:ext cx="420624" cy="420624"/>
          </a:xfrm>
          <a:prstGeom prst="ellipse">
            <a:avLst/>
          </a:prstGeom>
          <a:solidFill>
            <a:srgbClr val="9B7EF7"/>
          </a:solidFill>
          <a:ln/>
        </p:spPr>
        <p:txBody>
          <a:bodyPr/>
          <a:lstStyle/>
          <a:p>
            <a:endParaRPr lang="ro-RO"/>
          </a:p>
        </p:txBody>
      </p:sp>
      <p:sp>
        <p:nvSpPr>
          <p:cNvPr id="8" name="Text 6"/>
          <p:cNvSpPr/>
          <p:nvPr/>
        </p:nvSpPr>
        <p:spPr>
          <a:xfrm>
            <a:off x="914400" y="2313432"/>
            <a:ext cx="420624" cy="420624"/>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S2</a:t>
            </a:r>
            <a:endParaRPr lang="en-US" sz="1400" dirty="0"/>
          </a:p>
        </p:txBody>
      </p:sp>
      <p:sp>
        <p:nvSpPr>
          <p:cNvPr id="9" name="Text 7"/>
          <p:cNvSpPr/>
          <p:nvPr/>
        </p:nvSpPr>
        <p:spPr>
          <a:xfrm>
            <a:off x="1645920" y="2148840"/>
            <a:ext cx="9601200" cy="749808"/>
          </a:xfrm>
          <a:prstGeom prst="rect">
            <a:avLst/>
          </a:prstGeom>
          <a:noFill/>
          <a:ln/>
        </p:spPr>
        <p:txBody>
          <a:bodyPr wrap="square" lIns="0" tIns="0" rIns="0" bIns="0" rtlCol="0" anchor="ctr"/>
          <a:lstStyle/>
          <a:p>
            <a:pPr marL="0" indent="0">
              <a:buNone/>
            </a:pPr>
            <a:r>
              <a:rPr lang="en-US" sz="1400" dirty="0">
                <a:solidFill>
                  <a:srgbClr val="FFFFFF"/>
                </a:solidFill>
                <a:latin typeface="Palatino Linotype" pitchFamily="34" charset="0"/>
                <a:ea typeface="Palatino Linotype" pitchFamily="34" charset="-122"/>
                <a:cs typeface="Palatino Linotype" pitchFamily="34" charset="-120"/>
              </a:rPr>
              <a:t>Veți calcula rate de atac și veți descoperi că grupul cu cele mai multe cazuri nu este întotdeauna grupul cu cel mai mare risc.</a:t>
            </a:r>
            <a:endParaRPr lang="en-US" sz="1400" dirty="0"/>
          </a:p>
        </p:txBody>
      </p:sp>
      <p:sp>
        <p:nvSpPr>
          <p:cNvPr id="10" name="Shape 8"/>
          <p:cNvSpPr/>
          <p:nvPr/>
        </p:nvSpPr>
        <p:spPr>
          <a:xfrm>
            <a:off x="594360" y="3008376"/>
            <a:ext cx="10972800" cy="749808"/>
          </a:xfrm>
          <a:prstGeom prst="roundRect">
            <a:avLst>
              <a:gd name="adj" fmla="val 10976"/>
            </a:avLst>
          </a:prstGeom>
          <a:solidFill>
            <a:srgbClr val="272A38"/>
          </a:solidFill>
          <a:ln w="12700">
            <a:solidFill>
              <a:srgbClr val="272A38"/>
            </a:solidFill>
            <a:prstDash val="solid"/>
          </a:ln>
        </p:spPr>
        <p:txBody>
          <a:bodyPr/>
          <a:lstStyle/>
          <a:p>
            <a:endParaRPr lang="ro-RO"/>
          </a:p>
        </p:txBody>
      </p:sp>
      <p:sp>
        <p:nvSpPr>
          <p:cNvPr id="11" name="Shape 9"/>
          <p:cNvSpPr/>
          <p:nvPr/>
        </p:nvSpPr>
        <p:spPr>
          <a:xfrm>
            <a:off x="914400" y="3172968"/>
            <a:ext cx="420624" cy="420624"/>
          </a:xfrm>
          <a:prstGeom prst="ellipse">
            <a:avLst/>
          </a:prstGeom>
          <a:solidFill>
            <a:srgbClr val="FFC24B"/>
          </a:solidFill>
          <a:ln/>
        </p:spPr>
        <p:txBody>
          <a:bodyPr/>
          <a:lstStyle/>
          <a:p>
            <a:endParaRPr lang="ro-RO"/>
          </a:p>
        </p:txBody>
      </p:sp>
      <p:sp>
        <p:nvSpPr>
          <p:cNvPr id="12" name="Text 10"/>
          <p:cNvSpPr/>
          <p:nvPr/>
        </p:nvSpPr>
        <p:spPr>
          <a:xfrm>
            <a:off x="914400" y="3172968"/>
            <a:ext cx="420624" cy="420624"/>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S4</a:t>
            </a:r>
            <a:endParaRPr lang="en-US" sz="1400" dirty="0"/>
          </a:p>
        </p:txBody>
      </p:sp>
      <p:sp>
        <p:nvSpPr>
          <p:cNvPr id="13" name="Text 11"/>
          <p:cNvSpPr/>
          <p:nvPr/>
        </p:nvSpPr>
        <p:spPr>
          <a:xfrm>
            <a:off x="1645920" y="3008376"/>
            <a:ext cx="9601200" cy="749808"/>
          </a:xfrm>
          <a:prstGeom prst="rect">
            <a:avLst/>
          </a:prstGeom>
          <a:noFill/>
          <a:ln/>
        </p:spPr>
        <p:txBody>
          <a:bodyPr wrap="square" lIns="0" tIns="0" rIns="0" bIns="0" rtlCol="0" anchor="ctr"/>
          <a:lstStyle/>
          <a:p>
            <a:pPr marL="0" indent="0">
              <a:buNone/>
            </a:pPr>
            <a:r>
              <a:rPr lang="en-US" sz="1400" dirty="0">
                <a:solidFill>
                  <a:srgbClr val="FFFFFF"/>
                </a:solidFill>
                <a:latin typeface="Palatino Linotype" pitchFamily="34" charset="0"/>
                <a:ea typeface="Palatino Linotype" pitchFamily="34" charset="-122"/>
                <a:cs typeface="Palatino Linotype" pitchFamily="34" charset="-120"/>
              </a:rPr>
              <a:t>Datele de mobilitate au numărători uriași și numitori greu de definit.</a:t>
            </a:r>
            <a:endParaRPr lang="en-US" sz="1400" dirty="0"/>
          </a:p>
        </p:txBody>
      </p:sp>
      <p:sp>
        <p:nvSpPr>
          <p:cNvPr id="14" name="Shape 12"/>
          <p:cNvSpPr/>
          <p:nvPr/>
        </p:nvSpPr>
        <p:spPr>
          <a:xfrm>
            <a:off x="594360" y="3867912"/>
            <a:ext cx="10972800" cy="749808"/>
          </a:xfrm>
          <a:prstGeom prst="roundRect">
            <a:avLst>
              <a:gd name="adj" fmla="val 10976"/>
            </a:avLst>
          </a:prstGeom>
          <a:solidFill>
            <a:srgbClr val="1D1F2B"/>
          </a:solidFill>
          <a:ln w="12700">
            <a:solidFill>
              <a:srgbClr val="1D1F2B"/>
            </a:solidFill>
            <a:prstDash val="solid"/>
          </a:ln>
        </p:spPr>
        <p:txBody>
          <a:bodyPr/>
          <a:lstStyle/>
          <a:p>
            <a:endParaRPr lang="ro-RO"/>
          </a:p>
        </p:txBody>
      </p:sp>
      <p:sp>
        <p:nvSpPr>
          <p:cNvPr id="15" name="Shape 13"/>
          <p:cNvSpPr/>
          <p:nvPr/>
        </p:nvSpPr>
        <p:spPr>
          <a:xfrm>
            <a:off x="914400" y="4032504"/>
            <a:ext cx="420624" cy="420624"/>
          </a:xfrm>
          <a:prstGeom prst="ellipse">
            <a:avLst/>
          </a:prstGeom>
          <a:solidFill>
            <a:srgbClr val="27D3BE"/>
          </a:solidFill>
          <a:ln/>
        </p:spPr>
        <p:txBody>
          <a:bodyPr/>
          <a:lstStyle/>
          <a:p>
            <a:endParaRPr lang="ro-RO"/>
          </a:p>
        </p:txBody>
      </p:sp>
      <p:sp>
        <p:nvSpPr>
          <p:cNvPr id="16" name="Text 14"/>
          <p:cNvSpPr/>
          <p:nvPr/>
        </p:nvSpPr>
        <p:spPr>
          <a:xfrm>
            <a:off x="914400" y="4032504"/>
            <a:ext cx="420624" cy="420624"/>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S5</a:t>
            </a:r>
            <a:endParaRPr lang="en-US" sz="1400" dirty="0"/>
          </a:p>
        </p:txBody>
      </p:sp>
      <p:sp>
        <p:nvSpPr>
          <p:cNvPr id="17" name="Text 15"/>
          <p:cNvSpPr/>
          <p:nvPr/>
        </p:nvSpPr>
        <p:spPr>
          <a:xfrm>
            <a:off x="1645920" y="3867912"/>
            <a:ext cx="9601200" cy="749808"/>
          </a:xfrm>
          <a:prstGeom prst="rect">
            <a:avLst/>
          </a:prstGeom>
          <a:noFill/>
          <a:ln/>
        </p:spPr>
        <p:txBody>
          <a:bodyPr wrap="square" lIns="0" tIns="0" rIns="0" bIns="0" rtlCol="0" anchor="ctr"/>
          <a:lstStyle/>
          <a:p>
            <a:pPr marL="0" indent="0">
              <a:buNone/>
            </a:pPr>
            <a:r>
              <a:rPr lang="en-US" sz="1400" dirty="0">
                <a:solidFill>
                  <a:srgbClr val="FFFFFF"/>
                </a:solidFill>
                <a:latin typeface="Palatino Linotype" pitchFamily="34" charset="0"/>
                <a:ea typeface="Palatino Linotype" pitchFamily="34" charset="-122"/>
                <a:cs typeface="Palatino Linotype" pitchFamily="34" charset="-120"/>
              </a:rPr>
              <a:t>Datele EARS-Net despre rezistență: „procent din ce izolate?” este întrebarea decisivă.</a:t>
            </a:r>
            <a:endParaRPr lang="en-US" sz="1400" dirty="0"/>
          </a:p>
        </p:txBody>
      </p:sp>
      <p:sp>
        <p:nvSpPr>
          <p:cNvPr id="18" name="Shape 16"/>
          <p:cNvSpPr/>
          <p:nvPr/>
        </p:nvSpPr>
        <p:spPr>
          <a:xfrm>
            <a:off x="594360" y="4727448"/>
            <a:ext cx="10972800" cy="749808"/>
          </a:xfrm>
          <a:prstGeom prst="roundRect">
            <a:avLst>
              <a:gd name="adj" fmla="val 10976"/>
            </a:avLst>
          </a:prstGeom>
          <a:solidFill>
            <a:srgbClr val="272A38"/>
          </a:solidFill>
          <a:ln w="12700">
            <a:solidFill>
              <a:srgbClr val="272A38"/>
            </a:solidFill>
            <a:prstDash val="solid"/>
          </a:ln>
        </p:spPr>
        <p:txBody>
          <a:bodyPr/>
          <a:lstStyle/>
          <a:p>
            <a:endParaRPr lang="ro-RO"/>
          </a:p>
        </p:txBody>
      </p:sp>
      <p:sp>
        <p:nvSpPr>
          <p:cNvPr id="19" name="Shape 17"/>
          <p:cNvSpPr/>
          <p:nvPr/>
        </p:nvSpPr>
        <p:spPr>
          <a:xfrm>
            <a:off x="914400" y="4892040"/>
            <a:ext cx="420624" cy="420624"/>
          </a:xfrm>
          <a:prstGeom prst="ellipse">
            <a:avLst/>
          </a:prstGeom>
          <a:solidFill>
            <a:srgbClr val="FF4757"/>
          </a:solidFill>
          <a:ln/>
        </p:spPr>
        <p:txBody>
          <a:bodyPr/>
          <a:lstStyle/>
          <a:p>
            <a:endParaRPr lang="ro-RO"/>
          </a:p>
        </p:txBody>
      </p:sp>
      <p:sp>
        <p:nvSpPr>
          <p:cNvPr id="20" name="Text 18"/>
          <p:cNvSpPr/>
          <p:nvPr/>
        </p:nvSpPr>
        <p:spPr>
          <a:xfrm>
            <a:off x="914400" y="4892040"/>
            <a:ext cx="420624" cy="420624"/>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S7</a:t>
            </a:r>
            <a:endParaRPr lang="en-US" sz="1400" dirty="0"/>
          </a:p>
        </p:txBody>
      </p:sp>
      <p:sp>
        <p:nvSpPr>
          <p:cNvPr id="21" name="Text 19"/>
          <p:cNvSpPr/>
          <p:nvPr/>
        </p:nvSpPr>
        <p:spPr>
          <a:xfrm>
            <a:off x="1645920" y="4727448"/>
            <a:ext cx="9601200" cy="749808"/>
          </a:xfrm>
          <a:prstGeom prst="rect">
            <a:avLst/>
          </a:prstGeom>
          <a:noFill/>
          <a:ln/>
        </p:spPr>
        <p:txBody>
          <a:bodyPr wrap="square" lIns="0" tIns="0" rIns="0" bIns="0" rtlCol="0" anchor="ctr"/>
          <a:lstStyle/>
          <a:p>
            <a:pPr marL="0" indent="0">
              <a:buNone/>
            </a:pPr>
            <a:r>
              <a:rPr lang="en-US" sz="1400" dirty="0">
                <a:solidFill>
                  <a:srgbClr val="FFFFFF"/>
                </a:solidFill>
                <a:latin typeface="Palatino Linotype" pitchFamily="34" charset="0"/>
                <a:ea typeface="Palatino Linotype" pitchFamily="34" charset="-122"/>
                <a:cs typeface="Palatino Linotype" pitchFamily="34" charset="-120"/>
              </a:rPr>
              <a:t>Setul de date DSP vă va da notificări, nu incidențe. Diferența decide dacă vedeți un focar sau doar variație.</a:t>
            </a:r>
            <a:endParaRPr lang="en-US" sz="1400" dirty="0"/>
          </a:p>
        </p:txBody>
      </p:sp>
      <p:sp>
        <p:nvSpPr>
          <p:cNvPr id="22" name="Shape 20"/>
          <p:cNvSpPr/>
          <p:nvPr/>
        </p:nvSpPr>
        <p:spPr>
          <a:xfrm>
            <a:off x="594360" y="5577840"/>
            <a:ext cx="10972800" cy="411480"/>
          </a:xfrm>
          <a:prstGeom prst="roundRect">
            <a:avLst>
              <a:gd name="adj" fmla="val 20000"/>
            </a:avLst>
          </a:prstGeom>
          <a:solidFill>
            <a:srgbClr val="FF4757"/>
          </a:solidFill>
          <a:ln w="12700">
            <a:solidFill>
              <a:srgbClr val="FF4757"/>
            </a:solidFill>
            <a:prstDash val="solid"/>
          </a:ln>
        </p:spPr>
        <p:txBody>
          <a:bodyPr/>
          <a:lstStyle/>
          <a:p>
            <a:endParaRPr lang="ro-RO"/>
          </a:p>
        </p:txBody>
      </p:sp>
      <p:sp>
        <p:nvSpPr>
          <p:cNvPr id="23" name="Text 21"/>
          <p:cNvSpPr/>
          <p:nvPr/>
        </p:nvSpPr>
        <p:spPr>
          <a:xfrm>
            <a:off x="960120" y="5577840"/>
            <a:ext cx="10241280" cy="411480"/>
          </a:xfrm>
          <a:prstGeom prst="rect">
            <a:avLst/>
          </a:prstGeom>
          <a:noFill/>
          <a:ln/>
        </p:spPr>
        <p:txBody>
          <a:bodyPr wrap="square" lIns="0" tIns="0" rIns="0" bIns="0" rtlCol="0" anchor="ctr"/>
          <a:lstStyle/>
          <a:p>
            <a:pPr marL="0" indent="0">
              <a:buNone/>
            </a:pPr>
            <a:r>
              <a:rPr lang="en-US" sz="1500" b="1" dirty="0">
                <a:solidFill>
                  <a:srgbClr val="2E060B"/>
                </a:solidFill>
                <a:latin typeface="Palatino Linotype" pitchFamily="34" charset="0"/>
                <a:ea typeface="Palatino Linotype" pitchFamily="34" charset="-122"/>
                <a:cs typeface="Palatino Linotype" pitchFamily="34" charset="-120"/>
              </a:rPr>
              <a:t>Regula numărul unu din acest curs: cereți numitorul.</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822960" y="1371600"/>
            <a:ext cx="3108960" cy="2377440"/>
          </a:xfrm>
          <a:prstGeom prst="rect">
            <a:avLst/>
          </a:prstGeom>
          <a:noFill/>
          <a:ln/>
        </p:spPr>
        <p:txBody>
          <a:bodyPr wrap="square" lIns="0" tIns="0" rIns="0" bIns="0" rtlCol="0" anchor="ctr"/>
          <a:lstStyle/>
          <a:p>
            <a:pPr marL="0" indent="0">
              <a:buNone/>
            </a:pPr>
            <a:r>
              <a:rPr lang="en-US" sz="14000" b="1" dirty="0">
                <a:solidFill>
                  <a:srgbClr val="9B7EF7"/>
                </a:solidFill>
                <a:latin typeface="Palatino Linotype" pitchFamily="34" charset="0"/>
                <a:ea typeface="Palatino Linotype" pitchFamily="34" charset="-122"/>
                <a:cs typeface="Palatino Linotype" pitchFamily="34" charset="-120"/>
              </a:rPr>
              <a:t>04</a:t>
            </a:r>
            <a:endParaRPr lang="en-US" sz="14000" dirty="0"/>
          </a:p>
        </p:txBody>
      </p:sp>
      <p:sp>
        <p:nvSpPr>
          <p:cNvPr id="3" name="Shape 1"/>
          <p:cNvSpPr/>
          <p:nvPr/>
        </p:nvSpPr>
        <p:spPr>
          <a:xfrm>
            <a:off x="4206240" y="1737360"/>
            <a:ext cx="32004" cy="1737360"/>
          </a:xfrm>
          <a:prstGeom prst="rect">
            <a:avLst/>
          </a:prstGeom>
          <a:solidFill>
            <a:srgbClr val="9B7EF7"/>
          </a:solidFill>
          <a:ln/>
        </p:spPr>
        <p:txBody>
          <a:bodyPr/>
          <a:lstStyle/>
          <a:p>
            <a:endParaRPr lang="ro-RO"/>
          </a:p>
        </p:txBody>
      </p:sp>
      <p:sp>
        <p:nvSpPr>
          <p:cNvPr id="4" name="Text 2"/>
          <p:cNvSpPr/>
          <p:nvPr/>
        </p:nvSpPr>
        <p:spPr>
          <a:xfrm>
            <a:off x="4709160" y="1755648"/>
            <a:ext cx="6858000" cy="1005840"/>
          </a:xfrm>
          <a:prstGeom prst="rect">
            <a:avLst/>
          </a:prstGeom>
          <a:noFill/>
          <a:ln/>
        </p:spPr>
        <p:txBody>
          <a:bodyPr wrap="square" lIns="0" tIns="0" rIns="0" bIns="0" rtlCol="0" anchor="t"/>
          <a:lstStyle/>
          <a:p>
            <a:pPr marL="0" indent="0">
              <a:buNone/>
            </a:pPr>
            <a:r>
              <a:rPr lang="en-US" sz="3400" b="1" dirty="0">
                <a:solidFill>
                  <a:srgbClr val="FFFFFF"/>
                </a:solidFill>
                <a:latin typeface="Palatino Linotype" pitchFamily="34" charset="0"/>
                <a:ea typeface="Palatino Linotype" pitchFamily="34" charset="-122"/>
                <a:cs typeface="Palatino Linotype" pitchFamily="34" charset="-120"/>
              </a:rPr>
              <a:t>Cine a găsit cazul index</a:t>
            </a:r>
            <a:endParaRPr lang="en-US" sz="3400" dirty="0"/>
          </a:p>
        </p:txBody>
      </p:sp>
      <p:sp>
        <p:nvSpPr>
          <p:cNvPr id="5" name="Text 3"/>
          <p:cNvSpPr/>
          <p:nvPr/>
        </p:nvSpPr>
        <p:spPr>
          <a:xfrm>
            <a:off x="4709160" y="2788920"/>
            <a:ext cx="6858000" cy="868680"/>
          </a:xfrm>
          <a:prstGeom prst="rect">
            <a:avLst/>
          </a:prstGeom>
          <a:noFill/>
          <a:ln/>
        </p:spPr>
        <p:txBody>
          <a:bodyPr wrap="square" lIns="0" tIns="0" rIns="0" bIns="0" rtlCol="0" anchor="t"/>
          <a:lstStyle/>
          <a:p>
            <a:pPr marL="0" indent="0">
              <a:buNone/>
            </a:pPr>
            <a:r>
              <a:rPr lang="en-US" sz="1550" dirty="0">
                <a:solidFill>
                  <a:srgbClr val="959BB0"/>
                </a:solidFill>
                <a:latin typeface="Palatino Linotype" pitchFamily="34" charset="0"/>
                <a:ea typeface="Palatino Linotype" pitchFamily="34" charset="-122"/>
                <a:cs typeface="Palatino Linotype" pitchFamily="34" charset="-120"/>
              </a:rPr>
              <a:t>Legenda are un singur protagonist. Investigația a avut cel puțin doi — iar al doilea nu era medic.</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9B7EF7"/>
                </a:solidFill>
                <a:latin typeface="Palatino Linotype" pitchFamily="34" charset="0"/>
                <a:ea typeface="Palatino Linotype" pitchFamily="34" charset="-122"/>
                <a:cs typeface="Palatino Linotype" pitchFamily="34" charset="-120"/>
              </a:rPr>
              <a:t>REVERENDUL HENRY WHITEHEAD</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FFFFFF"/>
                </a:solidFill>
                <a:latin typeface="Palatino Linotype" pitchFamily="34" charset="0"/>
                <a:ea typeface="Palatino Linotype" pitchFamily="34" charset="-122"/>
                <a:cs typeface="Palatino Linotype" pitchFamily="34" charset="-120"/>
              </a:rPr>
              <a:t>Preotul care nu îl credea pe Snow</a:t>
            </a:r>
            <a:endParaRPr lang="en-US" sz="3100" dirty="0"/>
          </a:p>
        </p:txBody>
      </p:sp>
      <p:sp>
        <p:nvSpPr>
          <p:cNvPr id="4" name="Shape 2"/>
          <p:cNvSpPr/>
          <p:nvPr/>
        </p:nvSpPr>
        <p:spPr>
          <a:xfrm>
            <a:off x="594360" y="1737360"/>
            <a:ext cx="10972800" cy="1234440"/>
          </a:xfrm>
          <a:prstGeom prst="roundRect">
            <a:avLst>
              <a:gd name="adj" fmla="val 6667"/>
            </a:avLst>
          </a:prstGeom>
          <a:solidFill>
            <a:srgbClr val="1D1F2B"/>
          </a:solidFill>
          <a:ln w="12700">
            <a:solidFill>
              <a:srgbClr val="1D1F2B"/>
            </a:solidFill>
            <a:prstDash val="solid"/>
          </a:ln>
        </p:spPr>
        <p:txBody>
          <a:bodyPr/>
          <a:lstStyle/>
          <a:p>
            <a:endParaRPr lang="ro-RO"/>
          </a:p>
        </p:txBody>
      </p:sp>
      <p:sp>
        <p:nvSpPr>
          <p:cNvPr id="5" name="Text 3"/>
          <p:cNvSpPr/>
          <p:nvPr/>
        </p:nvSpPr>
        <p:spPr>
          <a:xfrm>
            <a:off x="960120" y="1737360"/>
            <a:ext cx="10241280" cy="1234440"/>
          </a:xfrm>
          <a:prstGeom prst="rect">
            <a:avLst/>
          </a:prstGeom>
          <a:noFill/>
          <a:ln/>
        </p:spPr>
        <p:txBody>
          <a:bodyPr wrap="square" lIns="0" tIns="0" rIns="0" bIns="0" rtlCol="0" anchor="ctr"/>
          <a:lstStyle/>
          <a:p>
            <a:pPr marL="0" indent="0">
              <a:buNone/>
            </a:pPr>
            <a:r>
              <a:rPr lang="en-US" sz="1600" dirty="0">
                <a:solidFill>
                  <a:srgbClr val="FFFFFF"/>
                </a:solidFill>
                <a:latin typeface="Palatino Linotype" pitchFamily="34" charset="0"/>
                <a:ea typeface="Palatino Linotype" pitchFamily="34" charset="-122"/>
                <a:cs typeface="Palatino Linotype" pitchFamily="34" charset="-120"/>
              </a:rPr>
              <a:t>Preot ajutor (curate) la biserica St Luke din Berwick Street, în mijlocul zonei afectate, și membru al comitetului de anchetă al parohiei. Nu credea în teoria lui Snow: i-a spus unui prieten medic că o anchetă atentă o va INFIRMA.</a:t>
            </a:r>
            <a:endParaRPr lang="en-US" sz="1600" dirty="0"/>
          </a:p>
        </p:txBody>
      </p:sp>
      <p:sp>
        <p:nvSpPr>
          <p:cNvPr id="6" name="Shape 4"/>
          <p:cNvSpPr/>
          <p:nvPr/>
        </p:nvSpPr>
        <p:spPr>
          <a:xfrm>
            <a:off x="594360" y="3154680"/>
            <a:ext cx="10972800" cy="1051560"/>
          </a:xfrm>
          <a:prstGeom prst="roundRect">
            <a:avLst>
              <a:gd name="adj" fmla="val 7826"/>
            </a:avLst>
          </a:prstGeom>
          <a:solidFill>
            <a:srgbClr val="1A2430"/>
          </a:solidFill>
          <a:ln w="12700">
            <a:solidFill>
              <a:srgbClr val="1A2430"/>
            </a:solidFill>
            <a:prstDash val="solid"/>
          </a:ln>
        </p:spPr>
        <p:txBody>
          <a:bodyPr/>
          <a:lstStyle/>
          <a:p>
            <a:endParaRPr lang="ro-RO"/>
          </a:p>
        </p:txBody>
      </p:sp>
      <p:sp>
        <p:nvSpPr>
          <p:cNvPr id="7" name="Text 5"/>
          <p:cNvSpPr/>
          <p:nvPr/>
        </p:nvSpPr>
        <p:spPr>
          <a:xfrm>
            <a:off x="960120" y="3154680"/>
            <a:ext cx="10241280" cy="1051560"/>
          </a:xfrm>
          <a:prstGeom prst="rect">
            <a:avLst/>
          </a:prstGeom>
          <a:noFill/>
          <a:ln/>
        </p:spPr>
        <p:txBody>
          <a:bodyPr wrap="square" lIns="0" tIns="0" rIns="0" bIns="0" rtlCol="0" anchor="ctr"/>
          <a:lstStyle/>
          <a:p>
            <a:pPr marL="0" indent="0">
              <a:buNone/>
            </a:pPr>
            <a:r>
              <a:rPr lang="en-US" sz="1600" b="1" dirty="0">
                <a:solidFill>
                  <a:srgbClr val="27D3BE"/>
                </a:solidFill>
                <a:latin typeface="Palatino Linotype" pitchFamily="34" charset="0"/>
                <a:ea typeface="Palatino Linotype" pitchFamily="34" charset="-122"/>
                <a:cs typeface="Palatino Linotype" pitchFamily="34" charset="-120"/>
              </a:rPr>
              <a:t>Studiind registrele de decese pentru un alt scop, a găsit la pagina 340 o înregistrare pe care nu o cercetase încă.</a:t>
            </a:r>
            <a:endParaRPr lang="en-US" sz="1600" dirty="0"/>
          </a:p>
        </p:txBody>
      </p:sp>
      <p:sp>
        <p:nvSpPr>
          <p:cNvPr id="8" name="Shape 6"/>
          <p:cNvSpPr/>
          <p:nvPr/>
        </p:nvSpPr>
        <p:spPr>
          <a:xfrm>
            <a:off x="594360" y="4389120"/>
            <a:ext cx="10972800" cy="1280160"/>
          </a:xfrm>
          <a:prstGeom prst="roundRect">
            <a:avLst>
              <a:gd name="adj" fmla="val 6429"/>
            </a:avLst>
          </a:prstGeom>
          <a:solidFill>
            <a:srgbClr val="9B7EF7"/>
          </a:solidFill>
          <a:ln w="12700">
            <a:solidFill>
              <a:srgbClr val="9B7EF7"/>
            </a:solidFill>
            <a:prstDash val="solid"/>
          </a:ln>
        </p:spPr>
        <p:txBody>
          <a:bodyPr/>
          <a:lstStyle/>
          <a:p>
            <a:endParaRPr lang="ro-RO"/>
          </a:p>
        </p:txBody>
      </p:sp>
      <p:sp>
        <p:nvSpPr>
          <p:cNvPr id="9" name="Text 7"/>
          <p:cNvSpPr/>
          <p:nvPr/>
        </p:nvSpPr>
        <p:spPr>
          <a:xfrm>
            <a:off x="960120" y="4389120"/>
            <a:ext cx="10241280" cy="1280160"/>
          </a:xfrm>
          <a:prstGeom prst="rect">
            <a:avLst/>
          </a:prstGeom>
          <a:noFill/>
          <a:ln/>
        </p:spPr>
        <p:txBody>
          <a:bodyPr wrap="square" lIns="0" tIns="0" rIns="0" bIns="0" rtlCol="0" anchor="ctr"/>
          <a:lstStyle/>
          <a:p>
            <a:pPr marL="0" indent="0">
              <a:buNone/>
            </a:pPr>
            <a:r>
              <a:rPr lang="en-US" sz="1800" b="1" dirty="0">
                <a:solidFill>
                  <a:srgbClr val="1F1040"/>
                </a:solidFill>
                <a:latin typeface="Palatino Linotype" pitchFamily="34" charset="0"/>
                <a:ea typeface="Palatino Linotype" pitchFamily="34" charset="-122"/>
                <a:cs typeface="Palatino Linotype" pitchFamily="34" charset="-120"/>
              </a:rPr>
              <a:t>Avea un avantaj pe care Snow nu îl avea: îndatoririle îl purtau aproape zilnic pe stradă, iar în timpul focarului vizitase foarte multe dintre familiile lovite.</a:t>
            </a:r>
            <a:endParaRPr lang="en-US" sz="1800" dirty="0"/>
          </a:p>
        </p:txBody>
      </p:sp>
      <p:sp>
        <p:nvSpPr>
          <p:cNvPr id="10" name="Text 8"/>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Surse: Cholera Inquiry Committee 1855, p. vii, 132, 138–139 și 159; Whitehead 1865, p. 116. Chave SPW. Med Hist. 1958;2(2):92–108.</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ÎNREGISTRAREA DE LA PAGINA 340</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11121A"/>
                </a:solidFill>
                <a:latin typeface="Palatino Linotype" pitchFamily="34" charset="0"/>
                <a:ea typeface="Palatino Linotype" pitchFamily="34" charset="-122"/>
                <a:cs typeface="Palatino Linotype" pitchFamily="34" charset="-120"/>
              </a:rPr>
              <a:t>Broad Street nr. 40</a:t>
            </a:r>
            <a:endParaRPr lang="en-US" sz="3100" dirty="0"/>
          </a:p>
        </p:txBody>
      </p:sp>
      <p:sp>
        <p:nvSpPr>
          <p:cNvPr id="4" name="Shape 2"/>
          <p:cNvSpPr/>
          <p:nvPr/>
        </p:nvSpPr>
        <p:spPr>
          <a:xfrm>
            <a:off x="594360" y="1737360"/>
            <a:ext cx="10972800" cy="1325880"/>
          </a:xfrm>
          <a:prstGeom prst="roundRect">
            <a:avLst>
              <a:gd name="adj" fmla="val 6207"/>
            </a:avLst>
          </a:prstGeom>
          <a:solidFill>
            <a:srgbClr val="ECEAE4"/>
          </a:solidFill>
          <a:ln w="12700">
            <a:solidFill>
              <a:srgbClr val="ECEAE4"/>
            </a:solidFill>
            <a:prstDash val="solid"/>
          </a:ln>
        </p:spPr>
        <p:txBody>
          <a:bodyPr/>
          <a:lstStyle/>
          <a:p>
            <a:endParaRPr lang="ro-RO"/>
          </a:p>
        </p:txBody>
      </p:sp>
      <p:sp>
        <p:nvSpPr>
          <p:cNvPr id="5" name="Text 3"/>
          <p:cNvSpPr/>
          <p:nvPr/>
        </p:nvSpPr>
        <p:spPr>
          <a:xfrm>
            <a:off x="960120" y="1737360"/>
            <a:ext cx="10241280" cy="1325880"/>
          </a:xfrm>
          <a:prstGeom prst="rect">
            <a:avLst/>
          </a:prstGeom>
          <a:noFill/>
          <a:ln/>
        </p:spPr>
        <p:txBody>
          <a:bodyPr wrap="square" lIns="0" tIns="0" rIns="0" bIns="0" rtlCol="0" anchor="ctr"/>
          <a:lstStyle/>
          <a:p>
            <a:pPr marL="0" indent="0">
              <a:buNone/>
            </a:pPr>
            <a:r>
              <a:rPr lang="en-US" sz="1700" i="1" dirty="0">
                <a:solidFill>
                  <a:srgbClr val="11121A"/>
                </a:solidFill>
                <a:latin typeface="Palatino Linotype" pitchFamily="34" charset="0"/>
                <a:ea typeface="Palatino Linotype" pitchFamily="34" charset="-122"/>
                <a:cs typeface="Palatino Linotype" pitchFamily="34" charset="-120"/>
              </a:rPr>
              <a:t>„At 40, Broad Street, 2nd September, a daughter, aged five months, exhaustion, after an attack of Diarrhoea four days previous to death.”</a:t>
            </a:r>
            <a:endParaRPr lang="en-US" sz="1700" dirty="0"/>
          </a:p>
        </p:txBody>
      </p:sp>
      <p:sp>
        <p:nvSpPr>
          <p:cNvPr id="6" name="Text 4"/>
          <p:cNvSpPr/>
          <p:nvPr/>
        </p:nvSpPr>
        <p:spPr>
          <a:xfrm>
            <a:off x="594360" y="3200400"/>
            <a:ext cx="10972800" cy="365760"/>
          </a:xfrm>
          <a:prstGeom prst="rect">
            <a:avLst/>
          </a:prstGeom>
          <a:noFill/>
          <a:ln/>
        </p:spPr>
        <p:txBody>
          <a:bodyPr wrap="square" lIns="0" tIns="0" rIns="0" bIns="0" rtlCol="0" anchor="ctr"/>
          <a:lstStyle/>
          <a:p>
            <a:pPr marL="0" indent="0">
              <a:buNone/>
            </a:pPr>
            <a:r>
              <a:rPr lang="en-US" sz="1400" i="1" dirty="0">
                <a:solidFill>
                  <a:srgbClr val="585A64"/>
                </a:solidFill>
                <a:latin typeface="Palatino Linotype" pitchFamily="34" charset="0"/>
                <a:ea typeface="Palatino Linotype" pitchFamily="34" charset="-122"/>
                <a:cs typeface="Palatino Linotype" pitchFamily="34" charset="-120"/>
              </a:rPr>
              <a:t>Cauza trecută în registru: epuizare, după diaree. Lista cerută de Snow cuprindea decesele prin holeră.</a:t>
            </a:r>
            <a:endParaRPr lang="en-US" sz="1400" dirty="0"/>
          </a:p>
        </p:txBody>
      </p:sp>
      <p:sp>
        <p:nvSpPr>
          <p:cNvPr id="7" name="Shape 5"/>
          <p:cNvSpPr/>
          <p:nvPr/>
        </p:nvSpPr>
        <p:spPr>
          <a:xfrm>
            <a:off x="594360" y="3675888"/>
            <a:ext cx="10972800" cy="676656"/>
          </a:xfrm>
          <a:prstGeom prst="roundRect">
            <a:avLst>
              <a:gd name="adj" fmla="val 12162"/>
            </a:avLst>
          </a:prstGeom>
          <a:solidFill>
            <a:srgbClr val="ECEAE4"/>
          </a:solidFill>
          <a:ln w="12700">
            <a:solidFill>
              <a:srgbClr val="ECEAE4"/>
            </a:solidFill>
            <a:prstDash val="solid"/>
          </a:ln>
        </p:spPr>
        <p:txBody>
          <a:bodyPr/>
          <a:lstStyle/>
          <a:p>
            <a:endParaRPr lang="ro-RO"/>
          </a:p>
        </p:txBody>
      </p:sp>
      <p:sp>
        <p:nvSpPr>
          <p:cNvPr id="8" name="Text 6"/>
          <p:cNvSpPr/>
          <p:nvPr/>
        </p:nvSpPr>
        <p:spPr>
          <a:xfrm>
            <a:off x="914400" y="3675888"/>
            <a:ext cx="2011680" cy="676656"/>
          </a:xfrm>
          <a:prstGeom prst="rect">
            <a:avLst/>
          </a:prstGeom>
          <a:noFill/>
          <a:ln/>
        </p:spPr>
        <p:txBody>
          <a:bodyPr wrap="square" lIns="0" tIns="0" rIns="0" bIns="0" rtlCol="0" anchor="ctr"/>
          <a:lstStyle/>
          <a:p>
            <a:pPr marL="0" indent="0">
              <a:buNone/>
            </a:pPr>
            <a:r>
              <a:rPr lang="en-US" sz="1450" b="1" dirty="0">
                <a:solidFill>
                  <a:srgbClr val="4A2D8C"/>
                </a:solidFill>
                <a:latin typeface="Palatino Linotype" pitchFamily="34" charset="0"/>
                <a:ea typeface="Palatino Linotype" pitchFamily="34" charset="-122"/>
                <a:cs typeface="Palatino Linotype" pitchFamily="34" charset="-120"/>
              </a:rPr>
              <a:t>28 august</a:t>
            </a:r>
            <a:endParaRPr lang="en-US" sz="1450" dirty="0"/>
          </a:p>
        </p:txBody>
      </p:sp>
      <p:sp>
        <p:nvSpPr>
          <p:cNvPr id="9" name="Text 7"/>
          <p:cNvSpPr/>
          <p:nvPr/>
        </p:nvSpPr>
        <p:spPr>
          <a:xfrm>
            <a:off x="3108960" y="3675888"/>
            <a:ext cx="8183880" cy="676656"/>
          </a:xfrm>
          <a:prstGeom prst="rect">
            <a:avLst/>
          </a:prstGeom>
          <a:noFill/>
          <a:ln/>
        </p:spPr>
        <p:txBody>
          <a:bodyPr wrap="square" lIns="0" tIns="0" rIns="0" bIns="0" rtlCol="0" anchor="ctr"/>
          <a:lstStyle/>
          <a:p>
            <a:pPr marL="0" indent="0">
              <a:buNone/>
            </a:pPr>
            <a:r>
              <a:rPr lang="en-US" sz="1200" dirty="0">
                <a:solidFill>
                  <a:srgbClr val="11121A"/>
                </a:solidFill>
                <a:latin typeface="Palatino Linotype" pitchFamily="34" charset="0"/>
                <a:ea typeface="Palatino Linotype" pitchFamily="34" charset="-122"/>
                <a:cs typeface="Palatino Linotype" pitchFamily="34" charset="-120"/>
              </a:rPr>
              <a:t>Whitehead află de la mamă că boala începuse luni, 28 august, cu 78 de ore înaintea declanșării focarului general.</a:t>
            </a:r>
            <a:endParaRPr lang="en-US" sz="1200" dirty="0"/>
          </a:p>
        </p:txBody>
      </p:sp>
      <p:sp>
        <p:nvSpPr>
          <p:cNvPr id="10" name="Shape 8"/>
          <p:cNvSpPr/>
          <p:nvPr/>
        </p:nvSpPr>
        <p:spPr>
          <a:xfrm>
            <a:off x="594360" y="4453128"/>
            <a:ext cx="10972800" cy="676656"/>
          </a:xfrm>
          <a:prstGeom prst="roundRect">
            <a:avLst>
              <a:gd name="adj" fmla="val 12162"/>
            </a:avLst>
          </a:prstGeom>
          <a:solidFill>
            <a:srgbClr val="F9F8F5"/>
          </a:solidFill>
          <a:ln w="12700">
            <a:solidFill>
              <a:srgbClr val="F9F8F5"/>
            </a:solidFill>
            <a:prstDash val="solid"/>
          </a:ln>
        </p:spPr>
        <p:txBody>
          <a:bodyPr/>
          <a:lstStyle/>
          <a:p>
            <a:endParaRPr lang="ro-RO"/>
          </a:p>
        </p:txBody>
      </p:sp>
      <p:sp>
        <p:nvSpPr>
          <p:cNvPr id="11" name="Text 9"/>
          <p:cNvSpPr/>
          <p:nvPr/>
        </p:nvSpPr>
        <p:spPr>
          <a:xfrm>
            <a:off x="914400" y="4453128"/>
            <a:ext cx="2011680" cy="676656"/>
          </a:xfrm>
          <a:prstGeom prst="rect">
            <a:avLst/>
          </a:prstGeom>
          <a:noFill/>
          <a:ln/>
        </p:spPr>
        <p:txBody>
          <a:bodyPr wrap="square" lIns="0" tIns="0" rIns="0" bIns="0" rtlCol="0" anchor="ctr"/>
          <a:lstStyle/>
          <a:p>
            <a:pPr marL="0" indent="0">
              <a:buNone/>
            </a:pPr>
            <a:r>
              <a:rPr lang="en-US" sz="1450" b="1" dirty="0">
                <a:solidFill>
                  <a:srgbClr val="B02532"/>
                </a:solidFill>
                <a:latin typeface="Palatino Linotype" pitchFamily="34" charset="0"/>
                <a:ea typeface="Palatino Linotype" pitchFamily="34" charset="-122"/>
                <a:cs typeface="Palatino Linotype" pitchFamily="34" charset="-120"/>
              </a:rPr>
              <a:t>Scutecele</a:t>
            </a:r>
            <a:endParaRPr lang="en-US" sz="1450" dirty="0"/>
          </a:p>
        </p:txBody>
      </p:sp>
      <p:sp>
        <p:nvSpPr>
          <p:cNvPr id="12" name="Text 10"/>
          <p:cNvSpPr/>
          <p:nvPr/>
        </p:nvSpPr>
        <p:spPr>
          <a:xfrm>
            <a:off x="3108960" y="4453128"/>
            <a:ext cx="8183880" cy="676656"/>
          </a:xfrm>
          <a:prstGeom prst="rect">
            <a:avLst/>
          </a:prstGeom>
          <a:noFill/>
          <a:ln/>
        </p:spPr>
        <p:txBody>
          <a:bodyPr wrap="square" lIns="0" tIns="0" rIns="0" bIns="0" rtlCol="0" anchor="ctr"/>
          <a:lstStyle/>
          <a:p>
            <a:pPr marL="0" indent="0">
              <a:buNone/>
            </a:pPr>
            <a:r>
              <a:rPr lang="en-US" sz="1200" dirty="0">
                <a:solidFill>
                  <a:srgbClr val="11121A"/>
                </a:solidFill>
                <a:latin typeface="Palatino Linotype" pitchFamily="34" charset="0"/>
                <a:ea typeface="Palatino Linotype" pitchFamily="34" charset="-122"/>
                <a:cs typeface="Palatino Linotype" pitchFamily="34" charset="-120"/>
              </a:rPr>
              <a:t>Mama le înmuia în găleți, iar apa o vărsa în parte într-o chiuvetă din curtea din spate și în parte în haznaua din fața casei. Casa era chiar în fața pompei.</a:t>
            </a:r>
            <a:endParaRPr lang="en-US" sz="1200" dirty="0"/>
          </a:p>
        </p:txBody>
      </p:sp>
      <p:sp>
        <p:nvSpPr>
          <p:cNvPr id="13" name="Shape 11"/>
          <p:cNvSpPr/>
          <p:nvPr/>
        </p:nvSpPr>
        <p:spPr>
          <a:xfrm>
            <a:off x="594360" y="5230368"/>
            <a:ext cx="10972800" cy="676656"/>
          </a:xfrm>
          <a:prstGeom prst="roundRect">
            <a:avLst>
              <a:gd name="adj" fmla="val 12162"/>
            </a:avLst>
          </a:prstGeom>
          <a:solidFill>
            <a:srgbClr val="ECEAE4"/>
          </a:solidFill>
          <a:ln w="12700">
            <a:solidFill>
              <a:srgbClr val="ECEAE4"/>
            </a:solidFill>
            <a:prstDash val="solid"/>
          </a:ln>
        </p:spPr>
        <p:txBody>
          <a:bodyPr/>
          <a:lstStyle/>
          <a:p>
            <a:endParaRPr lang="ro-RO"/>
          </a:p>
        </p:txBody>
      </p:sp>
      <p:sp>
        <p:nvSpPr>
          <p:cNvPr id="14" name="Text 12"/>
          <p:cNvSpPr/>
          <p:nvPr/>
        </p:nvSpPr>
        <p:spPr>
          <a:xfrm>
            <a:off x="914400" y="5230368"/>
            <a:ext cx="2011680" cy="676656"/>
          </a:xfrm>
          <a:prstGeom prst="rect">
            <a:avLst/>
          </a:prstGeom>
          <a:noFill/>
          <a:ln/>
        </p:spPr>
        <p:txBody>
          <a:bodyPr wrap="square" lIns="0" tIns="0" rIns="0" bIns="0" rtlCol="0" anchor="ctr"/>
          <a:lstStyle/>
          <a:p>
            <a:pPr marL="0" indent="0">
              <a:buNone/>
            </a:pPr>
            <a:r>
              <a:rPr lang="en-US" sz="1450" b="1" dirty="0">
                <a:solidFill>
                  <a:srgbClr val="0E7C6B"/>
                </a:solidFill>
                <a:latin typeface="Palatino Linotype" pitchFamily="34" charset="0"/>
                <a:ea typeface="Palatino Linotype" pitchFamily="34" charset="-122"/>
                <a:cs typeface="Palatino Linotype" pitchFamily="34" charset="-120"/>
              </a:rPr>
              <a:t>Excavarea</a:t>
            </a:r>
            <a:endParaRPr lang="en-US" sz="1450" dirty="0"/>
          </a:p>
        </p:txBody>
      </p:sp>
      <p:sp>
        <p:nvSpPr>
          <p:cNvPr id="15" name="Text 13"/>
          <p:cNvSpPr/>
          <p:nvPr/>
        </p:nvSpPr>
        <p:spPr>
          <a:xfrm>
            <a:off x="3108960" y="5230368"/>
            <a:ext cx="8183880" cy="676656"/>
          </a:xfrm>
          <a:prstGeom prst="rect">
            <a:avLst/>
          </a:prstGeom>
          <a:noFill/>
          <a:ln/>
        </p:spPr>
        <p:txBody>
          <a:bodyPr wrap="square" lIns="0" tIns="0" rIns="0" bIns="0" rtlCol="0" anchor="ctr"/>
          <a:lstStyle/>
          <a:p>
            <a:pPr marL="0" indent="0">
              <a:buNone/>
            </a:pPr>
            <a:r>
              <a:rPr lang="en-US" sz="1200" dirty="0">
                <a:solidFill>
                  <a:srgbClr val="11121A"/>
                </a:solidFill>
                <a:latin typeface="Palatino Linotype" pitchFamily="34" charset="0"/>
                <a:ea typeface="Palatino Linotype" pitchFamily="34" charset="-122"/>
                <a:cs typeface="Palatino Linotype" pitchFamily="34" charset="-120"/>
              </a:rPr>
              <a:t>York, secretarul comitetului, găsește zidăria drenului „into the condition of a sieve”: o infiltrare continuă („constant percolation”) ducea lichid din dren în fântână, aflată la doar 2 picioare și 8 țoli (circa 0,8 m).</a:t>
            </a:r>
            <a:endParaRPr lang="en-US" sz="1200" dirty="0"/>
          </a:p>
        </p:txBody>
      </p:sp>
      <p:sp>
        <p:nvSpPr>
          <p:cNvPr id="16" name="Text 14"/>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585A64"/>
                </a:solidFill>
                <a:latin typeface="Palatino Linotype" pitchFamily="34" charset="0"/>
                <a:ea typeface="Palatino Linotype" pitchFamily="34" charset="-122"/>
                <a:cs typeface="Palatino Linotype" pitchFamily="34" charset="-120"/>
              </a:rPr>
              <a:t>Surse: Cholera Inquiry Committee 1855, p. 159; raportul lui York, p. 171–174.</a:t>
            </a:r>
            <a:endParaRPr lang="en-US" sz="900" dirty="0"/>
          </a:p>
          <a:p>
            <a:pPr marL="0" indent="0">
              <a:buNone/>
            </a:pPr>
            <a:r>
              <a:rPr lang="en-US" sz="900" i="1" dirty="0">
                <a:solidFill>
                  <a:srgbClr val="585A64"/>
                </a:solidFill>
                <a:latin typeface="Palatino Linotype" pitchFamily="34" charset="0"/>
                <a:ea typeface="Palatino Linotype" pitchFamily="34" charset="-122"/>
                <a:cs typeface="Palatino Linotype" pitchFamily="34" charset="-120"/>
              </a:rPr>
              <a:t>„Comunicare directă dren–fântână” nu apare la York: el descrie infiltrare prin zidărie. „Trei picioare” este adâncimea săpăturii, nu distanța.</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21A"/>
        </a:solidFill>
        <a:effectLst/>
      </p:bgPr>
    </p:bg>
    <p:spTree>
      <p:nvGrpSpPr>
        <p:cNvPr id="1" name=""/>
        <p:cNvGrpSpPr/>
        <p:nvPr/>
      </p:nvGrpSpPr>
      <p:grpSpPr>
        <a:xfrm>
          <a:off x="0" y="0"/>
          <a:ext cx="0" cy="0"/>
          <a:chOff x="0" y="0"/>
          <a:chExt cx="0" cy="0"/>
        </a:xfrm>
      </p:grpSpPr>
      <p:sp>
        <p:nvSpPr>
          <p:cNvPr id="2" name="Shape 0"/>
          <p:cNvSpPr/>
          <p:nvPr/>
        </p:nvSpPr>
        <p:spPr>
          <a:xfrm>
            <a:off x="594360" y="329184"/>
            <a:ext cx="3840480" cy="402336"/>
          </a:xfrm>
          <a:prstGeom prst="roundRect">
            <a:avLst>
              <a:gd name="adj" fmla="val 50000"/>
            </a:avLst>
          </a:prstGeom>
          <a:solidFill>
            <a:srgbClr val="FF4757"/>
          </a:solidFill>
          <a:ln w="12700">
            <a:solidFill>
              <a:srgbClr val="FF4757"/>
            </a:solidFill>
            <a:prstDash val="solid"/>
          </a:ln>
        </p:spPr>
        <p:txBody>
          <a:bodyPr/>
          <a:lstStyle/>
          <a:p>
            <a:endParaRPr lang="ro-RO"/>
          </a:p>
        </p:txBody>
      </p:sp>
      <p:sp>
        <p:nvSpPr>
          <p:cNvPr id="3" name="Text 1"/>
          <p:cNvSpPr/>
          <p:nvPr/>
        </p:nvSpPr>
        <p:spPr>
          <a:xfrm>
            <a:off x="594360" y="329184"/>
            <a:ext cx="3840480" cy="402336"/>
          </a:xfrm>
          <a:prstGeom prst="rect">
            <a:avLst/>
          </a:prstGeom>
          <a:noFill/>
          <a:ln/>
        </p:spPr>
        <p:txBody>
          <a:bodyPr wrap="square" lIns="0" tIns="0" rIns="0" bIns="0" rtlCol="0" anchor="ctr"/>
          <a:lstStyle/>
          <a:p>
            <a:pPr marL="0" indent="0" algn="ctr">
              <a:buNone/>
            </a:pPr>
            <a:r>
              <a:rPr lang="en-US" sz="1050" b="1" dirty="0">
                <a:solidFill>
                  <a:srgbClr val="2E060B"/>
                </a:solidFill>
                <a:latin typeface="Palatino Linotype" pitchFamily="34" charset="0"/>
                <a:ea typeface="Palatino Linotype" pitchFamily="34" charset="-122"/>
                <a:cs typeface="Palatino Linotype" pitchFamily="34" charset="-120"/>
              </a:rPr>
              <a:t>CE NU E ÎN LEGENDĂ  ·  04</a:t>
            </a:r>
            <a:endParaRPr lang="en-US" sz="1050" dirty="0"/>
          </a:p>
        </p:txBody>
      </p:sp>
      <p:sp>
        <p:nvSpPr>
          <p:cNvPr id="4" name="Text 2"/>
          <p:cNvSpPr/>
          <p:nvPr/>
        </p:nvSpPr>
        <p:spPr>
          <a:xfrm>
            <a:off x="594360" y="694944"/>
            <a:ext cx="10972800" cy="960120"/>
          </a:xfrm>
          <a:prstGeom prst="rect">
            <a:avLst/>
          </a:prstGeom>
          <a:noFill/>
          <a:ln/>
        </p:spPr>
        <p:txBody>
          <a:bodyPr wrap="square" lIns="0" tIns="0" rIns="0" bIns="0" rtlCol="0" anchor="t"/>
          <a:lstStyle/>
          <a:p>
            <a:pPr marL="0" indent="0">
              <a:buNone/>
            </a:pPr>
            <a:r>
              <a:rPr lang="en-US" sz="3400" b="1" dirty="0">
                <a:solidFill>
                  <a:srgbClr val="FFFFFF"/>
                </a:solidFill>
                <a:latin typeface="Palatino Linotype" pitchFamily="34" charset="0"/>
                <a:ea typeface="Palatino Linotype" pitchFamily="34" charset="-122"/>
                <a:cs typeface="Palatino Linotype" pitchFamily="34" charset="-120"/>
              </a:rPr>
              <a:t>Trei oameni, trei metode, un singur răspuns</a:t>
            </a:r>
            <a:endParaRPr lang="en-US" sz="3400" dirty="0"/>
          </a:p>
        </p:txBody>
      </p:sp>
      <p:sp>
        <p:nvSpPr>
          <p:cNvPr id="5" name="Shape 3"/>
          <p:cNvSpPr/>
          <p:nvPr/>
        </p:nvSpPr>
        <p:spPr>
          <a:xfrm>
            <a:off x="594360" y="1783080"/>
            <a:ext cx="3429000" cy="2468880"/>
          </a:xfrm>
          <a:prstGeom prst="roundRect">
            <a:avLst>
              <a:gd name="adj" fmla="val 3333"/>
            </a:avLst>
          </a:prstGeom>
          <a:solidFill>
            <a:srgbClr val="1D1F2B"/>
          </a:solidFill>
          <a:ln w="12700">
            <a:solidFill>
              <a:srgbClr val="1D1F2B"/>
            </a:solidFill>
            <a:prstDash val="solid"/>
          </a:ln>
        </p:spPr>
        <p:txBody>
          <a:bodyPr/>
          <a:lstStyle/>
          <a:p>
            <a:endParaRPr lang="ro-RO"/>
          </a:p>
        </p:txBody>
      </p:sp>
      <p:sp>
        <p:nvSpPr>
          <p:cNvPr id="6" name="Shape 4"/>
          <p:cNvSpPr/>
          <p:nvPr/>
        </p:nvSpPr>
        <p:spPr>
          <a:xfrm>
            <a:off x="868680" y="1965960"/>
            <a:ext cx="1828800" cy="329184"/>
          </a:xfrm>
          <a:prstGeom prst="roundRect">
            <a:avLst>
              <a:gd name="adj" fmla="val 50000"/>
            </a:avLst>
          </a:prstGeom>
          <a:solidFill>
            <a:srgbClr val="FF4757"/>
          </a:solidFill>
          <a:ln w="12700">
            <a:solidFill>
              <a:srgbClr val="FF4757"/>
            </a:solidFill>
            <a:prstDash val="solid"/>
          </a:ln>
        </p:spPr>
        <p:txBody>
          <a:bodyPr/>
          <a:lstStyle/>
          <a:p>
            <a:endParaRPr lang="ro-RO"/>
          </a:p>
        </p:txBody>
      </p:sp>
      <p:sp>
        <p:nvSpPr>
          <p:cNvPr id="7" name="Text 5"/>
          <p:cNvSpPr/>
          <p:nvPr/>
        </p:nvSpPr>
        <p:spPr>
          <a:xfrm>
            <a:off x="868680" y="1965960"/>
            <a:ext cx="1828800" cy="329184"/>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SNOW</a:t>
            </a:r>
            <a:endParaRPr lang="en-US" sz="1100" dirty="0"/>
          </a:p>
        </p:txBody>
      </p:sp>
      <p:sp>
        <p:nvSpPr>
          <p:cNvPr id="8" name="Text 6"/>
          <p:cNvSpPr/>
          <p:nvPr/>
        </p:nvSpPr>
        <p:spPr>
          <a:xfrm>
            <a:off x="868680" y="2487168"/>
            <a:ext cx="2880360" cy="457200"/>
          </a:xfrm>
          <a:prstGeom prst="rect">
            <a:avLst/>
          </a:prstGeom>
          <a:noFill/>
          <a:ln/>
        </p:spPr>
        <p:txBody>
          <a:bodyPr wrap="square" lIns="0" tIns="0" rIns="0" bIns="0" rtlCol="0" anchor="ctr"/>
          <a:lstStyle/>
          <a:p>
            <a:pPr marL="0" indent="0">
              <a:buNone/>
            </a:pPr>
            <a:r>
              <a:rPr lang="en-US" sz="1800" b="1" dirty="0">
                <a:solidFill>
                  <a:srgbClr val="FF4757"/>
                </a:solidFill>
                <a:latin typeface="Palatino Linotype" pitchFamily="34" charset="0"/>
                <a:ea typeface="Palatino Linotype" pitchFamily="34" charset="-122"/>
                <a:cs typeface="Palatino Linotype" pitchFamily="34" charset="-120"/>
              </a:rPr>
              <a:t>asocierea statistică</a:t>
            </a:r>
            <a:endParaRPr lang="en-US" sz="1800" dirty="0"/>
          </a:p>
        </p:txBody>
      </p:sp>
      <p:sp>
        <p:nvSpPr>
          <p:cNvPr id="9" name="Text 7"/>
          <p:cNvSpPr/>
          <p:nvPr/>
        </p:nvSpPr>
        <p:spPr>
          <a:xfrm>
            <a:off x="868680" y="3017520"/>
            <a:ext cx="2880360" cy="1097280"/>
          </a:xfrm>
          <a:prstGeom prst="rect">
            <a:avLst/>
          </a:prstGeom>
          <a:noFill/>
          <a:ln/>
        </p:spPr>
        <p:txBody>
          <a:bodyPr wrap="square" lIns="0" tIns="0" rIns="0" bIns="0" rtlCol="0" anchor="ctr"/>
          <a:lstStyle/>
          <a:p>
            <a:pPr marL="0" indent="0">
              <a:buNone/>
            </a:pPr>
            <a:r>
              <a:rPr lang="en-US" sz="1300" dirty="0">
                <a:solidFill>
                  <a:srgbClr val="FFFFFF"/>
                </a:solidFill>
                <a:latin typeface="Palatino Linotype" pitchFamily="34" charset="0"/>
                <a:ea typeface="Palatino Linotype" pitchFamily="34" charset="-122"/>
                <a:cs typeface="Palatino Linotype" pitchFamily="34" charset="-120"/>
              </a:rPr>
              <a:t>anchetă din ușă în ușă, test chimic, tabelul cu numitori</a:t>
            </a:r>
            <a:endParaRPr lang="en-US" sz="1300" dirty="0"/>
          </a:p>
        </p:txBody>
      </p:sp>
      <p:sp>
        <p:nvSpPr>
          <p:cNvPr id="10" name="Shape 8"/>
          <p:cNvSpPr/>
          <p:nvPr/>
        </p:nvSpPr>
        <p:spPr>
          <a:xfrm>
            <a:off x="4297680" y="1783080"/>
            <a:ext cx="3429000" cy="2468880"/>
          </a:xfrm>
          <a:prstGeom prst="roundRect">
            <a:avLst>
              <a:gd name="adj" fmla="val 3333"/>
            </a:avLst>
          </a:prstGeom>
          <a:solidFill>
            <a:srgbClr val="1D1F2B"/>
          </a:solidFill>
          <a:ln w="12700">
            <a:solidFill>
              <a:srgbClr val="1D1F2B"/>
            </a:solidFill>
            <a:prstDash val="solid"/>
          </a:ln>
        </p:spPr>
        <p:txBody>
          <a:bodyPr/>
          <a:lstStyle/>
          <a:p>
            <a:endParaRPr lang="ro-RO"/>
          </a:p>
        </p:txBody>
      </p:sp>
      <p:sp>
        <p:nvSpPr>
          <p:cNvPr id="11" name="Shape 9"/>
          <p:cNvSpPr/>
          <p:nvPr/>
        </p:nvSpPr>
        <p:spPr>
          <a:xfrm>
            <a:off x="4572000" y="1965960"/>
            <a:ext cx="1828800" cy="329184"/>
          </a:xfrm>
          <a:prstGeom prst="roundRect">
            <a:avLst>
              <a:gd name="adj" fmla="val 50000"/>
            </a:avLst>
          </a:prstGeom>
          <a:solidFill>
            <a:srgbClr val="9B7EF7"/>
          </a:solidFill>
          <a:ln w="12700">
            <a:solidFill>
              <a:srgbClr val="9B7EF7"/>
            </a:solidFill>
            <a:prstDash val="solid"/>
          </a:ln>
        </p:spPr>
        <p:txBody>
          <a:bodyPr/>
          <a:lstStyle/>
          <a:p>
            <a:endParaRPr lang="ro-RO"/>
          </a:p>
        </p:txBody>
      </p:sp>
      <p:sp>
        <p:nvSpPr>
          <p:cNvPr id="12" name="Text 10"/>
          <p:cNvSpPr/>
          <p:nvPr/>
        </p:nvSpPr>
        <p:spPr>
          <a:xfrm>
            <a:off x="4572000" y="1965960"/>
            <a:ext cx="1828800" cy="329184"/>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WHITEHEAD</a:t>
            </a:r>
            <a:endParaRPr lang="en-US" sz="1100" dirty="0"/>
          </a:p>
        </p:txBody>
      </p:sp>
      <p:sp>
        <p:nvSpPr>
          <p:cNvPr id="13" name="Text 11"/>
          <p:cNvSpPr/>
          <p:nvPr/>
        </p:nvSpPr>
        <p:spPr>
          <a:xfrm>
            <a:off x="4572000" y="2487168"/>
            <a:ext cx="2880360" cy="457200"/>
          </a:xfrm>
          <a:prstGeom prst="rect">
            <a:avLst/>
          </a:prstGeom>
          <a:noFill/>
          <a:ln/>
        </p:spPr>
        <p:txBody>
          <a:bodyPr wrap="square" lIns="0" tIns="0" rIns="0" bIns="0" rtlCol="0" anchor="ctr"/>
          <a:lstStyle/>
          <a:p>
            <a:pPr marL="0" indent="0">
              <a:buNone/>
            </a:pPr>
            <a:r>
              <a:rPr lang="en-US" sz="1800" b="1" dirty="0">
                <a:solidFill>
                  <a:srgbClr val="9B7EF7"/>
                </a:solidFill>
                <a:latin typeface="Palatino Linotype" pitchFamily="34" charset="0"/>
                <a:ea typeface="Palatino Linotype" pitchFamily="34" charset="-122"/>
                <a:cs typeface="Palatino Linotype" pitchFamily="34" charset="-120"/>
              </a:rPr>
              <a:t>sursa</a:t>
            </a:r>
            <a:endParaRPr lang="en-US" sz="1800" dirty="0"/>
          </a:p>
        </p:txBody>
      </p:sp>
      <p:sp>
        <p:nvSpPr>
          <p:cNvPr id="14" name="Text 12"/>
          <p:cNvSpPr/>
          <p:nvPr/>
        </p:nvSpPr>
        <p:spPr>
          <a:xfrm>
            <a:off x="4572000" y="3017520"/>
            <a:ext cx="2880360" cy="1097280"/>
          </a:xfrm>
          <a:prstGeom prst="rect">
            <a:avLst/>
          </a:prstGeom>
          <a:noFill/>
          <a:ln/>
        </p:spPr>
        <p:txBody>
          <a:bodyPr wrap="square" lIns="0" tIns="0" rIns="0" bIns="0" rtlCol="0" anchor="ctr"/>
          <a:lstStyle/>
          <a:p>
            <a:pPr marL="0" indent="0">
              <a:buNone/>
            </a:pPr>
            <a:r>
              <a:rPr lang="en-US" sz="1300" dirty="0">
                <a:solidFill>
                  <a:srgbClr val="FFFFFF"/>
                </a:solidFill>
                <a:latin typeface="Palatino Linotype" pitchFamily="34" charset="0"/>
                <a:ea typeface="Palatino Linotype" pitchFamily="34" charset="-122"/>
                <a:cs typeface="Palatino Linotype" pitchFamily="34" charset="-120"/>
              </a:rPr>
              <a:t>acces la oameni; a găsit cazul index și traseul scutecelor</a:t>
            </a:r>
            <a:endParaRPr lang="en-US" sz="1300" dirty="0"/>
          </a:p>
        </p:txBody>
      </p:sp>
      <p:sp>
        <p:nvSpPr>
          <p:cNvPr id="15" name="Shape 13"/>
          <p:cNvSpPr/>
          <p:nvPr/>
        </p:nvSpPr>
        <p:spPr>
          <a:xfrm>
            <a:off x="8001000" y="1783080"/>
            <a:ext cx="3429000" cy="2468880"/>
          </a:xfrm>
          <a:prstGeom prst="roundRect">
            <a:avLst>
              <a:gd name="adj" fmla="val 3333"/>
            </a:avLst>
          </a:prstGeom>
          <a:solidFill>
            <a:srgbClr val="1D1F2B"/>
          </a:solidFill>
          <a:ln w="12700">
            <a:solidFill>
              <a:srgbClr val="1D1F2B"/>
            </a:solidFill>
            <a:prstDash val="solid"/>
          </a:ln>
        </p:spPr>
        <p:txBody>
          <a:bodyPr/>
          <a:lstStyle/>
          <a:p>
            <a:endParaRPr lang="ro-RO"/>
          </a:p>
        </p:txBody>
      </p:sp>
      <p:sp>
        <p:nvSpPr>
          <p:cNvPr id="16" name="Shape 14"/>
          <p:cNvSpPr/>
          <p:nvPr/>
        </p:nvSpPr>
        <p:spPr>
          <a:xfrm>
            <a:off x="8275320" y="1965960"/>
            <a:ext cx="1828800" cy="329184"/>
          </a:xfrm>
          <a:prstGeom prst="roundRect">
            <a:avLst>
              <a:gd name="adj" fmla="val 50000"/>
            </a:avLst>
          </a:prstGeom>
          <a:solidFill>
            <a:srgbClr val="27D3BE"/>
          </a:solidFill>
          <a:ln w="12700">
            <a:solidFill>
              <a:srgbClr val="27D3BE"/>
            </a:solidFill>
            <a:prstDash val="solid"/>
          </a:ln>
        </p:spPr>
        <p:txBody>
          <a:bodyPr/>
          <a:lstStyle/>
          <a:p>
            <a:endParaRPr lang="ro-RO"/>
          </a:p>
        </p:txBody>
      </p:sp>
      <p:sp>
        <p:nvSpPr>
          <p:cNvPr id="17" name="Text 15"/>
          <p:cNvSpPr/>
          <p:nvPr/>
        </p:nvSpPr>
        <p:spPr>
          <a:xfrm>
            <a:off x="8275320" y="1965960"/>
            <a:ext cx="1828800" cy="329184"/>
          </a:xfrm>
          <a:prstGeom prst="rect">
            <a:avLst/>
          </a:prstGeom>
          <a:noFill/>
          <a:ln/>
        </p:spPr>
        <p:txBody>
          <a:bodyPr wrap="square" lIns="0" tIns="0" rIns="0" bIns="0" rtlCol="0" anchor="ctr"/>
          <a:lstStyle/>
          <a:p>
            <a:pPr marL="0" indent="0" algn="ctr">
              <a:buNone/>
            </a:pPr>
            <a:r>
              <a:rPr lang="en-US" sz="1100" b="1" dirty="0">
                <a:solidFill>
                  <a:srgbClr val="11121A"/>
                </a:solidFill>
                <a:latin typeface="Palatino Linotype" pitchFamily="34" charset="0"/>
                <a:ea typeface="Palatino Linotype" pitchFamily="34" charset="-122"/>
                <a:cs typeface="Palatino Linotype" pitchFamily="34" charset="-120"/>
              </a:rPr>
              <a:t>YORK</a:t>
            </a:r>
            <a:endParaRPr lang="en-US" sz="1100" dirty="0"/>
          </a:p>
        </p:txBody>
      </p:sp>
      <p:sp>
        <p:nvSpPr>
          <p:cNvPr id="18" name="Text 16"/>
          <p:cNvSpPr/>
          <p:nvPr/>
        </p:nvSpPr>
        <p:spPr>
          <a:xfrm>
            <a:off x="8275320" y="2487168"/>
            <a:ext cx="2880360" cy="457200"/>
          </a:xfrm>
          <a:prstGeom prst="rect">
            <a:avLst/>
          </a:prstGeom>
          <a:noFill/>
          <a:ln/>
        </p:spPr>
        <p:txBody>
          <a:bodyPr wrap="square" lIns="0" tIns="0" rIns="0" bIns="0" rtlCol="0" anchor="ctr"/>
          <a:lstStyle/>
          <a:p>
            <a:pPr marL="0" indent="0">
              <a:buNone/>
            </a:pPr>
            <a:r>
              <a:rPr lang="en-US" sz="1800" b="1" dirty="0">
                <a:solidFill>
                  <a:srgbClr val="27D3BE"/>
                </a:solidFill>
                <a:latin typeface="Palatino Linotype" pitchFamily="34" charset="0"/>
                <a:ea typeface="Palatino Linotype" pitchFamily="34" charset="-122"/>
                <a:cs typeface="Palatino Linotype" pitchFamily="34" charset="-120"/>
              </a:rPr>
              <a:t>defectul fizic</a:t>
            </a:r>
            <a:endParaRPr lang="en-US" sz="1800" dirty="0"/>
          </a:p>
        </p:txBody>
      </p:sp>
      <p:sp>
        <p:nvSpPr>
          <p:cNvPr id="19" name="Text 17"/>
          <p:cNvSpPr/>
          <p:nvPr/>
        </p:nvSpPr>
        <p:spPr>
          <a:xfrm>
            <a:off x="8275320" y="3017520"/>
            <a:ext cx="2880360" cy="1097280"/>
          </a:xfrm>
          <a:prstGeom prst="rect">
            <a:avLst/>
          </a:prstGeom>
          <a:noFill/>
          <a:ln/>
        </p:spPr>
        <p:txBody>
          <a:bodyPr wrap="square" lIns="0" tIns="0" rIns="0" bIns="0" rtlCol="0" anchor="ctr"/>
          <a:lstStyle/>
          <a:p>
            <a:pPr marL="0" indent="0">
              <a:buNone/>
            </a:pPr>
            <a:r>
              <a:rPr lang="en-US" sz="1300" dirty="0">
                <a:solidFill>
                  <a:srgbClr val="FFFFFF"/>
                </a:solidFill>
                <a:latin typeface="Palatino Linotype" pitchFamily="34" charset="0"/>
                <a:ea typeface="Palatino Linotype" pitchFamily="34" charset="-122"/>
                <a:cs typeface="Palatino Linotype" pitchFamily="34" charset="-120"/>
              </a:rPr>
              <a:t>a deschis haznaua, drenul și fântâna și a documentat infiltrarea continuă</a:t>
            </a:r>
            <a:endParaRPr lang="en-US" sz="1300" dirty="0"/>
          </a:p>
        </p:txBody>
      </p:sp>
      <p:sp>
        <p:nvSpPr>
          <p:cNvPr id="20" name="Shape 18"/>
          <p:cNvSpPr/>
          <p:nvPr/>
        </p:nvSpPr>
        <p:spPr>
          <a:xfrm>
            <a:off x="594360" y="4526280"/>
            <a:ext cx="10972800" cy="1143000"/>
          </a:xfrm>
          <a:prstGeom prst="roundRect">
            <a:avLst>
              <a:gd name="adj" fmla="val 7200"/>
            </a:avLst>
          </a:prstGeom>
          <a:solidFill>
            <a:srgbClr val="FF4757"/>
          </a:solidFill>
          <a:ln w="12700">
            <a:solidFill>
              <a:srgbClr val="FF4757"/>
            </a:solidFill>
            <a:prstDash val="solid"/>
          </a:ln>
        </p:spPr>
        <p:txBody>
          <a:bodyPr/>
          <a:lstStyle/>
          <a:p>
            <a:endParaRPr lang="ro-RO"/>
          </a:p>
        </p:txBody>
      </p:sp>
      <p:sp>
        <p:nvSpPr>
          <p:cNvPr id="21" name="Text 19"/>
          <p:cNvSpPr/>
          <p:nvPr/>
        </p:nvSpPr>
        <p:spPr>
          <a:xfrm>
            <a:off x="960120" y="4526280"/>
            <a:ext cx="10241280" cy="1143000"/>
          </a:xfrm>
          <a:prstGeom prst="rect">
            <a:avLst/>
          </a:prstGeom>
          <a:noFill/>
          <a:ln/>
        </p:spPr>
        <p:txBody>
          <a:bodyPr wrap="square" lIns="0" tIns="0" rIns="0" bIns="0" rtlCol="0" anchor="ctr"/>
          <a:lstStyle/>
          <a:p>
            <a:pPr marL="0" indent="0">
              <a:buNone/>
            </a:pPr>
            <a:r>
              <a:rPr lang="en-US" sz="1700" b="1" dirty="0">
                <a:solidFill>
                  <a:srgbClr val="2E060B"/>
                </a:solidFill>
                <a:latin typeface="Palatino Linotype" pitchFamily="34" charset="0"/>
                <a:ea typeface="Palatino Linotype" pitchFamily="34" charset="-122"/>
                <a:cs typeface="Palatino Linotype" pitchFamily="34" charset="-120"/>
              </a:rPr>
              <a:t>Investigația de focar este o operație colectivă, în care rolul decisiv poate reveni celui care are acces la oameni, nu celui care are teoria.</a:t>
            </a:r>
            <a:endParaRPr lang="en-US" sz="1700" dirty="0"/>
          </a:p>
        </p:txBody>
      </p:sp>
      <p:sp>
        <p:nvSpPr>
          <p:cNvPr id="22" name="Text 20"/>
          <p:cNvSpPr/>
          <p:nvPr/>
        </p:nvSpPr>
        <p:spPr>
          <a:xfrm>
            <a:off x="594360" y="5779008"/>
            <a:ext cx="10972800" cy="411480"/>
          </a:xfrm>
          <a:prstGeom prst="rect">
            <a:avLst/>
          </a:prstGeom>
          <a:noFill/>
          <a:ln/>
        </p:spPr>
        <p:txBody>
          <a:bodyPr wrap="square" lIns="0" tIns="0" rIns="0" bIns="0" rtlCol="0" anchor="ctr"/>
          <a:lstStyle/>
          <a:p>
            <a:pPr marL="0" indent="0">
              <a:buNone/>
            </a:pPr>
            <a:r>
              <a:rPr lang="en-US" sz="1250" i="1" dirty="0">
                <a:solidFill>
                  <a:srgbClr val="959BB0"/>
                </a:solidFill>
                <a:latin typeface="Palatino Linotype" pitchFamily="34" charset="0"/>
                <a:ea typeface="Palatino Linotype" pitchFamily="34" charset="-122"/>
                <a:cs typeface="Palatino Linotype" pitchFamily="34" charset="-120"/>
              </a:rPr>
              <a:t>Și o clipă pentru mama de la nr. 40: copilul ei murise, iar raportul public al comitetului descria în detaliu ce făcuse ea cu scutecele. „Cazul index” este o categorie epidemiologică; pentru ea nu era o categorie. Comitetul nu s-a angajat, de altfel, la concluzia că focarul s-a datorat acestui caz.</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822960" y="1371600"/>
            <a:ext cx="3108960" cy="2377440"/>
          </a:xfrm>
          <a:prstGeom prst="rect">
            <a:avLst/>
          </a:prstGeom>
          <a:noFill/>
          <a:ln/>
        </p:spPr>
        <p:txBody>
          <a:bodyPr wrap="square" lIns="0" tIns="0" rIns="0" bIns="0" rtlCol="0" anchor="ctr"/>
          <a:lstStyle/>
          <a:p>
            <a:pPr marL="0" indent="0">
              <a:buNone/>
            </a:pPr>
            <a:r>
              <a:rPr lang="en-US" sz="14000" b="1" dirty="0">
                <a:solidFill>
                  <a:srgbClr val="FF8A3D"/>
                </a:solidFill>
                <a:latin typeface="Palatino Linotype" pitchFamily="34" charset="0"/>
                <a:ea typeface="Palatino Linotype" pitchFamily="34" charset="-122"/>
                <a:cs typeface="Palatino Linotype" pitchFamily="34" charset="-120"/>
              </a:rPr>
              <a:t>05</a:t>
            </a:r>
            <a:endParaRPr lang="en-US" sz="14000" dirty="0"/>
          </a:p>
        </p:txBody>
      </p:sp>
      <p:sp>
        <p:nvSpPr>
          <p:cNvPr id="3" name="Shape 1"/>
          <p:cNvSpPr/>
          <p:nvPr/>
        </p:nvSpPr>
        <p:spPr>
          <a:xfrm>
            <a:off x="4206240" y="1737360"/>
            <a:ext cx="32004" cy="1737360"/>
          </a:xfrm>
          <a:prstGeom prst="rect">
            <a:avLst/>
          </a:prstGeom>
          <a:solidFill>
            <a:srgbClr val="FF8A3D"/>
          </a:solidFill>
          <a:ln/>
        </p:spPr>
        <p:txBody>
          <a:bodyPr/>
          <a:lstStyle/>
          <a:p>
            <a:endParaRPr lang="ro-RO"/>
          </a:p>
        </p:txBody>
      </p:sp>
      <p:sp>
        <p:nvSpPr>
          <p:cNvPr id="4" name="Text 2"/>
          <p:cNvSpPr/>
          <p:nvPr/>
        </p:nvSpPr>
        <p:spPr>
          <a:xfrm>
            <a:off x="4709160" y="1755648"/>
            <a:ext cx="6858000" cy="1005840"/>
          </a:xfrm>
          <a:prstGeom prst="rect">
            <a:avLst/>
          </a:prstGeom>
          <a:noFill/>
          <a:ln/>
        </p:spPr>
        <p:txBody>
          <a:bodyPr wrap="square" lIns="0" tIns="0" rIns="0" bIns="0" rtlCol="0" anchor="t"/>
          <a:lstStyle/>
          <a:p>
            <a:pPr marL="0" indent="0">
              <a:buNone/>
            </a:pPr>
            <a:r>
              <a:rPr lang="en-US" sz="3400" b="1" dirty="0">
                <a:solidFill>
                  <a:srgbClr val="FFFFFF"/>
                </a:solidFill>
                <a:latin typeface="Palatino Linotype" pitchFamily="34" charset="0"/>
                <a:ea typeface="Palatino Linotype" pitchFamily="34" charset="-122"/>
                <a:cs typeface="Palatino Linotype" pitchFamily="34" charset="-120"/>
              </a:rPr>
              <a:t>De ce nu l-a crezut nimeni</a:t>
            </a:r>
            <a:endParaRPr lang="en-US" sz="3400" dirty="0"/>
          </a:p>
        </p:txBody>
      </p:sp>
      <p:sp>
        <p:nvSpPr>
          <p:cNvPr id="5" name="Text 3"/>
          <p:cNvSpPr/>
          <p:nvPr/>
        </p:nvSpPr>
        <p:spPr>
          <a:xfrm>
            <a:off x="4709160" y="2788920"/>
            <a:ext cx="6858000" cy="868680"/>
          </a:xfrm>
          <a:prstGeom prst="rect">
            <a:avLst/>
          </a:prstGeom>
          <a:noFill/>
          <a:ln/>
        </p:spPr>
        <p:txBody>
          <a:bodyPr wrap="square" lIns="0" tIns="0" rIns="0" bIns="0" rtlCol="0" anchor="t"/>
          <a:lstStyle/>
          <a:p>
            <a:pPr marL="0" indent="0">
              <a:buNone/>
            </a:pPr>
            <a:r>
              <a:rPr lang="en-US" sz="1550" dirty="0">
                <a:solidFill>
                  <a:srgbClr val="959BB0"/>
                </a:solidFill>
                <a:latin typeface="Palatino Linotype" pitchFamily="34" charset="0"/>
                <a:ea typeface="Palatino Linotype" pitchFamily="34" charset="-122"/>
                <a:cs typeface="Palatino Linotype" pitchFamily="34" charset="-120"/>
              </a:rPr>
              <a:t>Partea cea mai inconfortabilă a sesiunii — și cea mai utilă pentru cariera voastră</a:t>
            </a:r>
            <a:endParaRPr lang="en-US" sz="15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4757"/>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2E060B"/>
                </a:solidFill>
                <a:latin typeface="Palatino Linotype" pitchFamily="34" charset="0"/>
                <a:ea typeface="Palatino Linotype" pitchFamily="34" charset="-122"/>
                <a:cs typeface="Palatino Linotype" pitchFamily="34" charset="-120"/>
              </a:rPr>
              <a:t>GENERAL BOARD OF HEALTH · 1855</a:t>
            </a:r>
            <a:endParaRPr lang="en-US" sz="1150" dirty="0"/>
          </a:p>
        </p:txBody>
      </p:sp>
      <p:sp>
        <p:nvSpPr>
          <p:cNvPr id="3" name="Text 1"/>
          <p:cNvSpPr/>
          <p:nvPr/>
        </p:nvSpPr>
        <p:spPr>
          <a:xfrm>
            <a:off x="594360" y="868680"/>
            <a:ext cx="10972800" cy="685800"/>
          </a:xfrm>
          <a:prstGeom prst="rect">
            <a:avLst/>
          </a:prstGeom>
          <a:noFill/>
          <a:ln/>
        </p:spPr>
        <p:txBody>
          <a:bodyPr wrap="square" lIns="0" tIns="0" rIns="0" bIns="0" rtlCol="0" anchor="ctr"/>
          <a:lstStyle/>
          <a:p>
            <a:pPr marL="0" indent="0">
              <a:buNone/>
            </a:pPr>
            <a:r>
              <a:rPr lang="en-US" sz="3600" b="1" dirty="0">
                <a:solidFill>
                  <a:srgbClr val="2E060B"/>
                </a:solidFill>
                <a:latin typeface="Palatino Linotype" pitchFamily="34" charset="0"/>
                <a:ea typeface="Palatino Linotype" pitchFamily="34" charset="-122"/>
                <a:cs typeface="Palatino Linotype" pitchFamily="34" charset="-120"/>
              </a:rPr>
              <a:t>Verdictul oficial</a:t>
            </a:r>
            <a:endParaRPr lang="en-US" sz="3600" dirty="0"/>
          </a:p>
        </p:txBody>
      </p:sp>
      <p:sp>
        <p:nvSpPr>
          <p:cNvPr id="4" name="Shape 2"/>
          <p:cNvSpPr/>
          <p:nvPr/>
        </p:nvSpPr>
        <p:spPr>
          <a:xfrm>
            <a:off x="594360" y="1737360"/>
            <a:ext cx="10972800" cy="1965960"/>
          </a:xfrm>
          <a:prstGeom prst="roundRect">
            <a:avLst>
              <a:gd name="adj" fmla="val 4186"/>
            </a:avLst>
          </a:prstGeom>
          <a:solidFill>
            <a:srgbClr val="7C0F1A"/>
          </a:solidFill>
          <a:ln w="12700">
            <a:solidFill>
              <a:srgbClr val="7C0F1A"/>
            </a:solidFill>
            <a:prstDash val="solid"/>
          </a:ln>
        </p:spPr>
        <p:txBody>
          <a:bodyPr/>
          <a:lstStyle/>
          <a:p>
            <a:endParaRPr lang="ro-RO"/>
          </a:p>
        </p:txBody>
      </p:sp>
      <p:sp>
        <p:nvSpPr>
          <p:cNvPr id="5" name="Text 3"/>
          <p:cNvSpPr/>
          <p:nvPr/>
        </p:nvSpPr>
        <p:spPr>
          <a:xfrm>
            <a:off x="960120" y="1737360"/>
            <a:ext cx="10241280" cy="1965960"/>
          </a:xfrm>
          <a:prstGeom prst="rect">
            <a:avLst/>
          </a:prstGeom>
          <a:noFill/>
          <a:ln/>
        </p:spPr>
        <p:txBody>
          <a:bodyPr wrap="square" lIns="0" tIns="0" rIns="0" bIns="0" rtlCol="0" anchor="ctr"/>
          <a:lstStyle/>
          <a:p>
            <a:pPr marL="0" indent="0">
              <a:buNone/>
            </a:pPr>
            <a:r>
              <a:rPr lang="en-US" sz="1700" i="1" dirty="0">
                <a:solidFill>
                  <a:srgbClr val="FFFFFF"/>
                </a:solidFill>
                <a:latin typeface="Palatino Linotype" pitchFamily="34" charset="0"/>
                <a:ea typeface="Palatino Linotype" pitchFamily="34" charset="-122"/>
                <a:cs typeface="Palatino Linotype" pitchFamily="34" charset="-120"/>
              </a:rPr>
              <a:t>„…it has been suggested by Dr. Snow, that the real cause… lay in the general use of one particular well, situate at Broad Street… After careful inquiry, we see no reason to adopt this belief.”</a:t>
            </a:r>
            <a:endParaRPr lang="en-US" sz="1700" dirty="0"/>
          </a:p>
        </p:txBody>
      </p:sp>
      <p:sp>
        <p:nvSpPr>
          <p:cNvPr id="6" name="Shape 4"/>
          <p:cNvSpPr/>
          <p:nvPr/>
        </p:nvSpPr>
        <p:spPr>
          <a:xfrm>
            <a:off x="594360" y="3886200"/>
            <a:ext cx="10972800" cy="914400"/>
          </a:xfrm>
          <a:prstGeom prst="roundRect">
            <a:avLst>
              <a:gd name="adj" fmla="val 9000"/>
            </a:avLst>
          </a:prstGeom>
          <a:solidFill>
            <a:srgbClr val="FFFFFF"/>
          </a:solidFill>
          <a:ln w="12700">
            <a:solidFill>
              <a:srgbClr val="FFFFFF"/>
            </a:solidFill>
            <a:prstDash val="solid"/>
          </a:ln>
        </p:spPr>
        <p:txBody>
          <a:bodyPr/>
          <a:lstStyle/>
          <a:p>
            <a:endParaRPr lang="ro-RO"/>
          </a:p>
        </p:txBody>
      </p:sp>
      <p:sp>
        <p:nvSpPr>
          <p:cNvPr id="7" name="Text 5"/>
          <p:cNvSpPr/>
          <p:nvPr/>
        </p:nvSpPr>
        <p:spPr>
          <a:xfrm>
            <a:off x="960120" y="3886200"/>
            <a:ext cx="10241280" cy="914400"/>
          </a:xfrm>
          <a:prstGeom prst="rect">
            <a:avLst/>
          </a:prstGeom>
          <a:noFill/>
          <a:ln/>
        </p:spPr>
        <p:txBody>
          <a:bodyPr wrap="square" lIns="0" tIns="0" rIns="0" bIns="0" rtlCol="0" anchor="ctr"/>
          <a:lstStyle/>
          <a:p>
            <a:pPr marL="0" indent="0">
              <a:buNone/>
            </a:pPr>
            <a:r>
              <a:rPr lang="en-US" sz="1900" b="1" dirty="0">
                <a:solidFill>
                  <a:srgbClr val="B02532"/>
                </a:solidFill>
                <a:latin typeface="Palatino Linotype" pitchFamily="34" charset="0"/>
                <a:ea typeface="Palatino Linotype" pitchFamily="34" charset="-122"/>
                <a:cs typeface="Palatino Linotype" pitchFamily="34" charset="-120"/>
              </a:rPr>
              <a:t>„După o anchetă atentă, nu vedem niciun motiv să adoptăm această convingere.”</a:t>
            </a:r>
            <a:endParaRPr lang="en-US" sz="1900" dirty="0"/>
          </a:p>
        </p:txBody>
      </p:sp>
      <p:sp>
        <p:nvSpPr>
          <p:cNvPr id="8" name="Text 6"/>
          <p:cNvSpPr/>
          <p:nvPr/>
        </p:nvSpPr>
        <p:spPr>
          <a:xfrm>
            <a:off x="594360" y="5029200"/>
            <a:ext cx="10972800" cy="502920"/>
          </a:xfrm>
          <a:prstGeom prst="rect">
            <a:avLst/>
          </a:prstGeom>
          <a:noFill/>
          <a:ln/>
        </p:spPr>
        <p:txBody>
          <a:bodyPr wrap="square" lIns="0" tIns="0" rIns="0" bIns="0" rtlCol="0" anchor="ctr"/>
          <a:lstStyle/>
          <a:p>
            <a:pPr marL="0" indent="0">
              <a:buNone/>
            </a:pPr>
            <a:r>
              <a:rPr lang="en-US" sz="2200" b="1" dirty="0">
                <a:solidFill>
                  <a:srgbClr val="2E060B"/>
                </a:solidFill>
                <a:latin typeface="Palatino Linotype" pitchFamily="34" charset="0"/>
                <a:ea typeface="Palatino Linotype" pitchFamily="34" charset="-122"/>
                <a:cs typeface="Palatino Linotype" pitchFamily="34" charset="-120"/>
              </a:rPr>
              <a:t>Snow a murit în 1858, la 45 de ani. Acceptarea largă a lucrării lui a cerut o schimbare majoră a gândirii despre cauzele bolilor.</a:t>
            </a:r>
            <a:endParaRPr lang="en-US" sz="2200" dirty="0"/>
          </a:p>
        </p:txBody>
      </p:sp>
      <p:sp>
        <p:nvSpPr>
          <p:cNvPr id="9" name="Text 7"/>
          <p:cNvSpPr/>
          <p:nvPr/>
        </p:nvSpPr>
        <p:spPr>
          <a:xfrm>
            <a:off x="594360" y="5687568"/>
            <a:ext cx="10972800" cy="320040"/>
          </a:xfrm>
          <a:prstGeom prst="rect">
            <a:avLst/>
          </a:prstGeom>
          <a:noFill/>
          <a:ln/>
        </p:spPr>
        <p:txBody>
          <a:bodyPr wrap="square" lIns="0" tIns="0" rIns="0" bIns="0" rtlCol="0" anchor="ctr"/>
          <a:lstStyle/>
          <a:p>
            <a:pPr marL="0" indent="0">
              <a:buNone/>
            </a:pPr>
            <a:r>
              <a:rPr lang="en-US" sz="1050" i="1" dirty="0">
                <a:solidFill>
                  <a:srgbClr val="2E060B"/>
                </a:solidFill>
                <a:latin typeface="Palatino Linotype" pitchFamily="34" charset="0"/>
                <a:ea typeface="Palatino Linotype" pitchFamily="34" charset="-122"/>
                <a:cs typeface="Palatino Linotype" pitchFamily="34" charset="-120"/>
              </a:rPr>
              <a:t>Sursa: Report of the Committee for Scientific Inquiries in relation to the Cholera-Epidemic of 1854. Londra: General Board of Health, 1855, p. 52.</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ESTE UȘOR ȘI INUTIL SĂ RÂDEM DE EI</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FFFFFF"/>
                </a:solidFill>
                <a:latin typeface="Palatino Linotype" pitchFamily="34" charset="0"/>
                <a:ea typeface="Palatino Linotype" pitchFamily="34" charset="-122"/>
                <a:cs typeface="Palatino Linotype" pitchFamily="34" charset="-120"/>
              </a:rPr>
              <a:t>Ce aveau, de fapt, în mână</a:t>
            </a:r>
            <a:endParaRPr lang="en-US" sz="3100" dirty="0"/>
          </a:p>
        </p:txBody>
      </p:sp>
      <p:sp>
        <p:nvSpPr>
          <p:cNvPr id="4" name="Shape 2"/>
          <p:cNvSpPr/>
          <p:nvPr/>
        </p:nvSpPr>
        <p:spPr>
          <a:xfrm>
            <a:off x="594360" y="1719072"/>
            <a:ext cx="10972800" cy="914400"/>
          </a:xfrm>
          <a:prstGeom prst="roundRect">
            <a:avLst>
              <a:gd name="adj" fmla="val 9000"/>
            </a:avLst>
          </a:prstGeom>
          <a:solidFill>
            <a:srgbClr val="1D1F2B"/>
          </a:solidFill>
          <a:ln w="12700">
            <a:solidFill>
              <a:srgbClr val="1D1F2B"/>
            </a:solidFill>
            <a:prstDash val="solid"/>
          </a:ln>
        </p:spPr>
        <p:txBody>
          <a:bodyPr/>
          <a:lstStyle/>
          <a:p>
            <a:endParaRPr lang="ro-RO"/>
          </a:p>
        </p:txBody>
      </p:sp>
      <p:sp>
        <p:nvSpPr>
          <p:cNvPr id="5" name="Text 3"/>
          <p:cNvSpPr/>
          <p:nvPr/>
        </p:nvSpPr>
        <p:spPr>
          <a:xfrm>
            <a:off x="914400" y="1783080"/>
            <a:ext cx="3383280" cy="786384"/>
          </a:xfrm>
          <a:prstGeom prst="rect">
            <a:avLst/>
          </a:prstGeom>
          <a:noFill/>
          <a:ln/>
        </p:spPr>
        <p:txBody>
          <a:bodyPr wrap="square" lIns="0" tIns="0" rIns="0" bIns="0" rtlCol="0" anchor="ctr"/>
          <a:lstStyle/>
          <a:p>
            <a:pPr marL="0" indent="0">
              <a:buNone/>
            </a:pPr>
            <a:r>
              <a:rPr lang="en-US" sz="1350" b="1" dirty="0">
                <a:solidFill>
                  <a:srgbClr val="FFC24B"/>
                </a:solidFill>
                <a:latin typeface="Palatino Linotype" pitchFamily="34" charset="0"/>
                <a:ea typeface="Palatino Linotype" pitchFamily="34" charset="-122"/>
                <a:cs typeface="Palatino Linotype" pitchFamily="34" charset="-120"/>
              </a:rPr>
              <a:t>Teorie multifactorială</a:t>
            </a:r>
            <a:endParaRPr lang="en-US" sz="1350" dirty="0"/>
          </a:p>
        </p:txBody>
      </p:sp>
      <p:sp>
        <p:nvSpPr>
          <p:cNvPr id="6" name="Text 4"/>
          <p:cNvSpPr/>
          <p:nvPr/>
        </p:nvSpPr>
        <p:spPr>
          <a:xfrm>
            <a:off x="4526280" y="1783080"/>
            <a:ext cx="6766560" cy="786384"/>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Comitetul admitea că infecția se poate înmulți și în aer, și în apă, într-o „rivalry of foulness”; distribuția holerei ținea, după el, mai puțin de apă decât de aer.</a:t>
            </a:r>
            <a:endParaRPr lang="en-US" sz="1150" dirty="0"/>
          </a:p>
        </p:txBody>
      </p:sp>
      <p:sp>
        <p:nvSpPr>
          <p:cNvPr id="7" name="Shape 5"/>
          <p:cNvSpPr/>
          <p:nvPr/>
        </p:nvSpPr>
        <p:spPr>
          <a:xfrm>
            <a:off x="594360" y="2761488"/>
            <a:ext cx="10972800" cy="914400"/>
          </a:xfrm>
          <a:prstGeom prst="roundRect">
            <a:avLst>
              <a:gd name="adj" fmla="val 9000"/>
            </a:avLst>
          </a:prstGeom>
          <a:solidFill>
            <a:srgbClr val="272A38"/>
          </a:solidFill>
          <a:ln w="12700">
            <a:solidFill>
              <a:srgbClr val="272A38"/>
            </a:solidFill>
            <a:prstDash val="solid"/>
          </a:ln>
        </p:spPr>
        <p:txBody>
          <a:bodyPr/>
          <a:lstStyle/>
          <a:p>
            <a:endParaRPr lang="ro-RO"/>
          </a:p>
        </p:txBody>
      </p:sp>
      <p:sp>
        <p:nvSpPr>
          <p:cNvPr id="8" name="Text 6"/>
          <p:cNvSpPr/>
          <p:nvPr/>
        </p:nvSpPr>
        <p:spPr>
          <a:xfrm>
            <a:off x="914400" y="2825496"/>
            <a:ext cx="3383280" cy="786384"/>
          </a:xfrm>
          <a:prstGeom prst="rect">
            <a:avLst/>
          </a:prstGeom>
          <a:noFill/>
          <a:ln/>
        </p:spPr>
        <p:txBody>
          <a:bodyPr wrap="square" lIns="0" tIns="0" rIns="0" bIns="0" rtlCol="0" anchor="ctr"/>
          <a:lstStyle/>
          <a:p>
            <a:pPr marL="0" indent="0">
              <a:buNone/>
            </a:pPr>
            <a:r>
              <a:rPr lang="en-US" sz="1350" b="1" dirty="0">
                <a:solidFill>
                  <a:srgbClr val="9B7EF7"/>
                </a:solidFill>
                <a:latin typeface="Palatino Linotype" pitchFamily="34" charset="0"/>
                <a:ea typeface="Palatino Linotype" pitchFamily="34" charset="-122"/>
                <a:cs typeface="Palatino Linotype" pitchFamily="34" charset="-120"/>
              </a:rPr>
              <a:t>Regularitate empirică — CU NUMITOR</a:t>
            </a:r>
            <a:endParaRPr lang="en-US" sz="1350" dirty="0"/>
          </a:p>
        </p:txBody>
      </p:sp>
      <p:sp>
        <p:nvSpPr>
          <p:cNvPr id="9" name="Text 7"/>
          <p:cNvSpPr/>
          <p:nvPr/>
        </p:nvSpPr>
        <p:spPr>
          <a:xfrm>
            <a:off x="4526280" y="2825496"/>
            <a:ext cx="6766560" cy="786384"/>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Relația găsită de Farr: mortalitatea scădea, cu multe excepții, pe măsură ce creștea altitudinea districtului. Farr AVEA populații la risc pe fiecare treaptă. Reală, replicabilă, cuantificată — și, după Snow, confundată de sursa apei.</a:t>
            </a:r>
            <a:endParaRPr lang="en-US" sz="1150" dirty="0"/>
          </a:p>
        </p:txBody>
      </p:sp>
      <p:sp>
        <p:nvSpPr>
          <p:cNvPr id="10" name="Shape 8"/>
          <p:cNvSpPr/>
          <p:nvPr/>
        </p:nvSpPr>
        <p:spPr>
          <a:xfrm>
            <a:off x="594360" y="3803904"/>
            <a:ext cx="10972800" cy="914400"/>
          </a:xfrm>
          <a:prstGeom prst="roundRect">
            <a:avLst>
              <a:gd name="adj" fmla="val 9000"/>
            </a:avLst>
          </a:prstGeom>
          <a:solidFill>
            <a:srgbClr val="1D1F2B"/>
          </a:solidFill>
          <a:ln w="12700">
            <a:solidFill>
              <a:srgbClr val="1D1F2B"/>
            </a:solidFill>
            <a:prstDash val="solid"/>
          </a:ln>
        </p:spPr>
        <p:txBody>
          <a:bodyPr/>
          <a:lstStyle/>
          <a:p>
            <a:endParaRPr lang="ro-RO"/>
          </a:p>
        </p:txBody>
      </p:sp>
      <p:sp>
        <p:nvSpPr>
          <p:cNvPr id="11" name="Text 9"/>
          <p:cNvSpPr/>
          <p:nvPr/>
        </p:nvSpPr>
        <p:spPr>
          <a:xfrm>
            <a:off x="914400" y="3867912"/>
            <a:ext cx="3383280" cy="786384"/>
          </a:xfrm>
          <a:prstGeom prst="rect">
            <a:avLst/>
          </a:prstGeom>
          <a:noFill/>
          <a:ln/>
        </p:spPr>
        <p:txBody>
          <a:bodyPr wrap="square" lIns="0" tIns="0" rIns="0" bIns="0" rtlCol="0" anchor="ctr"/>
          <a:lstStyle/>
          <a:p>
            <a:pPr marL="0" indent="0">
              <a:buNone/>
            </a:pPr>
            <a:r>
              <a:rPr lang="en-US" sz="1350" b="1" dirty="0">
                <a:solidFill>
                  <a:srgbClr val="FF4757"/>
                </a:solidFill>
                <a:latin typeface="Palatino Linotype" pitchFamily="34" charset="0"/>
                <a:ea typeface="Palatino Linotype" pitchFamily="34" charset="-122"/>
                <a:cs typeface="Palatino Linotype" pitchFamily="34" charset="-120"/>
              </a:rPr>
              <a:t>Rezultat de laborator negativ</a:t>
            </a:r>
            <a:endParaRPr lang="en-US" sz="1350" dirty="0"/>
          </a:p>
        </p:txBody>
      </p:sp>
      <p:sp>
        <p:nvSpPr>
          <p:cNvPr id="12" name="Text 10"/>
          <p:cNvSpPr/>
          <p:nvPr/>
        </p:nvSpPr>
        <p:spPr>
          <a:xfrm>
            <a:off x="4526280" y="3867912"/>
            <a:ext cx="6766560" cy="786384"/>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Hassall, în raportul General Board of Health: în cele două probe din Broad Street, niciun „peculiar body or production … calculated to excite suspicion”. Snow citează un examen Hassall DIFERIT, la p. 52 a propriei lucrări.</a:t>
            </a:r>
            <a:endParaRPr lang="en-US" sz="1150" dirty="0"/>
          </a:p>
        </p:txBody>
      </p:sp>
      <p:sp>
        <p:nvSpPr>
          <p:cNvPr id="13" name="Shape 11"/>
          <p:cNvSpPr/>
          <p:nvPr/>
        </p:nvSpPr>
        <p:spPr>
          <a:xfrm>
            <a:off x="594360" y="4846320"/>
            <a:ext cx="10972800" cy="914400"/>
          </a:xfrm>
          <a:prstGeom prst="roundRect">
            <a:avLst>
              <a:gd name="adj" fmla="val 9000"/>
            </a:avLst>
          </a:prstGeom>
          <a:solidFill>
            <a:srgbClr val="272A38"/>
          </a:solidFill>
          <a:ln w="12700">
            <a:solidFill>
              <a:srgbClr val="272A38"/>
            </a:solidFill>
            <a:prstDash val="solid"/>
          </a:ln>
        </p:spPr>
        <p:txBody>
          <a:bodyPr/>
          <a:lstStyle/>
          <a:p>
            <a:endParaRPr lang="ro-RO"/>
          </a:p>
        </p:txBody>
      </p:sp>
      <p:sp>
        <p:nvSpPr>
          <p:cNvPr id="14" name="Text 12"/>
          <p:cNvSpPr/>
          <p:nvPr/>
        </p:nvSpPr>
        <p:spPr>
          <a:xfrm>
            <a:off x="914400" y="4910328"/>
            <a:ext cx="3383280" cy="786384"/>
          </a:xfrm>
          <a:prstGeom prst="rect">
            <a:avLst/>
          </a:prstGeom>
          <a:noFill/>
          <a:ln/>
        </p:spPr>
        <p:txBody>
          <a:bodyPr wrap="square" lIns="0" tIns="0" rIns="0" bIns="0" rtlCol="0" anchor="ctr"/>
          <a:lstStyle/>
          <a:p>
            <a:pPr marL="0" indent="0">
              <a:buNone/>
            </a:pPr>
            <a:r>
              <a:rPr lang="en-US" sz="1350" b="1" dirty="0">
                <a:solidFill>
                  <a:srgbClr val="27D3BE"/>
                </a:solidFill>
                <a:latin typeface="Palatino Linotype" pitchFamily="34" charset="0"/>
                <a:ea typeface="Palatino Linotype" pitchFamily="34" charset="-122"/>
                <a:cs typeface="Palatino Linotype" pitchFamily="34" charset="-120"/>
              </a:rPr>
              <a:t>Ghinion istoric</a:t>
            </a:r>
            <a:endParaRPr lang="en-US" sz="1350" dirty="0"/>
          </a:p>
        </p:txBody>
      </p:sp>
      <p:sp>
        <p:nvSpPr>
          <p:cNvPr id="15" name="Text 13"/>
          <p:cNvSpPr/>
          <p:nvPr/>
        </p:nvSpPr>
        <p:spPr>
          <a:xfrm>
            <a:off x="4526280" y="4910328"/>
            <a:ext cx="6766560" cy="786384"/>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Pacini a DESCRIS vibrionul în 1854; numele Vibrio cholerae Pacini 1854 a fost conservat oficial abia în 1965. Koch a găsit vibrionul în Egipt, în 1883, și a adus culturi pure în Germania; a studiat holera și în India (biografia Nobel).</a:t>
            </a:r>
            <a:endParaRPr lang="en-US" sz="1150" dirty="0"/>
          </a:p>
        </p:txBody>
      </p:sp>
      <p:sp>
        <p:nvSpPr>
          <p:cNvPr id="16" name="Text 14"/>
          <p:cNvSpPr/>
          <p:nvPr/>
        </p:nvSpPr>
        <p:spPr>
          <a:xfrm>
            <a:off x="594360" y="5897880"/>
            <a:ext cx="10972800" cy="329184"/>
          </a:xfrm>
          <a:prstGeom prst="rect">
            <a:avLst/>
          </a:prstGeom>
          <a:noFill/>
          <a:ln/>
        </p:spPr>
        <p:txBody>
          <a:bodyPr wrap="square" lIns="0" tIns="0" rIns="0" bIns="0" rtlCol="0" anchor="ctr"/>
          <a:lstStyle/>
          <a:p>
            <a:pPr marL="0" indent="0">
              <a:buNone/>
            </a:pPr>
            <a:r>
              <a:rPr lang="en-US" sz="1300" b="1" i="1" dirty="0">
                <a:solidFill>
                  <a:srgbClr val="FFC24B"/>
                </a:solidFill>
                <a:latin typeface="Palatino Linotype" pitchFamily="34" charset="0"/>
                <a:ea typeface="Palatino Linotype" pitchFamily="34" charset="-122"/>
                <a:cs typeface="Palatino Linotype" pitchFamily="34" charset="-120"/>
              </a:rPr>
              <a:t>Un rezultat de laborator negativ a fost citit ca dovadă a absenței. Rețineți cuvintele — revenim la ele peste douăzeci de minute.</a:t>
            </a:r>
            <a:endParaRPr lang="en-US" sz="1300" dirty="0"/>
          </a:p>
        </p:txBody>
      </p:sp>
      <p:sp>
        <p:nvSpPr>
          <p:cNvPr id="17" name="Text 15"/>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Surse: General Board of Health 1855, p. 48, 52 (verdictul) și 241 (Hassall). Snow 1855, p. 52: „a great number of very minute oval animalcules”, considerate „of no importance”. LPSN (DSMZ), Vibrio cholerae: Opinia judiciară 31 (1965). NobelPrize.org, biografia lui Koch.</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B02532"/>
                </a:solidFill>
                <a:latin typeface="Palatino Linotype" pitchFamily="34" charset="0"/>
                <a:ea typeface="Palatino Linotype" pitchFamily="34" charset="-122"/>
                <a:cs typeface="Palatino Linotype" pitchFamily="34" charset="-120"/>
              </a:rPr>
              <a:t>CEL MAI IMPORTANT SLIDE AL SESIUNII</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11121A"/>
                </a:solidFill>
                <a:latin typeface="Palatino Linotype" pitchFamily="34" charset="0"/>
                <a:ea typeface="Palatino Linotype" pitchFamily="34" charset="-122"/>
                <a:cs typeface="Palatino Linotype" pitchFamily="34" charset="-120"/>
              </a:rPr>
              <a:t>Farr avea numitor. Și greșea.</a:t>
            </a:r>
            <a:endParaRPr lang="en-US" sz="3100" dirty="0"/>
          </a:p>
        </p:txBody>
      </p:sp>
      <p:sp>
        <p:nvSpPr>
          <p:cNvPr id="4" name="Shape 2"/>
          <p:cNvSpPr/>
          <p:nvPr/>
        </p:nvSpPr>
        <p:spPr>
          <a:xfrm>
            <a:off x="594360" y="1691640"/>
            <a:ext cx="10972800" cy="1051560"/>
          </a:xfrm>
          <a:prstGeom prst="roundRect">
            <a:avLst>
              <a:gd name="adj" fmla="val 7826"/>
            </a:avLst>
          </a:prstGeom>
          <a:solidFill>
            <a:srgbClr val="ECEAE4"/>
          </a:solidFill>
          <a:ln w="12700">
            <a:solidFill>
              <a:srgbClr val="ECEAE4"/>
            </a:solidFill>
            <a:prstDash val="solid"/>
          </a:ln>
        </p:spPr>
        <p:txBody>
          <a:bodyPr/>
          <a:lstStyle/>
          <a:p>
            <a:endParaRPr lang="ro-RO"/>
          </a:p>
        </p:txBody>
      </p:sp>
      <p:sp>
        <p:nvSpPr>
          <p:cNvPr id="5" name="Text 3"/>
          <p:cNvSpPr/>
          <p:nvPr/>
        </p:nvSpPr>
        <p:spPr>
          <a:xfrm>
            <a:off x="960120" y="1691640"/>
            <a:ext cx="10241280" cy="1051560"/>
          </a:xfrm>
          <a:prstGeom prst="rect">
            <a:avLst/>
          </a:prstGeom>
          <a:noFill/>
          <a:ln/>
        </p:spPr>
        <p:txBody>
          <a:bodyPr wrap="square" lIns="0" tIns="0" rIns="0" bIns="0" rtlCol="0" anchor="ctr"/>
          <a:lstStyle/>
          <a:p>
            <a:pPr marL="0" indent="0">
              <a:buNone/>
            </a:pPr>
            <a:r>
              <a:rPr lang="en-US" sz="1450" dirty="0">
                <a:solidFill>
                  <a:srgbClr val="11121A"/>
                </a:solidFill>
                <a:latin typeface="Palatino Linotype" pitchFamily="34" charset="0"/>
                <a:ea typeface="Palatino Linotype" pitchFamily="34" charset="-122"/>
                <a:cs typeface="Palatino Linotype" pitchFamily="34" charset="-120"/>
              </a:rPr>
              <a:t>„The law of elevation, however, established by Dr. Farr” (Thomson, anexa VII) — mortalitatea prin holeră scădea, cu multe excepții, odată cu altitudinea locuinței. Farr avea populații la risc pe fiecare treaptă, cuantificare și replicabilitate.</a:t>
            </a:r>
            <a:endParaRPr lang="en-US" sz="1450" dirty="0"/>
          </a:p>
        </p:txBody>
      </p:sp>
      <p:sp>
        <p:nvSpPr>
          <p:cNvPr id="6" name="Shape 4"/>
          <p:cNvSpPr/>
          <p:nvPr/>
        </p:nvSpPr>
        <p:spPr>
          <a:xfrm>
            <a:off x="594360" y="2880360"/>
            <a:ext cx="10972800" cy="868680"/>
          </a:xfrm>
          <a:prstGeom prst="roundRect">
            <a:avLst>
              <a:gd name="adj" fmla="val 9474"/>
            </a:avLst>
          </a:prstGeom>
          <a:solidFill>
            <a:srgbClr val="0E7C6B"/>
          </a:solidFill>
          <a:ln w="12700">
            <a:solidFill>
              <a:srgbClr val="0E7C6B"/>
            </a:solidFill>
            <a:prstDash val="solid"/>
          </a:ln>
        </p:spPr>
        <p:txBody>
          <a:bodyPr/>
          <a:lstStyle/>
          <a:p>
            <a:endParaRPr lang="ro-RO"/>
          </a:p>
        </p:txBody>
      </p:sp>
      <p:sp>
        <p:nvSpPr>
          <p:cNvPr id="7" name="Text 5"/>
          <p:cNvSpPr/>
          <p:nvPr/>
        </p:nvSpPr>
        <p:spPr>
          <a:xfrm>
            <a:off x="960120" y="2880360"/>
            <a:ext cx="10241280" cy="868680"/>
          </a:xfrm>
          <a:prstGeom prst="rect">
            <a:avLst/>
          </a:prstGeom>
          <a:noFill/>
          <a:ln/>
        </p:spPr>
        <p:txBody>
          <a:bodyPr wrap="square" lIns="0" tIns="0" rIns="0" bIns="0" rtlCol="0" anchor="ctr"/>
          <a:lstStyle/>
          <a:p>
            <a:pPr marL="0" indent="0">
              <a:buNone/>
            </a:pPr>
            <a:r>
              <a:rPr lang="en-US" sz="1550" b="1" dirty="0">
                <a:solidFill>
                  <a:srgbClr val="FFFFFF"/>
                </a:solidFill>
                <a:latin typeface="Palatino Linotype" pitchFamily="34" charset="0"/>
                <a:ea typeface="Palatino Linotype" pitchFamily="34" charset="-122"/>
                <a:cs typeface="Palatino Linotype" pitchFamily="34" charset="-120"/>
              </a:rPr>
              <a:t>Relație reală, replicabilă, cuantificată. Și, după Snow, produsă de un factor de confuzie: districtele joase primeau apa cea mai contaminată.</a:t>
            </a:r>
            <a:endParaRPr lang="en-US" sz="1550" dirty="0"/>
          </a:p>
        </p:txBody>
      </p:sp>
      <p:sp>
        <p:nvSpPr>
          <p:cNvPr id="8" name="Shape 6"/>
          <p:cNvSpPr/>
          <p:nvPr/>
        </p:nvSpPr>
        <p:spPr>
          <a:xfrm>
            <a:off x="594360" y="3886200"/>
            <a:ext cx="10972800" cy="1051560"/>
          </a:xfrm>
          <a:prstGeom prst="roundRect">
            <a:avLst>
              <a:gd name="adj" fmla="val 7826"/>
            </a:avLst>
          </a:prstGeom>
          <a:solidFill>
            <a:srgbClr val="B02532"/>
          </a:solidFill>
          <a:ln w="12700">
            <a:solidFill>
              <a:srgbClr val="B02532"/>
            </a:solidFill>
            <a:prstDash val="solid"/>
          </a:ln>
        </p:spPr>
        <p:txBody>
          <a:bodyPr/>
          <a:lstStyle/>
          <a:p>
            <a:endParaRPr lang="ro-RO"/>
          </a:p>
        </p:txBody>
      </p:sp>
      <p:sp>
        <p:nvSpPr>
          <p:cNvPr id="9" name="Text 7"/>
          <p:cNvSpPr/>
          <p:nvPr/>
        </p:nvSpPr>
        <p:spPr>
          <a:xfrm>
            <a:off x="960120" y="3886200"/>
            <a:ext cx="10241280" cy="1051560"/>
          </a:xfrm>
          <a:prstGeom prst="rect">
            <a:avLst/>
          </a:prstGeom>
          <a:noFill/>
          <a:ln/>
        </p:spPr>
        <p:txBody>
          <a:bodyPr wrap="square" lIns="0" tIns="0" rIns="0" bIns="0" rtlCol="0" anchor="ctr"/>
          <a:lstStyle/>
          <a:p>
            <a:pPr marL="0" indent="0">
              <a:buNone/>
            </a:pPr>
            <a:r>
              <a:rPr lang="en-US" sz="1350" b="1" dirty="0">
                <a:solidFill>
                  <a:srgbClr val="FFFFFF"/>
                </a:solidFill>
                <a:latin typeface="Palatino Linotype" pitchFamily="34" charset="0"/>
                <a:ea typeface="Palatino Linotype" pitchFamily="34" charset="-122"/>
                <a:cs typeface="Palatino Linotype" pitchFamily="34" charset="-120"/>
              </a:rPr>
              <a:t>Deci teza sesiunii NU poate fi „construiește numitorul și vei avea dreptate”. Numitorul e necesar și nu e suficient. Ce a decis cazul a fost un GRUP DE COMPARAȚIE în care alocarea nu depindea de nimic altceva relevant. Farr avea rate; Snow avea rate PLUS alocare neconfundată.</a:t>
            </a:r>
            <a:endParaRPr lang="en-US" sz="1350" dirty="0"/>
          </a:p>
        </p:txBody>
      </p:sp>
      <p:sp>
        <p:nvSpPr>
          <p:cNvPr id="10" name="Shape 8"/>
          <p:cNvSpPr/>
          <p:nvPr/>
        </p:nvSpPr>
        <p:spPr>
          <a:xfrm>
            <a:off x="621792" y="5120640"/>
            <a:ext cx="1828800" cy="32004"/>
          </a:xfrm>
          <a:prstGeom prst="rect">
            <a:avLst/>
          </a:prstGeom>
          <a:solidFill>
            <a:srgbClr val="4A2D8C"/>
          </a:solidFill>
          <a:ln/>
        </p:spPr>
        <p:txBody>
          <a:bodyPr/>
          <a:lstStyle/>
          <a:p>
            <a:endParaRPr lang="ro-RO"/>
          </a:p>
        </p:txBody>
      </p:sp>
      <p:sp>
        <p:nvSpPr>
          <p:cNvPr id="11" name="Text 9"/>
          <p:cNvSpPr/>
          <p:nvPr/>
        </p:nvSpPr>
        <p:spPr>
          <a:xfrm>
            <a:off x="594360" y="5349240"/>
            <a:ext cx="10972800" cy="822960"/>
          </a:xfrm>
          <a:prstGeom prst="rect">
            <a:avLst/>
          </a:prstGeom>
          <a:noFill/>
          <a:ln/>
        </p:spPr>
        <p:txBody>
          <a:bodyPr wrap="square" lIns="0" tIns="0" rIns="0" bIns="0" rtlCol="0" anchor="ctr"/>
          <a:lstStyle/>
          <a:p>
            <a:pPr marL="0" indent="0">
              <a:lnSpc>
                <a:spcPts val="3000"/>
              </a:lnSpc>
              <a:buNone/>
            </a:pPr>
            <a:r>
              <a:rPr lang="en-US" sz="2200" b="1" dirty="0">
                <a:solidFill>
                  <a:srgbClr val="4A2D8C"/>
                </a:solidFill>
                <a:latin typeface="Palatino Linotype" pitchFamily="34" charset="0"/>
                <a:ea typeface="Palatino Linotype" pitchFamily="34" charset="-122"/>
                <a:cs typeface="Palatino Linotype" pitchFamily="34" charset="-120"/>
              </a:rPr>
              <a:t>O corelație puternică, reproductibilă și cuantificată poate fi reală și totuși necauzală, produsă în întregime de un factor de confuzie.</a:t>
            </a:r>
            <a:endParaRPr lang="en-US" sz="2200" dirty="0"/>
          </a:p>
        </p:txBody>
      </p:sp>
      <p:sp>
        <p:nvSpPr>
          <p:cNvPr id="12" name="Text 10"/>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585A64"/>
                </a:solidFill>
                <a:latin typeface="Palatino Linotype" pitchFamily="34" charset="0"/>
                <a:ea typeface="Palatino Linotype" pitchFamily="34" charset="-122"/>
                <a:cs typeface="Palatino Linotype" pitchFamily="34" charset="-120"/>
              </a:rPr>
              <a:t>Surse: General Board of Health 1855, p. 15 și 48–49 (gradientul, în raportul comitetului) și Anexa nr. VII — R. D. Thomson, Report on the Chemical Composition of Metropolitan Waters during the year 1854, p. 185 (formularea „law of elevation”); NU la p. 52, alături de verdict. Snow 1855, pp. 97–98. Eyler JM. Soz Praventivmed. 2001;46(4):225–232.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a:effectLst/>
      </p:bgPr>
    </p:bg>
    <p:spTree>
      <p:nvGrpSpPr>
        <p:cNvPr id="1" name=""/>
        <p:cNvGrpSpPr/>
        <p:nvPr/>
      </p:nvGrpSpPr>
      <p:grpSpPr>
        <a:xfrm>
          <a:off x="0" y="0"/>
          <a:ext cx="0" cy="0"/>
          <a:chOff x="0" y="0"/>
          <a:chExt cx="0" cy="0"/>
        </a:xfrm>
      </p:grpSpPr>
      <p:sp>
        <p:nvSpPr>
          <p:cNvPr id="2" name="Shape 0"/>
          <p:cNvSpPr/>
          <p:nvPr/>
        </p:nvSpPr>
        <p:spPr>
          <a:xfrm>
            <a:off x="594360" y="329184"/>
            <a:ext cx="3840480" cy="402336"/>
          </a:xfrm>
          <a:prstGeom prst="roundRect">
            <a:avLst>
              <a:gd name="adj" fmla="val 50000"/>
            </a:avLst>
          </a:prstGeom>
          <a:solidFill>
            <a:srgbClr val="FF4757"/>
          </a:solidFill>
          <a:ln w="12700">
            <a:solidFill>
              <a:srgbClr val="FF4757"/>
            </a:solidFill>
            <a:prstDash val="solid"/>
          </a:ln>
        </p:spPr>
        <p:txBody>
          <a:bodyPr/>
          <a:lstStyle/>
          <a:p>
            <a:endParaRPr lang="ro-RO"/>
          </a:p>
        </p:txBody>
      </p:sp>
      <p:sp>
        <p:nvSpPr>
          <p:cNvPr id="3" name="Text 1"/>
          <p:cNvSpPr/>
          <p:nvPr/>
        </p:nvSpPr>
        <p:spPr>
          <a:xfrm>
            <a:off x="594360" y="329184"/>
            <a:ext cx="3840480" cy="402336"/>
          </a:xfrm>
          <a:prstGeom prst="rect">
            <a:avLst/>
          </a:prstGeom>
          <a:noFill/>
          <a:ln/>
        </p:spPr>
        <p:txBody>
          <a:bodyPr wrap="square" lIns="0" tIns="0" rIns="0" bIns="0" rtlCol="0" anchor="ctr"/>
          <a:lstStyle/>
          <a:p>
            <a:pPr marL="0" indent="0" algn="ctr">
              <a:buNone/>
            </a:pPr>
            <a:r>
              <a:rPr lang="en-US" sz="1050" b="1" dirty="0">
                <a:solidFill>
                  <a:srgbClr val="2E060B"/>
                </a:solidFill>
                <a:latin typeface="Palatino Linotype" pitchFamily="34" charset="0"/>
                <a:ea typeface="Palatino Linotype" pitchFamily="34" charset="-122"/>
                <a:cs typeface="Palatino Linotype" pitchFamily="34" charset="-120"/>
              </a:rPr>
              <a:t>CE NU E ÎN LEGENDĂ  ·  05</a:t>
            </a:r>
            <a:endParaRPr lang="en-US" sz="1050" dirty="0"/>
          </a:p>
        </p:txBody>
      </p:sp>
      <p:sp>
        <p:nvSpPr>
          <p:cNvPr id="4" name="Text 2"/>
          <p:cNvSpPr/>
          <p:nvPr/>
        </p:nvSpPr>
        <p:spPr>
          <a:xfrm>
            <a:off x="594360" y="694944"/>
            <a:ext cx="10972800" cy="960120"/>
          </a:xfrm>
          <a:prstGeom prst="rect">
            <a:avLst/>
          </a:prstGeom>
          <a:noFill/>
          <a:ln/>
        </p:spPr>
        <p:txBody>
          <a:bodyPr wrap="square" lIns="0" tIns="0" rIns="0" bIns="0" rtlCol="0" anchor="t"/>
          <a:lstStyle/>
          <a:p>
            <a:pPr marL="0" indent="0">
              <a:buNone/>
            </a:pPr>
            <a:r>
              <a:rPr lang="en-US" sz="3400" b="1" dirty="0">
                <a:solidFill>
                  <a:srgbClr val="FFFFFF"/>
                </a:solidFill>
                <a:latin typeface="Palatino Linotype" pitchFamily="34" charset="0"/>
                <a:ea typeface="Palatino Linotype" pitchFamily="34" charset="-122"/>
                <a:cs typeface="Palatino Linotype" pitchFamily="34" charset="-120"/>
              </a:rPr>
              <a:t>Dovada și decizia sunt două procese diferite</a:t>
            </a:r>
            <a:endParaRPr lang="en-US" sz="3400" dirty="0"/>
          </a:p>
        </p:txBody>
      </p:sp>
      <p:sp>
        <p:nvSpPr>
          <p:cNvPr id="5" name="Shape 3"/>
          <p:cNvSpPr/>
          <p:nvPr/>
        </p:nvSpPr>
        <p:spPr>
          <a:xfrm>
            <a:off x="594360" y="1737360"/>
            <a:ext cx="10972800" cy="1234440"/>
          </a:xfrm>
          <a:prstGeom prst="roundRect">
            <a:avLst>
              <a:gd name="adj" fmla="val 6667"/>
            </a:avLst>
          </a:prstGeom>
          <a:solidFill>
            <a:srgbClr val="1D1F2B"/>
          </a:solidFill>
          <a:ln w="12700">
            <a:solidFill>
              <a:srgbClr val="1D1F2B"/>
            </a:solidFill>
            <a:prstDash val="solid"/>
          </a:ln>
        </p:spPr>
        <p:txBody>
          <a:bodyPr/>
          <a:lstStyle/>
          <a:p>
            <a:endParaRPr lang="ro-RO"/>
          </a:p>
        </p:txBody>
      </p:sp>
      <p:sp>
        <p:nvSpPr>
          <p:cNvPr id="6" name="Text 4"/>
          <p:cNvSpPr/>
          <p:nvPr/>
        </p:nvSpPr>
        <p:spPr>
          <a:xfrm>
            <a:off x="960120" y="1737360"/>
            <a:ext cx="10241280" cy="1234440"/>
          </a:xfrm>
          <a:prstGeom prst="rect">
            <a:avLst/>
          </a:prstGeom>
          <a:noFill/>
          <a:ln/>
        </p:spPr>
        <p:txBody>
          <a:bodyPr wrap="square" lIns="0" tIns="0" rIns="0" bIns="0" rtlCol="0" anchor="ctr"/>
          <a:lstStyle/>
          <a:p>
            <a:pPr marL="0" indent="0">
              <a:buNone/>
            </a:pPr>
            <a:r>
              <a:rPr lang="en-US" sz="1900" b="1" dirty="0">
                <a:solidFill>
                  <a:srgbClr val="FFFFFF"/>
                </a:solidFill>
                <a:latin typeface="Palatino Linotype" pitchFamily="34" charset="0"/>
                <a:ea typeface="Palatino Linotype" pitchFamily="34" charset="-122"/>
                <a:cs typeface="Palatino Linotype" pitchFamily="34" charset="-120"/>
              </a:rPr>
              <a:t>Snow avea dreptate în 1854. Avea dovezi în 1855. A murit în 1858; acceptarea largă a lucrării a cerut o schimbare majoră a gândirii despre cauzele bolilor. Nu a fost suficient.</a:t>
            </a:r>
            <a:endParaRPr lang="en-US" sz="1900" dirty="0"/>
          </a:p>
        </p:txBody>
      </p:sp>
      <p:sp>
        <p:nvSpPr>
          <p:cNvPr id="7" name="Shape 5"/>
          <p:cNvSpPr/>
          <p:nvPr/>
        </p:nvSpPr>
        <p:spPr>
          <a:xfrm>
            <a:off x="594360" y="3154680"/>
            <a:ext cx="10972800" cy="1097280"/>
          </a:xfrm>
          <a:prstGeom prst="roundRect">
            <a:avLst>
              <a:gd name="adj" fmla="val 7500"/>
            </a:avLst>
          </a:prstGeom>
          <a:solidFill>
            <a:srgbClr val="1A2430"/>
          </a:solidFill>
          <a:ln w="12700">
            <a:solidFill>
              <a:srgbClr val="1A2430"/>
            </a:solidFill>
            <a:prstDash val="solid"/>
          </a:ln>
        </p:spPr>
        <p:txBody>
          <a:bodyPr/>
          <a:lstStyle/>
          <a:p>
            <a:endParaRPr lang="ro-RO"/>
          </a:p>
        </p:txBody>
      </p:sp>
      <p:sp>
        <p:nvSpPr>
          <p:cNvPr id="8" name="Text 6"/>
          <p:cNvSpPr/>
          <p:nvPr/>
        </p:nvSpPr>
        <p:spPr>
          <a:xfrm>
            <a:off x="960120" y="3154680"/>
            <a:ext cx="10241280" cy="1097280"/>
          </a:xfrm>
          <a:prstGeom prst="rect">
            <a:avLst/>
          </a:prstGeom>
          <a:noFill/>
          <a:ln/>
        </p:spPr>
        <p:txBody>
          <a:bodyPr wrap="square" lIns="0" tIns="0" rIns="0" bIns="0" rtlCol="0" anchor="ctr"/>
          <a:lstStyle/>
          <a:p>
            <a:pPr marL="0" indent="0">
              <a:buNone/>
            </a:pPr>
            <a:r>
              <a:rPr lang="en-US" sz="1600" b="1" dirty="0">
                <a:solidFill>
                  <a:srgbClr val="27D3BE"/>
                </a:solidFill>
                <a:latin typeface="Palatino Linotype" pitchFamily="34" charset="0"/>
                <a:ea typeface="Palatino Linotype" pitchFamily="34" charset="-122"/>
                <a:cs typeface="Palatino Linotype" pitchFamily="34" charset="-120"/>
              </a:rPr>
              <a:t>Criterii diferite. Actori diferiți. Calendare diferite. Un epidemiolog care crede că o analiză bună produce automat o decizie bună va fi un epidemiolog frustrat și ineficace.</a:t>
            </a:r>
            <a:endParaRPr lang="en-US" sz="1600" dirty="0"/>
          </a:p>
        </p:txBody>
      </p:sp>
      <p:sp>
        <p:nvSpPr>
          <p:cNvPr id="9" name="Shape 7"/>
          <p:cNvSpPr/>
          <p:nvPr/>
        </p:nvSpPr>
        <p:spPr>
          <a:xfrm>
            <a:off x="594360" y="4434840"/>
            <a:ext cx="10972800" cy="1234440"/>
          </a:xfrm>
          <a:prstGeom prst="roundRect">
            <a:avLst>
              <a:gd name="adj" fmla="val 6667"/>
            </a:avLst>
          </a:prstGeom>
          <a:solidFill>
            <a:srgbClr val="FF4757"/>
          </a:solidFill>
          <a:ln w="12700">
            <a:solidFill>
              <a:srgbClr val="FF4757"/>
            </a:solidFill>
            <a:prstDash val="solid"/>
          </a:ln>
        </p:spPr>
        <p:txBody>
          <a:bodyPr/>
          <a:lstStyle/>
          <a:p>
            <a:endParaRPr lang="ro-RO"/>
          </a:p>
        </p:txBody>
      </p:sp>
      <p:sp>
        <p:nvSpPr>
          <p:cNvPr id="10" name="Text 8"/>
          <p:cNvSpPr/>
          <p:nvPr/>
        </p:nvSpPr>
        <p:spPr>
          <a:xfrm>
            <a:off x="960120" y="4434840"/>
            <a:ext cx="10241280" cy="1234440"/>
          </a:xfrm>
          <a:prstGeom prst="rect">
            <a:avLst/>
          </a:prstGeom>
          <a:noFill/>
          <a:ln/>
        </p:spPr>
        <p:txBody>
          <a:bodyPr wrap="square" lIns="0" tIns="0" rIns="0" bIns="0" rtlCol="0" anchor="ctr"/>
          <a:lstStyle/>
          <a:p>
            <a:pPr marL="0" indent="0">
              <a:buNone/>
            </a:pPr>
            <a:r>
              <a:rPr lang="en-US" sz="1700" b="1" dirty="0">
                <a:solidFill>
                  <a:srgbClr val="2E060B"/>
                </a:solidFill>
                <a:latin typeface="Palatino Linotype" pitchFamily="34" charset="0"/>
                <a:ea typeface="Palatino Linotype" pitchFamily="34" charset="-122"/>
                <a:cs typeface="Palatino Linotype" pitchFamily="34" charset="-120"/>
              </a:rPr>
              <a:t>Planificați pentru amândouă, de la început: pentru producerea dovezii ȘI pentru traseul ei prin sistemul care ia decizia.</a:t>
            </a:r>
            <a:endParaRPr lang="en-US" sz="1700" dirty="0"/>
          </a:p>
        </p:txBody>
      </p:sp>
      <p:sp>
        <p:nvSpPr>
          <p:cNvPr id="11" name="Text 9"/>
          <p:cNvSpPr/>
          <p:nvPr/>
        </p:nvSpPr>
        <p:spPr>
          <a:xfrm>
            <a:off x="594360" y="5806440"/>
            <a:ext cx="10972800" cy="365760"/>
          </a:xfrm>
          <a:prstGeom prst="rect">
            <a:avLst/>
          </a:prstGeom>
          <a:noFill/>
          <a:ln/>
        </p:spPr>
        <p:txBody>
          <a:bodyPr wrap="square" lIns="0" tIns="0" rIns="0" bIns="0" rtlCol="0" anchor="ctr"/>
          <a:lstStyle/>
          <a:p>
            <a:pPr marL="0" indent="0">
              <a:buNone/>
            </a:pPr>
            <a:r>
              <a:rPr lang="en-US" sz="1250" i="1" dirty="0">
                <a:solidFill>
                  <a:srgbClr val="959BB0"/>
                </a:solidFill>
                <a:latin typeface="Palatino Linotype" pitchFamily="34" charset="0"/>
                <a:ea typeface="Palatino Linotype" pitchFamily="34" charset="-122"/>
                <a:cs typeface="Palatino Linotype" pitchFamily="34" charset="-120"/>
              </a:rPr>
              <a:t>Firul se reia în Sesiunea 4 (medicul care declară și, dacă invitatul din teren confirmă, cu el: cât timp trece între raport și măsură) și în Sesiunea 6 (de ce datele nu conving când contrazic o convingere instalată).</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21A"/>
        </a:solidFill>
        <a:effectLst/>
      </p:bgPr>
    </p:bg>
    <p:spTree>
      <p:nvGrpSpPr>
        <p:cNvPr id="1" name=""/>
        <p:cNvGrpSpPr/>
        <p:nvPr/>
      </p:nvGrpSpPr>
      <p:grpSpPr>
        <a:xfrm>
          <a:off x="0" y="0"/>
          <a:ext cx="0" cy="0"/>
          <a:chOff x="0" y="0"/>
          <a:chExt cx="0" cy="0"/>
        </a:xfrm>
      </p:grpSpPr>
      <p:sp>
        <p:nvSpPr>
          <p:cNvPr id="2" name="Shape 0"/>
          <p:cNvSpPr/>
          <p:nvPr/>
        </p:nvSpPr>
        <p:spPr>
          <a:xfrm>
            <a:off x="8503920" y="-1188720"/>
            <a:ext cx="5120640" cy="5120640"/>
          </a:xfrm>
          <a:prstGeom prst="ellipse">
            <a:avLst/>
          </a:prstGeom>
          <a:solidFill>
            <a:srgbClr val="1F2432"/>
          </a:solidFill>
          <a:ln/>
        </p:spPr>
        <p:txBody>
          <a:bodyPr/>
          <a:lstStyle/>
          <a:p>
            <a:endParaRPr lang="ro-RO"/>
          </a:p>
        </p:txBody>
      </p:sp>
      <p:sp>
        <p:nvSpPr>
          <p:cNvPr id="3" name="Text 1"/>
          <p:cNvSpPr/>
          <p:nvPr/>
        </p:nvSpPr>
        <p:spPr>
          <a:xfrm>
            <a:off x="685800" y="2377440"/>
            <a:ext cx="10058400" cy="1188720"/>
          </a:xfrm>
          <a:prstGeom prst="rect">
            <a:avLst/>
          </a:prstGeom>
          <a:noFill/>
          <a:ln/>
        </p:spPr>
        <p:txBody>
          <a:bodyPr wrap="square" lIns="0" tIns="0" rIns="0" bIns="0" rtlCol="0" anchor="ctr"/>
          <a:lstStyle/>
          <a:p>
            <a:pPr marL="0" indent="0">
              <a:buNone/>
            </a:pPr>
            <a:r>
              <a:rPr lang="en-US" sz="6400" b="1" dirty="0">
                <a:solidFill>
                  <a:srgbClr val="27D3BE"/>
                </a:solidFill>
                <a:latin typeface="Palatino Linotype" pitchFamily="34" charset="0"/>
                <a:ea typeface="Palatino Linotype" pitchFamily="34" charset="-122"/>
                <a:cs typeface="Palatino Linotype" pitchFamily="34" charset="-120"/>
              </a:rPr>
              <a:t>Pauză</a:t>
            </a:r>
            <a:endParaRPr lang="en-US" sz="6400" dirty="0"/>
          </a:p>
        </p:txBody>
      </p:sp>
      <p:sp>
        <p:nvSpPr>
          <p:cNvPr id="4" name="Text 2"/>
          <p:cNvSpPr/>
          <p:nvPr/>
        </p:nvSpPr>
        <p:spPr>
          <a:xfrm>
            <a:off x="685800" y="3611880"/>
            <a:ext cx="10058400" cy="502920"/>
          </a:xfrm>
          <a:prstGeom prst="rect">
            <a:avLst/>
          </a:prstGeom>
          <a:noFill/>
          <a:ln/>
        </p:spPr>
        <p:txBody>
          <a:bodyPr wrap="square" lIns="0" tIns="0" rIns="0" bIns="0" rtlCol="0" anchor="ctr"/>
          <a:lstStyle/>
          <a:p>
            <a:pPr marL="0" indent="0">
              <a:buNone/>
            </a:pPr>
            <a:r>
              <a:rPr lang="en-US" sz="2000" dirty="0">
                <a:solidFill>
                  <a:srgbClr val="959BB0"/>
                </a:solidFill>
                <a:latin typeface="Palatino Linotype" pitchFamily="34" charset="0"/>
                <a:ea typeface="Palatino Linotype" pitchFamily="34" charset="-122"/>
                <a:cs typeface="Palatino Linotype" pitchFamily="34" charset="-120"/>
              </a:rPr>
              <a:t>Aici se termină prima oră. Când reveniți, lucrați voi.</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21A"/>
        </a:solidFill>
        <a:effectLst/>
      </p:bgPr>
    </p:bg>
    <p:spTree>
      <p:nvGrpSpPr>
        <p:cNvPr id="1" name=""/>
        <p:cNvGrpSpPr/>
        <p:nvPr/>
      </p:nvGrpSpPr>
      <p:grpSpPr>
        <a:xfrm>
          <a:off x="0" y="0"/>
          <a:ext cx="0" cy="0"/>
          <a:chOff x="0" y="0"/>
          <a:chExt cx="0" cy="0"/>
        </a:xfrm>
      </p:grpSpPr>
      <p:sp>
        <p:nvSpPr>
          <p:cNvPr id="2" name="Shape 0"/>
          <p:cNvSpPr/>
          <p:nvPr/>
        </p:nvSpPr>
        <p:spPr>
          <a:xfrm>
            <a:off x="9098280" y="329184"/>
            <a:ext cx="2468880" cy="402336"/>
          </a:xfrm>
          <a:prstGeom prst="roundRect">
            <a:avLst>
              <a:gd name="adj" fmla="val 50000"/>
            </a:avLst>
          </a:prstGeom>
          <a:solidFill>
            <a:srgbClr val="27D3BE"/>
          </a:solidFill>
          <a:ln w="12700">
            <a:solidFill>
              <a:srgbClr val="27D3BE"/>
            </a:solidFill>
            <a:prstDash val="solid"/>
          </a:ln>
        </p:spPr>
        <p:txBody>
          <a:bodyPr/>
          <a:lstStyle/>
          <a:p>
            <a:endParaRPr lang="ro-RO"/>
          </a:p>
        </p:txBody>
      </p:sp>
      <p:sp>
        <p:nvSpPr>
          <p:cNvPr id="3" name="Text 1"/>
          <p:cNvSpPr/>
          <p:nvPr/>
        </p:nvSpPr>
        <p:spPr>
          <a:xfrm>
            <a:off x="9098280" y="329184"/>
            <a:ext cx="2468880" cy="402336"/>
          </a:xfrm>
          <a:prstGeom prst="rect">
            <a:avLst/>
          </a:prstGeom>
          <a:noFill/>
          <a:ln/>
        </p:spPr>
        <p:txBody>
          <a:bodyPr wrap="square" lIns="0" tIns="0" rIns="0" bIns="0" rtlCol="0" anchor="ctr"/>
          <a:lstStyle/>
          <a:p>
            <a:pPr marL="0" indent="0" algn="ctr">
              <a:buNone/>
            </a:pPr>
            <a:r>
              <a:rPr lang="en-US" sz="1050" b="1" dirty="0">
                <a:solidFill>
                  <a:srgbClr val="11121A"/>
                </a:solidFill>
                <a:latin typeface="Palatino Linotype" pitchFamily="34" charset="0"/>
                <a:ea typeface="Palatino Linotype" pitchFamily="34" charset="-122"/>
                <a:cs typeface="Palatino Linotype" pitchFamily="34" charset="-120"/>
              </a:rPr>
              <a:t>ECHIPE · 18 MIN</a:t>
            </a:r>
            <a:endParaRPr lang="en-US" sz="1050" dirty="0"/>
          </a:p>
        </p:txBody>
      </p:sp>
      <p:sp>
        <p:nvSpPr>
          <p:cNvPr id="4" name="Shape 2"/>
          <p:cNvSpPr/>
          <p:nvPr/>
        </p:nvSpPr>
        <p:spPr>
          <a:xfrm>
            <a:off x="8503920" y="-1188720"/>
            <a:ext cx="5120640" cy="5120640"/>
          </a:xfrm>
          <a:prstGeom prst="ellipse">
            <a:avLst/>
          </a:prstGeom>
          <a:solidFill>
            <a:srgbClr val="1F2432"/>
          </a:solidFill>
          <a:ln/>
        </p:spPr>
        <p:txBody>
          <a:bodyPr/>
          <a:lstStyle/>
          <a:p>
            <a:endParaRPr lang="ro-RO"/>
          </a:p>
        </p:txBody>
      </p:sp>
      <p:sp>
        <p:nvSpPr>
          <p:cNvPr id="5" name="Shape 3"/>
          <p:cNvSpPr/>
          <p:nvPr/>
        </p:nvSpPr>
        <p:spPr>
          <a:xfrm>
            <a:off x="685800" y="1234440"/>
            <a:ext cx="2743200" cy="329184"/>
          </a:xfrm>
          <a:prstGeom prst="roundRect">
            <a:avLst>
              <a:gd name="adj" fmla="val 50000"/>
            </a:avLst>
          </a:prstGeom>
          <a:solidFill>
            <a:srgbClr val="27D3BE"/>
          </a:solidFill>
          <a:ln w="12700">
            <a:solidFill>
              <a:srgbClr val="27D3BE"/>
            </a:solidFill>
            <a:prstDash val="solid"/>
          </a:ln>
        </p:spPr>
        <p:txBody>
          <a:bodyPr/>
          <a:lstStyle/>
          <a:p>
            <a:endParaRPr lang="ro-RO"/>
          </a:p>
        </p:txBody>
      </p:sp>
      <p:sp>
        <p:nvSpPr>
          <p:cNvPr id="6" name="Text 4"/>
          <p:cNvSpPr/>
          <p:nvPr/>
        </p:nvSpPr>
        <p:spPr>
          <a:xfrm>
            <a:off x="685800" y="1234440"/>
            <a:ext cx="2743200" cy="329184"/>
          </a:xfrm>
          <a:prstGeom prst="rect">
            <a:avLst/>
          </a:prstGeom>
          <a:noFill/>
          <a:ln/>
        </p:spPr>
        <p:txBody>
          <a:bodyPr wrap="square" lIns="0" tIns="0" rIns="0" bIns="0" rtlCol="0" anchor="ctr"/>
          <a:lstStyle/>
          <a:p>
            <a:pPr marL="0" indent="0" algn="ctr">
              <a:buNone/>
            </a:pPr>
            <a:r>
              <a:rPr lang="en-US" sz="1150" b="1" dirty="0">
                <a:solidFill>
                  <a:srgbClr val="073B34"/>
                </a:solidFill>
                <a:latin typeface="Palatino Linotype" pitchFamily="34" charset="0"/>
                <a:ea typeface="Palatino Linotype" pitchFamily="34" charset="-122"/>
                <a:cs typeface="Palatino Linotype" pitchFamily="34" charset="-120"/>
              </a:rPr>
              <a:t>ECHIPE DE 3–4</a:t>
            </a:r>
            <a:endParaRPr lang="en-US" sz="1150" dirty="0"/>
          </a:p>
        </p:txBody>
      </p:sp>
      <p:sp>
        <p:nvSpPr>
          <p:cNvPr id="7" name="Text 5"/>
          <p:cNvSpPr/>
          <p:nvPr/>
        </p:nvSpPr>
        <p:spPr>
          <a:xfrm>
            <a:off x="685800" y="1737360"/>
            <a:ext cx="10058400" cy="731520"/>
          </a:xfrm>
          <a:prstGeom prst="rect">
            <a:avLst/>
          </a:prstGeom>
          <a:noFill/>
          <a:ln/>
        </p:spPr>
        <p:txBody>
          <a:bodyPr wrap="square" lIns="0" tIns="0" rIns="0" bIns="0" rtlCol="0" anchor="ctr"/>
          <a:lstStyle/>
          <a:p>
            <a:pPr marL="0" indent="0">
              <a:buNone/>
            </a:pPr>
            <a:r>
              <a:rPr lang="en-US" sz="3800" b="1" dirty="0">
                <a:solidFill>
                  <a:srgbClr val="FFFFFF"/>
                </a:solidFill>
                <a:latin typeface="Palatino Linotype" pitchFamily="34" charset="0"/>
                <a:ea typeface="Palatino Linotype" pitchFamily="34" charset="-122"/>
                <a:cs typeface="Palatino Linotype" pitchFamily="34" charset="-120"/>
              </a:rPr>
              <a:t>Dosarul Broad Street</a:t>
            </a:r>
            <a:endParaRPr lang="en-US" sz="3800" dirty="0"/>
          </a:p>
        </p:txBody>
      </p:sp>
      <p:sp>
        <p:nvSpPr>
          <p:cNvPr id="8" name="Text 6"/>
          <p:cNvSpPr/>
          <p:nvPr/>
        </p:nvSpPr>
        <p:spPr>
          <a:xfrm>
            <a:off x="685800" y="2514600"/>
            <a:ext cx="10058400" cy="365760"/>
          </a:xfrm>
          <a:prstGeom prst="rect">
            <a:avLst/>
          </a:prstGeom>
          <a:noFill/>
          <a:ln/>
        </p:spPr>
        <p:txBody>
          <a:bodyPr wrap="square" lIns="0" tIns="0" rIns="0" bIns="0" rtlCol="0" anchor="ctr"/>
          <a:lstStyle/>
          <a:p>
            <a:pPr marL="0" indent="0">
              <a:buNone/>
            </a:pPr>
            <a:r>
              <a:rPr lang="en-US" sz="1600" dirty="0">
                <a:solidFill>
                  <a:srgbClr val="959BB0"/>
                </a:solidFill>
                <a:latin typeface="Palatino Linotype" pitchFamily="34" charset="0"/>
                <a:ea typeface="Palatino Linotype" pitchFamily="34" charset="-122"/>
                <a:cs typeface="Palatino Linotype" pitchFamily="34" charset="-120"/>
              </a:rPr>
              <a:t>Patru etape, pe rând, la semnal. Numitorul se lucrează pe foaia echipei.</a:t>
            </a:r>
            <a:endParaRPr lang="en-US" sz="1600" dirty="0"/>
          </a:p>
        </p:txBody>
      </p:sp>
      <p:sp>
        <p:nvSpPr>
          <p:cNvPr id="9" name="Shape 7"/>
          <p:cNvSpPr/>
          <p:nvPr/>
        </p:nvSpPr>
        <p:spPr>
          <a:xfrm>
            <a:off x="594360" y="3017520"/>
            <a:ext cx="10972800" cy="658368"/>
          </a:xfrm>
          <a:prstGeom prst="roundRect">
            <a:avLst>
              <a:gd name="adj" fmla="val 12500"/>
            </a:avLst>
          </a:prstGeom>
          <a:solidFill>
            <a:srgbClr val="1D1F2B"/>
          </a:solidFill>
          <a:ln w="12700">
            <a:solidFill>
              <a:srgbClr val="1D1F2B"/>
            </a:solidFill>
            <a:prstDash val="solid"/>
          </a:ln>
        </p:spPr>
        <p:txBody>
          <a:bodyPr/>
          <a:lstStyle/>
          <a:p>
            <a:endParaRPr lang="ro-RO"/>
          </a:p>
        </p:txBody>
      </p:sp>
      <p:sp>
        <p:nvSpPr>
          <p:cNvPr id="10" name="Shape 8"/>
          <p:cNvSpPr/>
          <p:nvPr/>
        </p:nvSpPr>
        <p:spPr>
          <a:xfrm>
            <a:off x="868680" y="3136392"/>
            <a:ext cx="420624" cy="420624"/>
          </a:xfrm>
          <a:prstGeom prst="ellipse">
            <a:avLst/>
          </a:prstGeom>
          <a:solidFill>
            <a:srgbClr val="FF4757"/>
          </a:solidFill>
          <a:ln/>
        </p:spPr>
        <p:txBody>
          <a:bodyPr/>
          <a:lstStyle/>
          <a:p>
            <a:endParaRPr lang="ro-RO"/>
          </a:p>
        </p:txBody>
      </p:sp>
      <p:sp>
        <p:nvSpPr>
          <p:cNvPr id="11" name="Text 9"/>
          <p:cNvSpPr/>
          <p:nvPr/>
        </p:nvSpPr>
        <p:spPr>
          <a:xfrm>
            <a:off x="868680" y="3136392"/>
            <a:ext cx="420624" cy="420624"/>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2" name="Shape 10"/>
          <p:cNvSpPr/>
          <p:nvPr/>
        </p:nvSpPr>
        <p:spPr>
          <a:xfrm>
            <a:off x="1463040" y="3182112"/>
            <a:ext cx="566928" cy="329184"/>
          </a:xfrm>
          <a:prstGeom prst="roundRect">
            <a:avLst>
              <a:gd name="adj" fmla="val 50000"/>
            </a:avLst>
          </a:prstGeom>
          <a:solidFill>
            <a:srgbClr val="FF4757"/>
          </a:solidFill>
          <a:ln w="12700">
            <a:solidFill>
              <a:srgbClr val="FF4757"/>
            </a:solidFill>
            <a:prstDash val="solid"/>
          </a:ln>
        </p:spPr>
        <p:txBody>
          <a:bodyPr/>
          <a:lstStyle/>
          <a:p>
            <a:endParaRPr lang="ro-RO"/>
          </a:p>
        </p:txBody>
      </p:sp>
      <p:sp>
        <p:nvSpPr>
          <p:cNvPr id="13" name="Text 11"/>
          <p:cNvSpPr/>
          <p:nvPr/>
        </p:nvSpPr>
        <p:spPr>
          <a:xfrm>
            <a:off x="1463040" y="3182112"/>
            <a:ext cx="566928" cy="329184"/>
          </a:xfrm>
          <a:prstGeom prst="rect">
            <a:avLst/>
          </a:prstGeom>
          <a:noFill/>
          <a:ln/>
        </p:spPr>
        <p:txBody>
          <a:bodyPr wrap="square" lIns="0" tIns="0" rIns="0" bIns="0" rtlCol="0" anchor="ctr"/>
          <a:lstStyle/>
          <a:p>
            <a:pPr marL="0" indent="0" algn="ctr">
              <a:buNone/>
            </a:pPr>
            <a:r>
              <a:rPr lang="en-US" sz="1000" b="1" dirty="0">
                <a:solidFill>
                  <a:srgbClr val="11121A"/>
                </a:solidFill>
                <a:latin typeface="Palatino Linotype" pitchFamily="34" charset="0"/>
                <a:ea typeface="Palatino Linotype" pitchFamily="34" charset="-122"/>
                <a:cs typeface="Palatino Linotype" pitchFamily="34" charset="-120"/>
              </a:rPr>
              <a:t>4′</a:t>
            </a:r>
            <a:endParaRPr lang="en-US" sz="1000" dirty="0"/>
          </a:p>
        </p:txBody>
      </p:sp>
      <p:sp>
        <p:nvSpPr>
          <p:cNvPr id="14" name="Text 12"/>
          <p:cNvSpPr/>
          <p:nvPr/>
        </p:nvSpPr>
        <p:spPr>
          <a:xfrm>
            <a:off x="2240280" y="3017520"/>
            <a:ext cx="1920240" cy="658368"/>
          </a:xfrm>
          <a:prstGeom prst="rect">
            <a:avLst/>
          </a:prstGeom>
          <a:noFill/>
          <a:ln/>
        </p:spPr>
        <p:txBody>
          <a:bodyPr wrap="square" lIns="0" tIns="0" rIns="0" bIns="0" rtlCol="0" anchor="ctr"/>
          <a:lstStyle/>
          <a:p>
            <a:pPr marL="0" indent="0">
              <a:buNone/>
            </a:pPr>
            <a:r>
              <a:rPr lang="en-US" sz="1400" b="1" dirty="0">
                <a:solidFill>
                  <a:srgbClr val="FF4757"/>
                </a:solidFill>
                <a:latin typeface="Palatino Linotype" pitchFamily="34" charset="0"/>
                <a:ea typeface="Palatino Linotype" pitchFamily="34" charset="-122"/>
                <a:cs typeface="Palatino Linotype" pitchFamily="34" charset="-120"/>
              </a:rPr>
              <a:t>Harta</a:t>
            </a:r>
            <a:endParaRPr lang="en-US" sz="1400" dirty="0"/>
          </a:p>
        </p:txBody>
      </p:sp>
      <p:sp>
        <p:nvSpPr>
          <p:cNvPr id="15" name="Text 13"/>
          <p:cNvSpPr/>
          <p:nvPr/>
        </p:nvSpPr>
        <p:spPr>
          <a:xfrm>
            <a:off x="4297680" y="3017520"/>
            <a:ext cx="6995160" cy="658368"/>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Harta proiectată: decesele pe adrese și pompele publice. Notați pe foaie pompa suspectată și argumentul, într-o propoziție.</a:t>
            </a:r>
            <a:endParaRPr lang="en-US" sz="1150" dirty="0"/>
          </a:p>
        </p:txBody>
      </p:sp>
      <p:sp>
        <p:nvSpPr>
          <p:cNvPr id="16" name="Shape 14"/>
          <p:cNvSpPr/>
          <p:nvPr/>
        </p:nvSpPr>
        <p:spPr>
          <a:xfrm>
            <a:off x="594360" y="3776472"/>
            <a:ext cx="10972800" cy="658368"/>
          </a:xfrm>
          <a:prstGeom prst="roundRect">
            <a:avLst>
              <a:gd name="adj" fmla="val 12500"/>
            </a:avLst>
          </a:prstGeom>
          <a:solidFill>
            <a:srgbClr val="272A38"/>
          </a:solidFill>
          <a:ln w="12700">
            <a:solidFill>
              <a:srgbClr val="272A38"/>
            </a:solidFill>
            <a:prstDash val="solid"/>
          </a:ln>
        </p:spPr>
        <p:txBody>
          <a:bodyPr/>
          <a:lstStyle/>
          <a:p>
            <a:endParaRPr lang="ro-RO"/>
          </a:p>
        </p:txBody>
      </p:sp>
      <p:sp>
        <p:nvSpPr>
          <p:cNvPr id="17" name="Shape 15"/>
          <p:cNvSpPr/>
          <p:nvPr/>
        </p:nvSpPr>
        <p:spPr>
          <a:xfrm>
            <a:off x="868680" y="3895344"/>
            <a:ext cx="420624" cy="420624"/>
          </a:xfrm>
          <a:prstGeom prst="ellipse">
            <a:avLst/>
          </a:prstGeom>
          <a:solidFill>
            <a:srgbClr val="FFC24B"/>
          </a:solidFill>
          <a:ln/>
        </p:spPr>
        <p:txBody>
          <a:bodyPr/>
          <a:lstStyle/>
          <a:p>
            <a:endParaRPr lang="ro-RO"/>
          </a:p>
        </p:txBody>
      </p:sp>
      <p:sp>
        <p:nvSpPr>
          <p:cNvPr id="18" name="Text 16"/>
          <p:cNvSpPr/>
          <p:nvPr/>
        </p:nvSpPr>
        <p:spPr>
          <a:xfrm>
            <a:off x="868680" y="3895344"/>
            <a:ext cx="420624" cy="420624"/>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9" name="Shape 17"/>
          <p:cNvSpPr/>
          <p:nvPr/>
        </p:nvSpPr>
        <p:spPr>
          <a:xfrm>
            <a:off x="1463040" y="3941064"/>
            <a:ext cx="566928" cy="329184"/>
          </a:xfrm>
          <a:prstGeom prst="roundRect">
            <a:avLst>
              <a:gd name="adj" fmla="val 50000"/>
            </a:avLst>
          </a:prstGeom>
          <a:solidFill>
            <a:srgbClr val="FFC24B"/>
          </a:solidFill>
          <a:ln w="12700">
            <a:solidFill>
              <a:srgbClr val="FFC24B"/>
            </a:solidFill>
            <a:prstDash val="solid"/>
          </a:ln>
        </p:spPr>
        <p:txBody>
          <a:bodyPr/>
          <a:lstStyle/>
          <a:p>
            <a:endParaRPr lang="ro-RO"/>
          </a:p>
        </p:txBody>
      </p:sp>
      <p:sp>
        <p:nvSpPr>
          <p:cNvPr id="20" name="Text 18"/>
          <p:cNvSpPr/>
          <p:nvPr/>
        </p:nvSpPr>
        <p:spPr>
          <a:xfrm>
            <a:off x="1463040" y="3941064"/>
            <a:ext cx="566928" cy="329184"/>
          </a:xfrm>
          <a:prstGeom prst="rect">
            <a:avLst/>
          </a:prstGeom>
          <a:noFill/>
          <a:ln/>
        </p:spPr>
        <p:txBody>
          <a:bodyPr wrap="square" lIns="0" tIns="0" rIns="0" bIns="0" rtlCol="0" anchor="ctr"/>
          <a:lstStyle/>
          <a:p>
            <a:pPr marL="0" indent="0" algn="ctr">
              <a:buNone/>
            </a:pPr>
            <a:r>
              <a:rPr lang="en-US" sz="1000" b="1" dirty="0">
                <a:solidFill>
                  <a:srgbClr val="11121A"/>
                </a:solidFill>
                <a:latin typeface="Palatino Linotype" pitchFamily="34" charset="0"/>
                <a:ea typeface="Palatino Linotype" pitchFamily="34" charset="-122"/>
                <a:cs typeface="Palatino Linotype" pitchFamily="34" charset="-120"/>
              </a:rPr>
              <a:t>4′</a:t>
            </a:r>
            <a:endParaRPr lang="en-US" sz="1000" dirty="0"/>
          </a:p>
        </p:txBody>
      </p:sp>
      <p:sp>
        <p:nvSpPr>
          <p:cNvPr id="21" name="Text 19"/>
          <p:cNvSpPr/>
          <p:nvPr/>
        </p:nvSpPr>
        <p:spPr>
          <a:xfrm>
            <a:off x="2240280" y="3776472"/>
            <a:ext cx="1920240" cy="658368"/>
          </a:xfrm>
          <a:prstGeom prst="rect">
            <a:avLst/>
          </a:prstGeom>
          <a:noFill/>
          <a:ln/>
        </p:spPr>
        <p:txBody>
          <a:bodyPr wrap="square" lIns="0" tIns="0" rIns="0" bIns="0" rtlCol="0" anchor="ctr"/>
          <a:lstStyle/>
          <a:p>
            <a:pPr marL="0" indent="0">
              <a:buNone/>
            </a:pPr>
            <a:r>
              <a:rPr lang="en-US" sz="1400" b="1" dirty="0">
                <a:solidFill>
                  <a:srgbClr val="FFC24B"/>
                </a:solidFill>
                <a:latin typeface="Palatino Linotype" pitchFamily="34" charset="0"/>
                <a:ea typeface="Palatino Linotype" pitchFamily="34" charset="-122"/>
                <a:cs typeface="Palatino Linotype" pitchFamily="34" charset="-120"/>
              </a:rPr>
              <a:t>Anomaliile</a:t>
            </a:r>
            <a:endParaRPr lang="en-US" sz="1400" dirty="0"/>
          </a:p>
        </p:txBody>
      </p:sp>
      <p:sp>
        <p:nvSpPr>
          <p:cNvPr id="22" name="Text 20"/>
          <p:cNvSpPr/>
          <p:nvPr/>
        </p:nvSpPr>
        <p:spPr>
          <a:xfrm>
            <a:off x="4297680" y="3776472"/>
            <a:ext cx="6995160" cy="658368"/>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Casa de muncă (535/5), berăria (&gt;70/0 forme severe), fabrica (~200/18). Pentru fiecare: întărește sau slăbește ipoteza? De ce?</a:t>
            </a:r>
            <a:endParaRPr lang="en-US" sz="1150" dirty="0"/>
          </a:p>
        </p:txBody>
      </p:sp>
      <p:sp>
        <p:nvSpPr>
          <p:cNvPr id="23" name="Shape 21"/>
          <p:cNvSpPr/>
          <p:nvPr/>
        </p:nvSpPr>
        <p:spPr>
          <a:xfrm>
            <a:off x="594360" y="4535424"/>
            <a:ext cx="10972800" cy="658368"/>
          </a:xfrm>
          <a:prstGeom prst="roundRect">
            <a:avLst>
              <a:gd name="adj" fmla="val 12500"/>
            </a:avLst>
          </a:prstGeom>
          <a:solidFill>
            <a:srgbClr val="1D1F2B"/>
          </a:solidFill>
          <a:ln w="12700">
            <a:solidFill>
              <a:srgbClr val="1D1F2B"/>
            </a:solidFill>
            <a:prstDash val="solid"/>
          </a:ln>
        </p:spPr>
        <p:txBody>
          <a:bodyPr/>
          <a:lstStyle/>
          <a:p>
            <a:endParaRPr lang="ro-RO"/>
          </a:p>
        </p:txBody>
      </p:sp>
      <p:sp>
        <p:nvSpPr>
          <p:cNvPr id="24" name="Shape 22"/>
          <p:cNvSpPr/>
          <p:nvPr/>
        </p:nvSpPr>
        <p:spPr>
          <a:xfrm>
            <a:off x="868680" y="4654296"/>
            <a:ext cx="420624" cy="420624"/>
          </a:xfrm>
          <a:prstGeom prst="ellipse">
            <a:avLst/>
          </a:prstGeom>
          <a:solidFill>
            <a:srgbClr val="27D3BE"/>
          </a:solidFill>
          <a:ln/>
        </p:spPr>
        <p:txBody>
          <a:bodyPr/>
          <a:lstStyle/>
          <a:p>
            <a:endParaRPr lang="ro-RO"/>
          </a:p>
        </p:txBody>
      </p:sp>
      <p:sp>
        <p:nvSpPr>
          <p:cNvPr id="25" name="Text 23"/>
          <p:cNvSpPr/>
          <p:nvPr/>
        </p:nvSpPr>
        <p:spPr>
          <a:xfrm>
            <a:off x="868680" y="4654296"/>
            <a:ext cx="420624" cy="420624"/>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26" name="Shape 24"/>
          <p:cNvSpPr/>
          <p:nvPr/>
        </p:nvSpPr>
        <p:spPr>
          <a:xfrm>
            <a:off x="1463040" y="4700016"/>
            <a:ext cx="566928" cy="329184"/>
          </a:xfrm>
          <a:prstGeom prst="roundRect">
            <a:avLst>
              <a:gd name="adj" fmla="val 50000"/>
            </a:avLst>
          </a:prstGeom>
          <a:solidFill>
            <a:srgbClr val="27D3BE"/>
          </a:solidFill>
          <a:ln w="12700">
            <a:solidFill>
              <a:srgbClr val="27D3BE"/>
            </a:solidFill>
            <a:prstDash val="solid"/>
          </a:ln>
        </p:spPr>
        <p:txBody>
          <a:bodyPr/>
          <a:lstStyle/>
          <a:p>
            <a:endParaRPr lang="ro-RO"/>
          </a:p>
        </p:txBody>
      </p:sp>
      <p:sp>
        <p:nvSpPr>
          <p:cNvPr id="27" name="Text 25"/>
          <p:cNvSpPr/>
          <p:nvPr/>
        </p:nvSpPr>
        <p:spPr>
          <a:xfrm>
            <a:off x="1463040" y="4700016"/>
            <a:ext cx="566928" cy="329184"/>
          </a:xfrm>
          <a:prstGeom prst="rect">
            <a:avLst/>
          </a:prstGeom>
          <a:noFill/>
          <a:ln/>
        </p:spPr>
        <p:txBody>
          <a:bodyPr wrap="square" lIns="0" tIns="0" rIns="0" bIns="0" rtlCol="0" anchor="ctr"/>
          <a:lstStyle/>
          <a:p>
            <a:pPr marL="0" indent="0" algn="ctr">
              <a:buNone/>
            </a:pPr>
            <a:r>
              <a:rPr lang="en-US" sz="1000" b="1" dirty="0">
                <a:solidFill>
                  <a:srgbClr val="11121A"/>
                </a:solidFill>
                <a:latin typeface="Palatino Linotype" pitchFamily="34" charset="0"/>
                <a:ea typeface="Palatino Linotype" pitchFamily="34" charset="-122"/>
                <a:cs typeface="Palatino Linotype" pitchFamily="34" charset="-120"/>
              </a:rPr>
              <a:t>5′</a:t>
            </a:r>
            <a:endParaRPr lang="en-US" sz="1000" dirty="0"/>
          </a:p>
        </p:txBody>
      </p:sp>
      <p:sp>
        <p:nvSpPr>
          <p:cNvPr id="28" name="Text 26"/>
          <p:cNvSpPr/>
          <p:nvPr/>
        </p:nvSpPr>
        <p:spPr>
          <a:xfrm>
            <a:off x="2240280" y="4535424"/>
            <a:ext cx="1920240" cy="658368"/>
          </a:xfrm>
          <a:prstGeom prst="rect">
            <a:avLst/>
          </a:prstGeom>
          <a:noFill/>
          <a:ln/>
        </p:spPr>
        <p:txBody>
          <a:bodyPr wrap="square" lIns="0" tIns="0" rIns="0" bIns="0" rtlCol="0" anchor="ctr"/>
          <a:lstStyle/>
          <a:p>
            <a:pPr marL="0" indent="0">
              <a:buNone/>
            </a:pPr>
            <a:r>
              <a:rPr lang="en-US" sz="1400" b="1" dirty="0">
                <a:solidFill>
                  <a:srgbClr val="27D3BE"/>
                </a:solidFill>
                <a:latin typeface="Palatino Linotype" pitchFamily="34" charset="0"/>
                <a:ea typeface="Palatino Linotype" pitchFamily="34" charset="-122"/>
                <a:cs typeface="Palatino Linotype" pitchFamily="34" charset="-120"/>
              </a:rPr>
              <a:t>Numitorul</a:t>
            </a:r>
            <a:endParaRPr lang="en-US" sz="1400" dirty="0"/>
          </a:p>
        </p:txBody>
      </p:sp>
      <p:sp>
        <p:nvSpPr>
          <p:cNvPr id="29" name="Text 27"/>
          <p:cNvSpPr/>
          <p:nvPr/>
        </p:nvSpPr>
        <p:spPr>
          <a:xfrm>
            <a:off x="4297680" y="4535424"/>
            <a:ext cx="6995160" cy="658368"/>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Întâi doar decesele: 1 263 vs. 98. Apoi casele: 40 046 vs. 26 107. Recalculați la 10 000.</a:t>
            </a:r>
            <a:endParaRPr lang="en-US" sz="1150" dirty="0"/>
          </a:p>
        </p:txBody>
      </p:sp>
      <p:sp>
        <p:nvSpPr>
          <p:cNvPr id="30" name="Shape 28"/>
          <p:cNvSpPr/>
          <p:nvPr/>
        </p:nvSpPr>
        <p:spPr>
          <a:xfrm>
            <a:off x="594360" y="5294376"/>
            <a:ext cx="10972800" cy="658368"/>
          </a:xfrm>
          <a:prstGeom prst="roundRect">
            <a:avLst>
              <a:gd name="adj" fmla="val 12500"/>
            </a:avLst>
          </a:prstGeom>
          <a:solidFill>
            <a:srgbClr val="272A38"/>
          </a:solidFill>
          <a:ln w="12700">
            <a:solidFill>
              <a:srgbClr val="272A38"/>
            </a:solidFill>
            <a:prstDash val="solid"/>
          </a:ln>
        </p:spPr>
        <p:txBody>
          <a:bodyPr/>
          <a:lstStyle/>
          <a:p>
            <a:endParaRPr lang="ro-RO"/>
          </a:p>
        </p:txBody>
      </p:sp>
      <p:sp>
        <p:nvSpPr>
          <p:cNvPr id="31" name="Shape 29"/>
          <p:cNvSpPr/>
          <p:nvPr/>
        </p:nvSpPr>
        <p:spPr>
          <a:xfrm>
            <a:off x="868680" y="5413248"/>
            <a:ext cx="420624" cy="420624"/>
          </a:xfrm>
          <a:prstGeom prst="ellipse">
            <a:avLst/>
          </a:prstGeom>
          <a:solidFill>
            <a:srgbClr val="9B7EF7"/>
          </a:solidFill>
          <a:ln/>
        </p:spPr>
        <p:txBody>
          <a:bodyPr/>
          <a:lstStyle/>
          <a:p>
            <a:endParaRPr lang="ro-RO"/>
          </a:p>
        </p:txBody>
      </p:sp>
      <p:sp>
        <p:nvSpPr>
          <p:cNvPr id="32" name="Text 30"/>
          <p:cNvSpPr/>
          <p:nvPr/>
        </p:nvSpPr>
        <p:spPr>
          <a:xfrm>
            <a:off x="868680" y="5413248"/>
            <a:ext cx="420624" cy="420624"/>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33" name="Shape 31"/>
          <p:cNvSpPr/>
          <p:nvPr/>
        </p:nvSpPr>
        <p:spPr>
          <a:xfrm>
            <a:off x="1463040" y="5458968"/>
            <a:ext cx="566928" cy="329184"/>
          </a:xfrm>
          <a:prstGeom prst="roundRect">
            <a:avLst>
              <a:gd name="adj" fmla="val 50000"/>
            </a:avLst>
          </a:prstGeom>
          <a:solidFill>
            <a:srgbClr val="9B7EF7"/>
          </a:solidFill>
          <a:ln w="12700">
            <a:solidFill>
              <a:srgbClr val="9B7EF7"/>
            </a:solidFill>
            <a:prstDash val="solid"/>
          </a:ln>
        </p:spPr>
        <p:txBody>
          <a:bodyPr/>
          <a:lstStyle/>
          <a:p>
            <a:endParaRPr lang="ro-RO"/>
          </a:p>
        </p:txBody>
      </p:sp>
      <p:sp>
        <p:nvSpPr>
          <p:cNvPr id="34" name="Text 32"/>
          <p:cNvSpPr/>
          <p:nvPr/>
        </p:nvSpPr>
        <p:spPr>
          <a:xfrm>
            <a:off x="1463040" y="5458968"/>
            <a:ext cx="566928" cy="329184"/>
          </a:xfrm>
          <a:prstGeom prst="rect">
            <a:avLst/>
          </a:prstGeom>
          <a:noFill/>
          <a:ln/>
        </p:spPr>
        <p:txBody>
          <a:bodyPr wrap="square" lIns="0" tIns="0" rIns="0" bIns="0" rtlCol="0" anchor="ctr"/>
          <a:lstStyle/>
          <a:p>
            <a:pPr marL="0" indent="0" algn="ctr">
              <a:buNone/>
            </a:pPr>
            <a:r>
              <a:rPr lang="en-US" sz="1000" b="1" dirty="0">
                <a:solidFill>
                  <a:srgbClr val="11121A"/>
                </a:solidFill>
                <a:latin typeface="Palatino Linotype" pitchFamily="34" charset="0"/>
                <a:ea typeface="Palatino Linotype" pitchFamily="34" charset="-122"/>
                <a:cs typeface="Palatino Linotype" pitchFamily="34" charset="-120"/>
              </a:rPr>
              <a:t>5′</a:t>
            </a:r>
            <a:endParaRPr lang="en-US" sz="1000" dirty="0"/>
          </a:p>
        </p:txBody>
      </p:sp>
      <p:sp>
        <p:nvSpPr>
          <p:cNvPr id="35" name="Text 33"/>
          <p:cNvSpPr/>
          <p:nvPr/>
        </p:nvSpPr>
        <p:spPr>
          <a:xfrm>
            <a:off x="2240280" y="5294376"/>
            <a:ext cx="1920240" cy="658368"/>
          </a:xfrm>
          <a:prstGeom prst="rect">
            <a:avLst/>
          </a:prstGeom>
          <a:noFill/>
          <a:ln/>
        </p:spPr>
        <p:txBody>
          <a:bodyPr wrap="square" lIns="0" tIns="0" rIns="0" bIns="0" rtlCol="0" anchor="ctr"/>
          <a:lstStyle/>
          <a:p>
            <a:pPr marL="0" indent="0">
              <a:buNone/>
            </a:pPr>
            <a:r>
              <a:rPr lang="en-US" sz="1400" b="1" dirty="0">
                <a:solidFill>
                  <a:srgbClr val="9B7EF7"/>
                </a:solidFill>
                <a:latin typeface="Palatino Linotype" pitchFamily="34" charset="0"/>
                <a:ea typeface="Palatino Linotype" pitchFamily="34" charset="-122"/>
                <a:cs typeface="Palatino Linotype" pitchFamily="34" charset="-120"/>
              </a:rPr>
              <a:t>Verdictul</a:t>
            </a:r>
            <a:endParaRPr lang="en-US" sz="1400" dirty="0"/>
          </a:p>
        </p:txBody>
      </p:sp>
      <p:sp>
        <p:nvSpPr>
          <p:cNvPr id="36" name="Text 34"/>
          <p:cNvSpPr/>
          <p:nvPr/>
        </p:nvSpPr>
        <p:spPr>
          <a:xfrm>
            <a:off x="4297680" y="5294376"/>
            <a:ext cx="6995160" cy="658368"/>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Citatul din 1855. De ce au spus totuși nu? Și de ce anume ați fi avut nevoie ca să îi convingeți?</a:t>
            </a:r>
            <a:endParaRPr lang="en-US" sz="1150" dirty="0"/>
          </a:p>
        </p:txBody>
      </p:sp>
      <p:sp>
        <p:nvSpPr>
          <p:cNvPr id="37" name="Text 35"/>
          <p:cNvSpPr/>
          <p:nvPr/>
        </p:nvSpPr>
        <p:spPr>
          <a:xfrm>
            <a:off x="594360" y="6172200"/>
            <a:ext cx="10972800" cy="292608"/>
          </a:xfrm>
          <a:prstGeom prst="rect">
            <a:avLst/>
          </a:prstGeom>
          <a:noFill/>
          <a:ln/>
        </p:spPr>
        <p:txBody>
          <a:bodyPr wrap="square" lIns="0" tIns="0" rIns="0" bIns="0" rtlCol="0" anchor="ctr"/>
          <a:lstStyle/>
          <a:p>
            <a:pPr marL="0" indent="0">
              <a:buNone/>
            </a:pPr>
            <a:r>
              <a:rPr lang="en-US" sz="1150" i="1" dirty="0">
                <a:solidFill>
                  <a:srgbClr val="959BB0"/>
                </a:solidFill>
                <a:latin typeface="Palatino Linotype" pitchFamily="34" charset="0"/>
                <a:ea typeface="Palatino Linotype" pitchFamily="34" charset="-122"/>
                <a:cs typeface="Palatino Linotype" pitchFamily="34" charset="-120"/>
              </a:rPr>
              <a:t>Se evaluează raționamentul, nu soluția. Fișa echipei se colectează și se folosește la deschiderea Sesiunii 2.</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822960" y="1371600"/>
            <a:ext cx="3108960" cy="2377440"/>
          </a:xfrm>
          <a:prstGeom prst="rect">
            <a:avLst/>
          </a:prstGeom>
          <a:noFill/>
          <a:ln/>
        </p:spPr>
        <p:txBody>
          <a:bodyPr wrap="square" lIns="0" tIns="0" rIns="0" bIns="0" rtlCol="0" anchor="ctr"/>
          <a:lstStyle/>
          <a:p>
            <a:pPr marL="0" indent="0">
              <a:buNone/>
            </a:pPr>
            <a:r>
              <a:rPr lang="en-US" sz="14000" b="1" dirty="0">
                <a:solidFill>
                  <a:srgbClr val="4A2D8C"/>
                </a:solidFill>
                <a:latin typeface="Palatino Linotype" pitchFamily="34" charset="0"/>
                <a:ea typeface="Palatino Linotype" pitchFamily="34" charset="-122"/>
                <a:cs typeface="Palatino Linotype" pitchFamily="34" charset="-120"/>
              </a:rPr>
              <a:t>06</a:t>
            </a:r>
            <a:endParaRPr lang="en-US" sz="14000" dirty="0"/>
          </a:p>
        </p:txBody>
      </p:sp>
      <p:sp>
        <p:nvSpPr>
          <p:cNvPr id="3" name="Shape 1"/>
          <p:cNvSpPr/>
          <p:nvPr/>
        </p:nvSpPr>
        <p:spPr>
          <a:xfrm>
            <a:off x="4206240" y="1737360"/>
            <a:ext cx="32004" cy="1737360"/>
          </a:xfrm>
          <a:prstGeom prst="rect">
            <a:avLst/>
          </a:prstGeom>
          <a:solidFill>
            <a:srgbClr val="4A2D8C"/>
          </a:solidFill>
          <a:ln/>
        </p:spPr>
        <p:txBody>
          <a:bodyPr/>
          <a:lstStyle/>
          <a:p>
            <a:endParaRPr lang="ro-RO"/>
          </a:p>
        </p:txBody>
      </p:sp>
      <p:sp>
        <p:nvSpPr>
          <p:cNvPr id="4" name="Text 2"/>
          <p:cNvSpPr/>
          <p:nvPr/>
        </p:nvSpPr>
        <p:spPr>
          <a:xfrm>
            <a:off x="4709160" y="1755648"/>
            <a:ext cx="6858000" cy="1005840"/>
          </a:xfrm>
          <a:prstGeom prst="rect">
            <a:avLst/>
          </a:prstGeom>
          <a:noFill/>
          <a:ln/>
        </p:spPr>
        <p:txBody>
          <a:bodyPr wrap="square" lIns="0" tIns="0" rIns="0" bIns="0" rtlCol="0" anchor="t"/>
          <a:lstStyle/>
          <a:p>
            <a:pPr marL="0" indent="0">
              <a:buNone/>
            </a:pPr>
            <a:r>
              <a:rPr lang="en-US" sz="3400" b="1" dirty="0">
                <a:solidFill>
                  <a:srgbClr val="FFFFFF"/>
                </a:solidFill>
                <a:latin typeface="Palatino Linotype" pitchFamily="34" charset="0"/>
                <a:ea typeface="Palatino Linotype" pitchFamily="34" charset="-122"/>
                <a:cs typeface="Palatino Linotype" pitchFamily="34" charset="-120"/>
              </a:rPr>
              <a:t>Meseria, astăzi</a:t>
            </a:r>
            <a:endParaRPr lang="en-US" sz="3400" dirty="0"/>
          </a:p>
        </p:txBody>
      </p:sp>
      <p:sp>
        <p:nvSpPr>
          <p:cNvPr id="5" name="Text 3"/>
          <p:cNvSpPr/>
          <p:nvPr/>
        </p:nvSpPr>
        <p:spPr>
          <a:xfrm>
            <a:off x="4709160" y="2788920"/>
            <a:ext cx="6858000" cy="868680"/>
          </a:xfrm>
          <a:prstGeom prst="rect">
            <a:avLst/>
          </a:prstGeom>
          <a:noFill/>
          <a:ln/>
        </p:spPr>
        <p:txBody>
          <a:bodyPr wrap="square" lIns="0" tIns="0" rIns="0" bIns="0" rtlCol="0" anchor="t"/>
          <a:lstStyle/>
          <a:p>
            <a:pPr marL="0" indent="0">
              <a:buNone/>
            </a:pPr>
            <a:r>
              <a:rPr lang="en-US" sz="1550" dirty="0">
                <a:solidFill>
                  <a:srgbClr val="959BB0"/>
                </a:solidFill>
                <a:latin typeface="Palatino Linotype" pitchFamily="34" charset="0"/>
                <a:ea typeface="Palatino Linotype" pitchFamily="34" charset="-122"/>
                <a:cs typeface="Palatino Linotype" pitchFamily="34" charset="-120"/>
              </a:rPr>
              <a:t>Câte etape are o investigație de focar — și verificarea unei surse</a:t>
            </a:r>
            <a:endParaRPr lang="en-US" sz="15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B02532"/>
                </a:solidFill>
                <a:latin typeface="Palatino Linotype" pitchFamily="34" charset="0"/>
                <a:ea typeface="Palatino Linotype" pitchFamily="34" charset="-122"/>
                <a:cs typeface="Palatino Linotype" pitchFamily="34" charset="-120"/>
              </a:rPr>
              <a:t>DOCUMENTUL PE CARE ÎL AVEȚI ÎN FAȚĂ</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11121A"/>
                </a:solidFill>
                <a:latin typeface="Palatino Linotype" pitchFamily="34" charset="0"/>
                <a:ea typeface="Palatino Linotype" pitchFamily="34" charset="-122"/>
                <a:cs typeface="Palatino Linotype" pitchFamily="34" charset="-120"/>
              </a:rPr>
              <a:t>417 pagini. Există. Și poate fi consultat.</a:t>
            </a:r>
            <a:endParaRPr lang="en-US" sz="3100" dirty="0"/>
          </a:p>
        </p:txBody>
      </p:sp>
      <p:sp>
        <p:nvSpPr>
          <p:cNvPr id="4" name="Shape 2"/>
          <p:cNvSpPr/>
          <p:nvPr/>
        </p:nvSpPr>
        <p:spPr>
          <a:xfrm>
            <a:off x="594360" y="1645920"/>
            <a:ext cx="10972800" cy="777240"/>
          </a:xfrm>
          <a:prstGeom prst="roundRect">
            <a:avLst>
              <a:gd name="adj" fmla="val 10588"/>
            </a:avLst>
          </a:prstGeom>
          <a:solidFill>
            <a:srgbClr val="ECEAE4"/>
          </a:solidFill>
          <a:ln w="12700">
            <a:solidFill>
              <a:srgbClr val="ECEAE4"/>
            </a:solidFill>
            <a:prstDash val="solid"/>
          </a:ln>
        </p:spPr>
        <p:txBody>
          <a:bodyPr/>
          <a:lstStyle/>
          <a:p>
            <a:endParaRPr lang="ro-RO"/>
          </a:p>
        </p:txBody>
      </p:sp>
      <p:sp>
        <p:nvSpPr>
          <p:cNvPr id="5" name="Text 3"/>
          <p:cNvSpPr/>
          <p:nvPr/>
        </p:nvSpPr>
        <p:spPr>
          <a:xfrm>
            <a:off x="960120" y="1645920"/>
            <a:ext cx="10241280" cy="777240"/>
          </a:xfrm>
          <a:prstGeom prst="rect">
            <a:avLst/>
          </a:prstGeom>
          <a:noFill/>
          <a:ln/>
        </p:spPr>
        <p:txBody>
          <a:bodyPr wrap="square" lIns="0" tIns="0" rIns="0" bIns="0" rtlCol="0" anchor="ctr"/>
          <a:lstStyle/>
          <a:p>
            <a:pPr marL="0" indent="0">
              <a:buNone/>
            </a:pPr>
            <a:r>
              <a:rPr lang="en-US" sz="1500" i="1" dirty="0">
                <a:solidFill>
                  <a:srgbClr val="11121A"/>
                </a:solidFill>
                <a:latin typeface="Palatino Linotype" pitchFamily="34" charset="0"/>
                <a:ea typeface="Palatino Linotype" pitchFamily="34" charset="-122"/>
                <a:cs typeface="Palatino Linotype" pitchFamily="34" charset="-120"/>
              </a:rPr>
              <a:t>Fișa disciplinei, Sesiunea 1: „Cele 10 etape ale investigației unui focar conform OMS/ECDC (Field Epidemiology Manual, 2023).”</a:t>
            </a:r>
            <a:endParaRPr lang="en-US" sz="1500" dirty="0"/>
          </a:p>
        </p:txBody>
      </p:sp>
      <p:sp>
        <p:nvSpPr>
          <p:cNvPr id="6" name="Shape 4"/>
          <p:cNvSpPr/>
          <p:nvPr/>
        </p:nvSpPr>
        <p:spPr>
          <a:xfrm>
            <a:off x="594360" y="2560320"/>
            <a:ext cx="10972800" cy="1234440"/>
          </a:xfrm>
          <a:prstGeom prst="roundRect">
            <a:avLst>
              <a:gd name="adj" fmla="val 6667"/>
            </a:avLst>
          </a:prstGeom>
          <a:solidFill>
            <a:srgbClr val="2E3242"/>
          </a:solidFill>
          <a:ln w="12700">
            <a:solidFill>
              <a:srgbClr val="2E3242"/>
            </a:solidFill>
            <a:prstDash val="solid"/>
          </a:ln>
        </p:spPr>
        <p:txBody>
          <a:bodyPr/>
          <a:lstStyle/>
          <a:p>
            <a:endParaRPr lang="ro-RO"/>
          </a:p>
        </p:txBody>
      </p:sp>
      <p:sp>
        <p:nvSpPr>
          <p:cNvPr id="7" name="Text 5"/>
          <p:cNvSpPr/>
          <p:nvPr/>
        </p:nvSpPr>
        <p:spPr>
          <a:xfrm>
            <a:off x="960120" y="2560320"/>
            <a:ext cx="10241280" cy="1234440"/>
          </a:xfrm>
          <a:prstGeom prst="rect">
            <a:avLst/>
          </a:prstGeom>
          <a:noFill/>
          <a:ln/>
        </p:spPr>
        <p:txBody>
          <a:bodyPr wrap="square" lIns="0" tIns="0" rIns="0" bIns="0" rtlCol="0" anchor="ctr"/>
          <a:lstStyle/>
          <a:p>
            <a:pPr marL="0" indent="0">
              <a:buNone/>
            </a:pPr>
            <a:r>
              <a:rPr lang="en-US" sz="1350" i="1" dirty="0">
                <a:solidFill>
                  <a:srgbClr val="FFC24B"/>
                </a:solidFill>
                <a:latin typeface="Palatino Linotype" pitchFamily="34" charset="0"/>
                <a:ea typeface="Palatino Linotype" pitchFamily="34" charset="-122"/>
                <a:cs typeface="Palatino Linotype" pitchFamily="34" charset="-120"/>
              </a:rPr>
              <a:t>Prima pagină a PDF-ului, verbatim: „This content was created by a community of epidemiologists between 2010 and 2018 in a Wiki format. ECDC had a community support role in this activity and takes no responsibility for the accuracy or completeness of the content.”</a:t>
            </a:r>
            <a:endParaRPr lang="en-US" sz="1350" dirty="0"/>
          </a:p>
        </p:txBody>
      </p:sp>
      <p:sp>
        <p:nvSpPr>
          <p:cNvPr id="8" name="Shape 6"/>
          <p:cNvSpPr/>
          <p:nvPr/>
        </p:nvSpPr>
        <p:spPr>
          <a:xfrm>
            <a:off x="594360" y="3931920"/>
            <a:ext cx="10972800" cy="384048"/>
          </a:xfrm>
          <a:prstGeom prst="roundRect">
            <a:avLst>
              <a:gd name="adj" fmla="val 21429"/>
            </a:avLst>
          </a:prstGeom>
          <a:solidFill>
            <a:srgbClr val="ECEAE4"/>
          </a:solidFill>
          <a:ln w="12700">
            <a:solidFill>
              <a:srgbClr val="ECEAE4"/>
            </a:solidFill>
            <a:prstDash val="solid"/>
          </a:ln>
        </p:spPr>
        <p:txBody>
          <a:bodyPr/>
          <a:lstStyle/>
          <a:p>
            <a:endParaRPr lang="ro-RO"/>
          </a:p>
        </p:txBody>
      </p:sp>
      <p:sp>
        <p:nvSpPr>
          <p:cNvPr id="9" name="Text 7"/>
          <p:cNvSpPr/>
          <p:nvPr/>
        </p:nvSpPr>
        <p:spPr>
          <a:xfrm>
            <a:off x="914400" y="3931920"/>
            <a:ext cx="2743200" cy="384048"/>
          </a:xfrm>
          <a:prstGeom prst="rect">
            <a:avLst/>
          </a:prstGeom>
          <a:noFill/>
          <a:ln/>
        </p:spPr>
        <p:txBody>
          <a:bodyPr wrap="square" lIns="0" tIns="0" rIns="0" bIns="0" rtlCol="0" anchor="ctr"/>
          <a:lstStyle/>
          <a:p>
            <a:pPr marL="0" indent="0">
              <a:buNone/>
            </a:pPr>
            <a:r>
              <a:rPr lang="en-US" sz="1200" b="1" dirty="0">
                <a:solidFill>
                  <a:srgbClr val="4A2D8C"/>
                </a:solidFill>
                <a:latin typeface="Palatino Linotype" pitchFamily="34" charset="0"/>
                <a:ea typeface="Palatino Linotype" pitchFamily="34" charset="-122"/>
                <a:cs typeface="Palatino Linotype" pitchFamily="34" charset="-120"/>
              </a:rPr>
              <a:t>Cine l-a scris</a:t>
            </a:r>
            <a:endParaRPr lang="en-US" sz="1200" dirty="0"/>
          </a:p>
        </p:txBody>
      </p:sp>
      <p:sp>
        <p:nvSpPr>
          <p:cNvPr id="10" name="Text 8"/>
          <p:cNvSpPr/>
          <p:nvPr/>
        </p:nvSpPr>
        <p:spPr>
          <a:xfrm>
            <a:off x="3840480" y="3931920"/>
            <a:ext cx="7452360" cy="384048"/>
          </a:xfrm>
          <a:prstGeom prst="rect">
            <a:avLst/>
          </a:prstGeom>
          <a:noFill/>
          <a:ln/>
        </p:spPr>
        <p:txBody>
          <a:bodyPr wrap="square" lIns="0" tIns="0" rIns="0" bIns="0" rtlCol="0" anchor="ctr"/>
          <a:lstStyle/>
          <a:p>
            <a:pPr marL="0" indent="0">
              <a:buNone/>
            </a:pPr>
            <a:r>
              <a:rPr lang="en-US" sz="1150" dirty="0">
                <a:solidFill>
                  <a:srgbClr val="11121A"/>
                </a:solidFill>
                <a:latin typeface="Palatino Linotype" pitchFamily="34" charset="0"/>
                <a:ea typeface="Palatino Linotype" pitchFamily="34" charset="-122"/>
                <a:cs typeface="Palatino Linotype" pitchFamily="34" charset="-120"/>
              </a:rPr>
              <a:t>o comunitate de epidemiologi, în format wiki; pagini modificate între 2010 și 2021</a:t>
            </a:r>
            <a:endParaRPr lang="en-US" sz="1150" dirty="0"/>
          </a:p>
        </p:txBody>
      </p:sp>
      <p:sp>
        <p:nvSpPr>
          <p:cNvPr id="11" name="Shape 9"/>
          <p:cNvSpPr/>
          <p:nvPr/>
        </p:nvSpPr>
        <p:spPr>
          <a:xfrm>
            <a:off x="594360" y="4389120"/>
            <a:ext cx="10972800" cy="384048"/>
          </a:xfrm>
          <a:prstGeom prst="roundRect">
            <a:avLst>
              <a:gd name="adj" fmla="val 21429"/>
            </a:avLst>
          </a:prstGeom>
          <a:solidFill>
            <a:srgbClr val="F9F8F5"/>
          </a:solidFill>
          <a:ln w="12700">
            <a:solidFill>
              <a:srgbClr val="F9F8F5"/>
            </a:solidFill>
            <a:prstDash val="solid"/>
          </a:ln>
        </p:spPr>
        <p:txBody>
          <a:bodyPr/>
          <a:lstStyle/>
          <a:p>
            <a:endParaRPr lang="ro-RO"/>
          </a:p>
        </p:txBody>
      </p:sp>
      <p:sp>
        <p:nvSpPr>
          <p:cNvPr id="12" name="Text 10"/>
          <p:cNvSpPr/>
          <p:nvPr/>
        </p:nvSpPr>
        <p:spPr>
          <a:xfrm>
            <a:off x="914400" y="4389120"/>
            <a:ext cx="2743200" cy="384048"/>
          </a:xfrm>
          <a:prstGeom prst="rect">
            <a:avLst/>
          </a:prstGeom>
          <a:noFill/>
          <a:ln/>
        </p:spPr>
        <p:txBody>
          <a:bodyPr wrap="square" lIns="0" tIns="0" rIns="0" bIns="0" rtlCol="0" anchor="ctr"/>
          <a:lstStyle/>
          <a:p>
            <a:pPr marL="0" indent="0">
              <a:buNone/>
            </a:pPr>
            <a:r>
              <a:rPr lang="en-US" sz="1200" b="1" dirty="0">
                <a:solidFill>
                  <a:srgbClr val="8A6100"/>
                </a:solidFill>
                <a:latin typeface="Palatino Linotype" pitchFamily="34" charset="0"/>
                <a:ea typeface="Palatino Linotype" pitchFamily="34" charset="-122"/>
                <a:cs typeface="Palatino Linotype" pitchFamily="34" charset="-120"/>
              </a:rPr>
              <a:t>Rolul ECDC</a:t>
            </a:r>
            <a:endParaRPr lang="en-US" sz="1200" dirty="0"/>
          </a:p>
        </p:txBody>
      </p:sp>
      <p:sp>
        <p:nvSpPr>
          <p:cNvPr id="13" name="Text 11"/>
          <p:cNvSpPr/>
          <p:nvPr/>
        </p:nvSpPr>
        <p:spPr>
          <a:xfrm>
            <a:off x="3840480" y="4389120"/>
            <a:ext cx="7452360" cy="384048"/>
          </a:xfrm>
          <a:prstGeom prst="rect">
            <a:avLst/>
          </a:prstGeom>
          <a:noFill/>
          <a:ln/>
        </p:spPr>
        <p:txBody>
          <a:bodyPr wrap="square" lIns="0" tIns="0" rIns="0" bIns="0" rtlCol="0" anchor="ctr"/>
          <a:lstStyle/>
          <a:p>
            <a:pPr marL="0" indent="0">
              <a:buNone/>
            </a:pPr>
            <a:r>
              <a:rPr lang="en-US" sz="1150" dirty="0">
                <a:solidFill>
                  <a:srgbClr val="11121A"/>
                </a:solidFill>
                <a:latin typeface="Palatino Linotype" pitchFamily="34" charset="0"/>
                <a:ea typeface="Palatino Linotype" pitchFamily="34" charset="-122"/>
                <a:cs typeface="Palatino Linotype" pitchFamily="34" charset="-120"/>
              </a:rPr>
              <a:t>„community support role” — nu autor</a:t>
            </a:r>
            <a:endParaRPr lang="en-US" sz="1150" dirty="0"/>
          </a:p>
        </p:txBody>
      </p:sp>
      <p:sp>
        <p:nvSpPr>
          <p:cNvPr id="14" name="Shape 12"/>
          <p:cNvSpPr/>
          <p:nvPr/>
        </p:nvSpPr>
        <p:spPr>
          <a:xfrm>
            <a:off x="594360" y="4846320"/>
            <a:ext cx="10972800" cy="384048"/>
          </a:xfrm>
          <a:prstGeom prst="roundRect">
            <a:avLst>
              <a:gd name="adj" fmla="val 21429"/>
            </a:avLst>
          </a:prstGeom>
          <a:solidFill>
            <a:srgbClr val="ECEAE4"/>
          </a:solidFill>
          <a:ln w="12700">
            <a:solidFill>
              <a:srgbClr val="ECEAE4"/>
            </a:solidFill>
            <a:prstDash val="solid"/>
          </a:ln>
        </p:spPr>
        <p:txBody>
          <a:bodyPr/>
          <a:lstStyle/>
          <a:p>
            <a:endParaRPr lang="ro-RO"/>
          </a:p>
        </p:txBody>
      </p:sp>
      <p:sp>
        <p:nvSpPr>
          <p:cNvPr id="15" name="Text 13"/>
          <p:cNvSpPr/>
          <p:nvPr/>
        </p:nvSpPr>
        <p:spPr>
          <a:xfrm>
            <a:off x="914400" y="4846320"/>
            <a:ext cx="2743200" cy="384048"/>
          </a:xfrm>
          <a:prstGeom prst="rect">
            <a:avLst/>
          </a:prstGeom>
          <a:noFill/>
          <a:ln/>
        </p:spPr>
        <p:txBody>
          <a:bodyPr wrap="square" lIns="0" tIns="0" rIns="0" bIns="0" rtlCol="0" anchor="ctr"/>
          <a:lstStyle/>
          <a:p>
            <a:pPr marL="0" indent="0">
              <a:buNone/>
            </a:pPr>
            <a:r>
              <a:rPr lang="en-US" sz="1200" b="1" dirty="0">
                <a:solidFill>
                  <a:srgbClr val="B02532"/>
                </a:solidFill>
                <a:latin typeface="Palatino Linotype" pitchFamily="34" charset="0"/>
                <a:ea typeface="Palatino Linotype" pitchFamily="34" charset="-122"/>
                <a:cs typeface="Palatino Linotype" pitchFamily="34" charset="-120"/>
              </a:rPr>
              <a:t>Responsabilitatea</a:t>
            </a:r>
            <a:endParaRPr lang="en-US" sz="1200" dirty="0"/>
          </a:p>
        </p:txBody>
      </p:sp>
      <p:sp>
        <p:nvSpPr>
          <p:cNvPr id="16" name="Text 14"/>
          <p:cNvSpPr/>
          <p:nvPr/>
        </p:nvSpPr>
        <p:spPr>
          <a:xfrm>
            <a:off x="3840480" y="4846320"/>
            <a:ext cx="7452360" cy="384048"/>
          </a:xfrm>
          <a:prstGeom prst="rect">
            <a:avLst/>
          </a:prstGeom>
          <a:noFill/>
          <a:ln/>
        </p:spPr>
        <p:txBody>
          <a:bodyPr wrap="square" lIns="0" tIns="0" rIns="0" bIns="0" rtlCol="0" anchor="ctr"/>
          <a:lstStyle/>
          <a:p>
            <a:pPr marL="0" indent="0">
              <a:buNone/>
            </a:pPr>
            <a:r>
              <a:rPr lang="en-US" sz="1150" dirty="0">
                <a:solidFill>
                  <a:srgbClr val="11121A"/>
                </a:solidFill>
                <a:latin typeface="Palatino Linotype" pitchFamily="34" charset="0"/>
                <a:ea typeface="Palatino Linotype" pitchFamily="34" charset="-122"/>
                <a:cs typeface="Palatino Linotype" pitchFamily="34" charset="-120"/>
              </a:rPr>
              <a:t>ECDC și-o declină explicit pentru acuratețe și completitudine</a:t>
            </a:r>
            <a:endParaRPr lang="en-US" sz="1150" dirty="0"/>
          </a:p>
        </p:txBody>
      </p:sp>
      <p:sp>
        <p:nvSpPr>
          <p:cNvPr id="17" name="Shape 15"/>
          <p:cNvSpPr/>
          <p:nvPr/>
        </p:nvSpPr>
        <p:spPr>
          <a:xfrm>
            <a:off x="594360" y="5303520"/>
            <a:ext cx="10972800" cy="384048"/>
          </a:xfrm>
          <a:prstGeom prst="roundRect">
            <a:avLst>
              <a:gd name="adj" fmla="val 21429"/>
            </a:avLst>
          </a:prstGeom>
          <a:solidFill>
            <a:srgbClr val="F9F8F5"/>
          </a:solidFill>
          <a:ln w="12700">
            <a:solidFill>
              <a:srgbClr val="F9F8F5"/>
            </a:solidFill>
            <a:prstDash val="solid"/>
          </a:ln>
        </p:spPr>
        <p:txBody>
          <a:bodyPr/>
          <a:lstStyle/>
          <a:p>
            <a:endParaRPr lang="ro-RO"/>
          </a:p>
        </p:txBody>
      </p:sp>
      <p:sp>
        <p:nvSpPr>
          <p:cNvPr id="18" name="Text 16"/>
          <p:cNvSpPr/>
          <p:nvPr/>
        </p:nvSpPr>
        <p:spPr>
          <a:xfrm>
            <a:off x="914400" y="5303520"/>
            <a:ext cx="2743200" cy="384048"/>
          </a:xfrm>
          <a:prstGeom prst="rect">
            <a:avLst/>
          </a:prstGeom>
          <a:noFill/>
          <a:ln/>
        </p:spPr>
        <p:txBody>
          <a:bodyPr wrap="square" lIns="0" tIns="0" rIns="0" bIns="0" rtlCol="0" anchor="ctr"/>
          <a:lstStyle/>
          <a:p>
            <a:pPr marL="0" indent="0">
              <a:buNone/>
            </a:pPr>
            <a:r>
              <a:rPr lang="en-US" sz="1200" b="1" dirty="0">
                <a:solidFill>
                  <a:srgbClr val="0E7C6B"/>
                </a:solidFill>
                <a:latin typeface="Palatino Linotype" pitchFamily="34" charset="0"/>
                <a:ea typeface="Palatino Linotype" pitchFamily="34" charset="-122"/>
                <a:cs typeface="Palatino Linotype" pitchFamily="34" charset="-120"/>
              </a:rPr>
              <a:t>Folosirea în note</a:t>
            </a:r>
            <a:endParaRPr lang="en-US" sz="1200" dirty="0"/>
          </a:p>
        </p:txBody>
      </p:sp>
      <p:sp>
        <p:nvSpPr>
          <p:cNvPr id="19" name="Text 17"/>
          <p:cNvSpPr/>
          <p:nvPr/>
        </p:nvSpPr>
        <p:spPr>
          <a:xfrm>
            <a:off x="3840480" y="5303520"/>
            <a:ext cx="7452360" cy="384048"/>
          </a:xfrm>
          <a:prstGeom prst="rect">
            <a:avLst/>
          </a:prstGeom>
          <a:noFill/>
          <a:ln/>
        </p:spPr>
        <p:txBody>
          <a:bodyPr wrap="square" lIns="0" tIns="0" rIns="0" bIns="0" rtlCol="0" anchor="ctr"/>
          <a:lstStyle/>
          <a:p>
            <a:pPr marL="0" indent="0">
              <a:buNone/>
            </a:pPr>
            <a:r>
              <a:rPr lang="en-US" sz="1150" dirty="0">
                <a:solidFill>
                  <a:srgbClr val="11121A"/>
                </a:solidFill>
                <a:latin typeface="Palatino Linotype" pitchFamily="34" charset="0"/>
                <a:ea typeface="Palatino Linotype" pitchFamily="34" charset="-122"/>
                <a:cs typeface="Palatino Linotype" pitchFamily="34" charset="-120"/>
              </a:rPr>
              <a:t>nu declară ediție, an sau recenzie; notele nu îl folosesc ca sursă pentru definiții</a:t>
            </a:r>
            <a:endParaRPr lang="en-US" sz="1150" dirty="0"/>
          </a:p>
        </p:txBody>
      </p:sp>
      <p:sp>
        <p:nvSpPr>
          <p:cNvPr id="20" name="Shape 18"/>
          <p:cNvSpPr/>
          <p:nvPr/>
        </p:nvSpPr>
        <p:spPr>
          <a:xfrm>
            <a:off x="594360" y="5760720"/>
            <a:ext cx="10972800" cy="384048"/>
          </a:xfrm>
          <a:prstGeom prst="roundRect">
            <a:avLst>
              <a:gd name="adj" fmla="val 21429"/>
            </a:avLst>
          </a:prstGeom>
          <a:solidFill>
            <a:srgbClr val="ECEAE4"/>
          </a:solidFill>
          <a:ln w="12700">
            <a:solidFill>
              <a:srgbClr val="ECEAE4"/>
            </a:solidFill>
            <a:prstDash val="solid"/>
          </a:ln>
        </p:spPr>
        <p:txBody>
          <a:bodyPr/>
          <a:lstStyle/>
          <a:p>
            <a:endParaRPr lang="ro-RO"/>
          </a:p>
        </p:txBody>
      </p:sp>
      <p:sp>
        <p:nvSpPr>
          <p:cNvPr id="21" name="Text 19"/>
          <p:cNvSpPr/>
          <p:nvPr/>
        </p:nvSpPr>
        <p:spPr>
          <a:xfrm>
            <a:off x="914400" y="5760720"/>
            <a:ext cx="2743200" cy="384048"/>
          </a:xfrm>
          <a:prstGeom prst="rect">
            <a:avLst/>
          </a:prstGeom>
          <a:noFill/>
          <a:ln/>
        </p:spPr>
        <p:txBody>
          <a:bodyPr wrap="square" lIns="0" tIns="0" rIns="0" bIns="0" rtlCol="0" anchor="ctr"/>
          <a:lstStyle/>
          <a:p>
            <a:pPr marL="0" indent="0">
              <a:buNone/>
            </a:pPr>
            <a:r>
              <a:rPr lang="en-US" sz="1200" b="1" dirty="0">
                <a:solidFill>
                  <a:srgbClr val="585A64"/>
                </a:solidFill>
                <a:latin typeface="Palatino Linotype" pitchFamily="34" charset="0"/>
                <a:ea typeface="Palatino Linotype" pitchFamily="34" charset="-122"/>
                <a:cs typeface="Palatino Linotype" pitchFamily="34" charset="-120"/>
              </a:rPr>
              <a:t>Statutul</a:t>
            </a:r>
            <a:endParaRPr lang="en-US" sz="1200" dirty="0"/>
          </a:p>
        </p:txBody>
      </p:sp>
      <p:sp>
        <p:nvSpPr>
          <p:cNvPr id="22" name="Text 20"/>
          <p:cNvSpPr/>
          <p:nvPr/>
        </p:nvSpPr>
        <p:spPr>
          <a:xfrm>
            <a:off x="3840480" y="5760720"/>
            <a:ext cx="7452360" cy="384048"/>
          </a:xfrm>
          <a:prstGeom prst="rect">
            <a:avLst/>
          </a:prstGeom>
          <a:noFill/>
          <a:ln/>
        </p:spPr>
        <p:txBody>
          <a:bodyPr wrap="square" lIns="0" tIns="0" rIns="0" bIns="0" rtlCol="0" anchor="ctr"/>
          <a:lstStyle/>
          <a:p>
            <a:pPr marL="0" indent="0">
              <a:buNone/>
            </a:pPr>
            <a:r>
              <a:rPr lang="en-US" sz="1150" dirty="0">
                <a:solidFill>
                  <a:srgbClr val="11121A"/>
                </a:solidFill>
                <a:latin typeface="Palatino Linotype" pitchFamily="34" charset="0"/>
                <a:ea typeface="Palatino Linotype" pitchFamily="34" charset="-122"/>
                <a:cs typeface="Palatino Linotype" pitchFamily="34" charset="-120"/>
              </a:rPr>
              <a:t>retras de la adresa ECDC (ultima captură funcțională: 11 octombrie 2022); reinstalat în 2023 la femwiki.org</a:t>
            </a:r>
            <a:endParaRPr lang="en-US" sz="1150" dirty="0"/>
          </a:p>
        </p:txBody>
      </p:sp>
      <p:sp>
        <p:nvSpPr>
          <p:cNvPr id="23" name="Text 21"/>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585A64"/>
                </a:solidFill>
                <a:latin typeface="Palatino Linotype" pitchFamily="34" charset="0"/>
                <a:ea typeface="Palatino Linotype" pitchFamily="34" charset="-122"/>
                <a:cs typeface="Palatino Linotype" pitchFamily="34" charset="-120"/>
              </a:rPr>
              <a:t>Sursa: FEM Wiki (găzduit de ECDC), export PDF, 417 p., p. 1; PDF creat la 29.11.2022, titlul din metadate „FEM Wiki home”. Exemplarul: în folderul cursului, pus la dispoziție de titular; conținutul wiki-ului: femwiki.org, reinstalare Transmissible (2023).</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C24B"/>
                </a:solidFill>
                <a:latin typeface="Palatino Linotype" pitchFamily="34" charset="0"/>
                <a:ea typeface="Palatino Linotype" pitchFamily="34" charset="-122"/>
                <a:cs typeface="Palatino Linotype" pitchFamily="34" charset="-120"/>
              </a:rPr>
              <a:t>FEM WIKI · PAGINA 116 · ULTIMA MODIFICARE 6 OCTOMBRIE 2014</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000" b="1" dirty="0">
                <a:solidFill>
                  <a:srgbClr val="FFFFFF"/>
                </a:solidFill>
                <a:latin typeface="Palatino Linotype" pitchFamily="34" charset="0"/>
                <a:ea typeface="Palatino Linotype" pitchFamily="34" charset="-122"/>
                <a:cs typeface="Palatino Linotype" pitchFamily="34" charset="-120"/>
              </a:rPr>
              <a:t>Zece etape, zece capcane</a:t>
            </a:r>
            <a:endParaRPr lang="en-US" sz="3000" dirty="0"/>
          </a:p>
        </p:txBody>
      </p:sp>
      <p:sp>
        <p:nvSpPr>
          <p:cNvPr id="4" name="Shape 2"/>
          <p:cNvSpPr/>
          <p:nvPr/>
        </p:nvSpPr>
        <p:spPr>
          <a:xfrm>
            <a:off x="594360" y="1719072"/>
            <a:ext cx="10972800" cy="374904"/>
          </a:xfrm>
          <a:prstGeom prst="roundRect">
            <a:avLst>
              <a:gd name="adj" fmla="val 21951"/>
            </a:avLst>
          </a:prstGeom>
          <a:solidFill>
            <a:srgbClr val="272A38"/>
          </a:solidFill>
          <a:ln w="12700">
            <a:solidFill>
              <a:srgbClr val="272A38"/>
            </a:solidFill>
            <a:prstDash val="solid"/>
          </a:ln>
        </p:spPr>
        <p:txBody>
          <a:bodyPr/>
          <a:lstStyle/>
          <a:p>
            <a:endParaRPr lang="ro-RO"/>
          </a:p>
        </p:txBody>
      </p:sp>
      <p:sp>
        <p:nvSpPr>
          <p:cNvPr id="5" name="Shape 3"/>
          <p:cNvSpPr/>
          <p:nvPr/>
        </p:nvSpPr>
        <p:spPr>
          <a:xfrm>
            <a:off x="713232" y="1741932"/>
            <a:ext cx="329184" cy="329184"/>
          </a:xfrm>
          <a:prstGeom prst="ellipse">
            <a:avLst/>
          </a:prstGeom>
          <a:solidFill>
            <a:srgbClr val="3A3E50"/>
          </a:solidFill>
          <a:ln/>
        </p:spPr>
        <p:txBody>
          <a:bodyPr/>
          <a:lstStyle/>
          <a:p>
            <a:endParaRPr lang="ro-RO"/>
          </a:p>
        </p:txBody>
      </p:sp>
      <p:sp>
        <p:nvSpPr>
          <p:cNvPr id="6" name="Text 4"/>
          <p:cNvSpPr/>
          <p:nvPr/>
        </p:nvSpPr>
        <p:spPr>
          <a:xfrm>
            <a:off x="713232" y="1741932"/>
            <a:ext cx="329184" cy="329184"/>
          </a:xfrm>
          <a:prstGeom prst="rect">
            <a:avLst/>
          </a:prstGeom>
          <a:noFill/>
          <a:ln/>
        </p:spPr>
        <p:txBody>
          <a:bodyPr wrap="square" lIns="0" tIns="0" rIns="0" bIns="0" rtlCol="0" anchor="ctr"/>
          <a:lstStyle/>
          <a:p>
            <a:pPr marL="0" indent="0" algn="ctr">
              <a:buNone/>
            </a:pPr>
            <a:r>
              <a:rPr lang="en-US" sz="1400" b="1" dirty="0">
                <a:solidFill>
                  <a:srgbClr val="959BB0"/>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188720" y="1719072"/>
            <a:ext cx="4206240" cy="374904"/>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Determină existența unui focar</a:t>
            </a:r>
            <a:endParaRPr lang="en-US" sz="1150" dirty="0"/>
          </a:p>
        </p:txBody>
      </p:sp>
      <p:sp>
        <p:nvSpPr>
          <p:cNvPr id="8" name="Text 6"/>
          <p:cNvSpPr/>
          <p:nvPr/>
        </p:nvSpPr>
        <p:spPr>
          <a:xfrm>
            <a:off x="5532120" y="1719072"/>
            <a:ext cx="5806440" cy="374904"/>
          </a:xfrm>
          <a:prstGeom prst="rect">
            <a:avLst/>
          </a:prstGeom>
          <a:noFill/>
          <a:ln/>
        </p:spPr>
        <p:txBody>
          <a:bodyPr wrap="square" lIns="0" tIns="0" rIns="0" bIns="0" rtlCol="0" anchor="ctr"/>
          <a:lstStyle/>
          <a:p>
            <a:pPr marL="0" indent="0">
              <a:buNone/>
            </a:pPr>
            <a:r>
              <a:rPr lang="en-US" sz="1050" i="1" dirty="0">
                <a:solidFill>
                  <a:srgbClr val="959BB0"/>
                </a:solidFill>
                <a:latin typeface="Palatino Linotype" pitchFamily="34" charset="0"/>
                <a:ea typeface="Palatino Linotype" pitchFamily="34" charset="-122"/>
                <a:cs typeface="Palatino Linotype" pitchFamily="34" charset="-120"/>
              </a:rPr>
              <a:t>Taking all reported clusters at face value</a:t>
            </a:r>
            <a:endParaRPr lang="en-US" sz="1050" dirty="0"/>
          </a:p>
        </p:txBody>
      </p:sp>
      <p:sp>
        <p:nvSpPr>
          <p:cNvPr id="9" name="Shape 7"/>
          <p:cNvSpPr/>
          <p:nvPr/>
        </p:nvSpPr>
        <p:spPr>
          <a:xfrm>
            <a:off x="594360" y="2153412"/>
            <a:ext cx="10972800" cy="374904"/>
          </a:xfrm>
          <a:prstGeom prst="roundRect">
            <a:avLst>
              <a:gd name="adj" fmla="val 21951"/>
            </a:avLst>
          </a:prstGeom>
          <a:solidFill>
            <a:srgbClr val="1D1F2B"/>
          </a:solidFill>
          <a:ln w="12700">
            <a:solidFill>
              <a:srgbClr val="1D1F2B"/>
            </a:solidFill>
            <a:prstDash val="solid"/>
          </a:ln>
        </p:spPr>
        <p:txBody>
          <a:bodyPr/>
          <a:lstStyle/>
          <a:p>
            <a:endParaRPr lang="ro-RO"/>
          </a:p>
        </p:txBody>
      </p:sp>
      <p:sp>
        <p:nvSpPr>
          <p:cNvPr id="10" name="Shape 8"/>
          <p:cNvSpPr/>
          <p:nvPr/>
        </p:nvSpPr>
        <p:spPr>
          <a:xfrm>
            <a:off x="713232" y="2176272"/>
            <a:ext cx="329184" cy="329184"/>
          </a:xfrm>
          <a:prstGeom prst="ellipse">
            <a:avLst/>
          </a:prstGeom>
          <a:solidFill>
            <a:srgbClr val="3A3E50"/>
          </a:solidFill>
          <a:ln/>
        </p:spPr>
        <p:txBody>
          <a:bodyPr/>
          <a:lstStyle/>
          <a:p>
            <a:endParaRPr lang="ro-RO"/>
          </a:p>
        </p:txBody>
      </p:sp>
      <p:sp>
        <p:nvSpPr>
          <p:cNvPr id="11" name="Text 9"/>
          <p:cNvSpPr/>
          <p:nvPr/>
        </p:nvSpPr>
        <p:spPr>
          <a:xfrm>
            <a:off x="713232" y="2176272"/>
            <a:ext cx="329184" cy="329184"/>
          </a:xfrm>
          <a:prstGeom prst="rect">
            <a:avLst/>
          </a:prstGeom>
          <a:noFill/>
          <a:ln/>
        </p:spPr>
        <p:txBody>
          <a:bodyPr wrap="square" lIns="0" tIns="0" rIns="0" bIns="0" rtlCol="0" anchor="ctr"/>
          <a:lstStyle/>
          <a:p>
            <a:pPr marL="0" indent="0" algn="ctr">
              <a:buNone/>
            </a:pPr>
            <a:r>
              <a:rPr lang="en-US" sz="1400" b="1" dirty="0">
                <a:solidFill>
                  <a:srgbClr val="959BB0"/>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188720" y="2153412"/>
            <a:ext cx="4206240" cy="374904"/>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Confirmă diagnosticul</a:t>
            </a:r>
            <a:endParaRPr lang="en-US" sz="1150" dirty="0"/>
          </a:p>
        </p:txBody>
      </p:sp>
      <p:sp>
        <p:nvSpPr>
          <p:cNvPr id="13" name="Text 11"/>
          <p:cNvSpPr/>
          <p:nvPr/>
        </p:nvSpPr>
        <p:spPr>
          <a:xfrm>
            <a:off x="5532120" y="2153412"/>
            <a:ext cx="5806440" cy="374904"/>
          </a:xfrm>
          <a:prstGeom prst="rect">
            <a:avLst/>
          </a:prstGeom>
          <a:noFill/>
          <a:ln/>
        </p:spPr>
        <p:txBody>
          <a:bodyPr wrap="square" lIns="0" tIns="0" rIns="0" bIns="0" rtlCol="0" anchor="ctr"/>
          <a:lstStyle/>
          <a:p>
            <a:pPr marL="0" indent="0">
              <a:buNone/>
            </a:pPr>
            <a:r>
              <a:rPr lang="en-US" sz="1050" i="1" dirty="0">
                <a:solidFill>
                  <a:srgbClr val="959BB0"/>
                </a:solidFill>
                <a:latin typeface="Palatino Linotype" pitchFamily="34" charset="0"/>
                <a:ea typeface="Palatino Linotype" pitchFamily="34" charset="-122"/>
                <a:cs typeface="Palatino Linotype" pitchFamily="34" charset="-120"/>
              </a:rPr>
              <a:t>Failing to obtain a laboratory diagnosis</a:t>
            </a:r>
            <a:endParaRPr lang="en-US" sz="1050" dirty="0"/>
          </a:p>
        </p:txBody>
      </p:sp>
      <p:sp>
        <p:nvSpPr>
          <p:cNvPr id="14" name="Shape 12"/>
          <p:cNvSpPr/>
          <p:nvPr/>
        </p:nvSpPr>
        <p:spPr>
          <a:xfrm>
            <a:off x="594360" y="2587752"/>
            <a:ext cx="10972800" cy="374904"/>
          </a:xfrm>
          <a:prstGeom prst="roundRect">
            <a:avLst>
              <a:gd name="adj" fmla="val 21951"/>
            </a:avLst>
          </a:prstGeom>
          <a:solidFill>
            <a:srgbClr val="2A2438"/>
          </a:solidFill>
          <a:ln w="12700">
            <a:solidFill>
              <a:srgbClr val="2A2438"/>
            </a:solidFill>
            <a:prstDash val="solid"/>
          </a:ln>
        </p:spPr>
        <p:txBody>
          <a:bodyPr/>
          <a:lstStyle/>
          <a:p>
            <a:endParaRPr lang="ro-RO"/>
          </a:p>
        </p:txBody>
      </p:sp>
      <p:sp>
        <p:nvSpPr>
          <p:cNvPr id="15" name="Shape 13"/>
          <p:cNvSpPr/>
          <p:nvPr/>
        </p:nvSpPr>
        <p:spPr>
          <a:xfrm>
            <a:off x="713232" y="2610612"/>
            <a:ext cx="329184" cy="329184"/>
          </a:xfrm>
          <a:prstGeom prst="ellipse">
            <a:avLst/>
          </a:prstGeom>
          <a:solidFill>
            <a:srgbClr val="9B7EF7"/>
          </a:solidFill>
          <a:ln/>
        </p:spPr>
        <p:txBody>
          <a:bodyPr/>
          <a:lstStyle/>
          <a:p>
            <a:endParaRPr lang="ro-RO"/>
          </a:p>
        </p:txBody>
      </p:sp>
      <p:sp>
        <p:nvSpPr>
          <p:cNvPr id="16" name="Text 14"/>
          <p:cNvSpPr/>
          <p:nvPr/>
        </p:nvSpPr>
        <p:spPr>
          <a:xfrm>
            <a:off x="713232" y="2610612"/>
            <a:ext cx="329184" cy="329184"/>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188720" y="2587752"/>
            <a:ext cx="4206240" cy="374904"/>
          </a:xfrm>
          <a:prstGeom prst="rect">
            <a:avLst/>
          </a:prstGeom>
          <a:noFill/>
          <a:ln/>
        </p:spPr>
        <p:txBody>
          <a:bodyPr wrap="square" lIns="0" tIns="0" rIns="0" bIns="0" rtlCol="0" anchor="ctr"/>
          <a:lstStyle/>
          <a:p>
            <a:pPr marL="0" indent="0">
              <a:buNone/>
            </a:pPr>
            <a:r>
              <a:rPr lang="en-US" sz="1150" b="1" dirty="0">
                <a:solidFill>
                  <a:srgbClr val="9B7EF7"/>
                </a:solidFill>
                <a:latin typeface="Palatino Linotype" pitchFamily="34" charset="0"/>
                <a:ea typeface="Palatino Linotype" pitchFamily="34" charset="-122"/>
                <a:cs typeface="Palatino Linotype" pitchFamily="34" charset="-120"/>
              </a:rPr>
              <a:t>Definește cazul</a:t>
            </a:r>
            <a:endParaRPr lang="en-US" sz="1150" dirty="0"/>
          </a:p>
        </p:txBody>
      </p:sp>
      <p:sp>
        <p:nvSpPr>
          <p:cNvPr id="18" name="Text 16"/>
          <p:cNvSpPr/>
          <p:nvPr/>
        </p:nvSpPr>
        <p:spPr>
          <a:xfrm>
            <a:off x="5532120" y="2587752"/>
            <a:ext cx="5806440" cy="374904"/>
          </a:xfrm>
          <a:prstGeom prst="rect">
            <a:avLst/>
          </a:prstGeom>
          <a:noFill/>
          <a:ln/>
        </p:spPr>
        <p:txBody>
          <a:bodyPr wrap="square" lIns="0" tIns="0" rIns="0" bIns="0" rtlCol="0" anchor="ctr"/>
          <a:lstStyle/>
          <a:p>
            <a:pPr marL="0" indent="0">
              <a:buNone/>
            </a:pPr>
            <a:r>
              <a:rPr lang="en-US" sz="1050" i="1" dirty="0">
                <a:solidFill>
                  <a:srgbClr val="FFC24B"/>
                </a:solidFill>
                <a:latin typeface="Palatino Linotype" pitchFamily="34" charset="0"/>
                <a:ea typeface="Palatino Linotype" pitchFamily="34" charset="-122"/>
                <a:cs typeface="Palatino Linotype" pitchFamily="34" charset="-120"/>
              </a:rPr>
              <a:t>Defining cases poorly</a:t>
            </a:r>
            <a:endParaRPr lang="en-US" sz="1050" dirty="0"/>
          </a:p>
        </p:txBody>
      </p:sp>
      <p:sp>
        <p:nvSpPr>
          <p:cNvPr id="19" name="Shape 17"/>
          <p:cNvSpPr/>
          <p:nvPr/>
        </p:nvSpPr>
        <p:spPr>
          <a:xfrm>
            <a:off x="594360" y="3022092"/>
            <a:ext cx="10972800" cy="374904"/>
          </a:xfrm>
          <a:prstGeom prst="roundRect">
            <a:avLst>
              <a:gd name="adj" fmla="val 21951"/>
            </a:avLst>
          </a:prstGeom>
          <a:solidFill>
            <a:srgbClr val="1D1F2B"/>
          </a:solidFill>
          <a:ln w="12700">
            <a:solidFill>
              <a:srgbClr val="1D1F2B"/>
            </a:solidFill>
            <a:prstDash val="solid"/>
          </a:ln>
        </p:spPr>
        <p:txBody>
          <a:bodyPr/>
          <a:lstStyle/>
          <a:p>
            <a:endParaRPr lang="ro-RO"/>
          </a:p>
        </p:txBody>
      </p:sp>
      <p:sp>
        <p:nvSpPr>
          <p:cNvPr id="20" name="Shape 18"/>
          <p:cNvSpPr/>
          <p:nvPr/>
        </p:nvSpPr>
        <p:spPr>
          <a:xfrm>
            <a:off x="713232" y="3044952"/>
            <a:ext cx="329184" cy="329184"/>
          </a:xfrm>
          <a:prstGeom prst="ellipse">
            <a:avLst/>
          </a:prstGeom>
          <a:solidFill>
            <a:srgbClr val="3A3E50"/>
          </a:solidFill>
          <a:ln/>
        </p:spPr>
        <p:txBody>
          <a:bodyPr/>
          <a:lstStyle/>
          <a:p>
            <a:endParaRPr lang="ro-RO"/>
          </a:p>
        </p:txBody>
      </p:sp>
      <p:sp>
        <p:nvSpPr>
          <p:cNvPr id="21" name="Text 19"/>
          <p:cNvSpPr/>
          <p:nvPr/>
        </p:nvSpPr>
        <p:spPr>
          <a:xfrm>
            <a:off x="713232" y="3044952"/>
            <a:ext cx="329184" cy="329184"/>
          </a:xfrm>
          <a:prstGeom prst="rect">
            <a:avLst/>
          </a:prstGeom>
          <a:noFill/>
          <a:ln/>
        </p:spPr>
        <p:txBody>
          <a:bodyPr wrap="square" lIns="0" tIns="0" rIns="0" bIns="0" rtlCol="0" anchor="ctr"/>
          <a:lstStyle/>
          <a:p>
            <a:pPr marL="0" indent="0" algn="ctr">
              <a:buNone/>
            </a:pPr>
            <a:r>
              <a:rPr lang="en-US" sz="1400" b="1" dirty="0">
                <a:solidFill>
                  <a:srgbClr val="959BB0"/>
                </a:solidFill>
                <a:latin typeface="Palatino Linotype" pitchFamily="34" charset="0"/>
                <a:ea typeface="Palatino Linotype" pitchFamily="34" charset="-122"/>
                <a:cs typeface="Palatino Linotype" pitchFamily="34" charset="-120"/>
              </a:rPr>
              <a:t>4</a:t>
            </a:r>
            <a:endParaRPr lang="en-US" sz="1400" dirty="0"/>
          </a:p>
        </p:txBody>
      </p:sp>
      <p:sp>
        <p:nvSpPr>
          <p:cNvPr id="22" name="Text 20"/>
          <p:cNvSpPr/>
          <p:nvPr/>
        </p:nvSpPr>
        <p:spPr>
          <a:xfrm>
            <a:off x="1188720" y="3022092"/>
            <a:ext cx="4206240" cy="374904"/>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Caută cazurile</a:t>
            </a:r>
            <a:endParaRPr lang="en-US" sz="1150" dirty="0"/>
          </a:p>
        </p:txBody>
      </p:sp>
      <p:sp>
        <p:nvSpPr>
          <p:cNvPr id="23" name="Text 21"/>
          <p:cNvSpPr/>
          <p:nvPr/>
        </p:nvSpPr>
        <p:spPr>
          <a:xfrm>
            <a:off x="5532120" y="3022092"/>
            <a:ext cx="5806440" cy="374904"/>
          </a:xfrm>
          <a:prstGeom prst="rect">
            <a:avLst/>
          </a:prstGeom>
          <a:noFill/>
          <a:ln/>
        </p:spPr>
        <p:txBody>
          <a:bodyPr wrap="square" lIns="0" tIns="0" rIns="0" bIns="0" rtlCol="0" anchor="ctr"/>
          <a:lstStyle/>
          <a:p>
            <a:pPr marL="0" indent="0">
              <a:buNone/>
            </a:pPr>
            <a:r>
              <a:rPr lang="en-US" sz="1050" i="1" dirty="0">
                <a:solidFill>
                  <a:srgbClr val="959BB0"/>
                </a:solidFill>
                <a:latin typeface="Palatino Linotype" pitchFamily="34" charset="0"/>
                <a:ea typeface="Palatino Linotype" pitchFamily="34" charset="-122"/>
                <a:cs typeface="Palatino Linotype" pitchFamily="34" charset="-120"/>
              </a:rPr>
              <a:t>Conducting a door-to-door case search or a survey upfront</a:t>
            </a:r>
            <a:endParaRPr lang="en-US" sz="1050" dirty="0"/>
          </a:p>
        </p:txBody>
      </p:sp>
      <p:sp>
        <p:nvSpPr>
          <p:cNvPr id="24" name="Shape 22"/>
          <p:cNvSpPr/>
          <p:nvPr/>
        </p:nvSpPr>
        <p:spPr>
          <a:xfrm>
            <a:off x="594360" y="3456432"/>
            <a:ext cx="10972800" cy="374904"/>
          </a:xfrm>
          <a:prstGeom prst="roundRect">
            <a:avLst>
              <a:gd name="adj" fmla="val 21951"/>
            </a:avLst>
          </a:prstGeom>
          <a:solidFill>
            <a:srgbClr val="2A2438"/>
          </a:solidFill>
          <a:ln w="12700">
            <a:solidFill>
              <a:srgbClr val="2A2438"/>
            </a:solidFill>
            <a:prstDash val="solid"/>
          </a:ln>
        </p:spPr>
        <p:txBody>
          <a:bodyPr/>
          <a:lstStyle/>
          <a:p>
            <a:endParaRPr lang="ro-RO"/>
          </a:p>
        </p:txBody>
      </p:sp>
      <p:sp>
        <p:nvSpPr>
          <p:cNvPr id="25" name="Shape 23"/>
          <p:cNvSpPr/>
          <p:nvPr/>
        </p:nvSpPr>
        <p:spPr>
          <a:xfrm>
            <a:off x="713232" y="3479292"/>
            <a:ext cx="329184" cy="329184"/>
          </a:xfrm>
          <a:prstGeom prst="ellipse">
            <a:avLst/>
          </a:prstGeom>
          <a:solidFill>
            <a:srgbClr val="9B7EF7"/>
          </a:solidFill>
          <a:ln/>
        </p:spPr>
        <p:txBody>
          <a:bodyPr/>
          <a:lstStyle/>
          <a:p>
            <a:endParaRPr lang="ro-RO"/>
          </a:p>
        </p:txBody>
      </p:sp>
      <p:sp>
        <p:nvSpPr>
          <p:cNvPr id="26" name="Text 24"/>
          <p:cNvSpPr/>
          <p:nvPr/>
        </p:nvSpPr>
        <p:spPr>
          <a:xfrm>
            <a:off x="713232" y="3479292"/>
            <a:ext cx="329184" cy="329184"/>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7" name="Text 25"/>
          <p:cNvSpPr/>
          <p:nvPr/>
        </p:nvSpPr>
        <p:spPr>
          <a:xfrm>
            <a:off x="1188720" y="3456432"/>
            <a:ext cx="4206240" cy="374904"/>
          </a:xfrm>
          <a:prstGeom prst="rect">
            <a:avLst/>
          </a:prstGeom>
          <a:noFill/>
          <a:ln/>
        </p:spPr>
        <p:txBody>
          <a:bodyPr wrap="square" lIns="0" tIns="0" rIns="0" bIns="0" rtlCol="0" anchor="ctr"/>
          <a:lstStyle/>
          <a:p>
            <a:pPr marL="0" indent="0">
              <a:buNone/>
            </a:pPr>
            <a:r>
              <a:rPr lang="en-US" sz="1150" b="1" dirty="0">
                <a:solidFill>
                  <a:srgbClr val="9B7EF7"/>
                </a:solidFill>
                <a:latin typeface="Palatino Linotype" pitchFamily="34" charset="0"/>
                <a:ea typeface="Palatino Linotype" pitchFamily="34" charset="-122"/>
                <a:cs typeface="Palatino Linotype" pitchFamily="34" charset="-120"/>
              </a:rPr>
              <a:t>Generează ipoteze din datele descriptive</a:t>
            </a:r>
            <a:endParaRPr lang="en-US" sz="1150" dirty="0"/>
          </a:p>
        </p:txBody>
      </p:sp>
      <p:sp>
        <p:nvSpPr>
          <p:cNvPr id="28" name="Text 26"/>
          <p:cNvSpPr/>
          <p:nvPr/>
        </p:nvSpPr>
        <p:spPr>
          <a:xfrm>
            <a:off x="5532120" y="3456432"/>
            <a:ext cx="5806440" cy="374904"/>
          </a:xfrm>
          <a:prstGeom prst="rect">
            <a:avLst/>
          </a:prstGeom>
          <a:noFill/>
          <a:ln/>
        </p:spPr>
        <p:txBody>
          <a:bodyPr wrap="square" lIns="0" tIns="0" rIns="0" bIns="0" rtlCol="0" anchor="ctr"/>
          <a:lstStyle/>
          <a:p>
            <a:pPr marL="0" indent="0">
              <a:buNone/>
            </a:pPr>
            <a:r>
              <a:rPr lang="en-US" sz="1050" i="1" dirty="0">
                <a:solidFill>
                  <a:srgbClr val="FFC24B"/>
                </a:solidFill>
                <a:latin typeface="Palatino Linotype" pitchFamily="34" charset="0"/>
                <a:ea typeface="Palatino Linotype" pitchFamily="34" charset="-122"/>
                <a:cs typeface="Palatino Linotype" pitchFamily="34" charset="-120"/>
              </a:rPr>
              <a:t>Merging the hypothesis generating and the hypothesis-testing stages</a:t>
            </a:r>
            <a:endParaRPr lang="en-US" sz="1050" dirty="0"/>
          </a:p>
        </p:txBody>
      </p:sp>
      <p:sp>
        <p:nvSpPr>
          <p:cNvPr id="29" name="Shape 27"/>
          <p:cNvSpPr/>
          <p:nvPr/>
        </p:nvSpPr>
        <p:spPr>
          <a:xfrm>
            <a:off x="594360" y="3890772"/>
            <a:ext cx="10972800" cy="374904"/>
          </a:xfrm>
          <a:prstGeom prst="roundRect">
            <a:avLst>
              <a:gd name="adj" fmla="val 21951"/>
            </a:avLst>
          </a:prstGeom>
          <a:solidFill>
            <a:srgbClr val="1D1F2B"/>
          </a:solidFill>
          <a:ln w="12700">
            <a:solidFill>
              <a:srgbClr val="1D1F2B"/>
            </a:solidFill>
            <a:prstDash val="solid"/>
          </a:ln>
        </p:spPr>
        <p:txBody>
          <a:bodyPr/>
          <a:lstStyle/>
          <a:p>
            <a:endParaRPr lang="ro-RO"/>
          </a:p>
        </p:txBody>
      </p:sp>
      <p:sp>
        <p:nvSpPr>
          <p:cNvPr id="30" name="Shape 28"/>
          <p:cNvSpPr/>
          <p:nvPr/>
        </p:nvSpPr>
        <p:spPr>
          <a:xfrm>
            <a:off x="713232" y="3913632"/>
            <a:ext cx="329184" cy="329184"/>
          </a:xfrm>
          <a:prstGeom prst="ellipse">
            <a:avLst/>
          </a:prstGeom>
          <a:solidFill>
            <a:srgbClr val="3A3E50"/>
          </a:solidFill>
          <a:ln/>
        </p:spPr>
        <p:txBody>
          <a:bodyPr/>
          <a:lstStyle/>
          <a:p>
            <a:endParaRPr lang="ro-RO"/>
          </a:p>
        </p:txBody>
      </p:sp>
      <p:sp>
        <p:nvSpPr>
          <p:cNvPr id="31" name="Text 29"/>
          <p:cNvSpPr/>
          <p:nvPr/>
        </p:nvSpPr>
        <p:spPr>
          <a:xfrm>
            <a:off x="713232" y="3913632"/>
            <a:ext cx="329184" cy="329184"/>
          </a:xfrm>
          <a:prstGeom prst="rect">
            <a:avLst/>
          </a:prstGeom>
          <a:noFill/>
          <a:ln/>
        </p:spPr>
        <p:txBody>
          <a:bodyPr wrap="square" lIns="0" tIns="0" rIns="0" bIns="0" rtlCol="0" anchor="ctr"/>
          <a:lstStyle/>
          <a:p>
            <a:pPr marL="0" indent="0" algn="ctr">
              <a:buNone/>
            </a:pPr>
            <a:r>
              <a:rPr lang="en-US" sz="1400" b="1" dirty="0">
                <a:solidFill>
                  <a:srgbClr val="959BB0"/>
                </a:solidFill>
                <a:latin typeface="Palatino Linotype" pitchFamily="34" charset="0"/>
                <a:ea typeface="Palatino Linotype" pitchFamily="34" charset="-122"/>
                <a:cs typeface="Palatino Linotype" pitchFamily="34" charset="-120"/>
              </a:rPr>
              <a:t>6</a:t>
            </a:r>
            <a:endParaRPr lang="en-US" sz="1400" dirty="0"/>
          </a:p>
        </p:txBody>
      </p:sp>
      <p:sp>
        <p:nvSpPr>
          <p:cNvPr id="32" name="Text 30"/>
          <p:cNvSpPr/>
          <p:nvPr/>
        </p:nvSpPr>
        <p:spPr>
          <a:xfrm>
            <a:off x="1188720" y="3890772"/>
            <a:ext cx="4206240" cy="374904"/>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Testează ipotezele printr-un studiu analitic</a:t>
            </a:r>
            <a:endParaRPr lang="en-US" sz="1150" dirty="0"/>
          </a:p>
        </p:txBody>
      </p:sp>
      <p:sp>
        <p:nvSpPr>
          <p:cNvPr id="33" name="Text 31"/>
          <p:cNvSpPr/>
          <p:nvPr/>
        </p:nvSpPr>
        <p:spPr>
          <a:xfrm>
            <a:off x="5532120" y="3890772"/>
            <a:ext cx="5806440" cy="374904"/>
          </a:xfrm>
          <a:prstGeom prst="rect">
            <a:avLst/>
          </a:prstGeom>
          <a:noFill/>
          <a:ln/>
        </p:spPr>
        <p:txBody>
          <a:bodyPr wrap="square" lIns="0" tIns="0" rIns="0" bIns="0" rtlCol="0" anchor="ctr"/>
          <a:lstStyle/>
          <a:p>
            <a:pPr marL="0" indent="0">
              <a:buNone/>
            </a:pPr>
            <a:r>
              <a:rPr lang="en-US" sz="1050" i="1" dirty="0">
                <a:solidFill>
                  <a:srgbClr val="959BB0"/>
                </a:solidFill>
                <a:latin typeface="Palatino Linotype" pitchFamily="34" charset="0"/>
                <a:ea typeface="Palatino Linotype" pitchFamily="34" charset="-122"/>
                <a:cs typeface="Palatino Linotype" pitchFamily="34" charset="-120"/>
              </a:rPr>
              <a:t>Believing that a questionnaire constitutes a study protocol</a:t>
            </a:r>
            <a:endParaRPr lang="en-US" sz="1050" dirty="0"/>
          </a:p>
        </p:txBody>
      </p:sp>
      <p:sp>
        <p:nvSpPr>
          <p:cNvPr id="34" name="Shape 32"/>
          <p:cNvSpPr/>
          <p:nvPr/>
        </p:nvSpPr>
        <p:spPr>
          <a:xfrm>
            <a:off x="594360" y="4325112"/>
            <a:ext cx="10972800" cy="374904"/>
          </a:xfrm>
          <a:prstGeom prst="roundRect">
            <a:avLst>
              <a:gd name="adj" fmla="val 21951"/>
            </a:avLst>
          </a:prstGeom>
          <a:solidFill>
            <a:srgbClr val="2A2438"/>
          </a:solidFill>
          <a:ln w="12700">
            <a:solidFill>
              <a:srgbClr val="2A2438"/>
            </a:solidFill>
            <a:prstDash val="solid"/>
          </a:ln>
        </p:spPr>
        <p:txBody>
          <a:bodyPr/>
          <a:lstStyle/>
          <a:p>
            <a:endParaRPr lang="ro-RO"/>
          </a:p>
        </p:txBody>
      </p:sp>
      <p:sp>
        <p:nvSpPr>
          <p:cNvPr id="35" name="Shape 33"/>
          <p:cNvSpPr/>
          <p:nvPr/>
        </p:nvSpPr>
        <p:spPr>
          <a:xfrm>
            <a:off x="713232" y="4347972"/>
            <a:ext cx="329184" cy="329184"/>
          </a:xfrm>
          <a:prstGeom prst="ellipse">
            <a:avLst/>
          </a:prstGeom>
          <a:solidFill>
            <a:srgbClr val="9B7EF7"/>
          </a:solidFill>
          <a:ln/>
        </p:spPr>
        <p:txBody>
          <a:bodyPr/>
          <a:lstStyle/>
          <a:p>
            <a:endParaRPr lang="ro-RO"/>
          </a:p>
        </p:txBody>
      </p:sp>
      <p:sp>
        <p:nvSpPr>
          <p:cNvPr id="36" name="Text 34"/>
          <p:cNvSpPr/>
          <p:nvPr/>
        </p:nvSpPr>
        <p:spPr>
          <a:xfrm>
            <a:off x="713232" y="4347972"/>
            <a:ext cx="329184" cy="329184"/>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7</a:t>
            </a:r>
            <a:endParaRPr lang="en-US" sz="1400" dirty="0"/>
          </a:p>
        </p:txBody>
      </p:sp>
      <p:sp>
        <p:nvSpPr>
          <p:cNvPr id="37" name="Text 35"/>
          <p:cNvSpPr/>
          <p:nvPr/>
        </p:nvSpPr>
        <p:spPr>
          <a:xfrm>
            <a:off x="1188720" y="4325112"/>
            <a:ext cx="4206240" cy="374904"/>
          </a:xfrm>
          <a:prstGeom prst="rect">
            <a:avLst/>
          </a:prstGeom>
          <a:noFill/>
          <a:ln/>
        </p:spPr>
        <p:txBody>
          <a:bodyPr wrap="square" lIns="0" tIns="0" rIns="0" bIns="0" rtlCol="0" anchor="ctr"/>
          <a:lstStyle/>
          <a:p>
            <a:pPr marL="0" indent="0">
              <a:buNone/>
            </a:pPr>
            <a:r>
              <a:rPr lang="en-US" sz="1150" b="1" dirty="0">
                <a:solidFill>
                  <a:srgbClr val="9B7EF7"/>
                </a:solidFill>
                <a:latin typeface="Palatino Linotype" pitchFamily="34" charset="0"/>
                <a:ea typeface="Palatino Linotype" pitchFamily="34" charset="-122"/>
                <a:cs typeface="Palatino Linotype" pitchFamily="34" charset="-120"/>
              </a:rPr>
              <a:t>Formulează concluziile</a:t>
            </a:r>
            <a:endParaRPr lang="en-US" sz="1150" dirty="0"/>
          </a:p>
        </p:txBody>
      </p:sp>
      <p:sp>
        <p:nvSpPr>
          <p:cNvPr id="38" name="Text 36"/>
          <p:cNvSpPr/>
          <p:nvPr/>
        </p:nvSpPr>
        <p:spPr>
          <a:xfrm>
            <a:off x="5532120" y="4325112"/>
            <a:ext cx="5806440" cy="374904"/>
          </a:xfrm>
          <a:prstGeom prst="rect">
            <a:avLst/>
          </a:prstGeom>
          <a:noFill/>
          <a:ln/>
        </p:spPr>
        <p:txBody>
          <a:bodyPr wrap="square" lIns="0" tIns="0" rIns="0" bIns="0" rtlCol="0" anchor="ctr"/>
          <a:lstStyle/>
          <a:p>
            <a:pPr marL="0" indent="0">
              <a:buNone/>
            </a:pPr>
            <a:r>
              <a:rPr lang="en-US" sz="1050" i="1" dirty="0">
                <a:solidFill>
                  <a:srgbClr val="FFC24B"/>
                </a:solidFill>
                <a:latin typeface="Palatino Linotype" pitchFamily="34" charset="0"/>
                <a:ea typeface="Palatino Linotype" pitchFamily="34" charset="-122"/>
                <a:cs typeface="Palatino Linotype" pitchFamily="34" charset="-120"/>
              </a:rPr>
              <a:t>Having excessive confidence in the conclusions</a:t>
            </a:r>
            <a:endParaRPr lang="en-US" sz="1050" dirty="0"/>
          </a:p>
        </p:txBody>
      </p:sp>
      <p:sp>
        <p:nvSpPr>
          <p:cNvPr id="39" name="Shape 37"/>
          <p:cNvSpPr/>
          <p:nvPr/>
        </p:nvSpPr>
        <p:spPr>
          <a:xfrm>
            <a:off x="594360" y="4759452"/>
            <a:ext cx="10972800" cy="374904"/>
          </a:xfrm>
          <a:prstGeom prst="roundRect">
            <a:avLst>
              <a:gd name="adj" fmla="val 21951"/>
            </a:avLst>
          </a:prstGeom>
          <a:solidFill>
            <a:srgbClr val="1D1F2B"/>
          </a:solidFill>
          <a:ln w="12700">
            <a:solidFill>
              <a:srgbClr val="1D1F2B"/>
            </a:solidFill>
            <a:prstDash val="solid"/>
          </a:ln>
        </p:spPr>
        <p:txBody>
          <a:bodyPr/>
          <a:lstStyle/>
          <a:p>
            <a:endParaRPr lang="ro-RO"/>
          </a:p>
        </p:txBody>
      </p:sp>
      <p:sp>
        <p:nvSpPr>
          <p:cNvPr id="40" name="Shape 38"/>
          <p:cNvSpPr/>
          <p:nvPr/>
        </p:nvSpPr>
        <p:spPr>
          <a:xfrm>
            <a:off x="713232" y="4782312"/>
            <a:ext cx="329184" cy="329184"/>
          </a:xfrm>
          <a:prstGeom prst="ellipse">
            <a:avLst/>
          </a:prstGeom>
          <a:solidFill>
            <a:srgbClr val="3A3E50"/>
          </a:solidFill>
          <a:ln/>
        </p:spPr>
        <p:txBody>
          <a:bodyPr/>
          <a:lstStyle/>
          <a:p>
            <a:endParaRPr lang="ro-RO"/>
          </a:p>
        </p:txBody>
      </p:sp>
      <p:sp>
        <p:nvSpPr>
          <p:cNvPr id="41" name="Text 39"/>
          <p:cNvSpPr/>
          <p:nvPr/>
        </p:nvSpPr>
        <p:spPr>
          <a:xfrm>
            <a:off x="713232" y="4782312"/>
            <a:ext cx="329184" cy="329184"/>
          </a:xfrm>
          <a:prstGeom prst="rect">
            <a:avLst/>
          </a:prstGeom>
          <a:noFill/>
          <a:ln/>
        </p:spPr>
        <p:txBody>
          <a:bodyPr wrap="square" lIns="0" tIns="0" rIns="0" bIns="0" rtlCol="0" anchor="ctr"/>
          <a:lstStyle/>
          <a:p>
            <a:pPr marL="0" indent="0" algn="ctr">
              <a:buNone/>
            </a:pPr>
            <a:r>
              <a:rPr lang="en-US" sz="1400" b="1" dirty="0">
                <a:solidFill>
                  <a:srgbClr val="959BB0"/>
                </a:solidFill>
                <a:latin typeface="Palatino Linotype" pitchFamily="34" charset="0"/>
                <a:ea typeface="Palatino Linotype" pitchFamily="34" charset="-122"/>
                <a:cs typeface="Palatino Linotype" pitchFamily="34" charset="-120"/>
              </a:rPr>
              <a:t>8</a:t>
            </a:r>
            <a:endParaRPr lang="en-US" sz="1400" dirty="0"/>
          </a:p>
        </p:txBody>
      </p:sp>
      <p:sp>
        <p:nvSpPr>
          <p:cNvPr id="42" name="Text 40"/>
          <p:cNvSpPr/>
          <p:nvPr/>
        </p:nvSpPr>
        <p:spPr>
          <a:xfrm>
            <a:off x="1188720" y="4759452"/>
            <a:ext cx="4206240" cy="374904"/>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Compară ipoteza cu faptele stabilite; studii suplimentare</a:t>
            </a:r>
            <a:endParaRPr lang="en-US" sz="1150" dirty="0"/>
          </a:p>
        </p:txBody>
      </p:sp>
      <p:sp>
        <p:nvSpPr>
          <p:cNvPr id="43" name="Text 41"/>
          <p:cNvSpPr/>
          <p:nvPr/>
        </p:nvSpPr>
        <p:spPr>
          <a:xfrm>
            <a:off x="5532120" y="4759452"/>
            <a:ext cx="5806440" cy="374904"/>
          </a:xfrm>
          <a:prstGeom prst="rect">
            <a:avLst/>
          </a:prstGeom>
          <a:noFill/>
          <a:ln/>
        </p:spPr>
        <p:txBody>
          <a:bodyPr wrap="square" lIns="0" tIns="0" rIns="0" bIns="0" rtlCol="0" anchor="ctr"/>
          <a:lstStyle/>
          <a:p>
            <a:pPr marL="0" indent="0">
              <a:buNone/>
            </a:pPr>
            <a:r>
              <a:rPr lang="en-US" sz="1050" i="1" dirty="0">
                <a:solidFill>
                  <a:srgbClr val="959BB0"/>
                </a:solidFill>
                <a:latin typeface="Palatino Linotype" pitchFamily="34" charset="0"/>
                <a:ea typeface="Palatino Linotype" pitchFamily="34" charset="-122"/>
                <a:cs typeface="Palatino Linotype" pitchFamily="34" charset="-120"/>
              </a:rPr>
              <a:t>Rushing to conduct an environmental assessment</a:t>
            </a:r>
            <a:endParaRPr lang="en-US" sz="1050" dirty="0"/>
          </a:p>
        </p:txBody>
      </p:sp>
      <p:sp>
        <p:nvSpPr>
          <p:cNvPr id="44" name="Shape 42"/>
          <p:cNvSpPr/>
          <p:nvPr/>
        </p:nvSpPr>
        <p:spPr>
          <a:xfrm>
            <a:off x="594360" y="5193792"/>
            <a:ext cx="10972800" cy="374904"/>
          </a:xfrm>
          <a:prstGeom prst="roundRect">
            <a:avLst>
              <a:gd name="adj" fmla="val 21951"/>
            </a:avLst>
          </a:prstGeom>
          <a:solidFill>
            <a:srgbClr val="272A38"/>
          </a:solidFill>
          <a:ln w="12700">
            <a:solidFill>
              <a:srgbClr val="272A38"/>
            </a:solidFill>
            <a:prstDash val="solid"/>
          </a:ln>
        </p:spPr>
        <p:txBody>
          <a:bodyPr/>
          <a:lstStyle/>
          <a:p>
            <a:endParaRPr lang="ro-RO"/>
          </a:p>
        </p:txBody>
      </p:sp>
      <p:sp>
        <p:nvSpPr>
          <p:cNvPr id="45" name="Shape 43"/>
          <p:cNvSpPr/>
          <p:nvPr/>
        </p:nvSpPr>
        <p:spPr>
          <a:xfrm>
            <a:off x="713232" y="5216652"/>
            <a:ext cx="329184" cy="329184"/>
          </a:xfrm>
          <a:prstGeom prst="ellipse">
            <a:avLst/>
          </a:prstGeom>
          <a:solidFill>
            <a:srgbClr val="3A3E50"/>
          </a:solidFill>
          <a:ln/>
        </p:spPr>
        <p:txBody>
          <a:bodyPr/>
          <a:lstStyle/>
          <a:p>
            <a:endParaRPr lang="ro-RO"/>
          </a:p>
        </p:txBody>
      </p:sp>
      <p:sp>
        <p:nvSpPr>
          <p:cNvPr id="46" name="Text 44"/>
          <p:cNvSpPr/>
          <p:nvPr/>
        </p:nvSpPr>
        <p:spPr>
          <a:xfrm>
            <a:off x="713232" y="5216652"/>
            <a:ext cx="329184" cy="329184"/>
          </a:xfrm>
          <a:prstGeom prst="rect">
            <a:avLst/>
          </a:prstGeom>
          <a:noFill/>
          <a:ln/>
        </p:spPr>
        <p:txBody>
          <a:bodyPr wrap="square" lIns="0" tIns="0" rIns="0" bIns="0" rtlCol="0" anchor="ctr"/>
          <a:lstStyle/>
          <a:p>
            <a:pPr marL="0" indent="0" algn="ctr">
              <a:buNone/>
            </a:pPr>
            <a:r>
              <a:rPr lang="en-US" sz="1400" b="1" dirty="0">
                <a:solidFill>
                  <a:srgbClr val="959BB0"/>
                </a:solidFill>
                <a:latin typeface="Palatino Linotype" pitchFamily="34" charset="0"/>
                <a:ea typeface="Palatino Linotype" pitchFamily="34" charset="-122"/>
                <a:cs typeface="Palatino Linotype" pitchFamily="34" charset="-120"/>
              </a:rPr>
              <a:t>9</a:t>
            </a:r>
            <a:endParaRPr lang="en-US" sz="1400" dirty="0"/>
          </a:p>
        </p:txBody>
      </p:sp>
      <p:sp>
        <p:nvSpPr>
          <p:cNvPr id="47" name="Text 45"/>
          <p:cNvSpPr/>
          <p:nvPr/>
        </p:nvSpPr>
        <p:spPr>
          <a:xfrm>
            <a:off x="1188720" y="5193792"/>
            <a:ext cx="4206240" cy="374904"/>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Comunică rezultatele</a:t>
            </a:r>
            <a:endParaRPr lang="en-US" sz="1150" dirty="0"/>
          </a:p>
        </p:txBody>
      </p:sp>
      <p:sp>
        <p:nvSpPr>
          <p:cNvPr id="48" name="Text 46"/>
          <p:cNvSpPr/>
          <p:nvPr/>
        </p:nvSpPr>
        <p:spPr>
          <a:xfrm>
            <a:off x="5532120" y="5193792"/>
            <a:ext cx="5806440" cy="374904"/>
          </a:xfrm>
          <a:prstGeom prst="rect">
            <a:avLst/>
          </a:prstGeom>
          <a:noFill/>
          <a:ln/>
        </p:spPr>
        <p:txBody>
          <a:bodyPr wrap="square" lIns="0" tIns="0" rIns="0" bIns="0" rtlCol="0" anchor="ctr"/>
          <a:lstStyle/>
          <a:p>
            <a:pPr marL="0" indent="0">
              <a:buNone/>
            </a:pPr>
            <a:r>
              <a:rPr lang="en-US" sz="1050" i="1" dirty="0">
                <a:solidFill>
                  <a:srgbClr val="959BB0"/>
                </a:solidFill>
                <a:latin typeface="Palatino Linotype" pitchFamily="34" charset="0"/>
                <a:ea typeface="Palatino Linotype" pitchFamily="34" charset="-122"/>
                <a:cs typeface="Palatino Linotype" pitchFamily="34" charset="-120"/>
              </a:rPr>
              <a:t>Failing to communicate the results to decision-makers</a:t>
            </a:r>
            <a:endParaRPr lang="en-US" sz="1050" dirty="0"/>
          </a:p>
        </p:txBody>
      </p:sp>
      <p:sp>
        <p:nvSpPr>
          <p:cNvPr id="49" name="Shape 47"/>
          <p:cNvSpPr/>
          <p:nvPr/>
        </p:nvSpPr>
        <p:spPr>
          <a:xfrm>
            <a:off x="594360" y="5628132"/>
            <a:ext cx="10972800" cy="374904"/>
          </a:xfrm>
          <a:prstGeom prst="roundRect">
            <a:avLst>
              <a:gd name="adj" fmla="val 21951"/>
            </a:avLst>
          </a:prstGeom>
          <a:solidFill>
            <a:srgbClr val="1D1F2B"/>
          </a:solidFill>
          <a:ln w="12700">
            <a:solidFill>
              <a:srgbClr val="1D1F2B"/>
            </a:solidFill>
            <a:prstDash val="solid"/>
          </a:ln>
        </p:spPr>
        <p:txBody>
          <a:bodyPr/>
          <a:lstStyle/>
          <a:p>
            <a:endParaRPr lang="ro-RO"/>
          </a:p>
        </p:txBody>
      </p:sp>
      <p:sp>
        <p:nvSpPr>
          <p:cNvPr id="50" name="Shape 48"/>
          <p:cNvSpPr/>
          <p:nvPr/>
        </p:nvSpPr>
        <p:spPr>
          <a:xfrm>
            <a:off x="713232" y="5650992"/>
            <a:ext cx="329184" cy="329184"/>
          </a:xfrm>
          <a:prstGeom prst="ellipse">
            <a:avLst/>
          </a:prstGeom>
          <a:solidFill>
            <a:srgbClr val="3A3E50"/>
          </a:solidFill>
          <a:ln/>
        </p:spPr>
        <p:txBody>
          <a:bodyPr/>
          <a:lstStyle/>
          <a:p>
            <a:endParaRPr lang="ro-RO"/>
          </a:p>
        </p:txBody>
      </p:sp>
      <p:sp>
        <p:nvSpPr>
          <p:cNvPr id="51" name="Text 49"/>
          <p:cNvSpPr/>
          <p:nvPr/>
        </p:nvSpPr>
        <p:spPr>
          <a:xfrm>
            <a:off x="713232" y="5650992"/>
            <a:ext cx="329184" cy="329184"/>
          </a:xfrm>
          <a:prstGeom prst="rect">
            <a:avLst/>
          </a:prstGeom>
          <a:noFill/>
          <a:ln/>
        </p:spPr>
        <p:txBody>
          <a:bodyPr wrap="square" lIns="0" tIns="0" rIns="0" bIns="0" rtlCol="0" anchor="ctr"/>
          <a:lstStyle/>
          <a:p>
            <a:pPr marL="0" indent="0" algn="ctr">
              <a:buNone/>
            </a:pPr>
            <a:r>
              <a:rPr lang="en-US" sz="1400" b="1" dirty="0">
                <a:solidFill>
                  <a:srgbClr val="959BB0"/>
                </a:solidFill>
                <a:latin typeface="Palatino Linotype" pitchFamily="34" charset="0"/>
                <a:ea typeface="Palatino Linotype" pitchFamily="34" charset="-122"/>
                <a:cs typeface="Palatino Linotype" pitchFamily="34" charset="-120"/>
              </a:rPr>
              <a:t>10</a:t>
            </a:r>
            <a:endParaRPr lang="en-US" sz="1400" dirty="0"/>
          </a:p>
        </p:txBody>
      </p:sp>
      <p:sp>
        <p:nvSpPr>
          <p:cNvPr id="52" name="Text 50"/>
          <p:cNvSpPr/>
          <p:nvPr/>
        </p:nvSpPr>
        <p:spPr>
          <a:xfrm>
            <a:off x="1188720" y="5628132"/>
            <a:ext cx="4206240" cy="374904"/>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Aplică măsurile de prevenire</a:t>
            </a:r>
            <a:endParaRPr lang="en-US" sz="1150" dirty="0"/>
          </a:p>
        </p:txBody>
      </p:sp>
      <p:sp>
        <p:nvSpPr>
          <p:cNvPr id="53" name="Text 51"/>
          <p:cNvSpPr/>
          <p:nvPr/>
        </p:nvSpPr>
        <p:spPr>
          <a:xfrm>
            <a:off x="5532120" y="5628132"/>
            <a:ext cx="5806440" cy="374904"/>
          </a:xfrm>
          <a:prstGeom prst="rect">
            <a:avLst/>
          </a:prstGeom>
          <a:noFill/>
          <a:ln/>
        </p:spPr>
        <p:txBody>
          <a:bodyPr wrap="square" lIns="0" tIns="0" rIns="0" bIns="0" rtlCol="0" anchor="ctr"/>
          <a:lstStyle/>
          <a:p>
            <a:pPr marL="0" indent="0">
              <a:buNone/>
            </a:pPr>
            <a:r>
              <a:rPr lang="en-US" sz="1050" i="1" dirty="0">
                <a:solidFill>
                  <a:srgbClr val="959BB0"/>
                </a:solidFill>
                <a:latin typeface="Palatino Linotype" pitchFamily="34" charset="0"/>
                <a:ea typeface="Palatino Linotype" pitchFamily="34" charset="-122"/>
                <a:cs typeface="Palatino Linotype" pitchFamily="34" charset="-120"/>
              </a:rPr>
              <a:t>Formulating general recommendations that are not based upon findings</a:t>
            </a:r>
            <a:endParaRPr lang="en-US" sz="1050" dirty="0"/>
          </a:p>
        </p:txBody>
      </p:sp>
      <p:sp>
        <p:nvSpPr>
          <p:cNvPr id="54" name="Text 52"/>
          <p:cNvSpPr/>
          <p:nvPr/>
        </p:nvSpPr>
        <p:spPr>
          <a:xfrm>
            <a:off x="594360" y="6144768"/>
            <a:ext cx="10972800" cy="320040"/>
          </a:xfrm>
          <a:prstGeom prst="rect">
            <a:avLst/>
          </a:prstGeom>
          <a:noFill/>
          <a:ln/>
        </p:spPr>
        <p:txBody>
          <a:bodyPr wrap="square" lIns="0" tIns="0" rIns="0" bIns="0" rtlCol="0" anchor="ctr"/>
          <a:lstStyle/>
          <a:p>
            <a:pPr marL="0" indent="0">
              <a:buNone/>
            </a:pPr>
            <a:r>
              <a:rPr lang="en-US" sz="1200" b="1" i="1" dirty="0">
                <a:solidFill>
                  <a:srgbClr val="FF4757"/>
                </a:solidFill>
                <a:latin typeface="Palatino Linotype" pitchFamily="34" charset="0"/>
                <a:ea typeface="Palatino Linotype" pitchFamily="34" charset="-122"/>
                <a:cs typeface="Palatino Linotype" pitchFamily="34" charset="-120"/>
              </a:rPr>
              <a:t>Capcanele 3, 5 și 7 apar exact în sălile acestui curs — 3 și 5 în Sesiunea 2; 7 este exact ce NU a făcut Snow, când a scris „impossible to decide”.</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DE UNDE VINE CIFRA „10”</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11121A"/>
                </a:solidFill>
                <a:latin typeface="Palatino Linotype" pitchFamily="34" charset="0"/>
                <a:ea typeface="Palatino Linotype" pitchFamily="34" charset="-122"/>
                <a:cs typeface="Palatino Linotype" pitchFamily="34" charset="-120"/>
              </a:rPr>
              <a:t>Liste de 7, 10 sau 13 pași, ordonați diferit</a:t>
            </a:r>
            <a:endParaRPr lang="en-US" sz="3100" dirty="0"/>
          </a:p>
        </p:txBody>
      </p:sp>
      <p:sp>
        <p:nvSpPr>
          <p:cNvPr id="4" name="Shape 2"/>
          <p:cNvSpPr/>
          <p:nvPr/>
        </p:nvSpPr>
        <p:spPr>
          <a:xfrm>
            <a:off x="594360" y="1691640"/>
            <a:ext cx="10972800" cy="1051560"/>
          </a:xfrm>
          <a:prstGeom prst="roundRect">
            <a:avLst>
              <a:gd name="adj" fmla="val 7826"/>
            </a:avLst>
          </a:prstGeom>
          <a:solidFill>
            <a:srgbClr val="ECEAE4"/>
          </a:solidFill>
          <a:ln w="12700">
            <a:solidFill>
              <a:srgbClr val="ECEAE4"/>
            </a:solidFill>
            <a:prstDash val="solid"/>
          </a:ln>
        </p:spPr>
        <p:txBody>
          <a:bodyPr/>
          <a:lstStyle/>
          <a:p>
            <a:endParaRPr lang="ro-RO"/>
          </a:p>
        </p:txBody>
      </p:sp>
      <p:sp>
        <p:nvSpPr>
          <p:cNvPr id="5" name="Text 3"/>
          <p:cNvSpPr/>
          <p:nvPr/>
        </p:nvSpPr>
        <p:spPr>
          <a:xfrm>
            <a:off x="960120" y="1691640"/>
            <a:ext cx="10241280" cy="1051560"/>
          </a:xfrm>
          <a:prstGeom prst="rect">
            <a:avLst/>
          </a:prstGeom>
          <a:noFill/>
          <a:ln/>
        </p:spPr>
        <p:txBody>
          <a:bodyPr wrap="square" lIns="0" tIns="0" rIns="0" bIns="0" rtlCol="0" anchor="ctr"/>
          <a:lstStyle/>
          <a:p>
            <a:pPr marL="0" indent="0">
              <a:buNone/>
            </a:pPr>
            <a:r>
              <a:rPr lang="en-US" sz="1400" i="1" dirty="0">
                <a:solidFill>
                  <a:srgbClr val="11121A"/>
                </a:solidFill>
                <a:latin typeface="Palatino Linotype" pitchFamily="34" charset="0"/>
                <a:ea typeface="Palatino Linotype" pitchFamily="34" charset="-122"/>
                <a:cs typeface="Palatino Linotype" pitchFamily="34" charset="-120"/>
              </a:rPr>
              <a:t>Pagina 34, verbatim: „Unfortunately, various groups have generated various lists where steps differ in sequence and number.” Referința (2): Gregg (ed.), Field Epidemiology, OUP, 1996 — în ediția a treia, poziția 2 din bibliografia obligatorie. Tot acolo: o listă pentru focarele alimentare are doar 7 pași.</a:t>
            </a:r>
            <a:endParaRPr lang="en-US" sz="1400" dirty="0"/>
          </a:p>
        </p:txBody>
      </p:sp>
      <p:sp>
        <p:nvSpPr>
          <p:cNvPr id="6" name="Shape 4"/>
          <p:cNvSpPr/>
          <p:nvPr/>
        </p:nvSpPr>
        <p:spPr>
          <a:xfrm>
            <a:off x="594360" y="2926080"/>
            <a:ext cx="10972800" cy="429768"/>
          </a:xfrm>
          <a:prstGeom prst="roundRect">
            <a:avLst>
              <a:gd name="adj" fmla="val 19149"/>
            </a:avLst>
          </a:prstGeom>
          <a:solidFill>
            <a:srgbClr val="ECEAE4"/>
          </a:solidFill>
          <a:ln w="12700">
            <a:solidFill>
              <a:srgbClr val="ECEAE4"/>
            </a:solidFill>
            <a:prstDash val="solid"/>
          </a:ln>
        </p:spPr>
        <p:txBody>
          <a:bodyPr/>
          <a:lstStyle/>
          <a:p>
            <a:endParaRPr lang="ro-RO"/>
          </a:p>
        </p:txBody>
      </p:sp>
      <p:sp>
        <p:nvSpPr>
          <p:cNvPr id="7" name="Text 5"/>
          <p:cNvSpPr/>
          <p:nvPr/>
        </p:nvSpPr>
        <p:spPr>
          <a:xfrm>
            <a:off x="914400" y="2926080"/>
            <a:ext cx="1737360" cy="429768"/>
          </a:xfrm>
          <a:prstGeom prst="rect">
            <a:avLst/>
          </a:prstGeom>
          <a:noFill/>
          <a:ln/>
        </p:spPr>
        <p:txBody>
          <a:bodyPr wrap="square" lIns="0" tIns="0" rIns="0" bIns="0" rtlCol="0" anchor="ctr"/>
          <a:lstStyle/>
          <a:p>
            <a:pPr marL="0" indent="0">
              <a:buNone/>
            </a:pPr>
            <a:r>
              <a:rPr lang="en-US" sz="1200" b="1" dirty="0">
                <a:solidFill>
                  <a:srgbClr val="4A2D8C"/>
                </a:solidFill>
                <a:latin typeface="Palatino Linotype" pitchFamily="34" charset="0"/>
                <a:ea typeface="Palatino Linotype" pitchFamily="34" charset="-122"/>
                <a:cs typeface="Palatino Linotype" pitchFamily="34" charset="-120"/>
              </a:rPr>
              <a:t>1996</a:t>
            </a:r>
            <a:endParaRPr lang="en-US" sz="1200" dirty="0"/>
          </a:p>
        </p:txBody>
      </p:sp>
      <p:sp>
        <p:nvSpPr>
          <p:cNvPr id="8" name="Text 6"/>
          <p:cNvSpPr/>
          <p:nvPr/>
        </p:nvSpPr>
        <p:spPr>
          <a:xfrm>
            <a:off x="2788920" y="2926080"/>
            <a:ext cx="6035040" cy="429768"/>
          </a:xfrm>
          <a:prstGeom prst="rect">
            <a:avLst/>
          </a:prstGeom>
          <a:noFill/>
          <a:ln/>
        </p:spPr>
        <p:txBody>
          <a:bodyPr wrap="square" lIns="0" tIns="0" rIns="0" bIns="0" rtlCol="0" anchor="ctr"/>
          <a:lstStyle/>
          <a:p>
            <a:pPr marL="0" indent="0">
              <a:buNone/>
            </a:pPr>
            <a:r>
              <a:rPr lang="en-US" sz="1150" dirty="0">
                <a:solidFill>
                  <a:srgbClr val="11121A"/>
                </a:solidFill>
                <a:latin typeface="Palatino Linotype" pitchFamily="34" charset="0"/>
                <a:ea typeface="Palatino Linotype" pitchFamily="34" charset="-122"/>
                <a:cs typeface="Palatino Linotype" pitchFamily="34" charset="-120"/>
              </a:rPr>
              <a:t>Gregg MB (ed.), Field Epidemiology, ed. 1, OUP</a:t>
            </a:r>
            <a:endParaRPr lang="en-US" sz="1150" dirty="0"/>
          </a:p>
        </p:txBody>
      </p:sp>
      <p:sp>
        <p:nvSpPr>
          <p:cNvPr id="9" name="Text 7"/>
          <p:cNvSpPr/>
          <p:nvPr/>
        </p:nvSpPr>
        <p:spPr>
          <a:xfrm>
            <a:off x="9006840" y="2926080"/>
            <a:ext cx="2286000" cy="429768"/>
          </a:xfrm>
          <a:prstGeom prst="rect">
            <a:avLst/>
          </a:prstGeom>
          <a:noFill/>
          <a:ln/>
        </p:spPr>
        <p:txBody>
          <a:bodyPr wrap="square" lIns="0" tIns="0" rIns="0" bIns="0" rtlCol="0" anchor="ctr"/>
          <a:lstStyle/>
          <a:p>
            <a:pPr marL="0" indent="0">
              <a:buNone/>
            </a:pPr>
            <a:r>
              <a:rPr lang="en-US" sz="1150" b="1" dirty="0">
                <a:solidFill>
                  <a:srgbClr val="4A2D8C"/>
                </a:solidFill>
                <a:latin typeface="Palatino Linotype" pitchFamily="34" charset="0"/>
                <a:ea typeface="Palatino Linotype" pitchFamily="34" charset="-122"/>
                <a:cs typeface="Palatino Linotype" pitchFamily="34" charset="-120"/>
              </a:rPr>
              <a:t>10 — lista „clasică”</a:t>
            </a:r>
            <a:endParaRPr lang="en-US" sz="1150" dirty="0"/>
          </a:p>
        </p:txBody>
      </p:sp>
      <p:sp>
        <p:nvSpPr>
          <p:cNvPr id="10" name="Shape 8"/>
          <p:cNvSpPr/>
          <p:nvPr/>
        </p:nvSpPr>
        <p:spPr>
          <a:xfrm>
            <a:off x="594360" y="3424428"/>
            <a:ext cx="10972800" cy="429768"/>
          </a:xfrm>
          <a:prstGeom prst="roundRect">
            <a:avLst>
              <a:gd name="adj" fmla="val 19149"/>
            </a:avLst>
          </a:prstGeom>
          <a:solidFill>
            <a:srgbClr val="F9F8F5"/>
          </a:solidFill>
          <a:ln w="12700">
            <a:solidFill>
              <a:srgbClr val="F9F8F5"/>
            </a:solidFill>
            <a:prstDash val="solid"/>
          </a:ln>
        </p:spPr>
        <p:txBody>
          <a:bodyPr/>
          <a:lstStyle/>
          <a:p>
            <a:endParaRPr lang="ro-RO"/>
          </a:p>
        </p:txBody>
      </p:sp>
      <p:sp>
        <p:nvSpPr>
          <p:cNvPr id="11" name="Text 9"/>
          <p:cNvSpPr/>
          <p:nvPr/>
        </p:nvSpPr>
        <p:spPr>
          <a:xfrm>
            <a:off x="914400" y="3424428"/>
            <a:ext cx="1737360" cy="429768"/>
          </a:xfrm>
          <a:prstGeom prst="rect">
            <a:avLst/>
          </a:prstGeom>
          <a:noFill/>
          <a:ln/>
        </p:spPr>
        <p:txBody>
          <a:bodyPr wrap="square" lIns="0" tIns="0" rIns="0" bIns="0" rtlCol="0" anchor="ctr"/>
          <a:lstStyle/>
          <a:p>
            <a:pPr marL="0" indent="0">
              <a:buNone/>
            </a:pPr>
            <a:r>
              <a:rPr lang="en-US" sz="1200" b="1" dirty="0">
                <a:solidFill>
                  <a:srgbClr val="8A6100"/>
                </a:solidFill>
                <a:latin typeface="Palatino Linotype" pitchFamily="34" charset="0"/>
                <a:ea typeface="Palatino Linotype" pitchFamily="34" charset="-122"/>
                <a:cs typeface="Palatino Linotype" pitchFamily="34" charset="-120"/>
              </a:rPr>
              <a:t>2006 / rev. 2011</a:t>
            </a:r>
            <a:endParaRPr lang="en-US" sz="1200" dirty="0"/>
          </a:p>
        </p:txBody>
      </p:sp>
      <p:sp>
        <p:nvSpPr>
          <p:cNvPr id="12" name="Text 10"/>
          <p:cNvSpPr/>
          <p:nvPr/>
        </p:nvSpPr>
        <p:spPr>
          <a:xfrm>
            <a:off x="2788920" y="3424428"/>
            <a:ext cx="6035040" cy="429768"/>
          </a:xfrm>
          <a:prstGeom prst="rect">
            <a:avLst/>
          </a:prstGeom>
          <a:noFill/>
          <a:ln/>
        </p:spPr>
        <p:txBody>
          <a:bodyPr wrap="square" lIns="0" tIns="0" rIns="0" bIns="0" rtlCol="0" anchor="ctr"/>
          <a:lstStyle/>
          <a:p>
            <a:pPr marL="0" indent="0">
              <a:buNone/>
            </a:pPr>
            <a:r>
              <a:rPr lang="en-US" sz="1150" dirty="0">
                <a:solidFill>
                  <a:srgbClr val="11121A"/>
                </a:solidFill>
                <a:latin typeface="Palatino Linotype" pitchFamily="34" charset="0"/>
                <a:ea typeface="Palatino Linotype" pitchFamily="34" charset="-122"/>
                <a:cs typeface="Palatino Linotype" pitchFamily="34" charset="-120"/>
              </a:rPr>
              <a:t>CDC, Principles of Epidemiology, ed. 3, Lecția 6</a:t>
            </a:r>
            <a:endParaRPr lang="en-US" sz="1150" dirty="0"/>
          </a:p>
        </p:txBody>
      </p:sp>
      <p:sp>
        <p:nvSpPr>
          <p:cNvPr id="13" name="Text 11"/>
          <p:cNvSpPr/>
          <p:nvPr/>
        </p:nvSpPr>
        <p:spPr>
          <a:xfrm>
            <a:off x="9006840" y="3424428"/>
            <a:ext cx="2286000" cy="429768"/>
          </a:xfrm>
          <a:prstGeom prst="rect">
            <a:avLst/>
          </a:prstGeom>
          <a:noFill/>
          <a:ln/>
        </p:spPr>
        <p:txBody>
          <a:bodyPr wrap="square" lIns="0" tIns="0" rIns="0" bIns="0" rtlCol="0" anchor="ctr"/>
          <a:lstStyle/>
          <a:p>
            <a:pPr marL="0" indent="0">
              <a:buNone/>
            </a:pPr>
            <a:r>
              <a:rPr lang="en-US" sz="1150" b="1" dirty="0">
                <a:solidFill>
                  <a:srgbClr val="8A6100"/>
                </a:solidFill>
                <a:latin typeface="Palatino Linotype" pitchFamily="34" charset="0"/>
                <a:ea typeface="Palatino Linotype" pitchFamily="34" charset="-122"/>
                <a:cs typeface="Palatino Linotype" pitchFamily="34" charset="-120"/>
              </a:rPr>
              <a:t>13</a:t>
            </a:r>
            <a:endParaRPr lang="en-US" sz="1150" dirty="0"/>
          </a:p>
        </p:txBody>
      </p:sp>
      <p:sp>
        <p:nvSpPr>
          <p:cNvPr id="14" name="Shape 12"/>
          <p:cNvSpPr/>
          <p:nvPr/>
        </p:nvSpPr>
        <p:spPr>
          <a:xfrm>
            <a:off x="594360" y="3922776"/>
            <a:ext cx="10972800" cy="429768"/>
          </a:xfrm>
          <a:prstGeom prst="roundRect">
            <a:avLst>
              <a:gd name="adj" fmla="val 19149"/>
            </a:avLst>
          </a:prstGeom>
          <a:solidFill>
            <a:srgbClr val="ECEAE4"/>
          </a:solidFill>
          <a:ln w="12700">
            <a:solidFill>
              <a:srgbClr val="ECEAE4"/>
            </a:solidFill>
            <a:prstDash val="solid"/>
          </a:ln>
        </p:spPr>
        <p:txBody>
          <a:bodyPr/>
          <a:lstStyle/>
          <a:p>
            <a:endParaRPr lang="ro-RO"/>
          </a:p>
        </p:txBody>
      </p:sp>
      <p:sp>
        <p:nvSpPr>
          <p:cNvPr id="15" name="Text 13"/>
          <p:cNvSpPr/>
          <p:nvPr/>
        </p:nvSpPr>
        <p:spPr>
          <a:xfrm>
            <a:off x="914400" y="3922776"/>
            <a:ext cx="1737360" cy="429768"/>
          </a:xfrm>
          <a:prstGeom prst="rect">
            <a:avLst/>
          </a:prstGeom>
          <a:noFill/>
          <a:ln/>
        </p:spPr>
        <p:txBody>
          <a:bodyPr wrap="square" lIns="0" tIns="0" rIns="0" bIns="0" rtlCol="0" anchor="ctr"/>
          <a:lstStyle/>
          <a:p>
            <a:pPr marL="0" indent="0">
              <a:buNone/>
            </a:pPr>
            <a:r>
              <a:rPr lang="en-US" sz="1200" b="1" dirty="0">
                <a:solidFill>
                  <a:srgbClr val="0E7C6B"/>
                </a:solidFill>
                <a:latin typeface="Palatino Linotype" pitchFamily="34" charset="0"/>
                <a:ea typeface="Palatino Linotype" pitchFamily="34" charset="-122"/>
                <a:cs typeface="Palatino Linotype" pitchFamily="34" charset="-120"/>
              </a:rPr>
              <a:t>2012</a:t>
            </a:r>
            <a:endParaRPr lang="en-US" sz="1200" dirty="0"/>
          </a:p>
        </p:txBody>
      </p:sp>
      <p:sp>
        <p:nvSpPr>
          <p:cNvPr id="16" name="Text 14"/>
          <p:cNvSpPr/>
          <p:nvPr/>
        </p:nvSpPr>
        <p:spPr>
          <a:xfrm>
            <a:off x="2788920" y="3922776"/>
            <a:ext cx="6035040" cy="429768"/>
          </a:xfrm>
          <a:prstGeom prst="rect">
            <a:avLst/>
          </a:prstGeom>
          <a:noFill/>
          <a:ln/>
        </p:spPr>
        <p:txBody>
          <a:bodyPr wrap="square" lIns="0" tIns="0" rIns="0" bIns="0" rtlCol="0" anchor="ctr"/>
          <a:lstStyle/>
          <a:p>
            <a:pPr marL="0" indent="0">
              <a:buNone/>
            </a:pPr>
            <a:r>
              <a:rPr lang="en-US" sz="1150" dirty="0">
                <a:solidFill>
                  <a:srgbClr val="11121A"/>
                </a:solidFill>
                <a:latin typeface="Palatino Linotype" pitchFamily="34" charset="0"/>
                <a:ea typeface="Palatino Linotype" pitchFamily="34" charset="-122"/>
                <a:cs typeface="Palatino Linotype" pitchFamily="34" charset="-120"/>
              </a:rPr>
              <a:t>adaptarea EPIET/EUPHEM pentru formare</a:t>
            </a:r>
            <a:endParaRPr lang="en-US" sz="1150" dirty="0"/>
          </a:p>
        </p:txBody>
      </p:sp>
      <p:sp>
        <p:nvSpPr>
          <p:cNvPr id="17" name="Text 15"/>
          <p:cNvSpPr/>
          <p:nvPr/>
        </p:nvSpPr>
        <p:spPr>
          <a:xfrm>
            <a:off x="9006840" y="3922776"/>
            <a:ext cx="2286000" cy="429768"/>
          </a:xfrm>
          <a:prstGeom prst="rect">
            <a:avLst/>
          </a:prstGeom>
          <a:noFill/>
          <a:ln/>
        </p:spPr>
        <p:txBody>
          <a:bodyPr wrap="square" lIns="0" tIns="0" rIns="0" bIns="0" rtlCol="0" anchor="ctr"/>
          <a:lstStyle/>
          <a:p>
            <a:pPr marL="0" indent="0">
              <a:buNone/>
            </a:pPr>
            <a:r>
              <a:rPr lang="en-US" sz="1150" b="1" dirty="0">
                <a:solidFill>
                  <a:srgbClr val="0E7C6B"/>
                </a:solidFill>
                <a:latin typeface="Palatino Linotype" pitchFamily="34" charset="0"/>
                <a:ea typeface="Palatino Linotype" pitchFamily="34" charset="-122"/>
                <a:cs typeface="Palatino Linotype" pitchFamily="34" charset="-120"/>
              </a:rPr>
              <a:t>10, restructurate</a:t>
            </a:r>
            <a:endParaRPr lang="en-US" sz="1150" dirty="0"/>
          </a:p>
        </p:txBody>
      </p:sp>
      <p:sp>
        <p:nvSpPr>
          <p:cNvPr id="18" name="Shape 16"/>
          <p:cNvSpPr/>
          <p:nvPr/>
        </p:nvSpPr>
        <p:spPr>
          <a:xfrm>
            <a:off x="594360" y="4421124"/>
            <a:ext cx="10972800" cy="429768"/>
          </a:xfrm>
          <a:prstGeom prst="roundRect">
            <a:avLst>
              <a:gd name="adj" fmla="val 19149"/>
            </a:avLst>
          </a:prstGeom>
          <a:solidFill>
            <a:srgbClr val="F9F8F5"/>
          </a:solidFill>
          <a:ln w="12700">
            <a:solidFill>
              <a:srgbClr val="F9F8F5"/>
            </a:solidFill>
            <a:prstDash val="solid"/>
          </a:ln>
        </p:spPr>
        <p:txBody>
          <a:bodyPr/>
          <a:lstStyle/>
          <a:p>
            <a:endParaRPr lang="ro-RO"/>
          </a:p>
        </p:txBody>
      </p:sp>
      <p:sp>
        <p:nvSpPr>
          <p:cNvPr id="19" name="Text 17"/>
          <p:cNvSpPr/>
          <p:nvPr/>
        </p:nvSpPr>
        <p:spPr>
          <a:xfrm>
            <a:off x="914400" y="4421124"/>
            <a:ext cx="1737360" cy="429768"/>
          </a:xfrm>
          <a:prstGeom prst="rect">
            <a:avLst/>
          </a:prstGeom>
          <a:noFill/>
          <a:ln/>
        </p:spPr>
        <p:txBody>
          <a:bodyPr wrap="square" lIns="0" tIns="0" rIns="0" bIns="0" rtlCol="0" anchor="ctr"/>
          <a:lstStyle/>
          <a:p>
            <a:pPr marL="0" indent="0">
              <a:buNone/>
            </a:pPr>
            <a:r>
              <a:rPr lang="en-US" sz="1200" b="1" dirty="0">
                <a:solidFill>
                  <a:srgbClr val="B02532"/>
                </a:solidFill>
                <a:latin typeface="Palatino Linotype" pitchFamily="34" charset="0"/>
                <a:ea typeface="Palatino Linotype" pitchFamily="34" charset="-122"/>
                <a:cs typeface="Palatino Linotype" pitchFamily="34" charset="-120"/>
              </a:rPr>
              <a:t>2014</a:t>
            </a:r>
            <a:endParaRPr lang="en-US" sz="1200" dirty="0"/>
          </a:p>
        </p:txBody>
      </p:sp>
      <p:sp>
        <p:nvSpPr>
          <p:cNvPr id="20" name="Text 18"/>
          <p:cNvSpPr/>
          <p:nvPr/>
        </p:nvSpPr>
        <p:spPr>
          <a:xfrm>
            <a:off x="2788920" y="4421124"/>
            <a:ext cx="6035040" cy="429768"/>
          </a:xfrm>
          <a:prstGeom prst="rect">
            <a:avLst/>
          </a:prstGeom>
          <a:noFill/>
          <a:ln/>
        </p:spPr>
        <p:txBody>
          <a:bodyPr wrap="square" lIns="0" tIns="0" rIns="0" bIns="0" rtlCol="0" anchor="ctr"/>
          <a:lstStyle/>
          <a:p>
            <a:pPr marL="0" indent="0">
              <a:buNone/>
            </a:pPr>
            <a:r>
              <a:rPr lang="en-US" sz="1150" dirty="0">
                <a:solidFill>
                  <a:srgbClr val="11121A"/>
                </a:solidFill>
                <a:latin typeface="Palatino Linotype" pitchFamily="34" charset="0"/>
                <a:ea typeface="Palatino Linotype" pitchFamily="34" charset="-122"/>
                <a:cs typeface="Palatino Linotype" pitchFamily="34" charset="-120"/>
              </a:rPr>
              <a:t>FEM Wiki, „10 steps, 10 pitfalls”</a:t>
            </a:r>
            <a:endParaRPr lang="en-US" sz="1150" dirty="0"/>
          </a:p>
        </p:txBody>
      </p:sp>
      <p:sp>
        <p:nvSpPr>
          <p:cNvPr id="21" name="Text 19"/>
          <p:cNvSpPr/>
          <p:nvPr/>
        </p:nvSpPr>
        <p:spPr>
          <a:xfrm>
            <a:off x="9006840" y="4421124"/>
            <a:ext cx="2286000" cy="429768"/>
          </a:xfrm>
          <a:prstGeom prst="rect">
            <a:avLst/>
          </a:prstGeom>
          <a:noFill/>
          <a:ln/>
        </p:spPr>
        <p:txBody>
          <a:bodyPr wrap="square" lIns="0" tIns="0" rIns="0" bIns="0" rtlCol="0" anchor="ctr"/>
          <a:lstStyle/>
          <a:p>
            <a:pPr marL="0" indent="0">
              <a:buNone/>
            </a:pPr>
            <a:r>
              <a:rPr lang="en-US" sz="1150" b="1" dirty="0">
                <a:solidFill>
                  <a:srgbClr val="B02532"/>
                </a:solidFill>
                <a:latin typeface="Palatino Linotype" pitchFamily="34" charset="0"/>
                <a:ea typeface="Palatino Linotype" pitchFamily="34" charset="-122"/>
                <a:cs typeface="Palatino Linotype" pitchFamily="34" charset="-120"/>
              </a:rPr>
              <a:t>10, cu capcane</a:t>
            </a:r>
            <a:endParaRPr lang="en-US" sz="1150" dirty="0"/>
          </a:p>
        </p:txBody>
      </p:sp>
      <p:sp>
        <p:nvSpPr>
          <p:cNvPr id="22" name="Shape 20"/>
          <p:cNvSpPr/>
          <p:nvPr/>
        </p:nvSpPr>
        <p:spPr>
          <a:xfrm>
            <a:off x="594360" y="4919472"/>
            <a:ext cx="10972800" cy="429768"/>
          </a:xfrm>
          <a:prstGeom prst="roundRect">
            <a:avLst>
              <a:gd name="adj" fmla="val 19149"/>
            </a:avLst>
          </a:prstGeom>
          <a:solidFill>
            <a:srgbClr val="ECEAE4"/>
          </a:solidFill>
          <a:ln w="12700">
            <a:solidFill>
              <a:srgbClr val="ECEAE4"/>
            </a:solidFill>
            <a:prstDash val="solid"/>
          </a:ln>
        </p:spPr>
        <p:txBody>
          <a:bodyPr/>
          <a:lstStyle/>
          <a:p>
            <a:endParaRPr lang="ro-RO"/>
          </a:p>
        </p:txBody>
      </p:sp>
      <p:sp>
        <p:nvSpPr>
          <p:cNvPr id="23" name="Text 21"/>
          <p:cNvSpPr/>
          <p:nvPr/>
        </p:nvSpPr>
        <p:spPr>
          <a:xfrm>
            <a:off x="914400" y="4919472"/>
            <a:ext cx="1737360" cy="429768"/>
          </a:xfrm>
          <a:prstGeom prst="rect">
            <a:avLst/>
          </a:prstGeom>
          <a:noFill/>
          <a:ln/>
        </p:spPr>
        <p:txBody>
          <a:bodyPr wrap="square" lIns="0" tIns="0" rIns="0" bIns="0" rtlCol="0" anchor="ctr"/>
          <a:lstStyle/>
          <a:p>
            <a:pPr marL="0" indent="0">
              <a:buNone/>
            </a:pPr>
            <a:r>
              <a:rPr lang="en-US" sz="1200" b="1" dirty="0">
                <a:solidFill>
                  <a:srgbClr val="585A64"/>
                </a:solidFill>
                <a:latin typeface="Palatino Linotype" pitchFamily="34" charset="0"/>
                <a:ea typeface="Palatino Linotype" pitchFamily="34" charset="-122"/>
                <a:cs typeface="Palatino Linotype" pitchFamily="34" charset="-120"/>
              </a:rPr>
              <a:t>2019</a:t>
            </a:r>
            <a:endParaRPr lang="en-US" sz="1200" dirty="0"/>
          </a:p>
        </p:txBody>
      </p:sp>
      <p:sp>
        <p:nvSpPr>
          <p:cNvPr id="24" name="Text 22"/>
          <p:cNvSpPr/>
          <p:nvPr/>
        </p:nvSpPr>
        <p:spPr>
          <a:xfrm>
            <a:off x="2788920" y="4919472"/>
            <a:ext cx="6035040" cy="429768"/>
          </a:xfrm>
          <a:prstGeom prst="rect">
            <a:avLst/>
          </a:prstGeom>
          <a:noFill/>
          <a:ln/>
        </p:spPr>
        <p:txBody>
          <a:bodyPr wrap="square" lIns="0" tIns="0" rIns="0" bIns="0" rtlCol="0" anchor="ctr"/>
          <a:lstStyle/>
          <a:p>
            <a:pPr marL="0" indent="0">
              <a:buNone/>
            </a:pPr>
            <a:r>
              <a:rPr lang="en-US" sz="1150" dirty="0">
                <a:solidFill>
                  <a:srgbClr val="11121A"/>
                </a:solidFill>
                <a:latin typeface="Palatino Linotype" pitchFamily="34" charset="0"/>
                <a:ea typeface="Palatino Linotype" pitchFamily="34" charset="-122"/>
                <a:cs typeface="Palatino Linotype" pitchFamily="34" charset="-120"/>
              </a:rPr>
              <a:t>The CDC Field Epidemiology Manual — pentru CDC, a patra ediție a lui Gregg</a:t>
            </a:r>
            <a:endParaRPr lang="en-US" sz="1150" dirty="0"/>
          </a:p>
        </p:txBody>
      </p:sp>
      <p:sp>
        <p:nvSpPr>
          <p:cNvPr id="25" name="Text 23"/>
          <p:cNvSpPr/>
          <p:nvPr/>
        </p:nvSpPr>
        <p:spPr>
          <a:xfrm>
            <a:off x="9006840" y="4919472"/>
            <a:ext cx="2286000" cy="429768"/>
          </a:xfrm>
          <a:prstGeom prst="rect">
            <a:avLst/>
          </a:prstGeom>
          <a:noFill/>
          <a:ln/>
        </p:spPr>
        <p:txBody>
          <a:bodyPr wrap="square" lIns="0" tIns="0" rIns="0" bIns="0" rtlCol="0" anchor="ctr"/>
          <a:lstStyle/>
          <a:p>
            <a:pPr marL="0" indent="0">
              <a:buNone/>
            </a:pPr>
            <a:r>
              <a:rPr lang="en-US" sz="1150" b="1" dirty="0">
                <a:solidFill>
                  <a:srgbClr val="585A64"/>
                </a:solidFill>
                <a:latin typeface="Palatino Linotype" pitchFamily="34" charset="0"/>
                <a:ea typeface="Palatino Linotype" pitchFamily="34" charset="-122"/>
                <a:cs typeface="Palatino Linotype" pitchFamily="34" charset="-120"/>
              </a:rPr>
              <a:t>10</a:t>
            </a:r>
            <a:endParaRPr lang="en-US" sz="1150" dirty="0"/>
          </a:p>
        </p:txBody>
      </p:sp>
      <p:sp>
        <p:nvSpPr>
          <p:cNvPr id="26" name="Shape 24"/>
          <p:cNvSpPr/>
          <p:nvPr/>
        </p:nvSpPr>
        <p:spPr>
          <a:xfrm>
            <a:off x="594360" y="5486400"/>
            <a:ext cx="10972800" cy="658368"/>
          </a:xfrm>
          <a:prstGeom prst="roundRect">
            <a:avLst>
              <a:gd name="adj" fmla="val 12500"/>
            </a:avLst>
          </a:prstGeom>
          <a:solidFill>
            <a:srgbClr val="B02532"/>
          </a:solidFill>
          <a:ln w="12700">
            <a:solidFill>
              <a:srgbClr val="B02532"/>
            </a:solidFill>
            <a:prstDash val="solid"/>
          </a:ln>
        </p:spPr>
        <p:txBody>
          <a:bodyPr/>
          <a:lstStyle/>
          <a:p>
            <a:endParaRPr lang="ro-RO"/>
          </a:p>
        </p:txBody>
      </p:sp>
      <p:sp>
        <p:nvSpPr>
          <p:cNvPr id="27" name="Text 25"/>
          <p:cNvSpPr/>
          <p:nvPr/>
        </p:nvSpPr>
        <p:spPr>
          <a:xfrm>
            <a:off x="960120" y="5486400"/>
            <a:ext cx="10241280" cy="658368"/>
          </a:xfrm>
          <a:prstGeom prst="rect">
            <a:avLst/>
          </a:prstGeom>
          <a:noFill/>
          <a:ln/>
        </p:spPr>
        <p:txBody>
          <a:bodyPr wrap="square" lIns="0" tIns="0" rIns="0" bIns="0" rtlCol="0" anchor="ctr"/>
          <a:lstStyle/>
          <a:p>
            <a:pPr marL="0" indent="0">
              <a:buNone/>
            </a:pPr>
            <a:r>
              <a:rPr lang="en-US" sz="1250" b="1" dirty="0">
                <a:solidFill>
                  <a:srgbClr val="FFFFFF"/>
                </a:solidFill>
                <a:latin typeface="Palatino Linotype" pitchFamily="34" charset="0"/>
                <a:ea typeface="Palatino Linotype" pitchFamily="34" charset="-122"/>
                <a:cs typeface="Palatino Linotype" pitchFamily="34" charset="-120"/>
              </a:rPr>
              <a:t>Documentul-sursă avertizează el însuși: „The lists of steps for outbreak investigations must not be taken to literally.” Numărul diferă între liste și nu se cere la evaluare. Contează ordinea logică: dacă formulați ipoteza înaintea definiției de caz, veți găsi exact cazurile care v-o confirmă.</a:t>
            </a:r>
            <a:endParaRPr lang="en-US" sz="1250" dirty="0"/>
          </a:p>
        </p:txBody>
      </p:sp>
      <p:sp>
        <p:nvSpPr>
          <p:cNvPr id="28" name="Text 26"/>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585A64"/>
                </a:solidFill>
                <a:latin typeface="Palatino Linotype" pitchFamily="34" charset="0"/>
                <a:ea typeface="Palatino Linotype" pitchFamily="34" charset="-122"/>
                <a:cs typeface="Palatino Linotype" pitchFamily="34" charset="-120"/>
              </a:rPr>
              <a:t>Surse: FEM Wiki (găzduit de ECDC), export PDF, pp. 34–35, 116. CDC. Principles of Epidemiology, ed. 3, Lecția 6, Tabelul 6.2. Gregg MB (ed.), ed. a 3-a, OUP, 2008, ISBN 9780195313802.</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TREI FOCARE, TREI LECȚII</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FFFFFF"/>
                </a:solidFill>
                <a:latin typeface="Palatino Linotype" pitchFamily="34" charset="0"/>
                <a:ea typeface="Palatino Linotype" pitchFamily="34" charset="-122"/>
                <a:cs typeface="Palatino Linotype" pitchFamily="34" charset="-120"/>
              </a:rPr>
              <a:t>Ce a schimbat fiecare</a:t>
            </a:r>
            <a:endParaRPr lang="en-US" sz="3100" dirty="0"/>
          </a:p>
        </p:txBody>
      </p:sp>
      <p:sp>
        <p:nvSpPr>
          <p:cNvPr id="4" name="Shape 2"/>
          <p:cNvSpPr/>
          <p:nvPr/>
        </p:nvSpPr>
        <p:spPr>
          <a:xfrm>
            <a:off x="594360" y="1700784"/>
            <a:ext cx="10972800" cy="1188720"/>
          </a:xfrm>
          <a:prstGeom prst="roundRect">
            <a:avLst>
              <a:gd name="adj" fmla="val 6923"/>
            </a:avLst>
          </a:prstGeom>
          <a:solidFill>
            <a:srgbClr val="1D1F2B"/>
          </a:solidFill>
          <a:ln w="12700">
            <a:solidFill>
              <a:srgbClr val="1D1F2B"/>
            </a:solidFill>
            <a:prstDash val="solid"/>
          </a:ln>
        </p:spPr>
        <p:txBody>
          <a:bodyPr/>
          <a:lstStyle/>
          <a:p>
            <a:endParaRPr lang="ro-RO"/>
          </a:p>
        </p:txBody>
      </p:sp>
      <p:sp>
        <p:nvSpPr>
          <p:cNvPr id="5" name="Shape 3"/>
          <p:cNvSpPr/>
          <p:nvPr/>
        </p:nvSpPr>
        <p:spPr>
          <a:xfrm>
            <a:off x="914400" y="1828800"/>
            <a:ext cx="2377440" cy="329184"/>
          </a:xfrm>
          <a:prstGeom prst="roundRect">
            <a:avLst>
              <a:gd name="adj" fmla="val 50000"/>
            </a:avLst>
          </a:prstGeom>
          <a:solidFill>
            <a:srgbClr val="FF4757"/>
          </a:solidFill>
          <a:ln w="12700">
            <a:solidFill>
              <a:srgbClr val="FF4757"/>
            </a:solidFill>
            <a:prstDash val="solid"/>
          </a:ln>
        </p:spPr>
        <p:txBody>
          <a:bodyPr/>
          <a:lstStyle/>
          <a:p>
            <a:endParaRPr lang="ro-RO"/>
          </a:p>
        </p:txBody>
      </p:sp>
      <p:sp>
        <p:nvSpPr>
          <p:cNvPr id="6" name="Text 4"/>
          <p:cNvSpPr/>
          <p:nvPr/>
        </p:nvSpPr>
        <p:spPr>
          <a:xfrm>
            <a:off x="914400" y="1828800"/>
            <a:ext cx="2377440" cy="329184"/>
          </a:xfrm>
          <a:prstGeom prst="rect">
            <a:avLst/>
          </a:prstGeom>
          <a:noFill/>
          <a:ln/>
        </p:spPr>
        <p:txBody>
          <a:bodyPr wrap="square" lIns="0" tIns="0" rIns="0" bIns="0" rtlCol="0" anchor="ctr"/>
          <a:lstStyle/>
          <a:p>
            <a:pPr marL="0" indent="0" algn="ctr">
              <a:buNone/>
            </a:pPr>
            <a:r>
              <a:rPr lang="en-US" sz="1050" b="1" dirty="0">
                <a:solidFill>
                  <a:srgbClr val="11121A"/>
                </a:solidFill>
                <a:latin typeface="Palatino Linotype" pitchFamily="34" charset="0"/>
                <a:ea typeface="Palatino Linotype" pitchFamily="34" charset="-122"/>
                <a:cs typeface="Palatino Linotype" pitchFamily="34" charset="-120"/>
              </a:rPr>
              <a:t>E. COLI O157:H7</a:t>
            </a:r>
            <a:endParaRPr lang="en-US" sz="1050" dirty="0"/>
          </a:p>
        </p:txBody>
      </p:sp>
      <p:sp>
        <p:nvSpPr>
          <p:cNvPr id="7" name="Text 5"/>
          <p:cNvSpPr/>
          <p:nvPr/>
        </p:nvSpPr>
        <p:spPr>
          <a:xfrm>
            <a:off x="914400" y="2286000"/>
            <a:ext cx="2377440" cy="365760"/>
          </a:xfrm>
          <a:prstGeom prst="rect">
            <a:avLst/>
          </a:prstGeom>
          <a:noFill/>
          <a:ln/>
        </p:spPr>
        <p:txBody>
          <a:bodyPr wrap="square" lIns="0" tIns="0" rIns="0" bIns="0" rtlCol="0" anchor="ctr"/>
          <a:lstStyle/>
          <a:p>
            <a:pPr marL="0" indent="0" algn="ctr">
              <a:buNone/>
            </a:pPr>
            <a:r>
              <a:rPr lang="en-US" sz="1300" b="1" dirty="0">
                <a:solidFill>
                  <a:srgbClr val="959BB0"/>
                </a:solidFill>
                <a:latin typeface="Palatino Linotype" pitchFamily="34" charset="0"/>
                <a:ea typeface="Palatino Linotype" pitchFamily="34" charset="-122"/>
                <a:cs typeface="Palatino Linotype" pitchFamily="34" charset="-120"/>
              </a:rPr>
              <a:t>1992–1993</a:t>
            </a:r>
            <a:endParaRPr lang="en-US" sz="1300" dirty="0"/>
          </a:p>
        </p:txBody>
      </p:sp>
      <p:sp>
        <p:nvSpPr>
          <p:cNvPr id="8" name="Text 6"/>
          <p:cNvSpPr/>
          <p:nvPr/>
        </p:nvSpPr>
        <p:spPr>
          <a:xfrm>
            <a:off x="3566160" y="1810512"/>
            <a:ext cx="7680960" cy="548640"/>
          </a:xfrm>
          <a:prstGeom prst="rect">
            <a:avLst/>
          </a:prstGeom>
          <a:noFill/>
          <a:ln/>
        </p:spPr>
        <p:txBody>
          <a:bodyPr wrap="square" lIns="0" tIns="0" rIns="0" bIns="0" rtlCol="0" anchor="ctr"/>
          <a:lstStyle/>
          <a:p>
            <a:pPr marL="0" indent="0">
              <a:buNone/>
            </a:pPr>
            <a:r>
              <a:rPr lang="en-US" sz="1200" dirty="0">
                <a:solidFill>
                  <a:srgbClr val="FFFFFF"/>
                </a:solidFill>
                <a:latin typeface="Palatino Linotype" pitchFamily="34" charset="0"/>
                <a:ea typeface="Palatino Linotype" pitchFamily="34" charset="-122"/>
                <a:cs typeface="Palatino Linotype" pitchFamily="34" charset="-120"/>
              </a:rPr>
              <a:t>&gt; 500 infecții confirmate de laborator · 4 decese · în Washington: 477 de cazuri, 144 spitalizări, 30 SHU, 3 decese, vârstă mediană 7,5 ani</a:t>
            </a:r>
            <a:endParaRPr lang="en-US" sz="1200" dirty="0"/>
          </a:p>
        </p:txBody>
      </p:sp>
      <p:sp>
        <p:nvSpPr>
          <p:cNvPr id="9" name="Text 7"/>
          <p:cNvSpPr/>
          <p:nvPr/>
        </p:nvSpPr>
        <p:spPr>
          <a:xfrm>
            <a:off x="3566160" y="2395728"/>
            <a:ext cx="7680960" cy="438912"/>
          </a:xfrm>
          <a:prstGeom prst="rect">
            <a:avLst/>
          </a:prstGeom>
          <a:noFill/>
          <a:ln/>
        </p:spPr>
        <p:txBody>
          <a:bodyPr wrap="square" lIns="0" tIns="0" rIns="0" bIns="0" rtlCol="0" anchor="ctr"/>
          <a:lstStyle/>
          <a:p>
            <a:pPr marL="0" indent="0">
              <a:buNone/>
            </a:pPr>
            <a:r>
              <a:rPr lang="en-US" sz="1150" b="1" dirty="0">
                <a:solidFill>
                  <a:srgbClr val="FF4757"/>
                </a:solidFill>
                <a:latin typeface="Palatino Linotype" pitchFamily="34" charset="0"/>
                <a:ea typeface="Palatino Linotype" pitchFamily="34" charset="-122"/>
                <a:cs typeface="Palatino Linotype" pitchFamily="34" charset="-120"/>
              </a:rPr>
              <a:t>1994: FSIS (USDA) declară „adulterată” carnea tocată crudă contaminată cu O157:H7, dacă nu este prelucrată ulterior pentru distrugerea bacteriei</a:t>
            </a:r>
            <a:endParaRPr lang="en-US" sz="1150" dirty="0"/>
          </a:p>
        </p:txBody>
      </p:sp>
      <p:sp>
        <p:nvSpPr>
          <p:cNvPr id="10" name="Shape 8"/>
          <p:cNvSpPr/>
          <p:nvPr/>
        </p:nvSpPr>
        <p:spPr>
          <a:xfrm>
            <a:off x="594360" y="3017520"/>
            <a:ext cx="10972800" cy="1188720"/>
          </a:xfrm>
          <a:prstGeom prst="roundRect">
            <a:avLst>
              <a:gd name="adj" fmla="val 6923"/>
            </a:avLst>
          </a:prstGeom>
          <a:solidFill>
            <a:srgbClr val="272A38"/>
          </a:solidFill>
          <a:ln w="12700">
            <a:solidFill>
              <a:srgbClr val="272A38"/>
            </a:solidFill>
            <a:prstDash val="solid"/>
          </a:ln>
        </p:spPr>
        <p:txBody>
          <a:bodyPr/>
          <a:lstStyle/>
          <a:p>
            <a:endParaRPr lang="ro-RO"/>
          </a:p>
        </p:txBody>
      </p:sp>
      <p:sp>
        <p:nvSpPr>
          <p:cNvPr id="11" name="Shape 9"/>
          <p:cNvSpPr/>
          <p:nvPr/>
        </p:nvSpPr>
        <p:spPr>
          <a:xfrm>
            <a:off x="914400" y="3145536"/>
            <a:ext cx="2377440" cy="329184"/>
          </a:xfrm>
          <a:prstGeom prst="roundRect">
            <a:avLst>
              <a:gd name="adj" fmla="val 50000"/>
            </a:avLst>
          </a:prstGeom>
          <a:solidFill>
            <a:srgbClr val="FFC24B"/>
          </a:solidFill>
          <a:ln w="12700">
            <a:solidFill>
              <a:srgbClr val="FFC24B"/>
            </a:solidFill>
            <a:prstDash val="solid"/>
          </a:ln>
        </p:spPr>
        <p:txBody>
          <a:bodyPr/>
          <a:lstStyle/>
          <a:p>
            <a:endParaRPr lang="ro-RO"/>
          </a:p>
        </p:txBody>
      </p:sp>
      <p:sp>
        <p:nvSpPr>
          <p:cNvPr id="12" name="Text 10"/>
          <p:cNvSpPr/>
          <p:nvPr/>
        </p:nvSpPr>
        <p:spPr>
          <a:xfrm>
            <a:off x="914400" y="3145536"/>
            <a:ext cx="2377440" cy="329184"/>
          </a:xfrm>
          <a:prstGeom prst="rect">
            <a:avLst/>
          </a:prstGeom>
          <a:noFill/>
          <a:ln/>
        </p:spPr>
        <p:txBody>
          <a:bodyPr wrap="square" lIns="0" tIns="0" rIns="0" bIns="0" rtlCol="0" anchor="ctr"/>
          <a:lstStyle/>
          <a:p>
            <a:pPr marL="0" indent="0" algn="ctr">
              <a:buNone/>
            </a:pPr>
            <a:r>
              <a:rPr lang="en-US" sz="1050" b="1" dirty="0">
                <a:solidFill>
                  <a:srgbClr val="11121A"/>
                </a:solidFill>
                <a:latin typeface="Palatino Linotype" pitchFamily="34" charset="0"/>
                <a:ea typeface="Palatino Linotype" pitchFamily="34" charset="-122"/>
                <a:cs typeface="Palatino Linotype" pitchFamily="34" charset="-120"/>
              </a:rPr>
              <a:t>SARS</a:t>
            </a:r>
            <a:endParaRPr lang="en-US" sz="1050" dirty="0"/>
          </a:p>
        </p:txBody>
      </p:sp>
      <p:sp>
        <p:nvSpPr>
          <p:cNvPr id="13" name="Text 11"/>
          <p:cNvSpPr/>
          <p:nvPr/>
        </p:nvSpPr>
        <p:spPr>
          <a:xfrm>
            <a:off x="914400" y="3602736"/>
            <a:ext cx="2377440" cy="365760"/>
          </a:xfrm>
          <a:prstGeom prst="rect">
            <a:avLst/>
          </a:prstGeom>
          <a:noFill/>
          <a:ln/>
        </p:spPr>
        <p:txBody>
          <a:bodyPr wrap="square" lIns="0" tIns="0" rIns="0" bIns="0" rtlCol="0" anchor="ctr"/>
          <a:lstStyle/>
          <a:p>
            <a:pPr marL="0" indent="0" algn="ctr">
              <a:buNone/>
            </a:pPr>
            <a:r>
              <a:rPr lang="en-US" sz="1300" b="1" dirty="0">
                <a:solidFill>
                  <a:srgbClr val="959BB0"/>
                </a:solidFill>
                <a:latin typeface="Palatino Linotype" pitchFamily="34" charset="0"/>
                <a:ea typeface="Palatino Linotype" pitchFamily="34" charset="-122"/>
                <a:cs typeface="Palatino Linotype" pitchFamily="34" charset="-120"/>
              </a:rPr>
              <a:t>2002–2003</a:t>
            </a:r>
            <a:endParaRPr lang="en-US" sz="1300" dirty="0"/>
          </a:p>
        </p:txBody>
      </p:sp>
      <p:sp>
        <p:nvSpPr>
          <p:cNvPr id="14" name="Text 12"/>
          <p:cNvSpPr/>
          <p:nvPr/>
        </p:nvSpPr>
        <p:spPr>
          <a:xfrm>
            <a:off x="3566160" y="3127248"/>
            <a:ext cx="7680960" cy="548640"/>
          </a:xfrm>
          <a:prstGeom prst="rect">
            <a:avLst/>
          </a:prstGeom>
          <a:noFill/>
          <a:ln/>
        </p:spPr>
        <p:txBody>
          <a:bodyPr wrap="square" lIns="0" tIns="0" rIns="0" bIns="0" rtlCol="0" anchor="ctr"/>
          <a:lstStyle/>
          <a:p>
            <a:pPr marL="0" indent="0">
              <a:buNone/>
            </a:pPr>
            <a:r>
              <a:rPr lang="en-US" sz="1200" dirty="0">
                <a:solidFill>
                  <a:srgbClr val="FFFFFF"/>
                </a:solidFill>
                <a:latin typeface="Palatino Linotype" pitchFamily="34" charset="0"/>
                <a:ea typeface="Palatino Linotype" pitchFamily="34" charset="-122"/>
                <a:cs typeface="Palatino Linotype" pitchFamily="34" charset="-120"/>
              </a:rPr>
              <a:t>8 096 cazuri probabile · 774 decese · letalitate 9,6% · 1 706 lucrători sanitari (21%) · România: 1 caz importat</a:t>
            </a:r>
            <a:endParaRPr lang="en-US" sz="1200" dirty="0"/>
          </a:p>
        </p:txBody>
      </p:sp>
      <p:sp>
        <p:nvSpPr>
          <p:cNvPr id="15" name="Text 13"/>
          <p:cNvSpPr/>
          <p:nvPr/>
        </p:nvSpPr>
        <p:spPr>
          <a:xfrm>
            <a:off x="3566160" y="3712464"/>
            <a:ext cx="7680960" cy="438912"/>
          </a:xfrm>
          <a:prstGeom prst="rect">
            <a:avLst/>
          </a:prstGeom>
          <a:noFill/>
          <a:ln/>
        </p:spPr>
        <p:txBody>
          <a:bodyPr wrap="square" lIns="0" tIns="0" rIns="0" bIns="0" rtlCol="0" anchor="ctr"/>
          <a:lstStyle/>
          <a:p>
            <a:pPr marL="0" indent="0">
              <a:buNone/>
            </a:pPr>
            <a:r>
              <a:rPr lang="en-US" sz="1150" b="1" dirty="0">
                <a:solidFill>
                  <a:srgbClr val="FFC24B"/>
                </a:solidFill>
                <a:latin typeface="Palatino Linotype" pitchFamily="34" charset="0"/>
                <a:ea typeface="Palatino Linotype" pitchFamily="34" charset="-122"/>
                <a:cs typeface="Palatino Linotype" pitchFamily="34" charset="-120"/>
              </a:rPr>
              <a:t>ProMED-mail semnalează pe 10 februarie; OMS alertează pe 12 martie</a:t>
            </a:r>
            <a:endParaRPr lang="en-US" sz="1150" dirty="0"/>
          </a:p>
        </p:txBody>
      </p:sp>
      <p:sp>
        <p:nvSpPr>
          <p:cNvPr id="16" name="Shape 14"/>
          <p:cNvSpPr/>
          <p:nvPr/>
        </p:nvSpPr>
        <p:spPr>
          <a:xfrm>
            <a:off x="594360" y="4334256"/>
            <a:ext cx="10972800" cy="1188720"/>
          </a:xfrm>
          <a:prstGeom prst="roundRect">
            <a:avLst>
              <a:gd name="adj" fmla="val 6923"/>
            </a:avLst>
          </a:prstGeom>
          <a:solidFill>
            <a:srgbClr val="1D1F2B"/>
          </a:solidFill>
          <a:ln w="12700">
            <a:solidFill>
              <a:srgbClr val="1D1F2B"/>
            </a:solidFill>
            <a:prstDash val="solid"/>
          </a:ln>
        </p:spPr>
        <p:txBody>
          <a:bodyPr/>
          <a:lstStyle/>
          <a:p>
            <a:endParaRPr lang="ro-RO"/>
          </a:p>
        </p:txBody>
      </p:sp>
      <p:sp>
        <p:nvSpPr>
          <p:cNvPr id="17" name="Shape 15"/>
          <p:cNvSpPr/>
          <p:nvPr/>
        </p:nvSpPr>
        <p:spPr>
          <a:xfrm>
            <a:off x="914400" y="4462272"/>
            <a:ext cx="2377440" cy="329184"/>
          </a:xfrm>
          <a:prstGeom prst="roundRect">
            <a:avLst>
              <a:gd name="adj" fmla="val 50000"/>
            </a:avLst>
          </a:prstGeom>
          <a:solidFill>
            <a:srgbClr val="27D3BE"/>
          </a:solidFill>
          <a:ln w="12700">
            <a:solidFill>
              <a:srgbClr val="27D3BE"/>
            </a:solidFill>
            <a:prstDash val="solid"/>
          </a:ln>
        </p:spPr>
        <p:txBody>
          <a:bodyPr/>
          <a:lstStyle/>
          <a:p>
            <a:endParaRPr lang="ro-RO"/>
          </a:p>
        </p:txBody>
      </p:sp>
      <p:sp>
        <p:nvSpPr>
          <p:cNvPr id="18" name="Text 16"/>
          <p:cNvSpPr/>
          <p:nvPr/>
        </p:nvSpPr>
        <p:spPr>
          <a:xfrm>
            <a:off x="914400" y="4462272"/>
            <a:ext cx="2377440" cy="329184"/>
          </a:xfrm>
          <a:prstGeom prst="rect">
            <a:avLst/>
          </a:prstGeom>
          <a:noFill/>
          <a:ln/>
        </p:spPr>
        <p:txBody>
          <a:bodyPr wrap="square" lIns="0" tIns="0" rIns="0" bIns="0" rtlCol="0" anchor="ctr"/>
          <a:lstStyle/>
          <a:p>
            <a:pPr marL="0" indent="0" algn="ctr">
              <a:buNone/>
            </a:pPr>
            <a:r>
              <a:rPr lang="en-US" sz="1050" b="1" dirty="0">
                <a:solidFill>
                  <a:srgbClr val="11121A"/>
                </a:solidFill>
                <a:latin typeface="Palatino Linotype" pitchFamily="34" charset="0"/>
                <a:ea typeface="Palatino Linotype" pitchFamily="34" charset="-122"/>
                <a:cs typeface="Palatino Linotype" pitchFamily="34" charset="-120"/>
              </a:rPr>
              <a:t>EBOLA</a:t>
            </a:r>
            <a:endParaRPr lang="en-US" sz="1050" dirty="0"/>
          </a:p>
        </p:txBody>
      </p:sp>
      <p:sp>
        <p:nvSpPr>
          <p:cNvPr id="19" name="Text 17"/>
          <p:cNvSpPr/>
          <p:nvPr/>
        </p:nvSpPr>
        <p:spPr>
          <a:xfrm>
            <a:off x="914400" y="4919472"/>
            <a:ext cx="2377440" cy="365760"/>
          </a:xfrm>
          <a:prstGeom prst="rect">
            <a:avLst/>
          </a:prstGeom>
          <a:noFill/>
          <a:ln/>
        </p:spPr>
        <p:txBody>
          <a:bodyPr wrap="square" lIns="0" tIns="0" rIns="0" bIns="0" rtlCol="0" anchor="ctr"/>
          <a:lstStyle/>
          <a:p>
            <a:pPr marL="0" indent="0" algn="ctr">
              <a:buNone/>
            </a:pPr>
            <a:r>
              <a:rPr lang="en-US" sz="1300" b="1" dirty="0">
                <a:solidFill>
                  <a:srgbClr val="959BB0"/>
                </a:solidFill>
                <a:latin typeface="Palatino Linotype" pitchFamily="34" charset="0"/>
                <a:ea typeface="Palatino Linotype" pitchFamily="34" charset="-122"/>
                <a:cs typeface="Palatino Linotype" pitchFamily="34" charset="-120"/>
              </a:rPr>
              <a:t>2013–2016</a:t>
            </a:r>
            <a:endParaRPr lang="en-US" sz="1300" dirty="0"/>
          </a:p>
        </p:txBody>
      </p:sp>
      <p:sp>
        <p:nvSpPr>
          <p:cNvPr id="20" name="Text 18"/>
          <p:cNvSpPr/>
          <p:nvPr/>
        </p:nvSpPr>
        <p:spPr>
          <a:xfrm>
            <a:off x="3566160" y="4443984"/>
            <a:ext cx="7680960" cy="548640"/>
          </a:xfrm>
          <a:prstGeom prst="rect">
            <a:avLst/>
          </a:prstGeom>
          <a:noFill/>
          <a:ln/>
        </p:spPr>
        <p:txBody>
          <a:bodyPr wrap="square" lIns="0" tIns="0" rIns="0" bIns="0" rtlCol="0" anchor="ctr"/>
          <a:lstStyle/>
          <a:p>
            <a:pPr marL="0" indent="0">
              <a:buNone/>
            </a:pPr>
            <a:r>
              <a:rPr lang="en-US" sz="1200" dirty="0">
                <a:solidFill>
                  <a:srgbClr val="FFFFFF"/>
                </a:solidFill>
                <a:latin typeface="Palatino Linotype" pitchFamily="34" charset="0"/>
                <a:ea typeface="Palatino Linotype" pitchFamily="34" charset="-122"/>
                <a:cs typeface="Palatino Linotype" pitchFamily="34" charset="-120"/>
              </a:rPr>
              <a:t>&gt; 28 600 infectați · 11 325 decese · letalitate brută ~39,6% (calcul propriu; numărul infectaților este un prag inferior, deci cifra e orientativă)</a:t>
            </a:r>
            <a:endParaRPr lang="en-US" sz="1200" dirty="0"/>
          </a:p>
        </p:txBody>
      </p:sp>
      <p:sp>
        <p:nvSpPr>
          <p:cNvPr id="21" name="Text 19"/>
          <p:cNvSpPr/>
          <p:nvPr/>
        </p:nvSpPr>
        <p:spPr>
          <a:xfrm>
            <a:off x="3566160" y="5029200"/>
            <a:ext cx="7680960" cy="438912"/>
          </a:xfrm>
          <a:prstGeom prst="rect">
            <a:avLst/>
          </a:prstGeom>
          <a:noFill/>
          <a:ln/>
        </p:spPr>
        <p:txBody>
          <a:bodyPr wrap="square" lIns="0" tIns="0" rIns="0" bIns="0" rtlCol="0" anchor="ctr"/>
          <a:lstStyle/>
          <a:p>
            <a:pPr marL="0" indent="0">
              <a:buNone/>
            </a:pPr>
            <a:r>
              <a:rPr lang="en-US" sz="1150" b="1" dirty="0">
                <a:solidFill>
                  <a:srgbClr val="27D3BE"/>
                </a:solidFill>
                <a:latin typeface="Palatino Linotype" pitchFamily="34" charset="0"/>
                <a:ea typeface="Palatino Linotype" pitchFamily="34" charset="-122"/>
                <a:cs typeface="Palatino Linotype" pitchFamily="34" charset="-120"/>
              </a:rPr>
              <a:t>Debutul cazului index: 26 decembrie 2013 → anunțul public al OMS: 23 martie 2014. Aproape trei luni, în care examenul microscopic a întărit ipoteza greșită a holerei</a:t>
            </a:r>
            <a:endParaRPr lang="en-US" sz="1150" dirty="0"/>
          </a:p>
        </p:txBody>
      </p:sp>
      <p:sp>
        <p:nvSpPr>
          <p:cNvPr id="22" name="Shape 20"/>
          <p:cNvSpPr/>
          <p:nvPr/>
        </p:nvSpPr>
        <p:spPr>
          <a:xfrm>
            <a:off x="594360" y="5779008"/>
            <a:ext cx="10972800" cy="411480"/>
          </a:xfrm>
          <a:prstGeom prst="roundRect">
            <a:avLst>
              <a:gd name="adj" fmla="val 20000"/>
            </a:avLst>
          </a:prstGeom>
          <a:solidFill>
            <a:srgbClr val="FF4757"/>
          </a:solidFill>
          <a:ln w="12700">
            <a:solidFill>
              <a:srgbClr val="FF4757"/>
            </a:solidFill>
            <a:prstDash val="solid"/>
          </a:ln>
        </p:spPr>
        <p:txBody>
          <a:bodyPr/>
          <a:lstStyle/>
          <a:p>
            <a:endParaRPr lang="ro-RO"/>
          </a:p>
        </p:txBody>
      </p:sp>
      <p:sp>
        <p:nvSpPr>
          <p:cNvPr id="23" name="Text 21"/>
          <p:cNvSpPr/>
          <p:nvPr/>
        </p:nvSpPr>
        <p:spPr>
          <a:xfrm>
            <a:off x="960120" y="5779008"/>
            <a:ext cx="10241280" cy="411480"/>
          </a:xfrm>
          <a:prstGeom prst="rect">
            <a:avLst/>
          </a:prstGeom>
          <a:noFill/>
          <a:ln/>
        </p:spPr>
        <p:txBody>
          <a:bodyPr wrap="square" lIns="0" tIns="0" rIns="0" bIns="0" rtlCol="0" anchor="ctr"/>
          <a:lstStyle/>
          <a:p>
            <a:pPr marL="0" indent="0">
              <a:buNone/>
            </a:pPr>
            <a:r>
              <a:rPr lang="en-US" sz="1200" b="1" dirty="0">
                <a:solidFill>
                  <a:srgbClr val="2E060B"/>
                </a:solidFill>
                <a:latin typeface="Palatino Linotype" pitchFamily="34" charset="0"/>
                <a:ea typeface="Palatino Linotype" pitchFamily="34" charset="-122"/>
                <a:cs typeface="Palatino Linotype" pitchFamily="34" charset="-120"/>
              </a:rPr>
              <a:t>Amintiți-vă de mâner: probabil decizia corectă. Aici, contra-imaginea: nu amânați decizia până apare dovada.</a:t>
            </a:r>
            <a:endParaRPr lang="en-US" sz="1200" dirty="0"/>
          </a:p>
        </p:txBody>
      </p:sp>
      <p:sp>
        <p:nvSpPr>
          <p:cNvPr id="24" name="Text 22"/>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Surse: CDC. MMWR. 1993;42(14):258–263. · WHO. Summary of probable SARS cases, 1 nov 2002 – 31 iul 2003. · WHO. Ebola outbreak 2014–2016 West Africa; Origins of the 2014 Ebola epidemic (2015). · Baize S et al. N Engl J Med. 2014;371(15):1418–1425.</a:t>
            </a:r>
            <a:endParaRPr lang="en-US" sz="900" dirty="0"/>
          </a:p>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Discrepanță verificată: OMS spune 18 luni, Baize și colaboratorii, 2 ani.</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4">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JACK IN THE BOX · DOZA INFECTANTĂ</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11121A"/>
                </a:solidFill>
                <a:latin typeface="Palatino Linotype" pitchFamily="34" charset="0"/>
                <a:ea typeface="Palatino Linotype" pitchFamily="34" charset="-122"/>
                <a:cs typeface="Palatino Linotype" pitchFamily="34" charset="-120"/>
              </a:rPr>
              <a:t>Sub 700 de organisme</a:t>
            </a:r>
            <a:endParaRPr lang="en-US" sz="3100" dirty="0"/>
          </a:p>
        </p:txBody>
      </p:sp>
      <p:sp>
        <p:nvSpPr>
          <p:cNvPr id="4" name="Text 2"/>
          <p:cNvSpPr/>
          <p:nvPr/>
        </p:nvSpPr>
        <p:spPr>
          <a:xfrm>
            <a:off x="594360" y="1600200"/>
            <a:ext cx="5120640" cy="1371600"/>
          </a:xfrm>
          <a:prstGeom prst="rect">
            <a:avLst/>
          </a:prstGeom>
          <a:noFill/>
          <a:ln/>
        </p:spPr>
        <p:txBody>
          <a:bodyPr wrap="square" lIns="0" tIns="0" rIns="0" bIns="0" rtlCol="0" anchor="ctr"/>
          <a:lstStyle/>
          <a:p>
            <a:pPr marL="0" indent="0">
              <a:buNone/>
            </a:pPr>
            <a:r>
              <a:rPr lang="en-US" sz="10800" b="1" dirty="0">
                <a:solidFill>
                  <a:srgbClr val="B02532"/>
                </a:solidFill>
                <a:latin typeface="Palatino Linotype" pitchFamily="34" charset="0"/>
                <a:ea typeface="Palatino Linotype" pitchFamily="34" charset="-122"/>
                <a:cs typeface="Palatino Linotype" pitchFamily="34" charset="-120"/>
              </a:rPr>
              <a:t>67,5</a:t>
            </a:r>
            <a:endParaRPr lang="en-US" sz="10800" dirty="0"/>
          </a:p>
        </p:txBody>
      </p:sp>
      <p:sp>
        <p:nvSpPr>
          <p:cNvPr id="5" name="Text 3"/>
          <p:cNvSpPr/>
          <p:nvPr/>
        </p:nvSpPr>
        <p:spPr>
          <a:xfrm>
            <a:off x="594360" y="3017520"/>
            <a:ext cx="5120640" cy="548640"/>
          </a:xfrm>
          <a:prstGeom prst="rect">
            <a:avLst/>
          </a:prstGeom>
          <a:noFill/>
          <a:ln/>
        </p:spPr>
        <p:txBody>
          <a:bodyPr wrap="square" lIns="0" tIns="0" rIns="0" bIns="0" rtlCol="0" anchor="ctr"/>
          <a:lstStyle/>
          <a:p>
            <a:pPr marL="0" indent="0">
              <a:buNone/>
            </a:pPr>
            <a:r>
              <a:rPr lang="en-US" sz="1500" dirty="0">
                <a:solidFill>
                  <a:srgbClr val="11121A"/>
                </a:solidFill>
                <a:latin typeface="Palatino Linotype" pitchFamily="34" charset="0"/>
                <a:ea typeface="Palatino Linotype" pitchFamily="34" charset="-122"/>
                <a:cs typeface="Palatino Linotype" pitchFamily="34" charset="-120"/>
              </a:rPr>
              <a:t>organisme pe burger — mediana, din 76 de probe</a:t>
            </a:r>
            <a:endParaRPr lang="en-US" sz="1500" dirty="0"/>
          </a:p>
        </p:txBody>
      </p:sp>
      <p:sp>
        <p:nvSpPr>
          <p:cNvPr id="6" name="Text 4"/>
          <p:cNvSpPr/>
          <p:nvPr/>
        </p:nvSpPr>
        <p:spPr>
          <a:xfrm>
            <a:off x="594360" y="3657600"/>
            <a:ext cx="5120640" cy="1097280"/>
          </a:xfrm>
          <a:prstGeom prst="rect">
            <a:avLst/>
          </a:prstGeom>
          <a:noFill/>
          <a:ln/>
        </p:spPr>
        <p:txBody>
          <a:bodyPr wrap="square" lIns="0" tIns="0" rIns="0" bIns="0" rtlCol="0" anchor="ctr"/>
          <a:lstStyle/>
          <a:p>
            <a:pPr marL="0" indent="0">
              <a:buNone/>
            </a:pPr>
            <a:r>
              <a:rPr lang="en-US" sz="1250" dirty="0">
                <a:solidFill>
                  <a:srgbClr val="585A64"/>
                </a:solidFill>
                <a:latin typeface="Palatino Linotype" pitchFamily="34" charset="0"/>
                <a:ea typeface="Palatino Linotype" pitchFamily="34" charset="-122"/>
                <a:cs typeface="Palatino Linotype" pitchFamily="34" charset="-120"/>
              </a:rPr>
              <a:t>Cultură cantitativă a cărnii tocate: mediana, 1,5 organisme pe gram. Rezultatul sugerează o doză infectantă sub 700 de organisme.</a:t>
            </a:r>
            <a:endParaRPr lang="en-US" sz="1250" dirty="0"/>
          </a:p>
        </p:txBody>
      </p:sp>
      <p:sp>
        <p:nvSpPr>
          <p:cNvPr id="7" name="Shape 5"/>
          <p:cNvSpPr/>
          <p:nvPr/>
        </p:nvSpPr>
        <p:spPr>
          <a:xfrm>
            <a:off x="6217920" y="1600200"/>
            <a:ext cx="5349240" cy="1463040"/>
          </a:xfrm>
          <a:prstGeom prst="roundRect">
            <a:avLst>
              <a:gd name="adj" fmla="val 5625"/>
            </a:avLst>
          </a:prstGeom>
          <a:solidFill>
            <a:srgbClr val="ECEAE4"/>
          </a:solidFill>
          <a:ln w="12700">
            <a:solidFill>
              <a:srgbClr val="ECEAE4"/>
            </a:solidFill>
            <a:prstDash val="solid"/>
          </a:ln>
        </p:spPr>
        <p:txBody>
          <a:bodyPr/>
          <a:lstStyle/>
          <a:p>
            <a:endParaRPr lang="ro-RO"/>
          </a:p>
        </p:txBody>
      </p:sp>
      <p:sp>
        <p:nvSpPr>
          <p:cNvPr id="8" name="Text 6"/>
          <p:cNvSpPr/>
          <p:nvPr/>
        </p:nvSpPr>
        <p:spPr>
          <a:xfrm>
            <a:off x="6537960" y="1737360"/>
            <a:ext cx="4709160" cy="320040"/>
          </a:xfrm>
          <a:prstGeom prst="rect">
            <a:avLst/>
          </a:prstGeom>
          <a:noFill/>
          <a:ln/>
        </p:spPr>
        <p:txBody>
          <a:bodyPr wrap="square" lIns="0" tIns="0" rIns="0" bIns="0" rtlCol="0" anchor="ctr"/>
          <a:lstStyle/>
          <a:p>
            <a:pPr marL="0" indent="0">
              <a:buNone/>
            </a:pPr>
            <a:r>
              <a:rPr lang="en-US" sz="1300" b="1" dirty="0">
                <a:solidFill>
                  <a:srgbClr val="4A2D8C"/>
                </a:solidFill>
                <a:latin typeface="Palatino Linotype" pitchFamily="34" charset="0"/>
                <a:ea typeface="Palatino Linotype" pitchFamily="34" charset="-122"/>
                <a:cs typeface="Palatino Linotype" pitchFamily="34" charset="-120"/>
              </a:rPr>
              <a:t>OR PERECHE, California</a:t>
            </a:r>
            <a:endParaRPr lang="en-US" sz="1300" dirty="0"/>
          </a:p>
        </p:txBody>
      </p:sp>
      <p:sp>
        <p:nvSpPr>
          <p:cNvPr id="9" name="Text 7"/>
          <p:cNvSpPr/>
          <p:nvPr/>
        </p:nvSpPr>
        <p:spPr>
          <a:xfrm>
            <a:off x="6537960" y="2103120"/>
            <a:ext cx="4709160" cy="868680"/>
          </a:xfrm>
          <a:prstGeom prst="rect">
            <a:avLst/>
          </a:prstGeom>
          <a:noFill/>
          <a:ln/>
        </p:spPr>
        <p:txBody>
          <a:bodyPr wrap="square" lIns="0" tIns="0" rIns="0" bIns="0" rtlCol="0" anchor="ctr"/>
          <a:lstStyle/>
          <a:p>
            <a:pPr marL="0" indent="0">
              <a:buNone/>
            </a:pPr>
            <a:r>
              <a:rPr lang="en-US" sz="1250" dirty="0">
                <a:solidFill>
                  <a:srgbClr val="11121A"/>
                </a:solidFill>
                <a:latin typeface="Palatino Linotype" pitchFamily="34" charset="0"/>
                <a:ea typeface="Palatino Linotype" pitchFamily="34" charset="-122"/>
                <a:cs typeface="Palatino Linotype" pitchFamily="34" charset="-120"/>
              </a:rPr>
              <a:t>13 (IÎ 95%: 1,7–99) — primele 25 de cazuri, martori din comunitate. Exclude nulul; borne în raport de ~58×.</a:t>
            </a:r>
            <a:endParaRPr lang="en-US" sz="1250" dirty="0"/>
          </a:p>
        </p:txBody>
      </p:sp>
      <p:sp>
        <p:nvSpPr>
          <p:cNvPr id="10" name="Shape 8"/>
          <p:cNvSpPr/>
          <p:nvPr/>
        </p:nvSpPr>
        <p:spPr>
          <a:xfrm>
            <a:off x="6217920" y="3200400"/>
            <a:ext cx="5349240" cy="1463040"/>
          </a:xfrm>
          <a:prstGeom prst="roundRect">
            <a:avLst>
              <a:gd name="adj" fmla="val 5625"/>
            </a:avLst>
          </a:prstGeom>
          <a:solidFill>
            <a:srgbClr val="ECEAE4"/>
          </a:solidFill>
          <a:ln w="12700">
            <a:solidFill>
              <a:srgbClr val="ECEAE4"/>
            </a:solidFill>
            <a:prstDash val="solid"/>
          </a:ln>
        </p:spPr>
        <p:txBody>
          <a:bodyPr/>
          <a:lstStyle/>
          <a:p>
            <a:endParaRPr lang="ro-RO"/>
          </a:p>
        </p:txBody>
      </p:sp>
      <p:sp>
        <p:nvSpPr>
          <p:cNvPr id="11" name="Text 9"/>
          <p:cNvSpPr/>
          <p:nvPr/>
        </p:nvSpPr>
        <p:spPr>
          <a:xfrm>
            <a:off x="6537960" y="3337560"/>
            <a:ext cx="4709160" cy="320040"/>
          </a:xfrm>
          <a:prstGeom prst="rect">
            <a:avLst/>
          </a:prstGeom>
          <a:noFill/>
          <a:ln/>
        </p:spPr>
        <p:txBody>
          <a:bodyPr wrap="square" lIns="0" tIns="0" rIns="0" bIns="0" rtlCol="0" anchor="ctr"/>
          <a:lstStyle/>
          <a:p>
            <a:pPr marL="0" indent="0">
              <a:buNone/>
            </a:pPr>
            <a:r>
              <a:rPr lang="en-US" sz="1300" b="1" dirty="0">
                <a:solidFill>
                  <a:srgbClr val="8A6100"/>
                </a:solidFill>
                <a:latin typeface="Palatino Linotype" pitchFamily="34" charset="0"/>
                <a:ea typeface="Palatino Linotype" pitchFamily="34" charset="-122"/>
                <a:cs typeface="Palatino Linotype" pitchFamily="34" charset="-120"/>
              </a:rPr>
              <a:t>OR însoțitori de masă, Nevada</a:t>
            </a:r>
            <a:endParaRPr lang="en-US" sz="1300" dirty="0"/>
          </a:p>
        </p:txBody>
      </p:sp>
      <p:sp>
        <p:nvSpPr>
          <p:cNvPr id="12" name="Text 10"/>
          <p:cNvSpPr/>
          <p:nvPr/>
        </p:nvSpPr>
        <p:spPr>
          <a:xfrm>
            <a:off x="6537960" y="3703320"/>
            <a:ext cx="4709160" cy="868680"/>
          </a:xfrm>
          <a:prstGeom prst="rect">
            <a:avLst/>
          </a:prstGeom>
          <a:noFill/>
          <a:ln/>
        </p:spPr>
        <p:txBody>
          <a:bodyPr wrap="square" lIns="0" tIns="0" rIns="0" bIns="0" rtlCol="0" anchor="ctr"/>
          <a:lstStyle/>
          <a:p>
            <a:pPr marL="0" indent="0">
              <a:buNone/>
            </a:pPr>
            <a:r>
              <a:rPr lang="en-US" sz="1250" dirty="0">
                <a:solidFill>
                  <a:srgbClr val="11121A"/>
                </a:solidFill>
                <a:latin typeface="Palatino Linotype" pitchFamily="34" charset="0"/>
                <a:ea typeface="Palatino Linotype" pitchFamily="34" charset="-122"/>
                <a:cs typeface="Palatino Linotype" pitchFamily="34" charset="-120"/>
              </a:rPr>
              <a:t>6,0 (IÎ 95%: 0,7–49,8) — martorii fuseseră și ei la restaurant: altă întrebare decât în California.</a:t>
            </a:r>
            <a:endParaRPr lang="en-US" sz="1250" dirty="0"/>
          </a:p>
        </p:txBody>
      </p:sp>
      <p:sp>
        <p:nvSpPr>
          <p:cNvPr id="13" name="Shape 11"/>
          <p:cNvSpPr/>
          <p:nvPr/>
        </p:nvSpPr>
        <p:spPr>
          <a:xfrm>
            <a:off x="594360" y="4791456"/>
            <a:ext cx="10972800" cy="658368"/>
          </a:xfrm>
          <a:prstGeom prst="roundRect">
            <a:avLst>
              <a:gd name="adj" fmla="val 12500"/>
            </a:avLst>
          </a:prstGeom>
          <a:solidFill>
            <a:srgbClr val="4A2D8C"/>
          </a:solidFill>
          <a:ln w="12700">
            <a:solidFill>
              <a:srgbClr val="4A2D8C"/>
            </a:solidFill>
            <a:prstDash val="solid"/>
          </a:ln>
        </p:spPr>
        <p:txBody>
          <a:bodyPr/>
          <a:lstStyle/>
          <a:p>
            <a:endParaRPr lang="ro-RO"/>
          </a:p>
        </p:txBody>
      </p:sp>
      <p:sp>
        <p:nvSpPr>
          <p:cNvPr id="14" name="Text 12"/>
          <p:cNvSpPr/>
          <p:nvPr/>
        </p:nvSpPr>
        <p:spPr>
          <a:xfrm>
            <a:off x="960120" y="4791456"/>
            <a:ext cx="10241280" cy="658368"/>
          </a:xfrm>
          <a:prstGeom prst="rect">
            <a:avLst/>
          </a:prstGeom>
          <a:noFill/>
          <a:ln/>
        </p:spPr>
        <p:txBody>
          <a:bodyPr wrap="square" lIns="0" tIns="0" rIns="0" bIns="0" rtlCol="0" anchor="ctr"/>
          <a:lstStyle/>
          <a:p>
            <a:pPr marL="0" indent="0">
              <a:buNone/>
            </a:pPr>
            <a:r>
              <a:rPr lang="en-US" sz="1300" b="1" dirty="0">
                <a:solidFill>
                  <a:srgbClr val="FFFFFF"/>
                </a:solidFill>
                <a:latin typeface="Palatino Linotype" pitchFamily="34" charset="0"/>
                <a:ea typeface="Palatino Linotype" pitchFamily="34" charset="-122"/>
                <a:cs typeface="Palatino Linotype" pitchFamily="34" charset="-120"/>
              </a:rPr>
              <a:t>Reflexul învățat greșit spune: primul e „semnificativ statistic”, al doilea nu. Uitați-vă la LĂȚIMI: amândouă sunt imprecise. Iar studiile nu sunt comparabile: în California, martori din comunitate; în Nevada, însoțitori de masă. Este capcana 7, în formă modernă.</a:t>
            </a:r>
            <a:endParaRPr lang="en-US" sz="1300" dirty="0"/>
          </a:p>
        </p:txBody>
      </p:sp>
      <p:sp>
        <p:nvSpPr>
          <p:cNvPr id="15" name="Shape 13"/>
          <p:cNvSpPr/>
          <p:nvPr/>
        </p:nvSpPr>
        <p:spPr>
          <a:xfrm>
            <a:off x="594360" y="5623560"/>
            <a:ext cx="10972800" cy="621792"/>
          </a:xfrm>
          <a:prstGeom prst="roundRect">
            <a:avLst>
              <a:gd name="adj" fmla="val 13235"/>
            </a:avLst>
          </a:prstGeom>
          <a:solidFill>
            <a:srgbClr val="0E7C6B"/>
          </a:solidFill>
          <a:ln w="12700">
            <a:solidFill>
              <a:srgbClr val="0E7C6B"/>
            </a:solidFill>
            <a:prstDash val="solid"/>
          </a:ln>
        </p:spPr>
        <p:txBody>
          <a:bodyPr/>
          <a:lstStyle/>
          <a:p>
            <a:endParaRPr lang="ro-RO"/>
          </a:p>
        </p:txBody>
      </p:sp>
      <p:sp>
        <p:nvSpPr>
          <p:cNvPr id="16" name="Text 14"/>
          <p:cNvSpPr/>
          <p:nvPr/>
        </p:nvSpPr>
        <p:spPr>
          <a:xfrm>
            <a:off x="960120" y="5623560"/>
            <a:ext cx="10241280" cy="621792"/>
          </a:xfrm>
          <a:prstGeom prst="rect">
            <a:avLst/>
          </a:prstGeom>
          <a:noFill/>
          <a:ln/>
        </p:spPr>
        <p:txBody>
          <a:bodyPr wrap="square" lIns="0" tIns="0" rIns="0" bIns="0" rtlCol="0" anchor="ctr"/>
          <a:lstStyle/>
          <a:p>
            <a:pPr marL="0" indent="0">
              <a:buNone/>
            </a:pPr>
            <a:r>
              <a:rPr lang="en-US" sz="1200" b="1" dirty="0">
                <a:solidFill>
                  <a:srgbClr val="FFFFFF"/>
                </a:solidFill>
                <a:latin typeface="Palatino Linotype" pitchFamily="34" charset="0"/>
                <a:ea typeface="Palatino Linotype" pitchFamily="34" charset="-122"/>
                <a:cs typeface="Palatino Linotype" pitchFamily="34" charset="-120"/>
              </a:rPr>
              <a:t>CE A FUNCȚIONAT: MMWR din aprilie 1993 a tipărit, la p. 262, 155 °F echivalat greșit cu 86,1 °C. Erata, în MMWR din 14 ianuarie 1994, p. 18: corect, 68 °C. Sistemul și-a găsit greșeala și a publicat corecția, în același jurnal, în mai puțin de un an.</a:t>
            </a:r>
            <a:endParaRPr lang="en-US" sz="1200" dirty="0"/>
          </a:p>
        </p:txBody>
      </p:sp>
      <p:sp>
        <p:nvSpPr>
          <p:cNvPr id="17" name="Text 15"/>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585A64"/>
                </a:solidFill>
                <a:latin typeface="Palatino Linotype" pitchFamily="34" charset="0"/>
                <a:ea typeface="Palatino Linotype" pitchFamily="34" charset="-122"/>
                <a:cs typeface="Palatino Linotype" pitchFamily="34" charset="-120"/>
              </a:rPr>
              <a:t>Surse: CDC. MMWR. 1993;42(14):259–261 (rapoartele cotelor) · Tuttle J et al. Epidemiol Infect. 1999;122(2):185–192. DOI: 10.1017/s0950268898001976</a:t>
            </a:r>
            <a:endParaRPr lang="en-US" sz="900" dirty="0"/>
          </a:p>
          <a:p>
            <a:pPr marL="0" indent="0">
              <a:buNone/>
            </a:pPr>
            <a:r>
              <a:rPr lang="en-US" sz="900" i="1" dirty="0">
                <a:solidFill>
                  <a:srgbClr val="585A64"/>
                </a:solidFill>
                <a:latin typeface="Palatino Linotype" pitchFamily="34" charset="0"/>
                <a:ea typeface="Palatino Linotype" pitchFamily="34" charset="-122"/>
                <a:cs typeface="Palatino Linotype" pitchFamily="34" charset="-120"/>
              </a:rPr>
              <a:t>Vârsta mediană în Washington: 7,5 ani (mediană, nu un caz individual).</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7">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HOLERA ASTĂZI · OMS, 2025–2026</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FFFFFF"/>
                </a:solidFill>
                <a:latin typeface="Palatino Linotype" pitchFamily="34" charset="0"/>
                <a:ea typeface="Palatino Linotype" pitchFamily="34" charset="-122"/>
                <a:cs typeface="Palatino Linotype" pitchFamily="34" charset="-120"/>
              </a:rPr>
              <a:t>Holera nu este o boală a trecutului</a:t>
            </a:r>
            <a:endParaRPr lang="en-US" sz="3100" dirty="0"/>
          </a:p>
        </p:txBody>
      </p:sp>
      <p:sp>
        <p:nvSpPr>
          <p:cNvPr id="4" name="Shape 2"/>
          <p:cNvSpPr/>
          <p:nvPr/>
        </p:nvSpPr>
        <p:spPr>
          <a:xfrm>
            <a:off x="594360" y="1783080"/>
            <a:ext cx="3429000" cy="1691640"/>
          </a:xfrm>
          <a:prstGeom prst="roundRect">
            <a:avLst>
              <a:gd name="adj" fmla="val 4865"/>
            </a:avLst>
          </a:prstGeom>
          <a:solidFill>
            <a:srgbClr val="1D1F2B"/>
          </a:solidFill>
          <a:ln w="12700">
            <a:solidFill>
              <a:srgbClr val="1D1F2B"/>
            </a:solidFill>
            <a:prstDash val="solid"/>
          </a:ln>
        </p:spPr>
        <p:txBody>
          <a:bodyPr/>
          <a:lstStyle/>
          <a:p>
            <a:endParaRPr lang="ro-RO"/>
          </a:p>
        </p:txBody>
      </p:sp>
      <p:sp>
        <p:nvSpPr>
          <p:cNvPr id="5" name="Text 3"/>
          <p:cNvSpPr/>
          <p:nvPr/>
        </p:nvSpPr>
        <p:spPr>
          <a:xfrm>
            <a:off x="868680" y="1892808"/>
            <a:ext cx="2880360" cy="845820"/>
          </a:xfrm>
          <a:prstGeom prst="rect">
            <a:avLst/>
          </a:prstGeom>
          <a:noFill/>
          <a:ln/>
        </p:spPr>
        <p:txBody>
          <a:bodyPr wrap="square" lIns="0" tIns="0" rIns="0" bIns="0" rtlCol="0" anchor="ctr"/>
          <a:lstStyle/>
          <a:p>
            <a:pPr marL="0" indent="0">
              <a:buNone/>
            </a:pPr>
            <a:r>
              <a:rPr lang="en-US" sz="3400" b="1" dirty="0">
                <a:solidFill>
                  <a:srgbClr val="FF4757"/>
                </a:solidFill>
                <a:latin typeface="Palatino Linotype" pitchFamily="34" charset="0"/>
                <a:ea typeface="Palatino Linotype" pitchFamily="34" charset="-122"/>
                <a:cs typeface="Palatino Linotype" pitchFamily="34" charset="-120"/>
              </a:rPr>
              <a:t>451 499</a:t>
            </a:r>
            <a:endParaRPr lang="en-US" sz="3400" dirty="0"/>
          </a:p>
        </p:txBody>
      </p:sp>
      <p:sp>
        <p:nvSpPr>
          <p:cNvPr id="6" name="Text 4"/>
          <p:cNvSpPr/>
          <p:nvPr/>
        </p:nvSpPr>
        <p:spPr>
          <a:xfrm>
            <a:off x="868680" y="2647188"/>
            <a:ext cx="2880360" cy="778154"/>
          </a:xfrm>
          <a:prstGeom prst="rect">
            <a:avLst/>
          </a:prstGeom>
          <a:noFill/>
          <a:ln/>
        </p:spPr>
        <p:txBody>
          <a:bodyPr wrap="square" lIns="0" tIns="0" rIns="0" bIns="0" rtlCol="0" anchor="t"/>
          <a:lstStyle/>
          <a:p>
            <a:pPr marL="0" indent="0">
              <a:buNone/>
            </a:pPr>
            <a:r>
              <a:rPr lang="en-US" sz="1200" dirty="0">
                <a:solidFill>
                  <a:srgbClr val="FFFFFF"/>
                </a:solidFill>
                <a:latin typeface="Palatino Linotype" pitchFamily="34" charset="0"/>
                <a:ea typeface="Palatino Linotype" pitchFamily="34" charset="-122"/>
                <a:cs typeface="Palatino Linotype" pitchFamily="34" charset="-120"/>
              </a:rPr>
              <a:t>cazuri raportate OMS în 2025, din 47 de țări (560 823 în 2024, din 60)</a:t>
            </a:r>
            <a:endParaRPr lang="en-US" sz="1200" dirty="0"/>
          </a:p>
        </p:txBody>
      </p:sp>
      <p:sp>
        <p:nvSpPr>
          <p:cNvPr id="7" name="Shape 5"/>
          <p:cNvSpPr/>
          <p:nvPr/>
        </p:nvSpPr>
        <p:spPr>
          <a:xfrm>
            <a:off x="4297680" y="1783080"/>
            <a:ext cx="3429000" cy="1691640"/>
          </a:xfrm>
          <a:prstGeom prst="roundRect">
            <a:avLst>
              <a:gd name="adj" fmla="val 4865"/>
            </a:avLst>
          </a:prstGeom>
          <a:solidFill>
            <a:srgbClr val="1D1F2B"/>
          </a:solidFill>
          <a:ln w="12700">
            <a:solidFill>
              <a:srgbClr val="1D1F2B"/>
            </a:solidFill>
            <a:prstDash val="solid"/>
          </a:ln>
        </p:spPr>
        <p:txBody>
          <a:bodyPr/>
          <a:lstStyle/>
          <a:p>
            <a:endParaRPr lang="ro-RO"/>
          </a:p>
        </p:txBody>
      </p:sp>
      <p:sp>
        <p:nvSpPr>
          <p:cNvPr id="8" name="Text 6"/>
          <p:cNvSpPr/>
          <p:nvPr/>
        </p:nvSpPr>
        <p:spPr>
          <a:xfrm>
            <a:off x="4572000" y="1892808"/>
            <a:ext cx="2880360" cy="845820"/>
          </a:xfrm>
          <a:prstGeom prst="rect">
            <a:avLst/>
          </a:prstGeom>
          <a:noFill/>
          <a:ln/>
        </p:spPr>
        <p:txBody>
          <a:bodyPr wrap="square" lIns="0" tIns="0" rIns="0" bIns="0" rtlCol="0" anchor="ctr"/>
          <a:lstStyle/>
          <a:p>
            <a:pPr marL="0" indent="0">
              <a:buNone/>
            </a:pPr>
            <a:r>
              <a:rPr lang="en-US" sz="3400" b="1" dirty="0">
                <a:solidFill>
                  <a:srgbClr val="FFC24B"/>
                </a:solidFill>
                <a:latin typeface="Palatino Linotype" pitchFamily="34" charset="0"/>
                <a:ea typeface="Palatino Linotype" pitchFamily="34" charset="-122"/>
                <a:cs typeface="Palatino Linotype" pitchFamily="34" charset="-120"/>
              </a:rPr>
              <a:t>7 870</a:t>
            </a:r>
            <a:endParaRPr lang="en-US" sz="3400" dirty="0"/>
          </a:p>
        </p:txBody>
      </p:sp>
      <p:sp>
        <p:nvSpPr>
          <p:cNvPr id="9" name="Text 7"/>
          <p:cNvSpPr/>
          <p:nvPr/>
        </p:nvSpPr>
        <p:spPr>
          <a:xfrm>
            <a:off x="4572000" y="2647188"/>
            <a:ext cx="2880360" cy="778154"/>
          </a:xfrm>
          <a:prstGeom prst="rect">
            <a:avLst/>
          </a:prstGeom>
          <a:noFill/>
          <a:ln/>
        </p:spPr>
        <p:txBody>
          <a:bodyPr wrap="square" lIns="0" tIns="0" rIns="0" bIns="0" rtlCol="0" anchor="t"/>
          <a:lstStyle/>
          <a:p>
            <a:pPr marL="0" indent="0">
              <a:buNone/>
            </a:pPr>
            <a:r>
              <a:rPr lang="en-US" sz="1200" dirty="0">
                <a:solidFill>
                  <a:srgbClr val="FFFFFF"/>
                </a:solidFill>
                <a:latin typeface="Palatino Linotype" pitchFamily="34" charset="0"/>
                <a:ea typeface="Palatino Linotype" pitchFamily="34" charset="-122"/>
                <a:cs typeface="Palatino Linotype" pitchFamily="34" charset="-120"/>
              </a:rPr>
              <a:t>decese în 2025, față de 6 028 în 2024: cazuri mai puține, decese mai multe</a:t>
            </a:r>
            <a:endParaRPr lang="en-US" sz="1200" dirty="0"/>
          </a:p>
        </p:txBody>
      </p:sp>
      <p:sp>
        <p:nvSpPr>
          <p:cNvPr id="10" name="Shape 8"/>
          <p:cNvSpPr/>
          <p:nvPr/>
        </p:nvSpPr>
        <p:spPr>
          <a:xfrm>
            <a:off x="8001000" y="1783080"/>
            <a:ext cx="3429000" cy="1691640"/>
          </a:xfrm>
          <a:prstGeom prst="roundRect">
            <a:avLst>
              <a:gd name="adj" fmla="val 4865"/>
            </a:avLst>
          </a:prstGeom>
          <a:solidFill>
            <a:srgbClr val="1D1F2B"/>
          </a:solidFill>
          <a:ln w="12700">
            <a:solidFill>
              <a:srgbClr val="1D1F2B"/>
            </a:solidFill>
            <a:prstDash val="solid"/>
          </a:ln>
        </p:spPr>
        <p:txBody>
          <a:bodyPr/>
          <a:lstStyle/>
          <a:p>
            <a:endParaRPr lang="ro-RO"/>
          </a:p>
        </p:txBody>
      </p:sp>
      <p:sp>
        <p:nvSpPr>
          <p:cNvPr id="11" name="Text 9"/>
          <p:cNvSpPr/>
          <p:nvPr/>
        </p:nvSpPr>
        <p:spPr>
          <a:xfrm>
            <a:off x="8275320" y="1892808"/>
            <a:ext cx="2880360" cy="845820"/>
          </a:xfrm>
          <a:prstGeom prst="rect">
            <a:avLst/>
          </a:prstGeom>
          <a:noFill/>
          <a:ln/>
        </p:spPr>
        <p:txBody>
          <a:bodyPr wrap="square" lIns="0" tIns="0" rIns="0" bIns="0" rtlCol="0" anchor="ctr"/>
          <a:lstStyle/>
          <a:p>
            <a:pPr marL="0" indent="0">
              <a:buNone/>
            </a:pPr>
            <a:r>
              <a:rPr lang="en-US" sz="3400" b="1" dirty="0">
                <a:solidFill>
                  <a:srgbClr val="27D3BE"/>
                </a:solidFill>
                <a:latin typeface="Palatino Linotype" pitchFamily="34" charset="0"/>
                <a:ea typeface="Palatino Linotype" pitchFamily="34" charset="-122"/>
                <a:cs typeface="Palatino Linotype" pitchFamily="34" charset="-120"/>
              </a:rPr>
              <a:t>1,7%</a:t>
            </a:r>
            <a:endParaRPr lang="en-US" sz="3400" dirty="0"/>
          </a:p>
        </p:txBody>
      </p:sp>
      <p:sp>
        <p:nvSpPr>
          <p:cNvPr id="12" name="Text 10"/>
          <p:cNvSpPr/>
          <p:nvPr/>
        </p:nvSpPr>
        <p:spPr>
          <a:xfrm>
            <a:off x="8275320" y="2647188"/>
            <a:ext cx="2880360" cy="778154"/>
          </a:xfrm>
          <a:prstGeom prst="rect">
            <a:avLst/>
          </a:prstGeom>
          <a:noFill/>
          <a:ln/>
        </p:spPr>
        <p:txBody>
          <a:bodyPr wrap="square" lIns="0" tIns="0" rIns="0" bIns="0" rtlCol="0" anchor="t"/>
          <a:lstStyle/>
          <a:p>
            <a:pPr marL="0" indent="0">
              <a:buNone/>
            </a:pPr>
            <a:r>
              <a:rPr lang="en-US" sz="1200" dirty="0">
                <a:solidFill>
                  <a:srgbClr val="FFFFFF"/>
                </a:solidFill>
                <a:latin typeface="Palatino Linotype" pitchFamily="34" charset="0"/>
                <a:ea typeface="Palatino Linotype" pitchFamily="34" charset="-122"/>
                <a:cs typeface="Palatino Linotype" pitchFamily="34" charset="-120"/>
              </a:rPr>
              <a:t>letalitate pe toate decesele raportate, față de 1,1% în 2024</a:t>
            </a:r>
            <a:endParaRPr lang="en-US" sz="1200" dirty="0"/>
          </a:p>
        </p:txBody>
      </p:sp>
      <p:sp>
        <p:nvSpPr>
          <p:cNvPr id="13" name="Shape 11"/>
          <p:cNvSpPr/>
          <p:nvPr/>
        </p:nvSpPr>
        <p:spPr>
          <a:xfrm>
            <a:off x="594360" y="3794760"/>
            <a:ext cx="10972800" cy="960120"/>
          </a:xfrm>
          <a:prstGeom prst="roundRect">
            <a:avLst>
              <a:gd name="adj" fmla="val 8571"/>
            </a:avLst>
          </a:prstGeom>
          <a:solidFill>
            <a:srgbClr val="272A38"/>
          </a:solidFill>
          <a:ln w="12700">
            <a:solidFill>
              <a:srgbClr val="272A38"/>
            </a:solidFill>
            <a:prstDash val="solid"/>
          </a:ln>
        </p:spPr>
        <p:txBody>
          <a:bodyPr/>
          <a:lstStyle/>
          <a:p>
            <a:endParaRPr lang="ro-RO"/>
          </a:p>
        </p:txBody>
      </p:sp>
      <p:sp>
        <p:nvSpPr>
          <p:cNvPr id="14" name="Text 12"/>
          <p:cNvSpPr/>
          <p:nvPr/>
        </p:nvSpPr>
        <p:spPr>
          <a:xfrm>
            <a:off x="960120" y="3794760"/>
            <a:ext cx="10241280" cy="960120"/>
          </a:xfrm>
          <a:prstGeom prst="rect">
            <a:avLst/>
          </a:prstGeom>
          <a:noFill/>
          <a:ln/>
        </p:spPr>
        <p:txBody>
          <a:bodyPr wrap="square" lIns="0" tIns="0" rIns="0" bIns="0" rtlCol="0" anchor="ctr"/>
          <a:lstStyle/>
          <a:p>
            <a:pPr marL="0" indent="0">
              <a:buNone/>
            </a:pPr>
            <a:r>
              <a:rPr lang="en-US" sz="1500" dirty="0">
                <a:solidFill>
                  <a:srgbClr val="FFFFFF"/>
                </a:solidFill>
                <a:latin typeface="Palatino Linotype" pitchFamily="34" charset="0"/>
                <a:ea typeface="Palatino Linotype" pitchFamily="34" charset="-122"/>
                <a:cs typeface="Palatino Linotype" pitchFamily="34" charset="-120"/>
              </a:rPr>
              <a:t>Șapte țări, fiecare cu peste zece mii de cazuri, au însumat 89% dintre cazuri și 91% dintre decese; cinci erau clasificate de Banca Mondială drept afectate de conflict. Estimarea reluată de OMS, la nivel mondial: 1,3–4,0 milioane de cazuri și 21 000–143 000 de decese pe an.</a:t>
            </a:r>
            <a:endParaRPr lang="en-US" sz="1500" dirty="0"/>
          </a:p>
        </p:txBody>
      </p:sp>
      <p:sp>
        <p:nvSpPr>
          <p:cNvPr id="15" name="Shape 13"/>
          <p:cNvSpPr/>
          <p:nvPr/>
        </p:nvSpPr>
        <p:spPr>
          <a:xfrm>
            <a:off x="594360" y="4937760"/>
            <a:ext cx="10972800" cy="960120"/>
          </a:xfrm>
          <a:prstGeom prst="roundRect">
            <a:avLst>
              <a:gd name="adj" fmla="val 8571"/>
            </a:avLst>
          </a:prstGeom>
          <a:solidFill>
            <a:srgbClr val="1A2430"/>
          </a:solidFill>
          <a:ln w="12700">
            <a:solidFill>
              <a:srgbClr val="1A2430"/>
            </a:solidFill>
            <a:prstDash val="solid"/>
          </a:ln>
        </p:spPr>
        <p:txBody>
          <a:bodyPr/>
          <a:lstStyle/>
          <a:p>
            <a:endParaRPr lang="ro-RO"/>
          </a:p>
        </p:txBody>
      </p:sp>
      <p:sp>
        <p:nvSpPr>
          <p:cNvPr id="16" name="Text 14"/>
          <p:cNvSpPr/>
          <p:nvPr/>
        </p:nvSpPr>
        <p:spPr>
          <a:xfrm>
            <a:off x="960120" y="4937760"/>
            <a:ext cx="10241280" cy="960120"/>
          </a:xfrm>
          <a:prstGeom prst="rect">
            <a:avLst/>
          </a:prstGeom>
          <a:noFill/>
          <a:ln/>
        </p:spPr>
        <p:txBody>
          <a:bodyPr wrap="square" lIns="0" tIns="0" rIns="0" bIns="0" rtlCol="0" anchor="ctr"/>
          <a:lstStyle/>
          <a:p>
            <a:pPr marL="0" indent="0">
              <a:buNone/>
            </a:pPr>
            <a:r>
              <a:rPr lang="en-US" sz="1500" b="1" dirty="0">
                <a:solidFill>
                  <a:srgbClr val="27D3BE"/>
                </a:solidFill>
                <a:latin typeface="Palatino Linotype" pitchFamily="34" charset="0"/>
                <a:ea typeface="Palatino Linotype" pitchFamily="34" charset="-122"/>
                <a:cs typeface="Palatino Linotype" pitchFamily="34" charset="-120"/>
              </a:rPr>
              <a:t>Anul în curs, 1 ianuarie–26 iulie 2026: 221 365 de cazuri de holeră și diaree acută apoasă și 2 153 de decese, din 28 de țări. Seria lunară și raportul anual sunt serii distincte: nu se adună.</a:t>
            </a:r>
            <a:endParaRPr lang="en-US" sz="1500" dirty="0"/>
          </a:p>
        </p:txBody>
      </p:sp>
      <p:sp>
        <p:nvSpPr>
          <p:cNvPr id="17" name="Text 15"/>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Surse: OMS. Cholera annual report, 2025. Wkly Epidemiol Rec. 2026;101(38):223–235. OMS. Multi-country outbreak of cholera, date la 26 iulie 2026. Wkly Epidemiol Rec. 2026;101(35):195–202. OMS, fișa despre holeră (estimarea Ali și colab., 2015). Consultate la 27.09.2026.</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27D3BE"/>
                </a:solidFill>
                <a:latin typeface="Palatino Linotype" pitchFamily="34" charset="0"/>
                <a:ea typeface="Palatino Linotype" pitchFamily="34" charset="-122"/>
                <a:cs typeface="Palatino Linotype" pitchFamily="34" charset="-120"/>
              </a:rPr>
              <a:t>ORIENTARE PROFESIONALĂ</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FFFFFF"/>
                </a:solidFill>
                <a:latin typeface="Palatino Linotype" pitchFamily="34" charset="0"/>
                <a:ea typeface="Palatino Linotype" pitchFamily="34" charset="-122"/>
                <a:cs typeface="Palatino Linotype" pitchFamily="34" charset="-120"/>
              </a:rPr>
              <a:t>Cum devii unul dintre ei</a:t>
            </a:r>
            <a:endParaRPr lang="en-US" sz="3100" dirty="0"/>
          </a:p>
        </p:txBody>
      </p:sp>
      <p:sp>
        <p:nvSpPr>
          <p:cNvPr id="4" name="Shape 2"/>
          <p:cNvSpPr/>
          <p:nvPr/>
        </p:nvSpPr>
        <p:spPr>
          <a:xfrm>
            <a:off x="594360" y="1737360"/>
            <a:ext cx="5349240" cy="2514600"/>
          </a:xfrm>
          <a:prstGeom prst="roundRect">
            <a:avLst>
              <a:gd name="adj" fmla="val 3273"/>
            </a:avLst>
          </a:prstGeom>
          <a:solidFill>
            <a:srgbClr val="1D1F2B"/>
          </a:solidFill>
          <a:ln w="12700">
            <a:solidFill>
              <a:srgbClr val="1D1F2B"/>
            </a:solidFill>
            <a:prstDash val="solid"/>
          </a:ln>
        </p:spPr>
        <p:txBody>
          <a:bodyPr/>
          <a:lstStyle/>
          <a:p>
            <a:endParaRPr lang="ro-RO"/>
          </a:p>
        </p:txBody>
      </p:sp>
      <p:sp>
        <p:nvSpPr>
          <p:cNvPr id="5" name="Shape 3"/>
          <p:cNvSpPr/>
          <p:nvPr/>
        </p:nvSpPr>
        <p:spPr>
          <a:xfrm>
            <a:off x="914400" y="1920240"/>
            <a:ext cx="2651760" cy="329184"/>
          </a:xfrm>
          <a:prstGeom prst="roundRect">
            <a:avLst>
              <a:gd name="adj" fmla="val 50000"/>
            </a:avLst>
          </a:prstGeom>
          <a:solidFill>
            <a:srgbClr val="FF4757"/>
          </a:solidFill>
          <a:ln w="12700">
            <a:solidFill>
              <a:srgbClr val="FF4757"/>
            </a:solidFill>
            <a:prstDash val="solid"/>
          </a:ln>
        </p:spPr>
        <p:txBody>
          <a:bodyPr/>
          <a:lstStyle/>
          <a:p>
            <a:endParaRPr lang="ro-RO"/>
          </a:p>
        </p:txBody>
      </p:sp>
      <p:sp>
        <p:nvSpPr>
          <p:cNvPr id="6" name="Text 4"/>
          <p:cNvSpPr/>
          <p:nvPr/>
        </p:nvSpPr>
        <p:spPr>
          <a:xfrm>
            <a:off x="914400" y="1920240"/>
            <a:ext cx="2651760" cy="329184"/>
          </a:xfrm>
          <a:prstGeom prst="rect">
            <a:avLst/>
          </a:prstGeom>
          <a:noFill/>
          <a:ln/>
        </p:spPr>
        <p:txBody>
          <a:bodyPr wrap="square" lIns="0" tIns="0" rIns="0" bIns="0" rtlCol="0" anchor="ctr"/>
          <a:lstStyle/>
          <a:p>
            <a:pPr marL="0" indent="0" algn="ctr">
              <a:buNone/>
            </a:pPr>
            <a:r>
              <a:rPr lang="en-US" sz="1050" b="1" dirty="0">
                <a:solidFill>
                  <a:srgbClr val="2E060B"/>
                </a:solidFill>
                <a:latin typeface="Palatino Linotype" pitchFamily="34" charset="0"/>
                <a:ea typeface="Palatino Linotype" pitchFamily="34" charset="-122"/>
                <a:cs typeface="Palatino Linotype" pitchFamily="34" charset="-120"/>
              </a:rPr>
              <a:t>EIS · CDC · 1951</a:t>
            </a:r>
            <a:endParaRPr lang="en-US" sz="1050" dirty="0"/>
          </a:p>
        </p:txBody>
      </p:sp>
      <p:sp>
        <p:nvSpPr>
          <p:cNvPr id="7" name="Text 5"/>
          <p:cNvSpPr/>
          <p:nvPr/>
        </p:nvSpPr>
        <p:spPr>
          <a:xfrm>
            <a:off x="914400" y="2468880"/>
            <a:ext cx="1371600" cy="365760"/>
          </a:xfrm>
          <a:prstGeom prst="rect">
            <a:avLst/>
          </a:prstGeom>
          <a:noFill/>
          <a:ln/>
        </p:spPr>
        <p:txBody>
          <a:bodyPr wrap="square" lIns="0" tIns="0" rIns="0" bIns="0" rtlCol="0" anchor="ctr"/>
          <a:lstStyle/>
          <a:p>
            <a:pPr marL="0" indent="0">
              <a:buNone/>
            </a:pPr>
            <a:r>
              <a:rPr lang="en-US" sz="1600" b="1" dirty="0">
                <a:solidFill>
                  <a:srgbClr val="FF4757"/>
                </a:solidFill>
                <a:latin typeface="Palatino Linotype" pitchFamily="34" charset="0"/>
                <a:ea typeface="Palatino Linotype" pitchFamily="34" charset="-122"/>
                <a:cs typeface="Palatino Linotype" pitchFamily="34" charset="-120"/>
              </a:rPr>
              <a:t>4 100+</a:t>
            </a:r>
            <a:endParaRPr lang="en-US" sz="1600" dirty="0"/>
          </a:p>
        </p:txBody>
      </p:sp>
      <p:sp>
        <p:nvSpPr>
          <p:cNvPr id="8" name="Text 6"/>
          <p:cNvSpPr/>
          <p:nvPr/>
        </p:nvSpPr>
        <p:spPr>
          <a:xfrm>
            <a:off x="2377440" y="2468880"/>
            <a:ext cx="3291840" cy="365760"/>
          </a:xfrm>
          <a:prstGeom prst="rect">
            <a:avLst/>
          </a:prstGeom>
          <a:noFill/>
          <a:ln/>
        </p:spPr>
        <p:txBody>
          <a:bodyPr wrap="square" lIns="0" tIns="0" rIns="0" bIns="0" rtlCol="0" anchor="ctr"/>
          <a:lstStyle/>
          <a:p>
            <a:pPr marL="0" indent="0">
              <a:buNone/>
            </a:pPr>
            <a:r>
              <a:rPr lang="en-US" sz="1250" dirty="0">
                <a:solidFill>
                  <a:srgbClr val="FFFFFF"/>
                </a:solidFill>
                <a:latin typeface="Palatino Linotype" pitchFamily="34" charset="0"/>
                <a:ea typeface="Palatino Linotype" pitchFamily="34" charset="-122"/>
                <a:cs typeface="Palatino Linotype" pitchFamily="34" charset="-120"/>
              </a:rPr>
              <a:t>formați din 1951; 4 175 în raportul pe 2025</a:t>
            </a:r>
            <a:endParaRPr lang="en-US" sz="1250" dirty="0"/>
          </a:p>
        </p:txBody>
      </p:sp>
      <p:sp>
        <p:nvSpPr>
          <p:cNvPr id="9" name="Text 7"/>
          <p:cNvSpPr/>
          <p:nvPr/>
        </p:nvSpPr>
        <p:spPr>
          <a:xfrm>
            <a:off x="914400" y="2907792"/>
            <a:ext cx="1371600" cy="365760"/>
          </a:xfrm>
          <a:prstGeom prst="rect">
            <a:avLst/>
          </a:prstGeom>
          <a:noFill/>
          <a:ln/>
        </p:spPr>
        <p:txBody>
          <a:bodyPr wrap="square" lIns="0" tIns="0" rIns="0" bIns="0" rtlCol="0" anchor="ctr"/>
          <a:lstStyle/>
          <a:p>
            <a:pPr marL="0" indent="0">
              <a:buNone/>
            </a:pPr>
            <a:r>
              <a:rPr lang="en-US" sz="1600" b="1" dirty="0">
                <a:solidFill>
                  <a:srgbClr val="FF4757"/>
                </a:solidFill>
                <a:latin typeface="Palatino Linotype" pitchFamily="34" charset="0"/>
                <a:ea typeface="Palatino Linotype" pitchFamily="34" charset="-122"/>
                <a:cs typeface="Palatino Linotype" pitchFamily="34" charset="-120"/>
              </a:rPr>
              <a:t>40</a:t>
            </a:r>
            <a:endParaRPr lang="en-US" sz="1600" dirty="0"/>
          </a:p>
        </p:txBody>
      </p:sp>
      <p:sp>
        <p:nvSpPr>
          <p:cNvPr id="10" name="Text 8"/>
          <p:cNvSpPr/>
          <p:nvPr/>
        </p:nvSpPr>
        <p:spPr>
          <a:xfrm>
            <a:off x="2377440" y="2907792"/>
            <a:ext cx="3291840" cy="365760"/>
          </a:xfrm>
          <a:prstGeom prst="rect">
            <a:avLst/>
          </a:prstGeom>
          <a:noFill/>
          <a:ln/>
        </p:spPr>
        <p:txBody>
          <a:bodyPr wrap="square" lIns="0" tIns="0" rIns="0" bIns="0" rtlCol="0" anchor="ctr"/>
          <a:lstStyle/>
          <a:p>
            <a:pPr marL="0" indent="0">
              <a:buNone/>
            </a:pPr>
            <a:r>
              <a:rPr lang="en-US" sz="1250" dirty="0">
                <a:solidFill>
                  <a:srgbClr val="FFFFFF"/>
                </a:solidFill>
                <a:latin typeface="Palatino Linotype" pitchFamily="34" charset="0"/>
                <a:ea typeface="Palatino Linotype" pitchFamily="34" charset="-122"/>
                <a:cs typeface="Palatino Linotype" pitchFamily="34" charset="-120"/>
              </a:rPr>
              <a:t>ofițeri în promoția 2026, din 274 de candidați</a:t>
            </a:r>
            <a:endParaRPr lang="en-US" sz="1250" dirty="0"/>
          </a:p>
        </p:txBody>
      </p:sp>
      <p:sp>
        <p:nvSpPr>
          <p:cNvPr id="11" name="Text 9"/>
          <p:cNvSpPr/>
          <p:nvPr/>
        </p:nvSpPr>
        <p:spPr>
          <a:xfrm>
            <a:off x="914400" y="3346704"/>
            <a:ext cx="1371600" cy="365760"/>
          </a:xfrm>
          <a:prstGeom prst="rect">
            <a:avLst/>
          </a:prstGeom>
          <a:noFill/>
          <a:ln/>
        </p:spPr>
        <p:txBody>
          <a:bodyPr wrap="square" lIns="0" tIns="0" rIns="0" bIns="0" rtlCol="0" anchor="ctr"/>
          <a:lstStyle/>
          <a:p>
            <a:pPr marL="0" indent="0">
              <a:buNone/>
            </a:pPr>
            <a:r>
              <a:rPr lang="en-US" sz="1600" b="1" dirty="0">
                <a:solidFill>
                  <a:srgbClr val="FF4757"/>
                </a:solidFill>
                <a:latin typeface="Palatino Linotype" pitchFamily="34" charset="0"/>
                <a:ea typeface="Palatino Linotype" pitchFamily="34" charset="-122"/>
                <a:cs typeface="Palatino Linotype" pitchFamily="34" charset="-120"/>
              </a:rPr>
              <a:t>300+</a:t>
            </a:r>
            <a:endParaRPr lang="en-US" sz="1600" dirty="0"/>
          </a:p>
        </p:txBody>
      </p:sp>
      <p:sp>
        <p:nvSpPr>
          <p:cNvPr id="12" name="Text 10"/>
          <p:cNvSpPr/>
          <p:nvPr/>
        </p:nvSpPr>
        <p:spPr>
          <a:xfrm>
            <a:off x="2377440" y="3346704"/>
            <a:ext cx="3291840" cy="365760"/>
          </a:xfrm>
          <a:prstGeom prst="rect">
            <a:avLst/>
          </a:prstGeom>
          <a:noFill/>
          <a:ln/>
        </p:spPr>
        <p:txBody>
          <a:bodyPr wrap="square" lIns="0" tIns="0" rIns="0" bIns="0" rtlCol="0" anchor="ctr"/>
          <a:lstStyle/>
          <a:p>
            <a:pPr marL="0" indent="0">
              <a:buNone/>
            </a:pPr>
            <a:r>
              <a:rPr lang="en-US" sz="1250" dirty="0">
                <a:solidFill>
                  <a:srgbClr val="FFFFFF"/>
                </a:solidFill>
                <a:latin typeface="Palatino Linotype" pitchFamily="34" charset="0"/>
                <a:ea typeface="Palatino Linotype" pitchFamily="34" charset="-122"/>
                <a:cs typeface="Palatino Linotype" pitchFamily="34" charset="-120"/>
              </a:rPr>
              <a:t>investigații pe an</a:t>
            </a:r>
            <a:endParaRPr lang="en-US" sz="1250" dirty="0"/>
          </a:p>
        </p:txBody>
      </p:sp>
      <p:sp>
        <p:nvSpPr>
          <p:cNvPr id="13" name="Text 11"/>
          <p:cNvSpPr/>
          <p:nvPr/>
        </p:nvSpPr>
        <p:spPr>
          <a:xfrm>
            <a:off x="914400" y="3785616"/>
            <a:ext cx="1371600" cy="365760"/>
          </a:xfrm>
          <a:prstGeom prst="rect">
            <a:avLst/>
          </a:prstGeom>
          <a:noFill/>
          <a:ln/>
        </p:spPr>
        <p:txBody>
          <a:bodyPr wrap="square" lIns="0" tIns="0" rIns="0" bIns="0" rtlCol="0" anchor="ctr"/>
          <a:lstStyle/>
          <a:p>
            <a:pPr marL="0" indent="0">
              <a:buNone/>
            </a:pPr>
            <a:r>
              <a:rPr lang="en-US" sz="1600" b="1" dirty="0">
                <a:solidFill>
                  <a:srgbClr val="FF4757"/>
                </a:solidFill>
                <a:latin typeface="Palatino Linotype" pitchFamily="34" charset="0"/>
                <a:ea typeface="Palatino Linotype" pitchFamily="34" charset="-122"/>
                <a:cs typeface="Palatino Linotype" pitchFamily="34" charset="-120"/>
              </a:rPr>
              <a:t>97%</a:t>
            </a:r>
            <a:endParaRPr lang="en-US" sz="1600" dirty="0"/>
          </a:p>
        </p:txBody>
      </p:sp>
      <p:sp>
        <p:nvSpPr>
          <p:cNvPr id="14" name="Text 12"/>
          <p:cNvSpPr/>
          <p:nvPr/>
        </p:nvSpPr>
        <p:spPr>
          <a:xfrm>
            <a:off x="2377440" y="3785616"/>
            <a:ext cx="3291840" cy="365760"/>
          </a:xfrm>
          <a:prstGeom prst="rect">
            <a:avLst/>
          </a:prstGeom>
          <a:noFill/>
          <a:ln/>
        </p:spPr>
        <p:txBody>
          <a:bodyPr wrap="square" lIns="0" tIns="0" rIns="0" bIns="0" rtlCol="0" anchor="ctr"/>
          <a:lstStyle/>
          <a:p>
            <a:pPr marL="0" indent="0">
              <a:buNone/>
            </a:pPr>
            <a:r>
              <a:rPr lang="en-US" sz="1250" dirty="0">
                <a:solidFill>
                  <a:srgbClr val="FFFFFF"/>
                </a:solidFill>
                <a:latin typeface="Palatino Linotype" pitchFamily="34" charset="0"/>
                <a:ea typeface="Palatino Linotype" pitchFamily="34" charset="-122"/>
                <a:cs typeface="Palatino Linotype" pitchFamily="34" charset="-120"/>
              </a:rPr>
              <a:t>absolvenți recenți în sănătatea publică</a:t>
            </a:r>
            <a:endParaRPr lang="en-US" sz="1250" dirty="0"/>
          </a:p>
        </p:txBody>
      </p:sp>
      <p:sp>
        <p:nvSpPr>
          <p:cNvPr id="15" name="Shape 13"/>
          <p:cNvSpPr/>
          <p:nvPr/>
        </p:nvSpPr>
        <p:spPr>
          <a:xfrm>
            <a:off x="6217920" y="1737360"/>
            <a:ext cx="5349240" cy="2514600"/>
          </a:xfrm>
          <a:prstGeom prst="roundRect">
            <a:avLst>
              <a:gd name="adj" fmla="val 3273"/>
            </a:avLst>
          </a:prstGeom>
          <a:solidFill>
            <a:srgbClr val="1D1F2B"/>
          </a:solidFill>
          <a:ln w="12700">
            <a:solidFill>
              <a:srgbClr val="1D1F2B"/>
            </a:solidFill>
            <a:prstDash val="solid"/>
          </a:ln>
        </p:spPr>
        <p:txBody>
          <a:bodyPr/>
          <a:lstStyle/>
          <a:p>
            <a:endParaRPr lang="ro-RO"/>
          </a:p>
        </p:txBody>
      </p:sp>
      <p:sp>
        <p:nvSpPr>
          <p:cNvPr id="16" name="Shape 14"/>
          <p:cNvSpPr/>
          <p:nvPr/>
        </p:nvSpPr>
        <p:spPr>
          <a:xfrm>
            <a:off x="6537960" y="1920240"/>
            <a:ext cx="2926080" cy="329184"/>
          </a:xfrm>
          <a:prstGeom prst="roundRect">
            <a:avLst>
              <a:gd name="adj" fmla="val 50000"/>
            </a:avLst>
          </a:prstGeom>
          <a:solidFill>
            <a:srgbClr val="27D3BE"/>
          </a:solidFill>
          <a:ln w="12700">
            <a:solidFill>
              <a:srgbClr val="27D3BE"/>
            </a:solidFill>
            <a:prstDash val="solid"/>
          </a:ln>
        </p:spPr>
        <p:txBody>
          <a:bodyPr/>
          <a:lstStyle/>
          <a:p>
            <a:endParaRPr lang="ro-RO"/>
          </a:p>
        </p:txBody>
      </p:sp>
      <p:sp>
        <p:nvSpPr>
          <p:cNvPr id="17" name="Text 15"/>
          <p:cNvSpPr/>
          <p:nvPr/>
        </p:nvSpPr>
        <p:spPr>
          <a:xfrm>
            <a:off x="6537960" y="1920240"/>
            <a:ext cx="2926080" cy="329184"/>
          </a:xfrm>
          <a:prstGeom prst="rect">
            <a:avLst/>
          </a:prstGeom>
          <a:noFill/>
          <a:ln/>
        </p:spPr>
        <p:txBody>
          <a:bodyPr wrap="square" lIns="0" tIns="0" rIns="0" bIns="0" rtlCol="0" anchor="ctr"/>
          <a:lstStyle/>
          <a:p>
            <a:pPr marL="0" indent="0" algn="ctr">
              <a:buNone/>
            </a:pPr>
            <a:r>
              <a:rPr lang="en-US" sz="1050" b="1" dirty="0">
                <a:solidFill>
                  <a:srgbClr val="073B34"/>
                </a:solidFill>
                <a:latin typeface="Palatino Linotype" pitchFamily="34" charset="0"/>
                <a:ea typeface="Palatino Linotype" pitchFamily="34" charset="-122"/>
                <a:cs typeface="Palatino Linotype" pitchFamily="34" charset="-120"/>
              </a:rPr>
              <a:t>EPIET · DIN 1995</a:t>
            </a:r>
            <a:endParaRPr lang="en-US" sz="1050" dirty="0"/>
          </a:p>
        </p:txBody>
      </p:sp>
      <p:sp>
        <p:nvSpPr>
          <p:cNvPr id="18" name="Text 16"/>
          <p:cNvSpPr/>
          <p:nvPr/>
        </p:nvSpPr>
        <p:spPr>
          <a:xfrm>
            <a:off x="6537960" y="2468880"/>
            <a:ext cx="1371600" cy="365760"/>
          </a:xfrm>
          <a:prstGeom prst="rect">
            <a:avLst/>
          </a:prstGeom>
          <a:noFill/>
          <a:ln/>
        </p:spPr>
        <p:txBody>
          <a:bodyPr wrap="square" lIns="0" tIns="0" rIns="0" bIns="0" rtlCol="0" anchor="ctr"/>
          <a:lstStyle/>
          <a:p>
            <a:pPr marL="0" indent="0">
              <a:buNone/>
            </a:pPr>
            <a:r>
              <a:rPr lang="en-US" sz="1600" b="1" dirty="0">
                <a:solidFill>
                  <a:srgbClr val="27D3BE"/>
                </a:solidFill>
                <a:latin typeface="Palatino Linotype" pitchFamily="34" charset="0"/>
                <a:ea typeface="Palatino Linotype" pitchFamily="34" charset="-122"/>
                <a:cs typeface="Palatino Linotype" pitchFamily="34" charset="-120"/>
              </a:rPr>
              <a:t>doi ani</a:t>
            </a:r>
            <a:endParaRPr lang="en-US" sz="1600" dirty="0"/>
          </a:p>
        </p:txBody>
      </p:sp>
      <p:sp>
        <p:nvSpPr>
          <p:cNvPr id="19" name="Text 17"/>
          <p:cNvSpPr/>
          <p:nvPr/>
        </p:nvSpPr>
        <p:spPr>
          <a:xfrm>
            <a:off x="8001000" y="2468880"/>
            <a:ext cx="3291840" cy="365760"/>
          </a:xfrm>
          <a:prstGeom prst="rect">
            <a:avLst/>
          </a:prstGeom>
          <a:noFill/>
          <a:ln/>
        </p:spPr>
        <p:txBody>
          <a:bodyPr wrap="square" lIns="0" tIns="0" rIns="0" bIns="0" rtlCol="0" anchor="ctr"/>
          <a:lstStyle/>
          <a:p>
            <a:pPr marL="0" indent="0">
              <a:buNone/>
            </a:pPr>
            <a:r>
              <a:rPr lang="en-US" sz="1250" dirty="0">
                <a:solidFill>
                  <a:srgbClr val="FFFFFF"/>
                </a:solidFill>
                <a:latin typeface="Palatino Linotype" pitchFamily="34" charset="0"/>
                <a:ea typeface="Palatino Linotype" pitchFamily="34" charset="-122"/>
                <a:cs typeface="Palatino Linotype" pitchFamily="34" charset="-120"/>
              </a:rPr>
              <a:t>durata ECDC Fellowship Programme</a:t>
            </a:r>
            <a:endParaRPr lang="en-US" sz="1250" dirty="0"/>
          </a:p>
        </p:txBody>
      </p:sp>
      <p:sp>
        <p:nvSpPr>
          <p:cNvPr id="20" name="Text 18"/>
          <p:cNvSpPr/>
          <p:nvPr/>
        </p:nvSpPr>
        <p:spPr>
          <a:xfrm>
            <a:off x="6537960" y="2907792"/>
            <a:ext cx="1371600" cy="365760"/>
          </a:xfrm>
          <a:prstGeom prst="rect">
            <a:avLst/>
          </a:prstGeom>
          <a:noFill/>
          <a:ln/>
        </p:spPr>
        <p:txBody>
          <a:bodyPr wrap="square" lIns="0" tIns="0" rIns="0" bIns="0" rtlCol="0" anchor="ctr"/>
          <a:lstStyle/>
          <a:p>
            <a:pPr marL="0" indent="0">
              <a:buNone/>
            </a:pPr>
            <a:r>
              <a:rPr lang="en-US" sz="1600" b="1" dirty="0">
                <a:solidFill>
                  <a:srgbClr val="27D3BE"/>
                </a:solidFill>
                <a:latin typeface="Palatino Linotype" pitchFamily="34" charset="0"/>
                <a:ea typeface="Palatino Linotype" pitchFamily="34" charset="-122"/>
                <a:cs typeface="Palatino Linotype" pitchFamily="34" charset="-120"/>
              </a:rPr>
              <a:t>149</a:t>
            </a:r>
            <a:endParaRPr lang="en-US" sz="1600" dirty="0"/>
          </a:p>
        </p:txBody>
      </p:sp>
      <p:sp>
        <p:nvSpPr>
          <p:cNvPr id="21" name="Text 19"/>
          <p:cNvSpPr/>
          <p:nvPr/>
        </p:nvSpPr>
        <p:spPr>
          <a:xfrm>
            <a:off x="8001000" y="2907792"/>
            <a:ext cx="3291840" cy="365760"/>
          </a:xfrm>
          <a:prstGeom prst="rect">
            <a:avLst/>
          </a:prstGeom>
          <a:noFill/>
          <a:ln/>
        </p:spPr>
        <p:txBody>
          <a:bodyPr wrap="square" lIns="0" tIns="0" rIns="0" bIns="0" rtlCol="0" anchor="ctr"/>
          <a:lstStyle/>
          <a:p>
            <a:pPr marL="0" indent="0">
              <a:buNone/>
            </a:pPr>
            <a:r>
              <a:rPr lang="en-US" sz="1250" dirty="0">
                <a:solidFill>
                  <a:srgbClr val="FFFFFF"/>
                </a:solidFill>
                <a:latin typeface="Palatino Linotype" pitchFamily="34" charset="0"/>
                <a:ea typeface="Palatino Linotype" pitchFamily="34" charset="-122"/>
                <a:cs typeface="Palatino Linotype" pitchFamily="34" charset="-120"/>
              </a:rPr>
              <a:t>diplome EPIET, 1995–2008</a:t>
            </a:r>
            <a:endParaRPr lang="en-US" sz="1250" dirty="0"/>
          </a:p>
        </p:txBody>
      </p:sp>
      <p:sp>
        <p:nvSpPr>
          <p:cNvPr id="22" name="Text 20"/>
          <p:cNvSpPr/>
          <p:nvPr/>
        </p:nvSpPr>
        <p:spPr>
          <a:xfrm>
            <a:off x="6537960" y="3346704"/>
            <a:ext cx="1371600" cy="365760"/>
          </a:xfrm>
          <a:prstGeom prst="rect">
            <a:avLst/>
          </a:prstGeom>
          <a:noFill/>
          <a:ln/>
        </p:spPr>
        <p:txBody>
          <a:bodyPr wrap="square" lIns="0" tIns="0" rIns="0" bIns="0" rtlCol="0" anchor="ctr"/>
          <a:lstStyle/>
          <a:p>
            <a:pPr marL="0" indent="0">
              <a:buNone/>
            </a:pPr>
            <a:r>
              <a:rPr lang="en-US" sz="1600" b="1" dirty="0">
                <a:solidFill>
                  <a:srgbClr val="27D3BE"/>
                </a:solidFill>
                <a:latin typeface="Palatino Linotype" pitchFamily="34" charset="0"/>
                <a:ea typeface="Palatino Linotype" pitchFamily="34" charset="-122"/>
                <a:cs typeface="Palatino Linotype" pitchFamily="34" charset="-120"/>
              </a:rPr>
              <a:t>90%</a:t>
            </a:r>
            <a:endParaRPr lang="en-US" sz="1600" dirty="0"/>
          </a:p>
        </p:txBody>
      </p:sp>
      <p:sp>
        <p:nvSpPr>
          <p:cNvPr id="23" name="Text 21"/>
          <p:cNvSpPr/>
          <p:nvPr/>
        </p:nvSpPr>
        <p:spPr>
          <a:xfrm>
            <a:off x="8001000" y="3346704"/>
            <a:ext cx="3291840" cy="365760"/>
          </a:xfrm>
          <a:prstGeom prst="rect">
            <a:avLst/>
          </a:prstGeom>
          <a:noFill/>
          <a:ln/>
        </p:spPr>
        <p:txBody>
          <a:bodyPr wrap="square" lIns="0" tIns="0" rIns="0" bIns="0" rtlCol="0" anchor="ctr"/>
          <a:lstStyle/>
          <a:p>
            <a:pPr marL="0" indent="0">
              <a:buNone/>
            </a:pPr>
            <a:r>
              <a:rPr lang="en-US" sz="1250" dirty="0">
                <a:solidFill>
                  <a:srgbClr val="FFFFFF"/>
                </a:solidFill>
                <a:latin typeface="Palatino Linotype" pitchFamily="34" charset="0"/>
                <a:ea typeface="Palatino Linotype" pitchFamily="34" charset="-122"/>
                <a:cs typeface="Palatino Linotype" pitchFamily="34" charset="-120"/>
              </a:rPr>
              <a:t>lucrau în sănătatea publică aplicată</a:t>
            </a:r>
            <a:endParaRPr lang="en-US" sz="1250" dirty="0"/>
          </a:p>
        </p:txBody>
      </p:sp>
      <p:sp>
        <p:nvSpPr>
          <p:cNvPr id="24" name="Text 22"/>
          <p:cNvSpPr/>
          <p:nvPr/>
        </p:nvSpPr>
        <p:spPr>
          <a:xfrm>
            <a:off x="6537960" y="3785616"/>
            <a:ext cx="1371600" cy="365760"/>
          </a:xfrm>
          <a:prstGeom prst="rect">
            <a:avLst/>
          </a:prstGeom>
          <a:noFill/>
          <a:ln/>
        </p:spPr>
        <p:txBody>
          <a:bodyPr wrap="square" lIns="0" tIns="0" rIns="0" bIns="0" rtlCol="0" anchor="ctr"/>
          <a:lstStyle/>
          <a:p>
            <a:pPr marL="0" indent="0">
              <a:buNone/>
            </a:pPr>
            <a:r>
              <a:rPr lang="en-US" sz="1600" b="1" dirty="0">
                <a:solidFill>
                  <a:srgbClr val="27D3BE"/>
                </a:solidFill>
                <a:latin typeface="Palatino Linotype" pitchFamily="34" charset="0"/>
                <a:ea typeface="Palatino Linotype" pitchFamily="34" charset="-122"/>
                <a:cs typeface="Palatino Linotype" pitchFamily="34" charset="-120"/>
              </a:rPr>
              <a:t>340</a:t>
            </a:r>
            <a:endParaRPr lang="en-US" sz="1600" dirty="0"/>
          </a:p>
        </p:txBody>
      </p:sp>
      <p:sp>
        <p:nvSpPr>
          <p:cNvPr id="25" name="Text 23"/>
          <p:cNvSpPr/>
          <p:nvPr/>
        </p:nvSpPr>
        <p:spPr>
          <a:xfrm>
            <a:off x="8001000" y="3785616"/>
            <a:ext cx="3291840" cy="365760"/>
          </a:xfrm>
          <a:prstGeom prst="rect">
            <a:avLst/>
          </a:prstGeom>
          <a:noFill/>
          <a:ln/>
        </p:spPr>
        <p:txBody>
          <a:bodyPr wrap="square" lIns="0" tIns="0" rIns="0" bIns="0" rtlCol="0" anchor="ctr"/>
          <a:lstStyle/>
          <a:p>
            <a:pPr marL="0" indent="0">
              <a:buNone/>
            </a:pPr>
            <a:r>
              <a:rPr lang="en-US" sz="1250" dirty="0">
                <a:solidFill>
                  <a:srgbClr val="FFFFFF"/>
                </a:solidFill>
                <a:latin typeface="Palatino Linotype" pitchFamily="34" charset="0"/>
                <a:ea typeface="Palatino Linotype" pitchFamily="34" charset="-122"/>
                <a:cs typeface="Palatino Linotype" pitchFamily="34" charset="-120"/>
              </a:rPr>
              <a:t>publicații din proiectele participanților, până în 2009</a:t>
            </a:r>
            <a:endParaRPr lang="en-US" sz="1250" dirty="0"/>
          </a:p>
        </p:txBody>
      </p:sp>
      <p:sp>
        <p:nvSpPr>
          <p:cNvPr id="26" name="Shape 24"/>
          <p:cNvSpPr/>
          <p:nvPr/>
        </p:nvSpPr>
        <p:spPr>
          <a:xfrm>
            <a:off x="594360" y="4434840"/>
            <a:ext cx="10972800" cy="914400"/>
          </a:xfrm>
          <a:prstGeom prst="roundRect">
            <a:avLst>
              <a:gd name="adj" fmla="val 9000"/>
            </a:avLst>
          </a:prstGeom>
          <a:solidFill>
            <a:srgbClr val="07564B"/>
          </a:solidFill>
          <a:ln w="12700">
            <a:solidFill>
              <a:srgbClr val="07564B"/>
            </a:solidFill>
            <a:prstDash val="solid"/>
          </a:ln>
        </p:spPr>
        <p:txBody>
          <a:bodyPr/>
          <a:lstStyle/>
          <a:p>
            <a:endParaRPr lang="ro-RO"/>
          </a:p>
        </p:txBody>
      </p:sp>
      <p:sp>
        <p:nvSpPr>
          <p:cNvPr id="27" name="Text 25"/>
          <p:cNvSpPr/>
          <p:nvPr/>
        </p:nvSpPr>
        <p:spPr>
          <a:xfrm>
            <a:off x="960120" y="4434840"/>
            <a:ext cx="10241280" cy="914400"/>
          </a:xfrm>
          <a:prstGeom prst="rect">
            <a:avLst/>
          </a:prstGeom>
          <a:noFill/>
          <a:ln/>
        </p:spPr>
        <p:txBody>
          <a:bodyPr wrap="square" lIns="0" tIns="0" rIns="0" bIns="0" rtlCol="0" anchor="ctr"/>
          <a:lstStyle/>
          <a:p>
            <a:pPr marL="0" indent="0">
              <a:buNone/>
            </a:pPr>
            <a:r>
              <a:rPr lang="en-US" sz="1400" b="1" dirty="0">
                <a:solidFill>
                  <a:srgbClr val="FFFFFF"/>
                </a:solidFill>
                <a:latin typeface="Palatino Linotype" pitchFamily="34" charset="0"/>
                <a:ea typeface="Palatino Linotype" pitchFamily="34" charset="-122"/>
                <a:cs typeface="Palatino Linotype" pitchFamily="34" charset="-120"/>
              </a:rPr>
              <a:t>INSP–CNSCBT București: sit de formare recunoscut pentru EPIET, nu și pentru EUPHEM (lista ECDC, 6 februarie 2026); situl românesc EUPHEM este Institutul Cantacuzino. Pe EU-track, participanții (fellows) lucrează în afara țării lor; pe MS-track, în propria țară.</a:t>
            </a:r>
            <a:endParaRPr lang="en-US" sz="1400" dirty="0"/>
          </a:p>
        </p:txBody>
      </p:sp>
      <p:sp>
        <p:nvSpPr>
          <p:cNvPr id="28" name="Shape 26"/>
          <p:cNvSpPr/>
          <p:nvPr/>
        </p:nvSpPr>
        <p:spPr>
          <a:xfrm>
            <a:off x="594360" y="5486400"/>
            <a:ext cx="10972800" cy="502920"/>
          </a:xfrm>
          <a:prstGeom prst="roundRect">
            <a:avLst>
              <a:gd name="adj" fmla="val 16364"/>
            </a:avLst>
          </a:prstGeom>
          <a:solidFill>
            <a:srgbClr val="2A1E22"/>
          </a:solidFill>
          <a:ln w="12700">
            <a:solidFill>
              <a:srgbClr val="2A1E22"/>
            </a:solidFill>
            <a:prstDash val="solid"/>
          </a:ln>
        </p:spPr>
        <p:txBody>
          <a:bodyPr/>
          <a:lstStyle/>
          <a:p>
            <a:endParaRPr lang="ro-RO"/>
          </a:p>
        </p:txBody>
      </p:sp>
      <p:sp>
        <p:nvSpPr>
          <p:cNvPr id="29" name="Text 27"/>
          <p:cNvSpPr/>
          <p:nvPr/>
        </p:nvSpPr>
        <p:spPr>
          <a:xfrm>
            <a:off x="960120" y="5486400"/>
            <a:ext cx="10241280" cy="502920"/>
          </a:xfrm>
          <a:prstGeom prst="rect">
            <a:avLst/>
          </a:prstGeom>
          <a:noFill/>
          <a:ln/>
        </p:spPr>
        <p:txBody>
          <a:bodyPr wrap="square" lIns="0" tIns="0" rIns="0" bIns="0" rtlCol="0" anchor="ctr"/>
          <a:lstStyle/>
          <a:p>
            <a:pPr marL="0" indent="0">
              <a:buNone/>
            </a:pPr>
            <a:r>
              <a:rPr lang="en-US" sz="1300" b="1" dirty="0">
                <a:solidFill>
                  <a:srgbClr val="FF4757"/>
                </a:solidFill>
                <a:latin typeface="Palatino Linotype" pitchFamily="34" charset="0"/>
                <a:ea typeface="Palatino Linotype" pitchFamily="34" charset="-122"/>
                <a:cs typeface="Palatino Linotype" pitchFamily="34" charset="-120"/>
              </a:rPr>
              <a:t>Câți epidemiologi de teren are România? Nicio cifră oficială identificată — absența ei este un rezultat. TEPHINET, global: peste 40 328 de absolvenți FETP (contor nedatat, consultat la 27 septembrie 2026).</a:t>
            </a:r>
            <a:endParaRPr lang="en-US" sz="1300" dirty="0"/>
          </a:p>
        </p:txBody>
      </p:sp>
      <p:sp>
        <p:nvSpPr>
          <p:cNvPr id="30" name="Text 28"/>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Surse: CDC. About EIS (22.07.2026); EIS 2025 annual update; fișa EIS, august 2025. · ECDC. Fellowship Programme; lista siturilor (6.02.2026); pagina INSP (30.08.2018). · Bosman A et al. Euro Surveill. 2009;14(43):19381. · TEPHINET (27.09.2026).</a:t>
            </a:r>
            <a:endParaRPr lang="en-US" sz="900" dirty="0"/>
          </a:p>
          <a:p>
            <a:pPr marL="0" indent="0">
              <a:buNone/>
            </a:pPr>
            <a:r>
              <a:rPr lang="en-US" sz="900" i="1" dirty="0">
                <a:solidFill>
                  <a:srgbClr val="7E849A"/>
                </a:solidFill>
                <a:latin typeface="Palatino Linotype" pitchFamily="34" charset="0"/>
                <a:ea typeface="Palatino Linotype" pitchFamily="34" charset="-122"/>
                <a:cs typeface="Palatino Linotype" pitchFamily="34" charset="-120"/>
              </a:rPr>
              <a:t>Cei 135 de ofițeri din fișa EIS (anul fiscal 2024) au sprijinit răspunsul local la urgențe; nu sunt efectivul programului.</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bg>
      <p:bgPr>
        <a:solidFill>
          <a:srgbClr val="FF4757"/>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2E060B"/>
                </a:solidFill>
                <a:latin typeface="Palatino Linotype" pitchFamily="34" charset="0"/>
                <a:ea typeface="Palatino Linotype" pitchFamily="34" charset="-122"/>
                <a:cs typeface="Palatino Linotype" pitchFamily="34" charset="-120"/>
              </a:rPr>
              <a:t>ROMÂNIA · CNSCBT, RAPORT PENTRU ANUL 2024 (84 P., PUBLICAT 15 OCTOMBRIE 2025)</a:t>
            </a:r>
            <a:endParaRPr lang="en-US" sz="1150" dirty="0"/>
          </a:p>
        </p:txBody>
      </p:sp>
      <p:sp>
        <p:nvSpPr>
          <p:cNvPr id="3" name="Text 1"/>
          <p:cNvSpPr/>
          <p:nvPr/>
        </p:nvSpPr>
        <p:spPr>
          <a:xfrm>
            <a:off x="594360" y="868680"/>
            <a:ext cx="10972800" cy="685800"/>
          </a:xfrm>
          <a:prstGeom prst="rect">
            <a:avLst/>
          </a:prstGeom>
          <a:noFill/>
          <a:ln/>
        </p:spPr>
        <p:txBody>
          <a:bodyPr wrap="square" lIns="0" tIns="0" rIns="0" bIns="0" rtlCol="0" anchor="ctr"/>
          <a:lstStyle/>
          <a:p>
            <a:pPr marL="0" indent="0">
              <a:buNone/>
            </a:pPr>
            <a:r>
              <a:rPr lang="en-US" sz="3400" b="1" dirty="0">
                <a:solidFill>
                  <a:srgbClr val="2E060B"/>
                </a:solidFill>
                <a:latin typeface="Palatino Linotype" pitchFamily="34" charset="0"/>
                <a:ea typeface="Palatino Linotype" pitchFamily="34" charset="-122"/>
                <a:cs typeface="Palatino Linotype" pitchFamily="34" charset="-120"/>
              </a:rPr>
              <a:t>O creștere documentată în raportul oficial</a:t>
            </a:r>
            <a:endParaRPr lang="en-US" sz="3400" dirty="0"/>
          </a:p>
        </p:txBody>
      </p:sp>
      <p:sp>
        <p:nvSpPr>
          <p:cNvPr id="4" name="Shape 2"/>
          <p:cNvSpPr/>
          <p:nvPr/>
        </p:nvSpPr>
        <p:spPr>
          <a:xfrm>
            <a:off x="594360" y="1691640"/>
            <a:ext cx="3429000" cy="1234440"/>
          </a:xfrm>
          <a:prstGeom prst="roundRect">
            <a:avLst>
              <a:gd name="adj" fmla="val 6667"/>
            </a:avLst>
          </a:prstGeom>
          <a:solidFill>
            <a:srgbClr val="7C0F1A"/>
          </a:solidFill>
          <a:ln w="12700">
            <a:solidFill>
              <a:srgbClr val="7C0F1A"/>
            </a:solidFill>
            <a:prstDash val="solid"/>
          </a:ln>
        </p:spPr>
        <p:txBody>
          <a:bodyPr/>
          <a:lstStyle/>
          <a:p>
            <a:endParaRPr lang="ro-RO"/>
          </a:p>
        </p:txBody>
      </p:sp>
      <p:sp>
        <p:nvSpPr>
          <p:cNvPr id="5" name="Text 3"/>
          <p:cNvSpPr/>
          <p:nvPr/>
        </p:nvSpPr>
        <p:spPr>
          <a:xfrm>
            <a:off x="822960" y="1783080"/>
            <a:ext cx="2971800" cy="658368"/>
          </a:xfrm>
          <a:prstGeom prst="rect">
            <a:avLst/>
          </a:prstGeom>
          <a:noFill/>
          <a:ln/>
        </p:spPr>
        <p:txBody>
          <a:bodyPr wrap="square" lIns="0" tIns="0" rIns="0" bIns="0" rtlCol="0" anchor="ctr"/>
          <a:lstStyle/>
          <a:p>
            <a:pPr marL="0" indent="0">
              <a:buNone/>
            </a:pPr>
            <a:r>
              <a:rPr lang="en-US" sz="3000" b="1" dirty="0">
                <a:solidFill>
                  <a:srgbClr val="FFC24B"/>
                </a:solidFill>
                <a:latin typeface="Palatino Linotype" pitchFamily="34" charset="0"/>
                <a:ea typeface="Palatino Linotype" pitchFamily="34" charset="-122"/>
                <a:cs typeface="Palatino Linotype" pitchFamily="34" charset="-120"/>
              </a:rPr>
              <a:t>46 → 162</a:t>
            </a:r>
            <a:endParaRPr lang="en-US" sz="3000" dirty="0"/>
          </a:p>
        </p:txBody>
      </p:sp>
      <p:sp>
        <p:nvSpPr>
          <p:cNvPr id="6" name="Text 4"/>
          <p:cNvSpPr/>
          <p:nvPr/>
        </p:nvSpPr>
        <p:spPr>
          <a:xfrm>
            <a:off x="822960" y="2432304"/>
            <a:ext cx="2971800" cy="411480"/>
          </a:xfrm>
          <a:prstGeom prst="rect">
            <a:avLst/>
          </a:prstGeom>
          <a:noFill/>
          <a:ln/>
        </p:spPr>
        <p:txBody>
          <a:bodyPr wrap="square" lIns="0" tIns="0" rIns="0" bIns="0" rtlCol="0" anchor="ctr"/>
          <a:lstStyle/>
          <a:p>
            <a:pPr marL="0" indent="0">
              <a:buNone/>
            </a:pPr>
            <a:r>
              <a:rPr lang="en-US" sz="1250" dirty="0">
                <a:solidFill>
                  <a:srgbClr val="FFFFFF"/>
                </a:solidFill>
                <a:latin typeface="Palatino Linotype" pitchFamily="34" charset="0"/>
                <a:ea typeface="Palatino Linotype" pitchFamily="34" charset="-122"/>
                <a:cs typeface="Palatino Linotype" pitchFamily="34" charset="-120"/>
              </a:rPr>
              <a:t>focare de hepatită virală A</a:t>
            </a:r>
            <a:endParaRPr lang="en-US" sz="1250" dirty="0"/>
          </a:p>
        </p:txBody>
      </p:sp>
      <p:sp>
        <p:nvSpPr>
          <p:cNvPr id="7" name="Shape 5"/>
          <p:cNvSpPr/>
          <p:nvPr/>
        </p:nvSpPr>
        <p:spPr>
          <a:xfrm>
            <a:off x="4297680" y="1691640"/>
            <a:ext cx="3429000" cy="1234440"/>
          </a:xfrm>
          <a:prstGeom prst="roundRect">
            <a:avLst>
              <a:gd name="adj" fmla="val 6667"/>
            </a:avLst>
          </a:prstGeom>
          <a:solidFill>
            <a:srgbClr val="7C0F1A"/>
          </a:solidFill>
          <a:ln w="12700">
            <a:solidFill>
              <a:srgbClr val="7C0F1A"/>
            </a:solidFill>
            <a:prstDash val="solid"/>
          </a:ln>
        </p:spPr>
        <p:txBody>
          <a:bodyPr/>
          <a:lstStyle/>
          <a:p>
            <a:endParaRPr lang="ro-RO"/>
          </a:p>
        </p:txBody>
      </p:sp>
      <p:sp>
        <p:nvSpPr>
          <p:cNvPr id="8" name="Text 6"/>
          <p:cNvSpPr/>
          <p:nvPr/>
        </p:nvSpPr>
        <p:spPr>
          <a:xfrm>
            <a:off x="4526280" y="1783080"/>
            <a:ext cx="2971800" cy="658368"/>
          </a:xfrm>
          <a:prstGeom prst="rect">
            <a:avLst/>
          </a:prstGeom>
          <a:noFill/>
          <a:ln/>
        </p:spPr>
        <p:txBody>
          <a:bodyPr wrap="square" lIns="0" tIns="0" rIns="0" bIns="0" rtlCol="0" anchor="ctr"/>
          <a:lstStyle/>
          <a:p>
            <a:pPr marL="0" indent="0">
              <a:buNone/>
            </a:pPr>
            <a:r>
              <a:rPr lang="en-US" sz="3000" b="1" dirty="0">
                <a:solidFill>
                  <a:srgbClr val="FFC24B"/>
                </a:solidFill>
                <a:latin typeface="Palatino Linotype" pitchFamily="34" charset="0"/>
                <a:ea typeface="Palatino Linotype" pitchFamily="34" charset="-122"/>
                <a:cs typeface="Palatino Linotype" pitchFamily="34" charset="-120"/>
              </a:rPr>
              <a:t>333 → 1 374</a:t>
            </a:r>
            <a:endParaRPr lang="en-US" sz="3000" dirty="0"/>
          </a:p>
        </p:txBody>
      </p:sp>
      <p:sp>
        <p:nvSpPr>
          <p:cNvPr id="9" name="Text 7"/>
          <p:cNvSpPr/>
          <p:nvPr/>
        </p:nvSpPr>
        <p:spPr>
          <a:xfrm>
            <a:off x="4526280" y="2432304"/>
            <a:ext cx="2971800" cy="411480"/>
          </a:xfrm>
          <a:prstGeom prst="rect">
            <a:avLst/>
          </a:prstGeom>
          <a:noFill/>
          <a:ln/>
        </p:spPr>
        <p:txBody>
          <a:bodyPr wrap="square" lIns="0" tIns="0" rIns="0" bIns="0" rtlCol="0" anchor="ctr"/>
          <a:lstStyle/>
          <a:p>
            <a:pPr marL="0" indent="0">
              <a:buNone/>
            </a:pPr>
            <a:r>
              <a:rPr lang="en-US" sz="1250" dirty="0">
                <a:solidFill>
                  <a:srgbClr val="FFFFFF"/>
                </a:solidFill>
                <a:latin typeface="Palatino Linotype" pitchFamily="34" charset="0"/>
                <a:ea typeface="Palatino Linotype" pitchFamily="34" charset="-122"/>
                <a:cs typeface="Palatino Linotype" pitchFamily="34" charset="-120"/>
              </a:rPr>
              <a:t>cazuri în focare</a:t>
            </a:r>
            <a:endParaRPr lang="en-US" sz="1250" dirty="0"/>
          </a:p>
        </p:txBody>
      </p:sp>
      <p:sp>
        <p:nvSpPr>
          <p:cNvPr id="10" name="Shape 8"/>
          <p:cNvSpPr/>
          <p:nvPr/>
        </p:nvSpPr>
        <p:spPr>
          <a:xfrm>
            <a:off x="8001000" y="1691640"/>
            <a:ext cx="3429000" cy="1234440"/>
          </a:xfrm>
          <a:prstGeom prst="roundRect">
            <a:avLst>
              <a:gd name="adj" fmla="val 6667"/>
            </a:avLst>
          </a:prstGeom>
          <a:solidFill>
            <a:srgbClr val="7C0F1A"/>
          </a:solidFill>
          <a:ln w="12700">
            <a:solidFill>
              <a:srgbClr val="7C0F1A"/>
            </a:solidFill>
            <a:prstDash val="solid"/>
          </a:ln>
        </p:spPr>
        <p:txBody>
          <a:bodyPr/>
          <a:lstStyle/>
          <a:p>
            <a:endParaRPr lang="ro-RO"/>
          </a:p>
        </p:txBody>
      </p:sp>
      <p:sp>
        <p:nvSpPr>
          <p:cNvPr id="11" name="Text 9"/>
          <p:cNvSpPr/>
          <p:nvPr/>
        </p:nvSpPr>
        <p:spPr>
          <a:xfrm>
            <a:off x="8229600" y="1783080"/>
            <a:ext cx="2971800" cy="658368"/>
          </a:xfrm>
          <a:prstGeom prst="rect">
            <a:avLst/>
          </a:prstGeom>
          <a:noFill/>
          <a:ln/>
        </p:spPr>
        <p:txBody>
          <a:bodyPr wrap="square" lIns="0" tIns="0" rIns="0" bIns="0" rtlCol="0" anchor="ctr"/>
          <a:lstStyle/>
          <a:p>
            <a:pPr marL="0" indent="0">
              <a:buNone/>
            </a:pPr>
            <a:r>
              <a:rPr lang="en-US" sz="3000" b="1" dirty="0">
                <a:solidFill>
                  <a:srgbClr val="FFC24B"/>
                </a:solidFill>
                <a:latin typeface="Palatino Linotype" pitchFamily="34" charset="0"/>
                <a:ea typeface="Palatino Linotype" pitchFamily="34" charset="-122"/>
                <a:cs typeface="Palatino Linotype" pitchFamily="34" charset="-120"/>
              </a:rPr>
              <a:t>815 → 2 590</a:t>
            </a:r>
            <a:endParaRPr lang="en-US" sz="3000" dirty="0"/>
          </a:p>
        </p:txBody>
      </p:sp>
      <p:sp>
        <p:nvSpPr>
          <p:cNvPr id="12" name="Text 10"/>
          <p:cNvSpPr/>
          <p:nvPr/>
        </p:nvSpPr>
        <p:spPr>
          <a:xfrm>
            <a:off x="8229600" y="2432304"/>
            <a:ext cx="2971800" cy="411480"/>
          </a:xfrm>
          <a:prstGeom prst="rect">
            <a:avLst/>
          </a:prstGeom>
          <a:noFill/>
          <a:ln/>
        </p:spPr>
        <p:txBody>
          <a:bodyPr wrap="square" lIns="0" tIns="0" rIns="0" bIns="0" rtlCol="0" anchor="ctr"/>
          <a:lstStyle/>
          <a:p>
            <a:pPr marL="0" indent="0">
              <a:buNone/>
            </a:pPr>
            <a:r>
              <a:rPr lang="en-US" sz="1250" dirty="0">
                <a:solidFill>
                  <a:srgbClr val="FFFFFF"/>
                </a:solidFill>
                <a:latin typeface="Palatino Linotype" pitchFamily="34" charset="0"/>
                <a:ea typeface="Palatino Linotype" pitchFamily="34" charset="-122"/>
                <a:cs typeface="Palatino Linotype" pitchFamily="34" charset="-120"/>
              </a:rPr>
              <a:t>cazuri raportate</a:t>
            </a:r>
            <a:endParaRPr lang="en-US" sz="1250" dirty="0"/>
          </a:p>
        </p:txBody>
      </p:sp>
      <p:sp>
        <p:nvSpPr>
          <p:cNvPr id="13" name="Text 11"/>
          <p:cNvSpPr/>
          <p:nvPr/>
        </p:nvSpPr>
        <p:spPr>
          <a:xfrm>
            <a:off x="594360" y="2999232"/>
            <a:ext cx="10972800" cy="274320"/>
          </a:xfrm>
          <a:prstGeom prst="rect">
            <a:avLst/>
          </a:prstGeom>
          <a:noFill/>
          <a:ln/>
        </p:spPr>
        <p:txBody>
          <a:bodyPr wrap="square" lIns="0" tIns="0" rIns="0" bIns="0" rtlCol="0" anchor="ctr"/>
          <a:lstStyle/>
          <a:p>
            <a:pPr marL="0" indent="0">
              <a:buNone/>
            </a:pPr>
            <a:r>
              <a:rPr lang="en-US" sz="1100" i="1" dirty="0">
                <a:solidFill>
                  <a:srgbClr val="2E060B"/>
                </a:solidFill>
                <a:latin typeface="Palatino Linotype" pitchFamily="34" charset="0"/>
                <a:ea typeface="Palatino Linotype" pitchFamily="34" charset="-122"/>
                <a:cs typeface="Palatino Linotype" pitchFamily="34" charset="-120"/>
              </a:rPr>
              <a:t>2023 → 2024</a:t>
            </a:r>
            <a:endParaRPr lang="en-US" sz="1100" dirty="0"/>
          </a:p>
        </p:txBody>
      </p:sp>
      <p:sp>
        <p:nvSpPr>
          <p:cNvPr id="14" name="Shape 12"/>
          <p:cNvSpPr/>
          <p:nvPr/>
        </p:nvSpPr>
        <p:spPr>
          <a:xfrm>
            <a:off x="594360" y="3337560"/>
            <a:ext cx="10972800" cy="502920"/>
          </a:xfrm>
          <a:prstGeom prst="roundRect">
            <a:avLst>
              <a:gd name="adj" fmla="val 16364"/>
            </a:avLst>
          </a:prstGeom>
          <a:solidFill>
            <a:srgbClr val="FFFFFF"/>
          </a:solidFill>
          <a:ln w="12700">
            <a:solidFill>
              <a:srgbClr val="FFFFFF"/>
            </a:solidFill>
            <a:prstDash val="solid"/>
          </a:ln>
        </p:spPr>
        <p:txBody>
          <a:bodyPr/>
          <a:lstStyle/>
          <a:p>
            <a:endParaRPr lang="ro-RO"/>
          </a:p>
        </p:txBody>
      </p:sp>
      <p:sp>
        <p:nvSpPr>
          <p:cNvPr id="15" name="Text 13"/>
          <p:cNvSpPr/>
          <p:nvPr/>
        </p:nvSpPr>
        <p:spPr>
          <a:xfrm>
            <a:off x="960120" y="3337560"/>
            <a:ext cx="10241280" cy="502920"/>
          </a:xfrm>
          <a:prstGeom prst="rect">
            <a:avLst/>
          </a:prstGeom>
          <a:noFill/>
          <a:ln/>
        </p:spPr>
        <p:txBody>
          <a:bodyPr wrap="square" lIns="0" tIns="0" rIns="0" bIns="0" rtlCol="0" anchor="ctr"/>
          <a:lstStyle/>
          <a:p>
            <a:pPr marL="0" indent="0">
              <a:buNone/>
            </a:pPr>
            <a:r>
              <a:rPr lang="en-US" sz="1500" b="1" dirty="0">
                <a:solidFill>
                  <a:srgbClr val="B02532"/>
                </a:solidFill>
                <a:latin typeface="Palatino Linotype" pitchFamily="34" charset="0"/>
                <a:ea typeface="Palatino Linotype" pitchFamily="34" charset="-122"/>
                <a:cs typeface="Palatino Linotype" pitchFamily="34" charset="-120"/>
              </a:rPr>
              <a:t>SARCINA DE TRANSFER — 2 minute: în care dintre aceste trei județe este problema mai gravă?</a:t>
            </a:r>
            <a:endParaRPr lang="en-US" sz="1500" dirty="0"/>
          </a:p>
        </p:txBody>
      </p:sp>
      <p:sp>
        <p:nvSpPr>
          <p:cNvPr id="16" name="Shape 14"/>
          <p:cNvSpPr/>
          <p:nvPr/>
        </p:nvSpPr>
        <p:spPr>
          <a:xfrm>
            <a:off x="594360" y="3977640"/>
            <a:ext cx="2606040" cy="1097280"/>
          </a:xfrm>
          <a:prstGeom prst="roundRect">
            <a:avLst>
              <a:gd name="adj" fmla="val 7500"/>
            </a:avLst>
          </a:prstGeom>
          <a:solidFill>
            <a:srgbClr val="7C0F1A"/>
          </a:solidFill>
          <a:ln w="12700">
            <a:solidFill>
              <a:srgbClr val="7C0F1A"/>
            </a:solidFill>
            <a:prstDash val="solid"/>
          </a:ln>
        </p:spPr>
        <p:txBody>
          <a:bodyPr/>
          <a:lstStyle/>
          <a:p>
            <a:endParaRPr lang="ro-RO"/>
          </a:p>
        </p:txBody>
      </p:sp>
      <p:sp>
        <p:nvSpPr>
          <p:cNvPr id="17" name="Text 15"/>
          <p:cNvSpPr/>
          <p:nvPr/>
        </p:nvSpPr>
        <p:spPr>
          <a:xfrm>
            <a:off x="777240" y="4050792"/>
            <a:ext cx="2240280" cy="548640"/>
          </a:xfrm>
          <a:prstGeom prst="rect">
            <a:avLst/>
          </a:prstGeom>
          <a:noFill/>
          <a:ln/>
        </p:spPr>
        <p:txBody>
          <a:bodyPr wrap="square" lIns="0" tIns="0" rIns="0" bIns="0" rtlCol="0" anchor="ctr"/>
          <a:lstStyle/>
          <a:p>
            <a:pPr marL="0" indent="0" algn="ctr">
              <a:buNone/>
            </a:pPr>
            <a:r>
              <a:rPr lang="en-US" sz="3600" b="1" dirty="0">
                <a:solidFill>
                  <a:srgbClr val="FFC24B"/>
                </a:solidFill>
                <a:latin typeface="Palatino Linotype" pitchFamily="34" charset="0"/>
                <a:ea typeface="Palatino Linotype" pitchFamily="34" charset="-122"/>
                <a:cs typeface="Palatino Linotype" pitchFamily="34" charset="-120"/>
              </a:rPr>
              <a:t>39</a:t>
            </a:r>
            <a:endParaRPr lang="en-US" sz="3600" dirty="0"/>
          </a:p>
        </p:txBody>
      </p:sp>
      <p:sp>
        <p:nvSpPr>
          <p:cNvPr id="18" name="Text 16"/>
          <p:cNvSpPr/>
          <p:nvPr/>
        </p:nvSpPr>
        <p:spPr>
          <a:xfrm>
            <a:off x="777240" y="4590288"/>
            <a:ext cx="2240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Palatino Linotype" pitchFamily="34" charset="0"/>
                <a:ea typeface="Palatino Linotype" pitchFamily="34" charset="-122"/>
                <a:cs typeface="Palatino Linotype" pitchFamily="34" charset="-120"/>
              </a:rPr>
              <a:t>Bihor</a:t>
            </a:r>
            <a:endParaRPr lang="en-US" sz="1300" dirty="0"/>
          </a:p>
        </p:txBody>
      </p:sp>
      <p:sp>
        <p:nvSpPr>
          <p:cNvPr id="19" name="Shape 17"/>
          <p:cNvSpPr/>
          <p:nvPr/>
        </p:nvSpPr>
        <p:spPr>
          <a:xfrm>
            <a:off x="3383280" y="3977640"/>
            <a:ext cx="2606040" cy="1097280"/>
          </a:xfrm>
          <a:prstGeom prst="roundRect">
            <a:avLst>
              <a:gd name="adj" fmla="val 7500"/>
            </a:avLst>
          </a:prstGeom>
          <a:solidFill>
            <a:srgbClr val="7C0F1A"/>
          </a:solidFill>
          <a:ln w="12700">
            <a:solidFill>
              <a:srgbClr val="7C0F1A"/>
            </a:solidFill>
            <a:prstDash val="solid"/>
          </a:ln>
        </p:spPr>
        <p:txBody>
          <a:bodyPr/>
          <a:lstStyle/>
          <a:p>
            <a:endParaRPr lang="ro-RO"/>
          </a:p>
        </p:txBody>
      </p:sp>
      <p:sp>
        <p:nvSpPr>
          <p:cNvPr id="20" name="Text 18"/>
          <p:cNvSpPr/>
          <p:nvPr/>
        </p:nvSpPr>
        <p:spPr>
          <a:xfrm>
            <a:off x="3566160" y="4050792"/>
            <a:ext cx="2240280" cy="548640"/>
          </a:xfrm>
          <a:prstGeom prst="rect">
            <a:avLst/>
          </a:prstGeom>
          <a:noFill/>
          <a:ln/>
        </p:spPr>
        <p:txBody>
          <a:bodyPr wrap="square" lIns="0" tIns="0" rIns="0" bIns="0" rtlCol="0" anchor="ctr"/>
          <a:lstStyle/>
          <a:p>
            <a:pPr marL="0" indent="0" algn="ctr">
              <a:buNone/>
            </a:pPr>
            <a:r>
              <a:rPr lang="en-US" sz="3600" b="1" dirty="0">
                <a:solidFill>
                  <a:srgbClr val="FFC24B"/>
                </a:solidFill>
                <a:latin typeface="Palatino Linotype" pitchFamily="34" charset="0"/>
                <a:ea typeface="Palatino Linotype" pitchFamily="34" charset="-122"/>
                <a:cs typeface="Palatino Linotype" pitchFamily="34" charset="-120"/>
              </a:rPr>
              <a:t>31</a:t>
            </a:r>
            <a:endParaRPr lang="en-US" sz="3600" dirty="0"/>
          </a:p>
        </p:txBody>
      </p:sp>
      <p:sp>
        <p:nvSpPr>
          <p:cNvPr id="21" name="Text 19"/>
          <p:cNvSpPr/>
          <p:nvPr/>
        </p:nvSpPr>
        <p:spPr>
          <a:xfrm>
            <a:off x="3566160" y="4590288"/>
            <a:ext cx="2240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Palatino Linotype" pitchFamily="34" charset="0"/>
                <a:ea typeface="Palatino Linotype" pitchFamily="34" charset="-122"/>
                <a:cs typeface="Palatino Linotype" pitchFamily="34" charset="-120"/>
              </a:rPr>
              <a:t>CLUJ</a:t>
            </a:r>
            <a:endParaRPr lang="en-US" sz="1300" dirty="0"/>
          </a:p>
        </p:txBody>
      </p:sp>
      <p:sp>
        <p:nvSpPr>
          <p:cNvPr id="22" name="Shape 20"/>
          <p:cNvSpPr/>
          <p:nvPr/>
        </p:nvSpPr>
        <p:spPr>
          <a:xfrm>
            <a:off x="6172200" y="3977640"/>
            <a:ext cx="2606040" cy="1097280"/>
          </a:xfrm>
          <a:prstGeom prst="roundRect">
            <a:avLst>
              <a:gd name="adj" fmla="val 7500"/>
            </a:avLst>
          </a:prstGeom>
          <a:solidFill>
            <a:srgbClr val="7C0F1A"/>
          </a:solidFill>
          <a:ln w="12700">
            <a:solidFill>
              <a:srgbClr val="7C0F1A"/>
            </a:solidFill>
            <a:prstDash val="solid"/>
          </a:ln>
        </p:spPr>
        <p:txBody>
          <a:bodyPr/>
          <a:lstStyle/>
          <a:p>
            <a:endParaRPr lang="ro-RO"/>
          </a:p>
        </p:txBody>
      </p:sp>
      <p:sp>
        <p:nvSpPr>
          <p:cNvPr id="23" name="Text 21"/>
          <p:cNvSpPr/>
          <p:nvPr/>
        </p:nvSpPr>
        <p:spPr>
          <a:xfrm>
            <a:off x="6355080" y="4050792"/>
            <a:ext cx="2240280" cy="548640"/>
          </a:xfrm>
          <a:prstGeom prst="rect">
            <a:avLst/>
          </a:prstGeom>
          <a:noFill/>
          <a:ln/>
        </p:spPr>
        <p:txBody>
          <a:bodyPr wrap="square" lIns="0" tIns="0" rIns="0" bIns="0" rtlCol="0" anchor="ctr"/>
          <a:lstStyle/>
          <a:p>
            <a:pPr marL="0" indent="0" algn="ctr">
              <a:buNone/>
            </a:pPr>
            <a:r>
              <a:rPr lang="en-US" sz="3600" b="1" dirty="0">
                <a:solidFill>
                  <a:srgbClr val="FFC24B"/>
                </a:solidFill>
                <a:latin typeface="Palatino Linotype" pitchFamily="34" charset="0"/>
                <a:ea typeface="Palatino Linotype" pitchFamily="34" charset="-122"/>
                <a:cs typeface="Palatino Linotype" pitchFamily="34" charset="-120"/>
              </a:rPr>
              <a:t>26</a:t>
            </a:r>
            <a:endParaRPr lang="en-US" sz="3600" dirty="0"/>
          </a:p>
        </p:txBody>
      </p:sp>
      <p:sp>
        <p:nvSpPr>
          <p:cNvPr id="24" name="Text 22"/>
          <p:cNvSpPr/>
          <p:nvPr/>
        </p:nvSpPr>
        <p:spPr>
          <a:xfrm>
            <a:off x="6355080" y="4590288"/>
            <a:ext cx="2240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Palatino Linotype" pitchFamily="34" charset="0"/>
                <a:ea typeface="Palatino Linotype" pitchFamily="34" charset="-122"/>
                <a:cs typeface="Palatino Linotype" pitchFamily="34" charset="-120"/>
              </a:rPr>
              <a:t>Sălaj</a:t>
            </a:r>
            <a:endParaRPr lang="en-US" sz="1300" dirty="0"/>
          </a:p>
        </p:txBody>
      </p:sp>
      <p:sp>
        <p:nvSpPr>
          <p:cNvPr id="25" name="Shape 23"/>
          <p:cNvSpPr/>
          <p:nvPr/>
        </p:nvSpPr>
        <p:spPr>
          <a:xfrm>
            <a:off x="8961120" y="3977640"/>
            <a:ext cx="2606040" cy="1097280"/>
          </a:xfrm>
          <a:prstGeom prst="roundRect">
            <a:avLst>
              <a:gd name="adj" fmla="val 7500"/>
            </a:avLst>
          </a:prstGeom>
          <a:solidFill>
            <a:srgbClr val="2E060B"/>
          </a:solidFill>
          <a:ln w="12700">
            <a:solidFill>
              <a:srgbClr val="2E060B"/>
            </a:solidFill>
            <a:prstDash val="solid"/>
          </a:ln>
        </p:spPr>
        <p:txBody>
          <a:bodyPr/>
          <a:lstStyle/>
          <a:p>
            <a:endParaRPr lang="ro-RO"/>
          </a:p>
        </p:txBody>
      </p:sp>
      <p:sp>
        <p:nvSpPr>
          <p:cNvPr id="26" name="Text 24"/>
          <p:cNvSpPr/>
          <p:nvPr/>
        </p:nvSpPr>
        <p:spPr>
          <a:xfrm>
            <a:off x="9144000" y="4050792"/>
            <a:ext cx="224028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Palatino Linotype" pitchFamily="34" charset="0"/>
                <a:ea typeface="Palatino Linotype" pitchFamily="34" charset="-122"/>
                <a:cs typeface="Palatino Linotype" pitchFamily="34" charset="-120"/>
              </a:rPr>
              <a:t>populația</a:t>
            </a:r>
            <a:endParaRPr lang="en-US" sz="1800" dirty="0"/>
          </a:p>
        </p:txBody>
      </p:sp>
      <p:sp>
        <p:nvSpPr>
          <p:cNvPr id="27" name="Text 25"/>
          <p:cNvSpPr/>
          <p:nvPr/>
        </p:nvSpPr>
        <p:spPr>
          <a:xfrm>
            <a:off x="9144000" y="4590288"/>
            <a:ext cx="2240280" cy="365760"/>
          </a:xfrm>
          <a:prstGeom prst="rect">
            <a:avLst/>
          </a:prstGeom>
          <a:noFill/>
          <a:ln/>
        </p:spPr>
        <p:txBody>
          <a:bodyPr wrap="square" lIns="0" tIns="0" rIns="0" bIns="0" rtlCol="0" anchor="ctr"/>
          <a:lstStyle/>
          <a:p>
            <a:pPr marL="0" indent="0" algn="ctr">
              <a:buNone/>
            </a:pPr>
            <a:r>
              <a:rPr lang="en-US" sz="2200" b="1" dirty="0">
                <a:solidFill>
                  <a:srgbClr val="FFC24B"/>
                </a:solidFill>
                <a:latin typeface="Palatino Linotype" pitchFamily="34" charset="0"/>
                <a:ea typeface="Palatino Linotype" pitchFamily="34" charset="-122"/>
                <a:cs typeface="Palatino Linotype" pitchFamily="34" charset="-120"/>
              </a:rPr>
              <a:t>?</a:t>
            </a:r>
            <a:endParaRPr lang="en-US" sz="2200" dirty="0"/>
          </a:p>
        </p:txBody>
      </p:sp>
      <p:sp>
        <p:nvSpPr>
          <p:cNvPr id="28" name="Text 26"/>
          <p:cNvSpPr/>
          <p:nvPr/>
        </p:nvSpPr>
        <p:spPr>
          <a:xfrm>
            <a:off x="594360" y="5193792"/>
            <a:ext cx="10972800" cy="320040"/>
          </a:xfrm>
          <a:prstGeom prst="rect">
            <a:avLst/>
          </a:prstGeom>
          <a:noFill/>
          <a:ln/>
        </p:spPr>
        <p:txBody>
          <a:bodyPr wrap="square" lIns="0" tIns="0" rIns="0" bIns="0" rtlCol="0" anchor="ctr"/>
          <a:lstStyle/>
          <a:p>
            <a:pPr marL="0" indent="0">
              <a:buNone/>
            </a:pPr>
            <a:r>
              <a:rPr lang="en-US" sz="1400" b="1" dirty="0">
                <a:solidFill>
                  <a:srgbClr val="2E060B"/>
                </a:solidFill>
                <a:latin typeface="Palatino Linotype" pitchFamily="34" charset="0"/>
                <a:ea typeface="Palatino Linotype" pitchFamily="34" charset="-122"/>
                <a:cs typeface="Palatino Linotype" pitchFamily="34" charset="-120"/>
              </a:rPr>
              <a:t>Nu răspundeți încă. Scrieți mai întâi DE CE ANUME aveți nevoie ca să puteți răspunde.</a:t>
            </a:r>
            <a:endParaRPr lang="en-US" sz="1400" dirty="0"/>
          </a:p>
        </p:txBody>
      </p:sp>
      <p:sp>
        <p:nvSpPr>
          <p:cNvPr id="29" name="Shape 27"/>
          <p:cNvSpPr/>
          <p:nvPr/>
        </p:nvSpPr>
        <p:spPr>
          <a:xfrm>
            <a:off x="594360" y="5577840"/>
            <a:ext cx="10972800" cy="566928"/>
          </a:xfrm>
          <a:prstGeom prst="roundRect">
            <a:avLst>
              <a:gd name="adj" fmla="val 14516"/>
            </a:avLst>
          </a:prstGeom>
          <a:solidFill>
            <a:srgbClr val="FFFFFF"/>
          </a:solidFill>
          <a:ln w="12700">
            <a:solidFill>
              <a:srgbClr val="FFFFFF"/>
            </a:solidFill>
            <a:prstDash val="solid"/>
          </a:ln>
        </p:spPr>
        <p:txBody>
          <a:bodyPr/>
          <a:lstStyle/>
          <a:p>
            <a:endParaRPr lang="ro-RO"/>
          </a:p>
        </p:txBody>
      </p:sp>
      <p:sp>
        <p:nvSpPr>
          <p:cNvPr id="30" name="Text 28"/>
          <p:cNvSpPr/>
          <p:nvPr/>
        </p:nvSpPr>
        <p:spPr>
          <a:xfrm>
            <a:off x="960120" y="5577840"/>
            <a:ext cx="10241280" cy="566928"/>
          </a:xfrm>
          <a:prstGeom prst="rect">
            <a:avLst/>
          </a:prstGeom>
          <a:noFill/>
          <a:ln/>
        </p:spPr>
        <p:txBody>
          <a:bodyPr wrap="square" lIns="0" tIns="0" rIns="0" bIns="0" rtlCol="0" anchor="ctr"/>
          <a:lstStyle/>
          <a:p>
            <a:pPr marL="0" indent="0">
              <a:buNone/>
            </a:pPr>
            <a:r>
              <a:rPr lang="en-US" sz="1200" b="1" dirty="0">
                <a:solidFill>
                  <a:srgbClr val="B02532"/>
                </a:solidFill>
                <a:latin typeface="Palatino Linotype" pitchFamily="34" charset="0"/>
                <a:ea typeface="Palatino Linotype" pitchFamily="34" charset="-122"/>
                <a:cs typeface="Palatino Linotype" pitchFamily="34" charset="-120"/>
              </a:rPr>
              <a:t>Populația județelor NU este pe acest slide, deliberat. Este Tabelul IX, cu nume românești: un clasament fără populație, tentant de citit ca verdict.</a:t>
            </a:r>
            <a:endParaRPr lang="en-US" sz="1200" dirty="0"/>
          </a:p>
        </p:txBody>
      </p:sp>
      <p:sp>
        <p:nvSpPr>
          <p:cNvPr id="31" name="Text 29"/>
          <p:cNvSpPr/>
          <p:nvPr/>
        </p:nvSpPr>
        <p:spPr>
          <a:xfrm>
            <a:off x="594360" y="6254496"/>
            <a:ext cx="10972800" cy="320040"/>
          </a:xfrm>
          <a:prstGeom prst="rect">
            <a:avLst/>
          </a:prstGeom>
          <a:noFill/>
          <a:ln/>
        </p:spPr>
        <p:txBody>
          <a:bodyPr wrap="square" lIns="0" tIns="0" rIns="0" bIns="0" rtlCol="0" anchor="ctr"/>
          <a:lstStyle/>
          <a:p>
            <a:pPr marL="0" indent="0">
              <a:buNone/>
            </a:pPr>
            <a:r>
              <a:rPr lang="en-US" sz="950" i="1" dirty="0">
                <a:solidFill>
                  <a:srgbClr val="2E060B"/>
                </a:solidFill>
                <a:latin typeface="Palatino Linotype" pitchFamily="34" charset="0"/>
                <a:ea typeface="Palatino Linotype" pitchFamily="34" charset="-122"/>
                <a:cs typeface="Palatino Linotype" pitchFamily="34" charset="-120"/>
              </a:rPr>
              <a:t>Surse: INSP–CNSCBT. Raport pentru anul 2024, p. 23 și 25; Raport pentru anul 2023, p. 22 și 24. Definiția de focar din raport e specifică HVA.</a:t>
            </a:r>
            <a:endParaRPr lang="en-US" sz="950" dirty="0"/>
          </a:p>
          <a:p>
            <a:pPr marL="0" indent="0">
              <a:buNone/>
            </a:pPr>
            <a:r>
              <a:rPr lang="en-US" sz="950" i="1" dirty="0">
                <a:solidFill>
                  <a:srgbClr val="2E060B"/>
                </a:solidFill>
                <a:latin typeface="Palatino Linotype" pitchFamily="34" charset="0"/>
                <a:ea typeface="Palatino Linotype" pitchFamily="34" charset="-122"/>
                <a:cs typeface="Palatino Linotype" pitchFamily="34" charset="-120"/>
              </a:rPr>
              <a:t>Restul anului 2024: 41 de focare de scarlatină · 45 de focare de tuse convulsivă (2 în 2023), 240 de cazuri în focare, 5 decese · leptospiroză: niciun focar · toxiinfecțiile alimentare, urmărite separat (definiția OMS: două sau mai multe persoane).</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1854 vs. 2026</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11121A"/>
                </a:solidFill>
                <a:latin typeface="Palatino Linotype" pitchFamily="34" charset="0"/>
                <a:ea typeface="Palatino Linotype" pitchFamily="34" charset="-122"/>
                <a:cs typeface="Palatino Linotype" pitchFamily="34" charset="-120"/>
              </a:rPr>
              <a:t>Ce ar fi fost diferit astăzi</a:t>
            </a:r>
            <a:endParaRPr lang="en-US" sz="3100" dirty="0"/>
          </a:p>
        </p:txBody>
      </p:sp>
      <p:sp>
        <p:nvSpPr>
          <p:cNvPr id="4" name="Shape 2"/>
          <p:cNvSpPr/>
          <p:nvPr/>
        </p:nvSpPr>
        <p:spPr>
          <a:xfrm>
            <a:off x="594360" y="1737360"/>
            <a:ext cx="5349240" cy="2286000"/>
          </a:xfrm>
          <a:prstGeom prst="roundRect">
            <a:avLst>
              <a:gd name="adj" fmla="val 3600"/>
            </a:avLst>
          </a:prstGeom>
          <a:solidFill>
            <a:srgbClr val="ECEAE4"/>
          </a:solidFill>
          <a:ln w="12700">
            <a:solidFill>
              <a:srgbClr val="ECEAE4"/>
            </a:solidFill>
            <a:prstDash val="solid"/>
          </a:ln>
        </p:spPr>
        <p:txBody>
          <a:bodyPr/>
          <a:lstStyle/>
          <a:p>
            <a:endParaRPr lang="ro-RO"/>
          </a:p>
        </p:txBody>
      </p:sp>
      <p:sp>
        <p:nvSpPr>
          <p:cNvPr id="5" name="Text 3"/>
          <p:cNvSpPr/>
          <p:nvPr/>
        </p:nvSpPr>
        <p:spPr>
          <a:xfrm>
            <a:off x="914400" y="1874520"/>
            <a:ext cx="4709160" cy="365760"/>
          </a:xfrm>
          <a:prstGeom prst="rect">
            <a:avLst/>
          </a:prstGeom>
          <a:noFill/>
          <a:ln/>
        </p:spPr>
        <p:txBody>
          <a:bodyPr wrap="square" lIns="0" tIns="0" rIns="0" bIns="0" rtlCol="0" anchor="ctr"/>
          <a:lstStyle/>
          <a:p>
            <a:pPr marL="0" indent="0">
              <a:buNone/>
            </a:pPr>
            <a:r>
              <a:rPr lang="en-US" sz="1700" b="1" dirty="0">
                <a:solidFill>
                  <a:srgbClr val="4A2D8C"/>
                </a:solidFill>
                <a:latin typeface="Palatino Linotype" pitchFamily="34" charset="0"/>
                <a:ea typeface="Palatino Linotype" pitchFamily="34" charset="-122"/>
                <a:cs typeface="Palatino Linotype" pitchFamily="34" charset="-120"/>
              </a:rPr>
              <a:t>Genomica</a:t>
            </a:r>
            <a:endParaRPr lang="en-US" sz="1700" dirty="0"/>
          </a:p>
        </p:txBody>
      </p:sp>
      <p:sp>
        <p:nvSpPr>
          <p:cNvPr id="6" name="Text 4"/>
          <p:cNvSpPr/>
          <p:nvPr/>
        </p:nvSpPr>
        <p:spPr>
          <a:xfrm>
            <a:off x="914400" y="2286000"/>
            <a:ext cx="4709160" cy="1600200"/>
          </a:xfrm>
          <a:prstGeom prst="rect">
            <a:avLst/>
          </a:prstGeom>
          <a:noFill/>
          <a:ln/>
        </p:spPr>
        <p:txBody>
          <a:bodyPr wrap="square" lIns="0" tIns="0" rIns="0" bIns="0" rtlCol="0" anchor="ctr"/>
          <a:lstStyle/>
          <a:p>
            <a:pPr marL="0" indent="0">
              <a:lnSpc>
                <a:spcPts val="1800"/>
              </a:lnSpc>
              <a:buNone/>
            </a:pPr>
            <a:r>
              <a:rPr lang="en-US" sz="1250" dirty="0">
                <a:solidFill>
                  <a:srgbClr val="11121A"/>
                </a:solidFill>
                <a:latin typeface="Palatino Linotype" pitchFamily="34" charset="0"/>
                <a:ea typeface="Palatino Linotype" pitchFamily="34" charset="-122"/>
                <a:cs typeface="Palatino Linotype" pitchFamily="34" charset="-120"/>
              </a:rPr>
              <a:t>Pentru Broad Street, 1854, nu a fost identificat niciun specimen păstrat și niciun genom.</a:t>
            </a:r>
            <a:endParaRPr lang="en-US" sz="1250" dirty="0"/>
          </a:p>
          <a:p>
            <a:pPr marL="0" indent="0">
              <a:lnSpc>
                <a:spcPts val="1800"/>
              </a:lnSpc>
              <a:buNone/>
            </a:pPr>
            <a:r>
              <a:rPr lang="en-US" sz="1250" dirty="0">
                <a:solidFill>
                  <a:srgbClr val="11121A"/>
                </a:solidFill>
                <a:latin typeface="Palatino Linotype" pitchFamily="34" charset="0"/>
                <a:ea typeface="Palatino Linotype" pitchFamily="34" charset="-122"/>
                <a:cs typeface="Palatino Linotype" pitchFamily="34" charset="-120"/>
              </a:rPr>
              <a:t>Ce există: un genom din a doua pandemie, reconstruit din stomacul conservat al unei victime din Philadelphia, 1849 — 203 variații de un nucleotid față de tulpina clasică O395. NCTC 30, izolată în 1916, nu aparține liniilor pandemice.</a:t>
            </a:r>
            <a:endParaRPr lang="en-US" sz="1250" dirty="0"/>
          </a:p>
        </p:txBody>
      </p:sp>
      <p:sp>
        <p:nvSpPr>
          <p:cNvPr id="7" name="Shape 5"/>
          <p:cNvSpPr/>
          <p:nvPr/>
        </p:nvSpPr>
        <p:spPr>
          <a:xfrm>
            <a:off x="6217920" y="1737360"/>
            <a:ext cx="5349240" cy="2286000"/>
          </a:xfrm>
          <a:prstGeom prst="roundRect">
            <a:avLst>
              <a:gd name="adj" fmla="val 3600"/>
            </a:avLst>
          </a:prstGeom>
          <a:solidFill>
            <a:srgbClr val="ECEAE4"/>
          </a:solidFill>
          <a:ln w="12700">
            <a:solidFill>
              <a:srgbClr val="ECEAE4"/>
            </a:solidFill>
            <a:prstDash val="solid"/>
          </a:ln>
        </p:spPr>
        <p:txBody>
          <a:bodyPr/>
          <a:lstStyle/>
          <a:p>
            <a:endParaRPr lang="ro-RO"/>
          </a:p>
        </p:txBody>
      </p:sp>
      <p:sp>
        <p:nvSpPr>
          <p:cNvPr id="8" name="Text 6"/>
          <p:cNvSpPr/>
          <p:nvPr/>
        </p:nvSpPr>
        <p:spPr>
          <a:xfrm>
            <a:off x="6537960" y="1874520"/>
            <a:ext cx="4709160" cy="365760"/>
          </a:xfrm>
          <a:prstGeom prst="rect">
            <a:avLst/>
          </a:prstGeom>
          <a:noFill/>
          <a:ln/>
        </p:spPr>
        <p:txBody>
          <a:bodyPr wrap="square" lIns="0" tIns="0" rIns="0" bIns="0" rtlCol="0" anchor="ctr"/>
          <a:lstStyle/>
          <a:p>
            <a:pPr marL="0" indent="0">
              <a:buNone/>
            </a:pPr>
            <a:r>
              <a:rPr lang="en-US" sz="1700" b="1" dirty="0">
                <a:solidFill>
                  <a:srgbClr val="0E7C6B"/>
                </a:solidFill>
                <a:latin typeface="Palatino Linotype" pitchFamily="34" charset="0"/>
                <a:ea typeface="Palatino Linotype" pitchFamily="34" charset="-122"/>
                <a:cs typeface="Palatino Linotype" pitchFamily="34" charset="-120"/>
              </a:rPr>
              <a:t>Supravegherea apelor uzate</a:t>
            </a:r>
            <a:endParaRPr lang="en-US" sz="1700" dirty="0"/>
          </a:p>
        </p:txBody>
      </p:sp>
      <p:sp>
        <p:nvSpPr>
          <p:cNvPr id="9" name="Text 7"/>
          <p:cNvSpPr/>
          <p:nvPr/>
        </p:nvSpPr>
        <p:spPr>
          <a:xfrm>
            <a:off x="6537960" y="2286000"/>
            <a:ext cx="4709160" cy="1600200"/>
          </a:xfrm>
          <a:prstGeom prst="rect">
            <a:avLst/>
          </a:prstGeom>
          <a:noFill/>
          <a:ln/>
        </p:spPr>
        <p:txBody>
          <a:bodyPr wrap="square" lIns="0" tIns="0" rIns="0" bIns="0" rtlCol="0" anchor="ctr"/>
          <a:lstStyle/>
          <a:p>
            <a:pPr marL="0" indent="0">
              <a:lnSpc>
                <a:spcPts val="1800"/>
              </a:lnSpc>
              <a:buNone/>
            </a:pPr>
            <a:r>
              <a:rPr lang="en-US" sz="1250" dirty="0">
                <a:solidFill>
                  <a:srgbClr val="11121A"/>
                </a:solidFill>
                <a:latin typeface="Palatino Linotype" pitchFamily="34" charset="0"/>
                <a:ea typeface="Palatino Linotype" pitchFamily="34" charset="-122"/>
                <a:cs typeface="Palatino Linotype" pitchFamily="34" charset="-120"/>
              </a:rPr>
              <a:t>Astăzi, apele uzate sunt ele însele un loc de supraveghere epidemiologică. În UE: Directiva 2024/3019, articolul 17; transpunere până la 31 iulie 2027.</a:t>
            </a:r>
            <a:endParaRPr lang="en-US" sz="1250" dirty="0"/>
          </a:p>
          <a:p>
            <a:pPr marL="0" indent="0">
              <a:lnSpc>
                <a:spcPts val="1800"/>
              </a:lnSpc>
              <a:buNone/>
            </a:pPr>
            <a:r>
              <a:rPr lang="en-US" sz="1250" dirty="0">
                <a:solidFill>
                  <a:srgbClr val="11121A"/>
                </a:solidFill>
                <a:latin typeface="Palatino Linotype" pitchFamily="34" charset="0"/>
                <a:ea typeface="Palatino Linotype" pitchFamily="34" charset="-122"/>
                <a:cs typeface="Palatino Linotype" pitchFamily="34" charset="-120"/>
              </a:rPr>
              <a:t>Metoda, sensibilitatea și limitele ei: ședința a patra.</a:t>
            </a:r>
            <a:endParaRPr lang="en-US" sz="1250" dirty="0"/>
          </a:p>
        </p:txBody>
      </p:sp>
      <p:sp>
        <p:nvSpPr>
          <p:cNvPr id="10" name="Shape 8"/>
          <p:cNvSpPr/>
          <p:nvPr/>
        </p:nvSpPr>
        <p:spPr>
          <a:xfrm>
            <a:off x="594360" y="4206240"/>
            <a:ext cx="10972800" cy="777240"/>
          </a:xfrm>
          <a:prstGeom prst="roundRect">
            <a:avLst>
              <a:gd name="adj" fmla="val 10588"/>
            </a:avLst>
          </a:prstGeom>
          <a:solidFill>
            <a:srgbClr val="F9F8F5"/>
          </a:solidFill>
          <a:ln w="12700">
            <a:solidFill>
              <a:srgbClr val="F9F8F5"/>
            </a:solidFill>
            <a:prstDash val="solid"/>
          </a:ln>
        </p:spPr>
        <p:txBody>
          <a:bodyPr/>
          <a:lstStyle/>
          <a:p>
            <a:endParaRPr lang="ro-RO"/>
          </a:p>
        </p:txBody>
      </p:sp>
      <p:sp>
        <p:nvSpPr>
          <p:cNvPr id="11" name="Text 9"/>
          <p:cNvSpPr/>
          <p:nvPr/>
        </p:nvSpPr>
        <p:spPr>
          <a:xfrm>
            <a:off x="960120" y="4206240"/>
            <a:ext cx="10241280" cy="777240"/>
          </a:xfrm>
          <a:prstGeom prst="rect">
            <a:avLst/>
          </a:prstGeom>
          <a:noFill/>
          <a:ln/>
        </p:spPr>
        <p:txBody>
          <a:bodyPr wrap="square" lIns="0" tIns="0" rIns="0" bIns="0" rtlCol="0" anchor="ctr"/>
          <a:lstStyle/>
          <a:p>
            <a:pPr marL="0" indent="0">
              <a:buNone/>
            </a:pPr>
            <a:r>
              <a:rPr lang="en-US" sz="1400" dirty="0">
                <a:solidFill>
                  <a:srgbClr val="11121A"/>
                </a:solidFill>
                <a:latin typeface="Palatino Linotype" pitchFamily="34" charset="0"/>
                <a:ea typeface="Palatino Linotype" pitchFamily="34" charset="-122"/>
                <a:cs typeface="Palatino Linotype" pitchFamily="34" charset="-120"/>
              </a:rPr>
              <a:t>Ședința a cincea reia raționamentul pe genomuri actuale: SARS-CoV-2, în timp real, pe Nextstrain.</a:t>
            </a:r>
            <a:endParaRPr lang="en-US" sz="1400" dirty="0"/>
          </a:p>
        </p:txBody>
      </p:sp>
      <p:sp>
        <p:nvSpPr>
          <p:cNvPr id="12" name="Shape 10"/>
          <p:cNvSpPr/>
          <p:nvPr/>
        </p:nvSpPr>
        <p:spPr>
          <a:xfrm>
            <a:off x="594360" y="5120640"/>
            <a:ext cx="10972800" cy="868680"/>
          </a:xfrm>
          <a:prstGeom prst="roundRect">
            <a:avLst>
              <a:gd name="adj" fmla="val 9474"/>
            </a:avLst>
          </a:prstGeom>
          <a:solidFill>
            <a:srgbClr val="B02532"/>
          </a:solidFill>
          <a:ln w="12700">
            <a:solidFill>
              <a:srgbClr val="B02532"/>
            </a:solidFill>
            <a:prstDash val="solid"/>
          </a:ln>
        </p:spPr>
        <p:txBody>
          <a:bodyPr/>
          <a:lstStyle/>
          <a:p>
            <a:endParaRPr lang="ro-RO"/>
          </a:p>
        </p:txBody>
      </p:sp>
      <p:sp>
        <p:nvSpPr>
          <p:cNvPr id="13" name="Text 11"/>
          <p:cNvSpPr/>
          <p:nvPr/>
        </p:nvSpPr>
        <p:spPr>
          <a:xfrm>
            <a:off x="960120" y="5120640"/>
            <a:ext cx="10241280" cy="868680"/>
          </a:xfrm>
          <a:prstGeom prst="rect">
            <a:avLst/>
          </a:prstGeom>
          <a:noFill/>
          <a:ln/>
        </p:spPr>
        <p:txBody>
          <a:bodyPr wrap="square" lIns="0" tIns="0" rIns="0" bIns="0" rtlCol="0" anchor="ctr"/>
          <a:lstStyle/>
          <a:p>
            <a:pPr marL="0" indent="0">
              <a:buNone/>
            </a:pPr>
            <a:r>
              <a:rPr lang="en-US" sz="1550" b="1" dirty="0">
                <a:solidFill>
                  <a:srgbClr val="FFFFFF"/>
                </a:solidFill>
                <a:latin typeface="Palatino Linotype" pitchFamily="34" charset="0"/>
                <a:ea typeface="Palatino Linotype" pitchFamily="34" charset="-122"/>
                <a:cs typeface="Palatino Linotype" pitchFamily="34" charset="-120"/>
              </a:rPr>
              <a:t>Și totuși: presupuneți că Snow ar fi avut toate acestea în septembrie 1854. Ar fi convins General Board of Health? Păstrați răspunsul pentru Sesiunea 6.</a:t>
            </a:r>
            <a:endParaRPr lang="en-US" sz="1550" dirty="0"/>
          </a:p>
        </p:txBody>
      </p:sp>
      <p:sp>
        <p:nvSpPr>
          <p:cNvPr id="14" name="Text 12"/>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585A64"/>
                </a:solidFill>
                <a:latin typeface="Palatino Linotype" pitchFamily="34" charset="0"/>
                <a:ea typeface="Palatino Linotype" pitchFamily="34" charset="-122"/>
                <a:cs typeface="Palatino Linotype" pitchFamily="34" charset="-120"/>
              </a:rPr>
              <a:t>Surse: Malyarchuk AB et al. Biochemistry (Mosc). 2022;87(3):242–258. DOI: 10.1134/S0006297922030051 · Dorman MJ et al. Proc Biol Sci. 2019;286(1900):20182025. DOI: 10.1098/rspb.2018.2025 · Directiva (UE) 2024/3019, art. 17 și 33.</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8">
    <p:bg>
      <p:bgPr>
        <a:solidFill>
          <a:srgbClr val="27D3BE"/>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073B34"/>
                </a:solidFill>
                <a:latin typeface="Palatino Linotype" pitchFamily="34" charset="0"/>
                <a:ea typeface="Palatino Linotype" pitchFamily="34" charset="-122"/>
                <a:cs typeface="Palatino Linotype" pitchFamily="34" charset="-120"/>
              </a:rPr>
              <a:t>TEZA, ACUM DEMONSTRATĂ</a:t>
            </a:r>
            <a:endParaRPr lang="en-US" sz="1150" dirty="0"/>
          </a:p>
        </p:txBody>
      </p:sp>
      <p:sp>
        <p:nvSpPr>
          <p:cNvPr id="3" name="Text 1"/>
          <p:cNvSpPr/>
          <p:nvPr/>
        </p:nvSpPr>
        <p:spPr>
          <a:xfrm>
            <a:off x="594360" y="914400"/>
            <a:ext cx="10972800" cy="594360"/>
          </a:xfrm>
          <a:prstGeom prst="rect">
            <a:avLst/>
          </a:prstGeom>
          <a:noFill/>
          <a:ln/>
        </p:spPr>
        <p:txBody>
          <a:bodyPr wrap="square" lIns="0" tIns="0" rIns="0" bIns="0" rtlCol="0" anchor="ctr"/>
          <a:lstStyle/>
          <a:p>
            <a:pPr marL="0" indent="0">
              <a:buNone/>
            </a:pPr>
            <a:r>
              <a:rPr lang="en-US" sz="3000" b="1" dirty="0">
                <a:solidFill>
                  <a:srgbClr val="073B34"/>
                </a:solidFill>
                <a:latin typeface="Palatino Linotype" pitchFamily="34" charset="0"/>
                <a:ea typeface="Palatino Linotype" pitchFamily="34" charset="-122"/>
                <a:cs typeface="Palatino Linotype" pitchFamily="34" charset="-120"/>
              </a:rPr>
              <a:t>Ce ține minte lumea vs. ce a decis de fapt cazul</a:t>
            </a:r>
            <a:endParaRPr lang="en-US" sz="3000" dirty="0"/>
          </a:p>
        </p:txBody>
      </p:sp>
      <p:sp>
        <p:nvSpPr>
          <p:cNvPr id="4" name="Text 2"/>
          <p:cNvSpPr/>
          <p:nvPr/>
        </p:nvSpPr>
        <p:spPr>
          <a:xfrm>
            <a:off x="3977640" y="2057400"/>
            <a:ext cx="3108960" cy="274320"/>
          </a:xfrm>
          <a:prstGeom prst="rect">
            <a:avLst/>
          </a:prstGeom>
          <a:noFill/>
          <a:ln/>
        </p:spPr>
        <p:txBody>
          <a:bodyPr wrap="square" lIns="0" tIns="0" rIns="0" bIns="0" rtlCol="0" anchor="ctr"/>
          <a:lstStyle/>
          <a:p>
            <a:pPr marL="0" indent="0">
              <a:buNone/>
            </a:pPr>
            <a:r>
              <a:rPr lang="en-US" sz="1200" b="1" dirty="0">
                <a:solidFill>
                  <a:srgbClr val="073B34"/>
                </a:solidFill>
                <a:latin typeface="Palatino Linotype" pitchFamily="34" charset="0"/>
                <a:ea typeface="Palatino Linotype" pitchFamily="34" charset="-122"/>
                <a:cs typeface="Palatino Linotype" pitchFamily="34" charset="-120"/>
              </a:rPr>
              <a:t>Ce ține minte lumea</a:t>
            </a:r>
            <a:endParaRPr lang="en-US" sz="1200" dirty="0"/>
          </a:p>
        </p:txBody>
      </p:sp>
      <p:sp>
        <p:nvSpPr>
          <p:cNvPr id="5" name="Text 3"/>
          <p:cNvSpPr/>
          <p:nvPr/>
        </p:nvSpPr>
        <p:spPr>
          <a:xfrm>
            <a:off x="7269480" y="2057400"/>
            <a:ext cx="2377440" cy="274320"/>
          </a:xfrm>
          <a:prstGeom prst="rect">
            <a:avLst/>
          </a:prstGeom>
          <a:noFill/>
          <a:ln/>
        </p:spPr>
        <p:txBody>
          <a:bodyPr wrap="square" lIns="0" tIns="0" rIns="0" bIns="0" rtlCol="0" anchor="ctr"/>
          <a:lstStyle/>
          <a:p>
            <a:pPr marL="0" indent="0">
              <a:buNone/>
            </a:pPr>
            <a:r>
              <a:rPr lang="en-US" sz="1200" b="1" dirty="0">
                <a:solidFill>
                  <a:srgbClr val="073B34"/>
                </a:solidFill>
                <a:latin typeface="Palatino Linotype" pitchFamily="34" charset="0"/>
                <a:ea typeface="Palatino Linotype" pitchFamily="34" charset="-122"/>
                <a:cs typeface="Palatino Linotype" pitchFamily="34" charset="-120"/>
              </a:rPr>
              <a:t>Ce a decis cazul</a:t>
            </a:r>
            <a:endParaRPr lang="en-US" sz="1200" dirty="0"/>
          </a:p>
        </p:txBody>
      </p:sp>
      <p:sp>
        <p:nvSpPr>
          <p:cNvPr id="6" name="Text 4"/>
          <p:cNvSpPr/>
          <p:nvPr/>
        </p:nvSpPr>
        <p:spPr>
          <a:xfrm>
            <a:off x="9829800" y="2057400"/>
            <a:ext cx="1737360" cy="274320"/>
          </a:xfrm>
          <a:prstGeom prst="rect">
            <a:avLst/>
          </a:prstGeom>
          <a:noFill/>
          <a:ln/>
        </p:spPr>
        <p:txBody>
          <a:bodyPr wrap="square" lIns="0" tIns="0" rIns="0" bIns="0" rtlCol="0" anchor="ctr"/>
          <a:lstStyle/>
          <a:p>
            <a:pPr marL="0" indent="0">
              <a:buNone/>
            </a:pPr>
            <a:r>
              <a:rPr lang="en-US" sz="1200" b="1" dirty="0">
                <a:solidFill>
                  <a:srgbClr val="073B34"/>
                </a:solidFill>
                <a:latin typeface="Palatino Linotype" pitchFamily="34" charset="0"/>
                <a:ea typeface="Palatino Linotype" pitchFamily="34" charset="-122"/>
                <a:cs typeface="Palatino Linotype" pitchFamily="34" charset="-120"/>
              </a:rPr>
              <a:t>CE AM GĂSIT EU</a:t>
            </a:r>
            <a:endParaRPr lang="en-US" sz="1200" dirty="0"/>
          </a:p>
        </p:txBody>
      </p:sp>
      <p:sp>
        <p:nvSpPr>
          <p:cNvPr id="7" name="Shape 5"/>
          <p:cNvSpPr/>
          <p:nvPr/>
        </p:nvSpPr>
        <p:spPr>
          <a:xfrm>
            <a:off x="594360" y="2395728"/>
            <a:ext cx="10972800" cy="585216"/>
          </a:xfrm>
          <a:prstGeom prst="roundRect">
            <a:avLst>
              <a:gd name="adj" fmla="val 14063"/>
            </a:avLst>
          </a:prstGeom>
          <a:solidFill>
            <a:srgbClr val="07564B"/>
          </a:solidFill>
          <a:ln w="12700">
            <a:solidFill>
              <a:srgbClr val="07564B"/>
            </a:solidFill>
            <a:prstDash val="solid"/>
          </a:ln>
        </p:spPr>
        <p:txBody>
          <a:bodyPr/>
          <a:lstStyle/>
          <a:p>
            <a:endParaRPr lang="ro-RO"/>
          </a:p>
        </p:txBody>
      </p:sp>
      <p:sp>
        <p:nvSpPr>
          <p:cNvPr id="8" name="Text 6"/>
          <p:cNvSpPr/>
          <p:nvPr/>
        </p:nvSpPr>
        <p:spPr>
          <a:xfrm>
            <a:off x="914400" y="2395728"/>
            <a:ext cx="2926080" cy="585216"/>
          </a:xfrm>
          <a:prstGeom prst="rect">
            <a:avLst/>
          </a:prstGeom>
          <a:noFill/>
          <a:ln/>
        </p:spPr>
        <p:txBody>
          <a:bodyPr wrap="square" lIns="0" tIns="0" rIns="0" bIns="0" rtlCol="0" anchor="ctr"/>
          <a:lstStyle/>
          <a:p>
            <a:pPr marL="0" indent="0">
              <a:buNone/>
            </a:pPr>
            <a:r>
              <a:rPr lang="en-US" sz="1300" b="1" dirty="0">
                <a:solidFill>
                  <a:srgbClr val="FFFFFF"/>
                </a:solidFill>
                <a:latin typeface="Palatino Linotype" pitchFamily="34" charset="0"/>
                <a:ea typeface="Palatino Linotype" pitchFamily="34" charset="-122"/>
                <a:cs typeface="Palatino Linotype" pitchFamily="34" charset="-120"/>
              </a:rPr>
              <a:t>Actul</a:t>
            </a:r>
            <a:endParaRPr lang="en-US" sz="1300" dirty="0"/>
          </a:p>
        </p:txBody>
      </p:sp>
      <p:sp>
        <p:nvSpPr>
          <p:cNvPr id="9" name="Text 7"/>
          <p:cNvSpPr/>
          <p:nvPr/>
        </p:nvSpPr>
        <p:spPr>
          <a:xfrm>
            <a:off x="3977640" y="2395728"/>
            <a:ext cx="3108960" cy="585216"/>
          </a:xfrm>
          <a:prstGeom prst="rect">
            <a:avLst/>
          </a:prstGeom>
          <a:noFill/>
          <a:ln/>
        </p:spPr>
        <p:txBody>
          <a:bodyPr wrap="square" lIns="0" tIns="0" rIns="0" bIns="0" rtlCol="0" anchor="ctr"/>
          <a:lstStyle/>
          <a:p>
            <a:pPr marL="0" indent="0">
              <a:buNone/>
            </a:pPr>
            <a:r>
              <a:rPr lang="en-US" sz="1150" dirty="0">
                <a:solidFill>
                  <a:srgbClr val="BFE9E1"/>
                </a:solidFill>
                <a:latin typeface="Palatino Linotype" pitchFamily="34" charset="0"/>
                <a:ea typeface="Palatino Linotype" pitchFamily="34" charset="-122"/>
                <a:cs typeface="Palatino Linotype" pitchFamily="34" charset="-120"/>
              </a:rPr>
              <a:t>mânerul, 8 septembrie</a:t>
            </a:r>
            <a:endParaRPr lang="en-US" sz="1150" dirty="0"/>
          </a:p>
        </p:txBody>
      </p:sp>
      <p:sp>
        <p:nvSpPr>
          <p:cNvPr id="10" name="Text 8"/>
          <p:cNvSpPr/>
          <p:nvPr/>
        </p:nvSpPr>
        <p:spPr>
          <a:xfrm>
            <a:off x="7269480" y="2395728"/>
            <a:ext cx="2377440" cy="585216"/>
          </a:xfrm>
          <a:prstGeom prst="rect">
            <a:avLst/>
          </a:prstGeom>
          <a:noFill/>
          <a:ln/>
        </p:spPr>
        <p:txBody>
          <a:bodyPr wrap="square" lIns="0" tIns="0" rIns="0" bIns="0" rtlCol="0" anchor="ctr"/>
          <a:lstStyle/>
          <a:p>
            <a:pPr marL="0" indent="0">
              <a:buNone/>
            </a:pPr>
            <a:r>
              <a:rPr lang="en-US" sz="1050" b="1" dirty="0">
                <a:solidFill>
                  <a:srgbClr val="FFC24B"/>
                </a:solidFill>
                <a:latin typeface="Palatino Linotype" pitchFamily="34" charset="0"/>
                <a:ea typeface="Palatino Linotype" pitchFamily="34" charset="-122"/>
                <a:cs typeface="Palatino Linotype" pitchFamily="34" charset="-120"/>
              </a:rPr>
              <a:t>12 atacuri fatale, față de 143 la vârf — dar populația fugea</a:t>
            </a:r>
            <a:endParaRPr lang="en-US" sz="1050" dirty="0"/>
          </a:p>
        </p:txBody>
      </p:sp>
      <p:sp>
        <p:nvSpPr>
          <p:cNvPr id="11" name="Shape 9"/>
          <p:cNvSpPr/>
          <p:nvPr/>
        </p:nvSpPr>
        <p:spPr>
          <a:xfrm>
            <a:off x="9802368" y="2478024"/>
            <a:ext cx="1691640" cy="420624"/>
          </a:xfrm>
          <a:prstGeom prst="roundRect">
            <a:avLst>
              <a:gd name="adj" fmla="val 15217"/>
            </a:avLst>
          </a:prstGeom>
          <a:solidFill>
            <a:srgbClr val="0A4A41"/>
          </a:solidFill>
          <a:ln w="12700">
            <a:solidFill>
              <a:srgbClr val="1C6E62"/>
            </a:solidFill>
            <a:prstDash val="solid"/>
          </a:ln>
        </p:spPr>
        <p:txBody>
          <a:bodyPr/>
          <a:lstStyle/>
          <a:p>
            <a:endParaRPr lang="ro-RO"/>
          </a:p>
        </p:txBody>
      </p:sp>
      <p:sp>
        <p:nvSpPr>
          <p:cNvPr id="12" name="Shape 10"/>
          <p:cNvSpPr/>
          <p:nvPr/>
        </p:nvSpPr>
        <p:spPr>
          <a:xfrm>
            <a:off x="594360" y="3072384"/>
            <a:ext cx="10972800" cy="585216"/>
          </a:xfrm>
          <a:prstGeom prst="roundRect">
            <a:avLst>
              <a:gd name="adj" fmla="val 14063"/>
            </a:avLst>
          </a:prstGeom>
          <a:solidFill>
            <a:srgbClr val="FFFFFF"/>
          </a:solidFill>
          <a:ln w="12700">
            <a:solidFill>
              <a:srgbClr val="FFFFFF"/>
            </a:solidFill>
            <a:prstDash val="solid"/>
          </a:ln>
        </p:spPr>
        <p:txBody>
          <a:bodyPr/>
          <a:lstStyle/>
          <a:p>
            <a:endParaRPr lang="ro-RO"/>
          </a:p>
        </p:txBody>
      </p:sp>
      <p:sp>
        <p:nvSpPr>
          <p:cNvPr id="13" name="Text 11"/>
          <p:cNvSpPr/>
          <p:nvPr/>
        </p:nvSpPr>
        <p:spPr>
          <a:xfrm>
            <a:off x="914400" y="3072384"/>
            <a:ext cx="2926080" cy="585216"/>
          </a:xfrm>
          <a:prstGeom prst="rect">
            <a:avLst/>
          </a:prstGeom>
          <a:noFill/>
          <a:ln/>
        </p:spPr>
        <p:txBody>
          <a:bodyPr wrap="square" lIns="0" tIns="0" rIns="0" bIns="0" rtlCol="0" anchor="ctr"/>
          <a:lstStyle/>
          <a:p>
            <a:pPr marL="0" indent="0">
              <a:buNone/>
            </a:pPr>
            <a:r>
              <a:rPr lang="en-US" sz="1300" b="1" dirty="0">
                <a:solidFill>
                  <a:srgbClr val="11121A"/>
                </a:solidFill>
                <a:latin typeface="Palatino Linotype" pitchFamily="34" charset="0"/>
                <a:ea typeface="Palatino Linotype" pitchFamily="34" charset="-122"/>
                <a:cs typeface="Palatino Linotype" pitchFamily="34" charset="-120"/>
              </a:rPr>
              <a:t>Instrumentul</a:t>
            </a:r>
            <a:endParaRPr lang="en-US" sz="1300" dirty="0"/>
          </a:p>
        </p:txBody>
      </p:sp>
      <p:sp>
        <p:nvSpPr>
          <p:cNvPr id="14" name="Text 12"/>
          <p:cNvSpPr/>
          <p:nvPr/>
        </p:nvSpPr>
        <p:spPr>
          <a:xfrm>
            <a:off x="3977640" y="3072384"/>
            <a:ext cx="3108960" cy="585216"/>
          </a:xfrm>
          <a:prstGeom prst="rect">
            <a:avLst/>
          </a:prstGeom>
          <a:noFill/>
          <a:ln/>
        </p:spPr>
        <p:txBody>
          <a:bodyPr wrap="square" lIns="0" tIns="0" rIns="0" bIns="0" rtlCol="0" anchor="ctr"/>
          <a:lstStyle/>
          <a:p>
            <a:pPr marL="0" indent="0">
              <a:buNone/>
            </a:pPr>
            <a:r>
              <a:rPr lang="en-US" sz="1150" dirty="0">
                <a:solidFill>
                  <a:srgbClr val="585A64"/>
                </a:solidFill>
                <a:latin typeface="Palatino Linotype" pitchFamily="34" charset="0"/>
                <a:ea typeface="Palatino Linotype" pitchFamily="34" charset="-122"/>
                <a:cs typeface="Palatino Linotype" pitchFamily="34" charset="-120"/>
              </a:rPr>
              <a:t>harta cu bare negre</a:t>
            </a:r>
            <a:endParaRPr lang="en-US" sz="1150" dirty="0"/>
          </a:p>
        </p:txBody>
      </p:sp>
      <p:sp>
        <p:nvSpPr>
          <p:cNvPr id="15" name="Text 13"/>
          <p:cNvSpPr/>
          <p:nvPr/>
        </p:nvSpPr>
        <p:spPr>
          <a:xfrm>
            <a:off x="7269480" y="3072384"/>
            <a:ext cx="2377440" cy="585216"/>
          </a:xfrm>
          <a:prstGeom prst="rect">
            <a:avLst/>
          </a:prstGeom>
          <a:noFill/>
          <a:ln/>
        </p:spPr>
        <p:txBody>
          <a:bodyPr wrap="square" lIns="0" tIns="0" rIns="0" bIns="0" rtlCol="0" anchor="ctr"/>
          <a:lstStyle/>
          <a:p>
            <a:pPr marL="0" indent="0">
              <a:buNone/>
            </a:pPr>
            <a:r>
              <a:rPr lang="en-US" sz="1050" b="1" dirty="0">
                <a:solidFill>
                  <a:srgbClr val="0E7C6B"/>
                </a:solidFill>
                <a:latin typeface="Palatino Linotype" pitchFamily="34" charset="0"/>
                <a:ea typeface="Palatino Linotype" pitchFamily="34" charset="-122"/>
                <a:cs typeface="Palatino Linotype" pitchFamily="34" charset="-120"/>
              </a:rPr>
              <a:t>315 vs. 37 la 10 000 de case · RR 8,40</a:t>
            </a:r>
            <a:endParaRPr lang="en-US" sz="1050" dirty="0"/>
          </a:p>
        </p:txBody>
      </p:sp>
      <p:sp>
        <p:nvSpPr>
          <p:cNvPr id="16" name="Shape 14"/>
          <p:cNvSpPr/>
          <p:nvPr/>
        </p:nvSpPr>
        <p:spPr>
          <a:xfrm>
            <a:off x="9802368" y="3154680"/>
            <a:ext cx="1691640" cy="420624"/>
          </a:xfrm>
          <a:prstGeom prst="roundRect">
            <a:avLst>
              <a:gd name="adj" fmla="val 15217"/>
            </a:avLst>
          </a:prstGeom>
          <a:solidFill>
            <a:srgbClr val="ECEAE4"/>
          </a:solidFill>
          <a:ln w="12700">
            <a:solidFill>
              <a:srgbClr val="C9C6BE"/>
            </a:solidFill>
            <a:prstDash val="solid"/>
          </a:ln>
        </p:spPr>
        <p:txBody>
          <a:bodyPr/>
          <a:lstStyle/>
          <a:p>
            <a:endParaRPr lang="ro-RO"/>
          </a:p>
        </p:txBody>
      </p:sp>
      <p:sp>
        <p:nvSpPr>
          <p:cNvPr id="17" name="Shape 15"/>
          <p:cNvSpPr/>
          <p:nvPr/>
        </p:nvSpPr>
        <p:spPr>
          <a:xfrm>
            <a:off x="594360" y="3749040"/>
            <a:ext cx="10972800" cy="585216"/>
          </a:xfrm>
          <a:prstGeom prst="roundRect">
            <a:avLst>
              <a:gd name="adj" fmla="val 14063"/>
            </a:avLst>
          </a:prstGeom>
          <a:solidFill>
            <a:srgbClr val="07564B"/>
          </a:solidFill>
          <a:ln w="12700">
            <a:solidFill>
              <a:srgbClr val="07564B"/>
            </a:solidFill>
            <a:prstDash val="solid"/>
          </a:ln>
        </p:spPr>
        <p:txBody>
          <a:bodyPr/>
          <a:lstStyle/>
          <a:p>
            <a:endParaRPr lang="ro-RO"/>
          </a:p>
        </p:txBody>
      </p:sp>
      <p:sp>
        <p:nvSpPr>
          <p:cNvPr id="18" name="Text 16"/>
          <p:cNvSpPr/>
          <p:nvPr/>
        </p:nvSpPr>
        <p:spPr>
          <a:xfrm>
            <a:off x="914400" y="3749040"/>
            <a:ext cx="2926080" cy="585216"/>
          </a:xfrm>
          <a:prstGeom prst="rect">
            <a:avLst/>
          </a:prstGeom>
          <a:noFill/>
          <a:ln/>
        </p:spPr>
        <p:txBody>
          <a:bodyPr wrap="square" lIns="0" tIns="0" rIns="0" bIns="0" rtlCol="0" anchor="ctr"/>
          <a:lstStyle/>
          <a:p>
            <a:pPr marL="0" indent="0">
              <a:buNone/>
            </a:pPr>
            <a:r>
              <a:rPr lang="en-US" sz="1300" b="1" dirty="0">
                <a:solidFill>
                  <a:srgbClr val="FFFFFF"/>
                </a:solidFill>
                <a:latin typeface="Palatino Linotype" pitchFamily="34" charset="0"/>
                <a:ea typeface="Palatino Linotype" pitchFamily="34" charset="-122"/>
                <a:cs typeface="Palatino Linotype" pitchFamily="34" charset="-120"/>
              </a:rPr>
              <a:t>Autorul</a:t>
            </a:r>
            <a:endParaRPr lang="en-US" sz="1300" dirty="0"/>
          </a:p>
        </p:txBody>
      </p:sp>
      <p:sp>
        <p:nvSpPr>
          <p:cNvPr id="19" name="Text 17"/>
          <p:cNvSpPr/>
          <p:nvPr/>
        </p:nvSpPr>
        <p:spPr>
          <a:xfrm>
            <a:off x="3977640" y="3749040"/>
            <a:ext cx="3108960" cy="585216"/>
          </a:xfrm>
          <a:prstGeom prst="rect">
            <a:avLst/>
          </a:prstGeom>
          <a:noFill/>
          <a:ln/>
        </p:spPr>
        <p:txBody>
          <a:bodyPr wrap="square" lIns="0" tIns="0" rIns="0" bIns="0" rtlCol="0" anchor="ctr"/>
          <a:lstStyle/>
          <a:p>
            <a:pPr marL="0" indent="0">
              <a:buNone/>
            </a:pPr>
            <a:r>
              <a:rPr lang="en-US" sz="1150" dirty="0">
                <a:solidFill>
                  <a:srgbClr val="BFE9E1"/>
                </a:solidFill>
                <a:latin typeface="Palatino Linotype" pitchFamily="34" charset="0"/>
                <a:ea typeface="Palatino Linotype" pitchFamily="34" charset="-122"/>
                <a:cs typeface="Palatino Linotype" pitchFamily="34" charset="-120"/>
              </a:rPr>
              <a:t>Snow, geniul singuratic</a:t>
            </a:r>
            <a:endParaRPr lang="en-US" sz="1150" dirty="0"/>
          </a:p>
        </p:txBody>
      </p:sp>
      <p:sp>
        <p:nvSpPr>
          <p:cNvPr id="20" name="Text 18"/>
          <p:cNvSpPr/>
          <p:nvPr/>
        </p:nvSpPr>
        <p:spPr>
          <a:xfrm>
            <a:off x="7269480" y="3749040"/>
            <a:ext cx="2377440" cy="585216"/>
          </a:xfrm>
          <a:prstGeom prst="rect">
            <a:avLst/>
          </a:prstGeom>
          <a:noFill/>
          <a:ln/>
        </p:spPr>
        <p:txBody>
          <a:bodyPr wrap="square" lIns="0" tIns="0" rIns="0" bIns="0" rtlCol="0" anchor="ctr"/>
          <a:lstStyle/>
          <a:p>
            <a:pPr marL="0" indent="0">
              <a:buNone/>
            </a:pPr>
            <a:r>
              <a:rPr lang="en-US" sz="1050" b="1" dirty="0">
                <a:solidFill>
                  <a:srgbClr val="FFC24B"/>
                </a:solidFill>
                <a:latin typeface="Palatino Linotype" pitchFamily="34" charset="0"/>
                <a:ea typeface="Palatino Linotype" pitchFamily="34" charset="-122"/>
                <a:cs typeface="Palatino Linotype" pitchFamily="34" charset="-120"/>
              </a:rPr>
              <a:t>Whitehead: fetița de cinci luni, nr. 40</a:t>
            </a:r>
            <a:endParaRPr lang="en-US" sz="1050" dirty="0"/>
          </a:p>
        </p:txBody>
      </p:sp>
      <p:sp>
        <p:nvSpPr>
          <p:cNvPr id="21" name="Shape 19"/>
          <p:cNvSpPr/>
          <p:nvPr/>
        </p:nvSpPr>
        <p:spPr>
          <a:xfrm>
            <a:off x="9802368" y="3831336"/>
            <a:ext cx="1691640" cy="420624"/>
          </a:xfrm>
          <a:prstGeom prst="roundRect">
            <a:avLst>
              <a:gd name="adj" fmla="val 15217"/>
            </a:avLst>
          </a:prstGeom>
          <a:solidFill>
            <a:srgbClr val="0A4A41"/>
          </a:solidFill>
          <a:ln w="12700">
            <a:solidFill>
              <a:srgbClr val="1C6E62"/>
            </a:solidFill>
            <a:prstDash val="solid"/>
          </a:ln>
        </p:spPr>
        <p:txBody>
          <a:bodyPr/>
          <a:lstStyle/>
          <a:p>
            <a:endParaRPr lang="ro-RO"/>
          </a:p>
        </p:txBody>
      </p:sp>
      <p:sp>
        <p:nvSpPr>
          <p:cNvPr id="22" name="Shape 20"/>
          <p:cNvSpPr/>
          <p:nvPr/>
        </p:nvSpPr>
        <p:spPr>
          <a:xfrm>
            <a:off x="594360" y="4425696"/>
            <a:ext cx="10972800" cy="585216"/>
          </a:xfrm>
          <a:prstGeom prst="roundRect">
            <a:avLst>
              <a:gd name="adj" fmla="val 14063"/>
            </a:avLst>
          </a:prstGeom>
          <a:solidFill>
            <a:srgbClr val="FFFFFF"/>
          </a:solidFill>
          <a:ln w="12700">
            <a:solidFill>
              <a:srgbClr val="FFFFFF"/>
            </a:solidFill>
            <a:prstDash val="solid"/>
          </a:ln>
        </p:spPr>
        <p:txBody>
          <a:bodyPr/>
          <a:lstStyle/>
          <a:p>
            <a:endParaRPr lang="ro-RO"/>
          </a:p>
        </p:txBody>
      </p:sp>
      <p:sp>
        <p:nvSpPr>
          <p:cNvPr id="23" name="Text 21"/>
          <p:cNvSpPr/>
          <p:nvPr/>
        </p:nvSpPr>
        <p:spPr>
          <a:xfrm>
            <a:off x="914400" y="4425696"/>
            <a:ext cx="2926080" cy="585216"/>
          </a:xfrm>
          <a:prstGeom prst="rect">
            <a:avLst/>
          </a:prstGeom>
          <a:noFill/>
          <a:ln/>
        </p:spPr>
        <p:txBody>
          <a:bodyPr wrap="square" lIns="0" tIns="0" rIns="0" bIns="0" rtlCol="0" anchor="ctr"/>
          <a:lstStyle/>
          <a:p>
            <a:pPr marL="0" indent="0">
              <a:buNone/>
            </a:pPr>
            <a:r>
              <a:rPr lang="en-US" sz="1300" b="1" dirty="0">
                <a:solidFill>
                  <a:srgbClr val="11121A"/>
                </a:solidFill>
                <a:latin typeface="Palatino Linotype" pitchFamily="34" charset="0"/>
                <a:ea typeface="Palatino Linotype" pitchFamily="34" charset="-122"/>
                <a:cs typeface="Palatino Linotype" pitchFamily="34" charset="-120"/>
              </a:rPr>
              <a:t>Rezultatul</a:t>
            </a:r>
            <a:endParaRPr lang="en-US" sz="1300" dirty="0"/>
          </a:p>
        </p:txBody>
      </p:sp>
      <p:sp>
        <p:nvSpPr>
          <p:cNvPr id="24" name="Text 22"/>
          <p:cNvSpPr/>
          <p:nvPr/>
        </p:nvSpPr>
        <p:spPr>
          <a:xfrm>
            <a:off x="3977640" y="4425696"/>
            <a:ext cx="3108960" cy="585216"/>
          </a:xfrm>
          <a:prstGeom prst="rect">
            <a:avLst/>
          </a:prstGeom>
          <a:noFill/>
          <a:ln/>
        </p:spPr>
        <p:txBody>
          <a:bodyPr wrap="square" lIns="0" tIns="0" rIns="0" bIns="0" rtlCol="0" anchor="ctr"/>
          <a:lstStyle/>
          <a:p>
            <a:pPr marL="0" indent="0">
              <a:buNone/>
            </a:pPr>
            <a:r>
              <a:rPr lang="en-US" sz="1150" dirty="0">
                <a:solidFill>
                  <a:srgbClr val="585A64"/>
                </a:solidFill>
                <a:latin typeface="Palatino Linotype" pitchFamily="34" charset="0"/>
                <a:ea typeface="Palatino Linotype" pitchFamily="34" charset="-122"/>
                <a:cs typeface="Palatino Linotype" pitchFamily="34" charset="-120"/>
              </a:rPr>
              <a:t>„Snow a convins Londra”</a:t>
            </a:r>
            <a:endParaRPr lang="en-US" sz="1150" dirty="0"/>
          </a:p>
        </p:txBody>
      </p:sp>
      <p:sp>
        <p:nvSpPr>
          <p:cNvPr id="25" name="Text 23"/>
          <p:cNvSpPr/>
          <p:nvPr/>
        </p:nvSpPr>
        <p:spPr>
          <a:xfrm>
            <a:off x="7269480" y="4425696"/>
            <a:ext cx="2377440" cy="585216"/>
          </a:xfrm>
          <a:prstGeom prst="rect">
            <a:avLst/>
          </a:prstGeom>
          <a:noFill/>
          <a:ln/>
        </p:spPr>
        <p:txBody>
          <a:bodyPr wrap="square" lIns="0" tIns="0" rIns="0" bIns="0" rtlCol="0" anchor="ctr"/>
          <a:lstStyle/>
          <a:p>
            <a:pPr marL="0" indent="0">
              <a:buNone/>
            </a:pPr>
            <a:r>
              <a:rPr lang="en-US" sz="1050" b="1" dirty="0">
                <a:solidFill>
                  <a:srgbClr val="0E7C6B"/>
                </a:solidFill>
                <a:latin typeface="Palatino Linotype" pitchFamily="34" charset="0"/>
                <a:ea typeface="Palatino Linotype" pitchFamily="34" charset="-122"/>
                <a:cs typeface="Palatino Linotype" pitchFamily="34" charset="-120"/>
              </a:rPr>
              <a:t>„we see no reason to adopt this belief”</a:t>
            </a:r>
            <a:endParaRPr lang="en-US" sz="1050" dirty="0"/>
          </a:p>
        </p:txBody>
      </p:sp>
      <p:sp>
        <p:nvSpPr>
          <p:cNvPr id="26" name="Shape 24"/>
          <p:cNvSpPr/>
          <p:nvPr/>
        </p:nvSpPr>
        <p:spPr>
          <a:xfrm>
            <a:off x="9802368" y="4507992"/>
            <a:ext cx="1691640" cy="420624"/>
          </a:xfrm>
          <a:prstGeom prst="roundRect">
            <a:avLst>
              <a:gd name="adj" fmla="val 15217"/>
            </a:avLst>
          </a:prstGeom>
          <a:solidFill>
            <a:srgbClr val="ECEAE4"/>
          </a:solidFill>
          <a:ln w="12700">
            <a:solidFill>
              <a:srgbClr val="C9C6BE"/>
            </a:solidFill>
            <a:prstDash val="solid"/>
          </a:ln>
        </p:spPr>
        <p:txBody>
          <a:bodyPr/>
          <a:lstStyle/>
          <a:p>
            <a:endParaRPr lang="ro-RO"/>
          </a:p>
        </p:txBody>
      </p:sp>
      <p:sp>
        <p:nvSpPr>
          <p:cNvPr id="27" name="Shape 25"/>
          <p:cNvSpPr/>
          <p:nvPr/>
        </p:nvSpPr>
        <p:spPr>
          <a:xfrm>
            <a:off x="594360" y="5102352"/>
            <a:ext cx="10972800" cy="585216"/>
          </a:xfrm>
          <a:prstGeom prst="roundRect">
            <a:avLst>
              <a:gd name="adj" fmla="val 14063"/>
            </a:avLst>
          </a:prstGeom>
          <a:solidFill>
            <a:srgbClr val="07564B"/>
          </a:solidFill>
          <a:ln w="12700">
            <a:solidFill>
              <a:srgbClr val="07564B"/>
            </a:solidFill>
            <a:prstDash val="solid"/>
          </a:ln>
        </p:spPr>
        <p:txBody>
          <a:bodyPr/>
          <a:lstStyle/>
          <a:p>
            <a:endParaRPr lang="ro-RO"/>
          </a:p>
        </p:txBody>
      </p:sp>
      <p:sp>
        <p:nvSpPr>
          <p:cNvPr id="28" name="Text 26"/>
          <p:cNvSpPr/>
          <p:nvPr/>
        </p:nvSpPr>
        <p:spPr>
          <a:xfrm>
            <a:off x="914400" y="5102352"/>
            <a:ext cx="2926080" cy="585216"/>
          </a:xfrm>
          <a:prstGeom prst="rect">
            <a:avLst/>
          </a:prstGeom>
          <a:noFill/>
          <a:ln/>
        </p:spPr>
        <p:txBody>
          <a:bodyPr wrap="square" lIns="0" tIns="0" rIns="0" bIns="0" rtlCol="0" anchor="ctr"/>
          <a:lstStyle/>
          <a:p>
            <a:pPr marL="0" indent="0">
              <a:buNone/>
            </a:pPr>
            <a:r>
              <a:rPr lang="en-US" sz="1300" b="1" dirty="0">
                <a:solidFill>
                  <a:srgbClr val="FFFFFF"/>
                </a:solidFill>
                <a:latin typeface="Palatino Linotype" pitchFamily="34" charset="0"/>
                <a:ea typeface="Palatino Linotype" pitchFamily="34" charset="-122"/>
                <a:cs typeface="Palatino Linotype" pitchFamily="34" charset="-120"/>
              </a:rPr>
              <a:t>Sursa</a:t>
            </a:r>
            <a:endParaRPr lang="en-US" sz="1300" dirty="0"/>
          </a:p>
        </p:txBody>
      </p:sp>
      <p:sp>
        <p:nvSpPr>
          <p:cNvPr id="29" name="Text 27"/>
          <p:cNvSpPr/>
          <p:nvPr/>
        </p:nvSpPr>
        <p:spPr>
          <a:xfrm>
            <a:off x="3977640" y="5102352"/>
            <a:ext cx="3108960" cy="585216"/>
          </a:xfrm>
          <a:prstGeom prst="rect">
            <a:avLst/>
          </a:prstGeom>
          <a:noFill/>
          <a:ln/>
        </p:spPr>
        <p:txBody>
          <a:bodyPr wrap="square" lIns="0" tIns="0" rIns="0" bIns="0" rtlCol="0" anchor="ctr"/>
          <a:lstStyle/>
          <a:p>
            <a:pPr marL="0" indent="0">
              <a:buNone/>
            </a:pPr>
            <a:r>
              <a:rPr lang="en-US" sz="1150" dirty="0">
                <a:solidFill>
                  <a:srgbClr val="BFE9E1"/>
                </a:solidFill>
                <a:latin typeface="Palatino Linotype" pitchFamily="34" charset="0"/>
                <a:ea typeface="Palatino Linotype" pitchFamily="34" charset="-122"/>
                <a:cs typeface="Palatino Linotype" pitchFamily="34" charset="-120"/>
              </a:rPr>
              <a:t>„scrie în manual”</a:t>
            </a:r>
            <a:endParaRPr lang="en-US" sz="1150" dirty="0"/>
          </a:p>
        </p:txBody>
      </p:sp>
      <p:sp>
        <p:nvSpPr>
          <p:cNvPr id="30" name="Text 28"/>
          <p:cNvSpPr/>
          <p:nvPr/>
        </p:nvSpPr>
        <p:spPr>
          <a:xfrm>
            <a:off x="7269480" y="5102352"/>
            <a:ext cx="2377440" cy="585216"/>
          </a:xfrm>
          <a:prstGeom prst="rect">
            <a:avLst/>
          </a:prstGeom>
          <a:noFill/>
          <a:ln/>
        </p:spPr>
        <p:txBody>
          <a:bodyPr wrap="square" lIns="0" tIns="0" rIns="0" bIns="0" rtlCol="0" anchor="ctr"/>
          <a:lstStyle/>
          <a:p>
            <a:pPr marL="0" indent="0">
              <a:buNone/>
            </a:pPr>
            <a:r>
              <a:rPr lang="en-US" sz="1050" b="1" dirty="0">
                <a:solidFill>
                  <a:srgbClr val="FFC24B"/>
                </a:solidFill>
                <a:latin typeface="Palatino Linotype" pitchFamily="34" charset="0"/>
                <a:ea typeface="Palatino Linotype" pitchFamily="34" charset="-122"/>
                <a:cs typeface="Palatino Linotype" pitchFamily="34" charset="-120"/>
              </a:rPr>
              <a:t>pagina relevantă, din 2014</a:t>
            </a:r>
            <a:endParaRPr lang="en-US" sz="1050" dirty="0"/>
          </a:p>
        </p:txBody>
      </p:sp>
      <p:sp>
        <p:nvSpPr>
          <p:cNvPr id="31" name="Shape 29"/>
          <p:cNvSpPr/>
          <p:nvPr/>
        </p:nvSpPr>
        <p:spPr>
          <a:xfrm>
            <a:off x="9802368" y="5184648"/>
            <a:ext cx="1691640" cy="420624"/>
          </a:xfrm>
          <a:prstGeom prst="roundRect">
            <a:avLst>
              <a:gd name="adj" fmla="val 15217"/>
            </a:avLst>
          </a:prstGeom>
          <a:solidFill>
            <a:srgbClr val="0A4A41"/>
          </a:solidFill>
          <a:ln w="12700">
            <a:solidFill>
              <a:srgbClr val="1C6E62"/>
            </a:solidFill>
            <a:prstDash val="solid"/>
          </a:ln>
        </p:spPr>
        <p:txBody>
          <a:bodyPr/>
          <a:lstStyle/>
          <a:p>
            <a:endParaRPr lang="ro-RO"/>
          </a:p>
        </p:txBody>
      </p:sp>
      <p:sp>
        <p:nvSpPr>
          <p:cNvPr id="32" name="Shape 30"/>
          <p:cNvSpPr/>
          <p:nvPr/>
        </p:nvSpPr>
        <p:spPr>
          <a:xfrm>
            <a:off x="594360" y="5870448"/>
            <a:ext cx="10972800" cy="484632"/>
          </a:xfrm>
          <a:prstGeom prst="roundRect">
            <a:avLst>
              <a:gd name="adj" fmla="val 16981"/>
            </a:avLst>
          </a:prstGeom>
          <a:solidFill>
            <a:srgbClr val="073B34"/>
          </a:solidFill>
          <a:ln w="12700">
            <a:solidFill>
              <a:srgbClr val="073B34"/>
            </a:solidFill>
            <a:prstDash val="solid"/>
          </a:ln>
        </p:spPr>
        <p:txBody>
          <a:bodyPr/>
          <a:lstStyle/>
          <a:p>
            <a:endParaRPr lang="ro-RO"/>
          </a:p>
        </p:txBody>
      </p:sp>
      <p:sp>
        <p:nvSpPr>
          <p:cNvPr id="33" name="Text 31"/>
          <p:cNvSpPr/>
          <p:nvPr/>
        </p:nvSpPr>
        <p:spPr>
          <a:xfrm>
            <a:off x="960120" y="5870448"/>
            <a:ext cx="10241280" cy="484632"/>
          </a:xfrm>
          <a:prstGeom prst="rect">
            <a:avLst/>
          </a:prstGeom>
          <a:noFill/>
          <a:ln/>
        </p:spPr>
        <p:txBody>
          <a:bodyPr wrap="square" lIns="0" tIns="0" rIns="0" bIns="0" rtlCol="0" anchor="ctr"/>
          <a:lstStyle/>
          <a:p>
            <a:pPr marL="0" indent="0">
              <a:buNone/>
            </a:pPr>
            <a:r>
              <a:rPr lang="en-US" sz="1350" b="1" dirty="0">
                <a:solidFill>
                  <a:srgbClr val="FFFFFF"/>
                </a:solidFill>
                <a:latin typeface="Palatino Linotype" pitchFamily="34" charset="0"/>
                <a:ea typeface="Palatino Linotype" pitchFamily="34" charset="-122"/>
                <a:cs typeface="Palatino Linotype" pitchFamily="34" charset="-120"/>
              </a:rPr>
              <a:t>Nu arta de a avea dreptate spectaculos. Arta de a construi GRUPUL DE COMPARAȚIE înainte ca cineva să te creadă — și de a lucra mai departe după ce nu te-a crezut.</a:t>
            </a:r>
            <a:endParaRPr lang="en-US" sz="13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9">
    <p:bg>
      <p:bgPr>
        <a:solidFill>
          <a:srgbClr val="11121A"/>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CINCI REGULI</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FFFFFF"/>
                </a:solidFill>
                <a:latin typeface="Palatino Linotype" pitchFamily="34" charset="0"/>
                <a:ea typeface="Palatino Linotype" pitchFamily="34" charset="-122"/>
                <a:cs typeface="Palatino Linotype" pitchFamily="34" charset="-120"/>
              </a:rPr>
              <a:t>Ce luați cu voi</a:t>
            </a:r>
            <a:endParaRPr lang="en-US" sz="3100" dirty="0"/>
          </a:p>
        </p:txBody>
      </p:sp>
      <p:sp>
        <p:nvSpPr>
          <p:cNvPr id="4" name="Shape 2"/>
          <p:cNvSpPr/>
          <p:nvPr/>
        </p:nvSpPr>
        <p:spPr>
          <a:xfrm>
            <a:off x="594360" y="1691640"/>
            <a:ext cx="10972800" cy="786384"/>
          </a:xfrm>
          <a:prstGeom prst="roundRect">
            <a:avLst>
              <a:gd name="adj" fmla="val 10465"/>
            </a:avLst>
          </a:prstGeom>
          <a:solidFill>
            <a:srgbClr val="1D1F2B"/>
          </a:solidFill>
          <a:ln w="12700">
            <a:solidFill>
              <a:srgbClr val="1D1F2B"/>
            </a:solidFill>
            <a:prstDash val="solid"/>
          </a:ln>
        </p:spPr>
        <p:txBody>
          <a:bodyPr/>
          <a:lstStyle/>
          <a:p>
            <a:endParaRPr lang="ro-RO"/>
          </a:p>
        </p:txBody>
      </p:sp>
      <p:sp>
        <p:nvSpPr>
          <p:cNvPr id="5" name="Shape 3"/>
          <p:cNvSpPr/>
          <p:nvPr/>
        </p:nvSpPr>
        <p:spPr>
          <a:xfrm>
            <a:off x="914400" y="1874520"/>
            <a:ext cx="438912" cy="438912"/>
          </a:xfrm>
          <a:prstGeom prst="ellipse">
            <a:avLst/>
          </a:prstGeom>
          <a:solidFill>
            <a:srgbClr val="FF4757"/>
          </a:solidFill>
          <a:ln/>
        </p:spPr>
        <p:txBody>
          <a:bodyPr/>
          <a:lstStyle/>
          <a:p>
            <a:endParaRPr lang="ro-RO"/>
          </a:p>
        </p:txBody>
      </p:sp>
      <p:sp>
        <p:nvSpPr>
          <p:cNvPr id="6" name="Text 4"/>
          <p:cNvSpPr/>
          <p:nvPr/>
        </p:nvSpPr>
        <p:spPr>
          <a:xfrm>
            <a:off x="914400" y="1874520"/>
            <a:ext cx="438912" cy="438912"/>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746504"/>
            <a:ext cx="9692640" cy="347472"/>
          </a:xfrm>
          <a:prstGeom prst="rect">
            <a:avLst/>
          </a:prstGeom>
          <a:noFill/>
          <a:ln/>
        </p:spPr>
        <p:txBody>
          <a:bodyPr wrap="square" lIns="0" tIns="0" rIns="0" bIns="0" rtlCol="0" anchor="ctr"/>
          <a:lstStyle/>
          <a:p>
            <a:pPr marL="0" indent="0">
              <a:buNone/>
            </a:pPr>
            <a:r>
              <a:rPr lang="en-US" sz="1450" b="1" dirty="0">
                <a:solidFill>
                  <a:srgbClr val="FF4757"/>
                </a:solidFill>
                <a:latin typeface="Palatino Linotype" pitchFamily="34" charset="0"/>
                <a:ea typeface="Palatino Linotype" pitchFamily="34" charset="-122"/>
                <a:cs typeface="Palatino Linotype" pitchFamily="34" charset="-120"/>
              </a:rPr>
              <a:t>Cereți numitorul — și apoi grupul de comparație.</a:t>
            </a:r>
            <a:endParaRPr lang="en-US" sz="1450" dirty="0"/>
          </a:p>
        </p:txBody>
      </p:sp>
      <p:sp>
        <p:nvSpPr>
          <p:cNvPr id="8" name="Text 6"/>
          <p:cNvSpPr/>
          <p:nvPr/>
        </p:nvSpPr>
        <p:spPr>
          <a:xfrm>
            <a:off x="1600200" y="2093976"/>
            <a:ext cx="9692640" cy="365760"/>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Numitorul e necesar și nu e suficient: Farr avea numitor și greșea. Ce decide este alocarea neconfundată.</a:t>
            </a:r>
            <a:endParaRPr lang="en-US" sz="1150" dirty="0"/>
          </a:p>
        </p:txBody>
      </p:sp>
      <p:sp>
        <p:nvSpPr>
          <p:cNvPr id="9" name="Shape 7"/>
          <p:cNvSpPr/>
          <p:nvPr/>
        </p:nvSpPr>
        <p:spPr>
          <a:xfrm>
            <a:off x="594360" y="2587752"/>
            <a:ext cx="10972800" cy="786384"/>
          </a:xfrm>
          <a:prstGeom prst="roundRect">
            <a:avLst>
              <a:gd name="adj" fmla="val 10465"/>
            </a:avLst>
          </a:prstGeom>
          <a:solidFill>
            <a:srgbClr val="272A38"/>
          </a:solidFill>
          <a:ln w="12700">
            <a:solidFill>
              <a:srgbClr val="272A38"/>
            </a:solidFill>
            <a:prstDash val="solid"/>
          </a:ln>
        </p:spPr>
        <p:txBody>
          <a:bodyPr/>
          <a:lstStyle/>
          <a:p>
            <a:endParaRPr lang="ro-RO"/>
          </a:p>
        </p:txBody>
      </p:sp>
      <p:sp>
        <p:nvSpPr>
          <p:cNvPr id="10" name="Shape 8"/>
          <p:cNvSpPr/>
          <p:nvPr/>
        </p:nvSpPr>
        <p:spPr>
          <a:xfrm>
            <a:off x="914400" y="2770632"/>
            <a:ext cx="438912" cy="438912"/>
          </a:xfrm>
          <a:prstGeom prst="ellipse">
            <a:avLst/>
          </a:prstGeom>
          <a:solidFill>
            <a:srgbClr val="FFC24B"/>
          </a:solidFill>
          <a:ln/>
        </p:spPr>
        <p:txBody>
          <a:bodyPr/>
          <a:lstStyle/>
          <a:p>
            <a:endParaRPr lang="ro-RO"/>
          </a:p>
        </p:txBody>
      </p:sp>
      <p:sp>
        <p:nvSpPr>
          <p:cNvPr id="11" name="Text 9"/>
          <p:cNvSpPr/>
          <p:nvPr/>
        </p:nvSpPr>
        <p:spPr>
          <a:xfrm>
            <a:off x="914400" y="2770632"/>
            <a:ext cx="438912" cy="438912"/>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600200" y="2642616"/>
            <a:ext cx="9692640" cy="347472"/>
          </a:xfrm>
          <a:prstGeom prst="rect">
            <a:avLst/>
          </a:prstGeom>
          <a:noFill/>
          <a:ln/>
        </p:spPr>
        <p:txBody>
          <a:bodyPr wrap="square" lIns="0" tIns="0" rIns="0" bIns="0" rtlCol="0" anchor="ctr"/>
          <a:lstStyle/>
          <a:p>
            <a:pPr marL="0" indent="0">
              <a:buNone/>
            </a:pPr>
            <a:r>
              <a:rPr lang="en-US" sz="1450" b="1" dirty="0">
                <a:solidFill>
                  <a:srgbClr val="FFC24B"/>
                </a:solidFill>
                <a:latin typeface="Palatino Linotype" pitchFamily="34" charset="0"/>
                <a:ea typeface="Palatino Linotype" pitchFamily="34" charset="-122"/>
                <a:cs typeface="Palatino Linotype" pitchFamily="34" charset="-120"/>
              </a:rPr>
              <a:t>Căutați excepția aparentă.</a:t>
            </a:r>
            <a:endParaRPr lang="en-US" sz="1450" dirty="0"/>
          </a:p>
        </p:txBody>
      </p:sp>
      <p:sp>
        <p:nvSpPr>
          <p:cNvPr id="13" name="Text 11"/>
          <p:cNvSpPr/>
          <p:nvPr/>
        </p:nvSpPr>
        <p:spPr>
          <a:xfrm>
            <a:off x="1600200" y="2990088"/>
            <a:ext cx="9692640" cy="365760"/>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Nu „cine s-a îmbolnăvit?”, ci „cine părea expus și NU s-a îmbolnăvit?” — cu condiția să declarați ce anume mai diferea între grupuri.</a:t>
            </a:r>
            <a:endParaRPr lang="en-US" sz="1150" dirty="0"/>
          </a:p>
        </p:txBody>
      </p:sp>
      <p:sp>
        <p:nvSpPr>
          <p:cNvPr id="14" name="Shape 12"/>
          <p:cNvSpPr/>
          <p:nvPr/>
        </p:nvSpPr>
        <p:spPr>
          <a:xfrm>
            <a:off x="594360" y="3483864"/>
            <a:ext cx="10972800" cy="786384"/>
          </a:xfrm>
          <a:prstGeom prst="roundRect">
            <a:avLst>
              <a:gd name="adj" fmla="val 10465"/>
            </a:avLst>
          </a:prstGeom>
          <a:solidFill>
            <a:srgbClr val="1D1F2B"/>
          </a:solidFill>
          <a:ln w="12700">
            <a:solidFill>
              <a:srgbClr val="1D1F2B"/>
            </a:solidFill>
            <a:prstDash val="solid"/>
          </a:ln>
        </p:spPr>
        <p:txBody>
          <a:bodyPr/>
          <a:lstStyle/>
          <a:p>
            <a:endParaRPr lang="ro-RO"/>
          </a:p>
        </p:txBody>
      </p:sp>
      <p:sp>
        <p:nvSpPr>
          <p:cNvPr id="15" name="Shape 13"/>
          <p:cNvSpPr/>
          <p:nvPr/>
        </p:nvSpPr>
        <p:spPr>
          <a:xfrm>
            <a:off x="914400" y="3666744"/>
            <a:ext cx="438912" cy="438912"/>
          </a:xfrm>
          <a:prstGeom prst="ellipse">
            <a:avLst/>
          </a:prstGeom>
          <a:solidFill>
            <a:srgbClr val="27D3BE"/>
          </a:solidFill>
          <a:ln/>
        </p:spPr>
        <p:txBody>
          <a:bodyPr/>
          <a:lstStyle/>
          <a:p>
            <a:endParaRPr lang="ro-RO"/>
          </a:p>
        </p:txBody>
      </p:sp>
      <p:sp>
        <p:nvSpPr>
          <p:cNvPr id="16" name="Text 14"/>
          <p:cNvSpPr/>
          <p:nvPr/>
        </p:nvSpPr>
        <p:spPr>
          <a:xfrm>
            <a:off x="914400" y="3666744"/>
            <a:ext cx="438912" cy="438912"/>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600200" y="3538728"/>
            <a:ext cx="9692640" cy="347472"/>
          </a:xfrm>
          <a:prstGeom prst="rect">
            <a:avLst/>
          </a:prstGeom>
          <a:noFill/>
          <a:ln/>
        </p:spPr>
        <p:txBody>
          <a:bodyPr wrap="square" lIns="0" tIns="0" rIns="0" bIns="0" rtlCol="0" anchor="ctr"/>
          <a:lstStyle/>
          <a:p>
            <a:pPr marL="0" indent="0">
              <a:buNone/>
            </a:pPr>
            <a:r>
              <a:rPr lang="en-US" sz="1450" b="1" dirty="0">
                <a:solidFill>
                  <a:srgbClr val="27D3BE"/>
                </a:solidFill>
                <a:latin typeface="Palatino Linotype" pitchFamily="34" charset="0"/>
                <a:ea typeface="Palatino Linotype" pitchFamily="34" charset="-122"/>
                <a:cs typeface="Palatino Linotype" pitchFamily="34" charset="-120"/>
              </a:rPr>
              <a:t>Acționați sub incertitudine, fără să confundați acțiunea cu dovada.</a:t>
            </a:r>
            <a:endParaRPr lang="en-US" sz="1450" dirty="0"/>
          </a:p>
        </p:txBody>
      </p:sp>
      <p:sp>
        <p:nvSpPr>
          <p:cNvPr id="18" name="Text 16"/>
          <p:cNvSpPr/>
          <p:nvPr/>
        </p:nvSpPr>
        <p:spPr>
          <a:xfrm>
            <a:off x="1600200" y="3886200"/>
            <a:ext cx="9692640" cy="365760"/>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Mânerul a fost probabil scos corect, deși atacurile scădeau deja. În Guineea au trecut aproape trei luni între debutul primului caz și alertarea OMS.</a:t>
            </a:r>
            <a:endParaRPr lang="en-US" sz="1150" dirty="0"/>
          </a:p>
        </p:txBody>
      </p:sp>
      <p:sp>
        <p:nvSpPr>
          <p:cNvPr id="19" name="Shape 17"/>
          <p:cNvSpPr/>
          <p:nvPr/>
        </p:nvSpPr>
        <p:spPr>
          <a:xfrm>
            <a:off x="594360" y="4379976"/>
            <a:ext cx="10972800" cy="786384"/>
          </a:xfrm>
          <a:prstGeom prst="roundRect">
            <a:avLst>
              <a:gd name="adj" fmla="val 10465"/>
            </a:avLst>
          </a:prstGeom>
          <a:solidFill>
            <a:srgbClr val="2A2438"/>
          </a:solidFill>
          <a:ln w="12700">
            <a:solidFill>
              <a:srgbClr val="2A2438"/>
            </a:solidFill>
            <a:prstDash val="solid"/>
          </a:ln>
        </p:spPr>
        <p:txBody>
          <a:bodyPr/>
          <a:lstStyle/>
          <a:p>
            <a:endParaRPr lang="ro-RO"/>
          </a:p>
        </p:txBody>
      </p:sp>
      <p:sp>
        <p:nvSpPr>
          <p:cNvPr id="20" name="Shape 18"/>
          <p:cNvSpPr/>
          <p:nvPr/>
        </p:nvSpPr>
        <p:spPr>
          <a:xfrm>
            <a:off x="914400" y="4562856"/>
            <a:ext cx="438912" cy="438912"/>
          </a:xfrm>
          <a:prstGeom prst="ellipse">
            <a:avLst/>
          </a:prstGeom>
          <a:solidFill>
            <a:srgbClr val="9B7EF7"/>
          </a:solidFill>
          <a:ln/>
        </p:spPr>
        <p:txBody>
          <a:bodyPr/>
          <a:lstStyle/>
          <a:p>
            <a:endParaRPr lang="ro-RO"/>
          </a:p>
        </p:txBody>
      </p:sp>
      <p:sp>
        <p:nvSpPr>
          <p:cNvPr id="21" name="Text 19"/>
          <p:cNvSpPr/>
          <p:nvPr/>
        </p:nvSpPr>
        <p:spPr>
          <a:xfrm>
            <a:off x="914400" y="4562856"/>
            <a:ext cx="438912" cy="438912"/>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2" name="Text 20"/>
          <p:cNvSpPr/>
          <p:nvPr/>
        </p:nvSpPr>
        <p:spPr>
          <a:xfrm>
            <a:off x="1600200" y="4434840"/>
            <a:ext cx="9692640" cy="347472"/>
          </a:xfrm>
          <a:prstGeom prst="rect">
            <a:avLst/>
          </a:prstGeom>
          <a:noFill/>
          <a:ln/>
        </p:spPr>
        <p:txBody>
          <a:bodyPr wrap="square" lIns="0" tIns="0" rIns="0" bIns="0" rtlCol="0" anchor="ctr"/>
          <a:lstStyle/>
          <a:p>
            <a:pPr marL="0" indent="0">
              <a:buNone/>
            </a:pPr>
            <a:r>
              <a:rPr lang="en-US" sz="1450" b="1" dirty="0">
                <a:solidFill>
                  <a:srgbClr val="9B7EF7"/>
                </a:solidFill>
                <a:latin typeface="Palatino Linotype" pitchFamily="34" charset="0"/>
                <a:ea typeface="Palatino Linotype" pitchFamily="34" charset="-122"/>
                <a:cs typeface="Palatino Linotype" pitchFamily="34" charset="-120"/>
              </a:rPr>
              <a:t>Spuneți „nu a fost identificat”, nu „nu există”.</a:t>
            </a:r>
            <a:endParaRPr lang="en-US" sz="1450" dirty="0"/>
          </a:p>
        </p:txBody>
      </p:sp>
      <p:sp>
        <p:nvSpPr>
          <p:cNvPr id="23" name="Text 21"/>
          <p:cNvSpPr/>
          <p:nvPr/>
        </p:nvSpPr>
        <p:spPr>
          <a:xfrm>
            <a:off x="1600200" y="4782312"/>
            <a:ext cx="9692640" cy="365760"/>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Ca la Hassall: un rezultat de laborator negativ a fost citit ca dovadă a absenței.</a:t>
            </a:r>
            <a:endParaRPr lang="en-US" sz="1150" dirty="0"/>
          </a:p>
        </p:txBody>
      </p:sp>
      <p:sp>
        <p:nvSpPr>
          <p:cNvPr id="24" name="Shape 22"/>
          <p:cNvSpPr/>
          <p:nvPr/>
        </p:nvSpPr>
        <p:spPr>
          <a:xfrm>
            <a:off x="594360" y="5276088"/>
            <a:ext cx="10972800" cy="786384"/>
          </a:xfrm>
          <a:prstGeom prst="roundRect">
            <a:avLst>
              <a:gd name="adj" fmla="val 10465"/>
            </a:avLst>
          </a:prstGeom>
          <a:solidFill>
            <a:srgbClr val="2A2438"/>
          </a:solidFill>
          <a:ln w="12700">
            <a:solidFill>
              <a:srgbClr val="2A2438"/>
            </a:solidFill>
            <a:prstDash val="solid"/>
          </a:ln>
        </p:spPr>
        <p:txBody>
          <a:bodyPr/>
          <a:lstStyle/>
          <a:p>
            <a:endParaRPr lang="ro-RO"/>
          </a:p>
        </p:txBody>
      </p:sp>
      <p:sp>
        <p:nvSpPr>
          <p:cNvPr id="25" name="Shape 23"/>
          <p:cNvSpPr/>
          <p:nvPr/>
        </p:nvSpPr>
        <p:spPr>
          <a:xfrm>
            <a:off x="914400" y="5458968"/>
            <a:ext cx="438912" cy="438912"/>
          </a:xfrm>
          <a:prstGeom prst="ellipse">
            <a:avLst/>
          </a:prstGeom>
          <a:solidFill>
            <a:srgbClr val="FF8A3D"/>
          </a:solidFill>
          <a:ln/>
        </p:spPr>
        <p:txBody>
          <a:bodyPr/>
          <a:lstStyle/>
          <a:p>
            <a:endParaRPr lang="ro-RO"/>
          </a:p>
        </p:txBody>
      </p:sp>
      <p:sp>
        <p:nvSpPr>
          <p:cNvPr id="26" name="Text 24"/>
          <p:cNvSpPr/>
          <p:nvPr/>
        </p:nvSpPr>
        <p:spPr>
          <a:xfrm>
            <a:off x="914400" y="5458968"/>
            <a:ext cx="438912" cy="438912"/>
          </a:xfrm>
          <a:prstGeom prst="rect">
            <a:avLst/>
          </a:prstGeom>
          <a:noFill/>
          <a:ln/>
        </p:spPr>
        <p:txBody>
          <a:bodyPr wrap="square" lIns="0" tIns="0" rIns="0" bIns="0" rtlCol="0" anchor="ctr"/>
          <a:lstStyle/>
          <a:p>
            <a:pPr marL="0" indent="0" algn="ctr">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7" name="Text 25"/>
          <p:cNvSpPr/>
          <p:nvPr/>
        </p:nvSpPr>
        <p:spPr>
          <a:xfrm>
            <a:off x="1600200" y="5330952"/>
            <a:ext cx="9692640" cy="347472"/>
          </a:xfrm>
          <a:prstGeom prst="rect">
            <a:avLst/>
          </a:prstGeom>
          <a:noFill/>
          <a:ln/>
        </p:spPr>
        <p:txBody>
          <a:bodyPr wrap="square" lIns="0" tIns="0" rIns="0" bIns="0" rtlCol="0" anchor="ctr"/>
          <a:lstStyle/>
          <a:p>
            <a:pPr marL="0" indent="0">
              <a:buNone/>
            </a:pPr>
            <a:r>
              <a:rPr lang="en-US" sz="1450" b="1" dirty="0">
                <a:solidFill>
                  <a:srgbClr val="FF8A3D"/>
                </a:solidFill>
                <a:latin typeface="Palatino Linotype" pitchFamily="34" charset="0"/>
                <a:ea typeface="Palatino Linotype" pitchFamily="34" charset="-122"/>
                <a:cs typeface="Palatino Linotype" pitchFamily="34" charset="-120"/>
              </a:rPr>
              <a:t>Nu puteți verifica tot. Verificați ce schimbă o decizie.</a:t>
            </a:r>
            <a:endParaRPr lang="en-US" sz="1450" dirty="0"/>
          </a:p>
        </p:txBody>
      </p:sp>
      <p:sp>
        <p:nvSpPr>
          <p:cNvPr id="28" name="Text 26"/>
          <p:cNvSpPr/>
          <p:nvPr/>
        </p:nvSpPr>
        <p:spPr>
          <a:xfrm>
            <a:off x="1600200" y="5678424"/>
            <a:ext cx="9692640" cy="365760"/>
          </a:xfrm>
          <a:prstGeom prst="rect">
            <a:avLst/>
          </a:prstGeom>
          <a:noFill/>
          <a:ln/>
        </p:spPr>
        <p:txBody>
          <a:bodyPr wrap="square" lIns="0" tIns="0" rIns="0" bIns="0" rtlCol="0" anchor="ctr"/>
          <a:lstStyle/>
          <a:p>
            <a:pPr marL="0" indent="0">
              <a:buNone/>
            </a:pPr>
            <a:r>
              <a:rPr lang="en-US" sz="1150" dirty="0">
                <a:solidFill>
                  <a:srgbClr val="FFFFFF"/>
                </a:solidFill>
                <a:latin typeface="Palatino Linotype" pitchFamily="34" charset="0"/>
                <a:ea typeface="Palatino Linotype" pitchFamily="34" charset="-122"/>
                <a:cs typeface="Palatino Linotype" pitchFamily="34" charset="-120"/>
              </a:rPr>
              <a:t>Nu veți verifica paginația unui volum vechi. Veți putea întreba întotdeauna care e numitorul unei rate.</a:t>
            </a:r>
            <a:endParaRPr lang="en-US" sz="1150" dirty="0"/>
          </a:p>
        </p:txBody>
      </p:sp>
      <p:sp>
        <p:nvSpPr>
          <p:cNvPr id="29" name="Text 27"/>
          <p:cNvSpPr/>
          <p:nvPr/>
        </p:nvSpPr>
        <p:spPr>
          <a:xfrm>
            <a:off x="594360" y="6236208"/>
            <a:ext cx="10972800" cy="320040"/>
          </a:xfrm>
          <a:prstGeom prst="rect">
            <a:avLst/>
          </a:prstGeom>
          <a:noFill/>
          <a:ln/>
        </p:spPr>
        <p:txBody>
          <a:bodyPr wrap="square" lIns="0" tIns="0" rIns="0" bIns="0" rtlCol="0" anchor="ctr"/>
          <a:lstStyle/>
          <a:p>
            <a:pPr marL="0" indent="0">
              <a:buNone/>
            </a:pPr>
            <a:r>
              <a:rPr lang="en-US" sz="1200" i="1" dirty="0">
                <a:solidFill>
                  <a:srgbClr val="959BB0"/>
                </a:solidFill>
                <a:latin typeface="Palatino Linotype" pitchFamily="34" charset="0"/>
                <a:ea typeface="Palatino Linotype" pitchFamily="34" charset="-122"/>
                <a:cs typeface="Palatino Linotype" pitchFamily="34" charset="-120"/>
              </a:rPr>
              <a:t>Regula 5 nu se deduce din datele de mai sus. Se deduce din experiența pregătirii acestei sesiuni.</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0">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94360" y="365760"/>
            <a:ext cx="8229600" cy="310896"/>
          </a:xfrm>
          <a:prstGeom prst="rect">
            <a:avLst/>
          </a:prstGeom>
          <a:noFill/>
          <a:ln/>
        </p:spPr>
        <p:txBody>
          <a:bodyPr wrap="square" lIns="0" tIns="0" rIns="0" bIns="0" rtlCol="0" anchor="ctr"/>
          <a:lstStyle/>
          <a:p>
            <a:pPr marL="0" indent="0">
              <a:buNone/>
            </a:pPr>
            <a:r>
              <a:rPr lang="en-US" sz="1150" b="1" kern="0" spc="300" dirty="0">
                <a:solidFill>
                  <a:srgbClr val="FF4757"/>
                </a:solidFill>
                <a:latin typeface="Palatino Linotype" pitchFamily="34" charset="0"/>
                <a:ea typeface="Palatino Linotype" pitchFamily="34" charset="-122"/>
                <a:cs typeface="Palatino Linotype" pitchFamily="34" charset="-120"/>
              </a:rPr>
              <a:t>VERIFICABIL</a:t>
            </a:r>
            <a:endParaRPr lang="en-US" sz="115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marL="0" indent="0">
              <a:buNone/>
            </a:pPr>
            <a:r>
              <a:rPr lang="en-US" sz="3100" b="1" dirty="0">
                <a:solidFill>
                  <a:srgbClr val="11121A"/>
                </a:solidFill>
                <a:latin typeface="Palatino Linotype" pitchFamily="34" charset="0"/>
                <a:ea typeface="Palatino Linotype" pitchFamily="34" charset="-122"/>
                <a:cs typeface="Palatino Linotype" pitchFamily="34" charset="-120"/>
              </a:rPr>
              <a:t>Sursele acestei sesiuni</a:t>
            </a:r>
            <a:endParaRPr lang="en-US" sz="3100" dirty="0"/>
          </a:p>
        </p:txBody>
      </p:sp>
      <p:sp>
        <p:nvSpPr>
          <p:cNvPr id="4" name="Text 2"/>
          <p:cNvSpPr/>
          <p:nvPr/>
        </p:nvSpPr>
        <p:spPr>
          <a:xfrm>
            <a:off x="594360" y="1645920"/>
            <a:ext cx="10972800" cy="310896"/>
          </a:xfrm>
          <a:prstGeom prst="rect">
            <a:avLst/>
          </a:prstGeom>
          <a:noFill/>
          <a:ln/>
        </p:spPr>
        <p:txBody>
          <a:bodyPr wrap="square" lIns="0" tIns="0" rIns="0" bIns="0" rtlCol="0" anchor="ctr"/>
          <a:lstStyle/>
          <a:p>
            <a:pPr marL="0" indent="0">
              <a:buNone/>
            </a:pPr>
            <a:r>
              <a:rPr lang="en-US" sz="1200" i="1" dirty="0">
                <a:solidFill>
                  <a:srgbClr val="585A64"/>
                </a:solidFill>
                <a:latin typeface="Palatino Linotype" pitchFamily="34" charset="0"/>
                <a:ea typeface="Palatino Linotype" pitchFamily="34" charset="-122"/>
                <a:cs typeface="Palatino Linotype" pitchFamily="34" charset="-120"/>
              </a:rPr>
              <a:t>Fiecare cifră are o afirmație în registrul public al surselor, cu pagina și data verificării.</a:t>
            </a:r>
            <a:endParaRPr lang="en-US" sz="1200" dirty="0"/>
          </a:p>
        </p:txBody>
      </p:sp>
      <p:sp>
        <p:nvSpPr>
          <p:cNvPr id="5" name="Shape 3"/>
          <p:cNvSpPr/>
          <p:nvPr/>
        </p:nvSpPr>
        <p:spPr>
          <a:xfrm>
            <a:off x="594360" y="2057400"/>
            <a:ext cx="5349240" cy="3931920"/>
          </a:xfrm>
          <a:prstGeom prst="roundRect">
            <a:avLst>
              <a:gd name="adj" fmla="val 2093"/>
            </a:avLst>
          </a:prstGeom>
          <a:solidFill>
            <a:srgbClr val="ECEAE4"/>
          </a:solidFill>
          <a:ln w="12700">
            <a:solidFill>
              <a:srgbClr val="ECEAE4"/>
            </a:solidFill>
            <a:prstDash val="solid"/>
          </a:ln>
        </p:spPr>
        <p:txBody>
          <a:bodyPr/>
          <a:lstStyle/>
          <a:p>
            <a:endParaRPr lang="ro-RO"/>
          </a:p>
        </p:txBody>
      </p:sp>
      <p:sp>
        <p:nvSpPr>
          <p:cNvPr id="6" name="Text 4"/>
          <p:cNvSpPr/>
          <p:nvPr/>
        </p:nvSpPr>
        <p:spPr>
          <a:xfrm>
            <a:off x="914400" y="2194560"/>
            <a:ext cx="4709160" cy="292608"/>
          </a:xfrm>
          <a:prstGeom prst="rect">
            <a:avLst/>
          </a:prstGeom>
          <a:noFill/>
          <a:ln/>
        </p:spPr>
        <p:txBody>
          <a:bodyPr wrap="square" lIns="0" tIns="0" rIns="0" bIns="0" rtlCol="0" anchor="ctr"/>
          <a:lstStyle/>
          <a:p>
            <a:pPr marL="0" indent="0">
              <a:buNone/>
            </a:pPr>
            <a:r>
              <a:rPr lang="en-US" sz="1350" b="1" dirty="0">
                <a:solidFill>
                  <a:srgbClr val="4A2D8C"/>
                </a:solidFill>
                <a:latin typeface="Palatino Linotype" pitchFamily="34" charset="0"/>
                <a:ea typeface="Palatino Linotype" pitchFamily="34" charset="-122"/>
                <a:cs typeface="Palatino Linotype" pitchFamily="34" charset="-120"/>
              </a:rPr>
              <a:t>1854 — surse primare, integral pe archive.org</a:t>
            </a:r>
            <a:endParaRPr lang="en-US" sz="1350" dirty="0"/>
          </a:p>
        </p:txBody>
      </p:sp>
      <p:sp>
        <p:nvSpPr>
          <p:cNvPr id="7" name="Text 5"/>
          <p:cNvSpPr/>
          <p:nvPr/>
        </p:nvSpPr>
        <p:spPr>
          <a:xfrm>
            <a:off x="1051560" y="2560320"/>
            <a:ext cx="4663440" cy="3291840"/>
          </a:xfrm>
          <a:prstGeom prst="rect">
            <a:avLst/>
          </a:prstGeom>
          <a:noFill/>
          <a:ln/>
        </p:spPr>
        <p:txBody>
          <a:bodyPr wrap="square" lIns="0" tIns="0" rIns="0" bIns="0" rtlCol="0" anchor="t"/>
          <a:lstStyle/>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[1] Snow J. On the Mode of Communication of Cholera, ed. 2. Londra: Churchill, 1855.</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[2] Cholera Inquiry Committee. Report on the Cholera Outbreak in the Parish of St. James, Westminster. Londra, 1855.</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[3] General Board of Health. Report of the Committee for Scientific Inquiries… Londra, 1855.</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[4] Tulchinsky TH. John Snow, Cholera, the Broad Street Pump; Waterborne Diseases Then and Now. În: Case Studies in Public Health. Academic Press, 2018, p. 77–99. DOI: 10.1016/B978-0-12-804571-8.00017-2</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[5] Brody H et al. Lancet. 2000;356(9223):64–68. DOI: 10.1016/S0140-6736(00)02442-9</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[6] Paneth N et al. Am J Public Health. 1998;88(10):1545–1553. DOI: 10.2105/ajph.88.10.1545</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[7] Vandenbroucke JP et al. Am J Epidemiol. 1991;133(10):967–973. DOI: 10.1093/oxfordjournals.aje.a115816</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[8] Vinten-Johansen P et al. Cholera, Chloroform, and the Science of Medicine: A Life of John Snow. OUP, 2003.</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[9] Whitehead H. The Broad Street Pump. Macmillan’s Magazine, dec. 1865;13:113–122.</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[10] Cameron D, Jones IG. Int J Epidemiol. 1983;12(4):393–396. DOI: 10.1093/ije/12.4.393</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[11] Eyler JM. Soz Praventivmed. 2001;46(4):225–232. DOI: 10.1007/BF01593177</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[12] Chave SPW. Med Hist. 1958;2(2):92–108. DOI: 10.1017/s0025727300023504</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[13] Ramsay MAE. Proc (Bayl Univ Med Cent). 2006;19(1):24–28.</a:t>
            </a:r>
            <a:endParaRPr lang="en-US" sz="900" dirty="0"/>
          </a:p>
        </p:txBody>
      </p:sp>
      <p:sp>
        <p:nvSpPr>
          <p:cNvPr id="8" name="Shape 6"/>
          <p:cNvSpPr/>
          <p:nvPr/>
        </p:nvSpPr>
        <p:spPr>
          <a:xfrm>
            <a:off x="6217920" y="2057400"/>
            <a:ext cx="5349240" cy="3931920"/>
          </a:xfrm>
          <a:prstGeom prst="roundRect">
            <a:avLst>
              <a:gd name="adj" fmla="val 2093"/>
            </a:avLst>
          </a:prstGeom>
          <a:solidFill>
            <a:srgbClr val="ECEAE4"/>
          </a:solidFill>
          <a:ln w="12700">
            <a:solidFill>
              <a:srgbClr val="ECEAE4"/>
            </a:solidFill>
            <a:prstDash val="solid"/>
          </a:ln>
        </p:spPr>
        <p:txBody>
          <a:bodyPr/>
          <a:lstStyle/>
          <a:p>
            <a:endParaRPr lang="ro-RO"/>
          </a:p>
        </p:txBody>
      </p:sp>
      <p:sp>
        <p:nvSpPr>
          <p:cNvPr id="9" name="Text 7"/>
          <p:cNvSpPr/>
          <p:nvPr/>
        </p:nvSpPr>
        <p:spPr>
          <a:xfrm>
            <a:off x="6537960" y="2194560"/>
            <a:ext cx="4709160" cy="292608"/>
          </a:xfrm>
          <a:prstGeom prst="rect">
            <a:avLst/>
          </a:prstGeom>
          <a:noFill/>
          <a:ln/>
        </p:spPr>
        <p:txBody>
          <a:bodyPr wrap="square" lIns="0" tIns="0" rIns="0" bIns="0" rtlCol="0" anchor="ctr"/>
          <a:lstStyle/>
          <a:p>
            <a:pPr marL="0" indent="0">
              <a:buNone/>
            </a:pPr>
            <a:r>
              <a:rPr lang="en-US" sz="1350" b="1" dirty="0">
                <a:solidFill>
                  <a:srgbClr val="0E7C6B"/>
                </a:solidFill>
                <a:latin typeface="Palatino Linotype" pitchFamily="34" charset="0"/>
                <a:ea typeface="Palatino Linotype" pitchFamily="34" charset="-122"/>
                <a:cs typeface="Palatino Linotype" pitchFamily="34" charset="-120"/>
              </a:rPr>
              <a:t>Modern — focare, formare, genomică</a:t>
            </a:r>
            <a:endParaRPr lang="en-US" sz="1350" dirty="0"/>
          </a:p>
        </p:txBody>
      </p:sp>
      <p:sp>
        <p:nvSpPr>
          <p:cNvPr id="10" name="Text 8"/>
          <p:cNvSpPr/>
          <p:nvPr/>
        </p:nvSpPr>
        <p:spPr>
          <a:xfrm>
            <a:off x="6675120" y="2560320"/>
            <a:ext cx="4663440" cy="3291840"/>
          </a:xfrm>
          <a:prstGeom prst="rect">
            <a:avLst/>
          </a:prstGeom>
          <a:noFill/>
          <a:ln/>
        </p:spPr>
        <p:txBody>
          <a:bodyPr wrap="square" lIns="0" tIns="0" rIns="0" bIns="0" rtlCol="0" anchor="t"/>
          <a:lstStyle/>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[14] CDC. MMWR. 1993;42(14):258–263.</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[15] Tuttle J et al. Epidemiol Infect. 1999;122(2):185–192. DOI: 10.1017/s0950268898001976</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[16] Baize S et al. N Engl J Med. 2014;371(15):1418–1425. DOI: 10.1056/NEJMoa1404505</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[17] Malyarchuk AB et al. Biochemistry (Mosc). 2022;87(3):242–258. DOI: 10.1134/S0006297922030051</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[18] Dorman MJ et al. Proc Biol Sci. 2019;286(1900):20182025. DOI: 10.1098/rspb.2018.2025</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[19] LPSN (DSMZ). Vibrio cholerae. Accesat la 6.10.2026.</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[20] OMS. Zoonoses. Fact sheet, 29 iulie 2020.</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[21] CDC. Principles of Epidemiology, ed. 3, Lecția 6. Rev. 2011.</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[22] FEM Wiki (găzduit de ECDC), export PDF, 417 p., creat la 29.11.2022.</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[23] Gregg MB (ed.). Field Epidemiology, ed. 3. OUP, 2008. ISBN 9780195313802.</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[24] INSP–CNSCBT. Raport pentru anul 2024 (15 oct. 2025, 84 p.).</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[25] OMS. Wkly Epidemiol Rec. 2026;101(35) și 101(38): holera, 2025–2026.</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[26] OMS. Tabelul SARS (2003); Ebola 2014–2016; Origins of the 2014 Ebola epidemic (2015).</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[27] CDC. About EIS; EIS 2025 annual update. ECDC. Siturile de formare (6.02.2026). TEPHINET.</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[28] INS. TEMPO POP105A și SAN104A. Eurostat. hlth_rs_spec; hlth_rs_physcat.</a:t>
            </a:r>
            <a:endParaRPr lang="en-US" sz="900" dirty="0"/>
          </a:p>
          <a:p>
            <a:pPr marL="0" indent="0">
              <a:spcAft>
                <a:spcPts val="400"/>
              </a:spcAft>
              <a:buNone/>
            </a:pPr>
            <a:r>
              <a:rPr lang="en-US" sz="900" dirty="0">
                <a:solidFill>
                  <a:srgbClr val="11121A"/>
                </a:solidFill>
                <a:latin typeface="Palatino Linotype" pitchFamily="34" charset="0"/>
                <a:ea typeface="Palatino Linotype" pitchFamily="34" charset="-122"/>
                <a:cs typeface="Palatino Linotype" pitchFamily="34" charset="-120"/>
              </a:rPr>
              <a:t>[29] Directiva (UE) 2024/3019 (apele uzate urbane), art. 17.</a:t>
            </a:r>
            <a:endParaRPr lang="en-US" sz="900" dirty="0"/>
          </a:p>
        </p:txBody>
      </p:sp>
      <p:sp>
        <p:nvSpPr>
          <p:cNvPr id="11" name="Text 9"/>
          <p:cNvSpPr/>
          <p:nvPr/>
        </p:nvSpPr>
        <p:spPr>
          <a:xfrm>
            <a:off x="594360" y="6309360"/>
            <a:ext cx="10972800" cy="310896"/>
          </a:xfrm>
          <a:prstGeom prst="rect">
            <a:avLst/>
          </a:prstGeom>
          <a:noFill/>
          <a:ln/>
        </p:spPr>
        <p:txBody>
          <a:bodyPr wrap="square" lIns="0" tIns="0" rIns="0" bIns="0" rtlCol="0" anchor="ctr"/>
          <a:lstStyle/>
          <a:p>
            <a:pPr marL="0" indent="0">
              <a:buNone/>
            </a:pPr>
            <a:r>
              <a:rPr lang="en-US" sz="900" i="1" dirty="0">
                <a:solidFill>
                  <a:srgbClr val="585A64"/>
                </a:solidFill>
                <a:latin typeface="Palatino Linotype" pitchFamily="34" charset="0"/>
                <a:ea typeface="Palatino Linotype" pitchFamily="34" charset="-122"/>
                <a:cs typeface="Palatino Linotype" pitchFamily="34" charset="-120"/>
              </a:rPr>
              <a:t>Ce nu s-a putut verifica este listat în caseta „Ce nu putem afirma” din notele de curs.</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1">
    <p:bg>
      <p:bgPr>
        <a:solidFill>
          <a:srgbClr val="11121A"/>
        </a:solidFill>
        <a:effectLst/>
      </p:bgPr>
    </p:bg>
    <p:spTree>
      <p:nvGrpSpPr>
        <p:cNvPr id="1" name=""/>
        <p:cNvGrpSpPr/>
        <p:nvPr/>
      </p:nvGrpSpPr>
      <p:grpSpPr>
        <a:xfrm>
          <a:off x="0" y="0"/>
          <a:ext cx="0" cy="0"/>
          <a:chOff x="0" y="0"/>
          <a:chExt cx="0" cy="0"/>
        </a:xfrm>
      </p:grpSpPr>
      <p:sp>
        <p:nvSpPr>
          <p:cNvPr id="2" name="Shape 0"/>
          <p:cNvSpPr/>
          <p:nvPr/>
        </p:nvSpPr>
        <p:spPr>
          <a:xfrm>
            <a:off x="8503920" y="-1188720"/>
            <a:ext cx="5120640" cy="5120640"/>
          </a:xfrm>
          <a:prstGeom prst="ellipse">
            <a:avLst/>
          </a:prstGeom>
          <a:solidFill>
            <a:srgbClr val="1F2432"/>
          </a:solidFill>
          <a:ln/>
        </p:spPr>
        <p:txBody>
          <a:bodyPr/>
          <a:lstStyle/>
          <a:p>
            <a:endParaRPr lang="ro-RO"/>
          </a:p>
        </p:txBody>
      </p:sp>
      <p:sp>
        <p:nvSpPr>
          <p:cNvPr id="3" name="Shape 1"/>
          <p:cNvSpPr/>
          <p:nvPr/>
        </p:nvSpPr>
        <p:spPr>
          <a:xfrm>
            <a:off x="685800" y="1600200"/>
            <a:ext cx="2651760" cy="329184"/>
          </a:xfrm>
          <a:prstGeom prst="roundRect">
            <a:avLst>
              <a:gd name="adj" fmla="val 50000"/>
            </a:avLst>
          </a:prstGeom>
          <a:solidFill>
            <a:srgbClr val="FFC24B"/>
          </a:solidFill>
          <a:ln w="12700">
            <a:solidFill>
              <a:srgbClr val="FFC24B"/>
            </a:solidFill>
            <a:prstDash val="solid"/>
          </a:ln>
        </p:spPr>
        <p:txBody>
          <a:bodyPr/>
          <a:lstStyle/>
          <a:p>
            <a:endParaRPr lang="ro-RO"/>
          </a:p>
        </p:txBody>
      </p:sp>
      <p:sp>
        <p:nvSpPr>
          <p:cNvPr id="4" name="Text 2"/>
          <p:cNvSpPr/>
          <p:nvPr/>
        </p:nvSpPr>
        <p:spPr>
          <a:xfrm>
            <a:off x="685800" y="1600200"/>
            <a:ext cx="2651760" cy="329184"/>
          </a:xfrm>
          <a:prstGeom prst="rect">
            <a:avLst/>
          </a:prstGeom>
          <a:noFill/>
          <a:ln/>
        </p:spPr>
        <p:txBody>
          <a:bodyPr wrap="square" lIns="0" tIns="0" rIns="0" bIns="0" rtlCol="0" anchor="ctr"/>
          <a:lstStyle/>
          <a:p>
            <a:pPr marL="0" indent="0" algn="ctr">
              <a:buNone/>
            </a:pPr>
            <a:r>
              <a:rPr lang="en-US" sz="1150" b="1" dirty="0">
                <a:solidFill>
                  <a:srgbClr val="11121A"/>
                </a:solidFill>
                <a:latin typeface="Palatino Linotype" pitchFamily="34" charset="0"/>
                <a:ea typeface="Palatino Linotype" pitchFamily="34" charset="-122"/>
                <a:cs typeface="Palatino Linotype" pitchFamily="34" charset="-120"/>
              </a:rPr>
              <a:t>KAHOOT · 10 ITEMI</a:t>
            </a:r>
            <a:endParaRPr lang="en-US" sz="1150" dirty="0"/>
          </a:p>
        </p:txBody>
      </p:sp>
      <p:sp>
        <p:nvSpPr>
          <p:cNvPr id="5" name="Text 3"/>
          <p:cNvSpPr/>
          <p:nvPr/>
        </p:nvSpPr>
        <p:spPr>
          <a:xfrm>
            <a:off x="685800" y="2194560"/>
            <a:ext cx="10058400" cy="914400"/>
          </a:xfrm>
          <a:prstGeom prst="rect">
            <a:avLst/>
          </a:prstGeom>
          <a:noFill/>
          <a:ln/>
        </p:spPr>
        <p:txBody>
          <a:bodyPr wrap="square" lIns="0" tIns="0" rIns="0" bIns="0" rtlCol="0" anchor="ctr"/>
          <a:lstStyle/>
          <a:p>
            <a:pPr marL="0" indent="0">
              <a:buNone/>
            </a:pPr>
            <a:r>
              <a:rPr lang="en-US" sz="4400" b="1" dirty="0">
                <a:solidFill>
                  <a:srgbClr val="FFFFFF"/>
                </a:solidFill>
                <a:latin typeface="Palatino Linotype" pitchFamily="34" charset="0"/>
                <a:ea typeface="Palatino Linotype" pitchFamily="34" charset="-122"/>
                <a:cs typeface="Palatino Linotype" pitchFamily="34" charset="-120"/>
              </a:rPr>
              <a:t>Testăm ce a rămas</a:t>
            </a:r>
            <a:endParaRPr lang="en-US" sz="4400" dirty="0"/>
          </a:p>
        </p:txBody>
      </p:sp>
      <p:sp>
        <p:nvSpPr>
          <p:cNvPr id="6" name="Text 4"/>
          <p:cNvSpPr/>
          <p:nvPr/>
        </p:nvSpPr>
        <p:spPr>
          <a:xfrm>
            <a:off x="685800" y="3108960"/>
            <a:ext cx="10058400" cy="502920"/>
          </a:xfrm>
          <a:prstGeom prst="rect">
            <a:avLst/>
          </a:prstGeom>
          <a:noFill/>
          <a:ln/>
        </p:spPr>
        <p:txBody>
          <a:bodyPr wrap="square" lIns="0" tIns="0" rIns="0" bIns="0" rtlCol="0" anchor="ctr"/>
          <a:lstStyle/>
          <a:p>
            <a:pPr marL="0" indent="0">
              <a:buNone/>
            </a:pPr>
            <a:r>
              <a:rPr lang="en-US" sz="2000" dirty="0">
                <a:solidFill>
                  <a:srgbClr val="27D3BE"/>
                </a:solidFill>
                <a:latin typeface="Palatino Linotype" pitchFamily="34" charset="0"/>
                <a:ea typeface="Palatino Linotype" pitchFamily="34" charset="-122"/>
                <a:cs typeface="Palatino Linotype" pitchFamily="34" charset="-120"/>
              </a:rPr>
              <a:t>Și reluăm cele patru întrebări Mentimeter de la începutul ședinței.</a:t>
            </a:r>
            <a:endParaRPr lang="en-US" sz="2000" dirty="0"/>
          </a:p>
        </p:txBody>
      </p:sp>
      <p:sp>
        <p:nvSpPr>
          <p:cNvPr id="7" name="Shape 5"/>
          <p:cNvSpPr/>
          <p:nvPr/>
        </p:nvSpPr>
        <p:spPr>
          <a:xfrm>
            <a:off x="713232" y="3886200"/>
            <a:ext cx="1645920" cy="32004"/>
          </a:xfrm>
          <a:prstGeom prst="rect">
            <a:avLst/>
          </a:prstGeom>
          <a:solidFill>
            <a:srgbClr val="FF4757"/>
          </a:solidFill>
          <a:ln/>
        </p:spPr>
        <p:txBody>
          <a:bodyPr/>
          <a:lstStyle/>
          <a:p>
            <a:endParaRPr lang="ro-RO"/>
          </a:p>
        </p:txBody>
      </p:sp>
      <p:sp>
        <p:nvSpPr>
          <p:cNvPr id="8" name="Text 6"/>
          <p:cNvSpPr/>
          <p:nvPr/>
        </p:nvSpPr>
        <p:spPr>
          <a:xfrm>
            <a:off x="685800" y="4160520"/>
            <a:ext cx="8686800" cy="868680"/>
          </a:xfrm>
          <a:prstGeom prst="rect">
            <a:avLst/>
          </a:prstGeom>
          <a:noFill/>
          <a:ln/>
        </p:spPr>
        <p:txBody>
          <a:bodyPr wrap="square" lIns="0" tIns="0" rIns="0" bIns="0" rtlCol="0" anchor="ctr"/>
          <a:lstStyle/>
          <a:p>
            <a:pPr marL="0" indent="0">
              <a:buNone/>
            </a:pPr>
            <a:r>
              <a:rPr lang="en-US" sz="1500" dirty="0">
                <a:solidFill>
                  <a:srgbClr val="959BB0"/>
                </a:solidFill>
                <a:latin typeface="Palatino Linotype" pitchFamily="34" charset="0"/>
                <a:ea typeface="Palatino Linotype" pitchFamily="34" charset="-122"/>
                <a:cs typeface="Palatino Linotype" pitchFamily="34" charset="-120"/>
              </a:rPr>
              <a:t>Fiecare item are sursa afișată pe slide. Dacă nu găsiți sursa unui item, spuneți-mi.</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7502</Words>
  <Application>Microsoft Macintosh PowerPoint</Application>
  <PresentationFormat>Widescreen</PresentationFormat>
  <Paragraphs>664</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Palatino Linotype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Mânerul pompei: cum se rezolvă de fapt un focar</dc:title>
  <dc:subject>PptxGenJS Presentation</dc:subject>
  <dc:creator>Conf. Univ. Dr. Adrian Pana</dc:creator>
  <cp:lastModifiedBy>Adrian Pana</cp:lastModifiedBy>
  <cp:revision>1</cp:revision>
  <dcterms:created xsi:type="dcterms:W3CDTF">2026-08-19T20:19:51Z</dcterms:created>
  <dcterms:modified xsi:type="dcterms:W3CDTF">2026-08-21T06:12:09Z</dcterms:modified>
  <cp:keywords>sursa_amprenta=1b91ecf96b36098c; proiectie</cp:keywords>
</cp:coreProperties>
</file>