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Bine ați venit la ședința a treia, pe Teams. Azi urmărim trei povești și o singură întrebare: cine ajunge, de fapt, într-o cifră oficială despre o boală. Prima poveste este o cină de vineri cu colegii, a doua un certificat de deces completat la trei dimineața, a treia o sută de ani de cifre despre pandemii.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Am citit răspunsurile voastre de la biletul de ieșire al ședinței a doua. Două lucruri se schimbă de azi. Întâi, mai puține detalii despre regulile de numărare și mai mult lucru al vostru: a doua oră începe cu un vot, iar pe parcurs aveți un joc de rol și o dezbatere, la care vorbiți cu microfonul deschis în Teams. Apoi, începem cu câteva minute despre ce este un focar, pentru că mai mult de jumătate dintre voi ați răspuns că un focar înseamnă „zeci de bolnavi”. Merită lămurit de la început.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Ședința trecută s-a încheiat cu această întrebare: o colegă de cameră cu ochii galbeni; este acesta un focar? Mulți dintre voi ați ales varianta C, „zeci de bolnavi”. Este un răspuns firesc și nu îl judecăm. Ne uităm, în schimb, la ce înseamnă, de fapt, cuvântul „focar”, pentru că tot ce urmează azi depinde de 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Potrivit manualului de anchetă de teren al Centrelor pentru Controlul și Prevenirea Bolilor (CDC) din Statele Unite, focarul înseamnă mai multe cazuri de boală decât v-ați aștepta, într-un anumit loc sau grup de oameni și într-o anumită perioadă. Definiția are trei părți și niciuna nu este un număr. Nu există un număr minim valabil pentru toate bolile. Contează două lucruri: diferența față de ce era de așteptat și legătura dintre bolnavi. Câte cazuri sunt necesare spune regula fiecărui raport; vedem una imediat.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Pentru hepatita A, raportul Institutului Național de Sănătate Publică (INSP) consideră focar apariția a cel puțin 2 cazuri confirmate, expuse la aceeași sursă, în același timp și loc. Două cazuri pot fi deci un focar, iar o sută de cazuri de gripă într-o iarnă obișnuită pot să nu fie. Ce contează este diferența față de ce era de așteptat. Rețineți un cuvânt din regulă: „confirmate”. Un caz pe care nu l-a văzut nimeni nu poate fi confirmat. Azi urmărim tocmai această întrebare: cine ajunge să fie văzut, confirmat și numărat?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Aceasta este întrebarea de azi: cine trebuia să fie văzut, și de către cine, ca să intre în cifră? O cifră mică nu este neapărat o minciună, iar o cifră mare nu este neapărat adevărul. O vom pune la o cină cu colegii, la un certificat de deces și la pandemiile ultimei sute de ani.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Începem cu un caz construit, pentru exercițiu: localul, oamenii și cifrele sunt inventate. Vineri seara, după ultimul curs, un grup mare de colegi din anul vostru ia cina la aceeași shaormerie. Sâmbătă dimineața, grupul anului se umple de mesaje: „Am stat toată noaptea în baie”, „Am febră și crampe”, „Eu am doar stomacul deranjat, trece”. Cei mai mulți rămân în pat, beau apă și așteaptă. Câțiva sună la medicul de familie. Unul ajunge la camera de gardă, pentru că nu se mai poate ridica din pat. Urmează întrebarea care dintre ei va fi numărat.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Primul vot, anonim, pe Mentimeter; linkul este și în chat. Din toți colegii care s-au îmbolnăvit vineri seara, câți credeți că vor apărea, peste câteva săptămâni, în statistica oficială a bolilor transmisibile? Votați după intuiție. Revenim la acest vot la sfârșitul poveștii, după ce urmărim drumul fiecărui bolnav.</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Urmează o scenă jucată de doi voluntari, care se anunță cu reacția „mână ridicată” din Teams. Unul este un student bolnav de sâmbătă dimineața, celălalt este medicul lui de familie, la telefon. Vorbiți cu microfonul deschis și, dacă doriți, cu camera pornită. Studentul vrea un sfat și, eventual, o scutire. Medicul trebuie să hotărască dacă îi spune să vină la cabinet și să aducă o probă de scaun. Ceilalți dintre voi urmăriți decizia medicului și ce a dus la ea. După scenă, votează fiecare, ca și cum ar fi fost el medicul.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vot, anonim, pe Mentimeter, cu linkul și în chat. Ați fi cerut proba de scaun, ca medicul din scenă? Este un vot de opinie: ambele decizii pot fi corecte, după simptome. Imediat vedem ce recomandă ghidul și ce consecință are fiecare decizie pentru statistică.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s-a întâmplat în scenă se întâmplă în fiecare zi, în toată țara. Majoritatea diareilor infecțioase trec singure, iar pentru bolnavul obișnuit aflarea microbului contează adesea puțin. Ghidul Societății Americane de Boli Infecțioase (IDSA) recomandă proba de scaun mai ales când diareea vine cu febră, cu sânge sau mucus în scaun, cu crampe abdominale puternice ori cu semne de sepsis. Un medic care nu cere analize oricui are stomacul deranjat urmează deci ghidul. Decizia are însă o consecință statistică: un bolnav fără probă de laborator nu poate deveni un caz confirmat. Să vedem ce înseamnă asta pentru tot grupul.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Valorile sunt ipotetice. La shaormerie au mâncat 40 de colegi, iar 22 s-au îmbolnăvit. Din cei 22, 13 au rămas acasă și nu au vorbit cu niciun medic. Ceilalți 9 au ajuns la un medic, la cabinet, la telefon sau la camera de gardă. Medicii le-au cerut o probă de scaun la 5 dintre ei, iar 4 au adus-o. Laboratorul a găsit microbul la 3. Două rezultate pozitive au fost declarate la direcția de sănătate publică (DSP); al treilea s-a pierdut între laborator, medic și fișa de declarare. În cifra oficială au ajuns 2, adică unul din unsprezece. Nimeni nu a fost „ascuns”; fiecare poartă are o explicație firească.</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Primul termen nou al ședinței: piramida supravegherii. Este numele folosit în acest curs pentru treptele prin care trece un bolnav până să ajungă în statistica oficială. La bază sunt toți cei care s-au îmbolnăvit; deasupra, cei care au mers la medic; apoi cei care au dat o probă; cei la care laboratorul a găsit microbul; în vârf, cei raportați autorităților. La fiecare treaptă se pierd oameni, fie pentru că nu au fost diagnosticați, fie pentru că, deși diagnosticați, nu au fost raportați. În cuvinte de zi cu zi: cifra oficială este vârful aisbergului.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Epidemiologii dau celor două pierderi nume diferite. Prima este subdiagnosticarea: bolnavul nu a mers la medic, nu a dat o probă sau laboratorul nu a căutat ori nu a găsit microbul. A doua este subraportarea: diagnosticul a fost pus, dar nu a ajuns la autorități. Deosebirea contează în practică. O fișă de declarare completată, trimisă și verificată reduce subraportarea, dar nu aduce în cifră pe cineva pe care nu l-a văzut niciun medic. Subdiagnosticarea nu se poate număra direct; se poate doar estima. În exemplul nostru, aproape toți bolnavii pierduți s-au pierdut prin subdiagnosticare și unul singur prin subraportare.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Dacă vârful este atât de mic, de unde știm cât de mare este baza? Nu se poate număra direct; se poate estima. O echipă coordonată de CDC a pornit de la cazurile confirmate în laborator și a corectat, microb cu microb, pentru toți cei care nu au ajuns la medic, nu au dat probă sau nu au fost raportați. Rezultatul: în 2019, numai 6 microbi transmiși prin alimente, printre care Salmonella, Campylobacter și norovirusul, au produs în Statele Unite aproximativ 9,9 milioane de îmbolnăviri dobândite în țară. Împreună cu parazitul Toxoplasma, aceiași microbi au trimis la spital 53 300 de oameni. Cifrele sunt valabile numai pentru Statele Unite; pentru România nu avem o estimare la fel de recentă și verificată.</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Piramida nu micșorează doar numărul bolnavilor. Poate face o boală să pară mai gravă decât este. Exemplul cel mai clar este sindromul respirator din Orientul Mijlociu (MERS), produs de un coronavirus transmis de la cămile la om, identificat în 2012. De atunci, la Organizația Mondială a Sănătății (OMS) au fost raportate peste 2 600 de cazuri confirmate în laborator, majoritatea din Peninsula Arabică. Aproximativ 37% dintre cazurile raportate au murit. OMS adaugă însă, chiar în fișa bolii, că această proporție este probabil o supraestimare, pentru că supravegherea poate rata cazurile ușoare sau fără simptome. În vârf ajung mai ales bolnavii gravi, internați și testați.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Imaginați-vă că mâine s-ar testa toți cei care au avut o răceală ușoară într-o regiune în care circulă MERS. Ce s-ar întâmpla cu proporția deceselor: ar crește, ar scădea sau ar rămâne la fel? Scrieți întâi în chat argumentul vostru, într-o frază, și citiți-l pe al unui coleg care gândește altfel. Apoi votați pe Mentimeter; linkul este și în chat.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Proporția ar scădea. Numărul deceselor ar rămâne același, dar numărul cazurilor ar crește, pentru că în număr ar intra și cei ușori. Când împărțiți decesele numai la cazurile din vârful piramidei, numitorul este prea mic, iar boala pare mai letală decât este. De aceea, o letalitate calculată la începutul unei epidemii noi, când se testează numai cei internați, trebuie citită cu prudență. Dacă în chat ați scris că decesele rămân aceleași, ați avut deja jumătate din explicație; cealaltă jumătate este numitorul.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Revenim la primul vot. În exemplul construit, varianta care se potrivește este „foarte puțini”: doi din douăzeci și doi. Sistemul nu este neapărat rău: fiecare treaptă a piramidei filtrează. Cât de puțini ar fi într-un focar real nu se poate spune fără o anchetă. Ca studenți: când mai mulți colegi au aceleași simptome după o masă comună, spuneți-i medicului că nu sunteți singurul; informația voastră îl poate face să ceară o probă, iar un focar pe care nu l-a văzut nimeni nu poate fi oprit la sursă. Ca viitori medici: analiza este o decizie clinică și poate fi, pe bună dreptate, „nu”; fișa de declarare, la o boală cu declarare obligatorie, nu este o formalitate.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doua poveste, tot un caz construit. Un pacient trecut de șaptezeci de ani, cu diabet zaharat de mulți ani, este internat cu COVID-19 confirmat prin test. Face o pneumonie, apoi o insuficiență respiratorie gravă. După zece zile de terapie intensivă, moare într-o noapte de noiembrie, pe la ora trei. Medicul de gardă, care l-a cunoscut puțin, trebuie să completeze certificatul medical al cauzei de deces. Întrebarea acestei povești nu este de ce a murit pacientul, ci de ce a murit în statistică. Totul depinde de câteva rânduri scrise noaptea.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patrulea vot, anonim, pe Mentimeter. Trei medici de gardă diferiți ar putea scrie trei certificate diferite pentru același pacient. În care variantă intră pacientul în cifra deceselor prin COVID-19? Votați întâi; apoi scrieți în chat, într-o frază, de ce ați ales varianta voastră, și citiți argumentele colegilor care au votat altfel.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Varianta (c). În aprilie 2020, OMS a publicat un ghid pentru medicii care completează certificatele: COVID-19 se trece pe certificat la toți decedații la care boala a cauzat, se presupune că a cauzat sau a contribuit la deces. Ghidul cere și termenul oficial, „COVID-19”, nu „coronavirus”, pentru că există multe coronavirusuri și codificarea ar deveni nesigură. Lanțul din varianta (c) spune ce s-a întâmplat, pas cu pas, iar diabetul rămâne pe certificat, separat, ca boală care a contribuit. Să vedem cum arată certificatul.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Certificatul are două părți. În prima parte, medicul scrie, rând sub rând, lanțul de evenimente: pe primul rând, boala care a dus direct la moarte; pe rândurile de dedesubt, ce a produs-o; pe ultimul rând folosit, boala care a pornit totul. Exemplul din ghidul OMS arată exact ca pacientul nostru: sindrom de detresă respiratorie acută, de 2 zile, cauzat de o pneumonie, de 10 zile, cauzată de COVID-19, de 14 zile. În a doua parte se trec celelalte boli importante care au contribuit la deces, de pildă diabetul zaharat sau boala pulmonară obstructivă cronică.</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doilea termen nou: cauza de bază a decesului. Este boala care a pornit lanțul de evenimente care a dus la moarte și se scrie pe ultimul rând folosit din prima parte a certificatului. În cuvinte de zi cu zi: boala de la care a pornit totul. Statistica deceselor pe cauze numără după cauza de bază, aleasă din certificat după regulile de codificare ale OMS. De aceea, pentru statistică, ultimul rând folosit hotărăște unde este numărat pacientul.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se vede de ce cele trei certificate dau trei statistici diferite. Varianta (a) numește numai ultimul pas, oprirea inimii și a respirației, și nu spune nimic despre boala care a pornit lanțul, adică tocmai ce cere ghidul OMS pe ultimul rând folosit. Pacientul nu ajunge în cifra COVID-19 și nici în cea a vreunei alte boli precise. Varianta (b) îl mută în cifra deceselor prin diabet. Abia varianta (c) îl numără acolo unde ghidul OMS spune că trebuie numărat. Același om, aceeași noapte, trei rânduri diferite în statistica națională.</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lucrați fiecare. Rescrieți varianta (a) astfel încât să respecte ghidul OMS: în prima parte, câte un rând pe fiecare treaptă a lanțului; în a doua parte, diabetul, separat. Scrieți certificatul în chat, cu literele rândurilor în față: a), b), c), apoi „Partea a II-a”. Citim împreună două variante din chat și vedem dacă ultimul rând folosit numește boala care a pornit totul.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Certificatul nu este un document pentru arhivă. Din mii de certificate adunate se face statistica deceselor pe cauze, iar din ea se decid programe, bugete și priorități. Un certificat cu „stop cardiorespirator” pe singurul rând este un deces care nu spune nimic nimănui. Dar chiar dacă fiecare medic ar completa perfect, unele decese tot nu ar fi atribuite bolii. Unii bolnavi mor acasă, netestați. Alții mor pentru că, în plin val, nu au mai ajuns la timp la spital pentru un infarct sau un accident vascular. Pentru aceste situații, epidemiologii au o a doua cale de a număra, care nu depinde de ce scrie pe certificat.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 treilea termen nou: mortalitatea în exces. Este diferența dintre numărul total de decese dintr-o perioadă de criză și numărul la care ne-am fi așteptat în condiții obișnuite. Se numără toate decesele, indiferent de cauza scrisă pe certificat. Oficiul de statistică al Uniunii Europene, Eurostat, o calculează lunar, ca procent față de media deceselor din aceeași lună a anilor 2016–2019. În cuvinte de zi cu zi: câți oameni au murit în plus față de un an obișnuit.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Avantajul este limpede: nu mai contează cine a fost testat și ce s-a scris pe certificat. Un deces este un deces. Limita este la fel de importantă: mortalitatea în exces nu spune din ce cauză au murit oamenii în plus. Ea cuprinde și decesele produse direct de virus, și pe cele produse indirect, de pildă de întreruperea serviciilor de sănătate. Indicatorul răspunde deci la întrebarea „câți?”, nu la întrebarea „de ce?”. Pentru a doua întrebare este nevoie de certificate corecte și de studii speciale.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Acum vă puteți uita cu alți ochi la o lună pe care unii dintre voi o țin minte. În octombrie 2021, potrivit Eurostat, mortalitatea în exces în România a fost de 110,8%. Adică în acea lună au murit de aproximativ 2,1 ori mai mulți oameni decât în media lunilor octombrie din 2016–2019. În aceeași lună, Bulgaria a avut 74,0%, iar media Uniunii Europene a fost de 18,4%, o valoare încă marcată de Eurostat ca provizorie. Cifra nu spune câte dintre aceste decese au fost produse de virus și câte de faptul că bolnavii cu alte boli nu au mai găsit loc sau ajutor la timp.</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Indicatorul poate fi și negativ. O valoare sub zero înseamnă că într-o lună au murit mai puțini oameni decât în perioada de referință. Pentru România, ultima lună cu valoare la data consultării era mai 2026: 9,3% sub referință, o valoare provizorie, dintr-un set actualizat la 16 septembrie 2026. Mortalitatea în exces nu vede, deci, numai epidemii; compară orice lună cu aceeași referință fixă, media anilor 2016–2019. Indicatorul nu ține seama de schimbările mărimii populației și ale structurii ei pe vârste și sexe; de aceea, cu anii, referința poate deveni tot mai puțin potrivită.</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Același calcul, făcut pentru toată lumea, dă cea mai importantă cifră a acestei ședințe. Pentru perioada ianuarie 2020 – decembrie 2021, OMS și colaboratorii ei au estimat 14,83 milioane de decese în exces la nivel mondial. În aceeași perioadă, țările raportaseră la OMS 5,42 milioane de decese prin COVID-19. Diferența este de 2,74 ori. Formulați cu grijă ce spune cifra: nu spune că toți aceștia au murit de COVID-19. O parte sunt decese prin virus care nu au ajuns în cifra raportată; o altă parte, decese produse de perturbările pandemiei. Distanța dintre cele două bare este, din nou, piramida.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Peste câțiva ani veți completa voi certificate de deces, adesea noaptea, adesea pentru pacienți pe care i-ați cunoscut puțin. Scrieți lanțul, nu doar ultimul pas. Pe ultimul rând folosit puneți boala care a pornit totul, iar bolile care doar au contribuit, în a doua parte. Dacă nu știți, citiți documentația medicală a pacientului înainte să scrieți. Certificatul vostru este o singură linie din statistica țării, dar statistica țării este făcută numai din asemenea linii. Cu aceasta se încheie prima oră; a doua începe cu un vot.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Ora a doua începe cu un vot, anonim, pe Mentimeter; linkul este din nou în chat. Povestea a treia privește o sută de ani de cifre despre pandemii. Prima întrebare: câți oameni a ucis pandemia de gripă din 1918? Alegeți varianta care vi se pare cea mai apropiată de ce ați citit sau ați auzit.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Cine are dreptate? Varianta cinstită este ultima: nimeni nu știe exact. Poate ați auzit cifra de 50 de milioane. Ea are o istorie: în 2002, Johnson și Mueller au strâns statisticile disponibile și au propus un interval de 50–100 de milioane de decese, considerând că 50 de milioane este probabil o subestimare. În 2018, o echipă olandeză a refăcut calculul pe altă cale și a ajuns la 17,4 milioane, pentru anii 1918 și 1919; o cifră de peste 25 de milioane li se pare foarte puțin probabilă. În 1918, numai o parte a lumii avea statistici de mortalitate de încredere. Unde nu exista un registru, nu exista nici vârf de piramidă; rămân doar modelele, iar ele nu sunt de acord între ele.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 urmat alte pandemii de gripă. Pentru cea din 1957–1959, o reestimare atribuie pandemiei 1,1 milioane de decese în exces la nivel mondial. Pandemia din 2009 arată piramida foarte limpede. Până la 31 august 2010, OMS primise rapoarte despre 18 449 de decese confirmate în laborator. O echipă internațională a estimat însă, numai pentru aprilie–decembrie 2009, între 123 000 și 203 000 de decese respiratorii produse de gripa pandemică. Comparația este aproximativă, pentru că perioadele nu coincid și estimarea cuprinde numai decesele respiratorii; cu aceste rezerve, decesele estimate sunt de circa 7 până la 11 ori mai multe. Un deces devine confirmat în laborator numai dacă cineva a recoltat o probă și a testat-o. Este povestea cinei de vineri, la scara planetei.</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toate cifrele sunt neapărat atât de departe de realitate. Pentru sindromul respirator acut sever (SARS), boala respiratorie gravă din 2002–2003, OMS a publicat un tabel țară cu țară: 8 096 de cazuri probabile și 774 de decese, pentru debuturi între 1 noiembrie 2002 și 31 iulie 2003; România a avut un singur caz, importat. Ipoteza de verificat: la o boală gravă și nouă, la care aproape toți bolnavii ajung la spital, baza piramidei ar fi îngustă. Tabelul OMS nu spune dacă așa a fost. Teza ședinței nu este „cifra raportată este întotdeauna prea mică”; teza este o întrebare: cine trebuia să fie văzut, și de către cine?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Urmează o dezbatere. Moțiunea, preluată din fișa disciplinei: „Răspunsul global la COVID-19 a fost mai bun decât cel la gripa spaniolă”. Votați acum, anonim, pe Mentimeter, ce credeți: pentru, împotrivă sau nu știu. Argumentele despre măsurile de răspuns sunt permise; cifrele vin numai din notele cursului. După dezbatere, votați din nou.</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Taberele se formează după luna nașterii: cei născuți între ianuarie și iunie susțin moțiunea, cei născuți între iulie și decembrie o combat, indiferent de votul fiecăruia. Scrieți argumentele în chat, cu numele taberei în față: „Pentru:” sau „Împotrivă:”. Apoi câte doi vorbitori din fiecare tabără, anunțați cu reacția „mână ridicată” din Teams, vorbesc pe rând, cu microfonul deschis. Tabăra care susține moțiunea poate porni de la estimarea mică pentru 1918, de 17,4 milioane; cealaltă, de la estimarea mare, de 50–100 de milioane. Veți descoperi repede că nu comparați lucruri de același fel: pentru 1918 există numai modele, iar pentru COVID-19, o numărătoare de 5,42 milioane și un model de 14,83 milioane. O comparație cinstită spune întâi ce compară.</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Același vot, după argumente. Rezultatul nu vă spune care pandemie a fost tratată mai bine; vă spune cât de mult s-au mișcat opiniile. Pe o întrebare la care datele nu pot răspunde complet, o mișcare mare a votului este o dovadă despre puterea retoricii, nu despre lume. Poziția apărată azi devine a voastră numai dacă o alegeți după, cu argumente.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Ați văzut în ședința trecută că un focar are o definiție scrisă. Din 2024 există una și pentru cea mai gravă situație posibilă: urgența pandemică. Pe 1 iunie 2024, Adunarea Mondială a Sănătății a adoptat amendamente la Regulamentul Sanitar Internațional, iar unul dintre ele introduce această categorie. O urgență de sănătate publică de importanță internațională, cauzată de o boală transmisibilă, devine urgență pandemică numai dacă îndeplinește toate cele patru condiții de pe ecran. Toate sunt obligatorii, dar fiecare poate fi îndeplinită și printr-un risc mare, nu numai printr-un fapt deja petrecut. Este, literalmente, o definiție de caz: o regulă scrisă după care se hotărăște cine intră în categorie.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caz de acum: epidemia de boală Ebola produsă de virusul Bundibugyo, din raportul OMS din 8 octombrie 2026. Citiți din nou cele patru condiții și cifrele din raport, apoi votați pe Mentimeter câte vi se par îndeplinite. Nu există o variantă fixată dinainte; fiecare decide singur. După vot, scrieți în chat ce informație v-ar lipsi ca să decideți.</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Observați întâi cuvântul care se repetă în raport: „confirmate”. Raportul numără cazurile și decesele confirmate în laborator; dacă unii bolnavi mor fără să fi fost testați, și aici cifra este vârful unei piramide. Letalitatea brută, de 48,2%, poate greși în ambele sensuri. Poate fi prea mare, ca la MERS, dacă cei gravi ajung mai des să fie testați. Poate fi însă și prea mică: din cei 8 728 de confirmați, 4 205 muriseră și 2 269 se vindecaseră, deci 2 254 nu aveau încă un deznodământ raportat. Ei sunt deja în numitor, dar cei care vor muri în zilele următoare nu sunt încă în numărător. Câți bolnavi a avut în realitate focarul nu se poate spune din raport.</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Recapitulăm cu Kahoot: zece întrebări despre cele trei povești de azi. Intrați pe kahoot.it cu codul jocului afișat pe ecran; îl găsiți și în chat. Rezultatul nu se notează. Arată ce s-a reținut din ședință, iar fiecare întrebare se discută imediat după vot.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Cinci lucruri pe care le puteți face diferit de mâine. Când citiți o cifră despre o boală, întrebați întâi: cine trebuia să fie văzut, și de către cine, ca să intre în ea? Când vă îmbolnăviți după o masă comună, spuneți-i medicului că mai sunt și alți colegi bolnavi; așa un focar nevăzut poate deveni vizibil. Când veți pune un diagnostic de boală cu declarare obligatorie, trimiteți fișa de declarare. Când veți completa un certificat de deces, scrieți lanțul întreg. Iar când vedeți două cifre diferite despre aceeași pandemie, nu întrebați „care e adevărată?”, ci „ce a numărat fiecare?”.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Încheiem cu biletul de ieșire: trei întrebări anonime, pe Mentimeter; linkul este și în chat. Ce a fost util? Unde v-am pierdut? Ce ați putea folosi mâine? Răspunsurile voastre schimbă ședințele următoare. Luni veți găsi pe pagina cursului cele două modificări făcute după ele. Vă mulțumesc.</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82032"/>
          </a:solidFill>
          <a:ln/>
        </p:spPr>
        <p:txBody>
          <a:bodyPr/>
          <a:p/>
        </p:txBody>
      </p:sp>
      <p:sp>
        <p:nvSpPr>
          <p:cNvPr id="3" name="Shape 1"/>
          <p:cNvSpPr/>
          <p:nvPr/>
        </p:nvSpPr>
        <p:spPr>
          <a:xfrm>
            <a:off x="10332720" y="3840480"/>
            <a:ext cx="3474720" cy="3474720"/>
          </a:xfrm>
          <a:prstGeom prst="ellipse">
            <a:avLst/>
          </a:prstGeom>
          <a:solidFill>
            <a:srgbClr val="182032"/>
          </a:solidFill>
          <a:ln/>
        </p:spPr>
        <p:txBody>
          <a:bodyPr/>
          <a:p/>
        </p:txBody>
      </p:sp>
      <p:sp>
        <p:nvSpPr>
          <p:cNvPr id="4" name="Shape 2"/>
          <p:cNvSpPr/>
          <p:nvPr/>
        </p:nvSpPr>
        <p:spPr>
          <a:xfrm>
            <a:off x="685800" y="777240"/>
            <a:ext cx="2377440" cy="329184"/>
          </a:xfrm>
          <a:prstGeom prst="roundRect">
            <a:avLst>
              <a:gd name="adj" fmla="val 50000"/>
            </a:avLst>
          </a:prstGeom>
          <a:solidFill>
            <a:srgbClr val="FF4757"/>
          </a:solidFill>
          <a:ln w="12700">
            <a:solidFill>
              <a:srgbClr val="FF4757"/>
            </a:solidFill>
            <a:prstDash val="solid"/>
          </a:ln>
        </p:spPr>
        <p:txBody>
          <a:bodyPr/>
          <a:p/>
        </p:txBody>
      </p:sp>
      <p:sp>
        <p:nvSpPr>
          <p:cNvPr id="5" name="Text 3"/>
          <p:cNvSpPr/>
          <p:nvPr/>
        </p:nvSpPr>
        <p:spPr>
          <a:xfrm>
            <a:off x="685800" y="777240"/>
            <a:ext cx="23774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ȘEDINȚA A TREIA</a:t>
            </a:r>
            <a:endParaRPr lang="en-US" sz="1300" dirty="0"/>
          </a:p>
        </p:txBody>
      </p:sp>
      <p:sp>
        <p:nvSpPr>
          <p:cNvPr id="6" name="Text 4"/>
          <p:cNvSpPr/>
          <p:nvPr/>
        </p:nvSpPr>
        <p:spPr>
          <a:xfrm>
            <a:off x="685800" y="1463040"/>
            <a:ext cx="9875520" cy="914400"/>
          </a:xfrm>
          <a:prstGeom prst="rect">
            <a:avLst/>
          </a:prstGeom>
          <a:noFill/>
          <a:ln/>
        </p:spPr>
        <p:txBody>
          <a:bodyPr wrap="square" lIns="0" tIns="0" rIns="0" bIns="0" rtlCol="0" anchor="t"/>
          <a:lstStyle/>
          <a:p>
            <a:pPr indent="0" marL="0">
              <a:buNone/>
            </a:pPr>
            <a:r>
              <a:rPr lang="en-US" sz="5400" b="1" dirty="0">
                <a:solidFill>
                  <a:srgbClr val="FFFFFF"/>
                </a:solidFill>
                <a:latin typeface="Palatino Linotype" pitchFamily="34" charset="0"/>
                <a:ea typeface="Palatino Linotype" pitchFamily="34" charset="-122"/>
                <a:cs typeface="Palatino Linotype" pitchFamily="34" charset="-120"/>
              </a:rPr>
              <a:t>Cine ajunge</a:t>
            </a:r>
            <a:endParaRPr lang="en-US" sz="5400" dirty="0"/>
          </a:p>
        </p:txBody>
      </p:sp>
      <p:sp>
        <p:nvSpPr>
          <p:cNvPr id="7" name="Text 5"/>
          <p:cNvSpPr/>
          <p:nvPr/>
        </p:nvSpPr>
        <p:spPr>
          <a:xfrm>
            <a:off x="685800" y="2377440"/>
            <a:ext cx="9875520" cy="914400"/>
          </a:xfrm>
          <a:prstGeom prst="rect">
            <a:avLst/>
          </a:prstGeom>
          <a:noFill/>
          <a:ln/>
        </p:spPr>
        <p:txBody>
          <a:bodyPr wrap="square" lIns="0" tIns="0" rIns="0" bIns="0" rtlCol="0" anchor="t"/>
          <a:lstStyle/>
          <a:p>
            <a:pPr indent="0" marL="0">
              <a:buNone/>
            </a:pPr>
            <a:r>
              <a:rPr lang="en-US" sz="5400" b="1" dirty="0">
                <a:solidFill>
                  <a:srgbClr val="27D3BE"/>
                </a:solidFill>
                <a:latin typeface="Palatino Linotype" pitchFamily="34" charset="0"/>
                <a:ea typeface="Palatino Linotype" pitchFamily="34" charset="-122"/>
                <a:cs typeface="Palatino Linotype" pitchFamily="34" charset="-120"/>
              </a:rPr>
              <a:t>în cifră</a:t>
            </a:r>
            <a:endParaRPr lang="en-US" sz="5400" dirty="0"/>
          </a:p>
        </p:txBody>
      </p:sp>
      <p:sp>
        <p:nvSpPr>
          <p:cNvPr id="8" name="Text 6"/>
          <p:cNvSpPr/>
          <p:nvPr/>
        </p:nvSpPr>
        <p:spPr>
          <a:xfrm>
            <a:off x="685800" y="3566160"/>
            <a:ext cx="10241280" cy="45720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O cină de vineri, un certificat completat la trei dimineața și o sută de ani de cifre</a:t>
            </a:r>
            <a:endParaRPr lang="en-US" sz="1800" dirty="0"/>
          </a:p>
        </p:txBody>
      </p:sp>
      <p:sp>
        <p:nvSpPr>
          <p:cNvPr id="9" name="Shape 7"/>
          <p:cNvSpPr/>
          <p:nvPr/>
        </p:nvSpPr>
        <p:spPr>
          <a:xfrm>
            <a:off x="713232" y="4343400"/>
            <a:ext cx="1280160" cy="27432"/>
          </a:xfrm>
          <a:prstGeom prst="rect">
            <a:avLst/>
          </a:prstGeom>
          <a:solidFill>
            <a:srgbClr val="FF4757"/>
          </a:solidFill>
          <a:ln/>
        </p:spPr>
        <p:txBody>
          <a:bodyPr/>
          <a:p/>
        </p:txBody>
      </p:sp>
      <p:sp>
        <p:nvSpPr>
          <p:cNvPr id="10" name="Text 8"/>
          <p:cNvSpPr/>
          <p:nvPr/>
        </p:nvSpPr>
        <p:spPr>
          <a:xfrm>
            <a:off x="685800" y="4617720"/>
            <a:ext cx="1005840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DUPĂ A DOUA ȘEDINȚĂ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am schimbat după răspunsurile voastre</a:t>
            </a:r>
            <a:endParaRPr lang="en-US" sz="3200" dirty="0"/>
          </a:p>
        </p:txBody>
      </p:sp>
      <p:sp>
        <p:nvSpPr>
          <p:cNvPr id="4" name="Text 2"/>
          <p:cNvSpPr/>
          <p:nvPr/>
        </p:nvSpPr>
        <p:spPr>
          <a:xfrm>
            <a:off x="594360" y="1600200"/>
            <a:ext cx="10972800" cy="457200"/>
          </a:xfrm>
          <a:prstGeom prst="rect">
            <a:avLst/>
          </a:prstGeom>
          <a:noFill/>
          <a:ln/>
        </p:spPr>
        <p:txBody>
          <a:bodyPr wrap="square" lIns="0" tIns="0" rIns="0" bIns="0" rtlCol="0" anchor="t"/>
          <a:lstStyle/>
          <a:p>
            <a:pPr indent="0" marL="0">
              <a:buNone/>
            </a:pPr>
            <a:r>
              <a:rPr lang="en-US" sz="1800" i="1" dirty="0">
                <a:solidFill>
                  <a:srgbClr val="959BB0"/>
                </a:solidFill>
                <a:latin typeface="Palatino Linotype" pitchFamily="34" charset="0"/>
                <a:ea typeface="Palatino Linotype" pitchFamily="34" charset="-122"/>
                <a:cs typeface="Palatino Linotype" pitchFamily="34" charset="-120"/>
              </a:rPr>
              <a:t>Am citit răspunsurile de la biletul de ieșire al ședinței a doua.</a:t>
            </a:r>
            <a:endParaRPr lang="en-US" sz="1800" dirty="0"/>
          </a:p>
        </p:txBody>
      </p:sp>
      <p:sp>
        <p:nvSpPr>
          <p:cNvPr id="5" name="Shape 3"/>
          <p:cNvSpPr/>
          <p:nvPr/>
        </p:nvSpPr>
        <p:spPr>
          <a:xfrm>
            <a:off x="594360" y="2286000"/>
            <a:ext cx="10972800" cy="1325880"/>
          </a:xfrm>
          <a:prstGeom prst="roundRect">
            <a:avLst>
              <a:gd name="adj" fmla="val 6207"/>
            </a:avLst>
          </a:prstGeom>
          <a:solidFill>
            <a:srgbClr val="1D1F2B"/>
          </a:solidFill>
          <a:ln w="12700">
            <a:solidFill>
              <a:srgbClr val="1D1F2B"/>
            </a:solidFill>
            <a:prstDash val="solid"/>
          </a:ln>
        </p:spPr>
        <p:txBody>
          <a:bodyPr/>
          <a:p/>
        </p:txBody>
      </p:sp>
      <p:sp>
        <p:nvSpPr>
          <p:cNvPr id="6" name="Shape 4"/>
          <p:cNvSpPr/>
          <p:nvPr/>
        </p:nvSpPr>
        <p:spPr>
          <a:xfrm>
            <a:off x="914400" y="2738628"/>
            <a:ext cx="420624" cy="420624"/>
          </a:xfrm>
          <a:prstGeom prst="ellipse">
            <a:avLst/>
          </a:prstGeom>
          <a:solidFill>
            <a:srgbClr val="FFC24B"/>
          </a:solidFill>
          <a:ln/>
        </p:spPr>
        <p:txBody>
          <a:bodyPr/>
          <a:p/>
        </p:txBody>
      </p:sp>
      <p:sp>
        <p:nvSpPr>
          <p:cNvPr id="7" name="Text 5"/>
          <p:cNvSpPr/>
          <p:nvPr/>
        </p:nvSpPr>
        <p:spPr>
          <a:xfrm>
            <a:off x="914400" y="27386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2286000"/>
            <a:ext cx="9692640" cy="132588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Mai puține detalii despre regulile de numărare; a doua oră începe cu un vot sau un joc de rol, iar pe Teams vorbim la microfon.</a:t>
            </a:r>
            <a:endParaRPr lang="en-US" sz="1900" dirty="0"/>
          </a:p>
        </p:txBody>
      </p:sp>
      <p:sp>
        <p:nvSpPr>
          <p:cNvPr id="9" name="Shape 7"/>
          <p:cNvSpPr/>
          <p:nvPr/>
        </p:nvSpPr>
        <p:spPr>
          <a:xfrm>
            <a:off x="594360" y="3794760"/>
            <a:ext cx="10972800" cy="1325880"/>
          </a:xfrm>
          <a:prstGeom prst="roundRect">
            <a:avLst>
              <a:gd name="adj" fmla="val 6207"/>
            </a:avLst>
          </a:prstGeom>
          <a:solidFill>
            <a:srgbClr val="1D1F2B"/>
          </a:solidFill>
          <a:ln w="12700">
            <a:solidFill>
              <a:srgbClr val="1D1F2B"/>
            </a:solidFill>
            <a:prstDash val="solid"/>
          </a:ln>
        </p:spPr>
        <p:txBody>
          <a:bodyPr/>
          <a:p/>
        </p:txBody>
      </p:sp>
      <p:sp>
        <p:nvSpPr>
          <p:cNvPr id="10" name="Shape 8"/>
          <p:cNvSpPr/>
          <p:nvPr/>
        </p:nvSpPr>
        <p:spPr>
          <a:xfrm>
            <a:off x="914400" y="4247388"/>
            <a:ext cx="420624" cy="420624"/>
          </a:xfrm>
          <a:prstGeom prst="ellipse">
            <a:avLst/>
          </a:prstGeom>
          <a:solidFill>
            <a:srgbClr val="FFC24B"/>
          </a:solidFill>
          <a:ln/>
        </p:spPr>
        <p:txBody>
          <a:bodyPr/>
          <a:p/>
        </p:txBody>
      </p:sp>
      <p:sp>
        <p:nvSpPr>
          <p:cNvPr id="11" name="Text 9"/>
          <p:cNvSpPr/>
          <p:nvPr/>
        </p:nvSpPr>
        <p:spPr>
          <a:xfrm>
            <a:off x="914400" y="42473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3794760"/>
            <a:ext cx="9692640" cy="1325880"/>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Ședința a treia începe cu trei minute despre ce este un focar: mai mult de jumătate dintre voi au răspuns că un focar înseamnă „zeci de bolnavi”.</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VOTUL DE DATA TRECUTĂ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O colegă de cameră cu ochii galbeni: este un focar?</a:t>
            </a:r>
            <a:endParaRPr lang="en-US" sz="2800" dirty="0"/>
          </a:p>
        </p:txBody>
      </p:sp>
      <p:sp>
        <p:nvSpPr>
          <p:cNvPr id="4" name="Shape 2"/>
          <p:cNvSpPr/>
          <p:nvPr/>
        </p:nvSpPr>
        <p:spPr>
          <a:xfrm>
            <a:off x="594360" y="178308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5" name="Shape 3"/>
          <p:cNvSpPr/>
          <p:nvPr/>
        </p:nvSpPr>
        <p:spPr>
          <a:xfrm>
            <a:off x="868680" y="1938528"/>
            <a:ext cx="420624" cy="420624"/>
          </a:xfrm>
          <a:prstGeom prst="ellipse">
            <a:avLst/>
          </a:prstGeom>
          <a:solidFill>
            <a:srgbClr val="FF4757"/>
          </a:solidFill>
          <a:ln/>
        </p:spPr>
        <p:txBody>
          <a:bodyPr/>
          <a:p/>
        </p:txBody>
      </p:sp>
      <p:sp>
        <p:nvSpPr>
          <p:cNvPr id="6" name="Text 4"/>
          <p:cNvSpPr/>
          <p:nvPr/>
        </p:nvSpPr>
        <p:spPr>
          <a:xfrm>
            <a:off x="868680" y="193852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A</a:t>
            </a:r>
            <a:endParaRPr lang="en-US" sz="1400" dirty="0"/>
          </a:p>
        </p:txBody>
      </p:sp>
      <p:sp>
        <p:nvSpPr>
          <p:cNvPr id="7" name="Text 5"/>
          <p:cNvSpPr/>
          <p:nvPr/>
        </p:nvSpPr>
        <p:spPr>
          <a:xfrm>
            <a:off x="1508760" y="1783080"/>
            <a:ext cx="9875520" cy="73152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Da: sunt două bolnave în același cămin, în aceeași săptămână.</a:t>
            </a:r>
            <a:endParaRPr lang="en-US" sz="1900" dirty="0"/>
          </a:p>
        </p:txBody>
      </p:sp>
      <p:sp>
        <p:nvSpPr>
          <p:cNvPr id="8" name="Shape 6"/>
          <p:cNvSpPr/>
          <p:nvPr/>
        </p:nvSpPr>
        <p:spPr>
          <a:xfrm>
            <a:off x="594360" y="2651760"/>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9" name="Shape 7"/>
          <p:cNvSpPr/>
          <p:nvPr/>
        </p:nvSpPr>
        <p:spPr>
          <a:xfrm>
            <a:off x="868680" y="2807208"/>
            <a:ext cx="420624" cy="420624"/>
          </a:xfrm>
          <a:prstGeom prst="ellipse">
            <a:avLst/>
          </a:prstGeom>
          <a:solidFill>
            <a:srgbClr val="FF4757"/>
          </a:solidFill>
          <a:ln/>
        </p:spPr>
        <p:txBody>
          <a:bodyPr/>
          <a:p/>
        </p:txBody>
      </p:sp>
      <p:sp>
        <p:nvSpPr>
          <p:cNvPr id="10" name="Text 8"/>
          <p:cNvSpPr/>
          <p:nvPr/>
        </p:nvSpPr>
        <p:spPr>
          <a:xfrm>
            <a:off x="868680" y="280720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B</a:t>
            </a:r>
            <a:endParaRPr lang="en-US" sz="1400" dirty="0"/>
          </a:p>
        </p:txBody>
      </p:sp>
      <p:sp>
        <p:nvSpPr>
          <p:cNvPr id="11" name="Text 9"/>
          <p:cNvSpPr/>
          <p:nvPr/>
        </p:nvSpPr>
        <p:spPr>
          <a:xfrm>
            <a:off x="1508760" y="2651760"/>
            <a:ext cx="9875520" cy="73152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Nu încă: a doua colegă nu are diagnostic.</a:t>
            </a:r>
            <a:endParaRPr lang="en-US" sz="1900" dirty="0"/>
          </a:p>
        </p:txBody>
      </p:sp>
      <p:sp>
        <p:nvSpPr>
          <p:cNvPr id="12" name="Shape 10"/>
          <p:cNvSpPr/>
          <p:nvPr/>
        </p:nvSpPr>
        <p:spPr>
          <a:xfrm>
            <a:off x="594360" y="3520440"/>
            <a:ext cx="10972800" cy="731520"/>
          </a:xfrm>
          <a:prstGeom prst="roundRect">
            <a:avLst>
              <a:gd name="adj" fmla="val 11250"/>
            </a:avLst>
          </a:prstGeom>
          <a:solidFill>
            <a:srgbClr val="B02532"/>
          </a:solidFill>
          <a:ln w="12700">
            <a:solidFill>
              <a:srgbClr val="B02532"/>
            </a:solidFill>
            <a:prstDash val="solid"/>
          </a:ln>
        </p:spPr>
        <p:txBody>
          <a:bodyPr/>
          <a:p/>
        </p:txBody>
      </p:sp>
      <p:sp>
        <p:nvSpPr>
          <p:cNvPr id="13" name="Shape 11"/>
          <p:cNvSpPr/>
          <p:nvPr/>
        </p:nvSpPr>
        <p:spPr>
          <a:xfrm>
            <a:off x="868680" y="3675888"/>
            <a:ext cx="420624" cy="420624"/>
          </a:xfrm>
          <a:prstGeom prst="ellipse">
            <a:avLst/>
          </a:prstGeom>
          <a:solidFill>
            <a:srgbClr val="FFFFFF"/>
          </a:solidFill>
          <a:ln/>
        </p:spPr>
        <p:txBody>
          <a:bodyPr/>
          <a:p/>
        </p:txBody>
      </p:sp>
      <p:sp>
        <p:nvSpPr>
          <p:cNvPr id="14" name="Text 12"/>
          <p:cNvSpPr/>
          <p:nvPr/>
        </p:nvSpPr>
        <p:spPr>
          <a:xfrm>
            <a:off x="868680" y="3675888"/>
            <a:ext cx="420624" cy="420624"/>
          </a:xfrm>
          <a:prstGeom prst="rect">
            <a:avLst/>
          </a:prstGeom>
          <a:noFill/>
          <a:ln/>
        </p:spPr>
        <p:txBody>
          <a:bodyPr wrap="square" lIns="0" tIns="0" rIns="0" bIns="0" rtlCol="0" anchor="ctr"/>
          <a:lstStyle/>
          <a:p>
            <a:pPr algn="ctr" indent="0" marL="0">
              <a:buNone/>
            </a:pPr>
            <a:r>
              <a:rPr lang="en-US" sz="1400" b="1" dirty="0">
                <a:solidFill>
                  <a:srgbClr val="B02532"/>
                </a:solidFill>
                <a:latin typeface="Palatino Linotype" pitchFamily="34" charset="0"/>
                <a:ea typeface="Palatino Linotype" pitchFamily="34" charset="-122"/>
                <a:cs typeface="Palatino Linotype" pitchFamily="34" charset="-120"/>
              </a:rPr>
              <a:t>C</a:t>
            </a:r>
            <a:endParaRPr lang="en-US" sz="1400" dirty="0"/>
          </a:p>
        </p:txBody>
      </p:sp>
      <p:sp>
        <p:nvSpPr>
          <p:cNvPr id="15" name="Text 13"/>
          <p:cNvSpPr/>
          <p:nvPr/>
        </p:nvSpPr>
        <p:spPr>
          <a:xfrm>
            <a:off x="1508760" y="3520440"/>
            <a:ext cx="9875520" cy="7315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Nu: un focar înseamnă „zeci de bolnavi”.</a:t>
            </a:r>
            <a:endParaRPr lang="en-US" sz="1900" dirty="0"/>
          </a:p>
        </p:txBody>
      </p:sp>
      <p:sp>
        <p:nvSpPr>
          <p:cNvPr id="16" name="Shape 14"/>
          <p:cNvSpPr/>
          <p:nvPr/>
        </p:nvSpPr>
        <p:spPr>
          <a:xfrm>
            <a:off x="594360" y="4389120"/>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17" name="Shape 15"/>
          <p:cNvSpPr/>
          <p:nvPr/>
        </p:nvSpPr>
        <p:spPr>
          <a:xfrm>
            <a:off x="868680" y="4544568"/>
            <a:ext cx="420624" cy="420624"/>
          </a:xfrm>
          <a:prstGeom prst="ellipse">
            <a:avLst/>
          </a:prstGeom>
          <a:solidFill>
            <a:srgbClr val="FF4757"/>
          </a:solidFill>
          <a:ln/>
        </p:spPr>
        <p:txBody>
          <a:bodyPr/>
          <a:p/>
        </p:txBody>
      </p:sp>
      <p:sp>
        <p:nvSpPr>
          <p:cNvPr id="18" name="Text 16"/>
          <p:cNvSpPr/>
          <p:nvPr/>
        </p:nvSpPr>
        <p:spPr>
          <a:xfrm>
            <a:off x="868680" y="454456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D</a:t>
            </a:r>
            <a:endParaRPr lang="en-US" sz="1400" dirty="0"/>
          </a:p>
        </p:txBody>
      </p:sp>
      <p:sp>
        <p:nvSpPr>
          <p:cNvPr id="19" name="Text 17"/>
          <p:cNvSpPr/>
          <p:nvPr/>
        </p:nvSpPr>
        <p:spPr>
          <a:xfrm>
            <a:off x="1508760" y="4389120"/>
            <a:ext cx="9875520" cy="73152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Nu știu ce înseamnă „focar”.</a:t>
            </a:r>
            <a:endParaRPr lang="en-US" sz="1900" dirty="0"/>
          </a:p>
        </p:txBody>
      </p:sp>
      <p:sp>
        <p:nvSpPr>
          <p:cNvPr id="20" name="Text 18"/>
          <p:cNvSpPr/>
          <p:nvPr/>
        </p:nvSpPr>
        <p:spPr>
          <a:xfrm>
            <a:off x="594360" y="5394960"/>
            <a:ext cx="1097280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Mulți ați ales varianta C. Este un răspuns firesc; merită lămurit acum, pentru că tot ce urmează azi depinde de el.</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ESTE UN FOCAR</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Mai multe cazuri decât v-ați aștepta</a:t>
            </a:r>
            <a:endParaRPr lang="en-US" sz="3400" dirty="0"/>
          </a:p>
        </p:txBody>
      </p:sp>
      <p:sp>
        <p:nvSpPr>
          <p:cNvPr id="4" name="Shape 2"/>
          <p:cNvSpPr/>
          <p:nvPr/>
        </p:nvSpPr>
        <p:spPr>
          <a:xfrm>
            <a:off x="594360" y="1783080"/>
            <a:ext cx="3520440" cy="1920240"/>
          </a:xfrm>
          <a:prstGeom prst="roundRect">
            <a:avLst>
              <a:gd name="adj" fmla="val 4286"/>
            </a:avLst>
          </a:prstGeom>
          <a:solidFill>
            <a:srgbClr val="F4E0E2"/>
          </a:solidFill>
          <a:ln w="12700">
            <a:solidFill>
              <a:srgbClr val="F4E0E2"/>
            </a:solidFill>
            <a:prstDash val="solid"/>
          </a:ln>
        </p:spPr>
        <p:txBody>
          <a:bodyPr/>
          <a:p/>
        </p:txBody>
      </p:sp>
      <p:sp>
        <p:nvSpPr>
          <p:cNvPr id="5" name="Text 3"/>
          <p:cNvSpPr/>
          <p:nvPr/>
        </p:nvSpPr>
        <p:spPr>
          <a:xfrm>
            <a:off x="868680" y="2011680"/>
            <a:ext cx="3017520" cy="548640"/>
          </a:xfrm>
          <a:prstGeom prst="rect">
            <a:avLst/>
          </a:prstGeom>
          <a:noFill/>
          <a:ln/>
        </p:spPr>
        <p:txBody>
          <a:bodyPr wrap="square" lIns="0" tIns="0" rIns="0" bIns="0" rtlCol="0" anchor="t"/>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Mai multe cazuri</a:t>
            </a:r>
            <a:endParaRPr lang="en-US" sz="2400" dirty="0"/>
          </a:p>
        </p:txBody>
      </p:sp>
      <p:sp>
        <p:nvSpPr>
          <p:cNvPr id="6" name="Text 4"/>
          <p:cNvSpPr/>
          <p:nvPr/>
        </p:nvSpPr>
        <p:spPr>
          <a:xfrm>
            <a:off x="868680" y="2651760"/>
            <a:ext cx="3017520" cy="82296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decât era de așteptat</a:t>
            </a:r>
            <a:endParaRPr lang="en-US" sz="1800" dirty="0"/>
          </a:p>
        </p:txBody>
      </p:sp>
      <p:sp>
        <p:nvSpPr>
          <p:cNvPr id="7" name="Shape 5"/>
          <p:cNvSpPr/>
          <p:nvPr/>
        </p:nvSpPr>
        <p:spPr>
          <a:xfrm>
            <a:off x="4343400" y="1783080"/>
            <a:ext cx="3520440" cy="1920240"/>
          </a:xfrm>
          <a:prstGeom prst="roundRect">
            <a:avLst>
              <a:gd name="adj" fmla="val 4286"/>
            </a:avLst>
          </a:prstGeom>
          <a:solidFill>
            <a:srgbClr val="F6EDD5"/>
          </a:solidFill>
          <a:ln w="12700">
            <a:solidFill>
              <a:srgbClr val="F6EDD5"/>
            </a:solidFill>
            <a:prstDash val="solid"/>
          </a:ln>
        </p:spPr>
        <p:txBody>
          <a:bodyPr/>
          <a:p/>
        </p:txBody>
      </p:sp>
      <p:sp>
        <p:nvSpPr>
          <p:cNvPr id="8" name="Text 6"/>
          <p:cNvSpPr/>
          <p:nvPr/>
        </p:nvSpPr>
        <p:spPr>
          <a:xfrm>
            <a:off x="4617720" y="2011680"/>
            <a:ext cx="3017520" cy="548640"/>
          </a:xfrm>
          <a:prstGeom prst="rect">
            <a:avLst/>
          </a:prstGeom>
          <a:noFill/>
          <a:ln/>
        </p:spPr>
        <p:txBody>
          <a:bodyPr wrap="square" lIns="0" tIns="0" rIns="0" bIns="0" rtlCol="0" anchor="t"/>
          <a:lstStyle/>
          <a:p>
            <a:pPr indent="0" marL="0">
              <a:buNone/>
            </a:pPr>
            <a:r>
              <a:rPr lang="en-US" sz="2400" b="1" dirty="0">
                <a:solidFill>
                  <a:srgbClr val="8A6100"/>
                </a:solidFill>
                <a:latin typeface="Palatino Linotype" pitchFamily="34" charset="0"/>
                <a:ea typeface="Palatino Linotype" pitchFamily="34" charset="-122"/>
                <a:cs typeface="Palatino Linotype" pitchFamily="34" charset="-120"/>
              </a:rPr>
              <a:t>Într-un loc</a:t>
            </a:r>
            <a:endParaRPr lang="en-US" sz="2400" dirty="0"/>
          </a:p>
        </p:txBody>
      </p:sp>
      <p:sp>
        <p:nvSpPr>
          <p:cNvPr id="9" name="Text 7"/>
          <p:cNvSpPr/>
          <p:nvPr/>
        </p:nvSpPr>
        <p:spPr>
          <a:xfrm>
            <a:off x="4617720" y="2651760"/>
            <a:ext cx="3017520" cy="82296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sau într-un grup de oameni</a:t>
            </a:r>
            <a:endParaRPr lang="en-US" sz="1800" dirty="0"/>
          </a:p>
        </p:txBody>
      </p:sp>
      <p:sp>
        <p:nvSpPr>
          <p:cNvPr id="10" name="Shape 8"/>
          <p:cNvSpPr/>
          <p:nvPr/>
        </p:nvSpPr>
        <p:spPr>
          <a:xfrm>
            <a:off x="8092440" y="1783080"/>
            <a:ext cx="3520440" cy="1920240"/>
          </a:xfrm>
          <a:prstGeom prst="roundRect">
            <a:avLst>
              <a:gd name="adj" fmla="val 4286"/>
            </a:avLst>
          </a:prstGeom>
          <a:solidFill>
            <a:srgbClr val="E1F0EC"/>
          </a:solidFill>
          <a:ln w="12700">
            <a:solidFill>
              <a:srgbClr val="E1F0EC"/>
            </a:solidFill>
            <a:prstDash val="solid"/>
          </a:ln>
        </p:spPr>
        <p:txBody>
          <a:bodyPr/>
          <a:p/>
        </p:txBody>
      </p:sp>
      <p:sp>
        <p:nvSpPr>
          <p:cNvPr id="11" name="Text 9"/>
          <p:cNvSpPr/>
          <p:nvPr/>
        </p:nvSpPr>
        <p:spPr>
          <a:xfrm>
            <a:off x="8366760" y="2011680"/>
            <a:ext cx="3017520" cy="548640"/>
          </a:xfrm>
          <a:prstGeom prst="rect">
            <a:avLst/>
          </a:prstGeom>
          <a:noFill/>
          <a:ln/>
        </p:spPr>
        <p:txBody>
          <a:bodyPr wrap="square" lIns="0" tIns="0" rIns="0" bIns="0" rtlCol="0" anchor="t"/>
          <a:lstStyle/>
          <a:p>
            <a:pPr indent="0" marL="0">
              <a:buNone/>
            </a:pPr>
            <a:r>
              <a:rPr lang="en-US" sz="2400" b="1" dirty="0">
                <a:solidFill>
                  <a:srgbClr val="0E7C6B"/>
                </a:solidFill>
                <a:latin typeface="Palatino Linotype" pitchFamily="34" charset="0"/>
                <a:ea typeface="Palatino Linotype" pitchFamily="34" charset="-122"/>
                <a:cs typeface="Palatino Linotype" pitchFamily="34" charset="-120"/>
              </a:rPr>
              <a:t>Într-o perioadă</a:t>
            </a:r>
            <a:endParaRPr lang="en-US" sz="2400" dirty="0"/>
          </a:p>
        </p:txBody>
      </p:sp>
      <p:sp>
        <p:nvSpPr>
          <p:cNvPr id="12" name="Text 10"/>
          <p:cNvSpPr/>
          <p:nvPr/>
        </p:nvSpPr>
        <p:spPr>
          <a:xfrm>
            <a:off x="8366760" y="2651760"/>
            <a:ext cx="3017520" cy="82296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anume, nu oricând</a:t>
            </a:r>
            <a:endParaRPr lang="en-US" sz="1800" dirty="0"/>
          </a:p>
        </p:txBody>
      </p:sp>
      <p:sp>
        <p:nvSpPr>
          <p:cNvPr id="13" name="Text 11"/>
          <p:cNvSpPr/>
          <p:nvPr/>
        </p:nvSpPr>
        <p:spPr>
          <a:xfrm>
            <a:off x="594360" y="4114800"/>
            <a:ext cx="10972800" cy="914400"/>
          </a:xfrm>
          <a:prstGeom prst="rect">
            <a:avLst/>
          </a:prstGeom>
          <a:noFill/>
          <a:ln/>
        </p:spPr>
        <p:txBody>
          <a:bodyPr wrap="square" lIns="0" tIns="0" rIns="0" bIns="0" rtlCol="0" anchor="t"/>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Nu există un număr minim valabil pentru toate bolile. Contează diferența față de ce era de așteptat și legătura dintre bolnavi.</a:t>
            </a:r>
            <a:endParaRPr lang="en-US" sz="2000" dirty="0"/>
          </a:p>
        </p:txBody>
      </p:sp>
      <p:sp>
        <p:nvSpPr>
          <p:cNvPr id="14" name="Text 12"/>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CDC, manualul de anchetă de teren (registru A350).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INSP · HEPATITA A</a:t>
            </a:r>
            <a:endParaRPr lang="en-US" sz="1300" dirty="0"/>
          </a:p>
        </p:txBody>
      </p:sp>
      <p:sp>
        <p:nvSpPr>
          <p:cNvPr id="3" name="Text 1"/>
          <p:cNvSpPr/>
          <p:nvPr/>
        </p:nvSpPr>
        <p:spPr>
          <a:xfrm>
            <a:off x="502920" y="731520"/>
            <a:ext cx="3291840" cy="3291840"/>
          </a:xfrm>
          <a:prstGeom prst="rect">
            <a:avLst/>
          </a:prstGeom>
          <a:noFill/>
          <a:ln/>
        </p:spPr>
        <p:txBody>
          <a:bodyPr wrap="square" lIns="0" tIns="0" rIns="0" bIns="0" rtlCol="0" anchor="ctr"/>
          <a:lstStyle/>
          <a:p>
            <a:pPr indent="0" marL="0">
              <a:buNone/>
            </a:pPr>
            <a:r>
              <a:rPr lang="en-US" sz="26000" b="1" dirty="0">
                <a:solidFill>
                  <a:srgbClr val="FF4757"/>
                </a:solidFill>
                <a:latin typeface="Palatino Linotype" pitchFamily="34" charset="0"/>
                <a:ea typeface="Palatino Linotype" pitchFamily="34" charset="-122"/>
                <a:cs typeface="Palatino Linotype" pitchFamily="34" charset="-120"/>
              </a:rPr>
              <a:t>2</a:t>
            </a:r>
            <a:endParaRPr lang="en-US" sz="26000" dirty="0"/>
          </a:p>
        </p:txBody>
      </p:sp>
      <p:sp>
        <p:nvSpPr>
          <p:cNvPr id="4" name="Text 2"/>
          <p:cNvSpPr/>
          <p:nvPr/>
        </p:nvSpPr>
        <p:spPr>
          <a:xfrm>
            <a:off x="3931920" y="1371600"/>
            <a:ext cx="7589520" cy="82296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cazuri confirmate pot fi un focar</a:t>
            </a:r>
            <a:endParaRPr lang="en-US" sz="3000" dirty="0"/>
          </a:p>
        </p:txBody>
      </p:sp>
      <p:sp>
        <p:nvSpPr>
          <p:cNvPr id="5" name="Text 3"/>
          <p:cNvSpPr/>
          <p:nvPr/>
        </p:nvSpPr>
        <p:spPr>
          <a:xfrm>
            <a:off x="3931920" y="2286000"/>
            <a:ext cx="7589520" cy="1188720"/>
          </a:xfrm>
          <a:prstGeom prst="rect">
            <a:avLst/>
          </a:prstGeom>
          <a:noFill/>
          <a:ln/>
        </p:spPr>
        <p:txBody>
          <a:bodyPr wrap="square" lIns="0" tIns="0" rIns="0" bIns="0" rtlCol="0" anchor="t"/>
          <a:lstStyle/>
          <a:p>
            <a:pPr indent="0" marL="0">
              <a:buNone/>
            </a:pPr>
            <a:r>
              <a:rPr lang="en-US" sz="1900" dirty="0">
                <a:solidFill>
                  <a:srgbClr val="959BB0"/>
                </a:solidFill>
                <a:latin typeface="Palatino Linotype" pitchFamily="34" charset="0"/>
                <a:ea typeface="Palatino Linotype" pitchFamily="34" charset="-122"/>
                <a:cs typeface="Palatino Linotype" pitchFamily="34" charset="-120"/>
              </a:rPr>
              <a:t>Regula raportului INSP pentru hepatita A: cel puțin două cazuri confirmate, expuse la aceeași sursă, în același timp și loc.</a:t>
            </a:r>
            <a:endParaRPr lang="en-US" sz="1900" dirty="0"/>
          </a:p>
        </p:txBody>
      </p:sp>
      <p:sp>
        <p:nvSpPr>
          <p:cNvPr id="6" name="Shape 4"/>
          <p:cNvSpPr/>
          <p:nvPr/>
        </p:nvSpPr>
        <p:spPr>
          <a:xfrm>
            <a:off x="594360" y="4343400"/>
            <a:ext cx="10972800" cy="13716"/>
          </a:xfrm>
          <a:prstGeom prst="rect">
            <a:avLst/>
          </a:prstGeom>
          <a:solidFill>
            <a:srgbClr val="3A3E52"/>
          </a:solidFill>
          <a:ln/>
        </p:spPr>
        <p:txBody>
          <a:bodyPr/>
          <a:p/>
        </p:txBody>
      </p:sp>
      <p:sp>
        <p:nvSpPr>
          <p:cNvPr id="7" name="Text 5"/>
          <p:cNvSpPr/>
          <p:nvPr/>
        </p:nvSpPr>
        <p:spPr>
          <a:xfrm>
            <a:off x="594360" y="4526280"/>
            <a:ext cx="10972800" cy="548640"/>
          </a:xfrm>
          <a:prstGeom prst="rect">
            <a:avLst/>
          </a:prstGeom>
          <a:noFill/>
          <a:ln/>
        </p:spPr>
        <p:txBody>
          <a:bodyPr wrap="square" lIns="0" tIns="0" rIns="0" bIns="0" rtlCol="0" anchor="t"/>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Iar o sută de cazuri de gripă într-o iarnă obișnuită pot să nu fie un focar.</a:t>
            </a:r>
            <a:endParaRPr lang="en-US" sz="2100" dirty="0"/>
          </a:p>
        </p:txBody>
      </p:sp>
      <p:sp>
        <p:nvSpPr>
          <p:cNvPr id="8" name="Text 6"/>
          <p:cNvSpPr/>
          <p:nvPr/>
        </p:nvSpPr>
        <p:spPr>
          <a:xfrm>
            <a:off x="594360" y="5166360"/>
            <a:ext cx="10972800" cy="54864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Rețineți cuvântul „confirmate”: un caz pe care nu l-a văzut nimeni nu poate fi confirmat.</a:t>
            </a:r>
            <a:endParaRPr lang="en-US" sz="1800" dirty="0"/>
          </a:p>
        </p:txBody>
      </p:sp>
      <p:sp>
        <p:nvSpPr>
          <p:cNvPr id="9" name="Text 7"/>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INSP, raportul pentru hepatita A (registru A107).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7D3BE"/>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073B34"/>
                </a:solidFill>
                <a:latin typeface="Palatino Linotype" pitchFamily="34" charset="0"/>
                <a:ea typeface="Palatino Linotype" pitchFamily="34" charset="-122"/>
                <a:cs typeface="Palatino Linotype" pitchFamily="34" charset="-120"/>
              </a:rPr>
              <a:t>ÎNTREBAREA DE AZI</a:t>
            </a:r>
            <a:endParaRPr lang="en-US" sz="1300" dirty="0"/>
          </a:p>
        </p:txBody>
      </p:sp>
      <p:sp>
        <p:nvSpPr>
          <p:cNvPr id="3" name="Text 1"/>
          <p:cNvSpPr/>
          <p:nvPr/>
        </p:nvSpPr>
        <p:spPr>
          <a:xfrm>
            <a:off x="594360" y="1554480"/>
            <a:ext cx="10972800" cy="2651760"/>
          </a:xfrm>
          <a:prstGeom prst="rect">
            <a:avLst/>
          </a:prstGeom>
          <a:noFill/>
          <a:ln/>
        </p:spPr>
        <p:txBody>
          <a:bodyPr wrap="square" lIns="0" tIns="0" rIns="0" bIns="0" rtlCol="0" anchor="ctr"/>
          <a:lstStyle/>
          <a:p>
            <a:pPr indent="0" marL="0">
              <a:buNone/>
            </a:pPr>
            <a:r>
              <a:rPr lang="en-US" sz="4400" b="1" dirty="0">
                <a:solidFill>
                  <a:srgbClr val="073B34"/>
                </a:solidFill>
                <a:latin typeface="Palatino Linotype" pitchFamily="34" charset="0"/>
                <a:ea typeface="Palatino Linotype" pitchFamily="34" charset="-122"/>
                <a:cs typeface="Palatino Linotype" pitchFamily="34" charset="-120"/>
              </a:rPr>
              <a:t>Cine trebuia să fie văzut, și de către cine, ca să intre în cifră?</a:t>
            </a:r>
            <a:endParaRPr lang="en-US" sz="4400" dirty="0"/>
          </a:p>
        </p:txBody>
      </p:sp>
      <p:sp>
        <p:nvSpPr>
          <p:cNvPr id="4" name="Text 2"/>
          <p:cNvSpPr/>
          <p:nvPr/>
        </p:nvSpPr>
        <p:spPr>
          <a:xfrm>
            <a:off x="594360" y="4572000"/>
            <a:ext cx="10972800" cy="822960"/>
          </a:xfrm>
          <a:prstGeom prst="rect">
            <a:avLst/>
          </a:prstGeom>
          <a:noFill/>
          <a:ln/>
        </p:spPr>
        <p:txBody>
          <a:bodyPr wrap="square" lIns="0" tIns="0" rIns="0" bIns="0" rtlCol="0" anchor="t"/>
          <a:lstStyle/>
          <a:p>
            <a:pPr indent="0" marL="0">
              <a:buNone/>
            </a:pPr>
            <a:r>
              <a:rPr lang="en-US" sz="2000" dirty="0">
                <a:solidFill>
                  <a:srgbClr val="073B34"/>
                </a:solidFill>
                <a:latin typeface="Palatino Linotype" pitchFamily="34" charset="0"/>
                <a:ea typeface="Palatino Linotype" pitchFamily="34" charset="-122"/>
                <a:cs typeface="Palatino Linotype" pitchFamily="34" charset="-120"/>
              </a:rPr>
              <a:t>O cifră mică nu este neapărat o minciună, iar o cifră mare nu este neapărat adevărul.</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CAZ CONSTRUIT · SÂMBĂTĂ DIMINEAȚA</a:t>
            </a:r>
            <a:endParaRPr lang="en-US" sz="1300" dirty="0"/>
          </a:p>
        </p:txBody>
      </p:sp>
      <p:sp>
        <p:nvSpPr>
          <p:cNvPr id="3" name="Text 1"/>
          <p:cNvSpPr/>
          <p:nvPr/>
        </p:nvSpPr>
        <p:spPr>
          <a:xfrm>
            <a:off x="594360" y="713232"/>
            <a:ext cx="5486400" cy="7315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Grupul anului</a:t>
            </a:r>
            <a:endParaRPr lang="en-US" sz="3200" dirty="0"/>
          </a:p>
        </p:txBody>
      </p:sp>
      <p:sp>
        <p:nvSpPr>
          <p:cNvPr id="4" name="Shape 2"/>
          <p:cNvSpPr/>
          <p:nvPr/>
        </p:nvSpPr>
        <p:spPr>
          <a:xfrm>
            <a:off x="914400" y="1508760"/>
            <a:ext cx="5120640" cy="4800600"/>
          </a:xfrm>
          <a:prstGeom prst="roundRect">
            <a:avLst>
              <a:gd name="adj" fmla="val 6667"/>
            </a:avLst>
          </a:prstGeom>
          <a:solidFill>
            <a:srgbClr val="0B0C12"/>
          </a:solidFill>
          <a:ln w="19050">
            <a:solidFill>
              <a:srgbClr val="3A3E52"/>
            </a:solidFill>
            <a:prstDash val="solid"/>
          </a:ln>
        </p:spPr>
        <p:txBody>
          <a:bodyPr/>
          <a:p/>
        </p:txBody>
      </p:sp>
      <p:sp>
        <p:nvSpPr>
          <p:cNvPr id="5" name="Shape 3"/>
          <p:cNvSpPr/>
          <p:nvPr/>
        </p:nvSpPr>
        <p:spPr>
          <a:xfrm>
            <a:off x="1051560" y="1645920"/>
            <a:ext cx="4846320" cy="4526280"/>
          </a:xfrm>
          <a:prstGeom prst="roundRect">
            <a:avLst>
              <a:gd name="adj" fmla="val 5051"/>
            </a:avLst>
          </a:prstGeom>
          <a:solidFill>
            <a:srgbClr val="1B1D27"/>
          </a:solidFill>
          <a:ln w="12700">
            <a:solidFill>
              <a:srgbClr val="1B1D27"/>
            </a:solidFill>
            <a:prstDash val="solid"/>
          </a:ln>
        </p:spPr>
        <p:txBody>
          <a:bodyPr/>
          <a:p/>
        </p:txBody>
      </p:sp>
      <p:sp>
        <p:nvSpPr>
          <p:cNvPr id="6" name="Shape 4"/>
          <p:cNvSpPr/>
          <p:nvPr/>
        </p:nvSpPr>
        <p:spPr>
          <a:xfrm>
            <a:off x="1051560" y="1783080"/>
            <a:ext cx="4846320" cy="502920"/>
          </a:xfrm>
          <a:prstGeom prst="rect">
            <a:avLst/>
          </a:prstGeom>
          <a:solidFill>
            <a:srgbClr val="262938"/>
          </a:solidFill>
          <a:ln w="12700">
            <a:solidFill>
              <a:srgbClr val="262938"/>
            </a:solidFill>
            <a:prstDash val="solid"/>
          </a:ln>
        </p:spPr>
        <p:txBody>
          <a:bodyPr/>
          <a:p/>
        </p:txBody>
      </p:sp>
      <p:sp>
        <p:nvSpPr>
          <p:cNvPr id="7" name="Shape 5"/>
          <p:cNvSpPr/>
          <p:nvPr/>
        </p:nvSpPr>
        <p:spPr>
          <a:xfrm>
            <a:off x="1234440" y="1865376"/>
            <a:ext cx="347472" cy="347472"/>
          </a:xfrm>
          <a:prstGeom prst="ellipse">
            <a:avLst/>
          </a:prstGeom>
          <a:solidFill>
            <a:srgbClr val="07564B"/>
          </a:solidFill>
          <a:ln/>
        </p:spPr>
        <p:txBody>
          <a:bodyPr/>
          <a:p/>
        </p:txBody>
      </p:sp>
      <p:sp>
        <p:nvSpPr>
          <p:cNvPr id="8" name="Text 6"/>
          <p:cNvSpPr/>
          <p:nvPr/>
        </p:nvSpPr>
        <p:spPr>
          <a:xfrm>
            <a:off x="1234440" y="1865376"/>
            <a:ext cx="347472"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Palatino Linotype" pitchFamily="34" charset="0"/>
                <a:ea typeface="Palatino Linotype" pitchFamily="34" charset="-122"/>
                <a:cs typeface="Palatino Linotype" pitchFamily="34" charset="-120"/>
              </a:rPr>
              <a:t>AN</a:t>
            </a:r>
            <a:endParaRPr lang="en-US" sz="1000" dirty="0"/>
          </a:p>
        </p:txBody>
      </p:sp>
      <p:sp>
        <p:nvSpPr>
          <p:cNvPr id="9" name="Text 7"/>
          <p:cNvSpPr/>
          <p:nvPr/>
        </p:nvSpPr>
        <p:spPr>
          <a:xfrm>
            <a:off x="1691640" y="1865376"/>
            <a:ext cx="3200400" cy="347472"/>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Grupul anului</a:t>
            </a:r>
            <a:endParaRPr lang="en-US" sz="1300" dirty="0"/>
          </a:p>
        </p:txBody>
      </p:sp>
      <p:sp>
        <p:nvSpPr>
          <p:cNvPr id="10" name="Shape 8"/>
          <p:cNvSpPr/>
          <p:nvPr/>
        </p:nvSpPr>
        <p:spPr>
          <a:xfrm>
            <a:off x="1280160" y="2514600"/>
            <a:ext cx="3154680" cy="731520"/>
          </a:xfrm>
          <a:prstGeom prst="roundRect">
            <a:avLst>
              <a:gd name="adj" fmla="val 18750"/>
            </a:avLst>
          </a:prstGeom>
          <a:solidFill>
            <a:srgbClr val="2E3142"/>
          </a:solidFill>
          <a:ln w="12700">
            <a:solidFill>
              <a:srgbClr val="2E3142"/>
            </a:solidFill>
            <a:prstDash val="solid"/>
          </a:ln>
        </p:spPr>
        <p:txBody>
          <a:bodyPr/>
          <a:p/>
        </p:txBody>
      </p:sp>
      <p:sp>
        <p:nvSpPr>
          <p:cNvPr id="11" name="Text 9"/>
          <p:cNvSpPr/>
          <p:nvPr/>
        </p:nvSpPr>
        <p:spPr>
          <a:xfrm>
            <a:off x="1444752" y="2569464"/>
            <a:ext cx="2880360" cy="237744"/>
          </a:xfrm>
          <a:prstGeom prst="rect">
            <a:avLst/>
          </a:prstGeom>
          <a:noFill/>
          <a:ln/>
        </p:spPr>
        <p:txBody>
          <a:bodyPr wrap="square" lIns="0" tIns="0" rIns="0" bIns="0" rtlCol="0" anchor="t"/>
          <a:lstStyle/>
          <a:p>
            <a:pPr indent="0" marL="0">
              <a:buNone/>
            </a:pPr>
            <a:r>
              <a:rPr lang="en-US" sz="1050" b="1" dirty="0">
                <a:solidFill>
                  <a:srgbClr val="FFC24B"/>
                </a:solidFill>
                <a:latin typeface="Palatino Linotype" pitchFamily="34" charset="0"/>
                <a:ea typeface="Palatino Linotype" pitchFamily="34" charset="-122"/>
                <a:cs typeface="Palatino Linotype" pitchFamily="34" charset="-120"/>
              </a:rPr>
              <a:t>Andrei</a:t>
            </a:r>
            <a:endParaRPr lang="en-US" sz="1050" dirty="0"/>
          </a:p>
        </p:txBody>
      </p:sp>
      <p:sp>
        <p:nvSpPr>
          <p:cNvPr id="12" name="Text 10"/>
          <p:cNvSpPr/>
          <p:nvPr/>
        </p:nvSpPr>
        <p:spPr>
          <a:xfrm>
            <a:off x="1444752" y="2807208"/>
            <a:ext cx="2880360" cy="402336"/>
          </a:xfrm>
          <a:prstGeom prst="rect">
            <a:avLst/>
          </a:prstGeom>
          <a:noFill/>
          <a:ln/>
        </p:spPr>
        <p:txBody>
          <a:bodyPr wrap="square" lIns="0" tIns="0" rIns="0" bIns="0" rtlCol="0" anchor="t"/>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Am stat toată noaptea în baie.</a:t>
            </a:r>
            <a:endParaRPr lang="en-US" sz="1350" dirty="0"/>
          </a:p>
        </p:txBody>
      </p:sp>
      <p:sp>
        <p:nvSpPr>
          <p:cNvPr id="13" name="Shape 11"/>
          <p:cNvSpPr/>
          <p:nvPr/>
        </p:nvSpPr>
        <p:spPr>
          <a:xfrm>
            <a:off x="2514600" y="3383280"/>
            <a:ext cx="3154680" cy="731520"/>
          </a:xfrm>
          <a:prstGeom prst="roundRect">
            <a:avLst>
              <a:gd name="adj" fmla="val 18750"/>
            </a:avLst>
          </a:prstGeom>
          <a:solidFill>
            <a:srgbClr val="0E5E52"/>
          </a:solidFill>
          <a:ln w="12700">
            <a:solidFill>
              <a:srgbClr val="0E5E52"/>
            </a:solidFill>
            <a:prstDash val="solid"/>
          </a:ln>
        </p:spPr>
        <p:txBody>
          <a:bodyPr/>
          <a:p/>
        </p:txBody>
      </p:sp>
      <p:sp>
        <p:nvSpPr>
          <p:cNvPr id="14" name="Text 12"/>
          <p:cNvSpPr/>
          <p:nvPr/>
        </p:nvSpPr>
        <p:spPr>
          <a:xfrm>
            <a:off x="2679192" y="3438144"/>
            <a:ext cx="2880360" cy="237744"/>
          </a:xfrm>
          <a:prstGeom prst="rect">
            <a:avLst/>
          </a:prstGeom>
          <a:noFill/>
          <a:ln/>
        </p:spPr>
        <p:txBody>
          <a:bodyPr wrap="square" lIns="0" tIns="0" rIns="0" bIns="0" rtlCol="0" anchor="t"/>
          <a:lstStyle/>
          <a:p>
            <a:pPr indent="0" marL="0">
              <a:buNone/>
            </a:pPr>
            <a:r>
              <a:rPr lang="en-US" sz="1050" b="1" dirty="0">
                <a:solidFill>
                  <a:srgbClr val="BFEFE8"/>
                </a:solidFill>
                <a:latin typeface="Palatino Linotype" pitchFamily="34" charset="0"/>
                <a:ea typeface="Palatino Linotype" pitchFamily="34" charset="-122"/>
                <a:cs typeface="Palatino Linotype" pitchFamily="34" charset="-120"/>
              </a:rPr>
              <a:t>Ioana</a:t>
            </a:r>
            <a:endParaRPr lang="en-US" sz="1050" dirty="0"/>
          </a:p>
        </p:txBody>
      </p:sp>
      <p:sp>
        <p:nvSpPr>
          <p:cNvPr id="15" name="Text 13"/>
          <p:cNvSpPr/>
          <p:nvPr/>
        </p:nvSpPr>
        <p:spPr>
          <a:xfrm>
            <a:off x="2679192" y="3675888"/>
            <a:ext cx="2880360" cy="402336"/>
          </a:xfrm>
          <a:prstGeom prst="rect">
            <a:avLst/>
          </a:prstGeom>
          <a:noFill/>
          <a:ln/>
        </p:spPr>
        <p:txBody>
          <a:bodyPr wrap="square" lIns="0" tIns="0" rIns="0" bIns="0" rtlCol="0" anchor="t"/>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Am febră și crampe.</a:t>
            </a:r>
            <a:endParaRPr lang="en-US" sz="1350" dirty="0"/>
          </a:p>
        </p:txBody>
      </p:sp>
      <p:sp>
        <p:nvSpPr>
          <p:cNvPr id="16" name="Shape 14"/>
          <p:cNvSpPr/>
          <p:nvPr/>
        </p:nvSpPr>
        <p:spPr>
          <a:xfrm>
            <a:off x="1280160" y="4251960"/>
            <a:ext cx="3154680" cy="731520"/>
          </a:xfrm>
          <a:prstGeom prst="roundRect">
            <a:avLst>
              <a:gd name="adj" fmla="val 18750"/>
            </a:avLst>
          </a:prstGeom>
          <a:solidFill>
            <a:srgbClr val="2E3142"/>
          </a:solidFill>
          <a:ln w="12700">
            <a:solidFill>
              <a:srgbClr val="2E3142"/>
            </a:solidFill>
            <a:prstDash val="solid"/>
          </a:ln>
        </p:spPr>
        <p:txBody>
          <a:bodyPr/>
          <a:p/>
        </p:txBody>
      </p:sp>
      <p:sp>
        <p:nvSpPr>
          <p:cNvPr id="17" name="Text 15"/>
          <p:cNvSpPr/>
          <p:nvPr/>
        </p:nvSpPr>
        <p:spPr>
          <a:xfrm>
            <a:off x="1444752" y="4306824"/>
            <a:ext cx="2880360" cy="237744"/>
          </a:xfrm>
          <a:prstGeom prst="rect">
            <a:avLst/>
          </a:prstGeom>
          <a:noFill/>
          <a:ln/>
        </p:spPr>
        <p:txBody>
          <a:bodyPr wrap="square" lIns="0" tIns="0" rIns="0" bIns="0" rtlCol="0" anchor="t"/>
          <a:lstStyle/>
          <a:p>
            <a:pPr indent="0" marL="0">
              <a:buNone/>
            </a:pPr>
            <a:r>
              <a:rPr lang="en-US" sz="1050" b="1" dirty="0">
                <a:solidFill>
                  <a:srgbClr val="FFC24B"/>
                </a:solidFill>
                <a:latin typeface="Palatino Linotype" pitchFamily="34" charset="0"/>
                <a:ea typeface="Palatino Linotype" pitchFamily="34" charset="-122"/>
                <a:cs typeface="Palatino Linotype" pitchFamily="34" charset="-120"/>
              </a:rPr>
              <a:t>Radu</a:t>
            </a:r>
            <a:endParaRPr lang="en-US" sz="1050" dirty="0"/>
          </a:p>
        </p:txBody>
      </p:sp>
      <p:sp>
        <p:nvSpPr>
          <p:cNvPr id="18" name="Text 16"/>
          <p:cNvSpPr/>
          <p:nvPr/>
        </p:nvSpPr>
        <p:spPr>
          <a:xfrm>
            <a:off x="1444752" y="4544568"/>
            <a:ext cx="2880360" cy="402336"/>
          </a:xfrm>
          <a:prstGeom prst="rect">
            <a:avLst/>
          </a:prstGeom>
          <a:noFill/>
          <a:ln/>
        </p:spPr>
        <p:txBody>
          <a:bodyPr wrap="square" lIns="0" tIns="0" rIns="0" bIns="0" rtlCol="0" anchor="t"/>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Eu am doar stomacul deranjat, trece.</a:t>
            </a:r>
            <a:endParaRPr lang="en-US" sz="1350" dirty="0"/>
          </a:p>
        </p:txBody>
      </p:sp>
      <p:sp>
        <p:nvSpPr>
          <p:cNvPr id="19" name="Shape 17"/>
          <p:cNvSpPr/>
          <p:nvPr/>
        </p:nvSpPr>
        <p:spPr>
          <a:xfrm>
            <a:off x="2514600" y="5120640"/>
            <a:ext cx="3154680" cy="731520"/>
          </a:xfrm>
          <a:prstGeom prst="roundRect">
            <a:avLst>
              <a:gd name="adj" fmla="val 18750"/>
            </a:avLst>
          </a:prstGeom>
          <a:solidFill>
            <a:srgbClr val="0E5E52"/>
          </a:solidFill>
          <a:ln w="12700">
            <a:solidFill>
              <a:srgbClr val="0E5E52"/>
            </a:solidFill>
            <a:prstDash val="solid"/>
          </a:ln>
        </p:spPr>
        <p:txBody>
          <a:bodyPr/>
          <a:p/>
        </p:txBody>
      </p:sp>
      <p:sp>
        <p:nvSpPr>
          <p:cNvPr id="20" name="Text 18"/>
          <p:cNvSpPr/>
          <p:nvPr/>
        </p:nvSpPr>
        <p:spPr>
          <a:xfrm>
            <a:off x="2679192" y="5175504"/>
            <a:ext cx="2880360" cy="237744"/>
          </a:xfrm>
          <a:prstGeom prst="rect">
            <a:avLst/>
          </a:prstGeom>
          <a:noFill/>
          <a:ln/>
        </p:spPr>
        <p:txBody>
          <a:bodyPr wrap="square" lIns="0" tIns="0" rIns="0" bIns="0" rtlCol="0" anchor="t"/>
          <a:lstStyle/>
          <a:p>
            <a:pPr indent="0" marL="0">
              <a:buNone/>
            </a:pPr>
            <a:r>
              <a:rPr lang="en-US" sz="1050" b="1" dirty="0">
                <a:solidFill>
                  <a:srgbClr val="BFEFE8"/>
                </a:solidFill>
                <a:latin typeface="Palatino Linotype" pitchFamily="34" charset="0"/>
                <a:ea typeface="Palatino Linotype" pitchFamily="34" charset="-122"/>
                <a:cs typeface="Palatino Linotype" pitchFamily="34" charset="-120"/>
              </a:rPr>
              <a:t>Maria</a:t>
            </a:r>
            <a:endParaRPr lang="en-US" sz="1050" dirty="0"/>
          </a:p>
        </p:txBody>
      </p:sp>
      <p:sp>
        <p:nvSpPr>
          <p:cNvPr id="21" name="Text 19"/>
          <p:cNvSpPr/>
          <p:nvPr/>
        </p:nvSpPr>
        <p:spPr>
          <a:xfrm>
            <a:off x="2679192" y="5413248"/>
            <a:ext cx="2880360" cy="402336"/>
          </a:xfrm>
          <a:prstGeom prst="rect">
            <a:avLst/>
          </a:prstGeom>
          <a:noFill/>
          <a:ln/>
        </p:spPr>
        <p:txBody>
          <a:bodyPr wrap="square" lIns="0" tIns="0" rIns="0" bIns="0" rtlCol="0" anchor="t"/>
          <a:lstStyle/>
          <a:p>
            <a:pPr indent="0" marL="0">
              <a:buNone/>
            </a:pPr>
            <a:r>
              <a:rPr lang="en-US" sz="1350" dirty="0">
                <a:solidFill>
                  <a:srgbClr val="FFFFFF"/>
                </a:solidFill>
                <a:latin typeface="Palatino Linotype" pitchFamily="34" charset="0"/>
                <a:ea typeface="Palatino Linotype" pitchFamily="34" charset="-122"/>
                <a:cs typeface="Palatino Linotype" pitchFamily="34" charset="-120"/>
              </a:rPr>
              <a:t>Am sunat la medicul de familie.</a:t>
            </a:r>
            <a:endParaRPr lang="en-US" sz="1350" dirty="0"/>
          </a:p>
        </p:txBody>
      </p:sp>
      <p:sp>
        <p:nvSpPr>
          <p:cNvPr id="22" name="Text 20"/>
          <p:cNvSpPr/>
          <p:nvPr/>
        </p:nvSpPr>
        <p:spPr>
          <a:xfrm>
            <a:off x="6492240" y="1600200"/>
            <a:ext cx="5120640" cy="109728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Vineri seara, după ultimul curs, un grup mare de colegi ia cina la aceeași shaormerie.</a:t>
            </a:r>
            <a:endParaRPr lang="en-US" sz="1900" dirty="0"/>
          </a:p>
        </p:txBody>
      </p:sp>
      <p:sp>
        <p:nvSpPr>
          <p:cNvPr id="23" name="Shape 21"/>
          <p:cNvSpPr/>
          <p:nvPr/>
        </p:nvSpPr>
        <p:spPr>
          <a:xfrm>
            <a:off x="6492240" y="2834640"/>
            <a:ext cx="5120640" cy="777240"/>
          </a:xfrm>
          <a:prstGeom prst="roundRect">
            <a:avLst>
              <a:gd name="adj" fmla="val 10588"/>
            </a:avLst>
          </a:prstGeom>
          <a:solidFill>
            <a:srgbClr val="1D1F2B"/>
          </a:solidFill>
          <a:ln w="12700">
            <a:solidFill>
              <a:srgbClr val="1D1F2B"/>
            </a:solidFill>
            <a:prstDash val="solid"/>
          </a:ln>
        </p:spPr>
        <p:txBody>
          <a:bodyPr/>
          <a:p/>
        </p:txBody>
      </p:sp>
      <p:sp>
        <p:nvSpPr>
          <p:cNvPr id="24" name="Shape 22"/>
          <p:cNvSpPr/>
          <p:nvPr/>
        </p:nvSpPr>
        <p:spPr>
          <a:xfrm>
            <a:off x="6812280" y="3012948"/>
            <a:ext cx="420624" cy="420624"/>
          </a:xfrm>
          <a:prstGeom prst="ellipse">
            <a:avLst/>
          </a:prstGeom>
          <a:solidFill>
            <a:srgbClr val="FFC24B"/>
          </a:solidFill>
          <a:ln/>
        </p:spPr>
        <p:txBody>
          <a:bodyPr/>
          <a:p/>
        </p:txBody>
      </p:sp>
      <p:sp>
        <p:nvSpPr>
          <p:cNvPr id="25" name="Text 23"/>
          <p:cNvSpPr/>
          <p:nvPr/>
        </p:nvSpPr>
        <p:spPr>
          <a:xfrm>
            <a:off x="6812280" y="30129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26" name="Text 24"/>
          <p:cNvSpPr/>
          <p:nvPr/>
        </p:nvSpPr>
        <p:spPr>
          <a:xfrm>
            <a:off x="7498080" y="2834640"/>
            <a:ext cx="3840480" cy="77724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Cei mai mulți rămân în pat, beau apă și așteaptă.</a:t>
            </a:r>
            <a:endParaRPr lang="en-US" sz="1600" dirty="0"/>
          </a:p>
        </p:txBody>
      </p:sp>
      <p:sp>
        <p:nvSpPr>
          <p:cNvPr id="27" name="Shape 25"/>
          <p:cNvSpPr/>
          <p:nvPr/>
        </p:nvSpPr>
        <p:spPr>
          <a:xfrm>
            <a:off x="6492240" y="3749040"/>
            <a:ext cx="5120640" cy="777240"/>
          </a:xfrm>
          <a:prstGeom prst="roundRect">
            <a:avLst>
              <a:gd name="adj" fmla="val 10588"/>
            </a:avLst>
          </a:prstGeom>
          <a:solidFill>
            <a:srgbClr val="1D1F2B"/>
          </a:solidFill>
          <a:ln w="12700">
            <a:solidFill>
              <a:srgbClr val="1D1F2B"/>
            </a:solidFill>
            <a:prstDash val="solid"/>
          </a:ln>
        </p:spPr>
        <p:txBody>
          <a:bodyPr/>
          <a:p/>
        </p:txBody>
      </p:sp>
      <p:sp>
        <p:nvSpPr>
          <p:cNvPr id="28" name="Shape 26"/>
          <p:cNvSpPr/>
          <p:nvPr/>
        </p:nvSpPr>
        <p:spPr>
          <a:xfrm>
            <a:off x="6812280" y="3927348"/>
            <a:ext cx="420624" cy="420624"/>
          </a:xfrm>
          <a:prstGeom prst="ellipse">
            <a:avLst/>
          </a:prstGeom>
          <a:solidFill>
            <a:srgbClr val="FFC24B"/>
          </a:solidFill>
          <a:ln/>
        </p:spPr>
        <p:txBody>
          <a:bodyPr/>
          <a:p/>
        </p:txBody>
      </p:sp>
      <p:sp>
        <p:nvSpPr>
          <p:cNvPr id="29" name="Text 27"/>
          <p:cNvSpPr/>
          <p:nvPr/>
        </p:nvSpPr>
        <p:spPr>
          <a:xfrm>
            <a:off x="6812280" y="39273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30" name="Text 28"/>
          <p:cNvSpPr/>
          <p:nvPr/>
        </p:nvSpPr>
        <p:spPr>
          <a:xfrm>
            <a:off x="7498080" y="3749040"/>
            <a:ext cx="3840480" cy="77724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Câțiva sună la medicul de familie.</a:t>
            </a:r>
            <a:endParaRPr lang="en-US" sz="1600" dirty="0"/>
          </a:p>
        </p:txBody>
      </p:sp>
      <p:sp>
        <p:nvSpPr>
          <p:cNvPr id="31" name="Shape 29"/>
          <p:cNvSpPr/>
          <p:nvPr/>
        </p:nvSpPr>
        <p:spPr>
          <a:xfrm>
            <a:off x="6492240" y="4663440"/>
            <a:ext cx="5120640" cy="777240"/>
          </a:xfrm>
          <a:prstGeom prst="roundRect">
            <a:avLst>
              <a:gd name="adj" fmla="val 10588"/>
            </a:avLst>
          </a:prstGeom>
          <a:solidFill>
            <a:srgbClr val="1D1F2B"/>
          </a:solidFill>
          <a:ln w="12700">
            <a:solidFill>
              <a:srgbClr val="1D1F2B"/>
            </a:solidFill>
            <a:prstDash val="solid"/>
          </a:ln>
        </p:spPr>
        <p:txBody>
          <a:bodyPr/>
          <a:p/>
        </p:txBody>
      </p:sp>
      <p:sp>
        <p:nvSpPr>
          <p:cNvPr id="32" name="Shape 30"/>
          <p:cNvSpPr/>
          <p:nvPr/>
        </p:nvSpPr>
        <p:spPr>
          <a:xfrm>
            <a:off x="6812280" y="4841748"/>
            <a:ext cx="420624" cy="420624"/>
          </a:xfrm>
          <a:prstGeom prst="ellipse">
            <a:avLst/>
          </a:prstGeom>
          <a:solidFill>
            <a:srgbClr val="FFC24B"/>
          </a:solidFill>
          <a:ln/>
        </p:spPr>
        <p:txBody>
          <a:bodyPr/>
          <a:p/>
        </p:txBody>
      </p:sp>
      <p:sp>
        <p:nvSpPr>
          <p:cNvPr id="33" name="Text 31"/>
          <p:cNvSpPr/>
          <p:nvPr/>
        </p:nvSpPr>
        <p:spPr>
          <a:xfrm>
            <a:off x="6812280" y="48417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34" name="Text 32"/>
          <p:cNvSpPr/>
          <p:nvPr/>
        </p:nvSpPr>
        <p:spPr>
          <a:xfrm>
            <a:off x="7498080" y="4663440"/>
            <a:ext cx="3840480" cy="77724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Unul ajunge la camera de gardă.</a:t>
            </a:r>
            <a:endParaRPr lang="en-US" sz="1600" dirty="0"/>
          </a:p>
        </p:txBody>
      </p:sp>
      <p:sp>
        <p:nvSpPr>
          <p:cNvPr id="35" name="Text 33"/>
          <p:cNvSpPr/>
          <p:nvPr/>
        </p:nvSpPr>
        <p:spPr>
          <a:xfrm>
            <a:off x="6492240" y="5715000"/>
            <a:ext cx="5120640" cy="365760"/>
          </a:xfrm>
          <a:prstGeom prst="rect">
            <a:avLst/>
          </a:prstGeom>
          <a:noFill/>
          <a:ln/>
        </p:spPr>
        <p:txBody>
          <a:bodyPr wrap="square" lIns="0" tIns="0" rIns="0" bIns="0" rtlCol="0" anchor="t"/>
          <a:lstStyle/>
          <a:p>
            <a:pPr indent="0" marL="0">
              <a:buNone/>
            </a:pPr>
            <a:r>
              <a:rPr lang="en-US" sz="1300" i="1" dirty="0">
                <a:solidFill>
                  <a:srgbClr val="959BB0"/>
                </a:solidFill>
                <a:latin typeface="Palatino Linotype" pitchFamily="34" charset="0"/>
                <a:ea typeface="Palatino Linotype" pitchFamily="34" charset="-122"/>
                <a:cs typeface="Palatino Linotype" pitchFamily="34" charset="-120"/>
              </a:rPr>
              <a:t>Localul, oamenii și cifrele sunt inventate.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VOTUL ÎNTÂI</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Câți vor apărea în statistica oficială?</a:t>
            </a:r>
            <a:endParaRPr lang="en-US" sz="3200" dirty="0"/>
          </a:p>
        </p:txBody>
      </p:sp>
      <p:sp>
        <p:nvSpPr>
          <p:cNvPr id="6" name="Shape 4"/>
          <p:cNvSpPr/>
          <p:nvPr/>
        </p:nvSpPr>
        <p:spPr>
          <a:xfrm>
            <a:off x="594360" y="17830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47672"/>
            <a:ext cx="420624" cy="420624"/>
          </a:xfrm>
          <a:prstGeom prst="ellipse">
            <a:avLst/>
          </a:prstGeom>
          <a:solidFill>
            <a:srgbClr val="FFC24B"/>
          </a:solidFill>
          <a:ln/>
        </p:spPr>
        <p:txBody>
          <a:bodyPr/>
          <a:p/>
        </p:txBody>
      </p:sp>
      <p:sp>
        <p:nvSpPr>
          <p:cNvPr id="8" name="Text 6"/>
          <p:cNvSpPr/>
          <p:nvPr/>
        </p:nvSpPr>
        <p:spPr>
          <a:xfrm>
            <a:off x="914400" y="1947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Aproape toți</a:t>
            </a:r>
            <a:endParaRPr lang="en-US" sz="1800" dirty="0"/>
          </a:p>
        </p:txBody>
      </p:sp>
      <p:sp>
        <p:nvSpPr>
          <p:cNvPr id="10" name="Shape 8"/>
          <p:cNvSpPr/>
          <p:nvPr/>
        </p:nvSpPr>
        <p:spPr>
          <a:xfrm>
            <a:off x="594360" y="2679192"/>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43784"/>
            <a:ext cx="420624" cy="420624"/>
          </a:xfrm>
          <a:prstGeom prst="ellipse">
            <a:avLst/>
          </a:prstGeom>
          <a:solidFill>
            <a:srgbClr val="FFC24B"/>
          </a:solidFill>
          <a:ln/>
        </p:spPr>
        <p:txBody>
          <a:bodyPr/>
          <a:p/>
        </p:txBody>
      </p:sp>
      <p:sp>
        <p:nvSpPr>
          <p:cNvPr id="12" name="Text 10"/>
          <p:cNvSpPr/>
          <p:nvPr/>
        </p:nvSpPr>
        <p:spPr>
          <a:xfrm>
            <a:off x="914400" y="28437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79192"/>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Cam jumătate</a:t>
            </a:r>
            <a:endParaRPr lang="en-US" sz="1800" dirty="0"/>
          </a:p>
        </p:txBody>
      </p:sp>
      <p:sp>
        <p:nvSpPr>
          <p:cNvPr id="14" name="Shape 12"/>
          <p:cNvSpPr/>
          <p:nvPr/>
        </p:nvSpPr>
        <p:spPr>
          <a:xfrm>
            <a:off x="594360" y="3575304"/>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39896"/>
            <a:ext cx="420624" cy="420624"/>
          </a:xfrm>
          <a:prstGeom prst="ellipse">
            <a:avLst/>
          </a:prstGeom>
          <a:solidFill>
            <a:srgbClr val="FFC24B"/>
          </a:solidFill>
          <a:ln/>
        </p:spPr>
        <p:txBody>
          <a:bodyPr/>
          <a:p/>
        </p:txBody>
      </p:sp>
      <p:sp>
        <p:nvSpPr>
          <p:cNvPr id="16" name="Text 14"/>
          <p:cNvSpPr/>
          <p:nvPr/>
        </p:nvSpPr>
        <p:spPr>
          <a:xfrm>
            <a:off x="914400" y="37398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75304"/>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Cam unul din patru</a:t>
            </a:r>
            <a:endParaRPr lang="en-US" sz="1800" dirty="0"/>
          </a:p>
        </p:txBody>
      </p:sp>
      <p:sp>
        <p:nvSpPr>
          <p:cNvPr id="18" name="Shape 16"/>
          <p:cNvSpPr/>
          <p:nvPr/>
        </p:nvSpPr>
        <p:spPr>
          <a:xfrm>
            <a:off x="594360" y="4471416"/>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36008"/>
            <a:ext cx="420624" cy="420624"/>
          </a:xfrm>
          <a:prstGeom prst="ellipse">
            <a:avLst/>
          </a:prstGeom>
          <a:solidFill>
            <a:srgbClr val="FFC24B"/>
          </a:solidFill>
          <a:ln/>
        </p:spPr>
        <p:txBody>
          <a:bodyPr/>
          <a:p/>
        </p:txBody>
      </p:sp>
      <p:sp>
        <p:nvSpPr>
          <p:cNvPr id="20" name="Text 18"/>
          <p:cNvSpPr/>
          <p:nvPr/>
        </p:nvSpPr>
        <p:spPr>
          <a:xfrm>
            <a:off x="914400" y="46360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471416"/>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Foarte puțini</a:t>
            </a:r>
            <a:endParaRPr lang="en-US" sz="1800" dirty="0"/>
          </a:p>
        </p:txBody>
      </p:sp>
      <p:sp>
        <p:nvSpPr>
          <p:cNvPr id="22" name="Shape 20"/>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4" name="Text 22"/>
          <p:cNvSpPr/>
          <p:nvPr/>
        </p:nvSpPr>
        <p:spPr>
          <a:xfrm>
            <a:off x="594360" y="553212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Revenim la acest vot la sfârșitul poveștii.</a:t>
            </a:r>
            <a:endParaRPr lang="en-US" sz="1500" dirty="0"/>
          </a:p>
        </p:txBody>
      </p:sp>
      <p:pic>
        <p:nvPicPr>
          <p:cNvPr id="25" name="Picture 24" descr="Mentimeter_OPT_DETECTIVI_C03.png"/>
          <p:cNvPicPr>
            <a:picLocks noChangeAspect="1"/>
          </p:cNvPicPr>
          <p:nvPr/>
        </p:nvPicPr>
        <p:blipFill>
          <a:blip r:embed="rId3"/>
          <a:stretch>
            <a:fillRect/>
          </a:stretch>
        </p:blipFill>
        <p:spPr>
          <a:xfrm>
            <a:off x="8817610" y="1783080"/>
            <a:ext cx="2435860" cy="2435860"/>
          </a:xfrm>
          <a:prstGeom prst="rect">
            <a:avLst/>
          </a:prstGeom>
        </p:spPr>
      </p:pic>
      <p:sp>
        <p:nvSpPr>
          <p:cNvPr id="26" name="TextBox 25"/>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9B7EF7"/>
          </a:solidFill>
          <a:ln w="12700">
            <a:solidFill>
              <a:srgbClr val="9B7EF7"/>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 · 2 VOLUNTARI</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SÂMBĂTĂ DIMINEAȚA, LA TELEFON</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Telefonul la medicul de familie</a:t>
            </a:r>
            <a:endParaRPr lang="en-US" sz="3200" dirty="0"/>
          </a:p>
        </p:txBody>
      </p:sp>
      <p:sp>
        <p:nvSpPr>
          <p:cNvPr id="6" name="Shape 4"/>
          <p:cNvSpPr/>
          <p:nvPr/>
        </p:nvSpPr>
        <p:spPr>
          <a:xfrm>
            <a:off x="594360" y="1554480"/>
            <a:ext cx="5349240" cy="2468880"/>
          </a:xfrm>
          <a:prstGeom prst="roundRect">
            <a:avLst>
              <a:gd name="adj" fmla="val 3333"/>
            </a:avLst>
          </a:prstGeom>
          <a:solidFill>
            <a:srgbClr val="1D1F2B"/>
          </a:solidFill>
          <a:ln w="12700">
            <a:solidFill>
              <a:srgbClr val="1D1F2B"/>
            </a:solidFill>
            <a:prstDash val="solid"/>
          </a:ln>
        </p:spPr>
        <p:txBody>
          <a:bodyPr/>
          <a:p/>
        </p:txBody>
      </p:sp>
      <p:sp>
        <p:nvSpPr>
          <p:cNvPr id="7" name="Shape 5"/>
          <p:cNvSpPr/>
          <p:nvPr/>
        </p:nvSpPr>
        <p:spPr>
          <a:xfrm>
            <a:off x="6217920" y="1554480"/>
            <a:ext cx="5349240" cy="2468880"/>
          </a:xfrm>
          <a:prstGeom prst="roundRect">
            <a:avLst>
              <a:gd name="adj" fmla="val 3333"/>
            </a:avLst>
          </a:prstGeom>
          <a:solidFill>
            <a:srgbClr val="07564B"/>
          </a:solidFill>
          <a:ln w="12700">
            <a:solidFill>
              <a:srgbClr val="07564B"/>
            </a:solidFill>
            <a:prstDash val="solid"/>
          </a:ln>
        </p:spPr>
        <p:txBody>
          <a:bodyPr/>
          <a:p/>
        </p:txBody>
      </p:sp>
      <p:sp>
        <p:nvSpPr>
          <p:cNvPr id="8" name="Text 6"/>
          <p:cNvSpPr/>
          <p:nvPr/>
        </p:nvSpPr>
        <p:spPr>
          <a:xfrm>
            <a:off x="868680" y="1737360"/>
            <a:ext cx="4846320" cy="365760"/>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STUDENTUL BOLNAV</a:t>
            </a:r>
            <a:endParaRPr lang="en-US" sz="1300" dirty="0"/>
          </a:p>
        </p:txBody>
      </p:sp>
      <p:sp>
        <p:nvSpPr>
          <p:cNvPr id="9" name="Text 7"/>
          <p:cNvSpPr/>
          <p:nvPr/>
        </p:nvSpPr>
        <p:spPr>
          <a:xfrm>
            <a:off x="868680" y="2194560"/>
            <a:ext cx="4846320" cy="1645920"/>
          </a:xfrm>
          <a:prstGeom prst="rect">
            <a:avLst/>
          </a:prstGeom>
          <a:noFill/>
          <a:ln/>
        </p:spPr>
        <p:txBody>
          <a:bodyPr wrap="square" lIns="0" tIns="0" rIns="0" bIns="0" rtlCol="0" anchor="t"/>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Vrea un sfat și, eventual, o scutire.</a:t>
            </a:r>
            <a:endParaRPr lang="en-US" sz="2100" dirty="0"/>
          </a:p>
        </p:txBody>
      </p:sp>
      <p:sp>
        <p:nvSpPr>
          <p:cNvPr id="10" name="Text 8"/>
          <p:cNvSpPr/>
          <p:nvPr/>
        </p:nvSpPr>
        <p:spPr>
          <a:xfrm>
            <a:off x="6492240" y="1737360"/>
            <a:ext cx="4846320" cy="365760"/>
          </a:xfrm>
          <a:prstGeom prst="rect">
            <a:avLst/>
          </a:prstGeom>
          <a:noFill/>
          <a:ln/>
        </p:spPr>
        <p:txBody>
          <a:bodyPr wrap="square" lIns="0" tIns="0" rIns="0" bIns="0" rtlCol="0" anchor="t"/>
          <a:lstStyle/>
          <a:p>
            <a:pPr indent="0" marL="0">
              <a:buNone/>
            </a:pPr>
            <a:r>
              <a:rPr lang="en-US" sz="1300" b="1" spc="200" kern="0" dirty="0">
                <a:solidFill>
                  <a:srgbClr val="BFEFE8"/>
                </a:solidFill>
                <a:latin typeface="Palatino Linotype" pitchFamily="34" charset="0"/>
                <a:ea typeface="Palatino Linotype" pitchFamily="34" charset="-122"/>
                <a:cs typeface="Palatino Linotype" pitchFamily="34" charset="-120"/>
              </a:rPr>
              <a:t>MEDICUL DE FAMILIE</a:t>
            </a:r>
            <a:endParaRPr lang="en-US" sz="1300" dirty="0"/>
          </a:p>
        </p:txBody>
      </p:sp>
      <p:sp>
        <p:nvSpPr>
          <p:cNvPr id="11" name="Text 9"/>
          <p:cNvSpPr/>
          <p:nvPr/>
        </p:nvSpPr>
        <p:spPr>
          <a:xfrm>
            <a:off x="6492240" y="2194560"/>
            <a:ext cx="4846320" cy="1645920"/>
          </a:xfrm>
          <a:prstGeom prst="rect">
            <a:avLst/>
          </a:prstGeom>
          <a:noFill/>
          <a:ln/>
        </p:spPr>
        <p:txBody>
          <a:bodyPr wrap="square" lIns="0" tIns="0" rIns="0" bIns="0" rtlCol="0" anchor="t"/>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Hotărăște dacă îi spune să vină la cabinet și să aducă o probă de scaun.</a:t>
            </a:r>
            <a:endParaRPr lang="en-US" sz="2100" dirty="0"/>
          </a:p>
        </p:txBody>
      </p:sp>
      <p:sp>
        <p:nvSpPr>
          <p:cNvPr id="12" name="Text 10"/>
          <p:cNvSpPr/>
          <p:nvPr/>
        </p:nvSpPr>
        <p:spPr>
          <a:xfrm>
            <a:off x="594360" y="4434840"/>
            <a:ext cx="10972800" cy="64008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Trei minute, la microfon. Apoi votați: ați fi cerut proba?</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VOTUL AL DOILEA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Ați fi cerut proba de scaun?</a:t>
            </a:r>
            <a:endParaRPr lang="en-US" sz="3400" dirty="0"/>
          </a:p>
        </p:txBody>
      </p:sp>
      <p:sp>
        <p:nvSpPr>
          <p:cNvPr id="6" name="Shape 4"/>
          <p:cNvSpPr/>
          <p:nvPr/>
        </p:nvSpPr>
        <p:spPr>
          <a:xfrm>
            <a:off x="594360" y="178308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7" name="Shape 5"/>
          <p:cNvSpPr/>
          <p:nvPr/>
        </p:nvSpPr>
        <p:spPr>
          <a:xfrm>
            <a:off x="914400" y="1984248"/>
            <a:ext cx="420624" cy="420624"/>
          </a:xfrm>
          <a:prstGeom prst="ellipse">
            <a:avLst/>
          </a:prstGeom>
          <a:solidFill>
            <a:srgbClr val="FFC24B"/>
          </a:solidFill>
          <a:ln/>
        </p:spPr>
        <p:txBody>
          <a:bodyPr/>
          <a:p/>
        </p:txBody>
      </p:sp>
      <p:sp>
        <p:nvSpPr>
          <p:cNvPr id="8" name="Text 6"/>
          <p:cNvSpPr/>
          <p:nvPr/>
        </p:nvSpPr>
        <p:spPr>
          <a:xfrm>
            <a:off x="914400" y="19842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82296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Da</a:t>
            </a:r>
            <a:endParaRPr lang="en-US" sz="2000" dirty="0"/>
          </a:p>
        </p:txBody>
      </p:sp>
      <p:sp>
        <p:nvSpPr>
          <p:cNvPr id="10" name="Shape 8"/>
          <p:cNvSpPr/>
          <p:nvPr/>
        </p:nvSpPr>
        <p:spPr>
          <a:xfrm>
            <a:off x="594360" y="278892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11" name="Shape 9"/>
          <p:cNvSpPr/>
          <p:nvPr/>
        </p:nvSpPr>
        <p:spPr>
          <a:xfrm>
            <a:off x="914400" y="2990088"/>
            <a:ext cx="420624" cy="420624"/>
          </a:xfrm>
          <a:prstGeom prst="ellipse">
            <a:avLst/>
          </a:prstGeom>
          <a:solidFill>
            <a:srgbClr val="FFC24B"/>
          </a:solidFill>
          <a:ln/>
        </p:spPr>
        <p:txBody>
          <a:bodyPr/>
          <a:p/>
        </p:txBody>
      </p:sp>
      <p:sp>
        <p:nvSpPr>
          <p:cNvPr id="12" name="Text 10"/>
          <p:cNvSpPr/>
          <p:nvPr/>
        </p:nvSpPr>
        <p:spPr>
          <a:xfrm>
            <a:off x="914400" y="2990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788920"/>
            <a:ext cx="6355080" cy="82296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Nu</a:t>
            </a:r>
            <a:endParaRPr lang="en-US" sz="2000" dirty="0"/>
          </a:p>
        </p:txBody>
      </p:sp>
      <p:sp>
        <p:nvSpPr>
          <p:cNvPr id="14" name="Shape 12"/>
          <p:cNvSpPr/>
          <p:nvPr/>
        </p:nvSpPr>
        <p:spPr>
          <a:xfrm>
            <a:off x="594360" y="379476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15" name="Shape 13"/>
          <p:cNvSpPr/>
          <p:nvPr/>
        </p:nvSpPr>
        <p:spPr>
          <a:xfrm>
            <a:off x="914400" y="3995928"/>
            <a:ext cx="420624" cy="420624"/>
          </a:xfrm>
          <a:prstGeom prst="ellipse">
            <a:avLst/>
          </a:prstGeom>
          <a:solidFill>
            <a:srgbClr val="FFC24B"/>
          </a:solidFill>
          <a:ln/>
        </p:spPr>
        <p:txBody>
          <a:bodyPr/>
          <a:p/>
        </p:txBody>
      </p:sp>
      <p:sp>
        <p:nvSpPr>
          <p:cNvPr id="16" name="Text 14"/>
          <p:cNvSpPr/>
          <p:nvPr/>
        </p:nvSpPr>
        <p:spPr>
          <a:xfrm>
            <a:off x="914400" y="3995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794760"/>
            <a:ext cx="6355080" cy="82296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Depinde de simptome</a:t>
            </a:r>
            <a:endParaRPr lang="en-US" sz="2000" dirty="0"/>
          </a:p>
        </p:txBody>
      </p:sp>
      <p:sp>
        <p:nvSpPr>
          <p:cNvPr id="18" name="Shape 16"/>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0" name="Text 18"/>
          <p:cNvSpPr/>
          <p:nvPr/>
        </p:nvSpPr>
        <p:spPr>
          <a:xfrm>
            <a:off x="594360" y="553212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Ambele decizii pot fi corecte. Le discutăm pe diapozitivul următor.</a:t>
            </a:r>
            <a:endParaRPr lang="en-US" sz="1500" dirty="0"/>
          </a:p>
        </p:txBody>
      </p:sp>
      <p:pic>
        <p:nvPicPr>
          <p:cNvPr id="21" name="Picture 20" descr="Mentimeter_OPT_DETECTIVI_C03.png"/>
          <p:cNvPicPr>
            <a:picLocks noChangeAspect="1"/>
          </p:cNvPicPr>
          <p:nvPr/>
        </p:nvPicPr>
        <p:blipFill>
          <a:blip r:embed="rId3"/>
          <a:stretch>
            <a:fillRect/>
          </a:stretch>
        </p:blipFill>
        <p:spPr>
          <a:xfrm>
            <a:off x="8817610" y="1783080"/>
            <a:ext cx="2435860" cy="2435860"/>
          </a:xfrm>
          <a:prstGeom prst="rect">
            <a:avLst/>
          </a:prstGeom>
        </p:spPr>
      </p:pic>
      <p:sp>
        <p:nvSpPr>
          <p:cNvPr id="22" name="TextBox 21"/>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SPUNE GHIDUL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Majoritatea diareilor trec singure</a:t>
            </a:r>
            <a:endParaRPr lang="en-US" sz="3400" dirty="0"/>
          </a:p>
        </p:txBody>
      </p:sp>
      <p:sp>
        <p:nvSpPr>
          <p:cNvPr id="4" name="Text 2"/>
          <p:cNvSpPr/>
          <p:nvPr/>
        </p:nvSpPr>
        <p:spPr>
          <a:xfrm>
            <a:off x="594360" y="1463040"/>
            <a:ext cx="10972800" cy="73152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Ghidul Societății Americane de Boli Infecțioase (IDSA) recomandă proba de scaun mai ales când diareea vine cu:</a:t>
            </a:r>
            <a:endParaRPr lang="en-US" sz="1800" dirty="0"/>
          </a:p>
        </p:txBody>
      </p:sp>
      <p:sp>
        <p:nvSpPr>
          <p:cNvPr id="5" name="Shape 3"/>
          <p:cNvSpPr/>
          <p:nvPr/>
        </p:nvSpPr>
        <p:spPr>
          <a:xfrm>
            <a:off x="594360" y="2286000"/>
            <a:ext cx="2606040" cy="1234440"/>
          </a:xfrm>
          <a:prstGeom prst="roundRect">
            <a:avLst>
              <a:gd name="adj" fmla="val 6667"/>
            </a:avLst>
          </a:prstGeom>
          <a:solidFill>
            <a:srgbClr val="F4E0E2"/>
          </a:solidFill>
          <a:ln w="12700">
            <a:solidFill>
              <a:srgbClr val="F4E0E2"/>
            </a:solidFill>
            <a:prstDash val="solid"/>
          </a:ln>
        </p:spPr>
        <p:txBody>
          <a:bodyPr/>
          <a:p/>
        </p:txBody>
      </p:sp>
      <p:sp>
        <p:nvSpPr>
          <p:cNvPr id="6" name="Text 4"/>
          <p:cNvSpPr/>
          <p:nvPr/>
        </p:nvSpPr>
        <p:spPr>
          <a:xfrm>
            <a:off x="777240" y="2286000"/>
            <a:ext cx="2240280" cy="1234440"/>
          </a:xfrm>
          <a:prstGeom prst="rect">
            <a:avLst/>
          </a:prstGeom>
          <a:noFill/>
          <a:ln/>
        </p:spPr>
        <p:txBody>
          <a:bodyPr wrap="square" lIns="0" tIns="0" rIns="0" bIns="0" rtlCol="0" anchor="ctr"/>
          <a:lstStyle/>
          <a:p>
            <a:pPr algn="ctr" indent="0" marL="0">
              <a:buNone/>
            </a:pPr>
            <a:r>
              <a:rPr lang="en-US" sz="1900" b="1" dirty="0">
                <a:solidFill>
                  <a:srgbClr val="B02532"/>
                </a:solidFill>
                <a:latin typeface="Palatino Linotype" pitchFamily="34" charset="0"/>
                <a:ea typeface="Palatino Linotype" pitchFamily="34" charset="-122"/>
                <a:cs typeface="Palatino Linotype" pitchFamily="34" charset="-120"/>
              </a:rPr>
              <a:t>Febră</a:t>
            </a:r>
            <a:endParaRPr lang="en-US" sz="1900" dirty="0"/>
          </a:p>
        </p:txBody>
      </p:sp>
      <p:sp>
        <p:nvSpPr>
          <p:cNvPr id="7" name="Shape 5"/>
          <p:cNvSpPr/>
          <p:nvPr/>
        </p:nvSpPr>
        <p:spPr>
          <a:xfrm>
            <a:off x="3383280" y="2286000"/>
            <a:ext cx="2606040" cy="1234440"/>
          </a:xfrm>
          <a:prstGeom prst="roundRect">
            <a:avLst>
              <a:gd name="adj" fmla="val 6667"/>
            </a:avLst>
          </a:prstGeom>
          <a:solidFill>
            <a:srgbClr val="F6EDD5"/>
          </a:solidFill>
          <a:ln w="12700">
            <a:solidFill>
              <a:srgbClr val="F6EDD5"/>
            </a:solidFill>
            <a:prstDash val="solid"/>
          </a:ln>
        </p:spPr>
        <p:txBody>
          <a:bodyPr/>
          <a:p/>
        </p:txBody>
      </p:sp>
      <p:sp>
        <p:nvSpPr>
          <p:cNvPr id="8" name="Text 6"/>
          <p:cNvSpPr/>
          <p:nvPr/>
        </p:nvSpPr>
        <p:spPr>
          <a:xfrm>
            <a:off x="3566160" y="2286000"/>
            <a:ext cx="2240280" cy="1234440"/>
          </a:xfrm>
          <a:prstGeom prst="rect">
            <a:avLst/>
          </a:prstGeom>
          <a:noFill/>
          <a:ln/>
        </p:spPr>
        <p:txBody>
          <a:bodyPr wrap="square" lIns="0" tIns="0" rIns="0" bIns="0" rtlCol="0" anchor="ctr"/>
          <a:lstStyle/>
          <a:p>
            <a:pPr algn="ctr" indent="0" marL="0">
              <a:buNone/>
            </a:pPr>
            <a:r>
              <a:rPr lang="en-US" sz="1900" b="1" dirty="0">
                <a:solidFill>
                  <a:srgbClr val="8A6100"/>
                </a:solidFill>
                <a:latin typeface="Palatino Linotype" pitchFamily="34" charset="0"/>
                <a:ea typeface="Palatino Linotype" pitchFamily="34" charset="-122"/>
                <a:cs typeface="Palatino Linotype" pitchFamily="34" charset="-120"/>
              </a:rPr>
              <a:t>Sânge sau mucus în scaun</a:t>
            </a:r>
            <a:endParaRPr lang="en-US" sz="1900" dirty="0"/>
          </a:p>
        </p:txBody>
      </p:sp>
      <p:sp>
        <p:nvSpPr>
          <p:cNvPr id="9" name="Shape 7"/>
          <p:cNvSpPr/>
          <p:nvPr/>
        </p:nvSpPr>
        <p:spPr>
          <a:xfrm>
            <a:off x="6172200" y="2286000"/>
            <a:ext cx="2606040" cy="1234440"/>
          </a:xfrm>
          <a:prstGeom prst="roundRect">
            <a:avLst>
              <a:gd name="adj" fmla="val 6667"/>
            </a:avLst>
          </a:prstGeom>
          <a:solidFill>
            <a:srgbClr val="E9E3F6"/>
          </a:solidFill>
          <a:ln w="12700">
            <a:solidFill>
              <a:srgbClr val="E9E3F6"/>
            </a:solidFill>
            <a:prstDash val="solid"/>
          </a:ln>
        </p:spPr>
        <p:txBody>
          <a:bodyPr/>
          <a:p/>
        </p:txBody>
      </p:sp>
      <p:sp>
        <p:nvSpPr>
          <p:cNvPr id="10" name="Text 8"/>
          <p:cNvSpPr/>
          <p:nvPr/>
        </p:nvSpPr>
        <p:spPr>
          <a:xfrm>
            <a:off x="6355080" y="2286000"/>
            <a:ext cx="2240280" cy="1234440"/>
          </a:xfrm>
          <a:prstGeom prst="rect">
            <a:avLst/>
          </a:prstGeom>
          <a:noFill/>
          <a:ln/>
        </p:spPr>
        <p:txBody>
          <a:bodyPr wrap="square" lIns="0" tIns="0" rIns="0" bIns="0" rtlCol="0" anchor="ctr"/>
          <a:lstStyle/>
          <a:p>
            <a:pPr algn="ctr" indent="0" marL="0">
              <a:buNone/>
            </a:pPr>
            <a:r>
              <a:rPr lang="en-US" sz="1900" b="1" dirty="0">
                <a:solidFill>
                  <a:srgbClr val="4A2D8C"/>
                </a:solidFill>
                <a:latin typeface="Palatino Linotype" pitchFamily="34" charset="0"/>
                <a:ea typeface="Palatino Linotype" pitchFamily="34" charset="-122"/>
                <a:cs typeface="Palatino Linotype" pitchFamily="34" charset="-120"/>
              </a:rPr>
              <a:t>Crampe abdominale puternice</a:t>
            </a:r>
            <a:endParaRPr lang="en-US" sz="1900" dirty="0"/>
          </a:p>
        </p:txBody>
      </p:sp>
      <p:sp>
        <p:nvSpPr>
          <p:cNvPr id="11" name="Shape 9"/>
          <p:cNvSpPr/>
          <p:nvPr/>
        </p:nvSpPr>
        <p:spPr>
          <a:xfrm>
            <a:off x="8961120" y="2286000"/>
            <a:ext cx="2606040" cy="1234440"/>
          </a:xfrm>
          <a:prstGeom prst="roundRect">
            <a:avLst>
              <a:gd name="adj" fmla="val 6667"/>
            </a:avLst>
          </a:prstGeom>
          <a:solidFill>
            <a:srgbClr val="E1F0EC"/>
          </a:solidFill>
          <a:ln w="12700">
            <a:solidFill>
              <a:srgbClr val="E1F0EC"/>
            </a:solidFill>
            <a:prstDash val="solid"/>
          </a:ln>
        </p:spPr>
        <p:txBody>
          <a:bodyPr/>
          <a:p/>
        </p:txBody>
      </p:sp>
      <p:sp>
        <p:nvSpPr>
          <p:cNvPr id="12" name="Text 10"/>
          <p:cNvSpPr/>
          <p:nvPr/>
        </p:nvSpPr>
        <p:spPr>
          <a:xfrm>
            <a:off x="9144000" y="2286000"/>
            <a:ext cx="2240280" cy="1234440"/>
          </a:xfrm>
          <a:prstGeom prst="rect">
            <a:avLst/>
          </a:prstGeom>
          <a:noFill/>
          <a:ln/>
        </p:spPr>
        <p:txBody>
          <a:bodyPr wrap="square" lIns="0" tIns="0" rIns="0" bIns="0" rtlCol="0" anchor="ctr"/>
          <a:lstStyle/>
          <a:p>
            <a:pPr algn="ctr" indent="0" marL="0">
              <a:buNone/>
            </a:pPr>
            <a:r>
              <a:rPr lang="en-US" sz="1900" b="1" dirty="0">
                <a:solidFill>
                  <a:srgbClr val="0E7C6B"/>
                </a:solidFill>
                <a:latin typeface="Palatino Linotype" pitchFamily="34" charset="0"/>
                <a:ea typeface="Palatino Linotype" pitchFamily="34" charset="-122"/>
                <a:cs typeface="Palatino Linotype" pitchFamily="34" charset="-120"/>
              </a:rPr>
              <a:t>Semne de sepsis</a:t>
            </a:r>
            <a:endParaRPr lang="en-US" sz="1900" dirty="0"/>
          </a:p>
        </p:txBody>
      </p:sp>
      <p:sp>
        <p:nvSpPr>
          <p:cNvPr id="13" name="Shape 11"/>
          <p:cNvSpPr/>
          <p:nvPr/>
        </p:nvSpPr>
        <p:spPr>
          <a:xfrm>
            <a:off x="594360" y="3886200"/>
            <a:ext cx="10972800" cy="1737360"/>
          </a:xfrm>
          <a:prstGeom prst="roundRect">
            <a:avLst>
              <a:gd name="adj" fmla="val 4737"/>
            </a:avLst>
          </a:prstGeom>
          <a:solidFill>
            <a:srgbClr val="11121A"/>
          </a:solidFill>
          <a:ln w="12700">
            <a:solidFill>
              <a:srgbClr val="11121A"/>
            </a:solidFill>
            <a:prstDash val="solid"/>
          </a:ln>
        </p:spPr>
        <p:txBody>
          <a:bodyPr/>
          <a:p/>
        </p:txBody>
      </p:sp>
      <p:sp>
        <p:nvSpPr>
          <p:cNvPr id="14" name="Text 12"/>
          <p:cNvSpPr/>
          <p:nvPr/>
        </p:nvSpPr>
        <p:spPr>
          <a:xfrm>
            <a:off x="914400" y="3886200"/>
            <a:ext cx="10332720" cy="173736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Medicul care nu cere analize oricui are stomacul deranjat urmează ghidul. Decizia are însă o consecință statistică: un bolnav fără probă de laborator nu poate deveni un caz confirmat.</a:t>
            </a:r>
            <a:endParaRPr lang="en-US" sz="1900" dirty="0"/>
          </a:p>
        </p:txBody>
      </p:sp>
      <p:sp>
        <p:nvSpPr>
          <p:cNvPr id="15" name="Text 13"/>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ghidul IDSA pentru diareea infecțioasă (registru A529, A530).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VALORI IPOTETICE · CAZ CONSTRUIT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Drumul celor douăzeci și doi de bolnavi</a:t>
            </a:r>
            <a:endParaRPr lang="en-US" sz="3000" dirty="0"/>
          </a:p>
        </p:txBody>
      </p:sp>
      <p:sp>
        <p:nvSpPr>
          <p:cNvPr id="4" name="Text 2"/>
          <p:cNvSpPr/>
          <p:nvPr/>
        </p:nvSpPr>
        <p:spPr>
          <a:xfrm>
            <a:off x="594360" y="1508760"/>
            <a:ext cx="3200400" cy="548640"/>
          </a:xfrm>
          <a:prstGeom prst="rect">
            <a:avLst/>
          </a:prstGeom>
          <a:noFill/>
          <a:ln/>
        </p:spPr>
        <p:txBody>
          <a:bodyPr wrap="square" lIns="0" tIns="0" rIns="0" bIns="0" rtlCol="0" anchor="ctr"/>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S-au îmbolnăvit</a:t>
            </a:r>
            <a:endParaRPr lang="en-US" sz="1600" dirty="0"/>
          </a:p>
        </p:txBody>
      </p:sp>
      <p:sp>
        <p:nvSpPr>
          <p:cNvPr id="5" name="Shape 3"/>
          <p:cNvSpPr/>
          <p:nvPr/>
        </p:nvSpPr>
        <p:spPr>
          <a:xfrm>
            <a:off x="3977640" y="1572768"/>
            <a:ext cx="6400800" cy="420624"/>
          </a:xfrm>
          <a:prstGeom prst="rect">
            <a:avLst/>
          </a:prstGeom>
          <a:solidFill>
            <a:srgbClr val="B02532"/>
          </a:solidFill>
          <a:ln w="12700">
            <a:solidFill>
              <a:srgbClr val="B02532"/>
            </a:solidFill>
            <a:prstDash val="solid"/>
          </a:ln>
        </p:spPr>
        <p:txBody>
          <a:bodyPr/>
          <a:p/>
        </p:txBody>
      </p:sp>
      <p:sp>
        <p:nvSpPr>
          <p:cNvPr id="6" name="Text 4"/>
          <p:cNvSpPr/>
          <p:nvPr/>
        </p:nvSpPr>
        <p:spPr>
          <a:xfrm>
            <a:off x="10515600" y="1508760"/>
            <a:ext cx="822960" cy="548640"/>
          </a:xfrm>
          <a:prstGeom prst="rect">
            <a:avLst/>
          </a:prstGeom>
          <a:noFill/>
          <a:ln/>
        </p:spPr>
        <p:txBody>
          <a:bodyPr wrap="square" lIns="0" tIns="0" rIns="0" bIns="0" rtlCol="0" anchor="ctr"/>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22</a:t>
            </a:r>
            <a:endParaRPr lang="en-US" sz="2400" dirty="0"/>
          </a:p>
        </p:txBody>
      </p:sp>
      <p:sp>
        <p:nvSpPr>
          <p:cNvPr id="7" name="Text 5"/>
          <p:cNvSpPr/>
          <p:nvPr/>
        </p:nvSpPr>
        <p:spPr>
          <a:xfrm>
            <a:off x="594360" y="2194560"/>
            <a:ext cx="3200400" cy="548640"/>
          </a:xfrm>
          <a:prstGeom prst="rect">
            <a:avLst/>
          </a:prstGeom>
          <a:noFill/>
          <a:ln/>
        </p:spPr>
        <p:txBody>
          <a:bodyPr wrap="square" lIns="0" tIns="0" rIns="0" bIns="0" rtlCol="0" anchor="ctr"/>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Au ajuns la un medic</a:t>
            </a:r>
            <a:endParaRPr lang="en-US" sz="1600" dirty="0"/>
          </a:p>
        </p:txBody>
      </p:sp>
      <p:sp>
        <p:nvSpPr>
          <p:cNvPr id="8" name="Shape 6"/>
          <p:cNvSpPr/>
          <p:nvPr/>
        </p:nvSpPr>
        <p:spPr>
          <a:xfrm>
            <a:off x="3977640" y="2258568"/>
            <a:ext cx="2618509" cy="420624"/>
          </a:xfrm>
          <a:prstGeom prst="rect">
            <a:avLst/>
          </a:prstGeom>
          <a:solidFill>
            <a:srgbClr val="8A6100"/>
          </a:solidFill>
          <a:ln w="12700">
            <a:solidFill>
              <a:srgbClr val="8A6100"/>
            </a:solidFill>
            <a:prstDash val="solid"/>
          </a:ln>
        </p:spPr>
        <p:txBody>
          <a:bodyPr/>
          <a:p/>
        </p:txBody>
      </p:sp>
      <p:sp>
        <p:nvSpPr>
          <p:cNvPr id="9" name="Text 7"/>
          <p:cNvSpPr/>
          <p:nvPr/>
        </p:nvSpPr>
        <p:spPr>
          <a:xfrm>
            <a:off x="6733309" y="2194560"/>
            <a:ext cx="822960" cy="548640"/>
          </a:xfrm>
          <a:prstGeom prst="rect">
            <a:avLst/>
          </a:prstGeom>
          <a:noFill/>
          <a:ln/>
        </p:spPr>
        <p:txBody>
          <a:bodyPr wrap="square" lIns="0" tIns="0" rIns="0" bIns="0" rtlCol="0" anchor="ctr"/>
          <a:lstStyle/>
          <a:p>
            <a:pPr indent="0" marL="0">
              <a:buNone/>
            </a:pPr>
            <a:r>
              <a:rPr lang="en-US" sz="2400" b="1" dirty="0">
                <a:solidFill>
                  <a:srgbClr val="8A6100"/>
                </a:solidFill>
                <a:latin typeface="Palatino Linotype" pitchFamily="34" charset="0"/>
                <a:ea typeface="Palatino Linotype" pitchFamily="34" charset="-122"/>
                <a:cs typeface="Palatino Linotype" pitchFamily="34" charset="-120"/>
              </a:rPr>
              <a:t>9</a:t>
            </a:r>
            <a:endParaRPr lang="en-US" sz="2400" dirty="0"/>
          </a:p>
        </p:txBody>
      </p:sp>
      <p:sp>
        <p:nvSpPr>
          <p:cNvPr id="10" name="Text 8"/>
          <p:cNvSpPr/>
          <p:nvPr/>
        </p:nvSpPr>
        <p:spPr>
          <a:xfrm>
            <a:off x="594360" y="2880360"/>
            <a:ext cx="3200400" cy="548640"/>
          </a:xfrm>
          <a:prstGeom prst="rect">
            <a:avLst/>
          </a:prstGeom>
          <a:noFill/>
          <a:ln/>
        </p:spPr>
        <p:txBody>
          <a:bodyPr wrap="square" lIns="0" tIns="0" rIns="0" bIns="0" rtlCol="0" anchor="ctr"/>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Li s-a cerut o probă</a:t>
            </a:r>
            <a:endParaRPr lang="en-US" sz="1600" dirty="0"/>
          </a:p>
        </p:txBody>
      </p:sp>
      <p:sp>
        <p:nvSpPr>
          <p:cNvPr id="11" name="Shape 9"/>
          <p:cNvSpPr/>
          <p:nvPr/>
        </p:nvSpPr>
        <p:spPr>
          <a:xfrm>
            <a:off x="3977640" y="2944368"/>
            <a:ext cx="1454727" cy="420624"/>
          </a:xfrm>
          <a:prstGeom prst="rect">
            <a:avLst/>
          </a:prstGeom>
          <a:solidFill>
            <a:srgbClr val="4A2D8C"/>
          </a:solidFill>
          <a:ln w="12700">
            <a:solidFill>
              <a:srgbClr val="4A2D8C"/>
            </a:solidFill>
            <a:prstDash val="solid"/>
          </a:ln>
        </p:spPr>
        <p:txBody>
          <a:bodyPr/>
          <a:p/>
        </p:txBody>
      </p:sp>
      <p:sp>
        <p:nvSpPr>
          <p:cNvPr id="12" name="Text 10"/>
          <p:cNvSpPr/>
          <p:nvPr/>
        </p:nvSpPr>
        <p:spPr>
          <a:xfrm>
            <a:off x="5569527" y="2880360"/>
            <a:ext cx="822960" cy="548640"/>
          </a:xfrm>
          <a:prstGeom prst="rect">
            <a:avLst/>
          </a:prstGeom>
          <a:noFill/>
          <a:ln/>
        </p:spPr>
        <p:txBody>
          <a:bodyPr wrap="square" lIns="0" tIns="0" rIns="0" bIns="0" rtlCol="0" anchor="ctr"/>
          <a:lstStyle/>
          <a:p>
            <a:pPr indent="0" marL="0">
              <a:buNone/>
            </a:pPr>
            <a:r>
              <a:rPr lang="en-US" sz="2400" b="1" dirty="0">
                <a:solidFill>
                  <a:srgbClr val="4A2D8C"/>
                </a:solidFill>
                <a:latin typeface="Palatino Linotype" pitchFamily="34" charset="0"/>
                <a:ea typeface="Palatino Linotype" pitchFamily="34" charset="-122"/>
                <a:cs typeface="Palatino Linotype" pitchFamily="34" charset="-120"/>
              </a:rPr>
              <a:t>5</a:t>
            </a:r>
            <a:endParaRPr lang="en-US" sz="2400" dirty="0"/>
          </a:p>
        </p:txBody>
      </p:sp>
      <p:sp>
        <p:nvSpPr>
          <p:cNvPr id="13" name="Text 11"/>
          <p:cNvSpPr/>
          <p:nvPr/>
        </p:nvSpPr>
        <p:spPr>
          <a:xfrm>
            <a:off x="594360" y="3566160"/>
            <a:ext cx="3200400" cy="548640"/>
          </a:xfrm>
          <a:prstGeom prst="rect">
            <a:avLst/>
          </a:prstGeom>
          <a:noFill/>
          <a:ln/>
        </p:spPr>
        <p:txBody>
          <a:bodyPr wrap="square" lIns="0" tIns="0" rIns="0" bIns="0" rtlCol="0" anchor="ctr"/>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Au adus proba</a:t>
            </a:r>
            <a:endParaRPr lang="en-US" sz="1600" dirty="0"/>
          </a:p>
        </p:txBody>
      </p:sp>
      <p:sp>
        <p:nvSpPr>
          <p:cNvPr id="14" name="Shape 12"/>
          <p:cNvSpPr/>
          <p:nvPr/>
        </p:nvSpPr>
        <p:spPr>
          <a:xfrm>
            <a:off x="3977640" y="3630168"/>
            <a:ext cx="1163782" cy="420624"/>
          </a:xfrm>
          <a:prstGeom prst="rect">
            <a:avLst/>
          </a:prstGeom>
          <a:solidFill>
            <a:srgbClr val="4A2D8C"/>
          </a:solidFill>
          <a:ln w="12700">
            <a:solidFill>
              <a:srgbClr val="4A2D8C"/>
            </a:solidFill>
            <a:prstDash val="solid"/>
          </a:ln>
        </p:spPr>
        <p:txBody>
          <a:bodyPr/>
          <a:p/>
        </p:txBody>
      </p:sp>
      <p:sp>
        <p:nvSpPr>
          <p:cNvPr id="15" name="Text 13"/>
          <p:cNvSpPr/>
          <p:nvPr/>
        </p:nvSpPr>
        <p:spPr>
          <a:xfrm>
            <a:off x="5278582" y="3566160"/>
            <a:ext cx="822960" cy="548640"/>
          </a:xfrm>
          <a:prstGeom prst="rect">
            <a:avLst/>
          </a:prstGeom>
          <a:noFill/>
          <a:ln/>
        </p:spPr>
        <p:txBody>
          <a:bodyPr wrap="square" lIns="0" tIns="0" rIns="0" bIns="0" rtlCol="0" anchor="ctr"/>
          <a:lstStyle/>
          <a:p>
            <a:pPr indent="0" marL="0">
              <a:buNone/>
            </a:pPr>
            <a:r>
              <a:rPr lang="en-US" sz="2400" b="1" dirty="0">
                <a:solidFill>
                  <a:srgbClr val="4A2D8C"/>
                </a:solidFill>
                <a:latin typeface="Palatino Linotype" pitchFamily="34" charset="0"/>
                <a:ea typeface="Palatino Linotype" pitchFamily="34" charset="-122"/>
                <a:cs typeface="Palatino Linotype" pitchFamily="34" charset="-120"/>
              </a:rPr>
              <a:t>4</a:t>
            </a:r>
            <a:endParaRPr lang="en-US" sz="2400" dirty="0"/>
          </a:p>
        </p:txBody>
      </p:sp>
      <p:sp>
        <p:nvSpPr>
          <p:cNvPr id="16" name="Text 14"/>
          <p:cNvSpPr/>
          <p:nvPr/>
        </p:nvSpPr>
        <p:spPr>
          <a:xfrm>
            <a:off x="594360" y="4251960"/>
            <a:ext cx="3200400" cy="548640"/>
          </a:xfrm>
          <a:prstGeom prst="rect">
            <a:avLst/>
          </a:prstGeom>
          <a:noFill/>
          <a:ln/>
        </p:spPr>
        <p:txBody>
          <a:bodyPr wrap="square" lIns="0" tIns="0" rIns="0" bIns="0" rtlCol="0" anchor="ctr"/>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Laboratorul a găsit microbul</a:t>
            </a:r>
            <a:endParaRPr lang="en-US" sz="1600" dirty="0"/>
          </a:p>
        </p:txBody>
      </p:sp>
      <p:sp>
        <p:nvSpPr>
          <p:cNvPr id="17" name="Shape 15"/>
          <p:cNvSpPr/>
          <p:nvPr/>
        </p:nvSpPr>
        <p:spPr>
          <a:xfrm>
            <a:off x="3977640" y="4315968"/>
            <a:ext cx="872836" cy="420624"/>
          </a:xfrm>
          <a:prstGeom prst="rect">
            <a:avLst/>
          </a:prstGeom>
          <a:solidFill>
            <a:srgbClr val="0E7C6B"/>
          </a:solidFill>
          <a:ln w="12700">
            <a:solidFill>
              <a:srgbClr val="0E7C6B"/>
            </a:solidFill>
            <a:prstDash val="solid"/>
          </a:ln>
        </p:spPr>
        <p:txBody>
          <a:bodyPr/>
          <a:p/>
        </p:txBody>
      </p:sp>
      <p:sp>
        <p:nvSpPr>
          <p:cNvPr id="18" name="Text 16"/>
          <p:cNvSpPr/>
          <p:nvPr/>
        </p:nvSpPr>
        <p:spPr>
          <a:xfrm>
            <a:off x="4987636" y="4251960"/>
            <a:ext cx="822960" cy="548640"/>
          </a:xfrm>
          <a:prstGeom prst="rect">
            <a:avLst/>
          </a:prstGeom>
          <a:noFill/>
          <a:ln/>
        </p:spPr>
        <p:txBody>
          <a:bodyPr wrap="square" lIns="0" tIns="0" rIns="0" bIns="0" rtlCol="0" anchor="ctr"/>
          <a:lstStyle/>
          <a:p>
            <a:pPr indent="0" marL="0">
              <a:buNone/>
            </a:pPr>
            <a:r>
              <a:rPr lang="en-US" sz="2400" b="1" dirty="0">
                <a:solidFill>
                  <a:srgbClr val="0E7C6B"/>
                </a:solidFill>
                <a:latin typeface="Palatino Linotype" pitchFamily="34" charset="0"/>
                <a:ea typeface="Palatino Linotype" pitchFamily="34" charset="-122"/>
                <a:cs typeface="Palatino Linotype" pitchFamily="34" charset="-120"/>
              </a:rPr>
              <a:t>3</a:t>
            </a:r>
            <a:endParaRPr lang="en-US" sz="2400" dirty="0"/>
          </a:p>
        </p:txBody>
      </p:sp>
      <p:sp>
        <p:nvSpPr>
          <p:cNvPr id="19" name="Text 17"/>
          <p:cNvSpPr/>
          <p:nvPr/>
        </p:nvSpPr>
        <p:spPr>
          <a:xfrm>
            <a:off x="594360" y="4937760"/>
            <a:ext cx="3200400" cy="548640"/>
          </a:xfrm>
          <a:prstGeom prst="rect">
            <a:avLst/>
          </a:prstGeom>
          <a:noFill/>
          <a:ln/>
        </p:spPr>
        <p:txBody>
          <a:bodyPr wrap="square" lIns="0" tIns="0" rIns="0" bIns="0" rtlCol="0" anchor="ctr"/>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Declarați la DSP</a:t>
            </a:r>
            <a:endParaRPr lang="en-US" sz="1600" dirty="0"/>
          </a:p>
        </p:txBody>
      </p:sp>
      <p:sp>
        <p:nvSpPr>
          <p:cNvPr id="20" name="Shape 18"/>
          <p:cNvSpPr/>
          <p:nvPr/>
        </p:nvSpPr>
        <p:spPr>
          <a:xfrm>
            <a:off x="3977640" y="5001768"/>
            <a:ext cx="581891" cy="420624"/>
          </a:xfrm>
          <a:prstGeom prst="rect">
            <a:avLst/>
          </a:prstGeom>
          <a:solidFill>
            <a:srgbClr val="07564B"/>
          </a:solidFill>
          <a:ln w="12700">
            <a:solidFill>
              <a:srgbClr val="07564B"/>
            </a:solidFill>
            <a:prstDash val="solid"/>
          </a:ln>
        </p:spPr>
        <p:txBody>
          <a:bodyPr/>
          <a:p/>
        </p:txBody>
      </p:sp>
      <p:sp>
        <p:nvSpPr>
          <p:cNvPr id="21" name="Text 19"/>
          <p:cNvSpPr/>
          <p:nvPr/>
        </p:nvSpPr>
        <p:spPr>
          <a:xfrm>
            <a:off x="4696691" y="4937760"/>
            <a:ext cx="822960" cy="548640"/>
          </a:xfrm>
          <a:prstGeom prst="rect">
            <a:avLst/>
          </a:prstGeom>
          <a:noFill/>
          <a:ln/>
        </p:spPr>
        <p:txBody>
          <a:bodyPr wrap="square" lIns="0" tIns="0" rIns="0" bIns="0" rtlCol="0" anchor="ctr"/>
          <a:lstStyle/>
          <a:p>
            <a:pPr indent="0" marL="0">
              <a:buNone/>
            </a:pPr>
            <a:r>
              <a:rPr lang="en-US" sz="2400" b="1" dirty="0">
                <a:solidFill>
                  <a:srgbClr val="07564B"/>
                </a:solidFill>
                <a:latin typeface="Palatino Linotype" pitchFamily="34" charset="0"/>
                <a:ea typeface="Palatino Linotype" pitchFamily="34" charset="-122"/>
                <a:cs typeface="Palatino Linotype" pitchFamily="34" charset="-120"/>
              </a:rPr>
              <a:t>2</a:t>
            </a:r>
            <a:endParaRPr lang="en-US" sz="2400" dirty="0"/>
          </a:p>
        </p:txBody>
      </p:sp>
      <p:sp>
        <p:nvSpPr>
          <p:cNvPr id="22" name="Text 20"/>
          <p:cNvSpPr/>
          <p:nvPr/>
        </p:nvSpPr>
        <p:spPr>
          <a:xfrm>
            <a:off x="594360" y="5623560"/>
            <a:ext cx="10972800" cy="59436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Din 22 de bolnavi, în cifra oficială au ajuns 2: unul din unsprezece. Nimeni nu a fost „ascuns”; fiecare poartă are o explicație firească.</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PRIMUL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Piramida supravegherii</a:t>
            </a:r>
            <a:endParaRPr lang="en-US" sz="3400" dirty="0"/>
          </a:p>
        </p:txBody>
      </p:sp>
      <p:sp>
        <p:nvSpPr>
          <p:cNvPr id="4" name="Shape 2"/>
          <p:cNvSpPr/>
          <p:nvPr/>
        </p:nvSpPr>
        <p:spPr>
          <a:xfrm>
            <a:off x="3246120" y="1463040"/>
            <a:ext cx="2377440" cy="658368"/>
          </a:xfrm>
          <a:prstGeom prst="rect">
            <a:avLst/>
          </a:prstGeom>
          <a:solidFill>
            <a:srgbClr val="07564B"/>
          </a:solidFill>
          <a:ln w="12700">
            <a:solidFill>
              <a:srgbClr val="07564B"/>
            </a:solidFill>
            <a:prstDash val="solid"/>
          </a:ln>
        </p:spPr>
        <p:txBody>
          <a:bodyPr/>
          <a:p/>
        </p:txBody>
      </p:sp>
      <p:sp>
        <p:nvSpPr>
          <p:cNvPr id="5" name="Text 3"/>
          <p:cNvSpPr/>
          <p:nvPr/>
        </p:nvSpPr>
        <p:spPr>
          <a:xfrm>
            <a:off x="3246120" y="1463040"/>
            <a:ext cx="237744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Raportați autorităților</a:t>
            </a:r>
            <a:endParaRPr lang="en-US" sz="1300" dirty="0"/>
          </a:p>
        </p:txBody>
      </p:sp>
      <p:sp>
        <p:nvSpPr>
          <p:cNvPr id="6" name="Shape 4"/>
          <p:cNvSpPr/>
          <p:nvPr/>
        </p:nvSpPr>
        <p:spPr>
          <a:xfrm>
            <a:off x="2583180" y="2212848"/>
            <a:ext cx="3703320" cy="658368"/>
          </a:xfrm>
          <a:prstGeom prst="rect">
            <a:avLst/>
          </a:prstGeom>
          <a:solidFill>
            <a:srgbClr val="0E7C6B"/>
          </a:solidFill>
          <a:ln w="12700">
            <a:solidFill>
              <a:srgbClr val="0E7C6B"/>
            </a:solidFill>
            <a:prstDash val="solid"/>
          </a:ln>
        </p:spPr>
        <p:txBody>
          <a:bodyPr/>
          <a:p/>
        </p:txBody>
      </p:sp>
      <p:sp>
        <p:nvSpPr>
          <p:cNvPr id="7" name="Text 5"/>
          <p:cNvSpPr/>
          <p:nvPr/>
        </p:nvSpPr>
        <p:spPr>
          <a:xfrm>
            <a:off x="2583180" y="2212848"/>
            <a:ext cx="370332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Palatino Linotype" pitchFamily="34" charset="0"/>
                <a:ea typeface="Palatino Linotype" pitchFamily="34" charset="-122"/>
                <a:cs typeface="Palatino Linotype" pitchFamily="34" charset="-120"/>
              </a:rPr>
              <a:t>Laboratorul a găsit microbul</a:t>
            </a:r>
            <a:endParaRPr lang="en-US" sz="1300" dirty="0"/>
          </a:p>
        </p:txBody>
      </p:sp>
      <p:sp>
        <p:nvSpPr>
          <p:cNvPr id="8" name="Shape 6"/>
          <p:cNvSpPr/>
          <p:nvPr/>
        </p:nvSpPr>
        <p:spPr>
          <a:xfrm>
            <a:off x="1920240" y="2962656"/>
            <a:ext cx="5029200" cy="658368"/>
          </a:xfrm>
          <a:prstGeom prst="rect">
            <a:avLst/>
          </a:prstGeom>
          <a:solidFill>
            <a:srgbClr val="4A2D8C"/>
          </a:solidFill>
          <a:ln w="12700">
            <a:solidFill>
              <a:srgbClr val="4A2D8C"/>
            </a:solidFill>
            <a:prstDash val="solid"/>
          </a:ln>
        </p:spPr>
        <p:txBody>
          <a:bodyPr/>
          <a:p/>
        </p:txBody>
      </p:sp>
      <p:sp>
        <p:nvSpPr>
          <p:cNvPr id="9" name="Text 7"/>
          <p:cNvSpPr/>
          <p:nvPr/>
        </p:nvSpPr>
        <p:spPr>
          <a:xfrm>
            <a:off x="1920240" y="2962656"/>
            <a:ext cx="50292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Au dat o probă</a:t>
            </a:r>
            <a:endParaRPr lang="en-US" sz="1500" dirty="0"/>
          </a:p>
        </p:txBody>
      </p:sp>
      <p:sp>
        <p:nvSpPr>
          <p:cNvPr id="10" name="Shape 8"/>
          <p:cNvSpPr/>
          <p:nvPr/>
        </p:nvSpPr>
        <p:spPr>
          <a:xfrm>
            <a:off x="1257300" y="3712464"/>
            <a:ext cx="6355080" cy="658368"/>
          </a:xfrm>
          <a:prstGeom prst="rect">
            <a:avLst/>
          </a:prstGeom>
          <a:solidFill>
            <a:srgbClr val="8A6100"/>
          </a:solidFill>
          <a:ln w="12700">
            <a:solidFill>
              <a:srgbClr val="8A6100"/>
            </a:solidFill>
            <a:prstDash val="solid"/>
          </a:ln>
        </p:spPr>
        <p:txBody>
          <a:bodyPr/>
          <a:p/>
        </p:txBody>
      </p:sp>
      <p:sp>
        <p:nvSpPr>
          <p:cNvPr id="11" name="Text 9"/>
          <p:cNvSpPr/>
          <p:nvPr/>
        </p:nvSpPr>
        <p:spPr>
          <a:xfrm>
            <a:off x="1257300" y="3712464"/>
            <a:ext cx="635508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Au mers la medic</a:t>
            </a:r>
            <a:endParaRPr lang="en-US" sz="1500" dirty="0"/>
          </a:p>
        </p:txBody>
      </p:sp>
      <p:sp>
        <p:nvSpPr>
          <p:cNvPr id="12" name="Shape 10"/>
          <p:cNvSpPr/>
          <p:nvPr/>
        </p:nvSpPr>
        <p:spPr>
          <a:xfrm>
            <a:off x="594360" y="4462272"/>
            <a:ext cx="7680960" cy="658368"/>
          </a:xfrm>
          <a:prstGeom prst="rect">
            <a:avLst/>
          </a:prstGeom>
          <a:solidFill>
            <a:srgbClr val="B02532"/>
          </a:solidFill>
          <a:ln w="12700">
            <a:solidFill>
              <a:srgbClr val="B02532"/>
            </a:solidFill>
            <a:prstDash val="solid"/>
          </a:ln>
        </p:spPr>
        <p:txBody>
          <a:bodyPr/>
          <a:p/>
        </p:txBody>
      </p:sp>
      <p:sp>
        <p:nvSpPr>
          <p:cNvPr id="13" name="Text 11"/>
          <p:cNvSpPr/>
          <p:nvPr/>
        </p:nvSpPr>
        <p:spPr>
          <a:xfrm>
            <a:off x="594360" y="4462272"/>
            <a:ext cx="768096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Toți cei care s-au îmbolnăvit</a:t>
            </a:r>
            <a:endParaRPr lang="en-US" sz="1500" dirty="0"/>
          </a:p>
        </p:txBody>
      </p:sp>
      <p:sp>
        <p:nvSpPr>
          <p:cNvPr id="14" name="Text 12"/>
          <p:cNvSpPr/>
          <p:nvPr/>
        </p:nvSpPr>
        <p:spPr>
          <a:xfrm>
            <a:off x="8549640" y="1508760"/>
            <a:ext cx="3108960" cy="1371600"/>
          </a:xfrm>
          <a:prstGeom prst="rect">
            <a:avLst/>
          </a:prstGeom>
          <a:noFill/>
          <a:ln/>
        </p:spPr>
        <p:txBody>
          <a:bodyPr wrap="square" lIns="0" tIns="0" rIns="0" bIns="0" rtlCol="0" anchor="t"/>
          <a:lstStyle/>
          <a:p>
            <a:pPr indent="0" marL="0">
              <a:buNone/>
            </a:pPr>
            <a:r>
              <a:rPr lang="en-US" sz="2100" b="1" i="1" dirty="0">
                <a:solidFill>
                  <a:srgbClr val="B02532"/>
                </a:solidFill>
                <a:latin typeface="Palatino Linotype" pitchFamily="34" charset="0"/>
                <a:ea typeface="Palatino Linotype" pitchFamily="34" charset="-122"/>
                <a:cs typeface="Palatino Linotype" pitchFamily="34" charset="-120"/>
              </a:rPr>
              <a:t>„Cifra oficială este vârful aisbergului.”</a:t>
            </a:r>
            <a:endParaRPr lang="en-US" sz="2100" dirty="0"/>
          </a:p>
        </p:txBody>
      </p:sp>
      <p:sp>
        <p:nvSpPr>
          <p:cNvPr id="15" name="Text 13"/>
          <p:cNvSpPr/>
          <p:nvPr/>
        </p:nvSpPr>
        <p:spPr>
          <a:xfrm>
            <a:off x="8549640" y="2971800"/>
            <a:ext cx="3108960" cy="23774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Numele folosit în acest curs pentru treptele prin care trece un bolnav până în statistica oficială. La fiecare treaptă se pierd oameni.</a:t>
            </a:r>
            <a:endParaRPr lang="en-US" sz="1600" dirty="0"/>
          </a:p>
        </p:txBody>
      </p:sp>
      <p:sp>
        <p:nvSpPr>
          <p:cNvPr id="16" name="Text 14"/>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treptele, după echipa CDC (registru A508).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OPT_DETECTIVI/active/img/formulare_focar_cdc_phil31353.jpg">    </p:cNvPr>
          <p:cNvPicPr>
            <a:picLocks noChangeAspect="1"/>
          </p:cNvPicPr>
          <p:nvPr/>
        </p:nvPicPr>
        <p:blipFill>
          <a:blip r:embed="rId1"/>
          <a:stretch>
            <a:fillRect/>
          </a:stretch>
        </p:blipFill>
        <p:spPr>
          <a:xfrm>
            <a:off x="0" y="0"/>
            <a:ext cx="4754880" cy="5943600"/>
          </a:xfrm>
          <a:prstGeom prst="rect">
            <a:avLst/>
          </a:prstGeom>
        </p:spPr>
      </p:pic>
      <p:sp>
        <p:nvSpPr>
          <p:cNvPr id="3" name="Shape 0"/>
          <p:cNvSpPr/>
          <p:nvPr/>
        </p:nvSpPr>
        <p:spPr>
          <a:xfrm>
            <a:off x="0" y="5943600"/>
            <a:ext cx="4754880" cy="914400"/>
          </a:xfrm>
          <a:prstGeom prst="rect">
            <a:avLst/>
          </a:prstGeom>
          <a:solidFill>
            <a:srgbClr val="11121A"/>
          </a:solidFill>
          <a:ln w="12700">
            <a:solidFill>
              <a:srgbClr val="11121A"/>
            </a:solidFill>
            <a:prstDash val="solid"/>
          </a:ln>
        </p:spPr>
        <p:txBody>
          <a:bodyPr/>
          <a:p/>
        </p:txBody>
      </p:sp>
      <p:sp>
        <p:nvSpPr>
          <p:cNvPr id="4" name="Text 1"/>
          <p:cNvSpPr/>
          <p:nvPr/>
        </p:nvSpPr>
        <p:spPr>
          <a:xfrm>
            <a:off x="274320" y="5989320"/>
            <a:ext cx="4297680" cy="457200"/>
          </a:xfrm>
          <a:prstGeom prst="rect">
            <a:avLst/>
          </a:prstGeom>
          <a:noFill/>
          <a:ln/>
        </p:spPr>
        <p:txBody>
          <a:bodyPr wrap="square" lIns="0" tIns="0" rIns="0" bIns="0" rtlCol="0" anchor="ctr"/>
          <a:lstStyle/>
          <a:p>
            <a:pPr indent="0" marL="0">
              <a:buNone/>
            </a:pPr>
            <a:r>
              <a:rPr lang="en-US" sz="1050" dirty="0">
                <a:solidFill>
                  <a:srgbClr val="FFFFFF"/>
                </a:solidFill>
                <a:latin typeface="Palatino Linotype" pitchFamily="34" charset="0"/>
                <a:ea typeface="Palatino Linotype" pitchFamily="34" charset="-122"/>
                <a:cs typeface="Palatino Linotype" pitchFamily="34" charset="-120"/>
              </a:rPr>
              <a:t>Formulare de triaj într-un focar de rujeolă · Chicago, 2024</a:t>
            </a:r>
            <a:endParaRPr lang="en-US" sz="1050" dirty="0"/>
          </a:p>
        </p:txBody>
      </p:sp>
      <p:sp>
        <p:nvSpPr>
          <p:cNvPr id="5" name="Text 2"/>
          <p:cNvSpPr/>
          <p:nvPr/>
        </p:nvSpPr>
        <p:spPr>
          <a:xfrm>
            <a:off x="274320" y="6473952"/>
            <a:ext cx="4297680" cy="219456"/>
          </a:xfrm>
          <a:prstGeom prst="rect">
            <a:avLst/>
          </a:prstGeom>
          <a:noFill/>
          <a:ln/>
        </p:spPr>
        <p:txBody>
          <a:bodyPr wrap="square" lIns="0" tIns="0" rIns="0" bIns="0" rtlCol="0" anchor="ctr"/>
          <a:lstStyle/>
          <a:p>
            <a:pPr algn="l"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CDC/Amy Nham · domeniu public · CDC PHIL</a:t>
            </a:r>
            <a:endParaRPr lang="en-US" sz="850" dirty="0"/>
          </a:p>
        </p:txBody>
      </p:sp>
      <p:sp>
        <p:nvSpPr>
          <p:cNvPr id="6" name="Text 3"/>
          <p:cNvSpPr/>
          <p:nvPr/>
        </p:nvSpPr>
        <p:spPr>
          <a:xfrm>
            <a:off x="5212080" y="411480"/>
            <a:ext cx="64008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DOUĂ PIERDERI</a:t>
            </a:r>
            <a:endParaRPr lang="en-US" sz="1300" dirty="0"/>
          </a:p>
        </p:txBody>
      </p:sp>
      <p:sp>
        <p:nvSpPr>
          <p:cNvPr id="7" name="Text 4"/>
          <p:cNvSpPr/>
          <p:nvPr/>
        </p:nvSpPr>
        <p:spPr>
          <a:xfrm>
            <a:off x="5212080" y="777240"/>
            <a:ext cx="6583680" cy="91440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Subdiagnosticarea și subraportarea</a:t>
            </a:r>
            <a:endParaRPr lang="en-US" sz="2700" dirty="0"/>
          </a:p>
        </p:txBody>
      </p:sp>
      <p:sp>
        <p:nvSpPr>
          <p:cNvPr id="8" name="Shape 5"/>
          <p:cNvSpPr/>
          <p:nvPr/>
        </p:nvSpPr>
        <p:spPr>
          <a:xfrm>
            <a:off x="5212080" y="1828800"/>
            <a:ext cx="6400800" cy="1508760"/>
          </a:xfrm>
          <a:prstGeom prst="roundRect">
            <a:avLst>
              <a:gd name="adj" fmla="val 5455"/>
            </a:avLst>
          </a:prstGeom>
          <a:solidFill>
            <a:srgbClr val="F4E0E2"/>
          </a:solidFill>
          <a:ln w="12700">
            <a:solidFill>
              <a:srgbClr val="F4E0E2"/>
            </a:solidFill>
            <a:prstDash val="solid"/>
          </a:ln>
        </p:spPr>
        <p:txBody>
          <a:bodyPr/>
          <a:p/>
        </p:txBody>
      </p:sp>
      <p:sp>
        <p:nvSpPr>
          <p:cNvPr id="9" name="Text 6"/>
          <p:cNvSpPr/>
          <p:nvPr/>
        </p:nvSpPr>
        <p:spPr>
          <a:xfrm>
            <a:off x="5486400" y="1938528"/>
            <a:ext cx="5852160" cy="41148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Subdiagnosticarea</a:t>
            </a:r>
            <a:endParaRPr lang="en-US" sz="1900" dirty="0"/>
          </a:p>
        </p:txBody>
      </p:sp>
      <p:sp>
        <p:nvSpPr>
          <p:cNvPr id="10" name="Text 7"/>
          <p:cNvSpPr/>
          <p:nvPr/>
        </p:nvSpPr>
        <p:spPr>
          <a:xfrm>
            <a:off x="5486400" y="2377440"/>
            <a:ext cx="585216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Bolnavul nu a mers la medic, nu a dat o probă sau laboratorul nu a găsit microbul.</a:t>
            </a:r>
            <a:endParaRPr lang="en-US" sz="1600" dirty="0"/>
          </a:p>
        </p:txBody>
      </p:sp>
      <p:sp>
        <p:nvSpPr>
          <p:cNvPr id="11" name="Shape 8"/>
          <p:cNvSpPr/>
          <p:nvPr/>
        </p:nvSpPr>
        <p:spPr>
          <a:xfrm>
            <a:off x="5212080" y="3520440"/>
            <a:ext cx="6400800" cy="1325880"/>
          </a:xfrm>
          <a:prstGeom prst="roundRect">
            <a:avLst>
              <a:gd name="adj" fmla="val 6207"/>
            </a:avLst>
          </a:prstGeom>
          <a:solidFill>
            <a:srgbClr val="E1F0EC"/>
          </a:solidFill>
          <a:ln w="12700">
            <a:solidFill>
              <a:srgbClr val="E1F0EC"/>
            </a:solidFill>
            <a:prstDash val="solid"/>
          </a:ln>
        </p:spPr>
        <p:txBody>
          <a:bodyPr/>
          <a:p/>
        </p:txBody>
      </p:sp>
      <p:sp>
        <p:nvSpPr>
          <p:cNvPr id="12" name="Text 9"/>
          <p:cNvSpPr/>
          <p:nvPr/>
        </p:nvSpPr>
        <p:spPr>
          <a:xfrm>
            <a:off x="5486400" y="3630168"/>
            <a:ext cx="5852160" cy="41148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Subraportarea</a:t>
            </a:r>
            <a:endParaRPr lang="en-US" sz="1900" dirty="0"/>
          </a:p>
        </p:txBody>
      </p:sp>
      <p:sp>
        <p:nvSpPr>
          <p:cNvPr id="13" name="Text 10"/>
          <p:cNvSpPr/>
          <p:nvPr/>
        </p:nvSpPr>
        <p:spPr>
          <a:xfrm>
            <a:off x="5486400" y="4069080"/>
            <a:ext cx="5852160" cy="7315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Diagnosticul a fost pus, dar nu a ajuns la autorități.</a:t>
            </a:r>
            <a:endParaRPr lang="en-US" sz="1600" dirty="0"/>
          </a:p>
        </p:txBody>
      </p:sp>
      <p:sp>
        <p:nvSpPr>
          <p:cNvPr id="14" name="Text 11"/>
          <p:cNvSpPr/>
          <p:nvPr/>
        </p:nvSpPr>
        <p:spPr>
          <a:xfrm>
            <a:off x="5212080" y="5029200"/>
            <a:ext cx="6400800" cy="91440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Fișa de declarare reduce numai subraportarea. Subdiagnosticarea nu se poate număra; se poate doar estima.</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NUMAI STATELE UNITE · 2019</a:t>
            </a:r>
            <a:endParaRPr lang="en-US" sz="1300" dirty="0"/>
          </a:p>
        </p:txBody>
      </p:sp>
      <p:sp>
        <p:nvSpPr>
          <p:cNvPr id="3" name="Text 1"/>
          <p:cNvSpPr/>
          <p:nvPr/>
        </p:nvSpPr>
        <p:spPr>
          <a:xfrm>
            <a:off x="502920" y="868680"/>
            <a:ext cx="7772400" cy="1554480"/>
          </a:xfrm>
          <a:prstGeom prst="rect">
            <a:avLst/>
          </a:prstGeom>
          <a:noFill/>
          <a:ln/>
        </p:spPr>
        <p:txBody>
          <a:bodyPr wrap="square" lIns="0" tIns="0" rIns="0" bIns="0" rtlCol="0" anchor="ctr"/>
          <a:lstStyle/>
          <a:p>
            <a:pPr indent="0" marL="0">
              <a:buNone/>
            </a:pPr>
            <a:r>
              <a:rPr lang="en-US" sz="9600" b="1" dirty="0">
                <a:solidFill>
                  <a:srgbClr val="FF4757"/>
                </a:solidFill>
                <a:latin typeface="Palatino Linotype" pitchFamily="34" charset="0"/>
                <a:ea typeface="Palatino Linotype" pitchFamily="34" charset="-122"/>
                <a:cs typeface="Palatino Linotype" pitchFamily="34" charset="-120"/>
              </a:rPr>
              <a:t>9,9 milioane</a:t>
            </a:r>
            <a:endParaRPr lang="en-US" sz="9600" dirty="0"/>
          </a:p>
        </p:txBody>
      </p:sp>
      <p:sp>
        <p:nvSpPr>
          <p:cNvPr id="4" name="Text 2"/>
          <p:cNvSpPr/>
          <p:nvPr/>
        </p:nvSpPr>
        <p:spPr>
          <a:xfrm>
            <a:off x="640080" y="2514600"/>
            <a:ext cx="6949440" cy="118872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de îmbolnăviri dobândite în țară, produse de numai 6 microbi transmiși prin alimente (Salmonella, Campylobacter, norovirusul și alții)</a:t>
            </a:r>
            <a:endParaRPr lang="en-US" sz="1800" dirty="0"/>
          </a:p>
        </p:txBody>
      </p:sp>
      <p:sp>
        <p:nvSpPr>
          <p:cNvPr id="5" name="Shape 3"/>
          <p:cNvSpPr/>
          <p:nvPr/>
        </p:nvSpPr>
        <p:spPr>
          <a:xfrm>
            <a:off x="8138160" y="1005840"/>
            <a:ext cx="3429000" cy="2651760"/>
          </a:xfrm>
          <a:prstGeom prst="roundRect">
            <a:avLst>
              <a:gd name="adj" fmla="val 3103"/>
            </a:avLst>
          </a:prstGeom>
          <a:solidFill>
            <a:srgbClr val="272A38"/>
          </a:solidFill>
          <a:ln w="12700">
            <a:solidFill>
              <a:srgbClr val="272A38"/>
            </a:solidFill>
            <a:prstDash val="solid"/>
          </a:ln>
        </p:spPr>
        <p:txBody>
          <a:bodyPr/>
          <a:p/>
        </p:txBody>
      </p:sp>
      <p:sp>
        <p:nvSpPr>
          <p:cNvPr id="6" name="Text 4"/>
          <p:cNvSpPr/>
          <p:nvPr/>
        </p:nvSpPr>
        <p:spPr>
          <a:xfrm>
            <a:off x="8321040" y="1143000"/>
            <a:ext cx="3108960" cy="914400"/>
          </a:xfrm>
          <a:prstGeom prst="rect">
            <a:avLst/>
          </a:prstGeom>
          <a:noFill/>
          <a:ln/>
        </p:spPr>
        <p:txBody>
          <a:bodyPr wrap="square" lIns="0" tIns="0" rIns="0" bIns="0" rtlCol="0" anchor="ctr"/>
          <a:lstStyle/>
          <a:p>
            <a:pPr indent="0" marL="0">
              <a:buNone/>
            </a:pPr>
            <a:r>
              <a:rPr lang="en-US" sz="4400" b="1" dirty="0">
                <a:solidFill>
                  <a:srgbClr val="27D3BE"/>
                </a:solidFill>
                <a:latin typeface="Palatino Linotype" pitchFamily="34" charset="0"/>
                <a:ea typeface="Palatino Linotype" pitchFamily="34" charset="-122"/>
                <a:cs typeface="Palatino Linotype" pitchFamily="34" charset="-120"/>
              </a:rPr>
              <a:t>53 300</a:t>
            </a:r>
            <a:endParaRPr lang="en-US" sz="4400" dirty="0"/>
          </a:p>
        </p:txBody>
      </p:sp>
      <p:sp>
        <p:nvSpPr>
          <p:cNvPr id="7" name="Text 5"/>
          <p:cNvSpPr/>
          <p:nvPr/>
        </p:nvSpPr>
        <p:spPr>
          <a:xfrm>
            <a:off x="8321040" y="2103120"/>
            <a:ext cx="3108960" cy="137160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de oameni trimiși la spital de aceiași microbi, plus Toxoplasma</a:t>
            </a:r>
            <a:endParaRPr lang="en-US" sz="1500" dirty="0"/>
          </a:p>
        </p:txBody>
      </p:sp>
      <p:sp>
        <p:nvSpPr>
          <p:cNvPr id="8" name="Shape 6"/>
          <p:cNvSpPr/>
          <p:nvPr/>
        </p:nvSpPr>
        <p:spPr>
          <a:xfrm>
            <a:off x="594360" y="4114800"/>
            <a:ext cx="10972800" cy="13716"/>
          </a:xfrm>
          <a:prstGeom prst="rect">
            <a:avLst/>
          </a:prstGeom>
          <a:solidFill>
            <a:srgbClr val="3A3E52"/>
          </a:solidFill>
          <a:ln/>
        </p:spPr>
        <p:txBody>
          <a:bodyPr/>
          <a:p/>
        </p:txBody>
      </p:sp>
      <p:sp>
        <p:nvSpPr>
          <p:cNvPr id="9" name="Text 7"/>
          <p:cNvSpPr/>
          <p:nvPr/>
        </p:nvSpPr>
        <p:spPr>
          <a:xfrm>
            <a:off x="594360" y="4251960"/>
            <a:ext cx="10972800" cy="91440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Baza piramidei nu se numără; se estimează, pornind de la cazurile confirmate și corectând pentru cei care nu au ajuns la medic, nu au dat probă sau nu au fost raportați.</a:t>
            </a:r>
            <a:endParaRPr lang="en-US" sz="1700" dirty="0"/>
          </a:p>
        </p:txBody>
      </p:sp>
      <p:sp>
        <p:nvSpPr>
          <p:cNvPr id="10" name="Text 8"/>
          <p:cNvSpPr/>
          <p:nvPr/>
        </p:nvSpPr>
        <p:spPr>
          <a:xfrm>
            <a:off x="594360" y="5257800"/>
            <a:ext cx="10972800" cy="45720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Pentru România nu avem o estimare verificată de acest fel.</a:t>
            </a:r>
            <a:endParaRPr lang="en-US" sz="1900" dirty="0"/>
          </a:p>
        </p:txBody>
      </p:sp>
      <p:sp>
        <p:nvSpPr>
          <p:cNvPr id="11" name="Text 9"/>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estimarea coordonată de CDC pentru 2019 (registru A508, A509).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MERS · UN CORONAVIRUS DE LA CĂMILE</a:t>
            </a:r>
            <a:endParaRPr lang="en-US" sz="1300" dirty="0"/>
          </a:p>
        </p:txBody>
      </p:sp>
      <p:sp>
        <p:nvSpPr>
          <p:cNvPr id="3" name="Text 1"/>
          <p:cNvSpPr/>
          <p:nvPr/>
        </p:nvSpPr>
        <p:spPr>
          <a:xfrm>
            <a:off x="502920" y="822960"/>
            <a:ext cx="5120640" cy="2377440"/>
          </a:xfrm>
          <a:prstGeom prst="rect">
            <a:avLst/>
          </a:prstGeom>
          <a:noFill/>
          <a:ln/>
        </p:spPr>
        <p:txBody>
          <a:bodyPr wrap="square" lIns="0" tIns="0" rIns="0" bIns="0" rtlCol="0" anchor="ctr"/>
          <a:lstStyle/>
          <a:p>
            <a:pPr indent="0" marL="0">
              <a:buNone/>
            </a:pPr>
            <a:r>
              <a:rPr lang="en-US" sz="17000" b="1" dirty="0">
                <a:solidFill>
                  <a:srgbClr val="FF4757"/>
                </a:solidFill>
                <a:latin typeface="Palatino Linotype" pitchFamily="34" charset="0"/>
                <a:ea typeface="Palatino Linotype" pitchFamily="34" charset="-122"/>
                <a:cs typeface="Palatino Linotype" pitchFamily="34" charset="-120"/>
              </a:rPr>
              <a:t>37%</a:t>
            </a:r>
            <a:endParaRPr lang="en-US" sz="17000" dirty="0"/>
          </a:p>
        </p:txBody>
      </p:sp>
      <p:sp>
        <p:nvSpPr>
          <p:cNvPr id="4" name="Text 2"/>
          <p:cNvSpPr/>
          <p:nvPr/>
        </p:nvSpPr>
        <p:spPr>
          <a:xfrm>
            <a:off x="640080" y="3200400"/>
            <a:ext cx="5029200" cy="548640"/>
          </a:xfrm>
          <a:prstGeom prst="rect">
            <a:avLst/>
          </a:prstGeom>
          <a:noFill/>
          <a:ln/>
        </p:spPr>
        <p:txBody>
          <a:bodyPr wrap="square" lIns="0" tIns="0" rIns="0" bIns="0" rtlCol="0" anchor="t"/>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dintre cazurile raportate au murit</a:t>
            </a:r>
            <a:endParaRPr lang="en-US" sz="2100" dirty="0"/>
          </a:p>
        </p:txBody>
      </p:sp>
      <p:sp>
        <p:nvSpPr>
          <p:cNvPr id="5" name="Text 3"/>
          <p:cNvSpPr/>
          <p:nvPr/>
        </p:nvSpPr>
        <p:spPr>
          <a:xfrm>
            <a:off x="640080" y="3840480"/>
            <a:ext cx="5029200" cy="91440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Peste 2 600 de cazuri confirmate în laborator, raportate la OMS din 2012 încoace.</a:t>
            </a:r>
            <a:endParaRPr lang="en-US" sz="1600" dirty="0"/>
          </a:p>
        </p:txBody>
      </p:sp>
      <p:sp>
        <p:nvSpPr>
          <p:cNvPr id="6" name="Shape 4"/>
          <p:cNvSpPr/>
          <p:nvPr/>
        </p:nvSpPr>
        <p:spPr>
          <a:xfrm>
            <a:off x="6217920" y="1097280"/>
            <a:ext cx="5349240" cy="4023360"/>
          </a:xfrm>
          <a:prstGeom prst="roundRect">
            <a:avLst>
              <a:gd name="adj" fmla="val 2045"/>
            </a:avLst>
          </a:prstGeom>
          <a:solidFill>
            <a:srgbClr val="272A38"/>
          </a:solidFill>
          <a:ln w="12700">
            <a:solidFill>
              <a:srgbClr val="272A38"/>
            </a:solidFill>
            <a:prstDash val="solid"/>
          </a:ln>
        </p:spPr>
        <p:txBody>
          <a:bodyPr/>
          <a:p/>
        </p:txBody>
      </p:sp>
      <p:sp>
        <p:nvSpPr>
          <p:cNvPr id="7" name="Text 5"/>
          <p:cNvSpPr/>
          <p:nvPr/>
        </p:nvSpPr>
        <p:spPr>
          <a:xfrm>
            <a:off x="6537960" y="1325880"/>
            <a:ext cx="475488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OMS, chiar în fișa bolii:</a:t>
            </a:r>
            <a:endParaRPr lang="en-US" sz="1600" dirty="0"/>
          </a:p>
        </p:txBody>
      </p:sp>
      <p:sp>
        <p:nvSpPr>
          <p:cNvPr id="8" name="Text 6"/>
          <p:cNvSpPr/>
          <p:nvPr/>
        </p:nvSpPr>
        <p:spPr>
          <a:xfrm>
            <a:off x="6537960" y="1783080"/>
            <a:ext cx="4754880" cy="914400"/>
          </a:xfrm>
          <a:prstGeom prst="rect">
            <a:avLst/>
          </a:prstGeom>
          <a:noFill/>
          <a:ln/>
        </p:spPr>
        <p:txBody>
          <a:bodyPr wrap="square" lIns="0" tIns="0" rIns="0" bIns="0" rtlCol="0" anchor="t"/>
          <a:lstStyle/>
          <a:p>
            <a:pPr indent="0" marL="0">
              <a:buNone/>
            </a:pPr>
            <a:r>
              <a:rPr lang="en-US" sz="2400" b="1" i="1" dirty="0">
                <a:solidFill>
                  <a:srgbClr val="FFFFFF"/>
                </a:solidFill>
                <a:latin typeface="Palatino Linotype" pitchFamily="34" charset="0"/>
                <a:ea typeface="Palatino Linotype" pitchFamily="34" charset="-122"/>
                <a:cs typeface="Palatino Linotype" pitchFamily="34" charset="-120"/>
              </a:rPr>
              <a:t>proporția este „probabil o supraestimare”.</a:t>
            </a:r>
            <a:endParaRPr lang="en-US" sz="2400" dirty="0"/>
          </a:p>
        </p:txBody>
      </p:sp>
      <p:sp>
        <p:nvSpPr>
          <p:cNvPr id="9" name="Text 7"/>
          <p:cNvSpPr/>
          <p:nvPr/>
        </p:nvSpPr>
        <p:spPr>
          <a:xfrm>
            <a:off x="6537960" y="2788920"/>
            <a:ext cx="4754880" cy="210312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Supravegherea poate rata cazurile ușoare sau fără simptome. În vârf ajung mai ales bolnavii gravi, cei internați și testați.</a:t>
            </a:r>
            <a:endParaRPr lang="en-US" sz="1700" dirty="0"/>
          </a:p>
        </p:txBody>
      </p:sp>
      <p:sp>
        <p:nvSpPr>
          <p:cNvPr id="10" name="Text 8"/>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OMS, fișa MERS (registru A518).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CHAT · MENTIMETER</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MINUT ÎN CHAT, APOI VOT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600" b="1" dirty="0">
                <a:solidFill>
                  <a:srgbClr val="FFFFFF"/>
                </a:solidFill>
                <a:latin typeface="Palatino Linotype" pitchFamily="34" charset="0"/>
                <a:ea typeface="Palatino Linotype" pitchFamily="34" charset="-122"/>
                <a:cs typeface="Palatino Linotype" pitchFamily="34" charset="-120"/>
              </a:rPr>
              <a:t>Dacă s-ar testa toți cei cu răceală ușoară, proporția deceselor prin MERS ar…</a:t>
            </a:r>
            <a:endParaRPr lang="en-US" sz="2600" dirty="0"/>
          </a:p>
        </p:txBody>
      </p:sp>
      <p:sp>
        <p:nvSpPr>
          <p:cNvPr id="6" name="Shape 4"/>
          <p:cNvSpPr/>
          <p:nvPr/>
        </p:nvSpPr>
        <p:spPr>
          <a:xfrm>
            <a:off x="594360" y="210312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7" name="Shape 5"/>
          <p:cNvSpPr/>
          <p:nvPr/>
        </p:nvSpPr>
        <p:spPr>
          <a:xfrm>
            <a:off x="914400" y="2304288"/>
            <a:ext cx="420624" cy="420624"/>
          </a:xfrm>
          <a:prstGeom prst="ellipse">
            <a:avLst/>
          </a:prstGeom>
          <a:solidFill>
            <a:srgbClr val="FFC24B"/>
          </a:solidFill>
          <a:ln/>
        </p:spPr>
        <p:txBody>
          <a:bodyPr/>
          <a:p/>
        </p:txBody>
      </p:sp>
      <p:sp>
        <p:nvSpPr>
          <p:cNvPr id="8" name="Text 6"/>
          <p:cNvSpPr/>
          <p:nvPr/>
        </p:nvSpPr>
        <p:spPr>
          <a:xfrm>
            <a:off x="914400" y="2304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2103120"/>
            <a:ext cx="6355080" cy="82296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crește</a:t>
            </a:r>
            <a:endParaRPr lang="en-US" sz="2200" dirty="0"/>
          </a:p>
        </p:txBody>
      </p:sp>
      <p:sp>
        <p:nvSpPr>
          <p:cNvPr id="10" name="Shape 8"/>
          <p:cNvSpPr/>
          <p:nvPr/>
        </p:nvSpPr>
        <p:spPr>
          <a:xfrm>
            <a:off x="594360" y="310896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11" name="Shape 9"/>
          <p:cNvSpPr/>
          <p:nvPr/>
        </p:nvSpPr>
        <p:spPr>
          <a:xfrm>
            <a:off x="914400" y="3310128"/>
            <a:ext cx="420624" cy="420624"/>
          </a:xfrm>
          <a:prstGeom prst="ellipse">
            <a:avLst/>
          </a:prstGeom>
          <a:solidFill>
            <a:srgbClr val="FFC24B"/>
          </a:solidFill>
          <a:ln/>
        </p:spPr>
        <p:txBody>
          <a:bodyPr/>
          <a:p/>
        </p:txBody>
      </p:sp>
      <p:sp>
        <p:nvSpPr>
          <p:cNvPr id="12" name="Text 10"/>
          <p:cNvSpPr/>
          <p:nvPr/>
        </p:nvSpPr>
        <p:spPr>
          <a:xfrm>
            <a:off x="914400" y="33101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3108960"/>
            <a:ext cx="6355080" cy="82296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scădea</a:t>
            </a:r>
            <a:endParaRPr lang="en-US" sz="2200" dirty="0"/>
          </a:p>
        </p:txBody>
      </p:sp>
      <p:sp>
        <p:nvSpPr>
          <p:cNvPr id="14" name="Shape 12"/>
          <p:cNvSpPr/>
          <p:nvPr/>
        </p:nvSpPr>
        <p:spPr>
          <a:xfrm>
            <a:off x="594360" y="4114800"/>
            <a:ext cx="7635240" cy="822960"/>
          </a:xfrm>
          <a:prstGeom prst="roundRect">
            <a:avLst>
              <a:gd name="adj" fmla="val 10000"/>
            </a:avLst>
          </a:prstGeom>
          <a:solidFill>
            <a:srgbClr val="1D1F2B"/>
          </a:solidFill>
          <a:ln w="12700">
            <a:solidFill>
              <a:srgbClr val="1D1F2B"/>
            </a:solidFill>
            <a:prstDash val="solid"/>
          </a:ln>
        </p:spPr>
        <p:txBody>
          <a:bodyPr/>
          <a:p/>
        </p:txBody>
      </p:sp>
      <p:sp>
        <p:nvSpPr>
          <p:cNvPr id="15" name="Shape 13"/>
          <p:cNvSpPr/>
          <p:nvPr/>
        </p:nvSpPr>
        <p:spPr>
          <a:xfrm>
            <a:off x="914400" y="4315968"/>
            <a:ext cx="420624" cy="420624"/>
          </a:xfrm>
          <a:prstGeom prst="ellipse">
            <a:avLst/>
          </a:prstGeom>
          <a:solidFill>
            <a:srgbClr val="FFC24B"/>
          </a:solidFill>
          <a:ln/>
        </p:spPr>
        <p:txBody>
          <a:bodyPr/>
          <a:p/>
        </p:txBody>
      </p:sp>
      <p:sp>
        <p:nvSpPr>
          <p:cNvPr id="16" name="Text 14"/>
          <p:cNvSpPr/>
          <p:nvPr/>
        </p:nvSpPr>
        <p:spPr>
          <a:xfrm>
            <a:off x="914400" y="43159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4114800"/>
            <a:ext cx="6355080" cy="82296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rămâne la fel</a:t>
            </a:r>
            <a:endParaRPr lang="en-US" sz="2200" dirty="0"/>
          </a:p>
        </p:txBody>
      </p:sp>
      <p:sp>
        <p:nvSpPr>
          <p:cNvPr id="18" name="Shape 16"/>
          <p:cNvSpPr/>
          <p:nvPr/>
        </p:nvSpPr>
        <p:spPr>
          <a:xfrm>
            <a:off x="8503920" y="2103120"/>
            <a:ext cx="3063240" cy="3063240"/>
          </a:xfrm>
          <a:prstGeom prst="roundRect">
            <a:avLst>
              <a:gd name="adj" fmla="val 2687"/>
            </a:avLst>
          </a:prstGeom>
          <a:solidFill>
            <a:srgbClr val="FFFFFF"/>
          </a:solidFill>
          <a:ln w="12700">
            <a:solidFill>
              <a:srgbClr val="FFFFFF"/>
            </a:solidFill>
            <a:prstDash val="solid"/>
          </a:ln>
        </p:spPr>
        <p:txBody>
          <a:bodyPr/>
          <a:p/>
        </p:txBody>
      </p:sp>
      <p:pic>
        <p:nvPicPr>
          <p:cNvPr id="19" name="Picture 18" descr="Mentimeter_OPT_DETECTIVI_C03.png"/>
          <p:cNvPicPr>
            <a:picLocks noChangeAspect="1"/>
          </p:cNvPicPr>
          <p:nvPr/>
        </p:nvPicPr>
        <p:blipFill>
          <a:blip r:embed="rId3"/>
          <a:stretch>
            <a:fillRect/>
          </a:stretch>
        </p:blipFill>
        <p:spPr>
          <a:xfrm>
            <a:off x="8817610" y="2103120"/>
            <a:ext cx="2435860" cy="2435860"/>
          </a:xfrm>
          <a:prstGeom prst="rect">
            <a:avLst/>
          </a:prstGeom>
        </p:spPr>
      </p:pic>
      <p:sp>
        <p:nvSpPr>
          <p:cNvPr id="20" name="TextBox 19"/>
          <p:cNvSpPr txBox="1"/>
          <p:nvPr/>
        </p:nvSpPr>
        <p:spPr>
          <a:xfrm>
            <a:off x="8503920" y="457708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DUPĂ VOT</a:t>
            </a:r>
            <a:endParaRPr lang="en-US" sz="1300" dirty="0"/>
          </a:p>
        </p:txBody>
      </p:sp>
      <p:sp>
        <p:nvSpPr>
          <p:cNvPr id="3" name="Text 1"/>
          <p:cNvSpPr/>
          <p:nvPr/>
        </p:nvSpPr>
        <p:spPr>
          <a:xfrm>
            <a:off x="594360" y="777240"/>
            <a:ext cx="10972800" cy="822960"/>
          </a:xfrm>
          <a:prstGeom prst="rect">
            <a:avLst/>
          </a:prstGeom>
          <a:noFill/>
          <a:ln/>
        </p:spPr>
        <p:txBody>
          <a:bodyPr wrap="square" lIns="0" tIns="0" rIns="0" bIns="0" rtlCol="0" anchor="t"/>
          <a:lstStyle/>
          <a:p>
            <a:pPr indent="0" marL="0">
              <a:buNone/>
            </a:pPr>
            <a:r>
              <a:rPr lang="en-US" sz="3800" b="1" dirty="0">
                <a:solidFill>
                  <a:srgbClr val="2E060B"/>
                </a:solidFill>
                <a:latin typeface="Palatino Linotype" pitchFamily="34" charset="0"/>
                <a:ea typeface="Palatino Linotype" pitchFamily="34" charset="-122"/>
                <a:cs typeface="Palatino Linotype" pitchFamily="34" charset="-120"/>
              </a:rPr>
              <a:t>Proporția ar scădea</a:t>
            </a:r>
            <a:endParaRPr lang="en-US" sz="3800" dirty="0"/>
          </a:p>
        </p:txBody>
      </p:sp>
      <p:sp>
        <p:nvSpPr>
          <p:cNvPr id="4" name="Text 2"/>
          <p:cNvSpPr/>
          <p:nvPr/>
        </p:nvSpPr>
        <p:spPr>
          <a:xfrm>
            <a:off x="822960" y="1828800"/>
            <a:ext cx="4937760" cy="411480"/>
          </a:xfrm>
          <a:prstGeom prst="rect">
            <a:avLst/>
          </a:prstGeom>
          <a:noFill/>
          <a:ln/>
        </p:spPr>
        <p:txBody>
          <a:bodyPr wrap="square" lIns="0" tIns="0" rIns="0" bIns="0" rtlCol="0" anchor="t"/>
          <a:lstStyle/>
          <a:p>
            <a:pPr indent="0" marL="0">
              <a:buNone/>
            </a:pPr>
            <a:r>
              <a:rPr lang="en-US" sz="1800" b="1" dirty="0">
                <a:solidFill>
                  <a:srgbClr val="2E060B"/>
                </a:solidFill>
                <a:latin typeface="Palatino Linotype" pitchFamily="34" charset="0"/>
                <a:ea typeface="Palatino Linotype" pitchFamily="34" charset="-122"/>
                <a:cs typeface="Palatino Linotype" pitchFamily="34" charset="-120"/>
              </a:rPr>
              <a:t>Acum</a:t>
            </a:r>
            <a:endParaRPr lang="en-US" sz="1800" dirty="0"/>
          </a:p>
        </p:txBody>
      </p:sp>
      <p:sp>
        <p:nvSpPr>
          <p:cNvPr id="5" name="Text 3"/>
          <p:cNvSpPr/>
          <p:nvPr/>
        </p:nvSpPr>
        <p:spPr>
          <a:xfrm>
            <a:off x="822960" y="2331720"/>
            <a:ext cx="12344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Palatino Linotype" pitchFamily="34" charset="0"/>
                <a:ea typeface="Palatino Linotype" pitchFamily="34" charset="-122"/>
                <a:cs typeface="Palatino Linotype" pitchFamily="34" charset="-120"/>
              </a:rPr>
              <a:t>decese</a:t>
            </a:r>
            <a:endParaRPr lang="en-US" sz="2000" dirty="0"/>
          </a:p>
        </p:txBody>
      </p:sp>
      <p:sp>
        <p:nvSpPr>
          <p:cNvPr id="6" name="Shape 4"/>
          <p:cNvSpPr/>
          <p:nvPr/>
        </p:nvSpPr>
        <p:spPr>
          <a:xfrm>
            <a:off x="822960" y="2926080"/>
            <a:ext cx="1234440" cy="45720"/>
          </a:xfrm>
          <a:prstGeom prst="rect">
            <a:avLst/>
          </a:prstGeom>
          <a:solidFill>
            <a:srgbClr val="2E060B"/>
          </a:solidFill>
          <a:ln w="12700">
            <a:solidFill>
              <a:srgbClr val="2E060B"/>
            </a:solidFill>
            <a:prstDash val="solid"/>
          </a:ln>
        </p:spPr>
        <p:txBody>
          <a:bodyPr/>
          <a:p/>
        </p:txBody>
      </p:sp>
      <p:sp>
        <p:nvSpPr>
          <p:cNvPr id="7" name="Shape 5"/>
          <p:cNvSpPr/>
          <p:nvPr/>
        </p:nvSpPr>
        <p:spPr>
          <a:xfrm>
            <a:off x="822960" y="3063240"/>
            <a:ext cx="1234440" cy="594360"/>
          </a:xfrm>
          <a:prstGeom prst="rect">
            <a:avLst/>
          </a:prstGeom>
          <a:solidFill>
            <a:srgbClr val="701C22"/>
          </a:solidFill>
          <a:ln w="12700">
            <a:solidFill>
              <a:srgbClr val="701C22"/>
            </a:solidFill>
            <a:prstDash val="solid"/>
          </a:ln>
        </p:spPr>
        <p:txBody>
          <a:bodyPr/>
          <a:p/>
        </p:txBody>
      </p:sp>
      <p:sp>
        <p:nvSpPr>
          <p:cNvPr id="8" name="Text 6"/>
          <p:cNvSpPr/>
          <p:nvPr/>
        </p:nvSpPr>
        <p:spPr>
          <a:xfrm>
            <a:off x="822960" y="3749040"/>
            <a:ext cx="4937760" cy="411480"/>
          </a:xfrm>
          <a:prstGeom prst="rect">
            <a:avLst/>
          </a:prstGeom>
          <a:noFill/>
          <a:ln/>
        </p:spPr>
        <p:txBody>
          <a:bodyPr wrap="square" lIns="0" tIns="0" rIns="0" bIns="0" rtlCol="0" anchor="t"/>
          <a:lstStyle/>
          <a:p>
            <a:pPr indent="0" marL="0">
              <a:buNone/>
            </a:pPr>
            <a:r>
              <a:rPr lang="en-US" sz="1600" i="1" dirty="0">
                <a:solidFill>
                  <a:srgbClr val="2E060B"/>
                </a:solidFill>
                <a:latin typeface="Palatino Linotype" pitchFamily="34" charset="0"/>
                <a:ea typeface="Palatino Linotype" pitchFamily="34" charset="-122"/>
                <a:cs typeface="Palatino Linotype" pitchFamily="34" charset="-120"/>
              </a:rPr>
              <a:t>cazurile din vârf</a:t>
            </a:r>
            <a:endParaRPr lang="en-US" sz="1600" dirty="0"/>
          </a:p>
        </p:txBody>
      </p:sp>
      <p:sp>
        <p:nvSpPr>
          <p:cNvPr id="9" name="Text 7"/>
          <p:cNvSpPr/>
          <p:nvPr/>
        </p:nvSpPr>
        <p:spPr>
          <a:xfrm>
            <a:off x="6492240" y="1828800"/>
            <a:ext cx="4937760" cy="411480"/>
          </a:xfrm>
          <a:prstGeom prst="rect">
            <a:avLst/>
          </a:prstGeom>
          <a:noFill/>
          <a:ln/>
        </p:spPr>
        <p:txBody>
          <a:bodyPr wrap="square" lIns="0" tIns="0" rIns="0" bIns="0" rtlCol="0" anchor="t"/>
          <a:lstStyle/>
          <a:p>
            <a:pPr indent="0" marL="0">
              <a:buNone/>
            </a:pPr>
            <a:r>
              <a:rPr lang="en-US" sz="1800" b="1" dirty="0">
                <a:solidFill>
                  <a:srgbClr val="2E060B"/>
                </a:solidFill>
                <a:latin typeface="Palatino Linotype" pitchFamily="34" charset="0"/>
                <a:ea typeface="Palatino Linotype" pitchFamily="34" charset="-122"/>
                <a:cs typeface="Palatino Linotype" pitchFamily="34" charset="-120"/>
              </a:rPr>
              <a:t>Dacă testăm toți</a:t>
            </a:r>
            <a:endParaRPr lang="en-US" sz="1800" dirty="0"/>
          </a:p>
        </p:txBody>
      </p:sp>
      <p:sp>
        <p:nvSpPr>
          <p:cNvPr id="10" name="Text 8"/>
          <p:cNvSpPr/>
          <p:nvPr/>
        </p:nvSpPr>
        <p:spPr>
          <a:xfrm>
            <a:off x="6492240" y="2331720"/>
            <a:ext cx="365760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Palatino Linotype" pitchFamily="34" charset="0"/>
                <a:ea typeface="Palatino Linotype" pitchFamily="34" charset="-122"/>
                <a:cs typeface="Palatino Linotype" pitchFamily="34" charset="-120"/>
              </a:rPr>
              <a:t>decese</a:t>
            </a:r>
            <a:endParaRPr lang="en-US" sz="2000" dirty="0"/>
          </a:p>
        </p:txBody>
      </p:sp>
      <p:sp>
        <p:nvSpPr>
          <p:cNvPr id="11" name="Shape 9"/>
          <p:cNvSpPr/>
          <p:nvPr/>
        </p:nvSpPr>
        <p:spPr>
          <a:xfrm>
            <a:off x="6492240" y="2926080"/>
            <a:ext cx="3657600" cy="45720"/>
          </a:xfrm>
          <a:prstGeom prst="rect">
            <a:avLst/>
          </a:prstGeom>
          <a:solidFill>
            <a:srgbClr val="2E060B"/>
          </a:solidFill>
          <a:ln w="12700">
            <a:solidFill>
              <a:srgbClr val="2E060B"/>
            </a:solidFill>
            <a:prstDash val="solid"/>
          </a:ln>
        </p:spPr>
        <p:txBody>
          <a:bodyPr/>
          <a:p/>
        </p:txBody>
      </p:sp>
      <p:sp>
        <p:nvSpPr>
          <p:cNvPr id="12" name="Shape 10"/>
          <p:cNvSpPr/>
          <p:nvPr/>
        </p:nvSpPr>
        <p:spPr>
          <a:xfrm>
            <a:off x="6492240" y="3063240"/>
            <a:ext cx="3657600" cy="594360"/>
          </a:xfrm>
          <a:prstGeom prst="rect">
            <a:avLst/>
          </a:prstGeom>
          <a:solidFill>
            <a:srgbClr val="701C22"/>
          </a:solidFill>
          <a:ln w="12700">
            <a:solidFill>
              <a:srgbClr val="701C22"/>
            </a:solidFill>
            <a:prstDash val="solid"/>
          </a:ln>
        </p:spPr>
        <p:txBody>
          <a:bodyPr/>
          <a:p/>
        </p:txBody>
      </p:sp>
      <p:sp>
        <p:nvSpPr>
          <p:cNvPr id="13" name="Text 11"/>
          <p:cNvSpPr/>
          <p:nvPr/>
        </p:nvSpPr>
        <p:spPr>
          <a:xfrm>
            <a:off x="6492240" y="3749040"/>
            <a:ext cx="4937760" cy="411480"/>
          </a:xfrm>
          <a:prstGeom prst="rect">
            <a:avLst/>
          </a:prstGeom>
          <a:noFill/>
          <a:ln/>
        </p:spPr>
        <p:txBody>
          <a:bodyPr wrap="square" lIns="0" tIns="0" rIns="0" bIns="0" rtlCol="0" anchor="t"/>
          <a:lstStyle/>
          <a:p>
            <a:pPr indent="0" marL="0">
              <a:buNone/>
            </a:pPr>
            <a:r>
              <a:rPr lang="en-US" sz="1600" i="1" dirty="0">
                <a:solidFill>
                  <a:srgbClr val="2E060B"/>
                </a:solidFill>
                <a:latin typeface="Palatino Linotype" pitchFamily="34" charset="0"/>
                <a:ea typeface="Palatino Linotype" pitchFamily="34" charset="-122"/>
                <a:cs typeface="Palatino Linotype" pitchFamily="34" charset="-120"/>
              </a:rPr>
              <a:t>și cei ușori</a:t>
            </a:r>
            <a:endParaRPr lang="en-US" sz="1600" dirty="0"/>
          </a:p>
        </p:txBody>
      </p:sp>
      <p:sp>
        <p:nvSpPr>
          <p:cNvPr id="14" name="Text 12"/>
          <p:cNvSpPr/>
          <p:nvPr/>
        </p:nvSpPr>
        <p:spPr>
          <a:xfrm>
            <a:off x="594360" y="4526280"/>
            <a:ext cx="10972800" cy="1188720"/>
          </a:xfrm>
          <a:prstGeom prst="rect">
            <a:avLst/>
          </a:prstGeom>
          <a:noFill/>
          <a:ln/>
        </p:spPr>
        <p:txBody>
          <a:bodyPr wrap="square" lIns="0" tIns="0" rIns="0" bIns="0" rtlCol="0" anchor="t"/>
          <a:lstStyle/>
          <a:p>
            <a:pPr indent="0" marL="0">
              <a:buNone/>
            </a:pPr>
            <a:r>
              <a:rPr lang="en-US" sz="1900" b="1" dirty="0">
                <a:solidFill>
                  <a:srgbClr val="2E060B"/>
                </a:solidFill>
                <a:latin typeface="Palatino Linotype" pitchFamily="34" charset="0"/>
                <a:ea typeface="Palatino Linotype" pitchFamily="34" charset="-122"/>
                <a:cs typeface="Palatino Linotype" pitchFamily="34" charset="-120"/>
              </a:rPr>
              <a:t>Decesele rămân aceleași; numărul cazurilor crește. La începutul unei epidemii noi, când se testează numai cei internați, letalitatea se citește cu prudență.</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ÎNAPOI LA VOTUL ÎNTÂI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În exemplul construit: foarte puțini</a:t>
            </a:r>
            <a:endParaRPr lang="en-US" sz="3200" dirty="0"/>
          </a:p>
        </p:txBody>
      </p:sp>
      <p:sp>
        <p:nvSpPr>
          <p:cNvPr id="4" name="Text 2"/>
          <p:cNvSpPr/>
          <p:nvPr/>
        </p:nvSpPr>
        <p:spPr>
          <a:xfrm>
            <a:off x="594360" y="1463040"/>
            <a:ext cx="10972800" cy="100584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Doi din douăzeci și doi. Sistemul nu este neapărat rău: fiecare treaptă a piramidei filtrează. Cât de puțini ar fi într-un focar real nu se poate spune fără o anchetă.</a:t>
            </a:r>
            <a:endParaRPr lang="en-US" sz="1800" dirty="0"/>
          </a:p>
        </p:txBody>
      </p:sp>
      <p:sp>
        <p:nvSpPr>
          <p:cNvPr id="5" name="Shape 3"/>
          <p:cNvSpPr/>
          <p:nvPr/>
        </p:nvSpPr>
        <p:spPr>
          <a:xfrm>
            <a:off x="594360" y="2743200"/>
            <a:ext cx="5349240" cy="2651760"/>
          </a:xfrm>
          <a:prstGeom prst="roundRect">
            <a:avLst>
              <a:gd name="adj" fmla="val 3103"/>
            </a:avLst>
          </a:prstGeom>
          <a:solidFill>
            <a:srgbClr val="F4E0E2"/>
          </a:solidFill>
          <a:ln w="12700">
            <a:solidFill>
              <a:srgbClr val="F4E0E2"/>
            </a:solidFill>
            <a:prstDash val="solid"/>
          </a:ln>
        </p:spPr>
        <p:txBody>
          <a:bodyPr/>
          <a:p/>
        </p:txBody>
      </p:sp>
      <p:sp>
        <p:nvSpPr>
          <p:cNvPr id="6" name="Text 4"/>
          <p:cNvSpPr/>
          <p:nvPr/>
        </p:nvSpPr>
        <p:spPr>
          <a:xfrm>
            <a:off x="868680" y="2880360"/>
            <a:ext cx="4846320" cy="45720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Ca studenți</a:t>
            </a:r>
            <a:endParaRPr lang="en-US" sz="2100" dirty="0"/>
          </a:p>
        </p:txBody>
      </p:sp>
      <p:sp>
        <p:nvSpPr>
          <p:cNvPr id="7" name="Text 5"/>
          <p:cNvSpPr/>
          <p:nvPr/>
        </p:nvSpPr>
        <p:spPr>
          <a:xfrm>
            <a:off x="868680" y="3429000"/>
            <a:ext cx="4846320" cy="18288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mai mulți colegi au aceleași simptome după o masă comună, spuneți-i medicului că nu sunteți singurul. Așa poate cere o probă.</a:t>
            </a:r>
            <a:endParaRPr lang="en-US" sz="1700" dirty="0"/>
          </a:p>
        </p:txBody>
      </p:sp>
      <p:sp>
        <p:nvSpPr>
          <p:cNvPr id="8" name="Shape 6"/>
          <p:cNvSpPr/>
          <p:nvPr/>
        </p:nvSpPr>
        <p:spPr>
          <a:xfrm>
            <a:off x="6217920" y="2743200"/>
            <a:ext cx="5349240" cy="2651760"/>
          </a:xfrm>
          <a:prstGeom prst="roundRect">
            <a:avLst>
              <a:gd name="adj" fmla="val 3103"/>
            </a:avLst>
          </a:prstGeom>
          <a:solidFill>
            <a:srgbClr val="E1F0EC"/>
          </a:solidFill>
          <a:ln w="12700">
            <a:solidFill>
              <a:srgbClr val="E1F0EC"/>
            </a:solidFill>
            <a:prstDash val="solid"/>
          </a:ln>
        </p:spPr>
        <p:txBody>
          <a:bodyPr/>
          <a:p/>
        </p:txBody>
      </p:sp>
      <p:sp>
        <p:nvSpPr>
          <p:cNvPr id="9" name="Text 7"/>
          <p:cNvSpPr/>
          <p:nvPr/>
        </p:nvSpPr>
        <p:spPr>
          <a:xfrm>
            <a:off x="6492240" y="2880360"/>
            <a:ext cx="4846320" cy="45720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Ca viitori medici</a:t>
            </a:r>
            <a:endParaRPr lang="en-US" sz="2100" dirty="0"/>
          </a:p>
        </p:txBody>
      </p:sp>
      <p:sp>
        <p:nvSpPr>
          <p:cNvPr id="10" name="Text 8"/>
          <p:cNvSpPr/>
          <p:nvPr/>
        </p:nvSpPr>
        <p:spPr>
          <a:xfrm>
            <a:off x="6492240" y="3429000"/>
            <a:ext cx="4846320" cy="18288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Analiza este o decizie clinică și poate fi „nu”. Fișa de declarare, la o boală cu declarare obligatorie, nu este o formalitate.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CAZ CONSTRUIT · POVESTEA A DOUA</a:t>
            </a:r>
            <a:endParaRPr lang="en-US" sz="1300" dirty="0"/>
          </a:p>
        </p:txBody>
      </p:sp>
      <p:sp>
        <p:nvSpPr>
          <p:cNvPr id="3" name="Text 1"/>
          <p:cNvSpPr/>
          <p:nvPr/>
        </p:nvSpPr>
        <p:spPr>
          <a:xfrm>
            <a:off x="594360" y="713232"/>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Terapia intensivă, într-o noapte de noiembrie</a:t>
            </a:r>
            <a:endParaRPr lang="en-US" sz="3000" dirty="0"/>
          </a:p>
        </p:txBody>
      </p:sp>
      <p:sp>
        <p:nvSpPr>
          <p:cNvPr id="4" name="Shape 2"/>
          <p:cNvSpPr/>
          <p:nvPr/>
        </p:nvSpPr>
        <p:spPr>
          <a:xfrm>
            <a:off x="594360" y="1691640"/>
            <a:ext cx="6766560" cy="4206240"/>
          </a:xfrm>
          <a:prstGeom prst="roundRect">
            <a:avLst>
              <a:gd name="adj" fmla="val 1957"/>
            </a:avLst>
          </a:prstGeom>
          <a:solidFill>
            <a:srgbClr val="FBF8F1"/>
          </a:solidFill>
          <a:ln w="12700">
            <a:solidFill>
              <a:srgbClr val="FBF8F1"/>
            </a:solidFill>
            <a:prstDash val="solid"/>
          </a:ln>
        </p:spPr>
        <p:txBody>
          <a:bodyPr/>
          <a:p/>
        </p:txBody>
      </p:sp>
      <p:sp>
        <p:nvSpPr>
          <p:cNvPr id="5" name="Text 3"/>
          <p:cNvSpPr/>
          <p:nvPr/>
        </p:nvSpPr>
        <p:spPr>
          <a:xfrm>
            <a:off x="868680" y="1828800"/>
            <a:ext cx="6217920" cy="320040"/>
          </a:xfrm>
          <a:prstGeom prst="rect">
            <a:avLst/>
          </a:prstGeom>
          <a:noFill/>
          <a:ln/>
        </p:spPr>
        <p:txBody>
          <a:bodyPr wrap="square" lIns="0" tIns="0" rIns="0" bIns="0" rtlCol="0" anchor="t"/>
          <a:lstStyle/>
          <a:p>
            <a:pPr indent="0" marL="0">
              <a:buNone/>
            </a:pPr>
            <a:r>
              <a:rPr lang="en-US" sz="1100" b="1" spc="200" kern="0" dirty="0">
                <a:solidFill>
                  <a:srgbClr val="585A64"/>
                </a:solidFill>
                <a:latin typeface="Palatino Linotype" pitchFamily="34" charset="0"/>
                <a:ea typeface="Palatino Linotype" pitchFamily="34" charset="-122"/>
                <a:cs typeface="Palatino Linotype" pitchFamily="34" charset="-120"/>
              </a:rPr>
              <a:t>FOAIE DE OBSERVAȚIE · EXTRAS</a:t>
            </a:r>
            <a:endParaRPr lang="en-US" sz="1100" dirty="0"/>
          </a:p>
        </p:txBody>
      </p:sp>
      <p:sp>
        <p:nvSpPr>
          <p:cNvPr id="6" name="Shape 4"/>
          <p:cNvSpPr/>
          <p:nvPr/>
        </p:nvSpPr>
        <p:spPr>
          <a:xfrm>
            <a:off x="868680" y="2889504"/>
            <a:ext cx="6217920" cy="10973"/>
          </a:xfrm>
          <a:prstGeom prst="rect">
            <a:avLst/>
          </a:prstGeom>
          <a:solidFill>
            <a:srgbClr val="C9C6BE"/>
          </a:solidFill>
          <a:ln w="12700">
            <a:solidFill>
              <a:srgbClr val="C9C6BE"/>
            </a:solidFill>
            <a:prstDash val="solid"/>
          </a:ln>
        </p:spPr>
        <p:txBody>
          <a:bodyPr/>
          <a:p/>
        </p:txBody>
      </p:sp>
      <p:sp>
        <p:nvSpPr>
          <p:cNvPr id="7" name="Text 5"/>
          <p:cNvSpPr/>
          <p:nvPr/>
        </p:nvSpPr>
        <p:spPr>
          <a:xfrm>
            <a:off x="868680" y="228600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Vârsta</a:t>
            </a:r>
            <a:endParaRPr lang="en-US" sz="1400" dirty="0"/>
          </a:p>
        </p:txBody>
      </p:sp>
      <p:sp>
        <p:nvSpPr>
          <p:cNvPr id="8" name="Text 6"/>
          <p:cNvSpPr/>
          <p:nvPr/>
        </p:nvSpPr>
        <p:spPr>
          <a:xfrm>
            <a:off x="2926080" y="2286000"/>
            <a:ext cx="4206240" cy="5486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trecut de șaptezeci de ani</a:t>
            </a:r>
            <a:endParaRPr lang="en-US" sz="1600" dirty="0"/>
          </a:p>
        </p:txBody>
      </p:sp>
      <p:sp>
        <p:nvSpPr>
          <p:cNvPr id="9" name="Shape 7"/>
          <p:cNvSpPr/>
          <p:nvPr/>
        </p:nvSpPr>
        <p:spPr>
          <a:xfrm>
            <a:off x="868680" y="3575304"/>
            <a:ext cx="6217920" cy="10973"/>
          </a:xfrm>
          <a:prstGeom prst="rect">
            <a:avLst/>
          </a:prstGeom>
          <a:solidFill>
            <a:srgbClr val="C9C6BE"/>
          </a:solidFill>
          <a:ln w="12700">
            <a:solidFill>
              <a:srgbClr val="C9C6BE"/>
            </a:solidFill>
            <a:prstDash val="solid"/>
          </a:ln>
        </p:spPr>
        <p:txBody>
          <a:bodyPr/>
          <a:p/>
        </p:txBody>
      </p:sp>
      <p:sp>
        <p:nvSpPr>
          <p:cNvPr id="10" name="Text 8"/>
          <p:cNvSpPr/>
          <p:nvPr/>
        </p:nvSpPr>
        <p:spPr>
          <a:xfrm>
            <a:off x="868680" y="297180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Antecedente</a:t>
            </a:r>
            <a:endParaRPr lang="en-US" sz="1400" dirty="0"/>
          </a:p>
        </p:txBody>
      </p:sp>
      <p:sp>
        <p:nvSpPr>
          <p:cNvPr id="11" name="Text 9"/>
          <p:cNvSpPr/>
          <p:nvPr/>
        </p:nvSpPr>
        <p:spPr>
          <a:xfrm>
            <a:off x="2926080" y="2971800"/>
            <a:ext cx="4206240" cy="5486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diabet zaharat, de mulți ani</a:t>
            </a:r>
            <a:endParaRPr lang="en-US" sz="1600" dirty="0"/>
          </a:p>
        </p:txBody>
      </p:sp>
      <p:sp>
        <p:nvSpPr>
          <p:cNvPr id="12" name="Shape 10"/>
          <p:cNvSpPr/>
          <p:nvPr/>
        </p:nvSpPr>
        <p:spPr>
          <a:xfrm>
            <a:off x="868680" y="4261104"/>
            <a:ext cx="6217920" cy="10973"/>
          </a:xfrm>
          <a:prstGeom prst="rect">
            <a:avLst/>
          </a:prstGeom>
          <a:solidFill>
            <a:srgbClr val="C9C6BE"/>
          </a:solidFill>
          <a:ln w="12700">
            <a:solidFill>
              <a:srgbClr val="C9C6BE"/>
            </a:solidFill>
            <a:prstDash val="solid"/>
          </a:ln>
        </p:spPr>
        <p:txBody>
          <a:bodyPr/>
          <a:p/>
        </p:txBody>
      </p:sp>
      <p:sp>
        <p:nvSpPr>
          <p:cNvPr id="13" name="Text 11"/>
          <p:cNvSpPr/>
          <p:nvPr/>
        </p:nvSpPr>
        <p:spPr>
          <a:xfrm>
            <a:off x="868680" y="365760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La internare</a:t>
            </a:r>
            <a:endParaRPr lang="en-US" sz="1400" dirty="0"/>
          </a:p>
        </p:txBody>
      </p:sp>
      <p:sp>
        <p:nvSpPr>
          <p:cNvPr id="14" name="Text 12"/>
          <p:cNvSpPr/>
          <p:nvPr/>
        </p:nvSpPr>
        <p:spPr>
          <a:xfrm>
            <a:off x="2926080" y="3657600"/>
            <a:ext cx="4206240" cy="5486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COVID-19 confirmat prin test</a:t>
            </a:r>
            <a:endParaRPr lang="en-US" sz="1600" dirty="0"/>
          </a:p>
        </p:txBody>
      </p:sp>
      <p:sp>
        <p:nvSpPr>
          <p:cNvPr id="15" name="Shape 13"/>
          <p:cNvSpPr/>
          <p:nvPr/>
        </p:nvSpPr>
        <p:spPr>
          <a:xfrm>
            <a:off x="868680" y="4946904"/>
            <a:ext cx="6217920" cy="10973"/>
          </a:xfrm>
          <a:prstGeom prst="rect">
            <a:avLst/>
          </a:prstGeom>
          <a:solidFill>
            <a:srgbClr val="C9C6BE"/>
          </a:solidFill>
          <a:ln w="12700">
            <a:solidFill>
              <a:srgbClr val="C9C6BE"/>
            </a:solidFill>
            <a:prstDash val="solid"/>
          </a:ln>
        </p:spPr>
        <p:txBody>
          <a:bodyPr/>
          <a:p/>
        </p:txBody>
      </p:sp>
      <p:sp>
        <p:nvSpPr>
          <p:cNvPr id="16" name="Text 14"/>
          <p:cNvSpPr/>
          <p:nvPr/>
        </p:nvSpPr>
        <p:spPr>
          <a:xfrm>
            <a:off x="868680" y="434340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Evoluție</a:t>
            </a:r>
            <a:endParaRPr lang="en-US" sz="1400" dirty="0"/>
          </a:p>
        </p:txBody>
      </p:sp>
      <p:sp>
        <p:nvSpPr>
          <p:cNvPr id="17" name="Text 15"/>
          <p:cNvSpPr/>
          <p:nvPr/>
        </p:nvSpPr>
        <p:spPr>
          <a:xfrm>
            <a:off x="2926080" y="4343400"/>
            <a:ext cx="4206240" cy="5486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pneumonie, apoi insuficiență respiratorie gravă</a:t>
            </a:r>
            <a:endParaRPr lang="en-US" sz="1600" dirty="0"/>
          </a:p>
        </p:txBody>
      </p:sp>
      <p:sp>
        <p:nvSpPr>
          <p:cNvPr id="18" name="Shape 16"/>
          <p:cNvSpPr/>
          <p:nvPr/>
        </p:nvSpPr>
        <p:spPr>
          <a:xfrm>
            <a:off x="868680" y="5632704"/>
            <a:ext cx="6217920" cy="10973"/>
          </a:xfrm>
          <a:prstGeom prst="rect">
            <a:avLst/>
          </a:prstGeom>
          <a:solidFill>
            <a:srgbClr val="C9C6BE"/>
          </a:solidFill>
          <a:ln w="12700">
            <a:solidFill>
              <a:srgbClr val="C9C6BE"/>
            </a:solidFill>
            <a:prstDash val="solid"/>
          </a:ln>
        </p:spPr>
        <p:txBody>
          <a:bodyPr/>
          <a:p/>
        </p:txBody>
      </p:sp>
      <p:sp>
        <p:nvSpPr>
          <p:cNvPr id="19" name="Text 17"/>
          <p:cNvSpPr/>
          <p:nvPr/>
        </p:nvSpPr>
        <p:spPr>
          <a:xfrm>
            <a:off x="868680" y="5029200"/>
            <a:ext cx="2011680" cy="548640"/>
          </a:xfrm>
          <a:prstGeom prst="rect">
            <a:avLst/>
          </a:prstGeom>
          <a:noFill/>
          <a:ln/>
        </p:spPr>
        <p:txBody>
          <a:bodyPr wrap="square" lIns="0" tIns="0" rIns="0" bIns="0" rtlCol="0" anchor="ctr"/>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După zece zile</a:t>
            </a:r>
            <a:endParaRPr lang="en-US" sz="1400" dirty="0"/>
          </a:p>
        </p:txBody>
      </p:sp>
      <p:sp>
        <p:nvSpPr>
          <p:cNvPr id="20" name="Text 18"/>
          <p:cNvSpPr/>
          <p:nvPr/>
        </p:nvSpPr>
        <p:spPr>
          <a:xfrm>
            <a:off x="2926080" y="5029200"/>
            <a:ext cx="4206240" cy="5486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deces, pe la ora trei noaptea</a:t>
            </a:r>
            <a:endParaRPr lang="en-US" sz="1600" dirty="0"/>
          </a:p>
        </p:txBody>
      </p:sp>
      <p:sp>
        <p:nvSpPr>
          <p:cNvPr id="21" name="Text 19"/>
          <p:cNvSpPr/>
          <p:nvPr/>
        </p:nvSpPr>
        <p:spPr>
          <a:xfrm>
            <a:off x="7726680" y="1828800"/>
            <a:ext cx="3840480" cy="2377440"/>
          </a:xfrm>
          <a:prstGeom prst="rect">
            <a:avLst/>
          </a:prstGeom>
          <a:noFill/>
          <a:ln/>
        </p:spPr>
        <p:txBody>
          <a:bodyPr wrap="square" lIns="0" tIns="0" rIns="0" bIns="0" rtlCol="0" anchor="t"/>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Medicul de gardă, care l-a cunoscut puțin, trebuie să completeze certificatul medical al cauzei de deces.</a:t>
            </a:r>
            <a:endParaRPr lang="en-US" sz="2000" dirty="0"/>
          </a:p>
        </p:txBody>
      </p:sp>
      <p:sp>
        <p:nvSpPr>
          <p:cNvPr id="22" name="Text 20"/>
          <p:cNvSpPr/>
          <p:nvPr/>
        </p:nvSpPr>
        <p:spPr>
          <a:xfrm>
            <a:off x="7726680" y="4389120"/>
            <a:ext cx="3840480" cy="9144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De ce a murit, în statistică?</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TREI MEDICI DE GARDĂ</a:t>
            </a:r>
            <a:endParaRPr lang="en-US" sz="1300" dirty="0"/>
          </a:p>
        </p:txBody>
      </p:sp>
      <p:sp>
        <p:nvSpPr>
          <p:cNvPr id="5" name="Text 3"/>
          <p:cNvSpPr/>
          <p:nvPr/>
        </p:nvSpPr>
        <p:spPr>
          <a:xfrm>
            <a:off x="594360" y="731520"/>
            <a:ext cx="7863840" cy="914400"/>
          </a:xfrm>
          <a:prstGeom prst="rect">
            <a:avLst/>
          </a:prstGeom>
          <a:noFill/>
          <a:ln/>
        </p:spPr>
        <p:txBody>
          <a:bodyPr wrap="square" lIns="0" tIns="0" rIns="0" bIns="0" rtlCol="0" anchor="t"/>
          <a:lstStyle/>
          <a:p>
            <a:pPr indent="0" marL="0">
              <a:buNone/>
            </a:pPr>
            <a:r>
              <a:rPr lang="en-US" sz="2400" b="1" dirty="0">
                <a:solidFill>
                  <a:srgbClr val="FFFFFF"/>
                </a:solidFill>
                <a:latin typeface="Palatino Linotype" pitchFamily="34" charset="0"/>
                <a:ea typeface="Palatino Linotype" pitchFamily="34" charset="-122"/>
                <a:cs typeface="Palatino Linotype" pitchFamily="34" charset="-120"/>
              </a:rPr>
              <a:t>În care variantă intră pacientul în cifra deceselor prin COVID-19?</a:t>
            </a:r>
            <a:endParaRPr lang="en-US" sz="2400" dirty="0"/>
          </a:p>
        </p:txBody>
      </p:sp>
      <p:sp>
        <p:nvSpPr>
          <p:cNvPr id="6" name="Shape 4"/>
          <p:cNvSpPr/>
          <p:nvPr/>
        </p:nvSpPr>
        <p:spPr>
          <a:xfrm>
            <a:off x="594360" y="1783080"/>
            <a:ext cx="7635240" cy="1188720"/>
          </a:xfrm>
          <a:prstGeom prst="roundRect">
            <a:avLst>
              <a:gd name="adj" fmla="val 6923"/>
            </a:avLst>
          </a:prstGeom>
          <a:solidFill>
            <a:srgbClr val="FBF8F1"/>
          </a:solidFill>
          <a:ln w="12700">
            <a:solidFill>
              <a:srgbClr val="FBF8F1"/>
            </a:solidFill>
            <a:prstDash val="solid"/>
          </a:ln>
        </p:spPr>
        <p:txBody>
          <a:bodyPr/>
          <a:p/>
        </p:txBody>
      </p:sp>
      <p:sp>
        <p:nvSpPr>
          <p:cNvPr id="7" name="Text 5"/>
          <p:cNvSpPr/>
          <p:nvPr/>
        </p:nvSpPr>
        <p:spPr>
          <a:xfrm>
            <a:off x="822960" y="1783080"/>
            <a:ext cx="731520" cy="1188720"/>
          </a:xfrm>
          <a:prstGeom prst="rect">
            <a:avLst/>
          </a:prstGeom>
          <a:noFill/>
          <a:ln/>
        </p:spPr>
        <p:txBody>
          <a:bodyPr wrap="square" lIns="0" tIns="0" rIns="0" bIns="0" rtlCol="0" anchor="ctr"/>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(a)</a:t>
            </a:r>
            <a:endParaRPr lang="en-US" sz="2400" dirty="0"/>
          </a:p>
        </p:txBody>
      </p:sp>
      <p:sp>
        <p:nvSpPr>
          <p:cNvPr id="8" name="Text 6"/>
          <p:cNvSpPr/>
          <p:nvPr/>
        </p:nvSpPr>
        <p:spPr>
          <a:xfrm>
            <a:off x="1600200" y="1920240"/>
            <a:ext cx="6492240" cy="548640"/>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„Stop cardiorespirator.”</a:t>
            </a:r>
            <a:endParaRPr lang="en-US" sz="1800" dirty="0"/>
          </a:p>
        </p:txBody>
      </p:sp>
      <p:sp>
        <p:nvSpPr>
          <p:cNvPr id="9" name="Text 7"/>
          <p:cNvSpPr/>
          <p:nvPr/>
        </p:nvSpPr>
        <p:spPr>
          <a:xfrm>
            <a:off x="1600200" y="2468880"/>
            <a:ext cx="6492240" cy="411480"/>
          </a:xfrm>
          <a:prstGeom prst="rect">
            <a:avLst/>
          </a:prstGeom>
          <a:noFill/>
          <a:ln/>
        </p:spPr>
        <p:txBody>
          <a:bodyPr wrap="square" lIns="0" tIns="0" rIns="0" bIns="0" rtlCol="0" anchor="ctr"/>
          <a:lstStyle/>
          <a:p>
            <a:pPr indent="0" marL="0">
              <a:buNone/>
            </a:pPr>
            <a:r>
              <a:rPr lang="en-US" sz="1450" i="1" dirty="0">
                <a:solidFill>
                  <a:srgbClr val="585A64"/>
                </a:solidFill>
                <a:latin typeface="Palatino Linotype" pitchFamily="34" charset="0"/>
                <a:ea typeface="Palatino Linotype" pitchFamily="34" charset="-122"/>
                <a:cs typeface="Palatino Linotype" pitchFamily="34" charset="-120"/>
              </a:rPr>
              <a:t>Atât.</a:t>
            </a:r>
            <a:endParaRPr lang="en-US" sz="1450" dirty="0"/>
          </a:p>
        </p:txBody>
      </p:sp>
      <p:sp>
        <p:nvSpPr>
          <p:cNvPr id="10" name="Shape 8"/>
          <p:cNvSpPr/>
          <p:nvPr/>
        </p:nvSpPr>
        <p:spPr>
          <a:xfrm>
            <a:off x="594360" y="3108960"/>
            <a:ext cx="7635240" cy="1188720"/>
          </a:xfrm>
          <a:prstGeom prst="roundRect">
            <a:avLst>
              <a:gd name="adj" fmla="val 6923"/>
            </a:avLst>
          </a:prstGeom>
          <a:solidFill>
            <a:srgbClr val="FBF8F1"/>
          </a:solidFill>
          <a:ln w="12700">
            <a:solidFill>
              <a:srgbClr val="FBF8F1"/>
            </a:solidFill>
            <a:prstDash val="solid"/>
          </a:ln>
        </p:spPr>
        <p:txBody>
          <a:bodyPr/>
          <a:p/>
        </p:txBody>
      </p:sp>
      <p:sp>
        <p:nvSpPr>
          <p:cNvPr id="11" name="Text 9"/>
          <p:cNvSpPr/>
          <p:nvPr/>
        </p:nvSpPr>
        <p:spPr>
          <a:xfrm>
            <a:off x="822960" y="3108960"/>
            <a:ext cx="731520" cy="1188720"/>
          </a:xfrm>
          <a:prstGeom prst="rect">
            <a:avLst/>
          </a:prstGeom>
          <a:noFill/>
          <a:ln/>
        </p:spPr>
        <p:txBody>
          <a:bodyPr wrap="square" lIns="0" tIns="0" rIns="0" bIns="0" rtlCol="0" anchor="ctr"/>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(b)</a:t>
            </a:r>
            <a:endParaRPr lang="en-US" sz="2400" dirty="0"/>
          </a:p>
        </p:txBody>
      </p:sp>
      <p:sp>
        <p:nvSpPr>
          <p:cNvPr id="12" name="Text 10"/>
          <p:cNvSpPr/>
          <p:nvPr/>
        </p:nvSpPr>
        <p:spPr>
          <a:xfrm>
            <a:off x="1600200" y="3246120"/>
            <a:ext cx="6492240" cy="548640"/>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„Diabet zaharat”</a:t>
            </a:r>
            <a:endParaRPr lang="en-US" sz="1800" dirty="0"/>
          </a:p>
        </p:txBody>
      </p:sp>
      <p:sp>
        <p:nvSpPr>
          <p:cNvPr id="13" name="Text 11"/>
          <p:cNvSpPr/>
          <p:nvPr/>
        </p:nvSpPr>
        <p:spPr>
          <a:xfrm>
            <a:off x="1600200" y="3794760"/>
            <a:ext cx="6492240" cy="411480"/>
          </a:xfrm>
          <a:prstGeom prst="rect">
            <a:avLst/>
          </a:prstGeom>
          <a:noFill/>
          <a:ln/>
        </p:spPr>
        <p:txBody>
          <a:bodyPr wrap="square" lIns="0" tIns="0" rIns="0" bIns="0" rtlCol="0" anchor="ctr"/>
          <a:lstStyle/>
          <a:p>
            <a:pPr indent="0" marL="0">
              <a:buNone/>
            </a:pPr>
            <a:r>
              <a:rPr lang="en-US" sz="1450" i="1" dirty="0">
                <a:solidFill>
                  <a:srgbClr val="585A64"/>
                </a:solidFill>
                <a:latin typeface="Palatino Linotype" pitchFamily="34" charset="0"/>
                <a:ea typeface="Palatino Linotype" pitchFamily="34" charset="-122"/>
                <a:cs typeface="Palatino Linotype" pitchFamily="34" charset="-120"/>
              </a:rPr>
              <a:t>ca boală principală; nimic despre infecție</a:t>
            </a:r>
            <a:endParaRPr lang="en-US" sz="1450" dirty="0"/>
          </a:p>
        </p:txBody>
      </p:sp>
      <p:sp>
        <p:nvSpPr>
          <p:cNvPr id="14" name="Shape 12"/>
          <p:cNvSpPr/>
          <p:nvPr/>
        </p:nvSpPr>
        <p:spPr>
          <a:xfrm>
            <a:off x="594360" y="4434840"/>
            <a:ext cx="7635240" cy="1188720"/>
          </a:xfrm>
          <a:prstGeom prst="roundRect">
            <a:avLst>
              <a:gd name="adj" fmla="val 6923"/>
            </a:avLst>
          </a:prstGeom>
          <a:solidFill>
            <a:srgbClr val="FBF8F1"/>
          </a:solidFill>
          <a:ln w="12700">
            <a:solidFill>
              <a:srgbClr val="FBF8F1"/>
            </a:solidFill>
            <a:prstDash val="solid"/>
          </a:ln>
        </p:spPr>
        <p:txBody>
          <a:bodyPr/>
          <a:p/>
        </p:txBody>
      </p:sp>
      <p:sp>
        <p:nvSpPr>
          <p:cNvPr id="15" name="Text 13"/>
          <p:cNvSpPr/>
          <p:nvPr/>
        </p:nvSpPr>
        <p:spPr>
          <a:xfrm>
            <a:off x="822960" y="4434840"/>
            <a:ext cx="731520" cy="1188720"/>
          </a:xfrm>
          <a:prstGeom prst="rect">
            <a:avLst/>
          </a:prstGeom>
          <a:noFill/>
          <a:ln/>
        </p:spPr>
        <p:txBody>
          <a:bodyPr wrap="square" lIns="0" tIns="0" rIns="0" bIns="0" rtlCol="0" anchor="ctr"/>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(c)</a:t>
            </a:r>
            <a:endParaRPr lang="en-US" sz="2400" dirty="0"/>
          </a:p>
        </p:txBody>
      </p:sp>
      <p:sp>
        <p:nvSpPr>
          <p:cNvPr id="16" name="Text 14"/>
          <p:cNvSpPr/>
          <p:nvPr/>
        </p:nvSpPr>
        <p:spPr>
          <a:xfrm>
            <a:off x="1600200" y="4572000"/>
            <a:ext cx="6492240" cy="548640"/>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Insuficiență respiratorie acută ← pneumonie ← COVID-19</a:t>
            </a:r>
            <a:endParaRPr lang="en-US" sz="1800" dirty="0"/>
          </a:p>
        </p:txBody>
      </p:sp>
      <p:sp>
        <p:nvSpPr>
          <p:cNvPr id="17" name="Text 15"/>
          <p:cNvSpPr/>
          <p:nvPr/>
        </p:nvSpPr>
        <p:spPr>
          <a:xfrm>
            <a:off x="1600200" y="5120640"/>
            <a:ext cx="6492240" cy="411480"/>
          </a:xfrm>
          <a:prstGeom prst="rect">
            <a:avLst/>
          </a:prstGeom>
          <a:noFill/>
          <a:ln/>
        </p:spPr>
        <p:txBody>
          <a:bodyPr wrap="square" lIns="0" tIns="0" rIns="0" bIns="0" rtlCol="0" anchor="ctr"/>
          <a:lstStyle/>
          <a:p>
            <a:pPr indent="0" marL="0">
              <a:buNone/>
            </a:pPr>
            <a:r>
              <a:rPr lang="en-US" sz="1450" i="1" dirty="0">
                <a:solidFill>
                  <a:srgbClr val="585A64"/>
                </a:solidFill>
                <a:latin typeface="Palatino Linotype" pitchFamily="34" charset="0"/>
                <a:ea typeface="Palatino Linotype" pitchFamily="34" charset="-122"/>
                <a:cs typeface="Palatino Linotype" pitchFamily="34" charset="-120"/>
              </a:rPr>
              <a:t>diabetul, separat, ca boală care a contribuit</a:t>
            </a:r>
            <a:endParaRPr lang="en-US" sz="1450" dirty="0"/>
          </a:p>
        </p:txBody>
      </p:sp>
      <p:sp>
        <p:nvSpPr>
          <p:cNvPr id="18" name="Shape 16"/>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0" name="Text 18"/>
          <p:cNvSpPr/>
          <p:nvPr/>
        </p:nvSpPr>
        <p:spPr>
          <a:xfrm>
            <a:off x="8503920" y="4983480"/>
            <a:ext cx="3063240" cy="73152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Votați, apoi argumentul în chat.</a:t>
            </a:r>
            <a:endParaRPr lang="en-US" sz="1500" dirty="0"/>
          </a:p>
        </p:txBody>
      </p:sp>
      <p:pic>
        <p:nvPicPr>
          <p:cNvPr id="21" name="Picture 20" descr="Mentimeter_OPT_DETECTIVI_C03.png"/>
          <p:cNvPicPr>
            <a:picLocks noChangeAspect="1"/>
          </p:cNvPicPr>
          <p:nvPr/>
        </p:nvPicPr>
        <p:blipFill>
          <a:blip r:embed="rId3"/>
          <a:stretch>
            <a:fillRect/>
          </a:stretch>
        </p:blipFill>
        <p:spPr>
          <a:xfrm>
            <a:off x="8817610" y="1783080"/>
            <a:ext cx="2435860" cy="2435860"/>
          </a:xfrm>
          <a:prstGeom prst="rect">
            <a:avLst/>
          </a:prstGeom>
        </p:spPr>
      </p:pic>
      <p:sp>
        <p:nvSpPr>
          <p:cNvPr id="22" name="TextBox 21"/>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DUPĂ VOT</a:t>
            </a:r>
            <a:endParaRPr lang="en-US" sz="1300" dirty="0"/>
          </a:p>
        </p:txBody>
      </p:sp>
      <p:sp>
        <p:nvSpPr>
          <p:cNvPr id="3" name="Text 1"/>
          <p:cNvSpPr/>
          <p:nvPr/>
        </p:nvSpPr>
        <p:spPr>
          <a:xfrm>
            <a:off x="594360" y="777240"/>
            <a:ext cx="10972800" cy="822960"/>
          </a:xfrm>
          <a:prstGeom prst="rect">
            <a:avLst/>
          </a:prstGeom>
          <a:noFill/>
          <a:ln/>
        </p:spPr>
        <p:txBody>
          <a:bodyPr wrap="square" lIns="0" tIns="0" rIns="0" bIns="0" rtlCol="0" anchor="t"/>
          <a:lstStyle/>
          <a:p>
            <a:pPr indent="0" marL="0">
              <a:buNone/>
            </a:pPr>
            <a:r>
              <a:rPr lang="en-US" sz="4000" b="1" dirty="0">
                <a:solidFill>
                  <a:srgbClr val="2E060B"/>
                </a:solidFill>
                <a:latin typeface="Palatino Linotype" pitchFamily="34" charset="0"/>
                <a:ea typeface="Palatino Linotype" pitchFamily="34" charset="-122"/>
                <a:cs typeface="Palatino Linotype" pitchFamily="34" charset="-120"/>
              </a:rPr>
              <a:t>Varianta (c)</a:t>
            </a:r>
            <a:endParaRPr lang="en-US" sz="4000" dirty="0"/>
          </a:p>
        </p:txBody>
      </p:sp>
      <p:sp>
        <p:nvSpPr>
          <p:cNvPr id="4" name="Shape 2"/>
          <p:cNvSpPr/>
          <p:nvPr/>
        </p:nvSpPr>
        <p:spPr>
          <a:xfrm>
            <a:off x="594360" y="1783080"/>
            <a:ext cx="10972800" cy="1051560"/>
          </a:xfrm>
          <a:prstGeom prst="roundRect">
            <a:avLst>
              <a:gd name="adj" fmla="val 7826"/>
            </a:avLst>
          </a:prstGeom>
          <a:solidFill>
            <a:srgbClr val="701C22"/>
          </a:solidFill>
          <a:ln w="12700">
            <a:solidFill>
              <a:srgbClr val="701C22"/>
            </a:solidFill>
            <a:prstDash val="solid"/>
          </a:ln>
        </p:spPr>
        <p:txBody>
          <a:bodyPr/>
          <a:p/>
        </p:txBody>
      </p:sp>
      <p:sp>
        <p:nvSpPr>
          <p:cNvPr id="5" name="Text 3"/>
          <p:cNvSpPr/>
          <p:nvPr/>
        </p:nvSpPr>
        <p:spPr>
          <a:xfrm>
            <a:off x="914400" y="1911096"/>
            <a:ext cx="10332720" cy="457200"/>
          </a:xfrm>
          <a:prstGeom prst="rect">
            <a:avLst/>
          </a:prstGeom>
          <a:noFill/>
          <a:ln/>
        </p:spPr>
        <p:txBody>
          <a:bodyPr wrap="square" lIns="0" tIns="0" rIns="0" bIns="0" rtlCol="0" anchor="t"/>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Ghidul OMS, aprilie 2020</a:t>
            </a:r>
            <a:endParaRPr lang="en-US" sz="1900" dirty="0"/>
          </a:p>
        </p:txBody>
      </p:sp>
      <p:sp>
        <p:nvSpPr>
          <p:cNvPr id="6" name="Text 4"/>
          <p:cNvSpPr/>
          <p:nvPr/>
        </p:nvSpPr>
        <p:spPr>
          <a:xfrm>
            <a:off x="914400" y="2368296"/>
            <a:ext cx="10332720" cy="384048"/>
          </a:xfrm>
          <a:prstGeom prst="rect">
            <a:avLst/>
          </a:prstGeom>
          <a:noFill/>
          <a:ln/>
        </p:spPr>
        <p:txBody>
          <a:bodyPr wrap="square" lIns="0" tIns="0" rIns="0" bIns="0" rtlCol="0" anchor="t"/>
          <a:lstStyle/>
          <a:p>
            <a:pPr indent="0" marL="0">
              <a:buNone/>
            </a:pPr>
            <a:r>
              <a:rPr lang="en-US" sz="1600" dirty="0">
                <a:solidFill>
                  <a:srgbClr val="F3D4D7"/>
                </a:solidFill>
                <a:latin typeface="Palatino Linotype" pitchFamily="34" charset="0"/>
                <a:ea typeface="Palatino Linotype" pitchFamily="34" charset="-122"/>
                <a:cs typeface="Palatino Linotype" pitchFamily="34" charset="-120"/>
              </a:rPr>
              <a:t>COVID-19 se trece pe certificat când a cauzat, se presupune că a cauzat sau a contribuit la deces.</a:t>
            </a:r>
            <a:endParaRPr lang="en-US" sz="1600" dirty="0"/>
          </a:p>
        </p:txBody>
      </p:sp>
      <p:sp>
        <p:nvSpPr>
          <p:cNvPr id="7" name="Shape 5"/>
          <p:cNvSpPr/>
          <p:nvPr/>
        </p:nvSpPr>
        <p:spPr>
          <a:xfrm>
            <a:off x="594360" y="2971800"/>
            <a:ext cx="10972800" cy="1051560"/>
          </a:xfrm>
          <a:prstGeom prst="roundRect">
            <a:avLst>
              <a:gd name="adj" fmla="val 7826"/>
            </a:avLst>
          </a:prstGeom>
          <a:solidFill>
            <a:srgbClr val="FFFFFF"/>
          </a:solidFill>
          <a:ln w="12700">
            <a:solidFill>
              <a:srgbClr val="FFFFFF"/>
            </a:solidFill>
            <a:prstDash val="solid"/>
          </a:ln>
        </p:spPr>
        <p:txBody>
          <a:bodyPr/>
          <a:p/>
        </p:txBody>
      </p:sp>
      <p:sp>
        <p:nvSpPr>
          <p:cNvPr id="8" name="Text 6"/>
          <p:cNvSpPr/>
          <p:nvPr/>
        </p:nvSpPr>
        <p:spPr>
          <a:xfrm>
            <a:off x="914400" y="3099816"/>
            <a:ext cx="10332720" cy="45720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Termenul oficial: „COVID-19”</a:t>
            </a:r>
            <a:endParaRPr lang="en-US" sz="1900" dirty="0"/>
          </a:p>
        </p:txBody>
      </p:sp>
      <p:sp>
        <p:nvSpPr>
          <p:cNvPr id="9" name="Text 7"/>
          <p:cNvSpPr/>
          <p:nvPr/>
        </p:nvSpPr>
        <p:spPr>
          <a:xfrm>
            <a:off x="914400" y="3557016"/>
            <a:ext cx="10332720" cy="384048"/>
          </a:xfrm>
          <a:prstGeom prst="rect">
            <a:avLst/>
          </a:prstGeom>
          <a:noFill/>
          <a:ln/>
        </p:spPr>
        <p:txBody>
          <a:bodyPr wrap="square" lIns="0" tIns="0" rIns="0" bIns="0" rtlCol="0" anchor="t"/>
          <a:lstStyle/>
          <a:p>
            <a:pPr indent="0" marL="0">
              <a:buNone/>
            </a:pPr>
            <a:r>
              <a:rPr lang="en-US" sz="1600" dirty="0">
                <a:solidFill>
                  <a:srgbClr val="585A64"/>
                </a:solidFill>
                <a:latin typeface="Palatino Linotype" pitchFamily="34" charset="0"/>
                <a:ea typeface="Palatino Linotype" pitchFamily="34" charset="-122"/>
                <a:cs typeface="Palatino Linotype" pitchFamily="34" charset="-120"/>
              </a:rPr>
              <a:t>Nu „coronavirus”: există multe coronavirusuri, iar codificarea ar deveni nesigură.</a:t>
            </a:r>
            <a:endParaRPr lang="en-US" sz="1600" dirty="0"/>
          </a:p>
        </p:txBody>
      </p:sp>
      <p:sp>
        <p:nvSpPr>
          <p:cNvPr id="10" name="Text 8"/>
          <p:cNvSpPr/>
          <p:nvPr/>
        </p:nvSpPr>
        <p:spPr>
          <a:xfrm>
            <a:off x="594360" y="4343400"/>
            <a:ext cx="10972800" cy="548640"/>
          </a:xfrm>
          <a:prstGeom prst="rect">
            <a:avLst/>
          </a:prstGeom>
          <a:noFill/>
          <a:ln/>
        </p:spPr>
        <p:txBody>
          <a:bodyPr wrap="square" lIns="0" tIns="0" rIns="0" bIns="0" rtlCol="0" anchor="t"/>
          <a:lstStyle/>
          <a:p>
            <a:pPr indent="0" marL="0">
              <a:buNone/>
            </a:pPr>
            <a:r>
              <a:rPr lang="en-US" sz="2000" b="1" dirty="0">
                <a:solidFill>
                  <a:srgbClr val="2E060B"/>
                </a:solidFill>
                <a:latin typeface="Palatino Linotype" pitchFamily="34" charset="0"/>
                <a:ea typeface="Palatino Linotype" pitchFamily="34" charset="-122"/>
                <a:cs typeface="Palatino Linotype" pitchFamily="34" charset="-120"/>
              </a:rPr>
              <a:t>Lanțul spune ce s-a întâmplat; diabetul rămâne pe certificat, separat.</a:t>
            </a:r>
            <a:endParaRPr lang="en-US" sz="2000" dirty="0"/>
          </a:p>
        </p:txBody>
      </p:sp>
      <p:sp>
        <p:nvSpPr>
          <p:cNvPr id="11" name="Text 9"/>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2E060B"/>
                </a:solidFill>
                <a:latin typeface="Palatino Linotype" pitchFamily="34" charset="0"/>
                <a:ea typeface="Palatino Linotype" pitchFamily="34" charset="-122"/>
                <a:cs typeface="Palatino Linotype" pitchFamily="34" charset="-120"/>
              </a:rPr>
              <a:t>Sursa: OMS, ghidul pentru certificarea deceselor prin COVID-19 (registru A506).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CERTIFICATUL ARE DOUĂ PĂRȚI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Lanțul, rând sub rând</a:t>
            </a:r>
            <a:endParaRPr lang="en-US" sz="3200" dirty="0"/>
          </a:p>
        </p:txBody>
      </p:sp>
      <p:sp>
        <p:nvSpPr>
          <p:cNvPr id="4" name="Shape 2"/>
          <p:cNvSpPr/>
          <p:nvPr/>
        </p:nvSpPr>
        <p:spPr>
          <a:xfrm>
            <a:off x="594360" y="1463040"/>
            <a:ext cx="7406640" cy="4526280"/>
          </a:xfrm>
          <a:prstGeom prst="roundRect">
            <a:avLst>
              <a:gd name="adj" fmla="val 1818"/>
            </a:avLst>
          </a:prstGeom>
          <a:solidFill>
            <a:srgbClr val="FFFFFF"/>
          </a:solidFill>
          <a:ln w="12700">
            <a:solidFill>
              <a:srgbClr val="FFFFFF"/>
            </a:solidFill>
            <a:prstDash val="solid"/>
          </a:ln>
        </p:spPr>
        <p:txBody>
          <a:bodyPr/>
          <a:p/>
        </p:txBody>
      </p:sp>
      <p:sp>
        <p:nvSpPr>
          <p:cNvPr id="5" name="Shape 3"/>
          <p:cNvSpPr/>
          <p:nvPr/>
        </p:nvSpPr>
        <p:spPr>
          <a:xfrm>
            <a:off x="594360" y="1463040"/>
            <a:ext cx="7406640" cy="457200"/>
          </a:xfrm>
          <a:prstGeom prst="rect">
            <a:avLst/>
          </a:prstGeom>
          <a:solidFill>
            <a:srgbClr val="11121A"/>
          </a:solidFill>
          <a:ln w="12700">
            <a:solidFill>
              <a:srgbClr val="11121A"/>
            </a:solidFill>
            <a:prstDash val="solid"/>
          </a:ln>
        </p:spPr>
        <p:txBody>
          <a:bodyPr/>
          <a:p/>
        </p:txBody>
      </p:sp>
      <p:sp>
        <p:nvSpPr>
          <p:cNvPr id="6" name="Text 4"/>
          <p:cNvSpPr/>
          <p:nvPr/>
        </p:nvSpPr>
        <p:spPr>
          <a:xfrm>
            <a:off x="868680" y="1463040"/>
            <a:ext cx="6949440" cy="457200"/>
          </a:xfrm>
          <a:prstGeom prst="rect">
            <a:avLst/>
          </a:prstGeom>
          <a:noFill/>
          <a:ln/>
        </p:spPr>
        <p:txBody>
          <a:bodyPr wrap="square" lIns="0" tIns="0" rIns="0" bIns="0" rtlCol="0" anchor="ctr"/>
          <a:lstStyle/>
          <a:p>
            <a:pPr indent="0" marL="0">
              <a:buNone/>
            </a:pPr>
            <a:r>
              <a:rPr lang="en-US" sz="1200" b="1" spc="200" kern="0" dirty="0">
                <a:solidFill>
                  <a:srgbClr val="FFFFFF"/>
                </a:solidFill>
                <a:latin typeface="Palatino Linotype" pitchFamily="34" charset="0"/>
                <a:ea typeface="Palatino Linotype" pitchFamily="34" charset="-122"/>
                <a:cs typeface="Palatino Linotype" pitchFamily="34" charset="-120"/>
              </a:rPr>
              <a:t>EXEMPLUL DIN GHIDUL OMS · EXTRAS</a:t>
            </a:r>
            <a:endParaRPr lang="en-US" sz="1200" dirty="0"/>
          </a:p>
        </p:txBody>
      </p:sp>
      <p:sp>
        <p:nvSpPr>
          <p:cNvPr id="7" name="Text 5"/>
          <p:cNvSpPr/>
          <p:nvPr/>
        </p:nvSpPr>
        <p:spPr>
          <a:xfrm>
            <a:off x="868680" y="2011680"/>
            <a:ext cx="2743200" cy="36576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Partea I</a:t>
            </a:r>
            <a:endParaRPr lang="en-US" sz="1400" dirty="0"/>
          </a:p>
        </p:txBody>
      </p:sp>
      <p:sp>
        <p:nvSpPr>
          <p:cNvPr id="8" name="Shape 6"/>
          <p:cNvSpPr/>
          <p:nvPr/>
        </p:nvSpPr>
        <p:spPr>
          <a:xfrm>
            <a:off x="868680" y="2990088"/>
            <a:ext cx="6858000" cy="10973"/>
          </a:xfrm>
          <a:prstGeom prst="rect">
            <a:avLst/>
          </a:prstGeom>
          <a:solidFill>
            <a:srgbClr val="C9C6BE"/>
          </a:solidFill>
          <a:ln w="12700">
            <a:solidFill>
              <a:srgbClr val="C9C6BE"/>
            </a:solidFill>
            <a:prstDash val="solid"/>
          </a:ln>
        </p:spPr>
        <p:txBody>
          <a:bodyPr/>
          <a:p/>
        </p:txBody>
      </p:sp>
      <p:sp>
        <p:nvSpPr>
          <p:cNvPr id="9" name="Text 7"/>
          <p:cNvSpPr/>
          <p:nvPr/>
        </p:nvSpPr>
        <p:spPr>
          <a:xfrm>
            <a:off x="868680" y="2423160"/>
            <a:ext cx="457200" cy="548640"/>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a)</a:t>
            </a:r>
            <a:endParaRPr lang="en-US" sz="1600" dirty="0"/>
          </a:p>
        </p:txBody>
      </p:sp>
      <p:sp>
        <p:nvSpPr>
          <p:cNvPr id="10" name="Text 8"/>
          <p:cNvSpPr/>
          <p:nvPr/>
        </p:nvSpPr>
        <p:spPr>
          <a:xfrm>
            <a:off x="1325880" y="2423160"/>
            <a:ext cx="4572000" cy="5486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Sindrom de detresă respiratorie acută</a:t>
            </a:r>
            <a:endParaRPr lang="en-US" sz="1700" dirty="0"/>
          </a:p>
        </p:txBody>
      </p:sp>
      <p:sp>
        <p:nvSpPr>
          <p:cNvPr id="11" name="Text 9"/>
          <p:cNvSpPr/>
          <p:nvPr/>
        </p:nvSpPr>
        <p:spPr>
          <a:xfrm>
            <a:off x="5943600" y="2423160"/>
            <a:ext cx="1737360" cy="548640"/>
          </a:xfrm>
          <a:prstGeom prst="rect">
            <a:avLst/>
          </a:prstGeom>
          <a:noFill/>
          <a:ln/>
        </p:spPr>
        <p:txBody>
          <a:bodyPr wrap="square" lIns="0" tIns="0" rIns="0" bIns="0" rtlCol="0" anchor="ctr"/>
          <a:lstStyle/>
          <a:p>
            <a:pPr algn="r" indent="0" marL="0">
              <a:buNone/>
            </a:pPr>
            <a:r>
              <a:rPr lang="en-US" sz="1500" i="1" dirty="0">
                <a:solidFill>
                  <a:srgbClr val="585A64"/>
                </a:solidFill>
                <a:latin typeface="Palatino Linotype" pitchFamily="34" charset="0"/>
                <a:ea typeface="Palatino Linotype" pitchFamily="34" charset="-122"/>
                <a:cs typeface="Palatino Linotype" pitchFamily="34" charset="-120"/>
              </a:rPr>
              <a:t>2 zile</a:t>
            </a:r>
            <a:endParaRPr lang="en-US" sz="1500" dirty="0"/>
          </a:p>
        </p:txBody>
      </p:sp>
      <p:sp>
        <p:nvSpPr>
          <p:cNvPr id="12" name="Shape 10"/>
          <p:cNvSpPr/>
          <p:nvPr/>
        </p:nvSpPr>
        <p:spPr>
          <a:xfrm>
            <a:off x="868680" y="3648456"/>
            <a:ext cx="6858000" cy="10973"/>
          </a:xfrm>
          <a:prstGeom prst="rect">
            <a:avLst/>
          </a:prstGeom>
          <a:solidFill>
            <a:srgbClr val="C9C6BE"/>
          </a:solidFill>
          <a:ln w="12700">
            <a:solidFill>
              <a:srgbClr val="C9C6BE"/>
            </a:solidFill>
            <a:prstDash val="solid"/>
          </a:ln>
        </p:spPr>
        <p:txBody>
          <a:bodyPr/>
          <a:p/>
        </p:txBody>
      </p:sp>
      <p:sp>
        <p:nvSpPr>
          <p:cNvPr id="13" name="Text 11"/>
          <p:cNvSpPr/>
          <p:nvPr/>
        </p:nvSpPr>
        <p:spPr>
          <a:xfrm>
            <a:off x="868680" y="3081528"/>
            <a:ext cx="457200" cy="548640"/>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b)</a:t>
            </a:r>
            <a:endParaRPr lang="en-US" sz="1600" dirty="0"/>
          </a:p>
        </p:txBody>
      </p:sp>
      <p:sp>
        <p:nvSpPr>
          <p:cNvPr id="14" name="Text 12"/>
          <p:cNvSpPr/>
          <p:nvPr/>
        </p:nvSpPr>
        <p:spPr>
          <a:xfrm>
            <a:off x="1325880" y="3081528"/>
            <a:ext cx="4572000" cy="5486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Pneumonie</a:t>
            </a:r>
            <a:endParaRPr lang="en-US" sz="1700" dirty="0"/>
          </a:p>
        </p:txBody>
      </p:sp>
      <p:sp>
        <p:nvSpPr>
          <p:cNvPr id="15" name="Text 13"/>
          <p:cNvSpPr/>
          <p:nvPr/>
        </p:nvSpPr>
        <p:spPr>
          <a:xfrm>
            <a:off x="5943600" y="3081528"/>
            <a:ext cx="1737360" cy="548640"/>
          </a:xfrm>
          <a:prstGeom prst="rect">
            <a:avLst/>
          </a:prstGeom>
          <a:noFill/>
          <a:ln/>
        </p:spPr>
        <p:txBody>
          <a:bodyPr wrap="square" lIns="0" tIns="0" rIns="0" bIns="0" rtlCol="0" anchor="ctr"/>
          <a:lstStyle/>
          <a:p>
            <a:pPr algn="r" indent="0" marL="0">
              <a:buNone/>
            </a:pPr>
            <a:r>
              <a:rPr lang="en-US" sz="1500" i="1" dirty="0">
                <a:solidFill>
                  <a:srgbClr val="585A64"/>
                </a:solidFill>
                <a:latin typeface="Palatino Linotype" pitchFamily="34" charset="0"/>
                <a:ea typeface="Palatino Linotype" pitchFamily="34" charset="-122"/>
                <a:cs typeface="Palatino Linotype" pitchFamily="34" charset="-120"/>
              </a:rPr>
              <a:t>10 zile</a:t>
            </a:r>
            <a:endParaRPr lang="en-US" sz="1500" dirty="0"/>
          </a:p>
        </p:txBody>
      </p:sp>
      <p:sp>
        <p:nvSpPr>
          <p:cNvPr id="16" name="Shape 14"/>
          <p:cNvSpPr/>
          <p:nvPr/>
        </p:nvSpPr>
        <p:spPr>
          <a:xfrm>
            <a:off x="868680" y="4306824"/>
            <a:ext cx="6858000" cy="10973"/>
          </a:xfrm>
          <a:prstGeom prst="rect">
            <a:avLst/>
          </a:prstGeom>
          <a:solidFill>
            <a:srgbClr val="C9C6BE"/>
          </a:solidFill>
          <a:ln w="12700">
            <a:solidFill>
              <a:srgbClr val="C9C6BE"/>
            </a:solidFill>
            <a:prstDash val="solid"/>
          </a:ln>
        </p:spPr>
        <p:txBody>
          <a:bodyPr/>
          <a:p/>
        </p:txBody>
      </p:sp>
      <p:sp>
        <p:nvSpPr>
          <p:cNvPr id="17" name="Text 15"/>
          <p:cNvSpPr/>
          <p:nvPr/>
        </p:nvSpPr>
        <p:spPr>
          <a:xfrm>
            <a:off x="868680" y="3739896"/>
            <a:ext cx="457200" cy="548640"/>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c)</a:t>
            </a:r>
            <a:endParaRPr lang="en-US" sz="1600" dirty="0"/>
          </a:p>
        </p:txBody>
      </p:sp>
      <p:sp>
        <p:nvSpPr>
          <p:cNvPr id="18" name="Text 16"/>
          <p:cNvSpPr/>
          <p:nvPr/>
        </p:nvSpPr>
        <p:spPr>
          <a:xfrm>
            <a:off x="1325880" y="3739896"/>
            <a:ext cx="4572000" cy="54864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COVID-19</a:t>
            </a:r>
            <a:endParaRPr lang="en-US" sz="1700" dirty="0"/>
          </a:p>
        </p:txBody>
      </p:sp>
      <p:sp>
        <p:nvSpPr>
          <p:cNvPr id="19" name="Text 17"/>
          <p:cNvSpPr/>
          <p:nvPr/>
        </p:nvSpPr>
        <p:spPr>
          <a:xfrm>
            <a:off x="5943600" y="3739896"/>
            <a:ext cx="1737360" cy="548640"/>
          </a:xfrm>
          <a:prstGeom prst="rect">
            <a:avLst/>
          </a:prstGeom>
          <a:noFill/>
          <a:ln/>
        </p:spPr>
        <p:txBody>
          <a:bodyPr wrap="square" lIns="0" tIns="0" rIns="0" bIns="0" rtlCol="0" anchor="ctr"/>
          <a:lstStyle/>
          <a:p>
            <a:pPr algn="r" indent="0" marL="0">
              <a:buNone/>
            </a:pPr>
            <a:r>
              <a:rPr lang="en-US" sz="1500" i="1" dirty="0">
                <a:solidFill>
                  <a:srgbClr val="585A64"/>
                </a:solidFill>
                <a:latin typeface="Palatino Linotype" pitchFamily="34" charset="0"/>
                <a:ea typeface="Palatino Linotype" pitchFamily="34" charset="-122"/>
                <a:cs typeface="Palatino Linotype" pitchFamily="34" charset="-120"/>
              </a:rPr>
              <a:t>14 zile</a:t>
            </a:r>
            <a:endParaRPr lang="en-US" sz="1500" dirty="0"/>
          </a:p>
        </p:txBody>
      </p:sp>
      <p:sp>
        <p:nvSpPr>
          <p:cNvPr id="20" name="Text 18"/>
          <p:cNvSpPr/>
          <p:nvPr/>
        </p:nvSpPr>
        <p:spPr>
          <a:xfrm>
            <a:off x="868680" y="4526280"/>
            <a:ext cx="274320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Partea a II-a</a:t>
            </a:r>
            <a:endParaRPr lang="en-US" sz="1400" dirty="0"/>
          </a:p>
        </p:txBody>
      </p:sp>
      <p:sp>
        <p:nvSpPr>
          <p:cNvPr id="21" name="Text 19"/>
          <p:cNvSpPr/>
          <p:nvPr/>
        </p:nvSpPr>
        <p:spPr>
          <a:xfrm>
            <a:off x="1325880" y="4937760"/>
            <a:ext cx="5486400" cy="54864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Diabet zaharat</a:t>
            </a:r>
            <a:endParaRPr lang="en-US" sz="1700" dirty="0"/>
          </a:p>
        </p:txBody>
      </p:sp>
      <p:sp>
        <p:nvSpPr>
          <p:cNvPr id="22" name="Text 20"/>
          <p:cNvSpPr/>
          <p:nvPr/>
        </p:nvSpPr>
        <p:spPr>
          <a:xfrm>
            <a:off x="8321040" y="1600200"/>
            <a:ext cx="3291840" cy="10972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Pe primul rând: boala care a dus direct la moarte.</a:t>
            </a:r>
            <a:endParaRPr lang="en-US" sz="1600" dirty="0"/>
          </a:p>
        </p:txBody>
      </p:sp>
      <p:sp>
        <p:nvSpPr>
          <p:cNvPr id="23" name="Text 21"/>
          <p:cNvSpPr/>
          <p:nvPr/>
        </p:nvSpPr>
        <p:spPr>
          <a:xfrm>
            <a:off x="8321040" y="2788920"/>
            <a:ext cx="3291840" cy="109728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Pe ultimul rând folosit: boala care a pornit totul.</a:t>
            </a:r>
            <a:endParaRPr lang="en-US" sz="1700" dirty="0"/>
          </a:p>
        </p:txBody>
      </p:sp>
      <p:sp>
        <p:nvSpPr>
          <p:cNvPr id="24" name="Text 22"/>
          <p:cNvSpPr/>
          <p:nvPr/>
        </p:nvSpPr>
        <p:spPr>
          <a:xfrm>
            <a:off x="8321040" y="4069080"/>
            <a:ext cx="3291840" cy="1188720"/>
          </a:xfrm>
          <a:prstGeom prst="rect">
            <a:avLst/>
          </a:prstGeom>
          <a:noFill/>
          <a:ln/>
        </p:spPr>
        <p:txBody>
          <a:bodyPr wrap="square" lIns="0" tIns="0" rIns="0" bIns="0" rtlCol="0" anchor="t"/>
          <a:lstStyle/>
          <a:p>
            <a:pPr indent="0" marL="0">
              <a:buNone/>
            </a:pPr>
            <a:r>
              <a:rPr lang="en-US" sz="1600" dirty="0">
                <a:solidFill>
                  <a:srgbClr val="0E7C6B"/>
                </a:solidFill>
                <a:latin typeface="Palatino Linotype" pitchFamily="34" charset="0"/>
                <a:ea typeface="Palatino Linotype" pitchFamily="34" charset="-122"/>
                <a:cs typeface="Palatino Linotype" pitchFamily="34" charset="-120"/>
              </a:rPr>
              <a:t>În partea a doua: bolile care au contribuit, de pildă diabetul.</a:t>
            </a:r>
            <a:endParaRPr lang="en-US" sz="1600" dirty="0"/>
          </a:p>
        </p:txBody>
      </p:sp>
      <p:sp>
        <p:nvSpPr>
          <p:cNvPr id="25" name="Text 23"/>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OMS, exemplul de certificat din ghid (registru A507).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DOILEA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Cauza de bază a decesului</a:t>
            </a:r>
            <a:endParaRPr lang="en-US" sz="3600" dirty="0"/>
          </a:p>
        </p:txBody>
      </p:sp>
      <p:sp>
        <p:nvSpPr>
          <p:cNvPr id="4" name="Text 2"/>
          <p:cNvSpPr/>
          <p:nvPr/>
        </p:nvSpPr>
        <p:spPr>
          <a:xfrm>
            <a:off x="594360" y="1600200"/>
            <a:ext cx="10972800" cy="1097280"/>
          </a:xfrm>
          <a:prstGeom prst="rect">
            <a:avLst/>
          </a:prstGeom>
          <a:noFill/>
          <a:ln/>
        </p:spPr>
        <p:txBody>
          <a:bodyPr wrap="square" lIns="0" tIns="0" rIns="0" bIns="0" rtlCol="0" anchor="ctr"/>
          <a:lstStyle/>
          <a:p>
            <a:pPr indent="0" marL="0">
              <a:buNone/>
            </a:pPr>
            <a:r>
              <a:rPr lang="en-US" sz="4200" b="1" i="1" dirty="0">
                <a:solidFill>
                  <a:srgbClr val="B02532"/>
                </a:solidFill>
                <a:latin typeface="Palatino Linotype" pitchFamily="34" charset="0"/>
                <a:ea typeface="Palatino Linotype" pitchFamily="34" charset="-122"/>
                <a:cs typeface="Palatino Linotype" pitchFamily="34" charset="-120"/>
              </a:rPr>
              <a:t>„Boala de la care a pornit totul”</a:t>
            </a:r>
            <a:endParaRPr lang="en-US" sz="4200" dirty="0"/>
          </a:p>
        </p:txBody>
      </p:sp>
      <p:sp>
        <p:nvSpPr>
          <p:cNvPr id="5" name="Shape 3"/>
          <p:cNvSpPr/>
          <p:nvPr/>
        </p:nvSpPr>
        <p:spPr>
          <a:xfrm>
            <a:off x="594360" y="2926080"/>
            <a:ext cx="64008" cy="1280160"/>
          </a:xfrm>
          <a:prstGeom prst="rect">
            <a:avLst/>
          </a:prstGeom>
          <a:solidFill>
            <a:srgbClr val="B02532"/>
          </a:solidFill>
          <a:ln w="12700">
            <a:solidFill>
              <a:srgbClr val="B02532"/>
            </a:solidFill>
            <a:prstDash val="solid"/>
          </a:ln>
        </p:spPr>
        <p:txBody>
          <a:bodyPr/>
          <a:p/>
        </p:txBody>
      </p:sp>
      <p:sp>
        <p:nvSpPr>
          <p:cNvPr id="6" name="Text 4"/>
          <p:cNvSpPr/>
          <p:nvPr/>
        </p:nvSpPr>
        <p:spPr>
          <a:xfrm>
            <a:off x="868680" y="2926080"/>
            <a:ext cx="10607040" cy="128016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Boala care a pornit lanțul de evenimente care a dus la moarte. Se scrie pe ultimul rând folosit din prima parte a certificatului.</a:t>
            </a:r>
            <a:endParaRPr lang="en-US" sz="2000" dirty="0"/>
          </a:p>
        </p:txBody>
      </p:sp>
      <p:sp>
        <p:nvSpPr>
          <p:cNvPr id="7" name="Text 5"/>
          <p:cNvSpPr/>
          <p:nvPr/>
        </p:nvSpPr>
        <p:spPr>
          <a:xfrm>
            <a:off x="594360" y="4572000"/>
            <a:ext cx="10972800" cy="914400"/>
          </a:xfrm>
          <a:prstGeom prst="rect">
            <a:avLst/>
          </a:prstGeom>
          <a:noFill/>
          <a:ln/>
        </p:spPr>
        <p:txBody>
          <a:bodyPr wrap="square" lIns="0" tIns="0" rIns="0" bIns="0" rtlCol="0" anchor="t"/>
          <a:lstStyle/>
          <a:p>
            <a:pPr indent="0" marL="0">
              <a:buNone/>
            </a:pPr>
            <a:r>
              <a:rPr lang="en-US" sz="1800" b="1" dirty="0">
                <a:solidFill>
                  <a:srgbClr val="3A3C44"/>
                </a:solidFill>
                <a:latin typeface="Palatino Linotype" pitchFamily="34" charset="0"/>
                <a:ea typeface="Palatino Linotype" pitchFamily="34" charset="-122"/>
                <a:cs typeface="Palatino Linotype" pitchFamily="34" charset="-120"/>
              </a:rPr>
              <a:t>Statistica deceselor pe cauze numără după cauza de bază, aleasă din certificat după regulile de codificare ale OMS.</a:t>
            </a:r>
            <a:endParaRPr lang="en-US" sz="1800" dirty="0"/>
          </a:p>
        </p:txBody>
      </p:sp>
      <p:sp>
        <p:nvSpPr>
          <p:cNvPr id="8" name="Text 6"/>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OMS, ghidul certificatului și regulile de codificare (registru A507, A522).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ACELAȘI OM, ACEEAȘI NOAPTE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Trei certificate, trei statistici</a:t>
            </a:r>
            <a:endParaRPr lang="en-US" sz="3200" dirty="0"/>
          </a:p>
        </p:txBody>
      </p:sp>
      <p:sp>
        <p:nvSpPr>
          <p:cNvPr id="4" name="Shape 2"/>
          <p:cNvSpPr/>
          <p:nvPr/>
        </p:nvSpPr>
        <p:spPr>
          <a:xfrm>
            <a:off x="594360" y="1554480"/>
            <a:ext cx="3520440" cy="3429000"/>
          </a:xfrm>
          <a:prstGeom prst="roundRect">
            <a:avLst>
              <a:gd name="adj" fmla="val 2400"/>
            </a:avLst>
          </a:prstGeom>
          <a:solidFill>
            <a:srgbClr val="F4E0E2"/>
          </a:solidFill>
          <a:ln w="12700">
            <a:solidFill>
              <a:srgbClr val="F4E0E2"/>
            </a:solidFill>
            <a:prstDash val="solid"/>
          </a:ln>
        </p:spPr>
        <p:txBody>
          <a:bodyPr/>
          <a:p/>
        </p:txBody>
      </p:sp>
      <p:sp>
        <p:nvSpPr>
          <p:cNvPr id="5" name="Text 3"/>
          <p:cNvSpPr/>
          <p:nvPr/>
        </p:nvSpPr>
        <p:spPr>
          <a:xfrm>
            <a:off x="868680" y="1691640"/>
            <a:ext cx="3017520" cy="548640"/>
          </a:xfrm>
          <a:prstGeom prst="rect">
            <a:avLst/>
          </a:prstGeom>
          <a:noFill/>
          <a:ln/>
        </p:spPr>
        <p:txBody>
          <a:bodyPr wrap="square" lIns="0" tIns="0" rIns="0" bIns="0" rtlCol="0" anchor="t"/>
          <a:lstStyle/>
          <a:p>
            <a:pPr indent="0" marL="0">
              <a:buNone/>
            </a:pPr>
            <a:r>
              <a:rPr lang="en-US" sz="2800" b="1" dirty="0">
                <a:solidFill>
                  <a:srgbClr val="B02532"/>
                </a:solidFill>
                <a:latin typeface="Palatino Linotype" pitchFamily="34" charset="0"/>
                <a:ea typeface="Palatino Linotype" pitchFamily="34" charset="-122"/>
                <a:cs typeface="Palatino Linotype" pitchFamily="34" charset="-120"/>
              </a:rPr>
              <a:t>(a)</a:t>
            </a:r>
            <a:endParaRPr lang="en-US" sz="2800" dirty="0"/>
          </a:p>
        </p:txBody>
      </p:sp>
      <p:sp>
        <p:nvSpPr>
          <p:cNvPr id="6" name="Text 4"/>
          <p:cNvSpPr/>
          <p:nvPr/>
        </p:nvSpPr>
        <p:spPr>
          <a:xfrm>
            <a:off x="868680" y="2286000"/>
            <a:ext cx="3017520" cy="5486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„Stop cardiorespirator”</a:t>
            </a:r>
            <a:endParaRPr lang="en-US" sz="1800" dirty="0"/>
          </a:p>
        </p:txBody>
      </p:sp>
      <p:sp>
        <p:nvSpPr>
          <p:cNvPr id="7" name="Text 5"/>
          <p:cNvSpPr/>
          <p:nvPr/>
        </p:nvSpPr>
        <p:spPr>
          <a:xfrm>
            <a:off x="868680" y="2880360"/>
            <a:ext cx="3017520" cy="20116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Numește numai ultimul pas, nu boala de pe ultimul rând folosit. Nu intră în cifra COVID-19, nici în a altei boli precise.</a:t>
            </a:r>
            <a:endParaRPr lang="en-US" sz="1600" dirty="0"/>
          </a:p>
        </p:txBody>
      </p:sp>
      <p:sp>
        <p:nvSpPr>
          <p:cNvPr id="8" name="Shape 6"/>
          <p:cNvSpPr/>
          <p:nvPr/>
        </p:nvSpPr>
        <p:spPr>
          <a:xfrm>
            <a:off x="4343400" y="1554480"/>
            <a:ext cx="3520440" cy="3429000"/>
          </a:xfrm>
          <a:prstGeom prst="roundRect">
            <a:avLst>
              <a:gd name="adj" fmla="val 2400"/>
            </a:avLst>
          </a:prstGeom>
          <a:solidFill>
            <a:srgbClr val="F6EDD5"/>
          </a:solidFill>
          <a:ln w="12700">
            <a:solidFill>
              <a:srgbClr val="F6EDD5"/>
            </a:solidFill>
            <a:prstDash val="solid"/>
          </a:ln>
        </p:spPr>
        <p:txBody>
          <a:bodyPr/>
          <a:p/>
        </p:txBody>
      </p:sp>
      <p:sp>
        <p:nvSpPr>
          <p:cNvPr id="9" name="Text 7"/>
          <p:cNvSpPr/>
          <p:nvPr/>
        </p:nvSpPr>
        <p:spPr>
          <a:xfrm>
            <a:off x="4617720" y="1691640"/>
            <a:ext cx="3017520" cy="548640"/>
          </a:xfrm>
          <a:prstGeom prst="rect">
            <a:avLst/>
          </a:prstGeom>
          <a:noFill/>
          <a:ln/>
        </p:spPr>
        <p:txBody>
          <a:bodyPr wrap="square" lIns="0" tIns="0" rIns="0" bIns="0" rtlCol="0" anchor="t"/>
          <a:lstStyle/>
          <a:p>
            <a:pPr indent="0" marL="0">
              <a:buNone/>
            </a:pPr>
            <a:r>
              <a:rPr lang="en-US" sz="2800" b="1" dirty="0">
                <a:solidFill>
                  <a:srgbClr val="8A6100"/>
                </a:solidFill>
                <a:latin typeface="Palatino Linotype" pitchFamily="34" charset="0"/>
                <a:ea typeface="Palatino Linotype" pitchFamily="34" charset="-122"/>
                <a:cs typeface="Palatino Linotype" pitchFamily="34" charset="-120"/>
              </a:rPr>
              <a:t>(b)</a:t>
            </a:r>
            <a:endParaRPr lang="en-US" sz="2800" dirty="0"/>
          </a:p>
        </p:txBody>
      </p:sp>
      <p:sp>
        <p:nvSpPr>
          <p:cNvPr id="10" name="Text 8"/>
          <p:cNvSpPr/>
          <p:nvPr/>
        </p:nvSpPr>
        <p:spPr>
          <a:xfrm>
            <a:off x="4617720" y="2286000"/>
            <a:ext cx="3017520" cy="5486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„Diabet zaharat”</a:t>
            </a:r>
            <a:endParaRPr lang="en-US" sz="1800" dirty="0"/>
          </a:p>
        </p:txBody>
      </p:sp>
      <p:sp>
        <p:nvSpPr>
          <p:cNvPr id="11" name="Text 9"/>
          <p:cNvSpPr/>
          <p:nvPr/>
        </p:nvSpPr>
        <p:spPr>
          <a:xfrm>
            <a:off x="4617720" y="2880360"/>
            <a:ext cx="3017520" cy="20116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Pacientul se mută în cifra deceselor prin diabet.</a:t>
            </a:r>
            <a:endParaRPr lang="en-US" sz="1600" dirty="0"/>
          </a:p>
        </p:txBody>
      </p:sp>
      <p:sp>
        <p:nvSpPr>
          <p:cNvPr id="12" name="Shape 10"/>
          <p:cNvSpPr/>
          <p:nvPr/>
        </p:nvSpPr>
        <p:spPr>
          <a:xfrm>
            <a:off x="8092440" y="1554480"/>
            <a:ext cx="3520440" cy="3429000"/>
          </a:xfrm>
          <a:prstGeom prst="roundRect">
            <a:avLst>
              <a:gd name="adj" fmla="val 2400"/>
            </a:avLst>
          </a:prstGeom>
          <a:solidFill>
            <a:srgbClr val="E1F0EC"/>
          </a:solidFill>
          <a:ln w="12700">
            <a:solidFill>
              <a:srgbClr val="E1F0EC"/>
            </a:solidFill>
            <a:prstDash val="solid"/>
          </a:ln>
        </p:spPr>
        <p:txBody>
          <a:bodyPr/>
          <a:p/>
        </p:txBody>
      </p:sp>
      <p:sp>
        <p:nvSpPr>
          <p:cNvPr id="13" name="Text 11"/>
          <p:cNvSpPr/>
          <p:nvPr/>
        </p:nvSpPr>
        <p:spPr>
          <a:xfrm>
            <a:off x="8366760" y="1691640"/>
            <a:ext cx="3017520" cy="548640"/>
          </a:xfrm>
          <a:prstGeom prst="rect">
            <a:avLst/>
          </a:prstGeom>
          <a:noFill/>
          <a:ln/>
        </p:spPr>
        <p:txBody>
          <a:bodyPr wrap="square" lIns="0" tIns="0" rIns="0" bIns="0" rtlCol="0" anchor="t"/>
          <a:lstStyle/>
          <a:p>
            <a:pPr indent="0" marL="0">
              <a:buNone/>
            </a:pPr>
            <a:r>
              <a:rPr lang="en-US" sz="2800" b="1" dirty="0">
                <a:solidFill>
                  <a:srgbClr val="0E7C6B"/>
                </a:solidFill>
                <a:latin typeface="Palatino Linotype" pitchFamily="34" charset="0"/>
                <a:ea typeface="Palatino Linotype" pitchFamily="34" charset="-122"/>
                <a:cs typeface="Palatino Linotype" pitchFamily="34" charset="-120"/>
              </a:rPr>
              <a:t>(c)</a:t>
            </a:r>
            <a:endParaRPr lang="en-US" sz="2800" dirty="0"/>
          </a:p>
        </p:txBody>
      </p:sp>
      <p:sp>
        <p:nvSpPr>
          <p:cNvPr id="14" name="Text 12"/>
          <p:cNvSpPr/>
          <p:nvPr/>
        </p:nvSpPr>
        <p:spPr>
          <a:xfrm>
            <a:off x="8366760" y="2286000"/>
            <a:ext cx="3017520" cy="5486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Lanțul complet</a:t>
            </a:r>
            <a:endParaRPr lang="en-US" sz="1800" dirty="0"/>
          </a:p>
        </p:txBody>
      </p:sp>
      <p:sp>
        <p:nvSpPr>
          <p:cNvPr id="15" name="Text 13"/>
          <p:cNvSpPr/>
          <p:nvPr/>
        </p:nvSpPr>
        <p:spPr>
          <a:xfrm>
            <a:off x="8366760" y="2880360"/>
            <a:ext cx="3017520" cy="20116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Pacientul este numărat acolo unde spune ghidul OMS: la COVID-19.</a:t>
            </a:r>
            <a:endParaRPr lang="en-US" sz="1600" dirty="0"/>
          </a:p>
        </p:txBody>
      </p:sp>
      <p:sp>
        <p:nvSpPr>
          <p:cNvPr id="16" name="Text 14"/>
          <p:cNvSpPr/>
          <p:nvPr/>
        </p:nvSpPr>
        <p:spPr>
          <a:xfrm>
            <a:off x="594360" y="5257800"/>
            <a:ext cx="10972800" cy="54864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Trei rânduri diferite în statistica națională.</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FIECARE · DOUĂ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SCRIEȚI ÎN CHAT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Rescrieți varianta (a)</a:t>
            </a:r>
            <a:endParaRPr lang="en-US" sz="3400" dirty="0"/>
          </a:p>
        </p:txBody>
      </p:sp>
      <p:sp>
        <p:nvSpPr>
          <p:cNvPr id="6" name="Shape 4"/>
          <p:cNvSpPr/>
          <p:nvPr/>
        </p:nvSpPr>
        <p:spPr>
          <a:xfrm>
            <a:off x="594360" y="1600200"/>
            <a:ext cx="6949440" cy="4206240"/>
          </a:xfrm>
          <a:prstGeom prst="roundRect">
            <a:avLst>
              <a:gd name="adj" fmla="val 1957"/>
            </a:avLst>
          </a:prstGeom>
          <a:solidFill>
            <a:srgbClr val="FBF8F1"/>
          </a:solidFill>
          <a:ln w="12700">
            <a:solidFill>
              <a:srgbClr val="FBF8F1"/>
            </a:solidFill>
            <a:prstDash val="solid"/>
          </a:ln>
        </p:spPr>
        <p:txBody>
          <a:bodyPr/>
          <a:p/>
        </p:txBody>
      </p:sp>
      <p:sp>
        <p:nvSpPr>
          <p:cNvPr id="7" name="Text 5"/>
          <p:cNvSpPr/>
          <p:nvPr/>
        </p:nvSpPr>
        <p:spPr>
          <a:xfrm>
            <a:off x="868680" y="1783080"/>
            <a:ext cx="2743200" cy="36576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Partea I</a:t>
            </a:r>
            <a:endParaRPr lang="en-US" sz="1400" dirty="0"/>
          </a:p>
        </p:txBody>
      </p:sp>
      <p:sp>
        <p:nvSpPr>
          <p:cNvPr id="8" name="Text 6"/>
          <p:cNvSpPr/>
          <p:nvPr/>
        </p:nvSpPr>
        <p:spPr>
          <a:xfrm>
            <a:off x="868680" y="2240280"/>
            <a:ext cx="457200" cy="548640"/>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a)</a:t>
            </a:r>
            <a:endParaRPr lang="en-US" sz="1600" dirty="0"/>
          </a:p>
        </p:txBody>
      </p:sp>
      <p:sp>
        <p:nvSpPr>
          <p:cNvPr id="9" name="Shape 7"/>
          <p:cNvSpPr/>
          <p:nvPr/>
        </p:nvSpPr>
        <p:spPr>
          <a:xfrm>
            <a:off x="1371600" y="2697480"/>
            <a:ext cx="5852160" cy="13716"/>
          </a:xfrm>
          <a:prstGeom prst="rect">
            <a:avLst/>
          </a:prstGeom>
          <a:solidFill>
            <a:srgbClr val="C9C6BE"/>
          </a:solidFill>
          <a:ln w="12700">
            <a:solidFill>
              <a:srgbClr val="C9C6BE"/>
            </a:solidFill>
            <a:prstDash val="solid"/>
          </a:ln>
        </p:spPr>
        <p:txBody>
          <a:bodyPr/>
          <a:p/>
        </p:txBody>
      </p:sp>
      <p:sp>
        <p:nvSpPr>
          <p:cNvPr id="10" name="Text 8"/>
          <p:cNvSpPr/>
          <p:nvPr/>
        </p:nvSpPr>
        <p:spPr>
          <a:xfrm>
            <a:off x="868680" y="2926080"/>
            <a:ext cx="457200" cy="548640"/>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b)</a:t>
            </a:r>
            <a:endParaRPr lang="en-US" sz="1600" dirty="0"/>
          </a:p>
        </p:txBody>
      </p:sp>
      <p:sp>
        <p:nvSpPr>
          <p:cNvPr id="11" name="Shape 9"/>
          <p:cNvSpPr/>
          <p:nvPr/>
        </p:nvSpPr>
        <p:spPr>
          <a:xfrm>
            <a:off x="1371600" y="3383280"/>
            <a:ext cx="5852160" cy="13716"/>
          </a:xfrm>
          <a:prstGeom prst="rect">
            <a:avLst/>
          </a:prstGeom>
          <a:solidFill>
            <a:srgbClr val="C9C6BE"/>
          </a:solidFill>
          <a:ln w="12700">
            <a:solidFill>
              <a:srgbClr val="C9C6BE"/>
            </a:solidFill>
            <a:prstDash val="solid"/>
          </a:ln>
        </p:spPr>
        <p:txBody>
          <a:bodyPr/>
          <a:p/>
        </p:txBody>
      </p:sp>
      <p:sp>
        <p:nvSpPr>
          <p:cNvPr id="12" name="Text 10"/>
          <p:cNvSpPr/>
          <p:nvPr/>
        </p:nvSpPr>
        <p:spPr>
          <a:xfrm>
            <a:off x="868680" y="3611880"/>
            <a:ext cx="457200" cy="548640"/>
          </a:xfrm>
          <a:prstGeom prst="rect">
            <a:avLst/>
          </a:prstGeom>
          <a:noFill/>
          <a:ln/>
        </p:spPr>
        <p:txBody>
          <a:bodyPr wrap="square" lIns="0" tIns="0" rIns="0" bIns="0" rtlCol="0" anchor="ctr"/>
          <a:lstStyle/>
          <a:p>
            <a:pPr indent="0" marL="0">
              <a:buNone/>
            </a:pPr>
            <a:r>
              <a:rPr lang="en-US" sz="1600" b="1" dirty="0">
                <a:solidFill>
                  <a:srgbClr val="585A64"/>
                </a:solidFill>
                <a:latin typeface="Palatino Linotype" pitchFamily="34" charset="0"/>
                <a:ea typeface="Palatino Linotype" pitchFamily="34" charset="-122"/>
                <a:cs typeface="Palatino Linotype" pitchFamily="34" charset="-120"/>
              </a:rPr>
              <a:t>c)</a:t>
            </a:r>
            <a:endParaRPr lang="en-US" sz="1600" dirty="0"/>
          </a:p>
        </p:txBody>
      </p:sp>
      <p:sp>
        <p:nvSpPr>
          <p:cNvPr id="13" name="Shape 11"/>
          <p:cNvSpPr/>
          <p:nvPr/>
        </p:nvSpPr>
        <p:spPr>
          <a:xfrm>
            <a:off x="1371600" y="4069080"/>
            <a:ext cx="5852160" cy="13716"/>
          </a:xfrm>
          <a:prstGeom prst="rect">
            <a:avLst/>
          </a:prstGeom>
          <a:solidFill>
            <a:srgbClr val="C9C6BE"/>
          </a:solidFill>
          <a:ln w="12700">
            <a:solidFill>
              <a:srgbClr val="C9C6BE"/>
            </a:solidFill>
            <a:prstDash val="solid"/>
          </a:ln>
        </p:spPr>
        <p:txBody>
          <a:bodyPr/>
          <a:p/>
        </p:txBody>
      </p:sp>
      <p:sp>
        <p:nvSpPr>
          <p:cNvPr id="14" name="Text 12"/>
          <p:cNvSpPr/>
          <p:nvPr/>
        </p:nvSpPr>
        <p:spPr>
          <a:xfrm>
            <a:off x="868680" y="4434840"/>
            <a:ext cx="274320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Partea a II-a</a:t>
            </a:r>
            <a:endParaRPr lang="en-US" sz="1400" dirty="0"/>
          </a:p>
        </p:txBody>
      </p:sp>
      <p:sp>
        <p:nvSpPr>
          <p:cNvPr id="15" name="Shape 13"/>
          <p:cNvSpPr/>
          <p:nvPr/>
        </p:nvSpPr>
        <p:spPr>
          <a:xfrm>
            <a:off x="1371600" y="5257800"/>
            <a:ext cx="5852160" cy="13716"/>
          </a:xfrm>
          <a:prstGeom prst="rect">
            <a:avLst/>
          </a:prstGeom>
          <a:solidFill>
            <a:srgbClr val="C9C6BE"/>
          </a:solidFill>
          <a:ln w="12700">
            <a:solidFill>
              <a:srgbClr val="C9C6BE"/>
            </a:solidFill>
            <a:prstDash val="solid"/>
          </a:ln>
        </p:spPr>
        <p:txBody>
          <a:bodyPr/>
          <a:p/>
        </p:txBody>
      </p:sp>
      <p:sp>
        <p:nvSpPr>
          <p:cNvPr id="16" name="Shape 14"/>
          <p:cNvSpPr/>
          <p:nvPr/>
        </p:nvSpPr>
        <p:spPr>
          <a:xfrm>
            <a:off x="7818120" y="1600200"/>
            <a:ext cx="3749040" cy="896112"/>
          </a:xfrm>
          <a:prstGeom prst="roundRect">
            <a:avLst>
              <a:gd name="adj" fmla="val 9184"/>
            </a:avLst>
          </a:prstGeom>
          <a:solidFill>
            <a:srgbClr val="1D1F2B"/>
          </a:solidFill>
          <a:ln w="12700">
            <a:solidFill>
              <a:srgbClr val="1D1F2B"/>
            </a:solidFill>
            <a:prstDash val="solid"/>
          </a:ln>
        </p:spPr>
        <p:txBody>
          <a:bodyPr/>
          <a:p/>
        </p:txBody>
      </p:sp>
      <p:sp>
        <p:nvSpPr>
          <p:cNvPr id="17" name="Shape 15"/>
          <p:cNvSpPr/>
          <p:nvPr/>
        </p:nvSpPr>
        <p:spPr>
          <a:xfrm>
            <a:off x="8138160" y="1837944"/>
            <a:ext cx="420624" cy="420624"/>
          </a:xfrm>
          <a:prstGeom prst="ellipse">
            <a:avLst/>
          </a:prstGeom>
          <a:solidFill>
            <a:srgbClr val="27D3BE"/>
          </a:solidFill>
          <a:ln/>
        </p:spPr>
        <p:txBody>
          <a:bodyPr/>
          <a:p/>
        </p:txBody>
      </p:sp>
      <p:sp>
        <p:nvSpPr>
          <p:cNvPr id="18" name="Text 16"/>
          <p:cNvSpPr/>
          <p:nvPr/>
        </p:nvSpPr>
        <p:spPr>
          <a:xfrm>
            <a:off x="8138160" y="1837944"/>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1</a:t>
            </a:r>
            <a:endParaRPr lang="en-US" sz="1400" dirty="0"/>
          </a:p>
        </p:txBody>
      </p:sp>
      <p:sp>
        <p:nvSpPr>
          <p:cNvPr id="19" name="Text 17"/>
          <p:cNvSpPr/>
          <p:nvPr/>
        </p:nvSpPr>
        <p:spPr>
          <a:xfrm>
            <a:off x="8823960" y="1600200"/>
            <a:ext cx="2468880" cy="896112"/>
          </a:xfrm>
          <a:prstGeom prst="rect">
            <a:avLst/>
          </a:prstGeom>
          <a:noFill/>
          <a:ln/>
        </p:spPr>
        <p:txBody>
          <a:bodyPr wrap="square" lIns="0" tIns="0" rIns="0" bIns="0" rtlCol="0" anchor="ctr"/>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Câte un rând pe fiecare treaptă a lanțului.</a:t>
            </a:r>
            <a:endParaRPr lang="en-US" sz="1550" dirty="0"/>
          </a:p>
        </p:txBody>
      </p:sp>
      <p:sp>
        <p:nvSpPr>
          <p:cNvPr id="20" name="Shape 18"/>
          <p:cNvSpPr/>
          <p:nvPr/>
        </p:nvSpPr>
        <p:spPr>
          <a:xfrm>
            <a:off x="7818120" y="2651760"/>
            <a:ext cx="3749040" cy="896112"/>
          </a:xfrm>
          <a:prstGeom prst="roundRect">
            <a:avLst>
              <a:gd name="adj" fmla="val 9184"/>
            </a:avLst>
          </a:prstGeom>
          <a:solidFill>
            <a:srgbClr val="1D1F2B"/>
          </a:solidFill>
          <a:ln w="12700">
            <a:solidFill>
              <a:srgbClr val="1D1F2B"/>
            </a:solidFill>
            <a:prstDash val="solid"/>
          </a:ln>
        </p:spPr>
        <p:txBody>
          <a:bodyPr/>
          <a:p/>
        </p:txBody>
      </p:sp>
      <p:sp>
        <p:nvSpPr>
          <p:cNvPr id="21" name="Shape 19"/>
          <p:cNvSpPr/>
          <p:nvPr/>
        </p:nvSpPr>
        <p:spPr>
          <a:xfrm>
            <a:off x="8138160" y="2889504"/>
            <a:ext cx="420624" cy="420624"/>
          </a:xfrm>
          <a:prstGeom prst="ellipse">
            <a:avLst/>
          </a:prstGeom>
          <a:solidFill>
            <a:srgbClr val="27D3BE"/>
          </a:solidFill>
          <a:ln/>
        </p:spPr>
        <p:txBody>
          <a:bodyPr/>
          <a:p/>
        </p:txBody>
      </p:sp>
      <p:sp>
        <p:nvSpPr>
          <p:cNvPr id="22" name="Text 20"/>
          <p:cNvSpPr/>
          <p:nvPr/>
        </p:nvSpPr>
        <p:spPr>
          <a:xfrm>
            <a:off x="8138160" y="2889504"/>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2</a:t>
            </a:r>
            <a:endParaRPr lang="en-US" sz="1400" dirty="0"/>
          </a:p>
        </p:txBody>
      </p:sp>
      <p:sp>
        <p:nvSpPr>
          <p:cNvPr id="23" name="Text 21"/>
          <p:cNvSpPr/>
          <p:nvPr/>
        </p:nvSpPr>
        <p:spPr>
          <a:xfrm>
            <a:off x="8823960" y="2651760"/>
            <a:ext cx="2468880" cy="896112"/>
          </a:xfrm>
          <a:prstGeom prst="rect">
            <a:avLst/>
          </a:prstGeom>
          <a:noFill/>
          <a:ln/>
        </p:spPr>
        <p:txBody>
          <a:bodyPr wrap="square" lIns="0" tIns="0" rIns="0" bIns="0" rtlCol="0" anchor="ctr"/>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Diabetul, separat.</a:t>
            </a:r>
            <a:endParaRPr lang="en-US" sz="1550" dirty="0"/>
          </a:p>
        </p:txBody>
      </p:sp>
      <p:sp>
        <p:nvSpPr>
          <p:cNvPr id="24" name="Shape 22"/>
          <p:cNvSpPr/>
          <p:nvPr/>
        </p:nvSpPr>
        <p:spPr>
          <a:xfrm>
            <a:off x="7818120" y="3703320"/>
            <a:ext cx="3749040" cy="896112"/>
          </a:xfrm>
          <a:prstGeom prst="roundRect">
            <a:avLst>
              <a:gd name="adj" fmla="val 9184"/>
            </a:avLst>
          </a:prstGeom>
          <a:solidFill>
            <a:srgbClr val="1D1F2B"/>
          </a:solidFill>
          <a:ln w="12700">
            <a:solidFill>
              <a:srgbClr val="1D1F2B"/>
            </a:solidFill>
            <a:prstDash val="solid"/>
          </a:ln>
        </p:spPr>
        <p:txBody>
          <a:bodyPr/>
          <a:p/>
        </p:txBody>
      </p:sp>
      <p:sp>
        <p:nvSpPr>
          <p:cNvPr id="25" name="Shape 23"/>
          <p:cNvSpPr/>
          <p:nvPr/>
        </p:nvSpPr>
        <p:spPr>
          <a:xfrm>
            <a:off x="8138160" y="3941064"/>
            <a:ext cx="420624" cy="420624"/>
          </a:xfrm>
          <a:prstGeom prst="ellipse">
            <a:avLst/>
          </a:prstGeom>
          <a:solidFill>
            <a:srgbClr val="27D3BE"/>
          </a:solidFill>
          <a:ln/>
        </p:spPr>
        <p:txBody>
          <a:bodyPr/>
          <a:p/>
        </p:txBody>
      </p:sp>
      <p:sp>
        <p:nvSpPr>
          <p:cNvPr id="26" name="Text 24"/>
          <p:cNvSpPr/>
          <p:nvPr/>
        </p:nvSpPr>
        <p:spPr>
          <a:xfrm>
            <a:off x="8138160" y="3941064"/>
            <a:ext cx="420624" cy="420624"/>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3</a:t>
            </a:r>
            <a:endParaRPr lang="en-US" sz="1400" dirty="0"/>
          </a:p>
        </p:txBody>
      </p:sp>
      <p:sp>
        <p:nvSpPr>
          <p:cNvPr id="27" name="Text 25"/>
          <p:cNvSpPr/>
          <p:nvPr/>
        </p:nvSpPr>
        <p:spPr>
          <a:xfrm>
            <a:off x="8823960" y="3703320"/>
            <a:ext cx="2468880" cy="896112"/>
          </a:xfrm>
          <a:prstGeom prst="rect">
            <a:avLst/>
          </a:prstGeom>
          <a:noFill/>
          <a:ln/>
        </p:spPr>
        <p:txBody>
          <a:bodyPr wrap="square" lIns="0" tIns="0" rIns="0" bIns="0" rtlCol="0" anchor="ctr"/>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Citim două variante din chat.</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CÂND CERTIFICATELE NU SPUN TOT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Un deces care nu spune nimic nimănui</a:t>
            </a:r>
            <a:endParaRPr lang="en-US" sz="3000" dirty="0"/>
          </a:p>
        </p:txBody>
      </p:sp>
      <p:sp>
        <p:nvSpPr>
          <p:cNvPr id="4" name="Text 2"/>
          <p:cNvSpPr/>
          <p:nvPr/>
        </p:nvSpPr>
        <p:spPr>
          <a:xfrm>
            <a:off x="594360" y="1463040"/>
            <a:ext cx="10972800" cy="118872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Din certificate se face statistica deceselor pe cauze, iar din ea se decid programe, bugete și priorități. Chiar dacă fiecare medic ar completa perfect, unele decese tot nu ar fi atribuite bolii:</a:t>
            </a:r>
            <a:endParaRPr lang="en-US" sz="1800" dirty="0"/>
          </a:p>
        </p:txBody>
      </p:sp>
      <p:sp>
        <p:nvSpPr>
          <p:cNvPr id="5" name="Shape 3"/>
          <p:cNvSpPr/>
          <p:nvPr/>
        </p:nvSpPr>
        <p:spPr>
          <a:xfrm>
            <a:off x="594360" y="2834640"/>
            <a:ext cx="5349240" cy="2103120"/>
          </a:xfrm>
          <a:prstGeom prst="roundRect">
            <a:avLst>
              <a:gd name="adj" fmla="val 3913"/>
            </a:avLst>
          </a:prstGeom>
          <a:solidFill>
            <a:srgbClr val="F4E0E2"/>
          </a:solidFill>
          <a:ln w="12700">
            <a:solidFill>
              <a:srgbClr val="F4E0E2"/>
            </a:solidFill>
            <a:prstDash val="solid"/>
          </a:ln>
        </p:spPr>
        <p:txBody>
          <a:bodyPr/>
          <a:p/>
        </p:txBody>
      </p:sp>
      <p:sp>
        <p:nvSpPr>
          <p:cNvPr id="6" name="Text 4"/>
          <p:cNvSpPr/>
          <p:nvPr/>
        </p:nvSpPr>
        <p:spPr>
          <a:xfrm>
            <a:off x="868680" y="2971800"/>
            <a:ext cx="484632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Acasă, netestați</a:t>
            </a:r>
            <a:endParaRPr lang="en-US" sz="2000" dirty="0"/>
          </a:p>
        </p:txBody>
      </p:sp>
      <p:sp>
        <p:nvSpPr>
          <p:cNvPr id="7" name="Text 5"/>
          <p:cNvSpPr/>
          <p:nvPr/>
        </p:nvSpPr>
        <p:spPr>
          <a:xfrm>
            <a:off x="868680" y="3520440"/>
            <a:ext cx="4846320" cy="13716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Unii bolnavi mor fără să fi fost testați.</a:t>
            </a:r>
            <a:endParaRPr lang="en-US" sz="1700" dirty="0"/>
          </a:p>
        </p:txBody>
      </p:sp>
      <p:sp>
        <p:nvSpPr>
          <p:cNvPr id="8" name="Shape 6"/>
          <p:cNvSpPr/>
          <p:nvPr/>
        </p:nvSpPr>
        <p:spPr>
          <a:xfrm>
            <a:off x="6217920" y="2834640"/>
            <a:ext cx="5349240" cy="2103120"/>
          </a:xfrm>
          <a:prstGeom prst="roundRect">
            <a:avLst>
              <a:gd name="adj" fmla="val 3913"/>
            </a:avLst>
          </a:prstGeom>
          <a:solidFill>
            <a:srgbClr val="E9E3F6"/>
          </a:solidFill>
          <a:ln w="12700">
            <a:solidFill>
              <a:srgbClr val="E9E3F6"/>
            </a:solidFill>
            <a:prstDash val="solid"/>
          </a:ln>
        </p:spPr>
        <p:txBody>
          <a:bodyPr/>
          <a:p/>
        </p:txBody>
      </p:sp>
      <p:sp>
        <p:nvSpPr>
          <p:cNvPr id="9" name="Text 7"/>
          <p:cNvSpPr/>
          <p:nvPr/>
        </p:nvSpPr>
        <p:spPr>
          <a:xfrm>
            <a:off x="6492240" y="2971800"/>
            <a:ext cx="4846320" cy="457200"/>
          </a:xfrm>
          <a:prstGeom prst="rect">
            <a:avLst/>
          </a:prstGeom>
          <a:noFill/>
          <a:ln/>
        </p:spPr>
        <p:txBody>
          <a:bodyPr wrap="square" lIns="0" tIns="0" rIns="0" bIns="0" rtlCol="0" anchor="t"/>
          <a:lstStyle/>
          <a:p>
            <a:pPr indent="0" marL="0">
              <a:buNone/>
            </a:pPr>
            <a:r>
              <a:rPr lang="en-US" sz="2000" b="1" dirty="0">
                <a:solidFill>
                  <a:srgbClr val="4A2D8C"/>
                </a:solidFill>
                <a:latin typeface="Palatino Linotype" pitchFamily="34" charset="0"/>
                <a:ea typeface="Palatino Linotype" pitchFamily="34" charset="-122"/>
                <a:cs typeface="Palatino Linotype" pitchFamily="34" charset="-120"/>
              </a:rPr>
              <a:t>Fără loc la timp</a:t>
            </a:r>
            <a:endParaRPr lang="en-US" sz="2000" dirty="0"/>
          </a:p>
        </p:txBody>
      </p:sp>
      <p:sp>
        <p:nvSpPr>
          <p:cNvPr id="10" name="Text 8"/>
          <p:cNvSpPr/>
          <p:nvPr/>
        </p:nvSpPr>
        <p:spPr>
          <a:xfrm>
            <a:off x="6492240" y="3520440"/>
            <a:ext cx="4846320" cy="13716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Alții mor de un infarct sau de un accident vascular, pentru că, în plin val, nu au mai ajuns la timp la spital.</a:t>
            </a:r>
            <a:endParaRPr lang="en-US" sz="1700" dirty="0"/>
          </a:p>
        </p:txBody>
      </p:sp>
      <p:sp>
        <p:nvSpPr>
          <p:cNvPr id="11" name="Text 9"/>
          <p:cNvSpPr/>
          <p:nvPr/>
        </p:nvSpPr>
        <p:spPr>
          <a:xfrm>
            <a:off x="594360" y="5212080"/>
            <a:ext cx="10972800" cy="54864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Pentru ele există o a doua cale de a număra, care nu depinde de certificat.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TREILEA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Mortalitatea în exces</a:t>
            </a:r>
            <a:endParaRPr lang="en-US" sz="3600" dirty="0"/>
          </a:p>
        </p:txBody>
      </p:sp>
      <p:sp>
        <p:nvSpPr>
          <p:cNvPr id="4" name="Text 2"/>
          <p:cNvSpPr/>
          <p:nvPr/>
        </p:nvSpPr>
        <p:spPr>
          <a:xfrm>
            <a:off x="594360" y="1554480"/>
            <a:ext cx="10972800" cy="1188720"/>
          </a:xfrm>
          <a:prstGeom prst="rect">
            <a:avLst/>
          </a:prstGeom>
          <a:noFill/>
          <a:ln/>
        </p:spPr>
        <p:txBody>
          <a:bodyPr wrap="square" lIns="0" tIns="0" rIns="0" bIns="0" rtlCol="0" anchor="ctr"/>
          <a:lstStyle/>
          <a:p>
            <a:pPr indent="0" marL="0">
              <a:buNone/>
            </a:pPr>
            <a:r>
              <a:rPr lang="en-US" sz="3600" b="1" i="1" dirty="0">
                <a:solidFill>
                  <a:srgbClr val="B02532"/>
                </a:solidFill>
                <a:latin typeface="Palatino Linotype" pitchFamily="34" charset="0"/>
                <a:ea typeface="Palatino Linotype" pitchFamily="34" charset="-122"/>
                <a:cs typeface="Palatino Linotype" pitchFamily="34" charset="-120"/>
              </a:rPr>
              <a:t>„Câți oameni au murit în plus față de un an obișnuit”</a:t>
            </a:r>
            <a:endParaRPr lang="en-US" sz="3600" dirty="0"/>
          </a:p>
        </p:txBody>
      </p:sp>
      <p:sp>
        <p:nvSpPr>
          <p:cNvPr id="5" name="Shape 3"/>
          <p:cNvSpPr/>
          <p:nvPr/>
        </p:nvSpPr>
        <p:spPr>
          <a:xfrm>
            <a:off x="594360" y="2971800"/>
            <a:ext cx="64008" cy="1234440"/>
          </a:xfrm>
          <a:prstGeom prst="rect">
            <a:avLst/>
          </a:prstGeom>
          <a:solidFill>
            <a:srgbClr val="B02532"/>
          </a:solidFill>
          <a:ln w="12700">
            <a:solidFill>
              <a:srgbClr val="B02532"/>
            </a:solidFill>
            <a:prstDash val="solid"/>
          </a:ln>
        </p:spPr>
        <p:txBody>
          <a:bodyPr/>
          <a:p/>
        </p:txBody>
      </p:sp>
      <p:sp>
        <p:nvSpPr>
          <p:cNvPr id="6" name="Text 4"/>
          <p:cNvSpPr/>
          <p:nvPr/>
        </p:nvSpPr>
        <p:spPr>
          <a:xfrm>
            <a:off x="868680" y="2971800"/>
            <a:ext cx="10607040" cy="123444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Diferența dintre toate decesele dintr-o perioadă de criză și cele la care ne-am fi așteptat în condiții obișnuite. Se numără toate decesele, indiferent de cauza scrisă pe certificat.</a:t>
            </a:r>
            <a:endParaRPr lang="en-US" sz="1900" dirty="0"/>
          </a:p>
        </p:txBody>
      </p:sp>
      <p:sp>
        <p:nvSpPr>
          <p:cNvPr id="7" name="Text 5"/>
          <p:cNvSpPr/>
          <p:nvPr/>
        </p:nvSpPr>
        <p:spPr>
          <a:xfrm>
            <a:off x="594360" y="4572000"/>
            <a:ext cx="10972800" cy="822960"/>
          </a:xfrm>
          <a:prstGeom prst="rect">
            <a:avLst/>
          </a:prstGeom>
          <a:noFill/>
          <a:ln/>
        </p:spPr>
        <p:txBody>
          <a:bodyPr wrap="square" lIns="0" tIns="0" rIns="0" bIns="0" rtlCol="0" anchor="t"/>
          <a:lstStyle/>
          <a:p>
            <a:pPr indent="0" marL="0">
              <a:buNone/>
            </a:pPr>
            <a:r>
              <a:rPr lang="en-US" sz="1800" b="1" dirty="0">
                <a:solidFill>
                  <a:srgbClr val="3A3C44"/>
                </a:solidFill>
                <a:latin typeface="Palatino Linotype" pitchFamily="34" charset="0"/>
                <a:ea typeface="Palatino Linotype" pitchFamily="34" charset="-122"/>
                <a:cs typeface="Palatino Linotype" pitchFamily="34" charset="-120"/>
              </a:rPr>
              <a:t>Eurostat o calculează lunar, ca procent față de media deceselor din aceeași lună a anilor 2016–2019.</a:t>
            </a:r>
            <a:endParaRPr lang="en-US" sz="1800" dirty="0"/>
          </a:p>
        </p:txBody>
      </p:sp>
      <p:sp>
        <p:nvSpPr>
          <p:cNvPr id="8" name="Text 6"/>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OMS; Eurostat, metadatele indicatorului (registru A501, A504).</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 DECES ESTE UN DECES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Avantajul și limita</a:t>
            </a:r>
            <a:endParaRPr lang="en-US" sz="3400" dirty="0"/>
          </a:p>
        </p:txBody>
      </p:sp>
      <p:sp>
        <p:nvSpPr>
          <p:cNvPr id="4" name="Shape 2"/>
          <p:cNvSpPr/>
          <p:nvPr/>
        </p:nvSpPr>
        <p:spPr>
          <a:xfrm>
            <a:off x="594360" y="1600200"/>
            <a:ext cx="5349240" cy="3749040"/>
          </a:xfrm>
          <a:prstGeom prst="roundRect">
            <a:avLst>
              <a:gd name="adj" fmla="val 2195"/>
            </a:avLst>
          </a:prstGeom>
          <a:solidFill>
            <a:srgbClr val="E1F0EC"/>
          </a:solidFill>
          <a:ln w="12700">
            <a:solidFill>
              <a:srgbClr val="E1F0EC"/>
            </a:solidFill>
            <a:prstDash val="solid"/>
          </a:ln>
        </p:spPr>
        <p:txBody>
          <a:bodyPr/>
          <a:p/>
        </p:txBody>
      </p:sp>
      <p:sp>
        <p:nvSpPr>
          <p:cNvPr id="5" name="Text 3"/>
          <p:cNvSpPr/>
          <p:nvPr/>
        </p:nvSpPr>
        <p:spPr>
          <a:xfrm>
            <a:off x="914400" y="1783080"/>
            <a:ext cx="4754880" cy="548640"/>
          </a:xfrm>
          <a:prstGeom prst="rect">
            <a:avLst/>
          </a:prstGeom>
          <a:noFill/>
          <a:ln/>
        </p:spPr>
        <p:txBody>
          <a:bodyPr wrap="square" lIns="0" tIns="0" rIns="0" bIns="0" rtlCol="0" anchor="t"/>
          <a:lstStyle/>
          <a:p>
            <a:pPr indent="0" marL="0">
              <a:buNone/>
            </a:pPr>
            <a:r>
              <a:rPr lang="en-US" sz="2600" b="1" dirty="0">
                <a:solidFill>
                  <a:srgbClr val="0E7C6B"/>
                </a:solidFill>
                <a:latin typeface="Palatino Linotype" pitchFamily="34" charset="0"/>
                <a:ea typeface="Palatino Linotype" pitchFamily="34" charset="-122"/>
                <a:cs typeface="Palatino Linotype" pitchFamily="34" charset="-120"/>
              </a:rPr>
              <a:t>Avantajul</a:t>
            </a:r>
            <a:endParaRPr lang="en-US" sz="2600" dirty="0"/>
          </a:p>
        </p:txBody>
      </p:sp>
      <p:sp>
        <p:nvSpPr>
          <p:cNvPr id="6" name="Text 4"/>
          <p:cNvSpPr/>
          <p:nvPr/>
        </p:nvSpPr>
        <p:spPr>
          <a:xfrm>
            <a:off x="914400" y="2468880"/>
            <a:ext cx="4754880" cy="274320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Nu mai contează cine a fost testat și ce s-a scris pe certificat. Se numără toate decesele.</a:t>
            </a:r>
            <a:endParaRPr lang="en-US" sz="1900" dirty="0"/>
          </a:p>
        </p:txBody>
      </p:sp>
      <p:sp>
        <p:nvSpPr>
          <p:cNvPr id="7" name="Shape 5"/>
          <p:cNvSpPr/>
          <p:nvPr/>
        </p:nvSpPr>
        <p:spPr>
          <a:xfrm>
            <a:off x="6217920" y="1600200"/>
            <a:ext cx="5349240" cy="3749040"/>
          </a:xfrm>
          <a:prstGeom prst="roundRect">
            <a:avLst>
              <a:gd name="adj" fmla="val 2195"/>
            </a:avLst>
          </a:prstGeom>
          <a:solidFill>
            <a:srgbClr val="F4E0E2"/>
          </a:solidFill>
          <a:ln w="12700">
            <a:solidFill>
              <a:srgbClr val="F4E0E2"/>
            </a:solidFill>
            <a:prstDash val="solid"/>
          </a:ln>
        </p:spPr>
        <p:txBody>
          <a:bodyPr/>
          <a:p/>
        </p:txBody>
      </p:sp>
      <p:sp>
        <p:nvSpPr>
          <p:cNvPr id="8" name="Text 6"/>
          <p:cNvSpPr/>
          <p:nvPr/>
        </p:nvSpPr>
        <p:spPr>
          <a:xfrm>
            <a:off x="6537960" y="1783080"/>
            <a:ext cx="4754880" cy="548640"/>
          </a:xfrm>
          <a:prstGeom prst="rect">
            <a:avLst/>
          </a:prstGeom>
          <a:noFill/>
          <a:ln/>
        </p:spPr>
        <p:txBody>
          <a:bodyPr wrap="square" lIns="0" tIns="0" rIns="0" bIns="0" rtlCol="0" anchor="t"/>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Limita</a:t>
            </a:r>
            <a:endParaRPr lang="en-US" sz="2600" dirty="0"/>
          </a:p>
        </p:txBody>
      </p:sp>
      <p:sp>
        <p:nvSpPr>
          <p:cNvPr id="9" name="Text 7"/>
          <p:cNvSpPr/>
          <p:nvPr/>
        </p:nvSpPr>
        <p:spPr>
          <a:xfrm>
            <a:off x="6537960" y="2468880"/>
            <a:ext cx="4754880" cy="274320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Nu spune din ce cauză au murit oamenii în plus: cuprinde și decesele produse direct de virus, și pe cele produse indirect, de pildă de întreruperea serviciilor de sănătate.</a:t>
            </a:r>
            <a:endParaRPr lang="en-US" sz="1900" dirty="0"/>
          </a:p>
        </p:txBody>
      </p:sp>
      <p:sp>
        <p:nvSpPr>
          <p:cNvPr id="10" name="Text 8"/>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OMS; Eurostat (registru A501, A504).</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EUROSTAT · OCTOMBRIE 2021</a:t>
            </a:r>
            <a:endParaRPr lang="en-US" sz="1300" dirty="0"/>
          </a:p>
        </p:txBody>
      </p:sp>
      <p:sp>
        <p:nvSpPr>
          <p:cNvPr id="3" name="Text 1"/>
          <p:cNvSpPr/>
          <p:nvPr/>
        </p:nvSpPr>
        <p:spPr>
          <a:xfrm>
            <a:off x="594360" y="731520"/>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România: de aproximativ 2,1 ori mai multe decese</a:t>
            </a:r>
            <a:endParaRPr lang="en-US" sz="3000" dirty="0"/>
          </a:p>
        </p:txBody>
      </p:sp>
      <p:sp>
        <p:nvSpPr>
          <p:cNvPr id="4" name="Text 2"/>
          <p:cNvSpPr/>
          <p:nvPr/>
        </p:nvSpPr>
        <p:spPr>
          <a:xfrm>
            <a:off x="594360" y="1417320"/>
            <a:ext cx="10972800" cy="45720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decât în media lunilor octombrie din 2016–2019</a:t>
            </a:r>
            <a:endParaRPr lang="en-US" sz="1800" dirty="0"/>
          </a:p>
        </p:txBody>
      </p:sp>
      <p:sp>
        <p:nvSpPr>
          <p:cNvPr id="5" name="Text 3"/>
          <p:cNvSpPr/>
          <p:nvPr/>
        </p:nvSpPr>
        <p:spPr>
          <a:xfrm>
            <a:off x="594360" y="2240280"/>
            <a:ext cx="2286000" cy="731520"/>
          </a:xfrm>
          <a:prstGeom prst="rect">
            <a:avLst/>
          </a:prstGeom>
          <a:noFill/>
          <a:ln/>
        </p:spPr>
        <p:txBody>
          <a:bodyPr wrap="square" lIns="0" tIns="0" rIns="0" bIns="0" rtlCol="0" anchor="ctr"/>
          <a:lstStyle/>
          <a:p>
            <a:pPr algn="r" indent="0" marL="0">
              <a:buNone/>
            </a:pPr>
            <a:r>
              <a:rPr lang="en-US" sz="1800" b="1" dirty="0">
                <a:solidFill>
                  <a:srgbClr val="FF4757"/>
                </a:solidFill>
                <a:latin typeface="Palatino Linotype" pitchFamily="34" charset="0"/>
                <a:ea typeface="Palatino Linotype" pitchFamily="34" charset="-122"/>
                <a:cs typeface="Palatino Linotype" pitchFamily="34" charset="-120"/>
              </a:rPr>
              <a:t>România</a:t>
            </a:r>
            <a:endParaRPr lang="en-US" sz="1800" dirty="0"/>
          </a:p>
        </p:txBody>
      </p:sp>
      <p:sp>
        <p:nvSpPr>
          <p:cNvPr id="6" name="Shape 4"/>
          <p:cNvSpPr/>
          <p:nvPr/>
        </p:nvSpPr>
        <p:spPr>
          <a:xfrm>
            <a:off x="3017520" y="2331720"/>
            <a:ext cx="6217920" cy="548640"/>
          </a:xfrm>
          <a:prstGeom prst="rect">
            <a:avLst/>
          </a:prstGeom>
          <a:solidFill>
            <a:srgbClr val="FF4757"/>
          </a:solidFill>
          <a:ln w="12700">
            <a:solidFill>
              <a:srgbClr val="FF4757"/>
            </a:solidFill>
            <a:prstDash val="solid"/>
          </a:ln>
        </p:spPr>
        <p:txBody>
          <a:bodyPr/>
          <a:p/>
        </p:txBody>
      </p:sp>
      <p:sp>
        <p:nvSpPr>
          <p:cNvPr id="7" name="Text 5"/>
          <p:cNvSpPr/>
          <p:nvPr/>
        </p:nvSpPr>
        <p:spPr>
          <a:xfrm>
            <a:off x="9372600" y="2240280"/>
            <a:ext cx="2743200" cy="731520"/>
          </a:xfrm>
          <a:prstGeom prst="rect">
            <a:avLst/>
          </a:prstGeom>
          <a:noFill/>
          <a:ln/>
        </p:spPr>
        <p:txBody>
          <a:bodyPr wrap="square" lIns="0" tIns="0" rIns="0" bIns="0" rtlCol="0" anchor="ctr"/>
          <a:lstStyle/>
          <a:p>
            <a:pPr indent="0" marL="0">
              <a:buNone/>
            </a:pPr>
            <a:r>
              <a:rPr lang="en-US" sz="2200" b="1" dirty="0">
                <a:solidFill>
                  <a:srgbClr val="FF4757"/>
                </a:solidFill>
                <a:latin typeface="Palatino Linotype" pitchFamily="34" charset="0"/>
                <a:ea typeface="Palatino Linotype" pitchFamily="34" charset="-122"/>
                <a:cs typeface="Palatino Linotype" pitchFamily="34" charset="-120"/>
              </a:rPr>
              <a:t>110,8%</a:t>
            </a:r>
            <a:endParaRPr lang="en-US" sz="2200" dirty="0"/>
          </a:p>
        </p:txBody>
      </p:sp>
      <p:sp>
        <p:nvSpPr>
          <p:cNvPr id="8" name="Text 6"/>
          <p:cNvSpPr/>
          <p:nvPr/>
        </p:nvSpPr>
        <p:spPr>
          <a:xfrm>
            <a:off x="594360" y="3246120"/>
            <a:ext cx="2286000" cy="731520"/>
          </a:xfrm>
          <a:prstGeom prst="rect">
            <a:avLst/>
          </a:prstGeom>
          <a:noFill/>
          <a:ln/>
        </p:spPr>
        <p:txBody>
          <a:bodyPr wrap="square" lIns="0" tIns="0" rIns="0" bIns="0" rtlCol="0" anchor="ctr"/>
          <a:lstStyle/>
          <a:p>
            <a:pPr algn="r" indent="0" marL="0">
              <a:buNone/>
            </a:pPr>
            <a:r>
              <a:rPr lang="en-US" sz="1800" b="1" dirty="0">
                <a:solidFill>
                  <a:srgbClr val="FFFFFF"/>
                </a:solidFill>
                <a:latin typeface="Palatino Linotype" pitchFamily="34" charset="0"/>
                <a:ea typeface="Palatino Linotype" pitchFamily="34" charset="-122"/>
                <a:cs typeface="Palatino Linotype" pitchFamily="34" charset="-120"/>
              </a:rPr>
              <a:t>Bulgaria</a:t>
            </a:r>
            <a:endParaRPr lang="en-US" sz="1800" dirty="0"/>
          </a:p>
        </p:txBody>
      </p:sp>
      <p:sp>
        <p:nvSpPr>
          <p:cNvPr id="9" name="Shape 7"/>
          <p:cNvSpPr/>
          <p:nvPr/>
        </p:nvSpPr>
        <p:spPr>
          <a:xfrm>
            <a:off x="3017520" y="3337560"/>
            <a:ext cx="4152762" cy="548640"/>
          </a:xfrm>
          <a:prstGeom prst="rect">
            <a:avLst/>
          </a:prstGeom>
          <a:solidFill>
            <a:srgbClr val="8E94A8"/>
          </a:solidFill>
          <a:ln w="12700">
            <a:solidFill>
              <a:srgbClr val="8E94A8"/>
            </a:solidFill>
            <a:prstDash val="solid"/>
          </a:ln>
        </p:spPr>
        <p:txBody>
          <a:bodyPr/>
          <a:p/>
        </p:txBody>
      </p:sp>
      <p:sp>
        <p:nvSpPr>
          <p:cNvPr id="10" name="Text 8"/>
          <p:cNvSpPr/>
          <p:nvPr/>
        </p:nvSpPr>
        <p:spPr>
          <a:xfrm>
            <a:off x="7307442" y="3246120"/>
            <a:ext cx="2743200" cy="731520"/>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74,0%</a:t>
            </a:r>
            <a:endParaRPr lang="en-US" sz="2200" dirty="0"/>
          </a:p>
        </p:txBody>
      </p:sp>
      <p:sp>
        <p:nvSpPr>
          <p:cNvPr id="11" name="Text 9"/>
          <p:cNvSpPr/>
          <p:nvPr/>
        </p:nvSpPr>
        <p:spPr>
          <a:xfrm>
            <a:off x="594360" y="4251960"/>
            <a:ext cx="2286000" cy="731520"/>
          </a:xfrm>
          <a:prstGeom prst="rect">
            <a:avLst/>
          </a:prstGeom>
          <a:noFill/>
          <a:ln/>
        </p:spPr>
        <p:txBody>
          <a:bodyPr wrap="square" lIns="0" tIns="0" rIns="0" bIns="0" rtlCol="0" anchor="ctr"/>
          <a:lstStyle/>
          <a:p>
            <a:pPr algn="r" indent="0" marL="0">
              <a:buNone/>
            </a:pPr>
            <a:r>
              <a:rPr lang="en-US" sz="1800" b="1" dirty="0">
                <a:solidFill>
                  <a:srgbClr val="FFFFFF"/>
                </a:solidFill>
                <a:latin typeface="Palatino Linotype" pitchFamily="34" charset="0"/>
                <a:ea typeface="Palatino Linotype" pitchFamily="34" charset="-122"/>
                <a:cs typeface="Palatino Linotype" pitchFamily="34" charset="-120"/>
              </a:rPr>
              <a:t>Uniunea Europeană</a:t>
            </a:r>
            <a:endParaRPr lang="en-US" sz="1800" dirty="0"/>
          </a:p>
        </p:txBody>
      </p:sp>
      <p:sp>
        <p:nvSpPr>
          <p:cNvPr id="12" name="Shape 10"/>
          <p:cNvSpPr/>
          <p:nvPr/>
        </p:nvSpPr>
        <p:spPr>
          <a:xfrm>
            <a:off x="3017520" y="4343400"/>
            <a:ext cx="1032579" cy="548640"/>
          </a:xfrm>
          <a:prstGeom prst="rect">
            <a:avLst/>
          </a:prstGeom>
          <a:solidFill>
            <a:srgbClr val="5A5F75"/>
          </a:solidFill>
          <a:ln w="12700">
            <a:solidFill>
              <a:srgbClr val="5A5F75"/>
            </a:solidFill>
            <a:prstDash val="solid"/>
          </a:ln>
        </p:spPr>
        <p:txBody>
          <a:bodyPr/>
          <a:p/>
        </p:txBody>
      </p:sp>
      <p:sp>
        <p:nvSpPr>
          <p:cNvPr id="13" name="Text 11"/>
          <p:cNvSpPr/>
          <p:nvPr/>
        </p:nvSpPr>
        <p:spPr>
          <a:xfrm>
            <a:off x="4187259" y="4251960"/>
            <a:ext cx="2743200" cy="731520"/>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18,4% (provizoriu)</a:t>
            </a:r>
            <a:endParaRPr lang="en-US" sz="2200" dirty="0"/>
          </a:p>
        </p:txBody>
      </p:sp>
      <p:sp>
        <p:nvSpPr>
          <p:cNvPr id="14" name="Text 12"/>
          <p:cNvSpPr/>
          <p:nvPr/>
        </p:nvSpPr>
        <p:spPr>
          <a:xfrm>
            <a:off x="3017520" y="5257800"/>
            <a:ext cx="8503920" cy="365760"/>
          </a:xfrm>
          <a:prstGeom prst="rect">
            <a:avLst/>
          </a:prstGeom>
          <a:noFill/>
          <a:ln/>
        </p:spPr>
        <p:txBody>
          <a:bodyPr wrap="square" lIns="0" tIns="0" rIns="0" bIns="0" rtlCol="0" anchor="t"/>
          <a:lstStyle/>
          <a:p>
            <a:pPr indent="0" marL="0">
              <a:buNone/>
            </a:pPr>
            <a:r>
              <a:rPr lang="en-US" sz="1300" i="1" dirty="0">
                <a:solidFill>
                  <a:srgbClr val="959BB0"/>
                </a:solidFill>
                <a:latin typeface="Palatino Linotype" pitchFamily="34" charset="0"/>
                <a:ea typeface="Palatino Linotype" pitchFamily="34" charset="-122"/>
                <a:cs typeface="Palatino Linotype" pitchFamily="34" charset="-120"/>
              </a:rPr>
              <a:t>Mortalitatea în exces, ca procent peste referință, în aceeași lună.</a:t>
            </a:r>
            <a:endParaRPr lang="en-US" sz="1300" dirty="0"/>
          </a:p>
        </p:txBody>
      </p:sp>
      <p:sp>
        <p:nvSpPr>
          <p:cNvPr id="15" name="Text 13"/>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Eurostat, mortalitatea în exces lunară (registru A503, A504, A521).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INDICATORUL POATE FI ȘI NEGATIV</a:t>
            </a:r>
            <a:endParaRPr lang="en-US" sz="1300" dirty="0"/>
          </a:p>
        </p:txBody>
      </p:sp>
      <p:sp>
        <p:nvSpPr>
          <p:cNvPr id="3" name="Text 1"/>
          <p:cNvSpPr/>
          <p:nvPr/>
        </p:nvSpPr>
        <p:spPr>
          <a:xfrm>
            <a:off x="502920" y="777240"/>
            <a:ext cx="5120640" cy="2194560"/>
          </a:xfrm>
          <a:prstGeom prst="rect">
            <a:avLst/>
          </a:prstGeom>
          <a:noFill/>
          <a:ln/>
        </p:spPr>
        <p:txBody>
          <a:bodyPr wrap="square" lIns="0" tIns="0" rIns="0" bIns="0" rtlCol="0" anchor="ctr"/>
          <a:lstStyle/>
          <a:p>
            <a:pPr indent="0" marL="0">
              <a:buNone/>
            </a:pPr>
            <a:r>
              <a:rPr lang="en-US" sz="15000" b="1" dirty="0">
                <a:solidFill>
                  <a:srgbClr val="0E7C6B"/>
                </a:solidFill>
                <a:latin typeface="Palatino Linotype" pitchFamily="34" charset="0"/>
                <a:ea typeface="Palatino Linotype" pitchFamily="34" charset="-122"/>
                <a:cs typeface="Palatino Linotype" pitchFamily="34" charset="-120"/>
              </a:rPr>
              <a:t>9,3%</a:t>
            </a:r>
            <a:endParaRPr lang="en-US" sz="15000" dirty="0"/>
          </a:p>
        </p:txBody>
      </p:sp>
      <p:sp>
        <p:nvSpPr>
          <p:cNvPr id="4" name="Text 2"/>
          <p:cNvSpPr/>
          <p:nvPr/>
        </p:nvSpPr>
        <p:spPr>
          <a:xfrm>
            <a:off x="640080" y="2971800"/>
            <a:ext cx="5120640" cy="548640"/>
          </a:xfrm>
          <a:prstGeom prst="rect">
            <a:avLst/>
          </a:prstGeom>
          <a:noFill/>
          <a:ln/>
        </p:spPr>
        <p:txBody>
          <a:bodyPr wrap="square" lIns="0" tIns="0" rIns="0" bIns="0" rtlCol="0" anchor="t"/>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sub referință, în România, în mai 2026</a:t>
            </a:r>
            <a:endParaRPr lang="en-US" sz="2100" dirty="0"/>
          </a:p>
        </p:txBody>
      </p:sp>
      <p:sp>
        <p:nvSpPr>
          <p:cNvPr id="5" name="Text 3"/>
          <p:cNvSpPr/>
          <p:nvPr/>
        </p:nvSpPr>
        <p:spPr>
          <a:xfrm>
            <a:off x="640080" y="3611880"/>
            <a:ext cx="5120640" cy="731520"/>
          </a:xfrm>
          <a:prstGeom prst="rect">
            <a:avLst/>
          </a:prstGeom>
          <a:noFill/>
          <a:ln/>
        </p:spPr>
        <p:txBody>
          <a:bodyPr wrap="square" lIns="0" tIns="0" rIns="0" bIns="0" rtlCol="0" anchor="t"/>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Valoare provizorie, dintr-un set actualizat la 16 septembrie 2026.</a:t>
            </a:r>
            <a:endParaRPr lang="en-US" sz="1600" dirty="0"/>
          </a:p>
        </p:txBody>
      </p:sp>
      <p:sp>
        <p:nvSpPr>
          <p:cNvPr id="6" name="Shape 4"/>
          <p:cNvSpPr/>
          <p:nvPr/>
        </p:nvSpPr>
        <p:spPr>
          <a:xfrm>
            <a:off x="6217920" y="914400"/>
            <a:ext cx="5349240" cy="4480560"/>
          </a:xfrm>
          <a:prstGeom prst="roundRect">
            <a:avLst>
              <a:gd name="adj" fmla="val 1837"/>
            </a:avLst>
          </a:prstGeom>
          <a:solidFill>
            <a:srgbClr val="ECEAE4"/>
          </a:solidFill>
          <a:ln w="12700">
            <a:solidFill>
              <a:srgbClr val="ECEAE4"/>
            </a:solidFill>
            <a:prstDash val="solid"/>
          </a:ln>
        </p:spPr>
        <p:txBody>
          <a:bodyPr/>
          <a:p/>
        </p:txBody>
      </p:sp>
      <p:sp>
        <p:nvSpPr>
          <p:cNvPr id="7" name="Text 5"/>
          <p:cNvSpPr/>
          <p:nvPr/>
        </p:nvSpPr>
        <p:spPr>
          <a:xfrm>
            <a:off x="6537960" y="1097280"/>
            <a:ext cx="4754880" cy="45720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Referința este fixă</a:t>
            </a:r>
            <a:endParaRPr lang="en-US" sz="2100" dirty="0"/>
          </a:p>
        </p:txBody>
      </p:sp>
      <p:sp>
        <p:nvSpPr>
          <p:cNvPr id="8" name="Text 6"/>
          <p:cNvSpPr/>
          <p:nvPr/>
        </p:nvSpPr>
        <p:spPr>
          <a:xfrm>
            <a:off x="6537960" y="1645920"/>
            <a:ext cx="4754880" cy="35661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Orice lună se compară cu aceeași medie, a anilor 2016–2019. Indicatorul nu ține seama de schimbările mărimii populației și ale structurii ei pe vârste și sexe; cu anii, referința poate deveni tot mai puțin potrivită.</a:t>
            </a:r>
            <a:endParaRPr lang="en-US" sz="1700" dirty="0"/>
          </a:p>
        </p:txBody>
      </p:sp>
      <p:sp>
        <p:nvSpPr>
          <p:cNvPr id="9" name="Text 7"/>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Eurostat, datele lunare și metadatele indicatorului (registru A504, A505, A532).</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OMS · IANUARIE 2020 – DECEMBRIE 2021</a:t>
            </a:r>
            <a:endParaRPr lang="en-US" sz="1300" dirty="0"/>
          </a:p>
        </p:txBody>
      </p:sp>
      <p:sp>
        <p:nvSpPr>
          <p:cNvPr id="3" name="Text 1"/>
          <p:cNvSpPr/>
          <p:nvPr/>
        </p:nvSpPr>
        <p:spPr>
          <a:xfrm>
            <a:off x="594360" y="731520"/>
            <a:ext cx="5486400" cy="914400"/>
          </a:xfrm>
          <a:prstGeom prst="rect">
            <a:avLst/>
          </a:prstGeom>
          <a:noFill/>
          <a:ln/>
        </p:spPr>
        <p:txBody>
          <a:bodyPr wrap="square" lIns="0" tIns="0" rIns="0" bIns="0" rtlCol="0" anchor="t"/>
          <a:lstStyle/>
          <a:p>
            <a:pPr indent="0" marL="0">
              <a:buNone/>
            </a:pPr>
            <a:r>
              <a:rPr lang="en-US" sz="4800" b="1" dirty="0">
                <a:solidFill>
                  <a:srgbClr val="FF4757"/>
                </a:solidFill>
                <a:latin typeface="Palatino Linotype" pitchFamily="34" charset="0"/>
                <a:ea typeface="Palatino Linotype" pitchFamily="34" charset="-122"/>
                <a:cs typeface="Palatino Linotype" pitchFamily="34" charset="-120"/>
              </a:rPr>
              <a:t>De 2,74 ori</a:t>
            </a:r>
            <a:endParaRPr lang="en-US" sz="4800" dirty="0"/>
          </a:p>
        </p:txBody>
      </p:sp>
      <p:sp>
        <p:nvSpPr>
          <p:cNvPr id="4" name="Text 2"/>
          <p:cNvSpPr/>
          <p:nvPr/>
        </p:nvSpPr>
        <p:spPr>
          <a:xfrm>
            <a:off x="594360" y="1645920"/>
            <a:ext cx="10972800" cy="45720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mai multe decese în exces decât decesele prin COVID-19 raportate</a:t>
            </a:r>
            <a:endParaRPr lang="en-US" sz="1900" dirty="0"/>
          </a:p>
        </p:txBody>
      </p:sp>
      <p:sp>
        <p:nvSpPr>
          <p:cNvPr id="5" name="Text 3"/>
          <p:cNvSpPr/>
          <p:nvPr/>
        </p:nvSpPr>
        <p:spPr>
          <a:xfrm>
            <a:off x="594360" y="2423160"/>
            <a:ext cx="8229600" cy="365760"/>
          </a:xfrm>
          <a:prstGeom prst="rect">
            <a:avLst/>
          </a:prstGeom>
          <a:noFill/>
          <a:ln/>
        </p:spPr>
        <p:txBody>
          <a:bodyPr wrap="square" lIns="0" tIns="0" rIns="0" bIns="0" rtlCol="0" anchor="t"/>
          <a:lstStyle/>
          <a:p>
            <a:pPr indent="0" marL="0">
              <a:buNone/>
            </a:pPr>
            <a:r>
              <a:rPr lang="en-US" sz="1500" b="1" dirty="0">
                <a:solidFill>
                  <a:srgbClr val="959BB0"/>
                </a:solidFill>
                <a:latin typeface="Palatino Linotype" pitchFamily="34" charset="0"/>
                <a:ea typeface="Palatino Linotype" pitchFamily="34" charset="-122"/>
                <a:cs typeface="Palatino Linotype" pitchFamily="34" charset="-120"/>
              </a:rPr>
              <a:t>Raportate la OMS ca decese prin COVID-19</a:t>
            </a:r>
            <a:endParaRPr lang="en-US" sz="1500" dirty="0"/>
          </a:p>
        </p:txBody>
      </p:sp>
      <p:sp>
        <p:nvSpPr>
          <p:cNvPr id="6" name="Shape 4"/>
          <p:cNvSpPr/>
          <p:nvPr/>
        </p:nvSpPr>
        <p:spPr>
          <a:xfrm>
            <a:off x="594360" y="2807208"/>
            <a:ext cx="3007716" cy="566928"/>
          </a:xfrm>
          <a:prstGeom prst="rect">
            <a:avLst/>
          </a:prstGeom>
          <a:solidFill>
            <a:srgbClr val="8E94A8"/>
          </a:solidFill>
          <a:ln w="12700">
            <a:solidFill>
              <a:srgbClr val="8E94A8"/>
            </a:solidFill>
            <a:prstDash val="solid"/>
          </a:ln>
        </p:spPr>
        <p:txBody>
          <a:bodyPr/>
          <a:p/>
        </p:txBody>
      </p:sp>
      <p:sp>
        <p:nvSpPr>
          <p:cNvPr id="7" name="Text 5"/>
          <p:cNvSpPr/>
          <p:nvPr/>
        </p:nvSpPr>
        <p:spPr>
          <a:xfrm>
            <a:off x="3739236" y="2761488"/>
            <a:ext cx="2377440" cy="658368"/>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5,42 milioane</a:t>
            </a:r>
            <a:endParaRPr lang="en-US" sz="2200" dirty="0"/>
          </a:p>
        </p:txBody>
      </p:sp>
      <p:sp>
        <p:nvSpPr>
          <p:cNvPr id="8" name="Text 6"/>
          <p:cNvSpPr/>
          <p:nvPr/>
        </p:nvSpPr>
        <p:spPr>
          <a:xfrm>
            <a:off x="594360" y="3566160"/>
            <a:ext cx="8229600" cy="365760"/>
          </a:xfrm>
          <a:prstGeom prst="rect">
            <a:avLst/>
          </a:prstGeom>
          <a:noFill/>
          <a:ln/>
        </p:spPr>
        <p:txBody>
          <a:bodyPr wrap="square" lIns="0" tIns="0" rIns="0" bIns="0" rtlCol="0" anchor="t"/>
          <a:lstStyle/>
          <a:p>
            <a:pPr indent="0" marL="0">
              <a:buNone/>
            </a:pPr>
            <a:r>
              <a:rPr lang="en-US" sz="1500" b="1" dirty="0">
                <a:solidFill>
                  <a:srgbClr val="959BB0"/>
                </a:solidFill>
                <a:latin typeface="Palatino Linotype" pitchFamily="34" charset="0"/>
                <a:ea typeface="Palatino Linotype" pitchFamily="34" charset="-122"/>
                <a:cs typeface="Palatino Linotype" pitchFamily="34" charset="-120"/>
              </a:rPr>
              <a:t>Decese în exces, estimate</a:t>
            </a:r>
            <a:endParaRPr lang="en-US" sz="1500" dirty="0"/>
          </a:p>
        </p:txBody>
      </p:sp>
      <p:sp>
        <p:nvSpPr>
          <p:cNvPr id="9" name="Shape 7"/>
          <p:cNvSpPr/>
          <p:nvPr/>
        </p:nvSpPr>
        <p:spPr>
          <a:xfrm>
            <a:off x="594360" y="3950208"/>
            <a:ext cx="8229600" cy="566928"/>
          </a:xfrm>
          <a:prstGeom prst="rect">
            <a:avLst/>
          </a:prstGeom>
          <a:solidFill>
            <a:srgbClr val="FF4757"/>
          </a:solidFill>
          <a:ln w="12700">
            <a:solidFill>
              <a:srgbClr val="FF4757"/>
            </a:solidFill>
            <a:prstDash val="solid"/>
          </a:ln>
        </p:spPr>
        <p:txBody>
          <a:bodyPr/>
          <a:p/>
        </p:txBody>
      </p:sp>
      <p:sp>
        <p:nvSpPr>
          <p:cNvPr id="10" name="Text 8"/>
          <p:cNvSpPr/>
          <p:nvPr/>
        </p:nvSpPr>
        <p:spPr>
          <a:xfrm>
            <a:off x="8961120" y="3904488"/>
            <a:ext cx="2377440" cy="658368"/>
          </a:xfrm>
          <a:prstGeom prst="rect">
            <a:avLst/>
          </a:prstGeom>
          <a:noFill/>
          <a:ln/>
        </p:spPr>
        <p:txBody>
          <a:bodyPr wrap="square" lIns="0" tIns="0" rIns="0" bIns="0" rtlCol="0" anchor="ctr"/>
          <a:lstStyle/>
          <a:p>
            <a:pPr indent="0" marL="0">
              <a:buNone/>
            </a:pPr>
            <a:r>
              <a:rPr lang="en-US" sz="2200" b="1" dirty="0">
                <a:solidFill>
                  <a:srgbClr val="FF4757"/>
                </a:solidFill>
                <a:latin typeface="Palatino Linotype" pitchFamily="34" charset="0"/>
                <a:ea typeface="Palatino Linotype" pitchFamily="34" charset="-122"/>
                <a:cs typeface="Palatino Linotype" pitchFamily="34" charset="-120"/>
              </a:rPr>
              <a:t>14,83 milioane</a:t>
            </a:r>
            <a:endParaRPr lang="en-US" sz="2200" dirty="0"/>
          </a:p>
        </p:txBody>
      </p:sp>
      <p:sp>
        <p:nvSpPr>
          <p:cNvPr id="11" name="Shape 9"/>
          <p:cNvSpPr/>
          <p:nvPr/>
        </p:nvSpPr>
        <p:spPr>
          <a:xfrm>
            <a:off x="594360" y="4800600"/>
            <a:ext cx="10972800" cy="1234440"/>
          </a:xfrm>
          <a:prstGeom prst="roundRect">
            <a:avLst>
              <a:gd name="adj" fmla="val 6667"/>
            </a:avLst>
          </a:prstGeom>
          <a:solidFill>
            <a:srgbClr val="272A38"/>
          </a:solidFill>
          <a:ln w="12700">
            <a:solidFill>
              <a:srgbClr val="272A38"/>
            </a:solidFill>
            <a:prstDash val="solid"/>
          </a:ln>
        </p:spPr>
        <p:txBody>
          <a:bodyPr/>
          <a:p/>
        </p:txBody>
      </p:sp>
      <p:sp>
        <p:nvSpPr>
          <p:cNvPr id="12" name="Text 10"/>
          <p:cNvSpPr/>
          <p:nvPr/>
        </p:nvSpPr>
        <p:spPr>
          <a:xfrm>
            <a:off x="868680" y="4800600"/>
            <a:ext cx="10424160" cy="123444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Cifra nu spune că toți aceștia au murit de COVID-19. O parte sunt decese prin virus care nu au ajuns în cifra raportată; o altă parte, decese produse de perturbările pandemiei.</a:t>
            </a:r>
            <a:endParaRPr lang="en-US" sz="1600" dirty="0"/>
          </a:p>
        </p:txBody>
      </p:sp>
      <p:sp>
        <p:nvSpPr>
          <p:cNvPr id="13" name="Text 11"/>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OMS și colaboratorii, estimarea globală a mortalității în exces (registru A500, A501).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7D3BE"/>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073B34"/>
                </a:solidFill>
                <a:latin typeface="Palatino Linotype" pitchFamily="34" charset="0"/>
                <a:ea typeface="Palatino Linotype" pitchFamily="34" charset="-122"/>
                <a:cs typeface="Palatino Linotype" pitchFamily="34" charset="-120"/>
              </a:rPr>
              <a:t>CE ÎNSEAMNĂ PENTRU VOI</a:t>
            </a:r>
            <a:endParaRPr lang="en-US" sz="1300" dirty="0"/>
          </a:p>
        </p:txBody>
      </p:sp>
      <p:sp>
        <p:nvSpPr>
          <p:cNvPr id="3" name="Text 1"/>
          <p:cNvSpPr/>
          <p:nvPr/>
        </p:nvSpPr>
        <p:spPr>
          <a:xfrm>
            <a:off x="594360" y="868680"/>
            <a:ext cx="10972800" cy="822960"/>
          </a:xfrm>
          <a:prstGeom prst="rect">
            <a:avLst/>
          </a:prstGeom>
          <a:noFill/>
          <a:ln/>
        </p:spPr>
        <p:txBody>
          <a:bodyPr wrap="square" lIns="0" tIns="0" rIns="0" bIns="0" rtlCol="0" anchor="t"/>
          <a:lstStyle/>
          <a:p>
            <a:pPr indent="0" marL="0">
              <a:buNone/>
            </a:pPr>
            <a:r>
              <a:rPr lang="en-US" sz="3600" b="1" dirty="0">
                <a:solidFill>
                  <a:srgbClr val="073B34"/>
                </a:solidFill>
                <a:latin typeface="Palatino Linotype" pitchFamily="34" charset="0"/>
                <a:ea typeface="Palatino Linotype" pitchFamily="34" charset="-122"/>
                <a:cs typeface="Palatino Linotype" pitchFamily="34" charset="-120"/>
              </a:rPr>
              <a:t>Scrieți lanțul, nu doar ultimul pas</a:t>
            </a:r>
            <a:endParaRPr lang="en-US" sz="3600" dirty="0"/>
          </a:p>
        </p:txBody>
      </p:sp>
      <p:sp>
        <p:nvSpPr>
          <p:cNvPr id="4" name="Shape 2"/>
          <p:cNvSpPr/>
          <p:nvPr/>
        </p:nvSpPr>
        <p:spPr>
          <a:xfrm>
            <a:off x="594360" y="1920240"/>
            <a:ext cx="10972800" cy="841248"/>
          </a:xfrm>
          <a:prstGeom prst="roundRect">
            <a:avLst>
              <a:gd name="adj" fmla="val 9783"/>
            </a:avLst>
          </a:prstGeom>
          <a:solidFill>
            <a:srgbClr val="07564B"/>
          </a:solidFill>
          <a:ln w="12700">
            <a:solidFill>
              <a:srgbClr val="07564B"/>
            </a:solidFill>
            <a:prstDash val="solid"/>
          </a:ln>
        </p:spPr>
        <p:txBody>
          <a:bodyPr/>
          <a:p/>
        </p:txBody>
      </p:sp>
      <p:sp>
        <p:nvSpPr>
          <p:cNvPr id="5" name="Shape 3"/>
          <p:cNvSpPr/>
          <p:nvPr/>
        </p:nvSpPr>
        <p:spPr>
          <a:xfrm>
            <a:off x="914400" y="2130552"/>
            <a:ext cx="420624" cy="420624"/>
          </a:xfrm>
          <a:prstGeom prst="ellipse">
            <a:avLst/>
          </a:prstGeom>
          <a:solidFill>
            <a:srgbClr val="FFC24B"/>
          </a:solidFill>
          <a:ln/>
        </p:spPr>
        <p:txBody>
          <a:bodyPr/>
          <a:p/>
        </p:txBody>
      </p:sp>
      <p:sp>
        <p:nvSpPr>
          <p:cNvPr id="6" name="Text 4"/>
          <p:cNvSpPr/>
          <p:nvPr/>
        </p:nvSpPr>
        <p:spPr>
          <a:xfrm>
            <a:off x="914400" y="21305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920240"/>
            <a:ext cx="9692640" cy="84124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Pe ultimul rând folosit: boala care a pornit totul.</a:t>
            </a:r>
            <a:endParaRPr lang="en-US" sz="1900" dirty="0"/>
          </a:p>
        </p:txBody>
      </p:sp>
      <p:sp>
        <p:nvSpPr>
          <p:cNvPr id="8" name="Shape 6"/>
          <p:cNvSpPr/>
          <p:nvPr/>
        </p:nvSpPr>
        <p:spPr>
          <a:xfrm>
            <a:off x="594360" y="2926080"/>
            <a:ext cx="10972800" cy="841248"/>
          </a:xfrm>
          <a:prstGeom prst="roundRect">
            <a:avLst>
              <a:gd name="adj" fmla="val 9783"/>
            </a:avLst>
          </a:prstGeom>
          <a:solidFill>
            <a:srgbClr val="07564B"/>
          </a:solidFill>
          <a:ln w="12700">
            <a:solidFill>
              <a:srgbClr val="07564B"/>
            </a:solidFill>
            <a:prstDash val="solid"/>
          </a:ln>
        </p:spPr>
        <p:txBody>
          <a:bodyPr/>
          <a:p/>
        </p:txBody>
      </p:sp>
      <p:sp>
        <p:nvSpPr>
          <p:cNvPr id="9" name="Shape 7"/>
          <p:cNvSpPr/>
          <p:nvPr/>
        </p:nvSpPr>
        <p:spPr>
          <a:xfrm>
            <a:off x="914400" y="3136392"/>
            <a:ext cx="420624" cy="420624"/>
          </a:xfrm>
          <a:prstGeom prst="ellipse">
            <a:avLst/>
          </a:prstGeom>
          <a:solidFill>
            <a:srgbClr val="FFC24B"/>
          </a:solidFill>
          <a:ln/>
        </p:spPr>
        <p:txBody>
          <a:bodyPr/>
          <a:p/>
        </p:txBody>
      </p:sp>
      <p:sp>
        <p:nvSpPr>
          <p:cNvPr id="10" name="Text 8"/>
          <p:cNvSpPr/>
          <p:nvPr/>
        </p:nvSpPr>
        <p:spPr>
          <a:xfrm>
            <a:off x="914400" y="31363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926080"/>
            <a:ext cx="9692640" cy="84124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Bolile care doar au contribuit: în a doua parte.</a:t>
            </a:r>
            <a:endParaRPr lang="en-US" sz="1900" dirty="0"/>
          </a:p>
        </p:txBody>
      </p:sp>
      <p:sp>
        <p:nvSpPr>
          <p:cNvPr id="12" name="Shape 10"/>
          <p:cNvSpPr/>
          <p:nvPr/>
        </p:nvSpPr>
        <p:spPr>
          <a:xfrm>
            <a:off x="594360" y="3931920"/>
            <a:ext cx="10972800" cy="841248"/>
          </a:xfrm>
          <a:prstGeom prst="roundRect">
            <a:avLst>
              <a:gd name="adj" fmla="val 9783"/>
            </a:avLst>
          </a:prstGeom>
          <a:solidFill>
            <a:srgbClr val="07564B"/>
          </a:solidFill>
          <a:ln w="12700">
            <a:solidFill>
              <a:srgbClr val="07564B"/>
            </a:solidFill>
            <a:prstDash val="solid"/>
          </a:ln>
        </p:spPr>
        <p:txBody>
          <a:bodyPr/>
          <a:p/>
        </p:txBody>
      </p:sp>
      <p:sp>
        <p:nvSpPr>
          <p:cNvPr id="13" name="Shape 11"/>
          <p:cNvSpPr/>
          <p:nvPr/>
        </p:nvSpPr>
        <p:spPr>
          <a:xfrm>
            <a:off x="914400" y="4142232"/>
            <a:ext cx="420624" cy="420624"/>
          </a:xfrm>
          <a:prstGeom prst="ellipse">
            <a:avLst/>
          </a:prstGeom>
          <a:solidFill>
            <a:srgbClr val="FFC24B"/>
          </a:solidFill>
          <a:ln/>
        </p:spPr>
        <p:txBody>
          <a:bodyPr/>
          <a:p/>
        </p:txBody>
      </p:sp>
      <p:sp>
        <p:nvSpPr>
          <p:cNvPr id="14" name="Text 12"/>
          <p:cNvSpPr/>
          <p:nvPr/>
        </p:nvSpPr>
        <p:spPr>
          <a:xfrm>
            <a:off x="914400" y="41422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3931920"/>
            <a:ext cx="9692640" cy="84124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Dacă nu știți, citiți foaia de observație înainte să scrieți.</a:t>
            </a:r>
            <a:endParaRPr lang="en-US" sz="1900" dirty="0"/>
          </a:p>
        </p:txBody>
      </p:sp>
      <p:sp>
        <p:nvSpPr>
          <p:cNvPr id="16" name="Text 14"/>
          <p:cNvSpPr/>
          <p:nvPr/>
        </p:nvSpPr>
        <p:spPr>
          <a:xfrm>
            <a:off x="594360" y="5029200"/>
            <a:ext cx="10972800" cy="822960"/>
          </a:xfrm>
          <a:prstGeom prst="rect">
            <a:avLst/>
          </a:prstGeom>
          <a:noFill/>
          <a:ln/>
        </p:spPr>
        <p:txBody>
          <a:bodyPr wrap="square" lIns="0" tIns="0" rIns="0" bIns="0" rtlCol="0" anchor="t"/>
          <a:lstStyle/>
          <a:p>
            <a:pPr indent="0" marL="0">
              <a:buNone/>
            </a:pPr>
            <a:r>
              <a:rPr lang="en-US" sz="1900" b="1" dirty="0">
                <a:solidFill>
                  <a:srgbClr val="073B34"/>
                </a:solidFill>
                <a:latin typeface="Palatino Linotype" pitchFamily="34" charset="0"/>
                <a:ea typeface="Palatino Linotype" pitchFamily="34" charset="-122"/>
                <a:cs typeface="Palatino Linotype" pitchFamily="34" charset="-120"/>
              </a:rPr>
              <a:t>Certificatul vostru este o singură linie din statistica țării, dar statistica țării este făcută numai din asemenea linii.</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ORA A DOUA ÎNCEPE CU UN VOT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Câți oameni a ucis pandemia de gripă din 1918?</a:t>
            </a:r>
            <a:endParaRPr lang="en-US" sz="3000" dirty="0"/>
          </a:p>
        </p:txBody>
      </p:sp>
      <p:sp>
        <p:nvSpPr>
          <p:cNvPr id="6" name="Shape 4"/>
          <p:cNvSpPr/>
          <p:nvPr/>
        </p:nvSpPr>
        <p:spPr>
          <a:xfrm>
            <a:off x="594360" y="17830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47672"/>
            <a:ext cx="420624" cy="420624"/>
          </a:xfrm>
          <a:prstGeom prst="ellipse">
            <a:avLst/>
          </a:prstGeom>
          <a:solidFill>
            <a:srgbClr val="FFC24B"/>
          </a:solidFill>
          <a:ln/>
        </p:spPr>
        <p:txBody>
          <a:bodyPr/>
          <a:p/>
        </p:txBody>
      </p:sp>
      <p:sp>
        <p:nvSpPr>
          <p:cNvPr id="8" name="Text 6"/>
          <p:cNvSpPr/>
          <p:nvPr/>
        </p:nvSpPr>
        <p:spPr>
          <a:xfrm>
            <a:off x="914400" y="1947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17,4 milioane</a:t>
            </a:r>
            <a:endParaRPr lang="en-US" sz="1800" dirty="0"/>
          </a:p>
        </p:txBody>
      </p:sp>
      <p:sp>
        <p:nvSpPr>
          <p:cNvPr id="10" name="Shape 8"/>
          <p:cNvSpPr/>
          <p:nvPr/>
        </p:nvSpPr>
        <p:spPr>
          <a:xfrm>
            <a:off x="594360" y="2679192"/>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43784"/>
            <a:ext cx="420624" cy="420624"/>
          </a:xfrm>
          <a:prstGeom prst="ellipse">
            <a:avLst/>
          </a:prstGeom>
          <a:solidFill>
            <a:srgbClr val="FFC24B"/>
          </a:solidFill>
          <a:ln/>
        </p:spPr>
        <p:txBody>
          <a:bodyPr/>
          <a:p/>
        </p:txBody>
      </p:sp>
      <p:sp>
        <p:nvSpPr>
          <p:cNvPr id="12" name="Text 10"/>
          <p:cNvSpPr/>
          <p:nvPr/>
        </p:nvSpPr>
        <p:spPr>
          <a:xfrm>
            <a:off x="914400" y="28437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79192"/>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50 de milioane</a:t>
            </a:r>
            <a:endParaRPr lang="en-US" sz="1800" dirty="0"/>
          </a:p>
        </p:txBody>
      </p:sp>
      <p:sp>
        <p:nvSpPr>
          <p:cNvPr id="14" name="Shape 12"/>
          <p:cNvSpPr/>
          <p:nvPr/>
        </p:nvSpPr>
        <p:spPr>
          <a:xfrm>
            <a:off x="594360" y="3575304"/>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39896"/>
            <a:ext cx="420624" cy="420624"/>
          </a:xfrm>
          <a:prstGeom prst="ellipse">
            <a:avLst/>
          </a:prstGeom>
          <a:solidFill>
            <a:srgbClr val="FFC24B"/>
          </a:solidFill>
          <a:ln/>
        </p:spPr>
        <p:txBody>
          <a:bodyPr/>
          <a:p/>
        </p:txBody>
      </p:sp>
      <p:sp>
        <p:nvSpPr>
          <p:cNvPr id="16" name="Text 14"/>
          <p:cNvSpPr/>
          <p:nvPr/>
        </p:nvSpPr>
        <p:spPr>
          <a:xfrm>
            <a:off x="914400" y="37398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75304"/>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100 de milioane</a:t>
            </a:r>
            <a:endParaRPr lang="en-US" sz="1800" dirty="0"/>
          </a:p>
        </p:txBody>
      </p:sp>
      <p:sp>
        <p:nvSpPr>
          <p:cNvPr id="18" name="Shape 16"/>
          <p:cNvSpPr/>
          <p:nvPr/>
        </p:nvSpPr>
        <p:spPr>
          <a:xfrm>
            <a:off x="594360" y="4471416"/>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36008"/>
            <a:ext cx="420624" cy="420624"/>
          </a:xfrm>
          <a:prstGeom prst="ellipse">
            <a:avLst/>
          </a:prstGeom>
          <a:solidFill>
            <a:srgbClr val="FFC24B"/>
          </a:solidFill>
          <a:ln/>
        </p:spPr>
        <p:txBody>
          <a:bodyPr/>
          <a:p/>
        </p:txBody>
      </p:sp>
      <p:sp>
        <p:nvSpPr>
          <p:cNvPr id="20" name="Text 18"/>
          <p:cNvSpPr/>
          <p:nvPr/>
        </p:nvSpPr>
        <p:spPr>
          <a:xfrm>
            <a:off x="914400" y="46360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471416"/>
            <a:ext cx="6355080" cy="749808"/>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Nimeni nu știe exact</a:t>
            </a:r>
            <a:endParaRPr lang="en-US" sz="1800" dirty="0"/>
          </a:p>
        </p:txBody>
      </p:sp>
      <p:sp>
        <p:nvSpPr>
          <p:cNvPr id="22" name="Shape 20"/>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pic>
        <p:nvPicPr>
          <p:cNvPr id="23" name="Picture 22" descr="Mentimeter_OPT_DETECTIVI_C03.png"/>
          <p:cNvPicPr>
            <a:picLocks noChangeAspect="1"/>
          </p:cNvPicPr>
          <p:nvPr/>
        </p:nvPicPr>
        <p:blipFill>
          <a:blip r:embed="rId3"/>
          <a:stretch>
            <a:fillRect/>
          </a:stretch>
        </p:blipFill>
        <p:spPr>
          <a:xfrm>
            <a:off x="8817610" y="1783080"/>
            <a:ext cx="2435860" cy="2435860"/>
          </a:xfrm>
          <a:prstGeom prst="rect">
            <a:avLst/>
          </a:prstGeom>
        </p:spPr>
      </p:pic>
      <p:sp>
        <p:nvSpPr>
          <p:cNvPr id="24" name="TextBox 23"/>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DUPĂ VOT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Nimeni nu știe exact</a:t>
            </a:r>
            <a:endParaRPr lang="en-US" sz="3400" dirty="0"/>
          </a:p>
        </p:txBody>
      </p:sp>
      <p:sp>
        <p:nvSpPr>
          <p:cNvPr id="4" name="Shape 2"/>
          <p:cNvSpPr/>
          <p:nvPr/>
        </p:nvSpPr>
        <p:spPr>
          <a:xfrm>
            <a:off x="822960" y="2331720"/>
            <a:ext cx="10515600" cy="27432"/>
          </a:xfrm>
          <a:prstGeom prst="rect">
            <a:avLst/>
          </a:prstGeom>
          <a:solidFill>
            <a:srgbClr val="C9C6BE"/>
          </a:solidFill>
          <a:ln/>
        </p:spPr>
        <p:txBody>
          <a:bodyPr/>
          <a:p/>
        </p:txBody>
      </p:sp>
      <p:sp>
        <p:nvSpPr>
          <p:cNvPr id="5" name="Shape 3"/>
          <p:cNvSpPr/>
          <p:nvPr/>
        </p:nvSpPr>
        <p:spPr>
          <a:xfrm>
            <a:off x="804672" y="2194560"/>
            <a:ext cx="301752" cy="301752"/>
          </a:xfrm>
          <a:prstGeom prst="ellipse">
            <a:avLst/>
          </a:prstGeom>
          <a:solidFill>
            <a:srgbClr val="B02532"/>
          </a:solidFill>
          <a:ln w="25400">
            <a:solidFill>
              <a:srgbClr val="F6F5F2"/>
            </a:solidFill>
            <a:prstDash val="solid"/>
          </a:ln>
        </p:spPr>
        <p:txBody>
          <a:bodyPr/>
          <a:p/>
        </p:txBody>
      </p:sp>
      <p:sp>
        <p:nvSpPr>
          <p:cNvPr id="6" name="Text 4"/>
          <p:cNvSpPr/>
          <p:nvPr/>
        </p:nvSpPr>
        <p:spPr>
          <a:xfrm>
            <a:off x="822960" y="1600200"/>
            <a:ext cx="2743200" cy="502920"/>
          </a:xfrm>
          <a:prstGeom prst="rect">
            <a:avLst/>
          </a:prstGeom>
          <a:noFill/>
          <a:ln/>
        </p:spPr>
        <p:txBody>
          <a:bodyPr wrap="square" lIns="0" tIns="0" rIns="0" bIns="0" rtlCol="0" anchor="t"/>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2002</a:t>
            </a:r>
            <a:endParaRPr lang="en-US" sz="2600" dirty="0"/>
          </a:p>
        </p:txBody>
      </p:sp>
      <p:sp>
        <p:nvSpPr>
          <p:cNvPr id="7" name="Text 5"/>
          <p:cNvSpPr/>
          <p:nvPr/>
        </p:nvSpPr>
        <p:spPr>
          <a:xfrm>
            <a:off x="822960" y="2697480"/>
            <a:ext cx="4937760" cy="41148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Johnson și Mueller</a:t>
            </a:r>
            <a:endParaRPr lang="en-US" sz="1800" dirty="0"/>
          </a:p>
        </p:txBody>
      </p:sp>
      <p:sp>
        <p:nvSpPr>
          <p:cNvPr id="8" name="Text 6"/>
          <p:cNvSpPr/>
          <p:nvPr/>
        </p:nvSpPr>
        <p:spPr>
          <a:xfrm>
            <a:off x="822960" y="3154680"/>
            <a:ext cx="4937760" cy="11887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50–100 de milioane de decese; credeau că 50 de milioane este probabil o subestimare.</a:t>
            </a:r>
            <a:endParaRPr lang="en-US" sz="1600" dirty="0"/>
          </a:p>
        </p:txBody>
      </p:sp>
      <p:sp>
        <p:nvSpPr>
          <p:cNvPr id="9" name="Shape 7"/>
          <p:cNvSpPr/>
          <p:nvPr/>
        </p:nvSpPr>
        <p:spPr>
          <a:xfrm>
            <a:off x="6291072" y="2194560"/>
            <a:ext cx="301752" cy="301752"/>
          </a:xfrm>
          <a:prstGeom prst="ellipse">
            <a:avLst/>
          </a:prstGeom>
          <a:solidFill>
            <a:srgbClr val="0E7C6B"/>
          </a:solidFill>
          <a:ln w="25400">
            <a:solidFill>
              <a:srgbClr val="F6F5F2"/>
            </a:solidFill>
            <a:prstDash val="solid"/>
          </a:ln>
        </p:spPr>
        <p:txBody>
          <a:bodyPr/>
          <a:p/>
        </p:txBody>
      </p:sp>
      <p:sp>
        <p:nvSpPr>
          <p:cNvPr id="10" name="Text 8"/>
          <p:cNvSpPr/>
          <p:nvPr/>
        </p:nvSpPr>
        <p:spPr>
          <a:xfrm>
            <a:off x="6309360" y="1600200"/>
            <a:ext cx="2743200" cy="502920"/>
          </a:xfrm>
          <a:prstGeom prst="rect">
            <a:avLst/>
          </a:prstGeom>
          <a:noFill/>
          <a:ln/>
        </p:spPr>
        <p:txBody>
          <a:bodyPr wrap="square" lIns="0" tIns="0" rIns="0" bIns="0" rtlCol="0" anchor="t"/>
          <a:lstStyle/>
          <a:p>
            <a:pPr indent="0" marL="0">
              <a:buNone/>
            </a:pPr>
            <a:r>
              <a:rPr lang="en-US" sz="2600" b="1" dirty="0">
                <a:solidFill>
                  <a:srgbClr val="0E7C6B"/>
                </a:solidFill>
                <a:latin typeface="Palatino Linotype" pitchFamily="34" charset="0"/>
                <a:ea typeface="Palatino Linotype" pitchFamily="34" charset="-122"/>
                <a:cs typeface="Palatino Linotype" pitchFamily="34" charset="-120"/>
              </a:rPr>
              <a:t>2018</a:t>
            </a:r>
            <a:endParaRPr lang="en-US" sz="2600" dirty="0"/>
          </a:p>
        </p:txBody>
      </p:sp>
      <p:sp>
        <p:nvSpPr>
          <p:cNvPr id="11" name="Text 9"/>
          <p:cNvSpPr/>
          <p:nvPr/>
        </p:nvSpPr>
        <p:spPr>
          <a:xfrm>
            <a:off x="6309360" y="2697480"/>
            <a:ext cx="4937760" cy="41148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O echipă olandeză</a:t>
            </a:r>
            <a:endParaRPr lang="en-US" sz="1800" dirty="0"/>
          </a:p>
        </p:txBody>
      </p:sp>
      <p:sp>
        <p:nvSpPr>
          <p:cNvPr id="12" name="Text 10"/>
          <p:cNvSpPr/>
          <p:nvPr/>
        </p:nvSpPr>
        <p:spPr>
          <a:xfrm>
            <a:off x="6309360" y="3154680"/>
            <a:ext cx="4937760" cy="11887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17,4 milioane, pentru 1918 și 1919; peste 25 de milioane li se pare foarte puțin probabil.</a:t>
            </a:r>
            <a:endParaRPr lang="en-US" sz="1600" dirty="0"/>
          </a:p>
        </p:txBody>
      </p:sp>
      <p:sp>
        <p:nvSpPr>
          <p:cNvPr id="13" name="Shape 11"/>
          <p:cNvSpPr/>
          <p:nvPr/>
        </p:nvSpPr>
        <p:spPr>
          <a:xfrm>
            <a:off x="594360" y="4572000"/>
            <a:ext cx="10972800" cy="1371600"/>
          </a:xfrm>
          <a:prstGeom prst="roundRect">
            <a:avLst>
              <a:gd name="adj" fmla="val 6000"/>
            </a:avLst>
          </a:prstGeom>
          <a:solidFill>
            <a:srgbClr val="11121A"/>
          </a:solidFill>
          <a:ln w="12700">
            <a:solidFill>
              <a:srgbClr val="11121A"/>
            </a:solidFill>
            <a:prstDash val="solid"/>
          </a:ln>
        </p:spPr>
        <p:txBody>
          <a:bodyPr/>
          <a:p/>
        </p:txBody>
      </p:sp>
      <p:sp>
        <p:nvSpPr>
          <p:cNvPr id="14" name="Text 12"/>
          <p:cNvSpPr/>
          <p:nvPr/>
        </p:nvSpPr>
        <p:spPr>
          <a:xfrm>
            <a:off x="914400" y="4572000"/>
            <a:ext cx="10332720" cy="137160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În 1918, numai o parte a lumii avea statistici de mortalitate de încredere. Unde nu exista un registru, nu exista nici vârf de piramidă; rămân doar modele, iar modelele nu sunt de acord între ele.</a:t>
            </a:r>
            <a:endParaRPr lang="en-US" sz="1700" dirty="0"/>
          </a:p>
        </p:txBody>
      </p:sp>
      <p:sp>
        <p:nvSpPr>
          <p:cNvPr id="15" name="Text 13"/>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Surse: Johnson și Mueller, 2002; estimarea din 2018 (registru A514, A515, A516).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DOUĂ PANDEMII PE CARE NU LE ȚINE MINTE NIMENI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2009 arată piramida foarte limpede</a:t>
            </a:r>
            <a:endParaRPr lang="en-US" sz="3000" dirty="0"/>
          </a:p>
        </p:txBody>
      </p:sp>
      <p:sp>
        <p:nvSpPr>
          <p:cNvPr id="4" name="Text 2"/>
          <p:cNvSpPr/>
          <p:nvPr/>
        </p:nvSpPr>
        <p:spPr>
          <a:xfrm>
            <a:off x="594360" y="1417320"/>
            <a:ext cx="10972800" cy="457200"/>
          </a:xfrm>
          <a:prstGeom prst="rect">
            <a:avLst/>
          </a:prstGeom>
          <a:noFill/>
          <a:ln/>
        </p:spPr>
        <p:txBody>
          <a:bodyPr wrap="square" lIns="0" tIns="0" rIns="0" bIns="0" rtlCol="0" anchor="t"/>
          <a:lstStyle/>
          <a:p>
            <a:pPr indent="0" marL="0">
              <a:buNone/>
            </a:pPr>
            <a:r>
              <a:rPr lang="en-US" sz="1600" dirty="0">
                <a:solidFill>
                  <a:srgbClr val="3A3C44"/>
                </a:solidFill>
                <a:latin typeface="Palatino Linotype" pitchFamily="34" charset="0"/>
                <a:ea typeface="Palatino Linotype" pitchFamily="34" charset="-122"/>
                <a:cs typeface="Palatino Linotype" pitchFamily="34" charset="-120"/>
              </a:rPr>
              <a:t>1957–1959: o reestimare atribuie pandemiei 1,1 milioane de decese în exces la nivel mondial.</a:t>
            </a:r>
            <a:endParaRPr lang="en-US" sz="1600" dirty="0"/>
          </a:p>
        </p:txBody>
      </p:sp>
      <p:sp>
        <p:nvSpPr>
          <p:cNvPr id="5" name="Text 3"/>
          <p:cNvSpPr/>
          <p:nvPr/>
        </p:nvSpPr>
        <p:spPr>
          <a:xfrm>
            <a:off x="594360" y="2103120"/>
            <a:ext cx="2560320" cy="640080"/>
          </a:xfrm>
          <a:prstGeom prst="rect">
            <a:avLst/>
          </a:prstGeom>
          <a:noFill/>
          <a:ln/>
        </p:spPr>
        <p:txBody>
          <a:bodyPr wrap="square" lIns="0" tIns="0" rIns="0" bIns="0" rtlCol="0" anchor="ctr"/>
          <a:lstStyle/>
          <a:p>
            <a:pPr algn="r" indent="0" marL="0">
              <a:buNone/>
            </a:pPr>
            <a:r>
              <a:rPr lang="en-US" sz="1500" b="1" dirty="0">
                <a:solidFill>
                  <a:srgbClr val="11121A"/>
                </a:solidFill>
                <a:latin typeface="Palatino Linotype" pitchFamily="34" charset="0"/>
                <a:ea typeface="Palatino Linotype" pitchFamily="34" charset="-122"/>
                <a:cs typeface="Palatino Linotype" pitchFamily="34" charset="-120"/>
              </a:rPr>
              <a:t>Confirmate în laborator</a:t>
            </a:r>
            <a:endParaRPr lang="en-US" sz="1500" dirty="0"/>
          </a:p>
        </p:txBody>
      </p:sp>
      <p:sp>
        <p:nvSpPr>
          <p:cNvPr id="6" name="Shape 4"/>
          <p:cNvSpPr/>
          <p:nvPr/>
        </p:nvSpPr>
        <p:spPr>
          <a:xfrm>
            <a:off x="3291840" y="2194560"/>
            <a:ext cx="714680" cy="457200"/>
          </a:xfrm>
          <a:prstGeom prst="rect">
            <a:avLst/>
          </a:prstGeom>
          <a:solidFill>
            <a:srgbClr val="0E7C6B"/>
          </a:solidFill>
          <a:ln w="12700">
            <a:solidFill>
              <a:srgbClr val="0E7C6B"/>
            </a:solidFill>
            <a:prstDash val="solid"/>
          </a:ln>
        </p:spPr>
        <p:txBody>
          <a:bodyPr/>
          <a:p/>
        </p:txBody>
      </p:sp>
      <p:sp>
        <p:nvSpPr>
          <p:cNvPr id="7" name="Text 5"/>
          <p:cNvSpPr/>
          <p:nvPr/>
        </p:nvSpPr>
        <p:spPr>
          <a:xfrm>
            <a:off x="4143680" y="2103120"/>
            <a:ext cx="5486400" cy="640080"/>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18 449 (până la 31 august 2010)</a:t>
            </a:r>
            <a:endParaRPr lang="en-US" sz="1700" dirty="0"/>
          </a:p>
        </p:txBody>
      </p:sp>
      <p:sp>
        <p:nvSpPr>
          <p:cNvPr id="8" name="Text 6"/>
          <p:cNvSpPr/>
          <p:nvPr/>
        </p:nvSpPr>
        <p:spPr>
          <a:xfrm>
            <a:off x="594360" y="3017520"/>
            <a:ext cx="2560320" cy="822960"/>
          </a:xfrm>
          <a:prstGeom prst="rect">
            <a:avLst/>
          </a:prstGeom>
          <a:noFill/>
          <a:ln/>
        </p:spPr>
        <p:txBody>
          <a:bodyPr wrap="square" lIns="0" tIns="0" rIns="0" bIns="0" rtlCol="0" anchor="ctr"/>
          <a:lstStyle/>
          <a:p>
            <a:pPr algn="r" indent="0" marL="0">
              <a:buNone/>
            </a:pPr>
            <a:r>
              <a:rPr lang="en-US" sz="1350" b="1" dirty="0">
                <a:solidFill>
                  <a:srgbClr val="11121A"/>
                </a:solidFill>
                <a:latin typeface="Palatino Linotype" pitchFamily="34" charset="0"/>
                <a:ea typeface="Palatino Linotype" pitchFamily="34" charset="-122"/>
                <a:cs typeface="Palatino Linotype" pitchFamily="34" charset="-120"/>
              </a:rPr>
              <a:t>Estimate (numai respiratorii, aprilie–decembrie 2009)</a:t>
            </a:r>
            <a:endParaRPr lang="en-US" sz="1350" dirty="0"/>
          </a:p>
        </p:txBody>
      </p:sp>
      <p:sp>
        <p:nvSpPr>
          <p:cNvPr id="9" name="Shape 7"/>
          <p:cNvSpPr/>
          <p:nvPr/>
        </p:nvSpPr>
        <p:spPr>
          <a:xfrm>
            <a:off x="3291840" y="3200400"/>
            <a:ext cx="4764790" cy="457200"/>
          </a:xfrm>
          <a:prstGeom prst="rect">
            <a:avLst/>
          </a:prstGeom>
          <a:solidFill>
            <a:srgbClr val="B02532"/>
          </a:solidFill>
          <a:ln w="12700">
            <a:solidFill>
              <a:srgbClr val="B02532"/>
            </a:solidFill>
            <a:prstDash val="solid"/>
          </a:ln>
        </p:spPr>
        <p:txBody>
          <a:bodyPr/>
          <a:p/>
        </p:txBody>
      </p:sp>
      <p:sp>
        <p:nvSpPr>
          <p:cNvPr id="10" name="Shape 8"/>
          <p:cNvSpPr/>
          <p:nvPr/>
        </p:nvSpPr>
        <p:spPr>
          <a:xfrm>
            <a:off x="8056630" y="3200400"/>
            <a:ext cx="3099050" cy="457200"/>
          </a:xfrm>
          <a:prstGeom prst="rect">
            <a:avLst/>
          </a:prstGeom>
          <a:solidFill>
            <a:srgbClr val="E8A6AD"/>
          </a:solidFill>
          <a:ln w="12700">
            <a:solidFill>
              <a:srgbClr val="E8A6AD"/>
            </a:solidFill>
            <a:prstDash val="solid"/>
          </a:ln>
        </p:spPr>
        <p:txBody>
          <a:bodyPr/>
          <a:p/>
        </p:txBody>
      </p:sp>
      <p:sp>
        <p:nvSpPr>
          <p:cNvPr id="11" name="Text 9"/>
          <p:cNvSpPr/>
          <p:nvPr/>
        </p:nvSpPr>
        <p:spPr>
          <a:xfrm>
            <a:off x="3291840" y="3703320"/>
            <a:ext cx="7863840" cy="411480"/>
          </a:xfrm>
          <a:prstGeom prst="rect">
            <a:avLst/>
          </a:prstGeom>
          <a:noFill/>
          <a:ln/>
        </p:spPr>
        <p:txBody>
          <a:bodyPr wrap="square" lIns="0" tIns="0" rIns="0" bIns="0" rtlCol="0" anchor="t"/>
          <a:lstStyle/>
          <a:p>
            <a:pPr algn="r" indent="0" marL="0">
              <a:buNone/>
            </a:pPr>
            <a:r>
              <a:rPr lang="en-US" sz="1700" b="1" dirty="0">
                <a:solidFill>
                  <a:srgbClr val="B02532"/>
                </a:solidFill>
                <a:latin typeface="Palatino Linotype" pitchFamily="34" charset="0"/>
                <a:ea typeface="Palatino Linotype" pitchFamily="34" charset="-122"/>
                <a:cs typeface="Palatino Linotype" pitchFamily="34" charset="-120"/>
              </a:rPr>
              <a:t>123 000 – 203 000</a:t>
            </a:r>
            <a:endParaRPr lang="en-US" sz="1700" dirty="0"/>
          </a:p>
        </p:txBody>
      </p:sp>
      <p:sp>
        <p:nvSpPr>
          <p:cNvPr id="12" name="Text 10"/>
          <p:cNvSpPr/>
          <p:nvPr/>
        </p:nvSpPr>
        <p:spPr>
          <a:xfrm>
            <a:off x="594360" y="4343400"/>
            <a:ext cx="10972800" cy="1188720"/>
          </a:xfrm>
          <a:prstGeom prst="rect">
            <a:avLst/>
          </a:prstGeom>
          <a:noFill/>
          <a:ln/>
        </p:spPr>
        <p:txBody>
          <a:bodyPr wrap="square" lIns="0" tIns="0" rIns="0" bIns="0" rtlCol="0" anchor="t"/>
          <a:lstStyle/>
          <a:p>
            <a:pPr indent="0" marL="0">
              <a:buNone/>
            </a:pPr>
            <a:r>
              <a:rPr lang="en-US" sz="1650" b="1" dirty="0">
                <a:solidFill>
                  <a:srgbClr val="11121A"/>
                </a:solidFill>
                <a:latin typeface="Palatino Linotype" pitchFamily="34" charset="0"/>
                <a:ea typeface="Palatino Linotype" pitchFamily="34" charset="-122"/>
                <a:cs typeface="Palatino Linotype" pitchFamily="34" charset="-120"/>
              </a:rPr>
              <a:t>De circa 7–11 ori mai multe decese estimate decât confirmate (numai decese respiratorii; perioadele nu coincid). Cifra a părut mică; mulți s-au întrebat de ce fusese atâta agitație, unii dacă răspunsul fusese excesiv.</a:t>
            </a:r>
            <a:endParaRPr lang="en-US" sz="1650" dirty="0"/>
          </a:p>
        </p:txBody>
      </p:sp>
      <p:sp>
        <p:nvSpPr>
          <p:cNvPr id="13" name="Text 11"/>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Surse: OMS; estimările internaționale ale mortalității (registru A510, A511, A512, A513, A526).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SARS · 2002–2003</a:t>
            </a:r>
            <a:endParaRPr lang="en-US" sz="1300" dirty="0"/>
          </a:p>
        </p:txBody>
      </p:sp>
      <p:sp>
        <p:nvSpPr>
          <p:cNvPr id="3" name="Text 1"/>
          <p:cNvSpPr/>
          <p:nvPr/>
        </p:nvSpPr>
        <p:spPr>
          <a:xfrm>
            <a:off x="594360" y="713232"/>
            <a:ext cx="10972800" cy="7315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Un contraexemplu posibil: SARS</a:t>
            </a:r>
            <a:endParaRPr lang="en-US" sz="3200" dirty="0"/>
          </a:p>
        </p:txBody>
      </p:sp>
      <p:sp>
        <p:nvSpPr>
          <p:cNvPr id="4" name="Shape 2"/>
          <p:cNvSpPr/>
          <p:nvPr/>
        </p:nvSpPr>
        <p:spPr>
          <a:xfrm>
            <a:off x="594360" y="1691640"/>
            <a:ext cx="3566160" cy="1554480"/>
          </a:xfrm>
          <a:prstGeom prst="roundRect">
            <a:avLst>
              <a:gd name="adj" fmla="val 5294"/>
            </a:avLst>
          </a:prstGeom>
          <a:solidFill>
            <a:srgbClr val="272A38"/>
          </a:solidFill>
          <a:ln w="12700">
            <a:solidFill>
              <a:srgbClr val="272A38"/>
            </a:solidFill>
            <a:prstDash val="solid"/>
          </a:ln>
        </p:spPr>
        <p:txBody>
          <a:bodyPr/>
          <a:p/>
        </p:txBody>
      </p:sp>
      <p:sp>
        <p:nvSpPr>
          <p:cNvPr id="5" name="Text 3"/>
          <p:cNvSpPr/>
          <p:nvPr/>
        </p:nvSpPr>
        <p:spPr>
          <a:xfrm>
            <a:off x="868680" y="1801368"/>
            <a:ext cx="3017520" cy="777240"/>
          </a:xfrm>
          <a:prstGeom prst="rect">
            <a:avLst/>
          </a:prstGeom>
          <a:noFill/>
          <a:ln/>
        </p:spPr>
        <p:txBody>
          <a:bodyPr wrap="square" lIns="0" tIns="0" rIns="0" bIns="0" rtlCol="0" anchor="ctr"/>
          <a:lstStyle/>
          <a:p>
            <a:pPr indent="0" marL="0">
              <a:buNone/>
            </a:pPr>
            <a:r>
              <a:rPr lang="en-US" sz="4000" b="1" dirty="0">
                <a:solidFill>
                  <a:srgbClr val="FF4757"/>
                </a:solidFill>
                <a:latin typeface="Palatino Linotype" pitchFamily="34" charset="0"/>
                <a:ea typeface="Palatino Linotype" pitchFamily="34" charset="-122"/>
                <a:cs typeface="Palatino Linotype" pitchFamily="34" charset="-120"/>
              </a:rPr>
              <a:t>8 096</a:t>
            </a:r>
            <a:endParaRPr lang="en-US" sz="4000" dirty="0"/>
          </a:p>
        </p:txBody>
      </p:sp>
      <p:sp>
        <p:nvSpPr>
          <p:cNvPr id="6" name="Text 4"/>
          <p:cNvSpPr/>
          <p:nvPr/>
        </p:nvSpPr>
        <p:spPr>
          <a:xfrm>
            <a:off x="868680" y="2487168"/>
            <a:ext cx="3017520" cy="715061"/>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cazuri probabile, în tabelul OMS</a:t>
            </a:r>
            <a:endParaRPr lang="en-US" sz="1400" dirty="0"/>
          </a:p>
        </p:txBody>
      </p:sp>
      <p:sp>
        <p:nvSpPr>
          <p:cNvPr id="7" name="Shape 5"/>
          <p:cNvSpPr/>
          <p:nvPr/>
        </p:nvSpPr>
        <p:spPr>
          <a:xfrm>
            <a:off x="4343400" y="1691640"/>
            <a:ext cx="3566160" cy="1554480"/>
          </a:xfrm>
          <a:prstGeom prst="roundRect">
            <a:avLst>
              <a:gd name="adj" fmla="val 5294"/>
            </a:avLst>
          </a:prstGeom>
          <a:solidFill>
            <a:srgbClr val="272A38"/>
          </a:solidFill>
          <a:ln w="12700">
            <a:solidFill>
              <a:srgbClr val="272A38"/>
            </a:solidFill>
            <a:prstDash val="solid"/>
          </a:ln>
        </p:spPr>
        <p:txBody>
          <a:bodyPr/>
          <a:p/>
        </p:txBody>
      </p:sp>
      <p:sp>
        <p:nvSpPr>
          <p:cNvPr id="8" name="Text 6"/>
          <p:cNvSpPr/>
          <p:nvPr/>
        </p:nvSpPr>
        <p:spPr>
          <a:xfrm>
            <a:off x="4617720" y="1801368"/>
            <a:ext cx="3017520" cy="777240"/>
          </a:xfrm>
          <a:prstGeom prst="rect">
            <a:avLst/>
          </a:prstGeom>
          <a:noFill/>
          <a:ln/>
        </p:spPr>
        <p:txBody>
          <a:bodyPr wrap="square" lIns="0" tIns="0" rIns="0" bIns="0" rtlCol="0" anchor="ctr"/>
          <a:lstStyle/>
          <a:p>
            <a:pPr indent="0" marL="0">
              <a:buNone/>
            </a:pPr>
            <a:r>
              <a:rPr lang="en-US" sz="4000" b="1" dirty="0">
                <a:solidFill>
                  <a:srgbClr val="FF4757"/>
                </a:solidFill>
                <a:latin typeface="Palatino Linotype" pitchFamily="34" charset="0"/>
                <a:ea typeface="Palatino Linotype" pitchFamily="34" charset="-122"/>
                <a:cs typeface="Palatino Linotype" pitchFamily="34" charset="-120"/>
              </a:rPr>
              <a:t>774</a:t>
            </a:r>
            <a:endParaRPr lang="en-US" sz="4000" dirty="0"/>
          </a:p>
        </p:txBody>
      </p:sp>
      <p:sp>
        <p:nvSpPr>
          <p:cNvPr id="9" name="Text 7"/>
          <p:cNvSpPr/>
          <p:nvPr/>
        </p:nvSpPr>
        <p:spPr>
          <a:xfrm>
            <a:off x="4617720" y="2487168"/>
            <a:ext cx="3017520" cy="715061"/>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decese</a:t>
            </a:r>
            <a:endParaRPr lang="en-US" sz="1400" dirty="0"/>
          </a:p>
        </p:txBody>
      </p:sp>
      <p:sp>
        <p:nvSpPr>
          <p:cNvPr id="10" name="Shape 8"/>
          <p:cNvSpPr/>
          <p:nvPr/>
        </p:nvSpPr>
        <p:spPr>
          <a:xfrm>
            <a:off x="8092440" y="1691640"/>
            <a:ext cx="3474720" cy="1554480"/>
          </a:xfrm>
          <a:prstGeom prst="roundRect">
            <a:avLst>
              <a:gd name="adj" fmla="val 5294"/>
            </a:avLst>
          </a:prstGeom>
          <a:solidFill>
            <a:srgbClr val="272A38"/>
          </a:solidFill>
          <a:ln w="12700">
            <a:solidFill>
              <a:srgbClr val="272A38"/>
            </a:solidFill>
            <a:prstDash val="solid"/>
          </a:ln>
        </p:spPr>
        <p:txBody>
          <a:bodyPr/>
          <a:p/>
        </p:txBody>
      </p:sp>
      <p:sp>
        <p:nvSpPr>
          <p:cNvPr id="11" name="Text 9"/>
          <p:cNvSpPr/>
          <p:nvPr/>
        </p:nvSpPr>
        <p:spPr>
          <a:xfrm>
            <a:off x="8366760" y="1801368"/>
            <a:ext cx="2926080" cy="777240"/>
          </a:xfrm>
          <a:prstGeom prst="rect">
            <a:avLst/>
          </a:prstGeom>
          <a:noFill/>
          <a:ln/>
        </p:spPr>
        <p:txBody>
          <a:bodyPr wrap="square" lIns="0" tIns="0" rIns="0" bIns="0" rtlCol="0" anchor="ctr"/>
          <a:lstStyle/>
          <a:p>
            <a:pPr indent="0" marL="0">
              <a:buNone/>
            </a:pPr>
            <a:r>
              <a:rPr lang="en-US" sz="3600" b="1" dirty="0">
                <a:solidFill>
                  <a:srgbClr val="27D3BE"/>
                </a:solidFill>
                <a:latin typeface="Palatino Linotype" pitchFamily="34" charset="0"/>
                <a:ea typeface="Palatino Linotype" pitchFamily="34" charset="-122"/>
                <a:cs typeface="Palatino Linotype" pitchFamily="34" charset="-120"/>
              </a:rPr>
              <a:t>un caz</a:t>
            </a:r>
            <a:endParaRPr lang="en-US" sz="3600" dirty="0"/>
          </a:p>
        </p:txBody>
      </p:sp>
      <p:sp>
        <p:nvSpPr>
          <p:cNvPr id="12" name="Text 10"/>
          <p:cNvSpPr/>
          <p:nvPr/>
        </p:nvSpPr>
        <p:spPr>
          <a:xfrm>
            <a:off x="8366760" y="2487168"/>
            <a:ext cx="2926080" cy="715061"/>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în România, importat</a:t>
            </a:r>
            <a:endParaRPr lang="en-US" sz="1400" dirty="0"/>
          </a:p>
        </p:txBody>
      </p:sp>
      <p:sp>
        <p:nvSpPr>
          <p:cNvPr id="13" name="Text 11"/>
          <p:cNvSpPr/>
          <p:nvPr/>
        </p:nvSpPr>
        <p:spPr>
          <a:xfrm>
            <a:off x="594360" y="3520440"/>
            <a:ext cx="10972800" cy="91440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Ipoteza, neverificată: la o boală gravă și nouă, la care aproape toți bolnavii ajung la spital, baza piramidei ar fi îngustă. Tabelul OMS nu spune dacă așa a fost.</a:t>
            </a:r>
            <a:endParaRPr lang="en-US" sz="1700" dirty="0"/>
          </a:p>
        </p:txBody>
      </p:sp>
      <p:sp>
        <p:nvSpPr>
          <p:cNvPr id="14" name="Shape 12"/>
          <p:cNvSpPr/>
          <p:nvPr/>
        </p:nvSpPr>
        <p:spPr>
          <a:xfrm>
            <a:off x="594360" y="4572000"/>
            <a:ext cx="10972800" cy="1371600"/>
          </a:xfrm>
          <a:prstGeom prst="roundRect">
            <a:avLst>
              <a:gd name="adj" fmla="val 6000"/>
            </a:avLst>
          </a:prstGeom>
          <a:solidFill>
            <a:srgbClr val="07564B"/>
          </a:solidFill>
          <a:ln w="12700">
            <a:solidFill>
              <a:srgbClr val="07564B"/>
            </a:solidFill>
            <a:prstDash val="solid"/>
          </a:ln>
        </p:spPr>
        <p:txBody>
          <a:bodyPr/>
          <a:p/>
        </p:txBody>
      </p:sp>
      <p:sp>
        <p:nvSpPr>
          <p:cNvPr id="15" name="Text 13"/>
          <p:cNvSpPr/>
          <p:nvPr/>
        </p:nvSpPr>
        <p:spPr>
          <a:xfrm>
            <a:off x="914400" y="4572000"/>
            <a:ext cx="10332720" cy="137160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Teza nu este „cifra raportată este întotdeauna prea mică”. Teza este o întrebare: cine trebuia să fie văzut, și de către cine?</a:t>
            </a:r>
            <a:endParaRPr lang="en-US" sz="1800" dirty="0"/>
          </a:p>
        </p:txBody>
      </p:sp>
      <p:sp>
        <p:nvSpPr>
          <p:cNvPr id="16" name="Text 14"/>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OMS, tabelul cazurilor de SARS, debuturi între 1 noiembrie 2002 și 31 iulie 2003 (registru A077).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ÎNAINTE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DEZBATEREA · MOȚIUNEA</a:t>
            </a:r>
            <a:endParaRPr lang="en-US" sz="1300" dirty="0"/>
          </a:p>
        </p:txBody>
      </p:sp>
      <p:sp>
        <p:nvSpPr>
          <p:cNvPr id="5" name="Text 3"/>
          <p:cNvSpPr/>
          <p:nvPr/>
        </p:nvSpPr>
        <p:spPr>
          <a:xfrm>
            <a:off x="594360" y="777240"/>
            <a:ext cx="10972800" cy="1188720"/>
          </a:xfrm>
          <a:prstGeom prst="rect">
            <a:avLst/>
          </a:prstGeom>
          <a:noFill/>
          <a:ln/>
        </p:spPr>
        <p:txBody>
          <a:bodyPr wrap="square" lIns="0" tIns="0" rIns="0" bIns="0" rtlCol="0" anchor="t"/>
          <a:lstStyle/>
          <a:p>
            <a:pPr indent="0" marL="0">
              <a:buNone/>
            </a:pPr>
            <a:r>
              <a:rPr lang="en-US" sz="2800" b="1" i="1" dirty="0">
                <a:solidFill>
                  <a:srgbClr val="FFFFFF"/>
                </a:solidFill>
                <a:latin typeface="Palatino Linotype" pitchFamily="34" charset="0"/>
                <a:ea typeface="Palatino Linotype" pitchFamily="34" charset="-122"/>
                <a:cs typeface="Palatino Linotype" pitchFamily="34" charset="-120"/>
              </a:rPr>
              <a:t>„Răspunsul global la COVID-19 a fost mai bun decât cel la gripa spaniolă.”</a:t>
            </a:r>
            <a:endParaRPr lang="en-US" sz="2800" dirty="0"/>
          </a:p>
        </p:txBody>
      </p:sp>
      <p:sp>
        <p:nvSpPr>
          <p:cNvPr id="6" name="Shape 4"/>
          <p:cNvSpPr/>
          <p:nvPr/>
        </p:nvSpPr>
        <p:spPr>
          <a:xfrm>
            <a:off x="594360" y="219456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2359152"/>
            <a:ext cx="420624" cy="420624"/>
          </a:xfrm>
          <a:prstGeom prst="ellipse">
            <a:avLst/>
          </a:prstGeom>
          <a:solidFill>
            <a:srgbClr val="FFC24B"/>
          </a:solidFill>
          <a:ln/>
        </p:spPr>
        <p:txBody>
          <a:bodyPr/>
          <a:p/>
        </p:txBody>
      </p:sp>
      <p:sp>
        <p:nvSpPr>
          <p:cNvPr id="8" name="Text 6"/>
          <p:cNvSpPr/>
          <p:nvPr/>
        </p:nvSpPr>
        <p:spPr>
          <a:xfrm>
            <a:off x="914400" y="23591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2194560"/>
            <a:ext cx="6355080" cy="749808"/>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Pentru</a:t>
            </a:r>
            <a:endParaRPr lang="en-US" sz="2000" dirty="0"/>
          </a:p>
        </p:txBody>
      </p:sp>
      <p:sp>
        <p:nvSpPr>
          <p:cNvPr id="10" name="Shape 8"/>
          <p:cNvSpPr/>
          <p:nvPr/>
        </p:nvSpPr>
        <p:spPr>
          <a:xfrm>
            <a:off x="594360" y="310896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3273552"/>
            <a:ext cx="420624" cy="420624"/>
          </a:xfrm>
          <a:prstGeom prst="ellipse">
            <a:avLst/>
          </a:prstGeom>
          <a:solidFill>
            <a:srgbClr val="FFC24B"/>
          </a:solidFill>
          <a:ln/>
        </p:spPr>
        <p:txBody>
          <a:bodyPr/>
          <a:p/>
        </p:txBody>
      </p:sp>
      <p:sp>
        <p:nvSpPr>
          <p:cNvPr id="12" name="Text 10"/>
          <p:cNvSpPr/>
          <p:nvPr/>
        </p:nvSpPr>
        <p:spPr>
          <a:xfrm>
            <a:off x="914400" y="32735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3108960"/>
            <a:ext cx="6355080" cy="749808"/>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Împotrivă</a:t>
            </a:r>
            <a:endParaRPr lang="en-US" sz="2000" dirty="0"/>
          </a:p>
        </p:txBody>
      </p:sp>
      <p:sp>
        <p:nvSpPr>
          <p:cNvPr id="14" name="Shape 12"/>
          <p:cNvSpPr/>
          <p:nvPr/>
        </p:nvSpPr>
        <p:spPr>
          <a:xfrm>
            <a:off x="594360" y="402336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4187952"/>
            <a:ext cx="420624" cy="420624"/>
          </a:xfrm>
          <a:prstGeom prst="ellipse">
            <a:avLst/>
          </a:prstGeom>
          <a:solidFill>
            <a:srgbClr val="FFC24B"/>
          </a:solidFill>
          <a:ln/>
        </p:spPr>
        <p:txBody>
          <a:bodyPr/>
          <a:p/>
        </p:txBody>
      </p:sp>
      <p:sp>
        <p:nvSpPr>
          <p:cNvPr id="16" name="Text 14"/>
          <p:cNvSpPr/>
          <p:nvPr/>
        </p:nvSpPr>
        <p:spPr>
          <a:xfrm>
            <a:off x="914400" y="41879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4023360"/>
            <a:ext cx="6355080" cy="749808"/>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Nu știu</a:t>
            </a:r>
            <a:endParaRPr lang="en-US" sz="2000" dirty="0"/>
          </a:p>
        </p:txBody>
      </p:sp>
      <p:sp>
        <p:nvSpPr>
          <p:cNvPr id="18" name="Shape 16"/>
          <p:cNvSpPr/>
          <p:nvPr/>
        </p:nvSpPr>
        <p:spPr>
          <a:xfrm>
            <a:off x="8503920" y="219456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0" name="Text 18"/>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Argumentele despre măsurile de răspuns sunt permise; cifrele vin numai din note.</a:t>
            </a:r>
            <a:endParaRPr lang="en-US" sz="1700" dirty="0"/>
          </a:p>
        </p:txBody>
      </p:sp>
      <p:pic>
        <p:nvPicPr>
          <p:cNvPr id="21" name="Picture 20" descr="Mentimeter_OPT_DETECTIVI_C03.png"/>
          <p:cNvPicPr>
            <a:picLocks noChangeAspect="1"/>
          </p:cNvPicPr>
          <p:nvPr/>
        </p:nvPicPr>
        <p:blipFill>
          <a:blip r:embed="rId3"/>
          <a:stretch>
            <a:fillRect/>
          </a:stretch>
        </p:blipFill>
        <p:spPr>
          <a:xfrm>
            <a:off x="8817610" y="2194560"/>
            <a:ext cx="2435860" cy="2435860"/>
          </a:xfrm>
          <a:prstGeom prst="rect">
            <a:avLst/>
          </a:prstGeom>
        </p:spPr>
      </p:pic>
      <p:sp>
        <p:nvSpPr>
          <p:cNvPr id="22" name="TextBox 21"/>
          <p:cNvSpPr txBox="1"/>
          <p:nvPr/>
        </p:nvSpPr>
        <p:spPr>
          <a:xfrm>
            <a:off x="8503920" y="466852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9B7EF7"/>
          </a:solidFill>
          <a:ln w="12700">
            <a:solidFill>
              <a:srgbClr val="9B7EF7"/>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DOUĂ TABERE · MICROFON</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DEZBATEREA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Ian.–iun. pentru, iul.–dec. împotrivă</a:t>
            </a:r>
            <a:endParaRPr lang="en-US" sz="3200" dirty="0"/>
          </a:p>
        </p:txBody>
      </p:sp>
      <p:sp>
        <p:nvSpPr>
          <p:cNvPr id="6" name="Shape 4"/>
          <p:cNvSpPr/>
          <p:nvPr/>
        </p:nvSpPr>
        <p:spPr>
          <a:xfrm>
            <a:off x="594360" y="1554480"/>
            <a:ext cx="5349240" cy="2286000"/>
          </a:xfrm>
          <a:prstGeom prst="roundRect">
            <a:avLst>
              <a:gd name="adj" fmla="val 3600"/>
            </a:avLst>
          </a:prstGeom>
          <a:solidFill>
            <a:srgbClr val="E1F0EC"/>
          </a:solidFill>
          <a:ln w="12700">
            <a:solidFill>
              <a:srgbClr val="E1F0EC"/>
            </a:solidFill>
            <a:prstDash val="solid"/>
          </a:ln>
        </p:spPr>
        <p:txBody>
          <a:bodyPr/>
          <a:p/>
        </p:txBody>
      </p:sp>
      <p:sp>
        <p:nvSpPr>
          <p:cNvPr id="7" name="Shape 5"/>
          <p:cNvSpPr/>
          <p:nvPr/>
        </p:nvSpPr>
        <p:spPr>
          <a:xfrm>
            <a:off x="6217920" y="1554480"/>
            <a:ext cx="5349240" cy="2286000"/>
          </a:xfrm>
          <a:prstGeom prst="roundRect">
            <a:avLst>
              <a:gd name="adj" fmla="val 3600"/>
            </a:avLst>
          </a:prstGeom>
          <a:solidFill>
            <a:srgbClr val="F4E0E2"/>
          </a:solidFill>
          <a:ln w="12700">
            <a:solidFill>
              <a:srgbClr val="F4E0E2"/>
            </a:solidFill>
            <a:prstDash val="solid"/>
          </a:ln>
        </p:spPr>
        <p:txBody>
          <a:bodyPr/>
          <a:p/>
        </p:txBody>
      </p:sp>
      <p:sp>
        <p:nvSpPr>
          <p:cNvPr id="8" name="Text 6"/>
          <p:cNvSpPr/>
          <p:nvPr/>
        </p:nvSpPr>
        <p:spPr>
          <a:xfrm>
            <a:off x="868680" y="1691640"/>
            <a:ext cx="4846320" cy="36576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PENTRU · IANUARIE–IUNIE</a:t>
            </a:r>
            <a:endParaRPr lang="en-US" sz="1300" dirty="0"/>
          </a:p>
        </p:txBody>
      </p:sp>
      <p:sp>
        <p:nvSpPr>
          <p:cNvPr id="9" name="Text 7"/>
          <p:cNvSpPr/>
          <p:nvPr/>
        </p:nvSpPr>
        <p:spPr>
          <a:xfrm>
            <a:off x="868680" y="2148840"/>
            <a:ext cx="4846320" cy="155448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Poate porni de la estimarea mică pentru 1918: 17,4 milioane.</a:t>
            </a:r>
            <a:endParaRPr lang="en-US" sz="1900" dirty="0"/>
          </a:p>
        </p:txBody>
      </p:sp>
      <p:sp>
        <p:nvSpPr>
          <p:cNvPr id="10" name="Text 8"/>
          <p:cNvSpPr/>
          <p:nvPr/>
        </p:nvSpPr>
        <p:spPr>
          <a:xfrm>
            <a:off x="6492240" y="1691640"/>
            <a:ext cx="4846320" cy="36576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ÎMPOTRIVĂ · IULIE–DECEMBRIE</a:t>
            </a:r>
            <a:endParaRPr lang="en-US" sz="1300" dirty="0"/>
          </a:p>
        </p:txBody>
      </p:sp>
      <p:sp>
        <p:nvSpPr>
          <p:cNvPr id="11" name="Text 9"/>
          <p:cNvSpPr/>
          <p:nvPr/>
        </p:nvSpPr>
        <p:spPr>
          <a:xfrm>
            <a:off x="6492240" y="2148840"/>
            <a:ext cx="4846320" cy="155448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Poate porni de la estimarea mare: 50–100 de milioane.</a:t>
            </a:r>
            <a:endParaRPr lang="en-US" sz="1900" dirty="0"/>
          </a:p>
        </p:txBody>
      </p:sp>
      <p:sp>
        <p:nvSpPr>
          <p:cNvPr id="12" name="Shape 10"/>
          <p:cNvSpPr/>
          <p:nvPr/>
        </p:nvSpPr>
        <p:spPr>
          <a:xfrm>
            <a:off x="594360" y="4069080"/>
            <a:ext cx="10972800" cy="566928"/>
          </a:xfrm>
          <a:prstGeom prst="roundRect">
            <a:avLst>
              <a:gd name="adj" fmla="val 14516"/>
            </a:avLst>
          </a:prstGeom>
          <a:solidFill>
            <a:srgbClr val="11121A"/>
          </a:solidFill>
          <a:ln w="12700">
            <a:solidFill>
              <a:srgbClr val="11121A"/>
            </a:solidFill>
            <a:prstDash val="solid"/>
          </a:ln>
        </p:spPr>
        <p:txBody>
          <a:bodyPr/>
          <a:p/>
        </p:txBody>
      </p:sp>
      <p:sp>
        <p:nvSpPr>
          <p:cNvPr id="13" name="Shape 11"/>
          <p:cNvSpPr/>
          <p:nvPr/>
        </p:nvSpPr>
        <p:spPr>
          <a:xfrm>
            <a:off x="914400" y="4142232"/>
            <a:ext cx="420624" cy="420624"/>
          </a:xfrm>
          <a:prstGeom prst="ellipse">
            <a:avLst/>
          </a:prstGeom>
          <a:solidFill>
            <a:srgbClr val="FFC24B"/>
          </a:solidFill>
          <a:ln/>
        </p:spPr>
        <p:txBody>
          <a:bodyPr/>
          <a:p/>
        </p:txBody>
      </p:sp>
      <p:sp>
        <p:nvSpPr>
          <p:cNvPr id="14" name="Text 12"/>
          <p:cNvSpPr/>
          <p:nvPr/>
        </p:nvSpPr>
        <p:spPr>
          <a:xfrm>
            <a:off x="914400" y="414223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5" name="Text 13"/>
          <p:cNvSpPr/>
          <p:nvPr/>
        </p:nvSpPr>
        <p:spPr>
          <a:xfrm>
            <a:off x="1600200" y="4069080"/>
            <a:ext cx="9692640" cy="566928"/>
          </a:xfrm>
          <a:prstGeom prst="rect">
            <a:avLst/>
          </a:prstGeom>
          <a:noFill/>
          <a:ln/>
        </p:spPr>
        <p:txBody>
          <a:bodyPr wrap="square" lIns="0" tIns="0" rIns="0" bIns="0" rtlCol="0" anchor="ctr"/>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Trei minute: argumentele în chat, indiferent de vot.</a:t>
            </a:r>
            <a:endParaRPr lang="en-US" sz="1550" dirty="0"/>
          </a:p>
        </p:txBody>
      </p:sp>
      <p:sp>
        <p:nvSpPr>
          <p:cNvPr id="16" name="Shape 14"/>
          <p:cNvSpPr/>
          <p:nvPr/>
        </p:nvSpPr>
        <p:spPr>
          <a:xfrm>
            <a:off x="594360" y="4727448"/>
            <a:ext cx="10972800" cy="566928"/>
          </a:xfrm>
          <a:prstGeom prst="roundRect">
            <a:avLst>
              <a:gd name="adj" fmla="val 14516"/>
            </a:avLst>
          </a:prstGeom>
          <a:solidFill>
            <a:srgbClr val="11121A"/>
          </a:solidFill>
          <a:ln w="12700">
            <a:solidFill>
              <a:srgbClr val="11121A"/>
            </a:solidFill>
            <a:prstDash val="solid"/>
          </a:ln>
        </p:spPr>
        <p:txBody>
          <a:bodyPr/>
          <a:p/>
        </p:txBody>
      </p:sp>
      <p:sp>
        <p:nvSpPr>
          <p:cNvPr id="17" name="Shape 15"/>
          <p:cNvSpPr/>
          <p:nvPr/>
        </p:nvSpPr>
        <p:spPr>
          <a:xfrm>
            <a:off x="914400" y="4800600"/>
            <a:ext cx="420624" cy="420624"/>
          </a:xfrm>
          <a:prstGeom prst="ellipse">
            <a:avLst/>
          </a:prstGeom>
          <a:solidFill>
            <a:srgbClr val="FFC24B"/>
          </a:solidFill>
          <a:ln/>
        </p:spPr>
        <p:txBody>
          <a:bodyPr/>
          <a:p/>
        </p:txBody>
      </p:sp>
      <p:sp>
        <p:nvSpPr>
          <p:cNvPr id="18" name="Text 16"/>
          <p:cNvSpPr/>
          <p:nvPr/>
        </p:nvSpPr>
        <p:spPr>
          <a:xfrm>
            <a:off x="914400" y="480060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9" name="Text 17"/>
          <p:cNvSpPr/>
          <p:nvPr/>
        </p:nvSpPr>
        <p:spPr>
          <a:xfrm>
            <a:off x="1600200" y="4727448"/>
            <a:ext cx="9692640" cy="566928"/>
          </a:xfrm>
          <a:prstGeom prst="rect">
            <a:avLst/>
          </a:prstGeom>
          <a:noFill/>
          <a:ln/>
        </p:spPr>
        <p:txBody>
          <a:bodyPr wrap="square" lIns="0" tIns="0" rIns="0" bIns="0" rtlCol="0" anchor="ctr"/>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Câte doi vorbitori din fiecare tabără, câte un minut, la microfon.</a:t>
            </a:r>
            <a:endParaRPr lang="en-US" sz="1550" dirty="0"/>
          </a:p>
        </p:txBody>
      </p:sp>
      <p:sp>
        <p:nvSpPr>
          <p:cNvPr id="20" name="Shape 18"/>
          <p:cNvSpPr/>
          <p:nvPr/>
        </p:nvSpPr>
        <p:spPr>
          <a:xfrm>
            <a:off x="594360" y="5385816"/>
            <a:ext cx="10972800" cy="566928"/>
          </a:xfrm>
          <a:prstGeom prst="roundRect">
            <a:avLst>
              <a:gd name="adj" fmla="val 14516"/>
            </a:avLst>
          </a:prstGeom>
          <a:solidFill>
            <a:srgbClr val="11121A"/>
          </a:solidFill>
          <a:ln w="12700">
            <a:solidFill>
              <a:srgbClr val="11121A"/>
            </a:solidFill>
            <a:prstDash val="solid"/>
          </a:ln>
        </p:spPr>
        <p:txBody>
          <a:bodyPr/>
          <a:p/>
        </p:txBody>
      </p:sp>
      <p:sp>
        <p:nvSpPr>
          <p:cNvPr id="21" name="Shape 19"/>
          <p:cNvSpPr/>
          <p:nvPr/>
        </p:nvSpPr>
        <p:spPr>
          <a:xfrm>
            <a:off x="914400" y="5458968"/>
            <a:ext cx="420624" cy="420624"/>
          </a:xfrm>
          <a:prstGeom prst="ellipse">
            <a:avLst/>
          </a:prstGeom>
          <a:solidFill>
            <a:srgbClr val="FFC24B"/>
          </a:solidFill>
          <a:ln/>
        </p:spPr>
        <p:txBody>
          <a:bodyPr/>
          <a:p/>
        </p:txBody>
      </p:sp>
      <p:sp>
        <p:nvSpPr>
          <p:cNvPr id="22" name="Text 20"/>
          <p:cNvSpPr/>
          <p:nvPr/>
        </p:nvSpPr>
        <p:spPr>
          <a:xfrm>
            <a:off x="914400" y="54589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3" name="Text 21"/>
          <p:cNvSpPr/>
          <p:nvPr/>
        </p:nvSpPr>
        <p:spPr>
          <a:xfrm>
            <a:off x="1600200" y="5385816"/>
            <a:ext cx="9692640" cy="566928"/>
          </a:xfrm>
          <a:prstGeom prst="rect">
            <a:avLst/>
          </a:prstGeom>
          <a:noFill/>
          <a:ln/>
        </p:spPr>
        <p:txBody>
          <a:bodyPr wrap="square" lIns="0" tIns="0" rIns="0" bIns="0" rtlCol="0" anchor="ctr"/>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Orice cifră spune cine a fost numărat: numărătoare cu numărătoare, estimare cu estimare.</a:t>
            </a:r>
            <a:endParaRPr lang="en-US" sz="15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DUPĂ</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ACEEAȘI MOȚIUNE, DUPĂ DEZBATERE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Cât s-a mutat votul?</a:t>
            </a:r>
            <a:endParaRPr lang="en-US" sz="3400" dirty="0"/>
          </a:p>
        </p:txBody>
      </p:sp>
      <p:sp>
        <p:nvSpPr>
          <p:cNvPr id="6" name="Shape 4"/>
          <p:cNvSpPr/>
          <p:nvPr/>
        </p:nvSpPr>
        <p:spPr>
          <a:xfrm>
            <a:off x="594360" y="17830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47672"/>
            <a:ext cx="420624" cy="420624"/>
          </a:xfrm>
          <a:prstGeom prst="ellipse">
            <a:avLst/>
          </a:prstGeom>
          <a:solidFill>
            <a:srgbClr val="FFC24B"/>
          </a:solidFill>
          <a:ln/>
        </p:spPr>
        <p:txBody>
          <a:bodyPr/>
          <a:p/>
        </p:txBody>
      </p:sp>
      <p:sp>
        <p:nvSpPr>
          <p:cNvPr id="8" name="Text 6"/>
          <p:cNvSpPr/>
          <p:nvPr/>
        </p:nvSpPr>
        <p:spPr>
          <a:xfrm>
            <a:off x="914400" y="19476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783080"/>
            <a:ext cx="6355080" cy="749808"/>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Pentru</a:t>
            </a:r>
            <a:endParaRPr lang="en-US" sz="2000" dirty="0"/>
          </a:p>
        </p:txBody>
      </p:sp>
      <p:sp>
        <p:nvSpPr>
          <p:cNvPr id="10" name="Shape 8"/>
          <p:cNvSpPr/>
          <p:nvPr/>
        </p:nvSpPr>
        <p:spPr>
          <a:xfrm>
            <a:off x="594360" y="26974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62072"/>
            <a:ext cx="420624" cy="420624"/>
          </a:xfrm>
          <a:prstGeom prst="ellipse">
            <a:avLst/>
          </a:prstGeom>
          <a:solidFill>
            <a:srgbClr val="FFC24B"/>
          </a:solidFill>
          <a:ln/>
        </p:spPr>
        <p:txBody>
          <a:bodyPr/>
          <a:p/>
        </p:txBody>
      </p:sp>
      <p:sp>
        <p:nvSpPr>
          <p:cNvPr id="12" name="Text 10"/>
          <p:cNvSpPr/>
          <p:nvPr/>
        </p:nvSpPr>
        <p:spPr>
          <a:xfrm>
            <a:off x="914400" y="28620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697480"/>
            <a:ext cx="6355080" cy="749808"/>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Împotrivă</a:t>
            </a:r>
            <a:endParaRPr lang="en-US" sz="2000" dirty="0"/>
          </a:p>
        </p:txBody>
      </p:sp>
      <p:sp>
        <p:nvSpPr>
          <p:cNvPr id="14" name="Shape 12"/>
          <p:cNvSpPr/>
          <p:nvPr/>
        </p:nvSpPr>
        <p:spPr>
          <a:xfrm>
            <a:off x="594360" y="3611880"/>
            <a:ext cx="763524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76472"/>
            <a:ext cx="420624" cy="420624"/>
          </a:xfrm>
          <a:prstGeom prst="ellipse">
            <a:avLst/>
          </a:prstGeom>
          <a:solidFill>
            <a:srgbClr val="FFC24B"/>
          </a:solidFill>
          <a:ln/>
        </p:spPr>
        <p:txBody>
          <a:bodyPr/>
          <a:p/>
        </p:txBody>
      </p:sp>
      <p:sp>
        <p:nvSpPr>
          <p:cNvPr id="16" name="Text 14"/>
          <p:cNvSpPr/>
          <p:nvPr/>
        </p:nvSpPr>
        <p:spPr>
          <a:xfrm>
            <a:off x="914400" y="377647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611880"/>
            <a:ext cx="6355080" cy="749808"/>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Nu știu</a:t>
            </a:r>
            <a:endParaRPr lang="en-US" sz="2000" dirty="0"/>
          </a:p>
        </p:txBody>
      </p:sp>
      <p:sp>
        <p:nvSpPr>
          <p:cNvPr id="18" name="Shape 16"/>
          <p:cNvSpPr/>
          <p:nvPr/>
        </p:nvSpPr>
        <p:spPr>
          <a:xfrm>
            <a:off x="8503920" y="178308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0" name="Text 18"/>
          <p:cNvSpPr/>
          <p:nvPr/>
        </p:nvSpPr>
        <p:spPr>
          <a:xfrm>
            <a:off x="594360" y="5074920"/>
            <a:ext cx="10972800" cy="91440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O mișcare mare a votului este o dovadă despre puterea retoricii, nu despre lume. Poziția apărată azi devine a voastră numai dacă o alegeți după, cu argumente.</a:t>
            </a:r>
            <a:endParaRPr lang="en-US" sz="1700" dirty="0"/>
          </a:p>
        </p:txBody>
      </p:sp>
      <p:pic>
        <p:nvPicPr>
          <p:cNvPr id="21" name="Picture 20" descr="Mentimeter_OPT_DETECTIVI_C03.png"/>
          <p:cNvPicPr>
            <a:picLocks noChangeAspect="1"/>
          </p:cNvPicPr>
          <p:nvPr/>
        </p:nvPicPr>
        <p:blipFill>
          <a:blip r:embed="rId3"/>
          <a:stretch>
            <a:fillRect/>
          </a:stretch>
        </p:blipFill>
        <p:spPr>
          <a:xfrm>
            <a:off x="8817610" y="1783080"/>
            <a:ext cx="2435860" cy="2435860"/>
          </a:xfrm>
          <a:prstGeom prst="rect">
            <a:avLst/>
          </a:prstGeom>
        </p:spPr>
      </p:pic>
      <p:sp>
        <p:nvSpPr>
          <p:cNvPr id="22" name="TextBox 21"/>
          <p:cNvSpPr txBox="1"/>
          <p:nvPr/>
        </p:nvSpPr>
        <p:spPr>
          <a:xfrm>
            <a:off x="8503920" y="425704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 DEFINIȚIE DE CAZ PENTRU TOATĂ PLANETA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Urgența pandemică, adoptată în 2024</a:t>
            </a:r>
            <a:endParaRPr lang="en-US" sz="3000" dirty="0"/>
          </a:p>
        </p:txBody>
      </p:sp>
      <p:sp>
        <p:nvSpPr>
          <p:cNvPr id="4" name="Text 2"/>
          <p:cNvSpPr/>
          <p:nvPr/>
        </p:nvSpPr>
        <p:spPr>
          <a:xfrm>
            <a:off x="594360" y="1417320"/>
            <a:ext cx="10972800" cy="8229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O urgență de sănătate publică de importanță internațională, cauzată de o boală transmisibilă, devine urgență pandemică numai dacă îndeplinește toate patru condițiile:</a:t>
            </a:r>
            <a:endParaRPr lang="en-US" sz="1700" dirty="0"/>
          </a:p>
        </p:txBody>
      </p:sp>
      <p:sp>
        <p:nvSpPr>
          <p:cNvPr id="5" name="Shape 3"/>
          <p:cNvSpPr/>
          <p:nvPr/>
        </p:nvSpPr>
        <p:spPr>
          <a:xfrm>
            <a:off x="594360" y="2377440"/>
            <a:ext cx="2606040" cy="2103120"/>
          </a:xfrm>
          <a:prstGeom prst="roundRect">
            <a:avLst>
              <a:gd name="adj" fmla="val 3913"/>
            </a:avLst>
          </a:prstGeom>
          <a:solidFill>
            <a:srgbClr val="F4E0E2"/>
          </a:solidFill>
          <a:ln w="12700">
            <a:solidFill>
              <a:srgbClr val="F4E0E2"/>
            </a:solidFill>
            <a:prstDash val="solid"/>
          </a:ln>
        </p:spPr>
        <p:txBody>
          <a:bodyPr/>
          <a:p/>
        </p:txBody>
      </p:sp>
      <p:sp>
        <p:nvSpPr>
          <p:cNvPr id="6" name="Shape 4"/>
          <p:cNvSpPr/>
          <p:nvPr/>
        </p:nvSpPr>
        <p:spPr>
          <a:xfrm>
            <a:off x="777240" y="2514600"/>
            <a:ext cx="420624" cy="420624"/>
          </a:xfrm>
          <a:prstGeom prst="ellipse">
            <a:avLst/>
          </a:prstGeom>
          <a:solidFill>
            <a:srgbClr val="B02532"/>
          </a:solidFill>
          <a:ln/>
        </p:spPr>
        <p:txBody>
          <a:bodyPr/>
          <a:p/>
        </p:txBody>
      </p:sp>
      <p:sp>
        <p:nvSpPr>
          <p:cNvPr id="7" name="Text 5"/>
          <p:cNvSpPr/>
          <p:nvPr/>
        </p:nvSpPr>
        <p:spPr>
          <a:xfrm>
            <a:off x="777240" y="25146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777240" y="3063240"/>
            <a:ext cx="2240280" cy="1371600"/>
          </a:xfrm>
          <a:prstGeom prst="rect">
            <a:avLst/>
          </a:prstGeom>
          <a:noFill/>
          <a:ln/>
        </p:spPr>
        <p:txBody>
          <a:bodyPr wrap="square" lIns="0" tIns="0" rIns="0" bIns="0" rtlCol="0" anchor="t"/>
          <a:lstStyle/>
          <a:p>
            <a:pPr indent="0" marL="0">
              <a:buNone/>
            </a:pPr>
            <a:r>
              <a:rPr lang="en-US" sz="1550" b="1" dirty="0">
                <a:solidFill>
                  <a:srgbClr val="B02532"/>
                </a:solidFill>
                <a:latin typeface="Palatino Linotype" pitchFamily="34" charset="0"/>
                <a:ea typeface="Palatino Linotype" pitchFamily="34" charset="-122"/>
                <a:cs typeface="Palatino Linotype" pitchFamily="34" charset="-120"/>
              </a:rPr>
              <a:t>Se răspândește larg, în și între mai multe state</a:t>
            </a:r>
            <a:endParaRPr lang="en-US" sz="1550" dirty="0"/>
          </a:p>
        </p:txBody>
      </p:sp>
      <p:sp>
        <p:nvSpPr>
          <p:cNvPr id="9" name="Shape 7"/>
          <p:cNvSpPr/>
          <p:nvPr/>
        </p:nvSpPr>
        <p:spPr>
          <a:xfrm>
            <a:off x="3383280" y="2377440"/>
            <a:ext cx="2606040" cy="2103120"/>
          </a:xfrm>
          <a:prstGeom prst="roundRect">
            <a:avLst>
              <a:gd name="adj" fmla="val 3913"/>
            </a:avLst>
          </a:prstGeom>
          <a:solidFill>
            <a:srgbClr val="F6EDD5"/>
          </a:solidFill>
          <a:ln w="12700">
            <a:solidFill>
              <a:srgbClr val="F6EDD5"/>
            </a:solidFill>
            <a:prstDash val="solid"/>
          </a:ln>
        </p:spPr>
        <p:txBody>
          <a:bodyPr/>
          <a:p/>
        </p:txBody>
      </p:sp>
      <p:sp>
        <p:nvSpPr>
          <p:cNvPr id="10" name="Shape 8"/>
          <p:cNvSpPr/>
          <p:nvPr/>
        </p:nvSpPr>
        <p:spPr>
          <a:xfrm>
            <a:off x="3566160" y="2514600"/>
            <a:ext cx="420624" cy="420624"/>
          </a:xfrm>
          <a:prstGeom prst="ellipse">
            <a:avLst/>
          </a:prstGeom>
          <a:solidFill>
            <a:srgbClr val="8A6100"/>
          </a:solidFill>
          <a:ln/>
        </p:spPr>
        <p:txBody>
          <a:bodyPr/>
          <a:p/>
        </p:txBody>
      </p:sp>
      <p:sp>
        <p:nvSpPr>
          <p:cNvPr id="11" name="Text 9"/>
          <p:cNvSpPr/>
          <p:nvPr/>
        </p:nvSpPr>
        <p:spPr>
          <a:xfrm>
            <a:off x="3566160" y="25146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3566160" y="3063240"/>
            <a:ext cx="2240280" cy="1371600"/>
          </a:xfrm>
          <a:prstGeom prst="rect">
            <a:avLst/>
          </a:prstGeom>
          <a:noFill/>
          <a:ln/>
        </p:spPr>
        <p:txBody>
          <a:bodyPr wrap="square" lIns="0" tIns="0" rIns="0" bIns="0" rtlCol="0" anchor="t"/>
          <a:lstStyle/>
          <a:p>
            <a:pPr indent="0" marL="0">
              <a:buNone/>
            </a:pPr>
            <a:r>
              <a:rPr lang="en-US" sz="1550" b="1" dirty="0">
                <a:solidFill>
                  <a:srgbClr val="8A6100"/>
                </a:solidFill>
                <a:latin typeface="Palatino Linotype" pitchFamily="34" charset="0"/>
                <a:ea typeface="Palatino Linotype" pitchFamily="34" charset="-122"/>
                <a:cs typeface="Palatino Linotype" pitchFamily="34" charset="-120"/>
              </a:rPr>
              <a:t>Depășește capacitatea sistemelor de sănătate</a:t>
            </a:r>
            <a:endParaRPr lang="en-US" sz="1550" dirty="0"/>
          </a:p>
        </p:txBody>
      </p:sp>
      <p:sp>
        <p:nvSpPr>
          <p:cNvPr id="13" name="Shape 11"/>
          <p:cNvSpPr/>
          <p:nvPr/>
        </p:nvSpPr>
        <p:spPr>
          <a:xfrm>
            <a:off x="6172200" y="2377440"/>
            <a:ext cx="2606040" cy="2103120"/>
          </a:xfrm>
          <a:prstGeom prst="roundRect">
            <a:avLst>
              <a:gd name="adj" fmla="val 3913"/>
            </a:avLst>
          </a:prstGeom>
          <a:solidFill>
            <a:srgbClr val="E9E3F6"/>
          </a:solidFill>
          <a:ln w="12700">
            <a:solidFill>
              <a:srgbClr val="E9E3F6"/>
            </a:solidFill>
            <a:prstDash val="solid"/>
          </a:ln>
        </p:spPr>
        <p:txBody>
          <a:bodyPr/>
          <a:p/>
        </p:txBody>
      </p:sp>
      <p:sp>
        <p:nvSpPr>
          <p:cNvPr id="14" name="Shape 12"/>
          <p:cNvSpPr/>
          <p:nvPr/>
        </p:nvSpPr>
        <p:spPr>
          <a:xfrm>
            <a:off x="6355080" y="2514600"/>
            <a:ext cx="420624" cy="420624"/>
          </a:xfrm>
          <a:prstGeom prst="ellipse">
            <a:avLst/>
          </a:prstGeom>
          <a:solidFill>
            <a:srgbClr val="4A2D8C"/>
          </a:solidFill>
          <a:ln/>
        </p:spPr>
        <p:txBody>
          <a:bodyPr/>
          <a:p/>
        </p:txBody>
      </p:sp>
      <p:sp>
        <p:nvSpPr>
          <p:cNvPr id="15" name="Text 13"/>
          <p:cNvSpPr/>
          <p:nvPr/>
        </p:nvSpPr>
        <p:spPr>
          <a:xfrm>
            <a:off x="6355080" y="25146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6355080" y="3063240"/>
            <a:ext cx="2240280" cy="1371600"/>
          </a:xfrm>
          <a:prstGeom prst="rect">
            <a:avLst/>
          </a:prstGeom>
          <a:noFill/>
          <a:ln/>
        </p:spPr>
        <p:txBody>
          <a:bodyPr wrap="square" lIns="0" tIns="0" rIns="0" bIns="0" rtlCol="0" anchor="t"/>
          <a:lstStyle/>
          <a:p>
            <a:pPr indent="0" marL="0">
              <a:buNone/>
            </a:pPr>
            <a:r>
              <a:rPr lang="en-US" sz="1550" b="1" dirty="0">
                <a:solidFill>
                  <a:srgbClr val="4A2D8C"/>
                </a:solidFill>
                <a:latin typeface="Palatino Linotype" pitchFamily="34" charset="0"/>
                <a:ea typeface="Palatino Linotype" pitchFamily="34" charset="-122"/>
                <a:cs typeface="Palatino Linotype" pitchFamily="34" charset="-120"/>
              </a:rPr>
              <a:t>Produce perturbări sociale sau economice substanțiale</a:t>
            </a:r>
            <a:endParaRPr lang="en-US" sz="1550" dirty="0"/>
          </a:p>
        </p:txBody>
      </p:sp>
      <p:sp>
        <p:nvSpPr>
          <p:cNvPr id="17" name="Shape 15"/>
          <p:cNvSpPr/>
          <p:nvPr/>
        </p:nvSpPr>
        <p:spPr>
          <a:xfrm>
            <a:off x="8961120" y="2377440"/>
            <a:ext cx="2606040" cy="2103120"/>
          </a:xfrm>
          <a:prstGeom prst="roundRect">
            <a:avLst>
              <a:gd name="adj" fmla="val 3913"/>
            </a:avLst>
          </a:prstGeom>
          <a:solidFill>
            <a:srgbClr val="E1F0EC"/>
          </a:solidFill>
          <a:ln w="12700">
            <a:solidFill>
              <a:srgbClr val="E1F0EC"/>
            </a:solidFill>
            <a:prstDash val="solid"/>
          </a:ln>
        </p:spPr>
        <p:txBody>
          <a:bodyPr/>
          <a:p/>
        </p:txBody>
      </p:sp>
      <p:sp>
        <p:nvSpPr>
          <p:cNvPr id="18" name="Shape 16"/>
          <p:cNvSpPr/>
          <p:nvPr/>
        </p:nvSpPr>
        <p:spPr>
          <a:xfrm>
            <a:off x="9144000" y="2514600"/>
            <a:ext cx="420624" cy="420624"/>
          </a:xfrm>
          <a:prstGeom prst="ellipse">
            <a:avLst/>
          </a:prstGeom>
          <a:solidFill>
            <a:srgbClr val="0E7C6B"/>
          </a:solidFill>
          <a:ln/>
        </p:spPr>
        <p:txBody>
          <a:bodyPr/>
          <a:p/>
        </p:txBody>
      </p:sp>
      <p:sp>
        <p:nvSpPr>
          <p:cNvPr id="19" name="Text 17"/>
          <p:cNvSpPr/>
          <p:nvPr/>
        </p:nvSpPr>
        <p:spPr>
          <a:xfrm>
            <a:off x="9144000" y="25146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9144000" y="3063240"/>
            <a:ext cx="2240280" cy="1371600"/>
          </a:xfrm>
          <a:prstGeom prst="rect">
            <a:avLst/>
          </a:prstGeom>
          <a:noFill/>
          <a:ln/>
        </p:spPr>
        <p:txBody>
          <a:bodyPr wrap="square" lIns="0" tIns="0" rIns="0" bIns="0" rtlCol="0" anchor="t"/>
          <a:lstStyle/>
          <a:p>
            <a:pPr indent="0" marL="0">
              <a:buNone/>
            </a:pPr>
            <a:r>
              <a:rPr lang="en-US" sz="1550" b="1" dirty="0">
                <a:solidFill>
                  <a:srgbClr val="0E7C6B"/>
                </a:solidFill>
                <a:latin typeface="Palatino Linotype" pitchFamily="34" charset="0"/>
                <a:ea typeface="Palatino Linotype" pitchFamily="34" charset="-122"/>
                <a:cs typeface="Palatino Linotype" pitchFamily="34" charset="-120"/>
              </a:rPr>
              <a:t>Cere o acțiune internațională rapidă, echitabilă și coordonată</a:t>
            </a:r>
            <a:endParaRPr lang="en-US" sz="1550" dirty="0"/>
          </a:p>
        </p:txBody>
      </p:sp>
      <p:sp>
        <p:nvSpPr>
          <p:cNvPr id="21" name="Text 19"/>
          <p:cNvSpPr/>
          <p:nvPr/>
        </p:nvSpPr>
        <p:spPr>
          <a:xfrm>
            <a:off x="594360" y="4754880"/>
            <a:ext cx="10972800" cy="82296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Toate patru sunt obligatorii, dar fiecare poate fi îndeplinită și printr-un risc mare, nu numai printr-un fapt deja petrecut.</a:t>
            </a:r>
            <a:endParaRPr lang="en-US" sz="1800" dirty="0"/>
          </a:p>
        </p:txBody>
      </p:sp>
      <p:sp>
        <p:nvSpPr>
          <p:cNvPr id="22" name="Text 20"/>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OMS, amendamentele la Regulamentul Sanitar Internațional, rezoluția WHA77.17 (registru A517).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RAPORTUL OMS DIN 8 OCTOMBRIE 2026</a:t>
            </a:r>
            <a:endParaRPr lang="en-US" sz="1300" dirty="0"/>
          </a:p>
        </p:txBody>
      </p:sp>
      <p:sp>
        <p:nvSpPr>
          <p:cNvPr id="5" name="Text 3"/>
          <p:cNvSpPr/>
          <p:nvPr/>
        </p:nvSpPr>
        <p:spPr>
          <a:xfrm>
            <a:off x="594360" y="713232"/>
            <a:ext cx="7772400" cy="7315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Ebola Bundibugyo, acum</a:t>
            </a:r>
            <a:endParaRPr lang="en-US" sz="3200" dirty="0"/>
          </a:p>
        </p:txBody>
      </p:sp>
      <p:sp>
        <p:nvSpPr>
          <p:cNvPr id="6" name="Shape 4"/>
          <p:cNvSpPr/>
          <p:nvPr/>
        </p:nvSpPr>
        <p:spPr>
          <a:xfrm>
            <a:off x="594360" y="1600200"/>
            <a:ext cx="2514600" cy="1417320"/>
          </a:xfrm>
          <a:prstGeom prst="roundRect">
            <a:avLst>
              <a:gd name="adj" fmla="val 5806"/>
            </a:avLst>
          </a:prstGeom>
          <a:solidFill>
            <a:srgbClr val="272A38"/>
          </a:solidFill>
          <a:ln w="12700">
            <a:solidFill>
              <a:srgbClr val="272A38"/>
            </a:solidFill>
            <a:prstDash val="solid"/>
          </a:ln>
        </p:spPr>
        <p:txBody>
          <a:bodyPr/>
          <a:p/>
        </p:txBody>
      </p:sp>
      <p:sp>
        <p:nvSpPr>
          <p:cNvPr id="7" name="Text 5"/>
          <p:cNvSpPr/>
          <p:nvPr/>
        </p:nvSpPr>
        <p:spPr>
          <a:xfrm>
            <a:off x="868680" y="1709928"/>
            <a:ext cx="1965960" cy="708660"/>
          </a:xfrm>
          <a:prstGeom prst="rect">
            <a:avLst/>
          </a:prstGeom>
          <a:noFill/>
          <a:ln/>
        </p:spPr>
        <p:txBody>
          <a:bodyPr wrap="square" lIns="0" tIns="0" rIns="0" bIns="0" rtlCol="0" anchor="ctr"/>
          <a:lstStyle/>
          <a:p>
            <a:pPr indent="0" marL="0">
              <a:buNone/>
            </a:pPr>
            <a:r>
              <a:rPr lang="en-US" sz="3200" b="1" dirty="0">
                <a:solidFill>
                  <a:srgbClr val="FF4757"/>
                </a:solidFill>
                <a:latin typeface="Palatino Linotype" pitchFamily="34" charset="0"/>
                <a:ea typeface="Palatino Linotype" pitchFamily="34" charset="-122"/>
                <a:cs typeface="Palatino Linotype" pitchFamily="34" charset="-120"/>
              </a:rPr>
              <a:t>8 728</a:t>
            </a:r>
            <a:endParaRPr lang="en-US" sz="3200" dirty="0"/>
          </a:p>
        </p:txBody>
      </p:sp>
      <p:sp>
        <p:nvSpPr>
          <p:cNvPr id="8" name="Text 6"/>
          <p:cNvSpPr/>
          <p:nvPr/>
        </p:nvSpPr>
        <p:spPr>
          <a:xfrm>
            <a:off x="868680" y="2327148"/>
            <a:ext cx="1965960" cy="651967"/>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cazuri confirmate</a:t>
            </a:r>
            <a:endParaRPr lang="en-US" sz="1400" dirty="0"/>
          </a:p>
        </p:txBody>
      </p:sp>
      <p:sp>
        <p:nvSpPr>
          <p:cNvPr id="9" name="Shape 7"/>
          <p:cNvSpPr/>
          <p:nvPr/>
        </p:nvSpPr>
        <p:spPr>
          <a:xfrm>
            <a:off x="3246120" y="1600200"/>
            <a:ext cx="2514600" cy="1417320"/>
          </a:xfrm>
          <a:prstGeom prst="roundRect">
            <a:avLst>
              <a:gd name="adj" fmla="val 5806"/>
            </a:avLst>
          </a:prstGeom>
          <a:solidFill>
            <a:srgbClr val="272A38"/>
          </a:solidFill>
          <a:ln w="12700">
            <a:solidFill>
              <a:srgbClr val="272A38"/>
            </a:solidFill>
            <a:prstDash val="solid"/>
          </a:ln>
        </p:spPr>
        <p:txBody>
          <a:bodyPr/>
          <a:p/>
        </p:txBody>
      </p:sp>
      <p:sp>
        <p:nvSpPr>
          <p:cNvPr id="10" name="Text 8"/>
          <p:cNvSpPr/>
          <p:nvPr/>
        </p:nvSpPr>
        <p:spPr>
          <a:xfrm>
            <a:off x="3520440" y="1709928"/>
            <a:ext cx="1965960" cy="708660"/>
          </a:xfrm>
          <a:prstGeom prst="rect">
            <a:avLst/>
          </a:prstGeom>
          <a:noFill/>
          <a:ln/>
        </p:spPr>
        <p:txBody>
          <a:bodyPr wrap="square" lIns="0" tIns="0" rIns="0" bIns="0" rtlCol="0" anchor="ctr"/>
          <a:lstStyle/>
          <a:p>
            <a:pPr indent="0" marL="0">
              <a:buNone/>
            </a:pPr>
            <a:r>
              <a:rPr lang="en-US" sz="3200" b="1" dirty="0">
                <a:solidFill>
                  <a:srgbClr val="FF4757"/>
                </a:solidFill>
                <a:latin typeface="Palatino Linotype" pitchFamily="34" charset="0"/>
                <a:ea typeface="Palatino Linotype" pitchFamily="34" charset="-122"/>
                <a:cs typeface="Palatino Linotype" pitchFamily="34" charset="-120"/>
              </a:rPr>
              <a:t>4 205</a:t>
            </a:r>
            <a:endParaRPr lang="en-US" sz="3200" dirty="0"/>
          </a:p>
        </p:txBody>
      </p:sp>
      <p:sp>
        <p:nvSpPr>
          <p:cNvPr id="11" name="Text 9"/>
          <p:cNvSpPr/>
          <p:nvPr/>
        </p:nvSpPr>
        <p:spPr>
          <a:xfrm>
            <a:off x="3520440" y="2327148"/>
            <a:ext cx="1965960" cy="651967"/>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decese confirmate</a:t>
            </a:r>
            <a:endParaRPr lang="en-US" sz="1400" dirty="0"/>
          </a:p>
        </p:txBody>
      </p:sp>
      <p:sp>
        <p:nvSpPr>
          <p:cNvPr id="12" name="Shape 10"/>
          <p:cNvSpPr/>
          <p:nvPr/>
        </p:nvSpPr>
        <p:spPr>
          <a:xfrm>
            <a:off x="5897880" y="1600200"/>
            <a:ext cx="2377440" cy="1417320"/>
          </a:xfrm>
          <a:prstGeom prst="roundRect">
            <a:avLst>
              <a:gd name="adj" fmla="val 5806"/>
            </a:avLst>
          </a:prstGeom>
          <a:solidFill>
            <a:srgbClr val="272A38"/>
          </a:solidFill>
          <a:ln w="12700">
            <a:solidFill>
              <a:srgbClr val="272A38"/>
            </a:solidFill>
            <a:prstDash val="solid"/>
          </a:ln>
        </p:spPr>
        <p:txBody>
          <a:bodyPr/>
          <a:p/>
        </p:txBody>
      </p:sp>
      <p:sp>
        <p:nvSpPr>
          <p:cNvPr id="13" name="Text 11"/>
          <p:cNvSpPr/>
          <p:nvPr/>
        </p:nvSpPr>
        <p:spPr>
          <a:xfrm>
            <a:off x="6172200" y="1709928"/>
            <a:ext cx="1828800" cy="708660"/>
          </a:xfrm>
          <a:prstGeom prst="rect">
            <a:avLst/>
          </a:prstGeom>
          <a:noFill/>
          <a:ln/>
        </p:spPr>
        <p:txBody>
          <a:bodyPr wrap="square" lIns="0" tIns="0" rIns="0" bIns="0" rtlCol="0" anchor="ctr"/>
          <a:lstStyle/>
          <a:p>
            <a:pPr indent="0" marL="0">
              <a:buNone/>
            </a:pPr>
            <a:r>
              <a:rPr lang="en-US" sz="3200" b="1" dirty="0">
                <a:solidFill>
                  <a:srgbClr val="27D3BE"/>
                </a:solidFill>
                <a:latin typeface="Palatino Linotype" pitchFamily="34" charset="0"/>
                <a:ea typeface="Palatino Linotype" pitchFamily="34" charset="-122"/>
                <a:cs typeface="Palatino Linotype" pitchFamily="34" charset="-120"/>
              </a:rPr>
              <a:t>48,2%</a:t>
            </a:r>
            <a:endParaRPr lang="en-US" sz="3200" dirty="0"/>
          </a:p>
        </p:txBody>
      </p:sp>
      <p:sp>
        <p:nvSpPr>
          <p:cNvPr id="14" name="Text 12"/>
          <p:cNvSpPr/>
          <p:nvPr/>
        </p:nvSpPr>
        <p:spPr>
          <a:xfrm>
            <a:off x="6172200" y="2327148"/>
            <a:ext cx="1828800" cy="651967"/>
          </a:xfrm>
          <a:prstGeom prst="rect">
            <a:avLst/>
          </a:prstGeom>
          <a:noFill/>
          <a:ln/>
        </p:spPr>
        <p:txBody>
          <a:bodyPr wrap="square" lIns="0" tIns="0" rIns="0" bIns="0" rtlCol="0" anchor="t"/>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letalitate brută</a:t>
            </a:r>
            <a:endParaRPr lang="en-US" sz="1400" dirty="0"/>
          </a:p>
        </p:txBody>
      </p:sp>
      <p:sp>
        <p:nvSpPr>
          <p:cNvPr id="15" name="Text 13"/>
          <p:cNvSpPr/>
          <p:nvPr/>
        </p:nvSpPr>
        <p:spPr>
          <a:xfrm>
            <a:off x="594360" y="3154680"/>
            <a:ext cx="7680960" cy="914400"/>
          </a:xfrm>
          <a:prstGeom prst="rect">
            <a:avLst/>
          </a:prstGeom>
          <a:noFill/>
          <a:ln/>
        </p:spPr>
        <p:txBody>
          <a:bodyPr wrap="square" lIns="0" tIns="0" rIns="0" bIns="0" rtlCol="0" anchor="t"/>
          <a:lstStyle/>
          <a:p>
            <a:pPr indent="0" marL="0">
              <a:buNone/>
            </a:pPr>
            <a:r>
              <a:rPr lang="en-US" sz="1450" dirty="0">
                <a:solidFill>
                  <a:srgbClr val="959BB0"/>
                </a:solidFill>
                <a:latin typeface="Palatino Linotype" pitchFamily="34" charset="0"/>
                <a:ea typeface="Palatino Linotype" pitchFamily="34" charset="-122"/>
                <a:cs typeface="Palatino Linotype" pitchFamily="34" charset="-120"/>
              </a:rPr>
              <a:t>Republica Democratică Congo, la 6 octombrie. Epidemia din Republica Democratică Congo și Uganda a fost declarată urgență de sănătate publică de importanță internațională.</a:t>
            </a:r>
            <a:endParaRPr lang="en-US" sz="1450" dirty="0"/>
          </a:p>
        </p:txBody>
      </p:sp>
      <p:sp>
        <p:nvSpPr>
          <p:cNvPr id="16" name="Text 14"/>
          <p:cNvSpPr/>
          <p:nvPr/>
        </p:nvSpPr>
        <p:spPr>
          <a:xfrm>
            <a:off x="594360" y="4114800"/>
            <a:ext cx="7680960" cy="685800"/>
          </a:xfrm>
          <a:prstGeom prst="rect">
            <a:avLst/>
          </a:prstGeom>
          <a:noFill/>
          <a:ln/>
        </p:spPr>
        <p:txBody>
          <a:bodyPr wrap="square" lIns="0" tIns="0" rIns="0" bIns="0" rtlCol="0" anchor="t"/>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Câte dintre cele patru condiții ale urgenței pandemice vi se par îndeplinite?</a:t>
            </a:r>
            <a:endParaRPr lang="en-US" sz="1800" dirty="0"/>
          </a:p>
        </p:txBody>
      </p:sp>
      <p:sp>
        <p:nvSpPr>
          <p:cNvPr id="17" name="Text 15"/>
          <p:cNvSpPr/>
          <p:nvPr/>
        </p:nvSpPr>
        <p:spPr>
          <a:xfrm>
            <a:off x="594360" y="4846320"/>
            <a:ext cx="7680960" cy="41148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Niciuna · Una sau două · Trei · Toate patru</a:t>
            </a:r>
            <a:endParaRPr lang="en-US" sz="1700" dirty="0"/>
          </a:p>
        </p:txBody>
      </p:sp>
      <p:sp>
        <p:nvSpPr>
          <p:cNvPr id="18" name="Text 16"/>
          <p:cNvSpPr/>
          <p:nvPr/>
        </p:nvSpPr>
        <p:spPr>
          <a:xfrm>
            <a:off x="594360" y="5349240"/>
            <a:ext cx="7680960" cy="45720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Apoi un minut în chat: ce informație v-ar lipsi ca să decideți?</a:t>
            </a:r>
            <a:endParaRPr lang="en-US" sz="1500" dirty="0"/>
          </a:p>
        </p:txBody>
      </p:sp>
      <p:sp>
        <p:nvSpPr>
          <p:cNvPr id="19" name="Shape 17"/>
          <p:cNvSpPr/>
          <p:nvPr/>
        </p:nvSpPr>
        <p:spPr>
          <a:xfrm>
            <a:off x="8503920" y="1600200"/>
            <a:ext cx="3063240" cy="3063240"/>
          </a:xfrm>
          <a:prstGeom prst="roundRect">
            <a:avLst>
              <a:gd name="adj" fmla="val 2687"/>
            </a:avLst>
          </a:prstGeom>
          <a:solidFill>
            <a:srgbClr val="FFFFFF"/>
          </a:solidFill>
          <a:ln w="12700">
            <a:solidFill>
              <a:srgbClr val="FFFFFF"/>
            </a:solidFill>
            <a:prstDash val="solid"/>
          </a:ln>
        </p:spPr>
        <p:txBody>
          <a:bodyPr/>
          <a:p/>
        </p:txBody>
      </p:sp>
      <p:sp>
        <p:nvSpPr>
          <p:cNvPr id="21" name="Text 19"/>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OMS, raportul despre focar din 8 octombrie 2026 și pagina focarului (registru A519, A520).</a:t>
            </a:r>
            <a:endParaRPr lang="en-US" sz="900" dirty="0"/>
          </a:p>
        </p:txBody>
      </p:sp>
      <p:pic>
        <p:nvPicPr>
          <p:cNvPr id="22" name="Picture 21" descr="Mentimeter_OPT_DETECTIVI_C03.png"/>
          <p:cNvPicPr>
            <a:picLocks noChangeAspect="1"/>
          </p:cNvPicPr>
          <p:nvPr/>
        </p:nvPicPr>
        <p:blipFill>
          <a:blip r:embed="rId3"/>
          <a:stretch>
            <a:fillRect/>
          </a:stretch>
        </p:blipFill>
        <p:spPr>
          <a:xfrm>
            <a:off x="8817610" y="1600200"/>
            <a:ext cx="2435860" cy="2435860"/>
          </a:xfrm>
          <a:prstGeom prst="rect">
            <a:avLst/>
          </a:prstGeom>
        </p:spPr>
      </p:pic>
      <p:sp>
        <p:nvSpPr>
          <p:cNvPr id="23" name="TextBox 22"/>
          <p:cNvSpPr txBox="1"/>
          <p:nvPr/>
        </p:nvSpPr>
        <p:spPr>
          <a:xfrm>
            <a:off x="8503920" y="4074160"/>
            <a:ext cx="306324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CUVÂNTUL CARE SE REPETĂ ÎN RAPORT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„Confirmate”</a:t>
            </a:r>
            <a:endParaRPr lang="en-US" sz="3400" dirty="0"/>
          </a:p>
        </p:txBody>
      </p:sp>
      <p:sp>
        <p:nvSpPr>
          <p:cNvPr id="4" name="Text 2"/>
          <p:cNvSpPr/>
          <p:nvPr/>
        </p:nvSpPr>
        <p:spPr>
          <a:xfrm>
            <a:off x="594360" y="1417320"/>
            <a:ext cx="10972800" cy="8229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Letalitatea brută, de 48,2%, poate greși în ambele sensuri. Prea mare, ca la MERS, dacă cei gravi ajung mai des să fie testați. Sau prea mică:</a:t>
            </a:r>
            <a:endParaRPr lang="en-US" sz="1700" dirty="0"/>
          </a:p>
        </p:txBody>
      </p:sp>
      <p:sp>
        <p:nvSpPr>
          <p:cNvPr id="5" name="Shape 3"/>
          <p:cNvSpPr/>
          <p:nvPr/>
        </p:nvSpPr>
        <p:spPr>
          <a:xfrm>
            <a:off x="594360" y="2468880"/>
            <a:ext cx="5249930" cy="731520"/>
          </a:xfrm>
          <a:prstGeom prst="rect">
            <a:avLst/>
          </a:prstGeom>
          <a:solidFill>
            <a:srgbClr val="B02532"/>
          </a:solidFill>
          <a:ln w="12700">
            <a:solidFill>
              <a:srgbClr val="B02532"/>
            </a:solidFill>
            <a:prstDash val="solid"/>
          </a:ln>
        </p:spPr>
        <p:txBody>
          <a:bodyPr/>
          <a:p/>
        </p:txBody>
      </p:sp>
      <p:sp>
        <p:nvSpPr>
          <p:cNvPr id="6" name="Text 4"/>
          <p:cNvSpPr/>
          <p:nvPr/>
        </p:nvSpPr>
        <p:spPr>
          <a:xfrm>
            <a:off x="594360" y="3291840"/>
            <a:ext cx="5195066" cy="640080"/>
          </a:xfrm>
          <a:prstGeom prst="rect">
            <a:avLst/>
          </a:prstGeom>
          <a:noFill/>
          <a:ln/>
        </p:spPr>
        <p:txBody>
          <a:bodyPr wrap="square" lIns="0" tIns="0" rIns="0" bIns="0" rtlCol="0" anchor="t"/>
          <a:lstStyle/>
          <a:p>
            <a:pPr indent="0" marL="0">
              <a:buNone/>
            </a:pPr>
            <a:r>
              <a:rPr lang="en-US" sz="1500" b="1" dirty="0">
                <a:solidFill>
                  <a:srgbClr val="B02532"/>
                </a:solidFill>
                <a:latin typeface="Palatino Linotype" pitchFamily="34" charset="0"/>
                <a:ea typeface="Palatino Linotype" pitchFamily="34" charset="-122"/>
                <a:cs typeface="Palatino Linotype" pitchFamily="34" charset="-120"/>
              </a:rPr>
              <a:t>4 205 muriseră</a:t>
            </a:r>
            <a:endParaRPr lang="en-US" sz="1500" dirty="0"/>
          </a:p>
        </p:txBody>
      </p:sp>
      <p:sp>
        <p:nvSpPr>
          <p:cNvPr id="7" name="Shape 5"/>
          <p:cNvSpPr/>
          <p:nvPr/>
        </p:nvSpPr>
        <p:spPr>
          <a:xfrm>
            <a:off x="5880866" y="2468880"/>
            <a:ext cx="2816000" cy="731520"/>
          </a:xfrm>
          <a:prstGeom prst="rect">
            <a:avLst/>
          </a:prstGeom>
          <a:solidFill>
            <a:srgbClr val="0E7C6B"/>
          </a:solidFill>
          <a:ln w="12700">
            <a:solidFill>
              <a:srgbClr val="0E7C6B"/>
            </a:solidFill>
            <a:prstDash val="solid"/>
          </a:ln>
        </p:spPr>
        <p:txBody>
          <a:bodyPr/>
          <a:p/>
        </p:txBody>
      </p:sp>
      <p:sp>
        <p:nvSpPr>
          <p:cNvPr id="8" name="Text 6"/>
          <p:cNvSpPr/>
          <p:nvPr/>
        </p:nvSpPr>
        <p:spPr>
          <a:xfrm>
            <a:off x="5880866" y="3291840"/>
            <a:ext cx="2761136" cy="640080"/>
          </a:xfrm>
          <a:prstGeom prst="rect">
            <a:avLst/>
          </a:prstGeom>
          <a:noFill/>
          <a:ln/>
        </p:spPr>
        <p:txBody>
          <a:bodyPr wrap="square" lIns="0" tIns="0" rIns="0" bIns="0" rtlCol="0" anchor="t"/>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2 269 se vindecaseră</a:t>
            </a:r>
            <a:endParaRPr lang="en-US" sz="1500" dirty="0"/>
          </a:p>
        </p:txBody>
      </p:sp>
      <p:sp>
        <p:nvSpPr>
          <p:cNvPr id="9" name="Shape 7"/>
          <p:cNvSpPr/>
          <p:nvPr/>
        </p:nvSpPr>
        <p:spPr>
          <a:xfrm>
            <a:off x="8733442" y="2468880"/>
            <a:ext cx="2797142" cy="731520"/>
          </a:xfrm>
          <a:prstGeom prst="rect">
            <a:avLst/>
          </a:prstGeom>
          <a:solidFill>
            <a:srgbClr val="8A6100"/>
          </a:solidFill>
          <a:ln w="12700">
            <a:solidFill>
              <a:srgbClr val="8A6100"/>
            </a:solidFill>
            <a:prstDash val="solid"/>
          </a:ln>
        </p:spPr>
        <p:txBody>
          <a:bodyPr/>
          <a:p/>
        </p:txBody>
      </p:sp>
      <p:sp>
        <p:nvSpPr>
          <p:cNvPr id="10" name="Text 8"/>
          <p:cNvSpPr/>
          <p:nvPr/>
        </p:nvSpPr>
        <p:spPr>
          <a:xfrm>
            <a:off x="8733442" y="3291840"/>
            <a:ext cx="2742278" cy="640080"/>
          </a:xfrm>
          <a:prstGeom prst="rect">
            <a:avLst/>
          </a:prstGeom>
          <a:noFill/>
          <a:ln/>
        </p:spPr>
        <p:txBody>
          <a:bodyPr wrap="square" lIns="0" tIns="0" rIns="0" bIns="0" rtlCol="0" anchor="t"/>
          <a:lstStyle/>
          <a:p>
            <a:pPr indent="0" marL="0">
              <a:buNone/>
            </a:pPr>
            <a:r>
              <a:rPr lang="en-US" sz="1500" b="1" dirty="0">
                <a:solidFill>
                  <a:srgbClr val="8A6100"/>
                </a:solidFill>
                <a:latin typeface="Palatino Linotype" pitchFamily="34" charset="0"/>
                <a:ea typeface="Palatino Linotype" pitchFamily="34" charset="-122"/>
                <a:cs typeface="Palatino Linotype" pitchFamily="34" charset="-120"/>
              </a:rPr>
              <a:t>2 254 fără deznodământ raportat</a:t>
            </a:r>
            <a:endParaRPr lang="en-US" sz="1500" dirty="0"/>
          </a:p>
        </p:txBody>
      </p:sp>
      <p:sp>
        <p:nvSpPr>
          <p:cNvPr id="11" name="Text 9"/>
          <p:cNvSpPr/>
          <p:nvPr/>
        </p:nvSpPr>
        <p:spPr>
          <a:xfrm>
            <a:off x="594360" y="3931920"/>
            <a:ext cx="10972800" cy="36576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din cei 8 728 de confirmați</a:t>
            </a:r>
            <a:endParaRPr lang="en-US" sz="1400" dirty="0"/>
          </a:p>
        </p:txBody>
      </p:sp>
      <p:sp>
        <p:nvSpPr>
          <p:cNvPr id="12" name="Shape 10"/>
          <p:cNvSpPr/>
          <p:nvPr/>
        </p:nvSpPr>
        <p:spPr>
          <a:xfrm>
            <a:off x="594360" y="4480560"/>
            <a:ext cx="10972800" cy="1417320"/>
          </a:xfrm>
          <a:prstGeom prst="roundRect">
            <a:avLst>
              <a:gd name="adj" fmla="val 5806"/>
            </a:avLst>
          </a:prstGeom>
          <a:solidFill>
            <a:srgbClr val="11121A"/>
          </a:solidFill>
          <a:ln w="12700">
            <a:solidFill>
              <a:srgbClr val="11121A"/>
            </a:solidFill>
            <a:prstDash val="solid"/>
          </a:ln>
        </p:spPr>
        <p:txBody>
          <a:bodyPr/>
          <a:p/>
        </p:txBody>
      </p:sp>
      <p:sp>
        <p:nvSpPr>
          <p:cNvPr id="13" name="Text 11"/>
          <p:cNvSpPr/>
          <p:nvPr/>
        </p:nvSpPr>
        <p:spPr>
          <a:xfrm>
            <a:off x="914400" y="4480560"/>
            <a:ext cx="10332720" cy="141732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Cei fără deznodământ sunt deja în numitor; cei care vor muri în zilele următoare nu sunt încă în numărător. Câți bolnavi a avut în realitate focarul nu se poate spune din raport.</a:t>
            </a:r>
            <a:endParaRPr lang="en-US" sz="1700" dirty="0"/>
          </a:p>
        </p:txBody>
      </p:sp>
      <p:sp>
        <p:nvSpPr>
          <p:cNvPr id="14" name="Text 12"/>
          <p:cNvSpPr/>
          <p:nvPr/>
        </p:nvSpPr>
        <p:spPr>
          <a:xfrm>
            <a:off x="594360" y="6382512"/>
            <a:ext cx="950976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OMS, raportul din 8 octombrie 2026 (registru A519, A527, A528).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RECAPITULARE</a:t>
            </a:r>
            <a:endParaRPr lang="en-US" sz="1300" dirty="0"/>
          </a:p>
        </p:txBody>
      </p:sp>
      <p:sp>
        <p:nvSpPr>
          <p:cNvPr id="5" name="Text 3"/>
          <p:cNvSpPr/>
          <p:nvPr/>
        </p:nvSpPr>
        <p:spPr>
          <a:xfrm>
            <a:off x="594360" y="1280160"/>
            <a:ext cx="10972800" cy="91440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Zece întrebări din poveștile de azi</a:t>
            </a:r>
            <a:endParaRPr lang="en-US" sz="40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jocului.</a:t>
            </a:r>
            <a:endParaRPr lang="en-US" sz="2200" dirty="0"/>
          </a:p>
        </p:txBody>
      </p:sp>
      <p:sp>
        <p:nvSpPr>
          <p:cNvPr id="7" name="Shape 5"/>
          <p:cNvSpPr/>
          <p:nvPr/>
        </p:nvSpPr>
        <p:spPr>
          <a:xfrm>
            <a:off x="594360" y="3200400"/>
            <a:ext cx="5486400" cy="2011680"/>
          </a:xfrm>
          <a:prstGeom prst="roundRect">
            <a:avLst>
              <a:gd name="adj" fmla="val 4091"/>
            </a:avLst>
          </a:prstGeom>
          <a:solidFill>
            <a:srgbClr val="272A38"/>
          </a:solidFill>
          <a:ln w="12700">
            <a:solidFill>
              <a:srgbClr val="272A38"/>
            </a:solidFill>
            <a:prstDash val="solid"/>
          </a:ln>
        </p:spPr>
        <p:txBody>
          <a:bodyPr/>
          <a:p/>
        </p:txBody>
      </p:sp>
      <p:sp>
        <p:nvSpPr>
          <p:cNvPr id="8" name="Text 6"/>
          <p:cNvSpPr/>
          <p:nvPr/>
        </p:nvSpPr>
        <p:spPr>
          <a:xfrm>
            <a:off x="594360" y="3200400"/>
            <a:ext cx="5486400" cy="2011680"/>
          </a:xfrm>
          <a:prstGeom prst="rect">
            <a:avLst/>
          </a:prstGeom>
          <a:noFill/>
          <a:ln/>
        </p:spPr>
        <p:txBody>
          <a:bodyPr wrap="square" lIns="228600" tIns="0" rIns="228600" bIns="0" rtlCol="0" anchor="ctr"/>
          <a:lstStyle/>
          <a:p>
            <a:pPr algn="ctr" indent="0" marL="0">
              <a:buNone/>
            </a:pPr>
            <a:r>
              <a:rPr lang="en-US" sz="1800" dirty="0" i="1">
                <a:solidFill>
                  <a:srgbClr val="959BB0"/>
                </a:solidFill>
                <a:latin typeface="Palatino Linotype" pitchFamily="34" charset="0"/>
                <a:ea typeface="Palatino Linotype" pitchFamily="34" charset="-122"/>
                <a:cs typeface="Palatino Linotype" pitchFamily="34" charset="-120"/>
              </a:rPr>
              <a:t>Kahoot: intrați pe kahoot.it cu PIN-ul afișat pe ecran.</a:t>
            </a:r>
            <a:endParaRPr lang="en-US" sz="1800" dirty="0"/>
          </a:p>
        </p:txBody>
      </p:sp>
      <p:sp>
        <p:nvSpPr>
          <p:cNvPr id="9" name="Text 7"/>
          <p:cNvSpPr/>
          <p:nvPr/>
        </p:nvSpPr>
        <p:spPr>
          <a:xfrm>
            <a:off x="6400800" y="3200400"/>
            <a:ext cx="5166360" cy="201168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Rezultatul nu se notează; arată ce s-a reținut din ședință.</a:t>
            </a:r>
            <a:endParaRPr lang="en-US" sz="1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 PRACTICĂ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Ce faceți diferit de mâine</a:t>
            </a:r>
            <a:endParaRPr lang="en-US" sz="3100" dirty="0"/>
          </a:p>
        </p:txBody>
      </p:sp>
      <p:sp>
        <p:nvSpPr>
          <p:cNvPr id="4" name="Shape 2"/>
          <p:cNvSpPr/>
          <p:nvPr/>
        </p:nvSpPr>
        <p:spPr>
          <a:xfrm>
            <a:off x="594360" y="164592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5" name="Shape 3"/>
          <p:cNvSpPr/>
          <p:nvPr/>
        </p:nvSpPr>
        <p:spPr>
          <a:xfrm>
            <a:off x="868680" y="1801368"/>
            <a:ext cx="420624" cy="420624"/>
          </a:xfrm>
          <a:prstGeom prst="ellipse">
            <a:avLst/>
          </a:prstGeom>
          <a:solidFill>
            <a:srgbClr val="FF4757"/>
          </a:solidFill>
          <a:ln/>
        </p:spPr>
        <p:txBody>
          <a:bodyPr/>
          <a:p/>
        </p:txBody>
      </p:sp>
      <p:sp>
        <p:nvSpPr>
          <p:cNvPr id="6" name="Text 4"/>
          <p:cNvSpPr/>
          <p:nvPr/>
        </p:nvSpPr>
        <p:spPr>
          <a:xfrm>
            <a:off x="868680" y="180136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08760" y="1645920"/>
            <a:ext cx="987552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O cifră despre o boală: cine trebuia să fie văzut, și de către cine, ca să intre în ea?</a:t>
            </a:r>
            <a:endParaRPr lang="en-US" sz="1700" dirty="0"/>
          </a:p>
        </p:txBody>
      </p:sp>
      <p:sp>
        <p:nvSpPr>
          <p:cNvPr id="8" name="Shape 6"/>
          <p:cNvSpPr/>
          <p:nvPr/>
        </p:nvSpPr>
        <p:spPr>
          <a:xfrm>
            <a:off x="594360" y="2487168"/>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9" name="Shape 7"/>
          <p:cNvSpPr/>
          <p:nvPr/>
        </p:nvSpPr>
        <p:spPr>
          <a:xfrm>
            <a:off x="868680" y="2642616"/>
            <a:ext cx="420624" cy="420624"/>
          </a:xfrm>
          <a:prstGeom prst="ellipse">
            <a:avLst/>
          </a:prstGeom>
          <a:solidFill>
            <a:srgbClr val="FF4757"/>
          </a:solidFill>
          <a:ln/>
        </p:spPr>
        <p:txBody>
          <a:bodyPr/>
          <a:p/>
        </p:txBody>
      </p:sp>
      <p:sp>
        <p:nvSpPr>
          <p:cNvPr id="10" name="Text 8"/>
          <p:cNvSpPr/>
          <p:nvPr/>
        </p:nvSpPr>
        <p:spPr>
          <a:xfrm>
            <a:off x="868680" y="2642616"/>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508760" y="2487168"/>
            <a:ext cx="987552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Bolnavi după o masă comună: spuneți-i medicului că mai sunt și alți colegi bolnavi.</a:t>
            </a:r>
            <a:endParaRPr lang="en-US" sz="1700" dirty="0"/>
          </a:p>
        </p:txBody>
      </p:sp>
      <p:sp>
        <p:nvSpPr>
          <p:cNvPr id="12" name="Shape 10"/>
          <p:cNvSpPr/>
          <p:nvPr/>
        </p:nvSpPr>
        <p:spPr>
          <a:xfrm>
            <a:off x="594360" y="3328416"/>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13" name="Shape 11"/>
          <p:cNvSpPr/>
          <p:nvPr/>
        </p:nvSpPr>
        <p:spPr>
          <a:xfrm>
            <a:off x="868680" y="3483864"/>
            <a:ext cx="420624" cy="420624"/>
          </a:xfrm>
          <a:prstGeom prst="ellipse">
            <a:avLst/>
          </a:prstGeom>
          <a:solidFill>
            <a:srgbClr val="FF4757"/>
          </a:solidFill>
          <a:ln/>
        </p:spPr>
        <p:txBody>
          <a:bodyPr/>
          <a:p/>
        </p:txBody>
      </p:sp>
      <p:sp>
        <p:nvSpPr>
          <p:cNvPr id="14" name="Text 12"/>
          <p:cNvSpPr/>
          <p:nvPr/>
        </p:nvSpPr>
        <p:spPr>
          <a:xfrm>
            <a:off x="868680" y="348386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508760" y="3328416"/>
            <a:ext cx="987552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 diagnostic de boală cu declarare obligatorie: trimiteți fișa de declarare.</a:t>
            </a:r>
            <a:endParaRPr lang="en-US" sz="1700" dirty="0"/>
          </a:p>
        </p:txBody>
      </p:sp>
      <p:sp>
        <p:nvSpPr>
          <p:cNvPr id="16" name="Shape 14"/>
          <p:cNvSpPr/>
          <p:nvPr/>
        </p:nvSpPr>
        <p:spPr>
          <a:xfrm>
            <a:off x="594360" y="4169664"/>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17" name="Shape 15"/>
          <p:cNvSpPr/>
          <p:nvPr/>
        </p:nvSpPr>
        <p:spPr>
          <a:xfrm>
            <a:off x="868680" y="4325112"/>
            <a:ext cx="420624" cy="420624"/>
          </a:xfrm>
          <a:prstGeom prst="ellipse">
            <a:avLst/>
          </a:prstGeom>
          <a:solidFill>
            <a:srgbClr val="FF4757"/>
          </a:solidFill>
          <a:ln/>
        </p:spPr>
        <p:txBody>
          <a:bodyPr/>
          <a:p/>
        </p:txBody>
      </p:sp>
      <p:sp>
        <p:nvSpPr>
          <p:cNvPr id="18" name="Text 16"/>
          <p:cNvSpPr/>
          <p:nvPr/>
        </p:nvSpPr>
        <p:spPr>
          <a:xfrm>
            <a:off x="868680" y="432511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508760" y="4169664"/>
            <a:ext cx="987552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 certificat de deces: scrieți lanțul întreg; pe ultimul rând, boala care a pornit totul.</a:t>
            </a:r>
            <a:endParaRPr lang="en-US" sz="1700" dirty="0"/>
          </a:p>
        </p:txBody>
      </p:sp>
      <p:sp>
        <p:nvSpPr>
          <p:cNvPr id="20" name="Shape 18"/>
          <p:cNvSpPr/>
          <p:nvPr/>
        </p:nvSpPr>
        <p:spPr>
          <a:xfrm>
            <a:off x="594360" y="5010912"/>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21" name="Shape 19"/>
          <p:cNvSpPr/>
          <p:nvPr/>
        </p:nvSpPr>
        <p:spPr>
          <a:xfrm>
            <a:off x="868680" y="5166360"/>
            <a:ext cx="420624" cy="420624"/>
          </a:xfrm>
          <a:prstGeom prst="ellipse">
            <a:avLst/>
          </a:prstGeom>
          <a:solidFill>
            <a:srgbClr val="FF4757"/>
          </a:solidFill>
          <a:ln/>
        </p:spPr>
        <p:txBody>
          <a:bodyPr/>
          <a:p/>
        </p:txBody>
      </p:sp>
      <p:sp>
        <p:nvSpPr>
          <p:cNvPr id="22" name="Text 20"/>
          <p:cNvSpPr/>
          <p:nvPr/>
        </p:nvSpPr>
        <p:spPr>
          <a:xfrm>
            <a:off x="868680" y="516636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508760" y="5010912"/>
            <a:ext cx="987552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Două cifre despre aceeași pandemie: nu „care e adevărată?”, ci „ce a numărat fiecare?”.</a:t>
            </a:r>
            <a:endParaRPr lang="en-US" sz="1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Biletul de ieșire</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6" name="Text 14"/>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Luni, pe pagina cursului, veți găsi două modificări făcute pe baza răspunsurilor.</a:t>
            </a:r>
            <a:endParaRPr lang="en-US" sz="1700" dirty="0"/>
          </a:p>
        </p:txBody>
      </p:sp>
      <p:pic>
        <p:nvPicPr>
          <p:cNvPr id="17" name="Picture 16" descr="Mentimeter_OPT_DETECTIVI_C03.png"/>
          <p:cNvPicPr>
            <a:picLocks noChangeAspect="1"/>
          </p:cNvPicPr>
          <p:nvPr/>
        </p:nvPicPr>
        <p:blipFill>
          <a:blip r:embed="rId3"/>
          <a:stretch>
            <a:fillRect/>
          </a:stretch>
        </p:blipFill>
        <p:spPr>
          <a:xfrm>
            <a:off x="9137650" y="2514600"/>
            <a:ext cx="1841500" cy="1841500"/>
          </a:xfrm>
          <a:prstGeom prst="rect">
            <a:avLst/>
          </a:prstGeom>
        </p:spPr>
      </p:pic>
      <p:sp>
        <p:nvSpPr>
          <p:cNvPr id="18" name="TextBox 17"/>
          <p:cNvSpPr txBox="1"/>
          <p:nvPr/>
        </p:nvSpPr>
        <p:spPr>
          <a:xfrm>
            <a:off x="8549640" y="4394200"/>
            <a:ext cx="30175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linkul e și în chat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Ședința 3 - Cine ajunge în cifră</dc:title>
  <dc:subject>PptxGenJS Presentation</dc:subject>
  <dc:creator>Conf. Univ. Dr. Adrian Pana</dc:creator>
  <cp:lastModifiedBy>Conf. Univ. Dr. Adrian Pana</cp:lastModifiedBy>
  <cp:revision>1</cp:revision>
  <dcterms:created xsi:type="dcterms:W3CDTF">2026-10-11T09:51:12Z</dcterms:created>
  <dcterms:modified xsi:type="dcterms:W3CDTF">2026-10-11T09:51:12Z</dcterms:modified>
  <cp:keywords>sursa_amprenta=65865c4a0d9ef0cc; proiectie</cp:keywords>
</cp:coreProperties>
</file>