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Azi urmărim trei povești și o singură întrebare: cine ajunge, de fapt, într-o cifră oficială despre o boală.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citit biletele de ieșire de data trecută. Două lucruri se schimbă de azi: mai puține reguli de numărare și mai mult lucru la microfon. Începem cu întrebarea la care mulți ați răspuns „zeci de bolnavi”.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Ședința trecută s-a încheiat cu această întrebare. Nu judecăm răspunsurile; ne uităm la ce înseamnă, de fapt, cuvântul „focar”.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de anchetă de teren al CDC nu dă un număr. Focarul înseamnă mai multe cazuri decât v-ați aștepta, într-un loc sau într-un grup de oameni și într-o perioadă anume.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Câte cazuri trebuie spune regula fiecărui raport. Pentru hepatita A, două cazuri confirmate, cu aceeași sursă, pot fi un focar. Rețineți cuvântul „confirmate”.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Aceasta este întrebarea de azi. O vom pune la o cină cu colegii, la un certificat de deces și la o pandemie de acum o sută de 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caz construit, pentru exercițiu. Vineri seara, o cină cu colegii; sâmbătă dimineața, grupul anului se umple de mesaje. Cei mai mulți rămân acasă.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 toți colegii care s-au îmbolnăvit vineri seara, câți credeți că vor apărea, peste câteva săptămâni, în statistica oficială a bolilor transmisibile?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 colegi joacă scena: un student bolnav și medicul lui de familie, la telefon. Medicul hotărăște dacă are nevoie de o probă de scaun.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ca medicul din scenă: ați fi cerut proba de scaun?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Majoritatea diareilor infecțioase trec singure. Ghidul IDSA recomandă proba mai ales la semnele de gravitate. Un medic care nu cere analize oricui urmează ghidul; consecința este statistică.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Urmăriți cum se micșorează grupul la fiecare poartă: medicul, proba, laboratorul, declararea. Nimeni nu a fost ascuns.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termen nou. Piramida supravegherii este numele folosit în acest curs pentru treptele prin care trece un bolnav. În cuvinte de zi cu zi: cifra oficială este vârful aisbergului.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două pierderi au nume diferite. O fișă de declarare completată și trimisă reduce subraportarea, dar nu aduce în cifră pe cineva pe care nu l-a văzut niciun medic.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Baza piramidei nu se poate număra; se poate estima. Estimarea este valabilă numai pentru Statele Unite. Pentru România nu avem o estimare la fel de recentă și verificată.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Piramida poate face o boală să pară mai gravă decât este. La MERS, OMS spune chiar în fișa bolii că proporția deceselor este probabil o supraestimare.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Imaginați-vă că mâine s-ar testa toți cei care au avut o răceală ușoară într-o regiune în care circulă MERS. Discutați un minut cu colegul, apoi votați.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Numărul deceselor ar rămâne același, dar în număr ar intra și cei ușori. Când împărțiți decesele numai la cazurile din vârf, numitorul este prea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exemplul construit, răspunsul care se potrivește este „foarte puțini”. Un focar pe care nu l-a văzut nimeni nu poate fi oprit la sursă.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caz construit. Un pacient cu diabet, internat cu COVID-19, moare după zece zile de terapie intensivă. Medicul de gardă trebuie să completeze certificatul.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medici de gardă diferiți ar putea scrie trei certificate diferite. În care variantă intră pacientul în cifra deceselor prin COVID-19?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Ghidul OMS cere ca boala să fie trecută pe certificat la toți decedații la care a cauzat, se presupune că a cauzat sau a contribuit la deces, cu termenul oficial.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Certificatul are două părți. În prima, medicul scrie lanțul, rând sub rând. Exemplul din ghidul OMS arată exact ca pacientul nostru. Diabetul merge în a doua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termen nou. Cauza de bază este boala de la care a pornit totul. Statistica deceselor pe cauze numără după 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(a) nu spune nimic despre boala care a pornit lanțul. Varianta (b) mută pacientul în cifra deceselor prin diabet. Abia varianta (c) îl numără unde spune ghidul.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Rescrieți varianta (a) astfel încât să respecte ghidul OMS: câte un rând pe fiecare treaptă a lanțului, diabetul separat.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Certificatul nu este o hârtie pentru arhivă. Iar unele decese tot nu ar fi atribuite bolii, oricât de bine s-ar completa certificatele.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termen nou. În cuvinte de zi cu zi: câți oameni au murit în plus față de un an obișnuit. Nu contează ce scrie pe certificat.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Mortalitatea în exces nu depinde de testare și de certificat. În schimb, nu spune din ce cauză au murit oamenii în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Unii dintre voi țin minte această lună. Cifra nu spune câte decese au fost produse de virus și câte de faptul că bolnavii cu alte boli nu au mai găsit ajutor la timp.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valoare sub zero înseamnă mai puține decese decât în perioada de referință. Referința rămâne aceeași, iar populația se schimbă; de aceea, cu anii, devine tot mai puțin potrivită.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Aceasta este cea mai importantă cifră a ședinței. Formulați-o cu grijă: nu spune că toți au murit de COVID-19. Distanța dintre cele două bare este, din nou, piramida.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Peste câțiva ani veți completa voi certificate, adesea noaptea, pentru pacienți pe care i-ați cunoscut puțin. Scrieți lanțul întreg.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Povestea a treia începe cu un vot. Câți oameni a ucis pandemia de gripă din 1918?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Răspunsul cinstit este ultima variantă: nimeni nu știe exact. Unde nu exista un registru al deceselor, rămân doar modelele.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deces devine confirmat în laborator numai dacă cineva a recoltat o probă și a testat-o. Este povestea cinei de vineri, la scara planetei.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toate cifrele sunt neapărat departe de realitate. La SARS, ipoteza unei piramide cu bază îngustă rămâne de verificat. Răspunsul diferă de la boală la boală.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Moțiunea este preluată din fișa disciplinei. Votați acum ce credeți; după dezbatere, votați din nou.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Partea stângă susține moțiunea, partea dreaptă o combate. Pentru 1918 există numai modele; pentru COVID-19, o numărătoare și un model. O comparație cinstită spune întâi ce compară.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Același vot, după argumente. Contează cât s-a mutat votul, nu cine a câștigat.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Ați văzut că un focar are o definiție scrisă. Din 2024 există una și pentru cea mai gravă situație posibilă. Este, literalmente, o definiție de caz.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caz de acum. Citiți din nou cele patru condiții și cifrele din raport. Fiecare decide singur; la această întrebare nu există o variantă fixată dinainte.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Raportul numără cazurile și decesele confirmate. Letalitatea brută poate fi prea mare sau prea mică. Raportul consultat nu spune cât de mare este baza piramidei.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Zece întrebări despre cele trei povești de azi. Rezultatul nu se notează.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Cinci lucruri pe care le puteți face diferit de mâine, ca studenți și ca viitori medici.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anonime, pe telefon. Luni veți vedea pe pagina cursului ce am schimbat după răspunsurile voastre.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82032"/>
          </a:solidFill>
          <a:ln/>
        </p:spPr>
        <p:txBody>
          <a:bodyPr/>
          <a:p/>
        </p:txBody>
      </p:sp>
      <p:sp>
        <p:nvSpPr>
          <p:cNvPr id="3" name="Shape 1"/>
          <p:cNvSpPr/>
          <p:nvPr/>
        </p:nvSpPr>
        <p:spPr>
          <a:xfrm>
            <a:off x="10332720" y="3840480"/>
            <a:ext cx="3474720" cy="3474720"/>
          </a:xfrm>
          <a:prstGeom prst="ellipse">
            <a:avLst/>
          </a:prstGeom>
          <a:solidFill>
            <a:srgbClr val="182032"/>
          </a:solidFill>
          <a:ln/>
        </p:spPr>
        <p:txBody>
          <a:bodyPr/>
          <a:p/>
        </p:txBody>
      </p:sp>
      <p:sp>
        <p:nvSpPr>
          <p:cNvPr id="4" name="Shape 2"/>
          <p:cNvSpPr/>
          <p:nvPr/>
        </p:nvSpPr>
        <p:spPr>
          <a:xfrm>
            <a:off x="685800" y="777240"/>
            <a:ext cx="2377440" cy="329184"/>
          </a:xfrm>
          <a:prstGeom prst="roundRect">
            <a:avLst>
              <a:gd name="adj" fmla="val 50000"/>
            </a:avLst>
          </a:prstGeom>
          <a:solidFill>
            <a:srgbClr val="FF4757"/>
          </a:solidFill>
          <a:ln w="12700">
            <a:solidFill>
              <a:srgbClr val="FF4757"/>
            </a:solidFill>
            <a:prstDash val="solid"/>
          </a:ln>
        </p:spPr>
        <p:txBody>
          <a:bodyPr/>
          <a:p/>
        </p:txBody>
      </p:sp>
      <p:sp>
        <p:nvSpPr>
          <p:cNvPr id="5" name="Text 3"/>
          <p:cNvSpPr/>
          <p:nvPr/>
        </p:nvSpPr>
        <p:spPr>
          <a:xfrm>
            <a:off x="685800" y="777240"/>
            <a:ext cx="23774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TREIA</a:t>
            </a:r>
            <a:endParaRPr lang="en-US" sz="1300" dirty="0"/>
          </a:p>
        </p:txBody>
      </p:sp>
      <p:sp>
        <p:nvSpPr>
          <p:cNvPr id="6" name="Text 4"/>
          <p:cNvSpPr/>
          <p:nvPr/>
        </p:nvSpPr>
        <p:spPr>
          <a:xfrm>
            <a:off x="685800" y="1463040"/>
            <a:ext cx="9875520" cy="914400"/>
          </a:xfrm>
          <a:prstGeom prst="rect">
            <a:avLst/>
          </a:prstGeom>
          <a:noFill/>
          <a:ln/>
        </p:spPr>
        <p:txBody>
          <a:bodyPr wrap="square" lIns="0" tIns="0" rIns="0" bIns="0" rtlCol="0" anchor="t"/>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Cine ajunge</a:t>
            </a:r>
            <a:endParaRPr lang="en-US" sz="5400" dirty="0"/>
          </a:p>
        </p:txBody>
      </p:sp>
      <p:sp>
        <p:nvSpPr>
          <p:cNvPr id="7" name="Text 5"/>
          <p:cNvSpPr/>
          <p:nvPr/>
        </p:nvSpPr>
        <p:spPr>
          <a:xfrm>
            <a:off x="685800" y="2377440"/>
            <a:ext cx="9875520" cy="914400"/>
          </a:xfrm>
          <a:prstGeom prst="rect">
            <a:avLst/>
          </a:prstGeom>
          <a:noFill/>
          <a:ln/>
        </p:spPr>
        <p:txBody>
          <a:bodyPr wrap="square" lIns="0" tIns="0" rIns="0" bIns="0" rtlCol="0" anchor="t"/>
          <a:lstStyle/>
          <a:p>
            <a:pPr indent="0" marL="0">
              <a:buNone/>
            </a:pPr>
            <a:r>
              <a:rPr lang="en-US" sz="5400" b="1" dirty="0">
                <a:solidFill>
                  <a:srgbClr val="27D3BE"/>
                </a:solidFill>
                <a:latin typeface="Palatino Linotype" pitchFamily="34" charset="0"/>
                <a:ea typeface="Palatino Linotype" pitchFamily="34" charset="-122"/>
                <a:cs typeface="Palatino Linotype" pitchFamily="34" charset="-120"/>
              </a:rPr>
              <a:t>în cifră</a:t>
            </a:r>
            <a:endParaRPr lang="en-US" sz="5400" dirty="0"/>
          </a:p>
        </p:txBody>
      </p:sp>
      <p:sp>
        <p:nvSpPr>
          <p:cNvPr id="8" name="Text 6"/>
          <p:cNvSpPr/>
          <p:nvPr/>
        </p:nvSpPr>
        <p:spPr>
          <a:xfrm>
            <a:off x="685800" y="3566160"/>
            <a:ext cx="10241280" cy="45720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O cină de vineri, un certificat completat la trei dimineața și o sută de ani de cifre</a:t>
            </a:r>
            <a:endParaRPr lang="en-US" sz="1800" dirty="0"/>
          </a:p>
        </p:txBody>
      </p:sp>
      <p:sp>
        <p:nvSpPr>
          <p:cNvPr id="9" name="Shape 7"/>
          <p:cNvSpPr/>
          <p:nvPr/>
        </p:nvSpPr>
        <p:spPr>
          <a:xfrm>
            <a:off x="713232" y="4343400"/>
            <a:ext cx="1280160" cy="27432"/>
          </a:xfrm>
          <a:prstGeom prst="rect">
            <a:avLst/>
          </a:prstGeom>
          <a:solidFill>
            <a:srgbClr val="FF4757"/>
          </a:solidFill>
          <a:ln/>
        </p:spPr>
        <p:txBody>
          <a:bodyPr/>
          <a:p/>
        </p:txBody>
      </p:sp>
      <p:sp>
        <p:nvSpPr>
          <p:cNvPr id="10" name="Text 8"/>
          <p:cNvSpPr/>
          <p:nvPr/>
        </p:nvSpPr>
        <p:spPr>
          <a:xfrm>
            <a:off x="685800" y="4617720"/>
            <a:ext cx="1005840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Detectivii epidemiilor: cum ucid bolile milioane de oameni și cum le oprim</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A DOUA ȘEDINȚĂ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am schimbat după răspunsurile voastre</a:t>
            </a:r>
            <a:endParaRPr lang="en-US" sz="3200" dirty="0"/>
          </a:p>
        </p:txBody>
      </p:sp>
      <p:sp>
        <p:nvSpPr>
          <p:cNvPr id="4" name="Text 2"/>
          <p:cNvSpPr/>
          <p:nvPr/>
        </p:nvSpPr>
        <p:spPr>
          <a:xfrm>
            <a:off x="594360" y="1600200"/>
            <a:ext cx="10972800" cy="45720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Am citit răspunsurile de la biletul de ieșire al ședinței a doua.</a:t>
            </a:r>
            <a:endParaRPr lang="en-US" sz="1800" dirty="0"/>
          </a:p>
        </p:txBody>
      </p:sp>
      <p:sp>
        <p:nvSpPr>
          <p:cNvPr id="5" name="Shape 3"/>
          <p:cNvSpPr/>
          <p:nvPr/>
        </p:nvSpPr>
        <p:spPr>
          <a:xfrm>
            <a:off x="594360" y="2286000"/>
            <a:ext cx="10972800" cy="1325880"/>
          </a:xfrm>
          <a:prstGeom prst="roundRect">
            <a:avLst>
              <a:gd name="adj" fmla="val 6207"/>
            </a:avLst>
          </a:prstGeom>
          <a:solidFill>
            <a:srgbClr val="1D1F2B"/>
          </a:solidFill>
          <a:ln w="12700">
            <a:solidFill>
              <a:srgbClr val="1D1F2B"/>
            </a:solidFill>
            <a:prstDash val="solid"/>
          </a:ln>
        </p:spPr>
        <p:txBody>
          <a:bodyPr/>
          <a:p/>
        </p:txBody>
      </p:sp>
      <p:sp>
        <p:nvSpPr>
          <p:cNvPr id="6" name="Shape 4"/>
          <p:cNvSpPr/>
          <p:nvPr/>
        </p:nvSpPr>
        <p:spPr>
          <a:xfrm>
            <a:off x="914400" y="2738628"/>
            <a:ext cx="420624" cy="420624"/>
          </a:xfrm>
          <a:prstGeom prst="ellipse">
            <a:avLst/>
          </a:prstGeom>
          <a:solidFill>
            <a:srgbClr val="FFC24B"/>
          </a:solidFill>
          <a:ln/>
        </p:spPr>
        <p:txBody>
          <a:bodyPr/>
          <a:p/>
        </p:txBody>
      </p:sp>
      <p:sp>
        <p:nvSpPr>
          <p:cNvPr id="7" name="Text 5"/>
          <p:cNvSpPr/>
          <p:nvPr/>
        </p:nvSpPr>
        <p:spPr>
          <a:xfrm>
            <a:off x="914400" y="27386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600200" y="2286000"/>
            <a:ext cx="969264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Mai puține detalii despre regulile de numărare; a doua oră începe cu un vot sau un joc de rol, iar în amfiteatru vorbim la microfon.</a:t>
            </a:r>
            <a:endParaRPr lang="en-US" sz="1900" dirty="0"/>
          </a:p>
        </p:txBody>
      </p:sp>
      <p:sp>
        <p:nvSpPr>
          <p:cNvPr id="9" name="Shape 7"/>
          <p:cNvSpPr/>
          <p:nvPr/>
        </p:nvSpPr>
        <p:spPr>
          <a:xfrm>
            <a:off x="594360" y="3794760"/>
            <a:ext cx="10972800" cy="1325880"/>
          </a:xfrm>
          <a:prstGeom prst="roundRect">
            <a:avLst>
              <a:gd name="adj" fmla="val 6207"/>
            </a:avLst>
          </a:prstGeom>
          <a:solidFill>
            <a:srgbClr val="1D1F2B"/>
          </a:solidFill>
          <a:ln w="12700">
            <a:solidFill>
              <a:srgbClr val="1D1F2B"/>
            </a:solidFill>
            <a:prstDash val="solid"/>
          </a:ln>
        </p:spPr>
        <p:txBody>
          <a:bodyPr/>
          <a:p/>
        </p:txBody>
      </p:sp>
      <p:sp>
        <p:nvSpPr>
          <p:cNvPr id="10" name="Shape 8"/>
          <p:cNvSpPr/>
          <p:nvPr/>
        </p:nvSpPr>
        <p:spPr>
          <a:xfrm>
            <a:off x="914400" y="4247388"/>
            <a:ext cx="420624" cy="420624"/>
          </a:xfrm>
          <a:prstGeom prst="ellipse">
            <a:avLst/>
          </a:prstGeom>
          <a:solidFill>
            <a:srgbClr val="FFC24B"/>
          </a:solidFill>
          <a:ln/>
        </p:spPr>
        <p:txBody>
          <a:bodyPr/>
          <a:p/>
        </p:txBody>
      </p:sp>
      <p:sp>
        <p:nvSpPr>
          <p:cNvPr id="11" name="Text 9"/>
          <p:cNvSpPr/>
          <p:nvPr/>
        </p:nvSpPr>
        <p:spPr>
          <a:xfrm>
            <a:off x="914400" y="42473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3794760"/>
            <a:ext cx="969264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Ședința a treia începe cu trei minute despre ce este un focar: mai mult de jumătate dintre voi au răspuns că un focar înseamnă „zeci de bolnavi”.</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VOTUL DE DATA TRECUTĂ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O colegă de cameră cu ochii galbeni: este un focar?</a:t>
            </a:r>
            <a:endParaRPr lang="en-US" sz="2800" dirty="0"/>
          </a:p>
        </p:txBody>
      </p:sp>
      <p:sp>
        <p:nvSpPr>
          <p:cNvPr id="4" name="Shape 2"/>
          <p:cNvSpPr/>
          <p:nvPr/>
        </p:nvSpPr>
        <p:spPr>
          <a:xfrm>
            <a:off x="594360" y="178308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5" name="Shape 3"/>
          <p:cNvSpPr/>
          <p:nvPr/>
        </p:nvSpPr>
        <p:spPr>
          <a:xfrm>
            <a:off x="868680" y="1938528"/>
            <a:ext cx="420624" cy="420624"/>
          </a:xfrm>
          <a:prstGeom prst="ellipse">
            <a:avLst/>
          </a:prstGeom>
          <a:solidFill>
            <a:srgbClr val="FF4757"/>
          </a:solidFill>
          <a:ln/>
        </p:spPr>
        <p:txBody>
          <a:bodyPr/>
          <a:p/>
        </p:txBody>
      </p:sp>
      <p:sp>
        <p:nvSpPr>
          <p:cNvPr id="6" name="Text 4"/>
          <p:cNvSpPr/>
          <p:nvPr/>
        </p:nvSpPr>
        <p:spPr>
          <a:xfrm>
            <a:off x="868680" y="19385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A</a:t>
            </a:r>
            <a:endParaRPr lang="en-US" sz="1400" dirty="0"/>
          </a:p>
        </p:txBody>
      </p:sp>
      <p:sp>
        <p:nvSpPr>
          <p:cNvPr id="7" name="Text 5"/>
          <p:cNvSpPr/>
          <p:nvPr/>
        </p:nvSpPr>
        <p:spPr>
          <a:xfrm>
            <a:off x="1508760" y="1783080"/>
            <a:ext cx="9875520" cy="73152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Da: sunt două bolnave în același cămin, în aceeași săptămână.</a:t>
            </a:r>
            <a:endParaRPr lang="en-US" sz="1900" dirty="0"/>
          </a:p>
        </p:txBody>
      </p:sp>
      <p:sp>
        <p:nvSpPr>
          <p:cNvPr id="8" name="Shape 6"/>
          <p:cNvSpPr/>
          <p:nvPr/>
        </p:nvSpPr>
        <p:spPr>
          <a:xfrm>
            <a:off x="594360" y="2651760"/>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9" name="Shape 7"/>
          <p:cNvSpPr/>
          <p:nvPr/>
        </p:nvSpPr>
        <p:spPr>
          <a:xfrm>
            <a:off x="868680" y="2807208"/>
            <a:ext cx="420624" cy="420624"/>
          </a:xfrm>
          <a:prstGeom prst="ellipse">
            <a:avLst/>
          </a:prstGeom>
          <a:solidFill>
            <a:srgbClr val="FF4757"/>
          </a:solidFill>
          <a:ln/>
        </p:spPr>
        <p:txBody>
          <a:bodyPr/>
          <a:p/>
        </p:txBody>
      </p:sp>
      <p:sp>
        <p:nvSpPr>
          <p:cNvPr id="10" name="Text 8"/>
          <p:cNvSpPr/>
          <p:nvPr/>
        </p:nvSpPr>
        <p:spPr>
          <a:xfrm>
            <a:off x="868680" y="28072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B</a:t>
            </a:r>
            <a:endParaRPr lang="en-US" sz="1400" dirty="0"/>
          </a:p>
        </p:txBody>
      </p:sp>
      <p:sp>
        <p:nvSpPr>
          <p:cNvPr id="11" name="Text 9"/>
          <p:cNvSpPr/>
          <p:nvPr/>
        </p:nvSpPr>
        <p:spPr>
          <a:xfrm>
            <a:off x="1508760" y="2651760"/>
            <a:ext cx="9875520" cy="73152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 încă: a doua colegă nu are diagnostic.</a:t>
            </a:r>
            <a:endParaRPr lang="en-US" sz="1900" dirty="0"/>
          </a:p>
        </p:txBody>
      </p:sp>
      <p:sp>
        <p:nvSpPr>
          <p:cNvPr id="12" name="Shape 10"/>
          <p:cNvSpPr/>
          <p:nvPr/>
        </p:nvSpPr>
        <p:spPr>
          <a:xfrm>
            <a:off x="594360" y="3520440"/>
            <a:ext cx="10972800" cy="731520"/>
          </a:xfrm>
          <a:prstGeom prst="roundRect">
            <a:avLst>
              <a:gd name="adj" fmla="val 11250"/>
            </a:avLst>
          </a:prstGeom>
          <a:solidFill>
            <a:srgbClr val="B02532"/>
          </a:solidFill>
          <a:ln w="12700">
            <a:solidFill>
              <a:srgbClr val="B02532"/>
            </a:solidFill>
            <a:prstDash val="solid"/>
          </a:ln>
        </p:spPr>
        <p:txBody>
          <a:bodyPr/>
          <a:p/>
        </p:txBody>
      </p:sp>
      <p:sp>
        <p:nvSpPr>
          <p:cNvPr id="13" name="Shape 11"/>
          <p:cNvSpPr/>
          <p:nvPr/>
        </p:nvSpPr>
        <p:spPr>
          <a:xfrm>
            <a:off x="868680" y="3675888"/>
            <a:ext cx="420624" cy="420624"/>
          </a:xfrm>
          <a:prstGeom prst="ellipse">
            <a:avLst/>
          </a:prstGeom>
          <a:solidFill>
            <a:srgbClr val="FFFFFF"/>
          </a:solidFill>
          <a:ln/>
        </p:spPr>
        <p:txBody>
          <a:bodyPr/>
          <a:p/>
        </p:txBody>
      </p:sp>
      <p:sp>
        <p:nvSpPr>
          <p:cNvPr id="14" name="Text 12"/>
          <p:cNvSpPr/>
          <p:nvPr/>
        </p:nvSpPr>
        <p:spPr>
          <a:xfrm>
            <a:off x="868680" y="3675888"/>
            <a:ext cx="420624" cy="420624"/>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C</a:t>
            </a:r>
            <a:endParaRPr lang="en-US" sz="1400" dirty="0"/>
          </a:p>
        </p:txBody>
      </p:sp>
      <p:sp>
        <p:nvSpPr>
          <p:cNvPr id="15" name="Text 13"/>
          <p:cNvSpPr/>
          <p:nvPr/>
        </p:nvSpPr>
        <p:spPr>
          <a:xfrm>
            <a:off x="1508760" y="3520440"/>
            <a:ext cx="9875520" cy="7315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Nu: un focar înseamnă „zeci de bolnavi”.</a:t>
            </a:r>
            <a:endParaRPr lang="en-US" sz="1900" dirty="0"/>
          </a:p>
        </p:txBody>
      </p:sp>
      <p:sp>
        <p:nvSpPr>
          <p:cNvPr id="16" name="Shape 14"/>
          <p:cNvSpPr/>
          <p:nvPr/>
        </p:nvSpPr>
        <p:spPr>
          <a:xfrm>
            <a:off x="594360" y="4389120"/>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17" name="Shape 15"/>
          <p:cNvSpPr/>
          <p:nvPr/>
        </p:nvSpPr>
        <p:spPr>
          <a:xfrm>
            <a:off x="868680" y="4544568"/>
            <a:ext cx="420624" cy="420624"/>
          </a:xfrm>
          <a:prstGeom prst="ellipse">
            <a:avLst/>
          </a:prstGeom>
          <a:solidFill>
            <a:srgbClr val="FF4757"/>
          </a:solidFill>
          <a:ln/>
        </p:spPr>
        <p:txBody>
          <a:bodyPr/>
          <a:p/>
        </p:txBody>
      </p:sp>
      <p:sp>
        <p:nvSpPr>
          <p:cNvPr id="18" name="Text 16"/>
          <p:cNvSpPr/>
          <p:nvPr/>
        </p:nvSpPr>
        <p:spPr>
          <a:xfrm>
            <a:off x="868680" y="45445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D</a:t>
            </a:r>
            <a:endParaRPr lang="en-US" sz="1400" dirty="0"/>
          </a:p>
        </p:txBody>
      </p:sp>
      <p:sp>
        <p:nvSpPr>
          <p:cNvPr id="19" name="Text 17"/>
          <p:cNvSpPr/>
          <p:nvPr/>
        </p:nvSpPr>
        <p:spPr>
          <a:xfrm>
            <a:off x="1508760" y="4389120"/>
            <a:ext cx="9875520" cy="73152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 știu ce înseamnă „focar”.</a:t>
            </a:r>
            <a:endParaRPr lang="en-US" sz="1900" dirty="0"/>
          </a:p>
        </p:txBody>
      </p:sp>
      <p:sp>
        <p:nvSpPr>
          <p:cNvPr id="20" name="Text 18"/>
          <p:cNvSpPr/>
          <p:nvPr/>
        </p:nvSpPr>
        <p:spPr>
          <a:xfrm>
            <a:off x="594360" y="5394960"/>
            <a:ext cx="1097280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Mulți ați ales varianta C. Este un răspuns firesc; merită lămurit acum, pentru că tot ce urmează azi depinde de el.</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ESTE UN FOCAR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Mai multe cazuri decât v-ați aștepta</a:t>
            </a:r>
            <a:endParaRPr lang="en-US" sz="3400" dirty="0"/>
          </a:p>
        </p:txBody>
      </p:sp>
      <p:sp>
        <p:nvSpPr>
          <p:cNvPr id="4" name="Shape 2"/>
          <p:cNvSpPr/>
          <p:nvPr/>
        </p:nvSpPr>
        <p:spPr>
          <a:xfrm>
            <a:off x="594360" y="1783080"/>
            <a:ext cx="3520440" cy="1920240"/>
          </a:xfrm>
          <a:prstGeom prst="roundRect">
            <a:avLst>
              <a:gd name="adj" fmla="val 4286"/>
            </a:avLst>
          </a:prstGeom>
          <a:solidFill>
            <a:srgbClr val="F4E0E2"/>
          </a:solidFill>
          <a:ln w="12700">
            <a:solidFill>
              <a:srgbClr val="F4E0E2"/>
            </a:solidFill>
            <a:prstDash val="solid"/>
          </a:ln>
        </p:spPr>
        <p:txBody>
          <a:bodyPr/>
          <a:p/>
        </p:txBody>
      </p:sp>
      <p:sp>
        <p:nvSpPr>
          <p:cNvPr id="5" name="Text 3"/>
          <p:cNvSpPr/>
          <p:nvPr/>
        </p:nvSpPr>
        <p:spPr>
          <a:xfrm>
            <a:off x="868680" y="2011680"/>
            <a:ext cx="3017520" cy="54864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Mai multe cazuri</a:t>
            </a:r>
            <a:endParaRPr lang="en-US" sz="2400" dirty="0"/>
          </a:p>
        </p:txBody>
      </p:sp>
      <p:sp>
        <p:nvSpPr>
          <p:cNvPr id="6" name="Text 4"/>
          <p:cNvSpPr/>
          <p:nvPr/>
        </p:nvSpPr>
        <p:spPr>
          <a:xfrm>
            <a:off x="868680" y="2651760"/>
            <a:ext cx="301752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decât era de așteptat</a:t>
            </a:r>
            <a:endParaRPr lang="en-US" sz="1800" dirty="0"/>
          </a:p>
        </p:txBody>
      </p:sp>
      <p:sp>
        <p:nvSpPr>
          <p:cNvPr id="7" name="Shape 5"/>
          <p:cNvSpPr/>
          <p:nvPr/>
        </p:nvSpPr>
        <p:spPr>
          <a:xfrm>
            <a:off x="4343400" y="1783080"/>
            <a:ext cx="3520440" cy="1920240"/>
          </a:xfrm>
          <a:prstGeom prst="roundRect">
            <a:avLst>
              <a:gd name="adj" fmla="val 4286"/>
            </a:avLst>
          </a:prstGeom>
          <a:solidFill>
            <a:srgbClr val="F6EDD5"/>
          </a:solidFill>
          <a:ln w="12700">
            <a:solidFill>
              <a:srgbClr val="F6EDD5"/>
            </a:solidFill>
            <a:prstDash val="solid"/>
          </a:ln>
        </p:spPr>
        <p:txBody>
          <a:bodyPr/>
          <a:p/>
        </p:txBody>
      </p:sp>
      <p:sp>
        <p:nvSpPr>
          <p:cNvPr id="8" name="Text 6"/>
          <p:cNvSpPr/>
          <p:nvPr/>
        </p:nvSpPr>
        <p:spPr>
          <a:xfrm>
            <a:off x="4617720" y="2011680"/>
            <a:ext cx="3017520" cy="548640"/>
          </a:xfrm>
          <a:prstGeom prst="rect">
            <a:avLst/>
          </a:prstGeom>
          <a:noFill/>
          <a:ln/>
        </p:spPr>
        <p:txBody>
          <a:bodyPr wrap="square" lIns="0" tIns="0" rIns="0" bIns="0" rtlCol="0" anchor="t"/>
          <a:lstStyle/>
          <a:p>
            <a:pPr indent="0" marL="0">
              <a:buNone/>
            </a:pPr>
            <a:r>
              <a:rPr lang="en-US" sz="2400" b="1" dirty="0">
                <a:solidFill>
                  <a:srgbClr val="8A6100"/>
                </a:solidFill>
                <a:latin typeface="Palatino Linotype" pitchFamily="34" charset="0"/>
                <a:ea typeface="Palatino Linotype" pitchFamily="34" charset="-122"/>
                <a:cs typeface="Palatino Linotype" pitchFamily="34" charset="-120"/>
              </a:rPr>
              <a:t>Într-un loc</a:t>
            </a:r>
            <a:endParaRPr lang="en-US" sz="2400" dirty="0"/>
          </a:p>
        </p:txBody>
      </p:sp>
      <p:sp>
        <p:nvSpPr>
          <p:cNvPr id="9" name="Text 7"/>
          <p:cNvSpPr/>
          <p:nvPr/>
        </p:nvSpPr>
        <p:spPr>
          <a:xfrm>
            <a:off x="4617720" y="2651760"/>
            <a:ext cx="301752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sau într-un grup de oameni</a:t>
            </a:r>
            <a:endParaRPr lang="en-US" sz="1800" dirty="0"/>
          </a:p>
        </p:txBody>
      </p:sp>
      <p:sp>
        <p:nvSpPr>
          <p:cNvPr id="10" name="Shape 8"/>
          <p:cNvSpPr/>
          <p:nvPr/>
        </p:nvSpPr>
        <p:spPr>
          <a:xfrm>
            <a:off x="8092440" y="1783080"/>
            <a:ext cx="3520440" cy="1920240"/>
          </a:xfrm>
          <a:prstGeom prst="roundRect">
            <a:avLst>
              <a:gd name="adj" fmla="val 4286"/>
            </a:avLst>
          </a:prstGeom>
          <a:solidFill>
            <a:srgbClr val="E1F0EC"/>
          </a:solidFill>
          <a:ln w="12700">
            <a:solidFill>
              <a:srgbClr val="E1F0EC"/>
            </a:solidFill>
            <a:prstDash val="solid"/>
          </a:ln>
        </p:spPr>
        <p:txBody>
          <a:bodyPr/>
          <a:p/>
        </p:txBody>
      </p:sp>
      <p:sp>
        <p:nvSpPr>
          <p:cNvPr id="11" name="Text 9"/>
          <p:cNvSpPr/>
          <p:nvPr/>
        </p:nvSpPr>
        <p:spPr>
          <a:xfrm>
            <a:off x="8366760" y="2011680"/>
            <a:ext cx="3017520" cy="54864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Într-o perioadă</a:t>
            </a:r>
            <a:endParaRPr lang="en-US" sz="2400" dirty="0"/>
          </a:p>
        </p:txBody>
      </p:sp>
      <p:sp>
        <p:nvSpPr>
          <p:cNvPr id="12" name="Text 10"/>
          <p:cNvSpPr/>
          <p:nvPr/>
        </p:nvSpPr>
        <p:spPr>
          <a:xfrm>
            <a:off x="8366760" y="2651760"/>
            <a:ext cx="301752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anume, nu oricând</a:t>
            </a:r>
            <a:endParaRPr lang="en-US" sz="1800" dirty="0"/>
          </a:p>
        </p:txBody>
      </p:sp>
      <p:sp>
        <p:nvSpPr>
          <p:cNvPr id="13" name="Text 11"/>
          <p:cNvSpPr/>
          <p:nvPr/>
        </p:nvSpPr>
        <p:spPr>
          <a:xfrm>
            <a:off x="594360" y="4114800"/>
            <a:ext cx="10972800" cy="91440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Nu există un număr minim valabil pentru toate bolile. Contează diferența față de ce era de așteptat și legătura dintre bolnavi.</a:t>
            </a:r>
            <a:endParaRPr lang="en-US" sz="2000" dirty="0"/>
          </a:p>
        </p:txBody>
      </p:sp>
      <p:sp>
        <p:nvSpPr>
          <p:cNvPr id="14" name="Text 12"/>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CDC, manualul de anchetă de teren (registru A350).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INSP · HEPATITA A</a:t>
            </a:r>
            <a:endParaRPr lang="en-US" sz="1300" dirty="0"/>
          </a:p>
        </p:txBody>
      </p:sp>
      <p:sp>
        <p:nvSpPr>
          <p:cNvPr id="3" name="Text 1"/>
          <p:cNvSpPr/>
          <p:nvPr/>
        </p:nvSpPr>
        <p:spPr>
          <a:xfrm>
            <a:off x="502920" y="731520"/>
            <a:ext cx="3291840" cy="3291840"/>
          </a:xfrm>
          <a:prstGeom prst="rect">
            <a:avLst/>
          </a:prstGeom>
          <a:noFill/>
          <a:ln/>
        </p:spPr>
        <p:txBody>
          <a:bodyPr wrap="square" lIns="0" tIns="0" rIns="0" bIns="0" rtlCol="0" anchor="ctr"/>
          <a:lstStyle/>
          <a:p>
            <a:pPr indent="0" marL="0">
              <a:buNone/>
            </a:pPr>
            <a:r>
              <a:rPr lang="en-US" sz="26000" b="1" dirty="0">
                <a:solidFill>
                  <a:srgbClr val="FF4757"/>
                </a:solidFill>
                <a:latin typeface="Palatino Linotype" pitchFamily="34" charset="0"/>
                <a:ea typeface="Palatino Linotype" pitchFamily="34" charset="-122"/>
                <a:cs typeface="Palatino Linotype" pitchFamily="34" charset="-120"/>
              </a:rPr>
              <a:t>2</a:t>
            </a:r>
            <a:endParaRPr lang="en-US" sz="26000" dirty="0"/>
          </a:p>
        </p:txBody>
      </p:sp>
      <p:sp>
        <p:nvSpPr>
          <p:cNvPr id="4" name="Text 2"/>
          <p:cNvSpPr/>
          <p:nvPr/>
        </p:nvSpPr>
        <p:spPr>
          <a:xfrm>
            <a:off x="3931920" y="1371600"/>
            <a:ext cx="7589520" cy="82296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cazuri confirmate pot fi un focar</a:t>
            </a:r>
            <a:endParaRPr lang="en-US" sz="3000" dirty="0"/>
          </a:p>
        </p:txBody>
      </p:sp>
      <p:sp>
        <p:nvSpPr>
          <p:cNvPr id="5" name="Text 3"/>
          <p:cNvSpPr/>
          <p:nvPr/>
        </p:nvSpPr>
        <p:spPr>
          <a:xfrm>
            <a:off x="3931920" y="2286000"/>
            <a:ext cx="7589520" cy="1188720"/>
          </a:xfrm>
          <a:prstGeom prst="rect">
            <a:avLst/>
          </a:prstGeom>
          <a:noFill/>
          <a:ln/>
        </p:spPr>
        <p:txBody>
          <a:bodyPr wrap="square" lIns="0" tIns="0" rIns="0" bIns="0" rtlCol="0" anchor="t"/>
          <a:lstStyle/>
          <a:p>
            <a:pPr indent="0" marL="0">
              <a:buNone/>
            </a:pPr>
            <a:r>
              <a:rPr lang="en-US" sz="1900" dirty="0">
                <a:solidFill>
                  <a:srgbClr val="959BB0"/>
                </a:solidFill>
                <a:latin typeface="Palatino Linotype" pitchFamily="34" charset="0"/>
                <a:ea typeface="Palatino Linotype" pitchFamily="34" charset="-122"/>
                <a:cs typeface="Palatino Linotype" pitchFamily="34" charset="-120"/>
              </a:rPr>
              <a:t>Regula raportului INSP pentru hepatita A: cel puțin două cazuri confirmate, expuse la aceeași sursă, în același timp și loc.</a:t>
            </a:r>
            <a:endParaRPr lang="en-US" sz="1900" dirty="0"/>
          </a:p>
        </p:txBody>
      </p:sp>
      <p:sp>
        <p:nvSpPr>
          <p:cNvPr id="6" name="Shape 4"/>
          <p:cNvSpPr/>
          <p:nvPr/>
        </p:nvSpPr>
        <p:spPr>
          <a:xfrm>
            <a:off x="594360" y="4343400"/>
            <a:ext cx="10972800" cy="13716"/>
          </a:xfrm>
          <a:prstGeom prst="rect">
            <a:avLst/>
          </a:prstGeom>
          <a:solidFill>
            <a:srgbClr val="3A3E52"/>
          </a:solidFill>
          <a:ln/>
        </p:spPr>
        <p:txBody>
          <a:bodyPr/>
          <a:p/>
        </p:txBody>
      </p:sp>
      <p:sp>
        <p:nvSpPr>
          <p:cNvPr id="7" name="Text 5"/>
          <p:cNvSpPr/>
          <p:nvPr/>
        </p:nvSpPr>
        <p:spPr>
          <a:xfrm>
            <a:off x="594360" y="4526280"/>
            <a:ext cx="10972800" cy="54864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Iar o sută de cazuri de gripă într-o iarnă obișnuită pot să nu fie un focar.</a:t>
            </a:r>
            <a:endParaRPr lang="en-US" sz="2100" dirty="0"/>
          </a:p>
        </p:txBody>
      </p:sp>
      <p:sp>
        <p:nvSpPr>
          <p:cNvPr id="8" name="Text 6"/>
          <p:cNvSpPr/>
          <p:nvPr/>
        </p:nvSpPr>
        <p:spPr>
          <a:xfrm>
            <a:off x="594360" y="5166360"/>
            <a:ext cx="10972800" cy="5486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Rețineți cuvântul „confirmate”: un caz pe care nu l-a văzut nimeni nu poate fi confirmat.</a:t>
            </a:r>
            <a:endParaRPr lang="en-US" sz="1800" dirty="0"/>
          </a:p>
        </p:txBody>
      </p:sp>
      <p:sp>
        <p:nvSpPr>
          <p:cNvPr id="9" name="Text 7"/>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INSP, raportul pentru hepatita A (registru A107).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ÎNTREBAREA DE AZI</a:t>
            </a:r>
            <a:endParaRPr lang="en-US" sz="1300" dirty="0"/>
          </a:p>
        </p:txBody>
      </p:sp>
      <p:sp>
        <p:nvSpPr>
          <p:cNvPr id="3" name="Text 1"/>
          <p:cNvSpPr/>
          <p:nvPr/>
        </p:nvSpPr>
        <p:spPr>
          <a:xfrm>
            <a:off x="594360" y="1554480"/>
            <a:ext cx="10972800" cy="2651760"/>
          </a:xfrm>
          <a:prstGeom prst="rect">
            <a:avLst/>
          </a:prstGeom>
          <a:noFill/>
          <a:ln/>
        </p:spPr>
        <p:txBody>
          <a:bodyPr wrap="square" lIns="0" tIns="0" rIns="0" bIns="0" rtlCol="0" anchor="ctr"/>
          <a:lstStyle/>
          <a:p>
            <a:pPr indent="0" marL="0">
              <a:buNone/>
            </a:pPr>
            <a:r>
              <a:rPr lang="en-US" sz="4400" b="1" dirty="0">
                <a:solidFill>
                  <a:srgbClr val="073B34"/>
                </a:solidFill>
                <a:latin typeface="Palatino Linotype" pitchFamily="34" charset="0"/>
                <a:ea typeface="Palatino Linotype" pitchFamily="34" charset="-122"/>
                <a:cs typeface="Palatino Linotype" pitchFamily="34" charset="-120"/>
              </a:rPr>
              <a:t>Cine trebuia să fie văzut, și de către cine, ca să intre în cifră?</a:t>
            </a:r>
            <a:endParaRPr lang="en-US" sz="4400" dirty="0"/>
          </a:p>
        </p:txBody>
      </p:sp>
      <p:sp>
        <p:nvSpPr>
          <p:cNvPr id="4" name="Text 2"/>
          <p:cNvSpPr/>
          <p:nvPr/>
        </p:nvSpPr>
        <p:spPr>
          <a:xfrm>
            <a:off x="594360" y="4572000"/>
            <a:ext cx="10972800" cy="822960"/>
          </a:xfrm>
          <a:prstGeom prst="rect">
            <a:avLst/>
          </a:prstGeom>
          <a:noFill/>
          <a:ln/>
        </p:spPr>
        <p:txBody>
          <a:bodyPr wrap="square" lIns="0" tIns="0" rIns="0" bIns="0" rtlCol="0" anchor="t"/>
          <a:lstStyle/>
          <a:p>
            <a:pPr indent="0" marL="0">
              <a:buNone/>
            </a:pPr>
            <a:r>
              <a:rPr lang="en-US" sz="2000" dirty="0">
                <a:solidFill>
                  <a:srgbClr val="073B34"/>
                </a:solidFill>
                <a:latin typeface="Palatino Linotype" pitchFamily="34" charset="0"/>
                <a:ea typeface="Palatino Linotype" pitchFamily="34" charset="-122"/>
                <a:cs typeface="Palatino Linotype" pitchFamily="34" charset="-120"/>
              </a:rPr>
              <a:t>O cifră mică nu este neapărat o minciună, iar o cifră mare nu este neapărat adevărul.</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 CONSTRUIT · SÂMBĂTĂ DIMINEAȚA</a:t>
            </a:r>
            <a:endParaRPr lang="en-US" sz="1300" dirty="0"/>
          </a:p>
        </p:txBody>
      </p:sp>
      <p:sp>
        <p:nvSpPr>
          <p:cNvPr id="3" name="Text 1"/>
          <p:cNvSpPr/>
          <p:nvPr/>
        </p:nvSpPr>
        <p:spPr>
          <a:xfrm>
            <a:off x="594360" y="713232"/>
            <a:ext cx="54864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Grupul anului</a:t>
            </a:r>
            <a:endParaRPr lang="en-US" sz="3200" dirty="0"/>
          </a:p>
        </p:txBody>
      </p:sp>
      <p:sp>
        <p:nvSpPr>
          <p:cNvPr id="4" name="Shape 2"/>
          <p:cNvSpPr/>
          <p:nvPr/>
        </p:nvSpPr>
        <p:spPr>
          <a:xfrm>
            <a:off x="914400" y="1508760"/>
            <a:ext cx="5120640" cy="4800600"/>
          </a:xfrm>
          <a:prstGeom prst="roundRect">
            <a:avLst>
              <a:gd name="adj" fmla="val 6667"/>
            </a:avLst>
          </a:prstGeom>
          <a:solidFill>
            <a:srgbClr val="0B0C12"/>
          </a:solidFill>
          <a:ln w="19050">
            <a:solidFill>
              <a:srgbClr val="3A3E52"/>
            </a:solidFill>
            <a:prstDash val="solid"/>
          </a:ln>
        </p:spPr>
        <p:txBody>
          <a:bodyPr/>
          <a:p/>
        </p:txBody>
      </p:sp>
      <p:sp>
        <p:nvSpPr>
          <p:cNvPr id="5" name="Shape 3"/>
          <p:cNvSpPr/>
          <p:nvPr/>
        </p:nvSpPr>
        <p:spPr>
          <a:xfrm>
            <a:off x="1051560" y="1645920"/>
            <a:ext cx="4846320" cy="4526280"/>
          </a:xfrm>
          <a:prstGeom prst="roundRect">
            <a:avLst>
              <a:gd name="adj" fmla="val 5051"/>
            </a:avLst>
          </a:prstGeom>
          <a:solidFill>
            <a:srgbClr val="1B1D27"/>
          </a:solidFill>
          <a:ln w="12700">
            <a:solidFill>
              <a:srgbClr val="1B1D27"/>
            </a:solidFill>
            <a:prstDash val="solid"/>
          </a:ln>
        </p:spPr>
        <p:txBody>
          <a:bodyPr/>
          <a:p/>
        </p:txBody>
      </p:sp>
      <p:sp>
        <p:nvSpPr>
          <p:cNvPr id="6" name="Shape 4"/>
          <p:cNvSpPr/>
          <p:nvPr/>
        </p:nvSpPr>
        <p:spPr>
          <a:xfrm>
            <a:off x="1051560" y="1783080"/>
            <a:ext cx="4846320" cy="502920"/>
          </a:xfrm>
          <a:prstGeom prst="rect">
            <a:avLst/>
          </a:prstGeom>
          <a:solidFill>
            <a:srgbClr val="262938"/>
          </a:solidFill>
          <a:ln w="12700">
            <a:solidFill>
              <a:srgbClr val="262938"/>
            </a:solidFill>
            <a:prstDash val="solid"/>
          </a:ln>
        </p:spPr>
        <p:txBody>
          <a:bodyPr/>
          <a:p/>
        </p:txBody>
      </p:sp>
      <p:sp>
        <p:nvSpPr>
          <p:cNvPr id="7" name="Shape 5"/>
          <p:cNvSpPr/>
          <p:nvPr/>
        </p:nvSpPr>
        <p:spPr>
          <a:xfrm>
            <a:off x="1234440" y="1865376"/>
            <a:ext cx="347472" cy="347472"/>
          </a:xfrm>
          <a:prstGeom prst="ellipse">
            <a:avLst/>
          </a:prstGeom>
          <a:solidFill>
            <a:srgbClr val="07564B"/>
          </a:solidFill>
          <a:ln/>
        </p:spPr>
        <p:txBody>
          <a:bodyPr/>
          <a:p/>
        </p:txBody>
      </p:sp>
      <p:sp>
        <p:nvSpPr>
          <p:cNvPr id="8" name="Text 6"/>
          <p:cNvSpPr/>
          <p:nvPr/>
        </p:nvSpPr>
        <p:spPr>
          <a:xfrm>
            <a:off x="1234440" y="1865376"/>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Palatino Linotype" pitchFamily="34" charset="0"/>
                <a:ea typeface="Palatino Linotype" pitchFamily="34" charset="-122"/>
                <a:cs typeface="Palatino Linotype" pitchFamily="34" charset="-120"/>
              </a:rPr>
              <a:t>AN</a:t>
            </a:r>
            <a:endParaRPr lang="en-US" sz="1000" dirty="0"/>
          </a:p>
        </p:txBody>
      </p:sp>
      <p:sp>
        <p:nvSpPr>
          <p:cNvPr id="9" name="Text 7"/>
          <p:cNvSpPr/>
          <p:nvPr/>
        </p:nvSpPr>
        <p:spPr>
          <a:xfrm>
            <a:off x="1691640" y="1865376"/>
            <a:ext cx="3200400" cy="347472"/>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Grupul anului</a:t>
            </a:r>
            <a:endParaRPr lang="en-US" sz="1300" dirty="0"/>
          </a:p>
        </p:txBody>
      </p:sp>
      <p:sp>
        <p:nvSpPr>
          <p:cNvPr id="10" name="Shape 8"/>
          <p:cNvSpPr/>
          <p:nvPr/>
        </p:nvSpPr>
        <p:spPr>
          <a:xfrm>
            <a:off x="1280160" y="2514600"/>
            <a:ext cx="3154680" cy="731520"/>
          </a:xfrm>
          <a:prstGeom prst="roundRect">
            <a:avLst>
              <a:gd name="adj" fmla="val 18750"/>
            </a:avLst>
          </a:prstGeom>
          <a:solidFill>
            <a:srgbClr val="2E3142"/>
          </a:solidFill>
          <a:ln w="12700">
            <a:solidFill>
              <a:srgbClr val="2E3142"/>
            </a:solidFill>
            <a:prstDash val="solid"/>
          </a:ln>
        </p:spPr>
        <p:txBody>
          <a:bodyPr/>
          <a:p/>
        </p:txBody>
      </p:sp>
      <p:sp>
        <p:nvSpPr>
          <p:cNvPr id="11" name="Text 9"/>
          <p:cNvSpPr/>
          <p:nvPr/>
        </p:nvSpPr>
        <p:spPr>
          <a:xfrm>
            <a:off x="1444752" y="2569464"/>
            <a:ext cx="2880360" cy="237744"/>
          </a:xfrm>
          <a:prstGeom prst="rect">
            <a:avLst/>
          </a:prstGeom>
          <a:noFill/>
          <a:ln/>
        </p:spPr>
        <p:txBody>
          <a:bodyPr wrap="square" lIns="0" tIns="0" rIns="0" bIns="0" rtlCol="0" anchor="t"/>
          <a:lstStyle/>
          <a:p>
            <a:pPr indent="0" marL="0">
              <a:buNone/>
            </a:pPr>
            <a:r>
              <a:rPr lang="en-US" sz="1050" b="1" dirty="0">
                <a:solidFill>
                  <a:srgbClr val="FFC24B"/>
                </a:solidFill>
                <a:latin typeface="Palatino Linotype" pitchFamily="34" charset="0"/>
                <a:ea typeface="Palatino Linotype" pitchFamily="34" charset="-122"/>
                <a:cs typeface="Palatino Linotype" pitchFamily="34" charset="-120"/>
              </a:rPr>
              <a:t>Andrei</a:t>
            </a:r>
            <a:endParaRPr lang="en-US" sz="1050" dirty="0"/>
          </a:p>
        </p:txBody>
      </p:sp>
      <p:sp>
        <p:nvSpPr>
          <p:cNvPr id="12" name="Text 10"/>
          <p:cNvSpPr/>
          <p:nvPr/>
        </p:nvSpPr>
        <p:spPr>
          <a:xfrm>
            <a:off x="1444752" y="2807208"/>
            <a:ext cx="2880360" cy="402336"/>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Am stat toată noaptea în baie.</a:t>
            </a:r>
            <a:endParaRPr lang="en-US" sz="1350" dirty="0"/>
          </a:p>
        </p:txBody>
      </p:sp>
      <p:sp>
        <p:nvSpPr>
          <p:cNvPr id="13" name="Shape 11"/>
          <p:cNvSpPr/>
          <p:nvPr/>
        </p:nvSpPr>
        <p:spPr>
          <a:xfrm>
            <a:off x="2514600" y="3383280"/>
            <a:ext cx="3154680" cy="731520"/>
          </a:xfrm>
          <a:prstGeom prst="roundRect">
            <a:avLst>
              <a:gd name="adj" fmla="val 18750"/>
            </a:avLst>
          </a:prstGeom>
          <a:solidFill>
            <a:srgbClr val="0E5E52"/>
          </a:solidFill>
          <a:ln w="12700">
            <a:solidFill>
              <a:srgbClr val="0E5E52"/>
            </a:solidFill>
            <a:prstDash val="solid"/>
          </a:ln>
        </p:spPr>
        <p:txBody>
          <a:bodyPr/>
          <a:p/>
        </p:txBody>
      </p:sp>
      <p:sp>
        <p:nvSpPr>
          <p:cNvPr id="14" name="Text 12"/>
          <p:cNvSpPr/>
          <p:nvPr/>
        </p:nvSpPr>
        <p:spPr>
          <a:xfrm>
            <a:off x="2679192" y="3438144"/>
            <a:ext cx="2880360" cy="237744"/>
          </a:xfrm>
          <a:prstGeom prst="rect">
            <a:avLst/>
          </a:prstGeom>
          <a:noFill/>
          <a:ln/>
        </p:spPr>
        <p:txBody>
          <a:bodyPr wrap="square" lIns="0" tIns="0" rIns="0" bIns="0" rtlCol="0" anchor="t"/>
          <a:lstStyle/>
          <a:p>
            <a:pPr indent="0" marL="0">
              <a:buNone/>
            </a:pPr>
            <a:r>
              <a:rPr lang="en-US" sz="1050" b="1" dirty="0">
                <a:solidFill>
                  <a:srgbClr val="BFEFE8"/>
                </a:solidFill>
                <a:latin typeface="Palatino Linotype" pitchFamily="34" charset="0"/>
                <a:ea typeface="Palatino Linotype" pitchFamily="34" charset="-122"/>
                <a:cs typeface="Palatino Linotype" pitchFamily="34" charset="-120"/>
              </a:rPr>
              <a:t>Ioana</a:t>
            </a:r>
            <a:endParaRPr lang="en-US" sz="1050" dirty="0"/>
          </a:p>
        </p:txBody>
      </p:sp>
      <p:sp>
        <p:nvSpPr>
          <p:cNvPr id="15" name="Text 13"/>
          <p:cNvSpPr/>
          <p:nvPr/>
        </p:nvSpPr>
        <p:spPr>
          <a:xfrm>
            <a:off x="2679192" y="3675888"/>
            <a:ext cx="2880360" cy="402336"/>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Am febră și crampe.</a:t>
            </a:r>
            <a:endParaRPr lang="en-US" sz="1350" dirty="0"/>
          </a:p>
        </p:txBody>
      </p:sp>
      <p:sp>
        <p:nvSpPr>
          <p:cNvPr id="16" name="Shape 14"/>
          <p:cNvSpPr/>
          <p:nvPr/>
        </p:nvSpPr>
        <p:spPr>
          <a:xfrm>
            <a:off x="1280160" y="4251960"/>
            <a:ext cx="3154680" cy="731520"/>
          </a:xfrm>
          <a:prstGeom prst="roundRect">
            <a:avLst>
              <a:gd name="adj" fmla="val 18750"/>
            </a:avLst>
          </a:prstGeom>
          <a:solidFill>
            <a:srgbClr val="2E3142"/>
          </a:solidFill>
          <a:ln w="12700">
            <a:solidFill>
              <a:srgbClr val="2E3142"/>
            </a:solidFill>
            <a:prstDash val="solid"/>
          </a:ln>
        </p:spPr>
        <p:txBody>
          <a:bodyPr/>
          <a:p/>
        </p:txBody>
      </p:sp>
      <p:sp>
        <p:nvSpPr>
          <p:cNvPr id="17" name="Text 15"/>
          <p:cNvSpPr/>
          <p:nvPr/>
        </p:nvSpPr>
        <p:spPr>
          <a:xfrm>
            <a:off x="1444752" y="4306824"/>
            <a:ext cx="2880360" cy="237744"/>
          </a:xfrm>
          <a:prstGeom prst="rect">
            <a:avLst/>
          </a:prstGeom>
          <a:noFill/>
          <a:ln/>
        </p:spPr>
        <p:txBody>
          <a:bodyPr wrap="square" lIns="0" tIns="0" rIns="0" bIns="0" rtlCol="0" anchor="t"/>
          <a:lstStyle/>
          <a:p>
            <a:pPr indent="0" marL="0">
              <a:buNone/>
            </a:pPr>
            <a:r>
              <a:rPr lang="en-US" sz="1050" b="1" dirty="0">
                <a:solidFill>
                  <a:srgbClr val="FFC24B"/>
                </a:solidFill>
                <a:latin typeface="Palatino Linotype" pitchFamily="34" charset="0"/>
                <a:ea typeface="Palatino Linotype" pitchFamily="34" charset="-122"/>
                <a:cs typeface="Palatino Linotype" pitchFamily="34" charset="-120"/>
              </a:rPr>
              <a:t>Radu</a:t>
            </a:r>
            <a:endParaRPr lang="en-US" sz="1050" dirty="0"/>
          </a:p>
        </p:txBody>
      </p:sp>
      <p:sp>
        <p:nvSpPr>
          <p:cNvPr id="18" name="Text 16"/>
          <p:cNvSpPr/>
          <p:nvPr/>
        </p:nvSpPr>
        <p:spPr>
          <a:xfrm>
            <a:off x="1444752" y="4544568"/>
            <a:ext cx="2880360" cy="402336"/>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Eu am doar stomacul deranjat, trece.</a:t>
            </a:r>
            <a:endParaRPr lang="en-US" sz="1350" dirty="0"/>
          </a:p>
        </p:txBody>
      </p:sp>
      <p:sp>
        <p:nvSpPr>
          <p:cNvPr id="19" name="Shape 17"/>
          <p:cNvSpPr/>
          <p:nvPr/>
        </p:nvSpPr>
        <p:spPr>
          <a:xfrm>
            <a:off x="2514600" y="5120640"/>
            <a:ext cx="3154680" cy="731520"/>
          </a:xfrm>
          <a:prstGeom prst="roundRect">
            <a:avLst>
              <a:gd name="adj" fmla="val 18750"/>
            </a:avLst>
          </a:prstGeom>
          <a:solidFill>
            <a:srgbClr val="0E5E52"/>
          </a:solidFill>
          <a:ln w="12700">
            <a:solidFill>
              <a:srgbClr val="0E5E52"/>
            </a:solidFill>
            <a:prstDash val="solid"/>
          </a:ln>
        </p:spPr>
        <p:txBody>
          <a:bodyPr/>
          <a:p/>
        </p:txBody>
      </p:sp>
      <p:sp>
        <p:nvSpPr>
          <p:cNvPr id="20" name="Text 18"/>
          <p:cNvSpPr/>
          <p:nvPr/>
        </p:nvSpPr>
        <p:spPr>
          <a:xfrm>
            <a:off x="2679192" y="5175504"/>
            <a:ext cx="2880360" cy="237744"/>
          </a:xfrm>
          <a:prstGeom prst="rect">
            <a:avLst/>
          </a:prstGeom>
          <a:noFill/>
          <a:ln/>
        </p:spPr>
        <p:txBody>
          <a:bodyPr wrap="square" lIns="0" tIns="0" rIns="0" bIns="0" rtlCol="0" anchor="t"/>
          <a:lstStyle/>
          <a:p>
            <a:pPr indent="0" marL="0">
              <a:buNone/>
            </a:pPr>
            <a:r>
              <a:rPr lang="en-US" sz="1050" b="1" dirty="0">
                <a:solidFill>
                  <a:srgbClr val="BFEFE8"/>
                </a:solidFill>
                <a:latin typeface="Palatino Linotype" pitchFamily="34" charset="0"/>
                <a:ea typeface="Palatino Linotype" pitchFamily="34" charset="-122"/>
                <a:cs typeface="Palatino Linotype" pitchFamily="34" charset="-120"/>
              </a:rPr>
              <a:t>Maria</a:t>
            </a:r>
            <a:endParaRPr lang="en-US" sz="1050" dirty="0"/>
          </a:p>
        </p:txBody>
      </p:sp>
      <p:sp>
        <p:nvSpPr>
          <p:cNvPr id="21" name="Text 19"/>
          <p:cNvSpPr/>
          <p:nvPr/>
        </p:nvSpPr>
        <p:spPr>
          <a:xfrm>
            <a:off x="2679192" y="5413248"/>
            <a:ext cx="2880360" cy="402336"/>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Am sunat la medicul de familie.</a:t>
            </a:r>
            <a:endParaRPr lang="en-US" sz="1350" dirty="0"/>
          </a:p>
        </p:txBody>
      </p:sp>
      <p:sp>
        <p:nvSpPr>
          <p:cNvPr id="22" name="Text 20"/>
          <p:cNvSpPr/>
          <p:nvPr/>
        </p:nvSpPr>
        <p:spPr>
          <a:xfrm>
            <a:off x="6492240" y="1600200"/>
            <a:ext cx="512064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Vineri seara, după ultimul curs, un grup mare de colegi ia cina la aceeași shaormerie.</a:t>
            </a:r>
            <a:endParaRPr lang="en-US" sz="1900" dirty="0"/>
          </a:p>
        </p:txBody>
      </p:sp>
      <p:sp>
        <p:nvSpPr>
          <p:cNvPr id="23" name="Shape 21"/>
          <p:cNvSpPr/>
          <p:nvPr/>
        </p:nvSpPr>
        <p:spPr>
          <a:xfrm>
            <a:off x="6492240" y="2834640"/>
            <a:ext cx="5120640" cy="777240"/>
          </a:xfrm>
          <a:prstGeom prst="roundRect">
            <a:avLst>
              <a:gd name="adj" fmla="val 10588"/>
            </a:avLst>
          </a:prstGeom>
          <a:solidFill>
            <a:srgbClr val="1D1F2B"/>
          </a:solidFill>
          <a:ln w="12700">
            <a:solidFill>
              <a:srgbClr val="1D1F2B"/>
            </a:solidFill>
            <a:prstDash val="solid"/>
          </a:ln>
        </p:spPr>
        <p:txBody>
          <a:bodyPr/>
          <a:p/>
        </p:txBody>
      </p:sp>
      <p:sp>
        <p:nvSpPr>
          <p:cNvPr id="24" name="Shape 22"/>
          <p:cNvSpPr/>
          <p:nvPr/>
        </p:nvSpPr>
        <p:spPr>
          <a:xfrm>
            <a:off x="6812280" y="3012948"/>
            <a:ext cx="420624" cy="420624"/>
          </a:xfrm>
          <a:prstGeom prst="ellipse">
            <a:avLst/>
          </a:prstGeom>
          <a:solidFill>
            <a:srgbClr val="FFC24B"/>
          </a:solidFill>
          <a:ln/>
        </p:spPr>
        <p:txBody>
          <a:bodyPr/>
          <a:p/>
        </p:txBody>
      </p:sp>
      <p:sp>
        <p:nvSpPr>
          <p:cNvPr id="25" name="Text 23"/>
          <p:cNvSpPr/>
          <p:nvPr/>
        </p:nvSpPr>
        <p:spPr>
          <a:xfrm>
            <a:off x="6812280" y="3012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26" name="Text 24"/>
          <p:cNvSpPr/>
          <p:nvPr/>
        </p:nvSpPr>
        <p:spPr>
          <a:xfrm>
            <a:off x="7498080" y="2834640"/>
            <a:ext cx="3840480" cy="7772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Cei mai mulți rămân în pat, beau apă și așteaptă.</a:t>
            </a:r>
            <a:endParaRPr lang="en-US" sz="1600" dirty="0"/>
          </a:p>
        </p:txBody>
      </p:sp>
      <p:sp>
        <p:nvSpPr>
          <p:cNvPr id="27" name="Shape 25"/>
          <p:cNvSpPr/>
          <p:nvPr/>
        </p:nvSpPr>
        <p:spPr>
          <a:xfrm>
            <a:off x="6492240" y="3749040"/>
            <a:ext cx="5120640" cy="777240"/>
          </a:xfrm>
          <a:prstGeom prst="roundRect">
            <a:avLst>
              <a:gd name="adj" fmla="val 10588"/>
            </a:avLst>
          </a:prstGeom>
          <a:solidFill>
            <a:srgbClr val="1D1F2B"/>
          </a:solidFill>
          <a:ln w="12700">
            <a:solidFill>
              <a:srgbClr val="1D1F2B"/>
            </a:solidFill>
            <a:prstDash val="solid"/>
          </a:ln>
        </p:spPr>
        <p:txBody>
          <a:bodyPr/>
          <a:p/>
        </p:txBody>
      </p:sp>
      <p:sp>
        <p:nvSpPr>
          <p:cNvPr id="28" name="Shape 26"/>
          <p:cNvSpPr/>
          <p:nvPr/>
        </p:nvSpPr>
        <p:spPr>
          <a:xfrm>
            <a:off x="6812280" y="3927348"/>
            <a:ext cx="420624" cy="420624"/>
          </a:xfrm>
          <a:prstGeom prst="ellipse">
            <a:avLst/>
          </a:prstGeom>
          <a:solidFill>
            <a:srgbClr val="FFC24B"/>
          </a:solidFill>
          <a:ln/>
        </p:spPr>
        <p:txBody>
          <a:bodyPr/>
          <a:p/>
        </p:txBody>
      </p:sp>
      <p:sp>
        <p:nvSpPr>
          <p:cNvPr id="29" name="Text 27"/>
          <p:cNvSpPr/>
          <p:nvPr/>
        </p:nvSpPr>
        <p:spPr>
          <a:xfrm>
            <a:off x="6812280" y="39273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30" name="Text 28"/>
          <p:cNvSpPr/>
          <p:nvPr/>
        </p:nvSpPr>
        <p:spPr>
          <a:xfrm>
            <a:off x="7498080" y="3749040"/>
            <a:ext cx="3840480" cy="7772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Câțiva sună la medicul de familie.</a:t>
            </a:r>
            <a:endParaRPr lang="en-US" sz="1600" dirty="0"/>
          </a:p>
        </p:txBody>
      </p:sp>
      <p:sp>
        <p:nvSpPr>
          <p:cNvPr id="31" name="Shape 29"/>
          <p:cNvSpPr/>
          <p:nvPr/>
        </p:nvSpPr>
        <p:spPr>
          <a:xfrm>
            <a:off x="6492240" y="4663440"/>
            <a:ext cx="5120640" cy="777240"/>
          </a:xfrm>
          <a:prstGeom prst="roundRect">
            <a:avLst>
              <a:gd name="adj" fmla="val 10588"/>
            </a:avLst>
          </a:prstGeom>
          <a:solidFill>
            <a:srgbClr val="1D1F2B"/>
          </a:solidFill>
          <a:ln w="12700">
            <a:solidFill>
              <a:srgbClr val="1D1F2B"/>
            </a:solidFill>
            <a:prstDash val="solid"/>
          </a:ln>
        </p:spPr>
        <p:txBody>
          <a:bodyPr/>
          <a:p/>
        </p:txBody>
      </p:sp>
      <p:sp>
        <p:nvSpPr>
          <p:cNvPr id="32" name="Shape 30"/>
          <p:cNvSpPr/>
          <p:nvPr/>
        </p:nvSpPr>
        <p:spPr>
          <a:xfrm>
            <a:off x="6812280" y="4841748"/>
            <a:ext cx="420624" cy="420624"/>
          </a:xfrm>
          <a:prstGeom prst="ellipse">
            <a:avLst/>
          </a:prstGeom>
          <a:solidFill>
            <a:srgbClr val="FFC24B"/>
          </a:solidFill>
          <a:ln/>
        </p:spPr>
        <p:txBody>
          <a:bodyPr/>
          <a:p/>
        </p:txBody>
      </p:sp>
      <p:sp>
        <p:nvSpPr>
          <p:cNvPr id="33" name="Text 31"/>
          <p:cNvSpPr/>
          <p:nvPr/>
        </p:nvSpPr>
        <p:spPr>
          <a:xfrm>
            <a:off x="6812280" y="48417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34" name="Text 32"/>
          <p:cNvSpPr/>
          <p:nvPr/>
        </p:nvSpPr>
        <p:spPr>
          <a:xfrm>
            <a:off x="7498080" y="4663440"/>
            <a:ext cx="3840480" cy="7772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Unul ajunge la camera de gardă.</a:t>
            </a:r>
            <a:endParaRPr lang="en-US" sz="1600" dirty="0"/>
          </a:p>
        </p:txBody>
      </p:sp>
      <p:sp>
        <p:nvSpPr>
          <p:cNvPr id="35" name="Text 33"/>
          <p:cNvSpPr/>
          <p:nvPr/>
        </p:nvSpPr>
        <p:spPr>
          <a:xfrm>
            <a:off x="6492240" y="5715000"/>
            <a:ext cx="5120640" cy="36576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Localul, oamenii și cifrele sunt inventate.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VOTUL ÎNTÂI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Câți vor apărea în statistica oficială?</a:t>
            </a:r>
            <a:endParaRPr lang="en-US" sz="3200" dirty="0"/>
          </a:p>
        </p:txBody>
      </p:sp>
      <p:sp>
        <p:nvSpPr>
          <p:cNvPr id="6" name="Shape 4"/>
          <p:cNvSpPr/>
          <p:nvPr/>
        </p:nvSpPr>
        <p:spPr>
          <a:xfrm>
            <a:off x="594360" y="17830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47672"/>
            <a:ext cx="420624" cy="420624"/>
          </a:xfrm>
          <a:prstGeom prst="ellipse">
            <a:avLst/>
          </a:prstGeom>
          <a:solidFill>
            <a:srgbClr val="FFC24B"/>
          </a:solidFill>
          <a:ln/>
        </p:spPr>
        <p:txBody>
          <a:bodyPr/>
          <a:p/>
        </p:txBody>
      </p:sp>
      <p:sp>
        <p:nvSpPr>
          <p:cNvPr id="8" name="Text 6"/>
          <p:cNvSpPr/>
          <p:nvPr/>
        </p:nvSpPr>
        <p:spPr>
          <a:xfrm>
            <a:off x="914400" y="1947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Aproape toți</a:t>
            </a:r>
            <a:endParaRPr lang="en-US" sz="1800" dirty="0"/>
          </a:p>
        </p:txBody>
      </p:sp>
      <p:sp>
        <p:nvSpPr>
          <p:cNvPr id="10" name="Shape 8"/>
          <p:cNvSpPr/>
          <p:nvPr/>
        </p:nvSpPr>
        <p:spPr>
          <a:xfrm>
            <a:off x="594360" y="2679192"/>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43784"/>
            <a:ext cx="420624" cy="420624"/>
          </a:xfrm>
          <a:prstGeom prst="ellipse">
            <a:avLst/>
          </a:prstGeom>
          <a:solidFill>
            <a:srgbClr val="FFC24B"/>
          </a:solidFill>
          <a:ln/>
        </p:spPr>
        <p:txBody>
          <a:bodyPr/>
          <a:p/>
        </p:txBody>
      </p:sp>
      <p:sp>
        <p:nvSpPr>
          <p:cNvPr id="12" name="Text 10"/>
          <p:cNvSpPr/>
          <p:nvPr/>
        </p:nvSpPr>
        <p:spPr>
          <a:xfrm>
            <a:off x="914400" y="2843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679192"/>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jumătate</a:t>
            </a:r>
            <a:endParaRPr lang="en-US" sz="1800" dirty="0"/>
          </a:p>
        </p:txBody>
      </p:sp>
      <p:sp>
        <p:nvSpPr>
          <p:cNvPr id="14" name="Shape 12"/>
          <p:cNvSpPr/>
          <p:nvPr/>
        </p:nvSpPr>
        <p:spPr>
          <a:xfrm>
            <a:off x="594360" y="3575304"/>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39896"/>
            <a:ext cx="420624" cy="420624"/>
          </a:xfrm>
          <a:prstGeom prst="ellipse">
            <a:avLst/>
          </a:prstGeom>
          <a:solidFill>
            <a:srgbClr val="FFC24B"/>
          </a:solidFill>
          <a:ln/>
        </p:spPr>
        <p:txBody>
          <a:bodyPr/>
          <a:p/>
        </p:txBody>
      </p:sp>
      <p:sp>
        <p:nvSpPr>
          <p:cNvPr id="16" name="Text 14"/>
          <p:cNvSpPr/>
          <p:nvPr/>
        </p:nvSpPr>
        <p:spPr>
          <a:xfrm>
            <a:off x="914400" y="37398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575304"/>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unul din patru</a:t>
            </a:r>
            <a:endParaRPr lang="en-US" sz="1800" dirty="0"/>
          </a:p>
        </p:txBody>
      </p:sp>
      <p:sp>
        <p:nvSpPr>
          <p:cNvPr id="18" name="Shape 16"/>
          <p:cNvSpPr/>
          <p:nvPr/>
        </p:nvSpPr>
        <p:spPr>
          <a:xfrm>
            <a:off x="594360" y="4471416"/>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636008"/>
            <a:ext cx="420624" cy="420624"/>
          </a:xfrm>
          <a:prstGeom prst="ellipse">
            <a:avLst/>
          </a:prstGeom>
          <a:solidFill>
            <a:srgbClr val="FFC24B"/>
          </a:solidFill>
          <a:ln/>
        </p:spPr>
        <p:txBody>
          <a:bodyPr/>
          <a:p/>
        </p:txBody>
      </p:sp>
      <p:sp>
        <p:nvSpPr>
          <p:cNvPr id="20" name="Text 18"/>
          <p:cNvSpPr/>
          <p:nvPr/>
        </p:nvSpPr>
        <p:spPr>
          <a:xfrm>
            <a:off x="914400" y="4636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471416"/>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Foarte puțini</a:t>
            </a:r>
            <a:endParaRPr lang="en-US" sz="1800" dirty="0"/>
          </a:p>
        </p:txBody>
      </p:sp>
      <p:sp>
        <p:nvSpPr>
          <p:cNvPr id="22" name="Shape 20"/>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4" name="Text 22"/>
          <p:cNvSpPr/>
          <p:nvPr/>
        </p:nvSpPr>
        <p:spPr>
          <a:xfrm>
            <a:off x="594360" y="55321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Revenim la acest vot la sfârșitul poveștii.</a:t>
            </a:r>
            <a:endParaRPr lang="en-US" sz="1500" dirty="0"/>
          </a:p>
        </p:txBody>
      </p:sp>
      <p:pic>
        <p:nvPicPr>
          <p:cNvPr id="25" name="Picture 24" descr="Mentimeter_OPT_DETECTIVI_C03.png"/>
          <p:cNvPicPr>
            <a:picLocks noChangeAspect="1"/>
          </p:cNvPicPr>
          <p:nvPr/>
        </p:nvPicPr>
        <p:blipFill>
          <a:blip r:embed="rId3"/>
          <a:stretch>
            <a:fillRect/>
          </a:stretch>
        </p:blipFill>
        <p:spPr>
          <a:xfrm>
            <a:off x="8817610" y="1783080"/>
            <a:ext cx="2435860" cy="2435860"/>
          </a:xfrm>
          <a:prstGeom prst="rect">
            <a:avLst/>
          </a:prstGeom>
        </p:spPr>
      </p:pic>
      <p:sp>
        <p:nvSpPr>
          <p:cNvPr id="26" name="TextBox 25"/>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9B7EF7"/>
          </a:solidFill>
          <a:ln w="12700">
            <a:solidFill>
              <a:srgbClr val="9B7EF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2 VOLUNTARI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SÂMBĂTĂ DIMINEAȚA, LA TELEFON</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Telefonul la medicul de familie</a:t>
            </a:r>
            <a:endParaRPr lang="en-US" sz="3200" dirty="0"/>
          </a:p>
        </p:txBody>
      </p:sp>
      <p:sp>
        <p:nvSpPr>
          <p:cNvPr id="6" name="Shape 4"/>
          <p:cNvSpPr/>
          <p:nvPr/>
        </p:nvSpPr>
        <p:spPr>
          <a:xfrm>
            <a:off x="594360" y="1554480"/>
            <a:ext cx="5349240" cy="2468880"/>
          </a:xfrm>
          <a:prstGeom prst="roundRect">
            <a:avLst>
              <a:gd name="adj" fmla="val 3333"/>
            </a:avLst>
          </a:prstGeom>
          <a:solidFill>
            <a:srgbClr val="1D1F2B"/>
          </a:solidFill>
          <a:ln w="12700">
            <a:solidFill>
              <a:srgbClr val="1D1F2B"/>
            </a:solidFill>
            <a:prstDash val="solid"/>
          </a:ln>
        </p:spPr>
        <p:txBody>
          <a:bodyPr/>
          <a:p/>
        </p:txBody>
      </p:sp>
      <p:sp>
        <p:nvSpPr>
          <p:cNvPr id="7" name="Shape 5"/>
          <p:cNvSpPr/>
          <p:nvPr/>
        </p:nvSpPr>
        <p:spPr>
          <a:xfrm>
            <a:off x="6217920" y="1554480"/>
            <a:ext cx="5349240" cy="2468880"/>
          </a:xfrm>
          <a:prstGeom prst="roundRect">
            <a:avLst>
              <a:gd name="adj" fmla="val 3333"/>
            </a:avLst>
          </a:prstGeom>
          <a:solidFill>
            <a:srgbClr val="07564B"/>
          </a:solidFill>
          <a:ln w="12700">
            <a:solidFill>
              <a:srgbClr val="07564B"/>
            </a:solidFill>
            <a:prstDash val="solid"/>
          </a:ln>
        </p:spPr>
        <p:txBody>
          <a:bodyPr/>
          <a:p/>
        </p:txBody>
      </p:sp>
      <p:sp>
        <p:nvSpPr>
          <p:cNvPr id="8" name="Text 6"/>
          <p:cNvSpPr/>
          <p:nvPr/>
        </p:nvSpPr>
        <p:spPr>
          <a:xfrm>
            <a:off x="868680" y="1737360"/>
            <a:ext cx="4846320" cy="36576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STUDENTUL BOLNAV</a:t>
            </a:r>
            <a:endParaRPr lang="en-US" sz="1300" dirty="0"/>
          </a:p>
        </p:txBody>
      </p:sp>
      <p:sp>
        <p:nvSpPr>
          <p:cNvPr id="9" name="Text 7"/>
          <p:cNvSpPr/>
          <p:nvPr/>
        </p:nvSpPr>
        <p:spPr>
          <a:xfrm>
            <a:off x="868680" y="2194560"/>
            <a:ext cx="4846320" cy="1645920"/>
          </a:xfrm>
          <a:prstGeom prst="rect">
            <a:avLst/>
          </a:prstGeom>
          <a:noFill/>
          <a:ln/>
        </p:spPr>
        <p:txBody>
          <a:bodyPr wrap="square" lIns="0" tIns="0" rIns="0" bIns="0" rtlCol="0" anchor="t"/>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Vrea un sfat și, eventual, o scutire.</a:t>
            </a:r>
            <a:endParaRPr lang="en-US" sz="2100" dirty="0"/>
          </a:p>
        </p:txBody>
      </p:sp>
      <p:sp>
        <p:nvSpPr>
          <p:cNvPr id="10" name="Text 8"/>
          <p:cNvSpPr/>
          <p:nvPr/>
        </p:nvSpPr>
        <p:spPr>
          <a:xfrm>
            <a:off x="6492240" y="1737360"/>
            <a:ext cx="4846320" cy="365760"/>
          </a:xfrm>
          <a:prstGeom prst="rect">
            <a:avLst/>
          </a:prstGeom>
          <a:noFill/>
          <a:ln/>
        </p:spPr>
        <p:txBody>
          <a:bodyPr wrap="square" lIns="0" tIns="0" rIns="0" bIns="0" rtlCol="0" anchor="t"/>
          <a:lstStyle/>
          <a:p>
            <a:pPr indent="0" marL="0">
              <a:buNone/>
            </a:pPr>
            <a:r>
              <a:rPr lang="en-US" sz="1300" b="1" spc="200" kern="0" dirty="0">
                <a:solidFill>
                  <a:srgbClr val="BFEFE8"/>
                </a:solidFill>
                <a:latin typeface="Palatino Linotype" pitchFamily="34" charset="0"/>
                <a:ea typeface="Palatino Linotype" pitchFamily="34" charset="-122"/>
                <a:cs typeface="Palatino Linotype" pitchFamily="34" charset="-120"/>
              </a:rPr>
              <a:t>MEDICUL DE FAMILIE</a:t>
            </a:r>
            <a:endParaRPr lang="en-US" sz="1300" dirty="0"/>
          </a:p>
        </p:txBody>
      </p:sp>
      <p:sp>
        <p:nvSpPr>
          <p:cNvPr id="11" name="Text 9"/>
          <p:cNvSpPr/>
          <p:nvPr/>
        </p:nvSpPr>
        <p:spPr>
          <a:xfrm>
            <a:off x="6492240" y="2194560"/>
            <a:ext cx="4846320" cy="1645920"/>
          </a:xfrm>
          <a:prstGeom prst="rect">
            <a:avLst/>
          </a:prstGeom>
          <a:noFill/>
          <a:ln/>
        </p:spPr>
        <p:txBody>
          <a:bodyPr wrap="square" lIns="0" tIns="0" rIns="0" bIns="0" rtlCol="0" anchor="t"/>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Hotărăște dacă îi spune să vină la cabinet și să aducă o probă de scaun.</a:t>
            </a:r>
            <a:endParaRPr lang="en-US" sz="2100" dirty="0"/>
          </a:p>
        </p:txBody>
      </p:sp>
      <p:sp>
        <p:nvSpPr>
          <p:cNvPr id="12" name="Text 10"/>
          <p:cNvSpPr/>
          <p:nvPr/>
        </p:nvSpPr>
        <p:spPr>
          <a:xfrm>
            <a:off x="594360" y="4434840"/>
            <a:ext cx="10972800" cy="64008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Trei minute, la microfon. Apoi votați: ați fi cerut proba?</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VOTUL AL DOILEA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Ați fi cerut proba de scaun?</a:t>
            </a:r>
            <a:endParaRPr lang="en-US" sz="3400" dirty="0"/>
          </a:p>
        </p:txBody>
      </p:sp>
      <p:sp>
        <p:nvSpPr>
          <p:cNvPr id="6" name="Shape 4"/>
          <p:cNvSpPr/>
          <p:nvPr/>
        </p:nvSpPr>
        <p:spPr>
          <a:xfrm>
            <a:off x="594360" y="178308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1984248"/>
            <a:ext cx="420624" cy="420624"/>
          </a:xfrm>
          <a:prstGeom prst="ellipse">
            <a:avLst/>
          </a:prstGeom>
          <a:solidFill>
            <a:srgbClr val="FFC24B"/>
          </a:solidFill>
          <a:ln/>
        </p:spPr>
        <p:txBody>
          <a:bodyPr/>
          <a:p/>
        </p:txBody>
      </p:sp>
      <p:sp>
        <p:nvSpPr>
          <p:cNvPr id="8" name="Text 6"/>
          <p:cNvSpPr/>
          <p:nvPr/>
        </p:nvSpPr>
        <p:spPr>
          <a:xfrm>
            <a:off x="914400" y="1984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Da</a:t>
            </a:r>
            <a:endParaRPr lang="en-US" sz="2000" dirty="0"/>
          </a:p>
        </p:txBody>
      </p:sp>
      <p:sp>
        <p:nvSpPr>
          <p:cNvPr id="10" name="Shape 8"/>
          <p:cNvSpPr/>
          <p:nvPr/>
        </p:nvSpPr>
        <p:spPr>
          <a:xfrm>
            <a:off x="594360" y="278892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2990088"/>
            <a:ext cx="420624" cy="420624"/>
          </a:xfrm>
          <a:prstGeom prst="ellipse">
            <a:avLst/>
          </a:prstGeom>
          <a:solidFill>
            <a:srgbClr val="FFC24B"/>
          </a:solidFill>
          <a:ln/>
        </p:spPr>
        <p:txBody>
          <a:bodyPr/>
          <a:p/>
        </p:txBody>
      </p:sp>
      <p:sp>
        <p:nvSpPr>
          <p:cNvPr id="12" name="Text 10"/>
          <p:cNvSpPr/>
          <p:nvPr/>
        </p:nvSpPr>
        <p:spPr>
          <a:xfrm>
            <a:off x="914400" y="2990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788920"/>
            <a:ext cx="635508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a:t>
            </a:r>
            <a:endParaRPr lang="en-US" sz="2000" dirty="0"/>
          </a:p>
        </p:txBody>
      </p:sp>
      <p:sp>
        <p:nvSpPr>
          <p:cNvPr id="14" name="Shape 12"/>
          <p:cNvSpPr/>
          <p:nvPr/>
        </p:nvSpPr>
        <p:spPr>
          <a:xfrm>
            <a:off x="594360" y="379476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15" name="Shape 13"/>
          <p:cNvSpPr/>
          <p:nvPr/>
        </p:nvSpPr>
        <p:spPr>
          <a:xfrm>
            <a:off x="914400" y="3995928"/>
            <a:ext cx="420624" cy="420624"/>
          </a:xfrm>
          <a:prstGeom prst="ellipse">
            <a:avLst/>
          </a:prstGeom>
          <a:solidFill>
            <a:srgbClr val="FFC24B"/>
          </a:solidFill>
          <a:ln/>
        </p:spPr>
        <p:txBody>
          <a:bodyPr/>
          <a:p/>
        </p:txBody>
      </p:sp>
      <p:sp>
        <p:nvSpPr>
          <p:cNvPr id="16" name="Text 14"/>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794760"/>
            <a:ext cx="635508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Depinde de simptome</a:t>
            </a:r>
            <a:endParaRPr lang="en-US" sz="2000" dirty="0"/>
          </a:p>
        </p:txBody>
      </p:sp>
      <p:sp>
        <p:nvSpPr>
          <p:cNvPr id="18" name="Shape 16"/>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0" name="Text 18"/>
          <p:cNvSpPr/>
          <p:nvPr/>
        </p:nvSpPr>
        <p:spPr>
          <a:xfrm>
            <a:off x="594360" y="55321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Ambele decizii pot fi corecte. Le discutăm pe diapozitivul următor.</a:t>
            </a:r>
            <a:endParaRPr lang="en-US" sz="1500" dirty="0"/>
          </a:p>
        </p:txBody>
      </p:sp>
      <p:pic>
        <p:nvPicPr>
          <p:cNvPr id="21" name="Picture 20" descr="Mentimeter_OPT_DETECTIVI_C03.png"/>
          <p:cNvPicPr>
            <a:picLocks noChangeAspect="1"/>
          </p:cNvPicPr>
          <p:nvPr/>
        </p:nvPicPr>
        <p:blipFill>
          <a:blip r:embed="rId3"/>
          <a:stretch>
            <a:fillRect/>
          </a:stretch>
        </p:blipFill>
        <p:spPr>
          <a:xfrm>
            <a:off x="8817610" y="1783080"/>
            <a:ext cx="2435860" cy="2435860"/>
          </a:xfrm>
          <a:prstGeom prst="rect">
            <a:avLst/>
          </a:prstGeom>
        </p:spPr>
      </p:pic>
      <p:sp>
        <p:nvSpPr>
          <p:cNvPr id="22" name="TextBox 21"/>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SPUNE GHIDUL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Majoritatea diareilor trec singure</a:t>
            </a:r>
            <a:endParaRPr lang="en-US" sz="3400" dirty="0"/>
          </a:p>
        </p:txBody>
      </p:sp>
      <p:sp>
        <p:nvSpPr>
          <p:cNvPr id="4" name="Text 2"/>
          <p:cNvSpPr/>
          <p:nvPr/>
        </p:nvSpPr>
        <p:spPr>
          <a:xfrm>
            <a:off x="594360" y="1463040"/>
            <a:ext cx="10972800" cy="7315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Ghidul Societății Americane de Boli Infecțioase (IDSA) recomandă proba de scaun mai ales când diareea vine cu:</a:t>
            </a:r>
            <a:endParaRPr lang="en-US" sz="1800" dirty="0"/>
          </a:p>
        </p:txBody>
      </p:sp>
      <p:sp>
        <p:nvSpPr>
          <p:cNvPr id="5" name="Shape 3"/>
          <p:cNvSpPr/>
          <p:nvPr/>
        </p:nvSpPr>
        <p:spPr>
          <a:xfrm>
            <a:off x="594360" y="2286000"/>
            <a:ext cx="2606040" cy="1234440"/>
          </a:xfrm>
          <a:prstGeom prst="roundRect">
            <a:avLst>
              <a:gd name="adj" fmla="val 6667"/>
            </a:avLst>
          </a:prstGeom>
          <a:solidFill>
            <a:srgbClr val="F4E0E2"/>
          </a:solidFill>
          <a:ln w="12700">
            <a:solidFill>
              <a:srgbClr val="F4E0E2"/>
            </a:solidFill>
            <a:prstDash val="solid"/>
          </a:ln>
        </p:spPr>
        <p:txBody>
          <a:bodyPr/>
          <a:p/>
        </p:txBody>
      </p:sp>
      <p:sp>
        <p:nvSpPr>
          <p:cNvPr id="6" name="Text 4"/>
          <p:cNvSpPr/>
          <p:nvPr/>
        </p:nvSpPr>
        <p:spPr>
          <a:xfrm>
            <a:off x="777240" y="2286000"/>
            <a:ext cx="2240280" cy="1234440"/>
          </a:xfrm>
          <a:prstGeom prst="rect">
            <a:avLst/>
          </a:prstGeom>
          <a:noFill/>
          <a:ln/>
        </p:spPr>
        <p:txBody>
          <a:bodyPr wrap="square" lIns="0" tIns="0" rIns="0" bIns="0" rtlCol="0" anchor="ctr"/>
          <a:lstStyle/>
          <a:p>
            <a:pPr algn="ctr" indent="0" marL="0">
              <a:buNone/>
            </a:pPr>
            <a:r>
              <a:rPr lang="en-US" sz="1900" b="1" dirty="0">
                <a:solidFill>
                  <a:srgbClr val="B02532"/>
                </a:solidFill>
                <a:latin typeface="Palatino Linotype" pitchFamily="34" charset="0"/>
                <a:ea typeface="Palatino Linotype" pitchFamily="34" charset="-122"/>
                <a:cs typeface="Palatino Linotype" pitchFamily="34" charset="-120"/>
              </a:rPr>
              <a:t>Febră</a:t>
            </a:r>
            <a:endParaRPr lang="en-US" sz="1900" dirty="0"/>
          </a:p>
        </p:txBody>
      </p:sp>
      <p:sp>
        <p:nvSpPr>
          <p:cNvPr id="7" name="Shape 5"/>
          <p:cNvSpPr/>
          <p:nvPr/>
        </p:nvSpPr>
        <p:spPr>
          <a:xfrm>
            <a:off x="3383280" y="2286000"/>
            <a:ext cx="2606040" cy="1234440"/>
          </a:xfrm>
          <a:prstGeom prst="roundRect">
            <a:avLst>
              <a:gd name="adj" fmla="val 6667"/>
            </a:avLst>
          </a:prstGeom>
          <a:solidFill>
            <a:srgbClr val="F6EDD5"/>
          </a:solidFill>
          <a:ln w="12700">
            <a:solidFill>
              <a:srgbClr val="F6EDD5"/>
            </a:solidFill>
            <a:prstDash val="solid"/>
          </a:ln>
        </p:spPr>
        <p:txBody>
          <a:bodyPr/>
          <a:p/>
        </p:txBody>
      </p:sp>
      <p:sp>
        <p:nvSpPr>
          <p:cNvPr id="8" name="Text 6"/>
          <p:cNvSpPr/>
          <p:nvPr/>
        </p:nvSpPr>
        <p:spPr>
          <a:xfrm>
            <a:off x="3566160" y="2286000"/>
            <a:ext cx="2240280" cy="1234440"/>
          </a:xfrm>
          <a:prstGeom prst="rect">
            <a:avLst/>
          </a:prstGeom>
          <a:noFill/>
          <a:ln/>
        </p:spPr>
        <p:txBody>
          <a:bodyPr wrap="square" lIns="0" tIns="0" rIns="0" bIns="0" rtlCol="0" anchor="ctr"/>
          <a:lstStyle/>
          <a:p>
            <a:pPr algn="ctr" indent="0" marL="0">
              <a:buNone/>
            </a:pPr>
            <a:r>
              <a:rPr lang="en-US" sz="1900" b="1" dirty="0">
                <a:solidFill>
                  <a:srgbClr val="8A6100"/>
                </a:solidFill>
                <a:latin typeface="Palatino Linotype" pitchFamily="34" charset="0"/>
                <a:ea typeface="Palatino Linotype" pitchFamily="34" charset="-122"/>
                <a:cs typeface="Palatino Linotype" pitchFamily="34" charset="-120"/>
              </a:rPr>
              <a:t>Sânge sau mucus în scaun</a:t>
            </a:r>
            <a:endParaRPr lang="en-US" sz="1900" dirty="0"/>
          </a:p>
        </p:txBody>
      </p:sp>
      <p:sp>
        <p:nvSpPr>
          <p:cNvPr id="9" name="Shape 7"/>
          <p:cNvSpPr/>
          <p:nvPr/>
        </p:nvSpPr>
        <p:spPr>
          <a:xfrm>
            <a:off x="6172200" y="2286000"/>
            <a:ext cx="2606040" cy="1234440"/>
          </a:xfrm>
          <a:prstGeom prst="roundRect">
            <a:avLst>
              <a:gd name="adj" fmla="val 6667"/>
            </a:avLst>
          </a:prstGeom>
          <a:solidFill>
            <a:srgbClr val="E9E3F6"/>
          </a:solidFill>
          <a:ln w="12700">
            <a:solidFill>
              <a:srgbClr val="E9E3F6"/>
            </a:solidFill>
            <a:prstDash val="solid"/>
          </a:ln>
        </p:spPr>
        <p:txBody>
          <a:bodyPr/>
          <a:p/>
        </p:txBody>
      </p:sp>
      <p:sp>
        <p:nvSpPr>
          <p:cNvPr id="10" name="Text 8"/>
          <p:cNvSpPr/>
          <p:nvPr/>
        </p:nvSpPr>
        <p:spPr>
          <a:xfrm>
            <a:off x="6355080" y="2286000"/>
            <a:ext cx="2240280" cy="1234440"/>
          </a:xfrm>
          <a:prstGeom prst="rect">
            <a:avLst/>
          </a:prstGeom>
          <a:noFill/>
          <a:ln/>
        </p:spPr>
        <p:txBody>
          <a:bodyPr wrap="square" lIns="0" tIns="0" rIns="0" bIns="0" rtlCol="0" anchor="ctr"/>
          <a:lstStyle/>
          <a:p>
            <a:pPr algn="ctr" indent="0" marL="0">
              <a:buNone/>
            </a:pPr>
            <a:r>
              <a:rPr lang="en-US" sz="1900" b="1" dirty="0">
                <a:solidFill>
                  <a:srgbClr val="4A2D8C"/>
                </a:solidFill>
                <a:latin typeface="Palatino Linotype" pitchFamily="34" charset="0"/>
                <a:ea typeface="Palatino Linotype" pitchFamily="34" charset="-122"/>
                <a:cs typeface="Palatino Linotype" pitchFamily="34" charset="-120"/>
              </a:rPr>
              <a:t>Crampe abdominale puternice</a:t>
            </a:r>
            <a:endParaRPr lang="en-US" sz="1900" dirty="0"/>
          </a:p>
        </p:txBody>
      </p:sp>
      <p:sp>
        <p:nvSpPr>
          <p:cNvPr id="11" name="Shape 9"/>
          <p:cNvSpPr/>
          <p:nvPr/>
        </p:nvSpPr>
        <p:spPr>
          <a:xfrm>
            <a:off x="8961120" y="2286000"/>
            <a:ext cx="2606040" cy="1234440"/>
          </a:xfrm>
          <a:prstGeom prst="roundRect">
            <a:avLst>
              <a:gd name="adj" fmla="val 6667"/>
            </a:avLst>
          </a:prstGeom>
          <a:solidFill>
            <a:srgbClr val="E1F0EC"/>
          </a:solidFill>
          <a:ln w="12700">
            <a:solidFill>
              <a:srgbClr val="E1F0EC"/>
            </a:solidFill>
            <a:prstDash val="solid"/>
          </a:ln>
        </p:spPr>
        <p:txBody>
          <a:bodyPr/>
          <a:p/>
        </p:txBody>
      </p:sp>
      <p:sp>
        <p:nvSpPr>
          <p:cNvPr id="12" name="Text 10"/>
          <p:cNvSpPr/>
          <p:nvPr/>
        </p:nvSpPr>
        <p:spPr>
          <a:xfrm>
            <a:off x="9144000" y="2286000"/>
            <a:ext cx="2240280" cy="1234440"/>
          </a:xfrm>
          <a:prstGeom prst="rect">
            <a:avLst/>
          </a:prstGeom>
          <a:noFill/>
          <a:ln/>
        </p:spPr>
        <p:txBody>
          <a:bodyPr wrap="square" lIns="0" tIns="0" rIns="0" bIns="0" rtlCol="0" anchor="ctr"/>
          <a:lstStyle/>
          <a:p>
            <a:pPr algn="ctr" indent="0" marL="0">
              <a:buNone/>
            </a:pPr>
            <a:r>
              <a:rPr lang="en-US" sz="1900" b="1" dirty="0">
                <a:solidFill>
                  <a:srgbClr val="0E7C6B"/>
                </a:solidFill>
                <a:latin typeface="Palatino Linotype" pitchFamily="34" charset="0"/>
                <a:ea typeface="Palatino Linotype" pitchFamily="34" charset="-122"/>
                <a:cs typeface="Palatino Linotype" pitchFamily="34" charset="-120"/>
              </a:rPr>
              <a:t>Semne de sepsis</a:t>
            </a:r>
            <a:endParaRPr lang="en-US" sz="1900" dirty="0"/>
          </a:p>
        </p:txBody>
      </p:sp>
      <p:sp>
        <p:nvSpPr>
          <p:cNvPr id="13" name="Shape 11"/>
          <p:cNvSpPr/>
          <p:nvPr/>
        </p:nvSpPr>
        <p:spPr>
          <a:xfrm>
            <a:off x="594360" y="3886200"/>
            <a:ext cx="10972800" cy="1737360"/>
          </a:xfrm>
          <a:prstGeom prst="roundRect">
            <a:avLst>
              <a:gd name="adj" fmla="val 4737"/>
            </a:avLst>
          </a:prstGeom>
          <a:solidFill>
            <a:srgbClr val="11121A"/>
          </a:solidFill>
          <a:ln w="12700">
            <a:solidFill>
              <a:srgbClr val="11121A"/>
            </a:solidFill>
            <a:prstDash val="solid"/>
          </a:ln>
        </p:spPr>
        <p:txBody>
          <a:bodyPr/>
          <a:p/>
        </p:txBody>
      </p:sp>
      <p:sp>
        <p:nvSpPr>
          <p:cNvPr id="14" name="Text 12"/>
          <p:cNvSpPr/>
          <p:nvPr/>
        </p:nvSpPr>
        <p:spPr>
          <a:xfrm>
            <a:off x="914400" y="3886200"/>
            <a:ext cx="10332720" cy="17373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Medicul care nu cere analize oricui are stomacul deranjat urmează ghidul. Decizia are însă o consecință statistică: un bolnav fără probă de laborator nu poate deveni un caz confirmat.</a:t>
            </a:r>
            <a:endParaRPr lang="en-US" sz="1900" dirty="0"/>
          </a:p>
        </p:txBody>
      </p:sp>
      <p:sp>
        <p:nvSpPr>
          <p:cNvPr id="15" name="Text 13"/>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ghidul IDSA pentru diareea infecțioasă (registru A529, A530).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 CAZ CONSTRUIT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Drumul celor douăzeci și doi de bolnavi</a:t>
            </a:r>
            <a:endParaRPr lang="en-US" sz="3000" dirty="0"/>
          </a:p>
        </p:txBody>
      </p:sp>
      <p:sp>
        <p:nvSpPr>
          <p:cNvPr id="4" name="Text 2"/>
          <p:cNvSpPr/>
          <p:nvPr/>
        </p:nvSpPr>
        <p:spPr>
          <a:xfrm>
            <a:off x="594360" y="1508760"/>
            <a:ext cx="3200400" cy="548640"/>
          </a:xfrm>
          <a:prstGeom prst="rect">
            <a:avLst/>
          </a:prstGeom>
          <a:noFill/>
          <a:ln/>
        </p:spPr>
        <p:txBody>
          <a:bodyPr wrap="square" lIns="0" tIns="0" rIns="0" bIns="0" rtlCol="0" anchor="ctr"/>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S-au îmbolnăvit</a:t>
            </a:r>
            <a:endParaRPr lang="en-US" sz="1600" dirty="0"/>
          </a:p>
        </p:txBody>
      </p:sp>
      <p:sp>
        <p:nvSpPr>
          <p:cNvPr id="5" name="Shape 3"/>
          <p:cNvSpPr/>
          <p:nvPr/>
        </p:nvSpPr>
        <p:spPr>
          <a:xfrm>
            <a:off x="3977640" y="1572768"/>
            <a:ext cx="6400800" cy="420624"/>
          </a:xfrm>
          <a:prstGeom prst="rect">
            <a:avLst/>
          </a:prstGeom>
          <a:solidFill>
            <a:srgbClr val="B02532"/>
          </a:solidFill>
          <a:ln w="12700">
            <a:solidFill>
              <a:srgbClr val="B02532"/>
            </a:solidFill>
            <a:prstDash val="solid"/>
          </a:ln>
        </p:spPr>
        <p:txBody>
          <a:bodyPr/>
          <a:p/>
        </p:txBody>
      </p:sp>
      <p:sp>
        <p:nvSpPr>
          <p:cNvPr id="6" name="Text 4"/>
          <p:cNvSpPr/>
          <p:nvPr/>
        </p:nvSpPr>
        <p:spPr>
          <a:xfrm>
            <a:off x="10515600" y="1508760"/>
            <a:ext cx="822960" cy="54864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22</a:t>
            </a:r>
            <a:endParaRPr lang="en-US" sz="2400" dirty="0"/>
          </a:p>
        </p:txBody>
      </p:sp>
      <p:sp>
        <p:nvSpPr>
          <p:cNvPr id="7" name="Text 5"/>
          <p:cNvSpPr/>
          <p:nvPr/>
        </p:nvSpPr>
        <p:spPr>
          <a:xfrm>
            <a:off x="594360" y="2194560"/>
            <a:ext cx="3200400" cy="548640"/>
          </a:xfrm>
          <a:prstGeom prst="rect">
            <a:avLst/>
          </a:prstGeom>
          <a:noFill/>
          <a:ln/>
        </p:spPr>
        <p:txBody>
          <a:bodyPr wrap="square" lIns="0" tIns="0" rIns="0" bIns="0" rtlCol="0" anchor="ctr"/>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Au ajuns la un medic</a:t>
            </a:r>
            <a:endParaRPr lang="en-US" sz="1600" dirty="0"/>
          </a:p>
        </p:txBody>
      </p:sp>
      <p:sp>
        <p:nvSpPr>
          <p:cNvPr id="8" name="Shape 6"/>
          <p:cNvSpPr/>
          <p:nvPr/>
        </p:nvSpPr>
        <p:spPr>
          <a:xfrm>
            <a:off x="3977640" y="2258568"/>
            <a:ext cx="2618509" cy="420624"/>
          </a:xfrm>
          <a:prstGeom prst="rect">
            <a:avLst/>
          </a:prstGeom>
          <a:solidFill>
            <a:srgbClr val="8A6100"/>
          </a:solidFill>
          <a:ln w="12700">
            <a:solidFill>
              <a:srgbClr val="8A6100"/>
            </a:solidFill>
            <a:prstDash val="solid"/>
          </a:ln>
        </p:spPr>
        <p:txBody>
          <a:bodyPr/>
          <a:p/>
        </p:txBody>
      </p:sp>
      <p:sp>
        <p:nvSpPr>
          <p:cNvPr id="9" name="Text 7"/>
          <p:cNvSpPr/>
          <p:nvPr/>
        </p:nvSpPr>
        <p:spPr>
          <a:xfrm>
            <a:off x="6733309" y="2194560"/>
            <a:ext cx="822960" cy="548640"/>
          </a:xfrm>
          <a:prstGeom prst="rect">
            <a:avLst/>
          </a:prstGeom>
          <a:noFill/>
          <a:ln/>
        </p:spPr>
        <p:txBody>
          <a:bodyPr wrap="square" lIns="0" tIns="0" rIns="0" bIns="0" rtlCol="0" anchor="ctr"/>
          <a:lstStyle/>
          <a:p>
            <a:pPr indent="0" marL="0">
              <a:buNone/>
            </a:pPr>
            <a:r>
              <a:rPr lang="en-US" sz="2400" b="1" dirty="0">
                <a:solidFill>
                  <a:srgbClr val="8A6100"/>
                </a:solidFill>
                <a:latin typeface="Palatino Linotype" pitchFamily="34" charset="0"/>
                <a:ea typeface="Palatino Linotype" pitchFamily="34" charset="-122"/>
                <a:cs typeface="Palatino Linotype" pitchFamily="34" charset="-120"/>
              </a:rPr>
              <a:t>9</a:t>
            </a:r>
            <a:endParaRPr lang="en-US" sz="2400" dirty="0"/>
          </a:p>
        </p:txBody>
      </p:sp>
      <p:sp>
        <p:nvSpPr>
          <p:cNvPr id="10" name="Text 8"/>
          <p:cNvSpPr/>
          <p:nvPr/>
        </p:nvSpPr>
        <p:spPr>
          <a:xfrm>
            <a:off x="594360" y="2880360"/>
            <a:ext cx="3200400" cy="548640"/>
          </a:xfrm>
          <a:prstGeom prst="rect">
            <a:avLst/>
          </a:prstGeom>
          <a:noFill/>
          <a:ln/>
        </p:spPr>
        <p:txBody>
          <a:bodyPr wrap="square" lIns="0" tIns="0" rIns="0" bIns="0" rtlCol="0" anchor="ctr"/>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Li s-a cerut o probă</a:t>
            </a:r>
            <a:endParaRPr lang="en-US" sz="1600" dirty="0"/>
          </a:p>
        </p:txBody>
      </p:sp>
      <p:sp>
        <p:nvSpPr>
          <p:cNvPr id="11" name="Shape 9"/>
          <p:cNvSpPr/>
          <p:nvPr/>
        </p:nvSpPr>
        <p:spPr>
          <a:xfrm>
            <a:off x="3977640" y="2944368"/>
            <a:ext cx="1454727" cy="420624"/>
          </a:xfrm>
          <a:prstGeom prst="rect">
            <a:avLst/>
          </a:prstGeom>
          <a:solidFill>
            <a:srgbClr val="4A2D8C"/>
          </a:solidFill>
          <a:ln w="12700">
            <a:solidFill>
              <a:srgbClr val="4A2D8C"/>
            </a:solidFill>
            <a:prstDash val="solid"/>
          </a:ln>
        </p:spPr>
        <p:txBody>
          <a:bodyPr/>
          <a:p/>
        </p:txBody>
      </p:sp>
      <p:sp>
        <p:nvSpPr>
          <p:cNvPr id="12" name="Text 10"/>
          <p:cNvSpPr/>
          <p:nvPr/>
        </p:nvSpPr>
        <p:spPr>
          <a:xfrm>
            <a:off x="5569527" y="2880360"/>
            <a:ext cx="822960" cy="548640"/>
          </a:xfrm>
          <a:prstGeom prst="rect">
            <a:avLst/>
          </a:prstGeom>
          <a:noFill/>
          <a:ln/>
        </p:spPr>
        <p:txBody>
          <a:bodyPr wrap="square" lIns="0" tIns="0" rIns="0" bIns="0" rtlCol="0" anchor="ctr"/>
          <a:lstStyle/>
          <a:p>
            <a:pPr indent="0" marL="0">
              <a:buNone/>
            </a:pPr>
            <a:r>
              <a:rPr lang="en-US" sz="2400" b="1" dirty="0">
                <a:solidFill>
                  <a:srgbClr val="4A2D8C"/>
                </a:solidFill>
                <a:latin typeface="Palatino Linotype" pitchFamily="34" charset="0"/>
                <a:ea typeface="Palatino Linotype" pitchFamily="34" charset="-122"/>
                <a:cs typeface="Palatino Linotype" pitchFamily="34" charset="-120"/>
              </a:rPr>
              <a:t>5</a:t>
            </a:r>
            <a:endParaRPr lang="en-US" sz="2400" dirty="0"/>
          </a:p>
        </p:txBody>
      </p:sp>
      <p:sp>
        <p:nvSpPr>
          <p:cNvPr id="13" name="Text 11"/>
          <p:cNvSpPr/>
          <p:nvPr/>
        </p:nvSpPr>
        <p:spPr>
          <a:xfrm>
            <a:off x="594360" y="3566160"/>
            <a:ext cx="3200400" cy="548640"/>
          </a:xfrm>
          <a:prstGeom prst="rect">
            <a:avLst/>
          </a:prstGeom>
          <a:noFill/>
          <a:ln/>
        </p:spPr>
        <p:txBody>
          <a:bodyPr wrap="square" lIns="0" tIns="0" rIns="0" bIns="0" rtlCol="0" anchor="ctr"/>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Au adus proba</a:t>
            </a:r>
            <a:endParaRPr lang="en-US" sz="1600" dirty="0"/>
          </a:p>
        </p:txBody>
      </p:sp>
      <p:sp>
        <p:nvSpPr>
          <p:cNvPr id="14" name="Shape 12"/>
          <p:cNvSpPr/>
          <p:nvPr/>
        </p:nvSpPr>
        <p:spPr>
          <a:xfrm>
            <a:off x="3977640" y="3630168"/>
            <a:ext cx="1163782" cy="420624"/>
          </a:xfrm>
          <a:prstGeom prst="rect">
            <a:avLst/>
          </a:prstGeom>
          <a:solidFill>
            <a:srgbClr val="4A2D8C"/>
          </a:solidFill>
          <a:ln w="12700">
            <a:solidFill>
              <a:srgbClr val="4A2D8C"/>
            </a:solidFill>
            <a:prstDash val="solid"/>
          </a:ln>
        </p:spPr>
        <p:txBody>
          <a:bodyPr/>
          <a:p/>
        </p:txBody>
      </p:sp>
      <p:sp>
        <p:nvSpPr>
          <p:cNvPr id="15" name="Text 13"/>
          <p:cNvSpPr/>
          <p:nvPr/>
        </p:nvSpPr>
        <p:spPr>
          <a:xfrm>
            <a:off x="5278582" y="3566160"/>
            <a:ext cx="822960" cy="548640"/>
          </a:xfrm>
          <a:prstGeom prst="rect">
            <a:avLst/>
          </a:prstGeom>
          <a:noFill/>
          <a:ln/>
        </p:spPr>
        <p:txBody>
          <a:bodyPr wrap="square" lIns="0" tIns="0" rIns="0" bIns="0" rtlCol="0" anchor="ctr"/>
          <a:lstStyle/>
          <a:p>
            <a:pPr indent="0" marL="0">
              <a:buNone/>
            </a:pPr>
            <a:r>
              <a:rPr lang="en-US" sz="2400" b="1" dirty="0">
                <a:solidFill>
                  <a:srgbClr val="4A2D8C"/>
                </a:solidFill>
                <a:latin typeface="Palatino Linotype" pitchFamily="34" charset="0"/>
                <a:ea typeface="Palatino Linotype" pitchFamily="34" charset="-122"/>
                <a:cs typeface="Palatino Linotype" pitchFamily="34" charset="-120"/>
              </a:rPr>
              <a:t>4</a:t>
            </a:r>
            <a:endParaRPr lang="en-US" sz="2400" dirty="0"/>
          </a:p>
        </p:txBody>
      </p:sp>
      <p:sp>
        <p:nvSpPr>
          <p:cNvPr id="16" name="Text 14"/>
          <p:cNvSpPr/>
          <p:nvPr/>
        </p:nvSpPr>
        <p:spPr>
          <a:xfrm>
            <a:off x="594360" y="4251960"/>
            <a:ext cx="3200400" cy="548640"/>
          </a:xfrm>
          <a:prstGeom prst="rect">
            <a:avLst/>
          </a:prstGeom>
          <a:noFill/>
          <a:ln/>
        </p:spPr>
        <p:txBody>
          <a:bodyPr wrap="square" lIns="0" tIns="0" rIns="0" bIns="0" rtlCol="0" anchor="ctr"/>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Laboratorul a găsit microbul</a:t>
            </a:r>
            <a:endParaRPr lang="en-US" sz="1600" dirty="0"/>
          </a:p>
        </p:txBody>
      </p:sp>
      <p:sp>
        <p:nvSpPr>
          <p:cNvPr id="17" name="Shape 15"/>
          <p:cNvSpPr/>
          <p:nvPr/>
        </p:nvSpPr>
        <p:spPr>
          <a:xfrm>
            <a:off x="3977640" y="4315968"/>
            <a:ext cx="872836" cy="420624"/>
          </a:xfrm>
          <a:prstGeom prst="rect">
            <a:avLst/>
          </a:prstGeom>
          <a:solidFill>
            <a:srgbClr val="0E7C6B"/>
          </a:solidFill>
          <a:ln w="12700">
            <a:solidFill>
              <a:srgbClr val="0E7C6B"/>
            </a:solidFill>
            <a:prstDash val="solid"/>
          </a:ln>
        </p:spPr>
        <p:txBody>
          <a:bodyPr/>
          <a:p/>
        </p:txBody>
      </p:sp>
      <p:sp>
        <p:nvSpPr>
          <p:cNvPr id="18" name="Text 16"/>
          <p:cNvSpPr/>
          <p:nvPr/>
        </p:nvSpPr>
        <p:spPr>
          <a:xfrm>
            <a:off x="4987636" y="4251960"/>
            <a:ext cx="822960" cy="54864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3</a:t>
            </a:r>
            <a:endParaRPr lang="en-US" sz="2400" dirty="0"/>
          </a:p>
        </p:txBody>
      </p:sp>
      <p:sp>
        <p:nvSpPr>
          <p:cNvPr id="19" name="Text 17"/>
          <p:cNvSpPr/>
          <p:nvPr/>
        </p:nvSpPr>
        <p:spPr>
          <a:xfrm>
            <a:off x="594360" y="4937760"/>
            <a:ext cx="3200400" cy="548640"/>
          </a:xfrm>
          <a:prstGeom prst="rect">
            <a:avLst/>
          </a:prstGeom>
          <a:noFill/>
          <a:ln/>
        </p:spPr>
        <p:txBody>
          <a:bodyPr wrap="square" lIns="0" tIns="0" rIns="0" bIns="0" rtlCol="0" anchor="ctr"/>
          <a:lstStyle/>
          <a:p>
            <a:pPr algn="r" indent="0" marL="0">
              <a:buNone/>
            </a:pPr>
            <a:r>
              <a:rPr lang="en-US" sz="1600" b="1" dirty="0">
                <a:solidFill>
                  <a:srgbClr val="11121A"/>
                </a:solidFill>
                <a:latin typeface="Palatino Linotype" pitchFamily="34" charset="0"/>
                <a:ea typeface="Palatino Linotype" pitchFamily="34" charset="-122"/>
                <a:cs typeface="Palatino Linotype" pitchFamily="34" charset="-120"/>
              </a:rPr>
              <a:t>Declarați la DSP</a:t>
            </a:r>
            <a:endParaRPr lang="en-US" sz="1600" dirty="0"/>
          </a:p>
        </p:txBody>
      </p:sp>
      <p:sp>
        <p:nvSpPr>
          <p:cNvPr id="20" name="Shape 18"/>
          <p:cNvSpPr/>
          <p:nvPr/>
        </p:nvSpPr>
        <p:spPr>
          <a:xfrm>
            <a:off x="3977640" y="5001768"/>
            <a:ext cx="581891" cy="420624"/>
          </a:xfrm>
          <a:prstGeom prst="rect">
            <a:avLst/>
          </a:prstGeom>
          <a:solidFill>
            <a:srgbClr val="07564B"/>
          </a:solidFill>
          <a:ln w="12700">
            <a:solidFill>
              <a:srgbClr val="07564B"/>
            </a:solidFill>
            <a:prstDash val="solid"/>
          </a:ln>
        </p:spPr>
        <p:txBody>
          <a:bodyPr/>
          <a:p/>
        </p:txBody>
      </p:sp>
      <p:sp>
        <p:nvSpPr>
          <p:cNvPr id="21" name="Text 19"/>
          <p:cNvSpPr/>
          <p:nvPr/>
        </p:nvSpPr>
        <p:spPr>
          <a:xfrm>
            <a:off x="4696691" y="4937760"/>
            <a:ext cx="822960" cy="548640"/>
          </a:xfrm>
          <a:prstGeom prst="rect">
            <a:avLst/>
          </a:prstGeom>
          <a:noFill/>
          <a:ln/>
        </p:spPr>
        <p:txBody>
          <a:bodyPr wrap="square" lIns="0" tIns="0" rIns="0" bIns="0" rtlCol="0" anchor="ctr"/>
          <a:lstStyle/>
          <a:p>
            <a:pPr indent="0" marL="0">
              <a:buNone/>
            </a:pPr>
            <a:r>
              <a:rPr lang="en-US" sz="2400" b="1" dirty="0">
                <a:solidFill>
                  <a:srgbClr val="07564B"/>
                </a:solidFill>
                <a:latin typeface="Palatino Linotype" pitchFamily="34" charset="0"/>
                <a:ea typeface="Palatino Linotype" pitchFamily="34" charset="-122"/>
                <a:cs typeface="Palatino Linotype" pitchFamily="34" charset="-120"/>
              </a:rPr>
              <a:t>2</a:t>
            </a:r>
            <a:endParaRPr lang="en-US" sz="2400" dirty="0"/>
          </a:p>
        </p:txBody>
      </p:sp>
      <p:sp>
        <p:nvSpPr>
          <p:cNvPr id="22" name="Text 20"/>
          <p:cNvSpPr/>
          <p:nvPr/>
        </p:nvSpPr>
        <p:spPr>
          <a:xfrm>
            <a:off x="594360" y="5623560"/>
            <a:ext cx="10972800" cy="59436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Din 22 de bolnavi, în cifra oficială au ajuns 2: unul din unsprezece. Nimeni nu a fost „ascuns”; fiecare poartă are o explicație firească.</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Piramida supravegherii</a:t>
            </a:r>
            <a:endParaRPr lang="en-US" sz="3400" dirty="0"/>
          </a:p>
        </p:txBody>
      </p:sp>
      <p:sp>
        <p:nvSpPr>
          <p:cNvPr id="4" name="Shape 2"/>
          <p:cNvSpPr/>
          <p:nvPr/>
        </p:nvSpPr>
        <p:spPr>
          <a:xfrm>
            <a:off x="3246120" y="1463040"/>
            <a:ext cx="2377440" cy="658368"/>
          </a:xfrm>
          <a:prstGeom prst="rect">
            <a:avLst/>
          </a:prstGeom>
          <a:solidFill>
            <a:srgbClr val="07564B"/>
          </a:solidFill>
          <a:ln w="12700">
            <a:solidFill>
              <a:srgbClr val="07564B"/>
            </a:solidFill>
            <a:prstDash val="solid"/>
          </a:ln>
        </p:spPr>
        <p:txBody>
          <a:bodyPr/>
          <a:p/>
        </p:txBody>
      </p:sp>
      <p:sp>
        <p:nvSpPr>
          <p:cNvPr id="5" name="Text 3"/>
          <p:cNvSpPr/>
          <p:nvPr/>
        </p:nvSpPr>
        <p:spPr>
          <a:xfrm>
            <a:off x="3246120" y="1463040"/>
            <a:ext cx="237744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Raportați autorităților</a:t>
            </a:r>
            <a:endParaRPr lang="en-US" sz="1300" dirty="0"/>
          </a:p>
        </p:txBody>
      </p:sp>
      <p:sp>
        <p:nvSpPr>
          <p:cNvPr id="6" name="Shape 4"/>
          <p:cNvSpPr/>
          <p:nvPr/>
        </p:nvSpPr>
        <p:spPr>
          <a:xfrm>
            <a:off x="2583180" y="2212848"/>
            <a:ext cx="3703320" cy="658368"/>
          </a:xfrm>
          <a:prstGeom prst="rect">
            <a:avLst/>
          </a:prstGeom>
          <a:solidFill>
            <a:srgbClr val="0E7C6B"/>
          </a:solidFill>
          <a:ln w="12700">
            <a:solidFill>
              <a:srgbClr val="0E7C6B"/>
            </a:solidFill>
            <a:prstDash val="solid"/>
          </a:ln>
        </p:spPr>
        <p:txBody>
          <a:bodyPr/>
          <a:p/>
        </p:txBody>
      </p:sp>
      <p:sp>
        <p:nvSpPr>
          <p:cNvPr id="7" name="Text 5"/>
          <p:cNvSpPr/>
          <p:nvPr/>
        </p:nvSpPr>
        <p:spPr>
          <a:xfrm>
            <a:off x="2583180" y="2212848"/>
            <a:ext cx="37033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Laboratorul a găsit microbul</a:t>
            </a:r>
            <a:endParaRPr lang="en-US" sz="1300" dirty="0"/>
          </a:p>
        </p:txBody>
      </p:sp>
      <p:sp>
        <p:nvSpPr>
          <p:cNvPr id="8" name="Shape 6"/>
          <p:cNvSpPr/>
          <p:nvPr/>
        </p:nvSpPr>
        <p:spPr>
          <a:xfrm>
            <a:off x="1920240" y="2962656"/>
            <a:ext cx="5029200" cy="658368"/>
          </a:xfrm>
          <a:prstGeom prst="rect">
            <a:avLst/>
          </a:prstGeom>
          <a:solidFill>
            <a:srgbClr val="4A2D8C"/>
          </a:solidFill>
          <a:ln w="12700">
            <a:solidFill>
              <a:srgbClr val="4A2D8C"/>
            </a:solidFill>
            <a:prstDash val="solid"/>
          </a:ln>
        </p:spPr>
        <p:txBody>
          <a:bodyPr/>
          <a:p/>
        </p:txBody>
      </p:sp>
      <p:sp>
        <p:nvSpPr>
          <p:cNvPr id="9" name="Text 7"/>
          <p:cNvSpPr/>
          <p:nvPr/>
        </p:nvSpPr>
        <p:spPr>
          <a:xfrm>
            <a:off x="1920240" y="2962656"/>
            <a:ext cx="50292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Au dat o probă</a:t>
            </a:r>
            <a:endParaRPr lang="en-US" sz="1500" dirty="0"/>
          </a:p>
        </p:txBody>
      </p:sp>
      <p:sp>
        <p:nvSpPr>
          <p:cNvPr id="10" name="Shape 8"/>
          <p:cNvSpPr/>
          <p:nvPr/>
        </p:nvSpPr>
        <p:spPr>
          <a:xfrm>
            <a:off x="1257300" y="3712464"/>
            <a:ext cx="6355080" cy="658368"/>
          </a:xfrm>
          <a:prstGeom prst="rect">
            <a:avLst/>
          </a:prstGeom>
          <a:solidFill>
            <a:srgbClr val="8A6100"/>
          </a:solidFill>
          <a:ln w="12700">
            <a:solidFill>
              <a:srgbClr val="8A6100"/>
            </a:solidFill>
            <a:prstDash val="solid"/>
          </a:ln>
        </p:spPr>
        <p:txBody>
          <a:bodyPr/>
          <a:p/>
        </p:txBody>
      </p:sp>
      <p:sp>
        <p:nvSpPr>
          <p:cNvPr id="11" name="Text 9"/>
          <p:cNvSpPr/>
          <p:nvPr/>
        </p:nvSpPr>
        <p:spPr>
          <a:xfrm>
            <a:off x="1257300" y="3712464"/>
            <a:ext cx="635508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Au mers la medic</a:t>
            </a:r>
            <a:endParaRPr lang="en-US" sz="1500" dirty="0"/>
          </a:p>
        </p:txBody>
      </p:sp>
      <p:sp>
        <p:nvSpPr>
          <p:cNvPr id="12" name="Shape 10"/>
          <p:cNvSpPr/>
          <p:nvPr/>
        </p:nvSpPr>
        <p:spPr>
          <a:xfrm>
            <a:off x="594360" y="4462272"/>
            <a:ext cx="7680960" cy="658368"/>
          </a:xfrm>
          <a:prstGeom prst="rect">
            <a:avLst/>
          </a:prstGeom>
          <a:solidFill>
            <a:srgbClr val="B02532"/>
          </a:solidFill>
          <a:ln w="12700">
            <a:solidFill>
              <a:srgbClr val="B02532"/>
            </a:solidFill>
            <a:prstDash val="solid"/>
          </a:ln>
        </p:spPr>
        <p:txBody>
          <a:bodyPr/>
          <a:p/>
        </p:txBody>
      </p:sp>
      <p:sp>
        <p:nvSpPr>
          <p:cNvPr id="13" name="Text 11"/>
          <p:cNvSpPr/>
          <p:nvPr/>
        </p:nvSpPr>
        <p:spPr>
          <a:xfrm>
            <a:off x="594360" y="4462272"/>
            <a:ext cx="768096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Toți cei care s-au îmbolnăvit</a:t>
            </a:r>
            <a:endParaRPr lang="en-US" sz="1500" dirty="0"/>
          </a:p>
        </p:txBody>
      </p:sp>
      <p:sp>
        <p:nvSpPr>
          <p:cNvPr id="14" name="Text 12"/>
          <p:cNvSpPr/>
          <p:nvPr/>
        </p:nvSpPr>
        <p:spPr>
          <a:xfrm>
            <a:off x="8549640" y="1508760"/>
            <a:ext cx="3108960" cy="1371600"/>
          </a:xfrm>
          <a:prstGeom prst="rect">
            <a:avLst/>
          </a:prstGeom>
          <a:noFill/>
          <a:ln/>
        </p:spPr>
        <p:txBody>
          <a:bodyPr wrap="square" lIns="0" tIns="0" rIns="0" bIns="0" rtlCol="0" anchor="t"/>
          <a:lstStyle/>
          <a:p>
            <a:pPr indent="0" marL="0">
              <a:buNone/>
            </a:pPr>
            <a:r>
              <a:rPr lang="en-US" sz="2100" b="1" i="1" dirty="0">
                <a:solidFill>
                  <a:srgbClr val="B02532"/>
                </a:solidFill>
                <a:latin typeface="Palatino Linotype" pitchFamily="34" charset="0"/>
                <a:ea typeface="Palatino Linotype" pitchFamily="34" charset="-122"/>
                <a:cs typeface="Palatino Linotype" pitchFamily="34" charset="-120"/>
              </a:rPr>
              <a:t>„Cifra oficială este vârful aisbergului.”</a:t>
            </a:r>
            <a:endParaRPr lang="en-US" sz="2100" dirty="0"/>
          </a:p>
        </p:txBody>
      </p:sp>
      <p:sp>
        <p:nvSpPr>
          <p:cNvPr id="15" name="Text 13"/>
          <p:cNvSpPr/>
          <p:nvPr/>
        </p:nvSpPr>
        <p:spPr>
          <a:xfrm>
            <a:off x="8549640" y="2971800"/>
            <a:ext cx="3108960" cy="23774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Numele folosit în acest curs pentru treptele prin care trece un bolnav până în statistica oficială. La fiecare treaptă se pierd oameni.</a:t>
            </a:r>
            <a:endParaRPr lang="en-US" sz="1600" dirty="0"/>
          </a:p>
        </p:txBody>
      </p:sp>
      <p:sp>
        <p:nvSpPr>
          <p:cNvPr id="16" name="Text 14"/>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treptele, după echipa CDC (registru A508).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DETECTIVI/active/img/formulare_focar_cdc_phil31353.jpg">    </p:cNvPr>
          <p:cNvPicPr>
            <a:picLocks noChangeAspect="1"/>
          </p:cNvPicPr>
          <p:nvPr/>
        </p:nvPicPr>
        <p:blipFill>
          <a:blip r:embed="rId1"/>
          <a:stretch>
            <a:fillRect/>
          </a:stretch>
        </p:blipFill>
        <p:spPr>
          <a:xfrm>
            <a:off x="0" y="0"/>
            <a:ext cx="4754880" cy="5943600"/>
          </a:xfrm>
          <a:prstGeom prst="rect">
            <a:avLst/>
          </a:prstGeom>
        </p:spPr>
      </p:pic>
      <p:sp>
        <p:nvSpPr>
          <p:cNvPr id="3" name="Shape 0"/>
          <p:cNvSpPr/>
          <p:nvPr/>
        </p:nvSpPr>
        <p:spPr>
          <a:xfrm>
            <a:off x="0" y="5943600"/>
            <a:ext cx="4754880" cy="914400"/>
          </a:xfrm>
          <a:prstGeom prst="rect">
            <a:avLst/>
          </a:prstGeom>
          <a:solidFill>
            <a:srgbClr val="11121A"/>
          </a:solidFill>
          <a:ln w="12700">
            <a:solidFill>
              <a:srgbClr val="11121A"/>
            </a:solidFill>
            <a:prstDash val="solid"/>
          </a:ln>
        </p:spPr>
        <p:txBody>
          <a:bodyPr/>
          <a:p/>
        </p:txBody>
      </p:sp>
      <p:sp>
        <p:nvSpPr>
          <p:cNvPr id="4" name="Text 1"/>
          <p:cNvSpPr/>
          <p:nvPr/>
        </p:nvSpPr>
        <p:spPr>
          <a:xfrm>
            <a:off x="274320" y="5989320"/>
            <a:ext cx="4297680" cy="457200"/>
          </a:xfrm>
          <a:prstGeom prst="rect">
            <a:avLst/>
          </a:prstGeom>
          <a:noFill/>
          <a:ln/>
        </p:spPr>
        <p:txBody>
          <a:bodyPr wrap="square" lIns="0" tIns="0" rIns="0" bIns="0" rtlCol="0" anchor="ctr"/>
          <a:lstStyle/>
          <a:p>
            <a:pPr indent="0" marL="0">
              <a:buNone/>
            </a:pPr>
            <a:r>
              <a:rPr lang="en-US" sz="1050" dirty="0">
                <a:solidFill>
                  <a:srgbClr val="FFFFFF"/>
                </a:solidFill>
                <a:latin typeface="Palatino Linotype" pitchFamily="34" charset="0"/>
                <a:ea typeface="Palatino Linotype" pitchFamily="34" charset="-122"/>
                <a:cs typeface="Palatino Linotype" pitchFamily="34" charset="-120"/>
              </a:rPr>
              <a:t>Formulare de triaj într-un focar de rujeolă · Chicago, 2024</a:t>
            </a:r>
            <a:endParaRPr lang="en-US" sz="1050" dirty="0"/>
          </a:p>
        </p:txBody>
      </p:sp>
      <p:sp>
        <p:nvSpPr>
          <p:cNvPr id="5" name="Text 2"/>
          <p:cNvSpPr/>
          <p:nvPr/>
        </p:nvSpPr>
        <p:spPr>
          <a:xfrm>
            <a:off x="274320" y="6473952"/>
            <a:ext cx="42976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CDC/Amy Nham · domeniu public · CDC PHIL</a:t>
            </a:r>
            <a:endParaRPr lang="en-US" sz="850" dirty="0"/>
          </a:p>
        </p:txBody>
      </p:sp>
      <p:sp>
        <p:nvSpPr>
          <p:cNvPr id="6" name="Text 3"/>
          <p:cNvSpPr/>
          <p:nvPr/>
        </p:nvSpPr>
        <p:spPr>
          <a:xfrm>
            <a:off x="5212080" y="411480"/>
            <a:ext cx="6400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PIERDERI</a:t>
            </a:r>
            <a:endParaRPr lang="en-US" sz="1300" dirty="0"/>
          </a:p>
        </p:txBody>
      </p:sp>
      <p:sp>
        <p:nvSpPr>
          <p:cNvPr id="7" name="Text 4"/>
          <p:cNvSpPr/>
          <p:nvPr/>
        </p:nvSpPr>
        <p:spPr>
          <a:xfrm>
            <a:off x="5212080" y="777240"/>
            <a:ext cx="6583680" cy="91440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Subdiagnosticarea și subraportarea</a:t>
            </a:r>
            <a:endParaRPr lang="en-US" sz="2700" dirty="0"/>
          </a:p>
        </p:txBody>
      </p:sp>
      <p:sp>
        <p:nvSpPr>
          <p:cNvPr id="8" name="Shape 5"/>
          <p:cNvSpPr/>
          <p:nvPr/>
        </p:nvSpPr>
        <p:spPr>
          <a:xfrm>
            <a:off x="5212080" y="1828800"/>
            <a:ext cx="6400800" cy="1508760"/>
          </a:xfrm>
          <a:prstGeom prst="roundRect">
            <a:avLst>
              <a:gd name="adj" fmla="val 5455"/>
            </a:avLst>
          </a:prstGeom>
          <a:solidFill>
            <a:srgbClr val="F4E0E2"/>
          </a:solidFill>
          <a:ln w="12700">
            <a:solidFill>
              <a:srgbClr val="F4E0E2"/>
            </a:solidFill>
            <a:prstDash val="solid"/>
          </a:ln>
        </p:spPr>
        <p:txBody>
          <a:bodyPr/>
          <a:p/>
        </p:txBody>
      </p:sp>
      <p:sp>
        <p:nvSpPr>
          <p:cNvPr id="9" name="Text 6"/>
          <p:cNvSpPr/>
          <p:nvPr/>
        </p:nvSpPr>
        <p:spPr>
          <a:xfrm>
            <a:off x="5486400" y="1938528"/>
            <a:ext cx="585216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Subdiagnosticarea</a:t>
            </a:r>
            <a:endParaRPr lang="en-US" sz="1900" dirty="0"/>
          </a:p>
        </p:txBody>
      </p:sp>
      <p:sp>
        <p:nvSpPr>
          <p:cNvPr id="10" name="Text 7"/>
          <p:cNvSpPr/>
          <p:nvPr/>
        </p:nvSpPr>
        <p:spPr>
          <a:xfrm>
            <a:off x="5486400" y="2377440"/>
            <a:ext cx="585216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Bolnavul nu a mers la medic, nu a dat o probă sau laboratorul nu a găsit microbul.</a:t>
            </a:r>
            <a:endParaRPr lang="en-US" sz="1600" dirty="0"/>
          </a:p>
        </p:txBody>
      </p:sp>
      <p:sp>
        <p:nvSpPr>
          <p:cNvPr id="11" name="Shape 8"/>
          <p:cNvSpPr/>
          <p:nvPr/>
        </p:nvSpPr>
        <p:spPr>
          <a:xfrm>
            <a:off x="5212080" y="3520440"/>
            <a:ext cx="6400800" cy="1325880"/>
          </a:xfrm>
          <a:prstGeom prst="roundRect">
            <a:avLst>
              <a:gd name="adj" fmla="val 6207"/>
            </a:avLst>
          </a:prstGeom>
          <a:solidFill>
            <a:srgbClr val="E1F0EC"/>
          </a:solidFill>
          <a:ln w="12700">
            <a:solidFill>
              <a:srgbClr val="E1F0EC"/>
            </a:solidFill>
            <a:prstDash val="solid"/>
          </a:ln>
        </p:spPr>
        <p:txBody>
          <a:bodyPr/>
          <a:p/>
        </p:txBody>
      </p:sp>
      <p:sp>
        <p:nvSpPr>
          <p:cNvPr id="12" name="Text 9"/>
          <p:cNvSpPr/>
          <p:nvPr/>
        </p:nvSpPr>
        <p:spPr>
          <a:xfrm>
            <a:off x="5486400" y="3630168"/>
            <a:ext cx="5852160" cy="41148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Subraportarea</a:t>
            </a:r>
            <a:endParaRPr lang="en-US" sz="1900" dirty="0"/>
          </a:p>
        </p:txBody>
      </p:sp>
      <p:sp>
        <p:nvSpPr>
          <p:cNvPr id="13" name="Text 10"/>
          <p:cNvSpPr/>
          <p:nvPr/>
        </p:nvSpPr>
        <p:spPr>
          <a:xfrm>
            <a:off x="5486400" y="4069080"/>
            <a:ext cx="585216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Diagnosticul a fost pus, dar nu a ajuns la autorități.</a:t>
            </a:r>
            <a:endParaRPr lang="en-US" sz="1600" dirty="0"/>
          </a:p>
        </p:txBody>
      </p:sp>
      <p:sp>
        <p:nvSpPr>
          <p:cNvPr id="14" name="Text 11"/>
          <p:cNvSpPr/>
          <p:nvPr/>
        </p:nvSpPr>
        <p:spPr>
          <a:xfrm>
            <a:off x="5212080" y="5029200"/>
            <a:ext cx="6400800" cy="9144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Fișa de declarare reduce numai subraportarea. Subdiagnosticarea nu se poate număra; se poate doar estima.</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NUMAI STATELE UNITE · 2019</a:t>
            </a:r>
            <a:endParaRPr lang="en-US" sz="1300" dirty="0"/>
          </a:p>
        </p:txBody>
      </p:sp>
      <p:sp>
        <p:nvSpPr>
          <p:cNvPr id="3" name="Text 1"/>
          <p:cNvSpPr/>
          <p:nvPr/>
        </p:nvSpPr>
        <p:spPr>
          <a:xfrm>
            <a:off x="502920" y="868680"/>
            <a:ext cx="7772400" cy="155448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9,9 milioane</a:t>
            </a:r>
            <a:endParaRPr lang="en-US" sz="9600" dirty="0"/>
          </a:p>
        </p:txBody>
      </p:sp>
      <p:sp>
        <p:nvSpPr>
          <p:cNvPr id="4" name="Text 2"/>
          <p:cNvSpPr/>
          <p:nvPr/>
        </p:nvSpPr>
        <p:spPr>
          <a:xfrm>
            <a:off x="640080" y="2514600"/>
            <a:ext cx="6949440" cy="11887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 îmbolnăviri dobândite în țară, produse de numai 6 microbi transmiși prin alimente (Salmonella, Campylobacter, norovirusul și alții)</a:t>
            </a:r>
            <a:endParaRPr lang="en-US" sz="1800" dirty="0"/>
          </a:p>
        </p:txBody>
      </p:sp>
      <p:sp>
        <p:nvSpPr>
          <p:cNvPr id="5" name="Shape 3"/>
          <p:cNvSpPr/>
          <p:nvPr/>
        </p:nvSpPr>
        <p:spPr>
          <a:xfrm>
            <a:off x="8138160" y="1005840"/>
            <a:ext cx="3429000" cy="2651760"/>
          </a:xfrm>
          <a:prstGeom prst="roundRect">
            <a:avLst>
              <a:gd name="adj" fmla="val 3103"/>
            </a:avLst>
          </a:prstGeom>
          <a:solidFill>
            <a:srgbClr val="272A38"/>
          </a:solidFill>
          <a:ln w="12700">
            <a:solidFill>
              <a:srgbClr val="272A38"/>
            </a:solidFill>
            <a:prstDash val="solid"/>
          </a:ln>
        </p:spPr>
        <p:txBody>
          <a:bodyPr/>
          <a:p/>
        </p:txBody>
      </p:sp>
      <p:sp>
        <p:nvSpPr>
          <p:cNvPr id="6" name="Text 4"/>
          <p:cNvSpPr/>
          <p:nvPr/>
        </p:nvSpPr>
        <p:spPr>
          <a:xfrm>
            <a:off x="8321040" y="1143000"/>
            <a:ext cx="3108960" cy="914400"/>
          </a:xfrm>
          <a:prstGeom prst="rect">
            <a:avLst/>
          </a:prstGeom>
          <a:noFill/>
          <a:ln/>
        </p:spPr>
        <p:txBody>
          <a:bodyPr wrap="square" lIns="0" tIns="0" rIns="0" bIns="0" rtlCol="0" anchor="ctr"/>
          <a:lstStyle/>
          <a:p>
            <a:pPr indent="0" marL="0">
              <a:buNone/>
            </a:pPr>
            <a:r>
              <a:rPr lang="en-US" sz="4400" b="1" dirty="0">
                <a:solidFill>
                  <a:srgbClr val="27D3BE"/>
                </a:solidFill>
                <a:latin typeface="Palatino Linotype" pitchFamily="34" charset="0"/>
                <a:ea typeface="Palatino Linotype" pitchFamily="34" charset="-122"/>
                <a:cs typeface="Palatino Linotype" pitchFamily="34" charset="-120"/>
              </a:rPr>
              <a:t>53 300</a:t>
            </a:r>
            <a:endParaRPr lang="en-US" sz="4400" dirty="0"/>
          </a:p>
        </p:txBody>
      </p:sp>
      <p:sp>
        <p:nvSpPr>
          <p:cNvPr id="7" name="Text 5"/>
          <p:cNvSpPr/>
          <p:nvPr/>
        </p:nvSpPr>
        <p:spPr>
          <a:xfrm>
            <a:off x="8321040" y="2103120"/>
            <a:ext cx="3108960" cy="13716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 oameni trimiși la spital de aceiași microbi, plus Toxoplasma</a:t>
            </a:r>
            <a:endParaRPr lang="en-US" sz="1500" dirty="0"/>
          </a:p>
        </p:txBody>
      </p:sp>
      <p:sp>
        <p:nvSpPr>
          <p:cNvPr id="8" name="Shape 6"/>
          <p:cNvSpPr/>
          <p:nvPr/>
        </p:nvSpPr>
        <p:spPr>
          <a:xfrm>
            <a:off x="594360" y="4114800"/>
            <a:ext cx="10972800" cy="13716"/>
          </a:xfrm>
          <a:prstGeom prst="rect">
            <a:avLst/>
          </a:prstGeom>
          <a:solidFill>
            <a:srgbClr val="3A3E52"/>
          </a:solidFill>
          <a:ln/>
        </p:spPr>
        <p:txBody>
          <a:bodyPr/>
          <a:p/>
        </p:txBody>
      </p:sp>
      <p:sp>
        <p:nvSpPr>
          <p:cNvPr id="9" name="Text 7"/>
          <p:cNvSpPr/>
          <p:nvPr/>
        </p:nvSpPr>
        <p:spPr>
          <a:xfrm>
            <a:off x="594360" y="4251960"/>
            <a:ext cx="10972800" cy="9144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Baza piramidei nu se numără; se estimează, pornind de la cazurile confirmate și corectând pentru cei care nu au ajuns la medic, nu au dat probă sau nu au fost raportați.</a:t>
            </a:r>
            <a:endParaRPr lang="en-US" sz="1700" dirty="0"/>
          </a:p>
        </p:txBody>
      </p:sp>
      <p:sp>
        <p:nvSpPr>
          <p:cNvPr id="10" name="Text 8"/>
          <p:cNvSpPr/>
          <p:nvPr/>
        </p:nvSpPr>
        <p:spPr>
          <a:xfrm>
            <a:off x="594360" y="5257800"/>
            <a:ext cx="1097280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Pentru România nu avem o estimare verificată de acest fel.</a:t>
            </a:r>
            <a:endParaRPr lang="en-US" sz="1900" dirty="0"/>
          </a:p>
        </p:txBody>
      </p:sp>
      <p:sp>
        <p:nvSpPr>
          <p:cNvPr id="11" name="Text 9"/>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estimarea coordonată de CDC pentru 2019 (registru A508, A509).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MERS · UN CORONAVIRUS DE LA CĂMILE</a:t>
            </a:r>
            <a:endParaRPr lang="en-US" sz="1300" dirty="0"/>
          </a:p>
        </p:txBody>
      </p:sp>
      <p:sp>
        <p:nvSpPr>
          <p:cNvPr id="3" name="Text 1"/>
          <p:cNvSpPr/>
          <p:nvPr/>
        </p:nvSpPr>
        <p:spPr>
          <a:xfrm>
            <a:off x="502920" y="822960"/>
            <a:ext cx="5120640" cy="2377440"/>
          </a:xfrm>
          <a:prstGeom prst="rect">
            <a:avLst/>
          </a:prstGeom>
          <a:noFill/>
          <a:ln/>
        </p:spPr>
        <p:txBody>
          <a:bodyPr wrap="square" lIns="0" tIns="0" rIns="0" bIns="0" rtlCol="0" anchor="ctr"/>
          <a:lstStyle/>
          <a:p>
            <a:pPr indent="0" marL="0">
              <a:buNone/>
            </a:pPr>
            <a:r>
              <a:rPr lang="en-US" sz="17000" b="1" dirty="0">
                <a:solidFill>
                  <a:srgbClr val="FF4757"/>
                </a:solidFill>
                <a:latin typeface="Palatino Linotype" pitchFamily="34" charset="0"/>
                <a:ea typeface="Palatino Linotype" pitchFamily="34" charset="-122"/>
                <a:cs typeface="Palatino Linotype" pitchFamily="34" charset="-120"/>
              </a:rPr>
              <a:t>37%</a:t>
            </a:r>
            <a:endParaRPr lang="en-US" sz="17000" dirty="0"/>
          </a:p>
        </p:txBody>
      </p:sp>
      <p:sp>
        <p:nvSpPr>
          <p:cNvPr id="4" name="Text 2"/>
          <p:cNvSpPr/>
          <p:nvPr/>
        </p:nvSpPr>
        <p:spPr>
          <a:xfrm>
            <a:off x="640080" y="3200400"/>
            <a:ext cx="5029200" cy="548640"/>
          </a:xfrm>
          <a:prstGeom prst="rect">
            <a:avLst/>
          </a:prstGeom>
          <a:noFill/>
          <a:ln/>
        </p:spPr>
        <p:txBody>
          <a:bodyPr wrap="square" lIns="0" tIns="0" rIns="0" bIns="0" rtlCol="0" anchor="t"/>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dintre cazurile raportate au murit</a:t>
            </a:r>
            <a:endParaRPr lang="en-US" sz="2100" dirty="0"/>
          </a:p>
        </p:txBody>
      </p:sp>
      <p:sp>
        <p:nvSpPr>
          <p:cNvPr id="5" name="Text 3"/>
          <p:cNvSpPr/>
          <p:nvPr/>
        </p:nvSpPr>
        <p:spPr>
          <a:xfrm>
            <a:off x="640080" y="3840480"/>
            <a:ext cx="5029200" cy="91440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Peste 2 600 de cazuri confirmate în laborator, raportate la OMS din 2012 încoace.</a:t>
            </a:r>
            <a:endParaRPr lang="en-US" sz="1600" dirty="0"/>
          </a:p>
        </p:txBody>
      </p:sp>
      <p:sp>
        <p:nvSpPr>
          <p:cNvPr id="6" name="Shape 4"/>
          <p:cNvSpPr/>
          <p:nvPr/>
        </p:nvSpPr>
        <p:spPr>
          <a:xfrm>
            <a:off x="6217920" y="1097280"/>
            <a:ext cx="5349240" cy="4023360"/>
          </a:xfrm>
          <a:prstGeom prst="roundRect">
            <a:avLst>
              <a:gd name="adj" fmla="val 2045"/>
            </a:avLst>
          </a:prstGeom>
          <a:solidFill>
            <a:srgbClr val="272A38"/>
          </a:solidFill>
          <a:ln w="12700">
            <a:solidFill>
              <a:srgbClr val="272A38"/>
            </a:solidFill>
            <a:prstDash val="solid"/>
          </a:ln>
        </p:spPr>
        <p:txBody>
          <a:bodyPr/>
          <a:p/>
        </p:txBody>
      </p:sp>
      <p:sp>
        <p:nvSpPr>
          <p:cNvPr id="7" name="Text 5"/>
          <p:cNvSpPr/>
          <p:nvPr/>
        </p:nvSpPr>
        <p:spPr>
          <a:xfrm>
            <a:off x="6537960" y="1325880"/>
            <a:ext cx="475488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OMS, chiar în fișa bolii:</a:t>
            </a:r>
            <a:endParaRPr lang="en-US" sz="1600" dirty="0"/>
          </a:p>
        </p:txBody>
      </p:sp>
      <p:sp>
        <p:nvSpPr>
          <p:cNvPr id="8" name="Text 6"/>
          <p:cNvSpPr/>
          <p:nvPr/>
        </p:nvSpPr>
        <p:spPr>
          <a:xfrm>
            <a:off x="6537960" y="1783080"/>
            <a:ext cx="4754880" cy="914400"/>
          </a:xfrm>
          <a:prstGeom prst="rect">
            <a:avLst/>
          </a:prstGeom>
          <a:noFill/>
          <a:ln/>
        </p:spPr>
        <p:txBody>
          <a:bodyPr wrap="square" lIns="0" tIns="0" rIns="0" bIns="0" rtlCol="0" anchor="t"/>
          <a:lstStyle/>
          <a:p>
            <a:pPr indent="0" marL="0">
              <a:buNone/>
            </a:pPr>
            <a:r>
              <a:rPr lang="en-US" sz="2400" b="1" i="1" dirty="0">
                <a:solidFill>
                  <a:srgbClr val="FFFFFF"/>
                </a:solidFill>
                <a:latin typeface="Palatino Linotype" pitchFamily="34" charset="0"/>
                <a:ea typeface="Palatino Linotype" pitchFamily="34" charset="-122"/>
                <a:cs typeface="Palatino Linotype" pitchFamily="34" charset="-120"/>
              </a:rPr>
              <a:t>proporția este „probabil o supraestimare”.</a:t>
            </a:r>
            <a:endParaRPr lang="en-US" sz="2400" dirty="0"/>
          </a:p>
        </p:txBody>
      </p:sp>
      <p:sp>
        <p:nvSpPr>
          <p:cNvPr id="9" name="Text 7"/>
          <p:cNvSpPr/>
          <p:nvPr/>
        </p:nvSpPr>
        <p:spPr>
          <a:xfrm>
            <a:off x="6537960" y="2788920"/>
            <a:ext cx="4754880" cy="2103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Supravegherea poate rata cazurile ușoare sau fără simptome. În vârf ajung mai ales bolnavii gravi, cei internați și testați.</a:t>
            </a:r>
            <a:endParaRPr lang="en-US" sz="1700" dirty="0"/>
          </a:p>
        </p:txBody>
      </p:sp>
      <p:sp>
        <p:nvSpPr>
          <p:cNvPr id="10" name="Text 8"/>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OMS, fișa MERS (registru A518).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MINUT CU COLEGUL, APOI VOT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Dacă s-ar testa toți cei cu răceală ușoară, proporția deceselor prin MERS ar…</a:t>
            </a:r>
            <a:endParaRPr lang="en-US" sz="2600" dirty="0"/>
          </a:p>
        </p:txBody>
      </p:sp>
      <p:sp>
        <p:nvSpPr>
          <p:cNvPr id="6" name="Shape 4"/>
          <p:cNvSpPr/>
          <p:nvPr/>
        </p:nvSpPr>
        <p:spPr>
          <a:xfrm>
            <a:off x="594360" y="210312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2304288"/>
            <a:ext cx="420624" cy="420624"/>
          </a:xfrm>
          <a:prstGeom prst="ellipse">
            <a:avLst/>
          </a:prstGeom>
          <a:solidFill>
            <a:srgbClr val="FFC24B"/>
          </a:solidFill>
          <a:ln/>
        </p:spPr>
        <p:txBody>
          <a:bodyPr/>
          <a:p/>
        </p:txBody>
      </p:sp>
      <p:sp>
        <p:nvSpPr>
          <p:cNvPr id="8" name="Text 6"/>
          <p:cNvSpPr/>
          <p:nvPr/>
        </p:nvSpPr>
        <p:spPr>
          <a:xfrm>
            <a:off x="914400" y="2304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103120"/>
            <a:ext cx="6355080" cy="82296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crește</a:t>
            </a:r>
            <a:endParaRPr lang="en-US" sz="2200" dirty="0"/>
          </a:p>
        </p:txBody>
      </p:sp>
      <p:sp>
        <p:nvSpPr>
          <p:cNvPr id="10" name="Shape 8"/>
          <p:cNvSpPr/>
          <p:nvPr/>
        </p:nvSpPr>
        <p:spPr>
          <a:xfrm>
            <a:off x="594360" y="310896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3310128"/>
            <a:ext cx="420624" cy="420624"/>
          </a:xfrm>
          <a:prstGeom prst="ellipse">
            <a:avLst/>
          </a:prstGeom>
          <a:solidFill>
            <a:srgbClr val="FFC24B"/>
          </a:solidFill>
          <a:ln/>
        </p:spPr>
        <p:txBody>
          <a:bodyPr/>
          <a:p/>
        </p:txBody>
      </p:sp>
      <p:sp>
        <p:nvSpPr>
          <p:cNvPr id="12" name="Text 10"/>
          <p:cNvSpPr/>
          <p:nvPr/>
        </p:nvSpPr>
        <p:spPr>
          <a:xfrm>
            <a:off x="914400" y="33101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108960"/>
            <a:ext cx="6355080" cy="82296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scădea</a:t>
            </a:r>
            <a:endParaRPr lang="en-US" sz="2200" dirty="0"/>
          </a:p>
        </p:txBody>
      </p:sp>
      <p:sp>
        <p:nvSpPr>
          <p:cNvPr id="14" name="Shape 12"/>
          <p:cNvSpPr/>
          <p:nvPr/>
        </p:nvSpPr>
        <p:spPr>
          <a:xfrm>
            <a:off x="594360" y="411480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15" name="Shape 13"/>
          <p:cNvSpPr/>
          <p:nvPr/>
        </p:nvSpPr>
        <p:spPr>
          <a:xfrm>
            <a:off x="914400" y="4315968"/>
            <a:ext cx="420624" cy="420624"/>
          </a:xfrm>
          <a:prstGeom prst="ellipse">
            <a:avLst/>
          </a:prstGeom>
          <a:solidFill>
            <a:srgbClr val="FFC24B"/>
          </a:solidFill>
          <a:ln/>
        </p:spPr>
        <p:txBody>
          <a:bodyPr/>
          <a:p/>
        </p:txBody>
      </p:sp>
      <p:sp>
        <p:nvSpPr>
          <p:cNvPr id="16" name="Text 14"/>
          <p:cNvSpPr/>
          <p:nvPr/>
        </p:nvSpPr>
        <p:spPr>
          <a:xfrm>
            <a:off x="914400" y="43159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4114800"/>
            <a:ext cx="6355080" cy="82296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rămâne la fel</a:t>
            </a:r>
            <a:endParaRPr lang="en-US" sz="2200" dirty="0"/>
          </a:p>
        </p:txBody>
      </p:sp>
      <p:sp>
        <p:nvSpPr>
          <p:cNvPr id="18" name="Shape 16"/>
          <p:cNvSpPr/>
          <p:nvPr/>
        </p:nvSpPr>
        <p:spPr>
          <a:xfrm>
            <a:off x="8503920" y="2103120"/>
            <a:ext cx="3063240" cy="3063240"/>
          </a:xfrm>
          <a:prstGeom prst="roundRect">
            <a:avLst>
              <a:gd name="adj" fmla="val 2687"/>
            </a:avLst>
          </a:prstGeom>
          <a:solidFill>
            <a:srgbClr val="FFFFFF"/>
          </a:solidFill>
          <a:ln w="12700">
            <a:solidFill>
              <a:srgbClr val="FFFFFF"/>
            </a:solidFill>
            <a:prstDash val="solid"/>
          </a:ln>
        </p:spPr>
        <p:txBody>
          <a:bodyPr/>
          <a:p/>
        </p:txBody>
      </p:sp>
      <p:pic>
        <p:nvPicPr>
          <p:cNvPr id="19" name="Picture 18" descr="Mentimeter_OPT_DETECTIVI_C03.png"/>
          <p:cNvPicPr>
            <a:picLocks noChangeAspect="1"/>
          </p:cNvPicPr>
          <p:nvPr/>
        </p:nvPicPr>
        <p:blipFill>
          <a:blip r:embed="rId3"/>
          <a:stretch>
            <a:fillRect/>
          </a:stretch>
        </p:blipFill>
        <p:spPr>
          <a:xfrm>
            <a:off x="8817610" y="2103120"/>
            <a:ext cx="2435860" cy="2435860"/>
          </a:xfrm>
          <a:prstGeom prst="rect">
            <a:avLst/>
          </a:prstGeom>
        </p:spPr>
      </p:pic>
      <p:sp>
        <p:nvSpPr>
          <p:cNvPr id="20" name="TextBox 19"/>
          <p:cNvSpPr txBox="1"/>
          <p:nvPr/>
        </p:nvSpPr>
        <p:spPr>
          <a:xfrm>
            <a:off x="8503920" y="457708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777240"/>
            <a:ext cx="10972800" cy="822960"/>
          </a:xfrm>
          <a:prstGeom prst="rect">
            <a:avLst/>
          </a:prstGeom>
          <a:noFill/>
          <a:ln/>
        </p:spPr>
        <p:txBody>
          <a:bodyPr wrap="square" lIns="0" tIns="0" rIns="0" bIns="0" rtlCol="0" anchor="t"/>
          <a:lstStyle/>
          <a:p>
            <a:pPr indent="0" marL="0">
              <a:buNone/>
            </a:pPr>
            <a:r>
              <a:rPr lang="en-US" sz="3800" b="1" dirty="0">
                <a:solidFill>
                  <a:srgbClr val="2E060B"/>
                </a:solidFill>
                <a:latin typeface="Palatino Linotype" pitchFamily="34" charset="0"/>
                <a:ea typeface="Palatino Linotype" pitchFamily="34" charset="-122"/>
                <a:cs typeface="Palatino Linotype" pitchFamily="34" charset="-120"/>
              </a:rPr>
              <a:t>Proporția ar scădea</a:t>
            </a:r>
            <a:endParaRPr lang="en-US" sz="3800" dirty="0"/>
          </a:p>
        </p:txBody>
      </p:sp>
      <p:sp>
        <p:nvSpPr>
          <p:cNvPr id="4" name="Text 2"/>
          <p:cNvSpPr/>
          <p:nvPr/>
        </p:nvSpPr>
        <p:spPr>
          <a:xfrm>
            <a:off x="822960" y="1828800"/>
            <a:ext cx="4937760" cy="411480"/>
          </a:xfrm>
          <a:prstGeom prst="rect">
            <a:avLst/>
          </a:prstGeom>
          <a:noFill/>
          <a:ln/>
        </p:spPr>
        <p:txBody>
          <a:bodyPr wrap="square" lIns="0" tIns="0" rIns="0" bIns="0" rtlCol="0" anchor="t"/>
          <a:lstStyle/>
          <a:p>
            <a:pPr indent="0" marL="0">
              <a:buNone/>
            </a:pPr>
            <a:r>
              <a:rPr lang="en-US" sz="1800" b="1" dirty="0">
                <a:solidFill>
                  <a:srgbClr val="2E060B"/>
                </a:solidFill>
                <a:latin typeface="Palatino Linotype" pitchFamily="34" charset="0"/>
                <a:ea typeface="Palatino Linotype" pitchFamily="34" charset="-122"/>
                <a:cs typeface="Palatino Linotype" pitchFamily="34" charset="-120"/>
              </a:rPr>
              <a:t>Acum</a:t>
            </a:r>
            <a:endParaRPr lang="en-US" sz="1800" dirty="0"/>
          </a:p>
        </p:txBody>
      </p:sp>
      <p:sp>
        <p:nvSpPr>
          <p:cNvPr id="5" name="Text 3"/>
          <p:cNvSpPr/>
          <p:nvPr/>
        </p:nvSpPr>
        <p:spPr>
          <a:xfrm>
            <a:off x="822960" y="2331720"/>
            <a:ext cx="12344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Palatino Linotype" pitchFamily="34" charset="0"/>
                <a:ea typeface="Palatino Linotype" pitchFamily="34" charset="-122"/>
                <a:cs typeface="Palatino Linotype" pitchFamily="34" charset="-120"/>
              </a:rPr>
              <a:t>decese</a:t>
            </a:r>
            <a:endParaRPr lang="en-US" sz="2000" dirty="0"/>
          </a:p>
        </p:txBody>
      </p:sp>
      <p:sp>
        <p:nvSpPr>
          <p:cNvPr id="6" name="Shape 4"/>
          <p:cNvSpPr/>
          <p:nvPr/>
        </p:nvSpPr>
        <p:spPr>
          <a:xfrm>
            <a:off x="822960" y="2926080"/>
            <a:ext cx="1234440" cy="45720"/>
          </a:xfrm>
          <a:prstGeom prst="rect">
            <a:avLst/>
          </a:prstGeom>
          <a:solidFill>
            <a:srgbClr val="2E060B"/>
          </a:solidFill>
          <a:ln w="12700">
            <a:solidFill>
              <a:srgbClr val="2E060B"/>
            </a:solidFill>
            <a:prstDash val="solid"/>
          </a:ln>
        </p:spPr>
        <p:txBody>
          <a:bodyPr/>
          <a:p/>
        </p:txBody>
      </p:sp>
      <p:sp>
        <p:nvSpPr>
          <p:cNvPr id="7" name="Shape 5"/>
          <p:cNvSpPr/>
          <p:nvPr/>
        </p:nvSpPr>
        <p:spPr>
          <a:xfrm>
            <a:off x="822960" y="3063240"/>
            <a:ext cx="1234440" cy="594360"/>
          </a:xfrm>
          <a:prstGeom prst="rect">
            <a:avLst/>
          </a:prstGeom>
          <a:solidFill>
            <a:srgbClr val="701C22"/>
          </a:solidFill>
          <a:ln w="12700">
            <a:solidFill>
              <a:srgbClr val="701C22"/>
            </a:solidFill>
            <a:prstDash val="solid"/>
          </a:ln>
        </p:spPr>
        <p:txBody>
          <a:bodyPr/>
          <a:p/>
        </p:txBody>
      </p:sp>
      <p:sp>
        <p:nvSpPr>
          <p:cNvPr id="8" name="Text 6"/>
          <p:cNvSpPr/>
          <p:nvPr/>
        </p:nvSpPr>
        <p:spPr>
          <a:xfrm>
            <a:off x="822960" y="3749040"/>
            <a:ext cx="4937760" cy="411480"/>
          </a:xfrm>
          <a:prstGeom prst="rect">
            <a:avLst/>
          </a:prstGeom>
          <a:noFill/>
          <a:ln/>
        </p:spPr>
        <p:txBody>
          <a:bodyPr wrap="square" lIns="0" tIns="0" rIns="0" bIns="0" rtlCol="0" anchor="t"/>
          <a:lstStyle/>
          <a:p>
            <a:pPr indent="0" marL="0">
              <a:buNone/>
            </a:pPr>
            <a:r>
              <a:rPr lang="en-US" sz="1600" i="1" dirty="0">
                <a:solidFill>
                  <a:srgbClr val="2E060B"/>
                </a:solidFill>
                <a:latin typeface="Palatino Linotype" pitchFamily="34" charset="0"/>
                <a:ea typeface="Palatino Linotype" pitchFamily="34" charset="-122"/>
                <a:cs typeface="Palatino Linotype" pitchFamily="34" charset="-120"/>
              </a:rPr>
              <a:t>cazurile din vârf</a:t>
            </a:r>
            <a:endParaRPr lang="en-US" sz="1600" dirty="0"/>
          </a:p>
        </p:txBody>
      </p:sp>
      <p:sp>
        <p:nvSpPr>
          <p:cNvPr id="9" name="Text 7"/>
          <p:cNvSpPr/>
          <p:nvPr/>
        </p:nvSpPr>
        <p:spPr>
          <a:xfrm>
            <a:off x="6492240" y="1828800"/>
            <a:ext cx="4937760" cy="411480"/>
          </a:xfrm>
          <a:prstGeom prst="rect">
            <a:avLst/>
          </a:prstGeom>
          <a:noFill/>
          <a:ln/>
        </p:spPr>
        <p:txBody>
          <a:bodyPr wrap="square" lIns="0" tIns="0" rIns="0" bIns="0" rtlCol="0" anchor="t"/>
          <a:lstStyle/>
          <a:p>
            <a:pPr indent="0" marL="0">
              <a:buNone/>
            </a:pPr>
            <a:r>
              <a:rPr lang="en-US" sz="1800" b="1" dirty="0">
                <a:solidFill>
                  <a:srgbClr val="2E060B"/>
                </a:solidFill>
                <a:latin typeface="Palatino Linotype" pitchFamily="34" charset="0"/>
                <a:ea typeface="Palatino Linotype" pitchFamily="34" charset="-122"/>
                <a:cs typeface="Palatino Linotype" pitchFamily="34" charset="-120"/>
              </a:rPr>
              <a:t>Dacă testăm toți</a:t>
            </a:r>
            <a:endParaRPr lang="en-US" sz="1800" dirty="0"/>
          </a:p>
        </p:txBody>
      </p:sp>
      <p:sp>
        <p:nvSpPr>
          <p:cNvPr id="10" name="Text 8"/>
          <p:cNvSpPr/>
          <p:nvPr/>
        </p:nvSpPr>
        <p:spPr>
          <a:xfrm>
            <a:off x="6492240" y="2331720"/>
            <a:ext cx="365760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Palatino Linotype" pitchFamily="34" charset="0"/>
                <a:ea typeface="Palatino Linotype" pitchFamily="34" charset="-122"/>
                <a:cs typeface="Palatino Linotype" pitchFamily="34" charset="-120"/>
              </a:rPr>
              <a:t>decese</a:t>
            </a:r>
            <a:endParaRPr lang="en-US" sz="2000" dirty="0"/>
          </a:p>
        </p:txBody>
      </p:sp>
      <p:sp>
        <p:nvSpPr>
          <p:cNvPr id="11" name="Shape 9"/>
          <p:cNvSpPr/>
          <p:nvPr/>
        </p:nvSpPr>
        <p:spPr>
          <a:xfrm>
            <a:off x="6492240" y="2926080"/>
            <a:ext cx="3657600" cy="45720"/>
          </a:xfrm>
          <a:prstGeom prst="rect">
            <a:avLst/>
          </a:prstGeom>
          <a:solidFill>
            <a:srgbClr val="2E060B"/>
          </a:solidFill>
          <a:ln w="12700">
            <a:solidFill>
              <a:srgbClr val="2E060B"/>
            </a:solidFill>
            <a:prstDash val="solid"/>
          </a:ln>
        </p:spPr>
        <p:txBody>
          <a:bodyPr/>
          <a:p/>
        </p:txBody>
      </p:sp>
      <p:sp>
        <p:nvSpPr>
          <p:cNvPr id="12" name="Shape 10"/>
          <p:cNvSpPr/>
          <p:nvPr/>
        </p:nvSpPr>
        <p:spPr>
          <a:xfrm>
            <a:off x="6492240" y="3063240"/>
            <a:ext cx="3657600" cy="594360"/>
          </a:xfrm>
          <a:prstGeom prst="rect">
            <a:avLst/>
          </a:prstGeom>
          <a:solidFill>
            <a:srgbClr val="701C22"/>
          </a:solidFill>
          <a:ln w="12700">
            <a:solidFill>
              <a:srgbClr val="701C22"/>
            </a:solidFill>
            <a:prstDash val="solid"/>
          </a:ln>
        </p:spPr>
        <p:txBody>
          <a:bodyPr/>
          <a:p/>
        </p:txBody>
      </p:sp>
      <p:sp>
        <p:nvSpPr>
          <p:cNvPr id="13" name="Text 11"/>
          <p:cNvSpPr/>
          <p:nvPr/>
        </p:nvSpPr>
        <p:spPr>
          <a:xfrm>
            <a:off x="6492240" y="3749040"/>
            <a:ext cx="4937760" cy="411480"/>
          </a:xfrm>
          <a:prstGeom prst="rect">
            <a:avLst/>
          </a:prstGeom>
          <a:noFill/>
          <a:ln/>
        </p:spPr>
        <p:txBody>
          <a:bodyPr wrap="square" lIns="0" tIns="0" rIns="0" bIns="0" rtlCol="0" anchor="t"/>
          <a:lstStyle/>
          <a:p>
            <a:pPr indent="0" marL="0">
              <a:buNone/>
            </a:pPr>
            <a:r>
              <a:rPr lang="en-US" sz="1600" i="1" dirty="0">
                <a:solidFill>
                  <a:srgbClr val="2E060B"/>
                </a:solidFill>
                <a:latin typeface="Palatino Linotype" pitchFamily="34" charset="0"/>
                <a:ea typeface="Palatino Linotype" pitchFamily="34" charset="-122"/>
                <a:cs typeface="Palatino Linotype" pitchFamily="34" charset="-120"/>
              </a:rPr>
              <a:t>și cei ușori</a:t>
            </a:r>
            <a:endParaRPr lang="en-US" sz="1600" dirty="0"/>
          </a:p>
        </p:txBody>
      </p:sp>
      <p:sp>
        <p:nvSpPr>
          <p:cNvPr id="14" name="Text 12"/>
          <p:cNvSpPr/>
          <p:nvPr/>
        </p:nvSpPr>
        <p:spPr>
          <a:xfrm>
            <a:off x="594360" y="4526280"/>
            <a:ext cx="10972800" cy="1188720"/>
          </a:xfrm>
          <a:prstGeom prst="rect">
            <a:avLst/>
          </a:prstGeom>
          <a:noFill/>
          <a:ln/>
        </p:spPr>
        <p:txBody>
          <a:bodyPr wrap="square" lIns="0" tIns="0" rIns="0" bIns="0" rtlCol="0" anchor="t"/>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Decesele rămân aceleași; numărul cazurilor crește. La începutul unei epidemii noi, când se testează numai cei internați, letalitatea se citește cu prudență.</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ÎNAPOI LA VOTUL ÎNTÂI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În exemplul construit: foarte puțini</a:t>
            </a:r>
            <a:endParaRPr lang="en-US" sz="3200" dirty="0"/>
          </a:p>
        </p:txBody>
      </p:sp>
      <p:sp>
        <p:nvSpPr>
          <p:cNvPr id="4" name="Text 2"/>
          <p:cNvSpPr/>
          <p:nvPr/>
        </p:nvSpPr>
        <p:spPr>
          <a:xfrm>
            <a:off x="594360" y="1463040"/>
            <a:ext cx="10972800" cy="10058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Doi din douăzeci și doi. Sistemul nu este neapărat rău: fiecare treaptă a piramidei filtrează. Cât de puțini ar fi într-un focar real nu se poate spune fără o anchetă.</a:t>
            </a:r>
            <a:endParaRPr lang="en-US" sz="1800" dirty="0"/>
          </a:p>
        </p:txBody>
      </p:sp>
      <p:sp>
        <p:nvSpPr>
          <p:cNvPr id="5" name="Shape 3"/>
          <p:cNvSpPr/>
          <p:nvPr/>
        </p:nvSpPr>
        <p:spPr>
          <a:xfrm>
            <a:off x="594360" y="2743200"/>
            <a:ext cx="5349240" cy="2651760"/>
          </a:xfrm>
          <a:prstGeom prst="roundRect">
            <a:avLst>
              <a:gd name="adj" fmla="val 3103"/>
            </a:avLst>
          </a:prstGeom>
          <a:solidFill>
            <a:srgbClr val="F4E0E2"/>
          </a:solidFill>
          <a:ln w="12700">
            <a:solidFill>
              <a:srgbClr val="F4E0E2"/>
            </a:solidFill>
            <a:prstDash val="solid"/>
          </a:ln>
        </p:spPr>
        <p:txBody>
          <a:bodyPr/>
          <a:p/>
        </p:txBody>
      </p:sp>
      <p:sp>
        <p:nvSpPr>
          <p:cNvPr id="6" name="Text 4"/>
          <p:cNvSpPr/>
          <p:nvPr/>
        </p:nvSpPr>
        <p:spPr>
          <a:xfrm>
            <a:off x="868680" y="2880360"/>
            <a:ext cx="4846320" cy="45720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Ca studenți</a:t>
            </a:r>
            <a:endParaRPr lang="en-US" sz="2100" dirty="0"/>
          </a:p>
        </p:txBody>
      </p:sp>
      <p:sp>
        <p:nvSpPr>
          <p:cNvPr id="7" name="Text 5"/>
          <p:cNvSpPr/>
          <p:nvPr/>
        </p:nvSpPr>
        <p:spPr>
          <a:xfrm>
            <a:off x="868680" y="3429000"/>
            <a:ext cx="484632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mai mulți colegi au aceleași simptome după o masă comună, spuneți-i medicului că nu sunteți singurul. Așa poate cere o probă.</a:t>
            </a:r>
            <a:endParaRPr lang="en-US" sz="1700" dirty="0"/>
          </a:p>
        </p:txBody>
      </p:sp>
      <p:sp>
        <p:nvSpPr>
          <p:cNvPr id="8" name="Shape 6"/>
          <p:cNvSpPr/>
          <p:nvPr/>
        </p:nvSpPr>
        <p:spPr>
          <a:xfrm>
            <a:off x="6217920" y="2743200"/>
            <a:ext cx="5349240" cy="2651760"/>
          </a:xfrm>
          <a:prstGeom prst="roundRect">
            <a:avLst>
              <a:gd name="adj" fmla="val 3103"/>
            </a:avLst>
          </a:prstGeom>
          <a:solidFill>
            <a:srgbClr val="E1F0EC"/>
          </a:solidFill>
          <a:ln w="12700">
            <a:solidFill>
              <a:srgbClr val="E1F0EC"/>
            </a:solidFill>
            <a:prstDash val="solid"/>
          </a:ln>
        </p:spPr>
        <p:txBody>
          <a:bodyPr/>
          <a:p/>
        </p:txBody>
      </p:sp>
      <p:sp>
        <p:nvSpPr>
          <p:cNvPr id="9" name="Text 7"/>
          <p:cNvSpPr/>
          <p:nvPr/>
        </p:nvSpPr>
        <p:spPr>
          <a:xfrm>
            <a:off x="6492240" y="2880360"/>
            <a:ext cx="4846320" cy="45720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Ca viitori medici</a:t>
            </a:r>
            <a:endParaRPr lang="en-US" sz="2100" dirty="0"/>
          </a:p>
        </p:txBody>
      </p:sp>
      <p:sp>
        <p:nvSpPr>
          <p:cNvPr id="10" name="Text 8"/>
          <p:cNvSpPr/>
          <p:nvPr/>
        </p:nvSpPr>
        <p:spPr>
          <a:xfrm>
            <a:off x="6492240" y="3429000"/>
            <a:ext cx="484632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Analiza este o decizie clinică și poate fi „nu”. Fișa de declarare, la o boală cu declarare obligatorie, nu este o formalitate.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 CONSTRUIT · POVESTEA A DOUA</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Terapia intensivă, într-o noapte de noiembrie</a:t>
            </a:r>
            <a:endParaRPr lang="en-US" sz="3000" dirty="0"/>
          </a:p>
        </p:txBody>
      </p:sp>
      <p:sp>
        <p:nvSpPr>
          <p:cNvPr id="4" name="Shape 2"/>
          <p:cNvSpPr/>
          <p:nvPr/>
        </p:nvSpPr>
        <p:spPr>
          <a:xfrm>
            <a:off x="594360" y="1691640"/>
            <a:ext cx="6766560" cy="4206240"/>
          </a:xfrm>
          <a:prstGeom prst="roundRect">
            <a:avLst>
              <a:gd name="adj" fmla="val 1957"/>
            </a:avLst>
          </a:prstGeom>
          <a:solidFill>
            <a:srgbClr val="FBF8F1"/>
          </a:solidFill>
          <a:ln w="12700">
            <a:solidFill>
              <a:srgbClr val="FBF8F1"/>
            </a:solidFill>
            <a:prstDash val="solid"/>
          </a:ln>
        </p:spPr>
        <p:txBody>
          <a:bodyPr/>
          <a:p/>
        </p:txBody>
      </p:sp>
      <p:sp>
        <p:nvSpPr>
          <p:cNvPr id="5" name="Text 3"/>
          <p:cNvSpPr/>
          <p:nvPr/>
        </p:nvSpPr>
        <p:spPr>
          <a:xfrm>
            <a:off x="868680" y="1828800"/>
            <a:ext cx="6217920" cy="320040"/>
          </a:xfrm>
          <a:prstGeom prst="rect">
            <a:avLst/>
          </a:prstGeom>
          <a:noFill/>
          <a:ln/>
        </p:spPr>
        <p:txBody>
          <a:bodyPr wrap="square" lIns="0" tIns="0" rIns="0" bIns="0" rtlCol="0" anchor="t"/>
          <a:lstStyle/>
          <a:p>
            <a:pPr indent="0" marL="0">
              <a:buNone/>
            </a:pPr>
            <a:r>
              <a:rPr lang="en-US" sz="1100" b="1" spc="200" kern="0" dirty="0">
                <a:solidFill>
                  <a:srgbClr val="585A64"/>
                </a:solidFill>
                <a:latin typeface="Palatino Linotype" pitchFamily="34" charset="0"/>
                <a:ea typeface="Palatino Linotype" pitchFamily="34" charset="-122"/>
                <a:cs typeface="Palatino Linotype" pitchFamily="34" charset="-120"/>
              </a:rPr>
              <a:t>FOAIE DE OBSERVAȚIE · EXTRAS</a:t>
            </a:r>
            <a:endParaRPr lang="en-US" sz="1100" dirty="0"/>
          </a:p>
        </p:txBody>
      </p:sp>
      <p:sp>
        <p:nvSpPr>
          <p:cNvPr id="6" name="Shape 4"/>
          <p:cNvSpPr/>
          <p:nvPr/>
        </p:nvSpPr>
        <p:spPr>
          <a:xfrm>
            <a:off x="868680" y="2889504"/>
            <a:ext cx="6217920" cy="10973"/>
          </a:xfrm>
          <a:prstGeom prst="rect">
            <a:avLst/>
          </a:prstGeom>
          <a:solidFill>
            <a:srgbClr val="C9C6BE"/>
          </a:solidFill>
          <a:ln w="12700">
            <a:solidFill>
              <a:srgbClr val="C9C6BE"/>
            </a:solidFill>
            <a:prstDash val="solid"/>
          </a:ln>
        </p:spPr>
        <p:txBody>
          <a:bodyPr/>
          <a:p/>
        </p:txBody>
      </p:sp>
      <p:sp>
        <p:nvSpPr>
          <p:cNvPr id="7" name="Text 5"/>
          <p:cNvSpPr/>
          <p:nvPr/>
        </p:nvSpPr>
        <p:spPr>
          <a:xfrm>
            <a:off x="868680" y="228600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Vârsta</a:t>
            </a:r>
            <a:endParaRPr lang="en-US" sz="1400" dirty="0"/>
          </a:p>
        </p:txBody>
      </p:sp>
      <p:sp>
        <p:nvSpPr>
          <p:cNvPr id="8" name="Text 6"/>
          <p:cNvSpPr/>
          <p:nvPr/>
        </p:nvSpPr>
        <p:spPr>
          <a:xfrm>
            <a:off x="2926080" y="2286000"/>
            <a:ext cx="4206240" cy="5486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trecut de șaptezeci de ani</a:t>
            </a:r>
            <a:endParaRPr lang="en-US" sz="1600" dirty="0"/>
          </a:p>
        </p:txBody>
      </p:sp>
      <p:sp>
        <p:nvSpPr>
          <p:cNvPr id="9" name="Shape 7"/>
          <p:cNvSpPr/>
          <p:nvPr/>
        </p:nvSpPr>
        <p:spPr>
          <a:xfrm>
            <a:off x="868680" y="3575304"/>
            <a:ext cx="6217920" cy="10973"/>
          </a:xfrm>
          <a:prstGeom prst="rect">
            <a:avLst/>
          </a:prstGeom>
          <a:solidFill>
            <a:srgbClr val="C9C6BE"/>
          </a:solidFill>
          <a:ln w="12700">
            <a:solidFill>
              <a:srgbClr val="C9C6BE"/>
            </a:solidFill>
            <a:prstDash val="solid"/>
          </a:ln>
        </p:spPr>
        <p:txBody>
          <a:bodyPr/>
          <a:p/>
        </p:txBody>
      </p:sp>
      <p:sp>
        <p:nvSpPr>
          <p:cNvPr id="10" name="Text 8"/>
          <p:cNvSpPr/>
          <p:nvPr/>
        </p:nvSpPr>
        <p:spPr>
          <a:xfrm>
            <a:off x="868680" y="297180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Antecedente</a:t>
            </a:r>
            <a:endParaRPr lang="en-US" sz="1400" dirty="0"/>
          </a:p>
        </p:txBody>
      </p:sp>
      <p:sp>
        <p:nvSpPr>
          <p:cNvPr id="11" name="Text 9"/>
          <p:cNvSpPr/>
          <p:nvPr/>
        </p:nvSpPr>
        <p:spPr>
          <a:xfrm>
            <a:off x="2926080" y="2971800"/>
            <a:ext cx="4206240" cy="5486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diabet zaharat, de mulți ani</a:t>
            </a:r>
            <a:endParaRPr lang="en-US" sz="1600" dirty="0"/>
          </a:p>
        </p:txBody>
      </p:sp>
      <p:sp>
        <p:nvSpPr>
          <p:cNvPr id="12" name="Shape 10"/>
          <p:cNvSpPr/>
          <p:nvPr/>
        </p:nvSpPr>
        <p:spPr>
          <a:xfrm>
            <a:off x="868680" y="4261104"/>
            <a:ext cx="6217920" cy="10973"/>
          </a:xfrm>
          <a:prstGeom prst="rect">
            <a:avLst/>
          </a:prstGeom>
          <a:solidFill>
            <a:srgbClr val="C9C6BE"/>
          </a:solidFill>
          <a:ln w="12700">
            <a:solidFill>
              <a:srgbClr val="C9C6BE"/>
            </a:solidFill>
            <a:prstDash val="solid"/>
          </a:ln>
        </p:spPr>
        <p:txBody>
          <a:bodyPr/>
          <a:p/>
        </p:txBody>
      </p:sp>
      <p:sp>
        <p:nvSpPr>
          <p:cNvPr id="13" name="Text 11"/>
          <p:cNvSpPr/>
          <p:nvPr/>
        </p:nvSpPr>
        <p:spPr>
          <a:xfrm>
            <a:off x="868680" y="365760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La internare</a:t>
            </a:r>
            <a:endParaRPr lang="en-US" sz="1400" dirty="0"/>
          </a:p>
        </p:txBody>
      </p:sp>
      <p:sp>
        <p:nvSpPr>
          <p:cNvPr id="14" name="Text 12"/>
          <p:cNvSpPr/>
          <p:nvPr/>
        </p:nvSpPr>
        <p:spPr>
          <a:xfrm>
            <a:off x="2926080" y="3657600"/>
            <a:ext cx="4206240" cy="5486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COVID-19 confirmat prin test</a:t>
            </a:r>
            <a:endParaRPr lang="en-US" sz="1600" dirty="0"/>
          </a:p>
        </p:txBody>
      </p:sp>
      <p:sp>
        <p:nvSpPr>
          <p:cNvPr id="15" name="Shape 13"/>
          <p:cNvSpPr/>
          <p:nvPr/>
        </p:nvSpPr>
        <p:spPr>
          <a:xfrm>
            <a:off x="868680" y="4946904"/>
            <a:ext cx="6217920" cy="10973"/>
          </a:xfrm>
          <a:prstGeom prst="rect">
            <a:avLst/>
          </a:prstGeom>
          <a:solidFill>
            <a:srgbClr val="C9C6BE"/>
          </a:solidFill>
          <a:ln w="12700">
            <a:solidFill>
              <a:srgbClr val="C9C6BE"/>
            </a:solidFill>
            <a:prstDash val="solid"/>
          </a:ln>
        </p:spPr>
        <p:txBody>
          <a:bodyPr/>
          <a:p/>
        </p:txBody>
      </p:sp>
      <p:sp>
        <p:nvSpPr>
          <p:cNvPr id="16" name="Text 14"/>
          <p:cNvSpPr/>
          <p:nvPr/>
        </p:nvSpPr>
        <p:spPr>
          <a:xfrm>
            <a:off x="868680" y="434340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Evoluție</a:t>
            </a:r>
            <a:endParaRPr lang="en-US" sz="1400" dirty="0"/>
          </a:p>
        </p:txBody>
      </p:sp>
      <p:sp>
        <p:nvSpPr>
          <p:cNvPr id="17" name="Text 15"/>
          <p:cNvSpPr/>
          <p:nvPr/>
        </p:nvSpPr>
        <p:spPr>
          <a:xfrm>
            <a:off x="2926080" y="4343400"/>
            <a:ext cx="4206240" cy="5486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pneumonie, apoi insuficiență respiratorie gravă</a:t>
            </a:r>
            <a:endParaRPr lang="en-US" sz="1600" dirty="0"/>
          </a:p>
        </p:txBody>
      </p:sp>
      <p:sp>
        <p:nvSpPr>
          <p:cNvPr id="18" name="Shape 16"/>
          <p:cNvSpPr/>
          <p:nvPr/>
        </p:nvSpPr>
        <p:spPr>
          <a:xfrm>
            <a:off x="868680" y="5632704"/>
            <a:ext cx="6217920" cy="10973"/>
          </a:xfrm>
          <a:prstGeom prst="rect">
            <a:avLst/>
          </a:prstGeom>
          <a:solidFill>
            <a:srgbClr val="C9C6BE"/>
          </a:solidFill>
          <a:ln w="12700">
            <a:solidFill>
              <a:srgbClr val="C9C6BE"/>
            </a:solidFill>
            <a:prstDash val="solid"/>
          </a:ln>
        </p:spPr>
        <p:txBody>
          <a:bodyPr/>
          <a:p/>
        </p:txBody>
      </p:sp>
      <p:sp>
        <p:nvSpPr>
          <p:cNvPr id="19" name="Text 17"/>
          <p:cNvSpPr/>
          <p:nvPr/>
        </p:nvSpPr>
        <p:spPr>
          <a:xfrm>
            <a:off x="868680" y="502920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După zece zile</a:t>
            </a:r>
            <a:endParaRPr lang="en-US" sz="1400" dirty="0"/>
          </a:p>
        </p:txBody>
      </p:sp>
      <p:sp>
        <p:nvSpPr>
          <p:cNvPr id="20" name="Text 18"/>
          <p:cNvSpPr/>
          <p:nvPr/>
        </p:nvSpPr>
        <p:spPr>
          <a:xfrm>
            <a:off x="2926080" y="5029200"/>
            <a:ext cx="4206240" cy="5486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deces, pe la ora trei noaptea</a:t>
            </a:r>
            <a:endParaRPr lang="en-US" sz="1600" dirty="0"/>
          </a:p>
        </p:txBody>
      </p:sp>
      <p:sp>
        <p:nvSpPr>
          <p:cNvPr id="21" name="Text 19"/>
          <p:cNvSpPr/>
          <p:nvPr/>
        </p:nvSpPr>
        <p:spPr>
          <a:xfrm>
            <a:off x="7726680" y="1828800"/>
            <a:ext cx="3840480" cy="237744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Medicul de gardă, care l-a cunoscut puțin, trebuie să completeze certificatul medical al cauzei de deces.</a:t>
            </a:r>
            <a:endParaRPr lang="en-US" sz="2000" dirty="0"/>
          </a:p>
        </p:txBody>
      </p:sp>
      <p:sp>
        <p:nvSpPr>
          <p:cNvPr id="22" name="Text 20"/>
          <p:cNvSpPr/>
          <p:nvPr/>
        </p:nvSpPr>
        <p:spPr>
          <a:xfrm>
            <a:off x="7726680" y="4389120"/>
            <a:ext cx="3840480" cy="9144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De ce a murit, în statistică?</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TREI MEDICI DE GARDĂ</a:t>
            </a:r>
            <a:endParaRPr lang="en-US" sz="1300" dirty="0"/>
          </a:p>
        </p:txBody>
      </p:sp>
      <p:sp>
        <p:nvSpPr>
          <p:cNvPr id="5" name="Text 3"/>
          <p:cNvSpPr/>
          <p:nvPr/>
        </p:nvSpPr>
        <p:spPr>
          <a:xfrm>
            <a:off x="594360" y="731520"/>
            <a:ext cx="7863840" cy="91440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În care variantă intră pacientul în cifra deceselor prin COVID-19?</a:t>
            </a:r>
            <a:endParaRPr lang="en-US" sz="2400" dirty="0"/>
          </a:p>
        </p:txBody>
      </p:sp>
      <p:sp>
        <p:nvSpPr>
          <p:cNvPr id="6" name="Shape 4"/>
          <p:cNvSpPr/>
          <p:nvPr/>
        </p:nvSpPr>
        <p:spPr>
          <a:xfrm>
            <a:off x="594360" y="1783080"/>
            <a:ext cx="7635240" cy="1188720"/>
          </a:xfrm>
          <a:prstGeom prst="roundRect">
            <a:avLst>
              <a:gd name="adj" fmla="val 6923"/>
            </a:avLst>
          </a:prstGeom>
          <a:solidFill>
            <a:srgbClr val="FBF8F1"/>
          </a:solidFill>
          <a:ln w="12700">
            <a:solidFill>
              <a:srgbClr val="FBF8F1"/>
            </a:solidFill>
            <a:prstDash val="solid"/>
          </a:ln>
        </p:spPr>
        <p:txBody>
          <a:bodyPr/>
          <a:p/>
        </p:txBody>
      </p:sp>
      <p:sp>
        <p:nvSpPr>
          <p:cNvPr id="7" name="Text 5"/>
          <p:cNvSpPr/>
          <p:nvPr/>
        </p:nvSpPr>
        <p:spPr>
          <a:xfrm>
            <a:off x="822960" y="1783080"/>
            <a:ext cx="731520" cy="11887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(a)</a:t>
            </a:r>
            <a:endParaRPr lang="en-US" sz="2400" dirty="0"/>
          </a:p>
        </p:txBody>
      </p:sp>
      <p:sp>
        <p:nvSpPr>
          <p:cNvPr id="8" name="Text 6"/>
          <p:cNvSpPr/>
          <p:nvPr/>
        </p:nvSpPr>
        <p:spPr>
          <a:xfrm>
            <a:off x="1600200" y="1920240"/>
            <a:ext cx="6492240" cy="54864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„Stop cardiorespirator.”</a:t>
            </a:r>
            <a:endParaRPr lang="en-US" sz="1800" dirty="0"/>
          </a:p>
        </p:txBody>
      </p:sp>
      <p:sp>
        <p:nvSpPr>
          <p:cNvPr id="9" name="Text 7"/>
          <p:cNvSpPr/>
          <p:nvPr/>
        </p:nvSpPr>
        <p:spPr>
          <a:xfrm>
            <a:off x="1600200" y="2468880"/>
            <a:ext cx="6492240" cy="411480"/>
          </a:xfrm>
          <a:prstGeom prst="rect">
            <a:avLst/>
          </a:prstGeom>
          <a:noFill/>
          <a:ln/>
        </p:spPr>
        <p:txBody>
          <a:bodyPr wrap="square" lIns="0" tIns="0" rIns="0" bIns="0" rtlCol="0" anchor="ctr"/>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Atât.</a:t>
            </a:r>
            <a:endParaRPr lang="en-US" sz="1450" dirty="0"/>
          </a:p>
        </p:txBody>
      </p:sp>
      <p:sp>
        <p:nvSpPr>
          <p:cNvPr id="10" name="Shape 8"/>
          <p:cNvSpPr/>
          <p:nvPr/>
        </p:nvSpPr>
        <p:spPr>
          <a:xfrm>
            <a:off x="594360" y="3108960"/>
            <a:ext cx="7635240" cy="1188720"/>
          </a:xfrm>
          <a:prstGeom prst="roundRect">
            <a:avLst>
              <a:gd name="adj" fmla="val 6923"/>
            </a:avLst>
          </a:prstGeom>
          <a:solidFill>
            <a:srgbClr val="FBF8F1"/>
          </a:solidFill>
          <a:ln w="12700">
            <a:solidFill>
              <a:srgbClr val="FBF8F1"/>
            </a:solidFill>
            <a:prstDash val="solid"/>
          </a:ln>
        </p:spPr>
        <p:txBody>
          <a:bodyPr/>
          <a:p/>
        </p:txBody>
      </p:sp>
      <p:sp>
        <p:nvSpPr>
          <p:cNvPr id="11" name="Text 9"/>
          <p:cNvSpPr/>
          <p:nvPr/>
        </p:nvSpPr>
        <p:spPr>
          <a:xfrm>
            <a:off x="822960" y="3108960"/>
            <a:ext cx="731520" cy="11887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(b)</a:t>
            </a:r>
            <a:endParaRPr lang="en-US" sz="2400" dirty="0"/>
          </a:p>
        </p:txBody>
      </p:sp>
      <p:sp>
        <p:nvSpPr>
          <p:cNvPr id="12" name="Text 10"/>
          <p:cNvSpPr/>
          <p:nvPr/>
        </p:nvSpPr>
        <p:spPr>
          <a:xfrm>
            <a:off x="1600200" y="3246120"/>
            <a:ext cx="6492240" cy="54864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„Diabet zaharat”</a:t>
            </a:r>
            <a:endParaRPr lang="en-US" sz="1800" dirty="0"/>
          </a:p>
        </p:txBody>
      </p:sp>
      <p:sp>
        <p:nvSpPr>
          <p:cNvPr id="13" name="Text 11"/>
          <p:cNvSpPr/>
          <p:nvPr/>
        </p:nvSpPr>
        <p:spPr>
          <a:xfrm>
            <a:off x="1600200" y="3794760"/>
            <a:ext cx="6492240" cy="411480"/>
          </a:xfrm>
          <a:prstGeom prst="rect">
            <a:avLst/>
          </a:prstGeom>
          <a:noFill/>
          <a:ln/>
        </p:spPr>
        <p:txBody>
          <a:bodyPr wrap="square" lIns="0" tIns="0" rIns="0" bIns="0" rtlCol="0" anchor="ctr"/>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ca boală principală; nimic despre infecție</a:t>
            </a:r>
            <a:endParaRPr lang="en-US" sz="1450" dirty="0"/>
          </a:p>
        </p:txBody>
      </p:sp>
      <p:sp>
        <p:nvSpPr>
          <p:cNvPr id="14" name="Shape 12"/>
          <p:cNvSpPr/>
          <p:nvPr/>
        </p:nvSpPr>
        <p:spPr>
          <a:xfrm>
            <a:off x="594360" y="4434840"/>
            <a:ext cx="7635240" cy="1188720"/>
          </a:xfrm>
          <a:prstGeom prst="roundRect">
            <a:avLst>
              <a:gd name="adj" fmla="val 6923"/>
            </a:avLst>
          </a:prstGeom>
          <a:solidFill>
            <a:srgbClr val="FBF8F1"/>
          </a:solidFill>
          <a:ln w="12700">
            <a:solidFill>
              <a:srgbClr val="FBF8F1"/>
            </a:solidFill>
            <a:prstDash val="solid"/>
          </a:ln>
        </p:spPr>
        <p:txBody>
          <a:bodyPr/>
          <a:p/>
        </p:txBody>
      </p:sp>
      <p:sp>
        <p:nvSpPr>
          <p:cNvPr id="15" name="Text 13"/>
          <p:cNvSpPr/>
          <p:nvPr/>
        </p:nvSpPr>
        <p:spPr>
          <a:xfrm>
            <a:off x="822960" y="4434840"/>
            <a:ext cx="731520" cy="11887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(c)</a:t>
            </a:r>
            <a:endParaRPr lang="en-US" sz="2400" dirty="0"/>
          </a:p>
        </p:txBody>
      </p:sp>
      <p:sp>
        <p:nvSpPr>
          <p:cNvPr id="16" name="Text 14"/>
          <p:cNvSpPr/>
          <p:nvPr/>
        </p:nvSpPr>
        <p:spPr>
          <a:xfrm>
            <a:off x="1600200" y="4572000"/>
            <a:ext cx="6492240" cy="54864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Insuficiență respiratorie acută ← pneumonie ← COVID-19</a:t>
            </a:r>
            <a:endParaRPr lang="en-US" sz="1800" dirty="0"/>
          </a:p>
        </p:txBody>
      </p:sp>
      <p:sp>
        <p:nvSpPr>
          <p:cNvPr id="17" name="Text 15"/>
          <p:cNvSpPr/>
          <p:nvPr/>
        </p:nvSpPr>
        <p:spPr>
          <a:xfrm>
            <a:off x="1600200" y="5120640"/>
            <a:ext cx="6492240" cy="411480"/>
          </a:xfrm>
          <a:prstGeom prst="rect">
            <a:avLst/>
          </a:prstGeom>
          <a:noFill/>
          <a:ln/>
        </p:spPr>
        <p:txBody>
          <a:bodyPr wrap="square" lIns="0" tIns="0" rIns="0" bIns="0" rtlCol="0" anchor="ctr"/>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diabetul, separat, ca boală care a contribuit</a:t>
            </a:r>
            <a:endParaRPr lang="en-US" sz="1450" dirty="0"/>
          </a:p>
        </p:txBody>
      </p:sp>
      <p:sp>
        <p:nvSpPr>
          <p:cNvPr id="18" name="Shape 16"/>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0" name="Text 18"/>
          <p:cNvSpPr/>
          <p:nvPr/>
        </p:nvSpPr>
        <p:spPr>
          <a:xfrm>
            <a:off x="8503920" y="4983480"/>
            <a:ext cx="3063240" cy="73152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Votați, apoi un minut cu colegul.</a:t>
            </a:r>
            <a:endParaRPr lang="en-US" sz="1500" dirty="0"/>
          </a:p>
        </p:txBody>
      </p:sp>
      <p:pic>
        <p:nvPicPr>
          <p:cNvPr id="21" name="Picture 20" descr="Mentimeter_OPT_DETECTIVI_C03.png"/>
          <p:cNvPicPr>
            <a:picLocks noChangeAspect="1"/>
          </p:cNvPicPr>
          <p:nvPr/>
        </p:nvPicPr>
        <p:blipFill>
          <a:blip r:embed="rId3"/>
          <a:stretch>
            <a:fillRect/>
          </a:stretch>
        </p:blipFill>
        <p:spPr>
          <a:xfrm>
            <a:off x="8817610" y="1783080"/>
            <a:ext cx="2435860" cy="2435860"/>
          </a:xfrm>
          <a:prstGeom prst="rect">
            <a:avLst/>
          </a:prstGeom>
        </p:spPr>
      </p:pic>
      <p:sp>
        <p:nvSpPr>
          <p:cNvPr id="22" name="TextBox 21"/>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777240"/>
            <a:ext cx="10972800" cy="822960"/>
          </a:xfrm>
          <a:prstGeom prst="rect">
            <a:avLst/>
          </a:prstGeom>
          <a:noFill/>
          <a:ln/>
        </p:spPr>
        <p:txBody>
          <a:bodyPr wrap="square" lIns="0" tIns="0" rIns="0" bIns="0" rtlCol="0" anchor="t"/>
          <a:lstStyle/>
          <a:p>
            <a:pPr indent="0" marL="0">
              <a:buNone/>
            </a:pPr>
            <a:r>
              <a:rPr lang="en-US" sz="4000" b="1" dirty="0">
                <a:solidFill>
                  <a:srgbClr val="2E060B"/>
                </a:solidFill>
                <a:latin typeface="Palatino Linotype" pitchFamily="34" charset="0"/>
                <a:ea typeface="Palatino Linotype" pitchFamily="34" charset="-122"/>
                <a:cs typeface="Palatino Linotype" pitchFamily="34" charset="-120"/>
              </a:rPr>
              <a:t>Varianta (c)</a:t>
            </a:r>
            <a:endParaRPr lang="en-US" sz="4000" dirty="0"/>
          </a:p>
        </p:txBody>
      </p:sp>
      <p:sp>
        <p:nvSpPr>
          <p:cNvPr id="4" name="Shape 2"/>
          <p:cNvSpPr/>
          <p:nvPr/>
        </p:nvSpPr>
        <p:spPr>
          <a:xfrm>
            <a:off x="594360" y="1783080"/>
            <a:ext cx="10972800" cy="1051560"/>
          </a:xfrm>
          <a:prstGeom prst="roundRect">
            <a:avLst>
              <a:gd name="adj" fmla="val 7826"/>
            </a:avLst>
          </a:prstGeom>
          <a:solidFill>
            <a:srgbClr val="701C22"/>
          </a:solidFill>
          <a:ln w="12700">
            <a:solidFill>
              <a:srgbClr val="701C22"/>
            </a:solidFill>
            <a:prstDash val="solid"/>
          </a:ln>
        </p:spPr>
        <p:txBody>
          <a:bodyPr/>
          <a:p/>
        </p:txBody>
      </p:sp>
      <p:sp>
        <p:nvSpPr>
          <p:cNvPr id="5" name="Text 3"/>
          <p:cNvSpPr/>
          <p:nvPr/>
        </p:nvSpPr>
        <p:spPr>
          <a:xfrm>
            <a:off x="914400" y="1911096"/>
            <a:ext cx="10332720" cy="45720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Ghidul OMS, aprilie 2020</a:t>
            </a:r>
            <a:endParaRPr lang="en-US" sz="1900" dirty="0"/>
          </a:p>
        </p:txBody>
      </p:sp>
      <p:sp>
        <p:nvSpPr>
          <p:cNvPr id="6" name="Text 4"/>
          <p:cNvSpPr/>
          <p:nvPr/>
        </p:nvSpPr>
        <p:spPr>
          <a:xfrm>
            <a:off x="914400" y="2368296"/>
            <a:ext cx="10332720" cy="384048"/>
          </a:xfrm>
          <a:prstGeom prst="rect">
            <a:avLst/>
          </a:prstGeom>
          <a:noFill/>
          <a:ln/>
        </p:spPr>
        <p:txBody>
          <a:bodyPr wrap="square" lIns="0" tIns="0" rIns="0" bIns="0" rtlCol="0" anchor="t"/>
          <a:lstStyle/>
          <a:p>
            <a:pPr indent="0" marL="0">
              <a:buNone/>
            </a:pPr>
            <a:r>
              <a:rPr lang="en-US" sz="1600" dirty="0">
                <a:solidFill>
                  <a:srgbClr val="F3D4D7"/>
                </a:solidFill>
                <a:latin typeface="Palatino Linotype" pitchFamily="34" charset="0"/>
                <a:ea typeface="Palatino Linotype" pitchFamily="34" charset="-122"/>
                <a:cs typeface="Palatino Linotype" pitchFamily="34" charset="-120"/>
              </a:rPr>
              <a:t>COVID-19 se trece pe certificat când a cauzat, se presupune că a cauzat sau a contribuit la deces.</a:t>
            </a:r>
            <a:endParaRPr lang="en-US" sz="1600" dirty="0"/>
          </a:p>
        </p:txBody>
      </p:sp>
      <p:sp>
        <p:nvSpPr>
          <p:cNvPr id="7" name="Shape 5"/>
          <p:cNvSpPr/>
          <p:nvPr/>
        </p:nvSpPr>
        <p:spPr>
          <a:xfrm>
            <a:off x="594360" y="2971800"/>
            <a:ext cx="10972800" cy="1051560"/>
          </a:xfrm>
          <a:prstGeom prst="roundRect">
            <a:avLst>
              <a:gd name="adj" fmla="val 7826"/>
            </a:avLst>
          </a:prstGeom>
          <a:solidFill>
            <a:srgbClr val="FFFFFF"/>
          </a:solidFill>
          <a:ln w="12700">
            <a:solidFill>
              <a:srgbClr val="FFFFFF"/>
            </a:solidFill>
            <a:prstDash val="solid"/>
          </a:ln>
        </p:spPr>
        <p:txBody>
          <a:bodyPr/>
          <a:p/>
        </p:txBody>
      </p:sp>
      <p:sp>
        <p:nvSpPr>
          <p:cNvPr id="8" name="Text 6"/>
          <p:cNvSpPr/>
          <p:nvPr/>
        </p:nvSpPr>
        <p:spPr>
          <a:xfrm>
            <a:off x="914400" y="3099816"/>
            <a:ext cx="103327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Termenul oficial: „COVID-19”</a:t>
            </a:r>
            <a:endParaRPr lang="en-US" sz="1900" dirty="0"/>
          </a:p>
        </p:txBody>
      </p:sp>
      <p:sp>
        <p:nvSpPr>
          <p:cNvPr id="9" name="Text 7"/>
          <p:cNvSpPr/>
          <p:nvPr/>
        </p:nvSpPr>
        <p:spPr>
          <a:xfrm>
            <a:off x="914400" y="3557016"/>
            <a:ext cx="10332720" cy="384048"/>
          </a:xfrm>
          <a:prstGeom prst="rect">
            <a:avLst/>
          </a:prstGeom>
          <a:noFill/>
          <a:ln/>
        </p:spPr>
        <p:txBody>
          <a:bodyPr wrap="square" lIns="0" tIns="0" rIns="0" bIns="0" rtlCol="0" anchor="t"/>
          <a:lstStyle/>
          <a:p>
            <a:pPr indent="0" marL="0">
              <a:buNone/>
            </a:pPr>
            <a:r>
              <a:rPr lang="en-US" sz="1600" dirty="0">
                <a:solidFill>
                  <a:srgbClr val="585A64"/>
                </a:solidFill>
                <a:latin typeface="Palatino Linotype" pitchFamily="34" charset="0"/>
                <a:ea typeface="Palatino Linotype" pitchFamily="34" charset="-122"/>
                <a:cs typeface="Palatino Linotype" pitchFamily="34" charset="-120"/>
              </a:rPr>
              <a:t>Nu „coronavirus”: există multe coronavirusuri, iar codificarea ar deveni nesigură.</a:t>
            </a:r>
            <a:endParaRPr lang="en-US" sz="1600" dirty="0"/>
          </a:p>
        </p:txBody>
      </p:sp>
      <p:sp>
        <p:nvSpPr>
          <p:cNvPr id="10" name="Text 8"/>
          <p:cNvSpPr/>
          <p:nvPr/>
        </p:nvSpPr>
        <p:spPr>
          <a:xfrm>
            <a:off x="594360" y="4343400"/>
            <a:ext cx="10972800" cy="548640"/>
          </a:xfrm>
          <a:prstGeom prst="rect">
            <a:avLst/>
          </a:prstGeom>
          <a:noFill/>
          <a:ln/>
        </p:spPr>
        <p:txBody>
          <a:bodyPr wrap="square" lIns="0" tIns="0" rIns="0" bIns="0" rtlCol="0" anchor="t"/>
          <a:lstStyle/>
          <a:p>
            <a:pPr indent="0" marL="0">
              <a:buNone/>
            </a:pPr>
            <a:r>
              <a:rPr lang="en-US" sz="2000" b="1" dirty="0">
                <a:solidFill>
                  <a:srgbClr val="2E060B"/>
                </a:solidFill>
                <a:latin typeface="Palatino Linotype" pitchFamily="34" charset="0"/>
                <a:ea typeface="Palatino Linotype" pitchFamily="34" charset="-122"/>
                <a:cs typeface="Palatino Linotype" pitchFamily="34" charset="-120"/>
              </a:rPr>
              <a:t>Lanțul spune ce s-a întâmplat; diabetul rămâne pe certificat, separat.</a:t>
            </a:r>
            <a:endParaRPr lang="en-US" sz="2000" dirty="0"/>
          </a:p>
        </p:txBody>
      </p:sp>
      <p:sp>
        <p:nvSpPr>
          <p:cNvPr id="11" name="Text 9"/>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2E060B"/>
                </a:solidFill>
                <a:latin typeface="Palatino Linotype" pitchFamily="34" charset="0"/>
                <a:ea typeface="Palatino Linotype" pitchFamily="34" charset="-122"/>
                <a:cs typeface="Palatino Linotype" pitchFamily="34" charset="-120"/>
              </a:rPr>
              <a:t>Sursa: OMS, ghidul pentru certificarea deceselor prin COVID-19 (registru A506).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CERTIFICATUL ARE DOUĂ PĂRȚI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Lanțul, rând sub rând</a:t>
            </a:r>
            <a:endParaRPr lang="en-US" sz="3200" dirty="0"/>
          </a:p>
        </p:txBody>
      </p:sp>
      <p:sp>
        <p:nvSpPr>
          <p:cNvPr id="4" name="Shape 2"/>
          <p:cNvSpPr/>
          <p:nvPr/>
        </p:nvSpPr>
        <p:spPr>
          <a:xfrm>
            <a:off x="594360" y="1463040"/>
            <a:ext cx="7406640" cy="4526280"/>
          </a:xfrm>
          <a:prstGeom prst="roundRect">
            <a:avLst>
              <a:gd name="adj" fmla="val 1818"/>
            </a:avLst>
          </a:prstGeom>
          <a:solidFill>
            <a:srgbClr val="FFFFFF"/>
          </a:solidFill>
          <a:ln w="12700">
            <a:solidFill>
              <a:srgbClr val="FFFFFF"/>
            </a:solidFill>
            <a:prstDash val="solid"/>
          </a:ln>
        </p:spPr>
        <p:txBody>
          <a:bodyPr/>
          <a:p/>
        </p:txBody>
      </p:sp>
      <p:sp>
        <p:nvSpPr>
          <p:cNvPr id="5" name="Shape 3"/>
          <p:cNvSpPr/>
          <p:nvPr/>
        </p:nvSpPr>
        <p:spPr>
          <a:xfrm>
            <a:off x="594360" y="1463040"/>
            <a:ext cx="7406640" cy="457200"/>
          </a:xfrm>
          <a:prstGeom prst="rect">
            <a:avLst/>
          </a:prstGeom>
          <a:solidFill>
            <a:srgbClr val="11121A"/>
          </a:solidFill>
          <a:ln w="12700">
            <a:solidFill>
              <a:srgbClr val="11121A"/>
            </a:solidFill>
            <a:prstDash val="solid"/>
          </a:ln>
        </p:spPr>
        <p:txBody>
          <a:bodyPr/>
          <a:p/>
        </p:txBody>
      </p:sp>
      <p:sp>
        <p:nvSpPr>
          <p:cNvPr id="6" name="Text 4"/>
          <p:cNvSpPr/>
          <p:nvPr/>
        </p:nvSpPr>
        <p:spPr>
          <a:xfrm>
            <a:off x="868680" y="1463040"/>
            <a:ext cx="694944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Palatino Linotype" pitchFamily="34" charset="0"/>
                <a:ea typeface="Palatino Linotype" pitchFamily="34" charset="-122"/>
                <a:cs typeface="Palatino Linotype" pitchFamily="34" charset="-120"/>
              </a:rPr>
              <a:t>EXEMPLUL DIN GHIDUL OMS · EXTRAS</a:t>
            </a:r>
            <a:endParaRPr lang="en-US" sz="1200" dirty="0"/>
          </a:p>
        </p:txBody>
      </p:sp>
      <p:sp>
        <p:nvSpPr>
          <p:cNvPr id="7" name="Text 5"/>
          <p:cNvSpPr/>
          <p:nvPr/>
        </p:nvSpPr>
        <p:spPr>
          <a:xfrm>
            <a:off x="868680" y="2011680"/>
            <a:ext cx="2743200" cy="36576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Partea I</a:t>
            </a:r>
            <a:endParaRPr lang="en-US" sz="1400" dirty="0"/>
          </a:p>
        </p:txBody>
      </p:sp>
      <p:sp>
        <p:nvSpPr>
          <p:cNvPr id="8" name="Shape 6"/>
          <p:cNvSpPr/>
          <p:nvPr/>
        </p:nvSpPr>
        <p:spPr>
          <a:xfrm>
            <a:off x="868680" y="2990088"/>
            <a:ext cx="6858000" cy="10973"/>
          </a:xfrm>
          <a:prstGeom prst="rect">
            <a:avLst/>
          </a:prstGeom>
          <a:solidFill>
            <a:srgbClr val="C9C6BE"/>
          </a:solidFill>
          <a:ln w="12700">
            <a:solidFill>
              <a:srgbClr val="C9C6BE"/>
            </a:solidFill>
            <a:prstDash val="solid"/>
          </a:ln>
        </p:spPr>
        <p:txBody>
          <a:bodyPr/>
          <a:p/>
        </p:txBody>
      </p:sp>
      <p:sp>
        <p:nvSpPr>
          <p:cNvPr id="9" name="Text 7"/>
          <p:cNvSpPr/>
          <p:nvPr/>
        </p:nvSpPr>
        <p:spPr>
          <a:xfrm>
            <a:off x="868680" y="2423160"/>
            <a:ext cx="457200" cy="548640"/>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a)</a:t>
            </a:r>
            <a:endParaRPr lang="en-US" sz="1600" dirty="0"/>
          </a:p>
        </p:txBody>
      </p:sp>
      <p:sp>
        <p:nvSpPr>
          <p:cNvPr id="10" name="Text 8"/>
          <p:cNvSpPr/>
          <p:nvPr/>
        </p:nvSpPr>
        <p:spPr>
          <a:xfrm>
            <a:off x="1325880" y="2423160"/>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Sindrom de detresă respiratorie acută</a:t>
            </a:r>
            <a:endParaRPr lang="en-US" sz="1700" dirty="0"/>
          </a:p>
        </p:txBody>
      </p:sp>
      <p:sp>
        <p:nvSpPr>
          <p:cNvPr id="11" name="Text 9"/>
          <p:cNvSpPr/>
          <p:nvPr/>
        </p:nvSpPr>
        <p:spPr>
          <a:xfrm>
            <a:off x="5943600" y="2423160"/>
            <a:ext cx="1737360" cy="548640"/>
          </a:xfrm>
          <a:prstGeom prst="rect">
            <a:avLst/>
          </a:prstGeom>
          <a:noFill/>
          <a:ln/>
        </p:spPr>
        <p:txBody>
          <a:bodyPr wrap="square" lIns="0" tIns="0" rIns="0" bIns="0" rtlCol="0" anchor="ctr"/>
          <a:lstStyle/>
          <a:p>
            <a:pPr algn="r" indent="0" marL="0">
              <a:buNone/>
            </a:pPr>
            <a:r>
              <a:rPr lang="en-US" sz="1500" i="1" dirty="0">
                <a:solidFill>
                  <a:srgbClr val="585A64"/>
                </a:solidFill>
                <a:latin typeface="Palatino Linotype" pitchFamily="34" charset="0"/>
                <a:ea typeface="Palatino Linotype" pitchFamily="34" charset="-122"/>
                <a:cs typeface="Palatino Linotype" pitchFamily="34" charset="-120"/>
              </a:rPr>
              <a:t>2 zile</a:t>
            </a:r>
            <a:endParaRPr lang="en-US" sz="1500" dirty="0"/>
          </a:p>
        </p:txBody>
      </p:sp>
      <p:sp>
        <p:nvSpPr>
          <p:cNvPr id="12" name="Shape 10"/>
          <p:cNvSpPr/>
          <p:nvPr/>
        </p:nvSpPr>
        <p:spPr>
          <a:xfrm>
            <a:off x="868680" y="3648456"/>
            <a:ext cx="6858000" cy="10973"/>
          </a:xfrm>
          <a:prstGeom prst="rect">
            <a:avLst/>
          </a:prstGeom>
          <a:solidFill>
            <a:srgbClr val="C9C6BE"/>
          </a:solidFill>
          <a:ln w="12700">
            <a:solidFill>
              <a:srgbClr val="C9C6BE"/>
            </a:solidFill>
            <a:prstDash val="solid"/>
          </a:ln>
        </p:spPr>
        <p:txBody>
          <a:bodyPr/>
          <a:p/>
        </p:txBody>
      </p:sp>
      <p:sp>
        <p:nvSpPr>
          <p:cNvPr id="13" name="Text 11"/>
          <p:cNvSpPr/>
          <p:nvPr/>
        </p:nvSpPr>
        <p:spPr>
          <a:xfrm>
            <a:off x="868680" y="3081528"/>
            <a:ext cx="457200" cy="548640"/>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b)</a:t>
            </a:r>
            <a:endParaRPr lang="en-US" sz="1600" dirty="0"/>
          </a:p>
        </p:txBody>
      </p:sp>
      <p:sp>
        <p:nvSpPr>
          <p:cNvPr id="14" name="Text 12"/>
          <p:cNvSpPr/>
          <p:nvPr/>
        </p:nvSpPr>
        <p:spPr>
          <a:xfrm>
            <a:off x="1325880" y="3081528"/>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Pneumonie</a:t>
            </a:r>
            <a:endParaRPr lang="en-US" sz="1700" dirty="0"/>
          </a:p>
        </p:txBody>
      </p:sp>
      <p:sp>
        <p:nvSpPr>
          <p:cNvPr id="15" name="Text 13"/>
          <p:cNvSpPr/>
          <p:nvPr/>
        </p:nvSpPr>
        <p:spPr>
          <a:xfrm>
            <a:off x="5943600" y="3081528"/>
            <a:ext cx="1737360" cy="548640"/>
          </a:xfrm>
          <a:prstGeom prst="rect">
            <a:avLst/>
          </a:prstGeom>
          <a:noFill/>
          <a:ln/>
        </p:spPr>
        <p:txBody>
          <a:bodyPr wrap="square" lIns="0" tIns="0" rIns="0" bIns="0" rtlCol="0" anchor="ctr"/>
          <a:lstStyle/>
          <a:p>
            <a:pPr algn="r" indent="0" marL="0">
              <a:buNone/>
            </a:pPr>
            <a:r>
              <a:rPr lang="en-US" sz="1500" i="1" dirty="0">
                <a:solidFill>
                  <a:srgbClr val="585A64"/>
                </a:solidFill>
                <a:latin typeface="Palatino Linotype" pitchFamily="34" charset="0"/>
                <a:ea typeface="Palatino Linotype" pitchFamily="34" charset="-122"/>
                <a:cs typeface="Palatino Linotype" pitchFamily="34" charset="-120"/>
              </a:rPr>
              <a:t>10 zile</a:t>
            </a:r>
            <a:endParaRPr lang="en-US" sz="1500" dirty="0"/>
          </a:p>
        </p:txBody>
      </p:sp>
      <p:sp>
        <p:nvSpPr>
          <p:cNvPr id="16" name="Shape 14"/>
          <p:cNvSpPr/>
          <p:nvPr/>
        </p:nvSpPr>
        <p:spPr>
          <a:xfrm>
            <a:off x="868680" y="4306824"/>
            <a:ext cx="6858000" cy="10973"/>
          </a:xfrm>
          <a:prstGeom prst="rect">
            <a:avLst/>
          </a:prstGeom>
          <a:solidFill>
            <a:srgbClr val="C9C6BE"/>
          </a:solidFill>
          <a:ln w="12700">
            <a:solidFill>
              <a:srgbClr val="C9C6BE"/>
            </a:solidFill>
            <a:prstDash val="solid"/>
          </a:ln>
        </p:spPr>
        <p:txBody>
          <a:bodyPr/>
          <a:p/>
        </p:txBody>
      </p:sp>
      <p:sp>
        <p:nvSpPr>
          <p:cNvPr id="17" name="Text 15"/>
          <p:cNvSpPr/>
          <p:nvPr/>
        </p:nvSpPr>
        <p:spPr>
          <a:xfrm>
            <a:off x="868680" y="3739896"/>
            <a:ext cx="457200" cy="548640"/>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c)</a:t>
            </a:r>
            <a:endParaRPr lang="en-US" sz="1600" dirty="0"/>
          </a:p>
        </p:txBody>
      </p:sp>
      <p:sp>
        <p:nvSpPr>
          <p:cNvPr id="18" name="Text 16"/>
          <p:cNvSpPr/>
          <p:nvPr/>
        </p:nvSpPr>
        <p:spPr>
          <a:xfrm>
            <a:off x="1325880" y="3739896"/>
            <a:ext cx="4572000" cy="5486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COVID-19</a:t>
            </a:r>
            <a:endParaRPr lang="en-US" sz="1700" dirty="0"/>
          </a:p>
        </p:txBody>
      </p:sp>
      <p:sp>
        <p:nvSpPr>
          <p:cNvPr id="19" name="Text 17"/>
          <p:cNvSpPr/>
          <p:nvPr/>
        </p:nvSpPr>
        <p:spPr>
          <a:xfrm>
            <a:off x="5943600" y="3739896"/>
            <a:ext cx="1737360" cy="548640"/>
          </a:xfrm>
          <a:prstGeom prst="rect">
            <a:avLst/>
          </a:prstGeom>
          <a:noFill/>
          <a:ln/>
        </p:spPr>
        <p:txBody>
          <a:bodyPr wrap="square" lIns="0" tIns="0" rIns="0" bIns="0" rtlCol="0" anchor="ctr"/>
          <a:lstStyle/>
          <a:p>
            <a:pPr algn="r" indent="0" marL="0">
              <a:buNone/>
            </a:pPr>
            <a:r>
              <a:rPr lang="en-US" sz="1500" i="1" dirty="0">
                <a:solidFill>
                  <a:srgbClr val="585A64"/>
                </a:solidFill>
                <a:latin typeface="Palatino Linotype" pitchFamily="34" charset="0"/>
                <a:ea typeface="Palatino Linotype" pitchFamily="34" charset="-122"/>
                <a:cs typeface="Palatino Linotype" pitchFamily="34" charset="-120"/>
              </a:rPr>
              <a:t>14 zile</a:t>
            </a:r>
            <a:endParaRPr lang="en-US" sz="1500" dirty="0"/>
          </a:p>
        </p:txBody>
      </p:sp>
      <p:sp>
        <p:nvSpPr>
          <p:cNvPr id="20" name="Text 18"/>
          <p:cNvSpPr/>
          <p:nvPr/>
        </p:nvSpPr>
        <p:spPr>
          <a:xfrm>
            <a:off x="868680" y="4526280"/>
            <a:ext cx="274320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Partea a II-a</a:t>
            </a:r>
            <a:endParaRPr lang="en-US" sz="1400" dirty="0"/>
          </a:p>
        </p:txBody>
      </p:sp>
      <p:sp>
        <p:nvSpPr>
          <p:cNvPr id="21" name="Text 19"/>
          <p:cNvSpPr/>
          <p:nvPr/>
        </p:nvSpPr>
        <p:spPr>
          <a:xfrm>
            <a:off x="1325880" y="4937760"/>
            <a:ext cx="54864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Diabet zaharat</a:t>
            </a:r>
            <a:endParaRPr lang="en-US" sz="1700" dirty="0"/>
          </a:p>
        </p:txBody>
      </p:sp>
      <p:sp>
        <p:nvSpPr>
          <p:cNvPr id="22" name="Text 20"/>
          <p:cNvSpPr/>
          <p:nvPr/>
        </p:nvSpPr>
        <p:spPr>
          <a:xfrm>
            <a:off x="8321040" y="1600200"/>
            <a:ext cx="32918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Pe primul rând: boala care a dus direct la moarte.</a:t>
            </a:r>
            <a:endParaRPr lang="en-US" sz="1600" dirty="0"/>
          </a:p>
        </p:txBody>
      </p:sp>
      <p:sp>
        <p:nvSpPr>
          <p:cNvPr id="23" name="Text 21"/>
          <p:cNvSpPr/>
          <p:nvPr/>
        </p:nvSpPr>
        <p:spPr>
          <a:xfrm>
            <a:off x="8321040" y="2788920"/>
            <a:ext cx="3291840" cy="109728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Pe ultimul rând folosit: boala care a pornit totul.</a:t>
            </a:r>
            <a:endParaRPr lang="en-US" sz="1700" dirty="0"/>
          </a:p>
        </p:txBody>
      </p:sp>
      <p:sp>
        <p:nvSpPr>
          <p:cNvPr id="24" name="Text 22"/>
          <p:cNvSpPr/>
          <p:nvPr/>
        </p:nvSpPr>
        <p:spPr>
          <a:xfrm>
            <a:off x="8321040" y="4069080"/>
            <a:ext cx="3291840" cy="1188720"/>
          </a:xfrm>
          <a:prstGeom prst="rect">
            <a:avLst/>
          </a:prstGeom>
          <a:noFill/>
          <a:ln/>
        </p:spPr>
        <p:txBody>
          <a:bodyPr wrap="square" lIns="0" tIns="0" rIns="0" bIns="0" rtlCol="0" anchor="t"/>
          <a:lstStyle/>
          <a:p>
            <a:pPr indent="0" marL="0">
              <a:buNone/>
            </a:pPr>
            <a:r>
              <a:rPr lang="en-US" sz="1600" dirty="0">
                <a:solidFill>
                  <a:srgbClr val="0E7C6B"/>
                </a:solidFill>
                <a:latin typeface="Palatino Linotype" pitchFamily="34" charset="0"/>
                <a:ea typeface="Palatino Linotype" pitchFamily="34" charset="-122"/>
                <a:cs typeface="Palatino Linotype" pitchFamily="34" charset="-120"/>
              </a:rPr>
              <a:t>În partea a doua: bolile care au contribuit, de pildă diabetul.</a:t>
            </a:r>
            <a:endParaRPr lang="en-US" sz="1600" dirty="0"/>
          </a:p>
        </p:txBody>
      </p:sp>
      <p:sp>
        <p:nvSpPr>
          <p:cNvPr id="25" name="Text 23"/>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OMS, exemplul de certificat din ghid (registru A507).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Cauza de bază a decesului</a:t>
            </a:r>
            <a:endParaRPr lang="en-US" sz="3600" dirty="0"/>
          </a:p>
        </p:txBody>
      </p:sp>
      <p:sp>
        <p:nvSpPr>
          <p:cNvPr id="4" name="Text 2"/>
          <p:cNvSpPr/>
          <p:nvPr/>
        </p:nvSpPr>
        <p:spPr>
          <a:xfrm>
            <a:off x="594360" y="1600200"/>
            <a:ext cx="10972800" cy="1097280"/>
          </a:xfrm>
          <a:prstGeom prst="rect">
            <a:avLst/>
          </a:prstGeom>
          <a:noFill/>
          <a:ln/>
        </p:spPr>
        <p:txBody>
          <a:bodyPr wrap="square" lIns="0" tIns="0" rIns="0" bIns="0" rtlCol="0" anchor="ctr"/>
          <a:lstStyle/>
          <a:p>
            <a:pPr indent="0" marL="0">
              <a:buNone/>
            </a:pPr>
            <a:r>
              <a:rPr lang="en-US" sz="4200" b="1" i="1" dirty="0">
                <a:solidFill>
                  <a:srgbClr val="B02532"/>
                </a:solidFill>
                <a:latin typeface="Palatino Linotype" pitchFamily="34" charset="0"/>
                <a:ea typeface="Palatino Linotype" pitchFamily="34" charset="-122"/>
                <a:cs typeface="Palatino Linotype" pitchFamily="34" charset="-120"/>
              </a:rPr>
              <a:t>„Boala de la care a pornit totul”</a:t>
            </a:r>
            <a:endParaRPr lang="en-US" sz="4200" dirty="0"/>
          </a:p>
        </p:txBody>
      </p:sp>
      <p:sp>
        <p:nvSpPr>
          <p:cNvPr id="5" name="Shape 3"/>
          <p:cNvSpPr/>
          <p:nvPr/>
        </p:nvSpPr>
        <p:spPr>
          <a:xfrm>
            <a:off x="594360" y="2926080"/>
            <a:ext cx="64008" cy="1280160"/>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926080"/>
            <a:ext cx="10607040" cy="128016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Boala care a pornit lanțul de evenimente care a dus la moarte. Se scrie pe ultimul rând folosit din prima parte a certificatului.</a:t>
            </a:r>
            <a:endParaRPr lang="en-US" sz="2000" dirty="0"/>
          </a:p>
        </p:txBody>
      </p:sp>
      <p:sp>
        <p:nvSpPr>
          <p:cNvPr id="7" name="Text 5"/>
          <p:cNvSpPr/>
          <p:nvPr/>
        </p:nvSpPr>
        <p:spPr>
          <a:xfrm>
            <a:off x="594360" y="4572000"/>
            <a:ext cx="10972800" cy="914400"/>
          </a:xfrm>
          <a:prstGeom prst="rect">
            <a:avLst/>
          </a:prstGeom>
          <a:noFill/>
          <a:ln/>
        </p:spPr>
        <p:txBody>
          <a:bodyPr wrap="square" lIns="0" tIns="0" rIns="0" bIns="0" rtlCol="0" anchor="t"/>
          <a:lstStyle/>
          <a:p>
            <a:pPr indent="0" marL="0">
              <a:buNone/>
            </a:pPr>
            <a:r>
              <a:rPr lang="en-US" sz="1800" b="1" dirty="0">
                <a:solidFill>
                  <a:srgbClr val="3A3C44"/>
                </a:solidFill>
                <a:latin typeface="Palatino Linotype" pitchFamily="34" charset="0"/>
                <a:ea typeface="Palatino Linotype" pitchFamily="34" charset="-122"/>
                <a:cs typeface="Palatino Linotype" pitchFamily="34" charset="-120"/>
              </a:rPr>
              <a:t>Statistica deceselor pe cauze numără după cauza de bază, aleasă din certificat după regulile de codificare ale OMS.</a:t>
            </a:r>
            <a:endParaRPr lang="en-US" sz="1800" dirty="0"/>
          </a:p>
        </p:txBody>
      </p:sp>
      <p:sp>
        <p:nvSpPr>
          <p:cNvPr id="8" name="Text 6"/>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OMS, ghidul certificatului și regulile de codificare (registru A507, A522).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ACELAȘI OM, ACEEAȘI NOAPTE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certificate, trei statistici</a:t>
            </a:r>
            <a:endParaRPr lang="en-US" sz="3200" dirty="0"/>
          </a:p>
        </p:txBody>
      </p:sp>
      <p:sp>
        <p:nvSpPr>
          <p:cNvPr id="4" name="Shape 2"/>
          <p:cNvSpPr/>
          <p:nvPr/>
        </p:nvSpPr>
        <p:spPr>
          <a:xfrm>
            <a:off x="594360" y="1554480"/>
            <a:ext cx="3520440" cy="3429000"/>
          </a:xfrm>
          <a:prstGeom prst="roundRect">
            <a:avLst>
              <a:gd name="adj" fmla="val 2400"/>
            </a:avLst>
          </a:prstGeom>
          <a:solidFill>
            <a:srgbClr val="F4E0E2"/>
          </a:solidFill>
          <a:ln w="12700">
            <a:solidFill>
              <a:srgbClr val="F4E0E2"/>
            </a:solidFill>
            <a:prstDash val="solid"/>
          </a:ln>
        </p:spPr>
        <p:txBody>
          <a:bodyPr/>
          <a:p/>
        </p:txBody>
      </p:sp>
      <p:sp>
        <p:nvSpPr>
          <p:cNvPr id="5" name="Text 3"/>
          <p:cNvSpPr/>
          <p:nvPr/>
        </p:nvSpPr>
        <p:spPr>
          <a:xfrm>
            <a:off x="868680" y="1691640"/>
            <a:ext cx="3017520" cy="548640"/>
          </a:xfrm>
          <a:prstGeom prst="rect">
            <a:avLst/>
          </a:prstGeom>
          <a:noFill/>
          <a:ln/>
        </p:spPr>
        <p:txBody>
          <a:bodyPr wrap="square" lIns="0" tIns="0" rIns="0" bIns="0" rtlCol="0" anchor="t"/>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(a)</a:t>
            </a:r>
            <a:endParaRPr lang="en-US" sz="2800" dirty="0"/>
          </a:p>
        </p:txBody>
      </p:sp>
      <p:sp>
        <p:nvSpPr>
          <p:cNvPr id="6" name="Text 4"/>
          <p:cNvSpPr/>
          <p:nvPr/>
        </p:nvSpPr>
        <p:spPr>
          <a:xfrm>
            <a:off x="868680" y="2286000"/>
            <a:ext cx="3017520" cy="5486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„Stop cardiorespirator”</a:t>
            </a:r>
            <a:endParaRPr lang="en-US" sz="1800" dirty="0"/>
          </a:p>
        </p:txBody>
      </p:sp>
      <p:sp>
        <p:nvSpPr>
          <p:cNvPr id="7" name="Text 5"/>
          <p:cNvSpPr/>
          <p:nvPr/>
        </p:nvSpPr>
        <p:spPr>
          <a:xfrm>
            <a:off x="868680" y="2880360"/>
            <a:ext cx="3017520" cy="20116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Numește numai ultimul pas, nu boala de pe ultimul rând folosit. Nu intră în cifra COVID-19, nici în a altei boli precise.</a:t>
            </a:r>
            <a:endParaRPr lang="en-US" sz="1600" dirty="0"/>
          </a:p>
        </p:txBody>
      </p:sp>
      <p:sp>
        <p:nvSpPr>
          <p:cNvPr id="8" name="Shape 6"/>
          <p:cNvSpPr/>
          <p:nvPr/>
        </p:nvSpPr>
        <p:spPr>
          <a:xfrm>
            <a:off x="4343400" y="1554480"/>
            <a:ext cx="3520440" cy="3429000"/>
          </a:xfrm>
          <a:prstGeom prst="roundRect">
            <a:avLst>
              <a:gd name="adj" fmla="val 2400"/>
            </a:avLst>
          </a:prstGeom>
          <a:solidFill>
            <a:srgbClr val="F6EDD5"/>
          </a:solidFill>
          <a:ln w="12700">
            <a:solidFill>
              <a:srgbClr val="F6EDD5"/>
            </a:solidFill>
            <a:prstDash val="solid"/>
          </a:ln>
        </p:spPr>
        <p:txBody>
          <a:bodyPr/>
          <a:p/>
        </p:txBody>
      </p:sp>
      <p:sp>
        <p:nvSpPr>
          <p:cNvPr id="9" name="Text 7"/>
          <p:cNvSpPr/>
          <p:nvPr/>
        </p:nvSpPr>
        <p:spPr>
          <a:xfrm>
            <a:off x="4617720" y="1691640"/>
            <a:ext cx="3017520" cy="548640"/>
          </a:xfrm>
          <a:prstGeom prst="rect">
            <a:avLst/>
          </a:prstGeom>
          <a:noFill/>
          <a:ln/>
        </p:spPr>
        <p:txBody>
          <a:bodyPr wrap="square" lIns="0" tIns="0" rIns="0" bIns="0" rtlCol="0" anchor="t"/>
          <a:lstStyle/>
          <a:p>
            <a:pPr indent="0" marL="0">
              <a:buNone/>
            </a:pPr>
            <a:r>
              <a:rPr lang="en-US" sz="2800" b="1" dirty="0">
                <a:solidFill>
                  <a:srgbClr val="8A6100"/>
                </a:solidFill>
                <a:latin typeface="Palatino Linotype" pitchFamily="34" charset="0"/>
                <a:ea typeface="Palatino Linotype" pitchFamily="34" charset="-122"/>
                <a:cs typeface="Palatino Linotype" pitchFamily="34" charset="-120"/>
              </a:rPr>
              <a:t>(b)</a:t>
            </a:r>
            <a:endParaRPr lang="en-US" sz="2800" dirty="0"/>
          </a:p>
        </p:txBody>
      </p:sp>
      <p:sp>
        <p:nvSpPr>
          <p:cNvPr id="10" name="Text 8"/>
          <p:cNvSpPr/>
          <p:nvPr/>
        </p:nvSpPr>
        <p:spPr>
          <a:xfrm>
            <a:off x="4617720" y="2286000"/>
            <a:ext cx="3017520" cy="5486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„Diabet zaharat”</a:t>
            </a:r>
            <a:endParaRPr lang="en-US" sz="1800" dirty="0"/>
          </a:p>
        </p:txBody>
      </p:sp>
      <p:sp>
        <p:nvSpPr>
          <p:cNvPr id="11" name="Text 9"/>
          <p:cNvSpPr/>
          <p:nvPr/>
        </p:nvSpPr>
        <p:spPr>
          <a:xfrm>
            <a:off x="4617720" y="2880360"/>
            <a:ext cx="3017520" cy="20116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Pacientul se mută în cifra deceselor prin diabet.</a:t>
            </a:r>
            <a:endParaRPr lang="en-US" sz="1600" dirty="0"/>
          </a:p>
        </p:txBody>
      </p:sp>
      <p:sp>
        <p:nvSpPr>
          <p:cNvPr id="12" name="Shape 10"/>
          <p:cNvSpPr/>
          <p:nvPr/>
        </p:nvSpPr>
        <p:spPr>
          <a:xfrm>
            <a:off x="8092440" y="1554480"/>
            <a:ext cx="3520440" cy="3429000"/>
          </a:xfrm>
          <a:prstGeom prst="roundRect">
            <a:avLst>
              <a:gd name="adj" fmla="val 2400"/>
            </a:avLst>
          </a:prstGeom>
          <a:solidFill>
            <a:srgbClr val="E1F0EC"/>
          </a:solidFill>
          <a:ln w="12700">
            <a:solidFill>
              <a:srgbClr val="E1F0EC"/>
            </a:solidFill>
            <a:prstDash val="solid"/>
          </a:ln>
        </p:spPr>
        <p:txBody>
          <a:bodyPr/>
          <a:p/>
        </p:txBody>
      </p:sp>
      <p:sp>
        <p:nvSpPr>
          <p:cNvPr id="13" name="Text 11"/>
          <p:cNvSpPr/>
          <p:nvPr/>
        </p:nvSpPr>
        <p:spPr>
          <a:xfrm>
            <a:off x="8366760" y="1691640"/>
            <a:ext cx="3017520" cy="548640"/>
          </a:xfrm>
          <a:prstGeom prst="rect">
            <a:avLst/>
          </a:prstGeom>
          <a:noFill/>
          <a:ln/>
        </p:spPr>
        <p:txBody>
          <a:bodyPr wrap="square" lIns="0" tIns="0" rIns="0" bIns="0" rtlCol="0" anchor="t"/>
          <a:lstStyle/>
          <a:p>
            <a:pPr indent="0" marL="0">
              <a:buNone/>
            </a:pPr>
            <a:r>
              <a:rPr lang="en-US" sz="2800" b="1" dirty="0">
                <a:solidFill>
                  <a:srgbClr val="0E7C6B"/>
                </a:solidFill>
                <a:latin typeface="Palatino Linotype" pitchFamily="34" charset="0"/>
                <a:ea typeface="Palatino Linotype" pitchFamily="34" charset="-122"/>
                <a:cs typeface="Palatino Linotype" pitchFamily="34" charset="-120"/>
              </a:rPr>
              <a:t>(c)</a:t>
            </a:r>
            <a:endParaRPr lang="en-US" sz="2800" dirty="0"/>
          </a:p>
        </p:txBody>
      </p:sp>
      <p:sp>
        <p:nvSpPr>
          <p:cNvPr id="14" name="Text 12"/>
          <p:cNvSpPr/>
          <p:nvPr/>
        </p:nvSpPr>
        <p:spPr>
          <a:xfrm>
            <a:off x="8366760" y="2286000"/>
            <a:ext cx="3017520" cy="5486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Lanțul complet</a:t>
            </a:r>
            <a:endParaRPr lang="en-US" sz="1800" dirty="0"/>
          </a:p>
        </p:txBody>
      </p:sp>
      <p:sp>
        <p:nvSpPr>
          <p:cNvPr id="15" name="Text 13"/>
          <p:cNvSpPr/>
          <p:nvPr/>
        </p:nvSpPr>
        <p:spPr>
          <a:xfrm>
            <a:off x="8366760" y="2880360"/>
            <a:ext cx="3017520" cy="20116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Pacientul este numărat acolo unde spune ghidul OMS: la COVID-19.</a:t>
            </a:r>
            <a:endParaRPr lang="en-US" sz="1600" dirty="0"/>
          </a:p>
        </p:txBody>
      </p:sp>
      <p:sp>
        <p:nvSpPr>
          <p:cNvPr id="16" name="Text 14"/>
          <p:cNvSpPr/>
          <p:nvPr/>
        </p:nvSpPr>
        <p:spPr>
          <a:xfrm>
            <a:off x="594360" y="5257800"/>
            <a:ext cx="10972800" cy="54864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Trei rânduri diferite în statistica națională.</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DOUĂ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Rescrieți varianta (a)</a:t>
            </a:r>
            <a:endParaRPr lang="en-US" sz="3400" dirty="0"/>
          </a:p>
        </p:txBody>
      </p:sp>
      <p:sp>
        <p:nvSpPr>
          <p:cNvPr id="6" name="Shape 4"/>
          <p:cNvSpPr/>
          <p:nvPr/>
        </p:nvSpPr>
        <p:spPr>
          <a:xfrm>
            <a:off x="594360" y="1600200"/>
            <a:ext cx="6949440" cy="4206240"/>
          </a:xfrm>
          <a:prstGeom prst="roundRect">
            <a:avLst>
              <a:gd name="adj" fmla="val 1957"/>
            </a:avLst>
          </a:prstGeom>
          <a:solidFill>
            <a:srgbClr val="FBF8F1"/>
          </a:solidFill>
          <a:ln w="12700">
            <a:solidFill>
              <a:srgbClr val="FBF8F1"/>
            </a:solidFill>
            <a:prstDash val="solid"/>
          </a:ln>
        </p:spPr>
        <p:txBody>
          <a:bodyPr/>
          <a:p/>
        </p:txBody>
      </p:sp>
      <p:sp>
        <p:nvSpPr>
          <p:cNvPr id="7" name="Text 5"/>
          <p:cNvSpPr/>
          <p:nvPr/>
        </p:nvSpPr>
        <p:spPr>
          <a:xfrm>
            <a:off x="868680" y="1783080"/>
            <a:ext cx="2743200" cy="36576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Partea I</a:t>
            </a:r>
            <a:endParaRPr lang="en-US" sz="1400" dirty="0"/>
          </a:p>
        </p:txBody>
      </p:sp>
      <p:sp>
        <p:nvSpPr>
          <p:cNvPr id="8" name="Text 6"/>
          <p:cNvSpPr/>
          <p:nvPr/>
        </p:nvSpPr>
        <p:spPr>
          <a:xfrm>
            <a:off x="868680" y="2240280"/>
            <a:ext cx="457200" cy="548640"/>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a)</a:t>
            </a:r>
            <a:endParaRPr lang="en-US" sz="1600" dirty="0"/>
          </a:p>
        </p:txBody>
      </p:sp>
      <p:sp>
        <p:nvSpPr>
          <p:cNvPr id="9" name="Shape 7"/>
          <p:cNvSpPr/>
          <p:nvPr/>
        </p:nvSpPr>
        <p:spPr>
          <a:xfrm>
            <a:off x="1371600" y="2697480"/>
            <a:ext cx="5852160" cy="13716"/>
          </a:xfrm>
          <a:prstGeom prst="rect">
            <a:avLst/>
          </a:prstGeom>
          <a:solidFill>
            <a:srgbClr val="C9C6BE"/>
          </a:solidFill>
          <a:ln w="12700">
            <a:solidFill>
              <a:srgbClr val="C9C6BE"/>
            </a:solidFill>
            <a:prstDash val="solid"/>
          </a:ln>
        </p:spPr>
        <p:txBody>
          <a:bodyPr/>
          <a:p/>
        </p:txBody>
      </p:sp>
      <p:sp>
        <p:nvSpPr>
          <p:cNvPr id="10" name="Text 8"/>
          <p:cNvSpPr/>
          <p:nvPr/>
        </p:nvSpPr>
        <p:spPr>
          <a:xfrm>
            <a:off x="868680" y="2926080"/>
            <a:ext cx="457200" cy="548640"/>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b)</a:t>
            </a:r>
            <a:endParaRPr lang="en-US" sz="1600" dirty="0"/>
          </a:p>
        </p:txBody>
      </p:sp>
      <p:sp>
        <p:nvSpPr>
          <p:cNvPr id="11" name="Shape 9"/>
          <p:cNvSpPr/>
          <p:nvPr/>
        </p:nvSpPr>
        <p:spPr>
          <a:xfrm>
            <a:off x="1371600" y="3383280"/>
            <a:ext cx="5852160" cy="13716"/>
          </a:xfrm>
          <a:prstGeom prst="rect">
            <a:avLst/>
          </a:prstGeom>
          <a:solidFill>
            <a:srgbClr val="C9C6BE"/>
          </a:solidFill>
          <a:ln w="12700">
            <a:solidFill>
              <a:srgbClr val="C9C6BE"/>
            </a:solidFill>
            <a:prstDash val="solid"/>
          </a:ln>
        </p:spPr>
        <p:txBody>
          <a:bodyPr/>
          <a:p/>
        </p:txBody>
      </p:sp>
      <p:sp>
        <p:nvSpPr>
          <p:cNvPr id="12" name="Text 10"/>
          <p:cNvSpPr/>
          <p:nvPr/>
        </p:nvSpPr>
        <p:spPr>
          <a:xfrm>
            <a:off x="868680" y="3611880"/>
            <a:ext cx="457200" cy="548640"/>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c)</a:t>
            </a:r>
            <a:endParaRPr lang="en-US" sz="1600" dirty="0"/>
          </a:p>
        </p:txBody>
      </p:sp>
      <p:sp>
        <p:nvSpPr>
          <p:cNvPr id="13" name="Shape 11"/>
          <p:cNvSpPr/>
          <p:nvPr/>
        </p:nvSpPr>
        <p:spPr>
          <a:xfrm>
            <a:off x="1371600" y="4069080"/>
            <a:ext cx="5852160" cy="13716"/>
          </a:xfrm>
          <a:prstGeom prst="rect">
            <a:avLst/>
          </a:prstGeom>
          <a:solidFill>
            <a:srgbClr val="C9C6BE"/>
          </a:solidFill>
          <a:ln w="12700">
            <a:solidFill>
              <a:srgbClr val="C9C6BE"/>
            </a:solidFill>
            <a:prstDash val="solid"/>
          </a:ln>
        </p:spPr>
        <p:txBody>
          <a:bodyPr/>
          <a:p/>
        </p:txBody>
      </p:sp>
      <p:sp>
        <p:nvSpPr>
          <p:cNvPr id="14" name="Text 12"/>
          <p:cNvSpPr/>
          <p:nvPr/>
        </p:nvSpPr>
        <p:spPr>
          <a:xfrm>
            <a:off x="868680" y="4434840"/>
            <a:ext cx="274320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Partea a II-a</a:t>
            </a:r>
            <a:endParaRPr lang="en-US" sz="1400" dirty="0"/>
          </a:p>
        </p:txBody>
      </p:sp>
      <p:sp>
        <p:nvSpPr>
          <p:cNvPr id="15" name="Shape 13"/>
          <p:cNvSpPr/>
          <p:nvPr/>
        </p:nvSpPr>
        <p:spPr>
          <a:xfrm>
            <a:off x="1371600" y="5257800"/>
            <a:ext cx="5852160" cy="13716"/>
          </a:xfrm>
          <a:prstGeom prst="rect">
            <a:avLst/>
          </a:prstGeom>
          <a:solidFill>
            <a:srgbClr val="C9C6BE"/>
          </a:solidFill>
          <a:ln w="12700">
            <a:solidFill>
              <a:srgbClr val="C9C6BE"/>
            </a:solidFill>
            <a:prstDash val="solid"/>
          </a:ln>
        </p:spPr>
        <p:txBody>
          <a:bodyPr/>
          <a:p/>
        </p:txBody>
      </p:sp>
      <p:sp>
        <p:nvSpPr>
          <p:cNvPr id="16" name="Shape 14"/>
          <p:cNvSpPr/>
          <p:nvPr/>
        </p:nvSpPr>
        <p:spPr>
          <a:xfrm>
            <a:off x="7818120" y="1600200"/>
            <a:ext cx="3749040" cy="896112"/>
          </a:xfrm>
          <a:prstGeom prst="roundRect">
            <a:avLst>
              <a:gd name="adj" fmla="val 9184"/>
            </a:avLst>
          </a:prstGeom>
          <a:solidFill>
            <a:srgbClr val="1D1F2B"/>
          </a:solidFill>
          <a:ln w="12700">
            <a:solidFill>
              <a:srgbClr val="1D1F2B"/>
            </a:solidFill>
            <a:prstDash val="solid"/>
          </a:ln>
        </p:spPr>
        <p:txBody>
          <a:bodyPr/>
          <a:p/>
        </p:txBody>
      </p:sp>
      <p:sp>
        <p:nvSpPr>
          <p:cNvPr id="17" name="Shape 15"/>
          <p:cNvSpPr/>
          <p:nvPr/>
        </p:nvSpPr>
        <p:spPr>
          <a:xfrm>
            <a:off x="8138160" y="1837944"/>
            <a:ext cx="420624" cy="420624"/>
          </a:xfrm>
          <a:prstGeom prst="ellipse">
            <a:avLst/>
          </a:prstGeom>
          <a:solidFill>
            <a:srgbClr val="27D3BE"/>
          </a:solidFill>
          <a:ln/>
        </p:spPr>
        <p:txBody>
          <a:bodyPr/>
          <a:p/>
        </p:txBody>
      </p:sp>
      <p:sp>
        <p:nvSpPr>
          <p:cNvPr id="18" name="Text 16"/>
          <p:cNvSpPr/>
          <p:nvPr/>
        </p:nvSpPr>
        <p:spPr>
          <a:xfrm>
            <a:off x="8138160" y="183794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19" name="Text 17"/>
          <p:cNvSpPr/>
          <p:nvPr/>
        </p:nvSpPr>
        <p:spPr>
          <a:xfrm>
            <a:off x="8823960" y="1600200"/>
            <a:ext cx="2468880" cy="89611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Câte un rând pe fiecare treaptă a lanțului.</a:t>
            </a:r>
            <a:endParaRPr lang="en-US" sz="1550" dirty="0"/>
          </a:p>
        </p:txBody>
      </p:sp>
      <p:sp>
        <p:nvSpPr>
          <p:cNvPr id="20" name="Shape 18"/>
          <p:cNvSpPr/>
          <p:nvPr/>
        </p:nvSpPr>
        <p:spPr>
          <a:xfrm>
            <a:off x="7818120" y="2651760"/>
            <a:ext cx="3749040" cy="896112"/>
          </a:xfrm>
          <a:prstGeom prst="roundRect">
            <a:avLst>
              <a:gd name="adj" fmla="val 9184"/>
            </a:avLst>
          </a:prstGeom>
          <a:solidFill>
            <a:srgbClr val="1D1F2B"/>
          </a:solidFill>
          <a:ln w="12700">
            <a:solidFill>
              <a:srgbClr val="1D1F2B"/>
            </a:solidFill>
            <a:prstDash val="solid"/>
          </a:ln>
        </p:spPr>
        <p:txBody>
          <a:bodyPr/>
          <a:p/>
        </p:txBody>
      </p:sp>
      <p:sp>
        <p:nvSpPr>
          <p:cNvPr id="21" name="Shape 19"/>
          <p:cNvSpPr/>
          <p:nvPr/>
        </p:nvSpPr>
        <p:spPr>
          <a:xfrm>
            <a:off x="8138160" y="2889504"/>
            <a:ext cx="420624" cy="420624"/>
          </a:xfrm>
          <a:prstGeom prst="ellipse">
            <a:avLst/>
          </a:prstGeom>
          <a:solidFill>
            <a:srgbClr val="27D3BE"/>
          </a:solidFill>
          <a:ln/>
        </p:spPr>
        <p:txBody>
          <a:bodyPr/>
          <a:p/>
        </p:txBody>
      </p:sp>
      <p:sp>
        <p:nvSpPr>
          <p:cNvPr id="22" name="Text 20"/>
          <p:cNvSpPr/>
          <p:nvPr/>
        </p:nvSpPr>
        <p:spPr>
          <a:xfrm>
            <a:off x="8138160" y="288950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23" name="Text 21"/>
          <p:cNvSpPr/>
          <p:nvPr/>
        </p:nvSpPr>
        <p:spPr>
          <a:xfrm>
            <a:off x="8823960" y="2651760"/>
            <a:ext cx="2468880" cy="89611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Diabetul, separat.</a:t>
            </a:r>
            <a:endParaRPr lang="en-US" sz="1550" dirty="0"/>
          </a:p>
        </p:txBody>
      </p:sp>
      <p:sp>
        <p:nvSpPr>
          <p:cNvPr id="24" name="Shape 22"/>
          <p:cNvSpPr/>
          <p:nvPr/>
        </p:nvSpPr>
        <p:spPr>
          <a:xfrm>
            <a:off x="7818120" y="3703320"/>
            <a:ext cx="3749040" cy="896112"/>
          </a:xfrm>
          <a:prstGeom prst="roundRect">
            <a:avLst>
              <a:gd name="adj" fmla="val 9184"/>
            </a:avLst>
          </a:prstGeom>
          <a:solidFill>
            <a:srgbClr val="1D1F2B"/>
          </a:solidFill>
          <a:ln w="12700">
            <a:solidFill>
              <a:srgbClr val="1D1F2B"/>
            </a:solidFill>
            <a:prstDash val="solid"/>
          </a:ln>
        </p:spPr>
        <p:txBody>
          <a:bodyPr/>
          <a:p/>
        </p:txBody>
      </p:sp>
      <p:sp>
        <p:nvSpPr>
          <p:cNvPr id="25" name="Shape 23"/>
          <p:cNvSpPr/>
          <p:nvPr/>
        </p:nvSpPr>
        <p:spPr>
          <a:xfrm>
            <a:off x="8138160" y="3941064"/>
            <a:ext cx="420624" cy="420624"/>
          </a:xfrm>
          <a:prstGeom prst="ellipse">
            <a:avLst/>
          </a:prstGeom>
          <a:solidFill>
            <a:srgbClr val="27D3BE"/>
          </a:solidFill>
          <a:ln/>
        </p:spPr>
        <p:txBody>
          <a:bodyPr/>
          <a:p/>
        </p:txBody>
      </p:sp>
      <p:sp>
        <p:nvSpPr>
          <p:cNvPr id="26" name="Text 24"/>
          <p:cNvSpPr/>
          <p:nvPr/>
        </p:nvSpPr>
        <p:spPr>
          <a:xfrm>
            <a:off x="8138160" y="394106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27" name="Text 25"/>
          <p:cNvSpPr/>
          <p:nvPr/>
        </p:nvSpPr>
        <p:spPr>
          <a:xfrm>
            <a:off x="8823960" y="3703320"/>
            <a:ext cx="2468880" cy="89611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Două perechi citesc la microfon.</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CÂND CERTIFICATELE NU SPUN TOT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deces care nu spune nimic nimănui</a:t>
            </a:r>
            <a:endParaRPr lang="en-US" sz="3000" dirty="0"/>
          </a:p>
        </p:txBody>
      </p:sp>
      <p:sp>
        <p:nvSpPr>
          <p:cNvPr id="4" name="Text 2"/>
          <p:cNvSpPr/>
          <p:nvPr/>
        </p:nvSpPr>
        <p:spPr>
          <a:xfrm>
            <a:off x="594360" y="1463040"/>
            <a:ext cx="10972800" cy="11887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Din certificate se face statistica deceselor pe cauze, iar din ea se decid programe, bugete și priorități. Chiar dacă fiecare medic ar completa perfect, unele decese tot nu ar fi atribuite bolii:</a:t>
            </a:r>
            <a:endParaRPr lang="en-US" sz="1800" dirty="0"/>
          </a:p>
        </p:txBody>
      </p:sp>
      <p:sp>
        <p:nvSpPr>
          <p:cNvPr id="5" name="Shape 3"/>
          <p:cNvSpPr/>
          <p:nvPr/>
        </p:nvSpPr>
        <p:spPr>
          <a:xfrm>
            <a:off x="594360" y="2834640"/>
            <a:ext cx="5349240" cy="2103120"/>
          </a:xfrm>
          <a:prstGeom prst="roundRect">
            <a:avLst>
              <a:gd name="adj" fmla="val 3913"/>
            </a:avLst>
          </a:prstGeom>
          <a:solidFill>
            <a:srgbClr val="F4E0E2"/>
          </a:solidFill>
          <a:ln w="12700">
            <a:solidFill>
              <a:srgbClr val="F4E0E2"/>
            </a:solidFill>
            <a:prstDash val="solid"/>
          </a:ln>
        </p:spPr>
        <p:txBody>
          <a:bodyPr/>
          <a:p/>
        </p:txBody>
      </p:sp>
      <p:sp>
        <p:nvSpPr>
          <p:cNvPr id="6" name="Text 4"/>
          <p:cNvSpPr/>
          <p:nvPr/>
        </p:nvSpPr>
        <p:spPr>
          <a:xfrm>
            <a:off x="868680" y="2971800"/>
            <a:ext cx="484632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Acasă, netestați</a:t>
            </a:r>
            <a:endParaRPr lang="en-US" sz="2000" dirty="0"/>
          </a:p>
        </p:txBody>
      </p:sp>
      <p:sp>
        <p:nvSpPr>
          <p:cNvPr id="7" name="Text 5"/>
          <p:cNvSpPr/>
          <p:nvPr/>
        </p:nvSpPr>
        <p:spPr>
          <a:xfrm>
            <a:off x="868680" y="3520440"/>
            <a:ext cx="4846320" cy="13716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Unii bolnavi mor fără să fi fost testați.</a:t>
            </a:r>
            <a:endParaRPr lang="en-US" sz="1700" dirty="0"/>
          </a:p>
        </p:txBody>
      </p:sp>
      <p:sp>
        <p:nvSpPr>
          <p:cNvPr id="8" name="Shape 6"/>
          <p:cNvSpPr/>
          <p:nvPr/>
        </p:nvSpPr>
        <p:spPr>
          <a:xfrm>
            <a:off x="6217920" y="2834640"/>
            <a:ext cx="5349240" cy="2103120"/>
          </a:xfrm>
          <a:prstGeom prst="roundRect">
            <a:avLst>
              <a:gd name="adj" fmla="val 3913"/>
            </a:avLst>
          </a:prstGeom>
          <a:solidFill>
            <a:srgbClr val="E9E3F6"/>
          </a:solidFill>
          <a:ln w="12700">
            <a:solidFill>
              <a:srgbClr val="E9E3F6"/>
            </a:solidFill>
            <a:prstDash val="solid"/>
          </a:ln>
        </p:spPr>
        <p:txBody>
          <a:bodyPr/>
          <a:p/>
        </p:txBody>
      </p:sp>
      <p:sp>
        <p:nvSpPr>
          <p:cNvPr id="9" name="Text 7"/>
          <p:cNvSpPr/>
          <p:nvPr/>
        </p:nvSpPr>
        <p:spPr>
          <a:xfrm>
            <a:off x="6492240" y="2971800"/>
            <a:ext cx="4846320" cy="457200"/>
          </a:xfrm>
          <a:prstGeom prst="rect">
            <a:avLst/>
          </a:prstGeom>
          <a:noFill/>
          <a:ln/>
        </p:spPr>
        <p:txBody>
          <a:bodyPr wrap="square" lIns="0" tIns="0" rIns="0" bIns="0" rtlCol="0" anchor="t"/>
          <a:lstStyle/>
          <a:p>
            <a:pPr indent="0" marL="0">
              <a:buNone/>
            </a:pPr>
            <a:r>
              <a:rPr lang="en-US" sz="2000" b="1" dirty="0">
                <a:solidFill>
                  <a:srgbClr val="4A2D8C"/>
                </a:solidFill>
                <a:latin typeface="Palatino Linotype" pitchFamily="34" charset="0"/>
                <a:ea typeface="Palatino Linotype" pitchFamily="34" charset="-122"/>
                <a:cs typeface="Palatino Linotype" pitchFamily="34" charset="-120"/>
              </a:rPr>
              <a:t>Fără loc la timp</a:t>
            </a:r>
            <a:endParaRPr lang="en-US" sz="2000" dirty="0"/>
          </a:p>
        </p:txBody>
      </p:sp>
      <p:sp>
        <p:nvSpPr>
          <p:cNvPr id="10" name="Text 8"/>
          <p:cNvSpPr/>
          <p:nvPr/>
        </p:nvSpPr>
        <p:spPr>
          <a:xfrm>
            <a:off x="6492240" y="3520440"/>
            <a:ext cx="4846320" cy="13716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Alții mor de un infarct sau de un accident vascular, pentru că, în plin val, nu au mai ajuns la timp la spital.</a:t>
            </a:r>
            <a:endParaRPr lang="en-US" sz="1700" dirty="0"/>
          </a:p>
        </p:txBody>
      </p:sp>
      <p:sp>
        <p:nvSpPr>
          <p:cNvPr id="11" name="Text 9"/>
          <p:cNvSpPr/>
          <p:nvPr/>
        </p:nvSpPr>
        <p:spPr>
          <a:xfrm>
            <a:off x="594360" y="5212080"/>
            <a:ext cx="10972800" cy="54864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Pentru ele există o a doua cale de a număra, care nu depinde de certificat.</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Mortalitatea în exces</a:t>
            </a:r>
            <a:endParaRPr lang="en-US" sz="3600" dirty="0"/>
          </a:p>
        </p:txBody>
      </p:sp>
      <p:sp>
        <p:nvSpPr>
          <p:cNvPr id="4" name="Text 2"/>
          <p:cNvSpPr/>
          <p:nvPr/>
        </p:nvSpPr>
        <p:spPr>
          <a:xfrm>
            <a:off x="594360" y="1554480"/>
            <a:ext cx="10972800" cy="1188720"/>
          </a:xfrm>
          <a:prstGeom prst="rect">
            <a:avLst/>
          </a:prstGeom>
          <a:noFill/>
          <a:ln/>
        </p:spPr>
        <p:txBody>
          <a:bodyPr wrap="square" lIns="0" tIns="0" rIns="0" bIns="0" rtlCol="0" anchor="ctr"/>
          <a:lstStyle/>
          <a:p>
            <a:pPr indent="0" marL="0">
              <a:buNone/>
            </a:pPr>
            <a:r>
              <a:rPr lang="en-US" sz="3600" b="1" i="1" dirty="0">
                <a:solidFill>
                  <a:srgbClr val="B02532"/>
                </a:solidFill>
                <a:latin typeface="Palatino Linotype" pitchFamily="34" charset="0"/>
                <a:ea typeface="Palatino Linotype" pitchFamily="34" charset="-122"/>
                <a:cs typeface="Palatino Linotype" pitchFamily="34" charset="-120"/>
              </a:rPr>
              <a:t>„Câți oameni au murit în plus față de un an obișnuit”</a:t>
            </a:r>
            <a:endParaRPr lang="en-US" sz="3600" dirty="0"/>
          </a:p>
        </p:txBody>
      </p:sp>
      <p:sp>
        <p:nvSpPr>
          <p:cNvPr id="5" name="Shape 3"/>
          <p:cNvSpPr/>
          <p:nvPr/>
        </p:nvSpPr>
        <p:spPr>
          <a:xfrm>
            <a:off x="594360" y="2971800"/>
            <a:ext cx="64008" cy="1234440"/>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971800"/>
            <a:ext cx="10607040" cy="123444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Diferența dintre toate decesele dintr-o perioadă de criză și cele la care ne-am fi așteptat în condiții obișnuite. Se numără toate decesele, indiferent de cauza scrisă pe certificat.</a:t>
            </a:r>
            <a:endParaRPr lang="en-US" sz="1900" dirty="0"/>
          </a:p>
        </p:txBody>
      </p:sp>
      <p:sp>
        <p:nvSpPr>
          <p:cNvPr id="7" name="Text 5"/>
          <p:cNvSpPr/>
          <p:nvPr/>
        </p:nvSpPr>
        <p:spPr>
          <a:xfrm>
            <a:off x="594360" y="4572000"/>
            <a:ext cx="10972800" cy="822960"/>
          </a:xfrm>
          <a:prstGeom prst="rect">
            <a:avLst/>
          </a:prstGeom>
          <a:noFill/>
          <a:ln/>
        </p:spPr>
        <p:txBody>
          <a:bodyPr wrap="square" lIns="0" tIns="0" rIns="0" bIns="0" rtlCol="0" anchor="t"/>
          <a:lstStyle/>
          <a:p>
            <a:pPr indent="0" marL="0">
              <a:buNone/>
            </a:pPr>
            <a:r>
              <a:rPr lang="en-US" sz="1800" b="1" dirty="0">
                <a:solidFill>
                  <a:srgbClr val="3A3C44"/>
                </a:solidFill>
                <a:latin typeface="Palatino Linotype" pitchFamily="34" charset="0"/>
                <a:ea typeface="Palatino Linotype" pitchFamily="34" charset="-122"/>
                <a:cs typeface="Palatino Linotype" pitchFamily="34" charset="-120"/>
              </a:rPr>
              <a:t>Eurostat o calculează lunar, ca procent față de media deceselor din aceeași lună a anilor 2016–2019.</a:t>
            </a:r>
            <a:endParaRPr lang="en-US" sz="1800" dirty="0"/>
          </a:p>
        </p:txBody>
      </p:sp>
      <p:sp>
        <p:nvSpPr>
          <p:cNvPr id="8" name="Text 6"/>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OMS; Eurostat, metadatele indicatorului (registru A501, A504).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DECES ESTE UN DECES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Avantajul și limita</a:t>
            </a:r>
            <a:endParaRPr lang="en-US" sz="3400" dirty="0"/>
          </a:p>
        </p:txBody>
      </p:sp>
      <p:sp>
        <p:nvSpPr>
          <p:cNvPr id="4" name="Shape 2"/>
          <p:cNvSpPr/>
          <p:nvPr/>
        </p:nvSpPr>
        <p:spPr>
          <a:xfrm>
            <a:off x="594360" y="1600200"/>
            <a:ext cx="5349240" cy="3749040"/>
          </a:xfrm>
          <a:prstGeom prst="roundRect">
            <a:avLst>
              <a:gd name="adj" fmla="val 2195"/>
            </a:avLst>
          </a:prstGeom>
          <a:solidFill>
            <a:srgbClr val="E1F0EC"/>
          </a:solidFill>
          <a:ln w="12700">
            <a:solidFill>
              <a:srgbClr val="E1F0EC"/>
            </a:solidFill>
            <a:prstDash val="solid"/>
          </a:ln>
        </p:spPr>
        <p:txBody>
          <a:bodyPr/>
          <a:p/>
        </p:txBody>
      </p:sp>
      <p:sp>
        <p:nvSpPr>
          <p:cNvPr id="5" name="Text 3"/>
          <p:cNvSpPr/>
          <p:nvPr/>
        </p:nvSpPr>
        <p:spPr>
          <a:xfrm>
            <a:off x="914400" y="1783080"/>
            <a:ext cx="4754880" cy="548640"/>
          </a:xfrm>
          <a:prstGeom prst="rect">
            <a:avLst/>
          </a:prstGeom>
          <a:noFill/>
          <a:ln/>
        </p:spPr>
        <p:txBody>
          <a:bodyPr wrap="square" lIns="0" tIns="0" rIns="0" bIns="0" rtlCol="0" anchor="t"/>
          <a:lstStyle/>
          <a:p>
            <a:pPr indent="0" marL="0">
              <a:buNone/>
            </a:pPr>
            <a:r>
              <a:rPr lang="en-US" sz="2600" b="1" dirty="0">
                <a:solidFill>
                  <a:srgbClr val="0E7C6B"/>
                </a:solidFill>
                <a:latin typeface="Palatino Linotype" pitchFamily="34" charset="0"/>
                <a:ea typeface="Palatino Linotype" pitchFamily="34" charset="-122"/>
                <a:cs typeface="Palatino Linotype" pitchFamily="34" charset="-120"/>
              </a:rPr>
              <a:t>Avantajul</a:t>
            </a:r>
            <a:endParaRPr lang="en-US" sz="2600" dirty="0"/>
          </a:p>
        </p:txBody>
      </p:sp>
      <p:sp>
        <p:nvSpPr>
          <p:cNvPr id="6" name="Text 4"/>
          <p:cNvSpPr/>
          <p:nvPr/>
        </p:nvSpPr>
        <p:spPr>
          <a:xfrm>
            <a:off x="914400" y="2468880"/>
            <a:ext cx="4754880" cy="27432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 mai contează cine a fost testat și ce s-a scris pe certificat. Se numără toate decesele.</a:t>
            </a:r>
            <a:endParaRPr lang="en-US" sz="1900" dirty="0"/>
          </a:p>
        </p:txBody>
      </p:sp>
      <p:sp>
        <p:nvSpPr>
          <p:cNvPr id="7" name="Shape 5"/>
          <p:cNvSpPr/>
          <p:nvPr/>
        </p:nvSpPr>
        <p:spPr>
          <a:xfrm>
            <a:off x="6217920" y="1600200"/>
            <a:ext cx="5349240" cy="3749040"/>
          </a:xfrm>
          <a:prstGeom prst="roundRect">
            <a:avLst>
              <a:gd name="adj" fmla="val 2195"/>
            </a:avLst>
          </a:prstGeom>
          <a:solidFill>
            <a:srgbClr val="F4E0E2"/>
          </a:solidFill>
          <a:ln w="12700">
            <a:solidFill>
              <a:srgbClr val="F4E0E2"/>
            </a:solidFill>
            <a:prstDash val="solid"/>
          </a:ln>
        </p:spPr>
        <p:txBody>
          <a:bodyPr/>
          <a:p/>
        </p:txBody>
      </p:sp>
      <p:sp>
        <p:nvSpPr>
          <p:cNvPr id="8" name="Text 6"/>
          <p:cNvSpPr/>
          <p:nvPr/>
        </p:nvSpPr>
        <p:spPr>
          <a:xfrm>
            <a:off x="6537960" y="1783080"/>
            <a:ext cx="4754880" cy="54864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Limita</a:t>
            </a:r>
            <a:endParaRPr lang="en-US" sz="2600" dirty="0"/>
          </a:p>
        </p:txBody>
      </p:sp>
      <p:sp>
        <p:nvSpPr>
          <p:cNvPr id="9" name="Text 7"/>
          <p:cNvSpPr/>
          <p:nvPr/>
        </p:nvSpPr>
        <p:spPr>
          <a:xfrm>
            <a:off x="6537960" y="2468880"/>
            <a:ext cx="4754880" cy="27432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 spune din ce cauză au murit oamenii în plus: cuprinde și decesele produse direct de virus, și pe cele produse indirect, de pildă de întreruperea serviciilor de sănătate.</a:t>
            </a:r>
            <a:endParaRPr lang="en-US" sz="1900" dirty="0"/>
          </a:p>
        </p:txBody>
      </p:sp>
      <p:sp>
        <p:nvSpPr>
          <p:cNvPr id="10" name="Text 8"/>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OMS; Eurostat (registru A501, A504).</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EUROSTAT · OCTOMBRIE 2021</a:t>
            </a:r>
            <a:endParaRPr lang="en-US" sz="1300" dirty="0"/>
          </a:p>
        </p:txBody>
      </p:sp>
      <p:sp>
        <p:nvSpPr>
          <p:cNvPr id="3" name="Text 1"/>
          <p:cNvSpPr/>
          <p:nvPr/>
        </p:nvSpPr>
        <p:spPr>
          <a:xfrm>
            <a:off x="594360" y="731520"/>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România: de aproximativ 2,1 ori mai multe decese</a:t>
            </a:r>
            <a:endParaRPr lang="en-US" sz="3000" dirty="0"/>
          </a:p>
        </p:txBody>
      </p:sp>
      <p:sp>
        <p:nvSpPr>
          <p:cNvPr id="4" name="Text 2"/>
          <p:cNvSpPr/>
          <p:nvPr/>
        </p:nvSpPr>
        <p:spPr>
          <a:xfrm>
            <a:off x="594360" y="1417320"/>
            <a:ext cx="10972800" cy="45720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decât în media lunilor octombrie din 2016–2019</a:t>
            </a:r>
            <a:endParaRPr lang="en-US" sz="1800" dirty="0"/>
          </a:p>
        </p:txBody>
      </p:sp>
      <p:sp>
        <p:nvSpPr>
          <p:cNvPr id="5" name="Text 3"/>
          <p:cNvSpPr/>
          <p:nvPr/>
        </p:nvSpPr>
        <p:spPr>
          <a:xfrm>
            <a:off x="594360" y="2240280"/>
            <a:ext cx="2286000" cy="731520"/>
          </a:xfrm>
          <a:prstGeom prst="rect">
            <a:avLst/>
          </a:prstGeom>
          <a:noFill/>
          <a:ln/>
        </p:spPr>
        <p:txBody>
          <a:bodyPr wrap="square" lIns="0" tIns="0" rIns="0" bIns="0" rtlCol="0" anchor="ctr"/>
          <a:lstStyle/>
          <a:p>
            <a:pPr algn="r" indent="0" marL="0">
              <a:buNone/>
            </a:pPr>
            <a:r>
              <a:rPr lang="en-US" sz="1800" b="1" dirty="0">
                <a:solidFill>
                  <a:srgbClr val="FF4757"/>
                </a:solidFill>
                <a:latin typeface="Palatino Linotype" pitchFamily="34" charset="0"/>
                <a:ea typeface="Palatino Linotype" pitchFamily="34" charset="-122"/>
                <a:cs typeface="Palatino Linotype" pitchFamily="34" charset="-120"/>
              </a:rPr>
              <a:t>România</a:t>
            </a:r>
            <a:endParaRPr lang="en-US" sz="1800" dirty="0"/>
          </a:p>
        </p:txBody>
      </p:sp>
      <p:sp>
        <p:nvSpPr>
          <p:cNvPr id="6" name="Shape 4"/>
          <p:cNvSpPr/>
          <p:nvPr/>
        </p:nvSpPr>
        <p:spPr>
          <a:xfrm>
            <a:off x="3017520" y="2331720"/>
            <a:ext cx="6217920" cy="548640"/>
          </a:xfrm>
          <a:prstGeom prst="rect">
            <a:avLst/>
          </a:prstGeom>
          <a:solidFill>
            <a:srgbClr val="FF4757"/>
          </a:solidFill>
          <a:ln w="12700">
            <a:solidFill>
              <a:srgbClr val="FF4757"/>
            </a:solidFill>
            <a:prstDash val="solid"/>
          </a:ln>
        </p:spPr>
        <p:txBody>
          <a:bodyPr/>
          <a:p/>
        </p:txBody>
      </p:sp>
      <p:sp>
        <p:nvSpPr>
          <p:cNvPr id="7" name="Text 5"/>
          <p:cNvSpPr/>
          <p:nvPr/>
        </p:nvSpPr>
        <p:spPr>
          <a:xfrm>
            <a:off x="9372600" y="2240280"/>
            <a:ext cx="2743200" cy="731520"/>
          </a:xfrm>
          <a:prstGeom prst="rect">
            <a:avLst/>
          </a:prstGeom>
          <a:noFill/>
          <a:ln/>
        </p:spPr>
        <p:txBody>
          <a:bodyPr wrap="square" lIns="0" tIns="0" rIns="0" bIns="0" rtlCol="0" anchor="ctr"/>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110,8%</a:t>
            </a:r>
            <a:endParaRPr lang="en-US" sz="2200" dirty="0"/>
          </a:p>
        </p:txBody>
      </p:sp>
      <p:sp>
        <p:nvSpPr>
          <p:cNvPr id="8" name="Text 6"/>
          <p:cNvSpPr/>
          <p:nvPr/>
        </p:nvSpPr>
        <p:spPr>
          <a:xfrm>
            <a:off x="594360" y="3246120"/>
            <a:ext cx="2286000" cy="731520"/>
          </a:xfrm>
          <a:prstGeom prst="rect">
            <a:avLst/>
          </a:prstGeom>
          <a:noFill/>
          <a:ln/>
        </p:spPr>
        <p:txBody>
          <a:bodyPr wrap="square" lIns="0" tIns="0" rIns="0" bIns="0" rtlCol="0" anchor="ctr"/>
          <a:lstStyle/>
          <a:p>
            <a:pPr algn="r" indent="0" marL="0">
              <a:buNone/>
            </a:pPr>
            <a:r>
              <a:rPr lang="en-US" sz="1800" b="1" dirty="0">
                <a:solidFill>
                  <a:srgbClr val="FFFFFF"/>
                </a:solidFill>
                <a:latin typeface="Palatino Linotype" pitchFamily="34" charset="0"/>
                <a:ea typeface="Palatino Linotype" pitchFamily="34" charset="-122"/>
                <a:cs typeface="Palatino Linotype" pitchFamily="34" charset="-120"/>
              </a:rPr>
              <a:t>Bulgaria</a:t>
            </a:r>
            <a:endParaRPr lang="en-US" sz="1800" dirty="0"/>
          </a:p>
        </p:txBody>
      </p:sp>
      <p:sp>
        <p:nvSpPr>
          <p:cNvPr id="9" name="Shape 7"/>
          <p:cNvSpPr/>
          <p:nvPr/>
        </p:nvSpPr>
        <p:spPr>
          <a:xfrm>
            <a:off x="3017520" y="3337560"/>
            <a:ext cx="4152762" cy="548640"/>
          </a:xfrm>
          <a:prstGeom prst="rect">
            <a:avLst/>
          </a:prstGeom>
          <a:solidFill>
            <a:srgbClr val="8E94A8"/>
          </a:solidFill>
          <a:ln w="12700">
            <a:solidFill>
              <a:srgbClr val="8E94A8"/>
            </a:solidFill>
            <a:prstDash val="solid"/>
          </a:ln>
        </p:spPr>
        <p:txBody>
          <a:bodyPr/>
          <a:p/>
        </p:txBody>
      </p:sp>
      <p:sp>
        <p:nvSpPr>
          <p:cNvPr id="10" name="Text 8"/>
          <p:cNvSpPr/>
          <p:nvPr/>
        </p:nvSpPr>
        <p:spPr>
          <a:xfrm>
            <a:off x="7307442" y="3246120"/>
            <a:ext cx="2743200" cy="73152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74,0%</a:t>
            </a:r>
            <a:endParaRPr lang="en-US" sz="2200" dirty="0"/>
          </a:p>
        </p:txBody>
      </p:sp>
      <p:sp>
        <p:nvSpPr>
          <p:cNvPr id="11" name="Text 9"/>
          <p:cNvSpPr/>
          <p:nvPr/>
        </p:nvSpPr>
        <p:spPr>
          <a:xfrm>
            <a:off x="594360" y="4251960"/>
            <a:ext cx="2286000" cy="731520"/>
          </a:xfrm>
          <a:prstGeom prst="rect">
            <a:avLst/>
          </a:prstGeom>
          <a:noFill/>
          <a:ln/>
        </p:spPr>
        <p:txBody>
          <a:bodyPr wrap="square" lIns="0" tIns="0" rIns="0" bIns="0" rtlCol="0" anchor="ctr"/>
          <a:lstStyle/>
          <a:p>
            <a:pPr algn="r" indent="0" marL="0">
              <a:buNone/>
            </a:pPr>
            <a:r>
              <a:rPr lang="en-US" sz="1800" b="1" dirty="0">
                <a:solidFill>
                  <a:srgbClr val="FFFFFF"/>
                </a:solidFill>
                <a:latin typeface="Palatino Linotype" pitchFamily="34" charset="0"/>
                <a:ea typeface="Palatino Linotype" pitchFamily="34" charset="-122"/>
                <a:cs typeface="Palatino Linotype" pitchFamily="34" charset="-120"/>
              </a:rPr>
              <a:t>Uniunea Europeană</a:t>
            </a:r>
            <a:endParaRPr lang="en-US" sz="1800" dirty="0"/>
          </a:p>
        </p:txBody>
      </p:sp>
      <p:sp>
        <p:nvSpPr>
          <p:cNvPr id="12" name="Shape 10"/>
          <p:cNvSpPr/>
          <p:nvPr/>
        </p:nvSpPr>
        <p:spPr>
          <a:xfrm>
            <a:off x="3017520" y="4343400"/>
            <a:ext cx="1032579" cy="548640"/>
          </a:xfrm>
          <a:prstGeom prst="rect">
            <a:avLst/>
          </a:prstGeom>
          <a:solidFill>
            <a:srgbClr val="5A5F75"/>
          </a:solidFill>
          <a:ln w="12700">
            <a:solidFill>
              <a:srgbClr val="5A5F75"/>
            </a:solidFill>
            <a:prstDash val="solid"/>
          </a:ln>
        </p:spPr>
        <p:txBody>
          <a:bodyPr/>
          <a:p/>
        </p:txBody>
      </p:sp>
      <p:sp>
        <p:nvSpPr>
          <p:cNvPr id="13" name="Text 11"/>
          <p:cNvSpPr/>
          <p:nvPr/>
        </p:nvSpPr>
        <p:spPr>
          <a:xfrm>
            <a:off x="4187259" y="4251960"/>
            <a:ext cx="2743200" cy="73152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18,4% (provizoriu)</a:t>
            </a:r>
            <a:endParaRPr lang="en-US" sz="2200" dirty="0"/>
          </a:p>
        </p:txBody>
      </p:sp>
      <p:sp>
        <p:nvSpPr>
          <p:cNvPr id="14" name="Text 12"/>
          <p:cNvSpPr/>
          <p:nvPr/>
        </p:nvSpPr>
        <p:spPr>
          <a:xfrm>
            <a:off x="3017520" y="5257800"/>
            <a:ext cx="8503920" cy="36576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Mortalitatea în exces, ca procent peste referință, în aceeași lună.</a:t>
            </a:r>
            <a:endParaRPr lang="en-US" sz="1300" dirty="0"/>
          </a:p>
        </p:txBody>
      </p:sp>
      <p:sp>
        <p:nvSpPr>
          <p:cNvPr id="15" name="Text 13"/>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mortalitatea în exces lunară (registru A503, A504, A521).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INDICATORUL POATE FI ȘI NEGATIV</a:t>
            </a:r>
            <a:endParaRPr lang="en-US" sz="1300" dirty="0"/>
          </a:p>
        </p:txBody>
      </p:sp>
      <p:sp>
        <p:nvSpPr>
          <p:cNvPr id="3" name="Text 1"/>
          <p:cNvSpPr/>
          <p:nvPr/>
        </p:nvSpPr>
        <p:spPr>
          <a:xfrm>
            <a:off x="502920" y="777240"/>
            <a:ext cx="5120640" cy="2194560"/>
          </a:xfrm>
          <a:prstGeom prst="rect">
            <a:avLst/>
          </a:prstGeom>
          <a:noFill/>
          <a:ln/>
        </p:spPr>
        <p:txBody>
          <a:bodyPr wrap="square" lIns="0" tIns="0" rIns="0" bIns="0" rtlCol="0" anchor="ctr"/>
          <a:lstStyle/>
          <a:p>
            <a:pPr indent="0" marL="0">
              <a:buNone/>
            </a:pPr>
            <a:r>
              <a:rPr lang="en-US" sz="15000" b="1" dirty="0">
                <a:solidFill>
                  <a:srgbClr val="0E7C6B"/>
                </a:solidFill>
                <a:latin typeface="Palatino Linotype" pitchFamily="34" charset="0"/>
                <a:ea typeface="Palatino Linotype" pitchFamily="34" charset="-122"/>
                <a:cs typeface="Palatino Linotype" pitchFamily="34" charset="-120"/>
              </a:rPr>
              <a:t>9,3%</a:t>
            </a:r>
            <a:endParaRPr lang="en-US" sz="15000" dirty="0"/>
          </a:p>
        </p:txBody>
      </p:sp>
      <p:sp>
        <p:nvSpPr>
          <p:cNvPr id="4" name="Text 2"/>
          <p:cNvSpPr/>
          <p:nvPr/>
        </p:nvSpPr>
        <p:spPr>
          <a:xfrm>
            <a:off x="640080" y="2971800"/>
            <a:ext cx="5120640" cy="54864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sub referință, în România, în mai 2026</a:t>
            </a:r>
            <a:endParaRPr lang="en-US" sz="2100" dirty="0"/>
          </a:p>
        </p:txBody>
      </p:sp>
      <p:sp>
        <p:nvSpPr>
          <p:cNvPr id="5" name="Text 3"/>
          <p:cNvSpPr/>
          <p:nvPr/>
        </p:nvSpPr>
        <p:spPr>
          <a:xfrm>
            <a:off x="640080" y="3611880"/>
            <a:ext cx="5120640" cy="73152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Valoare provizorie, dintr-un set actualizat la 16 septembrie 2026.</a:t>
            </a:r>
            <a:endParaRPr lang="en-US" sz="1600" dirty="0"/>
          </a:p>
        </p:txBody>
      </p:sp>
      <p:sp>
        <p:nvSpPr>
          <p:cNvPr id="6" name="Shape 4"/>
          <p:cNvSpPr/>
          <p:nvPr/>
        </p:nvSpPr>
        <p:spPr>
          <a:xfrm>
            <a:off x="6217920" y="914400"/>
            <a:ext cx="5349240" cy="4480560"/>
          </a:xfrm>
          <a:prstGeom prst="roundRect">
            <a:avLst>
              <a:gd name="adj" fmla="val 1837"/>
            </a:avLst>
          </a:prstGeom>
          <a:solidFill>
            <a:srgbClr val="ECEAE4"/>
          </a:solidFill>
          <a:ln w="12700">
            <a:solidFill>
              <a:srgbClr val="ECEAE4"/>
            </a:solidFill>
            <a:prstDash val="solid"/>
          </a:ln>
        </p:spPr>
        <p:txBody>
          <a:bodyPr/>
          <a:p/>
        </p:txBody>
      </p:sp>
      <p:sp>
        <p:nvSpPr>
          <p:cNvPr id="7" name="Text 5"/>
          <p:cNvSpPr/>
          <p:nvPr/>
        </p:nvSpPr>
        <p:spPr>
          <a:xfrm>
            <a:off x="6537960" y="1097280"/>
            <a:ext cx="4754880" cy="45720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Referința este fixă</a:t>
            </a:r>
            <a:endParaRPr lang="en-US" sz="2100" dirty="0"/>
          </a:p>
        </p:txBody>
      </p:sp>
      <p:sp>
        <p:nvSpPr>
          <p:cNvPr id="8" name="Text 6"/>
          <p:cNvSpPr/>
          <p:nvPr/>
        </p:nvSpPr>
        <p:spPr>
          <a:xfrm>
            <a:off x="6537960" y="1645920"/>
            <a:ext cx="4754880" cy="35661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Orice lună se compară cu aceeași medie, a anilor 2016–2019. Indicatorul nu ține seama de schimbările mărimii populației și ale structurii ei pe vârste și sexe; cu anii, referința poate deveni tot mai puțin potrivită.</a:t>
            </a:r>
            <a:endParaRPr lang="en-US" sz="1700" dirty="0"/>
          </a:p>
        </p:txBody>
      </p:sp>
      <p:sp>
        <p:nvSpPr>
          <p:cNvPr id="9" name="Text 7"/>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datele lunare și metadatele indicatorului (registru A504, A505, A532).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OMS · IANUARIE 2020 – DECEMBRIE 2021</a:t>
            </a:r>
            <a:endParaRPr lang="en-US" sz="1300" dirty="0"/>
          </a:p>
        </p:txBody>
      </p:sp>
      <p:sp>
        <p:nvSpPr>
          <p:cNvPr id="3" name="Text 1"/>
          <p:cNvSpPr/>
          <p:nvPr/>
        </p:nvSpPr>
        <p:spPr>
          <a:xfrm>
            <a:off x="594360" y="731520"/>
            <a:ext cx="5486400" cy="914400"/>
          </a:xfrm>
          <a:prstGeom prst="rect">
            <a:avLst/>
          </a:prstGeom>
          <a:noFill/>
          <a:ln/>
        </p:spPr>
        <p:txBody>
          <a:bodyPr wrap="square" lIns="0" tIns="0" rIns="0" bIns="0" rtlCol="0" anchor="t"/>
          <a:lstStyle/>
          <a:p>
            <a:pPr indent="0" marL="0">
              <a:buNone/>
            </a:pPr>
            <a:r>
              <a:rPr lang="en-US" sz="4800" b="1" dirty="0">
                <a:solidFill>
                  <a:srgbClr val="FF4757"/>
                </a:solidFill>
                <a:latin typeface="Palatino Linotype" pitchFamily="34" charset="0"/>
                <a:ea typeface="Palatino Linotype" pitchFamily="34" charset="-122"/>
                <a:cs typeface="Palatino Linotype" pitchFamily="34" charset="-120"/>
              </a:rPr>
              <a:t>De 2,74 ori</a:t>
            </a:r>
            <a:endParaRPr lang="en-US" sz="4800" dirty="0"/>
          </a:p>
        </p:txBody>
      </p:sp>
      <p:sp>
        <p:nvSpPr>
          <p:cNvPr id="4" name="Text 2"/>
          <p:cNvSpPr/>
          <p:nvPr/>
        </p:nvSpPr>
        <p:spPr>
          <a:xfrm>
            <a:off x="594360" y="1645920"/>
            <a:ext cx="10972800" cy="4572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mai multe decese în exces decât decesele prin COVID-19 raportate</a:t>
            </a:r>
            <a:endParaRPr lang="en-US" sz="1900" dirty="0"/>
          </a:p>
        </p:txBody>
      </p:sp>
      <p:sp>
        <p:nvSpPr>
          <p:cNvPr id="5" name="Text 3"/>
          <p:cNvSpPr/>
          <p:nvPr/>
        </p:nvSpPr>
        <p:spPr>
          <a:xfrm>
            <a:off x="594360" y="2423160"/>
            <a:ext cx="8229600" cy="365760"/>
          </a:xfrm>
          <a:prstGeom prst="rect">
            <a:avLst/>
          </a:prstGeom>
          <a:noFill/>
          <a:ln/>
        </p:spPr>
        <p:txBody>
          <a:bodyPr wrap="square" lIns="0" tIns="0" rIns="0" bIns="0" rtlCol="0" anchor="t"/>
          <a:lstStyle/>
          <a:p>
            <a:pPr indent="0" marL="0">
              <a:buNone/>
            </a:pPr>
            <a:r>
              <a:rPr lang="en-US" sz="1500" b="1" dirty="0">
                <a:solidFill>
                  <a:srgbClr val="959BB0"/>
                </a:solidFill>
                <a:latin typeface="Palatino Linotype" pitchFamily="34" charset="0"/>
                <a:ea typeface="Palatino Linotype" pitchFamily="34" charset="-122"/>
                <a:cs typeface="Palatino Linotype" pitchFamily="34" charset="-120"/>
              </a:rPr>
              <a:t>Raportate la OMS ca decese prin COVID-19</a:t>
            </a:r>
            <a:endParaRPr lang="en-US" sz="1500" dirty="0"/>
          </a:p>
        </p:txBody>
      </p:sp>
      <p:sp>
        <p:nvSpPr>
          <p:cNvPr id="6" name="Shape 4"/>
          <p:cNvSpPr/>
          <p:nvPr/>
        </p:nvSpPr>
        <p:spPr>
          <a:xfrm>
            <a:off x="594360" y="2807208"/>
            <a:ext cx="3007716" cy="566928"/>
          </a:xfrm>
          <a:prstGeom prst="rect">
            <a:avLst/>
          </a:prstGeom>
          <a:solidFill>
            <a:srgbClr val="8E94A8"/>
          </a:solidFill>
          <a:ln w="12700">
            <a:solidFill>
              <a:srgbClr val="8E94A8"/>
            </a:solidFill>
            <a:prstDash val="solid"/>
          </a:ln>
        </p:spPr>
        <p:txBody>
          <a:bodyPr/>
          <a:p/>
        </p:txBody>
      </p:sp>
      <p:sp>
        <p:nvSpPr>
          <p:cNvPr id="7" name="Text 5"/>
          <p:cNvSpPr/>
          <p:nvPr/>
        </p:nvSpPr>
        <p:spPr>
          <a:xfrm>
            <a:off x="3739236" y="2761488"/>
            <a:ext cx="2377440" cy="658368"/>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5,42 milioane</a:t>
            </a:r>
            <a:endParaRPr lang="en-US" sz="2200" dirty="0"/>
          </a:p>
        </p:txBody>
      </p:sp>
      <p:sp>
        <p:nvSpPr>
          <p:cNvPr id="8" name="Text 6"/>
          <p:cNvSpPr/>
          <p:nvPr/>
        </p:nvSpPr>
        <p:spPr>
          <a:xfrm>
            <a:off x="594360" y="3566160"/>
            <a:ext cx="8229600" cy="365760"/>
          </a:xfrm>
          <a:prstGeom prst="rect">
            <a:avLst/>
          </a:prstGeom>
          <a:noFill/>
          <a:ln/>
        </p:spPr>
        <p:txBody>
          <a:bodyPr wrap="square" lIns="0" tIns="0" rIns="0" bIns="0" rtlCol="0" anchor="t"/>
          <a:lstStyle/>
          <a:p>
            <a:pPr indent="0" marL="0">
              <a:buNone/>
            </a:pPr>
            <a:r>
              <a:rPr lang="en-US" sz="1500" b="1" dirty="0">
                <a:solidFill>
                  <a:srgbClr val="959BB0"/>
                </a:solidFill>
                <a:latin typeface="Palatino Linotype" pitchFamily="34" charset="0"/>
                <a:ea typeface="Palatino Linotype" pitchFamily="34" charset="-122"/>
                <a:cs typeface="Palatino Linotype" pitchFamily="34" charset="-120"/>
              </a:rPr>
              <a:t>Decese în exces, estimate</a:t>
            </a:r>
            <a:endParaRPr lang="en-US" sz="1500" dirty="0"/>
          </a:p>
        </p:txBody>
      </p:sp>
      <p:sp>
        <p:nvSpPr>
          <p:cNvPr id="9" name="Shape 7"/>
          <p:cNvSpPr/>
          <p:nvPr/>
        </p:nvSpPr>
        <p:spPr>
          <a:xfrm>
            <a:off x="594360" y="3950208"/>
            <a:ext cx="8229600" cy="566928"/>
          </a:xfrm>
          <a:prstGeom prst="rect">
            <a:avLst/>
          </a:prstGeom>
          <a:solidFill>
            <a:srgbClr val="FF4757"/>
          </a:solidFill>
          <a:ln w="12700">
            <a:solidFill>
              <a:srgbClr val="FF4757"/>
            </a:solidFill>
            <a:prstDash val="solid"/>
          </a:ln>
        </p:spPr>
        <p:txBody>
          <a:bodyPr/>
          <a:p/>
        </p:txBody>
      </p:sp>
      <p:sp>
        <p:nvSpPr>
          <p:cNvPr id="10" name="Text 8"/>
          <p:cNvSpPr/>
          <p:nvPr/>
        </p:nvSpPr>
        <p:spPr>
          <a:xfrm>
            <a:off x="8961120" y="3904488"/>
            <a:ext cx="2377440" cy="658368"/>
          </a:xfrm>
          <a:prstGeom prst="rect">
            <a:avLst/>
          </a:prstGeom>
          <a:noFill/>
          <a:ln/>
        </p:spPr>
        <p:txBody>
          <a:bodyPr wrap="square" lIns="0" tIns="0" rIns="0" bIns="0" rtlCol="0" anchor="ctr"/>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14,83 milioane</a:t>
            </a:r>
            <a:endParaRPr lang="en-US" sz="2200" dirty="0"/>
          </a:p>
        </p:txBody>
      </p:sp>
      <p:sp>
        <p:nvSpPr>
          <p:cNvPr id="11" name="Shape 9"/>
          <p:cNvSpPr/>
          <p:nvPr/>
        </p:nvSpPr>
        <p:spPr>
          <a:xfrm>
            <a:off x="594360" y="4800600"/>
            <a:ext cx="10972800" cy="1234440"/>
          </a:xfrm>
          <a:prstGeom prst="roundRect">
            <a:avLst>
              <a:gd name="adj" fmla="val 6667"/>
            </a:avLst>
          </a:prstGeom>
          <a:solidFill>
            <a:srgbClr val="272A38"/>
          </a:solidFill>
          <a:ln w="12700">
            <a:solidFill>
              <a:srgbClr val="272A38"/>
            </a:solidFill>
            <a:prstDash val="solid"/>
          </a:ln>
        </p:spPr>
        <p:txBody>
          <a:bodyPr/>
          <a:p/>
        </p:txBody>
      </p:sp>
      <p:sp>
        <p:nvSpPr>
          <p:cNvPr id="12" name="Text 10"/>
          <p:cNvSpPr/>
          <p:nvPr/>
        </p:nvSpPr>
        <p:spPr>
          <a:xfrm>
            <a:off x="868680" y="4800600"/>
            <a:ext cx="10424160" cy="12344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Cifra nu spune că toți aceștia au murit de COVID-19. O parte sunt decese prin virus care nu au ajuns în cifra raportată; o altă parte, decese produse de perturbările pandemiei.</a:t>
            </a:r>
            <a:endParaRPr lang="en-US" sz="1600" dirty="0"/>
          </a:p>
        </p:txBody>
      </p:sp>
      <p:sp>
        <p:nvSpPr>
          <p:cNvPr id="13" name="Text 11"/>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OMS și colaboratorii, estimarea globală a mortalității în exces (registru A500, A501).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CE ÎNSEAMNĂ PENTRU VOI</a:t>
            </a:r>
            <a:endParaRPr lang="en-US" sz="1300" dirty="0"/>
          </a:p>
        </p:txBody>
      </p:sp>
      <p:sp>
        <p:nvSpPr>
          <p:cNvPr id="3" name="Text 1"/>
          <p:cNvSpPr/>
          <p:nvPr/>
        </p:nvSpPr>
        <p:spPr>
          <a:xfrm>
            <a:off x="594360" y="868680"/>
            <a:ext cx="10972800" cy="822960"/>
          </a:xfrm>
          <a:prstGeom prst="rect">
            <a:avLst/>
          </a:prstGeom>
          <a:noFill/>
          <a:ln/>
        </p:spPr>
        <p:txBody>
          <a:bodyPr wrap="square" lIns="0" tIns="0" rIns="0" bIns="0" rtlCol="0" anchor="t"/>
          <a:lstStyle/>
          <a:p>
            <a:pPr indent="0" marL="0">
              <a:buNone/>
            </a:pPr>
            <a:r>
              <a:rPr lang="en-US" sz="3600" b="1" dirty="0">
                <a:solidFill>
                  <a:srgbClr val="073B34"/>
                </a:solidFill>
                <a:latin typeface="Palatino Linotype" pitchFamily="34" charset="0"/>
                <a:ea typeface="Palatino Linotype" pitchFamily="34" charset="-122"/>
                <a:cs typeface="Palatino Linotype" pitchFamily="34" charset="-120"/>
              </a:rPr>
              <a:t>Scrieți lanțul, nu doar ultimul pas</a:t>
            </a:r>
            <a:endParaRPr lang="en-US" sz="3600" dirty="0"/>
          </a:p>
        </p:txBody>
      </p:sp>
      <p:sp>
        <p:nvSpPr>
          <p:cNvPr id="4" name="Shape 2"/>
          <p:cNvSpPr/>
          <p:nvPr/>
        </p:nvSpPr>
        <p:spPr>
          <a:xfrm>
            <a:off x="594360" y="1920240"/>
            <a:ext cx="10972800" cy="841248"/>
          </a:xfrm>
          <a:prstGeom prst="roundRect">
            <a:avLst>
              <a:gd name="adj" fmla="val 9783"/>
            </a:avLst>
          </a:prstGeom>
          <a:solidFill>
            <a:srgbClr val="07564B"/>
          </a:solidFill>
          <a:ln w="12700">
            <a:solidFill>
              <a:srgbClr val="07564B"/>
            </a:solidFill>
            <a:prstDash val="solid"/>
          </a:ln>
        </p:spPr>
        <p:txBody>
          <a:bodyPr/>
          <a:p/>
        </p:txBody>
      </p:sp>
      <p:sp>
        <p:nvSpPr>
          <p:cNvPr id="5" name="Shape 3"/>
          <p:cNvSpPr/>
          <p:nvPr/>
        </p:nvSpPr>
        <p:spPr>
          <a:xfrm>
            <a:off x="914400" y="2130552"/>
            <a:ext cx="420624" cy="420624"/>
          </a:xfrm>
          <a:prstGeom prst="ellipse">
            <a:avLst/>
          </a:prstGeom>
          <a:solidFill>
            <a:srgbClr val="FFC24B"/>
          </a:solidFill>
          <a:ln/>
        </p:spPr>
        <p:txBody>
          <a:bodyPr/>
          <a:p/>
        </p:txBody>
      </p:sp>
      <p:sp>
        <p:nvSpPr>
          <p:cNvPr id="6" name="Text 4"/>
          <p:cNvSpPr/>
          <p:nvPr/>
        </p:nvSpPr>
        <p:spPr>
          <a:xfrm>
            <a:off x="914400" y="21305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920240"/>
            <a:ext cx="9692640" cy="84124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Pe ultimul rând folosit: boala care a pornit totul.</a:t>
            </a:r>
            <a:endParaRPr lang="en-US" sz="1900" dirty="0"/>
          </a:p>
        </p:txBody>
      </p:sp>
      <p:sp>
        <p:nvSpPr>
          <p:cNvPr id="8" name="Shape 6"/>
          <p:cNvSpPr/>
          <p:nvPr/>
        </p:nvSpPr>
        <p:spPr>
          <a:xfrm>
            <a:off x="594360" y="2926080"/>
            <a:ext cx="10972800" cy="841248"/>
          </a:xfrm>
          <a:prstGeom prst="roundRect">
            <a:avLst>
              <a:gd name="adj" fmla="val 9783"/>
            </a:avLst>
          </a:prstGeom>
          <a:solidFill>
            <a:srgbClr val="07564B"/>
          </a:solidFill>
          <a:ln w="12700">
            <a:solidFill>
              <a:srgbClr val="07564B"/>
            </a:solidFill>
            <a:prstDash val="solid"/>
          </a:ln>
        </p:spPr>
        <p:txBody>
          <a:bodyPr/>
          <a:p/>
        </p:txBody>
      </p:sp>
      <p:sp>
        <p:nvSpPr>
          <p:cNvPr id="9" name="Shape 7"/>
          <p:cNvSpPr/>
          <p:nvPr/>
        </p:nvSpPr>
        <p:spPr>
          <a:xfrm>
            <a:off x="914400" y="3136392"/>
            <a:ext cx="420624" cy="420624"/>
          </a:xfrm>
          <a:prstGeom prst="ellipse">
            <a:avLst/>
          </a:prstGeom>
          <a:solidFill>
            <a:srgbClr val="FFC24B"/>
          </a:solidFill>
          <a:ln/>
        </p:spPr>
        <p:txBody>
          <a:bodyPr/>
          <a:p/>
        </p:txBody>
      </p:sp>
      <p:sp>
        <p:nvSpPr>
          <p:cNvPr id="10" name="Text 8"/>
          <p:cNvSpPr/>
          <p:nvPr/>
        </p:nvSpPr>
        <p:spPr>
          <a:xfrm>
            <a:off x="914400" y="3136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926080"/>
            <a:ext cx="9692640" cy="84124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Bolile care doar au contribuit: în a doua parte.</a:t>
            </a:r>
            <a:endParaRPr lang="en-US" sz="1900" dirty="0"/>
          </a:p>
        </p:txBody>
      </p:sp>
      <p:sp>
        <p:nvSpPr>
          <p:cNvPr id="12" name="Shape 10"/>
          <p:cNvSpPr/>
          <p:nvPr/>
        </p:nvSpPr>
        <p:spPr>
          <a:xfrm>
            <a:off x="594360" y="3931920"/>
            <a:ext cx="10972800" cy="841248"/>
          </a:xfrm>
          <a:prstGeom prst="roundRect">
            <a:avLst>
              <a:gd name="adj" fmla="val 9783"/>
            </a:avLst>
          </a:prstGeom>
          <a:solidFill>
            <a:srgbClr val="07564B"/>
          </a:solidFill>
          <a:ln w="12700">
            <a:solidFill>
              <a:srgbClr val="07564B"/>
            </a:solidFill>
            <a:prstDash val="solid"/>
          </a:ln>
        </p:spPr>
        <p:txBody>
          <a:bodyPr/>
          <a:p/>
        </p:txBody>
      </p:sp>
      <p:sp>
        <p:nvSpPr>
          <p:cNvPr id="13" name="Shape 11"/>
          <p:cNvSpPr/>
          <p:nvPr/>
        </p:nvSpPr>
        <p:spPr>
          <a:xfrm>
            <a:off x="914400" y="4142232"/>
            <a:ext cx="420624" cy="420624"/>
          </a:xfrm>
          <a:prstGeom prst="ellipse">
            <a:avLst/>
          </a:prstGeom>
          <a:solidFill>
            <a:srgbClr val="FFC24B"/>
          </a:solidFill>
          <a:ln/>
        </p:spPr>
        <p:txBody>
          <a:bodyPr/>
          <a:p/>
        </p:txBody>
      </p:sp>
      <p:sp>
        <p:nvSpPr>
          <p:cNvPr id="14" name="Text 12"/>
          <p:cNvSpPr/>
          <p:nvPr/>
        </p:nvSpPr>
        <p:spPr>
          <a:xfrm>
            <a:off x="914400" y="4142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931920"/>
            <a:ext cx="9692640" cy="84124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Dacă nu știți, citiți foaia de observație înainte să scrieți.</a:t>
            </a:r>
            <a:endParaRPr lang="en-US" sz="1900" dirty="0"/>
          </a:p>
        </p:txBody>
      </p:sp>
      <p:sp>
        <p:nvSpPr>
          <p:cNvPr id="16" name="Text 14"/>
          <p:cNvSpPr/>
          <p:nvPr/>
        </p:nvSpPr>
        <p:spPr>
          <a:xfrm>
            <a:off x="594360" y="5029200"/>
            <a:ext cx="10972800" cy="822960"/>
          </a:xfrm>
          <a:prstGeom prst="rect">
            <a:avLst/>
          </a:prstGeom>
          <a:noFill/>
          <a:ln/>
        </p:spPr>
        <p:txBody>
          <a:bodyPr wrap="square" lIns="0" tIns="0" rIns="0" bIns="0" rtlCol="0" anchor="t"/>
          <a:lstStyle/>
          <a:p>
            <a:pPr indent="0" marL="0">
              <a:buNone/>
            </a:pPr>
            <a:r>
              <a:rPr lang="en-US" sz="1900" b="1" dirty="0">
                <a:solidFill>
                  <a:srgbClr val="073B34"/>
                </a:solidFill>
                <a:latin typeface="Palatino Linotype" pitchFamily="34" charset="0"/>
                <a:ea typeface="Palatino Linotype" pitchFamily="34" charset="-122"/>
                <a:cs typeface="Palatino Linotype" pitchFamily="34" charset="-120"/>
              </a:rPr>
              <a:t>Certificatul vostru este o singură linie din statistica țării, dar statistica țării este făcută numai din asemenea linii.</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ORA A DOUA ÎNCEPE CU UN VOT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Câți oameni a ucis pandemia de gripă din 1918?</a:t>
            </a:r>
            <a:endParaRPr lang="en-US" sz="3000" dirty="0"/>
          </a:p>
        </p:txBody>
      </p:sp>
      <p:sp>
        <p:nvSpPr>
          <p:cNvPr id="6" name="Shape 4"/>
          <p:cNvSpPr/>
          <p:nvPr/>
        </p:nvSpPr>
        <p:spPr>
          <a:xfrm>
            <a:off x="594360" y="17830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47672"/>
            <a:ext cx="420624" cy="420624"/>
          </a:xfrm>
          <a:prstGeom prst="ellipse">
            <a:avLst/>
          </a:prstGeom>
          <a:solidFill>
            <a:srgbClr val="FFC24B"/>
          </a:solidFill>
          <a:ln/>
        </p:spPr>
        <p:txBody>
          <a:bodyPr/>
          <a:p/>
        </p:txBody>
      </p:sp>
      <p:sp>
        <p:nvSpPr>
          <p:cNvPr id="8" name="Text 6"/>
          <p:cNvSpPr/>
          <p:nvPr/>
        </p:nvSpPr>
        <p:spPr>
          <a:xfrm>
            <a:off x="914400" y="1947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17,4 milioane</a:t>
            </a:r>
            <a:endParaRPr lang="en-US" sz="1800" dirty="0"/>
          </a:p>
        </p:txBody>
      </p:sp>
      <p:sp>
        <p:nvSpPr>
          <p:cNvPr id="10" name="Shape 8"/>
          <p:cNvSpPr/>
          <p:nvPr/>
        </p:nvSpPr>
        <p:spPr>
          <a:xfrm>
            <a:off x="594360" y="2679192"/>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43784"/>
            <a:ext cx="420624" cy="420624"/>
          </a:xfrm>
          <a:prstGeom prst="ellipse">
            <a:avLst/>
          </a:prstGeom>
          <a:solidFill>
            <a:srgbClr val="FFC24B"/>
          </a:solidFill>
          <a:ln/>
        </p:spPr>
        <p:txBody>
          <a:bodyPr/>
          <a:p/>
        </p:txBody>
      </p:sp>
      <p:sp>
        <p:nvSpPr>
          <p:cNvPr id="12" name="Text 10"/>
          <p:cNvSpPr/>
          <p:nvPr/>
        </p:nvSpPr>
        <p:spPr>
          <a:xfrm>
            <a:off x="914400" y="2843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679192"/>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50 de milioane</a:t>
            </a:r>
            <a:endParaRPr lang="en-US" sz="1800" dirty="0"/>
          </a:p>
        </p:txBody>
      </p:sp>
      <p:sp>
        <p:nvSpPr>
          <p:cNvPr id="14" name="Shape 12"/>
          <p:cNvSpPr/>
          <p:nvPr/>
        </p:nvSpPr>
        <p:spPr>
          <a:xfrm>
            <a:off x="594360" y="3575304"/>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39896"/>
            <a:ext cx="420624" cy="420624"/>
          </a:xfrm>
          <a:prstGeom prst="ellipse">
            <a:avLst/>
          </a:prstGeom>
          <a:solidFill>
            <a:srgbClr val="FFC24B"/>
          </a:solidFill>
          <a:ln/>
        </p:spPr>
        <p:txBody>
          <a:bodyPr/>
          <a:p/>
        </p:txBody>
      </p:sp>
      <p:sp>
        <p:nvSpPr>
          <p:cNvPr id="16" name="Text 14"/>
          <p:cNvSpPr/>
          <p:nvPr/>
        </p:nvSpPr>
        <p:spPr>
          <a:xfrm>
            <a:off x="914400" y="37398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575304"/>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100 de milioane</a:t>
            </a:r>
            <a:endParaRPr lang="en-US" sz="1800" dirty="0"/>
          </a:p>
        </p:txBody>
      </p:sp>
      <p:sp>
        <p:nvSpPr>
          <p:cNvPr id="18" name="Shape 16"/>
          <p:cNvSpPr/>
          <p:nvPr/>
        </p:nvSpPr>
        <p:spPr>
          <a:xfrm>
            <a:off x="594360" y="4471416"/>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636008"/>
            <a:ext cx="420624" cy="420624"/>
          </a:xfrm>
          <a:prstGeom prst="ellipse">
            <a:avLst/>
          </a:prstGeom>
          <a:solidFill>
            <a:srgbClr val="FFC24B"/>
          </a:solidFill>
          <a:ln/>
        </p:spPr>
        <p:txBody>
          <a:bodyPr/>
          <a:p/>
        </p:txBody>
      </p:sp>
      <p:sp>
        <p:nvSpPr>
          <p:cNvPr id="20" name="Text 18"/>
          <p:cNvSpPr/>
          <p:nvPr/>
        </p:nvSpPr>
        <p:spPr>
          <a:xfrm>
            <a:off x="914400" y="4636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471416"/>
            <a:ext cx="6355080" cy="74980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Nimeni nu știe exact</a:t>
            </a:r>
            <a:endParaRPr lang="en-US" sz="1800" dirty="0"/>
          </a:p>
        </p:txBody>
      </p:sp>
      <p:sp>
        <p:nvSpPr>
          <p:cNvPr id="22" name="Shape 20"/>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pic>
        <p:nvPicPr>
          <p:cNvPr id="23" name="Picture 22" descr="Mentimeter_OPT_DETECTIVI_C03.png"/>
          <p:cNvPicPr>
            <a:picLocks noChangeAspect="1"/>
          </p:cNvPicPr>
          <p:nvPr/>
        </p:nvPicPr>
        <p:blipFill>
          <a:blip r:embed="rId3"/>
          <a:stretch>
            <a:fillRect/>
          </a:stretch>
        </p:blipFill>
        <p:spPr>
          <a:xfrm>
            <a:off x="8817610" y="1783080"/>
            <a:ext cx="2435860" cy="2435860"/>
          </a:xfrm>
          <a:prstGeom prst="rect">
            <a:avLst/>
          </a:prstGeom>
        </p:spPr>
      </p:pic>
      <p:sp>
        <p:nvSpPr>
          <p:cNvPr id="24" name="TextBox 23"/>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Nimeni nu știe exact</a:t>
            </a:r>
            <a:endParaRPr lang="en-US" sz="3400" dirty="0"/>
          </a:p>
        </p:txBody>
      </p:sp>
      <p:sp>
        <p:nvSpPr>
          <p:cNvPr id="4" name="Shape 2"/>
          <p:cNvSpPr/>
          <p:nvPr/>
        </p:nvSpPr>
        <p:spPr>
          <a:xfrm>
            <a:off x="822960" y="2331720"/>
            <a:ext cx="10515600" cy="27432"/>
          </a:xfrm>
          <a:prstGeom prst="rect">
            <a:avLst/>
          </a:prstGeom>
          <a:solidFill>
            <a:srgbClr val="C9C6BE"/>
          </a:solidFill>
          <a:ln/>
        </p:spPr>
        <p:txBody>
          <a:bodyPr/>
          <a:p/>
        </p:txBody>
      </p:sp>
      <p:sp>
        <p:nvSpPr>
          <p:cNvPr id="5" name="Shape 3"/>
          <p:cNvSpPr/>
          <p:nvPr/>
        </p:nvSpPr>
        <p:spPr>
          <a:xfrm>
            <a:off x="804672" y="2194560"/>
            <a:ext cx="301752" cy="301752"/>
          </a:xfrm>
          <a:prstGeom prst="ellipse">
            <a:avLst/>
          </a:prstGeom>
          <a:solidFill>
            <a:srgbClr val="B02532"/>
          </a:solidFill>
          <a:ln w="25400">
            <a:solidFill>
              <a:srgbClr val="F6F5F2"/>
            </a:solidFill>
            <a:prstDash val="solid"/>
          </a:ln>
        </p:spPr>
        <p:txBody>
          <a:bodyPr/>
          <a:p/>
        </p:txBody>
      </p:sp>
      <p:sp>
        <p:nvSpPr>
          <p:cNvPr id="6" name="Text 4"/>
          <p:cNvSpPr/>
          <p:nvPr/>
        </p:nvSpPr>
        <p:spPr>
          <a:xfrm>
            <a:off x="822960" y="1600200"/>
            <a:ext cx="2743200" cy="50292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2002</a:t>
            </a:r>
            <a:endParaRPr lang="en-US" sz="2600" dirty="0"/>
          </a:p>
        </p:txBody>
      </p:sp>
      <p:sp>
        <p:nvSpPr>
          <p:cNvPr id="7" name="Text 5"/>
          <p:cNvSpPr/>
          <p:nvPr/>
        </p:nvSpPr>
        <p:spPr>
          <a:xfrm>
            <a:off x="822960" y="2697480"/>
            <a:ext cx="4937760" cy="4114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Johnson și Mueller</a:t>
            </a:r>
            <a:endParaRPr lang="en-US" sz="1800" dirty="0"/>
          </a:p>
        </p:txBody>
      </p:sp>
      <p:sp>
        <p:nvSpPr>
          <p:cNvPr id="8" name="Text 6"/>
          <p:cNvSpPr/>
          <p:nvPr/>
        </p:nvSpPr>
        <p:spPr>
          <a:xfrm>
            <a:off x="822960" y="3154680"/>
            <a:ext cx="4937760" cy="11887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50–100 de milioane de decese; credeau că 50 de milioane este probabil o subestimare.</a:t>
            </a:r>
            <a:endParaRPr lang="en-US" sz="1600" dirty="0"/>
          </a:p>
        </p:txBody>
      </p:sp>
      <p:sp>
        <p:nvSpPr>
          <p:cNvPr id="9" name="Shape 7"/>
          <p:cNvSpPr/>
          <p:nvPr/>
        </p:nvSpPr>
        <p:spPr>
          <a:xfrm>
            <a:off x="6291072" y="2194560"/>
            <a:ext cx="301752" cy="301752"/>
          </a:xfrm>
          <a:prstGeom prst="ellipse">
            <a:avLst/>
          </a:prstGeom>
          <a:solidFill>
            <a:srgbClr val="0E7C6B"/>
          </a:solidFill>
          <a:ln w="25400">
            <a:solidFill>
              <a:srgbClr val="F6F5F2"/>
            </a:solidFill>
            <a:prstDash val="solid"/>
          </a:ln>
        </p:spPr>
        <p:txBody>
          <a:bodyPr/>
          <a:p/>
        </p:txBody>
      </p:sp>
      <p:sp>
        <p:nvSpPr>
          <p:cNvPr id="10" name="Text 8"/>
          <p:cNvSpPr/>
          <p:nvPr/>
        </p:nvSpPr>
        <p:spPr>
          <a:xfrm>
            <a:off x="6309360" y="1600200"/>
            <a:ext cx="2743200" cy="502920"/>
          </a:xfrm>
          <a:prstGeom prst="rect">
            <a:avLst/>
          </a:prstGeom>
          <a:noFill/>
          <a:ln/>
        </p:spPr>
        <p:txBody>
          <a:bodyPr wrap="square" lIns="0" tIns="0" rIns="0" bIns="0" rtlCol="0" anchor="t"/>
          <a:lstStyle/>
          <a:p>
            <a:pPr indent="0" marL="0">
              <a:buNone/>
            </a:pPr>
            <a:r>
              <a:rPr lang="en-US" sz="2600" b="1" dirty="0">
                <a:solidFill>
                  <a:srgbClr val="0E7C6B"/>
                </a:solidFill>
                <a:latin typeface="Palatino Linotype" pitchFamily="34" charset="0"/>
                <a:ea typeface="Palatino Linotype" pitchFamily="34" charset="-122"/>
                <a:cs typeface="Palatino Linotype" pitchFamily="34" charset="-120"/>
              </a:rPr>
              <a:t>2018</a:t>
            </a:r>
            <a:endParaRPr lang="en-US" sz="2600" dirty="0"/>
          </a:p>
        </p:txBody>
      </p:sp>
      <p:sp>
        <p:nvSpPr>
          <p:cNvPr id="11" name="Text 9"/>
          <p:cNvSpPr/>
          <p:nvPr/>
        </p:nvSpPr>
        <p:spPr>
          <a:xfrm>
            <a:off x="6309360" y="2697480"/>
            <a:ext cx="4937760" cy="4114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O echipă olandeză</a:t>
            </a:r>
            <a:endParaRPr lang="en-US" sz="1800" dirty="0"/>
          </a:p>
        </p:txBody>
      </p:sp>
      <p:sp>
        <p:nvSpPr>
          <p:cNvPr id="12" name="Text 10"/>
          <p:cNvSpPr/>
          <p:nvPr/>
        </p:nvSpPr>
        <p:spPr>
          <a:xfrm>
            <a:off x="6309360" y="3154680"/>
            <a:ext cx="4937760" cy="11887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17,4 milioane, pentru 1918 și 1919; peste 25 de milioane li se pare foarte puțin probabil.</a:t>
            </a:r>
            <a:endParaRPr lang="en-US" sz="1600" dirty="0"/>
          </a:p>
        </p:txBody>
      </p:sp>
      <p:sp>
        <p:nvSpPr>
          <p:cNvPr id="13" name="Shape 11"/>
          <p:cNvSpPr/>
          <p:nvPr/>
        </p:nvSpPr>
        <p:spPr>
          <a:xfrm>
            <a:off x="594360" y="4572000"/>
            <a:ext cx="10972800" cy="1371600"/>
          </a:xfrm>
          <a:prstGeom prst="roundRect">
            <a:avLst>
              <a:gd name="adj" fmla="val 6000"/>
            </a:avLst>
          </a:prstGeom>
          <a:solidFill>
            <a:srgbClr val="11121A"/>
          </a:solidFill>
          <a:ln w="12700">
            <a:solidFill>
              <a:srgbClr val="11121A"/>
            </a:solidFill>
            <a:prstDash val="solid"/>
          </a:ln>
        </p:spPr>
        <p:txBody>
          <a:bodyPr/>
          <a:p/>
        </p:txBody>
      </p:sp>
      <p:sp>
        <p:nvSpPr>
          <p:cNvPr id="14" name="Text 12"/>
          <p:cNvSpPr/>
          <p:nvPr/>
        </p:nvSpPr>
        <p:spPr>
          <a:xfrm>
            <a:off x="914400" y="4572000"/>
            <a:ext cx="10332720" cy="13716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În 1918, numai o parte a lumii avea statistici de mortalitate de încredere. Unde nu exista un registru, nu exista nici vârf de piramidă; rămân doar modele, iar modelele nu sunt de acord între ele.</a:t>
            </a:r>
            <a:endParaRPr lang="en-US" sz="1700" dirty="0"/>
          </a:p>
        </p:txBody>
      </p:sp>
      <p:sp>
        <p:nvSpPr>
          <p:cNvPr id="15" name="Text 13"/>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Surse: Johnson și Mueller, 2002; estimarea din 2018 (registru A514, A515, A516).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PANDEMII PE CARE NU LE ȚINE MINTE NIMENI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2009 arată piramida foarte limpede</a:t>
            </a:r>
            <a:endParaRPr lang="en-US" sz="3000" dirty="0"/>
          </a:p>
        </p:txBody>
      </p:sp>
      <p:sp>
        <p:nvSpPr>
          <p:cNvPr id="4" name="Text 2"/>
          <p:cNvSpPr/>
          <p:nvPr/>
        </p:nvSpPr>
        <p:spPr>
          <a:xfrm>
            <a:off x="594360" y="1417320"/>
            <a:ext cx="10972800" cy="457200"/>
          </a:xfrm>
          <a:prstGeom prst="rect">
            <a:avLst/>
          </a:prstGeom>
          <a:noFill/>
          <a:ln/>
        </p:spPr>
        <p:txBody>
          <a:bodyPr wrap="square" lIns="0" tIns="0" rIns="0" bIns="0" rtlCol="0" anchor="t"/>
          <a:lstStyle/>
          <a:p>
            <a:pPr indent="0" marL="0">
              <a:buNone/>
            </a:pPr>
            <a:r>
              <a:rPr lang="en-US" sz="1600" dirty="0">
                <a:solidFill>
                  <a:srgbClr val="3A3C44"/>
                </a:solidFill>
                <a:latin typeface="Palatino Linotype" pitchFamily="34" charset="0"/>
                <a:ea typeface="Palatino Linotype" pitchFamily="34" charset="-122"/>
                <a:cs typeface="Palatino Linotype" pitchFamily="34" charset="-120"/>
              </a:rPr>
              <a:t>1957–1959: o reestimare atribuie pandemiei 1,1 milioane de decese în exces la nivel mondial.</a:t>
            </a:r>
            <a:endParaRPr lang="en-US" sz="1600" dirty="0"/>
          </a:p>
        </p:txBody>
      </p:sp>
      <p:sp>
        <p:nvSpPr>
          <p:cNvPr id="5" name="Text 3"/>
          <p:cNvSpPr/>
          <p:nvPr/>
        </p:nvSpPr>
        <p:spPr>
          <a:xfrm>
            <a:off x="594360" y="2103120"/>
            <a:ext cx="2560320" cy="640080"/>
          </a:xfrm>
          <a:prstGeom prst="rect">
            <a:avLst/>
          </a:prstGeom>
          <a:noFill/>
          <a:ln/>
        </p:spPr>
        <p:txBody>
          <a:bodyPr wrap="square" lIns="0" tIns="0" rIns="0" bIns="0" rtlCol="0" anchor="ctr"/>
          <a:lstStyle/>
          <a:p>
            <a:pPr algn="r" indent="0" marL="0">
              <a:buNone/>
            </a:pPr>
            <a:r>
              <a:rPr lang="en-US" sz="1500" b="1" dirty="0">
                <a:solidFill>
                  <a:srgbClr val="11121A"/>
                </a:solidFill>
                <a:latin typeface="Palatino Linotype" pitchFamily="34" charset="0"/>
                <a:ea typeface="Palatino Linotype" pitchFamily="34" charset="-122"/>
                <a:cs typeface="Palatino Linotype" pitchFamily="34" charset="-120"/>
              </a:rPr>
              <a:t>Confirmate în laborator</a:t>
            </a:r>
            <a:endParaRPr lang="en-US" sz="1500" dirty="0"/>
          </a:p>
        </p:txBody>
      </p:sp>
      <p:sp>
        <p:nvSpPr>
          <p:cNvPr id="6" name="Shape 4"/>
          <p:cNvSpPr/>
          <p:nvPr/>
        </p:nvSpPr>
        <p:spPr>
          <a:xfrm>
            <a:off x="3291840" y="2194560"/>
            <a:ext cx="714680" cy="457200"/>
          </a:xfrm>
          <a:prstGeom prst="rect">
            <a:avLst/>
          </a:prstGeom>
          <a:solidFill>
            <a:srgbClr val="0E7C6B"/>
          </a:solidFill>
          <a:ln w="12700">
            <a:solidFill>
              <a:srgbClr val="0E7C6B"/>
            </a:solidFill>
            <a:prstDash val="solid"/>
          </a:ln>
        </p:spPr>
        <p:txBody>
          <a:bodyPr/>
          <a:p/>
        </p:txBody>
      </p:sp>
      <p:sp>
        <p:nvSpPr>
          <p:cNvPr id="7" name="Text 5"/>
          <p:cNvSpPr/>
          <p:nvPr/>
        </p:nvSpPr>
        <p:spPr>
          <a:xfrm>
            <a:off x="4143680" y="2103120"/>
            <a:ext cx="5486400" cy="640080"/>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18 449 (până la 31 august 2010)</a:t>
            </a:r>
            <a:endParaRPr lang="en-US" sz="1700" dirty="0"/>
          </a:p>
        </p:txBody>
      </p:sp>
      <p:sp>
        <p:nvSpPr>
          <p:cNvPr id="8" name="Text 6"/>
          <p:cNvSpPr/>
          <p:nvPr/>
        </p:nvSpPr>
        <p:spPr>
          <a:xfrm>
            <a:off x="594360" y="3017520"/>
            <a:ext cx="2560320" cy="822960"/>
          </a:xfrm>
          <a:prstGeom prst="rect">
            <a:avLst/>
          </a:prstGeom>
          <a:noFill/>
          <a:ln/>
        </p:spPr>
        <p:txBody>
          <a:bodyPr wrap="square" lIns="0" tIns="0" rIns="0" bIns="0" rtlCol="0" anchor="ctr"/>
          <a:lstStyle/>
          <a:p>
            <a:pPr algn="r" indent="0" marL="0">
              <a:buNone/>
            </a:pPr>
            <a:r>
              <a:rPr lang="en-US" sz="1350" b="1" dirty="0">
                <a:solidFill>
                  <a:srgbClr val="11121A"/>
                </a:solidFill>
                <a:latin typeface="Palatino Linotype" pitchFamily="34" charset="0"/>
                <a:ea typeface="Palatino Linotype" pitchFamily="34" charset="-122"/>
                <a:cs typeface="Palatino Linotype" pitchFamily="34" charset="-120"/>
              </a:rPr>
              <a:t>Estimate (numai respiratorii, aprilie–decembrie 2009)</a:t>
            </a:r>
            <a:endParaRPr lang="en-US" sz="1350" dirty="0"/>
          </a:p>
        </p:txBody>
      </p:sp>
      <p:sp>
        <p:nvSpPr>
          <p:cNvPr id="9" name="Shape 7"/>
          <p:cNvSpPr/>
          <p:nvPr/>
        </p:nvSpPr>
        <p:spPr>
          <a:xfrm>
            <a:off x="3291840" y="3200400"/>
            <a:ext cx="4764790" cy="457200"/>
          </a:xfrm>
          <a:prstGeom prst="rect">
            <a:avLst/>
          </a:prstGeom>
          <a:solidFill>
            <a:srgbClr val="B02532"/>
          </a:solidFill>
          <a:ln w="12700">
            <a:solidFill>
              <a:srgbClr val="B02532"/>
            </a:solidFill>
            <a:prstDash val="solid"/>
          </a:ln>
        </p:spPr>
        <p:txBody>
          <a:bodyPr/>
          <a:p/>
        </p:txBody>
      </p:sp>
      <p:sp>
        <p:nvSpPr>
          <p:cNvPr id="10" name="Shape 8"/>
          <p:cNvSpPr/>
          <p:nvPr/>
        </p:nvSpPr>
        <p:spPr>
          <a:xfrm>
            <a:off x="8056630" y="3200400"/>
            <a:ext cx="3099050" cy="457200"/>
          </a:xfrm>
          <a:prstGeom prst="rect">
            <a:avLst/>
          </a:prstGeom>
          <a:solidFill>
            <a:srgbClr val="E8A6AD"/>
          </a:solidFill>
          <a:ln w="12700">
            <a:solidFill>
              <a:srgbClr val="E8A6AD"/>
            </a:solidFill>
            <a:prstDash val="solid"/>
          </a:ln>
        </p:spPr>
        <p:txBody>
          <a:bodyPr/>
          <a:p/>
        </p:txBody>
      </p:sp>
      <p:sp>
        <p:nvSpPr>
          <p:cNvPr id="11" name="Text 9"/>
          <p:cNvSpPr/>
          <p:nvPr/>
        </p:nvSpPr>
        <p:spPr>
          <a:xfrm>
            <a:off x="3291840" y="3703320"/>
            <a:ext cx="7863840" cy="411480"/>
          </a:xfrm>
          <a:prstGeom prst="rect">
            <a:avLst/>
          </a:prstGeom>
          <a:noFill/>
          <a:ln/>
        </p:spPr>
        <p:txBody>
          <a:bodyPr wrap="square" lIns="0" tIns="0" rIns="0" bIns="0" rtlCol="0" anchor="t"/>
          <a:lstStyle/>
          <a:p>
            <a:pPr algn="r" indent="0" marL="0">
              <a:buNone/>
            </a:pPr>
            <a:r>
              <a:rPr lang="en-US" sz="1700" b="1" dirty="0">
                <a:solidFill>
                  <a:srgbClr val="B02532"/>
                </a:solidFill>
                <a:latin typeface="Palatino Linotype" pitchFamily="34" charset="0"/>
                <a:ea typeface="Palatino Linotype" pitchFamily="34" charset="-122"/>
                <a:cs typeface="Palatino Linotype" pitchFamily="34" charset="-120"/>
              </a:rPr>
              <a:t>123 000 – 203 000</a:t>
            </a:r>
            <a:endParaRPr lang="en-US" sz="1700" dirty="0"/>
          </a:p>
        </p:txBody>
      </p:sp>
      <p:sp>
        <p:nvSpPr>
          <p:cNvPr id="12" name="Text 10"/>
          <p:cNvSpPr/>
          <p:nvPr/>
        </p:nvSpPr>
        <p:spPr>
          <a:xfrm>
            <a:off x="594360" y="4343400"/>
            <a:ext cx="10972800" cy="1188720"/>
          </a:xfrm>
          <a:prstGeom prst="rect">
            <a:avLst/>
          </a:prstGeom>
          <a:noFill/>
          <a:ln/>
        </p:spPr>
        <p:txBody>
          <a:bodyPr wrap="square" lIns="0" tIns="0" rIns="0" bIns="0" rtlCol="0" anchor="t"/>
          <a:lstStyle/>
          <a:p>
            <a:pPr indent="0" marL="0">
              <a:buNone/>
            </a:pPr>
            <a:r>
              <a:rPr lang="en-US" sz="1650" b="1" dirty="0">
                <a:solidFill>
                  <a:srgbClr val="11121A"/>
                </a:solidFill>
                <a:latin typeface="Palatino Linotype" pitchFamily="34" charset="0"/>
                <a:ea typeface="Palatino Linotype" pitchFamily="34" charset="-122"/>
                <a:cs typeface="Palatino Linotype" pitchFamily="34" charset="-120"/>
              </a:rPr>
              <a:t>De circa 7–11 ori mai multe decese estimate decât confirmate (numai decese respiratorii; perioadele nu coincid). Cifra a părut mică; mulți s-au întrebat de ce fusese atâta agitație, unii dacă răspunsul fusese excesiv.</a:t>
            </a:r>
            <a:endParaRPr lang="en-US" sz="1650" dirty="0"/>
          </a:p>
        </p:txBody>
      </p:sp>
      <p:sp>
        <p:nvSpPr>
          <p:cNvPr id="13" name="Text 11"/>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Surse: OMS; estimările internaționale ale mortalității (registru A510, A511, A512, A513, A526).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SARS · 2002–2003</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contraexemplu posibil: SARS</a:t>
            </a:r>
            <a:endParaRPr lang="en-US" sz="3200" dirty="0"/>
          </a:p>
        </p:txBody>
      </p:sp>
      <p:sp>
        <p:nvSpPr>
          <p:cNvPr id="4" name="Shape 2"/>
          <p:cNvSpPr/>
          <p:nvPr/>
        </p:nvSpPr>
        <p:spPr>
          <a:xfrm>
            <a:off x="594360" y="1691640"/>
            <a:ext cx="3566160" cy="1554480"/>
          </a:xfrm>
          <a:prstGeom prst="roundRect">
            <a:avLst>
              <a:gd name="adj" fmla="val 5294"/>
            </a:avLst>
          </a:prstGeom>
          <a:solidFill>
            <a:srgbClr val="272A38"/>
          </a:solidFill>
          <a:ln w="12700">
            <a:solidFill>
              <a:srgbClr val="272A38"/>
            </a:solidFill>
            <a:prstDash val="solid"/>
          </a:ln>
        </p:spPr>
        <p:txBody>
          <a:bodyPr/>
          <a:p/>
        </p:txBody>
      </p:sp>
      <p:sp>
        <p:nvSpPr>
          <p:cNvPr id="5" name="Text 3"/>
          <p:cNvSpPr/>
          <p:nvPr/>
        </p:nvSpPr>
        <p:spPr>
          <a:xfrm>
            <a:off x="868680" y="1801368"/>
            <a:ext cx="3017520" cy="777240"/>
          </a:xfrm>
          <a:prstGeom prst="rect">
            <a:avLst/>
          </a:prstGeom>
          <a:noFill/>
          <a:ln/>
        </p:spPr>
        <p:txBody>
          <a:bodyPr wrap="square" lIns="0" tIns="0" rIns="0" bIns="0" rtlCol="0" anchor="ctr"/>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8 096</a:t>
            </a:r>
            <a:endParaRPr lang="en-US" sz="4000" dirty="0"/>
          </a:p>
        </p:txBody>
      </p:sp>
      <p:sp>
        <p:nvSpPr>
          <p:cNvPr id="6" name="Text 4"/>
          <p:cNvSpPr/>
          <p:nvPr/>
        </p:nvSpPr>
        <p:spPr>
          <a:xfrm>
            <a:off x="868680" y="2487168"/>
            <a:ext cx="3017520" cy="715061"/>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cazuri probabile, în tabelul OMS</a:t>
            </a:r>
            <a:endParaRPr lang="en-US" sz="1400" dirty="0"/>
          </a:p>
        </p:txBody>
      </p:sp>
      <p:sp>
        <p:nvSpPr>
          <p:cNvPr id="7" name="Shape 5"/>
          <p:cNvSpPr/>
          <p:nvPr/>
        </p:nvSpPr>
        <p:spPr>
          <a:xfrm>
            <a:off x="4343400" y="1691640"/>
            <a:ext cx="3566160" cy="1554480"/>
          </a:xfrm>
          <a:prstGeom prst="roundRect">
            <a:avLst>
              <a:gd name="adj" fmla="val 5294"/>
            </a:avLst>
          </a:prstGeom>
          <a:solidFill>
            <a:srgbClr val="272A38"/>
          </a:solidFill>
          <a:ln w="12700">
            <a:solidFill>
              <a:srgbClr val="272A38"/>
            </a:solidFill>
            <a:prstDash val="solid"/>
          </a:ln>
        </p:spPr>
        <p:txBody>
          <a:bodyPr/>
          <a:p/>
        </p:txBody>
      </p:sp>
      <p:sp>
        <p:nvSpPr>
          <p:cNvPr id="8" name="Text 6"/>
          <p:cNvSpPr/>
          <p:nvPr/>
        </p:nvSpPr>
        <p:spPr>
          <a:xfrm>
            <a:off x="4617720" y="1801368"/>
            <a:ext cx="3017520" cy="777240"/>
          </a:xfrm>
          <a:prstGeom prst="rect">
            <a:avLst/>
          </a:prstGeom>
          <a:noFill/>
          <a:ln/>
        </p:spPr>
        <p:txBody>
          <a:bodyPr wrap="square" lIns="0" tIns="0" rIns="0" bIns="0" rtlCol="0" anchor="ctr"/>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774</a:t>
            </a:r>
            <a:endParaRPr lang="en-US" sz="4000" dirty="0"/>
          </a:p>
        </p:txBody>
      </p:sp>
      <p:sp>
        <p:nvSpPr>
          <p:cNvPr id="9" name="Text 7"/>
          <p:cNvSpPr/>
          <p:nvPr/>
        </p:nvSpPr>
        <p:spPr>
          <a:xfrm>
            <a:off x="4617720" y="2487168"/>
            <a:ext cx="3017520" cy="715061"/>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decese</a:t>
            </a:r>
            <a:endParaRPr lang="en-US" sz="1400" dirty="0"/>
          </a:p>
        </p:txBody>
      </p:sp>
      <p:sp>
        <p:nvSpPr>
          <p:cNvPr id="10" name="Shape 8"/>
          <p:cNvSpPr/>
          <p:nvPr/>
        </p:nvSpPr>
        <p:spPr>
          <a:xfrm>
            <a:off x="8092440" y="1691640"/>
            <a:ext cx="3474720" cy="1554480"/>
          </a:xfrm>
          <a:prstGeom prst="roundRect">
            <a:avLst>
              <a:gd name="adj" fmla="val 5294"/>
            </a:avLst>
          </a:prstGeom>
          <a:solidFill>
            <a:srgbClr val="272A38"/>
          </a:solidFill>
          <a:ln w="12700">
            <a:solidFill>
              <a:srgbClr val="272A38"/>
            </a:solidFill>
            <a:prstDash val="solid"/>
          </a:ln>
        </p:spPr>
        <p:txBody>
          <a:bodyPr/>
          <a:p/>
        </p:txBody>
      </p:sp>
      <p:sp>
        <p:nvSpPr>
          <p:cNvPr id="11" name="Text 9"/>
          <p:cNvSpPr/>
          <p:nvPr/>
        </p:nvSpPr>
        <p:spPr>
          <a:xfrm>
            <a:off x="8366760" y="1801368"/>
            <a:ext cx="2926080" cy="777240"/>
          </a:xfrm>
          <a:prstGeom prst="rect">
            <a:avLst/>
          </a:prstGeom>
          <a:noFill/>
          <a:ln/>
        </p:spPr>
        <p:txBody>
          <a:bodyPr wrap="square" lIns="0" tIns="0" rIns="0" bIns="0" rtlCol="0" anchor="ctr"/>
          <a:lstStyle/>
          <a:p>
            <a:pPr indent="0" marL="0">
              <a:buNone/>
            </a:pPr>
            <a:r>
              <a:rPr lang="en-US" sz="3600" b="1" dirty="0">
                <a:solidFill>
                  <a:srgbClr val="27D3BE"/>
                </a:solidFill>
                <a:latin typeface="Palatino Linotype" pitchFamily="34" charset="0"/>
                <a:ea typeface="Palatino Linotype" pitchFamily="34" charset="-122"/>
                <a:cs typeface="Palatino Linotype" pitchFamily="34" charset="-120"/>
              </a:rPr>
              <a:t>un caz</a:t>
            </a:r>
            <a:endParaRPr lang="en-US" sz="3600" dirty="0"/>
          </a:p>
        </p:txBody>
      </p:sp>
      <p:sp>
        <p:nvSpPr>
          <p:cNvPr id="12" name="Text 10"/>
          <p:cNvSpPr/>
          <p:nvPr/>
        </p:nvSpPr>
        <p:spPr>
          <a:xfrm>
            <a:off x="8366760" y="2487168"/>
            <a:ext cx="2926080" cy="715061"/>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în România, importat</a:t>
            </a:r>
            <a:endParaRPr lang="en-US" sz="1400" dirty="0"/>
          </a:p>
        </p:txBody>
      </p:sp>
      <p:sp>
        <p:nvSpPr>
          <p:cNvPr id="13" name="Text 11"/>
          <p:cNvSpPr/>
          <p:nvPr/>
        </p:nvSpPr>
        <p:spPr>
          <a:xfrm>
            <a:off x="594360" y="3520440"/>
            <a:ext cx="10972800" cy="9144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Ipoteza, neverificată: la o boală gravă și nouă, la care aproape toți bolnavii ajung la spital, baza piramidei ar fi îngustă. Tabelul OMS nu spune dacă așa a fost.</a:t>
            </a:r>
            <a:endParaRPr lang="en-US" sz="1700" dirty="0"/>
          </a:p>
        </p:txBody>
      </p:sp>
      <p:sp>
        <p:nvSpPr>
          <p:cNvPr id="14" name="Shape 12"/>
          <p:cNvSpPr/>
          <p:nvPr/>
        </p:nvSpPr>
        <p:spPr>
          <a:xfrm>
            <a:off x="594360" y="4572000"/>
            <a:ext cx="10972800" cy="1371600"/>
          </a:xfrm>
          <a:prstGeom prst="roundRect">
            <a:avLst>
              <a:gd name="adj" fmla="val 6000"/>
            </a:avLst>
          </a:prstGeom>
          <a:solidFill>
            <a:srgbClr val="07564B"/>
          </a:solidFill>
          <a:ln w="12700">
            <a:solidFill>
              <a:srgbClr val="07564B"/>
            </a:solidFill>
            <a:prstDash val="solid"/>
          </a:ln>
        </p:spPr>
        <p:txBody>
          <a:bodyPr/>
          <a:p/>
        </p:txBody>
      </p:sp>
      <p:sp>
        <p:nvSpPr>
          <p:cNvPr id="15" name="Text 13"/>
          <p:cNvSpPr/>
          <p:nvPr/>
        </p:nvSpPr>
        <p:spPr>
          <a:xfrm>
            <a:off x="914400" y="4572000"/>
            <a:ext cx="10332720" cy="13716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Teza nu este „cifra raportată este întotdeauna prea mică”. Teza este o întrebare: cine trebuia să fie văzut, și de către cine?</a:t>
            </a:r>
            <a:endParaRPr lang="en-US" sz="1800" dirty="0"/>
          </a:p>
        </p:txBody>
      </p:sp>
      <p:sp>
        <p:nvSpPr>
          <p:cNvPr id="16" name="Text 14"/>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OMS, tabelul cazurilor de SARS, debuturi între 1 noiembrie 2002 și 31 iulie 2003 (registru A077).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ÎNAINTE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DEZBATEREA · MOȚIUNEA</a:t>
            </a:r>
            <a:endParaRPr lang="en-US" sz="1300" dirty="0"/>
          </a:p>
        </p:txBody>
      </p:sp>
      <p:sp>
        <p:nvSpPr>
          <p:cNvPr id="5" name="Text 3"/>
          <p:cNvSpPr/>
          <p:nvPr/>
        </p:nvSpPr>
        <p:spPr>
          <a:xfrm>
            <a:off x="594360" y="777240"/>
            <a:ext cx="10972800" cy="1188720"/>
          </a:xfrm>
          <a:prstGeom prst="rect">
            <a:avLst/>
          </a:prstGeom>
          <a:noFill/>
          <a:ln/>
        </p:spPr>
        <p:txBody>
          <a:bodyPr wrap="square" lIns="0" tIns="0" rIns="0" bIns="0" rtlCol="0" anchor="t"/>
          <a:lstStyle/>
          <a:p>
            <a:pPr indent="0" marL="0">
              <a:buNone/>
            </a:pPr>
            <a:r>
              <a:rPr lang="en-US" sz="2800" b="1" i="1" dirty="0">
                <a:solidFill>
                  <a:srgbClr val="FFFFFF"/>
                </a:solidFill>
                <a:latin typeface="Palatino Linotype" pitchFamily="34" charset="0"/>
                <a:ea typeface="Palatino Linotype" pitchFamily="34" charset="-122"/>
                <a:cs typeface="Palatino Linotype" pitchFamily="34" charset="-120"/>
              </a:rPr>
              <a:t>„Răspunsul global la COVID-19 a fost mai bun decât cel la gripa spaniolă.”</a:t>
            </a:r>
            <a:endParaRPr lang="en-US" sz="2800" dirty="0"/>
          </a:p>
        </p:txBody>
      </p:sp>
      <p:sp>
        <p:nvSpPr>
          <p:cNvPr id="6" name="Shape 4"/>
          <p:cNvSpPr/>
          <p:nvPr/>
        </p:nvSpPr>
        <p:spPr>
          <a:xfrm>
            <a:off x="594360" y="219456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2359152"/>
            <a:ext cx="420624" cy="420624"/>
          </a:xfrm>
          <a:prstGeom prst="ellipse">
            <a:avLst/>
          </a:prstGeom>
          <a:solidFill>
            <a:srgbClr val="FFC24B"/>
          </a:solidFill>
          <a:ln/>
        </p:spPr>
        <p:txBody>
          <a:bodyPr/>
          <a:p/>
        </p:txBody>
      </p:sp>
      <p:sp>
        <p:nvSpPr>
          <p:cNvPr id="8" name="Text 6"/>
          <p:cNvSpPr/>
          <p:nvPr/>
        </p:nvSpPr>
        <p:spPr>
          <a:xfrm>
            <a:off x="914400" y="23591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194560"/>
            <a:ext cx="6355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Pentru</a:t>
            </a:r>
            <a:endParaRPr lang="en-US" sz="2000" dirty="0"/>
          </a:p>
        </p:txBody>
      </p:sp>
      <p:sp>
        <p:nvSpPr>
          <p:cNvPr id="10" name="Shape 8"/>
          <p:cNvSpPr/>
          <p:nvPr/>
        </p:nvSpPr>
        <p:spPr>
          <a:xfrm>
            <a:off x="594360" y="310896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3273552"/>
            <a:ext cx="420624" cy="420624"/>
          </a:xfrm>
          <a:prstGeom prst="ellipse">
            <a:avLst/>
          </a:prstGeom>
          <a:solidFill>
            <a:srgbClr val="FFC24B"/>
          </a:solidFill>
          <a:ln/>
        </p:spPr>
        <p:txBody>
          <a:bodyPr/>
          <a:p/>
        </p:txBody>
      </p:sp>
      <p:sp>
        <p:nvSpPr>
          <p:cNvPr id="12" name="Text 10"/>
          <p:cNvSpPr/>
          <p:nvPr/>
        </p:nvSpPr>
        <p:spPr>
          <a:xfrm>
            <a:off x="914400" y="32735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108960"/>
            <a:ext cx="6355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Împotrivă</a:t>
            </a:r>
            <a:endParaRPr lang="en-US" sz="2000" dirty="0"/>
          </a:p>
        </p:txBody>
      </p:sp>
      <p:sp>
        <p:nvSpPr>
          <p:cNvPr id="14" name="Shape 12"/>
          <p:cNvSpPr/>
          <p:nvPr/>
        </p:nvSpPr>
        <p:spPr>
          <a:xfrm>
            <a:off x="594360" y="402336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4187952"/>
            <a:ext cx="420624" cy="420624"/>
          </a:xfrm>
          <a:prstGeom prst="ellipse">
            <a:avLst/>
          </a:prstGeom>
          <a:solidFill>
            <a:srgbClr val="FFC24B"/>
          </a:solidFill>
          <a:ln/>
        </p:spPr>
        <p:txBody>
          <a:bodyPr/>
          <a:p/>
        </p:txBody>
      </p:sp>
      <p:sp>
        <p:nvSpPr>
          <p:cNvPr id="16" name="Text 14"/>
          <p:cNvSpPr/>
          <p:nvPr/>
        </p:nvSpPr>
        <p:spPr>
          <a:xfrm>
            <a:off x="914400" y="41879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4023360"/>
            <a:ext cx="6355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 știu</a:t>
            </a:r>
            <a:endParaRPr lang="en-US" sz="2000" dirty="0"/>
          </a:p>
        </p:txBody>
      </p:sp>
      <p:sp>
        <p:nvSpPr>
          <p:cNvPr id="18" name="Shape 16"/>
          <p:cNvSpPr/>
          <p:nvPr/>
        </p:nvSpPr>
        <p:spPr>
          <a:xfrm>
            <a:off x="8503920" y="219456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0" name="Text 18"/>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Argumentele despre măsurile de răspuns sunt permise; cifrele vin numai din note.</a:t>
            </a:r>
            <a:endParaRPr lang="en-US" sz="1700" dirty="0"/>
          </a:p>
        </p:txBody>
      </p:sp>
      <p:pic>
        <p:nvPicPr>
          <p:cNvPr id="21" name="Picture 20" descr="Mentimeter_OPT_DETECTIVI_C03.png"/>
          <p:cNvPicPr>
            <a:picLocks noChangeAspect="1"/>
          </p:cNvPicPr>
          <p:nvPr/>
        </p:nvPicPr>
        <p:blipFill>
          <a:blip r:embed="rId3"/>
          <a:stretch>
            <a:fillRect/>
          </a:stretch>
        </p:blipFill>
        <p:spPr>
          <a:xfrm>
            <a:off x="8817610" y="2194560"/>
            <a:ext cx="2435860" cy="2435860"/>
          </a:xfrm>
          <a:prstGeom prst="rect">
            <a:avLst/>
          </a:prstGeom>
        </p:spPr>
      </p:pic>
      <p:sp>
        <p:nvSpPr>
          <p:cNvPr id="22" name="TextBox 21"/>
          <p:cNvSpPr txBox="1"/>
          <p:nvPr/>
        </p:nvSpPr>
        <p:spPr>
          <a:xfrm>
            <a:off x="8503920" y="466852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9B7EF7"/>
          </a:solidFill>
          <a:ln w="12700">
            <a:solidFill>
              <a:srgbClr val="9B7EF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DOUĂ TABERE · MICROFON</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DEZBATEREA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Stânga pentru, dreapta împotrivă</a:t>
            </a:r>
            <a:endParaRPr lang="en-US" sz="3200" dirty="0"/>
          </a:p>
        </p:txBody>
      </p:sp>
      <p:sp>
        <p:nvSpPr>
          <p:cNvPr id="6" name="Shape 4"/>
          <p:cNvSpPr/>
          <p:nvPr/>
        </p:nvSpPr>
        <p:spPr>
          <a:xfrm>
            <a:off x="594360" y="1554480"/>
            <a:ext cx="5349240" cy="2286000"/>
          </a:xfrm>
          <a:prstGeom prst="roundRect">
            <a:avLst>
              <a:gd name="adj" fmla="val 3600"/>
            </a:avLst>
          </a:prstGeom>
          <a:solidFill>
            <a:srgbClr val="E1F0EC"/>
          </a:solidFill>
          <a:ln w="12700">
            <a:solidFill>
              <a:srgbClr val="E1F0EC"/>
            </a:solidFill>
            <a:prstDash val="solid"/>
          </a:ln>
        </p:spPr>
        <p:txBody>
          <a:bodyPr/>
          <a:p/>
        </p:txBody>
      </p:sp>
      <p:sp>
        <p:nvSpPr>
          <p:cNvPr id="7" name="Shape 5"/>
          <p:cNvSpPr/>
          <p:nvPr/>
        </p:nvSpPr>
        <p:spPr>
          <a:xfrm>
            <a:off x="6217920" y="1554480"/>
            <a:ext cx="5349240" cy="2286000"/>
          </a:xfrm>
          <a:prstGeom prst="roundRect">
            <a:avLst>
              <a:gd name="adj" fmla="val 3600"/>
            </a:avLst>
          </a:prstGeom>
          <a:solidFill>
            <a:srgbClr val="F4E0E2"/>
          </a:solidFill>
          <a:ln w="12700">
            <a:solidFill>
              <a:srgbClr val="F4E0E2"/>
            </a:solidFill>
            <a:prstDash val="solid"/>
          </a:ln>
        </p:spPr>
        <p:txBody>
          <a:bodyPr/>
          <a:p/>
        </p:txBody>
      </p:sp>
      <p:sp>
        <p:nvSpPr>
          <p:cNvPr id="8" name="Text 6"/>
          <p:cNvSpPr/>
          <p:nvPr/>
        </p:nvSpPr>
        <p:spPr>
          <a:xfrm>
            <a:off x="868680" y="1691640"/>
            <a:ext cx="4846320" cy="36576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PENTRU · PARTEA STÂNGĂ</a:t>
            </a:r>
            <a:endParaRPr lang="en-US" sz="1300" dirty="0"/>
          </a:p>
        </p:txBody>
      </p:sp>
      <p:sp>
        <p:nvSpPr>
          <p:cNvPr id="9" name="Text 7"/>
          <p:cNvSpPr/>
          <p:nvPr/>
        </p:nvSpPr>
        <p:spPr>
          <a:xfrm>
            <a:off x="868680" y="2148840"/>
            <a:ext cx="4846320" cy="15544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Poate porni de la estimarea mică pentru 1918: 17,4 milioane.</a:t>
            </a:r>
            <a:endParaRPr lang="en-US" sz="1900" dirty="0"/>
          </a:p>
        </p:txBody>
      </p:sp>
      <p:sp>
        <p:nvSpPr>
          <p:cNvPr id="10" name="Text 8"/>
          <p:cNvSpPr/>
          <p:nvPr/>
        </p:nvSpPr>
        <p:spPr>
          <a:xfrm>
            <a:off x="6492240" y="1691640"/>
            <a:ext cx="484632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ÎMPOTRIVĂ · PARTEA DREAPTĂ</a:t>
            </a:r>
            <a:endParaRPr lang="en-US" sz="1300" dirty="0"/>
          </a:p>
        </p:txBody>
      </p:sp>
      <p:sp>
        <p:nvSpPr>
          <p:cNvPr id="11" name="Text 9"/>
          <p:cNvSpPr/>
          <p:nvPr/>
        </p:nvSpPr>
        <p:spPr>
          <a:xfrm>
            <a:off x="6492240" y="2148840"/>
            <a:ext cx="4846320" cy="15544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Poate porni de la estimarea mare: 50–100 de milioane.</a:t>
            </a:r>
            <a:endParaRPr lang="en-US" sz="1900" dirty="0"/>
          </a:p>
        </p:txBody>
      </p:sp>
      <p:sp>
        <p:nvSpPr>
          <p:cNvPr id="12" name="Shape 10"/>
          <p:cNvSpPr/>
          <p:nvPr/>
        </p:nvSpPr>
        <p:spPr>
          <a:xfrm>
            <a:off x="594360" y="4069080"/>
            <a:ext cx="10972800" cy="566928"/>
          </a:xfrm>
          <a:prstGeom prst="roundRect">
            <a:avLst>
              <a:gd name="adj" fmla="val 14516"/>
            </a:avLst>
          </a:prstGeom>
          <a:solidFill>
            <a:srgbClr val="11121A"/>
          </a:solidFill>
          <a:ln w="12700">
            <a:solidFill>
              <a:srgbClr val="11121A"/>
            </a:solidFill>
            <a:prstDash val="solid"/>
          </a:ln>
        </p:spPr>
        <p:txBody>
          <a:bodyPr/>
          <a:p/>
        </p:txBody>
      </p:sp>
      <p:sp>
        <p:nvSpPr>
          <p:cNvPr id="13" name="Shape 11"/>
          <p:cNvSpPr/>
          <p:nvPr/>
        </p:nvSpPr>
        <p:spPr>
          <a:xfrm>
            <a:off x="914400" y="4142232"/>
            <a:ext cx="420624" cy="420624"/>
          </a:xfrm>
          <a:prstGeom prst="ellipse">
            <a:avLst/>
          </a:prstGeom>
          <a:solidFill>
            <a:srgbClr val="FFC24B"/>
          </a:solidFill>
          <a:ln/>
        </p:spPr>
        <p:txBody>
          <a:bodyPr/>
          <a:p/>
        </p:txBody>
      </p:sp>
      <p:sp>
        <p:nvSpPr>
          <p:cNvPr id="14" name="Text 12"/>
          <p:cNvSpPr/>
          <p:nvPr/>
        </p:nvSpPr>
        <p:spPr>
          <a:xfrm>
            <a:off x="914400" y="4142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5" name="Text 13"/>
          <p:cNvSpPr/>
          <p:nvPr/>
        </p:nvSpPr>
        <p:spPr>
          <a:xfrm>
            <a:off x="1600200" y="4069080"/>
            <a:ext cx="9692640" cy="566928"/>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Trei minute de pregătire, indiferent de votul fiecăruia.</a:t>
            </a:r>
            <a:endParaRPr lang="en-US" sz="1550" dirty="0"/>
          </a:p>
        </p:txBody>
      </p:sp>
      <p:sp>
        <p:nvSpPr>
          <p:cNvPr id="16" name="Shape 14"/>
          <p:cNvSpPr/>
          <p:nvPr/>
        </p:nvSpPr>
        <p:spPr>
          <a:xfrm>
            <a:off x="594360" y="4727448"/>
            <a:ext cx="10972800" cy="566928"/>
          </a:xfrm>
          <a:prstGeom prst="roundRect">
            <a:avLst>
              <a:gd name="adj" fmla="val 14516"/>
            </a:avLst>
          </a:prstGeom>
          <a:solidFill>
            <a:srgbClr val="11121A"/>
          </a:solidFill>
          <a:ln w="12700">
            <a:solidFill>
              <a:srgbClr val="11121A"/>
            </a:solidFill>
            <a:prstDash val="solid"/>
          </a:ln>
        </p:spPr>
        <p:txBody>
          <a:bodyPr/>
          <a:p/>
        </p:txBody>
      </p:sp>
      <p:sp>
        <p:nvSpPr>
          <p:cNvPr id="17" name="Shape 15"/>
          <p:cNvSpPr/>
          <p:nvPr/>
        </p:nvSpPr>
        <p:spPr>
          <a:xfrm>
            <a:off x="914400" y="4800600"/>
            <a:ext cx="420624" cy="420624"/>
          </a:xfrm>
          <a:prstGeom prst="ellipse">
            <a:avLst/>
          </a:prstGeom>
          <a:solidFill>
            <a:srgbClr val="FFC24B"/>
          </a:solidFill>
          <a:ln/>
        </p:spPr>
        <p:txBody>
          <a:bodyPr/>
          <a:p/>
        </p:txBody>
      </p:sp>
      <p:sp>
        <p:nvSpPr>
          <p:cNvPr id="18" name="Text 16"/>
          <p:cNvSpPr/>
          <p:nvPr/>
        </p:nvSpPr>
        <p:spPr>
          <a:xfrm>
            <a:off x="91440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9" name="Text 17"/>
          <p:cNvSpPr/>
          <p:nvPr/>
        </p:nvSpPr>
        <p:spPr>
          <a:xfrm>
            <a:off x="1600200" y="4727448"/>
            <a:ext cx="9692640" cy="566928"/>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Câte doi vorbitori din fiecare tabără, câte un minut, la microfon.</a:t>
            </a:r>
            <a:endParaRPr lang="en-US" sz="1550" dirty="0"/>
          </a:p>
        </p:txBody>
      </p:sp>
      <p:sp>
        <p:nvSpPr>
          <p:cNvPr id="20" name="Shape 18"/>
          <p:cNvSpPr/>
          <p:nvPr/>
        </p:nvSpPr>
        <p:spPr>
          <a:xfrm>
            <a:off x="594360" y="5385816"/>
            <a:ext cx="10972800" cy="566928"/>
          </a:xfrm>
          <a:prstGeom prst="roundRect">
            <a:avLst>
              <a:gd name="adj" fmla="val 14516"/>
            </a:avLst>
          </a:prstGeom>
          <a:solidFill>
            <a:srgbClr val="11121A"/>
          </a:solidFill>
          <a:ln w="12700">
            <a:solidFill>
              <a:srgbClr val="11121A"/>
            </a:solidFill>
            <a:prstDash val="solid"/>
          </a:ln>
        </p:spPr>
        <p:txBody>
          <a:bodyPr/>
          <a:p/>
        </p:txBody>
      </p:sp>
      <p:sp>
        <p:nvSpPr>
          <p:cNvPr id="21" name="Shape 19"/>
          <p:cNvSpPr/>
          <p:nvPr/>
        </p:nvSpPr>
        <p:spPr>
          <a:xfrm>
            <a:off x="914400" y="5458968"/>
            <a:ext cx="420624" cy="420624"/>
          </a:xfrm>
          <a:prstGeom prst="ellipse">
            <a:avLst/>
          </a:prstGeom>
          <a:solidFill>
            <a:srgbClr val="FFC24B"/>
          </a:solidFill>
          <a:ln/>
        </p:spPr>
        <p:txBody>
          <a:bodyPr/>
          <a:p/>
        </p:txBody>
      </p:sp>
      <p:sp>
        <p:nvSpPr>
          <p:cNvPr id="22" name="Text 20"/>
          <p:cNvSpPr/>
          <p:nvPr/>
        </p:nvSpPr>
        <p:spPr>
          <a:xfrm>
            <a:off x="914400" y="54589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3" name="Text 21"/>
          <p:cNvSpPr/>
          <p:nvPr/>
        </p:nvSpPr>
        <p:spPr>
          <a:xfrm>
            <a:off x="1600200" y="5385816"/>
            <a:ext cx="9692640" cy="566928"/>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Orice cifră spune cine a fost numărat: numărătoare cu numărătoare, estimare cu estimare.</a:t>
            </a:r>
            <a:endParaRPr lang="en-US" sz="15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DUPĂ</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ACEEAȘI MOȚIUNE, DUPĂ DEZBATERE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Cât s-a mutat votul?</a:t>
            </a:r>
            <a:endParaRPr lang="en-US" sz="3400" dirty="0"/>
          </a:p>
        </p:txBody>
      </p:sp>
      <p:sp>
        <p:nvSpPr>
          <p:cNvPr id="6" name="Shape 4"/>
          <p:cNvSpPr/>
          <p:nvPr/>
        </p:nvSpPr>
        <p:spPr>
          <a:xfrm>
            <a:off x="594360" y="17830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47672"/>
            <a:ext cx="420624" cy="420624"/>
          </a:xfrm>
          <a:prstGeom prst="ellipse">
            <a:avLst/>
          </a:prstGeom>
          <a:solidFill>
            <a:srgbClr val="FFC24B"/>
          </a:solidFill>
          <a:ln/>
        </p:spPr>
        <p:txBody>
          <a:bodyPr/>
          <a:p/>
        </p:txBody>
      </p:sp>
      <p:sp>
        <p:nvSpPr>
          <p:cNvPr id="8" name="Text 6"/>
          <p:cNvSpPr/>
          <p:nvPr/>
        </p:nvSpPr>
        <p:spPr>
          <a:xfrm>
            <a:off x="914400" y="1947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Pentru</a:t>
            </a:r>
            <a:endParaRPr lang="en-US" sz="2000" dirty="0"/>
          </a:p>
        </p:txBody>
      </p:sp>
      <p:sp>
        <p:nvSpPr>
          <p:cNvPr id="10" name="Shape 8"/>
          <p:cNvSpPr/>
          <p:nvPr/>
        </p:nvSpPr>
        <p:spPr>
          <a:xfrm>
            <a:off x="594360" y="26974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62072"/>
            <a:ext cx="420624" cy="420624"/>
          </a:xfrm>
          <a:prstGeom prst="ellipse">
            <a:avLst/>
          </a:prstGeom>
          <a:solidFill>
            <a:srgbClr val="FFC24B"/>
          </a:solidFill>
          <a:ln/>
        </p:spPr>
        <p:txBody>
          <a:bodyPr/>
          <a:p/>
        </p:txBody>
      </p:sp>
      <p:sp>
        <p:nvSpPr>
          <p:cNvPr id="12" name="Text 10"/>
          <p:cNvSpPr/>
          <p:nvPr/>
        </p:nvSpPr>
        <p:spPr>
          <a:xfrm>
            <a:off x="914400" y="28620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697480"/>
            <a:ext cx="6355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Împotrivă</a:t>
            </a:r>
            <a:endParaRPr lang="en-US" sz="2000" dirty="0"/>
          </a:p>
        </p:txBody>
      </p:sp>
      <p:sp>
        <p:nvSpPr>
          <p:cNvPr id="14" name="Shape 12"/>
          <p:cNvSpPr/>
          <p:nvPr/>
        </p:nvSpPr>
        <p:spPr>
          <a:xfrm>
            <a:off x="594360" y="36118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76472"/>
            <a:ext cx="420624" cy="420624"/>
          </a:xfrm>
          <a:prstGeom prst="ellipse">
            <a:avLst/>
          </a:prstGeom>
          <a:solidFill>
            <a:srgbClr val="FFC24B"/>
          </a:solidFill>
          <a:ln/>
        </p:spPr>
        <p:txBody>
          <a:bodyPr/>
          <a:p/>
        </p:txBody>
      </p:sp>
      <p:sp>
        <p:nvSpPr>
          <p:cNvPr id="16" name="Text 14"/>
          <p:cNvSpPr/>
          <p:nvPr/>
        </p:nvSpPr>
        <p:spPr>
          <a:xfrm>
            <a:off x="914400" y="37764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611880"/>
            <a:ext cx="6355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 știu</a:t>
            </a:r>
            <a:endParaRPr lang="en-US" sz="2000" dirty="0"/>
          </a:p>
        </p:txBody>
      </p:sp>
      <p:sp>
        <p:nvSpPr>
          <p:cNvPr id="18" name="Shape 16"/>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0" name="Text 18"/>
          <p:cNvSpPr/>
          <p:nvPr/>
        </p:nvSpPr>
        <p:spPr>
          <a:xfrm>
            <a:off x="594360" y="5074920"/>
            <a:ext cx="10972800" cy="9144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O mișcare mare a votului este o dovadă despre puterea retoricii, nu despre lume. Poziția apărată azi devine a voastră numai dacă o alegeți după, cu argumente.</a:t>
            </a:r>
            <a:endParaRPr lang="en-US" sz="1700" dirty="0"/>
          </a:p>
        </p:txBody>
      </p:sp>
      <p:pic>
        <p:nvPicPr>
          <p:cNvPr id="21" name="Picture 20" descr="Mentimeter_OPT_DETECTIVI_C03.png"/>
          <p:cNvPicPr>
            <a:picLocks noChangeAspect="1"/>
          </p:cNvPicPr>
          <p:nvPr/>
        </p:nvPicPr>
        <p:blipFill>
          <a:blip r:embed="rId3"/>
          <a:stretch>
            <a:fillRect/>
          </a:stretch>
        </p:blipFill>
        <p:spPr>
          <a:xfrm>
            <a:off x="8817610" y="1783080"/>
            <a:ext cx="2435860" cy="2435860"/>
          </a:xfrm>
          <a:prstGeom prst="rect">
            <a:avLst/>
          </a:prstGeom>
        </p:spPr>
      </p:pic>
      <p:sp>
        <p:nvSpPr>
          <p:cNvPr id="22" name="TextBox 21"/>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 DEFINIȚIE DE CAZ PENTRU TOATĂ PLANETA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Urgența pandemică, adoptată în 2024</a:t>
            </a:r>
            <a:endParaRPr lang="en-US" sz="3000" dirty="0"/>
          </a:p>
        </p:txBody>
      </p:sp>
      <p:sp>
        <p:nvSpPr>
          <p:cNvPr id="4" name="Text 2"/>
          <p:cNvSpPr/>
          <p:nvPr/>
        </p:nvSpPr>
        <p:spPr>
          <a:xfrm>
            <a:off x="594360" y="1417320"/>
            <a:ext cx="1097280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urgență de sănătate publică de importanță internațională, cauzată de o boală transmisibilă, devine urgență pandemică numai dacă îndeplinește toate patru condițiile:</a:t>
            </a:r>
            <a:endParaRPr lang="en-US" sz="1700" dirty="0"/>
          </a:p>
        </p:txBody>
      </p:sp>
      <p:sp>
        <p:nvSpPr>
          <p:cNvPr id="5" name="Shape 3"/>
          <p:cNvSpPr/>
          <p:nvPr/>
        </p:nvSpPr>
        <p:spPr>
          <a:xfrm>
            <a:off x="594360" y="2377440"/>
            <a:ext cx="2606040" cy="2103120"/>
          </a:xfrm>
          <a:prstGeom prst="roundRect">
            <a:avLst>
              <a:gd name="adj" fmla="val 3913"/>
            </a:avLst>
          </a:prstGeom>
          <a:solidFill>
            <a:srgbClr val="F4E0E2"/>
          </a:solidFill>
          <a:ln w="12700">
            <a:solidFill>
              <a:srgbClr val="F4E0E2"/>
            </a:solidFill>
            <a:prstDash val="solid"/>
          </a:ln>
        </p:spPr>
        <p:txBody>
          <a:bodyPr/>
          <a:p/>
        </p:txBody>
      </p:sp>
      <p:sp>
        <p:nvSpPr>
          <p:cNvPr id="6" name="Shape 4"/>
          <p:cNvSpPr/>
          <p:nvPr/>
        </p:nvSpPr>
        <p:spPr>
          <a:xfrm>
            <a:off x="777240" y="2514600"/>
            <a:ext cx="420624" cy="420624"/>
          </a:xfrm>
          <a:prstGeom prst="ellipse">
            <a:avLst/>
          </a:prstGeom>
          <a:solidFill>
            <a:srgbClr val="B02532"/>
          </a:solidFill>
          <a:ln/>
        </p:spPr>
        <p:txBody>
          <a:bodyPr/>
          <a:p/>
        </p:txBody>
      </p:sp>
      <p:sp>
        <p:nvSpPr>
          <p:cNvPr id="7" name="Text 5"/>
          <p:cNvSpPr/>
          <p:nvPr/>
        </p:nvSpPr>
        <p:spPr>
          <a:xfrm>
            <a:off x="777240" y="2514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777240" y="3063240"/>
            <a:ext cx="2240280" cy="1371600"/>
          </a:xfrm>
          <a:prstGeom prst="rect">
            <a:avLst/>
          </a:prstGeom>
          <a:noFill/>
          <a:ln/>
        </p:spPr>
        <p:txBody>
          <a:bodyPr wrap="square" lIns="0" tIns="0" rIns="0" bIns="0" rtlCol="0" anchor="t"/>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Se răspândește larg, în și între mai multe state</a:t>
            </a:r>
            <a:endParaRPr lang="en-US" sz="1550" dirty="0"/>
          </a:p>
        </p:txBody>
      </p:sp>
      <p:sp>
        <p:nvSpPr>
          <p:cNvPr id="9" name="Shape 7"/>
          <p:cNvSpPr/>
          <p:nvPr/>
        </p:nvSpPr>
        <p:spPr>
          <a:xfrm>
            <a:off x="3383280" y="2377440"/>
            <a:ext cx="2606040" cy="2103120"/>
          </a:xfrm>
          <a:prstGeom prst="roundRect">
            <a:avLst>
              <a:gd name="adj" fmla="val 3913"/>
            </a:avLst>
          </a:prstGeom>
          <a:solidFill>
            <a:srgbClr val="F6EDD5"/>
          </a:solidFill>
          <a:ln w="12700">
            <a:solidFill>
              <a:srgbClr val="F6EDD5"/>
            </a:solidFill>
            <a:prstDash val="solid"/>
          </a:ln>
        </p:spPr>
        <p:txBody>
          <a:bodyPr/>
          <a:p/>
        </p:txBody>
      </p:sp>
      <p:sp>
        <p:nvSpPr>
          <p:cNvPr id="10" name="Shape 8"/>
          <p:cNvSpPr/>
          <p:nvPr/>
        </p:nvSpPr>
        <p:spPr>
          <a:xfrm>
            <a:off x="3566160" y="2514600"/>
            <a:ext cx="420624" cy="420624"/>
          </a:xfrm>
          <a:prstGeom prst="ellipse">
            <a:avLst/>
          </a:prstGeom>
          <a:solidFill>
            <a:srgbClr val="8A6100"/>
          </a:solidFill>
          <a:ln/>
        </p:spPr>
        <p:txBody>
          <a:bodyPr/>
          <a:p/>
        </p:txBody>
      </p:sp>
      <p:sp>
        <p:nvSpPr>
          <p:cNvPr id="11" name="Text 9"/>
          <p:cNvSpPr/>
          <p:nvPr/>
        </p:nvSpPr>
        <p:spPr>
          <a:xfrm>
            <a:off x="3566160" y="2514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3566160" y="3063240"/>
            <a:ext cx="2240280" cy="1371600"/>
          </a:xfrm>
          <a:prstGeom prst="rect">
            <a:avLst/>
          </a:prstGeom>
          <a:noFill/>
          <a:ln/>
        </p:spPr>
        <p:txBody>
          <a:bodyPr wrap="square" lIns="0" tIns="0" rIns="0" bIns="0" rtlCol="0" anchor="t"/>
          <a:lstStyle/>
          <a:p>
            <a:pPr indent="0" marL="0">
              <a:buNone/>
            </a:pPr>
            <a:r>
              <a:rPr lang="en-US" sz="1550" b="1" dirty="0">
                <a:solidFill>
                  <a:srgbClr val="8A6100"/>
                </a:solidFill>
                <a:latin typeface="Palatino Linotype" pitchFamily="34" charset="0"/>
                <a:ea typeface="Palatino Linotype" pitchFamily="34" charset="-122"/>
                <a:cs typeface="Palatino Linotype" pitchFamily="34" charset="-120"/>
              </a:rPr>
              <a:t>Depășește capacitatea sistemelor de sănătate</a:t>
            </a:r>
            <a:endParaRPr lang="en-US" sz="1550" dirty="0"/>
          </a:p>
        </p:txBody>
      </p:sp>
      <p:sp>
        <p:nvSpPr>
          <p:cNvPr id="13" name="Shape 11"/>
          <p:cNvSpPr/>
          <p:nvPr/>
        </p:nvSpPr>
        <p:spPr>
          <a:xfrm>
            <a:off x="6172200" y="2377440"/>
            <a:ext cx="2606040" cy="2103120"/>
          </a:xfrm>
          <a:prstGeom prst="roundRect">
            <a:avLst>
              <a:gd name="adj" fmla="val 3913"/>
            </a:avLst>
          </a:prstGeom>
          <a:solidFill>
            <a:srgbClr val="E9E3F6"/>
          </a:solidFill>
          <a:ln w="12700">
            <a:solidFill>
              <a:srgbClr val="E9E3F6"/>
            </a:solidFill>
            <a:prstDash val="solid"/>
          </a:ln>
        </p:spPr>
        <p:txBody>
          <a:bodyPr/>
          <a:p/>
        </p:txBody>
      </p:sp>
      <p:sp>
        <p:nvSpPr>
          <p:cNvPr id="14" name="Shape 12"/>
          <p:cNvSpPr/>
          <p:nvPr/>
        </p:nvSpPr>
        <p:spPr>
          <a:xfrm>
            <a:off x="6355080" y="2514600"/>
            <a:ext cx="420624" cy="420624"/>
          </a:xfrm>
          <a:prstGeom prst="ellipse">
            <a:avLst/>
          </a:prstGeom>
          <a:solidFill>
            <a:srgbClr val="4A2D8C"/>
          </a:solidFill>
          <a:ln/>
        </p:spPr>
        <p:txBody>
          <a:bodyPr/>
          <a:p/>
        </p:txBody>
      </p:sp>
      <p:sp>
        <p:nvSpPr>
          <p:cNvPr id="15" name="Text 13"/>
          <p:cNvSpPr/>
          <p:nvPr/>
        </p:nvSpPr>
        <p:spPr>
          <a:xfrm>
            <a:off x="6355080" y="2514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6355080" y="3063240"/>
            <a:ext cx="2240280" cy="1371600"/>
          </a:xfrm>
          <a:prstGeom prst="rect">
            <a:avLst/>
          </a:prstGeom>
          <a:noFill/>
          <a:ln/>
        </p:spPr>
        <p:txBody>
          <a:bodyPr wrap="square" lIns="0" tIns="0" rIns="0" bIns="0" rtlCol="0" anchor="t"/>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Produce perturbări sociale sau economice substanțiale</a:t>
            </a:r>
            <a:endParaRPr lang="en-US" sz="1550" dirty="0"/>
          </a:p>
        </p:txBody>
      </p:sp>
      <p:sp>
        <p:nvSpPr>
          <p:cNvPr id="17" name="Shape 15"/>
          <p:cNvSpPr/>
          <p:nvPr/>
        </p:nvSpPr>
        <p:spPr>
          <a:xfrm>
            <a:off x="8961120" y="2377440"/>
            <a:ext cx="2606040" cy="2103120"/>
          </a:xfrm>
          <a:prstGeom prst="roundRect">
            <a:avLst>
              <a:gd name="adj" fmla="val 3913"/>
            </a:avLst>
          </a:prstGeom>
          <a:solidFill>
            <a:srgbClr val="E1F0EC"/>
          </a:solidFill>
          <a:ln w="12700">
            <a:solidFill>
              <a:srgbClr val="E1F0EC"/>
            </a:solidFill>
            <a:prstDash val="solid"/>
          </a:ln>
        </p:spPr>
        <p:txBody>
          <a:bodyPr/>
          <a:p/>
        </p:txBody>
      </p:sp>
      <p:sp>
        <p:nvSpPr>
          <p:cNvPr id="18" name="Shape 16"/>
          <p:cNvSpPr/>
          <p:nvPr/>
        </p:nvSpPr>
        <p:spPr>
          <a:xfrm>
            <a:off x="9144000" y="2514600"/>
            <a:ext cx="420624" cy="420624"/>
          </a:xfrm>
          <a:prstGeom prst="ellipse">
            <a:avLst/>
          </a:prstGeom>
          <a:solidFill>
            <a:srgbClr val="0E7C6B"/>
          </a:solidFill>
          <a:ln/>
        </p:spPr>
        <p:txBody>
          <a:bodyPr/>
          <a:p/>
        </p:txBody>
      </p:sp>
      <p:sp>
        <p:nvSpPr>
          <p:cNvPr id="19" name="Text 17"/>
          <p:cNvSpPr/>
          <p:nvPr/>
        </p:nvSpPr>
        <p:spPr>
          <a:xfrm>
            <a:off x="9144000" y="2514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9144000" y="3063240"/>
            <a:ext cx="2240280" cy="1371600"/>
          </a:xfrm>
          <a:prstGeom prst="rect">
            <a:avLst/>
          </a:prstGeom>
          <a:noFill/>
          <a:ln/>
        </p:spPr>
        <p:txBody>
          <a:bodyPr wrap="square" lIns="0" tIns="0" rIns="0" bIns="0" rtlCol="0" anchor="t"/>
          <a:lstStyle/>
          <a:p>
            <a:pPr indent="0" marL="0">
              <a:buNone/>
            </a:pPr>
            <a:r>
              <a:rPr lang="en-US" sz="1550" b="1" dirty="0">
                <a:solidFill>
                  <a:srgbClr val="0E7C6B"/>
                </a:solidFill>
                <a:latin typeface="Palatino Linotype" pitchFamily="34" charset="0"/>
                <a:ea typeface="Palatino Linotype" pitchFamily="34" charset="-122"/>
                <a:cs typeface="Palatino Linotype" pitchFamily="34" charset="-120"/>
              </a:rPr>
              <a:t>Cere o acțiune internațională rapidă, echitabilă și coordonată</a:t>
            </a:r>
            <a:endParaRPr lang="en-US" sz="1550" dirty="0"/>
          </a:p>
        </p:txBody>
      </p:sp>
      <p:sp>
        <p:nvSpPr>
          <p:cNvPr id="21" name="Text 19"/>
          <p:cNvSpPr/>
          <p:nvPr/>
        </p:nvSpPr>
        <p:spPr>
          <a:xfrm>
            <a:off x="594360" y="475488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Toate patru sunt obligatorii, dar fiecare poate fi îndeplinită și printr-un risc mare, nu numai printr-un fapt deja petrecut.</a:t>
            </a:r>
            <a:endParaRPr lang="en-US" sz="1800" dirty="0"/>
          </a:p>
        </p:txBody>
      </p:sp>
      <p:sp>
        <p:nvSpPr>
          <p:cNvPr id="22" name="Text 20"/>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OMS, amendamentele la Regulamentul Sanitar Internațional, rezoluția WHA77.17 (registru A517).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RAPORTUL OMS DIN 8 OCTOMBRIE 2026</a:t>
            </a:r>
            <a:endParaRPr lang="en-US" sz="1300" dirty="0"/>
          </a:p>
        </p:txBody>
      </p:sp>
      <p:sp>
        <p:nvSpPr>
          <p:cNvPr id="5" name="Text 3"/>
          <p:cNvSpPr/>
          <p:nvPr/>
        </p:nvSpPr>
        <p:spPr>
          <a:xfrm>
            <a:off x="594360" y="713232"/>
            <a:ext cx="77724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Ebola Bundibugyo, acum</a:t>
            </a:r>
            <a:endParaRPr lang="en-US" sz="3200" dirty="0"/>
          </a:p>
        </p:txBody>
      </p:sp>
      <p:sp>
        <p:nvSpPr>
          <p:cNvPr id="6" name="Shape 4"/>
          <p:cNvSpPr/>
          <p:nvPr/>
        </p:nvSpPr>
        <p:spPr>
          <a:xfrm>
            <a:off x="594360" y="1600200"/>
            <a:ext cx="2514600" cy="1417320"/>
          </a:xfrm>
          <a:prstGeom prst="roundRect">
            <a:avLst>
              <a:gd name="adj" fmla="val 5806"/>
            </a:avLst>
          </a:prstGeom>
          <a:solidFill>
            <a:srgbClr val="272A38"/>
          </a:solidFill>
          <a:ln w="12700">
            <a:solidFill>
              <a:srgbClr val="272A38"/>
            </a:solidFill>
            <a:prstDash val="solid"/>
          </a:ln>
        </p:spPr>
        <p:txBody>
          <a:bodyPr/>
          <a:p/>
        </p:txBody>
      </p:sp>
      <p:sp>
        <p:nvSpPr>
          <p:cNvPr id="7" name="Text 5"/>
          <p:cNvSpPr/>
          <p:nvPr/>
        </p:nvSpPr>
        <p:spPr>
          <a:xfrm>
            <a:off x="868680" y="1709928"/>
            <a:ext cx="1965960" cy="708660"/>
          </a:xfrm>
          <a:prstGeom prst="rect">
            <a:avLst/>
          </a:prstGeom>
          <a:noFill/>
          <a:ln/>
        </p:spPr>
        <p:txBody>
          <a:bodyPr wrap="square" lIns="0" tIns="0" rIns="0" bIns="0" rtlCol="0" anchor="ctr"/>
          <a:lstStyle/>
          <a:p>
            <a:pPr indent="0" marL="0">
              <a:buNone/>
            </a:pPr>
            <a:r>
              <a:rPr lang="en-US" sz="3200" b="1" dirty="0">
                <a:solidFill>
                  <a:srgbClr val="FF4757"/>
                </a:solidFill>
                <a:latin typeface="Palatino Linotype" pitchFamily="34" charset="0"/>
                <a:ea typeface="Palatino Linotype" pitchFamily="34" charset="-122"/>
                <a:cs typeface="Palatino Linotype" pitchFamily="34" charset="-120"/>
              </a:rPr>
              <a:t>8 728</a:t>
            </a:r>
            <a:endParaRPr lang="en-US" sz="3200" dirty="0"/>
          </a:p>
        </p:txBody>
      </p:sp>
      <p:sp>
        <p:nvSpPr>
          <p:cNvPr id="8" name="Text 6"/>
          <p:cNvSpPr/>
          <p:nvPr/>
        </p:nvSpPr>
        <p:spPr>
          <a:xfrm>
            <a:off x="868680" y="2327148"/>
            <a:ext cx="1965960" cy="651967"/>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cazuri confirmate</a:t>
            </a:r>
            <a:endParaRPr lang="en-US" sz="1400" dirty="0"/>
          </a:p>
        </p:txBody>
      </p:sp>
      <p:sp>
        <p:nvSpPr>
          <p:cNvPr id="9" name="Shape 7"/>
          <p:cNvSpPr/>
          <p:nvPr/>
        </p:nvSpPr>
        <p:spPr>
          <a:xfrm>
            <a:off x="3246120" y="1600200"/>
            <a:ext cx="2514600" cy="1417320"/>
          </a:xfrm>
          <a:prstGeom prst="roundRect">
            <a:avLst>
              <a:gd name="adj" fmla="val 5806"/>
            </a:avLst>
          </a:prstGeom>
          <a:solidFill>
            <a:srgbClr val="272A38"/>
          </a:solidFill>
          <a:ln w="12700">
            <a:solidFill>
              <a:srgbClr val="272A38"/>
            </a:solidFill>
            <a:prstDash val="solid"/>
          </a:ln>
        </p:spPr>
        <p:txBody>
          <a:bodyPr/>
          <a:p/>
        </p:txBody>
      </p:sp>
      <p:sp>
        <p:nvSpPr>
          <p:cNvPr id="10" name="Text 8"/>
          <p:cNvSpPr/>
          <p:nvPr/>
        </p:nvSpPr>
        <p:spPr>
          <a:xfrm>
            <a:off x="3520440" y="1709928"/>
            <a:ext cx="1965960" cy="708660"/>
          </a:xfrm>
          <a:prstGeom prst="rect">
            <a:avLst/>
          </a:prstGeom>
          <a:noFill/>
          <a:ln/>
        </p:spPr>
        <p:txBody>
          <a:bodyPr wrap="square" lIns="0" tIns="0" rIns="0" bIns="0" rtlCol="0" anchor="ctr"/>
          <a:lstStyle/>
          <a:p>
            <a:pPr indent="0" marL="0">
              <a:buNone/>
            </a:pPr>
            <a:r>
              <a:rPr lang="en-US" sz="3200" b="1" dirty="0">
                <a:solidFill>
                  <a:srgbClr val="FF4757"/>
                </a:solidFill>
                <a:latin typeface="Palatino Linotype" pitchFamily="34" charset="0"/>
                <a:ea typeface="Palatino Linotype" pitchFamily="34" charset="-122"/>
                <a:cs typeface="Palatino Linotype" pitchFamily="34" charset="-120"/>
              </a:rPr>
              <a:t>4 205</a:t>
            </a:r>
            <a:endParaRPr lang="en-US" sz="3200" dirty="0"/>
          </a:p>
        </p:txBody>
      </p:sp>
      <p:sp>
        <p:nvSpPr>
          <p:cNvPr id="11" name="Text 9"/>
          <p:cNvSpPr/>
          <p:nvPr/>
        </p:nvSpPr>
        <p:spPr>
          <a:xfrm>
            <a:off x="3520440" y="2327148"/>
            <a:ext cx="1965960" cy="651967"/>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decese confirmate</a:t>
            </a:r>
            <a:endParaRPr lang="en-US" sz="1400" dirty="0"/>
          </a:p>
        </p:txBody>
      </p:sp>
      <p:sp>
        <p:nvSpPr>
          <p:cNvPr id="12" name="Shape 10"/>
          <p:cNvSpPr/>
          <p:nvPr/>
        </p:nvSpPr>
        <p:spPr>
          <a:xfrm>
            <a:off x="5897880" y="1600200"/>
            <a:ext cx="2377440" cy="1417320"/>
          </a:xfrm>
          <a:prstGeom prst="roundRect">
            <a:avLst>
              <a:gd name="adj" fmla="val 5806"/>
            </a:avLst>
          </a:prstGeom>
          <a:solidFill>
            <a:srgbClr val="272A38"/>
          </a:solidFill>
          <a:ln w="12700">
            <a:solidFill>
              <a:srgbClr val="272A38"/>
            </a:solidFill>
            <a:prstDash val="solid"/>
          </a:ln>
        </p:spPr>
        <p:txBody>
          <a:bodyPr/>
          <a:p/>
        </p:txBody>
      </p:sp>
      <p:sp>
        <p:nvSpPr>
          <p:cNvPr id="13" name="Text 11"/>
          <p:cNvSpPr/>
          <p:nvPr/>
        </p:nvSpPr>
        <p:spPr>
          <a:xfrm>
            <a:off x="6172200" y="1709928"/>
            <a:ext cx="1828800" cy="708660"/>
          </a:xfrm>
          <a:prstGeom prst="rect">
            <a:avLst/>
          </a:prstGeom>
          <a:noFill/>
          <a:ln/>
        </p:spPr>
        <p:txBody>
          <a:bodyPr wrap="square" lIns="0" tIns="0" rIns="0" bIns="0" rtlCol="0" anchor="ctr"/>
          <a:lstStyle/>
          <a:p>
            <a:pPr indent="0" marL="0">
              <a:buNone/>
            </a:pPr>
            <a:r>
              <a:rPr lang="en-US" sz="3200" b="1" dirty="0">
                <a:solidFill>
                  <a:srgbClr val="27D3BE"/>
                </a:solidFill>
                <a:latin typeface="Palatino Linotype" pitchFamily="34" charset="0"/>
                <a:ea typeface="Palatino Linotype" pitchFamily="34" charset="-122"/>
                <a:cs typeface="Palatino Linotype" pitchFamily="34" charset="-120"/>
              </a:rPr>
              <a:t>48,2%</a:t>
            </a:r>
            <a:endParaRPr lang="en-US" sz="3200" dirty="0"/>
          </a:p>
        </p:txBody>
      </p:sp>
      <p:sp>
        <p:nvSpPr>
          <p:cNvPr id="14" name="Text 12"/>
          <p:cNvSpPr/>
          <p:nvPr/>
        </p:nvSpPr>
        <p:spPr>
          <a:xfrm>
            <a:off x="6172200" y="2327148"/>
            <a:ext cx="1828800" cy="651967"/>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letalitate brută</a:t>
            </a:r>
            <a:endParaRPr lang="en-US" sz="1400" dirty="0"/>
          </a:p>
        </p:txBody>
      </p:sp>
      <p:sp>
        <p:nvSpPr>
          <p:cNvPr id="15" name="Text 13"/>
          <p:cNvSpPr/>
          <p:nvPr/>
        </p:nvSpPr>
        <p:spPr>
          <a:xfrm>
            <a:off x="594360" y="3154680"/>
            <a:ext cx="7680960" cy="914400"/>
          </a:xfrm>
          <a:prstGeom prst="rect">
            <a:avLst/>
          </a:prstGeom>
          <a:noFill/>
          <a:ln/>
        </p:spPr>
        <p:txBody>
          <a:bodyPr wrap="square" lIns="0" tIns="0" rIns="0" bIns="0" rtlCol="0" anchor="t"/>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Republica Democratică Congo, la 6 octombrie. Epidemia din Republica Democratică Congo și Uganda a fost declarată urgență de sănătate publică de importanță internațională.</a:t>
            </a:r>
            <a:endParaRPr lang="en-US" sz="1450" dirty="0"/>
          </a:p>
        </p:txBody>
      </p:sp>
      <p:sp>
        <p:nvSpPr>
          <p:cNvPr id="16" name="Text 14"/>
          <p:cNvSpPr/>
          <p:nvPr/>
        </p:nvSpPr>
        <p:spPr>
          <a:xfrm>
            <a:off x="594360" y="4114800"/>
            <a:ext cx="7680960" cy="6858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Câte dintre cele patru condiții ale urgenței pandemice vi se par îndeplinite?</a:t>
            </a:r>
            <a:endParaRPr lang="en-US" sz="1800" dirty="0"/>
          </a:p>
        </p:txBody>
      </p:sp>
      <p:sp>
        <p:nvSpPr>
          <p:cNvPr id="17" name="Text 15"/>
          <p:cNvSpPr/>
          <p:nvPr/>
        </p:nvSpPr>
        <p:spPr>
          <a:xfrm>
            <a:off x="594360" y="4846320"/>
            <a:ext cx="7680960" cy="41148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Niciuna · Una sau două · Trei · Toate patru</a:t>
            </a:r>
            <a:endParaRPr lang="en-US" sz="1700" dirty="0"/>
          </a:p>
        </p:txBody>
      </p:sp>
      <p:sp>
        <p:nvSpPr>
          <p:cNvPr id="18" name="Text 16"/>
          <p:cNvSpPr/>
          <p:nvPr/>
        </p:nvSpPr>
        <p:spPr>
          <a:xfrm>
            <a:off x="594360" y="5349240"/>
            <a:ext cx="768096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Apoi un minut cu colegul: ce informație v-ar lipsi ca să decideți?</a:t>
            </a:r>
            <a:endParaRPr lang="en-US" sz="1500" dirty="0"/>
          </a:p>
        </p:txBody>
      </p:sp>
      <p:sp>
        <p:nvSpPr>
          <p:cNvPr id="19" name="Shape 17"/>
          <p:cNvSpPr/>
          <p:nvPr/>
        </p:nvSpPr>
        <p:spPr>
          <a:xfrm>
            <a:off x="8503920" y="160020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1" name="Text 19"/>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OMS, raportul despre focar din 8 octombrie 2026 și pagina focarului (registru A519, A520).</a:t>
            </a:r>
            <a:endParaRPr lang="en-US" sz="900" dirty="0"/>
          </a:p>
        </p:txBody>
      </p:sp>
      <p:pic>
        <p:nvPicPr>
          <p:cNvPr id="22" name="Picture 21" descr="Mentimeter_OPT_DETECTIVI_C03.png"/>
          <p:cNvPicPr>
            <a:picLocks noChangeAspect="1"/>
          </p:cNvPicPr>
          <p:nvPr/>
        </p:nvPicPr>
        <p:blipFill>
          <a:blip r:embed="rId3"/>
          <a:stretch>
            <a:fillRect/>
          </a:stretch>
        </p:blipFill>
        <p:spPr>
          <a:xfrm>
            <a:off x="8817610" y="1600200"/>
            <a:ext cx="2435860" cy="2435860"/>
          </a:xfrm>
          <a:prstGeom prst="rect">
            <a:avLst/>
          </a:prstGeom>
        </p:spPr>
      </p:pic>
      <p:sp>
        <p:nvSpPr>
          <p:cNvPr id="23" name="TextBox 22"/>
          <p:cNvSpPr txBox="1"/>
          <p:nvPr/>
        </p:nvSpPr>
        <p:spPr>
          <a:xfrm>
            <a:off x="8503920" y="407416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CUVÂNTUL CARE SE REPETĂ ÎN RAPORT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„Confirmate”</a:t>
            </a:r>
            <a:endParaRPr lang="en-US" sz="3400" dirty="0"/>
          </a:p>
        </p:txBody>
      </p:sp>
      <p:sp>
        <p:nvSpPr>
          <p:cNvPr id="4" name="Text 2"/>
          <p:cNvSpPr/>
          <p:nvPr/>
        </p:nvSpPr>
        <p:spPr>
          <a:xfrm>
            <a:off x="594360" y="1417320"/>
            <a:ext cx="1097280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Letalitatea brută, de 48,2%, poate greși în ambele sensuri. Prea mare, ca la MERS, dacă cei gravi ajung mai des să fie testați. Sau prea mică:</a:t>
            </a:r>
            <a:endParaRPr lang="en-US" sz="1700" dirty="0"/>
          </a:p>
        </p:txBody>
      </p:sp>
      <p:sp>
        <p:nvSpPr>
          <p:cNvPr id="5" name="Shape 3"/>
          <p:cNvSpPr/>
          <p:nvPr/>
        </p:nvSpPr>
        <p:spPr>
          <a:xfrm>
            <a:off x="594360" y="2468880"/>
            <a:ext cx="5249930" cy="731520"/>
          </a:xfrm>
          <a:prstGeom prst="rect">
            <a:avLst/>
          </a:prstGeom>
          <a:solidFill>
            <a:srgbClr val="B02532"/>
          </a:solidFill>
          <a:ln w="12700">
            <a:solidFill>
              <a:srgbClr val="B02532"/>
            </a:solidFill>
            <a:prstDash val="solid"/>
          </a:ln>
        </p:spPr>
        <p:txBody>
          <a:bodyPr/>
          <a:p/>
        </p:txBody>
      </p:sp>
      <p:sp>
        <p:nvSpPr>
          <p:cNvPr id="6" name="Text 4"/>
          <p:cNvSpPr/>
          <p:nvPr/>
        </p:nvSpPr>
        <p:spPr>
          <a:xfrm>
            <a:off x="594360" y="3291840"/>
            <a:ext cx="5195066" cy="64008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4 205 muriseră</a:t>
            </a:r>
            <a:endParaRPr lang="en-US" sz="1500" dirty="0"/>
          </a:p>
        </p:txBody>
      </p:sp>
      <p:sp>
        <p:nvSpPr>
          <p:cNvPr id="7" name="Shape 5"/>
          <p:cNvSpPr/>
          <p:nvPr/>
        </p:nvSpPr>
        <p:spPr>
          <a:xfrm>
            <a:off x="5880866" y="2468880"/>
            <a:ext cx="2816000" cy="731520"/>
          </a:xfrm>
          <a:prstGeom prst="rect">
            <a:avLst/>
          </a:prstGeom>
          <a:solidFill>
            <a:srgbClr val="0E7C6B"/>
          </a:solidFill>
          <a:ln w="12700">
            <a:solidFill>
              <a:srgbClr val="0E7C6B"/>
            </a:solidFill>
            <a:prstDash val="solid"/>
          </a:ln>
        </p:spPr>
        <p:txBody>
          <a:bodyPr/>
          <a:p/>
        </p:txBody>
      </p:sp>
      <p:sp>
        <p:nvSpPr>
          <p:cNvPr id="8" name="Text 6"/>
          <p:cNvSpPr/>
          <p:nvPr/>
        </p:nvSpPr>
        <p:spPr>
          <a:xfrm>
            <a:off x="5880866" y="3291840"/>
            <a:ext cx="2761136" cy="64008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2 269 se vindecaseră</a:t>
            </a:r>
            <a:endParaRPr lang="en-US" sz="1500" dirty="0"/>
          </a:p>
        </p:txBody>
      </p:sp>
      <p:sp>
        <p:nvSpPr>
          <p:cNvPr id="9" name="Shape 7"/>
          <p:cNvSpPr/>
          <p:nvPr/>
        </p:nvSpPr>
        <p:spPr>
          <a:xfrm>
            <a:off x="8733442" y="2468880"/>
            <a:ext cx="2797142" cy="731520"/>
          </a:xfrm>
          <a:prstGeom prst="rect">
            <a:avLst/>
          </a:prstGeom>
          <a:solidFill>
            <a:srgbClr val="8A6100"/>
          </a:solidFill>
          <a:ln w="12700">
            <a:solidFill>
              <a:srgbClr val="8A6100"/>
            </a:solidFill>
            <a:prstDash val="solid"/>
          </a:ln>
        </p:spPr>
        <p:txBody>
          <a:bodyPr/>
          <a:p/>
        </p:txBody>
      </p:sp>
      <p:sp>
        <p:nvSpPr>
          <p:cNvPr id="10" name="Text 8"/>
          <p:cNvSpPr/>
          <p:nvPr/>
        </p:nvSpPr>
        <p:spPr>
          <a:xfrm>
            <a:off x="8733442" y="3291840"/>
            <a:ext cx="2742278" cy="640080"/>
          </a:xfrm>
          <a:prstGeom prst="rect">
            <a:avLst/>
          </a:prstGeom>
          <a:noFill/>
          <a:ln/>
        </p:spPr>
        <p:txBody>
          <a:bodyPr wrap="square" lIns="0" tIns="0" rIns="0" bIns="0" rtlCol="0" anchor="t"/>
          <a:lstStyle/>
          <a:p>
            <a:pPr indent="0" marL="0">
              <a:buNone/>
            </a:pPr>
            <a:r>
              <a:rPr lang="en-US" sz="1500" b="1" dirty="0">
                <a:solidFill>
                  <a:srgbClr val="8A6100"/>
                </a:solidFill>
                <a:latin typeface="Palatino Linotype" pitchFamily="34" charset="0"/>
                <a:ea typeface="Palatino Linotype" pitchFamily="34" charset="-122"/>
                <a:cs typeface="Palatino Linotype" pitchFamily="34" charset="-120"/>
              </a:rPr>
              <a:t>2 254 fără deznodământ raportat</a:t>
            </a:r>
            <a:endParaRPr lang="en-US" sz="1500" dirty="0"/>
          </a:p>
        </p:txBody>
      </p:sp>
      <p:sp>
        <p:nvSpPr>
          <p:cNvPr id="11" name="Text 9"/>
          <p:cNvSpPr/>
          <p:nvPr/>
        </p:nvSpPr>
        <p:spPr>
          <a:xfrm>
            <a:off x="594360" y="393192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din cei 8 728 de confirmați</a:t>
            </a:r>
            <a:endParaRPr lang="en-US" sz="1400" dirty="0"/>
          </a:p>
        </p:txBody>
      </p:sp>
      <p:sp>
        <p:nvSpPr>
          <p:cNvPr id="12" name="Shape 10"/>
          <p:cNvSpPr/>
          <p:nvPr/>
        </p:nvSpPr>
        <p:spPr>
          <a:xfrm>
            <a:off x="594360" y="4480560"/>
            <a:ext cx="10972800" cy="1417320"/>
          </a:xfrm>
          <a:prstGeom prst="roundRect">
            <a:avLst>
              <a:gd name="adj" fmla="val 5806"/>
            </a:avLst>
          </a:prstGeom>
          <a:solidFill>
            <a:srgbClr val="11121A"/>
          </a:solidFill>
          <a:ln w="12700">
            <a:solidFill>
              <a:srgbClr val="11121A"/>
            </a:solidFill>
            <a:prstDash val="solid"/>
          </a:ln>
        </p:spPr>
        <p:txBody>
          <a:bodyPr/>
          <a:p/>
        </p:txBody>
      </p:sp>
      <p:sp>
        <p:nvSpPr>
          <p:cNvPr id="13" name="Text 11"/>
          <p:cNvSpPr/>
          <p:nvPr/>
        </p:nvSpPr>
        <p:spPr>
          <a:xfrm>
            <a:off x="914400" y="4480560"/>
            <a:ext cx="10332720" cy="14173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Cei fără deznodământ sunt deja în numitor; cei care vor muri în zilele următoare nu sunt încă în numărător. Câți bolnavi a avut în realitate focarul nu se poate spune din raport.</a:t>
            </a:r>
            <a:endParaRPr lang="en-US" sz="1700" dirty="0"/>
          </a:p>
        </p:txBody>
      </p:sp>
      <p:sp>
        <p:nvSpPr>
          <p:cNvPr id="14" name="Text 12"/>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OMS, raportul din 8 octombrie 2026 (registru A519, A527, A528).</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RECAPITULARE</a:t>
            </a:r>
            <a:endParaRPr lang="en-US" sz="1300" dirty="0"/>
          </a:p>
        </p:txBody>
      </p:sp>
      <p:sp>
        <p:nvSpPr>
          <p:cNvPr id="5" name="Text 3"/>
          <p:cNvSpPr/>
          <p:nvPr/>
        </p:nvSpPr>
        <p:spPr>
          <a:xfrm>
            <a:off x="594360" y="1280160"/>
            <a:ext cx="10972800" cy="91440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Zece întrebări din poveștile de azi</a:t>
            </a:r>
            <a:endParaRPr lang="en-US" sz="40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arată ce s-a reținut din ședință.</a:t>
            </a:r>
            <a:endParaRPr lang="en-US" sz="1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faceți diferit de mâine</a:t>
            </a:r>
            <a:endParaRPr lang="en-US" sz="3100" dirty="0"/>
          </a:p>
        </p:txBody>
      </p:sp>
      <p:sp>
        <p:nvSpPr>
          <p:cNvPr id="4" name="Shape 2"/>
          <p:cNvSpPr/>
          <p:nvPr/>
        </p:nvSpPr>
        <p:spPr>
          <a:xfrm>
            <a:off x="594360" y="164592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5" name="Shape 3"/>
          <p:cNvSpPr/>
          <p:nvPr/>
        </p:nvSpPr>
        <p:spPr>
          <a:xfrm>
            <a:off x="868680" y="1801368"/>
            <a:ext cx="420624" cy="420624"/>
          </a:xfrm>
          <a:prstGeom prst="ellipse">
            <a:avLst/>
          </a:prstGeom>
          <a:solidFill>
            <a:srgbClr val="FF4757"/>
          </a:solidFill>
          <a:ln/>
        </p:spPr>
        <p:txBody>
          <a:bodyPr/>
          <a:p/>
        </p:txBody>
      </p:sp>
      <p:sp>
        <p:nvSpPr>
          <p:cNvPr id="6" name="Text 4"/>
          <p:cNvSpPr/>
          <p:nvPr/>
        </p:nvSpPr>
        <p:spPr>
          <a:xfrm>
            <a:off x="868680" y="1801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cifră despre o boală: cine trebuia să fie văzut, și de către cine, ca să intre în ea?</a:t>
            </a:r>
            <a:endParaRPr lang="en-US" sz="1700" dirty="0"/>
          </a:p>
        </p:txBody>
      </p:sp>
      <p:sp>
        <p:nvSpPr>
          <p:cNvPr id="8" name="Shape 6"/>
          <p:cNvSpPr/>
          <p:nvPr/>
        </p:nvSpPr>
        <p:spPr>
          <a:xfrm>
            <a:off x="594360" y="2487168"/>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9" name="Shape 7"/>
          <p:cNvSpPr/>
          <p:nvPr/>
        </p:nvSpPr>
        <p:spPr>
          <a:xfrm>
            <a:off x="868680" y="2642616"/>
            <a:ext cx="420624" cy="420624"/>
          </a:xfrm>
          <a:prstGeom prst="ellipse">
            <a:avLst/>
          </a:prstGeom>
          <a:solidFill>
            <a:srgbClr val="FF4757"/>
          </a:solidFill>
          <a:ln/>
        </p:spPr>
        <p:txBody>
          <a:bodyPr/>
          <a:p/>
        </p:txBody>
      </p:sp>
      <p:sp>
        <p:nvSpPr>
          <p:cNvPr id="10" name="Text 8"/>
          <p:cNvSpPr/>
          <p:nvPr/>
        </p:nvSpPr>
        <p:spPr>
          <a:xfrm>
            <a:off x="868680" y="264261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87168"/>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Bolnavi după o masă comună: spuneți-i medicului că mai sunt și alți colegi bolnavi.</a:t>
            </a:r>
            <a:endParaRPr lang="en-US" sz="1700" dirty="0"/>
          </a:p>
        </p:txBody>
      </p:sp>
      <p:sp>
        <p:nvSpPr>
          <p:cNvPr id="12" name="Shape 10"/>
          <p:cNvSpPr/>
          <p:nvPr/>
        </p:nvSpPr>
        <p:spPr>
          <a:xfrm>
            <a:off x="594360" y="3328416"/>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3" name="Shape 11"/>
          <p:cNvSpPr/>
          <p:nvPr/>
        </p:nvSpPr>
        <p:spPr>
          <a:xfrm>
            <a:off x="868680" y="3483864"/>
            <a:ext cx="420624" cy="420624"/>
          </a:xfrm>
          <a:prstGeom prst="ellipse">
            <a:avLst/>
          </a:prstGeom>
          <a:solidFill>
            <a:srgbClr val="FF4757"/>
          </a:solidFill>
          <a:ln/>
        </p:spPr>
        <p:txBody>
          <a:bodyPr/>
          <a:p/>
        </p:txBody>
      </p:sp>
      <p:sp>
        <p:nvSpPr>
          <p:cNvPr id="14" name="Text 12"/>
          <p:cNvSpPr/>
          <p:nvPr/>
        </p:nvSpPr>
        <p:spPr>
          <a:xfrm>
            <a:off x="868680" y="34838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28416"/>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diagnostic de boală cu declarare obligatorie: trimiteți fișa de declarare.</a:t>
            </a:r>
            <a:endParaRPr lang="en-US" sz="1700" dirty="0"/>
          </a:p>
        </p:txBody>
      </p:sp>
      <p:sp>
        <p:nvSpPr>
          <p:cNvPr id="16" name="Shape 14"/>
          <p:cNvSpPr/>
          <p:nvPr/>
        </p:nvSpPr>
        <p:spPr>
          <a:xfrm>
            <a:off x="594360" y="4169664"/>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17" name="Shape 15"/>
          <p:cNvSpPr/>
          <p:nvPr/>
        </p:nvSpPr>
        <p:spPr>
          <a:xfrm>
            <a:off x="868680" y="4325112"/>
            <a:ext cx="420624" cy="420624"/>
          </a:xfrm>
          <a:prstGeom prst="ellipse">
            <a:avLst/>
          </a:prstGeom>
          <a:solidFill>
            <a:srgbClr val="FF4757"/>
          </a:solidFill>
          <a:ln/>
        </p:spPr>
        <p:txBody>
          <a:bodyPr/>
          <a:p/>
        </p:txBody>
      </p:sp>
      <p:sp>
        <p:nvSpPr>
          <p:cNvPr id="18" name="Text 16"/>
          <p:cNvSpPr/>
          <p:nvPr/>
        </p:nvSpPr>
        <p:spPr>
          <a:xfrm>
            <a:off x="868680" y="43251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169664"/>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certificat de deces: scrieți lanțul întreg; pe ultimul rând, boala care a pornit totul.</a:t>
            </a:r>
            <a:endParaRPr lang="en-US" sz="1700" dirty="0"/>
          </a:p>
        </p:txBody>
      </p:sp>
      <p:sp>
        <p:nvSpPr>
          <p:cNvPr id="20" name="Shape 18"/>
          <p:cNvSpPr/>
          <p:nvPr/>
        </p:nvSpPr>
        <p:spPr>
          <a:xfrm>
            <a:off x="594360" y="5010912"/>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21" name="Shape 19"/>
          <p:cNvSpPr/>
          <p:nvPr/>
        </p:nvSpPr>
        <p:spPr>
          <a:xfrm>
            <a:off x="868680" y="5166360"/>
            <a:ext cx="420624" cy="420624"/>
          </a:xfrm>
          <a:prstGeom prst="ellipse">
            <a:avLst/>
          </a:prstGeom>
          <a:solidFill>
            <a:srgbClr val="FF4757"/>
          </a:solidFill>
          <a:ln/>
        </p:spPr>
        <p:txBody>
          <a:bodyPr/>
          <a:p/>
        </p:txBody>
      </p:sp>
      <p:sp>
        <p:nvSpPr>
          <p:cNvPr id="22" name="Text 20"/>
          <p:cNvSpPr/>
          <p:nvPr/>
        </p:nvSpPr>
        <p:spPr>
          <a:xfrm>
            <a:off x="868680" y="5166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5010912"/>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Două cifre despre aceeași pandemie: nu „care e adevărată?”, ci „ce a numărat fiecare?”.</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Biletul de ieșire</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Luni, pe pagina cursului, veți găsi două modificări făcute pe baza răspunsurilor.</a:t>
            </a:r>
            <a:endParaRPr lang="en-US" sz="1700" dirty="0"/>
          </a:p>
        </p:txBody>
      </p:sp>
      <p:pic>
        <p:nvPicPr>
          <p:cNvPr id="17" name="Picture 16" descr="Mentimeter_OPT_DETECTIVI_C03.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3 - Cine ajunge în cifră</dc:title>
  <dc:subject>PptxGenJS Presentation</dc:subject>
  <dc:creator>Conf. Univ. Dr. Adrian Pana</dc:creator>
  <cp:lastModifiedBy>Conf. Univ. Dr. Adrian Pana</cp:lastModifiedBy>
  <cp:revision>1</cp:revision>
  <dcterms:created xsi:type="dcterms:W3CDTF">2026-10-11T09:51:12Z</dcterms:created>
  <dcterms:modified xsi:type="dcterms:W3CDTF">2026-10-11T09:51:12Z</dcterms:modified>
  <cp:keywords>sursa_amprenta=65865c4a0d9ef0cc; proiectie</cp:keywords>
</cp:coreProperties>
</file>