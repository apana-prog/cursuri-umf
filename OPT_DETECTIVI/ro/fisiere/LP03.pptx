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practică a treia, pe care o facem pe Teams, continuă cursul: aceeași întrebare, pusă de data aceasta de voi. Dacă semnalul din apele uzate vine înaintea fișei de declarare, cine decide, când și pe ce? Azi porniți din capătul celălalt al supravegherii: de la ce ajunge în canalizare, unde intră și cei care nu au văzut niciodată un medic.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Cazul este construit pentru exercițiu: orașul, stația, oamenii și cifrele sunt inventate, iar cazul nu numește virusul, ca să nu confundați cifrele cu datele unei boli reale. Un oraș universitar are o singură stație de epurare, la care ajung apele uzate ale aproape tuturor locuitorilor. De două ori pe săptămână, operatorul stației ia o probă din apa care intră în stație, adunată pe parcursul a 24 de ore, iar un laborator măsoară în ea materialul genetic al unui virus respirator. Rezultatele ajung la autoritatea de sănătate publică a județului. Tot acolo ajung, ca de obicei, fișele de declarare ale cazurilor confirmate prin test. La începutul lui octombrie, ambele cifre sunt mici și stabile. Echipa care citește săptămânal cele două curbe sunteți voi.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Înainte de orice calcul, un vot anonim pe Mentimeter: ar putea afla autoritatea de un nou val al acestui virus în oraș înainte ca medicii să declare primele cazuri în plus? Intrați cu codul de pe ecran sau din linkul pus în chat și alegeți una dintre cele patru variante. Ne întoarcem la acest vot la sfârșitul lucrării.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voastră se face într-un formular Microsoft Forms. Pe Teams, fiecare îl completează pe cont propriu, de pe telefon sau de pe calculator: scanați codul de pe ecran sau deschideți linkul din chat. La prima întrebare scrieți grupa de studiu și inițialele voastre. Formularul conține cazul și primii trei pași. Fiecare pas se deschide numai după ce alegeți varianta potrivită la întrebarea cu variante a pasului dinainte; după o alegere greșită primiți un indiciu și reveniți la întrebare. Valorile pe care le calculați nu opresc trecerea mai departe: le vedeți corectate, cu explicația, după trimiterea formularului. Formularul nu intră în notă. Dacă ceva nu este clar, scrieți în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Pasul întâi: două curbe, aceleași șase săptămâni. Cazurile raportate parcurg toată piramida supravegherii, pe care ați întâlnit-o la cursul al treilea: omul se îmbolnăvește, merge la medic, face un test, testul iese pozitiv, cazul este declarat. Apele uzate nu așteaptă niciuna dintre aceste trepte. Ele adună ce elimină toți cei legați la canalizare, cu simptome sau fără, indiferent dacă au mers la medic. Semnalul din tabel este media celor două probe ale săptămânii, iar cazurile sunt numărate după săptămâna în care au fost raportate. Citiți cele două curbe una lângă alta: în ce săptămână s-a dublat întâi fiecare și cu câte zile a venit semnalul înainte. Apoi alegeți explicația în formular. Când ați terminat pasul, folosiți reacția „mână ridicată” din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Pasul al doilea: o săptămână ploioasă. Un site de știri local preia cifra laboratorului și titrează că valul de viroză s-a înjumătățit într-o săptămână; și titlul este construit pentru exercițiu. Înainte să-l credeți, gândiți-vă de ce depinde concentrația din apă: de câtă substanță ajunge în canalizare și de câtă apă o poartă. Dacă intră în canalizare multă apă de ploaie, aceeași cantitate de virus se împarte la mai mulți litri. Laboratorul raportează concentrația, iar stația raportează debitul, adică volumul de apă care a intrat în ea într-o zi. Cantitatea pe zi este concentrația înmulțită cu debitul. Calculați-o pentru săptămâna a șasea și pentru săptămâna a șaptea, cu aplicația de calcul a telefonului sau a calculatorului, apoi alegeți varianta în formular. Ați crede acest titlu?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Pasul al treilea: ce faceți cu semnalul. Sunteți la finalul săptămânii a treia: semnalul din apele uzate s-a dublat, iar cazurile raportate aproape nu s-au schimbat. Aici se mută decizia: autoritatea nu mai trebuie să aștepte fișele ca să știe că se întâmplă ceva. Rămâne de hotărât ce face cu această informație. Gândiți-vă la ce spune semnalul și la ce nu spune, la ce câștigă sau pierde fiecare măsură și la cine este atins de ea. Alegeți în formular una dintre cele patru variante, apoi trimiteți formularul. Argumentul alegerii voastre îl puteți scrie în chat, într-o frază.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Să vedem ce ați răspuns. După fiecare pas ne uităm împreună la distribuția răspunsurilor din formular și discutăm unde s-a greșit cel mai des și de ce. Formularul arată ce a rămas neclar, iar greșelile frecvente sunt cele mai utile, pentru că arată ce trebuie reluat. Scrieți în chat, într-o frază, ce v-a condus spre varianta aleasă; dacă ați ales altfel decât majoritatea, spuneți-ne de 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Sinteza: cine decide, când și pe ce. Când: semnalul vine înaintea fișei, pentru că apele uzate adună ce elimină toți cei legați la canalizare, cu simptome sau fără, indiferent dacă au mers la medic; semnalul ocolește, așadar, piramida supravegherii. Pe ce: concentrația din apă depinde și de câtă apă curge, așa că semnalul se citește față de apa și de oamenii din spatele probei; contează cantitatea pe zi. Cine: rezultatele ajung la autoritatea de sănătate publică. Ea decide ce face cu ele și citește semnalul împreună cu datele clinice, pe care semnalul le completează fără să le înlocuiască. Articolul 17 al directivei europene prevede comunicarea rezultatelor către autoritățile de sănătate publică și se oprește aici: nu spune ce fac autoritățile mai departe; decizia rămâne la oameni.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înseamnă toate acestea pentru voi. Ca studenți, o probă din apa care iese dintr-un cămin vă privește pe voi: aveți dreptul să întrebați ce se caută în ea, cine vede rezultatul și ce urmează după un rezultat pozitiv. Întrebarea despre date nu este o formalitate: într-o analiză a 53 de studii despre testarea apelor uzate pentru virusul SARS-CoV-2 la nivelul clădirilor sau al cartierelor, numai 5 aveau clar un plan de gestionare a datelor. Ca viitori medici, un semnal din apele uzate este un motiv să fiți atenți la pacienții cu simptome, nu o listă de bolnavi. Iar când citiți că virusul a crescut sau a scăzut în apele uzate, întrebați întâi dacă a plouat și câți oameni sunt legați la stație.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doua oră o lucrați singuri, acasă, într-un formular individual, completat cu contul UMF până la ședința următoare. Are trei părți: pasul al patrulea, despre canalizarea unui cămin, o întrebare despre cum se raportează semnalul la numărul locuitorilor și una despre ce cere legislația europeană. Linkul este pe ecran și în chat. Formularul nu intră în notă.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Biletul de ieșire, anonim, pe Mentimeter: intrați cu codul de pe ecran sau din linkul din chat și răspundeți, în câte o propoziție, la trei întrebări: ce a fost util, unde v-am pierdut și ce ați putea folosi mâine. Răspunsurile arată ce trebuie reluat; la începutul săptămânii următoare aflați ce s-a schimbat pe baza 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82032"/>
          </a:solidFill>
          <a:ln/>
        </p:spPr>
        <p:txBody>
          <a:bodyPr/>
          <a:p/>
        </p:txBody>
      </p:sp>
      <p:sp>
        <p:nvSpPr>
          <p:cNvPr id="3" name="Shape 1"/>
          <p:cNvSpPr/>
          <p:nvPr/>
        </p:nvSpPr>
        <p:spPr>
          <a:xfrm>
            <a:off x="10332720" y="3840480"/>
            <a:ext cx="3474720" cy="3474720"/>
          </a:xfrm>
          <a:prstGeom prst="ellipse">
            <a:avLst/>
          </a:prstGeom>
          <a:solidFill>
            <a:srgbClr val="182032"/>
          </a:solidFill>
          <a:ln/>
        </p:spPr>
        <p:txBody>
          <a:bodyPr/>
          <a:p/>
        </p:txBody>
      </p:sp>
      <p:sp>
        <p:nvSpPr>
          <p:cNvPr id="4" name="Shape 2"/>
          <p:cNvSpPr/>
          <p:nvPr/>
        </p:nvSpPr>
        <p:spPr>
          <a:xfrm>
            <a:off x="685800" y="777240"/>
            <a:ext cx="4023360" cy="329184"/>
          </a:xfrm>
          <a:prstGeom prst="roundRect">
            <a:avLst>
              <a:gd name="adj" fmla="val 50000"/>
            </a:avLst>
          </a:prstGeom>
          <a:solidFill>
            <a:srgbClr val="27D3BE"/>
          </a:solidFill>
          <a:ln w="12700">
            <a:solidFill>
              <a:srgbClr val="27D3BE"/>
            </a:solidFill>
            <a:prstDash val="solid"/>
          </a:ln>
        </p:spPr>
        <p:txBody>
          <a:bodyPr/>
          <a:p/>
        </p:txBody>
      </p:sp>
      <p:sp>
        <p:nvSpPr>
          <p:cNvPr id="5" name="Text 3"/>
          <p:cNvSpPr/>
          <p:nvPr/>
        </p:nvSpPr>
        <p:spPr>
          <a:xfrm>
            <a:off x="685800" y="777240"/>
            <a:ext cx="402336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LUCRAREA PRACTICĂ A TREIA</a:t>
            </a:r>
            <a:endParaRPr lang="en-US" sz="1300" dirty="0"/>
          </a:p>
        </p:txBody>
      </p:sp>
      <p:sp>
        <p:nvSpPr>
          <p:cNvPr id="6" name="Text 4"/>
          <p:cNvSpPr/>
          <p:nvPr/>
        </p:nvSpPr>
        <p:spPr>
          <a:xfrm>
            <a:off x="685800" y="1371600"/>
            <a:ext cx="10607040" cy="822960"/>
          </a:xfrm>
          <a:prstGeom prst="rect">
            <a:avLst/>
          </a:prstGeom>
          <a:noFill/>
          <a:ln/>
        </p:spPr>
        <p:txBody>
          <a:bodyPr wrap="square" lIns="0" tIns="0" rIns="0" bIns="0" rtlCol="0" anchor="t"/>
          <a:lstStyle/>
          <a:p>
            <a:pPr indent="0" marL="0">
              <a:buNone/>
            </a:pPr>
            <a:r>
              <a:rPr lang="en-US" sz="4600" b="1" dirty="0">
                <a:solidFill>
                  <a:srgbClr val="FFFFFF"/>
                </a:solidFill>
                <a:latin typeface="Palatino Linotype" pitchFamily="34" charset="0"/>
                <a:ea typeface="Palatino Linotype" pitchFamily="34" charset="-122"/>
                <a:cs typeface="Palatino Linotype" pitchFamily="34" charset="-120"/>
              </a:rPr>
              <a:t>Supravegherea apelor uzate</a:t>
            </a:r>
            <a:endParaRPr lang="en-US" sz="4600" dirty="0"/>
          </a:p>
        </p:txBody>
      </p:sp>
      <p:sp>
        <p:nvSpPr>
          <p:cNvPr id="7" name="Text 5"/>
          <p:cNvSpPr/>
          <p:nvPr/>
        </p:nvSpPr>
        <p:spPr>
          <a:xfrm>
            <a:off x="685800" y="2148840"/>
            <a:ext cx="9875520" cy="822960"/>
          </a:xfrm>
          <a:prstGeom prst="rect">
            <a:avLst/>
          </a:prstGeom>
          <a:noFill/>
          <a:ln/>
        </p:spPr>
        <p:txBody>
          <a:bodyPr wrap="square" lIns="0" tIns="0" rIns="0" bIns="0" rtlCol="0" anchor="t"/>
          <a:lstStyle/>
          <a:p>
            <a:pPr indent="0" marL="0">
              <a:buNone/>
            </a:pPr>
            <a:r>
              <a:rPr lang="en-US" sz="4600" b="1" dirty="0">
                <a:solidFill>
                  <a:srgbClr val="27D3BE"/>
                </a:solidFill>
                <a:latin typeface="Palatino Linotype" pitchFamily="34" charset="0"/>
                <a:ea typeface="Palatino Linotype" pitchFamily="34" charset="-122"/>
                <a:cs typeface="Palatino Linotype" pitchFamily="34" charset="-120"/>
              </a:rPr>
              <a:t>Semnalul care vine</a:t>
            </a:r>
            <a:endParaRPr lang="en-US" sz="4600" dirty="0"/>
          </a:p>
        </p:txBody>
      </p:sp>
      <p:sp>
        <p:nvSpPr>
          <p:cNvPr id="8" name="Text 6"/>
          <p:cNvSpPr/>
          <p:nvPr/>
        </p:nvSpPr>
        <p:spPr>
          <a:xfrm>
            <a:off x="685800" y="2926080"/>
            <a:ext cx="9875520" cy="822960"/>
          </a:xfrm>
          <a:prstGeom prst="rect">
            <a:avLst/>
          </a:prstGeom>
          <a:noFill/>
          <a:ln/>
        </p:spPr>
        <p:txBody>
          <a:bodyPr wrap="square" lIns="0" tIns="0" rIns="0" bIns="0" rtlCol="0" anchor="t"/>
          <a:lstStyle/>
          <a:p>
            <a:pPr indent="0" marL="0">
              <a:buNone/>
            </a:pPr>
            <a:r>
              <a:rPr lang="en-US" sz="4600" b="1" dirty="0">
                <a:solidFill>
                  <a:srgbClr val="27D3BE"/>
                </a:solidFill>
                <a:latin typeface="Palatino Linotype" pitchFamily="34" charset="0"/>
                <a:ea typeface="Palatino Linotype" pitchFamily="34" charset="-122"/>
                <a:cs typeface="Palatino Linotype" pitchFamily="34" charset="-120"/>
              </a:rPr>
              <a:t>înaintea fișei</a:t>
            </a:r>
            <a:endParaRPr lang="en-US" sz="4600" dirty="0"/>
          </a:p>
        </p:txBody>
      </p:sp>
      <p:sp>
        <p:nvSpPr>
          <p:cNvPr id="9" name="Text 7"/>
          <p:cNvSpPr/>
          <p:nvPr/>
        </p:nvSpPr>
        <p:spPr>
          <a:xfrm>
            <a:off x="685800" y="3886200"/>
            <a:ext cx="10241280" cy="45720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Un oraș construit pentru exercițiu, cu o stație de epurare și o autoritate care citește două curbe</a:t>
            </a:r>
            <a:endParaRPr lang="en-US" sz="1800" dirty="0"/>
          </a:p>
        </p:txBody>
      </p:sp>
      <p:sp>
        <p:nvSpPr>
          <p:cNvPr id="10" name="Shape 8"/>
          <p:cNvSpPr/>
          <p:nvPr/>
        </p:nvSpPr>
        <p:spPr>
          <a:xfrm>
            <a:off x="713232" y="4526280"/>
            <a:ext cx="1280160" cy="27432"/>
          </a:xfrm>
          <a:prstGeom prst="rect">
            <a:avLst/>
          </a:prstGeom>
          <a:solidFill>
            <a:srgbClr val="FF4757"/>
          </a:solidFill>
          <a:ln/>
        </p:spPr>
        <p:txBody>
          <a:bodyPr/>
          <a:p/>
        </p:txBody>
      </p:sp>
      <p:sp>
        <p:nvSpPr>
          <p:cNvPr id="11" name="Text 9"/>
          <p:cNvSpPr/>
          <p:nvPr/>
        </p:nvSpPr>
        <p:spPr>
          <a:xfrm>
            <a:off x="685800" y="4800600"/>
            <a:ext cx="1005840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Detectivii epidemiilor: cum ucid bolile milioane de oameni și cum le oprim</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CAZ CONSTRUIT PENTRU EXERCIȚIU · OCTOMBRIE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Un oraș cu o singură stație de epurare</a:t>
            </a:r>
            <a:endParaRPr lang="en-US" sz="3400" dirty="0"/>
          </a:p>
        </p:txBody>
      </p:sp>
      <p:sp>
        <p:nvSpPr>
          <p:cNvPr id="4" name="Shape 2"/>
          <p:cNvSpPr/>
          <p:nvPr/>
        </p:nvSpPr>
        <p:spPr>
          <a:xfrm>
            <a:off x="594360" y="1783080"/>
            <a:ext cx="5394960" cy="2651760"/>
          </a:xfrm>
          <a:prstGeom prst="roundRect">
            <a:avLst>
              <a:gd name="adj" fmla="val 3103"/>
            </a:avLst>
          </a:prstGeom>
          <a:solidFill>
            <a:srgbClr val="11121A"/>
          </a:solidFill>
          <a:ln w="12700">
            <a:solidFill>
              <a:srgbClr val="11121A"/>
            </a:solidFill>
            <a:prstDash val="solid"/>
          </a:ln>
        </p:spPr>
        <p:txBody>
          <a:bodyPr/>
          <a:p/>
        </p:txBody>
      </p:sp>
      <p:sp>
        <p:nvSpPr>
          <p:cNvPr id="5" name="Text 3"/>
          <p:cNvSpPr/>
          <p:nvPr/>
        </p:nvSpPr>
        <p:spPr>
          <a:xfrm>
            <a:off x="868680" y="1920240"/>
            <a:ext cx="4846320" cy="36576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Stația de epurare</a:t>
            </a:r>
            <a:endParaRPr lang="en-US" sz="1700" dirty="0"/>
          </a:p>
        </p:txBody>
      </p:sp>
      <p:sp>
        <p:nvSpPr>
          <p:cNvPr id="6" name="Shape 4"/>
          <p:cNvSpPr/>
          <p:nvPr/>
        </p:nvSpPr>
        <p:spPr>
          <a:xfrm>
            <a:off x="868680" y="2331720"/>
            <a:ext cx="4846320" cy="18288"/>
          </a:xfrm>
          <a:prstGeom prst="rect">
            <a:avLst/>
          </a:prstGeom>
          <a:solidFill>
            <a:srgbClr val="2E3142"/>
          </a:solidFill>
          <a:ln w="12700">
            <a:solidFill>
              <a:srgbClr val="2E3142"/>
            </a:solidFill>
            <a:prstDash val="solid"/>
          </a:ln>
        </p:spPr>
        <p:txBody>
          <a:bodyPr/>
          <a:p/>
        </p:txBody>
      </p:sp>
      <p:sp>
        <p:nvSpPr>
          <p:cNvPr id="7" name="Text 5"/>
          <p:cNvSpPr/>
          <p:nvPr/>
        </p:nvSpPr>
        <p:spPr>
          <a:xfrm>
            <a:off x="868680" y="2514600"/>
            <a:ext cx="4846320" cy="182880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De două ori pe săptămână, o probă din apa care intră în stație, pe 24 de ore. Un laborator măsoară un virus respirator. Rezultatele ajung la autoritatea de sănătate publică.</a:t>
            </a:r>
            <a:endParaRPr lang="en-US" sz="1800" dirty="0"/>
          </a:p>
        </p:txBody>
      </p:sp>
      <p:sp>
        <p:nvSpPr>
          <p:cNvPr id="8" name="Shape 6"/>
          <p:cNvSpPr/>
          <p:nvPr/>
        </p:nvSpPr>
        <p:spPr>
          <a:xfrm>
            <a:off x="6172200" y="1783080"/>
            <a:ext cx="5394960" cy="2651760"/>
          </a:xfrm>
          <a:prstGeom prst="roundRect">
            <a:avLst>
              <a:gd name="adj" fmla="val 3103"/>
            </a:avLst>
          </a:prstGeom>
          <a:solidFill>
            <a:srgbClr val="ECEAE4"/>
          </a:solidFill>
          <a:ln w="12700">
            <a:solidFill>
              <a:srgbClr val="ECEAE4"/>
            </a:solidFill>
            <a:prstDash val="solid"/>
          </a:ln>
        </p:spPr>
        <p:txBody>
          <a:bodyPr/>
          <a:p/>
        </p:txBody>
      </p:sp>
      <p:sp>
        <p:nvSpPr>
          <p:cNvPr id="9" name="Text 7"/>
          <p:cNvSpPr/>
          <p:nvPr/>
        </p:nvSpPr>
        <p:spPr>
          <a:xfrm>
            <a:off x="6446520" y="1920240"/>
            <a:ext cx="4846320" cy="36576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Fișele de declarare</a:t>
            </a:r>
            <a:endParaRPr lang="en-US" sz="1700" dirty="0"/>
          </a:p>
        </p:txBody>
      </p:sp>
      <p:sp>
        <p:nvSpPr>
          <p:cNvPr id="10" name="Shape 8"/>
          <p:cNvSpPr/>
          <p:nvPr/>
        </p:nvSpPr>
        <p:spPr>
          <a:xfrm>
            <a:off x="6446520" y="2331720"/>
            <a:ext cx="4846320" cy="18288"/>
          </a:xfrm>
          <a:prstGeom prst="rect">
            <a:avLst/>
          </a:prstGeom>
          <a:solidFill>
            <a:srgbClr val="C9C6BE"/>
          </a:solidFill>
          <a:ln w="12700">
            <a:solidFill>
              <a:srgbClr val="C9C6BE"/>
            </a:solidFill>
            <a:prstDash val="solid"/>
          </a:ln>
        </p:spPr>
        <p:txBody>
          <a:bodyPr/>
          <a:p/>
        </p:txBody>
      </p:sp>
      <p:sp>
        <p:nvSpPr>
          <p:cNvPr id="11" name="Text 9"/>
          <p:cNvSpPr/>
          <p:nvPr/>
        </p:nvSpPr>
        <p:spPr>
          <a:xfrm>
            <a:off x="6446520" y="2514600"/>
            <a:ext cx="4846320" cy="18288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Autoritatea primește și fișele cazurilor confirmate prin test. La începutul lui octombrie, ambele cifre sunt mici și stabile.</a:t>
            </a:r>
            <a:endParaRPr lang="en-US" sz="1800" dirty="0"/>
          </a:p>
        </p:txBody>
      </p:sp>
      <p:sp>
        <p:nvSpPr>
          <p:cNvPr id="12" name="Text 10"/>
          <p:cNvSpPr/>
          <p:nvPr/>
        </p:nvSpPr>
        <p:spPr>
          <a:xfrm>
            <a:off x="594360" y="4754880"/>
            <a:ext cx="10972800" cy="548640"/>
          </a:xfrm>
          <a:prstGeom prst="rect">
            <a:avLst/>
          </a:prstGeom>
          <a:noFill/>
          <a:ln/>
        </p:spPr>
        <p:txBody>
          <a:bodyPr wrap="square" lIns="0" tIns="0" rIns="0" bIns="0" rtlCol="0" anchor="t"/>
          <a:lstStyle/>
          <a:p>
            <a:pPr indent="0" marL="0">
              <a:buNone/>
            </a:pPr>
            <a:r>
              <a:rPr lang="en-US" sz="2600" b="1" dirty="0">
                <a:solidFill>
                  <a:srgbClr val="B02532"/>
                </a:solidFill>
                <a:latin typeface="Palatino Linotype" pitchFamily="34" charset="0"/>
                <a:ea typeface="Palatino Linotype" pitchFamily="34" charset="-122"/>
                <a:cs typeface="Palatino Linotype" pitchFamily="34" charset="-120"/>
              </a:rPr>
              <a:t>Echipa care citește cele două curbe sunteți voi.</a:t>
            </a:r>
            <a:endParaRPr lang="en-US" sz="2600" dirty="0"/>
          </a:p>
        </p:txBody>
      </p:sp>
      <p:sp>
        <p:nvSpPr>
          <p:cNvPr id="13" name="Text 11"/>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Caz construit: orașul, stația și cifrele sunt inventate; cazul nu numește virusul</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VOT ANONIM · TELEFON</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ÎNAINTE DE ORICE CALCUL</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Ar afla autoritatea de un nou val înaintea medicilor?</a:t>
            </a:r>
            <a:endParaRPr lang="en-US" sz="3200" dirty="0"/>
          </a:p>
        </p:txBody>
      </p:sp>
      <p:sp>
        <p:nvSpPr>
          <p:cNvPr id="6" name="Text 4"/>
          <p:cNvSpPr/>
          <p:nvPr/>
        </p:nvSpPr>
        <p:spPr>
          <a:xfrm>
            <a:off x="594360" y="1691640"/>
            <a:ext cx="10972800" cy="457200"/>
          </a:xfrm>
          <a:prstGeom prst="rect">
            <a:avLst/>
          </a:prstGeom>
          <a:noFill/>
          <a:ln/>
        </p:spPr>
        <p:txBody>
          <a:bodyPr wrap="square" lIns="0" tIns="0" rIns="0" bIns="0" rtlCol="0" anchor="t"/>
          <a:lstStyle/>
          <a:p>
            <a:pPr indent="0" marL="0">
              <a:buNone/>
            </a:pPr>
            <a:r>
              <a:rPr lang="en-US" sz="1800" i="1" dirty="0">
                <a:solidFill>
                  <a:srgbClr val="959BB0"/>
                </a:solidFill>
                <a:latin typeface="Palatino Linotype" pitchFamily="34" charset="0"/>
                <a:ea typeface="Palatino Linotype" pitchFamily="34" charset="-122"/>
                <a:cs typeface="Palatino Linotype" pitchFamily="34" charset="-120"/>
              </a:rPr>
              <a:t>Un nou val al acestui virus, în oraș, înainte ca medicii să declare primele cazuri în plus</a:t>
            </a:r>
            <a:endParaRPr lang="en-US" sz="1800" dirty="0"/>
          </a:p>
        </p:txBody>
      </p:sp>
      <p:sp>
        <p:nvSpPr>
          <p:cNvPr id="7" name="Shape 5"/>
          <p:cNvSpPr/>
          <p:nvPr/>
        </p:nvSpPr>
        <p:spPr>
          <a:xfrm>
            <a:off x="594360" y="2377440"/>
            <a:ext cx="7498080" cy="749808"/>
          </a:xfrm>
          <a:prstGeom prst="roundRect">
            <a:avLst>
              <a:gd name="adj" fmla="val 10976"/>
            </a:avLst>
          </a:prstGeom>
          <a:solidFill>
            <a:srgbClr val="1D1F2B"/>
          </a:solidFill>
          <a:ln w="12700">
            <a:solidFill>
              <a:srgbClr val="1D1F2B"/>
            </a:solidFill>
            <a:prstDash val="solid"/>
          </a:ln>
        </p:spPr>
        <p:txBody>
          <a:bodyPr/>
          <a:p/>
        </p:txBody>
      </p:sp>
      <p:sp>
        <p:nvSpPr>
          <p:cNvPr id="8" name="Shape 6"/>
          <p:cNvSpPr/>
          <p:nvPr/>
        </p:nvSpPr>
        <p:spPr>
          <a:xfrm>
            <a:off x="914400" y="2542032"/>
            <a:ext cx="420624" cy="420624"/>
          </a:xfrm>
          <a:prstGeom prst="ellipse">
            <a:avLst/>
          </a:prstGeom>
          <a:solidFill>
            <a:srgbClr val="FFC24B"/>
          </a:solidFill>
          <a:ln/>
        </p:spPr>
        <p:txBody>
          <a:bodyPr/>
          <a:p/>
        </p:txBody>
      </p:sp>
      <p:sp>
        <p:nvSpPr>
          <p:cNvPr id="9" name="Text 7"/>
          <p:cNvSpPr/>
          <p:nvPr/>
        </p:nvSpPr>
        <p:spPr>
          <a:xfrm>
            <a:off x="914400" y="25420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0" name="Text 8"/>
          <p:cNvSpPr/>
          <p:nvPr/>
        </p:nvSpPr>
        <p:spPr>
          <a:xfrm>
            <a:off x="1600200" y="2377440"/>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Sigur da</a:t>
            </a:r>
            <a:endParaRPr lang="en-US" sz="2200" dirty="0"/>
          </a:p>
        </p:txBody>
      </p:sp>
      <p:sp>
        <p:nvSpPr>
          <p:cNvPr id="11" name="Shape 9"/>
          <p:cNvSpPr/>
          <p:nvPr/>
        </p:nvSpPr>
        <p:spPr>
          <a:xfrm>
            <a:off x="594360" y="3273552"/>
            <a:ext cx="7498080" cy="749808"/>
          </a:xfrm>
          <a:prstGeom prst="roundRect">
            <a:avLst>
              <a:gd name="adj" fmla="val 10976"/>
            </a:avLst>
          </a:prstGeom>
          <a:solidFill>
            <a:srgbClr val="1D1F2B"/>
          </a:solidFill>
          <a:ln w="12700">
            <a:solidFill>
              <a:srgbClr val="1D1F2B"/>
            </a:solidFill>
            <a:prstDash val="solid"/>
          </a:ln>
        </p:spPr>
        <p:txBody>
          <a:bodyPr/>
          <a:p/>
        </p:txBody>
      </p:sp>
      <p:sp>
        <p:nvSpPr>
          <p:cNvPr id="12" name="Shape 10"/>
          <p:cNvSpPr/>
          <p:nvPr/>
        </p:nvSpPr>
        <p:spPr>
          <a:xfrm>
            <a:off x="914400" y="3438144"/>
            <a:ext cx="420624" cy="420624"/>
          </a:xfrm>
          <a:prstGeom prst="ellipse">
            <a:avLst/>
          </a:prstGeom>
          <a:solidFill>
            <a:srgbClr val="FFC24B"/>
          </a:solidFill>
          <a:ln/>
        </p:spPr>
        <p:txBody>
          <a:bodyPr/>
          <a:p/>
        </p:txBody>
      </p:sp>
      <p:sp>
        <p:nvSpPr>
          <p:cNvPr id="13" name="Text 11"/>
          <p:cNvSpPr/>
          <p:nvPr/>
        </p:nvSpPr>
        <p:spPr>
          <a:xfrm>
            <a:off x="914400" y="34381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4" name="Text 12"/>
          <p:cNvSpPr/>
          <p:nvPr/>
        </p:nvSpPr>
        <p:spPr>
          <a:xfrm>
            <a:off x="1600200" y="3273552"/>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Probabil da</a:t>
            </a:r>
            <a:endParaRPr lang="en-US" sz="2200" dirty="0"/>
          </a:p>
        </p:txBody>
      </p:sp>
      <p:sp>
        <p:nvSpPr>
          <p:cNvPr id="15" name="Shape 13"/>
          <p:cNvSpPr/>
          <p:nvPr/>
        </p:nvSpPr>
        <p:spPr>
          <a:xfrm>
            <a:off x="594360" y="4169664"/>
            <a:ext cx="7498080" cy="749808"/>
          </a:xfrm>
          <a:prstGeom prst="roundRect">
            <a:avLst>
              <a:gd name="adj" fmla="val 10976"/>
            </a:avLst>
          </a:prstGeom>
          <a:solidFill>
            <a:srgbClr val="1D1F2B"/>
          </a:solidFill>
          <a:ln w="12700">
            <a:solidFill>
              <a:srgbClr val="1D1F2B"/>
            </a:solidFill>
            <a:prstDash val="solid"/>
          </a:ln>
        </p:spPr>
        <p:txBody>
          <a:bodyPr/>
          <a:p/>
        </p:txBody>
      </p:sp>
      <p:sp>
        <p:nvSpPr>
          <p:cNvPr id="16" name="Shape 14"/>
          <p:cNvSpPr/>
          <p:nvPr/>
        </p:nvSpPr>
        <p:spPr>
          <a:xfrm>
            <a:off x="914400" y="4334256"/>
            <a:ext cx="420624" cy="420624"/>
          </a:xfrm>
          <a:prstGeom prst="ellipse">
            <a:avLst/>
          </a:prstGeom>
          <a:solidFill>
            <a:srgbClr val="FFC24B"/>
          </a:solidFill>
          <a:ln/>
        </p:spPr>
        <p:txBody>
          <a:bodyPr/>
          <a:p/>
        </p:txBody>
      </p:sp>
      <p:sp>
        <p:nvSpPr>
          <p:cNvPr id="17" name="Text 15"/>
          <p:cNvSpPr/>
          <p:nvPr/>
        </p:nvSpPr>
        <p:spPr>
          <a:xfrm>
            <a:off x="914400" y="43342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8" name="Text 16"/>
          <p:cNvSpPr/>
          <p:nvPr/>
        </p:nvSpPr>
        <p:spPr>
          <a:xfrm>
            <a:off x="1600200" y="4169664"/>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Probabil nu</a:t>
            </a:r>
            <a:endParaRPr lang="en-US" sz="2200" dirty="0"/>
          </a:p>
        </p:txBody>
      </p:sp>
      <p:sp>
        <p:nvSpPr>
          <p:cNvPr id="19" name="Shape 17"/>
          <p:cNvSpPr/>
          <p:nvPr/>
        </p:nvSpPr>
        <p:spPr>
          <a:xfrm>
            <a:off x="594360" y="5065776"/>
            <a:ext cx="7498080" cy="749808"/>
          </a:xfrm>
          <a:prstGeom prst="roundRect">
            <a:avLst>
              <a:gd name="adj" fmla="val 10976"/>
            </a:avLst>
          </a:prstGeom>
          <a:solidFill>
            <a:srgbClr val="1D1F2B"/>
          </a:solidFill>
          <a:ln w="12700">
            <a:solidFill>
              <a:srgbClr val="1D1F2B"/>
            </a:solidFill>
            <a:prstDash val="solid"/>
          </a:ln>
        </p:spPr>
        <p:txBody>
          <a:bodyPr/>
          <a:p/>
        </p:txBody>
      </p:sp>
      <p:sp>
        <p:nvSpPr>
          <p:cNvPr id="20" name="Shape 18"/>
          <p:cNvSpPr/>
          <p:nvPr/>
        </p:nvSpPr>
        <p:spPr>
          <a:xfrm>
            <a:off x="914400" y="5230368"/>
            <a:ext cx="420624" cy="420624"/>
          </a:xfrm>
          <a:prstGeom prst="ellipse">
            <a:avLst/>
          </a:prstGeom>
          <a:solidFill>
            <a:srgbClr val="FFC24B"/>
          </a:solidFill>
          <a:ln/>
        </p:spPr>
        <p:txBody>
          <a:bodyPr/>
          <a:p/>
        </p:txBody>
      </p:sp>
      <p:sp>
        <p:nvSpPr>
          <p:cNvPr id="21" name="Text 19"/>
          <p:cNvSpPr/>
          <p:nvPr/>
        </p:nvSpPr>
        <p:spPr>
          <a:xfrm>
            <a:off x="914400" y="52303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2" name="Text 20"/>
          <p:cNvSpPr/>
          <p:nvPr/>
        </p:nvSpPr>
        <p:spPr>
          <a:xfrm>
            <a:off x="1600200" y="5065776"/>
            <a:ext cx="621792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Sigur nu</a:t>
            </a:r>
            <a:endParaRPr lang="en-US" sz="2200" dirty="0"/>
          </a:p>
        </p:txBody>
      </p:sp>
      <p:sp>
        <p:nvSpPr>
          <p:cNvPr id="23" name="Shape 21"/>
          <p:cNvSpPr/>
          <p:nvPr/>
        </p:nvSpPr>
        <p:spPr>
          <a:xfrm>
            <a:off x="8549640" y="2377440"/>
            <a:ext cx="3017520" cy="3017520"/>
          </a:xfrm>
          <a:prstGeom prst="roundRect">
            <a:avLst>
              <a:gd name="adj" fmla="val 2727"/>
            </a:avLst>
          </a:prstGeom>
          <a:solidFill>
            <a:srgbClr val="FFFFFF"/>
          </a:solidFill>
          <a:ln w="12700">
            <a:solidFill>
              <a:srgbClr val="FFFFFF"/>
            </a:solidFill>
            <a:prstDash val="solid"/>
          </a:ln>
        </p:spPr>
        <p:txBody>
          <a:bodyPr/>
          <a:p/>
        </p:txBody>
      </p:sp>
      <p:sp>
        <p:nvSpPr>
          <p:cNvPr id="24" name="Text 22"/>
          <p:cNvSpPr/>
          <p:nvPr/>
        </p:nvSpPr>
        <p:spPr>
          <a:xfrm>
            <a:off x="8549640" y="2377440"/>
            <a:ext cx="3017520" cy="301752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25" name="Text 23"/>
          <p:cNvSpPr/>
          <p:nvPr/>
        </p:nvSpPr>
        <p:spPr>
          <a:xfrm>
            <a:off x="8549640" y="5486400"/>
            <a:ext cx="3017520" cy="640080"/>
          </a:xfrm>
          <a:prstGeom prst="rect">
            <a:avLst/>
          </a:prstGeom>
          <a:noFill/>
          <a:ln/>
        </p:spPr>
        <p:txBody>
          <a:bodyPr wrap="square" lIns="0" tIns="0" rIns="0" bIns="0" rtlCol="0" anchor="t"/>
          <a:lstStyle/>
          <a:p>
            <a:pPr algn="ctr" indent="0" marL="0">
              <a:buNone/>
            </a:pPr>
            <a:r>
              <a:rPr lang="en-US" sz="1400" b="1" i="1" dirty="0">
                <a:solidFill>
                  <a:srgbClr val="FFC24B"/>
                </a:solidFill>
                <a:latin typeface="Palatino Linotype" pitchFamily="34" charset="0"/>
                <a:ea typeface="Palatino Linotype" pitchFamily="34" charset="-122"/>
                <a:cs typeface="Palatino Linotype" pitchFamily="34" charset="-120"/>
              </a:rPr>
              <a:t>Răspundeți la cod sau din linkul din chat.</a:t>
            </a:r>
            <a:endParaRPr lang="en-US" sz="1400" dirty="0"/>
          </a:p>
        </p:txBody>
      </p:sp>
      <p:sp>
        <p:nvSpPr>
          <p:cNvPr id="26" name="Text 24"/>
          <p:cNvSpPr/>
          <p:nvPr/>
        </p:nvSpPr>
        <p:spPr>
          <a:xfrm>
            <a:off x="594360" y="5943600"/>
            <a:ext cx="7498080" cy="365760"/>
          </a:xfrm>
          <a:prstGeom prst="rect">
            <a:avLst/>
          </a:prstGeom>
          <a:noFill/>
          <a:ln/>
        </p:spPr>
        <p:txBody>
          <a:bodyPr wrap="square" lIns="0" tIns="0" rIns="0" bIns="0" rtlCol="0" anchor="t"/>
          <a:lstStyle/>
          <a:p>
            <a:pPr indent="0" marL="0">
              <a:buNone/>
            </a:pPr>
            <a:r>
              <a:rPr lang="en-US" sz="1600" i="1" dirty="0">
                <a:solidFill>
                  <a:srgbClr val="27D3BE"/>
                </a:solidFill>
                <a:latin typeface="Palatino Linotype" pitchFamily="34" charset="0"/>
                <a:ea typeface="Palatino Linotype" pitchFamily="34" charset="-122"/>
                <a:cs typeface="Palatino Linotype" pitchFamily="34" charset="-120"/>
              </a:rPr>
              <a:t>Răspunsul îl aflați la pasul întâi.</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FORMULAR · FIECARE</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LUCRAREA VOASTRĂ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Deschideți formularul</a:t>
            </a:r>
            <a:endParaRPr lang="en-US" sz="3600" dirty="0"/>
          </a:p>
        </p:txBody>
      </p:sp>
      <p:sp>
        <p:nvSpPr>
          <p:cNvPr id="6" name="Shape 4"/>
          <p:cNvSpPr/>
          <p:nvPr/>
        </p:nvSpPr>
        <p:spPr>
          <a:xfrm>
            <a:off x="594360" y="178308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7" name="Shape 5"/>
          <p:cNvSpPr/>
          <p:nvPr/>
        </p:nvSpPr>
        <p:spPr>
          <a:xfrm>
            <a:off x="914400" y="1975104"/>
            <a:ext cx="420624" cy="420624"/>
          </a:xfrm>
          <a:prstGeom prst="ellipse">
            <a:avLst/>
          </a:prstGeom>
          <a:solidFill>
            <a:srgbClr val="FFC24B"/>
          </a:solidFill>
          <a:ln/>
        </p:spPr>
        <p:txBody>
          <a:bodyPr/>
          <a:p/>
        </p:txBody>
      </p:sp>
      <p:sp>
        <p:nvSpPr>
          <p:cNvPr id="8" name="Text 6"/>
          <p:cNvSpPr/>
          <p:nvPr/>
        </p:nvSpPr>
        <p:spPr>
          <a:xfrm>
            <a:off x="914400" y="19751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78308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Fiecare completează formularul, pe telefon sau calculator</a:t>
            </a:r>
            <a:endParaRPr lang="en-US" sz="1700" dirty="0"/>
          </a:p>
        </p:txBody>
      </p:sp>
      <p:sp>
        <p:nvSpPr>
          <p:cNvPr id="10" name="Shape 8"/>
          <p:cNvSpPr/>
          <p:nvPr/>
        </p:nvSpPr>
        <p:spPr>
          <a:xfrm>
            <a:off x="594360" y="274320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1" name="Shape 9"/>
          <p:cNvSpPr/>
          <p:nvPr/>
        </p:nvSpPr>
        <p:spPr>
          <a:xfrm>
            <a:off x="914400" y="2935224"/>
            <a:ext cx="420624" cy="420624"/>
          </a:xfrm>
          <a:prstGeom prst="ellipse">
            <a:avLst/>
          </a:prstGeom>
          <a:solidFill>
            <a:srgbClr val="FFC24B"/>
          </a:solidFill>
          <a:ln/>
        </p:spPr>
        <p:txBody>
          <a:bodyPr/>
          <a:p/>
        </p:txBody>
      </p:sp>
      <p:sp>
        <p:nvSpPr>
          <p:cNvPr id="12" name="Text 10"/>
          <p:cNvSpPr/>
          <p:nvPr/>
        </p:nvSpPr>
        <p:spPr>
          <a:xfrm>
            <a:off x="914400" y="29352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74320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Scrieți grupa de studiu și inițialele voastre</a:t>
            </a:r>
            <a:endParaRPr lang="en-US" sz="1700" dirty="0"/>
          </a:p>
        </p:txBody>
      </p:sp>
      <p:sp>
        <p:nvSpPr>
          <p:cNvPr id="14" name="Shape 12"/>
          <p:cNvSpPr/>
          <p:nvPr/>
        </p:nvSpPr>
        <p:spPr>
          <a:xfrm>
            <a:off x="594360" y="370332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5" name="Shape 13"/>
          <p:cNvSpPr/>
          <p:nvPr/>
        </p:nvSpPr>
        <p:spPr>
          <a:xfrm>
            <a:off x="914400" y="3895344"/>
            <a:ext cx="420624" cy="420624"/>
          </a:xfrm>
          <a:prstGeom prst="ellipse">
            <a:avLst/>
          </a:prstGeom>
          <a:solidFill>
            <a:srgbClr val="FFC24B"/>
          </a:solidFill>
          <a:ln/>
        </p:spPr>
        <p:txBody>
          <a:bodyPr/>
          <a:p/>
        </p:txBody>
      </p:sp>
      <p:sp>
        <p:nvSpPr>
          <p:cNvPr id="16" name="Text 14"/>
          <p:cNvSpPr/>
          <p:nvPr/>
        </p:nvSpPr>
        <p:spPr>
          <a:xfrm>
            <a:off x="914400" y="38953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70332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Trei pași; fiecare se deschide numai după răspunsul corect la întrebarea cu variante</a:t>
            </a:r>
            <a:endParaRPr lang="en-US" sz="1700" dirty="0"/>
          </a:p>
        </p:txBody>
      </p:sp>
      <p:sp>
        <p:nvSpPr>
          <p:cNvPr id="18" name="Shape 16"/>
          <p:cNvSpPr/>
          <p:nvPr/>
        </p:nvSpPr>
        <p:spPr>
          <a:xfrm>
            <a:off x="594360" y="466344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9" name="Shape 17"/>
          <p:cNvSpPr/>
          <p:nvPr/>
        </p:nvSpPr>
        <p:spPr>
          <a:xfrm>
            <a:off x="914400" y="4855464"/>
            <a:ext cx="420624" cy="420624"/>
          </a:xfrm>
          <a:prstGeom prst="ellipse">
            <a:avLst/>
          </a:prstGeom>
          <a:solidFill>
            <a:srgbClr val="FFC24B"/>
          </a:solidFill>
          <a:ln/>
        </p:spPr>
        <p:txBody>
          <a:bodyPr/>
          <a:p/>
        </p:txBody>
      </p:sp>
      <p:sp>
        <p:nvSpPr>
          <p:cNvPr id="20" name="Text 18"/>
          <p:cNvSpPr/>
          <p:nvPr/>
        </p:nvSpPr>
        <p:spPr>
          <a:xfrm>
            <a:off x="914400" y="48554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66344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După un răspuns greșit: un indiciu, apoi reveniți la întrebare</a:t>
            </a:r>
            <a:endParaRPr lang="en-US" sz="1700" dirty="0"/>
          </a:p>
        </p:txBody>
      </p:sp>
      <p:sp>
        <p:nvSpPr>
          <p:cNvPr id="22" name="Text 20"/>
          <p:cNvSpPr/>
          <p:nvPr/>
        </p:nvSpPr>
        <p:spPr>
          <a:xfrm>
            <a:off x="594360" y="5669280"/>
            <a:ext cx="7498080" cy="54864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Valorile calculate nu opresc trecerea: le vedeți corectate, cu explicația, după trimiterea formularului.</a:t>
            </a:r>
            <a:endParaRPr lang="en-US" sz="1500" dirty="0"/>
          </a:p>
        </p:txBody>
      </p:sp>
      <p:sp>
        <p:nvSpPr>
          <p:cNvPr id="23" name="Shape 21"/>
          <p:cNvSpPr/>
          <p:nvPr/>
        </p:nvSpPr>
        <p:spPr>
          <a:xfrm>
            <a:off x="8549640" y="1783080"/>
            <a:ext cx="3017520" cy="3017520"/>
          </a:xfrm>
          <a:prstGeom prst="roundRect">
            <a:avLst>
              <a:gd name="adj" fmla="val 2727"/>
            </a:avLst>
          </a:prstGeom>
          <a:solidFill>
            <a:srgbClr val="FFFFFF"/>
          </a:solidFill>
          <a:ln w="12700">
            <a:solidFill>
              <a:srgbClr val="FFFFFF"/>
            </a:solidFill>
            <a:prstDash val="solid"/>
          </a:ln>
        </p:spPr>
        <p:txBody>
          <a:bodyPr/>
          <a:p/>
        </p:txBody>
      </p:sp>
      <p:sp>
        <p:nvSpPr>
          <p:cNvPr id="25" name="Text 23"/>
          <p:cNvSpPr/>
          <p:nvPr/>
        </p:nvSpPr>
        <p:spPr>
          <a:xfrm>
            <a:off x="8549640" y="4937760"/>
            <a:ext cx="3017520" cy="640080"/>
          </a:xfrm>
          <a:prstGeom prst="rect">
            <a:avLst/>
          </a:prstGeom>
          <a:noFill/>
          <a:ln/>
        </p:spPr>
        <p:txBody>
          <a:bodyPr wrap="square" lIns="0" tIns="0" rIns="0" bIns="0" rtlCol="0" anchor="t"/>
          <a:lstStyle/>
          <a:p>
            <a:pPr algn="ctr" indent="0" marL="0">
              <a:buNone/>
            </a:pPr>
            <a:r>
              <a:rPr lang="en-US" sz="1400" b="1" i="1" dirty="0">
                <a:solidFill>
                  <a:srgbClr val="FFC24B"/>
                </a:solidFill>
                <a:latin typeface="Palatino Linotype" pitchFamily="34" charset="0"/>
                <a:ea typeface="Palatino Linotype" pitchFamily="34" charset="-122"/>
                <a:cs typeface="Palatino Linotype" pitchFamily="34" charset="-120"/>
              </a:rPr>
              <a:t>Scanați codul sau folosiți linkul din chat.</a:t>
            </a:r>
            <a:endParaRPr lang="en-US" sz="1400" dirty="0"/>
          </a:p>
        </p:txBody>
      </p:sp>
      <p:pic>
        <p:nvPicPr>
          <p:cNvPr id="26" name="Picture 25" descr="Detectivii_LP03_sala.png"/>
          <p:cNvPicPr>
            <a:picLocks noChangeAspect="1"/>
          </p:cNvPicPr>
          <p:nvPr/>
        </p:nvPicPr>
        <p:blipFill>
          <a:blip r:embed="rId3"/>
          <a:stretch>
            <a:fillRect/>
          </a:stretch>
        </p:blipFill>
        <p:spPr>
          <a:xfrm>
            <a:off x="8549640" y="1783080"/>
            <a:ext cx="3017520" cy="30175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PASUL ÎNTÂI · SEMNALUL VINE ÎNAINTEA FIȘEI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Două curbe, aceleași șase săptămâni</a:t>
            </a:r>
            <a:endParaRPr lang="en-US" sz="3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6949440" cy="914400"/>
        </p:xfrm>
        <a:graphic>
          <a:graphicData uri="http://schemas.openxmlformats.org/drawingml/2006/table">
            <a:tbl>
              <a:tblPr/>
              <a:tblGrid>
                <a:gridCol w="1645920"/>
                <a:gridCol w="2651760"/>
                <a:gridCol w="2651760"/>
              </a:tblGrid>
              <a:tr h="566928">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Săptămâna</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Semnalul din apele uzate</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Cazuri confirmate raportate</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2</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11</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41</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3</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23</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43</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45</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90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5</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80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180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6</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95</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300</a:t>
                      </a:r>
                      <a:endParaRPr lang="en-US" sz="20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bl>
          </a:graphicData>
        </a:graphic>
      </p:graphicFrame>
      <p:sp>
        <p:nvSpPr>
          <p:cNvPr id="5" name="Shape 2"/>
          <p:cNvSpPr/>
          <p:nvPr/>
        </p:nvSpPr>
        <p:spPr>
          <a:xfrm>
            <a:off x="7818120" y="1783080"/>
            <a:ext cx="3749040" cy="3584448"/>
          </a:xfrm>
          <a:prstGeom prst="roundRect">
            <a:avLst>
              <a:gd name="adj" fmla="val 2296"/>
            </a:avLst>
          </a:prstGeom>
          <a:solidFill>
            <a:srgbClr val="ECEAE4"/>
          </a:solidFill>
          <a:ln w="12700">
            <a:solidFill>
              <a:srgbClr val="ECEAE4"/>
            </a:solidFill>
            <a:prstDash val="solid"/>
          </a:ln>
        </p:spPr>
        <p:txBody>
          <a:bodyPr/>
          <a:p/>
        </p:txBody>
      </p:sp>
      <p:sp>
        <p:nvSpPr>
          <p:cNvPr id="6" name="Text 3"/>
          <p:cNvSpPr/>
          <p:nvPr/>
        </p:nvSpPr>
        <p:spPr>
          <a:xfrm>
            <a:off x="8046720" y="1965960"/>
            <a:ext cx="3291840" cy="324612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De rezolvat</a:t>
            </a:r>
            <a:endParaRPr lang="en-US" sz="17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În ce săptămână s-a dublat întâi semnalul? Dar cazurile raportate?</a:t>
            </a:r>
            <a:endParaRPr lang="en-US" sz="17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Cu câte zile, aproximativ, a venit semnalul înainte?</a:t>
            </a:r>
            <a:endParaRPr lang="en-US" sz="17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700" dirty="0"/>
          </a:p>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Apoi alegeți explicația.</a:t>
            </a:r>
            <a:endParaRPr lang="en-US" sz="1700" dirty="0"/>
          </a:p>
        </p:txBody>
      </p:sp>
      <p:sp>
        <p:nvSpPr>
          <p:cNvPr id="7" name="Text 4"/>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Valori ipotetice. Cazurile sunt numărate după săptămâna raportării; fără ploi, debitul a rămas aproape constant.</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9B7EF7"/>
                </a:solidFill>
                <a:latin typeface="Palatino Linotype" pitchFamily="34" charset="0"/>
                <a:ea typeface="Palatino Linotype" pitchFamily="34" charset="-122"/>
                <a:cs typeface="Palatino Linotype" pitchFamily="34" charset="-120"/>
              </a:rPr>
              <a:t>PASUL AL DOILEA · O SĂPTĂMÂNĂ PLOIOASĂ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Ați crede acest titlu?</a:t>
            </a:r>
            <a:endParaRPr lang="en-US" sz="3400" dirty="0"/>
          </a:p>
        </p:txBody>
      </p:sp>
      <p:sp>
        <p:nvSpPr>
          <p:cNvPr id="4" name="Shape 2"/>
          <p:cNvSpPr/>
          <p:nvPr/>
        </p:nvSpPr>
        <p:spPr>
          <a:xfrm>
            <a:off x="594360" y="1737360"/>
            <a:ext cx="5120640" cy="3566160"/>
          </a:xfrm>
          <a:prstGeom prst="roundRect">
            <a:avLst>
              <a:gd name="adj" fmla="val 2308"/>
            </a:avLst>
          </a:prstGeom>
          <a:solidFill>
            <a:srgbClr val="FBF8F1"/>
          </a:solidFill>
          <a:ln w="12700">
            <a:solidFill>
              <a:srgbClr val="FBF8F1"/>
            </a:solidFill>
            <a:prstDash val="solid"/>
          </a:ln>
        </p:spPr>
        <p:txBody>
          <a:bodyPr/>
          <a:p/>
        </p:txBody>
      </p:sp>
      <p:sp>
        <p:nvSpPr>
          <p:cNvPr id="5" name="Shape 3"/>
          <p:cNvSpPr/>
          <p:nvPr/>
        </p:nvSpPr>
        <p:spPr>
          <a:xfrm>
            <a:off x="594360" y="1737360"/>
            <a:ext cx="5120640" cy="54864"/>
          </a:xfrm>
          <a:prstGeom prst="rect">
            <a:avLst/>
          </a:prstGeom>
          <a:solidFill>
            <a:srgbClr val="11121A"/>
          </a:solidFill>
          <a:ln w="12700">
            <a:solidFill>
              <a:srgbClr val="11121A"/>
            </a:solidFill>
            <a:prstDash val="solid"/>
          </a:ln>
        </p:spPr>
        <p:txBody>
          <a:bodyPr/>
          <a:p/>
        </p:txBody>
      </p:sp>
      <p:sp>
        <p:nvSpPr>
          <p:cNvPr id="6" name="Text 4"/>
          <p:cNvSpPr/>
          <p:nvPr/>
        </p:nvSpPr>
        <p:spPr>
          <a:xfrm>
            <a:off x="868680" y="1938528"/>
            <a:ext cx="4572000" cy="320040"/>
          </a:xfrm>
          <a:prstGeom prst="rect">
            <a:avLst/>
          </a:prstGeom>
          <a:noFill/>
          <a:ln/>
        </p:spPr>
        <p:txBody>
          <a:bodyPr wrap="square" lIns="0" tIns="0" rIns="0" bIns="0" rtlCol="0" anchor="t"/>
          <a:lstStyle/>
          <a:p>
            <a:pPr indent="0" marL="0">
              <a:buNone/>
            </a:pPr>
            <a:r>
              <a:rPr lang="en-US" sz="1300" b="1" spc="400" kern="0" dirty="0">
                <a:solidFill>
                  <a:srgbClr val="585A64"/>
                </a:solidFill>
                <a:latin typeface="Palatino Linotype" pitchFamily="34" charset="0"/>
                <a:ea typeface="Palatino Linotype" pitchFamily="34" charset="-122"/>
                <a:cs typeface="Palatino Linotype" pitchFamily="34" charset="-120"/>
              </a:rPr>
              <a:t>ȘTIRI LOCALE</a:t>
            </a:r>
            <a:endParaRPr lang="en-US" sz="1300" dirty="0"/>
          </a:p>
        </p:txBody>
      </p:sp>
      <p:sp>
        <p:nvSpPr>
          <p:cNvPr id="7" name="Shape 5"/>
          <p:cNvSpPr/>
          <p:nvPr/>
        </p:nvSpPr>
        <p:spPr>
          <a:xfrm>
            <a:off x="868680" y="2286000"/>
            <a:ext cx="4572000" cy="13716"/>
          </a:xfrm>
          <a:prstGeom prst="rect">
            <a:avLst/>
          </a:prstGeom>
          <a:solidFill>
            <a:srgbClr val="C9C6BE"/>
          </a:solidFill>
          <a:ln w="12700">
            <a:solidFill>
              <a:srgbClr val="C9C6BE"/>
            </a:solidFill>
            <a:prstDash val="solid"/>
          </a:ln>
        </p:spPr>
        <p:txBody>
          <a:bodyPr/>
          <a:p/>
        </p:txBody>
      </p:sp>
      <p:sp>
        <p:nvSpPr>
          <p:cNvPr id="8" name="Text 6"/>
          <p:cNvSpPr/>
          <p:nvPr/>
        </p:nvSpPr>
        <p:spPr>
          <a:xfrm>
            <a:off x="868680" y="2468880"/>
            <a:ext cx="4572000" cy="2011680"/>
          </a:xfrm>
          <a:prstGeom prst="rect">
            <a:avLst/>
          </a:prstGeom>
          <a:noFill/>
          <a:ln/>
        </p:spPr>
        <p:txBody>
          <a:bodyPr wrap="square" lIns="0" tIns="0" rIns="0" bIns="0" rtlCol="0" anchor="t"/>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Apele uzate o confirmă: valul de viroză s-a înjumătățit într-o săptămână</a:t>
            </a:r>
            <a:endParaRPr lang="en-US" sz="2700" dirty="0"/>
          </a:p>
        </p:txBody>
      </p:sp>
      <p:sp>
        <p:nvSpPr>
          <p:cNvPr id="9" name="Text 7"/>
          <p:cNvSpPr/>
          <p:nvPr/>
        </p:nvSpPr>
        <p:spPr>
          <a:xfrm>
            <a:off x="868680" y="4754880"/>
            <a:ext cx="4572000" cy="365760"/>
          </a:xfrm>
          <a:prstGeom prst="rect">
            <a:avLst/>
          </a:prstGeom>
          <a:noFill/>
          <a:ln/>
        </p:spPr>
        <p:txBody>
          <a:bodyPr wrap="square" lIns="0" tIns="0" rIns="0" bIns="0" rtlCol="0" anchor="t"/>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Și titlul este construit pentru exercițiu.</a:t>
            </a:r>
            <a:endParaRPr lang="en-US" sz="1300" dirty="0"/>
          </a:p>
        </p:txBody>
      </p:sp>
      <p:sp>
        <p:nvSpPr>
          <p:cNvPr id="10" name="Shape 8"/>
          <p:cNvSpPr/>
          <p:nvPr/>
        </p:nvSpPr>
        <p:spPr>
          <a:xfrm>
            <a:off x="5989320" y="1737360"/>
            <a:ext cx="5577840" cy="3566160"/>
          </a:xfrm>
          <a:prstGeom prst="roundRect">
            <a:avLst>
              <a:gd name="adj" fmla="val 2308"/>
            </a:avLst>
          </a:prstGeom>
          <a:solidFill>
            <a:srgbClr val="ECEAE4"/>
          </a:solidFill>
          <a:ln w="12700">
            <a:solidFill>
              <a:srgbClr val="ECEAE4"/>
            </a:solidFill>
            <a:prstDash val="solid"/>
          </a:ln>
        </p:spPr>
        <p:txBody>
          <a:bodyPr/>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72200" y="1920240"/>
          <a:ext cx="5212080" cy="914400"/>
        </p:xfrm>
        <a:graphic>
          <a:graphicData uri="http://schemas.openxmlformats.org/drawingml/2006/table">
            <a:tbl>
              <a:tblPr/>
              <a:tblGrid>
                <a:gridCol w="1005840"/>
                <a:gridCol w="1463040"/>
                <a:gridCol w="1371600"/>
                <a:gridCol w="1371600"/>
              </a:tblGrid>
              <a:tr h="914400">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Săptămâna</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Semnalul (concentrația, unități pe litru)</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Debitul stației (mii de metri cubi pe zi)</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Cazuri confirmate raportate</a:t>
                      </a:r>
                      <a:endParaRPr lang="en-US" sz="115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r>
              <a:tr h="594360">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6</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95</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100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300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94360">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7</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48</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200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310</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bl>
          </a:graphicData>
        </a:graphic>
      </p:graphicFrame>
      <p:sp>
        <p:nvSpPr>
          <p:cNvPr id="12" name="Text 9"/>
          <p:cNvSpPr/>
          <p:nvPr/>
        </p:nvSpPr>
        <p:spPr>
          <a:xfrm>
            <a:off x="6172200" y="4297680"/>
            <a:ext cx="5212080" cy="41148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Cantitatea pe zi = concentrația × debitul</a:t>
            </a:r>
            <a:endParaRPr lang="en-US" sz="1700" dirty="0"/>
          </a:p>
        </p:txBody>
      </p:sp>
      <p:sp>
        <p:nvSpPr>
          <p:cNvPr id="13" name="Text 10"/>
          <p:cNvSpPr/>
          <p:nvPr/>
        </p:nvSpPr>
        <p:spPr>
          <a:xfrm>
            <a:off x="594360" y="5532120"/>
            <a:ext cx="10972800" cy="457200"/>
          </a:xfrm>
          <a:prstGeom prst="rect">
            <a:avLst/>
          </a:prstGeom>
          <a:noFill/>
          <a:ln/>
        </p:spPr>
        <p:txBody>
          <a:bodyPr wrap="square" lIns="0" tIns="0" rIns="0" bIns="0" rtlCol="0" anchor="t"/>
          <a:lstStyle/>
          <a:p>
            <a:pPr indent="0" marL="0">
              <a:buNone/>
            </a:pPr>
            <a:r>
              <a:rPr lang="en-US" sz="1800" i="1" dirty="0">
                <a:solidFill>
                  <a:srgbClr val="FFC24B"/>
                </a:solidFill>
                <a:latin typeface="Palatino Linotype" pitchFamily="34" charset="0"/>
                <a:ea typeface="Palatino Linotype" pitchFamily="34" charset="-122"/>
                <a:cs typeface="Palatino Linotype" pitchFamily="34" charset="-120"/>
              </a:rPr>
              <a:t>Calculați cantitatea pe zi în săptămânile 6 și 7.</a:t>
            </a:r>
            <a:endParaRPr lang="en-US" sz="1800" dirty="0"/>
          </a:p>
        </p:txBody>
      </p:sp>
      <p:sp>
        <p:nvSpPr>
          <p:cNvPr id="14" name="Text 11"/>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7E849A"/>
                </a:solidFill>
                <a:latin typeface="Palatino Linotype" pitchFamily="34" charset="0"/>
                <a:ea typeface="Palatino Linotype" pitchFamily="34" charset="-122"/>
                <a:cs typeface="Palatino Linotype" pitchFamily="34" charset="-120"/>
              </a:rPr>
              <a:t>Valori ipotetice. În săptămâna a șaptea: ploi torențiale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PASUL AL TREILEA · CE FACEȚI CU SEMNALUL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Sfârșitul săptămânii a treia</a:t>
            </a:r>
            <a:endParaRPr lang="en-US" sz="3400" dirty="0"/>
          </a:p>
        </p:txBody>
      </p:sp>
      <p:sp>
        <p:nvSpPr>
          <p:cNvPr id="4" name="Shape 2"/>
          <p:cNvSpPr/>
          <p:nvPr/>
        </p:nvSpPr>
        <p:spPr>
          <a:xfrm>
            <a:off x="594360" y="1783080"/>
            <a:ext cx="5394960" cy="1920240"/>
          </a:xfrm>
          <a:prstGeom prst="roundRect">
            <a:avLst>
              <a:gd name="adj" fmla="val 4286"/>
            </a:avLst>
          </a:prstGeom>
          <a:solidFill>
            <a:srgbClr val="ECEAE4"/>
          </a:solidFill>
          <a:ln w="12700">
            <a:solidFill>
              <a:srgbClr val="ECEAE4"/>
            </a:solidFill>
            <a:prstDash val="solid"/>
          </a:ln>
        </p:spPr>
        <p:txBody>
          <a:bodyPr/>
          <a:p/>
        </p:txBody>
      </p:sp>
      <p:sp>
        <p:nvSpPr>
          <p:cNvPr id="5" name="Text 3"/>
          <p:cNvSpPr/>
          <p:nvPr/>
        </p:nvSpPr>
        <p:spPr>
          <a:xfrm>
            <a:off x="868680" y="1892808"/>
            <a:ext cx="4846320" cy="864108"/>
          </a:xfrm>
          <a:prstGeom prst="rect">
            <a:avLst/>
          </a:prstGeom>
          <a:noFill/>
          <a:ln/>
        </p:spPr>
        <p:txBody>
          <a:bodyPr wrap="square" lIns="0" tIns="0" rIns="0" bIns="0" rtlCol="0" anchor="ctr"/>
          <a:lstStyle/>
          <a:p>
            <a:pPr indent="0" marL="0">
              <a:buNone/>
            </a:pPr>
            <a:r>
              <a:rPr lang="en-US" sz="4400" b="1" dirty="0">
                <a:solidFill>
                  <a:srgbClr val="B02532"/>
                </a:solidFill>
                <a:latin typeface="Palatino Linotype" pitchFamily="34" charset="0"/>
                <a:ea typeface="Palatino Linotype" pitchFamily="34" charset="-122"/>
                <a:cs typeface="Palatino Linotype" pitchFamily="34" charset="-120"/>
              </a:rPr>
              <a:t>S-a dublat</a:t>
            </a:r>
            <a:endParaRPr lang="en-US" sz="4400" dirty="0"/>
          </a:p>
        </p:txBody>
      </p:sp>
      <p:sp>
        <p:nvSpPr>
          <p:cNvPr id="6" name="Text 4"/>
          <p:cNvSpPr/>
          <p:nvPr/>
        </p:nvSpPr>
        <p:spPr>
          <a:xfrm>
            <a:off x="868680" y="2685593"/>
            <a:ext cx="4846320" cy="960120"/>
          </a:xfrm>
          <a:prstGeom prst="rect">
            <a:avLst/>
          </a:prstGeom>
          <a:noFill/>
          <a:ln/>
        </p:spPr>
        <p:txBody>
          <a:bodyPr wrap="square" lIns="0" tIns="0" rIns="0" bIns="0" rtlCol="0" anchor="t"/>
          <a:lstStyle/>
          <a:p>
            <a:pPr indent="0" marL="0">
              <a:buNone/>
            </a:pPr>
            <a:r>
              <a:rPr lang="en-US" sz="1500" dirty="0">
                <a:solidFill>
                  <a:srgbClr val="585A64"/>
                </a:solidFill>
                <a:latin typeface="Palatino Linotype" pitchFamily="34" charset="0"/>
                <a:ea typeface="Palatino Linotype" pitchFamily="34" charset="-122"/>
                <a:cs typeface="Palatino Linotype" pitchFamily="34" charset="-120"/>
              </a:rPr>
              <a:t>semnalul din apele uzate</a:t>
            </a:r>
            <a:endParaRPr lang="en-US" sz="1500" dirty="0"/>
          </a:p>
        </p:txBody>
      </p:sp>
      <p:sp>
        <p:nvSpPr>
          <p:cNvPr id="7" name="Shape 5"/>
          <p:cNvSpPr/>
          <p:nvPr/>
        </p:nvSpPr>
        <p:spPr>
          <a:xfrm>
            <a:off x="6172200" y="1783080"/>
            <a:ext cx="5394960" cy="1920240"/>
          </a:xfrm>
          <a:prstGeom prst="roundRect">
            <a:avLst>
              <a:gd name="adj" fmla="val 4286"/>
            </a:avLst>
          </a:prstGeom>
          <a:solidFill>
            <a:srgbClr val="ECEAE4"/>
          </a:solidFill>
          <a:ln w="12700">
            <a:solidFill>
              <a:srgbClr val="ECEAE4"/>
            </a:solidFill>
            <a:prstDash val="solid"/>
          </a:ln>
        </p:spPr>
        <p:txBody>
          <a:bodyPr/>
          <a:p/>
        </p:txBody>
      </p:sp>
      <p:sp>
        <p:nvSpPr>
          <p:cNvPr id="8" name="Text 6"/>
          <p:cNvSpPr/>
          <p:nvPr/>
        </p:nvSpPr>
        <p:spPr>
          <a:xfrm>
            <a:off x="6446520" y="1892808"/>
            <a:ext cx="4846320" cy="864108"/>
          </a:xfrm>
          <a:prstGeom prst="rect">
            <a:avLst/>
          </a:prstGeom>
          <a:noFill/>
          <a:ln/>
        </p:spPr>
        <p:txBody>
          <a:bodyPr wrap="square" lIns="0" tIns="0" rIns="0" bIns="0" rtlCol="0" anchor="ctr"/>
          <a:lstStyle/>
          <a:p>
            <a:pPr indent="0" marL="0">
              <a:buNone/>
            </a:pPr>
            <a:r>
              <a:rPr lang="en-US" sz="4000" b="1" dirty="0">
                <a:solidFill>
                  <a:srgbClr val="0E7C6B"/>
                </a:solidFill>
                <a:latin typeface="Palatino Linotype" pitchFamily="34" charset="0"/>
                <a:ea typeface="Palatino Linotype" pitchFamily="34" charset="-122"/>
                <a:cs typeface="Palatino Linotype" pitchFamily="34" charset="-120"/>
              </a:rPr>
              <a:t>Aproape la fel</a:t>
            </a:r>
            <a:endParaRPr lang="en-US" sz="4000" dirty="0"/>
          </a:p>
        </p:txBody>
      </p:sp>
      <p:sp>
        <p:nvSpPr>
          <p:cNvPr id="9" name="Text 7"/>
          <p:cNvSpPr/>
          <p:nvPr/>
        </p:nvSpPr>
        <p:spPr>
          <a:xfrm>
            <a:off x="6446520" y="2685593"/>
            <a:ext cx="4846320" cy="960120"/>
          </a:xfrm>
          <a:prstGeom prst="rect">
            <a:avLst/>
          </a:prstGeom>
          <a:noFill/>
          <a:ln/>
        </p:spPr>
        <p:txBody>
          <a:bodyPr wrap="square" lIns="0" tIns="0" rIns="0" bIns="0" rtlCol="0" anchor="t"/>
          <a:lstStyle/>
          <a:p>
            <a:pPr indent="0" marL="0">
              <a:buNone/>
            </a:pPr>
            <a:r>
              <a:rPr lang="en-US" sz="1500" dirty="0">
                <a:solidFill>
                  <a:srgbClr val="585A64"/>
                </a:solidFill>
                <a:latin typeface="Palatino Linotype" pitchFamily="34" charset="0"/>
                <a:ea typeface="Palatino Linotype" pitchFamily="34" charset="-122"/>
                <a:cs typeface="Palatino Linotype" pitchFamily="34" charset="-120"/>
              </a:rPr>
              <a:t>cazurile raportate: nu s-au schimbat</a:t>
            </a:r>
            <a:endParaRPr lang="en-US" sz="1500" dirty="0"/>
          </a:p>
        </p:txBody>
      </p:sp>
      <p:sp>
        <p:nvSpPr>
          <p:cNvPr id="10" name="Text 8"/>
          <p:cNvSpPr/>
          <p:nvPr/>
        </p:nvSpPr>
        <p:spPr>
          <a:xfrm>
            <a:off x="594360" y="4114800"/>
            <a:ext cx="10972800" cy="731520"/>
          </a:xfrm>
          <a:prstGeom prst="rect">
            <a:avLst/>
          </a:prstGeom>
          <a:noFill/>
          <a:ln/>
        </p:spPr>
        <p:txBody>
          <a:bodyPr wrap="square" lIns="0" tIns="0" rIns="0" bIns="0" rtlCol="0" anchor="t"/>
          <a:lstStyle/>
          <a:p>
            <a:pPr indent="0" marL="0">
              <a:buNone/>
            </a:pPr>
            <a:r>
              <a:rPr lang="en-US" sz="3600" b="1" dirty="0">
                <a:solidFill>
                  <a:srgbClr val="B02532"/>
                </a:solidFill>
                <a:latin typeface="Palatino Linotype" pitchFamily="34" charset="0"/>
                <a:ea typeface="Palatino Linotype" pitchFamily="34" charset="-122"/>
                <a:cs typeface="Palatino Linotype" pitchFamily="34" charset="-120"/>
              </a:rPr>
              <a:t>Ce măsură este proporționată?</a:t>
            </a:r>
            <a:endParaRPr lang="en-US" sz="3600" dirty="0"/>
          </a:p>
        </p:txBody>
      </p:sp>
      <p:sp>
        <p:nvSpPr>
          <p:cNvPr id="11" name="Text 9"/>
          <p:cNvSpPr/>
          <p:nvPr/>
        </p:nvSpPr>
        <p:spPr>
          <a:xfrm>
            <a:off x="594360" y="5029200"/>
            <a:ext cx="10972800" cy="457200"/>
          </a:xfrm>
          <a:prstGeom prst="rect">
            <a:avLst/>
          </a:prstGeom>
          <a:noFill/>
          <a:ln/>
        </p:spPr>
        <p:txBody>
          <a:bodyPr wrap="square" lIns="0" tIns="0" rIns="0" bIns="0" rtlCol="0" anchor="t"/>
          <a:lstStyle/>
          <a:p>
            <a:pPr indent="0" marL="0">
              <a:buNone/>
            </a:pPr>
            <a:r>
              <a:rPr lang="en-US" sz="1900" i="1" dirty="0">
                <a:solidFill>
                  <a:srgbClr val="0E7C6B"/>
                </a:solidFill>
                <a:latin typeface="Palatino Linotype" pitchFamily="34" charset="0"/>
                <a:ea typeface="Palatino Linotype" pitchFamily="34" charset="-122"/>
                <a:cs typeface="Palatino Linotype" pitchFamily="34" charset="-120"/>
              </a:rPr>
              <a:t>Alegeți una dintre cele patru variante din formular.</a:t>
            </a:r>
            <a:endParaRPr lang="en-US" sz="1900" dirty="0"/>
          </a:p>
        </p:txBody>
      </p:sp>
      <p:sp>
        <p:nvSpPr>
          <p:cNvPr id="12" name="Text 10"/>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Valori ipotetice. Caz construit pentru exercițiu</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REZULTATELE VOASTRE</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8A6100"/>
                </a:solidFill>
                <a:latin typeface="Palatino Linotype" pitchFamily="34" charset="0"/>
                <a:ea typeface="Palatino Linotype" pitchFamily="34" charset="-122"/>
                <a:cs typeface="Palatino Linotype" pitchFamily="34" charset="-120"/>
              </a:rPr>
              <a:t>DUPĂ FIECARE PAS</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Ce ați răspuns în formular</a:t>
            </a:r>
            <a:endParaRPr lang="en-US" sz="3100" dirty="0"/>
          </a:p>
        </p:txBody>
      </p:sp>
      <p:sp>
        <p:nvSpPr>
          <p:cNvPr id="6" name="Shape 4"/>
          <p:cNvSpPr/>
          <p:nvPr/>
        </p:nvSpPr>
        <p:spPr>
          <a:xfrm>
            <a:off x="594360" y="1783080"/>
            <a:ext cx="3474720" cy="3566160"/>
          </a:xfrm>
          <a:prstGeom prst="roundRect">
            <a:avLst>
              <a:gd name="adj" fmla="val 2368"/>
            </a:avLst>
          </a:prstGeom>
          <a:solidFill>
            <a:srgbClr val="ECEAE4"/>
          </a:solidFill>
          <a:ln w="12700">
            <a:solidFill>
              <a:srgbClr val="ECEAE4"/>
            </a:solidFill>
            <a:prstDash val="solid"/>
          </a:ln>
        </p:spPr>
        <p:txBody>
          <a:bodyPr/>
          <a:p/>
        </p:txBody>
      </p:sp>
      <p:sp>
        <p:nvSpPr>
          <p:cNvPr id="7" name="Text 5"/>
          <p:cNvSpPr/>
          <p:nvPr/>
        </p:nvSpPr>
        <p:spPr>
          <a:xfrm>
            <a:off x="82296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Semnalul vine înaintea fișei</a:t>
            </a:r>
            <a:endParaRPr lang="en-US" sz="1700" dirty="0"/>
          </a:p>
        </p:txBody>
      </p:sp>
      <p:sp>
        <p:nvSpPr>
          <p:cNvPr id="8" name="Text 6"/>
          <p:cNvSpPr/>
          <p:nvPr/>
        </p:nvSpPr>
        <p:spPr>
          <a:xfrm>
            <a:off x="82296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9" name="Shape 7"/>
          <p:cNvSpPr/>
          <p:nvPr/>
        </p:nvSpPr>
        <p:spPr>
          <a:xfrm>
            <a:off x="4343400" y="1783080"/>
            <a:ext cx="3474720" cy="3566160"/>
          </a:xfrm>
          <a:prstGeom prst="roundRect">
            <a:avLst>
              <a:gd name="adj" fmla="val 2368"/>
            </a:avLst>
          </a:prstGeom>
          <a:solidFill>
            <a:srgbClr val="ECEAE4"/>
          </a:solidFill>
          <a:ln w="12700">
            <a:solidFill>
              <a:srgbClr val="ECEAE4"/>
            </a:solidFill>
            <a:prstDash val="solid"/>
          </a:ln>
        </p:spPr>
        <p:txBody>
          <a:bodyPr/>
          <a:p/>
        </p:txBody>
      </p:sp>
      <p:sp>
        <p:nvSpPr>
          <p:cNvPr id="10" name="Text 8"/>
          <p:cNvSpPr/>
          <p:nvPr/>
        </p:nvSpPr>
        <p:spPr>
          <a:xfrm>
            <a:off x="457200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săptămână ploioasă</a:t>
            </a:r>
            <a:endParaRPr lang="en-US" sz="1700" dirty="0"/>
          </a:p>
        </p:txBody>
      </p:sp>
      <p:sp>
        <p:nvSpPr>
          <p:cNvPr id="11" name="Text 9"/>
          <p:cNvSpPr/>
          <p:nvPr/>
        </p:nvSpPr>
        <p:spPr>
          <a:xfrm>
            <a:off x="457200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12" name="Shape 10"/>
          <p:cNvSpPr/>
          <p:nvPr/>
        </p:nvSpPr>
        <p:spPr>
          <a:xfrm>
            <a:off x="8092440" y="1783080"/>
            <a:ext cx="3474720" cy="3566160"/>
          </a:xfrm>
          <a:prstGeom prst="roundRect">
            <a:avLst>
              <a:gd name="adj" fmla="val 2368"/>
            </a:avLst>
          </a:prstGeom>
          <a:solidFill>
            <a:srgbClr val="ECEAE4"/>
          </a:solidFill>
          <a:ln w="12700">
            <a:solidFill>
              <a:srgbClr val="ECEAE4"/>
            </a:solidFill>
            <a:prstDash val="solid"/>
          </a:ln>
        </p:spPr>
        <p:txBody>
          <a:bodyPr/>
          <a:p/>
        </p:txBody>
      </p:sp>
      <p:sp>
        <p:nvSpPr>
          <p:cNvPr id="13" name="Text 11"/>
          <p:cNvSpPr/>
          <p:nvPr/>
        </p:nvSpPr>
        <p:spPr>
          <a:xfrm>
            <a:off x="832104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Ce faceți cu semnalul</a:t>
            </a:r>
            <a:endParaRPr lang="en-US" sz="1700" dirty="0"/>
          </a:p>
        </p:txBody>
      </p:sp>
      <p:sp>
        <p:nvSpPr>
          <p:cNvPr id="14" name="Text 12"/>
          <p:cNvSpPr/>
          <p:nvPr/>
        </p:nvSpPr>
        <p:spPr>
          <a:xfrm>
            <a:off x="832104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15" name="Text 13"/>
          <p:cNvSpPr/>
          <p:nvPr/>
        </p:nvSpPr>
        <p:spPr>
          <a:xfrm>
            <a:off x="594360" y="5532120"/>
            <a:ext cx="1097280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Unde s-a greșit cel mai des și de ce?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SINTEZA · UNDE S-A MUTAT DECIZIA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Cine decide, când și pe ce?</a:t>
            </a:r>
            <a:endParaRPr lang="en-US" sz="3600" dirty="0"/>
          </a:p>
        </p:txBody>
      </p:sp>
      <p:sp>
        <p:nvSpPr>
          <p:cNvPr id="4" name="Shape 2"/>
          <p:cNvSpPr/>
          <p:nvPr/>
        </p:nvSpPr>
        <p:spPr>
          <a:xfrm>
            <a:off x="594360" y="1783080"/>
            <a:ext cx="10972800" cy="960120"/>
          </a:xfrm>
          <a:prstGeom prst="roundRect">
            <a:avLst>
              <a:gd name="adj" fmla="val 8571"/>
            </a:avLst>
          </a:prstGeom>
          <a:solidFill>
            <a:srgbClr val="1D1F2B"/>
          </a:solidFill>
          <a:ln w="12700">
            <a:solidFill>
              <a:srgbClr val="1D1F2B"/>
            </a:solidFill>
            <a:prstDash val="solid"/>
          </a:ln>
        </p:spPr>
        <p:txBody>
          <a:bodyPr/>
          <a:p/>
        </p:txBody>
      </p:sp>
      <p:sp>
        <p:nvSpPr>
          <p:cNvPr id="5" name="Shape 3"/>
          <p:cNvSpPr/>
          <p:nvPr/>
        </p:nvSpPr>
        <p:spPr>
          <a:xfrm>
            <a:off x="914400" y="2052828"/>
            <a:ext cx="420624" cy="420624"/>
          </a:xfrm>
          <a:prstGeom prst="ellipse">
            <a:avLst/>
          </a:prstGeom>
          <a:solidFill>
            <a:srgbClr val="FFC24B"/>
          </a:solidFill>
          <a:ln/>
        </p:spPr>
        <p:txBody>
          <a:bodyPr/>
          <a:p/>
        </p:txBody>
      </p:sp>
      <p:sp>
        <p:nvSpPr>
          <p:cNvPr id="6" name="Text 4"/>
          <p:cNvSpPr/>
          <p:nvPr/>
        </p:nvSpPr>
        <p:spPr>
          <a:xfrm>
            <a:off x="914400" y="20528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83080"/>
            <a:ext cx="969264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Când: semnalul vine înaintea fișei; apele uzate adună ce elimină toți cei legați la canalizare, cu simptome sau fără</a:t>
            </a:r>
            <a:endParaRPr lang="en-US" sz="1700" dirty="0"/>
          </a:p>
        </p:txBody>
      </p:sp>
      <p:sp>
        <p:nvSpPr>
          <p:cNvPr id="8" name="Shape 6"/>
          <p:cNvSpPr/>
          <p:nvPr/>
        </p:nvSpPr>
        <p:spPr>
          <a:xfrm>
            <a:off x="594360" y="2898648"/>
            <a:ext cx="10972800" cy="960120"/>
          </a:xfrm>
          <a:prstGeom prst="roundRect">
            <a:avLst>
              <a:gd name="adj" fmla="val 8571"/>
            </a:avLst>
          </a:prstGeom>
          <a:solidFill>
            <a:srgbClr val="1D1F2B"/>
          </a:solidFill>
          <a:ln w="12700">
            <a:solidFill>
              <a:srgbClr val="1D1F2B"/>
            </a:solidFill>
            <a:prstDash val="solid"/>
          </a:ln>
        </p:spPr>
        <p:txBody>
          <a:bodyPr/>
          <a:p/>
        </p:txBody>
      </p:sp>
      <p:sp>
        <p:nvSpPr>
          <p:cNvPr id="9" name="Shape 7"/>
          <p:cNvSpPr/>
          <p:nvPr/>
        </p:nvSpPr>
        <p:spPr>
          <a:xfrm>
            <a:off x="914400" y="3168396"/>
            <a:ext cx="420624" cy="420624"/>
          </a:xfrm>
          <a:prstGeom prst="ellipse">
            <a:avLst/>
          </a:prstGeom>
          <a:solidFill>
            <a:srgbClr val="FFC24B"/>
          </a:solidFill>
          <a:ln/>
        </p:spPr>
        <p:txBody>
          <a:bodyPr/>
          <a:p/>
        </p:txBody>
      </p:sp>
      <p:sp>
        <p:nvSpPr>
          <p:cNvPr id="10" name="Text 8"/>
          <p:cNvSpPr/>
          <p:nvPr/>
        </p:nvSpPr>
        <p:spPr>
          <a:xfrm>
            <a:off x="914400" y="31683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2898648"/>
            <a:ext cx="969264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Pe ce: semnalul se citește față de apa și oamenii din spatele probei; contează cantitatea pe zi</a:t>
            </a:r>
            <a:endParaRPr lang="en-US" sz="1700" dirty="0"/>
          </a:p>
        </p:txBody>
      </p:sp>
      <p:sp>
        <p:nvSpPr>
          <p:cNvPr id="12" name="Shape 10"/>
          <p:cNvSpPr/>
          <p:nvPr/>
        </p:nvSpPr>
        <p:spPr>
          <a:xfrm>
            <a:off x="594360" y="4014216"/>
            <a:ext cx="10972800" cy="960120"/>
          </a:xfrm>
          <a:prstGeom prst="roundRect">
            <a:avLst>
              <a:gd name="adj" fmla="val 8571"/>
            </a:avLst>
          </a:prstGeom>
          <a:solidFill>
            <a:srgbClr val="1D1F2B"/>
          </a:solidFill>
          <a:ln w="12700">
            <a:solidFill>
              <a:srgbClr val="1D1F2B"/>
            </a:solidFill>
            <a:prstDash val="solid"/>
          </a:ln>
        </p:spPr>
        <p:txBody>
          <a:bodyPr/>
          <a:p/>
        </p:txBody>
      </p:sp>
      <p:sp>
        <p:nvSpPr>
          <p:cNvPr id="13" name="Shape 11"/>
          <p:cNvSpPr/>
          <p:nvPr/>
        </p:nvSpPr>
        <p:spPr>
          <a:xfrm>
            <a:off x="914400" y="4283964"/>
            <a:ext cx="420624" cy="420624"/>
          </a:xfrm>
          <a:prstGeom prst="ellipse">
            <a:avLst/>
          </a:prstGeom>
          <a:solidFill>
            <a:srgbClr val="FFC24B"/>
          </a:solidFill>
          <a:ln/>
        </p:spPr>
        <p:txBody>
          <a:bodyPr/>
          <a:p/>
        </p:txBody>
      </p:sp>
      <p:sp>
        <p:nvSpPr>
          <p:cNvPr id="14" name="Text 12"/>
          <p:cNvSpPr/>
          <p:nvPr/>
        </p:nvSpPr>
        <p:spPr>
          <a:xfrm>
            <a:off x="914400" y="42839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4014216"/>
            <a:ext cx="9692640" cy="9601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Cine: autoritatea decide ce face cu el, citindu-l împreună cu datele clinice</a:t>
            </a:r>
            <a:endParaRPr lang="en-US" sz="1700" dirty="0"/>
          </a:p>
        </p:txBody>
      </p:sp>
      <p:sp>
        <p:nvSpPr>
          <p:cNvPr id="16" name="Text 14"/>
          <p:cNvSpPr/>
          <p:nvPr/>
        </p:nvSpPr>
        <p:spPr>
          <a:xfrm>
            <a:off x="594360" y="5257800"/>
            <a:ext cx="10972800" cy="73152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Articolul 17 al directivei europene se oprește aici: nu spune ce fac autoritățile mai departe.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CE ÎNSEAMNĂ PENTRU VOI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Ca studenți și ca viitori medici</a:t>
            </a:r>
            <a:endParaRPr lang="en-US" sz="3600" dirty="0"/>
          </a:p>
        </p:txBody>
      </p:sp>
      <p:sp>
        <p:nvSpPr>
          <p:cNvPr id="4" name="Shape 2"/>
          <p:cNvSpPr/>
          <p:nvPr/>
        </p:nvSpPr>
        <p:spPr>
          <a:xfrm>
            <a:off x="594360" y="178308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5" name="Shape 3"/>
          <p:cNvSpPr/>
          <p:nvPr/>
        </p:nvSpPr>
        <p:spPr>
          <a:xfrm>
            <a:off x="914400" y="2121408"/>
            <a:ext cx="420624" cy="420624"/>
          </a:xfrm>
          <a:prstGeom prst="ellipse">
            <a:avLst/>
          </a:prstGeom>
          <a:solidFill>
            <a:srgbClr val="0E7C6B"/>
          </a:solidFill>
          <a:ln/>
        </p:spPr>
        <p:txBody>
          <a:bodyPr/>
          <a:p/>
        </p:txBody>
      </p:sp>
      <p:sp>
        <p:nvSpPr>
          <p:cNvPr id="6" name="Text 4"/>
          <p:cNvSpPr/>
          <p:nvPr/>
        </p:nvSpPr>
        <p:spPr>
          <a:xfrm>
            <a:off x="914400" y="21214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83080"/>
            <a:ext cx="9692640" cy="10972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Ca studenți: aveți dreptul să întrebați ce se caută într-o probă din apa unui cămin, cine vede rezultatul și ce urmează</a:t>
            </a:r>
            <a:endParaRPr lang="en-US" sz="1700" dirty="0"/>
          </a:p>
        </p:txBody>
      </p:sp>
      <p:sp>
        <p:nvSpPr>
          <p:cNvPr id="8" name="Shape 6"/>
          <p:cNvSpPr/>
          <p:nvPr/>
        </p:nvSpPr>
        <p:spPr>
          <a:xfrm>
            <a:off x="594360" y="306324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9" name="Shape 7"/>
          <p:cNvSpPr/>
          <p:nvPr/>
        </p:nvSpPr>
        <p:spPr>
          <a:xfrm>
            <a:off x="914400" y="3401568"/>
            <a:ext cx="420624" cy="420624"/>
          </a:xfrm>
          <a:prstGeom prst="ellipse">
            <a:avLst/>
          </a:prstGeom>
          <a:solidFill>
            <a:srgbClr val="0E7C6B"/>
          </a:solidFill>
          <a:ln/>
        </p:spPr>
        <p:txBody>
          <a:bodyPr/>
          <a:p/>
        </p:txBody>
      </p:sp>
      <p:sp>
        <p:nvSpPr>
          <p:cNvPr id="10" name="Text 8"/>
          <p:cNvSpPr/>
          <p:nvPr/>
        </p:nvSpPr>
        <p:spPr>
          <a:xfrm>
            <a:off x="914400" y="34015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3063240"/>
            <a:ext cx="9692640" cy="10972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Ca viitori medici: semnalul din apele uzate este un motiv să fiți atenți la pacienții cu simptome, nu o listă de bolnavi</a:t>
            </a:r>
            <a:endParaRPr lang="en-US" sz="1700" dirty="0"/>
          </a:p>
        </p:txBody>
      </p:sp>
      <p:sp>
        <p:nvSpPr>
          <p:cNvPr id="12" name="Shape 10"/>
          <p:cNvSpPr/>
          <p:nvPr/>
        </p:nvSpPr>
        <p:spPr>
          <a:xfrm>
            <a:off x="594360" y="434340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13" name="Shape 11"/>
          <p:cNvSpPr/>
          <p:nvPr/>
        </p:nvSpPr>
        <p:spPr>
          <a:xfrm>
            <a:off x="914400" y="4681728"/>
            <a:ext cx="420624" cy="420624"/>
          </a:xfrm>
          <a:prstGeom prst="ellipse">
            <a:avLst/>
          </a:prstGeom>
          <a:solidFill>
            <a:srgbClr val="0E7C6B"/>
          </a:solidFill>
          <a:ln/>
        </p:spPr>
        <p:txBody>
          <a:bodyPr/>
          <a:p/>
        </p:txBody>
      </p:sp>
      <p:sp>
        <p:nvSpPr>
          <p:cNvPr id="14" name="Text 12"/>
          <p:cNvSpPr/>
          <p:nvPr/>
        </p:nvSpPr>
        <p:spPr>
          <a:xfrm>
            <a:off x="91440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4343400"/>
            <a:ext cx="9692640" cy="10972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citiți că „virusul a crescut”, întrebați întâi dacă a plouat și câți oameni sunt legați la stație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292608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685800" y="822960"/>
            <a:ext cx="292608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A DOUA ORĂ · ACASĂ</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Un formular individual, cu contul UMF</a:t>
            </a:r>
            <a:endParaRPr lang="en-US" sz="3800" dirty="0"/>
          </a:p>
        </p:txBody>
      </p:sp>
      <p:sp>
        <p:nvSpPr>
          <p:cNvPr id="5" name="Shape 3"/>
          <p:cNvSpPr/>
          <p:nvPr/>
        </p:nvSpPr>
        <p:spPr>
          <a:xfrm>
            <a:off x="594360" y="251460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6" name="Shape 4"/>
          <p:cNvSpPr/>
          <p:nvPr/>
        </p:nvSpPr>
        <p:spPr>
          <a:xfrm>
            <a:off x="914400" y="2670048"/>
            <a:ext cx="420624" cy="420624"/>
          </a:xfrm>
          <a:prstGeom prst="ellipse">
            <a:avLst/>
          </a:prstGeom>
          <a:solidFill>
            <a:srgbClr val="FFC24B"/>
          </a:solidFill>
          <a:ln/>
        </p:spPr>
        <p:txBody>
          <a:bodyPr/>
          <a:p/>
        </p:txBody>
      </p:sp>
      <p:sp>
        <p:nvSpPr>
          <p:cNvPr id="7" name="Text 5"/>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600200" y="251460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Pasul al patrulea: canalizarea unui cămin</a:t>
            </a:r>
            <a:endParaRPr lang="en-US" sz="1700" dirty="0"/>
          </a:p>
        </p:txBody>
      </p:sp>
      <p:sp>
        <p:nvSpPr>
          <p:cNvPr id="9" name="Shape 7"/>
          <p:cNvSpPr/>
          <p:nvPr/>
        </p:nvSpPr>
        <p:spPr>
          <a:xfrm>
            <a:off x="594360" y="338328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0" name="Shape 8"/>
          <p:cNvSpPr/>
          <p:nvPr/>
        </p:nvSpPr>
        <p:spPr>
          <a:xfrm>
            <a:off x="914400" y="3538728"/>
            <a:ext cx="420624" cy="420624"/>
          </a:xfrm>
          <a:prstGeom prst="ellipse">
            <a:avLst/>
          </a:prstGeom>
          <a:solidFill>
            <a:srgbClr val="FFC24B"/>
          </a:solidFill>
          <a:ln/>
        </p:spPr>
        <p:txBody>
          <a:bodyPr/>
          <a:p/>
        </p:txBody>
      </p:sp>
      <p:sp>
        <p:nvSpPr>
          <p:cNvPr id="11" name="Text 9"/>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338328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 întrebare despre cum se raportează semnalul la numărul locuitorilor</a:t>
            </a:r>
            <a:endParaRPr lang="en-US" sz="1700" dirty="0"/>
          </a:p>
        </p:txBody>
      </p:sp>
      <p:sp>
        <p:nvSpPr>
          <p:cNvPr id="13" name="Shape 11"/>
          <p:cNvSpPr/>
          <p:nvPr/>
        </p:nvSpPr>
        <p:spPr>
          <a:xfrm>
            <a:off x="594360" y="425196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4" name="Shape 12"/>
          <p:cNvSpPr/>
          <p:nvPr/>
        </p:nvSpPr>
        <p:spPr>
          <a:xfrm>
            <a:off x="914400" y="4407408"/>
            <a:ext cx="420624" cy="420624"/>
          </a:xfrm>
          <a:prstGeom prst="ellipse">
            <a:avLst/>
          </a:prstGeom>
          <a:solidFill>
            <a:srgbClr val="FFC24B"/>
          </a:solidFill>
          <a:ln/>
        </p:spPr>
        <p:txBody>
          <a:bodyPr/>
          <a:p/>
        </p:txBody>
      </p:sp>
      <p:sp>
        <p:nvSpPr>
          <p:cNvPr id="15" name="Text 13"/>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1600200" y="425196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O întrebare despre ce cere legislația europeană</a:t>
            </a:r>
            <a:endParaRPr lang="en-US" sz="1700" dirty="0"/>
          </a:p>
        </p:txBody>
      </p:sp>
      <p:sp>
        <p:nvSpPr>
          <p:cNvPr id="17" name="Shape 15"/>
          <p:cNvSpPr/>
          <p:nvPr/>
        </p:nvSpPr>
        <p:spPr>
          <a:xfrm>
            <a:off x="594360" y="512064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8" name="Shape 16"/>
          <p:cNvSpPr/>
          <p:nvPr/>
        </p:nvSpPr>
        <p:spPr>
          <a:xfrm>
            <a:off x="914400" y="5276088"/>
            <a:ext cx="420624" cy="420624"/>
          </a:xfrm>
          <a:prstGeom prst="ellipse">
            <a:avLst/>
          </a:prstGeom>
          <a:solidFill>
            <a:srgbClr val="FFC24B"/>
          </a:solidFill>
          <a:ln/>
        </p:spPr>
        <p:txBody>
          <a:bodyPr/>
          <a:p/>
        </p:txBody>
      </p:sp>
      <p:sp>
        <p:nvSpPr>
          <p:cNvPr id="19" name="Text 17"/>
          <p:cNvSpPr/>
          <p:nvPr/>
        </p:nvSpPr>
        <p:spPr>
          <a:xfrm>
            <a:off x="914400" y="5276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1600200" y="512064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Linkul îl primiți și pe e-mailul instituțional și pe Teams; termenul este ședința următoare; formularul nu se notează</a:t>
            </a:r>
            <a:endParaRPr lang="en-US" sz="1700" dirty="0"/>
          </a:p>
        </p:txBody>
      </p:sp>
      <p:sp>
        <p:nvSpPr>
          <p:cNvPr id="21" name="Shape 19"/>
          <p:cNvSpPr/>
          <p:nvPr/>
        </p:nvSpPr>
        <p:spPr>
          <a:xfrm>
            <a:off x="8549640" y="2514600"/>
            <a:ext cx="3017520" cy="2606040"/>
          </a:xfrm>
          <a:prstGeom prst="roundRect">
            <a:avLst>
              <a:gd name="adj" fmla="val 3158"/>
            </a:avLst>
          </a:prstGeom>
          <a:solidFill>
            <a:srgbClr val="FFFFFF"/>
          </a:solidFill>
          <a:ln w="12700">
            <a:solidFill>
              <a:srgbClr val="FFFFFF"/>
            </a:solidFill>
            <a:prstDash val="solid"/>
          </a:ln>
        </p:spPr>
        <p:txBody>
          <a:bodyPr/>
          <a:p/>
        </p:txBody>
      </p:sp>
      <p:sp>
        <p:nvSpPr>
          <p:cNvPr id="23" name="Text 21"/>
          <p:cNvSpPr/>
          <p:nvPr/>
        </p:nvSpPr>
        <p:spPr>
          <a:xfrm>
            <a:off x="8549640" y="5257800"/>
            <a:ext cx="3017520" cy="900000"/>
          </a:xfrm>
          <a:prstGeom prst="rect">
            <a:avLst/>
          </a:prstGeom>
          <a:noFill/>
          <a:ln/>
        </p:spPr>
        <p:txBody>
          <a:bodyPr wrap="square" lIns="0" tIns="0" rIns="0" bIns="0" rtlCol="0" anchor="t"/>
          <a:lstStyle/>
          <a:p>
            <a:pPr algn="ctr" indent="0" marL="0">
              <a:buNone/>
            </a:pPr>
            <a:r>
              <a:rPr lang="en-US" sz="800" dirty="0">
                <a:solidFill>
                  <a:srgbClr val="959BB0"/>
                </a:solidFill>
                <a:latin typeface="Palatino Linotype" pitchFamily="34" charset="0"/>
                <a:ea typeface="Palatino Linotype" pitchFamily="34" charset="-122"/>
                <a:cs typeface="Palatino Linotype" pitchFamily="34" charset="-120"/>
              </a:rPr>
              <a:t>https://forms.cloud.microsoft/Pages/ResponsePage.aspx?id=Ja-p_IQ7bEyXNp1c3OIQxcVVqiPRLBZPnSRyYXMyGOZURU9MMDM1WFEzQlBUQVc0NUdXWDNFMVVRWC4u</a:t>
            </a:r>
            <a:endParaRPr lang="en-US" sz="1300" dirty="0"/>
          </a:p>
        </p:txBody>
      </p:sp>
      <p:pic>
        <p:nvPicPr>
          <p:cNvPr id="24" name="Picture 23" descr="Detectivii_LP03_acasa.png"/>
          <p:cNvPicPr>
            <a:picLocks noChangeAspect="1"/>
          </p:cNvPicPr>
          <p:nvPr/>
        </p:nvPicPr>
        <p:blipFill>
          <a:blip r:embed="rId3"/>
          <a:stretch>
            <a:fillRect/>
          </a:stretch>
        </p:blipFill>
        <p:spPr>
          <a:xfrm>
            <a:off x="8755380" y="2514600"/>
            <a:ext cx="2606040" cy="26060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93192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93192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Biletul de ieșire</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v-am pierdut?</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5" name="Text 13"/>
          <p:cNvSpPr/>
          <p:nvPr/>
        </p:nvSpPr>
        <p:spPr>
          <a:xfrm>
            <a:off x="8549640" y="2514600"/>
            <a:ext cx="3017520" cy="246888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16" name="Text 14"/>
          <p:cNvSpPr/>
          <p:nvPr/>
        </p:nvSpPr>
        <p:spPr>
          <a:xfrm>
            <a:off x="8549640" y="5074920"/>
            <a:ext cx="3017520" cy="731520"/>
          </a:xfrm>
          <a:prstGeom prst="rect">
            <a:avLst/>
          </a:prstGeom>
          <a:noFill/>
          <a:ln/>
        </p:spPr>
        <p:txBody>
          <a:bodyPr wrap="square" lIns="0" tIns="0" rIns="0" bIns="0" rtlCol="0" anchor="t"/>
          <a:lstStyle/>
          <a:p>
            <a:pPr algn="ctr" indent="0" marL="0">
              <a:buNone/>
            </a:pPr>
            <a:r>
              <a:rPr lang="en-US" sz="1400" b="1" i="1" dirty="0">
                <a:solidFill>
                  <a:srgbClr val="FFC24B"/>
                </a:solidFill>
                <a:latin typeface="Palatino Linotype" pitchFamily="34" charset="0"/>
                <a:ea typeface="Palatino Linotype" pitchFamily="34" charset="-122"/>
                <a:cs typeface="Palatino Linotype" pitchFamily="34" charset="-120"/>
              </a:rPr>
              <a:t>Răspundeți la cod sau din linkul din chat. Mentimeter, anonim.</a:t>
            </a:r>
            <a:endParaRPr lang="en-US" sz="1400" dirty="0"/>
          </a:p>
        </p:txBody>
      </p:sp>
      <p:sp>
        <p:nvSpPr>
          <p:cNvPr id="17" name="Text 15"/>
          <p:cNvSpPr/>
          <p:nvPr/>
        </p:nvSpPr>
        <p:spPr>
          <a:xfrm>
            <a:off x="594360" y="5349240"/>
            <a:ext cx="768096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Răspunsurile stau la baza modificărilor anunțate la începutul ședinței următoare.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Lucrarea practică 3 - Supravegherea apelor uzate: semnalul care vine înaintea fișei</dc:title>
  <dc:subject>PptxGenJS Presentation</dc:subject>
  <dc:creator>Conf. Univ. Dr. Adrian Pana</dc:creator>
  <cp:lastModifiedBy>Conf. Univ. Dr. Adrian Pana</cp:lastModifiedBy>
  <cp:revision>1</cp:revision>
  <dcterms:created xsi:type="dcterms:W3CDTF">2026-10-17T08:20:51Z</dcterms:created>
  <dcterms:modified xsi:type="dcterms:W3CDTF">2026-10-17T08:20:51Z</dcterms:modified>
  <cp:keywords>sursa_amprenta=8f2ea78367afcfc5; proiectie</cp:keywords>
</cp:coreProperties>
</file>