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Lucrarea de azi continuă cursul: aceeași întrebare, pusă de data aceasta de voi. Dacă semnalul vine înaintea fișei de declarare, cine decide, când și pe 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oraș universitar are o singură stație de epurare. De două ori pe săptămână se ia o probă și se măsoară un virus respirator, iar rezultatele ajung la autoritatea de sănătate publică. Tot acolo ajung și fișele cazurilor confirmate. Cazul este construit și nu numește virusul. Cele două curbe le citiți voi.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Înainte de orice calcul, un vot anonim: ar putea afla autoritatea de un nou val al acestui virus în oraș înainte ca medicii să declare primele cazuri în plus? La finalul lucrării ne întoarcem la 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Vă grupați câte trei sau patru vecini de bancă. Un singur formular pe grup, de pe un singur telefon. Fiecare pas se deschide numai după ce grupul alege varianta potrivită la întrebarea cu variante.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Cazul raportat trece prin medic, test, laborator și fișă. Apele uzate adună ce elimină toți cei legați la canalizare, cu simptome sau fără. Citiți cele două curbe una lângă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site de știri local preia cifra laboratorului și titrează. Concentrația din apă depinde de două lucruri: câtă substanță ajunge în canalizare și câtă apă o poartă. Ați crede acest titlu?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Sunteți la finalul săptămânii a treia: semnalul s-a dublat, iar cazurile raportate aproape nu s-au schimbat. Alegeți măsura proporționată.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După fiecare pas, ne uităm împreună la distribuția răspunsurilor grupurilor: unde s-a greșit cel mai des și de 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lucruri de reținut. Semnalul vine înaintea fișei, pentru că apele uzate adună ce elimină toți cei legați la canalizare. Se citește față de apa și de oamenii din spatele probei. Iar decizia rămâne la autoritate, care îl citește împreună cu datele clinice. Articolul 17 al directivei europene se oprește la comunicarea rezultatelor; ce fac autoritățile mai departe nu spune.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studenți, o probă din apa care iese dintr-un cămin vă privește pe voi: aveți dreptul să întrebați ce se caută în ea, cine vede rezultatul și ce urmează după un rezultat pozitiv. Ca viitori medici, un semnal din apele uzate este un motiv să fiți atenți la pacienții cu simptome. Iar când citiți că virusul a crescut sau a scăzut, întrebați întâi dacă a plouat și câți oameni sunt legați la stație.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doua oră o lucrați singuri, acasă, într-un formular individual scurt, cu contul UMF. Termenul este ședința următoare, iar formularul nu intră în notă.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anonime, pe telefon. La începutul săptămânii următoare aflați ce s-a schimbat pe baza răspunsurilor voastre.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182032"/>
          </a:solidFill>
          <a:ln/>
        </p:spPr>
        <p:txBody>
          <a:bodyPr/>
          <a:p/>
        </p:txBody>
      </p:sp>
      <p:sp>
        <p:nvSpPr>
          <p:cNvPr id="3" name="Shape 1"/>
          <p:cNvSpPr/>
          <p:nvPr/>
        </p:nvSpPr>
        <p:spPr>
          <a:xfrm>
            <a:off x="10332720" y="3840480"/>
            <a:ext cx="3474720" cy="3474720"/>
          </a:xfrm>
          <a:prstGeom prst="ellipse">
            <a:avLst/>
          </a:prstGeom>
          <a:solidFill>
            <a:srgbClr val="182032"/>
          </a:solidFill>
          <a:ln/>
        </p:spPr>
        <p:txBody>
          <a:bodyPr/>
          <a:p/>
        </p:txBody>
      </p:sp>
      <p:sp>
        <p:nvSpPr>
          <p:cNvPr id="4" name="Shape 2"/>
          <p:cNvSpPr/>
          <p:nvPr/>
        </p:nvSpPr>
        <p:spPr>
          <a:xfrm>
            <a:off x="685800" y="777240"/>
            <a:ext cx="4023360" cy="329184"/>
          </a:xfrm>
          <a:prstGeom prst="roundRect">
            <a:avLst>
              <a:gd name="adj" fmla="val 50000"/>
            </a:avLst>
          </a:prstGeom>
          <a:solidFill>
            <a:srgbClr val="27D3BE"/>
          </a:solidFill>
          <a:ln w="12700">
            <a:solidFill>
              <a:srgbClr val="27D3BE"/>
            </a:solidFill>
            <a:prstDash val="solid"/>
          </a:ln>
        </p:spPr>
        <p:txBody>
          <a:bodyPr/>
          <a:p/>
        </p:txBody>
      </p:sp>
      <p:sp>
        <p:nvSpPr>
          <p:cNvPr id="5" name="Text 3"/>
          <p:cNvSpPr/>
          <p:nvPr/>
        </p:nvSpPr>
        <p:spPr>
          <a:xfrm>
            <a:off x="685800" y="777240"/>
            <a:ext cx="402336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LUCRAREA PRACTICĂ A TREIA</a:t>
            </a:r>
            <a:endParaRPr lang="en-US" sz="1300" dirty="0"/>
          </a:p>
        </p:txBody>
      </p:sp>
      <p:sp>
        <p:nvSpPr>
          <p:cNvPr id="6" name="Text 4"/>
          <p:cNvSpPr/>
          <p:nvPr/>
        </p:nvSpPr>
        <p:spPr>
          <a:xfrm>
            <a:off x="685800" y="1371600"/>
            <a:ext cx="10607040" cy="822960"/>
          </a:xfrm>
          <a:prstGeom prst="rect">
            <a:avLst/>
          </a:prstGeom>
          <a:noFill/>
          <a:ln/>
        </p:spPr>
        <p:txBody>
          <a:bodyPr wrap="square" lIns="0" tIns="0" rIns="0" bIns="0" rtlCol="0" anchor="t"/>
          <a:lstStyle/>
          <a:p>
            <a:pPr indent="0" marL="0">
              <a:buNone/>
            </a:pPr>
            <a:r>
              <a:rPr lang="en-US" sz="4600" b="1" dirty="0">
                <a:solidFill>
                  <a:srgbClr val="FFFFFF"/>
                </a:solidFill>
                <a:latin typeface="Palatino Linotype" pitchFamily="34" charset="0"/>
                <a:ea typeface="Palatino Linotype" pitchFamily="34" charset="-122"/>
                <a:cs typeface="Palatino Linotype" pitchFamily="34" charset="-120"/>
              </a:rPr>
              <a:t>Supravegherea apelor uzate</a:t>
            </a:r>
            <a:endParaRPr lang="en-US" sz="4600" dirty="0"/>
          </a:p>
        </p:txBody>
      </p:sp>
      <p:sp>
        <p:nvSpPr>
          <p:cNvPr id="7" name="Text 5"/>
          <p:cNvSpPr/>
          <p:nvPr/>
        </p:nvSpPr>
        <p:spPr>
          <a:xfrm>
            <a:off x="685800" y="2148840"/>
            <a:ext cx="9875520" cy="822960"/>
          </a:xfrm>
          <a:prstGeom prst="rect">
            <a:avLst/>
          </a:prstGeom>
          <a:noFill/>
          <a:ln/>
        </p:spPr>
        <p:txBody>
          <a:bodyPr wrap="square" lIns="0" tIns="0" rIns="0" bIns="0" rtlCol="0" anchor="t"/>
          <a:lstStyle/>
          <a:p>
            <a:pPr indent="0" marL="0">
              <a:buNone/>
            </a:pPr>
            <a:r>
              <a:rPr lang="en-US" sz="4600" b="1" dirty="0">
                <a:solidFill>
                  <a:srgbClr val="27D3BE"/>
                </a:solidFill>
                <a:latin typeface="Palatino Linotype" pitchFamily="34" charset="0"/>
                <a:ea typeface="Palatino Linotype" pitchFamily="34" charset="-122"/>
                <a:cs typeface="Palatino Linotype" pitchFamily="34" charset="-120"/>
              </a:rPr>
              <a:t>Semnalul care vine</a:t>
            </a:r>
            <a:endParaRPr lang="en-US" sz="4600" dirty="0"/>
          </a:p>
        </p:txBody>
      </p:sp>
      <p:sp>
        <p:nvSpPr>
          <p:cNvPr id="8" name="Text 6"/>
          <p:cNvSpPr/>
          <p:nvPr/>
        </p:nvSpPr>
        <p:spPr>
          <a:xfrm>
            <a:off x="685800" y="2926080"/>
            <a:ext cx="9875520" cy="822960"/>
          </a:xfrm>
          <a:prstGeom prst="rect">
            <a:avLst/>
          </a:prstGeom>
          <a:noFill/>
          <a:ln/>
        </p:spPr>
        <p:txBody>
          <a:bodyPr wrap="square" lIns="0" tIns="0" rIns="0" bIns="0" rtlCol="0" anchor="t"/>
          <a:lstStyle/>
          <a:p>
            <a:pPr indent="0" marL="0">
              <a:buNone/>
            </a:pPr>
            <a:r>
              <a:rPr lang="en-US" sz="4600" b="1" dirty="0">
                <a:solidFill>
                  <a:srgbClr val="27D3BE"/>
                </a:solidFill>
                <a:latin typeface="Palatino Linotype" pitchFamily="34" charset="0"/>
                <a:ea typeface="Palatino Linotype" pitchFamily="34" charset="-122"/>
                <a:cs typeface="Palatino Linotype" pitchFamily="34" charset="-120"/>
              </a:rPr>
              <a:t>înaintea fișei</a:t>
            </a:r>
            <a:endParaRPr lang="en-US" sz="4600" dirty="0"/>
          </a:p>
        </p:txBody>
      </p:sp>
      <p:sp>
        <p:nvSpPr>
          <p:cNvPr id="9" name="Text 7"/>
          <p:cNvSpPr/>
          <p:nvPr/>
        </p:nvSpPr>
        <p:spPr>
          <a:xfrm>
            <a:off x="685800" y="3886200"/>
            <a:ext cx="10241280" cy="45720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Un oraș construit pentru exercițiu, cu o stație de epurare și o autoritate care citește două curbe</a:t>
            </a:r>
            <a:endParaRPr lang="en-US" sz="1800" dirty="0"/>
          </a:p>
        </p:txBody>
      </p:sp>
      <p:sp>
        <p:nvSpPr>
          <p:cNvPr id="10" name="Shape 8"/>
          <p:cNvSpPr/>
          <p:nvPr/>
        </p:nvSpPr>
        <p:spPr>
          <a:xfrm>
            <a:off x="713232" y="4526280"/>
            <a:ext cx="1280160" cy="27432"/>
          </a:xfrm>
          <a:prstGeom prst="rect">
            <a:avLst/>
          </a:prstGeom>
          <a:solidFill>
            <a:srgbClr val="FF4757"/>
          </a:solidFill>
          <a:ln/>
        </p:spPr>
        <p:txBody>
          <a:bodyPr/>
          <a:p/>
        </p:txBody>
      </p:sp>
      <p:sp>
        <p:nvSpPr>
          <p:cNvPr id="11" name="Text 9"/>
          <p:cNvSpPr/>
          <p:nvPr/>
        </p:nvSpPr>
        <p:spPr>
          <a:xfrm>
            <a:off x="685800" y="4800600"/>
            <a:ext cx="1005840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Detectivii epidemiilor: cum ucid bolile milioane de oameni și cum le oprim</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„Iuliu Hațieganu” Cluj-Napoca ·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 CONSTRUIT PENTRU EXERCIȚIU · OCTOMBRIE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Un oraș cu o singură stație de epurare</a:t>
            </a:r>
            <a:endParaRPr lang="en-US" sz="3400" dirty="0"/>
          </a:p>
        </p:txBody>
      </p:sp>
      <p:sp>
        <p:nvSpPr>
          <p:cNvPr id="4" name="Shape 2"/>
          <p:cNvSpPr/>
          <p:nvPr/>
        </p:nvSpPr>
        <p:spPr>
          <a:xfrm>
            <a:off x="594360" y="1783080"/>
            <a:ext cx="5394960" cy="2651760"/>
          </a:xfrm>
          <a:prstGeom prst="roundRect">
            <a:avLst>
              <a:gd name="adj" fmla="val 3103"/>
            </a:avLst>
          </a:prstGeom>
          <a:solidFill>
            <a:srgbClr val="11121A"/>
          </a:solidFill>
          <a:ln w="12700">
            <a:solidFill>
              <a:srgbClr val="11121A"/>
            </a:solidFill>
            <a:prstDash val="solid"/>
          </a:ln>
        </p:spPr>
        <p:txBody>
          <a:bodyPr/>
          <a:p/>
        </p:txBody>
      </p:sp>
      <p:sp>
        <p:nvSpPr>
          <p:cNvPr id="5" name="Text 3"/>
          <p:cNvSpPr/>
          <p:nvPr/>
        </p:nvSpPr>
        <p:spPr>
          <a:xfrm>
            <a:off x="868680" y="1920240"/>
            <a:ext cx="4846320" cy="36576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Stația de epurare</a:t>
            </a:r>
            <a:endParaRPr lang="en-US" sz="1700" dirty="0"/>
          </a:p>
        </p:txBody>
      </p:sp>
      <p:sp>
        <p:nvSpPr>
          <p:cNvPr id="6" name="Shape 4"/>
          <p:cNvSpPr/>
          <p:nvPr/>
        </p:nvSpPr>
        <p:spPr>
          <a:xfrm>
            <a:off x="868680" y="2331720"/>
            <a:ext cx="4846320" cy="18288"/>
          </a:xfrm>
          <a:prstGeom prst="rect">
            <a:avLst/>
          </a:prstGeom>
          <a:solidFill>
            <a:srgbClr val="2E3142"/>
          </a:solidFill>
          <a:ln w="12700">
            <a:solidFill>
              <a:srgbClr val="2E3142"/>
            </a:solidFill>
            <a:prstDash val="solid"/>
          </a:ln>
        </p:spPr>
        <p:txBody>
          <a:bodyPr/>
          <a:p/>
        </p:txBody>
      </p:sp>
      <p:sp>
        <p:nvSpPr>
          <p:cNvPr id="7" name="Text 5"/>
          <p:cNvSpPr/>
          <p:nvPr/>
        </p:nvSpPr>
        <p:spPr>
          <a:xfrm>
            <a:off x="868680" y="2514600"/>
            <a:ext cx="4846320" cy="182880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De două ori pe săptămână, o probă din apa care intră în stație, pe 24 de ore. Un laborator măsoară un virus respirator. Rezultatele ajung la autoritatea de sănătate publică.</a:t>
            </a:r>
            <a:endParaRPr lang="en-US" sz="1800" dirty="0"/>
          </a:p>
        </p:txBody>
      </p:sp>
      <p:sp>
        <p:nvSpPr>
          <p:cNvPr id="8" name="Shape 6"/>
          <p:cNvSpPr/>
          <p:nvPr/>
        </p:nvSpPr>
        <p:spPr>
          <a:xfrm>
            <a:off x="6172200" y="1783080"/>
            <a:ext cx="5394960" cy="2651760"/>
          </a:xfrm>
          <a:prstGeom prst="roundRect">
            <a:avLst>
              <a:gd name="adj" fmla="val 3103"/>
            </a:avLst>
          </a:prstGeom>
          <a:solidFill>
            <a:srgbClr val="ECEAE4"/>
          </a:solidFill>
          <a:ln w="12700">
            <a:solidFill>
              <a:srgbClr val="ECEAE4"/>
            </a:solidFill>
            <a:prstDash val="solid"/>
          </a:ln>
        </p:spPr>
        <p:txBody>
          <a:bodyPr/>
          <a:p/>
        </p:txBody>
      </p:sp>
      <p:sp>
        <p:nvSpPr>
          <p:cNvPr id="9" name="Text 7"/>
          <p:cNvSpPr/>
          <p:nvPr/>
        </p:nvSpPr>
        <p:spPr>
          <a:xfrm>
            <a:off x="6446520" y="1920240"/>
            <a:ext cx="4846320" cy="36576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Fișele de declarare</a:t>
            </a:r>
            <a:endParaRPr lang="en-US" sz="1700" dirty="0"/>
          </a:p>
        </p:txBody>
      </p:sp>
      <p:sp>
        <p:nvSpPr>
          <p:cNvPr id="10" name="Shape 8"/>
          <p:cNvSpPr/>
          <p:nvPr/>
        </p:nvSpPr>
        <p:spPr>
          <a:xfrm>
            <a:off x="6446520" y="2331720"/>
            <a:ext cx="4846320" cy="18288"/>
          </a:xfrm>
          <a:prstGeom prst="rect">
            <a:avLst/>
          </a:prstGeom>
          <a:solidFill>
            <a:srgbClr val="C9C6BE"/>
          </a:solidFill>
          <a:ln w="12700">
            <a:solidFill>
              <a:srgbClr val="C9C6BE"/>
            </a:solidFill>
            <a:prstDash val="solid"/>
          </a:ln>
        </p:spPr>
        <p:txBody>
          <a:bodyPr/>
          <a:p/>
        </p:txBody>
      </p:sp>
      <p:sp>
        <p:nvSpPr>
          <p:cNvPr id="11" name="Text 9"/>
          <p:cNvSpPr/>
          <p:nvPr/>
        </p:nvSpPr>
        <p:spPr>
          <a:xfrm>
            <a:off x="6446520" y="2514600"/>
            <a:ext cx="4846320" cy="18288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Autoritatea primește și fișele cazurilor confirmate prin test. La începutul lui octombrie, ambele cifre sunt mici și stabile.</a:t>
            </a:r>
            <a:endParaRPr lang="en-US" sz="1800" dirty="0"/>
          </a:p>
        </p:txBody>
      </p:sp>
      <p:sp>
        <p:nvSpPr>
          <p:cNvPr id="12" name="Text 10"/>
          <p:cNvSpPr/>
          <p:nvPr/>
        </p:nvSpPr>
        <p:spPr>
          <a:xfrm>
            <a:off x="594360" y="4754880"/>
            <a:ext cx="10972800" cy="548640"/>
          </a:xfrm>
          <a:prstGeom prst="rect">
            <a:avLst/>
          </a:prstGeom>
          <a:noFill/>
          <a:ln/>
        </p:spPr>
        <p:txBody>
          <a:bodyPr wrap="square" lIns="0" tIns="0" rIns="0" bIns="0" rtlCol="0" anchor="t"/>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Echipa care citește cele două curbe sunteți voi.</a:t>
            </a:r>
            <a:endParaRPr lang="en-US" sz="2600" dirty="0"/>
          </a:p>
        </p:txBody>
      </p:sp>
      <p:sp>
        <p:nvSpPr>
          <p:cNvPr id="13" name="Text 11"/>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Caz construit: orașul, stația și cifrele sunt inventate; cazul nu numește virusul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VOT ANONIM · TELEFON</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ÎNAINTE DE ORICE CALCUL</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Ar afla autoritatea de un nou val înaintea medicilor?</a:t>
            </a:r>
            <a:endParaRPr lang="en-US" sz="3200" dirty="0"/>
          </a:p>
        </p:txBody>
      </p:sp>
      <p:sp>
        <p:nvSpPr>
          <p:cNvPr id="6" name="Text 4"/>
          <p:cNvSpPr/>
          <p:nvPr/>
        </p:nvSpPr>
        <p:spPr>
          <a:xfrm>
            <a:off x="594360" y="1691640"/>
            <a:ext cx="10972800" cy="457200"/>
          </a:xfrm>
          <a:prstGeom prst="rect">
            <a:avLst/>
          </a:prstGeom>
          <a:noFill/>
          <a:ln/>
        </p:spPr>
        <p:txBody>
          <a:bodyPr wrap="square" lIns="0" tIns="0" rIns="0" bIns="0" rtlCol="0" anchor="t"/>
          <a:lstStyle/>
          <a:p>
            <a:pPr indent="0" marL="0">
              <a:buNone/>
            </a:pPr>
            <a:r>
              <a:rPr lang="en-US" sz="1800" i="1" dirty="0">
                <a:solidFill>
                  <a:srgbClr val="959BB0"/>
                </a:solidFill>
                <a:latin typeface="Palatino Linotype" pitchFamily="34" charset="0"/>
                <a:ea typeface="Palatino Linotype" pitchFamily="34" charset="-122"/>
                <a:cs typeface="Palatino Linotype" pitchFamily="34" charset="-120"/>
              </a:rPr>
              <a:t>Un nou val al acestui virus, în oraș, înainte ca medicii să declare primele cazuri în plus</a:t>
            </a:r>
            <a:endParaRPr lang="en-US" sz="1800" dirty="0"/>
          </a:p>
        </p:txBody>
      </p:sp>
      <p:sp>
        <p:nvSpPr>
          <p:cNvPr id="7" name="Shape 5"/>
          <p:cNvSpPr/>
          <p:nvPr/>
        </p:nvSpPr>
        <p:spPr>
          <a:xfrm>
            <a:off x="594360" y="2377440"/>
            <a:ext cx="7498080" cy="749808"/>
          </a:xfrm>
          <a:prstGeom prst="roundRect">
            <a:avLst>
              <a:gd name="adj" fmla="val 10976"/>
            </a:avLst>
          </a:prstGeom>
          <a:solidFill>
            <a:srgbClr val="1D1F2B"/>
          </a:solidFill>
          <a:ln w="12700">
            <a:solidFill>
              <a:srgbClr val="1D1F2B"/>
            </a:solidFill>
            <a:prstDash val="solid"/>
          </a:ln>
        </p:spPr>
        <p:txBody>
          <a:bodyPr/>
          <a:p/>
        </p:txBody>
      </p:sp>
      <p:sp>
        <p:nvSpPr>
          <p:cNvPr id="8" name="Shape 6"/>
          <p:cNvSpPr/>
          <p:nvPr/>
        </p:nvSpPr>
        <p:spPr>
          <a:xfrm>
            <a:off x="914400" y="2542032"/>
            <a:ext cx="420624" cy="420624"/>
          </a:xfrm>
          <a:prstGeom prst="ellipse">
            <a:avLst/>
          </a:prstGeom>
          <a:solidFill>
            <a:srgbClr val="FFC24B"/>
          </a:solidFill>
          <a:ln/>
        </p:spPr>
        <p:txBody>
          <a:bodyPr/>
          <a:p/>
        </p:txBody>
      </p:sp>
      <p:sp>
        <p:nvSpPr>
          <p:cNvPr id="9" name="Text 7"/>
          <p:cNvSpPr/>
          <p:nvPr/>
        </p:nvSpPr>
        <p:spPr>
          <a:xfrm>
            <a:off x="914400" y="25420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600200" y="2377440"/>
            <a:ext cx="6217920" cy="749808"/>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Sigur da</a:t>
            </a:r>
            <a:endParaRPr lang="en-US" sz="2200" dirty="0"/>
          </a:p>
        </p:txBody>
      </p:sp>
      <p:sp>
        <p:nvSpPr>
          <p:cNvPr id="11" name="Shape 9"/>
          <p:cNvSpPr/>
          <p:nvPr/>
        </p:nvSpPr>
        <p:spPr>
          <a:xfrm>
            <a:off x="594360" y="3273552"/>
            <a:ext cx="7498080" cy="749808"/>
          </a:xfrm>
          <a:prstGeom prst="roundRect">
            <a:avLst>
              <a:gd name="adj" fmla="val 10976"/>
            </a:avLst>
          </a:prstGeom>
          <a:solidFill>
            <a:srgbClr val="1D1F2B"/>
          </a:solidFill>
          <a:ln w="12700">
            <a:solidFill>
              <a:srgbClr val="1D1F2B"/>
            </a:solidFill>
            <a:prstDash val="solid"/>
          </a:ln>
        </p:spPr>
        <p:txBody>
          <a:bodyPr/>
          <a:p/>
        </p:txBody>
      </p:sp>
      <p:sp>
        <p:nvSpPr>
          <p:cNvPr id="12" name="Shape 10"/>
          <p:cNvSpPr/>
          <p:nvPr/>
        </p:nvSpPr>
        <p:spPr>
          <a:xfrm>
            <a:off x="914400" y="3438144"/>
            <a:ext cx="420624" cy="420624"/>
          </a:xfrm>
          <a:prstGeom prst="ellipse">
            <a:avLst/>
          </a:prstGeom>
          <a:solidFill>
            <a:srgbClr val="FFC24B"/>
          </a:solidFill>
          <a:ln/>
        </p:spPr>
        <p:txBody>
          <a:bodyPr/>
          <a:p/>
        </p:txBody>
      </p:sp>
      <p:sp>
        <p:nvSpPr>
          <p:cNvPr id="13" name="Text 11"/>
          <p:cNvSpPr/>
          <p:nvPr/>
        </p:nvSpPr>
        <p:spPr>
          <a:xfrm>
            <a:off x="914400" y="34381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600200" y="3273552"/>
            <a:ext cx="6217920" cy="749808"/>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Probabil da</a:t>
            </a:r>
            <a:endParaRPr lang="en-US" sz="2200" dirty="0"/>
          </a:p>
        </p:txBody>
      </p:sp>
      <p:sp>
        <p:nvSpPr>
          <p:cNvPr id="15" name="Shape 13"/>
          <p:cNvSpPr/>
          <p:nvPr/>
        </p:nvSpPr>
        <p:spPr>
          <a:xfrm>
            <a:off x="594360" y="4169664"/>
            <a:ext cx="7498080" cy="749808"/>
          </a:xfrm>
          <a:prstGeom prst="roundRect">
            <a:avLst>
              <a:gd name="adj" fmla="val 10976"/>
            </a:avLst>
          </a:prstGeom>
          <a:solidFill>
            <a:srgbClr val="1D1F2B"/>
          </a:solidFill>
          <a:ln w="12700">
            <a:solidFill>
              <a:srgbClr val="1D1F2B"/>
            </a:solidFill>
            <a:prstDash val="solid"/>
          </a:ln>
        </p:spPr>
        <p:txBody>
          <a:bodyPr/>
          <a:p/>
        </p:txBody>
      </p:sp>
      <p:sp>
        <p:nvSpPr>
          <p:cNvPr id="16" name="Shape 14"/>
          <p:cNvSpPr/>
          <p:nvPr/>
        </p:nvSpPr>
        <p:spPr>
          <a:xfrm>
            <a:off x="914400" y="4334256"/>
            <a:ext cx="420624" cy="420624"/>
          </a:xfrm>
          <a:prstGeom prst="ellipse">
            <a:avLst/>
          </a:prstGeom>
          <a:solidFill>
            <a:srgbClr val="FFC24B"/>
          </a:solidFill>
          <a:ln/>
        </p:spPr>
        <p:txBody>
          <a:bodyPr/>
          <a:p/>
        </p:txBody>
      </p:sp>
      <p:sp>
        <p:nvSpPr>
          <p:cNvPr id="17" name="Text 15"/>
          <p:cNvSpPr/>
          <p:nvPr/>
        </p:nvSpPr>
        <p:spPr>
          <a:xfrm>
            <a:off x="914400" y="43342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600200" y="4169664"/>
            <a:ext cx="6217920" cy="749808"/>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Probabil nu</a:t>
            </a:r>
            <a:endParaRPr lang="en-US" sz="2200" dirty="0"/>
          </a:p>
        </p:txBody>
      </p:sp>
      <p:sp>
        <p:nvSpPr>
          <p:cNvPr id="19" name="Shape 17"/>
          <p:cNvSpPr/>
          <p:nvPr/>
        </p:nvSpPr>
        <p:spPr>
          <a:xfrm>
            <a:off x="594360" y="5065776"/>
            <a:ext cx="7498080" cy="749808"/>
          </a:xfrm>
          <a:prstGeom prst="roundRect">
            <a:avLst>
              <a:gd name="adj" fmla="val 10976"/>
            </a:avLst>
          </a:prstGeom>
          <a:solidFill>
            <a:srgbClr val="1D1F2B"/>
          </a:solidFill>
          <a:ln w="12700">
            <a:solidFill>
              <a:srgbClr val="1D1F2B"/>
            </a:solidFill>
            <a:prstDash val="solid"/>
          </a:ln>
        </p:spPr>
        <p:txBody>
          <a:bodyPr/>
          <a:p/>
        </p:txBody>
      </p:sp>
      <p:sp>
        <p:nvSpPr>
          <p:cNvPr id="20" name="Shape 18"/>
          <p:cNvSpPr/>
          <p:nvPr/>
        </p:nvSpPr>
        <p:spPr>
          <a:xfrm>
            <a:off x="914400" y="5230368"/>
            <a:ext cx="420624" cy="420624"/>
          </a:xfrm>
          <a:prstGeom prst="ellipse">
            <a:avLst/>
          </a:prstGeom>
          <a:solidFill>
            <a:srgbClr val="FFC24B"/>
          </a:solidFill>
          <a:ln/>
        </p:spPr>
        <p:txBody>
          <a:bodyPr/>
          <a:p/>
        </p:txBody>
      </p:sp>
      <p:sp>
        <p:nvSpPr>
          <p:cNvPr id="21" name="Text 19"/>
          <p:cNvSpPr/>
          <p:nvPr/>
        </p:nvSpPr>
        <p:spPr>
          <a:xfrm>
            <a:off x="914400" y="52303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600200" y="5065776"/>
            <a:ext cx="6217920" cy="749808"/>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Sigur nu</a:t>
            </a:r>
            <a:endParaRPr lang="en-US" sz="2200" dirty="0"/>
          </a:p>
        </p:txBody>
      </p:sp>
      <p:sp>
        <p:nvSpPr>
          <p:cNvPr id="23" name="Shape 21"/>
          <p:cNvSpPr/>
          <p:nvPr/>
        </p:nvSpPr>
        <p:spPr>
          <a:xfrm>
            <a:off x="8549640" y="237744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24" name="Text 22"/>
          <p:cNvSpPr/>
          <p:nvPr/>
        </p:nvSpPr>
        <p:spPr>
          <a:xfrm>
            <a:off x="8549640" y="2377440"/>
            <a:ext cx="3017520" cy="301752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400" dirty="0"/>
          </a:p>
        </p:txBody>
      </p:sp>
      <p:sp>
        <p:nvSpPr>
          <p:cNvPr id="25" name="Text 23"/>
          <p:cNvSpPr/>
          <p:nvPr/>
        </p:nvSpPr>
        <p:spPr>
          <a:xfrm>
            <a:off x="8549640" y="5486400"/>
            <a:ext cx="3017520" cy="640080"/>
          </a:xfrm>
          <a:prstGeom prst="rect">
            <a:avLst/>
          </a:prstGeom>
          <a:noFill/>
          <a:ln/>
        </p:spPr>
        <p:txBody>
          <a:bodyPr wrap="square" lIns="0" tIns="0" rIns="0" bIns="0" rtlCol="0" anchor="t"/>
          <a:lstStyle/>
          <a:p>
            <a:pPr algn="ctr" indent="0" marL="0">
              <a:buNone/>
            </a:pPr>
            <a:r>
              <a:rPr lang="en-US" sz="1400" b="1" i="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400" dirty="0"/>
          </a:p>
        </p:txBody>
      </p:sp>
      <p:sp>
        <p:nvSpPr>
          <p:cNvPr id="26" name="Text 24"/>
          <p:cNvSpPr/>
          <p:nvPr/>
        </p:nvSpPr>
        <p:spPr>
          <a:xfrm>
            <a:off x="594360" y="5943600"/>
            <a:ext cx="7498080" cy="365760"/>
          </a:xfrm>
          <a:prstGeom prst="rect">
            <a:avLst/>
          </a:prstGeom>
          <a:noFill/>
          <a:ln/>
        </p:spPr>
        <p:txBody>
          <a:bodyPr wrap="square" lIns="0" tIns="0" rIns="0" bIns="0" rtlCol="0" anchor="t"/>
          <a:lstStyle/>
          <a:p>
            <a:pPr indent="0" marL="0">
              <a:buNone/>
            </a:pPr>
            <a:r>
              <a:rPr lang="en-US" sz="1600" i="1" dirty="0">
                <a:solidFill>
                  <a:srgbClr val="27D3BE"/>
                </a:solidFill>
                <a:latin typeface="Palatino Linotype" pitchFamily="34" charset="0"/>
                <a:ea typeface="Palatino Linotype" pitchFamily="34" charset="-122"/>
                <a:cs typeface="Palatino Linotype" pitchFamily="34" charset="-120"/>
              </a:rPr>
              <a:t>Răspunsul îl aflați la pasul întâi.</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FORMULAR · GRUPURI</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LUCRAREA VOASTRĂ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Deschideți formularul</a:t>
            </a:r>
            <a:endParaRPr lang="en-US" sz="3600" dirty="0"/>
          </a:p>
        </p:txBody>
      </p:sp>
      <p:sp>
        <p:nvSpPr>
          <p:cNvPr id="6" name="Shape 4"/>
          <p:cNvSpPr/>
          <p:nvPr/>
        </p:nvSpPr>
        <p:spPr>
          <a:xfrm>
            <a:off x="594360" y="178308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7" name="Shape 5"/>
          <p:cNvSpPr/>
          <p:nvPr/>
        </p:nvSpPr>
        <p:spPr>
          <a:xfrm>
            <a:off x="914400" y="1975104"/>
            <a:ext cx="420624" cy="420624"/>
          </a:xfrm>
          <a:prstGeom prst="ellipse">
            <a:avLst/>
          </a:prstGeom>
          <a:solidFill>
            <a:srgbClr val="FFC24B"/>
          </a:solidFill>
          <a:ln/>
        </p:spPr>
        <p:txBody>
          <a:bodyPr/>
          <a:p/>
        </p:txBody>
      </p:sp>
      <p:sp>
        <p:nvSpPr>
          <p:cNvPr id="8" name="Text 6"/>
          <p:cNvSpPr/>
          <p:nvPr/>
        </p:nvSpPr>
        <p:spPr>
          <a:xfrm>
            <a:off x="91440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783080"/>
            <a:ext cx="621792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Grupuri de 3–4 vecini de bancă, un singur telefon pe grup</a:t>
            </a:r>
            <a:endParaRPr lang="en-US" sz="1700" dirty="0"/>
          </a:p>
        </p:txBody>
      </p:sp>
      <p:sp>
        <p:nvSpPr>
          <p:cNvPr id="10" name="Shape 8"/>
          <p:cNvSpPr/>
          <p:nvPr/>
        </p:nvSpPr>
        <p:spPr>
          <a:xfrm>
            <a:off x="594360" y="274320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11" name="Shape 9"/>
          <p:cNvSpPr/>
          <p:nvPr/>
        </p:nvSpPr>
        <p:spPr>
          <a:xfrm>
            <a:off x="914400" y="2935224"/>
            <a:ext cx="420624" cy="420624"/>
          </a:xfrm>
          <a:prstGeom prst="ellipse">
            <a:avLst/>
          </a:prstGeom>
          <a:solidFill>
            <a:srgbClr val="FFC24B"/>
          </a:solidFill>
          <a:ln/>
        </p:spPr>
        <p:txBody>
          <a:bodyPr/>
          <a:p/>
        </p:txBody>
      </p:sp>
      <p:sp>
        <p:nvSpPr>
          <p:cNvPr id="12" name="Text 10"/>
          <p:cNvSpPr/>
          <p:nvPr/>
        </p:nvSpPr>
        <p:spPr>
          <a:xfrm>
            <a:off x="914400" y="29352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743200"/>
            <a:ext cx="621792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Scrieți grupa și inițialele membrilor grupului</a:t>
            </a:r>
            <a:endParaRPr lang="en-US" sz="1700" dirty="0"/>
          </a:p>
        </p:txBody>
      </p:sp>
      <p:sp>
        <p:nvSpPr>
          <p:cNvPr id="14" name="Shape 12"/>
          <p:cNvSpPr/>
          <p:nvPr/>
        </p:nvSpPr>
        <p:spPr>
          <a:xfrm>
            <a:off x="594360" y="370332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15" name="Shape 13"/>
          <p:cNvSpPr/>
          <p:nvPr/>
        </p:nvSpPr>
        <p:spPr>
          <a:xfrm>
            <a:off x="914400" y="3895344"/>
            <a:ext cx="420624" cy="420624"/>
          </a:xfrm>
          <a:prstGeom prst="ellipse">
            <a:avLst/>
          </a:prstGeom>
          <a:solidFill>
            <a:srgbClr val="FFC24B"/>
          </a:solidFill>
          <a:ln/>
        </p:spPr>
        <p:txBody>
          <a:bodyPr/>
          <a:p/>
        </p:txBody>
      </p:sp>
      <p:sp>
        <p:nvSpPr>
          <p:cNvPr id="16" name="Text 14"/>
          <p:cNvSpPr/>
          <p:nvPr/>
        </p:nvSpPr>
        <p:spPr>
          <a:xfrm>
            <a:off x="914400" y="38953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703320"/>
            <a:ext cx="621792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Trei pași; fiecare se deschide numai după răspunsul corect la întrebarea cu variante</a:t>
            </a:r>
            <a:endParaRPr lang="en-US" sz="1700" dirty="0"/>
          </a:p>
        </p:txBody>
      </p:sp>
      <p:sp>
        <p:nvSpPr>
          <p:cNvPr id="18" name="Shape 16"/>
          <p:cNvSpPr/>
          <p:nvPr/>
        </p:nvSpPr>
        <p:spPr>
          <a:xfrm>
            <a:off x="594360" y="466344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19" name="Shape 17"/>
          <p:cNvSpPr/>
          <p:nvPr/>
        </p:nvSpPr>
        <p:spPr>
          <a:xfrm>
            <a:off x="914400" y="4855464"/>
            <a:ext cx="420624" cy="420624"/>
          </a:xfrm>
          <a:prstGeom prst="ellipse">
            <a:avLst/>
          </a:prstGeom>
          <a:solidFill>
            <a:srgbClr val="FFC24B"/>
          </a:solidFill>
          <a:ln/>
        </p:spPr>
        <p:txBody>
          <a:bodyPr/>
          <a:p/>
        </p:txBody>
      </p:sp>
      <p:sp>
        <p:nvSpPr>
          <p:cNvPr id="20" name="Text 18"/>
          <p:cNvSpPr/>
          <p:nvPr/>
        </p:nvSpPr>
        <p:spPr>
          <a:xfrm>
            <a:off x="914400" y="48554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663440"/>
            <a:ext cx="621792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După un răspuns greșit: un indiciu, apoi reveniți la întrebare</a:t>
            </a:r>
            <a:endParaRPr lang="en-US" sz="1700" dirty="0"/>
          </a:p>
        </p:txBody>
      </p:sp>
      <p:sp>
        <p:nvSpPr>
          <p:cNvPr id="22" name="Text 20"/>
          <p:cNvSpPr/>
          <p:nvPr/>
        </p:nvSpPr>
        <p:spPr>
          <a:xfrm>
            <a:off x="594360" y="5669280"/>
            <a:ext cx="7498080" cy="54864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Valorile calculate nu opresc trecerea: le vedeți corectate, cu explicația, după trimiterea formularului.</a:t>
            </a:r>
            <a:endParaRPr lang="en-US" sz="1500" dirty="0"/>
          </a:p>
        </p:txBody>
      </p:sp>
      <p:sp>
        <p:nvSpPr>
          <p:cNvPr id="23" name="Shape 21"/>
          <p:cNvSpPr/>
          <p:nvPr/>
        </p:nvSpPr>
        <p:spPr>
          <a:xfrm>
            <a:off x="8549640" y="178308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25" name="Text 23"/>
          <p:cNvSpPr/>
          <p:nvPr/>
        </p:nvSpPr>
        <p:spPr>
          <a:xfrm>
            <a:off x="8549640" y="4937760"/>
            <a:ext cx="3017520" cy="640080"/>
          </a:xfrm>
          <a:prstGeom prst="rect">
            <a:avLst/>
          </a:prstGeom>
          <a:noFill/>
          <a:ln/>
        </p:spPr>
        <p:txBody>
          <a:bodyPr wrap="square" lIns="0" tIns="0" rIns="0" bIns="0" rtlCol="0" anchor="t"/>
          <a:lstStyle/>
          <a:p>
            <a:pPr algn="ctr" indent="0" marL="0">
              <a:buNone/>
            </a:pPr>
            <a:r>
              <a:rPr lang="en-US" sz="1400" b="1" i="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400" dirty="0"/>
          </a:p>
        </p:txBody>
      </p:sp>
      <p:pic>
        <p:nvPicPr>
          <p:cNvPr id="26" name="Picture 25" descr="Detectivii_LP03_sala.png"/>
          <p:cNvPicPr>
            <a:picLocks noChangeAspect="1"/>
          </p:cNvPicPr>
          <p:nvPr/>
        </p:nvPicPr>
        <p:blipFill>
          <a:blip r:embed="rId3"/>
          <a:stretch>
            <a:fillRect/>
          </a:stretch>
        </p:blipFill>
        <p:spPr>
          <a:xfrm>
            <a:off x="8549640" y="1783080"/>
            <a:ext cx="3017520" cy="3017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PASUL ÎNTÂI · SEMNALUL VINE ÎNAINTEA FIȘEI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Două curbe, aceleași șase săptămâni</a:t>
            </a:r>
            <a:endParaRPr lang="en-US" sz="3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6949440" cy="914400"/>
        </p:xfrm>
        <a:graphic>
          <a:graphicData uri="http://schemas.openxmlformats.org/drawingml/2006/table">
            <a:tbl>
              <a:tblPr/>
              <a:tblGrid>
                <a:gridCol w="1645920"/>
                <a:gridCol w="2651760"/>
                <a:gridCol w="2651760"/>
              </a:tblGrid>
              <a:tr h="566928">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Săptămâna</a:t>
                      </a:r>
                      <a:endParaRPr lang="en-US" sz="15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07564B"/>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Semnalul din apele uzate</a:t>
                      </a:r>
                      <a:endParaRPr lang="en-US" sz="15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07564B"/>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Cazuri confirmate raportate</a:t>
                      </a:r>
                      <a:endParaRPr lang="en-US" sz="15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07564B"/>
                    </a:solidFill>
                  </a:tcPr>
                </a:tc>
              </a:tr>
              <a:tr h="502920">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10</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40</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r h="502920">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2</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11</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41</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r h="502920">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3</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23</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43</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r h="502920">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4</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45</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90</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r h="502920">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5</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80</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180</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r h="502920">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6</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95</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300</a:t>
                      </a:r>
                      <a:endParaRPr lang="en-US" sz="20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bl>
          </a:graphicData>
        </a:graphic>
      </p:graphicFrame>
      <p:sp>
        <p:nvSpPr>
          <p:cNvPr id="5" name="Shape 2"/>
          <p:cNvSpPr/>
          <p:nvPr/>
        </p:nvSpPr>
        <p:spPr>
          <a:xfrm>
            <a:off x="7818120" y="1783080"/>
            <a:ext cx="3749040" cy="3584448"/>
          </a:xfrm>
          <a:prstGeom prst="roundRect">
            <a:avLst>
              <a:gd name="adj" fmla="val 2296"/>
            </a:avLst>
          </a:prstGeom>
          <a:solidFill>
            <a:srgbClr val="ECEAE4"/>
          </a:solidFill>
          <a:ln w="12700">
            <a:solidFill>
              <a:srgbClr val="ECEAE4"/>
            </a:solidFill>
            <a:prstDash val="solid"/>
          </a:ln>
        </p:spPr>
        <p:txBody>
          <a:bodyPr/>
          <a:p/>
        </p:txBody>
      </p:sp>
      <p:sp>
        <p:nvSpPr>
          <p:cNvPr id="6" name="Text 3"/>
          <p:cNvSpPr/>
          <p:nvPr/>
        </p:nvSpPr>
        <p:spPr>
          <a:xfrm>
            <a:off x="8046720" y="1965960"/>
            <a:ext cx="3291840" cy="324612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De rezolvat</a:t>
            </a:r>
            <a:endParaRPr lang="en-US" sz="17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 ce săptămână s-a dublat întâi semnalul? Dar cazurile raportate?</a:t>
            </a:r>
            <a:endParaRPr lang="en-US" sz="17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Cu câte zile, aproximativ, a venit semnalul înainte?</a:t>
            </a:r>
            <a:endParaRPr lang="en-US" sz="1700" dirty="0"/>
          </a:p>
          <a:p>
            <a:pPr indent="0" marL="0">
              <a:buNone/>
            </a:pPr>
            <a:r>
              <a:rPr lang="en-US" sz="800" dirty="0">
                <a:solidFill>
                  <a:srgbClr val="000000"/>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Apoi alegeți explicația.</a:t>
            </a:r>
            <a:endParaRPr lang="en-US" sz="1700" dirty="0"/>
          </a:p>
        </p:txBody>
      </p:sp>
      <p:sp>
        <p:nvSpPr>
          <p:cNvPr id="7" name="Text 4"/>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Valori ipotetice. Cazurile sunt numărate după săptămâna raportării; fără ploi, debitul a rămas aproape constant.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PASUL AL DOILEA · O SĂPTĂMÂNĂ PLOIOASĂ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Ați crede acest titlu?</a:t>
            </a:r>
            <a:endParaRPr lang="en-US" sz="3400" dirty="0"/>
          </a:p>
        </p:txBody>
      </p:sp>
      <p:sp>
        <p:nvSpPr>
          <p:cNvPr id="4" name="Shape 2"/>
          <p:cNvSpPr/>
          <p:nvPr/>
        </p:nvSpPr>
        <p:spPr>
          <a:xfrm>
            <a:off x="594360" y="1737360"/>
            <a:ext cx="5120640" cy="3566160"/>
          </a:xfrm>
          <a:prstGeom prst="roundRect">
            <a:avLst>
              <a:gd name="adj" fmla="val 2308"/>
            </a:avLst>
          </a:prstGeom>
          <a:solidFill>
            <a:srgbClr val="FBF8F1"/>
          </a:solidFill>
          <a:ln w="12700">
            <a:solidFill>
              <a:srgbClr val="FBF8F1"/>
            </a:solidFill>
            <a:prstDash val="solid"/>
          </a:ln>
        </p:spPr>
        <p:txBody>
          <a:bodyPr/>
          <a:p/>
        </p:txBody>
      </p:sp>
      <p:sp>
        <p:nvSpPr>
          <p:cNvPr id="5" name="Shape 3"/>
          <p:cNvSpPr/>
          <p:nvPr/>
        </p:nvSpPr>
        <p:spPr>
          <a:xfrm>
            <a:off x="594360" y="1737360"/>
            <a:ext cx="5120640" cy="54864"/>
          </a:xfrm>
          <a:prstGeom prst="rect">
            <a:avLst/>
          </a:prstGeom>
          <a:solidFill>
            <a:srgbClr val="11121A"/>
          </a:solidFill>
          <a:ln w="12700">
            <a:solidFill>
              <a:srgbClr val="11121A"/>
            </a:solidFill>
            <a:prstDash val="solid"/>
          </a:ln>
        </p:spPr>
        <p:txBody>
          <a:bodyPr/>
          <a:p/>
        </p:txBody>
      </p:sp>
      <p:sp>
        <p:nvSpPr>
          <p:cNvPr id="6" name="Text 4"/>
          <p:cNvSpPr/>
          <p:nvPr/>
        </p:nvSpPr>
        <p:spPr>
          <a:xfrm>
            <a:off x="868680" y="1938528"/>
            <a:ext cx="4572000" cy="320040"/>
          </a:xfrm>
          <a:prstGeom prst="rect">
            <a:avLst/>
          </a:prstGeom>
          <a:noFill/>
          <a:ln/>
        </p:spPr>
        <p:txBody>
          <a:bodyPr wrap="square" lIns="0" tIns="0" rIns="0" bIns="0" rtlCol="0" anchor="t"/>
          <a:lstStyle/>
          <a:p>
            <a:pPr indent="0" marL="0">
              <a:buNone/>
            </a:pPr>
            <a:r>
              <a:rPr lang="en-US" sz="1300" b="1" spc="400" kern="0" dirty="0">
                <a:solidFill>
                  <a:srgbClr val="585A64"/>
                </a:solidFill>
                <a:latin typeface="Palatino Linotype" pitchFamily="34" charset="0"/>
                <a:ea typeface="Palatino Linotype" pitchFamily="34" charset="-122"/>
                <a:cs typeface="Palatino Linotype" pitchFamily="34" charset="-120"/>
              </a:rPr>
              <a:t>ȘTIRI LOCALE</a:t>
            </a:r>
            <a:endParaRPr lang="en-US" sz="1300" dirty="0"/>
          </a:p>
        </p:txBody>
      </p:sp>
      <p:sp>
        <p:nvSpPr>
          <p:cNvPr id="7" name="Shape 5"/>
          <p:cNvSpPr/>
          <p:nvPr/>
        </p:nvSpPr>
        <p:spPr>
          <a:xfrm>
            <a:off x="868680" y="2286000"/>
            <a:ext cx="4572000" cy="13716"/>
          </a:xfrm>
          <a:prstGeom prst="rect">
            <a:avLst/>
          </a:prstGeom>
          <a:solidFill>
            <a:srgbClr val="C9C6BE"/>
          </a:solidFill>
          <a:ln w="12700">
            <a:solidFill>
              <a:srgbClr val="C9C6BE"/>
            </a:solidFill>
            <a:prstDash val="solid"/>
          </a:ln>
        </p:spPr>
        <p:txBody>
          <a:bodyPr/>
          <a:p/>
        </p:txBody>
      </p:sp>
      <p:sp>
        <p:nvSpPr>
          <p:cNvPr id="8" name="Text 6"/>
          <p:cNvSpPr/>
          <p:nvPr/>
        </p:nvSpPr>
        <p:spPr>
          <a:xfrm>
            <a:off x="868680" y="2468880"/>
            <a:ext cx="4572000" cy="201168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Apele uzate o confirmă: valul de viroză s-a înjumătățit într-o săptămână</a:t>
            </a:r>
            <a:endParaRPr lang="en-US" sz="2700" dirty="0"/>
          </a:p>
        </p:txBody>
      </p:sp>
      <p:sp>
        <p:nvSpPr>
          <p:cNvPr id="9" name="Text 7"/>
          <p:cNvSpPr/>
          <p:nvPr/>
        </p:nvSpPr>
        <p:spPr>
          <a:xfrm>
            <a:off x="868680" y="4754880"/>
            <a:ext cx="4572000" cy="36576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Și titlul este construit pentru exercițiu.</a:t>
            </a:r>
            <a:endParaRPr lang="en-US" sz="1300" dirty="0"/>
          </a:p>
        </p:txBody>
      </p:sp>
      <p:sp>
        <p:nvSpPr>
          <p:cNvPr id="10" name="Shape 8"/>
          <p:cNvSpPr/>
          <p:nvPr/>
        </p:nvSpPr>
        <p:spPr>
          <a:xfrm>
            <a:off x="5989320" y="1737360"/>
            <a:ext cx="5577840" cy="3566160"/>
          </a:xfrm>
          <a:prstGeom prst="roundRect">
            <a:avLst>
              <a:gd name="adj" fmla="val 2308"/>
            </a:avLst>
          </a:prstGeom>
          <a:solidFill>
            <a:srgbClr val="ECEAE4"/>
          </a:solidFill>
          <a:ln w="12700">
            <a:solidFill>
              <a:srgbClr val="ECEAE4"/>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72200" y="1920240"/>
          <a:ext cx="5212080" cy="914400"/>
        </p:xfrm>
        <a:graphic>
          <a:graphicData uri="http://schemas.openxmlformats.org/drawingml/2006/table">
            <a:tbl>
              <a:tblPr/>
              <a:tblGrid>
                <a:gridCol w="1005840"/>
                <a:gridCol w="1463040"/>
                <a:gridCol w="1371600"/>
                <a:gridCol w="1371600"/>
              </a:tblGrid>
              <a:tr h="914400">
                <a:tc>
                  <a:txBody>
                    <a:bodyPr/>
                    <a:lstStyle/>
                    <a:p>
                      <a:pPr algn="ctr" indent="0" marL="0">
                        <a:buNone/>
                      </a:pPr>
                      <a:r>
                        <a:rPr lang="en-US" sz="1150" b="1" dirty="0">
                          <a:solidFill>
                            <a:srgbClr val="FFFFFF"/>
                          </a:solidFill>
                          <a:latin typeface="Palatino Linotype" pitchFamily="34" charset="0"/>
                          <a:ea typeface="Palatino Linotype" pitchFamily="34" charset="-122"/>
                          <a:cs typeface="Palatino Linotype" pitchFamily="34" charset="-120"/>
                        </a:rPr>
                        <a:t>Săptămâna</a:t>
                      </a:r>
                      <a:endParaRPr lang="en-US" sz="115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07564B"/>
                    </a:solidFill>
                  </a:tcPr>
                </a:tc>
                <a:tc>
                  <a:txBody>
                    <a:bodyPr/>
                    <a:lstStyle/>
                    <a:p>
                      <a:pPr algn="ctr" indent="0" marL="0">
                        <a:buNone/>
                      </a:pPr>
                      <a:r>
                        <a:rPr lang="en-US" sz="1150" b="1" dirty="0">
                          <a:solidFill>
                            <a:srgbClr val="FFFFFF"/>
                          </a:solidFill>
                          <a:latin typeface="Palatino Linotype" pitchFamily="34" charset="0"/>
                          <a:ea typeface="Palatino Linotype" pitchFamily="34" charset="-122"/>
                          <a:cs typeface="Palatino Linotype" pitchFamily="34" charset="-120"/>
                        </a:rPr>
                        <a:t>Semnalul (concentrația, unități pe litru)</a:t>
                      </a:r>
                      <a:endParaRPr lang="en-US" sz="115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07564B"/>
                    </a:solidFill>
                  </a:tcPr>
                </a:tc>
                <a:tc>
                  <a:txBody>
                    <a:bodyPr/>
                    <a:lstStyle/>
                    <a:p>
                      <a:pPr algn="ctr" indent="0" marL="0">
                        <a:buNone/>
                      </a:pPr>
                      <a:r>
                        <a:rPr lang="en-US" sz="1150" b="1" dirty="0">
                          <a:solidFill>
                            <a:srgbClr val="FFFFFF"/>
                          </a:solidFill>
                          <a:latin typeface="Palatino Linotype" pitchFamily="34" charset="0"/>
                          <a:ea typeface="Palatino Linotype" pitchFamily="34" charset="-122"/>
                          <a:cs typeface="Palatino Linotype" pitchFamily="34" charset="-120"/>
                        </a:rPr>
                        <a:t>Debitul stației (mii de metri cubi pe zi)</a:t>
                      </a:r>
                      <a:endParaRPr lang="en-US" sz="115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07564B"/>
                    </a:solidFill>
                  </a:tcPr>
                </a:tc>
                <a:tc>
                  <a:txBody>
                    <a:bodyPr/>
                    <a:lstStyle/>
                    <a:p>
                      <a:pPr algn="ctr" indent="0" marL="0">
                        <a:buNone/>
                      </a:pPr>
                      <a:r>
                        <a:rPr lang="en-US" sz="1150" b="1" dirty="0">
                          <a:solidFill>
                            <a:srgbClr val="FFFFFF"/>
                          </a:solidFill>
                          <a:latin typeface="Palatino Linotype" pitchFamily="34" charset="0"/>
                          <a:ea typeface="Palatino Linotype" pitchFamily="34" charset="-122"/>
                          <a:cs typeface="Palatino Linotype" pitchFamily="34" charset="-120"/>
                        </a:rPr>
                        <a:t>Cazuri confirmate raportate</a:t>
                      </a:r>
                      <a:endParaRPr lang="en-US" sz="115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07564B"/>
                    </a:solidFill>
                  </a:tcPr>
                </a:tc>
              </a:tr>
              <a:tr h="594360">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6</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95</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100</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300</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r h="594360">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7</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48</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200</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310</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bl>
          </a:graphicData>
        </a:graphic>
      </p:graphicFrame>
      <p:sp>
        <p:nvSpPr>
          <p:cNvPr id="12" name="Text 9"/>
          <p:cNvSpPr/>
          <p:nvPr/>
        </p:nvSpPr>
        <p:spPr>
          <a:xfrm>
            <a:off x="6172200" y="4297680"/>
            <a:ext cx="521208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Cantitatea pe zi = concentrația × debitul</a:t>
            </a:r>
            <a:endParaRPr lang="en-US" sz="1700" dirty="0"/>
          </a:p>
        </p:txBody>
      </p:sp>
      <p:sp>
        <p:nvSpPr>
          <p:cNvPr id="13" name="Text 10"/>
          <p:cNvSpPr/>
          <p:nvPr/>
        </p:nvSpPr>
        <p:spPr>
          <a:xfrm>
            <a:off x="594360" y="5532120"/>
            <a:ext cx="10972800" cy="457200"/>
          </a:xfrm>
          <a:prstGeom prst="rect">
            <a:avLst/>
          </a:prstGeom>
          <a:noFill/>
          <a:ln/>
        </p:spPr>
        <p:txBody>
          <a:bodyPr wrap="square" lIns="0" tIns="0" rIns="0" bIns="0" rtlCol="0" anchor="t"/>
          <a:lstStyle/>
          <a:p>
            <a:pPr indent="0" marL="0">
              <a:buNone/>
            </a:pPr>
            <a:r>
              <a:rPr lang="en-US" sz="1800" i="1" dirty="0">
                <a:solidFill>
                  <a:srgbClr val="FFC24B"/>
                </a:solidFill>
                <a:latin typeface="Palatino Linotype" pitchFamily="34" charset="0"/>
                <a:ea typeface="Palatino Linotype" pitchFamily="34" charset="-122"/>
                <a:cs typeface="Palatino Linotype" pitchFamily="34" charset="-120"/>
              </a:rPr>
              <a:t>Calculați cantitatea pe zi în săptămânile 6 și 7.</a:t>
            </a:r>
            <a:endParaRPr lang="en-US" sz="1800" dirty="0"/>
          </a:p>
        </p:txBody>
      </p:sp>
      <p:sp>
        <p:nvSpPr>
          <p:cNvPr id="14" name="Text 11"/>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7E849A"/>
                </a:solidFill>
                <a:latin typeface="Palatino Linotype" pitchFamily="34" charset="0"/>
                <a:ea typeface="Palatino Linotype" pitchFamily="34" charset="-122"/>
                <a:cs typeface="Palatino Linotype" pitchFamily="34" charset="-120"/>
              </a:rPr>
              <a:t>Valori ipotetice. În săptămâna a șaptea: ploi torențiale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PASUL AL TREILEA · CE FACEȚI CU SEMNALUL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Sfârșitul săptămânii a treia</a:t>
            </a:r>
            <a:endParaRPr lang="en-US" sz="3400" dirty="0"/>
          </a:p>
        </p:txBody>
      </p:sp>
      <p:sp>
        <p:nvSpPr>
          <p:cNvPr id="4" name="Shape 2"/>
          <p:cNvSpPr/>
          <p:nvPr/>
        </p:nvSpPr>
        <p:spPr>
          <a:xfrm>
            <a:off x="594360" y="1783080"/>
            <a:ext cx="5394960" cy="1920240"/>
          </a:xfrm>
          <a:prstGeom prst="roundRect">
            <a:avLst>
              <a:gd name="adj" fmla="val 4286"/>
            </a:avLst>
          </a:prstGeom>
          <a:solidFill>
            <a:srgbClr val="ECEAE4"/>
          </a:solidFill>
          <a:ln w="12700">
            <a:solidFill>
              <a:srgbClr val="ECEAE4"/>
            </a:solidFill>
            <a:prstDash val="solid"/>
          </a:ln>
        </p:spPr>
        <p:txBody>
          <a:bodyPr/>
          <a:p/>
        </p:txBody>
      </p:sp>
      <p:sp>
        <p:nvSpPr>
          <p:cNvPr id="5" name="Text 3"/>
          <p:cNvSpPr/>
          <p:nvPr/>
        </p:nvSpPr>
        <p:spPr>
          <a:xfrm>
            <a:off x="868680" y="1892808"/>
            <a:ext cx="4846320" cy="864108"/>
          </a:xfrm>
          <a:prstGeom prst="rect">
            <a:avLst/>
          </a:prstGeom>
          <a:noFill/>
          <a:ln/>
        </p:spPr>
        <p:txBody>
          <a:bodyPr wrap="square" lIns="0" tIns="0" rIns="0" bIns="0" rtlCol="0" anchor="ctr"/>
          <a:lstStyle/>
          <a:p>
            <a:pPr indent="0" marL="0">
              <a:buNone/>
            </a:pPr>
            <a:r>
              <a:rPr lang="en-US" sz="4400" b="1" dirty="0">
                <a:solidFill>
                  <a:srgbClr val="B02532"/>
                </a:solidFill>
                <a:latin typeface="Palatino Linotype" pitchFamily="34" charset="0"/>
                <a:ea typeface="Palatino Linotype" pitchFamily="34" charset="-122"/>
                <a:cs typeface="Palatino Linotype" pitchFamily="34" charset="-120"/>
              </a:rPr>
              <a:t>S-a dublat</a:t>
            </a:r>
            <a:endParaRPr lang="en-US" sz="4400" dirty="0"/>
          </a:p>
        </p:txBody>
      </p:sp>
      <p:sp>
        <p:nvSpPr>
          <p:cNvPr id="6" name="Text 4"/>
          <p:cNvSpPr/>
          <p:nvPr/>
        </p:nvSpPr>
        <p:spPr>
          <a:xfrm>
            <a:off x="868680" y="2685593"/>
            <a:ext cx="4846320" cy="96012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semnalul din apele uzate</a:t>
            </a:r>
            <a:endParaRPr lang="en-US" sz="1500" dirty="0"/>
          </a:p>
        </p:txBody>
      </p:sp>
      <p:sp>
        <p:nvSpPr>
          <p:cNvPr id="7" name="Shape 5"/>
          <p:cNvSpPr/>
          <p:nvPr/>
        </p:nvSpPr>
        <p:spPr>
          <a:xfrm>
            <a:off x="6172200" y="1783080"/>
            <a:ext cx="5394960" cy="1920240"/>
          </a:xfrm>
          <a:prstGeom prst="roundRect">
            <a:avLst>
              <a:gd name="adj" fmla="val 4286"/>
            </a:avLst>
          </a:prstGeom>
          <a:solidFill>
            <a:srgbClr val="ECEAE4"/>
          </a:solidFill>
          <a:ln w="12700">
            <a:solidFill>
              <a:srgbClr val="ECEAE4"/>
            </a:solidFill>
            <a:prstDash val="solid"/>
          </a:ln>
        </p:spPr>
        <p:txBody>
          <a:bodyPr/>
          <a:p/>
        </p:txBody>
      </p:sp>
      <p:sp>
        <p:nvSpPr>
          <p:cNvPr id="8" name="Text 6"/>
          <p:cNvSpPr/>
          <p:nvPr/>
        </p:nvSpPr>
        <p:spPr>
          <a:xfrm>
            <a:off x="6446520" y="1892808"/>
            <a:ext cx="4846320" cy="864108"/>
          </a:xfrm>
          <a:prstGeom prst="rect">
            <a:avLst/>
          </a:prstGeom>
          <a:noFill/>
          <a:ln/>
        </p:spPr>
        <p:txBody>
          <a:bodyPr wrap="square" lIns="0" tIns="0" rIns="0" bIns="0" rtlCol="0" anchor="ctr"/>
          <a:lstStyle/>
          <a:p>
            <a:pPr indent="0" marL="0">
              <a:buNone/>
            </a:pPr>
            <a:r>
              <a:rPr lang="en-US" sz="4000" b="1" dirty="0">
                <a:solidFill>
                  <a:srgbClr val="0E7C6B"/>
                </a:solidFill>
                <a:latin typeface="Palatino Linotype" pitchFamily="34" charset="0"/>
                <a:ea typeface="Palatino Linotype" pitchFamily="34" charset="-122"/>
                <a:cs typeface="Palatino Linotype" pitchFamily="34" charset="-120"/>
              </a:rPr>
              <a:t>Aproape la fel</a:t>
            </a:r>
            <a:endParaRPr lang="en-US" sz="4000" dirty="0"/>
          </a:p>
        </p:txBody>
      </p:sp>
      <p:sp>
        <p:nvSpPr>
          <p:cNvPr id="9" name="Text 7"/>
          <p:cNvSpPr/>
          <p:nvPr/>
        </p:nvSpPr>
        <p:spPr>
          <a:xfrm>
            <a:off x="6446520" y="2685593"/>
            <a:ext cx="4846320" cy="96012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cazurile raportate: nu s-au schimbat</a:t>
            </a:r>
            <a:endParaRPr lang="en-US" sz="1500" dirty="0"/>
          </a:p>
        </p:txBody>
      </p:sp>
      <p:sp>
        <p:nvSpPr>
          <p:cNvPr id="10" name="Text 8"/>
          <p:cNvSpPr/>
          <p:nvPr/>
        </p:nvSpPr>
        <p:spPr>
          <a:xfrm>
            <a:off x="594360" y="4114800"/>
            <a:ext cx="10972800" cy="731520"/>
          </a:xfrm>
          <a:prstGeom prst="rect">
            <a:avLst/>
          </a:prstGeom>
          <a:noFill/>
          <a:ln/>
        </p:spPr>
        <p:txBody>
          <a:bodyPr wrap="square" lIns="0" tIns="0" rIns="0" bIns="0" rtlCol="0" anchor="t"/>
          <a:lstStyle/>
          <a:p>
            <a:pPr indent="0" marL="0">
              <a:buNone/>
            </a:pPr>
            <a:r>
              <a:rPr lang="en-US" sz="3600" b="1" dirty="0">
                <a:solidFill>
                  <a:srgbClr val="B02532"/>
                </a:solidFill>
                <a:latin typeface="Palatino Linotype" pitchFamily="34" charset="0"/>
                <a:ea typeface="Palatino Linotype" pitchFamily="34" charset="-122"/>
                <a:cs typeface="Palatino Linotype" pitchFamily="34" charset="-120"/>
              </a:rPr>
              <a:t>Ce măsură este proporționată?</a:t>
            </a:r>
            <a:endParaRPr lang="en-US" sz="3600" dirty="0"/>
          </a:p>
        </p:txBody>
      </p:sp>
      <p:sp>
        <p:nvSpPr>
          <p:cNvPr id="11" name="Text 9"/>
          <p:cNvSpPr/>
          <p:nvPr/>
        </p:nvSpPr>
        <p:spPr>
          <a:xfrm>
            <a:off x="594360" y="5029200"/>
            <a:ext cx="10972800" cy="457200"/>
          </a:xfrm>
          <a:prstGeom prst="rect">
            <a:avLst/>
          </a:prstGeom>
          <a:noFill/>
          <a:ln/>
        </p:spPr>
        <p:txBody>
          <a:bodyPr wrap="square" lIns="0" tIns="0" rIns="0" bIns="0" rtlCol="0" anchor="t"/>
          <a:lstStyle/>
          <a:p>
            <a:pPr indent="0" marL="0">
              <a:buNone/>
            </a:pPr>
            <a:r>
              <a:rPr lang="en-US" sz="1900" i="1" dirty="0">
                <a:solidFill>
                  <a:srgbClr val="0E7C6B"/>
                </a:solidFill>
                <a:latin typeface="Palatino Linotype" pitchFamily="34" charset="0"/>
                <a:ea typeface="Palatino Linotype" pitchFamily="34" charset="-122"/>
                <a:cs typeface="Palatino Linotype" pitchFamily="34" charset="-120"/>
              </a:rPr>
              <a:t>Alegeți una dintre cele patru variante din formular.</a:t>
            </a:r>
            <a:endParaRPr lang="en-US" sz="1900" dirty="0"/>
          </a:p>
        </p:txBody>
      </p:sp>
      <p:sp>
        <p:nvSpPr>
          <p:cNvPr id="12" name="Text 10"/>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Valori ipotetice. Caz construit pentru exercițiu</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REZULTATELE SĂLII</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DUPĂ FIECARE PAS</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au răspuns grupurile</a:t>
            </a:r>
            <a:endParaRPr lang="en-US" sz="3100" dirty="0"/>
          </a:p>
        </p:txBody>
      </p:sp>
      <p:sp>
        <p:nvSpPr>
          <p:cNvPr id="6" name="Shape 4"/>
          <p:cNvSpPr/>
          <p:nvPr/>
        </p:nvSpPr>
        <p:spPr>
          <a:xfrm>
            <a:off x="594360" y="1783080"/>
            <a:ext cx="3474720" cy="3566160"/>
          </a:xfrm>
          <a:prstGeom prst="roundRect">
            <a:avLst>
              <a:gd name="adj" fmla="val 2368"/>
            </a:avLst>
          </a:prstGeom>
          <a:solidFill>
            <a:srgbClr val="ECEAE4"/>
          </a:solidFill>
          <a:ln w="12700">
            <a:solidFill>
              <a:srgbClr val="ECEAE4"/>
            </a:solidFill>
            <a:prstDash val="solid"/>
          </a:ln>
        </p:spPr>
        <p:txBody>
          <a:bodyPr/>
          <a:p/>
        </p:txBody>
      </p:sp>
      <p:sp>
        <p:nvSpPr>
          <p:cNvPr id="7" name="Text 5"/>
          <p:cNvSpPr/>
          <p:nvPr/>
        </p:nvSpPr>
        <p:spPr>
          <a:xfrm>
            <a:off x="822960" y="1874520"/>
            <a:ext cx="3017520" cy="6400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Semnalul vine înaintea fișei</a:t>
            </a:r>
            <a:endParaRPr lang="en-US" sz="1700" dirty="0"/>
          </a:p>
        </p:txBody>
      </p:sp>
      <p:sp>
        <p:nvSpPr>
          <p:cNvPr id="8" name="Text 6"/>
          <p:cNvSpPr/>
          <p:nvPr/>
        </p:nvSpPr>
        <p:spPr>
          <a:xfrm>
            <a:off x="822960" y="2651760"/>
            <a:ext cx="3017520" cy="246888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[distribuția răspunsurilor din Forms]</a:t>
            </a:r>
            <a:endParaRPr lang="en-US" sz="1300" dirty="0"/>
          </a:p>
        </p:txBody>
      </p:sp>
      <p:sp>
        <p:nvSpPr>
          <p:cNvPr id="9" name="Shape 7"/>
          <p:cNvSpPr/>
          <p:nvPr/>
        </p:nvSpPr>
        <p:spPr>
          <a:xfrm>
            <a:off x="4343400" y="1783080"/>
            <a:ext cx="3474720" cy="3566160"/>
          </a:xfrm>
          <a:prstGeom prst="roundRect">
            <a:avLst>
              <a:gd name="adj" fmla="val 2368"/>
            </a:avLst>
          </a:prstGeom>
          <a:solidFill>
            <a:srgbClr val="ECEAE4"/>
          </a:solidFill>
          <a:ln w="12700">
            <a:solidFill>
              <a:srgbClr val="ECEAE4"/>
            </a:solidFill>
            <a:prstDash val="solid"/>
          </a:ln>
        </p:spPr>
        <p:txBody>
          <a:bodyPr/>
          <a:p/>
        </p:txBody>
      </p:sp>
      <p:sp>
        <p:nvSpPr>
          <p:cNvPr id="10" name="Text 8"/>
          <p:cNvSpPr/>
          <p:nvPr/>
        </p:nvSpPr>
        <p:spPr>
          <a:xfrm>
            <a:off x="4572000" y="1874520"/>
            <a:ext cx="3017520" cy="6400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 săptămână ploioasă</a:t>
            </a:r>
            <a:endParaRPr lang="en-US" sz="1700" dirty="0"/>
          </a:p>
        </p:txBody>
      </p:sp>
      <p:sp>
        <p:nvSpPr>
          <p:cNvPr id="11" name="Text 9"/>
          <p:cNvSpPr/>
          <p:nvPr/>
        </p:nvSpPr>
        <p:spPr>
          <a:xfrm>
            <a:off x="4572000" y="2651760"/>
            <a:ext cx="3017520" cy="246888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[distribuția răspunsurilor din Forms]</a:t>
            </a:r>
            <a:endParaRPr lang="en-US" sz="1300" dirty="0"/>
          </a:p>
        </p:txBody>
      </p:sp>
      <p:sp>
        <p:nvSpPr>
          <p:cNvPr id="12" name="Shape 10"/>
          <p:cNvSpPr/>
          <p:nvPr/>
        </p:nvSpPr>
        <p:spPr>
          <a:xfrm>
            <a:off x="8092440" y="1783080"/>
            <a:ext cx="3474720" cy="3566160"/>
          </a:xfrm>
          <a:prstGeom prst="roundRect">
            <a:avLst>
              <a:gd name="adj" fmla="val 2368"/>
            </a:avLst>
          </a:prstGeom>
          <a:solidFill>
            <a:srgbClr val="ECEAE4"/>
          </a:solidFill>
          <a:ln w="12700">
            <a:solidFill>
              <a:srgbClr val="ECEAE4"/>
            </a:solidFill>
            <a:prstDash val="solid"/>
          </a:ln>
        </p:spPr>
        <p:txBody>
          <a:bodyPr/>
          <a:p/>
        </p:txBody>
      </p:sp>
      <p:sp>
        <p:nvSpPr>
          <p:cNvPr id="13" name="Text 11"/>
          <p:cNvSpPr/>
          <p:nvPr/>
        </p:nvSpPr>
        <p:spPr>
          <a:xfrm>
            <a:off x="8321040" y="1874520"/>
            <a:ext cx="3017520" cy="6400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Ce faceți cu semnalul</a:t>
            </a:r>
            <a:endParaRPr lang="en-US" sz="1700" dirty="0"/>
          </a:p>
        </p:txBody>
      </p:sp>
      <p:sp>
        <p:nvSpPr>
          <p:cNvPr id="14" name="Text 12"/>
          <p:cNvSpPr/>
          <p:nvPr/>
        </p:nvSpPr>
        <p:spPr>
          <a:xfrm>
            <a:off x="8321040" y="2651760"/>
            <a:ext cx="3017520" cy="246888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[distribuția răspunsurilor din Forms]</a:t>
            </a:r>
            <a:endParaRPr lang="en-US" sz="1300" dirty="0"/>
          </a:p>
        </p:txBody>
      </p:sp>
      <p:sp>
        <p:nvSpPr>
          <p:cNvPr id="15" name="Text 13"/>
          <p:cNvSpPr/>
          <p:nvPr/>
        </p:nvSpPr>
        <p:spPr>
          <a:xfrm>
            <a:off x="594360" y="5532120"/>
            <a:ext cx="1097280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Unde s-a greșit cel mai des și de ce?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SINTEZA · UNDE S-A MUTAT DECIZIA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Cine decide, când și pe ce?</a:t>
            </a:r>
            <a:endParaRPr lang="en-US" sz="3600" dirty="0"/>
          </a:p>
        </p:txBody>
      </p:sp>
      <p:sp>
        <p:nvSpPr>
          <p:cNvPr id="4" name="Shape 2"/>
          <p:cNvSpPr/>
          <p:nvPr/>
        </p:nvSpPr>
        <p:spPr>
          <a:xfrm>
            <a:off x="594360" y="178308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5" name="Shape 3"/>
          <p:cNvSpPr/>
          <p:nvPr/>
        </p:nvSpPr>
        <p:spPr>
          <a:xfrm>
            <a:off x="914400" y="2052828"/>
            <a:ext cx="420624" cy="420624"/>
          </a:xfrm>
          <a:prstGeom prst="ellipse">
            <a:avLst/>
          </a:prstGeom>
          <a:solidFill>
            <a:srgbClr val="FFC24B"/>
          </a:solidFill>
          <a:ln/>
        </p:spPr>
        <p:txBody>
          <a:bodyPr/>
          <a:p/>
        </p:txBody>
      </p:sp>
      <p:sp>
        <p:nvSpPr>
          <p:cNvPr id="6" name="Text 4"/>
          <p:cNvSpPr/>
          <p:nvPr/>
        </p:nvSpPr>
        <p:spPr>
          <a:xfrm>
            <a:off x="914400" y="20528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783080"/>
            <a:ext cx="9692640" cy="9601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Când: semnalul vine înaintea fișei; apele uzate adună ce elimină toți cei legați la canalizare, cu simptome sau fără</a:t>
            </a:r>
            <a:endParaRPr lang="en-US" sz="1700" dirty="0"/>
          </a:p>
        </p:txBody>
      </p:sp>
      <p:sp>
        <p:nvSpPr>
          <p:cNvPr id="8" name="Shape 6"/>
          <p:cNvSpPr/>
          <p:nvPr/>
        </p:nvSpPr>
        <p:spPr>
          <a:xfrm>
            <a:off x="594360" y="2898648"/>
            <a:ext cx="10972800" cy="960120"/>
          </a:xfrm>
          <a:prstGeom prst="roundRect">
            <a:avLst>
              <a:gd name="adj" fmla="val 8571"/>
            </a:avLst>
          </a:prstGeom>
          <a:solidFill>
            <a:srgbClr val="1D1F2B"/>
          </a:solidFill>
          <a:ln w="12700">
            <a:solidFill>
              <a:srgbClr val="1D1F2B"/>
            </a:solidFill>
            <a:prstDash val="solid"/>
          </a:ln>
        </p:spPr>
        <p:txBody>
          <a:bodyPr/>
          <a:p/>
        </p:txBody>
      </p:sp>
      <p:sp>
        <p:nvSpPr>
          <p:cNvPr id="9" name="Shape 7"/>
          <p:cNvSpPr/>
          <p:nvPr/>
        </p:nvSpPr>
        <p:spPr>
          <a:xfrm>
            <a:off x="914400" y="3168396"/>
            <a:ext cx="420624" cy="420624"/>
          </a:xfrm>
          <a:prstGeom prst="ellipse">
            <a:avLst/>
          </a:prstGeom>
          <a:solidFill>
            <a:srgbClr val="FFC24B"/>
          </a:solidFill>
          <a:ln/>
        </p:spPr>
        <p:txBody>
          <a:bodyPr/>
          <a:p/>
        </p:txBody>
      </p:sp>
      <p:sp>
        <p:nvSpPr>
          <p:cNvPr id="10" name="Text 8"/>
          <p:cNvSpPr/>
          <p:nvPr/>
        </p:nvSpPr>
        <p:spPr>
          <a:xfrm>
            <a:off x="914400" y="31683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898648"/>
            <a:ext cx="9692640" cy="9601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Pe ce: semnalul se citește față de apa și oamenii din spatele probei; contează cantitatea pe zi</a:t>
            </a:r>
            <a:endParaRPr lang="en-US" sz="1700" dirty="0"/>
          </a:p>
        </p:txBody>
      </p:sp>
      <p:sp>
        <p:nvSpPr>
          <p:cNvPr id="12" name="Shape 10"/>
          <p:cNvSpPr/>
          <p:nvPr/>
        </p:nvSpPr>
        <p:spPr>
          <a:xfrm>
            <a:off x="594360" y="4014216"/>
            <a:ext cx="10972800" cy="960120"/>
          </a:xfrm>
          <a:prstGeom prst="roundRect">
            <a:avLst>
              <a:gd name="adj" fmla="val 8571"/>
            </a:avLst>
          </a:prstGeom>
          <a:solidFill>
            <a:srgbClr val="1D1F2B"/>
          </a:solidFill>
          <a:ln w="12700">
            <a:solidFill>
              <a:srgbClr val="1D1F2B"/>
            </a:solidFill>
            <a:prstDash val="solid"/>
          </a:ln>
        </p:spPr>
        <p:txBody>
          <a:bodyPr/>
          <a:p/>
        </p:txBody>
      </p:sp>
      <p:sp>
        <p:nvSpPr>
          <p:cNvPr id="13" name="Shape 11"/>
          <p:cNvSpPr/>
          <p:nvPr/>
        </p:nvSpPr>
        <p:spPr>
          <a:xfrm>
            <a:off x="914400" y="4283964"/>
            <a:ext cx="420624" cy="420624"/>
          </a:xfrm>
          <a:prstGeom prst="ellipse">
            <a:avLst/>
          </a:prstGeom>
          <a:solidFill>
            <a:srgbClr val="FFC24B"/>
          </a:solidFill>
          <a:ln/>
        </p:spPr>
        <p:txBody>
          <a:bodyPr/>
          <a:p/>
        </p:txBody>
      </p:sp>
      <p:sp>
        <p:nvSpPr>
          <p:cNvPr id="14" name="Text 12"/>
          <p:cNvSpPr/>
          <p:nvPr/>
        </p:nvSpPr>
        <p:spPr>
          <a:xfrm>
            <a:off x="914400" y="42839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4014216"/>
            <a:ext cx="9692640" cy="9601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Cine: autoritatea decide ce face cu el, citindu-l împreună cu datele clinice</a:t>
            </a:r>
            <a:endParaRPr lang="en-US" sz="1700" dirty="0"/>
          </a:p>
        </p:txBody>
      </p:sp>
      <p:sp>
        <p:nvSpPr>
          <p:cNvPr id="16" name="Text 14"/>
          <p:cNvSpPr/>
          <p:nvPr/>
        </p:nvSpPr>
        <p:spPr>
          <a:xfrm>
            <a:off x="594360" y="5257800"/>
            <a:ext cx="10972800" cy="73152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Articolul 17 al directivei europene se oprește aici: nu spune ce fac autoritățile mai departe.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CE ÎNSEAMNĂ PENTRU VOI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Ca studenți și ca viitori medici</a:t>
            </a:r>
            <a:endParaRPr lang="en-US" sz="3600" dirty="0"/>
          </a:p>
        </p:txBody>
      </p:sp>
      <p:sp>
        <p:nvSpPr>
          <p:cNvPr id="4" name="Shape 2"/>
          <p:cNvSpPr/>
          <p:nvPr/>
        </p:nvSpPr>
        <p:spPr>
          <a:xfrm>
            <a:off x="594360" y="1783080"/>
            <a:ext cx="10972800" cy="1097280"/>
          </a:xfrm>
          <a:prstGeom prst="roundRect">
            <a:avLst>
              <a:gd name="adj" fmla="val 7500"/>
            </a:avLst>
          </a:prstGeom>
          <a:solidFill>
            <a:srgbClr val="ECEAE4"/>
          </a:solidFill>
          <a:ln w="12700">
            <a:solidFill>
              <a:srgbClr val="ECEAE4"/>
            </a:solidFill>
            <a:prstDash val="solid"/>
          </a:ln>
        </p:spPr>
        <p:txBody>
          <a:bodyPr/>
          <a:p/>
        </p:txBody>
      </p:sp>
      <p:sp>
        <p:nvSpPr>
          <p:cNvPr id="5" name="Shape 3"/>
          <p:cNvSpPr/>
          <p:nvPr/>
        </p:nvSpPr>
        <p:spPr>
          <a:xfrm>
            <a:off x="914400" y="2121408"/>
            <a:ext cx="420624" cy="420624"/>
          </a:xfrm>
          <a:prstGeom prst="ellipse">
            <a:avLst/>
          </a:prstGeom>
          <a:solidFill>
            <a:srgbClr val="0E7C6B"/>
          </a:solidFill>
          <a:ln/>
        </p:spPr>
        <p:txBody>
          <a:bodyPr/>
          <a:p/>
        </p:txBody>
      </p:sp>
      <p:sp>
        <p:nvSpPr>
          <p:cNvPr id="6" name="Text 4"/>
          <p:cNvSpPr/>
          <p:nvPr/>
        </p:nvSpPr>
        <p:spPr>
          <a:xfrm>
            <a:off x="914400" y="21214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783080"/>
            <a:ext cx="9692640" cy="10972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Ca studenți: aveți dreptul să întrebați ce se caută într-o probă din apa unui cămin, cine vede rezultatul și ce urmează</a:t>
            </a:r>
            <a:endParaRPr lang="en-US" sz="1700" dirty="0"/>
          </a:p>
        </p:txBody>
      </p:sp>
      <p:sp>
        <p:nvSpPr>
          <p:cNvPr id="8" name="Shape 6"/>
          <p:cNvSpPr/>
          <p:nvPr/>
        </p:nvSpPr>
        <p:spPr>
          <a:xfrm>
            <a:off x="594360" y="3063240"/>
            <a:ext cx="10972800" cy="1097280"/>
          </a:xfrm>
          <a:prstGeom prst="roundRect">
            <a:avLst>
              <a:gd name="adj" fmla="val 7500"/>
            </a:avLst>
          </a:prstGeom>
          <a:solidFill>
            <a:srgbClr val="ECEAE4"/>
          </a:solidFill>
          <a:ln w="12700">
            <a:solidFill>
              <a:srgbClr val="ECEAE4"/>
            </a:solidFill>
            <a:prstDash val="solid"/>
          </a:ln>
        </p:spPr>
        <p:txBody>
          <a:bodyPr/>
          <a:p/>
        </p:txBody>
      </p:sp>
      <p:sp>
        <p:nvSpPr>
          <p:cNvPr id="9" name="Shape 7"/>
          <p:cNvSpPr/>
          <p:nvPr/>
        </p:nvSpPr>
        <p:spPr>
          <a:xfrm>
            <a:off x="914400" y="3401568"/>
            <a:ext cx="420624" cy="420624"/>
          </a:xfrm>
          <a:prstGeom prst="ellipse">
            <a:avLst/>
          </a:prstGeom>
          <a:solidFill>
            <a:srgbClr val="0E7C6B"/>
          </a:solidFill>
          <a:ln/>
        </p:spPr>
        <p:txBody>
          <a:bodyPr/>
          <a:p/>
        </p:txBody>
      </p:sp>
      <p:sp>
        <p:nvSpPr>
          <p:cNvPr id="10" name="Text 8"/>
          <p:cNvSpPr/>
          <p:nvPr/>
        </p:nvSpPr>
        <p:spPr>
          <a:xfrm>
            <a:off x="914400" y="3401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3063240"/>
            <a:ext cx="9692640" cy="10972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Ca viitori medici: semnalul din apele uzate este un motiv să fiți atenți la pacienții cu simptome, nu o listă de bolnavi</a:t>
            </a:r>
            <a:endParaRPr lang="en-US" sz="1700" dirty="0"/>
          </a:p>
        </p:txBody>
      </p:sp>
      <p:sp>
        <p:nvSpPr>
          <p:cNvPr id="12" name="Shape 10"/>
          <p:cNvSpPr/>
          <p:nvPr/>
        </p:nvSpPr>
        <p:spPr>
          <a:xfrm>
            <a:off x="594360" y="4343400"/>
            <a:ext cx="10972800" cy="1097280"/>
          </a:xfrm>
          <a:prstGeom prst="roundRect">
            <a:avLst>
              <a:gd name="adj" fmla="val 7500"/>
            </a:avLst>
          </a:prstGeom>
          <a:solidFill>
            <a:srgbClr val="ECEAE4"/>
          </a:solidFill>
          <a:ln w="12700">
            <a:solidFill>
              <a:srgbClr val="ECEAE4"/>
            </a:solidFill>
            <a:prstDash val="solid"/>
          </a:ln>
        </p:spPr>
        <p:txBody>
          <a:bodyPr/>
          <a:p/>
        </p:txBody>
      </p:sp>
      <p:sp>
        <p:nvSpPr>
          <p:cNvPr id="13" name="Shape 11"/>
          <p:cNvSpPr/>
          <p:nvPr/>
        </p:nvSpPr>
        <p:spPr>
          <a:xfrm>
            <a:off x="914400" y="4681728"/>
            <a:ext cx="420624" cy="420624"/>
          </a:xfrm>
          <a:prstGeom prst="ellipse">
            <a:avLst/>
          </a:prstGeom>
          <a:solidFill>
            <a:srgbClr val="0E7C6B"/>
          </a:solidFill>
          <a:ln/>
        </p:spPr>
        <p:txBody>
          <a:bodyPr/>
          <a:p/>
        </p:txBody>
      </p:sp>
      <p:sp>
        <p:nvSpPr>
          <p:cNvPr id="14" name="Text 12"/>
          <p:cNvSpPr/>
          <p:nvPr/>
        </p:nvSpPr>
        <p:spPr>
          <a:xfrm>
            <a:off x="914400" y="46817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4343400"/>
            <a:ext cx="9692640" cy="10972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Când citiți că „virusul a crescut”, întrebați întâi dacă a plouat și câți oameni sunt legați la stație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2926080" cy="32918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685800" y="822960"/>
            <a:ext cx="292608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A DOUA ORĂ · ACASĂ</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Un formular individual, cu contul UMF</a:t>
            </a:r>
            <a:endParaRPr lang="en-US" sz="3800" dirty="0"/>
          </a:p>
        </p:txBody>
      </p:sp>
      <p:sp>
        <p:nvSpPr>
          <p:cNvPr id="5" name="Shape 3"/>
          <p:cNvSpPr/>
          <p:nvPr/>
        </p:nvSpPr>
        <p:spPr>
          <a:xfrm>
            <a:off x="594360" y="2514600"/>
            <a:ext cx="7498080" cy="731520"/>
          </a:xfrm>
          <a:prstGeom prst="roundRect">
            <a:avLst>
              <a:gd name="adj" fmla="val 11250"/>
            </a:avLst>
          </a:prstGeom>
          <a:solidFill>
            <a:srgbClr val="1D1F2B"/>
          </a:solidFill>
          <a:ln w="12700">
            <a:solidFill>
              <a:srgbClr val="1D1F2B"/>
            </a:solidFill>
            <a:prstDash val="solid"/>
          </a:ln>
        </p:spPr>
        <p:txBody>
          <a:bodyPr/>
          <a:p/>
        </p:txBody>
      </p:sp>
      <p:sp>
        <p:nvSpPr>
          <p:cNvPr id="6" name="Shape 4"/>
          <p:cNvSpPr/>
          <p:nvPr/>
        </p:nvSpPr>
        <p:spPr>
          <a:xfrm>
            <a:off x="914400" y="2670048"/>
            <a:ext cx="420624" cy="420624"/>
          </a:xfrm>
          <a:prstGeom prst="ellipse">
            <a:avLst/>
          </a:prstGeom>
          <a:solidFill>
            <a:srgbClr val="FFC24B"/>
          </a:solidFill>
          <a:ln/>
        </p:spPr>
        <p:txBody>
          <a:bodyPr/>
          <a:p/>
        </p:txBody>
      </p:sp>
      <p:sp>
        <p:nvSpPr>
          <p:cNvPr id="7" name="Text 5"/>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600200" y="2514600"/>
            <a:ext cx="621792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Pasul al patrulea: canalizarea unui cămin</a:t>
            </a:r>
            <a:endParaRPr lang="en-US" sz="1700" dirty="0"/>
          </a:p>
        </p:txBody>
      </p:sp>
      <p:sp>
        <p:nvSpPr>
          <p:cNvPr id="9" name="Shape 7"/>
          <p:cNvSpPr/>
          <p:nvPr/>
        </p:nvSpPr>
        <p:spPr>
          <a:xfrm>
            <a:off x="594360" y="3383280"/>
            <a:ext cx="7498080" cy="731520"/>
          </a:xfrm>
          <a:prstGeom prst="roundRect">
            <a:avLst>
              <a:gd name="adj" fmla="val 11250"/>
            </a:avLst>
          </a:prstGeom>
          <a:solidFill>
            <a:srgbClr val="1D1F2B"/>
          </a:solidFill>
          <a:ln w="12700">
            <a:solidFill>
              <a:srgbClr val="1D1F2B"/>
            </a:solidFill>
            <a:prstDash val="solid"/>
          </a:ln>
        </p:spPr>
        <p:txBody>
          <a:bodyPr/>
          <a:p/>
        </p:txBody>
      </p:sp>
      <p:sp>
        <p:nvSpPr>
          <p:cNvPr id="10" name="Shape 8"/>
          <p:cNvSpPr/>
          <p:nvPr/>
        </p:nvSpPr>
        <p:spPr>
          <a:xfrm>
            <a:off x="914400" y="3538728"/>
            <a:ext cx="420624" cy="420624"/>
          </a:xfrm>
          <a:prstGeom prst="ellipse">
            <a:avLst/>
          </a:prstGeom>
          <a:solidFill>
            <a:srgbClr val="FFC24B"/>
          </a:solidFill>
          <a:ln/>
        </p:spPr>
        <p:txBody>
          <a:bodyPr/>
          <a:p/>
        </p:txBody>
      </p:sp>
      <p:sp>
        <p:nvSpPr>
          <p:cNvPr id="11" name="Text 9"/>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600200" y="3383280"/>
            <a:ext cx="621792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 întrebare despre cum se raportează semnalul la numărul locuitorilor</a:t>
            </a:r>
            <a:endParaRPr lang="en-US" sz="1700" dirty="0"/>
          </a:p>
        </p:txBody>
      </p:sp>
      <p:sp>
        <p:nvSpPr>
          <p:cNvPr id="13" name="Shape 11"/>
          <p:cNvSpPr/>
          <p:nvPr/>
        </p:nvSpPr>
        <p:spPr>
          <a:xfrm>
            <a:off x="594360" y="4251960"/>
            <a:ext cx="7498080" cy="731520"/>
          </a:xfrm>
          <a:prstGeom prst="roundRect">
            <a:avLst>
              <a:gd name="adj" fmla="val 11250"/>
            </a:avLst>
          </a:prstGeom>
          <a:solidFill>
            <a:srgbClr val="1D1F2B"/>
          </a:solidFill>
          <a:ln w="12700">
            <a:solidFill>
              <a:srgbClr val="1D1F2B"/>
            </a:solidFill>
            <a:prstDash val="solid"/>
          </a:ln>
        </p:spPr>
        <p:txBody>
          <a:bodyPr/>
          <a:p/>
        </p:txBody>
      </p:sp>
      <p:sp>
        <p:nvSpPr>
          <p:cNvPr id="14" name="Shape 12"/>
          <p:cNvSpPr/>
          <p:nvPr/>
        </p:nvSpPr>
        <p:spPr>
          <a:xfrm>
            <a:off x="914400" y="4407408"/>
            <a:ext cx="420624" cy="420624"/>
          </a:xfrm>
          <a:prstGeom prst="ellipse">
            <a:avLst/>
          </a:prstGeom>
          <a:solidFill>
            <a:srgbClr val="FFC24B"/>
          </a:solidFill>
          <a:ln/>
        </p:spPr>
        <p:txBody>
          <a:bodyPr/>
          <a:p/>
        </p:txBody>
      </p:sp>
      <p:sp>
        <p:nvSpPr>
          <p:cNvPr id="15" name="Text 13"/>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1600200" y="4251960"/>
            <a:ext cx="621792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 întrebare despre ce cere legislația europeană</a:t>
            </a:r>
            <a:endParaRPr lang="en-US" sz="1700" dirty="0"/>
          </a:p>
        </p:txBody>
      </p:sp>
      <p:sp>
        <p:nvSpPr>
          <p:cNvPr id="17" name="Shape 15"/>
          <p:cNvSpPr/>
          <p:nvPr/>
        </p:nvSpPr>
        <p:spPr>
          <a:xfrm>
            <a:off x="594360" y="5120640"/>
            <a:ext cx="7498080" cy="731520"/>
          </a:xfrm>
          <a:prstGeom prst="roundRect">
            <a:avLst>
              <a:gd name="adj" fmla="val 11250"/>
            </a:avLst>
          </a:prstGeom>
          <a:solidFill>
            <a:srgbClr val="1D1F2B"/>
          </a:solidFill>
          <a:ln w="12700">
            <a:solidFill>
              <a:srgbClr val="1D1F2B"/>
            </a:solidFill>
            <a:prstDash val="solid"/>
          </a:ln>
        </p:spPr>
        <p:txBody>
          <a:bodyPr/>
          <a:p/>
        </p:txBody>
      </p:sp>
      <p:sp>
        <p:nvSpPr>
          <p:cNvPr id="18" name="Shape 16"/>
          <p:cNvSpPr/>
          <p:nvPr/>
        </p:nvSpPr>
        <p:spPr>
          <a:xfrm>
            <a:off x="914400" y="5276088"/>
            <a:ext cx="420624" cy="420624"/>
          </a:xfrm>
          <a:prstGeom prst="ellipse">
            <a:avLst/>
          </a:prstGeom>
          <a:solidFill>
            <a:srgbClr val="FFC24B"/>
          </a:solidFill>
          <a:ln/>
        </p:spPr>
        <p:txBody>
          <a:bodyPr/>
          <a:p/>
        </p:txBody>
      </p:sp>
      <p:sp>
        <p:nvSpPr>
          <p:cNvPr id="19" name="Text 17"/>
          <p:cNvSpPr/>
          <p:nvPr/>
        </p:nvSpPr>
        <p:spPr>
          <a:xfrm>
            <a:off x="914400" y="5276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0" name="Text 18"/>
          <p:cNvSpPr/>
          <p:nvPr/>
        </p:nvSpPr>
        <p:spPr>
          <a:xfrm>
            <a:off x="1600200" y="5120640"/>
            <a:ext cx="621792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Linkul îl primiți și pe e-mailul instituțional și pe Teams; termenul este ședința următoare; formularul nu se notează</a:t>
            </a:r>
            <a:endParaRPr lang="en-US" sz="1700" dirty="0"/>
          </a:p>
        </p:txBody>
      </p:sp>
      <p:sp>
        <p:nvSpPr>
          <p:cNvPr id="21" name="Shape 19"/>
          <p:cNvSpPr/>
          <p:nvPr/>
        </p:nvSpPr>
        <p:spPr>
          <a:xfrm>
            <a:off x="8549640" y="2514600"/>
            <a:ext cx="3017520" cy="2606040"/>
          </a:xfrm>
          <a:prstGeom prst="roundRect">
            <a:avLst>
              <a:gd name="adj" fmla="val 3158"/>
            </a:avLst>
          </a:prstGeom>
          <a:solidFill>
            <a:srgbClr val="FFFFFF"/>
          </a:solidFill>
          <a:ln w="12700">
            <a:solidFill>
              <a:srgbClr val="FFFFFF"/>
            </a:solidFill>
            <a:prstDash val="solid"/>
          </a:ln>
        </p:spPr>
        <p:txBody>
          <a:bodyPr/>
          <a:p/>
        </p:txBody>
      </p:sp>
      <p:sp>
        <p:nvSpPr>
          <p:cNvPr id="23" name="Text 21"/>
          <p:cNvSpPr/>
          <p:nvPr/>
        </p:nvSpPr>
        <p:spPr>
          <a:xfrm>
            <a:off x="8549640" y="5257800"/>
            <a:ext cx="3017520" cy="900000"/>
          </a:xfrm>
          <a:prstGeom prst="rect">
            <a:avLst/>
          </a:prstGeom>
          <a:noFill/>
          <a:ln/>
        </p:spPr>
        <p:txBody>
          <a:bodyPr wrap="square" lIns="0" tIns="0" rIns="0" bIns="0" rtlCol="0" anchor="t"/>
          <a:lstStyle/>
          <a:p>
            <a:pPr algn="ctr" indent="0" marL="0">
              <a:buNone/>
            </a:pPr>
            <a:r>
              <a:rPr lang="en-US" sz="800" dirty="0">
                <a:solidFill>
                  <a:srgbClr val="959BB0"/>
                </a:solidFill>
                <a:latin typeface="Palatino Linotype" pitchFamily="34" charset="0"/>
                <a:ea typeface="Palatino Linotype" pitchFamily="34" charset="-122"/>
                <a:cs typeface="Palatino Linotype" pitchFamily="34" charset="-120"/>
              </a:rPr>
              <a:t>https://forms.cloud.microsoft/Pages/ResponsePage.aspx?id=Ja-p_IQ7bEyXNp1c3OIQxcVVqiPRLBZPnSRyYXMyGOZURU9MMDM1WFEzQlBUQVc0NUdXWDNFMVVRWC4u</a:t>
            </a:r>
            <a:endParaRPr lang="en-US" sz="1300" dirty="0"/>
          </a:p>
        </p:txBody>
      </p:sp>
      <p:pic>
        <p:nvPicPr>
          <p:cNvPr id="24" name="Picture 23" descr="Detectivii_LP03_acasa.png"/>
          <p:cNvPicPr>
            <a:picLocks noChangeAspect="1"/>
          </p:cNvPicPr>
          <p:nvPr/>
        </p:nvPicPr>
        <p:blipFill>
          <a:blip r:embed="rId3"/>
          <a:stretch>
            <a:fillRect/>
          </a:stretch>
        </p:blipFill>
        <p:spPr>
          <a:xfrm>
            <a:off x="8755380" y="2514600"/>
            <a:ext cx="2606040" cy="26060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93192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93192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Biletul de ieșire</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5" name="Text 13"/>
          <p:cNvSpPr/>
          <p:nvPr/>
        </p:nvSpPr>
        <p:spPr>
          <a:xfrm>
            <a:off x="8549640" y="2514600"/>
            <a:ext cx="3017520" cy="246888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400" dirty="0"/>
          </a:p>
        </p:txBody>
      </p:sp>
      <p:sp>
        <p:nvSpPr>
          <p:cNvPr id="16" name="Text 14"/>
          <p:cNvSpPr/>
          <p:nvPr/>
        </p:nvSpPr>
        <p:spPr>
          <a:xfrm>
            <a:off x="8549640" y="5074920"/>
            <a:ext cx="3017520" cy="731520"/>
          </a:xfrm>
          <a:prstGeom prst="rect">
            <a:avLst/>
          </a:prstGeom>
          <a:noFill/>
          <a:ln/>
        </p:spPr>
        <p:txBody>
          <a:bodyPr wrap="square" lIns="0" tIns="0" rIns="0" bIns="0" rtlCol="0" anchor="t"/>
          <a:lstStyle/>
          <a:p>
            <a:pPr algn="ctr" indent="0" marL="0">
              <a:buNone/>
            </a:pPr>
            <a:r>
              <a:rPr lang="en-US" sz="1400" b="1" i="1" dirty="0">
                <a:solidFill>
                  <a:srgbClr val="FFC24B"/>
                </a:solidFill>
                <a:latin typeface="Palatino Linotype" pitchFamily="34" charset="0"/>
                <a:ea typeface="Palatino Linotype" pitchFamily="34" charset="-122"/>
                <a:cs typeface="Palatino Linotype" pitchFamily="34" charset="-120"/>
              </a:rPr>
              <a:t>Răspundeți pe telefon, la codul afișat. Mentimeter, anonim.</a:t>
            </a:r>
            <a:endParaRPr lang="en-US" sz="1400" dirty="0"/>
          </a:p>
        </p:txBody>
      </p:sp>
      <p:sp>
        <p:nvSpPr>
          <p:cNvPr id="17" name="Text 15"/>
          <p:cNvSpPr/>
          <p:nvPr/>
        </p:nvSpPr>
        <p:spPr>
          <a:xfrm>
            <a:off x="594360" y="5349240"/>
            <a:ext cx="768096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Răspunsurile stau la baza modificărilor anunțate la începutul ședinței următoare.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Lucrarea practică 3 - Supravegherea apelor uzate: semnalul care vine înaintea fișei</dc:title>
  <dc:subject>PptxGenJS Presentation</dc:subject>
  <dc:creator>Conf. Univ. Dr. Adrian Pana</dc:creator>
  <cp:lastModifiedBy>Conf. Univ. Dr. Adrian Pana</cp:lastModifiedBy>
  <cp:revision>1</cp:revision>
  <dcterms:created xsi:type="dcterms:W3CDTF">2026-10-17T08:20:51Z</dcterms:created>
  <dcterms:modified xsi:type="dcterms:W3CDTF">2026-10-17T08:20:51Z</dcterms:modified>
  <cp:keywords>sursa_amprenta=8f2ea78367afcfc5; proiectie</cp:keywords>
</cp:coreProperties>
</file>