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de azi continuă cursul: aceeași întrebare, pusă de data aceasta de voi. Dintre colegii care s-au îmbolnăvit, câți ajung în cifra oficială și unde se pierd ceilalți?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Sâmbătă seara, o colegă își serbează ziua în bucătăria comună a etajului trei. Duminică dimineață, grupul căminului se umple de mesaje. Miercuri, autoritatea primește două fișe de declarare cu aceeași adresă și cere o anchetă.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Înainte de orice calcul, un vot anonim: dacă v-ați fi îmbolnăvit la această petrecere, ați fi ajuns în cifra oficială a bolii? La finalul lucrării ne întoarcem la 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 grupați câte trei sau patru vecini de bancă. Un singur formular pe grup, de pe un singur telefon. Fiecare pas se deschide numai după ce grupul alege varianta potrivită la întrebarea cu variante.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Înainte de a număra bolnavii, scrieți regula după care îi numărați. O definiție de caz are patru elemente: semnele, locul, timpul și persoana. Nu conține alimentul pe care îl bănuiți.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Piramida supravegherii are cinci trepte: îmbolnăvirea, mersul la medic, proba, rezultatul pozitiv și raportarea. Acum le numărați pe un focar întreg.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singur bolnav a fost internat, colegul ajuns la camera de gardă. O pagină de știri locale preia datele oficiale și titrează. Ați crede acest titlu?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După fiecare pas, ne uităm împreună la distribuția răspunsurilor grupurilor: unde s-a greșit cel mai des și de 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Răspunsul care se potrivește cu acest focar este „probabil nu”. Un bolnav din cămin avea cam o șansă din șaisprezece să ajungă în cifra oficială.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(b) are toate cele patru elemente. După regula ei, 32 dintre cei 54 de respondenți sunt cazuri, adică cam șase din zece.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Dintre cei 32 de bolnavi, cei mai mulți nu au vorbit cu niciun medic. Celelalte pierderi sunt mici. Primele patru sunt subdiagnosticare, ultima este subraportare.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Titlul împarte un internat la două cazuri declarate. Ancheta a găsit 32 de bolnavi, iar internat a fost tot unul singur, adică 3%. Numărătorul este același; numitorul era prea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Piramida focarului din cămin: din 32 de bolnavi, 2 ajung în cifra oficială. În spatele fiecărui caz declarat stau 16 bolnavi, dar numărul nu se mută automat la alt focar.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Patru lucruri pe care le puteți face diferit de luni dimineață, ca studenți și ca viitori medici.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doua oră o lucrați singuri, acasă, într-un formular individual scurt, cu contul UMF. Termenul este ședința următoare, iar formularul nu intră în notă.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întrebări anonime, pe telefon. Luni veți vedea pe pagina cursului ce am schimbat după răspunsurile voastre.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82032"/>
          </a:solidFill>
          <a:ln/>
        </p:spPr>
      </p:sp>
      <p:sp>
        <p:nvSpPr>
          <p:cNvPr id="3" name="Shape 1"/>
          <p:cNvSpPr/>
          <p:nvPr/>
        </p:nvSpPr>
        <p:spPr>
          <a:xfrm>
            <a:off x="10332720" y="3840480"/>
            <a:ext cx="3474720" cy="3474720"/>
          </a:xfrm>
          <a:prstGeom prst="ellipse">
            <a:avLst/>
          </a:prstGeom>
          <a:solidFill>
            <a:srgbClr val="182032"/>
          </a:solidFill>
          <a:ln/>
        </p:spPr>
      </p:sp>
      <p:sp>
        <p:nvSpPr>
          <p:cNvPr id="4" name="Shape 2"/>
          <p:cNvSpPr/>
          <p:nvPr/>
        </p:nvSpPr>
        <p:spPr>
          <a:xfrm>
            <a:off x="685800" y="777240"/>
            <a:ext cx="3657600" cy="329184"/>
          </a:xfrm>
          <a:prstGeom prst="roundRect">
            <a:avLst>
              <a:gd name="adj" fmla="val 50000"/>
            </a:avLst>
          </a:prstGeom>
          <a:solidFill>
            <a:srgbClr val="27D3BE"/>
          </a:solidFill>
          <a:ln w="12700">
            <a:solidFill>
              <a:srgbClr val="27D3BE"/>
            </a:solidFill>
            <a:prstDash val="solid"/>
          </a:ln>
        </p:spPr>
      </p:sp>
      <p:sp>
        <p:nvSpPr>
          <p:cNvPr id="5" name="Text 3"/>
          <p:cNvSpPr/>
          <p:nvPr/>
        </p:nvSpPr>
        <p:spPr>
          <a:xfrm>
            <a:off x="685800" y="777240"/>
            <a:ext cx="365760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LUCRAREA PRACTICĂ A DOUA</a:t>
            </a:r>
            <a:endParaRPr lang="en-US" sz="1300" dirty="0"/>
          </a:p>
        </p:txBody>
      </p:sp>
      <p:sp>
        <p:nvSpPr>
          <p:cNvPr id="6" name="Text 4"/>
          <p:cNvSpPr/>
          <p:nvPr/>
        </p:nvSpPr>
        <p:spPr>
          <a:xfrm>
            <a:off x="685800" y="1371600"/>
            <a:ext cx="9875520" cy="822960"/>
          </a:xfrm>
          <a:prstGeom prst="rect">
            <a:avLst/>
          </a:prstGeom>
          <a:noFill/>
          <a:ln/>
        </p:spPr>
        <p:txBody>
          <a:bodyPr wrap="square" lIns="0" tIns="0" rIns="0" bIns="0" rtlCol="0" anchor="t"/>
          <a:lstStyle/>
          <a:p>
            <a:pPr indent="0" marL="0">
              <a:buNone/>
            </a:pPr>
            <a:r>
              <a:rPr lang="en-US" sz="4600" b="1" dirty="0">
                <a:solidFill>
                  <a:srgbClr val="FFFFFF"/>
                </a:solidFill>
                <a:latin typeface="Palatino Linotype" pitchFamily="34" charset="0"/>
                <a:ea typeface="Palatino Linotype" pitchFamily="34" charset="-122"/>
                <a:cs typeface="Palatino Linotype" pitchFamily="34" charset="-120"/>
              </a:rPr>
              <a:t>Focarul din cămin</a:t>
            </a:r>
            <a:endParaRPr lang="en-US" sz="4600" dirty="0"/>
          </a:p>
        </p:txBody>
      </p:sp>
      <p:sp>
        <p:nvSpPr>
          <p:cNvPr id="7" name="Text 5"/>
          <p:cNvSpPr/>
          <p:nvPr/>
        </p:nvSpPr>
        <p:spPr>
          <a:xfrm>
            <a:off x="685800" y="2148840"/>
            <a:ext cx="9875520" cy="822960"/>
          </a:xfrm>
          <a:prstGeom prst="rect">
            <a:avLst/>
          </a:prstGeom>
          <a:noFill/>
          <a:ln/>
        </p:spPr>
        <p:txBody>
          <a:bodyPr wrap="square" lIns="0" tIns="0" rIns="0" bIns="0" rtlCol="0" anchor="t"/>
          <a:lstStyle/>
          <a:p>
            <a:pPr indent="0" marL="0">
              <a:buNone/>
            </a:pPr>
            <a:r>
              <a:rPr lang="en-US" sz="4600" b="1" dirty="0">
                <a:solidFill>
                  <a:srgbClr val="27D3BE"/>
                </a:solidFill>
                <a:latin typeface="Palatino Linotype" pitchFamily="34" charset="0"/>
                <a:ea typeface="Palatino Linotype" pitchFamily="34" charset="-122"/>
                <a:cs typeface="Palatino Linotype" pitchFamily="34" charset="-120"/>
              </a:rPr>
              <a:t>Refaceți piramida</a:t>
            </a:r>
            <a:endParaRPr lang="en-US" sz="4600" dirty="0"/>
          </a:p>
        </p:txBody>
      </p:sp>
      <p:sp>
        <p:nvSpPr>
          <p:cNvPr id="8" name="Text 6"/>
          <p:cNvSpPr/>
          <p:nvPr/>
        </p:nvSpPr>
        <p:spPr>
          <a:xfrm>
            <a:off x="685800" y="2926080"/>
            <a:ext cx="9875520" cy="822960"/>
          </a:xfrm>
          <a:prstGeom prst="rect">
            <a:avLst/>
          </a:prstGeom>
          <a:noFill/>
          <a:ln/>
        </p:spPr>
        <p:txBody>
          <a:bodyPr wrap="square" lIns="0" tIns="0" rIns="0" bIns="0" rtlCol="0" anchor="t"/>
          <a:lstStyle/>
          <a:p>
            <a:pPr indent="0" marL="0">
              <a:buNone/>
            </a:pPr>
            <a:r>
              <a:rPr lang="en-US" sz="4600" b="1" dirty="0">
                <a:solidFill>
                  <a:srgbClr val="27D3BE"/>
                </a:solidFill>
                <a:latin typeface="Palatino Linotype" pitchFamily="34" charset="0"/>
                <a:ea typeface="Palatino Linotype" pitchFamily="34" charset="-122"/>
                <a:cs typeface="Palatino Linotype" pitchFamily="34" charset="-120"/>
              </a:rPr>
              <a:t>supravegherii</a:t>
            </a:r>
            <a:endParaRPr lang="en-US" sz="4600" dirty="0"/>
          </a:p>
        </p:txBody>
      </p:sp>
      <p:sp>
        <p:nvSpPr>
          <p:cNvPr id="9" name="Text 7"/>
          <p:cNvSpPr/>
          <p:nvPr/>
        </p:nvSpPr>
        <p:spPr>
          <a:xfrm>
            <a:off x="685800" y="3886200"/>
            <a:ext cx="10241280" cy="45720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Un focar construit pentru exercițiu, urmărit de la primul bolnav până la fișa de declarare</a:t>
            </a:r>
            <a:endParaRPr lang="en-US" sz="1800" dirty="0"/>
          </a:p>
        </p:txBody>
      </p:sp>
      <p:sp>
        <p:nvSpPr>
          <p:cNvPr id="10" name="Shape 8"/>
          <p:cNvSpPr/>
          <p:nvPr/>
        </p:nvSpPr>
        <p:spPr>
          <a:xfrm>
            <a:off x="713232" y="4526280"/>
            <a:ext cx="1280160" cy="27432"/>
          </a:xfrm>
          <a:prstGeom prst="rect">
            <a:avLst/>
          </a:prstGeom>
          <a:solidFill>
            <a:srgbClr val="FF4757"/>
          </a:solidFill>
          <a:ln/>
        </p:spPr>
      </p:sp>
      <p:sp>
        <p:nvSpPr>
          <p:cNvPr id="11" name="Text 9"/>
          <p:cNvSpPr/>
          <p:nvPr/>
        </p:nvSpPr>
        <p:spPr>
          <a:xfrm>
            <a:off x="685800" y="4800600"/>
            <a:ext cx="10058400" cy="73152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Detectivii epidemiilor: cum ucid bolile milioane de oameni și cum le oprim</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CAZ CONSTRUIT PENTRU EXERCIȚIU · DUMINICĂ DIMINEAȚA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Petrecerea de la etajul trei</a:t>
            </a:r>
            <a:endParaRPr lang="en-US" sz="3100" dirty="0"/>
          </a:p>
        </p:txBody>
      </p:sp>
      <p:sp>
        <p:nvSpPr>
          <p:cNvPr id="4" name="Shape 2"/>
          <p:cNvSpPr/>
          <p:nvPr/>
        </p:nvSpPr>
        <p:spPr>
          <a:xfrm>
            <a:off x="594360" y="1691640"/>
            <a:ext cx="4937760" cy="3931920"/>
          </a:xfrm>
          <a:prstGeom prst="roundRect">
            <a:avLst>
              <a:gd name="adj" fmla="val 2093"/>
            </a:avLst>
          </a:prstGeom>
          <a:solidFill>
            <a:srgbClr val="11121A"/>
          </a:solidFill>
          <a:ln w="12700">
            <a:solidFill>
              <a:srgbClr val="11121A"/>
            </a:solidFill>
            <a:prstDash val="solid"/>
          </a:ln>
        </p:spPr>
      </p:sp>
      <p:sp>
        <p:nvSpPr>
          <p:cNvPr id="5" name="Text 3"/>
          <p:cNvSpPr/>
          <p:nvPr/>
        </p:nvSpPr>
        <p:spPr>
          <a:xfrm>
            <a:off x="868680" y="1828800"/>
            <a:ext cx="4389120" cy="365760"/>
          </a:xfrm>
          <a:prstGeom prst="rect">
            <a:avLst/>
          </a:prstGeom>
          <a:noFill/>
          <a:ln/>
        </p:spPr>
        <p:txBody>
          <a:bodyPr wrap="square" lIns="0" tIns="0" rIns="0" bIns="0" rtlCol="0" anchor="t"/>
          <a:lstStyle/>
          <a:p>
            <a:pPr indent="0" marL="0">
              <a:buNone/>
            </a:pPr>
            <a:r>
              <a:rPr lang="en-US" sz="1500" b="1" dirty="0">
                <a:solidFill>
                  <a:srgbClr val="27D3BE"/>
                </a:solidFill>
                <a:latin typeface="Palatino Linotype" pitchFamily="34" charset="0"/>
                <a:ea typeface="Palatino Linotype" pitchFamily="34" charset="-122"/>
                <a:cs typeface="Palatino Linotype" pitchFamily="34" charset="-120"/>
              </a:rPr>
              <a:t>Grupul căminului</a:t>
            </a:r>
            <a:endParaRPr lang="en-US" sz="1500" dirty="0"/>
          </a:p>
        </p:txBody>
      </p:sp>
      <p:sp>
        <p:nvSpPr>
          <p:cNvPr id="6" name="Shape 4"/>
          <p:cNvSpPr/>
          <p:nvPr/>
        </p:nvSpPr>
        <p:spPr>
          <a:xfrm>
            <a:off x="868680" y="2240280"/>
            <a:ext cx="4389120" cy="18288"/>
          </a:xfrm>
          <a:prstGeom prst="rect">
            <a:avLst/>
          </a:prstGeom>
          <a:solidFill>
            <a:srgbClr val="2E3142"/>
          </a:solidFill>
          <a:ln w="12700">
            <a:solidFill>
              <a:srgbClr val="2E3142"/>
            </a:solidFill>
            <a:prstDash val="solid"/>
          </a:ln>
        </p:spPr>
      </p:sp>
      <p:sp>
        <p:nvSpPr>
          <p:cNvPr id="7" name="Shape 5"/>
          <p:cNvSpPr/>
          <p:nvPr/>
        </p:nvSpPr>
        <p:spPr>
          <a:xfrm>
            <a:off x="868680" y="2423160"/>
            <a:ext cx="4206240" cy="731520"/>
          </a:xfrm>
          <a:prstGeom prst="roundRect">
            <a:avLst>
              <a:gd name="adj" fmla="val 11250"/>
            </a:avLst>
          </a:prstGeom>
          <a:solidFill>
            <a:srgbClr val="272A38"/>
          </a:solidFill>
          <a:ln w="12700">
            <a:solidFill>
              <a:srgbClr val="272A38"/>
            </a:solidFill>
            <a:prstDash val="solid"/>
          </a:ln>
        </p:spPr>
      </p:sp>
      <p:sp>
        <p:nvSpPr>
          <p:cNvPr id="8" name="Text 6"/>
          <p:cNvSpPr/>
          <p:nvPr/>
        </p:nvSpPr>
        <p:spPr>
          <a:xfrm>
            <a:off x="1051560" y="2423160"/>
            <a:ext cx="3840480" cy="7315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Am stat toată noaptea în baie</a:t>
            </a:r>
            <a:endParaRPr lang="en-US" sz="1600" dirty="0"/>
          </a:p>
        </p:txBody>
      </p:sp>
      <p:sp>
        <p:nvSpPr>
          <p:cNvPr id="9" name="Shape 7"/>
          <p:cNvSpPr/>
          <p:nvPr/>
        </p:nvSpPr>
        <p:spPr>
          <a:xfrm>
            <a:off x="868680" y="3291840"/>
            <a:ext cx="4206240" cy="914400"/>
          </a:xfrm>
          <a:prstGeom prst="roundRect">
            <a:avLst>
              <a:gd name="adj" fmla="val 9000"/>
            </a:avLst>
          </a:prstGeom>
          <a:solidFill>
            <a:srgbClr val="272A38"/>
          </a:solidFill>
          <a:ln w="12700">
            <a:solidFill>
              <a:srgbClr val="272A38"/>
            </a:solidFill>
            <a:prstDash val="solid"/>
          </a:ln>
        </p:spPr>
      </p:sp>
      <p:sp>
        <p:nvSpPr>
          <p:cNvPr id="10" name="Text 8"/>
          <p:cNvSpPr/>
          <p:nvPr/>
        </p:nvSpPr>
        <p:spPr>
          <a:xfrm>
            <a:off x="1051560" y="3291840"/>
            <a:ext cx="3840480" cy="91440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Eu am vomitat de două ori, acum sunt bine</a:t>
            </a:r>
            <a:endParaRPr lang="en-US" sz="1600" dirty="0"/>
          </a:p>
        </p:txBody>
      </p:sp>
      <p:sp>
        <p:nvSpPr>
          <p:cNvPr id="11" name="Shape 9"/>
          <p:cNvSpPr/>
          <p:nvPr/>
        </p:nvSpPr>
        <p:spPr>
          <a:xfrm>
            <a:off x="868680" y="4343400"/>
            <a:ext cx="4206240" cy="731520"/>
          </a:xfrm>
          <a:prstGeom prst="roundRect">
            <a:avLst>
              <a:gd name="adj" fmla="val 11250"/>
            </a:avLst>
          </a:prstGeom>
          <a:solidFill>
            <a:srgbClr val="272A38"/>
          </a:solidFill>
          <a:ln w="12700">
            <a:solidFill>
              <a:srgbClr val="272A38"/>
            </a:solidFill>
            <a:prstDash val="solid"/>
          </a:ln>
        </p:spPr>
      </p:sp>
      <p:sp>
        <p:nvSpPr>
          <p:cNvPr id="12" name="Text 10"/>
          <p:cNvSpPr/>
          <p:nvPr/>
        </p:nvSpPr>
        <p:spPr>
          <a:xfrm>
            <a:off x="1051560" y="4343400"/>
            <a:ext cx="3840480" cy="73152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Pe mine mă doare doar stomacul</a:t>
            </a:r>
            <a:endParaRPr lang="en-US" sz="1600" dirty="0"/>
          </a:p>
        </p:txBody>
      </p:sp>
      <p:sp>
        <p:nvSpPr>
          <p:cNvPr id="13" name="Text 11"/>
          <p:cNvSpPr/>
          <p:nvPr/>
        </p:nvSpPr>
        <p:spPr>
          <a:xfrm>
            <a:off x="868680" y="5212080"/>
            <a:ext cx="4389120" cy="320040"/>
          </a:xfrm>
          <a:prstGeom prst="rect">
            <a:avLst/>
          </a:prstGeom>
          <a:noFill/>
          <a:ln/>
        </p:spPr>
        <p:txBody>
          <a:bodyPr wrap="square" lIns="0" tIns="0" rIns="0" bIns="0" rtlCol="0" anchor="t"/>
          <a:lstStyle/>
          <a:p>
            <a:pPr indent="0" marL="0">
              <a:buNone/>
            </a:pPr>
            <a:r>
              <a:rPr lang="en-US" sz="1300" i="1" dirty="0">
                <a:solidFill>
                  <a:srgbClr val="959BB0"/>
                </a:solidFill>
                <a:latin typeface="Palatino Linotype" pitchFamily="34" charset="0"/>
                <a:ea typeface="Palatino Linotype" pitchFamily="34" charset="-122"/>
                <a:cs typeface="Palatino Linotype" pitchFamily="34" charset="-120"/>
              </a:rPr>
              <a:t>Cei mai mulți rămân în pat și beau apă</a:t>
            </a:r>
            <a:endParaRPr lang="en-US" sz="1300" dirty="0"/>
          </a:p>
        </p:txBody>
      </p:sp>
      <p:sp>
        <p:nvSpPr>
          <p:cNvPr id="14" name="Shape 12"/>
          <p:cNvSpPr/>
          <p:nvPr/>
        </p:nvSpPr>
        <p:spPr>
          <a:xfrm>
            <a:off x="5943600" y="1691640"/>
            <a:ext cx="64008" cy="1097280"/>
          </a:xfrm>
          <a:prstGeom prst="rect">
            <a:avLst/>
          </a:prstGeom>
          <a:solidFill>
            <a:srgbClr val="0E7C6B"/>
          </a:solidFill>
          <a:ln w="12700">
            <a:solidFill>
              <a:srgbClr val="0E7C6B"/>
            </a:solidFill>
            <a:prstDash val="solid"/>
          </a:ln>
        </p:spPr>
      </p:sp>
      <p:sp>
        <p:nvSpPr>
          <p:cNvPr id="15" name="Text 13"/>
          <p:cNvSpPr/>
          <p:nvPr/>
        </p:nvSpPr>
        <p:spPr>
          <a:xfrm>
            <a:off x="6217920" y="1691640"/>
            <a:ext cx="5303520" cy="32004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SÂMBĂTĂ SEARA</a:t>
            </a:r>
            <a:endParaRPr lang="en-US" sz="1300" dirty="0"/>
          </a:p>
        </p:txBody>
      </p:sp>
      <p:sp>
        <p:nvSpPr>
          <p:cNvPr id="16" name="Text 14"/>
          <p:cNvSpPr/>
          <p:nvPr/>
        </p:nvSpPr>
        <p:spPr>
          <a:xfrm>
            <a:off x="6217920" y="2039112"/>
            <a:ext cx="5303520" cy="77724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Petrecere în bucătăria comună, 60 de persoane; fiecare aduce ceva de mâncare</a:t>
            </a:r>
            <a:endParaRPr lang="en-US" sz="1700" dirty="0"/>
          </a:p>
        </p:txBody>
      </p:sp>
      <p:sp>
        <p:nvSpPr>
          <p:cNvPr id="17" name="Shape 15"/>
          <p:cNvSpPr/>
          <p:nvPr/>
        </p:nvSpPr>
        <p:spPr>
          <a:xfrm>
            <a:off x="5943600" y="3017520"/>
            <a:ext cx="64008" cy="1097280"/>
          </a:xfrm>
          <a:prstGeom prst="rect">
            <a:avLst/>
          </a:prstGeom>
          <a:solidFill>
            <a:srgbClr val="8A6100"/>
          </a:solidFill>
          <a:ln w="12700">
            <a:solidFill>
              <a:srgbClr val="8A6100"/>
            </a:solidFill>
            <a:prstDash val="solid"/>
          </a:ln>
        </p:spPr>
      </p:sp>
      <p:sp>
        <p:nvSpPr>
          <p:cNvPr id="18" name="Text 16"/>
          <p:cNvSpPr/>
          <p:nvPr/>
        </p:nvSpPr>
        <p:spPr>
          <a:xfrm>
            <a:off x="6217920" y="3017520"/>
            <a:ext cx="5303520" cy="320040"/>
          </a:xfrm>
          <a:prstGeom prst="rect">
            <a:avLst/>
          </a:prstGeom>
          <a:noFill/>
          <a:ln/>
        </p:spPr>
        <p:txBody>
          <a:bodyPr wrap="square" lIns="0" tIns="0" rIns="0" bIns="0" rtlCol="0" anchor="t"/>
          <a:lstStyle/>
          <a:p>
            <a:pPr indent="0" marL="0">
              <a:buNone/>
            </a:pPr>
            <a:r>
              <a:rPr lang="en-US" sz="1300" b="1" spc="200" kern="0" dirty="0">
                <a:solidFill>
                  <a:srgbClr val="8A6100"/>
                </a:solidFill>
                <a:latin typeface="Palatino Linotype" pitchFamily="34" charset="0"/>
                <a:ea typeface="Palatino Linotype" pitchFamily="34" charset="-122"/>
                <a:cs typeface="Palatino Linotype" pitchFamily="34" charset="-120"/>
              </a:rPr>
              <a:t>LUNI</a:t>
            </a:r>
            <a:endParaRPr lang="en-US" sz="1300" dirty="0"/>
          </a:p>
        </p:txBody>
      </p:sp>
      <p:sp>
        <p:nvSpPr>
          <p:cNvPr id="19" name="Text 17"/>
          <p:cNvSpPr/>
          <p:nvPr/>
        </p:nvSpPr>
        <p:spPr>
          <a:xfrm>
            <a:off x="6217920" y="3364992"/>
            <a:ext cx="5303520" cy="77724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 coleg ajunge la camera de gardă, deshidratat</a:t>
            </a:r>
            <a:endParaRPr lang="en-US" sz="1700" dirty="0"/>
          </a:p>
        </p:txBody>
      </p:sp>
      <p:sp>
        <p:nvSpPr>
          <p:cNvPr id="20" name="Shape 18"/>
          <p:cNvSpPr/>
          <p:nvPr/>
        </p:nvSpPr>
        <p:spPr>
          <a:xfrm>
            <a:off x="5943600" y="4343400"/>
            <a:ext cx="64008" cy="1097280"/>
          </a:xfrm>
          <a:prstGeom prst="rect">
            <a:avLst/>
          </a:prstGeom>
          <a:solidFill>
            <a:srgbClr val="B02532"/>
          </a:solidFill>
          <a:ln w="12700">
            <a:solidFill>
              <a:srgbClr val="B02532"/>
            </a:solidFill>
            <a:prstDash val="solid"/>
          </a:ln>
        </p:spPr>
      </p:sp>
      <p:sp>
        <p:nvSpPr>
          <p:cNvPr id="21" name="Text 19"/>
          <p:cNvSpPr/>
          <p:nvPr/>
        </p:nvSpPr>
        <p:spPr>
          <a:xfrm>
            <a:off x="6217920" y="4343400"/>
            <a:ext cx="5303520" cy="32004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MIERCURI</a:t>
            </a:r>
            <a:endParaRPr lang="en-US" sz="1300" dirty="0"/>
          </a:p>
        </p:txBody>
      </p:sp>
      <p:sp>
        <p:nvSpPr>
          <p:cNvPr id="22" name="Text 20"/>
          <p:cNvSpPr/>
          <p:nvPr/>
        </p:nvSpPr>
        <p:spPr>
          <a:xfrm>
            <a:off x="6217920" y="4690872"/>
            <a:ext cx="5303520" cy="77724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Autoritatea de sănătate publică primește două fișe de declarare, cu aceeași adresă: căminul</a:t>
            </a:r>
            <a:endParaRPr lang="en-US" sz="1700" dirty="0"/>
          </a:p>
        </p:txBody>
      </p:sp>
      <p:sp>
        <p:nvSpPr>
          <p:cNvPr id="23" name="Text 21"/>
          <p:cNvSpPr/>
          <p:nvPr/>
        </p:nvSpPr>
        <p:spPr>
          <a:xfrm>
            <a:off x="5943600" y="5577840"/>
            <a:ext cx="557784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Echipa de anchetă sunteți voi.</a:t>
            </a:r>
            <a:endParaRPr lang="en-US" sz="2000" dirty="0"/>
          </a:p>
        </p:txBody>
      </p:sp>
      <p:sp>
        <p:nvSpPr>
          <p:cNvPr id="24" name="Text 22"/>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Caz construit pentru exercițiu: căminul, oamenii, boala și cifrele sunt inventate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VOT ANONIM · TELEFON</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ÎNAINTE DE ORICE CALCUL</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Ați fi ajuns voi în cifra oficială a bolii?</a:t>
            </a:r>
            <a:endParaRPr lang="en-US" sz="3400" dirty="0"/>
          </a:p>
        </p:txBody>
      </p:sp>
      <p:sp>
        <p:nvSpPr>
          <p:cNvPr id="6" name="Text 4"/>
          <p:cNvSpPr/>
          <p:nvPr/>
        </p:nvSpPr>
        <p:spPr>
          <a:xfrm>
            <a:off x="594360" y="1600200"/>
            <a:ext cx="10972800" cy="457200"/>
          </a:xfrm>
          <a:prstGeom prst="rect">
            <a:avLst/>
          </a:prstGeom>
          <a:noFill/>
          <a:ln/>
        </p:spPr>
        <p:txBody>
          <a:bodyPr wrap="square" lIns="0" tIns="0" rIns="0" bIns="0" rtlCol="0" anchor="t"/>
          <a:lstStyle/>
          <a:p>
            <a:pPr indent="0" marL="0">
              <a:buNone/>
            </a:pPr>
            <a:r>
              <a:rPr lang="en-US" sz="1900" i="1" dirty="0">
                <a:solidFill>
                  <a:srgbClr val="959BB0"/>
                </a:solidFill>
                <a:latin typeface="Palatino Linotype" pitchFamily="34" charset="0"/>
                <a:ea typeface="Palatino Linotype" pitchFamily="34" charset="-122"/>
                <a:cs typeface="Palatino Linotype" pitchFamily="34" charset="-120"/>
              </a:rPr>
              <a:t>Dacă v-ați fi îmbolnăvit la această petrecere</a:t>
            </a:r>
            <a:endParaRPr lang="en-US" sz="1900" dirty="0"/>
          </a:p>
        </p:txBody>
      </p:sp>
      <p:sp>
        <p:nvSpPr>
          <p:cNvPr id="7" name="Shape 5"/>
          <p:cNvSpPr/>
          <p:nvPr/>
        </p:nvSpPr>
        <p:spPr>
          <a:xfrm>
            <a:off x="594360" y="2286000"/>
            <a:ext cx="10972800" cy="749808"/>
          </a:xfrm>
          <a:prstGeom prst="roundRect">
            <a:avLst>
              <a:gd name="adj" fmla="val 10976"/>
            </a:avLst>
          </a:prstGeom>
          <a:solidFill>
            <a:srgbClr val="1D1F2B"/>
          </a:solidFill>
          <a:ln w="12700">
            <a:solidFill>
              <a:srgbClr val="1D1F2B"/>
            </a:solidFill>
            <a:prstDash val="solid"/>
          </a:ln>
        </p:spPr>
      </p:sp>
      <p:sp>
        <p:nvSpPr>
          <p:cNvPr id="8" name="Shape 6"/>
          <p:cNvSpPr/>
          <p:nvPr/>
        </p:nvSpPr>
        <p:spPr>
          <a:xfrm>
            <a:off x="914400" y="2450592"/>
            <a:ext cx="420624" cy="420624"/>
          </a:xfrm>
          <a:prstGeom prst="ellipse">
            <a:avLst/>
          </a:prstGeom>
          <a:solidFill>
            <a:srgbClr val="FFC24B"/>
          </a:solidFill>
          <a:ln/>
        </p:spPr>
      </p:sp>
      <p:sp>
        <p:nvSpPr>
          <p:cNvPr id="9" name="Text 7"/>
          <p:cNvSpPr/>
          <p:nvPr/>
        </p:nvSpPr>
        <p:spPr>
          <a:xfrm>
            <a:off x="914400" y="24505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0" name="Text 8"/>
          <p:cNvSpPr/>
          <p:nvPr/>
        </p:nvSpPr>
        <p:spPr>
          <a:xfrm>
            <a:off x="1600200" y="2286000"/>
            <a:ext cx="969264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Sigur da</a:t>
            </a:r>
            <a:endParaRPr lang="en-US" sz="2200" dirty="0"/>
          </a:p>
        </p:txBody>
      </p:sp>
      <p:sp>
        <p:nvSpPr>
          <p:cNvPr id="11" name="Shape 9"/>
          <p:cNvSpPr/>
          <p:nvPr/>
        </p:nvSpPr>
        <p:spPr>
          <a:xfrm>
            <a:off x="594360" y="3182112"/>
            <a:ext cx="10972800" cy="749808"/>
          </a:xfrm>
          <a:prstGeom prst="roundRect">
            <a:avLst>
              <a:gd name="adj" fmla="val 10976"/>
            </a:avLst>
          </a:prstGeom>
          <a:solidFill>
            <a:srgbClr val="1D1F2B"/>
          </a:solidFill>
          <a:ln w="12700">
            <a:solidFill>
              <a:srgbClr val="1D1F2B"/>
            </a:solidFill>
            <a:prstDash val="solid"/>
          </a:ln>
        </p:spPr>
      </p:sp>
      <p:sp>
        <p:nvSpPr>
          <p:cNvPr id="12" name="Shape 10"/>
          <p:cNvSpPr/>
          <p:nvPr/>
        </p:nvSpPr>
        <p:spPr>
          <a:xfrm>
            <a:off x="914400" y="3346704"/>
            <a:ext cx="420624" cy="420624"/>
          </a:xfrm>
          <a:prstGeom prst="ellipse">
            <a:avLst/>
          </a:prstGeom>
          <a:solidFill>
            <a:srgbClr val="FFC24B"/>
          </a:solidFill>
          <a:ln/>
        </p:spPr>
      </p:sp>
      <p:sp>
        <p:nvSpPr>
          <p:cNvPr id="13" name="Text 11"/>
          <p:cNvSpPr/>
          <p:nvPr/>
        </p:nvSpPr>
        <p:spPr>
          <a:xfrm>
            <a:off x="914400" y="33467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4" name="Text 12"/>
          <p:cNvSpPr/>
          <p:nvPr/>
        </p:nvSpPr>
        <p:spPr>
          <a:xfrm>
            <a:off x="1600200" y="3182112"/>
            <a:ext cx="969264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Probabil da</a:t>
            </a:r>
            <a:endParaRPr lang="en-US" sz="2200" dirty="0"/>
          </a:p>
        </p:txBody>
      </p:sp>
      <p:sp>
        <p:nvSpPr>
          <p:cNvPr id="15" name="Shape 13"/>
          <p:cNvSpPr/>
          <p:nvPr/>
        </p:nvSpPr>
        <p:spPr>
          <a:xfrm>
            <a:off x="594360" y="4078224"/>
            <a:ext cx="10972800" cy="749808"/>
          </a:xfrm>
          <a:prstGeom prst="roundRect">
            <a:avLst>
              <a:gd name="adj" fmla="val 10976"/>
            </a:avLst>
          </a:prstGeom>
          <a:solidFill>
            <a:srgbClr val="1D1F2B"/>
          </a:solidFill>
          <a:ln w="12700">
            <a:solidFill>
              <a:srgbClr val="1D1F2B"/>
            </a:solidFill>
            <a:prstDash val="solid"/>
          </a:ln>
        </p:spPr>
      </p:sp>
      <p:sp>
        <p:nvSpPr>
          <p:cNvPr id="16" name="Shape 14"/>
          <p:cNvSpPr/>
          <p:nvPr/>
        </p:nvSpPr>
        <p:spPr>
          <a:xfrm>
            <a:off x="914400" y="4242816"/>
            <a:ext cx="420624" cy="420624"/>
          </a:xfrm>
          <a:prstGeom prst="ellipse">
            <a:avLst/>
          </a:prstGeom>
          <a:solidFill>
            <a:srgbClr val="FFC24B"/>
          </a:solidFill>
          <a:ln/>
        </p:spPr>
      </p:sp>
      <p:sp>
        <p:nvSpPr>
          <p:cNvPr id="17" name="Text 15"/>
          <p:cNvSpPr/>
          <p:nvPr/>
        </p:nvSpPr>
        <p:spPr>
          <a:xfrm>
            <a:off x="914400" y="42428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8" name="Text 16"/>
          <p:cNvSpPr/>
          <p:nvPr/>
        </p:nvSpPr>
        <p:spPr>
          <a:xfrm>
            <a:off x="1600200" y="4078224"/>
            <a:ext cx="969264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Probabil nu</a:t>
            </a:r>
            <a:endParaRPr lang="en-US" sz="2200" dirty="0"/>
          </a:p>
        </p:txBody>
      </p:sp>
      <p:sp>
        <p:nvSpPr>
          <p:cNvPr id="19" name="Shape 17"/>
          <p:cNvSpPr/>
          <p:nvPr/>
        </p:nvSpPr>
        <p:spPr>
          <a:xfrm>
            <a:off x="594360" y="4974336"/>
            <a:ext cx="10972800" cy="749808"/>
          </a:xfrm>
          <a:prstGeom prst="roundRect">
            <a:avLst>
              <a:gd name="adj" fmla="val 10976"/>
            </a:avLst>
          </a:prstGeom>
          <a:solidFill>
            <a:srgbClr val="1D1F2B"/>
          </a:solidFill>
          <a:ln w="12700">
            <a:solidFill>
              <a:srgbClr val="1D1F2B"/>
            </a:solidFill>
            <a:prstDash val="solid"/>
          </a:ln>
        </p:spPr>
      </p:sp>
      <p:sp>
        <p:nvSpPr>
          <p:cNvPr id="20" name="Shape 18"/>
          <p:cNvSpPr/>
          <p:nvPr/>
        </p:nvSpPr>
        <p:spPr>
          <a:xfrm>
            <a:off x="914400" y="5138928"/>
            <a:ext cx="420624" cy="420624"/>
          </a:xfrm>
          <a:prstGeom prst="ellipse">
            <a:avLst/>
          </a:prstGeom>
          <a:solidFill>
            <a:srgbClr val="FFC24B"/>
          </a:solidFill>
          <a:ln/>
        </p:spPr>
      </p:sp>
      <p:sp>
        <p:nvSpPr>
          <p:cNvPr id="21" name="Text 19"/>
          <p:cNvSpPr/>
          <p:nvPr/>
        </p:nvSpPr>
        <p:spPr>
          <a:xfrm>
            <a:off x="914400" y="5138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2" name="Text 20"/>
          <p:cNvSpPr/>
          <p:nvPr/>
        </p:nvSpPr>
        <p:spPr>
          <a:xfrm>
            <a:off x="1600200" y="4974336"/>
            <a:ext cx="9692640" cy="749808"/>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Sigur nu</a:t>
            </a:r>
            <a:endParaRPr lang="en-US" sz="2200" dirty="0"/>
          </a:p>
        </p:txBody>
      </p:sp>
      <p:sp>
        <p:nvSpPr>
          <p:cNvPr id="23" name="Text 21"/>
          <p:cNvSpPr/>
          <p:nvPr/>
        </p:nvSpPr>
        <p:spPr>
          <a:xfrm>
            <a:off x="594360" y="5943600"/>
            <a:ext cx="10972800" cy="365760"/>
          </a:xfrm>
          <a:prstGeom prst="rect">
            <a:avLst/>
          </a:prstGeom>
          <a:noFill/>
          <a:ln/>
        </p:spPr>
        <p:txBody>
          <a:bodyPr wrap="square" lIns="0" tIns="0" rIns="0" bIns="0" rtlCol="0" anchor="t"/>
          <a:lstStyle/>
          <a:p>
            <a:pPr indent="0" marL="0">
              <a:buNone/>
            </a:pPr>
            <a:r>
              <a:rPr lang="en-US" sz="1600" i="1" dirty="0">
                <a:solidFill>
                  <a:srgbClr val="27D3BE"/>
                </a:solidFill>
                <a:latin typeface="Palatino Linotype" pitchFamily="34" charset="0"/>
                <a:ea typeface="Palatino Linotype" pitchFamily="34" charset="-122"/>
                <a:cs typeface="Palatino Linotype" pitchFamily="34" charset="-120"/>
              </a:rPr>
              <a:t>Răspunsul îl aflați la pasul al doilea.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FORMULAR · GRUPURI</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ANCHETA VOASTRĂ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Deschideți formularul</a:t>
            </a:r>
            <a:endParaRPr lang="en-US" sz="3600" dirty="0"/>
          </a:p>
        </p:txBody>
      </p:sp>
      <p:sp>
        <p:nvSpPr>
          <p:cNvPr id="6" name="Shape 4"/>
          <p:cNvSpPr/>
          <p:nvPr/>
        </p:nvSpPr>
        <p:spPr>
          <a:xfrm>
            <a:off x="594360" y="178308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7" name="Shape 5"/>
          <p:cNvSpPr/>
          <p:nvPr/>
        </p:nvSpPr>
        <p:spPr>
          <a:xfrm>
            <a:off x="914400" y="1975104"/>
            <a:ext cx="420624" cy="420624"/>
          </a:xfrm>
          <a:prstGeom prst="ellipse">
            <a:avLst/>
          </a:prstGeom>
          <a:solidFill>
            <a:srgbClr val="FFC24B"/>
          </a:solidFill>
          <a:ln/>
        </p:spPr>
        <p:txBody>
          <a:bodyPr/>
          <a:p/>
        </p:txBody>
      </p:sp>
      <p:sp>
        <p:nvSpPr>
          <p:cNvPr id="8" name="Text 6"/>
          <p:cNvSpPr/>
          <p:nvPr/>
        </p:nvSpPr>
        <p:spPr>
          <a:xfrm>
            <a:off x="914400" y="19751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78308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Grupuri de 3–4 vecini de bancă, un singur telefon pe grup</a:t>
            </a:r>
            <a:endParaRPr lang="en-US" sz="1700" dirty="0"/>
          </a:p>
        </p:txBody>
      </p:sp>
      <p:sp>
        <p:nvSpPr>
          <p:cNvPr id="10" name="Shape 8"/>
          <p:cNvSpPr/>
          <p:nvPr/>
        </p:nvSpPr>
        <p:spPr>
          <a:xfrm>
            <a:off x="594360" y="274320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1" name="Shape 9"/>
          <p:cNvSpPr/>
          <p:nvPr/>
        </p:nvSpPr>
        <p:spPr>
          <a:xfrm>
            <a:off x="914400" y="2935224"/>
            <a:ext cx="420624" cy="420624"/>
          </a:xfrm>
          <a:prstGeom prst="ellipse">
            <a:avLst/>
          </a:prstGeom>
          <a:solidFill>
            <a:srgbClr val="FFC24B"/>
          </a:solidFill>
          <a:ln/>
        </p:spPr>
        <p:txBody>
          <a:bodyPr/>
          <a:p/>
        </p:txBody>
      </p:sp>
      <p:sp>
        <p:nvSpPr>
          <p:cNvPr id="12" name="Text 10"/>
          <p:cNvSpPr/>
          <p:nvPr/>
        </p:nvSpPr>
        <p:spPr>
          <a:xfrm>
            <a:off x="914400" y="29352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74320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Scrieți grupa și inițialele membrilor grupului</a:t>
            </a:r>
            <a:endParaRPr lang="en-US" sz="1700" dirty="0"/>
          </a:p>
        </p:txBody>
      </p:sp>
      <p:sp>
        <p:nvSpPr>
          <p:cNvPr id="14" name="Shape 12"/>
          <p:cNvSpPr/>
          <p:nvPr/>
        </p:nvSpPr>
        <p:spPr>
          <a:xfrm>
            <a:off x="594360" y="370332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5" name="Shape 13"/>
          <p:cNvSpPr/>
          <p:nvPr/>
        </p:nvSpPr>
        <p:spPr>
          <a:xfrm>
            <a:off x="914400" y="3895344"/>
            <a:ext cx="420624" cy="420624"/>
          </a:xfrm>
          <a:prstGeom prst="ellipse">
            <a:avLst/>
          </a:prstGeom>
          <a:solidFill>
            <a:srgbClr val="FFC24B"/>
          </a:solidFill>
          <a:ln/>
        </p:spPr>
        <p:txBody>
          <a:bodyPr/>
          <a:p/>
        </p:txBody>
      </p:sp>
      <p:sp>
        <p:nvSpPr>
          <p:cNvPr id="16" name="Text 14"/>
          <p:cNvSpPr/>
          <p:nvPr/>
        </p:nvSpPr>
        <p:spPr>
          <a:xfrm>
            <a:off x="914400" y="389534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70332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Trei pași; fiecare se deschide numai după răspunsul corect la întrebarea cu variante</a:t>
            </a:r>
            <a:endParaRPr lang="en-US" sz="1700" dirty="0"/>
          </a:p>
        </p:txBody>
      </p:sp>
      <p:sp>
        <p:nvSpPr>
          <p:cNvPr id="18" name="Shape 16"/>
          <p:cNvSpPr/>
          <p:nvPr/>
        </p:nvSpPr>
        <p:spPr>
          <a:xfrm>
            <a:off x="594360" y="4663440"/>
            <a:ext cx="7498080" cy="804672"/>
          </a:xfrm>
          <a:prstGeom prst="roundRect">
            <a:avLst>
              <a:gd name="adj" fmla="val 10227"/>
            </a:avLst>
          </a:prstGeom>
          <a:solidFill>
            <a:srgbClr val="1D1F2B"/>
          </a:solidFill>
          <a:ln w="12700">
            <a:solidFill>
              <a:srgbClr val="1D1F2B"/>
            </a:solidFill>
            <a:prstDash val="solid"/>
          </a:ln>
        </p:spPr>
        <p:txBody>
          <a:bodyPr/>
          <a:p/>
        </p:txBody>
      </p:sp>
      <p:sp>
        <p:nvSpPr>
          <p:cNvPr id="19" name="Shape 17"/>
          <p:cNvSpPr/>
          <p:nvPr/>
        </p:nvSpPr>
        <p:spPr>
          <a:xfrm>
            <a:off x="914400" y="4855464"/>
            <a:ext cx="420624" cy="420624"/>
          </a:xfrm>
          <a:prstGeom prst="ellipse">
            <a:avLst/>
          </a:prstGeom>
          <a:solidFill>
            <a:srgbClr val="FFC24B"/>
          </a:solidFill>
          <a:ln/>
        </p:spPr>
        <p:txBody>
          <a:bodyPr/>
          <a:p/>
        </p:txBody>
      </p:sp>
      <p:sp>
        <p:nvSpPr>
          <p:cNvPr id="20" name="Text 18"/>
          <p:cNvSpPr/>
          <p:nvPr/>
        </p:nvSpPr>
        <p:spPr>
          <a:xfrm>
            <a:off x="914400" y="48554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663440"/>
            <a:ext cx="6217920" cy="80467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După un răspuns greșit: un indiciu, apoi reveniți la întrebare</a:t>
            </a:r>
            <a:endParaRPr lang="en-US" sz="1700" dirty="0"/>
          </a:p>
        </p:txBody>
      </p:sp>
      <p:sp>
        <p:nvSpPr>
          <p:cNvPr id="22" name="Text 20"/>
          <p:cNvSpPr/>
          <p:nvPr/>
        </p:nvSpPr>
        <p:spPr>
          <a:xfrm>
            <a:off x="594360" y="5669280"/>
            <a:ext cx="7498080" cy="54864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Valorile calculate nu opresc trecerea: le vedeți corectate, cu explicația, după trimiterea formularului.</a:t>
            </a:r>
            <a:endParaRPr lang="en-US" sz="1500" dirty="0"/>
          </a:p>
        </p:txBody>
      </p:sp>
      <p:sp>
        <p:nvSpPr>
          <p:cNvPr id="23" name="Shape 21"/>
          <p:cNvSpPr/>
          <p:nvPr/>
        </p:nvSpPr>
        <p:spPr>
          <a:xfrm>
            <a:off x="8549640" y="1783080"/>
            <a:ext cx="3017520" cy="3017520"/>
          </a:xfrm>
          <a:prstGeom prst="roundRect">
            <a:avLst>
              <a:gd name="adj" fmla="val 2727"/>
            </a:avLst>
          </a:prstGeom>
          <a:solidFill>
            <a:srgbClr val="FFFFFF"/>
          </a:solidFill>
          <a:ln w="12700">
            <a:solidFill>
              <a:srgbClr val="FFFFFF"/>
            </a:solidFill>
            <a:prstDash val="solid"/>
          </a:ln>
        </p:spPr>
        <p:txBody>
          <a:bodyPr/>
          <a:p/>
        </p:txBody>
      </p:sp>
      <p:sp>
        <p:nvSpPr>
          <p:cNvPr id="25" name="Text 23"/>
          <p:cNvSpPr/>
          <p:nvPr/>
        </p:nvSpPr>
        <p:spPr>
          <a:xfrm>
            <a:off x="8549640" y="4937760"/>
            <a:ext cx="3017520" cy="365760"/>
          </a:xfrm>
          <a:prstGeom prst="rect">
            <a:avLst/>
          </a:prstGeom>
          <a:noFill/>
          <a:ln/>
        </p:spPr>
        <p:txBody>
          <a:bodyPr wrap="square" lIns="0" tIns="0" rIns="0" bIns="0" rtlCol="0" anchor="t"/>
          <a:lstStyle/>
          <a:p>
            <a:pPr algn="ctr" indent="0" marL="0">
              <a:buNone/>
            </a:pPr>
            <a:r>
              <a:rPr lang="en-US" sz="1400" dirty="0">
                <a:solidFill>
                  <a:srgbClr val="959BB0"/>
                </a:solidFill>
                <a:latin typeface="Palatino Linotype" pitchFamily="34" charset="0"/>
                <a:ea typeface="Palatino Linotype" pitchFamily="34" charset="-122"/>
                <a:cs typeface="Palatino Linotype" pitchFamily="34" charset="-120"/>
              </a:rPr>
              <a:t>Scanați cu camera telefonului</a:t>
            </a:r>
            <a:endParaRPr lang="en-US" sz="1400" dirty="0"/>
          </a:p>
        </p:txBody>
      </p:sp>
      <p:pic>
        <p:nvPicPr>
          <p:cNvPr id="26" name="Picture 25" descr="Detectivii_LP02_sala_grupuri_de_banca.png"/>
          <p:cNvPicPr>
            <a:picLocks noChangeAspect="1"/>
          </p:cNvPicPr>
          <p:nvPr/>
        </p:nvPicPr>
        <p:blipFill>
          <a:blip r:embed="rId3"/>
          <a:stretch>
            <a:fillRect/>
          </a:stretch>
        </p:blipFill>
        <p:spPr>
          <a:xfrm>
            <a:off x="8549640" y="1783080"/>
            <a:ext cx="3017520" cy="30175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PASUL ÎNTÂI · CINE ESTE CAZ</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Ce au răspuns cei 54 de respondenți</a:t>
            </a:r>
            <a:endParaRPr lang="en-US" sz="3100" dirty="0"/>
          </a:p>
        </p:txBody>
      </p:sp>
      <p:sp>
        <p:nvSpPr>
          <p:cNvPr id="4" name="Text 2"/>
          <p:cNvSpPr/>
          <p:nvPr/>
        </p:nvSpPr>
        <p:spPr>
          <a:xfrm>
            <a:off x="594360" y="1508760"/>
            <a:ext cx="10972800" cy="411480"/>
          </a:xfrm>
          <a:prstGeom prst="rect">
            <a:avLst/>
          </a:prstGeom>
          <a:noFill/>
          <a:ln/>
        </p:spPr>
        <p:txBody>
          <a:bodyPr wrap="square" lIns="0" tIns="0" rIns="0" bIns="0" rtlCol="0" anchor="t"/>
          <a:lstStyle/>
          <a:p>
            <a:pPr indent="0" marL="0">
              <a:buNone/>
            </a:pPr>
            <a:r>
              <a:rPr lang="en-US" sz="1700" i="1" dirty="0">
                <a:solidFill>
                  <a:srgbClr val="585A64"/>
                </a:solidFill>
                <a:latin typeface="Palatino Linotype" pitchFamily="34" charset="0"/>
                <a:ea typeface="Palatino Linotype" pitchFamily="34" charset="-122"/>
                <a:cs typeface="Palatino Linotype" pitchFamily="34" charset="-120"/>
              </a:rPr>
              <a:t>La petrecere au fost 60 de persoane. Chestionarul online a primit 54 de răspunsuri.</a:t>
            </a:r>
            <a:endParaRPr lang="en-US" sz="1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2011680"/>
          <a:ext cx="10972800" cy="914400"/>
        </p:xfrm>
        <a:graphic>
          <a:graphicData uri="http://schemas.openxmlformats.org/drawingml/2006/table">
            <a:tbl>
              <a:tblPr/>
              <a:tblGrid>
                <a:gridCol w="9144000"/>
                <a:gridCol w="1828800"/>
              </a:tblGrid>
              <a:tr h="457200">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Ce au răspuns</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Persoane</a:t>
                      </a:r>
                      <a:endParaRPr lang="en-US" sz="15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07564B"/>
                    </a:solidFill>
                  </a:tcPr>
                </a:tc>
              </a:tr>
              <a:tr h="914400">
                <a:tc>
                  <a:txBody>
                    <a:bodyPr/>
                    <a:lstStyle/>
                    <a:p>
                      <a:pPr algn="l" indent="0" marL="0">
                        <a:buNone/>
                      </a:pPr>
                      <a:r>
                        <a:rPr lang="en-US" sz="1600" dirty="0">
                          <a:solidFill>
                            <a:srgbClr val="11121A"/>
                          </a:solidFill>
                          <a:latin typeface="Palatino Linotype" pitchFamily="34" charset="0"/>
                          <a:ea typeface="Palatino Linotype" pitchFamily="34" charset="-122"/>
                          <a:cs typeface="Palatino Linotype" pitchFamily="34" charset="-120"/>
                        </a:rPr>
                        <a:t>Diaree (cel puțin trei scaune moi într-o zi) sau vărsături, începute între sâmbătă seara, după începutul petrecerii, și marți seara</a:t>
                      </a:r>
                      <a:endParaRPr lang="en-US" sz="16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32</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94360">
                <a:tc>
                  <a:txBody>
                    <a:bodyPr/>
                    <a:lstStyle/>
                    <a:p>
                      <a:pPr algn="l" indent="0" marL="0">
                        <a:buNone/>
                      </a:pPr>
                      <a:r>
                        <a:rPr lang="en-US" sz="1600" dirty="0">
                          <a:solidFill>
                            <a:srgbClr val="11121A"/>
                          </a:solidFill>
                          <a:latin typeface="Palatino Linotype" pitchFamily="34" charset="0"/>
                          <a:ea typeface="Palatino Linotype" pitchFamily="34" charset="-122"/>
                          <a:cs typeface="Palatino Linotype" pitchFamily="34" charset="-120"/>
                        </a:rPr>
                        <a:t>Diaree sau vărsături, începute vineri, înaintea petrecerii</a:t>
                      </a:r>
                      <a:endParaRPr lang="en-US" sz="16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1</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94360">
                <a:tc>
                  <a:txBody>
                    <a:bodyPr/>
                    <a:lstStyle/>
                    <a:p>
                      <a:pPr algn="l" indent="0" marL="0">
                        <a:buNone/>
                      </a:pPr>
                      <a:r>
                        <a:rPr lang="en-US" sz="1600" dirty="0">
                          <a:solidFill>
                            <a:srgbClr val="11121A"/>
                          </a:solidFill>
                          <a:latin typeface="Palatino Linotype" pitchFamily="34" charset="0"/>
                          <a:ea typeface="Palatino Linotype" pitchFamily="34" charset="-122"/>
                          <a:cs typeface="Palatino Linotype" pitchFamily="34" charset="-120"/>
                        </a:rPr>
                        <a:t>Numai greață sau dureri abdominale, fără diaree și fără vărsături</a:t>
                      </a:r>
                      <a:endParaRPr lang="en-US" sz="16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4</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r h="502920">
                <a:tc>
                  <a:txBody>
                    <a:bodyPr/>
                    <a:lstStyle/>
                    <a:p>
                      <a:pPr algn="l" indent="0" marL="0">
                        <a:buNone/>
                      </a:pPr>
                      <a:r>
                        <a:rPr lang="en-US" sz="1600" dirty="0">
                          <a:solidFill>
                            <a:srgbClr val="11121A"/>
                          </a:solidFill>
                          <a:latin typeface="Palatino Linotype" pitchFamily="34" charset="0"/>
                          <a:ea typeface="Palatino Linotype" pitchFamily="34" charset="-122"/>
                          <a:cs typeface="Palatino Linotype" pitchFamily="34" charset="-120"/>
                        </a:rPr>
                        <a:t>Niciun simptom</a:t>
                      </a:r>
                      <a:endParaRPr lang="en-US" sz="16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c>
                  <a:txBody>
                    <a:bodyPr/>
                    <a:lstStyle/>
                    <a:p>
                      <a:pPr algn="ctr" indent="0" marL="0">
                        <a:buNone/>
                      </a:pPr>
                      <a:r>
                        <a:rPr lang="en-US" sz="2200" b="1" dirty="0">
                          <a:solidFill>
                            <a:srgbClr val="11121A"/>
                          </a:solidFill>
                          <a:latin typeface="Palatino Linotype" pitchFamily="34" charset="0"/>
                          <a:ea typeface="Palatino Linotype" pitchFamily="34" charset="-122"/>
                          <a:cs typeface="Palatino Linotype" pitchFamily="34" charset="-120"/>
                        </a:rPr>
                        <a:t>17</a:t>
                      </a:r>
                      <a:endParaRPr lang="en-US" sz="2200" dirty="0">
                        <a:latin typeface="Palatino Linotype" charset="0"/>
                        <a:ea typeface="Palatino Linotype" charset="0"/>
                        <a:cs typeface="Palatino Linotype" charset="0"/>
                      </a:endParaRPr>
                    </a:p>
                  </a:txBody>
                  <a:tcPr marL="91440" marR="91440" marT="45720" marB="45720" anchor="ctr">
                    <a:lnL w="12700" cap="flat" cmpd="sng" algn="ctr">
                      <a:solidFill>
                        <a:srgbClr val="D6D3CB"/>
                      </a:solidFill>
                      <a:prstDash val="solid"/>
                      <a:round/>
                      <a:headEnd type="none" w="med" len="med"/>
                      <a:tailEnd type="none" w="med" len="med"/>
                    </a:lnL>
                    <a:lnR w="12700" cap="flat" cmpd="sng" algn="ctr">
                      <a:solidFill>
                        <a:srgbClr val="D6D3CB"/>
                      </a:solidFill>
                      <a:prstDash val="solid"/>
                      <a:round/>
                      <a:headEnd type="none" w="med" len="med"/>
                      <a:tailEnd type="none" w="med" len="med"/>
                    </a:lnR>
                    <a:lnT w="12700" cap="flat" cmpd="sng" algn="ctr">
                      <a:solidFill>
                        <a:srgbClr val="D6D3CB"/>
                      </a:solidFill>
                      <a:prstDash val="solid"/>
                      <a:round/>
                      <a:headEnd type="none" w="med" len="med"/>
                      <a:tailEnd type="none" w="med" len="med"/>
                    </a:lnT>
                    <a:lnB w="12700" cap="flat" cmpd="sng" algn="ctr">
                      <a:solidFill>
                        <a:srgbClr val="D6D3CB"/>
                      </a:solidFill>
                      <a:prstDash val="solid"/>
                      <a:round/>
                      <a:headEnd type="none" w="med" len="med"/>
                      <a:tailEnd type="none" w="med" len="med"/>
                    </a:lnB>
                    <a:solidFill>
                      <a:srgbClr val="F9F8F5"/>
                    </a:solidFill>
                  </a:tcPr>
                </a:tc>
              </a:tr>
            </a:tbl>
          </a:graphicData>
        </a:graphic>
      </p:graphicFrame>
      <p:sp>
        <p:nvSpPr>
          <p:cNvPr id="6" name="Text 3"/>
          <p:cNvSpPr/>
          <p:nvPr/>
        </p:nvSpPr>
        <p:spPr>
          <a:xfrm>
            <a:off x="594360" y="5212080"/>
            <a:ext cx="10972800" cy="822960"/>
          </a:xfrm>
          <a:prstGeom prst="rect">
            <a:avLst/>
          </a:prstGeom>
          <a:noFill/>
          <a:ln/>
        </p:spPr>
        <p:txBody>
          <a:bodyPr wrap="square" lIns="0" tIns="0" rIns="0" bIns="0" rtlCol="0" anchor="t"/>
          <a:lstStyle/>
          <a:p>
            <a:pPr indent="0" marL="0">
              <a:buNone/>
            </a:pPr>
            <a:r>
              <a:rPr lang="en-US" sz="1800" i="1" dirty="0">
                <a:solidFill>
                  <a:srgbClr val="0E7C6B"/>
                </a:solidFill>
                <a:latin typeface="Palatino Linotype" pitchFamily="34" charset="0"/>
                <a:ea typeface="Palatino Linotype" pitchFamily="34" charset="-122"/>
                <a:cs typeface="Palatino Linotype" pitchFamily="34" charset="-120"/>
              </a:rPr>
              <a:t>Alegeți definiția de caz potrivită. Apoi spuneți câți respondenți intră în număr și calculați rata de atac: din câți au răspuns, câți s-au îmbolnăvit.</a:t>
            </a:r>
            <a:endParaRPr lang="en-US" sz="1800" dirty="0"/>
          </a:p>
        </p:txBody>
      </p:sp>
      <p:sp>
        <p:nvSpPr>
          <p:cNvPr id="7" name="Text 4"/>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Valori ipotetice. Caz construit pentru exercițiu</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9B7EF7"/>
                </a:solidFill>
                <a:latin typeface="Palatino Linotype" pitchFamily="34" charset="0"/>
                <a:ea typeface="Palatino Linotype" pitchFamily="34" charset="-122"/>
                <a:cs typeface="Palatino Linotype" pitchFamily="34" charset="-120"/>
              </a:rPr>
              <a:t>PASUL AL DOILEA · DE LA BOLNAV LA FIȘA DE DECLARARE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Cazurile, treaptă cu treaptă</a:t>
            </a:r>
            <a:endParaRPr lang="en-US" sz="3100" dirty="0"/>
          </a:p>
        </p:txBody>
      </p:sp>
      <p:sp>
        <p:nvSpPr>
          <p:cNvPr id="4" name="Text 2"/>
          <p:cNvSpPr/>
          <p:nvPr/>
        </p:nvSpPr>
        <p:spPr>
          <a:xfrm>
            <a:off x="594360" y="1691640"/>
            <a:ext cx="4389120" cy="512064"/>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S-au îmbolnăvit</a:t>
            </a:r>
            <a:endParaRPr lang="en-US" sz="1700" dirty="0"/>
          </a:p>
        </p:txBody>
      </p:sp>
      <p:sp>
        <p:nvSpPr>
          <p:cNvPr id="5" name="Shape 3"/>
          <p:cNvSpPr/>
          <p:nvPr/>
        </p:nvSpPr>
        <p:spPr>
          <a:xfrm>
            <a:off x="5120640" y="1691640"/>
            <a:ext cx="5669280" cy="512064"/>
          </a:xfrm>
          <a:prstGeom prst="roundRect">
            <a:avLst>
              <a:gd name="adj" fmla="val 8929"/>
            </a:avLst>
          </a:prstGeom>
          <a:solidFill>
            <a:srgbClr val="FF4757"/>
          </a:solidFill>
          <a:ln w="12700">
            <a:solidFill>
              <a:srgbClr val="FF4757"/>
            </a:solidFill>
            <a:prstDash val="solid"/>
          </a:ln>
        </p:spPr>
      </p:sp>
      <p:sp>
        <p:nvSpPr>
          <p:cNvPr id="6" name="Text 4"/>
          <p:cNvSpPr/>
          <p:nvPr/>
        </p:nvSpPr>
        <p:spPr>
          <a:xfrm>
            <a:off x="10927080" y="1691640"/>
            <a:ext cx="822960" cy="512064"/>
          </a:xfrm>
          <a:prstGeom prst="rect">
            <a:avLst/>
          </a:prstGeom>
          <a:noFill/>
          <a:ln/>
        </p:spPr>
        <p:txBody>
          <a:bodyPr wrap="square" lIns="0" tIns="0" rIns="0" bIns="0" rtlCol="0" anchor="ctr"/>
          <a:lstStyle/>
          <a:p>
            <a:pPr indent="0" marL="0">
              <a:buNone/>
            </a:pPr>
            <a:r>
              <a:rPr lang="en-US" sz="2200" b="1" dirty="0">
                <a:solidFill>
                  <a:srgbClr val="FF4757"/>
                </a:solidFill>
                <a:latin typeface="Palatino Linotype" pitchFamily="34" charset="0"/>
                <a:ea typeface="Palatino Linotype" pitchFamily="34" charset="-122"/>
                <a:cs typeface="Palatino Linotype" pitchFamily="34" charset="-120"/>
              </a:rPr>
              <a:t>32</a:t>
            </a:r>
            <a:endParaRPr lang="en-US" sz="2200" dirty="0"/>
          </a:p>
        </p:txBody>
      </p:sp>
      <p:sp>
        <p:nvSpPr>
          <p:cNvPr id="7" name="Text 5"/>
          <p:cNvSpPr/>
          <p:nvPr/>
        </p:nvSpPr>
        <p:spPr>
          <a:xfrm>
            <a:off x="594360" y="2331720"/>
            <a:ext cx="4389120" cy="512064"/>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Au vorbit cu un medic</a:t>
            </a:r>
            <a:endParaRPr lang="en-US" sz="1700" dirty="0"/>
          </a:p>
        </p:txBody>
      </p:sp>
      <p:sp>
        <p:nvSpPr>
          <p:cNvPr id="8" name="Shape 6"/>
          <p:cNvSpPr/>
          <p:nvPr/>
        </p:nvSpPr>
        <p:spPr>
          <a:xfrm>
            <a:off x="5120640" y="2331720"/>
            <a:ext cx="1771650" cy="512064"/>
          </a:xfrm>
          <a:prstGeom prst="roundRect">
            <a:avLst>
              <a:gd name="adj" fmla="val 8929"/>
            </a:avLst>
          </a:prstGeom>
          <a:solidFill>
            <a:srgbClr val="FF8A3D"/>
          </a:solidFill>
          <a:ln w="12700">
            <a:solidFill>
              <a:srgbClr val="FF8A3D"/>
            </a:solidFill>
            <a:prstDash val="solid"/>
          </a:ln>
        </p:spPr>
      </p:sp>
      <p:sp>
        <p:nvSpPr>
          <p:cNvPr id="9" name="Text 7"/>
          <p:cNvSpPr/>
          <p:nvPr/>
        </p:nvSpPr>
        <p:spPr>
          <a:xfrm>
            <a:off x="7029450" y="2331720"/>
            <a:ext cx="822960" cy="512064"/>
          </a:xfrm>
          <a:prstGeom prst="rect">
            <a:avLst/>
          </a:prstGeom>
          <a:noFill/>
          <a:ln/>
        </p:spPr>
        <p:txBody>
          <a:bodyPr wrap="square" lIns="0" tIns="0" rIns="0" bIns="0" rtlCol="0" anchor="ctr"/>
          <a:lstStyle/>
          <a:p>
            <a:pPr indent="0" marL="0">
              <a:buNone/>
            </a:pPr>
            <a:r>
              <a:rPr lang="en-US" sz="2200" b="1" dirty="0">
                <a:solidFill>
                  <a:srgbClr val="FF8A3D"/>
                </a:solidFill>
                <a:latin typeface="Palatino Linotype" pitchFamily="34" charset="0"/>
                <a:ea typeface="Palatino Linotype" pitchFamily="34" charset="-122"/>
                <a:cs typeface="Palatino Linotype" pitchFamily="34" charset="-120"/>
              </a:rPr>
              <a:t>10</a:t>
            </a:r>
            <a:endParaRPr lang="en-US" sz="2200" dirty="0"/>
          </a:p>
        </p:txBody>
      </p:sp>
      <p:sp>
        <p:nvSpPr>
          <p:cNvPr id="10" name="Text 8"/>
          <p:cNvSpPr/>
          <p:nvPr/>
        </p:nvSpPr>
        <p:spPr>
          <a:xfrm>
            <a:off x="594360" y="2971800"/>
            <a:ext cx="4389120" cy="512064"/>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Li s-a cerut o probă de scaun</a:t>
            </a:r>
            <a:endParaRPr lang="en-US" sz="1700" dirty="0"/>
          </a:p>
        </p:txBody>
      </p:sp>
      <p:sp>
        <p:nvSpPr>
          <p:cNvPr id="11" name="Shape 9"/>
          <p:cNvSpPr/>
          <p:nvPr/>
        </p:nvSpPr>
        <p:spPr>
          <a:xfrm>
            <a:off x="5120640" y="2971800"/>
            <a:ext cx="885825" cy="512064"/>
          </a:xfrm>
          <a:prstGeom prst="roundRect">
            <a:avLst>
              <a:gd name="adj" fmla="val 8929"/>
            </a:avLst>
          </a:prstGeom>
          <a:solidFill>
            <a:srgbClr val="FFC24B"/>
          </a:solidFill>
          <a:ln w="12700">
            <a:solidFill>
              <a:srgbClr val="FFC24B"/>
            </a:solidFill>
            <a:prstDash val="solid"/>
          </a:ln>
        </p:spPr>
      </p:sp>
      <p:sp>
        <p:nvSpPr>
          <p:cNvPr id="12" name="Text 10"/>
          <p:cNvSpPr/>
          <p:nvPr/>
        </p:nvSpPr>
        <p:spPr>
          <a:xfrm>
            <a:off x="6143625" y="2971800"/>
            <a:ext cx="822960" cy="512064"/>
          </a:xfrm>
          <a:prstGeom prst="rect">
            <a:avLst/>
          </a:prstGeom>
          <a:noFill/>
          <a:ln/>
        </p:spPr>
        <p:txBody>
          <a:bodyPr wrap="square" lIns="0" tIns="0" rIns="0" bIns="0" rtlCol="0" anchor="ctr"/>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5</a:t>
            </a:r>
            <a:endParaRPr lang="en-US" sz="2200" dirty="0"/>
          </a:p>
        </p:txBody>
      </p:sp>
      <p:sp>
        <p:nvSpPr>
          <p:cNvPr id="13" name="Text 11"/>
          <p:cNvSpPr/>
          <p:nvPr/>
        </p:nvSpPr>
        <p:spPr>
          <a:xfrm>
            <a:off x="594360" y="3611880"/>
            <a:ext cx="4389120" cy="512064"/>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Au adus proba</a:t>
            </a:r>
            <a:endParaRPr lang="en-US" sz="1700" dirty="0"/>
          </a:p>
        </p:txBody>
      </p:sp>
      <p:sp>
        <p:nvSpPr>
          <p:cNvPr id="14" name="Shape 12"/>
          <p:cNvSpPr/>
          <p:nvPr/>
        </p:nvSpPr>
        <p:spPr>
          <a:xfrm>
            <a:off x="5120640" y="3611880"/>
            <a:ext cx="708660" cy="512064"/>
          </a:xfrm>
          <a:prstGeom prst="roundRect">
            <a:avLst>
              <a:gd name="adj" fmla="val 8929"/>
            </a:avLst>
          </a:prstGeom>
          <a:solidFill>
            <a:srgbClr val="27D3BE"/>
          </a:solidFill>
          <a:ln w="12700">
            <a:solidFill>
              <a:srgbClr val="27D3BE"/>
            </a:solidFill>
            <a:prstDash val="solid"/>
          </a:ln>
        </p:spPr>
      </p:sp>
      <p:sp>
        <p:nvSpPr>
          <p:cNvPr id="15" name="Text 13"/>
          <p:cNvSpPr/>
          <p:nvPr/>
        </p:nvSpPr>
        <p:spPr>
          <a:xfrm>
            <a:off x="5966460" y="3611880"/>
            <a:ext cx="822960" cy="512064"/>
          </a:xfrm>
          <a:prstGeom prst="rect">
            <a:avLst/>
          </a:prstGeom>
          <a:noFill/>
          <a:ln/>
        </p:spPr>
        <p:txBody>
          <a:bodyPr wrap="square" lIns="0" tIns="0" rIns="0" bIns="0" rtlCol="0" anchor="ctr"/>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4</a:t>
            </a:r>
            <a:endParaRPr lang="en-US" sz="2200" dirty="0"/>
          </a:p>
        </p:txBody>
      </p:sp>
      <p:sp>
        <p:nvSpPr>
          <p:cNvPr id="16" name="Text 14"/>
          <p:cNvSpPr/>
          <p:nvPr/>
        </p:nvSpPr>
        <p:spPr>
          <a:xfrm>
            <a:off x="594360" y="4251960"/>
            <a:ext cx="4389120" cy="512064"/>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Laboratorul a găsit microbul</a:t>
            </a:r>
            <a:endParaRPr lang="en-US" sz="1700" dirty="0"/>
          </a:p>
        </p:txBody>
      </p:sp>
      <p:sp>
        <p:nvSpPr>
          <p:cNvPr id="17" name="Shape 15"/>
          <p:cNvSpPr/>
          <p:nvPr/>
        </p:nvSpPr>
        <p:spPr>
          <a:xfrm>
            <a:off x="5120640" y="4251960"/>
            <a:ext cx="531495" cy="512064"/>
          </a:xfrm>
          <a:prstGeom prst="roundRect">
            <a:avLst>
              <a:gd name="adj" fmla="val 8929"/>
            </a:avLst>
          </a:prstGeom>
          <a:solidFill>
            <a:srgbClr val="9B7EF7"/>
          </a:solidFill>
          <a:ln w="12700">
            <a:solidFill>
              <a:srgbClr val="9B7EF7"/>
            </a:solidFill>
            <a:prstDash val="solid"/>
          </a:ln>
        </p:spPr>
      </p:sp>
      <p:sp>
        <p:nvSpPr>
          <p:cNvPr id="18" name="Text 16"/>
          <p:cNvSpPr/>
          <p:nvPr/>
        </p:nvSpPr>
        <p:spPr>
          <a:xfrm>
            <a:off x="5789295" y="4251960"/>
            <a:ext cx="822960" cy="512064"/>
          </a:xfrm>
          <a:prstGeom prst="rect">
            <a:avLst/>
          </a:prstGeom>
          <a:noFill/>
          <a:ln/>
        </p:spPr>
        <p:txBody>
          <a:bodyPr wrap="square" lIns="0" tIns="0" rIns="0" bIns="0" rtlCol="0" anchor="ctr"/>
          <a:lstStyle/>
          <a:p>
            <a:pPr indent="0" marL="0">
              <a:buNone/>
            </a:pPr>
            <a:r>
              <a:rPr lang="en-US" sz="2200" b="1" dirty="0">
                <a:solidFill>
                  <a:srgbClr val="9B7EF7"/>
                </a:solidFill>
                <a:latin typeface="Palatino Linotype" pitchFamily="34" charset="0"/>
                <a:ea typeface="Palatino Linotype" pitchFamily="34" charset="-122"/>
                <a:cs typeface="Palatino Linotype" pitchFamily="34" charset="-120"/>
              </a:rPr>
              <a:t>3</a:t>
            </a:r>
            <a:endParaRPr lang="en-US" sz="2200" dirty="0"/>
          </a:p>
        </p:txBody>
      </p:sp>
      <p:sp>
        <p:nvSpPr>
          <p:cNvPr id="19" name="Text 17"/>
          <p:cNvSpPr/>
          <p:nvPr/>
        </p:nvSpPr>
        <p:spPr>
          <a:xfrm>
            <a:off x="594360" y="4892040"/>
            <a:ext cx="4389120" cy="512064"/>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Au fost declarați autorității</a:t>
            </a:r>
            <a:endParaRPr lang="en-US" sz="1700" dirty="0"/>
          </a:p>
        </p:txBody>
      </p:sp>
      <p:sp>
        <p:nvSpPr>
          <p:cNvPr id="20" name="Shape 18"/>
          <p:cNvSpPr/>
          <p:nvPr/>
        </p:nvSpPr>
        <p:spPr>
          <a:xfrm>
            <a:off x="5120640" y="4892040"/>
            <a:ext cx="354330" cy="512064"/>
          </a:xfrm>
          <a:prstGeom prst="roundRect">
            <a:avLst>
              <a:gd name="adj" fmla="val 12903"/>
            </a:avLst>
          </a:prstGeom>
          <a:solidFill>
            <a:srgbClr val="FFFFFF"/>
          </a:solidFill>
          <a:ln w="12700">
            <a:solidFill>
              <a:srgbClr val="FFFFFF"/>
            </a:solidFill>
            <a:prstDash val="solid"/>
          </a:ln>
        </p:spPr>
      </p:sp>
      <p:sp>
        <p:nvSpPr>
          <p:cNvPr id="21" name="Text 19"/>
          <p:cNvSpPr/>
          <p:nvPr/>
        </p:nvSpPr>
        <p:spPr>
          <a:xfrm>
            <a:off x="5612130" y="4892040"/>
            <a:ext cx="822960" cy="512064"/>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2</a:t>
            </a:r>
            <a:endParaRPr lang="en-US" sz="2200" dirty="0"/>
          </a:p>
        </p:txBody>
      </p:sp>
      <p:sp>
        <p:nvSpPr>
          <p:cNvPr id="22" name="Text 20"/>
          <p:cNvSpPr/>
          <p:nvPr/>
        </p:nvSpPr>
        <p:spPr>
          <a:xfrm>
            <a:off x="594360" y="5577840"/>
            <a:ext cx="10972800" cy="64008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Câți ajung în cifra oficială? Unde se pierd cei mai mulți? Câți prin subdiagnosticare, câți prin subraportare?</a:t>
            </a:r>
            <a:endParaRPr lang="en-US" sz="1700" dirty="0"/>
          </a:p>
        </p:txBody>
      </p:sp>
      <p:sp>
        <p:nvSpPr>
          <p:cNvPr id="23" name="Text 21"/>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7E849A"/>
                </a:solidFill>
                <a:latin typeface="Palatino Linotype" pitchFamily="34" charset="0"/>
                <a:ea typeface="Palatino Linotype" pitchFamily="34" charset="-122"/>
                <a:cs typeface="Palatino Linotype" pitchFamily="34" charset="-120"/>
              </a:rPr>
              <a:t>Valori ipotetice. Caz construit pentru exercițiu. Subdiagnosticare: bolnavul nu a fost diagnosticat. Subraportare: diagnosticat, dar nedeclarat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PASUL AL TREILEA · CÂT DE GRAVĂ PARE BOALA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Ați crede acest titlu?</a:t>
            </a:r>
            <a:endParaRPr lang="en-US" sz="3400" dirty="0"/>
          </a:p>
        </p:txBody>
      </p:sp>
      <p:sp>
        <p:nvSpPr>
          <p:cNvPr id="4" name="Shape 2"/>
          <p:cNvSpPr/>
          <p:nvPr/>
        </p:nvSpPr>
        <p:spPr>
          <a:xfrm>
            <a:off x="594360" y="1737360"/>
            <a:ext cx="6949440" cy="3931920"/>
          </a:xfrm>
          <a:prstGeom prst="roundRect">
            <a:avLst>
              <a:gd name="adj" fmla="val 2093"/>
            </a:avLst>
          </a:prstGeom>
          <a:solidFill>
            <a:srgbClr val="FBF8F1"/>
          </a:solidFill>
          <a:ln w="12700">
            <a:solidFill>
              <a:srgbClr val="FBF8F1"/>
            </a:solidFill>
            <a:prstDash val="solid"/>
          </a:ln>
        </p:spPr>
      </p:sp>
      <p:sp>
        <p:nvSpPr>
          <p:cNvPr id="5" name="Shape 3"/>
          <p:cNvSpPr/>
          <p:nvPr/>
        </p:nvSpPr>
        <p:spPr>
          <a:xfrm>
            <a:off x="594360" y="1737360"/>
            <a:ext cx="6949440" cy="54864"/>
          </a:xfrm>
          <a:prstGeom prst="rect">
            <a:avLst/>
          </a:prstGeom>
          <a:solidFill>
            <a:srgbClr val="11121A"/>
          </a:solidFill>
          <a:ln w="12700">
            <a:solidFill>
              <a:srgbClr val="11121A"/>
            </a:solidFill>
            <a:prstDash val="solid"/>
          </a:ln>
        </p:spPr>
      </p:sp>
      <p:sp>
        <p:nvSpPr>
          <p:cNvPr id="6" name="Text 4"/>
          <p:cNvSpPr/>
          <p:nvPr/>
        </p:nvSpPr>
        <p:spPr>
          <a:xfrm>
            <a:off x="868680" y="1965960"/>
            <a:ext cx="6400800" cy="320040"/>
          </a:xfrm>
          <a:prstGeom prst="rect">
            <a:avLst/>
          </a:prstGeom>
          <a:noFill/>
          <a:ln/>
        </p:spPr>
        <p:txBody>
          <a:bodyPr wrap="square" lIns="0" tIns="0" rIns="0" bIns="0" rtlCol="0" anchor="t"/>
          <a:lstStyle/>
          <a:p>
            <a:pPr indent="0" marL="0">
              <a:buNone/>
            </a:pPr>
            <a:r>
              <a:rPr lang="en-US" sz="1300" b="1" spc="400" kern="0" dirty="0">
                <a:solidFill>
                  <a:srgbClr val="585A64"/>
                </a:solidFill>
                <a:latin typeface="Palatino Linotype" pitchFamily="34" charset="0"/>
                <a:ea typeface="Palatino Linotype" pitchFamily="34" charset="-122"/>
                <a:cs typeface="Palatino Linotype" pitchFamily="34" charset="-120"/>
              </a:rPr>
              <a:t>ȘTIRI LOCALE</a:t>
            </a:r>
            <a:endParaRPr lang="en-US" sz="1300" dirty="0"/>
          </a:p>
        </p:txBody>
      </p:sp>
      <p:sp>
        <p:nvSpPr>
          <p:cNvPr id="7" name="Shape 5"/>
          <p:cNvSpPr/>
          <p:nvPr/>
        </p:nvSpPr>
        <p:spPr>
          <a:xfrm>
            <a:off x="868680" y="2331720"/>
            <a:ext cx="6400800" cy="13716"/>
          </a:xfrm>
          <a:prstGeom prst="rect">
            <a:avLst/>
          </a:prstGeom>
          <a:solidFill>
            <a:srgbClr val="C9C6BE"/>
          </a:solidFill>
          <a:ln w="12700">
            <a:solidFill>
              <a:srgbClr val="C9C6BE"/>
            </a:solidFill>
            <a:prstDash val="solid"/>
          </a:ln>
        </p:spPr>
      </p:sp>
      <p:sp>
        <p:nvSpPr>
          <p:cNvPr id="8" name="Text 6"/>
          <p:cNvSpPr/>
          <p:nvPr/>
        </p:nvSpPr>
        <p:spPr>
          <a:xfrm>
            <a:off x="868680" y="2514600"/>
            <a:ext cx="6400800" cy="155448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Focar în cămin: jumătate dintre bolnavi au ajuns la spital</a:t>
            </a:r>
            <a:endParaRPr lang="en-US" sz="3100" dirty="0"/>
          </a:p>
        </p:txBody>
      </p:sp>
      <p:sp>
        <p:nvSpPr>
          <p:cNvPr id="9" name="Shape 7"/>
          <p:cNvSpPr/>
          <p:nvPr/>
        </p:nvSpPr>
        <p:spPr>
          <a:xfrm>
            <a:off x="868680" y="4206240"/>
            <a:ext cx="6400800" cy="13716"/>
          </a:xfrm>
          <a:prstGeom prst="rect">
            <a:avLst/>
          </a:prstGeom>
          <a:solidFill>
            <a:srgbClr val="C9C6BE"/>
          </a:solidFill>
          <a:ln w="12700">
            <a:solidFill>
              <a:srgbClr val="C9C6BE"/>
            </a:solidFill>
            <a:prstDash val="solid"/>
          </a:ln>
        </p:spPr>
      </p:sp>
      <p:sp>
        <p:nvSpPr>
          <p:cNvPr id="10" name="Text 8"/>
          <p:cNvSpPr/>
          <p:nvPr/>
        </p:nvSpPr>
        <p:spPr>
          <a:xfrm>
            <a:off x="868680" y="4389120"/>
            <a:ext cx="6400800" cy="411480"/>
          </a:xfrm>
          <a:prstGeom prst="rect">
            <a:avLst/>
          </a:prstGeom>
          <a:noFill/>
          <a:ln/>
        </p:spPr>
        <p:txBody>
          <a:bodyPr wrap="square" lIns="0" tIns="0" rIns="0" bIns="0" rtlCol="0" anchor="t"/>
          <a:lstStyle/>
          <a:p>
            <a:pPr indent="0" marL="0">
              <a:buNone/>
            </a:pPr>
            <a:r>
              <a:rPr lang="en-US" sz="1700" i="1" dirty="0">
                <a:solidFill>
                  <a:srgbClr val="585A64"/>
                </a:solidFill>
                <a:latin typeface="Palatino Linotype" pitchFamily="34" charset="0"/>
                <a:ea typeface="Palatino Linotype" pitchFamily="34" charset="-122"/>
                <a:cs typeface="Palatino Linotype" pitchFamily="34" charset="-120"/>
              </a:rPr>
              <a:t>Datele oficiale: 2 cazuri declarate, 1 internat.</a:t>
            </a:r>
            <a:endParaRPr lang="en-US" sz="1700" dirty="0"/>
          </a:p>
        </p:txBody>
      </p:sp>
      <p:sp>
        <p:nvSpPr>
          <p:cNvPr id="11" name="Text 9"/>
          <p:cNvSpPr/>
          <p:nvPr/>
        </p:nvSpPr>
        <p:spPr>
          <a:xfrm>
            <a:off x="868680" y="5029200"/>
            <a:ext cx="6400800" cy="365760"/>
          </a:xfrm>
          <a:prstGeom prst="rect">
            <a:avLst/>
          </a:prstGeom>
          <a:noFill/>
          <a:ln/>
        </p:spPr>
        <p:txBody>
          <a:bodyPr wrap="square" lIns="0" tIns="0" rIns="0" bIns="0" rtlCol="0" anchor="t"/>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Și titlul este construit pentru exercițiu.</a:t>
            </a:r>
            <a:endParaRPr lang="en-US" sz="1300" dirty="0"/>
          </a:p>
        </p:txBody>
      </p:sp>
      <p:sp>
        <p:nvSpPr>
          <p:cNvPr id="12" name="Shape 10"/>
          <p:cNvSpPr/>
          <p:nvPr/>
        </p:nvSpPr>
        <p:spPr>
          <a:xfrm>
            <a:off x="7909560" y="1737360"/>
            <a:ext cx="3657600" cy="3931920"/>
          </a:xfrm>
          <a:prstGeom prst="roundRect">
            <a:avLst>
              <a:gd name="adj" fmla="val 2250"/>
            </a:avLst>
          </a:prstGeom>
          <a:solidFill>
            <a:srgbClr val="ECEAE4"/>
          </a:solidFill>
          <a:ln w="12700">
            <a:solidFill>
              <a:srgbClr val="ECEAE4"/>
            </a:solidFill>
            <a:prstDash val="solid"/>
          </a:ln>
        </p:spPr>
      </p:sp>
      <p:sp>
        <p:nvSpPr>
          <p:cNvPr id="13" name="Text 11"/>
          <p:cNvSpPr/>
          <p:nvPr/>
        </p:nvSpPr>
        <p:spPr>
          <a:xfrm>
            <a:off x="8138160" y="1920240"/>
            <a:ext cx="3246120" cy="3566160"/>
          </a:xfrm>
          <a:prstGeom prst="rect">
            <a:avLst/>
          </a:prstGeom>
          <a:noFill/>
          <a:ln/>
        </p:spPr>
        <p:txBody>
          <a:bodyPr wrap="square" lIns="0" tIns="0" rIns="0" bIns="0" rtlCol="0" anchor="t"/>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Un singur bolnav a fost internat</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Colegul de la camera de gardă: perfuzii și o noapte în spital. Este unul dintre cei 2 bolnavi declarați.</a:t>
            </a:r>
            <a:endParaRPr lang="en-US" sz="1600" dirty="0"/>
          </a:p>
          <a:p>
            <a:pPr indent="0" marL="0">
              <a:buNone/>
            </a:pPr>
            <a:r>
              <a:rPr lang="en-US" sz="1600" dirty="0">
                <a:solidFill>
                  <a:srgbClr val="000000"/>
                </a:solidFill>
                <a:latin typeface="Palatino Linotype" pitchFamily="34" charset="0"/>
                <a:ea typeface="Palatino Linotype" pitchFamily="34" charset="-122"/>
                <a:cs typeface="Palatino Linotype" pitchFamily="34" charset="-120"/>
              </a:rPr>
              <a:t> </a:t>
            </a:r>
            <a:endParaRPr lang="en-US" sz="1600" dirty="0"/>
          </a:p>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Calculați: dintre toți bolnavii găsiți de anchetă, ce proporție a fost internată?</a:t>
            </a:r>
            <a:endParaRPr lang="en-US" sz="1600" dirty="0"/>
          </a:p>
        </p:txBody>
      </p:sp>
      <p:sp>
        <p:nvSpPr>
          <p:cNvPr id="14" name="Text 12"/>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Valori ipotetice. Caz construit pentru exercițiu</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REZULTATELE SĂLII</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8A6100"/>
                </a:solidFill>
                <a:latin typeface="Palatino Linotype" pitchFamily="34" charset="0"/>
                <a:ea typeface="Palatino Linotype" pitchFamily="34" charset="-122"/>
                <a:cs typeface="Palatino Linotype" pitchFamily="34" charset="-120"/>
              </a:rPr>
              <a:t>DUPĂ FIECARE PAS</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Ce au răspuns grupurile</a:t>
            </a:r>
            <a:endParaRPr lang="en-US" sz="3100" dirty="0"/>
          </a:p>
        </p:txBody>
      </p:sp>
      <p:sp>
        <p:nvSpPr>
          <p:cNvPr id="6" name="Shape 4"/>
          <p:cNvSpPr/>
          <p:nvPr/>
        </p:nvSpPr>
        <p:spPr>
          <a:xfrm>
            <a:off x="594360" y="1783080"/>
            <a:ext cx="3474720" cy="3566160"/>
          </a:xfrm>
          <a:prstGeom prst="roundRect">
            <a:avLst>
              <a:gd name="adj" fmla="val 2368"/>
            </a:avLst>
          </a:prstGeom>
          <a:solidFill>
            <a:srgbClr val="ECEAE4"/>
          </a:solidFill>
          <a:ln w="12700">
            <a:solidFill>
              <a:srgbClr val="ECEAE4"/>
            </a:solidFill>
            <a:prstDash val="solid"/>
          </a:ln>
        </p:spPr>
      </p:sp>
      <p:sp>
        <p:nvSpPr>
          <p:cNvPr id="7" name="Text 5"/>
          <p:cNvSpPr/>
          <p:nvPr/>
        </p:nvSpPr>
        <p:spPr>
          <a:xfrm>
            <a:off x="82296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Cine este caz</a:t>
            </a:r>
            <a:endParaRPr lang="en-US" sz="1700" dirty="0"/>
          </a:p>
        </p:txBody>
      </p:sp>
      <p:sp>
        <p:nvSpPr>
          <p:cNvPr id="8" name="Text 6"/>
          <p:cNvSpPr/>
          <p:nvPr/>
        </p:nvSpPr>
        <p:spPr>
          <a:xfrm>
            <a:off x="82296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9" name="Shape 7"/>
          <p:cNvSpPr/>
          <p:nvPr/>
        </p:nvSpPr>
        <p:spPr>
          <a:xfrm>
            <a:off x="4343400" y="1783080"/>
            <a:ext cx="3474720" cy="3566160"/>
          </a:xfrm>
          <a:prstGeom prst="roundRect">
            <a:avLst>
              <a:gd name="adj" fmla="val 2368"/>
            </a:avLst>
          </a:prstGeom>
          <a:solidFill>
            <a:srgbClr val="ECEAE4"/>
          </a:solidFill>
          <a:ln w="12700">
            <a:solidFill>
              <a:srgbClr val="ECEAE4"/>
            </a:solidFill>
            <a:prstDash val="solid"/>
          </a:ln>
        </p:spPr>
      </p:sp>
      <p:sp>
        <p:nvSpPr>
          <p:cNvPr id="10" name="Text 8"/>
          <p:cNvSpPr/>
          <p:nvPr/>
        </p:nvSpPr>
        <p:spPr>
          <a:xfrm>
            <a:off x="457200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De la bolnav la fișa de declarare</a:t>
            </a:r>
            <a:endParaRPr lang="en-US" sz="1700" dirty="0"/>
          </a:p>
        </p:txBody>
      </p:sp>
      <p:sp>
        <p:nvSpPr>
          <p:cNvPr id="11" name="Text 9"/>
          <p:cNvSpPr/>
          <p:nvPr/>
        </p:nvSpPr>
        <p:spPr>
          <a:xfrm>
            <a:off x="457200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12" name="Shape 10"/>
          <p:cNvSpPr/>
          <p:nvPr/>
        </p:nvSpPr>
        <p:spPr>
          <a:xfrm>
            <a:off x="8092440" y="1783080"/>
            <a:ext cx="3474720" cy="3566160"/>
          </a:xfrm>
          <a:prstGeom prst="roundRect">
            <a:avLst>
              <a:gd name="adj" fmla="val 2368"/>
            </a:avLst>
          </a:prstGeom>
          <a:solidFill>
            <a:srgbClr val="ECEAE4"/>
          </a:solidFill>
          <a:ln w="12700">
            <a:solidFill>
              <a:srgbClr val="ECEAE4"/>
            </a:solidFill>
            <a:prstDash val="solid"/>
          </a:ln>
        </p:spPr>
      </p:sp>
      <p:sp>
        <p:nvSpPr>
          <p:cNvPr id="13" name="Text 11"/>
          <p:cNvSpPr/>
          <p:nvPr/>
        </p:nvSpPr>
        <p:spPr>
          <a:xfrm>
            <a:off x="8321040" y="1874520"/>
            <a:ext cx="3017520" cy="6400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Cât de gravă pare boala</a:t>
            </a:r>
            <a:endParaRPr lang="en-US" sz="1700" dirty="0"/>
          </a:p>
        </p:txBody>
      </p:sp>
      <p:sp>
        <p:nvSpPr>
          <p:cNvPr id="14" name="Text 12"/>
          <p:cNvSpPr/>
          <p:nvPr/>
        </p:nvSpPr>
        <p:spPr>
          <a:xfrm>
            <a:off x="8321040" y="2651760"/>
            <a:ext cx="3017520" cy="2468880"/>
          </a:xfrm>
          <a:prstGeom prst="rect">
            <a:avLst/>
          </a:prstGeom>
          <a:noFill/>
          <a:ln/>
        </p:spPr>
        <p:txBody>
          <a:bodyPr wrap="square" lIns="0" tIns="0" rIns="0" bIns="0" rtlCol="0" anchor="ctr"/>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[distribuția răspunsurilor din Forms]</a:t>
            </a:r>
            <a:endParaRPr lang="en-US" sz="1300" dirty="0"/>
          </a:p>
        </p:txBody>
      </p:sp>
      <p:sp>
        <p:nvSpPr>
          <p:cNvPr id="15" name="Text 13"/>
          <p:cNvSpPr/>
          <p:nvPr/>
        </p:nvSpPr>
        <p:spPr>
          <a:xfrm>
            <a:off x="594360" y="5532120"/>
            <a:ext cx="10972800" cy="45720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Unde s-a greșit cel mai des și de ce?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ÎNAPOI LA VOTUL DE DESCHIDERE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Probabil nu</a:t>
            </a:r>
            <a:endParaRPr lang="en-US" sz="4000" dirty="0"/>
          </a:p>
        </p:txBody>
      </p:sp>
      <p:sp>
        <p:nvSpPr>
          <p:cNvPr id="4" name="Shape 2"/>
          <p:cNvSpPr/>
          <p:nvPr/>
        </p:nvSpPr>
        <p:spPr>
          <a:xfrm>
            <a:off x="594360" y="1783080"/>
            <a:ext cx="5394960" cy="2103120"/>
          </a:xfrm>
          <a:prstGeom prst="roundRect">
            <a:avLst>
              <a:gd name="adj" fmla="val 3913"/>
            </a:avLst>
          </a:prstGeom>
          <a:solidFill>
            <a:srgbClr val="1D1F2B"/>
          </a:solidFill>
          <a:ln w="12700">
            <a:solidFill>
              <a:srgbClr val="1D1F2B"/>
            </a:solidFill>
            <a:prstDash val="solid"/>
          </a:ln>
        </p:spPr>
      </p:sp>
      <p:sp>
        <p:nvSpPr>
          <p:cNvPr id="5" name="Text 3"/>
          <p:cNvSpPr/>
          <p:nvPr/>
        </p:nvSpPr>
        <p:spPr>
          <a:xfrm>
            <a:off x="868680" y="1892808"/>
            <a:ext cx="4846320" cy="946404"/>
          </a:xfrm>
          <a:prstGeom prst="rect">
            <a:avLst/>
          </a:prstGeom>
          <a:noFill/>
          <a:ln/>
        </p:spPr>
        <p:txBody>
          <a:bodyPr wrap="square" lIns="0" tIns="0" rIns="0" bIns="0" rtlCol="0" anchor="ctr"/>
          <a:lstStyle/>
          <a:p>
            <a:pPr indent="0" marL="0">
              <a:buNone/>
            </a:pPr>
            <a:r>
              <a:rPr lang="en-US" sz="5200" b="1" dirty="0">
                <a:solidFill>
                  <a:srgbClr val="27D3BE"/>
                </a:solidFill>
                <a:latin typeface="Palatino Linotype" pitchFamily="34" charset="0"/>
                <a:ea typeface="Palatino Linotype" pitchFamily="34" charset="-122"/>
                <a:cs typeface="Palatino Linotype" pitchFamily="34" charset="-120"/>
              </a:rPr>
              <a:t>1 din 16</a:t>
            </a:r>
            <a:endParaRPr lang="en-US" sz="5200" dirty="0"/>
          </a:p>
        </p:txBody>
      </p:sp>
      <p:sp>
        <p:nvSpPr>
          <p:cNvPr id="6" name="Text 4"/>
          <p:cNvSpPr/>
          <p:nvPr/>
        </p:nvSpPr>
        <p:spPr>
          <a:xfrm>
            <a:off x="868680" y="2771546"/>
            <a:ext cx="4846320" cy="105156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șansa unui bolnav din cămin de a ajunge în cifra oficială</a:t>
            </a:r>
            <a:endParaRPr lang="en-US" sz="1500" dirty="0"/>
          </a:p>
        </p:txBody>
      </p:sp>
      <p:sp>
        <p:nvSpPr>
          <p:cNvPr id="7" name="Text 5"/>
          <p:cNvSpPr/>
          <p:nvPr/>
        </p:nvSpPr>
        <p:spPr>
          <a:xfrm>
            <a:off x="6309360" y="1828800"/>
            <a:ext cx="5257800" cy="219456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În cifra oficială au ajuns 2 bolnavi din 32. Ceilalți nu sunt o greșeală a cuiva: piramida filtrează firesc, iar la baza ei se pierd cei mai mulți.</a:t>
            </a:r>
            <a:endParaRPr lang="en-US" sz="1900" dirty="0"/>
          </a:p>
        </p:txBody>
      </p:sp>
      <p:sp>
        <p:nvSpPr>
          <p:cNvPr id="8" name="Text 6"/>
          <p:cNvSpPr/>
          <p:nvPr/>
        </p:nvSpPr>
        <p:spPr>
          <a:xfrm>
            <a:off x="594360" y="4389120"/>
            <a:ext cx="10972800" cy="54864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Singura pierdere fără explicație clinică este fișa nedeclarată.</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PASUL ÎNTÂI · REZOLVAREA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Regula care poate fi aplicată: varianta (b)</a:t>
            </a:r>
            <a:endParaRPr lang="en-US" sz="3100" dirty="0"/>
          </a:p>
        </p:txBody>
      </p:sp>
      <p:sp>
        <p:nvSpPr>
          <p:cNvPr id="4" name="Shape 2"/>
          <p:cNvSpPr/>
          <p:nvPr/>
        </p:nvSpPr>
        <p:spPr>
          <a:xfrm>
            <a:off x="594360" y="1783080"/>
            <a:ext cx="3520440" cy="1920240"/>
          </a:xfrm>
          <a:prstGeom prst="roundRect">
            <a:avLst>
              <a:gd name="adj" fmla="val 4286"/>
            </a:avLst>
          </a:prstGeom>
          <a:solidFill>
            <a:srgbClr val="ECEAE4"/>
          </a:solidFill>
          <a:ln w="12700">
            <a:solidFill>
              <a:srgbClr val="ECEAE4"/>
            </a:solidFill>
            <a:prstDash val="solid"/>
          </a:ln>
        </p:spPr>
      </p:sp>
      <p:sp>
        <p:nvSpPr>
          <p:cNvPr id="5" name="Text 3"/>
          <p:cNvSpPr/>
          <p:nvPr/>
        </p:nvSpPr>
        <p:spPr>
          <a:xfrm>
            <a:off x="868680" y="1892808"/>
            <a:ext cx="2971800" cy="864108"/>
          </a:xfrm>
          <a:prstGeom prst="rect">
            <a:avLst/>
          </a:prstGeom>
          <a:noFill/>
          <a:ln/>
        </p:spPr>
        <p:txBody>
          <a:bodyPr wrap="square" lIns="0" tIns="0" rIns="0" bIns="0" rtlCol="0" anchor="ctr"/>
          <a:lstStyle/>
          <a:p>
            <a:pPr indent="0" marL="0">
              <a:buNone/>
            </a:pPr>
            <a:r>
              <a:rPr lang="en-US" sz="4400" b="1" dirty="0">
                <a:solidFill>
                  <a:srgbClr val="B02532"/>
                </a:solidFill>
                <a:latin typeface="Palatino Linotype" pitchFamily="34" charset="0"/>
                <a:ea typeface="Palatino Linotype" pitchFamily="34" charset="-122"/>
                <a:cs typeface="Palatino Linotype" pitchFamily="34" charset="-120"/>
              </a:rPr>
              <a:t>(b)</a:t>
            </a:r>
            <a:endParaRPr lang="en-US" sz="4400" dirty="0"/>
          </a:p>
        </p:txBody>
      </p:sp>
      <p:sp>
        <p:nvSpPr>
          <p:cNvPr id="6" name="Text 4"/>
          <p:cNvSpPr/>
          <p:nvPr/>
        </p:nvSpPr>
        <p:spPr>
          <a:xfrm>
            <a:off x="868680" y="2685593"/>
            <a:ext cx="2971800" cy="960120"/>
          </a:xfrm>
          <a:prstGeom prst="rect">
            <a:avLst/>
          </a:prstGeom>
          <a:noFill/>
          <a:ln/>
        </p:spPr>
        <p:txBody>
          <a:bodyPr wrap="square" lIns="0" tIns="0" rIns="0" bIns="0" rtlCol="0" anchor="t"/>
          <a:lstStyle/>
          <a:p>
            <a:pPr indent="0" marL="0">
              <a:buNone/>
            </a:pPr>
            <a:r>
              <a:rPr lang="en-US" sz="1500" dirty="0">
                <a:solidFill>
                  <a:srgbClr val="585A64"/>
                </a:solidFill>
                <a:latin typeface="Palatino Linotype" pitchFamily="34" charset="0"/>
                <a:ea typeface="Palatino Linotype" pitchFamily="34" charset="-122"/>
                <a:cs typeface="Palatino Linotype" pitchFamily="34" charset="-120"/>
              </a:rPr>
              <a:t>semnele, locul, timpul și persoana; fără alimentul bănuit</a:t>
            </a:r>
            <a:endParaRPr lang="en-US" sz="1500" dirty="0"/>
          </a:p>
        </p:txBody>
      </p:sp>
      <p:sp>
        <p:nvSpPr>
          <p:cNvPr id="7" name="Shape 5"/>
          <p:cNvSpPr/>
          <p:nvPr/>
        </p:nvSpPr>
        <p:spPr>
          <a:xfrm>
            <a:off x="4325112" y="1783080"/>
            <a:ext cx="3520440" cy="1920240"/>
          </a:xfrm>
          <a:prstGeom prst="roundRect">
            <a:avLst>
              <a:gd name="adj" fmla="val 4286"/>
            </a:avLst>
          </a:prstGeom>
          <a:solidFill>
            <a:srgbClr val="ECEAE4"/>
          </a:solidFill>
          <a:ln w="12700">
            <a:solidFill>
              <a:srgbClr val="ECEAE4"/>
            </a:solidFill>
            <a:prstDash val="solid"/>
          </a:ln>
        </p:spPr>
      </p:sp>
      <p:sp>
        <p:nvSpPr>
          <p:cNvPr id="8" name="Text 6"/>
          <p:cNvSpPr/>
          <p:nvPr/>
        </p:nvSpPr>
        <p:spPr>
          <a:xfrm>
            <a:off x="4599432" y="1892808"/>
            <a:ext cx="2971800" cy="864108"/>
          </a:xfrm>
          <a:prstGeom prst="rect">
            <a:avLst/>
          </a:prstGeom>
          <a:noFill/>
          <a:ln/>
        </p:spPr>
        <p:txBody>
          <a:bodyPr wrap="square" lIns="0" tIns="0" rIns="0" bIns="0" rtlCol="0" anchor="ctr"/>
          <a:lstStyle/>
          <a:p>
            <a:pPr indent="0" marL="0">
              <a:buNone/>
            </a:pPr>
            <a:r>
              <a:rPr lang="en-US" sz="4000" b="1" dirty="0">
                <a:solidFill>
                  <a:srgbClr val="0E7C6B"/>
                </a:solidFill>
                <a:latin typeface="Palatino Linotype" pitchFamily="34" charset="0"/>
                <a:ea typeface="Palatino Linotype" pitchFamily="34" charset="-122"/>
                <a:cs typeface="Palatino Linotype" pitchFamily="34" charset="-120"/>
              </a:rPr>
              <a:t>32 din 54</a:t>
            </a:r>
            <a:endParaRPr lang="en-US" sz="4000" dirty="0"/>
          </a:p>
        </p:txBody>
      </p:sp>
      <p:sp>
        <p:nvSpPr>
          <p:cNvPr id="9" name="Text 7"/>
          <p:cNvSpPr/>
          <p:nvPr/>
        </p:nvSpPr>
        <p:spPr>
          <a:xfrm>
            <a:off x="4599432" y="2685593"/>
            <a:ext cx="2971800" cy="960120"/>
          </a:xfrm>
          <a:prstGeom prst="rect">
            <a:avLst/>
          </a:prstGeom>
          <a:noFill/>
          <a:ln/>
        </p:spPr>
        <p:txBody>
          <a:bodyPr wrap="square" lIns="0" tIns="0" rIns="0" bIns="0" rtlCol="0" anchor="t"/>
          <a:lstStyle/>
          <a:p>
            <a:pPr indent="0" marL="0">
              <a:buNone/>
            </a:pPr>
            <a:r>
              <a:rPr lang="en-US" sz="1500" dirty="0">
                <a:solidFill>
                  <a:srgbClr val="585A64"/>
                </a:solidFill>
                <a:latin typeface="Palatino Linotype" pitchFamily="34" charset="0"/>
                <a:ea typeface="Palatino Linotype" pitchFamily="34" charset="-122"/>
                <a:cs typeface="Palatino Linotype" pitchFamily="34" charset="-120"/>
              </a:rPr>
              <a:t>respondenți intră în număr după această regulă</a:t>
            </a:r>
            <a:endParaRPr lang="en-US" sz="1500" dirty="0"/>
          </a:p>
        </p:txBody>
      </p:sp>
      <p:sp>
        <p:nvSpPr>
          <p:cNvPr id="10" name="Shape 8"/>
          <p:cNvSpPr/>
          <p:nvPr/>
        </p:nvSpPr>
        <p:spPr>
          <a:xfrm>
            <a:off x="8055864" y="1783080"/>
            <a:ext cx="3520440" cy="1920240"/>
          </a:xfrm>
          <a:prstGeom prst="roundRect">
            <a:avLst>
              <a:gd name="adj" fmla="val 4286"/>
            </a:avLst>
          </a:prstGeom>
          <a:solidFill>
            <a:srgbClr val="ECEAE4"/>
          </a:solidFill>
          <a:ln w="12700">
            <a:solidFill>
              <a:srgbClr val="ECEAE4"/>
            </a:solidFill>
            <a:prstDash val="solid"/>
          </a:ln>
        </p:spPr>
      </p:sp>
      <p:sp>
        <p:nvSpPr>
          <p:cNvPr id="11" name="Text 9"/>
          <p:cNvSpPr/>
          <p:nvPr/>
        </p:nvSpPr>
        <p:spPr>
          <a:xfrm>
            <a:off x="8330184" y="1892808"/>
            <a:ext cx="2971800" cy="864108"/>
          </a:xfrm>
          <a:prstGeom prst="rect">
            <a:avLst/>
          </a:prstGeom>
          <a:noFill/>
          <a:ln/>
        </p:spPr>
        <p:txBody>
          <a:bodyPr wrap="square" lIns="0" tIns="0" rIns="0" bIns="0" rtlCol="0" anchor="ctr"/>
          <a:lstStyle/>
          <a:p>
            <a:pPr indent="0" marL="0">
              <a:buNone/>
            </a:pPr>
            <a:r>
              <a:rPr lang="en-US" sz="4000" b="1" dirty="0">
                <a:solidFill>
                  <a:srgbClr val="4A2D8C"/>
                </a:solidFill>
                <a:latin typeface="Palatino Linotype" pitchFamily="34" charset="0"/>
                <a:ea typeface="Palatino Linotype" pitchFamily="34" charset="-122"/>
                <a:cs typeface="Palatino Linotype" pitchFamily="34" charset="-120"/>
              </a:rPr>
              <a:t>6 din 10</a:t>
            </a:r>
            <a:endParaRPr lang="en-US" sz="4000" dirty="0"/>
          </a:p>
        </p:txBody>
      </p:sp>
      <p:sp>
        <p:nvSpPr>
          <p:cNvPr id="12" name="Text 10"/>
          <p:cNvSpPr/>
          <p:nvPr/>
        </p:nvSpPr>
        <p:spPr>
          <a:xfrm>
            <a:off x="8330184" y="2685593"/>
            <a:ext cx="2971800" cy="960120"/>
          </a:xfrm>
          <a:prstGeom prst="rect">
            <a:avLst/>
          </a:prstGeom>
          <a:noFill/>
          <a:ln/>
        </p:spPr>
        <p:txBody>
          <a:bodyPr wrap="square" lIns="0" tIns="0" rIns="0" bIns="0" rtlCol="0" anchor="t"/>
          <a:lstStyle/>
          <a:p>
            <a:pPr indent="0" marL="0">
              <a:buNone/>
            </a:pPr>
            <a:r>
              <a:rPr lang="en-US" sz="1500" dirty="0">
                <a:solidFill>
                  <a:srgbClr val="585A64"/>
                </a:solidFill>
                <a:latin typeface="Palatino Linotype" pitchFamily="34" charset="0"/>
                <a:ea typeface="Palatino Linotype" pitchFamily="34" charset="-122"/>
                <a:cs typeface="Palatino Linotype" pitchFamily="34" charset="-120"/>
              </a:rPr>
              <a:t>rata de atac la respondenți: din câți au răspuns, câți s-au îmbolnăvit</a:t>
            </a:r>
            <a:endParaRPr lang="en-US" sz="1500" dirty="0"/>
          </a:p>
        </p:txBody>
      </p:sp>
      <p:sp>
        <p:nvSpPr>
          <p:cNvPr id="13" name="Text 11"/>
          <p:cNvSpPr/>
          <p:nvPr/>
        </p:nvSpPr>
        <p:spPr>
          <a:xfrm>
            <a:off x="594360" y="4023360"/>
            <a:ext cx="10972800" cy="100584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Varianta (a) ar număra numai vârful piramidei, pentru că probă au dat doar câțiva bolnavi. Dintre cei 32, 3 au o probă pozitivă (cazuri confirmate); ceilalți sunt cazuri probabile, fără confirmare de laborator.</a:t>
            </a:r>
            <a:endParaRPr lang="en-US" sz="1800" dirty="0"/>
          </a:p>
        </p:txBody>
      </p:sp>
      <p:sp>
        <p:nvSpPr>
          <p:cNvPr id="14" name="Text 12"/>
          <p:cNvSpPr/>
          <p:nvPr/>
        </p:nvSpPr>
        <p:spPr>
          <a:xfrm>
            <a:off x="594360" y="5166360"/>
            <a:ext cx="10972800" cy="457200"/>
          </a:xfrm>
          <a:prstGeom prst="rect">
            <a:avLst/>
          </a:prstGeom>
          <a:noFill/>
          <a:ln/>
        </p:spPr>
        <p:txBody>
          <a:bodyPr wrap="square" lIns="0" tIns="0" rIns="0" bIns="0" rtlCol="0" anchor="t"/>
          <a:lstStyle/>
          <a:p>
            <a:pPr indent="0" marL="0">
              <a:buNone/>
            </a:pPr>
            <a:r>
              <a:rPr lang="en-US" sz="1700" i="1" dirty="0">
                <a:solidFill>
                  <a:srgbClr val="0E7C6B"/>
                </a:solidFill>
                <a:latin typeface="Palatino Linotype" pitchFamily="34" charset="0"/>
                <a:ea typeface="Palatino Linotype" pitchFamily="34" charset="-122"/>
                <a:cs typeface="Palatino Linotype" pitchFamily="34" charset="-120"/>
              </a:rPr>
              <a:t>Rata de atac este calculată numai pe cei care au răspuns; 6 participanți nu au răspuns.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9B7EF7"/>
                </a:solidFill>
                <a:latin typeface="Palatino Linotype" pitchFamily="34" charset="0"/>
                <a:ea typeface="Palatino Linotype" pitchFamily="34" charset="-122"/>
                <a:cs typeface="Palatino Linotype" pitchFamily="34" charset="-120"/>
              </a:rPr>
              <a:t>PASUL AL DOILEA · REZOLVAREA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Aproape toți s-au pierdut la bază</a:t>
            </a:r>
            <a:endParaRPr lang="en-US" sz="3200" dirty="0"/>
          </a:p>
        </p:txBody>
      </p:sp>
      <p:sp>
        <p:nvSpPr>
          <p:cNvPr id="4" name="Text 2"/>
          <p:cNvSpPr/>
          <p:nvPr/>
        </p:nvSpPr>
        <p:spPr>
          <a:xfrm>
            <a:off x="594360" y="1691640"/>
            <a:ext cx="4389120" cy="548640"/>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Nu au vorbit cu niciun medic</a:t>
            </a:r>
            <a:endParaRPr lang="en-US" sz="1700" dirty="0"/>
          </a:p>
        </p:txBody>
      </p:sp>
      <p:sp>
        <p:nvSpPr>
          <p:cNvPr id="5" name="Shape 3"/>
          <p:cNvSpPr/>
          <p:nvPr/>
        </p:nvSpPr>
        <p:spPr>
          <a:xfrm>
            <a:off x="5120640" y="1691640"/>
            <a:ext cx="3474720" cy="548640"/>
          </a:xfrm>
          <a:prstGeom prst="roundRect">
            <a:avLst>
              <a:gd name="adj" fmla="val 8333"/>
            </a:avLst>
          </a:prstGeom>
          <a:solidFill>
            <a:srgbClr val="FF4757"/>
          </a:solidFill>
          <a:ln w="12700">
            <a:solidFill>
              <a:srgbClr val="FF4757"/>
            </a:solidFill>
            <a:prstDash val="solid"/>
          </a:ln>
        </p:spPr>
      </p:sp>
      <p:sp>
        <p:nvSpPr>
          <p:cNvPr id="6" name="Text 4"/>
          <p:cNvSpPr/>
          <p:nvPr/>
        </p:nvSpPr>
        <p:spPr>
          <a:xfrm>
            <a:off x="8732520" y="1691640"/>
            <a:ext cx="2834640" cy="548640"/>
          </a:xfrm>
          <a:prstGeom prst="rect">
            <a:avLst/>
          </a:prstGeom>
          <a:noFill/>
          <a:ln/>
        </p:spPr>
        <p:txBody>
          <a:bodyPr wrap="square" lIns="0" tIns="0" rIns="0" bIns="0" rtlCol="0" anchor="ctr"/>
          <a:lstStyle/>
          <a:p>
            <a:pPr indent="0" marL="0">
              <a:buNone/>
            </a:pPr>
            <a:r>
              <a:rPr lang="en-US" sz="1700" b="1" i="1" dirty="0">
                <a:solidFill>
                  <a:srgbClr val="FF4757"/>
                </a:solidFill>
                <a:latin typeface="Palatino Linotype" pitchFamily="34" charset="0"/>
                <a:ea typeface="Palatino Linotype" pitchFamily="34" charset="-122"/>
                <a:cs typeface="Palatino Linotype" pitchFamily="34" charset="-120"/>
              </a:rPr>
              <a:t>cea mai mare pierdere</a:t>
            </a:r>
            <a:endParaRPr lang="en-US" sz="1700" dirty="0"/>
          </a:p>
        </p:txBody>
      </p:sp>
      <p:sp>
        <p:nvSpPr>
          <p:cNvPr id="7" name="Text 5"/>
          <p:cNvSpPr/>
          <p:nvPr/>
        </p:nvSpPr>
        <p:spPr>
          <a:xfrm>
            <a:off x="594360" y="2404872"/>
            <a:ext cx="4389120" cy="548640"/>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Medic, dar fără probă cerută</a:t>
            </a:r>
            <a:endParaRPr lang="en-US" sz="1700" dirty="0"/>
          </a:p>
        </p:txBody>
      </p:sp>
      <p:sp>
        <p:nvSpPr>
          <p:cNvPr id="8" name="Shape 6"/>
          <p:cNvSpPr/>
          <p:nvPr/>
        </p:nvSpPr>
        <p:spPr>
          <a:xfrm>
            <a:off x="5120640" y="2404872"/>
            <a:ext cx="789709" cy="548640"/>
          </a:xfrm>
          <a:prstGeom prst="roundRect">
            <a:avLst>
              <a:gd name="adj" fmla="val 8333"/>
            </a:avLst>
          </a:prstGeom>
          <a:solidFill>
            <a:srgbClr val="FF8A3D"/>
          </a:solidFill>
          <a:ln w="12700">
            <a:solidFill>
              <a:srgbClr val="FF8A3D"/>
            </a:solidFill>
            <a:prstDash val="solid"/>
          </a:ln>
        </p:spPr>
      </p:sp>
      <p:sp>
        <p:nvSpPr>
          <p:cNvPr id="9" name="Text 7"/>
          <p:cNvSpPr/>
          <p:nvPr/>
        </p:nvSpPr>
        <p:spPr>
          <a:xfrm>
            <a:off x="6047509" y="2404872"/>
            <a:ext cx="822960" cy="548640"/>
          </a:xfrm>
          <a:prstGeom prst="rect">
            <a:avLst/>
          </a:prstGeom>
          <a:noFill/>
          <a:ln/>
        </p:spPr>
        <p:txBody>
          <a:bodyPr wrap="square" lIns="0" tIns="0" rIns="0" bIns="0" rtlCol="0" anchor="ctr"/>
          <a:lstStyle/>
          <a:p>
            <a:pPr indent="0" marL="0">
              <a:buNone/>
            </a:pPr>
            <a:r>
              <a:rPr lang="en-US" sz="2200" b="1" dirty="0">
                <a:solidFill>
                  <a:srgbClr val="FF8A3D"/>
                </a:solidFill>
                <a:latin typeface="Palatino Linotype" pitchFamily="34" charset="0"/>
                <a:ea typeface="Palatino Linotype" pitchFamily="34" charset="-122"/>
                <a:cs typeface="Palatino Linotype" pitchFamily="34" charset="-120"/>
              </a:rPr>
              <a:t>5</a:t>
            </a:r>
            <a:endParaRPr lang="en-US" sz="2200" dirty="0"/>
          </a:p>
        </p:txBody>
      </p:sp>
      <p:sp>
        <p:nvSpPr>
          <p:cNvPr id="10" name="Text 8"/>
          <p:cNvSpPr/>
          <p:nvPr/>
        </p:nvSpPr>
        <p:spPr>
          <a:xfrm>
            <a:off x="594360" y="3118104"/>
            <a:ext cx="4389120" cy="548640"/>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Probă cerută, dar neadusă</a:t>
            </a:r>
            <a:endParaRPr lang="en-US" sz="1700" dirty="0"/>
          </a:p>
        </p:txBody>
      </p:sp>
      <p:sp>
        <p:nvSpPr>
          <p:cNvPr id="11" name="Shape 9"/>
          <p:cNvSpPr/>
          <p:nvPr/>
        </p:nvSpPr>
        <p:spPr>
          <a:xfrm>
            <a:off x="5120640" y="3118104"/>
            <a:ext cx="274320" cy="548640"/>
          </a:xfrm>
          <a:prstGeom prst="roundRect">
            <a:avLst>
              <a:gd name="adj" fmla="val 16667"/>
            </a:avLst>
          </a:prstGeom>
          <a:solidFill>
            <a:srgbClr val="FFC24B"/>
          </a:solidFill>
          <a:ln w="12700">
            <a:solidFill>
              <a:srgbClr val="FFC24B"/>
            </a:solidFill>
            <a:prstDash val="solid"/>
          </a:ln>
        </p:spPr>
      </p:sp>
      <p:sp>
        <p:nvSpPr>
          <p:cNvPr id="12" name="Text 10"/>
          <p:cNvSpPr/>
          <p:nvPr/>
        </p:nvSpPr>
        <p:spPr>
          <a:xfrm>
            <a:off x="5532120" y="3118104"/>
            <a:ext cx="822960" cy="548640"/>
          </a:xfrm>
          <a:prstGeom prst="rect">
            <a:avLst/>
          </a:prstGeom>
          <a:noFill/>
          <a:ln/>
        </p:spPr>
        <p:txBody>
          <a:bodyPr wrap="square" lIns="0" tIns="0" rIns="0" bIns="0" rtlCol="0" anchor="ctr"/>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1</a:t>
            </a:r>
            <a:endParaRPr lang="en-US" sz="2200" dirty="0"/>
          </a:p>
        </p:txBody>
      </p:sp>
      <p:sp>
        <p:nvSpPr>
          <p:cNvPr id="13" name="Text 11"/>
          <p:cNvSpPr/>
          <p:nvPr/>
        </p:nvSpPr>
        <p:spPr>
          <a:xfrm>
            <a:off x="594360" y="3831336"/>
            <a:ext cx="4389120" cy="548640"/>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Probă adusă, microbul negăsit</a:t>
            </a:r>
            <a:endParaRPr lang="en-US" sz="1700" dirty="0"/>
          </a:p>
        </p:txBody>
      </p:sp>
      <p:sp>
        <p:nvSpPr>
          <p:cNvPr id="14" name="Shape 12"/>
          <p:cNvSpPr/>
          <p:nvPr/>
        </p:nvSpPr>
        <p:spPr>
          <a:xfrm>
            <a:off x="5120640" y="3831336"/>
            <a:ext cx="274320" cy="548640"/>
          </a:xfrm>
          <a:prstGeom prst="roundRect">
            <a:avLst>
              <a:gd name="adj" fmla="val 16667"/>
            </a:avLst>
          </a:prstGeom>
          <a:solidFill>
            <a:srgbClr val="27D3BE"/>
          </a:solidFill>
          <a:ln w="12700">
            <a:solidFill>
              <a:srgbClr val="27D3BE"/>
            </a:solidFill>
            <a:prstDash val="solid"/>
          </a:ln>
        </p:spPr>
      </p:sp>
      <p:sp>
        <p:nvSpPr>
          <p:cNvPr id="15" name="Text 13"/>
          <p:cNvSpPr/>
          <p:nvPr/>
        </p:nvSpPr>
        <p:spPr>
          <a:xfrm>
            <a:off x="5532120" y="3831336"/>
            <a:ext cx="822960" cy="548640"/>
          </a:xfrm>
          <a:prstGeom prst="rect">
            <a:avLst/>
          </a:prstGeom>
          <a:noFill/>
          <a:ln/>
        </p:spPr>
        <p:txBody>
          <a:bodyPr wrap="square" lIns="0" tIns="0" rIns="0" bIns="0" rtlCol="0" anchor="ctr"/>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1</a:t>
            </a:r>
            <a:endParaRPr lang="en-US" sz="2200" dirty="0"/>
          </a:p>
        </p:txBody>
      </p:sp>
      <p:sp>
        <p:nvSpPr>
          <p:cNvPr id="16" name="Text 14"/>
          <p:cNvSpPr/>
          <p:nvPr/>
        </p:nvSpPr>
        <p:spPr>
          <a:xfrm>
            <a:off x="594360" y="4544568"/>
            <a:ext cx="4389120" cy="548640"/>
          </a:xfrm>
          <a:prstGeom prst="rect">
            <a:avLst/>
          </a:prstGeom>
          <a:noFill/>
          <a:ln/>
        </p:spPr>
        <p:txBody>
          <a:bodyPr wrap="square" lIns="0" tIns="0" rIns="0" bIns="0" rtlCol="0" anchor="ctr"/>
          <a:lstStyle/>
          <a:p>
            <a:pPr algn="r" indent="0" marL="0">
              <a:buNone/>
            </a:pPr>
            <a:r>
              <a:rPr lang="en-US" sz="1700" dirty="0">
                <a:solidFill>
                  <a:srgbClr val="FFFFFF"/>
                </a:solidFill>
                <a:latin typeface="Palatino Linotype" pitchFamily="34" charset="0"/>
                <a:ea typeface="Palatino Linotype" pitchFamily="34" charset="-122"/>
                <a:cs typeface="Palatino Linotype" pitchFamily="34" charset="-120"/>
              </a:rPr>
              <a:t>Rezultat pozitiv, dar nedeclarat</a:t>
            </a:r>
            <a:endParaRPr lang="en-US" sz="1700" dirty="0"/>
          </a:p>
        </p:txBody>
      </p:sp>
      <p:sp>
        <p:nvSpPr>
          <p:cNvPr id="17" name="Shape 15"/>
          <p:cNvSpPr/>
          <p:nvPr/>
        </p:nvSpPr>
        <p:spPr>
          <a:xfrm>
            <a:off x="5120640" y="4544568"/>
            <a:ext cx="274320" cy="548640"/>
          </a:xfrm>
          <a:prstGeom prst="roundRect">
            <a:avLst>
              <a:gd name="adj" fmla="val 16667"/>
            </a:avLst>
          </a:prstGeom>
          <a:solidFill>
            <a:srgbClr val="9B7EF7"/>
          </a:solidFill>
          <a:ln w="12700">
            <a:solidFill>
              <a:srgbClr val="9B7EF7"/>
            </a:solidFill>
            <a:prstDash val="solid"/>
          </a:ln>
        </p:spPr>
      </p:sp>
      <p:sp>
        <p:nvSpPr>
          <p:cNvPr id="18" name="Text 16"/>
          <p:cNvSpPr/>
          <p:nvPr/>
        </p:nvSpPr>
        <p:spPr>
          <a:xfrm>
            <a:off x="5532120" y="4544568"/>
            <a:ext cx="822960" cy="548640"/>
          </a:xfrm>
          <a:prstGeom prst="rect">
            <a:avLst/>
          </a:prstGeom>
          <a:noFill/>
          <a:ln/>
        </p:spPr>
        <p:txBody>
          <a:bodyPr wrap="square" lIns="0" tIns="0" rIns="0" bIns="0" rtlCol="0" anchor="ctr"/>
          <a:lstStyle/>
          <a:p>
            <a:pPr indent="0" marL="0">
              <a:buNone/>
            </a:pPr>
            <a:r>
              <a:rPr lang="en-US" sz="2200" b="1" dirty="0">
                <a:solidFill>
                  <a:srgbClr val="9B7EF7"/>
                </a:solidFill>
                <a:latin typeface="Palatino Linotype" pitchFamily="34" charset="0"/>
                <a:ea typeface="Palatino Linotype" pitchFamily="34" charset="-122"/>
                <a:cs typeface="Palatino Linotype" pitchFamily="34" charset="-120"/>
              </a:rPr>
              <a:t>1</a:t>
            </a:r>
            <a:endParaRPr lang="en-US" sz="2200" dirty="0"/>
          </a:p>
        </p:txBody>
      </p:sp>
      <p:sp>
        <p:nvSpPr>
          <p:cNvPr id="19" name="Text 17"/>
          <p:cNvSpPr/>
          <p:nvPr/>
        </p:nvSpPr>
        <p:spPr>
          <a:xfrm>
            <a:off x="594360" y="5349240"/>
            <a:ext cx="10972800" cy="86868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Primele patru trepte: pierdere prin subdiagnosticare. </a:t>
            </a:r>
            <a:pPr indent="0" marL="0">
              <a:buNone/>
            </a:pPr>
            <a:r>
              <a:rPr lang="en-US" sz="1700" dirty="0">
                <a:solidFill>
                  <a:srgbClr val="FFFFFF"/>
                </a:solidFill>
                <a:latin typeface="Palatino Linotype" pitchFamily="34" charset="0"/>
                <a:ea typeface="Palatino Linotype" pitchFamily="34" charset="-122"/>
                <a:cs typeface="Palatino Linotype" pitchFamily="34" charset="-120"/>
              </a:rPr>
              <a:t>Ultima: pierdere prin subraportare.</a:t>
            </a:r>
            <a:endParaRPr lang="en-US" sz="1700" dirty="0"/>
          </a:p>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Din 32 de bolnavi, 2 au ajuns în cifra oficială.</a:t>
            </a:r>
            <a:endParaRPr lang="en-US" sz="1700" dirty="0"/>
          </a:p>
        </p:txBody>
      </p:sp>
      <p:sp>
        <p:nvSpPr>
          <p:cNvPr id="20" name="Text 18"/>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7E849A"/>
                </a:solidFill>
                <a:latin typeface="Palatino Linotype" pitchFamily="34" charset="0"/>
                <a:ea typeface="Palatino Linotype" pitchFamily="34" charset="-122"/>
                <a:cs typeface="Palatino Linotype" pitchFamily="34" charset="-120"/>
              </a:rPr>
              <a:t>Valori ipotetice. Caz construit pentru exercițiu</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PASUL AL TREILEA · REZOLVAREA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Același internat, alt numitor</a:t>
            </a:r>
            <a:endParaRPr lang="en-US" sz="3400" dirty="0"/>
          </a:p>
        </p:txBody>
      </p:sp>
      <p:sp>
        <p:nvSpPr>
          <p:cNvPr id="4" name="Shape 2"/>
          <p:cNvSpPr/>
          <p:nvPr/>
        </p:nvSpPr>
        <p:spPr>
          <a:xfrm>
            <a:off x="594360" y="1737360"/>
            <a:ext cx="5394960" cy="3017520"/>
          </a:xfrm>
          <a:prstGeom prst="roundRect">
            <a:avLst>
              <a:gd name="adj" fmla="val 2727"/>
            </a:avLst>
          </a:prstGeom>
          <a:solidFill>
            <a:srgbClr val="ECEAE4"/>
          </a:solidFill>
          <a:ln w="12700">
            <a:solidFill>
              <a:srgbClr val="ECEAE4"/>
            </a:solidFill>
            <a:prstDash val="solid"/>
          </a:ln>
        </p:spPr>
      </p:sp>
      <p:sp>
        <p:nvSpPr>
          <p:cNvPr id="5" name="Text 3"/>
          <p:cNvSpPr/>
          <p:nvPr/>
        </p:nvSpPr>
        <p:spPr>
          <a:xfrm>
            <a:off x="868680" y="1828800"/>
            <a:ext cx="4846320" cy="36576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Titlul</a:t>
            </a:r>
            <a:endParaRPr lang="en-US" sz="1600" dirty="0"/>
          </a:p>
        </p:txBody>
      </p:sp>
      <p:sp>
        <p:nvSpPr>
          <p:cNvPr id="6" name="Shape 4"/>
          <p:cNvSpPr/>
          <p:nvPr/>
        </p:nvSpPr>
        <p:spPr>
          <a:xfrm>
            <a:off x="1097280" y="2423160"/>
            <a:ext cx="868680" cy="868680"/>
          </a:xfrm>
          <a:prstGeom prst="ellipse">
            <a:avLst/>
          </a:prstGeom>
          <a:solidFill>
            <a:srgbClr val="B02532"/>
          </a:solidFill>
          <a:ln w="12700">
            <a:solidFill>
              <a:srgbClr val="B02532"/>
            </a:solidFill>
            <a:prstDash val="solid"/>
          </a:ln>
        </p:spPr>
      </p:sp>
      <p:sp>
        <p:nvSpPr>
          <p:cNvPr id="7" name="Shape 5"/>
          <p:cNvSpPr/>
          <p:nvPr/>
        </p:nvSpPr>
        <p:spPr>
          <a:xfrm>
            <a:off x="2148840" y="2423160"/>
            <a:ext cx="868680" cy="868680"/>
          </a:xfrm>
          <a:prstGeom prst="ellipse">
            <a:avLst/>
          </a:prstGeom>
          <a:solidFill>
            <a:srgbClr val="C9C6BE"/>
          </a:solidFill>
          <a:ln w="12700">
            <a:solidFill>
              <a:srgbClr val="C9C6BE"/>
            </a:solidFill>
            <a:prstDash val="solid"/>
          </a:ln>
        </p:spPr>
      </p:sp>
      <p:sp>
        <p:nvSpPr>
          <p:cNvPr id="8" name="Text 6"/>
          <p:cNvSpPr/>
          <p:nvPr/>
        </p:nvSpPr>
        <p:spPr>
          <a:xfrm>
            <a:off x="3383280" y="2331720"/>
            <a:ext cx="2468880" cy="1005840"/>
          </a:xfrm>
          <a:prstGeom prst="rect">
            <a:avLst/>
          </a:prstGeom>
          <a:noFill/>
          <a:ln/>
        </p:spPr>
        <p:txBody>
          <a:bodyPr wrap="square" lIns="0" tIns="0" rIns="0" bIns="0" rtlCol="0" anchor="ctr"/>
          <a:lstStyle/>
          <a:p>
            <a:pPr indent="0" marL="0">
              <a:buNone/>
            </a:pPr>
            <a:r>
              <a:rPr lang="en-US" sz="4000" b="1" dirty="0">
                <a:solidFill>
                  <a:srgbClr val="B02532"/>
                </a:solidFill>
                <a:latin typeface="Palatino Linotype" pitchFamily="34" charset="0"/>
                <a:ea typeface="Palatino Linotype" pitchFamily="34" charset="-122"/>
                <a:cs typeface="Palatino Linotype" pitchFamily="34" charset="-120"/>
              </a:rPr>
              <a:t>1 din 2</a:t>
            </a:r>
            <a:endParaRPr lang="en-US" sz="4000" dirty="0"/>
          </a:p>
        </p:txBody>
      </p:sp>
      <p:sp>
        <p:nvSpPr>
          <p:cNvPr id="9" name="Text 7"/>
          <p:cNvSpPr/>
          <p:nvPr/>
        </p:nvSpPr>
        <p:spPr>
          <a:xfrm>
            <a:off x="868680" y="3749040"/>
            <a:ext cx="4846320" cy="82296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1 internat la 2 cazuri declarate: jumătate</a:t>
            </a:r>
            <a:endParaRPr lang="en-US" sz="1700" dirty="0"/>
          </a:p>
        </p:txBody>
      </p:sp>
      <p:sp>
        <p:nvSpPr>
          <p:cNvPr id="10" name="Shape 8"/>
          <p:cNvSpPr/>
          <p:nvPr/>
        </p:nvSpPr>
        <p:spPr>
          <a:xfrm>
            <a:off x="6172200" y="1737360"/>
            <a:ext cx="5394960" cy="3017520"/>
          </a:xfrm>
          <a:prstGeom prst="roundRect">
            <a:avLst>
              <a:gd name="adj" fmla="val 2727"/>
            </a:avLst>
          </a:prstGeom>
          <a:solidFill>
            <a:srgbClr val="ECEAE4"/>
          </a:solidFill>
          <a:ln w="12700">
            <a:solidFill>
              <a:srgbClr val="ECEAE4"/>
            </a:solidFill>
            <a:prstDash val="solid"/>
          </a:ln>
        </p:spPr>
      </p:sp>
      <p:sp>
        <p:nvSpPr>
          <p:cNvPr id="11" name="Text 9"/>
          <p:cNvSpPr/>
          <p:nvPr/>
        </p:nvSpPr>
        <p:spPr>
          <a:xfrm>
            <a:off x="6446520" y="1828800"/>
            <a:ext cx="4846320" cy="36576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Ancheta</a:t>
            </a:r>
            <a:endParaRPr lang="en-US" sz="1600" dirty="0"/>
          </a:p>
        </p:txBody>
      </p:sp>
      <p:sp>
        <p:nvSpPr>
          <p:cNvPr id="12" name="Shape 10"/>
          <p:cNvSpPr/>
          <p:nvPr/>
        </p:nvSpPr>
        <p:spPr>
          <a:xfrm>
            <a:off x="6446520" y="2331720"/>
            <a:ext cx="301752" cy="301752"/>
          </a:xfrm>
          <a:prstGeom prst="ellipse">
            <a:avLst/>
          </a:prstGeom>
          <a:solidFill>
            <a:srgbClr val="0E7C6B"/>
          </a:solidFill>
          <a:ln w="12700">
            <a:solidFill>
              <a:srgbClr val="0E7C6B"/>
            </a:solidFill>
            <a:prstDash val="solid"/>
          </a:ln>
        </p:spPr>
      </p:sp>
      <p:sp>
        <p:nvSpPr>
          <p:cNvPr id="13" name="Shape 11"/>
          <p:cNvSpPr/>
          <p:nvPr/>
        </p:nvSpPr>
        <p:spPr>
          <a:xfrm>
            <a:off x="6903720" y="2331720"/>
            <a:ext cx="301752" cy="301752"/>
          </a:xfrm>
          <a:prstGeom prst="ellipse">
            <a:avLst/>
          </a:prstGeom>
          <a:solidFill>
            <a:srgbClr val="C9C6BE"/>
          </a:solidFill>
          <a:ln w="12700">
            <a:solidFill>
              <a:srgbClr val="C9C6BE"/>
            </a:solidFill>
            <a:prstDash val="solid"/>
          </a:ln>
        </p:spPr>
      </p:sp>
      <p:sp>
        <p:nvSpPr>
          <p:cNvPr id="14" name="Shape 12"/>
          <p:cNvSpPr/>
          <p:nvPr/>
        </p:nvSpPr>
        <p:spPr>
          <a:xfrm>
            <a:off x="7360920" y="2331720"/>
            <a:ext cx="301752" cy="301752"/>
          </a:xfrm>
          <a:prstGeom prst="ellipse">
            <a:avLst/>
          </a:prstGeom>
          <a:solidFill>
            <a:srgbClr val="C9C6BE"/>
          </a:solidFill>
          <a:ln w="12700">
            <a:solidFill>
              <a:srgbClr val="C9C6BE"/>
            </a:solidFill>
            <a:prstDash val="solid"/>
          </a:ln>
        </p:spPr>
      </p:sp>
      <p:sp>
        <p:nvSpPr>
          <p:cNvPr id="15" name="Shape 13"/>
          <p:cNvSpPr/>
          <p:nvPr/>
        </p:nvSpPr>
        <p:spPr>
          <a:xfrm>
            <a:off x="7818120" y="2331720"/>
            <a:ext cx="301752" cy="301752"/>
          </a:xfrm>
          <a:prstGeom prst="ellipse">
            <a:avLst/>
          </a:prstGeom>
          <a:solidFill>
            <a:srgbClr val="C9C6BE"/>
          </a:solidFill>
          <a:ln w="12700">
            <a:solidFill>
              <a:srgbClr val="C9C6BE"/>
            </a:solidFill>
            <a:prstDash val="solid"/>
          </a:ln>
        </p:spPr>
      </p:sp>
      <p:sp>
        <p:nvSpPr>
          <p:cNvPr id="16" name="Shape 14"/>
          <p:cNvSpPr/>
          <p:nvPr/>
        </p:nvSpPr>
        <p:spPr>
          <a:xfrm>
            <a:off x="8275320" y="2331720"/>
            <a:ext cx="301752" cy="301752"/>
          </a:xfrm>
          <a:prstGeom prst="ellipse">
            <a:avLst/>
          </a:prstGeom>
          <a:solidFill>
            <a:srgbClr val="C9C6BE"/>
          </a:solidFill>
          <a:ln w="12700">
            <a:solidFill>
              <a:srgbClr val="C9C6BE"/>
            </a:solidFill>
            <a:prstDash val="solid"/>
          </a:ln>
        </p:spPr>
      </p:sp>
      <p:sp>
        <p:nvSpPr>
          <p:cNvPr id="17" name="Shape 15"/>
          <p:cNvSpPr/>
          <p:nvPr/>
        </p:nvSpPr>
        <p:spPr>
          <a:xfrm>
            <a:off x="8732520" y="2331720"/>
            <a:ext cx="301752" cy="301752"/>
          </a:xfrm>
          <a:prstGeom prst="ellipse">
            <a:avLst/>
          </a:prstGeom>
          <a:solidFill>
            <a:srgbClr val="C9C6BE"/>
          </a:solidFill>
          <a:ln w="12700">
            <a:solidFill>
              <a:srgbClr val="C9C6BE"/>
            </a:solidFill>
            <a:prstDash val="solid"/>
          </a:ln>
        </p:spPr>
      </p:sp>
      <p:sp>
        <p:nvSpPr>
          <p:cNvPr id="18" name="Shape 16"/>
          <p:cNvSpPr/>
          <p:nvPr/>
        </p:nvSpPr>
        <p:spPr>
          <a:xfrm>
            <a:off x="9189720" y="2331720"/>
            <a:ext cx="301752" cy="301752"/>
          </a:xfrm>
          <a:prstGeom prst="ellipse">
            <a:avLst/>
          </a:prstGeom>
          <a:solidFill>
            <a:srgbClr val="C9C6BE"/>
          </a:solidFill>
          <a:ln w="12700">
            <a:solidFill>
              <a:srgbClr val="C9C6BE"/>
            </a:solidFill>
            <a:prstDash val="solid"/>
          </a:ln>
        </p:spPr>
      </p:sp>
      <p:sp>
        <p:nvSpPr>
          <p:cNvPr id="19" name="Shape 17"/>
          <p:cNvSpPr/>
          <p:nvPr/>
        </p:nvSpPr>
        <p:spPr>
          <a:xfrm>
            <a:off x="9646920" y="2331720"/>
            <a:ext cx="301752" cy="301752"/>
          </a:xfrm>
          <a:prstGeom prst="ellipse">
            <a:avLst/>
          </a:prstGeom>
          <a:solidFill>
            <a:srgbClr val="C9C6BE"/>
          </a:solidFill>
          <a:ln w="12700">
            <a:solidFill>
              <a:srgbClr val="C9C6BE"/>
            </a:solidFill>
            <a:prstDash val="solid"/>
          </a:ln>
        </p:spPr>
      </p:sp>
      <p:sp>
        <p:nvSpPr>
          <p:cNvPr id="20" name="Shape 18"/>
          <p:cNvSpPr/>
          <p:nvPr/>
        </p:nvSpPr>
        <p:spPr>
          <a:xfrm>
            <a:off x="6446520" y="2715768"/>
            <a:ext cx="301752" cy="301752"/>
          </a:xfrm>
          <a:prstGeom prst="ellipse">
            <a:avLst/>
          </a:prstGeom>
          <a:solidFill>
            <a:srgbClr val="C9C6BE"/>
          </a:solidFill>
          <a:ln w="12700">
            <a:solidFill>
              <a:srgbClr val="C9C6BE"/>
            </a:solidFill>
            <a:prstDash val="solid"/>
          </a:ln>
        </p:spPr>
      </p:sp>
      <p:sp>
        <p:nvSpPr>
          <p:cNvPr id="21" name="Shape 19"/>
          <p:cNvSpPr/>
          <p:nvPr/>
        </p:nvSpPr>
        <p:spPr>
          <a:xfrm>
            <a:off x="6903720" y="2715768"/>
            <a:ext cx="301752" cy="301752"/>
          </a:xfrm>
          <a:prstGeom prst="ellipse">
            <a:avLst/>
          </a:prstGeom>
          <a:solidFill>
            <a:srgbClr val="C9C6BE"/>
          </a:solidFill>
          <a:ln w="12700">
            <a:solidFill>
              <a:srgbClr val="C9C6BE"/>
            </a:solidFill>
            <a:prstDash val="solid"/>
          </a:ln>
        </p:spPr>
      </p:sp>
      <p:sp>
        <p:nvSpPr>
          <p:cNvPr id="22" name="Shape 20"/>
          <p:cNvSpPr/>
          <p:nvPr/>
        </p:nvSpPr>
        <p:spPr>
          <a:xfrm>
            <a:off x="7360920" y="2715768"/>
            <a:ext cx="301752" cy="301752"/>
          </a:xfrm>
          <a:prstGeom prst="ellipse">
            <a:avLst/>
          </a:prstGeom>
          <a:solidFill>
            <a:srgbClr val="C9C6BE"/>
          </a:solidFill>
          <a:ln w="12700">
            <a:solidFill>
              <a:srgbClr val="C9C6BE"/>
            </a:solidFill>
            <a:prstDash val="solid"/>
          </a:ln>
        </p:spPr>
      </p:sp>
      <p:sp>
        <p:nvSpPr>
          <p:cNvPr id="23" name="Shape 21"/>
          <p:cNvSpPr/>
          <p:nvPr/>
        </p:nvSpPr>
        <p:spPr>
          <a:xfrm>
            <a:off x="7818120" y="2715768"/>
            <a:ext cx="301752" cy="301752"/>
          </a:xfrm>
          <a:prstGeom prst="ellipse">
            <a:avLst/>
          </a:prstGeom>
          <a:solidFill>
            <a:srgbClr val="C9C6BE"/>
          </a:solidFill>
          <a:ln w="12700">
            <a:solidFill>
              <a:srgbClr val="C9C6BE"/>
            </a:solidFill>
            <a:prstDash val="solid"/>
          </a:ln>
        </p:spPr>
      </p:sp>
      <p:sp>
        <p:nvSpPr>
          <p:cNvPr id="24" name="Shape 22"/>
          <p:cNvSpPr/>
          <p:nvPr/>
        </p:nvSpPr>
        <p:spPr>
          <a:xfrm>
            <a:off x="8275320" y="2715768"/>
            <a:ext cx="301752" cy="301752"/>
          </a:xfrm>
          <a:prstGeom prst="ellipse">
            <a:avLst/>
          </a:prstGeom>
          <a:solidFill>
            <a:srgbClr val="C9C6BE"/>
          </a:solidFill>
          <a:ln w="12700">
            <a:solidFill>
              <a:srgbClr val="C9C6BE"/>
            </a:solidFill>
            <a:prstDash val="solid"/>
          </a:ln>
        </p:spPr>
      </p:sp>
      <p:sp>
        <p:nvSpPr>
          <p:cNvPr id="25" name="Shape 23"/>
          <p:cNvSpPr/>
          <p:nvPr/>
        </p:nvSpPr>
        <p:spPr>
          <a:xfrm>
            <a:off x="8732520" y="2715768"/>
            <a:ext cx="301752" cy="301752"/>
          </a:xfrm>
          <a:prstGeom prst="ellipse">
            <a:avLst/>
          </a:prstGeom>
          <a:solidFill>
            <a:srgbClr val="C9C6BE"/>
          </a:solidFill>
          <a:ln w="12700">
            <a:solidFill>
              <a:srgbClr val="C9C6BE"/>
            </a:solidFill>
            <a:prstDash val="solid"/>
          </a:ln>
        </p:spPr>
      </p:sp>
      <p:sp>
        <p:nvSpPr>
          <p:cNvPr id="26" name="Shape 24"/>
          <p:cNvSpPr/>
          <p:nvPr/>
        </p:nvSpPr>
        <p:spPr>
          <a:xfrm>
            <a:off x="9189720" y="2715768"/>
            <a:ext cx="301752" cy="301752"/>
          </a:xfrm>
          <a:prstGeom prst="ellipse">
            <a:avLst/>
          </a:prstGeom>
          <a:solidFill>
            <a:srgbClr val="C9C6BE"/>
          </a:solidFill>
          <a:ln w="12700">
            <a:solidFill>
              <a:srgbClr val="C9C6BE"/>
            </a:solidFill>
            <a:prstDash val="solid"/>
          </a:ln>
        </p:spPr>
      </p:sp>
      <p:sp>
        <p:nvSpPr>
          <p:cNvPr id="27" name="Shape 25"/>
          <p:cNvSpPr/>
          <p:nvPr/>
        </p:nvSpPr>
        <p:spPr>
          <a:xfrm>
            <a:off x="9646920" y="2715768"/>
            <a:ext cx="301752" cy="301752"/>
          </a:xfrm>
          <a:prstGeom prst="ellipse">
            <a:avLst/>
          </a:prstGeom>
          <a:solidFill>
            <a:srgbClr val="C9C6BE"/>
          </a:solidFill>
          <a:ln w="12700">
            <a:solidFill>
              <a:srgbClr val="C9C6BE"/>
            </a:solidFill>
            <a:prstDash val="solid"/>
          </a:ln>
        </p:spPr>
      </p:sp>
      <p:sp>
        <p:nvSpPr>
          <p:cNvPr id="28" name="Shape 26"/>
          <p:cNvSpPr/>
          <p:nvPr/>
        </p:nvSpPr>
        <p:spPr>
          <a:xfrm>
            <a:off x="6446520" y="3099816"/>
            <a:ext cx="301752" cy="301752"/>
          </a:xfrm>
          <a:prstGeom prst="ellipse">
            <a:avLst/>
          </a:prstGeom>
          <a:solidFill>
            <a:srgbClr val="C9C6BE"/>
          </a:solidFill>
          <a:ln w="12700">
            <a:solidFill>
              <a:srgbClr val="C9C6BE"/>
            </a:solidFill>
            <a:prstDash val="solid"/>
          </a:ln>
        </p:spPr>
      </p:sp>
      <p:sp>
        <p:nvSpPr>
          <p:cNvPr id="29" name="Shape 27"/>
          <p:cNvSpPr/>
          <p:nvPr/>
        </p:nvSpPr>
        <p:spPr>
          <a:xfrm>
            <a:off x="6903720" y="3099816"/>
            <a:ext cx="301752" cy="301752"/>
          </a:xfrm>
          <a:prstGeom prst="ellipse">
            <a:avLst/>
          </a:prstGeom>
          <a:solidFill>
            <a:srgbClr val="C9C6BE"/>
          </a:solidFill>
          <a:ln w="12700">
            <a:solidFill>
              <a:srgbClr val="C9C6BE"/>
            </a:solidFill>
            <a:prstDash val="solid"/>
          </a:ln>
        </p:spPr>
      </p:sp>
      <p:sp>
        <p:nvSpPr>
          <p:cNvPr id="30" name="Shape 28"/>
          <p:cNvSpPr/>
          <p:nvPr/>
        </p:nvSpPr>
        <p:spPr>
          <a:xfrm>
            <a:off x="7360920" y="3099816"/>
            <a:ext cx="301752" cy="301752"/>
          </a:xfrm>
          <a:prstGeom prst="ellipse">
            <a:avLst/>
          </a:prstGeom>
          <a:solidFill>
            <a:srgbClr val="C9C6BE"/>
          </a:solidFill>
          <a:ln w="12700">
            <a:solidFill>
              <a:srgbClr val="C9C6BE"/>
            </a:solidFill>
            <a:prstDash val="solid"/>
          </a:ln>
        </p:spPr>
      </p:sp>
      <p:sp>
        <p:nvSpPr>
          <p:cNvPr id="31" name="Shape 29"/>
          <p:cNvSpPr/>
          <p:nvPr/>
        </p:nvSpPr>
        <p:spPr>
          <a:xfrm>
            <a:off x="7818120" y="3099816"/>
            <a:ext cx="301752" cy="301752"/>
          </a:xfrm>
          <a:prstGeom prst="ellipse">
            <a:avLst/>
          </a:prstGeom>
          <a:solidFill>
            <a:srgbClr val="C9C6BE"/>
          </a:solidFill>
          <a:ln w="12700">
            <a:solidFill>
              <a:srgbClr val="C9C6BE"/>
            </a:solidFill>
            <a:prstDash val="solid"/>
          </a:ln>
        </p:spPr>
      </p:sp>
      <p:sp>
        <p:nvSpPr>
          <p:cNvPr id="32" name="Shape 30"/>
          <p:cNvSpPr/>
          <p:nvPr/>
        </p:nvSpPr>
        <p:spPr>
          <a:xfrm>
            <a:off x="8275320" y="3099816"/>
            <a:ext cx="301752" cy="301752"/>
          </a:xfrm>
          <a:prstGeom prst="ellipse">
            <a:avLst/>
          </a:prstGeom>
          <a:solidFill>
            <a:srgbClr val="C9C6BE"/>
          </a:solidFill>
          <a:ln w="12700">
            <a:solidFill>
              <a:srgbClr val="C9C6BE"/>
            </a:solidFill>
            <a:prstDash val="solid"/>
          </a:ln>
        </p:spPr>
      </p:sp>
      <p:sp>
        <p:nvSpPr>
          <p:cNvPr id="33" name="Shape 31"/>
          <p:cNvSpPr/>
          <p:nvPr/>
        </p:nvSpPr>
        <p:spPr>
          <a:xfrm>
            <a:off x="8732520" y="3099816"/>
            <a:ext cx="301752" cy="301752"/>
          </a:xfrm>
          <a:prstGeom prst="ellipse">
            <a:avLst/>
          </a:prstGeom>
          <a:solidFill>
            <a:srgbClr val="C9C6BE"/>
          </a:solidFill>
          <a:ln w="12700">
            <a:solidFill>
              <a:srgbClr val="C9C6BE"/>
            </a:solidFill>
            <a:prstDash val="solid"/>
          </a:ln>
        </p:spPr>
      </p:sp>
      <p:sp>
        <p:nvSpPr>
          <p:cNvPr id="34" name="Shape 32"/>
          <p:cNvSpPr/>
          <p:nvPr/>
        </p:nvSpPr>
        <p:spPr>
          <a:xfrm>
            <a:off x="9189720" y="3099816"/>
            <a:ext cx="301752" cy="301752"/>
          </a:xfrm>
          <a:prstGeom prst="ellipse">
            <a:avLst/>
          </a:prstGeom>
          <a:solidFill>
            <a:srgbClr val="C9C6BE"/>
          </a:solidFill>
          <a:ln w="12700">
            <a:solidFill>
              <a:srgbClr val="C9C6BE"/>
            </a:solidFill>
            <a:prstDash val="solid"/>
          </a:ln>
        </p:spPr>
      </p:sp>
      <p:sp>
        <p:nvSpPr>
          <p:cNvPr id="35" name="Shape 33"/>
          <p:cNvSpPr/>
          <p:nvPr/>
        </p:nvSpPr>
        <p:spPr>
          <a:xfrm>
            <a:off x="9646920" y="3099816"/>
            <a:ext cx="301752" cy="301752"/>
          </a:xfrm>
          <a:prstGeom prst="ellipse">
            <a:avLst/>
          </a:prstGeom>
          <a:solidFill>
            <a:srgbClr val="C9C6BE"/>
          </a:solidFill>
          <a:ln w="12700">
            <a:solidFill>
              <a:srgbClr val="C9C6BE"/>
            </a:solidFill>
            <a:prstDash val="solid"/>
          </a:ln>
        </p:spPr>
      </p:sp>
      <p:sp>
        <p:nvSpPr>
          <p:cNvPr id="36" name="Shape 34"/>
          <p:cNvSpPr/>
          <p:nvPr/>
        </p:nvSpPr>
        <p:spPr>
          <a:xfrm>
            <a:off x="6446520" y="3483864"/>
            <a:ext cx="301752" cy="301752"/>
          </a:xfrm>
          <a:prstGeom prst="ellipse">
            <a:avLst/>
          </a:prstGeom>
          <a:solidFill>
            <a:srgbClr val="C9C6BE"/>
          </a:solidFill>
          <a:ln w="12700">
            <a:solidFill>
              <a:srgbClr val="C9C6BE"/>
            </a:solidFill>
            <a:prstDash val="solid"/>
          </a:ln>
        </p:spPr>
      </p:sp>
      <p:sp>
        <p:nvSpPr>
          <p:cNvPr id="37" name="Shape 35"/>
          <p:cNvSpPr/>
          <p:nvPr/>
        </p:nvSpPr>
        <p:spPr>
          <a:xfrm>
            <a:off x="6903720" y="3483864"/>
            <a:ext cx="301752" cy="301752"/>
          </a:xfrm>
          <a:prstGeom prst="ellipse">
            <a:avLst/>
          </a:prstGeom>
          <a:solidFill>
            <a:srgbClr val="C9C6BE"/>
          </a:solidFill>
          <a:ln w="12700">
            <a:solidFill>
              <a:srgbClr val="C9C6BE"/>
            </a:solidFill>
            <a:prstDash val="solid"/>
          </a:ln>
        </p:spPr>
      </p:sp>
      <p:sp>
        <p:nvSpPr>
          <p:cNvPr id="38" name="Shape 36"/>
          <p:cNvSpPr/>
          <p:nvPr/>
        </p:nvSpPr>
        <p:spPr>
          <a:xfrm>
            <a:off x="7360920" y="3483864"/>
            <a:ext cx="301752" cy="301752"/>
          </a:xfrm>
          <a:prstGeom prst="ellipse">
            <a:avLst/>
          </a:prstGeom>
          <a:solidFill>
            <a:srgbClr val="C9C6BE"/>
          </a:solidFill>
          <a:ln w="12700">
            <a:solidFill>
              <a:srgbClr val="C9C6BE"/>
            </a:solidFill>
            <a:prstDash val="solid"/>
          </a:ln>
        </p:spPr>
      </p:sp>
      <p:sp>
        <p:nvSpPr>
          <p:cNvPr id="39" name="Shape 37"/>
          <p:cNvSpPr/>
          <p:nvPr/>
        </p:nvSpPr>
        <p:spPr>
          <a:xfrm>
            <a:off x="7818120" y="3483864"/>
            <a:ext cx="301752" cy="301752"/>
          </a:xfrm>
          <a:prstGeom prst="ellipse">
            <a:avLst/>
          </a:prstGeom>
          <a:solidFill>
            <a:srgbClr val="C9C6BE"/>
          </a:solidFill>
          <a:ln w="12700">
            <a:solidFill>
              <a:srgbClr val="C9C6BE"/>
            </a:solidFill>
            <a:prstDash val="solid"/>
          </a:ln>
        </p:spPr>
      </p:sp>
      <p:sp>
        <p:nvSpPr>
          <p:cNvPr id="40" name="Shape 38"/>
          <p:cNvSpPr/>
          <p:nvPr/>
        </p:nvSpPr>
        <p:spPr>
          <a:xfrm>
            <a:off x="8275320" y="3483864"/>
            <a:ext cx="301752" cy="301752"/>
          </a:xfrm>
          <a:prstGeom prst="ellipse">
            <a:avLst/>
          </a:prstGeom>
          <a:solidFill>
            <a:srgbClr val="C9C6BE"/>
          </a:solidFill>
          <a:ln w="12700">
            <a:solidFill>
              <a:srgbClr val="C9C6BE"/>
            </a:solidFill>
            <a:prstDash val="solid"/>
          </a:ln>
        </p:spPr>
      </p:sp>
      <p:sp>
        <p:nvSpPr>
          <p:cNvPr id="41" name="Shape 39"/>
          <p:cNvSpPr/>
          <p:nvPr/>
        </p:nvSpPr>
        <p:spPr>
          <a:xfrm>
            <a:off x="8732520" y="3483864"/>
            <a:ext cx="301752" cy="301752"/>
          </a:xfrm>
          <a:prstGeom prst="ellipse">
            <a:avLst/>
          </a:prstGeom>
          <a:solidFill>
            <a:srgbClr val="C9C6BE"/>
          </a:solidFill>
          <a:ln w="12700">
            <a:solidFill>
              <a:srgbClr val="C9C6BE"/>
            </a:solidFill>
            <a:prstDash val="solid"/>
          </a:ln>
        </p:spPr>
      </p:sp>
      <p:sp>
        <p:nvSpPr>
          <p:cNvPr id="42" name="Shape 40"/>
          <p:cNvSpPr/>
          <p:nvPr/>
        </p:nvSpPr>
        <p:spPr>
          <a:xfrm>
            <a:off x="9189720" y="3483864"/>
            <a:ext cx="301752" cy="301752"/>
          </a:xfrm>
          <a:prstGeom prst="ellipse">
            <a:avLst/>
          </a:prstGeom>
          <a:solidFill>
            <a:srgbClr val="C9C6BE"/>
          </a:solidFill>
          <a:ln w="12700">
            <a:solidFill>
              <a:srgbClr val="C9C6BE"/>
            </a:solidFill>
            <a:prstDash val="solid"/>
          </a:ln>
        </p:spPr>
      </p:sp>
      <p:sp>
        <p:nvSpPr>
          <p:cNvPr id="43" name="Shape 41"/>
          <p:cNvSpPr/>
          <p:nvPr/>
        </p:nvSpPr>
        <p:spPr>
          <a:xfrm>
            <a:off x="9646920" y="3483864"/>
            <a:ext cx="301752" cy="301752"/>
          </a:xfrm>
          <a:prstGeom prst="ellipse">
            <a:avLst/>
          </a:prstGeom>
          <a:solidFill>
            <a:srgbClr val="C9C6BE"/>
          </a:solidFill>
          <a:ln w="12700">
            <a:solidFill>
              <a:srgbClr val="C9C6BE"/>
            </a:solidFill>
            <a:prstDash val="solid"/>
          </a:ln>
        </p:spPr>
      </p:sp>
      <p:sp>
        <p:nvSpPr>
          <p:cNvPr id="44" name="Text 42"/>
          <p:cNvSpPr/>
          <p:nvPr/>
        </p:nvSpPr>
        <p:spPr>
          <a:xfrm>
            <a:off x="10104120" y="2331720"/>
            <a:ext cx="1371600" cy="1005840"/>
          </a:xfrm>
          <a:prstGeom prst="rect">
            <a:avLst/>
          </a:prstGeom>
          <a:noFill/>
          <a:ln/>
        </p:spPr>
        <p:txBody>
          <a:bodyPr wrap="square" lIns="0" tIns="0" rIns="0" bIns="0" rtlCol="0" anchor="ctr"/>
          <a:lstStyle/>
          <a:p>
            <a:pPr indent="0" marL="0">
              <a:buNone/>
            </a:pPr>
            <a:r>
              <a:rPr lang="en-US" sz="4800" b="1" dirty="0">
                <a:solidFill>
                  <a:srgbClr val="0E7C6B"/>
                </a:solidFill>
                <a:latin typeface="Palatino Linotype" pitchFamily="34" charset="0"/>
                <a:ea typeface="Palatino Linotype" pitchFamily="34" charset="-122"/>
                <a:cs typeface="Palatino Linotype" pitchFamily="34" charset="-120"/>
              </a:rPr>
              <a:t>3%</a:t>
            </a:r>
            <a:endParaRPr lang="en-US" sz="4800" dirty="0"/>
          </a:p>
        </p:txBody>
      </p:sp>
      <p:sp>
        <p:nvSpPr>
          <p:cNvPr id="45" name="Text 43"/>
          <p:cNvSpPr/>
          <p:nvPr/>
        </p:nvSpPr>
        <p:spPr>
          <a:xfrm>
            <a:off x="6446520" y="3977640"/>
            <a:ext cx="4846320" cy="6858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1 internat la 32 de bolnavi găsiți</a:t>
            </a:r>
            <a:endParaRPr lang="en-US" sz="1700" dirty="0"/>
          </a:p>
        </p:txBody>
      </p:sp>
      <p:sp>
        <p:nvSpPr>
          <p:cNvPr id="46" name="Text 44"/>
          <p:cNvSpPr/>
          <p:nvPr/>
        </p:nvSpPr>
        <p:spPr>
          <a:xfrm>
            <a:off x="594360" y="4983480"/>
            <a:ext cx="10972800" cy="109728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Numărătorul este același; numitorul era prea mic. Vârful piramidei adună mai ales cazurile grave: la fel ca la MERS, proporția calculată pe cazurile raportate este probabil prea mare.</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SINTEZA ANCHETEI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Piramida focarului din cămin</a:t>
            </a:r>
            <a:endParaRPr lang="en-US" sz="3400" dirty="0"/>
          </a:p>
        </p:txBody>
      </p:sp>
      <p:sp>
        <p:nvSpPr>
          <p:cNvPr id="4" name="Shape 2"/>
          <p:cNvSpPr/>
          <p:nvPr/>
        </p:nvSpPr>
        <p:spPr>
          <a:xfrm>
            <a:off x="6263640" y="1691640"/>
            <a:ext cx="457200" cy="530352"/>
          </a:xfrm>
          <a:prstGeom prst="roundRect">
            <a:avLst>
              <a:gd name="adj" fmla="val 10000"/>
            </a:avLst>
          </a:prstGeom>
          <a:solidFill>
            <a:srgbClr val="FFFFFF"/>
          </a:solidFill>
          <a:ln w="12700">
            <a:solidFill>
              <a:srgbClr val="FFFFFF"/>
            </a:solidFill>
            <a:prstDash val="solid"/>
          </a:ln>
        </p:spPr>
      </p:sp>
      <p:sp>
        <p:nvSpPr>
          <p:cNvPr id="5" name="Text 3"/>
          <p:cNvSpPr/>
          <p:nvPr/>
        </p:nvSpPr>
        <p:spPr>
          <a:xfrm>
            <a:off x="6263640" y="1691640"/>
            <a:ext cx="457200" cy="530352"/>
          </a:xfrm>
          <a:prstGeom prst="rect">
            <a:avLst/>
          </a:prstGeom>
          <a:noFill/>
          <a:ln/>
        </p:spPr>
        <p:txBody>
          <a:bodyPr wrap="square" lIns="0" tIns="0" rIns="0" bIns="0" rtlCol="0" anchor="ct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2</a:t>
            </a:r>
            <a:endParaRPr lang="en-US" sz="2000" dirty="0"/>
          </a:p>
        </p:txBody>
      </p:sp>
      <p:sp>
        <p:nvSpPr>
          <p:cNvPr id="6" name="Text 4"/>
          <p:cNvSpPr/>
          <p:nvPr/>
        </p:nvSpPr>
        <p:spPr>
          <a:xfrm>
            <a:off x="594360" y="1691640"/>
            <a:ext cx="233172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Declarați autorității</a:t>
            </a:r>
            <a:endParaRPr lang="en-US" sz="1500" dirty="0"/>
          </a:p>
        </p:txBody>
      </p:sp>
      <p:sp>
        <p:nvSpPr>
          <p:cNvPr id="7" name="Shape 5"/>
          <p:cNvSpPr/>
          <p:nvPr/>
        </p:nvSpPr>
        <p:spPr>
          <a:xfrm>
            <a:off x="6183630" y="2331720"/>
            <a:ext cx="617220" cy="530352"/>
          </a:xfrm>
          <a:prstGeom prst="roundRect">
            <a:avLst>
              <a:gd name="adj" fmla="val 8621"/>
            </a:avLst>
          </a:prstGeom>
          <a:solidFill>
            <a:srgbClr val="9B7EF7"/>
          </a:solidFill>
          <a:ln w="12700">
            <a:solidFill>
              <a:srgbClr val="9B7EF7"/>
            </a:solidFill>
            <a:prstDash val="solid"/>
          </a:ln>
        </p:spPr>
      </p:sp>
      <p:sp>
        <p:nvSpPr>
          <p:cNvPr id="8" name="Text 6"/>
          <p:cNvSpPr/>
          <p:nvPr/>
        </p:nvSpPr>
        <p:spPr>
          <a:xfrm>
            <a:off x="6183630" y="2331720"/>
            <a:ext cx="617220" cy="530352"/>
          </a:xfrm>
          <a:prstGeom prst="rect">
            <a:avLst/>
          </a:prstGeom>
          <a:noFill/>
          <a:ln/>
        </p:spPr>
        <p:txBody>
          <a:bodyPr wrap="square" lIns="0" tIns="0" rIns="0" bIns="0" rtlCol="0" anchor="ct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3</a:t>
            </a:r>
            <a:endParaRPr lang="en-US" sz="2000" dirty="0"/>
          </a:p>
        </p:txBody>
      </p:sp>
      <p:sp>
        <p:nvSpPr>
          <p:cNvPr id="9" name="Text 7"/>
          <p:cNvSpPr/>
          <p:nvPr/>
        </p:nvSpPr>
        <p:spPr>
          <a:xfrm>
            <a:off x="594360" y="2331720"/>
            <a:ext cx="233172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Microbul găsit în laborator</a:t>
            </a:r>
            <a:endParaRPr lang="en-US" sz="1500" dirty="0"/>
          </a:p>
        </p:txBody>
      </p:sp>
      <p:sp>
        <p:nvSpPr>
          <p:cNvPr id="10" name="Shape 8"/>
          <p:cNvSpPr/>
          <p:nvPr/>
        </p:nvSpPr>
        <p:spPr>
          <a:xfrm>
            <a:off x="6080760" y="2971800"/>
            <a:ext cx="822960" cy="530352"/>
          </a:xfrm>
          <a:prstGeom prst="roundRect">
            <a:avLst>
              <a:gd name="adj" fmla="val 8621"/>
            </a:avLst>
          </a:prstGeom>
          <a:solidFill>
            <a:srgbClr val="27D3BE"/>
          </a:solidFill>
          <a:ln w="12700">
            <a:solidFill>
              <a:srgbClr val="27D3BE"/>
            </a:solidFill>
            <a:prstDash val="solid"/>
          </a:ln>
        </p:spPr>
      </p:sp>
      <p:sp>
        <p:nvSpPr>
          <p:cNvPr id="11" name="Text 9"/>
          <p:cNvSpPr/>
          <p:nvPr/>
        </p:nvSpPr>
        <p:spPr>
          <a:xfrm>
            <a:off x="6080760" y="2971800"/>
            <a:ext cx="822960" cy="530352"/>
          </a:xfrm>
          <a:prstGeom prst="rect">
            <a:avLst/>
          </a:prstGeom>
          <a:noFill/>
          <a:ln/>
        </p:spPr>
        <p:txBody>
          <a:bodyPr wrap="square" lIns="0" tIns="0" rIns="0" bIns="0" rtlCol="0" anchor="ct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4</a:t>
            </a:r>
            <a:endParaRPr lang="en-US" sz="2000" dirty="0"/>
          </a:p>
        </p:txBody>
      </p:sp>
      <p:sp>
        <p:nvSpPr>
          <p:cNvPr id="12" name="Text 10"/>
          <p:cNvSpPr/>
          <p:nvPr/>
        </p:nvSpPr>
        <p:spPr>
          <a:xfrm>
            <a:off x="594360" y="2971800"/>
            <a:ext cx="233172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Au adus proba</a:t>
            </a:r>
            <a:endParaRPr lang="en-US" sz="1500" dirty="0"/>
          </a:p>
        </p:txBody>
      </p:sp>
      <p:sp>
        <p:nvSpPr>
          <p:cNvPr id="13" name="Shape 11"/>
          <p:cNvSpPr/>
          <p:nvPr/>
        </p:nvSpPr>
        <p:spPr>
          <a:xfrm>
            <a:off x="5977890" y="3611880"/>
            <a:ext cx="1028700" cy="530352"/>
          </a:xfrm>
          <a:prstGeom prst="roundRect">
            <a:avLst>
              <a:gd name="adj" fmla="val 8621"/>
            </a:avLst>
          </a:prstGeom>
          <a:solidFill>
            <a:srgbClr val="FFC24B"/>
          </a:solidFill>
          <a:ln w="12700">
            <a:solidFill>
              <a:srgbClr val="FFC24B"/>
            </a:solidFill>
            <a:prstDash val="solid"/>
          </a:ln>
        </p:spPr>
      </p:sp>
      <p:sp>
        <p:nvSpPr>
          <p:cNvPr id="14" name="Text 12"/>
          <p:cNvSpPr/>
          <p:nvPr/>
        </p:nvSpPr>
        <p:spPr>
          <a:xfrm>
            <a:off x="5977890" y="3611880"/>
            <a:ext cx="1028700" cy="530352"/>
          </a:xfrm>
          <a:prstGeom prst="rect">
            <a:avLst/>
          </a:prstGeom>
          <a:noFill/>
          <a:ln/>
        </p:spPr>
        <p:txBody>
          <a:bodyPr wrap="square" lIns="0" tIns="0" rIns="0" bIns="0" rtlCol="0" anchor="ct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5</a:t>
            </a:r>
            <a:endParaRPr lang="en-US" sz="2000" dirty="0"/>
          </a:p>
        </p:txBody>
      </p:sp>
      <p:sp>
        <p:nvSpPr>
          <p:cNvPr id="15" name="Text 13"/>
          <p:cNvSpPr/>
          <p:nvPr/>
        </p:nvSpPr>
        <p:spPr>
          <a:xfrm>
            <a:off x="594360" y="3611880"/>
            <a:ext cx="233172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Li s-a cerut o probă</a:t>
            </a:r>
            <a:endParaRPr lang="en-US" sz="1500" dirty="0"/>
          </a:p>
        </p:txBody>
      </p:sp>
      <p:sp>
        <p:nvSpPr>
          <p:cNvPr id="16" name="Shape 14"/>
          <p:cNvSpPr/>
          <p:nvPr/>
        </p:nvSpPr>
        <p:spPr>
          <a:xfrm>
            <a:off x="5463540" y="4251960"/>
            <a:ext cx="2057400" cy="530352"/>
          </a:xfrm>
          <a:prstGeom prst="roundRect">
            <a:avLst>
              <a:gd name="adj" fmla="val 8621"/>
            </a:avLst>
          </a:prstGeom>
          <a:solidFill>
            <a:srgbClr val="FF8A3D"/>
          </a:solidFill>
          <a:ln w="12700">
            <a:solidFill>
              <a:srgbClr val="FF8A3D"/>
            </a:solidFill>
            <a:prstDash val="solid"/>
          </a:ln>
        </p:spPr>
      </p:sp>
      <p:sp>
        <p:nvSpPr>
          <p:cNvPr id="17" name="Text 15"/>
          <p:cNvSpPr/>
          <p:nvPr/>
        </p:nvSpPr>
        <p:spPr>
          <a:xfrm>
            <a:off x="5463540" y="4251960"/>
            <a:ext cx="2057400" cy="530352"/>
          </a:xfrm>
          <a:prstGeom prst="rect">
            <a:avLst/>
          </a:prstGeom>
          <a:noFill/>
          <a:ln/>
        </p:spPr>
        <p:txBody>
          <a:bodyPr wrap="square" lIns="0" tIns="0" rIns="0" bIns="0" rtlCol="0" anchor="ct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10</a:t>
            </a:r>
            <a:endParaRPr lang="en-US" sz="2000" dirty="0"/>
          </a:p>
        </p:txBody>
      </p:sp>
      <p:sp>
        <p:nvSpPr>
          <p:cNvPr id="18" name="Text 16"/>
          <p:cNvSpPr/>
          <p:nvPr/>
        </p:nvSpPr>
        <p:spPr>
          <a:xfrm>
            <a:off x="594360" y="4251960"/>
            <a:ext cx="233172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Au vorbit cu un medic</a:t>
            </a:r>
            <a:endParaRPr lang="en-US" sz="1500" dirty="0"/>
          </a:p>
        </p:txBody>
      </p:sp>
      <p:sp>
        <p:nvSpPr>
          <p:cNvPr id="19" name="Shape 17"/>
          <p:cNvSpPr/>
          <p:nvPr/>
        </p:nvSpPr>
        <p:spPr>
          <a:xfrm>
            <a:off x="3200400" y="4892040"/>
            <a:ext cx="6583680" cy="530352"/>
          </a:xfrm>
          <a:prstGeom prst="roundRect">
            <a:avLst>
              <a:gd name="adj" fmla="val 8621"/>
            </a:avLst>
          </a:prstGeom>
          <a:solidFill>
            <a:srgbClr val="FF4757"/>
          </a:solidFill>
          <a:ln w="12700">
            <a:solidFill>
              <a:srgbClr val="FF4757"/>
            </a:solidFill>
            <a:prstDash val="solid"/>
          </a:ln>
        </p:spPr>
      </p:sp>
      <p:sp>
        <p:nvSpPr>
          <p:cNvPr id="20" name="Text 18"/>
          <p:cNvSpPr/>
          <p:nvPr/>
        </p:nvSpPr>
        <p:spPr>
          <a:xfrm>
            <a:off x="3200400" y="4892040"/>
            <a:ext cx="6583680" cy="530352"/>
          </a:xfrm>
          <a:prstGeom prst="rect">
            <a:avLst/>
          </a:prstGeom>
          <a:noFill/>
          <a:ln/>
        </p:spPr>
        <p:txBody>
          <a:bodyPr wrap="square" lIns="0" tIns="0" rIns="0" bIns="0" rtlCol="0" anchor="ctr"/>
          <a:lstStyle/>
          <a:p>
            <a:pPr algn="ctr" indent="0" marL="0">
              <a:buNone/>
            </a:pPr>
            <a:r>
              <a:rPr lang="en-US" sz="2000" b="1" dirty="0">
                <a:solidFill>
                  <a:srgbClr val="11121A"/>
                </a:solidFill>
                <a:latin typeface="Palatino Linotype" pitchFamily="34" charset="0"/>
                <a:ea typeface="Palatino Linotype" pitchFamily="34" charset="-122"/>
                <a:cs typeface="Palatino Linotype" pitchFamily="34" charset="-120"/>
              </a:rPr>
              <a:t>32</a:t>
            </a:r>
            <a:endParaRPr lang="en-US" sz="2000" dirty="0"/>
          </a:p>
        </p:txBody>
      </p:sp>
      <p:sp>
        <p:nvSpPr>
          <p:cNvPr id="21" name="Text 19"/>
          <p:cNvSpPr/>
          <p:nvPr/>
        </p:nvSpPr>
        <p:spPr>
          <a:xfrm>
            <a:off x="594360" y="4892040"/>
            <a:ext cx="2331720" cy="530352"/>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S-au îmbolnăvit</a:t>
            </a:r>
            <a:endParaRPr lang="en-US" sz="1500" dirty="0"/>
          </a:p>
        </p:txBody>
      </p:sp>
      <p:sp>
        <p:nvSpPr>
          <p:cNvPr id="22" name="Text 20"/>
          <p:cNvSpPr/>
          <p:nvPr/>
        </p:nvSpPr>
        <p:spPr>
          <a:xfrm>
            <a:off x="9738360" y="1783080"/>
            <a:ext cx="2011680" cy="3566160"/>
          </a:xfrm>
          <a:prstGeom prst="rect">
            <a:avLst/>
          </a:prstGeom>
          <a:noFill/>
          <a:ln/>
        </p:spPr>
        <p:txBody>
          <a:bodyPr wrap="square" lIns="0" tIns="0" rIns="0" bIns="0" rtlCol="0" anchor="t"/>
          <a:lstStyle/>
          <a:p>
            <a:pPr indent="0" marL="0">
              <a:buNone/>
            </a:pPr>
            <a:r>
              <a:rPr lang="en-US" sz="3400" b="1" dirty="0">
                <a:solidFill>
                  <a:srgbClr val="FFC24B"/>
                </a:solidFill>
                <a:latin typeface="Palatino Linotype" pitchFamily="34" charset="0"/>
                <a:ea typeface="Palatino Linotype" pitchFamily="34" charset="-122"/>
                <a:cs typeface="Palatino Linotype" pitchFamily="34" charset="-120"/>
              </a:rPr>
              <a:t>2 din 32</a:t>
            </a:r>
            <a:endParaRPr lang="en-US" sz="3400" dirty="0"/>
          </a:p>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în cifra oficială</a:t>
            </a:r>
            <a:endParaRPr lang="en-US" sz="3400" dirty="0"/>
          </a:p>
          <a:p>
            <a:pPr indent="0" marL="0">
              <a:buNone/>
            </a:pPr>
            <a:r>
              <a:rPr lang="en-US" sz="1000" dirty="0">
                <a:solidFill>
                  <a:srgbClr val="000000"/>
                </a:solidFill>
                <a:latin typeface="Palatino Linotype" pitchFamily="34" charset="0"/>
                <a:ea typeface="Palatino Linotype" pitchFamily="34" charset="-122"/>
                <a:cs typeface="Palatino Linotype" pitchFamily="34" charset="-120"/>
              </a:rPr>
              <a:t> </a:t>
            </a:r>
            <a:endParaRPr lang="en-US" sz="3400" dirty="0"/>
          </a:p>
          <a:p>
            <a:pPr indent="0" marL="0">
              <a:buNone/>
            </a:pPr>
            <a:r>
              <a:rPr lang="en-US" sz="3400" b="1" dirty="0">
                <a:solidFill>
                  <a:srgbClr val="27D3BE"/>
                </a:solidFill>
                <a:latin typeface="Palatino Linotype" pitchFamily="34" charset="0"/>
                <a:ea typeface="Palatino Linotype" pitchFamily="34" charset="-122"/>
                <a:cs typeface="Palatino Linotype" pitchFamily="34" charset="-120"/>
              </a:rPr>
              <a:t>16</a:t>
            </a:r>
            <a:endParaRPr lang="en-US" sz="3400" dirty="0"/>
          </a:p>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bolnavi în spatele fiecărui caz declarat</a:t>
            </a:r>
            <a:endParaRPr lang="en-US" sz="3400" dirty="0"/>
          </a:p>
        </p:txBody>
      </p:sp>
      <p:sp>
        <p:nvSpPr>
          <p:cNvPr id="23" name="Text 21"/>
          <p:cNvSpPr/>
          <p:nvPr/>
        </p:nvSpPr>
        <p:spPr>
          <a:xfrm>
            <a:off x="594360" y="5623560"/>
            <a:ext cx="10972800" cy="594360"/>
          </a:xfrm>
          <a:prstGeom prst="rect">
            <a:avLst/>
          </a:prstGeom>
          <a:noFill/>
          <a:ln/>
        </p:spPr>
        <p:txBody>
          <a:bodyPr wrap="square" lIns="0" tIns="0" rIns="0" bIns="0" rtlCol="0" anchor="t"/>
          <a:lstStyle/>
          <a:p>
            <a:pPr indent="0" marL="0">
              <a:buNone/>
            </a:pPr>
            <a:r>
              <a:rPr lang="en-US" sz="1600" i="1" dirty="0">
                <a:solidFill>
                  <a:srgbClr val="959BB0"/>
                </a:solidFill>
                <a:latin typeface="Palatino Linotype" pitchFamily="34" charset="0"/>
                <a:ea typeface="Palatino Linotype" pitchFamily="34" charset="-122"/>
                <a:cs typeface="Palatino Linotype" pitchFamily="34" charset="-120"/>
              </a:rPr>
              <a:t>Cifra unui focar nu se mută automat la altul: câți bolnavi stau în spatele unui caz declarat se află numai printr-o anchetă.</a:t>
            </a:r>
            <a:endParaRPr lang="en-US" sz="1600" dirty="0"/>
          </a:p>
        </p:txBody>
      </p:sp>
      <p:sp>
        <p:nvSpPr>
          <p:cNvPr id="24" name="Text 22"/>
          <p:cNvSpPr/>
          <p:nvPr/>
        </p:nvSpPr>
        <p:spPr>
          <a:xfrm>
            <a:off x="594360" y="6309360"/>
            <a:ext cx="10972800" cy="310896"/>
          </a:xfrm>
          <a:prstGeom prst="rect">
            <a:avLst/>
          </a:prstGeom>
          <a:noFill/>
          <a:ln/>
        </p:spPr>
        <p:txBody>
          <a:bodyPr wrap="square" lIns="0" tIns="0" rIns="0" bIns="0" rtlCol="0" anchor="ctr"/>
          <a:lstStyle/>
          <a:p>
            <a:pPr indent="0" marL="0">
              <a:buNone/>
            </a:pPr>
            <a:r>
              <a:rPr lang="en-US" sz="900" i="1" dirty="0">
                <a:solidFill>
                  <a:srgbClr val="7E849A"/>
                </a:solidFill>
                <a:latin typeface="Palatino Linotype" pitchFamily="34" charset="0"/>
                <a:ea typeface="Palatino Linotype" pitchFamily="34" charset="-122"/>
                <a:cs typeface="Palatino Linotype" pitchFamily="34" charset="-120"/>
              </a:rPr>
              <a:t>Valori ipotetice. Caz construit pentru exercițiu</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CE ÎNSEAMNĂ PENTRU VOI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Luni dimineață</a:t>
            </a:r>
            <a:endParaRPr lang="en-US" sz="3600" dirty="0"/>
          </a:p>
        </p:txBody>
      </p:sp>
      <p:sp>
        <p:nvSpPr>
          <p:cNvPr id="4" name="Shape 2"/>
          <p:cNvSpPr/>
          <p:nvPr/>
        </p:nvSpPr>
        <p:spPr>
          <a:xfrm>
            <a:off x="594360" y="1783080"/>
            <a:ext cx="10972800" cy="868680"/>
          </a:xfrm>
          <a:prstGeom prst="roundRect">
            <a:avLst>
              <a:gd name="adj" fmla="val 9474"/>
            </a:avLst>
          </a:prstGeom>
          <a:solidFill>
            <a:srgbClr val="ECEAE4"/>
          </a:solidFill>
          <a:ln w="12700">
            <a:solidFill>
              <a:srgbClr val="ECEAE4"/>
            </a:solidFill>
            <a:prstDash val="solid"/>
          </a:ln>
        </p:spPr>
      </p:sp>
      <p:sp>
        <p:nvSpPr>
          <p:cNvPr id="5" name="Shape 3"/>
          <p:cNvSpPr/>
          <p:nvPr/>
        </p:nvSpPr>
        <p:spPr>
          <a:xfrm>
            <a:off x="914400" y="2007108"/>
            <a:ext cx="420624" cy="420624"/>
          </a:xfrm>
          <a:prstGeom prst="ellipse">
            <a:avLst/>
          </a:prstGeom>
          <a:solidFill>
            <a:srgbClr val="0E7C6B"/>
          </a:solidFill>
          <a:ln/>
        </p:spPr>
      </p:sp>
      <p:sp>
        <p:nvSpPr>
          <p:cNvPr id="6" name="Text 4"/>
          <p:cNvSpPr/>
          <p:nvPr/>
        </p:nvSpPr>
        <p:spPr>
          <a:xfrm>
            <a:off x="914400" y="20071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783080"/>
            <a:ext cx="9692640" cy="8686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Ca student: când vă îmbolnăviți după o masă comună, spuneți medicului că mai sunt și alți colegi bolnavi</a:t>
            </a:r>
            <a:endParaRPr lang="en-US" sz="1700" dirty="0"/>
          </a:p>
        </p:txBody>
      </p:sp>
      <p:sp>
        <p:nvSpPr>
          <p:cNvPr id="8" name="Shape 6"/>
          <p:cNvSpPr/>
          <p:nvPr/>
        </p:nvSpPr>
        <p:spPr>
          <a:xfrm>
            <a:off x="594360" y="2807208"/>
            <a:ext cx="10972800" cy="868680"/>
          </a:xfrm>
          <a:prstGeom prst="roundRect">
            <a:avLst>
              <a:gd name="adj" fmla="val 9474"/>
            </a:avLst>
          </a:prstGeom>
          <a:solidFill>
            <a:srgbClr val="ECEAE4"/>
          </a:solidFill>
          <a:ln w="12700">
            <a:solidFill>
              <a:srgbClr val="ECEAE4"/>
            </a:solidFill>
            <a:prstDash val="solid"/>
          </a:ln>
        </p:spPr>
      </p:sp>
      <p:sp>
        <p:nvSpPr>
          <p:cNvPr id="9" name="Shape 7"/>
          <p:cNvSpPr/>
          <p:nvPr/>
        </p:nvSpPr>
        <p:spPr>
          <a:xfrm>
            <a:off x="914400" y="3031236"/>
            <a:ext cx="420624" cy="420624"/>
          </a:xfrm>
          <a:prstGeom prst="ellipse">
            <a:avLst/>
          </a:prstGeom>
          <a:solidFill>
            <a:srgbClr val="0E7C6B"/>
          </a:solidFill>
          <a:ln/>
        </p:spPr>
      </p:sp>
      <p:sp>
        <p:nvSpPr>
          <p:cNvPr id="10" name="Text 8"/>
          <p:cNvSpPr/>
          <p:nvPr/>
        </p:nvSpPr>
        <p:spPr>
          <a:xfrm>
            <a:off x="914400" y="30312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2807208"/>
            <a:ext cx="9692640" cy="8686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Ca viitor medic: o probă se cere după criterii clinice, dar o boală cu declarare obligatorie, odată diagnosticată, se declară</a:t>
            </a:r>
            <a:endParaRPr lang="en-US" sz="1700" dirty="0"/>
          </a:p>
        </p:txBody>
      </p:sp>
      <p:sp>
        <p:nvSpPr>
          <p:cNvPr id="12" name="Shape 10"/>
          <p:cNvSpPr/>
          <p:nvPr/>
        </p:nvSpPr>
        <p:spPr>
          <a:xfrm>
            <a:off x="594360" y="3831336"/>
            <a:ext cx="10972800" cy="868680"/>
          </a:xfrm>
          <a:prstGeom prst="roundRect">
            <a:avLst>
              <a:gd name="adj" fmla="val 9474"/>
            </a:avLst>
          </a:prstGeom>
          <a:solidFill>
            <a:srgbClr val="ECEAE4"/>
          </a:solidFill>
          <a:ln w="12700">
            <a:solidFill>
              <a:srgbClr val="ECEAE4"/>
            </a:solidFill>
            <a:prstDash val="solid"/>
          </a:ln>
        </p:spPr>
      </p:sp>
      <p:sp>
        <p:nvSpPr>
          <p:cNvPr id="13" name="Shape 11"/>
          <p:cNvSpPr/>
          <p:nvPr/>
        </p:nvSpPr>
        <p:spPr>
          <a:xfrm>
            <a:off x="914400" y="4055364"/>
            <a:ext cx="420624" cy="420624"/>
          </a:xfrm>
          <a:prstGeom prst="ellipse">
            <a:avLst/>
          </a:prstGeom>
          <a:solidFill>
            <a:srgbClr val="0E7C6B"/>
          </a:solidFill>
          <a:ln/>
        </p:spPr>
      </p:sp>
      <p:sp>
        <p:nvSpPr>
          <p:cNvPr id="14" name="Text 12"/>
          <p:cNvSpPr/>
          <p:nvPr/>
        </p:nvSpPr>
        <p:spPr>
          <a:xfrm>
            <a:off x="914400" y="40553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3831336"/>
            <a:ext cx="9692640" cy="8686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citiți o proporție a internărilor sau a deceselor, întrebați întâi cine a fost numărat la numitor</a:t>
            </a:r>
            <a:endParaRPr lang="en-US" sz="1700" dirty="0"/>
          </a:p>
        </p:txBody>
      </p:sp>
      <p:sp>
        <p:nvSpPr>
          <p:cNvPr id="16" name="Shape 14"/>
          <p:cNvSpPr/>
          <p:nvPr/>
        </p:nvSpPr>
        <p:spPr>
          <a:xfrm>
            <a:off x="594360" y="4855464"/>
            <a:ext cx="10972800" cy="868680"/>
          </a:xfrm>
          <a:prstGeom prst="roundRect">
            <a:avLst>
              <a:gd name="adj" fmla="val 9474"/>
            </a:avLst>
          </a:prstGeom>
          <a:solidFill>
            <a:srgbClr val="ECEAE4"/>
          </a:solidFill>
          <a:ln w="12700">
            <a:solidFill>
              <a:srgbClr val="ECEAE4"/>
            </a:solidFill>
            <a:prstDash val="solid"/>
          </a:ln>
        </p:spPr>
      </p:sp>
      <p:sp>
        <p:nvSpPr>
          <p:cNvPr id="17" name="Shape 15"/>
          <p:cNvSpPr/>
          <p:nvPr/>
        </p:nvSpPr>
        <p:spPr>
          <a:xfrm>
            <a:off x="914400" y="5079492"/>
            <a:ext cx="420624" cy="420624"/>
          </a:xfrm>
          <a:prstGeom prst="ellipse">
            <a:avLst/>
          </a:prstGeom>
          <a:solidFill>
            <a:srgbClr val="0E7C6B"/>
          </a:solidFill>
          <a:ln/>
        </p:spPr>
      </p:sp>
      <p:sp>
        <p:nvSpPr>
          <p:cNvPr id="18" name="Text 16"/>
          <p:cNvSpPr/>
          <p:nvPr/>
        </p:nvSpPr>
        <p:spPr>
          <a:xfrm>
            <a:off x="914400" y="50794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600200" y="4855464"/>
            <a:ext cx="9692640" cy="86868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La un certificat de deces, scrieți lanțul întreg, cu boala de la care a pornit totul pe ultimul rând folosit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292608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685800" y="822960"/>
            <a:ext cx="292608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A DOUA ORĂ · ACASĂ</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Un formular individual, cu contul UMF</a:t>
            </a:r>
            <a:endParaRPr lang="en-US" sz="3800" dirty="0"/>
          </a:p>
        </p:txBody>
      </p:sp>
      <p:sp>
        <p:nvSpPr>
          <p:cNvPr id="5" name="Shape 3"/>
          <p:cNvSpPr/>
          <p:nvPr/>
        </p:nvSpPr>
        <p:spPr>
          <a:xfrm>
            <a:off x="594360" y="251460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6" name="Shape 4"/>
          <p:cNvSpPr/>
          <p:nvPr/>
        </p:nvSpPr>
        <p:spPr>
          <a:xfrm>
            <a:off x="914400" y="2670048"/>
            <a:ext cx="420624" cy="420624"/>
          </a:xfrm>
          <a:prstGeom prst="ellipse">
            <a:avLst/>
          </a:prstGeom>
          <a:solidFill>
            <a:srgbClr val="FFC24B"/>
          </a:solidFill>
          <a:ln/>
        </p:spPr>
        <p:txBody>
          <a:bodyPr/>
          <a:p/>
        </p:txBody>
      </p:sp>
      <p:sp>
        <p:nvSpPr>
          <p:cNvPr id="7" name="Text 5"/>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600200" y="251460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Pasul al patrulea al anchetei din cămin: estimarea și măsura</a:t>
            </a:r>
            <a:endParaRPr lang="en-US" sz="1700" dirty="0"/>
          </a:p>
        </p:txBody>
      </p:sp>
      <p:sp>
        <p:nvSpPr>
          <p:cNvPr id="9" name="Shape 7"/>
          <p:cNvSpPr/>
          <p:nvPr/>
        </p:nvSpPr>
        <p:spPr>
          <a:xfrm>
            <a:off x="594360" y="338328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0" name="Shape 8"/>
          <p:cNvSpPr/>
          <p:nvPr/>
        </p:nvSpPr>
        <p:spPr>
          <a:xfrm>
            <a:off x="914400" y="3538728"/>
            <a:ext cx="420624" cy="420624"/>
          </a:xfrm>
          <a:prstGeom prst="ellipse">
            <a:avLst/>
          </a:prstGeom>
          <a:solidFill>
            <a:srgbClr val="FFC24B"/>
          </a:solidFill>
          <a:ln/>
        </p:spPr>
        <p:txBody>
          <a:bodyPr/>
          <a:p/>
        </p:txBody>
      </p:sp>
      <p:sp>
        <p:nvSpPr>
          <p:cNvPr id="11" name="Text 9"/>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338328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Două întrebări: cum se numără un deces și câte decese lipsesc</a:t>
            </a:r>
            <a:endParaRPr lang="en-US" sz="1700" dirty="0"/>
          </a:p>
        </p:txBody>
      </p:sp>
      <p:sp>
        <p:nvSpPr>
          <p:cNvPr id="13" name="Shape 11"/>
          <p:cNvSpPr/>
          <p:nvPr/>
        </p:nvSpPr>
        <p:spPr>
          <a:xfrm>
            <a:off x="594360" y="425196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4" name="Shape 12"/>
          <p:cNvSpPr/>
          <p:nvPr/>
        </p:nvSpPr>
        <p:spPr>
          <a:xfrm>
            <a:off x="914400" y="4407408"/>
            <a:ext cx="420624" cy="420624"/>
          </a:xfrm>
          <a:prstGeom prst="ellipse">
            <a:avLst/>
          </a:prstGeom>
          <a:solidFill>
            <a:srgbClr val="FFC24B"/>
          </a:solidFill>
          <a:ln/>
        </p:spPr>
        <p:txBody>
          <a:bodyPr/>
          <a:p/>
        </p:txBody>
      </p:sp>
      <p:sp>
        <p:nvSpPr>
          <p:cNvPr id="15" name="Text 13"/>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1600200" y="425196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Linkul îl primiți și pe e-mailul instituțional și pe Teams</a:t>
            </a:r>
            <a:endParaRPr lang="en-US" sz="1700" dirty="0"/>
          </a:p>
        </p:txBody>
      </p:sp>
      <p:sp>
        <p:nvSpPr>
          <p:cNvPr id="17" name="Shape 15"/>
          <p:cNvSpPr/>
          <p:nvPr/>
        </p:nvSpPr>
        <p:spPr>
          <a:xfrm>
            <a:off x="594360" y="5120640"/>
            <a:ext cx="7498080" cy="731520"/>
          </a:xfrm>
          <a:prstGeom prst="roundRect">
            <a:avLst>
              <a:gd name="adj" fmla="val 11250"/>
            </a:avLst>
          </a:prstGeom>
          <a:solidFill>
            <a:srgbClr val="1D1F2B"/>
          </a:solidFill>
          <a:ln w="12700">
            <a:solidFill>
              <a:srgbClr val="1D1F2B"/>
            </a:solidFill>
            <a:prstDash val="solid"/>
          </a:ln>
        </p:spPr>
        <p:txBody>
          <a:bodyPr/>
          <a:p/>
        </p:txBody>
      </p:sp>
      <p:sp>
        <p:nvSpPr>
          <p:cNvPr id="18" name="Shape 16"/>
          <p:cNvSpPr/>
          <p:nvPr/>
        </p:nvSpPr>
        <p:spPr>
          <a:xfrm>
            <a:off x="914400" y="5276088"/>
            <a:ext cx="420624" cy="420624"/>
          </a:xfrm>
          <a:prstGeom prst="ellipse">
            <a:avLst/>
          </a:prstGeom>
          <a:solidFill>
            <a:srgbClr val="FFC24B"/>
          </a:solidFill>
          <a:ln/>
        </p:spPr>
        <p:txBody>
          <a:bodyPr/>
          <a:p/>
        </p:txBody>
      </p:sp>
      <p:sp>
        <p:nvSpPr>
          <p:cNvPr id="19" name="Text 17"/>
          <p:cNvSpPr/>
          <p:nvPr/>
        </p:nvSpPr>
        <p:spPr>
          <a:xfrm>
            <a:off x="914400" y="5276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1600200" y="5120640"/>
            <a:ext cx="6217920" cy="73152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Termenul: ședința următoare; formularul nu se notează</a:t>
            </a:r>
            <a:endParaRPr lang="en-US" sz="1700" dirty="0"/>
          </a:p>
        </p:txBody>
      </p:sp>
      <p:sp>
        <p:nvSpPr>
          <p:cNvPr id="21" name="Shape 19"/>
          <p:cNvSpPr/>
          <p:nvPr/>
        </p:nvSpPr>
        <p:spPr>
          <a:xfrm>
            <a:off x="8549640" y="2514600"/>
            <a:ext cx="3017520" cy="2606040"/>
          </a:xfrm>
          <a:prstGeom prst="roundRect">
            <a:avLst>
              <a:gd name="adj" fmla="val 3158"/>
            </a:avLst>
          </a:prstGeom>
          <a:solidFill>
            <a:srgbClr val="FFFFFF"/>
          </a:solidFill>
          <a:ln w="12700">
            <a:solidFill>
              <a:srgbClr val="FFFFFF"/>
            </a:solidFill>
            <a:prstDash val="solid"/>
          </a:ln>
        </p:spPr>
        <p:txBody>
          <a:bodyPr/>
          <a:p/>
        </p:txBody>
      </p:sp>
      <p:sp>
        <p:nvSpPr>
          <p:cNvPr id="23" name="Text 21"/>
          <p:cNvSpPr/>
          <p:nvPr/>
        </p:nvSpPr>
        <p:spPr>
          <a:xfrm>
            <a:off x="8549640" y="5257800"/>
            <a:ext cx="3017520" cy="900000"/>
          </a:xfrm>
          <a:prstGeom prst="rect">
            <a:avLst/>
          </a:prstGeom>
          <a:noFill/>
          <a:ln/>
        </p:spPr>
        <p:txBody>
          <a:bodyPr wrap="square" lIns="0" tIns="0" rIns="0" bIns="0" rtlCol="0" anchor="t"/>
          <a:lstStyle/>
          <a:p>
            <a:pPr algn="ctr" indent="0" marL="0">
              <a:buNone/>
            </a:pPr>
            <a:r>
              <a:rPr lang="en-US" sz="800" dirty="0">
                <a:solidFill>
                  <a:srgbClr val="959BB0"/>
                </a:solidFill>
                <a:latin typeface="Palatino Linotype" pitchFamily="34" charset="0"/>
                <a:ea typeface="Palatino Linotype" pitchFamily="34" charset="-122"/>
                <a:cs typeface="Palatino Linotype" pitchFamily="34" charset="-120"/>
              </a:rPr>
              <a:t>https://forms.cloud.microsoft/Pages/ResponsePage.aspx?id=Ja-p_IQ7bEyXNp1c3OIQxcVVqiPRLBZPnSRyYXMyGOZURVEwRk41WEtUQVBBVjRIVFJLUFc5TjQ4VC4u</a:t>
            </a:r>
            <a:endParaRPr lang="en-US" sz="1300" dirty="0"/>
          </a:p>
        </p:txBody>
      </p:sp>
      <p:pic>
        <p:nvPicPr>
          <p:cNvPr id="24" name="Picture 23" descr="Detectivii_LP02_acasa_individual.png"/>
          <p:cNvPicPr>
            <a:picLocks noChangeAspect="1"/>
          </p:cNvPicPr>
          <p:nvPr/>
        </p:nvPicPr>
        <p:blipFill>
          <a:blip r:embed="rId3"/>
          <a:stretch>
            <a:fillRect/>
          </a:stretch>
        </p:blipFill>
        <p:spPr>
          <a:xfrm>
            <a:off x="8755380" y="2514600"/>
            <a:ext cx="2606040" cy="26060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931920" cy="329184"/>
          </a:xfrm>
          <a:prstGeom prst="roundRect">
            <a:avLst>
              <a:gd name="adj" fmla="val 50000"/>
            </a:avLst>
          </a:prstGeom>
          <a:solidFill>
            <a:srgbClr val="FF4757"/>
          </a:solidFill>
          <a:ln w="12700">
            <a:solidFill>
              <a:srgbClr val="FF4757"/>
            </a:solidFill>
            <a:prstDash val="solid"/>
          </a:ln>
        </p:spPr>
      </p:sp>
      <p:sp>
        <p:nvSpPr>
          <p:cNvPr id="3" name="Text 1"/>
          <p:cNvSpPr/>
          <p:nvPr/>
        </p:nvSpPr>
        <p:spPr>
          <a:xfrm>
            <a:off x="685800" y="822960"/>
            <a:ext cx="393192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Biletul de ieșire</a:t>
            </a:r>
            <a:endParaRPr lang="en-US" sz="4000" dirty="0"/>
          </a:p>
        </p:txBody>
      </p:sp>
      <p:sp>
        <p:nvSpPr>
          <p:cNvPr id="5" name="Shape 3"/>
          <p:cNvSpPr/>
          <p:nvPr/>
        </p:nvSpPr>
        <p:spPr>
          <a:xfrm>
            <a:off x="914400" y="2670048"/>
            <a:ext cx="420624" cy="420624"/>
          </a:xfrm>
          <a:prstGeom prst="ellipse">
            <a:avLst/>
          </a:prstGeom>
          <a:solidFill>
            <a:srgbClr val="FFC24B"/>
          </a:solidFill>
          <a:ln/>
        </p:spPr>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a:t>
            </a:r>
            <a:endParaRPr lang="en-US" sz="2000" dirty="0"/>
          </a:p>
        </p:txBody>
      </p:sp>
      <p:sp>
        <p:nvSpPr>
          <p:cNvPr id="8" name="Shape 6"/>
          <p:cNvSpPr/>
          <p:nvPr/>
        </p:nvSpPr>
        <p:spPr>
          <a:xfrm>
            <a:off x="914400" y="3538728"/>
            <a:ext cx="420624" cy="420624"/>
          </a:xfrm>
          <a:prstGeom prst="ellipse">
            <a:avLst/>
          </a:prstGeom>
          <a:solidFill>
            <a:srgbClr val="FFC24B"/>
          </a:solidFill>
          <a:ln/>
        </p:spPr>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v-am pierdut?</a:t>
            </a:r>
            <a:endParaRPr lang="en-US" sz="2000" dirty="0"/>
          </a:p>
        </p:txBody>
      </p:sp>
      <p:sp>
        <p:nvSpPr>
          <p:cNvPr id="11" name="Shape 9"/>
          <p:cNvSpPr/>
          <p:nvPr/>
        </p:nvSpPr>
        <p:spPr>
          <a:xfrm>
            <a:off x="914400" y="4407408"/>
            <a:ext cx="420624" cy="420624"/>
          </a:xfrm>
          <a:prstGeom prst="ellipse">
            <a:avLst/>
          </a:prstGeom>
          <a:solidFill>
            <a:srgbClr val="FFC24B"/>
          </a:solidFill>
          <a:ln/>
        </p:spPr>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1D1F2B"/>
          </a:solidFill>
          <a:ln w="12700">
            <a:solidFill>
              <a:srgbClr val="1D1F2B"/>
            </a:solidFill>
            <a:prstDash val="solid"/>
          </a:ln>
        </p:spPr>
      </p:sp>
      <p:sp>
        <p:nvSpPr>
          <p:cNvPr id="15" name="Text 13"/>
          <p:cNvSpPr/>
          <p:nvPr/>
        </p:nvSpPr>
        <p:spPr>
          <a:xfrm>
            <a:off x="8732520" y="2514600"/>
            <a:ext cx="2651760" cy="2468880"/>
          </a:xfrm>
          <a:prstGeom prst="rect">
            <a:avLst/>
          </a:prstGeom>
          <a:noFill/>
          <a:ln/>
        </p:spPr>
        <p:txBody>
          <a:bodyPr wrap="square" lIns="0" tIns="0" rIns="0" bIns="0" rtlCol="0" anchor="ctr"/>
          <a:lstStyle/>
          <a:p>
            <a:pPr algn="ctr" indent="0" marL="0">
              <a:buNone/>
            </a:pPr>
            <a:r>
              <a:rPr lang="en-US" sz="1500" dirty="0">
                <a:solidFill>
                  <a:srgbClr val="FFFFFF"/>
                </a:solidFill>
                <a:latin typeface="Palatino Linotype" pitchFamily="34" charset="0"/>
                <a:ea typeface="Palatino Linotype" pitchFamily="34" charset="-122"/>
                <a:cs typeface="Palatino Linotype" pitchFamily="34" charset="-120"/>
              </a:rPr>
              <a:t>Mentimeter: intrați pe menti.com cu codul afișat pe ecran.</a:t>
            </a:r>
            <a:endParaRPr lang="en-US" sz="1500" dirty="0"/>
          </a:p>
        </p:txBody>
      </p:sp>
      <p:sp>
        <p:nvSpPr>
          <p:cNvPr id="16" name="Text 14"/>
          <p:cNvSpPr/>
          <p:nvPr/>
        </p:nvSpPr>
        <p:spPr>
          <a:xfrm>
            <a:off x="594360" y="5349240"/>
            <a:ext cx="10972800" cy="54864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Luni, pe pagina cursului, veți găsi două modificări făcute pe baza răspunsurilor.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Lucrarea practică 2 - Focarul din cămin: refaceți piramida supravegherii</dc:title>
  <dc:subject>PptxGenJS Presentation</dc:subject>
  <dc:creator>Conf. Univ. Dr. Adrian Pana</dc:creator>
  <cp:lastModifiedBy>Conf. Univ. Dr. Adrian Pana</cp:lastModifiedBy>
  <cp:revision>1</cp:revision>
  <dcterms:created xsi:type="dcterms:W3CDTF">2026-10-11T17:31:14Z</dcterms:created>
  <dcterms:modified xsi:type="dcterms:W3CDTF">2026-10-11T17:31:14Z</dcterms:modified>
  <cp:keywords>sursa_amprenta=24d850048db5c32b; proiectie</cp:keywords>
</cp:coreProperties>
</file>