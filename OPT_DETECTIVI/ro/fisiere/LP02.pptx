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Lucrarea de azi continuă cursul „Cine ajunge în cifră”: aceeași întrebare, pusă de data aceasta de voi. Dintre colegii care s-au îmbolnăvit, câți ajung în cifra oficială și unde se pierd ceilalți? Cazul este construit pentru exercițiu: căminul, oamenii, boala și cifrele sunt inventate, ca să puteți vedea toate treptele piramidei, inclusiv pe cele pe care un focar real le ascunde.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Sâmbătă seara, o colegă își serbează ziua în bucătăria comună a etajului trei. Vin colegi din tot căminul, 60 de persoane, fiecare aduce ceva de mâncare, iar petrecerea ține până după miezul nopții. Duminică dimineața, grupul căminului se umple de mesaje: cineva a stat toată noaptea în baie, altcineva a vomitat de două ori, pe altcineva îl doare doar stomacul. Cei mai mulți rămân în pat și beau apă; câțiva sună la medicul de familie. Luni, un coleg ajunge la camera de gardă, deshidratat. Miercuri, autoritatea de sănătate publică a județului primește două fișe de declarare pentru aceeași boală diareică, de la doi medici diferiți, cu aceeași adresă: căminul. Urmează o anchetă, iar echipa de anchetă sunteți voi.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Înainte de orice calcul, un vot anonim pe Mentimeter; linkul e și în chat. Dacă v-ați fi îmbolnăvit la această petrecere, ați fi ajuns în cifra oficială a bolii? Alegeți una dintre cele patru variante, de la „sigur da” la „sigur nu”. Votați după ce credeți acum, fără niciun calcul. Ne întoarcem la acest vot la sfârșitul lucrării.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Ancheta o faceți într-un formular Microsoft Forms: scanați codul QR de pe ecran sau deschideți linkul din chat. Fiecare completează formularul pe cont propriu, de pe telefon sau de pe calculator, și scrie la început grupa și inițialele. Formularul are trei pași. Fiecare pas se deschide numai după ce alegeți varianta potrivită la întrebarea cu variante; după o alegere greșită primiți un indiciu și reveniți la întrebare. Valorile pe care le calculați nu opresc trecerea mai departe: le vedeți corectate, cu explicația, după trimiterea formularului. Calculele sunt adunări, scăderi și împărțiri simple, pe care le puteți face cu aplicația de calcul a telefonului sau a calculatorului. Ce nu este clar scrieți în chat.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Pasul întâi: cine este caz. La petrecere au fost 60 de persoane, iar chestionarul online al anchetei a primit 54 de răspunsuri. Fiecare respondent a spus dacă a avut simptome, care au fost și când au început; tabelul îi grupează în patru rânduri. Înainte de a număra bolnavii, scrieți regula după care îi numărați. O definiție de caz are patru elemente: semnele bolii, locul, timpul și persoana. Nu conține alimentul pe care îl bănuiți, ca în regula desertului din al doilea curs. Iar regula trebuie să poată fi aplicată cu datele pe care le aveți. Alegeți definiția în formular, apoi numărați respondenții care intră în ea și calculați rata de atac: din câți au răspuns, câți s-au îmbolnăvit.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Pasul al doilea este pasul central al lucrării: de la bolnav la fișa de declarare. Piramida supravegherii are, în cursul „Cine ajunge în cifră”, cinci trepte: îmbolnăvirea, mersul la medic, proba de scaun, cerută și adusă, rezultatul pozitiv și raportarea. Pe ecran sunt cazurile din pasul întâi, urmărite treaptă cu treaptă până la cifra oficială. Pierderile au două nume. Subdiagnosticarea înseamnă că bolnavul nu a fost diagnosticat: nu a mers la medic, nu a dat o probă sau laboratorul nu a găsit microbul. Subraportarea înseamnă că diagnosticul a fost pus, dar nu a ajuns la autoritate. Acum le numărați pe un focar întreg: câți ajung în cifra oficială, la ce treaptă se pierd cei mai mulți, câți prin fiecare dintre cele două pierderi și câți bolnavi stau în spatele fiecărui caz declarat.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Pasul al treilea: cât de gravă pare boala. Cursul a arătat că, atunci când lipsesc cazurile ușoare, o boală poate părea mai gravă decât este. Același lucru se poate întâmpla într-un cămin. Un singur bolnav a fost internat: colegul ajuns la camera de gardă, care a primit perfuzii și a rămas o noapte în spital. El este unul dintre cei 2 bolnavi declarați; celălalt a fost văzut de medicul de familie. O pagină de știri locale preia datele oficiale și titrează că jumătate dintre bolnavi au ajuns la spital. Și titlul este construit pentru exercițiu. Ați crede acest titlu? Alegeți în formular, apoi calculați ce proporție dintre toți bolnavii găsiți de anchetă au fost internați.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După fiecare pas ne uităm împreună la distribuția răspunsurilor voastre din formular. Nu căutăm cine a greșit, ci unde s-a greșit cel mai des și de ce: o greșeală frecventă arată de obicei o idee care trebuie reluată. Dacă vreți să spuneți cum ați judecat, scrieți în chat sau folosiți reacția „mână ridicată” din Teams.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 întoarcem la votul de deschidere. Cifra de pe ecran este cea a acestui focar: în cifra oficială au intrat 2 bolnavi din 32, adică o șansă din 16 pentru fiecare bolnav din cămin. Într-un focar cu boală ușoară, cei mai mulți bolnavi se pierd la baza piramidei, înainte să vadă vreun medic. Nimeni nu a greșit: piramida filtrează firesc. Un bolnav lipsește din cifra oficială fie pentru că nu a fost diagnosticat, fie pentru că, deși diagnosticat, nu a fost raportat. Prima pierdere are, de cele mai multe ori, o explicație clinică: cine are o boală ușoară nu merge la medic, iar o probă se cere după criterii clinice. A doua pierdere, fișa nedeclarată, nu are una.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Rezolvarea pasului întâi este pe ecran. Regula care poate fi aplicată este varianta (b): conține semnele, locul, timpul și persoana și lasă deoparte alimentul bănuit. Ancheta numără bolnavii după o regulă scrisă, definiția de caz, nu după rezultatele de laborator. O regulă care cere confirmarea de laborator ar număra numai vârful piramidei: în cifra oficială a acestui focar au intrat numai cele 2 cazuri confirmate în laborator și declarate. După regula (b), în număr intră 32 de respondenți din 54, adică 6 din 10. Certitudinea diferă de la un bolnav la altul: cei cu probă pozitivă sunt cazuri confirmate, ceilalți, cazuri probabile, fără confirmare de laborator. Rata de atac are și ea o limită: numitorul ei sunt respondenții, nu toți participanții la petrecere.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 ecran este rezolvarea pasului al doilea. Aproape toți bolnavii s-au pierdut la baza piramidei: cea mai mare pierdere sunt cei care nu au vorbit cu niciun medic. Într-un focar cu boală ușoară, cei mai mulți bolnavi se pierd înainte să vadă vreun medic, iar aceasta nu este vina cuiva. Treptele de deasupra pierd puțin: 5 bolnavi au fost la medic fără să li se ceară proba, unul nu a mai adus-o, la unul proba a ieșit negativă, iar un bolnav cu rezultat pozitiv nu a ajuns la autoritate. Primele patru trepte sunt pierderi prin subdiagnosticare: bolnavul nu a fost diagnosticat. Ultima este o pierdere prin subraportare: diagnosticat, dar nedeclarat. În cifra oficială au rămas 2 din cei 32 de bolnavi.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Același bolnav internat, împărțit la doi numitori diferiți. Titlul îl împarte la cele 2 cazuri declarate și obține jumătate. Ancheta îl împarte la toți cei 32 de bolnavi găsiți și obține 3%. Se schimbă numai numitorul, iar cel din titlu cuprindea doar vârful piramidei. Cazurile din vârf sunt mai ales cele grave, iar o proporție a internărilor sau a deceselor calculată numai pe ele face boala să pară mai gravă decât este. Este mecanismul din cursul „Cine ajunge în cifră”, la sindromul respirator din Orientul Mijlociu (MERS): când supravegherea ratează cazurile ușoare, cei rămași în vârf sunt mai ales bolnavi gravi, așa că proporția obținută numai din cazurile raportate iese, probabil, prea mare.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Aceasta este piramida focarului din cămin, citită de jos în sus: 32 de bolnavi; 10 au vorbit cu un medic; 5 au primit cererea unei probe de scaun; 4 au adus-o; la 3 laboratorul a găsit microbul; 2 au fost declarați autorității. În cifra oficială au intrat 2 din 32. În acest focar, fiecărui caz declarat îi corespund 16 bolnavi. Numărul nu se mută automat la alt focar: câți bolnavi stau în spatele unui caz declarat se află numai printr-o anchetă. Cifra oficială a acestui focar este corectă pentru ce a putut vedea sistemul; ancheta a arătat cât de mult a rămas sub ea.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Patru lucruri pe care le puteți face diferit de luni dimineață. Ca studenți: când vă îmbolnăviți după o masă comună, spuneți-i medicului că mai sunt și alți colegi bolnavi. Este singura informație prin care un focar din cămin poate urca din baza piramidei până în cifra oficială. Ca viitori medici: o probă se cere sau nu după criterii clinice, dar o boală cu declarare obligatorie, odată diagnosticată, se declară. Când citiți o proporție a internărilor sau a deceselor, întrebați întâi cine a fost numărat la numitor. Iar când veți completa un certificat de deces, scrieți lanțul întreg, cu boala de la care a pornit totul pe ultimul rând folosit.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doua oră o lucrați singuri, după ședință, într-un formular individual scurt, completat cu contul UMF până la ședința următoare. Linkul e și în chat; îl primiți și pe e-mailul instituțional. Formularul are trei părți: pasul al patrulea al anchetei din cămin, adică ce puteți spune despre următorul focar și ce l-ar face vizibil mai devreme, apoi două întrebări despre cum se numără decesele: lanțul de pe certificatul de deces și mortalitatea în exces. Pentru ele, recitiți din cursul „Cine ajunge în cifră” ce scrie pe certificatul de deces, cauza de bază a decesului și mortalitatea în exces. Formularul nu intră în notă; după trimitere, vă arată răspunsurile corecte și explicațiile.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În ultimele minute, biletul de ieșire: trei întrebări anonime pe Mentimeter. Intrați pe menti.com cu codul de pe ecran sau din linkul din chat și răspundeți în câte o propoziție: ce a fost util, unde v-am pierdut și ce ați putea folosi mâine. Răspunsurile arată ce trebuie reluat; luni veți vedea pe pagina cursului ce am schimbat pe baza lor.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82032"/>
          </a:solidFill>
          <a:ln/>
        </p:spPr>
      </p:sp>
      <p:sp>
        <p:nvSpPr>
          <p:cNvPr id="3" name="Shape 1"/>
          <p:cNvSpPr/>
          <p:nvPr/>
        </p:nvSpPr>
        <p:spPr>
          <a:xfrm>
            <a:off x="10332720" y="3840480"/>
            <a:ext cx="3474720" cy="3474720"/>
          </a:xfrm>
          <a:prstGeom prst="ellipse">
            <a:avLst/>
          </a:prstGeom>
          <a:solidFill>
            <a:srgbClr val="182032"/>
          </a:solidFill>
          <a:ln/>
        </p:spPr>
      </p:sp>
      <p:sp>
        <p:nvSpPr>
          <p:cNvPr id="4" name="Shape 2"/>
          <p:cNvSpPr/>
          <p:nvPr/>
        </p:nvSpPr>
        <p:spPr>
          <a:xfrm>
            <a:off x="685800" y="777240"/>
            <a:ext cx="3657600" cy="329184"/>
          </a:xfrm>
          <a:prstGeom prst="roundRect">
            <a:avLst>
              <a:gd name="adj" fmla="val 50000"/>
            </a:avLst>
          </a:prstGeom>
          <a:solidFill>
            <a:srgbClr val="27D3BE"/>
          </a:solidFill>
          <a:ln w="12700">
            <a:solidFill>
              <a:srgbClr val="27D3BE"/>
            </a:solidFill>
            <a:prstDash val="solid"/>
          </a:ln>
        </p:spPr>
      </p:sp>
      <p:sp>
        <p:nvSpPr>
          <p:cNvPr id="5" name="Text 3"/>
          <p:cNvSpPr/>
          <p:nvPr/>
        </p:nvSpPr>
        <p:spPr>
          <a:xfrm>
            <a:off x="685800" y="777240"/>
            <a:ext cx="365760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LUCRAREA PRACTICĂ A DOUA</a:t>
            </a:r>
            <a:endParaRPr lang="en-US" sz="1300" dirty="0"/>
          </a:p>
        </p:txBody>
      </p:sp>
      <p:sp>
        <p:nvSpPr>
          <p:cNvPr id="6" name="Text 4"/>
          <p:cNvSpPr/>
          <p:nvPr/>
        </p:nvSpPr>
        <p:spPr>
          <a:xfrm>
            <a:off x="685800" y="1371600"/>
            <a:ext cx="9875520" cy="82296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Focarul din cămin</a:t>
            </a:r>
            <a:endParaRPr lang="en-US" sz="4600" dirty="0"/>
          </a:p>
        </p:txBody>
      </p:sp>
      <p:sp>
        <p:nvSpPr>
          <p:cNvPr id="7" name="Text 5"/>
          <p:cNvSpPr/>
          <p:nvPr/>
        </p:nvSpPr>
        <p:spPr>
          <a:xfrm>
            <a:off x="685800" y="2148840"/>
            <a:ext cx="9875520" cy="822960"/>
          </a:xfrm>
          <a:prstGeom prst="rect">
            <a:avLst/>
          </a:prstGeom>
          <a:noFill/>
          <a:ln/>
        </p:spPr>
        <p:txBody>
          <a:bodyPr wrap="square" lIns="0" tIns="0" rIns="0" bIns="0" rtlCol="0" anchor="t"/>
          <a:lstStyle/>
          <a:p>
            <a:pPr indent="0" marL="0">
              <a:buNone/>
            </a:pPr>
            <a:r>
              <a:rPr lang="en-US" sz="4600" b="1" dirty="0">
                <a:solidFill>
                  <a:srgbClr val="27D3BE"/>
                </a:solidFill>
                <a:latin typeface="Palatino Linotype" pitchFamily="34" charset="0"/>
                <a:ea typeface="Palatino Linotype" pitchFamily="34" charset="-122"/>
                <a:cs typeface="Palatino Linotype" pitchFamily="34" charset="-120"/>
              </a:rPr>
              <a:t>Refaceți piramida</a:t>
            </a:r>
            <a:endParaRPr lang="en-US" sz="4600" dirty="0"/>
          </a:p>
        </p:txBody>
      </p:sp>
      <p:sp>
        <p:nvSpPr>
          <p:cNvPr id="8" name="Text 6"/>
          <p:cNvSpPr/>
          <p:nvPr/>
        </p:nvSpPr>
        <p:spPr>
          <a:xfrm>
            <a:off x="685800" y="2926080"/>
            <a:ext cx="9875520" cy="822960"/>
          </a:xfrm>
          <a:prstGeom prst="rect">
            <a:avLst/>
          </a:prstGeom>
          <a:noFill/>
          <a:ln/>
        </p:spPr>
        <p:txBody>
          <a:bodyPr wrap="square" lIns="0" tIns="0" rIns="0" bIns="0" rtlCol="0" anchor="t"/>
          <a:lstStyle/>
          <a:p>
            <a:pPr indent="0" marL="0">
              <a:buNone/>
            </a:pPr>
            <a:r>
              <a:rPr lang="en-US" sz="4600" b="1" dirty="0">
                <a:solidFill>
                  <a:srgbClr val="27D3BE"/>
                </a:solidFill>
                <a:latin typeface="Palatino Linotype" pitchFamily="34" charset="0"/>
                <a:ea typeface="Palatino Linotype" pitchFamily="34" charset="-122"/>
                <a:cs typeface="Palatino Linotype" pitchFamily="34" charset="-120"/>
              </a:rPr>
              <a:t>supravegherii</a:t>
            </a:r>
            <a:endParaRPr lang="en-US" sz="4600" dirty="0"/>
          </a:p>
        </p:txBody>
      </p:sp>
      <p:sp>
        <p:nvSpPr>
          <p:cNvPr id="9" name="Text 7"/>
          <p:cNvSpPr/>
          <p:nvPr/>
        </p:nvSpPr>
        <p:spPr>
          <a:xfrm>
            <a:off x="685800" y="3886200"/>
            <a:ext cx="10241280" cy="45720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Un focar construit pentru exercițiu, urmărit de la primul bolnav până la fișa de declarare</a:t>
            </a:r>
            <a:endParaRPr lang="en-US" sz="1800" dirty="0"/>
          </a:p>
        </p:txBody>
      </p:sp>
      <p:sp>
        <p:nvSpPr>
          <p:cNvPr id="10" name="Shape 8"/>
          <p:cNvSpPr/>
          <p:nvPr/>
        </p:nvSpPr>
        <p:spPr>
          <a:xfrm>
            <a:off x="713232" y="4526280"/>
            <a:ext cx="1280160" cy="27432"/>
          </a:xfrm>
          <a:prstGeom prst="rect">
            <a:avLst/>
          </a:prstGeom>
          <a:solidFill>
            <a:srgbClr val="FF4757"/>
          </a:solidFill>
          <a:ln/>
        </p:spPr>
      </p:sp>
      <p:sp>
        <p:nvSpPr>
          <p:cNvPr id="11" name="Text 9"/>
          <p:cNvSpPr/>
          <p:nvPr/>
        </p:nvSpPr>
        <p:spPr>
          <a:xfrm>
            <a:off x="685800" y="4800600"/>
            <a:ext cx="1005840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Detectivii epidemiilor: cum ucid bolile milioane de oameni și cum le oprim</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CAZ CONSTRUIT PENTRU EXERCIȚIU · DUMINICĂ DIMINEAȚA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Petrecerea de la etajul trei</a:t>
            </a:r>
            <a:endParaRPr lang="en-US" sz="3100" dirty="0"/>
          </a:p>
        </p:txBody>
      </p:sp>
      <p:sp>
        <p:nvSpPr>
          <p:cNvPr id="4" name="Shape 2"/>
          <p:cNvSpPr/>
          <p:nvPr/>
        </p:nvSpPr>
        <p:spPr>
          <a:xfrm>
            <a:off x="594360" y="1691640"/>
            <a:ext cx="4937760" cy="3931920"/>
          </a:xfrm>
          <a:prstGeom prst="roundRect">
            <a:avLst>
              <a:gd name="adj" fmla="val 2093"/>
            </a:avLst>
          </a:prstGeom>
          <a:solidFill>
            <a:srgbClr val="11121A"/>
          </a:solidFill>
          <a:ln w="12700">
            <a:solidFill>
              <a:srgbClr val="11121A"/>
            </a:solidFill>
            <a:prstDash val="solid"/>
          </a:ln>
        </p:spPr>
      </p:sp>
      <p:sp>
        <p:nvSpPr>
          <p:cNvPr id="5" name="Text 3"/>
          <p:cNvSpPr/>
          <p:nvPr/>
        </p:nvSpPr>
        <p:spPr>
          <a:xfrm>
            <a:off x="868680" y="1828800"/>
            <a:ext cx="4389120" cy="36576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Grupul căminului</a:t>
            </a:r>
            <a:endParaRPr lang="en-US" sz="1500" dirty="0"/>
          </a:p>
        </p:txBody>
      </p:sp>
      <p:sp>
        <p:nvSpPr>
          <p:cNvPr id="6" name="Shape 4"/>
          <p:cNvSpPr/>
          <p:nvPr/>
        </p:nvSpPr>
        <p:spPr>
          <a:xfrm>
            <a:off x="868680" y="2240280"/>
            <a:ext cx="4389120" cy="18288"/>
          </a:xfrm>
          <a:prstGeom prst="rect">
            <a:avLst/>
          </a:prstGeom>
          <a:solidFill>
            <a:srgbClr val="2E3142"/>
          </a:solidFill>
          <a:ln w="12700">
            <a:solidFill>
              <a:srgbClr val="2E3142"/>
            </a:solidFill>
            <a:prstDash val="solid"/>
          </a:ln>
        </p:spPr>
      </p:sp>
      <p:sp>
        <p:nvSpPr>
          <p:cNvPr id="7" name="Shape 5"/>
          <p:cNvSpPr/>
          <p:nvPr/>
        </p:nvSpPr>
        <p:spPr>
          <a:xfrm>
            <a:off x="868680" y="2423160"/>
            <a:ext cx="4206240" cy="731520"/>
          </a:xfrm>
          <a:prstGeom prst="roundRect">
            <a:avLst>
              <a:gd name="adj" fmla="val 11250"/>
            </a:avLst>
          </a:prstGeom>
          <a:solidFill>
            <a:srgbClr val="272A38"/>
          </a:solidFill>
          <a:ln w="12700">
            <a:solidFill>
              <a:srgbClr val="272A38"/>
            </a:solidFill>
            <a:prstDash val="solid"/>
          </a:ln>
        </p:spPr>
      </p:sp>
      <p:sp>
        <p:nvSpPr>
          <p:cNvPr id="8" name="Text 6"/>
          <p:cNvSpPr/>
          <p:nvPr/>
        </p:nvSpPr>
        <p:spPr>
          <a:xfrm>
            <a:off x="1051560" y="2423160"/>
            <a:ext cx="384048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Am stat toată noaptea în baie</a:t>
            </a:r>
            <a:endParaRPr lang="en-US" sz="1600" dirty="0"/>
          </a:p>
        </p:txBody>
      </p:sp>
      <p:sp>
        <p:nvSpPr>
          <p:cNvPr id="9" name="Shape 7"/>
          <p:cNvSpPr/>
          <p:nvPr/>
        </p:nvSpPr>
        <p:spPr>
          <a:xfrm>
            <a:off x="868680" y="3291840"/>
            <a:ext cx="4206240" cy="914400"/>
          </a:xfrm>
          <a:prstGeom prst="roundRect">
            <a:avLst>
              <a:gd name="adj" fmla="val 9000"/>
            </a:avLst>
          </a:prstGeom>
          <a:solidFill>
            <a:srgbClr val="272A38"/>
          </a:solidFill>
          <a:ln w="12700">
            <a:solidFill>
              <a:srgbClr val="272A38"/>
            </a:solidFill>
            <a:prstDash val="solid"/>
          </a:ln>
        </p:spPr>
      </p:sp>
      <p:sp>
        <p:nvSpPr>
          <p:cNvPr id="10" name="Text 8"/>
          <p:cNvSpPr/>
          <p:nvPr/>
        </p:nvSpPr>
        <p:spPr>
          <a:xfrm>
            <a:off x="1051560" y="3291840"/>
            <a:ext cx="3840480" cy="9144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Eu am vomitat de două ori, acum sunt bine</a:t>
            </a:r>
            <a:endParaRPr lang="en-US" sz="1600" dirty="0"/>
          </a:p>
        </p:txBody>
      </p:sp>
      <p:sp>
        <p:nvSpPr>
          <p:cNvPr id="11" name="Shape 9"/>
          <p:cNvSpPr/>
          <p:nvPr/>
        </p:nvSpPr>
        <p:spPr>
          <a:xfrm>
            <a:off x="868680" y="4343400"/>
            <a:ext cx="4206240" cy="731520"/>
          </a:xfrm>
          <a:prstGeom prst="roundRect">
            <a:avLst>
              <a:gd name="adj" fmla="val 11250"/>
            </a:avLst>
          </a:prstGeom>
          <a:solidFill>
            <a:srgbClr val="272A38"/>
          </a:solidFill>
          <a:ln w="12700">
            <a:solidFill>
              <a:srgbClr val="272A38"/>
            </a:solidFill>
            <a:prstDash val="solid"/>
          </a:ln>
        </p:spPr>
      </p:sp>
      <p:sp>
        <p:nvSpPr>
          <p:cNvPr id="12" name="Text 10"/>
          <p:cNvSpPr/>
          <p:nvPr/>
        </p:nvSpPr>
        <p:spPr>
          <a:xfrm>
            <a:off x="1051560" y="4343400"/>
            <a:ext cx="3840480" cy="73152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Pe mine mă doare doar stomacul</a:t>
            </a:r>
            <a:endParaRPr lang="en-US" sz="1600" dirty="0"/>
          </a:p>
        </p:txBody>
      </p:sp>
      <p:sp>
        <p:nvSpPr>
          <p:cNvPr id="13" name="Text 11"/>
          <p:cNvSpPr/>
          <p:nvPr/>
        </p:nvSpPr>
        <p:spPr>
          <a:xfrm>
            <a:off x="868680" y="5212080"/>
            <a:ext cx="4389120" cy="32004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Cei mai mulți rămân în pat și beau apă</a:t>
            </a:r>
            <a:endParaRPr lang="en-US" sz="1300" dirty="0"/>
          </a:p>
        </p:txBody>
      </p:sp>
      <p:sp>
        <p:nvSpPr>
          <p:cNvPr id="14" name="Shape 12"/>
          <p:cNvSpPr/>
          <p:nvPr/>
        </p:nvSpPr>
        <p:spPr>
          <a:xfrm>
            <a:off x="5943600" y="1691640"/>
            <a:ext cx="64008" cy="1097280"/>
          </a:xfrm>
          <a:prstGeom prst="rect">
            <a:avLst/>
          </a:prstGeom>
          <a:solidFill>
            <a:srgbClr val="0E7C6B"/>
          </a:solidFill>
          <a:ln w="12700">
            <a:solidFill>
              <a:srgbClr val="0E7C6B"/>
            </a:solidFill>
            <a:prstDash val="solid"/>
          </a:ln>
        </p:spPr>
      </p:sp>
      <p:sp>
        <p:nvSpPr>
          <p:cNvPr id="15" name="Text 13"/>
          <p:cNvSpPr/>
          <p:nvPr/>
        </p:nvSpPr>
        <p:spPr>
          <a:xfrm>
            <a:off x="6217920" y="1691640"/>
            <a:ext cx="530352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SÂMBĂTĂ SEARA</a:t>
            </a:r>
            <a:endParaRPr lang="en-US" sz="1300" dirty="0"/>
          </a:p>
        </p:txBody>
      </p:sp>
      <p:sp>
        <p:nvSpPr>
          <p:cNvPr id="16" name="Text 14"/>
          <p:cNvSpPr/>
          <p:nvPr/>
        </p:nvSpPr>
        <p:spPr>
          <a:xfrm>
            <a:off x="6217920" y="2039112"/>
            <a:ext cx="530352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Petrecere în bucătăria comună, 60 de persoane; fiecare aduce ceva de mâncare</a:t>
            </a:r>
            <a:endParaRPr lang="en-US" sz="1700" dirty="0"/>
          </a:p>
        </p:txBody>
      </p:sp>
      <p:sp>
        <p:nvSpPr>
          <p:cNvPr id="17" name="Shape 15"/>
          <p:cNvSpPr/>
          <p:nvPr/>
        </p:nvSpPr>
        <p:spPr>
          <a:xfrm>
            <a:off x="5943600" y="3017520"/>
            <a:ext cx="64008" cy="1097280"/>
          </a:xfrm>
          <a:prstGeom prst="rect">
            <a:avLst/>
          </a:prstGeom>
          <a:solidFill>
            <a:srgbClr val="8A6100"/>
          </a:solidFill>
          <a:ln w="12700">
            <a:solidFill>
              <a:srgbClr val="8A6100"/>
            </a:solidFill>
            <a:prstDash val="solid"/>
          </a:ln>
        </p:spPr>
      </p:sp>
      <p:sp>
        <p:nvSpPr>
          <p:cNvPr id="18" name="Text 16"/>
          <p:cNvSpPr/>
          <p:nvPr/>
        </p:nvSpPr>
        <p:spPr>
          <a:xfrm>
            <a:off x="6217920" y="3017520"/>
            <a:ext cx="5303520" cy="320040"/>
          </a:xfrm>
          <a:prstGeom prst="rect">
            <a:avLst/>
          </a:prstGeom>
          <a:noFill/>
          <a:ln/>
        </p:spPr>
        <p:txBody>
          <a:bodyPr wrap="square" lIns="0" tIns="0" rIns="0" bIns="0" rtlCol="0" anchor="t"/>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LUNI</a:t>
            </a:r>
            <a:endParaRPr lang="en-US" sz="1300" dirty="0"/>
          </a:p>
        </p:txBody>
      </p:sp>
      <p:sp>
        <p:nvSpPr>
          <p:cNvPr id="19" name="Text 17"/>
          <p:cNvSpPr/>
          <p:nvPr/>
        </p:nvSpPr>
        <p:spPr>
          <a:xfrm>
            <a:off x="6217920" y="3364992"/>
            <a:ext cx="530352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coleg ajunge la camera de gardă, deshidratat</a:t>
            </a:r>
            <a:endParaRPr lang="en-US" sz="1700" dirty="0"/>
          </a:p>
        </p:txBody>
      </p:sp>
      <p:sp>
        <p:nvSpPr>
          <p:cNvPr id="20" name="Shape 18"/>
          <p:cNvSpPr/>
          <p:nvPr/>
        </p:nvSpPr>
        <p:spPr>
          <a:xfrm>
            <a:off x="5943600" y="4343400"/>
            <a:ext cx="64008" cy="1097280"/>
          </a:xfrm>
          <a:prstGeom prst="rect">
            <a:avLst/>
          </a:prstGeom>
          <a:solidFill>
            <a:srgbClr val="B02532"/>
          </a:solidFill>
          <a:ln w="12700">
            <a:solidFill>
              <a:srgbClr val="B02532"/>
            </a:solidFill>
            <a:prstDash val="solid"/>
          </a:ln>
        </p:spPr>
      </p:sp>
      <p:sp>
        <p:nvSpPr>
          <p:cNvPr id="21" name="Text 19"/>
          <p:cNvSpPr/>
          <p:nvPr/>
        </p:nvSpPr>
        <p:spPr>
          <a:xfrm>
            <a:off x="6217920" y="4343400"/>
            <a:ext cx="53035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MIERCURI</a:t>
            </a:r>
            <a:endParaRPr lang="en-US" sz="1300" dirty="0"/>
          </a:p>
        </p:txBody>
      </p:sp>
      <p:sp>
        <p:nvSpPr>
          <p:cNvPr id="22" name="Text 20"/>
          <p:cNvSpPr/>
          <p:nvPr/>
        </p:nvSpPr>
        <p:spPr>
          <a:xfrm>
            <a:off x="6217920" y="4690872"/>
            <a:ext cx="5303520" cy="7772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Autoritatea de sănătate publică primește două fișe de declarare, cu aceeași adresă: căminul</a:t>
            </a:r>
            <a:endParaRPr lang="en-US" sz="1700" dirty="0"/>
          </a:p>
        </p:txBody>
      </p:sp>
      <p:sp>
        <p:nvSpPr>
          <p:cNvPr id="23" name="Text 21"/>
          <p:cNvSpPr/>
          <p:nvPr/>
        </p:nvSpPr>
        <p:spPr>
          <a:xfrm>
            <a:off x="5943600" y="5577840"/>
            <a:ext cx="557784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Echipa de anchetă sunteți voi.</a:t>
            </a:r>
            <a:endParaRPr lang="en-US" sz="2000" dirty="0"/>
          </a:p>
        </p:txBody>
      </p:sp>
      <p:sp>
        <p:nvSpPr>
          <p:cNvPr id="24" name="Text 22"/>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Caz construit pentru exercițiu: căminul, oamenii, boala și cifrele sunt inventate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ANONIM · MENTIMETER</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ÎNAINTE DE ORICE CALCUL</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Ați fi ajuns voi în cifra oficială a bolii?</a:t>
            </a:r>
            <a:endParaRPr lang="en-US" sz="3400" dirty="0"/>
          </a:p>
        </p:txBody>
      </p:sp>
      <p:sp>
        <p:nvSpPr>
          <p:cNvPr id="6" name="Text 4"/>
          <p:cNvSpPr/>
          <p:nvPr/>
        </p:nvSpPr>
        <p:spPr>
          <a:xfrm>
            <a:off x="594360" y="1600200"/>
            <a:ext cx="10972800" cy="457200"/>
          </a:xfrm>
          <a:prstGeom prst="rect">
            <a:avLst/>
          </a:prstGeom>
          <a:noFill/>
          <a:ln/>
        </p:spPr>
        <p:txBody>
          <a:bodyPr wrap="square" lIns="0" tIns="0" rIns="0" bIns="0" rtlCol="0" anchor="t"/>
          <a:lstStyle/>
          <a:p>
            <a:pPr indent="0" marL="0">
              <a:buNone/>
            </a:pPr>
            <a:r>
              <a:rPr lang="en-US" sz="1900" i="1" dirty="0">
                <a:solidFill>
                  <a:srgbClr val="959BB0"/>
                </a:solidFill>
                <a:latin typeface="Palatino Linotype" pitchFamily="34" charset="0"/>
                <a:ea typeface="Palatino Linotype" pitchFamily="34" charset="-122"/>
                <a:cs typeface="Palatino Linotype" pitchFamily="34" charset="-120"/>
              </a:rPr>
              <a:t>Dacă v-ați fi îmbolnăvit la această petrecere</a:t>
            </a:r>
            <a:endParaRPr lang="en-US" sz="1900" dirty="0"/>
          </a:p>
        </p:txBody>
      </p:sp>
      <p:sp>
        <p:nvSpPr>
          <p:cNvPr id="7" name="Shape 5"/>
          <p:cNvSpPr/>
          <p:nvPr/>
        </p:nvSpPr>
        <p:spPr>
          <a:xfrm>
            <a:off x="594360" y="2286000"/>
            <a:ext cx="10972800" cy="749808"/>
          </a:xfrm>
          <a:prstGeom prst="roundRect">
            <a:avLst>
              <a:gd name="adj" fmla="val 10976"/>
            </a:avLst>
          </a:prstGeom>
          <a:solidFill>
            <a:srgbClr val="1D1F2B"/>
          </a:solidFill>
          <a:ln w="12700">
            <a:solidFill>
              <a:srgbClr val="1D1F2B"/>
            </a:solidFill>
            <a:prstDash val="solid"/>
          </a:ln>
        </p:spPr>
      </p:sp>
      <p:sp>
        <p:nvSpPr>
          <p:cNvPr id="8" name="Shape 6"/>
          <p:cNvSpPr/>
          <p:nvPr/>
        </p:nvSpPr>
        <p:spPr>
          <a:xfrm>
            <a:off x="914400" y="2450592"/>
            <a:ext cx="420624" cy="420624"/>
          </a:xfrm>
          <a:prstGeom prst="ellipse">
            <a:avLst/>
          </a:prstGeom>
          <a:solidFill>
            <a:srgbClr val="FFC24B"/>
          </a:solidFill>
          <a:ln/>
        </p:spPr>
      </p:sp>
      <p:sp>
        <p:nvSpPr>
          <p:cNvPr id="9" name="Text 7"/>
          <p:cNvSpPr/>
          <p:nvPr/>
        </p:nvSpPr>
        <p:spPr>
          <a:xfrm>
            <a:off x="914400" y="24505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2286000"/>
            <a:ext cx="969264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Sigur da</a:t>
            </a:r>
            <a:endParaRPr lang="en-US" sz="2200" dirty="0"/>
          </a:p>
        </p:txBody>
      </p:sp>
      <p:sp>
        <p:nvSpPr>
          <p:cNvPr id="11" name="Shape 9"/>
          <p:cNvSpPr/>
          <p:nvPr/>
        </p:nvSpPr>
        <p:spPr>
          <a:xfrm>
            <a:off x="594360" y="3182112"/>
            <a:ext cx="10972800" cy="749808"/>
          </a:xfrm>
          <a:prstGeom prst="roundRect">
            <a:avLst>
              <a:gd name="adj" fmla="val 10976"/>
            </a:avLst>
          </a:prstGeom>
          <a:solidFill>
            <a:srgbClr val="1D1F2B"/>
          </a:solidFill>
          <a:ln w="12700">
            <a:solidFill>
              <a:srgbClr val="1D1F2B"/>
            </a:solidFill>
            <a:prstDash val="solid"/>
          </a:ln>
        </p:spPr>
      </p:sp>
      <p:sp>
        <p:nvSpPr>
          <p:cNvPr id="12" name="Shape 10"/>
          <p:cNvSpPr/>
          <p:nvPr/>
        </p:nvSpPr>
        <p:spPr>
          <a:xfrm>
            <a:off x="914400" y="3346704"/>
            <a:ext cx="420624" cy="420624"/>
          </a:xfrm>
          <a:prstGeom prst="ellipse">
            <a:avLst/>
          </a:prstGeom>
          <a:solidFill>
            <a:srgbClr val="FFC24B"/>
          </a:solidFill>
          <a:ln/>
        </p:spPr>
      </p:sp>
      <p:sp>
        <p:nvSpPr>
          <p:cNvPr id="13" name="Text 11"/>
          <p:cNvSpPr/>
          <p:nvPr/>
        </p:nvSpPr>
        <p:spPr>
          <a:xfrm>
            <a:off x="914400" y="3346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182112"/>
            <a:ext cx="969264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Probabil da</a:t>
            </a:r>
            <a:endParaRPr lang="en-US" sz="2200" dirty="0"/>
          </a:p>
        </p:txBody>
      </p:sp>
      <p:sp>
        <p:nvSpPr>
          <p:cNvPr id="15" name="Shape 13"/>
          <p:cNvSpPr/>
          <p:nvPr/>
        </p:nvSpPr>
        <p:spPr>
          <a:xfrm>
            <a:off x="594360" y="4078224"/>
            <a:ext cx="10972800" cy="749808"/>
          </a:xfrm>
          <a:prstGeom prst="roundRect">
            <a:avLst>
              <a:gd name="adj" fmla="val 10976"/>
            </a:avLst>
          </a:prstGeom>
          <a:solidFill>
            <a:srgbClr val="1D1F2B"/>
          </a:solidFill>
          <a:ln w="12700">
            <a:solidFill>
              <a:srgbClr val="1D1F2B"/>
            </a:solidFill>
            <a:prstDash val="solid"/>
          </a:ln>
        </p:spPr>
      </p:sp>
      <p:sp>
        <p:nvSpPr>
          <p:cNvPr id="16" name="Shape 14"/>
          <p:cNvSpPr/>
          <p:nvPr/>
        </p:nvSpPr>
        <p:spPr>
          <a:xfrm>
            <a:off x="914400" y="4242816"/>
            <a:ext cx="420624" cy="420624"/>
          </a:xfrm>
          <a:prstGeom prst="ellipse">
            <a:avLst/>
          </a:prstGeom>
          <a:solidFill>
            <a:srgbClr val="FFC24B"/>
          </a:solidFill>
          <a:ln/>
        </p:spPr>
      </p:sp>
      <p:sp>
        <p:nvSpPr>
          <p:cNvPr id="17" name="Text 15"/>
          <p:cNvSpPr/>
          <p:nvPr/>
        </p:nvSpPr>
        <p:spPr>
          <a:xfrm>
            <a:off x="914400" y="42428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078224"/>
            <a:ext cx="969264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Probabil nu</a:t>
            </a:r>
            <a:endParaRPr lang="en-US" sz="2200" dirty="0"/>
          </a:p>
        </p:txBody>
      </p:sp>
      <p:sp>
        <p:nvSpPr>
          <p:cNvPr id="19" name="Shape 17"/>
          <p:cNvSpPr/>
          <p:nvPr/>
        </p:nvSpPr>
        <p:spPr>
          <a:xfrm>
            <a:off x="594360" y="4974336"/>
            <a:ext cx="10972800" cy="749808"/>
          </a:xfrm>
          <a:prstGeom prst="roundRect">
            <a:avLst>
              <a:gd name="adj" fmla="val 10976"/>
            </a:avLst>
          </a:prstGeom>
          <a:solidFill>
            <a:srgbClr val="1D1F2B"/>
          </a:solidFill>
          <a:ln w="12700">
            <a:solidFill>
              <a:srgbClr val="1D1F2B"/>
            </a:solidFill>
            <a:prstDash val="solid"/>
          </a:ln>
        </p:spPr>
      </p:sp>
      <p:sp>
        <p:nvSpPr>
          <p:cNvPr id="20" name="Shape 18"/>
          <p:cNvSpPr/>
          <p:nvPr/>
        </p:nvSpPr>
        <p:spPr>
          <a:xfrm>
            <a:off x="914400" y="5138928"/>
            <a:ext cx="420624" cy="420624"/>
          </a:xfrm>
          <a:prstGeom prst="ellipse">
            <a:avLst/>
          </a:prstGeom>
          <a:solidFill>
            <a:srgbClr val="FFC24B"/>
          </a:solidFill>
          <a:ln/>
        </p:spPr>
      </p:sp>
      <p:sp>
        <p:nvSpPr>
          <p:cNvPr id="21" name="Text 19"/>
          <p:cNvSpPr/>
          <p:nvPr/>
        </p:nvSpPr>
        <p:spPr>
          <a:xfrm>
            <a:off x="914400" y="5138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4974336"/>
            <a:ext cx="9692640" cy="749808"/>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Sigur nu</a:t>
            </a:r>
            <a:endParaRPr lang="en-US" sz="2200" dirty="0"/>
          </a:p>
        </p:txBody>
      </p:sp>
      <p:sp>
        <p:nvSpPr>
          <p:cNvPr id="23" name="Text 21"/>
          <p:cNvSpPr/>
          <p:nvPr/>
        </p:nvSpPr>
        <p:spPr>
          <a:xfrm>
            <a:off x="594360" y="5943600"/>
            <a:ext cx="10972800" cy="365760"/>
          </a:xfrm>
          <a:prstGeom prst="rect">
            <a:avLst/>
          </a:prstGeom>
          <a:noFill/>
          <a:ln/>
        </p:spPr>
        <p:txBody>
          <a:bodyPr wrap="square" lIns="0" tIns="0" rIns="0" bIns="0" rtlCol="0" anchor="t"/>
          <a:lstStyle/>
          <a:p>
            <a:pPr indent="0" marL="0">
              <a:buNone/>
            </a:pPr>
            <a:r>
              <a:rPr lang="en-US" sz="1600" i="1" dirty="0">
                <a:solidFill>
                  <a:srgbClr val="27D3BE"/>
                </a:solidFill>
                <a:latin typeface="Palatino Linotype" pitchFamily="34" charset="0"/>
                <a:ea typeface="Palatino Linotype" pitchFamily="34" charset="-122"/>
                <a:cs typeface="Palatino Linotype" pitchFamily="34" charset="-120"/>
              </a:rPr>
              <a:t>Răspunsul îl aflați la pasul al doilea.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FORMULAR · FIECARE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ANCHETA VOASTRĂ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Deschideți formularul</a:t>
            </a:r>
            <a:endParaRPr lang="en-US" sz="3600" dirty="0"/>
          </a:p>
        </p:txBody>
      </p:sp>
      <p:sp>
        <p:nvSpPr>
          <p:cNvPr id="6" name="Shape 4"/>
          <p:cNvSpPr/>
          <p:nvPr/>
        </p:nvSpPr>
        <p:spPr>
          <a:xfrm>
            <a:off x="594360" y="178308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7" name="Shape 5"/>
          <p:cNvSpPr/>
          <p:nvPr/>
        </p:nvSpPr>
        <p:spPr>
          <a:xfrm>
            <a:off x="914400" y="1975104"/>
            <a:ext cx="420624" cy="420624"/>
          </a:xfrm>
          <a:prstGeom prst="ellipse">
            <a:avLst/>
          </a:prstGeom>
          <a:solidFill>
            <a:srgbClr val="FFC24B"/>
          </a:solidFill>
          <a:ln/>
        </p:spPr>
        <p:txBody>
          <a:bodyPr/>
          <a:p/>
        </p:txBody>
      </p:sp>
      <p:sp>
        <p:nvSpPr>
          <p:cNvPr id="8" name="Text 6"/>
          <p:cNvSpPr/>
          <p:nvPr/>
        </p:nvSpPr>
        <p:spPr>
          <a:xfrm>
            <a:off x="91440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78308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Fiecare completează formularul, de pe telefon sau calculator</a:t>
            </a:r>
            <a:endParaRPr lang="en-US" sz="1700" dirty="0"/>
          </a:p>
        </p:txBody>
      </p:sp>
      <p:sp>
        <p:nvSpPr>
          <p:cNvPr id="10" name="Shape 8"/>
          <p:cNvSpPr/>
          <p:nvPr/>
        </p:nvSpPr>
        <p:spPr>
          <a:xfrm>
            <a:off x="594360" y="274320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1" name="Shape 9"/>
          <p:cNvSpPr/>
          <p:nvPr/>
        </p:nvSpPr>
        <p:spPr>
          <a:xfrm>
            <a:off x="914400" y="2935224"/>
            <a:ext cx="420624" cy="420624"/>
          </a:xfrm>
          <a:prstGeom prst="ellipse">
            <a:avLst/>
          </a:prstGeom>
          <a:solidFill>
            <a:srgbClr val="FFC24B"/>
          </a:solidFill>
          <a:ln/>
        </p:spPr>
        <p:txBody>
          <a:bodyPr/>
          <a:p/>
        </p:txBody>
      </p:sp>
      <p:sp>
        <p:nvSpPr>
          <p:cNvPr id="12" name="Text 10"/>
          <p:cNvSpPr/>
          <p:nvPr/>
        </p:nvSpPr>
        <p:spPr>
          <a:xfrm>
            <a:off x="914400" y="2935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4320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Scrieți grupa și inițialele voastre</a:t>
            </a:r>
            <a:endParaRPr lang="en-US" sz="1700" dirty="0"/>
          </a:p>
        </p:txBody>
      </p:sp>
      <p:sp>
        <p:nvSpPr>
          <p:cNvPr id="14" name="Shape 12"/>
          <p:cNvSpPr/>
          <p:nvPr/>
        </p:nvSpPr>
        <p:spPr>
          <a:xfrm>
            <a:off x="594360" y="370332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5" name="Shape 13"/>
          <p:cNvSpPr/>
          <p:nvPr/>
        </p:nvSpPr>
        <p:spPr>
          <a:xfrm>
            <a:off x="914400" y="3895344"/>
            <a:ext cx="420624" cy="420624"/>
          </a:xfrm>
          <a:prstGeom prst="ellipse">
            <a:avLst/>
          </a:prstGeom>
          <a:solidFill>
            <a:srgbClr val="FFC24B"/>
          </a:solidFill>
          <a:ln/>
        </p:spPr>
        <p:txBody>
          <a:bodyPr/>
          <a:p/>
        </p:txBody>
      </p:sp>
      <p:sp>
        <p:nvSpPr>
          <p:cNvPr id="16" name="Text 14"/>
          <p:cNvSpPr/>
          <p:nvPr/>
        </p:nvSpPr>
        <p:spPr>
          <a:xfrm>
            <a:off x="914400" y="38953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70332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Trei pași; fiecare se deschide numai după răspunsul corect la întrebarea cu variante</a:t>
            </a:r>
            <a:endParaRPr lang="en-US" sz="1700" dirty="0"/>
          </a:p>
        </p:txBody>
      </p:sp>
      <p:sp>
        <p:nvSpPr>
          <p:cNvPr id="18" name="Shape 16"/>
          <p:cNvSpPr/>
          <p:nvPr/>
        </p:nvSpPr>
        <p:spPr>
          <a:xfrm>
            <a:off x="594360" y="4663440"/>
            <a:ext cx="7498080" cy="804672"/>
          </a:xfrm>
          <a:prstGeom prst="roundRect">
            <a:avLst>
              <a:gd name="adj" fmla="val 10227"/>
            </a:avLst>
          </a:prstGeom>
          <a:solidFill>
            <a:srgbClr val="1D1F2B"/>
          </a:solidFill>
          <a:ln w="12700">
            <a:solidFill>
              <a:srgbClr val="1D1F2B"/>
            </a:solidFill>
            <a:prstDash val="solid"/>
          </a:ln>
        </p:spPr>
        <p:txBody>
          <a:bodyPr/>
          <a:p/>
        </p:txBody>
      </p:sp>
      <p:sp>
        <p:nvSpPr>
          <p:cNvPr id="19" name="Shape 17"/>
          <p:cNvSpPr/>
          <p:nvPr/>
        </p:nvSpPr>
        <p:spPr>
          <a:xfrm>
            <a:off x="914400" y="4855464"/>
            <a:ext cx="420624" cy="420624"/>
          </a:xfrm>
          <a:prstGeom prst="ellipse">
            <a:avLst/>
          </a:prstGeom>
          <a:solidFill>
            <a:srgbClr val="FFC24B"/>
          </a:solidFill>
          <a:ln/>
        </p:spPr>
        <p:txBody>
          <a:bodyPr/>
          <a:p/>
        </p:txBody>
      </p:sp>
      <p:sp>
        <p:nvSpPr>
          <p:cNvPr id="20" name="Text 18"/>
          <p:cNvSpPr/>
          <p:nvPr/>
        </p:nvSpPr>
        <p:spPr>
          <a:xfrm>
            <a:off x="914400" y="48554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663440"/>
            <a:ext cx="6217920" cy="80467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După un răspuns greșit: un indiciu, apoi reveniți la întrebare</a:t>
            </a:r>
            <a:endParaRPr lang="en-US" sz="1700" dirty="0"/>
          </a:p>
        </p:txBody>
      </p:sp>
      <p:sp>
        <p:nvSpPr>
          <p:cNvPr id="22" name="Text 20"/>
          <p:cNvSpPr/>
          <p:nvPr/>
        </p:nvSpPr>
        <p:spPr>
          <a:xfrm>
            <a:off x="594360" y="5669280"/>
            <a:ext cx="7498080" cy="54864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Valorile calculate nu opresc trecerea: le vedeți corectate, cu explicația, după trimiterea formularului.</a:t>
            </a:r>
            <a:endParaRPr lang="en-US" sz="1500" dirty="0"/>
          </a:p>
        </p:txBody>
      </p:sp>
      <p:sp>
        <p:nvSpPr>
          <p:cNvPr id="23" name="Shape 21"/>
          <p:cNvSpPr/>
          <p:nvPr/>
        </p:nvSpPr>
        <p:spPr>
          <a:xfrm>
            <a:off x="8549640" y="178308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5" name="Text 23"/>
          <p:cNvSpPr/>
          <p:nvPr/>
        </p:nvSpPr>
        <p:spPr>
          <a:xfrm>
            <a:off x="8549640" y="4937760"/>
            <a:ext cx="3017520" cy="365760"/>
          </a:xfrm>
          <a:prstGeom prst="rect">
            <a:avLst/>
          </a:prstGeom>
          <a:noFill/>
          <a:ln/>
        </p:spPr>
        <p:txBody>
          <a:bodyPr wrap="square" lIns="0" tIns="0" rIns="0" bIns="0" rtlCol="0" anchor="t"/>
          <a:lstStyle/>
          <a:p>
            <a:pPr algn="ctr" indent="0" marL="0">
              <a:buNone/>
            </a:pPr>
            <a:r>
              <a:rPr lang="en-US" sz="1400" dirty="0">
                <a:solidFill>
                  <a:srgbClr val="959BB0"/>
                </a:solidFill>
                <a:latin typeface="Palatino Linotype" pitchFamily="34" charset="0"/>
                <a:ea typeface="Palatino Linotype" pitchFamily="34" charset="-122"/>
                <a:cs typeface="Palatino Linotype" pitchFamily="34" charset="-120"/>
              </a:rPr>
              <a:t>Codul QR sau linkul din chat</a:t>
            </a:r>
            <a:endParaRPr lang="en-US" sz="1400" dirty="0"/>
          </a:p>
        </p:txBody>
      </p:sp>
      <p:pic>
        <p:nvPicPr>
          <p:cNvPr id="26" name="Picture 25" descr="Detectivii_LP02_sala_grupuri_de_banca.png"/>
          <p:cNvPicPr>
            <a:picLocks noChangeAspect="1"/>
          </p:cNvPicPr>
          <p:nvPr/>
        </p:nvPicPr>
        <p:blipFill>
          <a:blip r:embed="rId3"/>
          <a:stretch>
            <a:fillRect/>
          </a:stretch>
        </p:blipFill>
        <p:spPr>
          <a:xfrm>
            <a:off x="8549640" y="1783080"/>
            <a:ext cx="3017520" cy="3017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ÎNTÂI · CINE ESTE CAZ</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au răspuns cei 54 de respondenți</a:t>
            </a:r>
            <a:endParaRPr lang="en-US" sz="3100" dirty="0"/>
          </a:p>
        </p:txBody>
      </p:sp>
      <p:sp>
        <p:nvSpPr>
          <p:cNvPr id="4" name="Text 2"/>
          <p:cNvSpPr/>
          <p:nvPr/>
        </p:nvSpPr>
        <p:spPr>
          <a:xfrm>
            <a:off x="594360" y="1508760"/>
            <a:ext cx="10972800" cy="411480"/>
          </a:xfrm>
          <a:prstGeom prst="rect">
            <a:avLst/>
          </a:prstGeom>
          <a:noFill/>
          <a:ln/>
        </p:spPr>
        <p:txBody>
          <a:bodyPr wrap="square" lIns="0" tIns="0" rIns="0" bIns="0" rtlCol="0" anchor="t"/>
          <a:lstStyle/>
          <a:p>
            <a:pPr indent="0" marL="0">
              <a:buNone/>
            </a:pPr>
            <a:r>
              <a:rPr lang="en-US" sz="1700" i="1" dirty="0">
                <a:solidFill>
                  <a:srgbClr val="585A64"/>
                </a:solidFill>
                <a:latin typeface="Palatino Linotype" pitchFamily="34" charset="0"/>
                <a:ea typeface="Palatino Linotype" pitchFamily="34" charset="-122"/>
                <a:cs typeface="Palatino Linotype" pitchFamily="34" charset="-120"/>
              </a:rPr>
              <a:t>La petrecere au fost 60 de persoane. Chestionarul online a primit 54 de răspunsuri.</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2011680"/>
          <a:ext cx="10972800" cy="914400"/>
        </p:xfrm>
        <a:graphic>
          <a:graphicData uri="http://schemas.openxmlformats.org/drawingml/2006/table">
            <a:tbl>
              <a:tblPr/>
              <a:tblGrid>
                <a:gridCol w="9144000"/>
                <a:gridCol w="1828800"/>
              </a:tblGrid>
              <a:tr h="457200">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Ce au răspuns</a:t>
                      </a:r>
                      <a:endParaRPr lang="en-US" sz="15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c>
                  <a:txBody>
                    <a:bodyPr/>
                    <a:lstStyle/>
                    <a:p>
                      <a:pPr algn="ctr" indent="0" marL="0">
                        <a:buNone/>
                      </a:pPr>
                      <a:r>
                        <a:rPr lang="en-US" sz="1500" b="1" dirty="0">
                          <a:solidFill>
                            <a:srgbClr val="FFFFFF"/>
                          </a:solidFill>
                          <a:latin typeface="Palatino Linotype" pitchFamily="34" charset="0"/>
                          <a:ea typeface="Palatino Linotype" pitchFamily="34" charset="-122"/>
                          <a:cs typeface="Palatino Linotype" pitchFamily="34" charset="-120"/>
                        </a:rPr>
                        <a:t>Persoane</a:t>
                      </a:r>
                      <a:endParaRPr lang="en-US" sz="15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07564B"/>
                    </a:solidFill>
                  </a:tcPr>
                </a:tc>
              </a:tr>
              <a:tr h="914400">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Diaree (cel puțin trei scaune moi într-o zi) sau vărsături, începute între sâmbătă seara, după începutul petrecerii, și marți seara</a:t>
                      </a:r>
                      <a:endParaRPr lang="en-US" sz="16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32</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94360">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Diaree sau vărsături, începute vineri, înaintea petrecerii</a:t>
                      </a:r>
                      <a:endParaRPr lang="en-US" sz="16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1</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94360">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Numai greață sau dureri abdominale, fără diaree și fără vărsături</a:t>
                      </a:r>
                      <a:endParaRPr lang="en-US" sz="16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4</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r h="502920">
                <a:tc>
                  <a:txBody>
                    <a:bodyPr/>
                    <a:lstStyle/>
                    <a:p>
                      <a:pPr algn="l" indent="0" marL="0">
                        <a:buNone/>
                      </a:pPr>
                      <a:r>
                        <a:rPr lang="en-US" sz="1600" dirty="0">
                          <a:solidFill>
                            <a:srgbClr val="11121A"/>
                          </a:solidFill>
                          <a:latin typeface="Palatino Linotype" pitchFamily="34" charset="0"/>
                          <a:ea typeface="Palatino Linotype" pitchFamily="34" charset="-122"/>
                          <a:cs typeface="Palatino Linotype" pitchFamily="34" charset="-120"/>
                        </a:rPr>
                        <a:t>Niciun simptom</a:t>
                      </a:r>
                      <a:endParaRPr lang="en-US" sz="16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c>
                  <a:txBody>
                    <a:bodyPr/>
                    <a:lstStyle/>
                    <a:p>
                      <a:pPr algn="ctr" indent="0" marL="0">
                        <a:buNone/>
                      </a:pPr>
                      <a:r>
                        <a:rPr lang="en-US" sz="2200" b="1" dirty="0">
                          <a:solidFill>
                            <a:srgbClr val="11121A"/>
                          </a:solidFill>
                          <a:latin typeface="Palatino Linotype" pitchFamily="34" charset="0"/>
                          <a:ea typeface="Palatino Linotype" pitchFamily="34" charset="-122"/>
                          <a:cs typeface="Palatino Linotype" pitchFamily="34" charset="-120"/>
                        </a:rPr>
                        <a:t>17</a:t>
                      </a:r>
                      <a:endParaRPr lang="en-US" sz="2200" dirty="0">
                        <a:latin typeface="Palatino Linotype" charset="0"/>
                        <a:ea typeface="Palatino Linotype" charset="0"/>
                        <a:cs typeface="Palatino Linotype" charset="0"/>
                      </a:endParaRPr>
                    </a:p>
                  </a:txBody>
                  <a:tcPr marL="91440" marR="91440" marT="45720" marB="45720" anchor="ctr">
                    <a:lnL w="12700" cap="flat" cmpd="sng" algn="ctr">
                      <a:solidFill>
                        <a:srgbClr val="D6D3CB"/>
                      </a:solidFill>
                      <a:prstDash val="solid"/>
                      <a:round/>
                      <a:headEnd type="none" w="med" len="med"/>
                      <a:tailEnd type="none" w="med" len="med"/>
                    </a:lnL>
                    <a:lnR w="12700" cap="flat" cmpd="sng" algn="ctr">
                      <a:solidFill>
                        <a:srgbClr val="D6D3CB"/>
                      </a:solidFill>
                      <a:prstDash val="solid"/>
                      <a:round/>
                      <a:headEnd type="none" w="med" len="med"/>
                      <a:tailEnd type="none" w="med" len="med"/>
                    </a:lnR>
                    <a:lnT w="12700" cap="flat" cmpd="sng" algn="ctr">
                      <a:solidFill>
                        <a:srgbClr val="D6D3CB"/>
                      </a:solidFill>
                      <a:prstDash val="solid"/>
                      <a:round/>
                      <a:headEnd type="none" w="med" len="med"/>
                      <a:tailEnd type="none" w="med" len="med"/>
                    </a:lnT>
                    <a:lnB w="12700" cap="flat" cmpd="sng" algn="ctr">
                      <a:solidFill>
                        <a:srgbClr val="D6D3CB"/>
                      </a:solidFill>
                      <a:prstDash val="solid"/>
                      <a:round/>
                      <a:headEnd type="none" w="med" len="med"/>
                      <a:tailEnd type="none" w="med" len="med"/>
                    </a:lnB>
                    <a:solidFill>
                      <a:srgbClr val="F9F8F5"/>
                    </a:solidFill>
                  </a:tcPr>
                </a:tc>
              </a:tr>
            </a:tbl>
          </a:graphicData>
        </a:graphic>
      </p:graphicFrame>
      <p:sp>
        <p:nvSpPr>
          <p:cNvPr id="6" name="Text 3"/>
          <p:cNvSpPr/>
          <p:nvPr/>
        </p:nvSpPr>
        <p:spPr>
          <a:xfrm>
            <a:off x="594360" y="5212080"/>
            <a:ext cx="10972800" cy="822960"/>
          </a:xfrm>
          <a:prstGeom prst="rect">
            <a:avLst/>
          </a:prstGeom>
          <a:noFill/>
          <a:ln/>
        </p:spPr>
        <p:txBody>
          <a:bodyPr wrap="square" lIns="0" tIns="0" rIns="0" bIns="0" rtlCol="0" anchor="t"/>
          <a:lstStyle/>
          <a:p>
            <a:pPr indent="0" marL="0">
              <a:buNone/>
            </a:pPr>
            <a:r>
              <a:rPr lang="en-US" sz="1800" i="1" dirty="0">
                <a:solidFill>
                  <a:srgbClr val="0E7C6B"/>
                </a:solidFill>
                <a:latin typeface="Palatino Linotype" pitchFamily="34" charset="0"/>
                <a:ea typeface="Palatino Linotype" pitchFamily="34" charset="-122"/>
                <a:cs typeface="Palatino Linotype" pitchFamily="34" charset="-120"/>
              </a:rPr>
              <a:t>Alegeți definiția de caz potrivită. Apoi spuneți câți respondenți intră în număr și calculați rata de atac: din câți au răspuns, câți s-au îmbolnăvit.</a:t>
            </a:r>
            <a:endParaRPr lang="en-US" sz="1800" dirty="0"/>
          </a:p>
        </p:txBody>
      </p:sp>
      <p:sp>
        <p:nvSpPr>
          <p:cNvPr id="7" name="Text 4"/>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Valori ipotetice. Caz construit pentru exercițiu</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PASUL AL DOILEA · DE LA BOLNAV LA FIȘA DE DECLARARE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Cazurile, treaptă cu treaptă</a:t>
            </a:r>
            <a:endParaRPr lang="en-US" sz="3100" dirty="0"/>
          </a:p>
        </p:txBody>
      </p:sp>
      <p:sp>
        <p:nvSpPr>
          <p:cNvPr id="4" name="Text 2"/>
          <p:cNvSpPr/>
          <p:nvPr/>
        </p:nvSpPr>
        <p:spPr>
          <a:xfrm>
            <a:off x="594360" y="1691640"/>
            <a:ext cx="4389120" cy="512064"/>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S-au îmbolnăvit</a:t>
            </a:r>
            <a:endParaRPr lang="en-US" sz="1700" dirty="0"/>
          </a:p>
        </p:txBody>
      </p:sp>
      <p:sp>
        <p:nvSpPr>
          <p:cNvPr id="5" name="Shape 3"/>
          <p:cNvSpPr/>
          <p:nvPr/>
        </p:nvSpPr>
        <p:spPr>
          <a:xfrm>
            <a:off x="5120640" y="1691640"/>
            <a:ext cx="5669280" cy="512064"/>
          </a:xfrm>
          <a:prstGeom prst="roundRect">
            <a:avLst>
              <a:gd name="adj" fmla="val 8929"/>
            </a:avLst>
          </a:prstGeom>
          <a:solidFill>
            <a:srgbClr val="FF4757"/>
          </a:solidFill>
          <a:ln w="12700">
            <a:solidFill>
              <a:srgbClr val="FF4757"/>
            </a:solidFill>
            <a:prstDash val="solid"/>
          </a:ln>
        </p:spPr>
      </p:sp>
      <p:sp>
        <p:nvSpPr>
          <p:cNvPr id="6" name="Text 4"/>
          <p:cNvSpPr/>
          <p:nvPr/>
        </p:nvSpPr>
        <p:spPr>
          <a:xfrm>
            <a:off x="10927080" y="1691640"/>
            <a:ext cx="822960" cy="512064"/>
          </a:xfrm>
          <a:prstGeom prst="rect">
            <a:avLst/>
          </a:prstGeom>
          <a:noFill/>
          <a:ln/>
        </p:spPr>
        <p:txBody>
          <a:bodyPr wrap="square" lIns="0" tIns="0" rIns="0" bIns="0" rtlCol="0" anchor="ctr"/>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32</a:t>
            </a:r>
            <a:endParaRPr lang="en-US" sz="2200" dirty="0"/>
          </a:p>
        </p:txBody>
      </p:sp>
      <p:sp>
        <p:nvSpPr>
          <p:cNvPr id="7" name="Text 5"/>
          <p:cNvSpPr/>
          <p:nvPr/>
        </p:nvSpPr>
        <p:spPr>
          <a:xfrm>
            <a:off x="594360" y="2331720"/>
            <a:ext cx="4389120" cy="512064"/>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Au vorbit cu un medic</a:t>
            </a:r>
            <a:endParaRPr lang="en-US" sz="1700" dirty="0"/>
          </a:p>
        </p:txBody>
      </p:sp>
      <p:sp>
        <p:nvSpPr>
          <p:cNvPr id="8" name="Shape 6"/>
          <p:cNvSpPr/>
          <p:nvPr/>
        </p:nvSpPr>
        <p:spPr>
          <a:xfrm>
            <a:off x="5120640" y="2331720"/>
            <a:ext cx="1771650" cy="512064"/>
          </a:xfrm>
          <a:prstGeom prst="roundRect">
            <a:avLst>
              <a:gd name="adj" fmla="val 8929"/>
            </a:avLst>
          </a:prstGeom>
          <a:solidFill>
            <a:srgbClr val="FF8A3D"/>
          </a:solidFill>
          <a:ln w="12700">
            <a:solidFill>
              <a:srgbClr val="FF8A3D"/>
            </a:solidFill>
            <a:prstDash val="solid"/>
          </a:ln>
        </p:spPr>
      </p:sp>
      <p:sp>
        <p:nvSpPr>
          <p:cNvPr id="9" name="Text 7"/>
          <p:cNvSpPr/>
          <p:nvPr/>
        </p:nvSpPr>
        <p:spPr>
          <a:xfrm>
            <a:off x="7029450" y="2331720"/>
            <a:ext cx="822960" cy="512064"/>
          </a:xfrm>
          <a:prstGeom prst="rect">
            <a:avLst/>
          </a:prstGeom>
          <a:noFill/>
          <a:ln/>
        </p:spPr>
        <p:txBody>
          <a:bodyPr wrap="square" lIns="0" tIns="0" rIns="0" bIns="0" rtlCol="0" anchor="ctr"/>
          <a:lstStyle/>
          <a:p>
            <a:pPr indent="0" marL="0">
              <a:buNone/>
            </a:pPr>
            <a:r>
              <a:rPr lang="en-US" sz="2200" b="1" dirty="0">
                <a:solidFill>
                  <a:srgbClr val="FF8A3D"/>
                </a:solidFill>
                <a:latin typeface="Palatino Linotype" pitchFamily="34" charset="0"/>
                <a:ea typeface="Palatino Linotype" pitchFamily="34" charset="-122"/>
                <a:cs typeface="Palatino Linotype" pitchFamily="34" charset="-120"/>
              </a:rPr>
              <a:t>10</a:t>
            </a:r>
            <a:endParaRPr lang="en-US" sz="2200" dirty="0"/>
          </a:p>
        </p:txBody>
      </p:sp>
      <p:sp>
        <p:nvSpPr>
          <p:cNvPr id="10" name="Text 8"/>
          <p:cNvSpPr/>
          <p:nvPr/>
        </p:nvSpPr>
        <p:spPr>
          <a:xfrm>
            <a:off x="594360" y="2971800"/>
            <a:ext cx="4389120" cy="512064"/>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Li s-a cerut o probă de scaun</a:t>
            </a:r>
            <a:endParaRPr lang="en-US" sz="1700" dirty="0"/>
          </a:p>
        </p:txBody>
      </p:sp>
      <p:sp>
        <p:nvSpPr>
          <p:cNvPr id="11" name="Shape 9"/>
          <p:cNvSpPr/>
          <p:nvPr/>
        </p:nvSpPr>
        <p:spPr>
          <a:xfrm>
            <a:off x="5120640" y="2971800"/>
            <a:ext cx="885825" cy="512064"/>
          </a:xfrm>
          <a:prstGeom prst="roundRect">
            <a:avLst>
              <a:gd name="adj" fmla="val 8929"/>
            </a:avLst>
          </a:prstGeom>
          <a:solidFill>
            <a:srgbClr val="FFC24B"/>
          </a:solidFill>
          <a:ln w="12700">
            <a:solidFill>
              <a:srgbClr val="FFC24B"/>
            </a:solidFill>
            <a:prstDash val="solid"/>
          </a:ln>
        </p:spPr>
      </p:sp>
      <p:sp>
        <p:nvSpPr>
          <p:cNvPr id="12" name="Text 10"/>
          <p:cNvSpPr/>
          <p:nvPr/>
        </p:nvSpPr>
        <p:spPr>
          <a:xfrm>
            <a:off x="6143625" y="2971800"/>
            <a:ext cx="822960" cy="512064"/>
          </a:xfrm>
          <a:prstGeom prst="rect">
            <a:avLst/>
          </a:prstGeom>
          <a:noFill/>
          <a:ln/>
        </p:spPr>
        <p:txBody>
          <a:bodyPr wrap="square" lIns="0" tIns="0" rIns="0" bIns="0" rtlCol="0" anchor="ctr"/>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5</a:t>
            </a:r>
            <a:endParaRPr lang="en-US" sz="2200" dirty="0"/>
          </a:p>
        </p:txBody>
      </p:sp>
      <p:sp>
        <p:nvSpPr>
          <p:cNvPr id="13" name="Text 11"/>
          <p:cNvSpPr/>
          <p:nvPr/>
        </p:nvSpPr>
        <p:spPr>
          <a:xfrm>
            <a:off x="594360" y="3611880"/>
            <a:ext cx="4389120" cy="512064"/>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Au adus proba</a:t>
            </a:r>
            <a:endParaRPr lang="en-US" sz="1700" dirty="0"/>
          </a:p>
        </p:txBody>
      </p:sp>
      <p:sp>
        <p:nvSpPr>
          <p:cNvPr id="14" name="Shape 12"/>
          <p:cNvSpPr/>
          <p:nvPr/>
        </p:nvSpPr>
        <p:spPr>
          <a:xfrm>
            <a:off x="5120640" y="3611880"/>
            <a:ext cx="708660" cy="512064"/>
          </a:xfrm>
          <a:prstGeom prst="roundRect">
            <a:avLst>
              <a:gd name="adj" fmla="val 8929"/>
            </a:avLst>
          </a:prstGeom>
          <a:solidFill>
            <a:srgbClr val="27D3BE"/>
          </a:solidFill>
          <a:ln w="12700">
            <a:solidFill>
              <a:srgbClr val="27D3BE"/>
            </a:solidFill>
            <a:prstDash val="solid"/>
          </a:ln>
        </p:spPr>
      </p:sp>
      <p:sp>
        <p:nvSpPr>
          <p:cNvPr id="15" name="Text 13"/>
          <p:cNvSpPr/>
          <p:nvPr/>
        </p:nvSpPr>
        <p:spPr>
          <a:xfrm>
            <a:off x="5966460" y="3611880"/>
            <a:ext cx="822960" cy="512064"/>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4</a:t>
            </a:r>
            <a:endParaRPr lang="en-US" sz="2200" dirty="0"/>
          </a:p>
        </p:txBody>
      </p:sp>
      <p:sp>
        <p:nvSpPr>
          <p:cNvPr id="16" name="Text 14"/>
          <p:cNvSpPr/>
          <p:nvPr/>
        </p:nvSpPr>
        <p:spPr>
          <a:xfrm>
            <a:off x="594360" y="4251960"/>
            <a:ext cx="4389120" cy="512064"/>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Laboratorul a găsit microbul</a:t>
            </a:r>
            <a:endParaRPr lang="en-US" sz="1700" dirty="0"/>
          </a:p>
        </p:txBody>
      </p:sp>
      <p:sp>
        <p:nvSpPr>
          <p:cNvPr id="17" name="Shape 15"/>
          <p:cNvSpPr/>
          <p:nvPr/>
        </p:nvSpPr>
        <p:spPr>
          <a:xfrm>
            <a:off x="5120640" y="4251960"/>
            <a:ext cx="531495" cy="512064"/>
          </a:xfrm>
          <a:prstGeom prst="roundRect">
            <a:avLst>
              <a:gd name="adj" fmla="val 8929"/>
            </a:avLst>
          </a:prstGeom>
          <a:solidFill>
            <a:srgbClr val="9B7EF7"/>
          </a:solidFill>
          <a:ln w="12700">
            <a:solidFill>
              <a:srgbClr val="9B7EF7"/>
            </a:solidFill>
            <a:prstDash val="solid"/>
          </a:ln>
        </p:spPr>
      </p:sp>
      <p:sp>
        <p:nvSpPr>
          <p:cNvPr id="18" name="Text 16"/>
          <p:cNvSpPr/>
          <p:nvPr/>
        </p:nvSpPr>
        <p:spPr>
          <a:xfrm>
            <a:off x="5789295" y="4251960"/>
            <a:ext cx="822960" cy="512064"/>
          </a:xfrm>
          <a:prstGeom prst="rect">
            <a:avLst/>
          </a:prstGeom>
          <a:noFill/>
          <a:ln/>
        </p:spPr>
        <p:txBody>
          <a:bodyPr wrap="square" lIns="0" tIns="0" rIns="0" bIns="0" rtlCol="0" anchor="ctr"/>
          <a:lstStyle/>
          <a:p>
            <a:pPr indent="0" marL="0">
              <a:buNone/>
            </a:pPr>
            <a:r>
              <a:rPr lang="en-US" sz="2200" b="1" dirty="0">
                <a:solidFill>
                  <a:srgbClr val="9B7EF7"/>
                </a:solidFill>
                <a:latin typeface="Palatino Linotype" pitchFamily="34" charset="0"/>
                <a:ea typeface="Palatino Linotype" pitchFamily="34" charset="-122"/>
                <a:cs typeface="Palatino Linotype" pitchFamily="34" charset="-120"/>
              </a:rPr>
              <a:t>3</a:t>
            </a:r>
            <a:endParaRPr lang="en-US" sz="2200" dirty="0"/>
          </a:p>
        </p:txBody>
      </p:sp>
      <p:sp>
        <p:nvSpPr>
          <p:cNvPr id="19" name="Text 17"/>
          <p:cNvSpPr/>
          <p:nvPr/>
        </p:nvSpPr>
        <p:spPr>
          <a:xfrm>
            <a:off x="594360" y="4892040"/>
            <a:ext cx="4389120" cy="512064"/>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Au fost declarați autorității</a:t>
            </a:r>
            <a:endParaRPr lang="en-US" sz="1700" dirty="0"/>
          </a:p>
        </p:txBody>
      </p:sp>
      <p:sp>
        <p:nvSpPr>
          <p:cNvPr id="20" name="Shape 18"/>
          <p:cNvSpPr/>
          <p:nvPr/>
        </p:nvSpPr>
        <p:spPr>
          <a:xfrm>
            <a:off x="5120640" y="4892040"/>
            <a:ext cx="354330" cy="512064"/>
          </a:xfrm>
          <a:prstGeom prst="roundRect">
            <a:avLst>
              <a:gd name="adj" fmla="val 12903"/>
            </a:avLst>
          </a:prstGeom>
          <a:solidFill>
            <a:srgbClr val="FFFFFF"/>
          </a:solidFill>
          <a:ln w="12700">
            <a:solidFill>
              <a:srgbClr val="FFFFFF"/>
            </a:solidFill>
            <a:prstDash val="solid"/>
          </a:ln>
        </p:spPr>
      </p:sp>
      <p:sp>
        <p:nvSpPr>
          <p:cNvPr id="21" name="Text 19"/>
          <p:cNvSpPr/>
          <p:nvPr/>
        </p:nvSpPr>
        <p:spPr>
          <a:xfrm>
            <a:off x="5612130" y="4892040"/>
            <a:ext cx="822960" cy="512064"/>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2</a:t>
            </a:r>
            <a:endParaRPr lang="en-US" sz="2200" dirty="0"/>
          </a:p>
        </p:txBody>
      </p:sp>
      <p:sp>
        <p:nvSpPr>
          <p:cNvPr id="22" name="Text 20"/>
          <p:cNvSpPr/>
          <p:nvPr/>
        </p:nvSpPr>
        <p:spPr>
          <a:xfrm>
            <a:off x="594360" y="5577840"/>
            <a:ext cx="10972800" cy="64008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Câți ajung în cifra oficială? Unde se pierd cei mai mulți? Câți prin subdiagnosticare, câți prin subraportare?</a:t>
            </a:r>
            <a:endParaRPr lang="en-US" sz="1700" dirty="0"/>
          </a:p>
        </p:txBody>
      </p:sp>
      <p:sp>
        <p:nvSpPr>
          <p:cNvPr id="23" name="Text 21"/>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Valori ipotetice. Caz construit pentru exercițiu. Subdiagnosticare: bolnavul nu a fost diagnosticat. Subraportare: diagnosticat, dar nedeclarat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PASUL AL TREILEA · CÂT DE GRAVĂ PARE BOALA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Ați crede acest titlu?</a:t>
            </a:r>
            <a:endParaRPr lang="en-US" sz="3400" dirty="0"/>
          </a:p>
        </p:txBody>
      </p:sp>
      <p:sp>
        <p:nvSpPr>
          <p:cNvPr id="4" name="Shape 2"/>
          <p:cNvSpPr/>
          <p:nvPr/>
        </p:nvSpPr>
        <p:spPr>
          <a:xfrm>
            <a:off x="594360" y="1737360"/>
            <a:ext cx="6949440" cy="3931920"/>
          </a:xfrm>
          <a:prstGeom prst="roundRect">
            <a:avLst>
              <a:gd name="adj" fmla="val 2093"/>
            </a:avLst>
          </a:prstGeom>
          <a:solidFill>
            <a:srgbClr val="FBF8F1"/>
          </a:solidFill>
          <a:ln w="12700">
            <a:solidFill>
              <a:srgbClr val="FBF8F1"/>
            </a:solidFill>
            <a:prstDash val="solid"/>
          </a:ln>
        </p:spPr>
      </p:sp>
      <p:sp>
        <p:nvSpPr>
          <p:cNvPr id="5" name="Shape 3"/>
          <p:cNvSpPr/>
          <p:nvPr/>
        </p:nvSpPr>
        <p:spPr>
          <a:xfrm>
            <a:off x="594360" y="1737360"/>
            <a:ext cx="6949440" cy="54864"/>
          </a:xfrm>
          <a:prstGeom prst="rect">
            <a:avLst/>
          </a:prstGeom>
          <a:solidFill>
            <a:srgbClr val="11121A"/>
          </a:solidFill>
          <a:ln w="12700">
            <a:solidFill>
              <a:srgbClr val="11121A"/>
            </a:solidFill>
            <a:prstDash val="solid"/>
          </a:ln>
        </p:spPr>
      </p:sp>
      <p:sp>
        <p:nvSpPr>
          <p:cNvPr id="6" name="Text 4"/>
          <p:cNvSpPr/>
          <p:nvPr/>
        </p:nvSpPr>
        <p:spPr>
          <a:xfrm>
            <a:off x="868680" y="1965960"/>
            <a:ext cx="6400800" cy="320040"/>
          </a:xfrm>
          <a:prstGeom prst="rect">
            <a:avLst/>
          </a:prstGeom>
          <a:noFill/>
          <a:ln/>
        </p:spPr>
        <p:txBody>
          <a:bodyPr wrap="square" lIns="0" tIns="0" rIns="0" bIns="0" rtlCol="0" anchor="t"/>
          <a:lstStyle/>
          <a:p>
            <a:pPr indent="0" marL="0">
              <a:buNone/>
            </a:pPr>
            <a:r>
              <a:rPr lang="en-US" sz="1300" b="1" spc="400" kern="0" dirty="0">
                <a:solidFill>
                  <a:srgbClr val="585A64"/>
                </a:solidFill>
                <a:latin typeface="Palatino Linotype" pitchFamily="34" charset="0"/>
                <a:ea typeface="Palatino Linotype" pitchFamily="34" charset="-122"/>
                <a:cs typeface="Palatino Linotype" pitchFamily="34" charset="-120"/>
              </a:rPr>
              <a:t>ȘTIRI LOCALE</a:t>
            </a:r>
            <a:endParaRPr lang="en-US" sz="1300" dirty="0"/>
          </a:p>
        </p:txBody>
      </p:sp>
      <p:sp>
        <p:nvSpPr>
          <p:cNvPr id="7" name="Shape 5"/>
          <p:cNvSpPr/>
          <p:nvPr/>
        </p:nvSpPr>
        <p:spPr>
          <a:xfrm>
            <a:off x="868680" y="2331720"/>
            <a:ext cx="6400800" cy="13716"/>
          </a:xfrm>
          <a:prstGeom prst="rect">
            <a:avLst/>
          </a:prstGeom>
          <a:solidFill>
            <a:srgbClr val="C9C6BE"/>
          </a:solidFill>
          <a:ln w="12700">
            <a:solidFill>
              <a:srgbClr val="C9C6BE"/>
            </a:solidFill>
            <a:prstDash val="solid"/>
          </a:ln>
        </p:spPr>
      </p:sp>
      <p:sp>
        <p:nvSpPr>
          <p:cNvPr id="8" name="Text 6"/>
          <p:cNvSpPr/>
          <p:nvPr/>
        </p:nvSpPr>
        <p:spPr>
          <a:xfrm>
            <a:off x="868680" y="2514600"/>
            <a:ext cx="6400800" cy="155448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Focar în cămin: jumătate dintre bolnavi au ajuns la spital</a:t>
            </a:r>
            <a:endParaRPr lang="en-US" sz="3100" dirty="0"/>
          </a:p>
        </p:txBody>
      </p:sp>
      <p:sp>
        <p:nvSpPr>
          <p:cNvPr id="9" name="Shape 7"/>
          <p:cNvSpPr/>
          <p:nvPr/>
        </p:nvSpPr>
        <p:spPr>
          <a:xfrm>
            <a:off x="868680" y="4206240"/>
            <a:ext cx="6400800" cy="13716"/>
          </a:xfrm>
          <a:prstGeom prst="rect">
            <a:avLst/>
          </a:prstGeom>
          <a:solidFill>
            <a:srgbClr val="C9C6BE"/>
          </a:solidFill>
          <a:ln w="12700">
            <a:solidFill>
              <a:srgbClr val="C9C6BE"/>
            </a:solidFill>
            <a:prstDash val="solid"/>
          </a:ln>
        </p:spPr>
      </p:sp>
      <p:sp>
        <p:nvSpPr>
          <p:cNvPr id="10" name="Text 8"/>
          <p:cNvSpPr/>
          <p:nvPr/>
        </p:nvSpPr>
        <p:spPr>
          <a:xfrm>
            <a:off x="868680" y="4389120"/>
            <a:ext cx="6400800" cy="411480"/>
          </a:xfrm>
          <a:prstGeom prst="rect">
            <a:avLst/>
          </a:prstGeom>
          <a:noFill/>
          <a:ln/>
        </p:spPr>
        <p:txBody>
          <a:bodyPr wrap="square" lIns="0" tIns="0" rIns="0" bIns="0" rtlCol="0" anchor="t"/>
          <a:lstStyle/>
          <a:p>
            <a:pPr indent="0" marL="0">
              <a:buNone/>
            </a:pPr>
            <a:r>
              <a:rPr lang="en-US" sz="1700" i="1" dirty="0">
                <a:solidFill>
                  <a:srgbClr val="585A64"/>
                </a:solidFill>
                <a:latin typeface="Palatino Linotype" pitchFamily="34" charset="0"/>
                <a:ea typeface="Palatino Linotype" pitchFamily="34" charset="-122"/>
                <a:cs typeface="Palatino Linotype" pitchFamily="34" charset="-120"/>
              </a:rPr>
              <a:t>Datele oficiale: 2 cazuri declarate, 1 internat.</a:t>
            </a:r>
            <a:endParaRPr lang="en-US" sz="1700" dirty="0"/>
          </a:p>
        </p:txBody>
      </p:sp>
      <p:sp>
        <p:nvSpPr>
          <p:cNvPr id="11" name="Text 9"/>
          <p:cNvSpPr/>
          <p:nvPr/>
        </p:nvSpPr>
        <p:spPr>
          <a:xfrm>
            <a:off x="868680" y="5029200"/>
            <a:ext cx="6400800" cy="36576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Și titlul este construit pentru exercițiu.</a:t>
            </a:r>
            <a:endParaRPr lang="en-US" sz="1300" dirty="0"/>
          </a:p>
        </p:txBody>
      </p:sp>
      <p:sp>
        <p:nvSpPr>
          <p:cNvPr id="12" name="Shape 10"/>
          <p:cNvSpPr/>
          <p:nvPr/>
        </p:nvSpPr>
        <p:spPr>
          <a:xfrm>
            <a:off x="7909560" y="1737360"/>
            <a:ext cx="3657600" cy="3931920"/>
          </a:xfrm>
          <a:prstGeom prst="roundRect">
            <a:avLst>
              <a:gd name="adj" fmla="val 2250"/>
            </a:avLst>
          </a:prstGeom>
          <a:solidFill>
            <a:srgbClr val="ECEAE4"/>
          </a:solidFill>
          <a:ln w="12700">
            <a:solidFill>
              <a:srgbClr val="ECEAE4"/>
            </a:solidFill>
            <a:prstDash val="solid"/>
          </a:ln>
        </p:spPr>
      </p:sp>
      <p:sp>
        <p:nvSpPr>
          <p:cNvPr id="13" name="Text 11"/>
          <p:cNvSpPr/>
          <p:nvPr/>
        </p:nvSpPr>
        <p:spPr>
          <a:xfrm>
            <a:off x="8138160" y="1920240"/>
            <a:ext cx="3246120" cy="3566160"/>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Un singur bolnav a fost internat</a:t>
            </a:r>
            <a:endParaRPr lang="en-US" sz="1600" dirty="0"/>
          </a:p>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Colegul de la camera de gardă: perfuzii și o noapte în spital. Este unul dintre cei 2 bolnavi declarați.</a:t>
            </a:r>
            <a:endParaRPr lang="en-US" sz="1600" dirty="0"/>
          </a:p>
          <a:p>
            <a:pPr indent="0" marL="0">
              <a:buNone/>
            </a:pPr>
            <a:r>
              <a:rPr lang="en-US" sz="1600" dirty="0">
                <a:solidFill>
                  <a:srgbClr val="000000"/>
                </a:solidFill>
                <a:latin typeface="Palatino Linotype" pitchFamily="34" charset="0"/>
                <a:ea typeface="Palatino Linotype" pitchFamily="34" charset="-122"/>
                <a:cs typeface="Palatino Linotype" pitchFamily="34" charset="-120"/>
              </a:rPr>
              <a:t> </a:t>
            </a:r>
            <a:endParaRPr lang="en-US" sz="1600" dirty="0"/>
          </a:p>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Calculați: dintre toți bolnavii găsiți de anchetă, ce proporție a fost internată?</a:t>
            </a:r>
            <a:endParaRPr lang="en-US" sz="1600" dirty="0"/>
          </a:p>
        </p:txBody>
      </p:sp>
      <p:sp>
        <p:nvSpPr>
          <p:cNvPr id="14" name="Text 12"/>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Valori ipotetice. Caz construit pentru exercițiu</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REZULTATELE VOASTRE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DUPĂ FIECARE PAS</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ați răspuns în formular</a:t>
            </a:r>
            <a:endParaRPr lang="en-US" sz="3100" dirty="0"/>
          </a:p>
        </p:txBody>
      </p:sp>
      <p:sp>
        <p:nvSpPr>
          <p:cNvPr id="6" name="Shape 4"/>
          <p:cNvSpPr/>
          <p:nvPr/>
        </p:nvSpPr>
        <p:spPr>
          <a:xfrm>
            <a:off x="594360" y="1783080"/>
            <a:ext cx="3474720" cy="3566160"/>
          </a:xfrm>
          <a:prstGeom prst="roundRect">
            <a:avLst>
              <a:gd name="adj" fmla="val 2368"/>
            </a:avLst>
          </a:prstGeom>
          <a:solidFill>
            <a:srgbClr val="ECEAE4"/>
          </a:solidFill>
          <a:ln w="12700">
            <a:solidFill>
              <a:srgbClr val="ECEAE4"/>
            </a:solidFill>
            <a:prstDash val="solid"/>
          </a:ln>
        </p:spPr>
      </p:sp>
      <p:sp>
        <p:nvSpPr>
          <p:cNvPr id="7" name="Text 5"/>
          <p:cNvSpPr/>
          <p:nvPr/>
        </p:nvSpPr>
        <p:spPr>
          <a:xfrm>
            <a:off x="822960" y="1874520"/>
            <a:ext cx="301752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Cine este caz</a:t>
            </a:r>
            <a:endParaRPr lang="en-US" sz="1700" dirty="0"/>
          </a:p>
        </p:txBody>
      </p:sp>
      <p:sp>
        <p:nvSpPr>
          <p:cNvPr id="8" name="Text 6"/>
          <p:cNvSpPr/>
          <p:nvPr/>
        </p:nvSpPr>
        <p:spPr>
          <a:xfrm>
            <a:off x="822960" y="2651760"/>
            <a:ext cx="3017520" cy="246888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[distribuția răspunsurilor din Forms]</a:t>
            </a:r>
            <a:endParaRPr lang="en-US" sz="1300" dirty="0"/>
          </a:p>
        </p:txBody>
      </p:sp>
      <p:sp>
        <p:nvSpPr>
          <p:cNvPr id="9" name="Shape 7"/>
          <p:cNvSpPr/>
          <p:nvPr/>
        </p:nvSpPr>
        <p:spPr>
          <a:xfrm>
            <a:off x="4343400" y="1783080"/>
            <a:ext cx="3474720" cy="3566160"/>
          </a:xfrm>
          <a:prstGeom prst="roundRect">
            <a:avLst>
              <a:gd name="adj" fmla="val 2368"/>
            </a:avLst>
          </a:prstGeom>
          <a:solidFill>
            <a:srgbClr val="ECEAE4"/>
          </a:solidFill>
          <a:ln w="12700">
            <a:solidFill>
              <a:srgbClr val="ECEAE4"/>
            </a:solidFill>
            <a:prstDash val="solid"/>
          </a:ln>
        </p:spPr>
      </p:sp>
      <p:sp>
        <p:nvSpPr>
          <p:cNvPr id="10" name="Text 8"/>
          <p:cNvSpPr/>
          <p:nvPr/>
        </p:nvSpPr>
        <p:spPr>
          <a:xfrm>
            <a:off x="4572000" y="1874520"/>
            <a:ext cx="301752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De la bolnav la fișa de declarare</a:t>
            </a:r>
            <a:endParaRPr lang="en-US" sz="1700" dirty="0"/>
          </a:p>
        </p:txBody>
      </p:sp>
      <p:sp>
        <p:nvSpPr>
          <p:cNvPr id="11" name="Text 9"/>
          <p:cNvSpPr/>
          <p:nvPr/>
        </p:nvSpPr>
        <p:spPr>
          <a:xfrm>
            <a:off x="4572000" y="2651760"/>
            <a:ext cx="3017520" cy="246888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[distribuția răspunsurilor din Forms]</a:t>
            </a:r>
            <a:endParaRPr lang="en-US" sz="1300" dirty="0"/>
          </a:p>
        </p:txBody>
      </p:sp>
      <p:sp>
        <p:nvSpPr>
          <p:cNvPr id="12" name="Shape 10"/>
          <p:cNvSpPr/>
          <p:nvPr/>
        </p:nvSpPr>
        <p:spPr>
          <a:xfrm>
            <a:off x="8092440" y="1783080"/>
            <a:ext cx="3474720" cy="3566160"/>
          </a:xfrm>
          <a:prstGeom prst="roundRect">
            <a:avLst>
              <a:gd name="adj" fmla="val 2368"/>
            </a:avLst>
          </a:prstGeom>
          <a:solidFill>
            <a:srgbClr val="ECEAE4"/>
          </a:solidFill>
          <a:ln w="12700">
            <a:solidFill>
              <a:srgbClr val="ECEAE4"/>
            </a:solidFill>
            <a:prstDash val="solid"/>
          </a:ln>
        </p:spPr>
      </p:sp>
      <p:sp>
        <p:nvSpPr>
          <p:cNvPr id="13" name="Text 11"/>
          <p:cNvSpPr/>
          <p:nvPr/>
        </p:nvSpPr>
        <p:spPr>
          <a:xfrm>
            <a:off x="8321040" y="1874520"/>
            <a:ext cx="301752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Cât de gravă pare boala</a:t>
            </a:r>
            <a:endParaRPr lang="en-US" sz="1700" dirty="0"/>
          </a:p>
        </p:txBody>
      </p:sp>
      <p:sp>
        <p:nvSpPr>
          <p:cNvPr id="14" name="Text 12"/>
          <p:cNvSpPr/>
          <p:nvPr/>
        </p:nvSpPr>
        <p:spPr>
          <a:xfrm>
            <a:off x="8321040" y="2651760"/>
            <a:ext cx="3017520" cy="2468880"/>
          </a:xfrm>
          <a:prstGeom prst="rect">
            <a:avLst/>
          </a:prstGeom>
          <a:noFill/>
          <a:ln/>
        </p:spPr>
        <p:txBody>
          <a:bodyPr wrap="square" lIns="0" tIns="0" rIns="0" bIns="0" rtlCol="0" anchor="ctr"/>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[distribuția răspunsurilor din Forms]</a:t>
            </a:r>
            <a:endParaRPr lang="en-US" sz="1300" dirty="0"/>
          </a:p>
        </p:txBody>
      </p:sp>
      <p:sp>
        <p:nvSpPr>
          <p:cNvPr id="15" name="Text 13"/>
          <p:cNvSpPr/>
          <p:nvPr/>
        </p:nvSpPr>
        <p:spPr>
          <a:xfrm>
            <a:off x="594360" y="5532120"/>
            <a:ext cx="10972800" cy="45720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Unde s-a greșit cel mai des și de ce?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ÎNAPOI LA VOTUL DE DESCHIDERE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Probabil nu</a:t>
            </a:r>
            <a:endParaRPr lang="en-US" sz="4000" dirty="0"/>
          </a:p>
        </p:txBody>
      </p:sp>
      <p:sp>
        <p:nvSpPr>
          <p:cNvPr id="4" name="Shape 2"/>
          <p:cNvSpPr/>
          <p:nvPr/>
        </p:nvSpPr>
        <p:spPr>
          <a:xfrm>
            <a:off x="594360" y="1783080"/>
            <a:ext cx="5394960" cy="2103120"/>
          </a:xfrm>
          <a:prstGeom prst="roundRect">
            <a:avLst>
              <a:gd name="adj" fmla="val 3913"/>
            </a:avLst>
          </a:prstGeom>
          <a:solidFill>
            <a:srgbClr val="1D1F2B"/>
          </a:solidFill>
          <a:ln w="12700">
            <a:solidFill>
              <a:srgbClr val="1D1F2B"/>
            </a:solidFill>
            <a:prstDash val="solid"/>
          </a:ln>
        </p:spPr>
      </p:sp>
      <p:sp>
        <p:nvSpPr>
          <p:cNvPr id="5" name="Text 3"/>
          <p:cNvSpPr/>
          <p:nvPr/>
        </p:nvSpPr>
        <p:spPr>
          <a:xfrm>
            <a:off x="868680" y="1892808"/>
            <a:ext cx="4846320" cy="946404"/>
          </a:xfrm>
          <a:prstGeom prst="rect">
            <a:avLst/>
          </a:prstGeom>
          <a:noFill/>
          <a:ln/>
        </p:spPr>
        <p:txBody>
          <a:bodyPr wrap="square" lIns="0" tIns="0" rIns="0" bIns="0" rtlCol="0" anchor="ctr"/>
          <a:lstStyle/>
          <a:p>
            <a:pPr indent="0" marL="0">
              <a:buNone/>
            </a:pPr>
            <a:r>
              <a:rPr lang="en-US" sz="5200" b="1" dirty="0">
                <a:solidFill>
                  <a:srgbClr val="27D3BE"/>
                </a:solidFill>
                <a:latin typeface="Palatino Linotype" pitchFamily="34" charset="0"/>
                <a:ea typeface="Palatino Linotype" pitchFamily="34" charset="-122"/>
                <a:cs typeface="Palatino Linotype" pitchFamily="34" charset="-120"/>
              </a:rPr>
              <a:t>1 din 16</a:t>
            </a:r>
            <a:endParaRPr lang="en-US" sz="5200" dirty="0"/>
          </a:p>
        </p:txBody>
      </p:sp>
      <p:sp>
        <p:nvSpPr>
          <p:cNvPr id="6" name="Text 4"/>
          <p:cNvSpPr/>
          <p:nvPr/>
        </p:nvSpPr>
        <p:spPr>
          <a:xfrm>
            <a:off x="868680" y="2771546"/>
            <a:ext cx="4846320" cy="105156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șansa unui bolnav din cămin de a ajunge în cifra oficială</a:t>
            </a:r>
            <a:endParaRPr lang="en-US" sz="1500" dirty="0"/>
          </a:p>
        </p:txBody>
      </p:sp>
      <p:sp>
        <p:nvSpPr>
          <p:cNvPr id="7" name="Text 5"/>
          <p:cNvSpPr/>
          <p:nvPr/>
        </p:nvSpPr>
        <p:spPr>
          <a:xfrm>
            <a:off x="6309360" y="1828800"/>
            <a:ext cx="5257800" cy="219456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În cifra oficială au ajuns 2 bolnavi din 32. Ceilalți nu sunt o greșeală a cuiva: piramida filtrează firesc, iar la baza ei se pierd cei mai mulți.</a:t>
            </a:r>
            <a:endParaRPr lang="en-US" sz="1900" dirty="0"/>
          </a:p>
        </p:txBody>
      </p:sp>
      <p:sp>
        <p:nvSpPr>
          <p:cNvPr id="8" name="Text 6"/>
          <p:cNvSpPr/>
          <p:nvPr/>
        </p:nvSpPr>
        <p:spPr>
          <a:xfrm>
            <a:off x="594360" y="438912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Singura pierdere fără explicație clinică este fișa nedeclarată.</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PASUL ÎNTÂI · REZOLVAREA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Regula care poate fi aplicată: varianta (b)</a:t>
            </a:r>
            <a:endParaRPr lang="en-US" sz="3100" dirty="0"/>
          </a:p>
        </p:txBody>
      </p:sp>
      <p:sp>
        <p:nvSpPr>
          <p:cNvPr id="4" name="Shape 2"/>
          <p:cNvSpPr/>
          <p:nvPr/>
        </p:nvSpPr>
        <p:spPr>
          <a:xfrm>
            <a:off x="594360" y="1783080"/>
            <a:ext cx="3520440" cy="1920240"/>
          </a:xfrm>
          <a:prstGeom prst="roundRect">
            <a:avLst>
              <a:gd name="adj" fmla="val 4286"/>
            </a:avLst>
          </a:prstGeom>
          <a:solidFill>
            <a:srgbClr val="ECEAE4"/>
          </a:solidFill>
          <a:ln w="12700">
            <a:solidFill>
              <a:srgbClr val="ECEAE4"/>
            </a:solidFill>
            <a:prstDash val="solid"/>
          </a:ln>
        </p:spPr>
      </p:sp>
      <p:sp>
        <p:nvSpPr>
          <p:cNvPr id="5" name="Text 3"/>
          <p:cNvSpPr/>
          <p:nvPr/>
        </p:nvSpPr>
        <p:spPr>
          <a:xfrm>
            <a:off x="868680" y="1892808"/>
            <a:ext cx="2971800" cy="864108"/>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(b)</a:t>
            </a:r>
            <a:endParaRPr lang="en-US" sz="4400" dirty="0"/>
          </a:p>
        </p:txBody>
      </p:sp>
      <p:sp>
        <p:nvSpPr>
          <p:cNvPr id="6" name="Text 4"/>
          <p:cNvSpPr/>
          <p:nvPr/>
        </p:nvSpPr>
        <p:spPr>
          <a:xfrm>
            <a:off x="868680" y="2685593"/>
            <a:ext cx="2971800" cy="96012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semnele, locul, timpul și persoana; fără alimentul bănuit</a:t>
            </a:r>
            <a:endParaRPr lang="en-US" sz="1500" dirty="0"/>
          </a:p>
        </p:txBody>
      </p:sp>
      <p:sp>
        <p:nvSpPr>
          <p:cNvPr id="7" name="Shape 5"/>
          <p:cNvSpPr/>
          <p:nvPr/>
        </p:nvSpPr>
        <p:spPr>
          <a:xfrm>
            <a:off x="4325112" y="1783080"/>
            <a:ext cx="3520440" cy="1920240"/>
          </a:xfrm>
          <a:prstGeom prst="roundRect">
            <a:avLst>
              <a:gd name="adj" fmla="val 4286"/>
            </a:avLst>
          </a:prstGeom>
          <a:solidFill>
            <a:srgbClr val="ECEAE4"/>
          </a:solidFill>
          <a:ln w="12700">
            <a:solidFill>
              <a:srgbClr val="ECEAE4"/>
            </a:solidFill>
            <a:prstDash val="solid"/>
          </a:ln>
        </p:spPr>
      </p:sp>
      <p:sp>
        <p:nvSpPr>
          <p:cNvPr id="8" name="Text 6"/>
          <p:cNvSpPr/>
          <p:nvPr/>
        </p:nvSpPr>
        <p:spPr>
          <a:xfrm>
            <a:off x="4599432" y="1892808"/>
            <a:ext cx="2971800" cy="864108"/>
          </a:xfrm>
          <a:prstGeom prst="rect">
            <a:avLst/>
          </a:prstGeom>
          <a:noFill/>
          <a:ln/>
        </p:spPr>
        <p:txBody>
          <a:bodyPr wrap="square" lIns="0" tIns="0" rIns="0" bIns="0" rtlCol="0" anchor="ctr"/>
          <a:lstStyle/>
          <a:p>
            <a:pPr indent="0" marL="0">
              <a:buNone/>
            </a:pPr>
            <a:r>
              <a:rPr lang="en-US" sz="4000" b="1" dirty="0">
                <a:solidFill>
                  <a:srgbClr val="0E7C6B"/>
                </a:solidFill>
                <a:latin typeface="Palatino Linotype" pitchFamily="34" charset="0"/>
                <a:ea typeface="Palatino Linotype" pitchFamily="34" charset="-122"/>
                <a:cs typeface="Palatino Linotype" pitchFamily="34" charset="-120"/>
              </a:rPr>
              <a:t>32 din 54</a:t>
            </a:r>
            <a:endParaRPr lang="en-US" sz="4000" dirty="0"/>
          </a:p>
        </p:txBody>
      </p:sp>
      <p:sp>
        <p:nvSpPr>
          <p:cNvPr id="9" name="Text 7"/>
          <p:cNvSpPr/>
          <p:nvPr/>
        </p:nvSpPr>
        <p:spPr>
          <a:xfrm>
            <a:off x="4599432" y="2685593"/>
            <a:ext cx="2971800" cy="96012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respondenți intră în număr după această regulă</a:t>
            </a:r>
            <a:endParaRPr lang="en-US" sz="1500" dirty="0"/>
          </a:p>
        </p:txBody>
      </p:sp>
      <p:sp>
        <p:nvSpPr>
          <p:cNvPr id="10" name="Shape 8"/>
          <p:cNvSpPr/>
          <p:nvPr/>
        </p:nvSpPr>
        <p:spPr>
          <a:xfrm>
            <a:off x="8055864" y="1783080"/>
            <a:ext cx="3520440" cy="1920240"/>
          </a:xfrm>
          <a:prstGeom prst="roundRect">
            <a:avLst>
              <a:gd name="adj" fmla="val 4286"/>
            </a:avLst>
          </a:prstGeom>
          <a:solidFill>
            <a:srgbClr val="ECEAE4"/>
          </a:solidFill>
          <a:ln w="12700">
            <a:solidFill>
              <a:srgbClr val="ECEAE4"/>
            </a:solidFill>
            <a:prstDash val="solid"/>
          </a:ln>
        </p:spPr>
      </p:sp>
      <p:sp>
        <p:nvSpPr>
          <p:cNvPr id="11" name="Text 9"/>
          <p:cNvSpPr/>
          <p:nvPr/>
        </p:nvSpPr>
        <p:spPr>
          <a:xfrm>
            <a:off x="8330184" y="1892808"/>
            <a:ext cx="2971800" cy="864108"/>
          </a:xfrm>
          <a:prstGeom prst="rect">
            <a:avLst/>
          </a:prstGeom>
          <a:noFill/>
          <a:ln/>
        </p:spPr>
        <p:txBody>
          <a:bodyPr wrap="square" lIns="0" tIns="0" rIns="0" bIns="0" rtlCol="0" anchor="ctr"/>
          <a:lstStyle/>
          <a:p>
            <a:pPr indent="0" marL="0">
              <a:buNone/>
            </a:pPr>
            <a:r>
              <a:rPr lang="en-US" sz="4000" b="1" dirty="0">
                <a:solidFill>
                  <a:srgbClr val="4A2D8C"/>
                </a:solidFill>
                <a:latin typeface="Palatino Linotype" pitchFamily="34" charset="0"/>
                <a:ea typeface="Palatino Linotype" pitchFamily="34" charset="-122"/>
                <a:cs typeface="Palatino Linotype" pitchFamily="34" charset="-120"/>
              </a:rPr>
              <a:t>6 din 10</a:t>
            </a:r>
            <a:endParaRPr lang="en-US" sz="4000" dirty="0"/>
          </a:p>
        </p:txBody>
      </p:sp>
      <p:sp>
        <p:nvSpPr>
          <p:cNvPr id="12" name="Text 10"/>
          <p:cNvSpPr/>
          <p:nvPr/>
        </p:nvSpPr>
        <p:spPr>
          <a:xfrm>
            <a:off x="8330184" y="2685593"/>
            <a:ext cx="2971800" cy="960120"/>
          </a:xfrm>
          <a:prstGeom prst="rect">
            <a:avLst/>
          </a:prstGeom>
          <a:noFill/>
          <a:ln/>
        </p:spPr>
        <p:txBody>
          <a:bodyPr wrap="square" lIns="0" tIns="0" rIns="0" bIns="0" rtlCol="0" anchor="t"/>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rata de atac la respondenți: din câți au răspuns, câți s-au îmbolnăvit</a:t>
            </a:r>
            <a:endParaRPr lang="en-US" sz="1500" dirty="0"/>
          </a:p>
        </p:txBody>
      </p:sp>
      <p:sp>
        <p:nvSpPr>
          <p:cNvPr id="13" name="Text 11"/>
          <p:cNvSpPr/>
          <p:nvPr/>
        </p:nvSpPr>
        <p:spPr>
          <a:xfrm>
            <a:off x="594360" y="4023360"/>
            <a:ext cx="10972800" cy="10058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Varianta (a) ar număra numai vârful piramidei, pentru că probă au dat doar câțiva bolnavi. Dintre cei 32, 3 au o probă pozitivă (cazuri confirmate); ceilalți sunt cazuri probabile, fără confirmare de laborator.</a:t>
            </a:r>
            <a:endParaRPr lang="en-US" sz="1800" dirty="0"/>
          </a:p>
        </p:txBody>
      </p:sp>
      <p:sp>
        <p:nvSpPr>
          <p:cNvPr id="14" name="Text 12"/>
          <p:cNvSpPr/>
          <p:nvPr/>
        </p:nvSpPr>
        <p:spPr>
          <a:xfrm>
            <a:off x="594360" y="5166360"/>
            <a:ext cx="10972800" cy="457200"/>
          </a:xfrm>
          <a:prstGeom prst="rect">
            <a:avLst/>
          </a:prstGeom>
          <a:noFill/>
          <a:ln/>
        </p:spPr>
        <p:txBody>
          <a:bodyPr wrap="square" lIns="0" tIns="0" rIns="0" bIns="0" rtlCol="0" anchor="t"/>
          <a:lstStyle/>
          <a:p>
            <a:pPr indent="0" marL="0">
              <a:buNone/>
            </a:pPr>
            <a:r>
              <a:rPr lang="en-US" sz="1700" i="1" dirty="0">
                <a:solidFill>
                  <a:srgbClr val="0E7C6B"/>
                </a:solidFill>
                <a:latin typeface="Palatino Linotype" pitchFamily="34" charset="0"/>
                <a:ea typeface="Palatino Linotype" pitchFamily="34" charset="-122"/>
                <a:cs typeface="Palatino Linotype" pitchFamily="34" charset="-120"/>
              </a:rPr>
              <a:t>Rata de atac este calculată numai pe cei care au răspuns; 6 participanți nu au răspuns.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PASUL AL DOILEA · REZOLVAREA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Aproape toți s-au pierdut la bază</a:t>
            </a:r>
            <a:endParaRPr lang="en-US" sz="3200" dirty="0"/>
          </a:p>
        </p:txBody>
      </p:sp>
      <p:sp>
        <p:nvSpPr>
          <p:cNvPr id="4" name="Text 2"/>
          <p:cNvSpPr/>
          <p:nvPr/>
        </p:nvSpPr>
        <p:spPr>
          <a:xfrm>
            <a:off x="594360" y="1691640"/>
            <a:ext cx="4389120" cy="548640"/>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Nu au vorbit cu niciun medic</a:t>
            </a:r>
            <a:endParaRPr lang="en-US" sz="1700" dirty="0"/>
          </a:p>
        </p:txBody>
      </p:sp>
      <p:sp>
        <p:nvSpPr>
          <p:cNvPr id="5" name="Shape 3"/>
          <p:cNvSpPr/>
          <p:nvPr/>
        </p:nvSpPr>
        <p:spPr>
          <a:xfrm>
            <a:off x="5120640" y="1691640"/>
            <a:ext cx="3474720" cy="548640"/>
          </a:xfrm>
          <a:prstGeom prst="roundRect">
            <a:avLst>
              <a:gd name="adj" fmla="val 8333"/>
            </a:avLst>
          </a:prstGeom>
          <a:solidFill>
            <a:srgbClr val="FF4757"/>
          </a:solidFill>
          <a:ln w="12700">
            <a:solidFill>
              <a:srgbClr val="FF4757"/>
            </a:solidFill>
            <a:prstDash val="solid"/>
          </a:ln>
        </p:spPr>
      </p:sp>
      <p:sp>
        <p:nvSpPr>
          <p:cNvPr id="6" name="Text 4"/>
          <p:cNvSpPr/>
          <p:nvPr/>
        </p:nvSpPr>
        <p:spPr>
          <a:xfrm>
            <a:off x="8732520" y="1691640"/>
            <a:ext cx="2834640" cy="548640"/>
          </a:xfrm>
          <a:prstGeom prst="rect">
            <a:avLst/>
          </a:prstGeom>
          <a:noFill/>
          <a:ln/>
        </p:spPr>
        <p:txBody>
          <a:bodyPr wrap="square" lIns="0" tIns="0" rIns="0" bIns="0" rtlCol="0" anchor="ctr"/>
          <a:lstStyle/>
          <a:p>
            <a:pPr indent="0" marL="0">
              <a:buNone/>
            </a:pPr>
            <a:r>
              <a:rPr lang="en-US" sz="1700" b="1" i="1" dirty="0">
                <a:solidFill>
                  <a:srgbClr val="FF4757"/>
                </a:solidFill>
                <a:latin typeface="Palatino Linotype" pitchFamily="34" charset="0"/>
                <a:ea typeface="Palatino Linotype" pitchFamily="34" charset="-122"/>
                <a:cs typeface="Palatino Linotype" pitchFamily="34" charset="-120"/>
              </a:rPr>
              <a:t>cea mai mare pierdere</a:t>
            </a:r>
            <a:endParaRPr lang="en-US" sz="1700" dirty="0"/>
          </a:p>
        </p:txBody>
      </p:sp>
      <p:sp>
        <p:nvSpPr>
          <p:cNvPr id="7" name="Text 5"/>
          <p:cNvSpPr/>
          <p:nvPr/>
        </p:nvSpPr>
        <p:spPr>
          <a:xfrm>
            <a:off x="594360" y="2404872"/>
            <a:ext cx="4389120" cy="548640"/>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Medic, dar fără probă cerută</a:t>
            </a:r>
            <a:endParaRPr lang="en-US" sz="1700" dirty="0"/>
          </a:p>
        </p:txBody>
      </p:sp>
      <p:sp>
        <p:nvSpPr>
          <p:cNvPr id="8" name="Shape 6"/>
          <p:cNvSpPr/>
          <p:nvPr/>
        </p:nvSpPr>
        <p:spPr>
          <a:xfrm>
            <a:off x="5120640" y="2404872"/>
            <a:ext cx="789709" cy="548640"/>
          </a:xfrm>
          <a:prstGeom prst="roundRect">
            <a:avLst>
              <a:gd name="adj" fmla="val 8333"/>
            </a:avLst>
          </a:prstGeom>
          <a:solidFill>
            <a:srgbClr val="FF8A3D"/>
          </a:solidFill>
          <a:ln w="12700">
            <a:solidFill>
              <a:srgbClr val="FF8A3D"/>
            </a:solidFill>
            <a:prstDash val="solid"/>
          </a:ln>
        </p:spPr>
      </p:sp>
      <p:sp>
        <p:nvSpPr>
          <p:cNvPr id="9" name="Text 7"/>
          <p:cNvSpPr/>
          <p:nvPr/>
        </p:nvSpPr>
        <p:spPr>
          <a:xfrm>
            <a:off x="6047509" y="2404872"/>
            <a:ext cx="822960" cy="548640"/>
          </a:xfrm>
          <a:prstGeom prst="rect">
            <a:avLst/>
          </a:prstGeom>
          <a:noFill/>
          <a:ln/>
        </p:spPr>
        <p:txBody>
          <a:bodyPr wrap="square" lIns="0" tIns="0" rIns="0" bIns="0" rtlCol="0" anchor="ctr"/>
          <a:lstStyle/>
          <a:p>
            <a:pPr indent="0" marL="0">
              <a:buNone/>
            </a:pPr>
            <a:r>
              <a:rPr lang="en-US" sz="2200" b="1" dirty="0">
                <a:solidFill>
                  <a:srgbClr val="FF8A3D"/>
                </a:solidFill>
                <a:latin typeface="Palatino Linotype" pitchFamily="34" charset="0"/>
                <a:ea typeface="Palatino Linotype" pitchFamily="34" charset="-122"/>
                <a:cs typeface="Palatino Linotype" pitchFamily="34" charset="-120"/>
              </a:rPr>
              <a:t>5</a:t>
            </a:r>
            <a:endParaRPr lang="en-US" sz="2200" dirty="0"/>
          </a:p>
        </p:txBody>
      </p:sp>
      <p:sp>
        <p:nvSpPr>
          <p:cNvPr id="10" name="Text 8"/>
          <p:cNvSpPr/>
          <p:nvPr/>
        </p:nvSpPr>
        <p:spPr>
          <a:xfrm>
            <a:off x="594360" y="3118104"/>
            <a:ext cx="4389120" cy="548640"/>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Probă cerută, dar neadusă</a:t>
            </a:r>
            <a:endParaRPr lang="en-US" sz="1700" dirty="0"/>
          </a:p>
        </p:txBody>
      </p:sp>
      <p:sp>
        <p:nvSpPr>
          <p:cNvPr id="11" name="Shape 9"/>
          <p:cNvSpPr/>
          <p:nvPr/>
        </p:nvSpPr>
        <p:spPr>
          <a:xfrm>
            <a:off x="5120640" y="3118104"/>
            <a:ext cx="274320" cy="548640"/>
          </a:xfrm>
          <a:prstGeom prst="roundRect">
            <a:avLst>
              <a:gd name="adj" fmla="val 16667"/>
            </a:avLst>
          </a:prstGeom>
          <a:solidFill>
            <a:srgbClr val="FFC24B"/>
          </a:solidFill>
          <a:ln w="12700">
            <a:solidFill>
              <a:srgbClr val="FFC24B"/>
            </a:solidFill>
            <a:prstDash val="solid"/>
          </a:ln>
        </p:spPr>
      </p:sp>
      <p:sp>
        <p:nvSpPr>
          <p:cNvPr id="12" name="Text 10"/>
          <p:cNvSpPr/>
          <p:nvPr/>
        </p:nvSpPr>
        <p:spPr>
          <a:xfrm>
            <a:off x="5532120" y="3118104"/>
            <a:ext cx="822960" cy="548640"/>
          </a:xfrm>
          <a:prstGeom prst="rect">
            <a:avLst/>
          </a:prstGeom>
          <a:noFill/>
          <a:ln/>
        </p:spPr>
        <p:txBody>
          <a:bodyPr wrap="square" lIns="0" tIns="0" rIns="0" bIns="0" rtlCol="0" anchor="ctr"/>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1</a:t>
            </a:r>
            <a:endParaRPr lang="en-US" sz="2200" dirty="0"/>
          </a:p>
        </p:txBody>
      </p:sp>
      <p:sp>
        <p:nvSpPr>
          <p:cNvPr id="13" name="Text 11"/>
          <p:cNvSpPr/>
          <p:nvPr/>
        </p:nvSpPr>
        <p:spPr>
          <a:xfrm>
            <a:off x="594360" y="3831336"/>
            <a:ext cx="4389120" cy="548640"/>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Probă adusă, microbul negăsit</a:t>
            </a:r>
            <a:endParaRPr lang="en-US" sz="1700" dirty="0"/>
          </a:p>
        </p:txBody>
      </p:sp>
      <p:sp>
        <p:nvSpPr>
          <p:cNvPr id="14" name="Shape 12"/>
          <p:cNvSpPr/>
          <p:nvPr/>
        </p:nvSpPr>
        <p:spPr>
          <a:xfrm>
            <a:off x="5120640" y="3831336"/>
            <a:ext cx="274320" cy="548640"/>
          </a:xfrm>
          <a:prstGeom prst="roundRect">
            <a:avLst>
              <a:gd name="adj" fmla="val 16667"/>
            </a:avLst>
          </a:prstGeom>
          <a:solidFill>
            <a:srgbClr val="27D3BE"/>
          </a:solidFill>
          <a:ln w="12700">
            <a:solidFill>
              <a:srgbClr val="27D3BE"/>
            </a:solidFill>
            <a:prstDash val="solid"/>
          </a:ln>
        </p:spPr>
      </p:sp>
      <p:sp>
        <p:nvSpPr>
          <p:cNvPr id="15" name="Text 13"/>
          <p:cNvSpPr/>
          <p:nvPr/>
        </p:nvSpPr>
        <p:spPr>
          <a:xfrm>
            <a:off x="5532120" y="3831336"/>
            <a:ext cx="822960" cy="548640"/>
          </a:xfrm>
          <a:prstGeom prst="rect">
            <a:avLst/>
          </a:prstGeom>
          <a:noFill/>
          <a:ln/>
        </p:spPr>
        <p:txBody>
          <a:bodyPr wrap="square" lIns="0" tIns="0" rIns="0" bIns="0" rtlCol="0" anchor="ctr"/>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1</a:t>
            </a:r>
            <a:endParaRPr lang="en-US" sz="2200" dirty="0"/>
          </a:p>
        </p:txBody>
      </p:sp>
      <p:sp>
        <p:nvSpPr>
          <p:cNvPr id="16" name="Text 14"/>
          <p:cNvSpPr/>
          <p:nvPr/>
        </p:nvSpPr>
        <p:spPr>
          <a:xfrm>
            <a:off x="594360" y="4544568"/>
            <a:ext cx="4389120" cy="548640"/>
          </a:xfrm>
          <a:prstGeom prst="rect">
            <a:avLst/>
          </a:prstGeom>
          <a:noFill/>
          <a:ln/>
        </p:spPr>
        <p:txBody>
          <a:bodyPr wrap="square" lIns="0" tIns="0" rIns="0" bIns="0" rtlCol="0" anchor="ctr"/>
          <a:lstStyle/>
          <a:p>
            <a:pPr algn="r" indent="0" marL="0">
              <a:buNone/>
            </a:pPr>
            <a:r>
              <a:rPr lang="en-US" sz="1700" dirty="0">
                <a:solidFill>
                  <a:srgbClr val="FFFFFF"/>
                </a:solidFill>
                <a:latin typeface="Palatino Linotype" pitchFamily="34" charset="0"/>
                <a:ea typeface="Palatino Linotype" pitchFamily="34" charset="-122"/>
                <a:cs typeface="Palatino Linotype" pitchFamily="34" charset="-120"/>
              </a:rPr>
              <a:t>Rezultat pozitiv, dar nedeclarat</a:t>
            </a:r>
            <a:endParaRPr lang="en-US" sz="1700" dirty="0"/>
          </a:p>
        </p:txBody>
      </p:sp>
      <p:sp>
        <p:nvSpPr>
          <p:cNvPr id="17" name="Shape 15"/>
          <p:cNvSpPr/>
          <p:nvPr/>
        </p:nvSpPr>
        <p:spPr>
          <a:xfrm>
            <a:off x="5120640" y="4544568"/>
            <a:ext cx="274320" cy="548640"/>
          </a:xfrm>
          <a:prstGeom prst="roundRect">
            <a:avLst>
              <a:gd name="adj" fmla="val 16667"/>
            </a:avLst>
          </a:prstGeom>
          <a:solidFill>
            <a:srgbClr val="9B7EF7"/>
          </a:solidFill>
          <a:ln w="12700">
            <a:solidFill>
              <a:srgbClr val="9B7EF7"/>
            </a:solidFill>
            <a:prstDash val="solid"/>
          </a:ln>
        </p:spPr>
      </p:sp>
      <p:sp>
        <p:nvSpPr>
          <p:cNvPr id="18" name="Text 16"/>
          <p:cNvSpPr/>
          <p:nvPr/>
        </p:nvSpPr>
        <p:spPr>
          <a:xfrm>
            <a:off x="5532120" y="4544568"/>
            <a:ext cx="822960" cy="548640"/>
          </a:xfrm>
          <a:prstGeom prst="rect">
            <a:avLst/>
          </a:prstGeom>
          <a:noFill/>
          <a:ln/>
        </p:spPr>
        <p:txBody>
          <a:bodyPr wrap="square" lIns="0" tIns="0" rIns="0" bIns="0" rtlCol="0" anchor="ctr"/>
          <a:lstStyle/>
          <a:p>
            <a:pPr indent="0" marL="0">
              <a:buNone/>
            </a:pPr>
            <a:r>
              <a:rPr lang="en-US" sz="2200" b="1" dirty="0">
                <a:solidFill>
                  <a:srgbClr val="9B7EF7"/>
                </a:solidFill>
                <a:latin typeface="Palatino Linotype" pitchFamily="34" charset="0"/>
                <a:ea typeface="Palatino Linotype" pitchFamily="34" charset="-122"/>
                <a:cs typeface="Palatino Linotype" pitchFamily="34" charset="-120"/>
              </a:rPr>
              <a:t>1</a:t>
            </a:r>
            <a:endParaRPr lang="en-US" sz="2200" dirty="0"/>
          </a:p>
        </p:txBody>
      </p:sp>
      <p:sp>
        <p:nvSpPr>
          <p:cNvPr id="19" name="Text 17"/>
          <p:cNvSpPr/>
          <p:nvPr/>
        </p:nvSpPr>
        <p:spPr>
          <a:xfrm>
            <a:off x="594360" y="5349240"/>
            <a:ext cx="10972800" cy="8686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Primele patru trepte: pierdere prin subdiagnosticare. </a:t>
            </a:r>
            <a:pPr indent="0" marL="0">
              <a:buNone/>
            </a:pPr>
            <a:r>
              <a:rPr lang="en-US" sz="1700" dirty="0">
                <a:solidFill>
                  <a:srgbClr val="FFFFFF"/>
                </a:solidFill>
                <a:latin typeface="Palatino Linotype" pitchFamily="34" charset="0"/>
                <a:ea typeface="Palatino Linotype" pitchFamily="34" charset="-122"/>
                <a:cs typeface="Palatino Linotype" pitchFamily="34" charset="-120"/>
              </a:rPr>
              <a:t>Ultima: pierdere prin subraportare.</a:t>
            </a:r>
            <a:endParaRPr lang="en-US" sz="1700" dirty="0"/>
          </a:p>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Din 32 de bolnavi, 2 au ajuns în cifra oficială.</a:t>
            </a:r>
            <a:endParaRPr lang="en-US" sz="1700" dirty="0"/>
          </a:p>
        </p:txBody>
      </p:sp>
      <p:sp>
        <p:nvSpPr>
          <p:cNvPr id="20" name="Text 18"/>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Valori ipotetice. Caz construit pentru exercițiu</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PASUL AL TREILEA · REZOLVAREA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Același internat, alt numitor</a:t>
            </a:r>
            <a:endParaRPr lang="en-US" sz="3400" dirty="0"/>
          </a:p>
        </p:txBody>
      </p:sp>
      <p:sp>
        <p:nvSpPr>
          <p:cNvPr id="4" name="Shape 2"/>
          <p:cNvSpPr/>
          <p:nvPr/>
        </p:nvSpPr>
        <p:spPr>
          <a:xfrm>
            <a:off x="594360" y="1737360"/>
            <a:ext cx="5394960" cy="3017520"/>
          </a:xfrm>
          <a:prstGeom prst="roundRect">
            <a:avLst>
              <a:gd name="adj" fmla="val 2727"/>
            </a:avLst>
          </a:prstGeom>
          <a:solidFill>
            <a:srgbClr val="ECEAE4"/>
          </a:solidFill>
          <a:ln w="12700">
            <a:solidFill>
              <a:srgbClr val="ECEAE4"/>
            </a:solidFill>
            <a:prstDash val="solid"/>
          </a:ln>
        </p:spPr>
      </p:sp>
      <p:sp>
        <p:nvSpPr>
          <p:cNvPr id="5" name="Text 3"/>
          <p:cNvSpPr/>
          <p:nvPr/>
        </p:nvSpPr>
        <p:spPr>
          <a:xfrm>
            <a:off x="868680" y="1828800"/>
            <a:ext cx="4846320" cy="3657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Titlul</a:t>
            </a:r>
            <a:endParaRPr lang="en-US" sz="1600" dirty="0"/>
          </a:p>
        </p:txBody>
      </p:sp>
      <p:sp>
        <p:nvSpPr>
          <p:cNvPr id="6" name="Shape 4"/>
          <p:cNvSpPr/>
          <p:nvPr/>
        </p:nvSpPr>
        <p:spPr>
          <a:xfrm>
            <a:off x="1097280" y="2423160"/>
            <a:ext cx="868680" cy="868680"/>
          </a:xfrm>
          <a:prstGeom prst="ellipse">
            <a:avLst/>
          </a:prstGeom>
          <a:solidFill>
            <a:srgbClr val="B02532"/>
          </a:solidFill>
          <a:ln w="12700">
            <a:solidFill>
              <a:srgbClr val="B02532"/>
            </a:solidFill>
            <a:prstDash val="solid"/>
          </a:ln>
        </p:spPr>
      </p:sp>
      <p:sp>
        <p:nvSpPr>
          <p:cNvPr id="7" name="Shape 5"/>
          <p:cNvSpPr/>
          <p:nvPr/>
        </p:nvSpPr>
        <p:spPr>
          <a:xfrm>
            <a:off x="2148840" y="2423160"/>
            <a:ext cx="868680" cy="868680"/>
          </a:xfrm>
          <a:prstGeom prst="ellipse">
            <a:avLst/>
          </a:prstGeom>
          <a:solidFill>
            <a:srgbClr val="C9C6BE"/>
          </a:solidFill>
          <a:ln w="12700">
            <a:solidFill>
              <a:srgbClr val="C9C6BE"/>
            </a:solidFill>
            <a:prstDash val="solid"/>
          </a:ln>
        </p:spPr>
      </p:sp>
      <p:sp>
        <p:nvSpPr>
          <p:cNvPr id="8" name="Text 6"/>
          <p:cNvSpPr/>
          <p:nvPr/>
        </p:nvSpPr>
        <p:spPr>
          <a:xfrm>
            <a:off x="3383280" y="2331720"/>
            <a:ext cx="2468880" cy="1005840"/>
          </a:xfrm>
          <a:prstGeom prst="rect">
            <a:avLst/>
          </a:prstGeom>
          <a:noFill/>
          <a:ln/>
        </p:spPr>
        <p:txBody>
          <a:bodyPr wrap="square" lIns="0" tIns="0" rIns="0" bIns="0" rtlCol="0" anchor="ctr"/>
          <a:lstStyle/>
          <a:p>
            <a:pPr indent="0" marL="0">
              <a:buNone/>
            </a:pPr>
            <a:r>
              <a:rPr lang="en-US" sz="4000" b="1" dirty="0">
                <a:solidFill>
                  <a:srgbClr val="B02532"/>
                </a:solidFill>
                <a:latin typeface="Palatino Linotype" pitchFamily="34" charset="0"/>
                <a:ea typeface="Palatino Linotype" pitchFamily="34" charset="-122"/>
                <a:cs typeface="Palatino Linotype" pitchFamily="34" charset="-120"/>
              </a:rPr>
              <a:t>1 din 2</a:t>
            </a:r>
            <a:endParaRPr lang="en-US" sz="4000" dirty="0"/>
          </a:p>
        </p:txBody>
      </p:sp>
      <p:sp>
        <p:nvSpPr>
          <p:cNvPr id="9" name="Text 7"/>
          <p:cNvSpPr/>
          <p:nvPr/>
        </p:nvSpPr>
        <p:spPr>
          <a:xfrm>
            <a:off x="868680" y="3749040"/>
            <a:ext cx="4846320" cy="8229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1 internat la 2 cazuri declarate: jumătate</a:t>
            </a:r>
            <a:endParaRPr lang="en-US" sz="1700" dirty="0"/>
          </a:p>
        </p:txBody>
      </p:sp>
      <p:sp>
        <p:nvSpPr>
          <p:cNvPr id="10" name="Shape 8"/>
          <p:cNvSpPr/>
          <p:nvPr/>
        </p:nvSpPr>
        <p:spPr>
          <a:xfrm>
            <a:off x="6172200" y="1737360"/>
            <a:ext cx="5394960" cy="3017520"/>
          </a:xfrm>
          <a:prstGeom prst="roundRect">
            <a:avLst>
              <a:gd name="adj" fmla="val 2727"/>
            </a:avLst>
          </a:prstGeom>
          <a:solidFill>
            <a:srgbClr val="ECEAE4"/>
          </a:solidFill>
          <a:ln w="12700">
            <a:solidFill>
              <a:srgbClr val="ECEAE4"/>
            </a:solidFill>
            <a:prstDash val="solid"/>
          </a:ln>
        </p:spPr>
      </p:sp>
      <p:sp>
        <p:nvSpPr>
          <p:cNvPr id="11" name="Text 9"/>
          <p:cNvSpPr/>
          <p:nvPr/>
        </p:nvSpPr>
        <p:spPr>
          <a:xfrm>
            <a:off x="6446520" y="1828800"/>
            <a:ext cx="4846320" cy="36576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Ancheta</a:t>
            </a:r>
            <a:endParaRPr lang="en-US" sz="1600" dirty="0"/>
          </a:p>
        </p:txBody>
      </p:sp>
      <p:sp>
        <p:nvSpPr>
          <p:cNvPr id="12" name="Shape 10"/>
          <p:cNvSpPr/>
          <p:nvPr/>
        </p:nvSpPr>
        <p:spPr>
          <a:xfrm>
            <a:off x="6446520" y="2331720"/>
            <a:ext cx="301752" cy="301752"/>
          </a:xfrm>
          <a:prstGeom prst="ellipse">
            <a:avLst/>
          </a:prstGeom>
          <a:solidFill>
            <a:srgbClr val="0E7C6B"/>
          </a:solidFill>
          <a:ln w="12700">
            <a:solidFill>
              <a:srgbClr val="0E7C6B"/>
            </a:solidFill>
            <a:prstDash val="solid"/>
          </a:ln>
        </p:spPr>
      </p:sp>
      <p:sp>
        <p:nvSpPr>
          <p:cNvPr id="13" name="Shape 11"/>
          <p:cNvSpPr/>
          <p:nvPr/>
        </p:nvSpPr>
        <p:spPr>
          <a:xfrm>
            <a:off x="6903720" y="2331720"/>
            <a:ext cx="301752" cy="301752"/>
          </a:xfrm>
          <a:prstGeom prst="ellipse">
            <a:avLst/>
          </a:prstGeom>
          <a:solidFill>
            <a:srgbClr val="C9C6BE"/>
          </a:solidFill>
          <a:ln w="12700">
            <a:solidFill>
              <a:srgbClr val="C9C6BE"/>
            </a:solidFill>
            <a:prstDash val="solid"/>
          </a:ln>
        </p:spPr>
      </p:sp>
      <p:sp>
        <p:nvSpPr>
          <p:cNvPr id="14" name="Shape 12"/>
          <p:cNvSpPr/>
          <p:nvPr/>
        </p:nvSpPr>
        <p:spPr>
          <a:xfrm>
            <a:off x="7360920" y="2331720"/>
            <a:ext cx="301752" cy="301752"/>
          </a:xfrm>
          <a:prstGeom prst="ellipse">
            <a:avLst/>
          </a:prstGeom>
          <a:solidFill>
            <a:srgbClr val="C9C6BE"/>
          </a:solidFill>
          <a:ln w="12700">
            <a:solidFill>
              <a:srgbClr val="C9C6BE"/>
            </a:solidFill>
            <a:prstDash val="solid"/>
          </a:ln>
        </p:spPr>
      </p:sp>
      <p:sp>
        <p:nvSpPr>
          <p:cNvPr id="15" name="Shape 13"/>
          <p:cNvSpPr/>
          <p:nvPr/>
        </p:nvSpPr>
        <p:spPr>
          <a:xfrm>
            <a:off x="7818120" y="2331720"/>
            <a:ext cx="301752" cy="301752"/>
          </a:xfrm>
          <a:prstGeom prst="ellipse">
            <a:avLst/>
          </a:prstGeom>
          <a:solidFill>
            <a:srgbClr val="C9C6BE"/>
          </a:solidFill>
          <a:ln w="12700">
            <a:solidFill>
              <a:srgbClr val="C9C6BE"/>
            </a:solidFill>
            <a:prstDash val="solid"/>
          </a:ln>
        </p:spPr>
      </p:sp>
      <p:sp>
        <p:nvSpPr>
          <p:cNvPr id="16" name="Shape 14"/>
          <p:cNvSpPr/>
          <p:nvPr/>
        </p:nvSpPr>
        <p:spPr>
          <a:xfrm>
            <a:off x="8275320" y="2331720"/>
            <a:ext cx="301752" cy="301752"/>
          </a:xfrm>
          <a:prstGeom prst="ellipse">
            <a:avLst/>
          </a:prstGeom>
          <a:solidFill>
            <a:srgbClr val="C9C6BE"/>
          </a:solidFill>
          <a:ln w="12700">
            <a:solidFill>
              <a:srgbClr val="C9C6BE"/>
            </a:solidFill>
            <a:prstDash val="solid"/>
          </a:ln>
        </p:spPr>
      </p:sp>
      <p:sp>
        <p:nvSpPr>
          <p:cNvPr id="17" name="Shape 15"/>
          <p:cNvSpPr/>
          <p:nvPr/>
        </p:nvSpPr>
        <p:spPr>
          <a:xfrm>
            <a:off x="8732520" y="2331720"/>
            <a:ext cx="301752" cy="301752"/>
          </a:xfrm>
          <a:prstGeom prst="ellipse">
            <a:avLst/>
          </a:prstGeom>
          <a:solidFill>
            <a:srgbClr val="C9C6BE"/>
          </a:solidFill>
          <a:ln w="12700">
            <a:solidFill>
              <a:srgbClr val="C9C6BE"/>
            </a:solidFill>
            <a:prstDash val="solid"/>
          </a:ln>
        </p:spPr>
      </p:sp>
      <p:sp>
        <p:nvSpPr>
          <p:cNvPr id="18" name="Shape 16"/>
          <p:cNvSpPr/>
          <p:nvPr/>
        </p:nvSpPr>
        <p:spPr>
          <a:xfrm>
            <a:off x="9189720" y="2331720"/>
            <a:ext cx="301752" cy="301752"/>
          </a:xfrm>
          <a:prstGeom prst="ellipse">
            <a:avLst/>
          </a:prstGeom>
          <a:solidFill>
            <a:srgbClr val="C9C6BE"/>
          </a:solidFill>
          <a:ln w="12700">
            <a:solidFill>
              <a:srgbClr val="C9C6BE"/>
            </a:solidFill>
            <a:prstDash val="solid"/>
          </a:ln>
        </p:spPr>
      </p:sp>
      <p:sp>
        <p:nvSpPr>
          <p:cNvPr id="19" name="Shape 17"/>
          <p:cNvSpPr/>
          <p:nvPr/>
        </p:nvSpPr>
        <p:spPr>
          <a:xfrm>
            <a:off x="9646920" y="2331720"/>
            <a:ext cx="301752" cy="301752"/>
          </a:xfrm>
          <a:prstGeom prst="ellipse">
            <a:avLst/>
          </a:prstGeom>
          <a:solidFill>
            <a:srgbClr val="C9C6BE"/>
          </a:solidFill>
          <a:ln w="12700">
            <a:solidFill>
              <a:srgbClr val="C9C6BE"/>
            </a:solidFill>
            <a:prstDash val="solid"/>
          </a:ln>
        </p:spPr>
      </p:sp>
      <p:sp>
        <p:nvSpPr>
          <p:cNvPr id="20" name="Shape 18"/>
          <p:cNvSpPr/>
          <p:nvPr/>
        </p:nvSpPr>
        <p:spPr>
          <a:xfrm>
            <a:off x="6446520" y="2715768"/>
            <a:ext cx="301752" cy="301752"/>
          </a:xfrm>
          <a:prstGeom prst="ellipse">
            <a:avLst/>
          </a:prstGeom>
          <a:solidFill>
            <a:srgbClr val="C9C6BE"/>
          </a:solidFill>
          <a:ln w="12700">
            <a:solidFill>
              <a:srgbClr val="C9C6BE"/>
            </a:solidFill>
            <a:prstDash val="solid"/>
          </a:ln>
        </p:spPr>
      </p:sp>
      <p:sp>
        <p:nvSpPr>
          <p:cNvPr id="21" name="Shape 19"/>
          <p:cNvSpPr/>
          <p:nvPr/>
        </p:nvSpPr>
        <p:spPr>
          <a:xfrm>
            <a:off x="6903720" y="2715768"/>
            <a:ext cx="301752" cy="301752"/>
          </a:xfrm>
          <a:prstGeom prst="ellipse">
            <a:avLst/>
          </a:prstGeom>
          <a:solidFill>
            <a:srgbClr val="C9C6BE"/>
          </a:solidFill>
          <a:ln w="12700">
            <a:solidFill>
              <a:srgbClr val="C9C6BE"/>
            </a:solidFill>
            <a:prstDash val="solid"/>
          </a:ln>
        </p:spPr>
      </p:sp>
      <p:sp>
        <p:nvSpPr>
          <p:cNvPr id="22" name="Shape 20"/>
          <p:cNvSpPr/>
          <p:nvPr/>
        </p:nvSpPr>
        <p:spPr>
          <a:xfrm>
            <a:off x="7360920" y="2715768"/>
            <a:ext cx="301752" cy="301752"/>
          </a:xfrm>
          <a:prstGeom prst="ellipse">
            <a:avLst/>
          </a:prstGeom>
          <a:solidFill>
            <a:srgbClr val="C9C6BE"/>
          </a:solidFill>
          <a:ln w="12700">
            <a:solidFill>
              <a:srgbClr val="C9C6BE"/>
            </a:solidFill>
            <a:prstDash val="solid"/>
          </a:ln>
        </p:spPr>
      </p:sp>
      <p:sp>
        <p:nvSpPr>
          <p:cNvPr id="23" name="Shape 21"/>
          <p:cNvSpPr/>
          <p:nvPr/>
        </p:nvSpPr>
        <p:spPr>
          <a:xfrm>
            <a:off x="7818120" y="2715768"/>
            <a:ext cx="301752" cy="301752"/>
          </a:xfrm>
          <a:prstGeom prst="ellipse">
            <a:avLst/>
          </a:prstGeom>
          <a:solidFill>
            <a:srgbClr val="C9C6BE"/>
          </a:solidFill>
          <a:ln w="12700">
            <a:solidFill>
              <a:srgbClr val="C9C6BE"/>
            </a:solidFill>
            <a:prstDash val="solid"/>
          </a:ln>
        </p:spPr>
      </p:sp>
      <p:sp>
        <p:nvSpPr>
          <p:cNvPr id="24" name="Shape 22"/>
          <p:cNvSpPr/>
          <p:nvPr/>
        </p:nvSpPr>
        <p:spPr>
          <a:xfrm>
            <a:off x="8275320" y="2715768"/>
            <a:ext cx="301752" cy="301752"/>
          </a:xfrm>
          <a:prstGeom prst="ellipse">
            <a:avLst/>
          </a:prstGeom>
          <a:solidFill>
            <a:srgbClr val="C9C6BE"/>
          </a:solidFill>
          <a:ln w="12700">
            <a:solidFill>
              <a:srgbClr val="C9C6BE"/>
            </a:solidFill>
            <a:prstDash val="solid"/>
          </a:ln>
        </p:spPr>
      </p:sp>
      <p:sp>
        <p:nvSpPr>
          <p:cNvPr id="25" name="Shape 23"/>
          <p:cNvSpPr/>
          <p:nvPr/>
        </p:nvSpPr>
        <p:spPr>
          <a:xfrm>
            <a:off x="8732520" y="2715768"/>
            <a:ext cx="301752" cy="301752"/>
          </a:xfrm>
          <a:prstGeom prst="ellipse">
            <a:avLst/>
          </a:prstGeom>
          <a:solidFill>
            <a:srgbClr val="C9C6BE"/>
          </a:solidFill>
          <a:ln w="12700">
            <a:solidFill>
              <a:srgbClr val="C9C6BE"/>
            </a:solidFill>
            <a:prstDash val="solid"/>
          </a:ln>
        </p:spPr>
      </p:sp>
      <p:sp>
        <p:nvSpPr>
          <p:cNvPr id="26" name="Shape 24"/>
          <p:cNvSpPr/>
          <p:nvPr/>
        </p:nvSpPr>
        <p:spPr>
          <a:xfrm>
            <a:off x="9189720" y="2715768"/>
            <a:ext cx="301752" cy="301752"/>
          </a:xfrm>
          <a:prstGeom prst="ellipse">
            <a:avLst/>
          </a:prstGeom>
          <a:solidFill>
            <a:srgbClr val="C9C6BE"/>
          </a:solidFill>
          <a:ln w="12700">
            <a:solidFill>
              <a:srgbClr val="C9C6BE"/>
            </a:solidFill>
            <a:prstDash val="solid"/>
          </a:ln>
        </p:spPr>
      </p:sp>
      <p:sp>
        <p:nvSpPr>
          <p:cNvPr id="27" name="Shape 25"/>
          <p:cNvSpPr/>
          <p:nvPr/>
        </p:nvSpPr>
        <p:spPr>
          <a:xfrm>
            <a:off x="9646920" y="2715768"/>
            <a:ext cx="301752" cy="301752"/>
          </a:xfrm>
          <a:prstGeom prst="ellipse">
            <a:avLst/>
          </a:prstGeom>
          <a:solidFill>
            <a:srgbClr val="C9C6BE"/>
          </a:solidFill>
          <a:ln w="12700">
            <a:solidFill>
              <a:srgbClr val="C9C6BE"/>
            </a:solidFill>
            <a:prstDash val="solid"/>
          </a:ln>
        </p:spPr>
      </p:sp>
      <p:sp>
        <p:nvSpPr>
          <p:cNvPr id="28" name="Shape 26"/>
          <p:cNvSpPr/>
          <p:nvPr/>
        </p:nvSpPr>
        <p:spPr>
          <a:xfrm>
            <a:off x="6446520" y="3099816"/>
            <a:ext cx="301752" cy="301752"/>
          </a:xfrm>
          <a:prstGeom prst="ellipse">
            <a:avLst/>
          </a:prstGeom>
          <a:solidFill>
            <a:srgbClr val="C9C6BE"/>
          </a:solidFill>
          <a:ln w="12700">
            <a:solidFill>
              <a:srgbClr val="C9C6BE"/>
            </a:solidFill>
            <a:prstDash val="solid"/>
          </a:ln>
        </p:spPr>
      </p:sp>
      <p:sp>
        <p:nvSpPr>
          <p:cNvPr id="29" name="Shape 27"/>
          <p:cNvSpPr/>
          <p:nvPr/>
        </p:nvSpPr>
        <p:spPr>
          <a:xfrm>
            <a:off x="6903720" y="3099816"/>
            <a:ext cx="301752" cy="301752"/>
          </a:xfrm>
          <a:prstGeom prst="ellipse">
            <a:avLst/>
          </a:prstGeom>
          <a:solidFill>
            <a:srgbClr val="C9C6BE"/>
          </a:solidFill>
          <a:ln w="12700">
            <a:solidFill>
              <a:srgbClr val="C9C6BE"/>
            </a:solidFill>
            <a:prstDash val="solid"/>
          </a:ln>
        </p:spPr>
      </p:sp>
      <p:sp>
        <p:nvSpPr>
          <p:cNvPr id="30" name="Shape 28"/>
          <p:cNvSpPr/>
          <p:nvPr/>
        </p:nvSpPr>
        <p:spPr>
          <a:xfrm>
            <a:off x="7360920" y="3099816"/>
            <a:ext cx="301752" cy="301752"/>
          </a:xfrm>
          <a:prstGeom prst="ellipse">
            <a:avLst/>
          </a:prstGeom>
          <a:solidFill>
            <a:srgbClr val="C9C6BE"/>
          </a:solidFill>
          <a:ln w="12700">
            <a:solidFill>
              <a:srgbClr val="C9C6BE"/>
            </a:solidFill>
            <a:prstDash val="solid"/>
          </a:ln>
        </p:spPr>
      </p:sp>
      <p:sp>
        <p:nvSpPr>
          <p:cNvPr id="31" name="Shape 29"/>
          <p:cNvSpPr/>
          <p:nvPr/>
        </p:nvSpPr>
        <p:spPr>
          <a:xfrm>
            <a:off x="7818120" y="3099816"/>
            <a:ext cx="301752" cy="301752"/>
          </a:xfrm>
          <a:prstGeom prst="ellipse">
            <a:avLst/>
          </a:prstGeom>
          <a:solidFill>
            <a:srgbClr val="C9C6BE"/>
          </a:solidFill>
          <a:ln w="12700">
            <a:solidFill>
              <a:srgbClr val="C9C6BE"/>
            </a:solidFill>
            <a:prstDash val="solid"/>
          </a:ln>
        </p:spPr>
      </p:sp>
      <p:sp>
        <p:nvSpPr>
          <p:cNvPr id="32" name="Shape 30"/>
          <p:cNvSpPr/>
          <p:nvPr/>
        </p:nvSpPr>
        <p:spPr>
          <a:xfrm>
            <a:off x="8275320" y="3099816"/>
            <a:ext cx="301752" cy="301752"/>
          </a:xfrm>
          <a:prstGeom prst="ellipse">
            <a:avLst/>
          </a:prstGeom>
          <a:solidFill>
            <a:srgbClr val="C9C6BE"/>
          </a:solidFill>
          <a:ln w="12700">
            <a:solidFill>
              <a:srgbClr val="C9C6BE"/>
            </a:solidFill>
            <a:prstDash val="solid"/>
          </a:ln>
        </p:spPr>
      </p:sp>
      <p:sp>
        <p:nvSpPr>
          <p:cNvPr id="33" name="Shape 31"/>
          <p:cNvSpPr/>
          <p:nvPr/>
        </p:nvSpPr>
        <p:spPr>
          <a:xfrm>
            <a:off x="8732520" y="3099816"/>
            <a:ext cx="301752" cy="301752"/>
          </a:xfrm>
          <a:prstGeom prst="ellipse">
            <a:avLst/>
          </a:prstGeom>
          <a:solidFill>
            <a:srgbClr val="C9C6BE"/>
          </a:solidFill>
          <a:ln w="12700">
            <a:solidFill>
              <a:srgbClr val="C9C6BE"/>
            </a:solidFill>
            <a:prstDash val="solid"/>
          </a:ln>
        </p:spPr>
      </p:sp>
      <p:sp>
        <p:nvSpPr>
          <p:cNvPr id="34" name="Shape 32"/>
          <p:cNvSpPr/>
          <p:nvPr/>
        </p:nvSpPr>
        <p:spPr>
          <a:xfrm>
            <a:off x="9189720" y="3099816"/>
            <a:ext cx="301752" cy="301752"/>
          </a:xfrm>
          <a:prstGeom prst="ellipse">
            <a:avLst/>
          </a:prstGeom>
          <a:solidFill>
            <a:srgbClr val="C9C6BE"/>
          </a:solidFill>
          <a:ln w="12700">
            <a:solidFill>
              <a:srgbClr val="C9C6BE"/>
            </a:solidFill>
            <a:prstDash val="solid"/>
          </a:ln>
        </p:spPr>
      </p:sp>
      <p:sp>
        <p:nvSpPr>
          <p:cNvPr id="35" name="Shape 33"/>
          <p:cNvSpPr/>
          <p:nvPr/>
        </p:nvSpPr>
        <p:spPr>
          <a:xfrm>
            <a:off x="9646920" y="3099816"/>
            <a:ext cx="301752" cy="301752"/>
          </a:xfrm>
          <a:prstGeom prst="ellipse">
            <a:avLst/>
          </a:prstGeom>
          <a:solidFill>
            <a:srgbClr val="C9C6BE"/>
          </a:solidFill>
          <a:ln w="12700">
            <a:solidFill>
              <a:srgbClr val="C9C6BE"/>
            </a:solidFill>
            <a:prstDash val="solid"/>
          </a:ln>
        </p:spPr>
      </p:sp>
      <p:sp>
        <p:nvSpPr>
          <p:cNvPr id="36" name="Shape 34"/>
          <p:cNvSpPr/>
          <p:nvPr/>
        </p:nvSpPr>
        <p:spPr>
          <a:xfrm>
            <a:off x="6446520" y="3483864"/>
            <a:ext cx="301752" cy="301752"/>
          </a:xfrm>
          <a:prstGeom prst="ellipse">
            <a:avLst/>
          </a:prstGeom>
          <a:solidFill>
            <a:srgbClr val="C9C6BE"/>
          </a:solidFill>
          <a:ln w="12700">
            <a:solidFill>
              <a:srgbClr val="C9C6BE"/>
            </a:solidFill>
            <a:prstDash val="solid"/>
          </a:ln>
        </p:spPr>
      </p:sp>
      <p:sp>
        <p:nvSpPr>
          <p:cNvPr id="37" name="Shape 35"/>
          <p:cNvSpPr/>
          <p:nvPr/>
        </p:nvSpPr>
        <p:spPr>
          <a:xfrm>
            <a:off x="6903720" y="3483864"/>
            <a:ext cx="301752" cy="301752"/>
          </a:xfrm>
          <a:prstGeom prst="ellipse">
            <a:avLst/>
          </a:prstGeom>
          <a:solidFill>
            <a:srgbClr val="C9C6BE"/>
          </a:solidFill>
          <a:ln w="12700">
            <a:solidFill>
              <a:srgbClr val="C9C6BE"/>
            </a:solidFill>
            <a:prstDash val="solid"/>
          </a:ln>
        </p:spPr>
      </p:sp>
      <p:sp>
        <p:nvSpPr>
          <p:cNvPr id="38" name="Shape 36"/>
          <p:cNvSpPr/>
          <p:nvPr/>
        </p:nvSpPr>
        <p:spPr>
          <a:xfrm>
            <a:off x="7360920" y="3483864"/>
            <a:ext cx="301752" cy="301752"/>
          </a:xfrm>
          <a:prstGeom prst="ellipse">
            <a:avLst/>
          </a:prstGeom>
          <a:solidFill>
            <a:srgbClr val="C9C6BE"/>
          </a:solidFill>
          <a:ln w="12700">
            <a:solidFill>
              <a:srgbClr val="C9C6BE"/>
            </a:solidFill>
            <a:prstDash val="solid"/>
          </a:ln>
        </p:spPr>
      </p:sp>
      <p:sp>
        <p:nvSpPr>
          <p:cNvPr id="39" name="Shape 37"/>
          <p:cNvSpPr/>
          <p:nvPr/>
        </p:nvSpPr>
        <p:spPr>
          <a:xfrm>
            <a:off x="7818120" y="3483864"/>
            <a:ext cx="301752" cy="301752"/>
          </a:xfrm>
          <a:prstGeom prst="ellipse">
            <a:avLst/>
          </a:prstGeom>
          <a:solidFill>
            <a:srgbClr val="C9C6BE"/>
          </a:solidFill>
          <a:ln w="12700">
            <a:solidFill>
              <a:srgbClr val="C9C6BE"/>
            </a:solidFill>
            <a:prstDash val="solid"/>
          </a:ln>
        </p:spPr>
      </p:sp>
      <p:sp>
        <p:nvSpPr>
          <p:cNvPr id="40" name="Shape 38"/>
          <p:cNvSpPr/>
          <p:nvPr/>
        </p:nvSpPr>
        <p:spPr>
          <a:xfrm>
            <a:off x="8275320" y="3483864"/>
            <a:ext cx="301752" cy="301752"/>
          </a:xfrm>
          <a:prstGeom prst="ellipse">
            <a:avLst/>
          </a:prstGeom>
          <a:solidFill>
            <a:srgbClr val="C9C6BE"/>
          </a:solidFill>
          <a:ln w="12700">
            <a:solidFill>
              <a:srgbClr val="C9C6BE"/>
            </a:solidFill>
            <a:prstDash val="solid"/>
          </a:ln>
        </p:spPr>
      </p:sp>
      <p:sp>
        <p:nvSpPr>
          <p:cNvPr id="41" name="Shape 39"/>
          <p:cNvSpPr/>
          <p:nvPr/>
        </p:nvSpPr>
        <p:spPr>
          <a:xfrm>
            <a:off x="8732520" y="3483864"/>
            <a:ext cx="301752" cy="301752"/>
          </a:xfrm>
          <a:prstGeom prst="ellipse">
            <a:avLst/>
          </a:prstGeom>
          <a:solidFill>
            <a:srgbClr val="C9C6BE"/>
          </a:solidFill>
          <a:ln w="12700">
            <a:solidFill>
              <a:srgbClr val="C9C6BE"/>
            </a:solidFill>
            <a:prstDash val="solid"/>
          </a:ln>
        </p:spPr>
      </p:sp>
      <p:sp>
        <p:nvSpPr>
          <p:cNvPr id="42" name="Shape 40"/>
          <p:cNvSpPr/>
          <p:nvPr/>
        </p:nvSpPr>
        <p:spPr>
          <a:xfrm>
            <a:off x="9189720" y="3483864"/>
            <a:ext cx="301752" cy="301752"/>
          </a:xfrm>
          <a:prstGeom prst="ellipse">
            <a:avLst/>
          </a:prstGeom>
          <a:solidFill>
            <a:srgbClr val="C9C6BE"/>
          </a:solidFill>
          <a:ln w="12700">
            <a:solidFill>
              <a:srgbClr val="C9C6BE"/>
            </a:solidFill>
            <a:prstDash val="solid"/>
          </a:ln>
        </p:spPr>
      </p:sp>
      <p:sp>
        <p:nvSpPr>
          <p:cNvPr id="43" name="Shape 41"/>
          <p:cNvSpPr/>
          <p:nvPr/>
        </p:nvSpPr>
        <p:spPr>
          <a:xfrm>
            <a:off x="9646920" y="3483864"/>
            <a:ext cx="301752" cy="301752"/>
          </a:xfrm>
          <a:prstGeom prst="ellipse">
            <a:avLst/>
          </a:prstGeom>
          <a:solidFill>
            <a:srgbClr val="C9C6BE"/>
          </a:solidFill>
          <a:ln w="12700">
            <a:solidFill>
              <a:srgbClr val="C9C6BE"/>
            </a:solidFill>
            <a:prstDash val="solid"/>
          </a:ln>
        </p:spPr>
      </p:sp>
      <p:sp>
        <p:nvSpPr>
          <p:cNvPr id="44" name="Text 42"/>
          <p:cNvSpPr/>
          <p:nvPr/>
        </p:nvSpPr>
        <p:spPr>
          <a:xfrm>
            <a:off x="10104120" y="2331720"/>
            <a:ext cx="1371600" cy="1005840"/>
          </a:xfrm>
          <a:prstGeom prst="rect">
            <a:avLst/>
          </a:prstGeom>
          <a:noFill/>
          <a:ln/>
        </p:spPr>
        <p:txBody>
          <a:bodyPr wrap="square" lIns="0" tIns="0" rIns="0" bIns="0" rtlCol="0" anchor="ctr"/>
          <a:lstStyle/>
          <a:p>
            <a:pPr indent="0" marL="0">
              <a:buNone/>
            </a:pPr>
            <a:r>
              <a:rPr lang="en-US" sz="4800" b="1" dirty="0">
                <a:solidFill>
                  <a:srgbClr val="0E7C6B"/>
                </a:solidFill>
                <a:latin typeface="Palatino Linotype" pitchFamily="34" charset="0"/>
                <a:ea typeface="Palatino Linotype" pitchFamily="34" charset="-122"/>
                <a:cs typeface="Palatino Linotype" pitchFamily="34" charset="-120"/>
              </a:rPr>
              <a:t>3%</a:t>
            </a:r>
            <a:endParaRPr lang="en-US" sz="4800" dirty="0"/>
          </a:p>
        </p:txBody>
      </p:sp>
      <p:sp>
        <p:nvSpPr>
          <p:cNvPr id="45" name="Text 43"/>
          <p:cNvSpPr/>
          <p:nvPr/>
        </p:nvSpPr>
        <p:spPr>
          <a:xfrm>
            <a:off x="6446520" y="3977640"/>
            <a:ext cx="4846320" cy="685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1 internat la 32 de bolnavi găsiți</a:t>
            </a:r>
            <a:endParaRPr lang="en-US" sz="1700" dirty="0"/>
          </a:p>
        </p:txBody>
      </p:sp>
      <p:sp>
        <p:nvSpPr>
          <p:cNvPr id="46" name="Text 44"/>
          <p:cNvSpPr/>
          <p:nvPr/>
        </p:nvSpPr>
        <p:spPr>
          <a:xfrm>
            <a:off x="594360" y="4983480"/>
            <a:ext cx="10972800" cy="109728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Numărătorul este același; numitorul era prea mic. Vârful piramidei adună mai ales cazurile grave: la fel ca la MERS, proporția calculată pe cazurile raportate este probabil prea mare.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SINTEZA ANCHETEI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Piramida focarului din cămin</a:t>
            </a:r>
            <a:endParaRPr lang="en-US" sz="3400" dirty="0"/>
          </a:p>
        </p:txBody>
      </p:sp>
      <p:sp>
        <p:nvSpPr>
          <p:cNvPr id="4" name="Shape 2"/>
          <p:cNvSpPr/>
          <p:nvPr/>
        </p:nvSpPr>
        <p:spPr>
          <a:xfrm>
            <a:off x="6263640" y="1691640"/>
            <a:ext cx="457200" cy="530352"/>
          </a:xfrm>
          <a:prstGeom prst="roundRect">
            <a:avLst>
              <a:gd name="adj" fmla="val 10000"/>
            </a:avLst>
          </a:prstGeom>
          <a:solidFill>
            <a:srgbClr val="FFFFFF"/>
          </a:solidFill>
          <a:ln w="12700">
            <a:solidFill>
              <a:srgbClr val="FFFFFF"/>
            </a:solidFill>
            <a:prstDash val="solid"/>
          </a:ln>
        </p:spPr>
      </p:sp>
      <p:sp>
        <p:nvSpPr>
          <p:cNvPr id="5" name="Text 3"/>
          <p:cNvSpPr/>
          <p:nvPr/>
        </p:nvSpPr>
        <p:spPr>
          <a:xfrm>
            <a:off x="6263640" y="1691640"/>
            <a:ext cx="457200" cy="530352"/>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2</a:t>
            </a:r>
            <a:endParaRPr lang="en-US" sz="2000" dirty="0"/>
          </a:p>
        </p:txBody>
      </p:sp>
      <p:sp>
        <p:nvSpPr>
          <p:cNvPr id="6" name="Text 4"/>
          <p:cNvSpPr/>
          <p:nvPr/>
        </p:nvSpPr>
        <p:spPr>
          <a:xfrm>
            <a:off x="594360" y="1691640"/>
            <a:ext cx="233172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Declarați autorității</a:t>
            </a:r>
            <a:endParaRPr lang="en-US" sz="1500" dirty="0"/>
          </a:p>
        </p:txBody>
      </p:sp>
      <p:sp>
        <p:nvSpPr>
          <p:cNvPr id="7" name="Shape 5"/>
          <p:cNvSpPr/>
          <p:nvPr/>
        </p:nvSpPr>
        <p:spPr>
          <a:xfrm>
            <a:off x="6183630" y="2331720"/>
            <a:ext cx="617220" cy="530352"/>
          </a:xfrm>
          <a:prstGeom prst="roundRect">
            <a:avLst>
              <a:gd name="adj" fmla="val 8621"/>
            </a:avLst>
          </a:prstGeom>
          <a:solidFill>
            <a:srgbClr val="9B7EF7"/>
          </a:solidFill>
          <a:ln w="12700">
            <a:solidFill>
              <a:srgbClr val="9B7EF7"/>
            </a:solidFill>
            <a:prstDash val="solid"/>
          </a:ln>
        </p:spPr>
      </p:sp>
      <p:sp>
        <p:nvSpPr>
          <p:cNvPr id="8" name="Text 6"/>
          <p:cNvSpPr/>
          <p:nvPr/>
        </p:nvSpPr>
        <p:spPr>
          <a:xfrm>
            <a:off x="6183630" y="2331720"/>
            <a:ext cx="617220" cy="530352"/>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3</a:t>
            </a:r>
            <a:endParaRPr lang="en-US" sz="2000" dirty="0"/>
          </a:p>
        </p:txBody>
      </p:sp>
      <p:sp>
        <p:nvSpPr>
          <p:cNvPr id="9" name="Text 7"/>
          <p:cNvSpPr/>
          <p:nvPr/>
        </p:nvSpPr>
        <p:spPr>
          <a:xfrm>
            <a:off x="594360" y="2331720"/>
            <a:ext cx="233172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Microbul găsit în laborator</a:t>
            </a:r>
            <a:endParaRPr lang="en-US" sz="1500" dirty="0"/>
          </a:p>
        </p:txBody>
      </p:sp>
      <p:sp>
        <p:nvSpPr>
          <p:cNvPr id="10" name="Shape 8"/>
          <p:cNvSpPr/>
          <p:nvPr/>
        </p:nvSpPr>
        <p:spPr>
          <a:xfrm>
            <a:off x="6080760" y="2971800"/>
            <a:ext cx="822960" cy="530352"/>
          </a:xfrm>
          <a:prstGeom prst="roundRect">
            <a:avLst>
              <a:gd name="adj" fmla="val 8621"/>
            </a:avLst>
          </a:prstGeom>
          <a:solidFill>
            <a:srgbClr val="27D3BE"/>
          </a:solidFill>
          <a:ln w="12700">
            <a:solidFill>
              <a:srgbClr val="27D3BE"/>
            </a:solidFill>
            <a:prstDash val="solid"/>
          </a:ln>
        </p:spPr>
      </p:sp>
      <p:sp>
        <p:nvSpPr>
          <p:cNvPr id="11" name="Text 9"/>
          <p:cNvSpPr/>
          <p:nvPr/>
        </p:nvSpPr>
        <p:spPr>
          <a:xfrm>
            <a:off x="6080760" y="2971800"/>
            <a:ext cx="822960" cy="530352"/>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4</a:t>
            </a:r>
            <a:endParaRPr lang="en-US" sz="2000" dirty="0"/>
          </a:p>
        </p:txBody>
      </p:sp>
      <p:sp>
        <p:nvSpPr>
          <p:cNvPr id="12" name="Text 10"/>
          <p:cNvSpPr/>
          <p:nvPr/>
        </p:nvSpPr>
        <p:spPr>
          <a:xfrm>
            <a:off x="594360" y="2971800"/>
            <a:ext cx="233172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Au adus proba</a:t>
            </a:r>
            <a:endParaRPr lang="en-US" sz="1500" dirty="0"/>
          </a:p>
        </p:txBody>
      </p:sp>
      <p:sp>
        <p:nvSpPr>
          <p:cNvPr id="13" name="Shape 11"/>
          <p:cNvSpPr/>
          <p:nvPr/>
        </p:nvSpPr>
        <p:spPr>
          <a:xfrm>
            <a:off x="5977890" y="3611880"/>
            <a:ext cx="1028700" cy="530352"/>
          </a:xfrm>
          <a:prstGeom prst="roundRect">
            <a:avLst>
              <a:gd name="adj" fmla="val 8621"/>
            </a:avLst>
          </a:prstGeom>
          <a:solidFill>
            <a:srgbClr val="FFC24B"/>
          </a:solidFill>
          <a:ln w="12700">
            <a:solidFill>
              <a:srgbClr val="FFC24B"/>
            </a:solidFill>
            <a:prstDash val="solid"/>
          </a:ln>
        </p:spPr>
      </p:sp>
      <p:sp>
        <p:nvSpPr>
          <p:cNvPr id="14" name="Text 12"/>
          <p:cNvSpPr/>
          <p:nvPr/>
        </p:nvSpPr>
        <p:spPr>
          <a:xfrm>
            <a:off x="5977890" y="3611880"/>
            <a:ext cx="1028700" cy="530352"/>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5</a:t>
            </a:r>
            <a:endParaRPr lang="en-US" sz="2000" dirty="0"/>
          </a:p>
        </p:txBody>
      </p:sp>
      <p:sp>
        <p:nvSpPr>
          <p:cNvPr id="15" name="Text 13"/>
          <p:cNvSpPr/>
          <p:nvPr/>
        </p:nvSpPr>
        <p:spPr>
          <a:xfrm>
            <a:off x="594360" y="3611880"/>
            <a:ext cx="233172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Li s-a cerut o probă</a:t>
            </a:r>
            <a:endParaRPr lang="en-US" sz="1500" dirty="0"/>
          </a:p>
        </p:txBody>
      </p:sp>
      <p:sp>
        <p:nvSpPr>
          <p:cNvPr id="16" name="Shape 14"/>
          <p:cNvSpPr/>
          <p:nvPr/>
        </p:nvSpPr>
        <p:spPr>
          <a:xfrm>
            <a:off x="5463540" y="4251960"/>
            <a:ext cx="2057400" cy="530352"/>
          </a:xfrm>
          <a:prstGeom prst="roundRect">
            <a:avLst>
              <a:gd name="adj" fmla="val 8621"/>
            </a:avLst>
          </a:prstGeom>
          <a:solidFill>
            <a:srgbClr val="FF8A3D"/>
          </a:solidFill>
          <a:ln w="12700">
            <a:solidFill>
              <a:srgbClr val="FF8A3D"/>
            </a:solidFill>
            <a:prstDash val="solid"/>
          </a:ln>
        </p:spPr>
      </p:sp>
      <p:sp>
        <p:nvSpPr>
          <p:cNvPr id="17" name="Text 15"/>
          <p:cNvSpPr/>
          <p:nvPr/>
        </p:nvSpPr>
        <p:spPr>
          <a:xfrm>
            <a:off x="5463540" y="4251960"/>
            <a:ext cx="2057400" cy="530352"/>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10</a:t>
            </a:r>
            <a:endParaRPr lang="en-US" sz="2000" dirty="0"/>
          </a:p>
        </p:txBody>
      </p:sp>
      <p:sp>
        <p:nvSpPr>
          <p:cNvPr id="18" name="Text 16"/>
          <p:cNvSpPr/>
          <p:nvPr/>
        </p:nvSpPr>
        <p:spPr>
          <a:xfrm>
            <a:off x="594360" y="4251960"/>
            <a:ext cx="233172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Au vorbit cu un medic</a:t>
            </a:r>
            <a:endParaRPr lang="en-US" sz="1500" dirty="0"/>
          </a:p>
        </p:txBody>
      </p:sp>
      <p:sp>
        <p:nvSpPr>
          <p:cNvPr id="19" name="Shape 17"/>
          <p:cNvSpPr/>
          <p:nvPr/>
        </p:nvSpPr>
        <p:spPr>
          <a:xfrm>
            <a:off x="3200400" y="4892040"/>
            <a:ext cx="6583680" cy="530352"/>
          </a:xfrm>
          <a:prstGeom prst="roundRect">
            <a:avLst>
              <a:gd name="adj" fmla="val 8621"/>
            </a:avLst>
          </a:prstGeom>
          <a:solidFill>
            <a:srgbClr val="FF4757"/>
          </a:solidFill>
          <a:ln w="12700">
            <a:solidFill>
              <a:srgbClr val="FF4757"/>
            </a:solidFill>
            <a:prstDash val="solid"/>
          </a:ln>
        </p:spPr>
      </p:sp>
      <p:sp>
        <p:nvSpPr>
          <p:cNvPr id="20" name="Text 18"/>
          <p:cNvSpPr/>
          <p:nvPr/>
        </p:nvSpPr>
        <p:spPr>
          <a:xfrm>
            <a:off x="3200400" y="4892040"/>
            <a:ext cx="6583680" cy="530352"/>
          </a:xfrm>
          <a:prstGeom prst="rect">
            <a:avLst/>
          </a:prstGeom>
          <a:noFill/>
          <a:ln/>
        </p:spPr>
        <p:txBody>
          <a:bodyPr wrap="square" lIns="0" tIns="0" rIns="0" bIns="0" rtlCol="0" anchor="ctr"/>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32</a:t>
            </a:r>
            <a:endParaRPr lang="en-US" sz="2000" dirty="0"/>
          </a:p>
        </p:txBody>
      </p:sp>
      <p:sp>
        <p:nvSpPr>
          <p:cNvPr id="21" name="Text 19"/>
          <p:cNvSpPr/>
          <p:nvPr/>
        </p:nvSpPr>
        <p:spPr>
          <a:xfrm>
            <a:off x="594360" y="4892040"/>
            <a:ext cx="2331720" cy="530352"/>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S-au îmbolnăvit</a:t>
            </a:r>
            <a:endParaRPr lang="en-US" sz="1500" dirty="0"/>
          </a:p>
        </p:txBody>
      </p:sp>
      <p:sp>
        <p:nvSpPr>
          <p:cNvPr id="22" name="Text 20"/>
          <p:cNvSpPr/>
          <p:nvPr/>
        </p:nvSpPr>
        <p:spPr>
          <a:xfrm>
            <a:off x="9738360" y="1783080"/>
            <a:ext cx="2011680" cy="3566160"/>
          </a:xfrm>
          <a:prstGeom prst="rect">
            <a:avLst/>
          </a:prstGeom>
          <a:noFill/>
          <a:ln/>
        </p:spPr>
        <p:txBody>
          <a:bodyPr wrap="square" lIns="0" tIns="0" rIns="0" bIns="0" rtlCol="0" anchor="t"/>
          <a:lstStyle/>
          <a:p>
            <a:pPr indent="0" marL="0">
              <a:buNone/>
            </a:pPr>
            <a:r>
              <a:rPr lang="en-US" sz="3400" b="1" dirty="0">
                <a:solidFill>
                  <a:srgbClr val="FFC24B"/>
                </a:solidFill>
                <a:latin typeface="Palatino Linotype" pitchFamily="34" charset="0"/>
                <a:ea typeface="Palatino Linotype" pitchFamily="34" charset="-122"/>
                <a:cs typeface="Palatino Linotype" pitchFamily="34" charset="-120"/>
              </a:rPr>
              <a:t>2 din 32</a:t>
            </a:r>
            <a:endParaRPr lang="en-US" sz="3400" dirty="0"/>
          </a:p>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în cifra oficială</a:t>
            </a:r>
            <a:endParaRPr lang="en-US" sz="3400" dirty="0"/>
          </a:p>
          <a:p>
            <a:pPr indent="0" marL="0">
              <a:buNone/>
            </a:pPr>
            <a:r>
              <a:rPr lang="en-US" sz="1000" dirty="0">
                <a:solidFill>
                  <a:srgbClr val="000000"/>
                </a:solidFill>
                <a:latin typeface="Palatino Linotype" pitchFamily="34" charset="0"/>
                <a:ea typeface="Palatino Linotype" pitchFamily="34" charset="-122"/>
                <a:cs typeface="Palatino Linotype" pitchFamily="34" charset="-120"/>
              </a:rPr>
              <a:t> </a:t>
            </a:r>
            <a:endParaRPr lang="en-US" sz="3400" dirty="0"/>
          </a:p>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16</a:t>
            </a:r>
            <a:endParaRPr lang="en-US" sz="3400" dirty="0"/>
          </a:p>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bolnavi în spatele fiecărui caz declarat</a:t>
            </a:r>
            <a:endParaRPr lang="en-US" sz="3400" dirty="0"/>
          </a:p>
        </p:txBody>
      </p:sp>
      <p:sp>
        <p:nvSpPr>
          <p:cNvPr id="23" name="Text 21"/>
          <p:cNvSpPr/>
          <p:nvPr/>
        </p:nvSpPr>
        <p:spPr>
          <a:xfrm>
            <a:off x="594360" y="5623560"/>
            <a:ext cx="10972800" cy="594360"/>
          </a:xfrm>
          <a:prstGeom prst="rect">
            <a:avLst/>
          </a:prstGeom>
          <a:noFill/>
          <a:ln/>
        </p:spPr>
        <p:txBody>
          <a:bodyPr wrap="square" lIns="0" tIns="0" rIns="0" bIns="0" rtlCol="0" anchor="t"/>
          <a:lstStyle/>
          <a:p>
            <a:pPr indent="0" marL="0">
              <a:buNone/>
            </a:pPr>
            <a:r>
              <a:rPr lang="en-US" sz="1600" i="1" dirty="0">
                <a:solidFill>
                  <a:srgbClr val="959BB0"/>
                </a:solidFill>
                <a:latin typeface="Palatino Linotype" pitchFamily="34" charset="0"/>
                <a:ea typeface="Palatino Linotype" pitchFamily="34" charset="-122"/>
                <a:cs typeface="Palatino Linotype" pitchFamily="34" charset="-120"/>
              </a:rPr>
              <a:t>Cifra unui focar nu se mută automat la altul: câți bolnavi stau în spatele unui caz declarat se află numai printr-o anchetă.</a:t>
            </a:r>
            <a:endParaRPr lang="en-US" sz="1600" dirty="0"/>
          </a:p>
        </p:txBody>
      </p:sp>
      <p:sp>
        <p:nvSpPr>
          <p:cNvPr id="24" name="Text 22"/>
          <p:cNvSpPr/>
          <p:nvPr/>
        </p:nvSpPr>
        <p:spPr>
          <a:xfrm>
            <a:off x="594360" y="6309360"/>
            <a:ext cx="10972800" cy="310896"/>
          </a:xfrm>
          <a:prstGeom prst="rect">
            <a:avLst/>
          </a:prstGeom>
          <a:noFill/>
          <a:ln/>
        </p:spPr>
        <p:txBody>
          <a:bodyPr wrap="square" lIns="0" tIns="0" rIns="0" bIns="0" rtlCol="0" anchor="ctr"/>
          <a:lstStyle/>
          <a:p>
            <a:pPr indent="0" marL="0">
              <a:buNone/>
            </a:pPr>
            <a:r>
              <a:rPr lang="en-US" sz="900" i="1" dirty="0">
                <a:solidFill>
                  <a:srgbClr val="7E849A"/>
                </a:solidFill>
                <a:latin typeface="Palatino Linotype" pitchFamily="34" charset="0"/>
                <a:ea typeface="Palatino Linotype" pitchFamily="34" charset="-122"/>
                <a:cs typeface="Palatino Linotype" pitchFamily="34" charset="-120"/>
              </a:rPr>
              <a:t>Valori ipotetice. Caz construit pentru exercițiu</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CE ÎNSEAMNĂ PENTRU VOI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Luni dimineață</a:t>
            </a:r>
            <a:endParaRPr lang="en-US" sz="3600" dirty="0"/>
          </a:p>
        </p:txBody>
      </p:sp>
      <p:sp>
        <p:nvSpPr>
          <p:cNvPr id="4" name="Shape 2"/>
          <p:cNvSpPr/>
          <p:nvPr/>
        </p:nvSpPr>
        <p:spPr>
          <a:xfrm>
            <a:off x="594360" y="1783080"/>
            <a:ext cx="10972800" cy="868680"/>
          </a:xfrm>
          <a:prstGeom prst="roundRect">
            <a:avLst>
              <a:gd name="adj" fmla="val 9474"/>
            </a:avLst>
          </a:prstGeom>
          <a:solidFill>
            <a:srgbClr val="ECEAE4"/>
          </a:solidFill>
          <a:ln w="12700">
            <a:solidFill>
              <a:srgbClr val="ECEAE4"/>
            </a:solidFill>
            <a:prstDash val="solid"/>
          </a:ln>
        </p:spPr>
      </p:sp>
      <p:sp>
        <p:nvSpPr>
          <p:cNvPr id="5" name="Shape 3"/>
          <p:cNvSpPr/>
          <p:nvPr/>
        </p:nvSpPr>
        <p:spPr>
          <a:xfrm>
            <a:off x="914400" y="2007108"/>
            <a:ext cx="420624" cy="420624"/>
          </a:xfrm>
          <a:prstGeom prst="ellipse">
            <a:avLst/>
          </a:prstGeom>
          <a:solidFill>
            <a:srgbClr val="0E7C6B"/>
          </a:solidFill>
          <a:ln/>
        </p:spPr>
      </p:sp>
      <p:sp>
        <p:nvSpPr>
          <p:cNvPr id="6" name="Text 4"/>
          <p:cNvSpPr/>
          <p:nvPr/>
        </p:nvSpPr>
        <p:spPr>
          <a:xfrm>
            <a:off x="914400" y="20071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83080"/>
            <a:ext cx="969264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 student: când vă îmbolnăviți după o masă comună, spuneți medicului că mai sunt și alți colegi bolnavi</a:t>
            </a:r>
            <a:endParaRPr lang="en-US" sz="1700" dirty="0"/>
          </a:p>
        </p:txBody>
      </p:sp>
      <p:sp>
        <p:nvSpPr>
          <p:cNvPr id="8" name="Shape 6"/>
          <p:cNvSpPr/>
          <p:nvPr/>
        </p:nvSpPr>
        <p:spPr>
          <a:xfrm>
            <a:off x="594360" y="2807208"/>
            <a:ext cx="10972800" cy="868680"/>
          </a:xfrm>
          <a:prstGeom prst="roundRect">
            <a:avLst>
              <a:gd name="adj" fmla="val 9474"/>
            </a:avLst>
          </a:prstGeom>
          <a:solidFill>
            <a:srgbClr val="ECEAE4"/>
          </a:solidFill>
          <a:ln w="12700">
            <a:solidFill>
              <a:srgbClr val="ECEAE4"/>
            </a:solidFill>
            <a:prstDash val="solid"/>
          </a:ln>
        </p:spPr>
      </p:sp>
      <p:sp>
        <p:nvSpPr>
          <p:cNvPr id="9" name="Shape 7"/>
          <p:cNvSpPr/>
          <p:nvPr/>
        </p:nvSpPr>
        <p:spPr>
          <a:xfrm>
            <a:off x="914400" y="3031236"/>
            <a:ext cx="420624" cy="420624"/>
          </a:xfrm>
          <a:prstGeom prst="ellipse">
            <a:avLst/>
          </a:prstGeom>
          <a:solidFill>
            <a:srgbClr val="0E7C6B"/>
          </a:solidFill>
          <a:ln/>
        </p:spPr>
      </p:sp>
      <p:sp>
        <p:nvSpPr>
          <p:cNvPr id="10" name="Text 8"/>
          <p:cNvSpPr/>
          <p:nvPr/>
        </p:nvSpPr>
        <p:spPr>
          <a:xfrm>
            <a:off x="914400" y="303123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807208"/>
            <a:ext cx="969264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 viitor medic: o probă se cere după criterii clinice, dar o boală cu declarare obligatorie, odată diagnosticată, se declară</a:t>
            </a:r>
            <a:endParaRPr lang="en-US" sz="1700" dirty="0"/>
          </a:p>
        </p:txBody>
      </p:sp>
      <p:sp>
        <p:nvSpPr>
          <p:cNvPr id="12" name="Shape 10"/>
          <p:cNvSpPr/>
          <p:nvPr/>
        </p:nvSpPr>
        <p:spPr>
          <a:xfrm>
            <a:off x="594360" y="3831336"/>
            <a:ext cx="10972800" cy="868680"/>
          </a:xfrm>
          <a:prstGeom prst="roundRect">
            <a:avLst>
              <a:gd name="adj" fmla="val 9474"/>
            </a:avLst>
          </a:prstGeom>
          <a:solidFill>
            <a:srgbClr val="ECEAE4"/>
          </a:solidFill>
          <a:ln w="12700">
            <a:solidFill>
              <a:srgbClr val="ECEAE4"/>
            </a:solidFill>
            <a:prstDash val="solid"/>
          </a:ln>
        </p:spPr>
      </p:sp>
      <p:sp>
        <p:nvSpPr>
          <p:cNvPr id="13" name="Shape 11"/>
          <p:cNvSpPr/>
          <p:nvPr/>
        </p:nvSpPr>
        <p:spPr>
          <a:xfrm>
            <a:off x="914400" y="4055364"/>
            <a:ext cx="420624" cy="420624"/>
          </a:xfrm>
          <a:prstGeom prst="ellipse">
            <a:avLst/>
          </a:prstGeom>
          <a:solidFill>
            <a:srgbClr val="0E7C6B"/>
          </a:solidFill>
          <a:ln/>
        </p:spPr>
      </p:sp>
      <p:sp>
        <p:nvSpPr>
          <p:cNvPr id="14" name="Text 12"/>
          <p:cNvSpPr/>
          <p:nvPr/>
        </p:nvSpPr>
        <p:spPr>
          <a:xfrm>
            <a:off x="914400" y="40553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831336"/>
            <a:ext cx="969264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citiți o proporție a internărilor sau a deceselor, întrebați întâi cine a fost numărat la numitor</a:t>
            </a:r>
            <a:endParaRPr lang="en-US" sz="1700" dirty="0"/>
          </a:p>
        </p:txBody>
      </p:sp>
      <p:sp>
        <p:nvSpPr>
          <p:cNvPr id="16" name="Shape 14"/>
          <p:cNvSpPr/>
          <p:nvPr/>
        </p:nvSpPr>
        <p:spPr>
          <a:xfrm>
            <a:off x="594360" y="4855464"/>
            <a:ext cx="10972800" cy="868680"/>
          </a:xfrm>
          <a:prstGeom prst="roundRect">
            <a:avLst>
              <a:gd name="adj" fmla="val 9474"/>
            </a:avLst>
          </a:prstGeom>
          <a:solidFill>
            <a:srgbClr val="ECEAE4"/>
          </a:solidFill>
          <a:ln w="12700">
            <a:solidFill>
              <a:srgbClr val="ECEAE4"/>
            </a:solidFill>
            <a:prstDash val="solid"/>
          </a:ln>
        </p:spPr>
      </p:sp>
      <p:sp>
        <p:nvSpPr>
          <p:cNvPr id="17" name="Shape 15"/>
          <p:cNvSpPr/>
          <p:nvPr/>
        </p:nvSpPr>
        <p:spPr>
          <a:xfrm>
            <a:off x="914400" y="5079492"/>
            <a:ext cx="420624" cy="420624"/>
          </a:xfrm>
          <a:prstGeom prst="ellipse">
            <a:avLst/>
          </a:prstGeom>
          <a:solidFill>
            <a:srgbClr val="0E7C6B"/>
          </a:solidFill>
          <a:ln/>
        </p:spPr>
      </p:sp>
      <p:sp>
        <p:nvSpPr>
          <p:cNvPr id="18" name="Text 16"/>
          <p:cNvSpPr/>
          <p:nvPr/>
        </p:nvSpPr>
        <p:spPr>
          <a:xfrm>
            <a:off x="914400" y="50794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4855464"/>
            <a:ext cx="9692640" cy="86868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un certificat de deces, scrieți lanțul întreg, cu boala de la care a pornit totul pe ultimul rând folosit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292608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685800" y="822960"/>
            <a:ext cx="292608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A DOUA ORĂ · ACASĂ</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Un formular individual, cu contul UMF</a:t>
            </a:r>
            <a:endParaRPr lang="en-US" sz="3800" dirty="0"/>
          </a:p>
        </p:txBody>
      </p:sp>
      <p:sp>
        <p:nvSpPr>
          <p:cNvPr id="5" name="Shape 3"/>
          <p:cNvSpPr/>
          <p:nvPr/>
        </p:nvSpPr>
        <p:spPr>
          <a:xfrm>
            <a:off x="594360" y="251460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6" name="Shape 4"/>
          <p:cNvSpPr/>
          <p:nvPr/>
        </p:nvSpPr>
        <p:spPr>
          <a:xfrm>
            <a:off x="914400" y="2670048"/>
            <a:ext cx="420624" cy="420624"/>
          </a:xfrm>
          <a:prstGeom prst="ellipse">
            <a:avLst/>
          </a:prstGeom>
          <a:solidFill>
            <a:srgbClr val="FFC24B"/>
          </a:solidFill>
          <a:ln/>
        </p:spPr>
        <p:txBody>
          <a:bodyPr/>
          <a:p/>
        </p:txBody>
      </p:sp>
      <p:sp>
        <p:nvSpPr>
          <p:cNvPr id="7" name="Text 5"/>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600200" y="251460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Pasul al patrulea al anchetei din cămin: estimarea și măsura</a:t>
            </a:r>
            <a:endParaRPr lang="en-US" sz="1700" dirty="0"/>
          </a:p>
        </p:txBody>
      </p:sp>
      <p:sp>
        <p:nvSpPr>
          <p:cNvPr id="9" name="Shape 7"/>
          <p:cNvSpPr/>
          <p:nvPr/>
        </p:nvSpPr>
        <p:spPr>
          <a:xfrm>
            <a:off x="594360" y="338328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10" name="Shape 8"/>
          <p:cNvSpPr/>
          <p:nvPr/>
        </p:nvSpPr>
        <p:spPr>
          <a:xfrm>
            <a:off x="914400" y="3538728"/>
            <a:ext cx="420624" cy="420624"/>
          </a:xfrm>
          <a:prstGeom prst="ellipse">
            <a:avLst/>
          </a:prstGeom>
          <a:solidFill>
            <a:srgbClr val="FFC24B"/>
          </a:solidFill>
          <a:ln/>
        </p:spPr>
        <p:txBody>
          <a:bodyPr/>
          <a:p/>
        </p:txBody>
      </p:sp>
      <p:sp>
        <p:nvSpPr>
          <p:cNvPr id="11" name="Text 9"/>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338328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Două întrebări: cum se numără un deces și câte decese lipsesc</a:t>
            </a:r>
            <a:endParaRPr lang="en-US" sz="1700" dirty="0"/>
          </a:p>
        </p:txBody>
      </p:sp>
      <p:sp>
        <p:nvSpPr>
          <p:cNvPr id="13" name="Shape 11"/>
          <p:cNvSpPr/>
          <p:nvPr/>
        </p:nvSpPr>
        <p:spPr>
          <a:xfrm>
            <a:off x="594360" y="425196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14" name="Shape 12"/>
          <p:cNvSpPr/>
          <p:nvPr/>
        </p:nvSpPr>
        <p:spPr>
          <a:xfrm>
            <a:off x="914400" y="4407408"/>
            <a:ext cx="420624" cy="420624"/>
          </a:xfrm>
          <a:prstGeom prst="ellipse">
            <a:avLst/>
          </a:prstGeom>
          <a:solidFill>
            <a:srgbClr val="FFC24B"/>
          </a:solidFill>
          <a:ln/>
        </p:spPr>
        <p:txBody>
          <a:bodyPr/>
          <a:p/>
        </p:txBody>
      </p:sp>
      <p:sp>
        <p:nvSpPr>
          <p:cNvPr id="15" name="Text 13"/>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600200" y="425196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Linkul e și în chat; îl primiți și pe e-mailul instituțional</a:t>
            </a:r>
            <a:endParaRPr lang="en-US" sz="1700" dirty="0"/>
          </a:p>
        </p:txBody>
      </p:sp>
      <p:sp>
        <p:nvSpPr>
          <p:cNvPr id="17" name="Shape 15"/>
          <p:cNvSpPr/>
          <p:nvPr/>
        </p:nvSpPr>
        <p:spPr>
          <a:xfrm>
            <a:off x="594360" y="5120640"/>
            <a:ext cx="7498080" cy="731520"/>
          </a:xfrm>
          <a:prstGeom prst="roundRect">
            <a:avLst>
              <a:gd name="adj" fmla="val 11250"/>
            </a:avLst>
          </a:prstGeom>
          <a:solidFill>
            <a:srgbClr val="1D1F2B"/>
          </a:solidFill>
          <a:ln w="12700">
            <a:solidFill>
              <a:srgbClr val="1D1F2B"/>
            </a:solidFill>
            <a:prstDash val="solid"/>
          </a:ln>
        </p:spPr>
        <p:txBody>
          <a:bodyPr/>
          <a:p/>
        </p:txBody>
      </p:sp>
      <p:sp>
        <p:nvSpPr>
          <p:cNvPr id="18" name="Shape 16"/>
          <p:cNvSpPr/>
          <p:nvPr/>
        </p:nvSpPr>
        <p:spPr>
          <a:xfrm>
            <a:off x="914400" y="5276088"/>
            <a:ext cx="420624" cy="420624"/>
          </a:xfrm>
          <a:prstGeom prst="ellipse">
            <a:avLst/>
          </a:prstGeom>
          <a:solidFill>
            <a:srgbClr val="FFC24B"/>
          </a:solidFill>
          <a:ln/>
        </p:spPr>
        <p:txBody>
          <a:bodyPr/>
          <a:p/>
        </p:txBody>
      </p:sp>
      <p:sp>
        <p:nvSpPr>
          <p:cNvPr id="19" name="Text 17"/>
          <p:cNvSpPr/>
          <p:nvPr/>
        </p:nvSpPr>
        <p:spPr>
          <a:xfrm>
            <a:off x="914400" y="52760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1600200" y="5120640"/>
            <a:ext cx="6217920" cy="73152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Termenul: ședința următoare; formularul nu se notează</a:t>
            </a:r>
            <a:endParaRPr lang="en-US" sz="1700" dirty="0"/>
          </a:p>
        </p:txBody>
      </p:sp>
      <p:sp>
        <p:nvSpPr>
          <p:cNvPr id="21" name="Shape 19"/>
          <p:cNvSpPr/>
          <p:nvPr/>
        </p:nvSpPr>
        <p:spPr>
          <a:xfrm>
            <a:off x="8549640" y="2514600"/>
            <a:ext cx="3017520" cy="2606040"/>
          </a:xfrm>
          <a:prstGeom prst="roundRect">
            <a:avLst>
              <a:gd name="adj" fmla="val 3158"/>
            </a:avLst>
          </a:prstGeom>
          <a:solidFill>
            <a:srgbClr val="FFFFFF"/>
          </a:solidFill>
          <a:ln w="12700">
            <a:solidFill>
              <a:srgbClr val="FFFFFF"/>
            </a:solidFill>
            <a:prstDash val="solid"/>
          </a:ln>
        </p:spPr>
        <p:txBody>
          <a:bodyPr/>
          <a:p/>
        </p:txBody>
      </p:sp>
      <p:sp>
        <p:nvSpPr>
          <p:cNvPr id="23" name="Text 21"/>
          <p:cNvSpPr/>
          <p:nvPr/>
        </p:nvSpPr>
        <p:spPr>
          <a:xfrm>
            <a:off x="8549640" y="5257800"/>
            <a:ext cx="3017520" cy="900000"/>
          </a:xfrm>
          <a:prstGeom prst="rect">
            <a:avLst/>
          </a:prstGeom>
          <a:noFill/>
          <a:ln/>
        </p:spPr>
        <p:txBody>
          <a:bodyPr wrap="square" lIns="0" tIns="0" rIns="0" bIns="0" rtlCol="0" anchor="t"/>
          <a:lstStyle/>
          <a:p>
            <a:pPr algn="ctr" indent="0" marL="0">
              <a:buNone/>
            </a:pPr>
            <a:r>
              <a:rPr lang="en-US" sz="800" dirty="0">
                <a:solidFill>
                  <a:srgbClr val="959BB0"/>
                </a:solidFill>
                <a:latin typeface="Palatino Linotype" pitchFamily="34" charset="0"/>
                <a:ea typeface="Palatino Linotype" pitchFamily="34" charset="-122"/>
                <a:cs typeface="Palatino Linotype" pitchFamily="34" charset="-120"/>
              </a:rPr>
              <a:t>https://forms.cloud.microsoft/Pages/ResponsePage.aspx?id=Ja-p_IQ7bEyXNp1c3OIQxcVVqiPRLBZPnSRyYXMyGOZURVEwRk41WEtUQVBBVjRIVFJLUFc5TjQ4VC4u</a:t>
            </a:r>
            <a:endParaRPr lang="en-US" sz="1300" dirty="0"/>
          </a:p>
        </p:txBody>
      </p:sp>
      <p:pic>
        <p:nvPicPr>
          <p:cNvPr id="24" name="Picture 23" descr="Detectivii_LP02_acasa_individual.png"/>
          <p:cNvPicPr>
            <a:picLocks noChangeAspect="1"/>
          </p:cNvPicPr>
          <p:nvPr/>
        </p:nvPicPr>
        <p:blipFill>
          <a:blip r:embed="rId3"/>
          <a:stretch>
            <a:fillRect/>
          </a:stretch>
        </p:blipFill>
        <p:spPr>
          <a:xfrm>
            <a:off x="8755380" y="2514600"/>
            <a:ext cx="2606040" cy="26060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93192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9319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Biletul de ieșire</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732520" y="2514600"/>
            <a:ext cx="2651760" cy="2468880"/>
          </a:xfrm>
          <a:prstGeom prst="rect">
            <a:avLst/>
          </a:prstGeom>
          <a:noFill/>
          <a:ln/>
        </p:spPr>
        <p:txBody>
          <a:bodyPr wrap="square" lIns="0" tIns="0" rIns="0" bIns="0" rtlCol="0" anchor="ctr"/>
          <a:lstStyle/>
          <a:p>
            <a:pPr algn="ctr" indent="0" marL="0">
              <a:buNone/>
            </a:pPr>
            <a:r>
              <a:rPr lang="en-US" sz="1500" dirty="0">
                <a:solidFill>
                  <a:srgbClr val="FFFFFF"/>
                </a:solidFill>
                <a:latin typeface="Palatino Linotype" pitchFamily="34" charset="0"/>
                <a:ea typeface="Palatino Linotype" pitchFamily="34" charset="-122"/>
                <a:cs typeface="Palatino Linotype" pitchFamily="34" charset="-120"/>
              </a:rPr>
              <a:t>Mentimeter: menti.com, cu codul de pe ecran; linkul e și în chat.</a:t>
            </a:r>
            <a:endParaRPr lang="en-US" sz="15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Luni, pe pagina cursului, veți găsi două modificări făcute pe baza răspunsurilor.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Lucrarea practică 2 - Focarul din cămin: refaceți piramida supravegherii</dc:title>
  <dc:subject>PptxGenJS Presentation</dc:subject>
  <dc:creator>Conf. Univ. Dr. Adrian Pana</dc:creator>
  <cp:lastModifiedBy>Conf. Univ. Dr. Adrian Pana</cp:lastModifiedBy>
  <cp:revision>1</cp:revision>
  <dcterms:created xsi:type="dcterms:W3CDTF">2026-10-11T17:31:14Z</dcterms:created>
  <dcterms:modified xsi:type="dcterms:W3CDTF">2026-10-11T17:31:14Z</dcterms:modified>
  <cp:keywords>sursa_amprenta=24d850048db5c32b; proiectie</cp:keywords>
</cp:coreProperties>
</file>