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8203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840480"/>
            <a:ext cx="3474720" cy="3474720"/>
          </a:xfrm>
          <a:prstGeom prst="ellipse">
            <a:avLst/>
          </a:prstGeom>
          <a:solidFill>
            <a:srgbClr val="182032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77724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LUCRAREA PRACTICĂ ÎNTÂI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Cina de la Oswego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unui focar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patru pași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3886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focar real, cu datele lui reale, cercetat de voi pe telefon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13232" y="452628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800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Detectivii epidemiilor: cum ucid bolile milioane de oameni și cum le oprim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Conf. univ. dr. Adrian Pană · UMF „Iuliu Hațieganu” Cluj-Napoca · 2026–2027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CAZUL · NEW YORK, APRILIE 1940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Cina din subsolul bisericii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zi după cina bisericii, responsabilul sanitar local din Lycoming anunță un focar de boală digestivă acută. Toți bolnavii cunoscuți fuseseră la cină; familiile lor rămase acasă sunt sănătoase.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" y="28346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44368"/>
            <a:ext cx="29718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 aprilie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586734"/>
            <a:ext cx="2971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cina: ora 18–23, mâncare adusă de enoriași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25112" y="28346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944368"/>
            <a:ext cx="29718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 din 80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99432" y="3586734"/>
            <a:ext cx="2971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participanți intervievați de dr. Rubin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55864" y="2834640"/>
            <a:ext cx="3520440" cy="1600200"/>
          </a:xfrm>
          <a:prstGeom prst="roundRect">
            <a:avLst>
              <a:gd name="adj" fmla="val 514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2944368"/>
            <a:ext cx="29718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24–30 de ore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330184" y="3586734"/>
            <a:ext cx="2971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până la vindecare; niciun bolnav nu a declarat febră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Greață, vărsături, diaree, dureri abdominale. Nicio probă de laborator de la bolnavi.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63093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studiul de caz Oswego (2003)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 · GRUPURI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VOASTRĂ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Deschideți formularul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751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75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78308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Grupuri de 3–4 vecini de bancă, un singur telefon pe grup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93522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74320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Scrieți numele grupului: inițialele membrilor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370332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89534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70332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pas se deschide numai după răspunsul corect la întrebarea cu variante; valorile calculate le vedeți corectate după trimitere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94360" y="4663440"/>
            <a:ext cx="7498080" cy="804672"/>
          </a:xfrm>
          <a:prstGeom prst="roundRect">
            <a:avLst>
              <a:gd name="adj" fmla="val 10227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8554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855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663440"/>
            <a:ext cx="6217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un răspuns greșit: un indiciu, apoi reveniți la întrebare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549640" y="1783080"/>
            <a:ext cx="30175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549640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Scanați cu camera telefonului</a:t>
            </a:r>
            <a:endParaRPr lang="en-US" sz="1300" dirty="0"/>
          </a:p>
        </p:txBody>
      </p:sp>
      <p:pic>
        <p:nvPicPr>
          <p:cNvPr id="25" name="Picture 24" descr="Detectivii_LP01_sala_escape_room_pe_grupuri_de_ban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78308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rianpana/Downloads/UMF_Cluj_SP/Materiale SP/Atelier_didactic/discipline/OPT_DETECTIVI/active/img/ancheta_restaurant_cdc_phil316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053328"/>
            <a:ext cx="5486400" cy="804672"/>
          </a:xfrm>
          <a:prstGeom prst="rect">
            <a:avLst/>
          </a:prstGeom>
          <a:solidFill>
            <a:srgbClr val="11121A">
              <a:alpha val="75000"/>
            </a:srgbClr>
          </a:solidFill>
          <a:ln w="12700">
            <a:solidFill>
              <a:srgbClr val="1112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608990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Anchetă de focar alimentar: inspecția unei bucătării · Seattle, 2026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74320" y="654710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9CCD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Foto: CDC · domeniu public · CDC PHIL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035040" y="4114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ANCHETA ÎN PATRU PAȘI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7772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aflați, în ordine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035040" y="1783080"/>
            <a:ext cx="420624" cy="420624"/>
          </a:xfrm>
          <a:prstGeom prst="ellipse">
            <a:avLst/>
          </a:prstGeom>
          <a:solidFill>
            <a:srgbClr val="B02532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0" y="1737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caz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75120" y="21762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Definiția de caz din cursul de azi, aplicată listei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035040" y="2880360"/>
            <a:ext cx="420624" cy="420624"/>
          </a:xfrm>
          <a:prstGeom prst="ellipse">
            <a:avLst/>
          </a:prstGeom>
          <a:solidFill>
            <a:srgbClr val="0E7C6B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675120" y="2834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au mâncat bolnavii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675120" y="32735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de atac la cei care au mâncat și la cei care nu au mâncat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035040" y="3977640"/>
            <a:ext cx="420624" cy="420624"/>
          </a:xfrm>
          <a:prstGeom prst="ellipse">
            <a:avLst/>
          </a:prstGeom>
          <a:solidFill>
            <a:srgbClr val="4A2D8C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3931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s-au îmbolnăvit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75120" y="43708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Curba epidemică și perioada de incubație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035040" y="5074920"/>
            <a:ext cx="420624" cy="420624"/>
          </a:xfrm>
          <a:prstGeom prst="ellipse">
            <a:avLst/>
          </a:prstGeom>
          <a:solidFill>
            <a:srgbClr val="8A6100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675120" y="5029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face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675120" y="54681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 propusă autorității sanitare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AL DOILEA · RATA DE ATAC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a mâncat și cine s-a îmbolnăvit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192024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Alimentul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6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Au mâncat: total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6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Au mâncat: bolnavi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6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Nu au mâncat: total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6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Nu au mâncat: bolnavi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6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Șuncă la cuptor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46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29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29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17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Salată de varză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28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18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47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28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Înghețată de vanilie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54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43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21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Înghețată de ciocolată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47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25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27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20</a:t>
                      </a:r>
                      <a:endParaRPr lang="en-US" sz="18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3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de atac = bolnavii din grup împărțiți la toți cei din grup. Comparați cele două rate ale fiecărui aliment.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4360" y="63093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calcul propriu din lista pe persoane a anchetei (CDC, 2003), în forma setului de date epitools; la înghețata de ciocolată, o persoană nu a răspuns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7EF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AL TREILEA · CURBA EPIDEMICĂ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au apărut primele simptome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2295144" y="1828800"/>
            <a:ext cx="1920240" cy="3429000"/>
          </a:xfrm>
          <a:prstGeom prst="rect">
            <a:avLst/>
          </a:prstGeom>
          <a:solidFill>
            <a:srgbClr val="1E2233"/>
          </a:solidFill>
          <a:ln w="12700">
            <a:solidFill>
              <a:srgbClr val="1E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95144" y="1856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4654296"/>
            <a:ext cx="7680960" cy="9144"/>
          </a:xfrm>
          <a:prstGeom prst="rect">
            <a:avLst/>
          </a:prstGeom>
          <a:solidFill>
            <a:srgbClr val="2E3142"/>
          </a:solidFill>
          <a:ln w="12700">
            <a:solidFill>
              <a:srgbClr val="2E31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53542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43000" y="4050792"/>
            <a:ext cx="7680960" cy="9144"/>
          </a:xfrm>
          <a:prstGeom prst="rect">
            <a:avLst/>
          </a:prstGeom>
          <a:solidFill>
            <a:srgbClr val="2E3142"/>
          </a:solidFill>
          <a:ln w="12700">
            <a:solidFill>
              <a:srgbClr val="2E31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9319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43000" y="3447288"/>
            <a:ext cx="7680960" cy="9144"/>
          </a:xfrm>
          <a:prstGeom prst="rect">
            <a:avLst/>
          </a:prstGeom>
          <a:solidFill>
            <a:srgbClr val="2E3142"/>
          </a:solidFill>
          <a:ln w="12700">
            <a:solidFill>
              <a:srgbClr val="2E31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2841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43000" y="2843784"/>
            <a:ext cx="7680960" cy="9144"/>
          </a:xfrm>
          <a:prstGeom prst="rect">
            <a:avLst/>
          </a:prstGeom>
          <a:solidFill>
            <a:srgbClr val="2E3142"/>
          </a:solidFill>
          <a:ln w="12700">
            <a:solidFill>
              <a:srgbClr val="2E31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249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2240280"/>
            <a:ext cx="7680960" cy="9144"/>
          </a:xfrm>
          <a:prstGeom prst="rect">
            <a:avLst/>
          </a:prstGeom>
          <a:solidFill>
            <a:srgbClr val="2E3142"/>
          </a:solidFill>
          <a:ln w="12700">
            <a:solidFill>
              <a:srgbClr val="2E31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1214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1828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43000" y="4956048"/>
            <a:ext cx="384048" cy="301752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73936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42032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3447288"/>
            <a:ext cx="384048" cy="1810512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154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31336" y="3447288"/>
            <a:ext cx="384048" cy="1810512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3154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15384" y="3145536"/>
            <a:ext cx="384048" cy="2112264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23944" y="285292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78224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23h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99432" y="2542032"/>
            <a:ext cx="384048" cy="2715768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7992" y="224942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83480" y="2240280"/>
            <a:ext cx="384048" cy="3017520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9476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67528" y="3447288"/>
            <a:ext cx="384048" cy="1810512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76088" y="3154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614416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82512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50608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18704" y="53309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439912" y="4956048"/>
            <a:ext cx="384048" cy="301752"/>
          </a:xfrm>
          <a:prstGeom prst="rect">
            <a:avLst/>
          </a:prstGeom>
          <a:solidFill>
            <a:srgbClr val="9B7EF7"/>
          </a:solidFill>
          <a:ln w="9525">
            <a:solidFill>
              <a:srgbClr val="11121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46634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143000" y="5257800"/>
            <a:ext cx="7680960" cy="18288"/>
          </a:xfrm>
          <a:prstGeom prst="rect">
            <a:avLst/>
          </a:prstGeom>
          <a:solidFill>
            <a:srgbClr val="C9CDE0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99432" y="5257800"/>
            <a:ext cx="18288" cy="685800"/>
          </a:xfrm>
          <a:prstGeom prst="rect">
            <a:avLst/>
          </a:prstGeom>
          <a:solidFill>
            <a:srgbClr val="C9CDE0"/>
          </a:solidFill>
          <a:ln w="12700">
            <a:solidFill>
              <a:srgbClr val="C9CD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56418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18 aprilie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599432" y="564184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19 aprilie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9144000" y="1737360"/>
            <a:ext cx="2423160" cy="4114800"/>
          </a:xfrm>
          <a:prstGeom prst="roundRect">
            <a:avLst>
              <a:gd name="adj" fmla="val 339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26880" y="1874520"/>
            <a:ext cx="2103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Bolnavi pe ora debutului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bară = o oră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Cina a început seara. Cât timp a trecut până la primele simptome?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Și bolnavul de la ora 15, înainte de cină: poate fi un caz al focarului?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94360" y="63093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49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calcul propriu din lista pe persoane a anchetei (CDC, 2003), în forma setului de date epitools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92608"/>
            <a:ext cx="30175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49640" y="2926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SĂLII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A6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FIECARE PAS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au răspuns grupurile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este caz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răspunsurilor din Forms]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au mâncat bolnavii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56032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răspunsurilor din Forms]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Când s-au îmbolnăvit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5080" y="256032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răspunsurilor din Forms]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0" y="178308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se face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256032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[distribuția răspunsurilor din Forms]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s-a greșit cel mai des și de ce?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SINTEZA ANCHETEI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arătat ancheta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071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071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830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Caz: participant la cină cu greață, vărsături, diaree sau dureri abdominale debutate pe 18 sau 19 aprilie; alimentul nu intră în regulă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807208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3123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312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80720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Înghețata de vanilie: 43 de bolnavi din 54 care au mâncat-o, 3 din 21 care nu au mâncat-o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831336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0553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553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831336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Aproape toți în aceeași noapte, la câteva ore după masă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855464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0794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794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855464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Măsura: înghețata rămasă, retrasă și analizată, apoi scoasă din consum; examinați cei care au preparat-o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DEZNODĂMÂNTUL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găsit laboratorul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92808"/>
            <a:ext cx="48463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Înghețata de vanilie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599639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stafilococi aurii în număr mare; în cea de ciocolată, doar câțiva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92808"/>
            <a:ext cx="484632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lingură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46520" y="2599639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ambele înghețate: explicația cea mai plauzibilă, după raport, pentru bolnavii fără vanilie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Înghețata fusese preparată pe 17 aprilie și lăsată peste noapte în subsolul bisericii. Modul contaminării nu a putut fi lămurit.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Bolnavul de dinaintea cinei: un copil care primise o porție de vanilie dimineața, în timp ce privea congelarea (incubația: 4 ore).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630936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CDC, studiul de caz Oswego (2003), raportul anchetei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DOUA ORĂ · ACASĂ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caz nou, lucrat individual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94360" y="251460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5146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Formularul îl primiți pe e-mailul instituțional și pe Teams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3832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3832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Completați cu numele și grupa voastră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00200" y="42519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Aceiași patru pași, pe un focar cu valori ipotetice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512064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276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Termenul: ședința următoare; formularul nu se notează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TREI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Evaluarea anonimă a ședinței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Lucrarea practică 1 - Cina de la Oswego: ancheta unui focar în patru pași</dc:title>
  <dc:subject>PptxGenJS Presentation</dc:subject>
  <dc:creator>Conf. Univ. Dr. Adrian Pana</dc:creator>
  <cp:lastModifiedBy>Conf. Univ. Dr. Adrian Pana</cp:lastModifiedBy>
  <cp:revision>1</cp:revision>
  <dcterms:created xsi:type="dcterms:W3CDTF">2026-10-03T13:26:27Z</dcterms:created>
  <dcterms:modified xsi:type="dcterms:W3CDTF">2026-10-03T13:26:27Z</dcterms:modified>
  <cp:keywords>sursa_amprenta=5d7774b429640f5f; proiectie</cp:keywords>
</cp:coreProperties>
</file>