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77724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CURSUL 3  ·  EDUCAȚIE PENTRU SĂNĂTATE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afiș nu este un program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Etapele implementării unui program de educație pentru sănătate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452628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4709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Radiologie și imagistică, anul 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„Iuliu Hațieganu” Cluj-Napoca · Disciplina de Sănătate publică și management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-180000">
            <a:off x="8138160" y="914400"/>
            <a:ext cx="3017520" cy="402336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27000" dist="63500" dir="36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rot="-1200000">
            <a:off x="8001000" y="822960"/>
            <a:ext cx="548640" cy="201168"/>
          </a:xfrm>
          <a:prstGeom prst="rect">
            <a:avLst/>
          </a:prstGeom>
          <a:solidFill>
            <a:srgbClr val="E9DFB8"/>
          </a:solidFill>
          <a:ln w="12700">
            <a:solidFill>
              <a:srgbClr val="E9DFB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rot="-1200000">
            <a:off x="10835640" y="685800"/>
            <a:ext cx="548640" cy="201168"/>
          </a:xfrm>
          <a:prstGeom prst="rect">
            <a:avLst/>
          </a:prstGeom>
          <a:solidFill>
            <a:srgbClr val="E9DFB8"/>
          </a:solidFill>
          <a:ln w="12700">
            <a:solidFill>
              <a:srgbClr val="E9DFB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 rot="-180000">
            <a:off x="8412480" y="1325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IMPORTANȚA EXERCIȚIILOR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rot="-180000">
            <a:off x="8549640" y="2377440"/>
            <a:ext cx="219456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-180000">
            <a:off x="8549640" y="2670048"/>
            <a:ext cx="219456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-180000">
            <a:off x="8549640" y="2962656"/>
            <a:ext cx="128016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-180000">
            <a:off x="8549640" y="3255264"/>
            <a:ext cx="219456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-180000">
            <a:off x="8549640" y="3547872"/>
            <a:ext cx="219456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rot="-180000">
            <a:off x="8549640" y="3840480"/>
            <a:ext cx="128016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rot="-180000">
            <a:off x="8549640" y="4133088"/>
            <a:ext cx="219456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BILETELE DE IEȘIRE ALE ȘEDINȚEI TRECUTE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facem cu răspunsurile voastre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828800"/>
            <a:ext cx="82296" cy="118872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176272"/>
            <a:ext cx="493776" cy="493776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176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18288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Citim toate răspunsurile de la biletul de ieșire al ședinței trecute.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94360" y="324612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94360" y="3246120"/>
            <a:ext cx="82296" cy="118872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3593592"/>
            <a:ext cx="493776" cy="493776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5935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3246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modificări, anunțate pe pagina disciplinei, se aplică de azi.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94360" y="484632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4846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Azi: de la o ședință bună la un program. Jumătate din timp lucrați voi.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BAZĂ DE RECUPERARE CARE ÎȘI PIERDE PACIENȚII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Renunță după a treia ședință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 trecuți de 65 de ani, cu artroză de genunchi, vin de trei sau patru ori, apoi nu mai apar.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3108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Soluția propusă repede: un afiș frumos în sala de așteptare și o broșură la recepție.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484632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4846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două luni, situația este aceeași.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863840" y="1463040"/>
            <a:ext cx="3291840" cy="3017520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rot="120000">
            <a:off x="8412480" y="1737360"/>
            <a:ext cx="2194560" cy="246888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 rot="120000">
            <a:off x="8549640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IMPORTANȚA EXERCIȚIILOR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120000">
            <a:off x="8686800" y="2743200"/>
            <a:ext cx="164592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120000">
            <a:off x="8686800" y="2999232"/>
            <a:ext cx="109728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 rot="120000">
            <a:off x="8686800" y="3255264"/>
            <a:ext cx="164592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120000">
            <a:off x="8686800" y="3511296"/>
            <a:ext cx="109728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120000">
            <a:off x="8686800" y="3767328"/>
            <a:ext cx="164592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863840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 de așteptare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KINETOTERAPEUT SUNĂ ZECE DINTRE CEI CARE AU RENUNȚAT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spun cei care au plecat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7498080" cy="777240"/>
          </a:xfrm>
          <a:prstGeom prst="roundRect">
            <a:avLst>
              <a:gd name="adj" fmla="val 211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V="1">
            <a:off x="1005840" y="2496312"/>
            <a:ext cx="457200" cy="292608"/>
          </a:xfrm>
          <a:prstGeom prst="triangle">
            <a:avLst/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73736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Drumul: două autobuze, de două ori pe săptămână, prea greu.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58200" y="1737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pacienți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51560" y="2788920"/>
            <a:ext cx="7498080" cy="777240"/>
          </a:xfrm>
          <a:prstGeom prst="roundRect">
            <a:avLst>
              <a:gd name="adj" fmla="val 21176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V="1">
            <a:off x="1463040" y="3547872"/>
            <a:ext cx="457200" cy="292608"/>
          </a:xfrm>
          <a:prstGeom prst="triangle">
            <a:avLst/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25880" y="27889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exerciții îi durea mai tare și au crezut că își fac rău.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15400" y="2788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doi pacienți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508760" y="3840480"/>
            <a:ext cx="7498080" cy="777240"/>
          </a:xfrm>
          <a:prstGeom prst="roundRect">
            <a:avLst>
              <a:gd name="adj" fmla="val 211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 flipV="1">
            <a:off x="1920240" y="4599432"/>
            <a:ext cx="457200" cy="292608"/>
          </a:xfrm>
          <a:prstGeom prst="triangle">
            <a:avLst/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783080" y="38404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de exerciții era „prea complicată”: nu au înțeles ce au de făcut acasă.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72600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alții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507492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Niciunul nu a pomenit lipsa de informații despre „importanța exercițiilor”.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PE TELEFON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AȚI FI ÎN ECHIPA BAZEI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face întâi?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749808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9110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afiș mai mare și mai colorat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569464"/>
            <a:ext cx="749808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2697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569464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clip pe pagina bazei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355848"/>
            <a:ext cx="749808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348386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483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355848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Discuții cu pacienții care au renunțat și cu cei care au rămas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" y="4142232"/>
            <a:ext cx="749808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" y="42702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142232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Programări mai rare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94360" y="4928616"/>
            <a:ext cx="749808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22960" y="50566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2960" y="5056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63040" y="4928616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mesaj pe telefon după fiecare ședință ratată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549640" y="178308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765792" y="205740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994392" y="278892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778240" y="3200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49640" y="45720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 două minute cu colegul de bancă: de ce nu a mers afișul?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NU A MERS AFIȘUL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mijloc ales înainte de a ști problema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547872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828800"/>
            <a:ext cx="3547872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20574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Drumul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autobuze, de două ori pe săptămână. Afișul nu îl scurtează.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06824" y="1828800"/>
            <a:ext cx="3547872" cy="2377440"/>
          </a:xfrm>
          <a:prstGeom prst="roundRect">
            <a:avLst>
              <a:gd name="adj" fmla="val 3462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06824" y="1828800"/>
            <a:ext cx="3547872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07992" y="20574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Durerea după efort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07992" y="306324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Teama că își fac rău. Afișul nu o explică.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19288" y="1828800"/>
            <a:ext cx="3547872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19288" y="1828800"/>
            <a:ext cx="3547872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0456" y="20574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neînțeleasă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20456" y="306324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Prea complicată. Afișul nu o face mai simplă.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57200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5720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Întâi: discuții cu pacienții care au renunțat și cu cei care au rămas. Un program pornește de la problemă și de la oameni.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TIPAR ÎN COMUNITATE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„zi a sănătății coloanei”, într-o sâmbătă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04104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828800"/>
            <a:ext cx="5404104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2057400"/>
            <a:ext cx="5001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avea nevoie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5001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Muncitorii din depozitele cartierului, cu dureri de spate, care lucrează în ture.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63056" y="1828800"/>
            <a:ext cx="5404104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63056" y="1828800"/>
            <a:ext cx="5404104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64224" y="2057400"/>
            <a:ext cx="5001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a venit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64224" y="3063240"/>
            <a:ext cx="5001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Pensionari și familii cu copii, la standuri cu pliante.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457200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45720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Mesajul era corect. Programul nu a pornit de la oamenii cărora le era destinat.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RĂSPUNS PROVIZORIU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deosebește un program de o acțiune izolată?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Ordinea în care se iau deciziile: întâi problema și oamenii, abia apoi mijlocul.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3520440"/>
            <a:ext cx="1097280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3520440"/>
            <a:ext cx="82296" cy="201168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PROGRAMUL, ÎN SENSUL DISCIPLINEI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Activități planificate, care se repetă, au oameni responsabili, buget și calendar și pot fi evaluate.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UNSPREZECE ETAPE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ordine logică, la care echipa se întoarce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46504"/>
            <a:ext cx="457200" cy="457200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nevoilor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94360" y="2404872"/>
            <a:ext cx="457200" cy="457200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35000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Problema și publicul-țintă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00837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Cadrul logic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594360" y="3721608"/>
            <a:ext cx="457200" cy="457200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66674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Obiectivele și indicatorii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594360" y="4379976"/>
            <a:ext cx="457200" cy="457200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3251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Alegerea intervențiilor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94360" y="5038344"/>
            <a:ext cx="457200" cy="457200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436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9834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Implicarea comunității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6217920" y="1746504"/>
            <a:ext cx="457200" cy="457200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1792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16916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operațional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6217920" y="2404872"/>
            <a:ext cx="457200" cy="457200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1792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235000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Materialele și locul educației în fluxul de lucru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6217920" y="3063240"/>
            <a:ext cx="457200" cy="457200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2179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300837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Riscurile, etica și datele</a:t>
            </a:r>
            <a:endParaRPr lang="en-US" sz="1750" dirty="0"/>
          </a:p>
        </p:txBody>
      </p:sp>
      <p:sp>
        <p:nvSpPr>
          <p:cNvPr id="31" name="Shape 29"/>
          <p:cNvSpPr/>
          <p:nvPr/>
        </p:nvSpPr>
        <p:spPr>
          <a:xfrm>
            <a:off x="6217920" y="3721608"/>
            <a:ext cx="457200" cy="457200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1792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366674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Monitorizarea și evaluarea</a:t>
            </a:r>
            <a:endParaRPr lang="en-US" sz="1750" dirty="0"/>
          </a:p>
        </p:txBody>
      </p:sp>
      <p:sp>
        <p:nvSpPr>
          <p:cNvPr id="34" name="Shape 32"/>
          <p:cNvSpPr/>
          <p:nvPr/>
        </p:nvSpPr>
        <p:spPr>
          <a:xfrm>
            <a:off x="6217920" y="4379976"/>
            <a:ext cx="457200" cy="457200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21792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0" y="43251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Îmbunătățirea în cicluri scurte</a:t>
            </a:r>
            <a:endParaRPr lang="en-US" sz="1750" dirty="0"/>
          </a:p>
        </p:txBody>
      </p:sp>
      <p:sp>
        <p:nvSpPr>
          <p:cNvPr id="37" name="Shape 35"/>
          <p:cNvSpPr/>
          <p:nvPr/>
        </p:nvSpPr>
        <p:spPr>
          <a:xfrm>
            <a:off x="6217920" y="5010912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355080" y="501091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etapă sărită se plătește mai târziu. Afișul a sărit peste primele două.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sinteza materialelor disciplinei.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ÎNTÂI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nevoilor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OMS: o procedură sistematică prin care se stabilesc natura și amploarea nevoilor de sănătate, cauzele lor, acțiunile necesare și resursele disponibile. Se completează în timp.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788920"/>
            <a:ext cx="2619756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2788920"/>
            <a:ext cx="2619756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95528" y="301752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" y="4023360"/>
            <a:ext cx="22174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este afectat și cât de des.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78708" y="2788920"/>
            <a:ext cx="2619756" cy="2377440"/>
          </a:xfrm>
          <a:prstGeom prst="roundRect">
            <a:avLst>
              <a:gd name="adj" fmla="val 3462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378708" y="2788920"/>
            <a:ext cx="2619756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79876" y="301752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vor?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579876" y="4023360"/>
            <a:ext cx="22174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își doresc oamenii, nu ce credeți voi.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63056" y="2788920"/>
            <a:ext cx="2619756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63056" y="2788920"/>
            <a:ext cx="2619756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64224" y="301752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îi oprește?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364224" y="4023360"/>
            <a:ext cx="22174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Timpul, banii, transportul, durerea, teama.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47404" y="2788920"/>
            <a:ext cx="2619756" cy="2377440"/>
          </a:xfrm>
          <a:prstGeom prst="roundRect">
            <a:avLst>
              <a:gd name="adj" fmla="val 3462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947404" y="2788920"/>
            <a:ext cx="2619756" cy="73152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8572" y="301752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există?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8572" y="4023360"/>
            <a:ext cx="22174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Oameni, spații, parteneri.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glosarul promovării sănătății, 2021.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AFLAT BAZA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surse ușoare, o decizie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10 TELEFOANE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neînțeleasă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291840" y="2103120"/>
            <a:ext cx="3108960" cy="384048"/>
          </a:xfrm>
          <a:prstGeom prst="roundRect">
            <a:avLst>
              <a:gd name="adj" fmla="val 11905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92240" y="2011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7249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Transportul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291840" y="2816352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715000" y="27249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343814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Durerea după exerciții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291840" y="3529584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37760" y="343814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1513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Alte motive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291840" y="4242816"/>
            <a:ext cx="777240" cy="384048"/>
          </a:xfrm>
          <a:prstGeom prst="roundRect">
            <a:avLst>
              <a:gd name="adj" fmla="val 11905"/>
            </a:avLst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160520" y="41513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23760" y="1600200"/>
            <a:ext cx="4343400" cy="1417320"/>
          </a:xfrm>
          <a:prstGeom prst="roundRect">
            <a:avLst>
              <a:gd name="adj" fmla="val 580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52360" y="169164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fișe: 24 din 60 de pacienți au venit la cel mult 4 din cele 10 ședințe.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23760" y="3154680"/>
            <a:ext cx="4343400" cy="1143000"/>
          </a:xfrm>
          <a:prstGeom prst="roundRect">
            <a:avLst>
              <a:gd name="adj" fmla="val 72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52360" y="324612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observație: fișa avea 3 pagini și 14 exerciții.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" y="493776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8680" y="49377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Decizia: ședințe grupate, fișă de o pagină cu pictograme, verificarea înțelegerii.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A DOUA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Problema nu este același lucru cu cauzele ei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84048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783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„Pacienții nu fac exerciții”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3291840" cy="0"/>
          </a:xfrm>
          <a:prstGeom prst="line">
            <a:avLst/>
          </a:prstGeom>
          <a:noFill/>
          <a:ln w="381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prea vag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17720" y="1691640"/>
            <a:ext cx="6949440" cy="1737360"/>
          </a:xfrm>
          <a:prstGeom prst="roundRect">
            <a:avLst>
              <a:gd name="adj" fmla="val 473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846320" y="1691640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Cine, ce, unde, cât: o parte din pacienții de peste 65 de ani cu artroză de genunchi, tratați în ambulatoriu la această bază, nu termină seria.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657600"/>
            <a:ext cx="1097280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3657600"/>
            <a:ext cx="82296" cy="210312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822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PUBLICUL-ȚINTĂ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2062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Grupul căruia i se adresează programul, ales după problemă, după cauzele ei și după posibilitatea reală de a ajunge la el.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 · 2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COLEGUL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Rescrieți problema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7830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„Tinerii nu fac destulă mișcare.”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315468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3154680"/>
            <a:ext cx="82296" cy="7498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68680" y="3319272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1546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315468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Cine, ce, unde, cât.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02336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" y="4023360"/>
            <a:ext cx="82296" cy="7498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68680" y="418795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02336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Cauzele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03320" y="402336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cauze posibile, câte una pe rând.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4360" y="489204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94360" y="4892040"/>
            <a:ext cx="82296" cy="7498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68680" y="5056632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5056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8920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703320" y="489204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perechi citesc. A fost problema confundată cu o cauză?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9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NOU 1 DIN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Cadrul logic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limbaj obișnuit: desenul pe o pagină al „rețetei” programului: ce puneți, ce faceți, ce produceți și ce sperați să se schimbe.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3291840"/>
            <a:ext cx="1097280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3291840"/>
            <a:ext cx="82296" cy="23774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342900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Ghidul CDC din 2024: reprezentarea grafică a legăturii dintre activitățile unui program și rezultatele lui urmărite. Arată cum ar trebui să funcționeze programul, nu cum funcționează efectiv; asta se află prin evaluare.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Centrele pentru Controlul și Prevenirea Bolilor din Statele Unite (CDC), ghidul de evaluare a programelor, 2024.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VERIGI, LEGATE PRIN „DACĂ–ATUNCI”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resurse la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887322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783080"/>
            <a:ext cx="1887322" cy="7315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98424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Resursele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496312"/>
            <a:ext cx="1613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personal, timp, spațiu, bani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09114" y="2487168"/>
            <a:ext cx="329184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865730" y="1783080"/>
            <a:ext cx="1887322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65730" y="1783080"/>
            <a:ext cx="1887322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02890" y="198424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Activitățile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02890" y="2496312"/>
            <a:ext cx="1613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efectiv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80483" y="2487168"/>
            <a:ext cx="329184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137099" y="1783080"/>
            <a:ext cx="1887322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137099" y="1783080"/>
            <a:ext cx="1887322" cy="73152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74259" y="198424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Produsele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74259" y="2496312"/>
            <a:ext cx="1613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ați livrat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051853" y="2487168"/>
            <a:ext cx="329184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408469" y="1783080"/>
            <a:ext cx="1887322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408469" y="1783080"/>
            <a:ext cx="1887322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545629" y="198424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Rezultatele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45629" y="2496312"/>
            <a:ext cx="1613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s-a schimbat la oameni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323222" y="2487168"/>
            <a:ext cx="329184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679838" y="1783080"/>
            <a:ext cx="1887322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679838" y="1783080"/>
            <a:ext cx="1887322" cy="73152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816998" y="198424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Impactul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816998" y="2496312"/>
            <a:ext cx="1613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sănătatea și funcționarea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" y="3840480"/>
            <a:ext cx="10972800" cy="1920240"/>
          </a:xfrm>
          <a:prstGeom prst="roundRect">
            <a:avLst>
              <a:gd name="adj" fmla="val 428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68680" y="384048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 verigi stau presupunerile. Dacă pacientul primește fișa, presupuneți că o înțelege și o folosește acasă. La bază, presupunerea era falsă și lanțul s-a rupt.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CADRUL LOGIC AL BAZEI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pe o pagină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887322" cy="2834640"/>
          </a:xfrm>
          <a:prstGeom prst="roundRect">
            <a:avLst>
              <a:gd name="adj" fmla="val 436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691640"/>
            <a:ext cx="1887322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89280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Resurse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404872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 kinetoterapeuți, 7 minute pe ședință, fișe cu pictograme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509114" y="2944368"/>
            <a:ext cx="329184" cy="329184"/>
          </a:xfrm>
          <a:prstGeom prst="rightArrow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865730" y="1691640"/>
            <a:ext cx="1887322" cy="2834640"/>
          </a:xfrm>
          <a:prstGeom prst="roundRect">
            <a:avLst>
              <a:gd name="adj" fmla="val 436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865730" y="1691640"/>
            <a:ext cx="1887322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002890" y="189280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Activități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02890" y="2404872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educația la fiecare ședință, reformularea, un telefon după prima absență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780483" y="2944368"/>
            <a:ext cx="329184" cy="329184"/>
          </a:xfrm>
          <a:prstGeom prst="rightArrow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137099" y="1691640"/>
            <a:ext cx="1887322" cy="2834640"/>
          </a:xfrm>
          <a:prstGeom prst="roundRect">
            <a:avLst>
              <a:gd name="adj" fmla="val 436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137099" y="1691640"/>
            <a:ext cx="1887322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74259" y="189280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Produse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74259" y="2404872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ședințe cu educație, fișe date, telefoane date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051853" y="2944368"/>
            <a:ext cx="329184" cy="329184"/>
          </a:xfrm>
          <a:prstGeom prst="rightArrow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08469" y="1691640"/>
            <a:ext cx="1887322" cy="2834640"/>
          </a:xfrm>
          <a:prstGeom prst="roundRect">
            <a:avLst>
              <a:gd name="adj" fmla="val 436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408469" y="1691640"/>
            <a:ext cx="1887322" cy="73152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545629" y="189280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545629" y="2404872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spune corect ce face acasă; termină seria de 10 ședințe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323222" y="2944368"/>
            <a:ext cx="329184" cy="329184"/>
          </a:xfrm>
          <a:prstGeom prst="rightArrow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679838" y="1691640"/>
            <a:ext cx="1887322" cy="2834640"/>
          </a:xfrm>
          <a:prstGeom prst="roundRect">
            <a:avLst>
              <a:gd name="adj" fmla="val 436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679838" y="1691640"/>
            <a:ext cx="1887322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816998" y="189280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Impact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816998" y="2404872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durere mai mică, mers mai sigur la 3 luni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94360" y="47548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68680" y="47548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Presupuneri: pot ajunge de două ori pe săptămână; fișa e înțeleasă; terapeuții au cele 7 minute.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 · 4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COLEGUL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Cadrul logic al programului din depozite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9050">
            <a:solidFill>
              <a:srgbClr val="959BB0"/>
            </a:solidFill>
            <a:prstDash val="dash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21031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Resurse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514600" y="2103120"/>
            <a:ext cx="347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62072" y="210312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9050">
            <a:solidFill>
              <a:srgbClr val="959BB0"/>
            </a:solidFill>
            <a:prstDash val="dash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862072" y="21031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Activități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82312" y="2103120"/>
            <a:ext cx="347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29784" y="210312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9050">
            <a:solidFill>
              <a:srgbClr val="959BB0"/>
            </a:solidFill>
            <a:prstDash val="dash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129784" y="21031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50024" y="2103120"/>
            <a:ext cx="347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?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7397496" y="210312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9050">
            <a:solidFill>
              <a:srgbClr val="959BB0"/>
            </a:solidFill>
            <a:prstDash val="dash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97496" y="21031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317736" y="2103120"/>
            <a:ext cx="347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665208" y="210312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9050">
            <a:solidFill>
              <a:srgbClr val="959BB0"/>
            </a:solidFill>
            <a:prstDash val="dash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65208" y="21031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Impact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3794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 două căsuțe, o presupunere care ar putea fi falsă.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94360" y="4480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perechi arată desenul; sala caută veriga cea mai fragilă.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A PATRA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Obiectivele și indicatorii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Indicatorul: o măsură precisă, cu definiție, sursă de date și ritm de colectare.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2286000"/>
            <a:ext cx="3547872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95528" y="25146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proces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" y="35204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livrat: ședințe cu educație, fișe date, participanți.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306824" y="2286000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06824" y="2286000"/>
            <a:ext cx="3547872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07992" y="25146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rezultat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07992" y="35204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s-a schimbat la oameni: câți termină seria, câți ridică o cutie corect.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019288" y="2286000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19288" y="2286000"/>
            <a:ext cx="3547872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0456" y="25146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impact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220456" y="35204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Durerea, zilele de concediu medical, internările.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94360" y="480060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48006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Măsurarea minimă: trei până la cinci indicatori esențiali, cu un ritm clar.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PE TELEFON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DIN DEPOZITE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este obiectivul măsurabil?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7498080" cy="1188720"/>
          </a:xfrm>
          <a:prstGeom prst="roundRect">
            <a:avLst>
              <a:gd name="adj" fmla="val 692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1671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Lucrătorii vor înțelege cât de importantă este ridicarea corectă.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108960"/>
            <a:ext cx="7498080" cy="1188720"/>
          </a:xfrm>
          <a:prstGeom prst="roundRect">
            <a:avLst>
              <a:gd name="adj" fmla="val 692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34930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10896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trei luni ținem patru ateliere despre ridicarea corectă, în tura a doua.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34840"/>
            <a:ext cx="7498080" cy="1188720"/>
          </a:xfrm>
          <a:prstGeom prst="roundRect">
            <a:avLst>
              <a:gd name="adj" fmla="val 692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48188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43484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trei luni, cel puțin șase din zece lucrători care au participat ridică corect o cutie, la observația standard.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549640" y="178308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765792" y="205740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994392" y="278892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778240" y="3200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LA VOT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C are toate cele cinci piese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554480"/>
            <a:ext cx="82296" cy="84124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764792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intenție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60520" y="1554480"/>
            <a:ext cx="7132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spune cât, până când și cum veți afla.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2514600"/>
            <a:ext cx="82296" cy="841248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68680" y="2724912"/>
            <a:ext cx="420624" cy="420624"/>
          </a:xfrm>
          <a:prstGeom prst="ellipse">
            <a:avLst/>
          </a:prstGeom>
          <a:solidFill>
            <a:srgbClr val="9C4A0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51460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 echipa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160520" y="2514600"/>
            <a:ext cx="7132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Numărul atelierelor este un indicator de proces.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94360" y="347472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3474720"/>
            <a:ext cx="82296" cy="84124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68680" y="3685032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47472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160520" y="3474720"/>
            <a:ext cx="7132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Arată ce se schimbă la lucrători.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594360" y="457200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457200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Ce: ridicarea corectă. Cât: șase din zece. La cine: lucrătorii care au participat. Până când: trei luni. Cum: observația standard.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PE TELEFON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BAZA DE RECUPERARE · PATRU VOTURI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fel de indicator este?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0071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0071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Numărul fișelor date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30129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0129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78892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Pacienții care spun corect ce exerciții fac acasă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79476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40187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0187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79476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Pacienții care vin la cel puțin opt din zece ședințe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80060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" y="50246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50246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80060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Scăderea durerii la opt săptămâni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549640" y="178308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765792" y="205740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994392" y="278892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778240" y="3200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49640" y="4572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Proces, rezultat sau impact?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PROCES, REZULTAT,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fișă dată nu e o fișă înțeleasă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47872" cy="26517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00200"/>
            <a:ext cx="3547872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18288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95528" y="2834640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Numărul fișelor date: un produs livrat.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306824" y="1600200"/>
            <a:ext cx="3547872" cy="2651760"/>
          </a:xfrm>
          <a:prstGeom prst="roundRect">
            <a:avLst>
              <a:gd name="adj" fmla="val 3103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06824" y="1600200"/>
            <a:ext cx="3547872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07992" y="18288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07992" y="2834640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Pacienții care știu ce fac acasă și cei care vin la cel puțin opt ședințe: s-a schimbat ceva la pacient.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019288" y="1600200"/>
            <a:ext cx="3547872" cy="26517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19288" y="1600200"/>
            <a:ext cx="3547872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0456" y="18288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Impact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20456" y="2834640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Scăderea durerii: efectul final asupra sănătății.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94360" y="448056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Întrebarea de control: s-a schimbat ceva la pacient sau numai în activitatea echipei?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OBIECTIV, TREI INDICATORI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Baza de recuperare, în 6 luni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60% → 72%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pacienții de peste 65 de ani termină cel puțin 8 din cele 10 ședințe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5623560" cy="960120"/>
          </a:xfrm>
          <a:prstGeom prst="roundRect">
            <a:avLst>
              <a:gd name="adj" fmla="val 85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0" y="1691640"/>
            <a:ext cx="82296" cy="96012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0" y="169164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169164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proporția ședințelor cu educația făcută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2788920"/>
            <a:ext cx="5623560" cy="960120"/>
          </a:xfrm>
          <a:prstGeom prst="roundRect">
            <a:avLst>
              <a:gd name="adj" fmla="val 85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0" y="2788920"/>
            <a:ext cx="82296" cy="9601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1792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35240" y="278892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proporția pacienților cu cel puțin 8 ședințe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0" y="3886200"/>
            <a:ext cx="5623560" cy="960120"/>
          </a:xfrm>
          <a:prstGeom prst="roundRect">
            <a:avLst>
              <a:gd name="adj" fmla="val 85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0" y="3886200"/>
            <a:ext cx="82296" cy="96012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1792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Impact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388620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scăderea medie a durerii, de la 0 la 10, la 8 săptămâni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sunt ținte dintr-un ghid.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A CINCEA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cauză primește intervenția ei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886968"/>
          </a:xfrm>
          <a:prstGeom prst="roundRect">
            <a:avLst>
              <a:gd name="adj" fmla="val 927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88696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924812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9248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2377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Drumul greu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69080" y="1691640"/>
            <a:ext cx="7223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ședințe grupate în aceeași zi, ore cu transport mai bun, exerciții acasă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697480"/>
            <a:ext cx="10972800" cy="886968"/>
          </a:xfrm>
          <a:prstGeom prst="roundRect">
            <a:avLst>
              <a:gd name="adj" fmla="val 927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2697480"/>
            <a:ext cx="82296" cy="88696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68680" y="293065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29306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697480"/>
            <a:ext cx="2377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Teama de durere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69080" y="2697480"/>
            <a:ext cx="7223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explicația durerii normale după efort, „cartonașul roșu”, efort crescut treptat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3703320"/>
            <a:ext cx="10972800" cy="886968"/>
          </a:xfrm>
          <a:prstGeom prst="roundRect">
            <a:avLst>
              <a:gd name="adj" fmla="val 927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3703320"/>
            <a:ext cx="82296" cy="88696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68680" y="3936492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39364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703320"/>
            <a:ext cx="2377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neînțeleasă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69080" y="3703320"/>
            <a:ext cx="7223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pagină, pictograme, demonstrație, verificarea prin reformulare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" y="484632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48463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Metodele și mijloacele din ședința trecută, alese acum pornind de la cauze.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NUCLEUL MINIM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Doza, fidelitatea, testul mic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3547872" cy="7315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Criteriile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95528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Dovezi solide, fezabilitate, acces echitabil, o doză clară.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06824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06824" y="1691640"/>
            <a:ext cx="3547872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07992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Fidelitatea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07992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Intervenția se face cum a fost planificată, de fiecare terapeut, la fiecare pacient.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19288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19288" y="1691640"/>
            <a:ext cx="3547872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0456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Contextul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20456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mers într-un spital mare din altă țară se testează întâi mic, aici.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70916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7091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Începeți cu una sau două tehnici cu efect mare; extindeți numai după ce merge.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A ȘASEA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Implicarea comunității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370332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3703320"/>
            <a:ext cx="2651760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8952" y="38679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Informarea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8952" y="4270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spuneți ce faceți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315468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3154680"/>
            <a:ext cx="2651760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47872" y="33192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Consultarea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547872" y="3721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îi întrebați și țineți cont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606040"/>
            <a:ext cx="265176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72200" y="2606040"/>
            <a:ext cx="2651760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36792" y="27706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Coproducția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36792" y="3172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construiți împreună mesajele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1120" y="2057400"/>
            <a:ext cx="2651760" cy="2560320"/>
          </a:xfrm>
          <a:prstGeom prst="roundRect">
            <a:avLst>
              <a:gd name="adj" fmla="val 3214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961120" y="2057400"/>
            <a:ext cx="2651760" cy="73152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25712" y="22219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Transferul de roluri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125712" y="2624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preiau activități, ca ambasadori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480060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48006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Participarea la program rămâne, pentru fiecare pacient, o alegere.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Treptele implicării: sinteza materialelor disciplinei.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A ȘAPTEA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operațional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10972800" cy="630936"/>
          </a:xfrm>
          <a:prstGeom prst="roundRect">
            <a:avLst>
              <a:gd name="adj" fmla="val 130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645920"/>
            <a:ext cx="82296" cy="630936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68680" y="175107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17510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645920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Resursele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429000" y="1645920"/>
            <a:ext cx="7863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personal, timp, spațiu, materiale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2395728"/>
            <a:ext cx="10972800" cy="630936"/>
          </a:xfrm>
          <a:prstGeom prst="roundRect">
            <a:avLst>
              <a:gd name="adj" fmla="val 130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" y="2395728"/>
            <a:ext cx="82296" cy="630936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68680" y="2500884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25008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395728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Bugetul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429000" y="2395728"/>
            <a:ext cx="7863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costuri directe și indirecte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3145536"/>
            <a:ext cx="10972800" cy="630936"/>
          </a:xfrm>
          <a:prstGeom prst="roundRect">
            <a:avLst>
              <a:gd name="adj" fmla="val 130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94360" y="3145536"/>
            <a:ext cx="82296" cy="630936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68680" y="3250692"/>
            <a:ext cx="420624" cy="420624"/>
          </a:xfrm>
          <a:prstGeom prst="ellipse">
            <a:avLst/>
          </a:prstGeom>
          <a:solidFill>
            <a:srgbClr val="9B7EF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32506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3145536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Calendarul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429000" y="3145536"/>
            <a:ext cx="7863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repere clare, pe săptămâni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3895344"/>
            <a:ext cx="10972800" cy="630936"/>
          </a:xfrm>
          <a:prstGeom prst="roundRect">
            <a:avLst>
              <a:gd name="adj" fmla="val 130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94360" y="3895344"/>
            <a:ext cx="82296" cy="63093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68680" y="40005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68680" y="40005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3895344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Rolurile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3429000" y="3895344"/>
            <a:ext cx="7863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coordonează, cine răspunde de date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" y="4754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CALENDARUL BAZEI · 12 SĂPTĂMÂNI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120640"/>
            <a:ext cx="1773936" cy="50292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67512" y="512064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săpt. 1–2 · testul mic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423160" y="5120640"/>
            <a:ext cx="7260336" cy="50292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496312" y="5120640"/>
            <a:ext cx="7168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săpt. 3–10 · derularea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738360" y="5120640"/>
            <a:ext cx="1773936" cy="5029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811512" y="512064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săpt. 11–12 · evaluarea și decizia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4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46304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Pauză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94360" y="3657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minute. Revenim cu a doua parte: a mers?</a:t>
            </a: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A OPTA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Materialele și locul educației în fluxul pacientului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Prototipul alb-negru se testează pe câțiva oameni din grupul vizat, în cel mult două săptămâni, înainte de grafică.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91640" y="2788920"/>
            <a:ext cx="457200" cy="45720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194560" y="2999232"/>
            <a:ext cx="2286000" cy="3657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primire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38862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întrebați despre piedici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2788920"/>
            <a:ext cx="457200" cy="457200"/>
          </a:xfrm>
          <a:prstGeom prst="ellipse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983480" y="2999232"/>
            <a:ext cx="2286000" cy="3657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83280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 ședință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83280" y="38862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obiectivele și materialul de bază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69480" y="2788920"/>
            <a:ext cx="457200" cy="457200"/>
          </a:xfrm>
          <a:prstGeom prst="ellipse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72400" y="2999232"/>
            <a:ext cx="2286000" cy="3657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72200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ședință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172200" y="38862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câteva minute fixe, același nucleu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058400" y="2788920"/>
            <a:ext cx="457200" cy="457200"/>
          </a:xfrm>
          <a:prstGeom prst="ellipse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61120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final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61120" y="38862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de întreținere și cartonașul cu semnele de oprire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507492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50749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Fidelitatea: o listă scurtă de bifat și un text de o pagină pentru terapeuți.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A NOUA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Riscurile, etica și datele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600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RISCURI CLINICE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0" y="1600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926080" y="1600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RISCURI DE COMUNICARE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57800" y="1600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257800" y="1600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RISCURI JURIDICE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194560"/>
            <a:ext cx="5120640" cy="274320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01600" dist="50800" dir="36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423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REGULAMENTUL (UE) 2016/679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816352"/>
            <a:ext cx="448056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297180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Art. 9: datele privind sănătatea sunt o categorie specială. Art. 5 alin. (1) lit. (c): „reducerea la minimum a datelor”.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943600" y="2194560"/>
            <a:ext cx="562356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72200" y="21945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câmpurile necesare indicatorilor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943600" y="2898648"/>
            <a:ext cx="562356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72200" y="289864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cod sau inițialele, nu numele întreg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943600" y="3602736"/>
            <a:ext cx="562356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172200" y="3602736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Acordul notat pentru mesaje, fotografii, clipuri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943600" y="4306824"/>
            <a:ext cx="562356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172200" y="4306824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Hârtia sub cheie; datele electronice în cont instituțional</a:t>
            </a:r>
            <a:endParaRPr lang="en-US" sz="15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9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NOU 2 DIN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 de proces și evaluarea de rezultat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„Am făcut ce am spus că facem?” și „S-a schimbat ce voiam să se schimbe?”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3547872" cy="210312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2377440"/>
            <a:ext cx="3547872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5528" y="26060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proces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5528" y="361188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e pus în practică programul, față de teoria schimbării.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306824" y="2377440"/>
            <a:ext cx="3547872" cy="2103120"/>
          </a:xfrm>
          <a:prstGeom prst="roundRect">
            <a:avLst>
              <a:gd name="adj" fmla="val 3913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06824" y="2377440"/>
            <a:ext cx="3547872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07992" y="26060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rezultat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07992" y="361188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s-au atins rezultatele. Nu poate atribui cauzalitatea.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019288" y="2377440"/>
            <a:ext cx="3547872" cy="210312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19288" y="2377440"/>
            <a:ext cx="3547872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0456" y="26060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impact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0456" y="361188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Compară rezultatele cu program și fără program.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94360" y="466344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46634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Atenție: impactul din cadrul logic e efectul final asupra sănătății; evaluarea de impact e comparația.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CDC, ghidul de evaluare a programelor, 2024.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A PRODUS SCHIMBAREA?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mulți termină seria. Datorită programului?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80960" y="1828800"/>
            <a:ext cx="3749040" cy="1463040"/>
          </a:xfrm>
          <a:prstGeom prst="roundRect">
            <a:avLst>
              <a:gd name="adj" fmla="val 9375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909560" y="2011680"/>
            <a:ext cx="685800" cy="548640"/>
          </a:xfrm>
          <a:prstGeom prst="rect">
            <a:avLst/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78240" y="2011680"/>
            <a:ext cx="685800" cy="548640"/>
          </a:xfrm>
          <a:prstGeom prst="rect">
            <a:avLst/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46920" y="2011680"/>
            <a:ext cx="685800" cy="548640"/>
          </a:xfrm>
          <a:prstGeom prst="rect">
            <a:avLst/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515600" y="2011680"/>
            <a:ext cx="685800" cy="548640"/>
          </a:xfrm>
          <a:prstGeom prst="rect">
            <a:avLst/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138160" y="3108960"/>
            <a:ext cx="502920" cy="502920"/>
          </a:xfrm>
          <a:prstGeom prst="ellipse">
            <a:avLst/>
          </a:prstGeom>
          <a:solidFill>
            <a:srgbClr val="272A38"/>
          </a:solidFill>
          <a:ln w="254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607040" y="3108960"/>
            <a:ext cx="502920" cy="502920"/>
          </a:xfrm>
          <a:prstGeom prst="ellipse">
            <a:avLst/>
          </a:prstGeom>
          <a:solidFill>
            <a:srgbClr val="272A38"/>
          </a:solidFill>
          <a:ln w="254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863840" y="2697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LINIE NOUĂ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18288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Poate între timp s-a introdus o linie nouă de autobuz.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 să atribuiți schimbarea programului, comparați cu ce s-ar fi întâmplat fără el: o evaluare de impact, un studiu mai complex.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457200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45720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de monitorizare și evaluare se scrie de la început: ce, din ce sursă, cât de des, cine răspunde.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PE TELEFON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ÎNTREBĂRILE COORDONATOAREI, DUPĂ TREI LUNI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fel de evaluare cere?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7498080" cy="1097280"/>
          </a:xfrm>
          <a:prstGeom prst="roundRect">
            <a:avLst>
              <a:gd name="adj" fmla="val 7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121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făcut toți terapeuții educația la fiecare ședință?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3017520"/>
            <a:ext cx="7498080" cy="1097280"/>
          </a:xfrm>
          <a:prstGeom prst="roundRect">
            <a:avLst>
              <a:gd name="adj" fmla="val 7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33558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01752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Termină acum seria mai mulți pacienți decât înainte?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4251960"/>
            <a:ext cx="7498080" cy="1097280"/>
          </a:xfrm>
          <a:prstGeom prst="roundRect">
            <a:avLst>
              <a:gd name="adj" fmla="val 7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45902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25196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Creșterea vine de la program sau de la linia nouă de autobuz?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549640" y="178308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765792" y="205740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994392" y="278892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778240" y="3200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49640" y="4572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Proces, rezultat sau impact?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ÎNTREBĂRI, TREI EVALUĂRI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a treia întreabă de cauză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554480"/>
            <a:ext cx="82296" cy="84124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764792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20440" y="155448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făcut terapeuții ce era planificat.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2514600"/>
            <a:ext cx="82296" cy="84124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68680" y="272491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51460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0440" y="251460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S-a schimbat ceva, dar nu atribuie schimbarea programului.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94360" y="347472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3474720"/>
            <a:ext cx="82296" cy="84124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68680" y="3685032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47472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Impact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520440" y="347472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Compară rezultatele cu program și fără program.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594360" y="457200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45720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comparație posibilă: pacienții cu educație și cei fără, în aceeași perioadă, din grupuri asemănătoare.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CDC, ghidul de evaluare a programelor, 2024.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BAZEI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Monitorizarea și evaluarea, pe trei rânduri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Indicatorul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Ritmul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Responsabil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14884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2148840"/>
            <a:ext cx="82296" cy="10058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2148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Proces: ședințe cu educația făcută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703320" y="21488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lista de bifat din fișă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20840" y="21488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lunar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41080" y="2148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coordonatorul clinic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94360" y="329184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3291840"/>
            <a:ext cx="82296" cy="10058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3291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Rezultat: cel puțin 8 din 10 ședințe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703320" y="32918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registrul programărilor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720840" y="32918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lunar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64108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responsabilul de date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594360" y="443484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94360" y="4434840"/>
            <a:ext cx="82296" cy="100584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" y="4434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Impact: durerea, de la 0 la 10, la 8 săptămâni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3703320" y="44348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pacientului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720840" y="44348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3 luni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641080" y="4434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coordonatorul clinic</a:t>
            </a:r>
            <a:endParaRPr lang="en-US" sz="15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GHIDUL CDC, ACTUALIZAT ÎN 2024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Șase etape ale evaluării, cinci standarde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82496"/>
            <a:ext cx="402336" cy="402336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 contextului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231136"/>
            <a:ext cx="402336" cy="402336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9456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Descrierea programului, cu cadrul logic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2779776"/>
            <a:ext cx="402336" cy="402336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74320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Întrebările și modelul evaluării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94360" y="3328416"/>
            <a:ext cx="402336" cy="402336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2918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Dovezi credibile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94360" y="3877056"/>
            <a:ext cx="402336" cy="402336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8404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Concluziile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594360" y="4425696"/>
            <a:ext cx="402336" cy="402336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4360" y="4425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43891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Acțiunea pe baza rezultatelor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6583680" y="1645920"/>
            <a:ext cx="4983480" cy="3246120"/>
          </a:xfrm>
          <a:prstGeom prst="roundRect">
            <a:avLst>
              <a:gd name="adj" fmla="val 25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122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STANDARDELE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219456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Relevanța și utilitatea · rigoarea · independența și obiectivitatea · transparența · etica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94360" y="51206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un program mic: ce vrem să aflăm, de la cine, cu ce date, ce facem cu răspunsul.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CDC, 2024; versiunea anterioară a ghidului era din 1999.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UNGHIURI: RE-AIM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Contează și la câți ajunge, și dacă durează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062886" cy="3017520"/>
          </a:xfrm>
          <a:prstGeom prst="roundRect">
            <a:avLst>
              <a:gd name="adj" fmla="val 398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2062886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1920240"/>
            <a:ext cx="1660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Acoperirea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95528" y="2926080"/>
            <a:ext cx="16605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din cei vizați sunt dispuși să participe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821838" y="1691640"/>
            <a:ext cx="2062886" cy="3017520"/>
          </a:xfrm>
          <a:prstGeom prst="roundRect">
            <a:avLst>
              <a:gd name="adj" fmla="val 3989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821838" y="1691640"/>
            <a:ext cx="2062886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023006" y="1920240"/>
            <a:ext cx="1660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Eficacitatea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023006" y="2926080"/>
            <a:ext cx="16605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efectul asupra rezultatelor importante, inclusiv cele nedorite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49317" y="1691640"/>
            <a:ext cx="2062886" cy="3017520"/>
          </a:xfrm>
          <a:prstGeom prst="roundRect">
            <a:avLst>
              <a:gd name="adj" fmla="val 398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49317" y="1691640"/>
            <a:ext cx="2062886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50485" y="1920240"/>
            <a:ext cx="1660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Adoptarea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250485" y="2926080"/>
            <a:ext cx="16605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 locuri și câți profesioniști pornesc programul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276795" y="1691640"/>
            <a:ext cx="2062886" cy="3017520"/>
          </a:xfrm>
          <a:prstGeom prst="roundRect">
            <a:avLst>
              <a:gd name="adj" fmla="val 3989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276795" y="1691640"/>
            <a:ext cx="2062886" cy="73152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77963" y="1920240"/>
            <a:ext cx="1660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Implementarea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477963" y="2926080"/>
            <a:ext cx="16605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fidelitatea față de protocol, timpul, adaptările, costurile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504274" y="1691640"/>
            <a:ext cx="2062886" cy="3017520"/>
          </a:xfrm>
          <a:prstGeom prst="roundRect">
            <a:avLst>
              <a:gd name="adj" fmla="val 398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504274" y="1691640"/>
            <a:ext cx="2062886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705442" y="1920240"/>
            <a:ext cx="1660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Menținerea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705442" y="2926080"/>
            <a:ext cx="16605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 luni sau mai mult; devine parte din practica obișnuită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94360" y="493776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8680" y="49377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Aplicat în planificarea sau evaluarea programelor în peste 450 de publicații.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Glasgow și colab., 2019.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TABERE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RAPORTUL BAZEI DUPĂ TREI LUNI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5216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914400"/>
            <a:ext cx="7589520" cy="233172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01600" dist="50800" dir="36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1430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 DE PROGRAM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536192"/>
            <a:ext cx="694944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1691640"/>
            <a:ext cx="694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„Proporția pacienților care termină seria a crescut de la șase din zece la trei din patru. Educația s-a făcut în mai puțin de jumătate dintre ședințe, aproape toate la un singur terapeut.”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520440"/>
            <a:ext cx="370332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STÂNGA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a reușit, îl extindem.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480560" y="3520440"/>
            <a:ext cx="370332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0916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DREAPTA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3977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știm încă dacă a reușit.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49640" y="91440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765792" y="118872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994392" y="192024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778240" y="23317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5166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minute de pregătire, câte un reprezentant, apoi vot: ce ar trebui să facă echipa luna viitoare?</a:t>
            </a:r>
            <a:endParaRPr lang="en-US" sz="16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PROCESUL ȘI REZULTATUL MERG ÎMPREUNĂ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puțin trei explicații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3547872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Altceva a produs creșterea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95528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linie nouă de autobuz, alți pacienți în acea perioadă.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06824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06824" y="1691640"/>
            <a:ext cx="3547872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07992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Efectul vine de la terapeut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07992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de la program.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19288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19288" y="1691640"/>
            <a:ext cx="3547872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0456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ajuns la prea puțini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0456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Intervenția poate funcționa, dar nu se poate judeca încă.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70916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7091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extindere: comparați pacienții care au primit educația cu cei care nu au primit-o.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COLECTAREA DATELOR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datele de care au nevoie indicatorii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19756" cy="2651760"/>
          </a:xfrm>
          <a:prstGeom prst="roundRect">
            <a:avLst>
              <a:gd name="adj" fmla="val 314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2619756" cy="7315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192024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Fișe de bifat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5528" y="2926080"/>
            <a:ext cx="22174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educația făcută: da sau nu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378708" y="1691640"/>
            <a:ext cx="2619756" cy="2651760"/>
          </a:xfrm>
          <a:prstGeom prst="roundRect">
            <a:avLst>
              <a:gd name="adj" fmla="val 314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78708" y="1691640"/>
            <a:ext cx="2619756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79876" y="192024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Scoruri standard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79876" y="2926080"/>
            <a:ext cx="22174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durerea, de la zero la zece; scalele funcționale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163056" y="1691640"/>
            <a:ext cx="2619756" cy="2651760"/>
          </a:xfrm>
          <a:prstGeom prst="roundRect">
            <a:avLst>
              <a:gd name="adj" fmla="val 314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63056" y="1691640"/>
            <a:ext cx="2619756" cy="73152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64224" y="192024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Chestionare scurte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64224" y="2926080"/>
            <a:ext cx="22174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mult zece întrebări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947404" y="1691640"/>
            <a:ext cx="2619756" cy="2651760"/>
          </a:xfrm>
          <a:prstGeom prst="roundRect">
            <a:avLst>
              <a:gd name="adj" fmla="val 314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947404" y="1691640"/>
            <a:ext cx="2619756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8572" y="192024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canal rapid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8572" y="2926080"/>
            <a:ext cx="22174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bilet la recepție sau un cod QR cu trei întrebări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94360" y="461772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46177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Monitorizarea devine utilă când rezultatul ei se vede: un grafic simplu și deciziile luate pe baza lui.</a:t>
            </a:r>
            <a:endParaRPr lang="en-US" sz="1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9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NOU 3 DIN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Ciclul „planifică–execută–studiază–acționează”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limbaj obișnuit: încercați o schimbare mică, la puțini oameni și pentru puțin timp, priviți câteva date și hotărâți dacă o păstrați, o ajustați sau renunțați.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086600" y="1645920"/>
            <a:ext cx="2148840" cy="1188720"/>
          </a:xfrm>
          <a:prstGeom prst="roundRect">
            <a:avLst>
              <a:gd name="adj" fmla="val 6923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086600" y="16459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Planifică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372600" y="1645920"/>
            <a:ext cx="2148840" cy="1188720"/>
          </a:xfrm>
          <a:prstGeom prst="roundRect">
            <a:avLst>
              <a:gd name="adj" fmla="val 6923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372600" y="16459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Execută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086600" y="2971800"/>
            <a:ext cx="2148840" cy="1188720"/>
          </a:xfrm>
          <a:prstGeom prst="roundRect">
            <a:avLst>
              <a:gd name="adj" fmla="val 6923"/>
            </a:avLst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86600" y="29718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Acționează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72600" y="2971800"/>
            <a:ext cx="2148840" cy="1188720"/>
          </a:xfrm>
          <a:prstGeom prst="roundRect">
            <a:avLst>
              <a:gd name="adj" fmla="val 6923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372600" y="29718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Studiază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38912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43891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trăsături: cicluri repetate, date colectate continuu, test la scară mică, o justificare teoretică a schimbării.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Knudsen și colab., 2019.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CICLURI, DOUĂ DECIZII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 și repede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BAZA DE RECUPERARE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5800" y="2093976"/>
            <a:ext cx="402336" cy="402336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2093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întrebări de verificare la final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2670048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85800" y="2752344"/>
            <a:ext cx="402336" cy="402336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67004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 săptămâni, pacienții unui singur terapeut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328416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85800" y="3410712"/>
            <a:ext cx="402336" cy="402336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2841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 corecte, revenirea la ședința următoare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3986784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85800" y="4069080"/>
            <a:ext cx="402336" cy="402336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9867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păstrează verificarea, scurtează fișa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7220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DEPOZITELE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2011680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263640" y="2093976"/>
            <a:ext cx="402336" cy="402336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63640" y="2093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2280" y="20116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ambasador în fiecare tură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72200" y="2670048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263640" y="2752344"/>
            <a:ext cx="402336" cy="402336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263640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12280" y="267004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săptămâni, un singur depozit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172200" y="3328416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263640" y="3410712"/>
            <a:ext cx="402336" cy="402336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26364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12280" y="332841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ridicările corecte, absențele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172200" y="3986784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263640" y="4069080"/>
            <a:ext cx="402336" cy="402336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26364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12280" y="39867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extinde numai în turele cu mulți angajați noi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94360" y="484632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68680" y="48463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Criteriul de decizie și termenul-limită se fixează înainte de test.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RECENZIE SISTEMATICĂ, PUBLICATĂ ÎN 2019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120 de proiecte PDSA: ce au raportat și ce au respectat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98%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raportat o îmbunătățire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343400" y="17373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27%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343400" y="30632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aveau un obiectiv cantitativ precis și l-au atins (32 de proiecte)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092440" y="17373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8092440" y="30632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respectat toate cele patru trăsături (3 din 72 de proiecte analizabile)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461772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46177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ciclu fără obiectiv numeric, fără date regulate și fără decizie la final este doar o schimbare.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Knudsen și colab., 2019.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 · 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COLEGUL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Planificați un test mic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singură schimbare, pentru depozite sau pentru baza de recuperare: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749808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2395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2860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schimbați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94360" y="3035808"/>
            <a:ext cx="749808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77240" y="31455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03580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cine și cât timp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94360" y="3785616"/>
            <a:ext cx="749808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785616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date priviți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94360" y="4535424"/>
            <a:ext cx="749808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77240" y="464515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4645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53542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criteriu decide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8549640" y="228600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765792" y="256032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994392" y="329184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778240" y="3703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telefon, criteriul de decizie, într-o propoziție. Sala alege două criterii care se pot verifica.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RADIOLOGIE ȘI IMAGISTICĂ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Pregătirea copiilor pentru examenul RMN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509760" y="1463040"/>
            <a:ext cx="2103120" cy="2103120"/>
          </a:xfrm>
          <a:prstGeom prst="donut">
            <a:avLst/>
          </a:prstGeom>
          <a:solidFill>
            <a:srgbClr val="ECEAE4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78240" y="2423160"/>
            <a:ext cx="2011680" cy="201168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NEVOIA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Copilul trebuie să stea nemișcat. La cei mici se face de obicei sedare sau anestezie, mai ales sub 6 ani. Tunelul, zgomotul și durata produc anxietate.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3657600"/>
            <a:ext cx="10972800" cy="210312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3657600"/>
            <a:ext cx="82296" cy="210312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MEDICAMENTE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Înainte: aparatul-machetă, povești și cărți de colorat, vizita la aparat, clipuri. În timpul examinării: filme în ochelari compatibili și muzică în căști.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Artunduaga și colab., 2021; Harrington și colab., 2022.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PE ETAPE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ciclu PDSA în serviciul de imagistică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691640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Părinții primesc, cu 3 zile înainte, sunetele aparatului și o fișă cu 4 desene.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2313432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" y="2404872"/>
            <a:ext cx="420624" cy="420624"/>
          </a:xfrm>
          <a:prstGeom prst="ellipse">
            <a:avLst/>
          </a:prstGeom>
          <a:solidFill>
            <a:srgbClr val="9B7E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2404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31343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săptămâni, copiii între 6 și 10 ani, examen RMN cerebral.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94360" y="3026664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1520" y="3118104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02666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Examinările reușite fără sedare, față de cele 4 săptămâni anterioare.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94360" y="3739896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31520" y="3831336"/>
            <a:ext cx="420624" cy="420624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739896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puțin 10 puncte procentuale în plus: materialul se extinde.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594360" y="457200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45720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Comparația înainte–după arată dacă merită continuat, dar nu poate atribui schimbarea materialului. Decizia de sedare rămâne a medicului.</a:t>
            </a:r>
            <a:endParaRPr lang="en-US" sz="16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ÎNSEAMNĂ PENTRU VOI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 viitoare când cineva propune „să facem un afiș”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938528"/>
            <a:ext cx="457200" cy="457200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8288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problemă rezolvă și la cine?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2807208"/>
            <a:ext cx="457200" cy="457200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unde știm?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4360" y="3675888"/>
            <a:ext cx="457200" cy="457200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5661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ne-ar arăta peste trei luni că a mers?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94360" y="457200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5720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Nevoile, problema, publicul, cadrul logic, indicatorii; abia apoi mijloacele. Orice schimbare, întâi mic.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REȚINEȚI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lucruri din ședință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00200"/>
            <a:ext cx="82296" cy="7772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778508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7785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600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afiș nu e un program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800600" y="16002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începe cu problema reală a grupului și cu ce îl împiedică.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496312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2496312"/>
            <a:ext cx="82296" cy="77724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68680" y="2674620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26746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49631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Unsprezece etape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800600" y="249631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Ordine logică, de la analiza nevoilor la ciclurile scurte, cu întoarceri.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3392424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3392424"/>
            <a:ext cx="82296" cy="7772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68680" y="357073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35707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39242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Cadrul logic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800600" y="3392424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o pagină: dacă facem asta, atunci se schimbă aceea.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4288536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94360" y="4288536"/>
            <a:ext cx="82296" cy="777240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68680" y="4466844"/>
            <a:ext cx="420624" cy="420624"/>
          </a:xfrm>
          <a:prstGeom prst="ellipse">
            <a:avLst/>
          </a:prstGeom>
          <a:solidFill>
            <a:srgbClr val="9C4A0A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8680" y="44668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428853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 și rezultat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800600" y="4288536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S-a făcut ce s-a planificat? S-a schimbat ce voiam?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" y="5184648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94360" y="5184648"/>
            <a:ext cx="82296" cy="7772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68680" y="5362956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68680" y="53629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51846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 și repede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4800600" y="5184648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Cicluri PDSA, cu criteriul de decizie fixat dinainte.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RĂMAS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Etapele unui program: zece întrebări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Accesați kahoot.it și introduceți codul afișat.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320040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32004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0" y="3200400"/>
            <a:ext cx="5166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Rezultatul nu se notează. După fiecare întrebare discutăm răspunsurile greșite.</a:t>
            </a:r>
            <a:endParaRPr lang="en-US" sz="1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549640" y="233172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765792" y="260604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994392" y="333756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778240" y="3749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 se citesc toate. Două modificări, făcute pe baza lor, apar pe pagina disciplinei.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Cursul 3 - Un afiș nu este un program</dc:title>
  <dc:subject>PptxGenJS Presentation</dc:subject>
  <dc:creator>Disciplina de Sănătate publică și management, UMF Cluj-Napoca</dc:creator>
  <cp:lastModifiedBy>Disciplina de Sănătate publică și management, UMF Cluj-Napoca</cp:lastModifiedBy>
  <cp:revision>1</cp:revision>
  <dcterms:created xsi:type="dcterms:W3CDTF">2026-10-17T08:15:26Z</dcterms:created>
  <dcterms:modified xsi:type="dcterms:W3CDTF">2026-10-17T08:15:26Z</dcterms:modified>
  <cp:keywords>sursa_amprenta=744b3573493bcdbd; proiectie</cp:keywords>
</cp:coreProperties>
</file>