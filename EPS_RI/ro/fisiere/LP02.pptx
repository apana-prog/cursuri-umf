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630936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77724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EDUCAȚIE PENTRU SĂNĂTATE  ·  LUCRAREA PRACTICĂ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6583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Analiza unui pliant sau afiș pentru pacienții unui serviciu de imagistică: este clar, corect, ușor de citit?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0690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Pliantul de la programări: îl retipărim așa?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67512" y="5120640"/>
            <a:ext cx="1280160" cy="274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53492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UMF Cluj-Napoca · Radiologie și imagistică, anul 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80960" y="868680"/>
            <a:ext cx="3840480" cy="5120640"/>
          </a:xfrm>
          <a:prstGeom prst="rect">
            <a:avLst/>
          </a:prstGeom>
          <a:solidFill>
            <a:srgbClr val="B9C6CF"/>
          </a:solidFill>
          <a:ln w="9525">
            <a:solidFill>
              <a:srgbClr val="9AA7B0"/>
            </a:solidFill>
            <a:prstDash val="solid"/>
          </a:ln>
          <a:effectLst>
            <a:outerShdw sx="100000" sy="100000" kx="0" ky="0" algn="bl" rotWithShape="0" blurRad="114300" dist="50800" dir="36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909560" y="10515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667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Protocol de pregătire pentru examinarea IRM…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09560" y="2011680"/>
            <a:ext cx="3383280" cy="41148"/>
          </a:xfrm>
          <a:prstGeom prst="rect">
            <a:avLst/>
          </a:prstGeom>
          <a:solidFill>
            <a:srgbClr val="8F9AA3"/>
          </a:solidFill>
          <a:ln w="12700">
            <a:solidFill>
              <a:srgbClr val="8F9AA3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909560" y="2276856"/>
            <a:ext cx="3383280" cy="41148"/>
          </a:xfrm>
          <a:prstGeom prst="rect">
            <a:avLst/>
          </a:prstGeom>
          <a:solidFill>
            <a:srgbClr val="8F9AA3"/>
          </a:solidFill>
          <a:ln w="12700">
            <a:solidFill>
              <a:srgbClr val="8F9AA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909560" y="2542032"/>
            <a:ext cx="3383280" cy="41148"/>
          </a:xfrm>
          <a:prstGeom prst="rect">
            <a:avLst/>
          </a:prstGeom>
          <a:solidFill>
            <a:srgbClr val="8F9AA3"/>
          </a:solidFill>
          <a:ln w="12700">
            <a:solidFill>
              <a:srgbClr val="8F9AA3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909560" y="2807208"/>
            <a:ext cx="3383280" cy="41148"/>
          </a:xfrm>
          <a:prstGeom prst="rect">
            <a:avLst/>
          </a:prstGeom>
          <a:solidFill>
            <a:srgbClr val="8F9AA3"/>
          </a:solidFill>
          <a:ln w="12700">
            <a:solidFill>
              <a:srgbClr val="8F9AA3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909560" y="3072384"/>
            <a:ext cx="3383280" cy="41148"/>
          </a:xfrm>
          <a:prstGeom prst="rect">
            <a:avLst/>
          </a:prstGeom>
          <a:solidFill>
            <a:srgbClr val="8F9AA3"/>
          </a:solidFill>
          <a:ln w="12700">
            <a:solidFill>
              <a:srgbClr val="8F9AA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909560" y="3337560"/>
            <a:ext cx="3383280" cy="41148"/>
          </a:xfrm>
          <a:prstGeom prst="rect">
            <a:avLst/>
          </a:prstGeom>
          <a:solidFill>
            <a:srgbClr val="8F9AA3"/>
          </a:solidFill>
          <a:ln w="12700">
            <a:solidFill>
              <a:srgbClr val="8F9AA3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909560" y="3602736"/>
            <a:ext cx="3383280" cy="41148"/>
          </a:xfrm>
          <a:prstGeom prst="rect">
            <a:avLst/>
          </a:prstGeom>
          <a:solidFill>
            <a:srgbClr val="8F9AA3"/>
          </a:solidFill>
          <a:ln w="12700">
            <a:solidFill>
              <a:srgbClr val="8F9AA3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909560" y="3867912"/>
            <a:ext cx="3383280" cy="41148"/>
          </a:xfrm>
          <a:prstGeom prst="rect">
            <a:avLst/>
          </a:prstGeom>
          <a:solidFill>
            <a:srgbClr val="8F9AA3"/>
          </a:solidFill>
          <a:ln w="12700">
            <a:solidFill>
              <a:srgbClr val="8F9AA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909560" y="4133088"/>
            <a:ext cx="3383280" cy="41148"/>
          </a:xfrm>
          <a:prstGeom prst="rect">
            <a:avLst/>
          </a:prstGeom>
          <a:solidFill>
            <a:srgbClr val="8F9AA3"/>
          </a:solidFill>
          <a:ln w="12700">
            <a:solidFill>
              <a:srgbClr val="8F9AA3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909560" y="4398264"/>
            <a:ext cx="3383280" cy="41148"/>
          </a:xfrm>
          <a:prstGeom prst="rect">
            <a:avLst/>
          </a:prstGeom>
          <a:solidFill>
            <a:srgbClr val="8F9AA3"/>
          </a:solidFill>
          <a:ln w="12700">
            <a:solidFill>
              <a:srgbClr val="8F9AA3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909560" y="4663440"/>
            <a:ext cx="3383280" cy="41148"/>
          </a:xfrm>
          <a:prstGeom prst="rect">
            <a:avLst/>
          </a:prstGeom>
          <a:solidFill>
            <a:srgbClr val="8F9AA3"/>
          </a:solidFill>
          <a:ln w="12700">
            <a:solidFill>
              <a:srgbClr val="8F9AA3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909560" y="4928616"/>
            <a:ext cx="3383280" cy="41148"/>
          </a:xfrm>
          <a:prstGeom prst="rect">
            <a:avLst/>
          </a:prstGeom>
          <a:solidFill>
            <a:srgbClr val="8F9AA3"/>
          </a:solidFill>
          <a:ln w="12700">
            <a:solidFill>
              <a:srgbClr val="8F9AA3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909560" y="5193792"/>
            <a:ext cx="3383280" cy="41148"/>
          </a:xfrm>
          <a:prstGeom prst="rect">
            <a:avLst/>
          </a:prstGeom>
          <a:solidFill>
            <a:srgbClr val="8F9AA3"/>
          </a:solidFill>
          <a:ln w="12700">
            <a:solidFill>
              <a:srgbClr val="8F9AA3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909560" y="5458968"/>
            <a:ext cx="3383280" cy="41148"/>
          </a:xfrm>
          <a:prstGeom prst="rect">
            <a:avLst/>
          </a:prstGeom>
          <a:solidFill>
            <a:srgbClr val="8F9AA3"/>
          </a:solidFill>
          <a:ln w="12700">
            <a:solidFill>
              <a:srgbClr val="8F9AA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680960" y="6035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pliant construit pentru curs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92608"/>
            <a:ext cx="7680960" cy="868680"/>
          </a:xfrm>
          <a:prstGeom prst="roundRect">
            <a:avLst>
              <a:gd name="adj" fmla="val 10526"/>
            </a:avLst>
          </a:prstGeom>
          <a:solidFill>
            <a:srgbClr val="272A38"/>
          </a:solidFill>
          <a:ln w="15875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3840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LUCRURI SCHIMBATE DUPĂ RĂSPUNSURILE VOASTRE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1323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[le anunță cadrul didactic]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Pliantul de la programări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2057400"/>
            <a:ext cx="7223760" cy="4023360"/>
          </a:xfrm>
          <a:prstGeom prst="roundRect">
            <a:avLst>
              <a:gd name="adj" fmla="val 204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2057400"/>
            <a:ext cx="82296" cy="402336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1945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CONSTRUIT · ACTUL ÎNTÂI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Serviciul de imagistică al Spitalului A dă un pliant fiecărui pacient programat la examenul prin rezonanță magnetică (RMN) cu substanță de contrast. Pliantul s-a terminat.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4400" y="3840480"/>
            <a:ext cx="6675120" cy="64008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51560" y="38404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Coordonatorul: „Îl retipărim așa?”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461772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aceeași săptămână, un pacient de șaptezeci de ani amețește în sala de așteptare: nu a mâncat și nu a băut nimic de la cină, „cum scria pe hârtie”.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46720" y="2057400"/>
            <a:ext cx="3520440" cy="4023360"/>
          </a:xfrm>
          <a:prstGeom prst="roundRect">
            <a:avLst>
              <a:gd name="adj" fmla="val 2338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75320" y="22402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Serviciul, persoanele și comitetul sunt imaginate; detaliile sunt plauzibile, nu reale.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PLIANTUL, EDIȚIA VECHE · PARTEA DE SUS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primește pacientul la ghișeu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732520" y="36576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732520" y="3657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PLIANT CONSTRUIT PENTRU CURS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10972800" cy="4526280"/>
          </a:xfrm>
          <a:prstGeom prst="rect">
            <a:avLst/>
          </a:prstGeom>
          <a:solidFill>
            <a:srgbClr val="B9C6CF"/>
          </a:solidFill>
          <a:ln w="9525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7373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600" b="1" dirty="0">
                <a:solidFill>
                  <a:srgbClr val="5E667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Protocol de pregătire pentru examinarea IRM cu administrare intravenoasă de agent de contrast paramagnetic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400" dirty="0">
                <a:solidFill>
                  <a:srgbClr val="5E667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Imagistica prin rezonanță magnetică nucleară este o metodă de diagnostic neiradiantă, de înaltă rezoluție, care utilizează un câmp magnetic intens și unde de radiofrecvență pentru obținerea de imagini multiplanare.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400" dirty="0">
                <a:solidFill>
                  <a:srgbClr val="5E667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Pacientul se va prezenta à jeun (nu se consumă alimente sau lichide după miezul nopții). Se recomandă îndepărtarea obiectelor metalice.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2976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400" dirty="0">
                <a:solidFill>
                  <a:srgbClr val="5E667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Contraindicații: dispozitive implantabile cardiace, neurostimulatoare, implant cohlear, clipuri de anevrism, corpi străini metalici intraoculari, claustrofobie, insuficiență renală, sarcină. Pacienții cu antecedente alergice vor efectua premedicație antialergică la domiciliu.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56235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singură pagină: litere mărunte, cenușii, pe fond bleu-cenușiu, rânduri aliniate la ambele margini, fără titluri, fără dată, fără autor.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PLIANTUL, EDIȚIA VECHE · PARTEA DE JOS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Consimțământul, plecarea, un rând de contact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732520" y="36576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732520" y="3657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PLIANT CONSTRUIT PENTRU CURS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10972800" cy="4526280"/>
          </a:xfrm>
          <a:prstGeom prst="rect">
            <a:avLst/>
          </a:prstGeom>
          <a:solidFill>
            <a:srgbClr val="B9C6CF"/>
          </a:solidFill>
          <a:ln w="9525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8288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400" dirty="0">
                <a:solidFill>
                  <a:srgbClr val="5E667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Prin semnarea formularului de consimțământ informat, pacientul declară că a luat la cunoștință toate riscurile procedurii și își asumă responsabilitatea pentru eventualele reacții adverse.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400" dirty="0">
                <a:solidFill>
                  <a:srgbClr val="5E667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finalizarea examinării, pacientul poate părăsi imediat unitatea și își poate relua activitățile uzuale.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67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Informații suplimentare: secretariatul serviciului.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56235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Pliant construit pentru lucrare; greșelile sunt deliberate.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1 · DECIZIA ÎNTÂI · VOT INDIVIDUAL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problemă a pliantului poate face cel mai mult rău pacientului?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7680960" cy="923544"/>
          </a:xfrm>
          <a:prstGeom prst="roundRect">
            <a:avLst>
              <a:gd name="adj" fmla="val 891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20802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0802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828800"/>
            <a:ext cx="6629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Textul mărunt și cenușiu, fără titluri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94360" y="2880360"/>
            <a:ext cx="7680960" cy="923544"/>
          </a:xfrm>
          <a:prstGeom prst="roundRect">
            <a:avLst>
              <a:gd name="adj" fmla="val 891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313182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31318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880360"/>
            <a:ext cx="6629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Cuvintele pe care pacientul nu le înțelege („à jeun”, „paramagnetic”, „premedicație”)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94360" y="3931920"/>
            <a:ext cx="7680960" cy="923544"/>
          </a:xfrm>
          <a:prstGeom prst="roundRect">
            <a:avLst>
              <a:gd name="adj" fmla="val 891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41833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41833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931920"/>
            <a:ext cx="6629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recomandare care contrazice ghidul actual despre substanțele de contrast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94360" y="4983480"/>
            <a:ext cx="7680960" cy="923544"/>
          </a:xfrm>
          <a:prstGeom prst="roundRect">
            <a:avLst>
              <a:gd name="adj" fmla="val 891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2960" y="52349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52349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983480"/>
            <a:ext cx="6629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Lipsa siglei spitalului și a unei fotografii a aparatului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8549640" y="1828800"/>
            <a:ext cx="3017520" cy="4206240"/>
          </a:xfrm>
          <a:prstGeom prst="roundRect">
            <a:avLst>
              <a:gd name="adj" fmla="val 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732520" y="19659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869680" y="2743200"/>
            <a:ext cx="23774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006840" y="2880360"/>
            <a:ext cx="2103120" cy="192024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732520" y="50292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 individual, fără discuție. Rezultatele rămân ascunse.</a:t>
            </a:r>
            <a:endParaRPr lang="en-US" sz="1350" dirty="0"/>
          </a:p>
        </p:txBody>
      </p:sp>
      <p:pic>
        <p:nvPicPr>
          <p:cNvPr id="28" name="Picture 27" descr="Mentimeter_EPS_RI_LP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889" y="2971800"/>
            <a:ext cx="1303021" cy="130302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098280" y="4312921"/>
            <a:ext cx="1920240" cy="434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B02532"/>
                </a:solidFill>
                <a:latin typeface="Palatino Linotype"/>
              </a:rPr>
              <a:t>menti.com</a:t>
            </a:r>
          </a:p>
          <a:p>
            <a:pPr algn="ctr"/>
            <a:r>
              <a:rPr sz="900" b="1">
                <a:solidFill>
                  <a:srgbClr val="B02532"/>
                </a:solidFill>
                <a:latin typeface="Palatino Linotype"/>
              </a:rPr>
              <a:t>anonim, fără cont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REVOT · DUPĂ DISCUȚIE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1 · DOUĂ MINUTE CU COLEGUL DE BANCĂ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Convingeți-l pe cel care a votat altfel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3749040" cy="3291840"/>
          </a:xfrm>
          <a:prstGeom prst="roundRect">
            <a:avLst>
              <a:gd name="adj" fmla="val 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VOT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514600"/>
            <a:ext cx="384048" cy="384048"/>
          </a:xfrm>
          <a:prstGeom prst="ellipse">
            <a:avLst/>
          </a:prstGeom>
          <a:solidFill>
            <a:srgbClr val="959BB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2606040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3136392"/>
            <a:ext cx="384048" cy="384048"/>
          </a:xfrm>
          <a:prstGeom prst="ellipse">
            <a:avLst/>
          </a:prstGeom>
          <a:solidFill>
            <a:srgbClr val="959BB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3227832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22960" y="3758184"/>
            <a:ext cx="384048" cy="384048"/>
          </a:xfrm>
          <a:prstGeom prst="ellipse">
            <a:avLst/>
          </a:prstGeom>
          <a:solidFill>
            <a:srgbClr val="959BB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3849624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4379976"/>
            <a:ext cx="384048" cy="384048"/>
          </a:xfrm>
          <a:prstGeom prst="ellipse">
            <a:avLst/>
          </a:prstGeom>
          <a:solidFill>
            <a:srgbClr val="959BB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371600" y="4471416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26280" y="1828800"/>
            <a:ext cx="3749040" cy="3291840"/>
          </a:xfrm>
          <a:prstGeom prst="roundRect">
            <a:avLst>
              <a:gd name="adj" fmla="val 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75488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DISCUȚIE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514600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5488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03520" y="2606040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754880" y="3136392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75488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303520" y="3227832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754880" y="3758184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75488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03520" y="3849624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754880" y="4379976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75488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303520" y="4471416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549640" y="1828800"/>
            <a:ext cx="3017520" cy="4206240"/>
          </a:xfrm>
          <a:prstGeom prst="roundRect">
            <a:avLst>
              <a:gd name="adj" fmla="val 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732520" y="19659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869680" y="2743200"/>
            <a:ext cx="23774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006840" y="2880360"/>
            <a:ext cx="2103120" cy="192024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732520" y="50292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Aceeași întrebare, aceleași variante.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94360" y="5349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ecran: cele două distribuții, una lângă alta.</a:t>
            </a:r>
            <a:endParaRPr lang="en-US" sz="1600" dirty="0"/>
          </a:p>
        </p:txBody>
      </p:sp>
      <p:pic>
        <p:nvPicPr>
          <p:cNvPr id="41" name="Picture 40" descr="Mentimeter_EPS_RI_LP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889" y="2971800"/>
            <a:ext cx="1303021" cy="1303021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098280" y="4312921"/>
            <a:ext cx="1920240" cy="434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B02532"/>
                </a:solidFill>
                <a:latin typeface="Palatino Linotype"/>
              </a:rPr>
              <a:t>menti.com</a:t>
            </a:r>
          </a:p>
          <a:p>
            <a:pPr algn="ctr"/>
            <a:r>
              <a:rPr sz="900" b="1">
                <a:solidFill>
                  <a:srgbClr val="B02532"/>
                </a:solidFill>
                <a:latin typeface="Palatino Linotype"/>
              </a:rPr>
              <a:t>anonim, fără cont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TITLUL LUCRĂRII, PUS CA TREI ÎNTREBĂRI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Clar, corect, ușor de citit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11296" cy="2743200"/>
          </a:xfrm>
          <a:prstGeom prst="roundRect">
            <a:avLst>
              <a:gd name="adj" fmla="val 3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82296" cy="274320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82880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305409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Spune un singur lucru, în cuvintele cititorului.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25112" y="1691640"/>
            <a:ext cx="3511296" cy="2743200"/>
          </a:xfrm>
          <a:prstGeom prst="roundRect">
            <a:avLst>
              <a:gd name="adj" fmla="val 3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25112" y="1691640"/>
            <a:ext cx="82296" cy="274320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99432" y="182880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CORECT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9432" y="2194560"/>
            <a:ext cx="305409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spune corespunde dovezilor și ghidurilor în vigoare.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55864" y="1691640"/>
            <a:ext cx="3511296" cy="2743200"/>
          </a:xfrm>
          <a:prstGeom prst="roundRect">
            <a:avLst>
              <a:gd name="adj" fmla="val 3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55864" y="1691640"/>
            <a:ext cx="82296" cy="274320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30184" y="182880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UȘOR DE CITIT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30184" y="2194560"/>
            <a:ext cx="305409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Aspectul și organizarea nu îl obosesc pe cititor.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" y="4709160"/>
            <a:ext cx="10972800" cy="1325880"/>
          </a:xfrm>
          <a:prstGeom prst="roundRect">
            <a:avLst>
              <a:gd name="adj" fmla="val 6207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470916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trei nu vin împreună: un pliant poate fi aerisit și greu de înțeles, sau limpede și greșit.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 · DECIZIA ÎNTÂI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Recomandarea greșită face rău tocmai când e înțeleasă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82296" cy="210312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828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ÎNȚELEGE „À JEUN”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Pacientul întreabă la ghișeu.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172200" y="1691640"/>
            <a:ext cx="82296" cy="210312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46520" y="1828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ÎNȚELEGE O RECOMANDARE GREȘITĂ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19456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Pacientul o aplică: vine nemâncat și nebăut de la cină.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4360" y="4023360"/>
            <a:ext cx="10972800" cy="2011680"/>
          </a:xfrm>
          <a:prstGeom prst="roundRect">
            <a:avLst>
              <a:gd name="adj" fmla="val 4091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402336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Instrumentele de azi nu prind greșeala: ghidul PEMAT nu evaluează exactitatea informației, iar domeniile indicelui CDC nu cuprind corectitudinea medicală. De aceea grila are o întrebare separată: este corect?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 · CELELALTE VARIANTE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Probleme reale, dar nu cele mai grave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11296" cy="3108960"/>
          </a:xfrm>
          <a:prstGeom prst="roundRect">
            <a:avLst>
              <a:gd name="adj" fmla="val 264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82296" cy="310896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82880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TEXTUL MĂRUNT ȘI CENUȘIU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30540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Îl obosește pe cititor. Se repară.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25112" y="1691640"/>
            <a:ext cx="3511296" cy="3108960"/>
          </a:xfrm>
          <a:prstGeom prst="roundRect">
            <a:avLst>
              <a:gd name="adj" fmla="val 264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25112" y="1691640"/>
            <a:ext cx="82296" cy="3108960"/>
          </a:xfrm>
          <a:prstGeom prst="rect">
            <a:avLst/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99432" y="182880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CUVINTELE DE SPECIALITATE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9432" y="2194560"/>
            <a:ext cx="30540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Îl opresc pe cititor. Se repară.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055864" y="1691640"/>
            <a:ext cx="3511296" cy="3108960"/>
          </a:xfrm>
          <a:prstGeom prst="roundRect">
            <a:avLst>
              <a:gd name="adj" fmla="val 264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55864" y="1691640"/>
            <a:ext cx="82296" cy="3108960"/>
          </a:xfrm>
          <a:prstGeom prst="rect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30184" y="182880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SIGLA ȘI FOTOGRAFIA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30184" y="2194560"/>
            <a:ext cx="30540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îi spun pacientului ce are de făcut.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94360" y="502920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5029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Forma contează, dar nu duce singură la o greșeală în dimineața examinării.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 NOU · 1 DIN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Mesajul principal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972800" cy="1325880"/>
          </a:xfrm>
          <a:prstGeom prst="roundRect">
            <a:avLst>
              <a:gd name="adj" fmla="val 620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82296" cy="1325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78308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Singurul lucru pe care pacientul trebuie să îl țină minte după ce a citit materialul, în una-trei fraze scurte, împreună cu îndemnul la acțiune.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324612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94360" y="3246120"/>
            <a:ext cx="82296" cy="27432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33832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SUBIECT, NU MESAJ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74904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„Protocol de pregătire pentru examinarea IRM…”: pacientul află cum se numește procedura, nu ce are de făcut.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0" y="324612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172200" y="3246120"/>
            <a:ext cx="82296" cy="274320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46520" y="33832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 DE NOTARE, FIȘA CDC CERE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374904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Publicul, abilitățile lui (necunoscute: medii spre scăzute), obiectivul și mesajul principal.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 NOU · 2 DIN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Ușor de citit (lizibil)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97280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82296" cy="128016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7830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Ochiul găsește repede ce caută: litere care se văd bine, blocuri scurte cu titluri, ce contează mai mult la început.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3200400"/>
            <a:ext cx="5394960" cy="2788920"/>
          </a:xfrm>
          <a:prstGeom prst="roundRect">
            <a:avLst>
              <a:gd name="adj" fmla="val 295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94360" y="3200400"/>
            <a:ext cx="82296" cy="278892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33375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INDICELE CDC PUNCTEAZĂ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70332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Liste de cel mult 7 elemente; blocuri cu titluri, câte o idee; informația importantă la început.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0" y="3200400"/>
            <a:ext cx="5394960" cy="2788920"/>
          </a:xfrm>
          <a:prstGeom prst="roundRect">
            <a:avLst>
              <a:gd name="adj" fmla="val 295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172200" y="3200400"/>
            <a:ext cx="82296" cy="278892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46520" y="33375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UȘOR DE CITIT NU ÎNSEAMNĂ CLAR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370332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Formulele de lizibilitate numără mecanic silabele; o frază scurtă cu un termen de specialitate rămâne de neînțeles.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INSTRUMENTE PUBLICATE, CU CRITERII EXPLICITE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Indicele CDC și PEMAT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606040" cy="1645920"/>
          </a:xfrm>
          <a:prstGeom prst="roundRect">
            <a:avLst>
              <a:gd name="adj" fmla="val 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801368"/>
            <a:ext cx="205740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2532888"/>
            <a:ext cx="2057400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întrebări CDC, notate cu zero sau unu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606040" cy="1645920"/>
          </a:xfrm>
          <a:prstGeom prst="roundRect">
            <a:avLst>
              <a:gd name="adj" fmla="val 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57600" y="1801368"/>
            <a:ext cx="205740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0" y="2532888"/>
            <a:ext cx="2057400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100 sau mai mult: materialul trece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2606040" cy="1645920"/>
          </a:xfrm>
          <a:prstGeom prst="roundRect">
            <a:avLst>
              <a:gd name="adj" fmla="val 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46520" y="1801368"/>
            <a:ext cx="205740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46520" y="2532888"/>
            <a:ext cx="2057400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criterii PEMAT de înțelegere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0" y="1691640"/>
            <a:ext cx="2606040" cy="1645920"/>
          </a:xfrm>
          <a:prstGeom prst="roundRect">
            <a:avLst>
              <a:gd name="adj" fmla="val 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235440" y="1801368"/>
            <a:ext cx="205740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8A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235440" y="2532888"/>
            <a:ext cx="2057400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criterii PEMAT de punere în practică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3611880"/>
            <a:ext cx="5394960" cy="2423160"/>
          </a:xfrm>
          <a:prstGeom prst="roundRect">
            <a:avLst>
              <a:gd name="adj" fmla="val 339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4360" y="3611880"/>
            <a:ext cx="82296" cy="242316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" y="37490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UȘOR DE ÎNȚELES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1148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Oameni cu niveluri diferite de alfabetizare pentru sănătate pot explica mesajele-cheie.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2200" y="3611880"/>
            <a:ext cx="5394960" cy="2423160"/>
          </a:xfrm>
          <a:prstGeom prst="roundRect">
            <a:avLst>
              <a:gd name="adj" fmla="val 339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172200" y="3611880"/>
            <a:ext cx="82296" cy="242316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46520" y="37490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UȘOR DE PUS ÎN PRACTICĂ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41148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baza materialului, oamenii pot identifica ce pot face.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GRILA DISCIPLINEI · LISTĂ DE LUCRU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 pentru orice pliant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11296" cy="3749040"/>
          </a:xfrm>
          <a:prstGeom prst="roundRect">
            <a:avLst>
              <a:gd name="adj" fmla="val 234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82296" cy="374904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50392" y="1819656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0392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Este clar?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295144"/>
            <a:ext cx="3054096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mesaj principal la început, cu îndemn. Cuvintele publicului, diateza activă. Pas cu pas, cu momentul în care cere ajutor.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25112" y="1691640"/>
            <a:ext cx="3511296" cy="3749040"/>
          </a:xfrm>
          <a:prstGeom prst="roundRect">
            <a:avLst>
              <a:gd name="adj" fmla="val 234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25112" y="1691640"/>
            <a:ext cx="82296" cy="374904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81144" y="1819656"/>
            <a:ext cx="384048" cy="384048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81144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02352" y="1783080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Este corect?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99432" y="2295144"/>
            <a:ext cx="3054096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recomandare, verificată într-un ghid în vigoare. Drepturile pacientului. Data și autorul.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55864" y="1691640"/>
            <a:ext cx="3511296" cy="3749040"/>
          </a:xfrm>
          <a:prstGeom prst="roundRect">
            <a:avLst>
              <a:gd name="adj" fmla="val 234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55864" y="1691640"/>
            <a:ext cx="82296" cy="374904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311896" y="1819656"/>
            <a:ext cx="384048" cy="384048"/>
          </a:xfrm>
          <a:prstGeom prst="ellipse">
            <a:avLst/>
          </a:prstGeom>
          <a:solidFill>
            <a:srgbClr val="4A2D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11896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33104" y="1783080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Este ușor de citit?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30184" y="2295144"/>
            <a:ext cx="3054096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Blocuri scurte cu titluri, liste scurte. Litere care se văd bine. Ce contează, subliniat vizual.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5577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Listă de lucru, nu instrument validat.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PEMAT · NOTAREA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reguli și niciun prag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85623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91640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„De acord” numai dacă e îndeplinit în 80–100% din material.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56032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68680" y="272491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2724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560320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Notați numai ce este în material, nu ce știți voi.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" y="342900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68680" y="359359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3593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429000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Scorul: punctele ÷ criteriile notate × 100, fără cele care nu se aplică.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4480560"/>
            <a:ext cx="10972800" cy="1554480"/>
          </a:xfrm>
          <a:prstGeom prst="roundRect">
            <a:avLst>
              <a:gd name="adj" fmla="val 5294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448056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Scorul se calculează separat: înțelegerea și punerea în practică. Ghidul PEMAT nu fixează un prag de trecere.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FORMS · PARTEA 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LUCRAȚI ÎN GRUPURI DE BANCĂ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Exercițiul în patru pași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77724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8680" y="18470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691640"/>
            <a:ext cx="6629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Este clar? Fraza care ar putea deschide pliantul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2532888"/>
            <a:ext cx="77724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68680" y="268833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2688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532888"/>
            <a:ext cx="6629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Îl poate pune în practică? Scorul PEMAT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3374136"/>
            <a:ext cx="77724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352958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3529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374136"/>
            <a:ext cx="6629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Este corect? Fraza care contrazice ghidul ESUR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" y="4215384"/>
            <a:ext cx="77724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68680" y="437083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8680" y="4370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215384"/>
            <a:ext cx="6629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Este ușor de citit? Organizarea cea bună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4360" y="51663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pas se deschide după răspunsul corect la cel dinainte. Un telefon pe grup, contul UMF.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778240" y="1691640"/>
            <a:ext cx="278892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915400" y="1828800"/>
            <a:ext cx="2514600" cy="251460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778240" y="46177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 Partea întâi a formularului.</a:t>
            </a:r>
            <a:endParaRPr lang="en-US" sz="1400" dirty="0"/>
          </a:p>
        </p:txBody>
      </p:sp>
      <p:pic>
        <p:nvPicPr>
          <p:cNvPr id="27" name="Picture 26" descr="Formular_EPS_RI_LP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1920240"/>
            <a:ext cx="233172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DISCUȚIE CU TOATĂ GRUPA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FORMULAR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Câte probleme sunt de formă și câte de corectitudine?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1920240"/>
            <a:ext cx="82296" cy="274320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0574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42316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Cuvintele, organizarea, aspectul: se văd în scoruri.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172200" y="192024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20240"/>
            <a:ext cx="82296" cy="27432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46520" y="20574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CORECTITUDINE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242316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recomandare contrazisă de un ghid în vigoare: poate face rău.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94360" y="5029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ecran: distribuția răspunsurilor din formular, pas cu pas.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ESTE GREȘIT · FORMA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Problemele de formă se văd în scoruri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82296" cy="141732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828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TITLUL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subiect, nu un mesaj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172200" y="1691640"/>
            <a:ext cx="82296" cy="141732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46520" y="1828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CUVINTELE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1945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„à jeun”, „paramagnetic”, „neiradiantă”, „multiplanare”, „premedicație”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29184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94360" y="3291840"/>
            <a:ext cx="82296" cy="1417320"/>
          </a:xfrm>
          <a:prstGeom prst="rect">
            <a:avLst/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3429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FRAZELE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7947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diateza pasivă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329184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172200" y="3291840"/>
            <a:ext cx="82296" cy="141732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46520" y="3429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ASPECTUL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37947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fără titluri și blocuri; litere mărunte și cenușii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498348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49834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Legea nr. 46/2003, art. 8: informația „într-un limbaj respectuos, clar, cu minimalizarea terminologiei de specialitate”.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ESTE GREȘIT · CORECTITUDINEA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recomandări greșite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11296" cy="4343400"/>
          </a:xfrm>
          <a:prstGeom prst="roundRect">
            <a:avLst>
              <a:gd name="adj" fmla="val 234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82296" cy="434340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82880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POSTUL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30540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Ghidul ESUR, 2025: nu se recomandă înaintea substanțelor pe bază de gadoliniu.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25112" y="1691640"/>
            <a:ext cx="3511296" cy="4343400"/>
          </a:xfrm>
          <a:prstGeom prst="roundRect">
            <a:avLst>
              <a:gd name="adj" fmla="val 234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25112" y="1691640"/>
            <a:ext cx="82296" cy="434340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99432" y="182880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PREMEDICAȚIA DE ACASĂ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9432" y="2194560"/>
            <a:ext cx="30540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Ghidul ESUR, 2025: numai dacă o prescrie medicul alergolog.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55864" y="1691640"/>
            <a:ext cx="3511296" cy="4343400"/>
          </a:xfrm>
          <a:prstGeom prst="roundRect">
            <a:avLst>
              <a:gd name="adj" fmla="val 234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55864" y="1691640"/>
            <a:ext cx="82296" cy="434340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30184" y="182880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PLECAREA IMEDIATĂ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30184" y="2194560"/>
            <a:ext cx="30540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Pagina NHS: în jur de 30 de minute de așteptare în spital, pentru orice pacient. Ghidul ESUR: cel puțin 30 de minute după o reacție în antecedente.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ESTE GREȘIT · CONSIMȚĂMÂNTUL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o renunțare la drepturi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691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Pliantul: pacientul „își asumă responsabilitatea pentru eventualele reacții adverse”.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283464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2834640"/>
            <a:ext cx="82296" cy="210312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971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LEGEA NR. 46/2003, ART. 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Dreptul de a fi informat asupra intervențiilor propuse, a riscurilor și a alternativelor.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0" y="283464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2834640"/>
            <a:ext cx="82296" cy="210312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46520" y="2971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LEGEA NR. 46/2003, ART. 13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333756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Dreptul de a refuza sau de a opri o intervenție medicală.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516636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51663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pliant corect: veți primi explicații, puteți întreba înainte de a semna, puteți refuza.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ÎI LIPSEȘTE PACIENTULUI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Lista de contraindicații devine întrebări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82296" cy="274320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828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PAGINA NHS ÎL ÎNTREABĂ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Sunteți sau puteți fi însărcinată? Alăptați? Ați avut operații? Probleme cu rinichii? Metal în corp? Alergii?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172200" y="1691640"/>
            <a:ext cx="82296" cy="27432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46520" y="1828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19456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ia medicul radiolog, după ce pacientul a spus ce are. Pliantul trebuie doar să-l facă să spună la timp.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466344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46634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Lipsește: durata (între 15 minute și o oră), zgomotul, dopurile de urechi sau căștile, nemișcarea.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PLIANTUL, EDIȚIA VECHE · SCORURILE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Scoruri mici și trei greșeli pe care nu le arată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464040" y="36576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464040" y="365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3511296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801368"/>
            <a:ext cx="2962656" cy="1141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≈ 17%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68680" y="2898648"/>
            <a:ext cx="2962656" cy="1093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PEMAT, înțelegerea: 2 ÷ 12 × 100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511296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99432" y="1801368"/>
            <a:ext cx="2962656" cy="1141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99432" y="2898648"/>
            <a:ext cx="2962656" cy="1093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PEMAT, punerea în practică: 1 ÷ 5 × 100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55864" y="1691640"/>
            <a:ext cx="3511296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30184" y="1801368"/>
            <a:ext cx="2962656" cy="1141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30184" y="2898648"/>
            <a:ext cx="2962656" cy="1093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recomandări greșite; niciun scor nu le găsește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343400"/>
            <a:ext cx="10972800" cy="1691640"/>
          </a:xfrm>
          <a:prstGeom prst="roundRect">
            <a:avLst>
              <a:gd name="adj" fmla="val 4865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4343400"/>
            <a:ext cx="10424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Postul și premedicația, contrazise de ghidul ESUR; plecarea imediată, contrazisă de pagina NHS; consimțământul care nu redă drepturile din lege.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AL DOILEA · CAZ CONSTRUIT · JOI DUPĂ-AMIAZĂ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reacție în autobuz și cinci pacienți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45920"/>
            <a:ext cx="82296" cy="1143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6459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pacientă pleacă imediat după examinare, „cum scria pe pliant”. Din autobuz sună: mâncărimi și pete roșii pe brațe. Se întoarce; episodul se înregistrează ca reacție adversă.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297180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94360" y="2971800"/>
            <a:ext cx="82296" cy="23317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3063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36118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spun că nu au voie să mănânce și să bea de aseară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3383280" y="297180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383280" y="2971800"/>
            <a:ext cx="82296" cy="233172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57600" y="3063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57600" y="36118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știu ce înseamnă „à jeun”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72200" y="297180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172200" y="2971800"/>
            <a:ext cx="82296" cy="2331720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46520" y="3063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Niciunul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46520" y="36118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știe că rămâne după examinare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961120" y="297180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961120" y="2971800"/>
            <a:ext cx="82296" cy="233172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235440" y="3063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Doi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235440" y="36118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întreabă dacă semnează „ca să nu dea spitalul în judecată”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94360" y="5486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Tipografia așteaptă comanda până vineri.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 NOU · 3 DIN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Testarea cu pacienții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82296" cy="137160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7830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Câțiva oameni din public spun cu cuvintele lor ce au înțeles și ce vor face, înainte de tipar.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3291840"/>
            <a:ext cx="5394960" cy="2697480"/>
          </a:xfrm>
          <a:prstGeom prst="roundRect">
            <a:avLst>
              <a:gd name="adj" fmla="val 305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94360" y="3291840"/>
            <a:ext cx="82296" cy="269748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3429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AHRQ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7947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scor bun nu garantează că materialul funcționează la pacienții voștri: testați-l cu câțiva dintre ei.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0" y="3291840"/>
            <a:ext cx="5394960" cy="2697480"/>
          </a:xfrm>
          <a:prstGeom prst="roundRect">
            <a:avLst>
              <a:gd name="adj" fmla="val 305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172200" y="3291840"/>
            <a:ext cx="82296" cy="269748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46520" y="3429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NU AR FI GĂSIT NICIUN SCOR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37947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Pacienții aplică exact postul greșit și citesc consimțământul ca pe o renunțare la drepturi.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COMITET CU ROLURI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2 · UN ROL PE RÂND DE BĂNCI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Scanați codul rândului vostru și citiți fișa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1645920"/>
            <a:ext cx="82296" cy="196596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755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RÂNDUL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Pacientul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651760" y="1874520"/>
            <a:ext cx="13716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788920" y="2011680"/>
            <a:ext cx="1097280" cy="123444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297680" y="164592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297680" y="1645920"/>
            <a:ext cx="82296" cy="196596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0" y="1755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RÂNDUL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21031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Tehnicianul (asistentul) de radiologie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55080" y="1874520"/>
            <a:ext cx="13716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92240" y="2011680"/>
            <a:ext cx="1097280" cy="123444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01000" y="164592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001000" y="1645920"/>
            <a:ext cx="82296" cy="196596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75320" y="1755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RÂNDUL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75320" y="21031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Medicul radiolog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058400" y="1874520"/>
            <a:ext cx="13716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195560" y="2011680"/>
            <a:ext cx="1097280" cy="123444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94360" y="37490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3749040"/>
            <a:ext cx="82296" cy="1965960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6868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RÂNDUL 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" y="42062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Specialistul în comunicare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2651760" y="3977640"/>
            <a:ext cx="13716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2788920" y="4114800"/>
            <a:ext cx="1097280" cy="123444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297680" y="37490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297680" y="3749040"/>
            <a:ext cx="82296" cy="196596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57200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8A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RÂNDUL 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0" y="42062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Juristul spitalului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355080" y="3977640"/>
            <a:ext cx="13716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6492240" y="4114800"/>
            <a:ext cx="1097280" cy="123444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001000" y="37490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8229600" y="3840480"/>
            <a:ext cx="3154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 Două minute de citit, apoi votați din rol. Mai multe rânduri: rolurile se reiau de la început.</a:t>
            </a:r>
            <a:endParaRPr lang="en-US" sz="1450" dirty="0"/>
          </a:p>
        </p:txBody>
      </p:sp>
      <p:pic>
        <p:nvPicPr>
          <p:cNvPr id="43" name="Picture 42" descr="Rol_EPS_RI_LP0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2171700"/>
            <a:ext cx="914400" cy="914400"/>
          </a:xfrm>
          <a:prstGeom prst="rect">
            <a:avLst/>
          </a:prstGeom>
        </p:spPr>
      </p:pic>
      <p:pic>
        <p:nvPicPr>
          <p:cNvPr id="44" name="Picture 43" descr="Rol_EPS_RI_LP02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171700"/>
            <a:ext cx="914400" cy="914400"/>
          </a:xfrm>
          <a:prstGeom prst="rect">
            <a:avLst/>
          </a:prstGeom>
        </p:spPr>
      </p:pic>
      <p:pic>
        <p:nvPicPr>
          <p:cNvPr id="45" name="Picture 44" descr="Rol_EPS_RI_LP02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2171700"/>
            <a:ext cx="914400" cy="914400"/>
          </a:xfrm>
          <a:prstGeom prst="rect">
            <a:avLst/>
          </a:prstGeom>
        </p:spPr>
      </p:pic>
      <p:pic>
        <p:nvPicPr>
          <p:cNvPr id="46" name="Picture 45" descr="Rol_EPS_RI_LP02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0360" y="4274820"/>
            <a:ext cx="914400" cy="914400"/>
          </a:xfrm>
          <a:prstGeom prst="rect">
            <a:avLst/>
          </a:prstGeom>
        </p:spPr>
      </p:pic>
      <p:pic>
        <p:nvPicPr>
          <p:cNvPr id="47" name="Picture 46" descr="Rol_EPS_RI_LP02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42748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 DIN ROL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2 · DECIZIA A DOUA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decide comitetul?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7680960" cy="969264"/>
          </a:xfrm>
          <a:prstGeom prst="roundRect">
            <a:avLst>
              <a:gd name="adj" fmla="val 84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20116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737360"/>
            <a:ext cx="6629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Corectăm azi cele trei fraze greșite, păstrăm restul textului și trimitem comanda la tipografie până vineri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2834640"/>
            <a:ext cx="7680960" cy="969264"/>
          </a:xfrm>
          <a:prstGeom prst="roundRect">
            <a:avLst>
              <a:gd name="adj" fmla="val 84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31089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834640"/>
            <a:ext cx="6629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Adăugăm lista completă a contraindicațiilor, explicația fizică și formularul de consimțământ integral, pe patru pagini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94360" y="3931920"/>
            <a:ext cx="7680960" cy="969264"/>
          </a:xfrm>
          <a:prstGeom prst="roundRect">
            <a:avLst>
              <a:gd name="adj" fmla="val 84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42062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4206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931920"/>
            <a:ext cx="6629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Retragem de azi pliantul vechi, îl rescriem în trei blocuri în jurul unui mesaj, corectăm după ghid, testăm din nou, apoi tipărim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94360" y="5029200"/>
            <a:ext cx="7680960" cy="969264"/>
          </a:xfrm>
          <a:prstGeom prst="roundRect">
            <a:avLst>
              <a:gd name="adj" fmla="val 84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2960" y="530352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5303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5029200"/>
            <a:ext cx="6629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Renunțăm la pliant: tehnicianul explică totul la telefon, la programare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549640" y="1737360"/>
            <a:ext cx="3017520" cy="4206240"/>
          </a:xfrm>
          <a:prstGeom prst="roundRect">
            <a:avLst>
              <a:gd name="adj" fmla="val 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732520" y="18745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869680" y="2651760"/>
            <a:ext cx="23774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006840" y="2788920"/>
            <a:ext cx="2103120" cy="192024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732520" y="49377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câmp: rolul vostru.</a:t>
            </a:r>
            <a:endParaRPr lang="en-US" sz="1350" dirty="0"/>
          </a:p>
        </p:txBody>
      </p:sp>
      <p:pic>
        <p:nvPicPr>
          <p:cNvPr id="28" name="Picture 27" descr="Mentimeter_EPS_RI_LP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889" y="2880360"/>
            <a:ext cx="1303021" cy="130302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098280" y="4221481"/>
            <a:ext cx="1920240" cy="434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B02532"/>
                </a:solidFill>
                <a:latin typeface="Palatino Linotype"/>
              </a:rPr>
              <a:t>menti.com</a:t>
            </a:r>
          </a:p>
          <a:p>
            <a:pPr algn="ctr"/>
            <a:r>
              <a:rPr sz="900" b="1">
                <a:solidFill>
                  <a:srgbClr val="B02532"/>
                </a:solidFill>
                <a:latin typeface="Palatino Linotype"/>
              </a:rPr>
              <a:t>anonim, fără cont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REVOT · PĂREREA VOASTRĂ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2 · DUPĂ DISCUȚIA CU COLEGUL DE BANCĂ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Acum fiecare cu propria părere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3749040" cy="3291840"/>
          </a:xfrm>
          <a:prstGeom prst="roundRect">
            <a:avLst>
              <a:gd name="adj" fmla="val 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VOTUL DIN ROL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514600"/>
            <a:ext cx="384048" cy="384048"/>
          </a:xfrm>
          <a:prstGeom prst="ellipse">
            <a:avLst/>
          </a:prstGeom>
          <a:solidFill>
            <a:srgbClr val="959BB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2606040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3136392"/>
            <a:ext cx="384048" cy="384048"/>
          </a:xfrm>
          <a:prstGeom prst="ellipse">
            <a:avLst/>
          </a:prstGeom>
          <a:solidFill>
            <a:srgbClr val="959BB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3227832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22960" y="3758184"/>
            <a:ext cx="384048" cy="384048"/>
          </a:xfrm>
          <a:prstGeom prst="ellipse">
            <a:avLst/>
          </a:prstGeom>
          <a:solidFill>
            <a:srgbClr val="959BB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3849624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4379976"/>
            <a:ext cx="384048" cy="384048"/>
          </a:xfrm>
          <a:prstGeom prst="ellipse">
            <a:avLst/>
          </a:prstGeom>
          <a:solidFill>
            <a:srgbClr val="959BB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371600" y="4471416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26280" y="1828800"/>
            <a:ext cx="3749040" cy="3291840"/>
          </a:xfrm>
          <a:prstGeom prst="roundRect">
            <a:avLst>
              <a:gd name="adj" fmla="val 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75488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PĂREREA VOASTRĂ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514600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5488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03520" y="2606040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754880" y="3136392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75488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303520" y="3227832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754880" y="3758184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75488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03520" y="3849624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754880" y="4379976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75488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303520" y="4471416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549640" y="1828800"/>
            <a:ext cx="3017520" cy="4206240"/>
          </a:xfrm>
          <a:prstGeom prst="roundRect">
            <a:avLst>
              <a:gd name="adj" fmla="val 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732520" y="19659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869680" y="2743200"/>
            <a:ext cx="23774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006840" y="2880360"/>
            <a:ext cx="2103120" cy="192024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732520" y="50292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Aceeași întrebare, aceleași variante, fără rol.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94360" y="5349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ecran: cele două distribuții, una lângă alta.</a:t>
            </a:r>
            <a:endParaRPr lang="en-US" sz="1600" dirty="0"/>
          </a:p>
        </p:txBody>
      </p:sp>
      <p:pic>
        <p:nvPicPr>
          <p:cNvPr id="41" name="Picture 40" descr="Mentimeter_EPS_RI_LP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889" y="2971800"/>
            <a:ext cx="1303021" cy="1303021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098280" y="4312921"/>
            <a:ext cx="1920240" cy="434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B02532"/>
                </a:solidFill>
                <a:latin typeface="Palatino Linotype"/>
              </a:rPr>
              <a:t>menti.com</a:t>
            </a:r>
          </a:p>
          <a:p>
            <a:pPr algn="ctr"/>
            <a:r>
              <a:rPr sz="900" b="1">
                <a:solidFill>
                  <a:srgbClr val="B02532"/>
                </a:solidFill>
                <a:latin typeface="Palatino Linotype"/>
              </a:rPr>
              <a:t>anonim, fără cont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 · DECIZIA A DOUA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Necesar, complet, la telefon: de ce nu ajung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11296" cy="4343400"/>
          </a:xfrm>
          <a:prstGeom prst="roundRect">
            <a:avLst>
              <a:gd name="adj" fmla="val 234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82296" cy="434340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82880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· CELE TREI FRAZE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30540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Necesar, dar nu ajunge: fără mesaj și fără blocuri, scorul rămâne mic; sub 90, CDC cere revizuirea.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325112" y="1691640"/>
            <a:ext cx="3511296" cy="4343400"/>
          </a:xfrm>
          <a:prstGeom prst="roundRect">
            <a:avLst>
              <a:gd name="adj" fmla="val 234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25112" y="1691640"/>
            <a:ext cx="82296" cy="4343400"/>
          </a:xfrm>
          <a:prstGeom prst="rect">
            <a:avLst/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99432" y="182880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 · PATRU PAGINI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9432" y="2194560"/>
            <a:ext cx="30540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Medicul are dreptate pe jumătate: lista și fizica distrag; contraindicațiile devin întrebări.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055864" y="1691640"/>
            <a:ext cx="3511296" cy="4343400"/>
          </a:xfrm>
          <a:prstGeom prst="roundRect">
            <a:avLst>
              <a:gd name="adj" fmla="val 234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55864" y="1691640"/>
            <a:ext cx="82296" cy="434340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30184" y="182880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 · TELEFONUL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30184" y="2194560"/>
            <a:ext cx="30540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Pacientul uită; lista obiectelor și cele 30 de minute îi trebuie dimineața, pe hârtie.</a:t>
            </a:r>
            <a:endParaRPr lang="en-US" sz="1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 · CE PRIMEȘTE FIECARE ROL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Varianta C răspunde fiecărui 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82296" cy="20116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PACIENTUL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 dimineața și ce spune dinainte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297680" y="1691640"/>
            <a:ext cx="82296" cy="201168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0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TEHNICIANUL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lista obiectelor de scos, scrisă pentru pacient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01000" y="169164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01000" y="1691640"/>
            <a:ext cx="82296" cy="20116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75320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MEDICUL RADIOLOG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22402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pliant verificat după ghid; cel vechi, retras azi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388620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4360" y="3886200"/>
            <a:ext cx="82296" cy="2011680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" y="4023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SPECIALISTUL ÎN COMUNICARE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43484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mesaj și trei blocuri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297680" y="388620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297680" y="3886200"/>
            <a:ext cx="82296" cy="201168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72000" y="4023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8A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JURISTUL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443484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consimțământul care redă drepturile din lege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001000" y="388620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001000" y="3886200"/>
            <a:ext cx="82296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275320" y="4023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COORDONATORUL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75320" y="443484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pierde termenul de vineri, nu un tiraj cu trei greșeli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AL TREILEA · CAZ CONSTRUIT · CE S-A ÎNTÂMPLAT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săptămâni mai târziu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94960" cy="4343400"/>
          </a:xfrm>
          <a:prstGeom prst="roundRect">
            <a:avLst>
              <a:gd name="adj" fmla="val 189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82296" cy="434340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74520"/>
            <a:ext cx="4846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Comitetul a ales varianta C. Pliantul vechi a fost retras în aceeași zi. Medicul radiolog a verificat recomandările după ghidul ESUR; specialistul în comunicare a rescris textul; tehnicienii au scris lista obiectelor de scos.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94960" cy="1645920"/>
          </a:xfrm>
          <a:prstGeom prst="roundRect">
            <a:avLst>
              <a:gd name="adj" fmla="val 5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46520" y="169164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Toți cinci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046720" y="16916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pot mânca normal și rămân o jumătate de oră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72200" y="3474720"/>
            <a:ext cx="5394960" cy="1645920"/>
          </a:xfrm>
          <a:prstGeom prst="roundRect">
            <a:avLst>
              <a:gd name="adj" fmla="val 5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46520" y="347472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Unul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046720" y="347472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a înțeles „implant”: înlocuit cu „orice aparat sau piesă de metal pusă în corp la o operație”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172200" y="53492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Tipar cu două săptămâni întârziere.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PLIANTUL, EDIȚIA NOUĂ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mesaj, trei blocuri, o listă de bifat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732520" y="36576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732520" y="3657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PLIANT CONSTRUIT PENTRU CURS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10972800" cy="452628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1737360"/>
            <a:ext cx="10515600" cy="1051560"/>
          </a:xfrm>
          <a:prstGeom prst="rect">
            <a:avLst/>
          </a:prstGeom>
          <a:solidFill>
            <a:srgbClr val="FFE7A3"/>
          </a:solidFill>
          <a:ln w="15875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173736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Dacă nu vă spunem altfel la programare, puteți mânca și bea normal. Spuneți-ne dinainte dacă aveți metal în corp, o alergie sau o boală de rinichi. După injecție, mai rămâneți o jumătate de oră la noi.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 DE EXAMINARE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Spuneți-ne: sarcina, alăptarea, operațiile, rinichii, orice aparat sau piesă de metal din corp, o reacție la substanța de contrast, frica de spațiile închise.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389120" y="29260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ZIUA EXAMINĂRII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324612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Fără bijuterii, ac de păr, aparat auditiv, monede, chei. Zgomot: primiți dopuri de urechi sau căști; tehnicianul vă aude.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955280" y="29260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EXAMINARE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0" y="324612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Rămâneți o jumătate de oră; spuneți-ne imediat dacă vă simțiți rău; apoi mâncați și beți normal.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Consimțământul: medicul explică; puteți întreba și refuza.   ☐ Lista de bifat · telefonul și orele · data ediției și autorul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DEZNODĂMÂNTUL ȘI VOTURILE SĂLII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Același pliant, alte scoruri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464040" y="36576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464040" y="365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69164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PEMAT · ÎNȚELEGEREA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37760" y="16916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≈ 17% → ≈ 92%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0" y="16916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 ÷ 13 × 100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278892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27889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PEMAT · PUNEREA ÎN PRACTICĂ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37760" y="27889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20% → 80%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686800" y="27889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 ÷ 5 × 100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94360" y="397764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" y="3977640"/>
            <a:ext cx="82296" cy="205740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4114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VOT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44805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Ați pornit de la formă; postul a amețit un pacient tocmai fiindcă a fost înțeles.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72200" y="397764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172200" y="3977640"/>
            <a:ext cx="82296" cy="205740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46520" y="4114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 DOILEA VOT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44805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Complet nu înseamnă util.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 A TREIA · VARIANTĂ A CAZULUI · FĂRĂ REVOT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31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Afișul de lângă ușa aparatului: ce puneți pe el?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construit. Pacienți care nu au citit pliantul, vin de pe secții, însoțesc copii sau nu citesc bine românește. Se citește în picioare, în cel mult un minut.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514600"/>
            <a:ext cx="7680960" cy="786384"/>
          </a:xfrm>
          <a:prstGeom prst="roundRect">
            <a:avLst>
              <a:gd name="adj" fmla="val 1046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2960" y="26974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514600"/>
            <a:ext cx="6629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Tot textul pliantului nou, mărit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94360" y="3429000"/>
            <a:ext cx="7680960" cy="786384"/>
          </a:xfrm>
          <a:prstGeom prst="roundRect">
            <a:avLst>
              <a:gd name="adj" fmla="val 1046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22960" y="36118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3429000"/>
            <a:ext cx="6629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mesaj principal, trei lucruri de spus tehnicianului, desenele obiectelor de scos și un cod QR spre pliant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94360" y="4343400"/>
            <a:ext cx="7680960" cy="786384"/>
          </a:xfrm>
          <a:prstGeom prst="roundRect">
            <a:avLst>
              <a:gd name="adj" fmla="val 1046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2960" y="45262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4526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343400"/>
            <a:ext cx="6629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Lista completă a contraindicațiilor, ca nimeni să nu intre cu un implant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94360" y="5257800"/>
            <a:ext cx="7680960" cy="786384"/>
          </a:xfrm>
          <a:prstGeom prst="roundRect">
            <a:avLst>
              <a:gd name="adj" fmla="val 1046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" y="54406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" y="5440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5257800"/>
            <a:ext cx="6629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fotografie a aparatului și numele serviciului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549640" y="1737360"/>
            <a:ext cx="3017520" cy="4206240"/>
          </a:xfrm>
          <a:prstGeom prst="roundRect">
            <a:avLst>
              <a:gd name="adj" fmla="val 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732520" y="18745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869680" y="2651760"/>
            <a:ext cx="23774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006840" y="2788920"/>
            <a:ext cx="2103120" cy="192024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732520" y="49377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 individual. Un singur tur.</a:t>
            </a:r>
            <a:endParaRPr lang="en-US" sz="1350" dirty="0"/>
          </a:p>
        </p:txBody>
      </p:sp>
      <p:pic>
        <p:nvPicPr>
          <p:cNvPr id="29" name="Picture 28" descr="Mentimeter_EPS_RI_LP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889" y="2880360"/>
            <a:ext cx="1303021" cy="130302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098280" y="4221481"/>
            <a:ext cx="1920240" cy="434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B02532"/>
                </a:solidFill>
                <a:latin typeface="Palatino Linotype"/>
              </a:rPr>
              <a:t>menti.com</a:t>
            </a:r>
          </a:p>
          <a:p>
            <a:pPr algn="ctr"/>
            <a:r>
              <a:rPr sz="900" b="1">
                <a:solidFill>
                  <a:srgbClr val="B02532"/>
                </a:solidFill>
                <a:latin typeface="Palatino Linotype"/>
              </a:rPr>
              <a:t>anonim, fără cont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 · DECIZIA A TREIA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afiș nu este un pliant mărit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6916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Aveți metal în corp? Ați avut o reacție la substanța de contrast? Sunteți însărcinată?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94360" y="329184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3291840"/>
            <a:ext cx="82296" cy="274320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3429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VARIANTA A DOUA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79476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Mesajul și acțiunea imediată, subliniate; desenele obiectelor de scos; codul QR pentru detalii.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0" y="329184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3291840"/>
            <a:ext cx="82296" cy="274320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46520" y="3429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CELELALTE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379476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Textul întreg nu se citește în picioare; lista sperie, întrebările îl fac pe om să vorbească; fotografia nu spune ce face.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FORMS · PARTEA A III-A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LUCRAȚI ÎN GRUPURI DE BANCĂ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Scrieți mesajul principal al afișului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7772400" cy="1188720"/>
          </a:xfrm>
          <a:prstGeom prst="roundRect">
            <a:avLst>
              <a:gd name="adj" fmla="val 6923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1691640"/>
            <a:ext cx="82296" cy="11887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6916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părinții unui copil programat la examenul RMN cu substanță de contrast sau pentru pacienții vârstnici de pe secție. Cel mult douăzeci și cinci de cuvinte.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94360" y="3063240"/>
            <a:ext cx="7772400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77240" y="31272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0632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Spune un singur lucru, nu un subiect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3721608"/>
            <a:ext cx="7772400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77240" y="378561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3785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72160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Conține un îndemn la acțiune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" y="4379976"/>
            <a:ext cx="7772400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77240" y="444398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379976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Folosește cuvintele publicului ales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" y="5038344"/>
            <a:ext cx="7772400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77240" y="510235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77240" y="5102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503834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Nicio recomandare nesusținută de surse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778240" y="1691640"/>
            <a:ext cx="278892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915400" y="1828800"/>
            <a:ext cx="2514600" cy="251460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778240" y="46177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 Îndeplinit sau de refăcut. Aprecierea nu este o notă.</a:t>
            </a:r>
            <a:endParaRPr lang="en-US" sz="1400" dirty="0"/>
          </a:p>
        </p:txBody>
      </p:sp>
      <p:pic>
        <p:nvPicPr>
          <p:cNvPr id="29" name="Picture 28" descr="Formular_EPS_RI_LP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1920240"/>
            <a:ext cx="233172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NU PUTEM AFIRMA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Limitele surselor de azi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11296" cy="4343400"/>
          </a:xfrm>
          <a:prstGeom prst="roundRect">
            <a:avLst>
              <a:gd name="adj" fmla="val 234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82296" cy="434340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82880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GHIDUL ESUR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30540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Versiunea din 2025, datată noiembrie 2025; se actualizează anual, iar recomandările se reverifică la fiecare ediție.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25112" y="1691640"/>
            <a:ext cx="3511296" cy="4343400"/>
          </a:xfrm>
          <a:prstGeom prst="roundRect">
            <a:avLst>
              <a:gd name="adj" fmla="val 234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25112" y="1691640"/>
            <a:ext cx="82296" cy="434340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99432" y="182880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PAGINA NHS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9432" y="2194560"/>
            <a:ext cx="30540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Revizuită la 11 septembrie 2025; descrie practica unui serviciu public din Anglia, nu a spitalelor din România.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55864" y="1691640"/>
            <a:ext cx="3511296" cy="4343400"/>
          </a:xfrm>
          <a:prstGeom prst="roundRect">
            <a:avLst>
              <a:gd name="adj" fmla="val 234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55864" y="1691640"/>
            <a:ext cx="82296" cy="43434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30184" y="182880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NEVERIFICAT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30184" y="2194560"/>
            <a:ext cx="30540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ghid românesc despre pregătirea pacientului; o versiune românească validată a CDC sau a PEMAT.</a:t>
            </a:r>
            <a:endParaRPr lang="en-US" sz="15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5029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ULTIMELE CINCI MINUTE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 DIFERIT DE MÂINE CU UN PLIANT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777240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16184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618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508760"/>
            <a:ext cx="6629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Citiți-l ca pacientul: ce face dimineața, ce vă spune, cât rămâne după?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94360" y="2240280"/>
            <a:ext cx="777240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68680" y="23500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2350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2240280"/>
            <a:ext cx="6629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găsiți răspunsul în primele rânduri? Nici pacientul.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94360" y="2971800"/>
            <a:ext cx="777240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68680" y="30815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3081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2971800"/>
            <a:ext cx="6629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recomandare vi se pare ciudată? Căutați-o în ghid.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85800" y="38404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 PENTRU FINAL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421538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2960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6052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fost util?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22960" y="483717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2960" y="4837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782312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v-am pierdut?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22960" y="54589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22960" y="5458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63040" y="5404104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putea folosi mâine?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641080" y="1508760"/>
            <a:ext cx="292608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778240" y="1645920"/>
            <a:ext cx="2651760" cy="265176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641080" y="46177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 Răspunsurile sunt anonime.</a:t>
            </a:r>
            <a:endParaRPr lang="en-US" sz="1450" dirty="0"/>
          </a:p>
        </p:txBody>
      </p:sp>
      <p:pic>
        <p:nvPicPr>
          <p:cNvPr id="31" name="Picture 30" descr="Mentimeter_EPS_RI_LP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3370" y="1737360"/>
            <a:ext cx="1841500" cy="18415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869680" y="3616960"/>
            <a:ext cx="2468880" cy="627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B02532"/>
                </a:solidFill>
                <a:latin typeface="Palatino Linotype"/>
              </a:rPr>
              <a:t>menti.com</a:t>
            </a:r>
          </a:p>
          <a:p>
            <a:pPr algn="ctr"/>
            <a:r>
              <a:rPr sz="1300" b="1">
                <a:solidFill>
                  <a:srgbClr val="B02532"/>
                </a:solidFill>
                <a:latin typeface="Palatino Linotype"/>
              </a:rPr>
              <a:t>anonim, fără cont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Lucrarea practică 2 - Analiza unui pliant pentru pacienții unui serviciu de imagistică</dc:title>
  <dc:subject>PptxGenJS Presentation</dc:subject>
  <dc:creator>Conf. Univ. Dr. Adrian Pana</dc:creator>
  <cp:lastModifiedBy>Conf. Univ. Dr. Adrian Pana</cp:lastModifiedBy>
  <cp:revision>1</cp:revision>
  <dcterms:created xsi:type="dcterms:W3CDTF">2026-10-28T12:57:33Z</dcterms:created>
  <dcterms:modified xsi:type="dcterms:W3CDTF">2026-10-28T12:57:33Z</dcterms:modified>
  <cp:keywords>sursa_amprenta=7f33fe58cec0e298; proiectie</cp:keywords>
</cp:coreProperties>
</file>