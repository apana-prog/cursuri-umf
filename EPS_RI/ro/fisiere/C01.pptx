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603504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40080" y="777240"/>
            <a:ext cx="603504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CURSUL 1  ·  EDUCAȚIA PENTRU SĂNĂTATE</a:t>
            </a:r>
            <a:endParaRPr lang="en-US" sz="1300" dirty="0"/>
          </a:p>
        </p:txBody>
      </p:sp>
      <p:sp>
        <p:nvSpPr>
          <p:cNvPr id="4" name="Text 2"/>
          <p:cNvSpPr/>
          <p:nvPr/>
        </p:nvSpPr>
        <p:spPr>
          <a:xfrm>
            <a:off x="640080" y="1417320"/>
            <a:ext cx="6949440" cy="914400"/>
          </a:xfrm>
          <a:prstGeom prst="rect">
            <a:avLst/>
          </a:prstGeom>
          <a:noFill/>
          <a:ln/>
        </p:spPr>
        <p:txBody>
          <a:bodyPr wrap="square" lIns="0" tIns="0" rIns="0" bIns="0" rtlCol="0" anchor="t"/>
          <a:lstStyle/>
          <a:p>
            <a:pPr indent="0" marL="0">
              <a:buNone/>
            </a:pPr>
            <a:r>
              <a:rPr lang="en-US" sz="4600" b="1" dirty="0">
                <a:solidFill>
                  <a:srgbClr val="FFFFFF"/>
                </a:solidFill>
                <a:latin typeface="Palatino Linotype" pitchFamily="34" charset="0"/>
                <a:ea typeface="Palatino Linotype" pitchFamily="34" charset="-122"/>
                <a:cs typeface="Palatino Linotype" pitchFamily="34" charset="-120"/>
              </a:rPr>
              <a:t>Ce i-ați spune mamei?</a:t>
            </a:r>
            <a:endParaRPr lang="en-US" sz="4600" dirty="0"/>
          </a:p>
        </p:txBody>
      </p:sp>
      <p:sp>
        <p:nvSpPr>
          <p:cNvPr id="5" name="Text 3"/>
          <p:cNvSpPr/>
          <p:nvPr/>
        </p:nvSpPr>
        <p:spPr>
          <a:xfrm>
            <a:off x="640080" y="2514600"/>
            <a:ext cx="6675120" cy="1554480"/>
          </a:xfrm>
          <a:prstGeom prst="rect">
            <a:avLst/>
          </a:prstGeom>
          <a:noFill/>
          <a:ln/>
        </p:spPr>
        <p:txBody>
          <a:bodyPr wrap="square" lIns="0" tIns="0" rIns="0" bIns="0" rtlCol="0" anchor="t"/>
          <a:lstStyle/>
          <a:p>
            <a:pPr indent="0" marL="0">
              <a:buNone/>
            </a:pPr>
            <a:r>
              <a:rPr lang="en-US" sz="2800" b="1" dirty="0">
                <a:solidFill>
                  <a:srgbClr val="27D3BE"/>
                </a:solidFill>
                <a:latin typeface="Palatino Linotype" pitchFamily="34" charset="0"/>
                <a:ea typeface="Palatino Linotype" pitchFamily="34" charset="-122"/>
                <a:cs typeface="Palatino Linotype" pitchFamily="34" charset="-120"/>
              </a:rPr>
              <a:t>Educația pentru sănătate în radiologie și imagistică</a:t>
            </a:r>
            <a:endParaRPr lang="en-US" sz="2800" dirty="0"/>
          </a:p>
        </p:txBody>
      </p:sp>
      <p:sp>
        <p:nvSpPr>
          <p:cNvPr id="6" name="Shape 4"/>
          <p:cNvSpPr/>
          <p:nvPr/>
        </p:nvSpPr>
        <p:spPr>
          <a:xfrm>
            <a:off x="667512" y="4434840"/>
            <a:ext cx="1280160" cy="27432"/>
          </a:xfrm>
          <a:prstGeom prst="rect">
            <a:avLst/>
          </a:prstGeom>
          <a:solidFill>
            <a:srgbClr val="FF4757"/>
          </a:solidFill>
          <a:ln w="12700">
            <a:solidFill>
              <a:srgbClr val="FF4757"/>
            </a:solidFill>
            <a:prstDash val="solid"/>
          </a:ln>
        </p:spPr>
        <p:txBody>
          <a:bodyPr/>
          <a:p/>
        </p:txBody>
      </p:sp>
      <p:sp>
        <p:nvSpPr>
          <p:cNvPr id="7" name="Text 5"/>
          <p:cNvSpPr/>
          <p:nvPr/>
        </p:nvSpPr>
        <p:spPr>
          <a:xfrm>
            <a:off x="640080" y="4663440"/>
            <a:ext cx="6766560" cy="36576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Radiologie și imagistică, anul I · joi, 8 octombrie 2026</a:t>
            </a:r>
            <a:endParaRPr lang="en-US" sz="1600" dirty="0"/>
          </a:p>
        </p:txBody>
      </p:sp>
      <p:sp>
        <p:nvSpPr>
          <p:cNvPr id="8" name="Text 6"/>
          <p:cNvSpPr/>
          <p:nvPr/>
        </p:nvSpPr>
        <p:spPr>
          <a:xfrm>
            <a:off x="640080" y="5074920"/>
            <a:ext cx="6766560" cy="36576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Disciplina de Sănătate publică și management, UMF Cluj-Napoca</a:t>
            </a:r>
            <a:endParaRPr lang="en-US" sz="1300" dirty="0"/>
          </a:p>
        </p:txBody>
      </p:sp>
      <p:sp>
        <p:nvSpPr>
          <p:cNvPr id="9" name="Shape 7"/>
          <p:cNvSpPr/>
          <p:nvPr/>
        </p:nvSpPr>
        <p:spPr>
          <a:xfrm>
            <a:off x="8001000" y="822960"/>
            <a:ext cx="3566160" cy="3566160"/>
          </a:xfrm>
          <a:prstGeom prst="ellipse">
            <a:avLst/>
          </a:prstGeom>
          <a:solidFill>
            <a:srgbClr val="DCDFE6"/>
          </a:solidFill>
          <a:ln w="12700">
            <a:solidFill>
              <a:srgbClr val="C3C7D1"/>
            </a:solidFill>
            <a:prstDash val="solid"/>
          </a:ln>
        </p:spPr>
        <p:txBody>
          <a:bodyPr/>
          <a:p/>
        </p:txBody>
      </p:sp>
      <p:sp>
        <p:nvSpPr>
          <p:cNvPr id="10" name="Shape 8"/>
          <p:cNvSpPr/>
          <p:nvPr/>
        </p:nvSpPr>
        <p:spPr>
          <a:xfrm>
            <a:off x="8686800" y="1508760"/>
            <a:ext cx="2194560" cy="2194560"/>
          </a:xfrm>
          <a:prstGeom prst="ellipse">
            <a:avLst/>
          </a:prstGeom>
          <a:solidFill>
            <a:srgbClr val="11121A"/>
          </a:solidFill>
          <a:ln w="38100">
            <a:solidFill>
              <a:srgbClr val="A9AEBB"/>
            </a:solidFill>
            <a:prstDash val="solid"/>
          </a:ln>
        </p:spPr>
        <p:txBody>
          <a:bodyPr/>
          <a:p/>
        </p:txBody>
      </p:sp>
      <p:sp>
        <p:nvSpPr>
          <p:cNvPr id="11" name="Shape 9"/>
          <p:cNvSpPr/>
          <p:nvPr/>
        </p:nvSpPr>
        <p:spPr>
          <a:xfrm>
            <a:off x="7498080" y="2926080"/>
            <a:ext cx="4480560" cy="256032"/>
          </a:xfrm>
          <a:prstGeom prst="roundRect">
            <a:avLst>
              <a:gd name="adj" fmla="val 21429"/>
            </a:avLst>
          </a:prstGeom>
          <a:solidFill>
            <a:srgbClr val="27D3BE"/>
          </a:solidFill>
          <a:ln w="12700">
            <a:solidFill>
              <a:srgbClr val="27D3BE"/>
            </a:solidFill>
            <a:prstDash val="solid"/>
          </a:ln>
        </p:spPr>
        <p:txBody>
          <a:bodyPr/>
          <a:p/>
        </p:txBody>
      </p:sp>
      <p:sp>
        <p:nvSpPr>
          <p:cNvPr id="12" name="Shape 10"/>
          <p:cNvSpPr/>
          <p:nvPr/>
        </p:nvSpPr>
        <p:spPr>
          <a:xfrm>
            <a:off x="11018520" y="3310128"/>
            <a:ext cx="164592" cy="164592"/>
          </a:xfrm>
          <a:prstGeom prst="ellipse">
            <a:avLst/>
          </a:prstGeom>
          <a:solidFill>
            <a:srgbClr val="FF4757"/>
          </a:solidFill>
          <a:ln w="12700">
            <a:solidFill>
              <a:srgbClr val="FF4757"/>
            </a:solidFill>
            <a:prstDash val="solid"/>
          </a:ln>
        </p:spPr>
        <p:txBody>
          <a:bodyPr/>
          <a:p/>
        </p:txBody>
      </p:sp>
      <p:sp>
        <p:nvSpPr>
          <p:cNvPr id="13" name="Shape 11"/>
          <p:cNvSpPr/>
          <p:nvPr/>
        </p:nvSpPr>
        <p:spPr>
          <a:xfrm>
            <a:off x="8412480" y="4846320"/>
            <a:ext cx="2743200" cy="1234440"/>
          </a:xfrm>
          <a:prstGeom prst="roundRect">
            <a:avLst>
              <a:gd name="adj" fmla="val 13333"/>
            </a:avLst>
          </a:prstGeom>
          <a:solidFill>
            <a:srgbClr val="272A38"/>
          </a:solidFill>
          <a:ln w="12700">
            <a:solidFill>
              <a:srgbClr val="272A38"/>
            </a:solidFill>
            <a:prstDash val="solid"/>
          </a:ln>
        </p:spPr>
        <p:txBody>
          <a:bodyPr/>
          <a:p/>
        </p:txBody>
      </p:sp>
      <p:sp>
        <p:nvSpPr>
          <p:cNvPr id="14" name="Shape 12"/>
          <p:cNvSpPr/>
          <p:nvPr/>
        </p:nvSpPr>
        <p:spPr>
          <a:xfrm flipV="1">
            <a:off x="8823960" y="6062472"/>
            <a:ext cx="457200" cy="292608"/>
          </a:xfrm>
          <a:prstGeom prst="triangle">
            <a:avLst/>
          </a:prstGeom>
          <a:solidFill>
            <a:srgbClr val="272A38"/>
          </a:solidFill>
          <a:ln w="12700">
            <a:solidFill>
              <a:srgbClr val="272A38"/>
            </a:solidFill>
            <a:prstDash val="solid"/>
          </a:ln>
        </p:spPr>
        <p:txBody>
          <a:bodyPr/>
          <a:p/>
        </p:txBody>
      </p:sp>
      <p:sp>
        <p:nvSpPr>
          <p:cNvPr id="15" name="Text 13"/>
          <p:cNvSpPr/>
          <p:nvPr/>
        </p:nvSpPr>
        <p:spPr>
          <a:xfrm>
            <a:off x="8412480" y="4846320"/>
            <a:ext cx="2743200" cy="1234440"/>
          </a:xfrm>
          <a:prstGeom prst="rect">
            <a:avLst/>
          </a:prstGeom>
          <a:noFill/>
          <a:ln/>
        </p:spPr>
        <p:txBody>
          <a:bodyPr wrap="square" lIns="0" tIns="0" rIns="0" bIns="0" rtlCol="0" anchor="ctr"/>
          <a:lstStyle/>
          <a:p>
            <a:pPr algn="ctr" indent="0" marL="0">
              <a:buNone/>
            </a:pPr>
            <a:r>
              <a:rPr lang="en-US" sz="6000" b="1" dirty="0">
                <a:solidFill>
                  <a:srgbClr val="FF4757"/>
                </a:solidFill>
                <a:latin typeface="Palatino Linotype" pitchFamily="34" charset="0"/>
                <a:ea typeface="Palatino Linotype" pitchFamily="34" charset="-122"/>
                <a:cs typeface="Palatino Linotype" pitchFamily="34" charset="-120"/>
              </a:rPr>
              <a:t>?</a:t>
            </a:r>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CAZUL ÎNTÂI · LA GARDĂ</a:t>
            </a:r>
            <a:endParaRPr lang="en-US" sz="1300" dirty="0"/>
          </a:p>
        </p:txBody>
      </p:sp>
      <p:sp>
        <p:nvSpPr>
          <p:cNvPr id="3" name="Text 1"/>
          <p:cNvSpPr/>
          <p:nvPr/>
        </p:nvSpPr>
        <p:spPr>
          <a:xfrm>
            <a:off x="594360" y="914400"/>
            <a:ext cx="5760720" cy="182880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Un copil de șase ani a căzut de pe bicicletă</a:t>
            </a:r>
            <a:endParaRPr lang="en-US" sz="3400" dirty="0"/>
          </a:p>
        </p:txBody>
      </p:sp>
      <p:sp>
        <p:nvSpPr>
          <p:cNvPr id="4" name="Text 2"/>
          <p:cNvSpPr/>
          <p:nvPr/>
        </p:nvSpPr>
        <p:spPr>
          <a:xfrm>
            <a:off x="594360" y="2971800"/>
            <a:ext cx="5577840" cy="1097280"/>
          </a:xfrm>
          <a:prstGeom prst="rect">
            <a:avLst/>
          </a:prstGeom>
          <a:noFill/>
          <a:ln/>
        </p:spPr>
        <p:txBody>
          <a:bodyPr wrap="square" lIns="0" tIns="0" rIns="0" bIns="0" rtlCol="0" anchor="t"/>
          <a:lstStyle/>
          <a:p>
            <a:pPr indent="0" marL="0">
              <a:buNone/>
            </a:pPr>
            <a:r>
              <a:rPr lang="en-US" sz="2300" dirty="0">
                <a:solidFill>
                  <a:srgbClr val="E6E8EF"/>
                </a:solidFill>
                <a:latin typeface="Palatino Linotype" pitchFamily="34" charset="0"/>
                <a:ea typeface="Palatino Linotype" pitchFamily="34" charset="-122"/>
                <a:cs typeface="Palatino Linotype" pitchFamily="34" charset="-120"/>
              </a:rPr>
              <a:t>S-a lovit la cap. Medicul de gardă a cerut un examen prin tomografie computerizată (CT).</a:t>
            </a:r>
            <a:endParaRPr lang="en-US" sz="2300" dirty="0"/>
          </a:p>
        </p:txBody>
      </p:sp>
      <p:sp>
        <p:nvSpPr>
          <p:cNvPr id="5" name="Text 3"/>
          <p:cNvSpPr/>
          <p:nvPr/>
        </p:nvSpPr>
        <p:spPr>
          <a:xfrm>
            <a:off x="594360" y="4297680"/>
            <a:ext cx="5577840" cy="640080"/>
          </a:xfrm>
          <a:prstGeom prst="rect">
            <a:avLst/>
          </a:prstGeom>
          <a:noFill/>
          <a:ln/>
        </p:spPr>
        <p:txBody>
          <a:bodyPr wrap="square" lIns="0" tIns="0" rIns="0" bIns="0" rtlCol="0" anchor="t"/>
          <a:lstStyle/>
          <a:p>
            <a:pPr indent="0" marL="0">
              <a:buNone/>
            </a:pPr>
            <a:r>
              <a:rPr lang="en-US" sz="2300" b="1" dirty="0">
                <a:solidFill>
                  <a:srgbClr val="FFC24B"/>
                </a:solidFill>
                <a:latin typeface="Palatino Linotype" pitchFamily="34" charset="0"/>
                <a:ea typeface="Palatino Linotype" pitchFamily="34" charset="-122"/>
                <a:cs typeface="Palatino Linotype" pitchFamily="34" charset="-120"/>
              </a:rPr>
              <a:t>Mama ezită.</a:t>
            </a:r>
            <a:endParaRPr lang="en-US" sz="2300" dirty="0"/>
          </a:p>
        </p:txBody>
      </p:sp>
      <p:sp>
        <p:nvSpPr>
          <p:cNvPr id="6" name="Text 4"/>
          <p:cNvSpPr/>
          <p:nvPr/>
        </p:nvSpPr>
        <p:spPr>
          <a:xfrm>
            <a:off x="6812280" y="1417320"/>
            <a:ext cx="3657600" cy="329184"/>
          </a:xfrm>
          <a:prstGeom prst="rect">
            <a:avLst/>
          </a:prstGeom>
          <a:noFill/>
          <a:ln/>
        </p:spPr>
        <p:txBody>
          <a:bodyPr wrap="square" lIns="0" tIns="0" rIns="0" bIns="0" rtlCol="0" anchor="t"/>
          <a:lstStyle/>
          <a:p>
            <a:pPr indent="0" marL="0">
              <a:buNone/>
            </a:pPr>
            <a:r>
              <a:rPr lang="en-US" sz="1400" b="1" dirty="0">
                <a:solidFill>
                  <a:srgbClr val="27D3BE"/>
                </a:solidFill>
                <a:latin typeface="Palatino Linotype" pitchFamily="34" charset="0"/>
                <a:ea typeface="Palatino Linotype" pitchFamily="34" charset="-122"/>
                <a:cs typeface="Palatino Linotype" pitchFamily="34" charset="-120"/>
              </a:rPr>
              <a:t>Mama</a:t>
            </a:r>
            <a:endParaRPr lang="en-US" sz="1400" dirty="0"/>
          </a:p>
        </p:txBody>
      </p:sp>
      <p:sp>
        <p:nvSpPr>
          <p:cNvPr id="7" name="Shape 5"/>
          <p:cNvSpPr/>
          <p:nvPr/>
        </p:nvSpPr>
        <p:spPr>
          <a:xfrm>
            <a:off x="6583680" y="1783080"/>
            <a:ext cx="4937760" cy="2834640"/>
          </a:xfrm>
          <a:prstGeom prst="roundRect">
            <a:avLst>
              <a:gd name="adj" fmla="val 5806"/>
            </a:avLst>
          </a:prstGeom>
          <a:solidFill>
            <a:srgbClr val="272A38"/>
          </a:solidFill>
          <a:ln w="12700">
            <a:solidFill>
              <a:srgbClr val="272A38"/>
            </a:solidFill>
            <a:prstDash val="solid"/>
          </a:ln>
        </p:spPr>
        <p:txBody>
          <a:bodyPr/>
          <a:p/>
        </p:txBody>
      </p:sp>
      <p:sp>
        <p:nvSpPr>
          <p:cNvPr id="8" name="Shape 6"/>
          <p:cNvSpPr/>
          <p:nvPr/>
        </p:nvSpPr>
        <p:spPr>
          <a:xfrm flipV="1">
            <a:off x="10652760" y="4599432"/>
            <a:ext cx="457200" cy="292608"/>
          </a:xfrm>
          <a:prstGeom prst="triangle">
            <a:avLst/>
          </a:prstGeom>
          <a:solidFill>
            <a:srgbClr val="272A38"/>
          </a:solidFill>
          <a:ln w="12700">
            <a:solidFill>
              <a:srgbClr val="272A38"/>
            </a:solidFill>
            <a:prstDash val="solid"/>
          </a:ln>
        </p:spPr>
        <p:txBody>
          <a:bodyPr/>
          <a:p/>
        </p:txBody>
      </p:sp>
      <p:sp>
        <p:nvSpPr>
          <p:cNvPr id="9" name="Text 7"/>
          <p:cNvSpPr/>
          <p:nvPr/>
        </p:nvSpPr>
        <p:spPr>
          <a:xfrm>
            <a:off x="6903720" y="1783080"/>
            <a:ext cx="4297680" cy="2834640"/>
          </a:xfrm>
          <a:prstGeom prst="rect">
            <a:avLst/>
          </a:prstGeom>
          <a:noFill/>
          <a:ln/>
        </p:spPr>
        <p:txBody>
          <a:bodyPr wrap="square" lIns="0" tIns="0" rIns="0" bIns="0" rtlCol="0" anchor="ctr"/>
          <a:lstStyle/>
          <a:p>
            <a:pPr indent="0" marL="0">
              <a:buNone/>
            </a:pPr>
            <a:r>
              <a:rPr lang="en-US" sz="2700" i="1" dirty="0">
                <a:solidFill>
                  <a:srgbClr val="FFFFFF"/>
                </a:solidFill>
                <a:latin typeface="Palatino Linotype" pitchFamily="34" charset="0"/>
                <a:ea typeface="Palatino Linotype" pitchFamily="34" charset="-122"/>
                <a:cs typeface="Palatino Linotype" pitchFamily="34" charset="-120"/>
              </a:rPr>
              <a:t>„Am citit pe internet că tomografia dă cancer copiilor.”</a:t>
            </a:r>
            <a:endParaRPr lang="en-US" sz="2700" dirty="0"/>
          </a:p>
        </p:txBody>
      </p:sp>
      <p:sp>
        <p:nvSpPr>
          <p:cNvPr id="10" name="Text 8"/>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Caz didactic; persoanele sunt fictive.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VOTAȚI ANONIM, PE TELEFON</a:t>
            </a:r>
            <a:endParaRPr lang="en-US" sz="1300" dirty="0"/>
          </a:p>
        </p:txBody>
      </p:sp>
      <p:sp>
        <p:nvSpPr>
          <p:cNvPr id="5" name="Text 3"/>
          <p:cNvSpPr/>
          <p:nvPr/>
        </p:nvSpPr>
        <p:spPr>
          <a:xfrm>
            <a:off x="594360" y="731520"/>
            <a:ext cx="7772400" cy="82296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Ce i-ați spune mamei?</a:t>
            </a:r>
            <a:endParaRPr lang="en-US" sz="3600" dirty="0"/>
          </a:p>
        </p:txBody>
      </p:sp>
      <p:sp>
        <p:nvSpPr>
          <p:cNvPr id="6" name="Shape 4"/>
          <p:cNvSpPr/>
          <p:nvPr/>
        </p:nvSpPr>
        <p:spPr>
          <a:xfrm>
            <a:off x="594360" y="1737360"/>
            <a:ext cx="749808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822960" y="1901952"/>
            <a:ext cx="420624" cy="420624"/>
          </a:xfrm>
          <a:prstGeom prst="ellipse">
            <a:avLst/>
          </a:prstGeom>
          <a:solidFill>
            <a:srgbClr val="FFC24B"/>
          </a:solidFill>
          <a:ln/>
        </p:spPr>
        <p:txBody>
          <a:bodyPr/>
          <a:p/>
        </p:txBody>
      </p:sp>
      <p:sp>
        <p:nvSpPr>
          <p:cNvPr id="8" name="Text 6"/>
          <p:cNvSpPr/>
          <p:nvPr/>
        </p:nvSpPr>
        <p:spPr>
          <a:xfrm>
            <a:off x="822960" y="190195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463040" y="1737360"/>
            <a:ext cx="6492240" cy="74980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„E o investigație de rutină, nu vă faceți griji.”</a:t>
            </a:r>
            <a:endParaRPr lang="en-US" sz="1900" dirty="0"/>
          </a:p>
        </p:txBody>
      </p:sp>
      <p:sp>
        <p:nvSpPr>
          <p:cNvPr id="10" name="Shape 8"/>
          <p:cNvSpPr/>
          <p:nvPr/>
        </p:nvSpPr>
        <p:spPr>
          <a:xfrm>
            <a:off x="594360" y="2633472"/>
            <a:ext cx="749808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822960" y="2798064"/>
            <a:ext cx="420624" cy="420624"/>
          </a:xfrm>
          <a:prstGeom prst="ellipse">
            <a:avLst/>
          </a:prstGeom>
          <a:solidFill>
            <a:srgbClr val="FFC24B"/>
          </a:solidFill>
          <a:ln/>
        </p:spPr>
        <p:txBody>
          <a:bodyPr/>
          <a:p/>
        </p:txBody>
      </p:sp>
      <p:sp>
        <p:nvSpPr>
          <p:cNvPr id="12" name="Text 10"/>
          <p:cNvSpPr/>
          <p:nvPr/>
        </p:nvSpPr>
        <p:spPr>
          <a:xfrm>
            <a:off x="822960" y="27980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463040" y="2633472"/>
            <a:ext cx="6492240" cy="74980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„Internetul exagerează; nu mai citiți astfel de lucruri.”</a:t>
            </a:r>
            <a:endParaRPr lang="en-US" sz="1900" dirty="0"/>
          </a:p>
        </p:txBody>
      </p:sp>
      <p:sp>
        <p:nvSpPr>
          <p:cNvPr id="14" name="Shape 12"/>
          <p:cNvSpPr/>
          <p:nvPr/>
        </p:nvSpPr>
        <p:spPr>
          <a:xfrm>
            <a:off x="594360" y="3529584"/>
            <a:ext cx="749808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822960" y="3694176"/>
            <a:ext cx="420624" cy="420624"/>
          </a:xfrm>
          <a:prstGeom prst="ellipse">
            <a:avLst/>
          </a:prstGeom>
          <a:solidFill>
            <a:srgbClr val="FFC24B"/>
          </a:solidFill>
          <a:ln/>
        </p:spPr>
        <p:txBody>
          <a:bodyPr/>
          <a:p/>
        </p:txBody>
      </p:sp>
      <p:sp>
        <p:nvSpPr>
          <p:cNvPr id="16" name="Text 14"/>
          <p:cNvSpPr/>
          <p:nvPr/>
        </p:nvSpPr>
        <p:spPr>
          <a:xfrm>
            <a:off x="822960" y="369417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463040" y="3529584"/>
            <a:ext cx="6492240" cy="74980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„Riscul există, dar e mic; beneficiul justifică examinarea, iar echipa ține doza cât mai mică.”</a:t>
            </a:r>
            <a:endParaRPr lang="en-US" sz="1900" dirty="0"/>
          </a:p>
        </p:txBody>
      </p:sp>
      <p:sp>
        <p:nvSpPr>
          <p:cNvPr id="18" name="Shape 16"/>
          <p:cNvSpPr/>
          <p:nvPr/>
        </p:nvSpPr>
        <p:spPr>
          <a:xfrm>
            <a:off x="594360" y="4425696"/>
            <a:ext cx="7498080" cy="749808"/>
          </a:xfrm>
          <a:prstGeom prst="roundRect">
            <a:avLst>
              <a:gd name="adj" fmla="val 10976"/>
            </a:avLst>
          </a:prstGeom>
          <a:solidFill>
            <a:srgbClr val="1D1F2B"/>
          </a:solidFill>
          <a:ln w="12700">
            <a:solidFill>
              <a:srgbClr val="1D1F2B"/>
            </a:solidFill>
            <a:prstDash val="solid"/>
          </a:ln>
        </p:spPr>
        <p:txBody>
          <a:bodyPr/>
          <a:p/>
        </p:txBody>
      </p:sp>
      <p:sp>
        <p:nvSpPr>
          <p:cNvPr id="19" name="Shape 17"/>
          <p:cNvSpPr/>
          <p:nvPr/>
        </p:nvSpPr>
        <p:spPr>
          <a:xfrm>
            <a:off x="822960" y="4590288"/>
            <a:ext cx="420624" cy="420624"/>
          </a:xfrm>
          <a:prstGeom prst="ellipse">
            <a:avLst/>
          </a:prstGeom>
          <a:solidFill>
            <a:srgbClr val="FFC24B"/>
          </a:solidFill>
          <a:ln/>
        </p:spPr>
        <p:txBody>
          <a:bodyPr/>
          <a:p/>
        </p:txBody>
      </p:sp>
      <p:sp>
        <p:nvSpPr>
          <p:cNvPr id="20" name="Text 18"/>
          <p:cNvSpPr/>
          <p:nvPr/>
        </p:nvSpPr>
        <p:spPr>
          <a:xfrm>
            <a:off x="822960" y="45902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463040" y="4425696"/>
            <a:ext cx="6492240" cy="749808"/>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„Nu e treaba mea; întrebați medicul de gardă.”</a:t>
            </a:r>
            <a:endParaRPr lang="en-US" sz="1900" dirty="0"/>
          </a:p>
        </p:txBody>
      </p:sp>
      <p:sp>
        <p:nvSpPr>
          <p:cNvPr id="22" name="Shape 20"/>
          <p:cNvSpPr/>
          <p:nvPr/>
        </p:nvSpPr>
        <p:spPr>
          <a:xfrm>
            <a:off x="8549640" y="1737360"/>
            <a:ext cx="3017520" cy="3017520"/>
          </a:xfrm>
          <a:prstGeom prst="roundRect">
            <a:avLst>
              <a:gd name="adj" fmla="val 2727"/>
            </a:avLst>
          </a:prstGeom>
          <a:solidFill>
            <a:srgbClr val="FFFFFF"/>
          </a:solidFill>
          <a:ln w="12700">
            <a:solidFill>
              <a:srgbClr val="FFFFFF"/>
            </a:solidFill>
            <a:prstDash val="solid"/>
          </a:ln>
        </p:spPr>
        <p:txBody>
          <a:bodyPr/>
          <a:p/>
        </p:txBody>
      </p:sp>
      <p:sp>
        <p:nvSpPr>
          <p:cNvPr id="23" name="Text 21"/>
          <p:cNvSpPr/>
          <p:nvPr/>
        </p:nvSpPr>
        <p:spPr>
          <a:xfrm>
            <a:off x="8549640" y="1737360"/>
            <a:ext cx="3017520" cy="3017520"/>
          </a:xfrm>
          <a:prstGeom prst="rect">
            <a:avLst/>
          </a:prstGeom>
          <a:noFill/>
          <a:ln/>
        </p:spPr>
        <p:txBody>
          <a:bodyPr wrap="square" lIns="228600" tIns="0" rIns="228600" bIns="0" rtlCol="0" anchor="ctr"/>
          <a:lstStyle/>
          <a:p>
            <a:pPr algn="ctr" indent="0" marL="0">
              <a:buNone/>
            </a:pPr>
            <a:r>
              <a:rPr lang="en-US" sz="1800" dirty="0" i="1">
                <a:solidFill>
                  <a:srgbClr val="585A64"/>
                </a:solidFill>
                <a:latin typeface="Palatino Linotype" pitchFamily="34" charset="0"/>
                <a:ea typeface="Palatino Linotype" pitchFamily="34" charset="-122"/>
                <a:cs typeface="Palatino Linotype" pitchFamily="34" charset="-120"/>
              </a:rPr>
              <a:t>Mentimeter: intrați pe menti.com cu codul afișat pe ecran.</a:t>
            </a:r>
            <a:endParaRPr lang="en-US" sz="1400" dirty="0"/>
          </a:p>
        </p:txBody>
      </p:sp>
      <p:sp>
        <p:nvSpPr>
          <p:cNvPr id="24" name="Text 22"/>
          <p:cNvSpPr/>
          <p:nvPr/>
        </p:nvSpPr>
        <p:spPr>
          <a:xfrm>
            <a:off x="594360" y="5532120"/>
            <a:ext cx="7498080" cy="36576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Apoi, cu colegul de bancă: ce i-ați spune și de ce?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RĂSPUNS PROVIZORIU</a:t>
            </a:r>
            <a:endParaRPr lang="en-US" sz="1300" dirty="0"/>
          </a:p>
        </p:txBody>
      </p:sp>
      <p:sp>
        <p:nvSpPr>
          <p:cNvPr id="3" name="Text 1"/>
          <p:cNvSpPr/>
          <p:nvPr/>
        </p:nvSpPr>
        <p:spPr>
          <a:xfrm>
            <a:off x="594360" y="731520"/>
            <a:ext cx="10972800" cy="82296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Un răspuns care o respectă pe mamă</a:t>
            </a:r>
            <a:endParaRPr lang="en-US" sz="3200" dirty="0"/>
          </a:p>
        </p:txBody>
      </p:sp>
      <p:sp>
        <p:nvSpPr>
          <p:cNvPr id="4" name="Shape 2"/>
          <p:cNvSpPr/>
          <p:nvPr/>
        </p:nvSpPr>
        <p:spPr>
          <a:xfrm>
            <a:off x="594360" y="1691640"/>
            <a:ext cx="5120640" cy="3154680"/>
          </a:xfrm>
          <a:prstGeom prst="roundRect">
            <a:avLst>
              <a:gd name="adj" fmla="val 2609"/>
            </a:avLst>
          </a:prstGeom>
          <a:solidFill>
            <a:srgbClr val="ECEAE4"/>
          </a:solidFill>
          <a:ln w="12700">
            <a:solidFill>
              <a:srgbClr val="ECEAE4"/>
            </a:solidFill>
            <a:prstDash val="solid"/>
          </a:ln>
        </p:spPr>
        <p:txBody>
          <a:bodyPr/>
          <a:p/>
        </p:txBody>
      </p:sp>
      <p:sp>
        <p:nvSpPr>
          <p:cNvPr id="5" name="Shape 3"/>
          <p:cNvSpPr/>
          <p:nvPr/>
        </p:nvSpPr>
        <p:spPr>
          <a:xfrm>
            <a:off x="594360" y="1691640"/>
            <a:ext cx="82296" cy="3154680"/>
          </a:xfrm>
          <a:prstGeom prst="rect">
            <a:avLst/>
          </a:prstGeom>
          <a:solidFill>
            <a:srgbClr val="B02532"/>
          </a:solidFill>
          <a:ln w="12700">
            <a:solidFill>
              <a:srgbClr val="B02532"/>
            </a:solidFill>
            <a:prstDash val="solid"/>
          </a:ln>
        </p:spPr>
        <p:txBody>
          <a:bodyPr/>
          <a:p/>
        </p:txBody>
      </p:sp>
      <p:sp>
        <p:nvSpPr>
          <p:cNvPr id="6" name="Text 4"/>
          <p:cNvSpPr/>
          <p:nvPr/>
        </p:nvSpPr>
        <p:spPr>
          <a:xfrm>
            <a:off x="914400" y="1828800"/>
            <a:ext cx="4572000" cy="41148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Ce îi spuneți mamei</a:t>
            </a:r>
            <a:endParaRPr lang="en-US" sz="1900" dirty="0"/>
          </a:p>
        </p:txBody>
      </p:sp>
      <p:sp>
        <p:nvSpPr>
          <p:cNvPr id="7" name="Text 5"/>
          <p:cNvSpPr/>
          <p:nvPr/>
        </p:nvSpPr>
        <p:spPr>
          <a:xfrm>
            <a:off x="914400" y="2377440"/>
            <a:ext cx="4663440" cy="23774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Ce se știe</a:t>
            </a:r>
            <a:endParaRPr lang="en-US" sz="1700" dirty="0"/>
          </a:p>
          <a:p>
            <a:pPr marL="342900" indent="-342900">
              <a:spcAft>
                <a:spcPts val="6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Cât de mare este riscul, în cifre pe care le poate înțelege</a:t>
            </a:r>
            <a:endParaRPr lang="en-US" sz="1700" dirty="0"/>
          </a:p>
          <a:p>
            <a:pPr marL="342900" indent="-342900">
              <a:spcAft>
                <a:spcPts val="6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De ce consideră medicul că investigația e necesară</a:t>
            </a:r>
            <a:endParaRPr lang="en-US" sz="1700" dirty="0"/>
          </a:p>
          <a:p>
            <a:pPr marL="342900" indent="-342900">
              <a:spcAft>
                <a:spcPts val="6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Ce face echipa ca doza să fie cât mai mică</a:t>
            </a:r>
            <a:endParaRPr lang="en-US" sz="1700" dirty="0"/>
          </a:p>
        </p:txBody>
      </p:sp>
      <p:sp>
        <p:nvSpPr>
          <p:cNvPr id="8" name="Shape 6"/>
          <p:cNvSpPr/>
          <p:nvPr/>
        </p:nvSpPr>
        <p:spPr>
          <a:xfrm>
            <a:off x="5989320" y="1691640"/>
            <a:ext cx="5577840" cy="3154680"/>
          </a:xfrm>
          <a:prstGeom prst="roundRect">
            <a:avLst>
              <a:gd name="adj" fmla="val 2609"/>
            </a:avLst>
          </a:prstGeom>
          <a:solidFill>
            <a:srgbClr val="ECEAE4"/>
          </a:solidFill>
          <a:ln w="12700">
            <a:solidFill>
              <a:srgbClr val="ECEAE4"/>
            </a:solidFill>
            <a:prstDash val="solid"/>
          </a:ln>
        </p:spPr>
        <p:txBody>
          <a:bodyPr/>
          <a:p/>
        </p:txBody>
      </p:sp>
      <p:sp>
        <p:nvSpPr>
          <p:cNvPr id="9" name="Shape 7"/>
          <p:cNvSpPr/>
          <p:nvPr/>
        </p:nvSpPr>
        <p:spPr>
          <a:xfrm>
            <a:off x="5989320" y="1691640"/>
            <a:ext cx="82296" cy="3154680"/>
          </a:xfrm>
          <a:prstGeom prst="rect">
            <a:avLst/>
          </a:prstGeom>
          <a:solidFill>
            <a:srgbClr val="0E7C6B"/>
          </a:solidFill>
          <a:ln w="12700">
            <a:solidFill>
              <a:srgbClr val="0E7C6B"/>
            </a:solidFill>
            <a:prstDash val="solid"/>
          </a:ln>
        </p:spPr>
        <p:txBody>
          <a:bodyPr/>
          <a:p/>
        </p:txBody>
      </p:sp>
      <p:sp>
        <p:nvSpPr>
          <p:cNvPr id="10" name="Text 8"/>
          <p:cNvSpPr/>
          <p:nvPr/>
        </p:nvSpPr>
        <p:spPr>
          <a:xfrm>
            <a:off x="6309360" y="1828800"/>
            <a:ext cx="5120640" cy="41148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Ce face ca un sfat să meargă</a:t>
            </a:r>
            <a:endParaRPr lang="en-US" sz="1900" dirty="0"/>
          </a:p>
        </p:txBody>
      </p:sp>
      <p:sp>
        <p:nvSpPr>
          <p:cNvPr id="11" name="Text 9"/>
          <p:cNvSpPr/>
          <p:nvPr/>
        </p:nvSpPr>
        <p:spPr>
          <a:xfrm>
            <a:off x="6309360" y="2377440"/>
            <a:ext cx="5120640" cy="2377440"/>
          </a:xfrm>
          <a:prstGeom prst="rect">
            <a:avLst/>
          </a:prstGeom>
          <a:noFill/>
          <a:ln/>
        </p:spPr>
        <p:txBody>
          <a:bodyPr wrap="square" lIns="0" tIns="0" rIns="0" bIns="0" rtlCol="0" anchor="t"/>
          <a:lstStyle/>
          <a:p>
            <a:pPr marL="342900" indent="-342900">
              <a:spcAft>
                <a:spcPts val="300"/>
              </a:spcAft>
              <a:buSzPct val="100000"/>
              <a:buChar char="•"/>
            </a:pPr>
            <a:r>
              <a:rPr lang="en-US" sz="1600" dirty="0">
                <a:solidFill>
                  <a:srgbClr val="11121A"/>
                </a:solidFill>
                <a:latin typeface="Palatino Linotype" pitchFamily="34" charset="0"/>
                <a:ea typeface="Palatino Linotype" pitchFamily="34" charset="-122"/>
                <a:cs typeface="Palatino Linotype" pitchFamily="34" charset="-120"/>
              </a:rPr>
              <a:t>Un scop clar, în cuvinte obișnuite</a:t>
            </a:r>
            <a:endParaRPr lang="en-US" sz="1600" dirty="0"/>
          </a:p>
          <a:p>
            <a:pPr marL="342900" indent="-342900">
              <a:spcAft>
                <a:spcPts val="300"/>
              </a:spcAft>
              <a:buSzPct val="100000"/>
              <a:buChar char="•"/>
            </a:pPr>
            <a:r>
              <a:rPr lang="en-US" sz="1600" dirty="0">
                <a:solidFill>
                  <a:srgbClr val="11121A"/>
                </a:solidFill>
                <a:latin typeface="Palatino Linotype" pitchFamily="34" charset="0"/>
                <a:ea typeface="Palatino Linotype" pitchFamily="34" charset="-122"/>
                <a:cs typeface="Palatino Linotype" pitchFamily="34" charset="-120"/>
              </a:rPr>
              <a:t>O țintă mică, măsurabilă</a:t>
            </a:r>
            <a:endParaRPr lang="en-US" sz="1600" dirty="0"/>
          </a:p>
          <a:p>
            <a:pPr marL="342900" indent="-342900">
              <a:spcAft>
                <a:spcPts val="300"/>
              </a:spcAft>
              <a:buSzPct val="100000"/>
              <a:buChar char="•"/>
            </a:pPr>
            <a:r>
              <a:rPr lang="en-US" sz="1600" dirty="0">
                <a:solidFill>
                  <a:srgbClr val="11121A"/>
                </a:solidFill>
                <a:latin typeface="Palatino Linotype" pitchFamily="34" charset="0"/>
                <a:ea typeface="Palatino Linotype" pitchFamily="34" charset="-122"/>
                <a:cs typeface="Palatino Linotype" pitchFamily="34" charset="-120"/>
              </a:rPr>
              <a:t>O demonstrație și o exersare pe loc</a:t>
            </a:r>
            <a:endParaRPr lang="en-US" sz="1600" dirty="0"/>
          </a:p>
          <a:p>
            <a:pPr marL="342900" indent="-342900">
              <a:spcAft>
                <a:spcPts val="300"/>
              </a:spcAft>
              <a:buSzPct val="100000"/>
              <a:buChar char="•"/>
            </a:pPr>
            <a:r>
              <a:rPr lang="en-US" sz="1600" dirty="0">
                <a:solidFill>
                  <a:srgbClr val="11121A"/>
                </a:solidFill>
                <a:latin typeface="Palatino Linotype" pitchFamily="34" charset="0"/>
                <a:ea typeface="Palatino Linotype" pitchFamily="34" charset="-122"/>
                <a:cs typeface="Palatino Linotype" pitchFamily="34" charset="-120"/>
              </a:rPr>
              <a:t>O verificare a înțelegerii</a:t>
            </a:r>
            <a:endParaRPr lang="en-US" sz="1600" dirty="0"/>
          </a:p>
          <a:p>
            <a:pPr marL="342900" indent="-342900">
              <a:spcAft>
                <a:spcPts val="300"/>
              </a:spcAft>
              <a:buSzPct val="100000"/>
              <a:buChar char="•"/>
            </a:pPr>
            <a:r>
              <a:rPr lang="en-US" sz="1600" dirty="0">
                <a:solidFill>
                  <a:srgbClr val="11121A"/>
                </a:solidFill>
                <a:latin typeface="Palatino Linotype" pitchFamily="34" charset="0"/>
                <a:ea typeface="Palatino Linotype" pitchFamily="34" charset="-122"/>
                <a:cs typeface="Palatino Linotype" pitchFamily="34" charset="-120"/>
              </a:rPr>
              <a:t>Un plan legat de viața reală a persoanei</a:t>
            </a:r>
            <a:endParaRPr lang="en-US" sz="1600" dirty="0"/>
          </a:p>
          <a:p>
            <a:pPr marL="342900" indent="-342900">
              <a:spcAft>
                <a:spcPts val="300"/>
              </a:spcAft>
              <a:buSzPct val="100000"/>
              <a:buChar char="•"/>
            </a:pPr>
            <a:r>
              <a:rPr lang="en-US" sz="1600" dirty="0">
                <a:solidFill>
                  <a:srgbClr val="11121A"/>
                </a:solidFill>
                <a:latin typeface="Palatino Linotype" pitchFamily="34" charset="0"/>
                <a:ea typeface="Palatino Linotype" pitchFamily="34" charset="-122"/>
                <a:cs typeface="Palatino Linotype" pitchFamily="34" charset="-120"/>
              </a:rPr>
              <a:t>O continuare după ședință</a:t>
            </a:r>
            <a:endParaRPr lang="en-US" sz="1600" dirty="0"/>
          </a:p>
        </p:txBody>
      </p:sp>
      <p:sp>
        <p:nvSpPr>
          <p:cNvPr id="12" name="Shape 10"/>
          <p:cNvSpPr/>
          <p:nvPr/>
        </p:nvSpPr>
        <p:spPr>
          <a:xfrm>
            <a:off x="594360" y="5074920"/>
            <a:ext cx="10972800" cy="868680"/>
          </a:xfrm>
          <a:prstGeom prst="roundRect">
            <a:avLst>
              <a:gd name="adj" fmla="val 9474"/>
            </a:avLst>
          </a:prstGeom>
          <a:solidFill>
            <a:srgbClr val="11121A"/>
          </a:solidFill>
          <a:ln w="12700">
            <a:solidFill>
              <a:srgbClr val="11121A"/>
            </a:solidFill>
            <a:prstDash val="solid"/>
          </a:ln>
        </p:spPr>
        <p:txBody>
          <a:bodyPr/>
          <a:p/>
        </p:txBody>
      </p:sp>
      <p:sp>
        <p:nvSpPr>
          <p:cNvPr id="13" name="Text 11"/>
          <p:cNvSpPr/>
          <p:nvPr/>
        </p:nvSpPr>
        <p:spPr>
          <a:xfrm>
            <a:off x="868680" y="5074920"/>
            <a:ext cx="10424160" cy="86868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Restul cursului dă nume acestor lucruri: principiile, scopurile, abordările, direcțiile de orientare și cerințele educației pentru sănătate.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594360" y="329184"/>
            <a:ext cx="4023360" cy="329184"/>
          </a:xfrm>
          <a:prstGeom prst="roundRect">
            <a:avLst>
              <a:gd name="adj" fmla="val 50000"/>
            </a:avLst>
          </a:prstGeom>
          <a:solidFill>
            <a:srgbClr val="9B7EF7"/>
          </a:solidFill>
          <a:ln w="12700">
            <a:solidFill>
              <a:srgbClr val="9B7EF7"/>
            </a:solidFill>
            <a:prstDash val="solid"/>
          </a:ln>
        </p:spPr>
        <p:txBody>
          <a:bodyPr/>
          <a:p/>
        </p:txBody>
      </p:sp>
      <p:sp>
        <p:nvSpPr>
          <p:cNvPr id="3" name="Text 1"/>
          <p:cNvSpPr/>
          <p:nvPr/>
        </p:nvSpPr>
        <p:spPr>
          <a:xfrm>
            <a:off x="594360" y="329184"/>
            <a:ext cx="4023360" cy="329184"/>
          </a:xfrm>
          <a:prstGeom prst="rect">
            <a:avLst/>
          </a:prstGeom>
          <a:noFill/>
          <a:ln/>
        </p:spPr>
        <p:txBody>
          <a:bodyPr wrap="square" lIns="0" tIns="0" rIns="0" bIns="0" rtlCol="0" anchor="ctr"/>
          <a:lstStyle/>
          <a:p>
            <a:pPr algn="ctr" indent="0" marL="0">
              <a:buNone/>
            </a:pPr>
            <a:r>
              <a:rPr lang="en-US" sz="1300" b="1" dirty="0">
                <a:solidFill>
                  <a:srgbClr val="1F1040"/>
                </a:solidFill>
                <a:latin typeface="Palatino Linotype" pitchFamily="34" charset="0"/>
                <a:ea typeface="Palatino Linotype" pitchFamily="34" charset="-122"/>
                <a:cs typeface="Palatino Linotype" pitchFamily="34" charset="-120"/>
              </a:rPr>
              <a:t>RADIOLOGIE ȘI IMAGISTICĂ</a:t>
            </a:r>
            <a:endParaRPr lang="en-US" sz="1300" dirty="0"/>
          </a:p>
        </p:txBody>
      </p:sp>
      <p:sp>
        <p:nvSpPr>
          <p:cNvPr id="4" name="Text 2"/>
          <p:cNvSpPr/>
          <p:nvPr/>
        </p:nvSpPr>
        <p:spPr>
          <a:xfrm>
            <a:off x="594360" y="868680"/>
            <a:ext cx="10972800" cy="7315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Pacientul și examenul prin rezonanță magnetică (RMN)</a:t>
            </a:r>
            <a:endParaRPr lang="en-US" sz="3100" dirty="0"/>
          </a:p>
        </p:txBody>
      </p:sp>
      <p:sp>
        <p:nvSpPr>
          <p:cNvPr id="5" name="Shape 3"/>
          <p:cNvSpPr/>
          <p:nvPr/>
        </p:nvSpPr>
        <p:spPr>
          <a:xfrm>
            <a:off x="594360" y="1783080"/>
            <a:ext cx="4754880" cy="3291840"/>
          </a:xfrm>
          <a:prstGeom prst="roundRect">
            <a:avLst>
              <a:gd name="adj" fmla="val 2500"/>
            </a:avLst>
          </a:prstGeom>
          <a:solidFill>
            <a:srgbClr val="1D1F2B"/>
          </a:solidFill>
          <a:ln w="12700">
            <a:solidFill>
              <a:srgbClr val="1D1F2B"/>
            </a:solidFill>
            <a:prstDash val="solid"/>
          </a:ln>
        </p:spPr>
        <p:txBody>
          <a:bodyPr/>
          <a:p/>
        </p:txBody>
      </p:sp>
      <p:sp>
        <p:nvSpPr>
          <p:cNvPr id="6" name="Text 4"/>
          <p:cNvSpPr/>
          <p:nvPr/>
        </p:nvSpPr>
        <p:spPr>
          <a:xfrm>
            <a:off x="868680" y="1920240"/>
            <a:ext cx="4297680" cy="411480"/>
          </a:xfrm>
          <a:prstGeom prst="rect">
            <a:avLst/>
          </a:prstGeom>
          <a:noFill/>
          <a:ln/>
        </p:spPr>
        <p:txBody>
          <a:bodyPr wrap="square" lIns="0" tIns="0" rIns="0" bIns="0" rtlCol="0" anchor="t"/>
          <a:lstStyle/>
          <a:p>
            <a:pPr indent="0" marL="0">
              <a:buNone/>
            </a:pPr>
            <a:r>
              <a:rPr lang="en-US" sz="2000" b="1" dirty="0">
                <a:solidFill>
                  <a:srgbClr val="959BB0"/>
                </a:solidFill>
                <a:latin typeface="Palatino Linotype" pitchFamily="34" charset="0"/>
                <a:ea typeface="Palatino Linotype" pitchFamily="34" charset="-122"/>
                <a:cs typeface="Palatino Linotype" pitchFamily="34" charset="-120"/>
              </a:rPr>
              <a:t>Foaia cu instrucțiuni</a:t>
            </a:r>
            <a:endParaRPr lang="en-US" sz="2000" dirty="0"/>
          </a:p>
        </p:txBody>
      </p:sp>
      <p:sp>
        <p:nvSpPr>
          <p:cNvPr id="7" name="Text 5"/>
          <p:cNvSpPr/>
          <p:nvPr/>
        </p:nvSpPr>
        <p:spPr>
          <a:xfrm>
            <a:off x="868680" y="2468880"/>
            <a:ext cx="4297680" cy="23774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E6E8EF"/>
                </a:solidFill>
                <a:latin typeface="Palatino Linotype" pitchFamily="34" charset="0"/>
                <a:ea typeface="Palatino Linotype" pitchFamily="34" charset="-122"/>
                <a:cs typeface="Palatino Linotype" pitchFamily="34" charset="-120"/>
              </a:rPr>
              <a:t>Ce obiecte nu are voie să poarte</a:t>
            </a:r>
            <a:endParaRPr lang="en-US" sz="1700" dirty="0"/>
          </a:p>
          <a:p>
            <a:pPr marL="342900" indent="-342900">
              <a:spcAft>
                <a:spcPts val="800"/>
              </a:spcAft>
              <a:buSzPct val="100000"/>
              <a:buChar char="•"/>
            </a:pPr>
            <a:r>
              <a:rPr lang="en-US" sz="1700" dirty="0">
                <a:solidFill>
                  <a:srgbClr val="E6E8EF"/>
                </a:solidFill>
                <a:latin typeface="Palatino Linotype" pitchFamily="34" charset="0"/>
                <a:ea typeface="Palatino Linotype" pitchFamily="34" charset="-122"/>
                <a:cs typeface="Palatino Linotype" pitchFamily="34" charset="-120"/>
              </a:rPr>
              <a:t>Dacă trebuie să vină nemâncat</a:t>
            </a:r>
            <a:endParaRPr lang="en-US" sz="1700" dirty="0"/>
          </a:p>
          <a:p>
            <a:pPr marL="342900" indent="-342900">
              <a:spcAft>
                <a:spcPts val="800"/>
              </a:spcAft>
              <a:buSzPct val="100000"/>
              <a:buChar char="•"/>
            </a:pPr>
            <a:r>
              <a:rPr lang="en-US" sz="1700" dirty="0">
                <a:solidFill>
                  <a:srgbClr val="E6E8EF"/>
                </a:solidFill>
                <a:latin typeface="Palatino Linotype" pitchFamily="34" charset="0"/>
                <a:ea typeface="Palatino Linotype" pitchFamily="34" charset="-122"/>
                <a:cs typeface="Palatino Linotype" pitchFamily="34" charset="-120"/>
              </a:rPr>
              <a:t>Cât timp va sta nemișcat</a:t>
            </a:r>
            <a:endParaRPr lang="en-US" sz="1700" dirty="0"/>
          </a:p>
        </p:txBody>
      </p:sp>
      <p:sp>
        <p:nvSpPr>
          <p:cNvPr id="8" name="Shape 6"/>
          <p:cNvSpPr/>
          <p:nvPr/>
        </p:nvSpPr>
        <p:spPr>
          <a:xfrm>
            <a:off x="5623560" y="1783080"/>
            <a:ext cx="5943600" cy="3291840"/>
          </a:xfrm>
          <a:prstGeom prst="roundRect">
            <a:avLst>
              <a:gd name="adj" fmla="val 2500"/>
            </a:avLst>
          </a:prstGeom>
          <a:solidFill>
            <a:srgbClr val="272A38"/>
          </a:solidFill>
          <a:ln w="12700">
            <a:solidFill>
              <a:srgbClr val="272A38"/>
            </a:solidFill>
            <a:prstDash val="solid"/>
          </a:ln>
        </p:spPr>
        <p:txBody>
          <a:bodyPr/>
          <a:p/>
        </p:txBody>
      </p:sp>
      <p:sp>
        <p:nvSpPr>
          <p:cNvPr id="9" name="Text 7"/>
          <p:cNvSpPr/>
          <p:nvPr/>
        </p:nvSpPr>
        <p:spPr>
          <a:xfrm>
            <a:off x="5897880" y="1920240"/>
            <a:ext cx="5486400" cy="411480"/>
          </a:xfrm>
          <a:prstGeom prst="rect">
            <a:avLst/>
          </a:prstGeom>
          <a:noFill/>
          <a:ln/>
        </p:spPr>
        <p:txBody>
          <a:bodyPr wrap="square" lIns="0" tIns="0" rIns="0" bIns="0" rtlCol="0" anchor="t"/>
          <a:lstStyle/>
          <a:p>
            <a:pPr indent="0" marL="0">
              <a:buNone/>
            </a:pPr>
            <a:r>
              <a:rPr lang="en-US" sz="2000" b="1" dirty="0">
                <a:solidFill>
                  <a:srgbClr val="9B7EF7"/>
                </a:solidFill>
                <a:latin typeface="Palatino Linotype" pitchFamily="34" charset="0"/>
                <a:ea typeface="Palatino Linotype" pitchFamily="34" charset="-122"/>
                <a:cs typeface="Palatino Linotype" pitchFamily="34" charset="-120"/>
              </a:rPr>
              <a:t>Educația</a:t>
            </a:r>
            <a:endParaRPr lang="en-US" sz="2000" dirty="0"/>
          </a:p>
        </p:txBody>
      </p:sp>
      <p:sp>
        <p:nvSpPr>
          <p:cNvPr id="10" name="Text 8"/>
          <p:cNvSpPr/>
          <p:nvPr/>
        </p:nvSpPr>
        <p:spPr>
          <a:xfrm>
            <a:off x="5897880" y="2468880"/>
            <a:ext cx="5486400" cy="25146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FFFFFF"/>
                </a:solidFill>
                <a:latin typeface="Palatino Linotype" pitchFamily="34" charset="0"/>
                <a:ea typeface="Palatino Linotype" pitchFamily="34" charset="-122"/>
                <a:cs typeface="Palatino Linotype" pitchFamily="34" charset="-120"/>
              </a:rPr>
              <a:t>Ce va auzi și ce va simți în aparat</a:t>
            </a:r>
            <a:endParaRPr lang="en-US" sz="1700" dirty="0"/>
          </a:p>
          <a:p>
            <a:pPr marL="342900" indent="-342900">
              <a:spcAft>
                <a:spcPts val="800"/>
              </a:spcAft>
              <a:buSzPct val="100000"/>
              <a:buChar char="•"/>
            </a:pPr>
            <a:r>
              <a:rPr lang="en-US" sz="1700" dirty="0">
                <a:solidFill>
                  <a:srgbClr val="FFFFFF"/>
                </a:solidFill>
                <a:latin typeface="Palatino Linotype" pitchFamily="34" charset="0"/>
                <a:ea typeface="Palatino Linotype" pitchFamily="34" charset="-122"/>
                <a:cs typeface="Palatino Linotype" pitchFamily="34" charset="-120"/>
              </a:rPr>
              <a:t>De ce contează să stea nemișcat și să își țină respirația la comandă</a:t>
            </a:r>
            <a:endParaRPr lang="en-US" sz="1700" dirty="0"/>
          </a:p>
          <a:p>
            <a:pPr marL="342900" indent="-342900">
              <a:spcAft>
                <a:spcPts val="800"/>
              </a:spcAft>
              <a:buSzPct val="100000"/>
              <a:buChar char="•"/>
            </a:pPr>
            <a:r>
              <a:rPr lang="en-US" sz="1700" dirty="0">
                <a:solidFill>
                  <a:srgbClr val="FFFFFF"/>
                </a:solidFill>
                <a:latin typeface="Palatino Linotype" pitchFamily="34" charset="0"/>
                <a:ea typeface="Palatino Linotype" pitchFamily="34" charset="-122"/>
                <a:cs typeface="Palatino Linotype" pitchFamily="34" charset="-120"/>
              </a:rPr>
              <a:t>Verificarea: „Spuneți-mi, vă rog, ce faceți când vă cer să nu mai respirați.”</a:t>
            </a:r>
            <a:endParaRPr lang="en-US" sz="1700" dirty="0"/>
          </a:p>
        </p:txBody>
      </p:sp>
      <p:sp>
        <p:nvSpPr>
          <p:cNvPr id="11" name="Text 9"/>
          <p:cNvSpPr/>
          <p:nvPr/>
        </p:nvSpPr>
        <p:spPr>
          <a:xfrm>
            <a:off x="594360" y="5303520"/>
            <a:ext cx="10972800" cy="73152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Un pacient care a înțeles colaborează mai bine, iar o examinare repetată din cauza mișcării se poate evita.</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594360" y="329184"/>
            <a:ext cx="3291840" cy="32918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594360" y="329184"/>
            <a:ext cx="3291840" cy="329184"/>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TERMENUL NOU 1 DIN 3</a:t>
            </a:r>
            <a:endParaRPr lang="en-US" sz="1300" dirty="0"/>
          </a:p>
        </p:txBody>
      </p:sp>
      <p:sp>
        <p:nvSpPr>
          <p:cNvPr id="4" name="Text 2"/>
          <p:cNvSpPr/>
          <p:nvPr/>
        </p:nvSpPr>
        <p:spPr>
          <a:xfrm>
            <a:off x="594360" y="914400"/>
            <a:ext cx="10972800" cy="82296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Educația pentru sănătate</a:t>
            </a:r>
            <a:endParaRPr lang="en-US" sz="3800" dirty="0"/>
          </a:p>
        </p:txBody>
      </p:sp>
      <p:sp>
        <p:nvSpPr>
          <p:cNvPr id="5" name="Text 3"/>
          <p:cNvSpPr/>
          <p:nvPr/>
        </p:nvSpPr>
        <p:spPr>
          <a:xfrm>
            <a:off x="594360" y="1874520"/>
            <a:ext cx="10789920" cy="1371600"/>
          </a:xfrm>
          <a:prstGeom prst="rect">
            <a:avLst/>
          </a:prstGeom>
          <a:noFill/>
          <a:ln/>
        </p:spPr>
        <p:txBody>
          <a:bodyPr wrap="square" lIns="0" tIns="0" rIns="0" bIns="0" rtlCol="0" anchor="t"/>
          <a:lstStyle/>
          <a:p>
            <a:pPr indent="0" marL="0">
              <a:buNone/>
            </a:pPr>
            <a:r>
              <a:rPr lang="en-US" sz="2700" b="1" dirty="0">
                <a:solidFill>
                  <a:srgbClr val="27D3BE"/>
                </a:solidFill>
                <a:latin typeface="Palatino Linotype" pitchFamily="34" charset="0"/>
                <a:ea typeface="Palatino Linotype" pitchFamily="34" charset="-122"/>
                <a:cs typeface="Palatino Linotype" pitchFamily="34" charset="-120"/>
              </a:rPr>
              <a:t>Tot ce faceți, cu un plan, ca omul să învețe ceva bun pentru sănătatea lui și să poată aplica singur ce a învățat.</a:t>
            </a:r>
            <a:endParaRPr lang="en-US" sz="2700" dirty="0"/>
          </a:p>
        </p:txBody>
      </p:sp>
      <p:sp>
        <p:nvSpPr>
          <p:cNvPr id="6" name="Shape 4"/>
          <p:cNvSpPr/>
          <p:nvPr/>
        </p:nvSpPr>
        <p:spPr>
          <a:xfrm>
            <a:off x="594360" y="3611880"/>
            <a:ext cx="10972800" cy="2057400"/>
          </a:xfrm>
          <a:prstGeom prst="roundRect">
            <a:avLst>
              <a:gd name="adj" fmla="val 4000"/>
            </a:avLst>
          </a:prstGeom>
          <a:solidFill>
            <a:srgbClr val="1D1F2B"/>
          </a:solidFill>
          <a:ln w="12700">
            <a:solidFill>
              <a:srgbClr val="1D1F2B"/>
            </a:solidFill>
            <a:prstDash val="solid"/>
          </a:ln>
        </p:spPr>
        <p:txBody>
          <a:bodyPr/>
          <a:p/>
        </p:txBody>
      </p:sp>
      <p:sp>
        <p:nvSpPr>
          <p:cNvPr id="7" name="Text 5"/>
          <p:cNvSpPr/>
          <p:nvPr/>
        </p:nvSpPr>
        <p:spPr>
          <a:xfrm>
            <a:off x="868680" y="3749040"/>
            <a:ext cx="10424160" cy="36576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În formularea OMS</a:t>
            </a:r>
            <a:endParaRPr lang="en-US" sz="1500" dirty="0"/>
          </a:p>
        </p:txBody>
      </p:sp>
      <p:sp>
        <p:nvSpPr>
          <p:cNvPr id="8" name="Text 6"/>
          <p:cNvSpPr/>
          <p:nvPr/>
        </p:nvSpPr>
        <p:spPr>
          <a:xfrm>
            <a:off x="868680" y="4160520"/>
            <a:ext cx="10424160" cy="141732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Orice combinație de experiențe de învățare menite să ajute indivizii și comunitățile să își îmbunătățească sănătatea, prin creșterea cunoștințelor, influențarea motivației și îmbunătățirea capacității de a găsi, de a înțelege și de a folosi informația despre sănătate.</a:t>
            </a:r>
            <a:endParaRPr lang="en-US" sz="1800" dirty="0"/>
          </a:p>
        </p:txBody>
      </p:sp>
      <p:sp>
        <p:nvSpPr>
          <p:cNvPr id="9" name="Text 7"/>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Glosarul OMS de promovare a sănătății, 2021.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DOUĂ EXPRESII, NU UNA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Traseul din parc și lecția despre traseu</a:t>
            </a:r>
            <a:endParaRPr lang="en-US" sz="3000" dirty="0"/>
          </a:p>
        </p:txBody>
      </p:sp>
      <p:sp>
        <p:nvSpPr>
          <p:cNvPr id="4" name="Shape 2"/>
          <p:cNvSpPr/>
          <p:nvPr/>
        </p:nvSpPr>
        <p:spPr>
          <a:xfrm>
            <a:off x="685800" y="1691640"/>
            <a:ext cx="4572000" cy="4206240"/>
          </a:xfrm>
          <a:prstGeom prst="ellipse">
            <a:avLst/>
          </a:prstGeom>
          <a:solidFill>
            <a:srgbClr val="ECEAE4"/>
          </a:solidFill>
          <a:ln w="25400">
            <a:solidFill>
              <a:srgbClr val="4A2D8C"/>
            </a:solidFill>
            <a:prstDash val="solid"/>
          </a:ln>
        </p:spPr>
        <p:txBody>
          <a:bodyPr/>
          <a:p/>
        </p:txBody>
      </p:sp>
      <p:sp>
        <p:nvSpPr>
          <p:cNvPr id="5" name="Text 3"/>
          <p:cNvSpPr/>
          <p:nvPr/>
        </p:nvSpPr>
        <p:spPr>
          <a:xfrm>
            <a:off x="1143000" y="1965960"/>
            <a:ext cx="3657600" cy="411480"/>
          </a:xfrm>
          <a:prstGeom prst="rect">
            <a:avLst/>
          </a:prstGeom>
          <a:noFill/>
          <a:ln/>
        </p:spPr>
        <p:txBody>
          <a:bodyPr wrap="square" lIns="0" tIns="0" rIns="0" bIns="0" rtlCol="0" anchor="t"/>
          <a:lstStyle/>
          <a:p>
            <a:pPr algn="ctr" indent="0" marL="0">
              <a:buNone/>
            </a:pPr>
            <a:r>
              <a:rPr lang="en-US" sz="1800" b="1" dirty="0">
                <a:solidFill>
                  <a:srgbClr val="4A2D8C"/>
                </a:solidFill>
                <a:latin typeface="Palatino Linotype" pitchFamily="34" charset="0"/>
                <a:ea typeface="Palatino Linotype" pitchFamily="34" charset="-122"/>
                <a:cs typeface="Palatino Linotype" pitchFamily="34" charset="-120"/>
              </a:rPr>
              <a:t>Promovarea sănătății</a:t>
            </a:r>
            <a:endParaRPr lang="en-US" sz="1800" dirty="0"/>
          </a:p>
        </p:txBody>
      </p:sp>
      <p:sp>
        <p:nvSpPr>
          <p:cNvPr id="6" name="Text 4"/>
          <p:cNvSpPr/>
          <p:nvPr/>
        </p:nvSpPr>
        <p:spPr>
          <a:xfrm>
            <a:off x="1143000" y="2377440"/>
            <a:ext cx="3657600" cy="365760"/>
          </a:xfrm>
          <a:prstGeom prst="rect">
            <a:avLst/>
          </a:prstGeom>
          <a:noFill/>
          <a:ln/>
        </p:spPr>
        <p:txBody>
          <a:bodyPr wrap="square" lIns="0" tIns="0" rIns="0" bIns="0" rtlCol="0" anchor="t"/>
          <a:lstStyle/>
          <a:p>
            <a:pPr algn="ctr" indent="0" marL="0">
              <a:buNone/>
            </a:pPr>
            <a:r>
              <a:rPr lang="en-US" sz="1400" dirty="0">
                <a:solidFill>
                  <a:srgbClr val="585A64"/>
                </a:solidFill>
                <a:latin typeface="Palatino Linotype" pitchFamily="34" charset="0"/>
                <a:ea typeface="Palatino Linotype" pitchFamily="34" charset="-122"/>
                <a:cs typeface="Palatino Linotype" pitchFamily="34" charset="-120"/>
              </a:rPr>
              <a:t>legile · mediul · serviciile · comunitatea</a:t>
            </a:r>
            <a:endParaRPr lang="en-US" sz="1400" dirty="0"/>
          </a:p>
        </p:txBody>
      </p:sp>
      <p:sp>
        <p:nvSpPr>
          <p:cNvPr id="7" name="Shape 5"/>
          <p:cNvSpPr/>
          <p:nvPr/>
        </p:nvSpPr>
        <p:spPr>
          <a:xfrm>
            <a:off x="1600200" y="2971800"/>
            <a:ext cx="2743200" cy="2377440"/>
          </a:xfrm>
          <a:prstGeom prst="ellipse">
            <a:avLst/>
          </a:prstGeom>
          <a:solidFill>
            <a:srgbClr val="0E7C6B"/>
          </a:solidFill>
          <a:ln w="12700">
            <a:solidFill>
              <a:srgbClr val="0E7C6B"/>
            </a:solidFill>
            <a:prstDash val="solid"/>
          </a:ln>
        </p:spPr>
        <p:txBody>
          <a:bodyPr/>
          <a:p/>
        </p:txBody>
      </p:sp>
      <p:sp>
        <p:nvSpPr>
          <p:cNvPr id="8" name="Text 6"/>
          <p:cNvSpPr/>
          <p:nvPr/>
        </p:nvSpPr>
        <p:spPr>
          <a:xfrm>
            <a:off x="1828800" y="2971800"/>
            <a:ext cx="2286000" cy="23774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Educația pentru sănătate: învățarea</a:t>
            </a:r>
            <a:endParaRPr lang="en-US" sz="1700" dirty="0"/>
          </a:p>
        </p:txBody>
      </p:sp>
      <p:sp>
        <p:nvSpPr>
          <p:cNvPr id="9" name="Text 7"/>
          <p:cNvSpPr/>
          <p:nvPr/>
        </p:nvSpPr>
        <p:spPr>
          <a:xfrm>
            <a:off x="5760720" y="1783080"/>
            <a:ext cx="5806440" cy="15544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Carta de la Ottawa, 1986: promovarea sănătății este procesul prin care oamenii devin capabili să dobândească un control mai mare asupra sănătății lor și să și-o îmbunătățească.</a:t>
            </a:r>
            <a:endParaRPr lang="en-US" sz="1700" dirty="0"/>
          </a:p>
        </p:txBody>
      </p:sp>
      <p:sp>
        <p:nvSpPr>
          <p:cNvPr id="10" name="Shape 8"/>
          <p:cNvSpPr/>
          <p:nvPr/>
        </p:nvSpPr>
        <p:spPr>
          <a:xfrm>
            <a:off x="5760720" y="3520440"/>
            <a:ext cx="5806440" cy="1051560"/>
          </a:xfrm>
          <a:prstGeom prst="roundRect">
            <a:avLst>
              <a:gd name="adj" fmla="val 7826"/>
            </a:avLst>
          </a:prstGeom>
          <a:solidFill>
            <a:srgbClr val="ECEAE4"/>
          </a:solidFill>
          <a:ln w="12700">
            <a:solidFill>
              <a:srgbClr val="ECEAE4"/>
            </a:solidFill>
            <a:prstDash val="solid"/>
          </a:ln>
        </p:spPr>
        <p:txBody>
          <a:bodyPr/>
          <a:p/>
        </p:txBody>
      </p:sp>
      <p:sp>
        <p:nvSpPr>
          <p:cNvPr id="11" name="Text 9"/>
          <p:cNvSpPr/>
          <p:nvPr/>
        </p:nvSpPr>
        <p:spPr>
          <a:xfrm>
            <a:off x="5989320" y="3520440"/>
            <a:ext cx="5394960" cy="1051560"/>
          </a:xfrm>
          <a:prstGeom prst="rect">
            <a:avLst/>
          </a:prstGeom>
          <a:noFill/>
          <a:ln/>
        </p:spPr>
        <p:txBody>
          <a:bodyPr wrap="square" lIns="0" tIns="0" rIns="0" bIns="0" rtlCol="0" anchor="ctr"/>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Traseul marcat pentru mers în parc: promovarea sănătății.</a:t>
            </a:r>
            <a:endParaRPr lang="en-US" sz="1700" dirty="0"/>
          </a:p>
        </p:txBody>
      </p:sp>
      <p:sp>
        <p:nvSpPr>
          <p:cNvPr id="12" name="Shape 10"/>
          <p:cNvSpPr/>
          <p:nvPr/>
        </p:nvSpPr>
        <p:spPr>
          <a:xfrm>
            <a:off x="5760720" y="4709160"/>
            <a:ext cx="5806440" cy="1143000"/>
          </a:xfrm>
          <a:prstGeom prst="roundRect">
            <a:avLst>
              <a:gd name="adj" fmla="val 7200"/>
            </a:avLst>
          </a:prstGeom>
          <a:solidFill>
            <a:srgbClr val="0E7C6B"/>
          </a:solidFill>
          <a:ln w="12700">
            <a:solidFill>
              <a:srgbClr val="0E7C6B"/>
            </a:solidFill>
            <a:prstDash val="solid"/>
          </a:ln>
        </p:spPr>
        <p:txBody>
          <a:bodyPr/>
          <a:p/>
        </p:txBody>
      </p:sp>
      <p:sp>
        <p:nvSpPr>
          <p:cNvPr id="13" name="Text 11"/>
          <p:cNvSpPr/>
          <p:nvPr/>
        </p:nvSpPr>
        <p:spPr>
          <a:xfrm>
            <a:off x="5989320" y="4709160"/>
            <a:ext cx="5394960" cy="114300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Lecția de zece minute despre cum mergeți pe traseu fără să vă suprasolicitați genunchii: educație pentru sănătate.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SALĂ</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DE CE ARE NEVOIE RADIOLOGIA DE EDUCAȚIE</a:t>
            </a:r>
            <a:endParaRPr lang="en-US" sz="1300" dirty="0"/>
          </a:p>
        </p:txBody>
      </p:sp>
      <p:sp>
        <p:nvSpPr>
          <p:cNvPr id="5" name="Text 3"/>
          <p:cNvSpPr/>
          <p:nvPr/>
        </p:nvSpPr>
        <p:spPr>
          <a:xfrm>
            <a:off x="594360" y="777240"/>
            <a:ext cx="10972800" cy="7315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Colaborarea, screeningul, radioprotecția</a:t>
            </a:r>
            <a:endParaRPr lang="en-US" sz="3200" dirty="0"/>
          </a:p>
        </p:txBody>
      </p:sp>
      <p:sp>
        <p:nvSpPr>
          <p:cNvPr id="6" name="Shape 4"/>
          <p:cNvSpPr/>
          <p:nvPr/>
        </p:nvSpPr>
        <p:spPr>
          <a:xfrm>
            <a:off x="594360" y="1691640"/>
            <a:ext cx="3547872" cy="3154680"/>
          </a:xfrm>
          <a:prstGeom prst="roundRect">
            <a:avLst>
              <a:gd name="adj" fmla="val 2609"/>
            </a:avLst>
          </a:prstGeom>
          <a:solidFill>
            <a:srgbClr val="1D1F2B"/>
          </a:solidFill>
          <a:ln w="12700">
            <a:solidFill>
              <a:srgbClr val="1D1F2B"/>
            </a:solidFill>
            <a:prstDash val="solid"/>
          </a:ln>
        </p:spPr>
        <p:txBody>
          <a:bodyPr/>
          <a:p/>
        </p:txBody>
      </p:sp>
      <p:sp>
        <p:nvSpPr>
          <p:cNvPr id="7" name="Shape 5"/>
          <p:cNvSpPr/>
          <p:nvPr/>
        </p:nvSpPr>
        <p:spPr>
          <a:xfrm>
            <a:off x="594360" y="1691640"/>
            <a:ext cx="3547872" cy="73152"/>
          </a:xfrm>
          <a:prstGeom prst="rect">
            <a:avLst/>
          </a:prstGeom>
          <a:solidFill>
            <a:srgbClr val="9B7EF7"/>
          </a:solidFill>
          <a:ln w="12700">
            <a:solidFill>
              <a:srgbClr val="9B7EF7"/>
            </a:solidFill>
            <a:prstDash val="solid"/>
          </a:ln>
        </p:spPr>
        <p:txBody>
          <a:bodyPr/>
          <a:p/>
        </p:txBody>
      </p:sp>
      <p:sp>
        <p:nvSpPr>
          <p:cNvPr id="8" name="Text 6"/>
          <p:cNvSpPr/>
          <p:nvPr/>
        </p:nvSpPr>
        <p:spPr>
          <a:xfrm>
            <a:off x="795528" y="1920240"/>
            <a:ext cx="3145536" cy="914400"/>
          </a:xfrm>
          <a:prstGeom prst="rect">
            <a:avLst/>
          </a:prstGeom>
          <a:noFill/>
          <a:ln/>
        </p:spPr>
        <p:txBody>
          <a:bodyPr wrap="square" lIns="0" tIns="0" rIns="0" bIns="0" rtlCol="0" anchor="t"/>
          <a:lstStyle/>
          <a:p>
            <a:pPr indent="0" marL="0">
              <a:buNone/>
            </a:pPr>
            <a:r>
              <a:rPr lang="en-US" sz="2400" b="1" dirty="0">
                <a:solidFill>
                  <a:srgbClr val="9B7EF7"/>
                </a:solidFill>
                <a:latin typeface="Palatino Linotype" pitchFamily="34" charset="0"/>
                <a:ea typeface="Palatino Linotype" pitchFamily="34" charset="-122"/>
                <a:cs typeface="Palatino Linotype" pitchFamily="34" charset="-120"/>
              </a:rPr>
              <a:t>Colaborarea</a:t>
            </a:r>
            <a:endParaRPr lang="en-US" sz="2400" dirty="0"/>
          </a:p>
        </p:txBody>
      </p:sp>
      <p:sp>
        <p:nvSpPr>
          <p:cNvPr id="9" name="Text 7"/>
          <p:cNvSpPr/>
          <p:nvPr/>
        </p:nvSpPr>
        <p:spPr>
          <a:xfrm>
            <a:off x="795528" y="2926080"/>
            <a:ext cx="3145536" cy="1783080"/>
          </a:xfrm>
          <a:prstGeom prst="rect">
            <a:avLst/>
          </a:prstGeom>
          <a:noFill/>
          <a:ln/>
        </p:spPr>
        <p:txBody>
          <a:bodyPr wrap="square" lIns="0" tIns="0" rIns="0" bIns="0" rtlCol="0" anchor="t"/>
          <a:lstStyle/>
          <a:p>
            <a:pPr indent="0" marL="0">
              <a:buNone/>
            </a:pPr>
            <a:r>
              <a:rPr lang="en-US" sz="1850" dirty="0">
                <a:solidFill>
                  <a:srgbClr val="E6E8EF"/>
                </a:solidFill>
                <a:latin typeface="Palatino Linotype" pitchFamily="34" charset="0"/>
                <a:ea typeface="Palatino Linotype" pitchFamily="34" charset="-122"/>
                <a:cs typeface="Palatino Linotype" pitchFamily="34" charset="-120"/>
              </a:rPr>
              <a:t>Pacientul care înțelege de ce i se cere o anumită poziție sau o anumită respirație colaborează.</a:t>
            </a:r>
            <a:endParaRPr lang="en-US" sz="1850" dirty="0"/>
          </a:p>
        </p:txBody>
      </p:sp>
      <p:sp>
        <p:nvSpPr>
          <p:cNvPr id="10" name="Shape 8"/>
          <p:cNvSpPr/>
          <p:nvPr/>
        </p:nvSpPr>
        <p:spPr>
          <a:xfrm>
            <a:off x="4306824" y="1691640"/>
            <a:ext cx="3547872" cy="3154680"/>
          </a:xfrm>
          <a:prstGeom prst="roundRect">
            <a:avLst>
              <a:gd name="adj" fmla="val 2609"/>
            </a:avLst>
          </a:prstGeom>
          <a:solidFill>
            <a:srgbClr val="1D1F2B"/>
          </a:solidFill>
          <a:ln w="12700">
            <a:solidFill>
              <a:srgbClr val="1D1F2B"/>
            </a:solidFill>
            <a:prstDash val="solid"/>
          </a:ln>
        </p:spPr>
        <p:txBody>
          <a:bodyPr/>
          <a:p/>
        </p:txBody>
      </p:sp>
      <p:sp>
        <p:nvSpPr>
          <p:cNvPr id="11" name="Shape 9"/>
          <p:cNvSpPr/>
          <p:nvPr/>
        </p:nvSpPr>
        <p:spPr>
          <a:xfrm>
            <a:off x="4306824" y="1691640"/>
            <a:ext cx="3547872" cy="73152"/>
          </a:xfrm>
          <a:prstGeom prst="rect">
            <a:avLst/>
          </a:prstGeom>
          <a:solidFill>
            <a:srgbClr val="FFC24B"/>
          </a:solidFill>
          <a:ln w="12700">
            <a:solidFill>
              <a:srgbClr val="FFC24B"/>
            </a:solidFill>
            <a:prstDash val="solid"/>
          </a:ln>
        </p:spPr>
        <p:txBody>
          <a:bodyPr/>
          <a:p/>
        </p:txBody>
      </p:sp>
      <p:sp>
        <p:nvSpPr>
          <p:cNvPr id="12" name="Text 10"/>
          <p:cNvSpPr/>
          <p:nvPr/>
        </p:nvSpPr>
        <p:spPr>
          <a:xfrm>
            <a:off x="4507992" y="1920240"/>
            <a:ext cx="3145536" cy="914400"/>
          </a:xfrm>
          <a:prstGeom prst="rect">
            <a:avLst/>
          </a:prstGeom>
          <a:noFill/>
          <a:ln/>
        </p:spPr>
        <p:txBody>
          <a:bodyPr wrap="square" lIns="0" tIns="0" rIns="0" bIns="0" rtlCol="0" anchor="t"/>
          <a:lstStyle/>
          <a:p>
            <a:pPr indent="0" marL="0">
              <a:buNone/>
            </a:pPr>
            <a:r>
              <a:rPr lang="en-US" sz="2400" b="1" dirty="0">
                <a:solidFill>
                  <a:srgbClr val="FFC24B"/>
                </a:solidFill>
                <a:latin typeface="Palatino Linotype" pitchFamily="34" charset="0"/>
                <a:ea typeface="Palatino Linotype" pitchFamily="34" charset="-122"/>
                <a:cs typeface="Palatino Linotype" pitchFamily="34" charset="-120"/>
              </a:rPr>
              <a:t>Screeningul</a:t>
            </a:r>
            <a:endParaRPr lang="en-US" sz="2400" dirty="0"/>
          </a:p>
        </p:txBody>
      </p:sp>
      <p:sp>
        <p:nvSpPr>
          <p:cNvPr id="13" name="Text 11"/>
          <p:cNvSpPr/>
          <p:nvPr/>
        </p:nvSpPr>
        <p:spPr>
          <a:xfrm>
            <a:off x="4507992" y="2926080"/>
            <a:ext cx="3145536" cy="1783080"/>
          </a:xfrm>
          <a:prstGeom prst="rect">
            <a:avLst/>
          </a:prstGeom>
          <a:noFill/>
          <a:ln/>
        </p:spPr>
        <p:txBody>
          <a:bodyPr wrap="square" lIns="0" tIns="0" rIns="0" bIns="0" rtlCol="0" anchor="t"/>
          <a:lstStyle/>
          <a:p>
            <a:pPr indent="0" marL="0">
              <a:buNone/>
            </a:pPr>
            <a:r>
              <a:rPr lang="en-US" sz="1850" dirty="0">
                <a:solidFill>
                  <a:srgbClr val="E6E8EF"/>
                </a:solidFill>
                <a:latin typeface="Palatino Linotype" pitchFamily="34" charset="0"/>
                <a:ea typeface="Palatino Linotype" pitchFamily="34" charset="-122"/>
                <a:cs typeface="Palatino Linotype" pitchFamily="34" charset="-120"/>
              </a:rPr>
              <a:t>Femeia invitată la o mamografie află, pe înțelesul ei, la ce folosește examinarea și ce înseamnă un rezultat care cere investigații suplimentare.</a:t>
            </a:r>
            <a:endParaRPr lang="en-US" sz="1850" dirty="0"/>
          </a:p>
        </p:txBody>
      </p:sp>
      <p:sp>
        <p:nvSpPr>
          <p:cNvPr id="14" name="Shape 12"/>
          <p:cNvSpPr/>
          <p:nvPr/>
        </p:nvSpPr>
        <p:spPr>
          <a:xfrm>
            <a:off x="8019288" y="1691640"/>
            <a:ext cx="3547872" cy="3154680"/>
          </a:xfrm>
          <a:prstGeom prst="roundRect">
            <a:avLst>
              <a:gd name="adj" fmla="val 2609"/>
            </a:avLst>
          </a:prstGeom>
          <a:solidFill>
            <a:srgbClr val="1D1F2B"/>
          </a:solidFill>
          <a:ln w="12700">
            <a:solidFill>
              <a:srgbClr val="1D1F2B"/>
            </a:solidFill>
            <a:prstDash val="solid"/>
          </a:ln>
        </p:spPr>
        <p:txBody>
          <a:bodyPr/>
          <a:p/>
        </p:txBody>
      </p:sp>
      <p:sp>
        <p:nvSpPr>
          <p:cNvPr id="15" name="Shape 13"/>
          <p:cNvSpPr/>
          <p:nvPr/>
        </p:nvSpPr>
        <p:spPr>
          <a:xfrm>
            <a:off x="8019288" y="1691640"/>
            <a:ext cx="3547872" cy="73152"/>
          </a:xfrm>
          <a:prstGeom prst="rect">
            <a:avLst/>
          </a:prstGeom>
          <a:solidFill>
            <a:srgbClr val="27D3BE"/>
          </a:solidFill>
          <a:ln w="12700">
            <a:solidFill>
              <a:srgbClr val="27D3BE"/>
            </a:solidFill>
            <a:prstDash val="solid"/>
          </a:ln>
        </p:spPr>
        <p:txBody>
          <a:bodyPr/>
          <a:p/>
        </p:txBody>
      </p:sp>
      <p:sp>
        <p:nvSpPr>
          <p:cNvPr id="16" name="Text 14"/>
          <p:cNvSpPr/>
          <p:nvPr/>
        </p:nvSpPr>
        <p:spPr>
          <a:xfrm>
            <a:off x="8220456" y="1920240"/>
            <a:ext cx="3145536" cy="914400"/>
          </a:xfrm>
          <a:prstGeom prst="rect">
            <a:avLst/>
          </a:prstGeom>
          <a:noFill/>
          <a:ln/>
        </p:spPr>
        <p:txBody>
          <a:bodyPr wrap="square" lIns="0" tIns="0" rIns="0" bIns="0" rtlCol="0" anchor="t"/>
          <a:lstStyle/>
          <a:p>
            <a:pPr indent="0" marL="0">
              <a:buNone/>
            </a:pPr>
            <a:r>
              <a:rPr lang="en-US" sz="2400" b="1" dirty="0">
                <a:solidFill>
                  <a:srgbClr val="27D3BE"/>
                </a:solidFill>
                <a:latin typeface="Palatino Linotype" pitchFamily="34" charset="0"/>
                <a:ea typeface="Palatino Linotype" pitchFamily="34" charset="-122"/>
                <a:cs typeface="Palatino Linotype" pitchFamily="34" charset="-120"/>
              </a:rPr>
              <a:t>Radioprotecția</a:t>
            </a:r>
            <a:endParaRPr lang="en-US" sz="2400" dirty="0"/>
          </a:p>
        </p:txBody>
      </p:sp>
      <p:sp>
        <p:nvSpPr>
          <p:cNvPr id="17" name="Text 15"/>
          <p:cNvSpPr/>
          <p:nvPr/>
        </p:nvSpPr>
        <p:spPr>
          <a:xfrm>
            <a:off x="8220456" y="2926080"/>
            <a:ext cx="3145536" cy="1783080"/>
          </a:xfrm>
          <a:prstGeom prst="rect">
            <a:avLst/>
          </a:prstGeom>
          <a:noFill/>
          <a:ln/>
        </p:spPr>
        <p:txBody>
          <a:bodyPr wrap="square" lIns="0" tIns="0" rIns="0" bIns="0" rtlCol="0" anchor="t"/>
          <a:lstStyle/>
          <a:p>
            <a:pPr indent="0" marL="0">
              <a:buNone/>
            </a:pPr>
            <a:r>
              <a:rPr lang="en-US" sz="1850" dirty="0">
                <a:solidFill>
                  <a:srgbClr val="E6E8EF"/>
                </a:solidFill>
                <a:latin typeface="Palatino Linotype" pitchFamily="34" charset="0"/>
                <a:ea typeface="Palatino Linotype" pitchFamily="34" charset="-122"/>
                <a:cs typeface="Palatino Linotype" pitchFamily="34" charset="-120"/>
              </a:rPr>
              <a:t>Pacientul află de ce se folosește un șorț de protecție și de ce trebuie să spună dacă ar putea fi însărcinată. Colegii învață să își protejeze propria sănătate.</a:t>
            </a:r>
            <a:endParaRPr lang="en-US" sz="1850" dirty="0"/>
          </a:p>
        </p:txBody>
      </p:sp>
      <p:sp>
        <p:nvSpPr>
          <p:cNvPr id="18" name="Text 16"/>
          <p:cNvSpPr/>
          <p:nvPr/>
        </p:nvSpPr>
        <p:spPr>
          <a:xfrm>
            <a:off x="594360" y="5120640"/>
            <a:ext cx="10972800" cy="822960"/>
          </a:xfrm>
          <a:prstGeom prst="rect">
            <a:avLst/>
          </a:prstGeom>
          <a:noFill/>
          <a:ln/>
        </p:spPr>
        <p:txBody>
          <a:bodyPr wrap="square" lIns="0" tIns="0" rIns="0" bIns="0" rtlCol="0" anchor="ctr"/>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Unde, în ziua voastră de lucru, ar conta cel mai mult ca pacientul să fi înțeles?</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TREI TEHNICI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Limbaj simplu, întrebări deschise, verificare prin reformulare</a:t>
            </a:r>
            <a:endParaRPr lang="en-US" sz="2800" dirty="0"/>
          </a:p>
        </p:txBody>
      </p:sp>
      <p:sp>
        <p:nvSpPr>
          <p:cNvPr id="4" name="Shape 2"/>
          <p:cNvSpPr/>
          <p:nvPr/>
        </p:nvSpPr>
        <p:spPr>
          <a:xfrm>
            <a:off x="594360" y="1783080"/>
            <a:ext cx="3547872" cy="3063240"/>
          </a:xfrm>
          <a:prstGeom prst="roundRect">
            <a:avLst>
              <a:gd name="adj" fmla="val 2687"/>
            </a:avLst>
          </a:prstGeom>
          <a:solidFill>
            <a:srgbClr val="ECEAE4"/>
          </a:solidFill>
          <a:ln w="12700">
            <a:solidFill>
              <a:srgbClr val="ECEAE4"/>
            </a:solidFill>
            <a:prstDash val="solid"/>
          </a:ln>
        </p:spPr>
        <p:txBody>
          <a:bodyPr/>
          <a:p/>
        </p:txBody>
      </p:sp>
      <p:sp>
        <p:nvSpPr>
          <p:cNvPr id="5" name="Shape 3"/>
          <p:cNvSpPr/>
          <p:nvPr/>
        </p:nvSpPr>
        <p:spPr>
          <a:xfrm>
            <a:off x="594360" y="1783080"/>
            <a:ext cx="3547872" cy="73152"/>
          </a:xfrm>
          <a:prstGeom prst="rect">
            <a:avLst/>
          </a:prstGeom>
          <a:solidFill>
            <a:srgbClr val="0E7C6B"/>
          </a:solidFill>
          <a:ln w="12700">
            <a:solidFill>
              <a:srgbClr val="0E7C6B"/>
            </a:solidFill>
            <a:prstDash val="solid"/>
          </a:ln>
        </p:spPr>
        <p:txBody>
          <a:bodyPr/>
          <a:p/>
        </p:txBody>
      </p:sp>
      <p:sp>
        <p:nvSpPr>
          <p:cNvPr id="6" name="Text 4"/>
          <p:cNvSpPr/>
          <p:nvPr/>
        </p:nvSpPr>
        <p:spPr>
          <a:xfrm>
            <a:off x="795528" y="2011680"/>
            <a:ext cx="3145536" cy="914400"/>
          </a:xfrm>
          <a:prstGeom prst="rect">
            <a:avLst/>
          </a:prstGeom>
          <a:noFill/>
          <a:ln/>
        </p:spPr>
        <p:txBody>
          <a:bodyPr wrap="square" lIns="0" tIns="0" rIns="0" bIns="0" rtlCol="0" anchor="t"/>
          <a:lstStyle/>
          <a:p>
            <a:pPr indent="0" marL="0">
              <a:buNone/>
            </a:pPr>
            <a:r>
              <a:rPr lang="en-US" sz="2300" b="1" dirty="0">
                <a:solidFill>
                  <a:srgbClr val="0E7C6B"/>
                </a:solidFill>
                <a:latin typeface="Palatino Linotype" pitchFamily="34" charset="0"/>
                <a:ea typeface="Palatino Linotype" pitchFamily="34" charset="-122"/>
                <a:cs typeface="Palatino Linotype" pitchFamily="34" charset="-120"/>
              </a:rPr>
              <a:t>Limbajul simplu</a:t>
            </a:r>
            <a:endParaRPr lang="en-US" sz="2300" dirty="0"/>
          </a:p>
        </p:txBody>
      </p:sp>
      <p:sp>
        <p:nvSpPr>
          <p:cNvPr id="7" name="Text 5"/>
          <p:cNvSpPr/>
          <p:nvPr/>
        </p:nvSpPr>
        <p:spPr>
          <a:xfrm>
            <a:off x="795528" y="3017520"/>
            <a:ext cx="3145536" cy="16916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Propoziții scurte, cuvinte obișnuite, o singură idee principală. Termenii de specialitate rămân pentru fișa medicală.</a:t>
            </a:r>
            <a:endParaRPr lang="en-US" sz="1800" dirty="0"/>
          </a:p>
        </p:txBody>
      </p:sp>
      <p:sp>
        <p:nvSpPr>
          <p:cNvPr id="8" name="Shape 6"/>
          <p:cNvSpPr/>
          <p:nvPr/>
        </p:nvSpPr>
        <p:spPr>
          <a:xfrm>
            <a:off x="4306824" y="1783080"/>
            <a:ext cx="3547872" cy="3063240"/>
          </a:xfrm>
          <a:prstGeom prst="roundRect">
            <a:avLst>
              <a:gd name="adj" fmla="val 2687"/>
            </a:avLst>
          </a:prstGeom>
          <a:solidFill>
            <a:srgbClr val="F9F8F5"/>
          </a:solidFill>
          <a:ln w="12700">
            <a:solidFill>
              <a:srgbClr val="F9F8F5"/>
            </a:solidFill>
            <a:prstDash val="solid"/>
          </a:ln>
        </p:spPr>
        <p:txBody>
          <a:bodyPr/>
          <a:p/>
        </p:txBody>
      </p:sp>
      <p:sp>
        <p:nvSpPr>
          <p:cNvPr id="9" name="Shape 7"/>
          <p:cNvSpPr/>
          <p:nvPr/>
        </p:nvSpPr>
        <p:spPr>
          <a:xfrm>
            <a:off x="4306824" y="1783080"/>
            <a:ext cx="3547872" cy="73152"/>
          </a:xfrm>
          <a:prstGeom prst="rect">
            <a:avLst/>
          </a:prstGeom>
          <a:solidFill>
            <a:srgbClr val="4A2D8C"/>
          </a:solidFill>
          <a:ln w="12700">
            <a:solidFill>
              <a:srgbClr val="4A2D8C"/>
            </a:solidFill>
            <a:prstDash val="solid"/>
          </a:ln>
        </p:spPr>
        <p:txBody>
          <a:bodyPr/>
          <a:p/>
        </p:txBody>
      </p:sp>
      <p:sp>
        <p:nvSpPr>
          <p:cNvPr id="10" name="Text 8"/>
          <p:cNvSpPr/>
          <p:nvPr/>
        </p:nvSpPr>
        <p:spPr>
          <a:xfrm>
            <a:off x="4507992" y="2011680"/>
            <a:ext cx="3145536" cy="914400"/>
          </a:xfrm>
          <a:prstGeom prst="rect">
            <a:avLst/>
          </a:prstGeom>
          <a:noFill/>
          <a:ln/>
        </p:spPr>
        <p:txBody>
          <a:bodyPr wrap="square" lIns="0" tIns="0" rIns="0" bIns="0" rtlCol="0" anchor="t"/>
          <a:lstStyle/>
          <a:p>
            <a:pPr indent="0" marL="0">
              <a:buNone/>
            </a:pPr>
            <a:r>
              <a:rPr lang="en-US" sz="2300" b="1" dirty="0">
                <a:solidFill>
                  <a:srgbClr val="4A2D8C"/>
                </a:solidFill>
                <a:latin typeface="Palatino Linotype" pitchFamily="34" charset="0"/>
                <a:ea typeface="Palatino Linotype" pitchFamily="34" charset="-122"/>
                <a:cs typeface="Palatino Linotype" pitchFamily="34" charset="-120"/>
              </a:rPr>
              <a:t>Întrebările deschise</a:t>
            </a:r>
            <a:endParaRPr lang="en-US" sz="2300" dirty="0"/>
          </a:p>
        </p:txBody>
      </p:sp>
      <p:sp>
        <p:nvSpPr>
          <p:cNvPr id="11" name="Text 9"/>
          <p:cNvSpPr/>
          <p:nvPr/>
        </p:nvSpPr>
        <p:spPr>
          <a:xfrm>
            <a:off x="4507992" y="3017520"/>
            <a:ext cx="3145536" cy="16916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Cele la care nu se poate răspunde cu „da” sau „nu”: „Cum ați face acasă?”, „Ce v-ar putea opri și cum ocoliți piedica?”</a:t>
            </a:r>
            <a:endParaRPr lang="en-US" sz="1800" dirty="0"/>
          </a:p>
        </p:txBody>
      </p:sp>
      <p:sp>
        <p:nvSpPr>
          <p:cNvPr id="12" name="Shape 10"/>
          <p:cNvSpPr/>
          <p:nvPr/>
        </p:nvSpPr>
        <p:spPr>
          <a:xfrm>
            <a:off x="8019288" y="1783080"/>
            <a:ext cx="3547872" cy="3063240"/>
          </a:xfrm>
          <a:prstGeom prst="roundRect">
            <a:avLst>
              <a:gd name="adj" fmla="val 2687"/>
            </a:avLst>
          </a:prstGeom>
          <a:solidFill>
            <a:srgbClr val="ECEAE4"/>
          </a:solidFill>
          <a:ln w="12700">
            <a:solidFill>
              <a:srgbClr val="ECEAE4"/>
            </a:solidFill>
            <a:prstDash val="solid"/>
          </a:ln>
        </p:spPr>
        <p:txBody>
          <a:bodyPr/>
          <a:p/>
        </p:txBody>
      </p:sp>
      <p:sp>
        <p:nvSpPr>
          <p:cNvPr id="13" name="Shape 11"/>
          <p:cNvSpPr/>
          <p:nvPr/>
        </p:nvSpPr>
        <p:spPr>
          <a:xfrm>
            <a:off x="8019288" y="1783080"/>
            <a:ext cx="3547872" cy="73152"/>
          </a:xfrm>
          <a:prstGeom prst="rect">
            <a:avLst/>
          </a:prstGeom>
          <a:solidFill>
            <a:srgbClr val="B02532"/>
          </a:solidFill>
          <a:ln w="12700">
            <a:solidFill>
              <a:srgbClr val="B02532"/>
            </a:solidFill>
            <a:prstDash val="solid"/>
          </a:ln>
        </p:spPr>
        <p:txBody>
          <a:bodyPr/>
          <a:p/>
        </p:txBody>
      </p:sp>
      <p:sp>
        <p:nvSpPr>
          <p:cNvPr id="14" name="Text 12"/>
          <p:cNvSpPr/>
          <p:nvPr/>
        </p:nvSpPr>
        <p:spPr>
          <a:xfrm>
            <a:off x="8220456" y="2011680"/>
            <a:ext cx="3145536" cy="914400"/>
          </a:xfrm>
          <a:prstGeom prst="rect">
            <a:avLst/>
          </a:prstGeom>
          <a:noFill/>
          <a:ln/>
        </p:spPr>
        <p:txBody>
          <a:bodyPr wrap="square" lIns="0" tIns="0" rIns="0" bIns="0" rtlCol="0" anchor="t"/>
          <a:lstStyle/>
          <a:p>
            <a:pPr indent="0" marL="0">
              <a:buNone/>
            </a:pPr>
            <a:r>
              <a:rPr lang="en-US" sz="2300" b="1" dirty="0">
                <a:solidFill>
                  <a:srgbClr val="B02532"/>
                </a:solidFill>
                <a:latin typeface="Palatino Linotype" pitchFamily="34" charset="0"/>
                <a:ea typeface="Palatino Linotype" pitchFamily="34" charset="-122"/>
                <a:cs typeface="Palatino Linotype" pitchFamily="34" charset="-120"/>
              </a:rPr>
              <a:t>Verificarea prin reformulare</a:t>
            </a:r>
            <a:endParaRPr lang="en-US" sz="2300" dirty="0"/>
          </a:p>
        </p:txBody>
      </p:sp>
      <p:sp>
        <p:nvSpPr>
          <p:cNvPr id="15" name="Text 13"/>
          <p:cNvSpPr/>
          <p:nvPr/>
        </p:nvSpPr>
        <p:spPr>
          <a:xfrm>
            <a:off x="8220456" y="3017520"/>
            <a:ext cx="3145536" cy="16916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Nu „Ați înțeles?”. Persoana spune cu cuvintele ei ce va face. În imagistică: „Spuneți-mi, vă rog, ce faceți când vă cer să nu mai respirați.”</a:t>
            </a:r>
            <a:endParaRPr lang="en-US" sz="1800" dirty="0"/>
          </a:p>
        </p:txBody>
      </p:sp>
      <p:sp>
        <p:nvSpPr>
          <p:cNvPr id="16" name="Shape 14"/>
          <p:cNvSpPr/>
          <p:nvPr/>
        </p:nvSpPr>
        <p:spPr>
          <a:xfrm>
            <a:off x="594360" y="5074920"/>
            <a:ext cx="10972800" cy="868680"/>
          </a:xfrm>
          <a:prstGeom prst="roundRect">
            <a:avLst>
              <a:gd name="adj" fmla="val 9474"/>
            </a:avLst>
          </a:prstGeom>
          <a:solidFill>
            <a:srgbClr val="0E7C6B"/>
          </a:solidFill>
          <a:ln w="12700">
            <a:solidFill>
              <a:srgbClr val="0E7C6B"/>
            </a:solidFill>
            <a:prstDash val="solid"/>
          </a:ln>
        </p:spPr>
        <p:txBody>
          <a:bodyPr/>
          <a:p/>
        </p:txBody>
      </p:sp>
      <p:sp>
        <p:nvSpPr>
          <p:cNvPr id="17" name="Text 15"/>
          <p:cNvSpPr/>
          <p:nvPr/>
        </p:nvSpPr>
        <p:spPr>
          <a:xfrm>
            <a:off x="868680" y="5074920"/>
            <a:ext cx="10424160" cy="86868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Întrebările deschise scot la iveală piedicile pe care pacientul nu le spune singur.</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 FAȚA SĂLII · TREI MINUTE</a:t>
            </a:r>
            <a:endParaRPr lang="en-US" sz="1300" dirty="0"/>
          </a:p>
        </p:txBody>
      </p:sp>
      <p:sp>
        <p:nvSpPr>
          <p:cNvPr id="5" name="Text 3"/>
          <p:cNvSpPr/>
          <p:nvPr/>
        </p:nvSpPr>
        <p:spPr>
          <a:xfrm>
            <a:off x="594360" y="777240"/>
            <a:ext cx="7772400" cy="82296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Pregătirea pentru examenul RMN</a:t>
            </a:r>
            <a:endParaRPr lang="en-US" sz="3600" dirty="0"/>
          </a:p>
        </p:txBody>
      </p:sp>
      <p:sp>
        <p:nvSpPr>
          <p:cNvPr id="6" name="Shape 4"/>
          <p:cNvSpPr/>
          <p:nvPr/>
        </p:nvSpPr>
        <p:spPr>
          <a:xfrm>
            <a:off x="594360" y="1783080"/>
            <a:ext cx="6309360" cy="2743200"/>
          </a:xfrm>
          <a:prstGeom prst="roundRect">
            <a:avLst>
              <a:gd name="adj" fmla="val 3000"/>
            </a:avLst>
          </a:prstGeom>
          <a:solidFill>
            <a:srgbClr val="1D1F2B"/>
          </a:solidFill>
          <a:ln w="12700">
            <a:solidFill>
              <a:srgbClr val="1D1F2B"/>
            </a:solidFill>
            <a:prstDash val="solid"/>
          </a:ln>
        </p:spPr>
        <p:txBody>
          <a:bodyPr/>
          <a:p/>
        </p:txBody>
      </p:sp>
      <p:sp>
        <p:nvSpPr>
          <p:cNvPr id="7" name="Shape 5"/>
          <p:cNvSpPr/>
          <p:nvPr/>
        </p:nvSpPr>
        <p:spPr>
          <a:xfrm>
            <a:off x="594360" y="1783080"/>
            <a:ext cx="6309360" cy="73152"/>
          </a:xfrm>
          <a:prstGeom prst="rect">
            <a:avLst/>
          </a:prstGeom>
          <a:solidFill>
            <a:srgbClr val="27D3BE"/>
          </a:solidFill>
          <a:ln w="12700">
            <a:solidFill>
              <a:srgbClr val="27D3BE"/>
            </a:solidFill>
            <a:prstDash val="solid"/>
          </a:ln>
        </p:spPr>
        <p:txBody>
          <a:bodyPr/>
          <a:p/>
        </p:txBody>
      </p:sp>
      <p:sp>
        <p:nvSpPr>
          <p:cNvPr id="8" name="Text 6"/>
          <p:cNvSpPr/>
          <p:nvPr/>
        </p:nvSpPr>
        <p:spPr>
          <a:xfrm>
            <a:off x="822960" y="2011680"/>
            <a:ext cx="5852160" cy="45720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Specialistul în imagistică</a:t>
            </a:r>
            <a:endParaRPr lang="en-US" sz="2200" dirty="0"/>
          </a:p>
        </p:txBody>
      </p:sp>
      <p:sp>
        <p:nvSpPr>
          <p:cNvPr id="9" name="Text 7"/>
          <p:cNvSpPr/>
          <p:nvPr/>
        </p:nvSpPr>
        <p:spPr>
          <a:xfrm>
            <a:off x="822960" y="2560320"/>
            <a:ext cx="5852160" cy="182880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Are de explicat un singur lucru: de ce trebuie să stea nemișcat. La final verifică, fără să întrebe „Ați înțeles?”, că pacientul știe ce are de făcut.</a:t>
            </a:r>
            <a:endParaRPr lang="en-US" sz="1900" dirty="0"/>
          </a:p>
        </p:txBody>
      </p:sp>
      <p:sp>
        <p:nvSpPr>
          <p:cNvPr id="10" name="Shape 8"/>
          <p:cNvSpPr/>
          <p:nvPr/>
        </p:nvSpPr>
        <p:spPr>
          <a:xfrm>
            <a:off x="7132320" y="1783080"/>
            <a:ext cx="4434840" cy="2743200"/>
          </a:xfrm>
          <a:prstGeom prst="roundRect">
            <a:avLst>
              <a:gd name="adj" fmla="val 3000"/>
            </a:avLst>
          </a:prstGeom>
          <a:solidFill>
            <a:srgbClr val="1D1F2B"/>
          </a:solidFill>
          <a:ln w="12700">
            <a:solidFill>
              <a:srgbClr val="1D1F2B"/>
            </a:solidFill>
            <a:prstDash val="solid"/>
          </a:ln>
        </p:spPr>
        <p:txBody>
          <a:bodyPr/>
          <a:p/>
        </p:txBody>
      </p:sp>
      <p:sp>
        <p:nvSpPr>
          <p:cNvPr id="11" name="Shape 9"/>
          <p:cNvSpPr/>
          <p:nvPr/>
        </p:nvSpPr>
        <p:spPr>
          <a:xfrm>
            <a:off x="7132320" y="1783080"/>
            <a:ext cx="4434840" cy="73152"/>
          </a:xfrm>
          <a:prstGeom prst="rect">
            <a:avLst/>
          </a:prstGeom>
          <a:solidFill>
            <a:srgbClr val="FFC24B"/>
          </a:solidFill>
          <a:ln w="12700">
            <a:solidFill>
              <a:srgbClr val="FFC24B"/>
            </a:solidFill>
            <a:prstDash val="solid"/>
          </a:ln>
        </p:spPr>
        <p:txBody>
          <a:bodyPr/>
          <a:p/>
        </p:txBody>
      </p:sp>
      <p:sp>
        <p:nvSpPr>
          <p:cNvPr id="12" name="Text 10"/>
          <p:cNvSpPr/>
          <p:nvPr/>
        </p:nvSpPr>
        <p:spPr>
          <a:xfrm>
            <a:off x="7360920" y="2011680"/>
            <a:ext cx="4023360" cy="45720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Pacientul</a:t>
            </a:r>
            <a:endParaRPr lang="en-US" sz="2200" dirty="0"/>
          </a:p>
        </p:txBody>
      </p:sp>
      <p:sp>
        <p:nvSpPr>
          <p:cNvPr id="13" name="Text 11"/>
          <p:cNvSpPr/>
          <p:nvPr/>
        </p:nvSpPr>
        <p:spPr>
          <a:xfrm>
            <a:off x="7360920" y="2560320"/>
            <a:ext cx="4023360" cy="182880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Programat pentru un examen RMN, în ziua examinării.</a:t>
            </a:r>
            <a:endParaRPr lang="en-US" sz="1900" dirty="0"/>
          </a:p>
        </p:txBody>
      </p:sp>
      <p:sp>
        <p:nvSpPr>
          <p:cNvPr id="14" name="Shape 12"/>
          <p:cNvSpPr/>
          <p:nvPr/>
        </p:nvSpPr>
        <p:spPr>
          <a:xfrm>
            <a:off x="594360" y="4846320"/>
            <a:ext cx="10972800" cy="1005840"/>
          </a:xfrm>
          <a:prstGeom prst="roundRect">
            <a:avLst>
              <a:gd name="adj" fmla="val 8182"/>
            </a:avLst>
          </a:prstGeom>
          <a:solidFill>
            <a:srgbClr val="272A38"/>
          </a:solidFill>
          <a:ln w="12700">
            <a:solidFill>
              <a:srgbClr val="272A38"/>
            </a:solidFill>
            <a:prstDash val="solid"/>
          </a:ln>
        </p:spPr>
        <p:txBody>
          <a:bodyPr/>
          <a:p/>
        </p:txBody>
      </p:sp>
      <p:sp>
        <p:nvSpPr>
          <p:cNvPr id="15" name="Text 13"/>
          <p:cNvSpPr/>
          <p:nvPr/>
        </p:nvSpPr>
        <p:spPr>
          <a:xfrm>
            <a:off x="868680" y="4846320"/>
            <a:ext cx="10424160" cy="100584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Apoi sala votează pe telefon: verificarea a fost făcută? Ce ați fi făcut altfel?</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CE ÎNSEAMNĂ O VERIFICARE BUNĂ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verifică și ce nu verifică nimic</a:t>
            </a:r>
            <a:endParaRPr lang="en-US" sz="3200" dirty="0"/>
          </a:p>
        </p:txBody>
      </p:sp>
      <p:sp>
        <p:nvSpPr>
          <p:cNvPr id="4" name="Shape 2"/>
          <p:cNvSpPr/>
          <p:nvPr/>
        </p:nvSpPr>
        <p:spPr>
          <a:xfrm>
            <a:off x="594360" y="1691640"/>
            <a:ext cx="4846320" cy="3154680"/>
          </a:xfrm>
          <a:prstGeom prst="roundRect">
            <a:avLst>
              <a:gd name="adj" fmla="val 2609"/>
            </a:avLst>
          </a:prstGeom>
          <a:solidFill>
            <a:srgbClr val="ECEAE4"/>
          </a:solidFill>
          <a:ln w="12700">
            <a:solidFill>
              <a:srgbClr val="ECEAE4"/>
            </a:solidFill>
            <a:prstDash val="solid"/>
          </a:ln>
        </p:spPr>
        <p:txBody>
          <a:bodyPr/>
          <a:p/>
        </p:txBody>
      </p:sp>
      <p:sp>
        <p:nvSpPr>
          <p:cNvPr id="5" name="Text 3"/>
          <p:cNvSpPr/>
          <p:nvPr/>
        </p:nvSpPr>
        <p:spPr>
          <a:xfrm>
            <a:off x="868680" y="1828800"/>
            <a:ext cx="4389120" cy="457200"/>
          </a:xfrm>
          <a:prstGeom prst="rect">
            <a:avLst/>
          </a:prstGeom>
          <a:noFill/>
          <a:ln/>
        </p:spPr>
        <p:txBody>
          <a:bodyPr wrap="square" lIns="0" tIns="0" rIns="0" bIns="0" rtlCol="0" anchor="t"/>
          <a:lstStyle/>
          <a:p>
            <a:pPr indent="0" marL="0">
              <a:buNone/>
            </a:pPr>
            <a:r>
              <a:rPr lang="en-US" sz="2100" b="1" dirty="0">
                <a:solidFill>
                  <a:srgbClr val="585A64"/>
                </a:solidFill>
                <a:latin typeface="Palatino Linotype" pitchFamily="34" charset="0"/>
                <a:ea typeface="Palatino Linotype" pitchFamily="34" charset="-122"/>
                <a:cs typeface="Palatino Linotype" pitchFamily="34" charset="-120"/>
              </a:rPr>
              <a:t>Nu arată nimic</a:t>
            </a:r>
            <a:endParaRPr lang="en-US" sz="2100" dirty="0"/>
          </a:p>
        </p:txBody>
      </p:sp>
      <p:sp>
        <p:nvSpPr>
          <p:cNvPr id="6" name="Text 4"/>
          <p:cNvSpPr/>
          <p:nvPr/>
        </p:nvSpPr>
        <p:spPr>
          <a:xfrm>
            <a:off x="868680" y="2423160"/>
            <a:ext cx="4389120" cy="22860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„Ați înțeles?” primește adesea răspunsul „da”, din politețe sau din jenă</a:t>
            </a:r>
            <a:endParaRPr lang="en-US" sz="1700" dirty="0"/>
          </a:p>
          <a:p>
            <a:pPr marL="342900" indent="-342900">
              <a:spcAft>
                <a:spcPts val="8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Repetarea explicației</a:t>
            </a:r>
            <a:endParaRPr lang="en-US" sz="1700" dirty="0"/>
          </a:p>
          <a:p>
            <a:pPr marL="342900" indent="-342900">
              <a:spcAft>
                <a:spcPts val="8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Semnătura pe o foaie</a:t>
            </a:r>
            <a:endParaRPr lang="en-US" sz="1700" dirty="0"/>
          </a:p>
        </p:txBody>
      </p:sp>
      <p:sp>
        <p:nvSpPr>
          <p:cNvPr id="7" name="Shape 5"/>
          <p:cNvSpPr/>
          <p:nvPr/>
        </p:nvSpPr>
        <p:spPr>
          <a:xfrm>
            <a:off x="5715000" y="1691640"/>
            <a:ext cx="5852160" cy="3154680"/>
          </a:xfrm>
          <a:prstGeom prst="roundRect">
            <a:avLst>
              <a:gd name="adj" fmla="val 2609"/>
            </a:avLst>
          </a:prstGeom>
          <a:solidFill>
            <a:srgbClr val="07564B"/>
          </a:solidFill>
          <a:ln w="12700">
            <a:solidFill>
              <a:srgbClr val="07564B"/>
            </a:solidFill>
            <a:prstDash val="solid"/>
          </a:ln>
        </p:spPr>
        <p:txBody>
          <a:bodyPr/>
          <a:p/>
        </p:txBody>
      </p:sp>
      <p:sp>
        <p:nvSpPr>
          <p:cNvPr id="8" name="Text 6"/>
          <p:cNvSpPr/>
          <p:nvPr/>
        </p:nvSpPr>
        <p:spPr>
          <a:xfrm>
            <a:off x="5989320" y="1828800"/>
            <a:ext cx="5394960" cy="45720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Arată dacă a înțeles</a:t>
            </a:r>
            <a:endParaRPr lang="en-US" sz="2100" dirty="0"/>
          </a:p>
        </p:txBody>
      </p:sp>
      <p:sp>
        <p:nvSpPr>
          <p:cNvPr id="9" name="Text 7"/>
          <p:cNvSpPr/>
          <p:nvPr/>
        </p:nvSpPr>
        <p:spPr>
          <a:xfrm>
            <a:off x="5989320" y="2423160"/>
            <a:ext cx="5394960" cy="2286000"/>
          </a:xfrm>
          <a:prstGeom prst="rect">
            <a:avLst/>
          </a:prstGeom>
          <a:noFill/>
          <a:ln/>
        </p:spPr>
        <p:txBody>
          <a:bodyPr wrap="square" lIns="0" tIns="0" rIns="0" bIns="0" rtlCol="0" anchor="t"/>
          <a:lstStyle/>
          <a:p>
            <a:pPr marL="342900" indent="-342900">
              <a:spcAft>
                <a:spcPts val="800"/>
              </a:spcAft>
              <a:buSzPct val="100000"/>
              <a:buChar char="•"/>
            </a:pPr>
            <a:r>
              <a:rPr lang="en-US" sz="1750" dirty="0">
                <a:solidFill>
                  <a:srgbClr val="FFFFFF"/>
                </a:solidFill>
                <a:latin typeface="Palatino Linotype" pitchFamily="34" charset="0"/>
                <a:ea typeface="Palatino Linotype" pitchFamily="34" charset="-122"/>
                <a:cs typeface="Palatino Linotype" pitchFamily="34" charset="-120"/>
              </a:rPr>
              <a:t>Persoana spune cu cuvintele ei ce urmează și ce are de făcut</a:t>
            </a:r>
            <a:endParaRPr lang="en-US" sz="1750" dirty="0"/>
          </a:p>
          <a:p>
            <a:pPr marL="342900" indent="-342900">
              <a:spcAft>
                <a:spcPts val="800"/>
              </a:spcAft>
              <a:buSzPct val="100000"/>
              <a:buChar char="•"/>
            </a:pPr>
            <a:r>
              <a:rPr lang="en-US" sz="1750" dirty="0">
                <a:solidFill>
                  <a:srgbClr val="FFFFFF"/>
                </a:solidFill>
                <a:latin typeface="Palatino Linotype" pitchFamily="34" charset="0"/>
                <a:ea typeface="Palatino Linotype" pitchFamily="34" charset="-122"/>
                <a:cs typeface="Palatino Linotype" pitchFamily="34" charset="-120"/>
              </a:rPr>
              <a:t>Verificarea completă are două părți: ce arată persoana și ce spune ea că va face</a:t>
            </a:r>
            <a:endParaRPr lang="en-US" sz="1750" dirty="0"/>
          </a:p>
        </p:txBody>
      </p:sp>
      <p:sp>
        <p:nvSpPr>
          <p:cNvPr id="10" name="Shape 8"/>
          <p:cNvSpPr/>
          <p:nvPr/>
        </p:nvSpPr>
        <p:spPr>
          <a:xfrm>
            <a:off x="594360" y="5074920"/>
            <a:ext cx="10972800" cy="868680"/>
          </a:xfrm>
          <a:prstGeom prst="roundRect">
            <a:avLst>
              <a:gd name="adj" fmla="val 9474"/>
            </a:avLst>
          </a:prstGeom>
          <a:solidFill>
            <a:srgbClr val="11121A"/>
          </a:solidFill>
          <a:ln w="12700">
            <a:solidFill>
              <a:srgbClr val="11121A"/>
            </a:solidFill>
            <a:prstDash val="solid"/>
          </a:ln>
        </p:spPr>
        <p:txBody>
          <a:bodyPr/>
          <a:p/>
        </p:txBody>
      </p:sp>
      <p:sp>
        <p:nvSpPr>
          <p:cNvPr id="11" name="Text 9"/>
          <p:cNvSpPr/>
          <p:nvPr/>
        </p:nvSpPr>
        <p:spPr>
          <a:xfrm>
            <a:off x="868680" y="5074920"/>
            <a:ext cx="10424160" cy="868680"/>
          </a:xfrm>
          <a:prstGeom prst="rect">
            <a:avLst/>
          </a:prstGeom>
          <a:noFill/>
          <a:ln/>
        </p:spPr>
        <p:txBody>
          <a:bodyPr wrap="square" lIns="0" tIns="0" rIns="0" bIns="0" rtlCol="0" anchor="ctr"/>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Înainte de examinare, cereți-i pacientului să vă spună cu cuvintele lui ce urmează și ce are de făcut.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SALĂ</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DE CE NU RESPECTĂ PACIENTUL PREGĂTIREA?</a:t>
            </a:r>
            <a:endParaRPr lang="en-US" sz="1300" dirty="0"/>
          </a:p>
        </p:txBody>
      </p:sp>
      <p:sp>
        <p:nvSpPr>
          <p:cNvPr id="5" name="Text 3"/>
          <p:cNvSpPr/>
          <p:nvPr/>
        </p:nvSpPr>
        <p:spPr>
          <a:xfrm>
            <a:off x="594360" y="777240"/>
            <a:ext cx="10972800" cy="82296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Pregătirea cerută de protocolul secției: ce lipsește?</a:t>
            </a:r>
            <a:endParaRPr lang="en-US" sz="3000" dirty="0"/>
          </a:p>
        </p:txBody>
      </p:sp>
      <p:sp>
        <p:nvSpPr>
          <p:cNvPr id="6" name="Shape 4"/>
          <p:cNvSpPr/>
          <p:nvPr/>
        </p:nvSpPr>
        <p:spPr>
          <a:xfrm>
            <a:off x="594360" y="1783080"/>
            <a:ext cx="3547872" cy="2743200"/>
          </a:xfrm>
          <a:prstGeom prst="roundRect">
            <a:avLst>
              <a:gd name="adj" fmla="val 3000"/>
            </a:avLst>
          </a:prstGeom>
          <a:solidFill>
            <a:srgbClr val="1D1F2B"/>
          </a:solidFill>
          <a:ln w="12700">
            <a:solidFill>
              <a:srgbClr val="1D1F2B"/>
            </a:solidFill>
            <a:prstDash val="solid"/>
          </a:ln>
        </p:spPr>
        <p:txBody>
          <a:bodyPr/>
          <a:p/>
        </p:txBody>
      </p:sp>
      <p:sp>
        <p:nvSpPr>
          <p:cNvPr id="7" name="Shape 5"/>
          <p:cNvSpPr/>
          <p:nvPr/>
        </p:nvSpPr>
        <p:spPr>
          <a:xfrm>
            <a:off x="594360" y="1783080"/>
            <a:ext cx="3547872" cy="73152"/>
          </a:xfrm>
          <a:prstGeom prst="rect">
            <a:avLst/>
          </a:prstGeom>
          <a:solidFill>
            <a:srgbClr val="27D3BE"/>
          </a:solidFill>
          <a:ln w="12700">
            <a:solidFill>
              <a:srgbClr val="27D3BE"/>
            </a:solidFill>
            <a:prstDash val="solid"/>
          </a:ln>
        </p:spPr>
        <p:txBody>
          <a:bodyPr/>
          <a:p/>
        </p:txBody>
      </p:sp>
      <p:sp>
        <p:nvSpPr>
          <p:cNvPr id="8" name="Text 6"/>
          <p:cNvSpPr/>
          <p:nvPr/>
        </p:nvSpPr>
        <p:spPr>
          <a:xfrm>
            <a:off x="795528" y="2011680"/>
            <a:ext cx="3145536" cy="914400"/>
          </a:xfrm>
          <a:prstGeom prst="rect">
            <a:avLst/>
          </a:prstGeom>
          <a:noFill/>
          <a:ln/>
        </p:spPr>
        <p:txBody>
          <a:bodyPr wrap="square" lIns="0" tIns="0" rIns="0" bIns="0" rtlCol="0" anchor="t"/>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Știe și poate?</a:t>
            </a:r>
            <a:endParaRPr lang="en-US" sz="2600" dirty="0"/>
          </a:p>
        </p:txBody>
      </p:sp>
      <p:sp>
        <p:nvSpPr>
          <p:cNvPr id="9" name="Text 7"/>
          <p:cNvSpPr/>
          <p:nvPr/>
        </p:nvSpPr>
        <p:spPr>
          <a:xfrm>
            <a:off x="795528" y="3017520"/>
            <a:ext cx="3145536" cy="137160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Știe ce analize se cer înainte de substanța de contrast și ce nu are voie să poarte în examinare?</a:t>
            </a:r>
            <a:endParaRPr lang="en-US" sz="1900" dirty="0"/>
          </a:p>
        </p:txBody>
      </p:sp>
      <p:sp>
        <p:nvSpPr>
          <p:cNvPr id="10" name="Shape 8"/>
          <p:cNvSpPr/>
          <p:nvPr/>
        </p:nvSpPr>
        <p:spPr>
          <a:xfrm>
            <a:off x="4306824" y="1783080"/>
            <a:ext cx="3547872" cy="2743200"/>
          </a:xfrm>
          <a:prstGeom prst="roundRect">
            <a:avLst>
              <a:gd name="adj" fmla="val 3000"/>
            </a:avLst>
          </a:prstGeom>
          <a:solidFill>
            <a:srgbClr val="1D1F2B"/>
          </a:solidFill>
          <a:ln w="12700">
            <a:solidFill>
              <a:srgbClr val="1D1F2B"/>
            </a:solidFill>
            <a:prstDash val="solid"/>
          </a:ln>
        </p:spPr>
        <p:txBody>
          <a:bodyPr/>
          <a:p/>
        </p:txBody>
      </p:sp>
      <p:sp>
        <p:nvSpPr>
          <p:cNvPr id="11" name="Shape 9"/>
          <p:cNvSpPr/>
          <p:nvPr/>
        </p:nvSpPr>
        <p:spPr>
          <a:xfrm>
            <a:off x="4306824" y="1783080"/>
            <a:ext cx="3547872" cy="73152"/>
          </a:xfrm>
          <a:prstGeom prst="rect">
            <a:avLst/>
          </a:prstGeom>
          <a:solidFill>
            <a:srgbClr val="9B7EF7"/>
          </a:solidFill>
          <a:ln w="12700">
            <a:solidFill>
              <a:srgbClr val="9B7EF7"/>
            </a:solidFill>
            <a:prstDash val="solid"/>
          </a:ln>
        </p:spPr>
        <p:txBody>
          <a:bodyPr/>
          <a:p/>
        </p:txBody>
      </p:sp>
      <p:sp>
        <p:nvSpPr>
          <p:cNvPr id="12" name="Text 10"/>
          <p:cNvSpPr/>
          <p:nvPr/>
        </p:nvSpPr>
        <p:spPr>
          <a:xfrm>
            <a:off x="4507992" y="2011680"/>
            <a:ext cx="3145536" cy="914400"/>
          </a:xfrm>
          <a:prstGeom prst="rect">
            <a:avLst/>
          </a:prstGeom>
          <a:noFill/>
          <a:ln/>
        </p:spPr>
        <p:txBody>
          <a:bodyPr wrap="square" lIns="0" tIns="0" rIns="0" bIns="0" rtlCol="0" anchor="t"/>
          <a:lstStyle/>
          <a:p>
            <a:pPr indent="0" marL="0">
              <a:buNone/>
            </a:pPr>
            <a:r>
              <a:rPr lang="en-US" sz="2600" b="1" dirty="0">
                <a:solidFill>
                  <a:srgbClr val="9B7EF7"/>
                </a:solidFill>
                <a:latin typeface="Palatino Linotype" pitchFamily="34" charset="0"/>
                <a:ea typeface="Palatino Linotype" pitchFamily="34" charset="-122"/>
                <a:cs typeface="Palatino Linotype" pitchFamily="34" charset="-120"/>
              </a:rPr>
              <a:t>Are unde și când?</a:t>
            </a:r>
            <a:endParaRPr lang="en-US" sz="2600" dirty="0"/>
          </a:p>
        </p:txBody>
      </p:sp>
      <p:sp>
        <p:nvSpPr>
          <p:cNvPr id="13" name="Text 11"/>
          <p:cNvSpPr/>
          <p:nvPr/>
        </p:nvSpPr>
        <p:spPr>
          <a:xfrm>
            <a:off x="4507992" y="3017520"/>
            <a:ext cx="3145536" cy="137160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Are cum să facă la timp analizele cerute? Are un loc și un moment pentru pregătire?</a:t>
            </a:r>
            <a:endParaRPr lang="en-US" sz="1900" dirty="0"/>
          </a:p>
        </p:txBody>
      </p:sp>
      <p:sp>
        <p:nvSpPr>
          <p:cNvPr id="14" name="Shape 12"/>
          <p:cNvSpPr/>
          <p:nvPr/>
        </p:nvSpPr>
        <p:spPr>
          <a:xfrm>
            <a:off x="8019288" y="1783080"/>
            <a:ext cx="3547872" cy="2743200"/>
          </a:xfrm>
          <a:prstGeom prst="roundRect">
            <a:avLst>
              <a:gd name="adj" fmla="val 3000"/>
            </a:avLst>
          </a:prstGeom>
          <a:solidFill>
            <a:srgbClr val="1D1F2B"/>
          </a:solidFill>
          <a:ln w="12700">
            <a:solidFill>
              <a:srgbClr val="1D1F2B"/>
            </a:solidFill>
            <a:prstDash val="solid"/>
          </a:ln>
        </p:spPr>
        <p:txBody>
          <a:bodyPr/>
          <a:p/>
        </p:txBody>
      </p:sp>
      <p:sp>
        <p:nvSpPr>
          <p:cNvPr id="15" name="Shape 13"/>
          <p:cNvSpPr/>
          <p:nvPr/>
        </p:nvSpPr>
        <p:spPr>
          <a:xfrm>
            <a:off x="8019288" y="1783080"/>
            <a:ext cx="3547872" cy="73152"/>
          </a:xfrm>
          <a:prstGeom prst="rect">
            <a:avLst/>
          </a:prstGeom>
          <a:solidFill>
            <a:srgbClr val="FF4757"/>
          </a:solidFill>
          <a:ln w="12700">
            <a:solidFill>
              <a:srgbClr val="FF4757"/>
            </a:solidFill>
            <a:prstDash val="solid"/>
          </a:ln>
        </p:spPr>
        <p:txBody>
          <a:bodyPr/>
          <a:p/>
        </p:txBody>
      </p:sp>
      <p:sp>
        <p:nvSpPr>
          <p:cNvPr id="16" name="Text 14"/>
          <p:cNvSpPr/>
          <p:nvPr/>
        </p:nvSpPr>
        <p:spPr>
          <a:xfrm>
            <a:off x="8220456" y="2011680"/>
            <a:ext cx="3145536" cy="914400"/>
          </a:xfrm>
          <a:prstGeom prst="rect">
            <a:avLst/>
          </a:prstGeom>
          <a:noFill/>
          <a:ln/>
        </p:spPr>
        <p:txBody>
          <a:bodyPr wrap="square" lIns="0" tIns="0" rIns="0" bIns="0" rtlCol="0" anchor="t"/>
          <a:lstStyle/>
          <a:p>
            <a:pPr indent="0" marL="0">
              <a:buNone/>
            </a:pPr>
            <a:r>
              <a:rPr lang="en-US" sz="2600" b="1" dirty="0">
                <a:solidFill>
                  <a:srgbClr val="FF4757"/>
                </a:solidFill>
                <a:latin typeface="Palatino Linotype" pitchFamily="34" charset="0"/>
                <a:ea typeface="Palatino Linotype" pitchFamily="34" charset="-122"/>
                <a:cs typeface="Palatino Linotype" pitchFamily="34" charset="-120"/>
              </a:rPr>
              <a:t>Vrea?</a:t>
            </a:r>
            <a:endParaRPr lang="en-US" sz="2600" dirty="0"/>
          </a:p>
        </p:txBody>
      </p:sp>
      <p:sp>
        <p:nvSpPr>
          <p:cNvPr id="17" name="Text 15"/>
          <p:cNvSpPr/>
          <p:nvPr/>
        </p:nvSpPr>
        <p:spPr>
          <a:xfrm>
            <a:off x="8220456" y="3017520"/>
            <a:ext cx="3145536" cy="137160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Îi este teamă de examinare? Crede că pregătirea nu contează?</a:t>
            </a:r>
            <a:endParaRPr lang="en-US" sz="1900" dirty="0"/>
          </a:p>
        </p:txBody>
      </p:sp>
      <p:sp>
        <p:nvSpPr>
          <p:cNvPr id="18" name="Shape 16"/>
          <p:cNvSpPr/>
          <p:nvPr/>
        </p:nvSpPr>
        <p:spPr>
          <a:xfrm>
            <a:off x="594360" y="4754880"/>
            <a:ext cx="10972800" cy="1143000"/>
          </a:xfrm>
          <a:prstGeom prst="roundRect">
            <a:avLst>
              <a:gd name="adj" fmla="val 7200"/>
            </a:avLst>
          </a:prstGeom>
          <a:solidFill>
            <a:srgbClr val="272A38"/>
          </a:solidFill>
          <a:ln w="12700">
            <a:solidFill>
              <a:srgbClr val="272A38"/>
            </a:solidFill>
            <a:prstDash val="solid"/>
          </a:ln>
        </p:spPr>
        <p:txBody>
          <a:bodyPr/>
          <a:p/>
        </p:txBody>
      </p:sp>
      <p:sp>
        <p:nvSpPr>
          <p:cNvPr id="19" name="Text 17"/>
          <p:cNvSpPr/>
          <p:nvPr/>
        </p:nvSpPr>
        <p:spPr>
          <a:xfrm>
            <a:off x="868680" y="4754880"/>
            <a:ext cx="10424160" cy="114300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Regula practică: când un comportament nu apare, verificați întâi ce lipsește (știe? are unde? vrea?) și interveniți exact acolo.</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FORMELE DE EDUCAȚIE · „ABORDĂRILE” DIN FIȘĂ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Unu la unu, grupul, comunitatea, mesajele publice</a:t>
            </a:r>
            <a:endParaRPr lang="en-US" sz="3000" dirty="0"/>
          </a:p>
        </p:txBody>
      </p:sp>
      <p:sp>
        <p:nvSpPr>
          <p:cNvPr id="4" name="Shape 2"/>
          <p:cNvSpPr/>
          <p:nvPr/>
        </p:nvSpPr>
        <p:spPr>
          <a:xfrm>
            <a:off x="594360" y="1737360"/>
            <a:ext cx="2619756" cy="3017520"/>
          </a:xfrm>
          <a:prstGeom prst="roundRect">
            <a:avLst>
              <a:gd name="adj" fmla="val 3141"/>
            </a:avLst>
          </a:prstGeom>
          <a:solidFill>
            <a:srgbClr val="ECEAE4"/>
          </a:solidFill>
          <a:ln w="12700">
            <a:solidFill>
              <a:srgbClr val="ECEAE4"/>
            </a:solidFill>
            <a:prstDash val="solid"/>
          </a:ln>
        </p:spPr>
        <p:txBody>
          <a:bodyPr/>
          <a:p/>
        </p:txBody>
      </p:sp>
      <p:sp>
        <p:nvSpPr>
          <p:cNvPr id="5" name="Shape 3"/>
          <p:cNvSpPr/>
          <p:nvPr/>
        </p:nvSpPr>
        <p:spPr>
          <a:xfrm>
            <a:off x="594360" y="1737360"/>
            <a:ext cx="2619756" cy="73152"/>
          </a:xfrm>
          <a:prstGeom prst="rect">
            <a:avLst/>
          </a:prstGeom>
          <a:solidFill>
            <a:srgbClr val="0E7C6B"/>
          </a:solidFill>
          <a:ln w="12700">
            <a:solidFill>
              <a:srgbClr val="0E7C6B"/>
            </a:solidFill>
            <a:prstDash val="solid"/>
          </a:ln>
        </p:spPr>
        <p:txBody>
          <a:bodyPr/>
          <a:p/>
        </p:txBody>
      </p:sp>
      <p:sp>
        <p:nvSpPr>
          <p:cNvPr id="6" name="Text 4"/>
          <p:cNvSpPr/>
          <p:nvPr/>
        </p:nvSpPr>
        <p:spPr>
          <a:xfrm>
            <a:off x="795528" y="1965960"/>
            <a:ext cx="2217420" cy="914400"/>
          </a:xfrm>
          <a:prstGeom prst="rect">
            <a:avLst/>
          </a:prstGeom>
          <a:noFill/>
          <a:ln/>
        </p:spPr>
        <p:txBody>
          <a:bodyPr wrap="square" lIns="0" tIns="0" rIns="0" bIns="0" rtlCol="0" anchor="t"/>
          <a:lstStyle/>
          <a:p>
            <a:pPr indent="0" marL="0">
              <a:buNone/>
            </a:pPr>
            <a:r>
              <a:rPr lang="en-US" sz="2300" b="1" dirty="0">
                <a:solidFill>
                  <a:srgbClr val="0E7C6B"/>
                </a:solidFill>
                <a:latin typeface="Palatino Linotype" pitchFamily="34" charset="0"/>
                <a:ea typeface="Palatino Linotype" pitchFamily="34" charset="-122"/>
                <a:cs typeface="Palatino Linotype" pitchFamily="34" charset="-120"/>
              </a:rPr>
              <a:t>Individuală</a:t>
            </a:r>
            <a:endParaRPr lang="en-US" sz="2300" dirty="0"/>
          </a:p>
        </p:txBody>
      </p:sp>
      <p:sp>
        <p:nvSpPr>
          <p:cNvPr id="7" name="Text 5"/>
          <p:cNvSpPr/>
          <p:nvPr/>
        </p:nvSpPr>
        <p:spPr>
          <a:xfrm>
            <a:off x="795528" y="2971800"/>
            <a:ext cx="2217420" cy="16459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Adaptare maximă; ajunge la puțini și cere mai mult timp.</a:t>
            </a:r>
            <a:endParaRPr lang="en-US" sz="1800" dirty="0"/>
          </a:p>
        </p:txBody>
      </p:sp>
      <p:sp>
        <p:nvSpPr>
          <p:cNvPr id="8" name="Shape 6"/>
          <p:cNvSpPr/>
          <p:nvPr/>
        </p:nvSpPr>
        <p:spPr>
          <a:xfrm>
            <a:off x="3378708" y="1737360"/>
            <a:ext cx="2619756" cy="3017520"/>
          </a:xfrm>
          <a:prstGeom prst="roundRect">
            <a:avLst>
              <a:gd name="adj" fmla="val 3141"/>
            </a:avLst>
          </a:prstGeom>
          <a:solidFill>
            <a:srgbClr val="F9F8F5"/>
          </a:solidFill>
          <a:ln w="12700">
            <a:solidFill>
              <a:srgbClr val="F9F8F5"/>
            </a:solidFill>
            <a:prstDash val="solid"/>
          </a:ln>
        </p:spPr>
        <p:txBody>
          <a:bodyPr/>
          <a:p/>
        </p:txBody>
      </p:sp>
      <p:sp>
        <p:nvSpPr>
          <p:cNvPr id="9" name="Shape 7"/>
          <p:cNvSpPr/>
          <p:nvPr/>
        </p:nvSpPr>
        <p:spPr>
          <a:xfrm>
            <a:off x="3378708" y="1737360"/>
            <a:ext cx="2619756" cy="73152"/>
          </a:xfrm>
          <a:prstGeom prst="rect">
            <a:avLst/>
          </a:prstGeom>
          <a:solidFill>
            <a:srgbClr val="4A2D8C"/>
          </a:solidFill>
          <a:ln w="12700">
            <a:solidFill>
              <a:srgbClr val="4A2D8C"/>
            </a:solidFill>
            <a:prstDash val="solid"/>
          </a:ln>
        </p:spPr>
        <p:txBody>
          <a:bodyPr/>
          <a:p/>
        </p:txBody>
      </p:sp>
      <p:sp>
        <p:nvSpPr>
          <p:cNvPr id="10" name="Text 8"/>
          <p:cNvSpPr/>
          <p:nvPr/>
        </p:nvSpPr>
        <p:spPr>
          <a:xfrm>
            <a:off x="3579876" y="1965960"/>
            <a:ext cx="2217420" cy="914400"/>
          </a:xfrm>
          <a:prstGeom prst="rect">
            <a:avLst/>
          </a:prstGeom>
          <a:noFill/>
          <a:ln/>
        </p:spPr>
        <p:txBody>
          <a:bodyPr wrap="square" lIns="0" tIns="0" rIns="0" bIns="0" rtlCol="0" anchor="t"/>
          <a:lstStyle/>
          <a:p>
            <a:pPr indent="0" marL="0">
              <a:buNone/>
            </a:pPr>
            <a:r>
              <a:rPr lang="en-US" sz="2300" b="1" dirty="0">
                <a:solidFill>
                  <a:srgbClr val="4A2D8C"/>
                </a:solidFill>
                <a:latin typeface="Palatino Linotype" pitchFamily="34" charset="0"/>
                <a:ea typeface="Palatino Linotype" pitchFamily="34" charset="-122"/>
                <a:cs typeface="Palatino Linotype" pitchFamily="34" charset="-120"/>
              </a:rPr>
              <a:t>De grup</a:t>
            </a:r>
            <a:endParaRPr lang="en-US" sz="2300" dirty="0"/>
          </a:p>
        </p:txBody>
      </p:sp>
      <p:sp>
        <p:nvSpPr>
          <p:cNvPr id="11" name="Text 9"/>
          <p:cNvSpPr/>
          <p:nvPr/>
        </p:nvSpPr>
        <p:spPr>
          <a:xfrm>
            <a:off x="3579876" y="2971800"/>
            <a:ext cx="2217420" cy="16459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Eficiență și motivație între colegi; nivelurile diferite cer adaptări.</a:t>
            </a:r>
            <a:endParaRPr lang="en-US" sz="1800" dirty="0"/>
          </a:p>
        </p:txBody>
      </p:sp>
      <p:sp>
        <p:nvSpPr>
          <p:cNvPr id="12" name="Shape 10"/>
          <p:cNvSpPr/>
          <p:nvPr/>
        </p:nvSpPr>
        <p:spPr>
          <a:xfrm>
            <a:off x="6163056" y="1737360"/>
            <a:ext cx="2619756" cy="3017520"/>
          </a:xfrm>
          <a:prstGeom prst="roundRect">
            <a:avLst>
              <a:gd name="adj" fmla="val 3141"/>
            </a:avLst>
          </a:prstGeom>
          <a:solidFill>
            <a:srgbClr val="ECEAE4"/>
          </a:solidFill>
          <a:ln w="12700">
            <a:solidFill>
              <a:srgbClr val="ECEAE4"/>
            </a:solidFill>
            <a:prstDash val="solid"/>
          </a:ln>
        </p:spPr>
        <p:txBody>
          <a:bodyPr/>
          <a:p/>
        </p:txBody>
      </p:sp>
      <p:sp>
        <p:nvSpPr>
          <p:cNvPr id="13" name="Shape 11"/>
          <p:cNvSpPr/>
          <p:nvPr/>
        </p:nvSpPr>
        <p:spPr>
          <a:xfrm>
            <a:off x="6163056" y="1737360"/>
            <a:ext cx="2619756" cy="73152"/>
          </a:xfrm>
          <a:prstGeom prst="rect">
            <a:avLst/>
          </a:prstGeom>
          <a:solidFill>
            <a:srgbClr val="B02532"/>
          </a:solidFill>
          <a:ln w="12700">
            <a:solidFill>
              <a:srgbClr val="B02532"/>
            </a:solidFill>
            <a:prstDash val="solid"/>
          </a:ln>
        </p:spPr>
        <p:txBody>
          <a:bodyPr/>
          <a:p/>
        </p:txBody>
      </p:sp>
      <p:sp>
        <p:nvSpPr>
          <p:cNvPr id="14" name="Text 12"/>
          <p:cNvSpPr/>
          <p:nvPr/>
        </p:nvSpPr>
        <p:spPr>
          <a:xfrm>
            <a:off x="6364224" y="1965960"/>
            <a:ext cx="2217420" cy="914400"/>
          </a:xfrm>
          <a:prstGeom prst="rect">
            <a:avLst/>
          </a:prstGeom>
          <a:noFill/>
          <a:ln/>
        </p:spPr>
        <p:txBody>
          <a:bodyPr wrap="square" lIns="0" tIns="0" rIns="0" bIns="0" rtlCol="0" anchor="t"/>
          <a:lstStyle/>
          <a:p>
            <a:pPr indent="0" marL="0">
              <a:buNone/>
            </a:pPr>
            <a:r>
              <a:rPr lang="en-US" sz="2300" b="1" dirty="0">
                <a:solidFill>
                  <a:srgbClr val="B02532"/>
                </a:solidFill>
                <a:latin typeface="Palatino Linotype" pitchFamily="34" charset="0"/>
                <a:ea typeface="Palatino Linotype" pitchFamily="34" charset="-122"/>
                <a:cs typeface="Palatino Linotype" pitchFamily="34" charset="-120"/>
              </a:rPr>
              <a:t>Comunitară</a:t>
            </a:r>
            <a:endParaRPr lang="en-US" sz="2300" dirty="0"/>
          </a:p>
        </p:txBody>
      </p:sp>
      <p:sp>
        <p:nvSpPr>
          <p:cNvPr id="15" name="Text 13"/>
          <p:cNvSpPr/>
          <p:nvPr/>
        </p:nvSpPr>
        <p:spPr>
          <a:xfrm>
            <a:off x="6364224" y="2971800"/>
            <a:ext cx="2217420" cy="16459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Cartier, școală, loc de muncă: acoperire mare, dar depinde de parteneri și de locuri.</a:t>
            </a:r>
            <a:endParaRPr lang="en-US" sz="1800" dirty="0"/>
          </a:p>
        </p:txBody>
      </p:sp>
      <p:sp>
        <p:nvSpPr>
          <p:cNvPr id="16" name="Shape 14"/>
          <p:cNvSpPr/>
          <p:nvPr/>
        </p:nvSpPr>
        <p:spPr>
          <a:xfrm>
            <a:off x="8947404" y="1737360"/>
            <a:ext cx="2619756" cy="3017520"/>
          </a:xfrm>
          <a:prstGeom prst="roundRect">
            <a:avLst>
              <a:gd name="adj" fmla="val 3141"/>
            </a:avLst>
          </a:prstGeom>
          <a:solidFill>
            <a:srgbClr val="F9F8F5"/>
          </a:solidFill>
          <a:ln w="12700">
            <a:solidFill>
              <a:srgbClr val="F9F8F5"/>
            </a:solidFill>
            <a:prstDash val="solid"/>
          </a:ln>
        </p:spPr>
        <p:txBody>
          <a:bodyPr/>
          <a:p/>
        </p:txBody>
      </p:sp>
      <p:sp>
        <p:nvSpPr>
          <p:cNvPr id="17" name="Shape 15"/>
          <p:cNvSpPr/>
          <p:nvPr/>
        </p:nvSpPr>
        <p:spPr>
          <a:xfrm>
            <a:off x="8947404" y="1737360"/>
            <a:ext cx="2619756" cy="73152"/>
          </a:xfrm>
          <a:prstGeom prst="rect">
            <a:avLst/>
          </a:prstGeom>
          <a:solidFill>
            <a:srgbClr val="9C4A0A"/>
          </a:solidFill>
          <a:ln w="12700">
            <a:solidFill>
              <a:srgbClr val="9C4A0A"/>
            </a:solidFill>
            <a:prstDash val="solid"/>
          </a:ln>
        </p:spPr>
        <p:txBody>
          <a:bodyPr/>
          <a:p/>
        </p:txBody>
      </p:sp>
      <p:sp>
        <p:nvSpPr>
          <p:cNvPr id="18" name="Text 16"/>
          <p:cNvSpPr/>
          <p:nvPr/>
        </p:nvSpPr>
        <p:spPr>
          <a:xfrm>
            <a:off x="9148572" y="1965960"/>
            <a:ext cx="2217420" cy="914400"/>
          </a:xfrm>
          <a:prstGeom prst="rect">
            <a:avLst/>
          </a:prstGeom>
          <a:noFill/>
          <a:ln/>
        </p:spPr>
        <p:txBody>
          <a:bodyPr wrap="square" lIns="0" tIns="0" rIns="0" bIns="0" rtlCol="0" anchor="t"/>
          <a:lstStyle/>
          <a:p>
            <a:pPr indent="0" marL="0">
              <a:buNone/>
            </a:pPr>
            <a:r>
              <a:rPr lang="en-US" sz="2300" b="1" dirty="0">
                <a:solidFill>
                  <a:srgbClr val="9C4A0A"/>
                </a:solidFill>
                <a:latin typeface="Palatino Linotype" pitchFamily="34" charset="0"/>
                <a:ea typeface="Palatino Linotype" pitchFamily="34" charset="-122"/>
                <a:cs typeface="Palatino Linotype" pitchFamily="34" charset="-120"/>
              </a:rPr>
              <a:t>Mesaje publice</a:t>
            </a:r>
            <a:endParaRPr lang="en-US" sz="2300" dirty="0"/>
          </a:p>
        </p:txBody>
      </p:sp>
      <p:sp>
        <p:nvSpPr>
          <p:cNvPr id="19" name="Text 17"/>
          <p:cNvSpPr/>
          <p:nvPr/>
        </p:nvSpPr>
        <p:spPr>
          <a:xfrm>
            <a:off x="9148572" y="2971800"/>
            <a:ext cx="2217420" cy="164592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Afișe, mesaje la telefon: ieftine și ajung la mulți, dar nu asigură învățarea practică.</a:t>
            </a:r>
            <a:endParaRPr lang="en-US" sz="1800" dirty="0"/>
          </a:p>
        </p:txBody>
      </p:sp>
      <p:sp>
        <p:nvSpPr>
          <p:cNvPr id="20" name="Shape 18"/>
          <p:cNvSpPr/>
          <p:nvPr/>
        </p:nvSpPr>
        <p:spPr>
          <a:xfrm>
            <a:off x="594360" y="5029200"/>
            <a:ext cx="10972800" cy="914400"/>
          </a:xfrm>
          <a:prstGeom prst="roundRect">
            <a:avLst>
              <a:gd name="adj" fmla="val 9000"/>
            </a:avLst>
          </a:prstGeom>
          <a:solidFill>
            <a:srgbClr val="4A2D8C"/>
          </a:solidFill>
          <a:ln w="12700">
            <a:solidFill>
              <a:srgbClr val="4A2D8C"/>
            </a:solidFill>
            <a:prstDash val="solid"/>
          </a:ln>
        </p:spPr>
        <p:txBody>
          <a:bodyPr/>
          <a:p/>
        </p:txBody>
      </p:sp>
      <p:sp>
        <p:nvSpPr>
          <p:cNvPr id="21" name="Text 19"/>
          <p:cNvSpPr/>
          <p:nvPr/>
        </p:nvSpPr>
        <p:spPr>
          <a:xfrm>
            <a:off x="868680" y="5029200"/>
            <a:ext cx="10424160" cy="914400"/>
          </a:xfrm>
          <a:prstGeom prst="rect">
            <a:avLst/>
          </a:prstGeom>
          <a:noFill/>
          <a:ln/>
        </p:spPr>
        <p:txBody>
          <a:bodyPr wrap="square" lIns="0" tIns="0" rIns="0" bIns="0" rtlCol="0" anchor="ctr"/>
          <a:lstStyle/>
          <a:p>
            <a:pPr indent="0" marL="0">
              <a:buNone/>
            </a:pPr>
            <a:r>
              <a:rPr lang="en-US" sz="1650" b="1" dirty="0">
                <a:solidFill>
                  <a:srgbClr val="FFFFFF"/>
                </a:solidFill>
                <a:latin typeface="Palatino Linotype" pitchFamily="34" charset="0"/>
                <a:ea typeface="Palatino Linotype" pitchFamily="34" charset="-122"/>
                <a:cs typeface="Palatino Linotype" pitchFamily="34" charset="-120"/>
              </a:rPr>
              <a:t>Fișa le numește „abordări”. Mesajele publice sunt un instrument al abordării populaționale: același mesaj pentru toți, într-un mediu care face alegerea sănătoasă mai ușoară.</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DE CE O CER OMS ȘI UNIUNEA EUROPEANĂ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Trei niveluri, aceeași cerere</a:t>
            </a:r>
            <a:endParaRPr lang="en-US" sz="3200" dirty="0"/>
          </a:p>
        </p:txBody>
      </p:sp>
      <p:sp>
        <p:nvSpPr>
          <p:cNvPr id="4" name="Shape 2"/>
          <p:cNvSpPr/>
          <p:nvPr/>
        </p:nvSpPr>
        <p:spPr>
          <a:xfrm>
            <a:off x="594360" y="1691640"/>
            <a:ext cx="3547872" cy="3108960"/>
          </a:xfrm>
          <a:prstGeom prst="roundRect">
            <a:avLst>
              <a:gd name="adj" fmla="val 2647"/>
            </a:avLst>
          </a:prstGeom>
          <a:solidFill>
            <a:srgbClr val="1D1F2B"/>
          </a:solidFill>
          <a:ln w="12700">
            <a:solidFill>
              <a:srgbClr val="1D1F2B"/>
            </a:solidFill>
            <a:prstDash val="solid"/>
          </a:ln>
        </p:spPr>
        <p:txBody>
          <a:bodyPr/>
          <a:p/>
        </p:txBody>
      </p:sp>
      <p:sp>
        <p:nvSpPr>
          <p:cNvPr id="5" name="Shape 3"/>
          <p:cNvSpPr/>
          <p:nvPr/>
        </p:nvSpPr>
        <p:spPr>
          <a:xfrm>
            <a:off x="594360" y="1691640"/>
            <a:ext cx="3547872" cy="73152"/>
          </a:xfrm>
          <a:prstGeom prst="rect">
            <a:avLst/>
          </a:prstGeom>
          <a:solidFill>
            <a:srgbClr val="27D3BE"/>
          </a:solidFill>
          <a:ln w="12700">
            <a:solidFill>
              <a:srgbClr val="27D3BE"/>
            </a:solidFill>
            <a:prstDash val="solid"/>
          </a:ln>
        </p:spPr>
        <p:txBody>
          <a:bodyPr/>
          <a:p/>
        </p:txBody>
      </p:sp>
      <p:sp>
        <p:nvSpPr>
          <p:cNvPr id="6" name="Text 4"/>
          <p:cNvSpPr/>
          <p:nvPr/>
        </p:nvSpPr>
        <p:spPr>
          <a:xfrm>
            <a:off x="795528" y="1920240"/>
            <a:ext cx="3145536" cy="914400"/>
          </a:xfrm>
          <a:prstGeom prst="rect">
            <a:avLst/>
          </a:prstGeom>
          <a:noFill/>
          <a:ln/>
        </p:spPr>
        <p:txBody>
          <a:bodyPr wrap="square" lIns="0" tIns="0" rIns="0" bIns="0" rtlCol="0" anchor="t"/>
          <a:lstStyle/>
          <a:p>
            <a:pPr indent="0" marL="0">
              <a:buNone/>
            </a:pPr>
            <a:r>
              <a:rPr lang="en-US" sz="2400" b="1" dirty="0">
                <a:solidFill>
                  <a:srgbClr val="27D3BE"/>
                </a:solidFill>
                <a:latin typeface="Palatino Linotype" pitchFamily="34" charset="0"/>
                <a:ea typeface="Palatino Linotype" pitchFamily="34" charset="-122"/>
                <a:cs typeface="Palatino Linotype" pitchFamily="34" charset="-120"/>
              </a:rPr>
              <a:t>OMS Europa</a:t>
            </a:r>
            <a:endParaRPr lang="en-US" sz="2400" dirty="0"/>
          </a:p>
        </p:txBody>
      </p:sp>
      <p:sp>
        <p:nvSpPr>
          <p:cNvPr id="7" name="Text 5"/>
          <p:cNvSpPr/>
          <p:nvPr/>
        </p:nvSpPr>
        <p:spPr>
          <a:xfrm>
            <a:off x="795528" y="2926080"/>
            <a:ext cx="3145536" cy="173736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Programul de lucru 2020–2025, apoi programul 2026–2030, adoptat în unanimitate în octombrie 2025 de cele 53 de state ale regiunii.</a:t>
            </a:r>
            <a:endParaRPr lang="en-US" sz="1700" dirty="0"/>
          </a:p>
        </p:txBody>
      </p:sp>
      <p:sp>
        <p:nvSpPr>
          <p:cNvPr id="8" name="Shape 6"/>
          <p:cNvSpPr/>
          <p:nvPr/>
        </p:nvSpPr>
        <p:spPr>
          <a:xfrm>
            <a:off x="4306824" y="1691640"/>
            <a:ext cx="3547872" cy="3108960"/>
          </a:xfrm>
          <a:prstGeom prst="roundRect">
            <a:avLst>
              <a:gd name="adj" fmla="val 2647"/>
            </a:avLst>
          </a:prstGeom>
          <a:solidFill>
            <a:srgbClr val="1D1F2B"/>
          </a:solidFill>
          <a:ln w="12700">
            <a:solidFill>
              <a:srgbClr val="1D1F2B"/>
            </a:solidFill>
            <a:prstDash val="solid"/>
          </a:ln>
        </p:spPr>
        <p:txBody>
          <a:bodyPr/>
          <a:p/>
        </p:txBody>
      </p:sp>
      <p:sp>
        <p:nvSpPr>
          <p:cNvPr id="9" name="Shape 7"/>
          <p:cNvSpPr/>
          <p:nvPr/>
        </p:nvSpPr>
        <p:spPr>
          <a:xfrm>
            <a:off x="4306824" y="1691640"/>
            <a:ext cx="3547872" cy="73152"/>
          </a:xfrm>
          <a:prstGeom prst="rect">
            <a:avLst/>
          </a:prstGeom>
          <a:solidFill>
            <a:srgbClr val="9B7EF7"/>
          </a:solidFill>
          <a:ln w="12700">
            <a:solidFill>
              <a:srgbClr val="9B7EF7"/>
            </a:solidFill>
            <a:prstDash val="solid"/>
          </a:ln>
        </p:spPr>
        <p:txBody>
          <a:bodyPr/>
          <a:p/>
        </p:txBody>
      </p:sp>
      <p:sp>
        <p:nvSpPr>
          <p:cNvPr id="10" name="Text 8"/>
          <p:cNvSpPr/>
          <p:nvPr/>
        </p:nvSpPr>
        <p:spPr>
          <a:xfrm>
            <a:off x="4507992" y="1920240"/>
            <a:ext cx="3145536" cy="914400"/>
          </a:xfrm>
          <a:prstGeom prst="rect">
            <a:avLst/>
          </a:prstGeom>
          <a:noFill/>
          <a:ln/>
        </p:spPr>
        <p:txBody>
          <a:bodyPr wrap="square" lIns="0" tIns="0" rIns="0" bIns="0" rtlCol="0" anchor="t"/>
          <a:lstStyle/>
          <a:p>
            <a:pPr indent="0" marL="0">
              <a:buNone/>
            </a:pPr>
            <a:r>
              <a:rPr lang="en-US" sz="2400" b="1" dirty="0">
                <a:solidFill>
                  <a:srgbClr val="9B7EF7"/>
                </a:solidFill>
                <a:latin typeface="Palatino Linotype" pitchFamily="34" charset="0"/>
                <a:ea typeface="Palatino Linotype" pitchFamily="34" charset="-122"/>
                <a:cs typeface="Palatino Linotype" pitchFamily="34" charset="-120"/>
              </a:rPr>
              <a:t>Uniunea Europeană</a:t>
            </a:r>
            <a:endParaRPr lang="en-US" sz="2400" dirty="0"/>
          </a:p>
        </p:txBody>
      </p:sp>
      <p:sp>
        <p:nvSpPr>
          <p:cNvPr id="11" name="Text 9"/>
          <p:cNvSpPr/>
          <p:nvPr/>
        </p:nvSpPr>
        <p:spPr>
          <a:xfrm>
            <a:off x="4507992" y="2926080"/>
            <a:ext cx="3145536" cy="173736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EU4Health, 2021–2027: primul obiectiv general este promovarea sănătății și prevenirea bolilor.</a:t>
            </a:r>
            <a:endParaRPr lang="en-US" sz="1700" dirty="0"/>
          </a:p>
        </p:txBody>
      </p:sp>
      <p:sp>
        <p:nvSpPr>
          <p:cNvPr id="12" name="Shape 10"/>
          <p:cNvSpPr/>
          <p:nvPr/>
        </p:nvSpPr>
        <p:spPr>
          <a:xfrm>
            <a:off x="8019288" y="1691640"/>
            <a:ext cx="3547872" cy="3108960"/>
          </a:xfrm>
          <a:prstGeom prst="roundRect">
            <a:avLst>
              <a:gd name="adj" fmla="val 2647"/>
            </a:avLst>
          </a:prstGeom>
          <a:solidFill>
            <a:srgbClr val="1D1F2B"/>
          </a:solidFill>
          <a:ln w="12700">
            <a:solidFill>
              <a:srgbClr val="1D1F2B"/>
            </a:solidFill>
            <a:prstDash val="solid"/>
          </a:ln>
        </p:spPr>
        <p:txBody>
          <a:bodyPr/>
          <a:p/>
        </p:txBody>
      </p:sp>
      <p:sp>
        <p:nvSpPr>
          <p:cNvPr id="13" name="Shape 11"/>
          <p:cNvSpPr/>
          <p:nvPr/>
        </p:nvSpPr>
        <p:spPr>
          <a:xfrm>
            <a:off x="8019288" y="1691640"/>
            <a:ext cx="3547872" cy="73152"/>
          </a:xfrm>
          <a:prstGeom prst="rect">
            <a:avLst/>
          </a:prstGeom>
          <a:solidFill>
            <a:srgbClr val="FF4757"/>
          </a:solidFill>
          <a:ln w="12700">
            <a:solidFill>
              <a:srgbClr val="FF4757"/>
            </a:solidFill>
            <a:prstDash val="solid"/>
          </a:ln>
        </p:spPr>
        <p:txBody>
          <a:bodyPr/>
          <a:p/>
        </p:txBody>
      </p:sp>
      <p:sp>
        <p:nvSpPr>
          <p:cNvPr id="14" name="Text 12"/>
          <p:cNvSpPr/>
          <p:nvPr/>
        </p:nvSpPr>
        <p:spPr>
          <a:xfrm>
            <a:off x="8220456" y="1920240"/>
            <a:ext cx="3145536" cy="914400"/>
          </a:xfrm>
          <a:prstGeom prst="rect">
            <a:avLst/>
          </a:prstGeom>
          <a:noFill/>
          <a:ln/>
        </p:spPr>
        <p:txBody>
          <a:bodyPr wrap="square" lIns="0" tIns="0" rIns="0" bIns="0" rtlCol="0" anchor="t"/>
          <a:lstStyle/>
          <a:p>
            <a:pPr indent="0" marL="0">
              <a:buNone/>
            </a:pPr>
            <a:r>
              <a:rPr lang="en-US" sz="2400" b="1" dirty="0">
                <a:solidFill>
                  <a:srgbClr val="FF4757"/>
                </a:solidFill>
                <a:latin typeface="Palatino Linotype" pitchFamily="34" charset="0"/>
                <a:ea typeface="Palatino Linotype" pitchFamily="34" charset="-122"/>
                <a:cs typeface="Palatino Linotype" pitchFamily="34" charset="-120"/>
              </a:rPr>
              <a:t>România</a:t>
            </a:r>
            <a:endParaRPr lang="en-US" sz="2400" dirty="0"/>
          </a:p>
        </p:txBody>
      </p:sp>
      <p:sp>
        <p:nvSpPr>
          <p:cNvPr id="15" name="Text 13"/>
          <p:cNvSpPr/>
          <p:nvPr/>
        </p:nvSpPr>
        <p:spPr>
          <a:xfrm>
            <a:off x="8220456" y="2926080"/>
            <a:ext cx="3145536" cy="173736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Strategia națională de sănătate 2023–2030: educația pentru sănătate lipsește sau este furnizată „doar punctual sub forma unor mesaje de cele mai multe ori ambigue”.</a:t>
            </a:r>
            <a:endParaRPr lang="en-US" sz="1700" dirty="0"/>
          </a:p>
        </p:txBody>
      </p:sp>
      <p:sp>
        <p:nvSpPr>
          <p:cNvPr id="16" name="Shape 14"/>
          <p:cNvSpPr/>
          <p:nvPr/>
        </p:nvSpPr>
        <p:spPr>
          <a:xfrm>
            <a:off x="594360" y="4937760"/>
            <a:ext cx="10972800" cy="868680"/>
          </a:xfrm>
          <a:prstGeom prst="roundRect">
            <a:avLst>
              <a:gd name="adj" fmla="val 9474"/>
            </a:avLst>
          </a:prstGeom>
          <a:solidFill>
            <a:srgbClr val="272A38"/>
          </a:solidFill>
          <a:ln w="12700">
            <a:solidFill>
              <a:srgbClr val="272A38"/>
            </a:solidFill>
            <a:prstDash val="solid"/>
          </a:ln>
        </p:spPr>
        <p:txBody>
          <a:bodyPr/>
          <a:p/>
        </p:txBody>
      </p:sp>
      <p:sp>
        <p:nvSpPr>
          <p:cNvPr id="17" name="Text 15"/>
          <p:cNvSpPr/>
          <p:nvPr/>
        </p:nvSpPr>
        <p:spPr>
          <a:xfrm>
            <a:off x="868680" y="4937760"/>
            <a:ext cx="10424160" cy="868680"/>
          </a:xfrm>
          <a:prstGeom prst="rect">
            <a:avLst/>
          </a:prstGeom>
          <a:noFill/>
          <a:ln/>
        </p:spPr>
        <p:txBody>
          <a:bodyPr wrap="square" lIns="0" tIns="0" rIns="0" bIns="0" rtlCol="0" anchor="ctr"/>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Toate cer același lucru: prevenție și educație pentru sănătate aproape de oameni.</a:t>
            </a:r>
            <a:endParaRPr lang="en-US" sz="2000" dirty="0"/>
          </a:p>
        </p:txBody>
      </p:sp>
      <p:sp>
        <p:nvSpPr>
          <p:cNvPr id="18" name="Text 16"/>
          <p:cNvSpPr/>
          <p:nvPr/>
        </p:nvSpPr>
        <p:spPr>
          <a:xfrm>
            <a:off x="594360" y="6053328"/>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Programul european de lucru al OMS; Regulamentul (UE) 2021/522; Strategia națională de sănătate 2023–2030, HG nr. 1004/2023.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SIGURANȚA ȘI ETICA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Patru reguli ale unei educații sigure și corecte</a:t>
            </a:r>
            <a:endParaRPr lang="en-US" sz="3000" dirty="0"/>
          </a:p>
        </p:txBody>
      </p:sp>
      <p:sp>
        <p:nvSpPr>
          <p:cNvPr id="4" name="Shape 2"/>
          <p:cNvSpPr/>
          <p:nvPr/>
        </p:nvSpPr>
        <p:spPr>
          <a:xfrm>
            <a:off x="594360" y="1783080"/>
            <a:ext cx="2619756" cy="3566160"/>
          </a:xfrm>
          <a:prstGeom prst="roundRect">
            <a:avLst>
              <a:gd name="adj" fmla="val 3141"/>
            </a:avLst>
          </a:prstGeom>
          <a:solidFill>
            <a:srgbClr val="1D1F2B"/>
          </a:solidFill>
          <a:ln w="12700">
            <a:solidFill>
              <a:srgbClr val="1D1F2B"/>
            </a:solidFill>
            <a:prstDash val="solid"/>
          </a:ln>
        </p:spPr>
        <p:txBody>
          <a:bodyPr/>
          <a:p/>
        </p:txBody>
      </p:sp>
      <p:sp>
        <p:nvSpPr>
          <p:cNvPr id="5" name="Shape 3"/>
          <p:cNvSpPr/>
          <p:nvPr/>
        </p:nvSpPr>
        <p:spPr>
          <a:xfrm>
            <a:off x="594360" y="1783080"/>
            <a:ext cx="2619756" cy="73152"/>
          </a:xfrm>
          <a:prstGeom prst="rect">
            <a:avLst/>
          </a:prstGeom>
          <a:solidFill>
            <a:srgbClr val="27D3BE"/>
          </a:solidFill>
          <a:ln w="12700">
            <a:solidFill>
              <a:srgbClr val="27D3BE"/>
            </a:solidFill>
            <a:prstDash val="solid"/>
          </a:ln>
        </p:spPr>
        <p:txBody>
          <a:bodyPr/>
          <a:p/>
        </p:txBody>
      </p:sp>
      <p:sp>
        <p:nvSpPr>
          <p:cNvPr id="6" name="Text 4"/>
          <p:cNvSpPr/>
          <p:nvPr/>
        </p:nvSpPr>
        <p:spPr>
          <a:xfrm>
            <a:off x="795528" y="2011680"/>
            <a:ext cx="2217420" cy="91440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Consimțământul</a:t>
            </a:r>
            <a:endParaRPr lang="en-US" sz="2200" dirty="0"/>
          </a:p>
        </p:txBody>
      </p:sp>
      <p:sp>
        <p:nvSpPr>
          <p:cNvPr id="7" name="Text 5"/>
          <p:cNvSpPr/>
          <p:nvPr/>
        </p:nvSpPr>
        <p:spPr>
          <a:xfrm>
            <a:off x="795528" y="3017520"/>
            <a:ext cx="2217420" cy="219456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Explicați ce faceți, cât durează, ce riscuri mici există. Persoana se poate opri oricând.</a:t>
            </a:r>
            <a:endParaRPr lang="en-US" sz="1800" dirty="0"/>
          </a:p>
        </p:txBody>
      </p:sp>
      <p:sp>
        <p:nvSpPr>
          <p:cNvPr id="8" name="Shape 6"/>
          <p:cNvSpPr/>
          <p:nvPr/>
        </p:nvSpPr>
        <p:spPr>
          <a:xfrm>
            <a:off x="3378708" y="1783080"/>
            <a:ext cx="2619756" cy="3566160"/>
          </a:xfrm>
          <a:prstGeom prst="roundRect">
            <a:avLst>
              <a:gd name="adj" fmla="val 3141"/>
            </a:avLst>
          </a:prstGeom>
          <a:solidFill>
            <a:srgbClr val="1D1F2B"/>
          </a:solidFill>
          <a:ln w="12700">
            <a:solidFill>
              <a:srgbClr val="1D1F2B"/>
            </a:solidFill>
            <a:prstDash val="solid"/>
          </a:ln>
        </p:spPr>
        <p:txBody>
          <a:bodyPr/>
          <a:p/>
        </p:txBody>
      </p:sp>
      <p:sp>
        <p:nvSpPr>
          <p:cNvPr id="9" name="Shape 7"/>
          <p:cNvSpPr/>
          <p:nvPr/>
        </p:nvSpPr>
        <p:spPr>
          <a:xfrm>
            <a:off x="3378708" y="1783080"/>
            <a:ext cx="2619756" cy="73152"/>
          </a:xfrm>
          <a:prstGeom prst="rect">
            <a:avLst/>
          </a:prstGeom>
          <a:solidFill>
            <a:srgbClr val="9B7EF7"/>
          </a:solidFill>
          <a:ln w="12700">
            <a:solidFill>
              <a:srgbClr val="9B7EF7"/>
            </a:solidFill>
            <a:prstDash val="solid"/>
          </a:ln>
        </p:spPr>
        <p:txBody>
          <a:bodyPr/>
          <a:p/>
        </p:txBody>
      </p:sp>
      <p:sp>
        <p:nvSpPr>
          <p:cNvPr id="10" name="Text 8"/>
          <p:cNvSpPr/>
          <p:nvPr/>
        </p:nvSpPr>
        <p:spPr>
          <a:xfrm>
            <a:off x="3579876" y="2011680"/>
            <a:ext cx="2217420" cy="914400"/>
          </a:xfrm>
          <a:prstGeom prst="rect">
            <a:avLst/>
          </a:prstGeom>
          <a:noFill/>
          <a:ln/>
        </p:spPr>
        <p:txBody>
          <a:bodyPr wrap="square" lIns="0" tIns="0" rIns="0" bIns="0" rtlCol="0" anchor="t"/>
          <a:lstStyle/>
          <a:p>
            <a:pPr indent="0" marL="0">
              <a:buNone/>
            </a:pPr>
            <a:r>
              <a:rPr lang="en-US" sz="2200" b="1" dirty="0">
                <a:solidFill>
                  <a:srgbClr val="9B7EF7"/>
                </a:solidFill>
                <a:latin typeface="Palatino Linotype" pitchFamily="34" charset="0"/>
                <a:ea typeface="Palatino Linotype" pitchFamily="34" charset="-122"/>
                <a:cs typeface="Palatino Linotype" pitchFamily="34" charset="-120"/>
              </a:rPr>
              <a:t>Datele</a:t>
            </a:r>
            <a:endParaRPr lang="en-US" sz="2200" dirty="0"/>
          </a:p>
        </p:txBody>
      </p:sp>
      <p:sp>
        <p:nvSpPr>
          <p:cNvPr id="11" name="Text 9"/>
          <p:cNvSpPr/>
          <p:nvPr/>
        </p:nvSpPr>
        <p:spPr>
          <a:xfrm>
            <a:off x="3579876" y="3017520"/>
            <a:ext cx="2217420" cy="219456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Numai ce e necesar; rezultatele se raportează fără nume, iar fișele se păstrează în siguranță.</a:t>
            </a:r>
            <a:endParaRPr lang="en-US" sz="1800" dirty="0"/>
          </a:p>
        </p:txBody>
      </p:sp>
      <p:sp>
        <p:nvSpPr>
          <p:cNvPr id="12" name="Shape 10"/>
          <p:cNvSpPr/>
          <p:nvPr/>
        </p:nvSpPr>
        <p:spPr>
          <a:xfrm>
            <a:off x="6163056" y="1783080"/>
            <a:ext cx="2619756" cy="3566160"/>
          </a:xfrm>
          <a:prstGeom prst="roundRect">
            <a:avLst>
              <a:gd name="adj" fmla="val 3141"/>
            </a:avLst>
          </a:prstGeom>
          <a:solidFill>
            <a:srgbClr val="1D1F2B"/>
          </a:solidFill>
          <a:ln w="12700">
            <a:solidFill>
              <a:srgbClr val="1D1F2B"/>
            </a:solidFill>
            <a:prstDash val="solid"/>
          </a:ln>
        </p:spPr>
        <p:txBody>
          <a:bodyPr/>
          <a:p/>
        </p:txBody>
      </p:sp>
      <p:sp>
        <p:nvSpPr>
          <p:cNvPr id="13" name="Shape 11"/>
          <p:cNvSpPr/>
          <p:nvPr/>
        </p:nvSpPr>
        <p:spPr>
          <a:xfrm>
            <a:off x="6163056" y="1783080"/>
            <a:ext cx="2619756" cy="73152"/>
          </a:xfrm>
          <a:prstGeom prst="rect">
            <a:avLst/>
          </a:prstGeom>
          <a:solidFill>
            <a:srgbClr val="FF4757"/>
          </a:solidFill>
          <a:ln w="12700">
            <a:solidFill>
              <a:srgbClr val="FF4757"/>
            </a:solidFill>
            <a:prstDash val="solid"/>
          </a:ln>
        </p:spPr>
        <p:txBody>
          <a:bodyPr/>
          <a:p/>
        </p:txBody>
      </p:sp>
      <p:sp>
        <p:nvSpPr>
          <p:cNvPr id="14" name="Text 12"/>
          <p:cNvSpPr/>
          <p:nvPr/>
        </p:nvSpPr>
        <p:spPr>
          <a:xfrm>
            <a:off x="6364224" y="2011680"/>
            <a:ext cx="2217420" cy="914400"/>
          </a:xfrm>
          <a:prstGeom prst="rect">
            <a:avLst/>
          </a:prstGeom>
          <a:noFill/>
          <a:ln/>
        </p:spPr>
        <p:txBody>
          <a:bodyPr wrap="square" lIns="0" tIns="0" rIns="0" bIns="0" rtlCol="0" anchor="t"/>
          <a:lstStyle/>
          <a:p>
            <a:pPr indent="0" marL="0">
              <a:buNone/>
            </a:pPr>
            <a:r>
              <a:rPr lang="en-US" sz="2200" b="1" dirty="0">
                <a:solidFill>
                  <a:srgbClr val="FF4757"/>
                </a:solidFill>
                <a:latin typeface="Palatino Linotype" pitchFamily="34" charset="0"/>
                <a:ea typeface="Palatino Linotype" pitchFamily="34" charset="-122"/>
                <a:cs typeface="Palatino Linotype" pitchFamily="34" charset="-120"/>
              </a:rPr>
              <a:t>Spațiul și regulile</a:t>
            </a:r>
            <a:endParaRPr lang="en-US" sz="2200" dirty="0"/>
          </a:p>
        </p:txBody>
      </p:sp>
      <p:sp>
        <p:nvSpPr>
          <p:cNvPr id="15" name="Text 13"/>
          <p:cNvSpPr/>
          <p:nvPr/>
        </p:nvSpPr>
        <p:spPr>
          <a:xfrm>
            <a:off x="6364224" y="3017520"/>
            <a:ext cx="2217420" cy="219456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Un spațiu fără obstacole și reguli afișate la vedere, cunoscute de toți.</a:t>
            </a:r>
            <a:endParaRPr lang="en-US" sz="1800" dirty="0"/>
          </a:p>
        </p:txBody>
      </p:sp>
      <p:sp>
        <p:nvSpPr>
          <p:cNvPr id="16" name="Shape 14"/>
          <p:cNvSpPr/>
          <p:nvPr/>
        </p:nvSpPr>
        <p:spPr>
          <a:xfrm>
            <a:off x="8947404" y="1783080"/>
            <a:ext cx="2619756" cy="3566160"/>
          </a:xfrm>
          <a:prstGeom prst="roundRect">
            <a:avLst>
              <a:gd name="adj" fmla="val 3141"/>
            </a:avLst>
          </a:prstGeom>
          <a:solidFill>
            <a:srgbClr val="1D1F2B"/>
          </a:solidFill>
          <a:ln w="12700">
            <a:solidFill>
              <a:srgbClr val="1D1F2B"/>
            </a:solidFill>
            <a:prstDash val="solid"/>
          </a:ln>
        </p:spPr>
        <p:txBody>
          <a:bodyPr/>
          <a:p/>
        </p:txBody>
      </p:sp>
      <p:sp>
        <p:nvSpPr>
          <p:cNvPr id="17" name="Shape 15"/>
          <p:cNvSpPr/>
          <p:nvPr/>
        </p:nvSpPr>
        <p:spPr>
          <a:xfrm>
            <a:off x="8947404" y="1783080"/>
            <a:ext cx="2619756" cy="73152"/>
          </a:xfrm>
          <a:prstGeom prst="rect">
            <a:avLst/>
          </a:prstGeom>
          <a:solidFill>
            <a:srgbClr val="FFC24B"/>
          </a:solidFill>
          <a:ln w="12700">
            <a:solidFill>
              <a:srgbClr val="FFC24B"/>
            </a:solidFill>
            <a:prstDash val="solid"/>
          </a:ln>
        </p:spPr>
        <p:txBody>
          <a:bodyPr/>
          <a:p/>
        </p:txBody>
      </p:sp>
      <p:sp>
        <p:nvSpPr>
          <p:cNvPr id="18" name="Text 16"/>
          <p:cNvSpPr/>
          <p:nvPr/>
        </p:nvSpPr>
        <p:spPr>
          <a:xfrm>
            <a:off x="9148572" y="2011680"/>
            <a:ext cx="2217420" cy="91440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Semnele de alarmă</a:t>
            </a:r>
            <a:endParaRPr lang="en-US" sz="2200" dirty="0"/>
          </a:p>
        </p:txBody>
      </p:sp>
      <p:sp>
        <p:nvSpPr>
          <p:cNvPr id="19" name="Text 17"/>
          <p:cNvSpPr/>
          <p:nvPr/>
        </p:nvSpPr>
        <p:spPr>
          <a:xfrm>
            <a:off x="9148572" y="3017520"/>
            <a:ext cx="2217420" cy="219456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Durere în piept, lipsă severă de aer, amețeală puternică: persoana este îndrumată către medic.</a:t>
            </a:r>
            <a:endParaRPr lang="en-US" sz="1800" dirty="0"/>
          </a:p>
        </p:txBody>
      </p:sp>
      <p:sp>
        <p:nvSpPr>
          <p:cNvPr id="20" name="Text 18"/>
          <p:cNvSpPr/>
          <p:nvPr/>
        </p:nvSpPr>
        <p:spPr>
          <a:xfrm>
            <a:off x="594360" y="5897880"/>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Semnele de alarmă sunt o regulă de siguranță a materialelor disciplinei, nu un ghid clinic.</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SCOPURILE ÎN IMAGISTICĂ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ar trebui să poată face pacientul</a:t>
            </a:r>
            <a:endParaRPr lang="en-US" sz="3200" dirty="0"/>
          </a:p>
        </p:txBody>
      </p:sp>
      <p:sp>
        <p:nvSpPr>
          <p:cNvPr id="4" name="Text 2"/>
          <p:cNvSpPr/>
          <p:nvPr/>
        </p:nvSpPr>
        <p:spPr>
          <a:xfrm>
            <a:off x="594360" y="1645920"/>
            <a:ext cx="4297680" cy="141732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Scopul general: oamenii să poată lua singuri decizii bune pentru sănătatea lor și să le poată pune în practică.</a:t>
            </a:r>
            <a:endParaRPr lang="en-US" sz="1700" dirty="0"/>
          </a:p>
        </p:txBody>
      </p:sp>
      <p:sp>
        <p:nvSpPr>
          <p:cNvPr id="5" name="Shape 3"/>
          <p:cNvSpPr/>
          <p:nvPr/>
        </p:nvSpPr>
        <p:spPr>
          <a:xfrm>
            <a:off x="594360" y="3200400"/>
            <a:ext cx="4297680" cy="329184"/>
          </a:xfrm>
          <a:prstGeom prst="roundRect">
            <a:avLst>
              <a:gd name="adj" fmla="val 50000"/>
            </a:avLst>
          </a:prstGeom>
          <a:solidFill>
            <a:srgbClr val="F9F8F5"/>
          </a:solidFill>
          <a:ln w="12700">
            <a:solidFill>
              <a:srgbClr val="F9F8F5"/>
            </a:solidFill>
            <a:prstDash val="solid"/>
          </a:ln>
        </p:spPr>
        <p:txBody>
          <a:bodyPr/>
          <a:p/>
        </p:txBody>
      </p:sp>
      <p:sp>
        <p:nvSpPr>
          <p:cNvPr id="6" name="Text 4"/>
          <p:cNvSpPr/>
          <p:nvPr/>
        </p:nvSpPr>
        <p:spPr>
          <a:xfrm>
            <a:off x="594360" y="3200400"/>
            <a:ext cx="4297680" cy="32918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cunoștințe corecte</a:t>
            </a:r>
            <a:endParaRPr lang="en-US" sz="1400" dirty="0"/>
          </a:p>
        </p:txBody>
      </p:sp>
      <p:sp>
        <p:nvSpPr>
          <p:cNvPr id="7" name="Shape 5"/>
          <p:cNvSpPr/>
          <p:nvPr/>
        </p:nvSpPr>
        <p:spPr>
          <a:xfrm>
            <a:off x="594360" y="3730752"/>
            <a:ext cx="4297680" cy="329184"/>
          </a:xfrm>
          <a:prstGeom prst="roundRect">
            <a:avLst>
              <a:gd name="adj" fmla="val 50000"/>
            </a:avLst>
          </a:prstGeom>
          <a:solidFill>
            <a:srgbClr val="ECEAE4"/>
          </a:solidFill>
          <a:ln w="12700">
            <a:solidFill>
              <a:srgbClr val="ECEAE4"/>
            </a:solidFill>
            <a:prstDash val="solid"/>
          </a:ln>
        </p:spPr>
        <p:txBody>
          <a:bodyPr/>
          <a:p/>
        </p:txBody>
      </p:sp>
      <p:sp>
        <p:nvSpPr>
          <p:cNvPr id="8" name="Text 6"/>
          <p:cNvSpPr/>
          <p:nvPr/>
        </p:nvSpPr>
        <p:spPr>
          <a:xfrm>
            <a:off x="594360" y="3730752"/>
            <a:ext cx="4297680" cy="32918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deprinderi simple</a:t>
            </a:r>
            <a:endParaRPr lang="en-US" sz="1400" dirty="0"/>
          </a:p>
        </p:txBody>
      </p:sp>
      <p:sp>
        <p:nvSpPr>
          <p:cNvPr id="9" name="Shape 7"/>
          <p:cNvSpPr/>
          <p:nvPr/>
        </p:nvSpPr>
        <p:spPr>
          <a:xfrm>
            <a:off x="594360" y="4261104"/>
            <a:ext cx="4297680" cy="329184"/>
          </a:xfrm>
          <a:prstGeom prst="roundRect">
            <a:avLst>
              <a:gd name="adj" fmla="val 50000"/>
            </a:avLst>
          </a:prstGeom>
          <a:solidFill>
            <a:srgbClr val="F9F8F5"/>
          </a:solidFill>
          <a:ln w="12700">
            <a:solidFill>
              <a:srgbClr val="F9F8F5"/>
            </a:solidFill>
            <a:prstDash val="solid"/>
          </a:ln>
        </p:spPr>
        <p:txBody>
          <a:bodyPr/>
          <a:p/>
        </p:txBody>
      </p:sp>
      <p:sp>
        <p:nvSpPr>
          <p:cNvPr id="10" name="Text 8"/>
          <p:cNvSpPr/>
          <p:nvPr/>
        </p:nvSpPr>
        <p:spPr>
          <a:xfrm>
            <a:off x="594360" y="4261104"/>
            <a:ext cx="4297680" cy="32918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motivație</a:t>
            </a:r>
            <a:endParaRPr lang="en-US" sz="1400" dirty="0"/>
          </a:p>
        </p:txBody>
      </p:sp>
      <p:sp>
        <p:nvSpPr>
          <p:cNvPr id="11" name="Shape 9"/>
          <p:cNvSpPr/>
          <p:nvPr/>
        </p:nvSpPr>
        <p:spPr>
          <a:xfrm>
            <a:off x="594360" y="4791456"/>
            <a:ext cx="4297680" cy="329184"/>
          </a:xfrm>
          <a:prstGeom prst="roundRect">
            <a:avLst>
              <a:gd name="adj" fmla="val 50000"/>
            </a:avLst>
          </a:prstGeom>
          <a:solidFill>
            <a:srgbClr val="ECEAE4"/>
          </a:solidFill>
          <a:ln w="12700">
            <a:solidFill>
              <a:srgbClr val="ECEAE4"/>
            </a:solidFill>
            <a:prstDash val="solid"/>
          </a:ln>
        </p:spPr>
        <p:txBody>
          <a:bodyPr/>
          <a:p/>
        </p:txBody>
      </p:sp>
      <p:sp>
        <p:nvSpPr>
          <p:cNvPr id="12" name="Text 10"/>
          <p:cNvSpPr/>
          <p:nvPr/>
        </p:nvSpPr>
        <p:spPr>
          <a:xfrm>
            <a:off x="594360" y="4791456"/>
            <a:ext cx="4297680" cy="32918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decizii informate</a:t>
            </a:r>
            <a:endParaRPr lang="en-US" sz="1400" dirty="0"/>
          </a:p>
        </p:txBody>
      </p:sp>
      <p:sp>
        <p:nvSpPr>
          <p:cNvPr id="13" name="Shape 11"/>
          <p:cNvSpPr/>
          <p:nvPr/>
        </p:nvSpPr>
        <p:spPr>
          <a:xfrm>
            <a:off x="594360" y="5321808"/>
            <a:ext cx="4297680" cy="329184"/>
          </a:xfrm>
          <a:prstGeom prst="roundRect">
            <a:avLst>
              <a:gd name="adj" fmla="val 50000"/>
            </a:avLst>
          </a:prstGeom>
          <a:solidFill>
            <a:srgbClr val="F9F8F5"/>
          </a:solidFill>
          <a:ln w="12700">
            <a:solidFill>
              <a:srgbClr val="F9F8F5"/>
            </a:solidFill>
            <a:prstDash val="solid"/>
          </a:ln>
        </p:spPr>
        <p:txBody>
          <a:bodyPr/>
          <a:p/>
        </p:txBody>
      </p:sp>
      <p:sp>
        <p:nvSpPr>
          <p:cNvPr id="14" name="Text 12"/>
          <p:cNvSpPr/>
          <p:nvPr/>
        </p:nvSpPr>
        <p:spPr>
          <a:xfrm>
            <a:off x="594360" y="5321808"/>
            <a:ext cx="4297680" cy="32918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recunoașterea semnelor de alarmă</a:t>
            </a:r>
            <a:endParaRPr lang="en-US" sz="1400" dirty="0"/>
          </a:p>
        </p:txBody>
      </p:sp>
      <p:sp>
        <p:nvSpPr>
          <p:cNvPr id="15" name="Shape 13"/>
          <p:cNvSpPr/>
          <p:nvPr/>
        </p:nvSpPr>
        <p:spPr>
          <a:xfrm>
            <a:off x="5303520" y="1783080"/>
            <a:ext cx="457200" cy="457200"/>
          </a:xfrm>
          <a:prstGeom prst="ellipse">
            <a:avLst/>
          </a:prstGeom>
          <a:solidFill>
            <a:srgbClr val="0E7C6B"/>
          </a:solidFill>
          <a:ln/>
        </p:spPr>
        <p:txBody>
          <a:bodyPr/>
          <a:p/>
        </p:txBody>
      </p:sp>
      <p:sp>
        <p:nvSpPr>
          <p:cNvPr id="16" name="Text 14"/>
          <p:cNvSpPr/>
          <p:nvPr/>
        </p:nvSpPr>
        <p:spPr>
          <a:xfrm>
            <a:off x="5303520" y="1783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7" name="Text 15"/>
          <p:cNvSpPr/>
          <p:nvPr/>
        </p:nvSpPr>
        <p:spPr>
          <a:xfrm>
            <a:off x="5989320" y="1691640"/>
            <a:ext cx="5577840" cy="713232"/>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Înțelege de ce face investigația.</a:t>
            </a:r>
            <a:endParaRPr lang="en-US" sz="1600" dirty="0"/>
          </a:p>
        </p:txBody>
      </p:sp>
      <p:sp>
        <p:nvSpPr>
          <p:cNvPr id="18" name="Shape 16"/>
          <p:cNvSpPr/>
          <p:nvPr/>
        </p:nvSpPr>
        <p:spPr>
          <a:xfrm>
            <a:off x="5303520" y="2532888"/>
            <a:ext cx="457200" cy="457200"/>
          </a:xfrm>
          <a:prstGeom prst="ellipse">
            <a:avLst/>
          </a:prstGeom>
          <a:solidFill>
            <a:srgbClr val="0E7C6B"/>
          </a:solidFill>
          <a:ln/>
        </p:spPr>
        <p:txBody>
          <a:bodyPr/>
          <a:p/>
        </p:txBody>
      </p:sp>
      <p:sp>
        <p:nvSpPr>
          <p:cNvPr id="19" name="Text 17"/>
          <p:cNvSpPr/>
          <p:nvPr/>
        </p:nvSpPr>
        <p:spPr>
          <a:xfrm>
            <a:off x="5303520" y="25328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20" name="Text 18"/>
          <p:cNvSpPr/>
          <p:nvPr/>
        </p:nvSpPr>
        <p:spPr>
          <a:xfrm>
            <a:off x="5989320" y="2441448"/>
            <a:ext cx="5577840" cy="713232"/>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Știe cum să se pregătească, după protocolul secției: analizele cerute înainte de substanța de contrast, fără obiecte metalice.</a:t>
            </a:r>
            <a:endParaRPr lang="en-US" sz="1600" dirty="0"/>
          </a:p>
        </p:txBody>
      </p:sp>
      <p:sp>
        <p:nvSpPr>
          <p:cNvPr id="21" name="Shape 19"/>
          <p:cNvSpPr/>
          <p:nvPr/>
        </p:nvSpPr>
        <p:spPr>
          <a:xfrm>
            <a:off x="5303520" y="3282696"/>
            <a:ext cx="457200" cy="457200"/>
          </a:xfrm>
          <a:prstGeom prst="ellipse">
            <a:avLst/>
          </a:prstGeom>
          <a:solidFill>
            <a:srgbClr val="0E7C6B"/>
          </a:solidFill>
          <a:ln/>
        </p:spPr>
        <p:txBody>
          <a:bodyPr/>
          <a:p/>
        </p:txBody>
      </p:sp>
      <p:sp>
        <p:nvSpPr>
          <p:cNvPr id="22" name="Text 20"/>
          <p:cNvSpPr/>
          <p:nvPr/>
        </p:nvSpPr>
        <p:spPr>
          <a:xfrm>
            <a:off x="5303520" y="32826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3" name="Text 21"/>
          <p:cNvSpPr/>
          <p:nvPr/>
        </p:nvSpPr>
        <p:spPr>
          <a:xfrm>
            <a:off x="5989320" y="3191256"/>
            <a:ext cx="5577840" cy="713232"/>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Colaborează în timpul examinării: stă nemișcat, își ține respirația la comandă.</a:t>
            </a:r>
            <a:endParaRPr lang="en-US" sz="1600" dirty="0"/>
          </a:p>
        </p:txBody>
      </p:sp>
      <p:sp>
        <p:nvSpPr>
          <p:cNvPr id="24" name="Shape 22"/>
          <p:cNvSpPr/>
          <p:nvPr/>
        </p:nvSpPr>
        <p:spPr>
          <a:xfrm>
            <a:off x="5303520" y="4032504"/>
            <a:ext cx="457200" cy="457200"/>
          </a:xfrm>
          <a:prstGeom prst="ellipse">
            <a:avLst/>
          </a:prstGeom>
          <a:solidFill>
            <a:srgbClr val="0E7C6B"/>
          </a:solidFill>
          <a:ln/>
        </p:spPr>
        <p:txBody>
          <a:bodyPr/>
          <a:p/>
        </p:txBody>
      </p:sp>
      <p:sp>
        <p:nvSpPr>
          <p:cNvPr id="25" name="Text 23"/>
          <p:cNvSpPr/>
          <p:nvPr/>
        </p:nvSpPr>
        <p:spPr>
          <a:xfrm>
            <a:off x="5303520" y="40325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6" name="Text 24"/>
          <p:cNvSpPr/>
          <p:nvPr/>
        </p:nvSpPr>
        <p:spPr>
          <a:xfrm>
            <a:off x="5989320" y="3941064"/>
            <a:ext cx="5577840" cy="713232"/>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Știe ce urmează după.</a:t>
            </a:r>
            <a:endParaRPr lang="en-US" sz="1600" dirty="0"/>
          </a:p>
        </p:txBody>
      </p:sp>
      <p:sp>
        <p:nvSpPr>
          <p:cNvPr id="27" name="Shape 25"/>
          <p:cNvSpPr/>
          <p:nvPr/>
        </p:nvSpPr>
        <p:spPr>
          <a:xfrm>
            <a:off x="5303520" y="4800600"/>
            <a:ext cx="6263640" cy="1097280"/>
          </a:xfrm>
          <a:prstGeom prst="roundRect">
            <a:avLst>
              <a:gd name="adj" fmla="val 7500"/>
            </a:avLst>
          </a:prstGeom>
          <a:solidFill>
            <a:srgbClr val="0E7C6B"/>
          </a:solidFill>
          <a:ln w="12700">
            <a:solidFill>
              <a:srgbClr val="0E7C6B"/>
            </a:solidFill>
            <a:prstDash val="solid"/>
          </a:ln>
        </p:spPr>
        <p:txBody>
          <a:bodyPr/>
          <a:p/>
        </p:txBody>
      </p:sp>
      <p:sp>
        <p:nvSpPr>
          <p:cNvPr id="28" name="Text 26"/>
          <p:cNvSpPr/>
          <p:nvPr/>
        </p:nvSpPr>
        <p:spPr>
          <a:xfrm>
            <a:off x="5532120" y="4800600"/>
            <a:ext cx="5852160" cy="1097280"/>
          </a:xfrm>
          <a:prstGeom prst="rect">
            <a:avLst/>
          </a:prstGeom>
          <a:noFill/>
          <a:ln/>
        </p:spPr>
        <p:txBody>
          <a:bodyPr wrap="square" lIns="0" tIns="0" rIns="0" bIns="0" rtlCol="0" anchor="ctr"/>
          <a:lstStyle/>
          <a:p>
            <a:pPr indent="0" marL="0">
              <a:buNone/>
            </a:pPr>
            <a:r>
              <a:rPr lang="en-US" sz="1550" b="1" dirty="0">
                <a:solidFill>
                  <a:srgbClr val="FFFFFF"/>
                </a:solidFill>
                <a:latin typeface="Palatino Linotype" pitchFamily="34" charset="0"/>
                <a:ea typeface="Palatino Linotype" pitchFamily="34" charset="-122"/>
                <a:cs typeface="Palatino Linotype" pitchFamily="34" charset="-120"/>
              </a:rPr>
              <a:t>La screening, de exemplu la mamografie: femeia înțelege ce înseamnă un rezultat care cere investigații suplimentare, ca să nu îl confunde cu un diagnostic.</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594360" y="329184"/>
            <a:ext cx="3291840" cy="32918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594360" y="329184"/>
            <a:ext cx="3291840" cy="329184"/>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TERMENUL NOU 2 DIN 3</a:t>
            </a:r>
            <a:endParaRPr lang="en-US" sz="1300" dirty="0"/>
          </a:p>
        </p:txBody>
      </p:sp>
      <p:sp>
        <p:nvSpPr>
          <p:cNvPr id="4" name="Text 2"/>
          <p:cNvSpPr/>
          <p:nvPr/>
        </p:nvSpPr>
        <p:spPr>
          <a:xfrm>
            <a:off x="594360" y="914400"/>
            <a:ext cx="10972800" cy="82296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Obiectivul măsurabil</a:t>
            </a:r>
            <a:endParaRPr lang="en-US" sz="3800" dirty="0"/>
          </a:p>
        </p:txBody>
      </p:sp>
      <p:sp>
        <p:nvSpPr>
          <p:cNvPr id="5" name="Text 3"/>
          <p:cNvSpPr/>
          <p:nvPr/>
        </p:nvSpPr>
        <p:spPr>
          <a:xfrm>
            <a:off x="594360" y="1874520"/>
            <a:ext cx="10789920" cy="1188720"/>
          </a:xfrm>
          <a:prstGeom prst="rect">
            <a:avLst/>
          </a:prstGeom>
          <a:noFill/>
          <a:ln/>
        </p:spPr>
        <p:txBody>
          <a:bodyPr wrap="square" lIns="0" tIns="0" rIns="0" bIns="0" rtlCol="0" anchor="t"/>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O țintă scrisă astfel încât, la o dată stabilită, oricine să poată spune „da, s-a întâmplat” sau „nu, încă nu”.</a:t>
            </a:r>
            <a:endParaRPr lang="en-US" sz="2600" dirty="0"/>
          </a:p>
        </p:txBody>
      </p:sp>
      <p:sp>
        <p:nvSpPr>
          <p:cNvPr id="6" name="Shape 4"/>
          <p:cNvSpPr/>
          <p:nvPr/>
        </p:nvSpPr>
        <p:spPr>
          <a:xfrm>
            <a:off x="594360" y="329184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7" name="Text 5"/>
          <p:cNvSpPr/>
          <p:nvPr/>
        </p:nvSpPr>
        <p:spPr>
          <a:xfrm>
            <a:off x="594360" y="3291840"/>
            <a:ext cx="205740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Ce anume se schimbă</a:t>
            </a:r>
            <a:endParaRPr lang="en-US" sz="1350" dirty="0"/>
          </a:p>
        </p:txBody>
      </p:sp>
      <p:sp>
        <p:nvSpPr>
          <p:cNvPr id="8" name="Shape 6"/>
          <p:cNvSpPr/>
          <p:nvPr/>
        </p:nvSpPr>
        <p:spPr>
          <a:xfrm>
            <a:off x="2788920" y="329184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9" name="Text 7"/>
          <p:cNvSpPr/>
          <p:nvPr/>
        </p:nvSpPr>
        <p:spPr>
          <a:xfrm>
            <a:off x="2788920" y="3291840"/>
            <a:ext cx="205740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Cât</a:t>
            </a:r>
            <a:endParaRPr lang="en-US" sz="1350" dirty="0"/>
          </a:p>
        </p:txBody>
      </p:sp>
      <p:sp>
        <p:nvSpPr>
          <p:cNvPr id="10" name="Shape 8"/>
          <p:cNvSpPr/>
          <p:nvPr/>
        </p:nvSpPr>
        <p:spPr>
          <a:xfrm>
            <a:off x="4983480" y="329184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11" name="Text 9"/>
          <p:cNvSpPr/>
          <p:nvPr/>
        </p:nvSpPr>
        <p:spPr>
          <a:xfrm>
            <a:off x="4983480" y="3291840"/>
            <a:ext cx="205740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La cine</a:t>
            </a:r>
            <a:endParaRPr lang="en-US" sz="1350" dirty="0"/>
          </a:p>
        </p:txBody>
      </p:sp>
      <p:sp>
        <p:nvSpPr>
          <p:cNvPr id="12" name="Shape 10"/>
          <p:cNvSpPr/>
          <p:nvPr/>
        </p:nvSpPr>
        <p:spPr>
          <a:xfrm>
            <a:off x="7178040" y="329184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13" name="Text 11"/>
          <p:cNvSpPr/>
          <p:nvPr/>
        </p:nvSpPr>
        <p:spPr>
          <a:xfrm>
            <a:off x="7178040" y="3291840"/>
            <a:ext cx="205740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Până când</a:t>
            </a:r>
            <a:endParaRPr lang="en-US" sz="1350" dirty="0"/>
          </a:p>
        </p:txBody>
      </p:sp>
      <p:sp>
        <p:nvSpPr>
          <p:cNvPr id="14" name="Shape 12"/>
          <p:cNvSpPr/>
          <p:nvPr/>
        </p:nvSpPr>
        <p:spPr>
          <a:xfrm>
            <a:off x="9372600" y="329184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15" name="Text 13"/>
          <p:cNvSpPr/>
          <p:nvPr/>
        </p:nvSpPr>
        <p:spPr>
          <a:xfrm>
            <a:off x="9372600" y="3291840"/>
            <a:ext cx="205740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Cum se măsoară</a:t>
            </a:r>
            <a:endParaRPr lang="en-US" sz="1350" dirty="0"/>
          </a:p>
        </p:txBody>
      </p:sp>
      <p:sp>
        <p:nvSpPr>
          <p:cNvPr id="16" name="Shape 14"/>
          <p:cNvSpPr/>
          <p:nvPr/>
        </p:nvSpPr>
        <p:spPr>
          <a:xfrm>
            <a:off x="594360" y="3977640"/>
            <a:ext cx="10972800" cy="1920240"/>
          </a:xfrm>
          <a:prstGeom prst="roundRect">
            <a:avLst>
              <a:gd name="adj" fmla="val 4286"/>
            </a:avLst>
          </a:prstGeom>
          <a:solidFill>
            <a:srgbClr val="1D1F2B"/>
          </a:solidFill>
          <a:ln w="12700">
            <a:solidFill>
              <a:srgbClr val="1D1F2B"/>
            </a:solidFill>
            <a:prstDash val="solid"/>
          </a:ln>
        </p:spPr>
        <p:txBody>
          <a:bodyPr/>
          <a:p/>
        </p:txBody>
      </p:sp>
      <p:sp>
        <p:nvSpPr>
          <p:cNvPr id="17" name="Text 15"/>
          <p:cNvSpPr/>
          <p:nvPr/>
        </p:nvSpPr>
        <p:spPr>
          <a:xfrm>
            <a:off x="868680" y="3977640"/>
            <a:ext cx="10424160" cy="1920240"/>
          </a:xfrm>
          <a:prstGeom prst="rect">
            <a:avLst/>
          </a:prstGeom>
          <a:noFill/>
          <a:ln/>
        </p:spPr>
        <p:txBody>
          <a:bodyPr wrap="square" lIns="0" tIns="0" rIns="0" bIns="0" rtlCol="0" anchor="ctr"/>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Scopul arată direcția; obiectivul arată dacă ați ajuns. Obiectivul descrie un rezultat la persoană, nu ce face profesionistul. Fără obiectiv, educația rămâne o bună intenție: nu știți dacă a mers și nu știți ce să schimbați.</a:t>
            </a:r>
            <a:endParaRPr lang="en-US" sz="1900" dirty="0"/>
          </a:p>
        </p:txBody>
      </p:sp>
      <p:sp>
        <p:nvSpPr>
          <p:cNvPr id="18" name="Text 16"/>
          <p:cNvSpPr/>
          <p:nvPr/>
        </p:nvSpPr>
        <p:spPr>
          <a:xfrm>
            <a:off x="594360" y="6053328"/>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În varianta disciplinei: specific, măsurabil, realizabil, relevant și încadrat în timp (acronimul englezesc SMART).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 LA SCOP LA OBIECTIV</a:t>
            </a:r>
            <a:endParaRPr lang="en-US" sz="1300" dirty="0"/>
          </a:p>
        </p:txBody>
      </p:sp>
      <p:sp>
        <p:nvSpPr>
          <p:cNvPr id="3" name="Shape 1"/>
          <p:cNvSpPr/>
          <p:nvPr/>
        </p:nvSpPr>
        <p:spPr>
          <a:xfrm>
            <a:off x="9098280" y="310896"/>
            <a:ext cx="2468880" cy="329184"/>
          </a:xfrm>
          <a:prstGeom prst="roundRect">
            <a:avLst>
              <a:gd name="adj" fmla="val 50000"/>
            </a:avLst>
          </a:prstGeom>
          <a:solidFill>
            <a:srgbClr val="FFC24B"/>
          </a:solidFill>
          <a:ln w="12700">
            <a:solidFill>
              <a:srgbClr val="FFC24B"/>
            </a:solidFill>
            <a:prstDash val="solid"/>
          </a:ln>
        </p:spPr>
        <p:txBody>
          <a:bodyPr/>
          <a:p/>
        </p:txBody>
      </p:sp>
      <p:sp>
        <p:nvSpPr>
          <p:cNvPr id="4" name="Text 2"/>
          <p:cNvSpPr/>
          <p:nvPr/>
        </p:nvSpPr>
        <p:spPr>
          <a:xfrm>
            <a:off x="9098280" y="310896"/>
            <a:ext cx="2468880" cy="329184"/>
          </a:xfrm>
          <a:prstGeom prst="rect">
            <a:avLst/>
          </a:prstGeom>
          <a:noFill/>
          <a:ln/>
        </p:spPr>
        <p:txBody>
          <a:bodyPr wrap="square" lIns="0" tIns="0" rIns="0" bIns="0" rtlCol="0" anchor="ctr"/>
          <a:lstStyle/>
          <a:p>
            <a:pPr algn="ctr" indent="0" marL="0">
              <a:buNone/>
            </a:pPr>
            <a:r>
              <a:rPr lang="en-US" sz="1200" b="1" dirty="0">
                <a:solidFill>
                  <a:srgbClr val="3D2A00"/>
                </a:solidFill>
                <a:latin typeface="Palatino Linotype" pitchFamily="34" charset="0"/>
                <a:ea typeface="Palatino Linotype" pitchFamily="34" charset="-122"/>
                <a:cs typeface="Palatino Linotype" pitchFamily="34" charset="-120"/>
              </a:rPr>
              <a:t>VALORI IPOTETICE</a:t>
            </a:r>
            <a:endParaRPr lang="en-US" sz="12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 la scop la obiectiv, în radiologie</a:t>
            </a:r>
            <a:endParaRPr lang="en-US" sz="3000" dirty="0"/>
          </a:p>
        </p:txBody>
      </p:sp>
      <p:sp>
        <p:nvSpPr>
          <p:cNvPr id="6" name="Shape 4"/>
          <p:cNvSpPr/>
          <p:nvPr/>
        </p:nvSpPr>
        <p:spPr>
          <a:xfrm>
            <a:off x="594360" y="1783080"/>
            <a:ext cx="4206240" cy="2011680"/>
          </a:xfrm>
          <a:prstGeom prst="roundRect">
            <a:avLst>
              <a:gd name="adj" fmla="val 4091"/>
            </a:avLst>
          </a:prstGeom>
          <a:solidFill>
            <a:srgbClr val="ECEAE4"/>
          </a:solidFill>
          <a:ln w="12700">
            <a:solidFill>
              <a:srgbClr val="ECEAE4"/>
            </a:solidFill>
            <a:prstDash val="solid"/>
          </a:ln>
        </p:spPr>
        <p:txBody>
          <a:bodyPr/>
          <a:p/>
        </p:txBody>
      </p:sp>
      <p:sp>
        <p:nvSpPr>
          <p:cNvPr id="7" name="Text 5"/>
          <p:cNvSpPr/>
          <p:nvPr/>
        </p:nvSpPr>
        <p:spPr>
          <a:xfrm>
            <a:off x="868680" y="1920240"/>
            <a:ext cx="3657600" cy="365760"/>
          </a:xfrm>
          <a:prstGeom prst="rect">
            <a:avLst/>
          </a:prstGeom>
          <a:noFill/>
          <a:ln/>
        </p:spPr>
        <p:txBody>
          <a:bodyPr wrap="square" lIns="0" tIns="0" rIns="0" bIns="0" rtlCol="0" anchor="t"/>
          <a:lstStyle/>
          <a:p>
            <a:pPr indent="0" marL="0">
              <a:buNone/>
            </a:pPr>
            <a:r>
              <a:rPr lang="en-US" sz="1700" b="1" dirty="0">
                <a:solidFill>
                  <a:srgbClr val="585A64"/>
                </a:solidFill>
                <a:latin typeface="Palatino Linotype" pitchFamily="34" charset="0"/>
                <a:ea typeface="Palatino Linotype" pitchFamily="34" charset="-122"/>
                <a:cs typeface="Palatino Linotype" pitchFamily="34" charset="-120"/>
              </a:rPr>
              <a:t>Scop vag</a:t>
            </a:r>
            <a:endParaRPr lang="en-US" sz="1700" dirty="0"/>
          </a:p>
        </p:txBody>
      </p:sp>
      <p:sp>
        <p:nvSpPr>
          <p:cNvPr id="8" name="Text 6"/>
          <p:cNvSpPr/>
          <p:nvPr/>
        </p:nvSpPr>
        <p:spPr>
          <a:xfrm>
            <a:off x="868680" y="2377440"/>
            <a:ext cx="3657600" cy="1280160"/>
          </a:xfrm>
          <a:prstGeom prst="rect">
            <a:avLst/>
          </a:prstGeom>
          <a:noFill/>
          <a:ln/>
        </p:spPr>
        <p:txBody>
          <a:bodyPr wrap="square" lIns="0" tIns="0" rIns="0" bIns="0" rtlCol="0" anchor="t"/>
          <a:lstStyle/>
          <a:p>
            <a:pPr indent="0" marL="0">
              <a:buNone/>
            </a:pPr>
            <a:r>
              <a:rPr lang="en-US" sz="2000" i="1" dirty="0">
                <a:solidFill>
                  <a:srgbClr val="11121A"/>
                </a:solidFill>
                <a:latin typeface="Palatino Linotype" pitchFamily="34" charset="0"/>
                <a:ea typeface="Palatino Linotype" pitchFamily="34" charset="-122"/>
                <a:cs typeface="Palatino Linotype" pitchFamily="34" charset="-120"/>
              </a:rPr>
              <a:t>„pacienții să fie mai bine pregătiți pentru examenul CT”</a:t>
            </a:r>
            <a:endParaRPr lang="en-US" sz="2000" dirty="0"/>
          </a:p>
        </p:txBody>
      </p:sp>
      <p:sp>
        <p:nvSpPr>
          <p:cNvPr id="9" name="Shape 7"/>
          <p:cNvSpPr/>
          <p:nvPr/>
        </p:nvSpPr>
        <p:spPr>
          <a:xfrm>
            <a:off x="4937760" y="2606040"/>
            <a:ext cx="548640" cy="329184"/>
          </a:xfrm>
          <a:prstGeom prst="rightArrow">
            <a:avLst/>
          </a:prstGeom>
          <a:solidFill>
            <a:srgbClr val="B02532"/>
          </a:solidFill>
          <a:ln w="12700">
            <a:solidFill>
              <a:srgbClr val="B02532"/>
            </a:solidFill>
            <a:prstDash val="solid"/>
          </a:ln>
        </p:spPr>
        <p:txBody>
          <a:bodyPr/>
          <a:p/>
        </p:txBody>
      </p:sp>
      <p:sp>
        <p:nvSpPr>
          <p:cNvPr id="10" name="Shape 8"/>
          <p:cNvSpPr/>
          <p:nvPr/>
        </p:nvSpPr>
        <p:spPr>
          <a:xfrm>
            <a:off x="5623560" y="1783080"/>
            <a:ext cx="5943600" cy="2011680"/>
          </a:xfrm>
          <a:prstGeom prst="roundRect">
            <a:avLst>
              <a:gd name="adj" fmla="val 4091"/>
            </a:avLst>
          </a:prstGeom>
          <a:solidFill>
            <a:srgbClr val="07564B"/>
          </a:solidFill>
          <a:ln w="12700">
            <a:solidFill>
              <a:srgbClr val="07564B"/>
            </a:solidFill>
            <a:prstDash val="solid"/>
          </a:ln>
        </p:spPr>
        <p:txBody>
          <a:bodyPr/>
          <a:p/>
        </p:txBody>
      </p:sp>
      <p:sp>
        <p:nvSpPr>
          <p:cNvPr id="11" name="Text 9"/>
          <p:cNvSpPr/>
          <p:nvPr/>
        </p:nvSpPr>
        <p:spPr>
          <a:xfrm>
            <a:off x="5897880" y="1920240"/>
            <a:ext cx="5486400" cy="36576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Obiectiv măsurabil</a:t>
            </a:r>
            <a:endParaRPr lang="en-US" sz="1700" dirty="0"/>
          </a:p>
        </p:txBody>
      </p:sp>
      <p:sp>
        <p:nvSpPr>
          <p:cNvPr id="12" name="Text 10"/>
          <p:cNvSpPr/>
          <p:nvPr/>
        </p:nvSpPr>
        <p:spPr>
          <a:xfrm>
            <a:off x="5897880" y="2331720"/>
            <a:ext cx="5486400" cy="1371600"/>
          </a:xfrm>
          <a:prstGeom prst="rect">
            <a:avLst/>
          </a:prstGeom>
          <a:noFill/>
          <a:ln/>
        </p:spPr>
        <p:txBody>
          <a:bodyPr wrap="square" lIns="0" tIns="0" rIns="0" bIns="0" rtlCol="0" anchor="t"/>
          <a:lstStyle/>
          <a:p>
            <a:pPr indent="0" marL="0">
              <a:buNone/>
            </a:pPr>
            <a:r>
              <a:rPr lang="en-US" sz="1700" i="1" dirty="0">
                <a:solidFill>
                  <a:srgbClr val="FFFFFF"/>
                </a:solidFill>
                <a:latin typeface="Palatino Linotype" pitchFamily="34" charset="0"/>
                <a:ea typeface="Palatino Linotype" pitchFamily="34" charset="-122"/>
                <a:cs typeface="Palatino Linotype" pitchFamily="34" charset="-120"/>
              </a:rPr>
              <a:t>„în trei luni, scade la jumătate numărul examinărilor amânate pentru că pregătirea cerută de protocolul secției nu a fost respectată, numărate în registrul secției”</a:t>
            </a:r>
            <a:endParaRPr lang="en-US" sz="1700" dirty="0"/>
          </a:p>
        </p:txBody>
      </p:sp>
      <p:sp>
        <p:nvSpPr>
          <p:cNvPr id="13" name="Shape 11"/>
          <p:cNvSpPr/>
          <p:nvPr/>
        </p:nvSpPr>
        <p:spPr>
          <a:xfrm>
            <a:off x="594360" y="4114800"/>
            <a:ext cx="2606040" cy="1417320"/>
          </a:xfrm>
          <a:prstGeom prst="roundRect">
            <a:avLst>
              <a:gd name="adj" fmla="val 5806"/>
            </a:avLst>
          </a:prstGeom>
          <a:solidFill>
            <a:srgbClr val="ECEAE4"/>
          </a:solidFill>
          <a:ln w="12700">
            <a:solidFill>
              <a:srgbClr val="ECEAE4"/>
            </a:solidFill>
            <a:prstDash val="solid"/>
          </a:ln>
        </p:spPr>
        <p:txBody>
          <a:bodyPr/>
          <a:p/>
        </p:txBody>
      </p:sp>
      <p:sp>
        <p:nvSpPr>
          <p:cNvPr id="14" name="Text 12"/>
          <p:cNvSpPr/>
          <p:nvPr/>
        </p:nvSpPr>
        <p:spPr>
          <a:xfrm>
            <a:off x="777240" y="4224528"/>
            <a:ext cx="2286000" cy="365760"/>
          </a:xfrm>
          <a:prstGeom prst="rect">
            <a:avLst/>
          </a:prstGeom>
          <a:noFill/>
          <a:ln/>
        </p:spPr>
        <p:txBody>
          <a:bodyPr wrap="square" lIns="0" tIns="0" rIns="0" bIns="0" rtlCol="0" anchor="t"/>
          <a:lstStyle/>
          <a:p>
            <a:pPr indent="0" marL="0">
              <a:buNone/>
            </a:pPr>
            <a:r>
              <a:rPr lang="en-US" sz="1400" b="1" dirty="0">
                <a:solidFill>
                  <a:srgbClr val="0E7C6B"/>
                </a:solidFill>
                <a:latin typeface="Palatino Linotype" pitchFamily="34" charset="0"/>
                <a:ea typeface="Palatino Linotype" pitchFamily="34" charset="-122"/>
                <a:cs typeface="Palatino Linotype" pitchFamily="34" charset="-120"/>
              </a:rPr>
              <a:t>Ce se schimbă</a:t>
            </a:r>
            <a:endParaRPr lang="en-US" sz="1400" dirty="0"/>
          </a:p>
        </p:txBody>
      </p:sp>
      <p:sp>
        <p:nvSpPr>
          <p:cNvPr id="15" name="Text 13"/>
          <p:cNvSpPr/>
          <p:nvPr/>
        </p:nvSpPr>
        <p:spPr>
          <a:xfrm>
            <a:off x="777240" y="4663440"/>
            <a:ext cx="2286000" cy="77724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examinările amânate</a:t>
            </a:r>
            <a:endParaRPr lang="en-US" sz="1800" dirty="0"/>
          </a:p>
        </p:txBody>
      </p:sp>
      <p:sp>
        <p:nvSpPr>
          <p:cNvPr id="16" name="Shape 14"/>
          <p:cNvSpPr/>
          <p:nvPr/>
        </p:nvSpPr>
        <p:spPr>
          <a:xfrm>
            <a:off x="3383280" y="4114800"/>
            <a:ext cx="2606040" cy="1417320"/>
          </a:xfrm>
          <a:prstGeom prst="roundRect">
            <a:avLst>
              <a:gd name="adj" fmla="val 5806"/>
            </a:avLst>
          </a:prstGeom>
          <a:solidFill>
            <a:srgbClr val="ECEAE4"/>
          </a:solidFill>
          <a:ln w="12700">
            <a:solidFill>
              <a:srgbClr val="ECEAE4"/>
            </a:solidFill>
            <a:prstDash val="solid"/>
          </a:ln>
        </p:spPr>
        <p:txBody>
          <a:bodyPr/>
          <a:p/>
        </p:txBody>
      </p:sp>
      <p:sp>
        <p:nvSpPr>
          <p:cNvPr id="17" name="Text 15"/>
          <p:cNvSpPr/>
          <p:nvPr/>
        </p:nvSpPr>
        <p:spPr>
          <a:xfrm>
            <a:off x="3566160" y="4224528"/>
            <a:ext cx="2286000" cy="365760"/>
          </a:xfrm>
          <a:prstGeom prst="rect">
            <a:avLst/>
          </a:prstGeom>
          <a:noFill/>
          <a:ln/>
        </p:spPr>
        <p:txBody>
          <a:bodyPr wrap="square" lIns="0" tIns="0" rIns="0" bIns="0" rtlCol="0" anchor="t"/>
          <a:lstStyle/>
          <a:p>
            <a:pPr indent="0" marL="0">
              <a:buNone/>
            </a:pPr>
            <a:r>
              <a:rPr lang="en-US" sz="1400" b="1" dirty="0">
                <a:solidFill>
                  <a:srgbClr val="0E7C6B"/>
                </a:solidFill>
                <a:latin typeface="Palatino Linotype" pitchFamily="34" charset="0"/>
                <a:ea typeface="Palatino Linotype" pitchFamily="34" charset="-122"/>
                <a:cs typeface="Palatino Linotype" pitchFamily="34" charset="-120"/>
              </a:rPr>
              <a:t>Cât</a:t>
            </a:r>
            <a:endParaRPr lang="en-US" sz="1400" dirty="0"/>
          </a:p>
        </p:txBody>
      </p:sp>
      <p:sp>
        <p:nvSpPr>
          <p:cNvPr id="18" name="Text 16"/>
          <p:cNvSpPr/>
          <p:nvPr/>
        </p:nvSpPr>
        <p:spPr>
          <a:xfrm>
            <a:off x="3566160" y="4663440"/>
            <a:ext cx="2286000" cy="77724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la jumătate</a:t>
            </a:r>
            <a:endParaRPr lang="en-US" sz="1800" dirty="0"/>
          </a:p>
        </p:txBody>
      </p:sp>
      <p:sp>
        <p:nvSpPr>
          <p:cNvPr id="19" name="Shape 17"/>
          <p:cNvSpPr/>
          <p:nvPr/>
        </p:nvSpPr>
        <p:spPr>
          <a:xfrm>
            <a:off x="6172200" y="4114800"/>
            <a:ext cx="2606040" cy="1417320"/>
          </a:xfrm>
          <a:prstGeom prst="roundRect">
            <a:avLst>
              <a:gd name="adj" fmla="val 5806"/>
            </a:avLst>
          </a:prstGeom>
          <a:solidFill>
            <a:srgbClr val="ECEAE4"/>
          </a:solidFill>
          <a:ln w="12700">
            <a:solidFill>
              <a:srgbClr val="ECEAE4"/>
            </a:solidFill>
            <a:prstDash val="solid"/>
          </a:ln>
        </p:spPr>
        <p:txBody>
          <a:bodyPr/>
          <a:p/>
        </p:txBody>
      </p:sp>
      <p:sp>
        <p:nvSpPr>
          <p:cNvPr id="20" name="Text 18"/>
          <p:cNvSpPr/>
          <p:nvPr/>
        </p:nvSpPr>
        <p:spPr>
          <a:xfrm>
            <a:off x="6355080" y="4224528"/>
            <a:ext cx="2286000" cy="365760"/>
          </a:xfrm>
          <a:prstGeom prst="rect">
            <a:avLst/>
          </a:prstGeom>
          <a:noFill/>
          <a:ln/>
        </p:spPr>
        <p:txBody>
          <a:bodyPr wrap="square" lIns="0" tIns="0" rIns="0" bIns="0" rtlCol="0" anchor="t"/>
          <a:lstStyle/>
          <a:p>
            <a:pPr indent="0" marL="0">
              <a:buNone/>
            </a:pPr>
            <a:r>
              <a:rPr lang="en-US" sz="1400" b="1" dirty="0">
                <a:solidFill>
                  <a:srgbClr val="0E7C6B"/>
                </a:solidFill>
                <a:latin typeface="Palatino Linotype" pitchFamily="34" charset="0"/>
                <a:ea typeface="Palatino Linotype" pitchFamily="34" charset="-122"/>
                <a:cs typeface="Palatino Linotype" pitchFamily="34" charset="-120"/>
              </a:rPr>
              <a:t>Până când</a:t>
            </a:r>
            <a:endParaRPr lang="en-US" sz="1400" dirty="0"/>
          </a:p>
        </p:txBody>
      </p:sp>
      <p:sp>
        <p:nvSpPr>
          <p:cNvPr id="21" name="Text 19"/>
          <p:cNvSpPr/>
          <p:nvPr/>
        </p:nvSpPr>
        <p:spPr>
          <a:xfrm>
            <a:off x="6355080" y="4663440"/>
            <a:ext cx="2286000" cy="77724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în trei luni</a:t>
            </a:r>
            <a:endParaRPr lang="en-US" sz="1800" dirty="0"/>
          </a:p>
        </p:txBody>
      </p:sp>
      <p:sp>
        <p:nvSpPr>
          <p:cNvPr id="22" name="Shape 20"/>
          <p:cNvSpPr/>
          <p:nvPr/>
        </p:nvSpPr>
        <p:spPr>
          <a:xfrm>
            <a:off x="8961120" y="4114800"/>
            <a:ext cx="2606040" cy="1417320"/>
          </a:xfrm>
          <a:prstGeom prst="roundRect">
            <a:avLst>
              <a:gd name="adj" fmla="val 5806"/>
            </a:avLst>
          </a:prstGeom>
          <a:solidFill>
            <a:srgbClr val="ECEAE4"/>
          </a:solidFill>
          <a:ln w="12700">
            <a:solidFill>
              <a:srgbClr val="ECEAE4"/>
            </a:solidFill>
            <a:prstDash val="solid"/>
          </a:ln>
        </p:spPr>
        <p:txBody>
          <a:bodyPr/>
          <a:p/>
        </p:txBody>
      </p:sp>
      <p:sp>
        <p:nvSpPr>
          <p:cNvPr id="23" name="Text 21"/>
          <p:cNvSpPr/>
          <p:nvPr/>
        </p:nvSpPr>
        <p:spPr>
          <a:xfrm>
            <a:off x="9144000" y="4224528"/>
            <a:ext cx="2286000" cy="365760"/>
          </a:xfrm>
          <a:prstGeom prst="rect">
            <a:avLst/>
          </a:prstGeom>
          <a:noFill/>
          <a:ln/>
        </p:spPr>
        <p:txBody>
          <a:bodyPr wrap="square" lIns="0" tIns="0" rIns="0" bIns="0" rtlCol="0" anchor="t"/>
          <a:lstStyle/>
          <a:p>
            <a:pPr indent="0" marL="0">
              <a:buNone/>
            </a:pPr>
            <a:r>
              <a:rPr lang="en-US" sz="1400" b="1" dirty="0">
                <a:solidFill>
                  <a:srgbClr val="0E7C6B"/>
                </a:solidFill>
                <a:latin typeface="Palatino Linotype" pitchFamily="34" charset="0"/>
                <a:ea typeface="Palatino Linotype" pitchFamily="34" charset="-122"/>
                <a:cs typeface="Palatino Linotype" pitchFamily="34" charset="-120"/>
              </a:rPr>
              <a:t>Cum se măsoară</a:t>
            </a:r>
            <a:endParaRPr lang="en-US" sz="1400" dirty="0"/>
          </a:p>
        </p:txBody>
      </p:sp>
      <p:sp>
        <p:nvSpPr>
          <p:cNvPr id="24" name="Text 22"/>
          <p:cNvSpPr/>
          <p:nvPr/>
        </p:nvSpPr>
        <p:spPr>
          <a:xfrm>
            <a:off x="9144000" y="4663440"/>
            <a:ext cx="2286000" cy="77724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registrul secției</a:t>
            </a:r>
            <a:endParaRPr lang="en-US" sz="1800" dirty="0"/>
          </a:p>
        </p:txBody>
      </p:sp>
      <p:sp>
        <p:nvSpPr>
          <p:cNvPr id="25" name="Text 23"/>
          <p:cNvSpPr/>
          <p:nvPr/>
        </p:nvSpPr>
        <p:spPr>
          <a:xfrm>
            <a:off x="594360" y="6053328"/>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Exemplu construit, pentru exercițiu; nu sunt valori dintr-un ghid.</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DOUĂ MINUTE, CU COLEGUL DE BANCĂ</a:t>
            </a:r>
            <a:endParaRPr lang="en-US" sz="1300" dirty="0"/>
          </a:p>
        </p:txBody>
      </p:sp>
      <p:sp>
        <p:nvSpPr>
          <p:cNvPr id="5" name="Text 3"/>
          <p:cNvSpPr/>
          <p:nvPr/>
        </p:nvSpPr>
        <p:spPr>
          <a:xfrm>
            <a:off x="594360" y="777240"/>
            <a:ext cx="7863840" cy="82296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Încă un obiectiv pentru același scop</a:t>
            </a:r>
            <a:endParaRPr lang="en-US" sz="3400" dirty="0"/>
          </a:p>
        </p:txBody>
      </p:sp>
      <p:sp>
        <p:nvSpPr>
          <p:cNvPr id="6" name="Shape 4"/>
          <p:cNvSpPr/>
          <p:nvPr/>
        </p:nvSpPr>
        <p:spPr>
          <a:xfrm rot="-60000">
            <a:off x="822960" y="1783080"/>
            <a:ext cx="10515600" cy="1371600"/>
          </a:xfrm>
          <a:prstGeom prst="rect">
            <a:avLst/>
          </a:prstGeom>
          <a:solidFill>
            <a:srgbClr val="FBF8F1"/>
          </a:solidFill>
          <a:ln w="9525">
            <a:solidFill>
              <a:srgbClr val="E4DFD2"/>
            </a:solidFill>
            <a:prstDash val="solid"/>
          </a:ln>
          <a:effectLst>
            <a:outerShdw sx="100000" sy="100000" kx="0" ky="0" algn="bl" rotWithShape="0" blurRad="101600" dist="50800" dir="3600000">
              <a:srgbClr val="000000">
                <a:alpha val="40000"/>
              </a:srgbClr>
            </a:outerShdw>
          </a:effectLst>
        </p:spPr>
        <p:txBody>
          <a:bodyPr/>
          <a:p/>
        </p:txBody>
      </p:sp>
      <p:sp>
        <p:nvSpPr>
          <p:cNvPr id="7" name="Text 5"/>
          <p:cNvSpPr/>
          <p:nvPr/>
        </p:nvSpPr>
        <p:spPr>
          <a:xfrm rot="-60000">
            <a:off x="1188720" y="1783080"/>
            <a:ext cx="9784080" cy="1371600"/>
          </a:xfrm>
          <a:prstGeom prst="rect">
            <a:avLst/>
          </a:prstGeom>
          <a:noFill/>
          <a:ln/>
        </p:spPr>
        <p:txBody>
          <a:bodyPr wrap="square" lIns="0" tIns="0" rIns="0" bIns="0" rtlCol="0" anchor="ctr"/>
          <a:lstStyle/>
          <a:p>
            <a:pPr indent="0" marL="0">
              <a:buNone/>
            </a:pPr>
            <a:r>
              <a:rPr lang="en-US" sz="2700" i="1" dirty="0">
                <a:solidFill>
                  <a:srgbClr val="11121A"/>
                </a:solidFill>
                <a:latin typeface="Palatino Linotype" pitchFamily="34" charset="0"/>
                <a:ea typeface="Palatino Linotype" pitchFamily="34" charset="-122"/>
                <a:cs typeface="Palatino Linotype" pitchFamily="34" charset="-120"/>
              </a:rPr>
              <a:t>„pacienții să fie mai bine pregătiți pentru examenul CT”</a:t>
            </a:r>
            <a:endParaRPr lang="en-US" sz="2700" dirty="0"/>
          </a:p>
        </p:txBody>
      </p:sp>
      <p:sp>
        <p:nvSpPr>
          <p:cNvPr id="8" name="Text 6"/>
          <p:cNvSpPr/>
          <p:nvPr/>
        </p:nvSpPr>
        <p:spPr>
          <a:xfrm>
            <a:off x="594360" y="3611880"/>
            <a:ext cx="10972800" cy="1645920"/>
          </a:xfrm>
          <a:prstGeom prst="rect">
            <a:avLst/>
          </a:prstGeom>
          <a:noFill/>
          <a:ln/>
        </p:spPr>
        <p:txBody>
          <a:bodyPr wrap="square" lIns="0" tIns="0" rIns="0" bIns="0" rtlCol="0" anchor="t"/>
          <a:lstStyle/>
          <a:p>
            <a:pPr indent="0" marL="0">
              <a:buNone/>
            </a:pPr>
            <a:r>
              <a:rPr lang="en-US" sz="2100" dirty="0">
                <a:solidFill>
                  <a:srgbClr val="D5D8E2"/>
                </a:solidFill>
                <a:latin typeface="Palatino Linotype" pitchFamily="34" charset="0"/>
                <a:ea typeface="Palatino Linotype" pitchFamily="34" charset="-122"/>
                <a:cs typeface="Palatino Linotype" pitchFamily="34" charset="-120"/>
              </a:rPr>
              <a:t>Scrieți alt obiectiv măsurabil pentru același scop: alt indicator, alt termen. Verificați-vă reciproc: se poate spune, la data stabilită, „da” sau „nu”? Trei perechi citesc obiectivul, iar sala spune ce lipsește.</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1828800"/>
            <a:ext cx="10972800" cy="1463040"/>
          </a:xfrm>
          <a:prstGeom prst="rect">
            <a:avLst/>
          </a:prstGeom>
          <a:noFill/>
          <a:ln/>
        </p:spPr>
        <p:txBody>
          <a:bodyPr wrap="square" lIns="0" tIns="0" rIns="0" bIns="0" rtlCol="0" anchor="ctr"/>
          <a:lstStyle/>
          <a:p>
            <a:pPr algn="ctr" indent="0" marL="0">
              <a:buNone/>
            </a:pPr>
            <a:r>
              <a:rPr lang="en-US" sz="8000" b="1" dirty="0">
                <a:solidFill>
                  <a:srgbClr val="FFFFFF"/>
                </a:solidFill>
                <a:latin typeface="Palatino Linotype" pitchFamily="34" charset="0"/>
                <a:ea typeface="Palatino Linotype" pitchFamily="34" charset="-122"/>
                <a:cs typeface="Palatino Linotype" pitchFamily="34" charset="-120"/>
              </a:rPr>
              <a:t>Pauză</a:t>
            </a:r>
            <a:endParaRPr lang="en-US" sz="8000" dirty="0"/>
          </a:p>
        </p:txBody>
      </p:sp>
      <p:sp>
        <p:nvSpPr>
          <p:cNvPr id="3" name="Text 1"/>
          <p:cNvSpPr/>
          <p:nvPr/>
        </p:nvSpPr>
        <p:spPr>
          <a:xfrm>
            <a:off x="594360" y="3566160"/>
            <a:ext cx="10972800" cy="640080"/>
          </a:xfrm>
          <a:prstGeom prst="rect">
            <a:avLst/>
          </a:prstGeom>
          <a:noFill/>
          <a:ln/>
        </p:spPr>
        <p:txBody>
          <a:bodyPr wrap="square" lIns="0" tIns="0" rIns="0" bIns="0" rtlCol="0" anchor="t"/>
          <a:lstStyle/>
          <a:p>
            <a:pPr algn="ctr" indent="0" marL="0">
              <a:buNone/>
            </a:pPr>
            <a:r>
              <a:rPr lang="en-US" sz="2200" dirty="0">
                <a:solidFill>
                  <a:srgbClr val="27D3BE"/>
                </a:solidFill>
                <a:latin typeface="Palatino Linotype" pitchFamily="34" charset="0"/>
                <a:ea typeface="Palatino Linotype" pitchFamily="34" charset="-122"/>
                <a:cs typeface="Palatino Linotype" pitchFamily="34" charset="-120"/>
              </a:rPr>
              <a:t>Reluăm cu principiile, echitatea și comunicarea riscului.</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PRINCIPII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Cum învață adulții și cum scriem pe înțelesul tuturor</a:t>
            </a:r>
            <a:endParaRPr lang="en-US" sz="2800" dirty="0"/>
          </a:p>
        </p:txBody>
      </p:sp>
      <p:sp>
        <p:nvSpPr>
          <p:cNvPr id="4" name="Shape 2"/>
          <p:cNvSpPr/>
          <p:nvPr/>
        </p:nvSpPr>
        <p:spPr>
          <a:xfrm>
            <a:off x="594360" y="1691640"/>
            <a:ext cx="5486400" cy="4023360"/>
          </a:xfrm>
          <a:prstGeom prst="roundRect">
            <a:avLst>
              <a:gd name="adj" fmla="val 2045"/>
            </a:avLst>
          </a:prstGeom>
          <a:solidFill>
            <a:srgbClr val="ECEAE4"/>
          </a:solidFill>
          <a:ln w="12700">
            <a:solidFill>
              <a:srgbClr val="ECEAE4"/>
            </a:solidFill>
            <a:prstDash val="solid"/>
          </a:ln>
        </p:spPr>
        <p:txBody>
          <a:bodyPr/>
          <a:p/>
        </p:txBody>
      </p:sp>
      <p:sp>
        <p:nvSpPr>
          <p:cNvPr id="5" name="Text 3"/>
          <p:cNvSpPr/>
          <p:nvPr/>
        </p:nvSpPr>
        <p:spPr>
          <a:xfrm>
            <a:off x="868680" y="1828800"/>
            <a:ext cx="5029200" cy="41148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Patru consecințe practice</a:t>
            </a:r>
            <a:endParaRPr lang="en-US" sz="1900" dirty="0"/>
          </a:p>
        </p:txBody>
      </p:sp>
      <p:sp>
        <p:nvSpPr>
          <p:cNvPr id="6" name="Shape 4"/>
          <p:cNvSpPr/>
          <p:nvPr/>
        </p:nvSpPr>
        <p:spPr>
          <a:xfrm>
            <a:off x="868680" y="2423160"/>
            <a:ext cx="420624" cy="420624"/>
          </a:xfrm>
          <a:prstGeom prst="ellipse">
            <a:avLst/>
          </a:prstGeom>
          <a:solidFill>
            <a:srgbClr val="0E7C6B"/>
          </a:solidFill>
          <a:ln/>
        </p:spPr>
        <p:txBody>
          <a:bodyPr/>
          <a:p/>
        </p:txBody>
      </p:sp>
      <p:sp>
        <p:nvSpPr>
          <p:cNvPr id="7" name="Text 5"/>
          <p:cNvSpPr/>
          <p:nvPr/>
        </p:nvSpPr>
        <p:spPr>
          <a:xfrm>
            <a:off x="868680" y="24231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463040" y="2377440"/>
            <a:ext cx="4434840" cy="777240"/>
          </a:xfrm>
          <a:prstGeom prst="rect">
            <a:avLst/>
          </a:prstGeom>
          <a:noFill/>
          <a:ln/>
        </p:spPr>
        <p:txBody>
          <a:bodyPr wrap="square" lIns="0" tIns="0" rIns="0" bIns="0" rtlCol="0" anchor="ctr"/>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Spuneți de ce. </a:t>
            </a:r>
            <a:pPr indent="0" marL="0">
              <a:buNone/>
            </a:pPr>
            <a:endParaRPr lang="en-US" sz="1550" dirty="0"/>
          </a:p>
        </p:txBody>
      </p:sp>
      <p:sp>
        <p:nvSpPr>
          <p:cNvPr id="9" name="Shape 7"/>
          <p:cNvSpPr/>
          <p:nvPr/>
        </p:nvSpPr>
        <p:spPr>
          <a:xfrm>
            <a:off x="868680" y="3246120"/>
            <a:ext cx="420624" cy="420624"/>
          </a:xfrm>
          <a:prstGeom prst="ellipse">
            <a:avLst/>
          </a:prstGeom>
          <a:solidFill>
            <a:srgbClr val="0E7C6B"/>
          </a:solidFill>
          <a:ln/>
        </p:spPr>
        <p:txBody>
          <a:bodyPr/>
          <a:p/>
        </p:txBody>
      </p:sp>
      <p:sp>
        <p:nvSpPr>
          <p:cNvPr id="10" name="Text 8"/>
          <p:cNvSpPr/>
          <p:nvPr/>
        </p:nvSpPr>
        <p:spPr>
          <a:xfrm>
            <a:off x="868680" y="32461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3200400"/>
            <a:ext cx="4434840" cy="777240"/>
          </a:xfrm>
          <a:prstGeom prst="rect">
            <a:avLst/>
          </a:prstGeom>
          <a:noFill/>
          <a:ln/>
        </p:spPr>
        <p:txBody>
          <a:bodyPr wrap="square" lIns="0" tIns="0" rIns="0" bIns="0" rtlCol="0" anchor="ctr"/>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Porniți de la experiența persoanei: </a:t>
            </a:r>
            <a:pPr indent="0" marL="0">
              <a:buNone/>
            </a:pPr>
            <a:r>
              <a:rPr lang="en-US" sz="1550" dirty="0">
                <a:solidFill>
                  <a:srgbClr val="11121A"/>
                </a:solidFill>
                <a:latin typeface="Palatino Linotype" pitchFamily="34" charset="0"/>
                <a:ea typeface="Palatino Linotype" pitchFamily="34" charset="-122"/>
                <a:cs typeface="Palatino Linotype" pitchFamily="34" charset="-120"/>
              </a:rPr>
              <a:t>„Ce ați mai încercat până acum? Ce a mers?”</a:t>
            </a:r>
            <a:endParaRPr lang="en-US" sz="1550" dirty="0"/>
          </a:p>
        </p:txBody>
      </p:sp>
      <p:sp>
        <p:nvSpPr>
          <p:cNvPr id="12" name="Shape 10"/>
          <p:cNvSpPr/>
          <p:nvPr/>
        </p:nvSpPr>
        <p:spPr>
          <a:xfrm>
            <a:off x="868680" y="4069080"/>
            <a:ext cx="420624" cy="420624"/>
          </a:xfrm>
          <a:prstGeom prst="ellipse">
            <a:avLst/>
          </a:prstGeom>
          <a:solidFill>
            <a:srgbClr val="0E7C6B"/>
          </a:solidFill>
          <a:ln/>
        </p:spPr>
        <p:txBody>
          <a:bodyPr/>
          <a:p/>
        </p:txBody>
      </p:sp>
      <p:sp>
        <p:nvSpPr>
          <p:cNvPr id="13" name="Text 11"/>
          <p:cNvSpPr/>
          <p:nvPr/>
        </p:nvSpPr>
        <p:spPr>
          <a:xfrm>
            <a:off x="868680" y="40690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4" name="Text 12"/>
          <p:cNvSpPr/>
          <p:nvPr/>
        </p:nvSpPr>
        <p:spPr>
          <a:xfrm>
            <a:off x="1463040" y="4023360"/>
            <a:ext cx="4434840" cy="777240"/>
          </a:xfrm>
          <a:prstGeom prst="rect">
            <a:avLst/>
          </a:prstGeom>
          <a:noFill/>
          <a:ln/>
        </p:spPr>
        <p:txBody>
          <a:bodyPr wrap="square" lIns="0" tIns="0" rIns="0" bIns="0" rtlCol="0" anchor="ctr"/>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Lucrați pe probleme reale. </a:t>
            </a:r>
            <a:pPr indent="0" marL="0">
              <a:buNone/>
            </a:pPr>
            <a:endParaRPr lang="en-US" sz="1550" dirty="0"/>
          </a:p>
        </p:txBody>
      </p:sp>
      <p:sp>
        <p:nvSpPr>
          <p:cNvPr id="15" name="Shape 13"/>
          <p:cNvSpPr/>
          <p:nvPr/>
        </p:nvSpPr>
        <p:spPr>
          <a:xfrm>
            <a:off x="868680" y="4892040"/>
            <a:ext cx="420624" cy="420624"/>
          </a:xfrm>
          <a:prstGeom prst="ellipse">
            <a:avLst/>
          </a:prstGeom>
          <a:solidFill>
            <a:srgbClr val="0E7C6B"/>
          </a:solidFill>
          <a:ln/>
        </p:spPr>
        <p:txBody>
          <a:bodyPr/>
          <a:p/>
        </p:txBody>
      </p:sp>
      <p:sp>
        <p:nvSpPr>
          <p:cNvPr id="16" name="Text 14"/>
          <p:cNvSpPr/>
          <p:nvPr/>
        </p:nvSpPr>
        <p:spPr>
          <a:xfrm>
            <a:off x="868680" y="48920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7" name="Text 15"/>
          <p:cNvSpPr/>
          <p:nvPr/>
        </p:nvSpPr>
        <p:spPr>
          <a:xfrm>
            <a:off x="1463040" y="4846320"/>
            <a:ext cx="4434840" cy="777240"/>
          </a:xfrm>
          <a:prstGeom prst="rect">
            <a:avLst/>
          </a:prstGeom>
          <a:noFill/>
          <a:ln/>
        </p:spPr>
        <p:txBody>
          <a:bodyPr wrap="square" lIns="0" tIns="0" rIns="0" bIns="0" rtlCol="0" anchor="ctr"/>
          <a:lstStyle/>
          <a:p>
            <a:pPr indent="0" marL="0">
              <a:buNone/>
            </a:pPr>
            <a:r>
              <a:rPr lang="en-US" sz="1550" b="1" dirty="0">
                <a:solidFill>
                  <a:srgbClr val="11121A"/>
                </a:solidFill>
                <a:latin typeface="Palatino Linotype" pitchFamily="34" charset="0"/>
                <a:ea typeface="Palatino Linotype" pitchFamily="34" charset="-122"/>
                <a:cs typeface="Palatino Linotype" pitchFamily="34" charset="-120"/>
              </a:rPr>
              <a:t>Construiți planul împreună: </a:t>
            </a:r>
            <a:pPr indent="0" marL="0">
              <a:buNone/>
            </a:pPr>
            <a:r>
              <a:rPr lang="en-US" sz="1550" dirty="0">
                <a:solidFill>
                  <a:srgbClr val="11121A"/>
                </a:solidFill>
                <a:latin typeface="Palatino Linotype" pitchFamily="34" charset="0"/>
                <a:ea typeface="Palatino Linotype" pitchFamily="34" charset="-122"/>
                <a:cs typeface="Palatino Linotype" pitchFamily="34" charset="-120"/>
              </a:rPr>
              <a:t>persoana alege ora, locul, felul în care își notează.</a:t>
            </a:r>
            <a:endParaRPr lang="en-US" sz="1550" dirty="0"/>
          </a:p>
        </p:txBody>
      </p:sp>
      <p:sp>
        <p:nvSpPr>
          <p:cNvPr id="18" name="Text 16"/>
          <p:cNvSpPr/>
          <p:nvPr/>
        </p:nvSpPr>
        <p:spPr>
          <a:xfrm>
            <a:off x="6400800" y="1554480"/>
            <a:ext cx="2377440" cy="1463040"/>
          </a:xfrm>
          <a:prstGeom prst="rect">
            <a:avLst/>
          </a:prstGeom>
          <a:noFill/>
          <a:ln/>
        </p:spPr>
        <p:txBody>
          <a:bodyPr wrap="square" lIns="0" tIns="0" rIns="0" bIns="0" rtlCol="0" anchor="ctr"/>
          <a:lstStyle/>
          <a:p>
            <a:pPr indent="0" marL="0">
              <a:buNone/>
            </a:pPr>
            <a:r>
              <a:rPr lang="en-US" sz="9600" b="1" dirty="0">
                <a:solidFill>
                  <a:srgbClr val="B02532"/>
                </a:solidFill>
                <a:latin typeface="Palatino Linotype" pitchFamily="34" charset="0"/>
                <a:ea typeface="Palatino Linotype" pitchFamily="34" charset="-122"/>
                <a:cs typeface="Palatino Linotype" pitchFamily="34" charset="-120"/>
              </a:rPr>
              <a:t>20</a:t>
            </a:r>
            <a:endParaRPr lang="en-US" sz="9600" dirty="0"/>
          </a:p>
        </p:txBody>
      </p:sp>
      <p:sp>
        <p:nvSpPr>
          <p:cNvPr id="19" name="Text 17"/>
          <p:cNvSpPr/>
          <p:nvPr/>
        </p:nvSpPr>
        <p:spPr>
          <a:xfrm>
            <a:off x="8869680" y="1691640"/>
            <a:ext cx="2743200" cy="137160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criterii notate, plus 4 întrebări introductive: indicele de comunicare clară al CDC, pentru materialele de comunicare publică.</a:t>
            </a:r>
            <a:endParaRPr lang="en-US" sz="1450" dirty="0"/>
          </a:p>
        </p:txBody>
      </p:sp>
      <p:sp>
        <p:nvSpPr>
          <p:cNvPr id="20" name="Shape 18"/>
          <p:cNvSpPr/>
          <p:nvPr/>
        </p:nvSpPr>
        <p:spPr>
          <a:xfrm>
            <a:off x="6400800" y="3200400"/>
            <a:ext cx="5166360" cy="548640"/>
          </a:xfrm>
          <a:prstGeom prst="roundRect">
            <a:avLst>
              <a:gd name="adj" fmla="val 15000"/>
            </a:avLst>
          </a:prstGeom>
          <a:solidFill>
            <a:srgbClr val="ECEAE4"/>
          </a:solidFill>
          <a:ln w="12700">
            <a:solidFill>
              <a:srgbClr val="ECEAE4"/>
            </a:solidFill>
            <a:prstDash val="solid"/>
          </a:ln>
        </p:spPr>
        <p:txBody>
          <a:bodyPr/>
          <a:p/>
        </p:txBody>
      </p:sp>
      <p:sp>
        <p:nvSpPr>
          <p:cNvPr id="21" name="Text 19"/>
          <p:cNvSpPr/>
          <p:nvPr/>
        </p:nvSpPr>
        <p:spPr>
          <a:xfrm>
            <a:off x="6629400" y="3200400"/>
            <a:ext cx="4754880" cy="54864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Mesajul principal stă la început.</a:t>
            </a:r>
            <a:endParaRPr lang="en-US" sz="1600" dirty="0"/>
          </a:p>
        </p:txBody>
      </p:sp>
      <p:sp>
        <p:nvSpPr>
          <p:cNvPr id="22" name="Shape 20"/>
          <p:cNvSpPr/>
          <p:nvPr/>
        </p:nvSpPr>
        <p:spPr>
          <a:xfrm>
            <a:off x="6400800" y="3840480"/>
            <a:ext cx="5166360" cy="548640"/>
          </a:xfrm>
          <a:prstGeom prst="roundRect">
            <a:avLst>
              <a:gd name="adj" fmla="val 15000"/>
            </a:avLst>
          </a:prstGeom>
          <a:solidFill>
            <a:srgbClr val="ECEAE4"/>
          </a:solidFill>
          <a:ln w="12700">
            <a:solidFill>
              <a:srgbClr val="ECEAE4"/>
            </a:solidFill>
            <a:prstDash val="solid"/>
          </a:ln>
        </p:spPr>
        <p:txBody>
          <a:bodyPr/>
          <a:p/>
        </p:txBody>
      </p:sp>
      <p:sp>
        <p:nvSpPr>
          <p:cNvPr id="23" name="Text 21"/>
          <p:cNvSpPr/>
          <p:nvPr/>
        </p:nvSpPr>
        <p:spPr>
          <a:xfrm>
            <a:off x="6629400" y="3840480"/>
            <a:ext cx="4754880" cy="54864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Acțiunile cerute sunt spuse exact.</a:t>
            </a:r>
            <a:endParaRPr lang="en-US" sz="1600" dirty="0"/>
          </a:p>
        </p:txBody>
      </p:sp>
      <p:sp>
        <p:nvSpPr>
          <p:cNvPr id="24" name="Shape 22"/>
          <p:cNvSpPr/>
          <p:nvPr/>
        </p:nvSpPr>
        <p:spPr>
          <a:xfrm>
            <a:off x="6400800" y="4480560"/>
            <a:ext cx="5166360" cy="548640"/>
          </a:xfrm>
          <a:prstGeom prst="roundRect">
            <a:avLst>
              <a:gd name="adj" fmla="val 15000"/>
            </a:avLst>
          </a:prstGeom>
          <a:solidFill>
            <a:srgbClr val="ECEAE4"/>
          </a:solidFill>
          <a:ln w="12700">
            <a:solidFill>
              <a:srgbClr val="ECEAE4"/>
            </a:solidFill>
            <a:prstDash val="solid"/>
          </a:ln>
        </p:spPr>
        <p:txBody>
          <a:bodyPr/>
          <a:p/>
        </p:txBody>
      </p:sp>
      <p:sp>
        <p:nvSpPr>
          <p:cNvPr id="25" name="Text 23"/>
          <p:cNvSpPr/>
          <p:nvPr/>
        </p:nvSpPr>
        <p:spPr>
          <a:xfrm>
            <a:off x="6629400" y="4480560"/>
            <a:ext cx="4754880" cy="54864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Cifrele sunt explicate.</a:t>
            </a:r>
            <a:endParaRPr lang="en-US" sz="1600" dirty="0"/>
          </a:p>
        </p:txBody>
      </p:sp>
      <p:sp>
        <p:nvSpPr>
          <p:cNvPr id="26" name="Shape 24"/>
          <p:cNvSpPr/>
          <p:nvPr/>
        </p:nvSpPr>
        <p:spPr>
          <a:xfrm>
            <a:off x="6400800" y="5120640"/>
            <a:ext cx="5166360" cy="548640"/>
          </a:xfrm>
          <a:prstGeom prst="roundRect">
            <a:avLst>
              <a:gd name="adj" fmla="val 15000"/>
            </a:avLst>
          </a:prstGeom>
          <a:solidFill>
            <a:srgbClr val="ECEAE4"/>
          </a:solidFill>
          <a:ln w="12700">
            <a:solidFill>
              <a:srgbClr val="ECEAE4"/>
            </a:solidFill>
            <a:prstDash val="solid"/>
          </a:ln>
        </p:spPr>
        <p:txBody>
          <a:bodyPr/>
          <a:p/>
        </p:txBody>
      </p:sp>
      <p:sp>
        <p:nvSpPr>
          <p:cNvPr id="27" name="Text 25"/>
          <p:cNvSpPr/>
          <p:nvPr/>
        </p:nvSpPr>
        <p:spPr>
          <a:xfrm>
            <a:off x="6629400" y="5120640"/>
            <a:ext cx="4754880" cy="548640"/>
          </a:xfrm>
          <a:prstGeom prst="rect">
            <a:avLst/>
          </a:prstGeom>
          <a:noFill/>
          <a:ln/>
        </p:spPr>
        <p:txBody>
          <a:bodyPr wrap="square" lIns="0" tIns="0" rIns="0" bIns="0" rtlCol="0" anchor="ctr"/>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Imaginile ajută, nu decorează.</a:t>
            </a:r>
            <a:endParaRPr lang="en-US" sz="1600" dirty="0"/>
          </a:p>
        </p:txBody>
      </p:sp>
      <p:sp>
        <p:nvSpPr>
          <p:cNvPr id="28" name="Text 26"/>
          <p:cNvSpPr/>
          <p:nvPr/>
        </p:nvSpPr>
        <p:spPr>
          <a:xfrm>
            <a:off x="594360" y="5989320"/>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Ideea e legată de numele lui Malcolm Knowles; termenul „andragogie” a fost criticat, pentru că o parte din principii se aplică și copiilor.</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ECHITATEA</a:t>
            </a:r>
            <a:endParaRPr lang="en-US" sz="1300" dirty="0"/>
          </a:p>
        </p:txBody>
      </p:sp>
      <p:sp>
        <p:nvSpPr>
          <p:cNvPr id="3" name="Text 1"/>
          <p:cNvSpPr/>
          <p:nvPr/>
        </p:nvSpPr>
        <p:spPr>
          <a:xfrm>
            <a:off x="594360" y="868680"/>
            <a:ext cx="6400800" cy="1371600"/>
          </a:xfrm>
          <a:prstGeom prst="rect">
            <a:avLst/>
          </a:prstGeom>
          <a:noFill/>
          <a:ln/>
        </p:spPr>
        <p:txBody>
          <a:bodyPr wrap="square" lIns="0" tIns="0" rIns="0" bIns="0" rtlCol="0" anchor="ctr"/>
          <a:lstStyle/>
          <a:p>
            <a:pPr indent="0" marL="0">
              <a:buNone/>
            </a:pPr>
            <a:r>
              <a:rPr lang="en-US" sz="6400" b="1" dirty="0">
                <a:solidFill>
                  <a:srgbClr val="FF4757"/>
                </a:solidFill>
                <a:latin typeface="Palatino Linotype" pitchFamily="34" charset="0"/>
                <a:ea typeface="Palatino Linotype" pitchFamily="34" charset="-122"/>
                <a:cs typeface="Palatino Linotype" pitchFamily="34" charset="-120"/>
              </a:rPr>
              <a:t>1,3 miliarde</a:t>
            </a:r>
            <a:endParaRPr lang="en-US" sz="6400" dirty="0"/>
          </a:p>
        </p:txBody>
      </p:sp>
      <p:sp>
        <p:nvSpPr>
          <p:cNvPr id="4" name="Text 2"/>
          <p:cNvSpPr/>
          <p:nvPr/>
        </p:nvSpPr>
        <p:spPr>
          <a:xfrm>
            <a:off x="594360" y="2286000"/>
            <a:ext cx="5760720" cy="1188720"/>
          </a:xfrm>
          <a:prstGeom prst="rect">
            <a:avLst/>
          </a:prstGeom>
          <a:noFill/>
          <a:ln/>
        </p:spPr>
        <p:txBody>
          <a:bodyPr wrap="square" lIns="0" tIns="0" rIns="0" bIns="0" rtlCol="0" anchor="t"/>
          <a:lstStyle/>
          <a:p>
            <a:pPr indent="0" marL="0">
              <a:buNone/>
            </a:pPr>
            <a:r>
              <a:rPr lang="en-US" sz="2000" dirty="0">
                <a:solidFill>
                  <a:srgbClr val="E6E8EF"/>
                </a:solidFill>
                <a:latin typeface="Palatino Linotype" pitchFamily="34" charset="0"/>
                <a:ea typeface="Palatino Linotype" pitchFamily="34" charset="-122"/>
                <a:cs typeface="Palatino Linotype" pitchFamily="34" charset="-120"/>
              </a:rPr>
              <a:t>de oameni trăiesc cu o dizabilitate semnificativă: 16% din populația lumii, unul din șase oameni.</a:t>
            </a:r>
            <a:endParaRPr lang="en-US" sz="2000" dirty="0"/>
          </a:p>
        </p:txBody>
      </p:sp>
      <p:sp>
        <p:nvSpPr>
          <p:cNvPr id="5" name="Shape 3"/>
          <p:cNvSpPr/>
          <p:nvPr/>
        </p:nvSpPr>
        <p:spPr>
          <a:xfrm>
            <a:off x="6675120" y="914400"/>
            <a:ext cx="4892040" cy="2743200"/>
          </a:xfrm>
          <a:prstGeom prst="roundRect">
            <a:avLst>
              <a:gd name="adj" fmla="val 3000"/>
            </a:avLst>
          </a:prstGeom>
          <a:solidFill>
            <a:srgbClr val="1D1F2B"/>
          </a:solidFill>
          <a:ln w="12700">
            <a:solidFill>
              <a:srgbClr val="1D1F2B"/>
            </a:solidFill>
            <a:prstDash val="solid"/>
          </a:ln>
        </p:spPr>
        <p:txBody>
          <a:bodyPr/>
          <a:p/>
        </p:txBody>
      </p:sp>
      <p:sp>
        <p:nvSpPr>
          <p:cNvPr id="6" name="Text 4"/>
          <p:cNvSpPr/>
          <p:nvPr/>
        </p:nvSpPr>
        <p:spPr>
          <a:xfrm>
            <a:off x="6903720" y="1051560"/>
            <a:ext cx="4480560" cy="4114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Un material bun înseamnă</a:t>
            </a:r>
            <a:endParaRPr lang="en-US" sz="1700" dirty="0"/>
          </a:p>
        </p:txBody>
      </p:sp>
      <p:sp>
        <p:nvSpPr>
          <p:cNvPr id="7" name="Text 5"/>
          <p:cNvSpPr/>
          <p:nvPr/>
        </p:nvSpPr>
        <p:spPr>
          <a:xfrm>
            <a:off x="6903720" y="1554480"/>
            <a:ext cx="4480560" cy="2011680"/>
          </a:xfrm>
          <a:prstGeom prst="rect">
            <a:avLst/>
          </a:prstGeom>
          <a:noFill/>
          <a:ln/>
        </p:spPr>
        <p:txBody>
          <a:bodyPr wrap="square" lIns="0" tIns="0" rIns="0" bIns="0" rtlCol="0" anchor="t"/>
          <a:lstStyle/>
          <a:p>
            <a:pPr marL="342900" indent="-342900">
              <a:spcAft>
                <a:spcPts val="500"/>
              </a:spcAft>
              <a:buSzPct val="100000"/>
              <a:buChar char="•"/>
            </a:pPr>
            <a:r>
              <a:rPr lang="en-US" sz="1650" dirty="0">
                <a:solidFill>
                  <a:srgbClr val="FFFFFF"/>
                </a:solidFill>
                <a:latin typeface="Palatino Linotype" pitchFamily="34" charset="0"/>
                <a:ea typeface="Palatino Linotype" pitchFamily="34" charset="-122"/>
                <a:cs typeface="Palatino Linotype" pitchFamily="34" charset="-120"/>
              </a:rPr>
              <a:t>litere mari și contrast puternic</a:t>
            </a:r>
            <a:endParaRPr lang="en-US" sz="1650" dirty="0"/>
          </a:p>
          <a:p>
            <a:pPr marL="342900" indent="-342900">
              <a:spcAft>
                <a:spcPts val="500"/>
              </a:spcAft>
              <a:buSzPct val="100000"/>
              <a:buChar char="•"/>
            </a:pPr>
            <a:r>
              <a:rPr lang="en-US" sz="1650" dirty="0">
                <a:solidFill>
                  <a:srgbClr val="FFFFFF"/>
                </a:solidFill>
                <a:latin typeface="Palatino Linotype" pitchFamily="34" charset="0"/>
                <a:ea typeface="Palatino Linotype" pitchFamily="34" charset="-122"/>
                <a:cs typeface="Palatino Linotype" pitchFamily="34" charset="-120"/>
              </a:rPr>
              <a:t>subtitrări la clipuri</a:t>
            </a:r>
            <a:endParaRPr lang="en-US" sz="1650" dirty="0"/>
          </a:p>
          <a:p>
            <a:pPr marL="342900" indent="-342900">
              <a:spcAft>
                <a:spcPts val="500"/>
              </a:spcAft>
              <a:buSzPct val="100000"/>
              <a:buChar char="•"/>
            </a:pPr>
            <a:r>
              <a:rPr lang="en-US" sz="1650" dirty="0">
                <a:solidFill>
                  <a:srgbClr val="FFFFFF"/>
                </a:solidFill>
                <a:latin typeface="Palatino Linotype" pitchFamily="34" charset="0"/>
                <a:ea typeface="Palatino Linotype" pitchFamily="34" charset="-122"/>
                <a:cs typeface="Palatino Linotype" pitchFamily="34" charset="-120"/>
              </a:rPr>
              <a:t>o sală în care se poate intra cu un cadru de mers</a:t>
            </a:r>
            <a:endParaRPr lang="en-US" sz="1650" dirty="0"/>
          </a:p>
          <a:p>
            <a:pPr marL="342900" indent="-342900">
              <a:spcAft>
                <a:spcPts val="500"/>
              </a:spcAft>
              <a:buSzPct val="100000"/>
              <a:buChar char="•"/>
            </a:pPr>
            <a:r>
              <a:rPr lang="en-US" sz="1650" dirty="0">
                <a:solidFill>
                  <a:srgbClr val="FFFFFF"/>
                </a:solidFill>
                <a:latin typeface="Palatino Linotype" pitchFamily="34" charset="0"/>
                <a:ea typeface="Palatino Linotype" pitchFamily="34" charset="-122"/>
                <a:cs typeface="Palatino Linotype" pitchFamily="34" charset="-120"/>
              </a:rPr>
              <a:t>explicații adaptate</a:t>
            </a:r>
            <a:endParaRPr lang="en-US" sz="1650" dirty="0"/>
          </a:p>
        </p:txBody>
      </p:sp>
      <p:sp>
        <p:nvSpPr>
          <p:cNvPr id="8" name="Shape 6"/>
          <p:cNvSpPr/>
          <p:nvPr/>
        </p:nvSpPr>
        <p:spPr>
          <a:xfrm>
            <a:off x="594360" y="3931920"/>
            <a:ext cx="10972800" cy="1874520"/>
          </a:xfrm>
          <a:prstGeom prst="roundRect">
            <a:avLst>
              <a:gd name="adj" fmla="val 4390"/>
            </a:avLst>
          </a:prstGeom>
          <a:solidFill>
            <a:srgbClr val="272A38"/>
          </a:solidFill>
          <a:ln w="12700">
            <a:solidFill>
              <a:srgbClr val="272A38"/>
            </a:solidFill>
            <a:prstDash val="solid"/>
          </a:ln>
        </p:spPr>
        <p:txBody>
          <a:bodyPr/>
          <a:p/>
        </p:txBody>
      </p:sp>
      <p:sp>
        <p:nvSpPr>
          <p:cNvPr id="9" name="Text 7"/>
          <p:cNvSpPr/>
          <p:nvPr/>
        </p:nvSpPr>
        <p:spPr>
          <a:xfrm>
            <a:off x="868680" y="3931920"/>
            <a:ext cx="10424160" cy="187452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Pentru cine vorbește altă limbă: un interpret profesionist, nu un membru al familiei. Rudele traduc incomplet, se pierde confidențialitatea, iar uneori rudele filtrează ce se spune.</a:t>
            </a:r>
            <a:endParaRPr lang="en-US" sz="1900" dirty="0"/>
          </a:p>
        </p:txBody>
      </p:sp>
      <p:sp>
        <p:nvSpPr>
          <p:cNvPr id="10" name="Text 8"/>
          <p:cNvSpPr/>
          <p:nvPr/>
        </p:nvSpPr>
        <p:spPr>
          <a:xfrm>
            <a:off x="594360" y="6035040"/>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OMS, fișa „Disability”, 2023.</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SALĂ</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ABORDĂRILE ȘI CARTA DE LA OTTAWA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Educația singură nu ajunge</a:t>
            </a:r>
            <a:endParaRPr lang="en-US" sz="3200" dirty="0"/>
          </a:p>
        </p:txBody>
      </p:sp>
      <p:sp>
        <p:nvSpPr>
          <p:cNvPr id="6" name="Shape 4"/>
          <p:cNvSpPr/>
          <p:nvPr/>
        </p:nvSpPr>
        <p:spPr>
          <a:xfrm>
            <a:off x="594360" y="1737360"/>
            <a:ext cx="5852160" cy="603504"/>
          </a:xfrm>
          <a:prstGeom prst="roundRect">
            <a:avLst>
              <a:gd name="adj" fmla="val 18182"/>
            </a:avLst>
          </a:prstGeom>
          <a:solidFill>
            <a:srgbClr val="ECEAE4"/>
          </a:solidFill>
          <a:ln w="12700">
            <a:solidFill>
              <a:srgbClr val="ECEAE4"/>
            </a:solidFill>
            <a:prstDash val="solid"/>
          </a:ln>
        </p:spPr>
        <p:txBody>
          <a:bodyPr/>
          <a:p/>
        </p:txBody>
      </p:sp>
      <p:sp>
        <p:nvSpPr>
          <p:cNvPr id="7" name="Text 5"/>
          <p:cNvSpPr/>
          <p:nvPr/>
        </p:nvSpPr>
        <p:spPr>
          <a:xfrm>
            <a:off x="822960" y="1737360"/>
            <a:ext cx="5486400" cy="603504"/>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Politici publice favorabile sănătății</a:t>
            </a:r>
            <a:endParaRPr lang="en-US" sz="1500" dirty="0"/>
          </a:p>
        </p:txBody>
      </p:sp>
      <p:sp>
        <p:nvSpPr>
          <p:cNvPr id="8" name="Shape 6"/>
          <p:cNvSpPr/>
          <p:nvPr/>
        </p:nvSpPr>
        <p:spPr>
          <a:xfrm>
            <a:off x="594360" y="2450592"/>
            <a:ext cx="5852160" cy="603504"/>
          </a:xfrm>
          <a:prstGeom prst="roundRect">
            <a:avLst>
              <a:gd name="adj" fmla="val 18182"/>
            </a:avLst>
          </a:prstGeom>
          <a:solidFill>
            <a:srgbClr val="ECEAE4"/>
          </a:solidFill>
          <a:ln w="12700">
            <a:solidFill>
              <a:srgbClr val="ECEAE4"/>
            </a:solidFill>
            <a:prstDash val="solid"/>
          </a:ln>
        </p:spPr>
        <p:txBody>
          <a:bodyPr/>
          <a:p/>
        </p:txBody>
      </p:sp>
      <p:sp>
        <p:nvSpPr>
          <p:cNvPr id="9" name="Text 7"/>
          <p:cNvSpPr/>
          <p:nvPr/>
        </p:nvSpPr>
        <p:spPr>
          <a:xfrm>
            <a:off x="822960" y="2450592"/>
            <a:ext cx="5486400" cy="603504"/>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Medii care sprijină sănătatea</a:t>
            </a:r>
            <a:endParaRPr lang="en-US" sz="1500" dirty="0"/>
          </a:p>
        </p:txBody>
      </p:sp>
      <p:sp>
        <p:nvSpPr>
          <p:cNvPr id="10" name="Shape 8"/>
          <p:cNvSpPr/>
          <p:nvPr/>
        </p:nvSpPr>
        <p:spPr>
          <a:xfrm>
            <a:off x="594360" y="3163824"/>
            <a:ext cx="5852160" cy="603504"/>
          </a:xfrm>
          <a:prstGeom prst="roundRect">
            <a:avLst>
              <a:gd name="adj" fmla="val 18182"/>
            </a:avLst>
          </a:prstGeom>
          <a:solidFill>
            <a:srgbClr val="ECEAE4"/>
          </a:solidFill>
          <a:ln w="12700">
            <a:solidFill>
              <a:srgbClr val="ECEAE4"/>
            </a:solidFill>
            <a:prstDash val="solid"/>
          </a:ln>
        </p:spPr>
        <p:txBody>
          <a:bodyPr/>
          <a:p/>
        </p:txBody>
      </p:sp>
      <p:sp>
        <p:nvSpPr>
          <p:cNvPr id="11" name="Text 9"/>
          <p:cNvSpPr/>
          <p:nvPr/>
        </p:nvSpPr>
        <p:spPr>
          <a:xfrm>
            <a:off x="822960" y="3163824"/>
            <a:ext cx="5486400" cy="603504"/>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Acțiunea comunitară</a:t>
            </a:r>
            <a:endParaRPr lang="en-US" sz="1500" dirty="0"/>
          </a:p>
        </p:txBody>
      </p:sp>
      <p:sp>
        <p:nvSpPr>
          <p:cNvPr id="12" name="Shape 10"/>
          <p:cNvSpPr/>
          <p:nvPr/>
        </p:nvSpPr>
        <p:spPr>
          <a:xfrm>
            <a:off x="594360" y="3877056"/>
            <a:ext cx="5852160" cy="603504"/>
          </a:xfrm>
          <a:prstGeom prst="roundRect">
            <a:avLst>
              <a:gd name="adj" fmla="val 18182"/>
            </a:avLst>
          </a:prstGeom>
          <a:solidFill>
            <a:srgbClr val="0E7C6B"/>
          </a:solidFill>
          <a:ln w="12700">
            <a:solidFill>
              <a:srgbClr val="0E7C6B"/>
            </a:solidFill>
            <a:prstDash val="solid"/>
          </a:ln>
        </p:spPr>
        <p:txBody>
          <a:bodyPr/>
          <a:p/>
        </p:txBody>
      </p:sp>
      <p:sp>
        <p:nvSpPr>
          <p:cNvPr id="13" name="Text 11"/>
          <p:cNvSpPr/>
          <p:nvPr/>
        </p:nvSpPr>
        <p:spPr>
          <a:xfrm>
            <a:off x="822960" y="3877056"/>
            <a:ext cx="5486400" cy="603504"/>
          </a:xfrm>
          <a:prstGeom prst="rect">
            <a:avLst/>
          </a:prstGeom>
          <a:noFill/>
          <a:ln/>
        </p:spPr>
        <p:txBody>
          <a:bodyPr wrap="square" lIns="0" tIns="0" rIns="0" bIns="0" rtlCol="0" anchor="ctr"/>
          <a:lstStyle/>
          <a:p>
            <a:pPr indent="0" marL="0">
              <a:buNone/>
            </a:pPr>
            <a:r>
              <a:rPr lang="en-US" sz="1450" b="1" dirty="0">
                <a:solidFill>
                  <a:srgbClr val="FFFFFF"/>
                </a:solidFill>
                <a:latin typeface="Palatino Linotype" pitchFamily="34" charset="0"/>
                <a:ea typeface="Palatino Linotype" pitchFamily="34" charset="-122"/>
                <a:cs typeface="Palatino Linotype" pitchFamily="34" charset="-120"/>
              </a:rPr>
              <a:t>Dezvoltarea deprinderilor personale  ←  educația pentru sănătate</a:t>
            </a:r>
            <a:endParaRPr lang="en-US" sz="1450" dirty="0"/>
          </a:p>
        </p:txBody>
      </p:sp>
      <p:sp>
        <p:nvSpPr>
          <p:cNvPr id="14" name="Shape 12"/>
          <p:cNvSpPr/>
          <p:nvPr/>
        </p:nvSpPr>
        <p:spPr>
          <a:xfrm>
            <a:off x="594360" y="4590288"/>
            <a:ext cx="5852160" cy="603504"/>
          </a:xfrm>
          <a:prstGeom prst="roundRect">
            <a:avLst>
              <a:gd name="adj" fmla="val 18182"/>
            </a:avLst>
          </a:prstGeom>
          <a:solidFill>
            <a:srgbClr val="ECEAE4"/>
          </a:solidFill>
          <a:ln w="12700">
            <a:solidFill>
              <a:srgbClr val="ECEAE4"/>
            </a:solidFill>
            <a:prstDash val="solid"/>
          </a:ln>
        </p:spPr>
        <p:txBody>
          <a:bodyPr/>
          <a:p/>
        </p:txBody>
      </p:sp>
      <p:sp>
        <p:nvSpPr>
          <p:cNvPr id="15" name="Text 13"/>
          <p:cNvSpPr/>
          <p:nvPr/>
        </p:nvSpPr>
        <p:spPr>
          <a:xfrm>
            <a:off x="822960" y="4590288"/>
            <a:ext cx="5486400" cy="603504"/>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Reorientarea serviciilor de sănătate</a:t>
            </a:r>
            <a:endParaRPr lang="en-US" sz="1500" dirty="0"/>
          </a:p>
        </p:txBody>
      </p:sp>
      <p:sp>
        <p:nvSpPr>
          <p:cNvPr id="16" name="Text 14"/>
          <p:cNvSpPr/>
          <p:nvPr/>
        </p:nvSpPr>
        <p:spPr>
          <a:xfrm>
            <a:off x="6766560" y="1737360"/>
            <a:ext cx="4800600" cy="1828800"/>
          </a:xfrm>
          <a:prstGeom prst="rect">
            <a:avLst/>
          </a:prstGeom>
          <a:noFill/>
          <a:ln/>
        </p:spPr>
        <p:txBody>
          <a:bodyPr wrap="square" lIns="0" tIns="0" rIns="0" bIns="0" rtlCol="0" anchor="t"/>
          <a:lstStyle/>
          <a:p>
            <a:pPr indent="0" marL="0">
              <a:buNone/>
            </a:pPr>
            <a:r>
              <a:rPr lang="en-US" sz="1750" dirty="0">
                <a:solidFill>
                  <a:srgbClr val="11121A"/>
                </a:solidFill>
                <a:latin typeface="Palatino Linotype" pitchFamily="34" charset="0"/>
                <a:ea typeface="Palatino Linotype" pitchFamily="34" charset="-122"/>
                <a:cs typeface="Palatino Linotype" pitchFamily="34" charset="-120"/>
              </a:rPr>
              <a:t>Carta de la Ottawa, 1986: cinci domenii de acțiune ale promovării sănătății. Educația pentru sănătate stă în domeniul dezvoltării deprinderilor personale, alături de celelalte patru, nu în locul lor.</a:t>
            </a:r>
            <a:endParaRPr lang="en-US" sz="1750" dirty="0"/>
          </a:p>
        </p:txBody>
      </p:sp>
      <p:sp>
        <p:nvSpPr>
          <p:cNvPr id="17" name="Shape 15"/>
          <p:cNvSpPr/>
          <p:nvPr/>
        </p:nvSpPr>
        <p:spPr>
          <a:xfrm>
            <a:off x="6766560" y="3703320"/>
            <a:ext cx="4800600" cy="1691640"/>
          </a:xfrm>
          <a:prstGeom prst="roundRect">
            <a:avLst>
              <a:gd name="adj" fmla="val 4865"/>
            </a:avLst>
          </a:prstGeom>
          <a:solidFill>
            <a:srgbClr val="11121A"/>
          </a:solidFill>
          <a:ln w="12700">
            <a:solidFill>
              <a:srgbClr val="11121A"/>
            </a:solidFill>
            <a:prstDash val="solid"/>
          </a:ln>
        </p:spPr>
        <p:txBody>
          <a:bodyPr/>
          <a:p/>
        </p:txBody>
      </p:sp>
      <p:sp>
        <p:nvSpPr>
          <p:cNvPr id="18" name="Text 16"/>
          <p:cNvSpPr/>
          <p:nvPr/>
        </p:nvSpPr>
        <p:spPr>
          <a:xfrm>
            <a:off x="6995160" y="3703320"/>
            <a:ext cx="4389120" cy="169164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Ce combinație de abordări ați folosi ca să pregătiți pacienții pentru examenul CT?</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DIRECȚIILE DE ORIENTARE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Fișa cere „direcții de orientare”: sunt patru</a:t>
            </a:r>
            <a:endParaRPr lang="en-US" sz="3000" dirty="0"/>
          </a:p>
        </p:txBody>
      </p:sp>
      <p:sp>
        <p:nvSpPr>
          <p:cNvPr id="4" name="Shape 2"/>
          <p:cNvSpPr/>
          <p:nvPr/>
        </p:nvSpPr>
        <p:spPr>
          <a:xfrm>
            <a:off x="594360" y="1737360"/>
            <a:ext cx="2651760" cy="3749040"/>
          </a:xfrm>
          <a:prstGeom prst="roundRect">
            <a:avLst>
              <a:gd name="adj" fmla="val 3103"/>
            </a:avLst>
          </a:prstGeom>
          <a:solidFill>
            <a:srgbClr val="1D1F2B"/>
          </a:solidFill>
          <a:ln w="12700">
            <a:solidFill>
              <a:srgbClr val="1D1F2B"/>
            </a:solidFill>
            <a:prstDash val="solid"/>
          </a:ln>
        </p:spPr>
        <p:txBody>
          <a:bodyPr/>
          <a:p/>
        </p:txBody>
      </p:sp>
      <p:sp>
        <p:nvSpPr>
          <p:cNvPr id="5" name="Shape 3"/>
          <p:cNvSpPr/>
          <p:nvPr/>
        </p:nvSpPr>
        <p:spPr>
          <a:xfrm>
            <a:off x="594360" y="1737360"/>
            <a:ext cx="2651760" cy="73152"/>
          </a:xfrm>
          <a:prstGeom prst="rect">
            <a:avLst/>
          </a:prstGeom>
          <a:solidFill>
            <a:srgbClr val="27D3BE"/>
          </a:solidFill>
          <a:ln w="12700">
            <a:solidFill>
              <a:srgbClr val="27D3BE"/>
            </a:solidFill>
            <a:prstDash val="solid"/>
          </a:ln>
        </p:spPr>
        <p:txBody>
          <a:bodyPr/>
          <a:p/>
        </p:txBody>
      </p:sp>
      <p:sp>
        <p:nvSpPr>
          <p:cNvPr id="6" name="Shape 4"/>
          <p:cNvSpPr/>
          <p:nvPr/>
        </p:nvSpPr>
        <p:spPr>
          <a:xfrm>
            <a:off x="795528" y="2011680"/>
            <a:ext cx="457200" cy="457200"/>
          </a:xfrm>
          <a:prstGeom prst="ellipse">
            <a:avLst/>
          </a:prstGeom>
          <a:solidFill>
            <a:srgbClr val="27D3BE"/>
          </a:solidFill>
          <a:ln/>
        </p:spPr>
        <p:txBody>
          <a:bodyPr/>
          <a:p/>
        </p:txBody>
      </p:sp>
      <p:sp>
        <p:nvSpPr>
          <p:cNvPr id="7" name="Text 5"/>
          <p:cNvSpPr/>
          <p:nvPr/>
        </p:nvSpPr>
        <p:spPr>
          <a:xfrm>
            <a:off x="795528" y="201168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795528" y="2606040"/>
            <a:ext cx="2286000" cy="11887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Comunicarea riscului și implicarea comunității</a:t>
            </a:r>
            <a:endParaRPr lang="en-US" sz="1700" dirty="0"/>
          </a:p>
        </p:txBody>
      </p:sp>
      <p:sp>
        <p:nvSpPr>
          <p:cNvPr id="9" name="Text 7"/>
          <p:cNvSpPr/>
          <p:nvPr/>
        </p:nvSpPr>
        <p:spPr>
          <a:xfrm>
            <a:off x="795528" y="3840480"/>
            <a:ext cx="2286000" cy="1554480"/>
          </a:xfrm>
          <a:prstGeom prst="rect">
            <a:avLst/>
          </a:prstGeom>
          <a:noFill/>
          <a:ln/>
        </p:spPr>
        <p:txBody>
          <a:bodyPr wrap="square" lIns="0" tIns="0" rIns="0" bIns="0" rtlCol="0" anchor="t"/>
          <a:lstStyle/>
          <a:p>
            <a:pPr indent="0" marL="0">
              <a:buNone/>
            </a:pPr>
            <a:r>
              <a:rPr lang="en-US" sz="1500" dirty="0">
                <a:solidFill>
                  <a:srgbClr val="E6E8EF"/>
                </a:solidFill>
                <a:latin typeface="Palatino Linotype" pitchFamily="34" charset="0"/>
                <a:ea typeface="Palatino Linotype" pitchFamily="34" charset="-122"/>
                <a:cs typeface="Palatino Linotype" pitchFamily="34" charset="-120"/>
              </a:rPr>
              <a:t>Ce știm, ce nu știm încă, ce facem acum.</a:t>
            </a:r>
            <a:endParaRPr lang="en-US" sz="1500" dirty="0"/>
          </a:p>
        </p:txBody>
      </p:sp>
      <p:sp>
        <p:nvSpPr>
          <p:cNvPr id="10" name="Shape 8"/>
          <p:cNvSpPr/>
          <p:nvPr/>
        </p:nvSpPr>
        <p:spPr>
          <a:xfrm>
            <a:off x="3383280" y="1737360"/>
            <a:ext cx="2651760" cy="3749040"/>
          </a:xfrm>
          <a:prstGeom prst="roundRect">
            <a:avLst>
              <a:gd name="adj" fmla="val 3103"/>
            </a:avLst>
          </a:prstGeom>
          <a:solidFill>
            <a:srgbClr val="1D1F2B"/>
          </a:solidFill>
          <a:ln w="12700">
            <a:solidFill>
              <a:srgbClr val="1D1F2B"/>
            </a:solidFill>
            <a:prstDash val="solid"/>
          </a:ln>
        </p:spPr>
        <p:txBody>
          <a:bodyPr/>
          <a:p/>
        </p:txBody>
      </p:sp>
      <p:sp>
        <p:nvSpPr>
          <p:cNvPr id="11" name="Shape 9"/>
          <p:cNvSpPr/>
          <p:nvPr/>
        </p:nvSpPr>
        <p:spPr>
          <a:xfrm>
            <a:off x="3383280" y="1737360"/>
            <a:ext cx="2651760" cy="73152"/>
          </a:xfrm>
          <a:prstGeom prst="rect">
            <a:avLst/>
          </a:prstGeom>
          <a:solidFill>
            <a:srgbClr val="9B7EF7"/>
          </a:solidFill>
          <a:ln w="12700">
            <a:solidFill>
              <a:srgbClr val="9B7EF7"/>
            </a:solidFill>
            <a:prstDash val="solid"/>
          </a:ln>
        </p:spPr>
        <p:txBody>
          <a:bodyPr/>
          <a:p/>
        </p:txBody>
      </p:sp>
      <p:sp>
        <p:nvSpPr>
          <p:cNvPr id="12" name="Shape 10"/>
          <p:cNvSpPr/>
          <p:nvPr/>
        </p:nvSpPr>
        <p:spPr>
          <a:xfrm>
            <a:off x="3584448" y="2011680"/>
            <a:ext cx="457200" cy="457200"/>
          </a:xfrm>
          <a:prstGeom prst="ellipse">
            <a:avLst/>
          </a:prstGeom>
          <a:solidFill>
            <a:srgbClr val="9B7EF7"/>
          </a:solidFill>
          <a:ln/>
        </p:spPr>
        <p:txBody>
          <a:bodyPr/>
          <a:p/>
        </p:txBody>
      </p:sp>
      <p:sp>
        <p:nvSpPr>
          <p:cNvPr id="13" name="Text 11"/>
          <p:cNvSpPr/>
          <p:nvPr/>
        </p:nvSpPr>
        <p:spPr>
          <a:xfrm>
            <a:off x="3584448" y="201168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3584448" y="2606040"/>
            <a:ext cx="2286000" cy="1188720"/>
          </a:xfrm>
          <a:prstGeom prst="rect">
            <a:avLst/>
          </a:prstGeom>
          <a:noFill/>
          <a:ln/>
        </p:spPr>
        <p:txBody>
          <a:bodyPr wrap="square" lIns="0" tIns="0" rIns="0" bIns="0" rtlCol="0" anchor="t"/>
          <a:lstStyle/>
          <a:p>
            <a:pPr indent="0" marL="0">
              <a:buNone/>
            </a:pPr>
            <a:r>
              <a:rPr lang="en-US" sz="1700" b="1" dirty="0">
                <a:solidFill>
                  <a:srgbClr val="9B7EF7"/>
                </a:solidFill>
                <a:latin typeface="Palatino Linotype" pitchFamily="34" charset="0"/>
                <a:ea typeface="Palatino Linotype" pitchFamily="34" charset="-122"/>
                <a:cs typeface="Palatino Linotype" pitchFamily="34" charset="-120"/>
              </a:rPr>
              <a:t>Educația digitală, datele și accesibilitatea</a:t>
            </a:r>
            <a:endParaRPr lang="en-US" sz="1700" dirty="0"/>
          </a:p>
        </p:txBody>
      </p:sp>
      <p:sp>
        <p:nvSpPr>
          <p:cNvPr id="15" name="Text 13"/>
          <p:cNvSpPr/>
          <p:nvPr/>
        </p:nvSpPr>
        <p:spPr>
          <a:xfrm>
            <a:off x="3584448" y="3840480"/>
            <a:ext cx="2286000" cy="1554480"/>
          </a:xfrm>
          <a:prstGeom prst="rect">
            <a:avLst/>
          </a:prstGeom>
          <a:noFill/>
          <a:ln/>
        </p:spPr>
        <p:txBody>
          <a:bodyPr wrap="square" lIns="0" tIns="0" rIns="0" bIns="0" rtlCol="0" anchor="t"/>
          <a:lstStyle/>
          <a:p>
            <a:pPr indent="0" marL="0">
              <a:buNone/>
            </a:pPr>
            <a:r>
              <a:rPr lang="en-US" sz="1500" dirty="0">
                <a:solidFill>
                  <a:srgbClr val="E6E8EF"/>
                </a:solidFill>
                <a:latin typeface="Palatino Linotype" pitchFamily="34" charset="0"/>
                <a:ea typeface="Palatino Linotype" pitchFamily="34" charset="-122"/>
                <a:cs typeface="Palatino Linotype" pitchFamily="34" charset="-120"/>
              </a:rPr>
              <a:t>Datele despre sănătate; conținut accesibil.</a:t>
            </a:r>
            <a:endParaRPr lang="en-US" sz="1500" dirty="0"/>
          </a:p>
        </p:txBody>
      </p:sp>
      <p:sp>
        <p:nvSpPr>
          <p:cNvPr id="16" name="Shape 14"/>
          <p:cNvSpPr/>
          <p:nvPr/>
        </p:nvSpPr>
        <p:spPr>
          <a:xfrm>
            <a:off x="6172200" y="1737360"/>
            <a:ext cx="2651760" cy="3749040"/>
          </a:xfrm>
          <a:prstGeom prst="roundRect">
            <a:avLst>
              <a:gd name="adj" fmla="val 3103"/>
            </a:avLst>
          </a:prstGeom>
          <a:solidFill>
            <a:srgbClr val="1D1F2B"/>
          </a:solidFill>
          <a:ln w="12700">
            <a:solidFill>
              <a:srgbClr val="1D1F2B"/>
            </a:solidFill>
            <a:prstDash val="solid"/>
          </a:ln>
        </p:spPr>
        <p:txBody>
          <a:bodyPr/>
          <a:p/>
        </p:txBody>
      </p:sp>
      <p:sp>
        <p:nvSpPr>
          <p:cNvPr id="17" name="Shape 15"/>
          <p:cNvSpPr/>
          <p:nvPr/>
        </p:nvSpPr>
        <p:spPr>
          <a:xfrm>
            <a:off x="6172200" y="1737360"/>
            <a:ext cx="2651760" cy="73152"/>
          </a:xfrm>
          <a:prstGeom prst="rect">
            <a:avLst/>
          </a:prstGeom>
          <a:solidFill>
            <a:srgbClr val="FF4757"/>
          </a:solidFill>
          <a:ln w="12700">
            <a:solidFill>
              <a:srgbClr val="FF4757"/>
            </a:solidFill>
            <a:prstDash val="solid"/>
          </a:ln>
        </p:spPr>
        <p:txBody>
          <a:bodyPr/>
          <a:p/>
        </p:txBody>
      </p:sp>
      <p:sp>
        <p:nvSpPr>
          <p:cNvPr id="18" name="Shape 16"/>
          <p:cNvSpPr/>
          <p:nvPr/>
        </p:nvSpPr>
        <p:spPr>
          <a:xfrm>
            <a:off x="6373368" y="2011680"/>
            <a:ext cx="457200" cy="457200"/>
          </a:xfrm>
          <a:prstGeom prst="ellipse">
            <a:avLst/>
          </a:prstGeom>
          <a:solidFill>
            <a:srgbClr val="FF4757"/>
          </a:solidFill>
          <a:ln/>
        </p:spPr>
        <p:txBody>
          <a:bodyPr/>
          <a:p/>
        </p:txBody>
      </p:sp>
      <p:sp>
        <p:nvSpPr>
          <p:cNvPr id="19" name="Text 17"/>
          <p:cNvSpPr/>
          <p:nvPr/>
        </p:nvSpPr>
        <p:spPr>
          <a:xfrm>
            <a:off x="6373368" y="201168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20" name="Text 18"/>
          <p:cNvSpPr/>
          <p:nvPr/>
        </p:nvSpPr>
        <p:spPr>
          <a:xfrm>
            <a:off x="6373368" y="2606040"/>
            <a:ext cx="2286000" cy="1188720"/>
          </a:xfrm>
          <a:prstGeom prst="rect">
            <a:avLst/>
          </a:prstGeom>
          <a:noFill/>
          <a:ln/>
        </p:spPr>
        <p:txBody>
          <a:bodyPr wrap="square" lIns="0" tIns="0" rIns="0" bIns="0" rtlCol="0" anchor="t"/>
          <a:lstStyle/>
          <a:p>
            <a:pPr indent="0" marL="0">
              <a:buNone/>
            </a:pPr>
            <a:r>
              <a:rPr lang="en-US" sz="1700" b="1" dirty="0">
                <a:solidFill>
                  <a:srgbClr val="FF4757"/>
                </a:solidFill>
                <a:latin typeface="Palatino Linotype" pitchFamily="34" charset="0"/>
                <a:ea typeface="Palatino Linotype" pitchFamily="34" charset="-122"/>
                <a:cs typeface="Palatino Linotype" pitchFamily="34" charset="-120"/>
              </a:rPr>
              <a:t>Informațiile false</a:t>
            </a:r>
            <a:endParaRPr lang="en-US" sz="1700" dirty="0"/>
          </a:p>
        </p:txBody>
      </p:sp>
      <p:sp>
        <p:nvSpPr>
          <p:cNvPr id="21" name="Text 19"/>
          <p:cNvSpPr/>
          <p:nvPr/>
        </p:nvSpPr>
        <p:spPr>
          <a:xfrm>
            <a:off x="6373368" y="3840480"/>
            <a:ext cx="2286000" cy="1554480"/>
          </a:xfrm>
          <a:prstGeom prst="rect">
            <a:avLst/>
          </a:prstGeom>
          <a:noFill/>
          <a:ln/>
        </p:spPr>
        <p:txBody>
          <a:bodyPr wrap="square" lIns="0" tIns="0" rIns="0" bIns="0" rtlCol="0" anchor="t"/>
          <a:lstStyle/>
          <a:p>
            <a:pPr indent="0" marL="0">
              <a:buNone/>
            </a:pPr>
            <a:r>
              <a:rPr lang="en-US" sz="1500" dirty="0">
                <a:solidFill>
                  <a:srgbClr val="E6E8EF"/>
                </a:solidFill>
                <a:latin typeface="Palatino Linotype" pitchFamily="34" charset="0"/>
                <a:ea typeface="Palatino Linotype" pitchFamily="34" charset="-122"/>
                <a:cs typeface="Palatino Linotype" pitchFamily="34" charset="-120"/>
              </a:rPr>
              <a:t>Infodemia, verificarea, corectarea unui mit.</a:t>
            </a:r>
            <a:endParaRPr lang="en-US" sz="1500" dirty="0"/>
          </a:p>
        </p:txBody>
      </p:sp>
      <p:sp>
        <p:nvSpPr>
          <p:cNvPr id="22" name="Shape 20"/>
          <p:cNvSpPr/>
          <p:nvPr/>
        </p:nvSpPr>
        <p:spPr>
          <a:xfrm>
            <a:off x="8961120" y="1737360"/>
            <a:ext cx="2651760" cy="3749040"/>
          </a:xfrm>
          <a:prstGeom prst="roundRect">
            <a:avLst>
              <a:gd name="adj" fmla="val 3103"/>
            </a:avLst>
          </a:prstGeom>
          <a:solidFill>
            <a:srgbClr val="1D1F2B"/>
          </a:solidFill>
          <a:ln w="12700">
            <a:solidFill>
              <a:srgbClr val="1D1F2B"/>
            </a:solidFill>
            <a:prstDash val="solid"/>
          </a:ln>
        </p:spPr>
        <p:txBody>
          <a:bodyPr/>
          <a:p/>
        </p:txBody>
      </p:sp>
      <p:sp>
        <p:nvSpPr>
          <p:cNvPr id="23" name="Shape 21"/>
          <p:cNvSpPr/>
          <p:nvPr/>
        </p:nvSpPr>
        <p:spPr>
          <a:xfrm>
            <a:off x="8961120" y="1737360"/>
            <a:ext cx="2651760" cy="73152"/>
          </a:xfrm>
          <a:prstGeom prst="rect">
            <a:avLst/>
          </a:prstGeom>
          <a:solidFill>
            <a:srgbClr val="FFC24B"/>
          </a:solidFill>
          <a:ln w="12700">
            <a:solidFill>
              <a:srgbClr val="FFC24B"/>
            </a:solidFill>
            <a:prstDash val="solid"/>
          </a:ln>
        </p:spPr>
        <p:txBody>
          <a:bodyPr/>
          <a:p/>
        </p:txBody>
      </p:sp>
      <p:sp>
        <p:nvSpPr>
          <p:cNvPr id="24" name="Shape 22"/>
          <p:cNvSpPr/>
          <p:nvPr/>
        </p:nvSpPr>
        <p:spPr>
          <a:xfrm>
            <a:off x="9162288" y="2011680"/>
            <a:ext cx="457200" cy="457200"/>
          </a:xfrm>
          <a:prstGeom prst="ellipse">
            <a:avLst/>
          </a:prstGeom>
          <a:solidFill>
            <a:srgbClr val="FFC24B"/>
          </a:solidFill>
          <a:ln/>
        </p:spPr>
        <p:txBody>
          <a:bodyPr/>
          <a:p/>
        </p:txBody>
      </p:sp>
      <p:sp>
        <p:nvSpPr>
          <p:cNvPr id="25" name="Text 23"/>
          <p:cNvSpPr/>
          <p:nvPr/>
        </p:nvSpPr>
        <p:spPr>
          <a:xfrm>
            <a:off x="9162288" y="201168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6" name="Text 24"/>
          <p:cNvSpPr/>
          <p:nvPr/>
        </p:nvSpPr>
        <p:spPr>
          <a:xfrm>
            <a:off x="9162288" y="2606040"/>
            <a:ext cx="2286000" cy="118872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Direcțiile integrate</a:t>
            </a:r>
            <a:endParaRPr lang="en-US" sz="1700" dirty="0"/>
          </a:p>
        </p:txBody>
      </p:sp>
      <p:sp>
        <p:nvSpPr>
          <p:cNvPr id="27" name="Text 25"/>
          <p:cNvSpPr/>
          <p:nvPr/>
        </p:nvSpPr>
        <p:spPr>
          <a:xfrm>
            <a:off x="9162288" y="3840480"/>
            <a:ext cx="2286000" cy="1554480"/>
          </a:xfrm>
          <a:prstGeom prst="rect">
            <a:avLst/>
          </a:prstGeom>
          <a:noFill/>
          <a:ln/>
        </p:spPr>
        <p:txBody>
          <a:bodyPr wrap="square" lIns="0" tIns="0" rIns="0" bIns="0" rtlCol="0" anchor="t"/>
          <a:lstStyle/>
          <a:p>
            <a:pPr indent="0" marL="0">
              <a:buNone/>
            </a:pPr>
            <a:r>
              <a:rPr lang="en-US" sz="1500" dirty="0">
                <a:solidFill>
                  <a:srgbClr val="E6E8EF"/>
                </a:solidFill>
                <a:latin typeface="Palatino Linotype" pitchFamily="34" charset="0"/>
                <a:ea typeface="Palatino Linotype" pitchFamily="34" charset="-122"/>
                <a:cs typeface="Palatino Linotype" pitchFamily="34" charset="-120"/>
              </a:rPr>
              <a:t>Același mesaj în cabinet, la școală, la locul de muncă, în spațiile publice și în aplicații.</a:t>
            </a:r>
            <a:endParaRPr lang="en-US" sz="1500" dirty="0"/>
          </a:p>
        </p:txBody>
      </p:sp>
      <p:sp>
        <p:nvSpPr>
          <p:cNvPr id="28" name="Text 26"/>
          <p:cNvSpPr/>
          <p:nvPr/>
        </p:nvSpPr>
        <p:spPr>
          <a:xfrm>
            <a:off x="594360" y="5806440"/>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Sursele oficiale nu au o listă unică a direcțiilor; materialele disciplinei le grupează în patru.</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DIRECȚIA 1 · COMUNICAREA RISCULUI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știm, ce nu știm încă, ce facem acum</a:t>
            </a:r>
            <a:endParaRPr lang="en-US" sz="3000" dirty="0"/>
          </a:p>
        </p:txBody>
      </p:sp>
      <p:sp>
        <p:nvSpPr>
          <p:cNvPr id="4" name="Shape 2"/>
          <p:cNvSpPr/>
          <p:nvPr/>
        </p:nvSpPr>
        <p:spPr>
          <a:xfrm>
            <a:off x="594360" y="1691640"/>
            <a:ext cx="3547872" cy="2148840"/>
          </a:xfrm>
          <a:prstGeom prst="roundRect">
            <a:avLst>
              <a:gd name="adj" fmla="val 3830"/>
            </a:avLst>
          </a:prstGeom>
          <a:solidFill>
            <a:srgbClr val="ECEAE4"/>
          </a:solidFill>
          <a:ln w="12700">
            <a:solidFill>
              <a:srgbClr val="ECEAE4"/>
            </a:solidFill>
            <a:prstDash val="solid"/>
          </a:ln>
        </p:spPr>
        <p:txBody>
          <a:bodyPr/>
          <a:p/>
        </p:txBody>
      </p:sp>
      <p:sp>
        <p:nvSpPr>
          <p:cNvPr id="5" name="Shape 3"/>
          <p:cNvSpPr/>
          <p:nvPr/>
        </p:nvSpPr>
        <p:spPr>
          <a:xfrm>
            <a:off x="594360" y="1691640"/>
            <a:ext cx="3547872" cy="73152"/>
          </a:xfrm>
          <a:prstGeom prst="rect">
            <a:avLst/>
          </a:prstGeom>
          <a:solidFill>
            <a:srgbClr val="0E7C6B"/>
          </a:solidFill>
          <a:ln w="12700">
            <a:solidFill>
              <a:srgbClr val="0E7C6B"/>
            </a:solidFill>
            <a:prstDash val="solid"/>
          </a:ln>
        </p:spPr>
        <p:txBody>
          <a:bodyPr/>
          <a:p/>
        </p:txBody>
      </p:sp>
      <p:sp>
        <p:nvSpPr>
          <p:cNvPr id="6" name="Text 4"/>
          <p:cNvSpPr/>
          <p:nvPr/>
        </p:nvSpPr>
        <p:spPr>
          <a:xfrm>
            <a:off x="795528" y="1920240"/>
            <a:ext cx="3145536" cy="914400"/>
          </a:xfrm>
          <a:prstGeom prst="rect">
            <a:avLst/>
          </a:prstGeom>
          <a:noFill/>
          <a:ln/>
        </p:spPr>
        <p:txBody>
          <a:bodyPr wrap="square" lIns="0" tIns="0" rIns="0" bIns="0" rtlCol="0" anchor="t"/>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Ce știm</a:t>
            </a:r>
            <a:endParaRPr lang="en-US" sz="2400" dirty="0"/>
          </a:p>
        </p:txBody>
      </p:sp>
      <p:sp>
        <p:nvSpPr>
          <p:cNvPr id="7" name="Text 5"/>
          <p:cNvSpPr/>
          <p:nvPr/>
        </p:nvSpPr>
        <p:spPr>
          <a:xfrm>
            <a:off x="795528" y="2926080"/>
            <a:ext cx="3145536" cy="77724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Ce se cunoaște, spus simplu.</a:t>
            </a:r>
            <a:endParaRPr lang="en-US" sz="1900" dirty="0"/>
          </a:p>
        </p:txBody>
      </p:sp>
      <p:sp>
        <p:nvSpPr>
          <p:cNvPr id="8" name="Shape 6"/>
          <p:cNvSpPr/>
          <p:nvPr/>
        </p:nvSpPr>
        <p:spPr>
          <a:xfrm>
            <a:off x="4306824" y="1691640"/>
            <a:ext cx="3547872" cy="2148840"/>
          </a:xfrm>
          <a:prstGeom prst="roundRect">
            <a:avLst>
              <a:gd name="adj" fmla="val 3830"/>
            </a:avLst>
          </a:prstGeom>
          <a:solidFill>
            <a:srgbClr val="F9F8F5"/>
          </a:solidFill>
          <a:ln w="12700">
            <a:solidFill>
              <a:srgbClr val="F9F8F5"/>
            </a:solidFill>
            <a:prstDash val="solid"/>
          </a:ln>
        </p:spPr>
        <p:txBody>
          <a:bodyPr/>
          <a:p/>
        </p:txBody>
      </p:sp>
      <p:sp>
        <p:nvSpPr>
          <p:cNvPr id="9" name="Shape 7"/>
          <p:cNvSpPr/>
          <p:nvPr/>
        </p:nvSpPr>
        <p:spPr>
          <a:xfrm>
            <a:off x="4306824" y="1691640"/>
            <a:ext cx="3547872" cy="73152"/>
          </a:xfrm>
          <a:prstGeom prst="rect">
            <a:avLst/>
          </a:prstGeom>
          <a:solidFill>
            <a:srgbClr val="4A2D8C"/>
          </a:solidFill>
          <a:ln w="12700">
            <a:solidFill>
              <a:srgbClr val="4A2D8C"/>
            </a:solidFill>
            <a:prstDash val="solid"/>
          </a:ln>
        </p:spPr>
        <p:txBody>
          <a:bodyPr/>
          <a:p/>
        </p:txBody>
      </p:sp>
      <p:sp>
        <p:nvSpPr>
          <p:cNvPr id="10" name="Text 8"/>
          <p:cNvSpPr/>
          <p:nvPr/>
        </p:nvSpPr>
        <p:spPr>
          <a:xfrm>
            <a:off x="4507992" y="1920240"/>
            <a:ext cx="3145536" cy="914400"/>
          </a:xfrm>
          <a:prstGeom prst="rect">
            <a:avLst/>
          </a:prstGeom>
          <a:noFill/>
          <a:ln/>
        </p:spPr>
        <p:txBody>
          <a:bodyPr wrap="square" lIns="0" tIns="0" rIns="0" bIns="0" rtlCol="0" anchor="t"/>
          <a:lstStyle/>
          <a:p>
            <a:pPr indent="0" marL="0">
              <a:buNone/>
            </a:pPr>
            <a:r>
              <a:rPr lang="en-US" sz="2400" b="1" dirty="0">
                <a:solidFill>
                  <a:srgbClr val="4A2D8C"/>
                </a:solidFill>
                <a:latin typeface="Palatino Linotype" pitchFamily="34" charset="0"/>
                <a:ea typeface="Palatino Linotype" pitchFamily="34" charset="-122"/>
                <a:cs typeface="Palatino Linotype" pitchFamily="34" charset="-120"/>
              </a:rPr>
              <a:t>Ce nu știm încă</a:t>
            </a:r>
            <a:endParaRPr lang="en-US" sz="2400" dirty="0"/>
          </a:p>
        </p:txBody>
      </p:sp>
      <p:sp>
        <p:nvSpPr>
          <p:cNvPr id="11" name="Text 9"/>
          <p:cNvSpPr/>
          <p:nvPr/>
        </p:nvSpPr>
        <p:spPr>
          <a:xfrm>
            <a:off x="4507992" y="2926080"/>
            <a:ext cx="3145536" cy="77724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Spus deschis, fără să ascundeți incertitudinea.</a:t>
            </a:r>
            <a:endParaRPr lang="en-US" sz="1900" dirty="0"/>
          </a:p>
        </p:txBody>
      </p:sp>
      <p:sp>
        <p:nvSpPr>
          <p:cNvPr id="12" name="Shape 10"/>
          <p:cNvSpPr/>
          <p:nvPr/>
        </p:nvSpPr>
        <p:spPr>
          <a:xfrm>
            <a:off x="8019288" y="1691640"/>
            <a:ext cx="3547872" cy="2148840"/>
          </a:xfrm>
          <a:prstGeom prst="roundRect">
            <a:avLst>
              <a:gd name="adj" fmla="val 3830"/>
            </a:avLst>
          </a:prstGeom>
          <a:solidFill>
            <a:srgbClr val="ECEAE4"/>
          </a:solidFill>
          <a:ln w="12700">
            <a:solidFill>
              <a:srgbClr val="ECEAE4"/>
            </a:solidFill>
            <a:prstDash val="solid"/>
          </a:ln>
        </p:spPr>
        <p:txBody>
          <a:bodyPr/>
          <a:p/>
        </p:txBody>
      </p:sp>
      <p:sp>
        <p:nvSpPr>
          <p:cNvPr id="13" name="Shape 11"/>
          <p:cNvSpPr/>
          <p:nvPr/>
        </p:nvSpPr>
        <p:spPr>
          <a:xfrm>
            <a:off x="8019288" y="1691640"/>
            <a:ext cx="3547872" cy="73152"/>
          </a:xfrm>
          <a:prstGeom prst="rect">
            <a:avLst/>
          </a:prstGeom>
          <a:solidFill>
            <a:srgbClr val="B02532"/>
          </a:solidFill>
          <a:ln w="12700">
            <a:solidFill>
              <a:srgbClr val="B02532"/>
            </a:solidFill>
            <a:prstDash val="solid"/>
          </a:ln>
        </p:spPr>
        <p:txBody>
          <a:bodyPr/>
          <a:p/>
        </p:txBody>
      </p:sp>
      <p:sp>
        <p:nvSpPr>
          <p:cNvPr id="14" name="Text 12"/>
          <p:cNvSpPr/>
          <p:nvPr/>
        </p:nvSpPr>
        <p:spPr>
          <a:xfrm>
            <a:off x="8220456" y="1920240"/>
            <a:ext cx="3145536" cy="914400"/>
          </a:xfrm>
          <a:prstGeom prst="rect">
            <a:avLst/>
          </a:prstGeom>
          <a:noFill/>
          <a:ln/>
        </p:spPr>
        <p:txBody>
          <a:bodyPr wrap="square" lIns="0" tIns="0" rIns="0" bIns="0" rtlCol="0" anchor="t"/>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Ce facem acum</a:t>
            </a:r>
            <a:endParaRPr lang="en-US" sz="2400" dirty="0"/>
          </a:p>
        </p:txBody>
      </p:sp>
      <p:sp>
        <p:nvSpPr>
          <p:cNvPr id="15" name="Text 13"/>
          <p:cNvSpPr/>
          <p:nvPr/>
        </p:nvSpPr>
        <p:spPr>
          <a:xfrm>
            <a:off x="8220456" y="2926080"/>
            <a:ext cx="3145536" cy="777240"/>
          </a:xfrm>
          <a:prstGeom prst="rect">
            <a:avLst/>
          </a:prstGeom>
          <a:noFill/>
          <a:ln/>
        </p:spPr>
        <p:txBody>
          <a:bodyPr wrap="square" lIns="0" tIns="0" rIns="0" bIns="0" rtlCol="0" anchor="t"/>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Pașii concreți pe care îi poate urma fiecare.</a:t>
            </a:r>
            <a:endParaRPr lang="en-US" sz="1900" dirty="0"/>
          </a:p>
        </p:txBody>
      </p:sp>
      <p:sp>
        <p:nvSpPr>
          <p:cNvPr id="16" name="Shape 14"/>
          <p:cNvSpPr/>
          <p:nvPr/>
        </p:nvSpPr>
        <p:spPr>
          <a:xfrm>
            <a:off x="594360" y="4069080"/>
            <a:ext cx="10972800" cy="1828800"/>
          </a:xfrm>
          <a:prstGeom prst="roundRect">
            <a:avLst>
              <a:gd name="adj" fmla="val 4500"/>
            </a:avLst>
          </a:prstGeom>
          <a:solidFill>
            <a:srgbClr val="11121A"/>
          </a:solidFill>
          <a:ln w="12700">
            <a:solidFill>
              <a:srgbClr val="11121A"/>
            </a:solidFill>
            <a:prstDash val="solid"/>
          </a:ln>
        </p:spPr>
        <p:txBody>
          <a:bodyPr/>
          <a:p/>
        </p:txBody>
      </p:sp>
      <p:sp>
        <p:nvSpPr>
          <p:cNvPr id="17" name="Text 15"/>
          <p:cNvSpPr/>
          <p:nvPr/>
        </p:nvSpPr>
        <p:spPr>
          <a:xfrm>
            <a:off x="868680" y="4069080"/>
            <a:ext cx="10424160" cy="182880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Când apare un risc (un val de căldură, o apă suspectă la bazin, o boală respiratorie care circulă): transparență, același mesaj pe toate canalele, recunoașterea deschisă a incertitudinii. Ascultați întrebările oamenilor și construiți mesajele împreună cu ei, nu doar le transmiteți.</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SALĂ</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MAMA ȘI EXAMENUL CT · CIFRELE</a:t>
            </a:r>
            <a:endParaRPr lang="en-US" sz="1300" dirty="0"/>
          </a:p>
        </p:txBody>
      </p:sp>
      <p:sp>
        <p:nvSpPr>
          <p:cNvPr id="5" name="Shape 3"/>
          <p:cNvSpPr/>
          <p:nvPr/>
        </p:nvSpPr>
        <p:spPr>
          <a:xfrm>
            <a:off x="594360" y="1280160"/>
            <a:ext cx="5394960" cy="3291840"/>
          </a:xfrm>
          <a:prstGeom prst="roundRect">
            <a:avLst>
              <a:gd name="adj" fmla="val 2500"/>
            </a:avLst>
          </a:prstGeom>
          <a:solidFill>
            <a:srgbClr val="1D1F2B"/>
          </a:solidFill>
          <a:ln w="12700">
            <a:solidFill>
              <a:srgbClr val="1D1F2B"/>
            </a:solidFill>
            <a:prstDash val="solid"/>
          </a:ln>
        </p:spPr>
        <p:txBody>
          <a:bodyPr/>
          <a:p/>
        </p:txBody>
      </p:sp>
      <p:sp>
        <p:nvSpPr>
          <p:cNvPr id="6" name="Text 4"/>
          <p:cNvSpPr/>
          <p:nvPr/>
        </p:nvSpPr>
        <p:spPr>
          <a:xfrm>
            <a:off x="868680" y="1417320"/>
            <a:ext cx="4937760" cy="1188720"/>
          </a:xfrm>
          <a:prstGeom prst="rect">
            <a:avLst/>
          </a:prstGeom>
          <a:noFill/>
          <a:ln/>
        </p:spPr>
        <p:txBody>
          <a:bodyPr wrap="square" lIns="0" tIns="0" rIns="0" bIns="0" rtlCol="0" anchor="ctr"/>
          <a:lstStyle/>
          <a:p>
            <a:pPr indent="0" marL="0">
              <a:buNone/>
            </a:pPr>
            <a:r>
              <a:rPr lang="en-US" sz="4000" b="1" dirty="0">
                <a:solidFill>
                  <a:srgbClr val="FF4757"/>
                </a:solidFill>
                <a:latin typeface="Palatino Linotype" pitchFamily="34" charset="0"/>
                <a:ea typeface="Palatino Linotype" pitchFamily="34" charset="-122"/>
                <a:cs typeface="Palatino Linotype" pitchFamily="34" charset="-120"/>
              </a:rPr>
              <a:t>de aproape trei ori</a:t>
            </a:r>
            <a:endParaRPr lang="en-US" sz="4000" dirty="0"/>
          </a:p>
        </p:txBody>
      </p:sp>
      <p:sp>
        <p:nvSpPr>
          <p:cNvPr id="7" name="Text 5"/>
          <p:cNvSpPr/>
          <p:nvPr/>
        </p:nvSpPr>
        <p:spPr>
          <a:xfrm>
            <a:off x="868680" y="2697480"/>
            <a:ext cx="4846320" cy="1737360"/>
          </a:xfrm>
          <a:prstGeom prst="rect">
            <a:avLst/>
          </a:prstGeom>
          <a:noFill/>
          <a:ln/>
        </p:spPr>
        <p:txBody>
          <a:bodyPr wrap="square" lIns="0" tIns="0" rIns="0" bIns="0" rtlCol="0" anchor="t"/>
          <a:lstStyle/>
          <a:p>
            <a:pPr indent="0" marL="0">
              <a:buNone/>
            </a:pPr>
            <a:r>
              <a:rPr lang="en-US" sz="2000" dirty="0">
                <a:solidFill>
                  <a:srgbClr val="E6E8EF"/>
                </a:solidFill>
                <a:latin typeface="Palatino Linotype" pitchFamily="34" charset="0"/>
                <a:ea typeface="Palatino Linotype" pitchFamily="34" charset="-122"/>
                <a:cs typeface="Palatino Linotype" pitchFamily="34" charset="-120"/>
              </a:rPr>
              <a:t>riscul relativ, la doze adunate din mai multe examinări, într-un studiu britanic publicat în 2012.</a:t>
            </a:r>
            <a:endParaRPr lang="en-US" sz="2000" dirty="0"/>
          </a:p>
        </p:txBody>
      </p:sp>
      <p:sp>
        <p:nvSpPr>
          <p:cNvPr id="8" name="Shape 6"/>
          <p:cNvSpPr/>
          <p:nvPr/>
        </p:nvSpPr>
        <p:spPr>
          <a:xfrm>
            <a:off x="6217920" y="1280160"/>
            <a:ext cx="5349240" cy="3291840"/>
          </a:xfrm>
          <a:prstGeom prst="roundRect">
            <a:avLst>
              <a:gd name="adj" fmla="val 2500"/>
            </a:avLst>
          </a:prstGeom>
          <a:solidFill>
            <a:srgbClr val="1D1F2B"/>
          </a:solidFill>
          <a:ln w="12700">
            <a:solidFill>
              <a:srgbClr val="1D1F2B"/>
            </a:solidFill>
            <a:prstDash val="solid"/>
          </a:ln>
        </p:spPr>
        <p:txBody>
          <a:bodyPr/>
          <a:p/>
        </p:txBody>
      </p:sp>
      <p:sp>
        <p:nvSpPr>
          <p:cNvPr id="9" name="Text 7"/>
          <p:cNvSpPr/>
          <p:nvPr/>
        </p:nvSpPr>
        <p:spPr>
          <a:xfrm>
            <a:off x="6492240" y="1417320"/>
            <a:ext cx="4846320" cy="1188720"/>
          </a:xfrm>
          <a:prstGeom prst="rect">
            <a:avLst/>
          </a:prstGeom>
          <a:noFill/>
          <a:ln/>
        </p:spPr>
        <p:txBody>
          <a:bodyPr wrap="square" lIns="0" tIns="0" rIns="0" bIns="0" rtlCol="0" anchor="ctr"/>
          <a:lstStyle/>
          <a:p>
            <a:pPr indent="0" marL="0">
              <a:buNone/>
            </a:pPr>
            <a:r>
              <a:rPr lang="en-US" sz="6400" b="1" dirty="0">
                <a:solidFill>
                  <a:srgbClr val="27D3BE"/>
                </a:solidFill>
                <a:latin typeface="Palatino Linotype" pitchFamily="34" charset="0"/>
                <a:ea typeface="Palatino Linotype" pitchFamily="34" charset="-122"/>
                <a:cs typeface="Palatino Linotype" pitchFamily="34" charset="-120"/>
              </a:rPr>
              <a:t>10 000</a:t>
            </a:r>
            <a:endParaRPr lang="en-US" sz="6400" dirty="0"/>
          </a:p>
        </p:txBody>
      </p:sp>
      <p:sp>
        <p:nvSpPr>
          <p:cNvPr id="10" name="Text 8"/>
          <p:cNvSpPr/>
          <p:nvPr/>
        </p:nvSpPr>
        <p:spPr>
          <a:xfrm>
            <a:off x="6492240" y="2697480"/>
            <a:ext cx="4846320" cy="1737360"/>
          </a:xfrm>
          <a:prstGeom prst="rect">
            <a:avLst/>
          </a:prstGeom>
          <a:noFill/>
          <a:ln/>
        </p:spPr>
        <p:txBody>
          <a:bodyPr wrap="square" lIns="0" tIns="0" rIns="0" bIns="0" rtlCol="0" anchor="t"/>
          <a:lstStyle/>
          <a:p>
            <a:pPr indent="0" marL="0">
              <a:buNone/>
            </a:pPr>
            <a:r>
              <a:rPr lang="en-US" sz="2000" dirty="0">
                <a:solidFill>
                  <a:srgbClr val="E6E8EF"/>
                </a:solidFill>
                <a:latin typeface="Palatino Linotype" pitchFamily="34" charset="0"/>
                <a:ea typeface="Palatino Linotype" pitchFamily="34" charset="-122"/>
                <a:cs typeface="Palatino Linotype" pitchFamily="34" charset="-120"/>
              </a:rPr>
              <a:t>de examene CT ale capului, la copii sub 10 ani: în 10 ani, un caz în plus de leucemie și unul de tumoră cerebrală.</a:t>
            </a:r>
            <a:endParaRPr lang="en-US" sz="2000" dirty="0"/>
          </a:p>
        </p:txBody>
      </p:sp>
      <p:sp>
        <p:nvSpPr>
          <p:cNvPr id="11" name="Text 9"/>
          <p:cNvSpPr/>
          <p:nvPr/>
        </p:nvSpPr>
        <p:spPr>
          <a:xfrm>
            <a:off x="594360" y="4800600"/>
            <a:ext cx="10972800" cy="731520"/>
          </a:xfrm>
          <a:prstGeom prst="rect">
            <a:avLst/>
          </a:prstGeom>
          <a:noFill/>
          <a:ln/>
        </p:spPr>
        <p:txBody>
          <a:bodyPr wrap="square" lIns="0" tIns="0" rIns="0" bIns="0" rtlCol="0" anchor="ctr"/>
          <a:lstStyle/>
          <a:p>
            <a:pPr indent="0" marL="0">
              <a:buNone/>
            </a:pPr>
            <a:r>
              <a:rPr lang="en-US" sz="2400" b="1" dirty="0">
                <a:solidFill>
                  <a:srgbClr val="FFC24B"/>
                </a:solidFill>
                <a:latin typeface="Palatino Linotype" pitchFamily="34" charset="0"/>
                <a:ea typeface="Palatino Linotype" pitchFamily="34" charset="-122"/>
                <a:cs typeface="Palatino Linotype" pitchFamily="34" charset="-120"/>
              </a:rPr>
              <a:t>Cum îi spuneți mamei „un caz în plus la 10 000”?</a:t>
            </a:r>
            <a:endParaRPr lang="en-US" sz="2400" dirty="0"/>
          </a:p>
        </p:txBody>
      </p:sp>
      <p:sp>
        <p:nvSpPr>
          <p:cNvPr id="12" name="Text 10"/>
          <p:cNvSpPr/>
          <p:nvPr/>
        </p:nvSpPr>
        <p:spPr>
          <a:xfrm>
            <a:off x="594360" y="5897880"/>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Studiu britanic, cohortă retrospectivă, publicat în 2012: pacienți la care primul examen CT se făcuse înainte de 22 de ani.</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CINE SPUNE CE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Riscul există, este mic, iar echipa îl ține cât mai mic</a:t>
            </a:r>
            <a:endParaRPr lang="en-US" sz="2800" dirty="0"/>
          </a:p>
        </p:txBody>
      </p:sp>
      <p:sp>
        <p:nvSpPr>
          <p:cNvPr id="4" name="Shape 2"/>
          <p:cNvSpPr/>
          <p:nvPr/>
        </p:nvSpPr>
        <p:spPr>
          <a:xfrm>
            <a:off x="594360" y="1691640"/>
            <a:ext cx="4846320" cy="3017520"/>
          </a:xfrm>
          <a:prstGeom prst="roundRect">
            <a:avLst>
              <a:gd name="adj" fmla="val 2727"/>
            </a:avLst>
          </a:prstGeom>
          <a:solidFill>
            <a:srgbClr val="ECEAE4"/>
          </a:solidFill>
          <a:ln w="12700">
            <a:solidFill>
              <a:srgbClr val="ECEAE4"/>
            </a:solidFill>
            <a:prstDash val="solid"/>
          </a:ln>
        </p:spPr>
        <p:txBody>
          <a:bodyPr/>
          <a:p/>
        </p:txBody>
      </p:sp>
      <p:sp>
        <p:nvSpPr>
          <p:cNvPr id="5" name="Shape 3"/>
          <p:cNvSpPr/>
          <p:nvPr/>
        </p:nvSpPr>
        <p:spPr>
          <a:xfrm>
            <a:off x="594360" y="1691640"/>
            <a:ext cx="82296" cy="3017520"/>
          </a:xfrm>
          <a:prstGeom prst="rect">
            <a:avLst/>
          </a:prstGeom>
          <a:solidFill>
            <a:srgbClr val="4A2D8C"/>
          </a:solidFill>
          <a:ln w="12700">
            <a:solidFill>
              <a:srgbClr val="4A2D8C"/>
            </a:solidFill>
            <a:prstDash val="solid"/>
          </a:ln>
        </p:spPr>
        <p:txBody>
          <a:bodyPr/>
          <a:p/>
        </p:txBody>
      </p:sp>
      <p:sp>
        <p:nvSpPr>
          <p:cNvPr id="6" name="Text 4"/>
          <p:cNvSpPr/>
          <p:nvPr/>
        </p:nvSpPr>
        <p:spPr>
          <a:xfrm>
            <a:off x="914400" y="1828800"/>
            <a:ext cx="4389120" cy="457200"/>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Medicul</a:t>
            </a:r>
            <a:endParaRPr lang="en-US" sz="2200" dirty="0"/>
          </a:p>
        </p:txBody>
      </p:sp>
      <p:sp>
        <p:nvSpPr>
          <p:cNvPr id="7" name="Text 5"/>
          <p:cNvSpPr/>
          <p:nvPr/>
        </p:nvSpPr>
        <p:spPr>
          <a:xfrm>
            <a:off x="914400" y="2423160"/>
            <a:ext cx="4343400" cy="21945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 apreciat că, la acest copil, beneficiul investigației depășește riscul. El explică beneficiul și riscul.</a:t>
            </a:r>
            <a:endParaRPr lang="en-US" sz="1800" dirty="0"/>
          </a:p>
        </p:txBody>
      </p:sp>
      <p:sp>
        <p:nvSpPr>
          <p:cNvPr id="8" name="Shape 6"/>
          <p:cNvSpPr/>
          <p:nvPr/>
        </p:nvSpPr>
        <p:spPr>
          <a:xfrm>
            <a:off x="5715000" y="1691640"/>
            <a:ext cx="5852160" cy="3017520"/>
          </a:xfrm>
          <a:prstGeom prst="roundRect">
            <a:avLst>
              <a:gd name="adj" fmla="val 2727"/>
            </a:avLst>
          </a:prstGeom>
          <a:solidFill>
            <a:srgbClr val="07564B"/>
          </a:solidFill>
          <a:ln w="12700">
            <a:solidFill>
              <a:srgbClr val="07564B"/>
            </a:solidFill>
            <a:prstDash val="solid"/>
          </a:ln>
        </p:spPr>
        <p:txBody>
          <a:bodyPr/>
          <a:p/>
        </p:txBody>
      </p:sp>
      <p:sp>
        <p:nvSpPr>
          <p:cNvPr id="9" name="Text 7"/>
          <p:cNvSpPr/>
          <p:nvPr/>
        </p:nvSpPr>
        <p:spPr>
          <a:xfrm>
            <a:off x="5989320" y="1828800"/>
            <a:ext cx="5394960" cy="45720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Voi</a:t>
            </a:r>
            <a:endParaRPr lang="en-US" sz="2200" dirty="0"/>
          </a:p>
        </p:txBody>
      </p:sp>
      <p:sp>
        <p:nvSpPr>
          <p:cNvPr id="10" name="Text 8"/>
          <p:cNvSpPr/>
          <p:nvPr/>
        </p:nvSpPr>
        <p:spPr>
          <a:xfrm>
            <a:off x="5989320" y="2423160"/>
            <a:ext cx="544068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FFFFF"/>
                </a:solidFill>
                <a:latin typeface="Palatino Linotype" pitchFamily="34" charset="0"/>
                <a:ea typeface="Palatino Linotype" pitchFamily="34" charset="-122"/>
                <a:cs typeface="Palatino Linotype" pitchFamily="34" charset="-120"/>
              </a:rPr>
              <a:t>Explicați procedura și ce face echipa ca doza să fie cât mai mică</a:t>
            </a:r>
            <a:endParaRPr lang="en-US" sz="1800" dirty="0"/>
          </a:p>
          <a:p>
            <a:pPr marL="342900" indent="-342900">
              <a:spcAft>
                <a:spcPts val="800"/>
              </a:spcAft>
              <a:buSzPct val="100000"/>
              <a:buChar char="•"/>
            </a:pPr>
            <a:r>
              <a:rPr lang="en-US" sz="1800" dirty="0">
                <a:solidFill>
                  <a:srgbClr val="FFFFFF"/>
                </a:solidFill>
                <a:latin typeface="Palatino Linotype" pitchFamily="34" charset="0"/>
                <a:ea typeface="Palatino Linotype" pitchFamily="34" charset="-122"/>
                <a:cs typeface="Palatino Linotype" pitchFamily="34" charset="-120"/>
              </a:rPr>
              <a:t>Răspundeți cinstit la întrebări</a:t>
            </a:r>
            <a:endParaRPr lang="en-US" sz="1800" dirty="0"/>
          </a:p>
          <a:p>
            <a:pPr marL="342900" indent="-342900">
              <a:spcAft>
                <a:spcPts val="800"/>
              </a:spcAft>
              <a:buSzPct val="100000"/>
              <a:buChar char="•"/>
            </a:pPr>
            <a:r>
              <a:rPr lang="en-US" sz="1800" dirty="0">
                <a:solidFill>
                  <a:srgbClr val="FFFFFF"/>
                </a:solidFill>
                <a:latin typeface="Palatino Linotype" pitchFamily="34" charset="0"/>
                <a:ea typeface="Palatino Linotype" pitchFamily="34" charset="-122"/>
                <a:cs typeface="Palatino Linotype" pitchFamily="34" charset="-120"/>
              </a:rPr>
              <a:t>Chemați medicul când întrebarea privește decizia</a:t>
            </a:r>
            <a:endParaRPr lang="en-US" sz="1800" dirty="0"/>
          </a:p>
        </p:txBody>
      </p:sp>
      <p:sp>
        <p:nvSpPr>
          <p:cNvPr id="11" name="Shape 9"/>
          <p:cNvSpPr/>
          <p:nvPr/>
        </p:nvSpPr>
        <p:spPr>
          <a:xfrm>
            <a:off x="594360" y="4937760"/>
            <a:ext cx="10972800" cy="960120"/>
          </a:xfrm>
          <a:prstGeom prst="roundRect">
            <a:avLst>
              <a:gd name="adj" fmla="val 8571"/>
            </a:avLst>
          </a:prstGeom>
          <a:solidFill>
            <a:srgbClr val="11121A"/>
          </a:solidFill>
          <a:ln w="12700">
            <a:solidFill>
              <a:srgbClr val="11121A"/>
            </a:solidFill>
            <a:prstDash val="solid"/>
          </a:ln>
        </p:spPr>
        <p:txBody>
          <a:bodyPr/>
          <a:p/>
        </p:txBody>
      </p:sp>
      <p:sp>
        <p:nvSpPr>
          <p:cNvPr id="12" name="Text 10"/>
          <p:cNvSpPr/>
          <p:nvPr/>
        </p:nvSpPr>
        <p:spPr>
          <a:xfrm>
            <a:off x="868680" y="4937760"/>
            <a:ext cx="10424160" cy="96012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Autorii studiului: beneficiul clinic trebuie să depășească riscul, dozele se țin cât mai mici, iar alternativele fără radiații ionizante se iau în considerare.</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DATELE PACIENTULUI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Imaginea și rezultatul sunt date despre sănătate</a:t>
            </a:r>
            <a:endParaRPr lang="en-US" sz="3000" dirty="0"/>
          </a:p>
        </p:txBody>
      </p:sp>
      <p:sp>
        <p:nvSpPr>
          <p:cNvPr id="4" name="Shape 2"/>
          <p:cNvSpPr/>
          <p:nvPr/>
        </p:nvSpPr>
        <p:spPr>
          <a:xfrm rot="-60000">
            <a:off x="731520" y="1645920"/>
            <a:ext cx="5760720" cy="4297680"/>
          </a:xfrm>
          <a:prstGeom prst="rect">
            <a:avLst/>
          </a:prstGeom>
          <a:solidFill>
            <a:srgbClr val="FBF8F1"/>
          </a:solidFill>
          <a:ln w="9525">
            <a:solidFill>
              <a:srgbClr val="E4DFD2"/>
            </a:solidFill>
            <a:prstDash val="solid"/>
          </a:ln>
          <a:effectLst>
            <a:outerShdw sx="100000" sy="100000" kx="0" ky="0" algn="bl" rotWithShape="0" blurRad="127000" dist="63500" dir="3600000">
              <a:srgbClr val="000000">
                <a:alpha val="45000"/>
              </a:srgbClr>
            </a:outerShdw>
          </a:effectLst>
        </p:spPr>
        <p:txBody>
          <a:bodyPr/>
          <a:p/>
        </p:txBody>
      </p:sp>
      <p:sp>
        <p:nvSpPr>
          <p:cNvPr id="5" name="Text 3"/>
          <p:cNvSpPr/>
          <p:nvPr/>
        </p:nvSpPr>
        <p:spPr>
          <a:xfrm rot="-60000">
            <a:off x="1005840" y="1828800"/>
            <a:ext cx="5212080" cy="36576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REGULAMENTUL (UE) 2016/679</a:t>
            </a:r>
            <a:endParaRPr lang="en-US" sz="1300" dirty="0"/>
          </a:p>
        </p:txBody>
      </p:sp>
      <p:sp>
        <p:nvSpPr>
          <p:cNvPr id="6" name="Text 4"/>
          <p:cNvSpPr/>
          <p:nvPr/>
        </p:nvSpPr>
        <p:spPr>
          <a:xfrm rot="-60000">
            <a:off x="1005840" y="2331720"/>
            <a:ext cx="5257800" cy="3474720"/>
          </a:xfrm>
          <a:prstGeom prst="rect">
            <a:avLst/>
          </a:prstGeom>
          <a:noFill/>
          <a:ln/>
        </p:spPr>
        <p:txBody>
          <a:bodyPr wrap="square" lIns="0" tIns="0" rIns="0" bIns="0" rtlCol="0" anchor="t"/>
          <a:lstStyle/>
          <a:p>
            <a:pPr indent="0" marL="0">
              <a:spcAft>
                <a:spcPts val="900"/>
              </a:spcAft>
              <a:buNone/>
            </a:pPr>
            <a:r>
              <a:rPr lang="en-US" sz="1450" b="1" dirty="0">
                <a:solidFill>
                  <a:srgbClr val="11121A"/>
                </a:solidFill>
                <a:latin typeface="Palatino Linotype" pitchFamily="34" charset="0"/>
                <a:ea typeface="Palatino Linotype" pitchFamily="34" charset="-122"/>
                <a:cs typeface="Palatino Linotype" pitchFamily="34" charset="-120"/>
              </a:rPr>
              <a:t>Art. 9 alin. (1): </a:t>
            </a:r>
            <a:pPr indent="0" marL="0">
              <a:spcAft>
                <a:spcPts val="900"/>
              </a:spcAft>
              <a:buNone/>
            </a:pPr>
            <a:r>
              <a:rPr lang="en-US" sz="1450" dirty="0">
                <a:solidFill>
                  <a:srgbClr val="11121A"/>
                </a:solidFill>
                <a:latin typeface="Palatino Linotype" pitchFamily="34" charset="0"/>
                <a:ea typeface="Palatino Linotype" pitchFamily="34" charset="-122"/>
                <a:cs typeface="Palatino Linotype" pitchFamily="34" charset="-120"/>
              </a:rPr>
              <a:t>„se interzice prelucrarea” datelor „privind sănătatea”.</a:t>
            </a:r>
            <a:endParaRPr lang="en-US" sz="1450" dirty="0"/>
          </a:p>
          <a:p>
            <a:pPr indent="0" marL="0">
              <a:spcAft>
                <a:spcPts val="900"/>
              </a:spcAft>
              <a:buNone/>
            </a:pPr>
            <a:r>
              <a:rPr lang="en-US" sz="1450" b="1" dirty="0">
                <a:solidFill>
                  <a:srgbClr val="11121A"/>
                </a:solidFill>
                <a:latin typeface="Palatino Linotype" pitchFamily="34" charset="0"/>
                <a:ea typeface="Palatino Linotype" pitchFamily="34" charset="-122"/>
                <a:cs typeface="Palatino Linotype" pitchFamily="34" charset="-120"/>
              </a:rPr>
              <a:t>Art. 9 alin. (2) lit. (h): </a:t>
            </a:r>
            <a:pPr indent="0" marL="0">
              <a:spcAft>
                <a:spcPts val="900"/>
              </a:spcAft>
              <a:buNone/>
            </a:pPr>
            <a:r>
              <a:rPr lang="en-US" sz="1450" dirty="0">
                <a:solidFill>
                  <a:srgbClr val="11121A"/>
                </a:solidFill>
                <a:latin typeface="Palatino Linotype" pitchFamily="34" charset="0"/>
                <a:ea typeface="Palatino Linotype" pitchFamily="34" charset="-122"/>
                <a:cs typeface="Palatino Linotype" pitchFamily="34" charset="-120"/>
              </a:rPr>
              <a:t>excepție pentru prelucrarea necesară diagnosticului medical sau furnizării asistenței ori a tratamentului medical, cu garanțiile de la alin. (3).</a:t>
            </a:r>
            <a:endParaRPr lang="en-US" sz="1450" dirty="0"/>
          </a:p>
          <a:p>
            <a:pPr indent="0" marL="0">
              <a:spcAft>
                <a:spcPts val="900"/>
              </a:spcAft>
              <a:buNone/>
            </a:pPr>
            <a:r>
              <a:rPr lang="en-US" sz="1450" b="1" dirty="0">
                <a:solidFill>
                  <a:srgbClr val="11121A"/>
                </a:solidFill>
                <a:latin typeface="Palatino Linotype" pitchFamily="34" charset="0"/>
                <a:ea typeface="Palatino Linotype" pitchFamily="34" charset="-122"/>
                <a:cs typeface="Palatino Linotype" pitchFamily="34" charset="-120"/>
              </a:rPr>
              <a:t>Art. 5 alin. (1) lit. (c): </a:t>
            </a:r>
            <a:pPr indent="0" marL="0">
              <a:spcAft>
                <a:spcPts val="900"/>
              </a:spcAft>
              <a:buNone/>
            </a:pPr>
            <a:r>
              <a:rPr lang="en-US" sz="1450" dirty="0">
                <a:solidFill>
                  <a:srgbClr val="11121A"/>
                </a:solidFill>
                <a:latin typeface="Palatino Linotype" pitchFamily="34" charset="0"/>
                <a:ea typeface="Palatino Linotype" pitchFamily="34" charset="-122"/>
                <a:cs typeface="Palatino Linotype" pitchFamily="34" charset="-120"/>
              </a:rPr>
              <a:t>datele trebuie să fie „adecvate, relevante și limitate la ceea ce este necesar în raport cu scopurile în care sunt prelucrate”.</a:t>
            </a:r>
            <a:endParaRPr lang="en-US" sz="1450" dirty="0"/>
          </a:p>
        </p:txBody>
      </p:sp>
      <p:sp>
        <p:nvSpPr>
          <p:cNvPr id="7" name="Text 5"/>
          <p:cNvSpPr/>
          <p:nvPr/>
        </p:nvSpPr>
        <p:spPr>
          <a:xfrm>
            <a:off x="6858000" y="1737360"/>
            <a:ext cx="4709160" cy="411480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rgbClr val="FFFFFF"/>
                </a:solidFill>
                <a:latin typeface="Palatino Linotype" pitchFamily="34" charset="0"/>
                <a:ea typeface="Palatino Linotype" pitchFamily="34" charset="-122"/>
                <a:cs typeface="Palatino Linotype" pitchFamily="34" charset="-120"/>
              </a:rPr>
              <a:t>Un rezultat trimis pe o aplicație de mesagerie personală poate încălca aceste reguli.</a:t>
            </a:r>
            <a:endParaRPr lang="en-US" sz="1700" dirty="0"/>
          </a:p>
          <a:p>
            <a:pPr marL="342900" indent="-342900">
              <a:spcAft>
                <a:spcPts val="900"/>
              </a:spcAft>
              <a:buSzPct val="100000"/>
              <a:buChar char="•"/>
            </a:pPr>
            <a:r>
              <a:rPr lang="en-US" sz="1700" dirty="0">
                <a:solidFill>
                  <a:srgbClr val="FFFFFF"/>
                </a:solidFill>
                <a:latin typeface="Palatino Linotype" pitchFamily="34" charset="0"/>
                <a:ea typeface="Palatino Linotype" pitchFamily="34" charset="-122"/>
                <a:cs typeface="Palatino Linotype" pitchFamily="34" charset="-120"/>
              </a:rPr>
              <a:t>La fel, o imagine postată pentru „un caz interesant”.</a:t>
            </a:r>
            <a:endParaRPr lang="en-US" sz="1700" dirty="0"/>
          </a:p>
          <a:p>
            <a:pPr marL="342900" indent="-342900">
              <a:spcAft>
                <a:spcPts val="900"/>
              </a:spcAft>
              <a:buSzPct val="100000"/>
              <a:buChar char="•"/>
            </a:pPr>
            <a:r>
              <a:rPr lang="en-US" sz="1700" dirty="0">
                <a:solidFill>
                  <a:srgbClr val="FFFFFF"/>
                </a:solidFill>
                <a:latin typeface="Palatino Linotype" pitchFamily="34" charset="0"/>
                <a:ea typeface="Palatino Linotype" pitchFamily="34" charset="-122"/>
                <a:cs typeface="Palatino Linotype" pitchFamily="34" charset="-120"/>
              </a:rPr>
              <a:t>O imagine din care s-a șters doar numele poate rămâne identificabilă: după dată, spital sau detaliile din imagine.</a:t>
            </a:r>
            <a:endParaRPr lang="en-US" sz="1700" dirty="0"/>
          </a:p>
          <a:p>
            <a:pPr marL="342900" indent="-342900">
              <a:spcAft>
                <a:spcPts val="900"/>
              </a:spcAft>
              <a:buSzPct val="100000"/>
              <a:buChar char="•"/>
            </a:pPr>
            <a:r>
              <a:rPr lang="en-US" sz="1700" b="1" dirty="0">
                <a:solidFill>
                  <a:srgbClr val="FFFFFF"/>
                </a:solidFill>
                <a:latin typeface="Palatino Linotype" pitchFamily="34" charset="0"/>
                <a:ea typeface="Palatino Linotype" pitchFamily="34" charset="-122"/>
                <a:cs typeface="Palatino Linotype" pitchFamily="34" charset="-120"/>
              </a:rPr>
              <a:t>Urmați procedura spitalului.</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ACCESIBILITATEA · REZULTATUL PE PORTAL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Un rezultat pe care îl poate citi oricine</a:t>
            </a:r>
            <a:endParaRPr lang="en-US" sz="3000" dirty="0"/>
          </a:p>
        </p:txBody>
      </p:sp>
      <p:sp>
        <p:nvSpPr>
          <p:cNvPr id="4" name="Text 2"/>
          <p:cNvSpPr/>
          <p:nvPr/>
        </p:nvSpPr>
        <p:spPr>
          <a:xfrm>
            <a:off x="594360" y="1600200"/>
            <a:ext cx="10972800" cy="4114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WCAG 2.1, ghidul internațional pentru conținut web accesibil, cere patru lucruri:</a:t>
            </a:r>
            <a:endParaRPr lang="en-US" sz="1700" dirty="0"/>
          </a:p>
        </p:txBody>
      </p:sp>
      <p:sp>
        <p:nvSpPr>
          <p:cNvPr id="5" name="Shape 3"/>
          <p:cNvSpPr/>
          <p:nvPr/>
        </p:nvSpPr>
        <p:spPr>
          <a:xfrm>
            <a:off x="594360" y="2103120"/>
            <a:ext cx="2651760" cy="329184"/>
          </a:xfrm>
          <a:prstGeom prst="roundRect">
            <a:avLst>
              <a:gd name="adj" fmla="val 50000"/>
            </a:avLst>
          </a:prstGeom>
          <a:solidFill>
            <a:srgbClr val="4A2D8C"/>
          </a:solidFill>
          <a:ln w="12700">
            <a:solidFill>
              <a:srgbClr val="4A2D8C"/>
            </a:solidFill>
            <a:prstDash val="solid"/>
          </a:ln>
        </p:spPr>
        <p:txBody>
          <a:bodyPr/>
          <a:p/>
        </p:txBody>
      </p:sp>
      <p:sp>
        <p:nvSpPr>
          <p:cNvPr id="6" name="Text 4"/>
          <p:cNvSpPr/>
          <p:nvPr/>
        </p:nvSpPr>
        <p:spPr>
          <a:xfrm>
            <a:off x="594360" y="2103120"/>
            <a:ext cx="265176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perceptibil</a:t>
            </a:r>
            <a:endParaRPr lang="en-US" sz="1600" dirty="0"/>
          </a:p>
        </p:txBody>
      </p:sp>
      <p:sp>
        <p:nvSpPr>
          <p:cNvPr id="7" name="Shape 5"/>
          <p:cNvSpPr/>
          <p:nvPr/>
        </p:nvSpPr>
        <p:spPr>
          <a:xfrm>
            <a:off x="3383280" y="2103120"/>
            <a:ext cx="2651760" cy="329184"/>
          </a:xfrm>
          <a:prstGeom prst="roundRect">
            <a:avLst>
              <a:gd name="adj" fmla="val 50000"/>
            </a:avLst>
          </a:prstGeom>
          <a:solidFill>
            <a:srgbClr val="4A2D8C"/>
          </a:solidFill>
          <a:ln w="12700">
            <a:solidFill>
              <a:srgbClr val="4A2D8C"/>
            </a:solidFill>
            <a:prstDash val="solid"/>
          </a:ln>
        </p:spPr>
        <p:txBody>
          <a:bodyPr/>
          <a:p/>
        </p:txBody>
      </p:sp>
      <p:sp>
        <p:nvSpPr>
          <p:cNvPr id="8" name="Text 6"/>
          <p:cNvSpPr/>
          <p:nvPr/>
        </p:nvSpPr>
        <p:spPr>
          <a:xfrm>
            <a:off x="3383280" y="2103120"/>
            <a:ext cx="265176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operabil</a:t>
            </a:r>
            <a:endParaRPr lang="en-US" sz="1600" dirty="0"/>
          </a:p>
        </p:txBody>
      </p:sp>
      <p:sp>
        <p:nvSpPr>
          <p:cNvPr id="9" name="Shape 7"/>
          <p:cNvSpPr/>
          <p:nvPr/>
        </p:nvSpPr>
        <p:spPr>
          <a:xfrm>
            <a:off x="6172200" y="2103120"/>
            <a:ext cx="2651760" cy="329184"/>
          </a:xfrm>
          <a:prstGeom prst="roundRect">
            <a:avLst>
              <a:gd name="adj" fmla="val 50000"/>
            </a:avLst>
          </a:prstGeom>
          <a:solidFill>
            <a:srgbClr val="4A2D8C"/>
          </a:solidFill>
          <a:ln w="12700">
            <a:solidFill>
              <a:srgbClr val="4A2D8C"/>
            </a:solidFill>
            <a:prstDash val="solid"/>
          </a:ln>
        </p:spPr>
        <p:txBody>
          <a:bodyPr/>
          <a:p/>
        </p:txBody>
      </p:sp>
      <p:sp>
        <p:nvSpPr>
          <p:cNvPr id="10" name="Text 8"/>
          <p:cNvSpPr/>
          <p:nvPr/>
        </p:nvSpPr>
        <p:spPr>
          <a:xfrm>
            <a:off x="6172200" y="2103120"/>
            <a:ext cx="265176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ușor de înțeles</a:t>
            </a:r>
            <a:endParaRPr lang="en-US" sz="1600" dirty="0"/>
          </a:p>
        </p:txBody>
      </p:sp>
      <p:sp>
        <p:nvSpPr>
          <p:cNvPr id="11" name="Shape 9"/>
          <p:cNvSpPr/>
          <p:nvPr/>
        </p:nvSpPr>
        <p:spPr>
          <a:xfrm>
            <a:off x="8961120" y="2103120"/>
            <a:ext cx="2651760" cy="329184"/>
          </a:xfrm>
          <a:prstGeom prst="roundRect">
            <a:avLst>
              <a:gd name="adj" fmla="val 50000"/>
            </a:avLst>
          </a:prstGeom>
          <a:solidFill>
            <a:srgbClr val="4A2D8C"/>
          </a:solidFill>
          <a:ln w="12700">
            <a:solidFill>
              <a:srgbClr val="4A2D8C"/>
            </a:solidFill>
            <a:prstDash val="solid"/>
          </a:ln>
        </p:spPr>
        <p:txBody>
          <a:bodyPr/>
          <a:p/>
        </p:txBody>
      </p:sp>
      <p:sp>
        <p:nvSpPr>
          <p:cNvPr id="12" name="Text 10"/>
          <p:cNvSpPr/>
          <p:nvPr/>
        </p:nvSpPr>
        <p:spPr>
          <a:xfrm>
            <a:off x="8961120" y="2103120"/>
            <a:ext cx="265176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Palatino Linotype" pitchFamily="34" charset="0"/>
                <a:ea typeface="Palatino Linotype" pitchFamily="34" charset="-122"/>
                <a:cs typeface="Palatino Linotype" pitchFamily="34" charset="-120"/>
              </a:rPr>
              <a:t>robust</a:t>
            </a:r>
            <a:endParaRPr lang="en-US" sz="1600" dirty="0"/>
          </a:p>
        </p:txBody>
      </p:sp>
      <p:sp>
        <p:nvSpPr>
          <p:cNvPr id="13" name="Text 11"/>
          <p:cNvSpPr/>
          <p:nvPr/>
        </p:nvSpPr>
        <p:spPr>
          <a:xfrm>
            <a:off x="594360" y="2743200"/>
            <a:ext cx="10972800" cy="365760"/>
          </a:xfrm>
          <a:prstGeom prst="rect">
            <a:avLst/>
          </a:prstGeom>
          <a:noFill/>
          <a:ln/>
        </p:spPr>
        <p:txBody>
          <a:bodyPr wrap="square" lIns="0" tIns="0" rIns="0" bIns="0" rtlCol="0" anchor="t"/>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În practică</a:t>
            </a:r>
            <a:endParaRPr lang="en-US" sz="1700" dirty="0"/>
          </a:p>
        </p:txBody>
      </p:sp>
      <p:sp>
        <p:nvSpPr>
          <p:cNvPr id="14" name="Shape 12"/>
          <p:cNvSpPr/>
          <p:nvPr/>
        </p:nvSpPr>
        <p:spPr>
          <a:xfrm>
            <a:off x="594360" y="3154680"/>
            <a:ext cx="2619756" cy="1463040"/>
          </a:xfrm>
          <a:prstGeom prst="roundRect">
            <a:avLst>
              <a:gd name="adj" fmla="val 5625"/>
            </a:avLst>
          </a:prstGeom>
          <a:solidFill>
            <a:srgbClr val="ECEAE4"/>
          </a:solidFill>
          <a:ln w="12700">
            <a:solidFill>
              <a:srgbClr val="ECEAE4"/>
            </a:solidFill>
            <a:prstDash val="solid"/>
          </a:ln>
        </p:spPr>
        <p:txBody>
          <a:bodyPr/>
          <a:p/>
        </p:txBody>
      </p:sp>
      <p:sp>
        <p:nvSpPr>
          <p:cNvPr id="15" name="Shape 13"/>
          <p:cNvSpPr/>
          <p:nvPr/>
        </p:nvSpPr>
        <p:spPr>
          <a:xfrm>
            <a:off x="594360" y="3154680"/>
            <a:ext cx="2619756" cy="73152"/>
          </a:xfrm>
          <a:prstGeom prst="rect">
            <a:avLst/>
          </a:prstGeom>
          <a:solidFill>
            <a:srgbClr val="0E7C6B"/>
          </a:solidFill>
          <a:ln w="12700">
            <a:solidFill>
              <a:srgbClr val="0E7C6B"/>
            </a:solidFill>
            <a:prstDash val="solid"/>
          </a:ln>
        </p:spPr>
        <p:txBody>
          <a:bodyPr/>
          <a:p/>
        </p:txBody>
      </p:sp>
      <p:sp>
        <p:nvSpPr>
          <p:cNvPr id="16" name="Text 14"/>
          <p:cNvSpPr/>
          <p:nvPr/>
        </p:nvSpPr>
        <p:spPr>
          <a:xfrm>
            <a:off x="795528" y="3383280"/>
            <a:ext cx="2217420" cy="91440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Subtitrări</a:t>
            </a:r>
            <a:endParaRPr lang="en-US" sz="1900" dirty="0"/>
          </a:p>
        </p:txBody>
      </p:sp>
      <p:sp>
        <p:nvSpPr>
          <p:cNvPr id="17" name="Text 15"/>
          <p:cNvSpPr/>
          <p:nvPr/>
        </p:nvSpPr>
        <p:spPr>
          <a:xfrm>
            <a:off x="795528" y="4389120"/>
            <a:ext cx="2217420" cy="914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la clipuri</a:t>
            </a:r>
            <a:endParaRPr lang="en-US" sz="1500" dirty="0"/>
          </a:p>
        </p:txBody>
      </p:sp>
      <p:sp>
        <p:nvSpPr>
          <p:cNvPr id="18" name="Shape 16"/>
          <p:cNvSpPr/>
          <p:nvPr/>
        </p:nvSpPr>
        <p:spPr>
          <a:xfrm>
            <a:off x="3378708" y="3154680"/>
            <a:ext cx="2619756" cy="1463040"/>
          </a:xfrm>
          <a:prstGeom prst="roundRect">
            <a:avLst>
              <a:gd name="adj" fmla="val 5625"/>
            </a:avLst>
          </a:prstGeom>
          <a:solidFill>
            <a:srgbClr val="F9F8F5"/>
          </a:solidFill>
          <a:ln w="12700">
            <a:solidFill>
              <a:srgbClr val="F9F8F5"/>
            </a:solidFill>
            <a:prstDash val="solid"/>
          </a:ln>
        </p:spPr>
        <p:txBody>
          <a:bodyPr/>
          <a:p/>
        </p:txBody>
      </p:sp>
      <p:sp>
        <p:nvSpPr>
          <p:cNvPr id="19" name="Shape 17"/>
          <p:cNvSpPr/>
          <p:nvPr/>
        </p:nvSpPr>
        <p:spPr>
          <a:xfrm>
            <a:off x="3378708" y="3154680"/>
            <a:ext cx="2619756" cy="73152"/>
          </a:xfrm>
          <a:prstGeom prst="rect">
            <a:avLst/>
          </a:prstGeom>
          <a:solidFill>
            <a:srgbClr val="4A2D8C"/>
          </a:solidFill>
          <a:ln w="12700">
            <a:solidFill>
              <a:srgbClr val="4A2D8C"/>
            </a:solidFill>
            <a:prstDash val="solid"/>
          </a:ln>
        </p:spPr>
        <p:txBody>
          <a:bodyPr/>
          <a:p/>
        </p:txBody>
      </p:sp>
      <p:sp>
        <p:nvSpPr>
          <p:cNvPr id="20" name="Text 18"/>
          <p:cNvSpPr/>
          <p:nvPr/>
        </p:nvSpPr>
        <p:spPr>
          <a:xfrm>
            <a:off x="3579876" y="3383280"/>
            <a:ext cx="2217420" cy="914400"/>
          </a:xfrm>
          <a:prstGeom prst="rect">
            <a:avLst/>
          </a:prstGeom>
          <a:noFill/>
          <a:ln/>
        </p:spPr>
        <p:txBody>
          <a:bodyPr wrap="square" lIns="0" tIns="0" rIns="0" bIns="0" rtlCol="0" anchor="t"/>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Contrast bun</a:t>
            </a:r>
            <a:endParaRPr lang="en-US" sz="1900" dirty="0"/>
          </a:p>
        </p:txBody>
      </p:sp>
      <p:sp>
        <p:nvSpPr>
          <p:cNvPr id="21" name="Text 19"/>
          <p:cNvSpPr/>
          <p:nvPr/>
        </p:nvSpPr>
        <p:spPr>
          <a:xfrm>
            <a:off x="3579876" y="4389120"/>
            <a:ext cx="2217420" cy="914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între text și fundal</a:t>
            </a:r>
            <a:endParaRPr lang="en-US" sz="1500" dirty="0"/>
          </a:p>
        </p:txBody>
      </p:sp>
      <p:sp>
        <p:nvSpPr>
          <p:cNvPr id="22" name="Shape 20"/>
          <p:cNvSpPr/>
          <p:nvPr/>
        </p:nvSpPr>
        <p:spPr>
          <a:xfrm>
            <a:off x="6163056" y="3154680"/>
            <a:ext cx="2619756" cy="1463040"/>
          </a:xfrm>
          <a:prstGeom prst="roundRect">
            <a:avLst>
              <a:gd name="adj" fmla="val 5625"/>
            </a:avLst>
          </a:prstGeom>
          <a:solidFill>
            <a:srgbClr val="ECEAE4"/>
          </a:solidFill>
          <a:ln w="12700">
            <a:solidFill>
              <a:srgbClr val="ECEAE4"/>
            </a:solidFill>
            <a:prstDash val="solid"/>
          </a:ln>
        </p:spPr>
        <p:txBody>
          <a:bodyPr/>
          <a:p/>
        </p:txBody>
      </p:sp>
      <p:sp>
        <p:nvSpPr>
          <p:cNvPr id="23" name="Shape 21"/>
          <p:cNvSpPr/>
          <p:nvPr/>
        </p:nvSpPr>
        <p:spPr>
          <a:xfrm>
            <a:off x="6163056" y="3154680"/>
            <a:ext cx="2619756" cy="73152"/>
          </a:xfrm>
          <a:prstGeom prst="rect">
            <a:avLst/>
          </a:prstGeom>
          <a:solidFill>
            <a:srgbClr val="B02532"/>
          </a:solidFill>
          <a:ln w="12700">
            <a:solidFill>
              <a:srgbClr val="B02532"/>
            </a:solidFill>
            <a:prstDash val="solid"/>
          </a:ln>
        </p:spPr>
        <p:txBody>
          <a:bodyPr/>
          <a:p/>
        </p:txBody>
      </p:sp>
      <p:sp>
        <p:nvSpPr>
          <p:cNvPr id="24" name="Text 22"/>
          <p:cNvSpPr/>
          <p:nvPr/>
        </p:nvSpPr>
        <p:spPr>
          <a:xfrm>
            <a:off x="6364224" y="3383280"/>
            <a:ext cx="2217420" cy="91440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Text care poate fi mărit</a:t>
            </a:r>
            <a:endParaRPr lang="en-US" sz="1900" dirty="0"/>
          </a:p>
        </p:txBody>
      </p:sp>
      <p:sp>
        <p:nvSpPr>
          <p:cNvPr id="25" name="Text 23"/>
          <p:cNvSpPr/>
          <p:nvPr/>
        </p:nvSpPr>
        <p:spPr>
          <a:xfrm>
            <a:off x="6364224" y="4389120"/>
            <a:ext cx="2217420" cy="914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pentru cine vede slab</a:t>
            </a:r>
            <a:endParaRPr lang="en-US" sz="1500" dirty="0"/>
          </a:p>
        </p:txBody>
      </p:sp>
      <p:sp>
        <p:nvSpPr>
          <p:cNvPr id="26" name="Shape 24"/>
          <p:cNvSpPr/>
          <p:nvPr/>
        </p:nvSpPr>
        <p:spPr>
          <a:xfrm>
            <a:off x="8947404" y="3154680"/>
            <a:ext cx="2619756" cy="1463040"/>
          </a:xfrm>
          <a:prstGeom prst="roundRect">
            <a:avLst>
              <a:gd name="adj" fmla="val 5625"/>
            </a:avLst>
          </a:prstGeom>
          <a:solidFill>
            <a:srgbClr val="F9F8F5"/>
          </a:solidFill>
          <a:ln w="12700">
            <a:solidFill>
              <a:srgbClr val="F9F8F5"/>
            </a:solidFill>
            <a:prstDash val="solid"/>
          </a:ln>
        </p:spPr>
        <p:txBody>
          <a:bodyPr/>
          <a:p/>
        </p:txBody>
      </p:sp>
      <p:sp>
        <p:nvSpPr>
          <p:cNvPr id="27" name="Shape 25"/>
          <p:cNvSpPr/>
          <p:nvPr/>
        </p:nvSpPr>
        <p:spPr>
          <a:xfrm>
            <a:off x="8947404" y="3154680"/>
            <a:ext cx="2619756" cy="73152"/>
          </a:xfrm>
          <a:prstGeom prst="rect">
            <a:avLst/>
          </a:prstGeom>
          <a:solidFill>
            <a:srgbClr val="9C4A0A"/>
          </a:solidFill>
          <a:ln w="12700">
            <a:solidFill>
              <a:srgbClr val="9C4A0A"/>
            </a:solidFill>
            <a:prstDash val="solid"/>
          </a:ln>
        </p:spPr>
        <p:txBody>
          <a:bodyPr/>
          <a:p/>
        </p:txBody>
      </p:sp>
      <p:sp>
        <p:nvSpPr>
          <p:cNvPr id="28" name="Text 26"/>
          <p:cNvSpPr/>
          <p:nvPr/>
        </p:nvSpPr>
        <p:spPr>
          <a:xfrm>
            <a:off x="9148572" y="3383280"/>
            <a:ext cx="2217420" cy="914400"/>
          </a:xfrm>
          <a:prstGeom prst="rect">
            <a:avLst/>
          </a:prstGeom>
          <a:noFill/>
          <a:ln/>
        </p:spPr>
        <p:txBody>
          <a:bodyPr wrap="square" lIns="0" tIns="0" rIns="0" bIns="0" rtlCol="0" anchor="t"/>
          <a:lstStyle/>
          <a:p>
            <a:pPr indent="0" marL="0">
              <a:buNone/>
            </a:pPr>
            <a:r>
              <a:rPr lang="en-US" sz="1900" b="1" dirty="0">
                <a:solidFill>
                  <a:srgbClr val="9C4A0A"/>
                </a:solidFill>
                <a:latin typeface="Palatino Linotype" pitchFamily="34" charset="0"/>
                <a:ea typeface="Palatino Linotype" pitchFamily="34" charset="-122"/>
                <a:cs typeface="Palatino Linotype" pitchFamily="34" charset="-120"/>
              </a:rPr>
              <a:t>Butoane utilizabile</a:t>
            </a:r>
            <a:endParaRPr lang="en-US" sz="1900" dirty="0"/>
          </a:p>
        </p:txBody>
      </p:sp>
      <p:sp>
        <p:nvSpPr>
          <p:cNvPr id="29" name="Text 27"/>
          <p:cNvSpPr/>
          <p:nvPr/>
        </p:nvSpPr>
        <p:spPr>
          <a:xfrm>
            <a:off x="9148572" y="4389120"/>
            <a:ext cx="2217420" cy="9144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și fără mouse</a:t>
            </a:r>
            <a:endParaRPr lang="en-US" sz="1500" dirty="0"/>
          </a:p>
        </p:txBody>
      </p:sp>
      <p:sp>
        <p:nvSpPr>
          <p:cNvPr id="30" name="Shape 28"/>
          <p:cNvSpPr/>
          <p:nvPr/>
        </p:nvSpPr>
        <p:spPr>
          <a:xfrm>
            <a:off x="594360" y="4937760"/>
            <a:ext cx="10972800" cy="960120"/>
          </a:xfrm>
          <a:prstGeom prst="roundRect">
            <a:avLst>
              <a:gd name="adj" fmla="val 8571"/>
            </a:avLst>
          </a:prstGeom>
          <a:solidFill>
            <a:srgbClr val="0E7C6B"/>
          </a:solidFill>
          <a:ln w="12700">
            <a:solidFill>
              <a:srgbClr val="0E7C6B"/>
            </a:solidFill>
            <a:prstDash val="solid"/>
          </a:ln>
        </p:spPr>
        <p:txBody>
          <a:bodyPr/>
          <a:p/>
        </p:txBody>
      </p:sp>
      <p:sp>
        <p:nvSpPr>
          <p:cNvPr id="31" name="Text 29"/>
          <p:cNvSpPr/>
          <p:nvPr/>
        </p:nvSpPr>
        <p:spPr>
          <a:xfrm>
            <a:off x="868680" y="4937760"/>
            <a:ext cx="10424160" cy="96012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Educația pentru sănătate a pacientului include și să îi explicați cum își accesează în siguranță rezultatele.</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594360" y="329184"/>
            <a:ext cx="3291840" cy="32918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594360" y="329184"/>
            <a:ext cx="3291840" cy="329184"/>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TERMENUL NOU 3 DIN 3</a:t>
            </a:r>
            <a:endParaRPr lang="en-US" sz="1300" dirty="0"/>
          </a:p>
        </p:txBody>
      </p:sp>
      <p:sp>
        <p:nvSpPr>
          <p:cNvPr id="4" name="Text 2"/>
          <p:cNvSpPr/>
          <p:nvPr/>
        </p:nvSpPr>
        <p:spPr>
          <a:xfrm>
            <a:off x="594360" y="868680"/>
            <a:ext cx="6766560" cy="868680"/>
          </a:xfrm>
          <a:prstGeom prst="rect">
            <a:avLst/>
          </a:prstGeom>
          <a:noFill/>
          <a:ln/>
        </p:spPr>
        <p:txBody>
          <a:bodyPr wrap="square" lIns="0" tIns="0" rIns="0" bIns="0" rtlCol="0" anchor="t"/>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Infodemia</a:t>
            </a:r>
            <a:endParaRPr lang="en-US" sz="4400" dirty="0"/>
          </a:p>
        </p:txBody>
      </p:sp>
      <p:sp>
        <p:nvSpPr>
          <p:cNvPr id="5" name="Text 3"/>
          <p:cNvSpPr/>
          <p:nvPr/>
        </p:nvSpPr>
        <p:spPr>
          <a:xfrm>
            <a:off x="594360" y="1828800"/>
            <a:ext cx="6858000" cy="1737360"/>
          </a:xfrm>
          <a:prstGeom prst="rect">
            <a:avLst/>
          </a:prstGeom>
          <a:noFill/>
          <a:ln/>
        </p:spPr>
        <p:txBody>
          <a:bodyPr wrap="square" lIns="0" tIns="0" rIns="0" bIns="0" rtlCol="0" anchor="t"/>
          <a:lstStyle/>
          <a:p>
            <a:pPr indent="0" marL="0">
              <a:buNone/>
            </a:pPr>
            <a:r>
              <a:rPr lang="en-US" sz="2500" b="1" dirty="0">
                <a:solidFill>
                  <a:srgbClr val="27D3BE"/>
                </a:solidFill>
                <a:latin typeface="Palatino Linotype" pitchFamily="34" charset="0"/>
                <a:ea typeface="Palatino Linotype" pitchFamily="34" charset="-122"/>
                <a:cs typeface="Palatino Linotype" pitchFamily="34" charset="-120"/>
              </a:rPr>
              <a:t>Atât de multe informații despre o boală, adevărate și false amestecate, încât oamenii nu mai știu ce să creadă.</a:t>
            </a:r>
            <a:endParaRPr lang="en-US" sz="2500" dirty="0"/>
          </a:p>
        </p:txBody>
      </p:sp>
      <p:sp>
        <p:nvSpPr>
          <p:cNvPr id="6" name="Text 4"/>
          <p:cNvSpPr/>
          <p:nvPr/>
        </p:nvSpPr>
        <p:spPr>
          <a:xfrm>
            <a:off x="8138160" y="1143000"/>
            <a:ext cx="3383280" cy="329184"/>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Se aude și în imagistică</a:t>
            </a:r>
            <a:endParaRPr lang="en-US" sz="1400" dirty="0"/>
          </a:p>
        </p:txBody>
      </p:sp>
      <p:sp>
        <p:nvSpPr>
          <p:cNvPr id="7" name="Shape 5"/>
          <p:cNvSpPr/>
          <p:nvPr/>
        </p:nvSpPr>
        <p:spPr>
          <a:xfrm>
            <a:off x="7955280" y="1508760"/>
            <a:ext cx="3611880" cy="1554480"/>
          </a:xfrm>
          <a:prstGeom prst="roundRect">
            <a:avLst>
              <a:gd name="adj" fmla="val 10588"/>
            </a:avLst>
          </a:prstGeom>
          <a:solidFill>
            <a:srgbClr val="272A38"/>
          </a:solidFill>
          <a:ln w="12700">
            <a:solidFill>
              <a:srgbClr val="272A38"/>
            </a:solidFill>
            <a:prstDash val="solid"/>
          </a:ln>
        </p:spPr>
        <p:txBody>
          <a:bodyPr/>
          <a:p/>
        </p:txBody>
      </p:sp>
      <p:sp>
        <p:nvSpPr>
          <p:cNvPr id="8" name="Shape 6"/>
          <p:cNvSpPr/>
          <p:nvPr/>
        </p:nvSpPr>
        <p:spPr>
          <a:xfrm flipV="1">
            <a:off x="10698480" y="3044952"/>
            <a:ext cx="457200" cy="292608"/>
          </a:xfrm>
          <a:prstGeom prst="triangle">
            <a:avLst/>
          </a:prstGeom>
          <a:solidFill>
            <a:srgbClr val="272A38"/>
          </a:solidFill>
          <a:ln w="12700">
            <a:solidFill>
              <a:srgbClr val="272A38"/>
            </a:solidFill>
            <a:prstDash val="solid"/>
          </a:ln>
        </p:spPr>
        <p:txBody>
          <a:bodyPr/>
          <a:p/>
        </p:txBody>
      </p:sp>
      <p:sp>
        <p:nvSpPr>
          <p:cNvPr id="9" name="Text 7"/>
          <p:cNvSpPr/>
          <p:nvPr/>
        </p:nvSpPr>
        <p:spPr>
          <a:xfrm>
            <a:off x="8229600" y="1508760"/>
            <a:ext cx="3108960" cy="1554480"/>
          </a:xfrm>
          <a:prstGeom prst="rect">
            <a:avLst/>
          </a:prstGeom>
          <a:noFill/>
          <a:ln/>
        </p:spPr>
        <p:txBody>
          <a:bodyPr wrap="square" lIns="0" tIns="0" rIns="0" bIns="0" rtlCol="0" anchor="ctr"/>
          <a:lstStyle/>
          <a:p>
            <a:pPr indent="0" marL="0">
              <a:buNone/>
            </a:pPr>
            <a:r>
              <a:rPr lang="en-US" sz="2100" i="1" dirty="0">
                <a:solidFill>
                  <a:srgbClr val="FFFFFF"/>
                </a:solidFill>
                <a:latin typeface="Palatino Linotype" pitchFamily="34" charset="0"/>
                <a:ea typeface="Palatino Linotype" pitchFamily="34" charset="-122"/>
                <a:cs typeface="Palatino Linotype" pitchFamily="34" charset="-120"/>
              </a:rPr>
              <a:t>„orice radiografie e periculoasă”</a:t>
            </a:r>
            <a:endParaRPr lang="en-US" sz="2100" dirty="0"/>
          </a:p>
        </p:txBody>
      </p:sp>
      <p:sp>
        <p:nvSpPr>
          <p:cNvPr id="10" name="Shape 8"/>
          <p:cNvSpPr/>
          <p:nvPr/>
        </p:nvSpPr>
        <p:spPr>
          <a:xfrm>
            <a:off x="594360" y="3840480"/>
            <a:ext cx="10972800" cy="2103120"/>
          </a:xfrm>
          <a:prstGeom prst="roundRect">
            <a:avLst>
              <a:gd name="adj" fmla="val 3913"/>
            </a:avLst>
          </a:prstGeom>
          <a:solidFill>
            <a:srgbClr val="1D1F2B"/>
          </a:solidFill>
          <a:ln w="12700">
            <a:solidFill>
              <a:srgbClr val="1D1F2B"/>
            </a:solidFill>
            <a:prstDash val="solid"/>
          </a:ln>
        </p:spPr>
        <p:txBody>
          <a:bodyPr/>
          <a:p/>
        </p:txBody>
      </p:sp>
      <p:sp>
        <p:nvSpPr>
          <p:cNvPr id="11" name="Text 9"/>
          <p:cNvSpPr/>
          <p:nvPr/>
        </p:nvSpPr>
        <p:spPr>
          <a:xfrm>
            <a:off x="868680" y="3977640"/>
            <a:ext cx="10424160" cy="36576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În formularea OMS</a:t>
            </a:r>
            <a:endParaRPr lang="en-US" sz="1500" dirty="0"/>
          </a:p>
        </p:txBody>
      </p:sp>
      <p:sp>
        <p:nvSpPr>
          <p:cNvPr id="12" name="Text 10"/>
          <p:cNvSpPr/>
          <p:nvPr/>
        </p:nvSpPr>
        <p:spPr>
          <a:xfrm>
            <a:off x="868680" y="4389120"/>
            <a:ext cx="10424160" cy="1463040"/>
          </a:xfrm>
          <a:prstGeom prst="rect">
            <a:avLst/>
          </a:prstGeom>
          <a:noFill/>
          <a:ln/>
        </p:spPr>
        <p:txBody>
          <a:bodyPr wrap="square" lIns="0" tIns="0" rIns="0" bIns="0" rtlCol="0" anchor="t"/>
          <a:lstStyle/>
          <a:p>
            <a:pPr indent="0" marL="0">
              <a:buNone/>
            </a:pPr>
            <a:r>
              <a:rPr lang="en-US" sz="1750" dirty="0">
                <a:solidFill>
                  <a:srgbClr val="E6E8EF"/>
                </a:solidFill>
                <a:latin typeface="Palatino Linotype" pitchFamily="34" charset="0"/>
                <a:ea typeface="Palatino Linotype" pitchFamily="34" charset="-122"/>
                <a:cs typeface="Palatino Linotype" pitchFamily="34" charset="-120"/>
              </a:rPr>
              <a:t>Prea multă informație, inclusiv falsă sau înșelătoare, în mediul digital și în cel fizic, în timpul unui focar de boală. Produce confuzie și comportamente riscante, duce la neîncredere în autoritățile sanitare și slăbește răspunsul de sănătate publică.</a:t>
            </a:r>
            <a:endParaRPr lang="en-US" sz="1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UN CUVÂNT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MIT DESPRE RADIAȚII</a:t>
            </a:r>
            <a:endParaRPr lang="en-US" sz="1300" dirty="0"/>
          </a:p>
        </p:txBody>
      </p:sp>
      <p:sp>
        <p:nvSpPr>
          <p:cNvPr id="5" name="Text 3"/>
          <p:cNvSpPr/>
          <p:nvPr/>
        </p:nvSpPr>
        <p:spPr>
          <a:xfrm>
            <a:off x="594360" y="1097280"/>
            <a:ext cx="7680960" cy="2926080"/>
          </a:xfrm>
          <a:prstGeom prst="rect">
            <a:avLst/>
          </a:prstGeom>
          <a:noFill/>
          <a:ln/>
        </p:spPr>
        <p:txBody>
          <a:bodyPr wrap="square" lIns="0" tIns="0" rIns="0" bIns="0" rtlCol="0" anchor="ctr"/>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Un mit despre radiații pe care l-ați auzit, de la pacienți sau de la cunoscuți</a:t>
            </a:r>
            <a:endParaRPr lang="en-US" sz="3400" dirty="0"/>
          </a:p>
        </p:txBody>
      </p:sp>
      <p:sp>
        <p:nvSpPr>
          <p:cNvPr id="6" name="Shape 4"/>
          <p:cNvSpPr/>
          <p:nvPr/>
        </p:nvSpPr>
        <p:spPr>
          <a:xfrm>
            <a:off x="8549640" y="1463040"/>
            <a:ext cx="3017520" cy="3017520"/>
          </a:xfrm>
          <a:prstGeom prst="roundRect">
            <a:avLst>
              <a:gd name="adj" fmla="val 2727"/>
            </a:avLst>
          </a:prstGeom>
          <a:solidFill>
            <a:srgbClr val="FFFFFF"/>
          </a:solidFill>
          <a:ln w="12700">
            <a:solidFill>
              <a:srgbClr val="FFFFFF"/>
            </a:solidFill>
            <a:prstDash val="solid"/>
          </a:ln>
        </p:spPr>
        <p:txBody>
          <a:bodyPr/>
          <a:p/>
        </p:txBody>
      </p:sp>
      <p:sp>
        <p:nvSpPr>
          <p:cNvPr id="7" name="Text 5"/>
          <p:cNvSpPr/>
          <p:nvPr/>
        </p:nvSpPr>
        <p:spPr>
          <a:xfrm>
            <a:off x="8549640" y="1463040"/>
            <a:ext cx="3017520" cy="3017520"/>
          </a:xfrm>
          <a:prstGeom prst="rect">
            <a:avLst/>
          </a:prstGeom>
          <a:noFill/>
          <a:ln/>
        </p:spPr>
        <p:txBody>
          <a:bodyPr wrap="square" lIns="228600" tIns="0" rIns="228600" bIns="0" rtlCol="0" anchor="ctr"/>
          <a:lstStyle/>
          <a:p>
            <a:pPr algn="ctr" indent="0" marL="0">
              <a:buNone/>
            </a:pPr>
            <a:r>
              <a:rPr lang="en-US" sz="1800" dirty="0" i="1">
                <a:solidFill>
                  <a:srgbClr val="585A64"/>
                </a:solidFill>
                <a:latin typeface="Palatino Linotype" pitchFamily="34" charset="0"/>
                <a:ea typeface="Palatino Linotype" pitchFamily="34" charset="-122"/>
                <a:cs typeface="Palatino Linotype" pitchFamily="34" charset="-120"/>
              </a:rPr>
              <a:t>Mentimeter: intrați pe menti.com cu codul afișat pe ecran.</a:t>
            </a:r>
            <a:endParaRPr lang="en-US" sz="1400" dirty="0"/>
          </a:p>
        </p:txBody>
      </p:sp>
      <p:sp>
        <p:nvSpPr>
          <p:cNvPr id="8" name="Text 6"/>
          <p:cNvSpPr/>
          <p:nvPr/>
        </p:nvSpPr>
        <p:spPr>
          <a:xfrm>
            <a:off x="594360" y="4754880"/>
            <a:ext cx="7680960" cy="731520"/>
          </a:xfrm>
          <a:prstGeom prst="rect">
            <a:avLst/>
          </a:prstGeom>
          <a:noFill/>
          <a:ln/>
        </p:spPr>
        <p:txBody>
          <a:bodyPr wrap="square" lIns="0" tIns="0" rIns="0" bIns="0" rtlCol="0" anchor="t"/>
          <a:lstStyle/>
          <a:p>
            <a:pPr indent="0" marL="0">
              <a:buNone/>
            </a:pPr>
            <a:r>
              <a:rPr lang="en-US" sz="1800" i="1" dirty="0">
                <a:solidFill>
                  <a:srgbClr val="959BB0"/>
                </a:solidFill>
                <a:latin typeface="Palatino Linotype" pitchFamily="34" charset="0"/>
                <a:ea typeface="Palatino Linotype" pitchFamily="34" charset="-122"/>
                <a:cs typeface="Palatino Linotype" pitchFamily="34" charset="-120"/>
              </a:rPr>
              <a:t>Un cuvânt sau o expresie scurtă. Răspunsurile apar pe ecran ca nor de cuvinte.</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VERIFICAREA ÎN PATRU PAȘI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Înainte să credeți sau să distribuiți</a:t>
            </a:r>
            <a:endParaRPr lang="en-US" sz="3200" dirty="0"/>
          </a:p>
        </p:txBody>
      </p:sp>
      <p:sp>
        <p:nvSpPr>
          <p:cNvPr id="4" name="Shape 2"/>
          <p:cNvSpPr/>
          <p:nvPr/>
        </p:nvSpPr>
        <p:spPr>
          <a:xfrm>
            <a:off x="594360" y="2240280"/>
            <a:ext cx="10972800" cy="36576"/>
          </a:xfrm>
          <a:prstGeom prst="rect">
            <a:avLst/>
          </a:prstGeom>
          <a:solidFill>
            <a:srgbClr val="C9C6BE"/>
          </a:solidFill>
          <a:ln w="12700">
            <a:solidFill>
              <a:srgbClr val="C9C6BE"/>
            </a:solidFill>
            <a:prstDash val="solid"/>
          </a:ln>
        </p:spPr>
        <p:txBody>
          <a:bodyPr/>
          <a:p/>
        </p:txBody>
      </p:sp>
      <p:sp>
        <p:nvSpPr>
          <p:cNvPr id="5" name="Shape 3"/>
          <p:cNvSpPr/>
          <p:nvPr/>
        </p:nvSpPr>
        <p:spPr>
          <a:xfrm>
            <a:off x="594360" y="1965960"/>
            <a:ext cx="548640" cy="548640"/>
          </a:xfrm>
          <a:prstGeom prst="ellipse">
            <a:avLst/>
          </a:prstGeom>
          <a:solidFill>
            <a:srgbClr val="B02532"/>
          </a:solidFill>
          <a:ln/>
        </p:spPr>
        <p:txBody>
          <a:bodyPr/>
          <a:p/>
        </p:txBody>
      </p:sp>
      <p:sp>
        <p:nvSpPr>
          <p:cNvPr id="6" name="Text 4"/>
          <p:cNvSpPr/>
          <p:nvPr/>
        </p:nvSpPr>
        <p:spPr>
          <a:xfrm>
            <a:off x="594360" y="196596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1</a:t>
            </a:r>
            <a:endParaRPr lang="en-US" sz="1700" dirty="0"/>
          </a:p>
        </p:txBody>
      </p:sp>
      <p:sp>
        <p:nvSpPr>
          <p:cNvPr id="7" name="Text 5"/>
          <p:cNvSpPr/>
          <p:nvPr/>
        </p:nvSpPr>
        <p:spPr>
          <a:xfrm>
            <a:off x="594360" y="2743200"/>
            <a:ext cx="2606040" cy="1280160"/>
          </a:xfrm>
          <a:prstGeom prst="rect">
            <a:avLst/>
          </a:prstGeom>
          <a:noFill/>
          <a:ln/>
        </p:spPr>
        <p:txBody>
          <a:bodyPr wrap="square" lIns="0" tIns="0" rIns="0" bIns="0" rtlCol="0" anchor="t"/>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Opriți-vă</a:t>
            </a:r>
            <a:endParaRPr lang="en-US" sz="2200" dirty="0"/>
          </a:p>
        </p:txBody>
      </p:sp>
      <p:sp>
        <p:nvSpPr>
          <p:cNvPr id="8" name="Shape 6"/>
          <p:cNvSpPr/>
          <p:nvPr/>
        </p:nvSpPr>
        <p:spPr>
          <a:xfrm>
            <a:off x="3383280" y="1965960"/>
            <a:ext cx="548640" cy="548640"/>
          </a:xfrm>
          <a:prstGeom prst="ellipse">
            <a:avLst/>
          </a:prstGeom>
          <a:solidFill>
            <a:srgbClr val="0E7C6B"/>
          </a:solidFill>
          <a:ln/>
        </p:spPr>
        <p:txBody>
          <a:bodyPr/>
          <a:p/>
        </p:txBody>
      </p:sp>
      <p:sp>
        <p:nvSpPr>
          <p:cNvPr id="9" name="Text 7"/>
          <p:cNvSpPr/>
          <p:nvPr/>
        </p:nvSpPr>
        <p:spPr>
          <a:xfrm>
            <a:off x="3383280" y="196596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2</a:t>
            </a:r>
            <a:endParaRPr lang="en-US" sz="1700" dirty="0"/>
          </a:p>
        </p:txBody>
      </p:sp>
      <p:sp>
        <p:nvSpPr>
          <p:cNvPr id="10" name="Text 8"/>
          <p:cNvSpPr/>
          <p:nvPr/>
        </p:nvSpPr>
        <p:spPr>
          <a:xfrm>
            <a:off x="3383280" y="2743200"/>
            <a:ext cx="2606040" cy="128016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Cercetați sursa</a:t>
            </a:r>
            <a:endParaRPr lang="en-US" sz="2200" dirty="0"/>
          </a:p>
        </p:txBody>
      </p:sp>
      <p:sp>
        <p:nvSpPr>
          <p:cNvPr id="11" name="Shape 9"/>
          <p:cNvSpPr/>
          <p:nvPr/>
        </p:nvSpPr>
        <p:spPr>
          <a:xfrm>
            <a:off x="6172200" y="1965960"/>
            <a:ext cx="548640" cy="548640"/>
          </a:xfrm>
          <a:prstGeom prst="ellipse">
            <a:avLst/>
          </a:prstGeom>
          <a:solidFill>
            <a:srgbClr val="0E7C6B"/>
          </a:solidFill>
          <a:ln/>
        </p:spPr>
        <p:txBody>
          <a:bodyPr/>
          <a:p/>
        </p:txBody>
      </p:sp>
      <p:sp>
        <p:nvSpPr>
          <p:cNvPr id="12" name="Text 10"/>
          <p:cNvSpPr/>
          <p:nvPr/>
        </p:nvSpPr>
        <p:spPr>
          <a:xfrm>
            <a:off x="6172200" y="196596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3</a:t>
            </a:r>
            <a:endParaRPr lang="en-US" sz="1700" dirty="0"/>
          </a:p>
        </p:txBody>
      </p:sp>
      <p:sp>
        <p:nvSpPr>
          <p:cNvPr id="13" name="Text 11"/>
          <p:cNvSpPr/>
          <p:nvPr/>
        </p:nvSpPr>
        <p:spPr>
          <a:xfrm>
            <a:off x="6172200" y="2743200"/>
            <a:ext cx="2606040" cy="128016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Căutați o relatare mai bună</a:t>
            </a:r>
            <a:endParaRPr lang="en-US" sz="2200" dirty="0"/>
          </a:p>
        </p:txBody>
      </p:sp>
      <p:sp>
        <p:nvSpPr>
          <p:cNvPr id="14" name="Shape 12"/>
          <p:cNvSpPr/>
          <p:nvPr/>
        </p:nvSpPr>
        <p:spPr>
          <a:xfrm>
            <a:off x="8961120" y="1965960"/>
            <a:ext cx="548640" cy="548640"/>
          </a:xfrm>
          <a:prstGeom prst="ellipse">
            <a:avLst/>
          </a:prstGeom>
          <a:solidFill>
            <a:srgbClr val="0E7C6B"/>
          </a:solidFill>
          <a:ln/>
        </p:spPr>
        <p:txBody>
          <a:bodyPr/>
          <a:p/>
        </p:txBody>
      </p:sp>
      <p:sp>
        <p:nvSpPr>
          <p:cNvPr id="15" name="Text 13"/>
          <p:cNvSpPr/>
          <p:nvPr/>
        </p:nvSpPr>
        <p:spPr>
          <a:xfrm>
            <a:off x="8961120" y="196596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4</a:t>
            </a:r>
            <a:endParaRPr lang="en-US" sz="1700" dirty="0"/>
          </a:p>
        </p:txBody>
      </p:sp>
      <p:sp>
        <p:nvSpPr>
          <p:cNvPr id="16" name="Text 14"/>
          <p:cNvSpPr/>
          <p:nvPr/>
        </p:nvSpPr>
        <p:spPr>
          <a:xfrm>
            <a:off x="8961120" y="2743200"/>
            <a:ext cx="2606040" cy="128016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Urmăriți afirmația până la originea ei</a:t>
            </a:r>
            <a:endParaRPr lang="en-US" sz="2200" dirty="0"/>
          </a:p>
        </p:txBody>
      </p:sp>
      <p:sp>
        <p:nvSpPr>
          <p:cNvPr id="17" name="Shape 15"/>
          <p:cNvSpPr/>
          <p:nvPr/>
        </p:nvSpPr>
        <p:spPr>
          <a:xfrm>
            <a:off x="594360" y="4480560"/>
            <a:ext cx="10972800" cy="1325880"/>
          </a:xfrm>
          <a:prstGeom prst="roundRect">
            <a:avLst>
              <a:gd name="adj" fmla="val 6207"/>
            </a:avLst>
          </a:prstGeom>
          <a:solidFill>
            <a:srgbClr val="B02532"/>
          </a:solidFill>
          <a:ln w="12700">
            <a:solidFill>
              <a:srgbClr val="B02532"/>
            </a:solidFill>
            <a:prstDash val="solid"/>
          </a:ln>
        </p:spPr>
        <p:txBody>
          <a:bodyPr/>
          <a:p/>
        </p:txBody>
      </p:sp>
      <p:sp>
        <p:nvSpPr>
          <p:cNvPr id="18" name="Text 16"/>
          <p:cNvSpPr/>
          <p:nvPr/>
        </p:nvSpPr>
        <p:spPr>
          <a:xfrm>
            <a:off x="868680" y="4480560"/>
            <a:ext cx="10424160" cy="132588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Primul pas este cel mai important: înainte să distribuiți sau să credeți, vă întrebați dacă știți cine a scris și de ce.</a:t>
            </a:r>
            <a:endParaRPr lang="en-US" sz="2000" dirty="0"/>
          </a:p>
        </p:txBody>
      </p:sp>
      <p:sp>
        <p:nvSpPr>
          <p:cNvPr id="19" name="Text 17"/>
          <p:cNvSpPr/>
          <p:nvPr/>
        </p:nvSpPr>
        <p:spPr>
          <a:xfrm>
            <a:off x="594360" y="6035040"/>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Mike Caulfield, metoda SIFT (Stop, Investigate the source, Find better coverage, Trace claims).</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CORECTAREA UNUI MIT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Adevăr, mit, adevăr</a:t>
            </a:r>
            <a:endParaRPr lang="en-US" sz="3800" dirty="0"/>
          </a:p>
        </p:txBody>
      </p:sp>
      <p:sp>
        <p:nvSpPr>
          <p:cNvPr id="4" name="Shape 2"/>
          <p:cNvSpPr/>
          <p:nvPr/>
        </p:nvSpPr>
        <p:spPr>
          <a:xfrm>
            <a:off x="594360" y="1645920"/>
            <a:ext cx="3566160" cy="1600200"/>
          </a:xfrm>
          <a:prstGeom prst="roundRect">
            <a:avLst>
              <a:gd name="adj" fmla="val 5143"/>
            </a:avLst>
          </a:prstGeom>
          <a:solidFill>
            <a:srgbClr val="1D1F2B"/>
          </a:solidFill>
          <a:ln w="12700">
            <a:solidFill>
              <a:srgbClr val="1D1F2B"/>
            </a:solidFill>
            <a:prstDash val="solid"/>
          </a:ln>
        </p:spPr>
        <p:txBody>
          <a:bodyPr/>
          <a:p/>
        </p:txBody>
      </p:sp>
      <p:sp>
        <p:nvSpPr>
          <p:cNvPr id="5" name="Shape 3"/>
          <p:cNvSpPr/>
          <p:nvPr/>
        </p:nvSpPr>
        <p:spPr>
          <a:xfrm>
            <a:off x="777240" y="1810512"/>
            <a:ext cx="457200" cy="457200"/>
          </a:xfrm>
          <a:prstGeom prst="ellipse">
            <a:avLst/>
          </a:prstGeom>
          <a:solidFill>
            <a:srgbClr val="27D3BE"/>
          </a:solidFill>
          <a:ln/>
        </p:spPr>
        <p:txBody>
          <a:bodyPr/>
          <a:p/>
        </p:txBody>
      </p:sp>
      <p:sp>
        <p:nvSpPr>
          <p:cNvPr id="6" name="Text 4"/>
          <p:cNvSpPr/>
          <p:nvPr/>
        </p:nvSpPr>
        <p:spPr>
          <a:xfrm>
            <a:off x="777240" y="1810512"/>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71600" y="1810512"/>
            <a:ext cx="2651760" cy="457200"/>
          </a:xfrm>
          <a:prstGeom prst="rect">
            <a:avLst/>
          </a:prstGeom>
          <a:noFill/>
          <a:ln/>
        </p:spPr>
        <p:txBody>
          <a:bodyPr wrap="square" lIns="0" tIns="0" rIns="0" bIns="0" rtlCol="0" anchor="ctr"/>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Adevărul întâi</a:t>
            </a:r>
            <a:endParaRPr lang="en-US" sz="1900" dirty="0"/>
          </a:p>
        </p:txBody>
      </p:sp>
      <p:sp>
        <p:nvSpPr>
          <p:cNvPr id="8" name="Text 6"/>
          <p:cNvSpPr/>
          <p:nvPr/>
        </p:nvSpPr>
        <p:spPr>
          <a:xfrm>
            <a:off x="822960" y="2423160"/>
            <a:ext cx="3154680" cy="73152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Spuneți ce este adevărat, simplu.</a:t>
            </a:r>
            <a:endParaRPr lang="en-US" sz="1600" dirty="0"/>
          </a:p>
        </p:txBody>
      </p:sp>
      <p:sp>
        <p:nvSpPr>
          <p:cNvPr id="9" name="Shape 7"/>
          <p:cNvSpPr/>
          <p:nvPr/>
        </p:nvSpPr>
        <p:spPr>
          <a:xfrm>
            <a:off x="4343400" y="1645920"/>
            <a:ext cx="3566160" cy="1600200"/>
          </a:xfrm>
          <a:prstGeom prst="roundRect">
            <a:avLst>
              <a:gd name="adj" fmla="val 5143"/>
            </a:avLst>
          </a:prstGeom>
          <a:solidFill>
            <a:srgbClr val="1D1F2B"/>
          </a:solidFill>
          <a:ln w="12700">
            <a:solidFill>
              <a:srgbClr val="1D1F2B"/>
            </a:solidFill>
            <a:prstDash val="solid"/>
          </a:ln>
        </p:spPr>
        <p:txBody>
          <a:bodyPr/>
          <a:p/>
        </p:txBody>
      </p:sp>
      <p:sp>
        <p:nvSpPr>
          <p:cNvPr id="10" name="Shape 8"/>
          <p:cNvSpPr/>
          <p:nvPr/>
        </p:nvSpPr>
        <p:spPr>
          <a:xfrm>
            <a:off x="4526280" y="1810512"/>
            <a:ext cx="457200" cy="457200"/>
          </a:xfrm>
          <a:prstGeom prst="ellipse">
            <a:avLst/>
          </a:prstGeom>
          <a:solidFill>
            <a:srgbClr val="FF4757"/>
          </a:solidFill>
          <a:ln/>
        </p:spPr>
        <p:txBody>
          <a:bodyPr/>
          <a:p/>
        </p:txBody>
      </p:sp>
      <p:sp>
        <p:nvSpPr>
          <p:cNvPr id="11" name="Text 9"/>
          <p:cNvSpPr/>
          <p:nvPr/>
        </p:nvSpPr>
        <p:spPr>
          <a:xfrm>
            <a:off x="4526280" y="1810512"/>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5120640" y="1810512"/>
            <a:ext cx="2651760" cy="457200"/>
          </a:xfrm>
          <a:prstGeom prst="rect">
            <a:avLst/>
          </a:prstGeom>
          <a:noFill/>
          <a:ln/>
        </p:spPr>
        <p:txBody>
          <a:bodyPr wrap="square" lIns="0" tIns="0" rIns="0" bIns="0" rtlCol="0" anchor="ctr"/>
          <a:lstStyle/>
          <a:p>
            <a:pPr indent="0" marL="0">
              <a:buNone/>
            </a:pPr>
            <a:r>
              <a:rPr lang="en-US" sz="1900" b="1" dirty="0">
                <a:solidFill>
                  <a:srgbClr val="FF4757"/>
                </a:solidFill>
                <a:latin typeface="Palatino Linotype" pitchFamily="34" charset="0"/>
                <a:ea typeface="Palatino Linotype" pitchFamily="34" charset="-122"/>
                <a:cs typeface="Palatino Linotype" pitchFamily="34" charset="-120"/>
              </a:rPr>
              <a:t>Mitul, scurt</a:t>
            </a:r>
            <a:endParaRPr lang="en-US" sz="1900" dirty="0"/>
          </a:p>
        </p:txBody>
      </p:sp>
      <p:sp>
        <p:nvSpPr>
          <p:cNvPr id="13" name="Text 11"/>
          <p:cNvSpPr/>
          <p:nvPr/>
        </p:nvSpPr>
        <p:spPr>
          <a:xfrm>
            <a:off x="4572000" y="2423160"/>
            <a:ext cx="3154680" cy="73152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Numit clar ca fals.</a:t>
            </a:r>
            <a:endParaRPr lang="en-US" sz="1600" dirty="0"/>
          </a:p>
        </p:txBody>
      </p:sp>
      <p:sp>
        <p:nvSpPr>
          <p:cNvPr id="14" name="Shape 12"/>
          <p:cNvSpPr/>
          <p:nvPr/>
        </p:nvSpPr>
        <p:spPr>
          <a:xfrm>
            <a:off x="8092440" y="1645920"/>
            <a:ext cx="3566160" cy="1600200"/>
          </a:xfrm>
          <a:prstGeom prst="roundRect">
            <a:avLst>
              <a:gd name="adj" fmla="val 5143"/>
            </a:avLst>
          </a:prstGeom>
          <a:solidFill>
            <a:srgbClr val="1D1F2B"/>
          </a:solidFill>
          <a:ln w="12700">
            <a:solidFill>
              <a:srgbClr val="1D1F2B"/>
            </a:solidFill>
            <a:prstDash val="solid"/>
          </a:ln>
        </p:spPr>
        <p:txBody>
          <a:bodyPr/>
          <a:p/>
        </p:txBody>
      </p:sp>
      <p:sp>
        <p:nvSpPr>
          <p:cNvPr id="15" name="Shape 13"/>
          <p:cNvSpPr/>
          <p:nvPr/>
        </p:nvSpPr>
        <p:spPr>
          <a:xfrm>
            <a:off x="8275320" y="1810512"/>
            <a:ext cx="457200" cy="457200"/>
          </a:xfrm>
          <a:prstGeom prst="ellipse">
            <a:avLst/>
          </a:prstGeom>
          <a:solidFill>
            <a:srgbClr val="27D3BE"/>
          </a:solidFill>
          <a:ln/>
        </p:spPr>
        <p:txBody>
          <a:bodyPr/>
          <a:p/>
        </p:txBody>
      </p:sp>
      <p:sp>
        <p:nvSpPr>
          <p:cNvPr id="16" name="Text 14"/>
          <p:cNvSpPr/>
          <p:nvPr/>
        </p:nvSpPr>
        <p:spPr>
          <a:xfrm>
            <a:off x="8275320" y="1810512"/>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8869680" y="1810512"/>
            <a:ext cx="2651760" cy="457200"/>
          </a:xfrm>
          <a:prstGeom prst="rect">
            <a:avLst/>
          </a:prstGeom>
          <a:noFill/>
          <a:ln/>
        </p:spPr>
        <p:txBody>
          <a:bodyPr wrap="square" lIns="0" tIns="0" rIns="0" bIns="0" rtlCol="0" anchor="ctr"/>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Din nou adevărul</a:t>
            </a:r>
            <a:endParaRPr lang="en-US" sz="1900" dirty="0"/>
          </a:p>
        </p:txBody>
      </p:sp>
      <p:sp>
        <p:nvSpPr>
          <p:cNvPr id="18" name="Text 16"/>
          <p:cNvSpPr/>
          <p:nvPr/>
        </p:nvSpPr>
        <p:spPr>
          <a:xfrm>
            <a:off x="8321040" y="2423160"/>
            <a:ext cx="3154680" cy="73152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Cu ce face omul acum.</a:t>
            </a:r>
            <a:endParaRPr lang="en-US" sz="1600" dirty="0"/>
          </a:p>
        </p:txBody>
      </p:sp>
      <p:sp>
        <p:nvSpPr>
          <p:cNvPr id="19" name="Shape 17"/>
          <p:cNvSpPr/>
          <p:nvPr/>
        </p:nvSpPr>
        <p:spPr>
          <a:xfrm>
            <a:off x="594360" y="3474720"/>
            <a:ext cx="10972800" cy="1554480"/>
          </a:xfrm>
          <a:prstGeom prst="roundRect">
            <a:avLst>
              <a:gd name="adj" fmla="val 5294"/>
            </a:avLst>
          </a:prstGeom>
          <a:solidFill>
            <a:srgbClr val="272A38"/>
          </a:solidFill>
          <a:ln w="12700">
            <a:solidFill>
              <a:srgbClr val="272A38"/>
            </a:solidFill>
            <a:prstDash val="solid"/>
          </a:ln>
        </p:spPr>
        <p:txBody>
          <a:bodyPr/>
          <a:p/>
        </p:txBody>
      </p:sp>
      <p:sp>
        <p:nvSpPr>
          <p:cNvPr id="20" name="Text 18"/>
          <p:cNvSpPr/>
          <p:nvPr/>
        </p:nvSpPr>
        <p:spPr>
          <a:xfrm>
            <a:off x="868680" y="3566160"/>
            <a:ext cx="10424160" cy="329184"/>
          </a:xfrm>
          <a:prstGeom prst="rect">
            <a:avLst/>
          </a:prstGeom>
          <a:noFill/>
          <a:ln/>
        </p:spPr>
        <p:txBody>
          <a:bodyPr wrap="square" lIns="0" tIns="0" rIns="0" bIns="0" rtlCol="0" anchor="t"/>
          <a:lstStyle/>
          <a:p>
            <a:pPr indent="0" marL="0">
              <a:buNone/>
            </a:pPr>
            <a:r>
              <a:rPr lang="en-US" sz="1300" b="1" dirty="0">
                <a:solidFill>
                  <a:srgbClr val="FFC24B"/>
                </a:solidFill>
                <a:latin typeface="Palatino Linotype" pitchFamily="34" charset="0"/>
                <a:ea typeface="Palatino Linotype" pitchFamily="34" charset="-122"/>
                <a:cs typeface="Palatino Linotype" pitchFamily="34" charset="-120"/>
              </a:rPr>
              <a:t>Model, după fișa OMS despre durerea de spate</a:t>
            </a:r>
            <a:endParaRPr lang="en-US" sz="1300" dirty="0"/>
          </a:p>
        </p:txBody>
      </p:sp>
      <p:sp>
        <p:nvSpPr>
          <p:cNvPr id="21" name="Text 19"/>
          <p:cNvSpPr/>
          <p:nvPr/>
        </p:nvSpPr>
        <p:spPr>
          <a:xfrm>
            <a:off x="868680" y="3931920"/>
            <a:ext cx="10424160" cy="1051560"/>
          </a:xfrm>
          <a:prstGeom prst="rect">
            <a:avLst/>
          </a:prstGeom>
          <a:noFill/>
          <a:ln/>
        </p:spPr>
        <p:txBody>
          <a:bodyPr wrap="square" lIns="0" tIns="0" rIns="0" bIns="0" rtlCol="0" anchor="t"/>
          <a:lstStyle/>
          <a:p>
            <a:pPr indent="0" marL="0">
              <a:buNone/>
            </a:pPr>
            <a:r>
              <a:rPr lang="en-US" sz="1750" i="1" dirty="0">
                <a:solidFill>
                  <a:srgbClr val="FFFFFF"/>
                </a:solidFill>
                <a:latin typeface="Palatino Linotype" pitchFamily="34" charset="0"/>
                <a:ea typeface="Palatino Linotype" pitchFamily="34" charset="-122"/>
                <a:cs typeface="Palatino Linotype" pitchFamily="34" charset="-120"/>
              </a:rPr>
              <a:t>„Pentru durerea de spate obișnuită, exercițiile care vă ajută să vă mișcați din nou fac parte din tratament. Circulă ideea că, atunci când vă doare spatele, este mai sigur să nu vă mișcați; recomandările OMS merg în sens opus.”</a:t>
            </a:r>
            <a:endParaRPr lang="en-US" sz="1750" dirty="0"/>
          </a:p>
        </p:txBody>
      </p:sp>
      <p:sp>
        <p:nvSpPr>
          <p:cNvPr id="22" name="Text 20"/>
          <p:cNvSpPr/>
          <p:nvPr/>
        </p:nvSpPr>
        <p:spPr>
          <a:xfrm>
            <a:off x="594360" y="5212080"/>
            <a:ext cx="10972800" cy="777240"/>
          </a:xfrm>
          <a:prstGeom prst="rect">
            <a:avLst/>
          </a:prstGeom>
          <a:noFill/>
          <a:ln/>
        </p:spPr>
        <p:txBody>
          <a:bodyPr wrap="square" lIns="0" tIns="0" rIns="0" bIns="0" rtlCol="0" anchor="ctr"/>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Acum: alegeți un mit din norul de cuvinte și corectați-l în această ordine. Mitul nu se repetă de mai multe ori decât adevărul.</a:t>
            </a:r>
            <a:endParaRPr lang="en-US" sz="1800" dirty="0"/>
          </a:p>
        </p:txBody>
      </p:sp>
      <p:sp>
        <p:nvSpPr>
          <p:cNvPr id="23" name="Text 21"/>
          <p:cNvSpPr/>
          <p:nvPr/>
        </p:nvSpPr>
        <p:spPr>
          <a:xfrm>
            <a:off x="594360" y="6172200"/>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Recomandările lui Lewandowsky și colaboratorii pentru corectarea informațiilor false; fișa OMS despre durerea de spate.</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3" name="Shape 1"/>
          <p:cNvSpPr/>
          <p:nvPr/>
        </p:nvSpPr>
        <p:spPr>
          <a:xfrm rot="-60000">
            <a:off x="914400" y="1097280"/>
            <a:ext cx="10332720" cy="4206240"/>
          </a:xfrm>
          <a:prstGeom prst="rect">
            <a:avLst/>
          </a:prstGeom>
          <a:solidFill>
            <a:srgbClr val="FBF8F1"/>
          </a:solidFill>
          <a:ln w="9525">
            <a:solidFill>
              <a:srgbClr val="E4DFD2"/>
            </a:solidFill>
            <a:prstDash val="solid"/>
          </a:ln>
          <a:effectLst>
            <a:outerShdw sx="100000" sy="100000" kx="0" ky="0" algn="bl" rotWithShape="0" blurRad="127000" dist="63500" dir="3600000">
              <a:srgbClr val="000000">
                <a:alpha val="45000"/>
              </a:srgbClr>
            </a:outerShdw>
          </a:effectLst>
        </p:spPr>
        <p:txBody>
          <a:bodyPr/>
          <a:p/>
        </p:txBody>
      </p:sp>
      <p:sp>
        <p:nvSpPr>
          <p:cNvPr id="4" name="Text 2"/>
          <p:cNvSpPr/>
          <p:nvPr/>
        </p:nvSpPr>
        <p:spPr>
          <a:xfrm rot="-60000">
            <a:off x="1371600" y="1417320"/>
            <a:ext cx="9509760" cy="36576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DESCOPERĂ.RO  ·  8 IUNIE 2012</a:t>
            </a:r>
            <a:endParaRPr lang="en-US" sz="1300" dirty="0"/>
          </a:p>
        </p:txBody>
      </p:sp>
      <p:sp>
        <p:nvSpPr>
          <p:cNvPr id="5" name="Shape 3"/>
          <p:cNvSpPr/>
          <p:nvPr/>
        </p:nvSpPr>
        <p:spPr>
          <a:xfrm rot="-60000">
            <a:off x="1371600" y="1874520"/>
            <a:ext cx="9418320" cy="27432"/>
          </a:xfrm>
          <a:prstGeom prst="rect">
            <a:avLst/>
          </a:prstGeom>
          <a:solidFill>
            <a:srgbClr val="11121A"/>
          </a:solidFill>
          <a:ln w="12700">
            <a:solidFill>
              <a:srgbClr val="11121A"/>
            </a:solidFill>
            <a:prstDash val="solid"/>
          </a:ln>
        </p:spPr>
        <p:txBody>
          <a:bodyPr/>
          <a:p/>
        </p:txBody>
      </p:sp>
      <p:sp>
        <p:nvSpPr>
          <p:cNvPr id="6" name="Text 4"/>
          <p:cNvSpPr/>
          <p:nvPr/>
        </p:nvSpPr>
        <p:spPr>
          <a:xfrm rot="-60000">
            <a:off x="1371600" y="2103120"/>
            <a:ext cx="9326880" cy="1737360"/>
          </a:xfrm>
          <a:prstGeom prst="rect">
            <a:avLst/>
          </a:prstGeom>
          <a:noFill/>
          <a:ln/>
        </p:spPr>
        <p:txBody>
          <a:bodyPr wrap="square" lIns="0" tIns="0" rIns="0" bIns="0" rtlCol="0" anchor="ctr"/>
          <a:lstStyle/>
          <a:p>
            <a:pPr indent="0" marL="0">
              <a:buNone/>
            </a:pPr>
            <a:r>
              <a:rPr lang="en-US" sz="4600" b="1" dirty="0">
                <a:solidFill>
                  <a:srgbClr val="11121A"/>
                </a:solidFill>
                <a:latin typeface="Palatino Linotype" pitchFamily="34" charset="0"/>
                <a:ea typeface="Palatino Linotype" pitchFamily="34" charset="-122"/>
                <a:cs typeface="Palatino Linotype" pitchFamily="34" charset="-120"/>
              </a:rPr>
              <a:t>Radiațiile tomografului pot dăuna copiilor</a:t>
            </a:r>
            <a:endParaRPr lang="en-US" sz="4600" dirty="0"/>
          </a:p>
        </p:txBody>
      </p:sp>
      <p:sp>
        <p:nvSpPr>
          <p:cNvPr id="7" name="Shape 5"/>
          <p:cNvSpPr/>
          <p:nvPr/>
        </p:nvSpPr>
        <p:spPr>
          <a:xfrm rot="-60000">
            <a:off x="1371600" y="4114800"/>
            <a:ext cx="8229600" cy="82296"/>
          </a:xfrm>
          <a:prstGeom prst="rect">
            <a:avLst/>
          </a:prstGeom>
          <a:solidFill>
            <a:srgbClr val="C9C6BE"/>
          </a:solidFill>
          <a:ln w="12700">
            <a:solidFill>
              <a:srgbClr val="C9C6BE"/>
            </a:solidFill>
            <a:prstDash val="solid"/>
          </a:ln>
        </p:spPr>
        <p:txBody>
          <a:bodyPr/>
          <a:p/>
        </p:txBody>
      </p:sp>
      <p:sp>
        <p:nvSpPr>
          <p:cNvPr id="8" name="Shape 6"/>
          <p:cNvSpPr/>
          <p:nvPr/>
        </p:nvSpPr>
        <p:spPr>
          <a:xfrm rot="-60000">
            <a:off x="1371600" y="4434840"/>
            <a:ext cx="6583680" cy="82296"/>
          </a:xfrm>
          <a:prstGeom prst="rect">
            <a:avLst/>
          </a:prstGeom>
          <a:solidFill>
            <a:srgbClr val="C9C6BE"/>
          </a:solidFill>
          <a:ln w="12700">
            <a:solidFill>
              <a:srgbClr val="C9C6BE"/>
            </a:solidFill>
            <a:prstDash val="solid"/>
          </a:ln>
        </p:spPr>
        <p:txBody>
          <a:bodyPr/>
          <a:p/>
        </p:txBody>
      </p:sp>
      <p:sp>
        <p:nvSpPr>
          <p:cNvPr id="9" name="Shape 7"/>
          <p:cNvSpPr/>
          <p:nvPr/>
        </p:nvSpPr>
        <p:spPr>
          <a:xfrm rot="-60000">
            <a:off x="1371600" y="4754880"/>
            <a:ext cx="7680960" cy="82296"/>
          </a:xfrm>
          <a:prstGeom prst="rect">
            <a:avLst/>
          </a:prstGeom>
          <a:solidFill>
            <a:srgbClr val="C9C6BE"/>
          </a:solidFill>
          <a:ln w="12700">
            <a:solidFill>
              <a:srgbClr val="C9C6BE"/>
            </a:solidFill>
            <a:prstDash val="solid"/>
          </a:ln>
        </p:spPr>
        <p:txBody>
          <a:bodyPr/>
          <a:p/>
        </p:txBody>
      </p:sp>
      <p:sp>
        <p:nvSpPr>
          <p:cNvPr id="10" name="Text 8"/>
          <p:cNvSpPr/>
          <p:nvPr/>
        </p:nvSpPr>
        <p:spPr>
          <a:xfrm>
            <a:off x="594360" y="5623560"/>
            <a:ext cx="10972800" cy="45720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Titlu real de presă; articolul prezenta studiul britanic din 2012.</a:t>
            </a:r>
            <a:endParaRPr lang="en-US" sz="1700" dirty="0"/>
          </a:p>
        </p:txBody>
      </p:sp>
      <p:sp>
        <p:nvSpPr>
          <p:cNvPr id="11" name="Text 9"/>
          <p:cNvSpPr/>
          <p:nvPr/>
        </p:nvSpPr>
        <p:spPr>
          <a:xfrm>
            <a:off x="594360" y="6172200"/>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Descoperă.ro, 8 iunie 2012.</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TABERE</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SALA ÎN DOUĂ TABERE</a:t>
            </a:r>
            <a:endParaRPr lang="en-US" sz="1300" dirty="0"/>
          </a:p>
        </p:txBody>
      </p:sp>
      <p:sp>
        <p:nvSpPr>
          <p:cNvPr id="5" name="Text 3"/>
          <p:cNvSpPr/>
          <p:nvPr/>
        </p:nvSpPr>
        <p:spPr>
          <a:xfrm>
            <a:off x="594360" y="777240"/>
            <a:ext cx="7955280" cy="82296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Mama față de echipa de radiologie</a:t>
            </a:r>
            <a:endParaRPr lang="en-US" sz="3400" dirty="0"/>
          </a:p>
        </p:txBody>
      </p:sp>
      <p:sp>
        <p:nvSpPr>
          <p:cNvPr id="6" name="Shape 4"/>
          <p:cNvSpPr/>
          <p:nvPr/>
        </p:nvSpPr>
        <p:spPr>
          <a:xfrm>
            <a:off x="594360" y="1783080"/>
            <a:ext cx="5349240" cy="2651760"/>
          </a:xfrm>
          <a:prstGeom prst="roundRect">
            <a:avLst>
              <a:gd name="adj" fmla="val 3103"/>
            </a:avLst>
          </a:prstGeom>
          <a:solidFill>
            <a:srgbClr val="1D1F2B"/>
          </a:solidFill>
          <a:ln w="12700">
            <a:solidFill>
              <a:srgbClr val="1D1F2B"/>
            </a:solidFill>
            <a:prstDash val="solid"/>
          </a:ln>
        </p:spPr>
        <p:txBody>
          <a:bodyPr/>
          <a:p/>
        </p:txBody>
      </p:sp>
      <p:sp>
        <p:nvSpPr>
          <p:cNvPr id="7" name="Shape 5"/>
          <p:cNvSpPr/>
          <p:nvPr/>
        </p:nvSpPr>
        <p:spPr>
          <a:xfrm>
            <a:off x="594360" y="1783080"/>
            <a:ext cx="5349240" cy="73152"/>
          </a:xfrm>
          <a:prstGeom prst="rect">
            <a:avLst/>
          </a:prstGeom>
          <a:solidFill>
            <a:srgbClr val="FF4757"/>
          </a:solidFill>
          <a:ln w="12700">
            <a:solidFill>
              <a:srgbClr val="FF4757"/>
            </a:solidFill>
            <a:prstDash val="solid"/>
          </a:ln>
        </p:spPr>
        <p:txBody>
          <a:bodyPr/>
          <a:p/>
        </p:txBody>
      </p:sp>
      <p:sp>
        <p:nvSpPr>
          <p:cNvPr id="8" name="Text 6"/>
          <p:cNvSpPr/>
          <p:nvPr/>
        </p:nvSpPr>
        <p:spPr>
          <a:xfrm>
            <a:off x="868680" y="1965960"/>
            <a:ext cx="4846320" cy="777240"/>
          </a:xfrm>
          <a:prstGeom prst="rect">
            <a:avLst/>
          </a:prstGeom>
          <a:noFill/>
          <a:ln/>
        </p:spPr>
        <p:txBody>
          <a:bodyPr wrap="square" lIns="0" tIns="0" rIns="0" bIns="0" rtlCol="0" anchor="t"/>
          <a:lstStyle/>
          <a:p>
            <a:pPr indent="0" marL="0">
              <a:buNone/>
            </a:pPr>
            <a:r>
              <a:rPr lang="en-US" sz="2000" b="1" dirty="0">
                <a:solidFill>
                  <a:srgbClr val="FF4757"/>
                </a:solidFill>
                <a:latin typeface="Palatino Linotype" pitchFamily="34" charset="0"/>
                <a:ea typeface="Palatino Linotype" pitchFamily="34" charset="-122"/>
                <a:cs typeface="Palatino Linotype" pitchFamily="34" charset="-120"/>
              </a:rPr>
              <a:t>Tabăra din stânga: mama, care a citit titlul</a:t>
            </a:r>
            <a:endParaRPr lang="en-US" sz="2000" dirty="0"/>
          </a:p>
        </p:txBody>
      </p:sp>
      <p:sp>
        <p:nvSpPr>
          <p:cNvPr id="9" name="Text 7"/>
          <p:cNvSpPr/>
          <p:nvPr/>
        </p:nvSpPr>
        <p:spPr>
          <a:xfrm>
            <a:off x="868680" y="2880360"/>
            <a:ext cx="4846320" cy="137160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Scrieți cele două întrebări pe care le-ați pune.</a:t>
            </a:r>
            <a:endParaRPr lang="en-US" sz="1900" dirty="0"/>
          </a:p>
        </p:txBody>
      </p:sp>
      <p:sp>
        <p:nvSpPr>
          <p:cNvPr id="10" name="Shape 8"/>
          <p:cNvSpPr/>
          <p:nvPr/>
        </p:nvSpPr>
        <p:spPr>
          <a:xfrm>
            <a:off x="6217920" y="1783080"/>
            <a:ext cx="5349240" cy="2651760"/>
          </a:xfrm>
          <a:prstGeom prst="roundRect">
            <a:avLst>
              <a:gd name="adj" fmla="val 3103"/>
            </a:avLst>
          </a:prstGeom>
          <a:solidFill>
            <a:srgbClr val="1D1F2B"/>
          </a:solidFill>
          <a:ln w="12700">
            <a:solidFill>
              <a:srgbClr val="1D1F2B"/>
            </a:solidFill>
            <a:prstDash val="solid"/>
          </a:ln>
        </p:spPr>
        <p:txBody>
          <a:bodyPr/>
          <a:p/>
        </p:txBody>
      </p:sp>
      <p:sp>
        <p:nvSpPr>
          <p:cNvPr id="11" name="Shape 9"/>
          <p:cNvSpPr/>
          <p:nvPr/>
        </p:nvSpPr>
        <p:spPr>
          <a:xfrm>
            <a:off x="6217920" y="1783080"/>
            <a:ext cx="5349240" cy="73152"/>
          </a:xfrm>
          <a:prstGeom prst="rect">
            <a:avLst/>
          </a:prstGeom>
          <a:solidFill>
            <a:srgbClr val="27D3BE"/>
          </a:solidFill>
          <a:ln w="12700">
            <a:solidFill>
              <a:srgbClr val="27D3BE"/>
            </a:solidFill>
            <a:prstDash val="solid"/>
          </a:ln>
        </p:spPr>
        <p:txBody>
          <a:bodyPr/>
          <a:p/>
        </p:txBody>
      </p:sp>
      <p:sp>
        <p:nvSpPr>
          <p:cNvPr id="12" name="Text 10"/>
          <p:cNvSpPr/>
          <p:nvPr/>
        </p:nvSpPr>
        <p:spPr>
          <a:xfrm>
            <a:off x="6492240" y="1965960"/>
            <a:ext cx="4846320" cy="777240"/>
          </a:xfrm>
          <a:prstGeom prst="rect">
            <a:avLst/>
          </a:prstGeom>
          <a:noFill/>
          <a:ln/>
        </p:spPr>
        <p:txBody>
          <a:bodyPr wrap="square" lIns="0" tIns="0" rIns="0" bIns="0" rtlCol="0" anchor="t"/>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Tabăra din dreapta: echipa de radiologie</a:t>
            </a:r>
            <a:endParaRPr lang="en-US" sz="2000" dirty="0"/>
          </a:p>
        </p:txBody>
      </p:sp>
      <p:sp>
        <p:nvSpPr>
          <p:cNvPr id="13" name="Text 11"/>
          <p:cNvSpPr/>
          <p:nvPr/>
        </p:nvSpPr>
        <p:spPr>
          <a:xfrm>
            <a:off x="6492240" y="2880360"/>
            <a:ext cx="4846320" cy="137160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Scrieți răspunsul în trei propoziții: adevărul, mitul, ce facem acum.</a:t>
            </a:r>
            <a:endParaRPr lang="en-US" sz="1900" dirty="0"/>
          </a:p>
        </p:txBody>
      </p:sp>
      <p:sp>
        <p:nvSpPr>
          <p:cNvPr id="14" name="Shape 12"/>
          <p:cNvSpPr/>
          <p:nvPr/>
        </p:nvSpPr>
        <p:spPr>
          <a:xfrm>
            <a:off x="594360" y="4709160"/>
            <a:ext cx="10972800" cy="1097280"/>
          </a:xfrm>
          <a:prstGeom prst="roundRect">
            <a:avLst>
              <a:gd name="adj" fmla="val 7500"/>
            </a:avLst>
          </a:prstGeom>
          <a:solidFill>
            <a:srgbClr val="272A38"/>
          </a:solidFill>
          <a:ln w="12700">
            <a:solidFill>
              <a:srgbClr val="272A38"/>
            </a:solidFill>
            <a:prstDash val="solid"/>
          </a:ln>
        </p:spPr>
        <p:txBody>
          <a:bodyPr/>
          <a:p/>
        </p:txBody>
      </p:sp>
      <p:sp>
        <p:nvSpPr>
          <p:cNvPr id="15" name="Text 13"/>
          <p:cNvSpPr/>
          <p:nvPr/>
        </p:nvSpPr>
        <p:spPr>
          <a:xfrm>
            <a:off x="868680" y="4709160"/>
            <a:ext cx="10424160" cy="109728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Două minute de pregătire. Câte un reprezentant citește, iar sala votează pe telefon: răspunsul a liniștit-o pe mamă fără să o mintă?</a:t>
            </a:r>
            <a:endParaRPr lang="en-US" sz="1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Titlul nu este fals. Ce lipsește din el?</a:t>
            </a:r>
            <a:endParaRPr lang="en-US" sz="3000" dirty="0"/>
          </a:p>
        </p:txBody>
      </p:sp>
      <p:sp>
        <p:nvSpPr>
          <p:cNvPr id="4" name="Shape 2"/>
          <p:cNvSpPr/>
          <p:nvPr/>
        </p:nvSpPr>
        <p:spPr>
          <a:xfrm>
            <a:off x="594360" y="1691640"/>
            <a:ext cx="3547872" cy="3200400"/>
          </a:xfrm>
          <a:prstGeom prst="roundRect">
            <a:avLst>
              <a:gd name="adj" fmla="val 2571"/>
            </a:avLst>
          </a:prstGeom>
          <a:solidFill>
            <a:srgbClr val="ECEAE4"/>
          </a:solidFill>
          <a:ln w="12700">
            <a:solidFill>
              <a:srgbClr val="ECEAE4"/>
            </a:solidFill>
            <a:prstDash val="solid"/>
          </a:ln>
        </p:spPr>
        <p:txBody>
          <a:bodyPr/>
          <a:p/>
        </p:txBody>
      </p:sp>
      <p:sp>
        <p:nvSpPr>
          <p:cNvPr id="5" name="Shape 3"/>
          <p:cNvSpPr/>
          <p:nvPr/>
        </p:nvSpPr>
        <p:spPr>
          <a:xfrm>
            <a:off x="594360" y="1691640"/>
            <a:ext cx="3547872" cy="73152"/>
          </a:xfrm>
          <a:prstGeom prst="rect">
            <a:avLst/>
          </a:prstGeom>
          <a:solidFill>
            <a:srgbClr val="B02532"/>
          </a:solidFill>
          <a:ln w="12700">
            <a:solidFill>
              <a:srgbClr val="B02532"/>
            </a:solidFill>
            <a:prstDash val="solid"/>
          </a:ln>
        </p:spPr>
        <p:txBody>
          <a:bodyPr/>
          <a:p/>
        </p:txBody>
      </p:sp>
      <p:sp>
        <p:nvSpPr>
          <p:cNvPr id="6" name="Text 4"/>
          <p:cNvSpPr/>
          <p:nvPr/>
        </p:nvSpPr>
        <p:spPr>
          <a:xfrm>
            <a:off x="795528" y="1920240"/>
            <a:ext cx="3145536" cy="914400"/>
          </a:xfrm>
          <a:prstGeom prst="rect">
            <a:avLst/>
          </a:prstGeom>
          <a:noFill/>
          <a:ln/>
        </p:spPr>
        <p:txBody>
          <a:bodyPr wrap="square" lIns="0" tIns="0" rIns="0" bIns="0" rtlCol="0" anchor="t"/>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Doza</a:t>
            </a:r>
            <a:endParaRPr lang="en-US" sz="2200" dirty="0"/>
          </a:p>
        </p:txBody>
      </p:sp>
      <p:sp>
        <p:nvSpPr>
          <p:cNvPr id="7" name="Text 5"/>
          <p:cNvSpPr/>
          <p:nvPr/>
        </p:nvSpPr>
        <p:spPr>
          <a:xfrm>
            <a:off x="795528" y="2926080"/>
            <a:ext cx="3145536" cy="182880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Titlul nu spune nimic despre doză: studiul a estimat un risc aproape triplu la doze adunate din mai multe examinări.</a:t>
            </a:r>
            <a:endParaRPr lang="en-US" sz="1650" dirty="0"/>
          </a:p>
        </p:txBody>
      </p:sp>
      <p:sp>
        <p:nvSpPr>
          <p:cNvPr id="8" name="Shape 6"/>
          <p:cNvSpPr/>
          <p:nvPr/>
        </p:nvSpPr>
        <p:spPr>
          <a:xfrm>
            <a:off x="4306824" y="1691640"/>
            <a:ext cx="3547872" cy="3200400"/>
          </a:xfrm>
          <a:prstGeom prst="roundRect">
            <a:avLst>
              <a:gd name="adj" fmla="val 2571"/>
            </a:avLst>
          </a:prstGeom>
          <a:solidFill>
            <a:srgbClr val="F9F8F5"/>
          </a:solidFill>
          <a:ln w="12700">
            <a:solidFill>
              <a:srgbClr val="F9F8F5"/>
            </a:solidFill>
            <a:prstDash val="solid"/>
          </a:ln>
        </p:spPr>
        <p:txBody>
          <a:bodyPr/>
          <a:p/>
        </p:txBody>
      </p:sp>
      <p:sp>
        <p:nvSpPr>
          <p:cNvPr id="9" name="Shape 7"/>
          <p:cNvSpPr/>
          <p:nvPr/>
        </p:nvSpPr>
        <p:spPr>
          <a:xfrm>
            <a:off x="4306824" y="1691640"/>
            <a:ext cx="3547872" cy="73152"/>
          </a:xfrm>
          <a:prstGeom prst="rect">
            <a:avLst/>
          </a:prstGeom>
          <a:solidFill>
            <a:srgbClr val="4A2D8C"/>
          </a:solidFill>
          <a:ln w="12700">
            <a:solidFill>
              <a:srgbClr val="4A2D8C"/>
            </a:solidFill>
            <a:prstDash val="solid"/>
          </a:ln>
        </p:spPr>
        <p:txBody>
          <a:bodyPr/>
          <a:p/>
        </p:txBody>
      </p:sp>
      <p:sp>
        <p:nvSpPr>
          <p:cNvPr id="10" name="Text 8"/>
          <p:cNvSpPr/>
          <p:nvPr/>
        </p:nvSpPr>
        <p:spPr>
          <a:xfrm>
            <a:off x="4507992" y="1920240"/>
            <a:ext cx="3145536" cy="914400"/>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Riscul absolut</a:t>
            </a:r>
            <a:endParaRPr lang="en-US" sz="2200" dirty="0"/>
          </a:p>
        </p:txBody>
      </p:sp>
      <p:sp>
        <p:nvSpPr>
          <p:cNvPr id="11" name="Text 9"/>
          <p:cNvSpPr/>
          <p:nvPr/>
        </p:nvSpPr>
        <p:spPr>
          <a:xfrm>
            <a:off x="4507992" y="2926080"/>
            <a:ext cx="3145536" cy="182880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Titlul dă riscul relativ și ascunde riscul absolut: un caz în plus de leucemie și unul de tumoră cerebrală la 10 000 de examene CT ale capului, la copiii sub 10 ani, în 10 ani.</a:t>
            </a:r>
            <a:endParaRPr lang="en-US" sz="1650" dirty="0"/>
          </a:p>
        </p:txBody>
      </p:sp>
      <p:sp>
        <p:nvSpPr>
          <p:cNvPr id="12" name="Shape 10"/>
          <p:cNvSpPr/>
          <p:nvPr/>
        </p:nvSpPr>
        <p:spPr>
          <a:xfrm>
            <a:off x="8019288" y="1691640"/>
            <a:ext cx="3547872" cy="3200400"/>
          </a:xfrm>
          <a:prstGeom prst="roundRect">
            <a:avLst>
              <a:gd name="adj" fmla="val 2571"/>
            </a:avLst>
          </a:prstGeom>
          <a:solidFill>
            <a:srgbClr val="ECEAE4"/>
          </a:solidFill>
          <a:ln w="12700">
            <a:solidFill>
              <a:srgbClr val="ECEAE4"/>
            </a:solidFill>
            <a:prstDash val="solid"/>
          </a:ln>
        </p:spPr>
        <p:txBody>
          <a:bodyPr/>
          <a:p/>
        </p:txBody>
      </p:sp>
      <p:sp>
        <p:nvSpPr>
          <p:cNvPr id="13" name="Shape 11"/>
          <p:cNvSpPr/>
          <p:nvPr/>
        </p:nvSpPr>
        <p:spPr>
          <a:xfrm>
            <a:off x="8019288" y="1691640"/>
            <a:ext cx="3547872" cy="73152"/>
          </a:xfrm>
          <a:prstGeom prst="rect">
            <a:avLst/>
          </a:prstGeom>
          <a:solidFill>
            <a:srgbClr val="0E7C6B"/>
          </a:solidFill>
          <a:ln w="12700">
            <a:solidFill>
              <a:srgbClr val="0E7C6B"/>
            </a:solidFill>
            <a:prstDash val="solid"/>
          </a:ln>
        </p:spPr>
        <p:txBody>
          <a:bodyPr/>
          <a:p/>
        </p:txBody>
      </p:sp>
      <p:sp>
        <p:nvSpPr>
          <p:cNvPr id="14" name="Text 12"/>
          <p:cNvSpPr/>
          <p:nvPr/>
        </p:nvSpPr>
        <p:spPr>
          <a:xfrm>
            <a:off x="8220456" y="1920240"/>
            <a:ext cx="3145536" cy="914400"/>
          </a:xfrm>
          <a:prstGeom prst="rect">
            <a:avLst/>
          </a:prstGeom>
          <a:noFill/>
          <a:ln/>
        </p:spPr>
        <p:txBody>
          <a:bodyPr wrap="square" lIns="0" tIns="0" rIns="0" bIns="0" rtlCol="0" anchor="t"/>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Riscul de a nu face investigația</a:t>
            </a:r>
            <a:endParaRPr lang="en-US" sz="2200" dirty="0"/>
          </a:p>
        </p:txBody>
      </p:sp>
      <p:sp>
        <p:nvSpPr>
          <p:cNvPr id="15" name="Text 13"/>
          <p:cNvSpPr/>
          <p:nvPr/>
        </p:nvSpPr>
        <p:spPr>
          <a:xfrm>
            <a:off x="8220456" y="2926080"/>
            <a:ext cx="3145536" cy="182880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Titlul nu spune nimic despre riscul de a nu face o investigație necesară.</a:t>
            </a:r>
            <a:endParaRPr lang="en-US" sz="1650" dirty="0"/>
          </a:p>
        </p:txBody>
      </p:sp>
      <p:sp>
        <p:nvSpPr>
          <p:cNvPr id="16" name="Shape 14"/>
          <p:cNvSpPr/>
          <p:nvPr/>
        </p:nvSpPr>
        <p:spPr>
          <a:xfrm>
            <a:off x="594360" y="5120640"/>
            <a:ext cx="10972800" cy="822960"/>
          </a:xfrm>
          <a:prstGeom prst="roundRect">
            <a:avLst>
              <a:gd name="adj" fmla="val 10000"/>
            </a:avLst>
          </a:prstGeom>
          <a:solidFill>
            <a:srgbClr val="11121A"/>
          </a:solidFill>
          <a:ln w="12700">
            <a:solidFill>
              <a:srgbClr val="11121A"/>
            </a:solidFill>
            <a:prstDash val="solid"/>
          </a:ln>
        </p:spPr>
        <p:txBody>
          <a:bodyPr/>
          <a:p/>
        </p:txBody>
      </p:sp>
      <p:sp>
        <p:nvSpPr>
          <p:cNvPr id="17" name="Text 15"/>
          <p:cNvSpPr/>
          <p:nvPr/>
        </p:nvSpPr>
        <p:spPr>
          <a:xfrm>
            <a:off x="868680" y="5120640"/>
            <a:ext cx="10424160" cy="82296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Pe înțelesul mamei: riscul există, este mic, iar echipa îl ține cât mai mic.</a:t>
            </a:r>
            <a:endParaRPr lang="en-US" sz="1900" dirty="0"/>
          </a:p>
        </p:txBody>
      </p:sp>
      <p:sp>
        <p:nvSpPr>
          <p:cNvPr id="18" name="Text 16"/>
          <p:cNvSpPr/>
          <p:nvPr/>
        </p:nvSpPr>
        <p:spPr>
          <a:xfrm>
            <a:off x="594360" y="6172200"/>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Descoperă.ro, 8 iunie 2012; studiul britanic publicat în 2012.</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VOT PE TELEFON</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CERINȚELE EDUCAȚIEI PENTRU SĂNĂTATE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Cinci cerințe minime</a:t>
            </a:r>
            <a:endParaRPr lang="en-US" sz="3200" dirty="0"/>
          </a:p>
        </p:txBody>
      </p:sp>
      <p:sp>
        <p:nvSpPr>
          <p:cNvPr id="6" name="Shape 4"/>
          <p:cNvSpPr/>
          <p:nvPr/>
        </p:nvSpPr>
        <p:spPr>
          <a:xfrm>
            <a:off x="594360" y="1691640"/>
            <a:ext cx="2062886" cy="3108960"/>
          </a:xfrm>
          <a:prstGeom prst="roundRect">
            <a:avLst>
              <a:gd name="adj" fmla="val 3989"/>
            </a:avLst>
          </a:prstGeom>
          <a:solidFill>
            <a:srgbClr val="ECEAE4"/>
          </a:solidFill>
          <a:ln w="12700">
            <a:solidFill>
              <a:srgbClr val="ECEAE4"/>
            </a:solidFill>
            <a:prstDash val="solid"/>
          </a:ln>
        </p:spPr>
        <p:txBody>
          <a:bodyPr/>
          <a:p/>
        </p:txBody>
      </p:sp>
      <p:sp>
        <p:nvSpPr>
          <p:cNvPr id="7" name="Shape 5"/>
          <p:cNvSpPr/>
          <p:nvPr/>
        </p:nvSpPr>
        <p:spPr>
          <a:xfrm>
            <a:off x="594360" y="1691640"/>
            <a:ext cx="2062886" cy="73152"/>
          </a:xfrm>
          <a:prstGeom prst="rect">
            <a:avLst/>
          </a:prstGeom>
          <a:solidFill>
            <a:srgbClr val="0E7C6B"/>
          </a:solidFill>
          <a:ln w="12700">
            <a:solidFill>
              <a:srgbClr val="0E7C6B"/>
            </a:solidFill>
            <a:prstDash val="solid"/>
          </a:ln>
        </p:spPr>
        <p:txBody>
          <a:bodyPr/>
          <a:p/>
        </p:txBody>
      </p:sp>
      <p:sp>
        <p:nvSpPr>
          <p:cNvPr id="8" name="Text 6"/>
          <p:cNvSpPr/>
          <p:nvPr/>
        </p:nvSpPr>
        <p:spPr>
          <a:xfrm>
            <a:off x="795528" y="1920240"/>
            <a:ext cx="1660550" cy="914400"/>
          </a:xfrm>
          <a:prstGeom prst="rect">
            <a:avLst/>
          </a:prstGeom>
          <a:noFill/>
          <a:ln/>
        </p:spPr>
        <p:txBody>
          <a:bodyPr wrap="square" lIns="0" tIns="0" rIns="0" bIns="0" rtlCol="0" anchor="t"/>
          <a:lstStyle/>
          <a:p>
            <a:pPr indent="0" marL="0">
              <a:buNone/>
            </a:pPr>
            <a:r>
              <a:rPr lang="en-US" sz="1750" b="1" dirty="0">
                <a:solidFill>
                  <a:srgbClr val="0E7C6B"/>
                </a:solidFill>
                <a:latin typeface="Palatino Linotype" pitchFamily="34" charset="0"/>
                <a:ea typeface="Palatino Linotype" pitchFamily="34" charset="-122"/>
                <a:cs typeface="Palatino Linotype" pitchFamily="34" charset="-120"/>
              </a:rPr>
              <a:t>Claritatea mesajului</a:t>
            </a:r>
            <a:endParaRPr lang="en-US" sz="1750" dirty="0"/>
          </a:p>
        </p:txBody>
      </p:sp>
      <p:sp>
        <p:nvSpPr>
          <p:cNvPr id="9" name="Text 7"/>
          <p:cNvSpPr/>
          <p:nvPr/>
        </p:nvSpPr>
        <p:spPr>
          <a:xfrm>
            <a:off x="795528" y="2926080"/>
            <a:ext cx="1660550" cy="17373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O idee principală, în cuvinte obișnuite.</a:t>
            </a:r>
            <a:endParaRPr lang="en-US" sz="1550" dirty="0"/>
          </a:p>
        </p:txBody>
      </p:sp>
      <p:sp>
        <p:nvSpPr>
          <p:cNvPr id="10" name="Shape 8"/>
          <p:cNvSpPr/>
          <p:nvPr/>
        </p:nvSpPr>
        <p:spPr>
          <a:xfrm>
            <a:off x="2821838" y="1691640"/>
            <a:ext cx="2062886" cy="3108960"/>
          </a:xfrm>
          <a:prstGeom prst="roundRect">
            <a:avLst>
              <a:gd name="adj" fmla="val 3989"/>
            </a:avLst>
          </a:prstGeom>
          <a:solidFill>
            <a:srgbClr val="F9F8F5"/>
          </a:solidFill>
          <a:ln w="12700">
            <a:solidFill>
              <a:srgbClr val="F9F8F5"/>
            </a:solidFill>
            <a:prstDash val="solid"/>
          </a:ln>
        </p:spPr>
        <p:txBody>
          <a:bodyPr/>
          <a:p/>
        </p:txBody>
      </p:sp>
      <p:sp>
        <p:nvSpPr>
          <p:cNvPr id="11" name="Shape 9"/>
          <p:cNvSpPr/>
          <p:nvPr/>
        </p:nvSpPr>
        <p:spPr>
          <a:xfrm>
            <a:off x="2821838" y="1691640"/>
            <a:ext cx="2062886" cy="73152"/>
          </a:xfrm>
          <a:prstGeom prst="rect">
            <a:avLst/>
          </a:prstGeom>
          <a:solidFill>
            <a:srgbClr val="4A2D8C"/>
          </a:solidFill>
          <a:ln w="12700">
            <a:solidFill>
              <a:srgbClr val="4A2D8C"/>
            </a:solidFill>
            <a:prstDash val="solid"/>
          </a:ln>
        </p:spPr>
        <p:txBody>
          <a:bodyPr/>
          <a:p/>
        </p:txBody>
      </p:sp>
      <p:sp>
        <p:nvSpPr>
          <p:cNvPr id="12" name="Text 10"/>
          <p:cNvSpPr/>
          <p:nvPr/>
        </p:nvSpPr>
        <p:spPr>
          <a:xfrm>
            <a:off x="3023006" y="1920240"/>
            <a:ext cx="1660550" cy="914400"/>
          </a:xfrm>
          <a:prstGeom prst="rect">
            <a:avLst/>
          </a:prstGeom>
          <a:noFill/>
          <a:ln/>
        </p:spPr>
        <p:txBody>
          <a:bodyPr wrap="square" lIns="0" tIns="0" rIns="0" bIns="0" rtlCol="0" anchor="t"/>
          <a:lstStyle/>
          <a:p>
            <a:pPr indent="0" marL="0">
              <a:buNone/>
            </a:pPr>
            <a:r>
              <a:rPr lang="en-US" sz="1750" b="1" dirty="0">
                <a:solidFill>
                  <a:srgbClr val="4A2D8C"/>
                </a:solidFill>
                <a:latin typeface="Palatino Linotype" pitchFamily="34" charset="0"/>
                <a:ea typeface="Palatino Linotype" pitchFamily="34" charset="-122"/>
                <a:cs typeface="Palatino Linotype" pitchFamily="34" charset="-120"/>
              </a:rPr>
              <a:t>Coerența între canale</a:t>
            </a:r>
            <a:endParaRPr lang="en-US" sz="1750" dirty="0"/>
          </a:p>
        </p:txBody>
      </p:sp>
      <p:sp>
        <p:nvSpPr>
          <p:cNvPr id="13" name="Text 11"/>
          <p:cNvSpPr/>
          <p:nvPr/>
        </p:nvSpPr>
        <p:spPr>
          <a:xfrm>
            <a:off x="3023006" y="2926080"/>
            <a:ext cx="1660550" cy="17373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Același mesaj peste tot.</a:t>
            </a:r>
            <a:endParaRPr lang="en-US" sz="1550" dirty="0"/>
          </a:p>
        </p:txBody>
      </p:sp>
      <p:sp>
        <p:nvSpPr>
          <p:cNvPr id="14" name="Shape 12"/>
          <p:cNvSpPr/>
          <p:nvPr/>
        </p:nvSpPr>
        <p:spPr>
          <a:xfrm>
            <a:off x="5049317" y="1691640"/>
            <a:ext cx="2062886" cy="3108960"/>
          </a:xfrm>
          <a:prstGeom prst="roundRect">
            <a:avLst>
              <a:gd name="adj" fmla="val 3989"/>
            </a:avLst>
          </a:prstGeom>
          <a:solidFill>
            <a:srgbClr val="ECEAE4"/>
          </a:solidFill>
          <a:ln w="12700">
            <a:solidFill>
              <a:srgbClr val="ECEAE4"/>
            </a:solidFill>
            <a:prstDash val="solid"/>
          </a:ln>
        </p:spPr>
        <p:txBody>
          <a:bodyPr/>
          <a:p/>
        </p:txBody>
      </p:sp>
      <p:sp>
        <p:nvSpPr>
          <p:cNvPr id="15" name="Shape 13"/>
          <p:cNvSpPr/>
          <p:nvPr/>
        </p:nvSpPr>
        <p:spPr>
          <a:xfrm>
            <a:off x="5049317" y="1691640"/>
            <a:ext cx="2062886" cy="73152"/>
          </a:xfrm>
          <a:prstGeom prst="rect">
            <a:avLst/>
          </a:prstGeom>
          <a:solidFill>
            <a:srgbClr val="B02532"/>
          </a:solidFill>
          <a:ln w="12700">
            <a:solidFill>
              <a:srgbClr val="B02532"/>
            </a:solidFill>
            <a:prstDash val="solid"/>
          </a:ln>
        </p:spPr>
        <p:txBody>
          <a:bodyPr/>
          <a:p/>
        </p:txBody>
      </p:sp>
      <p:sp>
        <p:nvSpPr>
          <p:cNvPr id="16" name="Text 14"/>
          <p:cNvSpPr/>
          <p:nvPr/>
        </p:nvSpPr>
        <p:spPr>
          <a:xfrm>
            <a:off x="5250485" y="1920240"/>
            <a:ext cx="1660550" cy="914400"/>
          </a:xfrm>
          <a:prstGeom prst="rect">
            <a:avLst/>
          </a:prstGeom>
          <a:noFill/>
          <a:ln/>
        </p:spPr>
        <p:txBody>
          <a:bodyPr wrap="square" lIns="0" tIns="0" rIns="0" bIns="0" rtlCol="0" anchor="t"/>
          <a:lstStyle/>
          <a:p>
            <a:pPr indent="0" marL="0">
              <a:buNone/>
            </a:pPr>
            <a:r>
              <a:rPr lang="en-US" sz="1750" b="1" dirty="0">
                <a:solidFill>
                  <a:srgbClr val="B02532"/>
                </a:solidFill>
                <a:latin typeface="Palatino Linotype" pitchFamily="34" charset="0"/>
                <a:ea typeface="Palatino Linotype" pitchFamily="34" charset="-122"/>
                <a:cs typeface="Palatino Linotype" pitchFamily="34" charset="-120"/>
              </a:rPr>
              <a:t>Accesul pentru toți</a:t>
            </a:r>
            <a:endParaRPr lang="en-US" sz="1750" dirty="0"/>
          </a:p>
        </p:txBody>
      </p:sp>
      <p:sp>
        <p:nvSpPr>
          <p:cNvPr id="17" name="Text 15"/>
          <p:cNvSpPr/>
          <p:nvPr/>
        </p:nvSpPr>
        <p:spPr>
          <a:xfrm>
            <a:off x="5250485" y="2926080"/>
            <a:ext cx="1660550" cy="17373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Locul, ora, costul, limba și dizabilitatea nu exclud pe nimeni.</a:t>
            </a:r>
            <a:endParaRPr lang="en-US" sz="1550" dirty="0"/>
          </a:p>
        </p:txBody>
      </p:sp>
      <p:sp>
        <p:nvSpPr>
          <p:cNvPr id="18" name="Shape 16"/>
          <p:cNvSpPr/>
          <p:nvPr/>
        </p:nvSpPr>
        <p:spPr>
          <a:xfrm>
            <a:off x="7276795" y="1691640"/>
            <a:ext cx="2062886" cy="3108960"/>
          </a:xfrm>
          <a:prstGeom prst="roundRect">
            <a:avLst>
              <a:gd name="adj" fmla="val 3989"/>
            </a:avLst>
          </a:prstGeom>
          <a:solidFill>
            <a:srgbClr val="F9F8F5"/>
          </a:solidFill>
          <a:ln w="12700">
            <a:solidFill>
              <a:srgbClr val="F9F8F5"/>
            </a:solidFill>
            <a:prstDash val="solid"/>
          </a:ln>
        </p:spPr>
        <p:txBody>
          <a:bodyPr/>
          <a:p/>
        </p:txBody>
      </p:sp>
      <p:sp>
        <p:nvSpPr>
          <p:cNvPr id="19" name="Shape 17"/>
          <p:cNvSpPr/>
          <p:nvPr/>
        </p:nvSpPr>
        <p:spPr>
          <a:xfrm>
            <a:off x="7276795" y="1691640"/>
            <a:ext cx="2062886" cy="73152"/>
          </a:xfrm>
          <a:prstGeom prst="rect">
            <a:avLst/>
          </a:prstGeom>
          <a:solidFill>
            <a:srgbClr val="9C4A0A"/>
          </a:solidFill>
          <a:ln w="12700">
            <a:solidFill>
              <a:srgbClr val="9C4A0A"/>
            </a:solidFill>
            <a:prstDash val="solid"/>
          </a:ln>
        </p:spPr>
        <p:txBody>
          <a:bodyPr/>
          <a:p/>
        </p:txBody>
      </p:sp>
      <p:sp>
        <p:nvSpPr>
          <p:cNvPr id="20" name="Text 18"/>
          <p:cNvSpPr/>
          <p:nvPr/>
        </p:nvSpPr>
        <p:spPr>
          <a:xfrm>
            <a:off x="7477963" y="1920240"/>
            <a:ext cx="1660550" cy="914400"/>
          </a:xfrm>
          <a:prstGeom prst="rect">
            <a:avLst/>
          </a:prstGeom>
          <a:noFill/>
          <a:ln/>
        </p:spPr>
        <p:txBody>
          <a:bodyPr wrap="square" lIns="0" tIns="0" rIns="0" bIns="0" rtlCol="0" anchor="t"/>
          <a:lstStyle/>
          <a:p>
            <a:pPr indent="0" marL="0">
              <a:buNone/>
            </a:pPr>
            <a:r>
              <a:rPr lang="en-US" sz="1750" b="1" dirty="0">
                <a:solidFill>
                  <a:srgbClr val="9C4A0A"/>
                </a:solidFill>
                <a:latin typeface="Palatino Linotype" pitchFamily="34" charset="0"/>
                <a:ea typeface="Palatino Linotype" pitchFamily="34" charset="-122"/>
                <a:cs typeface="Palatino Linotype" pitchFamily="34" charset="-120"/>
              </a:rPr>
              <a:t>Continuitatea în timp</a:t>
            </a:r>
            <a:endParaRPr lang="en-US" sz="1750" dirty="0"/>
          </a:p>
        </p:txBody>
      </p:sp>
      <p:sp>
        <p:nvSpPr>
          <p:cNvPr id="21" name="Text 19"/>
          <p:cNvSpPr/>
          <p:nvPr/>
        </p:nvSpPr>
        <p:spPr>
          <a:xfrm>
            <a:off x="7477963" y="2926080"/>
            <a:ext cx="1660550" cy="17373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 memento, o revenire, un plan de întreținere.</a:t>
            </a:r>
            <a:endParaRPr lang="en-US" sz="1550" dirty="0"/>
          </a:p>
        </p:txBody>
      </p:sp>
      <p:sp>
        <p:nvSpPr>
          <p:cNvPr id="22" name="Shape 20"/>
          <p:cNvSpPr/>
          <p:nvPr/>
        </p:nvSpPr>
        <p:spPr>
          <a:xfrm>
            <a:off x="9504274" y="1691640"/>
            <a:ext cx="2062886" cy="3108960"/>
          </a:xfrm>
          <a:prstGeom prst="roundRect">
            <a:avLst>
              <a:gd name="adj" fmla="val 3989"/>
            </a:avLst>
          </a:prstGeom>
          <a:solidFill>
            <a:srgbClr val="ECEAE4"/>
          </a:solidFill>
          <a:ln w="12700">
            <a:solidFill>
              <a:srgbClr val="ECEAE4"/>
            </a:solidFill>
            <a:prstDash val="solid"/>
          </a:ln>
        </p:spPr>
        <p:txBody>
          <a:bodyPr/>
          <a:p/>
        </p:txBody>
      </p:sp>
      <p:sp>
        <p:nvSpPr>
          <p:cNvPr id="23" name="Shape 21"/>
          <p:cNvSpPr/>
          <p:nvPr/>
        </p:nvSpPr>
        <p:spPr>
          <a:xfrm>
            <a:off x="9504274" y="1691640"/>
            <a:ext cx="2062886" cy="73152"/>
          </a:xfrm>
          <a:prstGeom prst="rect">
            <a:avLst/>
          </a:prstGeom>
          <a:solidFill>
            <a:srgbClr val="0E7C6B"/>
          </a:solidFill>
          <a:ln w="12700">
            <a:solidFill>
              <a:srgbClr val="0E7C6B"/>
            </a:solidFill>
            <a:prstDash val="solid"/>
          </a:ln>
        </p:spPr>
        <p:txBody>
          <a:bodyPr/>
          <a:p/>
        </p:txBody>
      </p:sp>
      <p:sp>
        <p:nvSpPr>
          <p:cNvPr id="24" name="Text 22"/>
          <p:cNvSpPr/>
          <p:nvPr/>
        </p:nvSpPr>
        <p:spPr>
          <a:xfrm>
            <a:off x="9705442" y="1920240"/>
            <a:ext cx="1660550" cy="914400"/>
          </a:xfrm>
          <a:prstGeom prst="rect">
            <a:avLst/>
          </a:prstGeom>
          <a:noFill/>
          <a:ln/>
        </p:spPr>
        <p:txBody>
          <a:bodyPr wrap="square" lIns="0" tIns="0" rIns="0" bIns="0" rtlCol="0" anchor="t"/>
          <a:lstStyle/>
          <a:p>
            <a:pPr indent="0" marL="0">
              <a:buNone/>
            </a:pPr>
            <a:r>
              <a:rPr lang="en-US" sz="1750" b="1" dirty="0">
                <a:solidFill>
                  <a:srgbClr val="0E7C6B"/>
                </a:solidFill>
                <a:latin typeface="Palatino Linotype" pitchFamily="34" charset="0"/>
                <a:ea typeface="Palatino Linotype" pitchFamily="34" charset="-122"/>
                <a:cs typeface="Palatino Linotype" pitchFamily="34" charset="-120"/>
              </a:rPr>
              <a:t>Măsurarea și îmbunătățirea</a:t>
            </a:r>
            <a:endParaRPr lang="en-US" sz="1750" dirty="0"/>
          </a:p>
        </p:txBody>
      </p:sp>
      <p:sp>
        <p:nvSpPr>
          <p:cNvPr id="25" name="Text 23"/>
          <p:cNvSpPr/>
          <p:nvPr/>
        </p:nvSpPr>
        <p:spPr>
          <a:xfrm>
            <a:off x="9705442" y="2926080"/>
            <a:ext cx="1660550" cy="17373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 indicator simplu, urmărit regulat, și schimbarea a ceea ce nu merge.</a:t>
            </a:r>
            <a:endParaRPr lang="en-US" sz="1550" dirty="0"/>
          </a:p>
        </p:txBody>
      </p:sp>
      <p:sp>
        <p:nvSpPr>
          <p:cNvPr id="26" name="Shape 24"/>
          <p:cNvSpPr/>
          <p:nvPr/>
        </p:nvSpPr>
        <p:spPr>
          <a:xfrm>
            <a:off x="594360" y="5029200"/>
            <a:ext cx="10972800" cy="914400"/>
          </a:xfrm>
          <a:prstGeom prst="roundRect">
            <a:avLst>
              <a:gd name="adj" fmla="val 9000"/>
            </a:avLst>
          </a:prstGeom>
          <a:solidFill>
            <a:srgbClr val="11121A"/>
          </a:solidFill>
          <a:ln w="12700">
            <a:solidFill>
              <a:srgbClr val="11121A"/>
            </a:solidFill>
            <a:prstDash val="solid"/>
          </a:ln>
        </p:spPr>
        <p:txBody>
          <a:bodyPr/>
          <a:p/>
        </p:txBody>
      </p:sp>
      <p:sp>
        <p:nvSpPr>
          <p:cNvPr id="27" name="Text 25"/>
          <p:cNvSpPr/>
          <p:nvPr/>
        </p:nvSpPr>
        <p:spPr>
          <a:xfrm>
            <a:off x="868680" y="5029200"/>
            <a:ext cx="10424160" cy="914400"/>
          </a:xfrm>
          <a:prstGeom prst="rect">
            <a:avLst/>
          </a:prstGeom>
          <a:noFill/>
          <a:ln/>
        </p:spPr>
        <p:txBody>
          <a:bodyPr wrap="square" lIns="0" tIns="0" rIns="0" bIns="0" rtlCol="0" anchor="ctr"/>
          <a:lstStyle/>
          <a:p>
            <a:pPr indent="0" marL="0">
              <a:buNone/>
            </a:pPr>
            <a:r>
              <a:rPr lang="en-US" sz="2300" b="1" dirty="0">
                <a:solidFill>
                  <a:srgbClr val="FFC24B"/>
                </a:solidFill>
                <a:latin typeface="Palatino Linotype" pitchFamily="34" charset="0"/>
                <a:ea typeface="Palatino Linotype" pitchFamily="34" charset="-122"/>
                <a:cs typeface="Palatino Linotype" pitchFamily="34" charset="-120"/>
              </a:rPr>
              <a:t>Vot: ce cerință lipsea din răspunsul „nu vă faceți griji”?</a:t>
            </a:r>
            <a:endParaRPr lang="en-US" sz="2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4757"/>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2E060B"/>
                </a:solidFill>
                <a:latin typeface="Palatino Linotype" pitchFamily="34" charset="0"/>
                <a:ea typeface="Palatino Linotype" pitchFamily="34" charset="-122"/>
                <a:cs typeface="Palatino Linotype" pitchFamily="34" charset="-120"/>
              </a:rPr>
              <a:t>CE FACEȚI DIFERIT DE MÂINE</a:t>
            </a:r>
            <a:endParaRPr lang="en-US" sz="1300" dirty="0"/>
          </a:p>
        </p:txBody>
      </p:sp>
      <p:sp>
        <p:nvSpPr>
          <p:cNvPr id="3" name="Text 1"/>
          <p:cNvSpPr/>
          <p:nvPr/>
        </p:nvSpPr>
        <p:spPr>
          <a:xfrm>
            <a:off x="594360" y="1097280"/>
            <a:ext cx="10972800" cy="2103120"/>
          </a:xfrm>
          <a:prstGeom prst="rect">
            <a:avLst/>
          </a:prstGeom>
          <a:noFill/>
          <a:ln/>
        </p:spPr>
        <p:txBody>
          <a:bodyPr wrap="square" lIns="0" tIns="0" rIns="0" bIns="0" rtlCol="0" anchor="ctr"/>
          <a:lstStyle/>
          <a:p>
            <a:pPr indent="0" marL="0">
              <a:buNone/>
            </a:pPr>
            <a:r>
              <a:rPr lang="en-US" sz="3400" b="1" dirty="0">
                <a:solidFill>
                  <a:srgbClr val="2E060B"/>
                </a:solidFill>
                <a:latin typeface="Palatino Linotype" pitchFamily="34" charset="0"/>
                <a:ea typeface="Palatino Linotype" pitchFamily="34" charset="-122"/>
                <a:cs typeface="Palatino Linotype" pitchFamily="34" charset="-120"/>
              </a:rPr>
              <a:t>Înainte de examinare, cereți-i pacientului să vă spună cu cuvintele lui ce urmează și ce are de făcut.</a:t>
            </a:r>
            <a:endParaRPr lang="en-US" sz="3400" dirty="0"/>
          </a:p>
        </p:txBody>
      </p:sp>
      <p:sp>
        <p:nvSpPr>
          <p:cNvPr id="4" name="Text 2"/>
          <p:cNvSpPr/>
          <p:nvPr/>
        </p:nvSpPr>
        <p:spPr>
          <a:xfrm>
            <a:off x="594360" y="3429000"/>
            <a:ext cx="10972800" cy="1005840"/>
          </a:xfrm>
          <a:prstGeom prst="rect">
            <a:avLst/>
          </a:prstGeom>
          <a:noFill/>
          <a:ln/>
        </p:spPr>
        <p:txBody>
          <a:bodyPr wrap="square" lIns="0" tIns="0" rIns="0" bIns="0" rtlCol="0" anchor="t"/>
          <a:lstStyle/>
          <a:p>
            <a:pPr indent="0" marL="0">
              <a:buNone/>
            </a:pPr>
            <a:r>
              <a:rPr lang="en-US" sz="2100" dirty="0">
                <a:solidFill>
                  <a:srgbClr val="2E060B"/>
                </a:solidFill>
                <a:latin typeface="Palatino Linotype" pitchFamily="34" charset="0"/>
                <a:ea typeface="Palatino Linotype" pitchFamily="34" charset="-122"/>
                <a:cs typeface="Palatino Linotype" pitchFamily="34" charset="-120"/>
              </a:rPr>
              <a:t>Înainte să dați un sfat: care este scopul, care este obiectivul măsurabil și cum veți ști că s-a atins?</a:t>
            </a:r>
            <a:endParaRPr lang="en-US" sz="2100" dirty="0"/>
          </a:p>
        </p:txBody>
      </p:sp>
      <p:sp>
        <p:nvSpPr>
          <p:cNvPr id="5" name="Shape 3"/>
          <p:cNvSpPr/>
          <p:nvPr/>
        </p:nvSpPr>
        <p:spPr>
          <a:xfrm>
            <a:off x="594360" y="4572000"/>
            <a:ext cx="10972800" cy="18288"/>
          </a:xfrm>
          <a:prstGeom prst="rect">
            <a:avLst/>
          </a:prstGeom>
          <a:solidFill>
            <a:srgbClr val="2E060B"/>
          </a:solidFill>
          <a:ln w="12700">
            <a:solidFill>
              <a:srgbClr val="2E060B"/>
            </a:solidFill>
            <a:prstDash val="solid"/>
          </a:ln>
        </p:spPr>
        <p:txBody>
          <a:bodyPr/>
          <a:p/>
        </p:txBody>
      </p:sp>
      <p:sp>
        <p:nvSpPr>
          <p:cNvPr id="6" name="Text 4"/>
          <p:cNvSpPr/>
          <p:nvPr/>
        </p:nvSpPr>
        <p:spPr>
          <a:xfrm>
            <a:off x="594360" y="4754880"/>
            <a:ext cx="10972800" cy="1188720"/>
          </a:xfrm>
          <a:prstGeom prst="rect">
            <a:avLst/>
          </a:prstGeom>
          <a:noFill/>
          <a:ln/>
        </p:spPr>
        <p:txBody>
          <a:bodyPr wrap="square" lIns="0" tIns="0" rIns="0" bIns="0" rtlCol="0" anchor="t"/>
          <a:lstStyle/>
          <a:p>
            <a:pPr indent="0" marL="0">
              <a:buNone/>
            </a:pPr>
            <a:r>
              <a:rPr lang="en-US" sz="1800" i="1" dirty="0">
                <a:solidFill>
                  <a:srgbClr val="2E060B"/>
                </a:solidFill>
                <a:latin typeface="Palatino Linotype" pitchFamily="34" charset="0"/>
                <a:ea typeface="Palatino Linotype" pitchFamily="34" charset="-122"/>
                <a:cs typeface="Palatino Linotype" pitchFamily="34" charset="-120"/>
              </a:rPr>
              <a:t>Un răspuns cinstit, cu cifre pe care omul le poate înțelege, liniștește mai mult decât „nu vă faceți griji”. Iar când primiți o informație despre sănătate, opriți-vă și verificați sursa.</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A RĂMAS</a:t>
            </a:r>
            <a:endParaRPr lang="en-US" sz="1300" dirty="0"/>
          </a:p>
        </p:txBody>
      </p:sp>
      <p:sp>
        <p:nvSpPr>
          <p:cNvPr id="5" name="Text 3"/>
          <p:cNvSpPr/>
          <p:nvPr/>
        </p:nvSpPr>
        <p:spPr>
          <a:xfrm>
            <a:off x="594360" y="1005840"/>
            <a:ext cx="10972800" cy="1188720"/>
          </a:xfrm>
          <a:prstGeom prst="rect">
            <a:avLst/>
          </a:prstGeom>
          <a:noFill/>
          <a:ln/>
        </p:spPr>
        <p:txBody>
          <a:bodyPr wrap="square" lIns="0" tIns="0" rIns="0" bIns="0" rtlCol="0" anchor="ctr"/>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Educația pentru sănătate în imagistică: zece întrebări</a:t>
            </a:r>
            <a:endParaRPr lang="en-US" sz="3600" dirty="0"/>
          </a:p>
        </p:txBody>
      </p:sp>
      <p:sp>
        <p:nvSpPr>
          <p:cNvPr id="6" name="Text 4"/>
          <p:cNvSpPr/>
          <p:nvPr/>
        </p:nvSpPr>
        <p:spPr>
          <a:xfrm>
            <a:off x="594360" y="2331720"/>
            <a:ext cx="10972800" cy="54864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Accesați kahoot.it și introduceți codul jocului.</a:t>
            </a:r>
            <a:endParaRPr lang="en-US" sz="2200" dirty="0"/>
          </a:p>
        </p:txBody>
      </p:sp>
      <p:sp>
        <p:nvSpPr>
          <p:cNvPr id="7" name="Shape 5"/>
          <p:cNvSpPr/>
          <p:nvPr/>
        </p:nvSpPr>
        <p:spPr>
          <a:xfrm>
            <a:off x="594360" y="3200400"/>
            <a:ext cx="5486400" cy="2011680"/>
          </a:xfrm>
          <a:prstGeom prst="roundRect">
            <a:avLst>
              <a:gd name="adj" fmla="val 4091"/>
            </a:avLst>
          </a:prstGeom>
          <a:solidFill>
            <a:srgbClr val="272A38"/>
          </a:solidFill>
          <a:ln w="12700">
            <a:solidFill>
              <a:srgbClr val="272A38"/>
            </a:solidFill>
            <a:prstDash val="solid"/>
          </a:ln>
        </p:spPr>
        <p:txBody>
          <a:bodyPr/>
          <a:p/>
        </p:txBody>
      </p:sp>
      <p:sp>
        <p:nvSpPr>
          <p:cNvPr id="8" name="Text 6"/>
          <p:cNvSpPr/>
          <p:nvPr/>
        </p:nvSpPr>
        <p:spPr>
          <a:xfrm>
            <a:off x="594360" y="3200400"/>
            <a:ext cx="5486400" cy="2011680"/>
          </a:xfrm>
          <a:prstGeom prst="rect">
            <a:avLst/>
          </a:prstGeom>
          <a:noFill/>
          <a:ln/>
        </p:spPr>
        <p:txBody>
          <a:bodyPr wrap="square" lIns="228600" tIns="0" rIns="228600" bIns="0" rtlCol="0" anchor="ctr"/>
          <a:lstStyle/>
          <a:p>
            <a:pPr algn="ctr" indent="0" marL="0">
              <a:buNone/>
            </a:pPr>
            <a:r>
              <a:rPr lang="en-US" sz="1800" dirty="0" i="1">
                <a:solidFill>
                  <a:srgbClr val="959BB0"/>
                </a:solidFill>
                <a:latin typeface="Palatino Linotype" pitchFamily="34" charset="0"/>
                <a:ea typeface="Palatino Linotype" pitchFamily="34" charset="-122"/>
                <a:cs typeface="Palatino Linotype" pitchFamily="34" charset="-120"/>
              </a:rPr>
              <a:t>Kahoot: intrați pe kahoot.it cu PIN-ul afișat pe ecran.</a:t>
            </a:r>
            <a:endParaRPr lang="en-US" sz="1800" dirty="0"/>
          </a:p>
        </p:txBody>
      </p:sp>
      <p:sp>
        <p:nvSpPr>
          <p:cNvPr id="9" name="Text 7"/>
          <p:cNvSpPr/>
          <p:nvPr/>
        </p:nvSpPr>
        <p:spPr>
          <a:xfrm>
            <a:off x="6400800" y="3200400"/>
            <a:ext cx="5166360" cy="201168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Rezultatul nu se notează. După fiecare întrebare discutăm răspunsurile greșite.</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 azi?</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v-am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2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5" name="Text 13"/>
          <p:cNvSpPr/>
          <p:nvPr/>
        </p:nvSpPr>
        <p:spPr>
          <a:xfrm>
            <a:off x="8549640" y="2514600"/>
            <a:ext cx="3017520" cy="2468880"/>
          </a:xfrm>
          <a:prstGeom prst="rect">
            <a:avLst/>
          </a:prstGeom>
          <a:noFill/>
          <a:ln/>
        </p:spPr>
        <p:txBody>
          <a:bodyPr wrap="square" lIns="228600" tIns="0" rIns="228600" bIns="0" rtlCol="0" anchor="ctr"/>
          <a:lstStyle/>
          <a:p>
            <a:pPr algn="ctr" indent="0" marL="0">
              <a:buNone/>
            </a:pPr>
            <a:r>
              <a:rPr lang="en-US" sz="1800" dirty="0" i="1">
                <a:solidFill>
                  <a:srgbClr val="585A64"/>
                </a:solidFill>
                <a:latin typeface="Palatino Linotype" pitchFamily="34" charset="0"/>
                <a:ea typeface="Palatino Linotype" pitchFamily="34" charset="-122"/>
                <a:cs typeface="Palatino Linotype" pitchFamily="34" charset="-120"/>
              </a:rPr>
              <a:t>Mentimeter: intrați pe menti.com cu codul afișat pe ecran.</a:t>
            </a:r>
            <a:endParaRPr lang="en-US" sz="1400" dirty="0"/>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La începutul săptămânii viitoare, pe pagina disciplinei, veți găsi două modificări făcute pe baza răspunsurilor.</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Cursul 1 - Ce i-ați spune mamei?</dc:title>
  <dc:subject>PptxGenJS Presentation</dc:subject>
  <dc:creator>Disciplina de Sănătate publică și management, UMF Cluj-Napoca</dc:creator>
  <cp:lastModifiedBy>Disciplina de Sănătate publică și management, UMF Cluj-Napoca</cp:lastModifiedBy>
  <cp:revision>1</cp:revision>
  <dcterms:created xsi:type="dcterms:W3CDTF">2026-10-03T20:56:54Z</dcterms:created>
  <dcterms:modified xsi:type="dcterms:W3CDTF">2026-10-03T20:56:54Z</dcterms:modified>
  <cp:keywords>sursa_amprenta=df643531c2493af3; proiectie</cp:keywords>
</cp:coreProperties>
</file>