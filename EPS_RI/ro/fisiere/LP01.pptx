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40080" y="777240"/>
            <a:ext cx="6035040" cy="329184"/>
          </a:xfrm>
          <a:prstGeom prst="roundRect">
            <a:avLst>
              <a:gd name="adj" fmla="val 50000"/>
            </a:avLst>
          </a:prstGeom>
          <a:solidFill>
            <a:srgbClr val="FF4757"/>
          </a:solidFill>
          <a:ln w="12700">
            <a:solidFill>
              <a:srgbClr val="FF4757"/>
            </a:solidFill>
            <a:prstDash val="solid"/>
          </a:ln>
        </p:spPr>
        <p:txBody>
          <a:bodyPr/>
          <a:p/>
        </p:txBody>
      </p:sp>
      <p:sp>
        <p:nvSpPr>
          <p:cNvPr id="3" name="Text 1"/>
          <p:cNvSpPr/>
          <p:nvPr/>
        </p:nvSpPr>
        <p:spPr>
          <a:xfrm>
            <a:off x="640080" y="777240"/>
            <a:ext cx="603504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EDUCAȚIE PENTRU SĂNĂTATE  ·  LUCRAREA PRACTICĂ 1</a:t>
            </a:r>
            <a:endParaRPr lang="en-US" sz="1300" dirty="0"/>
          </a:p>
        </p:txBody>
      </p:sp>
      <p:sp>
        <p:nvSpPr>
          <p:cNvPr id="4" name="Text 2"/>
          <p:cNvSpPr/>
          <p:nvPr/>
        </p:nvSpPr>
        <p:spPr>
          <a:xfrm>
            <a:off x="640080" y="1371600"/>
            <a:ext cx="6035040" cy="1600200"/>
          </a:xfrm>
          <a:prstGeom prst="rect">
            <a:avLst/>
          </a:prstGeom>
          <a:noFill/>
          <a:ln/>
        </p:spPr>
        <p:txBody>
          <a:bodyPr wrap="square" lIns="0" tIns="0" rIns="0" bIns="0" rtlCol="0" anchor="t"/>
          <a:lstStyle/>
          <a:p>
            <a:pPr indent="0" marL="0">
              <a:buNone/>
            </a:pPr>
            <a:r>
              <a:rPr lang="en-US" sz="4200" b="1" dirty="0">
                <a:solidFill>
                  <a:srgbClr val="FFFFFF"/>
                </a:solidFill>
                <a:latin typeface="Palatino Linotype" pitchFamily="34" charset="0"/>
                <a:ea typeface="Palatino Linotype" pitchFamily="34" charset="-122"/>
                <a:cs typeface="Palatino Linotype" pitchFamily="34" charset="-120"/>
              </a:rPr>
              <a:t>Copilul care nu stă nemișcat</a:t>
            </a:r>
            <a:endParaRPr lang="en-US" sz="4200" dirty="0"/>
          </a:p>
        </p:txBody>
      </p:sp>
      <p:sp>
        <p:nvSpPr>
          <p:cNvPr id="5" name="Text 3"/>
          <p:cNvSpPr/>
          <p:nvPr/>
        </p:nvSpPr>
        <p:spPr>
          <a:xfrm>
            <a:off x="640080" y="3154680"/>
            <a:ext cx="5943600" cy="1463040"/>
          </a:xfrm>
          <a:prstGeom prst="rect">
            <a:avLst/>
          </a:prstGeom>
          <a:noFill/>
          <a:ln/>
        </p:spPr>
        <p:txBody>
          <a:bodyPr wrap="square" lIns="0" tIns="0" rIns="0" bIns="0" rtlCol="0" anchor="t"/>
          <a:lstStyle/>
          <a:p>
            <a:pPr indent="0" marL="0">
              <a:buNone/>
            </a:pPr>
            <a:r>
              <a:rPr lang="en-US" sz="2200" b="1" dirty="0">
                <a:solidFill>
                  <a:srgbClr val="27D3BE"/>
                </a:solidFill>
                <a:latin typeface="Palatino Linotype" pitchFamily="34" charset="0"/>
                <a:ea typeface="Palatino Linotype" pitchFamily="34" charset="-122"/>
                <a:cs typeface="Palatino Linotype" pitchFamily="34" charset="-120"/>
              </a:rPr>
              <a:t>Pacientul și comunitatea în imagistică; un program de pregătire pentru copii</a:t>
            </a:r>
            <a:endParaRPr lang="en-US" sz="2200" dirty="0"/>
          </a:p>
        </p:txBody>
      </p:sp>
      <p:sp>
        <p:nvSpPr>
          <p:cNvPr id="6" name="Shape 4"/>
          <p:cNvSpPr/>
          <p:nvPr/>
        </p:nvSpPr>
        <p:spPr>
          <a:xfrm>
            <a:off x="667512" y="4846320"/>
            <a:ext cx="1280160" cy="27432"/>
          </a:xfrm>
          <a:prstGeom prst="rect">
            <a:avLst/>
          </a:prstGeom>
          <a:solidFill>
            <a:srgbClr val="FF4757"/>
          </a:solidFill>
          <a:ln w="12700">
            <a:solidFill>
              <a:srgbClr val="FF4757"/>
            </a:solidFill>
            <a:prstDash val="solid"/>
          </a:ln>
        </p:spPr>
        <p:txBody>
          <a:bodyPr/>
          <a:p/>
        </p:txBody>
      </p:sp>
      <p:sp>
        <p:nvSpPr>
          <p:cNvPr id="7" name="Text 5"/>
          <p:cNvSpPr/>
          <p:nvPr/>
        </p:nvSpPr>
        <p:spPr>
          <a:xfrm>
            <a:off x="640080" y="5074920"/>
            <a:ext cx="6126480" cy="365760"/>
          </a:xfrm>
          <a:prstGeom prst="rect">
            <a:avLst/>
          </a:prstGeom>
          <a:noFill/>
          <a:ln/>
        </p:spPr>
        <p:txBody>
          <a:bodyPr wrap="square" lIns="0" tIns="0" rIns="0" bIns="0" rtlCol="0" anchor="t"/>
          <a:lstStyle/>
          <a:p>
            <a:pPr indent="0" marL="0">
              <a:buNone/>
            </a:pPr>
            <a:r>
              <a:rPr lang="en-US" sz="1400" dirty="0">
                <a:solidFill>
                  <a:srgbClr val="959BB0"/>
                </a:solidFill>
                <a:latin typeface="Palatino Linotype" pitchFamily="34" charset="0"/>
                <a:ea typeface="Palatino Linotype" pitchFamily="34" charset="-122"/>
                <a:cs typeface="Palatino Linotype" pitchFamily="34" charset="-120"/>
              </a:rPr>
              <a:t>UMF Cluj-Napoca · Radiologie și imagistică, anul I</a:t>
            </a:r>
            <a:endParaRPr lang="en-US" sz="1400" dirty="0"/>
          </a:p>
        </p:txBody>
      </p:sp>
      <p:sp>
        <p:nvSpPr>
          <p:cNvPr id="8" name="Text 6"/>
          <p:cNvSpPr/>
          <p:nvPr/>
        </p:nvSpPr>
        <p:spPr>
          <a:xfrm>
            <a:off x="640080" y="5440680"/>
            <a:ext cx="6126480" cy="365760"/>
          </a:xfrm>
          <a:prstGeom prst="rect">
            <a:avLst/>
          </a:prstGeom>
          <a:noFill/>
          <a:ln/>
        </p:spPr>
        <p:txBody>
          <a:bodyPr wrap="square" lIns="0" tIns="0" rIns="0" bIns="0" rtlCol="0" anchor="t"/>
          <a:lstStyle/>
          <a:p>
            <a:pPr indent="0" marL="0">
              <a:buNone/>
            </a:pPr>
            <a:r>
              <a:rPr lang="en-US" sz="1400" b="1" dirty="0">
                <a:solidFill>
                  <a:srgbClr val="FFFFFF"/>
                </a:solidFill>
                <a:latin typeface="Palatino Linotype" pitchFamily="34" charset="0"/>
                <a:ea typeface="Palatino Linotype" pitchFamily="34" charset="-122"/>
                <a:cs typeface="Palatino Linotype" pitchFamily="34" charset="-120"/>
              </a:rPr>
              <a:t>Joi, 15 octombrie 2026</a:t>
            </a:r>
            <a:endParaRPr lang="en-US" sz="1400" dirty="0"/>
          </a:p>
        </p:txBody>
      </p:sp>
      <p:sp>
        <p:nvSpPr>
          <p:cNvPr id="9" name="Shape 7"/>
          <p:cNvSpPr/>
          <p:nvPr/>
        </p:nvSpPr>
        <p:spPr>
          <a:xfrm>
            <a:off x="6903720" y="960120"/>
            <a:ext cx="2258568" cy="3200400"/>
          </a:xfrm>
          <a:prstGeom prst="rect">
            <a:avLst/>
          </a:prstGeom>
          <a:solidFill>
            <a:srgbClr val="1D1F2B"/>
          </a:solidFill>
          <a:ln w="15875">
            <a:solidFill>
              <a:srgbClr val="5A5F78"/>
            </a:solidFill>
            <a:prstDash val="dash"/>
          </a:ln>
        </p:spPr>
        <p:txBody>
          <a:bodyPr/>
          <a:p/>
        </p:txBody>
      </p:sp>
      <p:pic>
        <p:nvPicPr>
          <p:cNvPr id="17" name="Picture 16" descr="rmn_sala_pentru_copii_commons.jpg"/>
          <p:cNvPicPr>
            <a:picLocks noChangeAspect="1"/>
          </p:cNvPicPr>
          <p:nvPr/>
        </p:nvPicPr>
        <p:blipFill>
          <a:blip r:embed="rId3"/>
          <a:stretch>
            <a:fillRect/>
          </a:stretch>
        </p:blipFill>
        <p:spPr>
          <a:xfrm>
            <a:off x="7132320" y="1143000"/>
            <a:ext cx="1801368" cy="2834640"/>
          </a:xfrm>
          <a:prstGeom prst="rect">
            <a:avLst/>
          </a:prstGeom>
        </p:spPr>
      </p:pic>
      <p:sp>
        <p:nvSpPr>
          <p:cNvPr id="11" name="Shape 9"/>
          <p:cNvSpPr/>
          <p:nvPr/>
        </p:nvSpPr>
        <p:spPr>
          <a:xfrm>
            <a:off x="9272016" y="960120"/>
            <a:ext cx="2560320" cy="3200400"/>
          </a:xfrm>
          <a:prstGeom prst="rect">
            <a:avLst/>
          </a:prstGeom>
          <a:solidFill>
            <a:srgbClr val="1D1F2B"/>
          </a:solidFill>
          <a:ln w="15875">
            <a:solidFill>
              <a:srgbClr val="5A5F78"/>
            </a:solidFill>
            <a:prstDash val="dash"/>
          </a:ln>
        </p:spPr>
        <p:txBody>
          <a:bodyPr/>
          <a:p/>
        </p:txBody>
      </p:sp>
      <p:pic>
        <p:nvPicPr>
          <p:cNvPr id="18" name="Picture 17" descr="asteptare_spital_copii_rhcc_commons.jpg"/>
          <p:cNvPicPr>
            <a:picLocks noChangeAspect="1"/>
          </p:cNvPicPr>
          <p:nvPr/>
        </p:nvPicPr>
        <p:blipFill>
          <a:blip r:embed="rId4"/>
          <a:stretch>
            <a:fillRect/>
          </a:stretch>
        </p:blipFill>
        <p:spPr>
          <a:xfrm>
            <a:off x="9500616" y="1143000"/>
            <a:ext cx="2103120" cy="2834640"/>
          </a:xfrm>
          <a:prstGeom prst="rect">
            <a:avLst/>
          </a:prstGeom>
        </p:spPr>
      </p:pic>
      <p:sp>
        <p:nvSpPr>
          <p:cNvPr id="13" name="Shape 11"/>
          <p:cNvSpPr/>
          <p:nvPr/>
        </p:nvSpPr>
        <p:spPr>
          <a:xfrm>
            <a:off x="6903720" y="4297680"/>
            <a:ext cx="2258568" cy="329184"/>
          </a:xfrm>
          <a:prstGeom prst="roundRect">
            <a:avLst>
              <a:gd name="adj" fmla="val 50000"/>
            </a:avLst>
          </a:prstGeom>
          <a:solidFill>
            <a:srgbClr val="FFC24B"/>
          </a:solidFill>
          <a:ln w="12700">
            <a:solidFill>
              <a:srgbClr val="FFC24B"/>
            </a:solidFill>
            <a:prstDash val="solid"/>
          </a:ln>
        </p:spPr>
        <p:txBody>
          <a:bodyPr/>
          <a:p/>
        </p:txBody>
      </p:sp>
      <p:sp>
        <p:nvSpPr>
          <p:cNvPr id="14" name="Text 12"/>
          <p:cNvSpPr/>
          <p:nvPr/>
        </p:nvSpPr>
        <p:spPr>
          <a:xfrm>
            <a:off x="6903720" y="4297680"/>
            <a:ext cx="2258568" cy="329184"/>
          </a:xfrm>
          <a:prstGeom prst="rect">
            <a:avLst/>
          </a:prstGeom>
          <a:noFill/>
          <a:ln/>
        </p:spPr>
        <p:txBody>
          <a:bodyPr wrap="square" lIns="0" tIns="0" rIns="0" bIns="0" rtlCol="0" anchor="ctr"/>
          <a:lstStyle/>
          <a:p>
            <a:pPr algn="ctr" indent="0" marL="0">
              <a:buNone/>
            </a:pPr>
            <a:r>
              <a:rPr lang="en-US" sz="1200" b="1" dirty="0">
                <a:solidFill>
                  <a:srgbClr val="3D2A00"/>
                </a:solidFill>
                <a:latin typeface="Palatino Linotype" pitchFamily="34" charset="0"/>
                <a:ea typeface="Palatino Linotype" pitchFamily="34" charset="-122"/>
                <a:cs typeface="Palatino Linotype" pitchFamily="34" charset="-120"/>
              </a:rPr>
              <a:t>UN COPIL</a:t>
            </a:r>
            <a:endParaRPr lang="en-US" sz="1200" dirty="0"/>
          </a:p>
        </p:txBody>
      </p:sp>
      <p:sp>
        <p:nvSpPr>
          <p:cNvPr id="15" name="Shape 13"/>
          <p:cNvSpPr/>
          <p:nvPr/>
        </p:nvSpPr>
        <p:spPr>
          <a:xfrm>
            <a:off x="9272016" y="4297680"/>
            <a:ext cx="2560320" cy="329184"/>
          </a:xfrm>
          <a:prstGeom prst="roundRect">
            <a:avLst>
              <a:gd name="adj" fmla="val 50000"/>
            </a:avLst>
          </a:prstGeom>
          <a:solidFill>
            <a:srgbClr val="27D3BE"/>
          </a:solidFill>
          <a:ln w="12700">
            <a:solidFill>
              <a:srgbClr val="27D3BE"/>
            </a:solidFill>
            <a:prstDash val="solid"/>
          </a:ln>
        </p:spPr>
        <p:txBody>
          <a:bodyPr/>
          <a:p/>
        </p:txBody>
      </p:sp>
      <p:sp>
        <p:nvSpPr>
          <p:cNvPr id="16" name="Text 14"/>
          <p:cNvSpPr/>
          <p:nvPr/>
        </p:nvSpPr>
        <p:spPr>
          <a:xfrm>
            <a:off x="9272016" y="4297680"/>
            <a:ext cx="2560320" cy="329184"/>
          </a:xfrm>
          <a:prstGeom prst="rect">
            <a:avLst/>
          </a:prstGeom>
          <a:noFill/>
          <a:ln/>
        </p:spPr>
        <p:txBody>
          <a:bodyPr wrap="square" lIns="0" tIns="0" rIns="0" bIns="0" rtlCol="0" anchor="ctr"/>
          <a:lstStyle/>
          <a:p>
            <a:pPr algn="ctr" indent="0" marL="0">
              <a:buNone/>
            </a:pPr>
            <a:r>
              <a:rPr lang="en-US" sz="1200" b="1" dirty="0">
                <a:solidFill>
                  <a:srgbClr val="073B34"/>
                </a:solidFill>
                <a:latin typeface="Palatino Linotype" pitchFamily="34" charset="0"/>
                <a:ea typeface="Palatino Linotype" pitchFamily="34" charset="-122"/>
                <a:cs typeface="Palatino Linotype" pitchFamily="34" charset="-120"/>
              </a:rPr>
              <a:t>TOȚI COPIII</a:t>
            </a:r>
            <a:endParaRPr lang="en-US" sz="1200" dirty="0"/>
          </a:p>
        </p:txBody>
      </p:sp>
      <p:sp>
        <p:nvSpPr>
          <p:cNvPr id="19" name="TextBox 18"/>
          <p:cNvSpPr txBox="1"/>
          <p:nvPr/>
        </p:nvSpPr>
        <p:spPr>
          <a:xfrm>
            <a:off x="6903720" y="4700000"/>
            <a:ext cx="4928616" cy="420000"/>
          </a:xfrm>
          <a:prstGeom prst="rect">
            <a:avLst/>
          </a:prstGeom>
          <a:noFill/>
        </p:spPr>
        <p:txBody>
          <a:bodyPr wrap="square">
            <a:spAutoFit/>
          </a:bodyPr>
          <a:lstStyle/>
          <a:p>
            <a:r>
              <a:rPr sz="800">
                <a:solidFill>
                  <a:srgbClr val="8A8D99"/>
                </a:solidFill>
                <a:latin typeface="Palatino Linotype"/>
              </a:rPr>
              <a:t>Foto: Glitzy queen00, domeniu public, via Wikimedia Commons (sala RMN).</a:t>
            </a:r>
          </a:p>
          <a:p>
            <a:r>
              <a:rPr sz="800">
                <a:solidFill>
                  <a:srgbClr val="8A8D99"/>
                </a:solidFill>
                <a:latin typeface="Palatino Linotype"/>
              </a:rPr>
              <a:t>Foto: RHCC, CC BY 4.0, via Wikimedia Commons (Ruth Rappaport Children’s Hospital).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VOT</a:t>
            </a:r>
            <a:endParaRPr lang="en-US" sz="1300" dirty="0"/>
          </a:p>
        </p:txBody>
      </p:sp>
      <p:sp>
        <p:nvSpPr>
          <p:cNvPr id="4" name="Shape 2"/>
          <p:cNvSpPr/>
          <p:nvPr/>
        </p:nvSpPr>
        <p:spPr>
          <a:xfrm>
            <a:off x="594360" y="292608"/>
            <a:ext cx="7680960" cy="868680"/>
          </a:xfrm>
          <a:prstGeom prst="roundRect">
            <a:avLst>
              <a:gd name="adj" fmla="val 10526"/>
            </a:avLst>
          </a:prstGeom>
          <a:solidFill>
            <a:srgbClr val="272A38"/>
          </a:solidFill>
          <a:ln w="15875">
            <a:solidFill>
              <a:srgbClr val="FFC24B"/>
            </a:solidFill>
            <a:prstDash val="solid"/>
          </a:ln>
        </p:spPr>
        <p:txBody>
          <a:bodyPr/>
          <a:p/>
        </p:txBody>
      </p:sp>
      <p:sp>
        <p:nvSpPr>
          <p:cNvPr id="5" name="Text 3"/>
          <p:cNvSpPr/>
          <p:nvPr/>
        </p:nvSpPr>
        <p:spPr>
          <a:xfrm>
            <a:off x="822960" y="365760"/>
            <a:ext cx="7223760" cy="256032"/>
          </a:xfrm>
          <a:prstGeom prst="rect">
            <a:avLst/>
          </a:prstGeom>
          <a:noFill/>
          <a:ln/>
        </p:spPr>
        <p:txBody>
          <a:bodyPr wrap="square" lIns="0" tIns="0" rIns="0" bIns="0" rtlCol="0" anchor="t"/>
          <a:lstStyle/>
          <a:p>
            <a:pPr indent="0" marL="0">
              <a:buNone/>
            </a:pPr>
            <a:r>
              <a:rPr lang="en-US" sz="1200" b="1" spc="200" kern="0" dirty="0">
                <a:solidFill>
                  <a:srgbClr val="FFC24B"/>
                </a:solidFill>
                <a:latin typeface="Palatino Linotype" pitchFamily="34" charset="0"/>
                <a:ea typeface="Palatino Linotype" pitchFamily="34" charset="-122"/>
                <a:cs typeface="Palatino Linotype" pitchFamily="34" charset="-120"/>
              </a:rPr>
              <a:t>CE FACEM CU RĂSPUNSURILE VOASTRE</a:t>
            </a:r>
            <a:endParaRPr lang="en-US" sz="1200" dirty="0"/>
          </a:p>
        </p:txBody>
      </p:sp>
      <p:sp>
        <p:nvSpPr>
          <p:cNvPr id="6" name="Text 4"/>
          <p:cNvSpPr/>
          <p:nvPr/>
        </p:nvSpPr>
        <p:spPr>
          <a:xfrm>
            <a:off x="822960" y="658368"/>
            <a:ext cx="7223760" cy="438912"/>
          </a:xfrm>
          <a:prstGeom prst="rect">
            <a:avLst/>
          </a:prstGeom>
          <a:noFill/>
          <a:ln/>
        </p:spPr>
        <p:txBody>
          <a:bodyPr wrap="square" lIns="0" tIns="0" rIns="0" bIns="0" rtlCol="0" anchor="t"/>
          <a:lstStyle/>
          <a:p>
            <a:pPr indent="0" marL="0">
              <a:buNone/>
            </a:pPr>
            <a:r>
              <a:rPr lang="en-US" sz="1300" i="1" dirty="0">
                <a:solidFill>
                  <a:srgbClr val="959BB0"/>
                </a:solidFill>
                <a:latin typeface="Palatino Linotype" pitchFamily="34" charset="0"/>
                <a:ea typeface="Palatino Linotype" pitchFamily="34" charset="-122"/>
                <a:cs typeface="Palatino Linotype" pitchFamily="34" charset="-120"/>
              </a:rPr>
              <a:t>Întâi citim toate răspunsurile de la biletul de ieșire al primului curs.</a:t>
            </a:r>
            <a:br>
              <a:rPr lang="en-US" sz="1300" i="1" dirty="0">
                <a:solidFill>
                  <a:srgbClr val="959BB0"/>
                </a:solidFill>
                <a:latin typeface="Palatino Linotype" pitchFamily="34" charset="0"/>
                <a:ea typeface="Palatino Linotype" pitchFamily="34" charset="-122"/>
                <a:cs typeface="Palatino Linotype" pitchFamily="34" charset="-120"/>
              </a:rPr>
            </a:br>
            <a:r>
              <a:rPr lang="en-US" sz="1300" i="1" dirty="0">
                <a:solidFill>
                  <a:srgbClr val="959BB0"/>
                </a:solidFill>
                <a:latin typeface="Palatino Linotype" pitchFamily="34" charset="0"/>
                <a:ea typeface="Palatino Linotype" pitchFamily="34" charset="-122"/>
                <a:cs typeface="Palatino Linotype" pitchFamily="34" charset="-120"/>
              </a:rPr>
              <a:t>Apoi alegem două modificări și le aplicăm de la ședința următoare.</a:t>
            </a:r>
            <a:endParaRPr lang="en-US" sz="1300" dirty="0"/>
          </a:p>
        </p:txBody>
      </p:sp>
      <p:sp>
        <p:nvSpPr>
          <p:cNvPr id="7" name="Text 5"/>
          <p:cNvSpPr/>
          <p:nvPr/>
        </p:nvSpPr>
        <p:spPr>
          <a:xfrm>
            <a:off x="594360" y="1325880"/>
            <a:ext cx="10972800" cy="54864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Aceeași ședință, două întrebări</a:t>
            </a:r>
            <a:endParaRPr lang="en-US" sz="3000" dirty="0"/>
          </a:p>
        </p:txBody>
      </p:sp>
      <p:sp>
        <p:nvSpPr>
          <p:cNvPr id="8" name="Shape 6"/>
          <p:cNvSpPr/>
          <p:nvPr/>
        </p:nvSpPr>
        <p:spPr>
          <a:xfrm>
            <a:off x="594360" y="2057400"/>
            <a:ext cx="4160520" cy="4023360"/>
          </a:xfrm>
          <a:prstGeom prst="roundRect">
            <a:avLst>
              <a:gd name="adj" fmla="val 2045"/>
            </a:avLst>
          </a:prstGeom>
          <a:solidFill>
            <a:srgbClr val="1D1F2B"/>
          </a:solidFill>
          <a:ln w="12700">
            <a:solidFill>
              <a:srgbClr val="1D1F2B"/>
            </a:solidFill>
            <a:prstDash val="solid"/>
          </a:ln>
        </p:spPr>
        <p:txBody>
          <a:bodyPr/>
          <a:p/>
        </p:txBody>
      </p:sp>
      <p:sp>
        <p:nvSpPr>
          <p:cNvPr id="9" name="Text 7"/>
          <p:cNvSpPr/>
          <p:nvPr/>
        </p:nvSpPr>
        <p:spPr>
          <a:xfrm>
            <a:off x="822960" y="2194560"/>
            <a:ext cx="3749040" cy="274320"/>
          </a:xfrm>
          <a:prstGeom prst="rect">
            <a:avLst/>
          </a:prstGeom>
          <a:noFill/>
          <a:ln/>
        </p:spPr>
        <p:txBody>
          <a:bodyPr wrap="square" lIns="0" tIns="0" rIns="0" bIns="0" rtlCol="0" anchor="t"/>
          <a:lstStyle/>
          <a:p>
            <a:pPr indent="0" marL="0">
              <a:buNone/>
            </a:pPr>
            <a:r>
              <a:rPr lang="en-US" sz="1250" b="1" spc="100" kern="0" dirty="0">
                <a:solidFill>
                  <a:srgbClr val="FFC24B"/>
                </a:solidFill>
                <a:latin typeface="Palatino Linotype" pitchFamily="34" charset="0"/>
                <a:ea typeface="Palatino Linotype" pitchFamily="34" charset="-122"/>
                <a:cs typeface="Palatino Linotype" pitchFamily="34" charset="-120"/>
              </a:rPr>
              <a:t>REZONANȚĂ · ANDREI, ȘASE ANI</a:t>
            </a:r>
            <a:endParaRPr lang="en-US" sz="1250" dirty="0"/>
          </a:p>
        </p:txBody>
      </p:sp>
      <p:sp>
        <p:nvSpPr>
          <p:cNvPr id="10" name="Shape 8"/>
          <p:cNvSpPr/>
          <p:nvPr/>
        </p:nvSpPr>
        <p:spPr>
          <a:xfrm>
            <a:off x="822960" y="2606040"/>
            <a:ext cx="3703320" cy="384048"/>
          </a:xfrm>
          <a:prstGeom prst="rect">
            <a:avLst/>
          </a:prstGeom>
          <a:solidFill>
            <a:srgbClr val="272A38"/>
          </a:solidFill>
          <a:ln w="12700">
            <a:solidFill>
              <a:srgbClr val="272A38"/>
            </a:solidFill>
            <a:prstDash val="solid"/>
          </a:ln>
        </p:spPr>
        <p:txBody>
          <a:bodyPr/>
          <a:p/>
        </p:txBody>
      </p:sp>
      <p:sp>
        <p:nvSpPr>
          <p:cNvPr id="11" name="Shape 9"/>
          <p:cNvSpPr/>
          <p:nvPr/>
        </p:nvSpPr>
        <p:spPr>
          <a:xfrm>
            <a:off x="822960" y="2606040"/>
            <a:ext cx="64008" cy="384048"/>
          </a:xfrm>
          <a:prstGeom prst="rect">
            <a:avLst/>
          </a:prstGeom>
          <a:solidFill>
            <a:srgbClr val="FFC24B"/>
          </a:solidFill>
          <a:ln w="12700">
            <a:solidFill>
              <a:srgbClr val="FFC24B"/>
            </a:solidFill>
            <a:prstDash val="solid"/>
          </a:ln>
        </p:spPr>
        <p:txBody>
          <a:bodyPr/>
          <a:p/>
        </p:txBody>
      </p:sp>
      <p:sp>
        <p:nvSpPr>
          <p:cNvPr id="12" name="Text 10"/>
          <p:cNvSpPr/>
          <p:nvPr/>
        </p:nvSpPr>
        <p:spPr>
          <a:xfrm>
            <a:off x="1005840" y="2606040"/>
            <a:ext cx="3429000" cy="384048"/>
          </a:xfrm>
          <a:prstGeom prst="rect">
            <a:avLst/>
          </a:prstGeom>
          <a:noFill/>
          <a:ln/>
        </p:spPr>
        <p:txBody>
          <a:bodyPr wrap="square" lIns="0" tIns="0" rIns="0" bIns="0" rtlCol="0" anchor="ctr"/>
          <a:lstStyle/>
          <a:p>
            <a:pPr indent="0" marL="0">
              <a:buNone/>
            </a:pPr>
            <a:r>
              <a:rPr lang="en-US" sz="1350" b="1" dirty="0">
                <a:solidFill>
                  <a:srgbClr val="FFFFFF"/>
                </a:solidFill>
                <a:latin typeface="Palatino Linotype" pitchFamily="34" charset="0"/>
                <a:ea typeface="Palatino Linotype" pitchFamily="34" charset="-122"/>
                <a:cs typeface="Palatino Linotype" pitchFamily="34" charset="-120"/>
              </a:rPr>
              <a:t>Zgomot, frică, capul se mișcă</a:t>
            </a:r>
            <a:endParaRPr lang="en-US" sz="1350" dirty="0"/>
          </a:p>
        </p:txBody>
      </p:sp>
      <p:sp>
        <p:nvSpPr>
          <p:cNvPr id="13" name="Shape 11"/>
          <p:cNvSpPr/>
          <p:nvPr/>
        </p:nvSpPr>
        <p:spPr>
          <a:xfrm>
            <a:off x="822960" y="3063240"/>
            <a:ext cx="3703320" cy="384048"/>
          </a:xfrm>
          <a:prstGeom prst="rect">
            <a:avLst/>
          </a:prstGeom>
          <a:solidFill>
            <a:srgbClr val="272A38"/>
          </a:solidFill>
          <a:ln w="12700">
            <a:solidFill>
              <a:srgbClr val="272A38"/>
            </a:solidFill>
            <a:prstDash val="solid"/>
          </a:ln>
        </p:spPr>
        <p:txBody>
          <a:bodyPr/>
          <a:p/>
        </p:txBody>
      </p:sp>
      <p:sp>
        <p:nvSpPr>
          <p:cNvPr id="14" name="Shape 12"/>
          <p:cNvSpPr/>
          <p:nvPr/>
        </p:nvSpPr>
        <p:spPr>
          <a:xfrm>
            <a:off x="822960" y="3063240"/>
            <a:ext cx="64008" cy="384048"/>
          </a:xfrm>
          <a:prstGeom prst="rect">
            <a:avLst/>
          </a:prstGeom>
          <a:solidFill>
            <a:srgbClr val="27D3BE"/>
          </a:solidFill>
          <a:ln w="12700">
            <a:solidFill>
              <a:srgbClr val="27D3BE"/>
            </a:solidFill>
            <a:prstDash val="solid"/>
          </a:ln>
        </p:spPr>
        <p:txBody>
          <a:bodyPr/>
          <a:p/>
        </p:txBody>
      </p:sp>
      <p:sp>
        <p:nvSpPr>
          <p:cNvPr id="15" name="Text 13"/>
          <p:cNvSpPr/>
          <p:nvPr/>
        </p:nvSpPr>
        <p:spPr>
          <a:xfrm>
            <a:off x="1005840" y="3063240"/>
            <a:ext cx="3429000" cy="384048"/>
          </a:xfrm>
          <a:prstGeom prst="rect">
            <a:avLst/>
          </a:prstGeom>
          <a:noFill/>
          <a:ln/>
        </p:spPr>
        <p:txBody>
          <a:bodyPr wrap="square" lIns="0" tIns="0" rIns="0" bIns="0" rtlCol="0" anchor="ctr"/>
          <a:lstStyle/>
          <a:p>
            <a:pPr indent="0" marL="0">
              <a:buNone/>
            </a:pPr>
            <a:r>
              <a:rPr lang="en-US" sz="1350" b="1" dirty="0">
                <a:solidFill>
                  <a:srgbClr val="FFFFFF"/>
                </a:solidFill>
                <a:latin typeface="Palatino Linotype" pitchFamily="34" charset="0"/>
                <a:ea typeface="Palatino Linotype" pitchFamily="34" charset="-122"/>
                <a:cs typeface="Palatino Linotype" pitchFamily="34" charset="-120"/>
              </a:rPr>
              <a:t>Imagini neclare, examinare oprită</a:t>
            </a:r>
            <a:endParaRPr lang="en-US" sz="1350" dirty="0"/>
          </a:p>
        </p:txBody>
      </p:sp>
      <p:sp>
        <p:nvSpPr>
          <p:cNvPr id="16" name="Shape 14"/>
          <p:cNvSpPr/>
          <p:nvPr/>
        </p:nvSpPr>
        <p:spPr>
          <a:xfrm>
            <a:off x="822960" y="3520440"/>
            <a:ext cx="3703320" cy="640080"/>
          </a:xfrm>
          <a:prstGeom prst="rect">
            <a:avLst/>
          </a:prstGeom>
          <a:solidFill>
            <a:srgbClr val="272A38"/>
          </a:solidFill>
          <a:ln w="12700">
            <a:solidFill>
              <a:srgbClr val="272A38"/>
            </a:solidFill>
            <a:prstDash val="solid"/>
          </a:ln>
        </p:spPr>
        <p:txBody>
          <a:bodyPr/>
          <a:p/>
        </p:txBody>
      </p:sp>
      <p:sp>
        <p:nvSpPr>
          <p:cNvPr id="17" name="Shape 15"/>
          <p:cNvSpPr/>
          <p:nvPr/>
        </p:nvSpPr>
        <p:spPr>
          <a:xfrm>
            <a:off x="822960" y="3520440"/>
            <a:ext cx="64008" cy="640080"/>
          </a:xfrm>
          <a:prstGeom prst="rect">
            <a:avLst/>
          </a:prstGeom>
          <a:solidFill>
            <a:srgbClr val="FF4757"/>
          </a:solidFill>
          <a:ln w="12700">
            <a:solidFill>
              <a:srgbClr val="FF4757"/>
            </a:solidFill>
            <a:prstDash val="solid"/>
          </a:ln>
        </p:spPr>
        <p:txBody>
          <a:bodyPr/>
          <a:p/>
        </p:txBody>
      </p:sp>
      <p:sp>
        <p:nvSpPr>
          <p:cNvPr id="18" name="Text 16"/>
          <p:cNvSpPr/>
          <p:nvPr/>
        </p:nvSpPr>
        <p:spPr>
          <a:xfrm>
            <a:off x="1005840" y="3520440"/>
            <a:ext cx="3429000" cy="640080"/>
          </a:xfrm>
          <a:prstGeom prst="rect">
            <a:avLst/>
          </a:prstGeom>
          <a:noFill/>
          <a:ln/>
        </p:spPr>
        <p:txBody>
          <a:bodyPr wrap="square" lIns="0" tIns="0" rIns="0" bIns="0" rtlCol="0" anchor="ctr"/>
          <a:lstStyle/>
          <a:p>
            <a:pPr indent="0" marL="0">
              <a:buNone/>
            </a:pPr>
            <a:r>
              <a:rPr lang="en-US" sz="1350" b="1" dirty="0">
                <a:solidFill>
                  <a:srgbClr val="FFFFFF"/>
                </a:solidFill>
                <a:latin typeface="Palatino Linotype" pitchFamily="34" charset="0"/>
                <a:ea typeface="Palatino Linotype" pitchFamily="34" charset="-122"/>
                <a:cs typeface="Palatino Linotype" pitchFamily="34" charset="-120"/>
              </a:rPr>
              <a:t>Reprogramat peste trei săptămâni, cu anestezie generală</a:t>
            </a:r>
            <a:endParaRPr lang="en-US" sz="1350" dirty="0"/>
          </a:p>
        </p:txBody>
      </p:sp>
      <p:sp>
        <p:nvSpPr>
          <p:cNvPr id="19" name="Text 17"/>
          <p:cNvSpPr/>
          <p:nvPr/>
        </p:nvSpPr>
        <p:spPr>
          <a:xfrm>
            <a:off x="822960" y="4343400"/>
            <a:ext cx="3703320" cy="1645920"/>
          </a:xfrm>
          <a:prstGeom prst="rect">
            <a:avLst/>
          </a:prstGeom>
          <a:noFill/>
          <a:ln/>
        </p:spPr>
        <p:txBody>
          <a:bodyPr wrap="square" lIns="0" tIns="0" rIns="0" bIns="0" rtlCol="0" anchor="t"/>
          <a:lstStyle/>
          <a:p>
            <a:pPr indent="0" marL="0">
              <a:buNone/>
            </a:pPr>
            <a:r>
              <a:rPr lang="en-US" sz="1400" dirty="0">
                <a:solidFill>
                  <a:srgbClr val="E6E8EF"/>
                </a:solidFill>
                <a:latin typeface="Palatino Linotype" pitchFamily="34" charset="0"/>
                <a:ea typeface="Palatino Linotype" pitchFamily="34" charset="-122"/>
                <a:cs typeface="Palatino Linotype" pitchFamily="34" charset="-120"/>
              </a:rPr>
              <a:t>De ce nu stă nemișcat? Examinarea poate cere 45 de minute sau mai mult de stat nemișcat, într-un tunel care face zgomote puternice.</a:t>
            </a:r>
            <a:endParaRPr lang="en-US" sz="1400" dirty="0"/>
          </a:p>
        </p:txBody>
      </p:sp>
      <p:sp>
        <p:nvSpPr>
          <p:cNvPr id="20" name="Shape 18"/>
          <p:cNvSpPr/>
          <p:nvPr/>
        </p:nvSpPr>
        <p:spPr>
          <a:xfrm>
            <a:off x="4937760" y="2057400"/>
            <a:ext cx="4160520" cy="4023360"/>
          </a:xfrm>
          <a:prstGeom prst="roundRect">
            <a:avLst>
              <a:gd name="adj" fmla="val 2045"/>
            </a:avLst>
          </a:prstGeom>
          <a:solidFill>
            <a:srgbClr val="1D1F2B"/>
          </a:solidFill>
          <a:ln w="12700">
            <a:solidFill>
              <a:srgbClr val="1D1F2B"/>
            </a:solidFill>
            <a:prstDash val="solid"/>
          </a:ln>
        </p:spPr>
        <p:txBody>
          <a:bodyPr/>
          <a:p/>
        </p:txBody>
      </p:sp>
      <p:sp>
        <p:nvSpPr>
          <p:cNvPr id="21" name="Text 19"/>
          <p:cNvSpPr/>
          <p:nvPr/>
        </p:nvSpPr>
        <p:spPr>
          <a:xfrm>
            <a:off x="5166360" y="2194560"/>
            <a:ext cx="3749040" cy="274320"/>
          </a:xfrm>
          <a:prstGeom prst="rect">
            <a:avLst/>
          </a:prstGeom>
          <a:noFill/>
          <a:ln/>
        </p:spPr>
        <p:txBody>
          <a:bodyPr wrap="square" lIns="0" tIns="0" rIns="0" bIns="0" rtlCol="0" anchor="t"/>
          <a:lstStyle/>
          <a:p>
            <a:pPr indent="0" marL="0">
              <a:buNone/>
            </a:pPr>
            <a:r>
              <a:rPr lang="en-US" sz="1250" b="1" spc="100" kern="0" dirty="0">
                <a:solidFill>
                  <a:srgbClr val="FFC24B"/>
                </a:solidFill>
                <a:latin typeface="Palatino Linotype" pitchFamily="34" charset="0"/>
                <a:ea typeface="Palatino Linotype" pitchFamily="34" charset="-122"/>
                <a:cs typeface="Palatino Linotype" pitchFamily="34" charset="-120"/>
              </a:rPr>
              <a:t>LABORATORUL · ȘEDINȚA LUNARĂ</a:t>
            </a:r>
            <a:endParaRPr lang="en-US" sz="1250" dirty="0"/>
          </a:p>
        </p:txBody>
      </p:sp>
      <p:sp>
        <p:nvSpPr>
          <p:cNvPr id="22" name="Shape 20"/>
          <p:cNvSpPr/>
          <p:nvPr/>
        </p:nvSpPr>
        <p:spPr>
          <a:xfrm>
            <a:off x="5166360" y="2606040"/>
            <a:ext cx="3703320" cy="566928"/>
          </a:xfrm>
          <a:prstGeom prst="rect">
            <a:avLst/>
          </a:prstGeom>
          <a:solidFill>
            <a:srgbClr val="272A38"/>
          </a:solidFill>
          <a:ln w="12700">
            <a:solidFill>
              <a:srgbClr val="272A38"/>
            </a:solidFill>
            <a:prstDash val="solid"/>
          </a:ln>
        </p:spPr>
        <p:txBody>
          <a:bodyPr/>
          <a:p/>
        </p:txBody>
      </p:sp>
      <p:sp>
        <p:nvSpPr>
          <p:cNvPr id="23" name="Shape 21"/>
          <p:cNvSpPr/>
          <p:nvPr/>
        </p:nvSpPr>
        <p:spPr>
          <a:xfrm>
            <a:off x="5166360" y="2606040"/>
            <a:ext cx="64008" cy="566928"/>
          </a:xfrm>
          <a:prstGeom prst="rect">
            <a:avLst/>
          </a:prstGeom>
          <a:solidFill>
            <a:srgbClr val="FFC24B"/>
          </a:solidFill>
          <a:ln w="12700">
            <a:solidFill>
              <a:srgbClr val="FFC24B"/>
            </a:solidFill>
            <a:prstDash val="solid"/>
          </a:ln>
        </p:spPr>
        <p:txBody>
          <a:bodyPr/>
          <a:p/>
        </p:txBody>
      </p:sp>
      <p:sp>
        <p:nvSpPr>
          <p:cNvPr id="24" name="Text 22"/>
          <p:cNvSpPr/>
          <p:nvPr/>
        </p:nvSpPr>
        <p:spPr>
          <a:xfrm>
            <a:off x="5349240" y="2606040"/>
            <a:ext cx="3429000" cy="566928"/>
          </a:xfrm>
          <a:prstGeom prst="rect">
            <a:avLst/>
          </a:prstGeom>
          <a:noFill/>
          <a:ln/>
        </p:spPr>
        <p:txBody>
          <a:bodyPr wrap="square" lIns="0" tIns="0" rIns="0" bIns="0" rtlCol="0" anchor="ctr"/>
          <a:lstStyle/>
          <a:p>
            <a:pPr indent="0" marL="0">
              <a:buNone/>
            </a:pPr>
            <a:r>
              <a:rPr lang="en-US" sz="1350" b="1" dirty="0">
                <a:solidFill>
                  <a:srgbClr val="FFFFFF"/>
                </a:solidFill>
                <a:latin typeface="Palatino Linotype" pitchFamily="34" charset="0"/>
                <a:ea typeface="Palatino Linotype" pitchFamily="34" charset="-122"/>
                <a:cs typeface="Palatino Linotype" pitchFamily="34" charset="-120"/>
              </a:rPr>
              <a:t>Copii mici, multe cu sedare sau anestezie</a:t>
            </a:r>
            <a:endParaRPr lang="en-US" sz="1350" dirty="0"/>
          </a:p>
        </p:txBody>
      </p:sp>
      <p:sp>
        <p:nvSpPr>
          <p:cNvPr id="25" name="Shape 23"/>
          <p:cNvSpPr/>
          <p:nvPr/>
        </p:nvSpPr>
        <p:spPr>
          <a:xfrm>
            <a:off x="5166360" y="3264408"/>
            <a:ext cx="3703320" cy="566928"/>
          </a:xfrm>
          <a:prstGeom prst="rect">
            <a:avLst/>
          </a:prstGeom>
          <a:solidFill>
            <a:srgbClr val="272A38"/>
          </a:solidFill>
          <a:ln w="12700">
            <a:solidFill>
              <a:srgbClr val="272A38"/>
            </a:solidFill>
            <a:prstDash val="solid"/>
          </a:ln>
        </p:spPr>
        <p:txBody>
          <a:bodyPr/>
          <a:p/>
        </p:txBody>
      </p:sp>
      <p:sp>
        <p:nvSpPr>
          <p:cNvPr id="26" name="Shape 24"/>
          <p:cNvSpPr/>
          <p:nvPr/>
        </p:nvSpPr>
        <p:spPr>
          <a:xfrm>
            <a:off x="5166360" y="3264408"/>
            <a:ext cx="64008" cy="566928"/>
          </a:xfrm>
          <a:prstGeom prst="rect">
            <a:avLst/>
          </a:prstGeom>
          <a:solidFill>
            <a:srgbClr val="27D3BE"/>
          </a:solidFill>
          <a:ln w="12700">
            <a:solidFill>
              <a:srgbClr val="27D3BE"/>
            </a:solidFill>
            <a:prstDash val="solid"/>
          </a:ln>
        </p:spPr>
        <p:txBody>
          <a:bodyPr/>
          <a:p/>
        </p:txBody>
      </p:sp>
      <p:sp>
        <p:nvSpPr>
          <p:cNvPr id="27" name="Text 25"/>
          <p:cNvSpPr/>
          <p:nvPr/>
        </p:nvSpPr>
        <p:spPr>
          <a:xfrm>
            <a:off x="5349240" y="3264408"/>
            <a:ext cx="3429000" cy="566928"/>
          </a:xfrm>
          <a:prstGeom prst="rect">
            <a:avLst/>
          </a:prstGeom>
          <a:noFill/>
          <a:ln/>
        </p:spPr>
        <p:txBody>
          <a:bodyPr wrap="square" lIns="0" tIns="0" rIns="0" bIns="0" rtlCol="0" anchor="ctr"/>
          <a:lstStyle/>
          <a:p>
            <a:pPr indent="0" marL="0">
              <a:buNone/>
            </a:pPr>
            <a:r>
              <a:rPr lang="en-US" sz="1350" b="1" dirty="0">
                <a:solidFill>
                  <a:srgbClr val="FFFFFF"/>
                </a:solidFill>
                <a:latin typeface="Palatino Linotype" pitchFamily="34" charset="0"/>
                <a:ea typeface="Palatino Linotype" pitchFamily="34" charset="-122"/>
                <a:cs typeface="Palatino Linotype" pitchFamily="34" charset="-120"/>
              </a:rPr>
              <a:t>Așteptare pentru zilele cu anestezist: mai lungă</a:t>
            </a:r>
            <a:endParaRPr lang="en-US" sz="1350" dirty="0"/>
          </a:p>
        </p:txBody>
      </p:sp>
      <p:sp>
        <p:nvSpPr>
          <p:cNvPr id="28" name="Shape 26"/>
          <p:cNvSpPr/>
          <p:nvPr/>
        </p:nvSpPr>
        <p:spPr>
          <a:xfrm>
            <a:off x="5166360" y="3922776"/>
            <a:ext cx="3703320" cy="566928"/>
          </a:xfrm>
          <a:prstGeom prst="rect">
            <a:avLst/>
          </a:prstGeom>
          <a:solidFill>
            <a:srgbClr val="272A38"/>
          </a:solidFill>
          <a:ln w="12700">
            <a:solidFill>
              <a:srgbClr val="272A38"/>
            </a:solidFill>
            <a:prstDash val="solid"/>
          </a:ln>
        </p:spPr>
        <p:txBody>
          <a:bodyPr/>
          <a:p/>
        </p:txBody>
      </p:sp>
      <p:sp>
        <p:nvSpPr>
          <p:cNvPr id="29" name="Shape 27"/>
          <p:cNvSpPr/>
          <p:nvPr/>
        </p:nvSpPr>
        <p:spPr>
          <a:xfrm>
            <a:off x="5166360" y="3922776"/>
            <a:ext cx="64008" cy="566928"/>
          </a:xfrm>
          <a:prstGeom prst="rect">
            <a:avLst/>
          </a:prstGeom>
          <a:solidFill>
            <a:srgbClr val="FF4757"/>
          </a:solidFill>
          <a:ln w="12700">
            <a:solidFill>
              <a:srgbClr val="FF4757"/>
            </a:solidFill>
            <a:prstDash val="solid"/>
          </a:ln>
        </p:spPr>
        <p:txBody>
          <a:bodyPr/>
          <a:p/>
        </p:txBody>
      </p:sp>
      <p:sp>
        <p:nvSpPr>
          <p:cNvPr id="30" name="Text 28"/>
          <p:cNvSpPr/>
          <p:nvPr/>
        </p:nvSpPr>
        <p:spPr>
          <a:xfrm>
            <a:off x="5349240" y="3922776"/>
            <a:ext cx="3429000" cy="566928"/>
          </a:xfrm>
          <a:prstGeom prst="rect">
            <a:avLst/>
          </a:prstGeom>
          <a:noFill/>
          <a:ln/>
        </p:spPr>
        <p:txBody>
          <a:bodyPr wrap="square" lIns="0" tIns="0" rIns="0" bIns="0" rtlCol="0" anchor="ctr"/>
          <a:lstStyle/>
          <a:p>
            <a:pPr indent="0" marL="0">
              <a:buNone/>
            </a:pPr>
            <a:r>
              <a:rPr lang="en-US" sz="1350" b="1" dirty="0">
                <a:solidFill>
                  <a:srgbClr val="FFFFFF"/>
                </a:solidFill>
                <a:latin typeface="Palatino Linotype" pitchFamily="34" charset="0"/>
                <a:ea typeface="Palatino Linotype" pitchFamily="34" charset="-122"/>
                <a:cs typeface="Palatino Linotype" pitchFamily="34" charset="-120"/>
              </a:rPr>
              <a:t>Examinări repetate: imaginile ies mișcate</a:t>
            </a:r>
            <a:endParaRPr lang="en-US" sz="1350" dirty="0"/>
          </a:p>
        </p:txBody>
      </p:sp>
      <p:sp>
        <p:nvSpPr>
          <p:cNvPr id="31" name="Text 29"/>
          <p:cNvSpPr/>
          <p:nvPr/>
        </p:nvSpPr>
        <p:spPr>
          <a:xfrm>
            <a:off x="5166360" y="4663440"/>
            <a:ext cx="3703320" cy="1325880"/>
          </a:xfrm>
          <a:prstGeom prst="rect">
            <a:avLst/>
          </a:prstGeom>
          <a:noFill/>
          <a:ln/>
        </p:spPr>
        <p:txBody>
          <a:bodyPr wrap="square" lIns="0" tIns="0" rIns="0" bIns="0" rtlCol="0" anchor="t"/>
          <a:lstStyle/>
          <a:p>
            <a:pPr indent="0" marL="0">
              <a:buNone/>
            </a:pPr>
            <a:r>
              <a:rPr lang="en-US" sz="1400" dirty="0">
                <a:solidFill>
                  <a:srgbClr val="E6E8EF"/>
                </a:solidFill>
                <a:latin typeface="Palatino Linotype" pitchFamily="34" charset="0"/>
                <a:ea typeface="Palatino Linotype" pitchFamily="34" charset="-122"/>
                <a:cs typeface="Palatino Linotype" pitchFamily="34" charset="-120"/>
              </a:rPr>
              <a:t>Din registrul secției. Coordonatorul întreabă: „Ce putem schimba pentru toți copiii care vin la noi?”</a:t>
            </a:r>
            <a:endParaRPr lang="en-US" sz="1400" dirty="0"/>
          </a:p>
        </p:txBody>
      </p:sp>
      <p:sp>
        <p:nvSpPr>
          <p:cNvPr id="32" name="Shape 30"/>
          <p:cNvSpPr/>
          <p:nvPr/>
        </p:nvSpPr>
        <p:spPr>
          <a:xfrm>
            <a:off x="9281160" y="2057400"/>
            <a:ext cx="2286000" cy="4023360"/>
          </a:xfrm>
          <a:prstGeom prst="roundRect">
            <a:avLst>
              <a:gd name="adj" fmla="val 3600"/>
            </a:avLst>
          </a:prstGeom>
          <a:solidFill>
            <a:srgbClr val="272A38"/>
          </a:solidFill>
          <a:ln w="12700">
            <a:solidFill>
              <a:srgbClr val="272A38"/>
            </a:solidFill>
            <a:prstDash val="solid"/>
          </a:ln>
        </p:spPr>
        <p:txBody>
          <a:bodyPr/>
          <a:p/>
        </p:txBody>
      </p:sp>
      <p:sp>
        <p:nvSpPr>
          <p:cNvPr id="33" name="Text 31"/>
          <p:cNvSpPr/>
          <p:nvPr/>
        </p:nvSpPr>
        <p:spPr>
          <a:xfrm>
            <a:off x="9418320" y="2194560"/>
            <a:ext cx="2011680" cy="1463040"/>
          </a:xfrm>
          <a:prstGeom prst="rect">
            <a:avLst/>
          </a:prstGeom>
          <a:noFill/>
          <a:ln/>
        </p:spPr>
        <p:txBody>
          <a:bodyPr wrap="square" lIns="0" tIns="0" rIns="0" bIns="0" rtlCol="0" anchor="t"/>
          <a:lstStyle/>
          <a:p>
            <a:pPr indent="0" marL="0">
              <a:buNone/>
            </a:pPr>
            <a:r>
              <a:rPr lang="en-US" sz="1400" b="1" dirty="0">
                <a:solidFill>
                  <a:srgbClr val="FFC24B"/>
                </a:solidFill>
                <a:latin typeface="Palatino Linotype" pitchFamily="34" charset="0"/>
                <a:ea typeface="Palatino Linotype" pitchFamily="34" charset="-122"/>
                <a:cs typeface="Palatino Linotype" pitchFamily="34" charset="-120"/>
              </a:rPr>
              <a:t>În fiecare caz sunt două întrebări. Care aparține sănătății comunitare?</a:t>
            </a:r>
            <a:endParaRPr lang="en-US" sz="1400" dirty="0"/>
          </a:p>
        </p:txBody>
      </p:sp>
      <p:sp>
        <p:nvSpPr>
          <p:cNvPr id="34" name="Shape 32"/>
          <p:cNvSpPr/>
          <p:nvPr/>
        </p:nvSpPr>
        <p:spPr>
          <a:xfrm>
            <a:off x="9464040" y="3749040"/>
            <a:ext cx="1920240" cy="2103120"/>
          </a:xfrm>
          <a:prstGeom prst="roundRect">
            <a:avLst>
              <a:gd name="adj" fmla="val 4286"/>
            </a:avLst>
          </a:prstGeom>
          <a:solidFill>
            <a:srgbClr val="FFFFFF"/>
          </a:solidFill>
          <a:ln w="12700">
            <a:solidFill>
              <a:srgbClr val="FFFFFF"/>
            </a:solidFill>
            <a:prstDash val="solid"/>
          </a:ln>
        </p:spPr>
        <p:txBody>
          <a:bodyPr/>
          <a:p/>
        </p:txBody>
      </p:sp>
      <p:sp>
        <p:nvSpPr>
          <p:cNvPr id="35" name="Shape 33"/>
          <p:cNvSpPr/>
          <p:nvPr/>
        </p:nvSpPr>
        <p:spPr>
          <a:xfrm>
            <a:off x="9601200" y="3886200"/>
            <a:ext cx="1645920" cy="1828800"/>
          </a:xfrm>
          <a:prstGeom prst="rect">
            <a:avLst/>
          </a:prstGeom>
          <a:solidFill>
            <a:srgbClr val="F1F0EC"/>
          </a:solidFill>
          <a:ln w="12700">
            <a:solidFill>
              <a:srgbClr val="C9C6BE"/>
            </a:solidFill>
            <a:prstDash val="dash"/>
          </a:ln>
        </p:spPr>
        <p:txBody>
          <a:bodyPr/>
          <a:p/>
        </p:txBody>
      </p:sp>
      <p:sp>
        <p:nvSpPr>
          <p:cNvPr id="36" name="Text 34"/>
          <p:cNvSpPr/>
          <p:nvPr/>
        </p:nvSpPr>
        <p:spPr>
          <a:xfrm>
            <a:off x="9692640" y="3977640"/>
            <a:ext cx="1463040" cy="1645920"/>
          </a:xfrm>
          <a:prstGeom prst="rect">
            <a:avLst/>
          </a:prstGeom>
          <a:noFill/>
          <a:ln/>
        </p:spPr>
        <p:txBody>
          <a:bodyPr wrap="square" lIns="228600" tIns="0" rIns="228600" bIns="0" rtlCol="0" anchor="ctr"/>
          <a:lstStyle/>
          <a:p>
            <a:pPr algn="ctr" indent="0" marL="0">
              <a:buNone/>
            </a:pPr>
            <a:r>
              <a:rPr lang="en-US" sz="1800" i="1" dirty="0">
                <a:solidFill>
                  <a:srgbClr val="585A64"/>
                </a:solidFill>
                <a:latin typeface="Palatino Linotype" pitchFamily="34" charset="0"/>
                <a:ea typeface="Palatino Linotype" pitchFamily="34" charset="-122"/>
                <a:cs typeface="Palatino Linotype" pitchFamily="34" charset="-120"/>
              </a:rPr>
              <a:t>Mentimeter: intrați pe menti.com cu codul afișat pe ecran.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RĂSPUNS · VOTUL DE DESCHIDERE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Care întrebare e a comunității?</a:t>
            </a:r>
            <a:endParaRPr lang="en-US" sz="3200" dirty="0"/>
          </a:p>
        </p:txBody>
      </p:sp>
      <p:sp>
        <p:nvSpPr>
          <p:cNvPr id="4" name="Text 2"/>
          <p:cNvSpPr/>
          <p:nvPr/>
        </p:nvSpPr>
        <p:spPr>
          <a:xfrm>
            <a:off x="594360" y="1691640"/>
            <a:ext cx="5349240" cy="274320"/>
          </a:xfrm>
          <a:prstGeom prst="rect">
            <a:avLst/>
          </a:prstGeom>
          <a:noFill/>
          <a:ln/>
        </p:spPr>
        <p:txBody>
          <a:bodyPr wrap="square" lIns="0" tIns="0" rIns="0" bIns="0" rtlCol="0" anchor="t"/>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CAZUL LUI ANDREI</a:t>
            </a:r>
            <a:endParaRPr lang="en-US" sz="1300" dirty="0"/>
          </a:p>
        </p:txBody>
      </p:sp>
      <p:sp>
        <p:nvSpPr>
          <p:cNvPr id="5" name="Shape 3"/>
          <p:cNvSpPr/>
          <p:nvPr/>
        </p:nvSpPr>
        <p:spPr>
          <a:xfrm>
            <a:off x="594360" y="2057400"/>
            <a:ext cx="5349240" cy="1234440"/>
          </a:xfrm>
          <a:prstGeom prst="roundRect">
            <a:avLst>
              <a:gd name="adj" fmla="val 6667"/>
            </a:avLst>
          </a:prstGeom>
          <a:solidFill>
            <a:srgbClr val="ECEAE4"/>
          </a:solidFill>
          <a:ln w="12700">
            <a:solidFill>
              <a:srgbClr val="ECEAE4"/>
            </a:solidFill>
            <a:prstDash val="solid"/>
          </a:ln>
        </p:spPr>
        <p:txBody>
          <a:bodyPr/>
          <a:p/>
        </p:txBody>
      </p:sp>
      <p:sp>
        <p:nvSpPr>
          <p:cNvPr id="6" name="Shape 4"/>
          <p:cNvSpPr/>
          <p:nvPr/>
        </p:nvSpPr>
        <p:spPr>
          <a:xfrm>
            <a:off x="594360" y="2057400"/>
            <a:ext cx="82296" cy="1234440"/>
          </a:xfrm>
          <a:prstGeom prst="rect">
            <a:avLst/>
          </a:prstGeom>
          <a:solidFill>
            <a:srgbClr val="C9C6BE"/>
          </a:solidFill>
          <a:ln w="12700">
            <a:solidFill>
              <a:srgbClr val="C9C6BE"/>
            </a:solidFill>
            <a:prstDash val="solid"/>
          </a:ln>
        </p:spPr>
        <p:txBody>
          <a:bodyPr/>
          <a:p/>
        </p:txBody>
      </p:sp>
      <p:sp>
        <p:nvSpPr>
          <p:cNvPr id="7" name="Text 5"/>
          <p:cNvSpPr/>
          <p:nvPr/>
        </p:nvSpPr>
        <p:spPr>
          <a:xfrm>
            <a:off x="914400" y="2057400"/>
            <a:ext cx="3383280" cy="123444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De ce s-a speriat Andrei de zgomot?</a:t>
            </a:r>
            <a:endParaRPr lang="en-US" sz="1600" dirty="0"/>
          </a:p>
        </p:txBody>
      </p:sp>
      <p:sp>
        <p:nvSpPr>
          <p:cNvPr id="8" name="Shape 6"/>
          <p:cNvSpPr/>
          <p:nvPr/>
        </p:nvSpPr>
        <p:spPr>
          <a:xfrm>
            <a:off x="4434840" y="2468880"/>
            <a:ext cx="1325880" cy="329184"/>
          </a:xfrm>
          <a:prstGeom prst="roundRect">
            <a:avLst>
              <a:gd name="adj" fmla="val 50000"/>
            </a:avLst>
          </a:prstGeom>
          <a:solidFill>
            <a:srgbClr val="585A64"/>
          </a:solidFill>
          <a:ln w="12700">
            <a:solidFill>
              <a:srgbClr val="585A64"/>
            </a:solidFill>
            <a:prstDash val="solid"/>
          </a:ln>
        </p:spPr>
        <p:txBody>
          <a:bodyPr/>
          <a:p/>
        </p:txBody>
      </p:sp>
      <p:sp>
        <p:nvSpPr>
          <p:cNvPr id="9" name="Text 7"/>
          <p:cNvSpPr/>
          <p:nvPr/>
        </p:nvSpPr>
        <p:spPr>
          <a:xfrm>
            <a:off x="4434840" y="2468880"/>
            <a:ext cx="132588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alatino Linotype" pitchFamily="34" charset="0"/>
                <a:ea typeface="Palatino Linotype" pitchFamily="34" charset="-122"/>
                <a:cs typeface="Palatino Linotype" pitchFamily="34" charset="-120"/>
              </a:rPr>
              <a:t>INDIVIDUALĂ</a:t>
            </a:r>
            <a:endParaRPr lang="en-US" sz="1100" dirty="0"/>
          </a:p>
        </p:txBody>
      </p:sp>
      <p:sp>
        <p:nvSpPr>
          <p:cNvPr id="10" name="Shape 8"/>
          <p:cNvSpPr/>
          <p:nvPr/>
        </p:nvSpPr>
        <p:spPr>
          <a:xfrm>
            <a:off x="594360" y="3474720"/>
            <a:ext cx="5349240" cy="1691640"/>
          </a:xfrm>
          <a:prstGeom prst="roundRect">
            <a:avLst>
              <a:gd name="adj" fmla="val 4865"/>
            </a:avLst>
          </a:prstGeom>
          <a:solidFill>
            <a:srgbClr val="ECEAE4"/>
          </a:solidFill>
          <a:ln w="12700">
            <a:solidFill>
              <a:srgbClr val="ECEAE4"/>
            </a:solidFill>
            <a:prstDash val="solid"/>
          </a:ln>
        </p:spPr>
        <p:txBody>
          <a:bodyPr/>
          <a:p/>
        </p:txBody>
      </p:sp>
      <p:sp>
        <p:nvSpPr>
          <p:cNvPr id="11" name="Shape 9"/>
          <p:cNvSpPr/>
          <p:nvPr/>
        </p:nvSpPr>
        <p:spPr>
          <a:xfrm>
            <a:off x="594360" y="3474720"/>
            <a:ext cx="82296" cy="1691640"/>
          </a:xfrm>
          <a:prstGeom prst="rect">
            <a:avLst/>
          </a:prstGeom>
          <a:solidFill>
            <a:srgbClr val="FF4757"/>
          </a:solidFill>
          <a:ln w="12700">
            <a:solidFill>
              <a:srgbClr val="FF4757"/>
            </a:solidFill>
            <a:prstDash val="solid"/>
          </a:ln>
        </p:spPr>
        <p:txBody>
          <a:bodyPr/>
          <a:p/>
        </p:txBody>
      </p:sp>
      <p:sp>
        <p:nvSpPr>
          <p:cNvPr id="12" name="Text 10"/>
          <p:cNvSpPr/>
          <p:nvPr/>
        </p:nvSpPr>
        <p:spPr>
          <a:xfrm>
            <a:off x="914400" y="3474720"/>
            <a:ext cx="3383280" cy="1691640"/>
          </a:xfrm>
          <a:prstGeom prst="rect">
            <a:avLst/>
          </a:prstGeom>
          <a:noFill/>
          <a:ln/>
        </p:spPr>
        <p:txBody>
          <a:bodyPr wrap="square" lIns="0" tIns="0" rIns="0" bIns="0" rtlCol="0" anchor="ctr"/>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Câți dintre copiii programați la rezonanță magnetică ajung la examinare fără să știe ce îi așteaptă și ce putem schimba pentru toți?</a:t>
            </a:r>
            <a:endParaRPr lang="en-US" sz="1600" dirty="0"/>
          </a:p>
        </p:txBody>
      </p:sp>
      <p:sp>
        <p:nvSpPr>
          <p:cNvPr id="13" name="Shape 11"/>
          <p:cNvSpPr/>
          <p:nvPr/>
        </p:nvSpPr>
        <p:spPr>
          <a:xfrm>
            <a:off x="4434840" y="4160520"/>
            <a:ext cx="1325880" cy="329184"/>
          </a:xfrm>
          <a:prstGeom prst="roundRect">
            <a:avLst>
              <a:gd name="adj" fmla="val 50000"/>
            </a:avLst>
          </a:prstGeom>
          <a:solidFill>
            <a:srgbClr val="B02532"/>
          </a:solidFill>
          <a:ln w="12700">
            <a:solidFill>
              <a:srgbClr val="B02532"/>
            </a:solidFill>
            <a:prstDash val="solid"/>
          </a:ln>
        </p:spPr>
        <p:txBody>
          <a:bodyPr/>
          <a:p/>
        </p:txBody>
      </p:sp>
      <p:sp>
        <p:nvSpPr>
          <p:cNvPr id="14" name="Text 12"/>
          <p:cNvSpPr/>
          <p:nvPr/>
        </p:nvSpPr>
        <p:spPr>
          <a:xfrm>
            <a:off x="4434840" y="4160520"/>
            <a:ext cx="132588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alatino Linotype" pitchFamily="34" charset="0"/>
                <a:ea typeface="Palatino Linotype" pitchFamily="34" charset="-122"/>
                <a:cs typeface="Palatino Linotype" pitchFamily="34" charset="-120"/>
              </a:rPr>
              <a:t>COMUNITARĂ</a:t>
            </a:r>
            <a:endParaRPr lang="en-US" sz="1100" dirty="0"/>
          </a:p>
        </p:txBody>
      </p:sp>
      <p:sp>
        <p:nvSpPr>
          <p:cNvPr id="15" name="Text 13"/>
          <p:cNvSpPr/>
          <p:nvPr/>
        </p:nvSpPr>
        <p:spPr>
          <a:xfrm>
            <a:off x="6217920" y="1691640"/>
            <a:ext cx="5349240" cy="274320"/>
          </a:xfrm>
          <a:prstGeom prst="rect">
            <a:avLst/>
          </a:prstGeom>
          <a:noFill/>
          <a:ln/>
        </p:spPr>
        <p:txBody>
          <a:bodyPr wrap="square" lIns="0" tIns="0" rIns="0" bIns="0" rtlCol="0" anchor="t"/>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ȘEDINȚA LABORATORULUI</a:t>
            </a:r>
            <a:endParaRPr lang="en-US" sz="1300" dirty="0"/>
          </a:p>
        </p:txBody>
      </p:sp>
      <p:sp>
        <p:nvSpPr>
          <p:cNvPr id="16" name="Shape 14"/>
          <p:cNvSpPr/>
          <p:nvPr/>
        </p:nvSpPr>
        <p:spPr>
          <a:xfrm>
            <a:off x="6217920" y="2057400"/>
            <a:ext cx="5349240" cy="1234440"/>
          </a:xfrm>
          <a:prstGeom prst="roundRect">
            <a:avLst>
              <a:gd name="adj" fmla="val 6667"/>
            </a:avLst>
          </a:prstGeom>
          <a:solidFill>
            <a:srgbClr val="ECEAE4"/>
          </a:solidFill>
          <a:ln w="12700">
            <a:solidFill>
              <a:srgbClr val="ECEAE4"/>
            </a:solidFill>
            <a:prstDash val="solid"/>
          </a:ln>
        </p:spPr>
        <p:txBody>
          <a:bodyPr/>
          <a:p/>
        </p:txBody>
      </p:sp>
      <p:sp>
        <p:nvSpPr>
          <p:cNvPr id="17" name="Shape 15"/>
          <p:cNvSpPr/>
          <p:nvPr/>
        </p:nvSpPr>
        <p:spPr>
          <a:xfrm>
            <a:off x="6217920" y="2057400"/>
            <a:ext cx="82296" cy="1234440"/>
          </a:xfrm>
          <a:prstGeom prst="rect">
            <a:avLst/>
          </a:prstGeom>
          <a:solidFill>
            <a:srgbClr val="C9C6BE"/>
          </a:solidFill>
          <a:ln w="12700">
            <a:solidFill>
              <a:srgbClr val="C9C6BE"/>
            </a:solidFill>
            <a:prstDash val="solid"/>
          </a:ln>
        </p:spPr>
        <p:txBody>
          <a:bodyPr/>
          <a:p/>
        </p:txBody>
      </p:sp>
      <p:sp>
        <p:nvSpPr>
          <p:cNvPr id="18" name="Text 16"/>
          <p:cNvSpPr/>
          <p:nvPr/>
        </p:nvSpPr>
        <p:spPr>
          <a:xfrm>
            <a:off x="6537960" y="2057400"/>
            <a:ext cx="3383280" cy="123444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Ce îi spunem lui Andrei la reprogramare?</a:t>
            </a:r>
            <a:endParaRPr lang="en-US" sz="1600" dirty="0"/>
          </a:p>
        </p:txBody>
      </p:sp>
      <p:sp>
        <p:nvSpPr>
          <p:cNvPr id="19" name="Shape 17"/>
          <p:cNvSpPr/>
          <p:nvPr/>
        </p:nvSpPr>
        <p:spPr>
          <a:xfrm>
            <a:off x="10058400" y="2468880"/>
            <a:ext cx="1325880" cy="329184"/>
          </a:xfrm>
          <a:prstGeom prst="roundRect">
            <a:avLst>
              <a:gd name="adj" fmla="val 50000"/>
            </a:avLst>
          </a:prstGeom>
          <a:solidFill>
            <a:srgbClr val="585A64"/>
          </a:solidFill>
          <a:ln w="12700">
            <a:solidFill>
              <a:srgbClr val="585A64"/>
            </a:solidFill>
            <a:prstDash val="solid"/>
          </a:ln>
        </p:spPr>
        <p:txBody>
          <a:bodyPr/>
          <a:p/>
        </p:txBody>
      </p:sp>
      <p:sp>
        <p:nvSpPr>
          <p:cNvPr id="20" name="Text 18"/>
          <p:cNvSpPr/>
          <p:nvPr/>
        </p:nvSpPr>
        <p:spPr>
          <a:xfrm>
            <a:off x="10058400" y="2468880"/>
            <a:ext cx="132588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alatino Linotype" pitchFamily="34" charset="0"/>
                <a:ea typeface="Palatino Linotype" pitchFamily="34" charset="-122"/>
                <a:cs typeface="Palatino Linotype" pitchFamily="34" charset="-120"/>
              </a:rPr>
              <a:t>INDIVIDUALĂ</a:t>
            </a:r>
            <a:endParaRPr lang="en-US" sz="1100" dirty="0"/>
          </a:p>
        </p:txBody>
      </p:sp>
      <p:sp>
        <p:nvSpPr>
          <p:cNvPr id="21" name="Shape 19"/>
          <p:cNvSpPr/>
          <p:nvPr/>
        </p:nvSpPr>
        <p:spPr>
          <a:xfrm>
            <a:off x="6217920" y="3474720"/>
            <a:ext cx="5349240" cy="1691640"/>
          </a:xfrm>
          <a:prstGeom prst="roundRect">
            <a:avLst>
              <a:gd name="adj" fmla="val 4865"/>
            </a:avLst>
          </a:prstGeom>
          <a:solidFill>
            <a:srgbClr val="ECEAE4"/>
          </a:solidFill>
          <a:ln w="12700">
            <a:solidFill>
              <a:srgbClr val="ECEAE4"/>
            </a:solidFill>
            <a:prstDash val="solid"/>
          </a:ln>
        </p:spPr>
        <p:txBody>
          <a:bodyPr/>
          <a:p/>
        </p:txBody>
      </p:sp>
      <p:sp>
        <p:nvSpPr>
          <p:cNvPr id="22" name="Shape 20"/>
          <p:cNvSpPr/>
          <p:nvPr/>
        </p:nvSpPr>
        <p:spPr>
          <a:xfrm>
            <a:off x="6217920" y="3474720"/>
            <a:ext cx="82296" cy="1691640"/>
          </a:xfrm>
          <a:prstGeom prst="rect">
            <a:avLst/>
          </a:prstGeom>
          <a:solidFill>
            <a:srgbClr val="FF4757"/>
          </a:solidFill>
          <a:ln w="12700">
            <a:solidFill>
              <a:srgbClr val="FF4757"/>
            </a:solidFill>
            <a:prstDash val="solid"/>
          </a:ln>
        </p:spPr>
        <p:txBody>
          <a:bodyPr/>
          <a:p/>
        </p:txBody>
      </p:sp>
      <p:sp>
        <p:nvSpPr>
          <p:cNvPr id="23" name="Text 21"/>
          <p:cNvSpPr/>
          <p:nvPr/>
        </p:nvSpPr>
        <p:spPr>
          <a:xfrm>
            <a:off x="6537960" y="3474720"/>
            <a:ext cx="3383280" cy="1691640"/>
          </a:xfrm>
          <a:prstGeom prst="rect">
            <a:avLst/>
          </a:prstGeom>
          <a:noFill/>
          <a:ln/>
        </p:spPr>
        <p:txBody>
          <a:bodyPr wrap="square" lIns="0" tIns="0" rIns="0" bIns="0" rtlCol="0" anchor="ctr"/>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De ce au atât de mulți copii mici nevoie de sedare sau de anestezie și ce schimbăm în pregătirea tuturor?</a:t>
            </a:r>
            <a:endParaRPr lang="en-US" sz="1600" dirty="0"/>
          </a:p>
        </p:txBody>
      </p:sp>
      <p:sp>
        <p:nvSpPr>
          <p:cNvPr id="24" name="Shape 22"/>
          <p:cNvSpPr/>
          <p:nvPr/>
        </p:nvSpPr>
        <p:spPr>
          <a:xfrm>
            <a:off x="10058400" y="4160520"/>
            <a:ext cx="1325880" cy="329184"/>
          </a:xfrm>
          <a:prstGeom prst="roundRect">
            <a:avLst>
              <a:gd name="adj" fmla="val 50000"/>
            </a:avLst>
          </a:prstGeom>
          <a:solidFill>
            <a:srgbClr val="B02532"/>
          </a:solidFill>
          <a:ln w="12700">
            <a:solidFill>
              <a:srgbClr val="B02532"/>
            </a:solidFill>
            <a:prstDash val="solid"/>
          </a:ln>
        </p:spPr>
        <p:txBody>
          <a:bodyPr/>
          <a:p/>
        </p:txBody>
      </p:sp>
      <p:sp>
        <p:nvSpPr>
          <p:cNvPr id="25" name="Text 23"/>
          <p:cNvSpPr/>
          <p:nvPr/>
        </p:nvSpPr>
        <p:spPr>
          <a:xfrm>
            <a:off x="10058400" y="4160520"/>
            <a:ext cx="132588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alatino Linotype" pitchFamily="34" charset="0"/>
                <a:ea typeface="Palatino Linotype" pitchFamily="34" charset="-122"/>
                <a:cs typeface="Palatino Linotype" pitchFamily="34" charset="-120"/>
              </a:rPr>
              <a:t>COMUNITARĂ</a:t>
            </a:r>
            <a:endParaRPr lang="en-US" sz="1100" dirty="0"/>
          </a:p>
        </p:txBody>
      </p:sp>
      <p:sp>
        <p:nvSpPr>
          <p:cNvPr id="26" name="Shape 24"/>
          <p:cNvSpPr/>
          <p:nvPr/>
        </p:nvSpPr>
        <p:spPr>
          <a:xfrm>
            <a:off x="594360" y="5394960"/>
            <a:ext cx="10972800" cy="777240"/>
          </a:xfrm>
          <a:prstGeom prst="roundRect">
            <a:avLst>
              <a:gd name="adj" fmla="val 10588"/>
            </a:avLst>
          </a:prstGeom>
          <a:solidFill>
            <a:srgbClr val="11121A"/>
          </a:solidFill>
          <a:ln w="12700">
            <a:solidFill>
              <a:srgbClr val="11121A"/>
            </a:solidFill>
            <a:prstDash val="solid"/>
          </a:ln>
        </p:spPr>
        <p:txBody>
          <a:bodyPr/>
          <a:p/>
        </p:txBody>
      </p:sp>
      <p:sp>
        <p:nvSpPr>
          <p:cNvPr id="27" name="Text 25"/>
          <p:cNvSpPr/>
          <p:nvPr/>
        </p:nvSpPr>
        <p:spPr>
          <a:xfrm>
            <a:off x="868680" y="5394960"/>
            <a:ext cx="10424160" cy="777240"/>
          </a:xfrm>
          <a:prstGeom prst="rect">
            <a:avLst/>
          </a:prstGeom>
          <a:noFill/>
          <a:ln/>
        </p:spPr>
        <p:txBody>
          <a:bodyPr wrap="square" lIns="0" tIns="0" rIns="0" bIns="0" rtlCol="0" anchor="ctr"/>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Ambele întrebări sunt legitime și ambele țin de profesia voastră. Prima privește un copil, a doua toți copiii.</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PRIMII DOI TERMENI NOI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Comunitatea și medicina comunitară</a:t>
            </a:r>
            <a:endParaRPr lang="en-US" sz="3200" dirty="0"/>
          </a:p>
        </p:txBody>
      </p:sp>
      <p:sp>
        <p:nvSpPr>
          <p:cNvPr id="4" name="Shape 2"/>
          <p:cNvSpPr/>
          <p:nvPr/>
        </p:nvSpPr>
        <p:spPr>
          <a:xfrm>
            <a:off x="594360" y="1737360"/>
            <a:ext cx="5349240" cy="4160520"/>
          </a:xfrm>
          <a:prstGeom prst="roundRect">
            <a:avLst>
              <a:gd name="adj" fmla="val 1978"/>
            </a:avLst>
          </a:prstGeom>
          <a:solidFill>
            <a:srgbClr val="1D1F2B"/>
          </a:solidFill>
          <a:ln w="12700">
            <a:solidFill>
              <a:srgbClr val="1D1F2B"/>
            </a:solidFill>
            <a:prstDash val="solid"/>
          </a:ln>
        </p:spPr>
        <p:txBody>
          <a:bodyPr/>
          <a:p/>
        </p:txBody>
      </p:sp>
      <p:sp>
        <p:nvSpPr>
          <p:cNvPr id="5" name="Shape 3"/>
          <p:cNvSpPr/>
          <p:nvPr/>
        </p:nvSpPr>
        <p:spPr>
          <a:xfrm>
            <a:off x="594360" y="1737360"/>
            <a:ext cx="82296" cy="4160520"/>
          </a:xfrm>
          <a:prstGeom prst="rect">
            <a:avLst/>
          </a:prstGeom>
          <a:solidFill>
            <a:srgbClr val="27D3BE"/>
          </a:solidFill>
          <a:ln w="12700">
            <a:solidFill>
              <a:srgbClr val="27D3BE"/>
            </a:solidFill>
            <a:prstDash val="solid"/>
          </a:ln>
        </p:spPr>
        <p:txBody>
          <a:bodyPr/>
          <a:p/>
        </p:txBody>
      </p:sp>
      <p:sp>
        <p:nvSpPr>
          <p:cNvPr id="6" name="Text 4"/>
          <p:cNvSpPr/>
          <p:nvPr/>
        </p:nvSpPr>
        <p:spPr>
          <a:xfrm>
            <a:off x="914400" y="1920240"/>
            <a:ext cx="4846320" cy="274320"/>
          </a:xfrm>
          <a:prstGeom prst="rect">
            <a:avLst/>
          </a:prstGeom>
          <a:noFill/>
          <a:ln/>
        </p:spPr>
        <p:txBody>
          <a:bodyPr wrap="square" lIns="0" tIns="0" rIns="0" bIns="0" rtlCol="0" anchor="t"/>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TERMENUL 1 · COMUNITATEA</a:t>
            </a:r>
            <a:endParaRPr lang="en-US" sz="1300" dirty="0"/>
          </a:p>
        </p:txBody>
      </p:sp>
      <p:sp>
        <p:nvSpPr>
          <p:cNvPr id="7" name="Text 5"/>
          <p:cNvSpPr/>
          <p:nvPr/>
        </p:nvSpPr>
        <p:spPr>
          <a:xfrm>
            <a:off x="914400" y="2377440"/>
            <a:ext cx="4754880" cy="1371600"/>
          </a:xfrm>
          <a:prstGeom prst="rect">
            <a:avLst/>
          </a:prstGeom>
          <a:noFill/>
          <a:ln/>
        </p:spPr>
        <p:txBody>
          <a:bodyPr wrap="square" lIns="0" tIns="0" rIns="0" bIns="0" rtlCol="0" anchor="t"/>
          <a:lstStyle/>
          <a:p>
            <a:pPr indent="0" marL="0">
              <a:buNone/>
            </a:pPr>
            <a:r>
              <a:rPr lang="en-US" sz="2100" b="1" dirty="0">
                <a:solidFill>
                  <a:srgbClr val="FFFFFF"/>
                </a:solidFill>
                <a:latin typeface="Palatino Linotype" pitchFamily="34" charset="0"/>
                <a:ea typeface="Palatino Linotype" pitchFamily="34" charset="-122"/>
                <a:cs typeface="Palatino Linotype" pitchFamily="34" charset="-120"/>
              </a:rPr>
              <a:t>Un grup de oameni cu ceva important în comun și cu nevoi asemănătoare.</a:t>
            </a:r>
            <a:endParaRPr lang="en-US" sz="2100" dirty="0"/>
          </a:p>
        </p:txBody>
      </p:sp>
      <p:sp>
        <p:nvSpPr>
          <p:cNvPr id="8" name="Text 6"/>
          <p:cNvSpPr/>
          <p:nvPr/>
        </p:nvSpPr>
        <p:spPr>
          <a:xfrm>
            <a:off x="914400" y="3931920"/>
            <a:ext cx="4754880" cy="1463040"/>
          </a:xfrm>
          <a:prstGeom prst="rect">
            <a:avLst/>
          </a:prstGeom>
          <a:noFill/>
          <a:ln/>
        </p:spPr>
        <p:txBody>
          <a:bodyPr wrap="square" lIns="0" tIns="0" rIns="0" bIns="0" rtlCol="0" anchor="t"/>
          <a:lstStyle/>
          <a:p>
            <a:pPr indent="0" marL="0">
              <a:buNone/>
            </a:pPr>
            <a:r>
              <a:rPr lang="en-US" sz="1600" dirty="0">
                <a:solidFill>
                  <a:srgbClr val="D5D8E2"/>
                </a:solidFill>
                <a:latin typeface="Palatino Linotype" pitchFamily="34" charset="0"/>
                <a:ea typeface="Palatino Linotype" pitchFamily="34" charset="-122"/>
                <a:cs typeface="Palatino Linotype" pitchFamily="34" charset="-120"/>
              </a:rPr>
              <a:t>Un cartier, o școală, copiii unui județ trimiși la rezonanță magnetică și părinții lor.</a:t>
            </a:r>
            <a:endParaRPr lang="en-US" sz="1600" dirty="0"/>
          </a:p>
        </p:txBody>
      </p:sp>
      <p:sp>
        <p:nvSpPr>
          <p:cNvPr id="9" name="Shape 7"/>
          <p:cNvSpPr/>
          <p:nvPr/>
        </p:nvSpPr>
        <p:spPr>
          <a:xfrm>
            <a:off x="6217920" y="1737360"/>
            <a:ext cx="5349240" cy="4160520"/>
          </a:xfrm>
          <a:prstGeom prst="roundRect">
            <a:avLst>
              <a:gd name="adj" fmla="val 1978"/>
            </a:avLst>
          </a:prstGeom>
          <a:solidFill>
            <a:srgbClr val="1D1F2B"/>
          </a:solidFill>
          <a:ln w="12700">
            <a:solidFill>
              <a:srgbClr val="1D1F2B"/>
            </a:solidFill>
            <a:prstDash val="solid"/>
          </a:ln>
        </p:spPr>
        <p:txBody>
          <a:bodyPr/>
          <a:p/>
        </p:txBody>
      </p:sp>
      <p:sp>
        <p:nvSpPr>
          <p:cNvPr id="10" name="Shape 8"/>
          <p:cNvSpPr/>
          <p:nvPr/>
        </p:nvSpPr>
        <p:spPr>
          <a:xfrm>
            <a:off x="6217920" y="1737360"/>
            <a:ext cx="82296" cy="4160520"/>
          </a:xfrm>
          <a:prstGeom prst="rect">
            <a:avLst/>
          </a:prstGeom>
          <a:solidFill>
            <a:srgbClr val="FF4757"/>
          </a:solidFill>
          <a:ln w="12700">
            <a:solidFill>
              <a:srgbClr val="FF4757"/>
            </a:solidFill>
            <a:prstDash val="solid"/>
          </a:ln>
        </p:spPr>
        <p:txBody>
          <a:bodyPr/>
          <a:p/>
        </p:txBody>
      </p:sp>
      <p:sp>
        <p:nvSpPr>
          <p:cNvPr id="11" name="Text 9"/>
          <p:cNvSpPr/>
          <p:nvPr/>
        </p:nvSpPr>
        <p:spPr>
          <a:xfrm>
            <a:off x="6537960" y="1920240"/>
            <a:ext cx="4846320" cy="274320"/>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TERMENUL 2 · MEDICINA COMUNITARĂ</a:t>
            </a:r>
            <a:endParaRPr lang="en-US" sz="1300" dirty="0"/>
          </a:p>
        </p:txBody>
      </p:sp>
      <p:sp>
        <p:nvSpPr>
          <p:cNvPr id="12" name="Text 10"/>
          <p:cNvSpPr/>
          <p:nvPr/>
        </p:nvSpPr>
        <p:spPr>
          <a:xfrm>
            <a:off x="6537960" y="2377440"/>
            <a:ext cx="4754880" cy="1188720"/>
          </a:xfrm>
          <a:prstGeom prst="rect">
            <a:avLst/>
          </a:prstGeom>
          <a:noFill/>
          <a:ln/>
        </p:spPr>
        <p:txBody>
          <a:bodyPr wrap="square" lIns="0" tIns="0" rIns="0" bIns="0" rtlCol="0" anchor="t"/>
          <a:lstStyle/>
          <a:p>
            <a:pPr indent="0" marL="0">
              <a:buNone/>
            </a:pPr>
            <a:r>
              <a:rPr lang="en-US" sz="2100" b="1" dirty="0">
                <a:solidFill>
                  <a:srgbClr val="FFFFFF"/>
                </a:solidFill>
                <a:latin typeface="Palatino Linotype" pitchFamily="34" charset="0"/>
                <a:ea typeface="Palatino Linotype" pitchFamily="34" charset="-122"/>
                <a:cs typeface="Palatino Linotype" pitchFamily="34" charset="-120"/>
              </a:rPr>
              <a:t>Grija pentru sănătatea unui grup întreg, nu a unui singur pacient.</a:t>
            </a:r>
            <a:endParaRPr lang="en-US" sz="2100" dirty="0"/>
          </a:p>
        </p:txBody>
      </p:sp>
      <p:sp>
        <p:nvSpPr>
          <p:cNvPr id="13" name="Text 11"/>
          <p:cNvSpPr/>
          <p:nvPr/>
        </p:nvSpPr>
        <p:spPr>
          <a:xfrm>
            <a:off x="6537960" y="3749040"/>
            <a:ext cx="1737360" cy="502920"/>
          </a:xfrm>
          <a:prstGeom prst="rect">
            <a:avLst/>
          </a:prstGeom>
          <a:noFill/>
          <a:ln/>
        </p:spPr>
        <p:txBody>
          <a:bodyPr wrap="square" lIns="0" tIns="0" rIns="0" bIns="0" rtlCol="0" anchor="ctr"/>
          <a:lstStyle/>
          <a:p>
            <a:pPr indent="0" marL="0">
              <a:buNone/>
            </a:pPr>
            <a:r>
              <a:rPr lang="en-US" sz="1500" b="1" dirty="0">
                <a:solidFill>
                  <a:srgbClr val="FFC24B"/>
                </a:solidFill>
                <a:latin typeface="Palatino Linotype" pitchFamily="34" charset="0"/>
                <a:ea typeface="Palatino Linotype" pitchFamily="34" charset="-122"/>
                <a:cs typeface="Palatino Linotype" pitchFamily="34" charset="-120"/>
              </a:rPr>
              <a:t>pacientul</a:t>
            </a:r>
            <a:endParaRPr lang="en-US" sz="1500" dirty="0"/>
          </a:p>
        </p:txBody>
      </p:sp>
      <p:sp>
        <p:nvSpPr>
          <p:cNvPr id="14" name="Shape 12"/>
          <p:cNvSpPr/>
          <p:nvPr/>
        </p:nvSpPr>
        <p:spPr>
          <a:xfrm>
            <a:off x="8229600" y="3840480"/>
            <a:ext cx="365760" cy="329184"/>
          </a:xfrm>
          <a:prstGeom prst="rightArrow">
            <a:avLst/>
          </a:prstGeom>
          <a:solidFill>
            <a:srgbClr val="C9C6BE"/>
          </a:solidFill>
          <a:ln w="12700">
            <a:solidFill>
              <a:srgbClr val="C9C6BE"/>
            </a:solidFill>
            <a:prstDash val="solid"/>
          </a:ln>
        </p:spPr>
        <p:txBody>
          <a:bodyPr/>
          <a:p/>
        </p:txBody>
      </p:sp>
      <p:sp>
        <p:nvSpPr>
          <p:cNvPr id="15" name="Text 13"/>
          <p:cNvSpPr/>
          <p:nvPr/>
        </p:nvSpPr>
        <p:spPr>
          <a:xfrm>
            <a:off x="8732520" y="3749040"/>
            <a:ext cx="2651760" cy="50292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comunitatea</a:t>
            </a:r>
            <a:endParaRPr lang="en-US" sz="1600" dirty="0"/>
          </a:p>
        </p:txBody>
      </p:sp>
      <p:sp>
        <p:nvSpPr>
          <p:cNvPr id="16" name="Text 14"/>
          <p:cNvSpPr/>
          <p:nvPr/>
        </p:nvSpPr>
        <p:spPr>
          <a:xfrm>
            <a:off x="6537960" y="4389120"/>
            <a:ext cx="1737360" cy="502920"/>
          </a:xfrm>
          <a:prstGeom prst="rect">
            <a:avLst/>
          </a:prstGeom>
          <a:noFill/>
          <a:ln/>
        </p:spPr>
        <p:txBody>
          <a:bodyPr wrap="square" lIns="0" tIns="0" rIns="0" bIns="0" rtlCol="0" anchor="ctr"/>
          <a:lstStyle/>
          <a:p>
            <a:pPr indent="0" marL="0">
              <a:buNone/>
            </a:pPr>
            <a:r>
              <a:rPr lang="en-US" sz="1500" b="1" dirty="0">
                <a:solidFill>
                  <a:srgbClr val="27D3BE"/>
                </a:solidFill>
                <a:latin typeface="Palatino Linotype" pitchFamily="34" charset="0"/>
                <a:ea typeface="Palatino Linotype" pitchFamily="34" charset="-122"/>
                <a:cs typeface="Palatino Linotype" pitchFamily="34" charset="-120"/>
              </a:rPr>
              <a:t>diagnosticul</a:t>
            </a:r>
            <a:endParaRPr lang="en-US" sz="1500" dirty="0"/>
          </a:p>
        </p:txBody>
      </p:sp>
      <p:sp>
        <p:nvSpPr>
          <p:cNvPr id="17" name="Shape 15"/>
          <p:cNvSpPr/>
          <p:nvPr/>
        </p:nvSpPr>
        <p:spPr>
          <a:xfrm>
            <a:off x="8229600" y="4480560"/>
            <a:ext cx="365760" cy="329184"/>
          </a:xfrm>
          <a:prstGeom prst="rightArrow">
            <a:avLst/>
          </a:prstGeom>
          <a:solidFill>
            <a:srgbClr val="C9C6BE"/>
          </a:solidFill>
          <a:ln w="12700">
            <a:solidFill>
              <a:srgbClr val="C9C6BE"/>
            </a:solidFill>
            <a:prstDash val="solid"/>
          </a:ln>
        </p:spPr>
        <p:txBody>
          <a:bodyPr/>
          <a:p/>
        </p:txBody>
      </p:sp>
      <p:sp>
        <p:nvSpPr>
          <p:cNvPr id="18" name="Text 16"/>
          <p:cNvSpPr/>
          <p:nvPr/>
        </p:nvSpPr>
        <p:spPr>
          <a:xfrm>
            <a:off x="8732520" y="4389120"/>
            <a:ext cx="2651760" cy="50292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date despre grup</a:t>
            </a:r>
            <a:endParaRPr lang="en-US" sz="1600" dirty="0"/>
          </a:p>
        </p:txBody>
      </p:sp>
      <p:sp>
        <p:nvSpPr>
          <p:cNvPr id="19" name="Text 17"/>
          <p:cNvSpPr/>
          <p:nvPr/>
        </p:nvSpPr>
        <p:spPr>
          <a:xfrm>
            <a:off x="6537960" y="5029200"/>
            <a:ext cx="1737360" cy="502920"/>
          </a:xfrm>
          <a:prstGeom prst="rect">
            <a:avLst/>
          </a:prstGeom>
          <a:noFill/>
          <a:ln/>
        </p:spPr>
        <p:txBody>
          <a:bodyPr wrap="square" lIns="0" tIns="0" rIns="0" bIns="0" rtlCol="0" anchor="ctr"/>
          <a:lstStyle/>
          <a:p>
            <a:pPr indent="0" marL="0">
              <a:buNone/>
            </a:pPr>
            <a:r>
              <a:rPr lang="en-US" sz="1500" b="1" dirty="0">
                <a:solidFill>
                  <a:srgbClr val="FF4757"/>
                </a:solidFill>
                <a:latin typeface="Palatino Linotype" pitchFamily="34" charset="0"/>
                <a:ea typeface="Palatino Linotype" pitchFamily="34" charset="-122"/>
                <a:cs typeface="Palatino Linotype" pitchFamily="34" charset="-120"/>
              </a:rPr>
              <a:t>tratamentul</a:t>
            </a:r>
            <a:endParaRPr lang="en-US" sz="1500" dirty="0"/>
          </a:p>
        </p:txBody>
      </p:sp>
      <p:sp>
        <p:nvSpPr>
          <p:cNvPr id="20" name="Shape 18"/>
          <p:cNvSpPr/>
          <p:nvPr/>
        </p:nvSpPr>
        <p:spPr>
          <a:xfrm>
            <a:off x="8229600" y="5120640"/>
            <a:ext cx="365760" cy="329184"/>
          </a:xfrm>
          <a:prstGeom prst="rightArrow">
            <a:avLst/>
          </a:prstGeom>
          <a:solidFill>
            <a:srgbClr val="C9C6BE"/>
          </a:solidFill>
          <a:ln w="12700">
            <a:solidFill>
              <a:srgbClr val="C9C6BE"/>
            </a:solidFill>
            <a:prstDash val="solid"/>
          </a:ln>
        </p:spPr>
        <p:txBody>
          <a:bodyPr/>
          <a:p/>
        </p:txBody>
      </p:sp>
      <p:sp>
        <p:nvSpPr>
          <p:cNvPr id="21" name="Text 19"/>
          <p:cNvSpPr/>
          <p:nvPr/>
        </p:nvSpPr>
        <p:spPr>
          <a:xfrm>
            <a:off x="8732520" y="5029200"/>
            <a:ext cx="2651760" cy="50292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un program</a:t>
            </a:r>
            <a:endParaRPr lang="en-US" sz="1600" dirty="0"/>
          </a:p>
        </p:txBody>
      </p:sp>
      <p:sp>
        <p:nvSpPr>
          <p:cNvPr id="22" name="Text 20"/>
          <p:cNvSpPr/>
          <p:nvPr/>
        </p:nvSpPr>
        <p:spPr>
          <a:xfrm>
            <a:off x="594360" y="6263640"/>
            <a:ext cx="10972800" cy="274320"/>
          </a:xfrm>
          <a:prstGeom prst="rect">
            <a:avLst/>
          </a:prstGeom>
          <a:noFill/>
          <a:ln/>
        </p:spPr>
        <p:txBody>
          <a:bodyPr wrap="square" lIns="0" tIns="0" rIns="0" bIns="0" rtlCol="0" anchor="ctr"/>
          <a:lstStyle/>
          <a:p>
            <a:pPr indent="0" marL="0">
              <a:buNone/>
            </a:pPr>
            <a:r>
              <a:rPr lang="en-US" sz="1100" i="1" dirty="0">
                <a:solidFill>
                  <a:srgbClr val="8E94A8"/>
                </a:solidFill>
                <a:latin typeface="Palatino Linotype" pitchFamily="34" charset="0"/>
                <a:ea typeface="Palatino Linotype" pitchFamily="34" charset="-122"/>
                <a:cs typeface="Palatino Linotype" pitchFamily="34" charset="-120"/>
              </a:rPr>
              <a:t>Glosarul Organizației Mondiale a Sănătății, 1998 (comunitatea) și 2021 (evaluarea nevoilor).</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ȘASE DEOSEBIRI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Un copil, toți copiii</a:t>
            </a:r>
            <a:endParaRPr lang="en-US" sz="3200" dirty="0"/>
          </a:p>
        </p:txBody>
      </p:sp>
      <p:sp>
        <p:nvSpPr>
          <p:cNvPr id="4" name="Shape 2"/>
          <p:cNvSpPr/>
          <p:nvPr/>
        </p:nvSpPr>
        <p:spPr>
          <a:xfrm>
            <a:off x="2743200" y="1645920"/>
            <a:ext cx="4343400" cy="457200"/>
          </a:xfrm>
          <a:prstGeom prst="roundRect">
            <a:avLst>
              <a:gd name="adj" fmla="val 18000"/>
            </a:avLst>
          </a:prstGeom>
          <a:solidFill>
            <a:srgbClr val="11121A"/>
          </a:solidFill>
          <a:ln w="12700">
            <a:solidFill>
              <a:srgbClr val="11121A"/>
            </a:solidFill>
            <a:prstDash val="solid"/>
          </a:ln>
        </p:spPr>
        <p:txBody>
          <a:bodyPr/>
          <a:p/>
        </p:txBody>
      </p:sp>
      <p:sp>
        <p:nvSpPr>
          <p:cNvPr id="5" name="Shape 3"/>
          <p:cNvSpPr/>
          <p:nvPr/>
        </p:nvSpPr>
        <p:spPr>
          <a:xfrm>
            <a:off x="7223760" y="1645920"/>
            <a:ext cx="4343400" cy="457200"/>
          </a:xfrm>
          <a:prstGeom prst="roundRect">
            <a:avLst>
              <a:gd name="adj" fmla="val 18000"/>
            </a:avLst>
          </a:prstGeom>
          <a:solidFill>
            <a:srgbClr val="11121A"/>
          </a:solidFill>
          <a:ln w="12700">
            <a:solidFill>
              <a:srgbClr val="11121A"/>
            </a:solidFill>
            <a:prstDash val="solid"/>
          </a:ln>
        </p:spPr>
        <p:txBody>
          <a:bodyPr/>
          <a:p/>
        </p:txBody>
      </p:sp>
      <p:sp>
        <p:nvSpPr>
          <p:cNvPr id="6" name="Text 4"/>
          <p:cNvSpPr/>
          <p:nvPr/>
        </p:nvSpPr>
        <p:spPr>
          <a:xfrm>
            <a:off x="2971800" y="1645920"/>
            <a:ext cx="3931920" cy="457200"/>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MEDICINA INDIVIDUALĂ</a:t>
            </a:r>
            <a:endParaRPr lang="en-US" sz="1300" dirty="0"/>
          </a:p>
        </p:txBody>
      </p:sp>
      <p:sp>
        <p:nvSpPr>
          <p:cNvPr id="7" name="Text 5"/>
          <p:cNvSpPr/>
          <p:nvPr/>
        </p:nvSpPr>
        <p:spPr>
          <a:xfrm>
            <a:off x="7452360" y="1645920"/>
            <a:ext cx="3931920" cy="457200"/>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SĂNĂTATEA COMUNITARĂ</a:t>
            </a:r>
            <a:endParaRPr lang="en-US" sz="1300" dirty="0"/>
          </a:p>
        </p:txBody>
      </p:sp>
      <p:sp>
        <p:nvSpPr>
          <p:cNvPr id="8" name="Text 6"/>
          <p:cNvSpPr/>
          <p:nvPr/>
        </p:nvSpPr>
        <p:spPr>
          <a:xfrm>
            <a:off x="594360" y="2240280"/>
            <a:ext cx="2011680" cy="548640"/>
          </a:xfrm>
          <a:prstGeom prst="rect">
            <a:avLst/>
          </a:prstGeom>
          <a:noFill/>
          <a:ln/>
        </p:spPr>
        <p:txBody>
          <a:bodyPr wrap="square" lIns="0" tIns="0" rIns="0" bIns="0" rtlCol="0" anchor="ctr"/>
          <a:lstStyle/>
          <a:p>
            <a:pPr indent="0" marL="0">
              <a:buNone/>
            </a:pPr>
            <a:r>
              <a:rPr lang="en-US" sz="1400" b="1" dirty="0">
                <a:solidFill>
                  <a:srgbClr val="B02532"/>
                </a:solidFill>
                <a:latin typeface="Palatino Linotype" pitchFamily="34" charset="0"/>
                <a:ea typeface="Palatino Linotype" pitchFamily="34" charset="-122"/>
                <a:cs typeface="Palatino Linotype" pitchFamily="34" charset="-120"/>
              </a:rPr>
              <a:t>Pe cine îngrijiți</a:t>
            </a:r>
            <a:endParaRPr lang="en-US" sz="1400" dirty="0"/>
          </a:p>
        </p:txBody>
      </p:sp>
      <p:sp>
        <p:nvSpPr>
          <p:cNvPr id="9" name="Shape 7"/>
          <p:cNvSpPr/>
          <p:nvPr/>
        </p:nvSpPr>
        <p:spPr>
          <a:xfrm>
            <a:off x="2743200" y="2240280"/>
            <a:ext cx="4343400" cy="548640"/>
          </a:xfrm>
          <a:prstGeom prst="roundRect">
            <a:avLst>
              <a:gd name="adj" fmla="val 15000"/>
            </a:avLst>
          </a:prstGeom>
          <a:solidFill>
            <a:srgbClr val="ECEAE4"/>
          </a:solidFill>
          <a:ln w="12700">
            <a:solidFill>
              <a:srgbClr val="ECEAE4"/>
            </a:solidFill>
            <a:prstDash val="solid"/>
          </a:ln>
        </p:spPr>
        <p:txBody>
          <a:bodyPr/>
          <a:p/>
        </p:txBody>
      </p:sp>
      <p:sp>
        <p:nvSpPr>
          <p:cNvPr id="10" name="Shape 8"/>
          <p:cNvSpPr/>
          <p:nvPr/>
        </p:nvSpPr>
        <p:spPr>
          <a:xfrm>
            <a:off x="7223760" y="2240280"/>
            <a:ext cx="4343400" cy="548640"/>
          </a:xfrm>
          <a:prstGeom prst="roundRect">
            <a:avLst>
              <a:gd name="adj" fmla="val 15000"/>
            </a:avLst>
          </a:prstGeom>
          <a:solidFill>
            <a:srgbClr val="ECEAE4"/>
          </a:solidFill>
          <a:ln w="12700">
            <a:solidFill>
              <a:srgbClr val="ECEAE4"/>
            </a:solidFill>
            <a:prstDash val="solid"/>
          </a:ln>
        </p:spPr>
        <p:txBody>
          <a:bodyPr/>
          <a:p/>
        </p:txBody>
      </p:sp>
      <p:sp>
        <p:nvSpPr>
          <p:cNvPr id="11" name="Text 9"/>
          <p:cNvSpPr/>
          <p:nvPr/>
        </p:nvSpPr>
        <p:spPr>
          <a:xfrm>
            <a:off x="2926080" y="2240280"/>
            <a:ext cx="4023360" cy="548640"/>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copilul de pe masa aparatului</a:t>
            </a:r>
            <a:endParaRPr lang="en-US" sz="1400" dirty="0"/>
          </a:p>
        </p:txBody>
      </p:sp>
      <p:sp>
        <p:nvSpPr>
          <p:cNvPr id="12" name="Text 10"/>
          <p:cNvSpPr/>
          <p:nvPr/>
        </p:nvSpPr>
        <p:spPr>
          <a:xfrm>
            <a:off x="7406640" y="2240280"/>
            <a:ext cx="4023360" cy="548640"/>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toți copiii care vor veni la examinare în următoarele luni</a:t>
            </a:r>
            <a:endParaRPr lang="en-US" sz="1400" dirty="0"/>
          </a:p>
        </p:txBody>
      </p:sp>
      <p:sp>
        <p:nvSpPr>
          <p:cNvPr id="13" name="Text 11"/>
          <p:cNvSpPr/>
          <p:nvPr/>
        </p:nvSpPr>
        <p:spPr>
          <a:xfrm>
            <a:off x="594360" y="2880360"/>
            <a:ext cx="2011680" cy="548640"/>
          </a:xfrm>
          <a:prstGeom prst="rect">
            <a:avLst/>
          </a:prstGeom>
          <a:noFill/>
          <a:ln/>
        </p:spPr>
        <p:txBody>
          <a:bodyPr wrap="square" lIns="0" tIns="0" rIns="0" bIns="0" rtlCol="0" anchor="ctr"/>
          <a:lstStyle/>
          <a:p>
            <a:pPr indent="0" marL="0">
              <a:buNone/>
            </a:pPr>
            <a:r>
              <a:rPr lang="en-US" sz="1400" b="1" dirty="0">
                <a:solidFill>
                  <a:srgbClr val="B02532"/>
                </a:solidFill>
                <a:latin typeface="Palatino Linotype" pitchFamily="34" charset="0"/>
                <a:ea typeface="Palatino Linotype" pitchFamily="34" charset="-122"/>
                <a:cs typeface="Palatino Linotype" pitchFamily="34" charset="-120"/>
              </a:rPr>
              <a:t>Cine face primul pas</a:t>
            </a:r>
            <a:endParaRPr lang="en-US" sz="1400" dirty="0"/>
          </a:p>
        </p:txBody>
      </p:sp>
      <p:sp>
        <p:nvSpPr>
          <p:cNvPr id="14" name="Shape 12"/>
          <p:cNvSpPr/>
          <p:nvPr/>
        </p:nvSpPr>
        <p:spPr>
          <a:xfrm>
            <a:off x="2743200" y="2880360"/>
            <a:ext cx="4343400" cy="548640"/>
          </a:xfrm>
          <a:prstGeom prst="roundRect">
            <a:avLst>
              <a:gd name="adj" fmla="val 15000"/>
            </a:avLst>
          </a:prstGeom>
          <a:solidFill>
            <a:srgbClr val="ECEAE4"/>
          </a:solidFill>
          <a:ln w="12700">
            <a:solidFill>
              <a:srgbClr val="ECEAE4"/>
            </a:solidFill>
            <a:prstDash val="solid"/>
          </a:ln>
        </p:spPr>
        <p:txBody>
          <a:bodyPr/>
          <a:p/>
        </p:txBody>
      </p:sp>
      <p:sp>
        <p:nvSpPr>
          <p:cNvPr id="15" name="Shape 13"/>
          <p:cNvSpPr/>
          <p:nvPr/>
        </p:nvSpPr>
        <p:spPr>
          <a:xfrm>
            <a:off x="7223760" y="2880360"/>
            <a:ext cx="4343400" cy="548640"/>
          </a:xfrm>
          <a:prstGeom prst="roundRect">
            <a:avLst>
              <a:gd name="adj" fmla="val 15000"/>
            </a:avLst>
          </a:prstGeom>
          <a:solidFill>
            <a:srgbClr val="ECEAE4"/>
          </a:solidFill>
          <a:ln w="12700">
            <a:solidFill>
              <a:srgbClr val="ECEAE4"/>
            </a:solidFill>
            <a:prstDash val="solid"/>
          </a:ln>
        </p:spPr>
        <p:txBody>
          <a:bodyPr/>
          <a:p/>
        </p:txBody>
      </p:sp>
      <p:sp>
        <p:nvSpPr>
          <p:cNvPr id="16" name="Text 14"/>
          <p:cNvSpPr/>
          <p:nvPr/>
        </p:nvSpPr>
        <p:spPr>
          <a:xfrm>
            <a:off x="2926080" y="2880360"/>
            <a:ext cx="4023360" cy="548640"/>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pacientul vine la ora programării</a:t>
            </a:r>
            <a:endParaRPr lang="en-US" sz="1400" dirty="0"/>
          </a:p>
        </p:txBody>
      </p:sp>
      <p:sp>
        <p:nvSpPr>
          <p:cNvPr id="17" name="Text 15"/>
          <p:cNvSpPr/>
          <p:nvPr/>
        </p:nvSpPr>
        <p:spPr>
          <a:xfrm>
            <a:off x="7406640" y="2880360"/>
            <a:ext cx="4023360" cy="548640"/>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echipa ajunge la copil și la părinți înainte de ziua examinării</a:t>
            </a:r>
            <a:endParaRPr lang="en-US" sz="1400" dirty="0"/>
          </a:p>
        </p:txBody>
      </p:sp>
      <p:sp>
        <p:nvSpPr>
          <p:cNvPr id="18" name="Text 16"/>
          <p:cNvSpPr/>
          <p:nvPr/>
        </p:nvSpPr>
        <p:spPr>
          <a:xfrm>
            <a:off x="594360" y="3520440"/>
            <a:ext cx="2011680" cy="548640"/>
          </a:xfrm>
          <a:prstGeom prst="rect">
            <a:avLst/>
          </a:prstGeom>
          <a:noFill/>
          <a:ln/>
        </p:spPr>
        <p:txBody>
          <a:bodyPr wrap="square" lIns="0" tIns="0" rIns="0" bIns="0" rtlCol="0" anchor="ctr"/>
          <a:lstStyle/>
          <a:p>
            <a:pPr indent="0" marL="0">
              <a:buNone/>
            </a:pPr>
            <a:r>
              <a:rPr lang="en-US" sz="1400" b="1" dirty="0">
                <a:solidFill>
                  <a:srgbClr val="B02532"/>
                </a:solidFill>
                <a:latin typeface="Palatino Linotype" pitchFamily="34" charset="0"/>
                <a:ea typeface="Palatino Linotype" pitchFamily="34" charset="-122"/>
                <a:cs typeface="Palatino Linotype" pitchFamily="34" charset="-120"/>
              </a:rPr>
              <a:t>Diagnosticul</a:t>
            </a:r>
            <a:endParaRPr lang="en-US" sz="1400" dirty="0"/>
          </a:p>
        </p:txBody>
      </p:sp>
      <p:sp>
        <p:nvSpPr>
          <p:cNvPr id="19" name="Shape 17"/>
          <p:cNvSpPr/>
          <p:nvPr/>
        </p:nvSpPr>
        <p:spPr>
          <a:xfrm>
            <a:off x="2743200" y="3520440"/>
            <a:ext cx="4343400" cy="548640"/>
          </a:xfrm>
          <a:prstGeom prst="roundRect">
            <a:avLst>
              <a:gd name="adj" fmla="val 15000"/>
            </a:avLst>
          </a:prstGeom>
          <a:solidFill>
            <a:srgbClr val="ECEAE4"/>
          </a:solidFill>
          <a:ln w="12700">
            <a:solidFill>
              <a:srgbClr val="ECEAE4"/>
            </a:solidFill>
            <a:prstDash val="solid"/>
          </a:ln>
        </p:spPr>
        <p:txBody>
          <a:bodyPr/>
          <a:p/>
        </p:txBody>
      </p:sp>
      <p:sp>
        <p:nvSpPr>
          <p:cNvPr id="20" name="Shape 18"/>
          <p:cNvSpPr/>
          <p:nvPr/>
        </p:nvSpPr>
        <p:spPr>
          <a:xfrm>
            <a:off x="7223760" y="3520440"/>
            <a:ext cx="4343400" cy="548640"/>
          </a:xfrm>
          <a:prstGeom prst="roundRect">
            <a:avLst>
              <a:gd name="adj" fmla="val 15000"/>
            </a:avLst>
          </a:prstGeom>
          <a:solidFill>
            <a:srgbClr val="ECEAE4"/>
          </a:solidFill>
          <a:ln w="12700">
            <a:solidFill>
              <a:srgbClr val="ECEAE4"/>
            </a:solidFill>
            <a:prstDash val="solid"/>
          </a:ln>
        </p:spPr>
        <p:txBody>
          <a:bodyPr/>
          <a:p/>
        </p:txBody>
      </p:sp>
      <p:sp>
        <p:nvSpPr>
          <p:cNvPr id="21" name="Text 19"/>
          <p:cNvSpPr/>
          <p:nvPr/>
        </p:nvSpPr>
        <p:spPr>
          <a:xfrm>
            <a:off x="2926080" y="3520440"/>
            <a:ext cx="4023360" cy="548640"/>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ce vedeți la copil: frica, vârsta, boala</a:t>
            </a:r>
            <a:endParaRPr lang="en-US" sz="1400" dirty="0"/>
          </a:p>
        </p:txBody>
      </p:sp>
      <p:sp>
        <p:nvSpPr>
          <p:cNvPr id="22" name="Text 20"/>
          <p:cNvSpPr/>
          <p:nvPr/>
        </p:nvSpPr>
        <p:spPr>
          <a:xfrm>
            <a:off x="7406640" y="3520440"/>
            <a:ext cx="4023360" cy="548640"/>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datele secției: câte sedări, câte repetări, cât se așteaptă</a:t>
            </a:r>
            <a:endParaRPr lang="en-US" sz="1400" dirty="0"/>
          </a:p>
        </p:txBody>
      </p:sp>
      <p:sp>
        <p:nvSpPr>
          <p:cNvPr id="23" name="Text 21"/>
          <p:cNvSpPr/>
          <p:nvPr/>
        </p:nvSpPr>
        <p:spPr>
          <a:xfrm>
            <a:off x="594360" y="4160520"/>
            <a:ext cx="2011680" cy="548640"/>
          </a:xfrm>
          <a:prstGeom prst="rect">
            <a:avLst/>
          </a:prstGeom>
          <a:noFill/>
          <a:ln/>
        </p:spPr>
        <p:txBody>
          <a:bodyPr wrap="square" lIns="0" tIns="0" rIns="0" bIns="0" rtlCol="0" anchor="ctr"/>
          <a:lstStyle/>
          <a:p>
            <a:pPr indent="0" marL="0">
              <a:buNone/>
            </a:pPr>
            <a:r>
              <a:rPr lang="en-US" sz="1400" b="1" dirty="0">
                <a:solidFill>
                  <a:srgbClr val="B02532"/>
                </a:solidFill>
                <a:latin typeface="Palatino Linotype" pitchFamily="34" charset="0"/>
                <a:ea typeface="Palatino Linotype" pitchFamily="34" charset="-122"/>
                <a:cs typeface="Palatino Linotype" pitchFamily="34" charset="-120"/>
              </a:rPr>
              <a:t>Ce faceți</a:t>
            </a:r>
            <a:endParaRPr lang="en-US" sz="1400" dirty="0"/>
          </a:p>
        </p:txBody>
      </p:sp>
      <p:sp>
        <p:nvSpPr>
          <p:cNvPr id="24" name="Shape 22"/>
          <p:cNvSpPr/>
          <p:nvPr/>
        </p:nvSpPr>
        <p:spPr>
          <a:xfrm>
            <a:off x="2743200" y="4160520"/>
            <a:ext cx="4343400" cy="548640"/>
          </a:xfrm>
          <a:prstGeom prst="roundRect">
            <a:avLst>
              <a:gd name="adj" fmla="val 15000"/>
            </a:avLst>
          </a:prstGeom>
          <a:solidFill>
            <a:srgbClr val="ECEAE4"/>
          </a:solidFill>
          <a:ln w="12700">
            <a:solidFill>
              <a:srgbClr val="ECEAE4"/>
            </a:solidFill>
            <a:prstDash val="solid"/>
          </a:ln>
        </p:spPr>
        <p:txBody>
          <a:bodyPr/>
          <a:p/>
        </p:txBody>
      </p:sp>
      <p:sp>
        <p:nvSpPr>
          <p:cNvPr id="25" name="Shape 23"/>
          <p:cNvSpPr/>
          <p:nvPr/>
        </p:nvSpPr>
        <p:spPr>
          <a:xfrm>
            <a:off x="7223760" y="4160520"/>
            <a:ext cx="4343400" cy="548640"/>
          </a:xfrm>
          <a:prstGeom prst="roundRect">
            <a:avLst>
              <a:gd name="adj" fmla="val 15000"/>
            </a:avLst>
          </a:prstGeom>
          <a:solidFill>
            <a:srgbClr val="ECEAE4"/>
          </a:solidFill>
          <a:ln w="12700">
            <a:solidFill>
              <a:srgbClr val="ECEAE4"/>
            </a:solidFill>
            <a:prstDash val="solid"/>
          </a:ln>
        </p:spPr>
        <p:txBody>
          <a:bodyPr/>
          <a:p/>
        </p:txBody>
      </p:sp>
      <p:sp>
        <p:nvSpPr>
          <p:cNvPr id="26" name="Text 24"/>
          <p:cNvSpPr/>
          <p:nvPr/>
        </p:nvSpPr>
        <p:spPr>
          <a:xfrm>
            <a:off x="2926080" y="4160520"/>
            <a:ext cx="4023360" cy="548640"/>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explicați, liniștiți, adaptați examinarea</a:t>
            </a:r>
            <a:endParaRPr lang="en-US" sz="1400" dirty="0"/>
          </a:p>
        </p:txBody>
      </p:sp>
      <p:sp>
        <p:nvSpPr>
          <p:cNvPr id="27" name="Text 25"/>
          <p:cNvSpPr/>
          <p:nvPr/>
        </p:nvSpPr>
        <p:spPr>
          <a:xfrm>
            <a:off x="7406640" y="4160520"/>
            <a:ext cx="4023360" cy="548640"/>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schimbați pregătirea tuturor: materiale, programări, protocoale</a:t>
            </a:r>
            <a:endParaRPr lang="en-US" sz="1400" dirty="0"/>
          </a:p>
        </p:txBody>
      </p:sp>
      <p:sp>
        <p:nvSpPr>
          <p:cNvPr id="28" name="Text 26"/>
          <p:cNvSpPr/>
          <p:nvPr/>
        </p:nvSpPr>
        <p:spPr>
          <a:xfrm>
            <a:off x="594360" y="4800600"/>
            <a:ext cx="2011680" cy="548640"/>
          </a:xfrm>
          <a:prstGeom prst="rect">
            <a:avLst/>
          </a:prstGeom>
          <a:noFill/>
          <a:ln/>
        </p:spPr>
        <p:txBody>
          <a:bodyPr wrap="square" lIns="0" tIns="0" rIns="0" bIns="0" rtlCol="0" anchor="ctr"/>
          <a:lstStyle/>
          <a:p>
            <a:pPr indent="0" marL="0">
              <a:buNone/>
            </a:pPr>
            <a:r>
              <a:rPr lang="en-US" sz="1400" b="1" dirty="0">
                <a:solidFill>
                  <a:srgbClr val="B02532"/>
                </a:solidFill>
                <a:latin typeface="Palatino Linotype" pitchFamily="34" charset="0"/>
                <a:ea typeface="Palatino Linotype" pitchFamily="34" charset="-122"/>
                <a:cs typeface="Palatino Linotype" pitchFamily="34" charset="-120"/>
              </a:rPr>
              <a:t>Cum știți că a mers</a:t>
            </a:r>
            <a:endParaRPr lang="en-US" sz="1400" dirty="0"/>
          </a:p>
        </p:txBody>
      </p:sp>
      <p:sp>
        <p:nvSpPr>
          <p:cNvPr id="29" name="Shape 27"/>
          <p:cNvSpPr/>
          <p:nvPr/>
        </p:nvSpPr>
        <p:spPr>
          <a:xfrm>
            <a:off x="2743200" y="4800600"/>
            <a:ext cx="4343400" cy="548640"/>
          </a:xfrm>
          <a:prstGeom prst="roundRect">
            <a:avLst>
              <a:gd name="adj" fmla="val 15000"/>
            </a:avLst>
          </a:prstGeom>
          <a:solidFill>
            <a:srgbClr val="ECEAE4"/>
          </a:solidFill>
          <a:ln w="12700">
            <a:solidFill>
              <a:srgbClr val="ECEAE4"/>
            </a:solidFill>
            <a:prstDash val="solid"/>
          </a:ln>
        </p:spPr>
        <p:txBody>
          <a:bodyPr/>
          <a:p/>
        </p:txBody>
      </p:sp>
      <p:sp>
        <p:nvSpPr>
          <p:cNvPr id="30" name="Shape 28"/>
          <p:cNvSpPr/>
          <p:nvPr/>
        </p:nvSpPr>
        <p:spPr>
          <a:xfrm>
            <a:off x="7223760" y="4800600"/>
            <a:ext cx="4343400" cy="548640"/>
          </a:xfrm>
          <a:prstGeom prst="roundRect">
            <a:avLst>
              <a:gd name="adj" fmla="val 15000"/>
            </a:avLst>
          </a:prstGeom>
          <a:solidFill>
            <a:srgbClr val="ECEAE4"/>
          </a:solidFill>
          <a:ln w="12700">
            <a:solidFill>
              <a:srgbClr val="ECEAE4"/>
            </a:solidFill>
            <a:prstDash val="solid"/>
          </a:ln>
        </p:spPr>
        <p:txBody>
          <a:bodyPr/>
          <a:p/>
        </p:txBody>
      </p:sp>
      <p:sp>
        <p:nvSpPr>
          <p:cNvPr id="31" name="Text 29"/>
          <p:cNvSpPr/>
          <p:nvPr/>
        </p:nvSpPr>
        <p:spPr>
          <a:xfrm>
            <a:off x="2926080" y="4800600"/>
            <a:ext cx="4023360" cy="548640"/>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examinarea s-a încheiat cu imagini bune</a:t>
            </a:r>
            <a:endParaRPr lang="en-US" sz="1400" dirty="0"/>
          </a:p>
        </p:txBody>
      </p:sp>
      <p:sp>
        <p:nvSpPr>
          <p:cNvPr id="32" name="Text 30"/>
          <p:cNvSpPr/>
          <p:nvPr/>
        </p:nvSpPr>
        <p:spPr>
          <a:xfrm>
            <a:off x="7406640" y="4800600"/>
            <a:ext cx="4023360" cy="548640"/>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se schimbă cifrele secției: mai puține sedări și repetări</a:t>
            </a:r>
            <a:endParaRPr lang="en-US" sz="1400" dirty="0"/>
          </a:p>
        </p:txBody>
      </p:sp>
      <p:sp>
        <p:nvSpPr>
          <p:cNvPr id="33" name="Text 31"/>
          <p:cNvSpPr/>
          <p:nvPr/>
        </p:nvSpPr>
        <p:spPr>
          <a:xfrm>
            <a:off x="594360" y="5440680"/>
            <a:ext cx="2011680" cy="548640"/>
          </a:xfrm>
          <a:prstGeom prst="rect">
            <a:avLst/>
          </a:prstGeom>
          <a:noFill/>
          <a:ln/>
        </p:spPr>
        <p:txBody>
          <a:bodyPr wrap="square" lIns="0" tIns="0" rIns="0" bIns="0" rtlCol="0" anchor="ctr"/>
          <a:lstStyle/>
          <a:p>
            <a:pPr indent="0" marL="0">
              <a:buNone/>
            </a:pPr>
            <a:r>
              <a:rPr lang="en-US" sz="1400" b="1" dirty="0">
                <a:solidFill>
                  <a:srgbClr val="B02532"/>
                </a:solidFill>
                <a:latin typeface="Palatino Linotype" pitchFamily="34" charset="0"/>
                <a:ea typeface="Palatino Linotype" pitchFamily="34" charset="-122"/>
                <a:cs typeface="Palatino Linotype" pitchFamily="34" charset="-120"/>
              </a:rPr>
              <a:t>Dacă alegeți doar una</a:t>
            </a:r>
            <a:endParaRPr lang="en-US" sz="1400" dirty="0"/>
          </a:p>
        </p:txBody>
      </p:sp>
      <p:sp>
        <p:nvSpPr>
          <p:cNvPr id="34" name="Shape 32"/>
          <p:cNvSpPr/>
          <p:nvPr/>
        </p:nvSpPr>
        <p:spPr>
          <a:xfrm>
            <a:off x="2743200" y="5440680"/>
            <a:ext cx="4343400" cy="548640"/>
          </a:xfrm>
          <a:prstGeom prst="roundRect">
            <a:avLst>
              <a:gd name="adj" fmla="val 15000"/>
            </a:avLst>
          </a:prstGeom>
          <a:solidFill>
            <a:srgbClr val="ECEAE4"/>
          </a:solidFill>
          <a:ln w="12700">
            <a:solidFill>
              <a:srgbClr val="ECEAE4"/>
            </a:solidFill>
            <a:prstDash val="solid"/>
          </a:ln>
        </p:spPr>
        <p:txBody>
          <a:bodyPr/>
          <a:p/>
        </p:txBody>
      </p:sp>
      <p:sp>
        <p:nvSpPr>
          <p:cNvPr id="35" name="Shape 33"/>
          <p:cNvSpPr/>
          <p:nvPr/>
        </p:nvSpPr>
        <p:spPr>
          <a:xfrm>
            <a:off x="7223760" y="5440680"/>
            <a:ext cx="4343400" cy="548640"/>
          </a:xfrm>
          <a:prstGeom prst="roundRect">
            <a:avLst>
              <a:gd name="adj" fmla="val 15000"/>
            </a:avLst>
          </a:prstGeom>
          <a:solidFill>
            <a:srgbClr val="ECEAE4"/>
          </a:solidFill>
          <a:ln w="12700">
            <a:solidFill>
              <a:srgbClr val="ECEAE4"/>
            </a:solidFill>
            <a:prstDash val="solid"/>
          </a:ln>
        </p:spPr>
        <p:txBody>
          <a:bodyPr/>
          <a:p/>
        </p:txBody>
      </p:sp>
      <p:sp>
        <p:nvSpPr>
          <p:cNvPr id="36" name="Text 34"/>
          <p:cNvSpPr/>
          <p:nvPr/>
        </p:nvSpPr>
        <p:spPr>
          <a:xfrm>
            <a:off x="2926080" y="5440680"/>
            <a:ext cx="4023360" cy="548640"/>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fiecare asistent o ia de la capăt cu fiecare copil</a:t>
            </a:r>
            <a:endParaRPr lang="en-US" sz="1400" dirty="0"/>
          </a:p>
        </p:txBody>
      </p:sp>
      <p:sp>
        <p:nvSpPr>
          <p:cNvPr id="37" name="Text 35"/>
          <p:cNvSpPr/>
          <p:nvPr/>
        </p:nvSpPr>
        <p:spPr>
          <a:xfrm>
            <a:off x="7406640" y="5440680"/>
            <a:ext cx="4023360" cy="548640"/>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copilul foarte speriat rămâne fără atenția de care are nevoie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DIAGNOSTICUL ÎNCEPE CU O CIFRĂ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Ce spun datele despre examinări</a:t>
            </a:r>
            <a:endParaRPr lang="en-US" sz="3200" dirty="0"/>
          </a:p>
        </p:txBody>
      </p:sp>
      <p:sp>
        <p:nvSpPr>
          <p:cNvPr id="4" name="Text 2"/>
          <p:cNvSpPr/>
          <p:nvPr/>
        </p:nvSpPr>
        <p:spPr>
          <a:xfrm>
            <a:off x="594360" y="1783080"/>
            <a:ext cx="5486400" cy="274320"/>
          </a:xfrm>
          <a:prstGeom prst="rect">
            <a:avLst/>
          </a:prstGeom>
          <a:noFill/>
          <a:ln/>
        </p:spPr>
        <p:txBody>
          <a:bodyPr wrap="square" lIns="0" tIns="0" rIns="0" bIns="0" rtlCol="0" anchor="t"/>
          <a:lstStyle/>
          <a:p>
            <a:pPr indent="0" marL="0">
              <a:buNone/>
            </a:pPr>
            <a:r>
              <a:rPr lang="en-US" sz="1300" b="1" spc="200" kern="0" dirty="0">
                <a:solidFill>
                  <a:srgbClr val="11121A"/>
                </a:solidFill>
                <a:latin typeface="Palatino Linotype" pitchFamily="34" charset="0"/>
                <a:ea typeface="Palatino Linotype" pitchFamily="34" charset="-122"/>
                <a:cs typeface="Palatino Linotype" pitchFamily="34" charset="-120"/>
              </a:rPr>
              <a:t>TOMOGRAFIE COMPUTERIZATĂ</a:t>
            </a:r>
            <a:endParaRPr lang="en-US" sz="1300" dirty="0"/>
          </a:p>
        </p:txBody>
      </p:sp>
      <p:sp>
        <p:nvSpPr>
          <p:cNvPr id="5" name="Text 3"/>
          <p:cNvSpPr/>
          <p:nvPr/>
        </p:nvSpPr>
        <p:spPr>
          <a:xfrm>
            <a:off x="594360" y="2130552"/>
            <a:ext cx="731520" cy="402336"/>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2019</a:t>
            </a:r>
            <a:endParaRPr lang="en-US" sz="1400" dirty="0"/>
          </a:p>
        </p:txBody>
      </p:sp>
      <p:sp>
        <p:nvSpPr>
          <p:cNvPr id="6" name="Shape 4"/>
          <p:cNvSpPr/>
          <p:nvPr/>
        </p:nvSpPr>
        <p:spPr>
          <a:xfrm>
            <a:off x="1371600" y="2130552"/>
            <a:ext cx="1681659" cy="402336"/>
          </a:xfrm>
          <a:prstGeom prst="rect">
            <a:avLst/>
          </a:prstGeom>
          <a:solidFill>
            <a:srgbClr val="E9B2B8"/>
          </a:solidFill>
          <a:ln w="12700">
            <a:solidFill>
              <a:srgbClr val="E9B2B8"/>
            </a:solidFill>
            <a:prstDash val="solid"/>
          </a:ln>
        </p:spPr>
        <p:txBody>
          <a:bodyPr/>
          <a:p/>
        </p:txBody>
      </p:sp>
      <p:sp>
        <p:nvSpPr>
          <p:cNvPr id="7" name="Text 5"/>
          <p:cNvSpPr/>
          <p:nvPr/>
        </p:nvSpPr>
        <p:spPr>
          <a:xfrm>
            <a:off x="3162987" y="2130552"/>
            <a:ext cx="1188720" cy="402336"/>
          </a:xfrm>
          <a:prstGeom prst="rect">
            <a:avLst/>
          </a:prstGeom>
          <a:noFill/>
          <a:ln/>
        </p:spPr>
        <p:txBody>
          <a:bodyPr wrap="square" lIns="0" tIns="0" rIns="0" bIns="0" rtlCol="0" anchor="ctr"/>
          <a:lstStyle/>
          <a:p>
            <a:pPr indent="0" marL="0">
              <a:buNone/>
            </a:pPr>
            <a:r>
              <a:rPr lang="en-US" sz="1600" b="1" dirty="0">
                <a:solidFill>
                  <a:srgbClr val="585A64"/>
                </a:solidFill>
                <a:latin typeface="Palatino Linotype" pitchFamily="34" charset="0"/>
                <a:ea typeface="Palatino Linotype" pitchFamily="34" charset="-122"/>
                <a:cs typeface="Palatino Linotype" pitchFamily="34" charset="-120"/>
              </a:rPr>
              <a:t>3 403</a:t>
            </a:r>
            <a:endParaRPr lang="en-US" sz="1600" dirty="0"/>
          </a:p>
        </p:txBody>
      </p:sp>
      <p:sp>
        <p:nvSpPr>
          <p:cNvPr id="8" name="Text 6"/>
          <p:cNvSpPr/>
          <p:nvPr/>
        </p:nvSpPr>
        <p:spPr>
          <a:xfrm>
            <a:off x="594360" y="2606040"/>
            <a:ext cx="731520" cy="402336"/>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2024</a:t>
            </a:r>
            <a:endParaRPr lang="en-US" sz="1400" dirty="0"/>
          </a:p>
        </p:txBody>
      </p:sp>
      <p:sp>
        <p:nvSpPr>
          <p:cNvPr id="9" name="Shape 7"/>
          <p:cNvSpPr/>
          <p:nvPr/>
        </p:nvSpPr>
        <p:spPr>
          <a:xfrm>
            <a:off x="1371600" y="2606040"/>
            <a:ext cx="4846320" cy="402336"/>
          </a:xfrm>
          <a:prstGeom prst="rect">
            <a:avLst/>
          </a:prstGeom>
          <a:solidFill>
            <a:srgbClr val="B02532"/>
          </a:solidFill>
          <a:ln w="12700">
            <a:solidFill>
              <a:srgbClr val="B02532"/>
            </a:solidFill>
            <a:prstDash val="solid"/>
          </a:ln>
        </p:spPr>
        <p:txBody>
          <a:bodyPr/>
          <a:p/>
        </p:txBody>
      </p:sp>
      <p:sp>
        <p:nvSpPr>
          <p:cNvPr id="10" name="Text 8"/>
          <p:cNvSpPr/>
          <p:nvPr/>
        </p:nvSpPr>
        <p:spPr>
          <a:xfrm>
            <a:off x="6327648" y="2606040"/>
            <a:ext cx="1188720" cy="402336"/>
          </a:xfrm>
          <a:prstGeom prst="rect">
            <a:avLst/>
          </a:prstGeom>
          <a:noFill/>
          <a:ln/>
        </p:spPr>
        <p:txBody>
          <a:bodyPr wrap="square" lIns="0" tIns="0" rIns="0" bIns="0" rtlCol="0" anchor="ctr"/>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9 807</a:t>
            </a:r>
            <a:endParaRPr lang="en-US" sz="1600" dirty="0"/>
          </a:p>
        </p:txBody>
      </p:sp>
      <p:sp>
        <p:nvSpPr>
          <p:cNvPr id="11" name="Text 9"/>
          <p:cNvSpPr/>
          <p:nvPr/>
        </p:nvSpPr>
        <p:spPr>
          <a:xfrm>
            <a:off x="594360" y="3291840"/>
            <a:ext cx="5486400" cy="274320"/>
          </a:xfrm>
          <a:prstGeom prst="rect">
            <a:avLst/>
          </a:prstGeom>
          <a:noFill/>
          <a:ln/>
        </p:spPr>
        <p:txBody>
          <a:bodyPr wrap="square" lIns="0" tIns="0" rIns="0" bIns="0" rtlCol="0" anchor="t"/>
          <a:lstStyle/>
          <a:p>
            <a:pPr indent="0" marL="0">
              <a:buNone/>
            </a:pPr>
            <a:r>
              <a:rPr lang="en-US" sz="1300" b="1" spc="200" kern="0" dirty="0">
                <a:solidFill>
                  <a:srgbClr val="11121A"/>
                </a:solidFill>
                <a:latin typeface="Palatino Linotype" pitchFamily="34" charset="0"/>
                <a:ea typeface="Palatino Linotype" pitchFamily="34" charset="-122"/>
                <a:cs typeface="Palatino Linotype" pitchFamily="34" charset="-120"/>
              </a:rPr>
              <a:t>REZONANȚĂ MAGNETICĂ</a:t>
            </a:r>
            <a:endParaRPr lang="en-US" sz="1300" dirty="0"/>
          </a:p>
        </p:txBody>
      </p:sp>
      <p:sp>
        <p:nvSpPr>
          <p:cNvPr id="12" name="Text 10"/>
          <p:cNvSpPr/>
          <p:nvPr/>
        </p:nvSpPr>
        <p:spPr>
          <a:xfrm>
            <a:off x="594360" y="3639312"/>
            <a:ext cx="731520" cy="402336"/>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2019</a:t>
            </a:r>
            <a:endParaRPr lang="en-US" sz="1400" dirty="0"/>
          </a:p>
        </p:txBody>
      </p:sp>
      <p:sp>
        <p:nvSpPr>
          <p:cNvPr id="13" name="Shape 11"/>
          <p:cNvSpPr/>
          <p:nvPr/>
        </p:nvSpPr>
        <p:spPr>
          <a:xfrm>
            <a:off x="1371600" y="3639312"/>
            <a:ext cx="699744" cy="402336"/>
          </a:xfrm>
          <a:prstGeom prst="rect">
            <a:avLst/>
          </a:prstGeom>
          <a:solidFill>
            <a:srgbClr val="A5DDD5"/>
          </a:solidFill>
          <a:ln w="12700">
            <a:solidFill>
              <a:srgbClr val="A5DDD5"/>
            </a:solidFill>
            <a:prstDash val="solid"/>
          </a:ln>
        </p:spPr>
        <p:txBody>
          <a:bodyPr/>
          <a:p/>
        </p:txBody>
      </p:sp>
      <p:sp>
        <p:nvSpPr>
          <p:cNvPr id="14" name="Text 12"/>
          <p:cNvSpPr/>
          <p:nvPr/>
        </p:nvSpPr>
        <p:spPr>
          <a:xfrm>
            <a:off x="2181072" y="3639312"/>
            <a:ext cx="1188720" cy="402336"/>
          </a:xfrm>
          <a:prstGeom prst="rect">
            <a:avLst/>
          </a:prstGeom>
          <a:noFill/>
          <a:ln/>
        </p:spPr>
        <p:txBody>
          <a:bodyPr wrap="square" lIns="0" tIns="0" rIns="0" bIns="0" rtlCol="0" anchor="ctr"/>
          <a:lstStyle/>
          <a:p>
            <a:pPr indent="0" marL="0">
              <a:buNone/>
            </a:pPr>
            <a:r>
              <a:rPr lang="en-US" sz="1600" b="1" dirty="0">
                <a:solidFill>
                  <a:srgbClr val="585A64"/>
                </a:solidFill>
                <a:latin typeface="Palatino Linotype" pitchFamily="34" charset="0"/>
                <a:ea typeface="Palatino Linotype" pitchFamily="34" charset="-122"/>
                <a:cs typeface="Palatino Linotype" pitchFamily="34" charset="-120"/>
              </a:rPr>
              <a:t>1 416</a:t>
            </a:r>
            <a:endParaRPr lang="en-US" sz="1600" dirty="0"/>
          </a:p>
        </p:txBody>
      </p:sp>
      <p:sp>
        <p:nvSpPr>
          <p:cNvPr id="15" name="Text 13"/>
          <p:cNvSpPr/>
          <p:nvPr/>
        </p:nvSpPr>
        <p:spPr>
          <a:xfrm>
            <a:off x="594360" y="4114800"/>
            <a:ext cx="731520" cy="402336"/>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2024</a:t>
            </a:r>
            <a:endParaRPr lang="en-US" sz="1400" dirty="0"/>
          </a:p>
        </p:txBody>
      </p:sp>
      <p:sp>
        <p:nvSpPr>
          <p:cNvPr id="16" name="Shape 14"/>
          <p:cNvSpPr/>
          <p:nvPr/>
        </p:nvSpPr>
        <p:spPr>
          <a:xfrm>
            <a:off x="1371600" y="4114800"/>
            <a:ext cx="2700636" cy="402336"/>
          </a:xfrm>
          <a:prstGeom prst="rect">
            <a:avLst/>
          </a:prstGeom>
          <a:solidFill>
            <a:srgbClr val="0E7C6B"/>
          </a:solidFill>
          <a:ln w="12700">
            <a:solidFill>
              <a:srgbClr val="0E7C6B"/>
            </a:solidFill>
            <a:prstDash val="solid"/>
          </a:ln>
        </p:spPr>
        <p:txBody>
          <a:bodyPr/>
          <a:p/>
        </p:txBody>
      </p:sp>
      <p:sp>
        <p:nvSpPr>
          <p:cNvPr id="17" name="Text 15"/>
          <p:cNvSpPr/>
          <p:nvPr/>
        </p:nvSpPr>
        <p:spPr>
          <a:xfrm>
            <a:off x="4181964" y="4114800"/>
            <a:ext cx="1188720" cy="402336"/>
          </a:xfrm>
          <a:prstGeom prst="rect">
            <a:avLst/>
          </a:prstGeom>
          <a:noFill/>
          <a:ln/>
        </p:spPr>
        <p:txBody>
          <a:bodyPr wrap="square" lIns="0" tIns="0" rIns="0" bIns="0" rtlCol="0" anchor="ctr"/>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5 465</a:t>
            </a:r>
            <a:endParaRPr lang="en-US" sz="1600" dirty="0"/>
          </a:p>
        </p:txBody>
      </p:sp>
      <p:sp>
        <p:nvSpPr>
          <p:cNvPr id="18" name="Text 16"/>
          <p:cNvSpPr/>
          <p:nvPr/>
        </p:nvSpPr>
        <p:spPr>
          <a:xfrm>
            <a:off x="594360" y="4800600"/>
            <a:ext cx="7498080" cy="457200"/>
          </a:xfrm>
          <a:prstGeom prst="rect">
            <a:avLst/>
          </a:prstGeom>
          <a:noFill/>
          <a:ln/>
        </p:spPr>
        <p:txBody>
          <a:bodyPr wrap="square" lIns="0" tIns="0" rIns="0" bIns="0" rtlCol="0" anchor="t"/>
          <a:lstStyle/>
          <a:p>
            <a:pPr indent="0" marL="0">
              <a:buNone/>
            </a:pPr>
            <a:r>
              <a:rPr lang="en-US" sz="1300" i="1" dirty="0">
                <a:solidFill>
                  <a:srgbClr val="585A64"/>
                </a:solidFill>
                <a:latin typeface="Palatino Linotype" pitchFamily="34" charset="0"/>
                <a:ea typeface="Palatino Linotype" pitchFamily="34" charset="-122"/>
                <a:cs typeface="Palatino Linotype" pitchFamily="34" charset="-120"/>
              </a:rPr>
              <a:t>Examinări la 100 000 de locuitori, România, în spitale și în ambulatoriu; 2024 este ultimul an publicat.</a:t>
            </a:r>
            <a:endParaRPr lang="en-US" sz="1300" dirty="0"/>
          </a:p>
        </p:txBody>
      </p:sp>
      <p:sp>
        <p:nvSpPr>
          <p:cNvPr id="19" name="Shape 17"/>
          <p:cNvSpPr/>
          <p:nvPr/>
        </p:nvSpPr>
        <p:spPr>
          <a:xfrm>
            <a:off x="8321040" y="1737360"/>
            <a:ext cx="3246120" cy="1828800"/>
          </a:xfrm>
          <a:prstGeom prst="roundRect">
            <a:avLst>
              <a:gd name="adj" fmla="val 4500"/>
            </a:avLst>
          </a:prstGeom>
          <a:solidFill>
            <a:srgbClr val="ECEAE4"/>
          </a:solidFill>
          <a:ln w="12700">
            <a:solidFill>
              <a:srgbClr val="ECEAE4"/>
            </a:solidFill>
            <a:prstDash val="solid"/>
          </a:ln>
        </p:spPr>
        <p:txBody>
          <a:bodyPr/>
          <a:p/>
        </p:txBody>
      </p:sp>
      <p:sp>
        <p:nvSpPr>
          <p:cNvPr id="20" name="Text 18"/>
          <p:cNvSpPr/>
          <p:nvPr/>
        </p:nvSpPr>
        <p:spPr>
          <a:xfrm>
            <a:off x="8549640" y="1874520"/>
            <a:ext cx="2788920" cy="292608"/>
          </a:xfrm>
          <a:prstGeom prst="rect">
            <a:avLst/>
          </a:prstGeom>
          <a:noFill/>
          <a:ln/>
        </p:spPr>
        <p:txBody>
          <a:bodyPr wrap="square" lIns="0" tIns="0" rIns="0" bIns="0" rtlCol="0" anchor="t"/>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ÎN CUVINTE OBIȘNUITE</a:t>
            </a:r>
            <a:endParaRPr lang="en-US" sz="1300" dirty="0"/>
          </a:p>
        </p:txBody>
      </p:sp>
      <p:sp>
        <p:nvSpPr>
          <p:cNvPr id="21" name="Text 19"/>
          <p:cNvSpPr/>
          <p:nvPr/>
        </p:nvSpPr>
        <p:spPr>
          <a:xfrm>
            <a:off x="8549640" y="2240280"/>
            <a:ext cx="2788920" cy="1188720"/>
          </a:xfrm>
          <a:prstGeom prst="rect">
            <a:avLst/>
          </a:prstGeom>
          <a:noFill/>
          <a:ln/>
        </p:spPr>
        <p:txBody>
          <a:bodyPr wrap="square" lIns="0" tIns="0" rIns="0" bIns="0" rtlCol="0" anchor="t"/>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Aproape o tomografie la zece locuitori într-un an. În cinci ani, tomografiile au crescut de aproape trei ori, rezonanțele de aproape patru ori.</a:t>
            </a:r>
            <a:endParaRPr lang="en-US" sz="1400" dirty="0"/>
          </a:p>
        </p:txBody>
      </p:sp>
      <p:sp>
        <p:nvSpPr>
          <p:cNvPr id="22" name="Shape 20"/>
          <p:cNvSpPr/>
          <p:nvPr/>
        </p:nvSpPr>
        <p:spPr>
          <a:xfrm>
            <a:off x="8321040" y="3703320"/>
            <a:ext cx="3246120" cy="1554480"/>
          </a:xfrm>
          <a:prstGeom prst="roundRect">
            <a:avLst>
              <a:gd name="adj" fmla="val 5294"/>
            </a:avLst>
          </a:prstGeom>
          <a:solidFill>
            <a:srgbClr val="11121A"/>
          </a:solidFill>
          <a:ln w="12700">
            <a:solidFill>
              <a:srgbClr val="11121A"/>
            </a:solidFill>
            <a:prstDash val="solid"/>
          </a:ln>
        </p:spPr>
        <p:txBody>
          <a:bodyPr/>
          <a:p/>
        </p:txBody>
      </p:sp>
      <p:sp>
        <p:nvSpPr>
          <p:cNvPr id="23" name="Text 21"/>
          <p:cNvSpPr/>
          <p:nvPr/>
        </p:nvSpPr>
        <p:spPr>
          <a:xfrm>
            <a:off x="8549640" y="3840480"/>
            <a:ext cx="2788920" cy="292608"/>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ATENȚIE</a:t>
            </a:r>
            <a:endParaRPr lang="en-US" sz="1300" dirty="0"/>
          </a:p>
        </p:txBody>
      </p:sp>
      <p:sp>
        <p:nvSpPr>
          <p:cNvPr id="24" name="Text 22"/>
          <p:cNvSpPr/>
          <p:nvPr/>
        </p:nvSpPr>
        <p:spPr>
          <a:xfrm>
            <a:off x="8549640" y="4206240"/>
            <a:ext cx="2788920" cy="914400"/>
          </a:xfrm>
          <a:prstGeom prst="rect">
            <a:avLst/>
          </a:prstGeom>
          <a:noFill/>
          <a:ln/>
        </p:spPr>
        <p:txBody>
          <a:bodyPr wrap="square" lIns="0" tIns="0" rIns="0" bIns="0" rtlCol="0" anchor="t"/>
          <a:lstStyle/>
          <a:p>
            <a:pPr indent="0" marL="0">
              <a:buNone/>
            </a:pPr>
            <a:r>
              <a:rPr lang="en-US" sz="1400" dirty="0">
                <a:solidFill>
                  <a:srgbClr val="FFFFFF"/>
                </a:solidFill>
                <a:latin typeface="Palatino Linotype" pitchFamily="34" charset="0"/>
                <a:ea typeface="Palatino Linotype" pitchFamily="34" charset="-122"/>
                <a:cs typeface="Palatino Linotype" pitchFamily="34" charset="-120"/>
              </a:rPr>
              <a:t>Se numără examinări, nu oameni. Cifra nu spune câte s-au făcut la copii.</a:t>
            </a:r>
            <a:endParaRPr lang="en-US" sz="1400" dirty="0"/>
          </a:p>
        </p:txBody>
      </p:sp>
      <p:sp>
        <p:nvSpPr>
          <p:cNvPr id="25" name="Shape 23"/>
          <p:cNvSpPr/>
          <p:nvPr/>
        </p:nvSpPr>
        <p:spPr>
          <a:xfrm>
            <a:off x="594360" y="5440680"/>
            <a:ext cx="10972800" cy="731520"/>
          </a:xfrm>
          <a:prstGeom prst="roundRect">
            <a:avLst>
              <a:gd name="adj" fmla="val 11250"/>
            </a:avLst>
          </a:prstGeom>
          <a:solidFill>
            <a:srgbClr val="FF4757"/>
          </a:solidFill>
          <a:ln w="12700">
            <a:solidFill>
              <a:srgbClr val="FF4757"/>
            </a:solidFill>
            <a:prstDash val="solid"/>
          </a:ln>
        </p:spPr>
        <p:txBody>
          <a:bodyPr/>
          <a:p/>
        </p:txBody>
      </p:sp>
      <p:sp>
        <p:nvSpPr>
          <p:cNvPr id="26" name="Text 24"/>
          <p:cNvSpPr/>
          <p:nvPr/>
        </p:nvSpPr>
        <p:spPr>
          <a:xfrm>
            <a:off x="868680" y="5440680"/>
            <a:ext cx="10424160" cy="731520"/>
          </a:xfrm>
          <a:prstGeom prst="rect">
            <a:avLst/>
          </a:prstGeom>
          <a:noFill/>
          <a:ln/>
        </p:spPr>
        <p:txBody>
          <a:bodyPr wrap="square" lIns="0" tIns="0" rIns="0" bIns="0" rtlCol="0" anchor="ctr"/>
          <a:lstStyle/>
          <a:p>
            <a:pPr indent="0" marL="0">
              <a:buNone/>
            </a:pPr>
            <a:r>
              <a:rPr lang="en-US" sz="1700" b="1" dirty="0">
                <a:solidFill>
                  <a:srgbClr val="2E060B"/>
                </a:solidFill>
                <a:latin typeface="Palatino Linotype" pitchFamily="34" charset="0"/>
                <a:ea typeface="Palatino Linotype" pitchFamily="34" charset="-122"/>
                <a:cs typeface="Palatino Linotype" pitchFamily="34" charset="-120"/>
              </a:rPr>
              <a:t>Cu cât se fac mai multe examinări, cu atât mai mulți oameni au nevoie să știe dinainte ce îi așteaptă.</a:t>
            </a:r>
            <a:endParaRPr lang="en-US" sz="1700" dirty="0"/>
          </a:p>
        </p:txBody>
      </p:sp>
      <p:sp>
        <p:nvSpPr>
          <p:cNvPr id="27" name="Text 25"/>
          <p:cNvSpPr/>
          <p:nvPr/>
        </p:nvSpPr>
        <p:spPr>
          <a:xfrm>
            <a:off x="594360" y="6355080"/>
            <a:ext cx="10972800" cy="274320"/>
          </a:xfrm>
          <a:prstGeom prst="rect">
            <a:avLst/>
          </a:prstGeom>
          <a:noFill/>
          <a:ln/>
        </p:spPr>
        <p:txBody>
          <a:bodyPr wrap="square" lIns="0" tIns="0" rIns="0" bIns="0" rtlCol="0" anchor="ctr"/>
          <a:lstStyle/>
          <a:p>
            <a:pPr indent="0" marL="0">
              <a:buNone/>
            </a:pPr>
            <a:r>
              <a:rPr lang="en-US" sz="1100" i="1" dirty="0">
                <a:solidFill>
                  <a:srgbClr val="585A64"/>
                </a:solidFill>
                <a:latin typeface="Palatino Linotype" pitchFamily="34" charset="0"/>
                <a:ea typeface="Palatino Linotype" pitchFamily="34" charset="-122"/>
                <a:cs typeface="Palatino Linotype" pitchFamily="34" charset="-120"/>
              </a:rPr>
              <a:t>Eurostat, hlth_co_exam; calcul pe baza cifrelor Eurostat.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DUPĂ GEOFFREY ROSE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Un risc mic, la mulți copii</a:t>
            </a:r>
            <a:endParaRPr lang="en-US" sz="3200" dirty="0"/>
          </a:p>
        </p:txBody>
      </p:sp>
      <p:sp>
        <p:nvSpPr>
          <p:cNvPr id="4" name="Shape 2"/>
          <p:cNvSpPr/>
          <p:nvPr/>
        </p:nvSpPr>
        <p:spPr>
          <a:xfrm>
            <a:off x="594360" y="1691640"/>
            <a:ext cx="5394960" cy="1783080"/>
          </a:xfrm>
          <a:prstGeom prst="roundRect">
            <a:avLst>
              <a:gd name="adj" fmla="val 4615"/>
            </a:avLst>
          </a:prstGeom>
          <a:solidFill>
            <a:srgbClr val="1D1F2B"/>
          </a:solidFill>
          <a:ln w="12700">
            <a:solidFill>
              <a:srgbClr val="1D1F2B"/>
            </a:solidFill>
            <a:prstDash val="solid"/>
          </a:ln>
        </p:spPr>
        <p:txBody>
          <a:bodyPr/>
          <a:p/>
        </p:txBody>
      </p:sp>
      <p:sp>
        <p:nvSpPr>
          <p:cNvPr id="5" name="Shape 3"/>
          <p:cNvSpPr/>
          <p:nvPr/>
        </p:nvSpPr>
        <p:spPr>
          <a:xfrm>
            <a:off x="594360" y="1691640"/>
            <a:ext cx="82296" cy="1783080"/>
          </a:xfrm>
          <a:prstGeom prst="rect">
            <a:avLst/>
          </a:prstGeom>
          <a:solidFill>
            <a:srgbClr val="27D3BE"/>
          </a:solidFill>
          <a:ln w="12700">
            <a:solidFill>
              <a:srgbClr val="27D3BE"/>
            </a:solidFill>
            <a:prstDash val="solid"/>
          </a:ln>
        </p:spPr>
        <p:txBody>
          <a:bodyPr/>
          <a:p/>
        </p:txBody>
      </p:sp>
      <p:sp>
        <p:nvSpPr>
          <p:cNvPr id="6" name="Text 4"/>
          <p:cNvSpPr/>
          <p:nvPr/>
        </p:nvSpPr>
        <p:spPr>
          <a:xfrm>
            <a:off x="914400" y="1828800"/>
            <a:ext cx="4937760" cy="274320"/>
          </a:xfrm>
          <a:prstGeom prst="rect">
            <a:avLst/>
          </a:prstGeom>
          <a:noFill/>
          <a:ln/>
        </p:spPr>
        <p:txBody>
          <a:bodyPr wrap="square" lIns="0" tIns="0" rIns="0" bIns="0" rtlCol="0" anchor="t"/>
          <a:lstStyle/>
          <a:p>
            <a:pPr indent="0" marL="0">
              <a:buNone/>
            </a:pPr>
            <a:r>
              <a:rPr lang="en-US" sz="1250" b="1" spc="100" kern="0" dirty="0">
                <a:solidFill>
                  <a:srgbClr val="27D3BE"/>
                </a:solidFill>
                <a:latin typeface="Palatino Linotype" pitchFamily="34" charset="0"/>
                <a:ea typeface="Palatino Linotype" pitchFamily="34" charset="-122"/>
                <a:cs typeface="Palatino Linotype" pitchFamily="34" charset="-120"/>
              </a:rPr>
              <a:t>STRATEGIA RISCULUI ÎNALT</a:t>
            </a:r>
            <a:endParaRPr lang="en-US" sz="1250" dirty="0"/>
          </a:p>
        </p:txBody>
      </p:sp>
      <p:sp>
        <p:nvSpPr>
          <p:cNvPr id="7" name="Text 5"/>
          <p:cNvSpPr/>
          <p:nvPr/>
        </p:nvSpPr>
        <p:spPr>
          <a:xfrm>
            <a:off x="914400" y="2240280"/>
            <a:ext cx="4892040" cy="1143000"/>
          </a:xfrm>
          <a:prstGeom prst="rect">
            <a:avLst/>
          </a:prstGeom>
          <a:noFill/>
          <a:ln/>
        </p:spPr>
        <p:txBody>
          <a:bodyPr wrap="square" lIns="0" tIns="0" rIns="0" bIns="0" rtlCol="0" anchor="t"/>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Căutați copiii foarte speriați și îi pregătiți intens, cu un aparat-machetă.</a:t>
            </a:r>
            <a:endParaRPr lang="en-US" sz="1800" dirty="0"/>
          </a:p>
        </p:txBody>
      </p:sp>
      <p:sp>
        <p:nvSpPr>
          <p:cNvPr id="8" name="Shape 6"/>
          <p:cNvSpPr/>
          <p:nvPr/>
        </p:nvSpPr>
        <p:spPr>
          <a:xfrm>
            <a:off x="594360" y="3657600"/>
            <a:ext cx="5394960" cy="1783080"/>
          </a:xfrm>
          <a:prstGeom prst="roundRect">
            <a:avLst>
              <a:gd name="adj" fmla="val 4615"/>
            </a:avLst>
          </a:prstGeom>
          <a:solidFill>
            <a:srgbClr val="1D1F2B"/>
          </a:solidFill>
          <a:ln w="12700">
            <a:solidFill>
              <a:srgbClr val="1D1F2B"/>
            </a:solidFill>
            <a:prstDash val="solid"/>
          </a:ln>
        </p:spPr>
        <p:txBody>
          <a:bodyPr/>
          <a:p/>
        </p:txBody>
      </p:sp>
      <p:sp>
        <p:nvSpPr>
          <p:cNvPr id="9" name="Shape 7"/>
          <p:cNvSpPr/>
          <p:nvPr/>
        </p:nvSpPr>
        <p:spPr>
          <a:xfrm>
            <a:off x="594360" y="3657600"/>
            <a:ext cx="82296" cy="1783080"/>
          </a:xfrm>
          <a:prstGeom prst="rect">
            <a:avLst/>
          </a:prstGeom>
          <a:solidFill>
            <a:srgbClr val="FF4757"/>
          </a:solidFill>
          <a:ln w="12700">
            <a:solidFill>
              <a:srgbClr val="FF4757"/>
            </a:solidFill>
            <a:prstDash val="solid"/>
          </a:ln>
        </p:spPr>
        <p:txBody>
          <a:bodyPr/>
          <a:p/>
        </p:txBody>
      </p:sp>
      <p:sp>
        <p:nvSpPr>
          <p:cNvPr id="10" name="Text 8"/>
          <p:cNvSpPr/>
          <p:nvPr/>
        </p:nvSpPr>
        <p:spPr>
          <a:xfrm>
            <a:off x="914400" y="3794760"/>
            <a:ext cx="4937760" cy="274320"/>
          </a:xfrm>
          <a:prstGeom prst="rect">
            <a:avLst/>
          </a:prstGeom>
          <a:noFill/>
          <a:ln/>
        </p:spPr>
        <p:txBody>
          <a:bodyPr wrap="square" lIns="0" tIns="0" rIns="0" bIns="0" rtlCol="0" anchor="t"/>
          <a:lstStyle/>
          <a:p>
            <a:pPr indent="0" marL="0">
              <a:buNone/>
            </a:pPr>
            <a:r>
              <a:rPr lang="en-US" sz="1250" b="1" spc="100" kern="0" dirty="0">
                <a:solidFill>
                  <a:srgbClr val="FF4757"/>
                </a:solidFill>
                <a:latin typeface="Palatino Linotype" pitchFamily="34" charset="0"/>
                <a:ea typeface="Palatino Linotype" pitchFamily="34" charset="-122"/>
                <a:cs typeface="Palatino Linotype" pitchFamily="34" charset="-120"/>
              </a:rPr>
              <a:t>STRATEGIA POPULAȚIONALĂ</a:t>
            </a:r>
            <a:endParaRPr lang="en-US" sz="1250" dirty="0"/>
          </a:p>
        </p:txBody>
      </p:sp>
      <p:sp>
        <p:nvSpPr>
          <p:cNvPr id="11" name="Text 9"/>
          <p:cNvSpPr/>
          <p:nvPr/>
        </p:nvSpPr>
        <p:spPr>
          <a:xfrm>
            <a:off x="914400" y="4206240"/>
            <a:ext cx="4892040" cy="1143000"/>
          </a:xfrm>
          <a:prstGeom prst="rect">
            <a:avLst/>
          </a:prstGeom>
          <a:noFill/>
          <a:ln/>
        </p:spPr>
        <p:txBody>
          <a:bodyPr wrap="square" lIns="0" tIns="0" rIns="0" bIns="0" rtlCol="0" anchor="t"/>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Pregătiți simplu toți copiii: o broșură cu imagini, un film scurt, sunetele aparatului ascultate acasă.</a:t>
            </a:r>
            <a:endParaRPr lang="en-US" sz="1800" dirty="0"/>
          </a:p>
        </p:txBody>
      </p:sp>
      <p:sp>
        <p:nvSpPr>
          <p:cNvPr id="12" name="Text 10"/>
          <p:cNvSpPr/>
          <p:nvPr/>
        </p:nvSpPr>
        <p:spPr>
          <a:xfrm>
            <a:off x="594360" y="5623560"/>
            <a:ext cx="5394960" cy="64008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De obicei nu sunt în competiție; prima grijă rămâne controlul cauzelor.</a:t>
            </a:r>
            <a:endParaRPr lang="en-US" sz="1500" dirty="0"/>
          </a:p>
        </p:txBody>
      </p:sp>
      <p:sp>
        <p:nvSpPr>
          <p:cNvPr id="13" name="Shape 11"/>
          <p:cNvSpPr/>
          <p:nvPr/>
        </p:nvSpPr>
        <p:spPr>
          <a:xfrm>
            <a:off x="6355080" y="1691640"/>
            <a:ext cx="2103120" cy="329184"/>
          </a:xfrm>
          <a:prstGeom prst="roundRect">
            <a:avLst>
              <a:gd name="adj" fmla="val 50000"/>
            </a:avLst>
          </a:prstGeom>
          <a:solidFill>
            <a:srgbClr val="FFC24B"/>
          </a:solidFill>
          <a:ln w="12700">
            <a:solidFill>
              <a:srgbClr val="FFC24B"/>
            </a:solidFill>
            <a:prstDash val="solid"/>
          </a:ln>
        </p:spPr>
        <p:txBody>
          <a:bodyPr/>
          <a:p/>
        </p:txBody>
      </p:sp>
      <p:sp>
        <p:nvSpPr>
          <p:cNvPr id="14" name="Text 12"/>
          <p:cNvSpPr/>
          <p:nvPr/>
        </p:nvSpPr>
        <p:spPr>
          <a:xfrm>
            <a:off x="6355080" y="1691640"/>
            <a:ext cx="2103120" cy="329184"/>
          </a:xfrm>
          <a:prstGeom prst="rect">
            <a:avLst/>
          </a:prstGeom>
          <a:noFill/>
          <a:ln/>
        </p:spPr>
        <p:txBody>
          <a:bodyPr wrap="square" lIns="0" tIns="0" rIns="0" bIns="0" rtlCol="0" anchor="ctr"/>
          <a:lstStyle/>
          <a:p>
            <a:pPr algn="ctr" indent="0" marL="0">
              <a:buNone/>
            </a:pPr>
            <a:r>
              <a:rPr lang="en-US" sz="1150" b="1" dirty="0">
                <a:solidFill>
                  <a:srgbClr val="3D2A00"/>
                </a:solidFill>
                <a:latin typeface="Palatino Linotype" pitchFamily="34" charset="0"/>
                <a:ea typeface="Palatino Linotype" pitchFamily="34" charset="-122"/>
                <a:cs typeface="Palatino Linotype" pitchFamily="34" charset="-120"/>
              </a:rPr>
              <a:t>VALORI IPOTETICE</a:t>
            </a:r>
            <a:endParaRPr lang="en-US" sz="1150" dirty="0"/>
          </a:p>
        </p:txBody>
      </p:sp>
      <p:sp>
        <p:nvSpPr>
          <p:cNvPr id="15" name="Text 13"/>
          <p:cNvSpPr/>
          <p:nvPr/>
        </p:nvSpPr>
        <p:spPr>
          <a:xfrm>
            <a:off x="6355080" y="2148840"/>
            <a:ext cx="5212080" cy="365760"/>
          </a:xfrm>
          <a:prstGeom prst="rect">
            <a:avLst/>
          </a:prstGeom>
          <a:noFill/>
          <a:ln/>
        </p:spPr>
        <p:txBody>
          <a:bodyPr wrap="square" lIns="0" tIns="0" rIns="0" bIns="0" rtlCol="0" anchor="t"/>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Sedările dintr-un laborator, într-un an</a:t>
            </a:r>
            <a:endParaRPr lang="en-US" sz="1700" dirty="0"/>
          </a:p>
        </p:txBody>
      </p:sp>
      <p:sp>
        <p:nvSpPr>
          <p:cNvPr id="16" name="Text 14"/>
          <p:cNvSpPr/>
          <p:nvPr/>
        </p:nvSpPr>
        <p:spPr>
          <a:xfrm>
            <a:off x="6355080" y="2697480"/>
            <a:ext cx="5212080" cy="292608"/>
          </a:xfrm>
          <a:prstGeom prst="rect">
            <a:avLst/>
          </a:prstGeom>
          <a:noFill/>
          <a:ln/>
        </p:spPr>
        <p:txBody>
          <a:bodyPr wrap="square" lIns="0" tIns="0" rIns="0" bIns="0" rtlCol="0" anchor="t"/>
          <a:lstStyle/>
          <a:p>
            <a:pPr indent="0" marL="0">
              <a:buNone/>
            </a:pPr>
            <a:r>
              <a:rPr lang="en-US" sz="1400" dirty="0">
                <a:solidFill>
                  <a:srgbClr val="D5D8E2"/>
                </a:solidFill>
                <a:latin typeface="Palatino Linotype" pitchFamily="34" charset="0"/>
                <a:ea typeface="Palatino Linotype" pitchFamily="34" charset="-122"/>
                <a:cs typeface="Palatino Linotype" pitchFamily="34" charset="-120"/>
              </a:rPr>
              <a:t>300 de copii foarte speriați (șansă de sedare 60%)</a:t>
            </a:r>
            <a:endParaRPr lang="en-US" sz="1400" dirty="0"/>
          </a:p>
        </p:txBody>
      </p:sp>
      <p:sp>
        <p:nvSpPr>
          <p:cNvPr id="17" name="Shape 15"/>
          <p:cNvSpPr/>
          <p:nvPr/>
        </p:nvSpPr>
        <p:spPr>
          <a:xfrm>
            <a:off x="6355080" y="3044952"/>
            <a:ext cx="2710927" cy="457200"/>
          </a:xfrm>
          <a:prstGeom prst="roundRect">
            <a:avLst>
              <a:gd name="adj" fmla="val 12000"/>
            </a:avLst>
          </a:prstGeom>
          <a:solidFill>
            <a:srgbClr val="FF4757"/>
          </a:solidFill>
          <a:ln w="12700">
            <a:solidFill>
              <a:srgbClr val="FF4757"/>
            </a:solidFill>
            <a:prstDash val="solid"/>
          </a:ln>
        </p:spPr>
        <p:txBody>
          <a:bodyPr/>
          <a:p/>
        </p:txBody>
      </p:sp>
      <p:sp>
        <p:nvSpPr>
          <p:cNvPr id="18" name="Text 16"/>
          <p:cNvSpPr/>
          <p:nvPr/>
        </p:nvSpPr>
        <p:spPr>
          <a:xfrm>
            <a:off x="9203167" y="3044952"/>
            <a:ext cx="1463040" cy="457200"/>
          </a:xfrm>
          <a:prstGeom prst="rect">
            <a:avLst/>
          </a:prstGeom>
          <a:noFill/>
          <a:ln/>
        </p:spPr>
        <p:txBody>
          <a:bodyPr wrap="square" lIns="0" tIns="0" rIns="0" bIns="0" rtlCol="0" anchor="ctr"/>
          <a:lstStyle/>
          <a:p>
            <a:pPr indent="0" marL="0">
              <a:buNone/>
            </a:pPr>
            <a:r>
              <a:rPr lang="en-US" sz="1600" b="1" dirty="0">
                <a:solidFill>
                  <a:srgbClr val="FF4757"/>
                </a:solidFill>
                <a:latin typeface="Palatino Linotype" pitchFamily="34" charset="0"/>
                <a:ea typeface="Palatino Linotype" pitchFamily="34" charset="-122"/>
                <a:cs typeface="Palatino Linotype" pitchFamily="34" charset="-120"/>
              </a:rPr>
              <a:t>180 de sedări</a:t>
            </a:r>
            <a:endParaRPr lang="en-US" sz="1600" dirty="0"/>
          </a:p>
        </p:txBody>
      </p:sp>
      <p:sp>
        <p:nvSpPr>
          <p:cNvPr id="19" name="Text 17"/>
          <p:cNvSpPr/>
          <p:nvPr/>
        </p:nvSpPr>
        <p:spPr>
          <a:xfrm>
            <a:off x="6355080" y="3794760"/>
            <a:ext cx="5212080" cy="292608"/>
          </a:xfrm>
          <a:prstGeom prst="rect">
            <a:avLst/>
          </a:prstGeom>
          <a:noFill/>
          <a:ln/>
        </p:spPr>
        <p:txBody>
          <a:bodyPr wrap="square" lIns="0" tIns="0" rIns="0" bIns="0" rtlCol="0" anchor="t"/>
          <a:lstStyle/>
          <a:p>
            <a:pPr indent="0" marL="0">
              <a:buNone/>
            </a:pPr>
            <a:r>
              <a:rPr lang="en-US" sz="1400" dirty="0">
                <a:solidFill>
                  <a:srgbClr val="D5D8E2"/>
                </a:solidFill>
                <a:latin typeface="Palatino Linotype" pitchFamily="34" charset="0"/>
                <a:ea typeface="Palatino Linotype" pitchFamily="34" charset="-122"/>
                <a:cs typeface="Palatino Linotype" pitchFamily="34" charset="-120"/>
              </a:rPr>
              <a:t>1 700 de copii mai liniștiți (șansă 15%)</a:t>
            </a:r>
            <a:endParaRPr lang="en-US" sz="1400" dirty="0"/>
          </a:p>
        </p:txBody>
      </p:sp>
      <p:sp>
        <p:nvSpPr>
          <p:cNvPr id="20" name="Shape 18"/>
          <p:cNvSpPr/>
          <p:nvPr/>
        </p:nvSpPr>
        <p:spPr>
          <a:xfrm>
            <a:off x="6355080" y="4142232"/>
            <a:ext cx="3840480" cy="457200"/>
          </a:xfrm>
          <a:prstGeom prst="roundRect">
            <a:avLst>
              <a:gd name="adj" fmla="val 12000"/>
            </a:avLst>
          </a:prstGeom>
          <a:solidFill>
            <a:srgbClr val="27D3BE"/>
          </a:solidFill>
          <a:ln w="12700">
            <a:solidFill>
              <a:srgbClr val="27D3BE"/>
            </a:solidFill>
            <a:prstDash val="solid"/>
          </a:ln>
        </p:spPr>
        <p:txBody>
          <a:bodyPr/>
          <a:p/>
        </p:txBody>
      </p:sp>
      <p:sp>
        <p:nvSpPr>
          <p:cNvPr id="21" name="Text 19"/>
          <p:cNvSpPr/>
          <p:nvPr/>
        </p:nvSpPr>
        <p:spPr>
          <a:xfrm>
            <a:off x="10332720" y="4142232"/>
            <a:ext cx="1463040" cy="457200"/>
          </a:xfrm>
          <a:prstGeom prst="rect">
            <a:avLst/>
          </a:prstGeom>
          <a:noFill/>
          <a:ln/>
        </p:spPr>
        <p:txBody>
          <a:bodyPr wrap="square" lIns="0" tIns="0" rIns="0" bIns="0" rtlCol="0" anchor="ctr"/>
          <a:lstStyle/>
          <a:p>
            <a:pPr indent="0" marL="0">
              <a:buNone/>
            </a:pPr>
            <a:r>
              <a:rPr lang="en-US" sz="1600" b="1" dirty="0">
                <a:solidFill>
                  <a:srgbClr val="27D3BE"/>
                </a:solidFill>
                <a:latin typeface="Palatino Linotype" pitchFamily="34" charset="0"/>
                <a:ea typeface="Palatino Linotype" pitchFamily="34" charset="-122"/>
                <a:cs typeface="Palatino Linotype" pitchFamily="34" charset="-120"/>
              </a:rPr>
              <a:t>255 de sedări</a:t>
            </a:r>
            <a:endParaRPr lang="en-US" sz="1600" dirty="0"/>
          </a:p>
        </p:txBody>
      </p:sp>
      <p:sp>
        <p:nvSpPr>
          <p:cNvPr id="22" name="Text 20"/>
          <p:cNvSpPr/>
          <p:nvPr/>
        </p:nvSpPr>
        <p:spPr>
          <a:xfrm>
            <a:off x="6355080" y="4937760"/>
            <a:ext cx="3200400" cy="914400"/>
          </a:xfrm>
          <a:prstGeom prst="rect">
            <a:avLst/>
          </a:prstGeom>
          <a:noFill/>
          <a:ln/>
        </p:spPr>
        <p:txBody>
          <a:bodyPr wrap="square" lIns="0" tIns="0" rIns="0" bIns="0" rtlCol="0" anchor="t"/>
          <a:lstStyle/>
          <a:p>
            <a:pPr indent="0" marL="0">
              <a:buNone/>
            </a:pPr>
            <a:r>
              <a:rPr lang="en-US" sz="1400" i="1" dirty="0">
                <a:solidFill>
                  <a:srgbClr val="959BB0"/>
                </a:solidFill>
                <a:latin typeface="Palatino Linotype" pitchFamily="34" charset="0"/>
                <a:ea typeface="Palatino Linotype" pitchFamily="34" charset="-122"/>
                <a:cs typeface="Palatino Linotype" pitchFamily="34" charset="-120"/>
              </a:rPr>
              <a:t>Din 2 000 de rezonanțe la copii mici. Cu alte valori, rezultatul se poate inversa.</a:t>
            </a:r>
            <a:endParaRPr lang="en-US" sz="1400" dirty="0"/>
          </a:p>
        </p:txBody>
      </p:sp>
      <p:sp>
        <p:nvSpPr>
          <p:cNvPr id="23" name="Shape 21"/>
          <p:cNvSpPr/>
          <p:nvPr/>
        </p:nvSpPr>
        <p:spPr>
          <a:xfrm>
            <a:off x="9738360" y="4617720"/>
            <a:ext cx="1828800" cy="1691640"/>
          </a:xfrm>
          <a:prstGeom prst="roundRect">
            <a:avLst>
              <a:gd name="adj" fmla="val 4865"/>
            </a:avLst>
          </a:prstGeom>
          <a:solidFill>
            <a:srgbClr val="FFFFFF"/>
          </a:solidFill>
          <a:ln w="12700">
            <a:solidFill>
              <a:srgbClr val="FFFFFF"/>
            </a:solidFill>
            <a:prstDash val="solid"/>
          </a:ln>
        </p:spPr>
        <p:txBody>
          <a:bodyPr/>
          <a:p/>
        </p:txBody>
      </p:sp>
      <p:pic>
        <p:nvPicPr>
          <p:cNvPr id="24" name="Picture 23" descr="EPS_RI_LP01_sala_joi_15_10.png"/>
          <p:cNvPicPr>
            <a:picLocks noChangeAspect="1"/>
          </p:cNvPicPr>
          <p:nvPr/>
        </p:nvPicPr>
        <p:blipFill>
          <a:blip r:embed="rId3"/>
          <a:stretch>
            <a:fillRect/>
          </a:stretch>
        </p:blipFill>
        <p:spPr>
          <a:xfrm>
            <a:off x="9898380" y="4709160"/>
            <a:ext cx="1508760" cy="15087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MICROSOFT FORMS · PARTEA I</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ECHIPE DE TREI-PATRU COLEGI DE BANCĂ</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Patru pași, o echipă, un telefon</a:t>
            </a:r>
            <a:endParaRPr lang="en-US" sz="3000" dirty="0"/>
          </a:p>
        </p:txBody>
      </p:sp>
      <p:sp>
        <p:nvSpPr>
          <p:cNvPr id="6" name="Shape 4"/>
          <p:cNvSpPr/>
          <p:nvPr/>
        </p:nvSpPr>
        <p:spPr>
          <a:xfrm>
            <a:off x="594360" y="1737360"/>
            <a:ext cx="7589520" cy="713232"/>
          </a:xfrm>
          <a:prstGeom prst="roundRect">
            <a:avLst>
              <a:gd name="adj" fmla="val 11538"/>
            </a:avLst>
          </a:prstGeom>
          <a:solidFill>
            <a:srgbClr val="1D1F2B"/>
          </a:solidFill>
          <a:ln w="12700">
            <a:solidFill>
              <a:srgbClr val="1D1F2B"/>
            </a:solidFill>
            <a:prstDash val="solid"/>
          </a:ln>
        </p:spPr>
        <p:txBody>
          <a:bodyPr/>
          <a:p/>
        </p:txBody>
      </p:sp>
      <p:sp>
        <p:nvSpPr>
          <p:cNvPr id="7" name="Shape 5"/>
          <p:cNvSpPr/>
          <p:nvPr/>
        </p:nvSpPr>
        <p:spPr>
          <a:xfrm>
            <a:off x="868680" y="1883664"/>
            <a:ext cx="420624" cy="420624"/>
          </a:xfrm>
          <a:prstGeom prst="ellipse">
            <a:avLst/>
          </a:prstGeom>
          <a:solidFill>
            <a:srgbClr val="FFC24B"/>
          </a:solidFill>
          <a:ln/>
        </p:spPr>
        <p:txBody>
          <a:bodyPr/>
          <a:p/>
        </p:txBody>
      </p:sp>
      <p:sp>
        <p:nvSpPr>
          <p:cNvPr id="8" name="Text 6"/>
          <p:cNvSpPr/>
          <p:nvPr/>
        </p:nvSpPr>
        <p:spPr>
          <a:xfrm>
            <a:off x="868680" y="188366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9" name="Text 7"/>
          <p:cNvSpPr/>
          <p:nvPr/>
        </p:nvSpPr>
        <p:spPr>
          <a:xfrm>
            <a:off x="1508760" y="1737360"/>
            <a:ext cx="6446520" cy="713232"/>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Care întrebare aparține sănătății comunitare, în fiecare caz?</a:t>
            </a:r>
            <a:endParaRPr lang="en-US" sz="1600" dirty="0"/>
          </a:p>
        </p:txBody>
      </p:sp>
      <p:sp>
        <p:nvSpPr>
          <p:cNvPr id="10" name="Shape 8"/>
          <p:cNvSpPr/>
          <p:nvPr/>
        </p:nvSpPr>
        <p:spPr>
          <a:xfrm>
            <a:off x="594360" y="2560320"/>
            <a:ext cx="7589520" cy="713232"/>
          </a:xfrm>
          <a:prstGeom prst="roundRect">
            <a:avLst>
              <a:gd name="adj" fmla="val 11538"/>
            </a:avLst>
          </a:prstGeom>
          <a:solidFill>
            <a:srgbClr val="1D1F2B"/>
          </a:solidFill>
          <a:ln w="12700">
            <a:solidFill>
              <a:srgbClr val="1D1F2B"/>
            </a:solidFill>
            <a:prstDash val="solid"/>
          </a:ln>
        </p:spPr>
        <p:txBody>
          <a:bodyPr/>
          <a:p/>
        </p:txBody>
      </p:sp>
      <p:sp>
        <p:nvSpPr>
          <p:cNvPr id="11" name="Shape 9"/>
          <p:cNvSpPr/>
          <p:nvPr/>
        </p:nvSpPr>
        <p:spPr>
          <a:xfrm>
            <a:off x="868680" y="2706624"/>
            <a:ext cx="420624" cy="420624"/>
          </a:xfrm>
          <a:prstGeom prst="ellipse">
            <a:avLst/>
          </a:prstGeom>
          <a:solidFill>
            <a:srgbClr val="FFC24B"/>
          </a:solidFill>
          <a:ln/>
        </p:spPr>
        <p:txBody>
          <a:bodyPr/>
          <a:p/>
        </p:txBody>
      </p:sp>
      <p:sp>
        <p:nvSpPr>
          <p:cNvPr id="12" name="Text 10"/>
          <p:cNvSpPr/>
          <p:nvPr/>
        </p:nvSpPr>
        <p:spPr>
          <a:xfrm>
            <a:off x="868680" y="270662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3" name="Text 11"/>
          <p:cNvSpPr/>
          <p:nvPr/>
        </p:nvSpPr>
        <p:spPr>
          <a:xfrm>
            <a:off x="1508760" y="2560320"/>
            <a:ext cx="6446520" cy="713232"/>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Cine este „pacientul” laboratorului și din ce se pune „diagnosticul”? Ce înseamnă cifra Eurostat în cuvinte obișnuite?</a:t>
            </a:r>
            <a:endParaRPr lang="en-US" sz="1600" dirty="0"/>
          </a:p>
        </p:txBody>
      </p:sp>
      <p:sp>
        <p:nvSpPr>
          <p:cNvPr id="14" name="Shape 12"/>
          <p:cNvSpPr/>
          <p:nvPr/>
        </p:nvSpPr>
        <p:spPr>
          <a:xfrm>
            <a:off x="594360" y="3383280"/>
            <a:ext cx="7589520" cy="713232"/>
          </a:xfrm>
          <a:prstGeom prst="roundRect">
            <a:avLst>
              <a:gd name="adj" fmla="val 11538"/>
            </a:avLst>
          </a:prstGeom>
          <a:solidFill>
            <a:srgbClr val="1D1F2B"/>
          </a:solidFill>
          <a:ln w="12700">
            <a:solidFill>
              <a:srgbClr val="1D1F2B"/>
            </a:solidFill>
            <a:prstDash val="solid"/>
          </a:ln>
        </p:spPr>
        <p:txBody>
          <a:bodyPr/>
          <a:p/>
        </p:txBody>
      </p:sp>
      <p:sp>
        <p:nvSpPr>
          <p:cNvPr id="15" name="Shape 13"/>
          <p:cNvSpPr/>
          <p:nvPr/>
        </p:nvSpPr>
        <p:spPr>
          <a:xfrm>
            <a:off x="868680" y="3529584"/>
            <a:ext cx="420624" cy="420624"/>
          </a:xfrm>
          <a:prstGeom prst="ellipse">
            <a:avLst/>
          </a:prstGeom>
          <a:solidFill>
            <a:srgbClr val="FFC24B"/>
          </a:solidFill>
          <a:ln/>
        </p:spPr>
        <p:txBody>
          <a:bodyPr/>
          <a:p/>
        </p:txBody>
      </p:sp>
      <p:sp>
        <p:nvSpPr>
          <p:cNvPr id="16" name="Text 14"/>
          <p:cNvSpPr/>
          <p:nvPr/>
        </p:nvSpPr>
        <p:spPr>
          <a:xfrm>
            <a:off x="868680" y="352958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1508760" y="3383280"/>
            <a:ext cx="6446520" cy="713232"/>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Calculați: ce procent dintre sedări apar la copiii mai liniștiți și câte sedări evită fiecare strategie.</a:t>
            </a:r>
            <a:endParaRPr lang="en-US" sz="1600" dirty="0"/>
          </a:p>
        </p:txBody>
      </p:sp>
      <p:sp>
        <p:nvSpPr>
          <p:cNvPr id="18" name="Shape 16"/>
          <p:cNvSpPr/>
          <p:nvPr/>
        </p:nvSpPr>
        <p:spPr>
          <a:xfrm>
            <a:off x="594360" y="4206240"/>
            <a:ext cx="7589520" cy="713232"/>
          </a:xfrm>
          <a:prstGeom prst="roundRect">
            <a:avLst>
              <a:gd name="adj" fmla="val 11538"/>
            </a:avLst>
          </a:prstGeom>
          <a:solidFill>
            <a:srgbClr val="1D1F2B"/>
          </a:solidFill>
          <a:ln w="12700">
            <a:solidFill>
              <a:srgbClr val="1D1F2B"/>
            </a:solidFill>
            <a:prstDash val="solid"/>
          </a:ln>
        </p:spPr>
        <p:txBody>
          <a:bodyPr/>
          <a:p/>
        </p:txBody>
      </p:sp>
      <p:sp>
        <p:nvSpPr>
          <p:cNvPr id="19" name="Shape 17"/>
          <p:cNvSpPr/>
          <p:nvPr/>
        </p:nvSpPr>
        <p:spPr>
          <a:xfrm>
            <a:off x="868680" y="4352544"/>
            <a:ext cx="420624" cy="420624"/>
          </a:xfrm>
          <a:prstGeom prst="ellipse">
            <a:avLst/>
          </a:prstGeom>
          <a:solidFill>
            <a:srgbClr val="FFC24B"/>
          </a:solidFill>
          <a:ln/>
        </p:spPr>
        <p:txBody>
          <a:bodyPr/>
          <a:p/>
        </p:txBody>
      </p:sp>
      <p:sp>
        <p:nvSpPr>
          <p:cNvPr id="20" name="Text 18"/>
          <p:cNvSpPr/>
          <p:nvPr/>
        </p:nvSpPr>
        <p:spPr>
          <a:xfrm>
            <a:off x="868680" y="435254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21" name="Text 19"/>
          <p:cNvSpPr/>
          <p:nvPr/>
        </p:nvSpPr>
        <p:spPr>
          <a:xfrm>
            <a:off x="1508760" y="4206240"/>
            <a:ext cx="6446520" cy="713232"/>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Alegeți decizia care reflectă raționamentul lui Rose pentru laborator.</a:t>
            </a:r>
            <a:endParaRPr lang="en-US" sz="1600" dirty="0"/>
          </a:p>
        </p:txBody>
      </p:sp>
      <p:sp>
        <p:nvSpPr>
          <p:cNvPr id="22" name="Shape 20"/>
          <p:cNvSpPr/>
          <p:nvPr/>
        </p:nvSpPr>
        <p:spPr>
          <a:xfrm>
            <a:off x="594360" y="5074920"/>
            <a:ext cx="7589520" cy="1097280"/>
          </a:xfrm>
          <a:prstGeom prst="roundRect">
            <a:avLst>
              <a:gd name="adj" fmla="val 7500"/>
            </a:avLst>
          </a:prstGeom>
          <a:solidFill>
            <a:srgbClr val="272A38"/>
          </a:solidFill>
          <a:ln w="12700">
            <a:solidFill>
              <a:srgbClr val="272A38"/>
            </a:solidFill>
            <a:prstDash val="solid"/>
          </a:ln>
        </p:spPr>
        <p:txBody>
          <a:bodyPr/>
          <a:p/>
        </p:txBody>
      </p:sp>
      <p:sp>
        <p:nvSpPr>
          <p:cNvPr id="23" name="Text 21"/>
          <p:cNvSpPr/>
          <p:nvPr/>
        </p:nvSpPr>
        <p:spPr>
          <a:xfrm>
            <a:off x="822960" y="5166360"/>
            <a:ext cx="7132320" cy="274320"/>
          </a:xfrm>
          <a:prstGeom prst="rect">
            <a:avLst/>
          </a:prstGeom>
          <a:noFill/>
          <a:ln/>
        </p:spPr>
        <p:txBody>
          <a:bodyPr wrap="square" lIns="0" tIns="0" rIns="0" bIns="0" rtlCol="0" anchor="t"/>
          <a:lstStyle/>
          <a:p>
            <a:pPr indent="0" marL="0">
              <a:buNone/>
            </a:pPr>
            <a:r>
              <a:rPr lang="en-US" sz="1250" b="1" spc="100" kern="0" dirty="0">
                <a:solidFill>
                  <a:srgbClr val="FFC24B"/>
                </a:solidFill>
                <a:latin typeface="Palatino Linotype" pitchFamily="34" charset="0"/>
                <a:ea typeface="Palatino Linotype" pitchFamily="34" charset="-122"/>
                <a:cs typeface="Palatino Linotype" pitchFamily="34" charset="-120"/>
              </a:rPr>
              <a:t>REAMINTIRE</a:t>
            </a:r>
            <a:endParaRPr lang="en-US" sz="1250" dirty="0"/>
          </a:p>
        </p:txBody>
      </p:sp>
      <p:sp>
        <p:nvSpPr>
          <p:cNvPr id="24" name="Text 22"/>
          <p:cNvSpPr/>
          <p:nvPr/>
        </p:nvSpPr>
        <p:spPr>
          <a:xfrm>
            <a:off x="822960" y="5468112"/>
            <a:ext cx="7132320" cy="640080"/>
          </a:xfrm>
          <a:prstGeom prst="rect">
            <a:avLst/>
          </a:prstGeom>
          <a:noFill/>
          <a:ln/>
        </p:spPr>
        <p:txBody>
          <a:bodyPr wrap="square" lIns="0" tIns="0" rIns="0" bIns="0" rtlCol="0" anchor="t"/>
          <a:lstStyle/>
          <a:p>
            <a:pPr indent="0" marL="0">
              <a:buNone/>
            </a:pPr>
            <a:r>
              <a:rPr lang="en-US" sz="1400" dirty="0">
                <a:solidFill>
                  <a:srgbClr val="FFFFFF"/>
                </a:solidFill>
                <a:latin typeface="Palatino Linotype" pitchFamily="34" charset="0"/>
                <a:ea typeface="Palatino Linotype" pitchFamily="34" charset="-122"/>
                <a:cs typeface="Palatino Linotype" pitchFamily="34" charset="-120"/>
              </a:rPr>
              <a:t>Cifrele Eurostat numără examinări, nu oameni. Diagnosticul comunității se pune din datele grupului.</a:t>
            </a:r>
            <a:endParaRPr lang="en-US" sz="1400" dirty="0"/>
          </a:p>
        </p:txBody>
      </p:sp>
      <p:sp>
        <p:nvSpPr>
          <p:cNvPr id="25" name="Shape 23"/>
          <p:cNvSpPr/>
          <p:nvPr/>
        </p:nvSpPr>
        <p:spPr>
          <a:xfrm>
            <a:off x="8595360" y="1783080"/>
            <a:ext cx="2971800" cy="2971800"/>
          </a:xfrm>
          <a:prstGeom prst="roundRect">
            <a:avLst>
              <a:gd name="adj" fmla="val 2769"/>
            </a:avLst>
          </a:prstGeom>
          <a:solidFill>
            <a:srgbClr val="FFFFFF"/>
          </a:solidFill>
          <a:ln w="12700">
            <a:solidFill>
              <a:srgbClr val="FFFFFF"/>
            </a:solidFill>
            <a:prstDash val="solid"/>
          </a:ln>
        </p:spPr>
        <p:txBody>
          <a:bodyPr/>
          <a:p/>
        </p:txBody>
      </p:sp>
      <p:sp>
        <p:nvSpPr>
          <p:cNvPr id="28" name="Text 26"/>
          <p:cNvSpPr/>
          <p:nvPr/>
        </p:nvSpPr>
        <p:spPr>
          <a:xfrm>
            <a:off x="8595360" y="4937760"/>
            <a:ext cx="2971800" cy="123444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Fiecare pas se deschide numai după răspunsul corect la cel dinainte.</a:t>
            </a:r>
            <a:endParaRPr lang="en-US" sz="1500" dirty="0"/>
          </a:p>
        </p:txBody>
      </p:sp>
      <p:pic>
        <p:nvPicPr>
          <p:cNvPr id="29" name="Picture 28" descr="EPS_RI_LP01_sala_joi_15_10.png"/>
          <p:cNvPicPr>
            <a:picLocks noChangeAspect="1"/>
          </p:cNvPicPr>
          <p:nvPr/>
        </p:nvPicPr>
        <p:blipFill>
          <a:blip r:embed="rId3"/>
          <a:stretch>
            <a:fillRect/>
          </a:stretch>
        </p:blipFill>
        <p:spPr>
          <a:xfrm>
            <a:off x="8743950" y="1931670"/>
            <a:ext cx="2674620" cy="26746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RĂSPUNS · PARTEA 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Unde s-a greșit?</a:t>
            </a:r>
            <a:endParaRPr lang="en-US" sz="3200" dirty="0"/>
          </a:p>
        </p:txBody>
      </p:sp>
      <p:sp>
        <p:nvSpPr>
          <p:cNvPr id="4" name="Shape 2"/>
          <p:cNvSpPr/>
          <p:nvPr/>
        </p:nvSpPr>
        <p:spPr>
          <a:xfrm>
            <a:off x="594360" y="1691640"/>
            <a:ext cx="3931920" cy="3520440"/>
          </a:xfrm>
          <a:prstGeom prst="roundRect">
            <a:avLst>
              <a:gd name="adj" fmla="val 2597"/>
            </a:avLst>
          </a:prstGeom>
          <a:solidFill>
            <a:srgbClr val="FFFFFF"/>
          </a:solidFill>
          <a:ln w="19050">
            <a:solidFill>
              <a:srgbClr val="C9C6BE"/>
            </a:solidFill>
            <a:prstDash val="dash"/>
          </a:ln>
        </p:spPr>
        <p:txBody>
          <a:bodyPr/>
          <a:p/>
        </p:txBody>
      </p:sp>
      <p:sp>
        <p:nvSpPr>
          <p:cNvPr id="5" name="Text 3"/>
          <p:cNvSpPr/>
          <p:nvPr/>
        </p:nvSpPr>
        <p:spPr>
          <a:xfrm>
            <a:off x="868680" y="1691640"/>
            <a:ext cx="3383280" cy="3520440"/>
          </a:xfrm>
          <a:prstGeom prst="rect">
            <a:avLst/>
          </a:prstGeom>
          <a:noFill/>
          <a:ln/>
        </p:spPr>
        <p:txBody>
          <a:bodyPr wrap="square" lIns="0" tIns="0" rIns="0" bIns="0" rtlCol="0" anchor="ctr"/>
          <a:lstStyle/>
          <a:p>
            <a:pPr algn="ctr" indent="0" marL="0">
              <a:buNone/>
            </a:pPr>
            <a:r>
              <a:rPr lang="en-US" sz="1600" b="1" i="1" dirty="0">
                <a:solidFill>
                  <a:srgbClr val="585A64"/>
                </a:solidFill>
                <a:latin typeface="Palatino Linotype" pitchFamily="34" charset="0"/>
                <a:ea typeface="Palatino Linotype" pitchFamily="34" charset="-122"/>
                <a:cs typeface="Palatino Linotype" pitchFamily="34" charset="-120"/>
              </a:rPr>
              <a:t>[distribuția răspunsurilor, proiectată din Forms]</a:t>
            </a:r>
            <a:endParaRPr lang="en-US" sz="1600" dirty="0"/>
          </a:p>
        </p:txBody>
      </p:sp>
      <p:sp>
        <p:nvSpPr>
          <p:cNvPr id="6" name="Shape 4"/>
          <p:cNvSpPr/>
          <p:nvPr/>
        </p:nvSpPr>
        <p:spPr>
          <a:xfrm>
            <a:off x="4754880" y="1691640"/>
            <a:ext cx="6812280" cy="786384"/>
          </a:xfrm>
          <a:prstGeom prst="roundRect">
            <a:avLst>
              <a:gd name="adj" fmla="val 10465"/>
            </a:avLst>
          </a:prstGeom>
          <a:solidFill>
            <a:srgbClr val="ECEAE4"/>
          </a:solidFill>
          <a:ln w="12700">
            <a:solidFill>
              <a:srgbClr val="ECEAE4"/>
            </a:solidFill>
            <a:prstDash val="solid"/>
          </a:ln>
        </p:spPr>
        <p:txBody>
          <a:bodyPr/>
          <a:p/>
        </p:txBody>
      </p:sp>
      <p:sp>
        <p:nvSpPr>
          <p:cNvPr id="7" name="Shape 5"/>
          <p:cNvSpPr/>
          <p:nvPr/>
        </p:nvSpPr>
        <p:spPr>
          <a:xfrm>
            <a:off x="4754880" y="1691640"/>
            <a:ext cx="82296" cy="786384"/>
          </a:xfrm>
          <a:prstGeom prst="rect">
            <a:avLst/>
          </a:prstGeom>
          <a:solidFill>
            <a:srgbClr val="0E7C6B"/>
          </a:solidFill>
          <a:ln w="12700">
            <a:solidFill>
              <a:srgbClr val="0E7C6B"/>
            </a:solidFill>
            <a:prstDash val="solid"/>
          </a:ln>
        </p:spPr>
        <p:txBody>
          <a:bodyPr/>
          <a:p/>
        </p:txBody>
      </p:sp>
      <p:sp>
        <p:nvSpPr>
          <p:cNvPr id="8" name="Shape 6"/>
          <p:cNvSpPr/>
          <p:nvPr/>
        </p:nvSpPr>
        <p:spPr>
          <a:xfrm>
            <a:off x="4983480" y="1874520"/>
            <a:ext cx="420624" cy="420624"/>
          </a:xfrm>
          <a:prstGeom prst="ellipse">
            <a:avLst/>
          </a:prstGeom>
          <a:solidFill>
            <a:srgbClr val="0E7C6B"/>
          </a:solidFill>
          <a:ln/>
        </p:spPr>
        <p:txBody>
          <a:bodyPr/>
          <a:p/>
        </p:txBody>
      </p:sp>
      <p:sp>
        <p:nvSpPr>
          <p:cNvPr id="9" name="Text 7"/>
          <p:cNvSpPr/>
          <p:nvPr/>
        </p:nvSpPr>
        <p:spPr>
          <a:xfrm>
            <a:off x="4983480" y="187452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10" name="Text 8"/>
          <p:cNvSpPr/>
          <p:nvPr/>
        </p:nvSpPr>
        <p:spPr>
          <a:xfrm>
            <a:off x="5577840" y="1691640"/>
            <a:ext cx="5852160" cy="786384"/>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Întrebarea comunitară privește grupul de copii; celelalte, un singur copil.</a:t>
            </a:r>
            <a:endParaRPr lang="en-US" sz="1400" dirty="0"/>
          </a:p>
        </p:txBody>
      </p:sp>
      <p:sp>
        <p:nvSpPr>
          <p:cNvPr id="11" name="Shape 9"/>
          <p:cNvSpPr/>
          <p:nvPr/>
        </p:nvSpPr>
        <p:spPr>
          <a:xfrm>
            <a:off x="4754880" y="2587752"/>
            <a:ext cx="6812280" cy="786384"/>
          </a:xfrm>
          <a:prstGeom prst="roundRect">
            <a:avLst>
              <a:gd name="adj" fmla="val 10465"/>
            </a:avLst>
          </a:prstGeom>
          <a:solidFill>
            <a:srgbClr val="ECEAE4"/>
          </a:solidFill>
          <a:ln w="12700">
            <a:solidFill>
              <a:srgbClr val="ECEAE4"/>
            </a:solidFill>
            <a:prstDash val="solid"/>
          </a:ln>
        </p:spPr>
        <p:txBody>
          <a:bodyPr/>
          <a:p/>
        </p:txBody>
      </p:sp>
      <p:sp>
        <p:nvSpPr>
          <p:cNvPr id="12" name="Shape 10"/>
          <p:cNvSpPr/>
          <p:nvPr/>
        </p:nvSpPr>
        <p:spPr>
          <a:xfrm>
            <a:off x="4754880" y="2587752"/>
            <a:ext cx="82296" cy="786384"/>
          </a:xfrm>
          <a:prstGeom prst="rect">
            <a:avLst/>
          </a:prstGeom>
          <a:solidFill>
            <a:srgbClr val="B02532"/>
          </a:solidFill>
          <a:ln w="12700">
            <a:solidFill>
              <a:srgbClr val="B02532"/>
            </a:solidFill>
            <a:prstDash val="solid"/>
          </a:ln>
        </p:spPr>
        <p:txBody>
          <a:bodyPr/>
          <a:p/>
        </p:txBody>
      </p:sp>
      <p:sp>
        <p:nvSpPr>
          <p:cNvPr id="13" name="Shape 11"/>
          <p:cNvSpPr/>
          <p:nvPr/>
        </p:nvSpPr>
        <p:spPr>
          <a:xfrm>
            <a:off x="4983480" y="2770632"/>
            <a:ext cx="420624" cy="420624"/>
          </a:xfrm>
          <a:prstGeom prst="ellipse">
            <a:avLst/>
          </a:prstGeom>
          <a:solidFill>
            <a:srgbClr val="B02532"/>
          </a:solidFill>
          <a:ln/>
        </p:spPr>
        <p:txBody>
          <a:bodyPr/>
          <a:p/>
        </p:txBody>
      </p:sp>
      <p:sp>
        <p:nvSpPr>
          <p:cNvPr id="14" name="Text 12"/>
          <p:cNvSpPr/>
          <p:nvPr/>
        </p:nvSpPr>
        <p:spPr>
          <a:xfrm>
            <a:off x="4983480" y="27706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5" name="Text 13"/>
          <p:cNvSpPr/>
          <p:nvPr/>
        </p:nvSpPr>
        <p:spPr>
          <a:xfrm>
            <a:off x="5577840" y="2587752"/>
            <a:ext cx="5852160" cy="786384"/>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Pacientul este grupul copiilor care vin la examinare; diagnosticul vine din datele secției. Se numără examinări, nu oameni.</a:t>
            </a:r>
            <a:endParaRPr lang="en-US" sz="1400" dirty="0"/>
          </a:p>
        </p:txBody>
      </p:sp>
      <p:sp>
        <p:nvSpPr>
          <p:cNvPr id="16" name="Shape 14"/>
          <p:cNvSpPr/>
          <p:nvPr/>
        </p:nvSpPr>
        <p:spPr>
          <a:xfrm>
            <a:off x="4754880" y="3483864"/>
            <a:ext cx="6812280" cy="786384"/>
          </a:xfrm>
          <a:prstGeom prst="roundRect">
            <a:avLst>
              <a:gd name="adj" fmla="val 10465"/>
            </a:avLst>
          </a:prstGeom>
          <a:solidFill>
            <a:srgbClr val="ECEAE4"/>
          </a:solidFill>
          <a:ln w="12700">
            <a:solidFill>
              <a:srgbClr val="ECEAE4"/>
            </a:solidFill>
            <a:prstDash val="solid"/>
          </a:ln>
        </p:spPr>
        <p:txBody>
          <a:bodyPr/>
          <a:p/>
        </p:txBody>
      </p:sp>
      <p:sp>
        <p:nvSpPr>
          <p:cNvPr id="17" name="Shape 15"/>
          <p:cNvSpPr/>
          <p:nvPr/>
        </p:nvSpPr>
        <p:spPr>
          <a:xfrm>
            <a:off x="4754880" y="3483864"/>
            <a:ext cx="82296" cy="786384"/>
          </a:xfrm>
          <a:prstGeom prst="rect">
            <a:avLst/>
          </a:prstGeom>
          <a:solidFill>
            <a:srgbClr val="8A6100"/>
          </a:solidFill>
          <a:ln w="12700">
            <a:solidFill>
              <a:srgbClr val="8A6100"/>
            </a:solidFill>
            <a:prstDash val="solid"/>
          </a:ln>
        </p:spPr>
        <p:txBody>
          <a:bodyPr/>
          <a:p/>
        </p:txBody>
      </p:sp>
      <p:sp>
        <p:nvSpPr>
          <p:cNvPr id="18" name="Shape 16"/>
          <p:cNvSpPr/>
          <p:nvPr/>
        </p:nvSpPr>
        <p:spPr>
          <a:xfrm>
            <a:off x="4983480" y="3666744"/>
            <a:ext cx="420624" cy="420624"/>
          </a:xfrm>
          <a:prstGeom prst="ellipse">
            <a:avLst/>
          </a:prstGeom>
          <a:solidFill>
            <a:srgbClr val="8A6100"/>
          </a:solidFill>
          <a:ln/>
        </p:spPr>
        <p:txBody>
          <a:bodyPr/>
          <a:p/>
        </p:txBody>
      </p:sp>
      <p:sp>
        <p:nvSpPr>
          <p:cNvPr id="19" name="Text 17"/>
          <p:cNvSpPr/>
          <p:nvPr/>
        </p:nvSpPr>
        <p:spPr>
          <a:xfrm>
            <a:off x="4983480" y="36667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20" name="Text 18"/>
          <p:cNvSpPr/>
          <p:nvPr/>
        </p:nvSpPr>
        <p:spPr>
          <a:xfrm>
            <a:off x="5577840" y="3483864"/>
            <a:ext cx="5852160" cy="786384"/>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255 ÷ 435 × 100 = 58,6% dintre sedări apar la copiii mai liniștiți. Evitate: 90, 145, iar împreună 175.</a:t>
            </a:r>
            <a:endParaRPr lang="en-US" sz="1400" dirty="0"/>
          </a:p>
        </p:txBody>
      </p:sp>
      <p:sp>
        <p:nvSpPr>
          <p:cNvPr id="21" name="Shape 19"/>
          <p:cNvSpPr/>
          <p:nvPr/>
        </p:nvSpPr>
        <p:spPr>
          <a:xfrm>
            <a:off x="4754880" y="4379976"/>
            <a:ext cx="6812280" cy="786384"/>
          </a:xfrm>
          <a:prstGeom prst="roundRect">
            <a:avLst>
              <a:gd name="adj" fmla="val 10465"/>
            </a:avLst>
          </a:prstGeom>
          <a:solidFill>
            <a:srgbClr val="ECEAE4"/>
          </a:solidFill>
          <a:ln w="12700">
            <a:solidFill>
              <a:srgbClr val="ECEAE4"/>
            </a:solidFill>
            <a:prstDash val="solid"/>
          </a:ln>
        </p:spPr>
        <p:txBody>
          <a:bodyPr/>
          <a:p/>
        </p:txBody>
      </p:sp>
      <p:sp>
        <p:nvSpPr>
          <p:cNvPr id="22" name="Shape 20"/>
          <p:cNvSpPr/>
          <p:nvPr/>
        </p:nvSpPr>
        <p:spPr>
          <a:xfrm>
            <a:off x="4754880" y="4379976"/>
            <a:ext cx="82296" cy="786384"/>
          </a:xfrm>
          <a:prstGeom prst="rect">
            <a:avLst/>
          </a:prstGeom>
          <a:solidFill>
            <a:srgbClr val="4A2D8C"/>
          </a:solidFill>
          <a:ln w="12700">
            <a:solidFill>
              <a:srgbClr val="4A2D8C"/>
            </a:solidFill>
            <a:prstDash val="solid"/>
          </a:ln>
        </p:spPr>
        <p:txBody>
          <a:bodyPr/>
          <a:p/>
        </p:txBody>
      </p:sp>
      <p:sp>
        <p:nvSpPr>
          <p:cNvPr id="23" name="Shape 21"/>
          <p:cNvSpPr/>
          <p:nvPr/>
        </p:nvSpPr>
        <p:spPr>
          <a:xfrm>
            <a:off x="4983480" y="4562856"/>
            <a:ext cx="420624" cy="420624"/>
          </a:xfrm>
          <a:prstGeom prst="ellipse">
            <a:avLst/>
          </a:prstGeom>
          <a:solidFill>
            <a:srgbClr val="4A2D8C"/>
          </a:solidFill>
          <a:ln/>
        </p:spPr>
        <p:txBody>
          <a:bodyPr/>
          <a:p/>
        </p:txBody>
      </p:sp>
      <p:sp>
        <p:nvSpPr>
          <p:cNvPr id="24" name="Text 22"/>
          <p:cNvSpPr/>
          <p:nvPr/>
        </p:nvSpPr>
        <p:spPr>
          <a:xfrm>
            <a:off x="4983480" y="456285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4</a:t>
            </a:r>
            <a:endParaRPr lang="en-US" sz="1400" dirty="0"/>
          </a:p>
        </p:txBody>
      </p:sp>
      <p:sp>
        <p:nvSpPr>
          <p:cNvPr id="25" name="Text 23"/>
          <p:cNvSpPr/>
          <p:nvPr/>
        </p:nvSpPr>
        <p:spPr>
          <a:xfrm>
            <a:off x="5577840" y="4379976"/>
            <a:ext cx="5852160" cy="786384"/>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Pregătire simplă pentru toți, plus pregătire intensivă pentru cei foarte speriați: cele două se completează.</a:t>
            </a:r>
            <a:endParaRPr lang="en-US" sz="1400" dirty="0"/>
          </a:p>
        </p:txBody>
      </p:sp>
      <p:sp>
        <p:nvSpPr>
          <p:cNvPr id="26" name="Shape 24"/>
          <p:cNvSpPr/>
          <p:nvPr/>
        </p:nvSpPr>
        <p:spPr>
          <a:xfrm>
            <a:off x="594360" y="5440680"/>
            <a:ext cx="10972800" cy="731520"/>
          </a:xfrm>
          <a:prstGeom prst="roundRect">
            <a:avLst>
              <a:gd name="adj" fmla="val 11250"/>
            </a:avLst>
          </a:prstGeom>
          <a:solidFill>
            <a:srgbClr val="11121A"/>
          </a:solidFill>
          <a:ln w="12700">
            <a:solidFill>
              <a:srgbClr val="11121A"/>
            </a:solidFill>
            <a:prstDash val="solid"/>
          </a:ln>
        </p:spPr>
        <p:txBody>
          <a:bodyPr/>
          <a:p/>
        </p:txBody>
      </p:sp>
      <p:sp>
        <p:nvSpPr>
          <p:cNvPr id="27" name="Text 25"/>
          <p:cNvSpPr/>
          <p:nvPr/>
        </p:nvSpPr>
        <p:spPr>
          <a:xfrm>
            <a:off x="868680" y="5440680"/>
            <a:ext cx="10424160" cy="731520"/>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Când același tip de pacient oprește aceeași examinare, puneți-vă și întrebarea laboratorului: ce putem schimba pentru toți?</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CAZUL · CEREREA SECȚIEI DE PEDIATRIE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Un pliant pentru părinți</a:t>
            </a:r>
            <a:endParaRPr lang="en-US" sz="3400" dirty="0"/>
          </a:p>
        </p:txBody>
      </p:sp>
      <p:sp>
        <p:nvSpPr>
          <p:cNvPr id="4" name="Shape 2"/>
          <p:cNvSpPr/>
          <p:nvPr/>
        </p:nvSpPr>
        <p:spPr>
          <a:xfrm>
            <a:off x="594360" y="1645920"/>
            <a:ext cx="6766560" cy="4434840"/>
          </a:xfrm>
          <a:prstGeom prst="rect">
            <a:avLst/>
          </a:prstGeom>
          <a:solidFill>
            <a:srgbClr val="FBF8F1"/>
          </a:solidFill>
          <a:ln w="9525">
            <a:solidFill>
              <a:srgbClr val="E4DFD2"/>
            </a:solidFill>
            <a:prstDash val="solid"/>
          </a:ln>
          <a:effectLst>
            <a:outerShdw sx="100000" sy="100000" kx="0" ky="0" algn="bl" rotWithShape="0" blurRad="114300" dist="50800" dir="3600000">
              <a:srgbClr val="000000">
                <a:alpha val="40000"/>
              </a:srgbClr>
            </a:outerShdw>
          </a:effectLst>
        </p:spPr>
        <p:txBody>
          <a:bodyPr/>
          <a:p/>
        </p:txBody>
      </p:sp>
      <p:sp>
        <p:nvSpPr>
          <p:cNvPr id="5" name="Text 3"/>
          <p:cNvSpPr/>
          <p:nvPr/>
        </p:nvSpPr>
        <p:spPr>
          <a:xfrm>
            <a:off x="960120" y="1874520"/>
            <a:ext cx="6035040" cy="274320"/>
          </a:xfrm>
          <a:prstGeom prst="rect">
            <a:avLst/>
          </a:prstGeom>
          <a:noFill/>
          <a:ln/>
        </p:spPr>
        <p:txBody>
          <a:bodyPr wrap="square" lIns="0" tIns="0" rIns="0" bIns="0" rtlCol="0" anchor="t"/>
          <a:lstStyle/>
          <a:p>
            <a:pPr indent="0" marL="0">
              <a:buNone/>
            </a:pPr>
            <a:r>
              <a:rPr lang="en-US" sz="1300" dirty="0">
                <a:solidFill>
                  <a:srgbClr val="585A64"/>
                </a:solidFill>
                <a:latin typeface="Palatino Linotype" pitchFamily="34" charset="0"/>
                <a:ea typeface="Palatino Linotype" pitchFamily="34" charset="-122"/>
                <a:cs typeface="Palatino Linotype" pitchFamily="34" charset="-120"/>
              </a:rPr>
              <a:t>De la: medicul-șef al secției de pediatrie</a:t>
            </a:r>
            <a:endParaRPr lang="en-US" sz="1300" dirty="0"/>
          </a:p>
        </p:txBody>
      </p:sp>
      <p:sp>
        <p:nvSpPr>
          <p:cNvPr id="6" name="Text 4"/>
          <p:cNvSpPr/>
          <p:nvPr/>
        </p:nvSpPr>
        <p:spPr>
          <a:xfrm>
            <a:off x="960120" y="2176272"/>
            <a:ext cx="6035040" cy="274320"/>
          </a:xfrm>
          <a:prstGeom prst="rect">
            <a:avLst/>
          </a:prstGeom>
          <a:noFill/>
          <a:ln/>
        </p:spPr>
        <p:txBody>
          <a:bodyPr wrap="square" lIns="0" tIns="0" rIns="0" bIns="0" rtlCol="0" anchor="t"/>
          <a:lstStyle/>
          <a:p>
            <a:pPr indent="0" marL="0">
              <a:buNone/>
            </a:pPr>
            <a:r>
              <a:rPr lang="en-US" sz="1300" dirty="0">
                <a:solidFill>
                  <a:srgbClr val="585A64"/>
                </a:solidFill>
                <a:latin typeface="Palatino Linotype" pitchFamily="34" charset="0"/>
                <a:ea typeface="Palatino Linotype" pitchFamily="34" charset="-122"/>
                <a:cs typeface="Palatino Linotype" pitchFamily="34" charset="-120"/>
              </a:rPr>
              <a:t>Către: laboratorul de imagistică</a:t>
            </a:r>
            <a:endParaRPr lang="en-US" sz="1300" dirty="0"/>
          </a:p>
        </p:txBody>
      </p:sp>
      <p:sp>
        <p:nvSpPr>
          <p:cNvPr id="7" name="Shape 5"/>
          <p:cNvSpPr/>
          <p:nvPr/>
        </p:nvSpPr>
        <p:spPr>
          <a:xfrm>
            <a:off x="960120" y="2560320"/>
            <a:ext cx="6035040" cy="18288"/>
          </a:xfrm>
          <a:prstGeom prst="rect">
            <a:avLst/>
          </a:prstGeom>
          <a:solidFill>
            <a:srgbClr val="11121A"/>
          </a:solidFill>
          <a:ln w="12700">
            <a:solidFill>
              <a:srgbClr val="11121A"/>
            </a:solidFill>
            <a:prstDash val="solid"/>
          </a:ln>
        </p:spPr>
        <p:txBody>
          <a:bodyPr/>
          <a:p/>
        </p:txBody>
      </p:sp>
      <p:sp>
        <p:nvSpPr>
          <p:cNvPr id="8" name="Text 6"/>
          <p:cNvSpPr/>
          <p:nvPr/>
        </p:nvSpPr>
        <p:spPr>
          <a:xfrm>
            <a:off x="960120" y="2743200"/>
            <a:ext cx="6035040" cy="137160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După ședința laboratorului am hotărât, împreună cu medicul coordonator, să facem ceva pentru copiii care vin la rezonanță magnetică.</a:t>
            </a:r>
            <a:endParaRPr lang="en-US" sz="1600" dirty="0"/>
          </a:p>
        </p:txBody>
      </p:sp>
      <p:sp>
        <p:nvSpPr>
          <p:cNvPr id="9" name="Shape 7"/>
          <p:cNvSpPr/>
          <p:nvPr/>
        </p:nvSpPr>
        <p:spPr>
          <a:xfrm>
            <a:off x="914400" y="4343400"/>
            <a:ext cx="6126480" cy="1188720"/>
          </a:xfrm>
          <a:prstGeom prst="rect">
            <a:avLst/>
          </a:prstGeom>
          <a:solidFill>
            <a:srgbClr val="FFE7A3"/>
          </a:solidFill>
          <a:ln w="12700">
            <a:solidFill>
              <a:srgbClr val="FFE7A3"/>
            </a:solidFill>
            <a:prstDash val="solid"/>
          </a:ln>
        </p:spPr>
        <p:txBody>
          <a:bodyPr/>
          <a:p/>
        </p:txBody>
      </p:sp>
      <p:sp>
        <p:nvSpPr>
          <p:cNvPr id="10" name="Text 8"/>
          <p:cNvSpPr/>
          <p:nvPr/>
        </p:nvSpPr>
        <p:spPr>
          <a:xfrm>
            <a:off x="1051560" y="4343400"/>
            <a:ext cx="5852160" cy="1188720"/>
          </a:xfrm>
          <a:prstGeom prst="rect">
            <a:avLst/>
          </a:prstGeom>
          <a:noFill/>
          <a:ln/>
        </p:spPr>
        <p:txBody>
          <a:bodyPr wrap="square" lIns="0" tIns="0" rIns="0" bIns="0" rtlCol="0" anchor="ctr"/>
          <a:lstStyle/>
          <a:p>
            <a:pPr indent="0" marL="0">
              <a:buNone/>
            </a:pPr>
            <a:r>
              <a:rPr lang="en-US" sz="1700" b="1" i="1" dirty="0">
                <a:solidFill>
                  <a:srgbClr val="11121A"/>
                </a:solidFill>
                <a:latin typeface="Palatino Linotype" pitchFamily="34" charset="0"/>
                <a:ea typeface="Palatino Linotype" pitchFamily="34" charset="-122"/>
                <a:cs typeface="Palatino Linotype" pitchFamily="34" charset="-120"/>
              </a:rPr>
              <a:t>Propun „un pliant pentru părinți, dat la internare, cu ce trebuie să știe despre rezonanța magnetică”.</a:t>
            </a:r>
            <a:endParaRPr lang="en-US" sz="1700" dirty="0"/>
          </a:p>
        </p:txBody>
      </p:sp>
      <p:sp>
        <p:nvSpPr>
          <p:cNvPr id="11" name="Shape 9"/>
          <p:cNvSpPr/>
          <p:nvPr/>
        </p:nvSpPr>
        <p:spPr>
          <a:xfrm>
            <a:off x="7635240" y="1645920"/>
            <a:ext cx="3931920" cy="2148840"/>
          </a:xfrm>
          <a:prstGeom prst="roundRect">
            <a:avLst>
              <a:gd name="adj" fmla="val 3830"/>
            </a:avLst>
          </a:prstGeom>
          <a:solidFill>
            <a:srgbClr val="FF4757"/>
          </a:solidFill>
          <a:ln w="12700">
            <a:solidFill>
              <a:srgbClr val="FF4757"/>
            </a:solidFill>
            <a:prstDash val="solid"/>
          </a:ln>
        </p:spPr>
        <p:txBody>
          <a:bodyPr/>
          <a:p/>
        </p:txBody>
      </p:sp>
      <p:sp>
        <p:nvSpPr>
          <p:cNvPr id="12" name="Text 10"/>
          <p:cNvSpPr/>
          <p:nvPr/>
        </p:nvSpPr>
        <p:spPr>
          <a:xfrm>
            <a:off x="7909560" y="1645920"/>
            <a:ext cx="3383280" cy="2148840"/>
          </a:xfrm>
          <a:prstGeom prst="rect">
            <a:avLst/>
          </a:prstGeom>
          <a:noFill/>
          <a:ln/>
        </p:spPr>
        <p:txBody>
          <a:bodyPr wrap="square" lIns="0" tIns="0" rIns="0" bIns="0" rtlCol="0" anchor="ctr"/>
          <a:lstStyle/>
          <a:p>
            <a:pPr indent="0" marL="0">
              <a:buNone/>
            </a:pPr>
            <a:r>
              <a:rPr lang="en-US" sz="1900" b="1" dirty="0">
                <a:solidFill>
                  <a:srgbClr val="2E060B"/>
                </a:solidFill>
                <a:latin typeface="Palatino Linotype" pitchFamily="34" charset="0"/>
                <a:ea typeface="Palatino Linotype" pitchFamily="34" charset="-122"/>
                <a:cs typeface="Palatino Linotype" pitchFamily="34" charset="-120"/>
              </a:rPr>
              <a:t>Ce vrem să se schimbe pentru copiii care vin la examinare și cum vom ști dacă s-a schimbat?</a:t>
            </a:r>
            <a:endParaRPr lang="en-US" sz="1900" dirty="0"/>
          </a:p>
        </p:txBody>
      </p:sp>
      <p:sp>
        <p:nvSpPr>
          <p:cNvPr id="13" name="Shape 11"/>
          <p:cNvSpPr/>
          <p:nvPr/>
        </p:nvSpPr>
        <p:spPr>
          <a:xfrm>
            <a:off x="7635240" y="3977640"/>
            <a:ext cx="3931920" cy="2103120"/>
          </a:xfrm>
          <a:prstGeom prst="roundRect">
            <a:avLst>
              <a:gd name="adj" fmla="val 3913"/>
            </a:avLst>
          </a:prstGeom>
          <a:solidFill>
            <a:srgbClr val="1D1F2B"/>
          </a:solidFill>
          <a:ln w="12700">
            <a:solidFill>
              <a:srgbClr val="1D1F2B"/>
            </a:solidFill>
            <a:prstDash val="solid"/>
          </a:ln>
        </p:spPr>
        <p:txBody>
          <a:bodyPr/>
          <a:p/>
        </p:txBody>
      </p:sp>
      <p:sp>
        <p:nvSpPr>
          <p:cNvPr id="14" name="Text 12"/>
          <p:cNvSpPr/>
          <p:nvPr/>
        </p:nvSpPr>
        <p:spPr>
          <a:xfrm>
            <a:off x="7909560" y="3977640"/>
            <a:ext cx="3383280" cy="210312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Un pliant dat la internare este informare, nu încă educație pentru sănătate. Ajunge la părinte, nu la copil, și ajunge târziu.</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AL TREILEA TERMEN NOU</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Pregătirea pacientului pentru examinare</a:t>
            </a:r>
            <a:endParaRPr lang="en-US" sz="3000" dirty="0"/>
          </a:p>
        </p:txBody>
      </p:sp>
      <p:sp>
        <p:nvSpPr>
          <p:cNvPr id="4" name="Shape 2"/>
          <p:cNvSpPr/>
          <p:nvPr/>
        </p:nvSpPr>
        <p:spPr>
          <a:xfrm>
            <a:off x="594360" y="1737360"/>
            <a:ext cx="5349240" cy="4251960"/>
          </a:xfrm>
          <a:prstGeom prst="roundRect">
            <a:avLst>
              <a:gd name="adj" fmla="val 1935"/>
            </a:avLst>
          </a:prstGeom>
          <a:solidFill>
            <a:srgbClr val="1D1F2B"/>
          </a:solidFill>
          <a:ln w="12700">
            <a:solidFill>
              <a:srgbClr val="1D1F2B"/>
            </a:solidFill>
            <a:prstDash val="solid"/>
          </a:ln>
        </p:spPr>
        <p:txBody>
          <a:bodyPr/>
          <a:p/>
        </p:txBody>
      </p:sp>
      <p:sp>
        <p:nvSpPr>
          <p:cNvPr id="5" name="Shape 3"/>
          <p:cNvSpPr/>
          <p:nvPr/>
        </p:nvSpPr>
        <p:spPr>
          <a:xfrm>
            <a:off x="594360" y="1737360"/>
            <a:ext cx="82296" cy="4251960"/>
          </a:xfrm>
          <a:prstGeom prst="rect">
            <a:avLst/>
          </a:prstGeom>
          <a:solidFill>
            <a:srgbClr val="FF4757"/>
          </a:solidFill>
          <a:ln w="12700">
            <a:solidFill>
              <a:srgbClr val="FF4757"/>
            </a:solidFill>
            <a:prstDash val="solid"/>
          </a:ln>
        </p:spPr>
        <p:txBody>
          <a:bodyPr/>
          <a:p/>
        </p:txBody>
      </p:sp>
      <p:sp>
        <p:nvSpPr>
          <p:cNvPr id="6" name="Text 4"/>
          <p:cNvSpPr/>
          <p:nvPr/>
        </p:nvSpPr>
        <p:spPr>
          <a:xfrm>
            <a:off x="914400" y="1920240"/>
            <a:ext cx="4846320" cy="274320"/>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TERMENUL 3 · PREGĂTIREA</a:t>
            </a:r>
            <a:endParaRPr lang="en-US" sz="1300" dirty="0"/>
          </a:p>
        </p:txBody>
      </p:sp>
      <p:sp>
        <p:nvSpPr>
          <p:cNvPr id="7" name="Text 5"/>
          <p:cNvSpPr/>
          <p:nvPr/>
        </p:nvSpPr>
        <p:spPr>
          <a:xfrm>
            <a:off x="914400" y="2377440"/>
            <a:ext cx="4754880" cy="1828800"/>
          </a:xfrm>
          <a:prstGeom prst="rect">
            <a:avLst/>
          </a:prstGeom>
          <a:noFill/>
          <a:ln/>
        </p:spPr>
        <p:txBody>
          <a:bodyPr wrap="square" lIns="0" tIns="0" rIns="0" bIns="0" rtlCol="0" anchor="t"/>
          <a:lstStyle/>
          <a:p>
            <a:pPr indent="0" marL="0">
              <a:buNone/>
            </a:pPr>
            <a:r>
              <a:rPr lang="en-US" sz="2000" b="1" dirty="0">
                <a:solidFill>
                  <a:srgbClr val="FFFFFF"/>
                </a:solidFill>
                <a:latin typeface="Palatino Linotype" pitchFamily="34" charset="0"/>
                <a:ea typeface="Palatino Linotype" pitchFamily="34" charset="-122"/>
                <a:cs typeface="Palatino Linotype" pitchFamily="34" charset="-120"/>
              </a:rPr>
              <a:t>Tot ce face echipa, fără medicamente, ca pacientul să știe ce urmează, să se simtă în siguranță și să poată coopera.</a:t>
            </a:r>
            <a:endParaRPr lang="en-US" sz="2000" dirty="0"/>
          </a:p>
        </p:txBody>
      </p:sp>
      <p:sp>
        <p:nvSpPr>
          <p:cNvPr id="8" name="Text 6"/>
          <p:cNvSpPr/>
          <p:nvPr/>
        </p:nvSpPr>
        <p:spPr>
          <a:xfrm>
            <a:off x="914400" y="4343400"/>
            <a:ext cx="4754880" cy="1554480"/>
          </a:xfrm>
          <a:prstGeom prst="rect">
            <a:avLst/>
          </a:prstGeom>
          <a:noFill/>
          <a:ln/>
        </p:spPr>
        <p:txBody>
          <a:bodyPr wrap="square" lIns="0" tIns="0" rIns="0" bIns="0" rtlCol="0" anchor="t"/>
          <a:lstStyle/>
          <a:p>
            <a:pPr indent="0" marL="0">
              <a:buNone/>
            </a:pPr>
            <a:r>
              <a:rPr lang="en-US" sz="1500" dirty="0">
                <a:solidFill>
                  <a:srgbClr val="D5D8E2"/>
                </a:solidFill>
                <a:latin typeface="Palatino Linotype" pitchFamily="34" charset="0"/>
                <a:ea typeface="Palatino Linotype" pitchFamily="34" charset="-122"/>
                <a:cs typeface="Palatino Linotype" pitchFamily="34" charset="-120"/>
              </a:rPr>
              <a:t>Copilului i se arată și i se dă ocazia să exerseze, nu doar i se spune. Părintele trebuie să știe ce îi poate spune copilului și ce nu.</a:t>
            </a:r>
            <a:endParaRPr lang="en-US" sz="1500" dirty="0"/>
          </a:p>
        </p:txBody>
      </p:sp>
      <p:sp>
        <p:nvSpPr>
          <p:cNvPr id="9" name="Shape 7"/>
          <p:cNvSpPr/>
          <p:nvPr/>
        </p:nvSpPr>
        <p:spPr>
          <a:xfrm>
            <a:off x="6217920" y="1737360"/>
            <a:ext cx="5349240" cy="960120"/>
          </a:xfrm>
          <a:prstGeom prst="roundRect">
            <a:avLst>
              <a:gd name="adj" fmla="val 8571"/>
            </a:avLst>
          </a:prstGeom>
          <a:solidFill>
            <a:srgbClr val="1D1F2B"/>
          </a:solidFill>
          <a:ln w="12700">
            <a:solidFill>
              <a:srgbClr val="1D1F2B"/>
            </a:solidFill>
            <a:prstDash val="solid"/>
          </a:ln>
        </p:spPr>
        <p:txBody>
          <a:bodyPr/>
          <a:p/>
        </p:txBody>
      </p:sp>
      <p:sp>
        <p:nvSpPr>
          <p:cNvPr id="10" name="Shape 8"/>
          <p:cNvSpPr/>
          <p:nvPr/>
        </p:nvSpPr>
        <p:spPr>
          <a:xfrm>
            <a:off x="6492240" y="2007108"/>
            <a:ext cx="420624" cy="420624"/>
          </a:xfrm>
          <a:prstGeom prst="ellipse">
            <a:avLst/>
          </a:prstGeom>
          <a:solidFill>
            <a:srgbClr val="27D3BE"/>
          </a:solidFill>
          <a:ln/>
        </p:spPr>
        <p:txBody>
          <a:bodyPr/>
          <a:p/>
        </p:txBody>
      </p:sp>
      <p:sp>
        <p:nvSpPr>
          <p:cNvPr id="11" name="Text 9"/>
          <p:cNvSpPr/>
          <p:nvPr/>
        </p:nvSpPr>
        <p:spPr>
          <a:xfrm>
            <a:off x="6492240" y="2007108"/>
            <a:ext cx="420624" cy="420624"/>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1</a:t>
            </a:r>
            <a:endParaRPr lang="en-US" sz="1400" dirty="0"/>
          </a:p>
        </p:txBody>
      </p:sp>
      <p:sp>
        <p:nvSpPr>
          <p:cNvPr id="12" name="Text 10"/>
          <p:cNvSpPr/>
          <p:nvPr/>
        </p:nvSpPr>
        <p:spPr>
          <a:xfrm>
            <a:off x="7132320" y="1737360"/>
            <a:ext cx="4206240" cy="96012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Aparatul-machetă: o copie a aparatului, fără câmp magnetic, în care copilul exersează</a:t>
            </a:r>
            <a:endParaRPr lang="en-US" sz="1500" dirty="0"/>
          </a:p>
        </p:txBody>
      </p:sp>
      <p:sp>
        <p:nvSpPr>
          <p:cNvPr id="13" name="Shape 11"/>
          <p:cNvSpPr/>
          <p:nvPr/>
        </p:nvSpPr>
        <p:spPr>
          <a:xfrm>
            <a:off x="6217920" y="2834640"/>
            <a:ext cx="5349240" cy="960120"/>
          </a:xfrm>
          <a:prstGeom prst="roundRect">
            <a:avLst>
              <a:gd name="adj" fmla="val 8571"/>
            </a:avLst>
          </a:prstGeom>
          <a:solidFill>
            <a:srgbClr val="1D1F2B"/>
          </a:solidFill>
          <a:ln w="12700">
            <a:solidFill>
              <a:srgbClr val="1D1F2B"/>
            </a:solidFill>
            <a:prstDash val="solid"/>
          </a:ln>
        </p:spPr>
        <p:txBody>
          <a:bodyPr/>
          <a:p/>
        </p:txBody>
      </p:sp>
      <p:sp>
        <p:nvSpPr>
          <p:cNvPr id="14" name="Shape 12"/>
          <p:cNvSpPr/>
          <p:nvPr/>
        </p:nvSpPr>
        <p:spPr>
          <a:xfrm>
            <a:off x="6492240" y="3104388"/>
            <a:ext cx="420624" cy="420624"/>
          </a:xfrm>
          <a:prstGeom prst="ellipse">
            <a:avLst/>
          </a:prstGeom>
          <a:solidFill>
            <a:srgbClr val="27D3BE"/>
          </a:solidFill>
          <a:ln/>
        </p:spPr>
        <p:txBody>
          <a:bodyPr/>
          <a:p/>
        </p:txBody>
      </p:sp>
      <p:sp>
        <p:nvSpPr>
          <p:cNvPr id="15" name="Text 13"/>
          <p:cNvSpPr/>
          <p:nvPr/>
        </p:nvSpPr>
        <p:spPr>
          <a:xfrm>
            <a:off x="6492240" y="3104388"/>
            <a:ext cx="420624" cy="420624"/>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2</a:t>
            </a:r>
            <a:endParaRPr lang="en-US" sz="1400" dirty="0"/>
          </a:p>
        </p:txBody>
      </p:sp>
      <p:sp>
        <p:nvSpPr>
          <p:cNvPr id="16" name="Text 14"/>
          <p:cNvSpPr/>
          <p:nvPr/>
        </p:nvSpPr>
        <p:spPr>
          <a:xfrm>
            <a:off x="7132320" y="2834640"/>
            <a:ext cx="4206240" cy="96012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Broșuri explicative și cărți cu imagini</a:t>
            </a:r>
            <a:endParaRPr lang="en-US" sz="1500" dirty="0"/>
          </a:p>
        </p:txBody>
      </p:sp>
      <p:sp>
        <p:nvSpPr>
          <p:cNvPr id="17" name="Shape 15"/>
          <p:cNvSpPr/>
          <p:nvPr/>
        </p:nvSpPr>
        <p:spPr>
          <a:xfrm>
            <a:off x="6217920" y="3931920"/>
            <a:ext cx="5349240" cy="960120"/>
          </a:xfrm>
          <a:prstGeom prst="roundRect">
            <a:avLst>
              <a:gd name="adj" fmla="val 8571"/>
            </a:avLst>
          </a:prstGeom>
          <a:solidFill>
            <a:srgbClr val="1D1F2B"/>
          </a:solidFill>
          <a:ln w="12700">
            <a:solidFill>
              <a:srgbClr val="1D1F2B"/>
            </a:solidFill>
            <a:prstDash val="solid"/>
          </a:ln>
        </p:spPr>
        <p:txBody>
          <a:bodyPr/>
          <a:p/>
        </p:txBody>
      </p:sp>
      <p:sp>
        <p:nvSpPr>
          <p:cNvPr id="18" name="Shape 16"/>
          <p:cNvSpPr/>
          <p:nvPr/>
        </p:nvSpPr>
        <p:spPr>
          <a:xfrm>
            <a:off x="6492240" y="4201668"/>
            <a:ext cx="420624" cy="420624"/>
          </a:xfrm>
          <a:prstGeom prst="ellipse">
            <a:avLst/>
          </a:prstGeom>
          <a:solidFill>
            <a:srgbClr val="27D3BE"/>
          </a:solidFill>
          <a:ln/>
        </p:spPr>
        <p:txBody>
          <a:bodyPr/>
          <a:p/>
        </p:txBody>
      </p:sp>
      <p:sp>
        <p:nvSpPr>
          <p:cNvPr id="19" name="Text 17"/>
          <p:cNvSpPr/>
          <p:nvPr/>
        </p:nvSpPr>
        <p:spPr>
          <a:xfrm>
            <a:off x="6492240" y="4201668"/>
            <a:ext cx="420624" cy="420624"/>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3</a:t>
            </a:r>
            <a:endParaRPr lang="en-US" sz="1400" dirty="0"/>
          </a:p>
        </p:txBody>
      </p:sp>
      <p:sp>
        <p:nvSpPr>
          <p:cNvPr id="20" name="Text 18"/>
          <p:cNvSpPr/>
          <p:nvPr/>
        </p:nvSpPr>
        <p:spPr>
          <a:xfrm>
            <a:off x="7132320" y="3931920"/>
            <a:ext cx="4206240" cy="96012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Sunetele aparatului, ascultate acasă, cu părintele alături</a:t>
            </a:r>
            <a:endParaRPr lang="en-US" sz="1500" dirty="0"/>
          </a:p>
        </p:txBody>
      </p:sp>
      <p:sp>
        <p:nvSpPr>
          <p:cNvPr id="21" name="Shape 19"/>
          <p:cNvSpPr/>
          <p:nvPr/>
        </p:nvSpPr>
        <p:spPr>
          <a:xfrm>
            <a:off x="6217920" y="5029200"/>
            <a:ext cx="5349240" cy="960120"/>
          </a:xfrm>
          <a:prstGeom prst="roundRect">
            <a:avLst>
              <a:gd name="adj" fmla="val 8571"/>
            </a:avLst>
          </a:prstGeom>
          <a:solidFill>
            <a:srgbClr val="1D1F2B"/>
          </a:solidFill>
          <a:ln w="12700">
            <a:solidFill>
              <a:srgbClr val="1D1F2B"/>
            </a:solidFill>
            <a:prstDash val="solid"/>
          </a:ln>
        </p:spPr>
        <p:txBody>
          <a:bodyPr/>
          <a:p/>
        </p:txBody>
      </p:sp>
      <p:sp>
        <p:nvSpPr>
          <p:cNvPr id="22" name="Shape 20"/>
          <p:cNvSpPr/>
          <p:nvPr/>
        </p:nvSpPr>
        <p:spPr>
          <a:xfrm>
            <a:off x="6492240" y="5298948"/>
            <a:ext cx="420624" cy="420624"/>
          </a:xfrm>
          <a:prstGeom prst="ellipse">
            <a:avLst/>
          </a:prstGeom>
          <a:solidFill>
            <a:srgbClr val="27D3BE"/>
          </a:solidFill>
          <a:ln/>
        </p:spPr>
        <p:txBody>
          <a:bodyPr/>
          <a:p/>
        </p:txBody>
      </p:sp>
      <p:sp>
        <p:nvSpPr>
          <p:cNvPr id="23" name="Text 21"/>
          <p:cNvSpPr/>
          <p:nvPr/>
        </p:nvSpPr>
        <p:spPr>
          <a:xfrm>
            <a:off x="6492240" y="5298948"/>
            <a:ext cx="420624" cy="420624"/>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4</a:t>
            </a:r>
            <a:endParaRPr lang="en-US" sz="1400" dirty="0"/>
          </a:p>
        </p:txBody>
      </p:sp>
      <p:sp>
        <p:nvSpPr>
          <p:cNvPr id="24" name="Text 22"/>
          <p:cNvSpPr/>
          <p:nvPr/>
        </p:nvSpPr>
        <p:spPr>
          <a:xfrm>
            <a:off x="7132320" y="5029200"/>
            <a:ext cx="4206240" cy="96012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Vizita în sala aparatului, înainte de ziua examinării</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SALA ÎN DOUĂ TABERE</a:t>
            </a:r>
            <a:endParaRPr lang="en-US" sz="1300" dirty="0"/>
          </a:p>
        </p:txBody>
      </p:sp>
      <p:sp>
        <p:nvSpPr>
          <p:cNvPr id="4" name="Text 2"/>
          <p:cNvSpPr/>
          <p:nvPr/>
        </p:nvSpPr>
        <p:spPr>
          <a:xfrm>
            <a:off x="594360" y="347472"/>
            <a:ext cx="73152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AFIRMAȚIE DE VERIFICAT</a:t>
            </a:r>
            <a:endParaRPr lang="en-US" sz="1300" dirty="0"/>
          </a:p>
        </p:txBody>
      </p:sp>
      <p:sp>
        <p:nvSpPr>
          <p:cNvPr id="5" name="Text 3"/>
          <p:cNvSpPr/>
          <p:nvPr/>
        </p:nvSpPr>
        <p:spPr>
          <a:xfrm>
            <a:off x="594360" y="868680"/>
            <a:ext cx="10972800" cy="1417320"/>
          </a:xfrm>
          <a:prstGeom prst="rect">
            <a:avLst/>
          </a:prstGeom>
          <a:noFill/>
          <a:ln/>
        </p:spPr>
        <p:txBody>
          <a:bodyPr wrap="square" lIns="0" tIns="0" rIns="0" bIns="0" rtlCol="0" anchor="ctr"/>
          <a:lstStyle/>
          <a:p>
            <a:pPr indent="0" marL="0">
              <a:buNone/>
            </a:pPr>
            <a:r>
              <a:rPr lang="en-US" sz="3100" b="1" dirty="0">
                <a:solidFill>
                  <a:srgbClr val="FFFFFF"/>
                </a:solidFill>
                <a:latin typeface="Palatino Linotype" pitchFamily="34" charset="0"/>
                <a:ea typeface="Palatino Linotype" pitchFamily="34" charset="-122"/>
                <a:cs typeface="Palatino Linotype" pitchFamily="34" charset="-120"/>
              </a:rPr>
              <a:t>„Dacă pregătim bine copiii, nu mai este nevoie de anestezie la rezonanța magnetică.”</a:t>
            </a:r>
            <a:endParaRPr lang="en-US" sz="3100" dirty="0"/>
          </a:p>
        </p:txBody>
      </p:sp>
      <p:sp>
        <p:nvSpPr>
          <p:cNvPr id="6" name="Shape 4"/>
          <p:cNvSpPr/>
          <p:nvPr/>
        </p:nvSpPr>
        <p:spPr>
          <a:xfrm>
            <a:off x="594360" y="2514600"/>
            <a:ext cx="5349240" cy="960120"/>
          </a:xfrm>
          <a:prstGeom prst="roundRect">
            <a:avLst>
              <a:gd name="adj" fmla="val 8571"/>
            </a:avLst>
          </a:prstGeom>
          <a:solidFill>
            <a:srgbClr val="1D1F2B"/>
          </a:solidFill>
          <a:ln w="12700">
            <a:solidFill>
              <a:srgbClr val="1D1F2B"/>
            </a:solidFill>
            <a:prstDash val="solid"/>
          </a:ln>
        </p:spPr>
        <p:txBody>
          <a:bodyPr/>
          <a:p/>
        </p:txBody>
      </p:sp>
      <p:sp>
        <p:nvSpPr>
          <p:cNvPr id="7" name="Shape 5"/>
          <p:cNvSpPr/>
          <p:nvPr/>
        </p:nvSpPr>
        <p:spPr>
          <a:xfrm>
            <a:off x="594360" y="2514600"/>
            <a:ext cx="82296" cy="960120"/>
          </a:xfrm>
          <a:prstGeom prst="rect">
            <a:avLst/>
          </a:prstGeom>
          <a:solidFill>
            <a:srgbClr val="27D3BE"/>
          </a:solidFill>
          <a:ln w="12700">
            <a:solidFill>
              <a:srgbClr val="27D3BE"/>
            </a:solidFill>
            <a:prstDash val="solid"/>
          </a:ln>
        </p:spPr>
        <p:txBody>
          <a:bodyPr/>
          <a:p/>
        </p:txBody>
      </p:sp>
      <p:sp>
        <p:nvSpPr>
          <p:cNvPr id="8" name="Text 6"/>
          <p:cNvSpPr/>
          <p:nvPr/>
        </p:nvSpPr>
        <p:spPr>
          <a:xfrm>
            <a:off x="914400" y="2514600"/>
            <a:ext cx="4846320" cy="960120"/>
          </a:xfrm>
          <a:prstGeom prst="rect">
            <a:avLst/>
          </a:prstGeom>
          <a:noFill/>
          <a:ln/>
        </p:spPr>
        <p:txBody>
          <a:bodyPr wrap="square" lIns="0" tIns="0" rIns="0" bIns="0" rtlCol="0" anchor="ctr"/>
          <a:lstStyle/>
          <a:p>
            <a:pPr indent="0" marL="0">
              <a:buNone/>
            </a:pPr>
            <a:r>
              <a:rPr lang="en-US" sz="1800" b="1" dirty="0">
                <a:solidFill>
                  <a:srgbClr val="27D3BE"/>
                </a:solidFill>
                <a:latin typeface="Palatino Linotype" pitchFamily="34" charset="0"/>
                <a:ea typeface="Palatino Linotype" pitchFamily="34" charset="-122"/>
                <a:cs typeface="Palatino Linotype" pitchFamily="34" charset="-120"/>
              </a:rPr>
              <a:t>O CRED  ·  partea stângă a sălii</a:t>
            </a:r>
            <a:endParaRPr lang="en-US" sz="1800" dirty="0"/>
          </a:p>
        </p:txBody>
      </p:sp>
      <p:sp>
        <p:nvSpPr>
          <p:cNvPr id="9" name="Shape 7"/>
          <p:cNvSpPr/>
          <p:nvPr/>
        </p:nvSpPr>
        <p:spPr>
          <a:xfrm>
            <a:off x="6217920" y="2514600"/>
            <a:ext cx="5349240" cy="960120"/>
          </a:xfrm>
          <a:prstGeom prst="roundRect">
            <a:avLst>
              <a:gd name="adj" fmla="val 8571"/>
            </a:avLst>
          </a:prstGeom>
          <a:solidFill>
            <a:srgbClr val="1D1F2B"/>
          </a:solidFill>
          <a:ln w="12700">
            <a:solidFill>
              <a:srgbClr val="1D1F2B"/>
            </a:solidFill>
            <a:prstDash val="solid"/>
          </a:ln>
        </p:spPr>
        <p:txBody>
          <a:bodyPr/>
          <a:p/>
        </p:txBody>
      </p:sp>
      <p:sp>
        <p:nvSpPr>
          <p:cNvPr id="10" name="Shape 8"/>
          <p:cNvSpPr/>
          <p:nvPr/>
        </p:nvSpPr>
        <p:spPr>
          <a:xfrm>
            <a:off x="6217920" y="2514600"/>
            <a:ext cx="82296" cy="960120"/>
          </a:xfrm>
          <a:prstGeom prst="rect">
            <a:avLst/>
          </a:prstGeom>
          <a:solidFill>
            <a:srgbClr val="FF4757"/>
          </a:solidFill>
          <a:ln w="12700">
            <a:solidFill>
              <a:srgbClr val="FF4757"/>
            </a:solidFill>
            <a:prstDash val="solid"/>
          </a:ln>
        </p:spPr>
        <p:txBody>
          <a:bodyPr/>
          <a:p/>
        </p:txBody>
      </p:sp>
      <p:sp>
        <p:nvSpPr>
          <p:cNvPr id="11" name="Text 9"/>
          <p:cNvSpPr/>
          <p:nvPr/>
        </p:nvSpPr>
        <p:spPr>
          <a:xfrm>
            <a:off x="6537960" y="2514600"/>
            <a:ext cx="4846320" cy="960120"/>
          </a:xfrm>
          <a:prstGeom prst="rect">
            <a:avLst/>
          </a:prstGeom>
          <a:noFill/>
          <a:ln/>
        </p:spPr>
        <p:txBody>
          <a:bodyPr wrap="square" lIns="0" tIns="0" rIns="0" bIns="0" rtlCol="0" anchor="ctr"/>
          <a:lstStyle/>
          <a:p>
            <a:pPr indent="0" marL="0">
              <a:buNone/>
            </a:pPr>
            <a:r>
              <a:rPr lang="en-US" sz="1800" b="1" dirty="0">
                <a:solidFill>
                  <a:srgbClr val="FF4757"/>
                </a:solidFill>
                <a:latin typeface="Palatino Linotype" pitchFamily="34" charset="0"/>
                <a:ea typeface="Palatino Linotype" pitchFamily="34" charset="-122"/>
                <a:cs typeface="Palatino Linotype" pitchFamily="34" charset="-120"/>
              </a:rPr>
              <a:t>NU O CRED  ·  partea dreaptă a sălii</a:t>
            </a:r>
            <a:endParaRPr lang="en-US" sz="1800" dirty="0"/>
          </a:p>
        </p:txBody>
      </p:sp>
      <p:sp>
        <p:nvSpPr>
          <p:cNvPr id="12" name="Text 10"/>
          <p:cNvSpPr/>
          <p:nvPr/>
        </p:nvSpPr>
        <p:spPr>
          <a:xfrm>
            <a:off x="594360" y="3611880"/>
            <a:ext cx="10972800" cy="365760"/>
          </a:xfrm>
          <a:prstGeom prst="rect">
            <a:avLst/>
          </a:prstGeom>
          <a:noFill/>
          <a:ln/>
        </p:spPr>
        <p:txBody>
          <a:bodyPr wrap="square" lIns="0" tIns="0" rIns="0" bIns="0" rtlCol="0" anchor="t"/>
          <a:lstStyle/>
          <a:p>
            <a:pPr indent="0" marL="0">
              <a:buNone/>
            </a:pPr>
            <a:r>
              <a:rPr lang="en-US" sz="1600" i="1" dirty="0">
                <a:solidFill>
                  <a:srgbClr val="959BB0"/>
                </a:solidFill>
                <a:latin typeface="Palatino Linotype" pitchFamily="34" charset="0"/>
                <a:ea typeface="Palatino Linotype" pitchFamily="34" charset="-122"/>
                <a:cs typeface="Palatino Linotype" pitchFamily="34" charset="-120"/>
              </a:rPr>
              <a:t>Câte un voluntar din fiecare tabără își spune argumentul într-un minut.</a:t>
            </a:r>
            <a:endParaRPr lang="en-US" sz="1600" dirty="0"/>
          </a:p>
        </p:txBody>
      </p:sp>
      <p:sp>
        <p:nvSpPr>
          <p:cNvPr id="13" name="Shape 11"/>
          <p:cNvSpPr/>
          <p:nvPr/>
        </p:nvSpPr>
        <p:spPr>
          <a:xfrm>
            <a:off x="594360" y="4206240"/>
            <a:ext cx="10972800" cy="1965960"/>
          </a:xfrm>
          <a:prstGeom prst="roundRect">
            <a:avLst>
              <a:gd name="adj" fmla="val 4186"/>
            </a:avLst>
          </a:prstGeom>
          <a:solidFill>
            <a:srgbClr val="272A38"/>
          </a:solidFill>
          <a:ln w="12700">
            <a:solidFill>
              <a:srgbClr val="272A38"/>
            </a:solidFill>
            <a:prstDash val="solid"/>
          </a:ln>
        </p:spPr>
        <p:txBody>
          <a:bodyPr/>
          <a:p/>
        </p:txBody>
      </p:sp>
      <p:sp>
        <p:nvSpPr>
          <p:cNvPr id="14" name="Text 12"/>
          <p:cNvSpPr/>
          <p:nvPr/>
        </p:nvSpPr>
        <p:spPr>
          <a:xfrm>
            <a:off x="868680" y="4206240"/>
            <a:ext cx="5394960" cy="1965960"/>
          </a:xfrm>
          <a:prstGeom prst="rect">
            <a:avLst/>
          </a:prstGeom>
          <a:noFill/>
          <a:ln/>
        </p:spPr>
        <p:txBody>
          <a:bodyPr wrap="square" lIns="0" tIns="0" rIns="0" bIns="0" rtlCol="0" anchor="ctr"/>
          <a:lstStyle/>
          <a:p>
            <a:pPr indent="0" marL="0">
              <a:buNone/>
            </a:pPr>
            <a:r>
              <a:rPr lang="en-US" sz="4800" b="1" dirty="0">
                <a:solidFill>
                  <a:srgbClr val="FFC24B"/>
                </a:solidFill>
                <a:latin typeface="Palatino Linotype" pitchFamily="34" charset="0"/>
                <a:ea typeface="Palatino Linotype" pitchFamily="34" charset="-122"/>
                <a:cs typeface="Palatino Linotype" pitchFamily="34" charset="-120"/>
              </a:rPr>
              <a:t>45 de minute</a:t>
            </a:r>
            <a:endParaRPr lang="en-US" sz="4800" dirty="0"/>
          </a:p>
        </p:txBody>
      </p:sp>
      <p:sp>
        <p:nvSpPr>
          <p:cNvPr id="15" name="Text 13"/>
          <p:cNvSpPr/>
          <p:nvPr/>
        </p:nvSpPr>
        <p:spPr>
          <a:xfrm>
            <a:off x="6400800" y="4206240"/>
            <a:ext cx="4937760" cy="196596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sau mai mult: cât poate cere examinarea unui copil să stea nemișcat, într-un tunel lung și îngust care face zgomote puternice.</a:t>
            </a:r>
            <a:endParaRPr lang="en-US" sz="1700" dirty="0"/>
          </a:p>
        </p:txBody>
      </p:sp>
      <p:sp>
        <p:nvSpPr>
          <p:cNvPr id="16" name="Text 14"/>
          <p:cNvSpPr/>
          <p:nvPr/>
        </p:nvSpPr>
        <p:spPr>
          <a:xfrm>
            <a:off x="594360" y="6355080"/>
            <a:ext cx="10972800" cy="274320"/>
          </a:xfrm>
          <a:prstGeom prst="rect">
            <a:avLst/>
          </a:prstGeom>
          <a:noFill/>
          <a:ln/>
        </p:spPr>
        <p:txBody>
          <a:bodyPr wrap="square" lIns="0" tIns="0" rIns="0" bIns="0" rtlCol="0" anchor="ctr"/>
          <a:lstStyle/>
          <a:p>
            <a:pPr indent="0" marL="0">
              <a:buNone/>
            </a:pPr>
            <a:r>
              <a:rPr lang="en-US" sz="1100" i="1" dirty="0">
                <a:solidFill>
                  <a:srgbClr val="8E94A8"/>
                </a:solidFill>
                <a:latin typeface="Palatino Linotype" pitchFamily="34" charset="0"/>
                <a:ea typeface="Palatino Linotype" pitchFamily="34" charset="-122"/>
                <a:cs typeface="Palatino Linotype" pitchFamily="34" charset="-120"/>
              </a:rPr>
              <a:t>Protocolul unei recenzii daneze a studiilor despre rezonanța magnetică la copii.</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RĂSPUNS · VERDICTUL TABERELOR</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Ce spun două recenzii din 2023</a:t>
            </a:r>
            <a:endParaRPr lang="en-US" sz="3200" dirty="0"/>
          </a:p>
        </p:txBody>
      </p:sp>
      <p:sp>
        <p:nvSpPr>
          <p:cNvPr id="4" name="Shape 2"/>
          <p:cNvSpPr/>
          <p:nvPr/>
        </p:nvSpPr>
        <p:spPr>
          <a:xfrm>
            <a:off x="594360" y="1691640"/>
            <a:ext cx="5669280" cy="3429000"/>
          </a:xfrm>
          <a:prstGeom prst="roundRect">
            <a:avLst>
              <a:gd name="adj" fmla="val 2400"/>
            </a:avLst>
          </a:prstGeom>
          <a:solidFill>
            <a:srgbClr val="11121A"/>
          </a:solidFill>
          <a:ln w="12700">
            <a:solidFill>
              <a:srgbClr val="11121A"/>
            </a:solidFill>
            <a:prstDash val="solid"/>
          </a:ln>
        </p:spPr>
        <p:txBody>
          <a:bodyPr/>
          <a:p/>
        </p:txBody>
      </p:sp>
      <p:sp>
        <p:nvSpPr>
          <p:cNvPr id="5" name="Text 3"/>
          <p:cNvSpPr/>
          <p:nvPr/>
        </p:nvSpPr>
        <p:spPr>
          <a:xfrm>
            <a:off x="868680" y="1783080"/>
            <a:ext cx="5120640" cy="1737360"/>
          </a:xfrm>
          <a:prstGeom prst="rect">
            <a:avLst/>
          </a:prstGeom>
          <a:noFill/>
          <a:ln/>
        </p:spPr>
        <p:txBody>
          <a:bodyPr wrap="square" lIns="0" tIns="0" rIns="0" bIns="0" rtlCol="0" anchor="ctr"/>
          <a:lstStyle/>
          <a:p>
            <a:pPr indent="0" marL="0">
              <a:buNone/>
            </a:pPr>
            <a:r>
              <a:rPr lang="en-US" sz="8400" b="1" dirty="0">
                <a:solidFill>
                  <a:srgbClr val="FFC24B"/>
                </a:solidFill>
                <a:latin typeface="Palatino Linotype" pitchFamily="34" charset="0"/>
                <a:ea typeface="Palatino Linotype" pitchFamily="34" charset="-122"/>
                <a:cs typeface="Palatino Linotype" pitchFamily="34" charset="-120"/>
              </a:rPr>
              <a:t>33 873</a:t>
            </a:r>
            <a:endParaRPr lang="en-US" sz="8400" dirty="0"/>
          </a:p>
        </p:txBody>
      </p:sp>
      <p:sp>
        <p:nvSpPr>
          <p:cNvPr id="6" name="Text 4"/>
          <p:cNvSpPr/>
          <p:nvPr/>
        </p:nvSpPr>
        <p:spPr>
          <a:xfrm>
            <a:off x="868680" y="3520440"/>
            <a:ext cx="5120640" cy="457200"/>
          </a:xfrm>
          <a:prstGeom prst="rect">
            <a:avLst/>
          </a:prstGeom>
          <a:noFill/>
          <a:ln/>
        </p:spPr>
        <p:txBody>
          <a:bodyPr wrap="square" lIns="0" tIns="0" rIns="0" bIns="0" rtlCol="0" anchor="t"/>
          <a:lstStyle/>
          <a:p>
            <a:pPr indent="0" marL="0">
              <a:buNone/>
            </a:pPr>
            <a:r>
              <a:rPr lang="en-US" sz="2200" b="1" dirty="0">
                <a:solidFill>
                  <a:srgbClr val="FFFFFF"/>
                </a:solidFill>
                <a:latin typeface="Palatino Linotype" pitchFamily="34" charset="0"/>
                <a:ea typeface="Palatino Linotype" pitchFamily="34" charset="-122"/>
                <a:cs typeface="Palatino Linotype" pitchFamily="34" charset="-120"/>
              </a:rPr>
              <a:t>de copii și adolescenți</a:t>
            </a:r>
            <a:endParaRPr lang="en-US" sz="2200" dirty="0"/>
          </a:p>
        </p:txBody>
      </p:sp>
      <p:sp>
        <p:nvSpPr>
          <p:cNvPr id="7" name="Text 5"/>
          <p:cNvSpPr/>
          <p:nvPr/>
        </p:nvSpPr>
        <p:spPr>
          <a:xfrm>
            <a:off x="868680" y="4069080"/>
            <a:ext cx="5120640" cy="914400"/>
          </a:xfrm>
          <a:prstGeom prst="rect">
            <a:avLst/>
          </a:prstGeom>
          <a:noFill/>
          <a:ln/>
        </p:spPr>
        <p:txBody>
          <a:bodyPr wrap="square" lIns="0" tIns="0" rIns="0" bIns="0" rtlCol="0" anchor="t"/>
          <a:lstStyle/>
          <a:p>
            <a:pPr indent="0" marL="0">
              <a:buNone/>
            </a:pPr>
            <a:r>
              <a:rPr lang="en-US" sz="1600" dirty="0">
                <a:solidFill>
                  <a:srgbClr val="D5D8E2"/>
                </a:solidFill>
                <a:latin typeface="Palatino Linotype" pitchFamily="34" charset="0"/>
                <a:ea typeface="Palatino Linotype" pitchFamily="34" charset="-122"/>
                <a:cs typeface="Palatino Linotype" pitchFamily="34" charset="-120"/>
              </a:rPr>
              <a:t>în cele 20 de studii din analiza comună a celei de-a doua recenzii (46 de studii eligibile)</a:t>
            </a:r>
            <a:endParaRPr lang="en-US" sz="1600" dirty="0"/>
          </a:p>
        </p:txBody>
      </p:sp>
      <p:sp>
        <p:nvSpPr>
          <p:cNvPr id="8" name="Shape 6"/>
          <p:cNvSpPr/>
          <p:nvPr/>
        </p:nvSpPr>
        <p:spPr>
          <a:xfrm>
            <a:off x="6537960" y="1691640"/>
            <a:ext cx="5029200" cy="1600200"/>
          </a:xfrm>
          <a:prstGeom prst="roundRect">
            <a:avLst>
              <a:gd name="adj" fmla="val 5143"/>
            </a:avLst>
          </a:prstGeom>
          <a:solidFill>
            <a:srgbClr val="ECEAE4"/>
          </a:solidFill>
          <a:ln w="12700">
            <a:solidFill>
              <a:srgbClr val="ECEAE4"/>
            </a:solidFill>
            <a:prstDash val="solid"/>
          </a:ln>
        </p:spPr>
        <p:txBody>
          <a:bodyPr/>
          <a:p/>
        </p:txBody>
      </p:sp>
      <p:sp>
        <p:nvSpPr>
          <p:cNvPr id="9" name="Text 7"/>
          <p:cNvSpPr/>
          <p:nvPr/>
        </p:nvSpPr>
        <p:spPr>
          <a:xfrm>
            <a:off x="6766560" y="1828800"/>
            <a:ext cx="4572000" cy="292608"/>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PRIMA RECENZIE · 23 DE STUDII</a:t>
            </a:r>
            <a:endParaRPr lang="en-US" sz="1300" dirty="0"/>
          </a:p>
        </p:txBody>
      </p:sp>
      <p:sp>
        <p:nvSpPr>
          <p:cNvPr id="10" name="Text 8"/>
          <p:cNvSpPr/>
          <p:nvPr/>
        </p:nvSpPr>
        <p:spPr>
          <a:xfrm>
            <a:off x="6766560" y="2194560"/>
            <a:ext cx="4572000" cy="96012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Examinări reușite după pregătire: între 40% și 100%. Copiii pregătiți au reușit mai des.</a:t>
            </a:r>
            <a:endParaRPr lang="en-US" sz="1500" dirty="0"/>
          </a:p>
        </p:txBody>
      </p:sp>
      <p:sp>
        <p:nvSpPr>
          <p:cNvPr id="11" name="Shape 9"/>
          <p:cNvSpPr/>
          <p:nvPr/>
        </p:nvSpPr>
        <p:spPr>
          <a:xfrm>
            <a:off x="6537960" y="3520440"/>
            <a:ext cx="5029200" cy="1600200"/>
          </a:xfrm>
          <a:prstGeom prst="roundRect">
            <a:avLst>
              <a:gd name="adj" fmla="val 5143"/>
            </a:avLst>
          </a:prstGeom>
          <a:solidFill>
            <a:srgbClr val="ECEAE4"/>
          </a:solidFill>
          <a:ln w="12700">
            <a:solidFill>
              <a:srgbClr val="ECEAE4"/>
            </a:solidFill>
            <a:prstDash val="solid"/>
          </a:ln>
        </p:spPr>
        <p:txBody>
          <a:bodyPr/>
          <a:p/>
        </p:txBody>
      </p:sp>
      <p:sp>
        <p:nvSpPr>
          <p:cNvPr id="12" name="Text 10"/>
          <p:cNvSpPr/>
          <p:nvPr/>
        </p:nvSpPr>
        <p:spPr>
          <a:xfrm>
            <a:off x="6766560" y="3657600"/>
            <a:ext cx="4572000" cy="292608"/>
          </a:xfrm>
          <a:prstGeom prst="rect">
            <a:avLst/>
          </a:prstGeom>
          <a:noFill/>
          <a:ln/>
        </p:spPr>
        <p:txBody>
          <a:bodyPr wrap="square" lIns="0" tIns="0" rIns="0" bIns="0" rtlCol="0" anchor="t"/>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A DOUA RECENZIE · SEDAREA</a:t>
            </a:r>
            <a:endParaRPr lang="en-US" sz="1300" dirty="0"/>
          </a:p>
        </p:txBody>
      </p:sp>
      <p:sp>
        <p:nvSpPr>
          <p:cNvPr id="13" name="Text 11"/>
          <p:cNvSpPr/>
          <p:nvPr/>
        </p:nvSpPr>
        <p:spPr>
          <a:xfrm>
            <a:off x="6766560" y="4023360"/>
            <a:ext cx="4572000" cy="960120"/>
          </a:xfrm>
          <a:prstGeom prst="rect">
            <a:avLst/>
          </a:prstGeom>
          <a:noFill/>
          <a:ln/>
        </p:spPr>
        <p:txBody>
          <a:bodyPr wrap="square" lIns="0" tIns="0" rIns="0" bIns="0" rtlCol="0" anchor="t"/>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Sedare sau anestezie cu aproximativ o treime mai rar; efect mai mare la 3–10 ani.</a:t>
            </a:r>
            <a:endParaRPr lang="en-US" sz="1500" dirty="0"/>
          </a:p>
        </p:txBody>
      </p:sp>
      <p:sp>
        <p:nvSpPr>
          <p:cNvPr id="14" name="Shape 12"/>
          <p:cNvSpPr/>
          <p:nvPr/>
        </p:nvSpPr>
        <p:spPr>
          <a:xfrm>
            <a:off x="594360" y="5349240"/>
            <a:ext cx="10972800" cy="822960"/>
          </a:xfrm>
          <a:prstGeom prst="roundRect">
            <a:avLst>
              <a:gd name="adj" fmla="val 10000"/>
            </a:avLst>
          </a:prstGeom>
          <a:solidFill>
            <a:srgbClr val="FF4757"/>
          </a:solidFill>
          <a:ln w="12700">
            <a:solidFill>
              <a:srgbClr val="FF4757"/>
            </a:solidFill>
            <a:prstDash val="solid"/>
          </a:ln>
        </p:spPr>
        <p:txBody>
          <a:bodyPr/>
          <a:p/>
        </p:txBody>
      </p:sp>
      <p:sp>
        <p:nvSpPr>
          <p:cNvPr id="15" name="Text 13"/>
          <p:cNvSpPr/>
          <p:nvPr/>
        </p:nvSpPr>
        <p:spPr>
          <a:xfrm>
            <a:off x="868680" y="5349240"/>
            <a:ext cx="10424160" cy="822960"/>
          </a:xfrm>
          <a:prstGeom prst="rect">
            <a:avLst/>
          </a:prstGeom>
          <a:noFill/>
          <a:ln/>
        </p:spPr>
        <p:txBody>
          <a:bodyPr wrap="square" lIns="0" tIns="0" rIns="0" bIns="0" rtlCol="0" anchor="ctr"/>
          <a:lstStyle/>
          <a:p>
            <a:pPr indent="0" marL="0">
              <a:buNone/>
            </a:pPr>
            <a:r>
              <a:rPr lang="en-US" sz="1650" b="1" dirty="0">
                <a:solidFill>
                  <a:srgbClr val="2E060B"/>
                </a:solidFill>
                <a:latin typeface="Palatino Linotype" pitchFamily="34" charset="0"/>
                <a:ea typeface="Palatino Linotype" pitchFamily="34" charset="-122"/>
                <a:cs typeface="Palatino Linotype" pitchFamily="34" charset="-120"/>
              </a:rPr>
              <a:t>Afirmația e prea puternică: pregătirea scade nevoia de sedare, nu o elimină. Autorii o numesc procedură standard: o regulă a secției.</a:t>
            </a:r>
            <a:endParaRPr lang="en-US" sz="1650" dirty="0"/>
          </a:p>
        </p:txBody>
      </p:sp>
      <p:sp>
        <p:nvSpPr>
          <p:cNvPr id="16" name="Text 14"/>
          <p:cNvSpPr/>
          <p:nvPr/>
        </p:nvSpPr>
        <p:spPr>
          <a:xfrm>
            <a:off x="594360" y="6327648"/>
            <a:ext cx="10972800" cy="274320"/>
          </a:xfrm>
          <a:prstGeom prst="rect">
            <a:avLst/>
          </a:prstGeom>
          <a:noFill/>
          <a:ln/>
        </p:spPr>
        <p:txBody>
          <a:bodyPr wrap="square" lIns="0" tIns="0" rIns="0" bIns="0" rtlCol="0" anchor="ctr"/>
          <a:lstStyle/>
          <a:p>
            <a:pPr indent="0" marL="0">
              <a:buNone/>
            </a:pPr>
            <a:r>
              <a:rPr lang="en-US" sz="1100" i="1" dirty="0">
                <a:solidFill>
                  <a:srgbClr val="585A64"/>
                </a:solidFill>
                <a:latin typeface="Palatino Linotype" pitchFamily="34" charset="0"/>
                <a:ea typeface="Palatino Linotype" pitchFamily="34" charset="-122"/>
                <a:cs typeface="Palatino Linotype" pitchFamily="34" charset="-120"/>
              </a:rPr>
              <a:t>Două recenzii ale studiilor publicate, 2023.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FIȘA PROGRAMULUI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Șapte rubrici, o pagină</a:t>
            </a:r>
            <a:endParaRPr lang="en-US" sz="3200" dirty="0"/>
          </a:p>
        </p:txBody>
      </p:sp>
      <p:sp>
        <p:nvSpPr>
          <p:cNvPr id="4" name="Shape 2"/>
          <p:cNvSpPr/>
          <p:nvPr/>
        </p:nvSpPr>
        <p:spPr>
          <a:xfrm>
            <a:off x="594360" y="1645920"/>
            <a:ext cx="5394960" cy="4526280"/>
          </a:xfrm>
          <a:prstGeom prst="rect">
            <a:avLst/>
          </a:prstGeom>
          <a:solidFill>
            <a:srgbClr val="FBF8F1"/>
          </a:solidFill>
          <a:ln w="9525">
            <a:solidFill>
              <a:srgbClr val="E4DFD2"/>
            </a:solidFill>
            <a:prstDash val="solid"/>
          </a:ln>
          <a:effectLst>
            <a:outerShdw sx="100000" sy="100000" kx="0" ky="0" algn="bl" rotWithShape="0" blurRad="114300" dist="50800" dir="3600000">
              <a:srgbClr val="000000">
                <a:alpha val="35000"/>
              </a:srgbClr>
            </a:outerShdw>
          </a:effectLst>
        </p:spPr>
        <p:txBody>
          <a:bodyPr/>
          <a:p/>
        </p:txBody>
      </p:sp>
      <p:sp>
        <p:nvSpPr>
          <p:cNvPr id="5" name="Text 3"/>
          <p:cNvSpPr/>
          <p:nvPr/>
        </p:nvSpPr>
        <p:spPr>
          <a:xfrm>
            <a:off x="914400" y="1847088"/>
            <a:ext cx="4754880" cy="274320"/>
          </a:xfrm>
          <a:prstGeom prst="rect">
            <a:avLst/>
          </a:prstGeom>
          <a:noFill/>
          <a:ln/>
        </p:spPr>
        <p:txBody>
          <a:bodyPr wrap="square" lIns="0" tIns="0" rIns="0" bIns="0" rtlCol="0" anchor="t"/>
          <a:lstStyle/>
          <a:p>
            <a:pPr indent="0" marL="0">
              <a:buNone/>
            </a:pPr>
            <a:r>
              <a:rPr lang="en-US" sz="1250" b="1" spc="200" kern="0" dirty="0">
                <a:solidFill>
                  <a:srgbClr val="B02532"/>
                </a:solidFill>
                <a:latin typeface="Palatino Linotype" pitchFamily="34" charset="0"/>
                <a:ea typeface="Palatino Linotype" pitchFamily="34" charset="-122"/>
                <a:cs typeface="Palatino Linotype" pitchFamily="34" charset="-120"/>
              </a:rPr>
              <a:t>PROGRAM DE EDUCAȚIE PENTRU SĂNĂTATE</a:t>
            </a:r>
            <a:endParaRPr lang="en-US" sz="1250" dirty="0"/>
          </a:p>
        </p:txBody>
      </p:sp>
      <p:sp>
        <p:nvSpPr>
          <p:cNvPr id="6" name="Shape 4"/>
          <p:cNvSpPr/>
          <p:nvPr/>
        </p:nvSpPr>
        <p:spPr>
          <a:xfrm>
            <a:off x="914400" y="2212848"/>
            <a:ext cx="4754880" cy="18288"/>
          </a:xfrm>
          <a:prstGeom prst="rect">
            <a:avLst/>
          </a:prstGeom>
          <a:solidFill>
            <a:srgbClr val="11121A"/>
          </a:solidFill>
          <a:ln w="12700">
            <a:solidFill>
              <a:srgbClr val="11121A"/>
            </a:solidFill>
            <a:prstDash val="solid"/>
          </a:ln>
        </p:spPr>
        <p:txBody>
          <a:bodyPr/>
          <a:p/>
        </p:txBody>
      </p:sp>
      <p:sp>
        <p:nvSpPr>
          <p:cNvPr id="7" name="Shape 5"/>
          <p:cNvSpPr/>
          <p:nvPr/>
        </p:nvSpPr>
        <p:spPr>
          <a:xfrm>
            <a:off x="960120" y="2395728"/>
            <a:ext cx="347472" cy="347472"/>
          </a:xfrm>
          <a:prstGeom prst="ellipse">
            <a:avLst/>
          </a:prstGeom>
          <a:solidFill>
            <a:srgbClr val="11121A"/>
          </a:solidFill>
          <a:ln/>
        </p:spPr>
        <p:txBody>
          <a:bodyPr/>
          <a:p/>
        </p:txBody>
      </p:sp>
      <p:sp>
        <p:nvSpPr>
          <p:cNvPr id="8" name="Text 6"/>
          <p:cNvSpPr/>
          <p:nvPr/>
        </p:nvSpPr>
        <p:spPr>
          <a:xfrm>
            <a:off x="960120" y="2395728"/>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9" name="Text 7"/>
          <p:cNvSpPr/>
          <p:nvPr/>
        </p:nvSpPr>
        <p:spPr>
          <a:xfrm>
            <a:off x="1508760" y="2377440"/>
            <a:ext cx="4114800" cy="384048"/>
          </a:xfrm>
          <a:prstGeom prst="rect">
            <a:avLst/>
          </a:prstGeom>
          <a:noFill/>
          <a:ln/>
        </p:spPr>
        <p:txBody>
          <a:bodyPr wrap="square" lIns="0" tIns="0" rIns="0" bIns="0" rtlCol="0" anchor="ctr"/>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Problema, cu o cifră</a:t>
            </a:r>
            <a:endParaRPr lang="en-US" sz="1700" dirty="0"/>
          </a:p>
        </p:txBody>
      </p:sp>
      <p:sp>
        <p:nvSpPr>
          <p:cNvPr id="10" name="Shape 8"/>
          <p:cNvSpPr/>
          <p:nvPr/>
        </p:nvSpPr>
        <p:spPr>
          <a:xfrm>
            <a:off x="1508760" y="2779776"/>
            <a:ext cx="4114800" cy="10973"/>
          </a:xfrm>
          <a:prstGeom prst="rect">
            <a:avLst/>
          </a:prstGeom>
          <a:solidFill>
            <a:srgbClr val="C9C6BE"/>
          </a:solidFill>
          <a:ln w="12700">
            <a:solidFill>
              <a:srgbClr val="C9C6BE"/>
            </a:solidFill>
            <a:prstDash val="solid"/>
          </a:ln>
        </p:spPr>
        <p:txBody>
          <a:bodyPr/>
          <a:p/>
        </p:txBody>
      </p:sp>
      <p:sp>
        <p:nvSpPr>
          <p:cNvPr id="11" name="Shape 9"/>
          <p:cNvSpPr/>
          <p:nvPr/>
        </p:nvSpPr>
        <p:spPr>
          <a:xfrm>
            <a:off x="960120" y="2926080"/>
            <a:ext cx="347472" cy="347472"/>
          </a:xfrm>
          <a:prstGeom prst="ellipse">
            <a:avLst/>
          </a:prstGeom>
          <a:solidFill>
            <a:srgbClr val="11121A"/>
          </a:solidFill>
          <a:ln/>
        </p:spPr>
        <p:txBody>
          <a:bodyPr/>
          <a:p/>
        </p:txBody>
      </p:sp>
      <p:sp>
        <p:nvSpPr>
          <p:cNvPr id="12" name="Text 10"/>
          <p:cNvSpPr/>
          <p:nvPr/>
        </p:nvSpPr>
        <p:spPr>
          <a:xfrm>
            <a:off x="960120" y="2926080"/>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3" name="Text 11"/>
          <p:cNvSpPr/>
          <p:nvPr/>
        </p:nvSpPr>
        <p:spPr>
          <a:xfrm>
            <a:off x="1508760" y="2907792"/>
            <a:ext cx="4114800" cy="384048"/>
          </a:xfrm>
          <a:prstGeom prst="rect">
            <a:avLst/>
          </a:prstGeom>
          <a:noFill/>
          <a:ln/>
        </p:spPr>
        <p:txBody>
          <a:bodyPr wrap="square" lIns="0" tIns="0" rIns="0" bIns="0" rtlCol="0" anchor="ctr"/>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Grupul</a:t>
            </a:r>
            <a:endParaRPr lang="en-US" sz="1700" dirty="0"/>
          </a:p>
        </p:txBody>
      </p:sp>
      <p:sp>
        <p:nvSpPr>
          <p:cNvPr id="14" name="Shape 12"/>
          <p:cNvSpPr/>
          <p:nvPr/>
        </p:nvSpPr>
        <p:spPr>
          <a:xfrm>
            <a:off x="1508760" y="3310128"/>
            <a:ext cx="4114800" cy="10973"/>
          </a:xfrm>
          <a:prstGeom prst="rect">
            <a:avLst/>
          </a:prstGeom>
          <a:solidFill>
            <a:srgbClr val="C9C6BE"/>
          </a:solidFill>
          <a:ln w="12700">
            <a:solidFill>
              <a:srgbClr val="C9C6BE"/>
            </a:solidFill>
            <a:prstDash val="solid"/>
          </a:ln>
        </p:spPr>
        <p:txBody>
          <a:bodyPr/>
          <a:p/>
        </p:txBody>
      </p:sp>
      <p:sp>
        <p:nvSpPr>
          <p:cNvPr id="15" name="Shape 13"/>
          <p:cNvSpPr/>
          <p:nvPr/>
        </p:nvSpPr>
        <p:spPr>
          <a:xfrm>
            <a:off x="868680" y="3401568"/>
            <a:ext cx="4846320" cy="457200"/>
          </a:xfrm>
          <a:prstGeom prst="rect">
            <a:avLst/>
          </a:prstGeom>
          <a:solidFill>
            <a:srgbClr val="FFE7A3"/>
          </a:solidFill>
          <a:ln w="12700">
            <a:solidFill>
              <a:srgbClr val="FFE7A3"/>
            </a:solidFill>
            <a:prstDash val="solid"/>
          </a:ln>
        </p:spPr>
        <p:txBody>
          <a:bodyPr/>
          <a:p/>
        </p:txBody>
      </p:sp>
      <p:sp>
        <p:nvSpPr>
          <p:cNvPr id="16" name="Shape 14"/>
          <p:cNvSpPr/>
          <p:nvPr/>
        </p:nvSpPr>
        <p:spPr>
          <a:xfrm>
            <a:off x="960120" y="3456432"/>
            <a:ext cx="347472" cy="347472"/>
          </a:xfrm>
          <a:prstGeom prst="ellipse">
            <a:avLst/>
          </a:prstGeom>
          <a:solidFill>
            <a:srgbClr val="B02532"/>
          </a:solidFill>
          <a:ln/>
        </p:spPr>
        <p:txBody>
          <a:bodyPr/>
          <a:p/>
        </p:txBody>
      </p:sp>
      <p:sp>
        <p:nvSpPr>
          <p:cNvPr id="17" name="Text 15"/>
          <p:cNvSpPr/>
          <p:nvPr/>
        </p:nvSpPr>
        <p:spPr>
          <a:xfrm>
            <a:off x="960120" y="3456432"/>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18" name="Text 16"/>
          <p:cNvSpPr/>
          <p:nvPr/>
        </p:nvSpPr>
        <p:spPr>
          <a:xfrm>
            <a:off x="1508760" y="3438144"/>
            <a:ext cx="4114800" cy="384048"/>
          </a:xfrm>
          <a:prstGeom prst="rect">
            <a:avLst/>
          </a:prstGeom>
          <a:noFill/>
          <a:ln/>
        </p:spPr>
        <p:txBody>
          <a:bodyPr wrap="square" lIns="0" tIns="0" rIns="0" bIns="0" rtlCol="0" anchor="ctr"/>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Obiectivul măsurabil</a:t>
            </a:r>
            <a:endParaRPr lang="en-US" sz="1700" dirty="0"/>
          </a:p>
        </p:txBody>
      </p:sp>
      <p:sp>
        <p:nvSpPr>
          <p:cNvPr id="19" name="Shape 17"/>
          <p:cNvSpPr/>
          <p:nvPr/>
        </p:nvSpPr>
        <p:spPr>
          <a:xfrm>
            <a:off x="1508760" y="3840480"/>
            <a:ext cx="4114800" cy="10973"/>
          </a:xfrm>
          <a:prstGeom prst="rect">
            <a:avLst/>
          </a:prstGeom>
          <a:solidFill>
            <a:srgbClr val="C9C6BE"/>
          </a:solidFill>
          <a:ln w="12700">
            <a:solidFill>
              <a:srgbClr val="C9C6BE"/>
            </a:solidFill>
            <a:prstDash val="solid"/>
          </a:ln>
        </p:spPr>
        <p:txBody>
          <a:bodyPr/>
          <a:p/>
        </p:txBody>
      </p:sp>
      <p:sp>
        <p:nvSpPr>
          <p:cNvPr id="20" name="Shape 18"/>
          <p:cNvSpPr/>
          <p:nvPr/>
        </p:nvSpPr>
        <p:spPr>
          <a:xfrm>
            <a:off x="960120" y="3986784"/>
            <a:ext cx="347472" cy="347472"/>
          </a:xfrm>
          <a:prstGeom prst="ellipse">
            <a:avLst/>
          </a:prstGeom>
          <a:solidFill>
            <a:srgbClr val="11121A"/>
          </a:solidFill>
          <a:ln/>
        </p:spPr>
        <p:txBody>
          <a:bodyPr/>
          <a:p/>
        </p:txBody>
      </p:sp>
      <p:sp>
        <p:nvSpPr>
          <p:cNvPr id="21" name="Text 19"/>
          <p:cNvSpPr/>
          <p:nvPr/>
        </p:nvSpPr>
        <p:spPr>
          <a:xfrm>
            <a:off x="960120" y="3986784"/>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4</a:t>
            </a:r>
            <a:endParaRPr lang="en-US" sz="1400" dirty="0"/>
          </a:p>
        </p:txBody>
      </p:sp>
      <p:sp>
        <p:nvSpPr>
          <p:cNvPr id="22" name="Text 20"/>
          <p:cNvSpPr/>
          <p:nvPr/>
        </p:nvSpPr>
        <p:spPr>
          <a:xfrm>
            <a:off x="1508760" y="3968496"/>
            <a:ext cx="4114800" cy="384048"/>
          </a:xfrm>
          <a:prstGeom prst="rect">
            <a:avLst/>
          </a:prstGeom>
          <a:noFill/>
          <a:ln/>
        </p:spPr>
        <p:txBody>
          <a:bodyPr wrap="square" lIns="0" tIns="0" rIns="0" bIns="0" rtlCol="0" anchor="ctr"/>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Activitățile</a:t>
            </a:r>
            <a:endParaRPr lang="en-US" sz="1700" dirty="0"/>
          </a:p>
        </p:txBody>
      </p:sp>
      <p:sp>
        <p:nvSpPr>
          <p:cNvPr id="23" name="Shape 21"/>
          <p:cNvSpPr/>
          <p:nvPr/>
        </p:nvSpPr>
        <p:spPr>
          <a:xfrm>
            <a:off x="1508760" y="4370832"/>
            <a:ext cx="4114800" cy="10973"/>
          </a:xfrm>
          <a:prstGeom prst="rect">
            <a:avLst/>
          </a:prstGeom>
          <a:solidFill>
            <a:srgbClr val="C9C6BE"/>
          </a:solidFill>
          <a:ln w="12700">
            <a:solidFill>
              <a:srgbClr val="C9C6BE"/>
            </a:solidFill>
            <a:prstDash val="solid"/>
          </a:ln>
        </p:spPr>
        <p:txBody>
          <a:bodyPr/>
          <a:p/>
        </p:txBody>
      </p:sp>
      <p:sp>
        <p:nvSpPr>
          <p:cNvPr id="24" name="Shape 22"/>
          <p:cNvSpPr/>
          <p:nvPr/>
        </p:nvSpPr>
        <p:spPr>
          <a:xfrm>
            <a:off x="960120" y="4517136"/>
            <a:ext cx="347472" cy="347472"/>
          </a:xfrm>
          <a:prstGeom prst="ellipse">
            <a:avLst/>
          </a:prstGeom>
          <a:solidFill>
            <a:srgbClr val="11121A"/>
          </a:solidFill>
          <a:ln/>
        </p:spPr>
        <p:txBody>
          <a:bodyPr/>
          <a:p/>
        </p:txBody>
      </p:sp>
      <p:sp>
        <p:nvSpPr>
          <p:cNvPr id="25" name="Text 23"/>
          <p:cNvSpPr/>
          <p:nvPr/>
        </p:nvSpPr>
        <p:spPr>
          <a:xfrm>
            <a:off x="960120" y="4517136"/>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5</a:t>
            </a:r>
            <a:endParaRPr lang="en-US" sz="1400" dirty="0"/>
          </a:p>
        </p:txBody>
      </p:sp>
      <p:sp>
        <p:nvSpPr>
          <p:cNvPr id="26" name="Text 24"/>
          <p:cNvSpPr/>
          <p:nvPr/>
        </p:nvSpPr>
        <p:spPr>
          <a:xfrm>
            <a:off x="1508760" y="4498848"/>
            <a:ext cx="4114800" cy="384048"/>
          </a:xfrm>
          <a:prstGeom prst="rect">
            <a:avLst/>
          </a:prstGeom>
          <a:noFill/>
          <a:ln/>
        </p:spPr>
        <p:txBody>
          <a:bodyPr wrap="square" lIns="0" tIns="0" rIns="0" bIns="0" rtlCol="0" anchor="ctr"/>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Partenerii</a:t>
            </a:r>
            <a:endParaRPr lang="en-US" sz="1700" dirty="0"/>
          </a:p>
        </p:txBody>
      </p:sp>
      <p:sp>
        <p:nvSpPr>
          <p:cNvPr id="27" name="Shape 25"/>
          <p:cNvSpPr/>
          <p:nvPr/>
        </p:nvSpPr>
        <p:spPr>
          <a:xfrm>
            <a:off x="1508760" y="4901184"/>
            <a:ext cx="4114800" cy="10973"/>
          </a:xfrm>
          <a:prstGeom prst="rect">
            <a:avLst/>
          </a:prstGeom>
          <a:solidFill>
            <a:srgbClr val="C9C6BE"/>
          </a:solidFill>
          <a:ln w="12700">
            <a:solidFill>
              <a:srgbClr val="C9C6BE"/>
            </a:solidFill>
            <a:prstDash val="solid"/>
          </a:ln>
        </p:spPr>
        <p:txBody>
          <a:bodyPr/>
          <a:p/>
        </p:txBody>
      </p:sp>
      <p:sp>
        <p:nvSpPr>
          <p:cNvPr id="28" name="Shape 26"/>
          <p:cNvSpPr/>
          <p:nvPr/>
        </p:nvSpPr>
        <p:spPr>
          <a:xfrm>
            <a:off x="960120" y="5047488"/>
            <a:ext cx="347472" cy="347472"/>
          </a:xfrm>
          <a:prstGeom prst="ellipse">
            <a:avLst/>
          </a:prstGeom>
          <a:solidFill>
            <a:srgbClr val="11121A"/>
          </a:solidFill>
          <a:ln/>
        </p:spPr>
        <p:txBody>
          <a:bodyPr/>
          <a:p/>
        </p:txBody>
      </p:sp>
      <p:sp>
        <p:nvSpPr>
          <p:cNvPr id="29" name="Text 27"/>
          <p:cNvSpPr/>
          <p:nvPr/>
        </p:nvSpPr>
        <p:spPr>
          <a:xfrm>
            <a:off x="960120" y="5047488"/>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6</a:t>
            </a:r>
            <a:endParaRPr lang="en-US" sz="1400" dirty="0"/>
          </a:p>
        </p:txBody>
      </p:sp>
      <p:sp>
        <p:nvSpPr>
          <p:cNvPr id="30" name="Text 28"/>
          <p:cNvSpPr/>
          <p:nvPr/>
        </p:nvSpPr>
        <p:spPr>
          <a:xfrm>
            <a:off x="1508760" y="5029200"/>
            <a:ext cx="4114800" cy="384048"/>
          </a:xfrm>
          <a:prstGeom prst="rect">
            <a:avLst/>
          </a:prstGeom>
          <a:noFill/>
          <a:ln/>
        </p:spPr>
        <p:txBody>
          <a:bodyPr wrap="square" lIns="0" tIns="0" rIns="0" bIns="0" rtlCol="0" anchor="ctr"/>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Resursele</a:t>
            </a:r>
            <a:endParaRPr lang="en-US" sz="1700" dirty="0"/>
          </a:p>
        </p:txBody>
      </p:sp>
      <p:sp>
        <p:nvSpPr>
          <p:cNvPr id="31" name="Shape 29"/>
          <p:cNvSpPr/>
          <p:nvPr/>
        </p:nvSpPr>
        <p:spPr>
          <a:xfrm>
            <a:off x="1508760" y="5431536"/>
            <a:ext cx="4114800" cy="10973"/>
          </a:xfrm>
          <a:prstGeom prst="rect">
            <a:avLst/>
          </a:prstGeom>
          <a:solidFill>
            <a:srgbClr val="C9C6BE"/>
          </a:solidFill>
          <a:ln w="12700">
            <a:solidFill>
              <a:srgbClr val="C9C6BE"/>
            </a:solidFill>
            <a:prstDash val="solid"/>
          </a:ln>
        </p:spPr>
        <p:txBody>
          <a:bodyPr/>
          <a:p/>
        </p:txBody>
      </p:sp>
      <p:sp>
        <p:nvSpPr>
          <p:cNvPr id="32" name="Shape 30"/>
          <p:cNvSpPr/>
          <p:nvPr/>
        </p:nvSpPr>
        <p:spPr>
          <a:xfrm>
            <a:off x="960120" y="5577840"/>
            <a:ext cx="347472" cy="347472"/>
          </a:xfrm>
          <a:prstGeom prst="ellipse">
            <a:avLst/>
          </a:prstGeom>
          <a:solidFill>
            <a:srgbClr val="11121A"/>
          </a:solidFill>
          <a:ln/>
        </p:spPr>
        <p:txBody>
          <a:bodyPr/>
          <a:p/>
        </p:txBody>
      </p:sp>
      <p:sp>
        <p:nvSpPr>
          <p:cNvPr id="33" name="Text 31"/>
          <p:cNvSpPr/>
          <p:nvPr/>
        </p:nvSpPr>
        <p:spPr>
          <a:xfrm>
            <a:off x="960120" y="5577840"/>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7</a:t>
            </a:r>
            <a:endParaRPr lang="en-US" sz="1400" dirty="0"/>
          </a:p>
        </p:txBody>
      </p:sp>
      <p:sp>
        <p:nvSpPr>
          <p:cNvPr id="34" name="Text 32"/>
          <p:cNvSpPr/>
          <p:nvPr/>
        </p:nvSpPr>
        <p:spPr>
          <a:xfrm>
            <a:off x="1508760" y="5559552"/>
            <a:ext cx="4114800" cy="384048"/>
          </a:xfrm>
          <a:prstGeom prst="rect">
            <a:avLst/>
          </a:prstGeom>
          <a:noFill/>
          <a:ln/>
        </p:spPr>
        <p:txBody>
          <a:bodyPr wrap="square" lIns="0" tIns="0" rIns="0" bIns="0" rtlCol="0" anchor="ctr"/>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Evaluarea</a:t>
            </a:r>
            <a:endParaRPr lang="en-US" sz="1700" dirty="0"/>
          </a:p>
        </p:txBody>
      </p:sp>
      <p:sp>
        <p:nvSpPr>
          <p:cNvPr id="35" name="Shape 33"/>
          <p:cNvSpPr/>
          <p:nvPr/>
        </p:nvSpPr>
        <p:spPr>
          <a:xfrm>
            <a:off x="1508760" y="5961888"/>
            <a:ext cx="4114800" cy="10973"/>
          </a:xfrm>
          <a:prstGeom prst="rect">
            <a:avLst/>
          </a:prstGeom>
          <a:solidFill>
            <a:srgbClr val="C9C6BE"/>
          </a:solidFill>
          <a:ln w="12700">
            <a:solidFill>
              <a:srgbClr val="C9C6BE"/>
            </a:solidFill>
            <a:prstDash val="solid"/>
          </a:ln>
        </p:spPr>
        <p:txBody>
          <a:bodyPr/>
          <a:p/>
        </p:txBody>
      </p:sp>
      <p:sp>
        <p:nvSpPr>
          <p:cNvPr id="36" name="Shape 34"/>
          <p:cNvSpPr/>
          <p:nvPr/>
        </p:nvSpPr>
        <p:spPr>
          <a:xfrm>
            <a:off x="6263640" y="1645920"/>
            <a:ext cx="2103120" cy="329184"/>
          </a:xfrm>
          <a:prstGeom prst="roundRect">
            <a:avLst>
              <a:gd name="adj" fmla="val 50000"/>
            </a:avLst>
          </a:prstGeom>
          <a:solidFill>
            <a:srgbClr val="8A6100"/>
          </a:solidFill>
          <a:ln w="12700">
            <a:solidFill>
              <a:srgbClr val="8A6100"/>
            </a:solidFill>
            <a:prstDash val="solid"/>
          </a:ln>
        </p:spPr>
        <p:txBody>
          <a:bodyPr/>
          <a:p/>
        </p:txBody>
      </p:sp>
      <p:sp>
        <p:nvSpPr>
          <p:cNvPr id="37" name="Text 35"/>
          <p:cNvSpPr/>
          <p:nvPr/>
        </p:nvSpPr>
        <p:spPr>
          <a:xfrm>
            <a:off x="6263640" y="1645920"/>
            <a:ext cx="2103120"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Palatino Linotype" pitchFamily="34" charset="0"/>
                <a:ea typeface="Palatino Linotype" pitchFamily="34" charset="-122"/>
                <a:cs typeface="Palatino Linotype" pitchFamily="34" charset="-120"/>
              </a:rPr>
              <a:t>VALORI IPOTETICE</a:t>
            </a:r>
            <a:endParaRPr lang="en-US" sz="1150" dirty="0"/>
          </a:p>
        </p:txBody>
      </p:sp>
      <p:sp>
        <p:nvSpPr>
          <p:cNvPr id="38" name="Shape 36"/>
          <p:cNvSpPr/>
          <p:nvPr/>
        </p:nvSpPr>
        <p:spPr>
          <a:xfrm>
            <a:off x="6263640" y="2103120"/>
            <a:ext cx="5303520" cy="1325880"/>
          </a:xfrm>
          <a:prstGeom prst="roundRect">
            <a:avLst>
              <a:gd name="adj" fmla="val 6207"/>
            </a:avLst>
          </a:prstGeom>
          <a:solidFill>
            <a:srgbClr val="ECEAE4"/>
          </a:solidFill>
          <a:ln w="12700">
            <a:solidFill>
              <a:srgbClr val="ECEAE4"/>
            </a:solidFill>
            <a:prstDash val="solid"/>
          </a:ln>
        </p:spPr>
        <p:txBody>
          <a:bodyPr/>
          <a:p/>
        </p:txBody>
      </p:sp>
      <p:sp>
        <p:nvSpPr>
          <p:cNvPr id="39" name="Shape 37"/>
          <p:cNvSpPr/>
          <p:nvPr/>
        </p:nvSpPr>
        <p:spPr>
          <a:xfrm>
            <a:off x="6263640" y="2103120"/>
            <a:ext cx="82296" cy="1325880"/>
          </a:xfrm>
          <a:prstGeom prst="rect">
            <a:avLst/>
          </a:prstGeom>
          <a:solidFill>
            <a:srgbClr val="FF4757"/>
          </a:solidFill>
          <a:ln w="12700">
            <a:solidFill>
              <a:srgbClr val="FF4757"/>
            </a:solidFill>
            <a:prstDash val="solid"/>
          </a:ln>
        </p:spPr>
        <p:txBody>
          <a:bodyPr/>
          <a:p/>
        </p:txBody>
      </p:sp>
      <p:sp>
        <p:nvSpPr>
          <p:cNvPr id="40" name="Text 38"/>
          <p:cNvSpPr/>
          <p:nvPr/>
        </p:nvSpPr>
        <p:spPr>
          <a:xfrm>
            <a:off x="6583680" y="2194560"/>
            <a:ext cx="4846320" cy="274320"/>
          </a:xfrm>
          <a:prstGeom prst="rect">
            <a:avLst/>
          </a:prstGeom>
          <a:noFill/>
          <a:ln/>
        </p:spPr>
        <p:txBody>
          <a:bodyPr wrap="square" lIns="0" tIns="0" rIns="0" bIns="0" rtlCol="0" anchor="t"/>
          <a:lstStyle/>
          <a:p>
            <a:pPr indent="0" marL="0">
              <a:buNone/>
            </a:pPr>
            <a:r>
              <a:rPr lang="en-US" sz="1250" b="1" spc="200" kern="0" dirty="0">
                <a:solidFill>
                  <a:srgbClr val="B02532"/>
                </a:solidFill>
                <a:latin typeface="Palatino Linotype" pitchFamily="34" charset="0"/>
                <a:ea typeface="Palatino Linotype" pitchFamily="34" charset="-122"/>
                <a:cs typeface="Palatino Linotype" pitchFamily="34" charset="-120"/>
              </a:rPr>
              <a:t>NU SE POATE EVALUA</a:t>
            </a:r>
            <a:endParaRPr lang="en-US" sz="1250" dirty="0"/>
          </a:p>
        </p:txBody>
      </p:sp>
      <p:sp>
        <p:nvSpPr>
          <p:cNvPr id="41" name="Text 39"/>
          <p:cNvSpPr/>
          <p:nvPr/>
        </p:nvSpPr>
        <p:spPr>
          <a:xfrm>
            <a:off x="6583680" y="2542032"/>
            <a:ext cx="4846320" cy="868680"/>
          </a:xfrm>
          <a:prstGeom prst="rect">
            <a:avLst/>
          </a:prstGeom>
          <a:noFill/>
          <a:ln/>
        </p:spPr>
        <p:txBody>
          <a:bodyPr wrap="square" lIns="0" tIns="0" rIns="0" bIns="0" rtlCol="0" anchor="t"/>
          <a:lstStyle/>
          <a:p>
            <a:pPr indent="0" marL="0">
              <a:buNone/>
            </a:pPr>
            <a:r>
              <a:rPr lang="en-US" sz="1600" i="1" dirty="0">
                <a:solidFill>
                  <a:srgbClr val="11121A"/>
                </a:solidFill>
                <a:latin typeface="Palatino Linotype" pitchFamily="34" charset="0"/>
                <a:ea typeface="Palatino Linotype" pitchFamily="34" charset="-122"/>
                <a:cs typeface="Palatino Linotype" pitchFamily="34" charset="-120"/>
              </a:rPr>
              <a:t>„Părinții vor înțelege importanța pregătirii copilului pentru examinare.”</a:t>
            </a:r>
            <a:endParaRPr lang="en-US" sz="1600" dirty="0"/>
          </a:p>
        </p:txBody>
      </p:sp>
      <p:sp>
        <p:nvSpPr>
          <p:cNvPr id="42" name="Shape 40"/>
          <p:cNvSpPr/>
          <p:nvPr/>
        </p:nvSpPr>
        <p:spPr>
          <a:xfrm>
            <a:off x="6263640" y="3611880"/>
            <a:ext cx="5303520" cy="2560320"/>
          </a:xfrm>
          <a:prstGeom prst="roundRect">
            <a:avLst>
              <a:gd name="adj" fmla="val 3214"/>
            </a:avLst>
          </a:prstGeom>
          <a:solidFill>
            <a:srgbClr val="ECEAE4"/>
          </a:solidFill>
          <a:ln w="12700">
            <a:solidFill>
              <a:srgbClr val="ECEAE4"/>
            </a:solidFill>
            <a:prstDash val="solid"/>
          </a:ln>
        </p:spPr>
        <p:txBody>
          <a:bodyPr/>
          <a:p/>
        </p:txBody>
      </p:sp>
      <p:sp>
        <p:nvSpPr>
          <p:cNvPr id="43" name="Shape 41"/>
          <p:cNvSpPr/>
          <p:nvPr/>
        </p:nvSpPr>
        <p:spPr>
          <a:xfrm>
            <a:off x="6263640" y="3611880"/>
            <a:ext cx="82296" cy="2560320"/>
          </a:xfrm>
          <a:prstGeom prst="rect">
            <a:avLst/>
          </a:prstGeom>
          <a:solidFill>
            <a:srgbClr val="27D3BE"/>
          </a:solidFill>
          <a:ln w="12700">
            <a:solidFill>
              <a:srgbClr val="27D3BE"/>
            </a:solidFill>
            <a:prstDash val="solid"/>
          </a:ln>
        </p:spPr>
        <p:txBody>
          <a:bodyPr/>
          <a:p/>
        </p:txBody>
      </p:sp>
      <p:sp>
        <p:nvSpPr>
          <p:cNvPr id="44" name="Text 42"/>
          <p:cNvSpPr/>
          <p:nvPr/>
        </p:nvSpPr>
        <p:spPr>
          <a:xfrm>
            <a:off x="6583680" y="3703320"/>
            <a:ext cx="4846320" cy="274320"/>
          </a:xfrm>
          <a:prstGeom prst="rect">
            <a:avLst/>
          </a:prstGeom>
          <a:noFill/>
          <a:ln/>
        </p:spPr>
        <p:txBody>
          <a:bodyPr wrap="square" lIns="0" tIns="0" rIns="0" bIns="0" rtlCol="0" anchor="t"/>
          <a:lstStyle/>
          <a:p>
            <a:pPr indent="0" marL="0">
              <a:buNone/>
            </a:pPr>
            <a:r>
              <a:rPr lang="en-US" sz="1250" b="1" spc="200" kern="0" dirty="0">
                <a:solidFill>
                  <a:srgbClr val="0E7C6B"/>
                </a:solidFill>
                <a:latin typeface="Palatino Linotype" pitchFamily="34" charset="0"/>
                <a:ea typeface="Palatino Linotype" pitchFamily="34" charset="-122"/>
                <a:cs typeface="Palatino Linotype" pitchFamily="34" charset="-120"/>
              </a:rPr>
              <a:t>SE POATE NUMĂRA</a:t>
            </a:r>
            <a:endParaRPr lang="en-US" sz="1250" dirty="0"/>
          </a:p>
        </p:txBody>
      </p:sp>
      <p:sp>
        <p:nvSpPr>
          <p:cNvPr id="45" name="Text 43"/>
          <p:cNvSpPr/>
          <p:nvPr/>
        </p:nvSpPr>
        <p:spPr>
          <a:xfrm>
            <a:off x="6583680" y="4069080"/>
            <a:ext cx="4846320" cy="2057400"/>
          </a:xfrm>
          <a:prstGeom prst="rect">
            <a:avLst/>
          </a:prstGeom>
          <a:noFill/>
          <a:ln/>
        </p:spPr>
        <p:txBody>
          <a:bodyPr wrap="square" lIns="0" tIns="0" rIns="0" bIns="0" rtlCol="0" anchor="t"/>
          <a:lstStyle/>
          <a:p>
            <a:pPr indent="0" marL="0">
              <a:buNone/>
            </a:pPr>
            <a:r>
              <a:rPr lang="en-US" sz="1450" i="1" dirty="0">
                <a:solidFill>
                  <a:srgbClr val="11121A"/>
                </a:solidFill>
                <a:latin typeface="Palatino Linotype" pitchFamily="34" charset="0"/>
                <a:ea typeface="Palatino Linotype" pitchFamily="34" charset="-122"/>
                <a:cs typeface="Palatino Linotype" pitchFamily="34" charset="-120"/>
              </a:rPr>
              <a:t>„Până la sfârșitul anului, proporția rezonanțelor făcute cu sedare sau anestezie la copiii de 3–10 ani programați în laborator scade de la 50% la 40%, numărată din registrul secției, înainte și după program.”</a:t>
            </a:r>
            <a:endParaRPr lang="en-US" sz="14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FORMS · PARTEA A II-A</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LUCRAȚI VOI</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Fișa programului pentru copii</a:t>
            </a:r>
            <a:endParaRPr lang="en-US" sz="3000" dirty="0"/>
          </a:p>
        </p:txBody>
      </p:sp>
      <p:sp>
        <p:nvSpPr>
          <p:cNvPr id="6" name="Shape 4"/>
          <p:cNvSpPr/>
          <p:nvPr/>
        </p:nvSpPr>
        <p:spPr>
          <a:xfrm>
            <a:off x="594360" y="1645920"/>
            <a:ext cx="7863840" cy="713232"/>
          </a:xfrm>
          <a:prstGeom prst="roundRect">
            <a:avLst>
              <a:gd name="adj" fmla="val 11538"/>
            </a:avLst>
          </a:prstGeom>
          <a:solidFill>
            <a:srgbClr val="1D1F2B"/>
          </a:solidFill>
          <a:ln w="12700">
            <a:solidFill>
              <a:srgbClr val="1D1F2B"/>
            </a:solidFill>
            <a:prstDash val="solid"/>
          </a:ln>
        </p:spPr>
        <p:txBody>
          <a:bodyPr/>
          <a:p/>
        </p:txBody>
      </p:sp>
      <p:sp>
        <p:nvSpPr>
          <p:cNvPr id="7" name="Shape 5"/>
          <p:cNvSpPr/>
          <p:nvPr/>
        </p:nvSpPr>
        <p:spPr>
          <a:xfrm>
            <a:off x="822960" y="1792224"/>
            <a:ext cx="420624" cy="420624"/>
          </a:xfrm>
          <a:prstGeom prst="ellipse">
            <a:avLst/>
          </a:prstGeom>
          <a:solidFill>
            <a:srgbClr val="FFC24B"/>
          </a:solidFill>
          <a:ln/>
        </p:spPr>
        <p:txBody>
          <a:bodyPr/>
          <a:p/>
        </p:txBody>
      </p:sp>
      <p:sp>
        <p:nvSpPr>
          <p:cNvPr id="8" name="Text 6"/>
          <p:cNvSpPr/>
          <p:nvPr/>
        </p:nvSpPr>
        <p:spPr>
          <a:xfrm>
            <a:off x="822960" y="179222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463040" y="1645920"/>
            <a:ext cx="6858000" cy="713232"/>
          </a:xfrm>
          <a:prstGeom prst="rect">
            <a:avLst/>
          </a:prstGeom>
          <a:noFill/>
          <a:ln/>
        </p:spPr>
        <p:txBody>
          <a:bodyPr wrap="square" lIns="0" tIns="0" rIns="0" bIns="0" rtlCol="0" anchor="ctr"/>
          <a:lstStyle/>
          <a:p>
            <a:pPr indent="0" marL="0">
              <a:buNone/>
            </a:pPr>
            <a:r>
              <a:rPr lang="en-US" sz="1550" b="1" dirty="0">
                <a:solidFill>
                  <a:srgbClr val="FFFFFF"/>
                </a:solidFill>
                <a:latin typeface="Palatino Linotype" pitchFamily="34" charset="0"/>
                <a:ea typeface="Palatino Linotype" pitchFamily="34" charset="-122"/>
                <a:cs typeface="Palatino Linotype" pitchFamily="34" charset="-120"/>
              </a:rPr>
              <a:t>Pregătirea copiilor de 3–10 ani pentru rezonanța magnetică fără sedare</a:t>
            </a:r>
            <a:endParaRPr lang="en-US" sz="1550" dirty="0"/>
          </a:p>
        </p:txBody>
      </p:sp>
      <p:sp>
        <p:nvSpPr>
          <p:cNvPr id="10" name="Shape 8"/>
          <p:cNvSpPr/>
          <p:nvPr/>
        </p:nvSpPr>
        <p:spPr>
          <a:xfrm>
            <a:off x="594360" y="2468880"/>
            <a:ext cx="7863840" cy="713232"/>
          </a:xfrm>
          <a:prstGeom prst="roundRect">
            <a:avLst>
              <a:gd name="adj" fmla="val 11538"/>
            </a:avLst>
          </a:prstGeom>
          <a:solidFill>
            <a:srgbClr val="1D1F2B"/>
          </a:solidFill>
          <a:ln w="12700">
            <a:solidFill>
              <a:srgbClr val="1D1F2B"/>
            </a:solidFill>
            <a:prstDash val="solid"/>
          </a:ln>
        </p:spPr>
        <p:txBody>
          <a:bodyPr/>
          <a:p/>
        </p:txBody>
      </p:sp>
      <p:sp>
        <p:nvSpPr>
          <p:cNvPr id="11" name="Shape 9"/>
          <p:cNvSpPr/>
          <p:nvPr/>
        </p:nvSpPr>
        <p:spPr>
          <a:xfrm>
            <a:off x="822960" y="2615184"/>
            <a:ext cx="420624" cy="420624"/>
          </a:xfrm>
          <a:prstGeom prst="ellipse">
            <a:avLst/>
          </a:prstGeom>
          <a:solidFill>
            <a:srgbClr val="FFC24B"/>
          </a:solidFill>
          <a:ln/>
        </p:spPr>
        <p:txBody>
          <a:bodyPr/>
          <a:p/>
        </p:txBody>
      </p:sp>
      <p:sp>
        <p:nvSpPr>
          <p:cNvPr id="12" name="Text 10"/>
          <p:cNvSpPr/>
          <p:nvPr/>
        </p:nvSpPr>
        <p:spPr>
          <a:xfrm>
            <a:off x="822960" y="261518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463040" y="2468880"/>
            <a:ext cx="6858000" cy="713232"/>
          </a:xfrm>
          <a:prstGeom prst="rect">
            <a:avLst/>
          </a:prstGeom>
          <a:noFill/>
          <a:ln/>
        </p:spPr>
        <p:txBody>
          <a:bodyPr wrap="square" lIns="0" tIns="0" rIns="0" bIns="0" rtlCol="0" anchor="ctr"/>
          <a:lstStyle/>
          <a:p>
            <a:pPr indent="0" marL="0">
              <a:buNone/>
            </a:pPr>
            <a:r>
              <a:rPr lang="en-US" sz="1550" b="1" dirty="0">
                <a:solidFill>
                  <a:srgbClr val="FFFFFF"/>
                </a:solidFill>
                <a:latin typeface="Palatino Linotype" pitchFamily="34" charset="0"/>
                <a:ea typeface="Palatino Linotype" pitchFamily="34" charset="-122"/>
                <a:cs typeface="Palatino Linotype" pitchFamily="34" charset="-120"/>
              </a:rPr>
              <a:t>Părinții copiilor cu lovituri ușoare la cap care cer o tomografie „ca să fim siguri”</a:t>
            </a:r>
            <a:endParaRPr lang="en-US" sz="1550" dirty="0"/>
          </a:p>
        </p:txBody>
      </p:sp>
      <p:sp>
        <p:nvSpPr>
          <p:cNvPr id="14" name="Shape 12"/>
          <p:cNvSpPr/>
          <p:nvPr/>
        </p:nvSpPr>
        <p:spPr>
          <a:xfrm>
            <a:off x="594360" y="3291840"/>
            <a:ext cx="7863840" cy="713232"/>
          </a:xfrm>
          <a:prstGeom prst="roundRect">
            <a:avLst>
              <a:gd name="adj" fmla="val 11538"/>
            </a:avLst>
          </a:prstGeom>
          <a:solidFill>
            <a:srgbClr val="1D1F2B"/>
          </a:solidFill>
          <a:ln w="12700">
            <a:solidFill>
              <a:srgbClr val="1D1F2B"/>
            </a:solidFill>
            <a:prstDash val="solid"/>
          </a:ln>
        </p:spPr>
        <p:txBody>
          <a:bodyPr/>
          <a:p/>
        </p:txBody>
      </p:sp>
      <p:sp>
        <p:nvSpPr>
          <p:cNvPr id="15" name="Shape 13"/>
          <p:cNvSpPr/>
          <p:nvPr/>
        </p:nvSpPr>
        <p:spPr>
          <a:xfrm>
            <a:off x="822960" y="3438144"/>
            <a:ext cx="420624" cy="420624"/>
          </a:xfrm>
          <a:prstGeom prst="ellipse">
            <a:avLst/>
          </a:prstGeom>
          <a:solidFill>
            <a:srgbClr val="FFC24B"/>
          </a:solidFill>
          <a:ln/>
        </p:spPr>
        <p:txBody>
          <a:bodyPr/>
          <a:p/>
        </p:txBody>
      </p:sp>
      <p:sp>
        <p:nvSpPr>
          <p:cNvPr id="16" name="Text 14"/>
          <p:cNvSpPr/>
          <p:nvPr/>
        </p:nvSpPr>
        <p:spPr>
          <a:xfrm>
            <a:off x="822960" y="343814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463040" y="3291840"/>
            <a:ext cx="6858000" cy="713232"/>
          </a:xfrm>
          <a:prstGeom prst="rect">
            <a:avLst/>
          </a:prstGeom>
          <a:noFill/>
          <a:ln/>
        </p:spPr>
        <p:txBody>
          <a:bodyPr wrap="square" lIns="0" tIns="0" rIns="0" bIns="0" rtlCol="0" anchor="ctr"/>
          <a:lstStyle/>
          <a:p>
            <a:pPr indent="0" marL="0">
              <a:buNone/>
            </a:pPr>
            <a:r>
              <a:rPr lang="en-US" sz="1550" b="1" dirty="0">
                <a:solidFill>
                  <a:srgbClr val="FFFFFF"/>
                </a:solidFill>
                <a:latin typeface="Palatino Linotype" pitchFamily="34" charset="0"/>
                <a:ea typeface="Palatino Linotype" pitchFamily="34" charset="-122"/>
                <a:cs typeface="Palatino Linotype" pitchFamily="34" charset="-120"/>
              </a:rPr>
              <a:t>Adolescentele și întrebarea despre o posibilă sarcină înaintea unei examinări cu radiații</a:t>
            </a:r>
            <a:endParaRPr lang="en-US" sz="1550" dirty="0"/>
          </a:p>
        </p:txBody>
      </p:sp>
      <p:sp>
        <p:nvSpPr>
          <p:cNvPr id="18" name="Text 16"/>
          <p:cNvSpPr/>
          <p:nvPr/>
        </p:nvSpPr>
        <p:spPr>
          <a:xfrm>
            <a:off x="594360" y="4160520"/>
            <a:ext cx="7863840" cy="411480"/>
          </a:xfrm>
          <a:prstGeom prst="rect">
            <a:avLst/>
          </a:prstGeom>
          <a:noFill/>
          <a:ln/>
        </p:spPr>
        <p:txBody>
          <a:bodyPr wrap="square" lIns="0" tIns="0" rIns="0" bIns="0" rtlCol="0" anchor="t"/>
          <a:lstStyle/>
          <a:p>
            <a:pPr indent="0" marL="0">
              <a:buNone/>
            </a:pPr>
            <a:r>
              <a:rPr lang="en-US" sz="1350" i="1" dirty="0">
                <a:solidFill>
                  <a:srgbClr val="959BB0"/>
                </a:solidFill>
                <a:latin typeface="Palatino Linotype" pitchFamily="34" charset="0"/>
                <a:ea typeface="Palatino Linotype" pitchFamily="34" charset="-122"/>
                <a:cs typeface="Palatino Linotype" pitchFamily="34" charset="-120"/>
              </a:rPr>
              <a:t>La rubrica „problema”: porniți și de la ce v-a lipsit vouă sau familiei voastre la o examinare.</a:t>
            </a:r>
            <a:endParaRPr lang="en-US" sz="1350" dirty="0"/>
          </a:p>
        </p:txBody>
      </p:sp>
      <p:sp>
        <p:nvSpPr>
          <p:cNvPr id="19" name="Text 17"/>
          <p:cNvSpPr/>
          <p:nvPr/>
        </p:nvSpPr>
        <p:spPr>
          <a:xfrm>
            <a:off x="594360" y="4572000"/>
            <a:ext cx="7863840" cy="594360"/>
          </a:xfrm>
          <a:prstGeom prst="rect">
            <a:avLst/>
          </a:prstGeom>
          <a:noFill/>
          <a:ln/>
        </p:spPr>
        <p:txBody>
          <a:bodyPr wrap="square" lIns="0" tIns="0" rIns="0" bIns="0" rtlCol="0" anchor="t"/>
          <a:lstStyle/>
          <a:p>
            <a:pPr indent="0" marL="0">
              <a:buNone/>
            </a:pPr>
            <a:r>
              <a:rPr lang="en-US" sz="1350" dirty="0">
                <a:solidFill>
                  <a:srgbClr val="27D3BE"/>
                </a:solidFill>
                <a:latin typeface="Palatino Linotype" pitchFamily="34" charset="0"/>
                <a:ea typeface="Palatino Linotype" pitchFamily="34" charset="-122"/>
                <a:cs typeface="Palatino Linotype" pitchFamily="34" charset="-120"/>
              </a:rPr>
              <a:t>Pentru tema B: sub 10 ani, un caz suplimentar de leucemie și unul de tumoră cerebrală la 10 000 de tomografii ale capului (Marea Britanie, 1985–2002).</a:t>
            </a:r>
            <a:endParaRPr lang="en-US" sz="1350" dirty="0"/>
          </a:p>
        </p:txBody>
      </p:sp>
      <p:sp>
        <p:nvSpPr>
          <p:cNvPr id="20" name="Shape 18"/>
          <p:cNvSpPr/>
          <p:nvPr/>
        </p:nvSpPr>
        <p:spPr>
          <a:xfrm>
            <a:off x="8823960" y="1645920"/>
            <a:ext cx="2743200" cy="2743200"/>
          </a:xfrm>
          <a:prstGeom prst="roundRect">
            <a:avLst>
              <a:gd name="adj" fmla="val 3000"/>
            </a:avLst>
          </a:prstGeom>
          <a:solidFill>
            <a:srgbClr val="FFFFFF"/>
          </a:solidFill>
          <a:ln w="12700">
            <a:solidFill>
              <a:srgbClr val="FFFFFF"/>
            </a:solidFill>
            <a:prstDash val="solid"/>
          </a:ln>
        </p:spPr>
        <p:txBody>
          <a:bodyPr/>
          <a:p/>
        </p:txBody>
      </p:sp>
      <p:sp>
        <p:nvSpPr>
          <p:cNvPr id="23" name="Text 21"/>
          <p:cNvSpPr/>
          <p:nvPr/>
        </p:nvSpPr>
        <p:spPr>
          <a:xfrm>
            <a:off x="8823960" y="4480560"/>
            <a:ext cx="2743200" cy="548640"/>
          </a:xfrm>
          <a:prstGeom prst="rect">
            <a:avLst/>
          </a:prstGeom>
          <a:noFill/>
          <a:ln/>
        </p:spPr>
        <p:txBody>
          <a:bodyPr wrap="square" lIns="0" tIns="0" rIns="0" bIns="0" rtlCol="0" anchor="t"/>
          <a:lstStyle/>
          <a:p>
            <a:pPr indent="0" marL="0">
              <a:buNone/>
            </a:pPr>
            <a:r>
              <a:rPr lang="en-US" sz="1400" i="1" dirty="0">
                <a:solidFill>
                  <a:srgbClr val="959BB0"/>
                </a:solidFill>
                <a:latin typeface="Palatino Linotype" pitchFamily="34" charset="0"/>
                <a:ea typeface="Palatino Linotype" pitchFamily="34" charset="-122"/>
                <a:cs typeface="Palatino Linotype" pitchFamily="34" charset="-120"/>
              </a:rPr>
              <a:t>Partea a doua a formularului.</a:t>
            </a:r>
            <a:endParaRPr lang="en-US" sz="1400" dirty="0"/>
          </a:p>
        </p:txBody>
      </p:sp>
      <p:sp>
        <p:nvSpPr>
          <p:cNvPr id="24" name="Shape 22"/>
          <p:cNvSpPr/>
          <p:nvPr/>
        </p:nvSpPr>
        <p:spPr>
          <a:xfrm>
            <a:off x="594360" y="5257800"/>
            <a:ext cx="3474720" cy="914400"/>
          </a:xfrm>
          <a:prstGeom prst="roundRect">
            <a:avLst>
              <a:gd name="adj" fmla="val 9000"/>
            </a:avLst>
          </a:prstGeom>
          <a:solidFill>
            <a:srgbClr val="272A38"/>
          </a:solidFill>
          <a:ln w="12700">
            <a:solidFill>
              <a:srgbClr val="272A38"/>
            </a:solidFill>
            <a:prstDash val="solid"/>
          </a:ln>
        </p:spPr>
        <p:txBody>
          <a:bodyPr/>
          <a:p/>
        </p:txBody>
      </p:sp>
      <p:sp>
        <p:nvSpPr>
          <p:cNvPr id="25" name="Shape 23"/>
          <p:cNvSpPr/>
          <p:nvPr/>
        </p:nvSpPr>
        <p:spPr>
          <a:xfrm>
            <a:off x="594360" y="5257800"/>
            <a:ext cx="82296" cy="914400"/>
          </a:xfrm>
          <a:prstGeom prst="rect">
            <a:avLst/>
          </a:prstGeom>
          <a:solidFill>
            <a:srgbClr val="FFC24B"/>
          </a:solidFill>
          <a:ln w="12700">
            <a:solidFill>
              <a:srgbClr val="FFC24B"/>
            </a:solidFill>
            <a:prstDash val="solid"/>
          </a:ln>
        </p:spPr>
        <p:txBody>
          <a:bodyPr/>
          <a:p/>
        </p:txBody>
      </p:sp>
      <p:sp>
        <p:nvSpPr>
          <p:cNvPr id="26" name="Text 24"/>
          <p:cNvSpPr/>
          <p:nvPr/>
        </p:nvSpPr>
        <p:spPr>
          <a:xfrm>
            <a:off x="868680" y="5321808"/>
            <a:ext cx="3017520" cy="237744"/>
          </a:xfrm>
          <a:prstGeom prst="rect">
            <a:avLst/>
          </a:prstGeom>
          <a:noFill/>
          <a:ln/>
        </p:spPr>
        <p:txBody>
          <a:bodyPr wrap="square" lIns="0" tIns="0" rIns="0" bIns="0" rtlCol="0" anchor="t"/>
          <a:lstStyle/>
          <a:p>
            <a:pPr indent="0" marL="0">
              <a:buNone/>
            </a:pPr>
            <a:r>
              <a:rPr lang="en-US" sz="1200" b="1" spc="100" kern="0" dirty="0">
                <a:solidFill>
                  <a:srgbClr val="FFC24B"/>
                </a:solidFill>
                <a:latin typeface="Palatino Linotype" pitchFamily="34" charset="0"/>
                <a:ea typeface="Palatino Linotype" pitchFamily="34" charset="-122"/>
                <a:cs typeface="Palatino Linotype" pitchFamily="34" charset="-120"/>
              </a:rPr>
              <a:t>ECHIPELE LUCREAZĂ</a:t>
            </a:r>
            <a:endParaRPr lang="en-US" sz="1200" dirty="0"/>
          </a:p>
        </p:txBody>
      </p:sp>
      <p:sp>
        <p:nvSpPr>
          <p:cNvPr id="27" name="Text 25"/>
          <p:cNvSpPr/>
          <p:nvPr/>
        </p:nvSpPr>
        <p:spPr>
          <a:xfrm>
            <a:off x="868680" y="5577840"/>
            <a:ext cx="3063240" cy="566928"/>
          </a:xfrm>
          <a:prstGeom prst="rect">
            <a:avLst/>
          </a:prstGeom>
          <a:noFill/>
          <a:ln/>
        </p:spPr>
        <p:txBody>
          <a:bodyPr wrap="square" lIns="0" tIns="0" rIns="0" bIns="0" rtlCol="0" anchor="t"/>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25 de minute</a:t>
            </a:r>
            <a:endParaRPr lang="en-US" sz="1800" dirty="0"/>
          </a:p>
        </p:txBody>
      </p:sp>
      <p:sp>
        <p:nvSpPr>
          <p:cNvPr id="28" name="Shape 26"/>
          <p:cNvSpPr/>
          <p:nvPr/>
        </p:nvSpPr>
        <p:spPr>
          <a:xfrm>
            <a:off x="4343400" y="5257800"/>
            <a:ext cx="3474720" cy="914400"/>
          </a:xfrm>
          <a:prstGeom prst="roundRect">
            <a:avLst>
              <a:gd name="adj" fmla="val 9000"/>
            </a:avLst>
          </a:prstGeom>
          <a:solidFill>
            <a:srgbClr val="272A38"/>
          </a:solidFill>
          <a:ln w="12700">
            <a:solidFill>
              <a:srgbClr val="272A38"/>
            </a:solidFill>
            <a:prstDash val="solid"/>
          </a:ln>
        </p:spPr>
        <p:txBody>
          <a:bodyPr/>
          <a:p/>
        </p:txBody>
      </p:sp>
      <p:sp>
        <p:nvSpPr>
          <p:cNvPr id="29" name="Shape 27"/>
          <p:cNvSpPr/>
          <p:nvPr/>
        </p:nvSpPr>
        <p:spPr>
          <a:xfrm>
            <a:off x="4343400" y="5257800"/>
            <a:ext cx="82296" cy="914400"/>
          </a:xfrm>
          <a:prstGeom prst="rect">
            <a:avLst/>
          </a:prstGeom>
          <a:solidFill>
            <a:srgbClr val="27D3BE"/>
          </a:solidFill>
          <a:ln w="12700">
            <a:solidFill>
              <a:srgbClr val="27D3BE"/>
            </a:solidFill>
            <a:prstDash val="solid"/>
          </a:ln>
        </p:spPr>
        <p:txBody>
          <a:bodyPr/>
          <a:p/>
        </p:txBody>
      </p:sp>
      <p:sp>
        <p:nvSpPr>
          <p:cNvPr id="30" name="Text 28"/>
          <p:cNvSpPr/>
          <p:nvPr/>
        </p:nvSpPr>
        <p:spPr>
          <a:xfrm>
            <a:off x="4617720" y="5321808"/>
            <a:ext cx="3017520" cy="237744"/>
          </a:xfrm>
          <a:prstGeom prst="rect">
            <a:avLst/>
          </a:prstGeom>
          <a:noFill/>
          <a:ln/>
        </p:spPr>
        <p:txBody>
          <a:bodyPr wrap="square" lIns="0" tIns="0" rIns="0" bIns="0" rtlCol="0" anchor="t"/>
          <a:lstStyle/>
          <a:p>
            <a:pPr indent="0" marL="0">
              <a:buNone/>
            </a:pPr>
            <a:r>
              <a:rPr lang="en-US" sz="1200" b="1" spc="100" kern="0" dirty="0">
                <a:solidFill>
                  <a:srgbClr val="27D3BE"/>
                </a:solidFill>
                <a:latin typeface="Palatino Linotype" pitchFamily="34" charset="0"/>
                <a:ea typeface="Palatino Linotype" pitchFamily="34" charset="-122"/>
                <a:cs typeface="Palatino Linotype" pitchFamily="34" charset="-120"/>
              </a:rPr>
              <a:t>DOUĂ ECHIPE, LA SORȚI</a:t>
            </a:r>
            <a:endParaRPr lang="en-US" sz="1200" dirty="0"/>
          </a:p>
        </p:txBody>
      </p:sp>
      <p:sp>
        <p:nvSpPr>
          <p:cNvPr id="31" name="Text 29"/>
          <p:cNvSpPr/>
          <p:nvPr/>
        </p:nvSpPr>
        <p:spPr>
          <a:xfrm>
            <a:off x="4617720" y="5577840"/>
            <a:ext cx="3063240" cy="566928"/>
          </a:xfrm>
          <a:prstGeom prst="rect">
            <a:avLst/>
          </a:prstGeom>
          <a:noFill/>
          <a:ln/>
        </p:spPr>
        <p:txBody>
          <a:bodyPr wrap="square" lIns="0" tIns="0" rIns="0" bIns="0" rtlCol="0" anchor="t"/>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trei minute fiecare</a:t>
            </a:r>
            <a:endParaRPr lang="en-US" sz="1800" dirty="0"/>
          </a:p>
        </p:txBody>
      </p:sp>
      <p:sp>
        <p:nvSpPr>
          <p:cNvPr id="32" name="Shape 30"/>
          <p:cNvSpPr/>
          <p:nvPr/>
        </p:nvSpPr>
        <p:spPr>
          <a:xfrm>
            <a:off x="8092440" y="5257800"/>
            <a:ext cx="3474720" cy="914400"/>
          </a:xfrm>
          <a:prstGeom prst="roundRect">
            <a:avLst>
              <a:gd name="adj" fmla="val 9000"/>
            </a:avLst>
          </a:prstGeom>
          <a:solidFill>
            <a:srgbClr val="272A38"/>
          </a:solidFill>
          <a:ln w="12700">
            <a:solidFill>
              <a:srgbClr val="272A38"/>
            </a:solidFill>
            <a:prstDash val="solid"/>
          </a:ln>
        </p:spPr>
        <p:txBody>
          <a:bodyPr/>
          <a:p/>
        </p:txBody>
      </p:sp>
      <p:sp>
        <p:nvSpPr>
          <p:cNvPr id="33" name="Shape 31"/>
          <p:cNvSpPr/>
          <p:nvPr/>
        </p:nvSpPr>
        <p:spPr>
          <a:xfrm>
            <a:off x="8092440" y="5257800"/>
            <a:ext cx="82296" cy="914400"/>
          </a:xfrm>
          <a:prstGeom prst="rect">
            <a:avLst/>
          </a:prstGeom>
          <a:solidFill>
            <a:srgbClr val="FF4757"/>
          </a:solidFill>
          <a:ln w="12700">
            <a:solidFill>
              <a:srgbClr val="FF4757"/>
            </a:solidFill>
            <a:prstDash val="solid"/>
          </a:ln>
        </p:spPr>
        <p:txBody>
          <a:bodyPr/>
          <a:p/>
        </p:txBody>
      </p:sp>
      <p:sp>
        <p:nvSpPr>
          <p:cNvPr id="34" name="Text 32"/>
          <p:cNvSpPr/>
          <p:nvPr/>
        </p:nvSpPr>
        <p:spPr>
          <a:xfrm>
            <a:off x="8366760" y="5321808"/>
            <a:ext cx="3017520" cy="237744"/>
          </a:xfrm>
          <a:prstGeom prst="rect">
            <a:avLst/>
          </a:prstGeom>
          <a:noFill/>
          <a:ln/>
        </p:spPr>
        <p:txBody>
          <a:bodyPr wrap="square" lIns="0" tIns="0" rIns="0" bIns="0" rtlCol="0" anchor="t"/>
          <a:lstStyle/>
          <a:p>
            <a:pPr indent="0" marL="0">
              <a:buNone/>
            </a:pPr>
            <a:r>
              <a:rPr lang="en-US" sz="1200" b="1" spc="100" kern="0" dirty="0">
                <a:solidFill>
                  <a:srgbClr val="FF4757"/>
                </a:solidFill>
                <a:latin typeface="Palatino Linotype" pitchFamily="34" charset="0"/>
                <a:ea typeface="Palatino Linotype" pitchFamily="34" charset="-122"/>
                <a:cs typeface="Palatino Linotype" pitchFamily="34" charset="-120"/>
              </a:rPr>
              <a:t>SALA RĂSPUNDE</a:t>
            </a:r>
            <a:endParaRPr lang="en-US" sz="1200" dirty="0"/>
          </a:p>
        </p:txBody>
      </p:sp>
      <p:sp>
        <p:nvSpPr>
          <p:cNvPr id="35" name="Text 33"/>
          <p:cNvSpPr/>
          <p:nvPr/>
        </p:nvSpPr>
        <p:spPr>
          <a:xfrm>
            <a:off x="8366760" y="5577840"/>
            <a:ext cx="3063240" cy="566928"/>
          </a:xfrm>
          <a:prstGeom prst="rect">
            <a:avLst/>
          </a:prstGeom>
          <a:noFill/>
          <a:ln/>
        </p:spPr>
        <p:txBody>
          <a:bodyPr wrap="square" lIns="0" tIns="0" rIns="0" bIns="0" rtlCol="0" anchor="t"/>
          <a:lstStyle/>
          <a:p>
            <a:pPr indent="0" marL="0">
              <a:buNone/>
            </a:pPr>
            <a:r>
              <a:rPr lang="en-US" sz="1300" b="1" dirty="0">
                <a:solidFill>
                  <a:srgbClr val="FFFFFF"/>
                </a:solidFill>
                <a:latin typeface="Palatino Linotype" pitchFamily="34" charset="0"/>
                <a:ea typeface="Palatino Linotype" pitchFamily="34" charset="-122"/>
                <a:cs typeface="Palatino Linotype" pitchFamily="34" charset="-120"/>
              </a:rPr>
              <a:t>„Cum vom ști, la sfârșitul anului, dacă programul a mers?”</a:t>
            </a:r>
            <a:endParaRPr lang="en-US" sz="1300" dirty="0"/>
          </a:p>
        </p:txBody>
      </p:sp>
      <p:pic>
        <p:nvPicPr>
          <p:cNvPr id="36" name="Picture 35" descr="EPS_RI_LP01_sala_joi_15_10.png"/>
          <p:cNvPicPr>
            <a:picLocks noChangeAspect="1"/>
          </p:cNvPicPr>
          <p:nvPr/>
        </p:nvPicPr>
        <p:blipFill>
          <a:blip r:embed="rId3"/>
          <a:stretch>
            <a:fillRect/>
          </a:stretch>
        </p:blipFill>
        <p:spPr>
          <a:xfrm>
            <a:off x="8961120" y="1783080"/>
            <a:ext cx="2468880" cy="246888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RĂSPUNS · FIȘA-MODEL, TEMA 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O fișă care se poate evalua</a:t>
            </a:r>
            <a:endParaRPr lang="en-US" sz="3200" dirty="0"/>
          </a:p>
        </p:txBody>
      </p:sp>
      <p:sp>
        <p:nvSpPr>
          <p:cNvPr id="4" name="Shape 2"/>
          <p:cNvSpPr/>
          <p:nvPr/>
        </p:nvSpPr>
        <p:spPr>
          <a:xfrm>
            <a:off x="594360" y="1691640"/>
            <a:ext cx="3474720" cy="1828800"/>
          </a:xfrm>
          <a:prstGeom prst="roundRect">
            <a:avLst>
              <a:gd name="adj" fmla="val 4500"/>
            </a:avLst>
          </a:prstGeom>
          <a:solidFill>
            <a:srgbClr val="ECEAE4"/>
          </a:solidFill>
          <a:ln w="12700">
            <a:solidFill>
              <a:srgbClr val="ECEAE4"/>
            </a:solidFill>
            <a:prstDash val="solid"/>
          </a:ln>
        </p:spPr>
        <p:txBody>
          <a:bodyPr/>
          <a:p/>
        </p:txBody>
      </p:sp>
      <p:sp>
        <p:nvSpPr>
          <p:cNvPr id="5" name="Shape 3"/>
          <p:cNvSpPr/>
          <p:nvPr/>
        </p:nvSpPr>
        <p:spPr>
          <a:xfrm>
            <a:off x="594360" y="1691640"/>
            <a:ext cx="82296" cy="1828800"/>
          </a:xfrm>
          <a:prstGeom prst="rect">
            <a:avLst/>
          </a:prstGeom>
          <a:solidFill>
            <a:srgbClr val="B02532"/>
          </a:solidFill>
          <a:ln w="12700">
            <a:solidFill>
              <a:srgbClr val="B02532"/>
            </a:solidFill>
            <a:prstDash val="solid"/>
          </a:ln>
        </p:spPr>
        <p:txBody>
          <a:bodyPr/>
          <a:p/>
        </p:txBody>
      </p:sp>
      <p:sp>
        <p:nvSpPr>
          <p:cNvPr id="6" name="Text 4"/>
          <p:cNvSpPr/>
          <p:nvPr/>
        </p:nvSpPr>
        <p:spPr>
          <a:xfrm>
            <a:off x="868680" y="1801368"/>
            <a:ext cx="3063240" cy="274320"/>
          </a:xfrm>
          <a:prstGeom prst="rect">
            <a:avLst/>
          </a:prstGeom>
          <a:noFill/>
          <a:ln/>
        </p:spPr>
        <p:txBody>
          <a:bodyPr wrap="square" lIns="0" tIns="0" rIns="0" bIns="0" rtlCol="0" anchor="t"/>
          <a:lstStyle/>
          <a:p>
            <a:pPr indent="0" marL="0">
              <a:buNone/>
            </a:pPr>
            <a:r>
              <a:rPr lang="en-US" sz="1250" b="1" spc="100" kern="0" dirty="0">
                <a:solidFill>
                  <a:srgbClr val="B02532"/>
                </a:solidFill>
                <a:latin typeface="Palatino Linotype" pitchFamily="34" charset="0"/>
                <a:ea typeface="Palatino Linotype" pitchFamily="34" charset="-122"/>
                <a:cs typeface="Palatino Linotype" pitchFamily="34" charset="-120"/>
              </a:rPr>
              <a:t>PROBLEMA</a:t>
            </a:r>
            <a:endParaRPr lang="en-US" sz="1250" dirty="0"/>
          </a:p>
        </p:txBody>
      </p:sp>
      <p:sp>
        <p:nvSpPr>
          <p:cNvPr id="7" name="Text 5"/>
          <p:cNvSpPr/>
          <p:nvPr/>
        </p:nvSpPr>
        <p:spPr>
          <a:xfrm>
            <a:off x="868680" y="2148840"/>
            <a:ext cx="3063240" cy="1325880"/>
          </a:xfrm>
          <a:prstGeom prst="rect">
            <a:avLst/>
          </a:prstGeom>
          <a:noFill/>
          <a:ln/>
        </p:spPr>
        <p:txBody>
          <a:bodyPr wrap="square" lIns="0" tIns="0" rIns="0" bIns="0" rtlCol="0" anchor="t"/>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Multe rezonanțe la copii mici se fac cu sedare; proporția exactă, din registrul laboratorului.</a:t>
            </a:r>
            <a:endParaRPr lang="en-US" sz="1400" dirty="0"/>
          </a:p>
        </p:txBody>
      </p:sp>
      <p:sp>
        <p:nvSpPr>
          <p:cNvPr id="8" name="Shape 6"/>
          <p:cNvSpPr/>
          <p:nvPr/>
        </p:nvSpPr>
        <p:spPr>
          <a:xfrm>
            <a:off x="4343400" y="1691640"/>
            <a:ext cx="3474720" cy="1828800"/>
          </a:xfrm>
          <a:prstGeom prst="roundRect">
            <a:avLst>
              <a:gd name="adj" fmla="val 4500"/>
            </a:avLst>
          </a:prstGeom>
          <a:solidFill>
            <a:srgbClr val="ECEAE4"/>
          </a:solidFill>
          <a:ln w="12700">
            <a:solidFill>
              <a:srgbClr val="ECEAE4"/>
            </a:solidFill>
            <a:prstDash val="solid"/>
          </a:ln>
        </p:spPr>
        <p:txBody>
          <a:bodyPr/>
          <a:p/>
        </p:txBody>
      </p:sp>
      <p:sp>
        <p:nvSpPr>
          <p:cNvPr id="9" name="Shape 7"/>
          <p:cNvSpPr/>
          <p:nvPr/>
        </p:nvSpPr>
        <p:spPr>
          <a:xfrm>
            <a:off x="4343400" y="1691640"/>
            <a:ext cx="82296" cy="1828800"/>
          </a:xfrm>
          <a:prstGeom prst="rect">
            <a:avLst/>
          </a:prstGeom>
          <a:solidFill>
            <a:srgbClr val="0E7C6B"/>
          </a:solidFill>
          <a:ln w="12700">
            <a:solidFill>
              <a:srgbClr val="0E7C6B"/>
            </a:solidFill>
            <a:prstDash val="solid"/>
          </a:ln>
        </p:spPr>
        <p:txBody>
          <a:bodyPr/>
          <a:p/>
        </p:txBody>
      </p:sp>
      <p:sp>
        <p:nvSpPr>
          <p:cNvPr id="10" name="Text 8"/>
          <p:cNvSpPr/>
          <p:nvPr/>
        </p:nvSpPr>
        <p:spPr>
          <a:xfrm>
            <a:off x="4617720" y="1801368"/>
            <a:ext cx="3063240" cy="274320"/>
          </a:xfrm>
          <a:prstGeom prst="rect">
            <a:avLst/>
          </a:prstGeom>
          <a:noFill/>
          <a:ln/>
        </p:spPr>
        <p:txBody>
          <a:bodyPr wrap="square" lIns="0" tIns="0" rIns="0" bIns="0" rtlCol="0" anchor="t"/>
          <a:lstStyle/>
          <a:p>
            <a:pPr indent="0" marL="0">
              <a:buNone/>
            </a:pPr>
            <a:r>
              <a:rPr lang="en-US" sz="1250" b="1" spc="100" kern="0" dirty="0">
                <a:solidFill>
                  <a:srgbClr val="0E7C6B"/>
                </a:solidFill>
                <a:latin typeface="Palatino Linotype" pitchFamily="34" charset="0"/>
                <a:ea typeface="Palatino Linotype" pitchFamily="34" charset="-122"/>
                <a:cs typeface="Palatino Linotype" pitchFamily="34" charset="-120"/>
              </a:rPr>
              <a:t>GRUPUL</a:t>
            </a:r>
            <a:endParaRPr lang="en-US" sz="1250" dirty="0"/>
          </a:p>
        </p:txBody>
      </p:sp>
      <p:sp>
        <p:nvSpPr>
          <p:cNvPr id="11" name="Text 9"/>
          <p:cNvSpPr/>
          <p:nvPr/>
        </p:nvSpPr>
        <p:spPr>
          <a:xfrm>
            <a:off x="4617720" y="2148840"/>
            <a:ext cx="3063240" cy="1325880"/>
          </a:xfrm>
          <a:prstGeom prst="rect">
            <a:avLst/>
          </a:prstGeom>
          <a:noFill/>
          <a:ln/>
        </p:spPr>
        <p:txBody>
          <a:bodyPr wrap="square" lIns="0" tIns="0" rIns="0" bIns="0" rtlCol="0" anchor="t"/>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Copiii de 3–10 ani programați la rezonanță magnetică și părinții lor.</a:t>
            </a:r>
            <a:endParaRPr lang="en-US" sz="1400" dirty="0"/>
          </a:p>
        </p:txBody>
      </p:sp>
      <p:sp>
        <p:nvSpPr>
          <p:cNvPr id="12" name="Shape 10"/>
          <p:cNvSpPr/>
          <p:nvPr/>
        </p:nvSpPr>
        <p:spPr>
          <a:xfrm>
            <a:off x="8092440" y="1691640"/>
            <a:ext cx="3474720" cy="1828800"/>
          </a:xfrm>
          <a:prstGeom prst="roundRect">
            <a:avLst>
              <a:gd name="adj" fmla="val 4500"/>
            </a:avLst>
          </a:prstGeom>
          <a:solidFill>
            <a:srgbClr val="ECEAE4"/>
          </a:solidFill>
          <a:ln w="12700">
            <a:solidFill>
              <a:srgbClr val="ECEAE4"/>
            </a:solidFill>
            <a:prstDash val="solid"/>
          </a:ln>
        </p:spPr>
        <p:txBody>
          <a:bodyPr/>
          <a:p/>
        </p:txBody>
      </p:sp>
      <p:sp>
        <p:nvSpPr>
          <p:cNvPr id="13" name="Shape 11"/>
          <p:cNvSpPr/>
          <p:nvPr/>
        </p:nvSpPr>
        <p:spPr>
          <a:xfrm>
            <a:off x="8092440" y="1691640"/>
            <a:ext cx="82296" cy="1828800"/>
          </a:xfrm>
          <a:prstGeom prst="rect">
            <a:avLst/>
          </a:prstGeom>
          <a:solidFill>
            <a:srgbClr val="4A2D8C"/>
          </a:solidFill>
          <a:ln w="12700">
            <a:solidFill>
              <a:srgbClr val="4A2D8C"/>
            </a:solidFill>
            <a:prstDash val="solid"/>
          </a:ln>
        </p:spPr>
        <p:txBody>
          <a:bodyPr/>
          <a:p/>
        </p:txBody>
      </p:sp>
      <p:sp>
        <p:nvSpPr>
          <p:cNvPr id="14" name="Text 12"/>
          <p:cNvSpPr/>
          <p:nvPr/>
        </p:nvSpPr>
        <p:spPr>
          <a:xfrm>
            <a:off x="8366760" y="1801368"/>
            <a:ext cx="3063240" cy="274320"/>
          </a:xfrm>
          <a:prstGeom prst="rect">
            <a:avLst/>
          </a:prstGeom>
          <a:noFill/>
          <a:ln/>
        </p:spPr>
        <p:txBody>
          <a:bodyPr wrap="square" lIns="0" tIns="0" rIns="0" bIns="0" rtlCol="0" anchor="t"/>
          <a:lstStyle/>
          <a:p>
            <a:pPr indent="0" marL="0">
              <a:buNone/>
            </a:pPr>
            <a:r>
              <a:rPr lang="en-US" sz="1250" b="1" spc="100" kern="0" dirty="0">
                <a:solidFill>
                  <a:srgbClr val="4A2D8C"/>
                </a:solidFill>
                <a:latin typeface="Palatino Linotype" pitchFamily="34" charset="0"/>
                <a:ea typeface="Palatino Linotype" pitchFamily="34" charset="-122"/>
                <a:cs typeface="Palatino Linotype" pitchFamily="34" charset="-120"/>
              </a:rPr>
              <a:t>OBIECTIVUL</a:t>
            </a:r>
            <a:endParaRPr lang="en-US" sz="1250" dirty="0"/>
          </a:p>
        </p:txBody>
      </p:sp>
      <p:sp>
        <p:nvSpPr>
          <p:cNvPr id="15" name="Text 13"/>
          <p:cNvSpPr/>
          <p:nvPr/>
        </p:nvSpPr>
        <p:spPr>
          <a:xfrm>
            <a:off x="8366760" y="2148840"/>
            <a:ext cx="3063240" cy="1325880"/>
          </a:xfrm>
          <a:prstGeom prst="rect">
            <a:avLst/>
          </a:prstGeom>
          <a:noFill/>
          <a:ln/>
        </p:spPr>
        <p:txBody>
          <a:bodyPr wrap="square" lIns="0" tIns="0" rIns="0" bIns="0" rtlCol="0" anchor="t"/>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Proporția examinărilor cu sedare scade cu zece puncte procentuale față de cele trei luni dinaintea programului.</a:t>
            </a:r>
            <a:endParaRPr lang="en-US" sz="1400" dirty="0"/>
          </a:p>
        </p:txBody>
      </p:sp>
      <p:sp>
        <p:nvSpPr>
          <p:cNvPr id="16" name="Shape 14"/>
          <p:cNvSpPr/>
          <p:nvPr/>
        </p:nvSpPr>
        <p:spPr>
          <a:xfrm>
            <a:off x="594360" y="3703320"/>
            <a:ext cx="3474720" cy="1828800"/>
          </a:xfrm>
          <a:prstGeom prst="roundRect">
            <a:avLst>
              <a:gd name="adj" fmla="val 4500"/>
            </a:avLst>
          </a:prstGeom>
          <a:solidFill>
            <a:srgbClr val="ECEAE4"/>
          </a:solidFill>
          <a:ln w="12700">
            <a:solidFill>
              <a:srgbClr val="ECEAE4"/>
            </a:solidFill>
            <a:prstDash val="solid"/>
          </a:ln>
        </p:spPr>
        <p:txBody>
          <a:bodyPr/>
          <a:p/>
        </p:txBody>
      </p:sp>
      <p:sp>
        <p:nvSpPr>
          <p:cNvPr id="17" name="Shape 15"/>
          <p:cNvSpPr/>
          <p:nvPr/>
        </p:nvSpPr>
        <p:spPr>
          <a:xfrm>
            <a:off x="594360" y="3703320"/>
            <a:ext cx="82296" cy="1828800"/>
          </a:xfrm>
          <a:prstGeom prst="rect">
            <a:avLst/>
          </a:prstGeom>
          <a:solidFill>
            <a:srgbClr val="8A6100"/>
          </a:solidFill>
          <a:ln w="12700">
            <a:solidFill>
              <a:srgbClr val="8A6100"/>
            </a:solidFill>
            <a:prstDash val="solid"/>
          </a:ln>
        </p:spPr>
        <p:txBody>
          <a:bodyPr/>
          <a:p/>
        </p:txBody>
      </p:sp>
      <p:sp>
        <p:nvSpPr>
          <p:cNvPr id="18" name="Text 16"/>
          <p:cNvSpPr/>
          <p:nvPr/>
        </p:nvSpPr>
        <p:spPr>
          <a:xfrm>
            <a:off x="868680" y="3813048"/>
            <a:ext cx="3063240" cy="274320"/>
          </a:xfrm>
          <a:prstGeom prst="rect">
            <a:avLst/>
          </a:prstGeom>
          <a:noFill/>
          <a:ln/>
        </p:spPr>
        <p:txBody>
          <a:bodyPr wrap="square" lIns="0" tIns="0" rIns="0" bIns="0" rtlCol="0" anchor="t"/>
          <a:lstStyle/>
          <a:p>
            <a:pPr indent="0" marL="0">
              <a:buNone/>
            </a:pPr>
            <a:r>
              <a:rPr lang="en-US" sz="1250" b="1" spc="100" kern="0" dirty="0">
                <a:solidFill>
                  <a:srgbClr val="8A6100"/>
                </a:solidFill>
                <a:latin typeface="Palatino Linotype" pitchFamily="34" charset="0"/>
                <a:ea typeface="Palatino Linotype" pitchFamily="34" charset="-122"/>
                <a:cs typeface="Palatino Linotype" pitchFamily="34" charset="-120"/>
              </a:rPr>
              <a:t>ACTIVITĂȚILE</a:t>
            </a:r>
            <a:endParaRPr lang="en-US" sz="1250" dirty="0"/>
          </a:p>
        </p:txBody>
      </p:sp>
      <p:sp>
        <p:nvSpPr>
          <p:cNvPr id="19" name="Text 17"/>
          <p:cNvSpPr/>
          <p:nvPr/>
        </p:nvSpPr>
        <p:spPr>
          <a:xfrm>
            <a:off x="868680" y="4160520"/>
            <a:ext cx="3063240" cy="1325880"/>
          </a:xfrm>
          <a:prstGeom prst="rect">
            <a:avLst/>
          </a:prstGeom>
          <a:noFill/>
          <a:ln/>
        </p:spPr>
        <p:txBody>
          <a:bodyPr wrap="square" lIns="0" tIns="0" rIns="0" bIns="0" rtlCol="0" anchor="t"/>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Film trimis odată cu programarea; sunetele aparatului acasă; jocul cu un aparat de jucărie; vizită în sală pentru cei foarte speriați.</a:t>
            </a:r>
            <a:endParaRPr lang="en-US" sz="1400" dirty="0"/>
          </a:p>
        </p:txBody>
      </p:sp>
      <p:sp>
        <p:nvSpPr>
          <p:cNvPr id="20" name="Shape 18"/>
          <p:cNvSpPr/>
          <p:nvPr/>
        </p:nvSpPr>
        <p:spPr>
          <a:xfrm>
            <a:off x="4343400" y="3703320"/>
            <a:ext cx="3474720" cy="1828800"/>
          </a:xfrm>
          <a:prstGeom prst="roundRect">
            <a:avLst>
              <a:gd name="adj" fmla="val 4500"/>
            </a:avLst>
          </a:prstGeom>
          <a:solidFill>
            <a:srgbClr val="ECEAE4"/>
          </a:solidFill>
          <a:ln w="12700">
            <a:solidFill>
              <a:srgbClr val="ECEAE4"/>
            </a:solidFill>
            <a:prstDash val="solid"/>
          </a:ln>
        </p:spPr>
        <p:txBody>
          <a:bodyPr/>
          <a:p/>
        </p:txBody>
      </p:sp>
      <p:sp>
        <p:nvSpPr>
          <p:cNvPr id="21" name="Shape 19"/>
          <p:cNvSpPr/>
          <p:nvPr/>
        </p:nvSpPr>
        <p:spPr>
          <a:xfrm>
            <a:off x="4343400" y="3703320"/>
            <a:ext cx="82296" cy="1828800"/>
          </a:xfrm>
          <a:prstGeom prst="rect">
            <a:avLst/>
          </a:prstGeom>
          <a:solidFill>
            <a:srgbClr val="B02532"/>
          </a:solidFill>
          <a:ln w="12700">
            <a:solidFill>
              <a:srgbClr val="B02532"/>
            </a:solidFill>
            <a:prstDash val="solid"/>
          </a:ln>
        </p:spPr>
        <p:txBody>
          <a:bodyPr/>
          <a:p/>
        </p:txBody>
      </p:sp>
      <p:sp>
        <p:nvSpPr>
          <p:cNvPr id="22" name="Text 20"/>
          <p:cNvSpPr/>
          <p:nvPr/>
        </p:nvSpPr>
        <p:spPr>
          <a:xfrm>
            <a:off x="4617720" y="3813048"/>
            <a:ext cx="3063240" cy="274320"/>
          </a:xfrm>
          <a:prstGeom prst="rect">
            <a:avLst/>
          </a:prstGeom>
          <a:noFill/>
          <a:ln/>
        </p:spPr>
        <p:txBody>
          <a:bodyPr wrap="square" lIns="0" tIns="0" rIns="0" bIns="0" rtlCol="0" anchor="t"/>
          <a:lstStyle/>
          <a:p>
            <a:pPr indent="0" marL="0">
              <a:buNone/>
            </a:pPr>
            <a:r>
              <a:rPr lang="en-US" sz="1250" b="1" spc="100" kern="0" dirty="0">
                <a:solidFill>
                  <a:srgbClr val="B02532"/>
                </a:solidFill>
                <a:latin typeface="Palatino Linotype" pitchFamily="34" charset="0"/>
                <a:ea typeface="Palatino Linotype" pitchFamily="34" charset="-122"/>
                <a:cs typeface="Palatino Linotype" pitchFamily="34" charset="-120"/>
              </a:rPr>
              <a:t>PARTENERII ȘI RESURSELE</a:t>
            </a:r>
            <a:endParaRPr lang="en-US" sz="1250" dirty="0"/>
          </a:p>
        </p:txBody>
      </p:sp>
      <p:sp>
        <p:nvSpPr>
          <p:cNvPr id="23" name="Text 21"/>
          <p:cNvSpPr/>
          <p:nvPr/>
        </p:nvSpPr>
        <p:spPr>
          <a:xfrm>
            <a:off x="4617720" y="4160520"/>
            <a:ext cx="3063240" cy="1325880"/>
          </a:xfrm>
          <a:prstGeom prst="rect">
            <a:avLst/>
          </a:prstGeom>
          <a:noFill/>
          <a:ln/>
        </p:spPr>
        <p:txBody>
          <a:bodyPr wrap="square" lIns="0" tIns="0" rIns="0" bIns="0" rtlCol="0" anchor="t"/>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Pediatria, medicii care trimit, anestezistul, psihologul; o zi pentru film, un aparat de jucărie.</a:t>
            </a:r>
            <a:endParaRPr lang="en-US" sz="1400" dirty="0"/>
          </a:p>
        </p:txBody>
      </p:sp>
      <p:sp>
        <p:nvSpPr>
          <p:cNvPr id="24" name="Shape 22"/>
          <p:cNvSpPr/>
          <p:nvPr/>
        </p:nvSpPr>
        <p:spPr>
          <a:xfrm>
            <a:off x="8092440" y="3703320"/>
            <a:ext cx="3474720" cy="1828800"/>
          </a:xfrm>
          <a:prstGeom prst="roundRect">
            <a:avLst>
              <a:gd name="adj" fmla="val 4500"/>
            </a:avLst>
          </a:prstGeom>
          <a:solidFill>
            <a:srgbClr val="ECEAE4"/>
          </a:solidFill>
          <a:ln w="12700">
            <a:solidFill>
              <a:srgbClr val="ECEAE4"/>
            </a:solidFill>
            <a:prstDash val="solid"/>
          </a:ln>
        </p:spPr>
        <p:txBody>
          <a:bodyPr/>
          <a:p/>
        </p:txBody>
      </p:sp>
      <p:sp>
        <p:nvSpPr>
          <p:cNvPr id="25" name="Shape 23"/>
          <p:cNvSpPr/>
          <p:nvPr/>
        </p:nvSpPr>
        <p:spPr>
          <a:xfrm>
            <a:off x="8092440" y="3703320"/>
            <a:ext cx="82296" cy="1828800"/>
          </a:xfrm>
          <a:prstGeom prst="rect">
            <a:avLst/>
          </a:prstGeom>
          <a:solidFill>
            <a:srgbClr val="0E7C6B"/>
          </a:solidFill>
          <a:ln w="12700">
            <a:solidFill>
              <a:srgbClr val="0E7C6B"/>
            </a:solidFill>
            <a:prstDash val="solid"/>
          </a:ln>
        </p:spPr>
        <p:txBody>
          <a:bodyPr/>
          <a:p/>
        </p:txBody>
      </p:sp>
      <p:sp>
        <p:nvSpPr>
          <p:cNvPr id="26" name="Text 24"/>
          <p:cNvSpPr/>
          <p:nvPr/>
        </p:nvSpPr>
        <p:spPr>
          <a:xfrm>
            <a:off x="8366760" y="3813048"/>
            <a:ext cx="3063240" cy="274320"/>
          </a:xfrm>
          <a:prstGeom prst="rect">
            <a:avLst/>
          </a:prstGeom>
          <a:noFill/>
          <a:ln/>
        </p:spPr>
        <p:txBody>
          <a:bodyPr wrap="square" lIns="0" tIns="0" rIns="0" bIns="0" rtlCol="0" anchor="t"/>
          <a:lstStyle/>
          <a:p>
            <a:pPr indent="0" marL="0">
              <a:buNone/>
            </a:pPr>
            <a:r>
              <a:rPr lang="en-US" sz="1250" b="1" spc="100" kern="0" dirty="0">
                <a:solidFill>
                  <a:srgbClr val="0E7C6B"/>
                </a:solidFill>
                <a:latin typeface="Palatino Linotype" pitchFamily="34" charset="0"/>
                <a:ea typeface="Palatino Linotype" pitchFamily="34" charset="-122"/>
                <a:cs typeface="Palatino Linotype" pitchFamily="34" charset="-120"/>
              </a:rPr>
              <a:t>EVALUAREA</a:t>
            </a:r>
            <a:endParaRPr lang="en-US" sz="1250" dirty="0"/>
          </a:p>
        </p:txBody>
      </p:sp>
      <p:sp>
        <p:nvSpPr>
          <p:cNvPr id="27" name="Text 25"/>
          <p:cNvSpPr/>
          <p:nvPr/>
        </p:nvSpPr>
        <p:spPr>
          <a:xfrm>
            <a:off x="8366760" y="4160520"/>
            <a:ext cx="3063240" cy="1325880"/>
          </a:xfrm>
          <a:prstGeom prst="rect">
            <a:avLst/>
          </a:prstGeom>
          <a:noFill/>
          <a:ln/>
        </p:spPr>
        <p:txBody>
          <a:bodyPr wrap="square" lIns="0" tIns="0" rIns="0" bIns="0" rtlCol="0" anchor="t"/>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Examinările cu sedare și cele repetate, din registru, înainte și după; chestionar de trei întrebări pentru părinți.</a:t>
            </a:r>
            <a:endParaRPr lang="en-US" sz="1400" dirty="0"/>
          </a:p>
        </p:txBody>
      </p:sp>
      <p:sp>
        <p:nvSpPr>
          <p:cNvPr id="28" name="Text 26"/>
          <p:cNvSpPr/>
          <p:nvPr/>
        </p:nvSpPr>
        <p:spPr>
          <a:xfrm>
            <a:off x="594360" y="5806440"/>
            <a:ext cx="10972800" cy="365760"/>
          </a:xfrm>
          <a:prstGeom prst="rect">
            <a:avLst/>
          </a:prstGeom>
          <a:noFill/>
          <a:ln/>
        </p:spPr>
        <p:txBody>
          <a:bodyPr wrap="square" lIns="0" tIns="0" rIns="0" bIns="0" rtlCol="0" anchor="t"/>
          <a:lstStyle/>
          <a:p>
            <a:pPr indent="0" marL="0">
              <a:buNone/>
            </a:pPr>
            <a:r>
              <a:rPr lang="en-US" sz="1300" i="1" dirty="0">
                <a:solidFill>
                  <a:srgbClr val="585A64"/>
                </a:solidFill>
                <a:latin typeface="Palatino Linotype" pitchFamily="34" charset="0"/>
                <a:ea typeface="Palatino Linotype" pitchFamily="34" charset="-122"/>
                <a:cs typeface="Palatino Linotype" pitchFamily="34" charset="-120"/>
              </a:rPr>
              <a:t>Valori ipotetice: fișă-model; cifra problemei se ia din registrul laboratorului, nu din Eurostat.</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CE NU PUTEM SPUNE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Ce nu știm încă</a:t>
            </a:r>
            <a:endParaRPr lang="en-US" sz="3200" dirty="0"/>
          </a:p>
        </p:txBody>
      </p:sp>
      <p:sp>
        <p:nvSpPr>
          <p:cNvPr id="4" name="Shape 2"/>
          <p:cNvSpPr/>
          <p:nvPr/>
        </p:nvSpPr>
        <p:spPr>
          <a:xfrm>
            <a:off x="594360" y="1691640"/>
            <a:ext cx="7223760" cy="4297680"/>
          </a:xfrm>
          <a:prstGeom prst="roundRect">
            <a:avLst>
              <a:gd name="adj" fmla="val 1915"/>
            </a:avLst>
          </a:prstGeom>
          <a:solidFill>
            <a:srgbClr val="1D1F2B"/>
          </a:solidFill>
          <a:ln w="12700">
            <a:solidFill>
              <a:srgbClr val="1D1F2B"/>
            </a:solidFill>
            <a:prstDash val="solid"/>
          </a:ln>
        </p:spPr>
        <p:txBody>
          <a:bodyPr/>
          <a:p/>
        </p:txBody>
      </p:sp>
      <p:sp>
        <p:nvSpPr>
          <p:cNvPr id="5" name="Shape 3"/>
          <p:cNvSpPr/>
          <p:nvPr/>
        </p:nvSpPr>
        <p:spPr>
          <a:xfrm>
            <a:off x="594360" y="1691640"/>
            <a:ext cx="82296" cy="4297680"/>
          </a:xfrm>
          <a:prstGeom prst="rect">
            <a:avLst/>
          </a:prstGeom>
          <a:solidFill>
            <a:srgbClr val="FF4757"/>
          </a:solidFill>
          <a:ln w="12700">
            <a:solidFill>
              <a:srgbClr val="FF4757"/>
            </a:solidFill>
            <a:prstDash val="solid"/>
          </a:ln>
        </p:spPr>
        <p:txBody>
          <a:bodyPr/>
          <a:p/>
        </p:txBody>
      </p:sp>
      <p:sp>
        <p:nvSpPr>
          <p:cNvPr id="6" name="Text 4"/>
          <p:cNvSpPr/>
          <p:nvPr/>
        </p:nvSpPr>
        <p:spPr>
          <a:xfrm>
            <a:off x="914400" y="1874520"/>
            <a:ext cx="6675120" cy="1097280"/>
          </a:xfrm>
          <a:prstGeom prst="rect">
            <a:avLst/>
          </a:prstGeom>
          <a:noFill/>
          <a:ln/>
        </p:spPr>
        <p:txBody>
          <a:bodyPr wrap="square" lIns="0" tIns="0" rIns="0" bIns="0" rtlCol="0" anchor="t"/>
          <a:lstStyle/>
          <a:p>
            <a:pPr indent="0" marL="0">
              <a:buNone/>
            </a:pPr>
            <a:r>
              <a:rPr lang="en-US" sz="2100" b="1" dirty="0">
                <a:solidFill>
                  <a:srgbClr val="FFFFFF"/>
                </a:solidFill>
                <a:latin typeface="Palatino Linotype" pitchFamily="34" charset="0"/>
                <a:ea typeface="Palatino Linotype" pitchFamily="34" charset="-122"/>
                <a:cs typeface="Palatino Linotype" pitchFamily="34" charset="-120"/>
              </a:rPr>
              <a:t>Câte rezonanțe magnetice se fac anual la copiii din România și câte dintre ele cu sedare?</a:t>
            </a:r>
            <a:endParaRPr lang="en-US" sz="2100" dirty="0"/>
          </a:p>
        </p:txBody>
      </p:sp>
      <p:sp>
        <p:nvSpPr>
          <p:cNvPr id="7" name="Text 5"/>
          <p:cNvSpPr/>
          <p:nvPr/>
        </p:nvSpPr>
        <p:spPr>
          <a:xfrm>
            <a:off x="914400" y="3108960"/>
            <a:ext cx="6675120" cy="1554480"/>
          </a:xfrm>
          <a:prstGeom prst="rect">
            <a:avLst/>
          </a:prstGeom>
          <a:noFill/>
          <a:ln/>
        </p:spPr>
        <p:txBody>
          <a:bodyPr wrap="square" lIns="0" tIns="0" rIns="0" bIns="0" rtlCol="0" anchor="t"/>
          <a:lstStyle/>
          <a:p>
            <a:pPr indent="0" marL="0">
              <a:buNone/>
            </a:pPr>
            <a:r>
              <a:rPr lang="en-US" sz="1600" dirty="0">
                <a:solidFill>
                  <a:srgbClr val="D5D8E2"/>
                </a:solidFill>
                <a:latin typeface="Palatino Linotype" pitchFamily="34" charset="0"/>
                <a:ea typeface="Palatino Linotype" pitchFamily="34" charset="-122"/>
                <a:cs typeface="Palatino Linotype" pitchFamily="34" charset="-120"/>
              </a:rPr>
              <a:t>Din datele consultate, nu se poate spune. Eurostat publică numărul total de examinări la 100 000 de locuitori, fără vârstă și fără sedare. De aceea, cifra problemei din fișă vine, deocamdată, din registrul propriu al secției.</a:t>
            </a:r>
            <a:endParaRPr lang="en-US" sz="1600" dirty="0"/>
          </a:p>
        </p:txBody>
      </p:sp>
      <p:sp>
        <p:nvSpPr>
          <p:cNvPr id="8" name="Text 6"/>
          <p:cNvSpPr/>
          <p:nvPr/>
        </p:nvSpPr>
        <p:spPr>
          <a:xfrm>
            <a:off x="914400" y="4754880"/>
            <a:ext cx="6675120" cy="100584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Recenziile reunesc programe cu componente diferite; nu știm care componentă a pregătirii contează cel mai mult.</a:t>
            </a:r>
            <a:endParaRPr lang="en-US" sz="1500" dirty="0"/>
          </a:p>
        </p:txBody>
      </p:sp>
      <p:sp>
        <p:nvSpPr>
          <p:cNvPr id="9" name="Shape 7"/>
          <p:cNvSpPr/>
          <p:nvPr/>
        </p:nvSpPr>
        <p:spPr>
          <a:xfrm>
            <a:off x="8092440" y="1691640"/>
            <a:ext cx="3474720" cy="4297680"/>
          </a:xfrm>
          <a:prstGeom prst="roundRect">
            <a:avLst>
              <a:gd name="adj" fmla="val 2368"/>
            </a:avLst>
          </a:prstGeom>
          <a:solidFill>
            <a:srgbClr val="272A38"/>
          </a:solidFill>
          <a:ln w="12700">
            <a:solidFill>
              <a:srgbClr val="272A38"/>
            </a:solidFill>
            <a:prstDash val="solid"/>
          </a:ln>
        </p:spPr>
        <p:txBody>
          <a:bodyPr/>
          <a:p/>
        </p:txBody>
      </p:sp>
      <p:sp>
        <p:nvSpPr>
          <p:cNvPr id="10" name="Shape 8"/>
          <p:cNvSpPr/>
          <p:nvPr/>
        </p:nvSpPr>
        <p:spPr>
          <a:xfrm>
            <a:off x="8092440" y="1691640"/>
            <a:ext cx="82296" cy="4297680"/>
          </a:xfrm>
          <a:prstGeom prst="rect">
            <a:avLst/>
          </a:prstGeom>
          <a:solidFill>
            <a:srgbClr val="FFC24B"/>
          </a:solidFill>
          <a:ln w="12700">
            <a:solidFill>
              <a:srgbClr val="FFC24B"/>
            </a:solidFill>
            <a:prstDash val="solid"/>
          </a:ln>
        </p:spPr>
        <p:txBody>
          <a:bodyPr/>
          <a:p/>
        </p:txBody>
      </p:sp>
      <p:sp>
        <p:nvSpPr>
          <p:cNvPr id="11" name="Text 9"/>
          <p:cNvSpPr/>
          <p:nvPr/>
        </p:nvSpPr>
        <p:spPr>
          <a:xfrm>
            <a:off x="8366760" y="1874520"/>
            <a:ext cx="3063240" cy="502920"/>
          </a:xfrm>
          <a:prstGeom prst="rect">
            <a:avLst/>
          </a:prstGeom>
          <a:noFill/>
          <a:ln/>
        </p:spPr>
        <p:txBody>
          <a:bodyPr wrap="square" lIns="0" tIns="0" rIns="0" bIns="0" rtlCol="0" anchor="t"/>
          <a:lstStyle/>
          <a:p>
            <a:pPr indent="0" marL="0">
              <a:buNone/>
            </a:pPr>
            <a:r>
              <a:rPr lang="en-US" sz="1250" b="1" spc="100" kern="0" dirty="0">
                <a:solidFill>
                  <a:srgbClr val="FFC24B"/>
                </a:solidFill>
                <a:latin typeface="Palatino Linotype" pitchFamily="34" charset="0"/>
                <a:ea typeface="Palatino Linotype" pitchFamily="34" charset="-122"/>
                <a:cs typeface="Palatino Linotype" pitchFamily="34" charset="-120"/>
              </a:rPr>
              <a:t>ACASĂ · FORMULARUL INDIVIDUAL</a:t>
            </a:r>
            <a:endParaRPr lang="en-US" sz="1250" dirty="0"/>
          </a:p>
        </p:txBody>
      </p:sp>
      <p:sp>
        <p:nvSpPr>
          <p:cNvPr id="12" name="Text 10"/>
          <p:cNvSpPr/>
          <p:nvPr/>
        </p:nvSpPr>
        <p:spPr>
          <a:xfrm>
            <a:off x="8366760" y="2514600"/>
            <a:ext cx="3063240" cy="1280160"/>
          </a:xfrm>
          <a:prstGeom prst="rect">
            <a:avLst/>
          </a:prstGeom>
          <a:noFill/>
          <a:ln/>
        </p:spPr>
        <p:txBody>
          <a:bodyPr wrap="square" lIns="0" tIns="0" rIns="0" bIns="0" rtlCol="0" anchor="t"/>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Trei întrebări, aproximativ un sfert de oră, cu contul UMF.</a:t>
            </a:r>
            <a:endParaRPr lang="en-US" sz="1700" dirty="0"/>
          </a:p>
        </p:txBody>
      </p:sp>
      <p:sp>
        <p:nvSpPr>
          <p:cNvPr id="13" name="Text 11"/>
          <p:cNvSpPr/>
          <p:nvPr/>
        </p:nvSpPr>
        <p:spPr>
          <a:xfrm>
            <a:off x="8366760" y="3931920"/>
            <a:ext cx="3063240" cy="1920240"/>
          </a:xfrm>
          <a:prstGeom prst="rect">
            <a:avLst/>
          </a:prstGeom>
          <a:noFill/>
          <a:ln/>
        </p:spPr>
        <p:txBody>
          <a:bodyPr wrap="square" lIns="0" tIns="0" rIns="0" bIns="0" rtlCol="0" anchor="t"/>
          <a:lstStyle/>
          <a:p>
            <a:pPr indent="0" marL="0">
              <a:buNone/>
            </a:pPr>
            <a:r>
              <a:rPr lang="en-US" sz="1450" dirty="0">
                <a:solidFill>
                  <a:srgbClr val="D5D8E2"/>
                </a:solidFill>
                <a:latin typeface="Palatino Linotype" pitchFamily="34" charset="0"/>
                <a:ea typeface="Palatino Linotype" pitchFamily="34" charset="-122"/>
                <a:cs typeface="Palatino Linotype" pitchFamily="34" charset="-120"/>
              </a:rPr>
              <a:t>Din el se vede cine a lucrat. Răspunsurile nu se notează separat; explicația apare după trimitere.</a:t>
            </a:r>
            <a:endParaRPr lang="en-US" sz="14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85800" y="502920"/>
            <a:ext cx="3840480" cy="329184"/>
          </a:xfrm>
          <a:prstGeom prst="roundRect">
            <a:avLst>
              <a:gd name="adj" fmla="val 50000"/>
            </a:avLst>
          </a:prstGeom>
          <a:solidFill>
            <a:srgbClr val="FF4757"/>
          </a:solidFill>
          <a:ln w="12700">
            <a:solidFill>
              <a:srgbClr val="FF4757"/>
            </a:solidFill>
            <a:prstDash val="solid"/>
          </a:ln>
        </p:spPr>
        <p:txBody>
          <a:bodyPr/>
          <a:p/>
        </p:txBody>
      </p:sp>
      <p:sp>
        <p:nvSpPr>
          <p:cNvPr id="3" name="Text 1"/>
          <p:cNvSpPr/>
          <p:nvPr/>
        </p:nvSpPr>
        <p:spPr>
          <a:xfrm>
            <a:off x="685800" y="502920"/>
            <a:ext cx="384048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ULTIMELE CINCI MINUTE · ANONIM</a:t>
            </a:r>
            <a:endParaRPr lang="en-US" sz="1300" dirty="0"/>
          </a:p>
        </p:txBody>
      </p:sp>
      <p:sp>
        <p:nvSpPr>
          <p:cNvPr id="4" name="Text 2"/>
          <p:cNvSpPr/>
          <p:nvPr/>
        </p:nvSpPr>
        <p:spPr>
          <a:xfrm>
            <a:off x="685800" y="1143000"/>
            <a:ext cx="7680960" cy="274320"/>
          </a:xfrm>
          <a:prstGeom prst="rect">
            <a:avLst/>
          </a:prstGeom>
          <a:noFill/>
          <a:ln/>
        </p:spPr>
        <p:txBody>
          <a:bodyPr wrap="square" lIns="0" tIns="0" rIns="0" bIns="0" rtlCol="0" anchor="t"/>
          <a:lstStyle/>
          <a:p>
            <a:pPr indent="0" marL="0">
              <a:buNone/>
            </a:pPr>
            <a:r>
              <a:rPr lang="en-US" sz="1250" b="1" spc="200" kern="0" dirty="0">
                <a:solidFill>
                  <a:srgbClr val="FFC24B"/>
                </a:solidFill>
                <a:latin typeface="Palatino Linotype" pitchFamily="34" charset="0"/>
                <a:ea typeface="Palatino Linotype" pitchFamily="34" charset="-122"/>
                <a:cs typeface="Palatino Linotype" pitchFamily="34" charset="-120"/>
              </a:rPr>
              <a:t>CE FACEȚI DIFERIT DE MÂINE</a:t>
            </a:r>
            <a:endParaRPr lang="en-US" sz="1250" dirty="0"/>
          </a:p>
        </p:txBody>
      </p:sp>
      <p:sp>
        <p:nvSpPr>
          <p:cNvPr id="5" name="Shape 3"/>
          <p:cNvSpPr/>
          <p:nvPr/>
        </p:nvSpPr>
        <p:spPr>
          <a:xfrm>
            <a:off x="594360" y="1508760"/>
            <a:ext cx="7772400" cy="530352"/>
          </a:xfrm>
          <a:prstGeom prst="roundRect">
            <a:avLst>
              <a:gd name="adj" fmla="val 15517"/>
            </a:avLst>
          </a:prstGeom>
          <a:solidFill>
            <a:srgbClr val="1D1F2B"/>
          </a:solidFill>
          <a:ln w="12700">
            <a:solidFill>
              <a:srgbClr val="1D1F2B"/>
            </a:solidFill>
            <a:prstDash val="solid"/>
          </a:ln>
        </p:spPr>
        <p:txBody>
          <a:bodyPr/>
          <a:p/>
        </p:txBody>
      </p:sp>
      <p:sp>
        <p:nvSpPr>
          <p:cNvPr id="6" name="Shape 4"/>
          <p:cNvSpPr/>
          <p:nvPr/>
        </p:nvSpPr>
        <p:spPr>
          <a:xfrm>
            <a:off x="868680" y="1563624"/>
            <a:ext cx="420624" cy="420624"/>
          </a:xfrm>
          <a:prstGeom prst="ellipse">
            <a:avLst/>
          </a:prstGeom>
          <a:solidFill>
            <a:srgbClr val="FFC24B"/>
          </a:solidFill>
          <a:ln/>
        </p:spPr>
        <p:txBody>
          <a:bodyPr/>
          <a:p/>
        </p:txBody>
      </p:sp>
      <p:sp>
        <p:nvSpPr>
          <p:cNvPr id="7" name="Text 5"/>
          <p:cNvSpPr/>
          <p:nvPr/>
        </p:nvSpPr>
        <p:spPr>
          <a:xfrm>
            <a:off x="868680" y="156362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8" name="Text 6"/>
          <p:cNvSpPr/>
          <p:nvPr/>
        </p:nvSpPr>
        <p:spPr>
          <a:xfrm>
            <a:off x="1508760" y="1508760"/>
            <a:ext cx="6629400" cy="530352"/>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Același tip de pacient oprește aceeași examinare: întrebarea laboratorului.</a:t>
            </a:r>
            <a:endParaRPr lang="en-US" sz="1500" dirty="0"/>
          </a:p>
        </p:txBody>
      </p:sp>
      <p:sp>
        <p:nvSpPr>
          <p:cNvPr id="9" name="Shape 7"/>
          <p:cNvSpPr/>
          <p:nvPr/>
        </p:nvSpPr>
        <p:spPr>
          <a:xfrm>
            <a:off x="594360" y="2130552"/>
            <a:ext cx="7772400" cy="530352"/>
          </a:xfrm>
          <a:prstGeom prst="roundRect">
            <a:avLst>
              <a:gd name="adj" fmla="val 15517"/>
            </a:avLst>
          </a:prstGeom>
          <a:solidFill>
            <a:srgbClr val="1D1F2B"/>
          </a:solidFill>
          <a:ln w="12700">
            <a:solidFill>
              <a:srgbClr val="1D1F2B"/>
            </a:solidFill>
            <a:prstDash val="solid"/>
          </a:ln>
        </p:spPr>
        <p:txBody>
          <a:bodyPr/>
          <a:p/>
        </p:txBody>
      </p:sp>
      <p:sp>
        <p:nvSpPr>
          <p:cNvPr id="10" name="Shape 8"/>
          <p:cNvSpPr/>
          <p:nvPr/>
        </p:nvSpPr>
        <p:spPr>
          <a:xfrm>
            <a:off x="868680" y="2185416"/>
            <a:ext cx="420624" cy="420624"/>
          </a:xfrm>
          <a:prstGeom prst="ellipse">
            <a:avLst/>
          </a:prstGeom>
          <a:solidFill>
            <a:srgbClr val="FFC24B"/>
          </a:solidFill>
          <a:ln/>
        </p:spPr>
        <p:txBody>
          <a:bodyPr/>
          <a:p/>
        </p:txBody>
      </p:sp>
      <p:sp>
        <p:nvSpPr>
          <p:cNvPr id="11" name="Text 9"/>
          <p:cNvSpPr/>
          <p:nvPr/>
        </p:nvSpPr>
        <p:spPr>
          <a:xfrm>
            <a:off x="868680" y="218541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2" name="Text 10"/>
          <p:cNvSpPr/>
          <p:nvPr/>
        </p:nvSpPr>
        <p:spPr>
          <a:xfrm>
            <a:off x="1508760" y="2130552"/>
            <a:ext cx="6629400" cy="530352"/>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Cineva cere „un pliant”: ce se schimbă și cum numărați schimbarea.</a:t>
            </a:r>
            <a:endParaRPr lang="en-US" sz="1500" dirty="0"/>
          </a:p>
        </p:txBody>
      </p:sp>
      <p:sp>
        <p:nvSpPr>
          <p:cNvPr id="13" name="Shape 11"/>
          <p:cNvSpPr/>
          <p:nvPr/>
        </p:nvSpPr>
        <p:spPr>
          <a:xfrm>
            <a:off x="594360" y="2752344"/>
            <a:ext cx="7772400" cy="530352"/>
          </a:xfrm>
          <a:prstGeom prst="roundRect">
            <a:avLst>
              <a:gd name="adj" fmla="val 15517"/>
            </a:avLst>
          </a:prstGeom>
          <a:solidFill>
            <a:srgbClr val="1D1F2B"/>
          </a:solidFill>
          <a:ln w="12700">
            <a:solidFill>
              <a:srgbClr val="1D1F2B"/>
            </a:solidFill>
            <a:prstDash val="solid"/>
          </a:ln>
        </p:spPr>
        <p:txBody>
          <a:bodyPr/>
          <a:p/>
        </p:txBody>
      </p:sp>
      <p:sp>
        <p:nvSpPr>
          <p:cNvPr id="14" name="Shape 12"/>
          <p:cNvSpPr/>
          <p:nvPr/>
        </p:nvSpPr>
        <p:spPr>
          <a:xfrm>
            <a:off x="868680" y="2807208"/>
            <a:ext cx="420624" cy="420624"/>
          </a:xfrm>
          <a:prstGeom prst="ellipse">
            <a:avLst/>
          </a:prstGeom>
          <a:solidFill>
            <a:srgbClr val="FFC24B"/>
          </a:solidFill>
          <a:ln/>
        </p:spPr>
        <p:txBody>
          <a:bodyPr/>
          <a:p/>
        </p:txBody>
      </p:sp>
      <p:sp>
        <p:nvSpPr>
          <p:cNvPr id="15" name="Text 13"/>
          <p:cNvSpPr/>
          <p:nvPr/>
        </p:nvSpPr>
        <p:spPr>
          <a:xfrm>
            <a:off x="868680" y="28072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6" name="Text 14"/>
          <p:cNvSpPr/>
          <p:nvPr/>
        </p:nvSpPr>
        <p:spPr>
          <a:xfrm>
            <a:off x="1508760" y="2752344"/>
            <a:ext cx="6629400" cy="530352"/>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Pregătiți un copil: arătați-i ce urmează, nu doar spuneți-i.</a:t>
            </a:r>
            <a:endParaRPr lang="en-US" sz="1500" dirty="0"/>
          </a:p>
        </p:txBody>
      </p:sp>
      <p:sp>
        <p:nvSpPr>
          <p:cNvPr id="17" name="Text 15"/>
          <p:cNvSpPr/>
          <p:nvPr/>
        </p:nvSpPr>
        <p:spPr>
          <a:xfrm>
            <a:off x="685800" y="3566160"/>
            <a:ext cx="7680960" cy="274320"/>
          </a:xfrm>
          <a:prstGeom prst="rect">
            <a:avLst/>
          </a:prstGeom>
          <a:noFill/>
          <a:ln/>
        </p:spPr>
        <p:txBody>
          <a:bodyPr wrap="square" lIns="0" tIns="0" rIns="0" bIns="0" rtlCol="0" anchor="t"/>
          <a:lstStyle/>
          <a:p>
            <a:pPr indent="0" marL="0">
              <a:buNone/>
            </a:pPr>
            <a:r>
              <a:rPr lang="en-US" sz="1250" b="1" spc="200" kern="0" dirty="0">
                <a:solidFill>
                  <a:srgbClr val="FFC24B"/>
                </a:solidFill>
                <a:latin typeface="Palatino Linotype" pitchFamily="34" charset="0"/>
                <a:ea typeface="Palatino Linotype" pitchFamily="34" charset="-122"/>
                <a:cs typeface="Palatino Linotype" pitchFamily="34" charset="-120"/>
              </a:rPr>
              <a:t>TREI ÎNTREBĂRI PENTRU FINAL</a:t>
            </a:r>
            <a:endParaRPr lang="en-US" sz="1250" dirty="0"/>
          </a:p>
        </p:txBody>
      </p:sp>
      <p:sp>
        <p:nvSpPr>
          <p:cNvPr id="18" name="Shape 16"/>
          <p:cNvSpPr/>
          <p:nvPr/>
        </p:nvSpPr>
        <p:spPr>
          <a:xfrm>
            <a:off x="822960" y="3995928"/>
            <a:ext cx="420624" cy="420624"/>
          </a:xfrm>
          <a:prstGeom prst="ellipse">
            <a:avLst/>
          </a:prstGeom>
          <a:solidFill>
            <a:srgbClr val="FFC24B"/>
          </a:solidFill>
          <a:ln/>
        </p:spPr>
        <p:txBody>
          <a:bodyPr/>
          <a:p/>
        </p:txBody>
      </p:sp>
      <p:sp>
        <p:nvSpPr>
          <p:cNvPr id="19" name="Text 17"/>
          <p:cNvSpPr/>
          <p:nvPr/>
        </p:nvSpPr>
        <p:spPr>
          <a:xfrm>
            <a:off x="822960" y="39959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20" name="Text 18"/>
          <p:cNvSpPr/>
          <p:nvPr/>
        </p:nvSpPr>
        <p:spPr>
          <a:xfrm>
            <a:off x="1463040" y="3931920"/>
            <a:ext cx="6766560" cy="54864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Ce a fost util azi?</a:t>
            </a:r>
            <a:endParaRPr lang="en-US" sz="2000" dirty="0"/>
          </a:p>
        </p:txBody>
      </p:sp>
      <p:sp>
        <p:nvSpPr>
          <p:cNvPr id="21" name="Shape 19"/>
          <p:cNvSpPr/>
          <p:nvPr/>
        </p:nvSpPr>
        <p:spPr>
          <a:xfrm>
            <a:off x="822960" y="4654296"/>
            <a:ext cx="420624" cy="420624"/>
          </a:xfrm>
          <a:prstGeom prst="ellipse">
            <a:avLst/>
          </a:prstGeom>
          <a:solidFill>
            <a:srgbClr val="FFC24B"/>
          </a:solidFill>
          <a:ln/>
        </p:spPr>
        <p:txBody>
          <a:bodyPr/>
          <a:p/>
        </p:txBody>
      </p:sp>
      <p:sp>
        <p:nvSpPr>
          <p:cNvPr id="22" name="Text 20"/>
          <p:cNvSpPr/>
          <p:nvPr/>
        </p:nvSpPr>
        <p:spPr>
          <a:xfrm>
            <a:off x="822960" y="465429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23" name="Text 21"/>
          <p:cNvSpPr/>
          <p:nvPr/>
        </p:nvSpPr>
        <p:spPr>
          <a:xfrm>
            <a:off x="1463040" y="4590288"/>
            <a:ext cx="6766560" cy="54864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Unde v-am pierdut?</a:t>
            </a:r>
            <a:endParaRPr lang="en-US" sz="2000" dirty="0"/>
          </a:p>
        </p:txBody>
      </p:sp>
      <p:sp>
        <p:nvSpPr>
          <p:cNvPr id="24" name="Shape 22"/>
          <p:cNvSpPr/>
          <p:nvPr/>
        </p:nvSpPr>
        <p:spPr>
          <a:xfrm>
            <a:off x="822960" y="5312664"/>
            <a:ext cx="420624" cy="420624"/>
          </a:xfrm>
          <a:prstGeom prst="ellipse">
            <a:avLst/>
          </a:prstGeom>
          <a:solidFill>
            <a:srgbClr val="FFC24B"/>
          </a:solidFill>
          <a:ln/>
        </p:spPr>
        <p:txBody>
          <a:bodyPr/>
          <a:p/>
        </p:txBody>
      </p:sp>
      <p:sp>
        <p:nvSpPr>
          <p:cNvPr id="25" name="Text 23"/>
          <p:cNvSpPr/>
          <p:nvPr/>
        </p:nvSpPr>
        <p:spPr>
          <a:xfrm>
            <a:off x="822960" y="531266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26" name="Text 24"/>
          <p:cNvSpPr/>
          <p:nvPr/>
        </p:nvSpPr>
        <p:spPr>
          <a:xfrm>
            <a:off x="1463040" y="5248656"/>
            <a:ext cx="6766560" cy="54864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Ce ați putea folosi mâine?</a:t>
            </a:r>
            <a:endParaRPr lang="en-US" sz="2000" dirty="0"/>
          </a:p>
        </p:txBody>
      </p:sp>
      <p:sp>
        <p:nvSpPr>
          <p:cNvPr id="27" name="Shape 25"/>
          <p:cNvSpPr/>
          <p:nvPr/>
        </p:nvSpPr>
        <p:spPr>
          <a:xfrm>
            <a:off x="8641080" y="1508760"/>
            <a:ext cx="2926080" cy="2926080"/>
          </a:xfrm>
          <a:prstGeom prst="roundRect">
            <a:avLst>
              <a:gd name="adj" fmla="val 2813"/>
            </a:avLst>
          </a:prstGeom>
          <a:solidFill>
            <a:srgbClr val="FFFFFF"/>
          </a:solidFill>
          <a:ln w="12700">
            <a:solidFill>
              <a:srgbClr val="FFFFFF"/>
            </a:solidFill>
            <a:prstDash val="solid"/>
          </a:ln>
        </p:spPr>
        <p:txBody>
          <a:bodyPr/>
          <a:p/>
        </p:txBody>
      </p:sp>
      <p:sp>
        <p:nvSpPr>
          <p:cNvPr id="28" name="Shape 26"/>
          <p:cNvSpPr/>
          <p:nvPr/>
        </p:nvSpPr>
        <p:spPr>
          <a:xfrm>
            <a:off x="8778240" y="1645920"/>
            <a:ext cx="2651760" cy="2651760"/>
          </a:xfrm>
          <a:prstGeom prst="rect">
            <a:avLst/>
          </a:prstGeom>
          <a:solidFill>
            <a:srgbClr val="F1F0EC"/>
          </a:solidFill>
          <a:ln w="12700">
            <a:solidFill>
              <a:srgbClr val="C9C6BE"/>
            </a:solidFill>
            <a:prstDash val="dash"/>
          </a:ln>
        </p:spPr>
        <p:txBody>
          <a:bodyPr/>
          <a:p/>
        </p:txBody>
      </p:sp>
      <p:sp>
        <p:nvSpPr>
          <p:cNvPr id="29" name="Text 27"/>
          <p:cNvSpPr/>
          <p:nvPr/>
        </p:nvSpPr>
        <p:spPr>
          <a:xfrm>
            <a:off x="8869680" y="1737360"/>
            <a:ext cx="2468880" cy="2468880"/>
          </a:xfrm>
          <a:prstGeom prst="rect">
            <a:avLst/>
          </a:prstGeom>
          <a:noFill/>
          <a:ln/>
        </p:spPr>
        <p:txBody>
          <a:bodyPr wrap="square" lIns="228600" tIns="0" rIns="228600" bIns="0" rtlCol="0" anchor="ctr"/>
          <a:lstStyle/>
          <a:p>
            <a:pPr algn="ctr" indent="0" marL="0">
              <a:buNone/>
            </a:pPr>
            <a:r>
              <a:rPr lang="en-US" sz="1800" i="1" dirty="0">
                <a:solidFill>
                  <a:srgbClr val="585A64"/>
                </a:solidFill>
                <a:latin typeface="Palatino Linotype" pitchFamily="34" charset="0"/>
                <a:ea typeface="Palatino Linotype" pitchFamily="34" charset="-122"/>
                <a:cs typeface="Palatino Linotype" pitchFamily="34" charset="-120"/>
              </a:rPr>
              <a:t>Mentimeter: intrați pe menti.com cu codul afișat pe ecran.</a:t>
            </a:r>
            <a:endParaRPr lang="en-US" sz="1400" dirty="0"/>
          </a:p>
        </p:txBody>
      </p:sp>
      <p:sp>
        <p:nvSpPr>
          <p:cNvPr id="30" name="Text 28"/>
          <p:cNvSpPr/>
          <p:nvPr/>
        </p:nvSpPr>
        <p:spPr>
          <a:xfrm>
            <a:off x="8641080" y="4617720"/>
            <a:ext cx="2926080" cy="1554480"/>
          </a:xfrm>
          <a:prstGeom prst="rect">
            <a:avLst/>
          </a:prstGeom>
          <a:noFill/>
          <a:ln/>
        </p:spPr>
        <p:txBody>
          <a:bodyPr wrap="square" lIns="0" tIns="0" rIns="0" bIns="0" rtlCol="0" anchor="t"/>
          <a:lstStyle/>
          <a:p>
            <a:pPr indent="0" marL="0">
              <a:buNone/>
            </a:pPr>
            <a:r>
              <a:rPr lang="en-US" sz="1450" b="1" dirty="0">
                <a:solidFill>
                  <a:srgbClr val="27D3BE"/>
                </a:solidFill>
                <a:latin typeface="Palatino Linotype" pitchFamily="34" charset="0"/>
                <a:ea typeface="Palatino Linotype" pitchFamily="34" charset="-122"/>
                <a:cs typeface="Palatino Linotype" pitchFamily="34" charset="-120"/>
              </a:rPr>
              <a:t>La începutul ședinței următoare, pe pagina disciplinei, veți găsi două modificări făcute pe baza răspunsurilor.</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Lucrarea practică 1 - Copilul care nu stă nemișcat</dc:title>
  <dc:subject>PptxGenJS Presentation</dc:subject>
  <dc:creator>Conf. Univ. Dr. Adrian Pana</dc:creator>
  <cp:lastModifiedBy>Conf. Univ. Dr. Adrian Pana</cp:lastModifiedBy>
  <cp:revision>1</cp:revision>
  <dcterms:created xsi:type="dcterms:W3CDTF">2026-10-04T16:32:36Z</dcterms:created>
  <dcterms:modified xsi:type="dcterms:W3CDTF">2026-10-04T16:32:36Z</dcterms:modified>
  <cp:keywords>sursa_amprenta=a350e574a3d0e063; proiectie</cp:keywords>
</cp:coreProperties>
</file>