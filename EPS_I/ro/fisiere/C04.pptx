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4  ·  EDUCAȚIE PENTRU SĂNĂTATE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Anulează mersul de dimineață o zi întreagă pe scaun?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 fizică, sedentarismul, alimentația, somnul și stresul: de la efecte la recomandările OMS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67512" y="461772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800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Balneofiziokinetoterapie și recuperare, anul 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„Iuliu Hațieganu” Cluj-Napoca · Disciplina de Sănătate publică și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0" y="1554480"/>
            <a:ext cx="164592" cy="2011680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2926080"/>
            <a:ext cx="1554480" cy="182880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3108960"/>
            <a:ext cx="128016" cy="1005840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96144" y="3108960"/>
            <a:ext cx="128016" cy="1005840"/>
          </a:xfrm>
          <a:prstGeom prst="rect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4754880"/>
            <a:ext cx="201168" cy="20116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4645152"/>
            <a:ext cx="201168" cy="20116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0" y="4754880"/>
            <a:ext cx="201168" cy="20116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4645152"/>
            <a:ext cx="201168" cy="20116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0" y="4754880"/>
            <a:ext cx="201168" cy="20116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81360" y="4645152"/>
            <a:ext cx="201168" cy="20116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 M., PÂNĂ LA REEVALUARE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pacient, trei acte. Jumătate din timp lucrați voi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612648"/>
          </a:xfrm>
          <a:prstGeom prst="roundRect">
            <a:avLst>
              <a:gd name="adj" fmla="val 134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82296" cy="61264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· 25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1600200"/>
            <a:ext cx="7909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„Merg în fiecare dimineață”: comportamentul sedentar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0972800" cy="612648"/>
          </a:xfrm>
          <a:prstGeom prst="roundRect">
            <a:avLst>
              <a:gd name="adj" fmla="val 1343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331720"/>
            <a:ext cx="82296" cy="6126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31720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· 35 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7909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„Cu durerea mea, mai e valabil?”: cele 100 de puncte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10972800" cy="612648"/>
          </a:xfrm>
          <a:prstGeom prst="roundRect">
            <a:avLst>
              <a:gd name="adj" fmla="val 134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063240"/>
            <a:ext cx="82296" cy="612648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63240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 · 10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3063240"/>
            <a:ext cx="7909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794760"/>
            <a:ext cx="10972800" cy="612648"/>
          </a:xfrm>
          <a:prstGeom prst="roundRect">
            <a:avLst>
              <a:gd name="adj" fmla="val 1343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794760"/>
            <a:ext cx="82296" cy="61264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94760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3 · 30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3794760"/>
            <a:ext cx="7909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„După șase săptămâni”: igiena somnului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4526280"/>
            <a:ext cx="10972800" cy="612648"/>
          </a:xfrm>
          <a:prstGeom prst="roundRect">
            <a:avLst>
              <a:gd name="adj" fmla="val 1343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526280"/>
            <a:ext cx="82296" cy="612648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526280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10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526280"/>
            <a:ext cx="7909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întrebări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5257800"/>
            <a:ext cx="10972800" cy="612648"/>
          </a:xfrm>
          <a:prstGeom prst="roundRect">
            <a:avLst>
              <a:gd name="adj" fmla="val 1343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257800"/>
            <a:ext cx="82296" cy="61264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257800"/>
            <a:ext cx="2377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Final · 5 min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83280" y="5257800"/>
            <a:ext cx="7909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întrebări, anonim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768096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 ·  CAZ CONSTRUIT PENTRU CURS; DETALIILE SUNT PLAUZIBILE, NU REALE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 M., la ambulatoriul de recuperare 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Cincizeci și patru de ani, contabil. Lombalgie cronică nespecifică. Hipertensiune. Anul trecut: curenți și masaj.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3611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Ziua: mașina, calculatorul, televizorul până la miezul nopții.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06640" y="1783080"/>
            <a:ext cx="4160520" cy="2377440"/>
          </a:xfrm>
          <a:prstGeom prst="roundRect">
            <a:avLst>
              <a:gd name="adj" fmla="val 6923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698480" y="4142232"/>
            <a:ext cx="457200" cy="292608"/>
          </a:xfrm>
          <a:prstGeom prst="triangle">
            <a:avLst/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sunt sedentar. Îmi plimb câinele dimineața, o jumătate de oră, de trei ori pe săptămână.”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06640" y="4526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prima ședință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50749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Închiderea anului fiscal: „nu am timp de nimic”.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 ·  PRIMA DECIZIE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problemă are domnul M. cu mișcarea?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49808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345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34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6492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Niciuna: se plimbă cu câinele, deci este activ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749808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946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946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6492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Insuficient activ, dar nu sedentar: merge pe jos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749808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547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547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6492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Insuficient activ și, separat, sedentar: două probleme diferite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709160"/>
            <a:ext cx="749808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9149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149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709160"/>
            <a:ext cx="6492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Mișcarea e suficientă; problema reală este greutatea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49640" y="182880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65792" y="210312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94392" y="283464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3246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49640" y="4617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individual, fără discuție. Rezultatele rămân ascunse.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 · DUPĂ DISCUȚIE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 ·  DOUĂ MINUTE 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Convingeți-l pe cel care a votat altfel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6576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36392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227832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9624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79976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4471416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1828800"/>
            <a:ext cx="36576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5146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12080" y="2606040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136392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12080" y="3227832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758184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12080" y="3849624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437997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212080" y="4471416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9640" y="182880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65792" y="210312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94392" y="283464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3246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Aceleași variante, același diapozitiv. Cele două distribuții, una lângă alta.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CE MĂSURĂM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 fizică, inactivitatea, intensitatea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 FIZICĂ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mișcare făcută de mușchi, care consumă energie: tip, durată, frecvență, intensitate.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5212080" cy="2011680"/>
          </a:xfrm>
          <a:prstGeom prst="roundRect">
            <a:avLst>
              <a:gd name="adj" fmla="val 4091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INACTIVITATEA FIZICĂ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 nivelul recomandat: la adulți, 150–300 min moderată sau 75–150 intensă pe săptămână.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553212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645920"/>
            <a:ext cx="82296" cy="78638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45920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Ușoară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0" y="164592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1,5–3 MET · treptele 2–4 din 10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035040" y="2560320"/>
            <a:ext cx="5532120" cy="786384"/>
          </a:xfrm>
          <a:prstGeom prst="roundRect">
            <a:avLst>
              <a:gd name="adj" fmla="val 10465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560320"/>
            <a:ext cx="82296" cy="786384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560320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Moderată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0" y="256032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până sub 6 MET · treptele 5–6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035040" y="3474720"/>
            <a:ext cx="5532120" cy="786384"/>
          </a:xfrm>
          <a:prstGeom prst="roundRect">
            <a:avLst>
              <a:gd name="adj" fmla="val 104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474720"/>
            <a:ext cx="82296" cy="786384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474720"/>
            <a:ext cx="1463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Intensă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0" y="347472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6,0 MET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035040" y="4480560"/>
            <a:ext cx="5532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MET: energia consumată în repaus. Treptele: scara efortului, 0–10.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ghidul OMS 2020.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1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Comportamentul sedentar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6949440" cy="228600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DEFINIȚIA OMS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630936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comportament din starea de veghe cu un consum de energie de 1,5 MET sau mai puțin, făcut așezat, semiculcat sau culcat.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42519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2519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 obișnuit: timpul petrecut treaz pe scaun, pe canapea sau în pat, fără efort.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18120" y="1783080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783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lucrul la calculator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2331720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331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condusul mașinii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18120" y="2880360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privitul la televizor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18120" y="3429000"/>
            <a:ext cx="3749040" cy="329184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34290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învățatul la birou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Somnul nu intră aici: nu este stare de veghe.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PRIMA DECIZIE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(C) Două probleme diferite, cu efecte separate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978408"/>
          </a:xfrm>
          <a:prstGeom prst="roundRect">
            <a:avLst>
              <a:gd name="adj" fmla="val 841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0"/>
            <a:ext cx="82296" cy="9784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Insuficient activ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383280" y="1645920"/>
            <a:ext cx="79095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oră și jumătate pe săptămână: sub 150 de minute, chiar la mers alert.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10972800" cy="978408"/>
          </a:xfrm>
          <a:prstGeom prst="roundRect">
            <a:avLst>
              <a:gd name="adj" fmla="val 8411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743200"/>
            <a:ext cx="82296" cy="9784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43200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Sedentar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79095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Birou, mașină, televizor: aproape toată ziua pe scaun.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10972800" cy="978408"/>
          </a:xfrm>
          <a:prstGeom prst="roundRect">
            <a:avLst>
              <a:gd name="adj" fmla="val 841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840480"/>
            <a:ext cx="82296" cy="9784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0480"/>
            <a:ext cx="23774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(A), (B), (D)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83280" y="3840480"/>
            <a:ext cx="79095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„Ceva” nu e „destul”; plimbările nu schimbă orele pe scaun; greutatea nu explică mișcarea.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OMS: mai multă mișcare și, separat, mai puțin timp așezat.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ACTIVITATEA FIZICĂ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Beneficiile, la adulții de 18–64 de ani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6949440" cy="768096"/>
          </a:xfrm>
          <a:prstGeom prst="roundRect">
            <a:avLst>
              <a:gd name="adj" fmla="val 1071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65376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 mai mică, generală și cardiovasculară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4360" y="2587752"/>
            <a:ext cx="6949440" cy="768096"/>
          </a:xfrm>
          <a:prstGeom prst="roundRect">
            <a:avLst>
              <a:gd name="adj" fmla="val 1071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6148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87752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puțină hipertensiune, diabet de tip 2, unele cancere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94360" y="3483864"/>
            <a:ext cx="6949440" cy="768096"/>
          </a:xfrm>
          <a:prstGeom prst="roundRect">
            <a:avLst>
              <a:gd name="adj" fmla="val 1071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5760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483864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puțină anxietate și depresie; somn mai bun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4379976"/>
            <a:ext cx="6949440" cy="768096"/>
          </a:xfrm>
          <a:prstGeom prst="roundRect">
            <a:avLst>
              <a:gd name="adj" fmla="val 1071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53712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379976"/>
            <a:ext cx="5989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Ajută și la tratament, nu doar la prevenție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772400" y="1691640"/>
            <a:ext cx="3794760" cy="3456432"/>
          </a:xfrm>
          <a:prstGeom prst="roundRect">
            <a:avLst>
              <a:gd name="adj" fmla="val 238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874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20–30%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8001000" y="31546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 de deces mai mare la cei insuficient activi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OMS, 2020 și fișa informativă.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E „DESTUL”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 e mai bine, până la un punct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150–300 de minute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moderată, sau 75–150 intensă, pe săptămână: cea mai mare scădere a riscului.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6824" y="169164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300 de minute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07992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beneficii suplimentare, fără contraindicație de boală cronică.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19288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9288" y="169164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0456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Reprize de orice durată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0456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adună; înainte, numai cele de cel puțin 10 minute.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466344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634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am timp”: trei plimbări scurte pe zi valorează cât una lungă.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ghidul OMS 2020.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STATUL PE SCAUN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 timp așezat, mai multe boli și decese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 timp sedentar se asociază cu mortalitate mai mare, generală, cardiovasculară și prin cancer. Asocierea nu dovedește cauza; OMS cere totuși limitarea timpului sedentar.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03720" y="1691640"/>
            <a:ext cx="4663440" cy="3749040"/>
          </a:xfrm>
          <a:prstGeom prst="roundRect">
            <a:avLst>
              <a:gd name="adj" fmla="val 219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RECUPERARE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2359152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26680" y="22860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pauze active regulate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0" y="310896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26680" y="30358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loc de lucru adaptat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132320" y="385876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26680" y="37856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exerciții scurte, la birou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32320" y="4608576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26680" y="45354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 ecran seara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OMS, 2020; OMS, lombalgia.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SUNTEM: LUMEA ȘI ROMÂNIA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Puțină mișcare în timpul liber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adulții lumii, sub 150 de minute pe săptămână (2022)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7,1%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34340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adulții din România ating 150 de minute; UE: 31,7% (2019)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85,5%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09244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români: niciun minut de activitate aerobă în afara muncii; UE: 48,4%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43484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34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Capcană: cifrele măsoară mișcarea, nu orele pe scaun. Sunt întrebări diferite.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OMS; Eurostat, EHIS 2019.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RECUPERARE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Mișcarea face parte din tratament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404104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5404104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2024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Lombalgia nespecifică (OMS)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5001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Terapii fizice pentru forță și mișcare, reluarea activității fizice, schimbarea stilului de viață.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163056" y="1691640"/>
            <a:ext cx="5404104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63056" y="1691640"/>
            <a:ext cx="5404104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192024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Artroza (NICE)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64224" y="2926080"/>
            <a:ext cx="5001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Exercițiul terapeutic adaptat și controlul greutății, când e cazul. Durerea poate crește la început.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572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domnul M.: curenții și masajul nu apar pe lista OMS și nu țin locul mișcării.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OMS; NICE NG226.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768096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 ·  ACELAȘI CAZ CONSTRUIT  ·  A DOUA ȘEDINȚĂ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cu recomandările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94960" cy="265176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RECEPȚIE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404872"/>
            <a:ext cx="475488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„OMS recomandă adulților 150–300 de minute de activitate moderată pe săptămână și exerciții de forță în două zile.”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03520" cy="237744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675120" y="4142232"/>
            <a:ext cx="457200" cy="292608"/>
          </a:xfrm>
          <a:prstGeom prst="triangle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745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„Asta e pentru oameni sănătoși. Eu am hipertensiune și mă doare spatele. Mai e valabil și pentru mine?”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8463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463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Acasă: mama, de șaptezeci și opt de ani, căzută în primăvară; fiica, de doisprezece ani, „numai pe telefon”.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 ·  A DOUA DECIZIE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recomandare OMS se aplică domnului M.?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49808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345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34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6492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Niciuna: recomandările OMS sunt pentru oamenii sănătoși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749808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946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946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6492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pentru adulți, adaptate la ce poate acum, cu sfatul unui profesionist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749808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547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547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6492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exercițiile din sală, fără altă mișcare până trece durerea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709160"/>
            <a:ext cx="749808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9149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149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709160"/>
            <a:ext cx="6492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cinci ore pe săptămână din prima lună, ca să slăbească repede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549640" y="182880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65792" y="210312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94392" y="283464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3246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49640" y="4617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individual, fără discuție. Rezultatele rămân ascunse.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 · DUPĂ DISCUȚIE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 ·  DOUĂ MINUTE 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e valabil și pentru el?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6576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36392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227832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9624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79976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4471416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1828800"/>
            <a:ext cx="365760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5146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12080" y="2606040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136392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12080" y="3227832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758184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12080" y="3849624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437997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212080" y="4471416"/>
            <a:ext cx="265176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9640" y="182880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65792" y="210312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94392" y="283464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3246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Aceleași variante, același diapozitiv. Cele două distribuții, una lângă alta.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RECOMANDĂRILE PE GRUPE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spune ghidul din 2020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Grupa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Aerobă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Forța, echilibrul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Copii, adolescenți (5–17 ani)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60 min pe zi, în medie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mușchi și oase: cel puțin 3 zile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Adulți (18–64 de ani)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150–300 min moderată sau 75–150 intensă, pe săptămână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forță: 2 zile sau mai multe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Vârstnici (65 de ani și peste)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ca la adulți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plus multicomponentă: 3 zile sau mai multe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Sarcina și după naștere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cel puțin 150 min moderată, pe săptămână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aerobă și de forță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07492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074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Sedentar: limitat la toate grupele.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 2020 (Bull și colab.).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COPIII ȘI ADOLESCENȚII (5–17 ANI)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Fiica domnului M. este în majoritate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 de minute pe zi, în medie. Cel puțin 3 zile pe săptămână: activități intense, pentru mușchi și oase. Mai puțin ecran.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89320" y="169164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217920" y="2971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adolescenții de 11–17 ani din lume nu ating recomandările (2019)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69680" y="169164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098280" y="2971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adolescenții de 15 ani din România fac cel puțin o oră pe zi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OMS; profilul de țară al României.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2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 fizică multicomponentă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486400" cy="237744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DEFINIȚIA OMS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84632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Combină, în aceeași ședință, exerciții aerobe, de forță și de echilibru; acasă sau în grup.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94360" y="434340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43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 obișnuit: mersul, forța și echilibrul „la pachet”.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5212080" cy="3474720"/>
          </a:xfrm>
          <a:prstGeom prst="roundRect">
            <a:avLst>
              <a:gd name="adj" fmla="val 236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737360"/>
            <a:ext cx="82296" cy="34747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VÂRSTNICII (65 DE ANI ȘI PESTE)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22860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 adulții, plus multicomponentă, cu accent pe echilibru și forță, 3 zile sau mai multe pe săptămână: mai puține căderi.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42062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Mama domnului M., căzută în primăvară, are nevoie tocmai de asta.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GRUPELE NOI ALE GHIDULUI DIN 2020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Recomandările se adaptează, nu dispar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354787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Sarcina și după naștere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contraindicații: cel puțin 150 de minute moderată pe săptămână.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6824" y="1691640"/>
            <a:ext cx="3547872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Afecțiunile cronice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07992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Aceleași ca la adulți; cine nu poate, face cât poate, cu sfatul unui profesionist.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19288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9288" y="1691640"/>
            <a:ext cx="3547872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0456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Dizabilitatea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0456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riscuri majore la o activitate potrivită nivelului și sănătății.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6634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634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contraindicații, avizul medical nu e în general necesar la efortul mersului alert.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A DOUA DECIZIE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(B) Recomandările pentru adulți, adaptate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Hipertensiunea e o afecțiune cronică analizată explicit de ghid. Profesionistul care îl sfătuiește sunteți voi.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606040"/>
            <a:ext cx="82296" cy="93268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06040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606040"/>
            <a:ext cx="9372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din 2020 are recomandări explicite pentru afecțiuni cronice și dizabilitate.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94360" y="365760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657600"/>
            <a:ext cx="82296" cy="93268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57600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(C)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3657600"/>
            <a:ext cx="9372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Lasă pacientul fără mișcare în zilele dintre ședințe; la lombalgie, OMS cere reluarea activității.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94360" y="470916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709160"/>
            <a:ext cx="82296" cy="93268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09160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(D)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20240" y="4709160"/>
            <a:ext cx="9372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Sare peste adaptare: de la puțină mișcare, frecvența, intensitatea și durata cresc treptat.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RECOMANDARE, UN PLAN PENTRU PACIENT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mișcare e mai bună decât deloc; apoi crește treptat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887322" cy="2377440"/>
          </a:xfrm>
          <a:prstGeom prst="roundRect">
            <a:avLst>
              <a:gd name="adj" fmla="val 436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887322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Tipul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96312"/>
            <a:ext cx="16130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mers, la perete, pe scaun, în apă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509114" y="280720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5730" y="1783080"/>
            <a:ext cx="1887322" cy="2377440"/>
          </a:xfrm>
          <a:prstGeom prst="roundRect">
            <a:avLst>
              <a:gd name="adj" fmla="val 436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5730" y="1783080"/>
            <a:ext cx="1887322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2890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02890" y="2496312"/>
            <a:ext cx="16130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câteva minute, apoi mai mult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780483" y="280720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7099" y="1783080"/>
            <a:ext cx="1887322" cy="2377440"/>
          </a:xfrm>
          <a:prstGeom prst="roundRect">
            <a:avLst>
              <a:gd name="adj" fmla="val 436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7099" y="1783080"/>
            <a:ext cx="188732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4259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Frecvența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74259" y="2496312"/>
            <a:ext cx="16130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zilnic sau la două zile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051853" y="280720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8469" y="1783080"/>
            <a:ext cx="1887322" cy="2377440"/>
          </a:xfrm>
          <a:prstGeom prst="roundRect">
            <a:avLst>
              <a:gd name="adj" fmla="val 436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8469" y="1783080"/>
            <a:ext cx="1887322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5629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Intensitatea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45629" y="2496312"/>
            <a:ext cx="16130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scara efortului; cât de ușor vorbește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323222" y="280720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9838" y="1783080"/>
            <a:ext cx="1887322" cy="2377440"/>
          </a:xfrm>
          <a:prstGeom prst="roundRect">
            <a:avLst>
              <a:gd name="adj" fmla="val 436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79838" y="1783080"/>
            <a:ext cx="1887322" cy="7315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16998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Contextul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16998" y="2496312"/>
            <a:ext cx="16130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acasă, la serviciu, în parc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4360" y="45262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5262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Mesajul: ce mișcări face, în ce ritm, cât are voie să doară și când se oprește și vă sună.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100 DE PUNCTE  ·  REGULILE JOCULUI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ore pe săptămână, de împărțit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905256"/>
          </a:xfrm>
          <a:prstGeom prst="roundRect">
            <a:avLst>
              <a:gd name="adj" fmla="val 9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82296" cy="905256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45920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Echivalența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7909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 de puncte = 300 de minute pe săptămână; 1 punct = 3 minute.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10972800" cy="905256"/>
          </a:xfrm>
          <a:prstGeom prst="roundRect">
            <a:avLst>
              <a:gd name="adj" fmla="val 9091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670048"/>
            <a:ext cx="82296" cy="905256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70048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Punctul de plecare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83280" y="2670048"/>
            <a:ext cx="7909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 de minute de mers, nicio forță, 6 h 40 de somn, niciun prânz de acasă.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694176"/>
            <a:ext cx="10972800" cy="905256"/>
          </a:xfrm>
          <a:prstGeom prst="roundRect">
            <a:avLst>
              <a:gd name="adj" fmla="val 9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694176"/>
            <a:ext cx="82296" cy="905256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94176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Duratele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83280" y="3694176"/>
            <a:ext cx="7909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forța 20 de minute, echilibrul 15, un prânz 12.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718304"/>
            <a:ext cx="10972800" cy="905256"/>
          </a:xfrm>
          <a:prstGeom prst="roundRect">
            <a:avLst>
              <a:gd name="adj" fmla="val 9091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718304"/>
            <a:ext cx="82296" cy="905256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718304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Pragurile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383280" y="4718304"/>
            <a:ext cx="7909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 de minute aerob, forță în 2 zile, 7 ore de somn.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100 DE PUNCTE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INSTRUMENTUL ȘEDINȚEI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împărțiți cele cinci ore ale domnului M.?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28800"/>
            <a:ext cx="82296" cy="9144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 aerobă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mersul alert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828800"/>
            <a:ext cx="82296" cy="9144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Forța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288036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880360"/>
            <a:ext cx="82296" cy="9144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Echilibrul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434840" y="288036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880360"/>
            <a:ext cx="82296" cy="91440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Somnul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09160" y="3383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televizor la pat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393192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931920"/>
            <a:ext cx="82296" cy="91440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Alimentația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prânzul pregătit acasă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931920"/>
            <a:ext cx="82296" cy="9144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Gestionarea stresului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09160" y="4434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minute de relaxare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49640" y="182880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65792" y="210312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94392" y="283464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3246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94360" y="5120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Apoi: alocarea medie a sălii, profilul cel mai apropiat și ce ați sacrificat fără să vă dați seama.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CONSECINȚELE A TREI PROFILURI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Orice plan sacrifică ceva</a:t>
            </a:r>
            <a:endParaRPr lang="en-US" sz="3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371600"/>
                <a:gridCol w="914400"/>
                <a:gridCol w="1097280"/>
                <a:gridCol w="1371600"/>
                <a:gridCol w="12801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Profilul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Aerob (min/săpt.)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Forță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Echilibru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Somn pe noapte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Prânzuri acasă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Relaxare (min/zi)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Totul în mișcare: 100–0–0–0–0–0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390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 h 40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Împărțit egal: 17–17–17–17–16–16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141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 h 47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7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Planul asistentului: 25–15–0–47–8–5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165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7 h 00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</a:t>
                      </a:r>
                      <a:endParaRPr lang="en-US" sz="14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393192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9319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Totul în mișcare: forța zero, somnul neschimbat. Împărțit egal: sub prag; echilibrul e pentru mamă. Planul asistentului: somnul, pe primul loc.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4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630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9436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minute. Revenim după șase săptămâni: ce s-a întâmplat cu planul?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768096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3  ·  CAZ CONSTRUIT, CA ȘI ACTELE PRECEDENTE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șase săptămâni: ce s-a întâmplat de fapt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Exercițiile acasă: „cam o dată pe săptămână”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Somnul: cinci ore pe noapte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94360" y="33375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24612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Masa: „ce era pe drum”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97764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a mai avut nervi”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94360" y="48006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70916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Cântarul: 94 kg, la 1,74 m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675120" y="1783080"/>
            <a:ext cx="4892040" cy="3566160"/>
          </a:xfrm>
          <a:prstGeom prst="roundRect">
            <a:avLst>
              <a:gd name="adj" fmla="val 2308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SCHIMBĂ ASISTENTUL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33172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puține exerciții, dar zilnice; o întrebare despre somn; două schimbări mici la masă; medicul de familie.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 SĂLII ȘI DEZNODĂMÂNTUL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a căzut din cauza comportamentelor invizibile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19756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2619756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Somnul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2217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ore pe noapte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78708" y="1691640"/>
            <a:ext cx="2619756" cy="2194560"/>
          </a:xfrm>
          <a:prstGeom prst="roundRect">
            <a:avLst>
              <a:gd name="adj" fmla="val 375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78708" y="1691640"/>
            <a:ext cx="2619756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9876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Stresul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79876" y="2926080"/>
            <a:ext cx="2217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mai are nervi”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63056" y="1691640"/>
            <a:ext cx="2619756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1691640"/>
            <a:ext cx="2619756" cy="73152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Masa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64224" y="2926080"/>
            <a:ext cx="2217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„ce era pe drum”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47404" y="1691640"/>
            <a:ext cx="2619756" cy="2194560"/>
          </a:xfrm>
          <a:prstGeom prst="roundRect">
            <a:avLst>
              <a:gd name="adj" fmla="val 375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47404" y="1691640"/>
            <a:ext cx="2619756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572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Sprijinul de acasă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48572" y="2926080"/>
            <a:ext cx="2217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îl ajută să își țină programul?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16052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1605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pus puncte pe somn și pe stres la cele 100 de puncte a anticipat deznodământul. Tema a opta a fișei este despre aceste comportamente.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ALIMENTAȚIA  ·  REPERELE OMS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repere, ușor de spus pacientului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22376"/>
          </a:xfrm>
          <a:prstGeom prst="roundRect">
            <a:avLst>
              <a:gd name="adj" fmla="val 1139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82296" cy="72237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Fructe și legume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566160" y="1600200"/>
            <a:ext cx="7726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400 g pe zi, peste 10 ani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10972800" cy="722376"/>
          </a:xfrm>
          <a:prstGeom prst="roundRect">
            <a:avLst>
              <a:gd name="adj" fmla="val 1139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441448"/>
            <a:ext cx="82296" cy="72237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41448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Fibre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2441448"/>
            <a:ext cx="7726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25 g pe zi, din alimente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10972800" cy="722376"/>
          </a:xfrm>
          <a:prstGeom prst="roundRect">
            <a:avLst>
              <a:gd name="adj" fmla="val 1139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282696"/>
            <a:ext cx="82296" cy="7223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82696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Zaharuri libere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66160" y="3282696"/>
            <a:ext cx="7726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 10% din energie, circa 50 g; 5% e și mai bine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123944"/>
            <a:ext cx="10972800" cy="722376"/>
          </a:xfrm>
          <a:prstGeom prst="roundRect">
            <a:avLst>
              <a:gd name="adj" fmla="val 1139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123944"/>
            <a:ext cx="82296" cy="722376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23944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Grăsimi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66160" y="4123944"/>
            <a:ext cx="7726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mult 30% din energie; nesaturate, nu saturate și trans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965192"/>
            <a:ext cx="10972800" cy="722376"/>
          </a:xfrm>
          <a:prstGeom prst="roundRect">
            <a:avLst>
              <a:gd name="adj" fmla="val 1139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965192"/>
            <a:ext cx="82296" cy="722376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965192"/>
            <a:ext cx="2560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66160" y="4965192"/>
            <a:ext cx="7726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 5 g pe zi, adică 2 g de sodiu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alimentația sănătoasă.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ȘI MESAJELE MINIME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schimbări mici, nu o dietă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38%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adulții din România mâncau fructe zilnic (2022); UE: circa 60%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37%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429000" y="26974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mâncau legume zilnic; UE: 60%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212080" cy="2834640"/>
          </a:xfrm>
          <a:prstGeom prst="roundRect">
            <a:avLst>
              <a:gd name="adj" fmla="val 29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837944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1783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jumătate de farfurie legume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37960" y="2478024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423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apă în loc de sucuri îndulcite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37960" y="3118104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3063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porții mai mici, din farfurie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37960" y="3758184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puține prăjeli și mezeluri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4360" y="46634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6634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Asistentul nu ține locul nutriționistului: dă mesaje corecte și îndrumă mai departe.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profilul de țară al României.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GREUTATEA CORPORALĂ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IMC-ul domnului M.: 31,0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1206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IMC = greutatea în kilograme împărțită la pătratul înălțimii în metri.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Suprapondere: 25 sau mai mult. Obezitate: 30 sau mai mult.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0" y="1645920"/>
            <a:ext cx="5623560" cy="768096"/>
          </a:xfrm>
          <a:prstGeom prst="roundRect">
            <a:avLst>
              <a:gd name="adj" fmla="val 1071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64592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94 kg / (1,74 × 1,74)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92640" y="1645920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31,0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943600" y="2542032"/>
            <a:ext cx="5623560" cy="768096"/>
          </a:xfrm>
          <a:prstGeom prst="roundRect">
            <a:avLst>
              <a:gd name="adj" fmla="val 1071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542032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minus 5%: 4,7 kg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92640" y="254203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29,5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943600" y="3438144"/>
            <a:ext cx="5623560" cy="768096"/>
          </a:xfrm>
          <a:prstGeom prst="roundRect">
            <a:avLst>
              <a:gd name="adj" fmla="val 1071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43814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minus 10%: 9,4 kg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92640" y="3438144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27,9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94360" y="452628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5262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NICE: orice scădere ajută; 10% e probabil mai bine decât 5%. La IMC de 30 sau mai mult: medicul de familie sau nutriționistul.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LUME ȘI LA ADOLESCENȚII DIN ROMÂNIA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Greutatea crește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adulții lumii, 2,6 miliarde, erau supraponderali în 2024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34340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adulți trăiau cu obezitate: 940 de milioane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1600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14% → 26%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09244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adolescenții de 15 ani supraponderali sau obezi, în România, între 2010 și 2022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5262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262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adolescenți, a treia cea mai mare proporție din UE.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OMS; profilul de țară.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RAPID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SAU FALS?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7498080" cy="201168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25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AFIRMAȚIE DE VERIFICAT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719072"/>
            <a:ext cx="685800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„România are una dintre cele mai mici rate de obezitate din UE.”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4360" y="3429000"/>
            <a:ext cx="365760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429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34840" y="3429000"/>
            <a:ext cx="365760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429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Fals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549640" y="10972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5792" y="13716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94392" y="21031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2514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discuție. Distribuția se proiectează imediat.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VOTUL RAPID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Depinde cum a fost măsurată cifra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obezi în 2022, după înălțimea și greutatea declarate (EU-SILC); UE: 14%; a doua cea mai mică valoare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34%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446520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2022, după estimările OMS/Europa pe înălțime și greutate măsurate: cea mai mare din 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52628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262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declarate au erori de răspuns. Înainte de a compara țări, verificați cum s-a obținut fiecare cifră.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profilul de țară; OMS/Europa 2024.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SOMNUL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Șapte ore sau mai mult, în mod regulat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3547872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ore sau mai mult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noapte, pentru adultul mediu (Academia Americană de Medicină a Somnului)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6824" y="1691640"/>
            <a:ext cx="3547872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7–9 ore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07992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adulți; 7–8 ore pentru vârstnici (Fundația Națională a Somnului)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19288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9288" y="1691640"/>
            <a:ext cx="354787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0456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Somnul scurt cronic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0456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 mai mare de deces; contribuie la boli cardiovasculare, diabet, obezitate, cancer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6634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Adulții activi dorm mai bine. Pacientul obosit spune mai ușor „astăzi nu fac”.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3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Igiena somnului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852160" cy="283464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OBICEIURILE CARE AJUTĂ UN SOMN BUN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521208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146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Ore constante de culcare și trezire; camera liniștită și întunecată; mai puține ecrane înainte de culcare; seara, fără mese mari, cafea, alcool; mișcare ziua.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94360" y="48006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006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 obișnuit: regulile de bun-simț pentru un somn bun.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75120" y="1737360"/>
            <a:ext cx="4892040" cy="2834640"/>
          </a:xfrm>
          <a:prstGeom prst="roundRect">
            <a:avLst>
              <a:gd name="adj" fmla="val 29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SINGURĂ ÎNTREBARE, LA PRIMA ȘEDINȚĂ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03720" y="22860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„Câte ore reușiți să dormiți, în medie, într-o noapte obișnuită?”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3611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 M.: o oră mutată de la televizor la pat.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STRESUL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Puțin stres ajută; prea mult îmbolnăvește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OMS: o stare de îngrijorare sau de tensiune psihică produsă de o situație dificilă.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Semnele: iritabilitate, dureri, somn prost, poftă scăzută sau mâncat mai mult. Cronic, agravează bolile existente.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629400" y="1645920"/>
            <a:ext cx="4937760" cy="3017520"/>
          </a:xfrm>
          <a:prstGeom prst="roundRect">
            <a:avLst>
              <a:gd name="adj" fmla="val 27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RECOMANDĂ OMS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21945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Rutina zilnică, somn suficient, cei apropiați, alimentația echilibrată, exercițiile regulate, mai puține știri.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 M.: stresul, somnul și alimentația se întrețin una pe alta.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TREILEA FACTOR INVIZIBIL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Sprijinul de acasă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73736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SCURTĂ PENTRU STRES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67712"/>
            <a:ext cx="1033272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„Este ceva care vă apasă mult în perioada asta și vă face mai greu să vă țineți de exerciții?”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70332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703320"/>
            <a:ext cx="82296" cy="93268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0332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„da”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703320"/>
            <a:ext cx="8092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se ușurează: un membru al familiei, un memento pe telefon, exerciții mai ușoare.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94360" y="475488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4754880"/>
            <a:ext cx="82296" cy="93268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5488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persistă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4754880"/>
            <a:ext cx="8092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Stresul care afectează viața de zi cu zi: medicul de familie sau psihologul.</a:t>
            </a:r>
            <a:endParaRPr lang="en-US" sz="1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COMPORTAMENTELE ÎMPREUNĂ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Factorii de risc ai lombalgiei, după OMS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2606040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activitatea fizică scăzută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691640"/>
            <a:ext cx="260604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7830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fumatul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91640"/>
            <a:ext cx="2606040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830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obezitatea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61120" y="16916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1691640"/>
            <a:ext cx="2606040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78308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solicitarea fizică mare la muncă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domnul M. se adaugă, în practică, scaunul, somnul scurt și stresul.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411480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14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început, de obicei: ieșirea din sedentarism prin mișcare zilnică. Un pacient care începe să se miște doarme mai bine. Apoi celelalte, unul câte unul.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lombalgia.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768096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A TREIA  ·  CAZ CONSTRUIT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Doamna P.: o altă pacientă, aceleași întrebări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Șaizeci și opt de ani, artroză la ambii genunchi, obezitate. A căzut acum trei luni pe scările blocului. Doarme prost: o dor genunchii noaptea și are grijă de soțul ei, bolnav.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720840" y="1828800"/>
            <a:ext cx="4846320" cy="2468880"/>
          </a:xfrm>
          <a:prstGeom prst="roundRect">
            <a:avLst>
              <a:gd name="adj" fmla="val 6667"/>
            </a:avLst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698480" y="4279392"/>
            <a:ext cx="457200" cy="292608"/>
          </a:xfrm>
          <a:prstGeom prst="triangle">
            <a:avLst/>
          </a:prstGeom>
          <a:solidFill>
            <a:srgbClr val="FBF8F1"/>
          </a:solidFill>
          <a:ln w="12700">
            <a:solidFill>
              <a:srgbClr val="FBF8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92024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„Știu că trebuie să slăbesc, dar nu pot ține dietă, iar exercițiile îmi fac rău.”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A TREIA  ·  FĂRĂ REVOT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puneți pe primul loc în primele patru săptămâni?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dietă strictă, ca să slăbească înainte de exerciții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807208"/>
            <a:ext cx="749808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0449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07208"/>
            <a:ext cx="6492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Forță și echilibru adaptate, cel puțin 3 zile pe săptămână; orice scădere în greutate ajută; somnul și stresul; medicul de familie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831336"/>
            <a:ext cx="749808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690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831336"/>
            <a:ext cx="6492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Mers alert peste cinci ore pe săptămână, din prima săptămână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855464"/>
            <a:ext cx="749808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093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855464"/>
            <a:ext cx="6492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proceduri pasive, până trece durerea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49640" y="17830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65792" y="20574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94392" y="27889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A TREIA DECIZIE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(B) Exercițiu adaptat, cu greutatea, somnul și stresul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82296" cy="93268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(B)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600200"/>
            <a:ext cx="9372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o cădere: forță și echilibru, 3 zile sau mai multe; durerea de la început nu înseamnă rău.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651760"/>
            <a:ext cx="82296" cy="93268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51760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(A)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2651760"/>
            <a:ext cx="9372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Inversează ordinea: greutatea se lucrează împreună cu exercițiul, nu înaintea lui.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70332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703320"/>
            <a:ext cx="82296" cy="93268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03320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(C)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3703320"/>
            <a:ext cx="9372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Ignoră durerea și teama de cădere: se începe cu puțin, se crește treptat.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75488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754880"/>
            <a:ext cx="82296" cy="932688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754880"/>
            <a:ext cx="914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(D)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4754880"/>
            <a:ext cx="9372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tratamentul de bază; NICE: fără electroterapie, terapia manuală doar lângă exercițiu.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RADIOLOGIE ȘI IMAGISTICĂ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frază scurtă, în momentul potrivit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64592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SAU DUPĂ EXAMINARE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67712"/>
            <a:ext cx="1033272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„Mișcarea dozată este sigură și vă ajută; întrebați-l pe medicul de familie de un program.”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566160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566160"/>
            <a:ext cx="5404104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79476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Evitați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95528" y="4800600"/>
            <a:ext cx="5001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formulările alarmiste despre imagini („coloana distrusă”): cresc teama de mișcare.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63056" y="3566160"/>
            <a:ext cx="5404104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3566160"/>
            <a:ext cx="5404104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379476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Și pentru voi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64224" y="4800600"/>
            <a:ext cx="5001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turele și orele lungi la consolă: somnul, pauzele și mișcarea vă privesc și pe voi.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REȚINEȚI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lucruri din ședință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82296" cy="7772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7850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785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lucruri diferite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17720" y="160020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multă mișcare și mai puțin timp așezat.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96312"/>
            <a:ext cx="82296" cy="7772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674620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6746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4963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Adulții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17720" y="2496312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150–300 min moderată sau 75–150 intensă, forță în 2 zile; puțin e mai bine decât nimic.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392424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92424"/>
            <a:ext cx="82296" cy="7772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57073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707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39242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 schimbă rețeta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617720" y="339242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Copiii: zilnic; vârstnicii: plus echilibru și forță.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4288536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288536"/>
            <a:ext cx="82296" cy="777240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466844"/>
            <a:ext cx="420624" cy="420624"/>
          </a:xfrm>
          <a:prstGeom prst="ellipse">
            <a:avLst/>
          </a:prstGeom>
          <a:solidFill>
            <a:srgbClr val="9C4A0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66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428853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se vede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617720" y="4288536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Somnul (7 ore sau mai mult), stresul, masa: decid exercițiile de acasă.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5184648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184648"/>
            <a:ext cx="82296" cy="7772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362956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3629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5184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Rolul vostru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4617720" y="518464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Întrebați scurt, mesaje corecte, trimiteți mai departe.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DE MÂINE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Următorul domn M. din sala de tratament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1907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sunt sedentar, merg pe jos”? Întrebați cât stă pe scaun.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94360" y="24323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359152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OMS, tradusă într-un plan de patru săptămâni.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4360" y="3145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072384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65 de ani, după o cădere: echilibru și forță.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594360" y="38587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785616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prima ședință: somnul și ce îl apasă.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94360" y="45720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498848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schimbări mici la masă; IMC de 30 sau mai mult: mai departe.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94360" y="53035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Recomandările OMS: punctul de plecare, nu planul.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RĂMAS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Mișcare, scaun, somn: zece întrebări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Accesați kahoot.it și introduceți codul afișat.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nu se notează. După fiecare întrebare discutăm răspunsurile greșite.</a:t>
            </a:r>
            <a:endParaRPr lang="en-US"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49640" y="233172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65792" y="260604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94392" y="333756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749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se citesc toate. Două modificări, făcute pe baza lor, apar pe pagina disciplinei.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4 - Anulează mersul de dimineață o zi întreagă pe scaun?</dc:title>
  <dc:subject>PptxGenJS Presentation</dc:subject>
  <dc:creator>Disciplina de Sănătate publică și management, UMF Cluj-Napoca</dc:creator>
  <cp:lastModifiedBy>Disciplina de Sănătate publică și management, UMF Cluj-Napoca</cp:lastModifiedBy>
  <cp:revision>1</cp:revision>
  <dcterms:created xsi:type="dcterms:W3CDTF">2026-10-24T13:29:28Z</dcterms:created>
  <dcterms:modified xsi:type="dcterms:W3CDTF">2026-10-24T13:29:28Z</dcterms:modified>
  <cp:keywords>sursa_amprenta=0c2fb8aae9a2332d; proiectie</cp:keywords>
</cp:coreProperties>
</file>