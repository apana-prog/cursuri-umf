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4864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EDUCAȚIE PENTRU SĂNĂTATE  ·  LUCRAREA PRACTICĂ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rând din fișa postului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 asistentul BFK pentru educația pentru sănătate și ce anume face un om sănătos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67512" y="5166360"/>
            <a:ext cx="1280160" cy="274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UMF Cluj-Napoca · Balneofiziokinetoterapie și recuperare, anul I</a:t>
            </a:r>
            <a:endParaRPr lang="en-US" sz="1400" dirty="0"/>
          </a:p>
        </p:txBody>
      </p:sp>
      <p:pic>
        <p:nvPicPr>
          <p:cNvPr id="8" name="Image 0" descr="/Users/adrianpana/Downloads/UMF_Cluj_SP/Materiale SP/Atelier_didactic/discipline/EPS_I/active/img/fizioterapie_consultatie_dvi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632" y="0"/>
            <a:ext cx="4846320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42632" y="6355080"/>
            <a:ext cx="4846320" cy="502920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43800" y="64922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Marcy Sanchez, domeniu public (DVIDS), via Wikimedia Commons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ÎNTREBAREA DE DESCHIDERE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Peste trei ani lucrați ca asistent BFK, cu zece-doisprezece pacienți pe zi. Cât din timpul vostru credeți că va fi educație pentru sănătate?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94360" y="3383280"/>
            <a:ext cx="758952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345643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3383280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deloc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4059936"/>
            <a:ext cx="758952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4133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4059936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mică parte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736592"/>
            <a:ext cx="758952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8097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809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736592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cam jumătate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5413248"/>
            <a:ext cx="7589520" cy="566928"/>
          </a:xfrm>
          <a:prstGeom prst="roundRect">
            <a:avLst>
              <a:gd name="adj" fmla="val 145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54864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5486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5413248"/>
            <a:ext cx="6446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tot timpul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778240" y="1920240"/>
            <a:ext cx="278892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961120" y="2103120"/>
            <a:ext cx="2423160" cy="242316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052560" y="2194560"/>
            <a:ext cx="2240280" cy="22402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78240" y="48920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Votați pe telefon. Rezultatul rămâne ascuns până la sfârșitul primei părți.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DOCUMENT REAL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unui post, citită rând cu rând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7223760" cy="4846320"/>
          </a:xfrm>
          <a:prstGeom prst="rect">
            <a:avLst/>
          </a:prstGeom>
          <a:solidFill>
            <a:srgbClr val="FBF8F1"/>
          </a:solidFill>
          <a:ln w="9525">
            <a:solidFill>
              <a:srgbClr val="E4DFD2"/>
            </a:solidFill>
            <a:prstDash val="solid"/>
          </a:ln>
          <a:effectLst>
            <a:outerShdw sx="100000" sy="100000" kx="0" ky="0" algn="bl" rotWithShape="0" blurRad="114300" dist="50800" dir="36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POSTULUI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02996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Asistent medical licențiat în tehnici de balneofiziokinetoterapie, debutant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60120" y="2724912"/>
            <a:ext cx="6492240" cy="18288"/>
          </a:xfrm>
          <a:prstGeom prst="rect">
            <a:avLst/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2834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Poziția în COR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834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Cod: 226924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31821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Pregătirea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31821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licență de specialitate, trei ani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35295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Locul de muncă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352958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laboratorul de recuperare, medicină fizică și balneologie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40416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 ore pe zi, 10–12 pacienți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38912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Atribuții specifice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438912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aplică planul de tratament prescris de medic; evaluează și reevaluează progresele; notează în foaia de observație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14400" y="5166360"/>
            <a:ext cx="6583680" cy="749808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52303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Atribuții suplimentare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52120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„responsabilități în instruirea personalului medical și a părinților cu privire la normele de educație sanitară”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1508760"/>
            <a:ext cx="3429000" cy="2834640"/>
          </a:xfrm>
          <a:prstGeom prst="roundRect">
            <a:avLst>
              <a:gd name="adj" fmla="val 2903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ECHIPĂ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20116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Echipele de patru sau cinci colegi citesc documentul.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apare educația pentru sănătate?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183880" y="45720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Extras redat prescurtat din fișa unui post real, publicată de un centru public de recuperare pentru copii la un concurs din 2021.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Clasificarea ocupațiilor din România (COR)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lista oficială a meseriilor din România, în care fiecare ocupație are un nume și un cod.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27432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4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2269</a:t>
            </a:r>
            <a:pPr indent="0" marL="0">
              <a:buNone/>
            </a:pPr>
            <a:r>
              <a:rPr lang="en-US" sz="9600" b="1" spc="400" kern="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24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594360" y="4251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ocupației voastre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4846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477316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primele patru cifre: grupa de bază, a specialiștilor în domeniul sănătății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743200"/>
            <a:ext cx="5120640" cy="1554480"/>
          </a:xfrm>
          <a:prstGeom prst="roundRect">
            <a:avLst>
              <a:gd name="adj" fmla="val 529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20840" y="2880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SPUNE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32461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meserie este și în ce familie de meserii intră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4526280"/>
            <a:ext cx="5120640" cy="1554480"/>
          </a:xfrm>
          <a:prstGeom prst="roundRect">
            <a:avLst>
              <a:gd name="adj" fmla="val 529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20840" y="4663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POSTULUI SPUNE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5029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faceți, concret, în fiecare zi, la un anumit loc de muncă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PAS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Citiți, decideți în echipă, răspundeți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14426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442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828800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apare educația pentru sănătate în fișă?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33787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3787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063240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spune codul COR despre post și ce nu spune?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4297680"/>
            <a:ext cx="7498080" cy="1051560"/>
          </a:xfrm>
          <a:prstGeom prst="roundRect">
            <a:avLst>
              <a:gd name="adj" fmla="val 782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6131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6131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6355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Numiți trei momente din ziua asistentului în care are loc educație pentru sănătate, deși fișa nu le numește astfel.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595360" y="1828800"/>
            <a:ext cx="297180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595360" y="4983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student trece răspunsul echipei în formularul lui.</a:t>
            </a:r>
            <a:endParaRPr lang="en-US" sz="1500" dirty="0"/>
          </a:p>
        </p:txBody>
      </p:sp>
      <p:pic>
        <p:nvPicPr>
          <p:cNvPr id="22" name="Picture 21" descr="EPS_LP01_sala_miercuri_7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2479789"/>
            <a:ext cx="1257071" cy="125707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63712" y="3774960"/>
            <a:ext cx="141754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</p:txBody>
      </p:sp>
      <p:pic>
        <p:nvPicPr>
          <p:cNvPr id="24" name="Picture 23" descr="EPS_LP01_sala_vineri_9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498" y="2479789"/>
            <a:ext cx="1257071" cy="125707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81260" y="3774960"/>
            <a:ext cx="141754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vineri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 · LIVE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PRIMULUI PAS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ales grupa?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737360"/>
            <a:ext cx="7040880" cy="4251960"/>
          </a:xfrm>
          <a:prstGeom prst="roundRect">
            <a:avLst>
              <a:gd name="adj" fmla="val 19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737360"/>
            <a:ext cx="70408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răspunsurilor din Forms, proiectată aici]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9244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discuție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92440" y="2194560"/>
            <a:ext cx="35204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apare educația în fișă?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momente de educație au găsit echipele în ziua asistentului?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compară lista cu votul de la început?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PROVIZORIU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Mult mai mult decât lasă să se vadă fișa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377440"/>
            <a:ext cx="10972800" cy="27432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12648" y="2286000"/>
            <a:ext cx="219456" cy="219456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828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Explicația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3218688"/>
            <a:ext cx="2578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dată copilului și părintelui, ca să colaboreze: ce urmează și de 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55848" y="2286000"/>
            <a:ext cx="219456" cy="219456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1828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reevaluare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6517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Progresul arătat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37560" y="3218688"/>
            <a:ext cx="2578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pacientul vede ce s-a schimbat, iar motivația crește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9048" y="2286000"/>
            <a:ext cx="219456" cy="219456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80760" y="1828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externare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80760" y="26517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Programul pentru acasă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80760" y="3218688"/>
            <a:ext cx="2578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demonstrație și cu verificare prin reformulare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42248" y="2286000"/>
            <a:ext cx="219456" cy="219456"/>
          </a:xfrm>
          <a:prstGeom prst="ellipse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23960" y="18288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fișă, explicit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23960" y="2651760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Instruirea părinților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23960" y="3218688"/>
            <a:ext cx="25786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C4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unei familii care va continua tratamentul acasă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5074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zece-doisprezece pacienți pe zi, fiecare ședință poate avea un moment în care pacientul sau familia învață ceva ce va face singur. Educația face parte din tratament.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TREBUI SĂ SCRIE ÎN FIȘĂ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rând, scris clar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DIN FIȘĂ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„responsabilități în instruirea personalului medical și a părinților cu privire la normele de educație sanitară”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 spune cine este educat, despre ce și cum se verifică rezultatul.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379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RÂNDUL REȘCRIS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„la încheierea fiecărei serii de tratament, instruiește pacientul și familia în programul de exerciții pentru acasă și verifică, prin demonstrație, că l-au înțeles”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37960" y="429768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42976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429768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589520" y="429768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destinatar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840" y="42976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06840" y="42976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conținut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241280" y="42976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241280" y="42976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verificare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5257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Rescrierea unui astfel de rând este una dintre întrebările formularului pentru acasă.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CONTINUĂ · PATRU LUNI MAI TÂRZIU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 nu face doamna Elena exercițiile, a doua oară?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5806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8E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Șaptezeci și patru de ani, artroză de genunchi. Programul pentru acasă i-a fost explicat, cu demonstrație, și l-a înțeles. Revine cu genunchiul la fel de dureros: locuiește la etajul patru, într-un bloc fără lift, iar trotuarele din cartier sunt sparte. Nu mai iese. Își petrece ziua în fotoliu, la televizor.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5349240"/>
            <a:ext cx="5806440" cy="777240"/>
          </a:xfrm>
          <a:prstGeom prst="roundRect">
            <a:avLst>
              <a:gd name="adj" fmla="val 10588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534924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Întrebare pentru toată grupa: ce o oprește?</a:t>
            </a:r>
            <a:endParaRPr lang="en-US" sz="1900" dirty="0"/>
          </a:p>
        </p:txBody>
      </p:sp>
      <p:pic>
        <p:nvPicPr>
          <p:cNvPr id="7" name="Image 0" descr="/Users/adrianpana/Downloads/UMF_Cluj_SP/Materiale SP/Atelier_didactic/discipline/EPS_I/active/img/trotuar_deteriorat_bytom_comm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02552" y="5989320"/>
            <a:ext cx="5486400" cy="868680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949440" y="6053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Fotografie ilustrativă: trotuar deteriorat (Bytom, Polonia)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949440" y="64282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Marek Ślusarczyk (Tupungato), CC BY 3.0, via Wikimedia Commons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TERMEN NOU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Determinanții sănătății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limbaj obișnuit: tot ce face ca un om să fie sănătos sau bolnav, nu numai medicul și tratamentul.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5372100" cy="1645920"/>
          </a:xfrm>
          <a:prstGeom prst="roundRect">
            <a:avLst>
              <a:gd name="adj" fmla="val 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2624328"/>
            <a:ext cx="64008" cy="14264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42616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BIOLOGIA UMANĂ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5060" y="2514600"/>
            <a:ext cx="5372100" cy="1645920"/>
          </a:xfrm>
          <a:prstGeom prst="roundRect">
            <a:avLst>
              <a:gd name="adj" fmla="val 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95060" y="2624328"/>
            <a:ext cx="64008" cy="142646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23660" y="2642616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389120"/>
            <a:ext cx="5372100" cy="1645920"/>
          </a:xfrm>
          <a:prstGeom prst="roundRect">
            <a:avLst>
              <a:gd name="adj" fmla="val 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" y="4498848"/>
            <a:ext cx="64008" cy="14264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4517136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STILUL DE VIAȚĂ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5060" y="4389120"/>
            <a:ext cx="5372100" cy="1645920"/>
          </a:xfrm>
          <a:prstGeom prst="roundRect">
            <a:avLst>
              <a:gd name="adj" fmla="val 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95060" y="4498848"/>
            <a:ext cx="64008" cy="1426464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23660" y="4517136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 ÎNGRIJIRILOR DE SĂNĂTATE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patru grupe: raportul Lalonde, 1974.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DOILEA PAS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Așezați factorii doamnei Elena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4572000" cy="786384"/>
          </a:xfrm>
          <a:prstGeom prst="roundRect">
            <a:avLst>
              <a:gd name="adj" fmla="val 1046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029968"/>
            <a:ext cx="292608" cy="29260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25880" y="178308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 și artroza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4572000" cy="786384"/>
          </a:xfrm>
          <a:prstGeom prst="roundRect">
            <a:avLst>
              <a:gd name="adj" fmla="val 1046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944368"/>
            <a:ext cx="292608" cy="29260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25880" y="269748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blocul fără lift și trotuarele sparte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611880"/>
            <a:ext cx="4572000" cy="786384"/>
          </a:xfrm>
          <a:prstGeom prst="roundRect">
            <a:avLst>
              <a:gd name="adj" fmla="val 1046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3858768"/>
            <a:ext cx="292608" cy="29260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25880" y="361188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ziua petrecută în fotoliu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4526280"/>
            <a:ext cx="4572000" cy="786384"/>
          </a:xfrm>
          <a:prstGeom prst="roundRect">
            <a:avLst>
              <a:gd name="adj" fmla="val 10465"/>
            </a:avLst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4773168"/>
            <a:ext cx="292608" cy="292608"/>
          </a:xfrm>
          <a:prstGeom prst="ellipse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25880" y="452628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patru luni de așteptare pentru o nouă serie de ședințe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0" y="1783080"/>
            <a:ext cx="2948940" cy="1691640"/>
          </a:xfrm>
          <a:prstGeom prst="roundRect">
            <a:avLst>
              <a:gd name="adj" fmla="val 48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486400" y="1892808"/>
            <a:ext cx="64008" cy="14721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715000" y="1911096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BIOLOGIA UMANĂ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63940" y="1783080"/>
            <a:ext cx="2948940" cy="1691640"/>
          </a:xfrm>
          <a:prstGeom prst="roundRect">
            <a:avLst>
              <a:gd name="adj" fmla="val 48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663940" y="1892808"/>
            <a:ext cx="64008" cy="147218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892540" y="1911096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8A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0" y="3703320"/>
            <a:ext cx="2948940" cy="1691640"/>
          </a:xfrm>
          <a:prstGeom prst="roundRect">
            <a:avLst>
              <a:gd name="adj" fmla="val 48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486400" y="3813048"/>
            <a:ext cx="64008" cy="14721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15000" y="3831336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STILUL DE VIAȚĂ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63940" y="3703320"/>
            <a:ext cx="2948940" cy="1691640"/>
          </a:xfrm>
          <a:prstGeom prst="roundRect">
            <a:avLst>
              <a:gd name="adj" fmla="val 486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663940" y="3813048"/>
            <a:ext cx="64008" cy="1472184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892540" y="3831336"/>
            <a:ext cx="2537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 ÎNGRIJIRILOR DE SĂNĂTATE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5532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alegeți grupa în care educația pentru sănătate ar schimba cel mai mult situația. Formularul rămâne deschis.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 PASULUI AL DOILEA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grupe, un singur caz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72100" cy="1577340"/>
          </a:xfrm>
          <a:prstGeom prst="roundRect">
            <a:avLst>
              <a:gd name="adj" fmla="val 52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801368"/>
            <a:ext cx="64008" cy="13578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819656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BIOLOGIA UMANĂ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9606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vârsta, artroza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5060" y="1691640"/>
            <a:ext cx="5372100" cy="1577340"/>
          </a:xfrm>
          <a:prstGeom prst="roundRect">
            <a:avLst>
              <a:gd name="adj" fmla="val 52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95060" y="1801368"/>
            <a:ext cx="64008" cy="1357884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23660" y="1819656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C4A0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MEDIUL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3660" y="2331720"/>
            <a:ext cx="49606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blocul fără lift, trotuarele sparte, pensia mică, fiica plecată în alt oraș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497580"/>
            <a:ext cx="5372100" cy="1577340"/>
          </a:xfrm>
          <a:prstGeom prst="roundRect">
            <a:avLst>
              <a:gd name="adj" fmla="val 52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3607308"/>
            <a:ext cx="64008" cy="135788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3625596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STILUL DE VIAȚĂ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137660"/>
            <a:ext cx="49606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ziua în fotoliu: decizia e a ei, dar blocul și trotuarele o îngrădesc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95060" y="3497580"/>
            <a:ext cx="5372100" cy="1577340"/>
          </a:xfrm>
          <a:prstGeom prst="roundRect">
            <a:avLst>
              <a:gd name="adj" fmla="val 521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95060" y="3607308"/>
            <a:ext cx="64008" cy="1357884"/>
          </a:xfrm>
          <a:prstGeom prst="rect">
            <a:avLst/>
          </a:prstGeom>
          <a:solidFill>
            <a:srgbClr val="9B7EF7"/>
          </a:solidFill>
          <a:ln w="12700">
            <a:solidFill>
              <a:srgbClr val="9B7EF7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23660" y="3625596"/>
            <a:ext cx="4960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ORGANIZAREA ÎNGRIJIRILOR DE SĂNĂTATE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23660" y="4137660"/>
            <a:ext cx="49606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cele patru luni de așteptare pentru o nouă serie de ședințe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5257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 lucrează direct asupra stilului de viață; asupra celorlalte grupe, numai prin parteneri.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 · VOT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CARTA DE LA OTTAWA, 1986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Nouă condiții înaintea oricărui sfat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892808"/>
            <a:ext cx="64008" cy="95097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8308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pacea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36392" y="178308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136392" y="1892808"/>
            <a:ext cx="64008" cy="9509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64992" y="178308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adăpostul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78424" y="178308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678424" y="1892808"/>
            <a:ext cx="64008" cy="95097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07024" y="178308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educația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94360" y="310896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218688"/>
            <a:ext cx="64008" cy="95097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310896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hrana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136392" y="310896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136392" y="3218688"/>
            <a:ext cx="64008" cy="9509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364992" y="310896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venitul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678424" y="310896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678424" y="3218688"/>
            <a:ext cx="64008" cy="95097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07024" y="310896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ecosistem stabil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" y="443484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4360" y="4544568"/>
            <a:ext cx="64008" cy="95097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2960" y="443484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resursele durabile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136392" y="443484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136392" y="4544568"/>
            <a:ext cx="64008" cy="95097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364992" y="443484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justiția socială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678424" y="4434840"/>
            <a:ext cx="2377440" cy="1170432"/>
          </a:xfrm>
          <a:prstGeom prst="roundRect">
            <a:avLst>
              <a:gd name="adj" fmla="val 7031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678424" y="4544568"/>
            <a:ext cx="64008" cy="950976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907024" y="4434840"/>
            <a:ext cx="2057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echitatea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360" y="5806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Ele nu pot fi asigurate numai de sectorul sanitar.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95360" y="17830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lipsește cel mai des pacienților voștri de mâine?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595360" y="3291840"/>
            <a:ext cx="29718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8778240" y="3474720"/>
            <a:ext cx="2606040" cy="228600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869680" y="3566160"/>
            <a:ext cx="2423160" cy="210312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CAZUL: ȘASE PACIENȚI, ACELAȘI CARTIER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întâmplă în acest cartier?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846320" cy="4389120"/>
          </a:xfrm>
          <a:prstGeom prst="roundRect">
            <a:avLst>
              <a:gd name="adj" fmla="val 187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65960"/>
            <a:ext cx="1280160" cy="914400"/>
          </a:xfrm>
          <a:prstGeom prst="rect">
            <a:avLst/>
          </a:prstGeom>
          <a:solidFill>
            <a:srgbClr val="D3D0C6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60320" y="1965960"/>
            <a:ext cx="1097280" cy="914400"/>
          </a:xfrm>
          <a:prstGeom prst="rect">
            <a:avLst/>
          </a:prstGeom>
          <a:solidFill>
            <a:srgbClr val="D3D0C6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977640" y="1965960"/>
            <a:ext cx="1234440" cy="914400"/>
          </a:xfrm>
          <a:prstGeom prst="rect">
            <a:avLst/>
          </a:prstGeom>
          <a:solidFill>
            <a:srgbClr val="D3D0C6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68680" y="4160520"/>
            <a:ext cx="1554480" cy="914400"/>
          </a:xfrm>
          <a:prstGeom prst="rect">
            <a:avLst/>
          </a:prstGeom>
          <a:solidFill>
            <a:srgbClr val="D3D0C6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926080" y="4160520"/>
            <a:ext cx="1005840" cy="914400"/>
          </a:xfrm>
          <a:prstGeom prst="rect">
            <a:avLst/>
          </a:prstGeom>
          <a:solidFill>
            <a:srgbClr val="D3D0C6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06240" y="4160520"/>
            <a:ext cx="1005840" cy="914400"/>
          </a:xfrm>
          <a:prstGeom prst="rect">
            <a:avLst/>
          </a:prstGeom>
          <a:solidFill>
            <a:srgbClr val="D3D0C6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3291840"/>
            <a:ext cx="4572000" cy="502920"/>
          </a:xfrm>
          <a:prstGeom prst="rect">
            <a:avLst/>
          </a:prstGeom>
          <a:solidFill>
            <a:srgbClr val="FBFAF7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325880" y="2240280"/>
            <a:ext cx="274320" cy="274320"/>
          </a:xfrm>
          <a:prstGeom prst="ellipse">
            <a:avLst/>
          </a:prstGeom>
          <a:solidFill>
            <a:srgbClr val="B02532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691640" y="2514600"/>
            <a:ext cx="274320" cy="274320"/>
          </a:xfrm>
          <a:prstGeom prst="ellipse">
            <a:avLst/>
          </a:prstGeom>
          <a:solidFill>
            <a:srgbClr val="B02532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017520" y="2240280"/>
            <a:ext cx="274320" cy="274320"/>
          </a:xfrm>
          <a:prstGeom prst="ellipse">
            <a:avLst/>
          </a:prstGeom>
          <a:solidFill>
            <a:srgbClr val="B02532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0" y="2423160"/>
            <a:ext cx="274320" cy="274320"/>
          </a:xfrm>
          <a:prstGeom prst="ellipse">
            <a:avLst/>
          </a:prstGeom>
          <a:solidFill>
            <a:srgbClr val="B02532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371600" y="4480560"/>
            <a:ext cx="274320" cy="274320"/>
          </a:xfrm>
          <a:prstGeom prst="ellipse">
            <a:avLst/>
          </a:prstGeom>
          <a:solidFill>
            <a:srgbClr val="B02532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383280" y="4526280"/>
            <a:ext cx="274320" cy="274320"/>
          </a:xfrm>
          <a:prstGeom prst="ellipse">
            <a:avLst/>
          </a:prstGeom>
          <a:solidFill>
            <a:srgbClr val="B02532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blocul doamnei Elena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șase pacienți, același cartier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169164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11121A"/>
          </a:solidFill>
          <a:ln w="12700">
            <a:solidFill>
              <a:srgbClr val="11121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89320" y="1828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TERMEN NOU: EVALUAREA NEVOILOR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21945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un program, aflați cine are nevoie de el, de ce și ce există deja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3524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PACIENT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46920" y="3246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COMUNITATE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3611880"/>
            <a:ext cx="585216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897880" y="36118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este evaluat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35240" y="36118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persoană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46920" y="36118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grup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60720" y="4480560"/>
            <a:ext cx="585216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897880" y="44805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 ce se evaluează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35240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examinare și teste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46920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 despre grup, chestionare, discuții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760720" y="5349240"/>
            <a:ext cx="5852160" cy="777240"/>
          </a:xfrm>
          <a:prstGeom prst="roundRect">
            <a:avLst>
              <a:gd name="adj" fmla="val 1058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897880" y="5349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rezultă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35240" y="5349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plan de tratament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46920" y="5349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program pentru comunitate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 TREILEA PAS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Fișa de pornire a proiectului vostru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Alegeți comunitatea: vârstnicii unui cartier, elevii unei școli, angajații unei firme sau sportivii unui club.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758952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4360" y="2560320"/>
            <a:ext cx="64008" cy="43891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46888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2889504"/>
            <a:ext cx="3063240" cy="18288"/>
          </a:xfrm>
          <a:prstGeom prst="rect">
            <a:avLst/>
          </a:prstGeom>
          <a:solidFill>
            <a:srgbClr val="5A5F78"/>
          </a:solidFill>
          <a:ln w="12700">
            <a:solidFill>
              <a:srgbClr val="5A5F7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94360" y="3200400"/>
            <a:ext cx="758952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" y="3291840"/>
            <a:ext cx="64008" cy="43891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2004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92040" y="3621024"/>
            <a:ext cx="3063240" cy="18288"/>
          </a:xfrm>
          <a:prstGeom prst="rect">
            <a:avLst/>
          </a:prstGeom>
          <a:solidFill>
            <a:srgbClr val="5A5F78"/>
          </a:solidFill>
          <a:ln w="12700">
            <a:solidFill>
              <a:srgbClr val="5A5F7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3931920"/>
            <a:ext cx="758952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4023360"/>
            <a:ext cx="64008" cy="43891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8680" y="3931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determinantul vizat (una dintre cele patru grupe)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92040" y="4352544"/>
            <a:ext cx="3063240" cy="18288"/>
          </a:xfrm>
          <a:prstGeom prst="rect">
            <a:avLst/>
          </a:prstGeom>
          <a:solidFill>
            <a:srgbClr val="5A5F78"/>
          </a:solidFill>
          <a:ln w="12700">
            <a:solidFill>
              <a:srgbClr val="5A5F7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94360" y="4663440"/>
            <a:ext cx="758952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4754880"/>
            <a:ext cx="64008" cy="43891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66344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partener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92040" y="5084064"/>
            <a:ext cx="3063240" cy="18288"/>
          </a:xfrm>
          <a:prstGeom prst="rect">
            <a:avLst/>
          </a:prstGeom>
          <a:solidFill>
            <a:srgbClr val="5A5F78"/>
          </a:solidFill>
          <a:ln w="12700">
            <a:solidFill>
              <a:srgbClr val="5A5F7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" y="5394960"/>
            <a:ext cx="7589520" cy="621792"/>
          </a:xfrm>
          <a:prstGeom prst="roundRect">
            <a:avLst>
              <a:gd name="adj" fmla="val 13235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5486400"/>
            <a:ext cx="64008" cy="438912"/>
          </a:xfrm>
          <a:prstGeom prst="rect">
            <a:avLst/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539496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măsură simplă a progresului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92040" y="5815584"/>
            <a:ext cx="3063240" cy="18288"/>
          </a:xfrm>
          <a:prstGeom prst="rect">
            <a:avLst/>
          </a:prstGeom>
          <a:solidFill>
            <a:srgbClr val="5A5F78"/>
          </a:solidFill>
          <a:ln w="12700">
            <a:solidFill>
              <a:srgbClr val="5A5F7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595360" y="1920240"/>
            <a:ext cx="297180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595360" y="5074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Apoi două sau trei echipe citesc fișa.</a:t>
            </a:r>
            <a:endParaRPr lang="en-US" sz="1500" dirty="0"/>
          </a:p>
        </p:txBody>
      </p:sp>
      <p:pic>
        <p:nvPicPr>
          <p:cNvPr id="31" name="Picture 30" descr="EPS_LP01_sala_miercuri_7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2571229"/>
            <a:ext cx="1257071" cy="125707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63712" y="3866400"/>
            <a:ext cx="141754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miercuri</a:t>
            </a:r>
          </a:p>
        </p:txBody>
      </p:sp>
      <p:pic>
        <p:nvPicPr>
          <p:cNvPr id="33" name="Picture 32" descr="EPS_LP01_sala_vineri_9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498" y="2571229"/>
            <a:ext cx="1257071" cy="12570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081260" y="3866400"/>
            <a:ext cx="1417548" cy="412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02532"/>
                </a:solidFill>
                <a:latin typeface="Palatino Linotype"/>
              </a:rPr>
              <a:t>vineri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VOI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propoziție pe echipă: ce ați schimba la rândul din fișa postului despre educația pentru sănătate?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1792" y="4069080"/>
            <a:ext cx="1280160" cy="27432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43434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faceți diferit, ca student sau ca viitor asistent BFK, când citiți o fișă a postului sau întâlniți un pacient care nu face exercițiile.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732520" y="2697480"/>
            <a:ext cx="2651760" cy="2103120"/>
          </a:xfrm>
          <a:prstGeom prst="rect">
            <a:avLst/>
          </a:prstGeom>
          <a:solidFill>
            <a:srgbClr val="F1F0EC"/>
          </a:solidFill>
          <a:ln w="12700">
            <a:solidFill>
              <a:srgbClr val="C9C6BE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23960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349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începutul săptămânii viitoare, pe pagina disciplinei, veți găsi două modificări făcute pe baza răspunsurilor.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1 - Un rând din fișa postului</dc:title>
  <dc:subject>PptxGenJS Presentation</dc:subject>
  <dc:creator>Conf. Univ. Dr. Adrian Pana</dc:creator>
  <cp:lastModifiedBy>Conf. Univ. Dr. Adrian Pana</cp:lastModifiedBy>
  <cp:revision>1</cp:revision>
  <dcterms:created xsi:type="dcterms:W3CDTF">2026-10-03T20:13:55Z</dcterms:created>
  <dcterms:modified xsi:type="dcterms:W3CDTF">2026-10-03T20:13:55Z</dcterms:modified>
  <cp:keywords>sursa_amprenta=3700697d1c0759f0; proiectie</cp:keywords>
</cp:coreProperties>
</file>