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40080" y="777240"/>
            <a:ext cx="56692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40080" y="777240"/>
            <a:ext cx="56692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CURSUL 2  ·  EDUCAȚIE PENTRU SĂNĂTATE</a:t>
            </a:r>
            <a:endParaRPr lang="en-US" sz="1300" dirty="0"/>
          </a:p>
        </p:txBody>
      </p:sp>
      <p:sp>
        <p:nvSpPr>
          <p:cNvPr id="4" name="Text 2"/>
          <p:cNvSpPr/>
          <p:nvPr/>
        </p:nvSpPr>
        <p:spPr>
          <a:xfrm>
            <a:off x="640080" y="1417320"/>
            <a:ext cx="6766560" cy="1600200"/>
          </a:xfrm>
          <a:prstGeom prst="rect">
            <a:avLst/>
          </a:prstGeom>
          <a:noFill/>
          <a:ln/>
        </p:spPr>
        <p:txBody>
          <a:bodyPr wrap="square" lIns="0" tIns="0" rIns="0" bIns="0" rtlCol="0" anchor="t"/>
          <a:lstStyle/>
          <a:p>
            <a:pPr indent="0" marL="0">
              <a:buNone/>
            </a:pPr>
            <a:r>
              <a:rPr lang="en-US" sz="4600" b="1" dirty="0">
                <a:solidFill>
                  <a:srgbClr val="FFFFFF"/>
                </a:solidFill>
                <a:latin typeface="Palatino Linotype" pitchFamily="34" charset="0"/>
                <a:ea typeface="Palatino Linotype" pitchFamily="34" charset="-122"/>
                <a:cs typeface="Palatino Linotype" pitchFamily="34" charset="-120"/>
              </a:rPr>
              <a:t>Același sfat, alt rezultat</a:t>
            </a:r>
            <a:endParaRPr lang="en-US" sz="4600" dirty="0"/>
          </a:p>
        </p:txBody>
      </p:sp>
      <p:sp>
        <p:nvSpPr>
          <p:cNvPr id="5" name="Text 3"/>
          <p:cNvSpPr/>
          <p:nvPr/>
        </p:nvSpPr>
        <p:spPr>
          <a:xfrm>
            <a:off x="640080" y="3108960"/>
            <a:ext cx="6583680" cy="1280160"/>
          </a:xfrm>
          <a:prstGeom prst="rect">
            <a:avLst/>
          </a:prstGeom>
          <a:noFill/>
          <a:ln/>
        </p:spPr>
        <p:txBody>
          <a:bodyPr wrap="square" lIns="0" tIns="0" rIns="0" bIns="0" rtlCol="0" anchor="t"/>
          <a:lstStyle/>
          <a:p>
            <a:pPr indent="0" marL="0">
              <a:buNone/>
            </a:pPr>
            <a:r>
              <a:rPr lang="en-US" sz="2700" b="1" dirty="0">
                <a:solidFill>
                  <a:srgbClr val="27D3BE"/>
                </a:solidFill>
                <a:latin typeface="Palatino Linotype" pitchFamily="34" charset="0"/>
                <a:ea typeface="Palatino Linotype" pitchFamily="34" charset="-122"/>
                <a:cs typeface="Palatino Linotype" pitchFamily="34" charset="-120"/>
              </a:rPr>
              <a:t>Principiile, scopurile și metodele educației pentru sănătate</a:t>
            </a:r>
            <a:endParaRPr lang="en-US" sz="2700" dirty="0"/>
          </a:p>
        </p:txBody>
      </p:sp>
      <p:sp>
        <p:nvSpPr>
          <p:cNvPr id="6" name="Shape 4"/>
          <p:cNvSpPr/>
          <p:nvPr/>
        </p:nvSpPr>
        <p:spPr>
          <a:xfrm>
            <a:off x="667512" y="4526280"/>
            <a:ext cx="1280160" cy="27432"/>
          </a:xfrm>
          <a:prstGeom prst="rect">
            <a:avLst/>
          </a:prstGeom>
          <a:solidFill>
            <a:srgbClr val="FF4757"/>
          </a:solidFill>
          <a:ln w="12700">
            <a:solidFill>
              <a:srgbClr val="FF4757"/>
            </a:solidFill>
            <a:prstDash val="solid"/>
          </a:ln>
        </p:spPr>
        <p:txBody>
          <a:bodyPr/>
          <a:p/>
        </p:txBody>
      </p:sp>
      <p:sp>
        <p:nvSpPr>
          <p:cNvPr id="7" name="Text 5"/>
          <p:cNvSpPr/>
          <p:nvPr/>
        </p:nvSpPr>
        <p:spPr>
          <a:xfrm>
            <a:off x="640080" y="4709160"/>
            <a:ext cx="6400800" cy="36576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Balneofiziokinetoterapie și recuperare, anul I</a:t>
            </a:r>
            <a:endParaRPr lang="en-US" sz="1600" dirty="0"/>
          </a:p>
        </p:txBody>
      </p:sp>
      <p:sp>
        <p:nvSpPr>
          <p:cNvPr id="8" name="Text 6"/>
          <p:cNvSpPr/>
          <p:nvPr/>
        </p:nvSpPr>
        <p:spPr>
          <a:xfrm>
            <a:off x="640080" y="5120640"/>
            <a:ext cx="667512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UMF „Iuliu Hațieganu” Cluj-Napoca · Disciplina de Sănătate publică și management</a:t>
            </a:r>
            <a:endParaRPr lang="en-US" sz="1300" dirty="0"/>
          </a:p>
        </p:txBody>
      </p:sp>
      <p:sp>
        <p:nvSpPr>
          <p:cNvPr id="9" name="Shape 7"/>
          <p:cNvSpPr/>
          <p:nvPr/>
        </p:nvSpPr>
        <p:spPr>
          <a:xfrm>
            <a:off x="8147304" y="1280160"/>
            <a:ext cx="1920240" cy="2743200"/>
          </a:xfrm>
          <a:prstGeom prst="rect">
            <a:avLst/>
          </a:prstGeom>
          <a:solidFill>
            <a:srgbClr val="E4DFD2"/>
          </a:solidFill>
          <a:ln w="9525">
            <a:solidFill>
              <a:srgbClr val="C9C6BE"/>
            </a:solidFill>
            <a:prstDash val="solid"/>
          </a:ln>
        </p:spPr>
        <p:txBody>
          <a:bodyPr/>
          <a:p/>
        </p:txBody>
      </p:sp>
      <p:sp>
        <p:nvSpPr>
          <p:cNvPr id="10" name="Shape 8"/>
          <p:cNvSpPr/>
          <p:nvPr/>
        </p:nvSpPr>
        <p:spPr>
          <a:xfrm>
            <a:off x="8037576" y="1188720"/>
            <a:ext cx="1920240" cy="2743200"/>
          </a:xfrm>
          <a:prstGeom prst="rect">
            <a:avLst/>
          </a:prstGeom>
          <a:solidFill>
            <a:srgbClr val="E4DFD2"/>
          </a:solidFill>
          <a:ln w="9525">
            <a:solidFill>
              <a:srgbClr val="C9C6BE"/>
            </a:solidFill>
            <a:prstDash val="solid"/>
          </a:ln>
        </p:spPr>
        <p:txBody>
          <a:bodyPr/>
          <a:p/>
        </p:txBody>
      </p:sp>
      <p:sp>
        <p:nvSpPr>
          <p:cNvPr id="11" name="Shape 9"/>
          <p:cNvSpPr/>
          <p:nvPr/>
        </p:nvSpPr>
        <p:spPr>
          <a:xfrm>
            <a:off x="7927848" y="1097280"/>
            <a:ext cx="1920240" cy="2743200"/>
          </a:xfrm>
          <a:prstGeom prst="rect">
            <a:avLst/>
          </a:prstGeom>
          <a:solidFill>
            <a:srgbClr val="E4DFD2"/>
          </a:solidFill>
          <a:ln w="9525">
            <a:solidFill>
              <a:srgbClr val="C9C6BE"/>
            </a:solidFill>
            <a:prstDash val="solid"/>
          </a:ln>
        </p:spPr>
        <p:txBody>
          <a:bodyPr/>
          <a:p/>
        </p:txBody>
      </p:sp>
      <p:sp>
        <p:nvSpPr>
          <p:cNvPr id="12" name="Shape 10"/>
          <p:cNvSpPr/>
          <p:nvPr/>
        </p:nvSpPr>
        <p:spPr>
          <a:xfrm>
            <a:off x="7818120" y="1005840"/>
            <a:ext cx="1920240" cy="2743200"/>
          </a:xfrm>
          <a:prstGeom prst="rect">
            <a:avLst/>
          </a:prstGeom>
          <a:solidFill>
            <a:srgbClr val="FBF8F1"/>
          </a:solidFill>
          <a:ln w="9525">
            <a:solidFill>
              <a:srgbClr val="C9C6BE"/>
            </a:solidFill>
            <a:prstDash val="solid"/>
          </a:ln>
        </p:spPr>
        <p:txBody>
          <a:bodyPr/>
          <a:p/>
        </p:txBody>
      </p:sp>
      <p:sp>
        <p:nvSpPr>
          <p:cNvPr id="13" name="Shape 11"/>
          <p:cNvSpPr/>
          <p:nvPr/>
        </p:nvSpPr>
        <p:spPr>
          <a:xfrm>
            <a:off x="7955280" y="1417320"/>
            <a:ext cx="1554480" cy="45720"/>
          </a:xfrm>
          <a:prstGeom prst="rect">
            <a:avLst/>
          </a:prstGeom>
          <a:solidFill>
            <a:srgbClr val="C9C6BE"/>
          </a:solidFill>
          <a:ln w="12700">
            <a:solidFill>
              <a:srgbClr val="C9C6BE"/>
            </a:solidFill>
            <a:prstDash val="solid"/>
          </a:ln>
        </p:spPr>
        <p:txBody>
          <a:bodyPr/>
          <a:p/>
        </p:txBody>
      </p:sp>
      <p:sp>
        <p:nvSpPr>
          <p:cNvPr id="14" name="Shape 12"/>
          <p:cNvSpPr/>
          <p:nvPr/>
        </p:nvSpPr>
        <p:spPr>
          <a:xfrm>
            <a:off x="7955280" y="1655064"/>
            <a:ext cx="1554480" cy="45720"/>
          </a:xfrm>
          <a:prstGeom prst="rect">
            <a:avLst/>
          </a:prstGeom>
          <a:solidFill>
            <a:srgbClr val="C9C6BE"/>
          </a:solidFill>
          <a:ln w="12700">
            <a:solidFill>
              <a:srgbClr val="C9C6BE"/>
            </a:solidFill>
            <a:prstDash val="solid"/>
          </a:ln>
        </p:spPr>
        <p:txBody>
          <a:bodyPr/>
          <a:p/>
        </p:txBody>
      </p:sp>
      <p:sp>
        <p:nvSpPr>
          <p:cNvPr id="15" name="Shape 13"/>
          <p:cNvSpPr/>
          <p:nvPr/>
        </p:nvSpPr>
        <p:spPr>
          <a:xfrm>
            <a:off x="7955280" y="1892808"/>
            <a:ext cx="914400" cy="45720"/>
          </a:xfrm>
          <a:prstGeom prst="rect">
            <a:avLst/>
          </a:prstGeom>
          <a:solidFill>
            <a:srgbClr val="C9C6BE"/>
          </a:solidFill>
          <a:ln w="12700">
            <a:solidFill>
              <a:srgbClr val="C9C6BE"/>
            </a:solidFill>
            <a:prstDash val="solid"/>
          </a:ln>
        </p:spPr>
        <p:txBody>
          <a:bodyPr/>
          <a:p/>
        </p:txBody>
      </p:sp>
      <p:sp>
        <p:nvSpPr>
          <p:cNvPr id="16" name="Shape 14"/>
          <p:cNvSpPr/>
          <p:nvPr/>
        </p:nvSpPr>
        <p:spPr>
          <a:xfrm>
            <a:off x="7955280" y="2130552"/>
            <a:ext cx="1554480" cy="45720"/>
          </a:xfrm>
          <a:prstGeom prst="rect">
            <a:avLst/>
          </a:prstGeom>
          <a:solidFill>
            <a:srgbClr val="C9C6BE"/>
          </a:solidFill>
          <a:ln w="12700">
            <a:solidFill>
              <a:srgbClr val="C9C6BE"/>
            </a:solidFill>
            <a:prstDash val="solid"/>
          </a:ln>
        </p:spPr>
        <p:txBody>
          <a:bodyPr/>
          <a:p/>
        </p:txBody>
      </p:sp>
      <p:sp>
        <p:nvSpPr>
          <p:cNvPr id="17" name="Shape 15"/>
          <p:cNvSpPr/>
          <p:nvPr/>
        </p:nvSpPr>
        <p:spPr>
          <a:xfrm>
            <a:off x="7955280" y="2368296"/>
            <a:ext cx="1554480" cy="45720"/>
          </a:xfrm>
          <a:prstGeom prst="rect">
            <a:avLst/>
          </a:prstGeom>
          <a:solidFill>
            <a:srgbClr val="C9C6BE"/>
          </a:solidFill>
          <a:ln w="12700">
            <a:solidFill>
              <a:srgbClr val="C9C6BE"/>
            </a:solidFill>
            <a:prstDash val="solid"/>
          </a:ln>
        </p:spPr>
        <p:txBody>
          <a:bodyPr/>
          <a:p/>
        </p:txBody>
      </p:sp>
      <p:sp>
        <p:nvSpPr>
          <p:cNvPr id="18" name="Shape 16"/>
          <p:cNvSpPr/>
          <p:nvPr/>
        </p:nvSpPr>
        <p:spPr>
          <a:xfrm>
            <a:off x="7955280" y="2606040"/>
            <a:ext cx="914400" cy="45720"/>
          </a:xfrm>
          <a:prstGeom prst="rect">
            <a:avLst/>
          </a:prstGeom>
          <a:solidFill>
            <a:srgbClr val="C9C6BE"/>
          </a:solidFill>
          <a:ln w="12700">
            <a:solidFill>
              <a:srgbClr val="C9C6BE"/>
            </a:solidFill>
            <a:prstDash val="solid"/>
          </a:ln>
        </p:spPr>
        <p:txBody>
          <a:bodyPr/>
          <a:p/>
        </p:txBody>
      </p:sp>
      <p:sp>
        <p:nvSpPr>
          <p:cNvPr id="19" name="Shape 17"/>
          <p:cNvSpPr/>
          <p:nvPr/>
        </p:nvSpPr>
        <p:spPr>
          <a:xfrm>
            <a:off x="7955280" y="2843784"/>
            <a:ext cx="1554480" cy="45720"/>
          </a:xfrm>
          <a:prstGeom prst="rect">
            <a:avLst/>
          </a:prstGeom>
          <a:solidFill>
            <a:srgbClr val="C9C6BE"/>
          </a:solidFill>
          <a:ln w="12700">
            <a:solidFill>
              <a:srgbClr val="C9C6BE"/>
            </a:solidFill>
            <a:prstDash val="solid"/>
          </a:ln>
        </p:spPr>
        <p:txBody>
          <a:bodyPr/>
          <a:p/>
        </p:txBody>
      </p:sp>
      <p:sp>
        <p:nvSpPr>
          <p:cNvPr id="20" name="Shape 18"/>
          <p:cNvSpPr/>
          <p:nvPr/>
        </p:nvSpPr>
        <p:spPr>
          <a:xfrm>
            <a:off x="7955280" y="3081528"/>
            <a:ext cx="1554480" cy="45720"/>
          </a:xfrm>
          <a:prstGeom prst="rect">
            <a:avLst/>
          </a:prstGeom>
          <a:solidFill>
            <a:srgbClr val="C9C6BE"/>
          </a:solidFill>
          <a:ln w="12700">
            <a:solidFill>
              <a:srgbClr val="C9C6BE"/>
            </a:solidFill>
            <a:prstDash val="solid"/>
          </a:ln>
        </p:spPr>
        <p:txBody>
          <a:bodyPr/>
          <a:p/>
        </p:txBody>
      </p:sp>
      <p:sp>
        <p:nvSpPr>
          <p:cNvPr id="21" name="Shape 19"/>
          <p:cNvSpPr/>
          <p:nvPr/>
        </p:nvSpPr>
        <p:spPr>
          <a:xfrm>
            <a:off x="7955280" y="3319272"/>
            <a:ext cx="914400" cy="45720"/>
          </a:xfrm>
          <a:prstGeom prst="rect">
            <a:avLst/>
          </a:prstGeom>
          <a:solidFill>
            <a:srgbClr val="C9C6BE"/>
          </a:solidFill>
          <a:ln w="12700">
            <a:solidFill>
              <a:srgbClr val="C9C6BE"/>
            </a:solidFill>
            <a:prstDash val="solid"/>
          </a:ln>
        </p:spPr>
        <p:txBody>
          <a:bodyPr/>
          <a:p/>
        </p:txBody>
      </p:sp>
      <p:sp>
        <p:nvSpPr>
          <p:cNvPr id="22" name="Shape 20"/>
          <p:cNvSpPr/>
          <p:nvPr/>
        </p:nvSpPr>
        <p:spPr>
          <a:xfrm rot="180000">
            <a:off x="10058400" y="1920240"/>
            <a:ext cx="1554480" cy="2194560"/>
          </a:xfrm>
          <a:prstGeom prst="rect">
            <a:avLst/>
          </a:prstGeom>
          <a:solidFill>
            <a:srgbClr val="FBF8F1"/>
          </a:solidFill>
          <a:ln w="9525">
            <a:solidFill>
              <a:srgbClr val="E4DFD2"/>
            </a:solidFill>
            <a:prstDash val="solid"/>
          </a:ln>
          <a:effectLst>
            <a:outerShdw sx="100000" sy="100000" kx="0" ky="0" algn="bl" rotWithShape="0" blurRad="76200" dist="38100" dir="3600000">
              <a:srgbClr val="000000">
                <a:alpha val="35000"/>
              </a:srgbClr>
            </a:outerShdw>
          </a:effectLst>
        </p:spPr>
        <p:txBody>
          <a:bodyPr/>
          <a:p/>
        </p:txBody>
      </p:sp>
      <p:sp>
        <p:nvSpPr>
          <p:cNvPr id="23" name="Shape 21"/>
          <p:cNvSpPr/>
          <p:nvPr/>
        </p:nvSpPr>
        <p:spPr>
          <a:xfrm rot="180000">
            <a:off x="10241280" y="2194560"/>
            <a:ext cx="274320" cy="274320"/>
          </a:xfrm>
          <a:prstGeom prst="ellipse">
            <a:avLst/>
          </a:prstGeom>
          <a:solidFill>
            <a:srgbClr val="27D3BE"/>
          </a:solidFill>
          <a:ln w="12700">
            <a:solidFill>
              <a:srgbClr val="27D3BE"/>
            </a:solidFill>
            <a:prstDash val="solid"/>
          </a:ln>
        </p:spPr>
        <p:txBody>
          <a:bodyPr/>
          <a:p/>
        </p:txBody>
      </p:sp>
      <p:sp>
        <p:nvSpPr>
          <p:cNvPr id="24" name="Shape 22"/>
          <p:cNvSpPr/>
          <p:nvPr/>
        </p:nvSpPr>
        <p:spPr>
          <a:xfrm rot="180000">
            <a:off x="10652760" y="2304288"/>
            <a:ext cx="731520" cy="45720"/>
          </a:xfrm>
          <a:prstGeom prst="rect">
            <a:avLst/>
          </a:prstGeom>
          <a:solidFill>
            <a:srgbClr val="C9C6BE"/>
          </a:solidFill>
          <a:ln w="12700">
            <a:solidFill>
              <a:srgbClr val="C9C6BE"/>
            </a:solidFill>
            <a:prstDash val="solid"/>
          </a:ln>
        </p:spPr>
        <p:txBody>
          <a:bodyPr/>
          <a:p/>
        </p:txBody>
      </p:sp>
      <p:sp>
        <p:nvSpPr>
          <p:cNvPr id="25" name="Shape 23"/>
          <p:cNvSpPr/>
          <p:nvPr/>
        </p:nvSpPr>
        <p:spPr>
          <a:xfrm rot="180000">
            <a:off x="10241280" y="2697480"/>
            <a:ext cx="274320" cy="274320"/>
          </a:xfrm>
          <a:prstGeom prst="ellipse">
            <a:avLst/>
          </a:prstGeom>
          <a:solidFill>
            <a:srgbClr val="27D3BE"/>
          </a:solidFill>
          <a:ln w="12700">
            <a:solidFill>
              <a:srgbClr val="27D3BE"/>
            </a:solidFill>
            <a:prstDash val="solid"/>
          </a:ln>
        </p:spPr>
        <p:txBody>
          <a:bodyPr/>
          <a:p/>
        </p:txBody>
      </p:sp>
      <p:sp>
        <p:nvSpPr>
          <p:cNvPr id="26" name="Shape 24"/>
          <p:cNvSpPr/>
          <p:nvPr/>
        </p:nvSpPr>
        <p:spPr>
          <a:xfrm rot="180000">
            <a:off x="10652760" y="2807208"/>
            <a:ext cx="731520" cy="45720"/>
          </a:xfrm>
          <a:prstGeom prst="rect">
            <a:avLst/>
          </a:prstGeom>
          <a:solidFill>
            <a:srgbClr val="C9C6BE"/>
          </a:solidFill>
          <a:ln w="12700">
            <a:solidFill>
              <a:srgbClr val="C9C6BE"/>
            </a:solidFill>
            <a:prstDash val="solid"/>
          </a:ln>
        </p:spPr>
        <p:txBody>
          <a:bodyPr/>
          <a:p/>
        </p:txBody>
      </p:sp>
      <p:sp>
        <p:nvSpPr>
          <p:cNvPr id="27" name="Shape 25"/>
          <p:cNvSpPr/>
          <p:nvPr/>
        </p:nvSpPr>
        <p:spPr>
          <a:xfrm rot="180000">
            <a:off x="10241280" y="3200400"/>
            <a:ext cx="274320" cy="274320"/>
          </a:xfrm>
          <a:prstGeom prst="ellipse">
            <a:avLst/>
          </a:prstGeom>
          <a:solidFill>
            <a:srgbClr val="27D3BE"/>
          </a:solidFill>
          <a:ln w="12700">
            <a:solidFill>
              <a:srgbClr val="27D3BE"/>
            </a:solidFill>
            <a:prstDash val="solid"/>
          </a:ln>
        </p:spPr>
        <p:txBody>
          <a:bodyPr/>
          <a:p/>
        </p:txBody>
      </p:sp>
      <p:sp>
        <p:nvSpPr>
          <p:cNvPr id="28" name="Shape 26"/>
          <p:cNvSpPr/>
          <p:nvPr/>
        </p:nvSpPr>
        <p:spPr>
          <a:xfrm rot="180000">
            <a:off x="10652760" y="3310128"/>
            <a:ext cx="731520" cy="45720"/>
          </a:xfrm>
          <a:prstGeom prst="rect">
            <a:avLst/>
          </a:prstGeom>
          <a:solidFill>
            <a:srgbClr val="C9C6BE"/>
          </a:solidFill>
          <a:ln w="12700">
            <a:solidFill>
              <a:srgbClr val="C9C6BE"/>
            </a:solidFill>
            <a:prstDash val="solid"/>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DIN BILETELE DE IEȘIRE ALE PRIMULUI CURS</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Ce facem cu răspunsurile voastre</a:t>
            </a:r>
            <a:endParaRPr lang="en-US" sz="3200" dirty="0"/>
          </a:p>
        </p:txBody>
      </p:sp>
      <p:sp>
        <p:nvSpPr>
          <p:cNvPr id="4" name="Shape 2"/>
          <p:cNvSpPr/>
          <p:nvPr/>
        </p:nvSpPr>
        <p:spPr>
          <a:xfrm>
            <a:off x="594360" y="1828800"/>
            <a:ext cx="10972800" cy="1188720"/>
          </a:xfrm>
          <a:prstGeom prst="roundRect">
            <a:avLst>
              <a:gd name="adj" fmla="val 6923"/>
            </a:avLst>
          </a:prstGeom>
          <a:solidFill>
            <a:srgbClr val="ECEAE4"/>
          </a:solidFill>
          <a:ln w="12700">
            <a:solidFill>
              <a:srgbClr val="ECEAE4"/>
            </a:solidFill>
            <a:prstDash val="solid"/>
          </a:ln>
        </p:spPr>
        <p:txBody>
          <a:bodyPr/>
          <a:p/>
        </p:txBody>
      </p:sp>
      <p:sp>
        <p:nvSpPr>
          <p:cNvPr id="5" name="Shape 3"/>
          <p:cNvSpPr/>
          <p:nvPr/>
        </p:nvSpPr>
        <p:spPr>
          <a:xfrm>
            <a:off x="594360" y="1828800"/>
            <a:ext cx="82296" cy="1188720"/>
          </a:xfrm>
          <a:prstGeom prst="rect">
            <a:avLst/>
          </a:prstGeom>
          <a:solidFill>
            <a:srgbClr val="0E7C6B"/>
          </a:solidFill>
          <a:ln w="12700">
            <a:solidFill>
              <a:srgbClr val="0E7C6B"/>
            </a:solidFill>
            <a:prstDash val="solid"/>
          </a:ln>
        </p:spPr>
        <p:txBody>
          <a:bodyPr/>
          <a:p/>
        </p:txBody>
      </p:sp>
      <p:sp>
        <p:nvSpPr>
          <p:cNvPr id="6" name="Shape 4"/>
          <p:cNvSpPr/>
          <p:nvPr/>
        </p:nvSpPr>
        <p:spPr>
          <a:xfrm>
            <a:off x="914400" y="2176272"/>
            <a:ext cx="493776" cy="493776"/>
          </a:xfrm>
          <a:prstGeom prst="ellipse">
            <a:avLst/>
          </a:prstGeom>
          <a:solidFill>
            <a:srgbClr val="0E7C6B"/>
          </a:solidFill>
          <a:ln/>
        </p:spPr>
        <p:txBody>
          <a:bodyPr/>
          <a:p/>
        </p:txBody>
      </p:sp>
      <p:sp>
        <p:nvSpPr>
          <p:cNvPr id="7" name="Text 5"/>
          <p:cNvSpPr/>
          <p:nvPr/>
        </p:nvSpPr>
        <p:spPr>
          <a:xfrm>
            <a:off x="914400" y="217627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a:t>
            </a:r>
            <a:endParaRPr lang="en-US" sz="1700" dirty="0"/>
          </a:p>
        </p:txBody>
      </p:sp>
      <p:sp>
        <p:nvSpPr>
          <p:cNvPr id="8" name="Text 6"/>
          <p:cNvSpPr/>
          <p:nvPr/>
        </p:nvSpPr>
        <p:spPr>
          <a:xfrm>
            <a:off x="1645920" y="1828800"/>
            <a:ext cx="9601200" cy="1188720"/>
          </a:xfrm>
          <a:prstGeom prst="rect">
            <a:avLst/>
          </a:prstGeom>
          <a:noFill/>
          <a:ln/>
        </p:spPr>
        <p:txBody>
          <a:bodyPr wrap="square" lIns="0" tIns="0" rIns="0" bIns="0" rtlCol="0" anchor="ctr"/>
          <a:lstStyle/>
          <a:p>
            <a:pPr indent="0" marL="0">
              <a:buNone/>
            </a:pPr>
            <a:r>
              <a:rPr lang="en-US" sz="2100" dirty="0">
                <a:solidFill>
                  <a:srgbClr val="11121A"/>
                </a:solidFill>
                <a:latin typeface="Palatino Linotype" pitchFamily="34" charset="0"/>
                <a:ea typeface="Palatino Linotype" pitchFamily="34" charset="-122"/>
                <a:cs typeface="Palatino Linotype" pitchFamily="34" charset="-120"/>
              </a:rPr>
              <a:t>Citim toate răspunsurile de la biletul de ieșire al primului curs.</a:t>
            </a:r>
            <a:endParaRPr lang="en-US" sz="2100" dirty="0"/>
          </a:p>
        </p:txBody>
      </p:sp>
      <p:sp>
        <p:nvSpPr>
          <p:cNvPr id="9" name="Shape 7"/>
          <p:cNvSpPr/>
          <p:nvPr/>
        </p:nvSpPr>
        <p:spPr>
          <a:xfrm>
            <a:off x="594360" y="3246120"/>
            <a:ext cx="10972800" cy="1188720"/>
          </a:xfrm>
          <a:prstGeom prst="roundRect">
            <a:avLst>
              <a:gd name="adj" fmla="val 6923"/>
            </a:avLst>
          </a:prstGeom>
          <a:solidFill>
            <a:srgbClr val="ECEAE4"/>
          </a:solidFill>
          <a:ln w="12700">
            <a:solidFill>
              <a:srgbClr val="ECEAE4"/>
            </a:solidFill>
            <a:prstDash val="solid"/>
          </a:ln>
        </p:spPr>
        <p:txBody>
          <a:bodyPr/>
          <a:p/>
        </p:txBody>
      </p:sp>
      <p:sp>
        <p:nvSpPr>
          <p:cNvPr id="10" name="Shape 8"/>
          <p:cNvSpPr/>
          <p:nvPr/>
        </p:nvSpPr>
        <p:spPr>
          <a:xfrm>
            <a:off x="594360" y="3246120"/>
            <a:ext cx="82296" cy="1188720"/>
          </a:xfrm>
          <a:prstGeom prst="rect">
            <a:avLst/>
          </a:prstGeom>
          <a:solidFill>
            <a:srgbClr val="B02532"/>
          </a:solidFill>
          <a:ln w="12700">
            <a:solidFill>
              <a:srgbClr val="B02532"/>
            </a:solidFill>
            <a:prstDash val="solid"/>
          </a:ln>
        </p:spPr>
        <p:txBody>
          <a:bodyPr/>
          <a:p/>
        </p:txBody>
      </p:sp>
      <p:sp>
        <p:nvSpPr>
          <p:cNvPr id="11" name="Shape 9"/>
          <p:cNvSpPr/>
          <p:nvPr/>
        </p:nvSpPr>
        <p:spPr>
          <a:xfrm>
            <a:off x="914400" y="3593592"/>
            <a:ext cx="493776" cy="493776"/>
          </a:xfrm>
          <a:prstGeom prst="ellipse">
            <a:avLst/>
          </a:prstGeom>
          <a:solidFill>
            <a:srgbClr val="B02532"/>
          </a:solidFill>
          <a:ln/>
        </p:spPr>
        <p:txBody>
          <a:bodyPr/>
          <a:p/>
        </p:txBody>
      </p:sp>
      <p:sp>
        <p:nvSpPr>
          <p:cNvPr id="12" name="Text 10"/>
          <p:cNvSpPr/>
          <p:nvPr/>
        </p:nvSpPr>
        <p:spPr>
          <a:xfrm>
            <a:off x="914400" y="359359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2</a:t>
            </a:r>
            <a:endParaRPr lang="en-US" sz="1700" dirty="0"/>
          </a:p>
        </p:txBody>
      </p:sp>
      <p:sp>
        <p:nvSpPr>
          <p:cNvPr id="13" name="Text 11"/>
          <p:cNvSpPr/>
          <p:nvPr/>
        </p:nvSpPr>
        <p:spPr>
          <a:xfrm>
            <a:off x="1645920" y="3246120"/>
            <a:ext cx="9601200" cy="1188720"/>
          </a:xfrm>
          <a:prstGeom prst="rect">
            <a:avLst/>
          </a:prstGeom>
          <a:noFill/>
          <a:ln/>
        </p:spPr>
        <p:txBody>
          <a:bodyPr wrap="square" lIns="0" tIns="0" rIns="0" bIns="0" rtlCol="0" anchor="ctr"/>
          <a:lstStyle/>
          <a:p>
            <a:pPr indent="0" marL="0">
              <a:buNone/>
            </a:pPr>
            <a:r>
              <a:rPr lang="en-US" sz="2100" dirty="0">
                <a:solidFill>
                  <a:srgbClr val="11121A"/>
                </a:solidFill>
                <a:latin typeface="Palatino Linotype" pitchFamily="34" charset="0"/>
                <a:ea typeface="Palatino Linotype" pitchFamily="34" charset="-122"/>
                <a:cs typeface="Palatino Linotype" pitchFamily="34" charset="-120"/>
              </a:rPr>
              <a:t>Alegem două modificări, le anunțăm pe pagina disciplinei și le aplicăm la cursurile următoare.</a:t>
            </a:r>
            <a:endParaRPr lang="en-US" sz="2100" dirty="0"/>
          </a:p>
        </p:txBody>
      </p:sp>
      <p:sp>
        <p:nvSpPr>
          <p:cNvPr id="14" name="Shape 12"/>
          <p:cNvSpPr/>
          <p:nvPr/>
        </p:nvSpPr>
        <p:spPr>
          <a:xfrm>
            <a:off x="594360" y="4846320"/>
            <a:ext cx="10972800" cy="1005840"/>
          </a:xfrm>
          <a:prstGeom prst="roundRect">
            <a:avLst>
              <a:gd name="adj" fmla="val 8182"/>
            </a:avLst>
          </a:prstGeom>
          <a:solidFill>
            <a:srgbClr val="11121A"/>
          </a:solidFill>
          <a:ln w="12700">
            <a:solidFill>
              <a:srgbClr val="11121A"/>
            </a:solidFill>
            <a:prstDash val="solid"/>
          </a:ln>
        </p:spPr>
        <p:txBody>
          <a:bodyPr/>
          <a:p/>
        </p:txBody>
      </p:sp>
      <p:sp>
        <p:nvSpPr>
          <p:cNvPr id="15" name="Text 13"/>
          <p:cNvSpPr/>
          <p:nvPr/>
        </p:nvSpPr>
        <p:spPr>
          <a:xfrm>
            <a:off x="868680" y="4846320"/>
            <a:ext cx="10424160" cy="100584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Azi: același sfat, alt rezultat. Jumătate din timp lucrați voi.</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DOMNUL MIHAI, PRIMA DATĂ</a:t>
            </a:r>
            <a:endParaRPr lang="en-US" sz="1300" dirty="0"/>
          </a:p>
        </p:txBody>
      </p:sp>
      <p:sp>
        <p:nvSpPr>
          <p:cNvPr id="3" name="Shape 1"/>
          <p:cNvSpPr/>
          <p:nvPr/>
        </p:nvSpPr>
        <p:spPr>
          <a:xfrm rot="-120000">
            <a:off x="1463040" y="1536192"/>
            <a:ext cx="3840480" cy="4663440"/>
          </a:xfrm>
          <a:prstGeom prst="rect">
            <a:avLst/>
          </a:prstGeom>
          <a:solidFill>
            <a:srgbClr val="E4DFD2"/>
          </a:solidFill>
          <a:ln w="9525">
            <a:solidFill>
              <a:srgbClr val="C9C6BE"/>
            </a:solidFill>
            <a:prstDash val="solid"/>
          </a:ln>
        </p:spPr>
        <p:txBody>
          <a:bodyPr/>
          <a:p/>
        </p:txBody>
      </p:sp>
      <p:sp>
        <p:nvSpPr>
          <p:cNvPr id="4" name="Shape 2"/>
          <p:cNvSpPr/>
          <p:nvPr/>
        </p:nvSpPr>
        <p:spPr>
          <a:xfrm rot="-120000">
            <a:off x="1325880" y="1426464"/>
            <a:ext cx="3840480" cy="4663440"/>
          </a:xfrm>
          <a:prstGeom prst="rect">
            <a:avLst/>
          </a:prstGeom>
          <a:solidFill>
            <a:srgbClr val="E4DFD2"/>
          </a:solidFill>
          <a:ln w="9525">
            <a:solidFill>
              <a:srgbClr val="C9C6BE"/>
            </a:solidFill>
            <a:prstDash val="solid"/>
          </a:ln>
        </p:spPr>
        <p:txBody>
          <a:bodyPr/>
          <a:p/>
        </p:txBody>
      </p:sp>
      <p:sp>
        <p:nvSpPr>
          <p:cNvPr id="5" name="Shape 3"/>
          <p:cNvSpPr/>
          <p:nvPr/>
        </p:nvSpPr>
        <p:spPr>
          <a:xfrm rot="-120000">
            <a:off x="1188720" y="1316736"/>
            <a:ext cx="3840480" cy="4663440"/>
          </a:xfrm>
          <a:prstGeom prst="rect">
            <a:avLst/>
          </a:prstGeom>
          <a:solidFill>
            <a:srgbClr val="E4DFD2"/>
          </a:solidFill>
          <a:ln w="9525">
            <a:solidFill>
              <a:srgbClr val="C9C6BE"/>
            </a:solidFill>
            <a:prstDash val="solid"/>
          </a:ln>
        </p:spPr>
        <p:txBody>
          <a:bodyPr/>
          <a:p/>
        </p:txBody>
      </p:sp>
      <p:sp>
        <p:nvSpPr>
          <p:cNvPr id="6" name="Shape 4"/>
          <p:cNvSpPr/>
          <p:nvPr/>
        </p:nvSpPr>
        <p:spPr>
          <a:xfrm rot="-120000">
            <a:off x="1051560" y="1207008"/>
            <a:ext cx="3840480" cy="4663440"/>
          </a:xfrm>
          <a:prstGeom prst="rect">
            <a:avLst/>
          </a:prstGeom>
          <a:solidFill>
            <a:srgbClr val="E4DFD2"/>
          </a:solidFill>
          <a:ln w="9525">
            <a:solidFill>
              <a:srgbClr val="C9C6BE"/>
            </a:solidFill>
            <a:prstDash val="solid"/>
          </a:ln>
        </p:spPr>
        <p:txBody>
          <a:bodyPr/>
          <a:p/>
        </p:txBody>
      </p:sp>
      <p:sp>
        <p:nvSpPr>
          <p:cNvPr id="7" name="Shape 5"/>
          <p:cNvSpPr/>
          <p:nvPr/>
        </p:nvSpPr>
        <p:spPr>
          <a:xfrm rot="-120000">
            <a:off x="914400" y="1097280"/>
            <a:ext cx="3840480" cy="4663440"/>
          </a:xfrm>
          <a:prstGeom prst="rect">
            <a:avLst/>
          </a:prstGeom>
          <a:solidFill>
            <a:srgbClr val="FBF8F1"/>
          </a:solidFill>
          <a:ln w="9525">
            <a:solidFill>
              <a:srgbClr val="C9C6BE"/>
            </a:solidFill>
            <a:prstDash val="solid"/>
          </a:ln>
          <a:effectLst>
            <a:outerShdw sx="100000" sy="100000" kx="0" ky="0" algn="bl" rotWithShape="0" blurRad="127000" dist="63500" dir="3600000">
              <a:srgbClr val="000000">
                <a:alpha val="45000"/>
              </a:srgbClr>
            </a:outerShdw>
          </a:effectLst>
        </p:spPr>
        <p:txBody>
          <a:bodyPr/>
          <a:p/>
        </p:txBody>
      </p:sp>
      <p:sp>
        <p:nvSpPr>
          <p:cNvPr id="8" name="Text 6"/>
          <p:cNvSpPr/>
          <p:nvPr/>
        </p:nvSpPr>
        <p:spPr>
          <a:xfrm rot="-120000">
            <a:off x="1280160" y="1508760"/>
            <a:ext cx="3291840" cy="594360"/>
          </a:xfrm>
          <a:prstGeom prst="rect">
            <a:avLst/>
          </a:prstGeom>
          <a:noFill/>
          <a:ln/>
        </p:spPr>
        <p:txBody>
          <a:bodyPr wrap="square" lIns="0" tIns="0" rIns="0" bIns="0" rtlCol="0" anchor="t"/>
          <a:lstStyle/>
          <a:p>
            <a:pPr indent="0" marL="0">
              <a:buNone/>
            </a:pPr>
            <a:r>
              <a:rPr lang="en-US" sz="1150" b="1" spc="100" kern="0" dirty="0">
                <a:solidFill>
                  <a:srgbClr val="B02532"/>
                </a:solidFill>
                <a:latin typeface="Palatino Linotype" pitchFamily="34" charset="0"/>
                <a:ea typeface="Palatino Linotype" pitchFamily="34" charset="-122"/>
                <a:cs typeface="Palatino Linotype" pitchFamily="34" charset="-120"/>
              </a:rPr>
              <a:t>BROȘURĂ · PROBLEMĂ DEGENERATIVĂ DISCALĂ</a:t>
            </a:r>
            <a:endParaRPr lang="en-US" sz="1150" dirty="0"/>
          </a:p>
        </p:txBody>
      </p:sp>
      <p:sp>
        <p:nvSpPr>
          <p:cNvPr id="9" name="Shape 7"/>
          <p:cNvSpPr/>
          <p:nvPr/>
        </p:nvSpPr>
        <p:spPr>
          <a:xfrm rot="-120000">
            <a:off x="1280160" y="2286000"/>
            <a:ext cx="3200400" cy="45720"/>
          </a:xfrm>
          <a:prstGeom prst="rect">
            <a:avLst/>
          </a:prstGeom>
          <a:solidFill>
            <a:srgbClr val="C9C6BE"/>
          </a:solidFill>
          <a:ln w="12700">
            <a:solidFill>
              <a:srgbClr val="C9C6BE"/>
            </a:solidFill>
            <a:prstDash val="solid"/>
          </a:ln>
        </p:spPr>
        <p:txBody>
          <a:bodyPr/>
          <a:p/>
        </p:txBody>
      </p:sp>
      <p:sp>
        <p:nvSpPr>
          <p:cNvPr id="10" name="Shape 8"/>
          <p:cNvSpPr/>
          <p:nvPr/>
        </p:nvSpPr>
        <p:spPr>
          <a:xfrm rot="-120000">
            <a:off x="1280160" y="2532888"/>
            <a:ext cx="3200400" cy="45720"/>
          </a:xfrm>
          <a:prstGeom prst="rect">
            <a:avLst/>
          </a:prstGeom>
          <a:solidFill>
            <a:srgbClr val="C9C6BE"/>
          </a:solidFill>
          <a:ln w="12700">
            <a:solidFill>
              <a:srgbClr val="C9C6BE"/>
            </a:solidFill>
            <a:prstDash val="solid"/>
          </a:ln>
        </p:spPr>
        <p:txBody>
          <a:bodyPr/>
          <a:p/>
        </p:txBody>
      </p:sp>
      <p:sp>
        <p:nvSpPr>
          <p:cNvPr id="11" name="Shape 9"/>
          <p:cNvSpPr/>
          <p:nvPr/>
        </p:nvSpPr>
        <p:spPr>
          <a:xfrm rot="-120000">
            <a:off x="1280160" y="2779776"/>
            <a:ext cx="3200400" cy="45720"/>
          </a:xfrm>
          <a:prstGeom prst="rect">
            <a:avLst/>
          </a:prstGeom>
          <a:solidFill>
            <a:srgbClr val="C9C6BE"/>
          </a:solidFill>
          <a:ln w="12700">
            <a:solidFill>
              <a:srgbClr val="C9C6BE"/>
            </a:solidFill>
            <a:prstDash val="solid"/>
          </a:ln>
        </p:spPr>
        <p:txBody>
          <a:bodyPr/>
          <a:p/>
        </p:txBody>
      </p:sp>
      <p:sp>
        <p:nvSpPr>
          <p:cNvPr id="12" name="Shape 10"/>
          <p:cNvSpPr/>
          <p:nvPr/>
        </p:nvSpPr>
        <p:spPr>
          <a:xfrm rot="-120000">
            <a:off x="1280160" y="3026664"/>
            <a:ext cx="1828800" cy="45720"/>
          </a:xfrm>
          <a:prstGeom prst="rect">
            <a:avLst/>
          </a:prstGeom>
          <a:solidFill>
            <a:srgbClr val="C9C6BE"/>
          </a:solidFill>
          <a:ln w="12700">
            <a:solidFill>
              <a:srgbClr val="C9C6BE"/>
            </a:solidFill>
            <a:prstDash val="solid"/>
          </a:ln>
        </p:spPr>
        <p:txBody>
          <a:bodyPr/>
          <a:p/>
        </p:txBody>
      </p:sp>
      <p:sp>
        <p:nvSpPr>
          <p:cNvPr id="13" name="Shape 11"/>
          <p:cNvSpPr/>
          <p:nvPr/>
        </p:nvSpPr>
        <p:spPr>
          <a:xfrm rot="-120000">
            <a:off x="1280160" y="3273552"/>
            <a:ext cx="3200400" cy="45720"/>
          </a:xfrm>
          <a:prstGeom prst="rect">
            <a:avLst/>
          </a:prstGeom>
          <a:solidFill>
            <a:srgbClr val="C9C6BE"/>
          </a:solidFill>
          <a:ln w="12700">
            <a:solidFill>
              <a:srgbClr val="C9C6BE"/>
            </a:solidFill>
            <a:prstDash val="solid"/>
          </a:ln>
        </p:spPr>
        <p:txBody>
          <a:bodyPr/>
          <a:p/>
        </p:txBody>
      </p:sp>
      <p:sp>
        <p:nvSpPr>
          <p:cNvPr id="14" name="Shape 12"/>
          <p:cNvSpPr/>
          <p:nvPr/>
        </p:nvSpPr>
        <p:spPr>
          <a:xfrm rot="-120000">
            <a:off x="1280160" y="3520440"/>
            <a:ext cx="3200400" cy="45720"/>
          </a:xfrm>
          <a:prstGeom prst="rect">
            <a:avLst/>
          </a:prstGeom>
          <a:solidFill>
            <a:srgbClr val="C9C6BE"/>
          </a:solidFill>
          <a:ln w="12700">
            <a:solidFill>
              <a:srgbClr val="C9C6BE"/>
            </a:solidFill>
            <a:prstDash val="solid"/>
          </a:ln>
        </p:spPr>
        <p:txBody>
          <a:bodyPr/>
          <a:p/>
        </p:txBody>
      </p:sp>
      <p:sp>
        <p:nvSpPr>
          <p:cNvPr id="15" name="Shape 13"/>
          <p:cNvSpPr/>
          <p:nvPr/>
        </p:nvSpPr>
        <p:spPr>
          <a:xfrm rot="-120000">
            <a:off x="1280160" y="3767328"/>
            <a:ext cx="3200400" cy="45720"/>
          </a:xfrm>
          <a:prstGeom prst="rect">
            <a:avLst/>
          </a:prstGeom>
          <a:solidFill>
            <a:srgbClr val="C9C6BE"/>
          </a:solidFill>
          <a:ln w="12700">
            <a:solidFill>
              <a:srgbClr val="C9C6BE"/>
            </a:solidFill>
            <a:prstDash val="solid"/>
          </a:ln>
        </p:spPr>
        <p:txBody>
          <a:bodyPr/>
          <a:p/>
        </p:txBody>
      </p:sp>
      <p:sp>
        <p:nvSpPr>
          <p:cNvPr id="16" name="Shape 14"/>
          <p:cNvSpPr/>
          <p:nvPr/>
        </p:nvSpPr>
        <p:spPr>
          <a:xfrm rot="-120000">
            <a:off x="1280160" y="4014216"/>
            <a:ext cx="1828800" cy="45720"/>
          </a:xfrm>
          <a:prstGeom prst="rect">
            <a:avLst/>
          </a:prstGeom>
          <a:solidFill>
            <a:srgbClr val="C9C6BE"/>
          </a:solidFill>
          <a:ln w="12700">
            <a:solidFill>
              <a:srgbClr val="C9C6BE"/>
            </a:solidFill>
            <a:prstDash val="solid"/>
          </a:ln>
        </p:spPr>
        <p:txBody>
          <a:bodyPr/>
          <a:p/>
        </p:txBody>
      </p:sp>
      <p:sp>
        <p:nvSpPr>
          <p:cNvPr id="17" name="Shape 15"/>
          <p:cNvSpPr/>
          <p:nvPr/>
        </p:nvSpPr>
        <p:spPr>
          <a:xfrm rot="-120000">
            <a:off x="1280160" y="4261104"/>
            <a:ext cx="3200400" cy="45720"/>
          </a:xfrm>
          <a:prstGeom prst="rect">
            <a:avLst/>
          </a:prstGeom>
          <a:solidFill>
            <a:srgbClr val="C9C6BE"/>
          </a:solidFill>
          <a:ln w="12700">
            <a:solidFill>
              <a:srgbClr val="C9C6BE"/>
            </a:solidFill>
            <a:prstDash val="solid"/>
          </a:ln>
        </p:spPr>
        <p:txBody>
          <a:bodyPr/>
          <a:p/>
        </p:txBody>
      </p:sp>
      <p:sp>
        <p:nvSpPr>
          <p:cNvPr id="18" name="Shape 16"/>
          <p:cNvSpPr/>
          <p:nvPr/>
        </p:nvSpPr>
        <p:spPr>
          <a:xfrm rot="-120000">
            <a:off x="1280160" y="4507992"/>
            <a:ext cx="3200400" cy="45720"/>
          </a:xfrm>
          <a:prstGeom prst="rect">
            <a:avLst/>
          </a:prstGeom>
          <a:solidFill>
            <a:srgbClr val="C9C6BE"/>
          </a:solidFill>
          <a:ln w="12700">
            <a:solidFill>
              <a:srgbClr val="C9C6BE"/>
            </a:solidFill>
            <a:prstDash val="solid"/>
          </a:ln>
        </p:spPr>
        <p:txBody>
          <a:bodyPr/>
          <a:p/>
        </p:txBody>
      </p:sp>
      <p:sp>
        <p:nvSpPr>
          <p:cNvPr id="19" name="Shape 17"/>
          <p:cNvSpPr/>
          <p:nvPr/>
        </p:nvSpPr>
        <p:spPr>
          <a:xfrm rot="-120000">
            <a:off x="1280160" y="4754880"/>
            <a:ext cx="3200400" cy="45720"/>
          </a:xfrm>
          <a:prstGeom prst="rect">
            <a:avLst/>
          </a:prstGeom>
          <a:solidFill>
            <a:srgbClr val="C9C6BE"/>
          </a:solidFill>
          <a:ln w="12700">
            <a:solidFill>
              <a:srgbClr val="C9C6BE"/>
            </a:solidFill>
            <a:prstDash val="solid"/>
          </a:ln>
        </p:spPr>
        <p:txBody>
          <a:bodyPr/>
          <a:p/>
        </p:txBody>
      </p:sp>
      <p:sp>
        <p:nvSpPr>
          <p:cNvPr id="20" name="Shape 18"/>
          <p:cNvSpPr/>
          <p:nvPr/>
        </p:nvSpPr>
        <p:spPr>
          <a:xfrm rot="-120000">
            <a:off x="1280160" y="5001768"/>
            <a:ext cx="1828800" cy="45720"/>
          </a:xfrm>
          <a:prstGeom prst="rect">
            <a:avLst/>
          </a:prstGeom>
          <a:solidFill>
            <a:srgbClr val="C9C6BE"/>
          </a:solidFill>
          <a:ln w="12700">
            <a:solidFill>
              <a:srgbClr val="C9C6BE"/>
            </a:solidFill>
            <a:prstDash val="solid"/>
          </a:ln>
        </p:spPr>
        <p:txBody>
          <a:bodyPr/>
          <a:p/>
        </p:txBody>
      </p:sp>
      <p:sp>
        <p:nvSpPr>
          <p:cNvPr id="21" name="Shape 19"/>
          <p:cNvSpPr/>
          <p:nvPr/>
        </p:nvSpPr>
        <p:spPr>
          <a:xfrm rot="-120000">
            <a:off x="1280160" y="5248656"/>
            <a:ext cx="3200400" cy="45720"/>
          </a:xfrm>
          <a:prstGeom prst="rect">
            <a:avLst/>
          </a:prstGeom>
          <a:solidFill>
            <a:srgbClr val="C9C6BE"/>
          </a:solidFill>
          <a:ln w="12700">
            <a:solidFill>
              <a:srgbClr val="C9C6BE"/>
            </a:solidFill>
            <a:prstDash val="solid"/>
          </a:ln>
        </p:spPr>
        <p:txBody>
          <a:bodyPr/>
          <a:p/>
        </p:txBody>
      </p:sp>
      <p:sp>
        <p:nvSpPr>
          <p:cNvPr id="22" name="Text 20"/>
          <p:cNvSpPr/>
          <p:nvPr/>
        </p:nvSpPr>
        <p:spPr>
          <a:xfrm>
            <a:off x="5669280" y="914400"/>
            <a:ext cx="5943600" cy="82296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Broșura de opt pagini</a:t>
            </a:r>
            <a:endParaRPr lang="en-US" sz="3200" dirty="0"/>
          </a:p>
        </p:txBody>
      </p:sp>
      <p:sp>
        <p:nvSpPr>
          <p:cNvPr id="23" name="Text 21"/>
          <p:cNvSpPr/>
          <p:nvPr/>
        </p:nvSpPr>
        <p:spPr>
          <a:xfrm>
            <a:off x="5669280" y="1874520"/>
            <a:ext cx="5852160" cy="100584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Domnul Mihai, patruzeci și cinci de ani, șofer de autobuz, are dureri de spate de câteva luni.</a:t>
            </a:r>
            <a:endParaRPr lang="en-US" sz="1900" dirty="0"/>
          </a:p>
        </p:txBody>
      </p:sp>
      <p:sp>
        <p:nvSpPr>
          <p:cNvPr id="24" name="Text 22"/>
          <p:cNvSpPr/>
          <p:nvPr/>
        </p:nvSpPr>
        <p:spPr>
          <a:xfrm>
            <a:off x="5669280" y="3017520"/>
            <a:ext cx="5852160" cy="137160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La control i se spune repede că are „o problemă degenerativă discală” și că ar trebui „să facă exerciții și să se miște mai mult”.</a:t>
            </a:r>
            <a:endParaRPr lang="en-US" sz="1900" dirty="0"/>
          </a:p>
        </p:txBody>
      </p:sp>
      <p:sp>
        <p:nvSpPr>
          <p:cNvPr id="25" name="Text 23"/>
          <p:cNvSpPr/>
          <p:nvPr/>
        </p:nvSpPr>
        <p:spPr>
          <a:xfrm>
            <a:off x="5669280" y="4526280"/>
            <a:ext cx="5852160" cy="128016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Acasă citește două pagini, nu înțelege „degenerativă”, se sperie și hotărăște să nu se miște deloc.</a:t>
            </a:r>
            <a:endParaRPr lang="en-US" sz="1900" dirty="0"/>
          </a:p>
        </p:txBody>
      </p:sp>
      <p:sp>
        <p:nvSpPr>
          <p:cNvPr id="26" name="Text 24"/>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Caz didactic; persoana este fictivă.</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DOMNUL MIHAI, A DOUA OARĂ</a:t>
            </a:r>
            <a:endParaRPr lang="en-US" sz="1300" dirty="0"/>
          </a:p>
        </p:txBody>
      </p:sp>
      <p:sp>
        <p:nvSpPr>
          <p:cNvPr id="3" name="Shape 1"/>
          <p:cNvSpPr/>
          <p:nvPr/>
        </p:nvSpPr>
        <p:spPr>
          <a:xfrm rot="-120000">
            <a:off x="822960" y="914400"/>
            <a:ext cx="4754880" cy="4114800"/>
          </a:xfrm>
          <a:prstGeom prst="rect">
            <a:avLst/>
          </a:prstGeom>
          <a:solidFill>
            <a:srgbClr val="FBF8F1"/>
          </a:solidFill>
          <a:ln w="9525">
            <a:solidFill>
              <a:srgbClr val="E4DFD2"/>
            </a:solidFill>
            <a:prstDash val="solid"/>
          </a:ln>
          <a:effectLst>
            <a:outerShdw sx="100000" sy="100000" kx="0" ky="0" algn="bl" rotWithShape="0" blurRad="101600" dist="50800" dir="3600000">
              <a:srgbClr val="000000">
                <a:alpha val="35000"/>
              </a:srgbClr>
            </a:outerShdw>
          </a:effectLst>
        </p:spPr>
        <p:txBody>
          <a:bodyPr/>
          <a:p/>
        </p:txBody>
      </p:sp>
      <p:sp>
        <p:nvSpPr>
          <p:cNvPr id="4" name="Text 2"/>
          <p:cNvSpPr/>
          <p:nvPr/>
        </p:nvSpPr>
        <p:spPr>
          <a:xfrm rot="-120000">
            <a:off x="1097280" y="1188720"/>
            <a:ext cx="4206240" cy="320040"/>
          </a:xfrm>
          <a:prstGeom prst="rect">
            <a:avLst/>
          </a:prstGeom>
          <a:noFill/>
          <a:ln/>
        </p:spPr>
        <p:txBody>
          <a:bodyPr wrap="square" lIns="0" tIns="0" rIns="0" bIns="0" rtlCol="0" anchor="t"/>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PLANUL MEU PE DOUĂ SĂPTĂMÂNI</a:t>
            </a:r>
            <a:endParaRPr lang="en-US" sz="1300" dirty="0"/>
          </a:p>
        </p:txBody>
      </p:sp>
      <p:sp>
        <p:nvSpPr>
          <p:cNvPr id="5" name="Shape 3"/>
          <p:cNvSpPr/>
          <p:nvPr/>
        </p:nvSpPr>
        <p:spPr>
          <a:xfrm rot="-120000">
            <a:off x="1097280" y="1600200"/>
            <a:ext cx="4206240" cy="18288"/>
          </a:xfrm>
          <a:prstGeom prst="rect">
            <a:avLst/>
          </a:prstGeom>
          <a:solidFill>
            <a:srgbClr val="11121A"/>
          </a:solidFill>
          <a:ln w="12700">
            <a:solidFill>
              <a:srgbClr val="11121A"/>
            </a:solidFill>
            <a:prstDash val="solid"/>
          </a:ln>
        </p:spPr>
        <p:txBody>
          <a:bodyPr/>
          <a:p/>
        </p:txBody>
      </p:sp>
      <p:sp>
        <p:nvSpPr>
          <p:cNvPr id="6" name="Shape 4"/>
          <p:cNvSpPr/>
          <p:nvPr/>
        </p:nvSpPr>
        <p:spPr>
          <a:xfrm>
            <a:off x="1188720" y="1920240"/>
            <a:ext cx="475488" cy="475488"/>
          </a:xfrm>
          <a:prstGeom prst="ellipse">
            <a:avLst/>
          </a:prstGeom>
          <a:solidFill>
            <a:srgbClr val="0E7C6B"/>
          </a:solidFill>
          <a:ln w="15875">
            <a:solidFill>
              <a:srgbClr val="0E7C6B"/>
            </a:solidFill>
            <a:prstDash val="solid"/>
          </a:ln>
        </p:spPr>
        <p:txBody>
          <a:bodyPr/>
          <a:p/>
        </p:txBody>
      </p:sp>
      <p:sp>
        <p:nvSpPr>
          <p:cNvPr id="7" name="Shape 5"/>
          <p:cNvSpPr/>
          <p:nvPr/>
        </p:nvSpPr>
        <p:spPr>
          <a:xfrm>
            <a:off x="1307592" y="2167128"/>
            <a:ext cx="91440" cy="109728"/>
          </a:xfrm>
          <a:prstGeom prst="line">
            <a:avLst/>
          </a:prstGeom>
          <a:noFill/>
          <a:ln w="31750">
            <a:solidFill>
              <a:srgbClr val="FFFFFF"/>
            </a:solidFill>
            <a:prstDash val="solid"/>
          </a:ln>
        </p:spPr>
        <p:txBody>
          <a:bodyPr/>
          <a:p/>
        </p:txBody>
      </p:sp>
      <p:sp>
        <p:nvSpPr>
          <p:cNvPr id="8" name="Shape 6"/>
          <p:cNvSpPr/>
          <p:nvPr/>
        </p:nvSpPr>
        <p:spPr>
          <a:xfrm flipV="1">
            <a:off x="1399032" y="2057400"/>
            <a:ext cx="155448" cy="219456"/>
          </a:xfrm>
          <a:prstGeom prst="line">
            <a:avLst/>
          </a:prstGeom>
          <a:noFill/>
          <a:ln w="31750">
            <a:solidFill>
              <a:srgbClr val="FFFFFF"/>
            </a:solidFill>
            <a:prstDash val="solid"/>
          </a:ln>
        </p:spPr>
        <p:txBody>
          <a:bodyPr/>
          <a:p/>
        </p:txBody>
      </p:sp>
      <p:sp>
        <p:nvSpPr>
          <p:cNvPr id="9" name="Shape 7"/>
          <p:cNvSpPr/>
          <p:nvPr/>
        </p:nvSpPr>
        <p:spPr>
          <a:xfrm>
            <a:off x="1763486" y="1920240"/>
            <a:ext cx="475488" cy="475488"/>
          </a:xfrm>
          <a:prstGeom prst="ellipse">
            <a:avLst/>
          </a:prstGeom>
          <a:solidFill>
            <a:srgbClr val="0E7C6B"/>
          </a:solidFill>
          <a:ln w="15875">
            <a:solidFill>
              <a:srgbClr val="0E7C6B"/>
            </a:solidFill>
            <a:prstDash val="solid"/>
          </a:ln>
        </p:spPr>
        <p:txBody>
          <a:bodyPr/>
          <a:p/>
        </p:txBody>
      </p:sp>
      <p:sp>
        <p:nvSpPr>
          <p:cNvPr id="10" name="Shape 8"/>
          <p:cNvSpPr/>
          <p:nvPr/>
        </p:nvSpPr>
        <p:spPr>
          <a:xfrm>
            <a:off x="1882358" y="2167128"/>
            <a:ext cx="91440" cy="109728"/>
          </a:xfrm>
          <a:prstGeom prst="line">
            <a:avLst/>
          </a:prstGeom>
          <a:noFill/>
          <a:ln w="31750">
            <a:solidFill>
              <a:srgbClr val="FFFFFF"/>
            </a:solidFill>
            <a:prstDash val="solid"/>
          </a:ln>
        </p:spPr>
        <p:txBody>
          <a:bodyPr/>
          <a:p/>
        </p:txBody>
      </p:sp>
      <p:sp>
        <p:nvSpPr>
          <p:cNvPr id="11" name="Shape 9"/>
          <p:cNvSpPr/>
          <p:nvPr/>
        </p:nvSpPr>
        <p:spPr>
          <a:xfrm flipV="1">
            <a:off x="1973798" y="2057400"/>
            <a:ext cx="155448" cy="219456"/>
          </a:xfrm>
          <a:prstGeom prst="line">
            <a:avLst/>
          </a:prstGeom>
          <a:noFill/>
          <a:ln w="31750">
            <a:solidFill>
              <a:srgbClr val="FFFFFF"/>
            </a:solidFill>
            <a:prstDash val="solid"/>
          </a:ln>
        </p:spPr>
        <p:txBody>
          <a:bodyPr/>
          <a:p/>
        </p:txBody>
      </p:sp>
      <p:sp>
        <p:nvSpPr>
          <p:cNvPr id="12" name="Shape 10"/>
          <p:cNvSpPr/>
          <p:nvPr/>
        </p:nvSpPr>
        <p:spPr>
          <a:xfrm>
            <a:off x="2338251" y="1920240"/>
            <a:ext cx="475488" cy="475488"/>
          </a:xfrm>
          <a:prstGeom prst="ellipse">
            <a:avLst/>
          </a:prstGeom>
          <a:solidFill>
            <a:srgbClr val="0E7C6B"/>
          </a:solidFill>
          <a:ln w="15875">
            <a:solidFill>
              <a:srgbClr val="0E7C6B"/>
            </a:solidFill>
            <a:prstDash val="solid"/>
          </a:ln>
        </p:spPr>
        <p:txBody>
          <a:bodyPr/>
          <a:p/>
        </p:txBody>
      </p:sp>
      <p:sp>
        <p:nvSpPr>
          <p:cNvPr id="13" name="Shape 11"/>
          <p:cNvSpPr/>
          <p:nvPr/>
        </p:nvSpPr>
        <p:spPr>
          <a:xfrm>
            <a:off x="2457123" y="2167128"/>
            <a:ext cx="91440" cy="109728"/>
          </a:xfrm>
          <a:prstGeom prst="line">
            <a:avLst/>
          </a:prstGeom>
          <a:noFill/>
          <a:ln w="31750">
            <a:solidFill>
              <a:srgbClr val="FFFFFF"/>
            </a:solidFill>
            <a:prstDash val="solid"/>
          </a:ln>
        </p:spPr>
        <p:txBody>
          <a:bodyPr/>
          <a:p/>
        </p:txBody>
      </p:sp>
      <p:sp>
        <p:nvSpPr>
          <p:cNvPr id="14" name="Shape 12"/>
          <p:cNvSpPr/>
          <p:nvPr/>
        </p:nvSpPr>
        <p:spPr>
          <a:xfrm flipV="1">
            <a:off x="2548563" y="2057400"/>
            <a:ext cx="155448" cy="219456"/>
          </a:xfrm>
          <a:prstGeom prst="line">
            <a:avLst/>
          </a:prstGeom>
          <a:noFill/>
          <a:ln w="31750">
            <a:solidFill>
              <a:srgbClr val="FFFFFF"/>
            </a:solidFill>
            <a:prstDash val="solid"/>
          </a:ln>
        </p:spPr>
        <p:txBody>
          <a:bodyPr/>
          <a:p/>
        </p:txBody>
      </p:sp>
      <p:sp>
        <p:nvSpPr>
          <p:cNvPr id="15" name="Shape 13"/>
          <p:cNvSpPr/>
          <p:nvPr/>
        </p:nvSpPr>
        <p:spPr>
          <a:xfrm>
            <a:off x="2913017" y="1920240"/>
            <a:ext cx="475488" cy="475488"/>
          </a:xfrm>
          <a:prstGeom prst="ellipse">
            <a:avLst/>
          </a:prstGeom>
          <a:solidFill>
            <a:srgbClr val="0E7C6B"/>
          </a:solidFill>
          <a:ln w="15875">
            <a:solidFill>
              <a:srgbClr val="0E7C6B"/>
            </a:solidFill>
            <a:prstDash val="solid"/>
          </a:ln>
        </p:spPr>
        <p:txBody>
          <a:bodyPr/>
          <a:p/>
        </p:txBody>
      </p:sp>
      <p:sp>
        <p:nvSpPr>
          <p:cNvPr id="16" name="Shape 14"/>
          <p:cNvSpPr/>
          <p:nvPr/>
        </p:nvSpPr>
        <p:spPr>
          <a:xfrm>
            <a:off x="3031889" y="2167128"/>
            <a:ext cx="91440" cy="109728"/>
          </a:xfrm>
          <a:prstGeom prst="line">
            <a:avLst/>
          </a:prstGeom>
          <a:noFill/>
          <a:ln w="31750">
            <a:solidFill>
              <a:srgbClr val="FFFFFF"/>
            </a:solidFill>
            <a:prstDash val="solid"/>
          </a:ln>
        </p:spPr>
        <p:txBody>
          <a:bodyPr/>
          <a:p/>
        </p:txBody>
      </p:sp>
      <p:sp>
        <p:nvSpPr>
          <p:cNvPr id="17" name="Shape 15"/>
          <p:cNvSpPr/>
          <p:nvPr/>
        </p:nvSpPr>
        <p:spPr>
          <a:xfrm flipV="1">
            <a:off x="3123329" y="2057400"/>
            <a:ext cx="155448" cy="219456"/>
          </a:xfrm>
          <a:prstGeom prst="line">
            <a:avLst/>
          </a:prstGeom>
          <a:noFill/>
          <a:ln w="31750">
            <a:solidFill>
              <a:srgbClr val="FFFFFF"/>
            </a:solidFill>
            <a:prstDash val="solid"/>
          </a:ln>
        </p:spPr>
        <p:txBody>
          <a:bodyPr/>
          <a:p/>
        </p:txBody>
      </p:sp>
      <p:sp>
        <p:nvSpPr>
          <p:cNvPr id="18" name="Shape 16"/>
          <p:cNvSpPr/>
          <p:nvPr/>
        </p:nvSpPr>
        <p:spPr>
          <a:xfrm>
            <a:off x="3487783" y="1920240"/>
            <a:ext cx="475488" cy="475488"/>
          </a:xfrm>
          <a:prstGeom prst="ellipse">
            <a:avLst/>
          </a:prstGeom>
          <a:solidFill>
            <a:srgbClr val="0E7C6B"/>
          </a:solidFill>
          <a:ln w="15875">
            <a:solidFill>
              <a:srgbClr val="0E7C6B"/>
            </a:solidFill>
            <a:prstDash val="solid"/>
          </a:ln>
        </p:spPr>
        <p:txBody>
          <a:bodyPr/>
          <a:p/>
        </p:txBody>
      </p:sp>
      <p:sp>
        <p:nvSpPr>
          <p:cNvPr id="19" name="Shape 17"/>
          <p:cNvSpPr/>
          <p:nvPr/>
        </p:nvSpPr>
        <p:spPr>
          <a:xfrm>
            <a:off x="3606655" y="2167128"/>
            <a:ext cx="91440" cy="109728"/>
          </a:xfrm>
          <a:prstGeom prst="line">
            <a:avLst/>
          </a:prstGeom>
          <a:noFill/>
          <a:ln w="31750">
            <a:solidFill>
              <a:srgbClr val="FFFFFF"/>
            </a:solidFill>
            <a:prstDash val="solid"/>
          </a:ln>
        </p:spPr>
        <p:txBody>
          <a:bodyPr/>
          <a:p/>
        </p:txBody>
      </p:sp>
      <p:sp>
        <p:nvSpPr>
          <p:cNvPr id="20" name="Shape 18"/>
          <p:cNvSpPr/>
          <p:nvPr/>
        </p:nvSpPr>
        <p:spPr>
          <a:xfrm flipV="1">
            <a:off x="3698095" y="2057400"/>
            <a:ext cx="155448" cy="219456"/>
          </a:xfrm>
          <a:prstGeom prst="line">
            <a:avLst/>
          </a:prstGeom>
          <a:noFill/>
          <a:ln w="31750">
            <a:solidFill>
              <a:srgbClr val="FFFFFF"/>
            </a:solidFill>
            <a:prstDash val="solid"/>
          </a:ln>
        </p:spPr>
        <p:txBody>
          <a:bodyPr/>
          <a:p/>
        </p:txBody>
      </p:sp>
      <p:sp>
        <p:nvSpPr>
          <p:cNvPr id="21" name="Shape 19"/>
          <p:cNvSpPr/>
          <p:nvPr/>
        </p:nvSpPr>
        <p:spPr>
          <a:xfrm>
            <a:off x="4062549" y="1920240"/>
            <a:ext cx="475488" cy="475488"/>
          </a:xfrm>
          <a:prstGeom prst="ellipse">
            <a:avLst/>
          </a:prstGeom>
          <a:solidFill>
            <a:srgbClr val="0E7C6B"/>
          </a:solidFill>
          <a:ln w="15875">
            <a:solidFill>
              <a:srgbClr val="0E7C6B"/>
            </a:solidFill>
            <a:prstDash val="solid"/>
          </a:ln>
        </p:spPr>
        <p:txBody>
          <a:bodyPr/>
          <a:p/>
        </p:txBody>
      </p:sp>
      <p:sp>
        <p:nvSpPr>
          <p:cNvPr id="22" name="Shape 20"/>
          <p:cNvSpPr/>
          <p:nvPr/>
        </p:nvSpPr>
        <p:spPr>
          <a:xfrm>
            <a:off x="4181421" y="2167128"/>
            <a:ext cx="91440" cy="109728"/>
          </a:xfrm>
          <a:prstGeom prst="line">
            <a:avLst/>
          </a:prstGeom>
          <a:noFill/>
          <a:ln w="31750">
            <a:solidFill>
              <a:srgbClr val="FFFFFF"/>
            </a:solidFill>
            <a:prstDash val="solid"/>
          </a:ln>
        </p:spPr>
        <p:txBody>
          <a:bodyPr/>
          <a:p/>
        </p:txBody>
      </p:sp>
      <p:sp>
        <p:nvSpPr>
          <p:cNvPr id="23" name="Shape 21"/>
          <p:cNvSpPr/>
          <p:nvPr/>
        </p:nvSpPr>
        <p:spPr>
          <a:xfrm flipV="1">
            <a:off x="4272861" y="2057400"/>
            <a:ext cx="155448" cy="219456"/>
          </a:xfrm>
          <a:prstGeom prst="line">
            <a:avLst/>
          </a:prstGeom>
          <a:noFill/>
          <a:ln w="31750">
            <a:solidFill>
              <a:srgbClr val="FFFFFF"/>
            </a:solidFill>
            <a:prstDash val="solid"/>
          </a:ln>
        </p:spPr>
        <p:txBody>
          <a:bodyPr/>
          <a:p/>
        </p:txBody>
      </p:sp>
      <p:sp>
        <p:nvSpPr>
          <p:cNvPr id="24" name="Shape 22"/>
          <p:cNvSpPr/>
          <p:nvPr/>
        </p:nvSpPr>
        <p:spPr>
          <a:xfrm>
            <a:off x="4637314" y="1920240"/>
            <a:ext cx="475488" cy="475488"/>
          </a:xfrm>
          <a:prstGeom prst="ellipse">
            <a:avLst/>
          </a:prstGeom>
          <a:solidFill>
            <a:srgbClr val="0E7C6B"/>
          </a:solidFill>
          <a:ln w="15875">
            <a:solidFill>
              <a:srgbClr val="0E7C6B"/>
            </a:solidFill>
            <a:prstDash val="solid"/>
          </a:ln>
        </p:spPr>
        <p:txBody>
          <a:bodyPr/>
          <a:p/>
        </p:txBody>
      </p:sp>
      <p:sp>
        <p:nvSpPr>
          <p:cNvPr id="25" name="Shape 23"/>
          <p:cNvSpPr/>
          <p:nvPr/>
        </p:nvSpPr>
        <p:spPr>
          <a:xfrm>
            <a:off x="4756186" y="2167128"/>
            <a:ext cx="91440" cy="109728"/>
          </a:xfrm>
          <a:prstGeom prst="line">
            <a:avLst/>
          </a:prstGeom>
          <a:noFill/>
          <a:ln w="31750">
            <a:solidFill>
              <a:srgbClr val="FFFFFF"/>
            </a:solidFill>
            <a:prstDash val="solid"/>
          </a:ln>
        </p:spPr>
        <p:txBody>
          <a:bodyPr/>
          <a:p/>
        </p:txBody>
      </p:sp>
      <p:sp>
        <p:nvSpPr>
          <p:cNvPr id="26" name="Shape 24"/>
          <p:cNvSpPr/>
          <p:nvPr/>
        </p:nvSpPr>
        <p:spPr>
          <a:xfrm flipV="1">
            <a:off x="4847626" y="2057400"/>
            <a:ext cx="155448" cy="219456"/>
          </a:xfrm>
          <a:prstGeom prst="line">
            <a:avLst/>
          </a:prstGeom>
          <a:noFill/>
          <a:ln w="31750">
            <a:solidFill>
              <a:srgbClr val="FFFFFF"/>
            </a:solidFill>
            <a:prstDash val="solid"/>
          </a:ln>
        </p:spPr>
        <p:txBody>
          <a:bodyPr/>
          <a:p/>
        </p:txBody>
      </p:sp>
      <p:sp>
        <p:nvSpPr>
          <p:cNvPr id="27" name="Shape 25"/>
          <p:cNvSpPr/>
          <p:nvPr/>
        </p:nvSpPr>
        <p:spPr>
          <a:xfrm>
            <a:off x="1188720" y="2788920"/>
            <a:ext cx="475488" cy="475488"/>
          </a:xfrm>
          <a:prstGeom prst="ellipse">
            <a:avLst/>
          </a:prstGeom>
          <a:solidFill>
            <a:srgbClr val="0E7C6B"/>
          </a:solidFill>
          <a:ln w="15875">
            <a:solidFill>
              <a:srgbClr val="0E7C6B"/>
            </a:solidFill>
            <a:prstDash val="solid"/>
          </a:ln>
        </p:spPr>
        <p:txBody>
          <a:bodyPr/>
          <a:p/>
        </p:txBody>
      </p:sp>
      <p:sp>
        <p:nvSpPr>
          <p:cNvPr id="28" name="Shape 26"/>
          <p:cNvSpPr/>
          <p:nvPr/>
        </p:nvSpPr>
        <p:spPr>
          <a:xfrm>
            <a:off x="1307592" y="3035808"/>
            <a:ext cx="91440" cy="109728"/>
          </a:xfrm>
          <a:prstGeom prst="line">
            <a:avLst/>
          </a:prstGeom>
          <a:noFill/>
          <a:ln w="31750">
            <a:solidFill>
              <a:srgbClr val="FFFFFF"/>
            </a:solidFill>
            <a:prstDash val="solid"/>
          </a:ln>
        </p:spPr>
        <p:txBody>
          <a:bodyPr/>
          <a:p/>
        </p:txBody>
      </p:sp>
      <p:sp>
        <p:nvSpPr>
          <p:cNvPr id="29" name="Shape 27"/>
          <p:cNvSpPr/>
          <p:nvPr/>
        </p:nvSpPr>
        <p:spPr>
          <a:xfrm flipV="1">
            <a:off x="1399032" y="2926080"/>
            <a:ext cx="155448" cy="219456"/>
          </a:xfrm>
          <a:prstGeom prst="line">
            <a:avLst/>
          </a:prstGeom>
          <a:noFill/>
          <a:ln w="31750">
            <a:solidFill>
              <a:srgbClr val="FFFFFF"/>
            </a:solidFill>
            <a:prstDash val="solid"/>
          </a:ln>
        </p:spPr>
        <p:txBody>
          <a:bodyPr/>
          <a:p/>
        </p:txBody>
      </p:sp>
      <p:sp>
        <p:nvSpPr>
          <p:cNvPr id="30" name="Shape 28"/>
          <p:cNvSpPr/>
          <p:nvPr/>
        </p:nvSpPr>
        <p:spPr>
          <a:xfrm>
            <a:off x="1763486" y="2788920"/>
            <a:ext cx="475488" cy="475488"/>
          </a:xfrm>
          <a:prstGeom prst="ellipse">
            <a:avLst/>
          </a:prstGeom>
          <a:solidFill>
            <a:srgbClr val="0E7C6B"/>
          </a:solidFill>
          <a:ln w="15875">
            <a:solidFill>
              <a:srgbClr val="0E7C6B"/>
            </a:solidFill>
            <a:prstDash val="solid"/>
          </a:ln>
        </p:spPr>
        <p:txBody>
          <a:bodyPr/>
          <a:p/>
        </p:txBody>
      </p:sp>
      <p:sp>
        <p:nvSpPr>
          <p:cNvPr id="31" name="Shape 29"/>
          <p:cNvSpPr/>
          <p:nvPr/>
        </p:nvSpPr>
        <p:spPr>
          <a:xfrm>
            <a:off x="1882358" y="3035808"/>
            <a:ext cx="91440" cy="109728"/>
          </a:xfrm>
          <a:prstGeom prst="line">
            <a:avLst/>
          </a:prstGeom>
          <a:noFill/>
          <a:ln w="31750">
            <a:solidFill>
              <a:srgbClr val="FFFFFF"/>
            </a:solidFill>
            <a:prstDash val="solid"/>
          </a:ln>
        </p:spPr>
        <p:txBody>
          <a:bodyPr/>
          <a:p/>
        </p:txBody>
      </p:sp>
      <p:sp>
        <p:nvSpPr>
          <p:cNvPr id="32" name="Shape 30"/>
          <p:cNvSpPr/>
          <p:nvPr/>
        </p:nvSpPr>
        <p:spPr>
          <a:xfrm flipV="1">
            <a:off x="1973798" y="2926080"/>
            <a:ext cx="155448" cy="219456"/>
          </a:xfrm>
          <a:prstGeom prst="line">
            <a:avLst/>
          </a:prstGeom>
          <a:noFill/>
          <a:ln w="31750">
            <a:solidFill>
              <a:srgbClr val="FFFFFF"/>
            </a:solidFill>
            <a:prstDash val="solid"/>
          </a:ln>
        </p:spPr>
        <p:txBody>
          <a:bodyPr/>
          <a:p/>
        </p:txBody>
      </p:sp>
      <p:sp>
        <p:nvSpPr>
          <p:cNvPr id="33" name="Shape 31"/>
          <p:cNvSpPr/>
          <p:nvPr/>
        </p:nvSpPr>
        <p:spPr>
          <a:xfrm>
            <a:off x="2338251" y="2788920"/>
            <a:ext cx="475488" cy="475488"/>
          </a:xfrm>
          <a:prstGeom prst="ellipse">
            <a:avLst/>
          </a:prstGeom>
          <a:solidFill>
            <a:srgbClr val="0E7C6B"/>
          </a:solidFill>
          <a:ln w="15875">
            <a:solidFill>
              <a:srgbClr val="0E7C6B"/>
            </a:solidFill>
            <a:prstDash val="solid"/>
          </a:ln>
        </p:spPr>
        <p:txBody>
          <a:bodyPr/>
          <a:p/>
        </p:txBody>
      </p:sp>
      <p:sp>
        <p:nvSpPr>
          <p:cNvPr id="34" name="Shape 32"/>
          <p:cNvSpPr/>
          <p:nvPr/>
        </p:nvSpPr>
        <p:spPr>
          <a:xfrm>
            <a:off x="2457123" y="3035808"/>
            <a:ext cx="91440" cy="109728"/>
          </a:xfrm>
          <a:prstGeom prst="line">
            <a:avLst/>
          </a:prstGeom>
          <a:noFill/>
          <a:ln w="31750">
            <a:solidFill>
              <a:srgbClr val="FFFFFF"/>
            </a:solidFill>
            <a:prstDash val="solid"/>
          </a:ln>
        </p:spPr>
        <p:txBody>
          <a:bodyPr/>
          <a:p/>
        </p:txBody>
      </p:sp>
      <p:sp>
        <p:nvSpPr>
          <p:cNvPr id="35" name="Shape 33"/>
          <p:cNvSpPr/>
          <p:nvPr/>
        </p:nvSpPr>
        <p:spPr>
          <a:xfrm flipV="1">
            <a:off x="2548563" y="2926080"/>
            <a:ext cx="155448" cy="219456"/>
          </a:xfrm>
          <a:prstGeom prst="line">
            <a:avLst/>
          </a:prstGeom>
          <a:noFill/>
          <a:ln w="31750">
            <a:solidFill>
              <a:srgbClr val="FFFFFF"/>
            </a:solidFill>
            <a:prstDash val="solid"/>
          </a:ln>
        </p:spPr>
        <p:txBody>
          <a:bodyPr/>
          <a:p/>
        </p:txBody>
      </p:sp>
      <p:sp>
        <p:nvSpPr>
          <p:cNvPr id="36" name="Shape 34"/>
          <p:cNvSpPr/>
          <p:nvPr/>
        </p:nvSpPr>
        <p:spPr>
          <a:xfrm>
            <a:off x="2913017" y="2788920"/>
            <a:ext cx="475488" cy="475488"/>
          </a:xfrm>
          <a:prstGeom prst="ellipse">
            <a:avLst/>
          </a:prstGeom>
          <a:solidFill>
            <a:srgbClr val="0E7C6B"/>
          </a:solidFill>
          <a:ln w="15875">
            <a:solidFill>
              <a:srgbClr val="0E7C6B"/>
            </a:solidFill>
            <a:prstDash val="solid"/>
          </a:ln>
        </p:spPr>
        <p:txBody>
          <a:bodyPr/>
          <a:p/>
        </p:txBody>
      </p:sp>
      <p:sp>
        <p:nvSpPr>
          <p:cNvPr id="37" name="Shape 35"/>
          <p:cNvSpPr/>
          <p:nvPr/>
        </p:nvSpPr>
        <p:spPr>
          <a:xfrm>
            <a:off x="3031889" y="3035808"/>
            <a:ext cx="91440" cy="109728"/>
          </a:xfrm>
          <a:prstGeom prst="line">
            <a:avLst/>
          </a:prstGeom>
          <a:noFill/>
          <a:ln w="31750">
            <a:solidFill>
              <a:srgbClr val="FFFFFF"/>
            </a:solidFill>
            <a:prstDash val="solid"/>
          </a:ln>
        </p:spPr>
        <p:txBody>
          <a:bodyPr/>
          <a:p/>
        </p:txBody>
      </p:sp>
      <p:sp>
        <p:nvSpPr>
          <p:cNvPr id="38" name="Shape 36"/>
          <p:cNvSpPr/>
          <p:nvPr/>
        </p:nvSpPr>
        <p:spPr>
          <a:xfrm flipV="1">
            <a:off x="3123329" y="2926080"/>
            <a:ext cx="155448" cy="219456"/>
          </a:xfrm>
          <a:prstGeom prst="line">
            <a:avLst/>
          </a:prstGeom>
          <a:noFill/>
          <a:ln w="31750">
            <a:solidFill>
              <a:srgbClr val="FFFFFF"/>
            </a:solidFill>
            <a:prstDash val="solid"/>
          </a:ln>
        </p:spPr>
        <p:txBody>
          <a:bodyPr/>
          <a:p/>
        </p:txBody>
      </p:sp>
      <p:sp>
        <p:nvSpPr>
          <p:cNvPr id="39" name="Shape 37"/>
          <p:cNvSpPr/>
          <p:nvPr/>
        </p:nvSpPr>
        <p:spPr>
          <a:xfrm>
            <a:off x="3487783" y="2788920"/>
            <a:ext cx="475488" cy="475488"/>
          </a:xfrm>
          <a:prstGeom prst="ellipse">
            <a:avLst/>
          </a:prstGeom>
          <a:solidFill>
            <a:srgbClr val="FFFFFF"/>
          </a:solidFill>
          <a:ln w="15875">
            <a:solidFill>
              <a:srgbClr val="C9C6BE"/>
            </a:solidFill>
            <a:prstDash val="solid"/>
          </a:ln>
        </p:spPr>
        <p:txBody>
          <a:bodyPr/>
          <a:p/>
        </p:txBody>
      </p:sp>
      <p:sp>
        <p:nvSpPr>
          <p:cNvPr id="40" name="Shape 38"/>
          <p:cNvSpPr/>
          <p:nvPr/>
        </p:nvSpPr>
        <p:spPr>
          <a:xfrm>
            <a:off x="4062549" y="2788920"/>
            <a:ext cx="475488" cy="475488"/>
          </a:xfrm>
          <a:prstGeom prst="ellipse">
            <a:avLst/>
          </a:prstGeom>
          <a:solidFill>
            <a:srgbClr val="FFFFFF"/>
          </a:solidFill>
          <a:ln w="15875">
            <a:solidFill>
              <a:srgbClr val="C9C6BE"/>
            </a:solidFill>
            <a:prstDash val="solid"/>
          </a:ln>
        </p:spPr>
        <p:txBody>
          <a:bodyPr/>
          <a:p/>
        </p:txBody>
      </p:sp>
      <p:sp>
        <p:nvSpPr>
          <p:cNvPr id="41" name="Shape 39"/>
          <p:cNvSpPr/>
          <p:nvPr/>
        </p:nvSpPr>
        <p:spPr>
          <a:xfrm>
            <a:off x="4637314" y="2788920"/>
            <a:ext cx="475488" cy="475488"/>
          </a:xfrm>
          <a:prstGeom prst="ellipse">
            <a:avLst/>
          </a:prstGeom>
          <a:solidFill>
            <a:srgbClr val="FFFFFF"/>
          </a:solidFill>
          <a:ln w="15875">
            <a:solidFill>
              <a:srgbClr val="C9C6BE"/>
            </a:solidFill>
            <a:prstDash val="solid"/>
          </a:ln>
        </p:spPr>
        <p:txBody>
          <a:bodyPr/>
          <a:p/>
        </p:txBody>
      </p:sp>
      <p:sp>
        <p:nvSpPr>
          <p:cNvPr id="42" name="Text 40"/>
          <p:cNvSpPr/>
          <p:nvPr/>
        </p:nvSpPr>
        <p:spPr>
          <a:xfrm rot="-120000">
            <a:off x="1143000" y="3840480"/>
            <a:ext cx="4114800" cy="822960"/>
          </a:xfrm>
          <a:prstGeom prst="rect">
            <a:avLst/>
          </a:prstGeom>
          <a:noFill/>
          <a:ln/>
        </p:spPr>
        <p:txBody>
          <a:bodyPr wrap="square" lIns="0" tIns="0" rIns="0" bIns="0" rtlCol="0" anchor="t"/>
          <a:lstStyle/>
          <a:p>
            <a:pPr indent="0" marL="0">
              <a:buNone/>
            </a:pPr>
            <a:r>
              <a:rPr lang="en-US" sz="1400" i="1" dirty="0">
                <a:solidFill>
                  <a:srgbClr val="11121A"/>
                </a:solidFill>
                <a:latin typeface="Palatino Linotype" pitchFamily="34" charset="0"/>
                <a:ea typeface="Palatino Linotype" pitchFamily="34" charset="-122"/>
                <a:cs typeface="Palatino Linotype" pitchFamily="34" charset="-120"/>
              </a:rPr>
              <a:t>Dacă ajung acasă înainte de șapte, merg la parc.</a:t>
            </a:r>
            <a:endParaRPr lang="en-US" sz="1400" dirty="0"/>
          </a:p>
        </p:txBody>
      </p:sp>
      <p:sp>
        <p:nvSpPr>
          <p:cNvPr id="43" name="Text 41"/>
          <p:cNvSpPr/>
          <p:nvPr/>
        </p:nvSpPr>
        <p:spPr>
          <a:xfrm>
            <a:off x="6126480" y="868680"/>
            <a:ext cx="5486400" cy="82296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Același lucru, spus altfel</a:t>
            </a:r>
            <a:endParaRPr lang="en-US" sz="3000" dirty="0"/>
          </a:p>
        </p:txBody>
      </p:sp>
      <p:sp>
        <p:nvSpPr>
          <p:cNvPr id="44" name="Text 42"/>
          <p:cNvSpPr/>
          <p:nvPr/>
        </p:nvSpPr>
        <p:spPr>
          <a:xfrm>
            <a:off x="6126480" y="1828800"/>
            <a:ext cx="5440680" cy="2926080"/>
          </a:xfrm>
          <a:prstGeom prst="rect">
            <a:avLst/>
          </a:prstGeom>
          <a:noFill/>
          <a:ln/>
        </p:spPr>
        <p:txBody>
          <a:bodyPr wrap="square" lIns="0" tIns="0" rIns="0" bIns="0" rtlCol="0" anchor="t"/>
          <a:lstStyle/>
          <a:p>
            <a:pPr marL="342900" indent="-342900">
              <a:spcAft>
                <a:spcPts val="7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Specialistul îl întreabă întâi ce îl îngrijorează.</a:t>
            </a:r>
            <a:endParaRPr lang="en-US" sz="1700" dirty="0"/>
          </a:p>
          <a:p>
            <a:pPr marL="342900" indent="-342900">
              <a:spcAft>
                <a:spcPts val="7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Îi spune într-o propoziție că mișcarea dozată face parte din tratament.</a:t>
            </a:r>
            <a:endParaRPr lang="en-US" sz="1700" dirty="0"/>
          </a:p>
          <a:p>
            <a:pPr marL="342900" indent="-342900">
              <a:spcAft>
                <a:spcPts val="7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Țintă mică: în două săptămâni, zece minute de mers seara și două exerciții dimineața.</a:t>
            </a:r>
            <a:endParaRPr lang="en-US" sz="1700" dirty="0"/>
          </a:p>
          <a:p>
            <a:pPr marL="342900" indent="-342900">
              <a:spcAft>
                <a:spcPts val="7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Exercițiile se fac împreună; planul e pe o foaie de o pagină.</a:t>
            </a:r>
            <a:endParaRPr lang="en-US" sz="1700" dirty="0"/>
          </a:p>
        </p:txBody>
      </p:sp>
      <p:sp>
        <p:nvSpPr>
          <p:cNvPr id="45" name="Shape 43"/>
          <p:cNvSpPr/>
          <p:nvPr/>
        </p:nvSpPr>
        <p:spPr>
          <a:xfrm>
            <a:off x="6126480" y="4937760"/>
            <a:ext cx="5440680" cy="868680"/>
          </a:xfrm>
          <a:prstGeom prst="roundRect">
            <a:avLst>
              <a:gd name="adj" fmla="val 9474"/>
            </a:avLst>
          </a:prstGeom>
          <a:solidFill>
            <a:srgbClr val="0E7C6B"/>
          </a:solidFill>
          <a:ln w="12700">
            <a:solidFill>
              <a:srgbClr val="0E7C6B"/>
            </a:solidFill>
            <a:prstDash val="solid"/>
          </a:ln>
        </p:spPr>
        <p:txBody>
          <a:bodyPr/>
          <a:p/>
        </p:txBody>
      </p:sp>
      <p:sp>
        <p:nvSpPr>
          <p:cNvPr id="46" name="Text 44"/>
          <p:cNvSpPr/>
          <p:nvPr/>
        </p:nvSpPr>
        <p:spPr>
          <a:xfrm>
            <a:off x="6355080" y="4937760"/>
            <a:ext cx="5029200" cy="86868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După două săptămâni: unsprezece seri din paisprezece.</a:t>
            </a:r>
            <a:endParaRPr lang="en-US" sz="2000" dirty="0"/>
          </a:p>
        </p:txBody>
      </p:sp>
      <p:sp>
        <p:nvSpPr>
          <p:cNvPr id="47" name="Text 45"/>
          <p:cNvSpPr/>
          <p:nvPr/>
        </p:nvSpPr>
        <p:spPr>
          <a:xfrm>
            <a:off x="594360" y="6126480"/>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Caz didactic; persoana este fictivă.</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VOT ANONIM</a:t>
            </a:r>
            <a:endParaRPr lang="en-US" sz="1300" dirty="0"/>
          </a:p>
        </p:txBody>
      </p:sp>
      <p:sp>
        <p:nvSpPr>
          <p:cNvPr id="5" name="Text 3"/>
          <p:cNvSpPr/>
          <p:nvPr/>
        </p:nvSpPr>
        <p:spPr>
          <a:xfrm>
            <a:off x="594360" y="731520"/>
            <a:ext cx="7680960" cy="105156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De ce a urmat domnul Mihai sfatul a doua oară?</a:t>
            </a:r>
            <a:endParaRPr lang="en-US" sz="3100" dirty="0"/>
          </a:p>
        </p:txBody>
      </p:sp>
      <p:sp>
        <p:nvSpPr>
          <p:cNvPr id="6" name="Shape 4"/>
          <p:cNvSpPr/>
          <p:nvPr/>
        </p:nvSpPr>
        <p:spPr>
          <a:xfrm>
            <a:off x="594360" y="1920240"/>
            <a:ext cx="7498080" cy="676656"/>
          </a:xfrm>
          <a:prstGeom prst="roundRect">
            <a:avLst>
              <a:gd name="adj" fmla="val 12162"/>
            </a:avLst>
          </a:prstGeom>
          <a:solidFill>
            <a:srgbClr val="1D1F2B"/>
          </a:solidFill>
          <a:ln w="12700">
            <a:solidFill>
              <a:srgbClr val="1D1F2B"/>
            </a:solidFill>
            <a:prstDash val="solid"/>
          </a:ln>
        </p:spPr>
        <p:txBody>
          <a:bodyPr/>
          <a:p/>
        </p:txBody>
      </p:sp>
      <p:sp>
        <p:nvSpPr>
          <p:cNvPr id="7" name="Shape 5"/>
          <p:cNvSpPr/>
          <p:nvPr/>
        </p:nvSpPr>
        <p:spPr>
          <a:xfrm>
            <a:off x="822960" y="2048256"/>
            <a:ext cx="420624" cy="420624"/>
          </a:xfrm>
          <a:prstGeom prst="ellipse">
            <a:avLst/>
          </a:prstGeom>
          <a:solidFill>
            <a:srgbClr val="FFC24B"/>
          </a:solidFill>
          <a:ln/>
        </p:spPr>
        <p:txBody>
          <a:bodyPr/>
          <a:p/>
        </p:txBody>
      </p:sp>
      <p:sp>
        <p:nvSpPr>
          <p:cNvPr id="8" name="Text 6"/>
          <p:cNvSpPr/>
          <p:nvPr/>
        </p:nvSpPr>
        <p:spPr>
          <a:xfrm>
            <a:off x="822960" y="204825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463040" y="1920240"/>
            <a:ext cx="6492240" cy="676656"/>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Sfatul a fost alt sfat</a:t>
            </a:r>
            <a:endParaRPr lang="en-US" sz="1800" dirty="0"/>
          </a:p>
        </p:txBody>
      </p:sp>
      <p:sp>
        <p:nvSpPr>
          <p:cNvPr id="10" name="Shape 8"/>
          <p:cNvSpPr/>
          <p:nvPr/>
        </p:nvSpPr>
        <p:spPr>
          <a:xfrm>
            <a:off x="594360" y="2706624"/>
            <a:ext cx="7498080" cy="676656"/>
          </a:xfrm>
          <a:prstGeom prst="roundRect">
            <a:avLst>
              <a:gd name="adj" fmla="val 12162"/>
            </a:avLst>
          </a:prstGeom>
          <a:solidFill>
            <a:srgbClr val="1D1F2B"/>
          </a:solidFill>
          <a:ln w="12700">
            <a:solidFill>
              <a:srgbClr val="1D1F2B"/>
            </a:solidFill>
            <a:prstDash val="solid"/>
          </a:ln>
        </p:spPr>
        <p:txBody>
          <a:bodyPr/>
          <a:p/>
        </p:txBody>
      </p:sp>
      <p:sp>
        <p:nvSpPr>
          <p:cNvPr id="11" name="Shape 9"/>
          <p:cNvSpPr/>
          <p:nvPr/>
        </p:nvSpPr>
        <p:spPr>
          <a:xfrm>
            <a:off x="822960" y="2834640"/>
            <a:ext cx="420624" cy="420624"/>
          </a:xfrm>
          <a:prstGeom prst="ellipse">
            <a:avLst/>
          </a:prstGeom>
          <a:solidFill>
            <a:srgbClr val="FFC24B"/>
          </a:solidFill>
          <a:ln/>
        </p:spPr>
        <p:txBody>
          <a:bodyPr/>
          <a:p/>
        </p:txBody>
      </p:sp>
      <p:sp>
        <p:nvSpPr>
          <p:cNvPr id="12" name="Text 10"/>
          <p:cNvSpPr/>
          <p:nvPr/>
        </p:nvSpPr>
        <p:spPr>
          <a:xfrm>
            <a:off x="822960" y="283464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463040" y="2706624"/>
            <a:ext cx="6492240" cy="676656"/>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I s-a explicat în cuvinte obișnuite</a:t>
            </a:r>
            <a:endParaRPr lang="en-US" sz="1800" dirty="0"/>
          </a:p>
        </p:txBody>
      </p:sp>
      <p:sp>
        <p:nvSpPr>
          <p:cNvPr id="14" name="Shape 12"/>
          <p:cNvSpPr/>
          <p:nvPr/>
        </p:nvSpPr>
        <p:spPr>
          <a:xfrm>
            <a:off x="594360" y="3493008"/>
            <a:ext cx="7498080" cy="676656"/>
          </a:xfrm>
          <a:prstGeom prst="roundRect">
            <a:avLst>
              <a:gd name="adj" fmla="val 12162"/>
            </a:avLst>
          </a:prstGeom>
          <a:solidFill>
            <a:srgbClr val="1D1F2B"/>
          </a:solidFill>
          <a:ln w="12700">
            <a:solidFill>
              <a:srgbClr val="1D1F2B"/>
            </a:solidFill>
            <a:prstDash val="solid"/>
          </a:ln>
        </p:spPr>
        <p:txBody>
          <a:bodyPr/>
          <a:p/>
        </p:txBody>
      </p:sp>
      <p:sp>
        <p:nvSpPr>
          <p:cNvPr id="15" name="Shape 13"/>
          <p:cNvSpPr/>
          <p:nvPr/>
        </p:nvSpPr>
        <p:spPr>
          <a:xfrm>
            <a:off x="822960" y="3621024"/>
            <a:ext cx="420624" cy="420624"/>
          </a:xfrm>
          <a:prstGeom prst="ellipse">
            <a:avLst/>
          </a:prstGeom>
          <a:solidFill>
            <a:srgbClr val="FFC24B"/>
          </a:solidFill>
          <a:ln/>
        </p:spPr>
        <p:txBody>
          <a:bodyPr/>
          <a:p/>
        </p:txBody>
      </p:sp>
      <p:sp>
        <p:nvSpPr>
          <p:cNvPr id="16" name="Text 14"/>
          <p:cNvSpPr/>
          <p:nvPr/>
        </p:nvSpPr>
        <p:spPr>
          <a:xfrm>
            <a:off x="822960" y="36210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463040" y="3493008"/>
            <a:ext cx="6492240" cy="676656"/>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 primit o țintă mică, cu termen</a:t>
            </a:r>
            <a:endParaRPr lang="en-US" sz="1800" dirty="0"/>
          </a:p>
        </p:txBody>
      </p:sp>
      <p:sp>
        <p:nvSpPr>
          <p:cNvPr id="18" name="Shape 16"/>
          <p:cNvSpPr/>
          <p:nvPr/>
        </p:nvSpPr>
        <p:spPr>
          <a:xfrm>
            <a:off x="594360" y="4279392"/>
            <a:ext cx="7498080" cy="676656"/>
          </a:xfrm>
          <a:prstGeom prst="roundRect">
            <a:avLst>
              <a:gd name="adj" fmla="val 12162"/>
            </a:avLst>
          </a:prstGeom>
          <a:solidFill>
            <a:srgbClr val="1D1F2B"/>
          </a:solidFill>
          <a:ln w="12700">
            <a:solidFill>
              <a:srgbClr val="1D1F2B"/>
            </a:solidFill>
            <a:prstDash val="solid"/>
          </a:ln>
        </p:spPr>
        <p:txBody>
          <a:bodyPr/>
          <a:p/>
        </p:txBody>
      </p:sp>
      <p:sp>
        <p:nvSpPr>
          <p:cNvPr id="19" name="Shape 17"/>
          <p:cNvSpPr/>
          <p:nvPr/>
        </p:nvSpPr>
        <p:spPr>
          <a:xfrm>
            <a:off x="822960" y="4407408"/>
            <a:ext cx="420624" cy="420624"/>
          </a:xfrm>
          <a:prstGeom prst="ellipse">
            <a:avLst/>
          </a:prstGeom>
          <a:solidFill>
            <a:srgbClr val="FFC24B"/>
          </a:solidFill>
          <a:ln/>
        </p:spPr>
        <p:txBody>
          <a:bodyPr/>
          <a:p/>
        </p:txBody>
      </p:sp>
      <p:sp>
        <p:nvSpPr>
          <p:cNvPr id="20" name="Text 18"/>
          <p:cNvSpPr/>
          <p:nvPr/>
        </p:nvSpPr>
        <p:spPr>
          <a:xfrm>
            <a:off x="82296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463040" y="4279392"/>
            <a:ext cx="6492240" cy="676656"/>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A văzut și a făcut exercițiile pe loc</a:t>
            </a:r>
            <a:endParaRPr lang="en-US" sz="1800" dirty="0"/>
          </a:p>
        </p:txBody>
      </p:sp>
      <p:sp>
        <p:nvSpPr>
          <p:cNvPr id="22" name="Shape 20"/>
          <p:cNvSpPr/>
          <p:nvPr/>
        </p:nvSpPr>
        <p:spPr>
          <a:xfrm>
            <a:off x="594360" y="5065776"/>
            <a:ext cx="7498080" cy="676656"/>
          </a:xfrm>
          <a:prstGeom prst="roundRect">
            <a:avLst>
              <a:gd name="adj" fmla="val 12162"/>
            </a:avLst>
          </a:prstGeom>
          <a:solidFill>
            <a:srgbClr val="1D1F2B"/>
          </a:solidFill>
          <a:ln w="12700">
            <a:solidFill>
              <a:srgbClr val="1D1F2B"/>
            </a:solidFill>
            <a:prstDash val="solid"/>
          </a:ln>
        </p:spPr>
        <p:txBody>
          <a:bodyPr/>
          <a:p/>
        </p:txBody>
      </p:sp>
      <p:sp>
        <p:nvSpPr>
          <p:cNvPr id="23" name="Shape 21"/>
          <p:cNvSpPr/>
          <p:nvPr/>
        </p:nvSpPr>
        <p:spPr>
          <a:xfrm>
            <a:off x="822960" y="5193792"/>
            <a:ext cx="420624" cy="420624"/>
          </a:xfrm>
          <a:prstGeom prst="ellipse">
            <a:avLst/>
          </a:prstGeom>
          <a:solidFill>
            <a:srgbClr val="FFC24B"/>
          </a:solidFill>
          <a:ln/>
        </p:spPr>
        <p:txBody>
          <a:bodyPr/>
          <a:p/>
        </p:txBody>
      </p:sp>
      <p:sp>
        <p:nvSpPr>
          <p:cNvPr id="24" name="Text 22"/>
          <p:cNvSpPr/>
          <p:nvPr/>
        </p:nvSpPr>
        <p:spPr>
          <a:xfrm>
            <a:off x="822960" y="519379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E</a:t>
            </a:r>
            <a:endParaRPr lang="en-US" sz="1400" dirty="0"/>
          </a:p>
        </p:txBody>
      </p:sp>
      <p:sp>
        <p:nvSpPr>
          <p:cNvPr id="25" name="Text 23"/>
          <p:cNvSpPr/>
          <p:nvPr/>
        </p:nvSpPr>
        <p:spPr>
          <a:xfrm>
            <a:off x="1463040" y="5065776"/>
            <a:ext cx="6492240" cy="676656"/>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I s-a verificat înțelegerea</a:t>
            </a:r>
            <a:endParaRPr lang="en-US" sz="1800" dirty="0"/>
          </a:p>
        </p:txBody>
      </p:sp>
      <p:sp>
        <p:nvSpPr>
          <p:cNvPr id="26" name="Shape 24"/>
          <p:cNvSpPr/>
          <p:nvPr/>
        </p:nvSpPr>
        <p:spPr>
          <a:xfrm>
            <a:off x="8549640" y="1920240"/>
            <a:ext cx="3017520" cy="2743200"/>
          </a:xfrm>
          <a:prstGeom prst="roundRect">
            <a:avLst>
              <a:gd name="adj" fmla="val 3000"/>
            </a:avLst>
          </a:prstGeom>
          <a:solidFill>
            <a:srgbClr val="FFFFFF"/>
          </a:solidFill>
          <a:ln w="12700">
            <a:solidFill>
              <a:srgbClr val="FFFFFF"/>
            </a:solidFill>
            <a:prstDash val="solid"/>
          </a:ln>
        </p:spPr>
        <p:txBody>
          <a:bodyPr/>
          <a:p/>
        </p:txBody>
      </p:sp>
      <p:sp>
        <p:nvSpPr>
          <p:cNvPr id="27" name="Shape 25"/>
          <p:cNvSpPr/>
          <p:nvPr/>
        </p:nvSpPr>
        <p:spPr>
          <a:xfrm>
            <a:off x="9765792" y="2194560"/>
            <a:ext cx="585216" cy="960120"/>
          </a:xfrm>
          <a:prstGeom prst="roundRect">
            <a:avLst>
              <a:gd name="adj" fmla="val 15625"/>
            </a:avLst>
          </a:prstGeom>
          <a:solidFill>
            <a:srgbClr val="F6F5F2"/>
          </a:solidFill>
          <a:ln w="19050">
            <a:solidFill>
              <a:srgbClr val="585A64"/>
            </a:solidFill>
            <a:prstDash val="solid"/>
          </a:ln>
        </p:spPr>
        <p:txBody>
          <a:bodyPr/>
          <a:p/>
        </p:txBody>
      </p:sp>
      <p:sp>
        <p:nvSpPr>
          <p:cNvPr id="28" name="Shape 26"/>
          <p:cNvSpPr/>
          <p:nvPr/>
        </p:nvSpPr>
        <p:spPr>
          <a:xfrm>
            <a:off x="9994392" y="2926080"/>
            <a:ext cx="128016" cy="128016"/>
          </a:xfrm>
          <a:prstGeom prst="ellipse">
            <a:avLst/>
          </a:prstGeom>
          <a:solidFill>
            <a:srgbClr val="585A64"/>
          </a:solidFill>
          <a:ln w="12700">
            <a:solidFill>
              <a:srgbClr val="585A64"/>
            </a:solidFill>
            <a:prstDash val="solid"/>
          </a:ln>
        </p:spPr>
        <p:txBody>
          <a:bodyPr/>
          <a:p/>
        </p:txBody>
      </p:sp>
      <p:sp>
        <p:nvSpPr>
          <p:cNvPr id="29" name="Text 27"/>
          <p:cNvSpPr/>
          <p:nvPr/>
        </p:nvSpPr>
        <p:spPr>
          <a:xfrm>
            <a:off x="8778240" y="3337560"/>
            <a:ext cx="2560320" cy="118872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
        <p:nvSpPr>
          <p:cNvPr id="30" name="Text 28"/>
          <p:cNvSpPr/>
          <p:nvPr/>
        </p:nvSpPr>
        <p:spPr>
          <a:xfrm>
            <a:off x="8549640" y="4846320"/>
            <a:ext cx="3017520" cy="1188720"/>
          </a:xfrm>
          <a:prstGeom prst="rect">
            <a:avLst/>
          </a:prstGeom>
          <a:noFill/>
          <a:ln/>
        </p:spPr>
        <p:txBody>
          <a:bodyPr wrap="square" lIns="0" tIns="0" rIns="0" bIns="0" rtlCol="0" anchor="t"/>
          <a:lstStyle/>
          <a:p>
            <a:pPr indent="0" marL="0">
              <a:buNone/>
            </a:pPr>
            <a:r>
              <a:rPr lang="en-US" sz="1500" i="1" dirty="0">
                <a:solidFill>
                  <a:srgbClr val="959BB0"/>
                </a:solidFill>
                <a:latin typeface="Palatino Linotype" pitchFamily="34" charset="0"/>
                <a:ea typeface="Palatino Linotype" pitchFamily="34" charset="-122"/>
                <a:cs typeface="Palatino Linotype" pitchFamily="34" charset="-120"/>
              </a:rPr>
              <a:t>Puteți alege mai multe. Apoi, cu colegul de bancă: care diferență contează cel mai mult?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RĂSPUNS PROVIZORIU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 ce merge un sfat o dată și altă dată nu?</a:t>
            </a:r>
            <a:endParaRPr lang="en-US" sz="3000" dirty="0"/>
          </a:p>
        </p:txBody>
      </p:sp>
      <p:sp>
        <p:nvSpPr>
          <p:cNvPr id="4" name="Text 2"/>
          <p:cNvSpPr/>
          <p:nvPr/>
        </p:nvSpPr>
        <p:spPr>
          <a:xfrm>
            <a:off x="594360" y="1554480"/>
            <a:ext cx="10972800" cy="45720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Nu există o rețetă pentru oricine. Știm însă ce face diferența mai des:</a:t>
            </a:r>
            <a:endParaRPr lang="en-US" sz="1800" dirty="0"/>
          </a:p>
        </p:txBody>
      </p:sp>
      <p:sp>
        <p:nvSpPr>
          <p:cNvPr id="5" name="Shape 3"/>
          <p:cNvSpPr/>
          <p:nvPr/>
        </p:nvSpPr>
        <p:spPr>
          <a:xfrm>
            <a:off x="594360" y="2194560"/>
            <a:ext cx="5394960" cy="777240"/>
          </a:xfrm>
          <a:prstGeom prst="roundRect">
            <a:avLst>
              <a:gd name="adj" fmla="val 10588"/>
            </a:avLst>
          </a:prstGeom>
          <a:solidFill>
            <a:srgbClr val="ECEAE4"/>
          </a:solidFill>
          <a:ln w="12700">
            <a:solidFill>
              <a:srgbClr val="ECEAE4"/>
            </a:solidFill>
            <a:prstDash val="solid"/>
          </a:ln>
        </p:spPr>
        <p:txBody>
          <a:bodyPr/>
          <a:p/>
        </p:txBody>
      </p:sp>
      <p:sp>
        <p:nvSpPr>
          <p:cNvPr id="6" name="Shape 4"/>
          <p:cNvSpPr/>
          <p:nvPr/>
        </p:nvSpPr>
        <p:spPr>
          <a:xfrm>
            <a:off x="777240" y="2350008"/>
            <a:ext cx="457200" cy="457200"/>
          </a:xfrm>
          <a:prstGeom prst="ellipse">
            <a:avLst/>
          </a:prstGeom>
          <a:solidFill>
            <a:srgbClr val="0E7C6B"/>
          </a:solidFill>
          <a:ln/>
        </p:spPr>
        <p:txBody>
          <a:bodyPr/>
          <a:p/>
        </p:txBody>
      </p:sp>
      <p:sp>
        <p:nvSpPr>
          <p:cNvPr id="7" name="Text 5"/>
          <p:cNvSpPr/>
          <p:nvPr/>
        </p:nvSpPr>
        <p:spPr>
          <a:xfrm>
            <a:off x="777240" y="23500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417320" y="2194560"/>
            <a:ext cx="443484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Un scop clar, în cuvinte obișnuite</a:t>
            </a:r>
            <a:endParaRPr lang="en-US" sz="1700" dirty="0"/>
          </a:p>
        </p:txBody>
      </p:sp>
      <p:sp>
        <p:nvSpPr>
          <p:cNvPr id="9" name="Shape 7"/>
          <p:cNvSpPr/>
          <p:nvPr/>
        </p:nvSpPr>
        <p:spPr>
          <a:xfrm>
            <a:off x="6172200" y="2194560"/>
            <a:ext cx="5394960" cy="777240"/>
          </a:xfrm>
          <a:prstGeom prst="roundRect">
            <a:avLst>
              <a:gd name="adj" fmla="val 10588"/>
            </a:avLst>
          </a:prstGeom>
          <a:solidFill>
            <a:srgbClr val="F9F8F5"/>
          </a:solidFill>
          <a:ln w="12700">
            <a:solidFill>
              <a:srgbClr val="F9F8F5"/>
            </a:solidFill>
            <a:prstDash val="solid"/>
          </a:ln>
        </p:spPr>
        <p:txBody>
          <a:bodyPr/>
          <a:p/>
        </p:txBody>
      </p:sp>
      <p:sp>
        <p:nvSpPr>
          <p:cNvPr id="10" name="Shape 8"/>
          <p:cNvSpPr/>
          <p:nvPr/>
        </p:nvSpPr>
        <p:spPr>
          <a:xfrm>
            <a:off x="6355080" y="2350008"/>
            <a:ext cx="457200" cy="457200"/>
          </a:xfrm>
          <a:prstGeom prst="ellipse">
            <a:avLst/>
          </a:prstGeom>
          <a:solidFill>
            <a:srgbClr val="B02532"/>
          </a:solidFill>
          <a:ln/>
        </p:spPr>
        <p:txBody>
          <a:bodyPr/>
          <a:p/>
        </p:txBody>
      </p:sp>
      <p:sp>
        <p:nvSpPr>
          <p:cNvPr id="11" name="Text 9"/>
          <p:cNvSpPr/>
          <p:nvPr/>
        </p:nvSpPr>
        <p:spPr>
          <a:xfrm>
            <a:off x="6355080" y="23500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6995160" y="2194560"/>
            <a:ext cx="443484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O țintă mică, măsurabilă</a:t>
            </a:r>
            <a:endParaRPr lang="en-US" sz="1700" dirty="0"/>
          </a:p>
        </p:txBody>
      </p:sp>
      <p:sp>
        <p:nvSpPr>
          <p:cNvPr id="13" name="Shape 11"/>
          <p:cNvSpPr/>
          <p:nvPr/>
        </p:nvSpPr>
        <p:spPr>
          <a:xfrm>
            <a:off x="594360" y="3108960"/>
            <a:ext cx="5394960" cy="777240"/>
          </a:xfrm>
          <a:prstGeom prst="roundRect">
            <a:avLst>
              <a:gd name="adj" fmla="val 10588"/>
            </a:avLst>
          </a:prstGeom>
          <a:solidFill>
            <a:srgbClr val="ECEAE4"/>
          </a:solidFill>
          <a:ln w="12700">
            <a:solidFill>
              <a:srgbClr val="ECEAE4"/>
            </a:solidFill>
            <a:prstDash val="solid"/>
          </a:ln>
        </p:spPr>
        <p:txBody>
          <a:bodyPr/>
          <a:p/>
        </p:txBody>
      </p:sp>
      <p:sp>
        <p:nvSpPr>
          <p:cNvPr id="14" name="Shape 12"/>
          <p:cNvSpPr/>
          <p:nvPr/>
        </p:nvSpPr>
        <p:spPr>
          <a:xfrm>
            <a:off x="777240" y="3264408"/>
            <a:ext cx="457200" cy="457200"/>
          </a:xfrm>
          <a:prstGeom prst="ellipse">
            <a:avLst/>
          </a:prstGeom>
          <a:solidFill>
            <a:srgbClr val="0E7C6B"/>
          </a:solidFill>
          <a:ln/>
        </p:spPr>
        <p:txBody>
          <a:bodyPr/>
          <a:p/>
        </p:txBody>
      </p:sp>
      <p:sp>
        <p:nvSpPr>
          <p:cNvPr id="15" name="Text 13"/>
          <p:cNvSpPr/>
          <p:nvPr/>
        </p:nvSpPr>
        <p:spPr>
          <a:xfrm>
            <a:off x="777240" y="32644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6" name="Text 14"/>
          <p:cNvSpPr/>
          <p:nvPr/>
        </p:nvSpPr>
        <p:spPr>
          <a:xfrm>
            <a:off x="1417320" y="3108960"/>
            <a:ext cx="443484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O demonstrație și o exersare pe loc</a:t>
            </a:r>
            <a:endParaRPr lang="en-US" sz="1700" dirty="0"/>
          </a:p>
        </p:txBody>
      </p:sp>
      <p:sp>
        <p:nvSpPr>
          <p:cNvPr id="17" name="Shape 15"/>
          <p:cNvSpPr/>
          <p:nvPr/>
        </p:nvSpPr>
        <p:spPr>
          <a:xfrm>
            <a:off x="6172200" y="3108960"/>
            <a:ext cx="5394960" cy="777240"/>
          </a:xfrm>
          <a:prstGeom prst="roundRect">
            <a:avLst>
              <a:gd name="adj" fmla="val 10588"/>
            </a:avLst>
          </a:prstGeom>
          <a:solidFill>
            <a:srgbClr val="F9F8F5"/>
          </a:solidFill>
          <a:ln w="12700">
            <a:solidFill>
              <a:srgbClr val="F9F8F5"/>
            </a:solidFill>
            <a:prstDash val="solid"/>
          </a:ln>
        </p:spPr>
        <p:txBody>
          <a:bodyPr/>
          <a:p/>
        </p:txBody>
      </p:sp>
      <p:sp>
        <p:nvSpPr>
          <p:cNvPr id="18" name="Shape 16"/>
          <p:cNvSpPr/>
          <p:nvPr/>
        </p:nvSpPr>
        <p:spPr>
          <a:xfrm>
            <a:off x="6355080" y="3264408"/>
            <a:ext cx="457200" cy="457200"/>
          </a:xfrm>
          <a:prstGeom prst="ellipse">
            <a:avLst/>
          </a:prstGeom>
          <a:solidFill>
            <a:srgbClr val="B02532"/>
          </a:solidFill>
          <a:ln/>
        </p:spPr>
        <p:txBody>
          <a:bodyPr/>
          <a:p/>
        </p:txBody>
      </p:sp>
      <p:sp>
        <p:nvSpPr>
          <p:cNvPr id="19" name="Text 17"/>
          <p:cNvSpPr/>
          <p:nvPr/>
        </p:nvSpPr>
        <p:spPr>
          <a:xfrm>
            <a:off x="6355080" y="32644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0" name="Text 18"/>
          <p:cNvSpPr/>
          <p:nvPr/>
        </p:nvSpPr>
        <p:spPr>
          <a:xfrm>
            <a:off x="6995160" y="3108960"/>
            <a:ext cx="443484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O verificare a înțelegerii</a:t>
            </a:r>
            <a:endParaRPr lang="en-US" sz="1700" dirty="0"/>
          </a:p>
        </p:txBody>
      </p:sp>
      <p:sp>
        <p:nvSpPr>
          <p:cNvPr id="21" name="Shape 19"/>
          <p:cNvSpPr/>
          <p:nvPr/>
        </p:nvSpPr>
        <p:spPr>
          <a:xfrm>
            <a:off x="594360" y="4023360"/>
            <a:ext cx="5394960" cy="777240"/>
          </a:xfrm>
          <a:prstGeom prst="roundRect">
            <a:avLst>
              <a:gd name="adj" fmla="val 10588"/>
            </a:avLst>
          </a:prstGeom>
          <a:solidFill>
            <a:srgbClr val="ECEAE4"/>
          </a:solidFill>
          <a:ln w="12700">
            <a:solidFill>
              <a:srgbClr val="ECEAE4"/>
            </a:solidFill>
            <a:prstDash val="solid"/>
          </a:ln>
        </p:spPr>
        <p:txBody>
          <a:bodyPr/>
          <a:p/>
        </p:txBody>
      </p:sp>
      <p:sp>
        <p:nvSpPr>
          <p:cNvPr id="22" name="Shape 20"/>
          <p:cNvSpPr/>
          <p:nvPr/>
        </p:nvSpPr>
        <p:spPr>
          <a:xfrm>
            <a:off x="777240" y="4178808"/>
            <a:ext cx="457200" cy="457200"/>
          </a:xfrm>
          <a:prstGeom prst="ellipse">
            <a:avLst/>
          </a:prstGeom>
          <a:solidFill>
            <a:srgbClr val="0E7C6B"/>
          </a:solidFill>
          <a:ln/>
        </p:spPr>
        <p:txBody>
          <a:bodyPr/>
          <a:p/>
        </p:txBody>
      </p:sp>
      <p:sp>
        <p:nvSpPr>
          <p:cNvPr id="23" name="Text 21"/>
          <p:cNvSpPr/>
          <p:nvPr/>
        </p:nvSpPr>
        <p:spPr>
          <a:xfrm>
            <a:off x="777240" y="41788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24" name="Text 22"/>
          <p:cNvSpPr/>
          <p:nvPr/>
        </p:nvSpPr>
        <p:spPr>
          <a:xfrm>
            <a:off x="1417320" y="4023360"/>
            <a:ext cx="443484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Un plan legat de viața reală a persoanei</a:t>
            </a:r>
            <a:endParaRPr lang="en-US" sz="1700" dirty="0"/>
          </a:p>
        </p:txBody>
      </p:sp>
      <p:sp>
        <p:nvSpPr>
          <p:cNvPr id="25" name="Shape 23"/>
          <p:cNvSpPr/>
          <p:nvPr/>
        </p:nvSpPr>
        <p:spPr>
          <a:xfrm>
            <a:off x="6172200" y="4023360"/>
            <a:ext cx="5394960" cy="777240"/>
          </a:xfrm>
          <a:prstGeom prst="roundRect">
            <a:avLst>
              <a:gd name="adj" fmla="val 10588"/>
            </a:avLst>
          </a:prstGeom>
          <a:solidFill>
            <a:srgbClr val="F9F8F5"/>
          </a:solidFill>
          <a:ln w="12700">
            <a:solidFill>
              <a:srgbClr val="F9F8F5"/>
            </a:solidFill>
            <a:prstDash val="solid"/>
          </a:ln>
        </p:spPr>
        <p:txBody>
          <a:bodyPr/>
          <a:p/>
        </p:txBody>
      </p:sp>
      <p:sp>
        <p:nvSpPr>
          <p:cNvPr id="26" name="Shape 24"/>
          <p:cNvSpPr/>
          <p:nvPr/>
        </p:nvSpPr>
        <p:spPr>
          <a:xfrm>
            <a:off x="6355080" y="4178808"/>
            <a:ext cx="457200" cy="457200"/>
          </a:xfrm>
          <a:prstGeom prst="ellipse">
            <a:avLst/>
          </a:prstGeom>
          <a:solidFill>
            <a:srgbClr val="B02532"/>
          </a:solidFill>
          <a:ln/>
        </p:spPr>
        <p:txBody>
          <a:bodyPr/>
          <a:p/>
        </p:txBody>
      </p:sp>
      <p:sp>
        <p:nvSpPr>
          <p:cNvPr id="27" name="Text 25"/>
          <p:cNvSpPr/>
          <p:nvPr/>
        </p:nvSpPr>
        <p:spPr>
          <a:xfrm>
            <a:off x="6355080" y="41788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6</a:t>
            </a:r>
            <a:endParaRPr lang="en-US" sz="1400" dirty="0"/>
          </a:p>
        </p:txBody>
      </p:sp>
      <p:sp>
        <p:nvSpPr>
          <p:cNvPr id="28" name="Text 26"/>
          <p:cNvSpPr/>
          <p:nvPr/>
        </p:nvSpPr>
        <p:spPr>
          <a:xfrm>
            <a:off x="6995160" y="4023360"/>
            <a:ext cx="4434840" cy="7772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O continuare după ședință</a:t>
            </a:r>
            <a:endParaRPr lang="en-US" sz="1700" dirty="0"/>
          </a:p>
        </p:txBody>
      </p:sp>
      <p:sp>
        <p:nvSpPr>
          <p:cNvPr id="29" name="Shape 27"/>
          <p:cNvSpPr/>
          <p:nvPr/>
        </p:nvSpPr>
        <p:spPr>
          <a:xfrm>
            <a:off x="594360" y="5074920"/>
            <a:ext cx="10972800" cy="868680"/>
          </a:xfrm>
          <a:prstGeom prst="roundRect">
            <a:avLst>
              <a:gd name="adj" fmla="val 9474"/>
            </a:avLst>
          </a:prstGeom>
          <a:solidFill>
            <a:srgbClr val="11121A"/>
          </a:solidFill>
          <a:ln w="12700">
            <a:solidFill>
              <a:srgbClr val="11121A"/>
            </a:solidFill>
            <a:prstDash val="solid"/>
          </a:ln>
        </p:spPr>
        <p:txBody>
          <a:bodyPr/>
          <a:p/>
        </p:txBody>
      </p:sp>
      <p:sp>
        <p:nvSpPr>
          <p:cNvPr id="30" name="Text 28"/>
          <p:cNvSpPr/>
          <p:nvPr/>
        </p:nvSpPr>
        <p:spPr>
          <a:xfrm>
            <a:off x="868680" y="5074920"/>
            <a:ext cx="10424160" cy="868680"/>
          </a:xfrm>
          <a:prstGeom prst="rect">
            <a:avLst/>
          </a:prstGeom>
          <a:noFill/>
          <a:ln/>
        </p:spPr>
        <p:txBody>
          <a:bodyPr wrap="square" lIns="0" tIns="0" rIns="0" bIns="0" rtlCol="0" anchor="ctr"/>
          <a:lstStyle/>
          <a:p>
            <a:pPr indent="0" marL="0">
              <a:buNone/>
            </a:pPr>
            <a:r>
              <a:rPr lang="en-US" sz="1650" b="1" dirty="0">
                <a:solidFill>
                  <a:srgbClr val="FFFFFF"/>
                </a:solidFill>
                <a:latin typeface="Palatino Linotype" pitchFamily="34" charset="0"/>
                <a:ea typeface="Palatino Linotype" pitchFamily="34" charset="-122"/>
                <a:cs typeface="Palatino Linotype" pitchFamily="34" charset="-120"/>
              </a:rPr>
              <a:t>Restul ședinței le dă nume: principiile, scopurile, abordările, direcțiile de orientare și cerințele.</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SALĂ</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ACELAȘI CAZ, ÎN RADIOLOGIE</a:t>
            </a:r>
            <a:endParaRPr lang="en-US" sz="1300" dirty="0"/>
          </a:p>
        </p:txBody>
      </p:sp>
      <p:sp>
        <p:nvSpPr>
          <p:cNvPr id="5" name="Text 3"/>
          <p:cNvSpPr/>
          <p:nvPr/>
        </p:nvSpPr>
        <p:spPr>
          <a:xfrm>
            <a:off x="594360" y="914400"/>
            <a:ext cx="5760720" cy="173736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Un copil de șase ani a căzut de pe bicicletă</a:t>
            </a:r>
            <a:endParaRPr lang="en-US" sz="3200" dirty="0"/>
          </a:p>
        </p:txBody>
      </p:sp>
      <p:sp>
        <p:nvSpPr>
          <p:cNvPr id="6" name="Text 4"/>
          <p:cNvSpPr/>
          <p:nvPr/>
        </p:nvSpPr>
        <p:spPr>
          <a:xfrm>
            <a:off x="594360" y="2743200"/>
            <a:ext cx="5577840" cy="914400"/>
          </a:xfrm>
          <a:prstGeom prst="rect">
            <a:avLst/>
          </a:prstGeom>
          <a:noFill/>
          <a:ln/>
        </p:spPr>
        <p:txBody>
          <a:bodyPr wrap="square" lIns="0" tIns="0" rIns="0" bIns="0" rtlCol="0" anchor="t"/>
          <a:lstStyle/>
          <a:p>
            <a:pPr indent="0" marL="0">
              <a:buNone/>
            </a:pPr>
            <a:r>
              <a:rPr lang="en-US" sz="2200" dirty="0">
                <a:solidFill>
                  <a:srgbClr val="E6E8EF"/>
                </a:solidFill>
                <a:latin typeface="Palatino Linotype" pitchFamily="34" charset="0"/>
                <a:ea typeface="Palatino Linotype" pitchFamily="34" charset="-122"/>
                <a:cs typeface="Palatino Linotype" pitchFamily="34" charset="-120"/>
              </a:rPr>
              <a:t>S-a lovit la cap. Medicul de gardă a cerut un examen prin tomografie computerizată (CT).</a:t>
            </a:r>
            <a:endParaRPr lang="en-US" sz="2200" dirty="0"/>
          </a:p>
        </p:txBody>
      </p:sp>
      <p:sp>
        <p:nvSpPr>
          <p:cNvPr id="7" name="Text 5"/>
          <p:cNvSpPr/>
          <p:nvPr/>
        </p:nvSpPr>
        <p:spPr>
          <a:xfrm>
            <a:off x="594360" y="3749040"/>
            <a:ext cx="5577840" cy="54864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Mama ezită.</a:t>
            </a:r>
            <a:endParaRPr lang="en-US" sz="2200" dirty="0"/>
          </a:p>
        </p:txBody>
      </p:sp>
      <p:sp>
        <p:nvSpPr>
          <p:cNvPr id="8" name="Text 6"/>
          <p:cNvSpPr/>
          <p:nvPr/>
        </p:nvSpPr>
        <p:spPr>
          <a:xfrm>
            <a:off x="6812280" y="1234440"/>
            <a:ext cx="3657600" cy="329184"/>
          </a:xfrm>
          <a:prstGeom prst="rect">
            <a:avLst/>
          </a:prstGeom>
          <a:noFill/>
          <a:ln/>
        </p:spPr>
        <p:txBody>
          <a:bodyPr wrap="square" lIns="0" tIns="0" rIns="0" bIns="0" rtlCol="0" anchor="t"/>
          <a:lstStyle/>
          <a:p>
            <a:pPr indent="0" marL="0">
              <a:buNone/>
            </a:pPr>
            <a:r>
              <a:rPr lang="en-US" sz="1400" b="1" dirty="0">
                <a:solidFill>
                  <a:srgbClr val="27D3BE"/>
                </a:solidFill>
                <a:latin typeface="Palatino Linotype" pitchFamily="34" charset="0"/>
                <a:ea typeface="Palatino Linotype" pitchFamily="34" charset="-122"/>
                <a:cs typeface="Palatino Linotype" pitchFamily="34" charset="-120"/>
              </a:rPr>
              <a:t>Mama</a:t>
            </a:r>
            <a:endParaRPr lang="en-US" sz="1400" dirty="0"/>
          </a:p>
        </p:txBody>
      </p:sp>
      <p:sp>
        <p:nvSpPr>
          <p:cNvPr id="9" name="Shape 7"/>
          <p:cNvSpPr/>
          <p:nvPr/>
        </p:nvSpPr>
        <p:spPr>
          <a:xfrm>
            <a:off x="6583680" y="1600200"/>
            <a:ext cx="4937760" cy="2651760"/>
          </a:xfrm>
          <a:prstGeom prst="roundRect">
            <a:avLst>
              <a:gd name="adj" fmla="val 6207"/>
            </a:avLst>
          </a:prstGeom>
          <a:solidFill>
            <a:srgbClr val="272A38"/>
          </a:solidFill>
          <a:ln w="12700">
            <a:solidFill>
              <a:srgbClr val="272A38"/>
            </a:solidFill>
            <a:prstDash val="solid"/>
          </a:ln>
        </p:spPr>
        <p:txBody>
          <a:bodyPr/>
          <a:p/>
        </p:txBody>
      </p:sp>
      <p:sp>
        <p:nvSpPr>
          <p:cNvPr id="10" name="Shape 8"/>
          <p:cNvSpPr/>
          <p:nvPr/>
        </p:nvSpPr>
        <p:spPr>
          <a:xfrm flipV="1">
            <a:off x="10652760" y="4233672"/>
            <a:ext cx="457200" cy="292608"/>
          </a:xfrm>
          <a:prstGeom prst="triangle">
            <a:avLst/>
          </a:prstGeom>
          <a:solidFill>
            <a:srgbClr val="272A38"/>
          </a:solidFill>
          <a:ln w="12700">
            <a:solidFill>
              <a:srgbClr val="272A38"/>
            </a:solidFill>
            <a:prstDash val="solid"/>
          </a:ln>
        </p:spPr>
        <p:txBody>
          <a:bodyPr/>
          <a:p/>
        </p:txBody>
      </p:sp>
      <p:sp>
        <p:nvSpPr>
          <p:cNvPr id="11" name="Text 9"/>
          <p:cNvSpPr/>
          <p:nvPr/>
        </p:nvSpPr>
        <p:spPr>
          <a:xfrm>
            <a:off x="6903720" y="1600200"/>
            <a:ext cx="4297680" cy="2651760"/>
          </a:xfrm>
          <a:prstGeom prst="rect">
            <a:avLst/>
          </a:prstGeom>
          <a:noFill/>
          <a:ln/>
        </p:spPr>
        <p:txBody>
          <a:bodyPr wrap="square" lIns="0" tIns="0" rIns="0" bIns="0" rtlCol="0" anchor="ctr"/>
          <a:lstStyle/>
          <a:p>
            <a:pPr indent="0" marL="0">
              <a:buNone/>
            </a:pPr>
            <a:r>
              <a:rPr lang="en-US" sz="2600" i="1" dirty="0">
                <a:solidFill>
                  <a:srgbClr val="FFFFFF"/>
                </a:solidFill>
                <a:latin typeface="Palatino Linotype" pitchFamily="34" charset="0"/>
                <a:ea typeface="Palatino Linotype" pitchFamily="34" charset="-122"/>
                <a:cs typeface="Palatino Linotype" pitchFamily="34" charset="-120"/>
              </a:rPr>
              <a:t>„Am citit pe internet că tomografia dă cancer copiilor.”</a:t>
            </a:r>
            <a:endParaRPr lang="en-US" sz="2600" dirty="0"/>
          </a:p>
        </p:txBody>
      </p:sp>
      <p:sp>
        <p:nvSpPr>
          <p:cNvPr id="12" name="Shape 10"/>
          <p:cNvSpPr/>
          <p:nvPr/>
        </p:nvSpPr>
        <p:spPr>
          <a:xfrm>
            <a:off x="594360" y="4892040"/>
            <a:ext cx="10972800" cy="960120"/>
          </a:xfrm>
          <a:prstGeom prst="roundRect">
            <a:avLst>
              <a:gd name="adj" fmla="val 8571"/>
            </a:avLst>
          </a:prstGeom>
          <a:solidFill>
            <a:srgbClr val="11121A"/>
          </a:solidFill>
          <a:ln w="12700">
            <a:solidFill>
              <a:srgbClr val="11121A"/>
            </a:solidFill>
            <a:prstDash val="solid"/>
          </a:ln>
        </p:spPr>
        <p:txBody>
          <a:bodyPr/>
          <a:p/>
        </p:txBody>
      </p:sp>
      <p:sp>
        <p:nvSpPr>
          <p:cNvPr id="13" name="Text 11"/>
          <p:cNvSpPr/>
          <p:nvPr/>
        </p:nvSpPr>
        <p:spPr>
          <a:xfrm>
            <a:off x="868680" y="4892040"/>
            <a:ext cx="10424160" cy="960120"/>
          </a:xfrm>
          <a:prstGeom prst="rect">
            <a:avLst/>
          </a:prstGeom>
          <a:noFill/>
          <a:ln/>
        </p:spPr>
        <p:txBody>
          <a:bodyPr wrap="square" lIns="0" tIns="0" rIns="0" bIns="0" rtlCol="0" anchor="ctr"/>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Ce i-ați spune mamei? Revenim la acest caz când vorbim despre comunicarea riscului.</a:t>
            </a:r>
            <a:endParaRPr lang="en-US" sz="2000" dirty="0"/>
          </a:p>
        </p:txBody>
      </p:sp>
      <p:sp>
        <p:nvSpPr>
          <p:cNvPr id="14" name="Text 12"/>
          <p:cNvSpPr/>
          <p:nvPr/>
        </p:nvSpPr>
        <p:spPr>
          <a:xfrm>
            <a:off x="594360" y="6382512"/>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Caz didactic; persoanele sunt fictive.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SCOPURILE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Cinci scopuri, o singură direcție</a:t>
            </a:r>
            <a:endParaRPr lang="en-US" sz="3000" dirty="0"/>
          </a:p>
        </p:txBody>
      </p:sp>
      <p:sp>
        <p:nvSpPr>
          <p:cNvPr id="4" name="Text 2"/>
          <p:cNvSpPr/>
          <p:nvPr/>
        </p:nvSpPr>
        <p:spPr>
          <a:xfrm>
            <a:off x="594360" y="1463040"/>
            <a:ext cx="10972800" cy="59436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Scopul general: oamenii să poată lua singuri decizii bune pentru sănătatea lor și să le pună în practică.</a:t>
            </a:r>
            <a:endParaRPr lang="en-US" sz="1700" dirty="0"/>
          </a:p>
        </p:txBody>
      </p:sp>
      <p:sp>
        <p:nvSpPr>
          <p:cNvPr id="5" name="Shape 3"/>
          <p:cNvSpPr/>
          <p:nvPr/>
        </p:nvSpPr>
        <p:spPr>
          <a:xfrm>
            <a:off x="594360" y="2194560"/>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6" name="Shape 4"/>
          <p:cNvSpPr/>
          <p:nvPr/>
        </p:nvSpPr>
        <p:spPr>
          <a:xfrm>
            <a:off x="594360" y="2194560"/>
            <a:ext cx="82296" cy="640080"/>
          </a:xfrm>
          <a:prstGeom prst="rect">
            <a:avLst/>
          </a:prstGeom>
          <a:solidFill>
            <a:srgbClr val="0E7C6B"/>
          </a:solidFill>
          <a:ln w="12700">
            <a:solidFill>
              <a:srgbClr val="0E7C6B"/>
            </a:solidFill>
            <a:prstDash val="solid"/>
          </a:ln>
        </p:spPr>
        <p:txBody>
          <a:bodyPr/>
          <a:p/>
        </p:txBody>
      </p:sp>
      <p:sp>
        <p:nvSpPr>
          <p:cNvPr id="7" name="Text 5"/>
          <p:cNvSpPr/>
          <p:nvPr/>
        </p:nvSpPr>
        <p:spPr>
          <a:xfrm>
            <a:off x="868680" y="2194560"/>
            <a:ext cx="3566160" cy="640080"/>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cunoștințe corecte</a:t>
            </a:r>
            <a:endParaRPr lang="en-US" sz="1700" dirty="0"/>
          </a:p>
        </p:txBody>
      </p:sp>
      <p:sp>
        <p:nvSpPr>
          <p:cNvPr id="8" name="Text 6"/>
          <p:cNvSpPr/>
          <p:nvPr/>
        </p:nvSpPr>
        <p:spPr>
          <a:xfrm>
            <a:off x="4480560" y="2194560"/>
            <a:ext cx="694944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persoana știe ce are, ce o ajută și ce nu</a:t>
            </a:r>
            <a:endParaRPr lang="en-US" sz="1600" dirty="0"/>
          </a:p>
        </p:txBody>
      </p:sp>
      <p:sp>
        <p:nvSpPr>
          <p:cNvPr id="9" name="Shape 7"/>
          <p:cNvSpPr/>
          <p:nvPr/>
        </p:nvSpPr>
        <p:spPr>
          <a:xfrm>
            <a:off x="594360" y="2944368"/>
            <a:ext cx="10972800" cy="640080"/>
          </a:xfrm>
          <a:prstGeom prst="roundRect">
            <a:avLst>
              <a:gd name="adj" fmla="val 12857"/>
            </a:avLst>
          </a:prstGeom>
          <a:solidFill>
            <a:srgbClr val="F9F8F5"/>
          </a:solidFill>
          <a:ln w="12700">
            <a:solidFill>
              <a:srgbClr val="F9F8F5"/>
            </a:solidFill>
            <a:prstDash val="solid"/>
          </a:ln>
        </p:spPr>
        <p:txBody>
          <a:bodyPr/>
          <a:p/>
        </p:txBody>
      </p:sp>
      <p:sp>
        <p:nvSpPr>
          <p:cNvPr id="10" name="Shape 8"/>
          <p:cNvSpPr/>
          <p:nvPr/>
        </p:nvSpPr>
        <p:spPr>
          <a:xfrm>
            <a:off x="594360" y="2944368"/>
            <a:ext cx="82296" cy="640080"/>
          </a:xfrm>
          <a:prstGeom prst="rect">
            <a:avLst/>
          </a:prstGeom>
          <a:solidFill>
            <a:srgbClr val="B02532"/>
          </a:solidFill>
          <a:ln w="12700">
            <a:solidFill>
              <a:srgbClr val="B02532"/>
            </a:solidFill>
            <a:prstDash val="solid"/>
          </a:ln>
        </p:spPr>
        <p:txBody>
          <a:bodyPr/>
          <a:p/>
        </p:txBody>
      </p:sp>
      <p:sp>
        <p:nvSpPr>
          <p:cNvPr id="11" name="Text 9"/>
          <p:cNvSpPr/>
          <p:nvPr/>
        </p:nvSpPr>
        <p:spPr>
          <a:xfrm>
            <a:off x="868680" y="2944368"/>
            <a:ext cx="3566160" cy="64008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deprinderi simple</a:t>
            </a:r>
            <a:endParaRPr lang="en-US" sz="1700" dirty="0"/>
          </a:p>
        </p:txBody>
      </p:sp>
      <p:sp>
        <p:nvSpPr>
          <p:cNvPr id="12" name="Text 10"/>
          <p:cNvSpPr/>
          <p:nvPr/>
        </p:nvSpPr>
        <p:spPr>
          <a:xfrm>
            <a:off x="4480560" y="2944368"/>
            <a:ext cx="694944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știe să facă exercițiul și să își măsoare pulsul</a:t>
            </a:r>
            <a:endParaRPr lang="en-US" sz="1600" dirty="0"/>
          </a:p>
        </p:txBody>
      </p:sp>
      <p:sp>
        <p:nvSpPr>
          <p:cNvPr id="13" name="Shape 11"/>
          <p:cNvSpPr/>
          <p:nvPr/>
        </p:nvSpPr>
        <p:spPr>
          <a:xfrm>
            <a:off x="594360" y="3694176"/>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14" name="Shape 12"/>
          <p:cNvSpPr/>
          <p:nvPr/>
        </p:nvSpPr>
        <p:spPr>
          <a:xfrm>
            <a:off x="594360" y="3694176"/>
            <a:ext cx="82296" cy="640080"/>
          </a:xfrm>
          <a:prstGeom prst="rect">
            <a:avLst/>
          </a:prstGeom>
          <a:solidFill>
            <a:srgbClr val="0E7C6B"/>
          </a:solidFill>
          <a:ln w="12700">
            <a:solidFill>
              <a:srgbClr val="0E7C6B"/>
            </a:solidFill>
            <a:prstDash val="solid"/>
          </a:ln>
        </p:spPr>
        <p:txBody>
          <a:bodyPr/>
          <a:p/>
        </p:txBody>
      </p:sp>
      <p:sp>
        <p:nvSpPr>
          <p:cNvPr id="15" name="Text 13"/>
          <p:cNvSpPr/>
          <p:nvPr/>
        </p:nvSpPr>
        <p:spPr>
          <a:xfrm>
            <a:off x="868680" y="3694176"/>
            <a:ext cx="3566160" cy="640080"/>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motivație</a:t>
            </a:r>
            <a:endParaRPr lang="en-US" sz="1700" dirty="0"/>
          </a:p>
        </p:txBody>
      </p:sp>
      <p:sp>
        <p:nvSpPr>
          <p:cNvPr id="16" name="Text 14"/>
          <p:cNvSpPr/>
          <p:nvPr/>
        </p:nvSpPr>
        <p:spPr>
          <a:xfrm>
            <a:off x="4480560" y="3694176"/>
            <a:ext cx="694944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vrea să înceapă și are încredere că poate</a:t>
            </a:r>
            <a:endParaRPr lang="en-US" sz="1600" dirty="0"/>
          </a:p>
        </p:txBody>
      </p:sp>
      <p:sp>
        <p:nvSpPr>
          <p:cNvPr id="17" name="Shape 15"/>
          <p:cNvSpPr/>
          <p:nvPr/>
        </p:nvSpPr>
        <p:spPr>
          <a:xfrm>
            <a:off x="594360" y="4443984"/>
            <a:ext cx="10972800" cy="640080"/>
          </a:xfrm>
          <a:prstGeom prst="roundRect">
            <a:avLst>
              <a:gd name="adj" fmla="val 12857"/>
            </a:avLst>
          </a:prstGeom>
          <a:solidFill>
            <a:srgbClr val="F9F8F5"/>
          </a:solidFill>
          <a:ln w="12700">
            <a:solidFill>
              <a:srgbClr val="F9F8F5"/>
            </a:solidFill>
            <a:prstDash val="solid"/>
          </a:ln>
        </p:spPr>
        <p:txBody>
          <a:bodyPr/>
          <a:p/>
        </p:txBody>
      </p:sp>
      <p:sp>
        <p:nvSpPr>
          <p:cNvPr id="18" name="Shape 16"/>
          <p:cNvSpPr/>
          <p:nvPr/>
        </p:nvSpPr>
        <p:spPr>
          <a:xfrm>
            <a:off x="594360" y="4443984"/>
            <a:ext cx="82296" cy="640080"/>
          </a:xfrm>
          <a:prstGeom prst="rect">
            <a:avLst/>
          </a:prstGeom>
          <a:solidFill>
            <a:srgbClr val="B02532"/>
          </a:solidFill>
          <a:ln w="12700">
            <a:solidFill>
              <a:srgbClr val="B02532"/>
            </a:solidFill>
            <a:prstDash val="solid"/>
          </a:ln>
        </p:spPr>
        <p:txBody>
          <a:bodyPr/>
          <a:p/>
        </p:txBody>
      </p:sp>
      <p:sp>
        <p:nvSpPr>
          <p:cNvPr id="19" name="Text 17"/>
          <p:cNvSpPr/>
          <p:nvPr/>
        </p:nvSpPr>
        <p:spPr>
          <a:xfrm>
            <a:off x="868680" y="4443984"/>
            <a:ext cx="3566160" cy="64008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decizii informate</a:t>
            </a:r>
            <a:endParaRPr lang="en-US" sz="1700" dirty="0"/>
          </a:p>
        </p:txBody>
      </p:sp>
      <p:sp>
        <p:nvSpPr>
          <p:cNvPr id="20" name="Text 18"/>
          <p:cNvSpPr/>
          <p:nvPr/>
        </p:nvSpPr>
        <p:spPr>
          <a:xfrm>
            <a:off x="4480560" y="4443984"/>
            <a:ext cx="694944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alege între variante, cunoscând avantajele și riscurile</a:t>
            </a:r>
            <a:endParaRPr lang="en-US" sz="1600" dirty="0"/>
          </a:p>
        </p:txBody>
      </p:sp>
      <p:sp>
        <p:nvSpPr>
          <p:cNvPr id="21" name="Shape 19"/>
          <p:cNvSpPr/>
          <p:nvPr/>
        </p:nvSpPr>
        <p:spPr>
          <a:xfrm>
            <a:off x="594360" y="5193792"/>
            <a:ext cx="10972800" cy="640080"/>
          </a:xfrm>
          <a:prstGeom prst="roundRect">
            <a:avLst>
              <a:gd name="adj" fmla="val 12857"/>
            </a:avLst>
          </a:prstGeom>
          <a:solidFill>
            <a:srgbClr val="ECEAE4"/>
          </a:solidFill>
          <a:ln w="12700">
            <a:solidFill>
              <a:srgbClr val="ECEAE4"/>
            </a:solidFill>
            <a:prstDash val="solid"/>
          </a:ln>
        </p:spPr>
        <p:txBody>
          <a:bodyPr/>
          <a:p/>
        </p:txBody>
      </p:sp>
      <p:sp>
        <p:nvSpPr>
          <p:cNvPr id="22" name="Shape 20"/>
          <p:cNvSpPr/>
          <p:nvPr/>
        </p:nvSpPr>
        <p:spPr>
          <a:xfrm>
            <a:off x="594360" y="5193792"/>
            <a:ext cx="82296" cy="640080"/>
          </a:xfrm>
          <a:prstGeom prst="rect">
            <a:avLst/>
          </a:prstGeom>
          <a:solidFill>
            <a:srgbClr val="0E7C6B"/>
          </a:solidFill>
          <a:ln w="12700">
            <a:solidFill>
              <a:srgbClr val="0E7C6B"/>
            </a:solidFill>
            <a:prstDash val="solid"/>
          </a:ln>
        </p:spPr>
        <p:txBody>
          <a:bodyPr/>
          <a:p/>
        </p:txBody>
      </p:sp>
      <p:sp>
        <p:nvSpPr>
          <p:cNvPr id="23" name="Text 21"/>
          <p:cNvSpPr/>
          <p:nvPr/>
        </p:nvSpPr>
        <p:spPr>
          <a:xfrm>
            <a:off x="868680" y="5193792"/>
            <a:ext cx="3566160" cy="640080"/>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recunoașterea semnelor de alarmă</a:t>
            </a:r>
            <a:endParaRPr lang="en-US" sz="1700" dirty="0"/>
          </a:p>
        </p:txBody>
      </p:sp>
      <p:sp>
        <p:nvSpPr>
          <p:cNvPr id="24" name="Text 22"/>
          <p:cNvSpPr/>
          <p:nvPr/>
        </p:nvSpPr>
        <p:spPr>
          <a:xfrm>
            <a:off x="4480560" y="5193792"/>
            <a:ext cx="6949440" cy="6400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știe când să se oprească și pe cine să sune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SCOPURILE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În recuperare și în imagistică</a:t>
            </a:r>
            <a:endParaRPr lang="en-US" sz="3000" dirty="0"/>
          </a:p>
        </p:txBody>
      </p:sp>
      <p:sp>
        <p:nvSpPr>
          <p:cNvPr id="4" name="Shape 2"/>
          <p:cNvSpPr/>
          <p:nvPr/>
        </p:nvSpPr>
        <p:spPr>
          <a:xfrm>
            <a:off x="594360" y="1645920"/>
            <a:ext cx="5394960" cy="3429000"/>
          </a:xfrm>
          <a:prstGeom prst="roundRect">
            <a:avLst>
              <a:gd name="adj" fmla="val 2400"/>
            </a:avLst>
          </a:prstGeom>
          <a:solidFill>
            <a:srgbClr val="1D1F2B"/>
          </a:solidFill>
          <a:ln w="12700">
            <a:solidFill>
              <a:srgbClr val="1D1F2B"/>
            </a:solidFill>
            <a:prstDash val="solid"/>
          </a:ln>
        </p:spPr>
        <p:txBody>
          <a:bodyPr/>
          <a:p/>
        </p:txBody>
      </p:sp>
      <p:sp>
        <p:nvSpPr>
          <p:cNvPr id="5" name="Shape 3"/>
          <p:cNvSpPr/>
          <p:nvPr/>
        </p:nvSpPr>
        <p:spPr>
          <a:xfrm>
            <a:off x="594360" y="1645920"/>
            <a:ext cx="5394960" cy="73152"/>
          </a:xfrm>
          <a:prstGeom prst="rect">
            <a:avLst/>
          </a:prstGeom>
          <a:solidFill>
            <a:srgbClr val="27D3BE"/>
          </a:solidFill>
          <a:ln w="12700">
            <a:solidFill>
              <a:srgbClr val="27D3BE"/>
            </a:solidFill>
            <a:prstDash val="solid"/>
          </a:ln>
        </p:spPr>
        <p:txBody>
          <a:bodyPr/>
          <a:p/>
        </p:txBody>
      </p:sp>
      <p:sp>
        <p:nvSpPr>
          <p:cNvPr id="6" name="Text 4"/>
          <p:cNvSpPr/>
          <p:nvPr/>
        </p:nvSpPr>
        <p:spPr>
          <a:xfrm>
            <a:off x="868680" y="1828800"/>
            <a:ext cx="4846320" cy="41148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În recuperare</a:t>
            </a:r>
            <a:endParaRPr lang="en-US" sz="2000" dirty="0"/>
          </a:p>
        </p:txBody>
      </p:sp>
      <p:sp>
        <p:nvSpPr>
          <p:cNvPr id="7" name="Text 5"/>
          <p:cNvSpPr/>
          <p:nvPr/>
        </p:nvSpPr>
        <p:spPr>
          <a:xfrm>
            <a:off x="868680" y="2377440"/>
            <a:ext cx="4892040" cy="260604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rgbClr val="E6E8EF"/>
                </a:solidFill>
                <a:latin typeface="Palatino Linotype" pitchFamily="34" charset="0"/>
                <a:ea typeface="Palatino Linotype" pitchFamily="34" charset="-122"/>
                <a:cs typeface="Palatino Linotype" pitchFamily="34" charset="-120"/>
              </a:rPr>
              <a:t>îngrijirea de sine între ședințe</a:t>
            </a:r>
            <a:endParaRPr lang="en-US" sz="1600" dirty="0"/>
          </a:p>
          <a:p>
            <a:pPr marL="342900" indent="-342900">
              <a:spcAft>
                <a:spcPts val="500"/>
              </a:spcAft>
              <a:buSzPct val="100000"/>
              <a:buChar char="•"/>
            </a:pPr>
            <a:r>
              <a:rPr lang="en-US" sz="1600" dirty="0">
                <a:solidFill>
                  <a:srgbClr val="E6E8EF"/>
                </a:solidFill>
                <a:latin typeface="Palatino Linotype" pitchFamily="34" charset="0"/>
                <a:ea typeface="Palatino Linotype" pitchFamily="34" charset="-122"/>
                <a:cs typeface="Palatino Linotype" pitchFamily="34" charset="-120"/>
              </a:rPr>
              <a:t>exerciții făcute regulat</a:t>
            </a:r>
            <a:endParaRPr lang="en-US" sz="1600" dirty="0"/>
          </a:p>
          <a:p>
            <a:pPr marL="342900" indent="-342900">
              <a:spcAft>
                <a:spcPts val="500"/>
              </a:spcAft>
              <a:buSzPct val="100000"/>
              <a:buChar char="•"/>
            </a:pPr>
            <a:r>
              <a:rPr lang="en-US" sz="1600" dirty="0">
                <a:solidFill>
                  <a:srgbClr val="E6E8EF"/>
                </a:solidFill>
                <a:latin typeface="Palatino Linotype" pitchFamily="34" charset="0"/>
                <a:ea typeface="Palatino Linotype" pitchFamily="34" charset="-122"/>
                <a:cs typeface="Palatino Linotype" pitchFamily="34" charset="-120"/>
              </a:rPr>
              <a:t>prevenirea recăderii</a:t>
            </a:r>
            <a:endParaRPr lang="en-US" sz="1600" dirty="0"/>
          </a:p>
          <a:p>
            <a:pPr marL="342900" indent="-342900">
              <a:spcAft>
                <a:spcPts val="500"/>
              </a:spcAft>
              <a:buSzPct val="100000"/>
              <a:buChar char="•"/>
            </a:pPr>
            <a:r>
              <a:rPr lang="en-US" sz="1600" dirty="0">
                <a:solidFill>
                  <a:srgbClr val="E6E8EF"/>
                </a:solidFill>
                <a:latin typeface="Palatino Linotype" pitchFamily="34" charset="0"/>
                <a:ea typeface="Palatino Linotype" pitchFamily="34" charset="-122"/>
                <a:cs typeface="Palatino Linotype" pitchFamily="34" charset="-120"/>
              </a:rPr>
              <a:t>funcționare mai bună: urcă scările, merge la serviciu</a:t>
            </a:r>
            <a:endParaRPr lang="en-US" sz="1600" dirty="0"/>
          </a:p>
          <a:p>
            <a:pPr marL="342900" indent="-342900">
              <a:spcAft>
                <a:spcPts val="500"/>
              </a:spcAft>
              <a:buSzPct val="100000"/>
              <a:buChar char="•"/>
            </a:pPr>
            <a:r>
              <a:rPr lang="en-US" sz="1600" dirty="0">
                <a:solidFill>
                  <a:srgbClr val="E6E8EF"/>
                </a:solidFill>
                <a:latin typeface="Palatino Linotype" pitchFamily="34" charset="0"/>
                <a:ea typeface="Palatino Linotype" pitchFamily="34" charset="-122"/>
                <a:cs typeface="Palatino Linotype" pitchFamily="34" charset="-120"/>
              </a:rPr>
              <a:t>participarea socială</a:t>
            </a:r>
            <a:endParaRPr lang="en-US" sz="1600" dirty="0"/>
          </a:p>
        </p:txBody>
      </p:sp>
      <p:sp>
        <p:nvSpPr>
          <p:cNvPr id="8" name="Shape 6"/>
          <p:cNvSpPr/>
          <p:nvPr/>
        </p:nvSpPr>
        <p:spPr>
          <a:xfrm>
            <a:off x="6217920" y="1645920"/>
            <a:ext cx="5349240" cy="3429000"/>
          </a:xfrm>
          <a:prstGeom prst="roundRect">
            <a:avLst>
              <a:gd name="adj" fmla="val 2400"/>
            </a:avLst>
          </a:prstGeom>
          <a:solidFill>
            <a:srgbClr val="1D1F2B"/>
          </a:solidFill>
          <a:ln w="12700">
            <a:solidFill>
              <a:srgbClr val="1D1F2B"/>
            </a:solidFill>
            <a:prstDash val="solid"/>
          </a:ln>
        </p:spPr>
        <p:txBody>
          <a:bodyPr/>
          <a:p/>
        </p:txBody>
      </p:sp>
      <p:sp>
        <p:nvSpPr>
          <p:cNvPr id="9" name="Shape 7"/>
          <p:cNvSpPr/>
          <p:nvPr/>
        </p:nvSpPr>
        <p:spPr>
          <a:xfrm>
            <a:off x="6217920" y="1645920"/>
            <a:ext cx="5349240" cy="73152"/>
          </a:xfrm>
          <a:prstGeom prst="rect">
            <a:avLst/>
          </a:prstGeom>
          <a:solidFill>
            <a:srgbClr val="FF4757"/>
          </a:solidFill>
          <a:ln w="12700">
            <a:solidFill>
              <a:srgbClr val="FF4757"/>
            </a:solidFill>
            <a:prstDash val="solid"/>
          </a:ln>
        </p:spPr>
        <p:txBody>
          <a:bodyPr/>
          <a:p/>
        </p:txBody>
      </p:sp>
      <p:sp>
        <p:nvSpPr>
          <p:cNvPr id="10" name="Text 8"/>
          <p:cNvSpPr/>
          <p:nvPr/>
        </p:nvSpPr>
        <p:spPr>
          <a:xfrm>
            <a:off x="6492240" y="1828800"/>
            <a:ext cx="4846320" cy="411480"/>
          </a:xfrm>
          <a:prstGeom prst="rect">
            <a:avLst/>
          </a:prstGeom>
          <a:noFill/>
          <a:ln/>
        </p:spPr>
        <p:txBody>
          <a:bodyPr wrap="square" lIns="0" tIns="0" rIns="0" bIns="0" rtlCol="0" anchor="t"/>
          <a:lstStyle/>
          <a:p>
            <a:pPr indent="0" marL="0">
              <a:buNone/>
            </a:pPr>
            <a:r>
              <a:rPr lang="en-US" sz="2000" b="1" dirty="0">
                <a:solidFill>
                  <a:srgbClr val="FF4757"/>
                </a:solidFill>
                <a:latin typeface="Palatino Linotype" pitchFamily="34" charset="0"/>
                <a:ea typeface="Palatino Linotype" pitchFamily="34" charset="-122"/>
                <a:cs typeface="Palatino Linotype" pitchFamily="34" charset="-120"/>
              </a:rPr>
              <a:t>În radiologie și imagistică</a:t>
            </a:r>
            <a:endParaRPr lang="en-US" sz="2000" dirty="0"/>
          </a:p>
        </p:txBody>
      </p:sp>
      <p:sp>
        <p:nvSpPr>
          <p:cNvPr id="11" name="Text 9"/>
          <p:cNvSpPr/>
          <p:nvPr/>
        </p:nvSpPr>
        <p:spPr>
          <a:xfrm>
            <a:off x="6492240" y="2377440"/>
            <a:ext cx="4892040" cy="260604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rgbClr val="E6E8EF"/>
                </a:solidFill>
                <a:latin typeface="Palatino Linotype" pitchFamily="34" charset="0"/>
                <a:ea typeface="Palatino Linotype" pitchFamily="34" charset="-122"/>
                <a:cs typeface="Palatino Linotype" pitchFamily="34" charset="-120"/>
              </a:rPr>
              <a:t>înțelege de ce face investigația</a:t>
            </a:r>
            <a:endParaRPr lang="en-US" sz="1600" dirty="0"/>
          </a:p>
          <a:p>
            <a:pPr marL="342900" indent="-342900">
              <a:spcAft>
                <a:spcPts val="500"/>
              </a:spcAft>
              <a:buSzPct val="100000"/>
              <a:buChar char="•"/>
            </a:pPr>
            <a:r>
              <a:rPr lang="en-US" sz="1600" dirty="0">
                <a:solidFill>
                  <a:srgbClr val="E6E8EF"/>
                </a:solidFill>
                <a:latin typeface="Palatino Linotype" pitchFamily="34" charset="0"/>
                <a:ea typeface="Palatino Linotype" pitchFamily="34" charset="-122"/>
                <a:cs typeface="Palatino Linotype" pitchFamily="34" charset="-120"/>
              </a:rPr>
              <a:t>se pregătește după protocolul secției (analize, fără obiecte metalice)</a:t>
            </a:r>
            <a:endParaRPr lang="en-US" sz="1600" dirty="0"/>
          </a:p>
          <a:p>
            <a:pPr marL="342900" indent="-342900">
              <a:spcAft>
                <a:spcPts val="500"/>
              </a:spcAft>
              <a:buSzPct val="100000"/>
              <a:buChar char="•"/>
            </a:pPr>
            <a:r>
              <a:rPr lang="en-US" sz="1600" dirty="0">
                <a:solidFill>
                  <a:srgbClr val="E6E8EF"/>
                </a:solidFill>
                <a:latin typeface="Palatino Linotype" pitchFamily="34" charset="0"/>
                <a:ea typeface="Palatino Linotype" pitchFamily="34" charset="-122"/>
                <a:cs typeface="Palatino Linotype" pitchFamily="34" charset="-120"/>
              </a:rPr>
              <a:t>colaborează la examinare: stă nemișcat, ține respirația la comandă</a:t>
            </a:r>
            <a:endParaRPr lang="en-US" sz="1600" dirty="0"/>
          </a:p>
          <a:p>
            <a:pPr marL="342900" indent="-342900">
              <a:spcAft>
                <a:spcPts val="500"/>
              </a:spcAft>
              <a:buSzPct val="100000"/>
              <a:buChar char="•"/>
            </a:pPr>
            <a:r>
              <a:rPr lang="en-US" sz="1600" dirty="0">
                <a:solidFill>
                  <a:srgbClr val="E6E8EF"/>
                </a:solidFill>
                <a:latin typeface="Palatino Linotype" pitchFamily="34" charset="0"/>
                <a:ea typeface="Palatino Linotype" pitchFamily="34" charset="-122"/>
                <a:cs typeface="Palatino Linotype" pitchFamily="34" charset="-120"/>
              </a:rPr>
              <a:t>știe ce urmează</a:t>
            </a:r>
            <a:endParaRPr lang="en-US" sz="1600" dirty="0"/>
          </a:p>
        </p:txBody>
      </p:sp>
      <p:sp>
        <p:nvSpPr>
          <p:cNvPr id="12" name="Text 10"/>
          <p:cNvSpPr/>
          <p:nvPr/>
        </p:nvSpPr>
        <p:spPr>
          <a:xfrm>
            <a:off x="594360" y="5257800"/>
            <a:ext cx="10972800" cy="868680"/>
          </a:xfrm>
          <a:prstGeom prst="rect">
            <a:avLst/>
          </a:prstGeom>
          <a:noFill/>
          <a:ln/>
        </p:spPr>
        <p:txBody>
          <a:bodyPr wrap="square" lIns="0" tIns="0" rIns="0" bIns="0" rtlCol="0" anchor="ctr"/>
          <a:lstStyle/>
          <a:p>
            <a:pPr indent="0" marL="0">
              <a:buNone/>
            </a:pPr>
            <a:r>
              <a:rPr lang="en-US" sz="1650" b="1" dirty="0">
                <a:solidFill>
                  <a:srgbClr val="FFC24B"/>
                </a:solidFill>
                <a:latin typeface="Palatino Linotype" pitchFamily="34" charset="0"/>
                <a:ea typeface="Palatino Linotype" pitchFamily="34" charset="-122"/>
                <a:cs typeface="Palatino Linotype" pitchFamily="34" charset="-120"/>
              </a:rPr>
              <a:t>Pentru OMS, recuperarea este o strategie de sănătate prioritară a secolului XXI. Educația pacientului face parte din recuperare de la început.</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329184"/>
            <a:ext cx="3291840" cy="32918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594360" y="329184"/>
            <a:ext cx="3291840"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TERMENUL NOU 1 DIN 3</a:t>
            </a:r>
            <a:endParaRPr lang="en-US" sz="1300" dirty="0"/>
          </a:p>
        </p:txBody>
      </p:sp>
      <p:sp>
        <p:nvSpPr>
          <p:cNvPr id="4" name="Text 2"/>
          <p:cNvSpPr/>
          <p:nvPr/>
        </p:nvSpPr>
        <p:spPr>
          <a:xfrm>
            <a:off x="594360" y="914400"/>
            <a:ext cx="10972800" cy="82296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Obiectivul măsurabil</a:t>
            </a:r>
            <a:endParaRPr lang="en-US" sz="3800" dirty="0"/>
          </a:p>
        </p:txBody>
      </p:sp>
      <p:sp>
        <p:nvSpPr>
          <p:cNvPr id="5" name="Text 3"/>
          <p:cNvSpPr/>
          <p:nvPr/>
        </p:nvSpPr>
        <p:spPr>
          <a:xfrm>
            <a:off x="594360" y="1874520"/>
            <a:ext cx="10789920" cy="118872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O țintă la care, la o dată stabilită, oricine poate spune „da, s-a întâmplat” sau „nu, încă nu”.</a:t>
            </a:r>
            <a:endParaRPr lang="en-US" sz="2600" dirty="0"/>
          </a:p>
        </p:txBody>
      </p:sp>
      <p:sp>
        <p:nvSpPr>
          <p:cNvPr id="6" name="Shape 4"/>
          <p:cNvSpPr/>
          <p:nvPr/>
        </p:nvSpPr>
        <p:spPr>
          <a:xfrm>
            <a:off x="594360" y="329184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7" name="Text 5"/>
          <p:cNvSpPr/>
          <p:nvPr/>
        </p:nvSpPr>
        <p:spPr>
          <a:xfrm>
            <a:off x="594360" y="3291840"/>
            <a:ext cx="205740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Ce anume se schimbă</a:t>
            </a:r>
            <a:endParaRPr lang="en-US" sz="1350" dirty="0"/>
          </a:p>
        </p:txBody>
      </p:sp>
      <p:sp>
        <p:nvSpPr>
          <p:cNvPr id="8" name="Shape 6"/>
          <p:cNvSpPr/>
          <p:nvPr/>
        </p:nvSpPr>
        <p:spPr>
          <a:xfrm>
            <a:off x="2788920" y="329184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9" name="Text 7"/>
          <p:cNvSpPr/>
          <p:nvPr/>
        </p:nvSpPr>
        <p:spPr>
          <a:xfrm>
            <a:off x="2788920" y="3291840"/>
            <a:ext cx="205740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Cât</a:t>
            </a:r>
            <a:endParaRPr lang="en-US" sz="1350" dirty="0"/>
          </a:p>
        </p:txBody>
      </p:sp>
      <p:sp>
        <p:nvSpPr>
          <p:cNvPr id="10" name="Shape 8"/>
          <p:cNvSpPr/>
          <p:nvPr/>
        </p:nvSpPr>
        <p:spPr>
          <a:xfrm>
            <a:off x="4983480" y="329184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11" name="Text 9"/>
          <p:cNvSpPr/>
          <p:nvPr/>
        </p:nvSpPr>
        <p:spPr>
          <a:xfrm>
            <a:off x="4983480" y="3291840"/>
            <a:ext cx="205740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La cine</a:t>
            </a:r>
            <a:endParaRPr lang="en-US" sz="1350" dirty="0"/>
          </a:p>
        </p:txBody>
      </p:sp>
      <p:sp>
        <p:nvSpPr>
          <p:cNvPr id="12" name="Shape 10"/>
          <p:cNvSpPr/>
          <p:nvPr/>
        </p:nvSpPr>
        <p:spPr>
          <a:xfrm>
            <a:off x="7178040" y="329184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13" name="Text 11"/>
          <p:cNvSpPr/>
          <p:nvPr/>
        </p:nvSpPr>
        <p:spPr>
          <a:xfrm>
            <a:off x="7178040" y="3291840"/>
            <a:ext cx="205740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Până când</a:t>
            </a:r>
            <a:endParaRPr lang="en-US" sz="1350" dirty="0"/>
          </a:p>
        </p:txBody>
      </p:sp>
      <p:sp>
        <p:nvSpPr>
          <p:cNvPr id="14" name="Shape 12"/>
          <p:cNvSpPr/>
          <p:nvPr/>
        </p:nvSpPr>
        <p:spPr>
          <a:xfrm>
            <a:off x="9372600" y="3291840"/>
            <a:ext cx="2057400" cy="329184"/>
          </a:xfrm>
          <a:prstGeom prst="roundRect">
            <a:avLst>
              <a:gd name="adj" fmla="val 50000"/>
            </a:avLst>
          </a:prstGeom>
          <a:solidFill>
            <a:srgbClr val="272A38"/>
          </a:solidFill>
          <a:ln w="12700">
            <a:solidFill>
              <a:srgbClr val="272A38"/>
            </a:solidFill>
            <a:prstDash val="solid"/>
          </a:ln>
        </p:spPr>
        <p:txBody>
          <a:bodyPr/>
          <a:p/>
        </p:txBody>
      </p:sp>
      <p:sp>
        <p:nvSpPr>
          <p:cNvPr id="15" name="Text 13"/>
          <p:cNvSpPr/>
          <p:nvPr/>
        </p:nvSpPr>
        <p:spPr>
          <a:xfrm>
            <a:off x="9372600" y="3291840"/>
            <a:ext cx="2057400" cy="329184"/>
          </a:xfrm>
          <a:prstGeom prst="rect">
            <a:avLst/>
          </a:prstGeom>
          <a:noFill/>
          <a:ln/>
        </p:spPr>
        <p:txBody>
          <a:bodyPr wrap="square" lIns="0" tIns="0" rIns="0" bIns="0" rtlCol="0" anchor="ctr"/>
          <a:lstStyle/>
          <a:p>
            <a:pPr algn="ctr" indent="0" marL="0">
              <a:buNone/>
            </a:pPr>
            <a:r>
              <a:rPr lang="en-US" sz="1350" b="1" dirty="0">
                <a:solidFill>
                  <a:srgbClr val="FFFFFF"/>
                </a:solidFill>
                <a:latin typeface="Palatino Linotype" pitchFamily="34" charset="0"/>
                <a:ea typeface="Palatino Linotype" pitchFamily="34" charset="-122"/>
                <a:cs typeface="Palatino Linotype" pitchFamily="34" charset="-120"/>
              </a:rPr>
              <a:t>Cum se măsoară</a:t>
            </a:r>
            <a:endParaRPr lang="en-US" sz="1350" dirty="0"/>
          </a:p>
        </p:txBody>
      </p:sp>
      <p:sp>
        <p:nvSpPr>
          <p:cNvPr id="16" name="Shape 14"/>
          <p:cNvSpPr/>
          <p:nvPr/>
        </p:nvSpPr>
        <p:spPr>
          <a:xfrm>
            <a:off x="594360" y="3977640"/>
            <a:ext cx="10972800" cy="1920240"/>
          </a:xfrm>
          <a:prstGeom prst="roundRect">
            <a:avLst>
              <a:gd name="adj" fmla="val 4286"/>
            </a:avLst>
          </a:prstGeom>
          <a:solidFill>
            <a:srgbClr val="1D1F2B"/>
          </a:solidFill>
          <a:ln w="12700">
            <a:solidFill>
              <a:srgbClr val="1D1F2B"/>
            </a:solidFill>
            <a:prstDash val="solid"/>
          </a:ln>
        </p:spPr>
        <p:txBody>
          <a:bodyPr/>
          <a:p/>
        </p:txBody>
      </p:sp>
      <p:sp>
        <p:nvSpPr>
          <p:cNvPr id="17" name="Text 15"/>
          <p:cNvSpPr/>
          <p:nvPr/>
        </p:nvSpPr>
        <p:spPr>
          <a:xfrm>
            <a:off x="868680" y="3977640"/>
            <a:ext cx="10424160" cy="1920240"/>
          </a:xfrm>
          <a:prstGeom prst="rect">
            <a:avLst/>
          </a:prstGeom>
          <a:noFill/>
          <a:ln/>
        </p:spPr>
        <p:txBody>
          <a:bodyPr wrap="square" lIns="0" tIns="0" rIns="0" bIns="0" rtlCol="0" anchor="ctr"/>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Scopul arată direcția, obiectivul arată dacă ați ajuns. El descrie rezultatul la persoană, nu activitatea profesionistului. Fără el, educația rămâne o bună intenție.</a:t>
            </a:r>
            <a:endParaRPr lang="en-US" sz="1900" dirty="0"/>
          </a:p>
        </p:txBody>
      </p:sp>
      <p:sp>
        <p:nvSpPr>
          <p:cNvPr id="18" name="Text 16"/>
          <p:cNvSpPr/>
          <p:nvPr/>
        </p:nvSpPr>
        <p:spPr>
          <a:xfrm>
            <a:off x="594360" y="6053328"/>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Varianta disciplinei: specific, măsurabil, realizabil, relevant, încadrat în timp (acronimul englezesc SMART). Alte surse dau alte sensuri unor litere.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DOUĂ EXEMPLE</a:t>
            </a:r>
            <a:endParaRPr lang="en-US" sz="1300" dirty="0"/>
          </a:p>
        </p:txBody>
      </p:sp>
      <p:sp>
        <p:nvSpPr>
          <p:cNvPr id="3" name="Shape 1"/>
          <p:cNvSpPr/>
          <p:nvPr/>
        </p:nvSpPr>
        <p:spPr>
          <a:xfrm>
            <a:off x="9098280" y="310896"/>
            <a:ext cx="2468880" cy="329184"/>
          </a:xfrm>
          <a:prstGeom prst="roundRect">
            <a:avLst>
              <a:gd name="adj" fmla="val 50000"/>
            </a:avLst>
          </a:prstGeom>
          <a:solidFill>
            <a:srgbClr val="FFC24B"/>
          </a:solidFill>
          <a:ln w="12700">
            <a:solidFill>
              <a:srgbClr val="FFC24B"/>
            </a:solidFill>
            <a:prstDash val="solid"/>
          </a:ln>
        </p:spPr>
        <p:txBody>
          <a:bodyPr/>
          <a:p/>
        </p:txBody>
      </p:sp>
      <p:sp>
        <p:nvSpPr>
          <p:cNvPr id="4" name="Text 2"/>
          <p:cNvSpPr/>
          <p:nvPr/>
        </p:nvSpPr>
        <p:spPr>
          <a:xfrm>
            <a:off x="9098280" y="310896"/>
            <a:ext cx="2468880" cy="329184"/>
          </a:xfrm>
          <a:prstGeom prst="rect">
            <a:avLst/>
          </a:prstGeom>
          <a:noFill/>
          <a:ln/>
        </p:spPr>
        <p:txBody>
          <a:bodyPr wrap="square" lIns="0" tIns="0" rIns="0" bIns="0" rtlCol="0" anchor="ctr"/>
          <a:lstStyle/>
          <a:p>
            <a:pPr algn="ctr" indent="0" marL="0">
              <a:buNone/>
            </a:pPr>
            <a:r>
              <a:rPr lang="en-US" sz="1200" b="1" dirty="0">
                <a:solidFill>
                  <a:srgbClr val="3D2A00"/>
                </a:solidFill>
                <a:latin typeface="Palatino Linotype" pitchFamily="34" charset="0"/>
                <a:ea typeface="Palatino Linotype" pitchFamily="34" charset="-122"/>
                <a:cs typeface="Palatino Linotype" pitchFamily="34" charset="-120"/>
              </a:rPr>
              <a:t>VALORI IPOTETICE</a:t>
            </a:r>
            <a:endParaRPr lang="en-US" sz="12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De la scop vag la obiectiv măsurabil</a:t>
            </a:r>
            <a:endParaRPr lang="en-US" sz="3000" dirty="0"/>
          </a:p>
        </p:txBody>
      </p:sp>
      <p:sp>
        <p:nvSpPr>
          <p:cNvPr id="6" name="Shape 4"/>
          <p:cNvSpPr/>
          <p:nvPr/>
        </p:nvSpPr>
        <p:spPr>
          <a:xfrm>
            <a:off x="594360" y="1783080"/>
            <a:ext cx="3840480" cy="1783080"/>
          </a:xfrm>
          <a:prstGeom prst="roundRect">
            <a:avLst>
              <a:gd name="adj" fmla="val 4615"/>
            </a:avLst>
          </a:prstGeom>
          <a:solidFill>
            <a:srgbClr val="ECEAE4"/>
          </a:solidFill>
          <a:ln w="12700">
            <a:solidFill>
              <a:srgbClr val="ECEAE4"/>
            </a:solidFill>
            <a:prstDash val="solid"/>
          </a:ln>
        </p:spPr>
        <p:txBody>
          <a:bodyPr/>
          <a:p/>
        </p:txBody>
      </p:sp>
      <p:sp>
        <p:nvSpPr>
          <p:cNvPr id="7" name="Text 5"/>
          <p:cNvSpPr/>
          <p:nvPr/>
        </p:nvSpPr>
        <p:spPr>
          <a:xfrm>
            <a:off x="822960" y="1920240"/>
            <a:ext cx="3383280" cy="320040"/>
          </a:xfrm>
          <a:prstGeom prst="rect">
            <a:avLst/>
          </a:prstGeom>
          <a:noFill/>
          <a:ln/>
        </p:spPr>
        <p:txBody>
          <a:bodyPr wrap="square" lIns="0" tIns="0" rIns="0" bIns="0" rtlCol="0" anchor="t"/>
          <a:lstStyle/>
          <a:p>
            <a:pPr indent="0" marL="0">
              <a:buNone/>
            </a:pPr>
            <a:r>
              <a:rPr lang="en-US" sz="1500" b="1" dirty="0">
                <a:solidFill>
                  <a:srgbClr val="585A64"/>
                </a:solidFill>
                <a:latin typeface="Palatino Linotype" pitchFamily="34" charset="0"/>
                <a:ea typeface="Palatino Linotype" pitchFamily="34" charset="-122"/>
                <a:cs typeface="Palatino Linotype" pitchFamily="34" charset="-120"/>
              </a:rPr>
              <a:t>Scop vag</a:t>
            </a:r>
            <a:endParaRPr lang="en-US" sz="1500" dirty="0"/>
          </a:p>
        </p:txBody>
      </p:sp>
      <p:sp>
        <p:nvSpPr>
          <p:cNvPr id="8" name="Text 6"/>
          <p:cNvSpPr/>
          <p:nvPr/>
        </p:nvSpPr>
        <p:spPr>
          <a:xfrm>
            <a:off x="822960" y="2331720"/>
            <a:ext cx="3383280" cy="1097280"/>
          </a:xfrm>
          <a:prstGeom prst="rect">
            <a:avLst/>
          </a:prstGeom>
          <a:noFill/>
          <a:ln/>
        </p:spPr>
        <p:txBody>
          <a:bodyPr wrap="square" lIns="0" tIns="0" rIns="0" bIns="0" rtlCol="0" anchor="t"/>
          <a:lstStyle/>
          <a:p>
            <a:pPr indent="0" marL="0">
              <a:buNone/>
            </a:pPr>
            <a:r>
              <a:rPr lang="en-US" sz="2000" i="1" dirty="0">
                <a:solidFill>
                  <a:srgbClr val="11121A"/>
                </a:solidFill>
                <a:latin typeface="Palatino Linotype" pitchFamily="34" charset="0"/>
                <a:ea typeface="Palatino Linotype" pitchFamily="34" charset="-122"/>
                <a:cs typeface="Palatino Linotype" pitchFamily="34" charset="-120"/>
              </a:rPr>
              <a:t>„să îmbunătățim postura”</a:t>
            </a:r>
            <a:endParaRPr lang="en-US" sz="2000" dirty="0"/>
          </a:p>
        </p:txBody>
      </p:sp>
      <p:sp>
        <p:nvSpPr>
          <p:cNvPr id="9" name="Shape 7"/>
          <p:cNvSpPr/>
          <p:nvPr/>
        </p:nvSpPr>
        <p:spPr>
          <a:xfrm>
            <a:off x="4572000" y="2514600"/>
            <a:ext cx="502920" cy="329184"/>
          </a:xfrm>
          <a:prstGeom prst="rightArrow">
            <a:avLst/>
          </a:prstGeom>
          <a:solidFill>
            <a:srgbClr val="B02532"/>
          </a:solidFill>
          <a:ln w="12700">
            <a:solidFill>
              <a:srgbClr val="B02532"/>
            </a:solidFill>
            <a:prstDash val="solid"/>
          </a:ln>
        </p:spPr>
        <p:txBody>
          <a:bodyPr/>
          <a:p/>
        </p:txBody>
      </p:sp>
      <p:sp>
        <p:nvSpPr>
          <p:cNvPr id="10" name="Shape 8"/>
          <p:cNvSpPr/>
          <p:nvPr/>
        </p:nvSpPr>
        <p:spPr>
          <a:xfrm>
            <a:off x="5212080" y="1783080"/>
            <a:ext cx="6355080" cy="1783080"/>
          </a:xfrm>
          <a:prstGeom prst="roundRect">
            <a:avLst>
              <a:gd name="adj" fmla="val 4615"/>
            </a:avLst>
          </a:prstGeom>
          <a:solidFill>
            <a:srgbClr val="07564B"/>
          </a:solidFill>
          <a:ln w="12700">
            <a:solidFill>
              <a:srgbClr val="07564B"/>
            </a:solidFill>
            <a:prstDash val="solid"/>
          </a:ln>
        </p:spPr>
        <p:txBody>
          <a:bodyPr/>
          <a:p/>
        </p:txBody>
      </p:sp>
      <p:sp>
        <p:nvSpPr>
          <p:cNvPr id="11" name="Text 9"/>
          <p:cNvSpPr/>
          <p:nvPr/>
        </p:nvSpPr>
        <p:spPr>
          <a:xfrm>
            <a:off x="5440680" y="1920240"/>
            <a:ext cx="5852160" cy="32004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Obiectiv măsurabil</a:t>
            </a:r>
            <a:endParaRPr lang="en-US" sz="1500" dirty="0"/>
          </a:p>
        </p:txBody>
      </p:sp>
      <p:sp>
        <p:nvSpPr>
          <p:cNvPr id="12" name="Text 10"/>
          <p:cNvSpPr/>
          <p:nvPr/>
        </p:nvSpPr>
        <p:spPr>
          <a:xfrm>
            <a:off x="5440680" y="2331720"/>
            <a:ext cx="5897880" cy="1188720"/>
          </a:xfrm>
          <a:prstGeom prst="rect">
            <a:avLst/>
          </a:prstGeom>
          <a:noFill/>
          <a:ln/>
        </p:spPr>
        <p:txBody>
          <a:bodyPr wrap="square" lIns="0" tIns="0" rIns="0" bIns="0" rtlCol="0" anchor="t"/>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„în patru săptămâni, pacientul face de 5 ori pe zi pauza de 2 minute de la birou, bifată în aplicație, în cel puțin 4 zile din 5 lucrătoare”</a:t>
            </a:r>
            <a:endParaRPr lang="en-US" sz="1700" dirty="0"/>
          </a:p>
        </p:txBody>
      </p:sp>
      <p:sp>
        <p:nvSpPr>
          <p:cNvPr id="13" name="Shape 11"/>
          <p:cNvSpPr/>
          <p:nvPr/>
        </p:nvSpPr>
        <p:spPr>
          <a:xfrm>
            <a:off x="594360" y="3794760"/>
            <a:ext cx="3840480" cy="1783080"/>
          </a:xfrm>
          <a:prstGeom prst="roundRect">
            <a:avLst>
              <a:gd name="adj" fmla="val 4615"/>
            </a:avLst>
          </a:prstGeom>
          <a:solidFill>
            <a:srgbClr val="ECEAE4"/>
          </a:solidFill>
          <a:ln w="12700">
            <a:solidFill>
              <a:srgbClr val="ECEAE4"/>
            </a:solidFill>
            <a:prstDash val="solid"/>
          </a:ln>
        </p:spPr>
        <p:txBody>
          <a:bodyPr/>
          <a:p/>
        </p:txBody>
      </p:sp>
      <p:sp>
        <p:nvSpPr>
          <p:cNvPr id="14" name="Text 12"/>
          <p:cNvSpPr/>
          <p:nvPr/>
        </p:nvSpPr>
        <p:spPr>
          <a:xfrm>
            <a:off x="822960" y="3931920"/>
            <a:ext cx="3383280" cy="320040"/>
          </a:xfrm>
          <a:prstGeom prst="rect">
            <a:avLst/>
          </a:prstGeom>
          <a:noFill/>
          <a:ln/>
        </p:spPr>
        <p:txBody>
          <a:bodyPr wrap="square" lIns="0" tIns="0" rIns="0" bIns="0" rtlCol="0" anchor="t"/>
          <a:lstStyle/>
          <a:p>
            <a:pPr indent="0" marL="0">
              <a:buNone/>
            </a:pPr>
            <a:r>
              <a:rPr lang="en-US" sz="1500" b="1" dirty="0">
                <a:solidFill>
                  <a:srgbClr val="585A64"/>
                </a:solidFill>
                <a:latin typeface="Palatino Linotype" pitchFamily="34" charset="0"/>
                <a:ea typeface="Palatino Linotype" pitchFamily="34" charset="-122"/>
                <a:cs typeface="Palatino Linotype" pitchFamily="34" charset="-120"/>
              </a:rPr>
              <a:t>Scop vag</a:t>
            </a:r>
            <a:endParaRPr lang="en-US" sz="1500" dirty="0"/>
          </a:p>
        </p:txBody>
      </p:sp>
      <p:sp>
        <p:nvSpPr>
          <p:cNvPr id="15" name="Text 13"/>
          <p:cNvSpPr/>
          <p:nvPr/>
        </p:nvSpPr>
        <p:spPr>
          <a:xfrm>
            <a:off x="822960" y="4343400"/>
            <a:ext cx="3383280" cy="1097280"/>
          </a:xfrm>
          <a:prstGeom prst="rect">
            <a:avLst/>
          </a:prstGeom>
          <a:noFill/>
          <a:ln/>
        </p:spPr>
        <p:txBody>
          <a:bodyPr wrap="square" lIns="0" tIns="0" rIns="0" bIns="0" rtlCol="0" anchor="t"/>
          <a:lstStyle/>
          <a:p>
            <a:pPr indent="0" marL="0">
              <a:buNone/>
            </a:pPr>
            <a:r>
              <a:rPr lang="en-US" sz="2000" i="1" dirty="0">
                <a:solidFill>
                  <a:srgbClr val="11121A"/>
                </a:solidFill>
                <a:latin typeface="Palatino Linotype" pitchFamily="34" charset="0"/>
                <a:ea typeface="Palatino Linotype" pitchFamily="34" charset="-122"/>
                <a:cs typeface="Palatino Linotype" pitchFamily="34" charset="-120"/>
              </a:rPr>
              <a:t>„pacienta să meargă mai mult”</a:t>
            </a:r>
            <a:endParaRPr lang="en-US" sz="2000" dirty="0"/>
          </a:p>
        </p:txBody>
      </p:sp>
      <p:sp>
        <p:nvSpPr>
          <p:cNvPr id="16" name="Shape 14"/>
          <p:cNvSpPr/>
          <p:nvPr/>
        </p:nvSpPr>
        <p:spPr>
          <a:xfrm>
            <a:off x="4572000" y="4526280"/>
            <a:ext cx="502920" cy="329184"/>
          </a:xfrm>
          <a:prstGeom prst="rightArrow">
            <a:avLst/>
          </a:prstGeom>
          <a:solidFill>
            <a:srgbClr val="B02532"/>
          </a:solidFill>
          <a:ln w="12700">
            <a:solidFill>
              <a:srgbClr val="B02532"/>
            </a:solidFill>
            <a:prstDash val="solid"/>
          </a:ln>
        </p:spPr>
        <p:txBody>
          <a:bodyPr/>
          <a:p/>
        </p:txBody>
      </p:sp>
      <p:sp>
        <p:nvSpPr>
          <p:cNvPr id="17" name="Shape 15"/>
          <p:cNvSpPr/>
          <p:nvPr/>
        </p:nvSpPr>
        <p:spPr>
          <a:xfrm>
            <a:off x="5212080" y="3794760"/>
            <a:ext cx="6355080" cy="1783080"/>
          </a:xfrm>
          <a:prstGeom prst="roundRect">
            <a:avLst>
              <a:gd name="adj" fmla="val 4615"/>
            </a:avLst>
          </a:prstGeom>
          <a:solidFill>
            <a:srgbClr val="07564B"/>
          </a:solidFill>
          <a:ln w="12700">
            <a:solidFill>
              <a:srgbClr val="07564B"/>
            </a:solidFill>
            <a:prstDash val="solid"/>
          </a:ln>
        </p:spPr>
        <p:txBody>
          <a:bodyPr/>
          <a:p/>
        </p:txBody>
      </p:sp>
      <p:sp>
        <p:nvSpPr>
          <p:cNvPr id="18" name="Text 16"/>
          <p:cNvSpPr/>
          <p:nvPr/>
        </p:nvSpPr>
        <p:spPr>
          <a:xfrm>
            <a:off x="5440680" y="3931920"/>
            <a:ext cx="5852160" cy="32004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Obiectiv măsurabil</a:t>
            </a:r>
            <a:endParaRPr lang="en-US" sz="1500" dirty="0"/>
          </a:p>
        </p:txBody>
      </p:sp>
      <p:sp>
        <p:nvSpPr>
          <p:cNvPr id="19" name="Text 17"/>
          <p:cNvSpPr/>
          <p:nvPr/>
        </p:nvSpPr>
        <p:spPr>
          <a:xfrm>
            <a:off x="5440680" y="4343400"/>
            <a:ext cx="5897880" cy="1188720"/>
          </a:xfrm>
          <a:prstGeom prst="rect">
            <a:avLst/>
          </a:prstGeom>
          <a:noFill/>
          <a:ln/>
        </p:spPr>
        <p:txBody>
          <a:bodyPr wrap="square" lIns="0" tIns="0" rIns="0" bIns="0" rtlCol="0" anchor="t"/>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„până la controlul din 6 săptămâni, pacienta urcă la etajul întâi fără să se oprească, cu durerea cel mult 3 din 10”</a:t>
            </a:r>
            <a:endParaRPr lang="en-US" sz="1700" dirty="0"/>
          </a:p>
        </p:txBody>
      </p:sp>
      <p:sp>
        <p:nvSpPr>
          <p:cNvPr id="20" name="Text 18"/>
          <p:cNvSpPr/>
          <p:nvPr/>
        </p:nvSpPr>
        <p:spPr>
          <a:xfrm>
            <a:off x="594360" y="5897880"/>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Nu sunt ținte dintr-un ghid.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COLEGUL DE BANCĂ</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DOUĂ MINUTE, ÎN PERECHI</a:t>
            </a:r>
            <a:endParaRPr lang="en-US" sz="1300" dirty="0"/>
          </a:p>
        </p:txBody>
      </p:sp>
      <p:sp>
        <p:nvSpPr>
          <p:cNvPr id="5" name="Text 3"/>
          <p:cNvSpPr/>
          <p:nvPr/>
        </p:nvSpPr>
        <p:spPr>
          <a:xfrm>
            <a:off x="594360" y="777240"/>
            <a:ext cx="7863840" cy="82296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Rescrieți scopul ca obiectiv măsurabil</a:t>
            </a:r>
            <a:endParaRPr lang="en-US" sz="3200" dirty="0"/>
          </a:p>
        </p:txBody>
      </p:sp>
      <p:sp>
        <p:nvSpPr>
          <p:cNvPr id="6" name="Shape 4"/>
          <p:cNvSpPr/>
          <p:nvPr/>
        </p:nvSpPr>
        <p:spPr>
          <a:xfrm rot="-60000">
            <a:off x="822960" y="1783080"/>
            <a:ext cx="10515600" cy="1371600"/>
          </a:xfrm>
          <a:prstGeom prst="rect">
            <a:avLst/>
          </a:prstGeom>
          <a:solidFill>
            <a:srgbClr val="FBF8F1"/>
          </a:solidFill>
          <a:ln w="9525">
            <a:solidFill>
              <a:srgbClr val="E4DFD2"/>
            </a:solidFill>
            <a:prstDash val="solid"/>
          </a:ln>
          <a:effectLst>
            <a:outerShdw sx="100000" sy="100000" kx="0" ky="0" algn="bl" rotWithShape="0" blurRad="101600" dist="50800" dir="3600000">
              <a:srgbClr val="000000">
                <a:alpha val="40000"/>
              </a:srgbClr>
            </a:outerShdw>
          </a:effectLst>
        </p:spPr>
        <p:txBody>
          <a:bodyPr/>
          <a:p/>
        </p:txBody>
      </p:sp>
      <p:sp>
        <p:nvSpPr>
          <p:cNvPr id="7" name="Text 5"/>
          <p:cNvSpPr/>
          <p:nvPr/>
        </p:nvSpPr>
        <p:spPr>
          <a:xfrm rot="-60000">
            <a:off x="1188720" y="1783080"/>
            <a:ext cx="9784080" cy="1371600"/>
          </a:xfrm>
          <a:prstGeom prst="rect">
            <a:avLst/>
          </a:prstGeom>
          <a:noFill/>
          <a:ln/>
        </p:spPr>
        <p:txBody>
          <a:bodyPr wrap="square" lIns="0" tIns="0" rIns="0" bIns="0" rtlCol="0" anchor="ctr"/>
          <a:lstStyle/>
          <a:p>
            <a:pPr indent="0" marL="0">
              <a:buNone/>
            </a:pPr>
            <a:r>
              <a:rPr lang="en-US" sz="2700" i="1" dirty="0">
                <a:solidFill>
                  <a:srgbClr val="11121A"/>
                </a:solidFill>
                <a:latin typeface="Palatino Linotype" pitchFamily="34" charset="0"/>
                <a:ea typeface="Palatino Linotype" pitchFamily="34" charset="-122"/>
                <a:cs typeface="Palatino Linotype" pitchFamily="34" charset="-120"/>
              </a:rPr>
              <a:t>„pacienții cu artroză de genunchi să își facă exercițiile acasă”</a:t>
            </a:r>
            <a:endParaRPr lang="en-US" sz="2700" dirty="0"/>
          </a:p>
        </p:txBody>
      </p:sp>
      <p:sp>
        <p:nvSpPr>
          <p:cNvPr id="8" name="Text 6"/>
          <p:cNvSpPr/>
          <p:nvPr/>
        </p:nvSpPr>
        <p:spPr>
          <a:xfrm>
            <a:off x="594360" y="3611880"/>
            <a:ext cx="10972800" cy="1371600"/>
          </a:xfrm>
          <a:prstGeom prst="rect">
            <a:avLst/>
          </a:prstGeom>
          <a:noFill/>
          <a:ln/>
        </p:spPr>
        <p:txBody>
          <a:bodyPr wrap="square" lIns="0" tIns="0" rIns="0" bIns="0" rtlCol="0" anchor="t"/>
          <a:lstStyle/>
          <a:p>
            <a:pPr indent="0" marL="0">
              <a:buNone/>
            </a:pPr>
            <a:r>
              <a:rPr lang="en-US" sz="2200" dirty="0">
                <a:solidFill>
                  <a:srgbClr val="D5D8E2"/>
                </a:solidFill>
                <a:latin typeface="Palatino Linotype" pitchFamily="34" charset="0"/>
                <a:ea typeface="Palatino Linotype" pitchFamily="34" charset="-122"/>
                <a:cs typeface="Palatino Linotype" pitchFamily="34" charset="-120"/>
              </a:rPr>
              <a:t>Verificați-vă reciproc: se poate spune, la data stabilită, „da” sau „nu”? Trei perechi citesc, sala spune ce lipsește.</a:t>
            </a:r>
            <a:endParaRPr lang="en-US" sz="2200" dirty="0"/>
          </a:p>
        </p:txBody>
      </p:sp>
      <p:sp>
        <p:nvSpPr>
          <p:cNvPr id="9" name="Shape 7"/>
          <p:cNvSpPr/>
          <p:nvPr/>
        </p:nvSpPr>
        <p:spPr>
          <a:xfrm>
            <a:off x="594360" y="5212080"/>
            <a:ext cx="1280160" cy="36576"/>
          </a:xfrm>
          <a:prstGeom prst="rect">
            <a:avLst/>
          </a:prstGeom>
          <a:solidFill>
            <a:srgbClr val="27D3BE"/>
          </a:solidFill>
          <a:ln w="12700">
            <a:solidFill>
              <a:srgbClr val="27D3BE"/>
            </a:solidFill>
            <a:prstDash val="solid"/>
          </a:ln>
        </p:spPr>
        <p:txBody>
          <a:body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PRINCIPII · ADULȚII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Patru consecințe practice</a:t>
            </a:r>
            <a:endParaRPr lang="en-US" sz="3000" dirty="0"/>
          </a:p>
        </p:txBody>
      </p:sp>
      <p:sp>
        <p:nvSpPr>
          <p:cNvPr id="4" name="Shape 2"/>
          <p:cNvSpPr/>
          <p:nvPr/>
        </p:nvSpPr>
        <p:spPr>
          <a:xfrm>
            <a:off x="594360" y="1645920"/>
            <a:ext cx="6949440" cy="4206240"/>
          </a:xfrm>
          <a:prstGeom prst="roundRect">
            <a:avLst>
              <a:gd name="adj" fmla="val 1957"/>
            </a:avLst>
          </a:prstGeom>
          <a:solidFill>
            <a:srgbClr val="ECEAE4"/>
          </a:solidFill>
          <a:ln w="12700">
            <a:solidFill>
              <a:srgbClr val="ECEAE4"/>
            </a:solidFill>
            <a:prstDash val="solid"/>
          </a:ln>
        </p:spPr>
        <p:txBody>
          <a:bodyPr/>
          <a:p/>
        </p:txBody>
      </p:sp>
      <p:sp>
        <p:nvSpPr>
          <p:cNvPr id="5" name="Shape 3"/>
          <p:cNvSpPr/>
          <p:nvPr/>
        </p:nvSpPr>
        <p:spPr>
          <a:xfrm>
            <a:off x="868680" y="2011680"/>
            <a:ext cx="457200" cy="457200"/>
          </a:xfrm>
          <a:prstGeom prst="ellipse">
            <a:avLst/>
          </a:prstGeom>
          <a:solidFill>
            <a:srgbClr val="0E7C6B"/>
          </a:solidFill>
          <a:ln/>
        </p:spPr>
        <p:txBody>
          <a:bodyPr/>
          <a:p/>
        </p:txBody>
      </p:sp>
      <p:sp>
        <p:nvSpPr>
          <p:cNvPr id="6" name="Text 4"/>
          <p:cNvSpPr/>
          <p:nvPr/>
        </p:nvSpPr>
        <p:spPr>
          <a:xfrm>
            <a:off x="868680"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54480" y="1828800"/>
            <a:ext cx="5852160" cy="914400"/>
          </a:xfrm>
          <a:prstGeom prst="rect">
            <a:avLst/>
          </a:prstGeom>
          <a:noFill/>
          <a:ln/>
        </p:spPr>
        <p:txBody>
          <a:bodyPr wrap="square" lIns="0" tIns="0" rIns="0" bIns="0" rtlCol="0" anchor="ctr"/>
          <a:lstStyle/>
          <a:p>
            <a:pPr indent="0" marL="0">
              <a:buNone/>
            </a:pPr>
            <a:r>
              <a:rPr lang="en-US" sz="1650" b="1" dirty="0">
                <a:solidFill>
                  <a:srgbClr val="11121A"/>
                </a:solidFill>
                <a:latin typeface="Palatino Linotype" pitchFamily="34" charset="0"/>
                <a:ea typeface="Palatino Linotype" pitchFamily="34" charset="-122"/>
                <a:cs typeface="Palatino Linotype" pitchFamily="34" charset="-120"/>
              </a:rPr>
              <a:t>Spuneți de ce: </a:t>
            </a:r>
            <a:pPr indent="0" marL="0">
              <a:buNone/>
            </a:pPr>
            <a:r>
              <a:rPr lang="en-US" sz="1650" dirty="0">
                <a:solidFill>
                  <a:srgbClr val="11121A"/>
                </a:solidFill>
                <a:latin typeface="Palatino Linotype" pitchFamily="34" charset="0"/>
                <a:ea typeface="Palatino Linotype" pitchFamily="34" charset="-122"/>
                <a:cs typeface="Palatino Linotype" pitchFamily="34" charset="-120"/>
              </a:rPr>
              <a:t>„Exercițiile vă ajută să urcați scările, exact ce v-ați dorit.”</a:t>
            </a:r>
            <a:endParaRPr lang="en-US" sz="1650" dirty="0"/>
          </a:p>
        </p:txBody>
      </p:sp>
      <p:sp>
        <p:nvSpPr>
          <p:cNvPr id="8" name="Shape 6"/>
          <p:cNvSpPr/>
          <p:nvPr/>
        </p:nvSpPr>
        <p:spPr>
          <a:xfrm>
            <a:off x="868680" y="2990088"/>
            <a:ext cx="457200" cy="457200"/>
          </a:xfrm>
          <a:prstGeom prst="ellipse">
            <a:avLst/>
          </a:prstGeom>
          <a:solidFill>
            <a:srgbClr val="0E7C6B"/>
          </a:solidFill>
          <a:ln/>
        </p:spPr>
        <p:txBody>
          <a:bodyPr/>
          <a:p/>
        </p:txBody>
      </p:sp>
      <p:sp>
        <p:nvSpPr>
          <p:cNvPr id="9" name="Text 7"/>
          <p:cNvSpPr/>
          <p:nvPr/>
        </p:nvSpPr>
        <p:spPr>
          <a:xfrm>
            <a:off x="868680" y="2990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554480" y="2807208"/>
            <a:ext cx="5852160" cy="914400"/>
          </a:xfrm>
          <a:prstGeom prst="rect">
            <a:avLst/>
          </a:prstGeom>
          <a:noFill/>
          <a:ln/>
        </p:spPr>
        <p:txBody>
          <a:bodyPr wrap="square" lIns="0" tIns="0" rIns="0" bIns="0" rtlCol="0" anchor="ctr"/>
          <a:lstStyle/>
          <a:p>
            <a:pPr indent="0" marL="0">
              <a:buNone/>
            </a:pPr>
            <a:r>
              <a:rPr lang="en-US" sz="1650" b="1" dirty="0">
                <a:solidFill>
                  <a:srgbClr val="11121A"/>
                </a:solidFill>
                <a:latin typeface="Palatino Linotype" pitchFamily="34" charset="0"/>
                <a:ea typeface="Palatino Linotype" pitchFamily="34" charset="-122"/>
                <a:cs typeface="Palatino Linotype" pitchFamily="34" charset="-120"/>
              </a:rPr>
              <a:t>Porniți de la experiența persoanei: </a:t>
            </a:r>
            <a:pPr indent="0" marL="0">
              <a:buNone/>
            </a:pPr>
            <a:r>
              <a:rPr lang="en-US" sz="1650" dirty="0">
                <a:solidFill>
                  <a:srgbClr val="11121A"/>
                </a:solidFill>
                <a:latin typeface="Palatino Linotype" pitchFamily="34" charset="0"/>
                <a:ea typeface="Palatino Linotype" pitchFamily="34" charset="-122"/>
                <a:cs typeface="Palatino Linotype" pitchFamily="34" charset="-120"/>
              </a:rPr>
              <a:t>„Ce ați mai încercat? Ce a mers?”</a:t>
            </a:r>
            <a:endParaRPr lang="en-US" sz="1650" dirty="0"/>
          </a:p>
        </p:txBody>
      </p:sp>
      <p:sp>
        <p:nvSpPr>
          <p:cNvPr id="11" name="Shape 9"/>
          <p:cNvSpPr/>
          <p:nvPr/>
        </p:nvSpPr>
        <p:spPr>
          <a:xfrm>
            <a:off x="868680" y="3968496"/>
            <a:ext cx="457200" cy="457200"/>
          </a:xfrm>
          <a:prstGeom prst="ellipse">
            <a:avLst/>
          </a:prstGeom>
          <a:solidFill>
            <a:srgbClr val="0E7C6B"/>
          </a:solidFill>
          <a:ln/>
        </p:spPr>
        <p:txBody>
          <a:bodyPr/>
          <a:p/>
        </p:txBody>
      </p:sp>
      <p:sp>
        <p:nvSpPr>
          <p:cNvPr id="12" name="Text 10"/>
          <p:cNvSpPr/>
          <p:nvPr/>
        </p:nvSpPr>
        <p:spPr>
          <a:xfrm>
            <a:off x="868680" y="39684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554480" y="3785616"/>
            <a:ext cx="5852160" cy="914400"/>
          </a:xfrm>
          <a:prstGeom prst="rect">
            <a:avLst/>
          </a:prstGeom>
          <a:noFill/>
          <a:ln/>
        </p:spPr>
        <p:txBody>
          <a:bodyPr wrap="square" lIns="0" tIns="0" rIns="0" bIns="0" rtlCol="0" anchor="ctr"/>
          <a:lstStyle/>
          <a:p>
            <a:pPr indent="0" marL="0">
              <a:buNone/>
            </a:pPr>
            <a:r>
              <a:rPr lang="en-US" sz="1650" b="1" dirty="0">
                <a:solidFill>
                  <a:srgbClr val="11121A"/>
                </a:solidFill>
                <a:latin typeface="Palatino Linotype" pitchFamily="34" charset="0"/>
                <a:ea typeface="Palatino Linotype" pitchFamily="34" charset="-122"/>
                <a:cs typeface="Palatino Linotype" pitchFamily="34" charset="-120"/>
              </a:rPr>
              <a:t>Lucrați pe probleme reale: </a:t>
            </a:r>
            <a:pPr indent="0" marL="0">
              <a:buNone/>
            </a:pPr>
            <a:r>
              <a:rPr lang="en-US" sz="1650" dirty="0">
                <a:solidFill>
                  <a:srgbClr val="11121A"/>
                </a:solidFill>
                <a:latin typeface="Palatino Linotype" pitchFamily="34" charset="0"/>
                <a:ea typeface="Palatino Linotype" pitchFamily="34" charset="-122"/>
                <a:cs typeface="Palatino Linotype" pitchFamily="34" charset="-120"/>
              </a:rPr>
              <a:t>ridicatul de pe scaun, urcatul în autobuz.</a:t>
            </a:r>
            <a:endParaRPr lang="en-US" sz="1650" dirty="0"/>
          </a:p>
        </p:txBody>
      </p:sp>
      <p:sp>
        <p:nvSpPr>
          <p:cNvPr id="14" name="Shape 12"/>
          <p:cNvSpPr/>
          <p:nvPr/>
        </p:nvSpPr>
        <p:spPr>
          <a:xfrm>
            <a:off x="868680" y="4946904"/>
            <a:ext cx="457200" cy="457200"/>
          </a:xfrm>
          <a:prstGeom prst="ellipse">
            <a:avLst/>
          </a:prstGeom>
          <a:solidFill>
            <a:srgbClr val="0E7C6B"/>
          </a:solidFill>
          <a:ln/>
        </p:spPr>
        <p:txBody>
          <a:bodyPr/>
          <a:p/>
        </p:txBody>
      </p:sp>
      <p:sp>
        <p:nvSpPr>
          <p:cNvPr id="15" name="Text 13"/>
          <p:cNvSpPr/>
          <p:nvPr/>
        </p:nvSpPr>
        <p:spPr>
          <a:xfrm>
            <a:off x="868680" y="49469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16" name="Text 14"/>
          <p:cNvSpPr/>
          <p:nvPr/>
        </p:nvSpPr>
        <p:spPr>
          <a:xfrm>
            <a:off x="1554480" y="4764024"/>
            <a:ext cx="5852160" cy="914400"/>
          </a:xfrm>
          <a:prstGeom prst="rect">
            <a:avLst/>
          </a:prstGeom>
          <a:noFill/>
          <a:ln/>
        </p:spPr>
        <p:txBody>
          <a:bodyPr wrap="square" lIns="0" tIns="0" rIns="0" bIns="0" rtlCol="0" anchor="ctr"/>
          <a:lstStyle/>
          <a:p>
            <a:pPr indent="0" marL="0">
              <a:buNone/>
            </a:pPr>
            <a:r>
              <a:rPr lang="en-US" sz="1650" b="1" dirty="0">
                <a:solidFill>
                  <a:srgbClr val="11121A"/>
                </a:solidFill>
                <a:latin typeface="Palatino Linotype" pitchFamily="34" charset="0"/>
                <a:ea typeface="Palatino Linotype" pitchFamily="34" charset="-122"/>
                <a:cs typeface="Palatino Linotype" pitchFamily="34" charset="-120"/>
              </a:rPr>
              <a:t>Construiți planul împreună: </a:t>
            </a:r>
            <a:pPr indent="0" marL="0">
              <a:buNone/>
            </a:pPr>
            <a:r>
              <a:rPr lang="en-US" sz="1650" dirty="0">
                <a:solidFill>
                  <a:srgbClr val="11121A"/>
                </a:solidFill>
                <a:latin typeface="Palatino Linotype" pitchFamily="34" charset="0"/>
                <a:ea typeface="Palatino Linotype" pitchFamily="34" charset="-122"/>
                <a:cs typeface="Palatino Linotype" pitchFamily="34" charset="-120"/>
              </a:rPr>
              <a:t>persoana alege ora și locul.</a:t>
            </a:r>
            <a:endParaRPr lang="en-US" sz="1650" dirty="0"/>
          </a:p>
        </p:txBody>
      </p:sp>
      <p:sp>
        <p:nvSpPr>
          <p:cNvPr id="17" name="Shape 15"/>
          <p:cNvSpPr/>
          <p:nvPr/>
        </p:nvSpPr>
        <p:spPr>
          <a:xfrm>
            <a:off x="7818120" y="1645920"/>
            <a:ext cx="3749040" cy="4206240"/>
          </a:xfrm>
          <a:prstGeom prst="roundRect">
            <a:avLst>
              <a:gd name="adj" fmla="val 2195"/>
            </a:avLst>
          </a:prstGeom>
          <a:solidFill>
            <a:srgbClr val="11121A"/>
          </a:solidFill>
          <a:ln w="12700">
            <a:solidFill>
              <a:srgbClr val="11121A"/>
            </a:solidFill>
            <a:prstDash val="solid"/>
          </a:ln>
        </p:spPr>
        <p:txBody>
          <a:bodyPr/>
          <a:p/>
        </p:txBody>
      </p:sp>
      <p:sp>
        <p:nvSpPr>
          <p:cNvPr id="18" name="Text 16"/>
          <p:cNvSpPr/>
          <p:nvPr/>
        </p:nvSpPr>
        <p:spPr>
          <a:xfrm>
            <a:off x="8092440" y="1828800"/>
            <a:ext cx="3200400" cy="41148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Malcolm Knowles</a:t>
            </a:r>
            <a:endParaRPr lang="en-US" sz="1900" dirty="0"/>
          </a:p>
        </p:txBody>
      </p:sp>
      <p:sp>
        <p:nvSpPr>
          <p:cNvPr id="19" name="Text 17"/>
          <p:cNvSpPr/>
          <p:nvPr/>
        </p:nvSpPr>
        <p:spPr>
          <a:xfrm>
            <a:off x="8092440" y="2377440"/>
            <a:ext cx="3200400" cy="173736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Adulții se deosebesc de copii prin experiență, motivație, orientare și nevoia de a învăța.</a:t>
            </a:r>
            <a:endParaRPr lang="en-US" sz="1700" dirty="0"/>
          </a:p>
        </p:txBody>
      </p:sp>
      <p:sp>
        <p:nvSpPr>
          <p:cNvPr id="20" name="Text 18"/>
          <p:cNvSpPr/>
          <p:nvPr/>
        </p:nvSpPr>
        <p:spPr>
          <a:xfrm>
            <a:off x="8092440" y="4160520"/>
            <a:ext cx="3200400" cy="1554480"/>
          </a:xfrm>
          <a:prstGeom prst="rect">
            <a:avLst/>
          </a:prstGeom>
          <a:noFill/>
          <a:ln/>
        </p:spPr>
        <p:txBody>
          <a:bodyPr wrap="square" lIns="0" tIns="0" rIns="0" bIns="0" rtlCol="0" anchor="t"/>
          <a:lstStyle/>
          <a:p>
            <a:pPr indent="0" marL="0">
              <a:buNone/>
            </a:pPr>
            <a:r>
              <a:rPr lang="en-US" sz="1450" i="1" dirty="0">
                <a:solidFill>
                  <a:srgbClr val="D5D8E2"/>
                </a:solidFill>
                <a:latin typeface="Palatino Linotype" pitchFamily="34" charset="0"/>
                <a:ea typeface="Palatino Linotype" pitchFamily="34" charset="-122"/>
                <a:cs typeface="Palatino Linotype" pitchFamily="34" charset="-120"/>
              </a:rPr>
              <a:t>Termenul „andragogie” e criticat: unele principii se aplică și copiilor.</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PRINCIPII · LIMBAJUL CLAR</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Un text ușor de înțeles nu se scrie din instinct</a:t>
            </a:r>
            <a:endParaRPr lang="en-US" sz="2800" dirty="0"/>
          </a:p>
        </p:txBody>
      </p:sp>
      <p:sp>
        <p:nvSpPr>
          <p:cNvPr id="4" name="Text 2"/>
          <p:cNvSpPr/>
          <p:nvPr/>
        </p:nvSpPr>
        <p:spPr>
          <a:xfrm>
            <a:off x="594360" y="1645920"/>
            <a:ext cx="2194560" cy="1371600"/>
          </a:xfrm>
          <a:prstGeom prst="rect">
            <a:avLst/>
          </a:prstGeom>
          <a:noFill/>
          <a:ln/>
        </p:spPr>
        <p:txBody>
          <a:bodyPr wrap="square" lIns="0" tIns="0" rIns="0" bIns="0" rtlCol="0" anchor="ctr"/>
          <a:lstStyle/>
          <a:p>
            <a:pPr indent="0" marL="0">
              <a:buNone/>
            </a:pPr>
            <a:r>
              <a:rPr lang="en-US" sz="9000" b="1" dirty="0">
                <a:solidFill>
                  <a:srgbClr val="FF4757"/>
                </a:solidFill>
                <a:latin typeface="Palatino Linotype" pitchFamily="34" charset="0"/>
                <a:ea typeface="Palatino Linotype" pitchFamily="34" charset="-122"/>
                <a:cs typeface="Palatino Linotype" pitchFamily="34" charset="-120"/>
              </a:rPr>
              <a:t>20</a:t>
            </a:r>
            <a:endParaRPr lang="en-US" sz="9000" dirty="0"/>
          </a:p>
        </p:txBody>
      </p:sp>
      <p:sp>
        <p:nvSpPr>
          <p:cNvPr id="5" name="Text 3"/>
          <p:cNvSpPr/>
          <p:nvPr/>
        </p:nvSpPr>
        <p:spPr>
          <a:xfrm>
            <a:off x="2880360" y="1691640"/>
            <a:ext cx="3200400" cy="137160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criterii notate, plus 4 întrebări introductive: indicele de comunicare clară al CDC, pentru comunicarea publică.</a:t>
            </a:r>
            <a:endParaRPr lang="en-US" sz="1500" dirty="0"/>
          </a:p>
        </p:txBody>
      </p:sp>
      <p:sp>
        <p:nvSpPr>
          <p:cNvPr id="6" name="Shape 4"/>
          <p:cNvSpPr/>
          <p:nvPr/>
        </p:nvSpPr>
        <p:spPr>
          <a:xfrm>
            <a:off x="594360" y="3246120"/>
            <a:ext cx="5486400" cy="576072"/>
          </a:xfrm>
          <a:prstGeom prst="roundRect">
            <a:avLst>
              <a:gd name="adj" fmla="val 14286"/>
            </a:avLst>
          </a:prstGeom>
          <a:solidFill>
            <a:srgbClr val="1D1F2B"/>
          </a:solidFill>
          <a:ln w="12700">
            <a:solidFill>
              <a:srgbClr val="1D1F2B"/>
            </a:solidFill>
            <a:prstDash val="solid"/>
          </a:ln>
        </p:spPr>
        <p:txBody>
          <a:bodyPr/>
          <a:p/>
        </p:txBody>
      </p:sp>
      <p:sp>
        <p:nvSpPr>
          <p:cNvPr id="7" name="Text 5"/>
          <p:cNvSpPr/>
          <p:nvPr/>
        </p:nvSpPr>
        <p:spPr>
          <a:xfrm>
            <a:off x="822960" y="3246120"/>
            <a:ext cx="5120640" cy="576072"/>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Mesajul principal stă la început.</a:t>
            </a:r>
            <a:endParaRPr lang="en-US" sz="1600" dirty="0"/>
          </a:p>
        </p:txBody>
      </p:sp>
      <p:sp>
        <p:nvSpPr>
          <p:cNvPr id="8" name="Shape 6"/>
          <p:cNvSpPr/>
          <p:nvPr/>
        </p:nvSpPr>
        <p:spPr>
          <a:xfrm>
            <a:off x="594360" y="3931920"/>
            <a:ext cx="5486400" cy="576072"/>
          </a:xfrm>
          <a:prstGeom prst="roundRect">
            <a:avLst>
              <a:gd name="adj" fmla="val 14286"/>
            </a:avLst>
          </a:prstGeom>
          <a:solidFill>
            <a:srgbClr val="1D1F2B"/>
          </a:solidFill>
          <a:ln w="12700">
            <a:solidFill>
              <a:srgbClr val="1D1F2B"/>
            </a:solidFill>
            <a:prstDash val="solid"/>
          </a:ln>
        </p:spPr>
        <p:txBody>
          <a:bodyPr/>
          <a:p/>
        </p:txBody>
      </p:sp>
      <p:sp>
        <p:nvSpPr>
          <p:cNvPr id="9" name="Text 7"/>
          <p:cNvSpPr/>
          <p:nvPr/>
        </p:nvSpPr>
        <p:spPr>
          <a:xfrm>
            <a:off x="822960" y="3931920"/>
            <a:ext cx="5120640" cy="576072"/>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Acțiunile cerute sunt spuse exact.</a:t>
            </a:r>
            <a:endParaRPr lang="en-US" sz="1600" dirty="0"/>
          </a:p>
        </p:txBody>
      </p:sp>
      <p:sp>
        <p:nvSpPr>
          <p:cNvPr id="10" name="Shape 8"/>
          <p:cNvSpPr/>
          <p:nvPr/>
        </p:nvSpPr>
        <p:spPr>
          <a:xfrm>
            <a:off x="594360" y="4617720"/>
            <a:ext cx="5486400" cy="576072"/>
          </a:xfrm>
          <a:prstGeom prst="roundRect">
            <a:avLst>
              <a:gd name="adj" fmla="val 14286"/>
            </a:avLst>
          </a:prstGeom>
          <a:solidFill>
            <a:srgbClr val="1D1F2B"/>
          </a:solidFill>
          <a:ln w="12700">
            <a:solidFill>
              <a:srgbClr val="1D1F2B"/>
            </a:solidFill>
            <a:prstDash val="solid"/>
          </a:ln>
        </p:spPr>
        <p:txBody>
          <a:bodyPr/>
          <a:p/>
        </p:txBody>
      </p:sp>
      <p:sp>
        <p:nvSpPr>
          <p:cNvPr id="11" name="Text 9"/>
          <p:cNvSpPr/>
          <p:nvPr/>
        </p:nvSpPr>
        <p:spPr>
          <a:xfrm>
            <a:off x="822960" y="4617720"/>
            <a:ext cx="5120640" cy="576072"/>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Cifrele sunt explicate.</a:t>
            </a:r>
            <a:endParaRPr lang="en-US" sz="1600" dirty="0"/>
          </a:p>
        </p:txBody>
      </p:sp>
      <p:sp>
        <p:nvSpPr>
          <p:cNvPr id="12" name="Shape 10"/>
          <p:cNvSpPr/>
          <p:nvPr/>
        </p:nvSpPr>
        <p:spPr>
          <a:xfrm>
            <a:off x="594360" y="5303520"/>
            <a:ext cx="5486400" cy="576072"/>
          </a:xfrm>
          <a:prstGeom prst="roundRect">
            <a:avLst>
              <a:gd name="adj" fmla="val 14286"/>
            </a:avLst>
          </a:prstGeom>
          <a:solidFill>
            <a:srgbClr val="1D1F2B"/>
          </a:solidFill>
          <a:ln w="12700">
            <a:solidFill>
              <a:srgbClr val="1D1F2B"/>
            </a:solidFill>
            <a:prstDash val="solid"/>
          </a:ln>
        </p:spPr>
        <p:txBody>
          <a:bodyPr/>
          <a:p/>
        </p:txBody>
      </p:sp>
      <p:sp>
        <p:nvSpPr>
          <p:cNvPr id="13" name="Text 11"/>
          <p:cNvSpPr/>
          <p:nvPr/>
        </p:nvSpPr>
        <p:spPr>
          <a:xfrm>
            <a:off x="822960" y="5303520"/>
            <a:ext cx="5120640" cy="576072"/>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Imaginile ajută, nu decorează.</a:t>
            </a:r>
            <a:endParaRPr lang="en-US" sz="1600" dirty="0"/>
          </a:p>
        </p:txBody>
      </p:sp>
      <p:sp>
        <p:nvSpPr>
          <p:cNvPr id="14" name="Shape 12"/>
          <p:cNvSpPr/>
          <p:nvPr/>
        </p:nvSpPr>
        <p:spPr>
          <a:xfrm>
            <a:off x="6400800" y="1645920"/>
            <a:ext cx="5166360" cy="2148840"/>
          </a:xfrm>
          <a:prstGeom prst="roundRect">
            <a:avLst>
              <a:gd name="adj" fmla="val 3830"/>
            </a:avLst>
          </a:prstGeom>
          <a:solidFill>
            <a:srgbClr val="272A38"/>
          </a:solidFill>
          <a:ln w="12700">
            <a:solidFill>
              <a:srgbClr val="272A38"/>
            </a:solidFill>
            <a:prstDash val="solid"/>
          </a:ln>
        </p:spPr>
        <p:txBody>
          <a:bodyPr/>
          <a:p/>
        </p:txBody>
      </p:sp>
      <p:sp>
        <p:nvSpPr>
          <p:cNvPr id="15" name="Shape 13"/>
          <p:cNvSpPr/>
          <p:nvPr/>
        </p:nvSpPr>
        <p:spPr>
          <a:xfrm>
            <a:off x="6400800" y="1645920"/>
            <a:ext cx="82296" cy="2148840"/>
          </a:xfrm>
          <a:prstGeom prst="rect">
            <a:avLst/>
          </a:prstGeom>
          <a:solidFill>
            <a:srgbClr val="FF4757"/>
          </a:solidFill>
          <a:ln w="12700">
            <a:solidFill>
              <a:srgbClr val="FF4757"/>
            </a:solidFill>
            <a:prstDash val="solid"/>
          </a:ln>
        </p:spPr>
        <p:txBody>
          <a:bodyPr/>
          <a:p/>
        </p:txBody>
      </p:sp>
      <p:sp>
        <p:nvSpPr>
          <p:cNvPr id="16" name="Text 14"/>
          <p:cNvSpPr/>
          <p:nvPr/>
        </p:nvSpPr>
        <p:spPr>
          <a:xfrm>
            <a:off x="6675120" y="1737360"/>
            <a:ext cx="4754880" cy="365760"/>
          </a:xfrm>
          <a:prstGeom prst="rect">
            <a:avLst/>
          </a:prstGeom>
          <a:noFill/>
          <a:ln/>
        </p:spPr>
        <p:txBody>
          <a:bodyPr wrap="square" lIns="0" tIns="0" rIns="0" bIns="0" rtlCol="0" anchor="t"/>
          <a:lstStyle/>
          <a:p>
            <a:pPr indent="0" marL="0">
              <a:buNone/>
            </a:pPr>
            <a:r>
              <a:rPr lang="en-US" sz="1600" b="1" dirty="0">
                <a:solidFill>
                  <a:srgbClr val="FF4757"/>
                </a:solidFill>
                <a:latin typeface="Palatino Linotype" pitchFamily="34" charset="0"/>
                <a:ea typeface="Palatino Linotype" pitchFamily="34" charset="-122"/>
                <a:cs typeface="Palatino Linotype" pitchFamily="34" charset="-120"/>
              </a:rPr>
              <a:t>Prima dată</a:t>
            </a:r>
            <a:endParaRPr lang="en-US" sz="1600" dirty="0"/>
          </a:p>
        </p:txBody>
      </p:sp>
      <p:sp>
        <p:nvSpPr>
          <p:cNvPr id="17" name="Text 15"/>
          <p:cNvSpPr/>
          <p:nvPr/>
        </p:nvSpPr>
        <p:spPr>
          <a:xfrm>
            <a:off x="6675120" y="2194560"/>
            <a:ext cx="4754880" cy="146304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Opt pagini cu termeni medicali și niciun pas concret.</a:t>
            </a:r>
            <a:endParaRPr lang="en-US" sz="2000" dirty="0"/>
          </a:p>
        </p:txBody>
      </p:sp>
      <p:sp>
        <p:nvSpPr>
          <p:cNvPr id="18" name="Shape 16"/>
          <p:cNvSpPr/>
          <p:nvPr/>
        </p:nvSpPr>
        <p:spPr>
          <a:xfrm>
            <a:off x="6400800" y="3977640"/>
            <a:ext cx="5166360" cy="2148840"/>
          </a:xfrm>
          <a:prstGeom prst="roundRect">
            <a:avLst>
              <a:gd name="adj" fmla="val 3830"/>
            </a:avLst>
          </a:prstGeom>
          <a:solidFill>
            <a:srgbClr val="272A38"/>
          </a:solidFill>
          <a:ln w="12700">
            <a:solidFill>
              <a:srgbClr val="272A38"/>
            </a:solidFill>
            <a:prstDash val="solid"/>
          </a:ln>
        </p:spPr>
        <p:txBody>
          <a:bodyPr/>
          <a:p/>
        </p:txBody>
      </p:sp>
      <p:sp>
        <p:nvSpPr>
          <p:cNvPr id="19" name="Shape 17"/>
          <p:cNvSpPr/>
          <p:nvPr/>
        </p:nvSpPr>
        <p:spPr>
          <a:xfrm>
            <a:off x="6400800" y="3977640"/>
            <a:ext cx="82296" cy="2148840"/>
          </a:xfrm>
          <a:prstGeom prst="rect">
            <a:avLst/>
          </a:prstGeom>
          <a:solidFill>
            <a:srgbClr val="27D3BE"/>
          </a:solidFill>
          <a:ln w="12700">
            <a:solidFill>
              <a:srgbClr val="27D3BE"/>
            </a:solidFill>
            <a:prstDash val="solid"/>
          </a:ln>
        </p:spPr>
        <p:txBody>
          <a:bodyPr/>
          <a:p/>
        </p:txBody>
      </p:sp>
      <p:sp>
        <p:nvSpPr>
          <p:cNvPr id="20" name="Text 18"/>
          <p:cNvSpPr/>
          <p:nvPr/>
        </p:nvSpPr>
        <p:spPr>
          <a:xfrm>
            <a:off x="6675120" y="4069080"/>
            <a:ext cx="4754880" cy="36576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A doua oară</a:t>
            </a:r>
            <a:endParaRPr lang="en-US" sz="1600" dirty="0"/>
          </a:p>
        </p:txBody>
      </p:sp>
      <p:sp>
        <p:nvSpPr>
          <p:cNvPr id="21" name="Text 19"/>
          <p:cNvSpPr/>
          <p:nvPr/>
        </p:nvSpPr>
        <p:spPr>
          <a:xfrm>
            <a:off x="6675120" y="4526280"/>
            <a:ext cx="4754880" cy="1463040"/>
          </a:xfrm>
          <a:prstGeom prst="rect">
            <a:avLst/>
          </a:prstGeom>
          <a:noFill/>
          <a:ln/>
        </p:spPr>
        <p:txBody>
          <a:bodyPr wrap="square" lIns="0" tIns="0" rIns="0" bIns="0" rtlCol="0" anchor="t"/>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O propoziție, două exerciții și o țintă.</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PRINCIPII · NUMERELE-PRAG</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O cifră clară se reține mai ușor decât un îndemn</a:t>
            </a:r>
            <a:endParaRPr lang="en-US" sz="2800" dirty="0"/>
          </a:p>
        </p:txBody>
      </p:sp>
      <p:sp>
        <p:nvSpPr>
          <p:cNvPr id="4" name="Shape 2"/>
          <p:cNvSpPr/>
          <p:nvPr/>
        </p:nvSpPr>
        <p:spPr>
          <a:xfrm>
            <a:off x="594360" y="1691640"/>
            <a:ext cx="5120640" cy="2560320"/>
          </a:xfrm>
          <a:prstGeom prst="roundRect">
            <a:avLst>
              <a:gd name="adj" fmla="val 3214"/>
            </a:avLst>
          </a:prstGeom>
          <a:solidFill>
            <a:srgbClr val="11121A"/>
          </a:solidFill>
          <a:ln w="12700">
            <a:solidFill>
              <a:srgbClr val="11121A"/>
            </a:solidFill>
            <a:prstDash val="solid"/>
          </a:ln>
        </p:spPr>
        <p:txBody>
          <a:bodyPr/>
          <a:p/>
        </p:txBody>
      </p:sp>
      <p:sp>
        <p:nvSpPr>
          <p:cNvPr id="5" name="Text 3"/>
          <p:cNvSpPr/>
          <p:nvPr/>
        </p:nvSpPr>
        <p:spPr>
          <a:xfrm>
            <a:off x="822960" y="1783080"/>
            <a:ext cx="4663440" cy="1280160"/>
          </a:xfrm>
          <a:prstGeom prst="rect">
            <a:avLst/>
          </a:prstGeom>
          <a:noFill/>
          <a:ln/>
        </p:spPr>
        <p:txBody>
          <a:bodyPr wrap="square" lIns="0" tIns="0" rIns="0" bIns="0" rtlCol="0" anchor="ctr"/>
          <a:lstStyle/>
          <a:p>
            <a:pPr indent="0" marL="0">
              <a:buNone/>
            </a:pPr>
            <a:r>
              <a:rPr lang="en-US" sz="6600" b="1" dirty="0">
                <a:solidFill>
                  <a:srgbClr val="27D3BE"/>
                </a:solidFill>
                <a:latin typeface="Palatino Linotype" pitchFamily="34" charset="0"/>
                <a:ea typeface="Palatino Linotype" pitchFamily="34" charset="-122"/>
                <a:cs typeface="Palatino Linotype" pitchFamily="34" charset="-120"/>
              </a:rPr>
              <a:t>150–300</a:t>
            </a:r>
            <a:endParaRPr lang="en-US" sz="6600" dirty="0"/>
          </a:p>
        </p:txBody>
      </p:sp>
      <p:sp>
        <p:nvSpPr>
          <p:cNvPr id="6" name="Text 4"/>
          <p:cNvSpPr/>
          <p:nvPr/>
        </p:nvSpPr>
        <p:spPr>
          <a:xfrm>
            <a:off x="822960" y="3108960"/>
            <a:ext cx="4663440" cy="10058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de minute de activitate aerobă moderată pe săptămână, pentru adulți (OMS)</a:t>
            </a:r>
            <a:endParaRPr lang="en-US" sz="1700" dirty="0"/>
          </a:p>
        </p:txBody>
      </p:sp>
      <p:sp>
        <p:nvSpPr>
          <p:cNvPr id="7" name="Text 5"/>
          <p:cNvSpPr/>
          <p:nvPr/>
        </p:nvSpPr>
        <p:spPr>
          <a:xfrm>
            <a:off x="594360" y="4389120"/>
            <a:ext cx="5120640" cy="731520"/>
          </a:xfrm>
          <a:prstGeom prst="rect">
            <a:avLst/>
          </a:prstGeom>
          <a:noFill/>
          <a:ln/>
        </p:spPr>
        <p:txBody>
          <a:bodyPr wrap="square" lIns="0" tIns="0" rIns="0" bIns="0" rtlCol="0" anchor="t"/>
          <a:lstStyle/>
          <a:p>
            <a:pPr indent="0" marL="0">
              <a:buNone/>
            </a:pPr>
            <a:r>
              <a:rPr lang="en-US" sz="1600" i="1" dirty="0">
                <a:solidFill>
                  <a:srgbClr val="585A64"/>
                </a:solidFill>
                <a:latin typeface="Palatino Linotype" pitchFamily="34" charset="0"/>
                <a:ea typeface="Palatino Linotype" pitchFamily="34" charset="-122"/>
                <a:cs typeface="Palatino Linotype" pitchFamily="34" charset="-120"/>
              </a:rPr>
              <a:t>sau 75–150 de minute de activitate intensă</a:t>
            </a:r>
            <a:endParaRPr lang="en-US" sz="1600" dirty="0"/>
          </a:p>
        </p:txBody>
      </p:sp>
      <p:sp>
        <p:nvSpPr>
          <p:cNvPr id="8" name="Shape 6"/>
          <p:cNvSpPr/>
          <p:nvPr/>
        </p:nvSpPr>
        <p:spPr>
          <a:xfrm>
            <a:off x="5897880" y="2788920"/>
            <a:ext cx="640080" cy="329184"/>
          </a:xfrm>
          <a:prstGeom prst="rightArrow">
            <a:avLst/>
          </a:prstGeom>
          <a:solidFill>
            <a:srgbClr val="B02532"/>
          </a:solidFill>
          <a:ln w="12700">
            <a:solidFill>
              <a:srgbClr val="B02532"/>
            </a:solidFill>
            <a:prstDash val="solid"/>
          </a:ln>
        </p:spPr>
        <p:txBody>
          <a:bodyPr/>
          <a:p/>
        </p:txBody>
      </p:sp>
      <p:sp>
        <p:nvSpPr>
          <p:cNvPr id="9" name="Shape 7"/>
          <p:cNvSpPr/>
          <p:nvPr/>
        </p:nvSpPr>
        <p:spPr>
          <a:xfrm>
            <a:off x="6720840" y="1691640"/>
            <a:ext cx="4846320" cy="2560320"/>
          </a:xfrm>
          <a:prstGeom prst="roundRect">
            <a:avLst>
              <a:gd name="adj" fmla="val 3214"/>
            </a:avLst>
          </a:prstGeom>
          <a:solidFill>
            <a:srgbClr val="B02532"/>
          </a:solidFill>
          <a:ln w="12700">
            <a:solidFill>
              <a:srgbClr val="B02532"/>
            </a:solidFill>
            <a:prstDash val="solid"/>
          </a:ln>
        </p:spPr>
        <p:txBody>
          <a:bodyPr/>
          <a:p/>
        </p:txBody>
      </p:sp>
      <p:sp>
        <p:nvSpPr>
          <p:cNvPr id="10" name="Text 8"/>
          <p:cNvSpPr/>
          <p:nvPr/>
        </p:nvSpPr>
        <p:spPr>
          <a:xfrm>
            <a:off x="6995160" y="1828800"/>
            <a:ext cx="4389120" cy="41148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Pentru pacient:</a:t>
            </a:r>
            <a:endParaRPr lang="en-US" sz="1600" dirty="0"/>
          </a:p>
        </p:txBody>
      </p:sp>
      <p:sp>
        <p:nvSpPr>
          <p:cNvPr id="11" name="Text 9"/>
          <p:cNvSpPr/>
          <p:nvPr/>
        </p:nvSpPr>
        <p:spPr>
          <a:xfrm>
            <a:off x="6995160" y="2331720"/>
            <a:ext cx="4389120" cy="1737360"/>
          </a:xfrm>
          <a:prstGeom prst="rect">
            <a:avLst/>
          </a:prstGeom>
          <a:noFill/>
          <a:ln/>
        </p:spPr>
        <p:txBody>
          <a:bodyPr wrap="square" lIns="0" tIns="0" rIns="0" bIns="0" rtlCol="0" anchor="t"/>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„o jumătate de oră de mers, cinci zile pe săptămână”</a:t>
            </a:r>
            <a:endParaRPr lang="en-US" sz="2500" dirty="0"/>
          </a:p>
        </p:txBody>
      </p:sp>
      <p:sp>
        <p:nvSpPr>
          <p:cNvPr id="12" name="Shape 10"/>
          <p:cNvSpPr/>
          <p:nvPr/>
        </p:nvSpPr>
        <p:spPr>
          <a:xfrm>
            <a:off x="594360" y="5029200"/>
            <a:ext cx="10972800" cy="914400"/>
          </a:xfrm>
          <a:prstGeom prst="roundRect">
            <a:avLst>
              <a:gd name="adj" fmla="val 9000"/>
            </a:avLst>
          </a:prstGeom>
          <a:solidFill>
            <a:srgbClr val="ECEAE4"/>
          </a:solidFill>
          <a:ln w="12700">
            <a:solidFill>
              <a:srgbClr val="ECEAE4"/>
            </a:solidFill>
            <a:prstDash val="solid"/>
          </a:ln>
        </p:spPr>
        <p:txBody>
          <a:bodyPr/>
          <a:p/>
        </p:txBody>
      </p:sp>
      <p:sp>
        <p:nvSpPr>
          <p:cNvPr id="13" name="Text 11"/>
          <p:cNvSpPr/>
          <p:nvPr/>
        </p:nvSpPr>
        <p:spPr>
          <a:xfrm>
            <a:off x="868680" y="5029200"/>
            <a:ext cx="10424160" cy="9144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Pragul de durere acceptabilă („cel mult trei din zece”) sau numărul de repetări sunt tot numere-prag, dar le stabilește pentru fiecare pacient echipa care îl tratează.</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ECHITATEA</a:t>
            </a:r>
            <a:endParaRPr lang="en-US" sz="1300" dirty="0"/>
          </a:p>
        </p:txBody>
      </p:sp>
      <p:sp>
        <p:nvSpPr>
          <p:cNvPr id="3" name="Text 1"/>
          <p:cNvSpPr/>
          <p:nvPr/>
        </p:nvSpPr>
        <p:spPr>
          <a:xfrm>
            <a:off x="594360" y="868680"/>
            <a:ext cx="6400800" cy="1280160"/>
          </a:xfrm>
          <a:prstGeom prst="rect">
            <a:avLst/>
          </a:prstGeom>
          <a:noFill/>
          <a:ln/>
        </p:spPr>
        <p:txBody>
          <a:bodyPr wrap="square" lIns="0" tIns="0" rIns="0" bIns="0" rtlCol="0" anchor="ctr"/>
          <a:lstStyle/>
          <a:p>
            <a:pPr indent="0" marL="0">
              <a:buNone/>
            </a:pPr>
            <a:r>
              <a:rPr lang="en-US" sz="6400" b="1" dirty="0">
                <a:solidFill>
                  <a:srgbClr val="FF4757"/>
                </a:solidFill>
                <a:latin typeface="Palatino Linotype" pitchFamily="34" charset="0"/>
                <a:ea typeface="Palatino Linotype" pitchFamily="34" charset="-122"/>
                <a:cs typeface="Palatino Linotype" pitchFamily="34" charset="-120"/>
              </a:rPr>
              <a:t>1,3 miliarde</a:t>
            </a:r>
            <a:endParaRPr lang="en-US" sz="6400" dirty="0"/>
          </a:p>
        </p:txBody>
      </p:sp>
      <p:sp>
        <p:nvSpPr>
          <p:cNvPr id="4" name="Text 2"/>
          <p:cNvSpPr/>
          <p:nvPr/>
        </p:nvSpPr>
        <p:spPr>
          <a:xfrm>
            <a:off x="594360" y="2194560"/>
            <a:ext cx="5760720" cy="118872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de oameni trăiesc cu o dizabilitate semnificativă: 16% din populația lumii, unul din șase.</a:t>
            </a:r>
            <a:endParaRPr lang="en-US" sz="1900" dirty="0"/>
          </a:p>
        </p:txBody>
      </p:sp>
      <p:sp>
        <p:nvSpPr>
          <p:cNvPr id="5" name="Shape 3"/>
          <p:cNvSpPr/>
          <p:nvPr/>
        </p:nvSpPr>
        <p:spPr>
          <a:xfrm>
            <a:off x="6675120" y="914400"/>
            <a:ext cx="4892040" cy="2514600"/>
          </a:xfrm>
          <a:prstGeom prst="roundRect">
            <a:avLst>
              <a:gd name="adj" fmla="val 3273"/>
            </a:avLst>
          </a:prstGeom>
          <a:solidFill>
            <a:srgbClr val="1D1F2B"/>
          </a:solidFill>
          <a:ln w="12700">
            <a:solidFill>
              <a:srgbClr val="1D1F2B"/>
            </a:solidFill>
            <a:prstDash val="solid"/>
          </a:ln>
        </p:spPr>
        <p:txBody>
          <a:bodyPr/>
          <a:p/>
        </p:txBody>
      </p:sp>
      <p:sp>
        <p:nvSpPr>
          <p:cNvPr id="6" name="Text 4"/>
          <p:cNvSpPr/>
          <p:nvPr/>
        </p:nvSpPr>
        <p:spPr>
          <a:xfrm>
            <a:off x="6903720" y="1024128"/>
            <a:ext cx="4480560" cy="41148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Un material bun înseamnă</a:t>
            </a:r>
            <a:endParaRPr lang="en-US" sz="1700" dirty="0"/>
          </a:p>
        </p:txBody>
      </p:sp>
      <p:sp>
        <p:nvSpPr>
          <p:cNvPr id="7" name="Text 5"/>
          <p:cNvSpPr/>
          <p:nvPr/>
        </p:nvSpPr>
        <p:spPr>
          <a:xfrm>
            <a:off x="6903720" y="1508760"/>
            <a:ext cx="4480560" cy="182880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FFFFFF"/>
                </a:solidFill>
                <a:latin typeface="Palatino Linotype" pitchFamily="34" charset="0"/>
                <a:ea typeface="Palatino Linotype" pitchFamily="34" charset="-122"/>
                <a:cs typeface="Palatino Linotype" pitchFamily="34" charset="-120"/>
              </a:rPr>
              <a:t>litere mari, contrast puternic</a:t>
            </a:r>
            <a:endParaRPr lang="en-US" sz="1600" dirty="0"/>
          </a:p>
          <a:p>
            <a:pPr marL="342900" indent="-342900">
              <a:spcAft>
                <a:spcPts val="400"/>
              </a:spcAft>
              <a:buSzPct val="100000"/>
              <a:buChar char="•"/>
            </a:pPr>
            <a:r>
              <a:rPr lang="en-US" sz="1600" dirty="0">
                <a:solidFill>
                  <a:srgbClr val="FFFFFF"/>
                </a:solidFill>
                <a:latin typeface="Palatino Linotype" pitchFamily="34" charset="0"/>
                <a:ea typeface="Palatino Linotype" pitchFamily="34" charset="-122"/>
                <a:cs typeface="Palatino Linotype" pitchFamily="34" charset="-120"/>
              </a:rPr>
              <a:t>subtitrări la clipuri</a:t>
            </a:r>
            <a:endParaRPr lang="en-US" sz="1600" dirty="0"/>
          </a:p>
          <a:p>
            <a:pPr marL="342900" indent="-342900">
              <a:spcAft>
                <a:spcPts val="400"/>
              </a:spcAft>
              <a:buSzPct val="100000"/>
              <a:buChar char="•"/>
            </a:pPr>
            <a:r>
              <a:rPr lang="en-US" sz="1600" dirty="0">
                <a:solidFill>
                  <a:srgbClr val="FFFFFF"/>
                </a:solidFill>
                <a:latin typeface="Palatino Linotype" pitchFamily="34" charset="0"/>
                <a:ea typeface="Palatino Linotype" pitchFamily="34" charset="-122"/>
                <a:cs typeface="Palatino Linotype" pitchFamily="34" charset="-120"/>
              </a:rPr>
              <a:t>o sală accesibilă cu cadru de mers</a:t>
            </a:r>
            <a:endParaRPr lang="en-US" sz="1600" dirty="0"/>
          </a:p>
          <a:p>
            <a:pPr marL="342900" indent="-342900">
              <a:spcAft>
                <a:spcPts val="400"/>
              </a:spcAft>
              <a:buSzPct val="100000"/>
              <a:buChar char="•"/>
            </a:pPr>
            <a:r>
              <a:rPr lang="en-US" sz="1600" dirty="0">
                <a:solidFill>
                  <a:srgbClr val="FFFFFF"/>
                </a:solidFill>
                <a:latin typeface="Palatino Linotype" pitchFamily="34" charset="0"/>
                <a:ea typeface="Palatino Linotype" pitchFamily="34" charset="-122"/>
                <a:cs typeface="Palatino Linotype" pitchFamily="34" charset="-120"/>
              </a:rPr>
              <a:t>explicații adaptate</a:t>
            </a:r>
            <a:endParaRPr lang="en-US" sz="1600" dirty="0"/>
          </a:p>
        </p:txBody>
      </p:sp>
      <p:sp>
        <p:nvSpPr>
          <p:cNvPr id="8" name="Shape 6"/>
          <p:cNvSpPr/>
          <p:nvPr/>
        </p:nvSpPr>
        <p:spPr>
          <a:xfrm>
            <a:off x="594360" y="3611880"/>
            <a:ext cx="10972800" cy="1280160"/>
          </a:xfrm>
          <a:prstGeom prst="roundRect">
            <a:avLst>
              <a:gd name="adj" fmla="val 6429"/>
            </a:avLst>
          </a:prstGeom>
          <a:solidFill>
            <a:srgbClr val="272A38"/>
          </a:solidFill>
          <a:ln w="12700">
            <a:solidFill>
              <a:srgbClr val="272A38"/>
            </a:solidFill>
            <a:prstDash val="solid"/>
          </a:ln>
        </p:spPr>
        <p:txBody>
          <a:bodyPr/>
          <a:p/>
        </p:txBody>
      </p:sp>
      <p:sp>
        <p:nvSpPr>
          <p:cNvPr id="9" name="Text 7"/>
          <p:cNvSpPr/>
          <p:nvPr/>
        </p:nvSpPr>
        <p:spPr>
          <a:xfrm>
            <a:off x="868680" y="3611880"/>
            <a:ext cx="10424160" cy="1280160"/>
          </a:xfrm>
          <a:prstGeom prst="rect">
            <a:avLst/>
          </a:prstGeom>
          <a:noFill/>
          <a:ln/>
        </p:spPr>
        <p:txBody>
          <a:bodyPr wrap="square" lIns="0" tIns="0" rIns="0" bIns="0" rtlCol="0" anchor="ctr"/>
          <a:lstStyle/>
          <a:p>
            <a:pPr indent="0" marL="0">
              <a:buNone/>
            </a:pPr>
            <a:r>
              <a:rPr lang="en-US" sz="1650" b="1" dirty="0">
                <a:solidFill>
                  <a:srgbClr val="FFFFFF"/>
                </a:solidFill>
                <a:latin typeface="Palatino Linotype" pitchFamily="34" charset="0"/>
                <a:ea typeface="Palatino Linotype" pitchFamily="34" charset="-122"/>
                <a:cs typeface="Palatino Linotype" pitchFamily="34" charset="-120"/>
              </a:rPr>
              <a:t>Pentru cine vorbește altă limbă: interpret profesionist, nu un membru al familiei, care traduce incomplet, pierde confidențialitatea și poate filtra.</a:t>
            </a:r>
            <a:endParaRPr lang="en-US" sz="1650" dirty="0"/>
          </a:p>
        </p:txBody>
      </p:sp>
      <p:sp>
        <p:nvSpPr>
          <p:cNvPr id="10" name="Shape 8"/>
          <p:cNvSpPr/>
          <p:nvPr/>
        </p:nvSpPr>
        <p:spPr>
          <a:xfrm>
            <a:off x="594360" y="5029200"/>
            <a:ext cx="10972800" cy="1005840"/>
          </a:xfrm>
          <a:prstGeom prst="roundRect">
            <a:avLst>
              <a:gd name="adj" fmla="val 8182"/>
            </a:avLst>
          </a:prstGeom>
          <a:solidFill>
            <a:srgbClr val="1D1F2B"/>
          </a:solidFill>
          <a:ln w="12700">
            <a:solidFill>
              <a:srgbClr val="1D1F2B"/>
            </a:solidFill>
            <a:prstDash val="solid"/>
          </a:ln>
        </p:spPr>
        <p:txBody>
          <a:bodyPr/>
          <a:p/>
        </p:txBody>
      </p:sp>
      <p:sp>
        <p:nvSpPr>
          <p:cNvPr id="11" name="Text 9"/>
          <p:cNvSpPr/>
          <p:nvPr/>
        </p:nvSpPr>
        <p:spPr>
          <a:xfrm>
            <a:off x="868680" y="5029200"/>
            <a:ext cx="10424160" cy="100584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Adaptarea culturală nu înseamnă doar traducere: exemple din viața oamenilor, orare potrivite, materiale testate înainte de tipărire.</a:t>
            </a:r>
            <a:endParaRPr lang="en-US" sz="1600" dirty="0"/>
          </a:p>
        </p:txBody>
      </p:sp>
      <p:sp>
        <p:nvSpPr>
          <p:cNvPr id="12" name="Text 10"/>
          <p:cNvSpPr/>
          <p:nvPr/>
        </p:nvSpPr>
        <p:spPr>
          <a:xfrm>
            <a:off x="594360" y="6172200"/>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OMS, fișa „Disability”, 2023.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SALĂ</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ABORDĂRILE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Cui vă adresați</a:t>
            </a:r>
            <a:endParaRPr lang="en-US" sz="3200" dirty="0"/>
          </a:p>
        </p:txBody>
      </p:sp>
      <p:sp>
        <p:nvSpPr>
          <p:cNvPr id="6" name="Shape 4"/>
          <p:cNvSpPr/>
          <p:nvPr/>
        </p:nvSpPr>
        <p:spPr>
          <a:xfrm>
            <a:off x="594360" y="1691640"/>
            <a:ext cx="2619756" cy="2697480"/>
          </a:xfrm>
          <a:prstGeom prst="roundRect">
            <a:avLst>
              <a:gd name="adj" fmla="val 3141"/>
            </a:avLst>
          </a:prstGeom>
          <a:solidFill>
            <a:srgbClr val="ECEAE4"/>
          </a:solidFill>
          <a:ln w="12700">
            <a:solidFill>
              <a:srgbClr val="ECEAE4"/>
            </a:solidFill>
            <a:prstDash val="solid"/>
          </a:ln>
        </p:spPr>
        <p:txBody>
          <a:bodyPr/>
          <a:p/>
        </p:txBody>
      </p:sp>
      <p:sp>
        <p:nvSpPr>
          <p:cNvPr id="7" name="Shape 5"/>
          <p:cNvSpPr/>
          <p:nvPr/>
        </p:nvSpPr>
        <p:spPr>
          <a:xfrm>
            <a:off x="594360" y="1691640"/>
            <a:ext cx="2619756" cy="73152"/>
          </a:xfrm>
          <a:prstGeom prst="rect">
            <a:avLst/>
          </a:prstGeom>
          <a:solidFill>
            <a:srgbClr val="0E7C6B"/>
          </a:solidFill>
          <a:ln w="12700">
            <a:solidFill>
              <a:srgbClr val="0E7C6B"/>
            </a:solidFill>
            <a:prstDash val="solid"/>
          </a:ln>
        </p:spPr>
        <p:txBody>
          <a:bodyPr/>
          <a:p/>
        </p:txBody>
      </p:sp>
      <p:sp>
        <p:nvSpPr>
          <p:cNvPr id="8" name="Text 6"/>
          <p:cNvSpPr/>
          <p:nvPr/>
        </p:nvSpPr>
        <p:spPr>
          <a:xfrm>
            <a:off x="795528" y="1920240"/>
            <a:ext cx="2217420" cy="914400"/>
          </a:xfrm>
          <a:prstGeom prst="rect">
            <a:avLst/>
          </a:prstGeom>
          <a:noFill/>
          <a:ln/>
        </p:spPr>
        <p:txBody>
          <a:bodyPr wrap="square" lIns="0" tIns="0" rIns="0" bIns="0" rtlCol="0" anchor="t"/>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Individuală</a:t>
            </a:r>
            <a:endParaRPr lang="en-US" sz="2200" dirty="0"/>
          </a:p>
        </p:txBody>
      </p:sp>
      <p:sp>
        <p:nvSpPr>
          <p:cNvPr id="9" name="Text 7"/>
          <p:cNvSpPr/>
          <p:nvPr/>
        </p:nvSpPr>
        <p:spPr>
          <a:xfrm>
            <a:off x="795528" y="2926080"/>
            <a:ext cx="2217420" cy="13258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Adaptare la persoană, demonstrație, corectare pe loc; la început și când piedicile sunt mari.</a:t>
            </a:r>
            <a:endParaRPr lang="en-US" sz="1500" dirty="0"/>
          </a:p>
        </p:txBody>
      </p:sp>
      <p:sp>
        <p:nvSpPr>
          <p:cNvPr id="10" name="Shape 8"/>
          <p:cNvSpPr/>
          <p:nvPr/>
        </p:nvSpPr>
        <p:spPr>
          <a:xfrm>
            <a:off x="3378708" y="1691640"/>
            <a:ext cx="2619756" cy="2697480"/>
          </a:xfrm>
          <a:prstGeom prst="roundRect">
            <a:avLst>
              <a:gd name="adj" fmla="val 3141"/>
            </a:avLst>
          </a:prstGeom>
          <a:solidFill>
            <a:srgbClr val="F9F8F5"/>
          </a:solidFill>
          <a:ln w="12700">
            <a:solidFill>
              <a:srgbClr val="F9F8F5"/>
            </a:solidFill>
            <a:prstDash val="solid"/>
          </a:ln>
        </p:spPr>
        <p:txBody>
          <a:bodyPr/>
          <a:p/>
        </p:txBody>
      </p:sp>
      <p:sp>
        <p:nvSpPr>
          <p:cNvPr id="11" name="Shape 9"/>
          <p:cNvSpPr/>
          <p:nvPr/>
        </p:nvSpPr>
        <p:spPr>
          <a:xfrm>
            <a:off x="3378708" y="1691640"/>
            <a:ext cx="2619756" cy="73152"/>
          </a:xfrm>
          <a:prstGeom prst="rect">
            <a:avLst/>
          </a:prstGeom>
          <a:solidFill>
            <a:srgbClr val="4A2D8C"/>
          </a:solidFill>
          <a:ln w="12700">
            <a:solidFill>
              <a:srgbClr val="4A2D8C"/>
            </a:solidFill>
            <a:prstDash val="solid"/>
          </a:ln>
        </p:spPr>
        <p:txBody>
          <a:bodyPr/>
          <a:p/>
        </p:txBody>
      </p:sp>
      <p:sp>
        <p:nvSpPr>
          <p:cNvPr id="12" name="Text 10"/>
          <p:cNvSpPr/>
          <p:nvPr/>
        </p:nvSpPr>
        <p:spPr>
          <a:xfrm>
            <a:off x="3579876" y="1920240"/>
            <a:ext cx="2217420" cy="914400"/>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De grup</a:t>
            </a:r>
            <a:endParaRPr lang="en-US" sz="2200" dirty="0"/>
          </a:p>
        </p:txBody>
      </p:sp>
      <p:sp>
        <p:nvSpPr>
          <p:cNvPr id="13" name="Text 11"/>
          <p:cNvSpPr/>
          <p:nvPr/>
        </p:nvSpPr>
        <p:spPr>
          <a:xfrm>
            <a:off x="3579876" y="2926080"/>
            <a:ext cx="2217420" cy="13258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Învățare de la ceilalți („dacă poate el, pot și eu”), cost mai mic pe persoană.</a:t>
            </a:r>
            <a:endParaRPr lang="en-US" sz="1500" dirty="0"/>
          </a:p>
        </p:txBody>
      </p:sp>
      <p:sp>
        <p:nvSpPr>
          <p:cNvPr id="14" name="Shape 12"/>
          <p:cNvSpPr/>
          <p:nvPr/>
        </p:nvSpPr>
        <p:spPr>
          <a:xfrm>
            <a:off x="6163056" y="1691640"/>
            <a:ext cx="2619756" cy="2697480"/>
          </a:xfrm>
          <a:prstGeom prst="roundRect">
            <a:avLst>
              <a:gd name="adj" fmla="val 3141"/>
            </a:avLst>
          </a:prstGeom>
          <a:solidFill>
            <a:srgbClr val="ECEAE4"/>
          </a:solidFill>
          <a:ln w="12700">
            <a:solidFill>
              <a:srgbClr val="ECEAE4"/>
            </a:solidFill>
            <a:prstDash val="solid"/>
          </a:ln>
        </p:spPr>
        <p:txBody>
          <a:bodyPr/>
          <a:p/>
        </p:txBody>
      </p:sp>
      <p:sp>
        <p:nvSpPr>
          <p:cNvPr id="15" name="Shape 13"/>
          <p:cNvSpPr/>
          <p:nvPr/>
        </p:nvSpPr>
        <p:spPr>
          <a:xfrm>
            <a:off x="6163056" y="1691640"/>
            <a:ext cx="2619756" cy="73152"/>
          </a:xfrm>
          <a:prstGeom prst="rect">
            <a:avLst/>
          </a:prstGeom>
          <a:solidFill>
            <a:srgbClr val="B02532"/>
          </a:solidFill>
          <a:ln w="12700">
            <a:solidFill>
              <a:srgbClr val="B02532"/>
            </a:solidFill>
            <a:prstDash val="solid"/>
          </a:ln>
        </p:spPr>
        <p:txBody>
          <a:bodyPr/>
          <a:p/>
        </p:txBody>
      </p:sp>
      <p:sp>
        <p:nvSpPr>
          <p:cNvPr id="16" name="Text 14"/>
          <p:cNvSpPr/>
          <p:nvPr/>
        </p:nvSpPr>
        <p:spPr>
          <a:xfrm>
            <a:off x="6364224" y="1920240"/>
            <a:ext cx="2217420" cy="914400"/>
          </a:xfrm>
          <a:prstGeom prst="rect">
            <a:avLst/>
          </a:prstGeom>
          <a:noFill/>
          <a:ln/>
        </p:spPr>
        <p:txBody>
          <a:bodyPr wrap="square" lIns="0" tIns="0" rIns="0" bIns="0" rtlCol="0" anchor="t"/>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Populațională</a:t>
            </a:r>
            <a:endParaRPr lang="en-US" sz="2200" dirty="0"/>
          </a:p>
        </p:txBody>
      </p:sp>
      <p:sp>
        <p:nvSpPr>
          <p:cNvPr id="17" name="Text 15"/>
          <p:cNvSpPr/>
          <p:nvPr/>
        </p:nvSpPr>
        <p:spPr>
          <a:xfrm>
            <a:off x="6364224" y="2926080"/>
            <a:ext cx="2217420" cy="13258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Același mesaj pentru toată lumea, într-un mediu care face alegerea sănătoasă mai ușoară.</a:t>
            </a:r>
            <a:endParaRPr lang="en-US" sz="1500" dirty="0"/>
          </a:p>
        </p:txBody>
      </p:sp>
      <p:sp>
        <p:nvSpPr>
          <p:cNvPr id="18" name="Shape 16"/>
          <p:cNvSpPr/>
          <p:nvPr/>
        </p:nvSpPr>
        <p:spPr>
          <a:xfrm>
            <a:off x="8947404" y="1691640"/>
            <a:ext cx="2619756" cy="2697480"/>
          </a:xfrm>
          <a:prstGeom prst="roundRect">
            <a:avLst>
              <a:gd name="adj" fmla="val 3141"/>
            </a:avLst>
          </a:prstGeom>
          <a:solidFill>
            <a:srgbClr val="F9F8F5"/>
          </a:solidFill>
          <a:ln w="12700">
            <a:solidFill>
              <a:srgbClr val="F9F8F5"/>
            </a:solidFill>
            <a:prstDash val="solid"/>
          </a:ln>
        </p:spPr>
        <p:txBody>
          <a:bodyPr/>
          <a:p/>
        </p:txBody>
      </p:sp>
      <p:sp>
        <p:nvSpPr>
          <p:cNvPr id="19" name="Shape 17"/>
          <p:cNvSpPr/>
          <p:nvPr/>
        </p:nvSpPr>
        <p:spPr>
          <a:xfrm>
            <a:off x="8947404" y="1691640"/>
            <a:ext cx="2619756" cy="73152"/>
          </a:xfrm>
          <a:prstGeom prst="rect">
            <a:avLst/>
          </a:prstGeom>
          <a:solidFill>
            <a:srgbClr val="9C4A0A"/>
          </a:solidFill>
          <a:ln w="12700">
            <a:solidFill>
              <a:srgbClr val="9C4A0A"/>
            </a:solidFill>
            <a:prstDash val="solid"/>
          </a:ln>
        </p:spPr>
        <p:txBody>
          <a:bodyPr/>
          <a:p/>
        </p:txBody>
      </p:sp>
      <p:sp>
        <p:nvSpPr>
          <p:cNvPr id="20" name="Text 18"/>
          <p:cNvSpPr/>
          <p:nvPr/>
        </p:nvSpPr>
        <p:spPr>
          <a:xfrm>
            <a:off x="9148572" y="1920240"/>
            <a:ext cx="2217420" cy="914400"/>
          </a:xfrm>
          <a:prstGeom prst="rect">
            <a:avLst/>
          </a:prstGeom>
          <a:noFill/>
          <a:ln/>
        </p:spPr>
        <p:txBody>
          <a:bodyPr wrap="square" lIns="0" tIns="0" rIns="0" bIns="0" rtlCol="0" anchor="t"/>
          <a:lstStyle/>
          <a:p>
            <a:pPr indent="0" marL="0">
              <a:buNone/>
            </a:pPr>
            <a:r>
              <a:rPr lang="en-US" sz="2200" b="1" dirty="0">
                <a:solidFill>
                  <a:srgbClr val="9C4A0A"/>
                </a:solidFill>
                <a:latin typeface="Palatino Linotype" pitchFamily="34" charset="0"/>
                <a:ea typeface="Palatino Linotype" pitchFamily="34" charset="-122"/>
                <a:cs typeface="Palatino Linotype" pitchFamily="34" charset="-120"/>
              </a:rPr>
              <a:t>Comunitară</a:t>
            </a:r>
            <a:endParaRPr lang="en-US" sz="2200" dirty="0"/>
          </a:p>
        </p:txBody>
      </p:sp>
      <p:sp>
        <p:nvSpPr>
          <p:cNvPr id="21" name="Text 19"/>
          <p:cNvSpPr/>
          <p:nvPr/>
        </p:nvSpPr>
        <p:spPr>
          <a:xfrm>
            <a:off x="9148572" y="2926080"/>
            <a:ext cx="2217420" cy="13258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Educația în locuri cunoscute: școala, locul de muncă, cartierul, căminul cultural.</a:t>
            </a:r>
            <a:endParaRPr lang="en-US" sz="1500" dirty="0"/>
          </a:p>
        </p:txBody>
      </p:sp>
      <p:sp>
        <p:nvSpPr>
          <p:cNvPr id="22" name="Shape 20"/>
          <p:cNvSpPr/>
          <p:nvPr/>
        </p:nvSpPr>
        <p:spPr>
          <a:xfrm>
            <a:off x="594360" y="4617720"/>
            <a:ext cx="10972800" cy="1280160"/>
          </a:xfrm>
          <a:prstGeom prst="roundRect">
            <a:avLst>
              <a:gd name="adj" fmla="val 6429"/>
            </a:avLst>
          </a:prstGeom>
          <a:solidFill>
            <a:srgbClr val="11121A"/>
          </a:solidFill>
          <a:ln w="12700">
            <a:solidFill>
              <a:srgbClr val="11121A"/>
            </a:solidFill>
            <a:prstDash val="solid"/>
          </a:ln>
        </p:spPr>
        <p:txBody>
          <a:bodyPr/>
          <a:p/>
        </p:txBody>
      </p:sp>
      <p:sp>
        <p:nvSpPr>
          <p:cNvPr id="23" name="Text 21"/>
          <p:cNvSpPr/>
          <p:nvPr/>
        </p:nvSpPr>
        <p:spPr>
          <a:xfrm>
            <a:off x="868680" y="4617720"/>
            <a:ext cx="10424160" cy="1280160"/>
          </a:xfrm>
          <a:prstGeom prst="rect">
            <a:avLst/>
          </a:prstGeom>
          <a:noFill/>
          <a:ln/>
        </p:spPr>
        <p:txBody>
          <a:bodyPr wrap="square" lIns="0" tIns="0" rIns="0" bIns="0" rtlCol="0" anchor="ctr"/>
          <a:lstStyle/>
          <a:p>
            <a:pPr indent="0" marL="0">
              <a:buNone/>
            </a:pPr>
            <a:r>
              <a:rPr lang="en-US" sz="2400" b="1" dirty="0">
                <a:solidFill>
                  <a:srgbClr val="FFC24B"/>
                </a:solidFill>
                <a:latin typeface="Palatino Linotype" pitchFamily="34" charset="0"/>
                <a:ea typeface="Palatino Linotype" pitchFamily="34" charset="-122"/>
                <a:cs typeface="Palatino Linotype" pitchFamily="34" charset="-120"/>
              </a:rPr>
              <a:t>Ce combinație de abordări ați alege pentru domnul Mihai?</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05840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PROMOVAREA SĂNĂTĂȚII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Educația singură nu ajunge</a:t>
            </a:r>
            <a:endParaRPr lang="en-US" sz="3000" dirty="0"/>
          </a:p>
        </p:txBody>
      </p:sp>
      <p:sp>
        <p:nvSpPr>
          <p:cNvPr id="4" name="Shape 2"/>
          <p:cNvSpPr/>
          <p:nvPr/>
        </p:nvSpPr>
        <p:spPr>
          <a:xfrm>
            <a:off x="594360" y="1645920"/>
            <a:ext cx="5669280" cy="548640"/>
          </a:xfrm>
          <a:prstGeom prst="roundRect">
            <a:avLst>
              <a:gd name="adj" fmla="val 20000"/>
            </a:avLst>
          </a:prstGeom>
          <a:solidFill>
            <a:srgbClr val="ECEAE4"/>
          </a:solidFill>
          <a:ln w="12700">
            <a:solidFill>
              <a:srgbClr val="ECEAE4"/>
            </a:solidFill>
            <a:prstDash val="solid"/>
          </a:ln>
        </p:spPr>
        <p:txBody>
          <a:bodyPr/>
          <a:p/>
        </p:txBody>
      </p:sp>
      <p:sp>
        <p:nvSpPr>
          <p:cNvPr id="5" name="Text 3"/>
          <p:cNvSpPr/>
          <p:nvPr/>
        </p:nvSpPr>
        <p:spPr>
          <a:xfrm>
            <a:off x="822960" y="1645920"/>
            <a:ext cx="5303520" cy="54864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Politici publice favorabile sănătății</a:t>
            </a:r>
            <a:endParaRPr lang="en-US" sz="1500" dirty="0"/>
          </a:p>
        </p:txBody>
      </p:sp>
      <p:sp>
        <p:nvSpPr>
          <p:cNvPr id="6" name="Shape 4"/>
          <p:cNvSpPr/>
          <p:nvPr/>
        </p:nvSpPr>
        <p:spPr>
          <a:xfrm>
            <a:off x="594360" y="2286000"/>
            <a:ext cx="5669280" cy="548640"/>
          </a:xfrm>
          <a:prstGeom prst="roundRect">
            <a:avLst>
              <a:gd name="adj" fmla="val 20000"/>
            </a:avLst>
          </a:prstGeom>
          <a:solidFill>
            <a:srgbClr val="ECEAE4"/>
          </a:solidFill>
          <a:ln w="12700">
            <a:solidFill>
              <a:srgbClr val="ECEAE4"/>
            </a:solidFill>
            <a:prstDash val="solid"/>
          </a:ln>
        </p:spPr>
        <p:txBody>
          <a:bodyPr/>
          <a:p/>
        </p:txBody>
      </p:sp>
      <p:sp>
        <p:nvSpPr>
          <p:cNvPr id="7" name="Text 5"/>
          <p:cNvSpPr/>
          <p:nvPr/>
        </p:nvSpPr>
        <p:spPr>
          <a:xfrm>
            <a:off x="822960" y="2286000"/>
            <a:ext cx="5303520" cy="54864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Medii care sprijină sănătatea</a:t>
            </a:r>
            <a:endParaRPr lang="en-US" sz="1500" dirty="0"/>
          </a:p>
        </p:txBody>
      </p:sp>
      <p:sp>
        <p:nvSpPr>
          <p:cNvPr id="8" name="Shape 6"/>
          <p:cNvSpPr/>
          <p:nvPr/>
        </p:nvSpPr>
        <p:spPr>
          <a:xfrm>
            <a:off x="594360" y="2926080"/>
            <a:ext cx="5669280" cy="548640"/>
          </a:xfrm>
          <a:prstGeom prst="roundRect">
            <a:avLst>
              <a:gd name="adj" fmla="val 20000"/>
            </a:avLst>
          </a:prstGeom>
          <a:solidFill>
            <a:srgbClr val="ECEAE4"/>
          </a:solidFill>
          <a:ln w="12700">
            <a:solidFill>
              <a:srgbClr val="ECEAE4"/>
            </a:solidFill>
            <a:prstDash val="solid"/>
          </a:ln>
        </p:spPr>
        <p:txBody>
          <a:bodyPr/>
          <a:p/>
        </p:txBody>
      </p:sp>
      <p:sp>
        <p:nvSpPr>
          <p:cNvPr id="9" name="Text 7"/>
          <p:cNvSpPr/>
          <p:nvPr/>
        </p:nvSpPr>
        <p:spPr>
          <a:xfrm>
            <a:off x="822960" y="2926080"/>
            <a:ext cx="5303520" cy="54864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Acțiunea comunitară</a:t>
            </a:r>
            <a:endParaRPr lang="en-US" sz="1500" dirty="0"/>
          </a:p>
        </p:txBody>
      </p:sp>
      <p:sp>
        <p:nvSpPr>
          <p:cNvPr id="10" name="Shape 8"/>
          <p:cNvSpPr/>
          <p:nvPr/>
        </p:nvSpPr>
        <p:spPr>
          <a:xfrm>
            <a:off x="594360" y="3566160"/>
            <a:ext cx="5669280" cy="548640"/>
          </a:xfrm>
          <a:prstGeom prst="roundRect">
            <a:avLst>
              <a:gd name="adj" fmla="val 20000"/>
            </a:avLst>
          </a:prstGeom>
          <a:solidFill>
            <a:srgbClr val="0E7C6B"/>
          </a:solidFill>
          <a:ln w="12700">
            <a:solidFill>
              <a:srgbClr val="0E7C6B"/>
            </a:solidFill>
            <a:prstDash val="solid"/>
          </a:ln>
        </p:spPr>
        <p:txBody>
          <a:bodyPr/>
          <a:p/>
        </p:txBody>
      </p:sp>
      <p:sp>
        <p:nvSpPr>
          <p:cNvPr id="11" name="Text 9"/>
          <p:cNvSpPr/>
          <p:nvPr/>
        </p:nvSpPr>
        <p:spPr>
          <a:xfrm>
            <a:off x="822960" y="3566160"/>
            <a:ext cx="5303520" cy="548640"/>
          </a:xfrm>
          <a:prstGeom prst="rect">
            <a:avLst/>
          </a:prstGeom>
          <a:noFill/>
          <a:ln/>
        </p:spPr>
        <p:txBody>
          <a:bodyPr wrap="square" lIns="0" tIns="0" rIns="0" bIns="0" rtlCol="0" anchor="ctr"/>
          <a:lstStyle/>
          <a:p>
            <a:pPr indent="0" marL="0">
              <a:buNone/>
            </a:pPr>
            <a:r>
              <a:rPr lang="en-US" sz="1450" b="1" dirty="0">
                <a:solidFill>
                  <a:srgbClr val="FFFFFF"/>
                </a:solidFill>
                <a:latin typeface="Palatino Linotype" pitchFamily="34" charset="0"/>
                <a:ea typeface="Palatino Linotype" pitchFamily="34" charset="-122"/>
                <a:cs typeface="Palatino Linotype" pitchFamily="34" charset="-120"/>
              </a:rPr>
              <a:t>Dezvoltarea deprinderilor personale  ←  educația</a:t>
            </a:r>
            <a:endParaRPr lang="en-US" sz="1450" dirty="0"/>
          </a:p>
        </p:txBody>
      </p:sp>
      <p:sp>
        <p:nvSpPr>
          <p:cNvPr id="12" name="Shape 10"/>
          <p:cNvSpPr/>
          <p:nvPr/>
        </p:nvSpPr>
        <p:spPr>
          <a:xfrm>
            <a:off x="594360" y="4206240"/>
            <a:ext cx="5669280" cy="548640"/>
          </a:xfrm>
          <a:prstGeom prst="roundRect">
            <a:avLst>
              <a:gd name="adj" fmla="val 20000"/>
            </a:avLst>
          </a:prstGeom>
          <a:solidFill>
            <a:srgbClr val="ECEAE4"/>
          </a:solidFill>
          <a:ln w="12700">
            <a:solidFill>
              <a:srgbClr val="ECEAE4"/>
            </a:solidFill>
            <a:prstDash val="solid"/>
          </a:ln>
        </p:spPr>
        <p:txBody>
          <a:bodyPr/>
          <a:p/>
        </p:txBody>
      </p:sp>
      <p:sp>
        <p:nvSpPr>
          <p:cNvPr id="13" name="Text 11"/>
          <p:cNvSpPr/>
          <p:nvPr/>
        </p:nvSpPr>
        <p:spPr>
          <a:xfrm>
            <a:off x="822960" y="4206240"/>
            <a:ext cx="5303520" cy="54864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Reorientarea serviciilor de sănătate</a:t>
            </a:r>
            <a:endParaRPr lang="en-US" sz="1500" dirty="0"/>
          </a:p>
        </p:txBody>
      </p:sp>
      <p:sp>
        <p:nvSpPr>
          <p:cNvPr id="14" name="Text 12"/>
          <p:cNvSpPr/>
          <p:nvPr/>
        </p:nvSpPr>
        <p:spPr>
          <a:xfrm>
            <a:off x="6537960" y="1645920"/>
            <a:ext cx="5029200" cy="155448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Carta de la Ottawa, 1986: cinci domenii de acțiune. Educația este unul (deprinderile personale), nu înlocuiește celelalte patru.</a:t>
            </a:r>
            <a:endParaRPr lang="en-US" sz="1600" dirty="0"/>
          </a:p>
        </p:txBody>
      </p:sp>
      <p:sp>
        <p:nvSpPr>
          <p:cNvPr id="15" name="Shape 13"/>
          <p:cNvSpPr/>
          <p:nvPr/>
        </p:nvSpPr>
        <p:spPr>
          <a:xfrm>
            <a:off x="6537960" y="3246120"/>
            <a:ext cx="5029200" cy="1600200"/>
          </a:xfrm>
          <a:prstGeom prst="roundRect">
            <a:avLst>
              <a:gd name="adj" fmla="val 5143"/>
            </a:avLst>
          </a:prstGeom>
          <a:solidFill>
            <a:srgbClr val="11121A"/>
          </a:solidFill>
          <a:ln w="12700">
            <a:solidFill>
              <a:srgbClr val="11121A"/>
            </a:solidFill>
            <a:prstDash val="solid"/>
          </a:ln>
        </p:spPr>
        <p:txBody>
          <a:bodyPr/>
          <a:p/>
        </p:txBody>
      </p:sp>
      <p:sp>
        <p:nvSpPr>
          <p:cNvPr id="16" name="Text 14"/>
          <p:cNvSpPr/>
          <p:nvPr/>
        </p:nvSpPr>
        <p:spPr>
          <a:xfrm>
            <a:off x="6766560" y="3246120"/>
            <a:ext cx="4617720" cy="1600200"/>
          </a:xfrm>
          <a:prstGeom prst="rect">
            <a:avLst/>
          </a:prstGeom>
          <a:noFill/>
          <a:ln/>
        </p:spPr>
        <p:txBody>
          <a:bodyPr wrap="square" lIns="0" tIns="0" rIns="0" bIns="0" rtlCol="0" anchor="ctr"/>
          <a:lstStyle/>
          <a:p>
            <a:pPr indent="0" marL="0">
              <a:buNone/>
            </a:pPr>
            <a:r>
              <a:rPr lang="en-US" sz="1550" b="1" dirty="0">
                <a:solidFill>
                  <a:srgbClr val="FFFFFF"/>
                </a:solidFill>
                <a:latin typeface="Palatino Linotype" pitchFamily="34" charset="0"/>
                <a:ea typeface="Palatino Linotype" pitchFamily="34" charset="-122"/>
                <a:cs typeface="Palatino Linotype" pitchFamily="34" charset="-120"/>
              </a:rPr>
              <a:t>Domnul Mihai învață să meargă seara, dar pe drum neluminat, fără trotuar, ținta e mult mai greu de atins.</a:t>
            </a:r>
            <a:endParaRPr lang="en-US" sz="1550" dirty="0"/>
          </a:p>
        </p:txBody>
      </p:sp>
      <p:sp>
        <p:nvSpPr>
          <p:cNvPr id="17" name="Shape 15"/>
          <p:cNvSpPr/>
          <p:nvPr/>
        </p:nvSpPr>
        <p:spPr>
          <a:xfrm>
            <a:off x="594360" y="5029200"/>
            <a:ext cx="3566160" cy="1097280"/>
          </a:xfrm>
          <a:prstGeom prst="roundRect">
            <a:avLst>
              <a:gd name="adj" fmla="val 7500"/>
            </a:avLst>
          </a:prstGeom>
          <a:solidFill>
            <a:srgbClr val="F9F8F5"/>
          </a:solidFill>
          <a:ln w="12700">
            <a:solidFill>
              <a:srgbClr val="F9F8F5"/>
            </a:solidFill>
            <a:prstDash val="solid"/>
          </a:ln>
        </p:spPr>
        <p:txBody>
          <a:bodyPr/>
          <a:p/>
        </p:txBody>
      </p:sp>
      <p:sp>
        <p:nvSpPr>
          <p:cNvPr id="18" name="Shape 16"/>
          <p:cNvSpPr/>
          <p:nvPr/>
        </p:nvSpPr>
        <p:spPr>
          <a:xfrm>
            <a:off x="594360" y="5029200"/>
            <a:ext cx="3566160" cy="64008"/>
          </a:xfrm>
          <a:prstGeom prst="rect">
            <a:avLst/>
          </a:prstGeom>
          <a:solidFill>
            <a:srgbClr val="0E7C6B"/>
          </a:solidFill>
          <a:ln w="12700">
            <a:solidFill>
              <a:srgbClr val="0E7C6B"/>
            </a:solidFill>
            <a:prstDash val="solid"/>
          </a:ln>
        </p:spPr>
        <p:txBody>
          <a:bodyPr/>
          <a:p/>
        </p:txBody>
      </p:sp>
      <p:sp>
        <p:nvSpPr>
          <p:cNvPr id="19" name="Text 17"/>
          <p:cNvSpPr/>
          <p:nvPr/>
        </p:nvSpPr>
        <p:spPr>
          <a:xfrm>
            <a:off x="777240" y="5138928"/>
            <a:ext cx="3200400" cy="320040"/>
          </a:xfrm>
          <a:prstGeom prst="rect">
            <a:avLst/>
          </a:prstGeom>
          <a:noFill/>
          <a:ln/>
        </p:spPr>
        <p:txBody>
          <a:bodyPr wrap="square" lIns="0" tIns="0" rIns="0" bIns="0" rtlCol="0" anchor="t"/>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Școala</a:t>
            </a:r>
            <a:endParaRPr lang="en-US" sz="1500" dirty="0"/>
          </a:p>
        </p:txBody>
      </p:sp>
      <p:sp>
        <p:nvSpPr>
          <p:cNvPr id="20" name="Text 18"/>
          <p:cNvSpPr/>
          <p:nvPr/>
        </p:nvSpPr>
        <p:spPr>
          <a:xfrm>
            <a:off x="777240" y="5468112"/>
            <a:ext cx="3200400" cy="64008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pauze active</a:t>
            </a:r>
            <a:endParaRPr lang="en-US" sz="1400" dirty="0"/>
          </a:p>
        </p:txBody>
      </p:sp>
      <p:sp>
        <p:nvSpPr>
          <p:cNvPr id="21" name="Shape 19"/>
          <p:cNvSpPr/>
          <p:nvPr/>
        </p:nvSpPr>
        <p:spPr>
          <a:xfrm>
            <a:off x="4343400" y="5029200"/>
            <a:ext cx="3566160" cy="1097280"/>
          </a:xfrm>
          <a:prstGeom prst="roundRect">
            <a:avLst>
              <a:gd name="adj" fmla="val 7500"/>
            </a:avLst>
          </a:prstGeom>
          <a:solidFill>
            <a:srgbClr val="F9F8F5"/>
          </a:solidFill>
          <a:ln w="12700">
            <a:solidFill>
              <a:srgbClr val="F9F8F5"/>
            </a:solidFill>
            <a:prstDash val="solid"/>
          </a:ln>
        </p:spPr>
        <p:txBody>
          <a:bodyPr/>
          <a:p/>
        </p:txBody>
      </p:sp>
      <p:sp>
        <p:nvSpPr>
          <p:cNvPr id="22" name="Shape 20"/>
          <p:cNvSpPr/>
          <p:nvPr/>
        </p:nvSpPr>
        <p:spPr>
          <a:xfrm>
            <a:off x="4343400" y="5029200"/>
            <a:ext cx="3566160" cy="64008"/>
          </a:xfrm>
          <a:prstGeom prst="rect">
            <a:avLst/>
          </a:prstGeom>
          <a:solidFill>
            <a:srgbClr val="4A2D8C"/>
          </a:solidFill>
          <a:ln w="12700">
            <a:solidFill>
              <a:srgbClr val="4A2D8C"/>
            </a:solidFill>
            <a:prstDash val="solid"/>
          </a:ln>
        </p:spPr>
        <p:txBody>
          <a:bodyPr/>
          <a:p/>
        </p:txBody>
      </p:sp>
      <p:sp>
        <p:nvSpPr>
          <p:cNvPr id="23" name="Text 21"/>
          <p:cNvSpPr/>
          <p:nvPr/>
        </p:nvSpPr>
        <p:spPr>
          <a:xfrm>
            <a:off x="4526280" y="5138928"/>
            <a:ext cx="3200400" cy="320040"/>
          </a:xfrm>
          <a:prstGeom prst="rect">
            <a:avLst/>
          </a:prstGeom>
          <a:noFill/>
          <a:ln/>
        </p:spPr>
        <p:txBody>
          <a:bodyPr wrap="square" lIns="0" tIns="0" rIns="0" bIns="0" rtlCol="0" anchor="t"/>
          <a:lstStyle/>
          <a:p>
            <a:pPr indent="0" marL="0">
              <a:buNone/>
            </a:pPr>
            <a:r>
              <a:rPr lang="en-US" sz="1500" b="1" dirty="0">
                <a:solidFill>
                  <a:srgbClr val="4A2D8C"/>
                </a:solidFill>
                <a:latin typeface="Palatino Linotype" pitchFamily="34" charset="0"/>
                <a:ea typeface="Palatino Linotype" pitchFamily="34" charset="-122"/>
                <a:cs typeface="Palatino Linotype" pitchFamily="34" charset="-120"/>
              </a:rPr>
              <a:t>Locul de muncă</a:t>
            </a:r>
            <a:endParaRPr lang="en-US" sz="1500" dirty="0"/>
          </a:p>
        </p:txBody>
      </p:sp>
      <p:sp>
        <p:nvSpPr>
          <p:cNvPr id="24" name="Text 22"/>
          <p:cNvSpPr/>
          <p:nvPr/>
        </p:nvSpPr>
        <p:spPr>
          <a:xfrm>
            <a:off x="4526280" y="5468112"/>
            <a:ext cx="3200400" cy="64008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pauze și trasee de mers</a:t>
            </a:r>
            <a:endParaRPr lang="en-US" sz="1400" dirty="0"/>
          </a:p>
        </p:txBody>
      </p:sp>
      <p:sp>
        <p:nvSpPr>
          <p:cNvPr id="25" name="Shape 23"/>
          <p:cNvSpPr/>
          <p:nvPr/>
        </p:nvSpPr>
        <p:spPr>
          <a:xfrm>
            <a:off x="8092440" y="5029200"/>
            <a:ext cx="3566160" cy="1097280"/>
          </a:xfrm>
          <a:prstGeom prst="roundRect">
            <a:avLst>
              <a:gd name="adj" fmla="val 7500"/>
            </a:avLst>
          </a:prstGeom>
          <a:solidFill>
            <a:srgbClr val="F9F8F5"/>
          </a:solidFill>
          <a:ln w="12700">
            <a:solidFill>
              <a:srgbClr val="F9F8F5"/>
            </a:solidFill>
            <a:prstDash val="solid"/>
          </a:ln>
        </p:spPr>
        <p:txBody>
          <a:bodyPr/>
          <a:p/>
        </p:txBody>
      </p:sp>
      <p:sp>
        <p:nvSpPr>
          <p:cNvPr id="26" name="Shape 24"/>
          <p:cNvSpPr/>
          <p:nvPr/>
        </p:nvSpPr>
        <p:spPr>
          <a:xfrm>
            <a:off x="8092440" y="5029200"/>
            <a:ext cx="3566160" cy="64008"/>
          </a:xfrm>
          <a:prstGeom prst="rect">
            <a:avLst/>
          </a:prstGeom>
          <a:solidFill>
            <a:srgbClr val="B02532"/>
          </a:solidFill>
          <a:ln w="12700">
            <a:solidFill>
              <a:srgbClr val="B02532"/>
            </a:solidFill>
            <a:prstDash val="solid"/>
          </a:ln>
        </p:spPr>
        <p:txBody>
          <a:bodyPr/>
          <a:p/>
        </p:txBody>
      </p:sp>
      <p:sp>
        <p:nvSpPr>
          <p:cNvPr id="27" name="Text 25"/>
          <p:cNvSpPr/>
          <p:nvPr/>
        </p:nvSpPr>
        <p:spPr>
          <a:xfrm>
            <a:off x="8275320" y="5138928"/>
            <a:ext cx="3200400" cy="32004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Orașul</a:t>
            </a:r>
            <a:endParaRPr lang="en-US" sz="1500" dirty="0"/>
          </a:p>
        </p:txBody>
      </p:sp>
      <p:sp>
        <p:nvSpPr>
          <p:cNvPr id="28" name="Text 26"/>
          <p:cNvSpPr/>
          <p:nvPr/>
        </p:nvSpPr>
        <p:spPr>
          <a:xfrm>
            <a:off x="8275320" y="5468112"/>
            <a:ext cx="3200400" cy="640080"/>
          </a:xfrm>
          <a:prstGeom prst="rect">
            <a:avLst/>
          </a:prstGeom>
          <a:noFill/>
          <a:ln/>
        </p:spPr>
        <p:txBody>
          <a:bodyPr wrap="square" lIns="0" tIns="0" rIns="0" bIns="0" rtlCol="0" anchor="t"/>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bănci și iluminat bun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DIRECȚIILE DE ORIENTARE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Fișa cere „direcții de orientare”: sunt patru</a:t>
            </a:r>
            <a:endParaRPr lang="en-US" sz="3000" dirty="0"/>
          </a:p>
        </p:txBody>
      </p:sp>
      <p:sp>
        <p:nvSpPr>
          <p:cNvPr id="4" name="Shape 2"/>
          <p:cNvSpPr/>
          <p:nvPr/>
        </p:nvSpPr>
        <p:spPr>
          <a:xfrm>
            <a:off x="594360" y="1737360"/>
            <a:ext cx="2651760" cy="3749040"/>
          </a:xfrm>
          <a:prstGeom prst="roundRect">
            <a:avLst>
              <a:gd name="adj" fmla="val 3103"/>
            </a:avLst>
          </a:prstGeom>
          <a:solidFill>
            <a:srgbClr val="1D1F2B"/>
          </a:solidFill>
          <a:ln w="12700">
            <a:solidFill>
              <a:srgbClr val="1D1F2B"/>
            </a:solidFill>
            <a:prstDash val="solid"/>
          </a:ln>
        </p:spPr>
        <p:txBody>
          <a:bodyPr/>
          <a:p/>
        </p:txBody>
      </p:sp>
      <p:sp>
        <p:nvSpPr>
          <p:cNvPr id="5" name="Shape 3"/>
          <p:cNvSpPr/>
          <p:nvPr/>
        </p:nvSpPr>
        <p:spPr>
          <a:xfrm>
            <a:off x="594360" y="1737360"/>
            <a:ext cx="2651760" cy="73152"/>
          </a:xfrm>
          <a:prstGeom prst="rect">
            <a:avLst/>
          </a:prstGeom>
          <a:solidFill>
            <a:srgbClr val="27D3BE"/>
          </a:solidFill>
          <a:ln w="12700">
            <a:solidFill>
              <a:srgbClr val="27D3BE"/>
            </a:solidFill>
            <a:prstDash val="solid"/>
          </a:ln>
        </p:spPr>
        <p:txBody>
          <a:bodyPr/>
          <a:p/>
        </p:txBody>
      </p:sp>
      <p:sp>
        <p:nvSpPr>
          <p:cNvPr id="6" name="Shape 4"/>
          <p:cNvSpPr/>
          <p:nvPr/>
        </p:nvSpPr>
        <p:spPr>
          <a:xfrm>
            <a:off x="795528" y="2011680"/>
            <a:ext cx="457200" cy="457200"/>
          </a:xfrm>
          <a:prstGeom prst="ellipse">
            <a:avLst/>
          </a:prstGeom>
          <a:solidFill>
            <a:srgbClr val="27D3BE"/>
          </a:solidFill>
          <a:ln/>
        </p:spPr>
        <p:txBody>
          <a:bodyPr/>
          <a:p/>
        </p:txBody>
      </p:sp>
      <p:sp>
        <p:nvSpPr>
          <p:cNvPr id="7" name="Text 5"/>
          <p:cNvSpPr/>
          <p:nvPr/>
        </p:nvSpPr>
        <p:spPr>
          <a:xfrm>
            <a:off x="795528" y="20116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795528" y="2606040"/>
            <a:ext cx="2286000" cy="118872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Comunicarea riscului și implicarea comunității</a:t>
            </a:r>
            <a:endParaRPr lang="en-US" sz="1700" dirty="0"/>
          </a:p>
        </p:txBody>
      </p:sp>
      <p:sp>
        <p:nvSpPr>
          <p:cNvPr id="9" name="Text 7"/>
          <p:cNvSpPr/>
          <p:nvPr/>
        </p:nvSpPr>
        <p:spPr>
          <a:xfrm>
            <a:off x="795528" y="3840480"/>
            <a:ext cx="2286000" cy="155448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Ce știm, ce nu știm încă, ce facem acum.</a:t>
            </a:r>
            <a:endParaRPr lang="en-US" sz="1500" dirty="0"/>
          </a:p>
        </p:txBody>
      </p:sp>
      <p:sp>
        <p:nvSpPr>
          <p:cNvPr id="10" name="Shape 8"/>
          <p:cNvSpPr/>
          <p:nvPr/>
        </p:nvSpPr>
        <p:spPr>
          <a:xfrm>
            <a:off x="3383280" y="1737360"/>
            <a:ext cx="2651760" cy="3749040"/>
          </a:xfrm>
          <a:prstGeom prst="roundRect">
            <a:avLst>
              <a:gd name="adj" fmla="val 3103"/>
            </a:avLst>
          </a:prstGeom>
          <a:solidFill>
            <a:srgbClr val="1D1F2B"/>
          </a:solidFill>
          <a:ln w="12700">
            <a:solidFill>
              <a:srgbClr val="1D1F2B"/>
            </a:solidFill>
            <a:prstDash val="solid"/>
          </a:ln>
        </p:spPr>
        <p:txBody>
          <a:bodyPr/>
          <a:p/>
        </p:txBody>
      </p:sp>
      <p:sp>
        <p:nvSpPr>
          <p:cNvPr id="11" name="Shape 9"/>
          <p:cNvSpPr/>
          <p:nvPr/>
        </p:nvSpPr>
        <p:spPr>
          <a:xfrm>
            <a:off x="3383280" y="1737360"/>
            <a:ext cx="2651760" cy="73152"/>
          </a:xfrm>
          <a:prstGeom prst="rect">
            <a:avLst/>
          </a:prstGeom>
          <a:solidFill>
            <a:srgbClr val="9B7EF7"/>
          </a:solidFill>
          <a:ln w="12700">
            <a:solidFill>
              <a:srgbClr val="9B7EF7"/>
            </a:solidFill>
            <a:prstDash val="solid"/>
          </a:ln>
        </p:spPr>
        <p:txBody>
          <a:bodyPr/>
          <a:p/>
        </p:txBody>
      </p:sp>
      <p:sp>
        <p:nvSpPr>
          <p:cNvPr id="12" name="Shape 10"/>
          <p:cNvSpPr/>
          <p:nvPr/>
        </p:nvSpPr>
        <p:spPr>
          <a:xfrm>
            <a:off x="3584448" y="2011680"/>
            <a:ext cx="457200" cy="457200"/>
          </a:xfrm>
          <a:prstGeom prst="ellipse">
            <a:avLst/>
          </a:prstGeom>
          <a:solidFill>
            <a:srgbClr val="9B7EF7"/>
          </a:solidFill>
          <a:ln/>
        </p:spPr>
        <p:txBody>
          <a:bodyPr/>
          <a:p/>
        </p:txBody>
      </p:sp>
      <p:sp>
        <p:nvSpPr>
          <p:cNvPr id="13" name="Text 11"/>
          <p:cNvSpPr/>
          <p:nvPr/>
        </p:nvSpPr>
        <p:spPr>
          <a:xfrm>
            <a:off x="3584448" y="20116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3584448" y="2606040"/>
            <a:ext cx="2286000" cy="1188720"/>
          </a:xfrm>
          <a:prstGeom prst="rect">
            <a:avLst/>
          </a:prstGeom>
          <a:noFill/>
          <a:ln/>
        </p:spPr>
        <p:txBody>
          <a:bodyPr wrap="square" lIns="0" tIns="0" rIns="0" bIns="0" rtlCol="0" anchor="t"/>
          <a:lstStyle/>
          <a:p>
            <a:pPr indent="0" marL="0">
              <a:buNone/>
            </a:pPr>
            <a:r>
              <a:rPr lang="en-US" sz="1700" b="1" dirty="0">
                <a:solidFill>
                  <a:srgbClr val="9B7EF7"/>
                </a:solidFill>
                <a:latin typeface="Palatino Linotype" pitchFamily="34" charset="0"/>
                <a:ea typeface="Palatino Linotype" pitchFamily="34" charset="-122"/>
                <a:cs typeface="Palatino Linotype" pitchFamily="34" charset="-120"/>
              </a:rPr>
              <a:t>Educația digitală, datele și accesibilitatea</a:t>
            </a:r>
            <a:endParaRPr lang="en-US" sz="1700" dirty="0"/>
          </a:p>
        </p:txBody>
      </p:sp>
      <p:sp>
        <p:nvSpPr>
          <p:cNvPr id="15" name="Text 13"/>
          <p:cNvSpPr/>
          <p:nvPr/>
        </p:nvSpPr>
        <p:spPr>
          <a:xfrm>
            <a:off x="3584448" y="3840480"/>
            <a:ext cx="2286000" cy="155448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Datele despre sănătate; conținut accesibil.</a:t>
            </a:r>
            <a:endParaRPr lang="en-US" sz="1500" dirty="0"/>
          </a:p>
        </p:txBody>
      </p:sp>
      <p:sp>
        <p:nvSpPr>
          <p:cNvPr id="16" name="Shape 14"/>
          <p:cNvSpPr/>
          <p:nvPr/>
        </p:nvSpPr>
        <p:spPr>
          <a:xfrm>
            <a:off x="6172200" y="1737360"/>
            <a:ext cx="2651760" cy="3749040"/>
          </a:xfrm>
          <a:prstGeom prst="roundRect">
            <a:avLst>
              <a:gd name="adj" fmla="val 3103"/>
            </a:avLst>
          </a:prstGeom>
          <a:solidFill>
            <a:srgbClr val="1D1F2B"/>
          </a:solidFill>
          <a:ln w="12700">
            <a:solidFill>
              <a:srgbClr val="1D1F2B"/>
            </a:solidFill>
            <a:prstDash val="solid"/>
          </a:ln>
        </p:spPr>
        <p:txBody>
          <a:bodyPr/>
          <a:p/>
        </p:txBody>
      </p:sp>
      <p:sp>
        <p:nvSpPr>
          <p:cNvPr id="17" name="Shape 15"/>
          <p:cNvSpPr/>
          <p:nvPr/>
        </p:nvSpPr>
        <p:spPr>
          <a:xfrm>
            <a:off x="6172200" y="1737360"/>
            <a:ext cx="2651760" cy="73152"/>
          </a:xfrm>
          <a:prstGeom prst="rect">
            <a:avLst/>
          </a:prstGeom>
          <a:solidFill>
            <a:srgbClr val="FF4757"/>
          </a:solidFill>
          <a:ln w="12700">
            <a:solidFill>
              <a:srgbClr val="FF4757"/>
            </a:solidFill>
            <a:prstDash val="solid"/>
          </a:ln>
        </p:spPr>
        <p:txBody>
          <a:bodyPr/>
          <a:p/>
        </p:txBody>
      </p:sp>
      <p:sp>
        <p:nvSpPr>
          <p:cNvPr id="18" name="Shape 16"/>
          <p:cNvSpPr/>
          <p:nvPr/>
        </p:nvSpPr>
        <p:spPr>
          <a:xfrm>
            <a:off x="6373368" y="2011680"/>
            <a:ext cx="457200" cy="457200"/>
          </a:xfrm>
          <a:prstGeom prst="ellipse">
            <a:avLst/>
          </a:prstGeom>
          <a:solidFill>
            <a:srgbClr val="FF4757"/>
          </a:solidFill>
          <a:ln/>
        </p:spPr>
        <p:txBody>
          <a:bodyPr/>
          <a:p/>
        </p:txBody>
      </p:sp>
      <p:sp>
        <p:nvSpPr>
          <p:cNvPr id="19" name="Text 17"/>
          <p:cNvSpPr/>
          <p:nvPr/>
        </p:nvSpPr>
        <p:spPr>
          <a:xfrm>
            <a:off x="6373368" y="20116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20" name="Text 18"/>
          <p:cNvSpPr/>
          <p:nvPr/>
        </p:nvSpPr>
        <p:spPr>
          <a:xfrm>
            <a:off x="6373368" y="2606040"/>
            <a:ext cx="2286000" cy="1188720"/>
          </a:xfrm>
          <a:prstGeom prst="rect">
            <a:avLst/>
          </a:prstGeom>
          <a:noFill/>
          <a:ln/>
        </p:spPr>
        <p:txBody>
          <a:bodyPr wrap="square" lIns="0" tIns="0" rIns="0" bIns="0" rtlCol="0" anchor="t"/>
          <a:lstStyle/>
          <a:p>
            <a:pPr indent="0" marL="0">
              <a:buNone/>
            </a:pPr>
            <a:r>
              <a:rPr lang="en-US" sz="1700" b="1" dirty="0">
                <a:solidFill>
                  <a:srgbClr val="FF4757"/>
                </a:solidFill>
                <a:latin typeface="Palatino Linotype" pitchFamily="34" charset="0"/>
                <a:ea typeface="Palatino Linotype" pitchFamily="34" charset="-122"/>
                <a:cs typeface="Palatino Linotype" pitchFamily="34" charset="-120"/>
              </a:rPr>
              <a:t>Informațiile false</a:t>
            </a:r>
            <a:endParaRPr lang="en-US" sz="1700" dirty="0"/>
          </a:p>
        </p:txBody>
      </p:sp>
      <p:sp>
        <p:nvSpPr>
          <p:cNvPr id="21" name="Text 19"/>
          <p:cNvSpPr/>
          <p:nvPr/>
        </p:nvSpPr>
        <p:spPr>
          <a:xfrm>
            <a:off x="6373368" y="3840480"/>
            <a:ext cx="2286000" cy="155448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Infodemia, verificarea, corectarea unui mit.</a:t>
            </a:r>
            <a:endParaRPr lang="en-US" sz="1500" dirty="0"/>
          </a:p>
        </p:txBody>
      </p:sp>
      <p:sp>
        <p:nvSpPr>
          <p:cNvPr id="22" name="Shape 20"/>
          <p:cNvSpPr/>
          <p:nvPr/>
        </p:nvSpPr>
        <p:spPr>
          <a:xfrm>
            <a:off x="8961120" y="1737360"/>
            <a:ext cx="2651760" cy="3749040"/>
          </a:xfrm>
          <a:prstGeom prst="roundRect">
            <a:avLst>
              <a:gd name="adj" fmla="val 3103"/>
            </a:avLst>
          </a:prstGeom>
          <a:solidFill>
            <a:srgbClr val="1D1F2B"/>
          </a:solidFill>
          <a:ln w="12700">
            <a:solidFill>
              <a:srgbClr val="1D1F2B"/>
            </a:solidFill>
            <a:prstDash val="solid"/>
          </a:ln>
        </p:spPr>
        <p:txBody>
          <a:bodyPr/>
          <a:p/>
        </p:txBody>
      </p:sp>
      <p:sp>
        <p:nvSpPr>
          <p:cNvPr id="23" name="Shape 21"/>
          <p:cNvSpPr/>
          <p:nvPr/>
        </p:nvSpPr>
        <p:spPr>
          <a:xfrm>
            <a:off x="8961120" y="1737360"/>
            <a:ext cx="2651760" cy="73152"/>
          </a:xfrm>
          <a:prstGeom prst="rect">
            <a:avLst/>
          </a:prstGeom>
          <a:solidFill>
            <a:srgbClr val="FFC24B"/>
          </a:solidFill>
          <a:ln w="12700">
            <a:solidFill>
              <a:srgbClr val="FFC24B"/>
            </a:solidFill>
            <a:prstDash val="solid"/>
          </a:ln>
        </p:spPr>
        <p:txBody>
          <a:bodyPr/>
          <a:p/>
        </p:txBody>
      </p:sp>
      <p:sp>
        <p:nvSpPr>
          <p:cNvPr id="24" name="Shape 22"/>
          <p:cNvSpPr/>
          <p:nvPr/>
        </p:nvSpPr>
        <p:spPr>
          <a:xfrm>
            <a:off x="9162288" y="2011680"/>
            <a:ext cx="457200" cy="457200"/>
          </a:xfrm>
          <a:prstGeom prst="ellipse">
            <a:avLst/>
          </a:prstGeom>
          <a:solidFill>
            <a:srgbClr val="FFC24B"/>
          </a:solidFill>
          <a:ln/>
        </p:spPr>
        <p:txBody>
          <a:bodyPr/>
          <a:p/>
        </p:txBody>
      </p:sp>
      <p:sp>
        <p:nvSpPr>
          <p:cNvPr id="25" name="Text 23"/>
          <p:cNvSpPr/>
          <p:nvPr/>
        </p:nvSpPr>
        <p:spPr>
          <a:xfrm>
            <a:off x="9162288" y="20116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6" name="Text 24"/>
          <p:cNvSpPr/>
          <p:nvPr/>
        </p:nvSpPr>
        <p:spPr>
          <a:xfrm>
            <a:off x="9162288" y="2606040"/>
            <a:ext cx="2286000" cy="118872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Direcțiile integrate</a:t>
            </a:r>
            <a:endParaRPr lang="en-US" sz="1700" dirty="0"/>
          </a:p>
        </p:txBody>
      </p:sp>
      <p:sp>
        <p:nvSpPr>
          <p:cNvPr id="27" name="Text 25"/>
          <p:cNvSpPr/>
          <p:nvPr/>
        </p:nvSpPr>
        <p:spPr>
          <a:xfrm>
            <a:off x="9162288" y="3840480"/>
            <a:ext cx="2286000" cy="1554480"/>
          </a:xfrm>
          <a:prstGeom prst="rect">
            <a:avLst/>
          </a:prstGeom>
          <a:noFill/>
          <a:ln/>
        </p:spPr>
        <p:txBody>
          <a:bodyPr wrap="square" lIns="0" tIns="0" rIns="0" bIns="0" rtlCol="0" anchor="t"/>
          <a:lstStyle/>
          <a:p>
            <a:pPr indent="0" marL="0">
              <a:buNone/>
            </a:pPr>
            <a:r>
              <a:rPr lang="en-US" sz="1500" dirty="0">
                <a:solidFill>
                  <a:srgbClr val="E6E8EF"/>
                </a:solidFill>
                <a:latin typeface="Palatino Linotype" pitchFamily="34" charset="0"/>
                <a:ea typeface="Palatino Linotype" pitchFamily="34" charset="-122"/>
                <a:cs typeface="Palatino Linotype" pitchFamily="34" charset="-120"/>
              </a:rPr>
              <a:t>Același mesaj în cabinet, școală, la locul de muncă, spații publice, aplicații.</a:t>
            </a:r>
            <a:endParaRPr lang="en-US" sz="1500" dirty="0"/>
          </a:p>
        </p:txBody>
      </p:sp>
      <p:sp>
        <p:nvSpPr>
          <p:cNvPr id="28" name="Text 26"/>
          <p:cNvSpPr/>
          <p:nvPr/>
        </p:nvSpPr>
        <p:spPr>
          <a:xfrm>
            <a:off x="594360" y="5806440"/>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Sursele oficiale nu au o listă unică a direcțiilor; materialele disciplinei le grupează în patru.</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82296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COMUNICAREA RISCULUI</a:t>
            </a:r>
            <a:endParaRPr lang="en-US" sz="1300" dirty="0"/>
          </a:p>
        </p:txBody>
      </p:sp>
      <p:sp>
        <p:nvSpPr>
          <p:cNvPr id="3" name="Shape 1"/>
          <p:cNvSpPr/>
          <p:nvPr/>
        </p:nvSpPr>
        <p:spPr>
          <a:xfrm>
            <a:off x="9098280" y="310896"/>
            <a:ext cx="2468880" cy="329184"/>
          </a:xfrm>
          <a:prstGeom prst="roundRect">
            <a:avLst>
              <a:gd name="adj" fmla="val 50000"/>
            </a:avLst>
          </a:prstGeom>
          <a:solidFill>
            <a:srgbClr val="FFC24B"/>
          </a:solidFill>
          <a:ln w="12700">
            <a:solidFill>
              <a:srgbClr val="FFC24B"/>
            </a:solidFill>
            <a:prstDash val="solid"/>
          </a:ln>
        </p:spPr>
        <p:txBody>
          <a:bodyPr/>
          <a:p/>
        </p:txBody>
      </p:sp>
      <p:sp>
        <p:nvSpPr>
          <p:cNvPr id="4" name="Text 2"/>
          <p:cNvSpPr/>
          <p:nvPr/>
        </p:nvSpPr>
        <p:spPr>
          <a:xfrm>
            <a:off x="9098280" y="310896"/>
            <a:ext cx="2468880" cy="329184"/>
          </a:xfrm>
          <a:prstGeom prst="rect">
            <a:avLst/>
          </a:prstGeom>
          <a:noFill/>
          <a:ln/>
        </p:spPr>
        <p:txBody>
          <a:bodyPr wrap="square" lIns="0" tIns="0" rIns="0" bIns="0" rtlCol="0" anchor="ctr"/>
          <a:lstStyle/>
          <a:p>
            <a:pPr algn="ctr" indent="0" marL="0">
              <a:buNone/>
            </a:pPr>
            <a:r>
              <a:rPr lang="en-US" sz="1200" b="1" dirty="0">
                <a:solidFill>
                  <a:srgbClr val="3D2A00"/>
                </a:solidFill>
                <a:latin typeface="Palatino Linotype" pitchFamily="34" charset="0"/>
                <a:ea typeface="Palatino Linotype" pitchFamily="34" charset="-122"/>
                <a:cs typeface="Palatino Linotype" pitchFamily="34" charset="-120"/>
              </a:rPr>
              <a:t>VALORI IPOTETICE</a:t>
            </a:r>
            <a:endParaRPr lang="en-US" sz="12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Valul de căldură și exercițiile din parc</a:t>
            </a:r>
            <a:endParaRPr lang="en-US" sz="2800" dirty="0"/>
          </a:p>
        </p:txBody>
      </p:sp>
      <p:sp>
        <p:nvSpPr>
          <p:cNvPr id="6" name="Shape 4"/>
          <p:cNvSpPr/>
          <p:nvPr/>
        </p:nvSpPr>
        <p:spPr>
          <a:xfrm>
            <a:off x="594360" y="1554480"/>
            <a:ext cx="3547872" cy="2743200"/>
          </a:xfrm>
          <a:prstGeom prst="roundRect">
            <a:avLst>
              <a:gd name="adj" fmla="val 3000"/>
            </a:avLst>
          </a:prstGeom>
          <a:solidFill>
            <a:srgbClr val="ECEAE4"/>
          </a:solidFill>
          <a:ln w="12700">
            <a:solidFill>
              <a:srgbClr val="ECEAE4"/>
            </a:solidFill>
            <a:prstDash val="solid"/>
          </a:ln>
        </p:spPr>
        <p:txBody>
          <a:bodyPr/>
          <a:p/>
        </p:txBody>
      </p:sp>
      <p:sp>
        <p:nvSpPr>
          <p:cNvPr id="7" name="Shape 5"/>
          <p:cNvSpPr/>
          <p:nvPr/>
        </p:nvSpPr>
        <p:spPr>
          <a:xfrm>
            <a:off x="594360" y="1554480"/>
            <a:ext cx="3547872" cy="73152"/>
          </a:xfrm>
          <a:prstGeom prst="rect">
            <a:avLst/>
          </a:prstGeom>
          <a:solidFill>
            <a:srgbClr val="0E7C6B"/>
          </a:solidFill>
          <a:ln w="12700">
            <a:solidFill>
              <a:srgbClr val="0E7C6B"/>
            </a:solidFill>
            <a:prstDash val="solid"/>
          </a:ln>
        </p:spPr>
        <p:txBody>
          <a:bodyPr/>
          <a:p/>
        </p:txBody>
      </p:sp>
      <p:sp>
        <p:nvSpPr>
          <p:cNvPr id="8" name="Text 6"/>
          <p:cNvSpPr/>
          <p:nvPr/>
        </p:nvSpPr>
        <p:spPr>
          <a:xfrm>
            <a:off x="795528" y="1783080"/>
            <a:ext cx="3145536" cy="914400"/>
          </a:xfrm>
          <a:prstGeom prst="rect">
            <a:avLst/>
          </a:prstGeom>
          <a:noFill/>
          <a:ln/>
        </p:spPr>
        <p:txBody>
          <a:bodyPr wrap="square" lIns="0" tIns="0" rIns="0" bIns="0" rtlCol="0" anchor="t"/>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Ce știm</a:t>
            </a:r>
            <a:endParaRPr lang="en-US" sz="2200" dirty="0"/>
          </a:p>
        </p:txBody>
      </p:sp>
      <p:sp>
        <p:nvSpPr>
          <p:cNvPr id="9" name="Text 7"/>
          <p:cNvSpPr/>
          <p:nvPr/>
        </p:nvSpPr>
        <p:spPr>
          <a:xfrm>
            <a:off x="795528" y="2788920"/>
            <a:ext cx="3145536" cy="13716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„Căldura mare crește riscul de deshidratare și de rău la efort.”</a:t>
            </a:r>
            <a:endParaRPr lang="en-US" sz="1550" dirty="0"/>
          </a:p>
        </p:txBody>
      </p:sp>
      <p:sp>
        <p:nvSpPr>
          <p:cNvPr id="10" name="Shape 8"/>
          <p:cNvSpPr/>
          <p:nvPr/>
        </p:nvSpPr>
        <p:spPr>
          <a:xfrm>
            <a:off x="4306824" y="1554480"/>
            <a:ext cx="3547872" cy="2743200"/>
          </a:xfrm>
          <a:prstGeom prst="roundRect">
            <a:avLst>
              <a:gd name="adj" fmla="val 3000"/>
            </a:avLst>
          </a:prstGeom>
          <a:solidFill>
            <a:srgbClr val="F9F8F5"/>
          </a:solidFill>
          <a:ln w="12700">
            <a:solidFill>
              <a:srgbClr val="F9F8F5"/>
            </a:solidFill>
            <a:prstDash val="solid"/>
          </a:ln>
        </p:spPr>
        <p:txBody>
          <a:bodyPr/>
          <a:p/>
        </p:txBody>
      </p:sp>
      <p:sp>
        <p:nvSpPr>
          <p:cNvPr id="11" name="Shape 9"/>
          <p:cNvSpPr/>
          <p:nvPr/>
        </p:nvSpPr>
        <p:spPr>
          <a:xfrm>
            <a:off x="4306824" y="1554480"/>
            <a:ext cx="3547872" cy="73152"/>
          </a:xfrm>
          <a:prstGeom prst="rect">
            <a:avLst/>
          </a:prstGeom>
          <a:solidFill>
            <a:srgbClr val="4A2D8C"/>
          </a:solidFill>
          <a:ln w="12700">
            <a:solidFill>
              <a:srgbClr val="4A2D8C"/>
            </a:solidFill>
            <a:prstDash val="solid"/>
          </a:ln>
        </p:spPr>
        <p:txBody>
          <a:bodyPr/>
          <a:p/>
        </p:txBody>
      </p:sp>
      <p:sp>
        <p:nvSpPr>
          <p:cNvPr id="12" name="Text 10"/>
          <p:cNvSpPr/>
          <p:nvPr/>
        </p:nvSpPr>
        <p:spPr>
          <a:xfrm>
            <a:off x="4507992" y="1783080"/>
            <a:ext cx="3145536" cy="914400"/>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Ce nu știm</a:t>
            </a:r>
            <a:endParaRPr lang="en-US" sz="2200" dirty="0"/>
          </a:p>
        </p:txBody>
      </p:sp>
      <p:sp>
        <p:nvSpPr>
          <p:cNvPr id="13" name="Text 11"/>
          <p:cNvSpPr/>
          <p:nvPr/>
        </p:nvSpPr>
        <p:spPr>
          <a:xfrm>
            <a:off x="4507992" y="2788920"/>
            <a:ext cx="3145536" cy="13716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„Prognoza se poate schimba; revenim cu un mesaj în fiecare seară la 18.”</a:t>
            </a:r>
            <a:endParaRPr lang="en-US" sz="1550" dirty="0"/>
          </a:p>
        </p:txBody>
      </p:sp>
      <p:sp>
        <p:nvSpPr>
          <p:cNvPr id="14" name="Shape 12"/>
          <p:cNvSpPr/>
          <p:nvPr/>
        </p:nvSpPr>
        <p:spPr>
          <a:xfrm>
            <a:off x="8019288" y="1554480"/>
            <a:ext cx="3547872" cy="2743200"/>
          </a:xfrm>
          <a:prstGeom prst="roundRect">
            <a:avLst>
              <a:gd name="adj" fmla="val 3000"/>
            </a:avLst>
          </a:prstGeom>
          <a:solidFill>
            <a:srgbClr val="ECEAE4"/>
          </a:solidFill>
          <a:ln w="12700">
            <a:solidFill>
              <a:srgbClr val="ECEAE4"/>
            </a:solidFill>
            <a:prstDash val="solid"/>
          </a:ln>
        </p:spPr>
        <p:txBody>
          <a:bodyPr/>
          <a:p/>
        </p:txBody>
      </p:sp>
      <p:sp>
        <p:nvSpPr>
          <p:cNvPr id="15" name="Shape 13"/>
          <p:cNvSpPr/>
          <p:nvPr/>
        </p:nvSpPr>
        <p:spPr>
          <a:xfrm>
            <a:off x="8019288" y="1554480"/>
            <a:ext cx="3547872" cy="73152"/>
          </a:xfrm>
          <a:prstGeom prst="rect">
            <a:avLst/>
          </a:prstGeom>
          <a:solidFill>
            <a:srgbClr val="B02532"/>
          </a:solidFill>
          <a:ln w="12700">
            <a:solidFill>
              <a:srgbClr val="B02532"/>
            </a:solidFill>
            <a:prstDash val="solid"/>
          </a:ln>
        </p:spPr>
        <p:txBody>
          <a:bodyPr/>
          <a:p/>
        </p:txBody>
      </p:sp>
      <p:sp>
        <p:nvSpPr>
          <p:cNvPr id="16" name="Text 14"/>
          <p:cNvSpPr/>
          <p:nvPr/>
        </p:nvSpPr>
        <p:spPr>
          <a:xfrm>
            <a:off x="8220456" y="1783080"/>
            <a:ext cx="3145536" cy="914400"/>
          </a:xfrm>
          <a:prstGeom prst="rect">
            <a:avLst/>
          </a:prstGeom>
          <a:noFill/>
          <a:ln/>
        </p:spPr>
        <p:txBody>
          <a:bodyPr wrap="square" lIns="0" tIns="0" rIns="0" bIns="0" rtlCol="0" anchor="t"/>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Ce faceți acum</a:t>
            </a:r>
            <a:endParaRPr lang="en-US" sz="2200" dirty="0"/>
          </a:p>
        </p:txBody>
      </p:sp>
      <p:sp>
        <p:nvSpPr>
          <p:cNvPr id="17" name="Text 15"/>
          <p:cNvSpPr/>
          <p:nvPr/>
        </p:nvSpPr>
        <p:spPr>
          <a:xfrm>
            <a:off x="8220456" y="2788920"/>
            <a:ext cx="3145536" cy="13716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„Exercițiile se mută între 7:30 și 10, durează 20 de minute, cu pauză și apă la fiecare 10 minute. Opriți-vă dacă amețiți sau vă e greață.”</a:t>
            </a:r>
            <a:endParaRPr lang="en-US" sz="1550" dirty="0"/>
          </a:p>
        </p:txBody>
      </p:sp>
      <p:sp>
        <p:nvSpPr>
          <p:cNvPr id="18" name="Shape 16"/>
          <p:cNvSpPr/>
          <p:nvPr/>
        </p:nvSpPr>
        <p:spPr>
          <a:xfrm>
            <a:off x="594360" y="4526280"/>
            <a:ext cx="10972800" cy="1325880"/>
          </a:xfrm>
          <a:prstGeom prst="roundRect">
            <a:avLst>
              <a:gd name="adj" fmla="val 6207"/>
            </a:avLst>
          </a:prstGeom>
          <a:solidFill>
            <a:srgbClr val="11121A"/>
          </a:solidFill>
          <a:ln w="12700">
            <a:solidFill>
              <a:srgbClr val="11121A"/>
            </a:solidFill>
            <a:prstDash val="solid"/>
          </a:ln>
        </p:spPr>
        <p:txBody>
          <a:bodyPr/>
          <a:p/>
        </p:txBody>
      </p:sp>
      <p:sp>
        <p:nvSpPr>
          <p:cNvPr id="19" name="Text 17"/>
          <p:cNvSpPr/>
          <p:nvPr/>
        </p:nvSpPr>
        <p:spPr>
          <a:xfrm>
            <a:off x="868680" y="4526280"/>
            <a:ext cx="10424160" cy="13258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Transparență, același mesaj pe toate canalele, incertitudinea recunoscută deschis. Ascultați întrebările oamenilor.</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SALĂ</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MAMA ȘI EXAMENUL CT</a:t>
            </a:r>
            <a:endParaRPr lang="en-US" sz="1300" dirty="0"/>
          </a:p>
        </p:txBody>
      </p:sp>
      <p:sp>
        <p:nvSpPr>
          <p:cNvPr id="5" name="Shape 3"/>
          <p:cNvSpPr/>
          <p:nvPr/>
        </p:nvSpPr>
        <p:spPr>
          <a:xfrm>
            <a:off x="594360" y="1280160"/>
            <a:ext cx="5394960" cy="3291840"/>
          </a:xfrm>
          <a:prstGeom prst="roundRect">
            <a:avLst>
              <a:gd name="adj" fmla="val 2500"/>
            </a:avLst>
          </a:prstGeom>
          <a:solidFill>
            <a:srgbClr val="1D1F2B"/>
          </a:solidFill>
          <a:ln w="12700">
            <a:solidFill>
              <a:srgbClr val="1D1F2B"/>
            </a:solidFill>
            <a:prstDash val="solid"/>
          </a:ln>
        </p:spPr>
        <p:txBody>
          <a:bodyPr/>
          <a:p/>
        </p:txBody>
      </p:sp>
      <p:sp>
        <p:nvSpPr>
          <p:cNvPr id="6" name="Text 4"/>
          <p:cNvSpPr/>
          <p:nvPr/>
        </p:nvSpPr>
        <p:spPr>
          <a:xfrm>
            <a:off x="868680" y="1417320"/>
            <a:ext cx="4937760" cy="914400"/>
          </a:xfrm>
          <a:prstGeom prst="rect">
            <a:avLst/>
          </a:prstGeom>
          <a:noFill/>
          <a:ln/>
        </p:spPr>
        <p:txBody>
          <a:bodyPr wrap="square" lIns="0" tIns="0" rIns="0" bIns="0" rtlCol="0" anchor="ctr"/>
          <a:lstStyle/>
          <a:p>
            <a:pPr indent="0" marL="0">
              <a:buNone/>
            </a:pPr>
            <a:r>
              <a:rPr lang="en-US" sz="3800" b="1" dirty="0">
                <a:solidFill>
                  <a:srgbClr val="FF4757"/>
                </a:solidFill>
                <a:latin typeface="Palatino Linotype" pitchFamily="34" charset="0"/>
                <a:ea typeface="Palatino Linotype" pitchFamily="34" charset="-122"/>
                <a:cs typeface="Palatino Linotype" pitchFamily="34" charset="-120"/>
              </a:rPr>
              <a:t>de aproape trei ori</a:t>
            </a:r>
            <a:endParaRPr lang="en-US" sz="3800" dirty="0"/>
          </a:p>
        </p:txBody>
      </p:sp>
      <p:sp>
        <p:nvSpPr>
          <p:cNvPr id="7" name="Text 5"/>
          <p:cNvSpPr/>
          <p:nvPr/>
        </p:nvSpPr>
        <p:spPr>
          <a:xfrm>
            <a:off x="868680" y="2423160"/>
            <a:ext cx="4846320" cy="205740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riscul relativ de leucemie și de tumori cerebrale, la doze adunate din mai multe examinări. Studiul spune „ar putea”: estimare din registre.</a:t>
            </a:r>
            <a:endParaRPr lang="en-US" sz="1800" dirty="0"/>
          </a:p>
        </p:txBody>
      </p:sp>
      <p:sp>
        <p:nvSpPr>
          <p:cNvPr id="8" name="Shape 6"/>
          <p:cNvSpPr/>
          <p:nvPr/>
        </p:nvSpPr>
        <p:spPr>
          <a:xfrm>
            <a:off x="6217920" y="1280160"/>
            <a:ext cx="5349240" cy="3291840"/>
          </a:xfrm>
          <a:prstGeom prst="roundRect">
            <a:avLst>
              <a:gd name="adj" fmla="val 2500"/>
            </a:avLst>
          </a:prstGeom>
          <a:solidFill>
            <a:srgbClr val="1D1F2B"/>
          </a:solidFill>
          <a:ln w="12700">
            <a:solidFill>
              <a:srgbClr val="1D1F2B"/>
            </a:solidFill>
            <a:prstDash val="solid"/>
          </a:ln>
        </p:spPr>
        <p:txBody>
          <a:bodyPr/>
          <a:p/>
        </p:txBody>
      </p:sp>
      <p:sp>
        <p:nvSpPr>
          <p:cNvPr id="9" name="Text 7"/>
          <p:cNvSpPr/>
          <p:nvPr/>
        </p:nvSpPr>
        <p:spPr>
          <a:xfrm>
            <a:off x="6492240" y="1417320"/>
            <a:ext cx="4846320" cy="1188720"/>
          </a:xfrm>
          <a:prstGeom prst="rect">
            <a:avLst/>
          </a:prstGeom>
          <a:noFill/>
          <a:ln/>
        </p:spPr>
        <p:txBody>
          <a:bodyPr wrap="square" lIns="0" tIns="0" rIns="0" bIns="0" rtlCol="0" anchor="ctr"/>
          <a:lstStyle/>
          <a:p>
            <a:pPr indent="0" marL="0">
              <a:buNone/>
            </a:pPr>
            <a:r>
              <a:rPr lang="en-US" sz="6400" b="1" dirty="0">
                <a:solidFill>
                  <a:srgbClr val="27D3BE"/>
                </a:solidFill>
                <a:latin typeface="Palatino Linotype" pitchFamily="34" charset="0"/>
                <a:ea typeface="Palatino Linotype" pitchFamily="34" charset="-122"/>
                <a:cs typeface="Palatino Linotype" pitchFamily="34" charset="-120"/>
              </a:rPr>
              <a:t>10 000</a:t>
            </a:r>
            <a:endParaRPr lang="en-US" sz="6400" dirty="0"/>
          </a:p>
        </p:txBody>
      </p:sp>
      <p:sp>
        <p:nvSpPr>
          <p:cNvPr id="10" name="Text 8"/>
          <p:cNvSpPr/>
          <p:nvPr/>
        </p:nvSpPr>
        <p:spPr>
          <a:xfrm>
            <a:off x="6492240" y="2697480"/>
            <a:ext cx="4846320" cy="1783080"/>
          </a:xfrm>
          <a:prstGeom prst="rect">
            <a:avLst/>
          </a:prstGeom>
          <a:noFill/>
          <a:ln/>
        </p:spPr>
        <p:txBody>
          <a:bodyPr wrap="square" lIns="0" tIns="0" rIns="0" bIns="0" rtlCol="0" anchor="t"/>
          <a:lstStyle/>
          <a:p>
            <a:pPr indent="0" marL="0">
              <a:buNone/>
            </a:pPr>
            <a:r>
              <a:rPr lang="en-US" sz="2000" dirty="0">
                <a:solidFill>
                  <a:srgbClr val="E6E8EF"/>
                </a:solidFill>
                <a:latin typeface="Palatino Linotype" pitchFamily="34" charset="0"/>
                <a:ea typeface="Palatino Linotype" pitchFamily="34" charset="-122"/>
                <a:cs typeface="Palatino Linotype" pitchFamily="34" charset="-120"/>
              </a:rPr>
              <a:t>de examene CT ale capului, la copii sub 10 ani: în 10 ani, un caz în plus de leucemie și unul de tumoră cerebrală.</a:t>
            </a:r>
            <a:endParaRPr lang="en-US" sz="2000" dirty="0"/>
          </a:p>
        </p:txBody>
      </p:sp>
      <p:sp>
        <p:nvSpPr>
          <p:cNvPr id="11" name="Text 9"/>
          <p:cNvSpPr/>
          <p:nvPr/>
        </p:nvSpPr>
        <p:spPr>
          <a:xfrm>
            <a:off x="594360" y="4800600"/>
            <a:ext cx="10972800" cy="731520"/>
          </a:xfrm>
          <a:prstGeom prst="rect">
            <a:avLst/>
          </a:prstGeom>
          <a:noFill/>
          <a:ln/>
        </p:spPr>
        <p:txBody>
          <a:bodyPr wrap="square" lIns="0" tIns="0" rIns="0" bIns="0" rtlCol="0" anchor="ctr"/>
          <a:lstStyle/>
          <a:p>
            <a:pPr indent="0" marL="0">
              <a:buNone/>
            </a:pPr>
            <a:r>
              <a:rPr lang="en-US" sz="2400" b="1" dirty="0">
                <a:solidFill>
                  <a:srgbClr val="FFC24B"/>
                </a:solidFill>
                <a:latin typeface="Palatino Linotype" pitchFamily="34" charset="0"/>
                <a:ea typeface="Palatino Linotype" pitchFamily="34" charset="-122"/>
                <a:cs typeface="Palatino Linotype" pitchFamily="34" charset="-120"/>
              </a:rPr>
              <a:t>Cum îi spuneți mamei „un caz în plus la 10 000”?</a:t>
            </a:r>
            <a:endParaRPr lang="en-US" sz="2400" dirty="0"/>
          </a:p>
        </p:txBody>
      </p:sp>
      <p:sp>
        <p:nvSpPr>
          <p:cNvPr id="12" name="Text 10"/>
          <p:cNvSpPr/>
          <p:nvPr/>
        </p:nvSpPr>
        <p:spPr>
          <a:xfrm>
            <a:off x="594360" y="5897880"/>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Studiu britanic, cohortă retrospectivă, 2012: primul examen CT înainte de 22 de ani.</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CINE SPUNE CE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Riscul există, este mic, iar echipa îl ține cât mai mic</a:t>
            </a:r>
            <a:endParaRPr lang="en-US" sz="2800" dirty="0"/>
          </a:p>
        </p:txBody>
      </p:sp>
      <p:sp>
        <p:nvSpPr>
          <p:cNvPr id="4" name="Shape 2"/>
          <p:cNvSpPr/>
          <p:nvPr/>
        </p:nvSpPr>
        <p:spPr>
          <a:xfrm>
            <a:off x="594360" y="1691640"/>
            <a:ext cx="4846320" cy="3017520"/>
          </a:xfrm>
          <a:prstGeom prst="roundRect">
            <a:avLst>
              <a:gd name="adj" fmla="val 2727"/>
            </a:avLst>
          </a:prstGeom>
          <a:solidFill>
            <a:srgbClr val="ECEAE4"/>
          </a:solidFill>
          <a:ln w="12700">
            <a:solidFill>
              <a:srgbClr val="ECEAE4"/>
            </a:solidFill>
            <a:prstDash val="solid"/>
          </a:ln>
        </p:spPr>
        <p:txBody>
          <a:bodyPr/>
          <a:p/>
        </p:txBody>
      </p:sp>
      <p:sp>
        <p:nvSpPr>
          <p:cNvPr id="5" name="Shape 3"/>
          <p:cNvSpPr/>
          <p:nvPr/>
        </p:nvSpPr>
        <p:spPr>
          <a:xfrm>
            <a:off x="594360" y="1691640"/>
            <a:ext cx="82296" cy="3017520"/>
          </a:xfrm>
          <a:prstGeom prst="rect">
            <a:avLst/>
          </a:prstGeom>
          <a:solidFill>
            <a:srgbClr val="4A2D8C"/>
          </a:solidFill>
          <a:ln w="12700">
            <a:solidFill>
              <a:srgbClr val="4A2D8C"/>
            </a:solidFill>
            <a:prstDash val="solid"/>
          </a:ln>
        </p:spPr>
        <p:txBody>
          <a:bodyPr/>
          <a:p/>
        </p:txBody>
      </p:sp>
      <p:sp>
        <p:nvSpPr>
          <p:cNvPr id="6" name="Text 4"/>
          <p:cNvSpPr/>
          <p:nvPr/>
        </p:nvSpPr>
        <p:spPr>
          <a:xfrm>
            <a:off x="914400" y="1828800"/>
            <a:ext cx="4389120" cy="457200"/>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Medicul</a:t>
            </a:r>
            <a:endParaRPr lang="en-US" sz="2200" dirty="0"/>
          </a:p>
        </p:txBody>
      </p:sp>
      <p:sp>
        <p:nvSpPr>
          <p:cNvPr id="7" name="Text 5"/>
          <p:cNvSpPr/>
          <p:nvPr/>
        </p:nvSpPr>
        <p:spPr>
          <a:xfrm>
            <a:off x="914400" y="2423160"/>
            <a:ext cx="4343400" cy="21945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A apreciat că, la acest copil, beneficiul investigației depășește riscul. El le explică.</a:t>
            </a:r>
            <a:endParaRPr lang="en-US" sz="1800" dirty="0"/>
          </a:p>
        </p:txBody>
      </p:sp>
      <p:sp>
        <p:nvSpPr>
          <p:cNvPr id="8" name="Shape 6"/>
          <p:cNvSpPr/>
          <p:nvPr/>
        </p:nvSpPr>
        <p:spPr>
          <a:xfrm>
            <a:off x="5715000" y="1691640"/>
            <a:ext cx="5852160" cy="3017520"/>
          </a:xfrm>
          <a:prstGeom prst="roundRect">
            <a:avLst>
              <a:gd name="adj" fmla="val 2727"/>
            </a:avLst>
          </a:prstGeom>
          <a:solidFill>
            <a:srgbClr val="07564B"/>
          </a:solidFill>
          <a:ln w="12700">
            <a:solidFill>
              <a:srgbClr val="07564B"/>
            </a:solidFill>
            <a:prstDash val="solid"/>
          </a:ln>
        </p:spPr>
        <p:txBody>
          <a:bodyPr/>
          <a:p/>
        </p:txBody>
      </p:sp>
      <p:sp>
        <p:nvSpPr>
          <p:cNvPr id="9" name="Text 7"/>
          <p:cNvSpPr/>
          <p:nvPr/>
        </p:nvSpPr>
        <p:spPr>
          <a:xfrm>
            <a:off x="5989320" y="1828800"/>
            <a:ext cx="5394960" cy="45720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Voi</a:t>
            </a:r>
            <a:endParaRPr lang="en-US" sz="2200" dirty="0"/>
          </a:p>
        </p:txBody>
      </p:sp>
      <p:sp>
        <p:nvSpPr>
          <p:cNvPr id="10" name="Text 8"/>
          <p:cNvSpPr/>
          <p:nvPr/>
        </p:nvSpPr>
        <p:spPr>
          <a:xfrm>
            <a:off x="5989320" y="2423160"/>
            <a:ext cx="544068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FFFFF"/>
                </a:solidFill>
                <a:latin typeface="Palatino Linotype" pitchFamily="34" charset="0"/>
                <a:ea typeface="Palatino Linotype" pitchFamily="34" charset="-122"/>
                <a:cs typeface="Palatino Linotype" pitchFamily="34" charset="-120"/>
              </a:rPr>
              <a:t>Explicați procedura și ce face echipa ca doza să fie cât mai mică</a:t>
            </a:r>
            <a:endParaRPr lang="en-US" sz="1800" dirty="0"/>
          </a:p>
          <a:p>
            <a:pPr marL="342900" indent="-342900">
              <a:spcAft>
                <a:spcPts val="800"/>
              </a:spcAft>
              <a:buSzPct val="100000"/>
              <a:buChar char="•"/>
            </a:pPr>
            <a:r>
              <a:rPr lang="en-US" sz="1800" dirty="0">
                <a:solidFill>
                  <a:srgbClr val="FFFFFF"/>
                </a:solidFill>
                <a:latin typeface="Palatino Linotype" pitchFamily="34" charset="0"/>
                <a:ea typeface="Palatino Linotype" pitchFamily="34" charset="-122"/>
                <a:cs typeface="Palatino Linotype" pitchFamily="34" charset="-120"/>
              </a:rPr>
              <a:t>Răspundeți cinstit la întrebări</a:t>
            </a:r>
            <a:endParaRPr lang="en-US" sz="1800" dirty="0"/>
          </a:p>
          <a:p>
            <a:pPr marL="342900" indent="-342900">
              <a:spcAft>
                <a:spcPts val="800"/>
              </a:spcAft>
              <a:buSzPct val="100000"/>
              <a:buChar char="•"/>
            </a:pPr>
            <a:r>
              <a:rPr lang="en-US" sz="1800" dirty="0">
                <a:solidFill>
                  <a:srgbClr val="FFFFFF"/>
                </a:solidFill>
                <a:latin typeface="Palatino Linotype" pitchFamily="34" charset="0"/>
                <a:ea typeface="Palatino Linotype" pitchFamily="34" charset="-122"/>
                <a:cs typeface="Palatino Linotype" pitchFamily="34" charset="-120"/>
              </a:rPr>
              <a:t>Chemați medicul când întrebarea privește decizia</a:t>
            </a:r>
            <a:endParaRPr lang="en-US" sz="1800" dirty="0"/>
          </a:p>
        </p:txBody>
      </p:sp>
      <p:sp>
        <p:nvSpPr>
          <p:cNvPr id="11" name="Shape 9"/>
          <p:cNvSpPr/>
          <p:nvPr/>
        </p:nvSpPr>
        <p:spPr>
          <a:xfrm>
            <a:off x="594360" y="4937760"/>
            <a:ext cx="10972800" cy="960120"/>
          </a:xfrm>
          <a:prstGeom prst="roundRect">
            <a:avLst>
              <a:gd name="adj" fmla="val 8571"/>
            </a:avLst>
          </a:prstGeom>
          <a:solidFill>
            <a:srgbClr val="11121A"/>
          </a:solidFill>
          <a:ln w="12700">
            <a:solidFill>
              <a:srgbClr val="11121A"/>
            </a:solidFill>
            <a:prstDash val="solid"/>
          </a:ln>
        </p:spPr>
        <p:txBody>
          <a:bodyPr/>
          <a:p/>
        </p:txBody>
      </p:sp>
      <p:sp>
        <p:nvSpPr>
          <p:cNvPr id="12" name="Text 10"/>
          <p:cNvSpPr/>
          <p:nvPr/>
        </p:nvSpPr>
        <p:spPr>
          <a:xfrm>
            <a:off x="868680" y="4937760"/>
            <a:ext cx="10424160" cy="96012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Autorii studiului: beneficiul clinic trebuie să depășească riscul, dozele cât mai mici, alternativele fără radiații ionizante luate în considerare.</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058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DATELE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cereți, cum trimiteți, cum se citește</a:t>
            </a:r>
            <a:endParaRPr lang="en-US" sz="3000" dirty="0"/>
          </a:p>
        </p:txBody>
      </p:sp>
      <p:sp>
        <p:nvSpPr>
          <p:cNvPr id="4" name="Shape 2"/>
          <p:cNvSpPr/>
          <p:nvPr/>
        </p:nvSpPr>
        <p:spPr>
          <a:xfrm rot="-60000">
            <a:off x="685800" y="1600200"/>
            <a:ext cx="5760720" cy="342900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txBody>
          <a:bodyPr/>
          <a:p/>
        </p:txBody>
      </p:sp>
      <p:sp>
        <p:nvSpPr>
          <p:cNvPr id="5" name="Text 3"/>
          <p:cNvSpPr/>
          <p:nvPr/>
        </p:nvSpPr>
        <p:spPr>
          <a:xfrm rot="-60000">
            <a:off x="960120" y="1783080"/>
            <a:ext cx="5212080" cy="329184"/>
          </a:xfrm>
          <a:prstGeom prst="rect">
            <a:avLst/>
          </a:prstGeom>
          <a:noFill/>
          <a:ln/>
        </p:spPr>
        <p:txBody>
          <a:bodyPr wrap="square" lIns="0" tIns="0" rIns="0" bIns="0" rtlCol="0" anchor="t"/>
          <a:lstStyle/>
          <a:p>
            <a:pPr indent="0" marL="0">
              <a:buNone/>
            </a:pPr>
            <a:r>
              <a:rPr lang="en-US" sz="1250" b="1" spc="200" kern="0" dirty="0">
                <a:solidFill>
                  <a:srgbClr val="B02532"/>
                </a:solidFill>
                <a:latin typeface="Palatino Linotype" pitchFamily="34" charset="0"/>
                <a:ea typeface="Palatino Linotype" pitchFamily="34" charset="-122"/>
                <a:cs typeface="Palatino Linotype" pitchFamily="34" charset="-120"/>
              </a:rPr>
              <a:t>REGULAMENTUL (UE) 2016/679</a:t>
            </a:r>
            <a:endParaRPr lang="en-US" sz="1250" dirty="0"/>
          </a:p>
        </p:txBody>
      </p:sp>
      <p:sp>
        <p:nvSpPr>
          <p:cNvPr id="6" name="Text 4"/>
          <p:cNvSpPr/>
          <p:nvPr/>
        </p:nvSpPr>
        <p:spPr>
          <a:xfrm rot="-60000">
            <a:off x="960120" y="2240280"/>
            <a:ext cx="5257800" cy="1920240"/>
          </a:xfrm>
          <a:prstGeom prst="rect">
            <a:avLst/>
          </a:prstGeom>
          <a:noFill/>
          <a:ln/>
        </p:spPr>
        <p:txBody>
          <a:bodyPr wrap="square" lIns="0" tIns="0" rIns="0" bIns="0" rtlCol="0" anchor="t"/>
          <a:lstStyle/>
          <a:p>
            <a:pPr indent="0" marL="0">
              <a:spcAft>
                <a:spcPts val="800"/>
              </a:spcAft>
              <a:buNone/>
            </a:pPr>
            <a:r>
              <a:rPr lang="en-US" sz="1450" b="1" dirty="0">
                <a:solidFill>
                  <a:srgbClr val="11121A"/>
                </a:solidFill>
                <a:latin typeface="Palatino Linotype" pitchFamily="34" charset="0"/>
                <a:ea typeface="Palatino Linotype" pitchFamily="34" charset="-122"/>
                <a:cs typeface="Palatino Linotype" pitchFamily="34" charset="-120"/>
              </a:rPr>
              <a:t>Art. 9 alin. (1): </a:t>
            </a:r>
            <a:pPr indent="0" marL="0">
              <a:spcAft>
                <a:spcPts val="800"/>
              </a:spcAft>
              <a:buNone/>
            </a:pPr>
            <a:r>
              <a:rPr lang="en-US" sz="1450" dirty="0">
                <a:solidFill>
                  <a:srgbClr val="11121A"/>
                </a:solidFill>
                <a:latin typeface="Palatino Linotype" pitchFamily="34" charset="0"/>
                <a:ea typeface="Palatino Linotype" pitchFamily="34" charset="-122"/>
                <a:cs typeface="Palatino Linotype" pitchFamily="34" charset="-120"/>
              </a:rPr>
              <a:t>„se interzice prelucrarea” datelor „privind sănătatea”, cu excepțiile de la alin. (2).</a:t>
            </a:r>
            <a:endParaRPr lang="en-US" sz="1450" dirty="0"/>
          </a:p>
          <a:p>
            <a:pPr indent="0" marL="0">
              <a:spcAft>
                <a:spcPts val="800"/>
              </a:spcAft>
              <a:buNone/>
            </a:pPr>
            <a:r>
              <a:rPr lang="en-US" sz="1450" b="1" dirty="0">
                <a:solidFill>
                  <a:srgbClr val="11121A"/>
                </a:solidFill>
                <a:latin typeface="Palatino Linotype" pitchFamily="34" charset="0"/>
                <a:ea typeface="Palatino Linotype" pitchFamily="34" charset="-122"/>
                <a:cs typeface="Palatino Linotype" pitchFamily="34" charset="-120"/>
              </a:rPr>
              <a:t>Art. 5 alin. (1) lit. (c): </a:t>
            </a:r>
            <a:pPr indent="0" marL="0">
              <a:spcAft>
                <a:spcPts val="800"/>
              </a:spcAft>
              <a:buNone/>
            </a:pPr>
            <a:r>
              <a:rPr lang="en-US" sz="1450" dirty="0">
                <a:solidFill>
                  <a:srgbClr val="11121A"/>
                </a:solidFill>
                <a:latin typeface="Palatino Linotype" pitchFamily="34" charset="0"/>
                <a:ea typeface="Palatino Linotype" pitchFamily="34" charset="-122"/>
                <a:cs typeface="Palatino Linotype" pitchFamily="34" charset="-120"/>
              </a:rPr>
              <a:t>datele trebuie să fie „adecvate, relevante și limitate la ceea ce este necesar”.</a:t>
            </a:r>
            <a:endParaRPr lang="en-US" sz="1450" dirty="0"/>
          </a:p>
        </p:txBody>
      </p:sp>
      <p:sp>
        <p:nvSpPr>
          <p:cNvPr id="7" name="Text 5"/>
          <p:cNvSpPr/>
          <p:nvPr/>
        </p:nvSpPr>
        <p:spPr>
          <a:xfrm rot="-60000">
            <a:off x="960120" y="4114800"/>
            <a:ext cx="5257800" cy="640080"/>
          </a:xfrm>
          <a:prstGeom prst="rect">
            <a:avLst/>
          </a:prstGeom>
          <a:noFill/>
          <a:ln/>
        </p:spPr>
        <p:txBody>
          <a:bodyPr wrap="square" lIns="0" tIns="0" rIns="0" bIns="0" rtlCol="0" anchor="t"/>
          <a:lstStyle/>
          <a:p>
            <a:pPr indent="0" marL="0">
              <a:buNone/>
            </a:pPr>
            <a:r>
              <a:rPr lang="en-US" sz="1450" b="1" dirty="0">
                <a:solidFill>
                  <a:srgbClr val="0E7C6B"/>
                </a:solidFill>
                <a:latin typeface="Palatino Linotype" pitchFamily="34" charset="0"/>
                <a:ea typeface="Palatino Linotype" pitchFamily="34" charset="-122"/>
                <a:cs typeface="Palatino Linotype" pitchFamily="34" charset="-120"/>
              </a:rPr>
              <a:t>Cereți numai ce vă trebuie pentru progres.</a:t>
            </a:r>
            <a:endParaRPr lang="en-US" sz="1450" dirty="0"/>
          </a:p>
        </p:txBody>
      </p:sp>
      <p:sp>
        <p:nvSpPr>
          <p:cNvPr id="8" name="Shape 6"/>
          <p:cNvSpPr/>
          <p:nvPr/>
        </p:nvSpPr>
        <p:spPr>
          <a:xfrm>
            <a:off x="6766560" y="1600200"/>
            <a:ext cx="4800600" cy="3429000"/>
          </a:xfrm>
          <a:prstGeom prst="roundRect">
            <a:avLst>
              <a:gd name="adj" fmla="val 2400"/>
            </a:avLst>
          </a:prstGeom>
          <a:solidFill>
            <a:srgbClr val="1D1F2B"/>
          </a:solidFill>
          <a:ln w="12700">
            <a:solidFill>
              <a:srgbClr val="1D1F2B"/>
            </a:solidFill>
            <a:prstDash val="solid"/>
          </a:ln>
        </p:spPr>
        <p:txBody>
          <a:bodyPr/>
          <a:p/>
        </p:txBody>
      </p:sp>
      <p:sp>
        <p:nvSpPr>
          <p:cNvPr id="9" name="Text 7"/>
          <p:cNvSpPr/>
          <p:nvPr/>
        </p:nvSpPr>
        <p:spPr>
          <a:xfrm>
            <a:off x="7040880" y="1737360"/>
            <a:ext cx="4297680" cy="36576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WCAG 2.1: conținut</a:t>
            </a:r>
            <a:endParaRPr lang="en-US" sz="1600" dirty="0"/>
          </a:p>
        </p:txBody>
      </p:sp>
      <p:sp>
        <p:nvSpPr>
          <p:cNvPr id="10" name="Shape 8"/>
          <p:cNvSpPr/>
          <p:nvPr/>
        </p:nvSpPr>
        <p:spPr>
          <a:xfrm>
            <a:off x="7040880" y="2240280"/>
            <a:ext cx="2057400" cy="329184"/>
          </a:xfrm>
          <a:prstGeom prst="roundRect">
            <a:avLst>
              <a:gd name="adj" fmla="val 50000"/>
            </a:avLst>
          </a:prstGeom>
          <a:solidFill>
            <a:srgbClr val="9B7EF7"/>
          </a:solidFill>
          <a:ln w="12700">
            <a:solidFill>
              <a:srgbClr val="9B7EF7"/>
            </a:solidFill>
            <a:prstDash val="solid"/>
          </a:ln>
        </p:spPr>
        <p:txBody>
          <a:bodyPr/>
          <a:p/>
        </p:txBody>
      </p:sp>
      <p:sp>
        <p:nvSpPr>
          <p:cNvPr id="11" name="Text 9"/>
          <p:cNvSpPr/>
          <p:nvPr/>
        </p:nvSpPr>
        <p:spPr>
          <a:xfrm>
            <a:off x="7040880" y="2240280"/>
            <a:ext cx="2057400" cy="329184"/>
          </a:xfrm>
          <a:prstGeom prst="rect">
            <a:avLst/>
          </a:prstGeom>
          <a:noFill/>
          <a:ln/>
        </p:spPr>
        <p:txBody>
          <a:bodyPr wrap="square" lIns="0" tIns="0" rIns="0" bIns="0" rtlCol="0" anchor="ctr"/>
          <a:lstStyle/>
          <a:p>
            <a:pPr algn="ctr" indent="0" marL="0">
              <a:buNone/>
            </a:pPr>
            <a:r>
              <a:rPr lang="en-US" sz="1350" b="1" dirty="0">
                <a:solidFill>
                  <a:srgbClr val="1F1040"/>
                </a:solidFill>
                <a:latin typeface="Palatino Linotype" pitchFamily="34" charset="0"/>
                <a:ea typeface="Palatino Linotype" pitchFamily="34" charset="-122"/>
                <a:cs typeface="Palatino Linotype" pitchFamily="34" charset="-120"/>
              </a:rPr>
              <a:t>perceptibil</a:t>
            </a:r>
            <a:endParaRPr lang="en-US" sz="1350" dirty="0"/>
          </a:p>
        </p:txBody>
      </p:sp>
      <p:sp>
        <p:nvSpPr>
          <p:cNvPr id="12" name="Shape 10"/>
          <p:cNvSpPr/>
          <p:nvPr/>
        </p:nvSpPr>
        <p:spPr>
          <a:xfrm>
            <a:off x="9189720" y="2240280"/>
            <a:ext cx="2057400" cy="329184"/>
          </a:xfrm>
          <a:prstGeom prst="roundRect">
            <a:avLst>
              <a:gd name="adj" fmla="val 50000"/>
            </a:avLst>
          </a:prstGeom>
          <a:solidFill>
            <a:srgbClr val="9B7EF7"/>
          </a:solidFill>
          <a:ln w="12700">
            <a:solidFill>
              <a:srgbClr val="9B7EF7"/>
            </a:solidFill>
            <a:prstDash val="solid"/>
          </a:ln>
        </p:spPr>
        <p:txBody>
          <a:bodyPr/>
          <a:p/>
        </p:txBody>
      </p:sp>
      <p:sp>
        <p:nvSpPr>
          <p:cNvPr id="13" name="Text 11"/>
          <p:cNvSpPr/>
          <p:nvPr/>
        </p:nvSpPr>
        <p:spPr>
          <a:xfrm>
            <a:off x="9189720" y="2240280"/>
            <a:ext cx="2057400" cy="329184"/>
          </a:xfrm>
          <a:prstGeom prst="rect">
            <a:avLst/>
          </a:prstGeom>
          <a:noFill/>
          <a:ln/>
        </p:spPr>
        <p:txBody>
          <a:bodyPr wrap="square" lIns="0" tIns="0" rIns="0" bIns="0" rtlCol="0" anchor="ctr"/>
          <a:lstStyle/>
          <a:p>
            <a:pPr algn="ctr" indent="0" marL="0">
              <a:buNone/>
            </a:pPr>
            <a:r>
              <a:rPr lang="en-US" sz="1350" b="1" dirty="0">
                <a:solidFill>
                  <a:srgbClr val="1F1040"/>
                </a:solidFill>
                <a:latin typeface="Palatino Linotype" pitchFamily="34" charset="0"/>
                <a:ea typeface="Palatino Linotype" pitchFamily="34" charset="-122"/>
                <a:cs typeface="Palatino Linotype" pitchFamily="34" charset="-120"/>
              </a:rPr>
              <a:t>operabil</a:t>
            </a:r>
            <a:endParaRPr lang="en-US" sz="1350" dirty="0"/>
          </a:p>
        </p:txBody>
      </p:sp>
      <p:sp>
        <p:nvSpPr>
          <p:cNvPr id="14" name="Shape 12"/>
          <p:cNvSpPr/>
          <p:nvPr/>
        </p:nvSpPr>
        <p:spPr>
          <a:xfrm>
            <a:off x="7040880" y="2697480"/>
            <a:ext cx="2057400" cy="329184"/>
          </a:xfrm>
          <a:prstGeom prst="roundRect">
            <a:avLst>
              <a:gd name="adj" fmla="val 50000"/>
            </a:avLst>
          </a:prstGeom>
          <a:solidFill>
            <a:srgbClr val="9B7EF7"/>
          </a:solidFill>
          <a:ln w="12700">
            <a:solidFill>
              <a:srgbClr val="9B7EF7"/>
            </a:solidFill>
            <a:prstDash val="solid"/>
          </a:ln>
        </p:spPr>
        <p:txBody>
          <a:bodyPr/>
          <a:p/>
        </p:txBody>
      </p:sp>
      <p:sp>
        <p:nvSpPr>
          <p:cNvPr id="15" name="Text 13"/>
          <p:cNvSpPr/>
          <p:nvPr/>
        </p:nvSpPr>
        <p:spPr>
          <a:xfrm>
            <a:off x="7040880" y="2697480"/>
            <a:ext cx="2057400" cy="329184"/>
          </a:xfrm>
          <a:prstGeom prst="rect">
            <a:avLst/>
          </a:prstGeom>
          <a:noFill/>
          <a:ln/>
        </p:spPr>
        <p:txBody>
          <a:bodyPr wrap="square" lIns="0" tIns="0" rIns="0" bIns="0" rtlCol="0" anchor="ctr"/>
          <a:lstStyle/>
          <a:p>
            <a:pPr algn="ctr" indent="0" marL="0">
              <a:buNone/>
            </a:pPr>
            <a:r>
              <a:rPr lang="en-US" sz="1350" b="1" dirty="0">
                <a:solidFill>
                  <a:srgbClr val="1F1040"/>
                </a:solidFill>
                <a:latin typeface="Palatino Linotype" pitchFamily="34" charset="0"/>
                <a:ea typeface="Palatino Linotype" pitchFamily="34" charset="-122"/>
                <a:cs typeface="Palatino Linotype" pitchFamily="34" charset="-120"/>
              </a:rPr>
              <a:t>ușor de înțeles</a:t>
            </a:r>
            <a:endParaRPr lang="en-US" sz="1350" dirty="0"/>
          </a:p>
        </p:txBody>
      </p:sp>
      <p:sp>
        <p:nvSpPr>
          <p:cNvPr id="16" name="Shape 14"/>
          <p:cNvSpPr/>
          <p:nvPr/>
        </p:nvSpPr>
        <p:spPr>
          <a:xfrm>
            <a:off x="9189720" y="2697480"/>
            <a:ext cx="2057400" cy="329184"/>
          </a:xfrm>
          <a:prstGeom prst="roundRect">
            <a:avLst>
              <a:gd name="adj" fmla="val 50000"/>
            </a:avLst>
          </a:prstGeom>
          <a:solidFill>
            <a:srgbClr val="9B7EF7"/>
          </a:solidFill>
          <a:ln w="12700">
            <a:solidFill>
              <a:srgbClr val="9B7EF7"/>
            </a:solidFill>
            <a:prstDash val="solid"/>
          </a:ln>
        </p:spPr>
        <p:txBody>
          <a:bodyPr/>
          <a:p/>
        </p:txBody>
      </p:sp>
      <p:sp>
        <p:nvSpPr>
          <p:cNvPr id="17" name="Text 15"/>
          <p:cNvSpPr/>
          <p:nvPr/>
        </p:nvSpPr>
        <p:spPr>
          <a:xfrm>
            <a:off x="9189720" y="2697480"/>
            <a:ext cx="2057400" cy="329184"/>
          </a:xfrm>
          <a:prstGeom prst="rect">
            <a:avLst/>
          </a:prstGeom>
          <a:noFill/>
          <a:ln/>
        </p:spPr>
        <p:txBody>
          <a:bodyPr wrap="square" lIns="0" tIns="0" rIns="0" bIns="0" rtlCol="0" anchor="ctr"/>
          <a:lstStyle/>
          <a:p>
            <a:pPr algn="ctr" indent="0" marL="0">
              <a:buNone/>
            </a:pPr>
            <a:r>
              <a:rPr lang="en-US" sz="1350" b="1" dirty="0">
                <a:solidFill>
                  <a:srgbClr val="1F1040"/>
                </a:solidFill>
                <a:latin typeface="Palatino Linotype" pitchFamily="34" charset="0"/>
                <a:ea typeface="Palatino Linotype" pitchFamily="34" charset="-122"/>
                <a:cs typeface="Palatino Linotype" pitchFamily="34" charset="-120"/>
              </a:rPr>
              <a:t>robust</a:t>
            </a:r>
            <a:endParaRPr lang="en-US" sz="1350" dirty="0"/>
          </a:p>
        </p:txBody>
      </p:sp>
      <p:sp>
        <p:nvSpPr>
          <p:cNvPr id="18" name="Text 16"/>
          <p:cNvSpPr/>
          <p:nvPr/>
        </p:nvSpPr>
        <p:spPr>
          <a:xfrm>
            <a:off x="7040880" y="3246120"/>
            <a:ext cx="4343400" cy="1691640"/>
          </a:xfrm>
          <a:prstGeom prst="rect">
            <a:avLst/>
          </a:prstGeom>
          <a:noFill/>
          <a:ln/>
        </p:spPr>
        <p:txBody>
          <a:bodyPr wrap="square" lIns="0" tIns="0" rIns="0" bIns="0" rtlCol="0" anchor="t"/>
          <a:lstStyle/>
          <a:p>
            <a:pPr marL="342900" indent="-342900">
              <a:spcAft>
                <a:spcPts val="300"/>
              </a:spcAft>
              <a:buSzPct val="100000"/>
              <a:buChar char="•"/>
            </a:pPr>
            <a:r>
              <a:rPr lang="en-US" sz="1550" dirty="0">
                <a:solidFill>
                  <a:srgbClr val="FFFFFF"/>
                </a:solidFill>
                <a:latin typeface="Palatino Linotype" pitchFamily="34" charset="0"/>
                <a:ea typeface="Palatino Linotype" pitchFamily="34" charset="-122"/>
                <a:cs typeface="Palatino Linotype" pitchFamily="34" charset="-120"/>
              </a:rPr>
              <a:t>subtitrări la clipuri</a:t>
            </a:r>
            <a:endParaRPr lang="en-US" sz="1550" dirty="0"/>
          </a:p>
          <a:p>
            <a:pPr marL="342900" indent="-342900">
              <a:spcAft>
                <a:spcPts val="300"/>
              </a:spcAft>
              <a:buSzPct val="100000"/>
              <a:buChar char="•"/>
            </a:pPr>
            <a:r>
              <a:rPr lang="en-US" sz="1550" dirty="0">
                <a:solidFill>
                  <a:srgbClr val="FFFFFF"/>
                </a:solidFill>
                <a:latin typeface="Palatino Linotype" pitchFamily="34" charset="0"/>
                <a:ea typeface="Palatino Linotype" pitchFamily="34" charset="-122"/>
                <a:cs typeface="Palatino Linotype" pitchFamily="34" charset="-120"/>
              </a:rPr>
              <a:t>contrast bun</a:t>
            </a:r>
            <a:endParaRPr lang="en-US" sz="1550" dirty="0"/>
          </a:p>
          <a:p>
            <a:pPr marL="342900" indent="-342900">
              <a:spcAft>
                <a:spcPts val="300"/>
              </a:spcAft>
              <a:buSzPct val="100000"/>
              <a:buChar char="•"/>
            </a:pPr>
            <a:r>
              <a:rPr lang="en-US" sz="1550" dirty="0">
                <a:solidFill>
                  <a:srgbClr val="FFFFFF"/>
                </a:solidFill>
                <a:latin typeface="Palatino Linotype" pitchFamily="34" charset="0"/>
                <a:ea typeface="Palatino Linotype" pitchFamily="34" charset="-122"/>
                <a:cs typeface="Palatino Linotype" pitchFamily="34" charset="-120"/>
              </a:rPr>
              <a:t>text mărit</a:t>
            </a:r>
            <a:endParaRPr lang="en-US" sz="1550" dirty="0"/>
          </a:p>
          <a:p>
            <a:pPr marL="342900" indent="-342900">
              <a:spcAft>
                <a:spcPts val="300"/>
              </a:spcAft>
              <a:buSzPct val="100000"/>
              <a:buChar char="•"/>
            </a:pPr>
            <a:r>
              <a:rPr lang="en-US" sz="1550" dirty="0">
                <a:solidFill>
                  <a:srgbClr val="FFFFFF"/>
                </a:solidFill>
                <a:latin typeface="Palatino Linotype" pitchFamily="34" charset="0"/>
                <a:ea typeface="Palatino Linotype" pitchFamily="34" charset="-122"/>
                <a:cs typeface="Palatino Linotype" pitchFamily="34" charset="-120"/>
              </a:rPr>
              <a:t>butoane fără mouse</a:t>
            </a:r>
            <a:endParaRPr lang="en-US" sz="1550" dirty="0"/>
          </a:p>
        </p:txBody>
      </p:sp>
      <p:sp>
        <p:nvSpPr>
          <p:cNvPr id="19" name="Shape 17"/>
          <p:cNvSpPr/>
          <p:nvPr/>
        </p:nvSpPr>
        <p:spPr>
          <a:xfrm>
            <a:off x="594360" y="5212080"/>
            <a:ext cx="10972800" cy="868680"/>
          </a:xfrm>
          <a:prstGeom prst="roundRect">
            <a:avLst>
              <a:gd name="adj" fmla="val 9474"/>
            </a:avLst>
          </a:prstGeom>
          <a:solidFill>
            <a:srgbClr val="272A38"/>
          </a:solidFill>
          <a:ln w="12700">
            <a:solidFill>
              <a:srgbClr val="272A38"/>
            </a:solidFill>
            <a:prstDash val="solid"/>
          </a:ln>
        </p:spPr>
        <p:txBody>
          <a:bodyPr/>
          <a:p/>
        </p:txBody>
      </p:sp>
      <p:sp>
        <p:nvSpPr>
          <p:cNvPr id="20" name="Text 18"/>
          <p:cNvSpPr/>
          <p:nvPr/>
        </p:nvSpPr>
        <p:spPr>
          <a:xfrm>
            <a:off x="868680" y="5212080"/>
            <a:ext cx="10424160" cy="86868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Un rezultat trimis pe mesageria personală poate încălca aceste reguli.</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594360" y="329184"/>
            <a:ext cx="3291840" cy="32918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594360" y="329184"/>
            <a:ext cx="3291840"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TERMENUL NOU 2 DIN 3</a:t>
            </a:r>
            <a:endParaRPr lang="en-US" sz="1300" dirty="0"/>
          </a:p>
        </p:txBody>
      </p:sp>
      <p:sp>
        <p:nvSpPr>
          <p:cNvPr id="4" name="Text 2"/>
          <p:cNvSpPr/>
          <p:nvPr/>
        </p:nvSpPr>
        <p:spPr>
          <a:xfrm>
            <a:off x="594360" y="868680"/>
            <a:ext cx="6766560" cy="868680"/>
          </a:xfrm>
          <a:prstGeom prst="rect">
            <a:avLst/>
          </a:prstGeom>
          <a:noFill/>
          <a:ln/>
        </p:spPr>
        <p:txBody>
          <a:bodyPr wrap="square" lIns="0" tIns="0" rIns="0" bIns="0" rtlCol="0" anchor="t"/>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Infodemia</a:t>
            </a:r>
            <a:endParaRPr lang="en-US" sz="4400" dirty="0"/>
          </a:p>
        </p:txBody>
      </p:sp>
      <p:sp>
        <p:nvSpPr>
          <p:cNvPr id="5" name="Text 3"/>
          <p:cNvSpPr/>
          <p:nvPr/>
        </p:nvSpPr>
        <p:spPr>
          <a:xfrm>
            <a:off x="594360" y="1828800"/>
            <a:ext cx="6858000" cy="1737360"/>
          </a:xfrm>
          <a:prstGeom prst="rect">
            <a:avLst/>
          </a:prstGeom>
          <a:noFill/>
          <a:ln/>
        </p:spPr>
        <p:txBody>
          <a:bodyPr wrap="square" lIns="0" tIns="0" rIns="0" bIns="0" rtlCol="0" anchor="t"/>
          <a:lstStyle/>
          <a:p>
            <a:pPr indent="0" marL="0">
              <a:buNone/>
            </a:pPr>
            <a:r>
              <a:rPr lang="en-US" sz="2500" b="1" dirty="0">
                <a:solidFill>
                  <a:srgbClr val="27D3BE"/>
                </a:solidFill>
                <a:latin typeface="Palatino Linotype" pitchFamily="34" charset="0"/>
                <a:ea typeface="Palatino Linotype" pitchFamily="34" charset="-122"/>
                <a:cs typeface="Palatino Linotype" pitchFamily="34" charset="-120"/>
              </a:rPr>
              <a:t>Atât de multe informații, adevărate și false amestecate, încât oamenii nu mai știu ce să creadă.</a:t>
            </a:r>
            <a:endParaRPr lang="en-US" sz="2500" dirty="0"/>
          </a:p>
        </p:txBody>
      </p:sp>
      <p:sp>
        <p:nvSpPr>
          <p:cNvPr id="6" name="Text 4"/>
          <p:cNvSpPr/>
          <p:nvPr/>
        </p:nvSpPr>
        <p:spPr>
          <a:xfrm>
            <a:off x="7955280" y="1143000"/>
            <a:ext cx="3657600" cy="329184"/>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Se aude și la bazele de recuperare</a:t>
            </a:r>
            <a:endParaRPr lang="en-US" sz="1400" dirty="0"/>
          </a:p>
        </p:txBody>
      </p:sp>
      <p:sp>
        <p:nvSpPr>
          <p:cNvPr id="7" name="Shape 5"/>
          <p:cNvSpPr/>
          <p:nvPr/>
        </p:nvSpPr>
        <p:spPr>
          <a:xfrm>
            <a:off x="7955280" y="1508760"/>
            <a:ext cx="3611880" cy="1554480"/>
          </a:xfrm>
          <a:prstGeom prst="roundRect">
            <a:avLst>
              <a:gd name="adj" fmla="val 10588"/>
            </a:avLst>
          </a:prstGeom>
          <a:solidFill>
            <a:srgbClr val="272A38"/>
          </a:solidFill>
          <a:ln w="12700">
            <a:solidFill>
              <a:srgbClr val="272A38"/>
            </a:solidFill>
            <a:prstDash val="solid"/>
          </a:ln>
        </p:spPr>
        <p:txBody>
          <a:bodyPr/>
          <a:p/>
        </p:txBody>
      </p:sp>
      <p:sp>
        <p:nvSpPr>
          <p:cNvPr id="8" name="Shape 6"/>
          <p:cNvSpPr/>
          <p:nvPr/>
        </p:nvSpPr>
        <p:spPr>
          <a:xfrm flipV="1">
            <a:off x="10698480" y="3044952"/>
            <a:ext cx="457200" cy="292608"/>
          </a:xfrm>
          <a:prstGeom prst="triangle">
            <a:avLst/>
          </a:prstGeom>
          <a:solidFill>
            <a:srgbClr val="272A38"/>
          </a:solidFill>
          <a:ln w="12700">
            <a:solidFill>
              <a:srgbClr val="272A38"/>
            </a:solidFill>
            <a:prstDash val="solid"/>
          </a:ln>
        </p:spPr>
        <p:txBody>
          <a:bodyPr/>
          <a:p/>
        </p:txBody>
      </p:sp>
      <p:sp>
        <p:nvSpPr>
          <p:cNvPr id="9" name="Text 7"/>
          <p:cNvSpPr/>
          <p:nvPr/>
        </p:nvSpPr>
        <p:spPr>
          <a:xfrm>
            <a:off x="8229600" y="1508760"/>
            <a:ext cx="3108960" cy="1554480"/>
          </a:xfrm>
          <a:prstGeom prst="rect">
            <a:avLst/>
          </a:prstGeom>
          <a:noFill/>
          <a:ln/>
        </p:spPr>
        <p:txBody>
          <a:bodyPr wrap="square" lIns="0" tIns="0" rIns="0" bIns="0" rtlCol="0" anchor="ctr"/>
          <a:lstStyle/>
          <a:p>
            <a:pPr indent="0" marL="0">
              <a:buNone/>
            </a:pPr>
            <a:r>
              <a:rPr lang="en-US" sz="2100" i="1" dirty="0">
                <a:solidFill>
                  <a:srgbClr val="FFFFFF"/>
                </a:solidFill>
                <a:latin typeface="Palatino Linotype" pitchFamily="34" charset="0"/>
                <a:ea typeface="Palatino Linotype" pitchFamily="34" charset="-122"/>
                <a:cs typeface="Palatino Linotype" pitchFamily="34" charset="-120"/>
              </a:rPr>
              <a:t>„când te doare spatele, nu te mișca”</a:t>
            </a:r>
            <a:endParaRPr lang="en-US" sz="2100" dirty="0"/>
          </a:p>
        </p:txBody>
      </p:sp>
      <p:sp>
        <p:nvSpPr>
          <p:cNvPr id="10" name="Shape 8"/>
          <p:cNvSpPr/>
          <p:nvPr/>
        </p:nvSpPr>
        <p:spPr>
          <a:xfrm>
            <a:off x="594360" y="3840480"/>
            <a:ext cx="10972800" cy="2103120"/>
          </a:xfrm>
          <a:prstGeom prst="roundRect">
            <a:avLst>
              <a:gd name="adj" fmla="val 3913"/>
            </a:avLst>
          </a:prstGeom>
          <a:solidFill>
            <a:srgbClr val="1D1F2B"/>
          </a:solidFill>
          <a:ln w="12700">
            <a:solidFill>
              <a:srgbClr val="1D1F2B"/>
            </a:solidFill>
            <a:prstDash val="solid"/>
          </a:ln>
        </p:spPr>
        <p:txBody>
          <a:bodyPr/>
          <a:p/>
        </p:txBody>
      </p:sp>
      <p:sp>
        <p:nvSpPr>
          <p:cNvPr id="11" name="Text 9"/>
          <p:cNvSpPr/>
          <p:nvPr/>
        </p:nvSpPr>
        <p:spPr>
          <a:xfrm>
            <a:off x="868680" y="3977640"/>
            <a:ext cx="10424160" cy="36576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În formularea OMS</a:t>
            </a:r>
            <a:endParaRPr lang="en-US" sz="1500" dirty="0"/>
          </a:p>
        </p:txBody>
      </p:sp>
      <p:sp>
        <p:nvSpPr>
          <p:cNvPr id="12" name="Text 10"/>
          <p:cNvSpPr/>
          <p:nvPr/>
        </p:nvSpPr>
        <p:spPr>
          <a:xfrm>
            <a:off x="868680" y="4389120"/>
            <a:ext cx="10424160" cy="1463040"/>
          </a:xfrm>
          <a:prstGeom prst="rect">
            <a:avLst/>
          </a:prstGeom>
          <a:noFill/>
          <a:ln/>
        </p:spPr>
        <p:txBody>
          <a:bodyPr wrap="square" lIns="0" tIns="0" rIns="0" bIns="0" rtlCol="0" anchor="t"/>
          <a:lstStyle/>
          <a:p>
            <a:pPr indent="0" marL="0">
              <a:buNone/>
            </a:pPr>
            <a:r>
              <a:rPr lang="en-US" sz="1750" dirty="0">
                <a:solidFill>
                  <a:srgbClr val="E6E8EF"/>
                </a:solidFill>
                <a:latin typeface="Palatino Linotype" pitchFamily="34" charset="0"/>
                <a:ea typeface="Palatino Linotype" pitchFamily="34" charset="-122"/>
                <a:cs typeface="Palatino Linotype" pitchFamily="34" charset="-120"/>
              </a:rPr>
              <a:t>Prea multă informație, inclusiv falsă sau înșelătoare, în mediul digital și în cel fizic, în timpul unui focar de boală. Produce confuzie și comportamente riscante, slăbește încrederea în autoritățile sanitare și răspunsul de sănătate publică.</a:t>
            </a:r>
            <a:endParaRPr lang="en-US" sz="17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VERIFICAREA ÎN PATRU PAȘI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Înainte să credeți sau să distribuiți</a:t>
            </a:r>
            <a:endParaRPr lang="en-US" sz="3200" dirty="0"/>
          </a:p>
        </p:txBody>
      </p:sp>
      <p:sp>
        <p:nvSpPr>
          <p:cNvPr id="4" name="Shape 2"/>
          <p:cNvSpPr/>
          <p:nvPr/>
        </p:nvSpPr>
        <p:spPr>
          <a:xfrm>
            <a:off x="594360" y="2240280"/>
            <a:ext cx="10972800" cy="36576"/>
          </a:xfrm>
          <a:prstGeom prst="rect">
            <a:avLst/>
          </a:prstGeom>
          <a:solidFill>
            <a:srgbClr val="C9C6BE"/>
          </a:solidFill>
          <a:ln w="12700">
            <a:solidFill>
              <a:srgbClr val="C9C6BE"/>
            </a:solidFill>
            <a:prstDash val="solid"/>
          </a:ln>
        </p:spPr>
        <p:txBody>
          <a:bodyPr/>
          <a:p/>
        </p:txBody>
      </p:sp>
      <p:sp>
        <p:nvSpPr>
          <p:cNvPr id="5" name="Shape 3"/>
          <p:cNvSpPr/>
          <p:nvPr/>
        </p:nvSpPr>
        <p:spPr>
          <a:xfrm>
            <a:off x="594360" y="1965960"/>
            <a:ext cx="548640" cy="548640"/>
          </a:xfrm>
          <a:prstGeom prst="ellipse">
            <a:avLst/>
          </a:prstGeom>
          <a:solidFill>
            <a:srgbClr val="B02532"/>
          </a:solidFill>
          <a:ln/>
        </p:spPr>
        <p:txBody>
          <a:bodyPr/>
          <a:p/>
        </p:txBody>
      </p:sp>
      <p:sp>
        <p:nvSpPr>
          <p:cNvPr id="6" name="Text 4"/>
          <p:cNvSpPr/>
          <p:nvPr/>
        </p:nvSpPr>
        <p:spPr>
          <a:xfrm>
            <a:off x="594360" y="196596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a:t>
            </a:r>
            <a:endParaRPr lang="en-US" sz="1700" dirty="0"/>
          </a:p>
        </p:txBody>
      </p:sp>
      <p:sp>
        <p:nvSpPr>
          <p:cNvPr id="7" name="Text 5"/>
          <p:cNvSpPr/>
          <p:nvPr/>
        </p:nvSpPr>
        <p:spPr>
          <a:xfrm>
            <a:off x="594360" y="2743200"/>
            <a:ext cx="2606040" cy="1280160"/>
          </a:xfrm>
          <a:prstGeom prst="rect">
            <a:avLst/>
          </a:prstGeom>
          <a:noFill/>
          <a:ln/>
        </p:spPr>
        <p:txBody>
          <a:bodyPr wrap="square" lIns="0" tIns="0" rIns="0" bIns="0" rtlCol="0" anchor="t"/>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Opriți-vă</a:t>
            </a:r>
            <a:endParaRPr lang="en-US" sz="2200" dirty="0"/>
          </a:p>
        </p:txBody>
      </p:sp>
      <p:sp>
        <p:nvSpPr>
          <p:cNvPr id="8" name="Shape 6"/>
          <p:cNvSpPr/>
          <p:nvPr/>
        </p:nvSpPr>
        <p:spPr>
          <a:xfrm>
            <a:off x="3383280" y="1965960"/>
            <a:ext cx="548640" cy="548640"/>
          </a:xfrm>
          <a:prstGeom prst="ellipse">
            <a:avLst/>
          </a:prstGeom>
          <a:solidFill>
            <a:srgbClr val="0E7C6B"/>
          </a:solidFill>
          <a:ln/>
        </p:spPr>
        <p:txBody>
          <a:bodyPr/>
          <a:p/>
        </p:txBody>
      </p:sp>
      <p:sp>
        <p:nvSpPr>
          <p:cNvPr id="9" name="Text 7"/>
          <p:cNvSpPr/>
          <p:nvPr/>
        </p:nvSpPr>
        <p:spPr>
          <a:xfrm>
            <a:off x="3383280" y="196596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2</a:t>
            </a:r>
            <a:endParaRPr lang="en-US" sz="1700" dirty="0"/>
          </a:p>
        </p:txBody>
      </p:sp>
      <p:sp>
        <p:nvSpPr>
          <p:cNvPr id="10" name="Text 8"/>
          <p:cNvSpPr/>
          <p:nvPr/>
        </p:nvSpPr>
        <p:spPr>
          <a:xfrm>
            <a:off x="3383280" y="2743200"/>
            <a:ext cx="2606040" cy="128016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Cercetați sursa</a:t>
            </a:r>
            <a:endParaRPr lang="en-US" sz="2200" dirty="0"/>
          </a:p>
        </p:txBody>
      </p:sp>
      <p:sp>
        <p:nvSpPr>
          <p:cNvPr id="11" name="Shape 9"/>
          <p:cNvSpPr/>
          <p:nvPr/>
        </p:nvSpPr>
        <p:spPr>
          <a:xfrm>
            <a:off x="6172200" y="1965960"/>
            <a:ext cx="548640" cy="548640"/>
          </a:xfrm>
          <a:prstGeom prst="ellipse">
            <a:avLst/>
          </a:prstGeom>
          <a:solidFill>
            <a:srgbClr val="0E7C6B"/>
          </a:solidFill>
          <a:ln/>
        </p:spPr>
        <p:txBody>
          <a:bodyPr/>
          <a:p/>
        </p:txBody>
      </p:sp>
      <p:sp>
        <p:nvSpPr>
          <p:cNvPr id="12" name="Text 10"/>
          <p:cNvSpPr/>
          <p:nvPr/>
        </p:nvSpPr>
        <p:spPr>
          <a:xfrm>
            <a:off x="6172200" y="196596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3</a:t>
            </a:r>
            <a:endParaRPr lang="en-US" sz="1700" dirty="0"/>
          </a:p>
        </p:txBody>
      </p:sp>
      <p:sp>
        <p:nvSpPr>
          <p:cNvPr id="13" name="Text 11"/>
          <p:cNvSpPr/>
          <p:nvPr/>
        </p:nvSpPr>
        <p:spPr>
          <a:xfrm>
            <a:off x="6172200" y="2743200"/>
            <a:ext cx="2606040" cy="128016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Căutați o relatare mai bună</a:t>
            </a:r>
            <a:endParaRPr lang="en-US" sz="2200" dirty="0"/>
          </a:p>
        </p:txBody>
      </p:sp>
      <p:sp>
        <p:nvSpPr>
          <p:cNvPr id="14" name="Shape 12"/>
          <p:cNvSpPr/>
          <p:nvPr/>
        </p:nvSpPr>
        <p:spPr>
          <a:xfrm>
            <a:off x="8961120" y="1965960"/>
            <a:ext cx="548640" cy="548640"/>
          </a:xfrm>
          <a:prstGeom prst="ellipse">
            <a:avLst/>
          </a:prstGeom>
          <a:solidFill>
            <a:srgbClr val="0E7C6B"/>
          </a:solidFill>
          <a:ln/>
        </p:spPr>
        <p:txBody>
          <a:bodyPr/>
          <a:p/>
        </p:txBody>
      </p:sp>
      <p:sp>
        <p:nvSpPr>
          <p:cNvPr id="15" name="Text 13"/>
          <p:cNvSpPr/>
          <p:nvPr/>
        </p:nvSpPr>
        <p:spPr>
          <a:xfrm>
            <a:off x="8961120" y="196596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4</a:t>
            </a:r>
            <a:endParaRPr lang="en-US" sz="1700" dirty="0"/>
          </a:p>
        </p:txBody>
      </p:sp>
      <p:sp>
        <p:nvSpPr>
          <p:cNvPr id="16" name="Text 14"/>
          <p:cNvSpPr/>
          <p:nvPr/>
        </p:nvSpPr>
        <p:spPr>
          <a:xfrm>
            <a:off x="8961120" y="2743200"/>
            <a:ext cx="2606040" cy="1280160"/>
          </a:xfrm>
          <a:prstGeom prst="rect">
            <a:avLst/>
          </a:prstGeom>
          <a:noFill/>
          <a:ln/>
        </p:spPr>
        <p:txBody>
          <a:bodyPr wrap="square" lIns="0" tIns="0" rIns="0" bIns="0" rtlCol="0" anchor="t"/>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Urmăriți afirmația până la originea ei</a:t>
            </a:r>
            <a:endParaRPr lang="en-US" sz="2200" dirty="0"/>
          </a:p>
        </p:txBody>
      </p:sp>
      <p:sp>
        <p:nvSpPr>
          <p:cNvPr id="17" name="Shape 15"/>
          <p:cNvSpPr/>
          <p:nvPr/>
        </p:nvSpPr>
        <p:spPr>
          <a:xfrm>
            <a:off x="594360" y="4480560"/>
            <a:ext cx="10972800" cy="1325880"/>
          </a:xfrm>
          <a:prstGeom prst="roundRect">
            <a:avLst>
              <a:gd name="adj" fmla="val 6207"/>
            </a:avLst>
          </a:prstGeom>
          <a:solidFill>
            <a:srgbClr val="B02532"/>
          </a:solidFill>
          <a:ln w="12700">
            <a:solidFill>
              <a:srgbClr val="B02532"/>
            </a:solidFill>
            <a:prstDash val="solid"/>
          </a:ln>
        </p:spPr>
        <p:txBody>
          <a:bodyPr/>
          <a:p/>
        </p:txBody>
      </p:sp>
      <p:sp>
        <p:nvSpPr>
          <p:cNvPr id="18" name="Text 16"/>
          <p:cNvSpPr/>
          <p:nvPr/>
        </p:nvSpPr>
        <p:spPr>
          <a:xfrm>
            <a:off x="868680" y="4480560"/>
            <a:ext cx="10424160" cy="1325880"/>
          </a:xfrm>
          <a:prstGeom prst="rect">
            <a:avLst/>
          </a:prstGeom>
          <a:noFill/>
          <a:ln/>
        </p:spPr>
        <p:txBody>
          <a:bodyPr wrap="square" lIns="0" tIns="0" rIns="0" bIns="0" rtlCol="0" anchor="ctr"/>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Primul pas este cel mai important: înainte să distribuiți sau să credeți, vă întrebați dacă știți cine a scris și de ce.</a:t>
            </a:r>
            <a:endParaRPr lang="en-US" sz="2000" dirty="0"/>
          </a:p>
        </p:txBody>
      </p:sp>
      <p:sp>
        <p:nvSpPr>
          <p:cNvPr id="19" name="Text 17"/>
          <p:cNvSpPr/>
          <p:nvPr/>
        </p:nvSpPr>
        <p:spPr>
          <a:xfrm>
            <a:off x="594360" y="6035040"/>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Mike Caulfield, metoda SIFT (Stop, Investigate the source, Find better coverage, Trace claims).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058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CORECTAREA UNUI MIT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Adevăr, mit, adevăr</a:t>
            </a:r>
            <a:endParaRPr lang="en-US" sz="3400" dirty="0"/>
          </a:p>
        </p:txBody>
      </p:sp>
      <p:sp>
        <p:nvSpPr>
          <p:cNvPr id="4" name="Shape 2"/>
          <p:cNvSpPr/>
          <p:nvPr/>
        </p:nvSpPr>
        <p:spPr>
          <a:xfrm>
            <a:off x="594360" y="1737360"/>
            <a:ext cx="457200" cy="457200"/>
          </a:xfrm>
          <a:prstGeom prst="ellipse">
            <a:avLst/>
          </a:prstGeom>
          <a:solidFill>
            <a:srgbClr val="27D3BE"/>
          </a:solidFill>
          <a:ln/>
        </p:spPr>
        <p:txBody>
          <a:bodyPr/>
          <a:p/>
        </p:txBody>
      </p:sp>
      <p:sp>
        <p:nvSpPr>
          <p:cNvPr id="5" name="Text 3"/>
          <p:cNvSpPr/>
          <p:nvPr/>
        </p:nvSpPr>
        <p:spPr>
          <a:xfrm>
            <a:off x="594360" y="173736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6" name="Text 4"/>
          <p:cNvSpPr/>
          <p:nvPr/>
        </p:nvSpPr>
        <p:spPr>
          <a:xfrm>
            <a:off x="1188720" y="1417320"/>
            <a:ext cx="4572000" cy="274320"/>
          </a:xfrm>
          <a:prstGeom prst="rect">
            <a:avLst/>
          </a:prstGeom>
          <a:noFill/>
          <a:ln/>
        </p:spPr>
        <p:txBody>
          <a:bodyPr wrap="square" lIns="0" tIns="0" rIns="0" bIns="0" rtlCol="0" anchor="t"/>
          <a:lstStyle/>
          <a:p>
            <a:pPr indent="0" marL="0">
              <a:buNone/>
            </a:pPr>
            <a:r>
              <a:rPr lang="en-US" sz="1250" b="1" dirty="0">
                <a:solidFill>
                  <a:srgbClr val="27D3BE"/>
                </a:solidFill>
                <a:latin typeface="Palatino Linotype" pitchFamily="34" charset="0"/>
                <a:ea typeface="Palatino Linotype" pitchFamily="34" charset="-122"/>
                <a:cs typeface="Palatino Linotype" pitchFamily="34" charset="-120"/>
              </a:rPr>
              <a:t>Adevărul întâi</a:t>
            </a:r>
            <a:endParaRPr lang="en-US" sz="1250" dirty="0"/>
          </a:p>
        </p:txBody>
      </p:sp>
      <p:sp>
        <p:nvSpPr>
          <p:cNvPr id="7" name="Shape 5"/>
          <p:cNvSpPr/>
          <p:nvPr/>
        </p:nvSpPr>
        <p:spPr>
          <a:xfrm>
            <a:off x="1188720" y="1709928"/>
            <a:ext cx="7863840" cy="868680"/>
          </a:xfrm>
          <a:prstGeom prst="roundRect">
            <a:avLst>
              <a:gd name="adj" fmla="val 18947"/>
            </a:avLst>
          </a:prstGeom>
          <a:solidFill>
            <a:srgbClr val="272A38"/>
          </a:solidFill>
          <a:ln w="12700">
            <a:solidFill>
              <a:srgbClr val="272A38"/>
            </a:solidFill>
            <a:prstDash val="solid"/>
          </a:ln>
        </p:spPr>
        <p:txBody>
          <a:bodyPr/>
          <a:p/>
        </p:txBody>
      </p:sp>
      <p:sp>
        <p:nvSpPr>
          <p:cNvPr id="8" name="Shape 6"/>
          <p:cNvSpPr/>
          <p:nvPr/>
        </p:nvSpPr>
        <p:spPr>
          <a:xfrm flipV="1">
            <a:off x="1600200" y="2560320"/>
            <a:ext cx="457200" cy="292608"/>
          </a:xfrm>
          <a:prstGeom prst="triangle">
            <a:avLst/>
          </a:prstGeom>
          <a:solidFill>
            <a:srgbClr val="272A38"/>
          </a:solidFill>
          <a:ln w="12700">
            <a:solidFill>
              <a:srgbClr val="272A38"/>
            </a:solidFill>
            <a:prstDash val="solid"/>
          </a:ln>
        </p:spPr>
        <p:txBody>
          <a:bodyPr/>
          <a:p/>
        </p:txBody>
      </p:sp>
      <p:sp>
        <p:nvSpPr>
          <p:cNvPr id="9" name="Text 7"/>
          <p:cNvSpPr/>
          <p:nvPr/>
        </p:nvSpPr>
        <p:spPr>
          <a:xfrm>
            <a:off x="1417320" y="1709928"/>
            <a:ext cx="7406640" cy="8686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Pentru durerea de spate obișnuită, exercițiile pentru reluarea mișcării fac parte din tratament.</a:t>
            </a:r>
            <a:endParaRPr lang="en-US" sz="1600" dirty="0"/>
          </a:p>
        </p:txBody>
      </p:sp>
      <p:sp>
        <p:nvSpPr>
          <p:cNvPr id="10" name="Shape 8"/>
          <p:cNvSpPr/>
          <p:nvPr/>
        </p:nvSpPr>
        <p:spPr>
          <a:xfrm>
            <a:off x="594360" y="3017520"/>
            <a:ext cx="457200" cy="457200"/>
          </a:xfrm>
          <a:prstGeom prst="ellipse">
            <a:avLst/>
          </a:prstGeom>
          <a:solidFill>
            <a:srgbClr val="FF4757"/>
          </a:solidFill>
          <a:ln/>
        </p:spPr>
        <p:txBody>
          <a:bodyPr/>
          <a:p/>
        </p:txBody>
      </p:sp>
      <p:sp>
        <p:nvSpPr>
          <p:cNvPr id="11" name="Text 9"/>
          <p:cNvSpPr/>
          <p:nvPr/>
        </p:nvSpPr>
        <p:spPr>
          <a:xfrm>
            <a:off x="594360" y="301752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188720" y="2697480"/>
            <a:ext cx="4572000" cy="274320"/>
          </a:xfrm>
          <a:prstGeom prst="rect">
            <a:avLst/>
          </a:prstGeom>
          <a:noFill/>
          <a:ln/>
        </p:spPr>
        <p:txBody>
          <a:bodyPr wrap="square" lIns="0" tIns="0" rIns="0" bIns="0" rtlCol="0" anchor="t"/>
          <a:lstStyle/>
          <a:p>
            <a:pPr indent="0" marL="0">
              <a:buNone/>
            </a:pPr>
            <a:r>
              <a:rPr lang="en-US" sz="1250" b="1" dirty="0">
                <a:solidFill>
                  <a:srgbClr val="FF4757"/>
                </a:solidFill>
                <a:latin typeface="Palatino Linotype" pitchFamily="34" charset="0"/>
                <a:ea typeface="Palatino Linotype" pitchFamily="34" charset="-122"/>
                <a:cs typeface="Palatino Linotype" pitchFamily="34" charset="-120"/>
              </a:rPr>
              <a:t>Mitul, scurt, numit fals</a:t>
            </a:r>
            <a:endParaRPr lang="en-US" sz="1250" dirty="0"/>
          </a:p>
        </p:txBody>
      </p:sp>
      <p:sp>
        <p:nvSpPr>
          <p:cNvPr id="13" name="Shape 11"/>
          <p:cNvSpPr/>
          <p:nvPr/>
        </p:nvSpPr>
        <p:spPr>
          <a:xfrm>
            <a:off x="1188720" y="2990088"/>
            <a:ext cx="7863840" cy="868680"/>
          </a:xfrm>
          <a:prstGeom prst="roundRect">
            <a:avLst>
              <a:gd name="adj" fmla="val 18947"/>
            </a:avLst>
          </a:prstGeom>
          <a:solidFill>
            <a:srgbClr val="272A38"/>
          </a:solidFill>
          <a:ln w="12700">
            <a:solidFill>
              <a:srgbClr val="272A38"/>
            </a:solidFill>
            <a:prstDash val="solid"/>
          </a:ln>
        </p:spPr>
        <p:txBody>
          <a:bodyPr/>
          <a:p/>
        </p:txBody>
      </p:sp>
      <p:sp>
        <p:nvSpPr>
          <p:cNvPr id="14" name="Shape 12"/>
          <p:cNvSpPr/>
          <p:nvPr/>
        </p:nvSpPr>
        <p:spPr>
          <a:xfrm flipV="1">
            <a:off x="1600200" y="3840480"/>
            <a:ext cx="457200" cy="292608"/>
          </a:xfrm>
          <a:prstGeom prst="triangle">
            <a:avLst/>
          </a:prstGeom>
          <a:solidFill>
            <a:srgbClr val="272A38"/>
          </a:solidFill>
          <a:ln w="12700">
            <a:solidFill>
              <a:srgbClr val="272A38"/>
            </a:solidFill>
            <a:prstDash val="solid"/>
          </a:ln>
        </p:spPr>
        <p:txBody>
          <a:bodyPr/>
          <a:p/>
        </p:txBody>
      </p:sp>
      <p:sp>
        <p:nvSpPr>
          <p:cNvPr id="15" name="Text 13"/>
          <p:cNvSpPr/>
          <p:nvPr/>
        </p:nvSpPr>
        <p:spPr>
          <a:xfrm>
            <a:off x="1417320" y="2990088"/>
            <a:ext cx="7406640" cy="8686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Circulă ideea că e mai sigur să nu vă mișcați când vă doare spatele; recomandările OMS spun contrariul.</a:t>
            </a:r>
            <a:endParaRPr lang="en-US" sz="1600" dirty="0"/>
          </a:p>
        </p:txBody>
      </p:sp>
      <p:sp>
        <p:nvSpPr>
          <p:cNvPr id="16" name="Shape 14"/>
          <p:cNvSpPr/>
          <p:nvPr/>
        </p:nvSpPr>
        <p:spPr>
          <a:xfrm>
            <a:off x="594360" y="4297680"/>
            <a:ext cx="457200" cy="457200"/>
          </a:xfrm>
          <a:prstGeom prst="ellipse">
            <a:avLst/>
          </a:prstGeom>
          <a:solidFill>
            <a:srgbClr val="27D3BE"/>
          </a:solidFill>
          <a:ln/>
        </p:spPr>
        <p:txBody>
          <a:bodyPr/>
          <a:p/>
        </p:txBody>
      </p:sp>
      <p:sp>
        <p:nvSpPr>
          <p:cNvPr id="17" name="Text 15"/>
          <p:cNvSpPr/>
          <p:nvPr/>
        </p:nvSpPr>
        <p:spPr>
          <a:xfrm>
            <a:off x="594360" y="429768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8" name="Text 16"/>
          <p:cNvSpPr/>
          <p:nvPr/>
        </p:nvSpPr>
        <p:spPr>
          <a:xfrm>
            <a:off x="1188720" y="3977640"/>
            <a:ext cx="4572000" cy="274320"/>
          </a:xfrm>
          <a:prstGeom prst="rect">
            <a:avLst/>
          </a:prstGeom>
          <a:noFill/>
          <a:ln/>
        </p:spPr>
        <p:txBody>
          <a:bodyPr wrap="square" lIns="0" tIns="0" rIns="0" bIns="0" rtlCol="0" anchor="t"/>
          <a:lstStyle/>
          <a:p>
            <a:pPr indent="0" marL="0">
              <a:buNone/>
            </a:pPr>
            <a:r>
              <a:rPr lang="en-US" sz="1250" b="1" dirty="0">
                <a:solidFill>
                  <a:srgbClr val="27D3BE"/>
                </a:solidFill>
                <a:latin typeface="Palatino Linotype" pitchFamily="34" charset="0"/>
                <a:ea typeface="Palatino Linotype" pitchFamily="34" charset="-122"/>
                <a:cs typeface="Palatino Linotype" pitchFamily="34" charset="-120"/>
              </a:rPr>
              <a:t>Din nou adevărul</a:t>
            </a:r>
            <a:endParaRPr lang="en-US" sz="1250" dirty="0"/>
          </a:p>
        </p:txBody>
      </p:sp>
      <p:sp>
        <p:nvSpPr>
          <p:cNvPr id="19" name="Shape 17"/>
          <p:cNvSpPr/>
          <p:nvPr/>
        </p:nvSpPr>
        <p:spPr>
          <a:xfrm>
            <a:off x="1188720" y="4270248"/>
            <a:ext cx="7863840" cy="868680"/>
          </a:xfrm>
          <a:prstGeom prst="roundRect">
            <a:avLst>
              <a:gd name="adj" fmla="val 18947"/>
            </a:avLst>
          </a:prstGeom>
          <a:solidFill>
            <a:srgbClr val="272A38"/>
          </a:solidFill>
          <a:ln w="12700">
            <a:solidFill>
              <a:srgbClr val="272A38"/>
            </a:solidFill>
            <a:prstDash val="solid"/>
          </a:ln>
        </p:spPr>
        <p:txBody>
          <a:bodyPr/>
          <a:p/>
        </p:txBody>
      </p:sp>
      <p:sp>
        <p:nvSpPr>
          <p:cNvPr id="20" name="Shape 18"/>
          <p:cNvSpPr/>
          <p:nvPr/>
        </p:nvSpPr>
        <p:spPr>
          <a:xfrm flipV="1">
            <a:off x="1600200" y="5120640"/>
            <a:ext cx="457200" cy="292608"/>
          </a:xfrm>
          <a:prstGeom prst="triangle">
            <a:avLst/>
          </a:prstGeom>
          <a:solidFill>
            <a:srgbClr val="272A38"/>
          </a:solidFill>
          <a:ln w="12700">
            <a:solidFill>
              <a:srgbClr val="272A38"/>
            </a:solidFill>
            <a:prstDash val="solid"/>
          </a:ln>
        </p:spPr>
        <p:txBody>
          <a:bodyPr/>
          <a:p/>
        </p:txBody>
      </p:sp>
      <p:sp>
        <p:nvSpPr>
          <p:cNvPr id="21" name="Text 19"/>
          <p:cNvSpPr/>
          <p:nvPr/>
        </p:nvSpPr>
        <p:spPr>
          <a:xfrm>
            <a:off x="1417320" y="4270248"/>
            <a:ext cx="7406640" cy="8686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Astăzi învățați două exerciții și cum creșteți treptat efortul.</a:t>
            </a:r>
            <a:endParaRPr lang="en-US" sz="1600" dirty="0"/>
          </a:p>
        </p:txBody>
      </p:sp>
      <p:sp>
        <p:nvSpPr>
          <p:cNvPr id="22" name="Shape 20"/>
          <p:cNvSpPr/>
          <p:nvPr/>
        </p:nvSpPr>
        <p:spPr>
          <a:xfrm>
            <a:off x="9326880" y="1417320"/>
            <a:ext cx="2240280" cy="3566160"/>
          </a:xfrm>
          <a:prstGeom prst="roundRect">
            <a:avLst>
              <a:gd name="adj" fmla="val 3673"/>
            </a:avLst>
          </a:prstGeom>
          <a:solidFill>
            <a:srgbClr val="1D1F2B"/>
          </a:solidFill>
          <a:ln w="12700">
            <a:solidFill>
              <a:srgbClr val="1D1F2B"/>
            </a:solidFill>
            <a:prstDash val="solid"/>
          </a:ln>
        </p:spPr>
        <p:txBody>
          <a:bodyPr/>
          <a:p/>
        </p:txBody>
      </p:sp>
      <p:sp>
        <p:nvSpPr>
          <p:cNvPr id="23" name="Text 21"/>
          <p:cNvSpPr/>
          <p:nvPr/>
        </p:nvSpPr>
        <p:spPr>
          <a:xfrm>
            <a:off x="9509760" y="1554480"/>
            <a:ext cx="1874520" cy="1828800"/>
          </a:xfrm>
          <a:prstGeom prst="rect">
            <a:avLst/>
          </a:prstGeom>
          <a:noFill/>
          <a:ln/>
        </p:spPr>
        <p:txBody>
          <a:bodyPr wrap="square" lIns="0" tIns="0" rIns="0" bIns="0" rtlCol="0" anchor="t"/>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Mitul nu se repetă mai des decât adevărul.</a:t>
            </a:r>
            <a:endParaRPr lang="en-US" sz="1600" dirty="0"/>
          </a:p>
        </p:txBody>
      </p:sp>
      <p:sp>
        <p:nvSpPr>
          <p:cNvPr id="24" name="Text 22"/>
          <p:cNvSpPr/>
          <p:nvPr/>
        </p:nvSpPr>
        <p:spPr>
          <a:xfrm>
            <a:off x="9509760" y="3474720"/>
            <a:ext cx="1874520" cy="1371600"/>
          </a:xfrm>
          <a:prstGeom prst="rect">
            <a:avLst/>
          </a:prstGeom>
          <a:noFill/>
          <a:ln/>
        </p:spPr>
        <p:txBody>
          <a:bodyPr wrap="square" lIns="0" tIns="0" rIns="0" bIns="0" rtlCol="0" anchor="t"/>
          <a:lstStyle/>
          <a:p>
            <a:pPr indent="0" marL="0">
              <a:buNone/>
            </a:pPr>
            <a:r>
              <a:rPr lang="en-US" sz="1300" i="1" dirty="0">
                <a:solidFill>
                  <a:srgbClr val="959BB0"/>
                </a:solidFill>
                <a:latin typeface="Palatino Linotype" pitchFamily="34" charset="0"/>
                <a:ea typeface="Palatino Linotype" pitchFamily="34" charset="-122"/>
                <a:cs typeface="Palatino Linotype" pitchFamily="34" charset="-120"/>
              </a:rPr>
              <a:t>Model: fișa OMS despre durerea de spate.</a:t>
            </a:r>
            <a:endParaRPr lang="en-US" sz="1300" dirty="0"/>
          </a:p>
        </p:txBody>
      </p:sp>
      <p:sp>
        <p:nvSpPr>
          <p:cNvPr id="25" name="Shape 23"/>
          <p:cNvSpPr/>
          <p:nvPr/>
        </p:nvSpPr>
        <p:spPr>
          <a:xfrm>
            <a:off x="594360" y="5349240"/>
            <a:ext cx="10972800" cy="777240"/>
          </a:xfrm>
          <a:prstGeom prst="roundRect">
            <a:avLst>
              <a:gd name="adj" fmla="val 10588"/>
            </a:avLst>
          </a:prstGeom>
          <a:solidFill>
            <a:srgbClr val="272A38"/>
          </a:solidFill>
          <a:ln w="12700">
            <a:solidFill>
              <a:srgbClr val="272A38"/>
            </a:solidFill>
            <a:prstDash val="solid"/>
          </a:ln>
        </p:spPr>
        <p:txBody>
          <a:bodyPr/>
          <a:p/>
        </p:txBody>
      </p:sp>
      <p:sp>
        <p:nvSpPr>
          <p:cNvPr id="26" name="Text 24"/>
          <p:cNvSpPr/>
          <p:nvPr/>
        </p:nvSpPr>
        <p:spPr>
          <a:xfrm>
            <a:off x="868680" y="5349240"/>
            <a:ext cx="10424160" cy="777240"/>
          </a:xfrm>
          <a:prstGeom prst="rect">
            <a:avLst/>
          </a:prstGeom>
          <a:noFill/>
          <a:ln/>
        </p:spPr>
        <p:txBody>
          <a:bodyPr wrap="square" lIns="0" tIns="0" rIns="0" bIns="0" rtlCol="0" anchor="ctr"/>
          <a:lstStyle/>
          <a:p>
            <a:pPr indent="0" marL="0">
              <a:buNone/>
            </a:pPr>
            <a:r>
              <a:rPr lang="en-US" sz="1800" b="1" dirty="0">
                <a:solidFill>
                  <a:srgbClr val="FFC24B"/>
                </a:solidFill>
                <a:latin typeface="Palatino Linotype" pitchFamily="34" charset="0"/>
                <a:ea typeface="Palatino Linotype" pitchFamily="34" charset="-122"/>
                <a:cs typeface="Palatino Linotype" pitchFamily="34" charset="-120"/>
              </a:rPr>
              <a:t>În perechi, un minut: corectați mitul „orice radiografie e periculoasă”.</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3" name="Shape 1"/>
          <p:cNvSpPr/>
          <p:nvPr/>
        </p:nvSpPr>
        <p:spPr>
          <a:xfrm rot="-60000">
            <a:off x="914400" y="1097280"/>
            <a:ext cx="10332720" cy="420624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txBody>
          <a:bodyPr/>
          <a:p/>
        </p:txBody>
      </p:sp>
      <p:sp>
        <p:nvSpPr>
          <p:cNvPr id="4" name="Text 2"/>
          <p:cNvSpPr/>
          <p:nvPr/>
        </p:nvSpPr>
        <p:spPr>
          <a:xfrm rot="-60000">
            <a:off x="1371600" y="1417320"/>
            <a:ext cx="9509760" cy="365760"/>
          </a:xfrm>
          <a:prstGeom prst="rect">
            <a:avLst/>
          </a:prstGeom>
          <a:noFill/>
          <a:ln/>
        </p:spPr>
        <p:txBody>
          <a:bodyPr wrap="square" lIns="0" tIns="0" rIns="0" bIns="0" rtlCol="0" anchor="t"/>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DESCOPERĂ.RO  ·  8 IUNIE 2012</a:t>
            </a:r>
            <a:endParaRPr lang="en-US" sz="1300" dirty="0"/>
          </a:p>
        </p:txBody>
      </p:sp>
      <p:sp>
        <p:nvSpPr>
          <p:cNvPr id="5" name="Shape 3"/>
          <p:cNvSpPr/>
          <p:nvPr/>
        </p:nvSpPr>
        <p:spPr>
          <a:xfrm rot="-60000">
            <a:off x="1371600" y="1874520"/>
            <a:ext cx="9418320" cy="27432"/>
          </a:xfrm>
          <a:prstGeom prst="rect">
            <a:avLst/>
          </a:prstGeom>
          <a:solidFill>
            <a:srgbClr val="11121A"/>
          </a:solidFill>
          <a:ln w="12700">
            <a:solidFill>
              <a:srgbClr val="11121A"/>
            </a:solidFill>
            <a:prstDash val="solid"/>
          </a:ln>
        </p:spPr>
        <p:txBody>
          <a:bodyPr/>
          <a:p/>
        </p:txBody>
      </p:sp>
      <p:sp>
        <p:nvSpPr>
          <p:cNvPr id="6" name="Text 4"/>
          <p:cNvSpPr/>
          <p:nvPr/>
        </p:nvSpPr>
        <p:spPr>
          <a:xfrm rot="-60000">
            <a:off x="1371600" y="2103120"/>
            <a:ext cx="9326880" cy="1737360"/>
          </a:xfrm>
          <a:prstGeom prst="rect">
            <a:avLst/>
          </a:prstGeom>
          <a:noFill/>
          <a:ln/>
        </p:spPr>
        <p:txBody>
          <a:bodyPr wrap="square" lIns="0" tIns="0" rIns="0" bIns="0" rtlCol="0" anchor="ctr"/>
          <a:lstStyle/>
          <a:p>
            <a:pPr indent="0" marL="0">
              <a:buNone/>
            </a:pPr>
            <a:r>
              <a:rPr lang="en-US" sz="4600" b="1" dirty="0">
                <a:solidFill>
                  <a:srgbClr val="11121A"/>
                </a:solidFill>
                <a:latin typeface="Palatino Linotype" pitchFamily="34" charset="0"/>
                <a:ea typeface="Palatino Linotype" pitchFamily="34" charset="-122"/>
                <a:cs typeface="Palatino Linotype" pitchFamily="34" charset="-120"/>
              </a:rPr>
              <a:t>Radiațiile tomografului pot dăuna copiilor</a:t>
            </a:r>
            <a:endParaRPr lang="en-US" sz="4600" dirty="0"/>
          </a:p>
        </p:txBody>
      </p:sp>
      <p:sp>
        <p:nvSpPr>
          <p:cNvPr id="7" name="Shape 5"/>
          <p:cNvSpPr/>
          <p:nvPr/>
        </p:nvSpPr>
        <p:spPr>
          <a:xfrm rot="-60000">
            <a:off x="1371600" y="4114800"/>
            <a:ext cx="8229600" cy="82296"/>
          </a:xfrm>
          <a:prstGeom prst="rect">
            <a:avLst/>
          </a:prstGeom>
          <a:solidFill>
            <a:srgbClr val="C9C6BE"/>
          </a:solidFill>
          <a:ln w="12700">
            <a:solidFill>
              <a:srgbClr val="C9C6BE"/>
            </a:solidFill>
            <a:prstDash val="solid"/>
          </a:ln>
        </p:spPr>
        <p:txBody>
          <a:bodyPr/>
          <a:p/>
        </p:txBody>
      </p:sp>
      <p:sp>
        <p:nvSpPr>
          <p:cNvPr id="8" name="Shape 6"/>
          <p:cNvSpPr/>
          <p:nvPr/>
        </p:nvSpPr>
        <p:spPr>
          <a:xfrm rot="-60000">
            <a:off x="1371600" y="4434840"/>
            <a:ext cx="6583680" cy="82296"/>
          </a:xfrm>
          <a:prstGeom prst="rect">
            <a:avLst/>
          </a:prstGeom>
          <a:solidFill>
            <a:srgbClr val="C9C6BE"/>
          </a:solidFill>
          <a:ln w="12700">
            <a:solidFill>
              <a:srgbClr val="C9C6BE"/>
            </a:solidFill>
            <a:prstDash val="solid"/>
          </a:ln>
        </p:spPr>
        <p:txBody>
          <a:bodyPr/>
          <a:p/>
        </p:txBody>
      </p:sp>
      <p:sp>
        <p:nvSpPr>
          <p:cNvPr id="9" name="Shape 7"/>
          <p:cNvSpPr/>
          <p:nvPr/>
        </p:nvSpPr>
        <p:spPr>
          <a:xfrm rot="-60000">
            <a:off x="1371600" y="4754880"/>
            <a:ext cx="7680960" cy="82296"/>
          </a:xfrm>
          <a:prstGeom prst="rect">
            <a:avLst/>
          </a:prstGeom>
          <a:solidFill>
            <a:srgbClr val="C9C6BE"/>
          </a:solidFill>
          <a:ln w="12700">
            <a:solidFill>
              <a:srgbClr val="C9C6BE"/>
            </a:solidFill>
            <a:prstDash val="solid"/>
          </a:ln>
        </p:spPr>
        <p:txBody>
          <a:bodyPr/>
          <a:p/>
        </p:txBody>
      </p:sp>
      <p:sp>
        <p:nvSpPr>
          <p:cNvPr id="10" name="Text 8"/>
          <p:cNvSpPr/>
          <p:nvPr/>
        </p:nvSpPr>
        <p:spPr>
          <a:xfrm>
            <a:off x="594360" y="5623560"/>
            <a:ext cx="10972800" cy="45720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Titlu real de presă; articolul prezenta studiul britanic din 2012.</a:t>
            </a:r>
            <a:endParaRPr lang="en-US" sz="1700" dirty="0"/>
          </a:p>
        </p:txBody>
      </p:sp>
      <p:sp>
        <p:nvSpPr>
          <p:cNvPr id="11" name="Text 9"/>
          <p:cNvSpPr/>
          <p:nvPr/>
        </p:nvSpPr>
        <p:spPr>
          <a:xfrm>
            <a:off x="594360" y="6172200"/>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Descoperă.ro, 8 iunie 2012.</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TABERE</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SALA ÎN DOUĂ TABERE</a:t>
            </a:r>
            <a:endParaRPr lang="en-US" sz="1300" dirty="0"/>
          </a:p>
        </p:txBody>
      </p:sp>
      <p:sp>
        <p:nvSpPr>
          <p:cNvPr id="5" name="Text 3"/>
          <p:cNvSpPr/>
          <p:nvPr/>
        </p:nvSpPr>
        <p:spPr>
          <a:xfrm>
            <a:off x="594360" y="777240"/>
            <a:ext cx="7955280" cy="82296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Mama față de echipa de radiologie</a:t>
            </a:r>
            <a:endParaRPr lang="en-US" sz="3400" dirty="0"/>
          </a:p>
        </p:txBody>
      </p:sp>
      <p:sp>
        <p:nvSpPr>
          <p:cNvPr id="6" name="Shape 4"/>
          <p:cNvSpPr/>
          <p:nvPr/>
        </p:nvSpPr>
        <p:spPr>
          <a:xfrm>
            <a:off x="594360" y="1783080"/>
            <a:ext cx="5349240" cy="2651760"/>
          </a:xfrm>
          <a:prstGeom prst="roundRect">
            <a:avLst>
              <a:gd name="adj" fmla="val 3103"/>
            </a:avLst>
          </a:prstGeom>
          <a:solidFill>
            <a:srgbClr val="1D1F2B"/>
          </a:solidFill>
          <a:ln w="12700">
            <a:solidFill>
              <a:srgbClr val="1D1F2B"/>
            </a:solidFill>
            <a:prstDash val="solid"/>
          </a:ln>
        </p:spPr>
        <p:txBody>
          <a:bodyPr/>
          <a:p/>
        </p:txBody>
      </p:sp>
      <p:sp>
        <p:nvSpPr>
          <p:cNvPr id="7" name="Shape 5"/>
          <p:cNvSpPr/>
          <p:nvPr/>
        </p:nvSpPr>
        <p:spPr>
          <a:xfrm>
            <a:off x="594360" y="1783080"/>
            <a:ext cx="5349240" cy="73152"/>
          </a:xfrm>
          <a:prstGeom prst="rect">
            <a:avLst/>
          </a:prstGeom>
          <a:solidFill>
            <a:srgbClr val="FF4757"/>
          </a:solidFill>
          <a:ln w="12700">
            <a:solidFill>
              <a:srgbClr val="FF4757"/>
            </a:solidFill>
            <a:prstDash val="solid"/>
          </a:ln>
        </p:spPr>
        <p:txBody>
          <a:bodyPr/>
          <a:p/>
        </p:txBody>
      </p:sp>
      <p:sp>
        <p:nvSpPr>
          <p:cNvPr id="8" name="Text 6"/>
          <p:cNvSpPr/>
          <p:nvPr/>
        </p:nvSpPr>
        <p:spPr>
          <a:xfrm>
            <a:off x="868680" y="1965960"/>
            <a:ext cx="4846320" cy="777240"/>
          </a:xfrm>
          <a:prstGeom prst="rect">
            <a:avLst/>
          </a:prstGeom>
          <a:noFill/>
          <a:ln/>
        </p:spPr>
        <p:txBody>
          <a:bodyPr wrap="square" lIns="0" tIns="0" rIns="0" bIns="0" rtlCol="0" anchor="t"/>
          <a:lstStyle/>
          <a:p>
            <a:pPr indent="0" marL="0">
              <a:buNone/>
            </a:pPr>
            <a:r>
              <a:rPr lang="en-US" sz="2000" b="1" dirty="0">
                <a:solidFill>
                  <a:srgbClr val="FF4757"/>
                </a:solidFill>
                <a:latin typeface="Palatino Linotype" pitchFamily="34" charset="0"/>
                <a:ea typeface="Palatino Linotype" pitchFamily="34" charset="-122"/>
                <a:cs typeface="Palatino Linotype" pitchFamily="34" charset="-120"/>
              </a:rPr>
              <a:t>Tabăra din stânga: mama, care a citit titlul</a:t>
            </a:r>
            <a:endParaRPr lang="en-US" sz="2000" dirty="0"/>
          </a:p>
        </p:txBody>
      </p:sp>
      <p:sp>
        <p:nvSpPr>
          <p:cNvPr id="9" name="Text 7"/>
          <p:cNvSpPr/>
          <p:nvPr/>
        </p:nvSpPr>
        <p:spPr>
          <a:xfrm>
            <a:off x="868680" y="2880360"/>
            <a:ext cx="4846320" cy="137160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Scrieți cele două întrebări pe care le-ați pune.</a:t>
            </a:r>
            <a:endParaRPr lang="en-US" sz="1900" dirty="0"/>
          </a:p>
        </p:txBody>
      </p:sp>
      <p:sp>
        <p:nvSpPr>
          <p:cNvPr id="10" name="Shape 8"/>
          <p:cNvSpPr/>
          <p:nvPr/>
        </p:nvSpPr>
        <p:spPr>
          <a:xfrm>
            <a:off x="6217920" y="1783080"/>
            <a:ext cx="5349240" cy="2651760"/>
          </a:xfrm>
          <a:prstGeom prst="roundRect">
            <a:avLst>
              <a:gd name="adj" fmla="val 3103"/>
            </a:avLst>
          </a:prstGeom>
          <a:solidFill>
            <a:srgbClr val="1D1F2B"/>
          </a:solidFill>
          <a:ln w="12700">
            <a:solidFill>
              <a:srgbClr val="1D1F2B"/>
            </a:solidFill>
            <a:prstDash val="solid"/>
          </a:ln>
        </p:spPr>
        <p:txBody>
          <a:bodyPr/>
          <a:p/>
        </p:txBody>
      </p:sp>
      <p:sp>
        <p:nvSpPr>
          <p:cNvPr id="11" name="Shape 9"/>
          <p:cNvSpPr/>
          <p:nvPr/>
        </p:nvSpPr>
        <p:spPr>
          <a:xfrm>
            <a:off x="6217920" y="1783080"/>
            <a:ext cx="5349240" cy="73152"/>
          </a:xfrm>
          <a:prstGeom prst="rect">
            <a:avLst/>
          </a:prstGeom>
          <a:solidFill>
            <a:srgbClr val="27D3BE"/>
          </a:solidFill>
          <a:ln w="12700">
            <a:solidFill>
              <a:srgbClr val="27D3BE"/>
            </a:solidFill>
            <a:prstDash val="solid"/>
          </a:ln>
        </p:spPr>
        <p:txBody>
          <a:bodyPr/>
          <a:p/>
        </p:txBody>
      </p:sp>
      <p:sp>
        <p:nvSpPr>
          <p:cNvPr id="12" name="Text 10"/>
          <p:cNvSpPr/>
          <p:nvPr/>
        </p:nvSpPr>
        <p:spPr>
          <a:xfrm>
            <a:off x="6492240" y="1965960"/>
            <a:ext cx="4846320" cy="77724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Tabăra din dreapta: echipa de radiologie</a:t>
            </a:r>
            <a:endParaRPr lang="en-US" sz="2000" dirty="0"/>
          </a:p>
        </p:txBody>
      </p:sp>
      <p:sp>
        <p:nvSpPr>
          <p:cNvPr id="13" name="Text 11"/>
          <p:cNvSpPr/>
          <p:nvPr/>
        </p:nvSpPr>
        <p:spPr>
          <a:xfrm>
            <a:off x="6492240" y="2880360"/>
            <a:ext cx="4846320" cy="1371600"/>
          </a:xfrm>
          <a:prstGeom prst="rect">
            <a:avLst/>
          </a:prstGeom>
          <a:noFill/>
          <a:ln/>
        </p:spPr>
        <p:txBody>
          <a:bodyPr wrap="square" lIns="0" tIns="0" rIns="0" bIns="0" rtlCol="0" anchor="t"/>
          <a:lstStyle/>
          <a:p>
            <a:pPr indent="0" marL="0">
              <a:buNone/>
            </a:pPr>
            <a:r>
              <a:rPr lang="en-US" sz="1900" dirty="0">
                <a:solidFill>
                  <a:srgbClr val="E6E8EF"/>
                </a:solidFill>
                <a:latin typeface="Palatino Linotype" pitchFamily="34" charset="0"/>
                <a:ea typeface="Palatino Linotype" pitchFamily="34" charset="-122"/>
                <a:cs typeface="Palatino Linotype" pitchFamily="34" charset="-120"/>
              </a:rPr>
              <a:t>Scrieți răspunsul în trei propoziții: adevărul, mitul, ce facem acum.</a:t>
            </a:r>
            <a:endParaRPr lang="en-US" sz="1900" dirty="0"/>
          </a:p>
        </p:txBody>
      </p:sp>
      <p:sp>
        <p:nvSpPr>
          <p:cNvPr id="14" name="Shape 12"/>
          <p:cNvSpPr/>
          <p:nvPr/>
        </p:nvSpPr>
        <p:spPr>
          <a:xfrm>
            <a:off x="594360" y="4709160"/>
            <a:ext cx="10972800" cy="1097280"/>
          </a:xfrm>
          <a:prstGeom prst="roundRect">
            <a:avLst>
              <a:gd name="adj" fmla="val 7500"/>
            </a:avLst>
          </a:prstGeom>
          <a:solidFill>
            <a:srgbClr val="272A38"/>
          </a:solidFill>
          <a:ln w="12700">
            <a:solidFill>
              <a:srgbClr val="272A38"/>
            </a:solidFill>
            <a:prstDash val="solid"/>
          </a:ln>
        </p:spPr>
        <p:txBody>
          <a:bodyPr/>
          <a:p/>
        </p:txBody>
      </p:sp>
      <p:sp>
        <p:nvSpPr>
          <p:cNvPr id="15" name="Text 13"/>
          <p:cNvSpPr/>
          <p:nvPr/>
        </p:nvSpPr>
        <p:spPr>
          <a:xfrm>
            <a:off x="868680" y="4709160"/>
            <a:ext cx="10424160" cy="109728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Două minute de pregătire. Un reprezentant citește, iar sala votează: răspunsul a liniștit-o pe mamă fără să o mintă?</a:t>
            </a:r>
            <a:endParaRPr lang="en-US" sz="1900" dirty="0"/>
          </a:p>
        </p:txBody>
      </p:sp>
      <p:sp>
        <p:nvSpPr>
          <p:cNvPr id="16" name="Text 14"/>
          <p:cNvSpPr/>
          <p:nvPr/>
        </p:nvSpPr>
        <p:spPr>
          <a:xfrm>
            <a:off x="594360" y="5989320"/>
            <a:ext cx="10972800" cy="36576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Răspundeți pe telefon, la codul afișat.</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Titlul nu este fals. Ce lipsește din el?</a:t>
            </a:r>
            <a:endParaRPr lang="en-US" sz="3000" dirty="0"/>
          </a:p>
        </p:txBody>
      </p:sp>
      <p:sp>
        <p:nvSpPr>
          <p:cNvPr id="4" name="Shape 2"/>
          <p:cNvSpPr/>
          <p:nvPr/>
        </p:nvSpPr>
        <p:spPr>
          <a:xfrm>
            <a:off x="594360" y="1691640"/>
            <a:ext cx="3547872" cy="3200400"/>
          </a:xfrm>
          <a:prstGeom prst="roundRect">
            <a:avLst>
              <a:gd name="adj" fmla="val 2571"/>
            </a:avLst>
          </a:prstGeom>
          <a:solidFill>
            <a:srgbClr val="ECEAE4"/>
          </a:solidFill>
          <a:ln w="12700">
            <a:solidFill>
              <a:srgbClr val="ECEAE4"/>
            </a:solidFill>
            <a:prstDash val="solid"/>
          </a:ln>
        </p:spPr>
        <p:txBody>
          <a:bodyPr/>
          <a:p/>
        </p:txBody>
      </p:sp>
      <p:sp>
        <p:nvSpPr>
          <p:cNvPr id="5" name="Shape 3"/>
          <p:cNvSpPr/>
          <p:nvPr/>
        </p:nvSpPr>
        <p:spPr>
          <a:xfrm>
            <a:off x="594360" y="1691640"/>
            <a:ext cx="3547872" cy="73152"/>
          </a:xfrm>
          <a:prstGeom prst="rect">
            <a:avLst/>
          </a:prstGeom>
          <a:solidFill>
            <a:srgbClr val="B02532"/>
          </a:solidFill>
          <a:ln w="12700">
            <a:solidFill>
              <a:srgbClr val="B02532"/>
            </a:solidFill>
            <a:prstDash val="solid"/>
          </a:ln>
        </p:spPr>
        <p:txBody>
          <a:bodyPr/>
          <a:p/>
        </p:txBody>
      </p:sp>
      <p:sp>
        <p:nvSpPr>
          <p:cNvPr id="6" name="Text 4"/>
          <p:cNvSpPr/>
          <p:nvPr/>
        </p:nvSpPr>
        <p:spPr>
          <a:xfrm>
            <a:off x="795528" y="1920240"/>
            <a:ext cx="3145536" cy="914400"/>
          </a:xfrm>
          <a:prstGeom prst="rect">
            <a:avLst/>
          </a:prstGeom>
          <a:noFill/>
          <a:ln/>
        </p:spPr>
        <p:txBody>
          <a:bodyPr wrap="square" lIns="0" tIns="0" rIns="0" bIns="0" rtlCol="0" anchor="t"/>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Doza</a:t>
            </a:r>
            <a:endParaRPr lang="en-US" sz="2200" dirty="0"/>
          </a:p>
        </p:txBody>
      </p:sp>
      <p:sp>
        <p:nvSpPr>
          <p:cNvPr id="7" name="Text 5"/>
          <p:cNvSpPr/>
          <p:nvPr/>
        </p:nvSpPr>
        <p:spPr>
          <a:xfrm>
            <a:off x="795528" y="2926080"/>
            <a:ext cx="3145536" cy="182880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Nimic despre doză: studiul a estimat un risc aproape triplu la doze adunate din mai multe examinări.</a:t>
            </a:r>
            <a:endParaRPr lang="en-US" sz="1650" dirty="0"/>
          </a:p>
        </p:txBody>
      </p:sp>
      <p:sp>
        <p:nvSpPr>
          <p:cNvPr id="8" name="Shape 6"/>
          <p:cNvSpPr/>
          <p:nvPr/>
        </p:nvSpPr>
        <p:spPr>
          <a:xfrm>
            <a:off x="4306824" y="1691640"/>
            <a:ext cx="3547872" cy="3200400"/>
          </a:xfrm>
          <a:prstGeom prst="roundRect">
            <a:avLst>
              <a:gd name="adj" fmla="val 2571"/>
            </a:avLst>
          </a:prstGeom>
          <a:solidFill>
            <a:srgbClr val="F9F8F5"/>
          </a:solidFill>
          <a:ln w="12700">
            <a:solidFill>
              <a:srgbClr val="F9F8F5"/>
            </a:solidFill>
            <a:prstDash val="solid"/>
          </a:ln>
        </p:spPr>
        <p:txBody>
          <a:bodyPr/>
          <a:p/>
        </p:txBody>
      </p:sp>
      <p:sp>
        <p:nvSpPr>
          <p:cNvPr id="9" name="Shape 7"/>
          <p:cNvSpPr/>
          <p:nvPr/>
        </p:nvSpPr>
        <p:spPr>
          <a:xfrm>
            <a:off x="4306824" y="1691640"/>
            <a:ext cx="3547872" cy="73152"/>
          </a:xfrm>
          <a:prstGeom prst="rect">
            <a:avLst/>
          </a:prstGeom>
          <a:solidFill>
            <a:srgbClr val="4A2D8C"/>
          </a:solidFill>
          <a:ln w="12700">
            <a:solidFill>
              <a:srgbClr val="4A2D8C"/>
            </a:solidFill>
            <a:prstDash val="solid"/>
          </a:ln>
        </p:spPr>
        <p:txBody>
          <a:bodyPr/>
          <a:p/>
        </p:txBody>
      </p:sp>
      <p:sp>
        <p:nvSpPr>
          <p:cNvPr id="10" name="Text 8"/>
          <p:cNvSpPr/>
          <p:nvPr/>
        </p:nvSpPr>
        <p:spPr>
          <a:xfrm>
            <a:off x="4507992" y="1920240"/>
            <a:ext cx="3145536" cy="914400"/>
          </a:xfrm>
          <a:prstGeom prst="rect">
            <a:avLst/>
          </a:prstGeom>
          <a:noFill/>
          <a:ln/>
        </p:spPr>
        <p:txBody>
          <a:bodyPr wrap="square" lIns="0" tIns="0" rIns="0" bIns="0" rtlCol="0" anchor="t"/>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Riscul absolut</a:t>
            </a:r>
            <a:endParaRPr lang="en-US" sz="2200" dirty="0"/>
          </a:p>
        </p:txBody>
      </p:sp>
      <p:sp>
        <p:nvSpPr>
          <p:cNvPr id="11" name="Text 9"/>
          <p:cNvSpPr/>
          <p:nvPr/>
        </p:nvSpPr>
        <p:spPr>
          <a:xfrm>
            <a:off x="4507992" y="2926080"/>
            <a:ext cx="3145536" cy="182880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Ascuns: un caz în plus de leucemie și unul de tumoră cerebrală la 10 000 de examene CT ale capului, la copii sub 10 ani, în 10 ani.</a:t>
            </a:r>
            <a:endParaRPr lang="en-US" sz="1650" dirty="0"/>
          </a:p>
        </p:txBody>
      </p:sp>
      <p:sp>
        <p:nvSpPr>
          <p:cNvPr id="12" name="Shape 10"/>
          <p:cNvSpPr/>
          <p:nvPr/>
        </p:nvSpPr>
        <p:spPr>
          <a:xfrm>
            <a:off x="8019288" y="1691640"/>
            <a:ext cx="3547872" cy="3200400"/>
          </a:xfrm>
          <a:prstGeom prst="roundRect">
            <a:avLst>
              <a:gd name="adj" fmla="val 2571"/>
            </a:avLst>
          </a:prstGeom>
          <a:solidFill>
            <a:srgbClr val="ECEAE4"/>
          </a:solidFill>
          <a:ln w="12700">
            <a:solidFill>
              <a:srgbClr val="ECEAE4"/>
            </a:solidFill>
            <a:prstDash val="solid"/>
          </a:ln>
        </p:spPr>
        <p:txBody>
          <a:bodyPr/>
          <a:p/>
        </p:txBody>
      </p:sp>
      <p:sp>
        <p:nvSpPr>
          <p:cNvPr id="13" name="Shape 11"/>
          <p:cNvSpPr/>
          <p:nvPr/>
        </p:nvSpPr>
        <p:spPr>
          <a:xfrm>
            <a:off x="8019288" y="1691640"/>
            <a:ext cx="3547872" cy="73152"/>
          </a:xfrm>
          <a:prstGeom prst="rect">
            <a:avLst/>
          </a:prstGeom>
          <a:solidFill>
            <a:srgbClr val="0E7C6B"/>
          </a:solidFill>
          <a:ln w="12700">
            <a:solidFill>
              <a:srgbClr val="0E7C6B"/>
            </a:solidFill>
            <a:prstDash val="solid"/>
          </a:ln>
        </p:spPr>
        <p:txBody>
          <a:bodyPr/>
          <a:p/>
        </p:txBody>
      </p:sp>
      <p:sp>
        <p:nvSpPr>
          <p:cNvPr id="14" name="Text 12"/>
          <p:cNvSpPr/>
          <p:nvPr/>
        </p:nvSpPr>
        <p:spPr>
          <a:xfrm>
            <a:off x="8220456" y="1920240"/>
            <a:ext cx="3145536" cy="914400"/>
          </a:xfrm>
          <a:prstGeom prst="rect">
            <a:avLst/>
          </a:prstGeom>
          <a:noFill/>
          <a:ln/>
        </p:spPr>
        <p:txBody>
          <a:bodyPr wrap="square" lIns="0" tIns="0" rIns="0" bIns="0" rtlCol="0" anchor="t"/>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Riscul de a nu face investigația</a:t>
            </a:r>
            <a:endParaRPr lang="en-US" sz="2200" dirty="0"/>
          </a:p>
        </p:txBody>
      </p:sp>
      <p:sp>
        <p:nvSpPr>
          <p:cNvPr id="15" name="Text 13"/>
          <p:cNvSpPr/>
          <p:nvPr/>
        </p:nvSpPr>
        <p:spPr>
          <a:xfrm>
            <a:off x="8220456" y="2926080"/>
            <a:ext cx="3145536" cy="182880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Titlul tace despre el.</a:t>
            </a:r>
            <a:endParaRPr lang="en-US" sz="1650" dirty="0"/>
          </a:p>
        </p:txBody>
      </p:sp>
      <p:sp>
        <p:nvSpPr>
          <p:cNvPr id="16" name="Shape 14"/>
          <p:cNvSpPr/>
          <p:nvPr/>
        </p:nvSpPr>
        <p:spPr>
          <a:xfrm>
            <a:off x="594360" y="5120640"/>
            <a:ext cx="10972800" cy="822960"/>
          </a:xfrm>
          <a:prstGeom prst="roundRect">
            <a:avLst>
              <a:gd name="adj" fmla="val 10000"/>
            </a:avLst>
          </a:prstGeom>
          <a:solidFill>
            <a:srgbClr val="11121A"/>
          </a:solidFill>
          <a:ln w="12700">
            <a:solidFill>
              <a:srgbClr val="11121A"/>
            </a:solidFill>
            <a:prstDash val="solid"/>
          </a:ln>
        </p:spPr>
        <p:txBody>
          <a:bodyPr/>
          <a:p/>
        </p:txBody>
      </p:sp>
      <p:sp>
        <p:nvSpPr>
          <p:cNvPr id="17" name="Text 15"/>
          <p:cNvSpPr/>
          <p:nvPr/>
        </p:nvSpPr>
        <p:spPr>
          <a:xfrm>
            <a:off x="868680" y="5120640"/>
            <a:ext cx="10424160" cy="82296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Riscul există, este mic, iar echipa îl ține cât mai mic.</a:t>
            </a:r>
            <a:endParaRPr lang="en-US" sz="1900" dirty="0"/>
          </a:p>
        </p:txBody>
      </p:sp>
      <p:sp>
        <p:nvSpPr>
          <p:cNvPr id="18" name="Text 16"/>
          <p:cNvSpPr/>
          <p:nvPr/>
        </p:nvSpPr>
        <p:spPr>
          <a:xfrm>
            <a:off x="594360" y="6172200"/>
            <a:ext cx="10972800" cy="274320"/>
          </a:xfrm>
          <a:prstGeom prst="rect">
            <a:avLst/>
          </a:prstGeom>
          <a:noFill/>
          <a:ln/>
        </p:spPr>
        <p:txBody>
          <a:bodyPr wrap="square" lIns="0" tIns="0" rIns="0" bIns="0" rtlCol="0" anchor="ctr"/>
          <a:lstStyle/>
          <a:p>
            <a:pPr indent="0" marL="0">
              <a:buNone/>
            </a:pPr>
            <a:r>
              <a:rPr lang="en-US" sz="1000" i="1" dirty="0">
                <a:solidFill>
                  <a:srgbClr val="585A64"/>
                </a:solidFill>
                <a:latin typeface="Palatino Linotype" pitchFamily="34" charset="0"/>
                <a:ea typeface="Palatino Linotype" pitchFamily="34" charset="-122"/>
                <a:cs typeface="Palatino Linotype" pitchFamily="34" charset="-120"/>
              </a:rPr>
              <a:t>Descoperă.ro, 8 iunie 2012; studiul britanic, 2012.</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VOT PE TELEFON</a:t>
            </a:r>
            <a:endParaRPr lang="en-US" sz="1300" dirty="0"/>
          </a:p>
        </p:txBody>
      </p:sp>
      <p:sp>
        <p:nvSpPr>
          <p:cNvPr id="4" name="Text 2"/>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Cinci cerințe și cum le măsurați</a:t>
            </a:r>
            <a:endParaRPr lang="en-US" sz="2800" dirty="0"/>
          </a:p>
        </p:txBody>
      </p:sp>
      <p:sp>
        <p:nvSpPr>
          <p:cNvPr id="5" name="Shape 3"/>
          <p:cNvSpPr/>
          <p:nvPr/>
        </p:nvSpPr>
        <p:spPr>
          <a:xfrm>
            <a:off x="594360" y="1417320"/>
            <a:ext cx="2062886" cy="1965960"/>
          </a:xfrm>
          <a:prstGeom prst="roundRect">
            <a:avLst>
              <a:gd name="adj" fmla="val 4186"/>
            </a:avLst>
          </a:prstGeom>
          <a:solidFill>
            <a:srgbClr val="ECEAE4"/>
          </a:solidFill>
          <a:ln w="12700">
            <a:solidFill>
              <a:srgbClr val="ECEAE4"/>
            </a:solidFill>
            <a:prstDash val="solid"/>
          </a:ln>
        </p:spPr>
        <p:txBody>
          <a:bodyPr/>
          <a:p/>
        </p:txBody>
      </p:sp>
      <p:sp>
        <p:nvSpPr>
          <p:cNvPr id="6" name="Shape 4"/>
          <p:cNvSpPr/>
          <p:nvPr/>
        </p:nvSpPr>
        <p:spPr>
          <a:xfrm>
            <a:off x="594360" y="1417320"/>
            <a:ext cx="2062886" cy="73152"/>
          </a:xfrm>
          <a:prstGeom prst="rect">
            <a:avLst/>
          </a:prstGeom>
          <a:solidFill>
            <a:srgbClr val="0E7C6B"/>
          </a:solidFill>
          <a:ln w="12700">
            <a:solidFill>
              <a:srgbClr val="0E7C6B"/>
            </a:solidFill>
            <a:prstDash val="solid"/>
          </a:ln>
        </p:spPr>
        <p:txBody>
          <a:bodyPr/>
          <a:p/>
        </p:txBody>
      </p:sp>
      <p:sp>
        <p:nvSpPr>
          <p:cNvPr id="7" name="Text 5"/>
          <p:cNvSpPr/>
          <p:nvPr/>
        </p:nvSpPr>
        <p:spPr>
          <a:xfrm>
            <a:off x="795528" y="1645920"/>
            <a:ext cx="1660550" cy="91440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Claritatea mesajului</a:t>
            </a:r>
            <a:endParaRPr lang="en-US" sz="1600" dirty="0"/>
          </a:p>
        </p:txBody>
      </p:sp>
      <p:sp>
        <p:nvSpPr>
          <p:cNvPr id="8" name="Text 6"/>
          <p:cNvSpPr/>
          <p:nvPr/>
        </p:nvSpPr>
        <p:spPr>
          <a:xfrm>
            <a:off x="795528" y="2651760"/>
            <a:ext cx="1660550" cy="594360"/>
          </a:xfrm>
          <a:prstGeom prst="rect">
            <a:avLst/>
          </a:prstGeom>
          <a:noFill/>
          <a:ln/>
        </p:spPr>
        <p:txBody>
          <a:bodyPr wrap="square" lIns="0" tIns="0" rIns="0" bIns="0" rtlCol="0" anchor="t"/>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O idee, în cuvinte obișnuite.</a:t>
            </a:r>
            <a:endParaRPr lang="en-US" sz="1350" dirty="0"/>
          </a:p>
        </p:txBody>
      </p:sp>
      <p:sp>
        <p:nvSpPr>
          <p:cNvPr id="9" name="Shape 7"/>
          <p:cNvSpPr/>
          <p:nvPr/>
        </p:nvSpPr>
        <p:spPr>
          <a:xfrm>
            <a:off x="2821838" y="1417320"/>
            <a:ext cx="2062886" cy="1965960"/>
          </a:xfrm>
          <a:prstGeom prst="roundRect">
            <a:avLst>
              <a:gd name="adj" fmla="val 4186"/>
            </a:avLst>
          </a:prstGeom>
          <a:solidFill>
            <a:srgbClr val="F9F8F5"/>
          </a:solidFill>
          <a:ln w="12700">
            <a:solidFill>
              <a:srgbClr val="F9F8F5"/>
            </a:solidFill>
            <a:prstDash val="solid"/>
          </a:ln>
        </p:spPr>
        <p:txBody>
          <a:bodyPr/>
          <a:p/>
        </p:txBody>
      </p:sp>
      <p:sp>
        <p:nvSpPr>
          <p:cNvPr id="10" name="Shape 8"/>
          <p:cNvSpPr/>
          <p:nvPr/>
        </p:nvSpPr>
        <p:spPr>
          <a:xfrm>
            <a:off x="2821838" y="1417320"/>
            <a:ext cx="2062886" cy="73152"/>
          </a:xfrm>
          <a:prstGeom prst="rect">
            <a:avLst/>
          </a:prstGeom>
          <a:solidFill>
            <a:srgbClr val="4A2D8C"/>
          </a:solidFill>
          <a:ln w="12700">
            <a:solidFill>
              <a:srgbClr val="4A2D8C"/>
            </a:solidFill>
            <a:prstDash val="solid"/>
          </a:ln>
        </p:spPr>
        <p:txBody>
          <a:bodyPr/>
          <a:p/>
        </p:txBody>
      </p:sp>
      <p:sp>
        <p:nvSpPr>
          <p:cNvPr id="11" name="Text 9"/>
          <p:cNvSpPr/>
          <p:nvPr/>
        </p:nvSpPr>
        <p:spPr>
          <a:xfrm>
            <a:off x="3023006" y="1645920"/>
            <a:ext cx="1660550" cy="914400"/>
          </a:xfrm>
          <a:prstGeom prst="rect">
            <a:avLst/>
          </a:prstGeom>
          <a:noFill/>
          <a:ln/>
        </p:spPr>
        <p:txBody>
          <a:bodyPr wrap="square" lIns="0" tIns="0" rIns="0" bIns="0" rtlCol="0" anchor="t"/>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Coerența între canale</a:t>
            </a:r>
            <a:endParaRPr lang="en-US" sz="1600" dirty="0"/>
          </a:p>
        </p:txBody>
      </p:sp>
      <p:sp>
        <p:nvSpPr>
          <p:cNvPr id="12" name="Text 10"/>
          <p:cNvSpPr/>
          <p:nvPr/>
        </p:nvSpPr>
        <p:spPr>
          <a:xfrm>
            <a:off x="3023006" y="2651760"/>
            <a:ext cx="1660550" cy="594360"/>
          </a:xfrm>
          <a:prstGeom prst="rect">
            <a:avLst/>
          </a:prstGeom>
          <a:noFill/>
          <a:ln/>
        </p:spPr>
        <p:txBody>
          <a:bodyPr wrap="square" lIns="0" tIns="0" rIns="0" bIns="0" rtlCol="0" anchor="t"/>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Același mesaj peste tot.</a:t>
            </a:r>
            <a:endParaRPr lang="en-US" sz="1350" dirty="0"/>
          </a:p>
        </p:txBody>
      </p:sp>
      <p:sp>
        <p:nvSpPr>
          <p:cNvPr id="13" name="Shape 11"/>
          <p:cNvSpPr/>
          <p:nvPr/>
        </p:nvSpPr>
        <p:spPr>
          <a:xfrm>
            <a:off x="5049317" y="1417320"/>
            <a:ext cx="2062886" cy="1965960"/>
          </a:xfrm>
          <a:prstGeom prst="roundRect">
            <a:avLst>
              <a:gd name="adj" fmla="val 4186"/>
            </a:avLst>
          </a:prstGeom>
          <a:solidFill>
            <a:srgbClr val="ECEAE4"/>
          </a:solidFill>
          <a:ln w="12700">
            <a:solidFill>
              <a:srgbClr val="ECEAE4"/>
            </a:solidFill>
            <a:prstDash val="solid"/>
          </a:ln>
        </p:spPr>
        <p:txBody>
          <a:bodyPr/>
          <a:p/>
        </p:txBody>
      </p:sp>
      <p:sp>
        <p:nvSpPr>
          <p:cNvPr id="14" name="Shape 12"/>
          <p:cNvSpPr/>
          <p:nvPr/>
        </p:nvSpPr>
        <p:spPr>
          <a:xfrm>
            <a:off x="5049317" y="1417320"/>
            <a:ext cx="2062886" cy="73152"/>
          </a:xfrm>
          <a:prstGeom prst="rect">
            <a:avLst/>
          </a:prstGeom>
          <a:solidFill>
            <a:srgbClr val="B02532"/>
          </a:solidFill>
          <a:ln w="12700">
            <a:solidFill>
              <a:srgbClr val="B02532"/>
            </a:solidFill>
            <a:prstDash val="solid"/>
          </a:ln>
        </p:spPr>
        <p:txBody>
          <a:bodyPr/>
          <a:p/>
        </p:txBody>
      </p:sp>
      <p:sp>
        <p:nvSpPr>
          <p:cNvPr id="15" name="Text 13"/>
          <p:cNvSpPr/>
          <p:nvPr/>
        </p:nvSpPr>
        <p:spPr>
          <a:xfrm>
            <a:off x="5250485" y="1645920"/>
            <a:ext cx="1660550" cy="91440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Accesul pentru toți</a:t>
            </a:r>
            <a:endParaRPr lang="en-US" sz="1600" dirty="0"/>
          </a:p>
        </p:txBody>
      </p:sp>
      <p:sp>
        <p:nvSpPr>
          <p:cNvPr id="16" name="Text 14"/>
          <p:cNvSpPr/>
          <p:nvPr/>
        </p:nvSpPr>
        <p:spPr>
          <a:xfrm>
            <a:off x="5250485" y="2651760"/>
            <a:ext cx="1660550" cy="594360"/>
          </a:xfrm>
          <a:prstGeom prst="rect">
            <a:avLst/>
          </a:prstGeom>
          <a:noFill/>
          <a:ln/>
        </p:spPr>
        <p:txBody>
          <a:bodyPr wrap="square" lIns="0" tIns="0" rIns="0" bIns="0" rtlCol="0" anchor="t"/>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Locul, ora, costul, limba, dizabilitatea nu exclud.</a:t>
            </a:r>
            <a:endParaRPr lang="en-US" sz="1350" dirty="0"/>
          </a:p>
        </p:txBody>
      </p:sp>
      <p:sp>
        <p:nvSpPr>
          <p:cNvPr id="17" name="Shape 15"/>
          <p:cNvSpPr/>
          <p:nvPr/>
        </p:nvSpPr>
        <p:spPr>
          <a:xfrm>
            <a:off x="7276795" y="1417320"/>
            <a:ext cx="2062886" cy="1965960"/>
          </a:xfrm>
          <a:prstGeom prst="roundRect">
            <a:avLst>
              <a:gd name="adj" fmla="val 4186"/>
            </a:avLst>
          </a:prstGeom>
          <a:solidFill>
            <a:srgbClr val="F9F8F5"/>
          </a:solidFill>
          <a:ln w="12700">
            <a:solidFill>
              <a:srgbClr val="F9F8F5"/>
            </a:solidFill>
            <a:prstDash val="solid"/>
          </a:ln>
        </p:spPr>
        <p:txBody>
          <a:bodyPr/>
          <a:p/>
        </p:txBody>
      </p:sp>
      <p:sp>
        <p:nvSpPr>
          <p:cNvPr id="18" name="Shape 16"/>
          <p:cNvSpPr/>
          <p:nvPr/>
        </p:nvSpPr>
        <p:spPr>
          <a:xfrm>
            <a:off x="7276795" y="1417320"/>
            <a:ext cx="2062886" cy="73152"/>
          </a:xfrm>
          <a:prstGeom prst="rect">
            <a:avLst/>
          </a:prstGeom>
          <a:solidFill>
            <a:srgbClr val="9C4A0A"/>
          </a:solidFill>
          <a:ln w="12700">
            <a:solidFill>
              <a:srgbClr val="9C4A0A"/>
            </a:solidFill>
            <a:prstDash val="solid"/>
          </a:ln>
        </p:spPr>
        <p:txBody>
          <a:bodyPr/>
          <a:p/>
        </p:txBody>
      </p:sp>
      <p:sp>
        <p:nvSpPr>
          <p:cNvPr id="19" name="Text 17"/>
          <p:cNvSpPr/>
          <p:nvPr/>
        </p:nvSpPr>
        <p:spPr>
          <a:xfrm>
            <a:off x="7477963" y="1645920"/>
            <a:ext cx="1660550" cy="914400"/>
          </a:xfrm>
          <a:prstGeom prst="rect">
            <a:avLst/>
          </a:prstGeom>
          <a:noFill/>
          <a:ln/>
        </p:spPr>
        <p:txBody>
          <a:bodyPr wrap="square" lIns="0" tIns="0" rIns="0" bIns="0" rtlCol="0" anchor="t"/>
          <a:lstStyle/>
          <a:p>
            <a:pPr indent="0" marL="0">
              <a:buNone/>
            </a:pPr>
            <a:r>
              <a:rPr lang="en-US" sz="1600" b="1" dirty="0">
                <a:solidFill>
                  <a:srgbClr val="9C4A0A"/>
                </a:solidFill>
                <a:latin typeface="Palatino Linotype" pitchFamily="34" charset="0"/>
                <a:ea typeface="Palatino Linotype" pitchFamily="34" charset="-122"/>
                <a:cs typeface="Palatino Linotype" pitchFamily="34" charset="-120"/>
              </a:rPr>
              <a:t>Continuitatea în timp</a:t>
            </a:r>
            <a:endParaRPr lang="en-US" sz="1600" dirty="0"/>
          </a:p>
        </p:txBody>
      </p:sp>
      <p:sp>
        <p:nvSpPr>
          <p:cNvPr id="20" name="Text 18"/>
          <p:cNvSpPr/>
          <p:nvPr/>
        </p:nvSpPr>
        <p:spPr>
          <a:xfrm>
            <a:off x="7477963" y="2651760"/>
            <a:ext cx="1660550" cy="594360"/>
          </a:xfrm>
          <a:prstGeom prst="rect">
            <a:avLst/>
          </a:prstGeom>
          <a:noFill/>
          <a:ln/>
        </p:spPr>
        <p:txBody>
          <a:bodyPr wrap="square" lIns="0" tIns="0" rIns="0" bIns="0" rtlCol="0" anchor="t"/>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Memento, revenire, plan de întreținere.</a:t>
            </a:r>
            <a:endParaRPr lang="en-US" sz="1350" dirty="0"/>
          </a:p>
        </p:txBody>
      </p:sp>
      <p:sp>
        <p:nvSpPr>
          <p:cNvPr id="21" name="Shape 19"/>
          <p:cNvSpPr/>
          <p:nvPr/>
        </p:nvSpPr>
        <p:spPr>
          <a:xfrm>
            <a:off x="9504274" y="1417320"/>
            <a:ext cx="2062886" cy="1965960"/>
          </a:xfrm>
          <a:prstGeom prst="roundRect">
            <a:avLst>
              <a:gd name="adj" fmla="val 4186"/>
            </a:avLst>
          </a:prstGeom>
          <a:solidFill>
            <a:srgbClr val="ECEAE4"/>
          </a:solidFill>
          <a:ln w="12700">
            <a:solidFill>
              <a:srgbClr val="ECEAE4"/>
            </a:solidFill>
            <a:prstDash val="solid"/>
          </a:ln>
        </p:spPr>
        <p:txBody>
          <a:bodyPr/>
          <a:p/>
        </p:txBody>
      </p:sp>
      <p:sp>
        <p:nvSpPr>
          <p:cNvPr id="22" name="Shape 20"/>
          <p:cNvSpPr/>
          <p:nvPr/>
        </p:nvSpPr>
        <p:spPr>
          <a:xfrm>
            <a:off x="9504274" y="1417320"/>
            <a:ext cx="2062886" cy="73152"/>
          </a:xfrm>
          <a:prstGeom prst="rect">
            <a:avLst/>
          </a:prstGeom>
          <a:solidFill>
            <a:srgbClr val="0E7C6B"/>
          </a:solidFill>
          <a:ln w="12700">
            <a:solidFill>
              <a:srgbClr val="0E7C6B"/>
            </a:solidFill>
            <a:prstDash val="solid"/>
          </a:ln>
        </p:spPr>
        <p:txBody>
          <a:bodyPr/>
          <a:p/>
        </p:txBody>
      </p:sp>
      <p:sp>
        <p:nvSpPr>
          <p:cNvPr id="23" name="Text 21"/>
          <p:cNvSpPr/>
          <p:nvPr/>
        </p:nvSpPr>
        <p:spPr>
          <a:xfrm>
            <a:off x="9705442" y="1645920"/>
            <a:ext cx="1660550" cy="91440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Măsurarea și îmbunătățirea</a:t>
            </a:r>
            <a:endParaRPr lang="en-US" sz="1600" dirty="0"/>
          </a:p>
        </p:txBody>
      </p:sp>
      <p:sp>
        <p:nvSpPr>
          <p:cNvPr id="24" name="Text 22"/>
          <p:cNvSpPr/>
          <p:nvPr/>
        </p:nvSpPr>
        <p:spPr>
          <a:xfrm>
            <a:off x="9705442" y="2651760"/>
            <a:ext cx="1660550" cy="594360"/>
          </a:xfrm>
          <a:prstGeom prst="rect">
            <a:avLst/>
          </a:prstGeom>
          <a:noFill/>
          <a:ln/>
        </p:spPr>
        <p:txBody>
          <a:bodyPr wrap="square" lIns="0" tIns="0" rIns="0" bIns="0" rtlCol="0" anchor="t"/>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Un indicator simplu, regulat.</a:t>
            </a:r>
            <a:endParaRPr lang="en-US" sz="1350" dirty="0"/>
          </a:p>
        </p:txBody>
      </p:sp>
      <p:sp>
        <p:nvSpPr>
          <p:cNvPr id="25" name="Shape 23"/>
          <p:cNvSpPr/>
          <p:nvPr/>
        </p:nvSpPr>
        <p:spPr>
          <a:xfrm>
            <a:off x="594360" y="3520440"/>
            <a:ext cx="3566160" cy="1188720"/>
          </a:xfrm>
          <a:prstGeom prst="roundRect">
            <a:avLst>
              <a:gd name="adj" fmla="val 6923"/>
            </a:avLst>
          </a:prstGeom>
          <a:solidFill>
            <a:srgbClr val="F9F8F5"/>
          </a:solidFill>
          <a:ln w="12700">
            <a:solidFill>
              <a:srgbClr val="F9F8F5"/>
            </a:solidFill>
            <a:prstDash val="solid"/>
          </a:ln>
        </p:spPr>
        <p:txBody>
          <a:bodyPr/>
          <a:p/>
        </p:txBody>
      </p:sp>
      <p:sp>
        <p:nvSpPr>
          <p:cNvPr id="26" name="Shape 24"/>
          <p:cNvSpPr/>
          <p:nvPr/>
        </p:nvSpPr>
        <p:spPr>
          <a:xfrm>
            <a:off x="594360" y="3520440"/>
            <a:ext cx="73152" cy="1188720"/>
          </a:xfrm>
          <a:prstGeom prst="rect">
            <a:avLst/>
          </a:prstGeom>
          <a:solidFill>
            <a:srgbClr val="4A2D8C"/>
          </a:solidFill>
          <a:ln w="12700">
            <a:solidFill>
              <a:srgbClr val="4A2D8C"/>
            </a:solidFill>
            <a:prstDash val="solid"/>
          </a:ln>
        </p:spPr>
        <p:txBody>
          <a:bodyPr/>
          <a:p/>
        </p:txBody>
      </p:sp>
      <p:sp>
        <p:nvSpPr>
          <p:cNvPr id="27" name="Text 25"/>
          <p:cNvSpPr/>
          <p:nvPr/>
        </p:nvSpPr>
        <p:spPr>
          <a:xfrm>
            <a:off x="822960" y="3584448"/>
            <a:ext cx="3200400" cy="320040"/>
          </a:xfrm>
          <a:prstGeom prst="rect">
            <a:avLst/>
          </a:prstGeom>
          <a:noFill/>
          <a:ln/>
        </p:spPr>
        <p:txBody>
          <a:bodyPr wrap="square" lIns="0" tIns="0" rIns="0" bIns="0" rtlCol="0" anchor="t"/>
          <a:lstStyle/>
          <a:p>
            <a:pPr indent="0" marL="0">
              <a:buNone/>
            </a:pPr>
            <a:r>
              <a:rPr lang="en-US" sz="1500" b="1" dirty="0">
                <a:solidFill>
                  <a:srgbClr val="4A2D8C"/>
                </a:solidFill>
                <a:latin typeface="Palatino Linotype" pitchFamily="34" charset="0"/>
                <a:ea typeface="Palatino Linotype" pitchFamily="34" charset="-122"/>
                <a:cs typeface="Palatino Linotype" pitchFamily="34" charset="-120"/>
              </a:rPr>
              <a:t>Structura</a:t>
            </a:r>
            <a:endParaRPr lang="en-US" sz="1500" dirty="0"/>
          </a:p>
        </p:txBody>
      </p:sp>
      <p:sp>
        <p:nvSpPr>
          <p:cNvPr id="28" name="Text 26"/>
          <p:cNvSpPr/>
          <p:nvPr/>
        </p:nvSpPr>
        <p:spPr>
          <a:xfrm>
            <a:off x="822960" y="3931920"/>
            <a:ext cx="3200400" cy="731520"/>
          </a:xfrm>
          <a:prstGeom prst="rect">
            <a:avLst/>
          </a:prstGeom>
          <a:noFill/>
          <a:ln/>
        </p:spPr>
        <p:txBody>
          <a:bodyPr wrap="square" lIns="0" tIns="0" rIns="0" bIns="0" rtlCol="0" anchor="t"/>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ce aveți: oameni, sală, fișe clare</a:t>
            </a:r>
            <a:endParaRPr lang="en-US" sz="1350" dirty="0"/>
          </a:p>
        </p:txBody>
      </p:sp>
      <p:sp>
        <p:nvSpPr>
          <p:cNvPr id="29" name="Shape 27"/>
          <p:cNvSpPr/>
          <p:nvPr/>
        </p:nvSpPr>
        <p:spPr>
          <a:xfrm>
            <a:off x="4343400" y="3520440"/>
            <a:ext cx="3566160" cy="1188720"/>
          </a:xfrm>
          <a:prstGeom prst="roundRect">
            <a:avLst>
              <a:gd name="adj" fmla="val 6923"/>
            </a:avLst>
          </a:prstGeom>
          <a:solidFill>
            <a:srgbClr val="F9F8F5"/>
          </a:solidFill>
          <a:ln w="12700">
            <a:solidFill>
              <a:srgbClr val="F9F8F5"/>
            </a:solidFill>
            <a:prstDash val="solid"/>
          </a:ln>
        </p:spPr>
        <p:txBody>
          <a:bodyPr/>
          <a:p/>
        </p:txBody>
      </p:sp>
      <p:sp>
        <p:nvSpPr>
          <p:cNvPr id="30" name="Shape 28"/>
          <p:cNvSpPr/>
          <p:nvPr/>
        </p:nvSpPr>
        <p:spPr>
          <a:xfrm>
            <a:off x="4343400" y="3520440"/>
            <a:ext cx="73152" cy="1188720"/>
          </a:xfrm>
          <a:prstGeom prst="rect">
            <a:avLst/>
          </a:prstGeom>
          <a:solidFill>
            <a:srgbClr val="0E7C6B"/>
          </a:solidFill>
          <a:ln w="12700">
            <a:solidFill>
              <a:srgbClr val="0E7C6B"/>
            </a:solidFill>
            <a:prstDash val="solid"/>
          </a:ln>
        </p:spPr>
        <p:txBody>
          <a:bodyPr/>
          <a:p/>
        </p:txBody>
      </p:sp>
      <p:sp>
        <p:nvSpPr>
          <p:cNvPr id="31" name="Text 29"/>
          <p:cNvSpPr/>
          <p:nvPr/>
        </p:nvSpPr>
        <p:spPr>
          <a:xfrm>
            <a:off x="4572000" y="3584448"/>
            <a:ext cx="3200400" cy="320040"/>
          </a:xfrm>
          <a:prstGeom prst="rect">
            <a:avLst/>
          </a:prstGeom>
          <a:noFill/>
          <a:ln/>
        </p:spPr>
        <p:txBody>
          <a:bodyPr wrap="square" lIns="0" tIns="0" rIns="0" bIns="0" rtlCol="0" anchor="t"/>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Procesul</a:t>
            </a:r>
            <a:endParaRPr lang="en-US" sz="1500" dirty="0"/>
          </a:p>
        </p:txBody>
      </p:sp>
      <p:sp>
        <p:nvSpPr>
          <p:cNvPr id="32" name="Text 30"/>
          <p:cNvSpPr/>
          <p:nvPr/>
        </p:nvSpPr>
        <p:spPr>
          <a:xfrm>
            <a:off x="4572000" y="3931920"/>
            <a:ext cx="3200400" cy="731520"/>
          </a:xfrm>
          <a:prstGeom prst="rect">
            <a:avLst/>
          </a:prstGeom>
          <a:noFill/>
          <a:ln/>
        </p:spPr>
        <p:txBody>
          <a:bodyPr wrap="square" lIns="0" tIns="0" rIns="0" bIns="0" rtlCol="0" anchor="t"/>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ce faceți: ședințe cu verificare</a:t>
            </a:r>
            <a:endParaRPr lang="en-US" sz="1350" dirty="0"/>
          </a:p>
        </p:txBody>
      </p:sp>
      <p:sp>
        <p:nvSpPr>
          <p:cNvPr id="33" name="Shape 31"/>
          <p:cNvSpPr/>
          <p:nvPr/>
        </p:nvSpPr>
        <p:spPr>
          <a:xfrm>
            <a:off x="8092440" y="3520440"/>
            <a:ext cx="3566160" cy="1188720"/>
          </a:xfrm>
          <a:prstGeom prst="roundRect">
            <a:avLst>
              <a:gd name="adj" fmla="val 6923"/>
            </a:avLst>
          </a:prstGeom>
          <a:solidFill>
            <a:srgbClr val="F9F8F5"/>
          </a:solidFill>
          <a:ln w="12700">
            <a:solidFill>
              <a:srgbClr val="F9F8F5"/>
            </a:solidFill>
            <a:prstDash val="solid"/>
          </a:ln>
        </p:spPr>
        <p:txBody>
          <a:bodyPr/>
          <a:p/>
        </p:txBody>
      </p:sp>
      <p:sp>
        <p:nvSpPr>
          <p:cNvPr id="34" name="Shape 32"/>
          <p:cNvSpPr/>
          <p:nvPr/>
        </p:nvSpPr>
        <p:spPr>
          <a:xfrm>
            <a:off x="8092440" y="3520440"/>
            <a:ext cx="73152" cy="1188720"/>
          </a:xfrm>
          <a:prstGeom prst="rect">
            <a:avLst/>
          </a:prstGeom>
          <a:solidFill>
            <a:srgbClr val="B02532"/>
          </a:solidFill>
          <a:ln w="12700">
            <a:solidFill>
              <a:srgbClr val="B02532"/>
            </a:solidFill>
            <a:prstDash val="solid"/>
          </a:ln>
        </p:spPr>
        <p:txBody>
          <a:bodyPr/>
          <a:p/>
        </p:txBody>
      </p:sp>
      <p:sp>
        <p:nvSpPr>
          <p:cNvPr id="35" name="Text 33"/>
          <p:cNvSpPr/>
          <p:nvPr/>
        </p:nvSpPr>
        <p:spPr>
          <a:xfrm>
            <a:off x="8321040" y="3584448"/>
            <a:ext cx="3200400" cy="320040"/>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Rezultatul</a:t>
            </a:r>
            <a:endParaRPr lang="en-US" sz="1500" dirty="0"/>
          </a:p>
        </p:txBody>
      </p:sp>
      <p:sp>
        <p:nvSpPr>
          <p:cNvPr id="36" name="Text 34"/>
          <p:cNvSpPr/>
          <p:nvPr/>
        </p:nvSpPr>
        <p:spPr>
          <a:xfrm>
            <a:off x="8321040" y="3931920"/>
            <a:ext cx="3200400" cy="731520"/>
          </a:xfrm>
          <a:prstGeom prst="rect">
            <a:avLst/>
          </a:prstGeom>
          <a:noFill/>
          <a:ln/>
        </p:spPr>
        <p:txBody>
          <a:bodyPr wrap="square" lIns="0" tIns="0" rIns="0" bIns="0" rtlCol="0" anchor="t"/>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ce s-a schimbat: zilele cu exerciții, durerea</a:t>
            </a:r>
            <a:endParaRPr lang="en-US" sz="1350" dirty="0"/>
          </a:p>
        </p:txBody>
      </p:sp>
      <p:sp>
        <p:nvSpPr>
          <p:cNvPr id="37" name="Shape 35"/>
          <p:cNvSpPr/>
          <p:nvPr/>
        </p:nvSpPr>
        <p:spPr>
          <a:xfrm>
            <a:off x="594360" y="4892040"/>
            <a:ext cx="10972800" cy="1143000"/>
          </a:xfrm>
          <a:prstGeom prst="roundRect">
            <a:avLst>
              <a:gd name="adj" fmla="val 7200"/>
            </a:avLst>
          </a:prstGeom>
          <a:solidFill>
            <a:srgbClr val="11121A"/>
          </a:solidFill>
          <a:ln w="12700">
            <a:solidFill>
              <a:srgbClr val="11121A"/>
            </a:solidFill>
            <a:prstDash val="solid"/>
          </a:ln>
        </p:spPr>
        <p:txBody>
          <a:bodyPr/>
          <a:p/>
        </p:txBody>
      </p:sp>
      <p:sp>
        <p:nvSpPr>
          <p:cNvPr id="38" name="Text 36"/>
          <p:cNvSpPr/>
          <p:nvPr/>
        </p:nvSpPr>
        <p:spPr>
          <a:xfrm>
            <a:off x="868680" y="4892040"/>
            <a:ext cx="10424160" cy="1143000"/>
          </a:xfrm>
          <a:prstGeom prst="rect">
            <a:avLst/>
          </a:prstGeom>
          <a:noFill/>
          <a:ln/>
        </p:spPr>
        <p:txBody>
          <a:bodyPr wrap="square" lIns="0" tIns="0" rIns="0" bIns="0" rtlCol="0" anchor="ctr"/>
          <a:lstStyle/>
          <a:p>
            <a:pPr indent="0" marL="0">
              <a:buNone/>
            </a:pPr>
            <a:r>
              <a:rPr lang="en-US" sz="1750" b="1" dirty="0">
                <a:solidFill>
                  <a:srgbClr val="FFC24B"/>
                </a:solidFill>
                <a:latin typeface="Palatino Linotype" pitchFamily="34" charset="0"/>
                <a:ea typeface="Palatino Linotype" pitchFamily="34" charset="-122"/>
                <a:cs typeface="Palatino Linotype" pitchFamily="34" charset="-120"/>
              </a:rPr>
              <a:t>Vot: ce cerință lipsea din „nu vă faceți griji”? Înainte de orice sfat: scopul, obiectivul măsurabil, cum veți ști.</a:t>
            </a:r>
            <a:endParaRPr lang="en-US" sz="17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4757"/>
        </a:solidFill>
      </p:bgPr>
    </p:bg>
    <p:spTree>
      <p:nvGrpSpPr>
        <p:cNvPr id="1" name=""/>
        <p:cNvGrpSpPr/>
        <p:nvPr/>
      </p:nvGrpSpPr>
      <p:grpSpPr>
        <a:xfrm>
          <a:off x="0" y="0"/>
          <a:ext cx="0" cy="0"/>
          <a:chOff x="0" y="0"/>
          <a:chExt cx="0" cy="0"/>
        </a:xfrm>
      </p:grpSpPr>
      <p:sp>
        <p:nvSpPr>
          <p:cNvPr id="2" name="Text 0"/>
          <p:cNvSpPr/>
          <p:nvPr/>
        </p:nvSpPr>
        <p:spPr>
          <a:xfrm>
            <a:off x="594360" y="1463040"/>
            <a:ext cx="10972800" cy="2011680"/>
          </a:xfrm>
          <a:prstGeom prst="rect">
            <a:avLst/>
          </a:prstGeom>
          <a:noFill/>
          <a:ln/>
        </p:spPr>
        <p:txBody>
          <a:bodyPr wrap="square" lIns="0" tIns="0" rIns="0" bIns="0" rtlCol="0" anchor="ctr"/>
          <a:lstStyle/>
          <a:p>
            <a:pPr indent="0" marL="0">
              <a:buNone/>
            </a:pPr>
            <a:r>
              <a:rPr lang="en-US" sz="9000" b="1" dirty="0">
                <a:solidFill>
                  <a:srgbClr val="2E060B"/>
                </a:solidFill>
                <a:latin typeface="Palatino Linotype" pitchFamily="34" charset="0"/>
                <a:ea typeface="Palatino Linotype" pitchFamily="34" charset="-122"/>
                <a:cs typeface="Palatino Linotype" pitchFamily="34" charset="-120"/>
              </a:rPr>
              <a:t>Pauză</a:t>
            </a:r>
            <a:endParaRPr lang="en-US" sz="9000" dirty="0"/>
          </a:p>
        </p:txBody>
      </p:sp>
      <p:sp>
        <p:nvSpPr>
          <p:cNvPr id="3" name="Text 1"/>
          <p:cNvSpPr/>
          <p:nvPr/>
        </p:nvSpPr>
        <p:spPr>
          <a:xfrm>
            <a:off x="594360" y="3657600"/>
            <a:ext cx="10972800" cy="914400"/>
          </a:xfrm>
          <a:prstGeom prst="rect">
            <a:avLst/>
          </a:prstGeom>
          <a:noFill/>
          <a:ln/>
        </p:spPr>
        <p:txBody>
          <a:bodyPr wrap="square" lIns="0" tIns="0" rIns="0" bIns="0" rtlCol="0" anchor="t"/>
          <a:lstStyle/>
          <a:p>
            <a:pPr indent="0" marL="0">
              <a:buNone/>
            </a:pPr>
            <a:r>
              <a:rPr lang="en-US" sz="2800" dirty="0">
                <a:solidFill>
                  <a:srgbClr val="2E060B"/>
                </a:solidFill>
                <a:latin typeface="Palatino Linotype" pitchFamily="34" charset="0"/>
                <a:ea typeface="Palatino Linotype" pitchFamily="34" charset="-122"/>
                <a:cs typeface="Palatino Linotype" pitchFamily="34" charset="-120"/>
              </a:rPr>
              <a:t>Zece minute. Revenim cu a doua parte: cum predați.</a:t>
            </a:r>
            <a:endParaRPr 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ÎNTREBARE PENTRU SALĂ</a:t>
            </a:r>
            <a:endParaRPr lang="en-US" sz="1300" dirty="0"/>
          </a:p>
        </p:txBody>
      </p:sp>
      <p:sp>
        <p:nvSpPr>
          <p:cNvPr id="4" name="Shape 2"/>
          <p:cNvSpPr/>
          <p:nvPr/>
        </p:nvSpPr>
        <p:spPr>
          <a:xfrm>
            <a:off x="594360" y="329184"/>
            <a:ext cx="3291840" cy="329184"/>
          </a:xfrm>
          <a:prstGeom prst="roundRect">
            <a:avLst>
              <a:gd name="adj" fmla="val 50000"/>
            </a:avLst>
          </a:prstGeom>
          <a:solidFill>
            <a:srgbClr val="27D3BE"/>
          </a:solidFill>
          <a:ln w="12700">
            <a:solidFill>
              <a:srgbClr val="27D3BE"/>
            </a:solidFill>
            <a:prstDash val="solid"/>
          </a:ln>
        </p:spPr>
        <p:txBody>
          <a:bodyPr/>
          <a:p/>
        </p:txBody>
      </p:sp>
      <p:sp>
        <p:nvSpPr>
          <p:cNvPr id="5" name="Text 3"/>
          <p:cNvSpPr/>
          <p:nvPr/>
        </p:nvSpPr>
        <p:spPr>
          <a:xfrm>
            <a:off x="594360" y="329184"/>
            <a:ext cx="3291840"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TERMENUL NOU 3 DIN 3</a:t>
            </a:r>
            <a:endParaRPr lang="en-US" sz="1300" dirty="0"/>
          </a:p>
        </p:txBody>
      </p:sp>
      <p:sp>
        <p:nvSpPr>
          <p:cNvPr id="6" name="Text 4"/>
          <p:cNvSpPr/>
          <p:nvPr/>
        </p:nvSpPr>
        <p:spPr>
          <a:xfrm>
            <a:off x="594360" y="868680"/>
            <a:ext cx="109728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Metoda și mijlocul</a:t>
            </a:r>
            <a:endParaRPr lang="en-US" sz="4000" dirty="0"/>
          </a:p>
        </p:txBody>
      </p:sp>
      <p:sp>
        <p:nvSpPr>
          <p:cNvPr id="7" name="Shape 5"/>
          <p:cNvSpPr/>
          <p:nvPr/>
        </p:nvSpPr>
        <p:spPr>
          <a:xfrm>
            <a:off x="594360" y="1828800"/>
            <a:ext cx="5349240" cy="2148840"/>
          </a:xfrm>
          <a:prstGeom prst="roundRect">
            <a:avLst>
              <a:gd name="adj" fmla="val 3830"/>
            </a:avLst>
          </a:prstGeom>
          <a:solidFill>
            <a:srgbClr val="1D1F2B"/>
          </a:solidFill>
          <a:ln w="12700">
            <a:solidFill>
              <a:srgbClr val="1D1F2B"/>
            </a:solidFill>
            <a:prstDash val="solid"/>
          </a:ln>
        </p:spPr>
        <p:txBody>
          <a:bodyPr/>
          <a:p/>
        </p:txBody>
      </p:sp>
      <p:sp>
        <p:nvSpPr>
          <p:cNvPr id="8" name="Shape 6"/>
          <p:cNvSpPr/>
          <p:nvPr/>
        </p:nvSpPr>
        <p:spPr>
          <a:xfrm>
            <a:off x="594360" y="1828800"/>
            <a:ext cx="5349240" cy="73152"/>
          </a:xfrm>
          <a:prstGeom prst="rect">
            <a:avLst/>
          </a:prstGeom>
          <a:solidFill>
            <a:srgbClr val="27D3BE"/>
          </a:solidFill>
          <a:ln w="12700">
            <a:solidFill>
              <a:srgbClr val="27D3BE"/>
            </a:solidFill>
            <a:prstDash val="solid"/>
          </a:ln>
        </p:spPr>
        <p:txBody>
          <a:bodyPr/>
          <a:p/>
        </p:txBody>
      </p:sp>
      <p:sp>
        <p:nvSpPr>
          <p:cNvPr id="9" name="Text 7"/>
          <p:cNvSpPr/>
          <p:nvPr/>
        </p:nvSpPr>
        <p:spPr>
          <a:xfrm>
            <a:off x="868680" y="2011680"/>
            <a:ext cx="4846320" cy="41148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Metoda</a:t>
            </a:r>
            <a:endParaRPr lang="en-US" sz="2200" dirty="0"/>
          </a:p>
        </p:txBody>
      </p:sp>
      <p:sp>
        <p:nvSpPr>
          <p:cNvPr id="10" name="Text 8"/>
          <p:cNvSpPr/>
          <p:nvPr/>
        </p:nvSpPr>
        <p:spPr>
          <a:xfrm>
            <a:off x="868680" y="2514600"/>
            <a:ext cx="4846320" cy="137160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Ce faceți împreună cu omul: îi arătați, îl lăsați să încerce, îl întrebați, îl ascultați.</a:t>
            </a:r>
            <a:endParaRPr lang="en-US" sz="1800" dirty="0"/>
          </a:p>
        </p:txBody>
      </p:sp>
      <p:sp>
        <p:nvSpPr>
          <p:cNvPr id="11" name="Shape 9"/>
          <p:cNvSpPr/>
          <p:nvPr/>
        </p:nvSpPr>
        <p:spPr>
          <a:xfrm>
            <a:off x="6217920" y="1828800"/>
            <a:ext cx="5349240" cy="2148840"/>
          </a:xfrm>
          <a:prstGeom prst="roundRect">
            <a:avLst>
              <a:gd name="adj" fmla="val 3830"/>
            </a:avLst>
          </a:prstGeom>
          <a:solidFill>
            <a:srgbClr val="1D1F2B"/>
          </a:solidFill>
          <a:ln w="12700">
            <a:solidFill>
              <a:srgbClr val="1D1F2B"/>
            </a:solidFill>
            <a:prstDash val="solid"/>
          </a:ln>
        </p:spPr>
        <p:txBody>
          <a:bodyPr/>
          <a:p/>
        </p:txBody>
      </p:sp>
      <p:sp>
        <p:nvSpPr>
          <p:cNvPr id="12" name="Shape 10"/>
          <p:cNvSpPr/>
          <p:nvPr/>
        </p:nvSpPr>
        <p:spPr>
          <a:xfrm>
            <a:off x="6217920" y="1828800"/>
            <a:ext cx="5349240" cy="73152"/>
          </a:xfrm>
          <a:prstGeom prst="rect">
            <a:avLst/>
          </a:prstGeom>
          <a:solidFill>
            <a:srgbClr val="FFC24B"/>
          </a:solidFill>
          <a:ln w="12700">
            <a:solidFill>
              <a:srgbClr val="FFC24B"/>
            </a:solidFill>
            <a:prstDash val="solid"/>
          </a:ln>
        </p:spPr>
        <p:txBody>
          <a:bodyPr/>
          <a:p/>
        </p:txBody>
      </p:sp>
      <p:sp>
        <p:nvSpPr>
          <p:cNvPr id="13" name="Text 11"/>
          <p:cNvSpPr/>
          <p:nvPr/>
        </p:nvSpPr>
        <p:spPr>
          <a:xfrm>
            <a:off x="6492240" y="2011680"/>
            <a:ext cx="4846320" cy="411480"/>
          </a:xfrm>
          <a:prstGeom prst="rect">
            <a:avLst/>
          </a:prstGeom>
          <a:noFill/>
          <a:ln/>
        </p:spPr>
        <p:txBody>
          <a:bodyPr wrap="square" lIns="0" tIns="0" rIns="0" bIns="0" rtlCol="0" anchor="t"/>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Mijlocul</a:t>
            </a:r>
            <a:endParaRPr lang="en-US" sz="2200" dirty="0"/>
          </a:p>
        </p:txBody>
      </p:sp>
      <p:sp>
        <p:nvSpPr>
          <p:cNvPr id="14" name="Text 12"/>
          <p:cNvSpPr/>
          <p:nvPr/>
        </p:nvSpPr>
        <p:spPr>
          <a:xfrm>
            <a:off x="6492240" y="2514600"/>
            <a:ext cx="4846320" cy="1371600"/>
          </a:xfrm>
          <a:prstGeom prst="rect">
            <a:avLst/>
          </a:prstGeom>
          <a:noFill/>
          <a:ln/>
        </p:spPr>
        <p:txBody>
          <a:bodyPr wrap="square" lIns="0" tIns="0" rIns="0" bIns="0" rtlCol="0" anchor="t"/>
          <a:lstStyle/>
          <a:p>
            <a:pPr indent="0" marL="0">
              <a:buNone/>
            </a:pPr>
            <a:r>
              <a:rPr lang="en-US" sz="1800" dirty="0">
                <a:solidFill>
                  <a:srgbClr val="E6E8EF"/>
                </a:solidFill>
                <a:latin typeface="Palatino Linotype" pitchFamily="34" charset="0"/>
                <a:ea typeface="Palatino Linotype" pitchFamily="34" charset="-122"/>
                <a:cs typeface="Palatino Linotype" pitchFamily="34" charset="-120"/>
              </a:rPr>
              <a:t>Suportul prin care ajunge mesajul: fișă, afiș, clip, mesaj pe telefon, aplicație.</a:t>
            </a:r>
            <a:endParaRPr lang="en-US" sz="1800" dirty="0"/>
          </a:p>
        </p:txBody>
      </p:sp>
      <p:sp>
        <p:nvSpPr>
          <p:cNvPr id="15" name="Text 13"/>
          <p:cNvSpPr/>
          <p:nvPr/>
        </p:nvSpPr>
        <p:spPr>
          <a:xfrm>
            <a:off x="594360" y="4160520"/>
            <a:ext cx="10972800" cy="73152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Aceeași metodă, mijloace diferite: demonstrația din sală se repetă acasă cu un clip de un minut.</a:t>
            </a:r>
            <a:endParaRPr lang="en-US" sz="1700" dirty="0"/>
          </a:p>
        </p:txBody>
      </p:sp>
      <p:sp>
        <p:nvSpPr>
          <p:cNvPr id="16" name="Shape 14"/>
          <p:cNvSpPr/>
          <p:nvPr/>
        </p:nvSpPr>
        <p:spPr>
          <a:xfrm>
            <a:off x="594360" y="5029200"/>
            <a:ext cx="10972800" cy="960120"/>
          </a:xfrm>
          <a:prstGeom prst="roundRect">
            <a:avLst>
              <a:gd name="adj" fmla="val 8571"/>
            </a:avLst>
          </a:prstGeom>
          <a:solidFill>
            <a:srgbClr val="272A38"/>
          </a:solidFill>
          <a:ln w="12700">
            <a:solidFill>
              <a:srgbClr val="272A38"/>
            </a:solidFill>
            <a:prstDash val="solid"/>
          </a:ln>
        </p:spPr>
        <p:txBody>
          <a:bodyPr/>
          <a:p/>
        </p:txBody>
      </p:sp>
      <p:sp>
        <p:nvSpPr>
          <p:cNvPr id="17" name="Text 15"/>
          <p:cNvSpPr/>
          <p:nvPr/>
        </p:nvSpPr>
        <p:spPr>
          <a:xfrm>
            <a:off x="868680" y="5029200"/>
            <a:ext cx="10424160" cy="960120"/>
          </a:xfrm>
          <a:prstGeom prst="rect">
            <a:avLst/>
          </a:prstGeom>
          <a:noFill/>
          <a:ln/>
        </p:spPr>
        <p:txBody>
          <a:bodyPr wrap="square" lIns="0" tIns="0" rIns="0" bIns="0" rtlCol="0" anchor="ctr"/>
          <a:lstStyle/>
          <a:p>
            <a:pPr indent="0" marL="0">
              <a:buNone/>
            </a:pPr>
            <a:r>
              <a:rPr lang="en-US" sz="2200" b="1" dirty="0">
                <a:solidFill>
                  <a:srgbClr val="FFC24B"/>
                </a:solidFill>
                <a:latin typeface="Palatino Linotype" pitchFamily="34" charset="0"/>
                <a:ea typeface="Palatino Linotype" pitchFamily="34" charset="-122"/>
                <a:cs typeface="Palatino Linotype" pitchFamily="34" charset="-120"/>
              </a:rPr>
              <a:t>Ce a primit domnul Mihai prima dată, o metodă sau un mijloc? Dar a doua oară?</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VOLUNTAR LA TABLĂ</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ÎNVĂȚAREA UNEI MIȘCĂRI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700" b="1" dirty="0">
                <a:solidFill>
                  <a:srgbClr val="11121A"/>
                </a:solidFill>
                <a:latin typeface="Palatino Linotype" pitchFamily="34" charset="0"/>
                <a:ea typeface="Palatino Linotype" pitchFamily="34" charset="-122"/>
                <a:cs typeface="Palatino Linotype" pitchFamily="34" charset="-120"/>
              </a:rPr>
              <a:t>Feedbackul tot mai rar, ca să se corecteze singur</a:t>
            </a:r>
            <a:endParaRPr lang="en-US" sz="2700" dirty="0"/>
          </a:p>
        </p:txBody>
      </p:sp>
      <p:sp>
        <p:nvSpPr>
          <p:cNvPr id="6" name="Shape 4"/>
          <p:cNvSpPr/>
          <p:nvPr/>
        </p:nvSpPr>
        <p:spPr>
          <a:xfrm>
            <a:off x="594360" y="1828800"/>
            <a:ext cx="5404104" cy="1737360"/>
          </a:xfrm>
          <a:prstGeom prst="roundRect">
            <a:avLst>
              <a:gd name="adj" fmla="val 4737"/>
            </a:avLst>
          </a:prstGeom>
          <a:solidFill>
            <a:srgbClr val="ECEAE4"/>
          </a:solidFill>
          <a:ln w="12700">
            <a:solidFill>
              <a:srgbClr val="ECEAE4"/>
            </a:solidFill>
            <a:prstDash val="solid"/>
          </a:ln>
        </p:spPr>
        <p:txBody>
          <a:bodyPr/>
          <a:p/>
        </p:txBody>
      </p:sp>
      <p:sp>
        <p:nvSpPr>
          <p:cNvPr id="7" name="Shape 5"/>
          <p:cNvSpPr/>
          <p:nvPr/>
        </p:nvSpPr>
        <p:spPr>
          <a:xfrm>
            <a:off x="594360" y="1828800"/>
            <a:ext cx="5404104" cy="73152"/>
          </a:xfrm>
          <a:prstGeom prst="rect">
            <a:avLst/>
          </a:prstGeom>
          <a:solidFill>
            <a:srgbClr val="0E7C6B"/>
          </a:solidFill>
          <a:ln w="12700">
            <a:solidFill>
              <a:srgbClr val="0E7C6B"/>
            </a:solidFill>
            <a:prstDash val="solid"/>
          </a:ln>
        </p:spPr>
        <p:txBody>
          <a:bodyPr/>
          <a:p/>
        </p:txBody>
      </p:sp>
      <p:sp>
        <p:nvSpPr>
          <p:cNvPr id="8" name="Text 6"/>
          <p:cNvSpPr/>
          <p:nvPr/>
        </p:nvSpPr>
        <p:spPr>
          <a:xfrm>
            <a:off x="795528" y="2057400"/>
            <a:ext cx="5001768" cy="914400"/>
          </a:xfrm>
          <a:prstGeom prst="rect">
            <a:avLst/>
          </a:prstGeom>
          <a:noFill/>
          <a:ln/>
        </p:spPr>
        <p:txBody>
          <a:bodyPr wrap="square" lIns="0" tIns="0" rIns="0" bIns="0" rtlCol="0" anchor="t"/>
          <a:lstStyle/>
          <a:p>
            <a:pPr indent="0" marL="0">
              <a:buNone/>
            </a:pPr>
            <a:r>
              <a:rPr lang="en-US" sz="2100" b="1" dirty="0">
                <a:solidFill>
                  <a:srgbClr val="0E7C6B"/>
                </a:solidFill>
                <a:latin typeface="Palatino Linotype" pitchFamily="34" charset="0"/>
                <a:ea typeface="Palatino Linotype" pitchFamily="34" charset="-122"/>
                <a:cs typeface="Palatino Linotype" pitchFamily="34" charset="-120"/>
              </a:rPr>
              <a:t>Despre execuție</a:t>
            </a:r>
            <a:endParaRPr lang="en-US" sz="2100" dirty="0"/>
          </a:p>
        </p:txBody>
      </p:sp>
      <p:sp>
        <p:nvSpPr>
          <p:cNvPr id="9" name="Text 7"/>
          <p:cNvSpPr/>
          <p:nvPr/>
        </p:nvSpPr>
        <p:spPr>
          <a:xfrm>
            <a:off x="795528" y="3063240"/>
            <a:ext cx="5001768" cy="3657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„Genunchiul rămâne în linie cu degetele.”</a:t>
            </a:r>
            <a:endParaRPr lang="en-US" sz="1700" dirty="0"/>
          </a:p>
        </p:txBody>
      </p:sp>
      <p:sp>
        <p:nvSpPr>
          <p:cNvPr id="10" name="Shape 8"/>
          <p:cNvSpPr/>
          <p:nvPr/>
        </p:nvSpPr>
        <p:spPr>
          <a:xfrm>
            <a:off x="6163056" y="1828800"/>
            <a:ext cx="5404104" cy="1737360"/>
          </a:xfrm>
          <a:prstGeom prst="roundRect">
            <a:avLst>
              <a:gd name="adj" fmla="val 4737"/>
            </a:avLst>
          </a:prstGeom>
          <a:solidFill>
            <a:srgbClr val="F9F8F5"/>
          </a:solidFill>
          <a:ln w="12700">
            <a:solidFill>
              <a:srgbClr val="F9F8F5"/>
            </a:solidFill>
            <a:prstDash val="solid"/>
          </a:ln>
        </p:spPr>
        <p:txBody>
          <a:bodyPr/>
          <a:p/>
        </p:txBody>
      </p:sp>
      <p:sp>
        <p:nvSpPr>
          <p:cNvPr id="11" name="Shape 9"/>
          <p:cNvSpPr/>
          <p:nvPr/>
        </p:nvSpPr>
        <p:spPr>
          <a:xfrm>
            <a:off x="6163056" y="1828800"/>
            <a:ext cx="5404104" cy="73152"/>
          </a:xfrm>
          <a:prstGeom prst="rect">
            <a:avLst/>
          </a:prstGeom>
          <a:solidFill>
            <a:srgbClr val="B02532"/>
          </a:solidFill>
          <a:ln w="12700">
            <a:solidFill>
              <a:srgbClr val="B02532"/>
            </a:solidFill>
            <a:prstDash val="solid"/>
          </a:ln>
        </p:spPr>
        <p:txBody>
          <a:bodyPr/>
          <a:p/>
        </p:txBody>
      </p:sp>
      <p:sp>
        <p:nvSpPr>
          <p:cNvPr id="12" name="Text 10"/>
          <p:cNvSpPr/>
          <p:nvPr/>
        </p:nvSpPr>
        <p:spPr>
          <a:xfrm>
            <a:off x="6364224" y="2057400"/>
            <a:ext cx="5001768" cy="91440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Despre rezultat</a:t>
            </a:r>
            <a:endParaRPr lang="en-US" sz="2100" dirty="0"/>
          </a:p>
        </p:txBody>
      </p:sp>
      <p:sp>
        <p:nvSpPr>
          <p:cNvPr id="13" name="Text 11"/>
          <p:cNvSpPr/>
          <p:nvPr/>
        </p:nvSpPr>
        <p:spPr>
          <a:xfrm>
            <a:off x="6364224" y="3063240"/>
            <a:ext cx="5001768" cy="36576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„Ați făcut zece ridicări fără pauză.”</a:t>
            </a:r>
            <a:endParaRPr lang="en-US" sz="1700" dirty="0"/>
          </a:p>
        </p:txBody>
      </p:sp>
      <p:sp>
        <p:nvSpPr>
          <p:cNvPr id="14" name="Shape 12"/>
          <p:cNvSpPr/>
          <p:nvPr/>
        </p:nvSpPr>
        <p:spPr>
          <a:xfrm>
            <a:off x="594360" y="3749040"/>
            <a:ext cx="10972800" cy="1143000"/>
          </a:xfrm>
          <a:prstGeom prst="roundRect">
            <a:avLst>
              <a:gd name="adj" fmla="val 7200"/>
            </a:avLst>
          </a:prstGeom>
          <a:solidFill>
            <a:srgbClr val="11121A"/>
          </a:solidFill>
          <a:ln w="12700">
            <a:solidFill>
              <a:srgbClr val="11121A"/>
            </a:solidFill>
            <a:prstDash val="solid"/>
          </a:ln>
        </p:spPr>
        <p:txBody>
          <a:bodyPr/>
          <a:p/>
        </p:txBody>
      </p:sp>
      <p:sp>
        <p:nvSpPr>
          <p:cNvPr id="15" name="Text 13"/>
          <p:cNvSpPr/>
          <p:nvPr/>
        </p:nvSpPr>
        <p:spPr>
          <a:xfrm>
            <a:off x="868680" y="3749040"/>
            <a:ext cx="10424160" cy="11430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Studiu clasic din 1990: informația despre rezultat, dată mai rar, a îmbunătățit învățarea deprinderilor motorii. Corectați des la început, apoi tot mai rar: acasă nu sunteți lângă persoană.</a:t>
            </a:r>
            <a:endParaRPr lang="en-US" sz="1650" dirty="0"/>
          </a:p>
        </p:txBody>
      </p:sp>
      <p:sp>
        <p:nvSpPr>
          <p:cNvPr id="16" name="Shape 14"/>
          <p:cNvSpPr/>
          <p:nvPr/>
        </p:nvSpPr>
        <p:spPr>
          <a:xfrm>
            <a:off x="594360" y="5074920"/>
            <a:ext cx="10972800" cy="868680"/>
          </a:xfrm>
          <a:prstGeom prst="roundRect">
            <a:avLst>
              <a:gd name="adj" fmla="val 9474"/>
            </a:avLst>
          </a:prstGeom>
          <a:solidFill>
            <a:srgbClr val="ECEAE4"/>
          </a:solidFill>
          <a:ln w="12700">
            <a:solidFill>
              <a:srgbClr val="ECEAE4"/>
            </a:solidFill>
            <a:prstDash val="solid"/>
          </a:ln>
        </p:spPr>
        <p:txBody>
          <a:bodyPr/>
          <a:p/>
        </p:txBody>
      </p:sp>
      <p:sp>
        <p:nvSpPr>
          <p:cNvPr id="17" name="Text 15"/>
          <p:cNvSpPr/>
          <p:nvPr/>
        </p:nvSpPr>
        <p:spPr>
          <a:xfrm>
            <a:off x="868680" y="5074920"/>
            <a:ext cx="10424160" cy="868680"/>
          </a:xfrm>
          <a:prstGeom prst="rect">
            <a:avLst/>
          </a:prstGeom>
          <a:noFill/>
          <a:ln/>
        </p:spPr>
        <p:txBody>
          <a:bodyPr wrap="square" lIns="0" tIns="0" rIns="0" bIns="0" rtlCol="0" anchor="ctr"/>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La început, același exercițiu repetat. După ce mișcarea e învățată, exercițiile se alternează, în situații diferite: pe scaunul de acasă, pe treapta de la bloc.</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FIECARE ÎȘI SCRIE PLANUL</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CONTRACTUL ȘI PLANUL</a:t>
            </a:r>
            <a:endParaRPr lang="en-US" sz="1300" dirty="0"/>
          </a:p>
        </p:txBody>
      </p:sp>
      <p:sp>
        <p:nvSpPr>
          <p:cNvPr id="5" name="Shape 3"/>
          <p:cNvSpPr/>
          <p:nvPr/>
        </p:nvSpPr>
        <p:spPr>
          <a:xfrm>
            <a:off x="594360" y="777240"/>
            <a:ext cx="2468880" cy="329184"/>
          </a:xfrm>
          <a:prstGeom prst="roundRect">
            <a:avLst>
              <a:gd name="adj" fmla="val 50000"/>
            </a:avLst>
          </a:prstGeom>
          <a:solidFill>
            <a:srgbClr val="FFC24B"/>
          </a:solidFill>
          <a:ln w="12700">
            <a:solidFill>
              <a:srgbClr val="FFC24B"/>
            </a:solidFill>
            <a:prstDash val="solid"/>
          </a:ln>
        </p:spPr>
        <p:txBody>
          <a:bodyPr/>
          <a:p/>
        </p:txBody>
      </p:sp>
      <p:sp>
        <p:nvSpPr>
          <p:cNvPr id="6" name="Text 4"/>
          <p:cNvSpPr/>
          <p:nvPr/>
        </p:nvSpPr>
        <p:spPr>
          <a:xfrm>
            <a:off x="594360" y="777240"/>
            <a:ext cx="2468880" cy="329184"/>
          </a:xfrm>
          <a:prstGeom prst="rect">
            <a:avLst/>
          </a:prstGeom>
          <a:noFill/>
          <a:ln/>
        </p:spPr>
        <p:txBody>
          <a:bodyPr wrap="square" lIns="0" tIns="0" rIns="0" bIns="0" rtlCol="0" anchor="ctr"/>
          <a:lstStyle/>
          <a:p>
            <a:pPr algn="ctr" indent="0" marL="0">
              <a:buNone/>
            </a:pPr>
            <a:r>
              <a:rPr lang="en-US" sz="1200" b="1" dirty="0">
                <a:solidFill>
                  <a:srgbClr val="3D2A00"/>
                </a:solidFill>
                <a:latin typeface="Palatino Linotype" pitchFamily="34" charset="0"/>
                <a:ea typeface="Palatino Linotype" pitchFamily="34" charset="-122"/>
                <a:cs typeface="Palatino Linotype" pitchFamily="34" charset="-120"/>
              </a:rPr>
              <a:t>VALORI IPOTETICE</a:t>
            </a:r>
            <a:endParaRPr lang="en-US" sz="1200" dirty="0"/>
          </a:p>
        </p:txBody>
      </p:sp>
      <p:sp>
        <p:nvSpPr>
          <p:cNvPr id="7" name="Shape 5"/>
          <p:cNvSpPr/>
          <p:nvPr/>
        </p:nvSpPr>
        <p:spPr>
          <a:xfrm rot="-60000">
            <a:off x="731520" y="1280160"/>
            <a:ext cx="5669280" cy="397764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txBody>
          <a:bodyPr/>
          <a:p/>
        </p:txBody>
      </p:sp>
      <p:sp>
        <p:nvSpPr>
          <p:cNvPr id="8" name="Text 6"/>
          <p:cNvSpPr/>
          <p:nvPr/>
        </p:nvSpPr>
        <p:spPr>
          <a:xfrm rot="-60000">
            <a:off x="1005840" y="1463040"/>
            <a:ext cx="5212080" cy="329184"/>
          </a:xfrm>
          <a:prstGeom prst="rect">
            <a:avLst/>
          </a:prstGeom>
          <a:noFill/>
          <a:ln/>
        </p:spPr>
        <p:txBody>
          <a:bodyPr wrap="square" lIns="0" tIns="0" rIns="0" bIns="0" rtlCol="0" anchor="t"/>
          <a:lstStyle/>
          <a:p>
            <a:pPr indent="0" marL="0">
              <a:buNone/>
            </a:pPr>
            <a:r>
              <a:rPr lang="en-US" sz="1250" b="1" spc="100" kern="0" dirty="0">
                <a:solidFill>
                  <a:srgbClr val="B02532"/>
                </a:solidFill>
                <a:latin typeface="Palatino Linotype" pitchFamily="34" charset="0"/>
                <a:ea typeface="Palatino Linotype" pitchFamily="34" charset="-122"/>
                <a:cs typeface="Palatino Linotype" pitchFamily="34" charset="-120"/>
              </a:rPr>
              <a:t>CONTRACT · DOMNUL MIHAI</a:t>
            </a:r>
            <a:endParaRPr lang="en-US" sz="1250" dirty="0"/>
          </a:p>
        </p:txBody>
      </p:sp>
      <p:sp>
        <p:nvSpPr>
          <p:cNvPr id="9" name="Text 7"/>
          <p:cNvSpPr/>
          <p:nvPr/>
        </p:nvSpPr>
        <p:spPr>
          <a:xfrm rot="-60000">
            <a:off x="1005840" y="1965960"/>
            <a:ext cx="5257800" cy="3108960"/>
          </a:xfrm>
          <a:prstGeom prst="rect">
            <a:avLst/>
          </a:prstGeom>
          <a:noFill/>
          <a:ln/>
        </p:spPr>
        <p:txBody>
          <a:bodyPr wrap="square" lIns="0" tIns="0" rIns="0" bIns="0" rtlCol="0" anchor="t"/>
          <a:lstStyle/>
          <a:p>
            <a:pPr indent="0" marL="0">
              <a:spcAft>
                <a:spcPts val="1200"/>
              </a:spcAft>
              <a:buNone/>
            </a:pPr>
            <a:r>
              <a:rPr lang="en-US" sz="1800" b="1" dirty="0">
                <a:solidFill>
                  <a:srgbClr val="11121A"/>
                </a:solidFill>
                <a:latin typeface="Palatino Linotype" pitchFamily="34" charset="0"/>
                <a:ea typeface="Palatino Linotype" pitchFamily="34" charset="-122"/>
                <a:cs typeface="Palatino Linotype" pitchFamily="34" charset="-120"/>
              </a:rPr>
              <a:t>Când: </a:t>
            </a:r>
            <a:pPr indent="0" marL="0">
              <a:spcAft>
                <a:spcPts val="1200"/>
              </a:spcAft>
              <a:buNone/>
            </a:pPr>
            <a:r>
              <a:rPr lang="en-US" sz="1800" dirty="0">
                <a:solidFill>
                  <a:srgbClr val="11121A"/>
                </a:solidFill>
                <a:latin typeface="Palatino Linotype" pitchFamily="34" charset="0"/>
                <a:ea typeface="Palatino Linotype" pitchFamily="34" charset="-122"/>
                <a:cs typeface="Palatino Linotype" pitchFamily="34" charset="-120"/>
              </a:rPr>
              <a:t>zilnic, la 19:30.</a:t>
            </a:r>
            <a:endParaRPr lang="en-US" sz="1800" dirty="0"/>
          </a:p>
          <a:p>
            <a:pPr indent="0" marL="0">
              <a:spcAft>
                <a:spcPts val="1200"/>
              </a:spcAft>
              <a:buNone/>
            </a:pPr>
            <a:r>
              <a:rPr lang="en-US" sz="1800" b="1" dirty="0">
                <a:solidFill>
                  <a:srgbClr val="11121A"/>
                </a:solidFill>
                <a:latin typeface="Palatino Linotype" pitchFamily="34" charset="0"/>
                <a:ea typeface="Palatino Linotype" pitchFamily="34" charset="-122"/>
                <a:cs typeface="Palatino Linotype" pitchFamily="34" charset="-120"/>
              </a:rPr>
              <a:t>Ce: </a:t>
            </a:r>
            <a:pPr indent="0" marL="0">
              <a:spcAft>
                <a:spcPts val="1200"/>
              </a:spcAft>
              <a:buNone/>
            </a:pPr>
            <a:r>
              <a:rPr lang="en-US" sz="1800" dirty="0">
                <a:solidFill>
                  <a:srgbClr val="11121A"/>
                </a:solidFill>
                <a:latin typeface="Palatino Linotype" pitchFamily="34" charset="0"/>
                <a:ea typeface="Palatino Linotype" pitchFamily="34" charset="-122"/>
                <a:cs typeface="Palatino Linotype" pitchFamily="34" charset="-120"/>
              </a:rPr>
              <a:t>2 serii de ridicări de pe scaun și 2 de urcat pe treaptă.</a:t>
            </a:r>
            <a:endParaRPr lang="en-US" sz="1800" dirty="0"/>
          </a:p>
          <a:p>
            <a:pPr indent="0" marL="0">
              <a:spcAft>
                <a:spcPts val="1200"/>
              </a:spcAft>
              <a:buNone/>
            </a:pPr>
            <a:r>
              <a:rPr lang="en-US" sz="1800" b="1" dirty="0">
                <a:solidFill>
                  <a:srgbClr val="11121A"/>
                </a:solidFill>
                <a:latin typeface="Palatino Linotype" pitchFamily="34" charset="0"/>
                <a:ea typeface="Palatino Linotype" pitchFamily="34" charset="-122"/>
                <a:cs typeface="Palatino Linotype" pitchFamily="34" charset="-120"/>
              </a:rPr>
              <a:t>Dacă durerea trece de 5 din 10: </a:t>
            </a:r>
            <a:pPr indent="0" marL="0">
              <a:spcAft>
                <a:spcPts val="1200"/>
              </a:spcAft>
              <a:buNone/>
            </a:pPr>
            <a:r>
              <a:rPr lang="en-US" sz="1800" dirty="0">
                <a:solidFill>
                  <a:srgbClr val="11121A"/>
                </a:solidFill>
                <a:latin typeface="Palatino Linotype" pitchFamily="34" charset="0"/>
                <a:ea typeface="Palatino Linotype" pitchFamily="34" charset="-122"/>
                <a:cs typeface="Palatino Linotype" pitchFamily="34" charset="-120"/>
              </a:rPr>
              <a:t>fac jumătate.</a:t>
            </a:r>
            <a:endParaRPr lang="en-US" sz="1800" dirty="0"/>
          </a:p>
          <a:p>
            <a:pPr indent="0" marL="0">
              <a:spcAft>
                <a:spcPts val="1200"/>
              </a:spcAft>
              <a:buNone/>
            </a:pPr>
            <a:r>
              <a:rPr lang="en-US" sz="1800" b="1" dirty="0">
                <a:solidFill>
                  <a:srgbClr val="11121A"/>
                </a:solidFill>
                <a:latin typeface="Palatino Linotype" pitchFamily="34" charset="0"/>
                <a:ea typeface="Palatino Linotype" pitchFamily="34" charset="-122"/>
                <a:cs typeface="Palatino Linotype" pitchFamily="34" charset="-120"/>
              </a:rPr>
              <a:t>Revedere: </a:t>
            </a:r>
            <a:pPr indent="0" marL="0">
              <a:spcAft>
                <a:spcPts val="1200"/>
              </a:spcAft>
              <a:buNone/>
            </a:pPr>
            <a:r>
              <a:rPr lang="en-US" sz="1800" dirty="0">
                <a:solidFill>
                  <a:srgbClr val="11121A"/>
                </a:solidFill>
                <a:latin typeface="Palatino Linotype" pitchFamily="34" charset="0"/>
                <a:ea typeface="Palatino Linotype" pitchFamily="34" charset="-122"/>
                <a:cs typeface="Palatino Linotype" pitchFamily="34" charset="-120"/>
              </a:rPr>
              <a:t>peste 10 zile, testul ridicărilor în 30 de secunde.</a:t>
            </a:r>
            <a:endParaRPr lang="en-US" sz="1800" dirty="0"/>
          </a:p>
        </p:txBody>
      </p:sp>
      <p:sp>
        <p:nvSpPr>
          <p:cNvPr id="10" name="Text 8"/>
          <p:cNvSpPr/>
          <p:nvPr/>
        </p:nvSpPr>
        <p:spPr>
          <a:xfrm>
            <a:off x="6766560" y="1280160"/>
            <a:ext cx="4800600" cy="41148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Planul „dacă–atunci”</a:t>
            </a:r>
            <a:endParaRPr lang="en-US" sz="2200" dirty="0"/>
          </a:p>
        </p:txBody>
      </p:sp>
      <p:sp>
        <p:nvSpPr>
          <p:cNvPr id="11" name="Text 9"/>
          <p:cNvSpPr/>
          <p:nvPr/>
        </p:nvSpPr>
        <p:spPr>
          <a:xfrm>
            <a:off x="6766560" y="1783080"/>
            <a:ext cx="4800600" cy="109728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Moment și acțiune precise: mai ușor decât „o să încerc”.</a:t>
            </a:r>
            <a:endParaRPr lang="en-US" sz="1700" dirty="0"/>
          </a:p>
        </p:txBody>
      </p:sp>
      <p:sp>
        <p:nvSpPr>
          <p:cNvPr id="12" name="Shape 10"/>
          <p:cNvSpPr/>
          <p:nvPr/>
        </p:nvSpPr>
        <p:spPr>
          <a:xfrm>
            <a:off x="6766560" y="2971800"/>
            <a:ext cx="4800600" cy="1051560"/>
          </a:xfrm>
          <a:prstGeom prst="roundRect">
            <a:avLst>
              <a:gd name="adj" fmla="val 7826"/>
            </a:avLst>
          </a:prstGeom>
          <a:solidFill>
            <a:srgbClr val="1D1F2B"/>
          </a:solidFill>
          <a:ln w="12700">
            <a:solidFill>
              <a:srgbClr val="1D1F2B"/>
            </a:solidFill>
            <a:prstDash val="solid"/>
          </a:ln>
        </p:spPr>
        <p:txBody>
          <a:bodyPr/>
          <a:p/>
        </p:txBody>
      </p:sp>
      <p:sp>
        <p:nvSpPr>
          <p:cNvPr id="13" name="Text 11"/>
          <p:cNvSpPr/>
          <p:nvPr/>
        </p:nvSpPr>
        <p:spPr>
          <a:xfrm>
            <a:off x="6995160" y="2971800"/>
            <a:ext cx="4389120" cy="1051560"/>
          </a:xfrm>
          <a:prstGeom prst="rect">
            <a:avLst/>
          </a:prstGeom>
          <a:noFill/>
          <a:ln/>
        </p:spPr>
        <p:txBody>
          <a:bodyPr wrap="square" lIns="0" tIns="0" rIns="0" bIns="0" rtlCol="0" anchor="ctr"/>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„Dacă ajung acasă înainte de ora șapte, merg până la parc.”</a:t>
            </a:r>
            <a:endParaRPr lang="en-US" sz="1700" dirty="0"/>
          </a:p>
        </p:txBody>
      </p:sp>
      <p:sp>
        <p:nvSpPr>
          <p:cNvPr id="14" name="Shape 12"/>
          <p:cNvSpPr/>
          <p:nvPr/>
        </p:nvSpPr>
        <p:spPr>
          <a:xfrm>
            <a:off x="594360" y="5440680"/>
            <a:ext cx="10972800" cy="731520"/>
          </a:xfrm>
          <a:prstGeom prst="roundRect">
            <a:avLst>
              <a:gd name="adj" fmla="val 11250"/>
            </a:avLst>
          </a:prstGeom>
          <a:solidFill>
            <a:srgbClr val="272A38"/>
          </a:solidFill>
          <a:ln w="12700">
            <a:solidFill>
              <a:srgbClr val="272A38"/>
            </a:solidFill>
            <a:prstDash val="solid"/>
          </a:ln>
        </p:spPr>
        <p:txBody>
          <a:bodyPr/>
          <a:p/>
        </p:txBody>
      </p:sp>
      <p:sp>
        <p:nvSpPr>
          <p:cNvPr id="15" name="Text 13"/>
          <p:cNvSpPr/>
          <p:nvPr/>
        </p:nvSpPr>
        <p:spPr>
          <a:xfrm>
            <a:off x="868680" y="5440680"/>
            <a:ext cx="10424160" cy="731520"/>
          </a:xfrm>
          <a:prstGeom prst="rect">
            <a:avLst/>
          </a:prstGeom>
          <a:noFill/>
          <a:ln/>
        </p:spPr>
        <p:txBody>
          <a:bodyPr wrap="square" lIns="0" tIns="0" rIns="0" bIns="0" rtlCol="0" anchor="ctr"/>
          <a:lstStyle/>
          <a:p>
            <a:pPr indent="0" marL="0">
              <a:buNone/>
            </a:pPr>
            <a:r>
              <a:rPr lang="en-US" sz="1650" b="1" dirty="0">
                <a:solidFill>
                  <a:srgbClr val="FFC24B"/>
                </a:solidFill>
                <a:latin typeface="Palatino Linotype" pitchFamily="34" charset="0"/>
                <a:ea typeface="Palatino Linotype" pitchFamily="34" charset="-122"/>
                <a:cs typeface="Palatino Linotype" pitchFamily="34" charset="-120"/>
              </a:rPr>
              <a:t>Scrieți un plan „dacă–atunci” pentru săptămâna voastră. (Gollwitzer, 1999)</a:t>
            </a:r>
            <a:endParaRPr lang="en-US" sz="1650" dirty="0"/>
          </a:p>
        </p:txBody>
      </p:sp>
      <p:sp>
        <p:nvSpPr>
          <p:cNvPr id="16" name="Text 14"/>
          <p:cNvSpPr/>
          <p:nvPr/>
        </p:nvSpPr>
        <p:spPr>
          <a:xfrm>
            <a:off x="594360" y="6263640"/>
            <a:ext cx="10972800" cy="274320"/>
          </a:xfrm>
          <a:prstGeom prst="rect">
            <a:avLst/>
          </a:prstGeom>
          <a:noFill/>
          <a:ln/>
        </p:spPr>
        <p:txBody>
          <a:bodyPr wrap="square" lIns="0" tIns="0" rIns="0" bIns="0" rtlCol="0" anchor="ctr"/>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Dozele reale le stabilește echipa curantă.</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CONVERSAȚIA MOTIVAȚIONALĂ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Domnul Mihai, după trei zile de pauză</a:t>
            </a:r>
            <a:endParaRPr lang="en-US" sz="3000" dirty="0"/>
          </a:p>
        </p:txBody>
      </p:sp>
      <p:sp>
        <p:nvSpPr>
          <p:cNvPr id="4" name="Text 2"/>
          <p:cNvSpPr/>
          <p:nvPr/>
        </p:nvSpPr>
        <p:spPr>
          <a:xfrm>
            <a:off x="594360" y="1417320"/>
            <a:ext cx="7223760" cy="731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„Trebuie să continuați” poate produce rezistență. Patru instrumente:</a:t>
            </a:r>
            <a:endParaRPr lang="en-US" sz="1600" dirty="0"/>
          </a:p>
        </p:txBody>
      </p:sp>
      <p:sp>
        <p:nvSpPr>
          <p:cNvPr id="5" name="Shape 3"/>
          <p:cNvSpPr/>
          <p:nvPr/>
        </p:nvSpPr>
        <p:spPr>
          <a:xfrm>
            <a:off x="594360" y="2194560"/>
            <a:ext cx="3520440" cy="1828800"/>
          </a:xfrm>
          <a:prstGeom prst="roundRect">
            <a:avLst>
              <a:gd name="adj" fmla="val 4500"/>
            </a:avLst>
          </a:prstGeom>
          <a:solidFill>
            <a:srgbClr val="ECEAE4"/>
          </a:solidFill>
          <a:ln w="12700">
            <a:solidFill>
              <a:srgbClr val="ECEAE4"/>
            </a:solidFill>
            <a:prstDash val="solid"/>
          </a:ln>
        </p:spPr>
        <p:txBody>
          <a:bodyPr/>
          <a:p/>
        </p:txBody>
      </p:sp>
      <p:sp>
        <p:nvSpPr>
          <p:cNvPr id="6" name="Shape 4"/>
          <p:cNvSpPr/>
          <p:nvPr/>
        </p:nvSpPr>
        <p:spPr>
          <a:xfrm>
            <a:off x="594360" y="2194560"/>
            <a:ext cx="3520440" cy="64008"/>
          </a:xfrm>
          <a:prstGeom prst="rect">
            <a:avLst/>
          </a:prstGeom>
          <a:solidFill>
            <a:srgbClr val="0E7C6B"/>
          </a:solidFill>
          <a:ln w="12700">
            <a:solidFill>
              <a:srgbClr val="0E7C6B"/>
            </a:solidFill>
            <a:prstDash val="solid"/>
          </a:ln>
        </p:spPr>
        <p:txBody>
          <a:bodyPr/>
          <a:p/>
        </p:txBody>
      </p:sp>
      <p:sp>
        <p:nvSpPr>
          <p:cNvPr id="7" name="Text 5"/>
          <p:cNvSpPr/>
          <p:nvPr/>
        </p:nvSpPr>
        <p:spPr>
          <a:xfrm>
            <a:off x="777240" y="2350008"/>
            <a:ext cx="3154680" cy="365760"/>
          </a:xfrm>
          <a:prstGeom prst="rect">
            <a:avLst/>
          </a:prstGeom>
          <a:noFill/>
          <a:ln/>
        </p:spPr>
        <p:txBody>
          <a:bodyPr wrap="square" lIns="0" tIns="0" rIns="0" bIns="0" rtlCol="0" anchor="t"/>
          <a:lstStyle/>
          <a:p>
            <a:pPr indent="0" marL="0">
              <a:buNone/>
            </a:pPr>
            <a:r>
              <a:rPr lang="en-US" sz="1600" b="1" dirty="0">
                <a:solidFill>
                  <a:srgbClr val="0E7C6B"/>
                </a:solidFill>
                <a:latin typeface="Palatino Linotype" pitchFamily="34" charset="0"/>
                <a:ea typeface="Palatino Linotype" pitchFamily="34" charset="-122"/>
                <a:cs typeface="Palatino Linotype" pitchFamily="34" charset="-120"/>
              </a:rPr>
              <a:t>Întrebarea deschisă</a:t>
            </a:r>
            <a:endParaRPr lang="en-US" sz="1600" dirty="0"/>
          </a:p>
        </p:txBody>
      </p:sp>
      <p:sp>
        <p:nvSpPr>
          <p:cNvPr id="8" name="Text 6"/>
          <p:cNvSpPr/>
          <p:nvPr/>
        </p:nvSpPr>
        <p:spPr>
          <a:xfrm>
            <a:off x="777240" y="2761488"/>
            <a:ext cx="3154680" cy="1188720"/>
          </a:xfrm>
          <a:prstGeom prst="rect">
            <a:avLst/>
          </a:prstGeom>
          <a:noFill/>
          <a:ln/>
        </p:spPr>
        <p:txBody>
          <a:bodyPr wrap="square" lIns="0" tIns="0" rIns="0" bIns="0" rtlCol="0" anchor="t"/>
          <a:lstStyle/>
          <a:p>
            <a:pPr indent="0" marL="0">
              <a:buNone/>
            </a:pPr>
            <a:r>
              <a:rPr lang="en-US" sz="1400" i="1" dirty="0">
                <a:solidFill>
                  <a:srgbClr val="11121A"/>
                </a:solidFill>
                <a:latin typeface="Palatino Linotype" pitchFamily="34" charset="0"/>
                <a:ea typeface="Palatino Linotype" pitchFamily="34" charset="-122"/>
                <a:cs typeface="Palatino Linotype" pitchFamily="34" charset="-120"/>
              </a:rPr>
              <a:t>„Ce v-a ajutat în cele unsprezece seri reușite?”</a:t>
            </a:r>
            <a:endParaRPr lang="en-US" sz="1400" dirty="0"/>
          </a:p>
        </p:txBody>
      </p:sp>
      <p:sp>
        <p:nvSpPr>
          <p:cNvPr id="9" name="Shape 7"/>
          <p:cNvSpPr/>
          <p:nvPr/>
        </p:nvSpPr>
        <p:spPr>
          <a:xfrm>
            <a:off x="4251960" y="2194560"/>
            <a:ext cx="3520440" cy="1828800"/>
          </a:xfrm>
          <a:prstGeom prst="roundRect">
            <a:avLst>
              <a:gd name="adj" fmla="val 4500"/>
            </a:avLst>
          </a:prstGeom>
          <a:solidFill>
            <a:srgbClr val="F9F8F5"/>
          </a:solidFill>
          <a:ln w="12700">
            <a:solidFill>
              <a:srgbClr val="F9F8F5"/>
            </a:solidFill>
            <a:prstDash val="solid"/>
          </a:ln>
        </p:spPr>
        <p:txBody>
          <a:bodyPr/>
          <a:p/>
        </p:txBody>
      </p:sp>
      <p:sp>
        <p:nvSpPr>
          <p:cNvPr id="10" name="Shape 8"/>
          <p:cNvSpPr/>
          <p:nvPr/>
        </p:nvSpPr>
        <p:spPr>
          <a:xfrm>
            <a:off x="4251960" y="2194560"/>
            <a:ext cx="3520440" cy="64008"/>
          </a:xfrm>
          <a:prstGeom prst="rect">
            <a:avLst/>
          </a:prstGeom>
          <a:solidFill>
            <a:srgbClr val="4A2D8C"/>
          </a:solidFill>
          <a:ln w="12700">
            <a:solidFill>
              <a:srgbClr val="4A2D8C"/>
            </a:solidFill>
            <a:prstDash val="solid"/>
          </a:ln>
        </p:spPr>
        <p:txBody>
          <a:bodyPr/>
          <a:p/>
        </p:txBody>
      </p:sp>
      <p:sp>
        <p:nvSpPr>
          <p:cNvPr id="11" name="Text 9"/>
          <p:cNvSpPr/>
          <p:nvPr/>
        </p:nvSpPr>
        <p:spPr>
          <a:xfrm>
            <a:off x="4434840" y="2350008"/>
            <a:ext cx="3154680" cy="365760"/>
          </a:xfrm>
          <a:prstGeom prst="rect">
            <a:avLst/>
          </a:prstGeom>
          <a:noFill/>
          <a:ln/>
        </p:spPr>
        <p:txBody>
          <a:bodyPr wrap="square" lIns="0" tIns="0" rIns="0" bIns="0" rtlCol="0" anchor="t"/>
          <a:lstStyle/>
          <a:p>
            <a:pPr indent="0" marL="0">
              <a:buNone/>
            </a:pPr>
            <a:r>
              <a:rPr lang="en-US" sz="1600" b="1" dirty="0">
                <a:solidFill>
                  <a:srgbClr val="4A2D8C"/>
                </a:solidFill>
                <a:latin typeface="Palatino Linotype" pitchFamily="34" charset="0"/>
                <a:ea typeface="Palatino Linotype" pitchFamily="34" charset="-122"/>
                <a:cs typeface="Palatino Linotype" pitchFamily="34" charset="-120"/>
              </a:rPr>
              <a:t>Aprecierea efortului</a:t>
            </a:r>
            <a:endParaRPr lang="en-US" sz="1600" dirty="0"/>
          </a:p>
        </p:txBody>
      </p:sp>
      <p:sp>
        <p:nvSpPr>
          <p:cNvPr id="12" name="Text 10"/>
          <p:cNvSpPr/>
          <p:nvPr/>
        </p:nvSpPr>
        <p:spPr>
          <a:xfrm>
            <a:off x="4434840" y="2761488"/>
            <a:ext cx="3154680" cy="1188720"/>
          </a:xfrm>
          <a:prstGeom prst="rect">
            <a:avLst/>
          </a:prstGeom>
          <a:noFill/>
          <a:ln/>
        </p:spPr>
        <p:txBody>
          <a:bodyPr wrap="square" lIns="0" tIns="0" rIns="0" bIns="0" rtlCol="0" anchor="t"/>
          <a:lstStyle/>
          <a:p>
            <a:pPr indent="0" marL="0">
              <a:buNone/>
            </a:pPr>
            <a:r>
              <a:rPr lang="en-US" sz="1400" i="1" dirty="0">
                <a:solidFill>
                  <a:srgbClr val="11121A"/>
                </a:solidFill>
                <a:latin typeface="Palatino Linotype" pitchFamily="34" charset="0"/>
                <a:ea typeface="Palatino Linotype" pitchFamily="34" charset="-122"/>
                <a:cs typeface="Palatino Linotype" pitchFamily="34" charset="-120"/>
              </a:rPr>
              <a:t>„Ați continuat să mergeți chiar și cu durere.”</a:t>
            </a:r>
            <a:endParaRPr lang="en-US" sz="1400" dirty="0"/>
          </a:p>
        </p:txBody>
      </p:sp>
      <p:sp>
        <p:nvSpPr>
          <p:cNvPr id="13" name="Shape 11"/>
          <p:cNvSpPr/>
          <p:nvPr/>
        </p:nvSpPr>
        <p:spPr>
          <a:xfrm>
            <a:off x="594360" y="4160520"/>
            <a:ext cx="3520440" cy="1828800"/>
          </a:xfrm>
          <a:prstGeom prst="roundRect">
            <a:avLst>
              <a:gd name="adj" fmla="val 4500"/>
            </a:avLst>
          </a:prstGeom>
          <a:solidFill>
            <a:srgbClr val="ECEAE4"/>
          </a:solidFill>
          <a:ln w="12700">
            <a:solidFill>
              <a:srgbClr val="ECEAE4"/>
            </a:solidFill>
            <a:prstDash val="solid"/>
          </a:ln>
        </p:spPr>
        <p:txBody>
          <a:bodyPr/>
          <a:p/>
        </p:txBody>
      </p:sp>
      <p:sp>
        <p:nvSpPr>
          <p:cNvPr id="14" name="Shape 12"/>
          <p:cNvSpPr/>
          <p:nvPr/>
        </p:nvSpPr>
        <p:spPr>
          <a:xfrm>
            <a:off x="594360" y="4160520"/>
            <a:ext cx="3520440" cy="64008"/>
          </a:xfrm>
          <a:prstGeom prst="rect">
            <a:avLst/>
          </a:prstGeom>
          <a:solidFill>
            <a:srgbClr val="B02532"/>
          </a:solidFill>
          <a:ln w="12700">
            <a:solidFill>
              <a:srgbClr val="B02532"/>
            </a:solidFill>
            <a:prstDash val="solid"/>
          </a:ln>
        </p:spPr>
        <p:txBody>
          <a:bodyPr/>
          <a:p/>
        </p:txBody>
      </p:sp>
      <p:sp>
        <p:nvSpPr>
          <p:cNvPr id="15" name="Text 13"/>
          <p:cNvSpPr/>
          <p:nvPr/>
        </p:nvSpPr>
        <p:spPr>
          <a:xfrm>
            <a:off x="777240" y="4315968"/>
            <a:ext cx="3154680" cy="36576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Reflectarea</a:t>
            </a:r>
            <a:endParaRPr lang="en-US" sz="1600" dirty="0"/>
          </a:p>
        </p:txBody>
      </p:sp>
      <p:sp>
        <p:nvSpPr>
          <p:cNvPr id="16" name="Text 14"/>
          <p:cNvSpPr/>
          <p:nvPr/>
        </p:nvSpPr>
        <p:spPr>
          <a:xfrm>
            <a:off x="777240" y="4727448"/>
            <a:ext cx="3154680" cy="1188720"/>
          </a:xfrm>
          <a:prstGeom prst="rect">
            <a:avLst/>
          </a:prstGeom>
          <a:noFill/>
          <a:ln/>
        </p:spPr>
        <p:txBody>
          <a:bodyPr wrap="square" lIns="0" tIns="0" rIns="0" bIns="0" rtlCol="0" anchor="t"/>
          <a:lstStyle/>
          <a:p>
            <a:pPr indent="0" marL="0">
              <a:buNone/>
            </a:pPr>
            <a:r>
              <a:rPr lang="en-US" sz="1400" i="1" dirty="0">
                <a:solidFill>
                  <a:srgbClr val="11121A"/>
                </a:solidFill>
                <a:latin typeface="Palatino Linotype" pitchFamily="34" charset="0"/>
                <a:ea typeface="Palatino Linotype" pitchFamily="34" charset="-122"/>
                <a:cs typeface="Palatino Linotype" pitchFamily="34" charset="-120"/>
              </a:rPr>
              <a:t>„Vă e teamă că vă faceți rău, dar vă doriți plimbările.”</a:t>
            </a:r>
            <a:endParaRPr lang="en-US" sz="1400" dirty="0"/>
          </a:p>
        </p:txBody>
      </p:sp>
      <p:sp>
        <p:nvSpPr>
          <p:cNvPr id="17" name="Shape 15"/>
          <p:cNvSpPr/>
          <p:nvPr/>
        </p:nvSpPr>
        <p:spPr>
          <a:xfrm>
            <a:off x="4251960" y="4160520"/>
            <a:ext cx="3520440" cy="1828800"/>
          </a:xfrm>
          <a:prstGeom prst="roundRect">
            <a:avLst>
              <a:gd name="adj" fmla="val 4500"/>
            </a:avLst>
          </a:prstGeom>
          <a:solidFill>
            <a:srgbClr val="F9F8F5"/>
          </a:solidFill>
          <a:ln w="12700">
            <a:solidFill>
              <a:srgbClr val="F9F8F5"/>
            </a:solidFill>
            <a:prstDash val="solid"/>
          </a:ln>
        </p:spPr>
        <p:txBody>
          <a:bodyPr/>
          <a:p/>
        </p:txBody>
      </p:sp>
      <p:sp>
        <p:nvSpPr>
          <p:cNvPr id="18" name="Shape 16"/>
          <p:cNvSpPr/>
          <p:nvPr/>
        </p:nvSpPr>
        <p:spPr>
          <a:xfrm>
            <a:off x="4251960" y="4160520"/>
            <a:ext cx="3520440" cy="64008"/>
          </a:xfrm>
          <a:prstGeom prst="rect">
            <a:avLst/>
          </a:prstGeom>
          <a:solidFill>
            <a:srgbClr val="9C4A0A"/>
          </a:solidFill>
          <a:ln w="12700">
            <a:solidFill>
              <a:srgbClr val="9C4A0A"/>
            </a:solidFill>
            <a:prstDash val="solid"/>
          </a:ln>
        </p:spPr>
        <p:txBody>
          <a:bodyPr/>
          <a:p/>
        </p:txBody>
      </p:sp>
      <p:sp>
        <p:nvSpPr>
          <p:cNvPr id="19" name="Text 17"/>
          <p:cNvSpPr/>
          <p:nvPr/>
        </p:nvSpPr>
        <p:spPr>
          <a:xfrm>
            <a:off x="4434840" y="4315968"/>
            <a:ext cx="3154680" cy="365760"/>
          </a:xfrm>
          <a:prstGeom prst="rect">
            <a:avLst/>
          </a:prstGeom>
          <a:noFill/>
          <a:ln/>
        </p:spPr>
        <p:txBody>
          <a:bodyPr wrap="square" lIns="0" tIns="0" rIns="0" bIns="0" rtlCol="0" anchor="t"/>
          <a:lstStyle/>
          <a:p>
            <a:pPr indent="0" marL="0">
              <a:buNone/>
            </a:pPr>
            <a:r>
              <a:rPr lang="en-US" sz="1600" b="1" dirty="0">
                <a:solidFill>
                  <a:srgbClr val="9C4A0A"/>
                </a:solidFill>
                <a:latin typeface="Palatino Linotype" pitchFamily="34" charset="0"/>
                <a:ea typeface="Palatino Linotype" pitchFamily="34" charset="-122"/>
                <a:cs typeface="Palatino Linotype" pitchFamily="34" charset="-120"/>
              </a:rPr>
              <a:t>Rezumatul</a:t>
            </a:r>
            <a:endParaRPr lang="en-US" sz="1600" dirty="0"/>
          </a:p>
        </p:txBody>
      </p:sp>
      <p:sp>
        <p:nvSpPr>
          <p:cNvPr id="20" name="Text 18"/>
          <p:cNvSpPr/>
          <p:nvPr/>
        </p:nvSpPr>
        <p:spPr>
          <a:xfrm>
            <a:off x="4434840" y="4727448"/>
            <a:ext cx="3154680" cy="1188720"/>
          </a:xfrm>
          <a:prstGeom prst="rect">
            <a:avLst/>
          </a:prstGeom>
          <a:noFill/>
          <a:ln/>
        </p:spPr>
        <p:txBody>
          <a:bodyPr wrap="square" lIns="0" tIns="0" rIns="0" bIns="0" rtlCol="0" anchor="t"/>
          <a:lstStyle/>
          <a:p>
            <a:pPr indent="0" marL="0">
              <a:buNone/>
            </a:pPr>
            <a:r>
              <a:rPr lang="en-US" sz="1400" i="1" dirty="0">
                <a:solidFill>
                  <a:srgbClr val="11121A"/>
                </a:solidFill>
                <a:latin typeface="Palatino Linotype" pitchFamily="34" charset="0"/>
                <a:ea typeface="Palatino Linotype" pitchFamily="34" charset="-122"/>
                <a:cs typeface="Palatino Linotype" pitchFamily="34" charset="-120"/>
              </a:rPr>
              <a:t>„Ați spus că reluați cu cinci minute, varianta ușoară. Am înțeles bine?”</a:t>
            </a:r>
            <a:endParaRPr lang="en-US" sz="1400" dirty="0"/>
          </a:p>
        </p:txBody>
      </p:sp>
      <p:sp>
        <p:nvSpPr>
          <p:cNvPr id="21" name="Shape 19"/>
          <p:cNvSpPr/>
          <p:nvPr/>
        </p:nvSpPr>
        <p:spPr>
          <a:xfrm>
            <a:off x="8092440" y="1417320"/>
            <a:ext cx="3474720" cy="4434840"/>
          </a:xfrm>
          <a:prstGeom prst="roundRect">
            <a:avLst>
              <a:gd name="adj" fmla="val 2368"/>
            </a:avLst>
          </a:prstGeom>
          <a:solidFill>
            <a:srgbClr val="11121A"/>
          </a:solidFill>
          <a:ln w="12700">
            <a:solidFill>
              <a:srgbClr val="11121A"/>
            </a:solidFill>
            <a:prstDash val="solid"/>
          </a:ln>
        </p:spPr>
        <p:txBody>
          <a:bodyPr/>
          <a:p/>
        </p:txBody>
      </p:sp>
      <p:sp>
        <p:nvSpPr>
          <p:cNvPr id="22" name="Text 20"/>
          <p:cNvSpPr/>
          <p:nvPr/>
        </p:nvSpPr>
        <p:spPr>
          <a:xfrm>
            <a:off x="8321040" y="1600200"/>
            <a:ext cx="3017520" cy="640080"/>
          </a:xfrm>
          <a:prstGeom prst="rect">
            <a:avLst/>
          </a:prstGeom>
          <a:noFill/>
          <a:ln/>
        </p:spPr>
        <p:txBody>
          <a:bodyPr wrap="square" lIns="0" tIns="0" rIns="0" bIns="0" rtlCol="0" anchor="t"/>
          <a:lstStyle/>
          <a:p>
            <a:pPr indent="0" marL="0">
              <a:buNone/>
            </a:pPr>
            <a:r>
              <a:rPr lang="en-US" sz="3000" b="1" dirty="0">
                <a:solidFill>
                  <a:srgbClr val="27D3BE"/>
                </a:solidFill>
                <a:latin typeface="Palatino Linotype" pitchFamily="34" charset="0"/>
                <a:ea typeface="Palatino Linotype" pitchFamily="34" charset="-122"/>
                <a:cs typeface="Palatino Linotype" pitchFamily="34" charset="-120"/>
              </a:rPr>
              <a:t>trei din patru</a:t>
            </a:r>
            <a:endParaRPr lang="en-US" sz="3000" dirty="0"/>
          </a:p>
        </p:txBody>
      </p:sp>
      <p:sp>
        <p:nvSpPr>
          <p:cNvPr id="23" name="Text 21"/>
          <p:cNvSpPr/>
          <p:nvPr/>
        </p:nvSpPr>
        <p:spPr>
          <a:xfrm>
            <a:off x="8321040" y="2286000"/>
            <a:ext cx="3017520" cy="1554480"/>
          </a:xfrm>
          <a:prstGeom prst="rect">
            <a:avLst/>
          </a:prstGeom>
          <a:noFill/>
          <a:ln/>
        </p:spPr>
        <p:txBody>
          <a:bodyPr wrap="square" lIns="0" tIns="0" rIns="0" bIns="0" rtlCol="0" anchor="t"/>
          <a:lstStyle/>
          <a:p>
            <a:pPr indent="0" marL="0">
              <a:buNone/>
            </a:pPr>
            <a:r>
              <a:rPr lang="en-US" sz="1550" dirty="0">
                <a:solidFill>
                  <a:srgbClr val="FFFFFF"/>
                </a:solidFill>
                <a:latin typeface="Palatino Linotype" pitchFamily="34" charset="0"/>
                <a:ea typeface="Palatino Linotype" pitchFamily="34" charset="-122"/>
                <a:cs typeface="Palatino Linotype" pitchFamily="34" charset="-120"/>
              </a:rPr>
              <a:t>studii cu efect semnificativ și relevant clinic (meta-analiză, 2005).</a:t>
            </a:r>
            <a:endParaRPr lang="en-US" sz="1550" dirty="0"/>
          </a:p>
        </p:txBody>
      </p:sp>
      <p:sp>
        <p:nvSpPr>
          <p:cNvPr id="24" name="Text 22"/>
          <p:cNvSpPr/>
          <p:nvPr/>
        </p:nvSpPr>
        <p:spPr>
          <a:xfrm>
            <a:off x="8321040" y="3931920"/>
            <a:ext cx="3017520" cy="1737360"/>
          </a:xfrm>
          <a:prstGeom prst="rect">
            <a:avLst/>
          </a:prstGeom>
          <a:noFill/>
          <a:ln/>
        </p:spPr>
        <p:txBody>
          <a:bodyPr wrap="square" lIns="0" tIns="0" rIns="0" bIns="0" rtlCol="0" anchor="t"/>
          <a:lstStyle/>
          <a:p>
            <a:pPr indent="0" marL="0">
              <a:buNone/>
            </a:pPr>
            <a:r>
              <a:rPr lang="en-US" sz="1400" i="1" dirty="0">
                <a:solidFill>
                  <a:srgbClr val="D5D8E2"/>
                </a:solidFill>
                <a:latin typeface="Palatino Linotype" pitchFamily="34" charset="0"/>
                <a:ea typeface="Palatino Linotype" pitchFamily="34" charset="-122"/>
                <a:cs typeface="Palatino Linotype" pitchFamily="34" charset="-120"/>
              </a:rPr>
              <a:t>Pregătirea poate explica diferențele după profesie: metoda se exersează.</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JOC DE ROL</a:t>
            </a:r>
            <a:endParaRPr lang="en-US" sz="1300" dirty="0"/>
          </a:p>
        </p:txBody>
      </p:sp>
      <p:sp>
        <p:nvSpPr>
          <p:cNvPr id="5" name="Text 3"/>
          <p:cNvSpPr/>
          <p:nvPr/>
        </p:nvSpPr>
        <p:spPr>
          <a:xfrm>
            <a:off x="594360" y="777240"/>
            <a:ext cx="7863840" cy="11887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Domnul Mihai, după cele trei zile de pauză</a:t>
            </a:r>
            <a:endParaRPr lang="en-US" sz="3200" dirty="0"/>
          </a:p>
        </p:txBody>
      </p:sp>
      <p:sp>
        <p:nvSpPr>
          <p:cNvPr id="6" name="Shape 4"/>
          <p:cNvSpPr/>
          <p:nvPr/>
        </p:nvSpPr>
        <p:spPr>
          <a:xfrm>
            <a:off x="594360" y="2103120"/>
            <a:ext cx="3840480" cy="2468880"/>
          </a:xfrm>
          <a:prstGeom prst="roundRect">
            <a:avLst>
              <a:gd name="adj" fmla="val 3333"/>
            </a:avLst>
          </a:prstGeom>
          <a:solidFill>
            <a:srgbClr val="1D1F2B"/>
          </a:solidFill>
          <a:ln w="12700">
            <a:solidFill>
              <a:srgbClr val="1D1F2B"/>
            </a:solidFill>
            <a:prstDash val="solid"/>
          </a:ln>
        </p:spPr>
        <p:txBody>
          <a:bodyPr/>
          <a:p/>
        </p:txBody>
      </p:sp>
      <p:sp>
        <p:nvSpPr>
          <p:cNvPr id="7" name="Shape 5"/>
          <p:cNvSpPr/>
          <p:nvPr/>
        </p:nvSpPr>
        <p:spPr>
          <a:xfrm>
            <a:off x="594360" y="2103120"/>
            <a:ext cx="3840480" cy="73152"/>
          </a:xfrm>
          <a:prstGeom prst="rect">
            <a:avLst/>
          </a:prstGeom>
          <a:solidFill>
            <a:srgbClr val="27D3BE"/>
          </a:solidFill>
          <a:ln w="12700">
            <a:solidFill>
              <a:srgbClr val="27D3BE"/>
            </a:solidFill>
            <a:prstDash val="solid"/>
          </a:ln>
        </p:spPr>
        <p:txBody>
          <a:bodyPr/>
          <a:p/>
        </p:txBody>
      </p:sp>
      <p:sp>
        <p:nvSpPr>
          <p:cNvPr id="8" name="Text 6"/>
          <p:cNvSpPr/>
          <p:nvPr/>
        </p:nvSpPr>
        <p:spPr>
          <a:xfrm>
            <a:off x="822960" y="2286000"/>
            <a:ext cx="3383280" cy="41148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Specialistul în recuperare</a:t>
            </a:r>
            <a:endParaRPr lang="en-US" sz="1800" dirty="0"/>
          </a:p>
        </p:txBody>
      </p:sp>
      <p:sp>
        <p:nvSpPr>
          <p:cNvPr id="9" name="Text 7"/>
          <p:cNvSpPr/>
          <p:nvPr/>
        </p:nvSpPr>
        <p:spPr>
          <a:xfrm>
            <a:off x="822960" y="2788920"/>
            <a:ext cx="3383280" cy="1691640"/>
          </a:xfrm>
          <a:prstGeom prst="rect">
            <a:avLst/>
          </a:prstGeom>
          <a:noFill/>
          <a:ln/>
        </p:spPr>
        <p:txBody>
          <a:bodyPr wrap="square" lIns="0" tIns="0" rIns="0" bIns="0" rtlCol="0" anchor="t"/>
          <a:lstStyle/>
          <a:p>
            <a:pPr indent="0" marL="0">
              <a:buNone/>
            </a:pPr>
            <a:r>
              <a:rPr lang="en-US" sz="1550" dirty="0">
                <a:solidFill>
                  <a:srgbClr val="E6E8EF"/>
                </a:solidFill>
                <a:latin typeface="Palatino Linotype" pitchFamily="34" charset="0"/>
                <a:ea typeface="Palatino Linotype" pitchFamily="34" charset="-122"/>
                <a:cs typeface="Palatino Linotype" pitchFamily="34" charset="-120"/>
              </a:rPr>
              <a:t>Cel puțin o întrebare deschisă și o reflectare; apoi un rezumat. Nu are voie să spună „trebuie”.</a:t>
            </a:r>
            <a:endParaRPr lang="en-US" sz="1550" dirty="0"/>
          </a:p>
        </p:txBody>
      </p:sp>
      <p:sp>
        <p:nvSpPr>
          <p:cNvPr id="10" name="Shape 8"/>
          <p:cNvSpPr/>
          <p:nvPr/>
        </p:nvSpPr>
        <p:spPr>
          <a:xfrm>
            <a:off x="4617720" y="2103120"/>
            <a:ext cx="3840480" cy="2468880"/>
          </a:xfrm>
          <a:prstGeom prst="roundRect">
            <a:avLst>
              <a:gd name="adj" fmla="val 3333"/>
            </a:avLst>
          </a:prstGeom>
          <a:solidFill>
            <a:srgbClr val="1D1F2B"/>
          </a:solidFill>
          <a:ln w="12700">
            <a:solidFill>
              <a:srgbClr val="1D1F2B"/>
            </a:solidFill>
            <a:prstDash val="solid"/>
          </a:ln>
        </p:spPr>
        <p:txBody>
          <a:bodyPr/>
          <a:p/>
        </p:txBody>
      </p:sp>
      <p:sp>
        <p:nvSpPr>
          <p:cNvPr id="11" name="Shape 9"/>
          <p:cNvSpPr/>
          <p:nvPr/>
        </p:nvSpPr>
        <p:spPr>
          <a:xfrm>
            <a:off x="4617720" y="2103120"/>
            <a:ext cx="3840480" cy="73152"/>
          </a:xfrm>
          <a:prstGeom prst="rect">
            <a:avLst/>
          </a:prstGeom>
          <a:solidFill>
            <a:srgbClr val="FF4757"/>
          </a:solidFill>
          <a:ln w="12700">
            <a:solidFill>
              <a:srgbClr val="FF4757"/>
            </a:solidFill>
            <a:prstDash val="solid"/>
          </a:ln>
        </p:spPr>
        <p:txBody>
          <a:bodyPr/>
          <a:p/>
        </p:txBody>
      </p:sp>
      <p:sp>
        <p:nvSpPr>
          <p:cNvPr id="12" name="Text 10"/>
          <p:cNvSpPr/>
          <p:nvPr/>
        </p:nvSpPr>
        <p:spPr>
          <a:xfrm>
            <a:off x="4846320" y="2286000"/>
            <a:ext cx="3383280" cy="411480"/>
          </a:xfrm>
          <a:prstGeom prst="rect">
            <a:avLst/>
          </a:prstGeom>
          <a:noFill/>
          <a:ln/>
        </p:spPr>
        <p:txBody>
          <a:bodyPr wrap="square" lIns="0" tIns="0" rIns="0" bIns="0" rtlCol="0" anchor="t"/>
          <a:lstStyle/>
          <a:p>
            <a:pPr indent="0" marL="0">
              <a:buNone/>
            </a:pPr>
            <a:r>
              <a:rPr lang="en-US" sz="1800" b="1" dirty="0">
                <a:solidFill>
                  <a:srgbClr val="FF4757"/>
                </a:solidFill>
                <a:latin typeface="Palatino Linotype" pitchFamily="34" charset="0"/>
                <a:ea typeface="Palatino Linotype" pitchFamily="34" charset="-122"/>
                <a:cs typeface="Palatino Linotype" pitchFamily="34" charset="-120"/>
              </a:rPr>
              <a:t>Domnul Mihai</a:t>
            </a:r>
            <a:endParaRPr lang="en-US" sz="1800" dirty="0"/>
          </a:p>
        </p:txBody>
      </p:sp>
      <p:sp>
        <p:nvSpPr>
          <p:cNvPr id="13" name="Text 11"/>
          <p:cNvSpPr/>
          <p:nvPr/>
        </p:nvSpPr>
        <p:spPr>
          <a:xfrm>
            <a:off x="4846320" y="2788920"/>
            <a:ext cx="3383280" cy="1691640"/>
          </a:xfrm>
          <a:prstGeom prst="rect">
            <a:avLst/>
          </a:prstGeom>
          <a:noFill/>
          <a:ln/>
        </p:spPr>
        <p:txBody>
          <a:bodyPr wrap="square" lIns="0" tIns="0" rIns="0" bIns="0" rtlCol="0" anchor="t"/>
          <a:lstStyle/>
          <a:p>
            <a:pPr indent="0" marL="0">
              <a:buNone/>
            </a:pPr>
            <a:r>
              <a:rPr lang="en-US" sz="1550" dirty="0">
                <a:solidFill>
                  <a:srgbClr val="E6E8EF"/>
                </a:solidFill>
                <a:latin typeface="Palatino Linotype" pitchFamily="34" charset="0"/>
                <a:ea typeface="Palatino Linotype" pitchFamily="34" charset="-122"/>
                <a:cs typeface="Palatino Linotype" pitchFamily="34" charset="-120"/>
              </a:rPr>
              <a:t>A renunțat trei zile la rând, după o seară cu durere. Știe ce are de făcut, dar nu se hotărăște.</a:t>
            </a:r>
            <a:endParaRPr lang="en-US" sz="1550" dirty="0"/>
          </a:p>
        </p:txBody>
      </p:sp>
      <p:sp>
        <p:nvSpPr>
          <p:cNvPr id="14" name="Shape 12"/>
          <p:cNvSpPr/>
          <p:nvPr/>
        </p:nvSpPr>
        <p:spPr>
          <a:xfrm>
            <a:off x="8732520" y="1920240"/>
            <a:ext cx="2834640" cy="2651760"/>
          </a:xfrm>
          <a:prstGeom prst="roundRect">
            <a:avLst>
              <a:gd name="adj" fmla="val 3103"/>
            </a:avLst>
          </a:prstGeom>
          <a:solidFill>
            <a:srgbClr val="FFFFFF"/>
          </a:solidFill>
          <a:ln w="12700">
            <a:solidFill>
              <a:srgbClr val="FFFFFF"/>
            </a:solidFill>
            <a:prstDash val="solid"/>
          </a:ln>
        </p:spPr>
        <p:txBody>
          <a:bodyPr/>
          <a:p/>
        </p:txBody>
      </p:sp>
      <p:sp>
        <p:nvSpPr>
          <p:cNvPr id="15" name="Shape 13"/>
          <p:cNvSpPr/>
          <p:nvPr/>
        </p:nvSpPr>
        <p:spPr>
          <a:xfrm>
            <a:off x="9857232" y="2194560"/>
            <a:ext cx="585216" cy="960120"/>
          </a:xfrm>
          <a:prstGeom prst="roundRect">
            <a:avLst>
              <a:gd name="adj" fmla="val 15625"/>
            </a:avLst>
          </a:prstGeom>
          <a:solidFill>
            <a:srgbClr val="F6F5F2"/>
          </a:solidFill>
          <a:ln w="19050">
            <a:solidFill>
              <a:srgbClr val="585A64"/>
            </a:solidFill>
            <a:prstDash val="solid"/>
          </a:ln>
        </p:spPr>
        <p:txBody>
          <a:bodyPr/>
          <a:p/>
        </p:txBody>
      </p:sp>
      <p:sp>
        <p:nvSpPr>
          <p:cNvPr id="16" name="Shape 14"/>
          <p:cNvSpPr/>
          <p:nvPr/>
        </p:nvSpPr>
        <p:spPr>
          <a:xfrm>
            <a:off x="10085832" y="2926080"/>
            <a:ext cx="128016" cy="128016"/>
          </a:xfrm>
          <a:prstGeom prst="ellipse">
            <a:avLst/>
          </a:prstGeom>
          <a:solidFill>
            <a:srgbClr val="585A64"/>
          </a:solidFill>
          <a:ln w="12700">
            <a:solidFill>
              <a:srgbClr val="585A64"/>
            </a:solidFill>
            <a:prstDash val="solid"/>
          </a:ln>
        </p:spPr>
        <p:txBody>
          <a:bodyPr/>
          <a:p/>
        </p:txBody>
      </p:sp>
      <p:sp>
        <p:nvSpPr>
          <p:cNvPr id="17" name="Text 15"/>
          <p:cNvSpPr/>
          <p:nvPr/>
        </p:nvSpPr>
        <p:spPr>
          <a:xfrm>
            <a:off x="8961120" y="3337560"/>
            <a:ext cx="2377440" cy="109728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
        <p:nvSpPr>
          <p:cNvPr id="18" name="Shape 16"/>
          <p:cNvSpPr/>
          <p:nvPr/>
        </p:nvSpPr>
        <p:spPr>
          <a:xfrm>
            <a:off x="594360" y="4846320"/>
            <a:ext cx="10972800" cy="1051560"/>
          </a:xfrm>
          <a:prstGeom prst="roundRect">
            <a:avLst>
              <a:gd name="adj" fmla="val 7826"/>
            </a:avLst>
          </a:prstGeom>
          <a:solidFill>
            <a:srgbClr val="272A38"/>
          </a:solidFill>
          <a:ln w="12700">
            <a:solidFill>
              <a:srgbClr val="272A38"/>
            </a:solidFill>
            <a:prstDash val="solid"/>
          </a:ln>
        </p:spPr>
        <p:txBody>
          <a:bodyPr/>
          <a:p/>
        </p:txBody>
      </p:sp>
      <p:sp>
        <p:nvSpPr>
          <p:cNvPr id="19" name="Text 17"/>
          <p:cNvSpPr/>
          <p:nvPr/>
        </p:nvSpPr>
        <p:spPr>
          <a:xfrm>
            <a:off x="868680" y="4846320"/>
            <a:ext cx="10424160" cy="1051560"/>
          </a:xfrm>
          <a:prstGeom prst="rect">
            <a:avLst/>
          </a:prstGeom>
          <a:noFill/>
          <a:ln/>
        </p:spPr>
        <p:txBody>
          <a:bodyPr wrap="square" lIns="0" tIns="0" rIns="0" bIns="0" rtlCol="0" anchor="ctr"/>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Sala votează: a hotărât domnul Mihai singur? Ce frază a ajutat cel mai mult?</a:t>
            </a:r>
            <a:endParaRPr lang="en-US" sz="1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Trei pași într-o consultație</a:t>
            </a:r>
            <a:endParaRPr lang="en-US" sz="3000" dirty="0"/>
          </a:p>
        </p:txBody>
      </p:sp>
      <p:sp>
        <p:nvSpPr>
          <p:cNvPr id="3" name="Shape 1"/>
          <p:cNvSpPr/>
          <p:nvPr/>
        </p:nvSpPr>
        <p:spPr>
          <a:xfrm>
            <a:off x="594360" y="1600200"/>
            <a:ext cx="3566160" cy="1783080"/>
          </a:xfrm>
          <a:prstGeom prst="roundRect">
            <a:avLst>
              <a:gd name="adj" fmla="val 4615"/>
            </a:avLst>
          </a:prstGeom>
          <a:solidFill>
            <a:srgbClr val="ECEAE4"/>
          </a:solidFill>
          <a:ln w="12700">
            <a:solidFill>
              <a:srgbClr val="ECEAE4"/>
            </a:solidFill>
            <a:prstDash val="solid"/>
          </a:ln>
        </p:spPr>
        <p:txBody>
          <a:bodyPr/>
          <a:p/>
        </p:txBody>
      </p:sp>
      <p:sp>
        <p:nvSpPr>
          <p:cNvPr id="4" name="Shape 2"/>
          <p:cNvSpPr/>
          <p:nvPr/>
        </p:nvSpPr>
        <p:spPr>
          <a:xfrm>
            <a:off x="594360" y="1600200"/>
            <a:ext cx="3566160" cy="64008"/>
          </a:xfrm>
          <a:prstGeom prst="rect">
            <a:avLst/>
          </a:prstGeom>
          <a:solidFill>
            <a:srgbClr val="0E7C6B"/>
          </a:solidFill>
          <a:ln w="12700">
            <a:solidFill>
              <a:srgbClr val="0E7C6B"/>
            </a:solidFill>
            <a:prstDash val="solid"/>
          </a:ln>
        </p:spPr>
        <p:txBody>
          <a:bodyPr/>
          <a:p/>
        </p:txBody>
      </p:sp>
      <p:sp>
        <p:nvSpPr>
          <p:cNvPr id="5" name="Shape 3"/>
          <p:cNvSpPr/>
          <p:nvPr/>
        </p:nvSpPr>
        <p:spPr>
          <a:xfrm>
            <a:off x="777240" y="1783080"/>
            <a:ext cx="457200" cy="457200"/>
          </a:xfrm>
          <a:prstGeom prst="ellipse">
            <a:avLst/>
          </a:prstGeom>
          <a:solidFill>
            <a:srgbClr val="0E7C6B"/>
          </a:solidFill>
          <a:ln/>
        </p:spPr>
        <p:txBody>
          <a:bodyPr/>
          <a:p/>
        </p:txBody>
      </p:sp>
      <p:sp>
        <p:nvSpPr>
          <p:cNvPr id="6" name="Text 4"/>
          <p:cNvSpPr/>
          <p:nvPr/>
        </p:nvSpPr>
        <p:spPr>
          <a:xfrm>
            <a:off x="777240" y="1783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371600" y="1783080"/>
            <a:ext cx="2651760" cy="457200"/>
          </a:xfrm>
          <a:prstGeom prst="rect">
            <a:avLst/>
          </a:prstGeom>
          <a:noFill/>
          <a:ln/>
        </p:spPr>
        <p:txBody>
          <a:bodyPr wrap="square" lIns="0" tIns="0" rIns="0" bIns="0" rtlCol="0" anchor="ctr"/>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Întrebați</a:t>
            </a:r>
            <a:endParaRPr lang="en-US" sz="2000" dirty="0"/>
          </a:p>
        </p:txBody>
      </p:sp>
      <p:sp>
        <p:nvSpPr>
          <p:cNvPr id="8" name="Text 6"/>
          <p:cNvSpPr/>
          <p:nvPr/>
        </p:nvSpPr>
        <p:spPr>
          <a:xfrm>
            <a:off x="822960" y="2377440"/>
            <a:ext cx="315468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„Fumați?”</a:t>
            </a:r>
            <a:endParaRPr lang="en-US" sz="1550" dirty="0"/>
          </a:p>
        </p:txBody>
      </p:sp>
      <p:sp>
        <p:nvSpPr>
          <p:cNvPr id="9" name="Shape 7"/>
          <p:cNvSpPr/>
          <p:nvPr/>
        </p:nvSpPr>
        <p:spPr>
          <a:xfrm>
            <a:off x="4343400" y="1600200"/>
            <a:ext cx="3566160" cy="1783080"/>
          </a:xfrm>
          <a:prstGeom prst="roundRect">
            <a:avLst>
              <a:gd name="adj" fmla="val 4615"/>
            </a:avLst>
          </a:prstGeom>
          <a:solidFill>
            <a:srgbClr val="ECEAE4"/>
          </a:solidFill>
          <a:ln w="12700">
            <a:solidFill>
              <a:srgbClr val="ECEAE4"/>
            </a:solidFill>
            <a:prstDash val="solid"/>
          </a:ln>
        </p:spPr>
        <p:txBody>
          <a:bodyPr/>
          <a:p/>
        </p:txBody>
      </p:sp>
      <p:sp>
        <p:nvSpPr>
          <p:cNvPr id="10" name="Shape 8"/>
          <p:cNvSpPr/>
          <p:nvPr/>
        </p:nvSpPr>
        <p:spPr>
          <a:xfrm>
            <a:off x="4343400" y="1600200"/>
            <a:ext cx="3566160" cy="64008"/>
          </a:xfrm>
          <a:prstGeom prst="rect">
            <a:avLst/>
          </a:prstGeom>
          <a:solidFill>
            <a:srgbClr val="4A2D8C"/>
          </a:solidFill>
          <a:ln w="12700">
            <a:solidFill>
              <a:srgbClr val="4A2D8C"/>
            </a:solidFill>
            <a:prstDash val="solid"/>
          </a:ln>
        </p:spPr>
        <p:txBody>
          <a:bodyPr/>
          <a:p/>
        </p:txBody>
      </p:sp>
      <p:sp>
        <p:nvSpPr>
          <p:cNvPr id="11" name="Shape 9"/>
          <p:cNvSpPr/>
          <p:nvPr/>
        </p:nvSpPr>
        <p:spPr>
          <a:xfrm>
            <a:off x="4526280" y="1783080"/>
            <a:ext cx="457200" cy="457200"/>
          </a:xfrm>
          <a:prstGeom prst="ellipse">
            <a:avLst/>
          </a:prstGeom>
          <a:solidFill>
            <a:srgbClr val="4A2D8C"/>
          </a:solidFill>
          <a:ln/>
        </p:spPr>
        <p:txBody>
          <a:bodyPr/>
          <a:p/>
        </p:txBody>
      </p:sp>
      <p:sp>
        <p:nvSpPr>
          <p:cNvPr id="12" name="Text 10"/>
          <p:cNvSpPr/>
          <p:nvPr/>
        </p:nvSpPr>
        <p:spPr>
          <a:xfrm>
            <a:off x="4526280" y="1783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5120640" y="1783080"/>
            <a:ext cx="2651760" cy="457200"/>
          </a:xfrm>
          <a:prstGeom prst="rect">
            <a:avLst/>
          </a:prstGeom>
          <a:noFill/>
          <a:ln/>
        </p:spPr>
        <p:txBody>
          <a:bodyPr wrap="square" lIns="0" tIns="0" rIns="0" bIns="0" rtlCol="0" anchor="ctr"/>
          <a:lstStyle/>
          <a:p>
            <a:pPr indent="0" marL="0">
              <a:buNone/>
            </a:pPr>
            <a:r>
              <a:rPr lang="en-US" sz="2000" b="1" dirty="0">
                <a:solidFill>
                  <a:srgbClr val="4A2D8C"/>
                </a:solidFill>
                <a:latin typeface="Palatino Linotype" pitchFamily="34" charset="0"/>
                <a:ea typeface="Palatino Linotype" pitchFamily="34" charset="-122"/>
                <a:cs typeface="Palatino Linotype" pitchFamily="34" charset="-120"/>
              </a:rPr>
              <a:t>Sfătuiți</a:t>
            </a:r>
            <a:endParaRPr lang="en-US" sz="2000" dirty="0"/>
          </a:p>
        </p:txBody>
      </p:sp>
      <p:sp>
        <p:nvSpPr>
          <p:cNvPr id="14" name="Text 12"/>
          <p:cNvSpPr/>
          <p:nvPr/>
        </p:nvSpPr>
        <p:spPr>
          <a:xfrm>
            <a:off x="4572000" y="2377440"/>
            <a:ext cx="315468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Clar, respectuos.</a:t>
            </a:r>
            <a:endParaRPr lang="en-US" sz="1550" dirty="0"/>
          </a:p>
        </p:txBody>
      </p:sp>
      <p:sp>
        <p:nvSpPr>
          <p:cNvPr id="15" name="Shape 13"/>
          <p:cNvSpPr/>
          <p:nvPr/>
        </p:nvSpPr>
        <p:spPr>
          <a:xfrm>
            <a:off x="8092440" y="1600200"/>
            <a:ext cx="3566160" cy="1783080"/>
          </a:xfrm>
          <a:prstGeom prst="roundRect">
            <a:avLst>
              <a:gd name="adj" fmla="val 4615"/>
            </a:avLst>
          </a:prstGeom>
          <a:solidFill>
            <a:srgbClr val="ECEAE4"/>
          </a:solidFill>
          <a:ln w="12700">
            <a:solidFill>
              <a:srgbClr val="ECEAE4"/>
            </a:solidFill>
            <a:prstDash val="solid"/>
          </a:ln>
        </p:spPr>
        <p:txBody>
          <a:bodyPr/>
          <a:p/>
        </p:txBody>
      </p:sp>
      <p:sp>
        <p:nvSpPr>
          <p:cNvPr id="16" name="Shape 14"/>
          <p:cNvSpPr/>
          <p:nvPr/>
        </p:nvSpPr>
        <p:spPr>
          <a:xfrm>
            <a:off x="8092440" y="1600200"/>
            <a:ext cx="3566160" cy="64008"/>
          </a:xfrm>
          <a:prstGeom prst="rect">
            <a:avLst/>
          </a:prstGeom>
          <a:solidFill>
            <a:srgbClr val="B02532"/>
          </a:solidFill>
          <a:ln w="12700">
            <a:solidFill>
              <a:srgbClr val="B02532"/>
            </a:solidFill>
            <a:prstDash val="solid"/>
          </a:ln>
        </p:spPr>
        <p:txBody>
          <a:bodyPr/>
          <a:p/>
        </p:txBody>
      </p:sp>
      <p:sp>
        <p:nvSpPr>
          <p:cNvPr id="17" name="Shape 15"/>
          <p:cNvSpPr/>
          <p:nvPr/>
        </p:nvSpPr>
        <p:spPr>
          <a:xfrm>
            <a:off x="8275320" y="1783080"/>
            <a:ext cx="457200" cy="457200"/>
          </a:xfrm>
          <a:prstGeom prst="ellipse">
            <a:avLst/>
          </a:prstGeom>
          <a:solidFill>
            <a:srgbClr val="B02532"/>
          </a:solidFill>
          <a:ln/>
        </p:spPr>
        <p:txBody>
          <a:bodyPr/>
          <a:p/>
        </p:txBody>
      </p:sp>
      <p:sp>
        <p:nvSpPr>
          <p:cNvPr id="18" name="Text 16"/>
          <p:cNvSpPr/>
          <p:nvPr/>
        </p:nvSpPr>
        <p:spPr>
          <a:xfrm>
            <a:off x="8275320" y="1783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9" name="Text 17"/>
          <p:cNvSpPr/>
          <p:nvPr/>
        </p:nvSpPr>
        <p:spPr>
          <a:xfrm>
            <a:off x="8869680" y="1783080"/>
            <a:ext cx="2651760" cy="457200"/>
          </a:xfrm>
          <a:prstGeom prst="rect">
            <a:avLst/>
          </a:prstGeom>
          <a:noFill/>
          <a:ln/>
        </p:spPr>
        <p:txBody>
          <a:bodyPr wrap="square" lIns="0" tIns="0" rIns="0" bIns="0" rtlCol="0" anchor="ctr"/>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Oferiți o cale</a:t>
            </a:r>
            <a:endParaRPr lang="en-US" sz="2000" dirty="0"/>
          </a:p>
        </p:txBody>
      </p:sp>
      <p:sp>
        <p:nvSpPr>
          <p:cNvPr id="20" name="Text 18"/>
          <p:cNvSpPr/>
          <p:nvPr/>
        </p:nvSpPr>
        <p:spPr>
          <a:xfrm>
            <a:off x="8321040" y="2377440"/>
            <a:ext cx="3154680" cy="91440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Un serviciu de renunțare, un medic, o revedere.</a:t>
            </a:r>
            <a:endParaRPr lang="en-US" sz="1550" dirty="0"/>
          </a:p>
        </p:txBody>
      </p:sp>
      <p:sp>
        <p:nvSpPr>
          <p:cNvPr id="21" name="Shape 19"/>
          <p:cNvSpPr/>
          <p:nvPr/>
        </p:nvSpPr>
        <p:spPr>
          <a:xfrm>
            <a:off x="594360" y="3566160"/>
            <a:ext cx="5394960" cy="1920240"/>
          </a:xfrm>
          <a:prstGeom prst="roundRect">
            <a:avLst>
              <a:gd name="adj" fmla="val 4286"/>
            </a:avLst>
          </a:prstGeom>
          <a:solidFill>
            <a:srgbClr val="11121A"/>
          </a:solidFill>
          <a:ln w="12700">
            <a:solidFill>
              <a:srgbClr val="11121A"/>
            </a:solidFill>
            <a:prstDash val="solid"/>
          </a:ln>
        </p:spPr>
        <p:txBody>
          <a:bodyPr/>
          <a:p/>
        </p:txBody>
      </p:sp>
      <p:sp>
        <p:nvSpPr>
          <p:cNvPr id="22" name="Text 20"/>
          <p:cNvSpPr/>
          <p:nvPr/>
        </p:nvSpPr>
        <p:spPr>
          <a:xfrm>
            <a:off x="822960" y="3657600"/>
            <a:ext cx="4937760" cy="329184"/>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Cochrane, 2013</a:t>
            </a:r>
            <a:endParaRPr lang="en-US" sz="1400" dirty="0"/>
          </a:p>
        </p:txBody>
      </p:sp>
      <p:sp>
        <p:nvSpPr>
          <p:cNvPr id="23" name="Text 21"/>
          <p:cNvSpPr/>
          <p:nvPr/>
        </p:nvSpPr>
        <p:spPr>
          <a:xfrm>
            <a:off x="822960" y="4023360"/>
            <a:ext cx="4937760" cy="13716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42 de studii, peste 31 000 de fumători: sfatul scurt al medicului crește renunțarea la fumat, la cel puțin 6 luni.</a:t>
            </a:r>
            <a:endParaRPr lang="en-US" sz="1600" dirty="0"/>
          </a:p>
        </p:txBody>
      </p:sp>
      <p:sp>
        <p:nvSpPr>
          <p:cNvPr id="24" name="Shape 22"/>
          <p:cNvSpPr/>
          <p:nvPr/>
        </p:nvSpPr>
        <p:spPr>
          <a:xfrm>
            <a:off x="6172200" y="3566160"/>
            <a:ext cx="5394960" cy="1920240"/>
          </a:xfrm>
          <a:prstGeom prst="roundRect">
            <a:avLst>
              <a:gd name="adj" fmla="val 4286"/>
            </a:avLst>
          </a:prstGeom>
          <a:solidFill>
            <a:srgbClr val="11121A"/>
          </a:solidFill>
          <a:ln w="12700">
            <a:solidFill>
              <a:srgbClr val="11121A"/>
            </a:solidFill>
            <a:prstDash val="solid"/>
          </a:ln>
        </p:spPr>
        <p:txBody>
          <a:bodyPr/>
          <a:p/>
        </p:txBody>
      </p:sp>
      <p:sp>
        <p:nvSpPr>
          <p:cNvPr id="25" name="Text 23"/>
          <p:cNvSpPr/>
          <p:nvPr/>
        </p:nvSpPr>
        <p:spPr>
          <a:xfrm>
            <a:off x="6400800" y="3657600"/>
            <a:ext cx="4937760" cy="329184"/>
          </a:xfrm>
          <a:prstGeom prst="rect">
            <a:avLst/>
          </a:prstGeom>
          <a:noFill/>
          <a:ln/>
        </p:spPr>
        <p:txBody>
          <a:bodyPr wrap="square" lIns="0" tIns="0" rIns="0" bIns="0" rtlCol="0" anchor="t"/>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Cochrane, 2018</a:t>
            </a:r>
            <a:endParaRPr lang="en-US" sz="1400" dirty="0"/>
          </a:p>
        </p:txBody>
      </p:sp>
      <p:sp>
        <p:nvSpPr>
          <p:cNvPr id="26" name="Text 24"/>
          <p:cNvSpPr/>
          <p:nvPr/>
        </p:nvSpPr>
        <p:spPr>
          <a:xfrm>
            <a:off x="6400800" y="4023360"/>
            <a:ext cx="4937760" cy="1371600"/>
          </a:xfrm>
          <a:prstGeom prst="rect">
            <a:avLst/>
          </a:prstGeom>
          <a:noFill/>
          <a:ln/>
        </p:spPr>
        <p:txBody>
          <a:bodyPr wrap="square" lIns="0" tIns="0" rIns="0" bIns="0" rtlCol="0" anchor="t"/>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34 de studii, consum riscant sau nociv de alcool: după un an, în medie cu 20 de grame pe săptămână mai puțin.</a:t>
            </a:r>
            <a:endParaRPr lang="en-US" sz="1600" dirty="0"/>
          </a:p>
        </p:txBody>
      </p:sp>
      <p:sp>
        <p:nvSpPr>
          <p:cNvPr id="27" name="Text 25"/>
          <p:cNvSpPr/>
          <p:nvPr/>
        </p:nvSpPr>
        <p:spPr>
          <a:xfrm>
            <a:off x="594360" y="5623560"/>
            <a:ext cx="10972800" cy="640080"/>
          </a:xfrm>
          <a:prstGeom prst="rect">
            <a:avLst/>
          </a:prstGeom>
          <a:noFill/>
          <a:ln/>
        </p:spPr>
        <p:txBody>
          <a:bodyPr wrap="square" lIns="0" tIns="0" rIns="0" bIns="0" rtlCol="0" anchor="t"/>
          <a:lstStyle/>
          <a:p>
            <a:pPr indent="0" marL="0">
              <a:buNone/>
            </a:pPr>
            <a:r>
              <a:rPr lang="en-US" sz="1500" i="1" dirty="0">
                <a:solidFill>
                  <a:srgbClr val="585A64"/>
                </a:solidFill>
                <a:latin typeface="Palatino Linotype" pitchFamily="34" charset="0"/>
                <a:ea typeface="Palatino Linotype" pitchFamily="34" charset="-122"/>
                <a:cs typeface="Palatino Linotype" pitchFamily="34" charset="-120"/>
              </a:rPr>
              <a:t>Dovezile vin mai ales de la medici; pentru specialiștii în recuperare, analizele nu spun dacă merge la fel.</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MIJLOACELE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Fișa, afișul, mesajul: același nucleu, trei suporturi</a:t>
            </a:r>
            <a:endParaRPr lang="en-US" sz="2800" dirty="0"/>
          </a:p>
        </p:txBody>
      </p:sp>
      <p:sp>
        <p:nvSpPr>
          <p:cNvPr id="4" name="Shape 2"/>
          <p:cNvSpPr/>
          <p:nvPr/>
        </p:nvSpPr>
        <p:spPr>
          <a:xfrm>
            <a:off x="594360" y="1600200"/>
            <a:ext cx="3566160" cy="2331720"/>
          </a:xfrm>
          <a:prstGeom prst="roundRect">
            <a:avLst>
              <a:gd name="adj" fmla="val 3529"/>
            </a:avLst>
          </a:prstGeom>
          <a:solidFill>
            <a:srgbClr val="1D1F2B"/>
          </a:solidFill>
          <a:ln w="12700">
            <a:solidFill>
              <a:srgbClr val="1D1F2B"/>
            </a:solidFill>
            <a:prstDash val="solid"/>
          </a:ln>
        </p:spPr>
        <p:txBody>
          <a:bodyPr/>
          <a:p/>
        </p:txBody>
      </p:sp>
      <p:sp>
        <p:nvSpPr>
          <p:cNvPr id="5" name="Shape 3"/>
          <p:cNvSpPr/>
          <p:nvPr/>
        </p:nvSpPr>
        <p:spPr>
          <a:xfrm>
            <a:off x="594360" y="1600200"/>
            <a:ext cx="3566160" cy="73152"/>
          </a:xfrm>
          <a:prstGeom prst="rect">
            <a:avLst/>
          </a:prstGeom>
          <a:solidFill>
            <a:srgbClr val="27D3BE"/>
          </a:solidFill>
          <a:ln w="12700">
            <a:solidFill>
              <a:srgbClr val="27D3BE"/>
            </a:solidFill>
            <a:prstDash val="solid"/>
          </a:ln>
        </p:spPr>
        <p:txBody>
          <a:bodyPr/>
          <a:p/>
        </p:txBody>
      </p:sp>
      <p:sp>
        <p:nvSpPr>
          <p:cNvPr id="6" name="Text 4"/>
          <p:cNvSpPr/>
          <p:nvPr/>
        </p:nvSpPr>
        <p:spPr>
          <a:xfrm>
            <a:off x="822960" y="1783080"/>
            <a:ext cx="3108960" cy="457200"/>
          </a:xfrm>
          <a:prstGeom prst="rect">
            <a:avLst/>
          </a:prstGeom>
          <a:noFill/>
          <a:ln/>
        </p:spPr>
        <p:txBody>
          <a:bodyPr wrap="square" lIns="0" tIns="0" rIns="0" bIns="0" rtlCol="0" anchor="t"/>
          <a:lstStyle/>
          <a:p>
            <a:pPr indent="0" marL="0">
              <a:buNone/>
            </a:pPr>
            <a:r>
              <a:rPr lang="en-US" sz="2200" b="1" dirty="0">
                <a:solidFill>
                  <a:srgbClr val="27D3BE"/>
                </a:solidFill>
                <a:latin typeface="Palatino Linotype" pitchFamily="34" charset="0"/>
                <a:ea typeface="Palatino Linotype" pitchFamily="34" charset="-122"/>
                <a:cs typeface="Palatino Linotype" pitchFamily="34" charset="-120"/>
              </a:rPr>
              <a:t>Fișa</a:t>
            </a:r>
            <a:endParaRPr lang="en-US" sz="2200" dirty="0"/>
          </a:p>
        </p:txBody>
      </p:sp>
      <p:sp>
        <p:nvSpPr>
          <p:cNvPr id="7" name="Text 5"/>
          <p:cNvSpPr/>
          <p:nvPr/>
        </p:nvSpPr>
        <p:spPr>
          <a:xfrm>
            <a:off x="822960" y="2331720"/>
            <a:ext cx="3108960" cy="150876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O pagină, cel mult trei mesaje-cheie, pași numerotați cu pictograme, litere mari.</a:t>
            </a:r>
            <a:endParaRPr lang="en-US" sz="1600" dirty="0"/>
          </a:p>
        </p:txBody>
      </p:sp>
      <p:sp>
        <p:nvSpPr>
          <p:cNvPr id="8" name="Shape 6"/>
          <p:cNvSpPr/>
          <p:nvPr/>
        </p:nvSpPr>
        <p:spPr>
          <a:xfrm>
            <a:off x="4343400" y="1600200"/>
            <a:ext cx="3566160" cy="2331720"/>
          </a:xfrm>
          <a:prstGeom prst="roundRect">
            <a:avLst>
              <a:gd name="adj" fmla="val 3529"/>
            </a:avLst>
          </a:prstGeom>
          <a:solidFill>
            <a:srgbClr val="1D1F2B"/>
          </a:solidFill>
          <a:ln w="12700">
            <a:solidFill>
              <a:srgbClr val="1D1F2B"/>
            </a:solidFill>
            <a:prstDash val="solid"/>
          </a:ln>
        </p:spPr>
        <p:txBody>
          <a:bodyPr/>
          <a:p/>
        </p:txBody>
      </p:sp>
      <p:sp>
        <p:nvSpPr>
          <p:cNvPr id="9" name="Shape 7"/>
          <p:cNvSpPr/>
          <p:nvPr/>
        </p:nvSpPr>
        <p:spPr>
          <a:xfrm>
            <a:off x="4343400" y="1600200"/>
            <a:ext cx="3566160" cy="73152"/>
          </a:xfrm>
          <a:prstGeom prst="rect">
            <a:avLst/>
          </a:prstGeom>
          <a:solidFill>
            <a:srgbClr val="9B7EF7"/>
          </a:solidFill>
          <a:ln w="12700">
            <a:solidFill>
              <a:srgbClr val="9B7EF7"/>
            </a:solidFill>
            <a:prstDash val="solid"/>
          </a:ln>
        </p:spPr>
        <p:txBody>
          <a:bodyPr/>
          <a:p/>
        </p:txBody>
      </p:sp>
      <p:sp>
        <p:nvSpPr>
          <p:cNvPr id="10" name="Text 8"/>
          <p:cNvSpPr/>
          <p:nvPr/>
        </p:nvSpPr>
        <p:spPr>
          <a:xfrm>
            <a:off x="4572000" y="1783080"/>
            <a:ext cx="3108960" cy="457200"/>
          </a:xfrm>
          <a:prstGeom prst="rect">
            <a:avLst/>
          </a:prstGeom>
          <a:noFill/>
          <a:ln/>
        </p:spPr>
        <p:txBody>
          <a:bodyPr wrap="square" lIns="0" tIns="0" rIns="0" bIns="0" rtlCol="0" anchor="t"/>
          <a:lstStyle/>
          <a:p>
            <a:pPr indent="0" marL="0">
              <a:buNone/>
            </a:pPr>
            <a:r>
              <a:rPr lang="en-US" sz="2200" b="1" dirty="0">
                <a:solidFill>
                  <a:srgbClr val="9B7EF7"/>
                </a:solidFill>
                <a:latin typeface="Palatino Linotype" pitchFamily="34" charset="0"/>
                <a:ea typeface="Palatino Linotype" pitchFamily="34" charset="-122"/>
                <a:cs typeface="Palatino Linotype" pitchFamily="34" charset="-120"/>
              </a:rPr>
              <a:t>Afișul</a:t>
            </a:r>
            <a:endParaRPr lang="en-US" sz="2200" dirty="0"/>
          </a:p>
        </p:txBody>
      </p:sp>
      <p:sp>
        <p:nvSpPr>
          <p:cNvPr id="11" name="Text 9"/>
          <p:cNvSpPr/>
          <p:nvPr/>
        </p:nvSpPr>
        <p:spPr>
          <a:xfrm>
            <a:off x="4572000" y="2331720"/>
            <a:ext cx="3108960" cy="150876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Un mesaj principal și, eventual, un cod QR spre un clip de un minut, cu subtitrare.</a:t>
            </a:r>
            <a:endParaRPr lang="en-US" sz="1600" dirty="0"/>
          </a:p>
        </p:txBody>
      </p:sp>
      <p:sp>
        <p:nvSpPr>
          <p:cNvPr id="12" name="Shape 10"/>
          <p:cNvSpPr/>
          <p:nvPr/>
        </p:nvSpPr>
        <p:spPr>
          <a:xfrm>
            <a:off x="8092440" y="1600200"/>
            <a:ext cx="3566160" cy="2331720"/>
          </a:xfrm>
          <a:prstGeom prst="roundRect">
            <a:avLst>
              <a:gd name="adj" fmla="val 3529"/>
            </a:avLst>
          </a:prstGeom>
          <a:solidFill>
            <a:srgbClr val="1D1F2B"/>
          </a:solidFill>
          <a:ln w="12700">
            <a:solidFill>
              <a:srgbClr val="1D1F2B"/>
            </a:solidFill>
            <a:prstDash val="solid"/>
          </a:ln>
        </p:spPr>
        <p:txBody>
          <a:bodyPr/>
          <a:p/>
        </p:txBody>
      </p:sp>
      <p:sp>
        <p:nvSpPr>
          <p:cNvPr id="13" name="Shape 11"/>
          <p:cNvSpPr/>
          <p:nvPr/>
        </p:nvSpPr>
        <p:spPr>
          <a:xfrm>
            <a:off x="8092440" y="1600200"/>
            <a:ext cx="3566160" cy="73152"/>
          </a:xfrm>
          <a:prstGeom prst="rect">
            <a:avLst/>
          </a:prstGeom>
          <a:solidFill>
            <a:srgbClr val="FF4757"/>
          </a:solidFill>
          <a:ln w="12700">
            <a:solidFill>
              <a:srgbClr val="FF4757"/>
            </a:solidFill>
            <a:prstDash val="solid"/>
          </a:ln>
        </p:spPr>
        <p:txBody>
          <a:bodyPr/>
          <a:p/>
        </p:txBody>
      </p:sp>
      <p:sp>
        <p:nvSpPr>
          <p:cNvPr id="14" name="Text 12"/>
          <p:cNvSpPr/>
          <p:nvPr/>
        </p:nvSpPr>
        <p:spPr>
          <a:xfrm>
            <a:off x="8321040" y="1783080"/>
            <a:ext cx="3108960" cy="457200"/>
          </a:xfrm>
          <a:prstGeom prst="rect">
            <a:avLst/>
          </a:prstGeom>
          <a:noFill/>
          <a:ln/>
        </p:spPr>
        <p:txBody>
          <a:bodyPr wrap="square" lIns="0" tIns="0" rIns="0" bIns="0" rtlCol="0" anchor="t"/>
          <a:lstStyle/>
          <a:p>
            <a:pPr indent="0" marL="0">
              <a:buNone/>
            </a:pPr>
            <a:r>
              <a:rPr lang="en-US" sz="2200" b="1" dirty="0">
                <a:solidFill>
                  <a:srgbClr val="FF4757"/>
                </a:solidFill>
                <a:latin typeface="Palatino Linotype" pitchFamily="34" charset="0"/>
                <a:ea typeface="Palatino Linotype" pitchFamily="34" charset="-122"/>
                <a:cs typeface="Palatino Linotype" pitchFamily="34" charset="-120"/>
              </a:rPr>
              <a:t>Mesajul pe telefon</a:t>
            </a:r>
            <a:endParaRPr lang="en-US" sz="2200" dirty="0"/>
          </a:p>
        </p:txBody>
      </p:sp>
      <p:sp>
        <p:nvSpPr>
          <p:cNvPr id="15" name="Text 13"/>
          <p:cNvSpPr/>
          <p:nvPr/>
        </p:nvSpPr>
        <p:spPr>
          <a:xfrm>
            <a:off x="8321040" y="2331720"/>
            <a:ext cx="3108960" cy="1508760"/>
          </a:xfrm>
          <a:prstGeom prst="rect">
            <a:avLst/>
          </a:prstGeom>
          <a:noFill/>
          <a:ln/>
        </p:spPr>
        <p:txBody>
          <a:bodyPr wrap="square" lIns="0" tIns="0" rIns="0" bIns="0" rtlCol="0" anchor="t"/>
          <a:lstStyle/>
          <a:p>
            <a:pPr indent="0" marL="0">
              <a:buNone/>
            </a:pPr>
            <a:r>
              <a:rPr lang="en-US" sz="1600" dirty="0">
                <a:solidFill>
                  <a:srgbClr val="E6E8EF"/>
                </a:solidFill>
                <a:latin typeface="Palatino Linotype" pitchFamily="34" charset="0"/>
                <a:ea typeface="Palatino Linotype" pitchFamily="34" charset="-122"/>
                <a:cs typeface="Palatino Linotype" pitchFamily="34" charset="-120"/>
              </a:rPr>
              <a:t>Ora, locul, ținta și nimic în plus.</a:t>
            </a:r>
            <a:endParaRPr lang="en-US" sz="1600" dirty="0"/>
          </a:p>
        </p:txBody>
      </p:sp>
      <p:sp>
        <p:nvSpPr>
          <p:cNvPr id="16" name="Text 14"/>
          <p:cNvSpPr/>
          <p:nvPr/>
        </p:nvSpPr>
        <p:spPr>
          <a:xfrm>
            <a:off x="594360" y="4160520"/>
            <a:ext cx="10972800" cy="36576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Trei reguli de producție</a:t>
            </a:r>
            <a:endParaRPr lang="en-US" sz="1700" dirty="0"/>
          </a:p>
        </p:txBody>
      </p:sp>
      <p:sp>
        <p:nvSpPr>
          <p:cNvPr id="17" name="Shape 15"/>
          <p:cNvSpPr/>
          <p:nvPr/>
        </p:nvSpPr>
        <p:spPr>
          <a:xfrm>
            <a:off x="594360" y="4572000"/>
            <a:ext cx="3566160" cy="1463040"/>
          </a:xfrm>
          <a:prstGeom prst="roundRect">
            <a:avLst>
              <a:gd name="adj" fmla="val 5625"/>
            </a:avLst>
          </a:prstGeom>
          <a:solidFill>
            <a:srgbClr val="272A38"/>
          </a:solidFill>
          <a:ln w="12700">
            <a:solidFill>
              <a:srgbClr val="272A38"/>
            </a:solidFill>
            <a:prstDash val="solid"/>
          </a:ln>
        </p:spPr>
        <p:txBody>
          <a:bodyPr/>
          <a:p/>
        </p:txBody>
      </p:sp>
      <p:sp>
        <p:nvSpPr>
          <p:cNvPr id="18" name="Text 16"/>
          <p:cNvSpPr/>
          <p:nvPr/>
        </p:nvSpPr>
        <p:spPr>
          <a:xfrm>
            <a:off x="777240" y="4663440"/>
            <a:ext cx="3200400" cy="45720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Testați înainte de a tipări</a:t>
            </a:r>
            <a:endParaRPr lang="en-US" sz="1600" dirty="0"/>
          </a:p>
        </p:txBody>
      </p:sp>
      <p:sp>
        <p:nvSpPr>
          <p:cNvPr id="19" name="Text 17"/>
          <p:cNvSpPr/>
          <p:nvPr/>
        </p:nvSpPr>
        <p:spPr>
          <a:xfrm>
            <a:off x="777240" y="5166360"/>
            <a:ext cx="3200400" cy="822960"/>
          </a:xfrm>
          <a:prstGeom prst="rect">
            <a:avLst/>
          </a:prstGeom>
          <a:noFill/>
          <a:ln/>
        </p:spPr>
        <p:txBody>
          <a:bodyPr wrap="square" lIns="0" tIns="0" rIns="0" bIns="0" rtlCol="0" anchor="t"/>
          <a:lstStyle/>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Arătați fișa câtorva pacienți din grupul țintă.</a:t>
            </a:r>
            <a:endParaRPr lang="en-US" sz="1400" dirty="0"/>
          </a:p>
        </p:txBody>
      </p:sp>
      <p:sp>
        <p:nvSpPr>
          <p:cNvPr id="20" name="Shape 18"/>
          <p:cNvSpPr/>
          <p:nvPr/>
        </p:nvSpPr>
        <p:spPr>
          <a:xfrm>
            <a:off x="4343400" y="4572000"/>
            <a:ext cx="3566160" cy="1463040"/>
          </a:xfrm>
          <a:prstGeom prst="roundRect">
            <a:avLst>
              <a:gd name="adj" fmla="val 5625"/>
            </a:avLst>
          </a:prstGeom>
          <a:solidFill>
            <a:srgbClr val="272A38"/>
          </a:solidFill>
          <a:ln w="12700">
            <a:solidFill>
              <a:srgbClr val="272A38"/>
            </a:solidFill>
            <a:prstDash val="solid"/>
          </a:ln>
        </p:spPr>
        <p:txBody>
          <a:bodyPr/>
          <a:p/>
        </p:txBody>
      </p:sp>
      <p:sp>
        <p:nvSpPr>
          <p:cNvPr id="21" name="Text 19"/>
          <p:cNvSpPr/>
          <p:nvPr/>
        </p:nvSpPr>
        <p:spPr>
          <a:xfrm>
            <a:off x="4526280" y="4663440"/>
            <a:ext cx="3200400" cy="45720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Păstrați hârtia ca bază</a:t>
            </a:r>
            <a:endParaRPr lang="en-US" sz="1600" dirty="0"/>
          </a:p>
        </p:txBody>
      </p:sp>
      <p:sp>
        <p:nvSpPr>
          <p:cNvPr id="22" name="Text 20"/>
          <p:cNvSpPr/>
          <p:nvPr/>
        </p:nvSpPr>
        <p:spPr>
          <a:xfrm>
            <a:off x="4526280" y="5166360"/>
            <a:ext cx="3200400" cy="822960"/>
          </a:xfrm>
          <a:prstGeom prst="rect">
            <a:avLst/>
          </a:prstGeom>
          <a:noFill/>
          <a:ln/>
        </p:spPr>
        <p:txBody>
          <a:bodyPr wrap="square" lIns="0" tIns="0" rIns="0" bIns="0" rtlCol="0" anchor="t"/>
          <a:lstStyle/>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Digitalul sprijină, nu înlocuiește.</a:t>
            </a:r>
            <a:endParaRPr lang="en-US" sz="1400" dirty="0"/>
          </a:p>
        </p:txBody>
      </p:sp>
      <p:sp>
        <p:nvSpPr>
          <p:cNvPr id="23" name="Shape 21"/>
          <p:cNvSpPr/>
          <p:nvPr/>
        </p:nvSpPr>
        <p:spPr>
          <a:xfrm>
            <a:off x="8092440" y="4572000"/>
            <a:ext cx="3566160" cy="1463040"/>
          </a:xfrm>
          <a:prstGeom prst="roundRect">
            <a:avLst>
              <a:gd name="adj" fmla="val 5625"/>
            </a:avLst>
          </a:prstGeom>
          <a:solidFill>
            <a:srgbClr val="272A38"/>
          </a:solidFill>
          <a:ln w="12700">
            <a:solidFill>
              <a:srgbClr val="272A38"/>
            </a:solidFill>
            <a:prstDash val="solid"/>
          </a:ln>
        </p:spPr>
        <p:txBody>
          <a:bodyPr/>
          <a:p/>
        </p:txBody>
      </p:sp>
      <p:sp>
        <p:nvSpPr>
          <p:cNvPr id="24" name="Text 22"/>
          <p:cNvSpPr/>
          <p:nvPr/>
        </p:nvSpPr>
        <p:spPr>
          <a:xfrm>
            <a:off x="8275320" y="4663440"/>
            <a:ext cx="3200400" cy="45720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Același set de mesaje-cheie</a:t>
            </a:r>
            <a:endParaRPr lang="en-US" sz="1600" dirty="0"/>
          </a:p>
        </p:txBody>
      </p:sp>
      <p:sp>
        <p:nvSpPr>
          <p:cNvPr id="25" name="Text 23"/>
          <p:cNvSpPr/>
          <p:nvPr/>
        </p:nvSpPr>
        <p:spPr>
          <a:xfrm>
            <a:off x="8275320" y="5166360"/>
            <a:ext cx="3200400" cy="822960"/>
          </a:xfrm>
          <a:prstGeom prst="rect">
            <a:avLst/>
          </a:prstGeom>
          <a:noFill/>
          <a:ln/>
        </p:spPr>
        <p:txBody>
          <a:bodyPr wrap="square" lIns="0" tIns="0" rIns="0" bIns="0" rtlCol="0" anchor="t"/>
          <a:lstStyle/>
          <a:p>
            <a:pPr indent="0" marL="0">
              <a:buNone/>
            </a:pPr>
            <a:r>
              <a:rPr lang="en-US" sz="1400" dirty="0">
                <a:solidFill>
                  <a:srgbClr val="D5D8E2"/>
                </a:solidFill>
                <a:latin typeface="Palatino Linotype" pitchFamily="34" charset="0"/>
                <a:ea typeface="Palatino Linotype" pitchFamily="34" charset="-122"/>
                <a:cs typeface="Palatino Linotype" pitchFamily="34" charset="-120"/>
              </a:rPr>
              <a:t>Pe toate suporturile, cu exemple locale.</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UN CUVÂNT</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NORUL DE CUVINTE</a:t>
            </a:r>
            <a:endParaRPr lang="en-US" sz="1300" dirty="0"/>
          </a:p>
        </p:txBody>
      </p:sp>
      <p:sp>
        <p:nvSpPr>
          <p:cNvPr id="5" name="Text 3"/>
          <p:cNvSpPr/>
          <p:nvPr/>
        </p:nvSpPr>
        <p:spPr>
          <a:xfrm>
            <a:off x="594360" y="1097280"/>
            <a:ext cx="7680960" cy="2926080"/>
          </a:xfrm>
          <a:prstGeom prst="rect">
            <a:avLst/>
          </a:prstGeom>
          <a:noFill/>
          <a:ln/>
        </p:spPr>
        <p:txBody>
          <a:bodyPr wrap="square" lIns="0" tIns="0" rIns="0" bIns="0" rtlCol="0" anchor="ctr"/>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mijloc de educație pentru sănătate v-a convins pe voi vreodată să schimbați ceva?</a:t>
            </a:r>
            <a:endParaRPr lang="en-US" sz="3200" dirty="0"/>
          </a:p>
        </p:txBody>
      </p:sp>
      <p:sp>
        <p:nvSpPr>
          <p:cNvPr id="6" name="Shape 4"/>
          <p:cNvSpPr/>
          <p:nvPr/>
        </p:nvSpPr>
        <p:spPr>
          <a:xfrm>
            <a:off x="8549640" y="1463040"/>
            <a:ext cx="3017520" cy="2651760"/>
          </a:xfrm>
          <a:prstGeom prst="roundRect">
            <a:avLst>
              <a:gd name="adj" fmla="val 3103"/>
            </a:avLst>
          </a:prstGeom>
          <a:solidFill>
            <a:srgbClr val="FFFFFF"/>
          </a:solidFill>
          <a:ln w="12700">
            <a:solidFill>
              <a:srgbClr val="FFFFFF"/>
            </a:solidFill>
            <a:prstDash val="solid"/>
          </a:ln>
        </p:spPr>
        <p:txBody>
          <a:bodyPr/>
          <a:p/>
        </p:txBody>
      </p:sp>
      <p:sp>
        <p:nvSpPr>
          <p:cNvPr id="7" name="Shape 5"/>
          <p:cNvSpPr/>
          <p:nvPr/>
        </p:nvSpPr>
        <p:spPr>
          <a:xfrm>
            <a:off x="9765792" y="1737360"/>
            <a:ext cx="585216" cy="960120"/>
          </a:xfrm>
          <a:prstGeom prst="roundRect">
            <a:avLst>
              <a:gd name="adj" fmla="val 15625"/>
            </a:avLst>
          </a:prstGeom>
          <a:solidFill>
            <a:srgbClr val="F6F5F2"/>
          </a:solidFill>
          <a:ln w="19050">
            <a:solidFill>
              <a:srgbClr val="585A64"/>
            </a:solidFill>
            <a:prstDash val="solid"/>
          </a:ln>
        </p:spPr>
        <p:txBody>
          <a:bodyPr/>
          <a:p/>
        </p:txBody>
      </p:sp>
      <p:sp>
        <p:nvSpPr>
          <p:cNvPr id="8" name="Shape 6"/>
          <p:cNvSpPr/>
          <p:nvPr/>
        </p:nvSpPr>
        <p:spPr>
          <a:xfrm>
            <a:off x="9994392" y="2468880"/>
            <a:ext cx="128016" cy="128016"/>
          </a:xfrm>
          <a:prstGeom prst="ellipse">
            <a:avLst/>
          </a:prstGeom>
          <a:solidFill>
            <a:srgbClr val="585A64"/>
          </a:solidFill>
          <a:ln w="12700">
            <a:solidFill>
              <a:srgbClr val="585A64"/>
            </a:solidFill>
            <a:prstDash val="solid"/>
          </a:ln>
        </p:spPr>
        <p:txBody>
          <a:bodyPr/>
          <a:p/>
        </p:txBody>
      </p:sp>
      <p:sp>
        <p:nvSpPr>
          <p:cNvPr id="9" name="Text 7"/>
          <p:cNvSpPr/>
          <p:nvPr/>
        </p:nvSpPr>
        <p:spPr>
          <a:xfrm>
            <a:off x="8778240" y="2880360"/>
            <a:ext cx="2560320" cy="109728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
        <p:nvSpPr>
          <p:cNvPr id="10" name="Text 8"/>
          <p:cNvSpPr/>
          <p:nvPr/>
        </p:nvSpPr>
        <p:spPr>
          <a:xfrm>
            <a:off x="594360" y="4754880"/>
            <a:ext cx="10972800" cy="822960"/>
          </a:xfrm>
          <a:prstGeom prst="rect">
            <a:avLst/>
          </a:prstGeom>
          <a:noFill/>
          <a:ln/>
        </p:spPr>
        <p:txBody>
          <a:bodyPr wrap="square" lIns="0" tIns="0" rIns="0" bIns="0" rtlCol="0" anchor="t"/>
          <a:lstStyle/>
          <a:p>
            <a:pPr indent="0" marL="0">
              <a:buNone/>
            </a:pPr>
            <a:r>
              <a:rPr lang="en-US" sz="1900" i="1" dirty="0">
                <a:solidFill>
                  <a:srgbClr val="959BB0"/>
                </a:solidFill>
                <a:latin typeface="Palatino Linotype" pitchFamily="34" charset="0"/>
                <a:ea typeface="Palatino Linotype" pitchFamily="34" charset="-122"/>
                <a:cs typeface="Palatino Linotype" pitchFamily="34" charset="-120"/>
              </a:rPr>
              <a:t>Un singur cuvânt. Norul rămâne pe ecran: căutați în el ce mijloace lipsesc din cele discutate.</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4A2D8C"/>
                </a:solidFill>
                <a:latin typeface="Palatino Linotype" pitchFamily="34" charset="0"/>
                <a:ea typeface="Palatino Linotype" pitchFamily="34" charset="-122"/>
                <a:cs typeface="Palatino Linotype" pitchFamily="34" charset="-120"/>
              </a:rPr>
              <a:t>COMBINAȚIA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700" b="1" dirty="0">
                <a:solidFill>
                  <a:srgbClr val="11121A"/>
                </a:solidFill>
                <a:latin typeface="Palatino Linotype" pitchFamily="34" charset="0"/>
                <a:ea typeface="Palatino Linotype" pitchFamily="34" charset="-122"/>
                <a:cs typeface="Palatino Linotype" pitchFamily="34" charset="-120"/>
              </a:rPr>
              <a:t>Nu există metodă sau mijloc bun pentru toate situațiile</a:t>
            </a:r>
            <a:endParaRPr lang="en-US" sz="2700" dirty="0"/>
          </a:p>
        </p:txBody>
      </p:sp>
      <p:sp>
        <p:nvSpPr>
          <p:cNvPr id="4" name="Shape 2"/>
          <p:cNvSpPr/>
          <p:nvPr/>
        </p:nvSpPr>
        <p:spPr>
          <a:xfrm>
            <a:off x="594360" y="1600200"/>
            <a:ext cx="5394960" cy="1097280"/>
          </a:xfrm>
          <a:prstGeom prst="roundRect">
            <a:avLst>
              <a:gd name="adj" fmla="val 7500"/>
            </a:avLst>
          </a:prstGeom>
          <a:solidFill>
            <a:srgbClr val="ECEAE4"/>
          </a:solidFill>
          <a:ln w="12700">
            <a:solidFill>
              <a:srgbClr val="ECEAE4"/>
            </a:solidFill>
            <a:prstDash val="solid"/>
          </a:ln>
        </p:spPr>
        <p:txBody>
          <a:bodyPr/>
          <a:p/>
        </p:txBody>
      </p:sp>
      <p:sp>
        <p:nvSpPr>
          <p:cNvPr id="5" name="Shape 3"/>
          <p:cNvSpPr/>
          <p:nvPr/>
        </p:nvSpPr>
        <p:spPr>
          <a:xfrm>
            <a:off x="594360" y="1600200"/>
            <a:ext cx="73152" cy="1097280"/>
          </a:xfrm>
          <a:prstGeom prst="rect">
            <a:avLst/>
          </a:prstGeom>
          <a:solidFill>
            <a:srgbClr val="0E7C6B"/>
          </a:solidFill>
          <a:ln w="12700">
            <a:solidFill>
              <a:srgbClr val="0E7C6B"/>
            </a:solidFill>
            <a:prstDash val="solid"/>
          </a:ln>
        </p:spPr>
        <p:txBody>
          <a:bodyPr/>
          <a:p/>
        </p:txBody>
      </p:sp>
      <p:sp>
        <p:nvSpPr>
          <p:cNvPr id="6" name="Text 4"/>
          <p:cNvSpPr/>
          <p:nvPr/>
        </p:nvSpPr>
        <p:spPr>
          <a:xfrm>
            <a:off x="822960" y="1673352"/>
            <a:ext cx="5029200" cy="329184"/>
          </a:xfrm>
          <a:prstGeom prst="rect">
            <a:avLst/>
          </a:prstGeom>
          <a:noFill/>
          <a:ln/>
        </p:spPr>
        <p:txBody>
          <a:bodyPr wrap="square" lIns="0" tIns="0" rIns="0" bIns="0" rtlCol="0" anchor="t"/>
          <a:lstStyle/>
          <a:p>
            <a:pPr indent="0" marL="0">
              <a:buNone/>
            </a:pPr>
            <a:r>
              <a:rPr lang="en-US" sz="1500" b="1" dirty="0">
                <a:solidFill>
                  <a:srgbClr val="0E7C6B"/>
                </a:solidFill>
                <a:latin typeface="Palatino Linotype" pitchFamily="34" charset="0"/>
                <a:ea typeface="Palatino Linotype" pitchFamily="34" charset="-122"/>
                <a:cs typeface="Palatino Linotype" pitchFamily="34" charset="-120"/>
              </a:rPr>
              <a:t>Pacient singur, cu teamă mare</a:t>
            </a:r>
            <a:endParaRPr lang="en-US" sz="1500" dirty="0"/>
          </a:p>
        </p:txBody>
      </p:sp>
      <p:sp>
        <p:nvSpPr>
          <p:cNvPr id="7" name="Text 5"/>
          <p:cNvSpPr/>
          <p:nvPr/>
        </p:nvSpPr>
        <p:spPr>
          <a:xfrm>
            <a:off x="822960" y="2020824"/>
            <a:ext cx="502920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întâlnire individuală, demonstrație, conversație motivațională, fișă</a:t>
            </a:r>
            <a:endParaRPr lang="en-US" sz="1500" dirty="0"/>
          </a:p>
        </p:txBody>
      </p:sp>
      <p:sp>
        <p:nvSpPr>
          <p:cNvPr id="8" name="Shape 6"/>
          <p:cNvSpPr/>
          <p:nvPr/>
        </p:nvSpPr>
        <p:spPr>
          <a:xfrm>
            <a:off x="6172200" y="1600200"/>
            <a:ext cx="5394960" cy="1097280"/>
          </a:xfrm>
          <a:prstGeom prst="roundRect">
            <a:avLst>
              <a:gd name="adj" fmla="val 7500"/>
            </a:avLst>
          </a:prstGeom>
          <a:solidFill>
            <a:srgbClr val="F9F8F5"/>
          </a:solidFill>
          <a:ln w="12700">
            <a:solidFill>
              <a:srgbClr val="F9F8F5"/>
            </a:solidFill>
            <a:prstDash val="solid"/>
          </a:ln>
        </p:spPr>
        <p:txBody>
          <a:bodyPr/>
          <a:p/>
        </p:txBody>
      </p:sp>
      <p:sp>
        <p:nvSpPr>
          <p:cNvPr id="9" name="Shape 7"/>
          <p:cNvSpPr/>
          <p:nvPr/>
        </p:nvSpPr>
        <p:spPr>
          <a:xfrm>
            <a:off x="6172200" y="1600200"/>
            <a:ext cx="73152" cy="1097280"/>
          </a:xfrm>
          <a:prstGeom prst="rect">
            <a:avLst/>
          </a:prstGeom>
          <a:solidFill>
            <a:srgbClr val="4A2D8C"/>
          </a:solidFill>
          <a:ln w="12700">
            <a:solidFill>
              <a:srgbClr val="4A2D8C"/>
            </a:solidFill>
            <a:prstDash val="solid"/>
          </a:ln>
        </p:spPr>
        <p:txBody>
          <a:bodyPr/>
          <a:p/>
        </p:txBody>
      </p:sp>
      <p:sp>
        <p:nvSpPr>
          <p:cNvPr id="10" name="Text 8"/>
          <p:cNvSpPr/>
          <p:nvPr/>
        </p:nvSpPr>
        <p:spPr>
          <a:xfrm>
            <a:off x="6400800" y="1673352"/>
            <a:ext cx="5029200" cy="329184"/>
          </a:xfrm>
          <a:prstGeom prst="rect">
            <a:avLst/>
          </a:prstGeom>
          <a:noFill/>
          <a:ln/>
        </p:spPr>
        <p:txBody>
          <a:bodyPr wrap="square" lIns="0" tIns="0" rIns="0" bIns="0" rtlCol="0" anchor="t"/>
          <a:lstStyle/>
          <a:p>
            <a:pPr indent="0" marL="0">
              <a:buNone/>
            </a:pPr>
            <a:r>
              <a:rPr lang="en-US" sz="1500" b="1" dirty="0">
                <a:solidFill>
                  <a:srgbClr val="4A2D8C"/>
                </a:solidFill>
                <a:latin typeface="Palatino Linotype" pitchFamily="34" charset="0"/>
                <a:ea typeface="Palatino Linotype" pitchFamily="34" charset="-122"/>
                <a:cs typeface="Palatino Linotype" pitchFamily="34" charset="-120"/>
              </a:rPr>
              <a:t>Grup cu aceeași problemă</a:t>
            </a:r>
            <a:endParaRPr lang="en-US" sz="1500" dirty="0"/>
          </a:p>
        </p:txBody>
      </p:sp>
      <p:sp>
        <p:nvSpPr>
          <p:cNvPr id="11" name="Text 9"/>
          <p:cNvSpPr/>
          <p:nvPr/>
        </p:nvSpPr>
        <p:spPr>
          <a:xfrm>
            <a:off x="6400800" y="2020824"/>
            <a:ext cx="502920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mini-ateliere cu demonstrație, colegi de sprijin, mesaje între ședințe</a:t>
            </a:r>
            <a:endParaRPr lang="en-US" sz="1500" dirty="0"/>
          </a:p>
        </p:txBody>
      </p:sp>
      <p:sp>
        <p:nvSpPr>
          <p:cNvPr id="12" name="Shape 10"/>
          <p:cNvSpPr/>
          <p:nvPr/>
        </p:nvSpPr>
        <p:spPr>
          <a:xfrm>
            <a:off x="594360" y="2834640"/>
            <a:ext cx="5394960" cy="1097280"/>
          </a:xfrm>
          <a:prstGeom prst="roundRect">
            <a:avLst>
              <a:gd name="adj" fmla="val 7500"/>
            </a:avLst>
          </a:prstGeom>
          <a:solidFill>
            <a:srgbClr val="ECEAE4"/>
          </a:solidFill>
          <a:ln w="12700">
            <a:solidFill>
              <a:srgbClr val="ECEAE4"/>
            </a:solidFill>
            <a:prstDash val="solid"/>
          </a:ln>
        </p:spPr>
        <p:txBody>
          <a:bodyPr/>
          <a:p/>
        </p:txBody>
      </p:sp>
      <p:sp>
        <p:nvSpPr>
          <p:cNvPr id="13" name="Shape 11"/>
          <p:cNvSpPr/>
          <p:nvPr/>
        </p:nvSpPr>
        <p:spPr>
          <a:xfrm>
            <a:off x="594360" y="2834640"/>
            <a:ext cx="73152" cy="1097280"/>
          </a:xfrm>
          <a:prstGeom prst="rect">
            <a:avLst/>
          </a:prstGeom>
          <a:solidFill>
            <a:srgbClr val="B02532"/>
          </a:solidFill>
          <a:ln w="12700">
            <a:solidFill>
              <a:srgbClr val="B02532"/>
            </a:solidFill>
            <a:prstDash val="solid"/>
          </a:ln>
        </p:spPr>
        <p:txBody>
          <a:bodyPr/>
          <a:p/>
        </p:txBody>
      </p:sp>
      <p:sp>
        <p:nvSpPr>
          <p:cNvPr id="14" name="Text 12"/>
          <p:cNvSpPr/>
          <p:nvPr/>
        </p:nvSpPr>
        <p:spPr>
          <a:xfrm>
            <a:off x="822960" y="2907792"/>
            <a:ext cx="5029200" cy="329184"/>
          </a:xfrm>
          <a:prstGeom prst="rect">
            <a:avLst/>
          </a:prstGeom>
          <a:noFill/>
          <a:ln/>
        </p:spPr>
        <p:txBody>
          <a:bodyPr wrap="square" lIns="0" tIns="0" rIns="0" bIns="0" rtlCol="0" anchor="t"/>
          <a:lstStyle/>
          <a:p>
            <a:pPr indent="0" marL="0">
              <a:buNone/>
            </a:pPr>
            <a:r>
              <a:rPr lang="en-US" sz="1500" b="1" dirty="0">
                <a:solidFill>
                  <a:srgbClr val="B02532"/>
                </a:solidFill>
                <a:latin typeface="Palatino Linotype" pitchFamily="34" charset="0"/>
                <a:ea typeface="Palatino Linotype" pitchFamily="34" charset="-122"/>
                <a:cs typeface="Palatino Linotype" pitchFamily="34" charset="-120"/>
              </a:rPr>
              <a:t>Comunitate: depozit, școală, cartier</a:t>
            </a:r>
            <a:endParaRPr lang="en-US" sz="1500" dirty="0"/>
          </a:p>
        </p:txBody>
      </p:sp>
      <p:sp>
        <p:nvSpPr>
          <p:cNvPr id="15" name="Text 13"/>
          <p:cNvSpPr/>
          <p:nvPr/>
        </p:nvSpPr>
        <p:spPr>
          <a:xfrm>
            <a:off x="822960" y="3255264"/>
            <a:ext cx="502920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instruire scurtă la fața locului, afișe, un „ambasador”, un clip intern</a:t>
            </a:r>
            <a:endParaRPr lang="en-US" sz="1500" dirty="0"/>
          </a:p>
        </p:txBody>
      </p:sp>
      <p:sp>
        <p:nvSpPr>
          <p:cNvPr id="16" name="Shape 14"/>
          <p:cNvSpPr/>
          <p:nvPr/>
        </p:nvSpPr>
        <p:spPr>
          <a:xfrm>
            <a:off x="6172200" y="2834640"/>
            <a:ext cx="5394960" cy="1097280"/>
          </a:xfrm>
          <a:prstGeom prst="roundRect">
            <a:avLst>
              <a:gd name="adj" fmla="val 7500"/>
            </a:avLst>
          </a:prstGeom>
          <a:solidFill>
            <a:srgbClr val="F9F8F5"/>
          </a:solidFill>
          <a:ln w="12700">
            <a:solidFill>
              <a:srgbClr val="F9F8F5"/>
            </a:solidFill>
            <a:prstDash val="solid"/>
          </a:ln>
        </p:spPr>
        <p:txBody>
          <a:bodyPr/>
          <a:p/>
        </p:txBody>
      </p:sp>
      <p:sp>
        <p:nvSpPr>
          <p:cNvPr id="17" name="Shape 15"/>
          <p:cNvSpPr/>
          <p:nvPr/>
        </p:nvSpPr>
        <p:spPr>
          <a:xfrm>
            <a:off x="6172200" y="2834640"/>
            <a:ext cx="73152" cy="1097280"/>
          </a:xfrm>
          <a:prstGeom prst="rect">
            <a:avLst/>
          </a:prstGeom>
          <a:solidFill>
            <a:srgbClr val="9C4A0A"/>
          </a:solidFill>
          <a:ln w="12700">
            <a:solidFill>
              <a:srgbClr val="9C4A0A"/>
            </a:solidFill>
            <a:prstDash val="solid"/>
          </a:ln>
        </p:spPr>
        <p:txBody>
          <a:bodyPr/>
          <a:p/>
        </p:txBody>
      </p:sp>
      <p:sp>
        <p:nvSpPr>
          <p:cNvPr id="18" name="Text 16"/>
          <p:cNvSpPr/>
          <p:nvPr/>
        </p:nvSpPr>
        <p:spPr>
          <a:xfrm>
            <a:off x="6400800" y="2907792"/>
            <a:ext cx="5029200" cy="329184"/>
          </a:xfrm>
          <a:prstGeom prst="rect">
            <a:avLst/>
          </a:prstGeom>
          <a:noFill/>
          <a:ln/>
        </p:spPr>
        <p:txBody>
          <a:bodyPr wrap="square" lIns="0" tIns="0" rIns="0" bIns="0" rtlCol="0" anchor="t"/>
          <a:lstStyle/>
          <a:p>
            <a:pPr indent="0" marL="0">
              <a:buNone/>
            </a:pPr>
            <a:r>
              <a:rPr lang="en-US" sz="1500" b="1" dirty="0">
                <a:solidFill>
                  <a:srgbClr val="9C4A0A"/>
                </a:solidFill>
                <a:latin typeface="Palatino Linotype" pitchFamily="34" charset="0"/>
                <a:ea typeface="Palatino Linotype" pitchFamily="34" charset="-122"/>
                <a:cs typeface="Palatino Linotype" pitchFamily="34" charset="-120"/>
              </a:rPr>
              <a:t>Între ședințe</a:t>
            </a:r>
            <a:endParaRPr lang="en-US" sz="1500" dirty="0"/>
          </a:p>
        </p:txBody>
      </p:sp>
      <p:sp>
        <p:nvSpPr>
          <p:cNvPr id="19" name="Text 17"/>
          <p:cNvSpPr/>
          <p:nvPr/>
        </p:nvSpPr>
        <p:spPr>
          <a:xfrm>
            <a:off x="6400800" y="3255264"/>
            <a:ext cx="5029200" cy="64008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mesaje, clipuri, hârtia ca rezervă</a:t>
            </a:r>
            <a:endParaRPr lang="en-US" sz="1500" dirty="0"/>
          </a:p>
        </p:txBody>
      </p:sp>
      <p:sp>
        <p:nvSpPr>
          <p:cNvPr id="20" name="Shape 18"/>
          <p:cNvSpPr/>
          <p:nvPr/>
        </p:nvSpPr>
        <p:spPr>
          <a:xfrm>
            <a:off x="594360" y="4114800"/>
            <a:ext cx="10972800" cy="960120"/>
          </a:xfrm>
          <a:prstGeom prst="roundRect">
            <a:avLst>
              <a:gd name="adj" fmla="val 8571"/>
            </a:avLst>
          </a:prstGeom>
          <a:solidFill>
            <a:srgbClr val="11121A"/>
          </a:solidFill>
          <a:ln w="12700">
            <a:solidFill>
              <a:srgbClr val="11121A"/>
            </a:solidFill>
            <a:prstDash val="solid"/>
          </a:ln>
        </p:spPr>
        <p:txBody>
          <a:bodyPr/>
          <a:p/>
        </p:txBody>
      </p:sp>
      <p:sp>
        <p:nvSpPr>
          <p:cNvPr id="21" name="Text 19"/>
          <p:cNvSpPr/>
          <p:nvPr/>
        </p:nvSpPr>
        <p:spPr>
          <a:xfrm>
            <a:off x="822960" y="4114800"/>
            <a:ext cx="10515600" cy="960120"/>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Minutele educaționale: minute fixe la fiecare ședință, același nucleu (încălzire, creștere treptată, semne de oprire).</a:t>
            </a:r>
            <a:endParaRPr lang="en-US" sz="1500" dirty="0"/>
          </a:p>
        </p:txBody>
      </p:sp>
      <p:sp>
        <p:nvSpPr>
          <p:cNvPr id="22" name="Shape 20"/>
          <p:cNvSpPr/>
          <p:nvPr/>
        </p:nvSpPr>
        <p:spPr>
          <a:xfrm>
            <a:off x="594360" y="5257800"/>
            <a:ext cx="10972800" cy="868680"/>
          </a:xfrm>
          <a:prstGeom prst="roundRect">
            <a:avLst>
              <a:gd name="adj" fmla="val 9474"/>
            </a:avLst>
          </a:prstGeom>
          <a:solidFill>
            <a:srgbClr val="0E7C6B"/>
          </a:solidFill>
          <a:ln w="12700">
            <a:solidFill>
              <a:srgbClr val="0E7C6B"/>
            </a:solidFill>
            <a:prstDash val="solid"/>
          </a:ln>
        </p:spPr>
        <p:txBody>
          <a:bodyPr/>
          <a:p/>
        </p:txBody>
      </p:sp>
      <p:sp>
        <p:nvSpPr>
          <p:cNvPr id="23" name="Text 21"/>
          <p:cNvSpPr/>
          <p:nvPr/>
        </p:nvSpPr>
        <p:spPr>
          <a:xfrm>
            <a:off x="868680" y="5257800"/>
            <a:ext cx="10424160" cy="86868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Alegeți întâi metoda, apoi mijlocul: fișa fără demonstrație și verificare e un mijloc fără metodă.</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REȚINEȚI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Cinci lucruri din ședință</a:t>
            </a:r>
            <a:endParaRPr lang="en-US" sz="3200" dirty="0"/>
          </a:p>
        </p:txBody>
      </p:sp>
      <p:sp>
        <p:nvSpPr>
          <p:cNvPr id="4" name="Shape 2"/>
          <p:cNvSpPr/>
          <p:nvPr/>
        </p:nvSpPr>
        <p:spPr>
          <a:xfrm>
            <a:off x="594360" y="1600200"/>
            <a:ext cx="10972800" cy="777240"/>
          </a:xfrm>
          <a:prstGeom prst="roundRect">
            <a:avLst>
              <a:gd name="adj" fmla="val 10588"/>
            </a:avLst>
          </a:prstGeom>
          <a:solidFill>
            <a:srgbClr val="ECEAE4"/>
          </a:solidFill>
          <a:ln w="12700">
            <a:solidFill>
              <a:srgbClr val="ECEAE4"/>
            </a:solidFill>
            <a:prstDash val="solid"/>
          </a:ln>
        </p:spPr>
        <p:txBody>
          <a:bodyPr/>
          <a:p/>
        </p:txBody>
      </p:sp>
      <p:sp>
        <p:nvSpPr>
          <p:cNvPr id="5" name="Shape 3"/>
          <p:cNvSpPr/>
          <p:nvPr/>
        </p:nvSpPr>
        <p:spPr>
          <a:xfrm>
            <a:off x="594360" y="1600200"/>
            <a:ext cx="82296" cy="777240"/>
          </a:xfrm>
          <a:prstGeom prst="rect">
            <a:avLst/>
          </a:prstGeom>
          <a:solidFill>
            <a:srgbClr val="0E7C6B"/>
          </a:solidFill>
          <a:ln w="12700">
            <a:solidFill>
              <a:srgbClr val="0E7C6B"/>
            </a:solidFill>
            <a:prstDash val="solid"/>
          </a:ln>
        </p:spPr>
        <p:txBody>
          <a:bodyPr/>
          <a:p/>
        </p:txBody>
      </p:sp>
      <p:sp>
        <p:nvSpPr>
          <p:cNvPr id="6" name="Shape 4"/>
          <p:cNvSpPr/>
          <p:nvPr/>
        </p:nvSpPr>
        <p:spPr>
          <a:xfrm>
            <a:off x="868680" y="1783080"/>
            <a:ext cx="420624" cy="420624"/>
          </a:xfrm>
          <a:prstGeom prst="ellipse">
            <a:avLst/>
          </a:prstGeom>
          <a:solidFill>
            <a:srgbClr val="0E7C6B"/>
          </a:solidFill>
          <a:ln/>
        </p:spPr>
        <p:txBody>
          <a:bodyPr/>
          <a:p/>
        </p:txBody>
      </p:sp>
      <p:sp>
        <p:nvSpPr>
          <p:cNvPr id="7" name="Text 5"/>
          <p:cNvSpPr/>
          <p:nvPr/>
        </p:nvSpPr>
        <p:spPr>
          <a:xfrm>
            <a:off x="868680" y="17830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554480" y="1600200"/>
            <a:ext cx="3291840" cy="777240"/>
          </a:xfrm>
          <a:prstGeom prst="rect">
            <a:avLst/>
          </a:prstGeom>
          <a:noFill/>
          <a:ln/>
        </p:spPr>
        <p:txBody>
          <a:bodyPr wrap="square" lIns="0" tIns="0" rIns="0" bIns="0" rtlCol="0" anchor="ctr"/>
          <a:lstStyle/>
          <a:p>
            <a:pPr indent="0" marL="0">
              <a:buNone/>
            </a:pPr>
            <a:r>
              <a:rPr lang="en-US" sz="1650" b="1" dirty="0">
                <a:solidFill>
                  <a:srgbClr val="0E7C6B"/>
                </a:solidFill>
                <a:latin typeface="Palatino Linotype" pitchFamily="34" charset="0"/>
                <a:ea typeface="Palatino Linotype" pitchFamily="34" charset="-122"/>
                <a:cs typeface="Palatino Linotype" pitchFamily="34" charset="-120"/>
              </a:rPr>
              <a:t>Același sfat, alt rezultat</a:t>
            </a:r>
            <a:endParaRPr lang="en-US" sz="1650" dirty="0"/>
          </a:p>
        </p:txBody>
      </p:sp>
      <p:sp>
        <p:nvSpPr>
          <p:cNvPr id="9" name="Text 7"/>
          <p:cNvSpPr/>
          <p:nvPr/>
        </p:nvSpPr>
        <p:spPr>
          <a:xfrm>
            <a:off x="4937760" y="1600200"/>
            <a:ext cx="6492240" cy="77724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Scop clar, cuvinte obișnuite, țintă mică și măsurabilă, demonstrație și verificare.</a:t>
            </a:r>
            <a:endParaRPr lang="en-US" sz="1500" dirty="0"/>
          </a:p>
        </p:txBody>
      </p:sp>
      <p:sp>
        <p:nvSpPr>
          <p:cNvPr id="10" name="Shape 8"/>
          <p:cNvSpPr/>
          <p:nvPr/>
        </p:nvSpPr>
        <p:spPr>
          <a:xfrm>
            <a:off x="594360" y="2496312"/>
            <a:ext cx="10972800" cy="777240"/>
          </a:xfrm>
          <a:prstGeom prst="roundRect">
            <a:avLst>
              <a:gd name="adj" fmla="val 10588"/>
            </a:avLst>
          </a:prstGeom>
          <a:solidFill>
            <a:srgbClr val="F9F8F5"/>
          </a:solidFill>
          <a:ln w="12700">
            <a:solidFill>
              <a:srgbClr val="F9F8F5"/>
            </a:solidFill>
            <a:prstDash val="solid"/>
          </a:ln>
        </p:spPr>
        <p:txBody>
          <a:bodyPr/>
          <a:p/>
        </p:txBody>
      </p:sp>
      <p:sp>
        <p:nvSpPr>
          <p:cNvPr id="11" name="Shape 9"/>
          <p:cNvSpPr/>
          <p:nvPr/>
        </p:nvSpPr>
        <p:spPr>
          <a:xfrm>
            <a:off x="594360" y="2496312"/>
            <a:ext cx="82296" cy="777240"/>
          </a:xfrm>
          <a:prstGeom prst="rect">
            <a:avLst/>
          </a:prstGeom>
          <a:solidFill>
            <a:srgbClr val="4A2D8C"/>
          </a:solidFill>
          <a:ln w="12700">
            <a:solidFill>
              <a:srgbClr val="4A2D8C"/>
            </a:solidFill>
            <a:prstDash val="solid"/>
          </a:ln>
        </p:spPr>
        <p:txBody>
          <a:bodyPr/>
          <a:p/>
        </p:txBody>
      </p:sp>
      <p:sp>
        <p:nvSpPr>
          <p:cNvPr id="12" name="Shape 10"/>
          <p:cNvSpPr/>
          <p:nvPr/>
        </p:nvSpPr>
        <p:spPr>
          <a:xfrm>
            <a:off x="868680" y="2679192"/>
            <a:ext cx="420624" cy="420624"/>
          </a:xfrm>
          <a:prstGeom prst="ellipse">
            <a:avLst/>
          </a:prstGeom>
          <a:solidFill>
            <a:srgbClr val="4A2D8C"/>
          </a:solidFill>
          <a:ln/>
        </p:spPr>
        <p:txBody>
          <a:bodyPr/>
          <a:p/>
        </p:txBody>
      </p:sp>
      <p:sp>
        <p:nvSpPr>
          <p:cNvPr id="13" name="Text 11"/>
          <p:cNvSpPr/>
          <p:nvPr/>
        </p:nvSpPr>
        <p:spPr>
          <a:xfrm>
            <a:off x="868680" y="26791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1554480" y="2496312"/>
            <a:ext cx="3291840" cy="777240"/>
          </a:xfrm>
          <a:prstGeom prst="rect">
            <a:avLst/>
          </a:prstGeom>
          <a:noFill/>
          <a:ln/>
        </p:spPr>
        <p:txBody>
          <a:bodyPr wrap="square" lIns="0" tIns="0" rIns="0" bIns="0" rtlCol="0" anchor="ctr"/>
          <a:lstStyle/>
          <a:p>
            <a:pPr indent="0" marL="0">
              <a:buNone/>
            </a:pPr>
            <a:r>
              <a:rPr lang="en-US" sz="1650" b="1" dirty="0">
                <a:solidFill>
                  <a:srgbClr val="4A2D8C"/>
                </a:solidFill>
                <a:latin typeface="Palatino Linotype" pitchFamily="34" charset="0"/>
                <a:ea typeface="Palatino Linotype" pitchFamily="34" charset="-122"/>
                <a:cs typeface="Palatino Linotype" pitchFamily="34" charset="-120"/>
              </a:rPr>
              <a:t>Scop și obiectiv</a:t>
            </a:r>
            <a:endParaRPr lang="en-US" sz="1650" dirty="0"/>
          </a:p>
        </p:txBody>
      </p:sp>
      <p:sp>
        <p:nvSpPr>
          <p:cNvPr id="15" name="Text 13"/>
          <p:cNvSpPr/>
          <p:nvPr/>
        </p:nvSpPr>
        <p:spPr>
          <a:xfrm>
            <a:off x="4937760" y="2496312"/>
            <a:ext cx="6492240" cy="77724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Scopul devine util ca obiectiv măsurabil: ce, cât, până când, cum veți ști.</a:t>
            </a:r>
            <a:endParaRPr lang="en-US" sz="1500" dirty="0"/>
          </a:p>
        </p:txBody>
      </p:sp>
      <p:sp>
        <p:nvSpPr>
          <p:cNvPr id="16" name="Shape 14"/>
          <p:cNvSpPr/>
          <p:nvPr/>
        </p:nvSpPr>
        <p:spPr>
          <a:xfrm>
            <a:off x="594360" y="3392424"/>
            <a:ext cx="10972800" cy="777240"/>
          </a:xfrm>
          <a:prstGeom prst="roundRect">
            <a:avLst>
              <a:gd name="adj" fmla="val 10588"/>
            </a:avLst>
          </a:prstGeom>
          <a:solidFill>
            <a:srgbClr val="ECEAE4"/>
          </a:solidFill>
          <a:ln w="12700">
            <a:solidFill>
              <a:srgbClr val="ECEAE4"/>
            </a:solidFill>
            <a:prstDash val="solid"/>
          </a:ln>
        </p:spPr>
        <p:txBody>
          <a:bodyPr/>
          <a:p/>
        </p:txBody>
      </p:sp>
      <p:sp>
        <p:nvSpPr>
          <p:cNvPr id="17" name="Shape 15"/>
          <p:cNvSpPr/>
          <p:nvPr/>
        </p:nvSpPr>
        <p:spPr>
          <a:xfrm>
            <a:off x="594360" y="3392424"/>
            <a:ext cx="82296" cy="777240"/>
          </a:xfrm>
          <a:prstGeom prst="rect">
            <a:avLst/>
          </a:prstGeom>
          <a:solidFill>
            <a:srgbClr val="B02532"/>
          </a:solidFill>
          <a:ln w="12700">
            <a:solidFill>
              <a:srgbClr val="B02532"/>
            </a:solidFill>
            <a:prstDash val="solid"/>
          </a:ln>
        </p:spPr>
        <p:txBody>
          <a:bodyPr/>
          <a:p/>
        </p:txBody>
      </p:sp>
      <p:sp>
        <p:nvSpPr>
          <p:cNvPr id="18" name="Shape 16"/>
          <p:cNvSpPr/>
          <p:nvPr/>
        </p:nvSpPr>
        <p:spPr>
          <a:xfrm>
            <a:off x="868680" y="3575304"/>
            <a:ext cx="420624" cy="420624"/>
          </a:xfrm>
          <a:prstGeom prst="ellipse">
            <a:avLst/>
          </a:prstGeom>
          <a:solidFill>
            <a:srgbClr val="B02532"/>
          </a:solidFill>
          <a:ln/>
        </p:spPr>
        <p:txBody>
          <a:bodyPr/>
          <a:p/>
        </p:txBody>
      </p:sp>
      <p:sp>
        <p:nvSpPr>
          <p:cNvPr id="19" name="Text 17"/>
          <p:cNvSpPr/>
          <p:nvPr/>
        </p:nvSpPr>
        <p:spPr>
          <a:xfrm>
            <a:off x="868680" y="35753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0" name="Text 18"/>
          <p:cNvSpPr/>
          <p:nvPr/>
        </p:nvSpPr>
        <p:spPr>
          <a:xfrm>
            <a:off x="1554480" y="3392424"/>
            <a:ext cx="3291840" cy="777240"/>
          </a:xfrm>
          <a:prstGeom prst="rect">
            <a:avLst/>
          </a:prstGeom>
          <a:noFill/>
          <a:ln/>
        </p:spPr>
        <p:txBody>
          <a:bodyPr wrap="square" lIns="0" tIns="0" rIns="0" bIns="0" rtlCol="0" anchor="ctr"/>
          <a:lstStyle/>
          <a:p>
            <a:pPr indent="0" marL="0">
              <a:buNone/>
            </a:pPr>
            <a:r>
              <a:rPr lang="en-US" sz="1650" b="1" dirty="0">
                <a:solidFill>
                  <a:srgbClr val="B02532"/>
                </a:solidFill>
                <a:latin typeface="Palatino Linotype" pitchFamily="34" charset="0"/>
                <a:ea typeface="Palatino Linotype" pitchFamily="34" charset="-122"/>
                <a:cs typeface="Palatino Linotype" pitchFamily="34" charset="-120"/>
              </a:rPr>
              <a:t>Adulții învață altfel</a:t>
            </a:r>
            <a:endParaRPr lang="en-US" sz="1650" dirty="0"/>
          </a:p>
        </p:txBody>
      </p:sp>
      <p:sp>
        <p:nvSpPr>
          <p:cNvPr id="21" name="Text 19"/>
          <p:cNvSpPr/>
          <p:nvPr/>
        </p:nvSpPr>
        <p:spPr>
          <a:xfrm>
            <a:off x="4937760" y="3392424"/>
            <a:ext cx="6492240" cy="77724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Spuneți de ce, porniți de la experiența lor, lucrați pe probleme reale.</a:t>
            </a:r>
            <a:endParaRPr lang="en-US" sz="1500" dirty="0"/>
          </a:p>
        </p:txBody>
      </p:sp>
      <p:sp>
        <p:nvSpPr>
          <p:cNvPr id="22" name="Shape 20"/>
          <p:cNvSpPr/>
          <p:nvPr/>
        </p:nvSpPr>
        <p:spPr>
          <a:xfrm>
            <a:off x="594360" y="4288536"/>
            <a:ext cx="10972800" cy="777240"/>
          </a:xfrm>
          <a:prstGeom prst="roundRect">
            <a:avLst>
              <a:gd name="adj" fmla="val 10588"/>
            </a:avLst>
          </a:prstGeom>
          <a:solidFill>
            <a:srgbClr val="F9F8F5"/>
          </a:solidFill>
          <a:ln w="12700">
            <a:solidFill>
              <a:srgbClr val="F9F8F5"/>
            </a:solidFill>
            <a:prstDash val="solid"/>
          </a:ln>
        </p:spPr>
        <p:txBody>
          <a:bodyPr/>
          <a:p/>
        </p:txBody>
      </p:sp>
      <p:sp>
        <p:nvSpPr>
          <p:cNvPr id="23" name="Shape 21"/>
          <p:cNvSpPr/>
          <p:nvPr/>
        </p:nvSpPr>
        <p:spPr>
          <a:xfrm>
            <a:off x="594360" y="4288536"/>
            <a:ext cx="82296" cy="777240"/>
          </a:xfrm>
          <a:prstGeom prst="rect">
            <a:avLst/>
          </a:prstGeom>
          <a:solidFill>
            <a:srgbClr val="9C4A0A"/>
          </a:solidFill>
          <a:ln w="12700">
            <a:solidFill>
              <a:srgbClr val="9C4A0A"/>
            </a:solidFill>
            <a:prstDash val="solid"/>
          </a:ln>
        </p:spPr>
        <p:txBody>
          <a:bodyPr/>
          <a:p/>
        </p:txBody>
      </p:sp>
      <p:sp>
        <p:nvSpPr>
          <p:cNvPr id="24" name="Shape 22"/>
          <p:cNvSpPr/>
          <p:nvPr/>
        </p:nvSpPr>
        <p:spPr>
          <a:xfrm>
            <a:off x="868680" y="4471416"/>
            <a:ext cx="420624" cy="420624"/>
          </a:xfrm>
          <a:prstGeom prst="ellipse">
            <a:avLst/>
          </a:prstGeom>
          <a:solidFill>
            <a:srgbClr val="9C4A0A"/>
          </a:solidFill>
          <a:ln/>
        </p:spPr>
        <p:txBody>
          <a:bodyPr/>
          <a:p/>
        </p:txBody>
      </p:sp>
      <p:sp>
        <p:nvSpPr>
          <p:cNvPr id="25" name="Text 23"/>
          <p:cNvSpPr/>
          <p:nvPr/>
        </p:nvSpPr>
        <p:spPr>
          <a:xfrm>
            <a:off x="868680" y="44714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6" name="Text 24"/>
          <p:cNvSpPr/>
          <p:nvPr/>
        </p:nvSpPr>
        <p:spPr>
          <a:xfrm>
            <a:off x="1554480" y="4288536"/>
            <a:ext cx="3291840" cy="777240"/>
          </a:xfrm>
          <a:prstGeom prst="rect">
            <a:avLst/>
          </a:prstGeom>
          <a:noFill/>
          <a:ln/>
        </p:spPr>
        <p:txBody>
          <a:bodyPr wrap="square" lIns="0" tIns="0" rIns="0" bIns="0" rtlCol="0" anchor="ctr"/>
          <a:lstStyle/>
          <a:p>
            <a:pPr indent="0" marL="0">
              <a:buNone/>
            </a:pPr>
            <a:r>
              <a:rPr lang="en-US" sz="1650" b="1" dirty="0">
                <a:solidFill>
                  <a:srgbClr val="9C4A0A"/>
                </a:solidFill>
                <a:latin typeface="Palatino Linotype" pitchFamily="34" charset="0"/>
                <a:ea typeface="Palatino Linotype" pitchFamily="34" charset="-122"/>
                <a:cs typeface="Palatino Linotype" pitchFamily="34" charset="-120"/>
              </a:rPr>
              <a:t>Informațiile false</a:t>
            </a:r>
            <a:endParaRPr lang="en-US" sz="1650" dirty="0"/>
          </a:p>
        </p:txBody>
      </p:sp>
      <p:sp>
        <p:nvSpPr>
          <p:cNvPr id="27" name="Text 25"/>
          <p:cNvSpPr/>
          <p:nvPr/>
        </p:nvSpPr>
        <p:spPr>
          <a:xfrm>
            <a:off x="4937760" y="4288536"/>
            <a:ext cx="6492240" cy="77724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Verificați sursa în patru pași și corectați calm un mit.</a:t>
            </a:r>
            <a:endParaRPr lang="en-US" sz="1500" dirty="0"/>
          </a:p>
        </p:txBody>
      </p:sp>
      <p:sp>
        <p:nvSpPr>
          <p:cNvPr id="28" name="Shape 26"/>
          <p:cNvSpPr/>
          <p:nvPr/>
        </p:nvSpPr>
        <p:spPr>
          <a:xfrm>
            <a:off x="594360" y="5184648"/>
            <a:ext cx="10972800" cy="777240"/>
          </a:xfrm>
          <a:prstGeom prst="roundRect">
            <a:avLst>
              <a:gd name="adj" fmla="val 10588"/>
            </a:avLst>
          </a:prstGeom>
          <a:solidFill>
            <a:srgbClr val="ECEAE4"/>
          </a:solidFill>
          <a:ln w="12700">
            <a:solidFill>
              <a:srgbClr val="ECEAE4"/>
            </a:solidFill>
            <a:prstDash val="solid"/>
          </a:ln>
        </p:spPr>
        <p:txBody>
          <a:bodyPr/>
          <a:p/>
        </p:txBody>
      </p:sp>
      <p:sp>
        <p:nvSpPr>
          <p:cNvPr id="29" name="Shape 27"/>
          <p:cNvSpPr/>
          <p:nvPr/>
        </p:nvSpPr>
        <p:spPr>
          <a:xfrm>
            <a:off x="594360" y="5184648"/>
            <a:ext cx="82296" cy="777240"/>
          </a:xfrm>
          <a:prstGeom prst="rect">
            <a:avLst/>
          </a:prstGeom>
          <a:solidFill>
            <a:srgbClr val="0E7C6B"/>
          </a:solidFill>
          <a:ln w="12700">
            <a:solidFill>
              <a:srgbClr val="0E7C6B"/>
            </a:solidFill>
            <a:prstDash val="solid"/>
          </a:ln>
        </p:spPr>
        <p:txBody>
          <a:bodyPr/>
          <a:p/>
        </p:txBody>
      </p:sp>
      <p:sp>
        <p:nvSpPr>
          <p:cNvPr id="30" name="Shape 28"/>
          <p:cNvSpPr/>
          <p:nvPr/>
        </p:nvSpPr>
        <p:spPr>
          <a:xfrm>
            <a:off x="868680" y="5367528"/>
            <a:ext cx="420624" cy="420624"/>
          </a:xfrm>
          <a:prstGeom prst="ellipse">
            <a:avLst/>
          </a:prstGeom>
          <a:solidFill>
            <a:srgbClr val="0E7C6B"/>
          </a:solidFill>
          <a:ln/>
        </p:spPr>
        <p:txBody>
          <a:bodyPr/>
          <a:p/>
        </p:txBody>
      </p:sp>
      <p:sp>
        <p:nvSpPr>
          <p:cNvPr id="31" name="Text 29"/>
          <p:cNvSpPr/>
          <p:nvPr/>
        </p:nvSpPr>
        <p:spPr>
          <a:xfrm>
            <a:off x="868680" y="53675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5</a:t>
            </a:r>
            <a:endParaRPr lang="en-US" sz="1400" dirty="0"/>
          </a:p>
        </p:txBody>
      </p:sp>
      <p:sp>
        <p:nvSpPr>
          <p:cNvPr id="32" name="Text 30"/>
          <p:cNvSpPr/>
          <p:nvPr/>
        </p:nvSpPr>
        <p:spPr>
          <a:xfrm>
            <a:off x="1554480" y="5184648"/>
            <a:ext cx="3291840" cy="777240"/>
          </a:xfrm>
          <a:prstGeom prst="rect">
            <a:avLst/>
          </a:prstGeom>
          <a:noFill/>
          <a:ln/>
        </p:spPr>
        <p:txBody>
          <a:bodyPr wrap="square" lIns="0" tIns="0" rIns="0" bIns="0" rtlCol="0" anchor="ctr"/>
          <a:lstStyle/>
          <a:p>
            <a:pPr indent="0" marL="0">
              <a:buNone/>
            </a:pPr>
            <a:r>
              <a:rPr lang="en-US" sz="1650" b="1" dirty="0">
                <a:solidFill>
                  <a:srgbClr val="0E7C6B"/>
                </a:solidFill>
                <a:latin typeface="Palatino Linotype" pitchFamily="34" charset="0"/>
                <a:ea typeface="Palatino Linotype" pitchFamily="34" charset="-122"/>
                <a:cs typeface="Palatino Linotype" pitchFamily="34" charset="-120"/>
              </a:rPr>
              <a:t>Metodă și mijloc</a:t>
            </a:r>
            <a:endParaRPr lang="en-US" sz="1650" dirty="0"/>
          </a:p>
        </p:txBody>
      </p:sp>
      <p:sp>
        <p:nvSpPr>
          <p:cNvPr id="33" name="Text 31"/>
          <p:cNvSpPr/>
          <p:nvPr/>
        </p:nvSpPr>
        <p:spPr>
          <a:xfrm>
            <a:off x="4937760" y="5184648"/>
            <a:ext cx="6492240" cy="77724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Metoda: ce faceți cu omul; mijlocul: suportul. Fără metodă, fișa nu ajunge.</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76809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A RĂMAS</a:t>
            </a:r>
            <a:endParaRPr lang="en-US" sz="1300" dirty="0"/>
          </a:p>
        </p:txBody>
      </p:sp>
      <p:sp>
        <p:nvSpPr>
          <p:cNvPr id="5" name="Text 3"/>
          <p:cNvSpPr/>
          <p:nvPr/>
        </p:nvSpPr>
        <p:spPr>
          <a:xfrm>
            <a:off x="594360" y="1005840"/>
            <a:ext cx="10972800" cy="1188720"/>
          </a:xfrm>
          <a:prstGeom prst="rect">
            <a:avLst/>
          </a:prstGeom>
          <a:noFill/>
          <a:ln/>
        </p:spPr>
        <p:txBody>
          <a:bodyPr wrap="square" lIns="0" tIns="0" rIns="0" bIns="0" rtlCol="0" anchor="ctr"/>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Scopuri, principii, direcții, metode: zece întrebări</a:t>
            </a:r>
            <a:endParaRPr lang="en-US" sz="36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Accesați kahoot.it și introduceți codul afișat de cadrul didactic.</a:t>
            </a:r>
            <a:endParaRPr lang="en-US" sz="2200" dirty="0"/>
          </a:p>
        </p:txBody>
      </p:sp>
      <p:sp>
        <p:nvSpPr>
          <p:cNvPr id="7" name="Shape 5"/>
          <p:cNvSpPr/>
          <p:nvPr/>
        </p:nvSpPr>
        <p:spPr>
          <a:xfrm>
            <a:off x="594360" y="3200400"/>
            <a:ext cx="5486400" cy="2011680"/>
          </a:xfrm>
          <a:prstGeom prst="roundRect">
            <a:avLst>
              <a:gd name="adj" fmla="val 4091"/>
            </a:avLst>
          </a:prstGeom>
          <a:solidFill>
            <a:srgbClr val="272A38"/>
          </a:solidFill>
          <a:ln w="12700">
            <a:solidFill>
              <a:srgbClr val="272A38"/>
            </a:solidFill>
            <a:prstDash val="solid"/>
          </a:ln>
        </p:spPr>
        <p:txBody>
          <a:bodyPr/>
          <a:p/>
        </p:txBody>
      </p:sp>
      <p:sp>
        <p:nvSpPr>
          <p:cNvPr id="8" name="Text 6"/>
          <p:cNvSpPr/>
          <p:nvPr/>
        </p:nvSpPr>
        <p:spPr>
          <a:xfrm>
            <a:off x="822960" y="3200400"/>
            <a:ext cx="5029200" cy="2011680"/>
          </a:xfrm>
          <a:prstGeom prst="rect">
            <a:avLst/>
          </a:prstGeom>
          <a:noFill/>
          <a:ln/>
        </p:spPr>
        <p:txBody>
          <a:bodyPr wrap="square" lIns="0" tIns="0" rIns="0" bIns="0" rtlCol="0" anchor="ctr"/>
          <a:lstStyle/>
          <a:p>
            <a:pPr algn="ctr" indent="0" marL="0">
              <a:buNone/>
            </a:pPr>
            <a:r>
              <a:rPr lang="en-US" sz="1900" b="1" dirty="0">
                <a:solidFill>
                  <a:srgbClr val="FFFFFF"/>
                </a:solidFill>
                <a:latin typeface="Palatino Linotype" pitchFamily="34" charset="0"/>
                <a:ea typeface="Palatino Linotype" pitchFamily="34" charset="-122"/>
                <a:cs typeface="Palatino Linotype" pitchFamily="34" charset="-120"/>
              </a:rPr>
              <a:t>Răspundeți pe telefon, la codul afișat.</a:t>
            </a:r>
            <a:endParaRPr lang="en-US" sz="1900" dirty="0"/>
          </a:p>
        </p:txBody>
      </p:sp>
      <p:sp>
        <p:nvSpPr>
          <p:cNvPr id="9" name="Text 7"/>
          <p:cNvSpPr/>
          <p:nvPr/>
        </p:nvSpPr>
        <p:spPr>
          <a:xfrm>
            <a:off x="6400800" y="3200400"/>
            <a:ext cx="5166360" cy="201168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Rezultatul nu se notează. După fiecare întrebare discutăm răspunsurile greșite.</a:t>
            </a:r>
            <a:endParaRPr lang="en-US" sz="1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 azi?</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v-am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200" dirty="0"/>
          </a:p>
        </p:txBody>
      </p:sp>
      <p:sp>
        <p:nvSpPr>
          <p:cNvPr id="14" name="Shape 12"/>
          <p:cNvSpPr/>
          <p:nvPr/>
        </p:nvSpPr>
        <p:spPr>
          <a:xfrm>
            <a:off x="8549640" y="2331720"/>
            <a:ext cx="3017520" cy="2651760"/>
          </a:xfrm>
          <a:prstGeom prst="roundRect">
            <a:avLst>
              <a:gd name="adj" fmla="val 3103"/>
            </a:avLst>
          </a:prstGeom>
          <a:solidFill>
            <a:srgbClr val="FFFFFF"/>
          </a:solidFill>
          <a:ln w="12700">
            <a:solidFill>
              <a:srgbClr val="FFFFFF"/>
            </a:solidFill>
            <a:prstDash val="solid"/>
          </a:ln>
        </p:spPr>
        <p:txBody>
          <a:bodyPr/>
          <a:p/>
        </p:txBody>
      </p:sp>
      <p:sp>
        <p:nvSpPr>
          <p:cNvPr id="15" name="Shape 13"/>
          <p:cNvSpPr/>
          <p:nvPr/>
        </p:nvSpPr>
        <p:spPr>
          <a:xfrm>
            <a:off x="9765792" y="2606040"/>
            <a:ext cx="585216" cy="960120"/>
          </a:xfrm>
          <a:prstGeom prst="roundRect">
            <a:avLst>
              <a:gd name="adj" fmla="val 15625"/>
            </a:avLst>
          </a:prstGeom>
          <a:solidFill>
            <a:srgbClr val="F6F5F2"/>
          </a:solidFill>
          <a:ln w="19050">
            <a:solidFill>
              <a:srgbClr val="585A64"/>
            </a:solidFill>
            <a:prstDash val="solid"/>
          </a:ln>
        </p:spPr>
        <p:txBody>
          <a:bodyPr/>
          <a:p/>
        </p:txBody>
      </p:sp>
      <p:sp>
        <p:nvSpPr>
          <p:cNvPr id="16" name="Shape 14"/>
          <p:cNvSpPr/>
          <p:nvPr/>
        </p:nvSpPr>
        <p:spPr>
          <a:xfrm>
            <a:off x="9994392" y="3337560"/>
            <a:ext cx="128016" cy="128016"/>
          </a:xfrm>
          <a:prstGeom prst="ellipse">
            <a:avLst/>
          </a:prstGeom>
          <a:solidFill>
            <a:srgbClr val="585A64"/>
          </a:solidFill>
          <a:ln w="12700">
            <a:solidFill>
              <a:srgbClr val="585A64"/>
            </a:solidFill>
            <a:prstDash val="solid"/>
          </a:ln>
        </p:spPr>
        <p:txBody>
          <a:bodyPr/>
          <a:p/>
        </p:txBody>
      </p:sp>
      <p:sp>
        <p:nvSpPr>
          <p:cNvPr id="17" name="Text 15"/>
          <p:cNvSpPr/>
          <p:nvPr/>
        </p:nvSpPr>
        <p:spPr>
          <a:xfrm>
            <a:off x="8778240" y="3749040"/>
            <a:ext cx="2560320" cy="1097280"/>
          </a:xfrm>
          <a:prstGeom prst="rect">
            <a:avLst/>
          </a:prstGeom>
          <a:noFill/>
          <a:ln/>
        </p:spPr>
        <p:txBody>
          <a:bodyPr wrap="square" lIns="0" tIns="0" rIns="0" bIns="0" rtlCol="0" anchor="ctr"/>
          <a:lstStyle/>
          <a:p>
            <a:pPr algn="ctr" indent="0" marL="0">
              <a:buNone/>
            </a:pPr>
            <a:r>
              <a:rPr lang="en-US" sz="1500" b="1" dirty="0">
                <a:solidFill>
                  <a:srgbClr val="11121A"/>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
        <p:nvSpPr>
          <p:cNvPr id="18" name="Text 16"/>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Răspunsurile se citesc toate. Două modificări, făcute pe baza lor, apar pe pagina disciplinei.</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Cursul 2 - Același sfat, alt rezultat</dc:title>
  <dc:subject>PptxGenJS Presentation</dc:subject>
  <dc:creator>Disciplina de Sănătate publică și management, UMF Cluj-Napoca</dc:creator>
  <cp:lastModifiedBy>Disciplina de Sănătate publică și management, UMF Cluj-Napoca</cp:lastModifiedBy>
  <cp:revision>1</cp:revision>
  <dcterms:created xsi:type="dcterms:W3CDTF">2026-10-11T08:12:33Z</dcterms:created>
  <dcterms:modified xsi:type="dcterms:W3CDTF">2026-10-11T08:12:33Z</dcterms:modified>
  <cp:keywords>sursa_amprenta=08c600a76050ba28; proiectie</cp:keywords>
</cp:coreProperties>
</file>