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3093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 PENTRU SĂNĂTATE  ·  LUCRAREA PRACTICĂ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de educație pentru sănătate în asistența BFK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o cerere la un plan pe o pagină; marketingul social; planul echipei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67512" y="516636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5394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Balneofiziokinetoterapie și recuperare, anul 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868680"/>
            <a:ext cx="4023360" cy="51206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14300" dist="50800" dir="36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8638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PE O PAGINĂ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417320"/>
            <a:ext cx="347472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882128" y="1600200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88212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728216"/>
            <a:ext cx="28346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882128" y="1993392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82128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121408"/>
            <a:ext cx="23774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882128" y="2386584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82128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2514600"/>
            <a:ext cx="19202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82128" y="2779776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82128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21040" y="2907792"/>
            <a:ext cx="26060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818120" y="3145536"/>
            <a:ext cx="3566160" cy="329184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882128" y="3172968"/>
            <a:ext cx="274320" cy="27432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82128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21040" y="3300984"/>
            <a:ext cx="21488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882128" y="3566160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882128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21040" y="3694176"/>
            <a:ext cx="28346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882128" y="3959352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882128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21040" y="4087368"/>
            <a:ext cx="23774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882128" y="4352544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882128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21040" y="4480560"/>
            <a:ext cx="19202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882128" y="4745736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882128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21040" y="4873752"/>
            <a:ext cx="26060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882128" y="5138928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882128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21040" y="5266944"/>
            <a:ext cx="21488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882128" y="5532120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82128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321040" y="5660136"/>
            <a:ext cx="28346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292608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272A38"/>
          </a:solidFill>
          <a:ln w="15875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3840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LUCRURI SCHIMBATE DUPĂ RĂSPUNSURILE VOASTRE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713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[le anunță cadrul didactic]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Comuna care vrea mai puține căderi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7223760" cy="4023360"/>
          </a:xfrm>
          <a:prstGeom prst="roundRect">
            <a:avLst>
              <a:gd name="adj" fmla="val 204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2057400"/>
            <a:ext cx="82296" cy="40233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2194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· CEREREA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Primăria vrea un program de douăsprezece săptămâni pentru oamenii trecuți de șaizeci și cinci de ani.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6675120" cy="6858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51560" y="3749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„O prezentare la căminul cultural, cu pliante, ținută de un kinetoterapeut.”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Mulți locuiesc singuri; autobuzul trece de două ori pe zi.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75320" y="2194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este primul pas corect, înainte să stabiliți exercițiile și calendarul?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41080" y="3840480"/>
            <a:ext cx="23317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778240" y="3977640"/>
            <a:ext cx="2057400" cy="178308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69680" y="4069080"/>
            <a:ext cx="1874520" cy="160020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VOTUL DE DESCHIDERE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pas: aflarea nevoilor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029200" cy="3291840"/>
          </a:xfrm>
          <a:prstGeom prst="roundRect">
            <a:avLst>
              <a:gd name="adj" fmla="val 2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CEREREA CONȚINE DEJA O SOLUȚIE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„O prezentare cu pliante”, înainte ca cineva să fi întrebat de ce cad vârstnicii și ce i-ar face să vină la un program.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NEVOILOR ÎNTREABĂ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2057400"/>
            <a:ext cx="5623560" cy="512064"/>
          </a:xfrm>
          <a:prstGeom prst="roundRect">
            <a:avLst>
              <a:gd name="adj" fmla="val 160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0" y="2057400"/>
            <a:ext cx="82296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0" y="2057400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sunt și câți au căzut într-un an?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0" y="2642616"/>
            <a:ext cx="5623560" cy="512064"/>
          </a:xfrm>
          <a:prstGeom prst="roundRect">
            <a:avLst>
              <a:gd name="adj" fmla="val 160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0" y="2642616"/>
            <a:ext cx="82296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2642616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au căzut?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0" y="3227832"/>
            <a:ext cx="5623560" cy="512064"/>
          </a:xfrm>
          <a:prstGeom prst="roundRect">
            <a:avLst>
              <a:gd name="adj" fmla="val 160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3227832"/>
            <a:ext cx="82296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7920" y="3227832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îi împiedică să vină?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0" y="3813048"/>
            <a:ext cx="5623560" cy="512064"/>
          </a:xfrm>
          <a:prstGeom prst="roundRect">
            <a:avLst>
              <a:gd name="adj" fmla="val 160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43600" y="3813048"/>
            <a:ext cx="82296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17920" y="381304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îi poate aduce?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0" y="4398264"/>
            <a:ext cx="5623560" cy="512064"/>
          </a:xfrm>
          <a:prstGeom prst="roundRect">
            <a:avLst>
              <a:gd name="adj" fmla="val 160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0" y="4398264"/>
            <a:ext cx="82296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17920" y="439826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resurse există deja?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94360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Soluția vine după nevoi, nu înaintea lor.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ANALIZĂ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rămâne pe dinafară?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3657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într-o singură zi, la o singură oră, anunțat numai pe internet, ajunge mai ales la vârstnicii cei mai sănătoși, care oricum ies din casă.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623560" cy="804672"/>
          </a:xfrm>
          <a:prstGeom prst="roundRect">
            <a:avLst>
              <a:gd name="adj" fmla="val 102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0" y="1691640"/>
            <a:ext cx="82296" cy="80467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63640" y="174650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canale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63640" y="211226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familie, preotul, un vecin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606040"/>
            <a:ext cx="5623560" cy="804672"/>
          </a:xfrm>
          <a:prstGeom prst="roundRect">
            <a:avLst>
              <a:gd name="adj" fmla="val 102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0" y="2606040"/>
            <a:ext cx="82296" cy="80467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2660904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loc aproape și o oră potrivită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0" y="3520440"/>
            <a:ext cx="5623560" cy="804672"/>
          </a:xfrm>
          <a:prstGeom prst="roundRect">
            <a:avLst>
              <a:gd name="adj" fmla="val 102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0" y="3520440"/>
            <a:ext cx="82296" cy="80467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3575304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 zero pentru participanți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0" y="4434840"/>
            <a:ext cx="5623560" cy="804672"/>
          </a:xfrm>
          <a:prstGeom prst="roundRect">
            <a:avLst>
              <a:gd name="adj" fmla="val 102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43600" y="4434840"/>
            <a:ext cx="82296" cy="80467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63640" y="448970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variantă acasă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63640" y="485546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cei care nu pot veni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4864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5486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Participarea se urmărește pe parcurs.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 STUDIILE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Exercițiile și căderile: dovezile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31089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373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116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studii randomizate, cu 25 160 de participanți din comunitate, din 29 de țări; 74% dintre ei, femei.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1691640"/>
            <a:ext cx="82296" cy="3108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17373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puține căderi: reducerea frecvenței, față de grupurile de control (raportul frecvențelor 0,77; 14 306 participanți, 64 de studii; certitudine mare).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50292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30% dintre adulții de peste 65 de ani cad în fiecare an.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sistematică pentru ghidul OMS din 2020; ghidul mondial din 2022.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 STUDIILE · REDUCEREA FRECVENȚEI CĂDERILOR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orice exercițiu are același efect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Echilibru și exerciții funcționale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21408"/>
            <a:ext cx="4075611" cy="548640"/>
          </a:xfrm>
          <a:prstGeom prst="roundRect">
            <a:avLst>
              <a:gd name="adj" fmla="val 10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07131" y="2121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24%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39 de studii · certitudine mare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Programe combinate (plus forță)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447288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0" y="34472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 studii · certitudine moderată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4434840"/>
            <a:ext cx="82296" cy="8686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43484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ales forță, dans sau mers: efectul asupra căderilor rămâne incert.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66760" y="1737360"/>
            <a:ext cx="3200400" cy="3566160"/>
          </a:xfrm>
          <a:prstGeom prst="roundRect">
            <a:avLst>
              <a:gd name="adj" fmla="val 2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953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 FUNCȚIONAL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9536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Ridicatul de pe scaun și pașii.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3383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OMS: echilibru și forță, în 3 sau mai multe zile pe săptămână.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sistematică pentru ghidul OMS din 2020.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 STUDIILE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mult și pentru cine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572000" cy="3657600"/>
          </a:xfrm>
          <a:prstGeom prst="roundRect">
            <a:avLst>
              <a:gd name="adj" fmla="val 2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365760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830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42%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puține căderi la programele de 3 ore sau mai mult pe săptămână.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4960" y="1691640"/>
            <a:ext cx="61722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394960" y="1691640"/>
            <a:ext cx="82296" cy="11430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15000" y="1783080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Efectul nu diferă după riscul de cădere sau după vârstă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715000" y="240487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 de ani și peste sau mai mici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2953512"/>
            <a:ext cx="61722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94960" y="2953512"/>
            <a:ext cx="82296" cy="11430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15000" y="3044952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poate fi deschis tuturor vârstnicilor care pot merge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715000" y="366674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mondial: sfaturi pentru toți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94960" y="4215384"/>
            <a:ext cx="61722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94960" y="4215384"/>
            <a:ext cx="82296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15000" y="4306824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 mai mare, inclusiv fragilii: reguli de siguranță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715000" y="4928616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supraveghere mai atentă sau grupe mai mici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CALCUL PENTRU COMUNĂ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căderi s-ar putea evita?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82296" cy="26974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 înscriși la grupa comunei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1691640"/>
            <a:ext cx="82296" cy="26974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1772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 la 1 000 de persoane pe an, fără program: frecvență aleasă pentru exercițiu, nu măsurată în comună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92440" y="169164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92440" y="1691640"/>
            <a:ext cx="82296" cy="269748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676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 a frecvenței căderilor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46177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căderi s-ar aștepta într-un an fără program? Cu câte mai puține, cu exercițiile?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Presupunem că vârstnicii comunei seamănă cu cei din studii. Nu e sigur; planul verifică.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PE O PAGINĂ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Unsprezece rubrici, ca etapele din curs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764792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nevoilor și a contextului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2514600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39572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Definirea problemei și a publicului-țintă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145536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3264408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14553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89534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4014216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953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și indicatorii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645152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76402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4764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6451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Alegerea intervențiilor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39496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5513832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3949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Implicarea comunității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00800" y="1764792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1645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operațional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239572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00800" y="2514600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239572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Materialele și locul educației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7920" y="3145536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00800" y="3264408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95160" y="314553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Riscurile, etica și datele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7920" y="389534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00800" y="4014216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0080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95160" y="38953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și evaluarea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7920" y="4645152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00800" y="4764024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00800" y="4764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95160" y="46451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Îmbunătățirea în cicluri scurte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7920" y="534924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46520" y="5349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Marketingul social nu e etapă separată: face parte din alegerea intervențiilor.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COMUNEI · 1 DIN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nevoi la cadrul logic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82296" cy="420624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0392" y="1819656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nevoilor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 din 420 de pacienți de peste 65 de ani au venit după o cădere. Cauze: echilibru slab, teamă, drumuri neluminate.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281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28160" y="1691640"/>
            <a:ext cx="82296" cy="42062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84192" y="1819656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841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54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și publicul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024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Vârstnicii cad des: 30% pe an. Public: peste 65 de ani, care merg singuri; prioritari, cei care au căzut.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619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61960" y="1691640"/>
            <a:ext cx="82296" cy="420624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17992" y="181965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179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392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62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Grupă de două ori pe săptămână, fișă acasă, vizite. Presupunere: pot ajunge la cămin pe ger.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COMUNEI · 2 DIN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obiectiv la comunitate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82296" cy="42062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0392" y="1819656"/>
            <a:ext cx="384048" cy="384048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douăsprezece săptămâni, cel puțin 40 dintre cei 60 de înscriși fac exercițiile de trei ori pe săptămână, în cel puțin nouă săptămâni.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281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28160" y="1691640"/>
            <a:ext cx="82296" cy="42062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84192" y="1819656"/>
            <a:ext cx="384048" cy="384048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841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54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Intervențiile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024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Echilibru, funcționale și forță, de trei ori pe săptămână; ședințe de o oră, circa 3 ore pe săptămână.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619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61960" y="1691640"/>
            <a:ext cx="82296" cy="4206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17992" y="1819656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179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392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Comunitatea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62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Primăria, medicul de familie, asistenta comunitară, preotul; doi participanți „ambasadori”.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COMUNEI · 3 DIN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Calendarul, materialele, riscurile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82296" cy="420624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0392" y="181965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operațional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prima săptămână: discuții, înscriere, ședință de probă. Săptămânile 1–12. În a 12-a: evaluarea și continuarea.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281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28160" y="1691640"/>
            <a:ext cx="82296" cy="420624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84192" y="1819656"/>
            <a:ext cx="384048" cy="384048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841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54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Materialele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024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Fișă de o pagină, încercată întâi pe trei vârstnici; cinci minute de educație la fiecare ședință.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61960" y="1691640"/>
            <a:ext cx="3505200" cy="420624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61960" y="1691640"/>
            <a:ext cx="82296" cy="42062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17992" y="1819656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179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39200" y="1783080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6280" y="2295144"/>
            <a:ext cx="3048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căzut în ultimul an, se simte nesigur sau amețește merge întâi la medicul de familie și începe după acordul lui. Grupe mici, lângă scaun.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COMUNEI · 4 DIN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Măsurarea și primul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72100" cy="4206240"/>
          </a:xfrm>
          <a:prstGeom prst="roundRect">
            <a:avLst>
              <a:gd name="adj" fmla="val 19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82296" cy="4206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0392" y="1819656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și evaluarea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95144"/>
            <a:ext cx="49149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Proces: participanții la fiecare ședință. Rezultat: câți fac exercițiile de trei ori pe săptămână în cel puțin nouă săptămâni.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95060" y="1691640"/>
            <a:ext cx="5372100" cy="4206240"/>
          </a:xfrm>
          <a:prstGeom prst="roundRect">
            <a:avLst>
              <a:gd name="adj" fmla="val 19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95060" y="1691640"/>
            <a:ext cx="82296" cy="420624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51092" y="1819656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510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72300" y="1783080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Îmbunătățirea în cicluri scurte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69380" y="2295144"/>
            <a:ext cx="49149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Săptămânile 1–2: ședința de joi, ziua de piață, față de marți. Dacă vin cu cel puțin cinci oameni mai mult, grupa rămâne joia.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 · PARTEA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ECHIPE DE PATRU SAU CINCI STUDENȚI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pași, o echipă, un telefon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58952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9019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formulare descrie problema comunei?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758952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770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obiectiv este formulat corect?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758952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6393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74720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patru indicatori: proces, rezultat sau impact?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343400"/>
            <a:ext cx="758952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5079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507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43400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 căderile evitate; alegeți ce spuneți primăriei.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595360" y="1783080"/>
            <a:ext cx="29718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pas se deschide după răspunsul corect la cel dinainte.</a:t>
            </a:r>
            <a:endParaRPr lang="en-US" sz="1500" dirty="0"/>
          </a:p>
        </p:txBody>
      </p:sp>
      <p:pic>
        <p:nvPicPr>
          <p:cNvPr id="26" name="Picture 25" descr="EPS_I_LP03_sala_miercuri_21_10_vineri_23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1931670"/>
            <a:ext cx="267462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PARTEA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s-a greșit?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291840" cy="36118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91640"/>
            <a:ext cx="2743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răspunsurilor, din Forms]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1691640"/>
            <a:ext cx="745236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0" y="1691640"/>
            <a:ext cx="82296" cy="8412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343400" y="190195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4340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e un rezultat observabil; echilibrul slab e cauză, lipsa unei prezentări e soluție.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624328"/>
            <a:ext cx="745236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114800" y="2624328"/>
            <a:ext cx="82296" cy="8412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43400" y="283464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4340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624328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Obiectivul: ce se schimbă, cât, la cine, până când, cum se măsoară.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557016"/>
            <a:ext cx="745236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114800" y="3557016"/>
            <a:ext cx="82296" cy="84124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343400" y="3767328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4340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557016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vin la ședință: proces. Câți fac exercițiile regulat: rezultat. Căderile într-un an: impact.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4489704"/>
            <a:ext cx="745236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114800" y="4489704"/>
            <a:ext cx="82296" cy="8412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343400" y="4700016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43400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4489704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 × 850 ÷ 1 000 = 51; 51 × 0,77 ≈ 39; deci circa 12 căderi mai puține. Estimare, nu promisiune.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4864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5486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mai multe greșeli sunt la primul pas.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DOUA · MARKETINGUL SOCIAL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oameni, aproape toți femei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Invitații la peste patruzeci de pacienți; vin nouă. Asistenta întreabă de ce ceilalți nu au venit.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423160"/>
            <a:ext cx="82296" cy="12801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„Gimnastica e pentru femei.”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BĂRBAT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4231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2423160"/>
            <a:ext cx="82296" cy="12801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are cu cine lăsa găinile dimineața.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FEMEIE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4360" y="3840480"/>
            <a:ext cx="82296" cy="12801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3931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Rușine: vecinii o văd „făcând exerciții ca la grădiniță”.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82296" cy="128016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37960" y="3931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mai iese iarna din casă.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3796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BĂRBAT CARE A CĂZUT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349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Motivele nu țin de lipsa informației, ci de ce îi costă participarea.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TERMENI NOI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Marketingul social și schimbul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41605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1 · MARKETINGUL SOCIAL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Metodele marketingului, folosite ca oamenii să adopte comportamente bune pentru ei și pentru comunitate.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Ținta: un comportament concret, nu pliante. Cu principii etice; fără manipulare.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1691640"/>
            <a:ext cx="82296" cy="41605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2 · SCHIMBUL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îl costă pe om o schimbare de comportament și ce primește el în schimb.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5528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timp, efort, teamă, rușine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754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primește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4754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puțină durere, un mers mai bun, autonomia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Glosarul OMS din 2021; materialele disciplinei.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PATRU ELEMENTE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Produsul, prețul, locul, promovarea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31089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PRODUSUL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comportamentul dorit și beneficiul lui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01568" y="169164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01568" y="1691640"/>
            <a:ext cx="82296" cy="31089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75888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PREȚUL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888" y="23774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îl costă pe om schimbarea, ca rușinea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08776" y="169164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08776" y="1691640"/>
            <a:ext cx="82296" cy="310896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83096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3096" y="23774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primește sprijinul, inclusiv ora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15984" y="169164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015984" y="1691640"/>
            <a:ext cx="82296" cy="310896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90304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90304" y="23774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află de program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50292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029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Omul nu adoptă comportamentul? Nu repetați mai tare același mesaj: reglați un element.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materialele disciplinei; se reiau la cursul al patrulea.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Invitația în douăzeci de cuvinte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Alegeți unul dintre cei trei: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7772400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19933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Bărbatul care crede că „gimnastica e pentru femei”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7772400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2960" y="2770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65176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Femeia care nu are cu cine lăsa animalele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94360" y="3429000"/>
            <a:ext cx="7772400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35478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Bărbatul care nu mai iese din casă după o cădere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7772400" cy="1783080"/>
          </a:xfrm>
          <a:prstGeom prst="roundRect">
            <a:avLst>
              <a:gd name="adj" fmla="val 461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343400"/>
            <a:ext cx="82296" cy="17830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4434840"/>
            <a:ext cx="7223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minute: scrieți invitația și spuneți ce element ați schimbat. Trei perechi o citesc; sala votează pe telefon.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69680" y="1417320"/>
            <a:ext cx="26974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06840" y="1554480"/>
            <a:ext cx="2423160" cy="242316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098280" y="1645920"/>
            <a:ext cx="2240280" cy="22402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0" y="42519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Invitația care ar aduce omul la grupă.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A II-A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ACELEAȘI ECHIPE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obstacole, patru elemente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4937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8288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Rușinea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4937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6334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496312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Animalele de dimineață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300984"/>
            <a:ext cx="4937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4381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300984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105656"/>
            <a:ext cx="4937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2428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0565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de cădere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91640"/>
            <a:ext cx="2834640" cy="3108960"/>
          </a:xfrm>
          <a:prstGeom prst="roundRect">
            <a:avLst>
              <a:gd name="adj" fmla="val 290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8932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ELEMENTE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Produsul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989320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Prețul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989320" y="35295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989320" y="41513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869680" y="1691640"/>
            <a:ext cx="26974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94360" y="50749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074920"/>
            <a:ext cx="82296" cy="10515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440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fiecare obstacol alegeți elementul sau elementele de schimbat și o măsură potrivită. Activitatea nu se notează.</a:t>
            </a:r>
            <a:endParaRPr lang="en-US" sz="1650" dirty="0"/>
          </a:p>
        </p:txBody>
      </p:sp>
      <p:pic>
        <p:nvPicPr>
          <p:cNvPr id="34" name="Picture 33" descr="EPS_I_LP03_sala_miercuri_21_10_vineri_23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554" y="1826514"/>
            <a:ext cx="2427732" cy="24277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PARTEA A II-A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schimbă la fiecare obstacol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OBSTACOLUL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ELEMENTUL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1783080"/>
            <a:ext cx="82296" cy="80467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7830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Rușinea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17830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prețul (psihologic)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32320" y="178308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sală închisă; exerciții cu nume obișnuite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26974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2697480"/>
            <a:ext cx="82296" cy="804672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2697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Animalele de dimineață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26974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 (ora) sau prețul (timpul)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32320" y="269748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la ora 11, după treburile de dimineață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94360" y="36118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611880"/>
            <a:ext cx="82296" cy="80467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36118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36118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prețul sau locul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microbuzul primăriei; grupe în satele vecine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94360" y="45262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4526280"/>
            <a:ext cx="82296" cy="80467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45262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de cădere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49040" y="45262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prețul (psihologic)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32320" y="452628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 lângă scaun; o primă ședință de probă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94360" y="54864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8680" y="5486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Unele obstacole ating două elemente; atunci ambele răspunsuri sunt corecte.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TREIA · PLANUL ECHIPEI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teme din recuperare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2019, 2,41 miliarde de oameni trăiau cu afecțiuni care ar beneficia de recuperare.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057400"/>
            <a:ext cx="82296" cy="16459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67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 de spate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619 milioane de oameni cu lombalgie în 2020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2057400"/>
            <a:ext cx="82296" cy="16459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2167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Căderile vârstnicilor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30% pe an, plus cifra locală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4360" y="3840480"/>
            <a:ext cx="82296" cy="164592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3950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Adulții fără mișcare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85,5% din adulții din România: zero minute de activitate aerobă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82296" cy="164592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37960" y="3950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protezare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4348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genunchi sau șold; cifra: din fișele centrului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altă temă, cu un grup precis.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A III-A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LUCRAȚI VOI · 25 DE MINUTE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echipei, în unsprezece rubrici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un rând sau două la fiecare rubrică. Cinci criterii; fără notă.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77724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04672" y="23225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Cifra problemei are sursa și anul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2980944"/>
            <a:ext cx="77724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3108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980944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Obiectivul: o schimbare, o mărime, un termen, un grup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3767328"/>
            <a:ext cx="77724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" y="3895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767328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 are o presupunere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553712"/>
            <a:ext cx="77724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4672" y="4681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53712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Marketingul social: ce costă și cum scade prețul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94360" y="5340096"/>
            <a:ext cx="77724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4672" y="54681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04672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340096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 de rezultat măsoară schimbarea din obiectiv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778240" y="1691640"/>
            <a:ext cx="2788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778240" y="46177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treia a formularului.</a:t>
            </a:r>
            <a:endParaRPr lang="en-US" sz="1400" dirty="0"/>
          </a:p>
        </p:txBody>
      </p:sp>
      <p:pic>
        <p:nvPicPr>
          <p:cNvPr id="31" name="Picture 30" descr="EPS_I_LP03_sala_miercuri_21_10_vineri_23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686" y="1831086"/>
            <a:ext cx="2510028" cy="25100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PREZENTARE ȘI DISCUȚIE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ECHIPE, LA SORȚI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minute pentru fiecare plan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737360"/>
            <a:ext cx="82296" cy="30175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ÎNTREABĂ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vom ști, la final, dacă programul a mers?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1737360"/>
            <a:ext cx="82296" cy="30175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ÎNTREABĂ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îl costă pe om să facă ce îi cereți și cum îi scădeți prețul?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5029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echipă își cunoaște indicatorul de rezultat și ce îl costă pe om participarea.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502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6184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Cineva cere „o prezentare despre”: întrebați întâi de ce apare problema.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2350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Oamenii nu vin la un program bun: scădeți prețul participării.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3081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97180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schimbare, întâi mic, cu criteriul de decizie scris dinainte.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2153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6052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48371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2960" y="54589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5404104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641080" y="1508760"/>
            <a:ext cx="2926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778240" y="1645920"/>
            <a:ext cx="2651760" cy="265176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0" y="1737360"/>
            <a:ext cx="246888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41080" y="4617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lucruri schimbate pe baza răspunsurilor voastre.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3 - Un program de educație pentru sănătate</dc:title>
  <dc:subject>PptxGenJS Presentation</dc:subject>
  <dc:creator>Conf. Univ. Dr. Adrian Pana</dc:creator>
  <cp:lastModifiedBy>Conf. Univ. Dr. Adrian Pana</cp:lastModifiedBy>
  <cp:revision>1</cp:revision>
  <dcterms:created xsi:type="dcterms:W3CDTF">2026-10-17T10:53:57Z</dcterms:created>
  <dcterms:modified xsi:type="dcterms:W3CDTF">2026-10-17T10:53:57Z</dcterms:modified>
  <cp:keywords>sursa_amprenta=32f3b3899241de60; proiectie</cp:keywords>
</cp:coreProperties>
</file>