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7724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  ·  EDUCAȚIE PENTRU SĂNĂTATE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 din sertar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este educația pentru sănătate și de ce o cer OMS și Uniunea Europeană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67512" y="4434840"/>
            <a:ext cx="1280160" cy="2743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Balneofiziokinetoterapie și recuperare, anul 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0749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Disciplina de Sănătate publică și management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63840" y="548640"/>
            <a:ext cx="3749040" cy="5760720"/>
          </a:xfrm>
          <a:prstGeom prst="roundRect">
            <a:avLst>
              <a:gd name="adj" fmla="val 6098"/>
            </a:avLst>
          </a:prstGeom>
          <a:solidFill>
            <a:srgbClr val="DCDFE6"/>
          </a:solidFill>
          <a:ln w="12700">
            <a:solidFill>
              <a:srgbClr val="C3C7D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92440" y="2194560"/>
            <a:ext cx="146304" cy="1645920"/>
          </a:xfrm>
          <a:prstGeom prst="roundRect">
            <a:avLst>
              <a:gd name="adj" fmla="val 50000"/>
            </a:avLst>
          </a:prstGeom>
          <a:solidFill>
            <a:srgbClr val="A9AEBB"/>
          </a:solidFill>
          <a:ln w="12700">
            <a:solidFill>
              <a:srgbClr val="A9AE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240000">
            <a:off x="8549640" y="1234440"/>
            <a:ext cx="2697480" cy="356616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76200" dist="38100" dir="36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240000">
            <a:off x="8686800" y="1417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Exerciții pentru acasă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240000">
            <a:off x="8778240" y="18745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87968" y="19842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40000">
            <a:off x="9189720" y="20574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40000">
            <a:off x="9189720" y="22585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40000">
            <a:off x="10012680" y="18745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22408" y="19842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240000">
            <a:off x="10424160" y="20574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40000">
            <a:off x="10424160" y="22585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40000">
            <a:off x="8778240" y="27889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87968" y="28986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240000">
            <a:off x="9189720" y="29718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40000">
            <a:off x="9189720" y="31729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40000">
            <a:off x="10012680" y="27889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22408" y="28986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240000">
            <a:off x="10424160" y="29718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240000">
            <a:off x="10424160" y="31729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0000">
            <a:off x="8778240" y="37033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87968" y="38130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240000">
            <a:off x="9189720" y="38862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40000">
            <a:off x="9189720" y="40873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240000">
            <a:off x="10012680" y="3703320"/>
            <a:ext cx="105156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22408" y="3813048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240000">
            <a:off x="10424160" y="3886200"/>
            <a:ext cx="50292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40000">
            <a:off x="10424160" y="4087368"/>
            <a:ext cx="365760" cy="4572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46920" y="1024128"/>
            <a:ext cx="384048" cy="384048"/>
          </a:xfrm>
          <a:prstGeom prst="ellipse">
            <a:avLst/>
          </a:prstGeom>
          <a:solidFill>
            <a:srgbClr val="FF4757"/>
          </a:solidFill>
          <a:ln w="12700">
            <a:solidFill>
              <a:srgbClr val="B0253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HARTA ȘEDINȚEI ȘI EVALUAREA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povești, o pauză, trei întrebări la final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633472" cy="822960"/>
          </a:xfrm>
          <a:prstGeom prst="rect">
            <a:avLst/>
          </a:prstGeom>
          <a:solidFill>
            <a:srgbClr val="FF4757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 din sertar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27832" y="1783080"/>
            <a:ext cx="2194560" cy="822960"/>
          </a:xfrm>
          <a:prstGeom prst="rect">
            <a:avLst/>
          </a:prstGeom>
          <a:solidFill>
            <a:srgbClr val="9B7EF7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73552" y="17830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Știu, pot, am unde, vreau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22392" y="1783080"/>
            <a:ext cx="877824" cy="822960"/>
          </a:xfrm>
          <a:prstGeom prst="rect">
            <a:avLst/>
          </a:prstGeom>
          <a:solidFill>
            <a:srgbClr val="ECEAE4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8112" y="1783080"/>
            <a:ext cx="78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Pauză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0216" y="1783080"/>
            <a:ext cx="2633472" cy="822960"/>
          </a:xfrm>
          <a:prstGeom prst="rect">
            <a:avLst/>
          </a:prstGeom>
          <a:solidFill>
            <a:srgbClr val="FFC24B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1783080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o pacientă la un cartier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933688" y="1783080"/>
            <a:ext cx="1316736" cy="822960"/>
          </a:xfrm>
          <a:prstGeom prst="rect">
            <a:avLst/>
          </a:prstGeom>
          <a:solidFill>
            <a:srgbClr val="27D3BE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79408" y="1783080"/>
            <a:ext cx="12252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și UE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50424" y="1783080"/>
            <a:ext cx="877824" cy="822960"/>
          </a:xfrm>
          <a:prstGeom prst="rect">
            <a:avLst/>
          </a:prstGeom>
          <a:solidFill>
            <a:srgbClr val="FF8A3D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96144" y="1783080"/>
            <a:ext cx="786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Kahoot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1128248" y="1783080"/>
            <a:ext cx="438912" cy="822960"/>
          </a:xfrm>
          <a:prstGeom prst="rect">
            <a:avLst/>
          </a:prstGeom>
          <a:solidFill>
            <a:srgbClr val="585A64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834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termeni noi: educația pentru sănătate · capacitate, oportunitate, motivație · abordarea populațională.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Jumătate din timp lucrați voi: vot pe telefon, discuții cu colegul de bancă, un joc de rol, tabere, Kahoot.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069080"/>
            <a:ext cx="10972800" cy="1783080"/>
          </a:xfrm>
          <a:prstGeom prst="roundRect">
            <a:avLst>
              <a:gd name="adj" fmla="val 4615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2062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sunteți evaluați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8680" y="4645152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Cursul: examen tip grilă, 60% din nota finală. Lucrările practice: examen tip grilă, 30%, și prezentarea unui plan de educație pentru sănătate, 10%.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Votul, discuțiile, jocul de rol, Kahoot-ul și întrebările de la final nu se notează. Suportul de curs: notele de pe site.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POVESTEA ÎNTÂI · FIȘA DIN SERTAR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 rot="-120000">
            <a:off x="822960" y="1097280"/>
            <a:ext cx="4206240" cy="475488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27000" dist="63500" dir="36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 rot="-120000">
            <a:off x="10972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EXERCIȚII PENTRU ACASĂ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rot="-120000">
            <a:off x="1097280" y="1755648"/>
            <a:ext cx="3657600" cy="18288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1143000" y="196596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05740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-120000">
            <a:off x="2011680" y="207568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-120000">
            <a:off x="2011680" y="226771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20000">
            <a:off x="1143000" y="260604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69748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120000">
            <a:off x="2011680" y="271576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120000">
            <a:off x="2011680" y="290779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-120000">
            <a:off x="1143000" y="324612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33756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-120000">
            <a:off x="2011680" y="335584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2011680" y="354787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-120000">
            <a:off x="1143000" y="388620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397764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-120000">
            <a:off x="2011680" y="399592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-120000">
            <a:off x="2011680" y="418795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120000">
            <a:off x="1143000" y="452628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1600" y="461772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-120000">
            <a:off x="2011680" y="463600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120000">
            <a:off x="2011680" y="482803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-120000">
            <a:off x="1143000" y="5166360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6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5257800"/>
            <a:ext cx="201168" cy="201168"/>
          </a:xfrm>
          <a:prstGeom prst="ellipse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-120000">
            <a:off x="2011680" y="5276088"/>
            <a:ext cx="23774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120000">
            <a:off x="2011680" y="5468112"/>
            <a:ext cx="1463040" cy="54864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100584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Elena, șaptezeci și patru de ani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5669280" y="2377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Artroză de genunchi. O serie de ședințe de recuperare la o bază de tratament.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5669280" y="32461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plecare primește o foaie cu șase exerciții pentru acasă, fiecare cu un desen mic și cu numărul de repetări.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5669280" y="43891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Kinetoterapeutul îi explică repede, între doi pacienți, și îi urează succes.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 didactic; persoana este fictivă.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SĂPTĂMÂNI MAI TÂRZIU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Genunchiul o doare din nou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control, urcatul scărilor la etajul întâi a redevenit greu. Foaia a stat câteva zile pe frigider, apoi a ajuns într-un sertar.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88720" y="26060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Elena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2971800"/>
            <a:ext cx="10058400" cy="2331720"/>
          </a:xfrm>
          <a:prstGeom prst="roundRect">
            <a:avLst>
              <a:gd name="adj" fmla="val 7059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417320" y="5285232"/>
            <a:ext cx="457200" cy="292608"/>
          </a:xfrm>
          <a:prstGeom prst="triangle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71800"/>
            <a:ext cx="9326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„Nu mai știam dacă trebuie să mă doară sau nu. Și oricum n-aveam unde să mă întind, camera e mică. Și, sincer, mi-era frică să nu-mi fac rău.”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 didactic; persoana este fictivă.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VOTAȚI ANONIM, PE TELEFON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a ajuns foaia în sertar?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9339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828800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 înțeles exercițiile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724912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8950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724912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are spațiu și nici un moment fix în zi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621024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8561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85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621024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are încredere și îi este teamă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517136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681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4517136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îi pasă de genunchiul ei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549640" y="182880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182880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55321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Puteți alege mai multe variante.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COLEGUL DE BANCĂ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MINUTE, ÎN PERECHI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2801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trebuia să se întâmple la plecare?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94360" y="29260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Gândiți-vă la ultima zi a doamnei Elena la bază. Ce ar fi trebuit să facă, să spună și să verifice kinetoterapeutul, ca foaia să nu ajungă în sertar?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4572000"/>
            <a:ext cx="1280160" cy="36576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RĂSPUNS PROVIZORIU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s-a dat o informație. Nu i s-a predat un obicei.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nu poate da o foaie, singură: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2148840"/>
            <a:ext cx="82296" cy="173736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 fie înțeleasă și exersată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știa cât de tare are voie să o doară.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2148840"/>
            <a:ext cx="82296" cy="173736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loc și un moment în viața ei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17720" y="3063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avea unde să se întindă.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2148840"/>
            <a:ext cx="3566160" cy="1737360"/>
          </a:xfrm>
          <a:prstGeom prst="roundRect">
            <a:avLst>
              <a:gd name="adj" fmla="val 473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2148840"/>
            <a:ext cx="82296" cy="173736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22860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 fie dorită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66760" y="3063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Îi era teamă să nu-și facă rău.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" y="4160520"/>
            <a:ext cx="10972800" cy="1691640"/>
          </a:xfrm>
          <a:prstGeom prst="roundRect">
            <a:avLst>
              <a:gd name="adj" fmla="val 4865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27939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o cer OMS și Uniunea Europeană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466344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Populația îmbătrânește și tot mai mulți oameni trăiesc cu boli de lungă durată; de aceea OMS tratează recuperarea ca prioritate. O mare parte a sănătății se joacă acasă, nu în cabinet.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29184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918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NOU 1 DIN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pentru sănătate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94360" y="18745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 ce faceți, cu un plan, ca omul să învețe ceva bun pentru sănătatea lui și să poată aplica singur ce a învățat.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94360" y="3611880"/>
            <a:ext cx="10972800" cy="2057400"/>
          </a:xfrm>
          <a:prstGeom prst="roundRect">
            <a:avLst>
              <a:gd name="adj" fmla="val 40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7490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formularea OMS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6052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Orice combinație de experiențe de învățare menite să ajute indivizii și comunitățile să își îmbunătățească sănătatea, prin creșterea cunoștințelor, influențarea motivației și îmbunătățirea capacității de a găsi, de a înțelege și de a folosi informația despre sănătate.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Glosarul OMS de promovare a sănătății, 2021.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SPUNE, DE FAPT, DEFINIȚIA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cuvinte care contează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2606040"/>
          </a:xfrm>
          <a:prstGeom prst="roundRect">
            <a:avLst>
              <a:gd name="adj" fmla="val 315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91640"/>
            <a:ext cx="3566160" cy="73152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Experiențe de învățare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50392" y="2788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un discurs și nici o foaie, ci ceva ce persoana trăiește, încearcă și repetă.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2606040"/>
          </a:xfrm>
          <a:prstGeom prst="roundRect">
            <a:avLst>
              <a:gd name="adj" fmla="val 315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691640"/>
            <a:ext cx="3566160" cy="73152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Motivația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99432" y="2788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nu se oprește la ce știe omul: se ocupă și de ce vrea și de ce îl oprește.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92440" y="1691640"/>
            <a:ext cx="3566160" cy="2606040"/>
          </a:xfrm>
          <a:prstGeom prst="roundRect">
            <a:avLst>
              <a:gd name="adj" fmla="val 3158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691640"/>
            <a:ext cx="3566160" cy="73152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găsi, a înțelege, a folosi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48472" y="278892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Puterea de a găsi, de a înțelege și de a folosi informația despre sănătate.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57200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pentru sănătate este planificată. Un sfat dat în treacăt, pe hol, nu este încă educație pentru sănătate.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DOAMNA ELENA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Informarea și educația, una lângă alta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4206240" cy="4114800"/>
          </a:xfrm>
          <a:prstGeom prst="roundRect">
            <a:avLst>
              <a:gd name="adj" fmla="val 20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Informarea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Foaia cu exerciții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Câteva fraze spuse repede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74920" y="1691640"/>
            <a:ext cx="6492240" cy="4114800"/>
          </a:xfrm>
          <a:prstGeom prst="roundRect">
            <a:avLst>
              <a:gd name="adj" fmla="val 2000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74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349240" y="2468880"/>
            <a:ext cx="59893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singur mesaj principal: „exercițiile vă ajută genunchiul, chiar dacă la început simțiți o ușoară încordare”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Demonstrația fiecărui exercițiu, apoi exersarea lui de către doamna Elena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discuție despre unde și când le va face acasă</a:t>
            </a:r>
            <a:endParaRPr lang="en-US" sz="16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Verificarea: „Arătați-mi, vă rog, primul exercițiu și spuneți-mi când îl faceți mâine.”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29184"/>
            <a:ext cx="4023360" cy="329184"/>
          </a:xfrm>
          <a:prstGeom prst="roundRect">
            <a:avLst>
              <a:gd name="adj" fmla="val 50000"/>
            </a:avLst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918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04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RADIOLOGIE ȘI IMAGISTICĂ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Pacientul programat la rezonanța magnetică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4754880" cy="3291840"/>
          </a:xfrm>
          <a:prstGeom prst="roundRect">
            <a:avLst>
              <a:gd name="adj" fmla="val 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0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Foaia cu instrucțiuni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obiecte nu are voie să poarte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Dacă trebuie să vină nemâncat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 timp va sta nemișcat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23560" y="1783080"/>
            <a:ext cx="5943600" cy="3291840"/>
          </a:xfrm>
          <a:prstGeom prst="roundRect">
            <a:avLst>
              <a:gd name="adj" fmla="val 25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97880" y="1920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B7EF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97880" y="2468880"/>
            <a:ext cx="5486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va auzi și ce va simți în aparat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contează să stea nemișcat și să își țină respirația la comandă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Verificarea: „Spuneți-mi, vă rog, ce faceți când vă cer să nu mai respirați.”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4360" y="5303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pacient care a înțeles colaborează mai bine, iar o examinare repetată din cauza mișcării se poate evita.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EXPRESII, NU UNA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Traseul din parc și lecția despre traseu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4572000" cy="4206240"/>
          </a:xfrm>
          <a:prstGeom prst="ellipse">
            <a:avLst/>
          </a:prstGeom>
          <a:solidFill>
            <a:srgbClr val="ECEAE4"/>
          </a:solidFill>
          <a:ln w="25400">
            <a:solidFill>
              <a:srgbClr val="4A2D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legile · mediul · serviciile · comunitatea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00200" y="2971800"/>
            <a:ext cx="2743200" cy="2377440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297180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pentru sănătate: învățarea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60720" y="1783080"/>
            <a:ext cx="5806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Ottawa, 1986: promovarea sănătății este procesul prin care oamenii devin capabili să dobândească un control mai mare asupra sănătății lor și să și-o îmbunătățească.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760720" y="3520440"/>
            <a:ext cx="5806440" cy="1051560"/>
          </a:xfrm>
          <a:prstGeom prst="roundRect">
            <a:avLst>
              <a:gd name="adj" fmla="val 7826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352044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Traseul marcat pentru mers în parc: promovarea sănătății.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760720" y="4709160"/>
            <a:ext cx="5806440" cy="1143000"/>
          </a:xfrm>
          <a:prstGeom prst="roundRect">
            <a:avLst>
              <a:gd name="adj" fmla="val 7200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470916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Lecția de zece minute despre cum mergeți pe traseu fără să vă suprasolicitați genunchii: educație pentru sănătate.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 PENTRU SALĂ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ARE NEVOIE PROFESIA VOASTRĂ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91440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31%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594360" y="27432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dintre adulții lumii, adică 1,8 miliarde de oameni, nu ating recomandarea de cel puțin 150 de minute de activitate fizică moderată pe săptămână (OMS, estimarea pentru 2022).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35040" y="1051560"/>
            <a:ext cx="5532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Activitatea fizică ajută la prevenirea și tratamentul bolilor cardiovasculare, al cancerului și al diabetului și reduce simptomele depresiei și ale anxietății.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035040" y="2560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vostru, în patru verbe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35040" y="301752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0" y="30175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Explicați simplu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823960" y="3017520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23960" y="30175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Arătați corect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3584448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35844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Adaptați la persoană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23960" y="3584448"/>
            <a:ext cx="2651760" cy="329184"/>
          </a:xfrm>
          <a:prstGeom prst="roundRect">
            <a:avLst>
              <a:gd name="adj" fmla="val 50000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23960" y="358444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Măsurați progresul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4343400"/>
            <a:ext cx="5532120" cy="1463040"/>
          </a:xfrm>
          <a:prstGeom prst="roundRect">
            <a:avLst>
              <a:gd name="adj" fmla="val 5625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434340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Radiologie: femeia invitată la o mamografie de screening află la ce folosește examinarea; radioprotecția explică de ce se folosește un șorț de protecție.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DIN SALA DE RECUPERARE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Șase principii pentru ședința doamnei Elena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65960"/>
            <a:ext cx="566928" cy="566928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Claritate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singură idee principală: „creștem treptat”.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965960"/>
            <a:ext cx="566928" cy="566928"/>
          </a:xfrm>
          <a:prstGeom prst="ellipse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035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Concret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17720" y="26517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 și cum: câte repetări, câte minute de mers.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092440" y="173736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965960"/>
            <a:ext cx="566928" cy="566928"/>
          </a:xfrm>
          <a:prstGeom prst="ellipse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05256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Practică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65176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Demonstrați, faceți împreună, corectați cu blândețe.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94360" y="374904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46634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„Arătați-mi două repetări și spuneți-mi câte faceți mâine.”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4343400" y="374904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977640"/>
            <a:ext cx="566928" cy="566928"/>
          </a:xfrm>
          <a:prstGeom prst="ellipse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035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Siguranță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17720" y="46634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ritm în care puteți vorbi; vă opriți la o durere ascuțită.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092440" y="3749040"/>
            <a:ext cx="3566160" cy="1828800"/>
          </a:xfrm>
          <a:prstGeom prst="roundRect">
            <a:avLst>
              <a:gd name="adj" fmla="val 4500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3977640"/>
            <a:ext cx="566928" cy="566928"/>
          </a:xfrm>
          <a:prstGeom prst="ellipse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2104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05256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Respect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366760" y="466344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Lăudați efortul, nu perfecțiunea.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59436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sunt un mod de lucru al materialelor disciplinei, nu reguli dintr-un ghid oficial.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PERECHI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LIMBA DOAMNEI ELENA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Rescrieți instrucțiunea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 rot="-60000">
            <a:off x="822960" y="1783080"/>
            <a:ext cx="10515600" cy="192024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01600" dist="50800" dir="36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 rot="-60000">
            <a:off x="1188720" y="1783080"/>
            <a:ext cx="9784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„Efectuați flexii-extensii ale genunchiului în decubit dorsal, câte zece repetări, de două ori pe zi, cu progresie graduală.”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94360" y="4160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perechi, două minute: scrieți aceeași instrucțiune în cuvinte obișnuite, pentru doamna Elena. Câteva perechi își citesc varianta, iar sala votează varianta cea mai clară.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VARIANTĂ POSIBILĂ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instrucțiune, în cuvinte obișnuite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2011680"/>
          </a:xfrm>
          <a:prstGeom prst="roundRect">
            <a:avLst>
              <a:gd name="adj" fmla="val 8182"/>
            </a:avLst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34440" y="3776472"/>
            <a:ext cx="457200" cy="292608"/>
          </a:xfrm>
          <a:prstGeom prst="triangle">
            <a:avLst/>
          </a:prstGeom>
          <a:solidFill>
            <a:srgbClr val="07564B"/>
          </a:solidFill>
          <a:ln w="12700">
            <a:solidFill>
              <a:srgbClr val="0756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783080"/>
            <a:ext cx="9784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„Întinsă pe spate, îndoiți încet genunchiul, apoi îl întindeți la loc. Faceți asta de zece ori, dimineața și seara. În fiecare săptămână mai adăugați puțin.”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94360" y="4343400"/>
            <a:ext cx="3566160" cy="1463040"/>
          </a:xfrm>
          <a:prstGeom prst="roundRect">
            <a:avLst>
              <a:gd name="adj" fmla="val 562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80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Cuvinte obișnuite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937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„întinsă pe spate”, nu „decubit dorsal”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43400" y="4343400"/>
            <a:ext cx="3566160" cy="1463040"/>
          </a:xfrm>
          <a:prstGeom prst="roundRect">
            <a:avLst>
              <a:gd name="adj" fmla="val 562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4480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Propoziții scurte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4937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idee în fiecare propoziție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4343400"/>
            <a:ext cx="3566160" cy="1463040"/>
          </a:xfrm>
          <a:prstGeom prst="roundRect">
            <a:avLst>
              <a:gd name="adj" fmla="val 562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4480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 și când, concret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66760" y="49377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câte ori, în ce moment al zilei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TEHNICA DE BAZĂ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Demonstrația, în cinci timpi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377440"/>
            <a:ext cx="10972800" cy="36576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21408"/>
            <a:ext cx="548640" cy="548640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Arătați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94360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Faceți exercițiul în fața ei, încet.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2807208" y="2121408"/>
            <a:ext cx="548640" cy="548640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0" name="Text 8"/>
          <p:cNvSpPr/>
          <p:nvPr/>
        </p:nvSpPr>
        <p:spPr>
          <a:xfrm>
            <a:off x="2807208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807208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Explicați pe scurt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07208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frază, nu o prelegere.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020056" y="2121408"/>
            <a:ext cx="548640" cy="548640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4" name="Text 12"/>
          <p:cNvSpPr/>
          <p:nvPr/>
        </p:nvSpPr>
        <p:spPr>
          <a:xfrm>
            <a:off x="5020056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020056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Faceți împreună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5020056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 lângă voi, în același ritm.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232904" y="2121408"/>
            <a:ext cx="548640" cy="548640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8" name="Text 16"/>
          <p:cNvSpPr/>
          <p:nvPr/>
        </p:nvSpPr>
        <p:spPr>
          <a:xfrm>
            <a:off x="7232904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32904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Corectați cu blândețe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232904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singur lucru odată.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9445752" y="2121408"/>
            <a:ext cx="548640" cy="548640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22" name="Text 20"/>
          <p:cNvSpPr/>
          <p:nvPr/>
        </p:nvSpPr>
        <p:spPr>
          <a:xfrm>
            <a:off x="9445752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45752" y="28346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Repetați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445752" y="3566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Încă două repetări, împreună.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594360" y="47548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fiecare dată, două variante: una ușoară, cu sprijin, și una medie, fără sprijin.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materialele disciplinei, demonstrația este tehnica de bază în balneofiziokinetoterapie.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ALTE TREI UNELTE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Povestea, întrebarea, cuvântul simplu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91640"/>
            <a:ext cx="3566160" cy="73152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Povestirea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50392" y="2788920"/>
            <a:ext cx="3108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„O pacientă de vârsta dumneavoastră a reușit, după o lună, să urce fără oprire până la etajul ei.”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691640"/>
            <a:ext cx="3566160" cy="73152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Întrebările deschise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99432" y="2788920"/>
            <a:ext cx="3108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„Cum ați face acasă?” · „Ce pas mic începeți mâine?” · „Ce v-ar putea opri și cum ocoliți piedica?”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92440" y="1691640"/>
            <a:ext cx="3566160" cy="3291840"/>
          </a:xfrm>
          <a:prstGeom prst="roundRect">
            <a:avLst>
              <a:gd name="adj" fmla="val 250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691640"/>
            <a:ext cx="3566160" cy="7315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19659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Limbajul simplu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48472" y="2788920"/>
            <a:ext cx="31089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Propoziții scurte, cuvinte obișnuite: „să puteți urca un etaj fără să vă opriți”. Termenii de specialitate rămân pentru fișa medicală.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9436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Întrebările deschise scot la iveală piedicile pe care pacientul nu le spune singur.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ÎNAINTE DE PLECARE ȘI DUPĂ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Verificați, apoi amintiți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737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prin reformulare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" y="2194560"/>
            <a:ext cx="6400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întrebați „Ați înțeles?”. Cereți-i persoanei să spună cu cuvintele ei ce va face și să arate două repetări. Dacă apare o greșeală, corectați blând și mai faceți împreună două repetări.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3931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Mementoul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43891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mesaj la telefon, un afiș sau, pentru vârstnicii fără telefon mobil, un bilet în cutia poștală. Se trimite cu o zi înainte; după ședință, un mesaj scurt de încurajare.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818120" y="914400"/>
            <a:ext cx="3291840" cy="5394960"/>
          </a:xfrm>
          <a:prstGeom prst="roundRect">
            <a:avLst>
              <a:gd name="adj" fmla="val 9722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1234440"/>
            <a:ext cx="2926080" cy="4754880"/>
          </a:xfrm>
          <a:prstGeom prst="roundRect">
            <a:avLst>
              <a:gd name="adj" fmla="val 3750"/>
            </a:avLst>
          </a:prstGeom>
          <a:solidFill>
            <a:srgbClr val="F1F2F5"/>
          </a:solidFill>
          <a:ln w="12700">
            <a:solidFill>
              <a:srgbClr val="F1F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Mesaje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3880" y="1920240"/>
            <a:ext cx="2606040" cy="2377440"/>
          </a:xfrm>
          <a:prstGeom prst="roundRect">
            <a:avLst>
              <a:gd name="adj" fmla="val 6923"/>
            </a:avLst>
          </a:prstGeom>
          <a:solidFill>
            <a:srgbClr val="DDF3EF"/>
          </a:solidFill>
          <a:ln w="12700">
            <a:solidFill>
              <a:srgbClr val="DDF3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595360" y="4279392"/>
            <a:ext cx="457200" cy="292608"/>
          </a:xfrm>
          <a:prstGeom prst="triangle">
            <a:avLst/>
          </a:prstGeom>
          <a:solidFill>
            <a:srgbClr val="DDF3EF"/>
          </a:solidFill>
          <a:ln w="12700">
            <a:solidFill>
              <a:srgbClr val="DDF3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92024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Joi, la ora zece, sala școlii. Tema: pauzele de la statul pe scaun. Ținta: un sfert de oră de mers.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01000" y="5394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de memento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29184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918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NOU 2 DIN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Știu și pot. Am unde și când. Vreau.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566160" cy="3108960"/>
          </a:xfrm>
          <a:prstGeom prst="roundRect">
            <a:avLst>
              <a:gd name="adj" fmla="val 264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28800"/>
            <a:ext cx="3566160" cy="73152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Capacitatea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50392" y="292608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„Știu și pot să fac.” Instrucțiuni simple, demonstrație, o foaie de o pagină, două variante ale fiecărui exercițiu.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66160" cy="3108960"/>
          </a:xfrm>
          <a:prstGeom prst="roundRect">
            <a:avLst>
              <a:gd name="adj" fmla="val 264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43400" y="1828800"/>
            <a:ext cx="3566160" cy="73152"/>
          </a:xfrm>
          <a:prstGeom prst="rect">
            <a:avLst/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Oportunitatea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9432" y="292608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„Am unde și când să fac.” Sală sau parc, orar fix, traseu marcat, bănci, un memento la telefon.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092440" y="1828800"/>
            <a:ext cx="3566160" cy="3108960"/>
          </a:xfrm>
          <a:prstGeom prst="roundRect">
            <a:avLst>
              <a:gd name="adj" fmla="val 2647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828800"/>
            <a:ext cx="3566160" cy="7315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48472" y="2103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Motivația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48472" y="292608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„Vreau să fac.” Ținte mici, laudă pentru efort, perechi de sprijin, un panou cu progresul grupului.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9436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 un comportament nu apare, căutați întâi condiția care lipsește și interveniți exact acolo.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4360" y="6382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Capacitate, oportunitate, motivație: modelul COM-B, propus de Susan Michie și colaboratorii ei în 2011.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MINUT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condiție îi lipsea doamnei Elena?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4767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47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783080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Capacitatea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679192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4378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843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679192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Oportunitatea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575304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398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39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575304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Motivația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471416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6360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4471416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Toate trei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549640" y="178308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17830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5440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„Nu mai știam dacă trebuie să mă doară” · „n-aveam unde să mă întind” · „mi-era frică să nu-mi fac rău”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DIAGNOSTICUL CAZULUI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Lipseau toate trei. Fiecare cere altă măsură.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10972800" cy="1078992"/>
          </a:xfrm>
          <a:prstGeom prst="roundRect">
            <a:avLst>
              <a:gd name="adj" fmla="val 76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39112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39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Capacitatea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26771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știa cât de tare are voie să o doară.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343400" y="1737360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Exersarea fiecărui exercițiu în sală: o încordare ușoară este normală, o durere ascuțită nu.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94360" y="2944368"/>
            <a:ext cx="10972800" cy="1078992"/>
          </a:xfrm>
          <a:prstGeom prst="roundRect">
            <a:avLst>
              <a:gd name="adj" fmla="val 7627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46120"/>
            <a:ext cx="475488" cy="475488"/>
          </a:xfrm>
          <a:prstGeom prst="ellipse">
            <a:avLst/>
          </a:prstGeom>
          <a:solidFill>
            <a:srgbClr val="4A2D8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46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30358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Oportunitatea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08760" y="34747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avea loc să se întindă.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343400" y="2944368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exerciții pe scaun sau lângă un blat, legate de un moment fix: după cafeaua de dimineață.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594360" y="4151376"/>
            <a:ext cx="10972800" cy="1078992"/>
          </a:xfrm>
          <a:prstGeom prst="roundRect">
            <a:avLst>
              <a:gd name="adj" fmla="val 7627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453128"/>
            <a:ext cx="475488" cy="475488"/>
          </a:xfrm>
          <a:prstGeom prst="ellipse">
            <a:avLst/>
          </a:prstGeom>
          <a:solidFill>
            <a:srgbClr val="B0253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453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08760" y="42428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Motivația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8760" y="46817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Îi era teamă.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343400" y="4151376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țintă mică pentru prima săptămână și un telefon scurt la mijlocul ei.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9436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tratați „lipsa de voință” acolo unde lipsește, de fapt, spațiul.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JOC DE ROL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DOI VOLUNTARI, TREI MINUTE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Ridicarea de pe scaun, la ultima ședință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Kinetoterapeutul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Predă un singur exercițiu, ridicarea de pe scaun, și verifică la final că doamna Elena știe ce face acasă.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Elena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46520" y="246888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Este la ultima ședință de la bază și răspunde cum ar răspunde ea.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94360" y="43891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3891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Regula: fără întrebarea „Ați înțeles?”.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4360" y="5486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Radiologie: tehnicianul și pacientul, înainte de examinare.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VĂZUT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fost făcută verificarea?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4767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47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783080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Da: a arătat exercițiul și a spus când îl face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679192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84378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843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679192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a arătat exercițiul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575304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7398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39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575304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a spus ce va face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471416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6360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4471416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549640" y="178308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17830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5440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Apoi: ce ați fi făcut altfel?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BUNĂ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părți: persoana arată și persoana spune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37360"/>
            <a:ext cx="5394960" cy="73152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practică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arată exercițiul, iar voi urmăriți câteva repere de tehnică: picioarele la lățimea umerilor, fără împingere în mâini, coborâre controlată.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1737360"/>
            <a:ext cx="5394960" cy="73152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965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de plan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4652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spune cu cuvintele ei când, unde și de câte ori îl va face acasă.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94360" y="429768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9768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„Ați înțeles?” primește adesea răspunsul „da”, din politețe sau din jenă. Nici repetarea explicației, nici semnătura pe o foaie nu arată dacă persoana știe ce va face acasă.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PLANIFICAREA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ședință de grup de 45–60 de minute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098280" y="329184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98280" y="32918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517585" cy="868680"/>
          </a:xfrm>
          <a:prstGeom prst="rect">
            <a:avLst/>
          </a:prstGeom>
          <a:solidFill>
            <a:srgbClr val="585A64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1945" y="1874520"/>
            <a:ext cx="1345721" cy="868680"/>
          </a:xfrm>
          <a:prstGeom prst="rect">
            <a:avLst/>
          </a:prstGeom>
          <a:solidFill>
            <a:srgbClr val="0E7C6B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1945" y="1874520"/>
            <a:ext cx="134572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5–8 min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457666" y="1874520"/>
            <a:ext cx="5693434" cy="868680"/>
          </a:xfrm>
          <a:prstGeom prst="rect">
            <a:avLst/>
          </a:prstGeom>
          <a:solidFill>
            <a:srgbClr val="B02532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57666" y="1874520"/>
            <a:ext cx="569343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25–30 min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51100" y="1874520"/>
            <a:ext cx="1035170" cy="868680"/>
          </a:xfrm>
          <a:prstGeom prst="rect">
            <a:avLst/>
          </a:prstGeom>
          <a:solidFill>
            <a:srgbClr val="4A2D8C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86269" y="1874520"/>
            <a:ext cx="2070340" cy="868680"/>
          </a:xfrm>
          <a:prstGeom prst="rect">
            <a:avLst/>
          </a:prstGeom>
          <a:solidFill>
            <a:srgbClr val="8A6100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86269" y="1874520"/>
            <a:ext cx="20703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min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1256609" y="1874520"/>
            <a:ext cx="310551" cy="868680"/>
          </a:xfrm>
          <a:prstGeom prst="rect">
            <a:avLst/>
          </a:prstGeom>
          <a:solidFill>
            <a:srgbClr val="11121A"/>
          </a:solidFill>
          <a:ln w="19050">
            <a:solidFill>
              <a:srgbClr val="F6F5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1752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scurtă (2–3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simptome noi, medicamente schimbate, „pot vorbi în propoziții”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72200" y="3017520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Încălzirea (5–8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 pe loc, mobilizarea articulațiilor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" y="373075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Exercițiile (25–30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forța picioarelor, echilibrul, mersul alert, cu variantă ușoară și medie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373075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Revenirea (5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 lent, întinderi blânde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4443984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Mini-lecția (10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idee, trei pași concreți, verificarea prin reformulare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72200" y="4443984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Tema pentru acasă (1–2 min): </a:t>
            </a:r>
            <a:pPr indent="0" marL="0">
              <a:buNone/>
            </a:pPr>
            <a:r>
              <a:rPr lang="en-US" sz="15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foaie de o pagină și o țintă mică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4360" y="52578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Dozarea: creșteți cu 1–2 repetări sau cu 2–3 minute de mers pe săptămână; la o durere ascuțită sau la amețeală, treceți imediat la varianta ușoară.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un exemplu de organizare propus în materialele disciplinei, nu valori dintr-un ghid.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COLEGUL DE BANCĂ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SIGURANȚA ȘI ETICA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„Mă doare.” Ce o întrebați și când opriți?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Doamna Elena spune, la exercițiu, că o doare. Două minute cu colegul de bancă.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251460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514600"/>
            <a:ext cx="2651760" cy="73152"/>
          </a:xfrm>
          <a:prstGeom prst="rect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Consimțământul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33832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faceți, cât durează, ce riscuri mici există; persoana se poate opri oricând.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83280" y="251460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2514600"/>
            <a:ext cx="2651760" cy="73152"/>
          </a:xfrm>
          <a:prstGeom prst="rect">
            <a:avLst/>
          </a:prstGeom>
          <a:solidFill>
            <a:srgbClr val="9B7EF7"/>
          </a:solidFill>
          <a:ln w="12700">
            <a:solidFill>
              <a:srgbClr val="9B7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4448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B7EF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Datele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84448" y="33832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ce e necesar; rezultatele se raportează fără nume.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251460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2514600"/>
            <a:ext cx="2651760" cy="73152"/>
          </a:xfrm>
          <a:prstGeom prst="rect">
            <a:avLst/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Semnele de oprire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73368" y="33832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Durere în piept, lipsă severă de aer, amețeală puternică, durere ascuțită care nu cedează.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251460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0" y="2514600"/>
            <a:ext cx="2651760" cy="73152"/>
          </a:xfrm>
          <a:prstGeom prst="rect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62288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Trimiterea la medic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62288" y="33832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orice semn de alarmă, persoana este îndrumată către medic.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4A8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Semnele de oprire sunt o regulă de siguranță a materialelor disciplinei, nu un ghid clinic.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7D3B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ÎNSEMNĂ PENTRU VOI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prima voastră practică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dați niciodată o foaie cu exerciții fără să fi văzut persoana făcând exercițiile și fără să o fi auzit spunând când le va face.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94360" y="3474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Iar când un pacient „nu vrea”, întrebați-vă întâi dacă știe și dacă are unde.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4663440"/>
            <a:ext cx="10972800" cy="18288"/>
          </a:xfrm>
          <a:prstGeom prst="rect">
            <a:avLst/>
          </a:prstGeom>
          <a:solidFill>
            <a:srgbClr val="073B34"/>
          </a:solidFill>
          <a:ln w="12700">
            <a:solidFill>
              <a:srgbClr val="073B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4846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sala de radiologie: înainte de examinare, cereți-i pacientului să vă spună cu cuvintele lui ce urmează și ce are de făcut.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8288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Pauză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59436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Reluăm cu povestea a treia: de la o pacientă la un cartier întreg.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UN CUVÂNT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POVESTEA A TREIA · DE LA O PACIENTĂ LA UN CARTIER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680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cuvânt: ce o oprește pe o persoană de șaptezeci de ani din cartierul vostru să facă mișcare?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549640" y="146304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49640" y="14630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4754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Răspunsurile apar pe ecran ca nor de cuvinte.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ROMÂNIA, ÎN CIFRE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85,5%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594360" y="237744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dintre adulții din România, de 18 ani și peste, declarau zero minute pe săptămână de activitate fizică aerobă în afara muncii. În Uniunea Europeană: 48,4%.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35040" y="868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minute pe săptămână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035040" y="13075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23760" y="1362456"/>
            <a:ext cx="3518154" cy="438912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1642" y="130759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85,5%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0" y="194767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2002536"/>
            <a:ext cx="1991563" cy="438912"/>
          </a:xfrm>
          <a:prstGeom prst="rect">
            <a:avLst/>
          </a:prstGeom>
          <a:solidFill>
            <a:srgbClr val="585A64"/>
          </a:solidFill>
          <a:ln w="12700">
            <a:solidFill>
              <a:srgbClr val="585A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5051" y="1947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48,4%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150 de minute sau mai mult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318211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223760" y="3236976"/>
            <a:ext cx="292151" cy="438912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5639" y="3182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7,1%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38221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223760" y="3877056"/>
            <a:ext cx="1304392" cy="438912"/>
          </a:xfrm>
          <a:prstGeom prst="rect">
            <a:avLst/>
          </a:prstGeom>
          <a:solidFill>
            <a:srgbClr val="585A64"/>
          </a:solidFill>
          <a:ln w="12700">
            <a:solidFill>
              <a:srgbClr val="585A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37880" y="382219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31,7%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466344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66344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 asemenea cifre, a lucra numai cu pacientul din fața voastră înseamnă a ajunge la foarte puțini dintre cei care ar avea nevoie.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Ancheta europeană de sănătate, 2019 (Eurostat). Activitatea fizică aerobă benefică pentru sănătate, în afara muncii, adulți de 18 ani și peste.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329184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9184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TERMENUL NOU 3 DIN 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MÂNA RIDICATĂ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Abordarea populațională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program pentru un grup întreg, nu pentru un singur pacient.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94360" y="2468880"/>
            <a:ext cx="237744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08760" y="2971800"/>
            <a:ext cx="548640" cy="548640"/>
          </a:xfrm>
          <a:prstGeom prst="ellipse">
            <a:avLst/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840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persoană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3337560"/>
            <a:ext cx="548640" cy="329184"/>
          </a:xfrm>
          <a:prstGeom prst="rightArrow">
            <a:avLst/>
          </a:prstGeom>
          <a:solidFill>
            <a:srgbClr val="959BB0"/>
          </a:solidFill>
          <a:ln w="12700">
            <a:solidFill>
              <a:srgbClr val="959B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2468880"/>
            <a:ext cx="411480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500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651760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908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8056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9204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15000" y="2980944"/>
            <a:ext cx="219456" cy="219456"/>
          </a:xfrm>
          <a:prstGeom prst="ellipse">
            <a:avLst/>
          </a:prstGeom>
          <a:solidFill>
            <a:srgbClr val="FFC24B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3796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4944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2980944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908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8056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9204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500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3796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4944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60920" y="3310128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908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8056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9204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352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1500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2648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3796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4944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60920" y="3639312"/>
            <a:ext cx="219456" cy="219456"/>
          </a:xfrm>
          <a:prstGeom prst="ellipse">
            <a:avLst/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94760" y="40233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cartier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183880" y="246888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Câți dintre vecinii doamnei Elena ar avea nevoie de aceeași grupă?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9436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înlocuiește îngrijirea fiecărui pacient: doamna Elena are nevoie în continuare de ședințele ei, dar poate merge și la grupa de mișcare din cartier. Cele două strategii nu sunt, de obicei, în competiție.</a:t>
            </a:r>
            <a:endParaRPr lang="en-US" sz="1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ÎNTREBARE PENTRU SALĂ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PATRU FORME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Unu la unu, grupul, cartierul, afișul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737360"/>
            <a:ext cx="2651760" cy="73152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Individuală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95528" y="24688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Teamă mare de efort, mobilitate limitată, ieșire recentă din spital. Adaptare maximă; ajunge la puțini.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3280" y="1737360"/>
            <a:ext cx="2651760" cy="73152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grup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584448" y="24688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temă: căderile, durerea de spate. Eficiență și motivație între colegi.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172200" y="173736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737360"/>
            <a:ext cx="2651760" cy="73152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73368" y="24688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obicei la mulți: cluburi de mers, sala școlii, trasee marcate. Depinde de parteneri.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961120" y="1737360"/>
            <a:ext cx="2651760" cy="3108960"/>
          </a:xfrm>
          <a:prstGeom prst="roundRect">
            <a:avLst>
              <a:gd name="adj" fmla="val 3103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61120" y="1737360"/>
            <a:ext cx="2651760" cy="73152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62288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Mesaje publice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62288" y="24688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Afișe, bilete în cutia poștală, mesaje la telefon. Ieftine, dar fără învățare practică.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594360" y="502920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combină: începutul unu la unu, exersarea în grup, obiceiul prin comunitate, reamintirea prin mesaje.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ȘI CU CINE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Sala școlii, parcul, căminul cultural, acasă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51760" cy="2194560"/>
          </a:xfrm>
          <a:prstGeom prst="roundRect">
            <a:avLst>
              <a:gd name="adj" fmla="val 37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Sala școlii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9552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parter, cu toaletă și bănci, cu program fix; pentru grupe mici.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651760" cy="2194560"/>
          </a:xfrm>
          <a:prstGeom prst="roundRect">
            <a:avLst>
              <a:gd name="adj" fmla="val 37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84448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Parcul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8444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Alei plate, bănci din loc în loc, iluminat; pentru cluburile de mers.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2651760" cy="2194560"/>
          </a:xfrm>
          <a:prstGeom prst="roundRect">
            <a:avLst>
              <a:gd name="adj" fmla="val 37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Satul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Căminul cultural sau curtea școlii; o echipă mobilă o dată pe săptămână.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61120" y="1737360"/>
            <a:ext cx="2651760" cy="2194560"/>
          </a:xfrm>
          <a:prstGeom prst="roundRect">
            <a:avLst>
              <a:gd name="adj" fmla="val 3750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62288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Acasă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62288" y="237744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 complementar: foi tipărite și un apel telefonic.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4160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Partenerii: primăria, școala, medicul de familie, biserica, organizațiile neguvernamentale. Ele asigură cheile, orarul și promovarea.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Spațiul însuși educă: trotuare luminate, trasee cu bănci, afișe lângă lift care invită la urcatul scărilor.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VOT · COLEGUL DE BANCĂ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PROGRAMELE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Patru programe pe măsura profesiei voastre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91640"/>
            <a:ext cx="82296" cy="146304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Căderile la vârstnici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2219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OMS, 2020: echilibru și forță, intensitate moderată sau mai mare, în 3 sau mai multe zile pe săptămână.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691640"/>
            <a:ext cx="82296" cy="146304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8013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Durerea de spate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22219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Aproximativ 619 milioane de oameni în 2020. Mișcare blândă, crescută treptat; OMS enumeră și ce previne noile episoade.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32918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F9F8F5"/>
          </a:solidFill>
          <a:ln w="12700">
            <a:solidFill>
              <a:srgbClr val="F9F8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291840"/>
            <a:ext cx="82296" cy="146304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01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minte mai liniștită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8680" y="3822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Activitatea fizică reduce simptomele depresiei și ale anxietății.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394960" cy="1463040"/>
          </a:xfrm>
          <a:prstGeom prst="roundRect">
            <a:avLst>
              <a:gd name="adj" fmla="val 5625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291840"/>
            <a:ext cx="82296" cy="1463040"/>
          </a:xfrm>
          <a:prstGeom prst="rect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34015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Locul de muncă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46520" y="3822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Micropauze active, întinderi la birou, scările în locul liftului.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94360" y="498348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program ar ajuta cel mai mult în cartierul vostru? Votați, apoi două minute cu colegul de bancă.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TOATĂ SALA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MĂSURAȚI PROGRESUL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Patru teste care încap într-o sală de grup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265176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87452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5528" y="23957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Ridicările de pe scaun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5528" y="2926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Câte ridicări complete în 30 de secunde.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65176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84448" y="187452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13" name="Text 11"/>
          <p:cNvSpPr/>
          <p:nvPr/>
        </p:nvSpPr>
        <p:spPr>
          <a:xfrm>
            <a:off x="358444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84448" y="23957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„Ridică-te și mergi”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84448" y="2926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ridică, merge 3 metri, se întoarce și se așază; cronometrat.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72200" y="1737360"/>
            <a:ext cx="265176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73368" y="187452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3368" y="23957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Mersul de șase minute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373368" y="2926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Distanța parcursă mergând timp de șase minute.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61120" y="1737360"/>
            <a:ext cx="2651760" cy="2103120"/>
          </a:xfrm>
          <a:prstGeom prst="roundRect">
            <a:avLst>
              <a:gd name="adj" fmla="val 3913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62288" y="1874520"/>
            <a:ext cx="420624" cy="420624"/>
          </a:xfrm>
          <a:prstGeom prst="ellipse">
            <a:avLst/>
          </a:prstGeom>
          <a:solidFill>
            <a:srgbClr val="27D3BE"/>
          </a:solidFill>
          <a:ln/>
        </p:spPr>
      </p:sp>
      <p:sp>
        <p:nvSpPr>
          <p:cNvPr id="23" name="Text 21"/>
          <p:cNvSpPr/>
          <p:nvPr/>
        </p:nvSpPr>
        <p:spPr>
          <a:xfrm>
            <a:off x="916228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3B3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62288" y="23957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pe zi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62288" y="2926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8E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a șapte zile, cu telefonul sau cu un pedometru.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94360" y="4114800"/>
            <a:ext cx="10972800" cy="1691640"/>
          </a:xfrm>
          <a:prstGeom prst="roundRect">
            <a:avLst>
              <a:gd name="adj" fmla="val 4865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114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Acum, de pe scaunul din amfiteatru: ridicări timp de 30 de secunde. Numărați-le. Cine nu poate sau nu vrea numără pentru colegul de alături.</a:t>
            </a:r>
            <a:endParaRPr lang="en-US" sz="2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1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PROGRAM PE ETAPE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Douăsprezece săptămâni, trei etape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098280" y="329184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98280" y="32918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2A0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3566160" cy="502920"/>
          </a:xfrm>
          <a:prstGeom prst="rect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Săptămânile 1–4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23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Începem în siguranță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22960" y="29260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2–3 ședințe pe săptămână, de 45–60 de minute; tehnica corectă, mersul fără gâfâit. Ținta: 500 de pași în plus pe zi.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43400" y="1783080"/>
            <a:ext cx="3566160" cy="502920"/>
          </a:xfrm>
          <a:prstGeom prst="rect">
            <a:avLst/>
          </a:prstGeom>
          <a:solidFill>
            <a:srgbClr val="4A2D8C"/>
          </a:solidFill>
          <a:ln w="12700">
            <a:solidFill>
              <a:srgbClr val="4A2D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783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Săptămânile 5–8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43400" y="228600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423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4A2D8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Consolidăm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 1–2 repetări sau cu 2–3 minute de mers în plus pe săptămână. Ținta: 1 000 de pași în plus pe zi; testele se refac.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1783080"/>
            <a:ext cx="3566160" cy="502920"/>
          </a:xfrm>
          <a:prstGeom prst="rect">
            <a:avLst/>
          </a:prstGeom>
          <a:solidFill>
            <a:srgbClr val="B02532"/>
          </a:solidFill>
          <a:ln w="12700">
            <a:solidFill>
              <a:srgbClr val="B025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1783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Săptămânile 9–12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92440" y="228600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ECEAE4"/>
          </a:solidFill>
          <a:ln w="12700">
            <a:solidFill>
              <a:srgbClr val="ECEA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24231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Autonomie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21040" y="292608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Planul de întreținere pentru acasă și un club de mers pentru după program.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4360" y="484632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463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Mini-lecția de zece minute, la fiecare ședință: ideea principală, de ce contează, ce faceți de mâine, verificarea pe loc.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un exemplu de planificare propus în materialele disciplinei, nu recomandări dintr-un ghid.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AȚI CREDE ACEST TITLU?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rot="-90000">
            <a:off x="1463040" y="1097280"/>
            <a:ext cx="9235440" cy="4206240"/>
          </a:xfrm>
          <a:prstGeom prst="rect">
            <a:avLst/>
          </a:prstGeom>
          <a:solidFill>
            <a:srgbClr val="FBF8F1"/>
          </a:solidFill>
          <a:ln w="9525">
            <a:solidFill>
              <a:srgbClr val="E4DFD2"/>
            </a:solidFill>
            <a:prstDash val="solid"/>
          </a:ln>
          <a:effectLst>
            <a:outerShdw sx="100000" sy="100000" kx="0" ky="0" algn="bl" rotWithShape="0" blurRad="127000" dist="63500" dir="36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 rot="-90000">
            <a:off x="192024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· SFATURI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rot="-90000">
            <a:off x="1920240" y="1810512"/>
            <a:ext cx="8321040" cy="27432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 rot="-90000">
            <a:off x="1920240" y="2011680"/>
            <a:ext cx="8321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Trebuie să faceți 10 000 de pași pe zi</a:t>
            </a:r>
            <a:endParaRPr lang="en-US" sz="5000" dirty="0"/>
          </a:p>
        </p:txBody>
      </p:sp>
      <p:sp>
        <p:nvSpPr>
          <p:cNvPr id="9" name="Shape 7"/>
          <p:cNvSpPr/>
          <p:nvPr/>
        </p:nvSpPr>
        <p:spPr>
          <a:xfrm rot="-90000">
            <a:off x="1965960" y="4160520"/>
            <a:ext cx="8229600" cy="6400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90000">
            <a:off x="1965960" y="4434840"/>
            <a:ext cx="8229600" cy="6400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90000">
            <a:off x="1965960" y="4709160"/>
            <a:ext cx="5029200" cy="64008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unde vine cifra? Ce ar însemna pentru doamna Elena?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94360" y="6053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Titlu reconstituit: rezumă o afirmație care circulă des și nu este preluat dintr-un ziar anume.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27D3BE"/>
          </a:solidFill>
          <a:ln w="12700">
            <a:solidFill>
              <a:srgbClr val="27D3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TABERE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MESAJ O AJUTĂ?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051560"/>
            <a:ext cx="5394960" cy="3657600"/>
          </a:xfrm>
          <a:prstGeom prst="rect">
            <a:avLst/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72200" y="1051560"/>
            <a:ext cx="5394960" cy="3657600"/>
          </a:xfrm>
          <a:prstGeom prst="rect">
            <a:avLst/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234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TABĂRA DIN STÂNGA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73736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„Trebuie să ajungeți la zece mii de pași.”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46520" y="1234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TABĂRA DIN DREAPTA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46520" y="173736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„Încercați săptămâna aceasta cu cinci sute de pași mai mult pe zi decât acum.”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94360" y="4983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5D8E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mesaj o ajută mai mult pe doamna Elena și de ce? Două minute în fiecare tabără, apoi câte un reprezentant spune concluzia.</a:t>
            </a:r>
            <a:endParaRPr lang="en-US" sz="1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15 grupuri de oameni urmăriți ani de zile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" y="1783080"/>
            <a:ext cx="27432" cy="3291840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5074920"/>
            <a:ext cx="5760720" cy="27432"/>
          </a:xfrm>
          <a:prstGeom prst="rect">
            <a:avLst/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de deces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66360" y="5486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 pe zi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783080"/>
            <a:ext cx="13716" cy="329184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6 000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783080"/>
            <a:ext cx="13716" cy="329184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8 000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783080"/>
            <a:ext cx="13716" cy="3291840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5148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10 000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" y="2057400"/>
            <a:ext cx="240030" cy="289716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8710" y="2347116"/>
            <a:ext cx="240030" cy="268255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8740" y="2615371"/>
            <a:ext cx="240030" cy="246795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8770" y="2862165"/>
            <a:ext cx="240030" cy="22533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3087500"/>
            <a:ext cx="240030" cy="20387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8830" y="3291373"/>
            <a:ext cx="240030" cy="182413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08860" y="3473787"/>
            <a:ext cx="240030" cy="160953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48890" y="3634740"/>
            <a:ext cx="240030" cy="139493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3774233"/>
            <a:ext cx="240030" cy="118032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28950" y="3892265"/>
            <a:ext cx="240030" cy="96572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68980" y="3988837"/>
            <a:ext cx="240030" cy="75111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09010" y="4063948"/>
            <a:ext cx="240030" cy="53651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49040" y="4117599"/>
            <a:ext cx="240030" cy="32191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89070" y="4149790"/>
            <a:ext cx="240030" cy="10730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910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6913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4919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8922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925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0931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4934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89370" y="4160520"/>
            <a:ext cx="240030" cy="914"/>
          </a:xfrm>
          <a:prstGeom prst="line">
            <a:avLst/>
          </a:prstGeom>
          <a:noFill/>
          <a:ln w="44450">
            <a:solidFill>
              <a:srgbClr val="B025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" y="1965960"/>
            <a:ext cx="240030" cy="2963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8710" y="2262293"/>
            <a:ext cx="240030" cy="2794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48740" y="2541693"/>
            <a:ext cx="240030" cy="2624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88770" y="2804160"/>
            <a:ext cx="240030" cy="2455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28800" y="3049693"/>
            <a:ext cx="240030" cy="2286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68830" y="3278293"/>
            <a:ext cx="240030" cy="2116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08860" y="3489960"/>
            <a:ext cx="240030" cy="1947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548890" y="3684693"/>
            <a:ext cx="240030" cy="1778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88920" y="3862493"/>
            <a:ext cx="240030" cy="1608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28950" y="4023360"/>
            <a:ext cx="240030" cy="1439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68980" y="4167293"/>
            <a:ext cx="240030" cy="1270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09010" y="4294293"/>
            <a:ext cx="240030" cy="1100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49040" y="4404360"/>
            <a:ext cx="240030" cy="931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989070" y="4497493"/>
            <a:ext cx="240030" cy="762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29100" y="4573693"/>
            <a:ext cx="240030" cy="592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469130" y="4632960"/>
            <a:ext cx="240030" cy="42333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09160" y="4675293"/>
            <a:ext cx="240030" cy="25400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49190" y="4700693"/>
            <a:ext cx="240030" cy="8467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8922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2925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6928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90931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4934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89370" y="4709160"/>
            <a:ext cx="240030" cy="914"/>
          </a:xfrm>
          <a:prstGeom prst="line">
            <a:avLst/>
          </a:prstGeom>
          <a:noFill/>
          <a:ln w="44450">
            <a:solidFill>
              <a:srgbClr val="0E7C6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29250" y="3749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de ani și peste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5621274" y="4389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sub 60 de ani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868680" y="57150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Schemă didactică; axa verticală nu are valori.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086600" y="1737360"/>
            <a:ext cx="4480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studiu publicat în 2022 a reunit datele a 15 cohorte din mai multe țări. Riscul de deces a scăzut odată cu numărul de pași, până la aproximativ 6 000–8 000 de pași pe zi la 60 de ani și peste și 8 000–10 000 sub 60 de ani.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7086600" y="4343400"/>
            <a:ext cx="4480560" cy="1508760"/>
          </a:xfrm>
          <a:prstGeom prst="roundRect">
            <a:avLst>
              <a:gd name="adj" fmla="val 5455"/>
            </a:avLst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15200" y="4343400"/>
            <a:ext cx="4069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 asociere, nu o cauză. Praguri de la care beneficiul nu mai crește vizibil, nu ținte obligatorii.</a:t>
            </a:r>
            <a:endParaRPr lang="en-US" sz="16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ORDONARE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O CER OMS ȘI UNIUNEA EUROPEANĂ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Puneți documentele în ordine, de la cel mai vechi la cel mai nou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240280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0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EU4Health, programul de sănătate al UE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2240280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22402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264408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6440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națională de sănătate a României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80560" y="3264408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326440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„Rehabilitation 2030”, inițiativa OMS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4288536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8853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Cartea albă „Împreună pentru sănătate”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80560" y="4288536"/>
            <a:ext cx="3703320" cy="868680"/>
          </a:xfrm>
          <a:prstGeom prst="roundRect">
            <a:avLst>
              <a:gd name="adj" fmla="val 9474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428853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Programul european de lucru al OMS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549640" y="224028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49640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PATRU DECENII, ACEEAȘI CERERE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Ottawa la programul OMS pentru 2026–2030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2240280"/>
            <a:ext cx="10972800" cy="27432"/>
          </a:xfrm>
          <a:prstGeom prst="rect">
            <a:avLst/>
          </a:prstGeom>
          <a:solidFill>
            <a:srgbClr val="C9C6BE"/>
          </a:solidFill>
          <a:ln w="12700">
            <a:solidFill>
              <a:srgbClr val="C9C6B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sănătății; educația, una dintre căile ei.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80191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1903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2007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61903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Cartea albă a 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61903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obiective; îmbătrânirea sănătoasă.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747734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29446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2017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29446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Rehabilitation 2030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29446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Recuperarea, prioritate a secolului XXI.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15277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6989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296989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Programul OMS Europa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96989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Comunități sănătoase, unde oamenii trăiesc bine.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82819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4531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864531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EU4Health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64531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 și prevenirea bolilor.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450362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2074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2023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432074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și OMS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32074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națională de sănătate; rezoluția OMS pentru recuperare.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017905" y="2148840"/>
            <a:ext cx="219456" cy="21945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99617" y="1691640"/>
            <a:ext cx="14761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999617" y="2514600"/>
            <a:ext cx="1457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Programul OMS 2026–2030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999617" y="3337560"/>
            <a:ext cx="14578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C4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Adoptat în unanimitate de 53 de state.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" y="48463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11121A"/>
          </a:solidFill>
          <a:ln w="12700">
            <a:solidFill>
              <a:srgbClr val="1112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națională despre România: educația pentru sănătate lipsește sau e furnizată „doar punctual sub forma unor mesaje de cele mai multe ori ambigue”.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594360" y="605332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națională de sănătate 2023–2030, aprobată prin HG nr. 1004/2023. EU4Health: Regulamentul (UE) 2021/522.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· VOT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BAZA DE TRATAMENT, MÂINE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315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document se aplică direct activității voastre de mâine?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76272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2011680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Programul OMS pentru Europa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94360" y="2907792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72384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907792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Inițiativa „Rehabilitation 2030”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94360" y="3803904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968496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68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63040" y="3803904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Programul EU4Health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94360" y="4700016"/>
            <a:ext cx="7498080" cy="749808"/>
          </a:xfrm>
          <a:prstGeom prst="roundRect">
            <a:avLst>
              <a:gd name="adj" fmla="val 10976"/>
            </a:avLst>
          </a:prstGeom>
          <a:solidFill>
            <a:srgbClr val="1D1F2B"/>
          </a:solidFill>
          <a:ln w="12700">
            <a:solidFill>
              <a:srgbClr val="1D1F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8646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4700016"/>
            <a:ext cx="6492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Strategia națională de sănătate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8549640" y="2011680"/>
            <a:ext cx="3017520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20116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9436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Apoi, cu colegul de bancă: ce ar schimba documentul ales în ședința doamnei Elena?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47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FACEȚI DIFERIT DE MÂINE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18872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 mai dați nicio foaie cu exerciții fără să fi văzut persoana făcând exercițiul și fără să o fi auzit spunând când îl face.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" y="44805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 un pacient nu își face exercițiile, întrebați întâi ce lipsește: știe și poate? are unde și când? vrea?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292608"/>
            <a:ext cx="3017520" cy="420624"/>
          </a:xfrm>
          <a:prstGeom prst="roundRect">
            <a:avLst>
              <a:gd name="adj" fmla="val 50000"/>
            </a:avLst>
          </a:prstGeom>
          <a:solidFill>
            <a:srgbClr val="FFC24B"/>
          </a:solidFill>
          <a:ln w="12700">
            <a:solidFill>
              <a:srgbClr val="FFC2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9260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KAHOOT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347472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C24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 RĂMAS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00584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Fișa, cele trei condiții, cartierul: zece întrebări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kahoot.it și introduceți codul jocului.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320040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72A38"/>
          </a:solidFill>
          <a:ln w="12700">
            <a:solidFill>
              <a:srgbClr val="272A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32004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jocului Kahoot]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166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Rezultatul nu se notează. După fiecare întrebare discutăm răspunsurile greșite.</a:t>
            </a:r>
            <a:endParaRPr lang="en-US" sz="1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1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840480" cy="329184"/>
          </a:xfrm>
          <a:prstGeom prst="roundRect">
            <a:avLst>
              <a:gd name="adj" fmla="val 50000"/>
            </a:avLst>
          </a:prstGeom>
          <a:solidFill>
            <a:srgbClr val="FF4757"/>
          </a:solidFill>
          <a:ln w="12700">
            <a:solidFill>
              <a:srgbClr val="FF47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822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060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ULTIMELE CINCI MINUTE · ANONIM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întrebări pentru final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267004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00200" y="25146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 fost util azi?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353872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38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33832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v-am pierdut?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14400" y="4407408"/>
            <a:ext cx="420624" cy="420624"/>
          </a:xfrm>
          <a:prstGeom prst="ellipse">
            <a:avLst/>
          </a:prstGeom>
          <a:solidFill>
            <a:srgbClr val="FFC24B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42519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ați putea folosi mâine?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549640" y="2514600"/>
            <a:ext cx="301752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9640" y="251460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[codul QR Mentimeter]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436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începutul săptămânii viitoare, pe pagina disciplinei, veți găsi două modificări făcute pe baza răspunsurilor.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Cursul 1 - Fișa din sertar</dc:title>
  <dc:subject>PptxGenJS Presentation</dc:subject>
  <dc:creator>Disciplina de Sănătate publică și management, UMF Cluj-Napoca</dc:creator>
  <cp:lastModifiedBy>Disciplina de Sănătate publică și management, UMF Cluj-Napoca</cp:lastModifiedBy>
  <cp:revision>1</cp:revision>
  <dcterms:created xsi:type="dcterms:W3CDTF">2026-10-03T20:08:42Z</dcterms:created>
  <dcterms:modified xsi:type="dcterms:W3CDTF">2026-10-03T20:08:42Z</dcterms:modified>
  <cp:keywords>sursa_amprenta=32c35e545881c2f4; proiectie</cp:keywords>
</cp:coreProperties>
</file>