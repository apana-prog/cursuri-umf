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77724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 1  ·  EDUCAȚIE PENTRU SĂNĂTATE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din sertar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este educația pentru sănătate și de ce o cer OMS și Uniunea Europeană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67512" y="443484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Balneofiziokinetoterapie și recuperare, anul 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„Iuliu Hațieganu” Cluj-Napoca · Disciplina de Sănătate publică și management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548640"/>
            <a:ext cx="3749040" cy="5760720"/>
          </a:xfrm>
          <a:prstGeom prst="roundRect">
            <a:avLst>
              <a:gd name="adj" fmla="val 6098"/>
            </a:avLst>
          </a:prstGeom>
          <a:solidFill>
            <a:srgbClr val="DCDFE6"/>
          </a:solidFill>
          <a:ln w="12700">
            <a:solidFill>
              <a:srgbClr val="C3C7D1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092440" y="2194560"/>
            <a:ext cx="146304" cy="1645920"/>
          </a:xfrm>
          <a:prstGeom prst="roundRect">
            <a:avLst>
              <a:gd name="adj" fmla="val 50000"/>
            </a:avLst>
          </a:prstGeom>
          <a:solidFill>
            <a:srgbClr val="A9AEBB"/>
          </a:solidFill>
          <a:ln w="12700">
            <a:solidFill>
              <a:srgbClr val="A9AEB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rot="240000">
            <a:off x="8549640" y="1234440"/>
            <a:ext cx="2697480" cy="356616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76200" dist="38100" dir="36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 rot="240000">
            <a:off x="868680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Exerciții pentru acasă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rot="240000">
            <a:off x="8778240" y="187452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887968" y="1984248"/>
            <a:ext cx="201168" cy="201168"/>
          </a:xfrm>
          <a:prstGeom prst="ellipse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240000">
            <a:off x="9189720" y="2057400"/>
            <a:ext cx="50292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240000">
            <a:off x="9189720" y="2258568"/>
            <a:ext cx="36576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240000">
            <a:off x="10012680" y="187452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122408" y="1984248"/>
            <a:ext cx="201168" cy="201168"/>
          </a:xfrm>
          <a:prstGeom prst="ellipse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rot="240000">
            <a:off x="10424160" y="2057400"/>
            <a:ext cx="50292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240000">
            <a:off x="10424160" y="2258568"/>
            <a:ext cx="36576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rot="240000">
            <a:off x="8778240" y="278892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887968" y="2898648"/>
            <a:ext cx="201168" cy="201168"/>
          </a:xfrm>
          <a:prstGeom prst="ellipse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rot="240000">
            <a:off x="9189720" y="2971800"/>
            <a:ext cx="50292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240000">
            <a:off x="9189720" y="3172968"/>
            <a:ext cx="36576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rot="240000">
            <a:off x="10012680" y="278892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122408" y="2898648"/>
            <a:ext cx="201168" cy="201168"/>
          </a:xfrm>
          <a:prstGeom prst="ellipse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rot="240000">
            <a:off x="10424160" y="2971800"/>
            <a:ext cx="50292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rot="240000">
            <a:off x="10424160" y="3172968"/>
            <a:ext cx="36576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rot="240000">
            <a:off x="8778240" y="370332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887968" y="3813048"/>
            <a:ext cx="201168" cy="201168"/>
          </a:xfrm>
          <a:prstGeom prst="ellipse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rot="240000">
            <a:off x="9189720" y="3886200"/>
            <a:ext cx="50292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rot="240000">
            <a:off x="9189720" y="4087368"/>
            <a:ext cx="36576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240000">
            <a:off x="10012680" y="370332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122408" y="3813048"/>
            <a:ext cx="201168" cy="201168"/>
          </a:xfrm>
          <a:prstGeom prst="ellipse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rot="240000">
            <a:off x="10424160" y="3886200"/>
            <a:ext cx="50292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rot="240000">
            <a:off x="10424160" y="4087368"/>
            <a:ext cx="36576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646920" y="1024128"/>
            <a:ext cx="384048" cy="384048"/>
          </a:xfrm>
          <a:prstGeom prst="ellipse">
            <a:avLst/>
          </a:prstGeom>
          <a:solidFill>
            <a:srgbClr val="FF4757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HARTA ȘEDINȚEI ȘI EVALUAREA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povești, o pauză, trei întrebări la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633472" cy="822960"/>
          </a:xfrm>
          <a:prstGeom prst="rect">
            <a:avLst/>
          </a:prstGeom>
          <a:solidFill>
            <a:srgbClr val="FF4757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7830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din sertar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27832" y="1783080"/>
            <a:ext cx="2194560" cy="822960"/>
          </a:xfrm>
          <a:prstGeom prst="rect">
            <a:avLst/>
          </a:prstGeom>
          <a:solidFill>
            <a:srgbClr val="9B7EF7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73552" y="1783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Știu, pot, am unde, vreau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22392" y="1783080"/>
            <a:ext cx="877824" cy="822960"/>
          </a:xfrm>
          <a:prstGeom prst="rect">
            <a:avLst/>
          </a:prstGeom>
          <a:solidFill>
            <a:srgbClr val="ECEAE4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68112" y="1783080"/>
            <a:ext cx="786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Pauză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0216" y="1783080"/>
            <a:ext cx="2633472" cy="822960"/>
          </a:xfrm>
          <a:prstGeom prst="rect">
            <a:avLst/>
          </a:prstGeom>
          <a:solidFill>
            <a:srgbClr val="FFC24B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45936" y="17830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o pacientă la un cartier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33688" y="1783080"/>
            <a:ext cx="1316736" cy="822960"/>
          </a:xfrm>
          <a:prstGeom prst="rect">
            <a:avLst/>
          </a:prstGeom>
          <a:solidFill>
            <a:srgbClr val="27D3BE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979408" y="178308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 și UE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250424" y="1783080"/>
            <a:ext cx="877824" cy="822960"/>
          </a:xfrm>
          <a:prstGeom prst="rect">
            <a:avLst/>
          </a:prstGeom>
          <a:solidFill>
            <a:srgbClr val="FF8A3D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296144" y="1783080"/>
            <a:ext cx="786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128248" y="1783080"/>
            <a:ext cx="438912" cy="822960"/>
          </a:xfrm>
          <a:prstGeom prst="rect">
            <a:avLst/>
          </a:prstGeom>
          <a:solidFill>
            <a:srgbClr val="585A64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2834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termeni noi: educația pentru sănătate · capacitate, oportunitate, motivație · abordarea populațională.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4360" y="3337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Jumătate din timp lucrați voi: vot pe telefon, discuții cu colegul de bancă, un joc de rol, tabere, Kahoot.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4069080"/>
            <a:ext cx="10972800" cy="1783080"/>
          </a:xfrm>
          <a:prstGeom prst="roundRect">
            <a:avLst>
              <a:gd name="adj" fmla="val 4615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sunteți evaluați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4645152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Cursul: examen tip grilă, 60% din nota finală. Lucrările practice: examen tip grilă, 30%, și prezentarea unui plan de educație pentru sănătate, 10%.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Votul, discuțiile, jocul de rol, Kahoot-ul și întrebările de la final nu se notează. Suportul de curs: notele de pe site.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POVESTEA ÎNTÂI · FIȘA DIN SERTAR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 rot="-120000">
            <a:off x="822960" y="1097280"/>
            <a:ext cx="4206240" cy="475488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27000" dist="63500" dir="36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 rot="-120000">
            <a:off x="10972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EXERCIȚII PENTRU ACASĂ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-120000">
            <a:off x="1097280" y="1755648"/>
            <a:ext cx="365760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rot="-120000">
            <a:off x="1143000" y="1965960"/>
            <a:ext cx="685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057400"/>
            <a:ext cx="201168" cy="201168"/>
          </a:xfrm>
          <a:prstGeom prst="ellipse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 rot="-120000">
            <a:off x="2011680" y="2075688"/>
            <a:ext cx="237744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rot="-120000">
            <a:off x="2011680" y="2267712"/>
            <a:ext cx="146304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rot="-120000">
            <a:off x="1143000" y="2606040"/>
            <a:ext cx="685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71600" y="2697480"/>
            <a:ext cx="201168" cy="201168"/>
          </a:xfrm>
          <a:prstGeom prst="ellipse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-120000">
            <a:off x="2011680" y="2715768"/>
            <a:ext cx="237744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 rot="-120000">
            <a:off x="2011680" y="2907792"/>
            <a:ext cx="146304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-120000">
            <a:off x="1143000" y="3246120"/>
            <a:ext cx="685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371600" y="3337560"/>
            <a:ext cx="201168" cy="201168"/>
          </a:xfrm>
          <a:prstGeom prst="ellipse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-120000">
            <a:off x="2011680" y="3355848"/>
            <a:ext cx="237744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-120000">
            <a:off x="2011680" y="3547872"/>
            <a:ext cx="146304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rot="-120000">
            <a:off x="1143000" y="3886200"/>
            <a:ext cx="685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371600" y="3977640"/>
            <a:ext cx="201168" cy="201168"/>
          </a:xfrm>
          <a:prstGeom prst="ellipse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-120000">
            <a:off x="2011680" y="3995928"/>
            <a:ext cx="237744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rot="-120000">
            <a:off x="2011680" y="4187952"/>
            <a:ext cx="146304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rot="-120000">
            <a:off x="1143000" y="4526280"/>
            <a:ext cx="685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371600" y="4617720"/>
            <a:ext cx="201168" cy="201168"/>
          </a:xfrm>
          <a:prstGeom prst="ellipse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-120000">
            <a:off x="2011680" y="4636008"/>
            <a:ext cx="237744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rot="-120000">
            <a:off x="2011680" y="4828032"/>
            <a:ext cx="146304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-120000">
            <a:off x="1143000" y="5166360"/>
            <a:ext cx="685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371600" y="5257800"/>
            <a:ext cx="201168" cy="201168"/>
          </a:xfrm>
          <a:prstGeom prst="ellipse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rot="-120000">
            <a:off x="2011680" y="5276088"/>
            <a:ext cx="237744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rot="-120000">
            <a:off x="2011680" y="5468112"/>
            <a:ext cx="146304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669280" y="10058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Doamna Elena, șaptezeci și patru de ani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5669280" y="23774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Artroză de genunchi. O serie de ședințe de recuperare la o bază de tratament.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5669280" y="32461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plecare primește o foaie cu șase exerciții pentru acasă, fiecare cu un desen mic și cu numărul de repetări.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5669280" y="43891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Kinetoterapeutul îi explică repede, între doi pacienți, și îi urează succes.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didactic; persoana este fictivă.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SĂPTĂMÂNI MAI TÂRZIU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Genunchiul o doare din nou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control, urcatul scărilor la etajul întâi a redevenit greu. Foaia a stat câteva zile pe frigider, apoi a ajuns într-un sertar.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88720" y="2606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Doamna Elena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971800"/>
            <a:ext cx="10058400" cy="2331720"/>
          </a:xfrm>
          <a:prstGeom prst="roundRect">
            <a:avLst>
              <a:gd name="adj" fmla="val 7059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 flipV="1">
            <a:off x="1417320" y="5285232"/>
            <a:ext cx="457200" cy="292608"/>
          </a:xfrm>
          <a:prstGeom prst="triangle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2971800"/>
            <a:ext cx="9326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„Nu mai știam dacă trebuie să mă doară sau nu. Și oricum n-aveam unde să mă întind, camera e mică. Și, sincer, mi-era frică să nu-mi fac rău.”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didactic; persoana este fictivă.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VOTAȚI ANONIM, PE TELEFON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a ajuns foaia în sertar?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9933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a înțeles exercițiile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724912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28895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724912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are spațiu și nici un moment fix în zi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621024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7856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621024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are încredere și îi este teamă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517136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4681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4681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517136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îi pasă de genunchiul ei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549640" y="1828800"/>
            <a:ext cx="30175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49640" y="18288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5532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Puteți alege mai multe variante.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COLEGUL DE BANCĂ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MINUTE, ÎN PERECHI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trebuia să se întâmple la plecare?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94360" y="29260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Gândiți-vă la ultima zi a doamnei Elena la bază. Ce ar fi trebuit să facă, să spună și să verifice kinetoterapeutul, ca foaia să nu ajungă în sertar?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4572000"/>
            <a:ext cx="1280160" cy="36576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RĂSPUNS PROVIZORIU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 s-a dat o informație. Nu i s-a predat un obicei.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nu poate da o foaie, singură: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2148840"/>
            <a:ext cx="82296" cy="173736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2860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 fie înțeleasă și exersată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știa cât de tare are voie să o doară.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2148840"/>
            <a:ext cx="82296" cy="173736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17720" y="22860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loc și un moment în viața ei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772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avea unde să se întindă.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214884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92440" y="2148840"/>
            <a:ext cx="82296" cy="17373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22860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 fie dorită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6676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Îi era teamă să nu-și facă rău.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160520"/>
            <a:ext cx="10972800" cy="1691640"/>
          </a:xfrm>
          <a:prstGeom prst="roundRect">
            <a:avLst>
              <a:gd name="adj" fmla="val 4865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427939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o cer OMS și Uniunea Europeană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46634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Populația îmbătrânește și tot mai mulți oameni trăiesc cu boli de lungă durată; de aceea OMS tratează recuperarea ca prioritate. O mare parte a sănătății se joacă acasă, nu în cabinet.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9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 1 DIN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 pentru sănătate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Tot ce faceți, cu un plan, ca omul să învețe ceva bun pentru sănătatea lui și să poată aplica singur ce a învățat.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3611880"/>
            <a:ext cx="10972800" cy="2057400"/>
          </a:xfrm>
          <a:prstGeom prst="roundRect">
            <a:avLst>
              <a:gd name="adj" fmla="val 4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37490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formularea OMS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Orice combinație de experiențe de învățare menite să ajute indivizii și comunitățile să își îmbunătățească sănătatea, prin creșterea cunoștințelor, influențarea motivației și îmbunătățirea capacității de a găsi, de a înțelege și de a folosi informația despre sănătate.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Glosarul OMS de promovare a sănătății, 2021.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SPUNE, DE FAPT, DEFINIȚIA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cuvinte care contează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3566160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0392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Experiențe de învățare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50392" y="27889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un discurs și nici o foaie, ci ceva ce persoana trăiește, încearcă și repetă.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66160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99432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Motivația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99432" y="27889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 nu se oprește la ce știe omul: se ocupă și de ce vrea și de ce îl oprește.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92440" y="169164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92440" y="1691640"/>
            <a:ext cx="3566160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48472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găsi, a înțelege, a folosi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48472" y="27889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Puterea de a găsi, de a înțelege și de a folosi informația despre sănătate.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57200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5720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 pentru sănătate este planificată. Un sfat dat în treacăt, pe hol, nu este încă educație pentru sănătate.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DOAMNA ELENA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Informarea și educația, una lângă alta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4206240" cy="4114800"/>
          </a:xfrm>
          <a:prstGeom prst="roundRect">
            <a:avLst>
              <a:gd name="adj" fmla="val 2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Informarea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Foaia cu exerciții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Câteva fraze spuse repede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691640"/>
            <a:ext cx="6492240" cy="4114800"/>
          </a:xfrm>
          <a:prstGeom prst="roundRect">
            <a:avLst>
              <a:gd name="adj" fmla="val 200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349240" y="1874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49240" y="2468880"/>
            <a:ext cx="5989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singur mesaj principal: „exercițiile vă ajută genunchiul, chiar dacă la început simțiți o ușoară încordare”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Demonstrația fiecărui exercițiu, apoi exersarea lui de către doamna Elena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discuție despre unde și când le va face acasă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Verificarea: „Arătați-mi, vă rog, primul exercițiu și spuneți-mi când îl faceți mâine.”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4023360" cy="329184"/>
          </a:xfrm>
          <a:prstGeom prst="roundRect">
            <a:avLst>
              <a:gd name="adj" fmla="val 50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91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RADIOLOGIE ȘI IMAGISTICĂ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la examenul prin rezonanță magnetică (RMN)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475488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920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Foaia cu instrucțiuni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obiecte nu are voie să poarte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trebuie să vină nemâncat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timp va sta nemișcat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23560" y="1783080"/>
            <a:ext cx="5943600" cy="3291840"/>
          </a:xfrm>
          <a:prstGeom prst="roundRect">
            <a:avLst>
              <a:gd name="adj" fmla="val 2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97880" y="1920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897880" y="2468880"/>
            <a:ext cx="5486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va auzi și ce va simți în aparat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contează să stea nemișcat și să își țină respirația la comandă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Verificarea: „Spuneți-mi, vă rog, ce faceți când vă cer să nu mai respirați.”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5303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pacient care a înțeles colaborează mai bine, iar o examinare repetată din cauza mișcării se poate evita.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EXPRESII, NU UNA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Traseul din parc și lecția despre traseu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4572000" cy="4206240"/>
          </a:xfrm>
          <a:prstGeom prst="ellipse">
            <a:avLst/>
          </a:prstGeom>
          <a:solidFill>
            <a:srgbClr val="ECEAE4"/>
          </a:solidFill>
          <a:ln w="254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4300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Promovarea sănătății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legile · mediul · serviciile · comunitatea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00200" y="2971800"/>
            <a:ext cx="2743200" cy="237744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297180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 pentru sănătate: învățarea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60720" y="1783080"/>
            <a:ext cx="5806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Carta de la Ottawa, 1986: promovarea sănătății este procesul prin care oamenii devin capabili să dobândească un control mai mare asupra sănătății lor și să și-o îmbunătățească.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760720" y="3520440"/>
            <a:ext cx="5806440" cy="1051560"/>
          </a:xfrm>
          <a:prstGeom prst="roundRect">
            <a:avLst>
              <a:gd name="adj" fmla="val 782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89320" y="352044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Traseul marcat pentru mers în parc: promovarea sănătății.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760720" y="4709160"/>
            <a:ext cx="5806440" cy="1143000"/>
          </a:xfrm>
          <a:prstGeom prst="roundRect">
            <a:avLst>
              <a:gd name="adj" fmla="val 720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89320" y="470916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Lecția de zece minute despre cum mergeți pe traseu fără să vă suprasolicitați genunchii: educație pentru sănătate.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 PENTRU SALĂ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ARE NEVOIE PROFESIA VOASTRĂ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31%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adulții lumii, adică 1,8 miliarde de oameni, nu ating recomandarea de cel puțin 150 de minute de activitate fizică moderată pe săptămână (OMS, estimarea pentru 2022).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35040" y="1051560"/>
            <a:ext cx="5532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Activitatea fizică ajută la prevenirea și tratamentul bolilor cardiovasculare, al cancerului și al diabetului și reduce simptomele depresiei și ale anxietății.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3504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Rolul vostru, în patru verbe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30175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035040" y="30175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Explicați simplu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23960" y="30175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823960" y="30175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Arătați corect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35844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035040" y="35844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Adaptați la persoană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23960" y="35844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823960" y="35844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Măsurați progresul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4343400"/>
            <a:ext cx="5532120" cy="1463040"/>
          </a:xfrm>
          <a:prstGeom prst="roundRect">
            <a:avLst>
              <a:gd name="adj" fmla="val 562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63640" y="43434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Radiologie: femeia invitată la o mamografie de screening află la ce folosește examinarea; radioprotecția explică de ce se folosește un șorț de protecție.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PRINCIPIILE DIN SALA DE RECUPERARE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Șase principii pentru ședința doamnei Elena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Claritate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singură idee principală: „creștem treptat”.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0" y="1965960"/>
            <a:ext cx="566928" cy="566928"/>
          </a:xfrm>
          <a:prstGeom prst="ellipse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Concret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2651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și cum: câte repetări, câte minute de mers.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92440" y="173736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21040" y="1965960"/>
            <a:ext cx="566928" cy="566928"/>
          </a:xfrm>
          <a:prstGeom prst="ellipse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210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5256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Practică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66760" y="2651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Demonstrați, faceți împreună, corectați cu blândețe.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94360" y="374904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" y="3977640"/>
            <a:ext cx="566928" cy="566928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Verificare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4663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„Arătați-mi două repetări și spuneți-mi câte faceți mâine.”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4343400" y="374904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0" y="3977640"/>
            <a:ext cx="566928" cy="566928"/>
          </a:xfrm>
          <a:prstGeom prst="ellipse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0352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Siguranță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617720" y="4663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ritm în care puteți vorbi; vă opriți la o durere ascuțită.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8092440" y="374904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321040" y="3977640"/>
            <a:ext cx="566928" cy="566928"/>
          </a:xfrm>
          <a:prstGeom prst="ellipse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32104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05256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Respect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366760" y="4663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Lăudați efortul, nu perfecțiunea.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Principiile sunt un mod de lucru al materialelor disciplinei, nu reguli dintr-un ghid oficial.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LIMBA DOAMNEI ELENA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Rescrieți instrucțiunea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 rot="-60000">
            <a:off x="822960" y="1783080"/>
            <a:ext cx="10515600" cy="192024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01600" dist="50800" dir="36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 rot="-60000">
            <a:off x="1188720" y="1783080"/>
            <a:ext cx="9784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„Efectuați flexii-extensii ale genunchiului în decubit dorsal, câte zece repetări, de două ori pe zi, cu progresie graduală.”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41605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perechi, două minute: scrieți aceeași instrucțiune în cuvinte obișnuite, pentru doamna Elena. Câteva perechi își citesc varianta, iar sala votează varianta cea mai clară.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VARIANTĂ POSIBILĂ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instrucțiune, în cuvinte obișnuite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2011680"/>
          </a:xfrm>
          <a:prstGeom prst="roundRect">
            <a:avLst>
              <a:gd name="adj" fmla="val 8182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V="1">
            <a:off x="1234440" y="3776472"/>
            <a:ext cx="457200" cy="292608"/>
          </a:xfrm>
          <a:prstGeom prst="triangle">
            <a:avLst/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88720" y="1783080"/>
            <a:ext cx="9784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„Întinsă pe spate, îndoiți încet genunchiul, apoi îl întindeți la loc. Faceți asta de zece ori, dimineața și seara. În fiecare săptămână mai adăugați puțin.”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434340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4480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Cuvinte obișnuite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„întinsă pe spate”, nu „decubit dorsal”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434340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17720" y="4480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Propoziții scurte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4937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idee în fiecare propoziție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434340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66760" y="4480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și când, concret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66760" y="4937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câte ori, în ce moment al zilei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TEHNICA DE BAZĂ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Demonstrația, în cinci timpi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377440"/>
            <a:ext cx="10972800" cy="3657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2121408"/>
            <a:ext cx="548640" cy="548640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Arătați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Faceți exercițiul în fața ei, încet.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807208" y="2121408"/>
            <a:ext cx="548640" cy="548640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07208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07208" y="28346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Explicați pe scurt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807208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frază, nu o prelegere.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020056" y="2121408"/>
            <a:ext cx="548640" cy="548640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0056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0056" y="28346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Faceți împreună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020056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Ea lângă voi, în același ritm.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232904" y="2121408"/>
            <a:ext cx="548640" cy="548640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32904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32904" y="28346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Corectați cu blândețe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232904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singur lucru odată.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9445752" y="2121408"/>
            <a:ext cx="548640" cy="548640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45752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45752" y="28346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Repetați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445752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Încă două repetări, împreună.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594360" y="475488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" y="47548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fiecare dată, două variante: una ușoară, cu sprijin, și una medie, fără sprijin.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9436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materialele disciplinei, demonstrația este tehnica de bază în balneofiziokinetoterapie.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ALTE TREI UNELTE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Povestea, întrebarea, cuvântul simplu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3566160" cy="7315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0392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Povestirea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50392" y="2788920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„O pacientă de vârsta dumneavoastră a reușit, după o lună, să urce fără oprire până la etajul ei.”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66160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99432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Întrebările deschise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99432" y="2788920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„Cum ați face acasă?” · „Ce pas mic începeți mâine?” · „Ce v-ar putea opri și cum ocoliți piedica?”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92440" y="169164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92440" y="1691640"/>
            <a:ext cx="356616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48472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Limbajul simplu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48472" y="2788920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Propoziții scurte, cuvinte obișnuite: „să puteți urca un etaj fără să vă opriți”. Termenii de specialitate rămân pentru fișa medicală.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Întrebările deschise scot la iveală piedicile pe care pacientul nu le spune singur.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PLECARE ȘI DUPĂ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Verificați, apoi amintiți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Verificarea prin reformulare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2194560"/>
            <a:ext cx="6400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întrebați „Ați înțeles?”. Cereți-i persoanei să spună cu cuvintele ei ce va face și să arate două repetări. Dacă apare o greșeală, corectați blând și mai faceți împreună două repetări.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3931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Mementoul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43891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mesaj la telefon, un afiș sau, pentru vârstnicii fără telefon mobil, un bilet în cutia poștală. Se trimite cu o zi înainte; după ședință, un mesaj scurt de încurajare.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818120" y="914400"/>
            <a:ext cx="3291840" cy="5394960"/>
          </a:xfrm>
          <a:prstGeom prst="roundRect">
            <a:avLst>
              <a:gd name="adj" fmla="val 972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001000" y="1234440"/>
            <a:ext cx="2926080" cy="4754880"/>
          </a:xfrm>
          <a:prstGeom prst="roundRect">
            <a:avLst>
              <a:gd name="adj" fmla="val 3750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0100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Mesaje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83880" y="1920240"/>
            <a:ext cx="2606040" cy="2377440"/>
          </a:xfrm>
          <a:prstGeom prst="roundRect">
            <a:avLst>
              <a:gd name="adj" fmla="val 6923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flipV="1">
            <a:off x="8595360" y="4279392"/>
            <a:ext cx="457200" cy="292608"/>
          </a:xfrm>
          <a:prstGeom prst="triangle">
            <a:avLst/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19202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Joi, la ora zece, sala școlii. Tema: pauzele de la statul pe scaun. Ținta: un sfert de oră de mers.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01000" y="5394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Exemplu de memento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9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 2 DIN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Știu și pot. Am unde și când. Vreau.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1828800"/>
            <a:ext cx="3566160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0392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Capacitatea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50392" y="292608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„Știu și pot să fac.” Instrucțiuni simple, demonstrație, o foaie de o pagină, două variante ale fiecărui exercițiu.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66160" cy="73152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99432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Oportunitatea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99432" y="292608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„Am unde și când să fac.” Sală sau parc, orar fix, traseu marcat, bănci, un memento la telefon.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92440" y="182880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56616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48472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Motivația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48472" y="292608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„Vreau să fac.” Ținte mici, laudă pentru efort, perechi de sprijin, un panou cu progresul grupului.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un comportament nu apare, căutați întâi condiția care lipsește și interveniți exact acolo.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Capacitate, oportunitate, motivație: modelul COM-B, propus de Susan Michie și colaboratorii ei în 2011.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MINUT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condiție îi lipsea doamnei Elena?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9476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Capacitatea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679192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28437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679192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Oportunitatea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575304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7398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739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75304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Motivația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471416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46360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471416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Toate trei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549640" y="1783080"/>
            <a:ext cx="30175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49640" y="17830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„Nu mai știam dacă trebuie să mă doară” · „n-aveam unde să mă întind” · „mi-era frică să nu-mi fac rău”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DIAGNOSTICUL CAZULUI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Lipseau toate trei. Fiecare cere altă măsură.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10972800" cy="1078992"/>
          </a:xfrm>
          <a:prstGeom prst="roundRect">
            <a:avLst>
              <a:gd name="adj" fmla="val 76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39112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Capacitatea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2677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știa cât de tare are voie să o doară.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43400" y="1737360"/>
            <a:ext cx="7040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Exersarea fiecărui exercițiu în sală: o încordare ușoară este normală, o durere ascuțită nu.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2944368"/>
            <a:ext cx="10972800" cy="1078992"/>
          </a:xfrm>
          <a:prstGeom prst="roundRect">
            <a:avLst>
              <a:gd name="adj" fmla="val 7627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3246120"/>
            <a:ext cx="475488" cy="475488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246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035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Oportunitatea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474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avea loc să se întindă.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2944368"/>
            <a:ext cx="7040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exerciții pe scaun sau lângă un blat, legate de un moment fix: după cafeaua de dimineață.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4151376"/>
            <a:ext cx="10972800" cy="1078992"/>
          </a:xfrm>
          <a:prstGeom prst="roundRect">
            <a:avLst>
              <a:gd name="adj" fmla="val 76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4453128"/>
            <a:ext cx="475488" cy="475488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2428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Motivația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46817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Îi era teamă.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343400" y="4151376"/>
            <a:ext cx="7040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țintă mică pentru prima săptămână și un telefon scurt la mijlocul ei.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9436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tratați „lipsa de voință” acolo unde lipsește, de fapt, spațiul.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JOC DE ROL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 VOLUNTARI, TREI MINUTE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Ridicarea de pe scaun, la ultima ședință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Kinetoterapeutul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Predă un singur exercițiu, ridicarea de pe scaun, și verifică la final că doamna Elena știe ce face acasă.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4652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Doamna Elena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46520" y="24688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la ultima ședință de la bază și răspunde cum ar răspunde ea.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438912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4389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Regula: fără întrebarea „Ați înțeles?”.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" y="5486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Radiologie: tehnicianul și pacientul, înainte de examinare.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VĂZUT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fost făcută verificarea?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9476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Da: a arătat exercițiul și a spus când îl face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679192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28437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679192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a arătat exercițiul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575304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7398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739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75304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a spus ce va face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471416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46360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471416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549640" y="1783080"/>
            <a:ext cx="30175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49640" y="17830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5440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Apoi: ce ați fi făcut altfel?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VERIFICAREA BUNĂ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părți: persoana arată și persoana spune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737360"/>
            <a:ext cx="5394960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practică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Persoana arată exercițiul, iar voi urmăriți câteva repere de tehnică: picioarele la lățimea umerilor, fără împingere în mâini, coborâre controlată.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4652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de plan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46520" y="25146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Persoana spune cu cuvintele ei când, unde și de câte ori îl va face acasă.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4297680"/>
            <a:ext cx="10972800" cy="1554480"/>
          </a:xfrm>
          <a:prstGeom prst="roundRect">
            <a:avLst>
              <a:gd name="adj" fmla="val 529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429768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„Ați înțeles?” primește adesea răspunsul „da”, din politețe sau din jenă. Nici repetarea explicației, nici semnătura pe o foaie nu arată dacă persoana știe ce va face acasă.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PLANIFICAREA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ședință de grup de 45–60 de minute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17585" cy="868680"/>
          </a:xfrm>
          <a:prstGeom prst="rect">
            <a:avLst/>
          </a:prstGeom>
          <a:solidFill>
            <a:srgbClr val="585A64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11945" y="1874520"/>
            <a:ext cx="1345721" cy="868680"/>
          </a:xfrm>
          <a:prstGeom prst="rect">
            <a:avLst/>
          </a:prstGeom>
          <a:solidFill>
            <a:srgbClr val="0E7C6B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11945" y="1874520"/>
            <a:ext cx="134572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5–8 min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57666" y="1874520"/>
            <a:ext cx="5693434" cy="868680"/>
          </a:xfrm>
          <a:prstGeom prst="rect">
            <a:avLst/>
          </a:prstGeom>
          <a:solidFill>
            <a:srgbClr val="B02532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57666" y="1874520"/>
            <a:ext cx="56934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25–30 min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51100" y="1874520"/>
            <a:ext cx="1035170" cy="868680"/>
          </a:xfrm>
          <a:prstGeom prst="rect">
            <a:avLst/>
          </a:prstGeom>
          <a:solidFill>
            <a:srgbClr val="4A2D8C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186269" y="1874520"/>
            <a:ext cx="2070340" cy="868680"/>
          </a:xfrm>
          <a:prstGeom prst="rect">
            <a:avLst/>
          </a:prstGeom>
          <a:solidFill>
            <a:srgbClr val="8A6100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86269" y="1874520"/>
            <a:ext cx="2070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 min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256609" y="1874520"/>
            <a:ext cx="310551" cy="868680"/>
          </a:xfrm>
          <a:prstGeom prst="rect">
            <a:avLst/>
          </a:prstGeom>
          <a:solidFill>
            <a:srgbClr val="11121A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" y="30175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Verificarea scurtă (2–3 min): </a:t>
            </a:r>
            <a:pPr indent="0" marL="0">
              <a:buNone/>
            </a:pPr>
            <a:r>
              <a:rPr lang="en-US" sz="15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simptome noi, medicamente schimbate, „pot vorbi în propoziții”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72200" y="30175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Încălzirea (5–8 min): </a:t>
            </a:r>
            <a:pPr indent="0" marL="0">
              <a:buNone/>
            </a:pPr>
            <a:r>
              <a:rPr lang="en-US" sz="15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mers pe loc, mobilizarea articulațiilor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373075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Exercițiile (25–30 min): </a:t>
            </a:r>
            <a:pPr indent="0" marL="0">
              <a:buNone/>
            </a:pPr>
            <a:r>
              <a:rPr lang="en-US" sz="15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forța picioarelor, echilibrul, mersul alert, cu variantă ușoară și medie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373075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Revenirea (5 min): </a:t>
            </a:r>
            <a:pPr indent="0" marL="0">
              <a:buNone/>
            </a:pPr>
            <a:r>
              <a:rPr lang="en-US" sz="15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mers lent, întinderi blânde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444398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Mini-lecția (10 min): </a:t>
            </a:r>
            <a:pPr indent="0" marL="0">
              <a:buNone/>
            </a:pPr>
            <a:r>
              <a:rPr lang="en-US" sz="15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idee, trei pași concreți, verificarea prin reformulare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2200" y="444398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Tema pentru acasă (1–2 min): </a:t>
            </a:r>
            <a:pPr indent="0" marL="0">
              <a:buNone/>
            </a:pPr>
            <a:r>
              <a:rPr lang="en-US" sz="15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foaie de o pagină și o țintă mică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5257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Dozarea: creșteți cu 1–2 repetări sau cu 2–3 minute de mers pe săptămână; la o durere ascuțită sau la amețeală, treceți imediat la varianta ușoară.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ipotetice: un exemplu de organizare propus în materialele disciplinei, nu valori dintr-un ghid.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COLEGUL DE BANCĂ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SIGURANȚA ȘI ETICA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„Mă doare.” Ce o întrebați și când opriți?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Doamna Elena spune, la exercițiu, că o doare. Două minute cu colegul de bancă.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251460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2514600"/>
            <a:ext cx="2651760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95528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Consimțământul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5528" y="33832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faceți, cât durează, ce riscuri mici există; persoana se poate opri oricând.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83280" y="251460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83280" y="2514600"/>
            <a:ext cx="2651760" cy="73152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84448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84448" y="33832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ce e necesar; rezultatele se raportează fără nume.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251460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72200" y="2514600"/>
            <a:ext cx="265176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73368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Semnele de oprire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73368" y="33832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 în piept, lipsă severă de aer, amețeală puternică, durere ascuțită care nu cedează.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61120" y="251460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961120" y="2514600"/>
            <a:ext cx="2651760" cy="7315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62288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Trimiterea la medic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62288" y="33832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orice semn de alarmă, persoana este îndrumată către medic.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Semnele de oprire sunt o regulă de siguranță a materialelor disciplinei, nu un ghid clinic.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7D3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ÎNSEMNĂ PENTRU VOI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prima voastră practică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dați niciodată o foaie cu exerciții fără să fi văzut persoana făcând exercițiile și fără să o fi auzit spunând când le va face.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3474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Iar când un pacient „nu vrea”, întrebați-vă întâi dacă știe și dacă are unde.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4663440"/>
            <a:ext cx="10972800" cy="18288"/>
          </a:xfrm>
          <a:prstGeom prst="rect">
            <a:avLst/>
          </a:prstGeom>
          <a:solidFill>
            <a:srgbClr val="073B34"/>
          </a:solidFill>
          <a:ln w="12700">
            <a:solidFill>
              <a:srgbClr val="073B3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4846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sala de radiologie: înainte de examinare, cereți-i pacientului să vă spună cu cuvintele lui ce urmează și ce are de făcut.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Pauză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94360" y="3566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Reluăm cu povestea a treia: de la o pacientă la un cartier întreg.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UN CUVÂNT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POVESTEA A TREIA · DE LA O PACIENTĂ LA UN CARTIER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cuvânt: ce o oprește pe o persoană de șaptezeci de ani din cartierul vostru să facă mișcare?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549640" y="1463040"/>
            <a:ext cx="30175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49640" y="146304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4754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apar pe ecran ca nor de cuvinte.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ÎN CIFRE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85,5%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594360" y="237744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adulții din România, de 18 ani și peste, declarau zero minute pe săptămână de activitate fizică aerobă în afara muncii. În Uniunea Europeană: 48,4%.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3504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Zero minute pe săptămână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35040" y="13075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1362456"/>
            <a:ext cx="3518154" cy="43891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851642" y="13075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85,5%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0" y="194767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2002536"/>
            <a:ext cx="1991563" cy="438912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325051" y="19476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48,4%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150 de minute sau mai mult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318211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23760" y="3236976"/>
            <a:ext cx="292151" cy="43891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625639" y="3182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7,1%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38221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23760" y="3877056"/>
            <a:ext cx="1304392" cy="438912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37880" y="38221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31,7%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466344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466344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asemenea cifre, a lucra numai cu pacientul din fața voastră înseamnă a ajunge la foarte puțini dintre cei care ar avea nevoie.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Ancheta europeană de sănătate, 2019 (Eurostat). Activitatea fizică aerobă benefică pentru sănătate, în afara muncii, adulți de 18 ani și peste.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9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 3 DIN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MÂNA RIDICATĂ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Abordarea populațională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program pentru un grup întreg, nu pentru un singur pacient.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237744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508760" y="2971800"/>
            <a:ext cx="548640" cy="54864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persoană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08960" y="3337560"/>
            <a:ext cx="548640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794760" y="2468880"/>
            <a:ext cx="411480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069080" y="2651760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80560" y="2651760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892040" y="2651760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303520" y="2651760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715000" y="2651760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537960" y="2651760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949440" y="2651760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60920" y="2651760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069080" y="2980944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480560" y="2980944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892040" y="2980944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303520" y="2980944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715000" y="2980944"/>
            <a:ext cx="219456" cy="219456"/>
          </a:xfrm>
          <a:prstGeom prst="ellipse">
            <a:avLst/>
          </a:prstGeom>
          <a:solidFill>
            <a:srgbClr val="FFC24B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126480" y="2980944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537960" y="2980944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949440" y="2980944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360920" y="2980944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069080" y="3310128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480560" y="3310128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892040" y="3310128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303520" y="3310128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715000" y="3310128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126480" y="3310128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537960" y="3310128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949440" y="3310128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360920" y="3310128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069080" y="3639312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480560" y="3639312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892040" y="3639312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5303520" y="3639312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5715000" y="3639312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126480" y="3639312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537960" y="3639312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949440" y="3639312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7360920" y="3639312"/>
            <a:ext cx="219456" cy="219456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794760" y="4023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cartier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183880" y="24688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dintre vecinii doamnei Elena ar avea nevoie de aceeași grupă?</a:t>
            </a:r>
            <a:endParaRPr lang="en-US" sz="1900" dirty="0"/>
          </a:p>
        </p:txBody>
      </p:sp>
      <p:sp>
        <p:nvSpPr>
          <p:cNvPr id="51" name="Text 49"/>
          <p:cNvSpPr/>
          <p:nvPr/>
        </p:nvSpPr>
        <p:spPr>
          <a:xfrm>
            <a:off x="594360" y="48463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înlocuiește îngrijirea fiecărui pacient: doamna Elena are nevoie în continuare de ședințele ei, dar poate merge și la grupa de mișcare din cartier. Cele două strategii nu sunt, de obicei, în competiție.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 PENTRU SALĂ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FORME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Unu la unu, grupul, cartierul, afișul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737360"/>
            <a:ext cx="2651760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Individuală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95528" y="24688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Teamă mare de efort, mobilitate limitată, ieșire recentă din spital. Adaptare maximă; ajunge la puțini.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83280" y="1737360"/>
            <a:ext cx="2651760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8444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grup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84448" y="24688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temă: căderile, durerea de spate. Eficiență și motivație între colegi.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172200" y="173736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1737360"/>
            <a:ext cx="2651760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7336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Comunitară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73368" y="24688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obicei la mulți: cluburi de mers, sala școlii, trasee marcate. Depinde de parteneri.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961120" y="173736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961120" y="1737360"/>
            <a:ext cx="2651760" cy="73152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6228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Mesaje publice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162288" y="24688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Afișe, bilete în cutia poștală, mesaje la telefon. Ieftine, dar fără învățare practică.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94360" y="50292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combină: începutul unu la unu, exersarea în grup, obiceiul prin comunitate, reamintirea prin mesaje.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ȘI CU CINE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 școlii, parcul, căminul cultural, acasă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65176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95528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 școlii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95528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parter, cu toaletă și bănci, cu program fix; pentru grupe mici.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5176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84448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Parcul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584448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Alei plate, bănci din loc în loc, iluminat; pentru cluburile de mers.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265176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73368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Satul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73368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Căminul cultural sau curtea școlii; o echipă mobilă o dată pe săptămână.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0" y="1737360"/>
            <a:ext cx="265176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62288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Acasă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62288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 complementar: foi tipărite și un apel telefonic.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4160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Partenerii: primăria, școala, medicul de familie, biserica, organizațiile neguvernamentale. Ele asigură cheile, orarul și promovarea.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5120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Spațiul însuși educă: trotuare luminate, trasee cu bănci, afișe lângă lift care invită la urcatul scărilor.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· COLEGUL DE BANCĂ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PROGRAMELE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programe pe măsura profesiei voastre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691640"/>
            <a:ext cx="82296" cy="14630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801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Căderile la vârstnici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22199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OMS, 2020: echilibru și forță, intensitate moderată sau mai mare, în 3 sau mai multe zile pe săptămână.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691640"/>
            <a:ext cx="82296" cy="14630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46520" y="1801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Durerea de spate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22199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Aproximativ 619 milioane de oameni în 2020. Mișcare blândă, crescută treptat; OMS enumeră și ce previne noile episoade.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2918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" y="3291840"/>
            <a:ext cx="82296" cy="146304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4015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minte mai liniștită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382219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Activitatea fizică reduce simptomele depresiei și ale anxietății.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32918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172200" y="3291840"/>
            <a:ext cx="82296" cy="146304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46520" y="34015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Locul de muncă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382219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Micropauze active, întinderi la birou, scările în locul liftului.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498348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4983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program ar ajuta cel mai mult în cartierul vostru? Votați, apoi două minute cu colegul de bancă.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TOATĂ SALA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MĂSURAȚI PROGRESUL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teste care încap într-o sală de grup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95528" y="187452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3957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Ridicările de pe scaun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5528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ridicări complete în 30 de secunde.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383280" y="173736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84448" y="187452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8444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4448" y="23957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„Ridică-te și mergi”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4448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ridică, merge 3 metri, se întoarce și se așază; cronometrat.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72200" y="173736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73368" y="187452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7336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3368" y="23957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Mersul de șase minute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3368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Distanța parcursă mergând timp de șase minute.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961120" y="173736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62288" y="187452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6228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62288" y="23957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Pașii pe zi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2288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 a șapte zile, cu telefonul sau cu un pedometru.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94360" y="4114800"/>
            <a:ext cx="10972800" cy="1691640"/>
          </a:xfrm>
          <a:prstGeom prst="roundRect">
            <a:avLst>
              <a:gd name="adj" fmla="val 4865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8680" y="411480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Acum, de pe scaunul din amfiteatru: ridicări timp de 30 de secunde. Numărați-le. Cine nu poate sau nu vrea numără pentru colegul de alături.</a:t>
            </a:r>
            <a:endParaRPr lang="en-US" sz="2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PROGRAM PE ETAPE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Douăsprezece săptămâni, trei etape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566160" cy="5029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Săptămânile 1–4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Începem în siguranță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2–3 ședințe pe săptămână, de 45–60 de minute; tehnica corectă, mersul fără gâfâit. Ținta: 500 de pași în plus pe zi.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566160" cy="50292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2628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Săptămânile 5–8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43400" y="228600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Consolidăm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1–2 repetări sau cu 2–3 minute de mers în plus pe săptămână. Ținta: 1 000 de pași în plus pe zi; testele se refac.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1783080"/>
            <a:ext cx="3566160" cy="50292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7532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Săptămânile 9–12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92440" y="228600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2104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Autonomie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21040" y="292608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de întreținere pentru acasă și un club de mers pentru după program.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484632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4846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Mini-lecția de zece minute, la fiecare ședință: ideea principală, de ce contează, ce faceți de mâine, verificarea pe loc.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436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ipotetice: un exemplu de planificare propus în materialele disciplinei, nu recomandări dintr-un ghid.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DISCUȚIE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AȚI CREDE ACEST TITLU?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rot="-90000">
            <a:off x="1463040" y="1097280"/>
            <a:ext cx="9235440" cy="420624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27000" dist="63500" dir="36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 rot="-90000">
            <a:off x="19202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· SFATURI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rot="-90000">
            <a:off x="1920240" y="1810512"/>
            <a:ext cx="8321040" cy="27432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 rot="-90000">
            <a:off x="1920240" y="2011680"/>
            <a:ext cx="8321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Trebuie să faceți 10 000 de pași pe zi</a:t>
            </a:r>
            <a:endParaRPr lang="en-US" sz="5000" dirty="0"/>
          </a:p>
        </p:txBody>
      </p:sp>
      <p:sp>
        <p:nvSpPr>
          <p:cNvPr id="9" name="Shape 7"/>
          <p:cNvSpPr/>
          <p:nvPr/>
        </p:nvSpPr>
        <p:spPr>
          <a:xfrm rot="-90000">
            <a:off x="1965960" y="4160520"/>
            <a:ext cx="8229600" cy="64008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rot="-90000">
            <a:off x="1965960" y="4434840"/>
            <a:ext cx="8229600" cy="64008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rot="-90000">
            <a:off x="1965960" y="4709160"/>
            <a:ext cx="5029200" cy="64008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unde vine cifra? Ce ar însemna pentru doamna Elena?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436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 reconstituit: rezumă o afirmație care circulă des și nu este preluat dintr-un ziar anume.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TABERE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MESAJ O AJUTĂ?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5394960" cy="3657600"/>
          </a:xfrm>
          <a:prstGeom prst="rect">
            <a:avLst/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172200" y="1051560"/>
            <a:ext cx="5394960" cy="3657600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234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TABĂRA DIN STÂNGA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„Trebuie să ajungeți la zece mii de pași.”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46520" y="1234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TABĂRA DIN DREAPTA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17373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„Încercați săptămâna aceasta cu cinci sute de pași mai mult pe zi decât acum.”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4360" y="4983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mesaj o ajută mai mult pe doamna Elena și de ce? Două minute în fiecare tabără, apoi câte un reprezentant spune concluzia.</a:t>
            </a:r>
            <a:endParaRPr lang="en-US" sz="1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ARATĂ DATELE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arată 15 grupuri de oameni urmăriți ani de zile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27432" cy="3291840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5074920"/>
            <a:ext cx="5760720" cy="27432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de deces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66360" y="5486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pași pe zi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1783080"/>
            <a:ext cx="13716" cy="329184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0" y="5148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6 000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783080"/>
            <a:ext cx="13716" cy="329184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160520" y="5148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8 000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1783080"/>
            <a:ext cx="13716" cy="329184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120640" y="5148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10 000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2057400"/>
            <a:ext cx="240030" cy="289716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08710" y="2347116"/>
            <a:ext cx="240030" cy="268255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348740" y="2615371"/>
            <a:ext cx="240030" cy="246795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588770" y="2862165"/>
            <a:ext cx="240030" cy="225334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828800" y="3087500"/>
            <a:ext cx="240030" cy="203874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068830" y="3291373"/>
            <a:ext cx="240030" cy="182413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308860" y="3473787"/>
            <a:ext cx="240030" cy="160953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548890" y="3634740"/>
            <a:ext cx="240030" cy="139493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788920" y="3774233"/>
            <a:ext cx="240030" cy="118032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028950" y="3892265"/>
            <a:ext cx="240030" cy="96572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268980" y="3988837"/>
            <a:ext cx="240030" cy="75111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509010" y="4063948"/>
            <a:ext cx="240030" cy="53651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749040" y="4117599"/>
            <a:ext cx="240030" cy="32191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989070" y="4149790"/>
            <a:ext cx="240030" cy="10730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229100" y="4160520"/>
            <a:ext cx="240030" cy="914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469130" y="4160520"/>
            <a:ext cx="240030" cy="914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709160" y="4160520"/>
            <a:ext cx="240030" cy="914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949190" y="4160520"/>
            <a:ext cx="240030" cy="914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189220" y="4160520"/>
            <a:ext cx="240030" cy="914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429250" y="4160520"/>
            <a:ext cx="240030" cy="914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669280" y="4160520"/>
            <a:ext cx="240030" cy="914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909310" y="4160520"/>
            <a:ext cx="240030" cy="914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149340" y="4160520"/>
            <a:ext cx="240030" cy="914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389370" y="4160520"/>
            <a:ext cx="240030" cy="914"/>
          </a:xfrm>
          <a:prstGeom prst="line">
            <a:avLst/>
          </a:prstGeom>
          <a:noFill/>
          <a:ln w="444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68680" y="1965960"/>
            <a:ext cx="240030" cy="296333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108710" y="2262293"/>
            <a:ext cx="240030" cy="279400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348740" y="2541693"/>
            <a:ext cx="240030" cy="262467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588770" y="2804160"/>
            <a:ext cx="240030" cy="245533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828800" y="3049693"/>
            <a:ext cx="240030" cy="228600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068830" y="3278293"/>
            <a:ext cx="240030" cy="211667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2308860" y="3489960"/>
            <a:ext cx="240030" cy="194733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2548890" y="3684693"/>
            <a:ext cx="240030" cy="177800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2788920" y="3862493"/>
            <a:ext cx="240030" cy="160867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3028950" y="4023360"/>
            <a:ext cx="240030" cy="143933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3268980" y="4167293"/>
            <a:ext cx="240030" cy="127000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3509010" y="4294293"/>
            <a:ext cx="240030" cy="110067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3749040" y="4404360"/>
            <a:ext cx="240030" cy="93133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3989070" y="4497493"/>
            <a:ext cx="240030" cy="76200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229100" y="4573693"/>
            <a:ext cx="240030" cy="59267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4469130" y="4632960"/>
            <a:ext cx="240030" cy="42333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4709160" y="4675293"/>
            <a:ext cx="240030" cy="25400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4949190" y="4700693"/>
            <a:ext cx="240030" cy="8467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5189220" y="4709160"/>
            <a:ext cx="240030" cy="914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5429250" y="4709160"/>
            <a:ext cx="240030" cy="914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5669280" y="4709160"/>
            <a:ext cx="240030" cy="914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5909310" y="4709160"/>
            <a:ext cx="240030" cy="914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6149340" y="4709160"/>
            <a:ext cx="240030" cy="914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6389370" y="4709160"/>
            <a:ext cx="240030" cy="914"/>
          </a:xfrm>
          <a:prstGeom prst="line">
            <a:avLst/>
          </a:prstGeom>
          <a:noFill/>
          <a:ln w="4445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42925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 de ani și peste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621274" y="4389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 60 de ani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68680" y="57150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Schemă didactică; axa verticală nu are valori.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086600" y="1737360"/>
            <a:ext cx="4480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studiu publicat în 2022 a reunit datele a 15 cohorte din mai multe țări. Riscul de deces a scăzut odată cu numărul de pași, până la aproximativ 6 000–8 000 de pași pe zi la 60 de ani și peste și 8 000–10 000 sub 60 de ani.</a:t>
            </a:r>
            <a:endParaRPr lang="en-US" sz="1650" dirty="0"/>
          </a:p>
        </p:txBody>
      </p:sp>
      <p:sp>
        <p:nvSpPr>
          <p:cNvPr id="66" name="Shape 64"/>
          <p:cNvSpPr/>
          <p:nvPr/>
        </p:nvSpPr>
        <p:spPr>
          <a:xfrm>
            <a:off x="7086600" y="4343400"/>
            <a:ext cx="4480560" cy="1508760"/>
          </a:xfrm>
          <a:prstGeom prst="roundRect">
            <a:avLst>
              <a:gd name="adj" fmla="val 54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7315200" y="4343400"/>
            <a:ext cx="4069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asociere, nu o cauză. Praguri de la care beneficiul nu mai crește vizibil, nu ținte obligatorii.</a:t>
            </a:r>
            <a:endParaRPr lang="en-US" sz="16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ORDONARE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O CER OMS ȘI UNIUNEA EUROPEANĂ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Puneți documentele în ordine, de la cel mai vechi la cel mai nou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240280"/>
            <a:ext cx="3703320" cy="868680"/>
          </a:xfrm>
          <a:prstGeom prst="roundRect">
            <a:avLst>
              <a:gd name="adj" fmla="val 9474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240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EU4Health, programul de sănătate al 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2240280"/>
            <a:ext cx="3703320" cy="868680"/>
          </a:xfrm>
          <a:prstGeom prst="roundRect">
            <a:avLst>
              <a:gd name="adj" fmla="val 9474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09160" y="2240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Carta de la Ottawa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264408"/>
            <a:ext cx="3703320" cy="868680"/>
          </a:xfrm>
          <a:prstGeom prst="roundRect">
            <a:avLst>
              <a:gd name="adj" fmla="val 9474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26440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națională de sănătate a României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80560" y="3264408"/>
            <a:ext cx="3703320" cy="868680"/>
          </a:xfrm>
          <a:prstGeom prst="roundRect">
            <a:avLst>
              <a:gd name="adj" fmla="val 9474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9160" y="326440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„Rehabilitation 2030”, inițiativa OMS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288536"/>
            <a:ext cx="3703320" cy="868680"/>
          </a:xfrm>
          <a:prstGeom prst="roundRect">
            <a:avLst>
              <a:gd name="adj" fmla="val 9474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428853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Cartea albă „Împreună pentru sănătate”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80560" y="4288536"/>
            <a:ext cx="3703320" cy="868680"/>
          </a:xfrm>
          <a:prstGeom prst="roundRect">
            <a:avLst>
              <a:gd name="adj" fmla="val 9474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09160" y="428853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european de lucru al OMS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49640" y="2240280"/>
            <a:ext cx="30175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49640" y="22402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DECENII, ACEEAȘI CERERE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Ottawa la programul OMS pentru 2026–2030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2240280"/>
            <a:ext cx="1097280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12648" y="2148840"/>
            <a:ext cx="219456" cy="21945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91640"/>
            <a:ext cx="1476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1986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145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Carta de la Ottawa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337560"/>
            <a:ext cx="1457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Promovarea sănătății; educația, una dintre căile ei.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80191" y="2148840"/>
            <a:ext cx="219456" cy="21945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61903" y="1691640"/>
            <a:ext cx="1476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2007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61903" y="2514600"/>
            <a:ext cx="145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Cartea albă a 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61903" y="3337560"/>
            <a:ext cx="1457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obiective; îmbătrânirea sănătoasă.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7734" y="2148840"/>
            <a:ext cx="219456" cy="21945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29446" y="1691640"/>
            <a:ext cx="1476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29446" y="2514600"/>
            <a:ext cx="145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Rehabilitation 2030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29446" y="3337560"/>
            <a:ext cx="1457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Recuperarea, prioritate a secolului XXI.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15277" y="2148840"/>
            <a:ext cx="219456" cy="21945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96989" y="1691640"/>
            <a:ext cx="1476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96989" y="2514600"/>
            <a:ext cx="145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OMS Europa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96989" y="3337560"/>
            <a:ext cx="1457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Comunități sănătoase, unde oamenii trăiesc bine.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82819" y="2148840"/>
            <a:ext cx="219456" cy="21945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4531" y="1691640"/>
            <a:ext cx="1476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64531" y="2514600"/>
            <a:ext cx="145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EU4Health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64531" y="3337560"/>
            <a:ext cx="1457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Promovarea sănătății și prevenirea bolilor.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50362" y="2148840"/>
            <a:ext cx="219456" cy="21945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2074" y="1691640"/>
            <a:ext cx="1476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32074" y="2514600"/>
            <a:ext cx="145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și OMS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32074" y="3337560"/>
            <a:ext cx="1457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națională de sănătate; rezoluția OMS pentru recuperare.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017905" y="2148840"/>
            <a:ext cx="219456" cy="21945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999617" y="1691640"/>
            <a:ext cx="1476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999617" y="2514600"/>
            <a:ext cx="145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OMS 2026–2030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99617" y="3337560"/>
            <a:ext cx="1457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Adoptat în unanimitate de 53 de state.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484632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68680" y="48463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națională despre România: educația pentru sănătate lipsește sau e furnizată „doar punctual sub forma unor mesaje de cele mai multe ori ambigue”.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59436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națională de sănătate 2023–2030, aprobată prin HG nr. 1004/2023. EU4Health: Regulamentul (UE) 2021/522.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BAZA DE TRATAMENT, MÂINE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document se aplică direct activității voastre de mâine?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1762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OMS pentru Europa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907792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30723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907792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Inițiativa „Rehabilitation 2030”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803904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9684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803904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EU4Health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700016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48646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700016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națională de sănătate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549640" y="2011680"/>
            <a:ext cx="30175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49640" y="20116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Apoi, cu colegul de bancă: ce ar schimba documentul ales în ședința doamnei Elena?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4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 DE MÂINE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188720"/>
            <a:ext cx="10972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mai dați nicio foaie cu exerciții fără să fi văzut persoana făcând exercițiul și fără să o fi auzit spunând când îl face.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4480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un pacient nu își face exercițiile, întrebați întâi ce lipsește: știe și poate? are unde și când? vrea?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RĂMAS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Fișa, cele trei condiții, cartierul: zece întrebări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Accesați kahoot.it și introduceți codul jocului.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3200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jocului Kahoot]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3200400"/>
            <a:ext cx="5166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Rezultatul nu se notează. După fiecare întrebare discutăm răspunsurile greșite.</a:t>
            </a:r>
            <a:endParaRPr lang="en-US" sz="1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49640" y="25146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începutul săptămânii viitoare, pe pagina disciplinei, veți găsi două modificări făcute pe baza răspunsurilor.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Cursul 1 - Fișa din sertar</dc:title>
  <dc:subject>PptxGenJS Presentation</dc:subject>
  <dc:creator>Disciplina de Sănătate publică și management, UMF Cluj-Napoca</dc:creator>
  <cp:lastModifiedBy>Disciplina de Sănătate publică și management, UMF Cluj-Napoca</cp:lastModifiedBy>
  <cp:revision>1</cp:revision>
  <dcterms:created xsi:type="dcterms:W3CDTF">2026-10-03T20:08:42Z</dcterms:created>
  <dcterms:modified xsi:type="dcterms:W3CDTF">2026-10-03T20:08:42Z</dcterms:modified>
  <cp:keywords>sursa_amprenta=b8ab5258bd73d8d6; proiectie</cp:keywords>
</cp:coreProperties>
</file>