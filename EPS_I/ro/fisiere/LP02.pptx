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-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603504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7772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EDUCAȚIE PENTRU SĂNĂTATE  ·  LUCRAREA PRACTICĂ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 și cartierul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Medicina individuală și sănătatea comunitară; un program pentru elevi; ce spun datele despre nevoi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67512" y="516636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53949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UMF Cluj-Napoca · Balneofiziokinetoterapie și recuperare, anul I</a:t>
            </a:r>
            <a:endParaRPr lang="en-US" sz="1400" dirty="0"/>
          </a:p>
        </p:txBody>
      </p:sp>
      <p:pic>
        <p:nvPicPr>
          <p:cNvPr id="8" name="Image 0" descr="/Users/adrianpana/Downloads/UMF_Cluj_SP/Materiale SP/Atelier_didactic/discipline/EPS_I/active/img/fizioterapie_consultatie_dvi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960120"/>
            <a:ext cx="2258568" cy="3200400"/>
          </a:xfrm>
          <a:prstGeom prst="rect">
            <a:avLst/>
          </a:prstGeom>
        </p:spPr>
      </p:pic>
      <p:pic>
        <p:nvPicPr>
          <p:cNvPr id="9" name="Image 1" descr="/Users/adrianpana/Downloads/UMF_Cluj_SP/Materiale SP/Atelier_didactic/discipline/EPS_I/active/img/trotuar_deteriorat_bytom_common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016" y="960120"/>
            <a:ext cx="2560320" cy="3200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903720" y="4297680"/>
            <a:ext cx="2258568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903720" y="4297680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272016" y="429768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9272016" y="42976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CARTIERUL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903720" y="48463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CCD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 stânga: Marcy Sanchez, domeniu public (DVIDS), via Wikimedia Commons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903720" y="50749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CCD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 dreapta: Marek Ślusarczyk (Tupungato), licență CC BY, via Wikimedia Commons; trotuar deteriorat, Bytom, Polonia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292608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272A38"/>
          </a:solidFill>
          <a:ln w="15875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36576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FACEM CU RĂSPUNSURILE VOASTRE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58368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Întâi citim toate răspunsurile de la biletul de ieșire al primei lucrări practice.</a:t>
            </a:r>
            <a:br>
              <a:rPr lang="en-US" sz="13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</a:br>
            <a:r>
              <a:rPr lang="en-US" sz="13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Apoi alegem două modificări și le aplicăm de la lucrarea următoare.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săptămână, două întrebări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94360" y="2057400"/>
            <a:ext cx="4160520" cy="4023360"/>
          </a:xfrm>
          <a:prstGeom prst="roundRect">
            <a:avLst>
              <a:gd name="adj" fmla="val 204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AMBULATORIUL DE RECUPERARE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606040"/>
            <a:ext cx="3703320" cy="38404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2606040"/>
            <a:ext cx="64008" cy="384048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05840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Doamna Elena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26060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genunchi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063240"/>
            <a:ext cx="3703320" cy="38404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3063240"/>
            <a:ext cx="64008" cy="384048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05840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 nou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3063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cădere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3520440"/>
            <a:ext cx="3703320" cy="38404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960" y="3520440"/>
            <a:ext cx="64008" cy="384048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05840" y="3520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 nou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34640" y="35204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genunchi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977640"/>
            <a:ext cx="3703320" cy="38404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22960" y="3977640"/>
            <a:ext cx="64008" cy="384048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05840" y="3977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 nou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834640" y="39776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cădere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452628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doamna Elena, kinetoterapeutul lucrează cu problemele ei. Vineri observă: majoritatea pacienților noi sunt vârstnici din același cartier și aproape niciunul nu face mișcare între ședințe.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2057400"/>
            <a:ext cx="4160520" cy="4023360"/>
          </a:xfrm>
          <a:prstGeom prst="roundRect">
            <a:avLst>
              <a:gd name="adj" fmla="val 204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16636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LABORATORUL DE IMAGISTICĂ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166360" y="2606040"/>
            <a:ext cx="3017520" cy="685800"/>
          </a:xfrm>
          <a:prstGeom prst="roundRect">
            <a:avLst>
              <a:gd name="adj" fmla="val 16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303520" y="26060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Mama: „Este periculoasă examinarea?”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35040" y="3429000"/>
            <a:ext cx="2880360" cy="685800"/>
          </a:xfrm>
          <a:prstGeom prst="roundRect">
            <a:avLst>
              <a:gd name="adj" fmla="val 16000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172200" y="3429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Asistenta explică ce va simți copilul.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166360" y="4343400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ședința lunară, șeful laboratorului arată că tomografiile de cap la copiii cu lovituri ușoare au crescut față de anul trecut.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281160" y="2057400"/>
            <a:ext cx="2286000" cy="4023360"/>
          </a:xfrm>
          <a:prstGeom prst="roundRect">
            <a:avLst>
              <a:gd name="adj" fmla="val 36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418320" y="21945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fiecare caz sunt două întrebări. Care aparține sănătății comunitare?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464040" y="3749040"/>
            <a:ext cx="1920240" cy="21031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601200" y="3886200"/>
            <a:ext cx="1645920" cy="182880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692640" y="3977640"/>
            <a:ext cx="1463040" cy="164592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Mentimeter: intrați pe menti.com cu codul afișat pe ecran.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 · VOTUL DE DESCHIDERE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întrebare e a comunității?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AMBULATORIUL DE RECUPERARE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2057400"/>
            <a:ext cx="82296" cy="123444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05740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exerciții sunt potrivite pentru genunchiul doamnei Elena?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34840" y="246888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34840" y="24688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INDIVIDUALĂ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47472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4360" y="3474720"/>
            <a:ext cx="82296" cy="16916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47472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au atât de mulți vârstnici din cartier dureri de genunchi sau căderi și ce se poate face pentru toți?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34840" y="41605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434840" y="41605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COMUNITARĂ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LABORATORUL DE IMAGISTICĂ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0574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17920" y="2057400"/>
            <a:ext cx="82296" cy="123444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37960" y="205740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va simți băiatul în timpul tomografiei?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58400" y="246888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058400" y="24688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INDIVIDUALĂ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47472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217920" y="3474720"/>
            <a:ext cx="82296" cy="16916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37960" y="347472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a crescut numărul tomografiilor de cap la copiii cu lovituri ușoare și ce schimbăm pentru toți copiii?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058400" y="41605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058400" y="41605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COMUNITARĂ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539496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68680" y="53949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Ambele întrebări sunt legitime și ambele țin de profesia voastră. Prima privește o persoană, a doua un grup întreg.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PRIMII DOI TERMENI NOI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Comunitatea și medicina comunitară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737360"/>
            <a:ext cx="82296" cy="416052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1 · COMUNITATEA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grup de oameni cu ceva important în comun și cu nevoi asemănătoare.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cartier, o școală, angajații unei fabrici, pacienții unui centru de recuperare, părinții copiilor care ajung la radiologie.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17920" y="1737360"/>
            <a:ext cx="82296" cy="41605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3796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2 · MEDICINA COMUNITARĂ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3774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Grija pentru sănătatea unui grup întreg, nu a unui singur pacient.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537960" y="3749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0" y="3840480"/>
            <a:ext cx="365760" cy="329184"/>
          </a:xfrm>
          <a:prstGeom prst="rightArrow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73252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comunitatea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4389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diagnosticul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0" y="4480560"/>
            <a:ext cx="365760" cy="329184"/>
          </a:xfrm>
          <a:prstGeom prst="rightArrow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732520" y="4389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 despre grup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5029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tratamentul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0" y="5120640"/>
            <a:ext cx="365760" cy="329184"/>
          </a:xfrm>
          <a:prstGeom prst="rightArrow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732520" y="5029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program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Glosarul Organizației Mondiale a Sănătății, 1998 (comunitatea).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ȘASE DEOSEBIRI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pacient, o comunitate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0" y="1645920"/>
            <a:ext cx="4343400" cy="457200"/>
          </a:xfrm>
          <a:prstGeom prst="roundRect">
            <a:avLst>
              <a:gd name="adj" fmla="val 18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223760" y="1645920"/>
            <a:ext cx="4343400" cy="457200"/>
          </a:xfrm>
          <a:prstGeom prst="roundRect">
            <a:avLst>
              <a:gd name="adj" fmla="val 18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97180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MEDICINA INDIVIDUALĂ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5236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SĂNĂTATEA COMUNITARĂ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cine îngrijiți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0" y="2240280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223760" y="2240280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926080" y="22402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persoana din fața voastră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406640" y="22402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grup întreg, inclusiv cei care nu vin la cabinet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94360" y="2880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face primul pas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2880360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223760" y="2880360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926080" y="2880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 vine când are o problemă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06640" y="2880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profesioniștii merg spre oameni, înainte de boală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94360" y="3520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Diagnosticul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0" y="3520440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223760" y="3520440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92608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examen și teste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40664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 despre grup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94360" y="4160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0" y="4160520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223760" y="4160520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926080" y="4160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tratament și recuperare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406640" y="4160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programe de prevenție și educație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94360" y="4800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știți că a mers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0" y="4800600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223760" y="4800600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926080" y="48006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persoana și-a recâștigat funcția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406640" y="48006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schimbă cifrele grupului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594360" y="5440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Dacă alegeți doar una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743200" y="5440680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223760" y="5440680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926080" y="5440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cazurile noi continuă să vină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7406640" y="5440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persoana cu o problemă rămâne fără îngrijire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GEOFFREY ROSE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risc mic, la mulți oameni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17830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ÎNTREBAREA 1 · STRATEGIA RISCULUI ÎNALT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determină cazurile individuale? Căutați persoanele vulnerabile și le protejați.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36576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" y="3657600"/>
            <a:ext cx="82296" cy="17830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3794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ÎNTREBAREA 2 · STRATEGIA POPULAȚIONALĂ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20624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determină frecvența bolii în populație? Controlați cauzele care fac boala frecventă.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56235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obicei nu sunt în competiție; prima grijă rămâne controlul cauzelor.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55080" y="169164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55080" y="16916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5508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Căderile dintr-un cartier, într-un 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55080" y="26974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1 000 de vârstnici cu risc mare (20%)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55080" y="3044952"/>
            <a:ext cx="1706880" cy="457200"/>
          </a:xfrm>
          <a:prstGeom prst="roundRect">
            <a:avLst>
              <a:gd name="adj" fmla="val 12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199120" y="30449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200 de căderi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3794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9 000 de vârstnici cu risc mic (5%)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4142232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332720" y="41422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450 de căderi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55080" y="49377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alte valori, rezultatul se poate inversa.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738360" y="4617720"/>
            <a:ext cx="18288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24" name="Picture 23" descr="EPS_LP02_sala_miercuri_14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870374"/>
            <a:ext cx="773582" cy="77358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780423" y="5682056"/>
            <a:ext cx="872337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miercuri</a:t>
            </a:r>
          </a:p>
        </p:txBody>
      </p:sp>
      <p:pic>
        <p:nvPicPr>
          <p:cNvPr id="26" name="Picture 25" descr="EPS_LP02_sala_vineri_16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2137" y="4870374"/>
            <a:ext cx="773582" cy="77358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652760" y="5682056"/>
            <a:ext cx="872337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vineri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MICROSOFT FORMS · PARTEA 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ECHIPE DE PATRU SAU CINCI COLEGI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pași, o echipă, un telefon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7589520" cy="667512"/>
          </a:xfrm>
          <a:prstGeom prst="roundRect">
            <a:avLst>
              <a:gd name="adj" fmla="val 1232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18608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8608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737360"/>
            <a:ext cx="6446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întrebare aparține sănătății comunitare, în fiecare caz?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514600"/>
            <a:ext cx="7589520" cy="667512"/>
          </a:xfrm>
          <a:prstGeom prst="roundRect">
            <a:avLst>
              <a:gd name="adj" fmla="val 1232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26380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26380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514600"/>
            <a:ext cx="6446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este „pacientul” comunității și din ce se pune „diagnosticul”?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291840"/>
            <a:ext cx="7589520" cy="667512"/>
          </a:xfrm>
          <a:prstGeom prst="roundRect">
            <a:avLst>
              <a:gd name="adj" fmla="val 1232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341528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34152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291840"/>
            <a:ext cx="6446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Calculați: căderile din cartier și cazurile după tomografiile unui an.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4069080"/>
            <a:ext cx="7589520" cy="667512"/>
          </a:xfrm>
          <a:prstGeom prst="roundRect">
            <a:avLst>
              <a:gd name="adj" fmla="val 1232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68680" y="41925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41925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069080"/>
            <a:ext cx="6446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Alegeți decizia care reflectă raționamentul lui Rose.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94360" y="4937760"/>
            <a:ext cx="7589520" cy="1234440"/>
          </a:xfrm>
          <a:prstGeom prst="roundRect">
            <a:avLst>
              <a:gd name="adj" fmla="val 666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5029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REAMINTIRE DIN CURSUL AL DOILEA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5349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Tomografiile capului la copii sub 10 ani: un caz suplimentar de leucemie și unul de tumoră cerebrală la 10 000 de examinări (estimare pentru tomografiile din 1985–2002).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95360" y="1783080"/>
            <a:ext cx="2971800" cy="29718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595360" y="493776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pas se deschide numai după răspunsul corect la cel dinainte.</a:t>
            </a:r>
            <a:endParaRPr lang="en-US" sz="1500" dirty="0"/>
          </a:p>
        </p:txBody>
      </p:sp>
      <p:pic>
        <p:nvPicPr>
          <p:cNvPr id="29" name="Picture 28" descr="EPS_LP02_sala_miercuri_14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50" y="2434069"/>
            <a:ext cx="1257071" cy="125707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63712" y="3729240"/>
            <a:ext cx="1417548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miercuri</a:t>
            </a:r>
          </a:p>
        </p:txBody>
      </p:sp>
      <p:pic>
        <p:nvPicPr>
          <p:cNvPr id="31" name="Picture 30" descr="EPS_LP02_sala_vineri_16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1498" y="2434069"/>
            <a:ext cx="1257071" cy="125707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081260" y="3729240"/>
            <a:ext cx="1417548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vineri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 · PARTEA 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s-a greșit?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9319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905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691640"/>
            <a:ext cx="3383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[distribuția răspunsurilor, proiectată din Forms]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691640"/>
            <a:ext cx="6812280" cy="786384"/>
          </a:xfrm>
          <a:prstGeom prst="roundRect">
            <a:avLst>
              <a:gd name="adj" fmla="val 104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54880" y="1691640"/>
            <a:ext cx="82296" cy="786384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983480" y="1874520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8348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1691640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Întrebarea comunitară privește grupul; celelalte, o singură persoană.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54880" y="2587752"/>
            <a:ext cx="6812280" cy="786384"/>
          </a:xfrm>
          <a:prstGeom prst="roundRect">
            <a:avLst>
              <a:gd name="adj" fmla="val 104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754880" y="2587752"/>
            <a:ext cx="82296" cy="786384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983480" y="277063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83480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2587752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 este comunitatea; diagnosticul vine din date despre grup.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754880" y="3483864"/>
            <a:ext cx="6812280" cy="786384"/>
          </a:xfrm>
          <a:prstGeom prst="roundRect">
            <a:avLst>
              <a:gd name="adj" fmla="val 104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754880" y="3483864"/>
            <a:ext cx="82296" cy="786384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983480" y="3666744"/>
            <a:ext cx="420624" cy="420624"/>
          </a:xfrm>
          <a:prstGeom prst="ellipse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983480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77840" y="3483864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450 ÷ 650 × 100 = 69,2%. Tomografii: 50 000 ÷ 10 000 × 2 = 10 cazuri în zece ani.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754880" y="4379976"/>
            <a:ext cx="6812280" cy="786384"/>
          </a:xfrm>
          <a:prstGeom prst="roundRect">
            <a:avLst>
              <a:gd name="adj" fmla="val 104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754880" y="4379976"/>
            <a:ext cx="82296" cy="786384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983480" y="4562856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983480" y="4562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4379976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două se completează: 130 de căderi evitate prin programul pentru cartier, 100 prin cel individual.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94360" y="544068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68680" y="54406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vedeți același tip de pacient de mai multe ori, puneți-vă și întrebarea comunității.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CAZUL · CEREREA ȘCOLII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oră despre postură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6766560" cy="443484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14300" dist="50800" dir="36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18745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la: directoarea unei școli gimnaziale din cartier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1762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Către: centrul de recuperare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2560320"/>
            <a:ext cx="6035040" cy="18288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7432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Profesorii de educație fizică au observat că mulți elevi de clasa a șaptea obosesc repede, stau aplecați peste telefon în pauze și se plâng de spate.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4343400"/>
            <a:ext cx="6126480" cy="118872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434340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Vă rog „o oră despre postură, ținută de un kinetoterapeut, pentru toate clasele a șaptea”.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635240" y="1645920"/>
            <a:ext cx="3931920" cy="2148840"/>
          </a:xfrm>
          <a:prstGeom prst="roundRect">
            <a:avLst>
              <a:gd name="adj" fmla="val 383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909560" y="164592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vrem să se schimbe în viața lor și cum vom ști dacă s-a schimbat?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35240" y="3977640"/>
            <a:ext cx="3931920" cy="2103120"/>
          </a:xfrm>
          <a:prstGeom prst="roundRect">
            <a:avLst>
              <a:gd name="adj" fmla="val 39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909560" y="39776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oră ținută o singură dată este informare, nu încă educație pentru sănătate.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SALA ÎN DOUĂ TABERE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AFIRMAȚIE DE VERIFICAT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„Un program de mișcare organizat la școală îi face pe elevi mult mai activi.”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2514600"/>
            <a:ext cx="82296" cy="96012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5146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CRED  ·  partea stângă a sălii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2514600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17920" y="2514600"/>
            <a:ext cx="82296" cy="9601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37960" y="25146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O CRED  ·  partea dreaptă a sălii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3611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 un voluntar din fiecare tabără își spune argumentul într-un minut.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206240"/>
            <a:ext cx="10972800" cy="1965960"/>
          </a:xfrm>
          <a:prstGeom prst="roundRect">
            <a:avLst>
              <a:gd name="adj" fmla="val 418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206240"/>
            <a:ext cx="5394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puțin de 1 din 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400800" y="4206240"/>
            <a:ext cx="4937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copii și adolescenți ating, în lume, recomandarea OMS: cel puțin 60 de minute pe zi de mișcare moderată sau intensă.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Ghidul OMS din 2020 și analiza sistematică Cochrane din 2021.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 · VERDICTUL TABERELOR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arată 89 de studii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669280" cy="3429000"/>
          </a:xfrm>
          <a:prstGeom prst="roundRect">
            <a:avLst>
              <a:gd name="adj" fmla="val 24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830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0,73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minute în plus pe zi, în medie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4069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cele 33 de studii care au măsurat timpul de mișcare moderată sau intensă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37960" y="1691640"/>
            <a:ext cx="50292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766560" y="1828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89 DE STUDII RANDOMIZATE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0" y="21945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66 752 de participanți de 6–18 ani; programe de activitate fizică din școli.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37960" y="3520440"/>
            <a:ext cx="50292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766560" y="3657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VERDICT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40233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„Mult mai activi” nu se confirmă: efecte mici și foarte variabile.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53492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53492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program bine intenționat nu funcționează de la sine: obiectivul și măsurarea se scriu de la început.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63276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Analiză sistematică Cochrane, 2021.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PROGRAMULUI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Șapte rubrici, o pagină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94960" cy="452628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14300" dist="50800" dir="36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8470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 DE EDUCAȚIE PENTRU SĂNĂTATE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4400" y="2212848"/>
            <a:ext cx="4754880" cy="18288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2395728"/>
            <a:ext cx="347472" cy="347472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3774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Problema, cu o cifră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508760" y="2779776"/>
            <a:ext cx="4114800" cy="10973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60120" y="2926080"/>
            <a:ext cx="347472" cy="347472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6012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9077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Grupul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508760" y="3310128"/>
            <a:ext cx="4114800" cy="10973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3401568"/>
            <a:ext cx="4846320" cy="45720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60120" y="3456432"/>
            <a:ext cx="347472" cy="347472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4381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Obiectivul măsurabil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508760" y="3840480"/>
            <a:ext cx="4114800" cy="10973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60120" y="3986784"/>
            <a:ext cx="347472" cy="347472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6012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39684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Activitățile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508760" y="4370832"/>
            <a:ext cx="4114800" cy="10973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60120" y="4517136"/>
            <a:ext cx="347472" cy="347472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60120" y="4517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08760" y="44988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Partenerii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508760" y="4901184"/>
            <a:ext cx="4114800" cy="10973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60120" y="5047488"/>
            <a:ext cx="347472" cy="347472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60120" y="5047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08760" y="5029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Resursele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1508760" y="5431536"/>
            <a:ext cx="4114800" cy="10973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60120" y="5577840"/>
            <a:ext cx="347472" cy="347472"/>
          </a:xfrm>
          <a:prstGeom prst="ellipse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60120" y="5577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508760" y="55595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1508760" y="5961888"/>
            <a:ext cx="4114800" cy="10973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263640" y="164592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263640" y="16459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63640" y="210312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263640" y="2103120"/>
            <a:ext cx="82296" cy="13716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58368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SE POATE EVALUA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583680" y="2560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„Elevii vor înțelege importanța unei posturi corecte.”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6263640" y="3657600"/>
            <a:ext cx="5303520" cy="2514600"/>
          </a:xfrm>
          <a:prstGeom prst="roundRect">
            <a:avLst>
              <a:gd name="adj" fmla="val 327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263640" y="3657600"/>
            <a:ext cx="82296" cy="25146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583680" y="3749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POATE NUMĂRA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583680" y="41148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„Până la sfârșitul semestrului, cel puțin 60 dintre cei 120 de elevi de clasa a șaptea fac zilnic, la școală, o pauză activă de zece minute, numărată de diriginte într-o săptămână din octombrie și într-una din februarie.”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FORMS · PARTEA A II-A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LUCRAȚI VOI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programului pentru elevi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7863840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181051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69164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Mișcarea zilnică a elevilor de gimnaziu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468880"/>
            <a:ext cx="7863840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258775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46888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Pauzele active în timpul orelor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246120"/>
            <a:ext cx="7863840" cy="658368"/>
          </a:xfrm>
          <a:prstGeom prst="roundRect">
            <a:avLst>
              <a:gd name="adj" fmla="val 1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33649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24612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Timpul petrecut stând în fața ecranelor după școală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94360" y="41148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rubrica „problema”: porniți și de la ce ați aflat de la un frate, o soră sau un vecin de gimnaziu.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23960" y="1691640"/>
            <a:ext cx="27432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823960" y="4526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a doua a formularului.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074920"/>
            <a:ext cx="3474720" cy="1097280"/>
          </a:xfrm>
          <a:prstGeom prst="roundRect">
            <a:avLst>
              <a:gd name="adj" fmla="val 75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5074920"/>
            <a:ext cx="82296" cy="109728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68680" y="5166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ECHIPELE LUCREAZĂ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54589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 de minute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343400" y="5074920"/>
            <a:ext cx="3474720" cy="1097280"/>
          </a:xfrm>
          <a:prstGeom prst="roundRect">
            <a:avLst>
              <a:gd name="adj" fmla="val 75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343400" y="5074920"/>
            <a:ext cx="82296" cy="10972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617720" y="5166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ECHIPE, LA SORȚI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17720" y="54589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minute fiecare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092440" y="5074920"/>
            <a:ext cx="3474720" cy="1097280"/>
          </a:xfrm>
          <a:prstGeom prst="roundRect">
            <a:avLst>
              <a:gd name="adj" fmla="val 75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092440" y="5074920"/>
            <a:ext cx="82296" cy="10972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366760" y="5166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SALA RĂSPUNDE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66760" y="54589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„Cum vom ști, în iunie, dacă programul a mers?”</a:t>
            </a:r>
            <a:endParaRPr lang="en-US" sz="1400" dirty="0"/>
          </a:p>
        </p:txBody>
      </p:sp>
      <p:pic>
        <p:nvPicPr>
          <p:cNvPr id="35" name="Picture 34" descr="EPS_LP02_sala_miercuri_14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276678"/>
            <a:ext cx="1160374" cy="116037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887054" y="3475152"/>
            <a:ext cx="1308506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miercuri</a:t>
            </a:r>
          </a:p>
        </p:txBody>
      </p:sp>
      <p:pic>
        <p:nvPicPr>
          <p:cNvPr id="37" name="Picture 36" descr="EPS_LP02_sala_vineri_16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9626" y="2276678"/>
            <a:ext cx="1160374" cy="116037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195560" y="3475152"/>
            <a:ext cx="1308506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vineri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ÎNTREBĂRI PENTRU TOATĂ SALA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CAZUL · TATĂL CARE A CITIT PE INTERNET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spun datele și cum se citesc?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6492240" cy="1920240"/>
          </a:xfrm>
          <a:prstGeom prst="roundRect">
            <a:avLst>
              <a:gd name="adj" fmla="val 42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810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 SITUAȚIE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tată a găsit pe internet un program de exerciții „care corectează postura în două săptămâni” și vrea să știe dacă îl poate face acasă cu fiul lui.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794760"/>
            <a:ext cx="6492240" cy="1920240"/>
          </a:xfrm>
          <a:prstGeom prst="roundRect">
            <a:avLst>
              <a:gd name="adj" fmla="val 42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39136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DOUA SITUAȚIE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2519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Echipa programului pentru școală propune afișele și filmele scurte numai pe internet, pentru că „oricum toată lumea caută acolo”.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60920" y="1691640"/>
            <a:ext cx="4206240" cy="4023360"/>
          </a:xfrm>
          <a:prstGeom prst="roundRect">
            <a:avLst>
              <a:gd name="adj" fmla="val 204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6352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ÎNTREBAREA PREGĂTITĂ DE VOI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35240" y="2240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Cea pe care v-ar putea-o pune un pacient sau un părinte.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635240" y="35661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ar căuta acel om răspunsul și cum ar ști dacă îl poate crede?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635240" y="4983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Răspunsurile se notează pe tablă.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ANCHETĂ EUROPEANĂ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caută informații despre sănătate pe internet?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 nevoilor, din prima lucrare: ce problemă are comunitatea, cât de mare este și de ce apare.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5074920"/>
            <a:ext cx="7315200" cy="22860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679209"/>
            <a:ext cx="658368" cy="1395711"/>
          </a:xfrm>
          <a:prstGeom prst="rect">
            <a:avLst/>
          </a:prstGeom>
          <a:solidFill>
            <a:srgbClr val="D9A0A6"/>
          </a:solidFill>
          <a:ln w="12700">
            <a:solidFill>
              <a:srgbClr val="D9A0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3350025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31,2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1297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2019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5920" y="3817885"/>
            <a:ext cx="658368" cy="1257035"/>
          </a:xfrm>
          <a:prstGeom prst="rect">
            <a:avLst/>
          </a:prstGeom>
          <a:solidFill>
            <a:srgbClr val="D9A0A6"/>
          </a:solidFill>
          <a:ln w="12700">
            <a:solidFill>
              <a:srgbClr val="D9A0A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554480" y="3488701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28,1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51297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0" y="3285547"/>
            <a:ext cx="658368" cy="1789373"/>
          </a:xfrm>
          <a:prstGeom prst="rect">
            <a:avLst/>
          </a:prstGeom>
          <a:solidFill>
            <a:srgbClr val="D9A0A6"/>
          </a:solidFill>
          <a:ln w="12700">
            <a:solidFill>
              <a:srgbClr val="D9A0A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468880" y="2956363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40,0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51297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0" y="3782098"/>
            <a:ext cx="658368" cy="1292822"/>
          </a:xfrm>
          <a:prstGeom prst="rect">
            <a:avLst/>
          </a:prstGeom>
          <a:solidFill>
            <a:srgbClr val="D9A0A6"/>
          </a:solidFill>
          <a:ln w="12700">
            <a:solidFill>
              <a:srgbClr val="D9A0A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383280" y="3452914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28,9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51297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89120" y="3012667"/>
            <a:ext cx="658368" cy="2062253"/>
          </a:xfrm>
          <a:prstGeom prst="rect">
            <a:avLst/>
          </a:prstGeom>
          <a:solidFill>
            <a:srgbClr val="D9A0A6"/>
          </a:solidFill>
          <a:ln w="12700">
            <a:solidFill>
              <a:srgbClr val="D9A0A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297680" y="2683483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46,1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51297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03520" y="3665789"/>
            <a:ext cx="658368" cy="1409131"/>
          </a:xfrm>
          <a:prstGeom prst="rect">
            <a:avLst/>
          </a:prstGeom>
          <a:solidFill>
            <a:srgbClr val="D9A0A6"/>
          </a:solidFill>
          <a:ln w="12700">
            <a:solidFill>
              <a:srgbClr val="D9A0A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212080" y="3336605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31,5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51297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3164764"/>
            <a:ext cx="658368" cy="1910156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126480" y="283558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42,7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51297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040880" y="1920240"/>
            <a:ext cx="13716" cy="3474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315200" y="2377440"/>
            <a:ext cx="658368" cy="269748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223760" y="204825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60,3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23760" y="51297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 2025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5532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Persoane de 16–74 de ani care au căutat informații despre sănătate pe internet în ultimele trei luni (%).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Eurostat, ancheta despre folosirea tehnologiei informației (isoc_ci_ac_i), valorile publicate.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12480" y="1920240"/>
            <a:ext cx="315468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412480" y="1920240"/>
            <a:ext cx="82296" cy="12801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68680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a fost întrebat?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686800" y="2377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persoanele de 16–74 de ani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412480" y="3337560"/>
            <a:ext cx="315468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412480" y="3337560"/>
            <a:ext cx="82296" cy="1280160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686800" y="3447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PERIOADĂ?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686800" y="3794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trei luni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412480" y="4754880"/>
            <a:ext cx="315468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8412480" y="4754880"/>
            <a:ext cx="82296" cy="128016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6868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CE AN?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686800" y="52120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cifră dintr-un singur an poate înșela: priviți mai mulți ani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FORMS · PARTEA A III-A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ȘTIȚI CE SPUN DATELE?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sarcini, aceleași echipe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7498080" cy="1188720"/>
          </a:xfrm>
          <a:prstGeom prst="roundRect">
            <a:avLst>
              <a:gd name="adj" fmla="val 692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2121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737360"/>
            <a:ext cx="6355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Calculați diferența dintre Uniunea Europeană și România, în 2025, în puncte procentuale, cu o zecimală.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063240"/>
            <a:ext cx="7498080" cy="1188720"/>
          </a:xfrm>
          <a:prstGeom prst="roundRect">
            <a:avLst>
              <a:gd name="adj" fmla="val 692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34472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063240"/>
            <a:ext cx="6355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Ancheta clasei a șaptea: din 28 de elevi, 6 au făcut mișcare cel puțin 60 de minute în fiecare dintre ultimele șapte zile. Ce proporție?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389120"/>
            <a:ext cx="7498080" cy="1188720"/>
          </a:xfrm>
          <a:prstGeom prst="roundRect">
            <a:avLst>
              <a:gd name="adj" fmla="val 692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47731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773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4389120"/>
            <a:ext cx="6355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Alegeți întrebarea de chestionar formulată corect pentru program.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5760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Ancheta clasei: valori ipotetice. Eurostat 2025: România 42,7%, Uniunea Europeană 60,3%.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0" y="1737360"/>
            <a:ext cx="3154680" cy="3749040"/>
          </a:xfrm>
          <a:prstGeom prst="roundRect">
            <a:avLst>
              <a:gd name="adj" fmla="val 2609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412480" y="1737360"/>
            <a:ext cx="82296" cy="37490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3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0" y="2240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Punct procentual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686800" y="3108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Unitatea în care se măsoară diferența dintre două procente.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0" y="4663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Formularul rămâne deschis.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 · PARTEA A III-A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se calculează și cum se întreabă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474720" cy="2697480"/>
          </a:xfrm>
          <a:prstGeom prst="roundRect">
            <a:avLst>
              <a:gd name="adj" fmla="val 305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269748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PUNCTE PROCENTUALE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60,3 − 42,7: diferența dintre două procente se spune în puncte procentuale, nu în procente. Rezultatul apare în formular.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474720" cy="2697480"/>
          </a:xfrm>
          <a:prstGeom prst="roundRect">
            <a:avLst>
              <a:gd name="adj" fmla="val 305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43400" y="1691640"/>
            <a:ext cx="82296" cy="269748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1772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ANCHETA CLASEI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17720" y="2240280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 ÷ 28 × 100 = 21,4%: criteriu mai strict decât media de 60 de minute pe zi.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1691640"/>
            <a:ext cx="3474720" cy="2697480"/>
          </a:xfrm>
          <a:prstGeom prst="roundRect">
            <a:avLst>
              <a:gd name="adj" fmla="val 305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92440" y="1691640"/>
            <a:ext cx="82296" cy="269748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6676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ÎNTREBAREA BUNĂ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66760" y="2240280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„În ultimele șapte zile, în câte zile ați făcut mișcare cel puțin 60 de minute în total?” Un singur lucru, o perioadă clară, niciun răspuns sugerat.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4572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INFORMAȚIA DE PE INTERNET · PATRU ÎNTREBĂRI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4937760"/>
            <a:ext cx="265176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4937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o publică?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01568" y="4937760"/>
            <a:ext cx="265176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584448" y="4937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a fost actualizată?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08776" y="4937760"/>
            <a:ext cx="265176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91656" y="4937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ce se sprijină?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015984" y="4937760"/>
            <a:ext cx="265176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198864" y="4937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confirmă o a doua sursă independentă?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502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DIFERIT DE MÂINE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77724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15636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563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508760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Același tip de pacient de mai multe ori: întrebarea comunității.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94360" y="2130552"/>
            <a:ext cx="77724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68680" y="21854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130552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cerere „o oră despre”: ce se schimbă și cum vom ști.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94360" y="2752344"/>
            <a:ext cx="77724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68680" y="28072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2752344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cifră citată: cine, ce perioadă, ce an.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85800" y="3566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FINAL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9959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3995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931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 azi?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22960" y="465429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4654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59028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22960" y="531266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2960" y="5312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5248656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641080" y="1508760"/>
            <a:ext cx="292608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778240" y="1645920"/>
            <a:ext cx="2651760" cy="265176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69680" y="1737360"/>
            <a:ext cx="2468880" cy="246888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Mentimeter: intrați pe menti.com cu codul afișat pe ecran.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41080" y="46177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începutul săptămânii viitoare, pe pagina disciplinei, veți găsi două modificări făcute pe baza răspunsurilor.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Lucrarea practică 2 - Pacientul și cartierul</dc:title>
  <dc:subject>PptxGenJS Presentation</dc:subject>
  <dc:creator>Conf. Univ. Dr. Adrian Pana</dc:creator>
  <cp:lastModifiedBy>Conf. Univ. Dr. Adrian Pana</cp:lastModifiedBy>
  <cp:revision>1</cp:revision>
  <dcterms:created xsi:type="dcterms:W3CDTF">2026-10-04T16:11:58Z</dcterms:created>
  <dcterms:modified xsi:type="dcterms:W3CDTF">2026-10-04T16:11:58Z</dcterms:modified>
  <cp:keywords>sursa_amprenta=86776a30fdcc4b6d; proiectie</cp:keywords>
</cp:coreProperties>
</file>