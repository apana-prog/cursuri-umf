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3093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EDUCAȚIE PENTRU SĂNĂTATE  ·  LUCRAREA PRACTICĂ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critică a materialelor de educație pentru sănătate din domeniul recuperării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pliant pentru durerea de spate: îl retipărim așa?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67512" y="512064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49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Balneofiziokinetoterapie și recuperare, anul 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868680"/>
            <a:ext cx="3840480" cy="512064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14300" dist="50800" dir="36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0" y="1097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Lombalgia cronică nespecifică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291840" cy="1188720"/>
          </a:xfrm>
          <a:prstGeom prst="rect">
            <a:avLst/>
          </a:prstGeom>
          <a:solidFill>
            <a:srgbClr val="E4DFD2"/>
          </a:solidFill>
          <a:ln w="9525">
            <a:solidFill>
              <a:srgbClr val="C9C6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874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fotografie, fără legendă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291840"/>
            <a:ext cx="329184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593592"/>
            <a:ext cx="297180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3895344"/>
            <a:ext cx="265176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4197096"/>
            <a:ext cx="23317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4498848"/>
            <a:ext cx="329184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4800600"/>
            <a:ext cx="297180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5102352"/>
            <a:ext cx="265176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5404104"/>
            <a:ext cx="2331720" cy="457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272A38"/>
          </a:solidFill>
          <a:ln w="15875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840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LUCRURI SCHIMBATE DUPĂ RĂSPUNSURILE VOASTRE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[le anunță cadrul didactic]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 din sala de așteptare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7223760" cy="4023360"/>
          </a:xfrm>
          <a:prstGeom prst="roundRect">
            <a:avLst>
              <a:gd name="adj" fmla="val 204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057400"/>
            <a:ext cx="82296" cy="40233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 · ACTUL ÎNTÂI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Ambulatoriul de recuperare A dă fiecărui pacient cu durere de spate un pliant, la prima ședință. Pliantul s-a terminat.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6675120" cy="6858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49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Managerul: „Îl retipărim așa?”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nou tiraj, de două mii de exemplare. Echipa vă cere o analiză până la ședința comitetului.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205740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240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Ambulatoriul, persoanele și comitetul sunt imaginate; detaliile sunt plauzibile, nu reale.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PLIANTUL, PRIMA EDIȚIE · FAȚA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primește pacientul azi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452628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Lombalgia cronică nespecifică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331720"/>
            <a:ext cx="3108960" cy="1737360"/>
          </a:xfrm>
          <a:prstGeom prst="rect">
            <a:avLst/>
          </a:prstGeom>
          <a:solidFill>
            <a:srgbClr val="E4DFD2"/>
          </a:solidFill>
          <a:ln w="9525">
            <a:solidFill>
              <a:srgbClr val="C9C6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774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Pacientă la masaj, cu fața vizibilă, fără legendă.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331720"/>
            <a:ext cx="7040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„Lombalgia reprezintă una dintre cele mai frecvente afecțiuni ale aparatului locomotor; 619 milioane de oameni din lume suferă de dureri de spate. Etiologia este multifactorială.”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„În majoritatea cazurilor, durerea trece de la sine. Se recomandă efectuarea </a:t>
            </a:r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zilnică</a:t>
            </a:r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a programului de kinetoterapie: </a:t>
            </a:r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 de repetări</a:t>
            </a:r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pe zi din fiecare exercițiu, în 3 serii egale.”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 construit. 619 milioane: cifra reală a OMS, 2020.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PLIANTUL, PRIMA EDIȚIE · VERSO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Nouă exerciții, o promisiune, un telefon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452628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Flexia trunchiului din decubit dorsal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Extensia lombară din procubit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5511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Basculări de bazin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29352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Întinderea ischiogambierilor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33192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Activarea musculaturii abdominale profunde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Rotații ale trunchiului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09360" y="2167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„Podul”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09360" y="25511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Poziția „pisică-cămilă”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09360" y="29352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Mers zilnic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3886200"/>
            <a:ext cx="10332720" cy="1828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„Exercițiile vindecă definitiv durerea de spate în 4 săptămâni. Nerespectarea programului duce la cronicizarea definitivă a durerii.”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„Pentru programări: telefonul ambulatoriului.”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· DECIZIA ÎNTÂI · VOT INDIVIDUAL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verificați primul, înainte de a judeca pliantul?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680960" cy="923544"/>
          </a:xfrm>
          <a:prstGeom prst="roundRect">
            <a:avLst>
              <a:gd name="adj" fmla="val 89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802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802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28800"/>
            <a:ext cx="6629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Greșelile de ortografie și aspectul grafic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7680960" cy="923544"/>
          </a:xfrm>
          <a:prstGeom prst="roundRect">
            <a:avLst>
              <a:gd name="adj" fmla="val 89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318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318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80360"/>
            <a:ext cx="6629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Cui se adresează, ce știu oamenii aceia, ce vrea ambulatoriul să facă ei și care este mesajul principal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7680960" cy="923544"/>
          </a:xfrm>
          <a:prstGeom prst="roundRect">
            <a:avLst>
              <a:gd name="adj" fmla="val 89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833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833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6629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Lungimea frazelor și a cuvintelor, cu o formulă de lizibilitate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4360" y="4983480"/>
            <a:ext cx="7680960" cy="923544"/>
          </a:xfrm>
          <a:prstGeom prst="roundRect">
            <a:avLst>
              <a:gd name="adj" fmla="val 891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2349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349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4983480"/>
            <a:ext cx="6629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pacienților le place pliantul, într-un sondaj de satisfacție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549640" y="182880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69680" y="274320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288036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098280" y="29718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3252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individual, fără discuție. Rezultatele rămân ascunse.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 · DUPĂ DISCUȚIE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1 · DOUĂ MINUTE 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Convingeți-l pe cel care a votat altfel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7490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VOT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36392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2783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9624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79976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471416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1828800"/>
            <a:ext cx="37490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DISCUȚIE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2606040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136392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03520" y="322783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758184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0" y="3849624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437997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03520" y="4471416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182880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869680" y="274320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0" y="288036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9098280" y="29718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3252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întrebare, aceleași variante.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94360" y="5349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ecran: cele două distribuții, una lângă alta.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DECIZIA ÎNTÂI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lucru verificat nu se află în pliant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1600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PUBLICUL PRINCIPAL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adulții cu durere de spate trimiși la recuperare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91640"/>
            <a:ext cx="82296" cy="1600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ABILITĂȚILE LUI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necunoscute, deci presupuse medii spre scăzute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474720"/>
            <a:ext cx="82296" cy="1600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exercițiile acasă, zilnic, și când cere ajutor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72200" y="34747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474720"/>
            <a:ext cx="82296" cy="1600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 PRINCIPAL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977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„Mișcarea vă ajută spatele: faceți zilnic exercițiile de mai jos”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534924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349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 de acum nu are o astfel de frază.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CELELALTE VARIANTE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Lucruri reale, dar mai târziu sau altfel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3383280"/>
          </a:xfrm>
          <a:prstGeom prst="roundRect">
            <a:avLst>
              <a:gd name="adj" fmla="val 243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33832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ORTOGRAFIA ȘI ASPECTUL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540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pliant fără greșeli de tipar poate rămâne de neînțeles.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11296" cy="3383280"/>
          </a:xfrm>
          <a:prstGeom prst="roundRect">
            <a:avLst>
              <a:gd name="adj" fmla="val 243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691640"/>
            <a:ext cx="82296" cy="33832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 DE LIZIBILITATE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540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„numărare” mecanică a silabelor și a propozițiilor; nu ține seama de public și de scop.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3383280"/>
          </a:xfrm>
          <a:prstGeom prst="roundRect">
            <a:avLst>
              <a:gd name="adj" fmla="val 243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55864" y="1691640"/>
            <a:ext cx="82296" cy="338328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SONDAJUL DE SATISFACȚIE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540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 dacă pliantul place, nu dacă oamenii au înțeles ce au de făcut.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530352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înțelegere există testarea cu pacienții, în actul al doilea.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· 1 DIN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Mesajul principal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1325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Singurul lucru pe care omul trebuie să îl țină minte după ce a citit materialul, în una-trei fraze scurte, împreună cu îndemnul la acțiune.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2461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246120"/>
            <a:ext cx="82296" cy="182880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SUBIECT, NU MESAJ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„Lombalgia cronică nespecifică”: pacientul află cum se numește boala, nu ce are de făcut.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32461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3246120"/>
            <a:ext cx="82296" cy="18288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MESAJ ȘI ÎNDEMN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7490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„Mișcarea vă ajută spatele: faceți zilnic exercițiile de mai jos.”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INSTRUMENTE PUBLICATE, CU CRITERII EXPLICITE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instrumente gratuite, folosite și în studii recente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82296" cy="393192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DE COMUNICARE CLARĂ (CDC)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937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Aplicat în mai multe domenii ale sănătății, inclusiv în educația pacienților. Validat și în alte țări, de exemplu în Brazilia și în Thailanda.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783080"/>
            <a:ext cx="82296" cy="393192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20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 (AHRQ)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Analiză din 2025, materiale despre tendinopatia ahiliană: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46520" y="315468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264408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59%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720840" y="431596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înțelegerea, moderată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3154680"/>
            <a:ext cx="23317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3264408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28%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235440" y="4315968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punerea în practică, slabă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DE COMUNICARE CLARĂ AL CDC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 de întrebări, prag de trecere 90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2057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20574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întrebări, notate cu zero sau unu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01368"/>
            <a:ext cx="2057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487168"/>
            <a:ext cx="20574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sau mai mult din 100: materialul trece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01368"/>
            <a:ext cx="2057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6520" y="2487168"/>
            <a:ext cx="20574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domenii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16916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801368"/>
            <a:ext cx="205740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35440" y="2487168"/>
            <a:ext cx="20574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minute, după estimarea CDC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474720"/>
            <a:ext cx="5394960" cy="2560320"/>
          </a:xfrm>
          <a:prstGeom prst="roundRect">
            <a:avLst>
              <a:gd name="adj" fmla="val 321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474720"/>
            <a:ext cx="82296" cy="256032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REGULA STRICTĂ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punct numai dacă toate aparițiile criteriului din material îl îndeplinesc.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72200" y="3474720"/>
            <a:ext cx="5394960" cy="2560320"/>
          </a:xfrm>
          <a:prstGeom prst="roundRect">
            <a:avLst>
              <a:gd name="adj" fmla="val 321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474720"/>
            <a:ext cx="82296" cy="25603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PRAG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97764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89 sau mai puțin: notați criteriile cu zero, revizuiți materialul, aplicați din nou indicele.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· 2 DIN 3 · PEMAT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Înțelegerea și punerea în practică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20574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ÎNȚELEGEREA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 cu niveluri diferite de alfabetizare pentru sănătate pot procesa și explica mesajele-cheie.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93192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931920"/>
            <a:ext cx="82296" cy="2057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069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PUNEREA ÎN PRACTICĂ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baza materialului, oamenii pot identifica ce pot face.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01368"/>
            <a:ext cx="2057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 + 7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46520" y="2738628"/>
            <a:ext cx="205740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criterii la tipărituri: înțelegere și punere în practică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169164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801368"/>
            <a:ext cx="2057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235440" y="2738628"/>
            <a:ext cx="2057400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criterii la materialele audiovizuale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93192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31920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Numai pentru materiale tipărite și audiovizuale; nu pentru podcasturi.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 · NOTAREA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reguli și niciun prag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694944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42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42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„De acord” numai dacă e îndeplinit în 80–100% din material.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694944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014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14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Notați numai ce este în material.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246120"/>
            <a:ext cx="6949440" cy="685800"/>
          </a:xfrm>
          <a:prstGeom prst="roundRect">
            <a:avLst>
              <a:gd name="adj" fmla="val 12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787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787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4612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Scorul: punctele ÷ criteriile notate × 100, fără cele care nu se aplică.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794760" cy="2240280"/>
          </a:xfrm>
          <a:prstGeom prst="roundRect">
            <a:avLst>
              <a:gd name="adj" fmla="val 367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EXEMPLUL DIN GHID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01000" y="21945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 de acord, 3 nu, 1 nu se aplică: 12 din 15 = 80%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4206240"/>
            <a:ext cx="10972800" cy="1783080"/>
          </a:xfrm>
          <a:prstGeom prst="roundRect">
            <a:avLst>
              <a:gd name="adj" fmla="val 4615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0624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scor bun nu garantează efectul: testați cu câțiva pacienți.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GRILA DISCIPLINEI · LISTĂ DE LUCRU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întrebări pentru orice material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103120" cy="365760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36576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819656"/>
            <a:ext cx="384048" cy="384048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295144"/>
            <a:ext cx="16459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Publicul și mesajul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singur mesaj principal, la început, și un îndemn?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834640" y="1691640"/>
            <a:ext cx="2103120" cy="365760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691640"/>
            <a:ext cx="82296" cy="365760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819656"/>
            <a:ext cx="384048" cy="384048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3" name="Text 11"/>
          <p:cNvSpPr/>
          <p:nvPr/>
        </p:nvSpPr>
        <p:spPr>
          <a:xfrm>
            <a:off x="309067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08960" y="2295144"/>
            <a:ext cx="16459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Limbajul și cifrele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Cuvintele publicului; cifre fără calcule?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74920" y="1691640"/>
            <a:ext cx="2103120" cy="365760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1691640"/>
            <a:ext cx="82296" cy="365760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0952" y="1819656"/>
            <a:ext cx="384048" cy="384048"/>
          </a:xfrm>
          <a:prstGeom prst="ellipse">
            <a:avLst/>
          </a:prstGeom>
          <a:solidFill>
            <a:srgbClr val="9C4A0A"/>
          </a:solidFill>
          <a:ln/>
        </p:spPr>
      </p:sp>
      <p:sp>
        <p:nvSpPr>
          <p:cNvPr id="19" name="Text 17"/>
          <p:cNvSpPr/>
          <p:nvPr/>
        </p:nvSpPr>
        <p:spPr>
          <a:xfrm>
            <a:off x="533095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2295144"/>
            <a:ext cx="16459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 și imaginile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Blocuri scurte cu titluri; imagini cu legendă?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315200" y="1691640"/>
            <a:ext cx="2103120" cy="365760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691640"/>
            <a:ext cx="82296" cy="36576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1232" y="1819656"/>
            <a:ext cx="384048" cy="384048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25" name="Text 23"/>
          <p:cNvSpPr/>
          <p:nvPr/>
        </p:nvSpPr>
        <p:spPr>
          <a:xfrm>
            <a:off x="757123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9244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0" y="2295144"/>
            <a:ext cx="16459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Acțiunea și siguranța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face, când, cât de des; când cere ajutor?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555480" y="1691640"/>
            <a:ext cx="2103120" cy="365760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55480" y="1691640"/>
            <a:ext cx="82296" cy="3657600"/>
          </a:xfrm>
          <a:prstGeom prst="rect">
            <a:avLst/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1512" y="1819656"/>
            <a:ext cx="384048" cy="384048"/>
          </a:xfrm>
          <a:prstGeom prst="ellipse">
            <a:avLst/>
          </a:prstGeom>
          <a:solidFill>
            <a:srgbClr val="8A61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1151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3272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29800" y="2295144"/>
            <a:ext cx="164592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Conținutul și sursele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Corespunde dovezilor? Promite ceva? Fotografii cu acord?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9436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Listă de lucru, nu instrument validat.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LIMITA INSTRUMENTELOR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pliant poate fi foarte clar și greșit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27432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evaluează exactitatea informației. Un material foarte ușor de înțeles poate conține informații inexacte.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91640"/>
            <a:ext cx="82296" cy="274320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CDC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1945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7 domenii nu cuprind verificarea corectitudinii medicale.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46634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6344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Analiza critică cere și confruntarea afirmațiilor cu surse credibile, ca la cursul al doilea.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LUCRAȚI ÎN GRUPURI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Exercițiul în patru pași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47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Fraza care ar putea fi mesajul principal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532888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883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32888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 de înțelegere PEMAT al pliantului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374136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295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374136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Afirmația care nu se potrivește cu fișa OMS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215384"/>
            <a:ext cx="77724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708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215384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Criteriul CDC încălcat de fraza despre serii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" y="5166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pas se deschide după răspunsul corect la cel dinainte. Un telefon pe grup, contul UMF.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778240" y="1691640"/>
            <a:ext cx="2788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1828800"/>
            <a:ext cx="2514600" cy="251460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9006840" y="192024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FORMULAR]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46177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întâi a formularului.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DISCUȚIE CU TOATĂ GRUPA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FORMULAR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Câte probleme sunt de formă și câte de conținut?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82296" cy="31089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FORMĂ: SE VĂD ÎN SCORURI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Titlul-subiect, termenii, diateza pasivă, calculul, lista prea lungă, fotografia fără legendă.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783080"/>
            <a:ext cx="82296" cy="3108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CONȚINUT: POT FACE RĂU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„Durerea trece de la sine”, citită de pacienți cu durere cronică; „vindecare definitivă” într-un termen fix.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51206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OMS: acută sub 6 săptămâni, subacută între 6 și 12, cronică peste 12.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PLIANTUL, PRIMA EDIȚIE · INDICELE CDC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Scorul: aproximativ 21 din 100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din 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mesaj principal; are un îndemn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din 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0175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recomandarea, de ce, cât de des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 din 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30175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„619 milioane”, calculul seriilor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0" y="16916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PARTEA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2194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 din 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89720" y="30175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neexplicat, numai beneficii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÷ 19 × 100 ≈ 21. Pragul de trecere este 90.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DOILEA · CAZUL CONTINUĂ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Cinci pacienți și un termen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26517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 că durerea „trece singură” și vor aștepta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691640"/>
            <a:ext cx="82296" cy="26517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24688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știu ce înseamnă „procubit”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91640"/>
            <a:ext cx="82296" cy="265176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Niciunul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știe când să sune la ambulatoriu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69164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1691640"/>
            <a:ext cx="82296" cy="26517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pacientă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35440" y="24688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întreabă dacă femeia din fotografie știe că e pe pliant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5720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572000"/>
            <a:ext cx="82296" cy="14630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Tipografia așteaptă comanda până vineri; după vineri, retipărirea trece în bugetul anului viitor. Comitetul se întrunește joi.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 · 3 DIN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Testarea cu pacienții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13716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Câțiva oameni din public spun cu cuvintele lor ce au înțeles și ce vor face, înainte de tipar.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291840"/>
            <a:ext cx="82296" cy="26974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VERIFICAREA PRIN REFORMULARE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primul curs, aplicată unui material. AHRQ o recomandă chiar la un scor bun.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3291840"/>
            <a:ext cx="82296" cy="26974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NU AR FI GĂSIT NICIUN SCOR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Concluzia greșită, „aștept să treacă”, și faptul că nimeni nu știe când să ceară ajutor.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 CU ROLURI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UN ROL PE RÂND DE BĂNCI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Scanați codul rândului vostru și citiți fișa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82296" cy="1965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51760" y="187452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01168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880360" y="21031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 QR]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645920"/>
            <a:ext cx="82296" cy="196596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1031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Fizioterapeutul care a scris pliantul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187452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01168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583680" y="21031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 QR]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1645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1645920"/>
            <a:ext cx="82296" cy="196596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21031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de recuperare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058400" y="187452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95560" y="201168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0287000" y="21031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 QR]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749040"/>
            <a:ext cx="82296" cy="196596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Specialista în comunicare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651760" y="397764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411480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2880360" y="420624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 QR]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3749040"/>
            <a:ext cx="82296" cy="196596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Consilierul juridic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355080" y="397764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411480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583680" y="420624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 QR]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01000" y="37490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3749040"/>
            <a:ext cx="8229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75320" y="42062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 ambulatoriului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0058400" y="3977640"/>
            <a:ext cx="13716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95560" y="4114800"/>
            <a:ext cx="1097280" cy="12344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0287000" y="420624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 QR]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" y="5760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minute de citit, apoi votați din rol. Mai multe rânduri: rolurile se reiau de la început.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 DIN ROL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DECIZIA A DOUA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decide comitetul?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7680960" cy="969264"/>
          </a:xfrm>
          <a:prstGeom prst="roundRect">
            <a:avLst>
              <a:gd name="adj" fmla="val 84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6629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Retipărim acum pliantul neschimbat și îl corectăm la ediția următoare, ca să nu pierdem bugetul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7680960" cy="969264"/>
          </a:xfrm>
          <a:prstGeom prst="roundRect">
            <a:avLst>
              <a:gd name="adj" fmla="val 84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08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6629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Retipărim după ce adăugăm ce cere medicul: anatomia, cauzele și toate exercițiile, pe patru pagini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7680960" cy="969264"/>
          </a:xfrm>
          <a:prstGeom prst="roundRect">
            <a:avLst>
              <a:gd name="adj" fmla="val 84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6629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Amânăm o săptămână: rescriem în jurul unui mesaj principal, fără promisiune și fără fotografia fără acord, cu momentul în care se sună, și testăm din nou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5029200"/>
            <a:ext cx="7680960" cy="969264"/>
          </a:xfrm>
          <a:prstGeom prst="roundRect">
            <a:avLst>
              <a:gd name="adj" fmla="val 84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3035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5029200"/>
            <a:ext cx="6629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Renunțăm la hârtie: pe afișul din sala de așteptare, un cod QR spre un clip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549640" y="173736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69680" y="265176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278892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098280" y="288036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32520" y="4937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câmp: rolul vostru.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REVOT · PĂREREA VOASTRĂ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2 · DUPĂ DISCUȚIA CU COLEGUL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Acum fiecare cu propria părere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7490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 DIN ROL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606040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36392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22783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58184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849624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79976"/>
            <a:ext cx="384048" cy="384048"/>
          </a:xfrm>
          <a:prstGeom prst="ellipse">
            <a:avLst/>
          </a:prstGeom>
          <a:solidFill>
            <a:srgbClr val="959BB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4471416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1828800"/>
            <a:ext cx="3749040" cy="3291840"/>
          </a:xfrm>
          <a:prstGeom prst="roundRect">
            <a:avLst>
              <a:gd name="adj" fmla="val 25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PĂREREA VOASTRĂ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514600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2606040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136392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03520" y="3227832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758184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0" y="3849624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4379976"/>
            <a:ext cx="384048" cy="384048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303520" y="4471416"/>
            <a:ext cx="2743200" cy="201168"/>
          </a:xfrm>
          <a:prstGeom prst="roundRect">
            <a:avLst>
              <a:gd name="adj" fmla="val 2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49640" y="182880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19659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869680" y="274320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0" y="288036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9098280" y="29718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3252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întrebare, aceleași variante, fără rol.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94360" y="5349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ecran: cele două distribuții, una lângă alta.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A II-A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GRUPURI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trebuie schimbat înainte de tipărire?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274320" cy="274320"/>
          </a:xfrm>
          <a:prstGeom prst="rect">
            <a:avLst/>
          </a:prstGeom>
          <a:solidFill>
            <a:srgbClr val="1D1F2B"/>
          </a:solidFill>
          <a:ln w="19050">
            <a:solidFill>
              <a:srgbClr val="FFC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7373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Fraza „durerea trece de la sine”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2395728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32888"/>
            <a:ext cx="274320" cy="274320"/>
          </a:xfrm>
          <a:prstGeom prst="rect">
            <a:avLst/>
          </a:prstGeom>
          <a:solidFill>
            <a:srgbClr val="1D1F2B"/>
          </a:solidFill>
          <a:ln w="19050">
            <a:solidFill>
              <a:srgbClr val="FFC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3957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Promisiunea de vindecare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3054096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191256"/>
            <a:ext cx="274320" cy="274320"/>
          </a:xfrm>
          <a:prstGeom prst="rect">
            <a:avLst/>
          </a:prstGeom>
          <a:solidFill>
            <a:srgbClr val="1D1F2B"/>
          </a:solidFill>
          <a:ln w="19050">
            <a:solidFill>
              <a:srgbClr val="FFC2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0540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Fotografia: scoasă sau cu acordul scris al pacientei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4360" y="3712464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849624"/>
            <a:ext cx="274320" cy="274320"/>
          </a:xfrm>
          <a:prstGeom prst="rect">
            <a:avLst/>
          </a:prstGeom>
          <a:solidFill>
            <a:srgbClr val="1D1F2B"/>
          </a:solidFill>
          <a:ln w="19050">
            <a:solidFill>
              <a:srgbClr val="FFC2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7124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Momentul în care pacientul sună la ambulatoriu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507992"/>
            <a:ext cx="274320" cy="274320"/>
          </a:xfrm>
          <a:prstGeom prst="rect">
            <a:avLst/>
          </a:prstGeom>
          <a:solidFill>
            <a:srgbClr val="1D1F2B"/>
          </a:solidFill>
          <a:ln w="19050">
            <a:solidFill>
              <a:srgbClr val="FFC2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37083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Anatomia coloanei și cauzele durerii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94360" y="5029200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166360"/>
            <a:ext cx="274320" cy="274320"/>
          </a:xfrm>
          <a:prstGeom prst="rect">
            <a:avLst/>
          </a:prstGeom>
          <a:solidFill>
            <a:srgbClr val="1D1F2B"/>
          </a:solidFill>
          <a:ln w="19050">
            <a:solidFill>
              <a:srgbClr val="FFC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5029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Toate exercițiile posibile, pe patru pagini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778240" y="1691640"/>
            <a:ext cx="2788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1828800"/>
            <a:ext cx="2514600" cy="251460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006840" y="192024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FORMULAR]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46177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Bifați tot ce se aplică. Fără punctaj.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DECIZIA A DOUA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Comitetul amână o săptămână: varianta 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3200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· RETIPĂRIREA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540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Sub prag, regula CDC cere revizuirea și o nouă aplicare a indicelui.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691640"/>
            <a:ext cx="82296" cy="3200400"/>
          </a:xfrm>
          <a:prstGeom prst="rect">
            <a:avLst/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· PATRU PAGINI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540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Semnele de alarmă și telefonul, da; anatomia și cauzele distrag.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3200400"/>
          </a:xfrm>
          <a:prstGeom prst="roundRect">
            <a:avLst>
              <a:gd name="adj" fmla="val 2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55864" y="1691640"/>
            <a:ext cx="82296" cy="320040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 · CLIPUL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540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Mută problemele; hârtia rămâne baza, nu toți au internet.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51206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C: o săptămână de lucru, cu testarea repetată.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CE PRIMEȘTE FIECARE 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Varianta C răspunde fiecărui 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20116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 și trei pași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91640"/>
            <a:ext cx="82296" cy="201168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FIZIOTERAPEUTUL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exercițiile pe care le folosește de fapt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691640"/>
            <a:ext cx="82296" cy="20116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828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240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semnele de alarmă și telefonul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86200"/>
            <a:ext cx="82296" cy="2011680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23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SPECIALISTA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mesaj, un îndemn, trei desene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97680" y="38862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3886200"/>
            <a:ext cx="82296" cy="2011680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023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CONSILIERUL JURIDIC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4434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promisiune, fără fotografia pacientei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001000" y="388620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3886200"/>
            <a:ext cx="8229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4023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MANAGERUL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443484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pierde o săptămână și bugetul, nu două mii de exemplare greșite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PERSONALE ȘI ONESTITATE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Fotografia și promisiunea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434340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FOTOGRAFIA · REGULAMENTUL (UE) 2016/679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Chipul vizibil identifică persoana (art. 4 pct. 1). Masa de tratament poate dezvălui date despre sănătate (art. 9). Fără acord scris: obțineți-l sau scoateți fotografia.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91640"/>
            <a:ext cx="82296" cy="43434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PROMISIUNEA · INDICELE CDC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Materialul spune ce se știe și ce nu se știe. Se știe: exercițiile ajută la gestionarea durerii. Nu se știe: cât de repede se ameliorează durerea fiecărui pacient.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ACTUL AL TREILEA · CE S-A ÎNTÂMPLAT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săptămână mai târziu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434340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 CONSTRUIT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Comitetul a ales amânarea. Fizioterapeutul și specialista în comunicare au rescris pliantul; medicul a scris lista semnelor de alarmă.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916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Toți cinci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0" y="1691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putut spune mesajul principal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292608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926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0" y="2926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arătat corect al doilea exercițiu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1605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Unul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41605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 înțeles desenul celui de-al treilea, care lipsea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5440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Desenul a fost adăugat; tipar cu o săptămână întârziere.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PLIANTUL, A DOUA EDIȚIE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pliant, alte scoruri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64040" y="36576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8A6100"/>
          </a:solidFill>
          <a:ln w="12700">
            <a:solidFill>
              <a:srgbClr val="8A6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64040" y="365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4754880" cy="434340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4297680" cy="868680"/>
          </a:xfrm>
          <a:prstGeom prst="rect">
            <a:avLst/>
          </a:prstGeom>
          <a:solidFill>
            <a:srgbClr val="FFE7A3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„Mișcarea vă ajută spatele. Faceți în fiecare zi cele trei exerciții de mai jos.”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Trei exerciții, cu desen și legendă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49300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Când sunați la ambulatoriu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05993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Ce e bine să știți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6268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 Un calendar de bifat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577840" y="1691640"/>
            <a:ext cx="5989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691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CDC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0" y="16916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 → 95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241280" y="16916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 ÷ 19 × 100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577840" y="2770632"/>
            <a:ext cx="5989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7706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 · ÎNȚELEGEREA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0" y="277063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25% → 94%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241280" y="2770632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 din 16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577840" y="3849624"/>
            <a:ext cx="5989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84962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 · PUNEREA ÎN PRACTICĂ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0" y="3849624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17% → 83%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241280" y="3849624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din 6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577840" y="4983480"/>
            <a:ext cx="5989320" cy="1051560"/>
          </a:xfrm>
          <a:prstGeom prst="roundRect">
            <a:avLst>
              <a:gd name="adj" fmla="val 7826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4983480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Cade criteriul 11: o variație nu e o necunoscută.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DEZNODĂMÂNTUL ȘI VOTURILE SĂLII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a avut sala dreptate?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11296" cy="2834640"/>
          </a:xfrm>
          <a:prstGeom prst="roundRect">
            <a:avLst>
              <a:gd name="adj" fmla="val 29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91640"/>
            <a:ext cx="82296" cy="2834640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ÎNTÂI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0540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Ortografia sau formula: ați pornit de la text, nu de la oameni.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11296" cy="2834640"/>
          </a:xfrm>
          <a:prstGeom prst="roundRect">
            <a:avLst>
              <a:gd name="adj" fmla="val 29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691640"/>
            <a:ext cx="82296" cy="28346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A DOUA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540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Retipărirea: termenul înaintea pacientului. Varianta medicului: complet confundat cu util.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55864" y="1691640"/>
            <a:ext cx="3511296" cy="2834640"/>
          </a:xfrm>
          <a:prstGeom prst="roundRect">
            <a:avLst>
              <a:gd name="adj" fmla="val 29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55864" y="1691640"/>
            <a:ext cx="82296" cy="283464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828800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 ȘI TESTUL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194560"/>
            <a:ext cx="30540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Desenul lipsă l-a găsit un singur pacient din cinci.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75488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548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Scorul ar fi putut trece fără testare; pacientul care nu înțelege desenul nu. Instrumentele și testarea se completează.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DECIZIA A TREIA · VARIANTĂ A CAZULUI · FĂRĂ REVOT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315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Clipul: „Trei exerciții care vindecă hernia de disc pentru totdeauna”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întâi? Un minut, pagina unei clinici private, distribuit de mii de ori.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240280"/>
            <a:ext cx="768096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4602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460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6629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Îl evaluați cu PEMAT pentru materiale tipărite, ca pe pliant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3200400"/>
            <a:ext cx="768096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4061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061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200400"/>
            <a:ext cx="6629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Verificați cine l-a făcut, pe ce dovezi se sprijină și ce spun alte surse, apoi PEMAT audiovizual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4360" y="4160520"/>
            <a:ext cx="768096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662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662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160520"/>
            <a:ext cx="6629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are multe distribuiri și aprecieri, îl recomandați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94360" y="5120640"/>
            <a:ext cx="7680960" cy="832104"/>
          </a:xfrm>
          <a:prstGeom prst="roundRect">
            <a:avLst>
              <a:gd name="adj" fmla="val 989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3263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263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120640"/>
            <a:ext cx="6629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Transcrieți textul și îi aplicați o formulă de lizibilitate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549640" y="1737360"/>
            <a:ext cx="3017520" cy="4206240"/>
          </a:xfrm>
          <a:prstGeom prst="roundRect">
            <a:avLst>
              <a:gd name="adj" fmla="val 272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69680" y="2651760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2788920"/>
            <a:ext cx="2103120" cy="192024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098280" y="288036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32520" y="49377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 individual. Un singur tur.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 · DECIZIA A TREIA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 conținutul și sursa, apoi 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SIFT ·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Vă opriți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SIFT · 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11880" y="21031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Cercetați sursa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SIFT · 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Căutați o relatare mai bună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61120" y="16916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SIFT · 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89720" y="21031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Urmăriți afirmația până la origine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291840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291840"/>
            <a:ext cx="82296" cy="26974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FORMA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PEMAT audiovizual, 17 criterii. Distribuirile arată circulația, nu corectitudinea.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291840"/>
            <a:ext cx="82296" cy="26974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429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PACIENTULUI, FĂRĂ SĂ-L CERTAȚI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79476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l-a atras, ce se știe, de ce rămâneți la exercițiile lui.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FORMS · PARTEA A III-A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LUCRAȚI ÎN GRUPURI DE BANCĂ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Rescrieți mesajul principal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7772400" cy="1188720"/>
          </a:xfrm>
          <a:prstGeom prst="roundRect">
            <a:avLst>
              <a:gd name="adj" fmla="val 6923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91640"/>
            <a:ext cx="82296" cy="1188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după protezarea genunchiului: „Gonartroza operată: recomandări postoperatorii”. Cel mult treizeci de cuvinte.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272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63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 un singur lucru, nu un subiect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721608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856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7216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Conține un îndemn la acțiune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379976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4439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37997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Folosește diateza activă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5038344"/>
            <a:ext cx="77724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1023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03834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Folosește cuvintele pacientului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78240" y="1691640"/>
            <a:ext cx="2788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1828800"/>
            <a:ext cx="2514600" cy="251460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006840" y="192024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[QR FORMULAR]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78240" y="46177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Îndeplinit sau de refăcut. Aprecierea nu este o notă.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 DE MÂINE CU UN PLIANT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184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Citiți-l ca pacientul: ce reține și ce face mâine dimineață?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500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24028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găsiți răspunsul în primul paragraf? Nici pacientul.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2971800"/>
            <a:ext cx="7772400" cy="640080"/>
          </a:xfrm>
          <a:prstGeom prst="roundRect">
            <a:avLst>
              <a:gd name="adj" fmla="val 1285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0815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97180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tipar: cinci pacienți spun ce vor face.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2153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6052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util?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48371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37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782312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2960" y="54589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5404104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641080" y="1508760"/>
            <a:ext cx="292608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0" y="1645920"/>
            <a:ext cx="2651760" cy="265176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8869680" y="173736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[codul QR Mentimeter]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41080" y="4617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 Răspunsurile sunt anonime.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4 - Analiza critică a materialelor de educație pentru sănătate</dc:title>
  <dc:subject>PptxGenJS Presentation</dc:subject>
  <dc:creator>Conf. Univ. Dr. Adrian Pana</dc:creator>
  <cp:lastModifiedBy>Conf. Univ. Dr. Adrian Pana</cp:lastModifiedBy>
  <cp:revision>1</cp:revision>
  <dcterms:created xsi:type="dcterms:W3CDTF">2026-10-25T14:03:29Z</dcterms:created>
  <dcterms:modified xsi:type="dcterms:W3CDTF">2026-10-25T14:03:29Z</dcterms:modified>
  <cp:keywords>sursa_amprenta=74f1958c684a3bdc; proiectie</cp:keywords>
</cp:coreProperties>
</file>