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2-1.jpg" ContentType="image/jpg"/>
  <Override PartName="/ppt/media/image-14-1.jpg" ContentType="image/jpg"/>
  <Override PartName="/ppt/media/image-15-1.jpg" ContentType="image/jpg"/>
  <Override PartName="/ppt/media/image-19-1.jpg" ContentType="image/jpg"/>
  <Override PartName="/ppt/media/image-25-1.jpg" ContentType="image/jpg"/>
  <Override PartName="/ppt/media/image-38-1.jpg" ContentType="image/jpg"/>
  <Override PartName="/ppt/media/image-4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Stimulii pentru acțiune sunt o componentă a modelului, confirmată de revizuirea din 2022; descrierea lor urmează forma uzuală a modelului și nu se cere la examen. Revizuirea compară dimensiunile pe 32 de studii: beneficiile apar cel mai des asociate cu comportamentul, severitatea cel mai rar.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pital_judetean_timisoara_commons.jpg">    </p:cNvPr>
          <p:cNvPicPr>
            <a:picLocks noChangeAspect="1"/>
          </p:cNvPicPr>
          <p:nvPr/>
        </p:nvPicPr>
        <p:blipFill>
          <a:blip r:embed="rId1"/>
          <a:stretch>
            <a:fillRect/>
          </a:stretch>
        </p:blipFill>
        <p:spPr>
          <a:xfrm>
            <a:off x="4846320" y="0"/>
            <a:ext cx="7345375" cy="6858000"/>
          </a:xfrm>
          <a:prstGeom prst="rect">
            <a:avLst/>
          </a:prstGeom>
        </p:spPr>
      </p:pic>
      <p:sp>
        <p:nvSpPr>
          <p:cNvPr id="3" name="Shape 0"/>
          <p:cNvSpPr/>
          <p:nvPr/>
        </p:nvSpPr>
        <p:spPr>
          <a:xfrm>
            <a:off x="640080" y="731520"/>
            <a:ext cx="402336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31520"/>
            <a:ext cx="40233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AL DOILEA · AMG, ANUL IV</a:t>
            </a:r>
            <a:endParaRPr lang="en-US" sz="1300" dirty="0"/>
          </a:p>
        </p:txBody>
      </p:sp>
      <p:sp>
        <p:nvSpPr>
          <p:cNvPr id="5" name="Text 2"/>
          <p:cNvSpPr/>
          <p:nvPr/>
        </p:nvSpPr>
        <p:spPr>
          <a:xfrm>
            <a:off x="640080" y="1371600"/>
            <a:ext cx="4023360" cy="137160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Doamna din salonul patru</a:t>
            </a:r>
            <a:endParaRPr lang="en-US" sz="3600" dirty="0"/>
          </a:p>
        </p:txBody>
      </p:sp>
      <p:sp>
        <p:nvSpPr>
          <p:cNvPr id="6" name="Text 3"/>
          <p:cNvSpPr/>
          <p:nvPr/>
        </p:nvSpPr>
        <p:spPr>
          <a:xfrm>
            <a:off x="640080" y="2788920"/>
            <a:ext cx="4023360" cy="137160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Știe ce ar trebui să schimbe. De ce nu schimbă?</a:t>
            </a:r>
            <a:endParaRPr lang="en-US" sz="2600" dirty="0"/>
          </a:p>
        </p:txBody>
      </p:sp>
      <p:sp>
        <p:nvSpPr>
          <p:cNvPr id="7" name="Shape 4"/>
          <p:cNvSpPr/>
          <p:nvPr/>
        </p:nvSpPr>
        <p:spPr>
          <a:xfrm>
            <a:off x="667512" y="4343400"/>
            <a:ext cx="1280160" cy="27432"/>
          </a:xfrm>
          <a:prstGeom prst="rect">
            <a:avLst/>
          </a:prstGeom>
          <a:solidFill>
            <a:srgbClr val="FF4757"/>
          </a:solidFill>
          <a:ln/>
        </p:spPr>
        <p:txBody>
          <a:bodyPr/>
          <a:p/>
        </p:txBody>
      </p:sp>
      <p:sp>
        <p:nvSpPr>
          <p:cNvPr id="8" name="Text 5"/>
          <p:cNvSpPr/>
          <p:nvPr/>
        </p:nvSpPr>
        <p:spPr>
          <a:xfrm>
            <a:off x="640080" y="4526280"/>
            <a:ext cx="4023360" cy="11887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Epidemiologie aplicată în nursing (II). Promovarea sănătății și educația pentru sănătate</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300" dirty="0"/>
          </a:p>
        </p:txBody>
      </p:sp>
      <p:sp>
        <p:nvSpPr>
          <p:cNvPr id="9" name="Shape 6"/>
          <p:cNvSpPr/>
          <p:nvPr/>
        </p:nvSpPr>
        <p:spPr>
          <a:xfrm>
            <a:off x="4846320" y="6492240"/>
            <a:ext cx="4206240" cy="256032"/>
          </a:xfrm>
          <a:prstGeom prst="rect">
            <a:avLst/>
          </a:prstGeom>
          <a:solidFill>
            <a:srgbClr val="11121A">
              <a:alpha val="70000"/>
            </a:srgbClr>
          </a:solidFill>
          <a:ln w="12700">
            <a:solidFill>
              <a:srgbClr val="11121A"/>
            </a:solidFill>
            <a:prstDash val="solid"/>
          </a:ln>
        </p:spPr>
        <p:txBody>
          <a:bodyPr/>
          <a:p/>
        </p:txBody>
      </p:sp>
      <p:sp>
        <p:nvSpPr>
          <p:cNvPr id="10" name="Text 7"/>
          <p:cNvSpPr/>
          <p:nvPr/>
        </p:nvSpPr>
        <p:spPr>
          <a:xfrm>
            <a:off x="4937760" y="6510528"/>
            <a:ext cx="4069080" cy="219456"/>
          </a:xfrm>
          <a:prstGeom prst="rect">
            <a:avLst/>
          </a:prstGeom>
          <a:noFill/>
          <a:ln/>
        </p:spPr>
        <p:txBody>
          <a:bodyPr wrap="square" lIns="0" tIns="0" rIns="0" bIns="0" rtlCol="0" anchor="ctr"/>
          <a:lstStyle/>
          <a:p>
            <a:pPr indent="0" marL="0">
              <a:buNone/>
            </a:pPr>
            <a:r>
              <a:rPr lang="en-US" sz="850" i="1" dirty="0">
                <a:solidFill>
                  <a:srgbClr val="E6E8EF"/>
                </a:solidFill>
                <a:latin typeface="Palatino Linotype" pitchFamily="34" charset="0"/>
                <a:ea typeface="Palatino Linotype" pitchFamily="34" charset="-122"/>
                <a:cs typeface="Palatino Linotype" pitchFamily="34" charset="-120"/>
              </a:rPr>
              <a:t>Un spital județean din România · Foto: Chainwit. · CC BY-SA 4.0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E3D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CAZUL ȘEDINȚEI · MEDICINĂ INTERNĂ, SPITAL JUDEȚEAN</a:t>
            </a:r>
            <a:endParaRPr lang="en-US" sz="1300" dirty="0"/>
          </a:p>
        </p:txBody>
      </p:sp>
      <p:sp>
        <p:nvSpPr>
          <p:cNvPr id="3" name="Shape 1"/>
          <p:cNvSpPr/>
          <p:nvPr/>
        </p:nvSpPr>
        <p:spPr>
          <a:xfrm>
            <a:off x="685800" y="868680"/>
            <a:ext cx="7040880" cy="534924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txBody>
          <a:bodyPr/>
          <a:p/>
        </p:txBody>
      </p:sp>
      <p:sp>
        <p:nvSpPr>
          <p:cNvPr id="4" name="Text 2"/>
          <p:cNvSpPr/>
          <p:nvPr/>
        </p:nvSpPr>
        <p:spPr>
          <a:xfrm>
            <a:off x="1097280" y="1143000"/>
            <a:ext cx="6217920" cy="292608"/>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FOAIE DE OBSERVAȚIE · EXTRAS</a:t>
            </a:r>
            <a:endParaRPr lang="en-US" sz="1300" dirty="0"/>
          </a:p>
        </p:txBody>
      </p:sp>
      <p:sp>
        <p:nvSpPr>
          <p:cNvPr id="5" name="Shape 3"/>
          <p:cNvSpPr/>
          <p:nvPr/>
        </p:nvSpPr>
        <p:spPr>
          <a:xfrm>
            <a:off x="1097280" y="1508760"/>
            <a:ext cx="6217920" cy="13716"/>
          </a:xfrm>
          <a:prstGeom prst="rect">
            <a:avLst/>
          </a:prstGeom>
          <a:solidFill>
            <a:srgbClr val="C9C6BE"/>
          </a:solidFill>
          <a:ln/>
        </p:spPr>
        <p:txBody>
          <a:bodyPr/>
          <a:p/>
        </p:txBody>
      </p:sp>
      <p:sp>
        <p:nvSpPr>
          <p:cNvPr id="6" name="Text 4"/>
          <p:cNvSpPr/>
          <p:nvPr/>
        </p:nvSpPr>
        <p:spPr>
          <a:xfrm>
            <a:off x="1097280" y="1645920"/>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Pacienta</a:t>
            </a:r>
            <a:endParaRPr lang="en-US" sz="1300" dirty="0"/>
          </a:p>
        </p:txBody>
      </p:sp>
      <p:sp>
        <p:nvSpPr>
          <p:cNvPr id="7" name="Text 5"/>
          <p:cNvSpPr/>
          <p:nvPr/>
        </p:nvSpPr>
        <p:spPr>
          <a:xfrm>
            <a:off x="3108960" y="1645920"/>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doamna M., cincizeci și doi de ani</a:t>
            </a:r>
            <a:endParaRPr lang="en-US" sz="1550" dirty="0"/>
          </a:p>
        </p:txBody>
      </p:sp>
      <p:sp>
        <p:nvSpPr>
          <p:cNvPr id="8" name="Text 6"/>
          <p:cNvSpPr/>
          <p:nvPr/>
        </p:nvSpPr>
        <p:spPr>
          <a:xfrm>
            <a:off x="1097280" y="2212848"/>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Internată pentru</a:t>
            </a:r>
            <a:endParaRPr lang="en-US" sz="1300" dirty="0"/>
          </a:p>
        </p:txBody>
      </p:sp>
      <p:sp>
        <p:nvSpPr>
          <p:cNvPr id="9" name="Text 7"/>
          <p:cNvSpPr/>
          <p:nvPr/>
        </p:nvSpPr>
        <p:spPr>
          <a:xfrm>
            <a:off x="3108960" y="2212848"/>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valori foarte mari ale tensiunii arteriale</a:t>
            </a:r>
            <a:endParaRPr lang="en-US" sz="1550" dirty="0"/>
          </a:p>
        </p:txBody>
      </p:sp>
      <p:sp>
        <p:nvSpPr>
          <p:cNvPr id="10" name="Text 8"/>
          <p:cNvSpPr/>
          <p:nvPr/>
        </p:nvSpPr>
        <p:spPr>
          <a:xfrm>
            <a:off x="1097280" y="2779776"/>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Înainte</a:t>
            </a:r>
            <a:endParaRPr lang="en-US" sz="1300" dirty="0"/>
          </a:p>
        </p:txBody>
      </p:sp>
      <p:sp>
        <p:nvSpPr>
          <p:cNvPr id="11" name="Text 9"/>
          <p:cNvSpPr/>
          <p:nvPr/>
        </p:nvSpPr>
        <p:spPr>
          <a:xfrm>
            <a:off x="3108960" y="2779776"/>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amețeală și amorțeala mâinii drepte, trecute în câteva ore</a:t>
            </a:r>
            <a:endParaRPr lang="en-US" sz="1550" dirty="0"/>
          </a:p>
        </p:txBody>
      </p:sp>
      <p:sp>
        <p:nvSpPr>
          <p:cNvPr id="12" name="Text 10"/>
          <p:cNvSpPr/>
          <p:nvPr/>
        </p:nvSpPr>
        <p:spPr>
          <a:xfrm>
            <a:off x="1097280" y="3346704"/>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Locuiește</a:t>
            </a:r>
            <a:endParaRPr lang="en-US" sz="1300" dirty="0"/>
          </a:p>
        </p:txBody>
      </p:sp>
      <p:sp>
        <p:nvSpPr>
          <p:cNvPr id="13" name="Text 11"/>
          <p:cNvSpPr/>
          <p:nvPr/>
        </p:nvSpPr>
        <p:spPr>
          <a:xfrm>
            <a:off x="3108960" y="3346704"/>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într-o comună la patruzeci de kilometri de oraș</a:t>
            </a:r>
            <a:endParaRPr lang="en-US" sz="1550" dirty="0"/>
          </a:p>
        </p:txBody>
      </p:sp>
      <p:sp>
        <p:nvSpPr>
          <p:cNvPr id="14" name="Text 12"/>
          <p:cNvSpPr/>
          <p:nvPr/>
        </p:nvSpPr>
        <p:spPr>
          <a:xfrm>
            <a:off x="1097280" y="3913632"/>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Lucrează</a:t>
            </a:r>
            <a:endParaRPr lang="en-US" sz="1300" dirty="0"/>
          </a:p>
        </p:txBody>
      </p:sp>
      <p:sp>
        <p:nvSpPr>
          <p:cNvPr id="15" name="Text 13"/>
          <p:cNvSpPr/>
          <p:nvPr/>
        </p:nvSpPr>
        <p:spPr>
          <a:xfrm>
            <a:off x="3108960" y="3913632"/>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în comerț</a:t>
            </a:r>
            <a:endParaRPr lang="en-US" sz="1550" dirty="0"/>
          </a:p>
        </p:txBody>
      </p:sp>
      <p:sp>
        <p:nvSpPr>
          <p:cNvPr id="16" name="Text 14"/>
          <p:cNvSpPr/>
          <p:nvPr/>
        </p:nvSpPr>
        <p:spPr>
          <a:xfrm>
            <a:off x="1097280" y="4480560"/>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Fumează</a:t>
            </a:r>
            <a:endParaRPr lang="en-US" sz="1300" dirty="0"/>
          </a:p>
        </p:txBody>
      </p:sp>
      <p:sp>
        <p:nvSpPr>
          <p:cNvPr id="17" name="Text 15"/>
          <p:cNvSpPr/>
          <p:nvPr/>
        </p:nvSpPr>
        <p:spPr>
          <a:xfrm>
            <a:off x="3108960" y="4480560"/>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 la optsprezece ani</a:t>
            </a:r>
            <a:endParaRPr lang="en-US" sz="1550" dirty="0"/>
          </a:p>
        </p:txBody>
      </p:sp>
      <p:sp>
        <p:nvSpPr>
          <p:cNvPr id="18" name="Text 16"/>
          <p:cNvSpPr/>
          <p:nvPr/>
        </p:nvSpPr>
        <p:spPr>
          <a:xfrm>
            <a:off x="1097280" y="5047488"/>
            <a:ext cx="1965960" cy="548640"/>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Medicul de familie</a:t>
            </a:r>
            <a:endParaRPr lang="en-US" sz="1300" dirty="0"/>
          </a:p>
        </p:txBody>
      </p:sp>
      <p:sp>
        <p:nvSpPr>
          <p:cNvPr id="19" name="Text 17"/>
          <p:cNvSpPr/>
          <p:nvPr/>
        </p:nvSpPr>
        <p:spPr>
          <a:xfrm>
            <a:off x="3108960" y="5047488"/>
            <a:ext cx="4206240" cy="54864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„tensiunea puțin mare”, acum câțiva ani; nu a mai revenit la control</a:t>
            </a:r>
            <a:endParaRPr lang="en-US" sz="1550" dirty="0"/>
          </a:p>
        </p:txBody>
      </p:sp>
      <p:sp>
        <p:nvSpPr>
          <p:cNvPr id="20" name="Text 18"/>
          <p:cNvSpPr/>
          <p:nvPr/>
        </p:nvSpPr>
        <p:spPr>
          <a:xfrm>
            <a:off x="1097280" y="5833872"/>
            <a:ext cx="6217920" cy="292608"/>
          </a:xfrm>
          <a:prstGeom prst="rect">
            <a:avLst/>
          </a:prstGeom>
          <a:noFill/>
          <a:ln/>
        </p:spPr>
        <p:txBody>
          <a:bodyPr wrap="square" lIns="0" tIns="0" rIns="0" bIns="0" rtlCol="0" anchor="t"/>
          <a:lstStyle/>
          <a:p>
            <a:pPr indent="0" marL="0">
              <a:buNone/>
            </a:pPr>
            <a:r>
              <a:rPr lang="en-US" sz="1050" i="1" dirty="0">
                <a:solidFill>
                  <a:srgbClr val="585A64"/>
                </a:solidFill>
                <a:latin typeface="Palatino Linotype" pitchFamily="34" charset="0"/>
                <a:ea typeface="Palatino Linotype" pitchFamily="34" charset="-122"/>
                <a:cs typeface="Palatino Linotype" pitchFamily="34" charset="-120"/>
              </a:rPr>
              <a:t>Caz construit pentru curs; persoana nu există.</a:t>
            </a:r>
            <a:endParaRPr lang="en-US" sz="1050" dirty="0"/>
          </a:p>
        </p:txBody>
      </p:sp>
      <p:sp>
        <p:nvSpPr>
          <p:cNvPr id="21" name="Text 19"/>
          <p:cNvSpPr/>
          <p:nvPr/>
        </p:nvSpPr>
        <p:spPr>
          <a:xfrm>
            <a:off x="8183880" y="1463040"/>
            <a:ext cx="3566160" cy="201168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Ce poate face asistentul medical până la externare?</a:t>
            </a:r>
            <a:endParaRPr lang="en-US" sz="2600" dirty="0"/>
          </a:p>
        </p:txBody>
      </p:sp>
      <p:sp>
        <p:nvSpPr>
          <p:cNvPr id="22" name="Shape 20"/>
          <p:cNvSpPr/>
          <p:nvPr/>
        </p:nvSpPr>
        <p:spPr>
          <a:xfrm>
            <a:off x="8211312" y="3657600"/>
            <a:ext cx="1097280" cy="27432"/>
          </a:xfrm>
          <a:prstGeom prst="rect">
            <a:avLst/>
          </a:prstGeom>
          <a:solidFill>
            <a:srgbClr val="B02532"/>
          </a:solidFill>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ANAMNEZA DE NURSING</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află asistentul medical</a:t>
            </a:r>
            <a:endParaRPr lang="en-US" sz="3200" dirty="0"/>
          </a:p>
        </p:txBody>
      </p:sp>
      <p:sp>
        <p:nvSpPr>
          <p:cNvPr id="4" name="Shape 2"/>
          <p:cNvSpPr/>
          <p:nvPr/>
        </p:nvSpPr>
        <p:spPr>
          <a:xfrm>
            <a:off x="594360" y="1645920"/>
            <a:ext cx="10972800" cy="841248"/>
          </a:xfrm>
          <a:prstGeom prst="roundRect">
            <a:avLst>
              <a:gd name="adj" fmla="val 9783"/>
            </a:avLst>
          </a:prstGeom>
          <a:solidFill>
            <a:srgbClr val="1D1F2B"/>
          </a:solidFill>
          <a:ln w="12700">
            <a:solidFill>
              <a:srgbClr val="1D1F2B"/>
            </a:solidFill>
            <a:prstDash val="solid"/>
          </a:ln>
        </p:spPr>
        <p:txBody>
          <a:bodyPr/>
          <a:p/>
        </p:txBody>
      </p:sp>
      <p:sp>
        <p:nvSpPr>
          <p:cNvPr id="5" name="Text 3"/>
          <p:cNvSpPr/>
          <p:nvPr/>
        </p:nvSpPr>
        <p:spPr>
          <a:xfrm>
            <a:off x="868680" y="1645920"/>
            <a:ext cx="7315200" cy="84124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Tensiunea mare, episodul neurologic</a:t>
            </a:r>
            <a:endParaRPr lang="en-US" sz="1700" dirty="0"/>
          </a:p>
        </p:txBody>
      </p:sp>
      <p:sp>
        <p:nvSpPr>
          <p:cNvPr id="6" name="Shape 4"/>
          <p:cNvSpPr/>
          <p:nvPr/>
        </p:nvSpPr>
        <p:spPr>
          <a:xfrm>
            <a:off x="8458200" y="1892808"/>
            <a:ext cx="2834640" cy="329184"/>
          </a:xfrm>
          <a:prstGeom prst="roundRect">
            <a:avLst>
              <a:gd name="adj" fmla="val 50000"/>
            </a:avLst>
          </a:prstGeom>
          <a:solidFill>
            <a:srgbClr val="FF4757"/>
          </a:solidFill>
          <a:ln w="12700">
            <a:solidFill>
              <a:srgbClr val="FF4757"/>
            </a:solidFill>
            <a:prstDash val="solid"/>
          </a:ln>
        </p:spPr>
        <p:txBody>
          <a:bodyPr/>
          <a:p/>
        </p:txBody>
      </p:sp>
      <p:sp>
        <p:nvSpPr>
          <p:cNvPr id="7" name="Text 5"/>
          <p:cNvSpPr/>
          <p:nvPr/>
        </p:nvSpPr>
        <p:spPr>
          <a:xfrm>
            <a:off x="8458200" y="1892808"/>
            <a:ext cx="28346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Povara bolilor cronice</a:t>
            </a:r>
            <a:endParaRPr lang="en-US" sz="1300" dirty="0"/>
          </a:p>
        </p:txBody>
      </p:sp>
      <p:sp>
        <p:nvSpPr>
          <p:cNvPr id="8" name="Shape 6"/>
          <p:cNvSpPr/>
          <p:nvPr/>
        </p:nvSpPr>
        <p:spPr>
          <a:xfrm>
            <a:off x="594360" y="2633472"/>
            <a:ext cx="10972800" cy="841248"/>
          </a:xfrm>
          <a:prstGeom prst="roundRect">
            <a:avLst>
              <a:gd name="adj" fmla="val 9783"/>
            </a:avLst>
          </a:prstGeom>
          <a:solidFill>
            <a:srgbClr val="1D1F2B"/>
          </a:solidFill>
          <a:ln w="12700">
            <a:solidFill>
              <a:srgbClr val="1D1F2B"/>
            </a:solidFill>
            <a:prstDash val="solid"/>
          </a:ln>
        </p:spPr>
        <p:txBody>
          <a:bodyPr/>
          <a:p/>
        </p:txBody>
      </p:sp>
      <p:sp>
        <p:nvSpPr>
          <p:cNvPr id="9" name="Text 7"/>
          <p:cNvSpPr/>
          <p:nvPr/>
        </p:nvSpPr>
        <p:spPr>
          <a:xfrm>
            <a:off x="868680" y="2633472"/>
            <a:ext cx="7315200" cy="84124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Testul Babeș-Papanicolau: niciodată. „Nu am avut probleme.”</a:t>
            </a:r>
            <a:endParaRPr lang="en-US" sz="1700" dirty="0"/>
          </a:p>
        </p:txBody>
      </p:sp>
      <p:sp>
        <p:nvSpPr>
          <p:cNvPr id="10" name="Shape 8"/>
          <p:cNvSpPr/>
          <p:nvPr/>
        </p:nvSpPr>
        <p:spPr>
          <a:xfrm>
            <a:off x="8458200" y="2880360"/>
            <a:ext cx="2834640" cy="329184"/>
          </a:xfrm>
          <a:prstGeom prst="roundRect">
            <a:avLst>
              <a:gd name="adj" fmla="val 50000"/>
            </a:avLst>
          </a:prstGeom>
          <a:solidFill>
            <a:srgbClr val="FFC24B"/>
          </a:solidFill>
          <a:ln w="12700">
            <a:solidFill>
              <a:srgbClr val="FFC24B"/>
            </a:solidFill>
            <a:prstDash val="solid"/>
          </a:ln>
        </p:spPr>
        <p:txBody>
          <a:bodyPr/>
          <a:p/>
        </p:txBody>
      </p:sp>
      <p:sp>
        <p:nvSpPr>
          <p:cNvPr id="11" name="Text 9"/>
          <p:cNvSpPr/>
          <p:nvPr/>
        </p:nvSpPr>
        <p:spPr>
          <a:xfrm>
            <a:off x="8458200" y="2880360"/>
            <a:ext cx="2834640" cy="329184"/>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Screeningul</a:t>
            </a:r>
            <a:endParaRPr lang="en-US" sz="1300" dirty="0"/>
          </a:p>
        </p:txBody>
      </p:sp>
      <p:sp>
        <p:nvSpPr>
          <p:cNvPr id="12" name="Shape 10"/>
          <p:cNvSpPr/>
          <p:nvPr/>
        </p:nvSpPr>
        <p:spPr>
          <a:xfrm>
            <a:off x="594360" y="3621024"/>
            <a:ext cx="10972800" cy="841248"/>
          </a:xfrm>
          <a:prstGeom prst="roundRect">
            <a:avLst>
              <a:gd name="adj" fmla="val 9783"/>
            </a:avLst>
          </a:prstGeom>
          <a:solidFill>
            <a:srgbClr val="1D1F2B"/>
          </a:solidFill>
          <a:ln w="12700">
            <a:solidFill>
              <a:srgbClr val="1D1F2B"/>
            </a:solidFill>
            <a:prstDash val="solid"/>
          </a:ln>
        </p:spPr>
        <p:txBody>
          <a:bodyPr/>
          <a:p/>
        </p:txBody>
      </p:sp>
      <p:sp>
        <p:nvSpPr>
          <p:cNvPr id="13" name="Text 11"/>
          <p:cNvSpPr/>
          <p:nvPr/>
        </p:nvSpPr>
        <p:spPr>
          <a:xfrm>
            <a:off x="868680" y="3621024"/>
            <a:ext cx="7315200" cy="84124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Fiica, de doisprezece ani, nevaccinată HPV: „nu a fost testat destul”, citise pe o rețea de socializare.</a:t>
            </a:r>
            <a:endParaRPr lang="en-US" sz="1700" dirty="0"/>
          </a:p>
        </p:txBody>
      </p:sp>
      <p:sp>
        <p:nvSpPr>
          <p:cNvPr id="14" name="Shape 12"/>
          <p:cNvSpPr/>
          <p:nvPr/>
        </p:nvSpPr>
        <p:spPr>
          <a:xfrm>
            <a:off x="8458200" y="3867912"/>
            <a:ext cx="2834640" cy="329184"/>
          </a:xfrm>
          <a:prstGeom prst="roundRect">
            <a:avLst>
              <a:gd name="adj" fmla="val 50000"/>
            </a:avLst>
          </a:prstGeom>
          <a:solidFill>
            <a:srgbClr val="9B7EF7"/>
          </a:solidFill>
          <a:ln w="12700">
            <a:solidFill>
              <a:srgbClr val="9B7EF7"/>
            </a:solidFill>
            <a:prstDash val="solid"/>
          </a:ln>
        </p:spPr>
        <p:txBody>
          <a:bodyPr/>
          <a:p/>
        </p:txBody>
      </p:sp>
      <p:sp>
        <p:nvSpPr>
          <p:cNvPr id="15" name="Text 13"/>
          <p:cNvSpPr/>
          <p:nvPr/>
        </p:nvSpPr>
        <p:spPr>
          <a:xfrm>
            <a:off x="8458200" y="3867912"/>
            <a:ext cx="2834640" cy="329184"/>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Vaccinarea</a:t>
            </a:r>
            <a:endParaRPr lang="en-US" sz="1300" dirty="0"/>
          </a:p>
        </p:txBody>
      </p:sp>
      <p:sp>
        <p:nvSpPr>
          <p:cNvPr id="16" name="Shape 14"/>
          <p:cNvSpPr/>
          <p:nvPr/>
        </p:nvSpPr>
        <p:spPr>
          <a:xfrm>
            <a:off x="594360" y="4608576"/>
            <a:ext cx="10972800" cy="841248"/>
          </a:xfrm>
          <a:prstGeom prst="roundRect">
            <a:avLst>
              <a:gd name="adj" fmla="val 9783"/>
            </a:avLst>
          </a:prstGeom>
          <a:solidFill>
            <a:srgbClr val="1D1F2B"/>
          </a:solidFill>
          <a:ln w="12700">
            <a:solidFill>
              <a:srgbClr val="1D1F2B"/>
            </a:solidFill>
            <a:prstDash val="solid"/>
          </a:ln>
        </p:spPr>
        <p:txBody>
          <a:bodyPr/>
          <a:p/>
        </p:txBody>
      </p:sp>
      <p:sp>
        <p:nvSpPr>
          <p:cNvPr id="17" name="Text 15"/>
          <p:cNvSpPr/>
          <p:nvPr/>
        </p:nvSpPr>
        <p:spPr>
          <a:xfrm>
            <a:off x="868680" y="4608576"/>
            <a:ext cx="7315200" cy="84124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„Știu că fumatul nu e bun, toată lumea știe. Dar nu am timp de doctori.”</a:t>
            </a:r>
            <a:endParaRPr lang="en-US" sz="1700" dirty="0"/>
          </a:p>
        </p:txBody>
      </p:sp>
      <p:sp>
        <p:nvSpPr>
          <p:cNvPr id="18" name="Shape 16"/>
          <p:cNvSpPr/>
          <p:nvPr/>
        </p:nvSpPr>
        <p:spPr>
          <a:xfrm>
            <a:off x="8458200" y="4855464"/>
            <a:ext cx="2834640" cy="329184"/>
          </a:xfrm>
          <a:prstGeom prst="roundRect">
            <a:avLst>
              <a:gd name="adj" fmla="val 50000"/>
            </a:avLst>
          </a:prstGeom>
          <a:solidFill>
            <a:srgbClr val="27D3BE"/>
          </a:solidFill>
          <a:ln w="12700">
            <a:solidFill>
              <a:srgbClr val="27D3BE"/>
            </a:solidFill>
            <a:prstDash val="solid"/>
          </a:ln>
        </p:spPr>
        <p:txBody>
          <a:bodyPr/>
          <a:p/>
        </p:txBody>
      </p:sp>
      <p:sp>
        <p:nvSpPr>
          <p:cNvPr id="19" name="Text 17"/>
          <p:cNvSpPr/>
          <p:nvPr/>
        </p:nvSpPr>
        <p:spPr>
          <a:xfrm>
            <a:off x="8458200" y="4855464"/>
            <a:ext cx="28346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Schimbarea comportamentului</a:t>
            </a:r>
            <a:endParaRPr lang="en-US" sz="1300" dirty="0"/>
          </a:p>
        </p:txBody>
      </p:sp>
      <p:sp>
        <p:nvSpPr>
          <p:cNvPr id="20" name="Text 18"/>
          <p:cNvSpPr/>
          <p:nvPr/>
        </p:nvSpPr>
        <p:spPr>
          <a:xfrm>
            <a:off x="594360" y="5715000"/>
            <a:ext cx="1097280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Cazul conține aproape tot cursul.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CUM SUNTEȚI EVALUAȚI · FIȘA DISCIPLINEI</a:t>
            </a:r>
            <a:endParaRPr lang="en-US" sz="1300" dirty="0"/>
          </a:p>
        </p:txBody>
      </p:sp>
      <p:sp>
        <p:nvSpPr>
          <p:cNvPr id="3" name="Text 1"/>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073B34"/>
                </a:solidFill>
                <a:latin typeface="Palatino Linotype" pitchFamily="34" charset="0"/>
                <a:ea typeface="Palatino Linotype" pitchFamily="34" charset="-122"/>
                <a:cs typeface="Palatino Linotype" pitchFamily="34" charset="-120"/>
              </a:rPr>
              <a:t>Examenul scris înseamnă jumătate din notă</a:t>
            </a:r>
            <a:endParaRPr lang="en-US" sz="3200" dirty="0"/>
          </a:p>
        </p:txBody>
      </p:sp>
      <p:sp>
        <p:nvSpPr>
          <p:cNvPr id="4" name="Shape 2"/>
          <p:cNvSpPr/>
          <p:nvPr/>
        </p:nvSpPr>
        <p:spPr>
          <a:xfrm>
            <a:off x="594360" y="1691640"/>
            <a:ext cx="5486400" cy="914400"/>
          </a:xfrm>
          <a:prstGeom prst="rect">
            <a:avLst/>
          </a:prstGeom>
          <a:solidFill>
            <a:srgbClr val="07564B"/>
          </a:solidFill>
          <a:ln w="19050">
            <a:solidFill>
              <a:srgbClr val="27D3BE"/>
            </a:solidFill>
            <a:prstDash val="solid"/>
          </a:ln>
        </p:spPr>
        <p:txBody>
          <a:bodyPr/>
          <a:p/>
        </p:txBody>
      </p:sp>
      <p:sp>
        <p:nvSpPr>
          <p:cNvPr id="5" name="Text 3"/>
          <p:cNvSpPr/>
          <p:nvPr/>
        </p:nvSpPr>
        <p:spPr>
          <a:xfrm>
            <a:off x="777240" y="1691640"/>
            <a:ext cx="1554480" cy="914400"/>
          </a:xfrm>
          <a:prstGeom prst="rect">
            <a:avLst/>
          </a:prstGeom>
          <a:noFill/>
          <a:ln/>
        </p:spPr>
        <p:txBody>
          <a:bodyPr wrap="square" lIns="0" tIns="0" rIns="0" bIns="0" rtlCol="0" anchor="ctr"/>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50%</a:t>
            </a:r>
            <a:endParaRPr lang="en-US" sz="4000" dirty="0"/>
          </a:p>
        </p:txBody>
      </p:sp>
      <p:sp>
        <p:nvSpPr>
          <p:cNvPr id="6" name="Text 4"/>
          <p:cNvSpPr/>
          <p:nvPr/>
        </p:nvSpPr>
        <p:spPr>
          <a:xfrm>
            <a:off x="594360" y="2697480"/>
            <a:ext cx="5394960" cy="365760"/>
          </a:xfrm>
          <a:prstGeom prst="rect">
            <a:avLst/>
          </a:prstGeom>
          <a:noFill/>
          <a:ln/>
        </p:spPr>
        <p:txBody>
          <a:bodyPr wrap="square" lIns="0" tIns="0" rIns="0" bIns="0" rtlCol="0" anchor="t"/>
          <a:lstStyle/>
          <a:p>
            <a:pPr indent="0" marL="0">
              <a:buNone/>
            </a:pPr>
            <a:r>
              <a:rPr lang="en-US" sz="1700" b="1" dirty="0">
                <a:solidFill>
                  <a:srgbClr val="073B34"/>
                </a:solidFill>
                <a:latin typeface="Palatino Linotype" pitchFamily="34" charset="0"/>
                <a:ea typeface="Palatino Linotype" pitchFamily="34" charset="-122"/>
                <a:cs typeface="Palatino Linotype" pitchFamily="34" charset="-120"/>
              </a:rPr>
              <a:t>Examenul de curs</a:t>
            </a:r>
            <a:endParaRPr lang="en-US" sz="1700" dirty="0"/>
          </a:p>
        </p:txBody>
      </p:sp>
      <p:sp>
        <p:nvSpPr>
          <p:cNvPr id="7" name="Shape 5"/>
          <p:cNvSpPr/>
          <p:nvPr/>
        </p:nvSpPr>
        <p:spPr>
          <a:xfrm>
            <a:off x="6080760" y="1691640"/>
            <a:ext cx="3291840" cy="914400"/>
          </a:xfrm>
          <a:prstGeom prst="rect">
            <a:avLst/>
          </a:prstGeom>
          <a:solidFill>
            <a:srgbClr val="FFFFFF"/>
          </a:solidFill>
          <a:ln w="19050">
            <a:solidFill>
              <a:srgbClr val="27D3BE"/>
            </a:solidFill>
            <a:prstDash val="solid"/>
          </a:ln>
        </p:spPr>
        <p:txBody>
          <a:bodyPr/>
          <a:p/>
        </p:txBody>
      </p:sp>
      <p:sp>
        <p:nvSpPr>
          <p:cNvPr id="8" name="Text 6"/>
          <p:cNvSpPr/>
          <p:nvPr/>
        </p:nvSpPr>
        <p:spPr>
          <a:xfrm>
            <a:off x="6263640" y="1691640"/>
            <a:ext cx="1554480" cy="914400"/>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30%</a:t>
            </a:r>
            <a:endParaRPr lang="en-US" sz="4000" dirty="0"/>
          </a:p>
        </p:txBody>
      </p:sp>
      <p:sp>
        <p:nvSpPr>
          <p:cNvPr id="9" name="Text 7"/>
          <p:cNvSpPr/>
          <p:nvPr/>
        </p:nvSpPr>
        <p:spPr>
          <a:xfrm>
            <a:off x="6080760" y="2697480"/>
            <a:ext cx="3200400" cy="365760"/>
          </a:xfrm>
          <a:prstGeom prst="rect">
            <a:avLst/>
          </a:prstGeom>
          <a:noFill/>
          <a:ln/>
        </p:spPr>
        <p:txBody>
          <a:bodyPr wrap="square" lIns="0" tIns="0" rIns="0" bIns="0" rtlCol="0" anchor="t"/>
          <a:lstStyle/>
          <a:p>
            <a:pPr indent="0" marL="0">
              <a:buNone/>
            </a:pPr>
            <a:r>
              <a:rPr lang="en-US" sz="1700" b="1" dirty="0">
                <a:solidFill>
                  <a:srgbClr val="073B34"/>
                </a:solidFill>
                <a:latin typeface="Palatino Linotype" pitchFamily="34" charset="0"/>
                <a:ea typeface="Palatino Linotype" pitchFamily="34" charset="-122"/>
                <a:cs typeface="Palatino Linotype" pitchFamily="34" charset="-120"/>
              </a:rPr>
              <a:t>Lucrările practice</a:t>
            </a:r>
            <a:endParaRPr lang="en-US" sz="1700" dirty="0"/>
          </a:p>
        </p:txBody>
      </p:sp>
      <p:sp>
        <p:nvSpPr>
          <p:cNvPr id="10" name="Shape 8"/>
          <p:cNvSpPr/>
          <p:nvPr/>
        </p:nvSpPr>
        <p:spPr>
          <a:xfrm>
            <a:off x="9372600" y="1691640"/>
            <a:ext cx="2194560" cy="914400"/>
          </a:xfrm>
          <a:prstGeom prst="rect">
            <a:avLst/>
          </a:prstGeom>
          <a:solidFill>
            <a:srgbClr val="073B34"/>
          </a:solidFill>
          <a:ln w="19050">
            <a:solidFill>
              <a:srgbClr val="27D3BE"/>
            </a:solidFill>
            <a:prstDash val="solid"/>
          </a:ln>
        </p:spPr>
        <p:txBody>
          <a:bodyPr/>
          <a:p/>
        </p:txBody>
      </p:sp>
      <p:sp>
        <p:nvSpPr>
          <p:cNvPr id="11" name="Text 9"/>
          <p:cNvSpPr/>
          <p:nvPr/>
        </p:nvSpPr>
        <p:spPr>
          <a:xfrm>
            <a:off x="9555480" y="1691640"/>
            <a:ext cx="1554480" cy="914400"/>
          </a:xfrm>
          <a:prstGeom prst="rect">
            <a:avLst/>
          </a:prstGeom>
          <a:noFill/>
          <a:ln/>
        </p:spPr>
        <p:txBody>
          <a:bodyPr wrap="square" lIns="0" tIns="0" rIns="0" bIns="0" rtlCol="0" anchor="ctr"/>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20%</a:t>
            </a:r>
            <a:endParaRPr lang="en-US" sz="4000" dirty="0"/>
          </a:p>
        </p:txBody>
      </p:sp>
      <p:sp>
        <p:nvSpPr>
          <p:cNvPr id="12" name="Text 10"/>
          <p:cNvSpPr/>
          <p:nvPr/>
        </p:nvSpPr>
        <p:spPr>
          <a:xfrm>
            <a:off x="9372600" y="2697480"/>
            <a:ext cx="2103120" cy="365760"/>
          </a:xfrm>
          <a:prstGeom prst="rect">
            <a:avLst/>
          </a:prstGeom>
          <a:noFill/>
          <a:ln/>
        </p:spPr>
        <p:txBody>
          <a:bodyPr wrap="square" lIns="0" tIns="0" rIns="0" bIns="0" rtlCol="0" anchor="t"/>
          <a:lstStyle/>
          <a:p>
            <a:pPr indent="0" marL="0">
              <a:buNone/>
            </a:pPr>
            <a:r>
              <a:rPr lang="en-US" sz="1700" b="1" dirty="0">
                <a:solidFill>
                  <a:srgbClr val="073B34"/>
                </a:solidFill>
                <a:latin typeface="Palatino Linotype" pitchFamily="34" charset="0"/>
                <a:ea typeface="Palatino Linotype" pitchFamily="34" charset="-122"/>
                <a:cs typeface="Palatino Linotype" pitchFamily="34" charset="-120"/>
              </a:rPr>
              <a:t>Pe parcurs</a:t>
            </a:r>
            <a:endParaRPr lang="en-US" sz="1700" dirty="0"/>
          </a:p>
        </p:txBody>
      </p:sp>
      <p:sp>
        <p:nvSpPr>
          <p:cNvPr id="13" name="Text 11"/>
          <p:cNvSpPr/>
          <p:nvPr/>
        </p:nvSpPr>
        <p:spPr>
          <a:xfrm>
            <a:off x="594360" y="3108960"/>
            <a:ext cx="5303520" cy="914400"/>
          </a:xfrm>
          <a:prstGeom prst="rect">
            <a:avLst/>
          </a:prstGeom>
          <a:noFill/>
          <a:ln/>
        </p:spPr>
        <p:txBody>
          <a:bodyPr wrap="square" lIns="0" tIns="0" rIns="0" bIns="0" rtlCol="0" anchor="t"/>
          <a:lstStyle/>
          <a:p>
            <a:pPr indent="0" marL="0">
              <a:buNone/>
            </a:pPr>
            <a:r>
              <a:rPr lang="en-US" sz="1600" dirty="0">
                <a:solidFill>
                  <a:srgbClr val="073B34"/>
                </a:solidFill>
                <a:latin typeface="Palatino Linotype" pitchFamily="34" charset="0"/>
                <a:ea typeface="Palatino Linotype" pitchFamily="34" charset="-122"/>
                <a:cs typeface="Palatino Linotype" pitchFamily="34" charset="-120"/>
              </a:rPr>
              <a:t>40 de grile cu un singur răspuns corect și 2 subiecte redacționale scurte.</a:t>
            </a:r>
            <a:endParaRPr lang="en-US" sz="1600" dirty="0"/>
          </a:p>
        </p:txBody>
      </p:sp>
      <p:sp>
        <p:nvSpPr>
          <p:cNvPr id="14" name="Text 12"/>
          <p:cNvSpPr/>
          <p:nvPr/>
        </p:nvSpPr>
        <p:spPr>
          <a:xfrm>
            <a:off x="6080760" y="3108960"/>
            <a:ext cx="3108960" cy="914400"/>
          </a:xfrm>
          <a:prstGeom prst="rect">
            <a:avLst/>
          </a:prstGeom>
          <a:noFill/>
          <a:ln/>
        </p:spPr>
        <p:txBody>
          <a:bodyPr wrap="square" lIns="0" tIns="0" rIns="0" bIns="0" rtlCol="0" anchor="t"/>
          <a:lstStyle/>
          <a:p>
            <a:pPr indent="0" marL="0">
              <a:buNone/>
            </a:pPr>
            <a:r>
              <a:rPr lang="en-US" sz="1600" dirty="0">
                <a:solidFill>
                  <a:srgbClr val="073B34"/>
                </a:solidFill>
                <a:latin typeface="Palatino Linotype" pitchFamily="34" charset="0"/>
                <a:ea typeface="Palatino Linotype" pitchFamily="34" charset="-122"/>
                <a:cs typeface="Palatino Linotype" pitchFamily="34" charset="-120"/>
              </a:rPr>
              <a:t>Portofoliul de activitate practică și un colocviu oral.</a:t>
            </a:r>
            <a:endParaRPr lang="en-US" sz="1600" dirty="0"/>
          </a:p>
        </p:txBody>
      </p:sp>
      <p:sp>
        <p:nvSpPr>
          <p:cNvPr id="15" name="Text 13"/>
          <p:cNvSpPr/>
          <p:nvPr/>
        </p:nvSpPr>
        <p:spPr>
          <a:xfrm>
            <a:off x="9372600" y="3108960"/>
            <a:ext cx="2194560" cy="1188720"/>
          </a:xfrm>
          <a:prstGeom prst="rect">
            <a:avLst/>
          </a:prstGeom>
          <a:noFill/>
          <a:ln/>
        </p:spPr>
        <p:txBody>
          <a:bodyPr wrap="square" lIns="0" tIns="0" rIns="0" bIns="0" rtlCol="0" anchor="t"/>
          <a:lstStyle/>
          <a:p>
            <a:pPr indent="0" marL="0">
              <a:buNone/>
            </a:pPr>
            <a:r>
              <a:rPr lang="en-US" sz="1600" dirty="0">
                <a:solidFill>
                  <a:srgbClr val="073B34"/>
                </a:solidFill>
                <a:latin typeface="Palatino Linotype" pitchFamily="34" charset="0"/>
                <a:ea typeface="Palatino Linotype" pitchFamily="34" charset="-122"/>
                <a:cs typeface="Palatino Linotype" pitchFamily="34" charset="-120"/>
              </a:rPr>
              <a:t>2 teste, proiectul de echipă, participarea activă.</a:t>
            </a:r>
            <a:endParaRPr lang="en-US" sz="1600" dirty="0"/>
          </a:p>
        </p:txBody>
      </p:sp>
      <p:sp>
        <p:nvSpPr>
          <p:cNvPr id="16" name="Shape 14"/>
          <p:cNvSpPr/>
          <p:nvPr/>
        </p:nvSpPr>
        <p:spPr>
          <a:xfrm>
            <a:off x="594360" y="4572000"/>
            <a:ext cx="10972800" cy="18288"/>
          </a:xfrm>
          <a:prstGeom prst="rect">
            <a:avLst/>
          </a:prstGeom>
          <a:solidFill>
            <a:srgbClr val="073B34"/>
          </a:solidFill>
          <a:ln/>
        </p:spPr>
        <p:txBody>
          <a:bodyPr/>
          <a:p/>
        </p:txBody>
      </p:sp>
      <p:sp>
        <p:nvSpPr>
          <p:cNvPr id="17" name="Text 15"/>
          <p:cNvSpPr/>
          <p:nvPr/>
        </p:nvSpPr>
        <p:spPr>
          <a:xfrm>
            <a:off x="594360" y="4754880"/>
            <a:ext cx="10972800" cy="91440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Promovați cu nota minimă 5 la teorie și 5 la practică, prezență 100% la lucrările practice, portofoliul și proiectul predate. Voturile și discuțiile din sală nu se notează.</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părți, un singur caz</a:t>
            </a:r>
            <a:endParaRPr lang="en-US" sz="3100" dirty="0"/>
          </a:p>
        </p:txBody>
      </p:sp>
      <p:sp>
        <p:nvSpPr>
          <p:cNvPr id="4" name="Shape 2"/>
          <p:cNvSpPr/>
          <p:nvPr/>
        </p:nvSpPr>
        <p:spPr>
          <a:xfrm>
            <a:off x="594360" y="2148840"/>
            <a:ext cx="731520" cy="868680"/>
          </a:xfrm>
          <a:prstGeom prst="rect">
            <a:avLst/>
          </a:prstGeom>
          <a:solidFill>
            <a:srgbClr val="585A64"/>
          </a:solidFill>
          <a:ln w="19050">
            <a:solidFill>
              <a:srgbClr val="F6F5F2"/>
            </a:solidFill>
            <a:prstDash val="solid"/>
          </a:ln>
        </p:spPr>
        <p:txBody>
          <a:bodyPr/>
          <a:p/>
        </p:txBody>
      </p:sp>
      <p:sp>
        <p:nvSpPr>
          <p:cNvPr id="5" name="Shape 3"/>
          <p:cNvSpPr/>
          <p:nvPr/>
        </p:nvSpPr>
        <p:spPr>
          <a:xfrm>
            <a:off x="1325880" y="2148840"/>
            <a:ext cx="4572000" cy="868680"/>
          </a:xfrm>
          <a:prstGeom prst="rect">
            <a:avLst/>
          </a:prstGeom>
          <a:solidFill>
            <a:srgbClr val="FF4757"/>
          </a:solidFill>
          <a:ln w="19050">
            <a:solidFill>
              <a:srgbClr val="F6F5F2"/>
            </a:solidFill>
            <a:prstDash val="solid"/>
          </a:ln>
        </p:spPr>
        <p:txBody>
          <a:bodyPr/>
          <a:p/>
        </p:txBody>
      </p:sp>
      <p:sp>
        <p:nvSpPr>
          <p:cNvPr id="6" name="Text 4"/>
          <p:cNvSpPr/>
          <p:nvPr/>
        </p:nvSpPr>
        <p:spPr>
          <a:xfrm>
            <a:off x="1325880" y="2148840"/>
            <a:ext cx="4572000" cy="868680"/>
          </a:xfrm>
          <a:prstGeom prst="rect">
            <a:avLst/>
          </a:prstGeom>
          <a:noFill/>
          <a:ln/>
        </p:spPr>
        <p:txBody>
          <a:bodyPr wrap="square" lIns="0" tIns="0" rIns="0" bIns="0" rtlCol="0" anchor="ctr"/>
          <a:lstStyle/>
          <a:p>
            <a:pPr algn="ctr" indent="0" marL="0">
              <a:buNone/>
            </a:pPr>
            <a:r>
              <a:rPr lang="en-US" sz="1800" b="1" dirty="0">
                <a:solidFill>
                  <a:srgbClr val="2E060B"/>
                </a:solidFill>
                <a:latin typeface="Palatino Linotype" pitchFamily="34" charset="0"/>
                <a:ea typeface="Palatino Linotype" pitchFamily="34" charset="-122"/>
                <a:cs typeface="Palatino Linotype" pitchFamily="34" charset="-120"/>
              </a:rPr>
              <a:t>Povara bolilor și prevenția</a:t>
            </a:r>
            <a:endParaRPr lang="en-US" sz="1800" dirty="0"/>
          </a:p>
        </p:txBody>
      </p:sp>
      <p:sp>
        <p:nvSpPr>
          <p:cNvPr id="7" name="Shape 5"/>
          <p:cNvSpPr/>
          <p:nvPr/>
        </p:nvSpPr>
        <p:spPr>
          <a:xfrm>
            <a:off x="5897880" y="2148840"/>
            <a:ext cx="914400" cy="868680"/>
          </a:xfrm>
          <a:prstGeom prst="rect">
            <a:avLst/>
          </a:prstGeom>
          <a:solidFill>
            <a:srgbClr val="ECEAE4"/>
          </a:solidFill>
          <a:ln w="19050">
            <a:solidFill>
              <a:srgbClr val="F6F5F2"/>
            </a:solidFill>
            <a:prstDash val="solid"/>
          </a:ln>
        </p:spPr>
        <p:txBody>
          <a:bodyPr/>
          <a:p/>
        </p:txBody>
      </p:sp>
      <p:sp>
        <p:nvSpPr>
          <p:cNvPr id="8" name="Shape 6"/>
          <p:cNvSpPr/>
          <p:nvPr/>
        </p:nvSpPr>
        <p:spPr>
          <a:xfrm>
            <a:off x="6812280" y="2148840"/>
            <a:ext cx="3383280" cy="868680"/>
          </a:xfrm>
          <a:prstGeom prst="rect">
            <a:avLst/>
          </a:prstGeom>
          <a:solidFill>
            <a:srgbClr val="9B7EF7"/>
          </a:solidFill>
          <a:ln w="19050">
            <a:solidFill>
              <a:srgbClr val="F6F5F2"/>
            </a:solidFill>
            <a:prstDash val="solid"/>
          </a:ln>
        </p:spPr>
        <p:txBody>
          <a:bodyPr/>
          <a:p/>
        </p:txBody>
      </p:sp>
      <p:sp>
        <p:nvSpPr>
          <p:cNvPr id="9" name="Text 7"/>
          <p:cNvSpPr/>
          <p:nvPr/>
        </p:nvSpPr>
        <p:spPr>
          <a:xfrm>
            <a:off x="6812280" y="2148840"/>
            <a:ext cx="3383280" cy="868680"/>
          </a:xfrm>
          <a:prstGeom prst="rect">
            <a:avLst/>
          </a:prstGeom>
          <a:noFill/>
          <a:ln/>
        </p:spPr>
        <p:txBody>
          <a:bodyPr wrap="square" lIns="0" tIns="0" rIns="0" bIns="0" rtlCol="0" anchor="ctr"/>
          <a:lstStyle/>
          <a:p>
            <a:pPr algn="ctr" indent="0" marL="0">
              <a:buNone/>
            </a:pPr>
            <a:r>
              <a:rPr lang="en-US" sz="1800" b="1" dirty="0">
                <a:solidFill>
                  <a:srgbClr val="1F1040"/>
                </a:solidFill>
                <a:latin typeface="Palatino Linotype" pitchFamily="34" charset="0"/>
                <a:ea typeface="Palatino Linotype" pitchFamily="34" charset="-122"/>
                <a:cs typeface="Palatino Linotype" pitchFamily="34" charset="-120"/>
              </a:rPr>
              <a:t>Schimbarea comportamentului</a:t>
            </a:r>
            <a:endParaRPr lang="en-US" sz="1800" dirty="0"/>
          </a:p>
        </p:txBody>
      </p:sp>
      <p:sp>
        <p:nvSpPr>
          <p:cNvPr id="10" name="Shape 8"/>
          <p:cNvSpPr/>
          <p:nvPr/>
        </p:nvSpPr>
        <p:spPr>
          <a:xfrm>
            <a:off x="10195560" y="2148840"/>
            <a:ext cx="914400" cy="868680"/>
          </a:xfrm>
          <a:prstGeom prst="rect">
            <a:avLst/>
          </a:prstGeom>
          <a:solidFill>
            <a:srgbClr val="27D3BE"/>
          </a:solidFill>
          <a:ln w="19050">
            <a:solidFill>
              <a:srgbClr val="F6F5F2"/>
            </a:solidFill>
            <a:prstDash val="solid"/>
          </a:ln>
        </p:spPr>
        <p:txBody>
          <a:bodyPr/>
          <a:p/>
        </p:txBody>
      </p:sp>
      <p:sp>
        <p:nvSpPr>
          <p:cNvPr id="11" name="Text 9"/>
          <p:cNvSpPr/>
          <p:nvPr/>
        </p:nvSpPr>
        <p:spPr>
          <a:xfrm>
            <a:off x="10195560" y="2148840"/>
            <a:ext cx="914400" cy="86868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Kahoot</a:t>
            </a:r>
            <a:endParaRPr lang="en-US" sz="1400" dirty="0"/>
          </a:p>
        </p:txBody>
      </p:sp>
      <p:sp>
        <p:nvSpPr>
          <p:cNvPr id="12" name="Shape 10"/>
          <p:cNvSpPr/>
          <p:nvPr/>
        </p:nvSpPr>
        <p:spPr>
          <a:xfrm>
            <a:off x="11109960" y="2148840"/>
            <a:ext cx="457200" cy="868680"/>
          </a:xfrm>
          <a:prstGeom prst="rect">
            <a:avLst/>
          </a:prstGeom>
          <a:solidFill>
            <a:srgbClr val="FF8A3D"/>
          </a:solidFill>
          <a:ln w="19050">
            <a:solidFill>
              <a:srgbClr val="F6F5F2"/>
            </a:solidFill>
            <a:prstDash val="solid"/>
          </a:ln>
        </p:spPr>
        <p:txBody>
          <a:bodyPr/>
          <a:p/>
        </p:txBody>
      </p:sp>
      <p:sp>
        <p:nvSpPr>
          <p:cNvPr id="13" name="Text 11"/>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4" name="Text 12"/>
          <p:cNvSpPr/>
          <p:nvPr/>
        </p:nvSpPr>
        <p:spPr>
          <a:xfrm>
            <a:off x="96012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8′</a:t>
            </a:r>
            <a:endParaRPr lang="en-US" sz="1300" dirty="0"/>
          </a:p>
        </p:txBody>
      </p:sp>
      <p:sp>
        <p:nvSpPr>
          <p:cNvPr id="15" name="Text 13"/>
          <p:cNvSpPr/>
          <p:nvPr/>
        </p:nvSpPr>
        <p:spPr>
          <a:xfrm>
            <a:off x="553212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58′</a:t>
            </a:r>
            <a:endParaRPr lang="en-US" sz="1300" dirty="0"/>
          </a:p>
        </p:txBody>
      </p:sp>
      <p:sp>
        <p:nvSpPr>
          <p:cNvPr id="16" name="Text 14"/>
          <p:cNvSpPr/>
          <p:nvPr/>
        </p:nvSpPr>
        <p:spPr>
          <a:xfrm>
            <a:off x="644652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68′</a:t>
            </a:r>
            <a:endParaRPr lang="en-US" sz="1300" dirty="0"/>
          </a:p>
        </p:txBody>
      </p:sp>
      <p:sp>
        <p:nvSpPr>
          <p:cNvPr id="17" name="Text 15"/>
          <p:cNvSpPr/>
          <p:nvPr/>
        </p:nvSpPr>
        <p:spPr>
          <a:xfrm>
            <a:off x="98298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105′</a:t>
            </a:r>
            <a:endParaRPr lang="en-US" sz="1300" dirty="0"/>
          </a:p>
        </p:txBody>
      </p:sp>
      <p:sp>
        <p:nvSpPr>
          <p:cNvPr id="18" name="Text 16"/>
          <p:cNvSpPr/>
          <p:nvPr/>
        </p:nvSpPr>
        <p:spPr>
          <a:xfrm>
            <a:off x="107442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115′</a:t>
            </a:r>
            <a:endParaRPr lang="en-US" sz="1300" dirty="0"/>
          </a:p>
        </p:txBody>
      </p:sp>
      <p:sp>
        <p:nvSpPr>
          <p:cNvPr id="19" name="Text 17"/>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0" name="Text 18"/>
          <p:cNvSpPr/>
          <p:nvPr/>
        </p:nvSpPr>
        <p:spPr>
          <a:xfrm>
            <a:off x="548640" y="3090672"/>
            <a:ext cx="1097280" cy="274320"/>
          </a:xfrm>
          <a:prstGeom prst="rect">
            <a:avLst/>
          </a:prstGeom>
          <a:noFill/>
          <a:ln/>
        </p:spPr>
        <p:txBody>
          <a:bodyPr wrap="square" lIns="0" tIns="0" rIns="0" bIns="0" rtlCol="0" anchor="t"/>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Cazul</a:t>
            </a:r>
            <a:endParaRPr lang="en-US" sz="1300" dirty="0"/>
          </a:p>
        </p:txBody>
      </p:sp>
      <p:sp>
        <p:nvSpPr>
          <p:cNvPr id="21" name="Text 19"/>
          <p:cNvSpPr/>
          <p:nvPr/>
        </p:nvSpPr>
        <p:spPr>
          <a:xfrm>
            <a:off x="5897880" y="309067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2" name="Text 20"/>
          <p:cNvSpPr/>
          <p:nvPr/>
        </p:nvSpPr>
        <p:spPr>
          <a:xfrm>
            <a:off x="9738360" y="3090672"/>
            <a:ext cx="1828800" cy="274320"/>
          </a:xfrm>
          <a:prstGeom prst="rect">
            <a:avLst/>
          </a:prstGeom>
          <a:noFill/>
          <a:ln/>
        </p:spPr>
        <p:txBody>
          <a:bodyPr wrap="square" lIns="0" tIns="0" rIns="0" bIns="0" rtlCol="0" anchor="t"/>
          <a:lstStyle/>
          <a:p>
            <a:pPr algn="r" indent="0" marL="0">
              <a:buNone/>
            </a:pPr>
            <a:r>
              <a:rPr lang="en-US" sz="1300" b="1" dirty="0">
                <a:solidFill>
                  <a:srgbClr val="9C4A0A"/>
                </a:solidFill>
                <a:latin typeface="Palatino Linotype" pitchFamily="34" charset="0"/>
                <a:ea typeface="Palatino Linotype" pitchFamily="34" charset="-122"/>
                <a:cs typeface="Palatino Linotype" pitchFamily="34" charset="-120"/>
              </a:rPr>
              <a:t>Trei întrebări</a:t>
            </a:r>
            <a:endParaRPr lang="en-US" sz="1300" dirty="0"/>
          </a:p>
        </p:txBody>
      </p:sp>
      <p:sp>
        <p:nvSpPr>
          <p:cNvPr id="23" name="Shape 21"/>
          <p:cNvSpPr/>
          <p:nvPr/>
        </p:nvSpPr>
        <p:spPr>
          <a:xfrm>
            <a:off x="1325880" y="3520440"/>
            <a:ext cx="45720" cy="868680"/>
          </a:xfrm>
          <a:prstGeom prst="rect">
            <a:avLst/>
          </a:prstGeom>
          <a:solidFill>
            <a:srgbClr val="B02532"/>
          </a:solidFill>
          <a:ln w="12700">
            <a:solidFill>
              <a:srgbClr val="B02532"/>
            </a:solidFill>
            <a:prstDash val="solid"/>
          </a:ln>
        </p:spPr>
        <p:txBody>
          <a:bodyPr/>
          <a:p/>
        </p:txBody>
      </p:sp>
      <p:sp>
        <p:nvSpPr>
          <p:cNvPr id="24" name="Text 22"/>
          <p:cNvSpPr/>
          <p:nvPr/>
        </p:nvSpPr>
        <p:spPr>
          <a:xfrm>
            <a:off x="1490472" y="3520440"/>
            <a:ext cx="429768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Bolile cronice și transmisibile din România, nivelurile prevenției, screeningul, vaccinarea</a:t>
            </a:r>
            <a:endParaRPr lang="en-US" sz="1600" dirty="0"/>
          </a:p>
        </p:txBody>
      </p:sp>
      <p:sp>
        <p:nvSpPr>
          <p:cNvPr id="25" name="Shape 23"/>
          <p:cNvSpPr/>
          <p:nvPr/>
        </p:nvSpPr>
        <p:spPr>
          <a:xfrm>
            <a:off x="6812280" y="3520440"/>
            <a:ext cx="45720" cy="868680"/>
          </a:xfrm>
          <a:prstGeom prst="rect">
            <a:avLst/>
          </a:prstGeom>
          <a:solidFill>
            <a:srgbClr val="4A2D8C"/>
          </a:solidFill>
          <a:ln w="12700">
            <a:solidFill>
              <a:srgbClr val="4A2D8C"/>
            </a:solidFill>
            <a:prstDash val="solid"/>
          </a:ln>
        </p:spPr>
        <p:txBody>
          <a:bodyPr/>
          <a:p/>
        </p:txBody>
      </p:sp>
      <p:sp>
        <p:nvSpPr>
          <p:cNvPr id="26" name="Text 24"/>
          <p:cNvSpPr/>
          <p:nvPr/>
        </p:nvSpPr>
        <p:spPr>
          <a:xfrm>
            <a:off x="6976872" y="3520440"/>
            <a:ext cx="310896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Educația și promovarea sănătății, două modele ale schimbării din fișă (și modelul transteoretic, complementar, pentru aprofundare), planul de intervenție</a:t>
            </a:r>
            <a:endParaRPr lang="en-US" sz="1600" dirty="0"/>
          </a:p>
        </p:txBody>
      </p:sp>
      <p:sp>
        <p:nvSpPr>
          <p:cNvPr id="27" name="Text 25"/>
          <p:cNvSpPr/>
          <p:nvPr/>
        </p:nvSpPr>
        <p:spPr>
          <a:xfrm>
            <a:off x="594360" y="5257800"/>
            <a:ext cx="10972800" cy="45720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Jumătate din timp lucrați voi: voturi pe telefon, perechi, două tabere, un joc de rol, Kahoot.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ÎNAINTEA ORICĂREI EXPLICAȚII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contează cel mai mult pentru sănătatea ei în următorii zece ani?</a:t>
            </a:r>
            <a:endParaRPr lang="en-US" sz="3000" dirty="0"/>
          </a:p>
        </p:txBody>
      </p:sp>
      <p:sp>
        <p:nvSpPr>
          <p:cNvPr id="6" name="Shape 4"/>
          <p:cNvSpPr/>
          <p:nvPr/>
        </p:nvSpPr>
        <p:spPr>
          <a:xfrm>
            <a:off x="594360" y="187452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68680" y="2020824"/>
            <a:ext cx="420624" cy="420624"/>
          </a:xfrm>
          <a:prstGeom prst="ellipse">
            <a:avLst/>
          </a:prstGeom>
          <a:solidFill>
            <a:srgbClr val="FFC24B"/>
          </a:solidFill>
          <a:ln/>
        </p:spPr>
        <p:txBody>
          <a:bodyPr/>
          <a:p/>
        </p:txBody>
      </p:sp>
      <p:sp>
        <p:nvSpPr>
          <p:cNvPr id="8" name="Text 6"/>
          <p:cNvSpPr/>
          <p:nvPr/>
        </p:nvSpPr>
        <p:spPr>
          <a:xfrm>
            <a:off x="868680" y="2020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74520"/>
            <a:ext cx="982980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Hipertensiunea necontrolată</a:t>
            </a:r>
            <a:endParaRPr lang="en-US" sz="1900" dirty="0"/>
          </a:p>
        </p:txBody>
      </p:sp>
      <p:sp>
        <p:nvSpPr>
          <p:cNvPr id="10" name="Shape 8"/>
          <p:cNvSpPr/>
          <p:nvPr/>
        </p:nvSpPr>
        <p:spPr>
          <a:xfrm>
            <a:off x="594360" y="274320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68680" y="2889504"/>
            <a:ext cx="420624" cy="420624"/>
          </a:xfrm>
          <a:prstGeom prst="ellipse">
            <a:avLst/>
          </a:prstGeom>
          <a:solidFill>
            <a:srgbClr val="FFC24B"/>
          </a:solidFill>
          <a:ln/>
        </p:spPr>
        <p:txBody>
          <a:bodyPr/>
          <a:p/>
        </p:txBody>
      </p:sp>
      <p:sp>
        <p:nvSpPr>
          <p:cNvPr id="12" name="Text 10"/>
          <p:cNvSpPr/>
          <p:nvPr/>
        </p:nvSpPr>
        <p:spPr>
          <a:xfrm>
            <a:off x="868680" y="2889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743200"/>
            <a:ext cx="982980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Fumatul</a:t>
            </a:r>
            <a:endParaRPr lang="en-US" sz="1900" dirty="0"/>
          </a:p>
        </p:txBody>
      </p:sp>
      <p:sp>
        <p:nvSpPr>
          <p:cNvPr id="14" name="Shape 12"/>
          <p:cNvSpPr/>
          <p:nvPr/>
        </p:nvSpPr>
        <p:spPr>
          <a:xfrm>
            <a:off x="594360" y="361188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68680" y="3758184"/>
            <a:ext cx="420624" cy="420624"/>
          </a:xfrm>
          <a:prstGeom prst="ellipse">
            <a:avLst/>
          </a:prstGeom>
          <a:solidFill>
            <a:srgbClr val="FFC24B"/>
          </a:solidFill>
          <a:ln/>
        </p:spPr>
        <p:txBody>
          <a:bodyPr/>
          <a:p/>
        </p:txBody>
      </p:sp>
      <p:sp>
        <p:nvSpPr>
          <p:cNvPr id="16" name="Text 14"/>
          <p:cNvSpPr/>
          <p:nvPr/>
        </p:nvSpPr>
        <p:spPr>
          <a:xfrm>
            <a:off x="868680" y="3758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11880"/>
            <a:ext cx="982980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Lipsa screeningului pentru cancerul de col uterin</a:t>
            </a:r>
            <a:endParaRPr lang="en-US" sz="1900" dirty="0"/>
          </a:p>
        </p:txBody>
      </p:sp>
      <p:sp>
        <p:nvSpPr>
          <p:cNvPr id="18" name="Shape 16"/>
          <p:cNvSpPr/>
          <p:nvPr/>
        </p:nvSpPr>
        <p:spPr>
          <a:xfrm>
            <a:off x="594360" y="448056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868680" y="4626864"/>
            <a:ext cx="420624" cy="420624"/>
          </a:xfrm>
          <a:prstGeom prst="ellipse">
            <a:avLst/>
          </a:prstGeom>
          <a:solidFill>
            <a:srgbClr val="FFC24B"/>
          </a:solidFill>
          <a:ln/>
        </p:spPr>
        <p:txBody>
          <a:bodyPr/>
          <a:p/>
        </p:txBody>
      </p:sp>
      <p:sp>
        <p:nvSpPr>
          <p:cNvPr id="20" name="Text 18"/>
          <p:cNvSpPr/>
          <p:nvPr/>
        </p:nvSpPr>
        <p:spPr>
          <a:xfrm>
            <a:off x="868680" y="46268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480560"/>
            <a:ext cx="982980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Sănătatea fiicei</a:t>
            </a:r>
            <a:endParaRPr lang="en-US" sz="1900" dirty="0"/>
          </a:p>
        </p:txBody>
      </p:sp>
      <p:sp>
        <p:nvSpPr>
          <p:cNvPr id="22" name="Text 20"/>
          <p:cNvSpPr/>
          <p:nvPr/>
        </p:nvSpPr>
        <p:spPr>
          <a:xfrm>
            <a:off x="594360" y="5486400"/>
            <a:ext cx="1097280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Rezultatul rămâne pe ecran; îl revedem la sfârșitul primei părți.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EUROSTAT · RATE STANDARDIZATE DE DECES LA 100 000 DE LOCUITORI · 2023</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Diferența stă în inimă și în vase</a:t>
            </a:r>
            <a:endParaRPr lang="en-US" sz="3000" dirty="0"/>
          </a:p>
        </p:txBody>
      </p:sp>
      <p:sp>
        <p:nvSpPr>
          <p:cNvPr id="4" name="Shape 2"/>
          <p:cNvSpPr/>
          <p:nvPr/>
        </p:nvSpPr>
        <p:spPr>
          <a:xfrm>
            <a:off x="4023360" y="1472184"/>
            <a:ext cx="256032" cy="182880"/>
          </a:xfrm>
          <a:prstGeom prst="rect">
            <a:avLst/>
          </a:prstGeom>
          <a:solidFill>
            <a:srgbClr val="B02532"/>
          </a:solidFill>
          <a:ln w="12700">
            <a:solidFill>
              <a:srgbClr val="B02532"/>
            </a:solidFill>
            <a:prstDash val="solid"/>
          </a:ln>
        </p:spPr>
        <p:txBody>
          <a:bodyPr/>
          <a:p/>
        </p:txBody>
      </p:sp>
      <p:sp>
        <p:nvSpPr>
          <p:cNvPr id="5" name="Text 3"/>
          <p:cNvSpPr/>
          <p:nvPr/>
        </p:nvSpPr>
        <p:spPr>
          <a:xfrm>
            <a:off x="4352544" y="141732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6" name="Shape 4"/>
          <p:cNvSpPr/>
          <p:nvPr/>
        </p:nvSpPr>
        <p:spPr>
          <a:xfrm>
            <a:off x="5760720" y="1472184"/>
            <a:ext cx="256032" cy="182880"/>
          </a:xfrm>
          <a:prstGeom prst="rect">
            <a:avLst/>
          </a:prstGeom>
          <a:solidFill>
            <a:srgbClr val="B5B2AA"/>
          </a:solidFill>
          <a:ln w="12700">
            <a:solidFill>
              <a:srgbClr val="B5B2AA"/>
            </a:solidFill>
            <a:prstDash val="solid"/>
          </a:ln>
        </p:spPr>
        <p:txBody>
          <a:bodyPr/>
          <a:p/>
        </p:txBody>
      </p:sp>
      <p:sp>
        <p:nvSpPr>
          <p:cNvPr id="7" name="Text 5"/>
          <p:cNvSpPr/>
          <p:nvPr/>
        </p:nvSpPr>
        <p:spPr>
          <a:xfrm>
            <a:off x="6089904" y="141732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Media UE</a:t>
            </a:r>
            <a:endParaRPr lang="en-US" sz="1300" dirty="0"/>
          </a:p>
        </p:txBody>
      </p:sp>
      <p:sp>
        <p:nvSpPr>
          <p:cNvPr id="8" name="Text 6"/>
          <p:cNvSpPr/>
          <p:nvPr/>
        </p:nvSpPr>
        <p:spPr>
          <a:xfrm>
            <a:off x="594360" y="1783080"/>
            <a:ext cx="233172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Boli ale aparatului circulator</a:t>
            </a:r>
            <a:endParaRPr lang="en-US" sz="1400" dirty="0"/>
          </a:p>
        </p:txBody>
      </p:sp>
      <p:sp>
        <p:nvSpPr>
          <p:cNvPr id="9" name="Shape 7"/>
          <p:cNvSpPr/>
          <p:nvPr/>
        </p:nvSpPr>
        <p:spPr>
          <a:xfrm>
            <a:off x="3017520" y="1783080"/>
            <a:ext cx="3749040" cy="274320"/>
          </a:xfrm>
          <a:prstGeom prst="rect">
            <a:avLst/>
          </a:prstGeom>
          <a:solidFill>
            <a:srgbClr val="B02532"/>
          </a:solidFill>
          <a:ln w="12700">
            <a:solidFill>
              <a:srgbClr val="B02532"/>
            </a:solidFill>
            <a:prstDash val="solid"/>
          </a:ln>
        </p:spPr>
        <p:txBody>
          <a:bodyPr/>
          <a:p/>
        </p:txBody>
      </p:sp>
      <p:sp>
        <p:nvSpPr>
          <p:cNvPr id="10" name="Text 8"/>
          <p:cNvSpPr/>
          <p:nvPr/>
        </p:nvSpPr>
        <p:spPr>
          <a:xfrm>
            <a:off x="6839712" y="1737360"/>
            <a:ext cx="1188720" cy="365760"/>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787,1</a:t>
            </a:r>
            <a:endParaRPr lang="en-US" sz="1300" dirty="0"/>
          </a:p>
        </p:txBody>
      </p:sp>
      <p:sp>
        <p:nvSpPr>
          <p:cNvPr id="11" name="Shape 9"/>
          <p:cNvSpPr/>
          <p:nvPr/>
        </p:nvSpPr>
        <p:spPr>
          <a:xfrm>
            <a:off x="3017520" y="2112264"/>
            <a:ext cx="1490852" cy="274320"/>
          </a:xfrm>
          <a:prstGeom prst="rect">
            <a:avLst/>
          </a:prstGeom>
          <a:solidFill>
            <a:srgbClr val="B5B2AA"/>
          </a:solidFill>
          <a:ln w="12700">
            <a:solidFill>
              <a:srgbClr val="B5B2AA"/>
            </a:solidFill>
            <a:prstDash val="solid"/>
          </a:ln>
        </p:spPr>
        <p:txBody>
          <a:bodyPr/>
          <a:p/>
        </p:txBody>
      </p:sp>
      <p:sp>
        <p:nvSpPr>
          <p:cNvPr id="12" name="Text 10"/>
          <p:cNvSpPr/>
          <p:nvPr/>
        </p:nvSpPr>
        <p:spPr>
          <a:xfrm>
            <a:off x="4581524" y="2066544"/>
            <a:ext cx="1188720" cy="365760"/>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313,0</a:t>
            </a:r>
            <a:endParaRPr lang="en-US" sz="1300" dirty="0"/>
          </a:p>
        </p:txBody>
      </p:sp>
      <p:sp>
        <p:nvSpPr>
          <p:cNvPr id="13" name="Text 11"/>
          <p:cNvSpPr/>
          <p:nvPr/>
        </p:nvSpPr>
        <p:spPr>
          <a:xfrm>
            <a:off x="594360" y="2514600"/>
            <a:ext cx="233172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Tumori</a:t>
            </a:r>
            <a:endParaRPr lang="en-US" sz="1400" dirty="0"/>
          </a:p>
        </p:txBody>
      </p:sp>
      <p:sp>
        <p:nvSpPr>
          <p:cNvPr id="14" name="Shape 12"/>
          <p:cNvSpPr/>
          <p:nvPr/>
        </p:nvSpPr>
        <p:spPr>
          <a:xfrm>
            <a:off x="3017520" y="2514600"/>
            <a:ext cx="1163627" cy="274320"/>
          </a:xfrm>
          <a:prstGeom prst="rect">
            <a:avLst/>
          </a:prstGeom>
          <a:solidFill>
            <a:srgbClr val="B02532"/>
          </a:solidFill>
          <a:ln w="12700">
            <a:solidFill>
              <a:srgbClr val="B02532"/>
            </a:solidFill>
            <a:prstDash val="solid"/>
          </a:ln>
        </p:spPr>
        <p:txBody>
          <a:bodyPr/>
          <a:p/>
        </p:txBody>
      </p:sp>
      <p:sp>
        <p:nvSpPr>
          <p:cNvPr id="15" name="Text 13"/>
          <p:cNvSpPr/>
          <p:nvPr/>
        </p:nvSpPr>
        <p:spPr>
          <a:xfrm>
            <a:off x="4254299" y="2468880"/>
            <a:ext cx="1188720" cy="365760"/>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244,3</a:t>
            </a:r>
            <a:endParaRPr lang="en-US" sz="1300" dirty="0"/>
          </a:p>
        </p:txBody>
      </p:sp>
      <p:sp>
        <p:nvSpPr>
          <p:cNvPr id="16" name="Shape 14"/>
          <p:cNvSpPr/>
          <p:nvPr/>
        </p:nvSpPr>
        <p:spPr>
          <a:xfrm>
            <a:off x="3017520" y="2843784"/>
            <a:ext cx="1157435" cy="274320"/>
          </a:xfrm>
          <a:prstGeom prst="rect">
            <a:avLst/>
          </a:prstGeom>
          <a:solidFill>
            <a:srgbClr val="B5B2AA"/>
          </a:solidFill>
          <a:ln w="12700">
            <a:solidFill>
              <a:srgbClr val="B5B2AA"/>
            </a:solidFill>
            <a:prstDash val="solid"/>
          </a:ln>
        </p:spPr>
        <p:txBody>
          <a:bodyPr/>
          <a:p/>
        </p:txBody>
      </p:sp>
      <p:sp>
        <p:nvSpPr>
          <p:cNvPr id="17" name="Text 15"/>
          <p:cNvSpPr/>
          <p:nvPr/>
        </p:nvSpPr>
        <p:spPr>
          <a:xfrm>
            <a:off x="4248107" y="2798064"/>
            <a:ext cx="1188720" cy="365760"/>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243,0</a:t>
            </a:r>
            <a:endParaRPr lang="en-US" sz="1300" dirty="0"/>
          </a:p>
        </p:txBody>
      </p:sp>
      <p:sp>
        <p:nvSpPr>
          <p:cNvPr id="18" name="Text 16"/>
          <p:cNvSpPr/>
          <p:nvPr/>
        </p:nvSpPr>
        <p:spPr>
          <a:xfrm>
            <a:off x="594360" y="3246120"/>
            <a:ext cx="233172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Boli respiratorii</a:t>
            </a:r>
            <a:endParaRPr lang="en-US" sz="1400" dirty="0"/>
          </a:p>
        </p:txBody>
      </p:sp>
      <p:sp>
        <p:nvSpPr>
          <p:cNvPr id="19" name="Shape 17"/>
          <p:cNvSpPr/>
          <p:nvPr/>
        </p:nvSpPr>
        <p:spPr>
          <a:xfrm>
            <a:off x="3017520" y="3246120"/>
            <a:ext cx="518702" cy="274320"/>
          </a:xfrm>
          <a:prstGeom prst="rect">
            <a:avLst/>
          </a:prstGeom>
          <a:solidFill>
            <a:srgbClr val="B02532"/>
          </a:solidFill>
          <a:ln w="12700">
            <a:solidFill>
              <a:srgbClr val="B02532"/>
            </a:solidFill>
            <a:prstDash val="solid"/>
          </a:ln>
        </p:spPr>
        <p:txBody>
          <a:bodyPr/>
          <a:p/>
        </p:txBody>
      </p:sp>
      <p:sp>
        <p:nvSpPr>
          <p:cNvPr id="20" name="Text 18"/>
          <p:cNvSpPr/>
          <p:nvPr/>
        </p:nvSpPr>
        <p:spPr>
          <a:xfrm>
            <a:off x="3609374" y="3200400"/>
            <a:ext cx="1188720" cy="365760"/>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108,9</a:t>
            </a:r>
            <a:endParaRPr lang="en-US" sz="1300" dirty="0"/>
          </a:p>
        </p:txBody>
      </p:sp>
      <p:sp>
        <p:nvSpPr>
          <p:cNvPr id="21" name="Shape 19"/>
          <p:cNvSpPr/>
          <p:nvPr/>
        </p:nvSpPr>
        <p:spPr>
          <a:xfrm>
            <a:off x="3017520" y="3575304"/>
            <a:ext cx="358186" cy="274320"/>
          </a:xfrm>
          <a:prstGeom prst="rect">
            <a:avLst/>
          </a:prstGeom>
          <a:solidFill>
            <a:srgbClr val="B5B2AA"/>
          </a:solidFill>
          <a:ln w="12700">
            <a:solidFill>
              <a:srgbClr val="B5B2AA"/>
            </a:solidFill>
            <a:prstDash val="solid"/>
          </a:ln>
        </p:spPr>
        <p:txBody>
          <a:bodyPr/>
          <a:p/>
        </p:txBody>
      </p:sp>
      <p:sp>
        <p:nvSpPr>
          <p:cNvPr id="22" name="Text 20"/>
          <p:cNvSpPr/>
          <p:nvPr/>
        </p:nvSpPr>
        <p:spPr>
          <a:xfrm>
            <a:off x="3448858" y="3529584"/>
            <a:ext cx="1188720" cy="365760"/>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75,2</a:t>
            </a:r>
            <a:endParaRPr lang="en-US" sz="1300" dirty="0"/>
          </a:p>
        </p:txBody>
      </p:sp>
      <p:sp>
        <p:nvSpPr>
          <p:cNvPr id="23" name="Text 21"/>
          <p:cNvSpPr/>
          <p:nvPr/>
        </p:nvSpPr>
        <p:spPr>
          <a:xfrm>
            <a:off x="594360" y="3977640"/>
            <a:ext cx="233172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Boli digestive</a:t>
            </a:r>
            <a:endParaRPr lang="en-US" sz="1400" dirty="0"/>
          </a:p>
        </p:txBody>
      </p:sp>
      <p:sp>
        <p:nvSpPr>
          <p:cNvPr id="24" name="Shape 22"/>
          <p:cNvSpPr/>
          <p:nvPr/>
        </p:nvSpPr>
        <p:spPr>
          <a:xfrm>
            <a:off x="3017520" y="3977640"/>
            <a:ext cx="352946" cy="274320"/>
          </a:xfrm>
          <a:prstGeom prst="rect">
            <a:avLst/>
          </a:prstGeom>
          <a:solidFill>
            <a:srgbClr val="B02532"/>
          </a:solidFill>
          <a:ln w="12700">
            <a:solidFill>
              <a:srgbClr val="B02532"/>
            </a:solidFill>
            <a:prstDash val="solid"/>
          </a:ln>
        </p:spPr>
        <p:txBody>
          <a:bodyPr/>
          <a:p/>
        </p:txBody>
      </p:sp>
      <p:sp>
        <p:nvSpPr>
          <p:cNvPr id="25" name="Text 23"/>
          <p:cNvSpPr/>
          <p:nvPr/>
        </p:nvSpPr>
        <p:spPr>
          <a:xfrm>
            <a:off x="3443618" y="3931920"/>
            <a:ext cx="1188720" cy="365760"/>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74,1</a:t>
            </a:r>
            <a:endParaRPr lang="en-US" sz="1300" dirty="0"/>
          </a:p>
        </p:txBody>
      </p:sp>
      <p:sp>
        <p:nvSpPr>
          <p:cNvPr id="26" name="Shape 24"/>
          <p:cNvSpPr/>
          <p:nvPr/>
        </p:nvSpPr>
        <p:spPr>
          <a:xfrm>
            <a:off x="3017520" y="4306824"/>
            <a:ext cx="203861" cy="274320"/>
          </a:xfrm>
          <a:prstGeom prst="rect">
            <a:avLst/>
          </a:prstGeom>
          <a:solidFill>
            <a:srgbClr val="B5B2AA"/>
          </a:solidFill>
          <a:ln w="12700">
            <a:solidFill>
              <a:srgbClr val="B5B2AA"/>
            </a:solidFill>
            <a:prstDash val="solid"/>
          </a:ln>
        </p:spPr>
        <p:txBody>
          <a:bodyPr/>
          <a:p/>
        </p:txBody>
      </p:sp>
      <p:sp>
        <p:nvSpPr>
          <p:cNvPr id="27" name="Text 25"/>
          <p:cNvSpPr/>
          <p:nvPr/>
        </p:nvSpPr>
        <p:spPr>
          <a:xfrm>
            <a:off x="3294533" y="4261104"/>
            <a:ext cx="1188720" cy="365760"/>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42,8</a:t>
            </a:r>
            <a:endParaRPr lang="en-US" sz="1300" dirty="0"/>
          </a:p>
        </p:txBody>
      </p:sp>
      <p:sp>
        <p:nvSpPr>
          <p:cNvPr id="28" name="Text 26"/>
          <p:cNvSpPr/>
          <p:nvPr/>
        </p:nvSpPr>
        <p:spPr>
          <a:xfrm>
            <a:off x="594360" y="4709160"/>
            <a:ext cx="233172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Cauze externe</a:t>
            </a:r>
            <a:endParaRPr lang="en-US" sz="1400" dirty="0"/>
          </a:p>
        </p:txBody>
      </p:sp>
      <p:sp>
        <p:nvSpPr>
          <p:cNvPr id="29" name="Shape 27"/>
          <p:cNvSpPr/>
          <p:nvPr/>
        </p:nvSpPr>
        <p:spPr>
          <a:xfrm>
            <a:off x="3017520" y="4709160"/>
            <a:ext cx="213863" cy="274320"/>
          </a:xfrm>
          <a:prstGeom prst="rect">
            <a:avLst/>
          </a:prstGeom>
          <a:solidFill>
            <a:srgbClr val="B02532"/>
          </a:solidFill>
          <a:ln w="12700">
            <a:solidFill>
              <a:srgbClr val="B02532"/>
            </a:solidFill>
            <a:prstDash val="solid"/>
          </a:ln>
        </p:spPr>
        <p:txBody>
          <a:bodyPr/>
          <a:p/>
        </p:txBody>
      </p:sp>
      <p:sp>
        <p:nvSpPr>
          <p:cNvPr id="30" name="Text 28"/>
          <p:cNvSpPr/>
          <p:nvPr/>
        </p:nvSpPr>
        <p:spPr>
          <a:xfrm>
            <a:off x="3304535" y="4663440"/>
            <a:ext cx="1188720" cy="365760"/>
          </a:xfrm>
          <a:prstGeom prst="rect">
            <a:avLst/>
          </a:prstGeom>
          <a:noFill/>
          <a:ln/>
        </p:spPr>
        <p:txBody>
          <a:bodyPr wrap="square" lIns="0" tIns="0" rIns="0" bIns="0" rtlCol="0" anchor="ctr"/>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44,9</a:t>
            </a:r>
            <a:endParaRPr lang="en-US" sz="1300" dirty="0"/>
          </a:p>
        </p:txBody>
      </p:sp>
      <p:sp>
        <p:nvSpPr>
          <p:cNvPr id="31" name="Shape 29"/>
          <p:cNvSpPr/>
          <p:nvPr/>
        </p:nvSpPr>
        <p:spPr>
          <a:xfrm>
            <a:off x="3017520" y="5038344"/>
            <a:ext cx="235297" cy="274320"/>
          </a:xfrm>
          <a:prstGeom prst="rect">
            <a:avLst/>
          </a:prstGeom>
          <a:solidFill>
            <a:srgbClr val="B5B2AA"/>
          </a:solidFill>
          <a:ln w="12700">
            <a:solidFill>
              <a:srgbClr val="B5B2AA"/>
            </a:solidFill>
            <a:prstDash val="solid"/>
          </a:ln>
        </p:spPr>
        <p:txBody>
          <a:bodyPr/>
          <a:p/>
        </p:txBody>
      </p:sp>
      <p:sp>
        <p:nvSpPr>
          <p:cNvPr id="32" name="Text 30"/>
          <p:cNvSpPr/>
          <p:nvPr/>
        </p:nvSpPr>
        <p:spPr>
          <a:xfrm>
            <a:off x="3325969" y="4992624"/>
            <a:ext cx="1188720" cy="365760"/>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49,4</a:t>
            </a:r>
            <a:endParaRPr lang="en-US" sz="1300" dirty="0"/>
          </a:p>
        </p:txBody>
      </p:sp>
      <p:sp>
        <p:nvSpPr>
          <p:cNvPr id="33" name="Text 31"/>
          <p:cNvSpPr/>
          <p:nvPr/>
        </p:nvSpPr>
        <p:spPr>
          <a:xfrm>
            <a:off x="8229600" y="1691640"/>
            <a:ext cx="3383280" cy="1188720"/>
          </a:xfrm>
          <a:prstGeom prst="rect">
            <a:avLst/>
          </a:prstGeom>
          <a:noFill/>
          <a:ln/>
        </p:spPr>
        <p:txBody>
          <a:bodyPr wrap="square" lIns="0" tIns="0" rIns="0" bIns="0" rtlCol="0" anchor="ctr"/>
          <a:lstStyle/>
          <a:p>
            <a:pPr indent="0" marL="0">
              <a:buNone/>
            </a:pPr>
            <a:r>
              <a:rPr lang="en-US" sz="7200" b="1" dirty="0">
                <a:solidFill>
                  <a:srgbClr val="B02532"/>
                </a:solidFill>
                <a:latin typeface="Palatino Linotype" pitchFamily="34" charset="0"/>
                <a:ea typeface="Palatino Linotype" pitchFamily="34" charset="-122"/>
                <a:cs typeface="Palatino Linotype" pitchFamily="34" charset="-120"/>
              </a:rPr>
              <a:t>2,5</a:t>
            </a:r>
            <a:endParaRPr lang="en-US" sz="7200" dirty="0"/>
          </a:p>
        </p:txBody>
      </p:sp>
      <p:sp>
        <p:nvSpPr>
          <p:cNvPr id="34" name="Text 32"/>
          <p:cNvSpPr/>
          <p:nvPr/>
        </p:nvSpPr>
        <p:spPr>
          <a:xfrm>
            <a:off x="8229600" y="2926080"/>
            <a:ext cx="3429000" cy="18288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ori mai mare la bolile circulatorii: 787,1 ÷ 313,0. Rata standardizată elimină efectul vârstei, deci o populație mai bătrână nu explică diferența.</a:t>
            </a:r>
            <a:endParaRPr lang="en-US" sz="1500" dirty="0"/>
          </a:p>
        </p:txBody>
      </p:sp>
      <p:sp>
        <p:nvSpPr>
          <p:cNvPr id="35" name="Shape 33"/>
          <p:cNvSpPr/>
          <p:nvPr/>
        </p:nvSpPr>
        <p:spPr>
          <a:xfrm>
            <a:off x="594360" y="5623560"/>
            <a:ext cx="10972800" cy="13716"/>
          </a:xfrm>
          <a:prstGeom prst="rect">
            <a:avLst/>
          </a:prstGeom>
          <a:solidFill>
            <a:srgbClr val="C9C6BE"/>
          </a:solidFill>
          <a:ln/>
        </p:spPr>
        <p:txBody>
          <a:bodyPr/>
          <a:p/>
        </p:txBody>
      </p:sp>
      <p:sp>
        <p:nvSpPr>
          <p:cNvPr id="36" name="Text 34"/>
          <p:cNvSpPr/>
          <p:nvPr/>
        </p:nvSpPr>
        <p:spPr>
          <a:xfrm>
            <a:off x="594360" y="5687568"/>
            <a:ext cx="10972800" cy="566928"/>
          </a:xfrm>
          <a:prstGeom prst="rect">
            <a:avLst/>
          </a:prstGeom>
          <a:noFill/>
          <a:ln/>
        </p:spPr>
        <p:txBody>
          <a:bodyPr wrap="square" lIns="0" tIns="0" rIns="0" bIns="0" rtlCol="0" anchor="t"/>
          <a:lstStyle/>
          <a:p>
            <a:pPr indent="0" marL="0">
              <a:buNone/>
            </a:pPr>
            <a:r>
              <a:rPr lang="en-US" sz="1400" dirty="0">
                <a:solidFill>
                  <a:srgbClr val="3A3C44"/>
                </a:solidFill>
                <a:latin typeface="Palatino Linotype" pitchFamily="34" charset="0"/>
                <a:ea typeface="Palatino Linotype" pitchFamily="34" charset="-122"/>
                <a:cs typeface="Palatino Linotype" pitchFamily="34" charset="-120"/>
              </a:rPr>
              <a:t>Pentru aprofundare: tranziția epidemiologică (Omran): infecțiile au avut în trecut o pondere mult mai mare printre cauzele de deces; astăzi domină bolile cronice. Toate cauzele: 1 376,1 în România, 963,4 în UE.</a:t>
            </a:r>
            <a:endParaRPr lang="en-US" sz="1400" dirty="0"/>
          </a:p>
        </p:txBody>
      </p:sp>
      <p:sp>
        <p:nvSpPr>
          <p:cNvPr id="37" name="Text 3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cauzele de deces, rate standardizate 2023 (registru A055); calcul în note, A213; Omran, republicat în Milbank Quarterly, 2005 (A210).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MORTALITATEA EVITABILĂ · RATE STANDARDIZATE LA 100 000 · 2023</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Pe primul loc din 27 la decesele tratabile</a:t>
            </a:r>
            <a:endParaRPr lang="en-US" sz="3000" dirty="0"/>
          </a:p>
        </p:txBody>
      </p:sp>
      <p:sp>
        <p:nvSpPr>
          <p:cNvPr id="4" name="Shape 2"/>
          <p:cNvSpPr/>
          <p:nvPr/>
        </p:nvSpPr>
        <p:spPr>
          <a:xfrm>
            <a:off x="594360" y="1609344"/>
            <a:ext cx="256032" cy="182880"/>
          </a:xfrm>
          <a:prstGeom prst="rect">
            <a:avLst/>
          </a:prstGeom>
          <a:solidFill>
            <a:srgbClr val="B02532"/>
          </a:solidFill>
          <a:ln w="12700">
            <a:solidFill>
              <a:srgbClr val="B02532"/>
            </a:solidFill>
            <a:prstDash val="solid"/>
          </a:ln>
        </p:spPr>
        <p:txBody>
          <a:bodyPr/>
          <a:p/>
        </p:txBody>
      </p:sp>
      <p:sp>
        <p:nvSpPr>
          <p:cNvPr id="5" name="Text 3"/>
          <p:cNvSpPr/>
          <p:nvPr/>
        </p:nvSpPr>
        <p:spPr>
          <a:xfrm>
            <a:off x="923544" y="15544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6" name="Shape 4"/>
          <p:cNvSpPr/>
          <p:nvPr/>
        </p:nvSpPr>
        <p:spPr>
          <a:xfrm>
            <a:off x="2331720" y="1609344"/>
            <a:ext cx="256032" cy="182880"/>
          </a:xfrm>
          <a:prstGeom prst="rect">
            <a:avLst/>
          </a:prstGeom>
          <a:solidFill>
            <a:srgbClr val="B5B2AA"/>
          </a:solidFill>
          <a:ln w="12700">
            <a:solidFill>
              <a:srgbClr val="B5B2AA"/>
            </a:solidFill>
            <a:prstDash val="solid"/>
          </a:ln>
        </p:spPr>
        <p:txBody>
          <a:bodyPr/>
          <a:p/>
        </p:txBody>
      </p:sp>
      <p:sp>
        <p:nvSpPr>
          <p:cNvPr id="7" name="Text 5"/>
          <p:cNvSpPr/>
          <p:nvPr/>
        </p:nvSpPr>
        <p:spPr>
          <a:xfrm>
            <a:off x="2660904" y="15544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Media UE</a:t>
            </a:r>
            <a:endParaRPr lang="en-US" sz="1300" dirty="0"/>
          </a:p>
        </p:txBody>
      </p:sp>
      <p:sp>
        <p:nvSpPr>
          <p:cNvPr id="8" name="Text 6"/>
          <p:cNvSpPr/>
          <p:nvPr/>
        </p:nvSpPr>
        <p:spPr>
          <a:xfrm>
            <a:off x="594360" y="2103120"/>
            <a:ext cx="2011680" cy="969264"/>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Prevenibilă</a:t>
            </a:r>
            <a:endParaRPr lang="en-US" sz="1800" dirty="0"/>
          </a:p>
        </p:txBody>
      </p:sp>
      <p:sp>
        <p:nvSpPr>
          <p:cNvPr id="9" name="Shape 7"/>
          <p:cNvSpPr/>
          <p:nvPr/>
        </p:nvSpPr>
        <p:spPr>
          <a:xfrm>
            <a:off x="2697480" y="2103120"/>
            <a:ext cx="5120640" cy="457200"/>
          </a:xfrm>
          <a:prstGeom prst="rect">
            <a:avLst/>
          </a:prstGeom>
          <a:solidFill>
            <a:srgbClr val="B02532"/>
          </a:solidFill>
          <a:ln w="12700">
            <a:solidFill>
              <a:srgbClr val="B02532"/>
            </a:solidFill>
            <a:prstDash val="solid"/>
          </a:ln>
        </p:spPr>
        <p:txBody>
          <a:bodyPr/>
          <a:p/>
        </p:txBody>
      </p:sp>
      <p:sp>
        <p:nvSpPr>
          <p:cNvPr id="10" name="Text 8"/>
          <p:cNvSpPr/>
          <p:nvPr/>
        </p:nvSpPr>
        <p:spPr>
          <a:xfrm>
            <a:off x="7891272" y="2057400"/>
            <a:ext cx="1188720" cy="54864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264,0</a:t>
            </a:r>
            <a:endParaRPr lang="en-US" sz="1600" dirty="0"/>
          </a:p>
        </p:txBody>
      </p:sp>
      <p:sp>
        <p:nvSpPr>
          <p:cNvPr id="11" name="Shape 9"/>
          <p:cNvSpPr/>
          <p:nvPr/>
        </p:nvSpPr>
        <p:spPr>
          <a:xfrm>
            <a:off x="2697480" y="2615184"/>
            <a:ext cx="2926911" cy="457200"/>
          </a:xfrm>
          <a:prstGeom prst="rect">
            <a:avLst/>
          </a:prstGeom>
          <a:solidFill>
            <a:srgbClr val="B5B2AA"/>
          </a:solidFill>
          <a:ln w="12700">
            <a:solidFill>
              <a:srgbClr val="B5B2AA"/>
            </a:solidFill>
            <a:prstDash val="solid"/>
          </a:ln>
        </p:spPr>
        <p:txBody>
          <a:bodyPr/>
          <a:p/>
        </p:txBody>
      </p:sp>
      <p:sp>
        <p:nvSpPr>
          <p:cNvPr id="12" name="Text 10"/>
          <p:cNvSpPr/>
          <p:nvPr/>
        </p:nvSpPr>
        <p:spPr>
          <a:xfrm>
            <a:off x="5697543" y="2569464"/>
            <a:ext cx="1188720" cy="548640"/>
          </a:xfrm>
          <a:prstGeom prst="rect">
            <a:avLst/>
          </a:prstGeom>
          <a:noFill/>
          <a:ln/>
        </p:spPr>
        <p:txBody>
          <a:bodyPr wrap="square" lIns="0" tIns="0" rIns="0" bIns="0" rtlCol="0" anchor="ctr"/>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150,9</a:t>
            </a:r>
            <a:endParaRPr lang="en-US" sz="1600" dirty="0"/>
          </a:p>
        </p:txBody>
      </p:sp>
      <p:sp>
        <p:nvSpPr>
          <p:cNvPr id="13" name="Text 11"/>
          <p:cNvSpPr/>
          <p:nvPr/>
        </p:nvSpPr>
        <p:spPr>
          <a:xfrm>
            <a:off x="594360" y="3566160"/>
            <a:ext cx="2011680" cy="969264"/>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Tratabilă</a:t>
            </a:r>
            <a:endParaRPr lang="en-US" sz="1800" dirty="0"/>
          </a:p>
        </p:txBody>
      </p:sp>
      <p:sp>
        <p:nvSpPr>
          <p:cNvPr id="14" name="Shape 12"/>
          <p:cNvSpPr/>
          <p:nvPr/>
        </p:nvSpPr>
        <p:spPr>
          <a:xfrm>
            <a:off x="2697480" y="3566160"/>
            <a:ext cx="3873454" cy="457200"/>
          </a:xfrm>
          <a:prstGeom prst="rect">
            <a:avLst/>
          </a:prstGeom>
          <a:solidFill>
            <a:srgbClr val="B02532"/>
          </a:solidFill>
          <a:ln w="12700">
            <a:solidFill>
              <a:srgbClr val="B02532"/>
            </a:solidFill>
            <a:prstDash val="solid"/>
          </a:ln>
        </p:spPr>
        <p:txBody>
          <a:bodyPr/>
          <a:p/>
        </p:txBody>
      </p:sp>
      <p:sp>
        <p:nvSpPr>
          <p:cNvPr id="15" name="Text 13"/>
          <p:cNvSpPr/>
          <p:nvPr/>
        </p:nvSpPr>
        <p:spPr>
          <a:xfrm>
            <a:off x="6644086" y="3520440"/>
            <a:ext cx="1188720" cy="54864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199,7</a:t>
            </a:r>
            <a:endParaRPr lang="en-US" sz="1600" dirty="0"/>
          </a:p>
        </p:txBody>
      </p:sp>
      <p:sp>
        <p:nvSpPr>
          <p:cNvPr id="16" name="Shape 14"/>
          <p:cNvSpPr/>
          <p:nvPr/>
        </p:nvSpPr>
        <p:spPr>
          <a:xfrm>
            <a:off x="2697480" y="4078224"/>
            <a:ext cx="1683604" cy="457200"/>
          </a:xfrm>
          <a:prstGeom prst="rect">
            <a:avLst/>
          </a:prstGeom>
          <a:solidFill>
            <a:srgbClr val="B5B2AA"/>
          </a:solidFill>
          <a:ln w="12700">
            <a:solidFill>
              <a:srgbClr val="B5B2AA"/>
            </a:solidFill>
            <a:prstDash val="solid"/>
          </a:ln>
        </p:spPr>
        <p:txBody>
          <a:bodyPr/>
          <a:p/>
        </p:txBody>
      </p:sp>
      <p:sp>
        <p:nvSpPr>
          <p:cNvPr id="17" name="Text 15"/>
          <p:cNvSpPr/>
          <p:nvPr/>
        </p:nvSpPr>
        <p:spPr>
          <a:xfrm>
            <a:off x="4454236" y="4032504"/>
            <a:ext cx="1188720" cy="548640"/>
          </a:xfrm>
          <a:prstGeom prst="rect">
            <a:avLst/>
          </a:prstGeom>
          <a:noFill/>
          <a:ln/>
        </p:spPr>
        <p:txBody>
          <a:bodyPr wrap="square" lIns="0" tIns="0" rIns="0" bIns="0" rtlCol="0" anchor="ctr"/>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86,8</a:t>
            </a:r>
            <a:endParaRPr lang="en-US" sz="1600" dirty="0"/>
          </a:p>
        </p:txBody>
      </p:sp>
      <p:sp>
        <p:nvSpPr>
          <p:cNvPr id="18" name="Shape 16"/>
          <p:cNvSpPr/>
          <p:nvPr/>
        </p:nvSpPr>
        <p:spPr>
          <a:xfrm>
            <a:off x="8686800" y="2331720"/>
            <a:ext cx="2834640" cy="329184"/>
          </a:xfrm>
          <a:prstGeom prst="roundRect">
            <a:avLst>
              <a:gd name="adj" fmla="val 50000"/>
            </a:avLst>
          </a:prstGeom>
          <a:solidFill>
            <a:srgbClr val="ECEAE4"/>
          </a:solidFill>
          <a:ln w="12700">
            <a:solidFill>
              <a:srgbClr val="ECEAE4"/>
            </a:solidFill>
            <a:prstDash val="solid"/>
          </a:ln>
        </p:spPr>
        <p:txBody>
          <a:bodyPr/>
          <a:p/>
        </p:txBody>
      </p:sp>
      <p:sp>
        <p:nvSpPr>
          <p:cNvPr id="19" name="Text 17"/>
          <p:cNvSpPr/>
          <p:nvPr/>
        </p:nvSpPr>
        <p:spPr>
          <a:xfrm>
            <a:off x="8686800" y="2331720"/>
            <a:ext cx="2834640" cy="32918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al patrulea loc în UE</a:t>
            </a:r>
            <a:endParaRPr lang="en-US" sz="1300" dirty="0"/>
          </a:p>
        </p:txBody>
      </p:sp>
      <p:sp>
        <p:nvSpPr>
          <p:cNvPr id="20" name="Shape 18"/>
          <p:cNvSpPr/>
          <p:nvPr/>
        </p:nvSpPr>
        <p:spPr>
          <a:xfrm>
            <a:off x="8686800" y="3794760"/>
            <a:ext cx="2834640" cy="329184"/>
          </a:xfrm>
          <a:prstGeom prst="roundRect">
            <a:avLst>
              <a:gd name="adj" fmla="val 50000"/>
            </a:avLst>
          </a:prstGeom>
          <a:solidFill>
            <a:srgbClr val="B02532"/>
          </a:solidFill>
          <a:ln w="12700">
            <a:solidFill>
              <a:srgbClr val="B02532"/>
            </a:solidFill>
            <a:prstDash val="solid"/>
          </a:ln>
        </p:spPr>
        <p:txBody>
          <a:bodyPr/>
          <a:p/>
        </p:txBody>
      </p:sp>
      <p:sp>
        <p:nvSpPr>
          <p:cNvPr id="21" name="Text 19"/>
          <p:cNvSpPr/>
          <p:nvPr/>
        </p:nvSpPr>
        <p:spPr>
          <a:xfrm>
            <a:off x="8686800" y="3794760"/>
            <a:ext cx="28346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primul loc în UE</a:t>
            </a:r>
            <a:endParaRPr lang="en-US" sz="1300" dirty="0"/>
          </a:p>
        </p:txBody>
      </p:sp>
      <p:sp>
        <p:nvSpPr>
          <p:cNvPr id="22" name="Shape 20"/>
          <p:cNvSpPr/>
          <p:nvPr/>
        </p:nvSpPr>
        <p:spPr>
          <a:xfrm>
            <a:off x="594360" y="5074920"/>
            <a:ext cx="64008" cy="868680"/>
          </a:xfrm>
          <a:prstGeom prst="rect">
            <a:avLst/>
          </a:prstGeom>
          <a:solidFill>
            <a:srgbClr val="B02532"/>
          </a:solidFill>
          <a:ln w="12700">
            <a:solidFill>
              <a:srgbClr val="B02532"/>
            </a:solidFill>
            <a:prstDash val="solid"/>
          </a:ln>
        </p:spPr>
        <p:txBody>
          <a:bodyPr/>
          <a:p/>
        </p:txBody>
      </p:sp>
      <p:sp>
        <p:nvSpPr>
          <p:cNvPr id="23" name="Text 21"/>
          <p:cNvSpPr/>
          <p:nvPr/>
        </p:nvSpPr>
        <p:spPr>
          <a:xfrm>
            <a:off x="822960" y="5029200"/>
            <a:ext cx="10607040" cy="9601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Mortalitatea prevenibilă cuprinde decesele care pot fi evitate în principal prin sănătate publică și prevenție primară: domeniul primei părți a cursului. Mortalitatea tratabilă, la care România e pe primul loc în UE, ține de îngrijirile medicale la timp și eficace, inclusiv prevenția secundară și tratamentul.</a:t>
            </a:r>
            <a:endParaRPr lang="en-US" sz="180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mortalitatea evitabilă 2023 (registru A064, A065, A067). Noțiunile, din primul curs.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OMS · ADULȚI DE 30–79 DE ANI · ROMÂNIA, 2019</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Unul din trei hipertensivi nu știe</a:t>
            </a:r>
            <a:endParaRPr lang="en-US" sz="3200" dirty="0"/>
          </a:p>
        </p:txBody>
      </p:sp>
      <p:sp>
        <p:nvSpPr>
          <p:cNvPr id="4" name="Text 2"/>
          <p:cNvSpPr/>
          <p:nvPr/>
        </p:nvSpPr>
        <p:spPr>
          <a:xfrm>
            <a:off x="594360" y="1600200"/>
            <a:ext cx="3657600" cy="1005840"/>
          </a:xfrm>
          <a:prstGeom prst="rect">
            <a:avLst/>
          </a:prstGeom>
          <a:noFill/>
          <a:ln/>
        </p:spPr>
        <p:txBody>
          <a:bodyPr wrap="square" lIns="0" tIns="0" rIns="0" bIns="0" rtlCol="0" anchor="ctr"/>
          <a:lstStyle/>
          <a:p>
            <a:pPr indent="0" marL="0">
              <a:buNone/>
            </a:pPr>
            <a:r>
              <a:rPr lang="en-US" sz="6000" b="1" dirty="0">
                <a:solidFill>
                  <a:srgbClr val="FF4757"/>
                </a:solidFill>
                <a:latin typeface="Palatino Linotype" pitchFamily="34" charset="0"/>
                <a:ea typeface="Palatino Linotype" pitchFamily="34" charset="-122"/>
                <a:cs typeface="Palatino Linotype" pitchFamily="34" charset="-120"/>
              </a:rPr>
              <a:t>48,4%</a:t>
            </a:r>
            <a:endParaRPr lang="en-US" sz="6000" dirty="0"/>
          </a:p>
        </p:txBody>
      </p:sp>
      <p:sp>
        <p:nvSpPr>
          <p:cNvPr id="5" name="Text 3"/>
          <p:cNvSpPr/>
          <p:nvPr/>
        </p:nvSpPr>
        <p:spPr>
          <a:xfrm>
            <a:off x="594360" y="2606040"/>
            <a:ext cx="3840480" cy="73152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dintre adulți au hipertensiune (interval de incertitudine 41,6–55,2%)</a:t>
            </a:r>
            <a:endParaRPr lang="en-US" sz="1500" dirty="0"/>
          </a:p>
        </p:txBody>
      </p:sp>
      <p:sp>
        <p:nvSpPr>
          <p:cNvPr id="6" name="Shape 4"/>
          <p:cNvSpPr/>
          <p:nvPr/>
        </p:nvSpPr>
        <p:spPr>
          <a:xfrm>
            <a:off x="1066190" y="3520440"/>
            <a:ext cx="382219" cy="382219"/>
          </a:xfrm>
          <a:prstGeom prst="ellipse">
            <a:avLst/>
          </a:prstGeom>
          <a:solidFill>
            <a:srgbClr val="27D3BE"/>
          </a:solidFill>
          <a:ln w="12700">
            <a:solidFill>
              <a:srgbClr val="27D3BE"/>
            </a:solidFill>
            <a:prstDash val="solid"/>
          </a:ln>
        </p:spPr>
        <p:txBody>
          <a:bodyPr/>
          <a:p/>
        </p:txBody>
      </p:sp>
      <p:sp>
        <p:nvSpPr>
          <p:cNvPr id="7" name="Shape 5"/>
          <p:cNvSpPr/>
          <p:nvPr/>
        </p:nvSpPr>
        <p:spPr>
          <a:xfrm>
            <a:off x="822960" y="3954780"/>
            <a:ext cx="868680" cy="998982"/>
          </a:xfrm>
          <a:prstGeom prst="roundRect">
            <a:avLst>
              <a:gd name="adj" fmla="val 30000"/>
            </a:avLst>
          </a:prstGeom>
          <a:solidFill>
            <a:srgbClr val="27D3BE"/>
          </a:solidFill>
          <a:ln w="12700">
            <a:solidFill>
              <a:srgbClr val="27D3BE"/>
            </a:solidFill>
            <a:prstDash val="solid"/>
          </a:ln>
        </p:spPr>
        <p:txBody>
          <a:bodyPr/>
          <a:p/>
        </p:txBody>
      </p:sp>
      <p:sp>
        <p:nvSpPr>
          <p:cNvPr id="8" name="Shape 6"/>
          <p:cNvSpPr/>
          <p:nvPr/>
        </p:nvSpPr>
        <p:spPr>
          <a:xfrm>
            <a:off x="2300630" y="3520440"/>
            <a:ext cx="382219" cy="382219"/>
          </a:xfrm>
          <a:prstGeom prst="ellipse">
            <a:avLst/>
          </a:prstGeom>
          <a:solidFill>
            <a:srgbClr val="27D3BE"/>
          </a:solidFill>
          <a:ln w="12700">
            <a:solidFill>
              <a:srgbClr val="27D3BE"/>
            </a:solidFill>
            <a:prstDash val="solid"/>
          </a:ln>
        </p:spPr>
        <p:txBody>
          <a:bodyPr/>
          <a:p/>
        </p:txBody>
      </p:sp>
      <p:sp>
        <p:nvSpPr>
          <p:cNvPr id="9" name="Shape 7"/>
          <p:cNvSpPr/>
          <p:nvPr/>
        </p:nvSpPr>
        <p:spPr>
          <a:xfrm>
            <a:off x="2057400" y="3954780"/>
            <a:ext cx="868680" cy="998982"/>
          </a:xfrm>
          <a:prstGeom prst="roundRect">
            <a:avLst>
              <a:gd name="adj" fmla="val 30000"/>
            </a:avLst>
          </a:prstGeom>
          <a:solidFill>
            <a:srgbClr val="27D3BE"/>
          </a:solidFill>
          <a:ln w="12700">
            <a:solidFill>
              <a:srgbClr val="27D3BE"/>
            </a:solidFill>
            <a:prstDash val="solid"/>
          </a:ln>
        </p:spPr>
        <p:txBody>
          <a:bodyPr/>
          <a:p/>
        </p:txBody>
      </p:sp>
      <p:sp>
        <p:nvSpPr>
          <p:cNvPr id="10" name="Shape 8"/>
          <p:cNvSpPr/>
          <p:nvPr/>
        </p:nvSpPr>
        <p:spPr>
          <a:xfrm>
            <a:off x="3535070" y="3520440"/>
            <a:ext cx="382219" cy="382219"/>
          </a:xfrm>
          <a:prstGeom prst="ellipse">
            <a:avLst/>
          </a:prstGeom>
          <a:solidFill>
            <a:srgbClr val="FF4757"/>
          </a:solidFill>
          <a:ln w="12700">
            <a:solidFill>
              <a:srgbClr val="FF4757"/>
            </a:solidFill>
            <a:prstDash val="solid"/>
          </a:ln>
        </p:spPr>
        <p:txBody>
          <a:bodyPr/>
          <a:p/>
        </p:txBody>
      </p:sp>
      <p:sp>
        <p:nvSpPr>
          <p:cNvPr id="11" name="Shape 9"/>
          <p:cNvSpPr/>
          <p:nvPr/>
        </p:nvSpPr>
        <p:spPr>
          <a:xfrm>
            <a:off x="3291840" y="3954780"/>
            <a:ext cx="868680" cy="998982"/>
          </a:xfrm>
          <a:prstGeom prst="roundRect">
            <a:avLst>
              <a:gd name="adj" fmla="val 30000"/>
            </a:avLst>
          </a:prstGeom>
          <a:solidFill>
            <a:srgbClr val="FF4757"/>
          </a:solidFill>
          <a:ln w="12700">
            <a:solidFill>
              <a:srgbClr val="FF4757"/>
            </a:solidFill>
            <a:prstDash val="solid"/>
          </a:ln>
        </p:spPr>
        <p:txBody>
          <a:bodyPr/>
          <a:p/>
        </p:txBody>
      </p:sp>
      <p:sp>
        <p:nvSpPr>
          <p:cNvPr id="12" name="Text 10"/>
          <p:cNvSpPr/>
          <p:nvPr/>
        </p:nvSpPr>
        <p:spPr>
          <a:xfrm>
            <a:off x="594360" y="5074920"/>
            <a:ext cx="2468880" cy="45720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67,8% diagnosticați</a:t>
            </a:r>
            <a:endParaRPr lang="en-US" sz="1500" dirty="0"/>
          </a:p>
        </p:txBody>
      </p:sp>
      <p:sp>
        <p:nvSpPr>
          <p:cNvPr id="13" name="Text 11"/>
          <p:cNvSpPr/>
          <p:nvPr/>
        </p:nvSpPr>
        <p:spPr>
          <a:xfrm>
            <a:off x="2971800" y="5074920"/>
            <a:ext cx="1737360" cy="457200"/>
          </a:xfrm>
          <a:prstGeom prst="rect">
            <a:avLst/>
          </a:prstGeom>
          <a:noFill/>
          <a:ln/>
        </p:spPr>
        <p:txBody>
          <a:bodyPr wrap="square" lIns="0" tIns="0" rIns="0" bIns="0" rtlCol="0" anchor="t"/>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32,2% nu știu</a:t>
            </a:r>
            <a:endParaRPr lang="en-US" sz="1500" dirty="0"/>
          </a:p>
        </p:txBody>
      </p:sp>
      <p:sp>
        <p:nvSpPr>
          <p:cNvPr id="14" name="Shape 12"/>
          <p:cNvSpPr/>
          <p:nvPr/>
        </p:nvSpPr>
        <p:spPr>
          <a:xfrm>
            <a:off x="5303520" y="1600200"/>
            <a:ext cx="6263640" cy="2514600"/>
          </a:xfrm>
          <a:prstGeom prst="roundRect">
            <a:avLst>
              <a:gd name="adj" fmla="val 3273"/>
            </a:avLst>
          </a:prstGeom>
          <a:solidFill>
            <a:srgbClr val="1D1F2B"/>
          </a:solidFill>
          <a:ln w="12700">
            <a:solidFill>
              <a:srgbClr val="1D1F2B"/>
            </a:solidFill>
            <a:prstDash val="solid"/>
          </a:ln>
        </p:spPr>
        <p:txBody>
          <a:bodyPr/>
          <a:p/>
        </p:txBody>
      </p:sp>
      <p:sp>
        <p:nvSpPr>
          <p:cNvPr id="15" name="Text 13"/>
          <p:cNvSpPr/>
          <p:nvPr/>
        </p:nvSpPr>
        <p:spPr>
          <a:xfrm>
            <a:off x="5577840" y="1737360"/>
            <a:ext cx="5760720" cy="32004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Ce declară oamenii · ancheta europeană, 2019</a:t>
            </a:r>
            <a:endParaRPr lang="en-US" sz="1400" dirty="0"/>
          </a:p>
        </p:txBody>
      </p:sp>
      <p:sp>
        <p:nvSpPr>
          <p:cNvPr id="16" name="Text 14"/>
          <p:cNvSpPr/>
          <p:nvPr/>
        </p:nvSpPr>
        <p:spPr>
          <a:xfrm>
            <a:off x="5577840" y="2240280"/>
            <a:ext cx="1828800" cy="64008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Au hipertensiune</a:t>
            </a:r>
            <a:endParaRPr lang="en-US" sz="1400" dirty="0"/>
          </a:p>
        </p:txBody>
      </p:sp>
      <p:sp>
        <p:nvSpPr>
          <p:cNvPr id="17" name="Shape 15"/>
          <p:cNvSpPr/>
          <p:nvPr/>
        </p:nvSpPr>
        <p:spPr>
          <a:xfrm>
            <a:off x="7498080" y="2240280"/>
            <a:ext cx="2163245" cy="292608"/>
          </a:xfrm>
          <a:prstGeom prst="rect">
            <a:avLst/>
          </a:prstGeom>
          <a:solidFill>
            <a:srgbClr val="FF4757"/>
          </a:solidFill>
          <a:ln w="12700">
            <a:solidFill>
              <a:srgbClr val="FF4757"/>
            </a:solidFill>
            <a:prstDash val="solid"/>
          </a:ln>
        </p:spPr>
        <p:txBody>
          <a:bodyPr/>
          <a:p/>
        </p:txBody>
      </p:sp>
      <p:sp>
        <p:nvSpPr>
          <p:cNvPr id="18" name="Text 16"/>
          <p:cNvSpPr/>
          <p:nvPr/>
        </p:nvSpPr>
        <p:spPr>
          <a:xfrm>
            <a:off x="9734477" y="2194560"/>
            <a:ext cx="1188720" cy="384048"/>
          </a:xfrm>
          <a:prstGeom prst="rect">
            <a:avLst/>
          </a:prstGeom>
          <a:noFill/>
          <a:ln/>
        </p:spPr>
        <p:txBody>
          <a:bodyPr wrap="square" lIns="0" tIns="0" rIns="0" bIns="0" rtlCol="0" anchor="ctr"/>
          <a:lstStyle/>
          <a:p>
            <a:pPr indent="0" marL="0">
              <a:buNone/>
            </a:pPr>
            <a:r>
              <a:rPr lang="en-US" sz="1300" b="1" dirty="0">
                <a:solidFill>
                  <a:srgbClr val="FF4757"/>
                </a:solidFill>
                <a:latin typeface="Palatino Linotype" pitchFamily="34" charset="0"/>
                <a:ea typeface="Palatino Linotype" pitchFamily="34" charset="-122"/>
                <a:cs typeface="Palatino Linotype" pitchFamily="34" charset="-120"/>
              </a:rPr>
              <a:t>15,7</a:t>
            </a:r>
            <a:endParaRPr lang="en-US" sz="1300" dirty="0"/>
          </a:p>
        </p:txBody>
      </p:sp>
      <p:sp>
        <p:nvSpPr>
          <p:cNvPr id="19" name="Shape 17"/>
          <p:cNvSpPr/>
          <p:nvPr/>
        </p:nvSpPr>
        <p:spPr>
          <a:xfrm>
            <a:off x="7498080" y="2587752"/>
            <a:ext cx="3017520" cy="292608"/>
          </a:xfrm>
          <a:prstGeom prst="rect">
            <a:avLst/>
          </a:prstGeom>
          <a:solidFill>
            <a:srgbClr val="5A5F75"/>
          </a:solidFill>
          <a:ln w="12700">
            <a:solidFill>
              <a:srgbClr val="5A5F75"/>
            </a:solidFill>
            <a:prstDash val="solid"/>
          </a:ln>
        </p:spPr>
        <p:txBody>
          <a:bodyPr/>
          <a:p/>
        </p:txBody>
      </p:sp>
      <p:sp>
        <p:nvSpPr>
          <p:cNvPr id="20" name="Text 18"/>
          <p:cNvSpPr/>
          <p:nvPr/>
        </p:nvSpPr>
        <p:spPr>
          <a:xfrm>
            <a:off x="10588752" y="2542032"/>
            <a:ext cx="1188720" cy="384048"/>
          </a:xfrm>
          <a:prstGeom prst="rect">
            <a:avLst/>
          </a:prstGeom>
          <a:noFill/>
          <a:ln/>
        </p:spPr>
        <p:txBody>
          <a:bodyPr wrap="square" lIns="0" tIns="0" rIns="0" bIns="0" rtlCol="0" anchor="ctr"/>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21,9</a:t>
            </a:r>
            <a:endParaRPr lang="en-US" sz="1300" dirty="0"/>
          </a:p>
        </p:txBody>
      </p:sp>
      <p:sp>
        <p:nvSpPr>
          <p:cNvPr id="21" name="Shape 19"/>
          <p:cNvSpPr/>
          <p:nvPr/>
        </p:nvSpPr>
        <p:spPr>
          <a:xfrm>
            <a:off x="7498080" y="3026664"/>
            <a:ext cx="256032" cy="182880"/>
          </a:xfrm>
          <a:prstGeom prst="rect">
            <a:avLst/>
          </a:prstGeom>
          <a:solidFill>
            <a:srgbClr val="FF4757"/>
          </a:solidFill>
          <a:ln w="12700">
            <a:solidFill>
              <a:srgbClr val="FF4757"/>
            </a:solidFill>
            <a:prstDash val="solid"/>
          </a:ln>
        </p:spPr>
        <p:txBody>
          <a:bodyPr/>
          <a:p/>
        </p:txBody>
      </p:sp>
      <p:sp>
        <p:nvSpPr>
          <p:cNvPr id="22" name="Text 20"/>
          <p:cNvSpPr/>
          <p:nvPr/>
        </p:nvSpPr>
        <p:spPr>
          <a:xfrm>
            <a:off x="7827264" y="2971800"/>
            <a:ext cx="1371600" cy="292608"/>
          </a:xfrm>
          <a:prstGeom prst="rect">
            <a:avLst/>
          </a:prstGeom>
          <a:noFill/>
          <a:ln/>
        </p:spPr>
        <p:txBody>
          <a:bodyPr wrap="square" lIns="0" tIns="0" rIns="0" bIns="0" rtlCol="0" anchor="ctr"/>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România</a:t>
            </a:r>
            <a:endParaRPr lang="en-US" sz="1300" dirty="0"/>
          </a:p>
        </p:txBody>
      </p:sp>
      <p:sp>
        <p:nvSpPr>
          <p:cNvPr id="23" name="Shape 21"/>
          <p:cNvSpPr/>
          <p:nvPr/>
        </p:nvSpPr>
        <p:spPr>
          <a:xfrm>
            <a:off x="9235440" y="3026664"/>
            <a:ext cx="256032" cy="182880"/>
          </a:xfrm>
          <a:prstGeom prst="rect">
            <a:avLst/>
          </a:prstGeom>
          <a:solidFill>
            <a:srgbClr val="5A5F75"/>
          </a:solidFill>
          <a:ln w="12700">
            <a:solidFill>
              <a:srgbClr val="5A5F75"/>
            </a:solidFill>
            <a:prstDash val="solid"/>
          </a:ln>
        </p:spPr>
        <p:txBody>
          <a:bodyPr/>
          <a:p/>
        </p:txBody>
      </p:sp>
      <p:sp>
        <p:nvSpPr>
          <p:cNvPr id="24" name="Text 22"/>
          <p:cNvSpPr/>
          <p:nvPr/>
        </p:nvSpPr>
        <p:spPr>
          <a:xfrm>
            <a:off x="9564624" y="2971800"/>
            <a:ext cx="1371600" cy="292608"/>
          </a:xfrm>
          <a:prstGeom prst="rect">
            <a:avLst/>
          </a:prstGeom>
          <a:noFill/>
          <a:ln/>
        </p:spPr>
        <p:txBody>
          <a:bodyPr wrap="square" lIns="0" tIns="0" rIns="0" bIns="0" rtlCol="0" anchor="ctr"/>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Media UE</a:t>
            </a:r>
            <a:endParaRPr lang="en-US" sz="1300" dirty="0"/>
          </a:p>
        </p:txBody>
      </p:sp>
      <p:sp>
        <p:nvSpPr>
          <p:cNvPr id="25" name="Text 23"/>
          <p:cNvSpPr/>
          <p:nvPr/>
        </p:nvSpPr>
        <p:spPr>
          <a:xfrm>
            <a:off x="5577840" y="3337560"/>
            <a:ext cx="5760720" cy="6858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O explicație posibilă, pe care datele nu o pot dovedi: nimeni nu declară o boală despre care nu știe. Comparația cu estimarea OMS este aproximativă (populații diferite).</a:t>
            </a:r>
            <a:endParaRPr lang="en-US" sz="1500" dirty="0"/>
          </a:p>
        </p:txBody>
      </p:sp>
      <p:sp>
        <p:nvSpPr>
          <p:cNvPr id="26" name="Text 24"/>
          <p:cNvSpPr/>
          <p:nvPr/>
        </p:nvSpPr>
        <p:spPr>
          <a:xfrm>
            <a:off x="5303520" y="4343400"/>
            <a:ext cx="6263640" cy="9144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Tensiunea arterială sistolică crescută este primul factor de risc din România după anii de viață ajustați pentru dizabilitate (estimare GBD 2023).</a:t>
            </a:r>
            <a:endParaRPr lang="en-US" sz="1500" dirty="0"/>
          </a:p>
          <a:p>
            <a:pPr indent="0" marL="0">
              <a:spcBef>
                <a:spcPts val="600"/>
              </a:spcBef>
              <a:buNone/>
            </a:pPr>
            <a:r>
              <a:rPr lang="en-US" sz="1500" dirty="0">
                <a:solidFill>
                  <a:srgbClr val="959BB0"/>
                </a:solidFill>
                <a:latin typeface="Palatino Linotype" pitchFamily="34" charset="0"/>
                <a:ea typeface="Palatino Linotype" pitchFamily="34" charset="-122"/>
                <a:cs typeface="Palatino Linotype" pitchFamily="34" charset="-120"/>
              </a:rPr>
              <a:t>Diagnosticul e numai prima treaptă: tratamentul și controlul nu sunt prezentate.</a:t>
            </a:r>
            <a:endParaRPr lang="en-US" sz="1500" dirty="0"/>
          </a:p>
        </p:txBody>
      </p:sp>
      <p:sp>
        <p:nvSpPr>
          <p:cNvPr id="27" name="Text 2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estimări 2019, standardizate pe vârstă (registru A093, A094; calculul A214); EHIS 2019 (A092); GBD 2023 (A100).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 ASISTENTUL MEDICAL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La fiecare contact, nu numai când pacientul se plânge</a:t>
            </a:r>
            <a:endParaRPr lang="en-US" sz="2800" dirty="0"/>
          </a:p>
        </p:txBody>
      </p:sp>
      <p:sp>
        <p:nvSpPr>
          <p:cNvPr id="4" name="Shape 2"/>
          <p:cNvSpPr/>
          <p:nvPr/>
        </p:nvSpPr>
        <p:spPr>
          <a:xfrm>
            <a:off x="594360" y="169164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5" name="Shape 3"/>
          <p:cNvSpPr/>
          <p:nvPr/>
        </p:nvSpPr>
        <p:spPr>
          <a:xfrm>
            <a:off x="822960" y="1792224"/>
            <a:ext cx="420624" cy="420624"/>
          </a:xfrm>
          <a:prstGeom prst="ellipse">
            <a:avLst/>
          </a:prstGeom>
          <a:solidFill>
            <a:srgbClr val="FF4757"/>
          </a:solidFill>
          <a:ln/>
        </p:spPr>
        <p:txBody>
          <a:bodyPr/>
          <a:p/>
        </p:txBody>
      </p:sp>
      <p:sp>
        <p:nvSpPr>
          <p:cNvPr id="6" name="Text 4"/>
          <p:cNvSpPr/>
          <p:nvPr/>
        </p:nvSpPr>
        <p:spPr>
          <a:xfrm>
            <a:off x="822960" y="1792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9164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Măsoară corect tensiunea arterială la fiecare contact.</a:t>
            </a:r>
            <a:endParaRPr lang="en-US" sz="1700" dirty="0"/>
          </a:p>
        </p:txBody>
      </p:sp>
      <p:sp>
        <p:nvSpPr>
          <p:cNvPr id="8" name="Shape 6"/>
          <p:cNvSpPr/>
          <p:nvPr/>
        </p:nvSpPr>
        <p:spPr>
          <a:xfrm>
            <a:off x="594360" y="2423160"/>
            <a:ext cx="10972800" cy="621792"/>
          </a:xfrm>
          <a:prstGeom prst="roundRect">
            <a:avLst>
              <a:gd name="adj" fmla="val 13235"/>
            </a:avLst>
          </a:prstGeom>
          <a:solidFill>
            <a:srgbClr val="F9F8F5"/>
          </a:solidFill>
          <a:ln w="12700">
            <a:solidFill>
              <a:srgbClr val="F9F8F5"/>
            </a:solidFill>
            <a:prstDash val="solid"/>
          </a:ln>
        </p:spPr>
        <p:txBody>
          <a:bodyPr/>
          <a:p/>
        </p:txBody>
      </p:sp>
      <p:sp>
        <p:nvSpPr>
          <p:cNvPr id="9" name="Shape 7"/>
          <p:cNvSpPr/>
          <p:nvPr/>
        </p:nvSpPr>
        <p:spPr>
          <a:xfrm>
            <a:off x="822960" y="2523744"/>
            <a:ext cx="420624" cy="420624"/>
          </a:xfrm>
          <a:prstGeom prst="ellipse">
            <a:avLst/>
          </a:prstGeom>
          <a:solidFill>
            <a:srgbClr val="FF4757"/>
          </a:solidFill>
          <a:ln/>
        </p:spPr>
        <p:txBody>
          <a:bodyPr/>
          <a:p/>
        </p:txBody>
      </p:sp>
      <p:sp>
        <p:nvSpPr>
          <p:cNvPr id="10" name="Text 8"/>
          <p:cNvSpPr/>
          <p:nvPr/>
        </p:nvSpPr>
        <p:spPr>
          <a:xfrm>
            <a:off x="822960" y="25237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2316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Identifică factorii asociați: fumatul, excesul ponderal, sedentarismul, diabetul.</a:t>
            </a:r>
            <a:endParaRPr lang="en-US" sz="1700" dirty="0"/>
          </a:p>
        </p:txBody>
      </p:sp>
      <p:sp>
        <p:nvSpPr>
          <p:cNvPr id="12" name="Shape 10"/>
          <p:cNvSpPr/>
          <p:nvPr/>
        </p:nvSpPr>
        <p:spPr>
          <a:xfrm>
            <a:off x="594360" y="315468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13" name="Shape 11"/>
          <p:cNvSpPr/>
          <p:nvPr/>
        </p:nvSpPr>
        <p:spPr>
          <a:xfrm>
            <a:off x="822960" y="3255264"/>
            <a:ext cx="420624" cy="420624"/>
          </a:xfrm>
          <a:prstGeom prst="ellipse">
            <a:avLst/>
          </a:prstGeom>
          <a:solidFill>
            <a:srgbClr val="FF4757"/>
          </a:solidFill>
          <a:ln/>
        </p:spPr>
        <p:txBody>
          <a:bodyPr/>
          <a:p/>
        </p:txBody>
      </p:sp>
      <p:sp>
        <p:nvSpPr>
          <p:cNvPr id="14" name="Text 12"/>
          <p:cNvSpPr/>
          <p:nvPr/>
        </p:nvSpPr>
        <p:spPr>
          <a:xfrm>
            <a:off x="822960" y="32552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15468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Explică valorile și de ce tratamentul se ia și în zilele în care pacientul se simte bine.</a:t>
            </a:r>
            <a:endParaRPr lang="en-US" sz="1700" dirty="0"/>
          </a:p>
        </p:txBody>
      </p:sp>
      <p:sp>
        <p:nvSpPr>
          <p:cNvPr id="16" name="Shape 14"/>
          <p:cNvSpPr/>
          <p:nvPr/>
        </p:nvSpPr>
        <p:spPr>
          <a:xfrm>
            <a:off x="594360" y="3886200"/>
            <a:ext cx="10972800" cy="621792"/>
          </a:xfrm>
          <a:prstGeom prst="roundRect">
            <a:avLst>
              <a:gd name="adj" fmla="val 13235"/>
            </a:avLst>
          </a:prstGeom>
          <a:solidFill>
            <a:srgbClr val="F9F8F5"/>
          </a:solidFill>
          <a:ln w="12700">
            <a:solidFill>
              <a:srgbClr val="F9F8F5"/>
            </a:solidFill>
            <a:prstDash val="solid"/>
          </a:ln>
        </p:spPr>
        <p:txBody>
          <a:bodyPr/>
          <a:p/>
        </p:txBody>
      </p:sp>
      <p:sp>
        <p:nvSpPr>
          <p:cNvPr id="17" name="Shape 15"/>
          <p:cNvSpPr/>
          <p:nvPr/>
        </p:nvSpPr>
        <p:spPr>
          <a:xfrm>
            <a:off x="822960" y="3986784"/>
            <a:ext cx="420624" cy="420624"/>
          </a:xfrm>
          <a:prstGeom prst="ellipse">
            <a:avLst/>
          </a:prstGeom>
          <a:solidFill>
            <a:srgbClr val="FF4757"/>
          </a:solidFill>
          <a:ln/>
        </p:spPr>
        <p:txBody>
          <a:bodyPr/>
          <a:p/>
        </p:txBody>
      </p:sp>
      <p:sp>
        <p:nvSpPr>
          <p:cNvPr id="18" name="Text 16"/>
          <p:cNvSpPr/>
          <p:nvPr/>
        </p:nvSpPr>
        <p:spPr>
          <a:xfrm>
            <a:off x="822960" y="39867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388620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Monitorizează aderența la tratament.</a:t>
            </a:r>
            <a:endParaRPr lang="en-US" sz="1700" dirty="0"/>
          </a:p>
        </p:txBody>
      </p:sp>
      <p:sp>
        <p:nvSpPr>
          <p:cNvPr id="20" name="Shape 18"/>
          <p:cNvSpPr/>
          <p:nvPr/>
        </p:nvSpPr>
        <p:spPr>
          <a:xfrm>
            <a:off x="594360" y="461772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21" name="Shape 19"/>
          <p:cNvSpPr/>
          <p:nvPr/>
        </p:nvSpPr>
        <p:spPr>
          <a:xfrm>
            <a:off x="822960" y="4718304"/>
            <a:ext cx="420624" cy="420624"/>
          </a:xfrm>
          <a:prstGeom prst="ellipse">
            <a:avLst/>
          </a:prstGeom>
          <a:solidFill>
            <a:srgbClr val="FF4757"/>
          </a:solidFill>
          <a:ln/>
        </p:spPr>
        <p:txBody>
          <a:bodyPr/>
          <a:p/>
        </p:txBody>
      </p:sp>
      <p:sp>
        <p:nvSpPr>
          <p:cNvPr id="22" name="Text 20"/>
          <p:cNvSpPr/>
          <p:nvPr/>
        </p:nvSpPr>
        <p:spPr>
          <a:xfrm>
            <a:off x="822960" y="47183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463040" y="461772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Îndrumă pacientul spre medicul de familie, pentru control periodic.</a:t>
            </a:r>
            <a:endParaRPr lang="en-US" sz="1700" dirty="0"/>
          </a:p>
        </p:txBody>
      </p:sp>
      <p:sp>
        <p:nvSpPr>
          <p:cNvPr id="24" name="Text 22"/>
          <p:cNvSpPr/>
          <p:nvPr/>
        </p:nvSpPr>
        <p:spPr>
          <a:xfrm>
            <a:off x="594360" y="5440680"/>
            <a:ext cx="10972800" cy="7315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Externată fără o programare la medicul de familie și fără o explicație clară a tratamentului, doamna M. ar fi o ocazie de prevenție pierdută.</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EUROSTAT · CANCERUL DE COL UTERIN · DECESE LA 100 000 DE FEMEI · 2023</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peste trei ori mai mult decât media europeană</a:t>
            </a:r>
            <a:endParaRPr lang="en-US" sz="3000" dirty="0"/>
          </a:p>
        </p:txBody>
      </p:sp>
      <p:sp>
        <p:nvSpPr>
          <p:cNvPr id="4" name="Text 2"/>
          <p:cNvSpPr/>
          <p:nvPr/>
        </p:nvSpPr>
        <p:spPr>
          <a:xfrm>
            <a:off x="594360" y="1920240"/>
            <a:ext cx="1645920" cy="731520"/>
          </a:xfrm>
          <a:prstGeom prst="rect">
            <a:avLst/>
          </a:prstGeom>
          <a:noFill/>
          <a:ln/>
        </p:spPr>
        <p:txBody>
          <a:bodyPr wrap="square" lIns="0" tIns="0" rIns="0" bIns="0" rtlCol="0" anchor="ctr"/>
          <a:lstStyle/>
          <a:p>
            <a:pPr algn="r" indent="0" marL="0">
              <a:buNone/>
            </a:pPr>
            <a:r>
              <a:rPr lang="en-US" sz="1800" b="1" dirty="0">
                <a:solidFill>
                  <a:srgbClr val="11121A"/>
                </a:solidFill>
                <a:latin typeface="Palatino Linotype" pitchFamily="34" charset="0"/>
                <a:ea typeface="Palatino Linotype" pitchFamily="34" charset="-122"/>
                <a:cs typeface="Palatino Linotype" pitchFamily="34" charset="-120"/>
              </a:rPr>
              <a:t>Letonia</a:t>
            </a:r>
            <a:endParaRPr lang="en-US" sz="1800" dirty="0"/>
          </a:p>
        </p:txBody>
      </p:sp>
      <p:sp>
        <p:nvSpPr>
          <p:cNvPr id="5" name="Shape 3"/>
          <p:cNvSpPr/>
          <p:nvPr/>
        </p:nvSpPr>
        <p:spPr>
          <a:xfrm>
            <a:off x="2423160" y="1920240"/>
            <a:ext cx="4846320" cy="731520"/>
          </a:xfrm>
          <a:prstGeom prst="rect">
            <a:avLst/>
          </a:prstGeom>
          <a:solidFill>
            <a:srgbClr val="585A64"/>
          </a:solidFill>
          <a:ln w="12700">
            <a:solidFill>
              <a:srgbClr val="585A64"/>
            </a:solidFill>
            <a:prstDash val="solid"/>
          </a:ln>
        </p:spPr>
        <p:txBody>
          <a:bodyPr/>
          <a:p/>
        </p:txBody>
      </p:sp>
      <p:sp>
        <p:nvSpPr>
          <p:cNvPr id="6" name="Text 4"/>
          <p:cNvSpPr/>
          <p:nvPr/>
        </p:nvSpPr>
        <p:spPr>
          <a:xfrm>
            <a:off x="7406640" y="1920240"/>
            <a:ext cx="1463040" cy="731520"/>
          </a:xfrm>
          <a:prstGeom prst="rect">
            <a:avLst/>
          </a:prstGeom>
          <a:noFill/>
          <a:ln/>
        </p:spPr>
        <p:txBody>
          <a:bodyPr wrap="square" lIns="0" tIns="0" rIns="0" bIns="0" rtlCol="0" anchor="ctr"/>
          <a:lstStyle/>
          <a:p>
            <a:pPr indent="0" marL="0">
              <a:buNone/>
            </a:pPr>
            <a:r>
              <a:rPr lang="en-US" sz="2600" b="1" dirty="0">
                <a:solidFill>
                  <a:srgbClr val="585A64"/>
                </a:solidFill>
                <a:latin typeface="Palatino Linotype" pitchFamily="34" charset="0"/>
                <a:ea typeface="Palatino Linotype" pitchFamily="34" charset="-122"/>
                <a:cs typeface="Palatino Linotype" pitchFamily="34" charset="-120"/>
              </a:rPr>
              <a:t>11,08</a:t>
            </a:r>
            <a:endParaRPr lang="en-US" sz="2600" dirty="0"/>
          </a:p>
        </p:txBody>
      </p:sp>
      <p:sp>
        <p:nvSpPr>
          <p:cNvPr id="7" name="Text 5"/>
          <p:cNvSpPr/>
          <p:nvPr/>
        </p:nvSpPr>
        <p:spPr>
          <a:xfrm>
            <a:off x="594360" y="2971800"/>
            <a:ext cx="1645920" cy="731520"/>
          </a:xfrm>
          <a:prstGeom prst="rect">
            <a:avLst/>
          </a:prstGeom>
          <a:noFill/>
          <a:ln/>
        </p:spPr>
        <p:txBody>
          <a:bodyPr wrap="square" lIns="0" tIns="0" rIns="0" bIns="0" rtlCol="0" anchor="ctr"/>
          <a:lstStyle/>
          <a:p>
            <a:pPr algn="r" indent="0" marL="0">
              <a:buNone/>
            </a:pPr>
            <a:r>
              <a:rPr lang="en-US" sz="1800" b="1" dirty="0">
                <a:solidFill>
                  <a:srgbClr val="B02532"/>
                </a:solidFill>
                <a:latin typeface="Palatino Linotype" pitchFamily="34" charset="0"/>
                <a:ea typeface="Palatino Linotype" pitchFamily="34" charset="-122"/>
                <a:cs typeface="Palatino Linotype" pitchFamily="34" charset="-120"/>
              </a:rPr>
              <a:t>România</a:t>
            </a:r>
            <a:endParaRPr lang="en-US" sz="1800" dirty="0"/>
          </a:p>
        </p:txBody>
      </p:sp>
      <p:sp>
        <p:nvSpPr>
          <p:cNvPr id="8" name="Shape 6"/>
          <p:cNvSpPr/>
          <p:nvPr/>
        </p:nvSpPr>
        <p:spPr>
          <a:xfrm>
            <a:off x="2423160" y="2971800"/>
            <a:ext cx="4732598" cy="731520"/>
          </a:xfrm>
          <a:prstGeom prst="rect">
            <a:avLst/>
          </a:prstGeom>
          <a:solidFill>
            <a:srgbClr val="B02532"/>
          </a:solidFill>
          <a:ln w="12700">
            <a:solidFill>
              <a:srgbClr val="B02532"/>
            </a:solidFill>
            <a:prstDash val="solid"/>
          </a:ln>
        </p:spPr>
        <p:txBody>
          <a:bodyPr/>
          <a:p/>
        </p:txBody>
      </p:sp>
      <p:sp>
        <p:nvSpPr>
          <p:cNvPr id="9" name="Text 7"/>
          <p:cNvSpPr/>
          <p:nvPr/>
        </p:nvSpPr>
        <p:spPr>
          <a:xfrm>
            <a:off x="7292918" y="2971800"/>
            <a:ext cx="1463040" cy="731520"/>
          </a:xfrm>
          <a:prstGeom prst="rect">
            <a:avLst/>
          </a:prstGeom>
          <a:noFill/>
          <a:ln/>
        </p:spPr>
        <p:txBody>
          <a:bodyPr wrap="square" lIns="0" tIns="0" rIns="0" bIns="0" rtlCol="0" anchor="ctr"/>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10,82</a:t>
            </a:r>
            <a:endParaRPr lang="en-US" sz="2600" dirty="0"/>
          </a:p>
        </p:txBody>
      </p:sp>
      <p:sp>
        <p:nvSpPr>
          <p:cNvPr id="10" name="Text 8"/>
          <p:cNvSpPr/>
          <p:nvPr/>
        </p:nvSpPr>
        <p:spPr>
          <a:xfrm>
            <a:off x="594360" y="4023360"/>
            <a:ext cx="1645920" cy="731520"/>
          </a:xfrm>
          <a:prstGeom prst="rect">
            <a:avLst/>
          </a:prstGeom>
          <a:noFill/>
          <a:ln/>
        </p:spPr>
        <p:txBody>
          <a:bodyPr wrap="square" lIns="0" tIns="0" rIns="0" bIns="0" rtlCol="0" anchor="ctr"/>
          <a:lstStyle/>
          <a:p>
            <a:pPr algn="r" indent="0" marL="0">
              <a:buNone/>
            </a:pPr>
            <a:r>
              <a:rPr lang="en-US" sz="1800" b="1" dirty="0">
                <a:solidFill>
                  <a:srgbClr val="11121A"/>
                </a:solidFill>
                <a:latin typeface="Palatino Linotype" pitchFamily="34" charset="0"/>
                <a:ea typeface="Palatino Linotype" pitchFamily="34" charset="-122"/>
                <a:cs typeface="Palatino Linotype" pitchFamily="34" charset="-120"/>
              </a:rPr>
              <a:t>Media UE</a:t>
            </a:r>
            <a:endParaRPr lang="en-US" sz="1800" dirty="0"/>
          </a:p>
        </p:txBody>
      </p:sp>
      <p:sp>
        <p:nvSpPr>
          <p:cNvPr id="11" name="Shape 9"/>
          <p:cNvSpPr/>
          <p:nvPr/>
        </p:nvSpPr>
        <p:spPr>
          <a:xfrm>
            <a:off x="2423160" y="4023360"/>
            <a:ext cx="1487138" cy="731520"/>
          </a:xfrm>
          <a:prstGeom prst="rect">
            <a:avLst/>
          </a:prstGeom>
          <a:solidFill>
            <a:srgbClr val="B5B2AA"/>
          </a:solidFill>
          <a:ln w="12700">
            <a:solidFill>
              <a:srgbClr val="B5B2AA"/>
            </a:solidFill>
            <a:prstDash val="solid"/>
          </a:ln>
        </p:spPr>
        <p:txBody>
          <a:bodyPr/>
          <a:p/>
        </p:txBody>
      </p:sp>
      <p:sp>
        <p:nvSpPr>
          <p:cNvPr id="12" name="Text 10"/>
          <p:cNvSpPr/>
          <p:nvPr/>
        </p:nvSpPr>
        <p:spPr>
          <a:xfrm>
            <a:off x="4047458" y="4023360"/>
            <a:ext cx="1463040" cy="731520"/>
          </a:xfrm>
          <a:prstGeom prst="rect">
            <a:avLst/>
          </a:prstGeom>
          <a:noFill/>
          <a:ln/>
        </p:spPr>
        <p:txBody>
          <a:bodyPr wrap="square" lIns="0" tIns="0" rIns="0" bIns="0" rtlCol="0" anchor="ctr"/>
          <a:lstStyle/>
          <a:p>
            <a:pPr indent="0" marL="0">
              <a:buNone/>
            </a:pPr>
            <a:r>
              <a:rPr lang="en-US" sz="2600" b="1" dirty="0">
                <a:solidFill>
                  <a:srgbClr val="B5B2AA"/>
                </a:solidFill>
                <a:latin typeface="Palatino Linotype" pitchFamily="34" charset="0"/>
                <a:ea typeface="Palatino Linotype" pitchFamily="34" charset="-122"/>
                <a:cs typeface="Palatino Linotype" pitchFamily="34" charset="-120"/>
              </a:rPr>
              <a:t>3,4</a:t>
            </a:r>
            <a:endParaRPr lang="en-US" sz="2600" dirty="0"/>
          </a:p>
        </p:txBody>
      </p:sp>
      <p:sp>
        <p:nvSpPr>
          <p:cNvPr id="13" name="Text 11"/>
          <p:cNvSpPr/>
          <p:nvPr/>
        </p:nvSpPr>
        <p:spPr>
          <a:xfrm>
            <a:off x="8732520" y="1691640"/>
            <a:ext cx="2926080" cy="1097280"/>
          </a:xfrm>
          <a:prstGeom prst="rect">
            <a:avLst/>
          </a:prstGeom>
          <a:noFill/>
          <a:ln/>
        </p:spPr>
        <p:txBody>
          <a:bodyPr wrap="square" lIns="0" tIns="0" rIns="0" bIns="0" rtlCol="0" anchor="ctr"/>
          <a:lstStyle/>
          <a:p>
            <a:pPr indent="0" marL="0">
              <a:buNone/>
            </a:pPr>
            <a:r>
              <a:rPr lang="en-US" sz="7200" b="1" dirty="0">
                <a:solidFill>
                  <a:srgbClr val="B02532"/>
                </a:solidFill>
                <a:latin typeface="Palatino Linotype" pitchFamily="34" charset="0"/>
                <a:ea typeface="Palatino Linotype" pitchFamily="34" charset="-122"/>
                <a:cs typeface="Palatino Linotype" pitchFamily="34" charset="-120"/>
              </a:rPr>
              <a:t>3,2</a:t>
            </a:r>
            <a:endParaRPr lang="en-US" sz="7200" dirty="0"/>
          </a:p>
        </p:txBody>
      </p:sp>
      <p:sp>
        <p:nvSpPr>
          <p:cNvPr id="14" name="Text 12"/>
          <p:cNvSpPr/>
          <p:nvPr/>
        </p:nvSpPr>
        <p:spPr>
          <a:xfrm>
            <a:off x="8732520" y="2834640"/>
            <a:ext cx="292608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 10,82 ÷ 3,4. În 2022, România avea cea mai mare rată din UE: 12,0.</a:t>
            </a:r>
            <a:endParaRPr lang="en-US" sz="1500" dirty="0"/>
          </a:p>
        </p:txBody>
      </p:sp>
      <p:sp>
        <p:nvSpPr>
          <p:cNvPr id="15" name="Shape 13"/>
          <p:cNvSpPr/>
          <p:nvPr/>
        </p:nvSpPr>
        <p:spPr>
          <a:xfrm>
            <a:off x="594360" y="5166360"/>
            <a:ext cx="64008" cy="914400"/>
          </a:xfrm>
          <a:prstGeom prst="rect">
            <a:avLst/>
          </a:prstGeom>
          <a:solidFill>
            <a:srgbClr val="B02532"/>
          </a:solidFill>
          <a:ln w="12700">
            <a:solidFill>
              <a:srgbClr val="B02532"/>
            </a:solidFill>
            <a:prstDash val="solid"/>
          </a:ln>
        </p:spPr>
        <p:txBody>
          <a:bodyPr/>
          <a:p/>
        </p:txBody>
      </p:sp>
      <p:sp>
        <p:nvSpPr>
          <p:cNvPr id="16" name="Text 14"/>
          <p:cNvSpPr/>
          <p:nvPr/>
        </p:nvSpPr>
        <p:spPr>
          <a:xfrm>
            <a:off x="822960" y="5120640"/>
            <a:ext cx="1078992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Leziunile precanceroase se văd la screening, iar infecția cu virusul papiloma uman, cauza bolii, se previne prin vaccinare. Un deces prin cancer de col uterin este, în mare măsură, un eșec al prevenției (sinteză didactică a cursului).</a:t>
            </a:r>
            <a:endParaRPr lang="en-US" sz="1600" dirty="0"/>
          </a:p>
        </p:txBody>
      </p:sp>
      <p:sp>
        <p:nvSpPr>
          <p:cNvPr id="17" name="Text 1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rate standardizate de deces 2022 și 2023 (registru A211); raportul, A212.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glucometru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Glucometru, teste și lanțete pentru autocontrol</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Confidence24 · CC BY-SA 4.0 · Wikimedia Commons</a:t>
            </a:r>
            <a:endParaRPr lang="en-US" sz="850" dirty="0"/>
          </a:p>
        </p:txBody>
      </p:sp>
      <p:sp>
        <p:nvSpPr>
          <p:cNvPr id="6" name="Text 3"/>
          <p:cNvSpPr/>
          <p:nvPr/>
        </p:nvSpPr>
        <p:spPr>
          <a:xfrm>
            <a:off x="6035040" y="347472"/>
            <a:ext cx="576072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ANCHETA EUROPEANĂ DE SĂNĂTATE · 2019</a:t>
            </a:r>
            <a:endParaRPr lang="en-US" sz="1300" dirty="0"/>
          </a:p>
        </p:txBody>
      </p:sp>
      <p:sp>
        <p:nvSpPr>
          <p:cNvPr id="7" name="Text 4"/>
          <p:cNvSpPr/>
          <p:nvPr/>
        </p:nvSpPr>
        <p:spPr>
          <a:xfrm>
            <a:off x="6035040" y="731520"/>
            <a:ext cx="576072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Diabetul pe care statistica nu-l vede</a:t>
            </a:r>
            <a:endParaRPr lang="en-US" sz="2800" dirty="0"/>
          </a:p>
        </p:txBody>
      </p:sp>
      <p:sp>
        <p:nvSpPr>
          <p:cNvPr id="8" name="Shape 5"/>
          <p:cNvSpPr/>
          <p:nvPr/>
        </p:nvSpPr>
        <p:spPr>
          <a:xfrm>
            <a:off x="6035040" y="1783080"/>
            <a:ext cx="2743200" cy="1325880"/>
          </a:xfrm>
          <a:prstGeom prst="roundRect">
            <a:avLst>
              <a:gd name="adj" fmla="val 6207"/>
            </a:avLst>
          </a:prstGeom>
          <a:solidFill>
            <a:srgbClr val="ECEAE4"/>
          </a:solidFill>
          <a:ln w="12700">
            <a:solidFill>
              <a:srgbClr val="ECEAE4"/>
            </a:solidFill>
            <a:prstDash val="solid"/>
          </a:ln>
        </p:spPr>
        <p:txBody>
          <a:bodyPr/>
          <a:p/>
        </p:txBody>
      </p:sp>
      <p:sp>
        <p:nvSpPr>
          <p:cNvPr id="9" name="Text 6"/>
          <p:cNvSpPr/>
          <p:nvPr/>
        </p:nvSpPr>
        <p:spPr>
          <a:xfrm>
            <a:off x="6263640" y="1828800"/>
            <a:ext cx="2377440" cy="731520"/>
          </a:xfrm>
          <a:prstGeom prst="rect">
            <a:avLst/>
          </a:prstGeom>
          <a:noFill/>
          <a:ln/>
        </p:spPr>
        <p:txBody>
          <a:bodyPr wrap="square" lIns="0" tIns="0" rIns="0" bIns="0" rtlCol="0" anchor="ctr"/>
          <a:lstStyle/>
          <a:p>
            <a:pPr indent="0" marL="0">
              <a:buNone/>
            </a:pPr>
            <a:r>
              <a:rPr lang="en-US" sz="3600" b="1" dirty="0">
                <a:solidFill>
                  <a:srgbClr val="B02532"/>
                </a:solidFill>
                <a:latin typeface="Palatino Linotype" pitchFamily="34" charset="0"/>
                <a:ea typeface="Palatino Linotype" pitchFamily="34" charset="-122"/>
                <a:cs typeface="Palatino Linotype" pitchFamily="34" charset="-120"/>
              </a:rPr>
              <a:t>5,0%</a:t>
            </a:r>
            <a:endParaRPr lang="en-US" sz="3600" dirty="0"/>
          </a:p>
        </p:txBody>
      </p:sp>
      <p:sp>
        <p:nvSpPr>
          <p:cNvPr id="10" name="Text 7"/>
          <p:cNvSpPr/>
          <p:nvPr/>
        </p:nvSpPr>
        <p:spPr>
          <a:xfrm>
            <a:off x="6263640" y="2560320"/>
            <a:ext cx="2377440" cy="4572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declară diabet, în România</a:t>
            </a:r>
            <a:endParaRPr lang="en-US" sz="1400" dirty="0"/>
          </a:p>
        </p:txBody>
      </p:sp>
      <p:sp>
        <p:nvSpPr>
          <p:cNvPr id="11" name="Shape 8"/>
          <p:cNvSpPr/>
          <p:nvPr/>
        </p:nvSpPr>
        <p:spPr>
          <a:xfrm>
            <a:off x="8961120" y="1783080"/>
            <a:ext cx="2743200" cy="1325880"/>
          </a:xfrm>
          <a:prstGeom prst="roundRect">
            <a:avLst>
              <a:gd name="adj" fmla="val 6207"/>
            </a:avLst>
          </a:prstGeom>
          <a:solidFill>
            <a:srgbClr val="ECEAE4"/>
          </a:solidFill>
          <a:ln w="12700">
            <a:solidFill>
              <a:srgbClr val="ECEAE4"/>
            </a:solidFill>
            <a:prstDash val="solid"/>
          </a:ln>
        </p:spPr>
        <p:txBody>
          <a:bodyPr/>
          <a:p/>
        </p:txBody>
      </p:sp>
      <p:sp>
        <p:nvSpPr>
          <p:cNvPr id="12" name="Text 9"/>
          <p:cNvSpPr/>
          <p:nvPr/>
        </p:nvSpPr>
        <p:spPr>
          <a:xfrm>
            <a:off x="9189720" y="1828800"/>
            <a:ext cx="2377440" cy="731520"/>
          </a:xfrm>
          <a:prstGeom prst="rect">
            <a:avLst/>
          </a:prstGeom>
          <a:noFill/>
          <a:ln/>
        </p:spPr>
        <p:txBody>
          <a:bodyPr wrap="square" lIns="0" tIns="0" rIns="0" bIns="0" rtlCol="0" anchor="ctr"/>
          <a:lstStyle/>
          <a:p>
            <a:pPr indent="0" marL="0">
              <a:buNone/>
            </a:pPr>
            <a:r>
              <a:rPr lang="en-US" sz="3600" b="1" dirty="0">
                <a:solidFill>
                  <a:srgbClr val="585A64"/>
                </a:solidFill>
                <a:latin typeface="Palatino Linotype" pitchFamily="34" charset="0"/>
                <a:ea typeface="Palatino Linotype" pitchFamily="34" charset="-122"/>
                <a:cs typeface="Palatino Linotype" pitchFamily="34" charset="-120"/>
              </a:rPr>
              <a:t>7,4%</a:t>
            </a:r>
            <a:endParaRPr lang="en-US" sz="3600" dirty="0"/>
          </a:p>
        </p:txBody>
      </p:sp>
      <p:sp>
        <p:nvSpPr>
          <p:cNvPr id="13" name="Text 10"/>
          <p:cNvSpPr/>
          <p:nvPr/>
        </p:nvSpPr>
        <p:spPr>
          <a:xfrm>
            <a:off x="9189720" y="2560320"/>
            <a:ext cx="2377440" cy="4572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declară diabet, în UE</a:t>
            </a:r>
            <a:endParaRPr lang="en-US" sz="1400" dirty="0"/>
          </a:p>
        </p:txBody>
      </p:sp>
      <p:sp>
        <p:nvSpPr>
          <p:cNvPr id="14" name="Text 11"/>
          <p:cNvSpPr/>
          <p:nvPr/>
        </p:nvSpPr>
        <p:spPr>
          <a:xfrm>
            <a:off x="6035040" y="3291840"/>
            <a:ext cx="566928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Cine are glicemia crescută, dar nu a fost testat, nu apare în statistica declarativă.</a:t>
            </a:r>
            <a:endParaRPr lang="en-US" sz="1600" dirty="0"/>
          </a:p>
        </p:txBody>
      </p:sp>
      <p:sp>
        <p:nvSpPr>
          <p:cNvPr id="15" name="Text 12"/>
          <p:cNvSpPr/>
          <p:nvPr/>
        </p:nvSpPr>
        <p:spPr>
          <a:xfrm>
            <a:off x="6035040" y="4114800"/>
            <a:ext cx="5669280" cy="173736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Asistentul medical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identifică persoanele cu risc (exces ponderal, istoric familial, hipertensiune) și le îndrumă spre testare; educă pacientul diagnosticat pentru autocontrol, alimentație, îngrijirea piciorului și recunoașterea hipoglicemiei.</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ANCHETA EUROPEANĂ DE SĂNĂTATE · 2019 · PROCENT DIN POPULAȚIE</a:t>
            </a:r>
            <a:endParaRPr lang="en-US" sz="1300" dirty="0"/>
          </a:p>
        </p:txBody>
      </p:sp>
      <p:sp>
        <p:nvSpPr>
          <p:cNvPr id="3" name="Text 1"/>
          <p:cNvSpPr/>
          <p:nvPr/>
        </p:nvSpPr>
        <p:spPr>
          <a:xfrm>
            <a:off x="594360" y="713232"/>
            <a:ext cx="73152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Țigara, mișcarea, farfuria</a:t>
            </a:r>
            <a:endParaRPr lang="en-US" sz="3000" dirty="0"/>
          </a:p>
        </p:txBody>
      </p:sp>
      <p:sp>
        <p:nvSpPr>
          <p:cNvPr id="4" name="Shape 2"/>
          <p:cNvSpPr/>
          <p:nvPr/>
        </p:nvSpPr>
        <p:spPr>
          <a:xfrm>
            <a:off x="8138160" y="923544"/>
            <a:ext cx="256032" cy="182880"/>
          </a:xfrm>
          <a:prstGeom prst="rect">
            <a:avLst/>
          </a:prstGeom>
          <a:solidFill>
            <a:srgbClr val="B02532"/>
          </a:solidFill>
          <a:ln w="12700">
            <a:solidFill>
              <a:srgbClr val="B02532"/>
            </a:solidFill>
            <a:prstDash val="solid"/>
          </a:ln>
        </p:spPr>
        <p:txBody>
          <a:bodyPr/>
          <a:p/>
        </p:txBody>
      </p:sp>
      <p:sp>
        <p:nvSpPr>
          <p:cNvPr id="5" name="Text 3"/>
          <p:cNvSpPr/>
          <p:nvPr/>
        </p:nvSpPr>
        <p:spPr>
          <a:xfrm>
            <a:off x="8467344" y="8686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6" name="Shape 4"/>
          <p:cNvSpPr/>
          <p:nvPr/>
        </p:nvSpPr>
        <p:spPr>
          <a:xfrm>
            <a:off x="9875520" y="923544"/>
            <a:ext cx="256032" cy="182880"/>
          </a:xfrm>
          <a:prstGeom prst="rect">
            <a:avLst/>
          </a:prstGeom>
          <a:solidFill>
            <a:srgbClr val="B5B2AA"/>
          </a:solidFill>
          <a:ln w="12700">
            <a:solidFill>
              <a:srgbClr val="B5B2AA"/>
            </a:solidFill>
            <a:prstDash val="solid"/>
          </a:ln>
        </p:spPr>
        <p:txBody>
          <a:bodyPr/>
          <a:p/>
        </p:txBody>
      </p:sp>
      <p:sp>
        <p:nvSpPr>
          <p:cNvPr id="7" name="Text 5"/>
          <p:cNvSpPr/>
          <p:nvPr/>
        </p:nvSpPr>
        <p:spPr>
          <a:xfrm>
            <a:off x="10204704" y="8686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Media UE</a:t>
            </a:r>
            <a:endParaRPr lang="en-US" sz="1300" dirty="0"/>
          </a:p>
        </p:txBody>
      </p:sp>
      <p:sp>
        <p:nvSpPr>
          <p:cNvPr id="8" name="Text 6"/>
          <p:cNvSpPr/>
          <p:nvPr/>
        </p:nvSpPr>
        <p:spPr>
          <a:xfrm>
            <a:off x="594360" y="1508760"/>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Fumează, zilnic sau ocazional (de la 15 ani)</a:t>
            </a:r>
            <a:endParaRPr lang="en-US" sz="1350" dirty="0"/>
          </a:p>
        </p:txBody>
      </p:sp>
      <p:sp>
        <p:nvSpPr>
          <p:cNvPr id="9" name="Shape 7"/>
          <p:cNvSpPr/>
          <p:nvPr/>
        </p:nvSpPr>
        <p:spPr>
          <a:xfrm>
            <a:off x="4937760" y="1508760"/>
            <a:ext cx="1664208" cy="201168"/>
          </a:xfrm>
          <a:prstGeom prst="rect">
            <a:avLst/>
          </a:prstGeom>
          <a:solidFill>
            <a:srgbClr val="B02532"/>
          </a:solidFill>
          <a:ln w="12700">
            <a:solidFill>
              <a:srgbClr val="B02532"/>
            </a:solidFill>
            <a:prstDash val="solid"/>
          </a:ln>
        </p:spPr>
        <p:txBody>
          <a:bodyPr/>
          <a:p/>
        </p:txBody>
      </p:sp>
      <p:sp>
        <p:nvSpPr>
          <p:cNvPr id="10" name="Text 8"/>
          <p:cNvSpPr/>
          <p:nvPr/>
        </p:nvSpPr>
        <p:spPr>
          <a:xfrm>
            <a:off x="6675120" y="1463040"/>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27,3</a:t>
            </a:r>
            <a:endParaRPr lang="en-US" sz="1250" dirty="0"/>
          </a:p>
        </p:txBody>
      </p:sp>
      <p:sp>
        <p:nvSpPr>
          <p:cNvPr id="11" name="Shape 9"/>
          <p:cNvSpPr/>
          <p:nvPr/>
        </p:nvSpPr>
        <p:spPr>
          <a:xfrm>
            <a:off x="4937760" y="1764792"/>
            <a:ext cx="1475232" cy="201168"/>
          </a:xfrm>
          <a:prstGeom prst="rect">
            <a:avLst/>
          </a:prstGeom>
          <a:solidFill>
            <a:srgbClr val="B5B2AA"/>
          </a:solidFill>
          <a:ln w="12700">
            <a:solidFill>
              <a:srgbClr val="B5B2AA"/>
            </a:solidFill>
            <a:prstDash val="solid"/>
          </a:ln>
        </p:spPr>
        <p:txBody>
          <a:bodyPr/>
          <a:p/>
        </p:txBody>
      </p:sp>
      <p:sp>
        <p:nvSpPr>
          <p:cNvPr id="12" name="Text 10"/>
          <p:cNvSpPr/>
          <p:nvPr/>
        </p:nvSpPr>
        <p:spPr>
          <a:xfrm>
            <a:off x="6486144" y="1719072"/>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24,2</a:t>
            </a:r>
            <a:endParaRPr lang="en-US" sz="1250" dirty="0"/>
          </a:p>
        </p:txBody>
      </p:sp>
      <p:sp>
        <p:nvSpPr>
          <p:cNvPr id="13" name="Text 11"/>
          <p:cNvSpPr/>
          <p:nvPr/>
        </p:nvSpPr>
        <p:spPr>
          <a:xfrm>
            <a:off x="594360" y="2075688"/>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Bărbați: fumează</a:t>
            </a:r>
            <a:endParaRPr lang="en-US" sz="1350" dirty="0"/>
          </a:p>
        </p:txBody>
      </p:sp>
      <p:sp>
        <p:nvSpPr>
          <p:cNvPr id="14" name="Shape 12"/>
          <p:cNvSpPr/>
          <p:nvPr/>
        </p:nvSpPr>
        <p:spPr>
          <a:xfrm>
            <a:off x="4937760" y="2075688"/>
            <a:ext cx="2529840" cy="201168"/>
          </a:xfrm>
          <a:prstGeom prst="rect">
            <a:avLst/>
          </a:prstGeom>
          <a:solidFill>
            <a:srgbClr val="B02532"/>
          </a:solidFill>
          <a:ln w="12700">
            <a:solidFill>
              <a:srgbClr val="B02532"/>
            </a:solidFill>
            <a:prstDash val="solid"/>
          </a:ln>
        </p:spPr>
        <p:txBody>
          <a:bodyPr/>
          <a:p/>
        </p:txBody>
      </p:sp>
      <p:sp>
        <p:nvSpPr>
          <p:cNvPr id="15" name="Text 13"/>
          <p:cNvSpPr/>
          <p:nvPr/>
        </p:nvSpPr>
        <p:spPr>
          <a:xfrm>
            <a:off x="7540752" y="2029968"/>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41,5</a:t>
            </a:r>
            <a:endParaRPr lang="en-US" sz="1250" dirty="0"/>
          </a:p>
        </p:txBody>
      </p:sp>
      <p:sp>
        <p:nvSpPr>
          <p:cNvPr id="16" name="Shape 14"/>
          <p:cNvSpPr/>
          <p:nvPr/>
        </p:nvSpPr>
        <p:spPr>
          <a:xfrm>
            <a:off x="4937760" y="2331720"/>
            <a:ext cx="1780032" cy="201168"/>
          </a:xfrm>
          <a:prstGeom prst="rect">
            <a:avLst/>
          </a:prstGeom>
          <a:solidFill>
            <a:srgbClr val="B5B2AA"/>
          </a:solidFill>
          <a:ln w="12700">
            <a:solidFill>
              <a:srgbClr val="B5B2AA"/>
            </a:solidFill>
            <a:prstDash val="solid"/>
          </a:ln>
        </p:spPr>
        <p:txBody>
          <a:bodyPr/>
          <a:p/>
        </p:txBody>
      </p:sp>
      <p:sp>
        <p:nvSpPr>
          <p:cNvPr id="17" name="Text 15"/>
          <p:cNvSpPr/>
          <p:nvPr/>
        </p:nvSpPr>
        <p:spPr>
          <a:xfrm>
            <a:off x="6790944" y="2286000"/>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29,2</a:t>
            </a:r>
            <a:endParaRPr lang="en-US" sz="1250" dirty="0"/>
          </a:p>
        </p:txBody>
      </p:sp>
      <p:sp>
        <p:nvSpPr>
          <p:cNvPr id="18" name="Text 16"/>
          <p:cNvSpPr/>
          <p:nvPr/>
        </p:nvSpPr>
        <p:spPr>
          <a:xfrm>
            <a:off x="594360" y="2642616"/>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Femei: fumează</a:t>
            </a:r>
            <a:endParaRPr lang="en-US" sz="1350" dirty="0"/>
          </a:p>
        </p:txBody>
      </p:sp>
      <p:sp>
        <p:nvSpPr>
          <p:cNvPr id="19" name="Shape 17"/>
          <p:cNvSpPr/>
          <p:nvPr/>
        </p:nvSpPr>
        <p:spPr>
          <a:xfrm>
            <a:off x="4937760" y="2642616"/>
            <a:ext cx="847344" cy="201168"/>
          </a:xfrm>
          <a:prstGeom prst="rect">
            <a:avLst/>
          </a:prstGeom>
          <a:solidFill>
            <a:srgbClr val="B02532"/>
          </a:solidFill>
          <a:ln w="12700">
            <a:solidFill>
              <a:srgbClr val="B02532"/>
            </a:solidFill>
            <a:prstDash val="solid"/>
          </a:ln>
        </p:spPr>
        <p:txBody>
          <a:bodyPr/>
          <a:p/>
        </p:txBody>
      </p:sp>
      <p:sp>
        <p:nvSpPr>
          <p:cNvPr id="20" name="Text 18"/>
          <p:cNvSpPr/>
          <p:nvPr/>
        </p:nvSpPr>
        <p:spPr>
          <a:xfrm>
            <a:off x="5858256" y="2596896"/>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13,9</a:t>
            </a:r>
            <a:endParaRPr lang="en-US" sz="1250" dirty="0"/>
          </a:p>
        </p:txBody>
      </p:sp>
      <p:sp>
        <p:nvSpPr>
          <p:cNvPr id="21" name="Shape 19"/>
          <p:cNvSpPr/>
          <p:nvPr/>
        </p:nvSpPr>
        <p:spPr>
          <a:xfrm>
            <a:off x="4937760" y="2898648"/>
            <a:ext cx="1182624" cy="201168"/>
          </a:xfrm>
          <a:prstGeom prst="rect">
            <a:avLst/>
          </a:prstGeom>
          <a:solidFill>
            <a:srgbClr val="B5B2AA"/>
          </a:solidFill>
          <a:ln w="12700">
            <a:solidFill>
              <a:srgbClr val="B5B2AA"/>
            </a:solidFill>
            <a:prstDash val="solid"/>
          </a:ln>
        </p:spPr>
        <p:txBody>
          <a:bodyPr/>
          <a:p/>
        </p:txBody>
      </p:sp>
      <p:sp>
        <p:nvSpPr>
          <p:cNvPr id="22" name="Text 20"/>
          <p:cNvSpPr/>
          <p:nvPr/>
        </p:nvSpPr>
        <p:spPr>
          <a:xfrm>
            <a:off x="6193536" y="2852928"/>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19,4</a:t>
            </a:r>
            <a:endParaRPr lang="en-US" sz="1250" dirty="0"/>
          </a:p>
        </p:txBody>
      </p:sp>
      <p:sp>
        <p:nvSpPr>
          <p:cNvPr id="23" name="Text 21"/>
          <p:cNvSpPr/>
          <p:nvPr/>
        </p:nvSpPr>
        <p:spPr>
          <a:xfrm>
            <a:off x="594360" y="3209544"/>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Alcool: consum excesiv, săptămânal</a:t>
            </a:r>
            <a:endParaRPr lang="en-US" sz="1350" dirty="0"/>
          </a:p>
        </p:txBody>
      </p:sp>
      <p:sp>
        <p:nvSpPr>
          <p:cNvPr id="24" name="Shape 22"/>
          <p:cNvSpPr/>
          <p:nvPr/>
        </p:nvSpPr>
        <p:spPr>
          <a:xfrm>
            <a:off x="4937760" y="3209544"/>
            <a:ext cx="676656" cy="201168"/>
          </a:xfrm>
          <a:prstGeom prst="rect">
            <a:avLst/>
          </a:prstGeom>
          <a:solidFill>
            <a:srgbClr val="B02532"/>
          </a:solidFill>
          <a:ln w="12700">
            <a:solidFill>
              <a:srgbClr val="B02532"/>
            </a:solidFill>
            <a:prstDash val="solid"/>
          </a:ln>
        </p:spPr>
        <p:txBody>
          <a:bodyPr/>
          <a:p/>
        </p:txBody>
      </p:sp>
      <p:sp>
        <p:nvSpPr>
          <p:cNvPr id="25" name="Text 23"/>
          <p:cNvSpPr/>
          <p:nvPr/>
        </p:nvSpPr>
        <p:spPr>
          <a:xfrm>
            <a:off x="5687568" y="3163824"/>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11,1</a:t>
            </a:r>
            <a:endParaRPr lang="en-US" sz="1250" dirty="0"/>
          </a:p>
        </p:txBody>
      </p:sp>
      <p:sp>
        <p:nvSpPr>
          <p:cNvPr id="26" name="Shape 24"/>
          <p:cNvSpPr/>
          <p:nvPr/>
        </p:nvSpPr>
        <p:spPr>
          <a:xfrm>
            <a:off x="4937760" y="3465576"/>
            <a:ext cx="225552" cy="201168"/>
          </a:xfrm>
          <a:prstGeom prst="rect">
            <a:avLst/>
          </a:prstGeom>
          <a:solidFill>
            <a:srgbClr val="B5B2AA"/>
          </a:solidFill>
          <a:ln w="12700">
            <a:solidFill>
              <a:srgbClr val="B5B2AA"/>
            </a:solidFill>
            <a:prstDash val="solid"/>
          </a:ln>
        </p:spPr>
        <p:txBody>
          <a:bodyPr/>
          <a:p/>
        </p:txBody>
      </p:sp>
      <p:sp>
        <p:nvSpPr>
          <p:cNvPr id="27" name="Text 25"/>
          <p:cNvSpPr/>
          <p:nvPr/>
        </p:nvSpPr>
        <p:spPr>
          <a:xfrm>
            <a:off x="5236464" y="3419856"/>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3,7</a:t>
            </a:r>
            <a:endParaRPr lang="en-US" sz="1250" dirty="0"/>
          </a:p>
        </p:txBody>
      </p:sp>
      <p:sp>
        <p:nvSpPr>
          <p:cNvPr id="28" name="Text 26"/>
          <p:cNvSpPr/>
          <p:nvPr/>
        </p:nvSpPr>
        <p:spPr>
          <a:xfrm>
            <a:off x="594360" y="3776472"/>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Mișcare în timpul liber: cel puțin 150 de minute pe săptămână</a:t>
            </a:r>
            <a:endParaRPr lang="en-US" sz="1350" dirty="0"/>
          </a:p>
        </p:txBody>
      </p:sp>
      <p:sp>
        <p:nvSpPr>
          <p:cNvPr id="29" name="Shape 27"/>
          <p:cNvSpPr/>
          <p:nvPr/>
        </p:nvSpPr>
        <p:spPr>
          <a:xfrm>
            <a:off x="4937760" y="3776472"/>
            <a:ext cx="487680" cy="201168"/>
          </a:xfrm>
          <a:prstGeom prst="rect">
            <a:avLst/>
          </a:prstGeom>
          <a:solidFill>
            <a:srgbClr val="B02532"/>
          </a:solidFill>
          <a:ln w="12700">
            <a:solidFill>
              <a:srgbClr val="B02532"/>
            </a:solidFill>
            <a:prstDash val="solid"/>
          </a:ln>
        </p:spPr>
        <p:txBody>
          <a:bodyPr/>
          <a:p/>
        </p:txBody>
      </p:sp>
      <p:sp>
        <p:nvSpPr>
          <p:cNvPr id="30" name="Text 28"/>
          <p:cNvSpPr/>
          <p:nvPr/>
        </p:nvSpPr>
        <p:spPr>
          <a:xfrm>
            <a:off x="5498592" y="3730752"/>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8,0</a:t>
            </a:r>
            <a:endParaRPr lang="en-US" sz="1250" dirty="0"/>
          </a:p>
        </p:txBody>
      </p:sp>
      <p:sp>
        <p:nvSpPr>
          <p:cNvPr id="31" name="Shape 29"/>
          <p:cNvSpPr/>
          <p:nvPr/>
        </p:nvSpPr>
        <p:spPr>
          <a:xfrm>
            <a:off x="4937760" y="4032504"/>
            <a:ext cx="1993392" cy="201168"/>
          </a:xfrm>
          <a:prstGeom prst="rect">
            <a:avLst/>
          </a:prstGeom>
          <a:solidFill>
            <a:srgbClr val="B5B2AA"/>
          </a:solidFill>
          <a:ln w="12700">
            <a:solidFill>
              <a:srgbClr val="B5B2AA"/>
            </a:solidFill>
            <a:prstDash val="solid"/>
          </a:ln>
        </p:spPr>
        <p:txBody>
          <a:bodyPr/>
          <a:p/>
        </p:txBody>
      </p:sp>
      <p:sp>
        <p:nvSpPr>
          <p:cNvPr id="32" name="Text 30"/>
          <p:cNvSpPr/>
          <p:nvPr/>
        </p:nvSpPr>
        <p:spPr>
          <a:xfrm>
            <a:off x="7004304" y="3986784"/>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32,7</a:t>
            </a:r>
            <a:endParaRPr lang="en-US" sz="1250" dirty="0"/>
          </a:p>
        </p:txBody>
      </p:sp>
      <p:sp>
        <p:nvSpPr>
          <p:cNvPr id="33" name="Text 31"/>
          <p:cNvSpPr/>
          <p:nvPr/>
        </p:nvSpPr>
        <p:spPr>
          <a:xfrm>
            <a:off x="594360" y="4343400"/>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Mișcare în timpul liber: zero minute</a:t>
            </a:r>
            <a:endParaRPr lang="en-US" sz="1350" dirty="0"/>
          </a:p>
        </p:txBody>
      </p:sp>
      <p:sp>
        <p:nvSpPr>
          <p:cNvPr id="34" name="Shape 32"/>
          <p:cNvSpPr/>
          <p:nvPr/>
        </p:nvSpPr>
        <p:spPr>
          <a:xfrm>
            <a:off x="4937760" y="4343400"/>
            <a:ext cx="5120640" cy="201168"/>
          </a:xfrm>
          <a:prstGeom prst="rect">
            <a:avLst/>
          </a:prstGeom>
          <a:solidFill>
            <a:srgbClr val="B02532"/>
          </a:solidFill>
          <a:ln w="12700">
            <a:solidFill>
              <a:srgbClr val="B02532"/>
            </a:solidFill>
            <a:prstDash val="solid"/>
          </a:ln>
        </p:spPr>
        <p:txBody>
          <a:bodyPr/>
          <a:p/>
        </p:txBody>
      </p:sp>
      <p:sp>
        <p:nvSpPr>
          <p:cNvPr id="35" name="Text 33"/>
          <p:cNvSpPr/>
          <p:nvPr/>
        </p:nvSpPr>
        <p:spPr>
          <a:xfrm>
            <a:off x="10131552" y="4297680"/>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84,0</a:t>
            </a:r>
            <a:endParaRPr lang="en-US" sz="1250" dirty="0"/>
          </a:p>
        </p:txBody>
      </p:sp>
      <p:sp>
        <p:nvSpPr>
          <p:cNvPr id="36" name="Shape 34"/>
          <p:cNvSpPr/>
          <p:nvPr/>
        </p:nvSpPr>
        <p:spPr>
          <a:xfrm>
            <a:off x="4937760" y="4599432"/>
            <a:ext cx="2883408" cy="201168"/>
          </a:xfrm>
          <a:prstGeom prst="rect">
            <a:avLst/>
          </a:prstGeom>
          <a:solidFill>
            <a:srgbClr val="B5B2AA"/>
          </a:solidFill>
          <a:ln w="12700">
            <a:solidFill>
              <a:srgbClr val="B5B2AA"/>
            </a:solidFill>
            <a:prstDash val="solid"/>
          </a:ln>
        </p:spPr>
        <p:txBody>
          <a:bodyPr/>
          <a:p/>
        </p:txBody>
      </p:sp>
      <p:sp>
        <p:nvSpPr>
          <p:cNvPr id="37" name="Text 35"/>
          <p:cNvSpPr/>
          <p:nvPr/>
        </p:nvSpPr>
        <p:spPr>
          <a:xfrm>
            <a:off x="7894320" y="4553712"/>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47,3</a:t>
            </a:r>
            <a:endParaRPr lang="en-US" sz="1250" dirty="0"/>
          </a:p>
        </p:txBody>
      </p:sp>
      <p:sp>
        <p:nvSpPr>
          <p:cNvPr id="38" name="Text 36"/>
          <p:cNvSpPr/>
          <p:nvPr/>
        </p:nvSpPr>
        <p:spPr>
          <a:xfrm>
            <a:off x="594360" y="4910328"/>
            <a:ext cx="4206240" cy="457200"/>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Cinci porții de fructe și legume zilnic</a:t>
            </a:r>
            <a:endParaRPr lang="en-US" sz="1350" dirty="0"/>
          </a:p>
        </p:txBody>
      </p:sp>
      <p:sp>
        <p:nvSpPr>
          <p:cNvPr id="39" name="Shape 37"/>
          <p:cNvSpPr/>
          <p:nvPr/>
        </p:nvSpPr>
        <p:spPr>
          <a:xfrm>
            <a:off x="4937760" y="4910328"/>
            <a:ext cx="146304" cy="201168"/>
          </a:xfrm>
          <a:prstGeom prst="rect">
            <a:avLst/>
          </a:prstGeom>
          <a:solidFill>
            <a:srgbClr val="B02532"/>
          </a:solidFill>
          <a:ln w="12700">
            <a:solidFill>
              <a:srgbClr val="B02532"/>
            </a:solidFill>
            <a:prstDash val="solid"/>
          </a:ln>
        </p:spPr>
        <p:txBody>
          <a:bodyPr/>
          <a:p/>
        </p:txBody>
      </p:sp>
      <p:sp>
        <p:nvSpPr>
          <p:cNvPr id="40" name="Text 38"/>
          <p:cNvSpPr/>
          <p:nvPr/>
        </p:nvSpPr>
        <p:spPr>
          <a:xfrm>
            <a:off x="5157216" y="4864608"/>
            <a:ext cx="1188720" cy="292608"/>
          </a:xfrm>
          <a:prstGeom prst="rect">
            <a:avLst/>
          </a:prstGeom>
          <a:noFill/>
          <a:ln/>
        </p:spPr>
        <p:txBody>
          <a:bodyPr wrap="square" lIns="0" tIns="0" rIns="0" bIns="0" rtlCol="0" anchor="ctr"/>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2,4</a:t>
            </a:r>
            <a:endParaRPr lang="en-US" sz="1250" dirty="0"/>
          </a:p>
        </p:txBody>
      </p:sp>
      <p:sp>
        <p:nvSpPr>
          <p:cNvPr id="41" name="Shape 39"/>
          <p:cNvSpPr/>
          <p:nvPr/>
        </p:nvSpPr>
        <p:spPr>
          <a:xfrm>
            <a:off x="4937760" y="5166360"/>
            <a:ext cx="755904" cy="201168"/>
          </a:xfrm>
          <a:prstGeom prst="rect">
            <a:avLst/>
          </a:prstGeom>
          <a:solidFill>
            <a:srgbClr val="B5B2AA"/>
          </a:solidFill>
          <a:ln w="12700">
            <a:solidFill>
              <a:srgbClr val="B5B2AA"/>
            </a:solidFill>
            <a:prstDash val="solid"/>
          </a:ln>
        </p:spPr>
        <p:txBody>
          <a:bodyPr/>
          <a:p/>
        </p:txBody>
      </p:sp>
      <p:sp>
        <p:nvSpPr>
          <p:cNvPr id="42" name="Text 40"/>
          <p:cNvSpPr/>
          <p:nvPr/>
        </p:nvSpPr>
        <p:spPr>
          <a:xfrm>
            <a:off x="5766816" y="5120640"/>
            <a:ext cx="1188720" cy="292608"/>
          </a:xfrm>
          <a:prstGeom prst="rect">
            <a:avLst/>
          </a:prstGeom>
          <a:noFill/>
          <a:ln/>
        </p:spPr>
        <p:txBody>
          <a:bodyPr wrap="square" lIns="0" tIns="0" rIns="0" bIns="0" rtlCol="0" anchor="ctr"/>
          <a:lstStyle/>
          <a:p>
            <a:pPr indent="0" marL="0">
              <a:buNone/>
            </a:pPr>
            <a:r>
              <a:rPr lang="en-US" sz="1250" dirty="0">
                <a:solidFill>
                  <a:srgbClr val="585A64"/>
                </a:solidFill>
                <a:latin typeface="Palatino Linotype" pitchFamily="34" charset="0"/>
                <a:ea typeface="Palatino Linotype" pitchFamily="34" charset="-122"/>
                <a:cs typeface="Palatino Linotype" pitchFamily="34" charset="-120"/>
              </a:rPr>
              <a:t>12,4</a:t>
            </a:r>
            <a:endParaRPr lang="en-US" sz="1250" dirty="0"/>
          </a:p>
        </p:txBody>
      </p:sp>
      <p:sp>
        <p:nvSpPr>
          <p:cNvPr id="43" name="Shape 41"/>
          <p:cNvSpPr/>
          <p:nvPr/>
        </p:nvSpPr>
        <p:spPr>
          <a:xfrm>
            <a:off x="594360" y="5577840"/>
            <a:ext cx="10972800" cy="13716"/>
          </a:xfrm>
          <a:prstGeom prst="rect">
            <a:avLst/>
          </a:prstGeom>
          <a:solidFill>
            <a:srgbClr val="C9C6BE"/>
          </a:solidFill>
          <a:ln/>
        </p:spPr>
        <p:txBody>
          <a:bodyPr/>
          <a:p/>
        </p:txBody>
      </p:sp>
      <p:sp>
        <p:nvSpPr>
          <p:cNvPr id="44" name="Text 42"/>
          <p:cNvSpPr/>
          <p:nvPr/>
        </p:nvSpPr>
        <p:spPr>
          <a:xfrm>
            <a:off x="594360" y="5641848"/>
            <a:ext cx="10972800" cy="658368"/>
          </a:xfrm>
          <a:prstGeom prst="rect">
            <a:avLst/>
          </a:prstGeom>
          <a:noFill/>
          <a:ln/>
        </p:spPr>
        <p:txBody>
          <a:bodyPr wrap="square" lIns="0" tIns="0" rIns="0" bIns="0" rtlCol="0" anchor="t"/>
          <a:lstStyle/>
          <a:p>
            <a:pPr indent="0" marL="0">
              <a:buNone/>
            </a:pPr>
            <a:r>
              <a:rPr lang="en-US" sz="1250" dirty="0">
                <a:solidFill>
                  <a:srgbClr val="3A3C44"/>
                </a:solidFill>
                <a:latin typeface="Palatino Linotype" pitchFamily="34" charset="0"/>
                <a:ea typeface="Palatino Linotype" pitchFamily="34" charset="-122"/>
                <a:cs typeface="Palatino Linotype" pitchFamily="34" charset="-120"/>
              </a:rPr>
              <a:t>Factori modificabili, dar nu numai alegeri: depind de prețuri, de locurile de mișcare, de reglementarea tutunului și a alcoolului, de normele grupului. Bronhopneumopatia obstructivă cronică ține în primul rând de fumat (sinteză didactică). Indicatorul de mișcare numără numai timpul liber; activitatea de la locul de muncă nu e inclusă.</a:t>
            </a:r>
            <a:endParaRPr lang="en-US" sz="1350" dirty="0"/>
          </a:p>
        </p:txBody>
      </p:sp>
      <p:sp>
        <p:nvSpPr>
          <p:cNvPr id="45" name="Text 4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EHIS, valul 2019, cel mai recent publicat (registru A028, A029, A030, A031).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trada_comuna_biertan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O comună din Transilvania: Biertan, județul Sibiu</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Paul Colin Hennig · CC BY-SA 4.0 · Wikimedia Commons</a:t>
            </a:r>
            <a:endParaRPr lang="en-US" sz="850" dirty="0"/>
          </a:p>
        </p:txBody>
      </p:sp>
      <p:sp>
        <p:nvSpPr>
          <p:cNvPr id="6" name="Shape 3"/>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7" name="Text 4"/>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SINGURI · PERECHI · SALA</a:t>
            </a:r>
            <a:endParaRPr lang="en-US" sz="1300" dirty="0"/>
          </a:p>
        </p:txBody>
      </p:sp>
      <p:sp>
        <p:nvSpPr>
          <p:cNvPr id="8" name="Text 5"/>
          <p:cNvSpPr/>
          <p:nvPr/>
        </p:nvSpPr>
        <p:spPr>
          <a:xfrm>
            <a:off x="6035040" y="347472"/>
            <a:ext cx="237744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 SALĂ</a:t>
            </a:r>
            <a:endParaRPr lang="en-US" sz="1300" dirty="0"/>
          </a:p>
        </p:txBody>
      </p:sp>
      <p:sp>
        <p:nvSpPr>
          <p:cNvPr id="9" name="Text 6"/>
          <p:cNvSpPr/>
          <p:nvPr/>
        </p:nvSpPr>
        <p:spPr>
          <a:xfrm>
            <a:off x="6035040" y="868680"/>
            <a:ext cx="5852160" cy="109728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O singură prioritate pentru comuna ei</a:t>
            </a:r>
            <a:endParaRPr lang="en-US" sz="2500" dirty="0"/>
          </a:p>
        </p:txBody>
      </p:sp>
      <p:sp>
        <p:nvSpPr>
          <p:cNvPr id="10" name="Shape 7"/>
          <p:cNvSpPr/>
          <p:nvPr/>
        </p:nvSpPr>
        <p:spPr>
          <a:xfrm>
            <a:off x="6035040" y="2103120"/>
            <a:ext cx="5760720" cy="868680"/>
          </a:xfrm>
          <a:prstGeom prst="roundRect">
            <a:avLst>
              <a:gd name="adj" fmla="val 9474"/>
            </a:avLst>
          </a:prstGeom>
          <a:solidFill>
            <a:srgbClr val="1D1F2B"/>
          </a:solidFill>
          <a:ln w="12700">
            <a:solidFill>
              <a:srgbClr val="1D1F2B"/>
            </a:solidFill>
            <a:prstDash val="solid"/>
          </a:ln>
        </p:spPr>
        <p:txBody>
          <a:bodyPr/>
          <a:p/>
        </p:txBody>
      </p:sp>
      <p:sp>
        <p:nvSpPr>
          <p:cNvPr id="11" name="Shape 8"/>
          <p:cNvSpPr/>
          <p:nvPr/>
        </p:nvSpPr>
        <p:spPr>
          <a:xfrm>
            <a:off x="6309360" y="2327148"/>
            <a:ext cx="420624" cy="420624"/>
          </a:xfrm>
          <a:prstGeom prst="ellipse">
            <a:avLst/>
          </a:prstGeom>
          <a:solidFill>
            <a:srgbClr val="FFC24B"/>
          </a:solidFill>
          <a:ln/>
        </p:spPr>
        <p:txBody>
          <a:bodyPr/>
          <a:p/>
        </p:txBody>
      </p:sp>
      <p:sp>
        <p:nvSpPr>
          <p:cNvPr id="12" name="Text 9"/>
          <p:cNvSpPr/>
          <p:nvPr/>
        </p:nvSpPr>
        <p:spPr>
          <a:xfrm>
            <a:off x="6309360" y="23271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3" name="Text 10"/>
          <p:cNvSpPr/>
          <p:nvPr/>
        </p:nvSpPr>
        <p:spPr>
          <a:xfrm>
            <a:off x="6949440" y="2103120"/>
            <a:ext cx="4617720" cy="86868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Două minute singuri: priviți cifrele de până acum.</a:t>
            </a:r>
            <a:endParaRPr lang="en-US" sz="1550" dirty="0"/>
          </a:p>
        </p:txBody>
      </p:sp>
      <p:sp>
        <p:nvSpPr>
          <p:cNvPr id="14" name="Shape 11"/>
          <p:cNvSpPr/>
          <p:nvPr/>
        </p:nvSpPr>
        <p:spPr>
          <a:xfrm>
            <a:off x="6035040" y="3090672"/>
            <a:ext cx="5760720" cy="868680"/>
          </a:xfrm>
          <a:prstGeom prst="roundRect">
            <a:avLst>
              <a:gd name="adj" fmla="val 9474"/>
            </a:avLst>
          </a:prstGeom>
          <a:solidFill>
            <a:srgbClr val="1D1F2B"/>
          </a:solidFill>
          <a:ln w="12700">
            <a:solidFill>
              <a:srgbClr val="1D1F2B"/>
            </a:solidFill>
            <a:prstDash val="solid"/>
          </a:ln>
        </p:spPr>
        <p:txBody>
          <a:bodyPr/>
          <a:p/>
        </p:txBody>
      </p:sp>
      <p:sp>
        <p:nvSpPr>
          <p:cNvPr id="15" name="Shape 12"/>
          <p:cNvSpPr/>
          <p:nvPr/>
        </p:nvSpPr>
        <p:spPr>
          <a:xfrm>
            <a:off x="6309360" y="3314700"/>
            <a:ext cx="420624" cy="420624"/>
          </a:xfrm>
          <a:prstGeom prst="ellipse">
            <a:avLst/>
          </a:prstGeom>
          <a:solidFill>
            <a:srgbClr val="FFC24B"/>
          </a:solidFill>
          <a:ln/>
        </p:spPr>
        <p:txBody>
          <a:bodyPr/>
          <a:p/>
        </p:txBody>
      </p:sp>
      <p:sp>
        <p:nvSpPr>
          <p:cNvPr id="16" name="Text 13"/>
          <p:cNvSpPr/>
          <p:nvPr/>
        </p:nvSpPr>
        <p:spPr>
          <a:xfrm>
            <a:off x="6309360" y="33147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7" name="Text 14"/>
          <p:cNvSpPr/>
          <p:nvPr/>
        </p:nvSpPr>
        <p:spPr>
          <a:xfrm>
            <a:off x="6949440" y="3090672"/>
            <a:ext cx="4617720" cy="86868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Trei minute cu colegul de bancă: o singură prioritate de prevenție pentru o comunitate ca a doamnei M.</a:t>
            </a:r>
            <a:endParaRPr lang="en-US" sz="1550" dirty="0"/>
          </a:p>
        </p:txBody>
      </p:sp>
      <p:sp>
        <p:nvSpPr>
          <p:cNvPr id="18" name="Shape 15"/>
          <p:cNvSpPr/>
          <p:nvPr/>
        </p:nvSpPr>
        <p:spPr>
          <a:xfrm>
            <a:off x="6035040" y="4078224"/>
            <a:ext cx="5760720" cy="868680"/>
          </a:xfrm>
          <a:prstGeom prst="roundRect">
            <a:avLst>
              <a:gd name="adj" fmla="val 9474"/>
            </a:avLst>
          </a:prstGeom>
          <a:solidFill>
            <a:srgbClr val="1D1F2B"/>
          </a:solidFill>
          <a:ln w="12700">
            <a:solidFill>
              <a:srgbClr val="1D1F2B"/>
            </a:solidFill>
            <a:prstDash val="solid"/>
          </a:ln>
        </p:spPr>
        <p:txBody>
          <a:bodyPr/>
          <a:p/>
        </p:txBody>
      </p:sp>
      <p:sp>
        <p:nvSpPr>
          <p:cNvPr id="19" name="Shape 16"/>
          <p:cNvSpPr/>
          <p:nvPr/>
        </p:nvSpPr>
        <p:spPr>
          <a:xfrm>
            <a:off x="6309360" y="4302252"/>
            <a:ext cx="420624" cy="420624"/>
          </a:xfrm>
          <a:prstGeom prst="ellipse">
            <a:avLst/>
          </a:prstGeom>
          <a:solidFill>
            <a:srgbClr val="FFC24B"/>
          </a:solidFill>
          <a:ln/>
        </p:spPr>
        <p:txBody>
          <a:bodyPr/>
          <a:p/>
        </p:txBody>
      </p:sp>
      <p:sp>
        <p:nvSpPr>
          <p:cNvPr id="20" name="Text 17"/>
          <p:cNvSpPr/>
          <p:nvPr/>
        </p:nvSpPr>
        <p:spPr>
          <a:xfrm>
            <a:off x="6309360" y="43022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1" name="Text 18"/>
          <p:cNvSpPr/>
          <p:nvPr/>
        </p:nvSpPr>
        <p:spPr>
          <a:xfrm>
            <a:off x="6949440" y="4078224"/>
            <a:ext cx="4617720" cy="86868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O acțiune concretă a asistentului medical, în cabinetul medicului de familie.</a:t>
            </a:r>
            <a:endParaRPr lang="en-US" sz="1550" dirty="0"/>
          </a:p>
        </p:txBody>
      </p:sp>
      <p:sp>
        <p:nvSpPr>
          <p:cNvPr id="22" name="Shape 19"/>
          <p:cNvSpPr/>
          <p:nvPr/>
        </p:nvSpPr>
        <p:spPr>
          <a:xfrm>
            <a:off x="6035040" y="5065776"/>
            <a:ext cx="5760720" cy="868680"/>
          </a:xfrm>
          <a:prstGeom prst="roundRect">
            <a:avLst>
              <a:gd name="adj" fmla="val 9474"/>
            </a:avLst>
          </a:prstGeom>
          <a:solidFill>
            <a:srgbClr val="1D1F2B"/>
          </a:solidFill>
          <a:ln w="12700">
            <a:solidFill>
              <a:srgbClr val="1D1F2B"/>
            </a:solidFill>
            <a:prstDash val="solid"/>
          </a:ln>
        </p:spPr>
        <p:txBody>
          <a:bodyPr/>
          <a:p/>
        </p:txBody>
      </p:sp>
      <p:sp>
        <p:nvSpPr>
          <p:cNvPr id="23" name="Shape 20"/>
          <p:cNvSpPr/>
          <p:nvPr/>
        </p:nvSpPr>
        <p:spPr>
          <a:xfrm>
            <a:off x="6309360" y="5289804"/>
            <a:ext cx="420624" cy="420624"/>
          </a:xfrm>
          <a:prstGeom prst="ellipse">
            <a:avLst/>
          </a:prstGeom>
          <a:solidFill>
            <a:srgbClr val="FFC24B"/>
          </a:solidFill>
          <a:ln/>
        </p:spPr>
        <p:txBody>
          <a:bodyPr/>
          <a:p/>
        </p:txBody>
      </p:sp>
      <p:sp>
        <p:nvSpPr>
          <p:cNvPr id="24" name="Text 21"/>
          <p:cNvSpPr/>
          <p:nvPr/>
        </p:nvSpPr>
        <p:spPr>
          <a:xfrm>
            <a:off x="6309360" y="52898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5" name="Text 22"/>
          <p:cNvSpPr/>
          <p:nvPr/>
        </p:nvSpPr>
        <p:spPr>
          <a:xfrm>
            <a:off x="6949440" y="5065776"/>
            <a:ext cx="4617720" cy="86868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Câteva perechi își prezintă alegerea și argumentul.</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ECDC · OMS · TUBERCULOZA · 2024</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Cea mai mare rată de notificare din UE/SEE</a:t>
            </a:r>
            <a:endParaRPr lang="en-US" sz="3000" dirty="0"/>
          </a:p>
        </p:txBody>
      </p:sp>
      <p:pic>
        <p:nvPicPr>
          <p:cNvPr id="4" name="Image 0" descr="/Users/adrianpana/Downloads/UMF_Cluj_SP/Materiale SP/Atelier_didactic/discipline/SPM_AMGIV/active/img/radiografie_tbc_miliara_commons.jpg">    </p:cNvPr>
          <p:cNvPicPr>
            <a:picLocks noChangeAspect="1"/>
          </p:cNvPicPr>
          <p:nvPr/>
        </p:nvPicPr>
        <p:blipFill>
          <a:blip r:embed="rId1"/>
          <a:stretch>
            <a:fillRect/>
          </a:stretch>
        </p:blipFill>
        <p:spPr>
          <a:xfrm>
            <a:off x="594360" y="1600200"/>
            <a:ext cx="3840480" cy="3474720"/>
          </a:xfrm>
          <a:prstGeom prst="rect">
            <a:avLst/>
          </a:prstGeom>
        </p:spPr>
      </p:pic>
      <p:sp>
        <p:nvSpPr>
          <p:cNvPr id="5" name="Text 2"/>
          <p:cNvSpPr/>
          <p:nvPr/>
        </p:nvSpPr>
        <p:spPr>
          <a:xfrm>
            <a:off x="594360" y="5120640"/>
            <a:ext cx="420624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Radiografie toracică, tuberculoză miliară · Foto: Herreros și colab. · CC BY 4.0 · Wikimedia Commons</a:t>
            </a:r>
            <a:endParaRPr lang="en-US" sz="850" dirty="0"/>
          </a:p>
        </p:txBody>
      </p:sp>
      <p:sp>
        <p:nvSpPr>
          <p:cNvPr id="6" name="Text 3"/>
          <p:cNvSpPr/>
          <p:nvPr/>
        </p:nvSpPr>
        <p:spPr>
          <a:xfrm>
            <a:off x="4846320" y="1508760"/>
            <a:ext cx="2743200" cy="1097280"/>
          </a:xfrm>
          <a:prstGeom prst="rect">
            <a:avLst/>
          </a:prstGeom>
          <a:noFill/>
          <a:ln/>
        </p:spPr>
        <p:txBody>
          <a:bodyPr wrap="square" lIns="0" tIns="0" rIns="0" bIns="0" rtlCol="0" anchor="ctr"/>
          <a:lstStyle/>
          <a:p>
            <a:pPr indent="0" marL="0">
              <a:buNone/>
            </a:pPr>
            <a:r>
              <a:rPr lang="en-US" sz="6600" b="1" dirty="0">
                <a:solidFill>
                  <a:srgbClr val="FF4757"/>
                </a:solidFill>
                <a:latin typeface="Palatino Linotype" pitchFamily="34" charset="0"/>
                <a:ea typeface="Palatino Linotype" pitchFamily="34" charset="-122"/>
                <a:cs typeface="Palatino Linotype" pitchFamily="34" charset="-120"/>
              </a:rPr>
              <a:t>46,3</a:t>
            </a:r>
            <a:endParaRPr lang="en-US" sz="6600" dirty="0"/>
          </a:p>
        </p:txBody>
      </p:sp>
      <p:sp>
        <p:nvSpPr>
          <p:cNvPr id="7" name="Text 4"/>
          <p:cNvSpPr/>
          <p:nvPr/>
        </p:nvSpPr>
        <p:spPr>
          <a:xfrm>
            <a:off x="7589520" y="1600200"/>
            <a:ext cx="4023360" cy="114300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cazuri notificate la 100 000 de locuitori (8 825 de cazuri); media UE/SEE: 8,4. România: 23,1% din cazurile UE/SEE.</a:t>
            </a:r>
            <a:endParaRPr lang="en-US" sz="1500" dirty="0"/>
          </a:p>
        </p:txBody>
      </p:sp>
      <p:sp>
        <p:nvSpPr>
          <p:cNvPr id="8" name="Text 5"/>
          <p:cNvSpPr/>
          <p:nvPr/>
        </p:nvSpPr>
        <p:spPr>
          <a:xfrm>
            <a:off x="4846320" y="2788920"/>
            <a:ext cx="6766560" cy="68580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OMS estimează incidența reală la 60 (49–73): cazurile nedepistate continuă să transmită boala.</a:t>
            </a:r>
            <a:endParaRPr lang="en-US" sz="1550" dirty="0"/>
          </a:p>
        </p:txBody>
      </p:sp>
      <p:sp>
        <p:nvSpPr>
          <p:cNvPr id="9" name="Text 6"/>
          <p:cNvSpPr/>
          <p:nvPr/>
        </p:nvSpPr>
        <p:spPr>
          <a:xfrm>
            <a:off x="4846320" y="3566160"/>
            <a:ext cx="6766560" cy="960120"/>
          </a:xfrm>
          <a:prstGeom prst="rect">
            <a:avLst/>
          </a:prstGeom>
          <a:noFill/>
          <a:ln/>
        </p:spPr>
        <p:txBody>
          <a:bodyPr wrap="square" lIns="0" tIns="0" rIns="0" bIns="0" rtlCol="0" anchor="t"/>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Asistentul medical: </a:t>
            </a:r>
            <a:pPr indent="0" marL="0">
              <a:buNone/>
            </a:pPr>
            <a:r>
              <a:rPr lang="en-US" sz="1550" dirty="0">
                <a:solidFill>
                  <a:srgbClr val="FFFFFF"/>
                </a:solidFill>
                <a:latin typeface="Palatino Linotype" pitchFamily="34" charset="0"/>
                <a:ea typeface="Palatino Linotype" pitchFamily="34" charset="-122"/>
                <a:cs typeface="Palatino Linotype" pitchFamily="34" charset="-120"/>
              </a:rPr>
              <a:t>tratamentul sub observare directă, educația pacientului și a familiei, depistarea contacților, legătura cu direcția de sănătate publică.</a:t>
            </a:r>
            <a:endParaRPr lang="en-US" sz="1550" dirty="0"/>
          </a:p>
        </p:txBody>
      </p:sp>
      <p:sp>
        <p:nvSpPr>
          <p:cNvPr id="10" name="Shape 7"/>
          <p:cNvSpPr/>
          <p:nvPr/>
        </p:nvSpPr>
        <p:spPr>
          <a:xfrm>
            <a:off x="594360" y="548640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11" name="Text 8"/>
          <p:cNvSpPr/>
          <p:nvPr/>
        </p:nvSpPr>
        <p:spPr>
          <a:xfrm>
            <a:off x="822960" y="5486400"/>
            <a:ext cx="10607040" cy="777240"/>
          </a:xfrm>
          <a:prstGeom prst="rect">
            <a:avLst/>
          </a:prstGeom>
          <a:noFill/>
          <a:ln/>
        </p:spPr>
        <p:txBody>
          <a:bodyPr wrap="square" lIns="0" tIns="0" rIns="0" bIns="0" rtlCol="0" anchor="ctr"/>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HIV și hepatitele B și C: infecții cronice, adesea fără simptome. Prevenția: vaccinarea (hepatita B), testarea, tratamentul, siguranța actului medical; precauții standard, testare fără judecată, confidențialitate.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OMS–UNICEF · ACOPERIREA CU VACCIN RUJEOLIC · ROMÂNIA</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la 94% la 66%: rujeola s-a întors</a:t>
            </a:r>
            <a:endParaRPr lang="en-US" sz="3000" dirty="0"/>
          </a:p>
        </p:txBody>
      </p:sp>
      <p:sp>
        <p:nvSpPr>
          <p:cNvPr id="4" name="Shape 2"/>
          <p:cNvSpPr/>
          <p:nvPr/>
        </p:nvSpPr>
        <p:spPr>
          <a:xfrm>
            <a:off x="914400" y="2633472"/>
            <a:ext cx="6583680" cy="356616"/>
          </a:xfrm>
          <a:prstGeom prst="rect">
            <a:avLst/>
          </a:prstGeom>
          <a:solidFill>
            <a:srgbClr val="F6E3E5"/>
          </a:solidFill>
          <a:ln w="12700">
            <a:solidFill>
              <a:srgbClr val="F6E3E5"/>
            </a:solidFill>
            <a:prstDash val="solid"/>
          </a:ln>
        </p:spPr>
        <p:txBody>
          <a:bodyPr/>
          <a:p/>
        </p:txBody>
      </p:sp>
      <p:sp>
        <p:nvSpPr>
          <p:cNvPr id="5" name="Text 3"/>
          <p:cNvSpPr/>
          <p:nvPr/>
        </p:nvSpPr>
        <p:spPr>
          <a:xfrm>
            <a:off x="4754880" y="2651760"/>
            <a:ext cx="2743200" cy="356616"/>
          </a:xfrm>
          <a:prstGeom prst="rect">
            <a:avLst/>
          </a:prstGeom>
          <a:noFill/>
          <a:ln/>
        </p:spPr>
        <p:txBody>
          <a:bodyPr wrap="square" lIns="0" tIns="0" rIns="0" bIns="0" rtlCol="0" anchor="ctr"/>
          <a:lstStyle/>
          <a:p>
            <a:pPr algn="r" indent="0" marL="0">
              <a:buNone/>
            </a:pPr>
            <a:r>
              <a:rPr lang="en-US" sz="1250" i="1" dirty="0">
                <a:solidFill>
                  <a:srgbClr val="B02532"/>
                </a:solidFill>
                <a:latin typeface="Palatino Linotype" pitchFamily="34" charset="0"/>
                <a:ea typeface="Palatino Linotype" pitchFamily="34" charset="-122"/>
                <a:cs typeface="Palatino Linotype" pitchFamily="34" charset="-120"/>
              </a:rPr>
              <a:t>focare posibile chiar la 85–90%</a:t>
            </a:r>
            <a:endParaRPr lang="en-US" sz="1250" dirty="0"/>
          </a:p>
        </p:txBody>
      </p:sp>
      <p:sp>
        <p:nvSpPr>
          <p:cNvPr id="6" name="Shape 4"/>
          <p:cNvSpPr/>
          <p:nvPr/>
        </p:nvSpPr>
        <p:spPr>
          <a:xfrm>
            <a:off x="914400" y="5486400"/>
            <a:ext cx="6583680" cy="5486"/>
          </a:xfrm>
          <a:prstGeom prst="rect">
            <a:avLst/>
          </a:prstGeom>
          <a:solidFill>
            <a:srgbClr val="DEDBD3"/>
          </a:solidFill>
          <a:ln/>
        </p:spPr>
        <p:txBody>
          <a:bodyPr/>
          <a:p/>
        </p:txBody>
      </p:sp>
      <p:sp>
        <p:nvSpPr>
          <p:cNvPr id="7" name="Text 5"/>
          <p:cNvSpPr/>
          <p:nvPr/>
        </p:nvSpPr>
        <p:spPr>
          <a:xfrm>
            <a:off x="274320" y="5358384"/>
            <a:ext cx="566928" cy="256032"/>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50%</a:t>
            </a:r>
            <a:endParaRPr lang="en-US" sz="1200" dirty="0"/>
          </a:p>
        </p:txBody>
      </p:sp>
      <p:sp>
        <p:nvSpPr>
          <p:cNvPr id="8" name="Shape 6"/>
          <p:cNvSpPr/>
          <p:nvPr/>
        </p:nvSpPr>
        <p:spPr>
          <a:xfrm>
            <a:off x="914400" y="4773168"/>
            <a:ext cx="6583680" cy="5486"/>
          </a:xfrm>
          <a:prstGeom prst="rect">
            <a:avLst/>
          </a:prstGeom>
          <a:solidFill>
            <a:srgbClr val="DEDBD3"/>
          </a:solidFill>
          <a:ln/>
        </p:spPr>
        <p:txBody>
          <a:bodyPr/>
          <a:p/>
        </p:txBody>
      </p:sp>
      <p:sp>
        <p:nvSpPr>
          <p:cNvPr id="9" name="Text 7"/>
          <p:cNvSpPr/>
          <p:nvPr/>
        </p:nvSpPr>
        <p:spPr>
          <a:xfrm>
            <a:off x="274320" y="4645152"/>
            <a:ext cx="566928" cy="256032"/>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60%</a:t>
            </a:r>
            <a:endParaRPr lang="en-US" sz="1200" dirty="0"/>
          </a:p>
        </p:txBody>
      </p:sp>
      <p:sp>
        <p:nvSpPr>
          <p:cNvPr id="10" name="Shape 8"/>
          <p:cNvSpPr/>
          <p:nvPr/>
        </p:nvSpPr>
        <p:spPr>
          <a:xfrm>
            <a:off x="914400" y="4059936"/>
            <a:ext cx="6583680" cy="5486"/>
          </a:xfrm>
          <a:prstGeom prst="rect">
            <a:avLst/>
          </a:prstGeom>
          <a:solidFill>
            <a:srgbClr val="DEDBD3"/>
          </a:solidFill>
          <a:ln/>
        </p:spPr>
        <p:txBody>
          <a:bodyPr/>
          <a:p/>
        </p:txBody>
      </p:sp>
      <p:sp>
        <p:nvSpPr>
          <p:cNvPr id="11" name="Shape 9"/>
          <p:cNvSpPr/>
          <p:nvPr/>
        </p:nvSpPr>
        <p:spPr>
          <a:xfrm>
            <a:off x="914400" y="3346704"/>
            <a:ext cx="6583680" cy="5486"/>
          </a:xfrm>
          <a:prstGeom prst="rect">
            <a:avLst/>
          </a:prstGeom>
          <a:solidFill>
            <a:srgbClr val="DEDBD3"/>
          </a:solidFill>
          <a:ln/>
        </p:spPr>
        <p:txBody>
          <a:bodyPr/>
          <a:p/>
        </p:txBody>
      </p:sp>
      <p:sp>
        <p:nvSpPr>
          <p:cNvPr id="12" name="Shape 10"/>
          <p:cNvSpPr/>
          <p:nvPr/>
        </p:nvSpPr>
        <p:spPr>
          <a:xfrm>
            <a:off x="914400" y="2633472"/>
            <a:ext cx="6583680" cy="5486"/>
          </a:xfrm>
          <a:prstGeom prst="rect">
            <a:avLst/>
          </a:prstGeom>
          <a:solidFill>
            <a:srgbClr val="DEDBD3"/>
          </a:solidFill>
          <a:ln/>
        </p:spPr>
        <p:txBody>
          <a:bodyPr/>
          <a:p/>
        </p:txBody>
      </p:sp>
      <p:sp>
        <p:nvSpPr>
          <p:cNvPr id="13" name="Text 11"/>
          <p:cNvSpPr/>
          <p:nvPr/>
        </p:nvSpPr>
        <p:spPr>
          <a:xfrm>
            <a:off x="274320" y="2505456"/>
            <a:ext cx="566928" cy="256032"/>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90%</a:t>
            </a:r>
            <a:endParaRPr lang="en-US" sz="1200" dirty="0"/>
          </a:p>
        </p:txBody>
      </p:sp>
      <p:sp>
        <p:nvSpPr>
          <p:cNvPr id="14" name="Shape 12"/>
          <p:cNvSpPr/>
          <p:nvPr/>
        </p:nvSpPr>
        <p:spPr>
          <a:xfrm>
            <a:off x="914400" y="1920240"/>
            <a:ext cx="6583680" cy="5486"/>
          </a:xfrm>
          <a:prstGeom prst="rect">
            <a:avLst/>
          </a:prstGeom>
          <a:solidFill>
            <a:srgbClr val="DEDBD3"/>
          </a:solidFill>
          <a:ln/>
        </p:spPr>
        <p:txBody>
          <a:bodyPr/>
          <a:p/>
        </p:txBody>
      </p:sp>
      <p:sp>
        <p:nvSpPr>
          <p:cNvPr id="15" name="Text 13"/>
          <p:cNvSpPr/>
          <p:nvPr/>
        </p:nvSpPr>
        <p:spPr>
          <a:xfrm>
            <a:off x="274320" y="1792224"/>
            <a:ext cx="566928" cy="256032"/>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100%</a:t>
            </a:r>
            <a:endParaRPr lang="en-US" sz="1200" dirty="0"/>
          </a:p>
        </p:txBody>
      </p:sp>
      <p:sp>
        <p:nvSpPr>
          <p:cNvPr id="16" name="Shape 14"/>
          <p:cNvSpPr/>
          <p:nvPr/>
        </p:nvSpPr>
        <p:spPr>
          <a:xfrm>
            <a:off x="914400" y="2276856"/>
            <a:ext cx="6583680" cy="914"/>
          </a:xfrm>
          <a:prstGeom prst="line">
            <a:avLst/>
          </a:prstGeom>
          <a:noFill/>
          <a:ln w="25400">
            <a:solidFill>
              <a:srgbClr val="0E7C6B"/>
            </a:solidFill>
            <a:prstDash val="dash"/>
          </a:ln>
        </p:spPr>
        <p:txBody>
          <a:bodyPr/>
          <a:p/>
        </p:txBody>
      </p:sp>
      <p:sp>
        <p:nvSpPr>
          <p:cNvPr id="17" name="Text 15"/>
          <p:cNvSpPr/>
          <p:nvPr/>
        </p:nvSpPr>
        <p:spPr>
          <a:xfrm>
            <a:off x="3931920" y="1947672"/>
            <a:ext cx="3566160" cy="274320"/>
          </a:xfrm>
          <a:prstGeom prst="rect">
            <a:avLst/>
          </a:prstGeom>
          <a:noFill/>
          <a:ln/>
        </p:spPr>
        <p:txBody>
          <a:bodyPr wrap="square" lIns="0" tIns="0" rIns="0" bIns="0" rtlCol="0" anchor="t"/>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ECDC: cel puțin 95%, cu două doze</a:t>
            </a:r>
            <a:endParaRPr lang="en-US" sz="1300" dirty="0"/>
          </a:p>
        </p:txBody>
      </p:sp>
      <p:sp>
        <p:nvSpPr>
          <p:cNvPr id="18" name="Text 16"/>
          <p:cNvSpPr/>
          <p:nvPr/>
        </p:nvSpPr>
        <p:spPr>
          <a:xfrm>
            <a:off x="2011680" y="5532120"/>
            <a:ext cx="73152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a:t>
            </a:r>
            <a:endParaRPr lang="en-US" sz="1300" dirty="0"/>
          </a:p>
        </p:txBody>
      </p:sp>
      <p:sp>
        <p:nvSpPr>
          <p:cNvPr id="19" name="Shape 17"/>
          <p:cNvSpPr/>
          <p:nvPr/>
        </p:nvSpPr>
        <p:spPr>
          <a:xfrm>
            <a:off x="1371600" y="2348179"/>
            <a:ext cx="1920240" cy="784555"/>
          </a:xfrm>
          <a:prstGeom prst="line">
            <a:avLst/>
          </a:prstGeom>
          <a:noFill/>
          <a:ln w="44450">
            <a:solidFill>
              <a:srgbClr val="B02532"/>
            </a:solidFill>
            <a:prstDash val="dash"/>
          </a:ln>
        </p:spPr>
        <p:txBody>
          <a:bodyPr/>
          <a:p/>
        </p:txBody>
      </p:sp>
      <p:sp>
        <p:nvSpPr>
          <p:cNvPr id="20" name="Shape 18"/>
          <p:cNvSpPr/>
          <p:nvPr/>
        </p:nvSpPr>
        <p:spPr>
          <a:xfrm>
            <a:off x="3291840" y="3132734"/>
            <a:ext cx="1234440" cy="356616"/>
          </a:xfrm>
          <a:prstGeom prst="line">
            <a:avLst/>
          </a:prstGeom>
          <a:noFill/>
          <a:ln w="44450">
            <a:solidFill>
              <a:srgbClr val="B02532"/>
            </a:solidFill>
            <a:prstDash val="solid"/>
          </a:ln>
        </p:spPr>
        <p:txBody>
          <a:bodyPr/>
          <a:p/>
        </p:txBody>
      </p:sp>
      <p:sp>
        <p:nvSpPr>
          <p:cNvPr id="21" name="Shape 19"/>
          <p:cNvSpPr/>
          <p:nvPr/>
        </p:nvSpPr>
        <p:spPr>
          <a:xfrm>
            <a:off x="4526280" y="3489350"/>
            <a:ext cx="1234440" cy="855878"/>
          </a:xfrm>
          <a:prstGeom prst="line">
            <a:avLst/>
          </a:prstGeom>
          <a:noFill/>
          <a:ln w="44450">
            <a:solidFill>
              <a:srgbClr val="B02532"/>
            </a:solidFill>
            <a:prstDash val="solid"/>
          </a:ln>
        </p:spPr>
        <p:txBody>
          <a:bodyPr/>
          <a:p/>
        </p:txBody>
      </p:sp>
      <p:sp>
        <p:nvSpPr>
          <p:cNvPr id="22" name="Shape 20"/>
          <p:cNvSpPr/>
          <p:nvPr/>
        </p:nvSpPr>
        <p:spPr>
          <a:xfrm>
            <a:off x="5760720" y="4345229"/>
            <a:ext cx="1234440" cy="914"/>
          </a:xfrm>
          <a:prstGeom prst="line">
            <a:avLst/>
          </a:prstGeom>
          <a:noFill/>
          <a:ln w="44450">
            <a:solidFill>
              <a:srgbClr val="B02532"/>
            </a:solidFill>
            <a:prstDash val="solid"/>
          </a:ln>
        </p:spPr>
        <p:txBody>
          <a:bodyPr/>
          <a:p/>
        </p:txBody>
      </p:sp>
      <p:sp>
        <p:nvSpPr>
          <p:cNvPr id="23" name="Shape 21"/>
          <p:cNvSpPr/>
          <p:nvPr/>
        </p:nvSpPr>
        <p:spPr>
          <a:xfrm>
            <a:off x="1289304" y="2265883"/>
            <a:ext cx="164592" cy="164592"/>
          </a:xfrm>
          <a:prstGeom prst="ellipse">
            <a:avLst/>
          </a:prstGeom>
          <a:solidFill>
            <a:srgbClr val="B02532"/>
          </a:solidFill>
          <a:ln w="12700">
            <a:solidFill>
              <a:srgbClr val="F6F5F2"/>
            </a:solidFill>
            <a:prstDash val="solid"/>
          </a:ln>
        </p:spPr>
        <p:txBody>
          <a:bodyPr/>
          <a:p/>
        </p:txBody>
      </p:sp>
      <p:sp>
        <p:nvSpPr>
          <p:cNvPr id="24" name="Text 22"/>
          <p:cNvSpPr/>
          <p:nvPr/>
        </p:nvSpPr>
        <p:spPr>
          <a:xfrm>
            <a:off x="960120" y="1964131"/>
            <a:ext cx="822960" cy="256032"/>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94%</a:t>
            </a:r>
            <a:endParaRPr lang="en-US" sz="1300" dirty="0"/>
          </a:p>
        </p:txBody>
      </p:sp>
      <p:sp>
        <p:nvSpPr>
          <p:cNvPr id="25" name="Shape 23"/>
          <p:cNvSpPr/>
          <p:nvPr/>
        </p:nvSpPr>
        <p:spPr>
          <a:xfrm>
            <a:off x="3209544" y="3050438"/>
            <a:ext cx="164592" cy="164592"/>
          </a:xfrm>
          <a:prstGeom prst="ellipse">
            <a:avLst/>
          </a:prstGeom>
          <a:solidFill>
            <a:srgbClr val="B02532"/>
          </a:solidFill>
          <a:ln w="12700">
            <a:solidFill>
              <a:srgbClr val="F6F5F2"/>
            </a:solidFill>
            <a:prstDash val="solid"/>
          </a:ln>
        </p:spPr>
        <p:txBody>
          <a:bodyPr/>
          <a:p/>
        </p:txBody>
      </p:sp>
      <p:sp>
        <p:nvSpPr>
          <p:cNvPr id="26" name="Text 24"/>
          <p:cNvSpPr/>
          <p:nvPr/>
        </p:nvSpPr>
        <p:spPr>
          <a:xfrm>
            <a:off x="2880360" y="2748686"/>
            <a:ext cx="822960" cy="256032"/>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83%</a:t>
            </a:r>
            <a:endParaRPr lang="en-US" sz="1300" dirty="0"/>
          </a:p>
        </p:txBody>
      </p:sp>
      <p:sp>
        <p:nvSpPr>
          <p:cNvPr id="27" name="Shape 25"/>
          <p:cNvSpPr/>
          <p:nvPr/>
        </p:nvSpPr>
        <p:spPr>
          <a:xfrm>
            <a:off x="4443984" y="3407054"/>
            <a:ext cx="164592" cy="164592"/>
          </a:xfrm>
          <a:prstGeom prst="ellipse">
            <a:avLst/>
          </a:prstGeom>
          <a:solidFill>
            <a:srgbClr val="B02532"/>
          </a:solidFill>
          <a:ln w="12700">
            <a:solidFill>
              <a:srgbClr val="F6F5F2"/>
            </a:solidFill>
            <a:prstDash val="solid"/>
          </a:ln>
        </p:spPr>
        <p:txBody>
          <a:bodyPr/>
          <a:p/>
        </p:txBody>
      </p:sp>
      <p:sp>
        <p:nvSpPr>
          <p:cNvPr id="28" name="Text 26"/>
          <p:cNvSpPr/>
          <p:nvPr/>
        </p:nvSpPr>
        <p:spPr>
          <a:xfrm>
            <a:off x="4114800" y="3105302"/>
            <a:ext cx="822960" cy="256032"/>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78%</a:t>
            </a:r>
            <a:endParaRPr lang="en-US" sz="1300" dirty="0"/>
          </a:p>
        </p:txBody>
      </p:sp>
      <p:sp>
        <p:nvSpPr>
          <p:cNvPr id="29" name="Shape 27"/>
          <p:cNvSpPr/>
          <p:nvPr/>
        </p:nvSpPr>
        <p:spPr>
          <a:xfrm>
            <a:off x="5678424" y="4262933"/>
            <a:ext cx="164592" cy="164592"/>
          </a:xfrm>
          <a:prstGeom prst="ellipse">
            <a:avLst/>
          </a:prstGeom>
          <a:solidFill>
            <a:srgbClr val="B02532"/>
          </a:solidFill>
          <a:ln w="12700">
            <a:solidFill>
              <a:srgbClr val="F6F5F2"/>
            </a:solidFill>
            <a:prstDash val="solid"/>
          </a:ln>
        </p:spPr>
        <p:txBody>
          <a:bodyPr/>
          <a:p/>
        </p:txBody>
      </p:sp>
      <p:sp>
        <p:nvSpPr>
          <p:cNvPr id="30" name="Text 28"/>
          <p:cNvSpPr/>
          <p:nvPr/>
        </p:nvSpPr>
        <p:spPr>
          <a:xfrm>
            <a:off x="5349240" y="4454957"/>
            <a:ext cx="822960" cy="256032"/>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66%</a:t>
            </a:r>
            <a:endParaRPr lang="en-US" sz="1300" dirty="0"/>
          </a:p>
        </p:txBody>
      </p:sp>
      <p:sp>
        <p:nvSpPr>
          <p:cNvPr id="31" name="Shape 29"/>
          <p:cNvSpPr/>
          <p:nvPr/>
        </p:nvSpPr>
        <p:spPr>
          <a:xfrm>
            <a:off x="6912864" y="4262933"/>
            <a:ext cx="164592" cy="164592"/>
          </a:xfrm>
          <a:prstGeom prst="ellipse">
            <a:avLst/>
          </a:prstGeom>
          <a:solidFill>
            <a:srgbClr val="B02532"/>
          </a:solidFill>
          <a:ln w="12700">
            <a:solidFill>
              <a:srgbClr val="F6F5F2"/>
            </a:solidFill>
            <a:prstDash val="solid"/>
          </a:ln>
        </p:spPr>
        <p:txBody>
          <a:bodyPr/>
          <a:p/>
        </p:txBody>
      </p:sp>
      <p:sp>
        <p:nvSpPr>
          <p:cNvPr id="32" name="Text 30"/>
          <p:cNvSpPr/>
          <p:nvPr/>
        </p:nvSpPr>
        <p:spPr>
          <a:xfrm>
            <a:off x="6583680" y="4454957"/>
            <a:ext cx="822960" cy="256032"/>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66%</a:t>
            </a:r>
            <a:endParaRPr lang="en-US" sz="1300" dirty="0"/>
          </a:p>
        </p:txBody>
      </p:sp>
      <p:sp>
        <p:nvSpPr>
          <p:cNvPr id="33" name="Shape 31"/>
          <p:cNvSpPr/>
          <p:nvPr/>
        </p:nvSpPr>
        <p:spPr>
          <a:xfrm>
            <a:off x="1005840" y="5897880"/>
            <a:ext cx="274320" cy="54864"/>
          </a:xfrm>
          <a:prstGeom prst="rect">
            <a:avLst/>
          </a:prstGeom>
          <a:solidFill>
            <a:srgbClr val="B02532"/>
          </a:solidFill>
          <a:ln/>
        </p:spPr>
        <p:txBody>
          <a:bodyPr/>
          <a:p/>
        </p:txBody>
      </p:sp>
      <p:sp>
        <p:nvSpPr>
          <p:cNvPr id="34" name="Text 32"/>
          <p:cNvSpPr/>
          <p:nvPr/>
        </p:nvSpPr>
        <p:spPr>
          <a:xfrm>
            <a:off x="1371600" y="5788152"/>
            <a:ext cx="15544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Prima doză</a:t>
            </a:r>
            <a:endParaRPr lang="en-US" sz="1300" dirty="0"/>
          </a:p>
        </p:txBody>
      </p:sp>
      <p:sp>
        <p:nvSpPr>
          <p:cNvPr id="35" name="Shape 33"/>
          <p:cNvSpPr/>
          <p:nvPr/>
        </p:nvSpPr>
        <p:spPr>
          <a:xfrm>
            <a:off x="1371600" y="2633472"/>
            <a:ext cx="1920240" cy="1355141"/>
          </a:xfrm>
          <a:prstGeom prst="line">
            <a:avLst/>
          </a:prstGeom>
          <a:noFill/>
          <a:ln w="44450">
            <a:solidFill>
              <a:srgbClr val="4A2D8C"/>
            </a:solidFill>
            <a:prstDash val="dash"/>
          </a:ln>
        </p:spPr>
        <p:txBody>
          <a:bodyPr/>
          <a:p/>
        </p:txBody>
      </p:sp>
      <p:sp>
        <p:nvSpPr>
          <p:cNvPr id="36" name="Shape 34"/>
          <p:cNvSpPr/>
          <p:nvPr/>
        </p:nvSpPr>
        <p:spPr>
          <a:xfrm>
            <a:off x="3291840" y="3988613"/>
            <a:ext cx="1234440" cy="641909"/>
          </a:xfrm>
          <a:prstGeom prst="line">
            <a:avLst/>
          </a:prstGeom>
          <a:noFill/>
          <a:ln w="44450">
            <a:solidFill>
              <a:srgbClr val="4A2D8C"/>
            </a:solidFill>
            <a:prstDash val="solid"/>
          </a:ln>
        </p:spPr>
        <p:txBody>
          <a:bodyPr/>
          <a:p/>
        </p:txBody>
      </p:sp>
      <p:sp>
        <p:nvSpPr>
          <p:cNvPr id="37" name="Shape 35"/>
          <p:cNvSpPr/>
          <p:nvPr/>
        </p:nvSpPr>
        <p:spPr>
          <a:xfrm flipV="1">
            <a:off x="4526280" y="4202582"/>
            <a:ext cx="1234440" cy="427939"/>
          </a:xfrm>
          <a:prstGeom prst="line">
            <a:avLst/>
          </a:prstGeom>
          <a:noFill/>
          <a:ln w="44450">
            <a:solidFill>
              <a:srgbClr val="4A2D8C"/>
            </a:solidFill>
            <a:prstDash val="solid"/>
          </a:ln>
        </p:spPr>
        <p:txBody>
          <a:bodyPr/>
          <a:p/>
        </p:txBody>
      </p:sp>
      <p:sp>
        <p:nvSpPr>
          <p:cNvPr id="38" name="Shape 36"/>
          <p:cNvSpPr/>
          <p:nvPr/>
        </p:nvSpPr>
        <p:spPr>
          <a:xfrm>
            <a:off x="5760720" y="4202582"/>
            <a:ext cx="1234440" cy="914"/>
          </a:xfrm>
          <a:prstGeom prst="line">
            <a:avLst/>
          </a:prstGeom>
          <a:noFill/>
          <a:ln w="44450">
            <a:solidFill>
              <a:srgbClr val="4A2D8C"/>
            </a:solidFill>
            <a:prstDash val="solid"/>
          </a:ln>
        </p:spPr>
        <p:txBody>
          <a:bodyPr/>
          <a:p/>
        </p:txBody>
      </p:sp>
      <p:sp>
        <p:nvSpPr>
          <p:cNvPr id="39" name="Shape 37"/>
          <p:cNvSpPr/>
          <p:nvPr/>
        </p:nvSpPr>
        <p:spPr>
          <a:xfrm>
            <a:off x="1289304" y="2551176"/>
            <a:ext cx="164592" cy="164592"/>
          </a:xfrm>
          <a:prstGeom prst="ellipse">
            <a:avLst/>
          </a:prstGeom>
          <a:solidFill>
            <a:srgbClr val="4A2D8C"/>
          </a:solidFill>
          <a:ln w="12700">
            <a:solidFill>
              <a:srgbClr val="F6F5F2"/>
            </a:solidFill>
            <a:prstDash val="solid"/>
          </a:ln>
        </p:spPr>
        <p:txBody>
          <a:bodyPr/>
          <a:p/>
        </p:txBody>
      </p:sp>
      <p:sp>
        <p:nvSpPr>
          <p:cNvPr id="40" name="Text 38"/>
          <p:cNvSpPr/>
          <p:nvPr/>
        </p:nvSpPr>
        <p:spPr>
          <a:xfrm>
            <a:off x="960120" y="2743200"/>
            <a:ext cx="822960" cy="256032"/>
          </a:xfrm>
          <a:prstGeom prst="rect">
            <a:avLst/>
          </a:prstGeom>
          <a:noFill/>
          <a:ln/>
        </p:spPr>
        <p:txBody>
          <a:bodyPr wrap="square" lIns="0" tIns="0" rIns="0" bIns="0" rtlCol="0" anchor="t"/>
          <a:lstStyle/>
          <a:p>
            <a:pPr algn="ctr" indent="0" marL="0">
              <a:buNone/>
            </a:pPr>
            <a:r>
              <a:rPr lang="en-US" sz="1300" b="1" dirty="0">
                <a:solidFill>
                  <a:srgbClr val="4A2D8C"/>
                </a:solidFill>
                <a:latin typeface="Palatino Linotype" pitchFamily="34" charset="0"/>
                <a:ea typeface="Palatino Linotype" pitchFamily="34" charset="-122"/>
                <a:cs typeface="Palatino Linotype" pitchFamily="34" charset="-120"/>
              </a:rPr>
              <a:t>90%</a:t>
            </a:r>
            <a:endParaRPr lang="en-US" sz="1300" dirty="0"/>
          </a:p>
        </p:txBody>
      </p:sp>
      <p:sp>
        <p:nvSpPr>
          <p:cNvPr id="41" name="Shape 39"/>
          <p:cNvSpPr/>
          <p:nvPr/>
        </p:nvSpPr>
        <p:spPr>
          <a:xfrm>
            <a:off x="3209544" y="3906317"/>
            <a:ext cx="164592" cy="164592"/>
          </a:xfrm>
          <a:prstGeom prst="ellipse">
            <a:avLst/>
          </a:prstGeom>
          <a:solidFill>
            <a:srgbClr val="4A2D8C"/>
          </a:solidFill>
          <a:ln w="12700">
            <a:solidFill>
              <a:srgbClr val="F6F5F2"/>
            </a:solidFill>
            <a:prstDash val="solid"/>
          </a:ln>
        </p:spPr>
        <p:txBody>
          <a:bodyPr/>
          <a:p/>
        </p:txBody>
      </p:sp>
      <p:sp>
        <p:nvSpPr>
          <p:cNvPr id="42" name="Text 40"/>
          <p:cNvSpPr/>
          <p:nvPr/>
        </p:nvSpPr>
        <p:spPr>
          <a:xfrm>
            <a:off x="2880360" y="4098341"/>
            <a:ext cx="822960" cy="256032"/>
          </a:xfrm>
          <a:prstGeom prst="rect">
            <a:avLst/>
          </a:prstGeom>
          <a:noFill/>
          <a:ln/>
        </p:spPr>
        <p:txBody>
          <a:bodyPr wrap="square" lIns="0" tIns="0" rIns="0" bIns="0" rtlCol="0" anchor="t"/>
          <a:lstStyle/>
          <a:p>
            <a:pPr algn="ctr" indent="0" marL="0">
              <a:buNone/>
            </a:pPr>
            <a:r>
              <a:rPr lang="en-US" sz="1300" b="1" dirty="0">
                <a:solidFill>
                  <a:srgbClr val="4A2D8C"/>
                </a:solidFill>
                <a:latin typeface="Palatino Linotype" pitchFamily="34" charset="0"/>
                <a:ea typeface="Palatino Linotype" pitchFamily="34" charset="-122"/>
                <a:cs typeface="Palatino Linotype" pitchFamily="34" charset="-120"/>
              </a:rPr>
              <a:t>71%</a:t>
            </a:r>
            <a:endParaRPr lang="en-US" sz="1300" dirty="0"/>
          </a:p>
        </p:txBody>
      </p:sp>
      <p:sp>
        <p:nvSpPr>
          <p:cNvPr id="43" name="Shape 41"/>
          <p:cNvSpPr/>
          <p:nvPr/>
        </p:nvSpPr>
        <p:spPr>
          <a:xfrm>
            <a:off x="4443984" y="4548226"/>
            <a:ext cx="164592" cy="164592"/>
          </a:xfrm>
          <a:prstGeom prst="ellipse">
            <a:avLst/>
          </a:prstGeom>
          <a:solidFill>
            <a:srgbClr val="4A2D8C"/>
          </a:solidFill>
          <a:ln w="12700">
            <a:solidFill>
              <a:srgbClr val="F6F5F2"/>
            </a:solidFill>
            <a:prstDash val="solid"/>
          </a:ln>
        </p:spPr>
        <p:txBody>
          <a:bodyPr/>
          <a:p/>
        </p:txBody>
      </p:sp>
      <p:sp>
        <p:nvSpPr>
          <p:cNvPr id="44" name="Text 42"/>
          <p:cNvSpPr/>
          <p:nvPr/>
        </p:nvSpPr>
        <p:spPr>
          <a:xfrm>
            <a:off x="4114800" y="4740250"/>
            <a:ext cx="822960" cy="256032"/>
          </a:xfrm>
          <a:prstGeom prst="rect">
            <a:avLst/>
          </a:prstGeom>
          <a:noFill/>
          <a:ln/>
        </p:spPr>
        <p:txBody>
          <a:bodyPr wrap="square" lIns="0" tIns="0" rIns="0" bIns="0" rtlCol="0" anchor="t"/>
          <a:lstStyle/>
          <a:p>
            <a:pPr algn="ctr" indent="0" marL="0">
              <a:buNone/>
            </a:pPr>
            <a:r>
              <a:rPr lang="en-US" sz="1300" b="1" dirty="0">
                <a:solidFill>
                  <a:srgbClr val="4A2D8C"/>
                </a:solidFill>
                <a:latin typeface="Palatino Linotype" pitchFamily="34" charset="0"/>
                <a:ea typeface="Palatino Linotype" pitchFamily="34" charset="-122"/>
                <a:cs typeface="Palatino Linotype" pitchFamily="34" charset="-120"/>
              </a:rPr>
              <a:t>62%</a:t>
            </a:r>
            <a:endParaRPr lang="en-US" sz="1300" dirty="0"/>
          </a:p>
        </p:txBody>
      </p:sp>
      <p:sp>
        <p:nvSpPr>
          <p:cNvPr id="45" name="Shape 43"/>
          <p:cNvSpPr/>
          <p:nvPr/>
        </p:nvSpPr>
        <p:spPr>
          <a:xfrm>
            <a:off x="5678424" y="4120286"/>
            <a:ext cx="164592" cy="164592"/>
          </a:xfrm>
          <a:prstGeom prst="ellipse">
            <a:avLst/>
          </a:prstGeom>
          <a:solidFill>
            <a:srgbClr val="4A2D8C"/>
          </a:solidFill>
          <a:ln w="12700">
            <a:solidFill>
              <a:srgbClr val="F6F5F2"/>
            </a:solidFill>
            <a:prstDash val="solid"/>
          </a:ln>
        </p:spPr>
        <p:txBody>
          <a:bodyPr/>
          <a:p/>
        </p:txBody>
      </p:sp>
      <p:sp>
        <p:nvSpPr>
          <p:cNvPr id="46" name="Text 44"/>
          <p:cNvSpPr/>
          <p:nvPr/>
        </p:nvSpPr>
        <p:spPr>
          <a:xfrm>
            <a:off x="5349240" y="3818534"/>
            <a:ext cx="822960" cy="256032"/>
          </a:xfrm>
          <a:prstGeom prst="rect">
            <a:avLst/>
          </a:prstGeom>
          <a:noFill/>
          <a:ln/>
        </p:spPr>
        <p:txBody>
          <a:bodyPr wrap="square" lIns="0" tIns="0" rIns="0" bIns="0" rtlCol="0" anchor="t"/>
          <a:lstStyle/>
          <a:p>
            <a:pPr algn="ctr" indent="0" marL="0">
              <a:buNone/>
            </a:pPr>
            <a:r>
              <a:rPr lang="en-US" sz="1300" b="1" dirty="0">
                <a:solidFill>
                  <a:srgbClr val="4A2D8C"/>
                </a:solidFill>
                <a:latin typeface="Palatino Linotype" pitchFamily="34" charset="0"/>
                <a:ea typeface="Palatino Linotype" pitchFamily="34" charset="-122"/>
                <a:cs typeface="Palatino Linotype" pitchFamily="34" charset="-120"/>
              </a:rPr>
              <a:t>68%</a:t>
            </a:r>
            <a:endParaRPr lang="en-US" sz="1300" dirty="0"/>
          </a:p>
        </p:txBody>
      </p:sp>
      <p:sp>
        <p:nvSpPr>
          <p:cNvPr id="47" name="Shape 45"/>
          <p:cNvSpPr/>
          <p:nvPr/>
        </p:nvSpPr>
        <p:spPr>
          <a:xfrm>
            <a:off x="6912864" y="4120286"/>
            <a:ext cx="164592" cy="164592"/>
          </a:xfrm>
          <a:prstGeom prst="ellipse">
            <a:avLst/>
          </a:prstGeom>
          <a:solidFill>
            <a:srgbClr val="4A2D8C"/>
          </a:solidFill>
          <a:ln w="12700">
            <a:solidFill>
              <a:srgbClr val="F6F5F2"/>
            </a:solidFill>
            <a:prstDash val="solid"/>
          </a:ln>
        </p:spPr>
        <p:txBody>
          <a:bodyPr/>
          <a:p/>
        </p:txBody>
      </p:sp>
      <p:sp>
        <p:nvSpPr>
          <p:cNvPr id="48" name="Text 46"/>
          <p:cNvSpPr/>
          <p:nvPr/>
        </p:nvSpPr>
        <p:spPr>
          <a:xfrm>
            <a:off x="6583680" y="3818534"/>
            <a:ext cx="822960" cy="256032"/>
          </a:xfrm>
          <a:prstGeom prst="rect">
            <a:avLst/>
          </a:prstGeom>
          <a:noFill/>
          <a:ln/>
        </p:spPr>
        <p:txBody>
          <a:bodyPr wrap="square" lIns="0" tIns="0" rIns="0" bIns="0" rtlCol="0" anchor="t"/>
          <a:lstStyle/>
          <a:p>
            <a:pPr algn="ctr" indent="0" marL="0">
              <a:buNone/>
            </a:pPr>
            <a:r>
              <a:rPr lang="en-US" sz="1300" b="1" dirty="0">
                <a:solidFill>
                  <a:srgbClr val="4A2D8C"/>
                </a:solidFill>
                <a:latin typeface="Palatino Linotype" pitchFamily="34" charset="0"/>
                <a:ea typeface="Palatino Linotype" pitchFamily="34" charset="-122"/>
                <a:cs typeface="Palatino Linotype" pitchFamily="34" charset="-120"/>
              </a:rPr>
              <a:t>68%</a:t>
            </a:r>
            <a:endParaRPr lang="en-US" sz="1300" dirty="0"/>
          </a:p>
        </p:txBody>
      </p:sp>
      <p:sp>
        <p:nvSpPr>
          <p:cNvPr id="49" name="Shape 47"/>
          <p:cNvSpPr/>
          <p:nvPr/>
        </p:nvSpPr>
        <p:spPr>
          <a:xfrm>
            <a:off x="3017520" y="5897880"/>
            <a:ext cx="274320" cy="54864"/>
          </a:xfrm>
          <a:prstGeom prst="rect">
            <a:avLst/>
          </a:prstGeom>
          <a:solidFill>
            <a:srgbClr val="4A2D8C"/>
          </a:solidFill>
          <a:ln/>
        </p:spPr>
        <p:txBody>
          <a:bodyPr/>
          <a:p/>
        </p:txBody>
      </p:sp>
      <p:sp>
        <p:nvSpPr>
          <p:cNvPr id="50" name="Text 48"/>
          <p:cNvSpPr/>
          <p:nvPr/>
        </p:nvSpPr>
        <p:spPr>
          <a:xfrm>
            <a:off x="3383280" y="5788152"/>
            <a:ext cx="1554480" cy="274320"/>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 doua doză</a:t>
            </a:r>
            <a:endParaRPr lang="en-US" sz="1300" dirty="0"/>
          </a:p>
        </p:txBody>
      </p:sp>
      <p:sp>
        <p:nvSpPr>
          <p:cNvPr id="51" name="Text 49"/>
          <p:cNvSpPr/>
          <p:nvPr/>
        </p:nvSpPr>
        <p:spPr>
          <a:xfrm>
            <a:off x="960120" y="5532120"/>
            <a:ext cx="822960" cy="256032"/>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2012</a:t>
            </a:r>
            <a:endParaRPr lang="en-US" sz="1300" dirty="0"/>
          </a:p>
        </p:txBody>
      </p:sp>
      <p:sp>
        <p:nvSpPr>
          <p:cNvPr id="52" name="Text 50"/>
          <p:cNvSpPr/>
          <p:nvPr/>
        </p:nvSpPr>
        <p:spPr>
          <a:xfrm>
            <a:off x="2880360" y="5532120"/>
            <a:ext cx="822960" cy="256032"/>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2022</a:t>
            </a:r>
            <a:endParaRPr lang="en-US" sz="1300" dirty="0"/>
          </a:p>
        </p:txBody>
      </p:sp>
      <p:sp>
        <p:nvSpPr>
          <p:cNvPr id="53" name="Text 51"/>
          <p:cNvSpPr/>
          <p:nvPr/>
        </p:nvSpPr>
        <p:spPr>
          <a:xfrm>
            <a:off x="4114800" y="5532120"/>
            <a:ext cx="822960" cy="256032"/>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2023</a:t>
            </a:r>
            <a:endParaRPr lang="en-US" sz="1300" dirty="0"/>
          </a:p>
        </p:txBody>
      </p:sp>
      <p:sp>
        <p:nvSpPr>
          <p:cNvPr id="54" name="Text 52"/>
          <p:cNvSpPr/>
          <p:nvPr/>
        </p:nvSpPr>
        <p:spPr>
          <a:xfrm>
            <a:off x="5349240" y="5532120"/>
            <a:ext cx="822960" cy="256032"/>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2024</a:t>
            </a:r>
            <a:endParaRPr lang="en-US" sz="1300" dirty="0"/>
          </a:p>
        </p:txBody>
      </p:sp>
      <p:sp>
        <p:nvSpPr>
          <p:cNvPr id="55" name="Text 53"/>
          <p:cNvSpPr/>
          <p:nvPr/>
        </p:nvSpPr>
        <p:spPr>
          <a:xfrm>
            <a:off x="6583680" y="5532120"/>
            <a:ext cx="822960" cy="256032"/>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2025</a:t>
            </a:r>
            <a:endParaRPr lang="en-US" sz="1300" dirty="0"/>
          </a:p>
        </p:txBody>
      </p:sp>
      <p:sp>
        <p:nvSpPr>
          <p:cNvPr id="56" name="Shape 54"/>
          <p:cNvSpPr/>
          <p:nvPr/>
        </p:nvSpPr>
        <p:spPr>
          <a:xfrm>
            <a:off x="8001000" y="1600200"/>
            <a:ext cx="3611880" cy="1417320"/>
          </a:xfrm>
          <a:prstGeom prst="roundRect">
            <a:avLst>
              <a:gd name="adj" fmla="val 5806"/>
            </a:avLst>
          </a:prstGeom>
          <a:solidFill>
            <a:srgbClr val="ECEAE4"/>
          </a:solidFill>
          <a:ln w="12700">
            <a:solidFill>
              <a:srgbClr val="ECEAE4"/>
            </a:solidFill>
            <a:prstDash val="solid"/>
          </a:ln>
        </p:spPr>
        <p:txBody>
          <a:bodyPr/>
          <a:p/>
        </p:txBody>
      </p:sp>
      <p:sp>
        <p:nvSpPr>
          <p:cNvPr id="57" name="Text 55"/>
          <p:cNvSpPr/>
          <p:nvPr/>
        </p:nvSpPr>
        <p:spPr>
          <a:xfrm>
            <a:off x="8229600" y="1691640"/>
            <a:ext cx="3200400" cy="1234440"/>
          </a:xfrm>
          <a:prstGeom prst="rect">
            <a:avLst/>
          </a:prstGeom>
          <a:noFill/>
          <a:ln/>
        </p:spPr>
        <p:txBody>
          <a:bodyPr wrap="square" lIns="0" tIns="0" rIns="0" bIns="0" rtlCol="0" anchor="t"/>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25 505</a:t>
            </a:r>
            <a:endParaRPr lang="en-US" sz="2800" dirty="0"/>
          </a:p>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cazuri raportate la OMS în 2024</a:t>
            </a:r>
            <a:endParaRPr lang="en-US" sz="2800" dirty="0"/>
          </a:p>
        </p:txBody>
      </p:sp>
      <p:sp>
        <p:nvSpPr>
          <p:cNvPr id="58" name="Shape 56"/>
          <p:cNvSpPr/>
          <p:nvPr/>
        </p:nvSpPr>
        <p:spPr>
          <a:xfrm>
            <a:off x="8001000" y="3154680"/>
            <a:ext cx="3611880" cy="1600200"/>
          </a:xfrm>
          <a:prstGeom prst="roundRect">
            <a:avLst>
              <a:gd name="adj" fmla="val 5143"/>
            </a:avLst>
          </a:prstGeom>
          <a:solidFill>
            <a:srgbClr val="ECEAE4"/>
          </a:solidFill>
          <a:ln w="12700">
            <a:solidFill>
              <a:srgbClr val="ECEAE4"/>
            </a:solidFill>
            <a:prstDash val="solid"/>
          </a:ln>
        </p:spPr>
        <p:txBody>
          <a:bodyPr/>
          <a:p/>
        </p:txBody>
      </p:sp>
      <p:sp>
        <p:nvSpPr>
          <p:cNvPr id="59" name="Text 57"/>
          <p:cNvSpPr/>
          <p:nvPr/>
        </p:nvSpPr>
        <p:spPr>
          <a:xfrm>
            <a:off x="8229600" y="3246120"/>
            <a:ext cx="3200400" cy="141732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30 692 de cazuri</a:t>
            </a:r>
            <a:endParaRPr lang="en-US" sz="2000" dirty="0"/>
          </a:p>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după ECDC, în 2024: România are 87% din cazurile UE/SEE; 22 de decese</a:t>
            </a:r>
            <a:endParaRPr lang="en-US" sz="2000" dirty="0"/>
          </a:p>
        </p:txBody>
      </p:sp>
      <p:sp>
        <p:nvSpPr>
          <p:cNvPr id="60" name="Shape 58"/>
          <p:cNvSpPr/>
          <p:nvPr/>
        </p:nvSpPr>
        <p:spPr>
          <a:xfrm>
            <a:off x="8001000" y="4892040"/>
            <a:ext cx="3611880" cy="1005840"/>
          </a:xfrm>
          <a:prstGeom prst="roundRect">
            <a:avLst>
              <a:gd name="adj" fmla="val 8182"/>
            </a:avLst>
          </a:prstGeom>
          <a:solidFill>
            <a:srgbClr val="ECEAE4"/>
          </a:solidFill>
          <a:ln w="12700">
            <a:solidFill>
              <a:srgbClr val="ECEAE4"/>
            </a:solidFill>
            <a:prstDash val="solid"/>
          </a:ln>
        </p:spPr>
        <p:txBody>
          <a:bodyPr/>
          <a:p/>
        </p:txBody>
      </p:sp>
      <p:sp>
        <p:nvSpPr>
          <p:cNvPr id="61" name="Text 59"/>
          <p:cNvSpPr/>
          <p:nvPr/>
        </p:nvSpPr>
        <p:spPr>
          <a:xfrm>
            <a:off x="8229600" y="4892040"/>
            <a:ext cx="3200400" cy="100584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6 837</a:t>
            </a:r>
            <a:pPr indent="0" marL="0">
              <a:buNone/>
            </a:pPr>
            <a:r>
              <a:rPr lang="en-US" sz="1400" dirty="0">
                <a:solidFill>
                  <a:srgbClr val="11121A"/>
                </a:solidFill>
                <a:latin typeface="Palatino Linotype" pitchFamily="34" charset="0"/>
                <a:ea typeface="Palatino Linotype" pitchFamily="34" charset="-122"/>
                <a:cs typeface="Palatino Linotype" pitchFamily="34" charset="-120"/>
              </a:rPr>
              <a:t>  cazuri în 2025</a:t>
            </a:r>
            <a:endParaRPr lang="en-US" sz="2400" dirty="0"/>
          </a:p>
        </p:txBody>
      </p:sp>
      <p:sp>
        <p:nvSpPr>
          <p:cNvPr id="62" name="Text 6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estimările OMS–UNICEF (registru A118); OMS (A117); ECDC (A119); pragul focarelor (A113). Diferența dintre sursele pentru 2024 nu este explicată.</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DOAMNA M., DUPĂ EXTERNARE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Controlul tensiunii după episodul neurologic, ca să nu urmeze un accident vascular cerebral, este prevenție…</a:t>
            </a:r>
            <a:endParaRPr lang="en-US" sz="2800" dirty="0"/>
          </a:p>
        </p:txBody>
      </p:sp>
      <p:sp>
        <p:nvSpPr>
          <p:cNvPr id="6" name="Shape 4"/>
          <p:cNvSpPr/>
          <p:nvPr/>
        </p:nvSpPr>
        <p:spPr>
          <a:xfrm>
            <a:off x="594360" y="219456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68680" y="2359152"/>
            <a:ext cx="420624" cy="420624"/>
          </a:xfrm>
          <a:prstGeom prst="ellipse">
            <a:avLst/>
          </a:prstGeom>
          <a:solidFill>
            <a:srgbClr val="FFC24B"/>
          </a:solidFill>
          <a:ln/>
        </p:spPr>
        <p:txBody>
          <a:bodyPr/>
          <a:p/>
        </p:txBody>
      </p:sp>
      <p:sp>
        <p:nvSpPr>
          <p:cNvPr id="8" name="Text 6"/>
          <p:cNvSpPr/>
          <p:nvPr/>
        </p:nvSpPr>
        <p:spPr>
          <a:xfrm>
            <a:off x="868680" y="23591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194560"/>
            <a:ext cx="982980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primară</a:t>
            </a:r>
            <a:endParaRPr lang="en-US" sz="2000" dirty="0"/>
          </a:p>
        </p:txBody>
      </p:sp>
      <p:sp>
        <p:nvSpPr>
          <p:cNvPr id="10" name="Shape 8"/>
          <p:cNvSpPr/>
          <p:nvPr/>
        </p:nvSpPr>
        <p:spPr>
          <a:xfrm>
            <a:off x="594360" y="310896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68680" y="3273552"/>
            <a:ext cx="420624" cy="420624"/>
          </a:xfrm>
          <a:prstGeom prst="ellipse">
            <a:avLst/>
          </a:prstGeom>
          <a:solidFill>
            <a:srgbClr val="FFC24B"/>
          </a:solidFill>
          <a:ln/>
        </p:spPr>
        <p:txBody>
          <a:bodyPr/>
          <a:p/>
        </p:txBody>
      </p:sp>
      <p:sp>
        <p:nvSpPr>
          <p:cNvPr id="12" name="Text 10"/>
          <p:cNvSpPr/>
          <p:nvPr/>
        </p:nvSpPr>
        <p:spPr>
          <a:xfrm>
            <a:off x="868680" y="3273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108960"/>
            <a:ext cx="982980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secundară</a:t>
            </a:r>
            <a:endParaRPr lang="en-US" sz="2000" dirty="0"/>
          </a:p>
        </p:txBody>
      </p:sp>
      <p:sp>
        <p:nvSpPr>
          <p:cNvPr id="14" name="Shape 12"/>
          <p:cNvSpPr/>
          <p:nvPr/>
        </p:nvSpPr>
        <p:spPr>
          <a:xfrm>
            <a:off x="594360" y="402336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68680" y="4187952"/>
            <a:ext cx="420624" cy="420624"/>
          </a:xfrm>
          <a:prstGeom prst="ellipse">
            <a:avLst/>
          </a:prstGeom>
          <a:solidFill>
            <a:srgbClr val="FFC24B"/>
          </a:solidFill>
          <a:ln/>
        </p:spPr>
        <p:txBody>
          <a:bodyPr/>
          <a:p/>
        </p:txBody>
      </p:sp>
      <p:sp>
        <p:nvSpPr>
          <p:cNvPr id="16" name="Text 14"/>
          <p:cNvSpPr/>
          <p:nvPr/>
        </p:nvSpPr>
        <p:spPr>
          <a:xfrm>
            <a:off x="868680" y="41879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023360"/>
            <a:ext cx="982980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terțiară</a:t>
            </a:r>
            <a:endParaRPr lang="en-US" sz="2000" dirty="0"/>
          </a:p>
        </p:txBody>
      </p:sp>
      <p:sp>
        <p:nvSpPr>
          <p:cNvPr id="18" name="Text 16"/>
          <p:cNvSpPr/>
          <p:nvPr/>
        </p:nvSpPr>
        <p:spPr>
          <a:xfrm>
            <a:off x="594360" y="5257800"/>
            <a:ext cx="10972800" cy="73152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Apoi, cu colegul de bancă: unde intră vaccinarea fiicei și testul Babeș-Papanicolau al mamei?</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GLOSARUL OMS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 Terțiară: boala există, îi limităm consecințele</a:t>
            </a:r>
            <a:endParaRPr lang="en-US" sz="2800" dirty="0"/>
          </a:p>
        </p:txBody>
      </p:sp>
      <p:sp>
        <p:nvSpPr>
          <p:cNvPr id="4" name="Shape 2"/>
          <p:cNvSpPr/>
          <p:nvPr/>
        </p:nvSpPr>
        <p:spPr>
          <a:xfrm>
            <a:off x="594360" y="1691640"/>
            <a:ext cx="3566160" cy="3063240"/>
          </a:xfrm>
          <a:prstGeom prst="roundRect">
            <a:avLst>
              <a:gd name="adj" fmla="val 2687"/>
            </a:avLst>
          </a:prstGeom>
          <a:solidFill>
            <a:srgbClr val="ECEAE4"/>
          </a:solidFill>
          <a:ln w="12700">
            <a:solidFill>
              <a:srgbClr val="ECEAE4"/>
            </a:solidFill>
            <a:prstDash val="solid"/>
          </a:ln>
        </p:spPr>
        <p:txBody>
          <a:bodyPr/>
          <a:p/>
        </p:txBody>
      </p:sp>
      <p:sp>
        <p:nvSpPr>
          <p:cNvPr id="5" name="Shape 3"/>
          <p:cNvSpPr/>
          <p:nvPr/>
        </p:nvSpPr>
        <p:spPr>
          <a:xfrm>
            <a:off x="594360" y="1691640"/>
            <a:ext cx="3566160" cy="82296"/>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74520"/>
            <a:ext cx="3108960" cy="365760"/>
          </a:xfrm>
          <a:prstGeom prst="rect">
            <a:avLst/>
          </a:prstGeom>
          <a:noFill/>
          <a:ln/>
        </p:spPr>
        <p:txBody>
          <a:bodyPr wrap="square" lIns="0" tIns="0" rIns="0" bIns="0" rtlCol="0" anchor="t"/>
          <a:lstStyle/>
          <a:p>
            <a:pPr indent="0" marL="0">
              <a:buNone/>
            </a:pPr>
            <a:r>
              <a:rPr lang="en-US" sz="1600" b="1" spc="200" kern="0" dirty="0">
                <a:solidFill>
                  <a:srgbClr val="0E7C6B"/>
                </a:solidFill>
                <a:latin typeface="Palatino Linotype" pitchFamily="34" charset="0"/>
                <a:ea typeface="Palatino Linotype" pitchFamily="34" charset="-122"/>
                <a:cs typeface="Palatino Linotype" pitchFamily="34" charset="-120"/>
              </a:rPr>
              <a:t>PRIMARĂ</a:t>
            </a:r>
            <a:endParaRPr lang="en-US" sz="1600" dirty="0"/>
          </a:p>
        </p:txBody>
      </p:sp>
      <p:sp>
        <p:nvSpPr>
          <p:cNvPr id="7" name="Text 5"/>
          <p:cNvSpPr/>
          <p:nvPr/>
        </p:nvSpPr>
        <p:spPr>
          <a:xfrm>
            <a:off x="822960" y="2286000"/>
            <a:ext cx="3108960" cy="6858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împiedică apariția bolii</a:t>
            </a:r>
            <a:endParaRPr lang="en-US" sz="1700" dirty="0"/>
          </a:p>
        </p:txBody>
      </p:sp>
      <p:sp>
        <p:nvSpPr>
          <p:cNvPr id="8" name="Text 6"/>
          <p:cNvSpPr/>
          <p:nvPr/>
        </p:nvSpPr>
        <p:spPr>
          <a:xfrm>
            <a:off x="822960" y="3017520"/>
            <a:ext cx="3108960" cy="164592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La doamna M.: Renunțarea la fumat, mai puțină sare, mișcare, vaccinarea HPV a fiicei</a:t>
            </a:r>
            <a:endParaRPr lang="en-US" sz="1500" dirty="0"/>
          </a:p>
        </p:txBody>
      </p:sp>
      <p:sp>
        <p:nvSpPr>
          <p:cNvPr id="9" name="Shape 7"/>
          <p:cNvSpPr/>
          <p:nvPr/>
        </p:nvSpPr>
        <p:spPr>
          <a:xfrm>
            <a:off x="4343400" y="1691640"/>
            <a:ext cx="3566160" cy="3063240"/>
          </a:xfrm>
          <a:prstGeom prst="roundRect">
            <a:avLst>
              <a:gd name="adj" fmla="val 2687"/>
            </a:avLst>
          </a:prstGeom>
          <a:solidFill>
            <a:srgbClr val="F9F8F5"/>
          </a:solidFill>
          <a:ln w="12700">
            <a:solidFill>
              <a:srgbClr val="F9F8F5"/>
            </a:solidFill>
            <a:prstDash val="solid"/>
          </a:ln>
        </p:spPr>
        <p:txBody>
          <a:bodyPr/>
          <a:p/>
        </p:txBody>
      </p:sp>
      <p:sp>
        <p:nvSpPr>
          <p:cNvPr id="10" name="Shape 8"/>
          <p:cNvSpPr/>
          <p:nvPr/>
        </p:nvSpPr>
        <p:spPr>
          <a:xfrm>
            <a:off x="4343400" y="1691640"/>
            <a:ext cx="3566160" cy="82296"/>
          </a:xfrm>
          <a:prstGeom prst="rect">
            <a:avLst/>
          </a:prstGeom>
          <a:solidFill>
            <a:srgbClr val="8A6100"/>
          </a:solidFill>
          <a:ln w="12700">
            <a:solidFill>
              <a:srgbClr val="8A6100"/>
            </a:solidFill>
            <a:prstDash val="solid"/>
          </a:ln>
        </p:spPr>
        <p:txBody>
          <a:bodyPr/>
          <a:p/>
        </p:txBody>
      </p:sp>
      <p:sp>
        <p:nvSpPr>
          <p:cNvPr id="11" name="Text 9"/>
          <p:cNvSpPr/>
          <p:nvPr/>
        </p:nvSpPr>
        <p:spPr>
          <a:xfrm>
            <a:off x="4572000" y="1874520"/>
            <a:ext cx="3108960" cy="365760"/>
          </a:xfrm>
          <a:prstGeom prst="rect">
            <a:avLst/>
          </a:prstGeom>
          <a:noFill/>
          <a:ln/>
        </p:spPr>
        <p:txBody>
          <a:bodyPr wrap="square" lIns="0" tIns="0" rIns="0" bIns="0" rtlCol="0" anchor="t"/>
          <a:lstStyle/>
          <a:p>
            <a:pPr indent="0" marL="0">
              <a:buNone/>
            </a:pPr>
            <a:r>
              <a:rPr lang="en-US" sz="1600" b="1" spc="200" kern="0" dirty="0">
                <a:solidFill>
                  <a:srgbClr val="8A6100"/>
                </a:solidFill>
                <a:latin typeface="Palatino Linotype" pitchFamily="34" charset="0"/>
                <a:ea typeface="Palatino Linotype" pitchFamily="34" charset="-122"/>
                <a:cs typeface="Palatino Linotype" pitchFamily="34" charset="-120"/>
              </a:rPr>
              <a:t>SECUNDARĂ</a:t>
            </a:r>
            <a:endParaRPr lang="en-US" sz="1600" dirty="0"/>
          </a:p>
        </p:txBody>
      </p:sp>
      <p:sp>
        <p:nvSpPr>
          <p:cNvPr id="12" name="Text 10"/>
          <p:cNvSpPr/>
          <p:nvPr/>
        </p:nvSpPr>
        <p:spPr>
          <a:xfrm>
            <a:off x="4572000" y="2286000"/>
            <a:ext cx="3108960" cy="6858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depistare precoce: screening, controale periodice</a:t>
            </a:r>
            <a:endParaRPr lang="en-US" sz="1700" dirty="0"/>
          </a:p>
        </p:txBody>
      </p:sp>
      <p:sp>
        <p:nvSpPr>
          <p:cNvPr id="13" name="Text 11"/>
          <p:cNvSpPr/>
          <p:nvPr/>
        </p:nvSpPr>
        <p:spPr>
          <a:xfrm>
            <a:off x="4572000" y="3017520"/>
            <a:ext cx="3108960" cy="1645920"/>
          </a:xfrm>
          <a:prstGeom prst="rect">
            <a:avLst/>
          </a:prstGeom>
          <a:noFill/>
          <a:ln/>
        </p:spPr>
        <p:txBody>
          <a:bodyPr wrap="square" lIns="0" tIns="0" rIns="0" bIns="0" rtlCol="0" anchor="t"/>
          <a:lstStyle/>
          <a:p>
            <a:pPr indent="0" marL="0">
              <a:buNone/>
            </a:pPr>
            <a:r>
              <a:rPr lang="en-US" sz="1400" dirty="0">
                <a:solidFill>
                  <a:srgbClr val="3A3C44"/>
                </a:solidFill>
                <a:latin typeface="Palatino Linotype" pitchFamily="34" charset="0"/>
                <a:ea typeface="Palatino Linotype" pitchFamily="34" charset="-122"/>
                <a:cs typeface="Palatino Linotype" pitchFamily="34" charset="-120"/>
              </a:rPr>
              <a:t>La doamna M.: testul Babeș-Papanicolau, înainte de cancerul invaziv; tensiunea măsurată: secundară pentru hipertensiune, primară pentru accidentul vascular (precizare didactică). Nivelul se stabilește față de o boală anume.</a:t>
            </a:r>
            <a:endParaRPr lang="en-US" sz="1500" dirty="0"/>
          </a:p>
        </p:txBody>
      </p:sp>
      <p:sp>
        <p:nvSpPr>
          <p:cNvPr id="14" name="Shape 12"/>
          <p:cNvSpPr/>
          <p:nvPr/>
        </p:nvSpPr>
        <p:spPr>
          <a:xfrm>
            <a:off x="8092440" y="1691640"/>
            <a:ext cx="3566160" cy="3063240"/>
          </a:xfrm>
          <a:prstGeom prst="roundRect">
            <a:avLst>
              <a:gd name="adj" fmla="val 2687"/>
            </a:avLst>
          </a:prstGeom>
          <a:solidFill>
            <a:srgbClr val="ECEAE4"/>
          </a:solidFill>
          <a:ln w="12700">
            <a:solidFill>
              <a:srgbClr val="ECEAE4"/>
            </a:solidFill>
            <a:prstDash val="solid"/>
          </a:ln>
        </p:spPr>
        <p:txBody>
          <a:bodyPr/>
          <a:p/>
        </p:txBody>
      </p:sp>
      <p:sp>
        <p:nvSpPr>
          <p:cNvPr id="15" name="Shape 13"/>
          <p:cNvSpPr/>
          <p:nvPr/>
        </p:nvSpPr>
        <p:spPr>
          <a:xfrm>
            <a:off x="8092440" y="1691640"/>
            <a:ext cx="3566160" cy="82296"/>
          </a:xfrm>
          <a:prstGeom prst="rect">
            <a:avLst/>
          </a:prstGeom>
          <a:solidFill>
            <a:srgbClr val="B02532"/>
          </a:solidFill>
          <a:ln w="12700">
            <a:solidFill>
              <a:srgbClr val="B02532"/>
            </a:solidFill>
            <a:prstDash val="solid"/>
          </a:ln>
        </p:spPr>
        <p:txBody>
          <a:bodyPr/>
          <a:p/>
        </p:txBody>
      </p:sp>
      <p:sp>
        <p:nvSpPr>
          <p:cNvPr id="16" name="Text 14"/>
          <p:cNvSpPr/>
          <p:nvPr/>
        </p:nvSpPr>
        <p:spPr>
          <a:xfrm>
            <a:off x="8321040" y="1874520"/>
            <a:ext cx="3108960" cy="365760"/>
          </a:xfrm>
          <a:prstGeom prst="rect">
            <a:avLst/>
          </a:prstGeom>
          <a:noFill/>
          <a:ln/>
        </p:spPr>
        <p:txBody>
          <a:bodyPr wrap="square" lIns="0" tIns="0" rIns="0" bIns="0" rtlCol="0" anchor="t"/>
          <a:lstStyle/>
          <a:p>
            <a:pPr indent="0" marL="0">
              <a:buNone/>
            </a:pPr>
            <a:r>
              <a:rPr lang="en-US" sz="1600" b="1" spc="200" kern="0" dirty="0">
                <a:solidFill>
                  <a:srgbClr val="B02532"/>
                </a:solidFill>
                <a:latin typeface="Palatino Linotype" pitchFamily="34" charset="0"/>
                <a:ea typeface="Palatino Linotype" pitchFamily="34" charset="-122"/>
                <a:cs typeface="Palatino Linotype" pitchFamily="34" charset="-120"/>
              </a:rPr>
              <a:t>TERȚIARĂ</a:t>
            </a:r>
            <a:endParaRPr lang="en-US" sz="1600" dirty="0"/>
          </a:p>
        </p:txBody>
      </p:sp>
      <p:sp>
        <p:nvSpPr>
          <p:cNvPr id="17" name="Text 15"/>
          <p:cNvSpPr/>
          <p:nvPr/>
        </p:nvSpPr>
        <p:spPr>
          <a:xfrm>
            <a:off x="8321040" y="2286000"/>
            <a:ext cx="3108960" cy="6858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managementul bolii și reabilitarea: mai puține agravări și complicații</a:t>
            </a:r>
            <a:endParaRPr lang="en-US" sz="1700" dirty="0"/>
          </a:p>
        </p:txBody>
      </p:sp>
      <p:sp>
        <p:nvSpPr>
          <p:cNvPr id="18" name="Text 16"/>
          <p:cNvSpPr/>
          <p:nvPr/>
        </p:nvSpPr>
        <p:spPr>
          <a:xfrm>
            <a:off x="8321040" y="3017520"/>
            <a:ext cx="3108960" cy="164592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La doamna M.: Controlul tensiunii după episod (în cardiologie, numit adesea prevenție secundară a accidentului vascular); recuperarea, dacă ar urma un accident vascular</a:t>
            </a:r>
            <a:endParaRPr lang="en-US" sz="1500" dirty="0"/>
          </a:p>
        </p:txBody>
      </p:sp>
      <p:sp>
        <p:nvSpPr>
          <p:cNvPr id="19" name="Text 17"/>
          <p:cNvSpPr/>
          <p:nvPr/>
        </p:nvSpPr>
        <p:spPr>
          <a:xfrm>
            <a:off x="594360" y="4983480"/>
            <a:ext cx="10972800" cy="91440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Prevenția primordială (la unii autori; precizare didactică) împiedică</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 apariția factorilor de risc: sare reglementată, tutun taxat, spații de mișcare; aproape de strategia populațională a lui Rose.</a:t>
            </a:r>
            <a:endParaRPr lang="en-US" sz="16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glosarul OMS de promovare a sănătății, 2021 (registru A800); Rose, în sinteza din 2018 (A751).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frotiu_citologie_cervicala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Frotiu cervical colorat Papanicolau, la microscop</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Adel.stoyanova · CC BY-SA 4.0 · Wikimedia Commons</a:t>
            </a:r>
            <a:endParaRPr lang="en-US" sz="850" dirty="0"/>
          </a:p>
        </p:txBody>
      </p:sp>
      <p:sp>
        <p:nvSpPr>
          <p:cNvPr id="6" name="Text 3"/>
          <p:cNvSpPr/>
          <p:nvPr/>
        </p:nvSpPr>
        <p:spPr>
          <a:xfrm>
            <a:off x="594360" y="347472"/>
            <a:ext cx="576072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ISTORIA NATURALĂ A BOLII · CDC</a:t>
            </a:r>
            <a:endParaRPr lang="en-US" sz="1300" dirty="0"/>
          </a:p>
        </p:txBody>
      </p:sp>
      <p:sp>
        <p:nvSpPr>
          <p:cNvPr id="7" name="Text 4"/>
          <p:cNvSpPr/>
          <p:nvPr/>
        </p:nvSpPr>
        <p:spPr>
          <a:xfrm>
            <a:off x="594360" y="731520"/>
            <a:ext cx="576072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Fereastra în care lucrează screeningul</a:t>
            </a:r>
            <a:endParaRPr lang="en-US" sz="2800" dirty="0"/>
          </a:p>
        </p:txBody>
      </p:sp>
      <p:sp>
        <p:nvSpPr>
          <p:cNvPr id="8" name="Shape 5"/>
          <p:cNvSpPr/>
          <p:nvPr/>
        </p:nvSpPr>
        <p:spPr>
          <a:xfrm>
            <a:off x="594360" y="1920240"/>
            <a:ext cx="1280160" cy="822960"/>
          </a:xfrm>
          <a:prstGeom prst="rect">
            <a:avLst/>
          </a:prstGeom>
          <a:solidFill>
            <a:srgbClr val="B5B2AA"/>
          </a:solidFill>
          <a:ln w="19050">
            <a:solidFill>
              <a:srgbClr val="F6F5F2"/>
            </a:solidFill>
            <a:prstDash val="solid"/>
          </a:ln>
        </p:spPr>
        <p:txBody>
          <a:bodyPr/>
          <a:p/>
        </p:txBody>
      </p:sp>
      <p:sp>
        <p:nvSpPr>
          <p:cNvPr id="9" name="Text 6"/>
          <p:cNvSpPr/>
          <p:nvPr/>
        </p:nvSpPr>
        <p:spPr>
          <a:xfrm>
            <a:off x="667512" y="1920240"/>
            <a:ext cx="1133856" cy="8229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Expunerea</a:t>
            </a:r>
            <a:endParaRPr lang="en-US" sz="1400" dirty="0"/>
          </a:p>
        </p:txBody>
      </p:sp>
      <p:sp>
        <p:nvSpPr>
          <p:cNvPr id="10" name="Shape 7"/>
          <p:cNvSpPr/>
          <p:nvPr/>
        </p:nvSpPr>
        <p:spPr>
          <a:xfrm>
            <a:off x="1874520" y="1920240"/>
            <a:ext cx="2743200" cy="822960"/>
          </a:xfrm>
          <a:prstGeom prst="rect">
            <a:avLst/>
          </a:prstGeom>
          <a:solidFill>
            <a:srgbClr val="8A6100"/>
          </a:solidFill>
          <a:ln w="19050">
            <a:solidFill>
              <a:srgbClr val="F6F5F2"/>
            </a:solidFill>
            <a:prstDash val="solid"/>
          </a:ln>
        </p:spPr>
        <p:txBody>
          <a:bodyPr/>
          <a:p/>
        </p:txBody>
      </p:sp>
      <p:sp>
        <p:nvSpPr>
          <p:cNvPr id="11" name="Text 8"/>
          <p:cNvSpPr/>
          <p:nvPr/>
        </p:nvSpPr>
        <p:spPr>
          <a:xfrm>
            <a:off x="1947672" y="1920240"/>
            <a:ext cx="25968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Boala subclinică, fără simptome</a:t>
            </a:r>
            <a:endParaRPr lang="en-US" sz="1400" dirty="0"/>
          </a:p>
          <a:p>
            <a:pPr algn="ctr" indent="0" marL="0">
              <a:spcBef>
                <a:spcPts val="600"/>
              </a:spcBef>
              <a:buNone/>
            </a:pPr>
            <a:r>
              <a:rPr lang="en-US" sz="1050" b="0" dirty="0">
                <a:solidFill>
                  <a:srgbClr val="FFFFFF"/>
                </a:solidFill>
                <a:latin typeface="Palatino Linotype" pitchFamily="34" charset="0"/>
                <a:ea typeface="Palatino Linotype" pitchFamily="34" charset="-122"/>
                <a:cs typeface="Palatino Linotype" pitchFamily="34" charset="-120"/>
              </a:rPr>
              <a:t>incubație (infecții), latență (boli cronice)</a:t>
            </a:r>
            <a:endParaRPr lang="en-US" sz="1400" dirty="0"/>
          </a:p>
        </p:txBody>
      </p:sp>
      <p:sp>
        <p:nvSpPr>
          <p:cNvPr id="12" name="Shape 9"/>
          <p:cNvSpPr/>
          <p:nvPr/>
        </p:nvSpPr>
        <p:spPr>
          <a:xfrm>
            <a:off x="4617720" y="1920240"/>
            <a:ext cx="1737360" cy="822960"/>
          </a:xfrm>
          <a:prstGeom prst="rect">
            <a:avLst/>
          </a:prstGeom>
          <a:solidFill>
            <a:srgbClr val="B02532"/>
          </a:solidFill>
          <a:ln w="19050">
            <a:solidFill>
              <a:srgbClr val="F6F5F2"/>
            </a:solidFill>
            <a:prstDash val="solid"/>
          </a:ln>
        </p:spPr>
        <p:txBody>
          <a:bodyPr/>
          <a:p/>
        </p:txBody>
      </p:sp>
      <p:sp>
        <p:nvSpPr>
          <p:cNvPr id="13" name="Text 10"/>
          <p:cNvSpPr/>
          <p:nvPr/>
        </p:nvSpPr>
        <p:spPr>
          <a:xfrm>
            <a:off x="4690872" y="1920240"/>
            <a:ext cx="159105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Boala clinică</a:t>
            </a:r>
            <a:endParaRPr lang="en-US" sz="1400" dirty="0"/>
          </a:p>
        </p:txBody>
      </p:sp>
      <p:sp>
        <p:nvSpPr>
          <p:cNvPr id="14" name="Shape 11"/>
          <p:cNvSpPr/>
          <p:nvPr/>
        </p:nvSpPr>
        <p:spPr>
          <a:xfrm>
            <a:off x="3108960" y="2788920"/>
            <a:ext cx="365760" cy="274320"/>
          </a:xfrm>
          <a:prstGeom prst="triangle">
            <a:avLst/>
          </a:prstGeom>
          <a:solidFill>
            <a:srgbClr val="8A6100"/>
          </a:solidFill>
          <a:ln w="12700">
            <a:solidFill>
              <a:srgbClr val="8A6100"/>
            </a:solidFill>
            <a:prstDash val="solid"/>
          </a:ln>
        </p:spPr>
        <p:txBody>
          <a:bodyPr/>
          <a:p/>
        </p:txBody>
      </p:sp>
      <p:sp>
        <p:nvSpPr>
          <p:cNvPr id="15" name="Text 12"/>
          <p:cNvSpPr/>
          <p:nvPr/>
        </p:nvSpPr>
        <p:spPr>
          <a:xfrm>
            <a:off x="2011680" y="3090672"/>
            <a:ext cx="2560320" cy="292608"/>
          </a:xfrm>
          <a:prstGeom prst="rect">
            <a:avLst/>
          </a:prstGeom>
          <a:noFill/>
          <a:ln/>
        </p:spPr>
        <p:txBody>
          <a:bodyPr wrap="square" lIns="0" tIns="0" rIns="0" bIns="0" rtlCol="0" anchor="t"/>
          <a:lstStyle/>
          <a:p>
            <a:pPr algn="ctr" indent="0" marL="0">
              <a:buNone/>
            </a:pPr>
            <a:r>
              <a:rPr lang="en-US" sz="1400" b="1" dirty="0">
                <a:solidFill>
                  <a:srgbClr val="8A6100"/>
                </a:solidFill>
                <a:latin typeface="Palatino Linotype" pitchFamily="34" charset="0"/>
                <a:ea typeface="Palatino Linotype" pitchFamily="34" charset="-122"/>
                <a:cs typeface="Palatino Linotype" pitchFamily="34" charset="-120"/>
              </a:rPr>
              <a:t>aici caută screeningul</a:t>
            </a:r>
            <a:endParaRPr lang="en-US" sz="1400" dirty="0"/>
          </a:p>
        </p:txBody>
      </p:sp>
      <p:sp>
        <p:nvSpPr>
          <p:cNvPr id="16" name="Shape 13"/>
          <p:cNvSpPr/>
          <p:nvPr/>
        </p:nvSpPr>
        <p:spPr>
          <a:xfrm>
            <a:off x="594360" y="3611880"/>
            <a:ext cx="5760720" cy="1463040"/>
          </a:xfrm>
          <a:prstGeom prst="roundRect">
            <a:avLst>
              <a:gd name="adj" fmla="val 5625"/>
            </a:avLst>
          </a:prstGeom>
          <a:solidFill>
            <a:srgbClr val="ECEAE4"/>
          </a:solidFill>
          <a:ln w="12700">
            <a:solidFill>
              <a:srgbClr val="ECEAE4"/>
            </a:solidFill>
            <a:prstDash val="solid"/>
          </a:ln>
        </p:spPr>
        <p:txBody>
          <a:bodyPr/>
          <a:p/>
        </p:txBody>
      </p:sp>
      <p:sp>
        <p:nvSpPr>
          <p:cNvPr id="17" name="Text 14"/>
          <p:cNvSpPr/>
          <p:nvPr/>
        </p:nvSpPr>
        <p:spPr>
          <a:xfrm>
            <a:off x="822960" y="3657600"/>
            <a:ext cx="5349240" cy="137160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Screeningul: identificarea prezumtivă a unei boli sau a unui defect nerecunoscute, prin teste, examinări sau alte proceduri aplicate rapid (Commission on Chronic Illness, 1951; în ghidul OMS Europa, 2020).</a:t>
            </a:r>
            <a:endParaRPr lang="en-US" sz="1550" dirty="0"/>
          </a:p>
        </p:txBody>
      </p:sp>
      <p:sp>
        <p:nvSpPr>
          <p:cNvPr id="18" name="Text 15"/>
          <p:cNvSpPr/>
          <p:nvPr/>
        </p:nvSpPr>
        <p:spPr>
          <a:xfrm>
            <a:off x="594360" y="5257800"/>
            <a:ext cx="576072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Nu pune diagnosticul: un rezultat pozitiv trimite la confirmare, iar unul negativ nu exclude boala.</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WILSON ȘI JUNGNER · OMS, 1968</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Zece criterii pentru un screening justificat</a:t>
            </a:r>
            <a:endParaRPr lang="en-US" sz="3000" dirty="0"/>
          </a:p>
        </p:txBody>
      </p:sp>
      <p:sp>
        <p:nvSpPr>
          <p:cNvPr id="4" name="Shape 2"/>
          <p:cNvSpPr/>
          <p:nvPr/>
        </p:nvSpPr>
        <p:spPr>
          <a:xfrm>
            <a:off x="594360" y="1600200"/>
            <a:ext cx="5440680" cy="585216"/>
          </a:xfrm>
          <a:prstGeom prst="roundRect">
            <a:avLst>
              <a:gd name="adj" fmla="val 14063"/>
            </a:avLst>
          </a:prstGeom>
          <a:solidFill>
            <a:srgbClr val="ECEAE4"/>
          </a:solidFill>
          <a:ln w="12700">
            <a:solidFill>
              <a:srgbClr val="ECEAE4"/>
            </a:solidFill>
            <a:prstDash val="solid"/>
          </a:ln>
        </p:spPr>
        <p:txBody>
          <a:bodyPr/>
          <a:p/>
        </p:txBody>
      </p:sp>
      <p:sp>
        <p:nvSpPr>
          <p:cNvPr id="5" name="Shape 3"/>
          <p:cNvSpPr/>
          <p:nvPr/>
        </p:nvSpPr>
        <p:spPr>
          <a:xfrm>
            <a:off x="731520" y="1682496"/>
            <a:ext cx="420624" cy="420624"/>
          </a:xfrm>
          <a:prstGeom prst="ellipse">
            <a:avLst/>
          </a:prstGeom>
          <a:solidFill>
            <a:srgbClr val="585A64"/>
          </a:solidFill>
          <a:ln/>
        </p:spPr>
        <p:txBody>
          <a:bodyPr/>
          <a:p/>
        </p:txBody>
      </p:sp>
      <p:sp>
        <p:nvSpPr>
          <p:cNvPr id="6" name="Text 4"/>
          <p:cNvSpPr/>
          <p:nvPr/>
        </p:nvSpPr>
        <p:spPr>
          <a:xfrm>
            <a:off x="731520"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25880" y="1600200"/>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O problemă de sănătate importantă</a:t>
            </a:r>
            <a:endParaRPr lang="en-US" sz="1450" dirty="0"/>
          </a:p>
        </p:txBody>
      </p:sp>
      <p:sp>
        <p:nvSpPr>
          <p:cNvPr id="8" name="Shape 6"/>
          <p:cNvSpPr/>
          <p:nvPr/>
        </p:nvSpPr>
        <p:spPr>
          <a:xfrm>
            <a:off x="594360" y="2295144"/>
            <a:ext cx="5440680" cy="585216"/>
          </a:xfrm>
          <a:prstGeom prst="roundRect">
            <a:avLst>
              <a:gd name="adj" fmla="val 14063"/>
            </a:avLst>
          </a:prstGeom>
          <a:solidFill>
            <a:srgbClr val="ECEAE4"/>
          </a:solidFill>
          <a:ln w="12700">
            <a:solidFill>
              <a:srgbClr val="ECEAE4"/>
            </a:solidFill>
            <a:prstDash val="solid"/>
          </a:ln>
        </p:spPr>
        <p:txBody>
          <a:bodyPr/>
          <a:p/>
        </p:txBody>
      </p:sp>
      <p:sp>
        <p:nvSpPr>
          <p:cNvPr id="9" name="Shape 7"/>
          <p:cNvSpPr/>
          <p:nvPr/>
        </p:nvSpPr>
        <p:spPr>
          <a:xfrm>
            <a:off x="731520" y="2377440"/>
            <a:ext cx="420624" cy="420624"/>
          </a:xfrm>
          <a:prstGeom prst="ellipse">
            <a:avLst/>
          </a:prstGeom>
          <a:solidFill>
            <a:srgbClr val="585A64"/>
          </a:solidFill>
          <a:ln/>
        </p:spPr>
        <p:txBody>
          <a:bodyPr/>
          <a:p/>
        </p:txBody>
      </p:sp>
      <p:sp>
        <p:nvSpPr>
          <p:cNvPr id="10" name="Text 8"/>
          <p:cNvSpPr/>
          <p:nvPr/>
        </p:nvSpPr>
        <p:spPr>
          <a:xfrm>
            <a:off x="731520" y="2377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25880" y="2295144"/>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Un tratament acceptat pentru boala recunoscută</a:t>
            </a:r>
            <a:endParaRPr lang="en-US" sz="1450" dirty="0"/>
          </a:p>
        </p:txBody>
      </p:sp>
      <p:sp>
        <p:nvSpPr>
          <p:cNvPr id="12" name="Shape 10"/>
          <p:cNvSpPr/>
          <p:nvPr/>
        </p:nvSpPr>
        <p:spPr>
          <a:xfrm>
            <a:off x="594360" y="2990088"/>
            <a:ext cx="5440680" cy="585216"/>
          </a:xfrm>
          <a:prstGeom prst="roundRect">
            <a:avLst>
              <a:gd name="adj" fmla="val 14063"/>
            </a:avLst>
          </a:prstGeom>
          <a:solidFill>
            <a:srgbClr val="ECEAE4"/>
          </a:solidFill>
          <a:ln w="12700">
            <a:solidFill>
              <a:srgbClr val="ECEAE4"/>
            </a:solidFill>
            <a:prstDash val="solid"/>
          </a:ln>
        </p:spPr>
        <p:txBody>
          <a:bodyPr/>
          <a:p/>
        </p:txBody>
      </p:sp>
      <p:sp>
        <p:nvSpPr>
          <p:cNvPr id="13" name="Shape 11"/>
          <p:cNvSpPr/>
          <p:nvPr/>
        </p:nvSpPr>
        <p:spPr>
          <a:xfrm>
            <a:off x="731520" y="3072384"/>
            <a:ext cx="420624" cy="420624"/>
          </a:xfrm>
          <a:prstGeom prst="ellipse">
            <a:avLst/>
          </a:prstGeom>
          <a:solidFill>
            <a:srgbClr val="585A64"/>
          </a:solidFill>
          <a:ln/>
        </p:spPr>
        <p:txBody>
          <a:bodyPr/>
          <a:p/>
        </p:txBody>
      </p:sp>
      <p:sp>
        <p:nvSpPr>
          <p:cNvPr id="14" name="Text 12"/>
          <p:cNvSpPr/>
          <p:nvPr/>
        </p:nvSpPr>
        <p:spPr>
          <a:xfrm>
            <a:off x="731520" y="3072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25880" y="2990088"/>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Mijloace de diagnostic și de tratament</a:t>
            </a:r>
            <a:endParaRPr lang="en-US" sz="1450" dirty="0"/>
          </a:p>
        </p:txBody>
      </p:sp>
      <p:sp>
        <p:nvSpPr>
          <p:cNvPr id="16" name="Shape 14"/>
          <p:cNvSpPr/>
          <p:nvPr/>
        </p:nvSpPr>
        <p:spPr>
          <a:xfrm>
            <a:off x="594360" y="3685032"/>
            <a:ext cx="5440680" cy="585216"/>
          </a:xfrm>
          <a:prstGeom prst="roundRect">
            <a:avLst>
              <a:gd name="adj" fmla="val 14063"/>
            </a:avLst>
          </a:prstGeom>
          <a:solidFill>
            <a:srgbClr val="ECEAE4"/>
          </a:solidFill>
          <a:ln w="12700">
            <a:solidFill>
              <a:srgbClr val="ECEAE4"/>
            </a:solidFill>
            <a:prstDash val="solid"/>
          </a:ln>
        </p:spPr>
        <p:txBody>
          <a:bodyPr/>
          <a:p/>
        </p:txBody>
      </p:sp>
      <p:sp>
        <p:nvSpPr>
          <p:cNvPr id="17" name="Shape 15"/>
          <p:cNvSpPr/>
          <p:nvPr/>
        </p:nvSpPr>
        <p:spPr>
          <a:xfrm>
            <a:off x="731520" y="3767328"/>
            <a:ext cx="420624" cy="420624"/>
          </a:xfrm>
          <a:prstGeom prst="ellipse">
            <a:avLst/>
          </a:prstGeom>
          <a:solidFill>
            <a:srgbClr val="585A64"/>
          </a:solidFill>
          <a:ln/>
        </p:spPr>
        <p:txBody>
          <a:bodyPr/>
          <a:p/>
        </p:txBody>
      </p:sp>
      <p:sp>
        <p:nvSpPr>
          <p:cNvPr id="18" name="Text 16"/>
          <p:cNvSpPr/>
          <p:nvPr/>
        </p:nvSpPr>
        <p:spPr>
          <a:xfrm>
            <a:off x="731520" y="3767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25880" y="3685032"/>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Un stadiu latent sau simptomatic precoce</a:t>
            </a:r>
            <a:endParaRPr lang="en-US" sz="1450" dirty="0"/>
          </a:p>
        </p:txBody>
      </p:sp>
      <p:sp>
        <p:nvSpPr>
          <p:cNvPr id="20" name="Shape 18"/>
          <p:cNvSpPr/>
          <p:nvPr/>
        </p:nvSpPr>
        <p:spPr>
          <a:xfrm>
            <a:off x="594360" y="4379976"/>
            <a:ext cx="5440680" cy="585216"/>
          </a:xfrm>
          <a:prstGeom prst="roundRect">
            <a:avLst>
              <a:gd name="adj" fmla="val 14063"/>
            </a:avLst>
          </a:prstGeom>
          <a:solidFill>
            <a:srgbClr val="ECEAE4"/>
          </a:solidFill>
          <a:ln w="12700">
            <a:solidFill>
              <a:srgbClr val="ECEAE4"/>
            </a:solidFill>
            <a:prstDash val="solid"/>
          </a:ln>
        </p:spPr>
        <p:txBody>
          <a:bodyPr/>
          <a:p/>
        </p:txBody>
      </p:sp>
      <p:sp>
        <p:nvSpPr>
          <p:cNvPr id="21" name="Shape 19"/>
          <p:cNvSpPr/>
          <p:nvPr/>
        </p:nvSpPr>
        <p:spPr>
          <a:xfrm>
            <a:off x="731520" y="4462272"/>
            <a:ext cx="420624" cy="420624"/>
          </a:xfrm>
          <a:prstGeom prst="ellipse">
            <a:avLst/>
          </a:prstGeom>
          <a:solidFill>
            <a:srgbClr val="585A64"/>
          </a:solidFill>
          <a:ln/>
        </p:spPr>
        <p:txBody>
          <a:bodyPr/>
          <a:p/>
        </p:txBody>
      </p:sp>
      <p:sp>
        <p:nvSpPr>
          <p:cNvPr id="22" name="Text 20"/>
          <p:cNvSpPr/>
          <p:nvPr/>
        </p:nvSpPr>
        <p:spPr>
          <a:xfrm>
            <a:off x="731520" y="44622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25880" y="4379976"/>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Un test sau o examinare potrivită</a:t>
            </a:r>
            <a:endParaRPr lang="en-US" sz="1450" dirty="0"/>
          </a:p>
        </p:txBody>
      </p:sp>
      <p:sp>
        <p:nvSpPr>
          <p:cNvPr id="24" name="Shape 22"/>
          <p:cNvSpPr/>
          <p:nvPr/>
        </p:nvSpPr>
        <p:spPr>
          <a:xfrm>
            <a:off x="6217920" y="1600200"/>
            <a:ext cx="5440680" cy="585216"/>
          </a:xfrm>
          <a:prstGeom prst="roundRect">
            <a:avLst>
              <a:gd name="adj" fmla="val 14063"/>
            </a:avLst>
          </a:prstGeom>
          <a:solidFill>
            <a:srgbClr val="F6E3E5"/>
          </a:solidFill>
          <a:ln w="12700">
            <a:solidFill>
              <a:srgbClr val="F6E3E5"/>
            </a:solidFill>
            <a:prstDash val="solid"/>
          </a:ln>
        </p:spPr>
        <p:txBody>
          <a:bodyPr/>
          <a:p/>
        </p:txBody>
      </p:sp>
      <p:sp>
        <p:nvSpPr>
          <p:cNvPr id="25" name="Shape 23"/>
          <p:cNvSpPr/>
          <p:nvPr/>
        </p:nvSpPr>
        <p:spPr>
          <a:xfrm>
            <a:off x="6355080" y="1682496"/>
            <a:ext cx="420624" cy="420624"/>
          </a:xfrm>
          <a:prstGeom prst="ellipse">
            <a:avLst/>
          </a:prstGeom>
          <a:solidFill>
            <a:srgbClr val="B02532"/>
          </a:solidFill>
          <a:ln/>
        </p:spPr>
        <p:txBody>
          <a:bodyPr/>
          <a:p/>
        </p:txBody>
      </p:sp>
      <p:sp>
        <p:nvSpPr>
          <p:cNvPr id="26" name="Text 24"/>
          <p:cNvSpPr/>
          <p:nvPr/>
        </p:nvSpPr>
        <p:spPr>
          <a:xfrm>
            <a:off x="6355080"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6949440" y="1600200"/>
            <a:ext cx="461772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Un test acceptabil pentru populație</a:t>
            </a:r>
            <a:endParaRPr lang="en-US" sz="1450" dirty="0"/>
          </a:p>
        </p:txBody>
      </p:sp>
      <p:sp>
        <p:nvSpPr>
          <p:cNvPr id="28" name="Shape 26"/>
          <p:cNvSpPr/>
          <p:nvPr/>
        </p:nvSpPr>
        <p:spPr>
          <a:xfrm>
            <a:off x="6217920" y="2295144"/>
            <a:ext cx="5440680" cy="585216"/>
          </a:xfrm>
          <a:prstGeom prst="roundRect">
            <a:avLst>
              <a:gd name="adj" fmla="val 14063"/>
            </a:avLst>
          </a:prstGeom>
          <a:solidFill>
            <a:srgbClr val="ECEAE4"/>
          </a:solidFill>
          <a:ln w="12700">
            <a:solidFill>
              <a:srgbClr val="ECEAE4"/>
            </a:solidFill>
            <a:prstDash val="solid"/>
          </a:ln>
        </p:spPr>
        <p:txBody>
          <a:bodyPr/>
          <a:p/>
        </p:txBody>
      </p:sp>
      <p:sp>
        <p:nvSpPr>
          <p:cNvPr id="29" name="Shape 27"/>
          <p:cNvSpPr/>
          <p:nvPr/>
        </p:nvSpPr>
        <p:spPr>
          <a:xfrm>
            <a:off x="6355080" y="2377440"/>
            <a:ext cx="420624" cy="420624"/>
          </a:xfrm>
          <a:prstGeom prst="ellipse">
            <a:avLst/>
          </a:prstGeom>
          <a:solidFill>
            <a:srgbClr val="585A64"/>
          </a:solidFill>
          <a:ln/>
        </p:spPr>
        <p:txBody>
          <a:bodyPr/>
          <a:p/>
        </p:txBody>
      </p:sp>
      <p:sp>
        <p:nvSpPr>
          <p:cNvPr id="30" name="Text 28"/>
          <p:cNvSpPr/>
          <p:nvPr/>
        </p:nvSpPr>
        <p:spPr>
          <a:xfrm>
            <a:off x="6355080" y="2377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31" name="Text 29"/>
          <p:cNvSpPr/>
          <p:nvPr/>
        </p:nvSpPr>
        <p:spPr>
          <a:xfrm>
            <a:off x="6949440" y="2295144"/>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Istoria naturală a bolii, bine înțeleasă</a:t>
            </a:r>
            <a:endParaRPr lang="en-US" sz="1450" dirty="0"/>
          </a:p>
        </p:txBody>
      </p:sp>
      <p:sp>
        <p:nvSpPr>
          <p:cNvPr id="32" name="Shape 30"/>
          <p:cNvSpPr/>
          <p:nvPr/>
        </p:nvSpPr>
        <p:spPr>
          <a:xfrm>
            <a:off x="6217920" y="2990088"/>
            <a:ext cx="5440680" cy="585216"/>
          </a:xfrm>
          <a:prstGeom prst="roundRect">
            <a:avLst>
              <a:gd name="adj" fmla="val 14063"/>
            </a:avLst>
          </a:prstGeom>
          <a:solidFill>
            <a:srgbClr val="F6E3E5"/>
          </a:solidFill>
          <a:ln w="12700">
            <a:solidFill>
              <a:srgbClr val="F6E3E5"/>
            </a:solidFill>
            <a:prstDash val="solid"/>
          </a:ln>
        </p:spPr>
        <p:txBody>
          <a:bodyPr/>
          <a:p/>
        </p:txBody>
      </p:sp>
      <p:sp>
        <p:nvSpPr>
          <p:cNvPr id="33" name="Shape 31"/>
          <p:cNvSpPr/>
          <p:nvPr/>
        </p:nvSpPr>
        <p:spPr>
          <a:xfrm>
            <a:off x="6355080" y="3072384"/>
            <a:ext cx="420624" cy="420624"/>
          </a:xfrm>
          <a:prstGeom prst="ellipse">
            <a:avLst/>
          </a:prstGeom>
          <a:solidFill>
            <a:srgbClr val="B02532"/>
          </a:solidFill>
          <a:ln/>
        </p:spPr>
        <p:txBody>
          <a:bodyPr/>
          <a:p/>
        </p:txBody>
      </p:sp>
      <p:sp>
        <p:nvSpPr>
          <p:cNvPr id="34" name="Text 32"/>
          <p:cNvSpPr/>
          <p:nvPr/>
        </p:nvSpPr>
        <p:spPr>
          <a:xfrm>
            <a:off x="6355080" y="3072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8</a:t>
            </a:r>
            <a:endParaRPr lang="en-US" sz="1400" dirty="0"/>
          </a:p>
        </p:txBody>
      </p:sp>
      <p:sp>
        <p:nvSpPr>
          <p:cNvPr id="35" name="Text 33"/>
          <p:cNvSpPr/>
          <p:nvPr/>
        </p:nvSpPr>
        <p:spPr>
          <a:xfrm>
            <a:off x="6949440" y="2990088"/>
            <a:ext cx="461772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O politică: cine este tratat ca pacient</a:t>
            </a:r>
            <a:endParaRPr lang="en-US" sz="1450" dirty="0"/>
          </a:p>
        </p:txBody>
      </p:sp>
      <p:sp>
        <p:nvSpPr>
          <p:cNvPr id="36" name="Shape 34"/>
          <p:cNvSpPr/>
          <p:nvPr/>
        </p:nvSpPr>
        <p:spPr>
          <a:xfrm>
            <a:off x="6217920" y="3685032"/>
            <a:ext cx="5440680" cy="585216"/>
          </a:xfrm>
          <a:prstGeom prst="roundRect">
            <a:avLst>
              <a:gd name="adj" fmla="val 14063"/>
            </a:avLst>
          </a:prstGeom>
          <a:solidFill>
            <a:srgbClr val="ECEAE4"/>
          </a:solidFill>
          <a:ln w="12700">
            <a:solidFill>
              <a:srgbClr val="ECEAE4"/>
            </a:solidFill>
            <a:prstDash val="solid"/>
          </a:ln>
        </p:spPr>
        <p:txBody>
          <a:bodyPr/>
          <a:p/>
        </p:txBody>
      </p:sp>
      <p:sp>
        <p:nvSpPr>
          <p:cNvPr id="37" name="Shape 35"/>
          <p:cNvSpPr/>
          <p:nvPr/>
        </p:nvSpPr>
        <p:spPr>
          <a:xfrm>
            <a:off x="6355080" y="3767328"/>
            <a:ext cx="420624" cy="420624"/>
          </a:xfrm>
          <a:prstGeom prst="ellipse">
            <a:avLst/>
          </a:prstGeom>
          <a:solidFill>
            <a:srgbClr val="585A64"/>
          </a:solidFill>
          <a:ln/>
        </p:spPr>
        <p:txBody>
          <a:bodyPr/>
          <a:p/>
        </p:txBody>
      </p:sp>
      <p:sp>
        <p:nvSpPr>
          <p:cNvPr id="38" name="Text 36"/>
          <p:cNvSpPr/>
          <p:nvPr/>
        </p:nvSpPr>
        <p:spPr>
          <a:xfrm>
            <a:off x="6355080" y="3767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9</a:t>
            </a:r>
            <a:endParaRPr lang="en-US" sz="1400" dirty="0"/>
          </a:p>
        </p:txBody>
      </p:sp>
      <p:sp>
        <p:nvSpPr>
          <p:cNvPr id="39" name="Text 37"/>
          <p:cNvSpPr/>
          <p:nvPr/>
        </p:nvSpPr>
        <p:spPr>
          <a:xfrm>
            <a:off x="6949440" y="3685032"/>
            <a:ext cx="461772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Un cost echilibrat față de cheltuielile de îngrijire</a:t>
            </a:r>
            <a:endParaRPr lang="en-US" sz="1450" dirty="0"/>
          </a:p>
        </p:txBody>
      </p:sp>
      <p:sp>
        <p:nvSpPr>
          <p:cNvPr id="40" name="Shape 38"/>
          <p:cNvSpPr/>
          <p:nvPr/>
        </p:nvSpPr>
        <p:spPr>
          <a:xfrm>
            <a:off x="6217920" y="4379976"/>
            <a:ext cx="5440680" cy="585216"/>
          </a:xfrm>
          <a:prstGeom prst="roundRect">
            <a:avLst>
              <a:gd name="adj" fmla="val 14063"/>
            </a:avLst>
          </a:prstGeom>
          <a:solidFill>
            <a:srgbClr val="F6E3E5"/>
          </a:solidFill>
          <a:ln w="12700">
            <a:solidFill>
              <a:srgbClr val="F6E3E5"/>
            </a:solidFill>
            <a:prstDash val="solid"/>
          </a:ln>
        </p:spPr>
        <p:txBody>
          <a:bodyPr/>
          <a:p/>
        </p:txBody>
      </p:sp>
      <p:sp>
        <p:nvSpPr>
          <p:cNvPr id="41" name="Shape 39"/>
          <p:cNvSpPr/>
          <p:nvPr/>
        </p:nvSpPr>
        <p:spPr>
          <a:xfrm>
            <a:off x="6355080" y="4462272"/>
            <a:ext cx="420624" cy="420624"/>
          </a:xfrm>
          <a:prstGeom prst="ellipse">
            <a:avLst/>
          </a:prstGeom>
          <a:solidFill>
            <a:srgbClr val="B02532"/>
          </a:solidFill>
          <a:ln/>
        </p:spPr>
        <p:txBody>
          <a:bodyPr/>
          <a:p/>
        </p:txBody>
      </p:sp>
      <p:sp>
        <p:nvSpPr>
          <p:cNvPr id="42" name="Text 40"/>
          <p:cNvSpPr/>
          <p:nvPr/>
        </p:nvSpPr>
        <p:spPr>
          <a:xfrm>
            <a:off x="6355080" y="44622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10</a:t>
            </a:r>
            <a:endParaRPr lang="en-US" sz="1400" dirty="0"/>
          </a:p>
        </p:txBody>
      </p:sp>
      <p:sp>
        <p:nvSpPr>
          <p:cNvPr id="43" name="Text 41"/>
          <p:cNvSpPr/>
          <p:nvPr/>
        </p:nvSpPr>
        <p:spPr>
          <a:xfrm>
            <a:off x="6949440" y="4379976"/>
            <a:ext cx="461772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Depistare continuă, nu „o dată pentru totdeauna”</a:t>
            </a:r>
            <a:endParaRPr lang="en-US" sz="1450" dirty="0"/>
          </a:p>
        </p:txBody>
      </p:sp>
      <p:sp>
        <p:nvSpPr>
          <p:cNvPr id="44" name="Text 42"/>
          <p:cNvSpPr/>
          <p:nvPr/>
        </p:nvSpPr>
        <p:spPr>
          <a:xfrm>
            <a:off x="594360" y="5166360"/>
            <a:ext cx="10972800" cy="86868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Col uterin: unele criterii par îndeplinite (importanța problemei, faza precanceroasă); pentru programul din România se judecă și testul acceptabil, mijloacele pentru cele cu rezultat pozitiv, continuitatea depistării.</a:t>
            </a:r>
            <a:endParaRPr lang="en-US" sz="1650" dirty="0"/>
          </a:p>
        </p:txBody>
      </p:sp>
      <p:sp>
        <p:nvSpPr>
          <p:cNvPr id="45" name="Text 4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Wilson și Jungner, OMS, 1968, în formularea ghidului OMS Europa, 2020 (registru A806).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TABERE, ACELEAȘI CRITERII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Depresia postpartum: o căutăm la toate mamele din comună?</a:t>
            </a:r>
            <a:endParaRPr lang="en-US" sz="3000" dirty="0"/>
          </a:p>
        </p:txBody>
      </p:sp>
      <p:sp>
        <p:nvSpPr>
          <p:cNvPr id="6" name="Shape 4"/>
          <p:cNvSpPr/>
          <p:nvPr/>
        </p:nvSpPr>
        <p:spPr>
          <a:xfrm>
            <a:off x="594360" y="1783080"/>
            <a:ext cx="10972800" cy="960120"/>
          </a:xfrm>
          <a:prstGeom prst="roundRect">
            <a:avLst>
              <a:gd name="adj" fmla="val 8571"/>
            </a:avLst>
          </a:prstGeom>
          <a:solidFill>
            <a:srgbClr val="272A38"/>
          </a:solidFill>
          <a:ln w="12700">
            <a:solidFill>
              <a:srgbClr val="272A38"/>
            </a:solidFill>
            <a:prstDash val="solid"/>
          </a:ln>
        </p:spPr>
        <p:txBody>
          <a:bodyPr/>
          <a:p/>
        </p:txBody>
      </p:sp>
      <p:sp>
        <p:nvSpPr>
          <p:cNvPr id="7" name="Text 5"/>
          <p:cNvSpPr/>
          <p:nvPr/>
        </p:nvSpPr>
        <p:spPr>
          <a:xfrm>
            <a:off x="868680" y="1783080"/>
            <a:ext cx="10424160" cy="960120"/>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Propunerea: asistentul medical comunitar aplică un chestionar tuturor mamelor, în primele săptămâni după naștere.</a:t>
            </a:r>
            <a:endParaRPr lang="en-US" sz="1700" dirty="0"/>
          </a:p>
        </p:txBody>
      </p:sp>
      <p:sp>
        <p:nvSpPr>
          <p:cNvPr id="8" name="Shape 6"/>
          <p:cNvSpPr/>
          <p:nvPr/>
        </p:nvSpPr>
        <p:spPr>
          <a:xfrm>
            <a:off x="594360" y="2971800"/>
            <a:ext cx="5394960" cy="1508760"/>
          </a:xfrm>
          <a:prstGeom prst="roundRect">
            <a:avLst>
              <a:gd name="adj" fmla="val 5455"/>
            </a:avLst>
          </a:prstGeom>
          <a:solidFill>
            <a:srgbClr val="27D3BE"/>
          </a:solidFill>
          <a:ln w="12700">
            <a:solidFill>
              <a:srgbClr val="27D3BE"/>
            </a:solidFill>
            <a:prstDash val="solid"/>
          </a:ln>
        </p:spPr>
        <p:txBody>
          <a:bodyPr/>
          <a:p/>
        </p:txBody>
      </p:sp>
      <p:sp>
        <p:nvSpPr>
          <p:cNvPr id="9" name="Text 7"/>
          <p:cNvSpPr/>
          <p:nvPr/>
        </p:nvSpPr>
        <p:spPr>
          <a:xfrm>
            <a:off x="868680" y="3108960"/>
            <a:ext cx="4846320" cy="320040"/>
          </a:xfrm>
          <a:prstGeom prst="rect">
            <a:avLst/>
          </a:prstGeom>
          <a:noFill/>
          <a:ln/>
        </p:spPr>
        <p:txBody>
          <a:bodyPr wrap="square" lIns="0" tIns="0" rIns="0" bIns="0" rtlCol="0" anchor="t"/>
          <a:lstStyle/>
          <a:p>
            <a:pPr indent="0" marL="0">
              <a:buNone/>
            </a:pPr>
            <a:r>
              <a:rPr lang="en-US" sz="1400" b="1" spc="200" kern="0" dirty="0">
                <a:solidFill>
                  <a:srgbClr val="073B34"/>
                </a:solidFill>
                <a:latin typeface="Palatino Linotype" pitchFamily="34" charset="0"/>
                <a:ea typeface="Palatino Linotype" pitchFamily="34" charset="-122"/>
                <a:cs typeface="Palatino Linotype" pitchFamily="34" charset="-120"/>
              </a:rPr>
              <a:t>TABĂRA DIN STÂNGA</a:t>
            </a:r>
            <a:endParaRPr lang="en-US" sz="1400" dirty="0"/>
          </a:p>
        </p:txBody>
      </p:sp>
      <p:sp>
        <p:nvSpPr>
          <p:cNvPr id="10" name="Text 8"/>
          <p:cNvSpPr/>
          <p:nvPr/>
        </p:nvSpPr>
        <p:spPr>
          <a:xfrm>
            <a:off x="868680" y="3474720"/>
            <a:ext cx="4846320" cy="86868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Argumente pentru program, din criteriile Wilson–Jungner</a:t>
            </a:r>
            <a:endParaRPr lang="en-US" sz="1800" dirty="0"/>
          </a:p>
        </p:txBody>
      </p:sp>
      <p:sp>
        <p:nvSpPr>
          <p:cNvPr id="11" name="Shape 9"/>
          <p:cNvSpPr/>
          <p:nvPr/>
        </p:nvSpPr>
        <p:spPr>
          <a:xfrm>
            <a:off x="6172200" y="2971800"/>
            <a:ext cx="5394960" cy="1508760"/>
          </a:xfrm>
          <a:prstGeom prst="roundRect">
            <a:avLst>
              <a:gd name="adj" fmla="val 5455"/>
            </a:avLst>
          </a:prstGeom>
          <a:solidFill>
            <a:srgbClr val="FF4757"/>
          </a:solidFill>
          <a:ln w="12700">
            <a:solidFill>
              <a:srgbClr val="FF4757"/>
            </a:solidFill>
            <a:prstDash val="solid"/>
          </a:ln>
        </p:spPr>
        <p:txBody>
          <a:bodyPr/>
          <a:p/>
        </p:txBody>
      </p:sp>
      <p:sp>
        <p:nvSpPr>
          <p:cNvPr id="12" name="Text 10"/>
          <p:cNvSpPr/>
          <p:nvPr/>
        </p:nvSpPr>
        <p:spPr>
          <a:xfrm>
            <a:off x="6446520" y="3108960"/>
            <a:ext cx="4846320" cy="320040"/>
          </a:xfrm>
          <a:prstGeom prst="rect">
            <a:avLst/>
          </a:prstGeom>
          <a:noFill/>
          <a:ln/>
        </p:spPr>
        <p:txBody>
          <a:bodyPr wrap="square" lIns="0" tIns="0" rIns="0" bIns="0" rtlCol="0" anchor="t"/>
          <a:lstStyle/>
          <a:p>
            <a:pPr indent="0" marL="0">
              <a:buNone/>
            </a:pPr>
            <a:r>
              <a:rPr lang="en-US" sz="1400" b="1" spc="200" kern="0" dirty="0">
                <a:solidFill>
                  <a:srgbClr val="2E060B"/>
                </a:solidFill>
                <a:latin typeface="Palatino Linotype" pitchFamily="34" charset="0"/>
                <a:ea typeface="Palatino Linotype" pitchFamily="34" charset="-122"/>
                <a:cs typeface="Palatino Linotype" pitchFamily="34" charset="-120"/>
              </a:rPr>
              <a:t>TABĂRA DIN DREAPTA</a:t>
            </a:r>
            <a:endParaRPr lang="en-US" sz="1400" dirty="0"/>
          </a:p>
        </p:txBody>
      </p:sp>
      <p:sp>
        <p:nvSpPr>
          <p:cNvPr id="13" name="Text 11"/>
          <p:cNvSpPr/>
          <p:nvPr/>
        </p:nvSpPr>
        <p:spPr>
          <a:xfrm>
            <a:off x="6446520" y="3474720"/>
            <a:ext cx="4846320" cy="868680"/>
          </a:xfrm>
          <a:prstGeom prst="rect">
            <a:avLst/>
          </a:prstGeom>
          <a:noFill/>
          <a:ln/>
        </p:spPr>
        <p:txBody>
          <a:bodyPr wrap="square" lIns="0" tIns="0" rIns="0" bIns="0" rtlCol="0" anchor="t"/>
          <a:lstStyle/>
          <a:p>
            <a:pPr indent="0" marL="0">
              <a:buNone/>
            </a:pPr>
            <a:r>
              <a:rPr lang="en-US" sz="1800" b="1" dirty="0">
                <a:solidFill>
                  <a:srgbClr val="2E060B"/>
                </a:solidFill>
                <a:latin typeface="Palatino Linotype" pitchFamily="34" charset="0"/>
                <a:ea typeface="Palatino Linotype" pitchFamily="34" charset="-122"/>
                <a:cs typeface="Palatino Linotype" pitchFamily="34" charset="-120"/>
              </a:rPr>
              <a:t>Argumente împotriva programului, din aceleași criterii</a:t>
            </a:r>
            <a:endParaRPr lang="en-US" sz="1800" dirty="0"/>
          </a:p>
        </p:txBody>
      </p:sp>
      <p:sp>
        <p:nvSpPr>
          <p:cNvPr id="14" name="Text 12"/>
          <p:cNvSpPr/>
          <p:nvPr/>
        </p:nvSpPr>
        <p:spPr>
          <a:xfrm>
            <a:off x="594360" y="4800600"/>
            <a:ext cx="10972800" cy="7315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Trei minute de pregătire · doi purtători de cuvânt pe tabără · apoi votul sălii: pornit acum, amânat sau regândit.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TEST IPOTETIC · SENSIBILITATE 90%, SPECIFICITATE 90%</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Același test, două populații</a:t>
            </a:r>
            <a:endParaRPr lang="en-US" sz="3000" dirty="0"/>
          </a:p>
        </p:txBody>
      </p:sp>
      <p:sp>
        <p:nvSpPr>
          <p:cNvPr id="4" name="Shape 2"/>
          <p:cNvSpPr/>
          <p:nvPr/>
        </p:nvSpPr>
        <p:spPr>
          <a:xfrm>
            <a:off x="594360" y="1645920"/>
            <a:ext cx="4023360" cy="1078992"/>
          </a:xfrm>
          <a:prstGeom prst="roundRect">
            <a:avLst>
              <a:gd name="adj" fmla="val 7627"/>
            </a:avLst>
          </a:prstGeom>
          <a:solidFill>
            <a:srgbClr val="ECEAE4"/>
          </a:solidFill>
          <a:ln w="12700">
            <a:solidFill>
              <a:srgbClr val="ECEAE4"/>
            </a:solidFill>
            <a:prstDash val="solid"/>
          </a:ln>
        </p:spPr>
        <p:txBody>
          <a:bodyPr/>
          <a:p/>
        </p:txBody>
      </p:sp>
      <p:sp>
        <p:nvSpPr>
          <p:cNvPr id="5" name="Text 3"/>
          <p:cNvSpPr/>
          <p:nvPr/>
        </p:nvSpPr>
        <p:spPr>
          <a:xfrm>
            <a:off x="777240" y="1645920"/>
            <a:ext cx="3657600" cy="1078992"/>
          </a:xfrm>
          <a:prstGeom prst="rect">
            <a:avLst/>
          </a:prstGeom>
          <a:noFill/>
          <a:ln/>
        </p:spPr>
        <p:txBody>
          <a:bodyPr wrap="square" lIns="0" tIns="0" rIns="0" bIns="0" rtlCol="0" anchor="ctr"/>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Sensibilitatea: proporția bolnavilor pe care testul îi identifică corect (test pozitiv); un test sensibil scapă puțini bolnavi.</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
            </a:r>
            <a:endParaRPr lang="en-US" sz="1450" dirty="0"/>
          </a:p>
        </p:txBody>
      </p:sp>
      <p:sp>
        <p:nvSpPr>
          <p:cNvPr id="6" name="Shape 4"/>
          <p:cNvSpPr/>
          <p:nvPr/>
        </p:nvSpPr>
        <p:spPr>
          <a:xfrm>
            <a:off x="594360" y="2852928"/>
            <a:ext cx="4023360" cy="1078992"/>
          </a:xfrm>
          <a:prstGeom prst="roundRect">
            <a:avLst>
              <a:gd name="adj" fmla="val 7627"/>
            </a:avLst>
          </a:prstGeom>
          <a:solidFill>
            <a:srgbClr val="ECEAE4"/>
          </a:solidFill>
          <a:ln w="12700">
            <a:solidFill>
              <a:srgbClr val="ECEAE4"/>
            </a:solidFill>
            <a:prstDash val="solid"/>
          </a:ln>
        </p:spPr>
        <p:txBody>
          <a:bodyPr/>
          <a:p/>
        </p:txBody>
      </p:sp>
      <p:sp>
        <p:nvSpPr>
          <p:cNvPr id="7" name="Text 5"/>
          <p:cNvSpPr/>
          <p:nvPr/>
        </p:nvSpPr>
        <p:spPr>
          <a:xfrm>
            <a:off x="777240" y="2852928"/>
            <a:ext cx="3657600" cy="1078992"/>
          </a:xfrm>
          <a:prstGeom prst="rect">
            <a:avLst/>
          </a:prstGeom>
          <a:noFill/>
          <a:ln/>
        </p:spPr>
        <p:txBody>
          <a:bodyPr wrap="square" lIns="0" tIns="0" rIns="0" bIns="0" rtlCol="0" anchor="ctr"/>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Specificitatea: proporția celor fără boală pe care testul îi identifică corect (test negativ); un test specific</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 dă puține rezultate fals pozitive.</a:t>
            </a:r>
            <a:endParaRPr lang="en-US" sz="1450" dirty="0"/>
          </a:p>
        </p:txBody>
      </p:sp>
      <p:sp>
        <p:nvSpPr>
          <p:cNvPr id="8" name="Shape 6"/>
          <p:cNvSpPr/>
          <p:nvPr/>
        </p:nvSpPr>
        <p:spPr>
          <a:xfrm>
            <a:off x="594360" y="4059936"/>
            <a:ext cx="4023360" cy="1078992"/>
          </a:xfrm>
          <a:prstGeom prst="roundRect">
            <a:avLst>
              <a:gd name="adj" fmla="val 7627"/>
            </a:avLst>
          </a:prstGeom>
          <a:solidFill>
            <a:srgbClr val="F6E3E5"/>
          </a:solidFill>
          <a:ln w="12700">
            <a:solidFill>
              <a:srgbClr val="F6E3E5"/>
            </a:solidFill>
            <a:prstDash val="solid"/>
          </a:ln>
        </p:spPr>
        <p:txBody>
          <a:bodyPr/>
          <a:p/>
        </p:txBody>
      </p:sp>
      <p:sp>
        <p:nvSpPr>
          <p:cNvPr id="9" name="Text 7"/>
          <p:cNvSpPr/>
          <p:nvPr/>
        </p:nvSpPr>
        <p:spPr>
          <a:xfrm>
            <a:off x="777240" y="4059936"/>
            <a:ext cx="3657600" cy="1078992"/>
          </a:xfrm>
          <a:prstGeom prst="rect">
            <a:avLst/>
          </a:prstGeom>
          <a:noFill/>
          <a:ln/>
        </p:spPr>
        <p:txBody>
          <a:bodyPr wrap="square" lIns="0" tIns="0" rIns="0" bIns="0" rtlCol="0" anchor="ctr"/>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Valoarea predictivă pozitivă: proporția celor cu test pozitiv care au într-adevăr boala.</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
            </a:r>
            <a:endParaRPr lang="en-US" sz="1450" dirty="0"/>
          </a:p>
        </p:txBody>
      </p:sp>
      <p:sp>
        <p:nvSpPr>
          <p:cNvPr id="10" name="Text 8"/>
          <p:cNvSpPr/>
          <p:nvPr/>
        </p:nvSpPr>
        <p:spPr>
          <a:xfrm>
            <a:off x="5029200" y="1828800"/>
            <a:ext cx="64008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Populația A: boala K la 100 din 1 000</a:t>
            </a:r>
            <a:endParaRPr lang="en-US" sz="1500" dirty="0"/>
          </a:p>
        </p:txBody>
      </p:sp>
      <p:sp>
        <p:nvSpPr>
          <p:cNvPr id="11" name="Shape 9"/>
          <p:cNvSpPr/>
          <p:nvPr/>
        </p:nvSpPr>
        <p:spPr>
          <a:xfrm>
            <a:off x="5029200" y="2240280"/>
            <a:ext cx="2286000" cy="685800"/>
          </a:xfrm>
          <a:prstGeom prst="rect">
            <a:avLst/>
          </a:prstGeom>
          <a:solidFill>
            <a:srgbClr val="0E7C6B"/>
          </a:solidFill>
          <a:ln w="12700">
            <a:solidFill>
              <a:srgbClr val="F6F5F2"/>
            </a:solidFill>
            <a:prstDash val="solid"/>
          </a:ln>
        </p:spPr>
        <p:txBody>
          <a:bodyPr/>
          <a:p/>
        </p:txBody>
      </p:sp>
      <p:sp>
        <p:nvSpPr>
          <p:cNvPr id="12" name="Shape 10"/>
          <p:cNvSpPr/>
          <p:nvPr/>
        </p:nvSpPr>
        <p:spPr>
          <a:xfrm>
            <a:off x="7315200" y="2240280"/>
            <a:ext cx="2286000" cy="685800"/>
          </a:xfrm>
          <a:prstGeom prst="rect">
            <a:avLst/>
          </a:prstGeom>
          <a:solidFill>
            <a:srgbClr val="FF4757"/>
          </a:solidFill>
          <a:ln w="12700">
            <a:solidFill>
              <a:srgbClr val="F6F5F2"/>
            </a:solidFill>
            <a:prstDash val="solid"/>
          </a:ln>
        </p:spPr>
        <p:txBody>
          <a:bodyPr/>
          <a:p/>
        </p:txBody>
      </p:sp>
      <p:sp>
        <p:nvSpPr>
          <p:cNvPr id="13" name="Text 11"/>
          <p:cNvSpPr/>
          <p:nvPr/>
        </p:nvSpPr>
        <p:spPr>
          <a:xfrm>
            <a:off x="5029200" y="2240280"/>
            <a:ext cx="22860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90</a:t>
            </a:r>
            <a:endParaRPr lang="en-US" sz="1500" dirty="0"/>
          </a:p>
        </p:txBody>
      </p:sp>
      <p:sp>
        <p:nvSpPr>
          <p:cNvPr id="14" name="Text 12"/>
          <p:cNvSpPr/>
          <p:nvPr/>
        </p:nvSpPr>
        <p:spPr>
          <a:xfrm>
            <a:off x="7315200" y="2240280"/>
            <a:ext cx="2286000" cy="68580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90</a:t>
            </a:r>
            <a:endParaRPr lang="en-US" sz="1500" dirty="0"/>
          </a:p>
        </p:txBody>
      </p:sp>
      <p:sp>
        <p:nvSpPr>
          <p:cNvPr id="15" name="Text 13"/>
          <p:cNvSpPr/>
          <p:nvPr/>
        </p:nvSpPr>
        <p:spPr>
          <a:xfrm>
            <a:off x="9784080" y="2148840"/>
            <a:ext cx="1463040" cy="86868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50%</a:t>
            </a:r>
            <a:endParaRPr lang="en-US" sz="3000" dirty="0"/>
          </a:p>
        </p:txBody>
      </p:sp>
      <p:sp>
        <p:nvSpPr>
          <p:cNvPr id="16" name="Text 14"/>
          <p:cNvSpPr/>
          <p:nvPr/>
        </p:nvSpPr>
        <p:spPr>
          <a:xfrm>
            <a:off x="5029200" y="3566160"/>
            <a:ext cx="64008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Populația B: boala K la 10 din 1 000</a:t>
            </a:r>
            <a:endParaRPr lang="en-US" sz="1500" dirty="0"/>
          </a:p>
        </p:txBody>
      </p:sp>
      <p:sp>
        <p:nvSpPr>
          <p:cNvPr id="17" name="Shape 15"/>
          <p:cNvSpPr/>
          <p:nvPr/>
        </p:nvSpPr>
        <p:spPr>
          <a:xfrm>
            <a:off x="5029200" y="3977640"/>
            <a:ext cx="228600" cy="685800"/>
          </a:xfrm>
          <a:prstGeom prst="rect">
            <a:avLst/>
          </a:prstGeom>
          <a:solidFill>
            <a:srgbClr val="0E7C6B"/>
          </a:solidFill>
          <a:ln w="12700">
            <a:solidFill>
              <a:srgbClr val="F6F5F2"/>
            </a:solidFill>
            <a:prstDash val="solid"/>
          </a:ln>
        </p:spPr>
        <p:txBody>
          <a:bodyPr/>
          <a:p/>
        </p:txBody>
      </p:sp>
      <p:sp>
        <p:nvSpPr>
          <p:cNvPr id="18" name="Shape 16"/>
          <p:cNvSpPr/>
          <p:nvPr/>
        </p:nvSpPr>
        <p:spPr>
          <a:xfrm>
            <a:off x="5257800" y="3977640"/>
            <a:ext cx="2514600" cy="685800"/>
          </a:xfrm>
          <a:prstGeom prst="rect">
            <a:avLst/>
          </a:prstGeom>
          <a:solidFill>
            <a:srgbClr val="FF4757"/>
          </a:solidFill>
          <a:ln w="12700">
            <a:solidFill>
              <a:srgbClr val="F6F5F2"/>
            </a:solidFill>
            <a:prstDash val="solid"/>
          </a:ln>
        </p:spPr>
        <p:txBody>
          <a:bodyPr/>
          <a:p/>
        </p:txBody>
      </p:sp>
      <p:sp>
        <p:nvSpPr>
          <p:cNvPr id="19" name="Text 17"/>
          <p:cNvSpPr/>
          <p:nvPr/>
        </p:nvSpPr>
        <p:spPr>
          <a:xfrm>
            <a:off x="4572000" y="3977640"/>
            <a:ext cx="384048" cy="685800"/>
          </a:xfrm>
          <a:prstGeom prst="rect">
            <a:avLst/>
          </a:prstGeom>
          <a:noFill/>
          <a:ln/>
        </p:spPr>
        <p:txBody>
          <a:bodyPr wrap="square" lIns="0" tIns="0" rIns="0" bIns="0" rtlCol="0" anchor="ctr"/>
          <a:lstStyle/>
          <a:p>
            <a:pPr algn="r" indent="0" marL="0">
              <a:buNone/>
            </a:pPr>
            <a:r>
              <a:rPr lang="en-US" sz="1500" b="1" dirty="0">
                <a:solidFill>
                  <a:srgbClr val="0E7C6B"/>
                </a:solidFill>
                <a:latin typeface="Palatino Linotype" pitchFamily="34" charset="0"/>
                <a:ea typeface="Palatino Linotype" pitchFamily="34" charset="-122"/>
                <a:cs typeface="Palatino Linotype" pitchFamily="34" charset="-120"/>
              </a:rPr>
              <a:t>9</a:t>
            </a:r>
            <a:endParaRPr lang="en-US" sz="1500" dirty="0"/>
          </a:p>
        </p:txBody>
      </p:sp>
      <p:sp>
        <p:nvSpPr>
          <p:cNvPr id="20" name="Text 18"/>
          <p:cNvSpPr/>
          <p:nvPr/>
        </p:nvSpPr>
        <p:spPr>
          <a:xfrm>
            <a:off x="5257800" y="3977640"/>
            <a:ext cx="2514600" cy="68580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99</a:t>
            </a:r>
            <a:endParaRPr lang="en-US" sz="1500" dirty="0"/>
          </a:p>
        </p:txBody>
      </p:sp>
      <p:sp>
        <p:nvSpPr>
          <p:cNvPr id="21" name="Text 19"/>
          <p:cNvSpPr/>
          <p:nvPr/>
        </p:nvSpPr>
        <p:spPr>
          <a:xfrm>
            <a:off x="7955280" y="3886200"/>
            <a:ext cx="1463040" cy="86868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8,3%</a:t>
            </a:r>
            <a:endParaRPr lang="en-US" sz="3000" dirty="0"/>
          </a:p>
        </p:txBody>
      </p:sp>
      <p:sp>
        <p:nvSpPr>
          <p:cNvPr id="22" name="Shape 20"/>
          <p:cNvSpPr/>
          <p:nvPr/>
        </p:nvSpPr>
        <p:spPr>
          <a:xfrm>
            <a:off x="5029200" y="5349240"/>
            <a:ext cx="274320" cy="182880"/>
          </a:xfrm>
          <a:prstGeom prst="rect">
            <a:avLst/>
          </a:prstGeom>
          <a:solidFill>
            <a:srgbClr val="0E7C6B"/>
          </a:solidFill>
          <a:ln/>
        </p:spPr>
        <p:txBody>
          <a:bodyPr/>
          <a:p/>
        </p:txBody>
      </p:sp>
      <p:sp>
        <p:nvSpPr>
          <p:cNvPr id="23" name="Text 21"/>
          <p:cNvSpPr/>
          <p:nvPr/>
        </p:nvSpPr>
        <p:spPr>
          <a:xfrm>
            <a:off x="5394960" y="5285232"/>
            <a:ext cx="2011680" cy="292608"/>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pozitivi bolnavi</a:t>
            </a:r>
            <a:endParaRPr lang="en-US" sz="1300" dirty="0"/>
          </a:p>
        </p:txBody>
      </p:sp>
      <p:sp>
        <p:nvSpPr>
          <p:cNvPr id="24" name="Shape 22"/>
          <p:cNvSpPr/>
          <p:nvPr/>
        </p:nvSpPr>
        <p:spPr>
          <a:xfrm>
            <a:off x="7498080" y="5349240"/>
            <a:ext cx="274320" cy="182880"/>
          </a:xfrm>
          <a:prstGeom prst="rect">
            <a:avLst/>
          </a:prstGeom>
          <a:solidFill>
            <a:srgbClr val="FF4757"/>
          </a:solidFill>
          <a:ln/>
        </p:spPr>
        <p:txBody>
          <a:bodyPr/>
          <a:p/>
        </p:txBody>
      </p:sp>
      <p:sp>
        <p:nvSpPr>
          <p:cNvPr id="25" name="Text 23"/>
          <p:cNvSpPr/>
          <p:nvPr/>
        </p:nvSpPr>
        <p:spPr>
          <a:xfrm>
            <a:off x="7863840" y="5285232"/>
            <a:ext cx="3291840" cy="292608"/>
          </a:xfrm>
          <a:prstGeom prst="rect">
            <a:avLst/>
          </a:prstGeom>
          <a:noFill/>
          <a:ln/>
        </p:spPr>
        <p:txBody>
          <a:bodyPr wrap="square" lIns="0" tIns="0" rIns="0" bIns="0" rtlCol="0" anchor="t"/>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pozitivi sănătoși (fals pozitivi)</a:t>
            </a:r>
            <a:endParaRPr lang="en-US" sz="1300" dirty="0"/>
          </a:p>
        </p:txBody>
      </p:sp>
      <p:sp>
        <p:nvSpPr>
          <p:cNvPr id="26" name="Text 24"/>
          <p:cNvSpPr/>
          <p:nvPr/>
        </p:nvSpPr>
        <p:spPr>
          <a:xfrm>
            <a:off x="594360" y="5669280"/>
            <a:ext cx="10972800" cy="640080"/>
          </a:xfrm>
          <a:prstGeom prst="rect">
            <a:avLst/>
          </a:prstGeom>
          <a:noFill/>
          <a:ln/>
        </p:spPr>
        <p:txBody>
          <a:bodyPr wrap="square" lIns="0" tIns="0" rIns="0" bIns="0" rtlCol="0" anchor="t"/>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Un rezultat pozitiv se confirmă prin investigații. Screeningul țintit pe grupurile cu risc: o proporție mai mică dintre pozitive sunt fals pozitive.</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RÂNDUL VOSTRU</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 treia populație: boala K la cincizeci de persoane</a:t>
            </a:r>
            <a:endParaRPr lang="en-US" sz="3000" dirty="0"/>
          </a:p>
        </p:txBody>
      </p:sp>
      <p:sp>
        <p:nvSpPr>
          <p:cNvPr id="6" name="Shape 4"/>
          <p:cNvSpPr/>
          <p:nvPr/>
        </p:nvSpPr>
        <p:spPr>
          <a:xfrm>
            <a:off x="594360" y="1783080"/>
            <a:ext cx="10972800" cy="868680"/>
          </a:xfrm>
          <a:prstGeom prst="roundRect">
            <a:avLst>
              <a:gd name="adj" fmla="val 9474"/>
            </a:avLst>
          </a:prstGeom>
          <a:solidFill>
            <a:srgbClr val="272A38"/>
          </a:solidFill>
          <a:ln w="12700">
            <a:solidFill>
              <a:srgbClr val="272A38"/>
            </a:solidFill>
            <a:prstDash val="solid"/>
          </a:ln>
        </p:spPr>
        <p:txBody>
          <a:bodyPr/>
          <a:p/>
        </p:txBody>
      </p:sp>
      <p:sp>
        <p:nvSpPr>
          <p:cNvPr id="7" name="Text 5"/>
          <p:cNvSpPr/>
          <p:nvPr/>
        </p:nvSpPr>
        <p:spPr>
          <a:xfrm>
            <a:off x="868680" y="1783080"/>
            <a:ext cx="1042416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Același test: sensibilitate 90%, specificitate 90%. O populație de 1 000 de persoane.</a:t>
            </a:r>
            <a:endParaRPr lang="en-US" sz="1800" dirty="0"/>
          </a:p>
        </p:txBody>
      </p:sp>
      <p:sp>
        <p:nvSpPr>
          <p:cNvPr id="8" name="Shape 6"/>
          <p:cNvSpPr/>
          <p:nvPr/>
        </p:nvSpPr>
        <p:spPr>
          <a:xfrm>
            <a:off x="594360" y="28803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9" name="Shape 7"/>
          <p:cNvSpPr/>
          <p:nvPr/>
        </p:nvSpPr>
        <p:spPr>
          <a:xfrm>
            <a:off x="868680" y="3035808"/>
            <a:ext cx="420624" cy="420624"/>
          </a:xfrm>
          <a:prstGeom prst="ellipse">
            <a:avLst/>
          </a:prstGeom>
          <a:solidFill>
            <a:srgbClr val="27D3BE"/>
          </a:solidFill>
          <a:ln/>
        </p:spPr>
        <p:txBody>
          <a:bodyPr/>
          <a:p/>
        </p:txBody>
      </p:sp>
      <p:sp>
        <p:nvSpPr>
          <p:cNvPr id="10" name="Text 8"/>
          <p:cNvSpPr/>
          <p:nvPr/>
        </p:nvSpPr>
        <p:spPr>
          <a:xfrm>
            <a:off x="868680" y="30358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508760" y="288036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Câte rezultate pozitive vor fi?</a:t>
            </a:r>
            <a:endParaRPr lang="en-US" sz="1900" dirty="0"/>
          </a:p>
        </p:txBody>
      </p:sp>
      <p:sp>
        <p:nvSpPr>
          <p:cNvPr id="12" name="Shape 10"/>
          <p:cNvSpPr/>
          <p:nvPr/>
        </p:nvSpPr>
        <p:spPr>
          <a:xfrm>
            <a:off x="594360" y="37490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3" name="Shape 11"/>
          <p:cNvSpPr/>
          <p:nvPr/>
        </p:nvSpPr>
        <p:spPr>
          <a:xfrm>
            <a:off x="868680" y="3904488"/>
            <a:ext cx="420624" cy="420624"/>
          </a:xfrm>
          <a:prstGeom prst="ellipse">
            <a:avLst/>
          </a:prstGeom>
          <a:solidFill>
            <a:srgbClr val="27D3BE"/>
          </a:solidFill>
          <a:ln/>
        </p:spPr>
        <p:txBody>
          <a:bodyPr/>
          <a:p/>
        </p:txBody>
      </p:sp>
      <p:sp>
        <p:nvSpPr>
          <p:cNvPr id="14" name="Text 12"/>
          <p:cNvSpPr/>
          <p:nvPr/>
        </p:nvSpPr>
        <p:spPr>
          <a:xfrm>
            <a:off x="868680" y="390448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1508760" y="374904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Câte dintre ele vor fi fals pozitive?</a:t>
            </a:r>
            <a:endParaRPr lang="en-US" sz="1900" dirty="0"/>
          </a:p>
        </p:txBody>
      </p:sp>
      <p:sp>
        <p:nvSpPr>
          <p:cNvPr id="16" name="Shape 14"/>
          <p:cNvSpPr/>
          <p:nvPr/>
        </p:nvSpPr>
        <p:spPr>
          <a:xfrm>
            <a:off x="594360" y="461772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7" name="Shape 15"/>
          <p:cNvSpPr/>
          <p:nvPr/>
        </p:nvSpPr>
        <p:spPr>
          <a:xfrm>
            <a:off x="868680" y="4773168"/>
            <a:ext cx="420624" cy="420624"/>
          </a:xfrm>
          <a:prstGeom prst="ellipse">
            <a:avLst/>
          </a:prstGeom>
          <a:solidFill>
            <a:srgbClr val="27D3BE"/>
          </a:solidFill>
          <a:ln/>
        </p:spPr>
        <p:txBody>
          <a:bodyPr/>
          <a:p/>
        </p:txBody>
      </p:sp>
      <p:sp>
        <p:nvSpPr>
          <p:cNvPr id="18" name="Text 16"/>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1508760" y="461772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Valoarea predictivă pozitivă: introduceți-o în Mentimeter.</a:t>
            </a:r>
            <a:endParaRPr lang="en-US" sz="1900" dirty="0"/>
          </a:p>
        </p:txBody>
      </p:sp>
      <p:sp>
        <p:nvSpPr>
          <p:cNvPr id="20" name="Text 18"/>
          <p:cNvSpPr/>
          <p:nvPr/>
        </p:nvSpPr>
        <p:spPr>
          <a:xfrm>
            <a:off x="594360" y="557784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Pe telefon sau pe hârtie, cu colegul de bancă. Calculul se reface apoi împreună.</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CALCULUL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pozitive din trei sunt fals pozitive</a:t>
            </a:r>
            <a:endParaRPr lang="en-US" sz="3000" dirty="0"/>
          </a:p>
        </p:txBody>
      </p:sp>
      <p:sp>
        <p:nvSpPr>
          <p:cNvPr id="4" name="Shape 2"/>
          <p:cNvSpPr/>
          <p:nvPr/>
        </p:nvSpPr>
        <p:spPr>
          <a:xfrm>
            <a:off x="594360" y="1920240"/>
            <a:ext cx="2351314" cy="914400"/>
          </a:xfrm>
          <a:prstGeom prst="rect">
            <a:avLst/>
          </a:prstGeom>
          <a:solidFill>
            <a:srgbClr val="0E7C6B"/>
          </a:solidFill>
          <a:ln w="12700">
            <a:solidFill>
              <a:srgbClr val="F6F5F2"/>
            </a:solidFill>
            <a:prstDash val="solid"/>
          </a:ln>
        </p:spPr>
        <p:txBody>
          <a:bodyPr/>
          <a:p/>
        </p:txBody>
      </p:sp>
      <p:sp>
        <p:nvSpPr>
          <p:cNvPr id="5" name="Shape 3"/>
          <p:cNvSpPr/>
          <p:nvPr/>
        </p:nvSpPr>
        <p:spPr>
          <a:xfrm>
            <a:off x="2945674" y="1920240"/>
            <a:ext cx="4963886" cy="914400"/>
          </a:xfrm>
          <a:prstGeom prst="rect">
            <a:avLst/>
          </a:prstGeom>
          <a:solidFill>
            <a:srgbClr val="FF4757"/>
          </a:solidFill>
          <a:ln w="12700">
            <a:solidFill>
              <a:srgbClr val="F6F5F2"/>
            </a:solidFill>
            <a:prstDash val="solid"/>
          </a:ln>
        </p:spPr>
        <p:txBody>
          <a:bodyPr/>
          <a:p/>
        </p:txBody>
      </p:sp>
      <p:sp>
        <p:nvSpPr>
          <p:cNvPr id="6" name="Text 4"/>
          <p:cNvSpPr/>
          <p:nvPr/>
        </p:nvSpPr>
        <p:spPr>
          <a:xfrm>
            <a:off x="594360" y="1920240"/>
            <a:ext cx="2351314"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Palatino Linotype" pitchFamily="34" charset="0"/>
                <a:ea typeface="Palatino Linotype" pitchFamily="34" charset="-122"/>
                <a:cs typeface="Palatino Linotype" pitchFamily="34" charset="-120"/>
              </a:rPr>
              <a:t>45</a:t>
            </a:r>
            <a:endParaRPr lang="en-US" sz="3000" dirty="0"/>
          </a:p>
        </p:txBody>
      </p:sp>
      <p:sp>
        <p:nvSpPr>
          <p:cNvPr id="7" name="Text 5"/>
          <p:cNvSpPr/>
          <p:nvPr/>
        </p:nvSpPr>
        <p:spPr>
          <a:xfrm>
            <a:off x="2945674" y="1920240"/>
            <a:ext cx="4963886" cy="914400"/>
          </a:xfrm>
          <a:prstGeom prst="rect">
            <a:avLst/>
          </a:prstGeom>
          <a:noFill/>
          <a:ln/>
        </p:spPr>
        <p:txBody>
          <a:bodyPr wrap="square" lIns="0" tIns="0" rIns="0" bIns="0" rtlCol="0" anchor="ctr"/>
          <a:lstStyle/>
          <a:p>
            <a:pPr algn="ctr" indent="0" marL="0">
              <a:buNone/>
            </a:pPr>
            <a:r>
              <a:rPr lang="en-US" sz="3000" b="1" dirty="0">
                <a:solidFill>
                  <a:srgbClr val="2E060B"/>
                </a:solidFill>
                <a:latin typeface="Palatino Linotype" pitchFamily="34" charset="0"/>
                <a:ea typeface="Palatino Linotype" pitchFamily="34" charset="-122"/>
                <a:cs typeface="Palatino Linotype" pitchFamily="34" charset="-120"/>
              </a:rPr>
              <a:t>95</a:t>
            </a:r>
            <a:endParaRPr lang="en-US" sz="3000" dirty="0"/>
          </a:p>
        </p:txBody>
      </p:sp>
      <p:sp>
        <p:nvSpPr>
          <p:cNvPr id="8" name="Text 6"/>
          <p:cNvSpPr/>
          <p:nvPr/>
        </p:nvSpPr>
        <p:spPr>
          <a:xfrm>
            <a:off x="594360" y="2926080"/>
            <a:ext cx="2240280" cy="10058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bolnavi cu test pozitiv: 90% din cincizeci</a:t>
            </a:r>
            <a:endParaRPr lang="en-US" sz="1500" dirty="0"/>
          </a:p>
        </p:txBody>
      </p:sp>
      <p:sp>
        <p:nvSpPr>
          <p:cNvPr id="9" name="Text 7"/>
          <p:cNvSpPr/>
          <p:nvPr/>
        </p:nvSpPr>
        <p:spPr>
          <a:xfrm>
            <a:off x="3128554" y="2926080"/>
            <a:ext cx="4754880" cy="73152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sănătoși cu test pozitiv: 10% din cei nouă sute cincizeci de sănătoși</a:t>
            </a:r>
            <a:endParaRPr lang="en-US" sz="1500" dirty="0"/>
          </a:p>
        </p:txBody>
      </p:sp>
      <p:sp>
        <p:nvSpPr>
          <p:cNvPr id="10" name="Text 8"/>
          <p:cNvSpPr/>
          <p:nvPr/>
        </p:nvSpPr>
        <p:spPr>
          <a:xfrm>
            <a:off x="8229600" y="1783080"/>
            <a:ext cx="3383280" cy="1188720"/>
          </a:xfrm>
          <a:prstGeom prst="rect">
            <a:avLst/>
          </a:prstGeom>
          <a:noFill/>
          <a:ln/>
        </p:spPr>
        <p:txBody>
          <a:bodyPr wrap="square" lIns="0" tIns="0" rIns="0" bIns="0" rtlCol="0" anchor="ctr"/>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aproximativ unul din trei</a:t>
            </a:r>
            <a:endParaRPr lang="en-US" sz="2800" dirty="0"/>
          </a:p>
        </p:txBody>
      </p:sp>
      <p:sp>
        <p:nvSpPr>
          <p:cNvPr id="11" name="Text 9"/>
          <p:cNvSpPr/>
          <p:nvPr/>
        </p:nvSpPr>
        <p:spPr>
          <a:xfrm>
            <a:off x="8229600" y="2926080"/>
            <a:ext cx="338328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dintre cei cu test pozitiv are boala.</a:t>
            </a:r>
            <a:endParaRPr lang="en-US" sz="1500" dirty="0"/>
          </a:p>
        </p:txBody>
      </p:sp>
      <p:sp>
        <p:nvSpPr>
          <p:cNvPr id="12" name="Shape 10"/>
          <p:cNvSpPr/>
          <p:nvPr/>
        </p:nvSpPr>
        <p:spPr>
          <a:xfrm>
            <a:off x="594360" y="4114800"/>
            <a:ext cx="10972800" cy="13716"/>
          </a:xfrm>
          <a:prstGeom prst="rect">
            <a:avLst/>
          </a:prstGeom>
          <a:solidFill>
            <a:srgbClr val="C9C6BE"/>
          </a:solidFill>
          <a:ln/>
        </p:spPr>
        <p:txBody>
          <a:bodyPr/>
          <a:p/>
        </p:txBody>
      </p:sp>
      <p:sp>
        <p:nvSpPr>
          <p:cNvPr id="13" name="Text 11"/>
          <p:cNvSpPr/>
          <p:nvPr/>
        </p:nvSpPr>
        <p:spPr>
          <a:xfrm>
            <a:off x="594360" y="4297680"/>
            <a:ext cx="10972800" cy="10972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Valoarea predictivă pozitivă se așază între cea a populației A (50%) și cea a populației B (8,3%): cu cât boala este mai rară în populația testată, cu atât un rezultat pozitiv înseamnă mai puțin.</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CALENDARUL NAȚIONAL · VERSIUNEA ECDC DIN 6 FEBRUARIE 2026</a:t>
            </a:r>
            <a:endParaRPr lang="en-US" sz="1300" dirty="0"/>
          </a:p>
        </p:txBody>
      </p:sp>
      <p:sp>
        <p:nvSpPr>
          <p:cNvPr id="3" name="Text 1"/>
          <p:cNvSpPr/>
          <p:nvPr/>
        </p:nvSpPr>
        <p:spPr>
          <a:xfrm>
            <a:off x="594360" y="713232"/>
            <a:ext cx="694944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la naștere la adolescență</a:t>
            </a:r>
            <a:endParaRPr lang="en-US" sz="3000" dirty="0"/>
          </a:p>
        </p:txBody>
      </p:sp>
      <p:sp>
        <p:nvSpPr>
          <p:cNvPr id="4" name="Shape 2"/>
          <p:cNvSpPr/>
          <p:nvPr/>
        </p:nvSpPr>
        <p:spPr>
          <a:xfrm>
            <a:off x="2331720" y="1691640"/>
            <a:ext cx="27432" cy="4160520"/>
          </a:xfrm>
          <a:prstGeom prst="rect">
            <a:avLst/>
          </a:prstGeom>
          <a:solidFill>
            <a:srgbClr val="C9C6BE"/>
          </a:solidFill>
          <a:ln/>
        </p:spPr>
        <p:txBody>
          <a:bodyPr/>
          <a:p/>
        </p:txBody>
      </p:sp>
      <p:sp>
        <p:nvSpPr>
          <p:cNvPr id="5" name="Shape 3"/>
          <p:cNvSpPr/>
          <p:nvPr/>
        </p:nvSpPr>
        <p:spPr>
          <a:xfrm>
            <a:off x="2240280" y="1783080"/>
            <a:ext cx="210312" cy="210312"/>
          </a:xfrm>
          <a:prstGeom prst="ellipse">
            <a:avLst/>
          </a:prstGeom>
          <a:solidFill>
            <a:srgbClr val="0E7C6B"/>
          </a:solidFill>
          <a:ln w="25400">
            <a:solidFill>
              <a:srgbClr val="F6F5F2"/>
            </a:solidFill>
            <a:prstDash val="solid"/>
          </a:ln>
        </p:spPr>
        <p:txBody>
          <a:bodyPr/>
          <a:p/>
        </p:txBody>
      </p:sp>
      <p:sp>
        <p:nvSpPr>
          <p:cNvPr id="6" name="Text 4"/>
          <p:cNvSpPr/>
          <p:nvPr/>
        </p:nvSpPr>
        <p:spPr>
          <a:xfrm>
            <a:off x="365760" y="1600200"/>
            <a:ext cx="1783080" cy="603504"/>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La naștere</a:t>
            </a:r>
            <a:endParaRPr lang="en-US" sz="1400" dirty="0"/>
          </a:p>
        </p:txBody>
      </p:sp>
      <p:sp>
        <p:nvSpPr>
          <p:cNvPr id="7" name="Text 5"/>
          <p:cNvSpPr/>
          <p:nvPr/>
        </p:nvSpPr>
        <p:spPr>
          <a:xfrm>
            <a:off x="2651760" y="1600200"/>
            <a:ext cx="4892040" cy="60350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BCG (tuberculoza) și prima doză de hepatită B</a:t>
            </a:r>
            <a:endParaRPr lang="en-US" sz="1400" dirty="0"/>
          </a:p>
        </p:txBody>
      </p:sp>
      <p:sp>
        <p:nvSpPr>
          <p:cNvPr id="8" name="Shape 6"/>
          <p:cNvSpPr/>
          <p:nvPr/>
        </p:nvSpPr>
        <p:spPr>
          <a:xfrm>
            <a:off x="2240280" y="2496312"/>
            <a:ext cx="210312" cy="210312"/>
          </a:xfrm>
          <a:prstGeom prst="ellipse">
            <a:avLst/>
          </a:prstGeom>
          <a:solidFill>
            <a:srgbClr val="0E7C6B"/>
          </a:solidFill>
          <a:ln w="25400">
            <a:solidFill>
              <a:srgbClr val="F6F5F2"/>
            </a:solidFill>
            <a:prstDash val="solid"/>
          </a:ln>
        </p:spPr>
        <p:txBody>
          <a:bodyPr/>
          <a:p/>
        </p:txBody>
      </p:sp>
      <p:sp>
        <p:nvSpPr>
          <p:cNvPr id="9" name="Text 7"/>
          <p:cNvSpPr/>
          <p:nvPr/>
        </p:nvSpPr>
        <p:spPr>
          <a:xfrm>
            <a:off x="365760" y="2313432"/>
            <a:ext cx="1783080" cy="603504"/>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2, 4 și 11 luni</a:t>
            </a:r>
            <a:endParaRPr lang="en-US" sz="1400" dirty="0"/>
          </a:p>
        </p:txBody>
      </p:sp>
      <p:sp>
        <p:nvSpPr>
          <p:cNvPr id="10" name="Text 8"/>
          <p:cNvSpPr/>
          <p:nvPr/>
        </p:nvSpPr>
        <p:spPr>
          <a:xfrm>
            <a:off x="2651760" y="2313432"/>
            <a:ext cx="4892040" cy="60350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Difterie, tetanos, tuse convulsivă, poliomielită, Haemophilus influenzae tip b, hepatită B; pneumococic conjugat</a:t>
            </a:r>
            <a:endParaRPr lang="en-US" sz="1400" dirty="0"/>
          </a:p>
        </p:txBody>
      </p:sp>
      <p:sp>
        <p:nvSpPr>
          <p:cNvPr id="11" name="Shape 9"/>
          <p:cNvSpPr/>
          <p:nvPr/>
        </p:nvSpPr>
        <p:spPr>
          <a:xfrm>
            <a:off x="2240280" y="3209544"/>
            <a:ext cx="210312" cy="210312"/>
          </a:xfrm>
          <a:prstGeom prst="ellipse">
            <a:avLst/>
          </a:prstGeom>
          <a:solidFill>
            <a:srgbClr val="0E7C6B"/>
          </a:solidFill>
          <a:ln w="25400">
            <a:solidFill>
              <a:srgbClr val="F6F5F2"/>
            </a:solidFill>
            <a:prstDash val="solid"/>
          </a:ln>
        </p:spPr>
        <p:txBody>
          <a:bodyPr/>
          <a:p/>
        </p:txBody>
      </p:sp>
      <p:sp>
        <p:nvSpPr>
          <p:cNvPr id="12" name="Text 10"/>
          <p:cNvSpPr/>
          <p:nvPr/>
        </p:nvSpPr>
        <p:spPr>
          <a:xfrm>
            <a:off x="365760" y="3026664"/>
            <a:ext cx="1783080" cy="603504"/>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12 luni și 5 ani</a:t>
            </a:r>
            <a:endParaRPr lang="en-US" sz="1400" dirty="0"/>
          </a:p>
        </p:txBody>
      </p:sp>
      <p:sp>
        <p:nvSpPr>
          <p:cNvPr id="13" name="Text 11"/>
          <p:cNvSpPr/>
          <p:nvPr/>
        </p:nvSpPr>
        <p:spPr>
          <a:xfrm>
            <a:off x="2651760" y="3026664"/>
            <a:ext cx="4892040" cy="60350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Rujeolă, oreion, rubeolă</a:t>
            </a:r>
            <a:endParaRPr lang="en-US" sz="1400" dirty="0"/>
          </a:p>
        </p:txBody>
      </p:sp>
      <p:sp>
        <p:nvSpPr>
          <p:cNvPr id="14" name="Shape 12"/>
          <p:cNvSpPr/>
          <p:nvPr/>
        </p:nvSpPr>
        <p:spPr>
          <a:xfrm>
            <a:off x="2240280" y="3922776"/>
            <a:ext cx="210312" cy="210312"/>
          </a:xfrm>
          <a:prstGeom prst="ellipse">
            <a:avLst/>
          </a:prstGeom>
          <a:solidFill>
            <a:srgbClr val="0E7C6B"/>
          </a:solidFill>
          <a:ln w="25400">
            <a:solidFill>
              <a:srgbClr val="F6F5F2"/>
            </a:solidFill>
            <a:prstDash val="solid"/>
          </a:ln>
        </p:spPr>
        <p:txBody>
          <a:bodyPr/>
          <a:p/>
        </p:txBody>
      </p:sp>
      <p:sp>
        <p:nvSpPr>
          <p:cNvPr id="15" name="Text 13"/>
          <p:cNvSpPr/>
          <p:nvPr/>
        </p:nvSpPr>
        <p:spPr>
          <a:xfrm>
            <a:off x="365760" y="3739896"/>
            <a:ext cx="1783080" cy="603504"/>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6 ani</a:t>
            </a:r>
            <a:endParaRPr lang="en-US" sz="1400" dirty="0"/>
          </a:p>
        </p:txBody>
      </p:sp>
      <p:sp>
        <p:nvSpPr>
          <p:cNvPr id="16" name="Text 14"/>
          <p:cNvSpPr/>
          <p:nvPr/>
        </p:nvSpPr>
        <p:spPr>
          <a:xfrm>
            <a:off x="2651760" y="3739896"/>
            <a:ext cx="4892040" cy="60350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Rapel: difterie, tetanos, tuse convulsivă, poliomielită</a:t>
            </a:r>
            <a:endParaRPr lang="en-US" sz="1400" dirty="0"/>
          </a:p>
        </p:txBody>
      </p:sp>
      <p:sp>
        <p:nvSpPr>
          <p:cNvPr id="17" name="Shape 15"/>
          <p:cNvSpPr/>
          <p:nvPr/>
        </p:nvSpPr>
        <p:spPr>
          <a:xfrm>
            <a:off x="2240280" y="4636008"/>
            <a:ext cx="210312" cy="210312"/>
          </a:xfrm>
          <a:prstGeom prst="ellipse">
            <a:avLst/>
          </a:prstGeom>
          <a:solidFill>
            <a:srgbClr val="0E7C6B"/>
          </a:solidFill>
          <a:ln w="25400">
            <a:solidFill>
              <a:srgbClr val="F6F5F2"/>
            </a:solidFill>
            <a:prstDash val="solid"/>
          </a:ln>
        </p:spPr>
        <p:txBody>
          <a:bodyPr/>
          <a:p/>
        </p:txBody>
      </p:sp>
      <p:sp>
        <p:nvSpPr>
          <p:cNvPr id="18" name="Text 16"/>
          <p:cNvSpPr/>
          <p:nvPr/>
        </p:nvSpPr>
        <p:spPr>
          <a:xfrm>
            <a:off x="365760" y="4453128"/>
            <a:ext cx="1783080" cy="603504"/>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14 ani</a:t>
            </a:r>
            <a:endParaRPr lang="en-US" sz="1400" dirty="0"/>
          </a:p>
        </p:txBody>
      </p:sp>
      <p:sp>
        <p:nvSpPr>
          <p:cNvPr id="19" name="Text 17"/>
          <p:cNvSpPr/>
          <p:nvPr/>
        </p:nvSpPr>
        <p:spPr>
          <a:xfrm>
            <a:off x="2651760" y="4453128"/>
            <a:ext cx="4892040" cy="60350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Rapel: difterie, tetanos, tuse convulsivă</a:t>
            </a:r>
            <a:endParaRPr lang="en-US" sz="1400" dirty="0"/>
          </a:p>
        </p:txBody>
      </p:sp>
      <p:sp>
        <p:nvSpPr>
          <p:cNvPr id="20" name="Shape 18"/>
          <p:cNvSpPr/>
          <p:nvPr/>
        </p:nvSpPr>
        <p:spPr>
          <a:xfrm>
            <a:off x="2240280" y="5349240"/>
            <a:ext cx="210312" cy="210312"/>
          </a:xfrm>
          <a:prstGeom prst="ellipse">
            <a:avLst/>
          </a:prstGeom>
          <a:solidFill>
            <a:srgbClr val="B02532"/>
          </a:solidFill>
          <a:ln w="25400">
            <a:solidFill>
              <a:srgbClr val="F6F5F2"/>
            </a:solidFill>
            <a:prstDash val="solid"/>
          </a:ln>
        </p:spPr>
        <p:txBody>
          <a:bodyPr/>
          <a:p/>
        </p:txBody>
      </p:sp>
      <p:sp>
        <p:nvSpPr>
          <p:cNvPr id="21" name="Text 19"/>
          <p:cNvSpPr/>
          <p:nvPr/>
        </p:nvSpPr>
        <p:spPr>
          <a:xfrm>
            <a:off x="365760" y="5166360"/>
            <a:ext cx="1783080" cy="603504"/>
          </a:xfrm>
          <a:prstGeom prst="rect">
            <a:avLst/>
          </a:prstGeom>
          <a:noFill/>
          <a:ln/>
        </p:spPr>
        <p:txBody>
          <a:bodyPr wrap="square" lIns="0" tIns="0" rIns="0" bIns="0" rtlCol="0" anchor="ctr"/>
          <a:lstStyle/>
          <a:p>
            <a:pPr algn="r" indent="0" marL="0">
              <a:buNone/>
            </a:pPr>
            <a:r>
              <a:rPr lang="en-US" sz="1400" b="1" dirty="0">
                <a:solidFill>
                  <a:srgbClr val="B02532"/>
                </a:solidFill>
                <a:latin typeface="Palatino Linotype" pitchFamily="34" charset="0"/>
                <a:ea typeface="Palatino Linotype" pitchFamily="34" charset="-122"/>
                <a:cs typeface="Palatino Linotype" pitchFamily="34" charset="-120"/>
              </a:rPr>
              <a:t>11–26 de ani</a:t>
            </a:r>
            <a:endParaRPr lang="en-US" sz="1400" dirty="0"/>
          </a:p>
        </p:txBody>
      </p:sp>
      <p:sp>
        <p:nvSpPr>
          <p:cNvPr id="22" name="Text 20"/>
          <p:cNvSpPr/>
          <p:nvPr/>
        </p:nvSpPr>
        <p:spPr>
          <a:xfrm>
            <a:off x="2651760" y="5166360"/>
            <a:ext cx="4892040" cy="603504"/>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HPV nonavalent, fete și băieți; femeile și între 27 și 45 de ani</a:t>
            </a:r>
            <a:endParaRPr lang="en-US" sz="1400" dirty="0"/>
          </a:p>
        </p:txBody>
      </p:sp>
      <p:pic>
        <p:nvPicPr>
          <p:cNvPr id="23" name="Image 0" descr="/Users/adrianpana/Downloads/UMF_Cluj_SP/Materiale SP/Atelier_didactic/discipline/SPM_AMGIV/active/img/vaccin_hpv_gardasil9_commons.jpg">    </p:cNvPr>
          <p:cNvPicPr>
            <a:picLocks noChangeAspect="1"/>
          </p:cNvPicPr>
          <p:nvPr/>
        </p:nvPicPr>
        <p:blipFill>
          <a:blip r:embed="rId1"/>
          <a:stretch>
            <a:fillRect/>
          </a:stretch>
        </p:blipFill>
        <p:spPr>
          <a:xfrm>
            <a:off x="8001000" y="914400"/>
            <a:ext cx="3611880" cy="2407615"/>
          </a:xfrm>
          <a:prstGeom prst="rect">
            <a:avLst/>
          </a:prstGeom>
        </p:spPr>
      </p:pic>
      <p:sp>
        <p:nvSpPr>
          <p:cNvPr id="24" name="Text 21"/>
          <p:cNvSpPr/>
          <p:nvPr/>
        </p:nvSpPr>
        <p:spPr>
          <a:xfrm>
            <a:off x="8001000" y="3364992"/>
            <a:ext cx="3611880" cy="219456"/>
          </a:xfrm>
          <a:prstGeom prst="rect">
            <a:avLst/>
          </a:prstGeom>
          <a:noFill/>
          <a:ln/>
        </p:spPr>
        <p:txBody>
          <a:bodyPr wrap="square" lIns="0" tIns="0" rIns="0" bIns="0" rtlCol="0" anchor="ctr"/>
          <a:lstStyle/>
          <a:p>
            <a:pPr indent="0" marL="0">
              <a:buNone/>
            </a:pPr>
            <a:r>
              <a:rPr lang="en-US" sz="850" i="1" dirty="0">
                <a:solidFill>
                  <a:srgbClr val="585A64"/>
                </a:solidFill>
                <a:latin typeface="Palatino Linotype" pitchFamily="34" charset="0"/>
                <a:ea typeface="Palatino Linotype" pitchFamily="34" charset="-122"/>
                <a:cs typeface="Palatino Linotype" pitchFamily="34" charset="-120"/>
              </a:rPr>
              <a:t>Vaccin HPV nonavalent · Foto: Aveaoz · CC0 · Wikimedia Commons</a:t>
            </a:r>
            <a:endParaRPr lang="en-US" sz="850" dirty="0"/>
          </a:p>
        </p:txBody>
      </p:sp>
      <p:sp>
        <p:nvSpPr>
          <p:cNvPr id="25" name="Text 22"/>
          <p:cNvSpPr/>
          <p:nvPr/>
        </p:nvSpPr>
        <p:spPr>
          <a:xfrm>
            <a:off x="8001000" y="3703320"/>
            <a:ext cx="3611880" cy="182880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Fiica doamnei M., doisprezece ani: vaccinul HPV este prevenție primară; testul mamei, prevenție secundară. Aceeași boală.</a:t>
            </a:r>
            <a:endParaRPr lang="en-US" sz="1500" dirty="0"/>
          </a:p>
        </p:txBody>
      </p:sp>
      <p:sp>
        <p:nvSpPr>
          <p:cNvPr id="26" name="Text 2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calendarul României publicat de ECDC (registru A218). Calendarul se schimbă: verificați versiunea în vigoare.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CE A SCĂZUT ACOPERIREA VACCINALĂ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Un mesaj convingător nu repară o ruptură de stoc</a:t>
            </a:r>
            <a:endParaRPr lang="en-US" sz="3000" dirty="0"/>
          </a:p>
        </p:txBody>
      </p:sp>
      <p:sp>
        <p:nvSpPr>
          <p:cNvPr id="4" name="Text 2"/>
          <p:cNvSpPr/>
          <p:nvPr/>
        </p:nvSpPr>
        <p:spPr>
          <a:xfrm>
            <a:off x="594360" y="1645920"/>
            <a:ext cx="5394960" cy="32004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CINCI CAUZE POSIBILE</a:t>
            </a:r>
            <a:endParaRPr lang="en-US" sz="1400" dirty="0"/>
          </a:p>
        </p:txBody>
      </p:sp>
      <p:sp>
        <p:nvSpPr>
          <p:cNvPr id="5" name="Shape 3"/>
          <p:cNvSpPr/>
          <p:nvPr/>
        </p:nvSpPr>
        <p:spPr>
          <a:xfrm>
            <a:off x="594360" y="205740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6" name="Shape 4"/>
          <p:cNvSpPr/>
          <p:nvPr/>
        </p:nvSpPr>
        <p:spPr>
          <a:xfrm>
            <a:off x="594360" y="2057400"/>
            <a:ext cx="64008" cy="640080"/>
          </a:xfrm>
          <a:prstGeom prst="rect">
            <a:avLst/>
          </a:prstGeom>
          <a:solidFill>
            <a:srgbClr val="FF4757"/>
          </a:solidFill>
          <a:ln w="12700">
            <a:solidFill>
              <a:srgbClr val="FF4757"/>
            </a:solidFill>
            <a:prstDash val="solid"/>
          </a:ln>
        </p:spPr>
        <p:txBody>
          <a:bodyPr/>
          <a:p/>
        </p:txBody>
      </p:sp>
      <p:sp>
        <p:nvSpPr>
          <p:cNvPr id="7" name="Text 5"/>
          <p:cNvSpPr/>
          <p:nvPr/>
        </p:nvSpPr>
        <p:spPr>
          <a:xfrm>
            <a:off x="822960" y="2057400"/>
            <a:ext cx="5029200" cy="640080"/>
          </a:xfrm>
          <a:prstGeom prst="rect">
            <a:avLst/>
          </a:prstGeom>
          <a:noFill/>
          <a:ln/>
        </p:spPr>
        <p:txBody>
          <a:bodyPr wrap="square" lIns="0" tIns="0" rIns="0" bIns="0" rtlCol="0" anchor="ctr"/>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Aprovizionarea: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livrări întrerupte, lanțul de frig</a:t>
            </a:r>
            <a:endParaRPr lang="en-US" sz="1450" dirty="0"/>
          </a:p>
        </p:txBody>
      </p:sp>
      <p:sp>
        <p:nvSpPr>
          <p:cNvPr id="8" name="Shape 6"/>
          <p:cNvSpPr/>
          <p:nvPr/>
        </p:nvSpPr>
        <p:spPr>
          <a:xfrm>
            <a:off x="594360" y="278892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9" name="Shape 7"/>
          <p:cNvSpPr/>
          <p:nvPr/>
        </p:nvSpPr>
        <p:spPr>
          <a:xfrm>
            <a:off x="594360" y="2788920"/>
            <a:ext cx="64008" cy="640080"/>
          </a:xfrm>
          <a:prstGeom prst="rect">
            <a:avLst/>
          </a:prstGeom>
          <a:solidFill>
            <a:srgbClr val="FF4757"/>
          </a:solidFill>
          <a:ln w="12700">
            <a:solidFill>
              <a:srgbClr val="FF4757"/>
            </a:solidFill>
            <a:prstDash val="solid"/>
          </a:ln>
        </p:spPr>
        <p:txBody>
          <a:bodyPr/>
          <a:p/>
        </p:txBody>
      </p:sp>
      <p:sp>
        <p:nvSpPr>
          <p:cNvPr id="10" name="Text 8"/>
          <p:cNvSpPr/>
          <p:nvPr/>
        </p:nvSpPr>
        <p:spPr>
          <a:xfrm>
            <a:off x="822960" y="2788920"/>
            <a:ext cx="5029200" cy="640080"/>
          </a:xfrm>
          <a:prstGeom prst="rect">
            <a:avLst/>
          </a:prstGeom>
          <a:noFill/>
          <a:ln/>
        </p:spPr>
        <p:txBody>
          <a:bodyPr wrap="square" lIns="0" tIns="0" rIns="0" bIns="0" rtlCol="0" anchor="ctr"/>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Accesul: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fără medic de familie, distanțe mari</a:t>
            </a:r>
            <a:endParaRPr lang="en-US" sz="1450" dirty="0"/>
          </a:p>
        </p:txBody>
      </p:sp>
      <p:sp>
        <p:nvSpPr>
          <p:cNvPr id="11" name="Shape 9"/>
          <p:cNvSpPr/>
          <p:nvPr/>
        </p:nvSpPr>
        <p:spPr>
          <a:xfrm>
            <a:off x="594360" y="352044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12" name="Shape 10"/>
          <p:cNvSpPr/>
          <p:nvPr/>
        </p:nvSpPr>
        <p:spPr>
          <a:xfrm>
            <a:off x="594360" y="3520440"/>
            <a:ext cx="64008" cy="640080"/>
          </a:xfrm>
          <a:prstGeom prst="rect">
            <a:avLst/>
          </a:prstGeom>
          <a:solidFill>
            <a:srgbClr val="FF4757"/>
          </a:solidFill>
          <a:ln w="12700">
            <a:solidFill>
              <a:srgbClr val="FF4757"/>
            </a:solidFill>
            <a:prstDash val="solid"/>
          </a:ln>
        </p:spPr>
        <p:txBody>
          <a:bodyPr/>
          <a:p/>
        </p:txBody>
      </p:sp>
      <p:sp>
        <p:nvSpPr>
          <p:cNvPr id="13" name="Text 11"/>
          <p:cNvSpPr/>
          <p:nvPr/>
        </p:nvSpPr>
        <p:spPr>
          <a:xfrm>
            <a:off x="822960" y="3520440"/>
            <a:ext cx="5029200" cy="640080"/>
          </a:xfrm>
          <a:prstGeom prst="rect">
            <a:avLst/>
          </a:prstGeom>
          <a:noFill/>
          <a:ln/>
        </p:spPr>
        <p:txBody>
          <a:bodyPr wrap="square" lIns="0" tIns="0" rIns="0" bIns="0" rtlCol="0" anchor="ctr"/>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Reticența: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neîncredere, informații false online</a:t>
            </a:r>
            <a:endParaRPr lang="en-US" sz="1450" dirty="0"/>
          </a:p>
        </p:txBody>
      </p:sp>
      <p:sp>
        <p:nvSpPr>
          <p:cNvPr id="14" name="Shape 12"/>
          <p:cNvSpPr/>
          <p:nvPr/>
        </p:nvSpPr>
        <p:spPr>
          <a:xfrm>
            <a:off x="594360" y="425196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15" name="Shape 13"/>
          <p:cNvSpPr/>
          <p:nvPr/>
        </p:nvSpPr>
        <p:spPr>
          <a:xfrm>
            <a:off x="594360" y="4251960"/>
            <a:ext cx="64008" cy="640080"/>
          </a:xfrm>
          <a:prstGeom prst="rect">
            <a:avLst/>
          </a:prstGeom>
          <a:solidFill>
            <a:srgbClr val="FF4757"/>
          </a:solidFill>
          <a:ln w="12700">
            <a:solidFill>
              <a:srgbClr val="FF4757"/>
            </a:solidFill>
            <a:prstDash val="solid"/>
          </a:ln>
        </p:spPr>
        <p:txBody>
          <a:bodyPr/>
          <a:p/>
        </p:txBody>
      </p:sp>
      <p:sp>
        <p:nvSpPr>
          <p:cNvPr id="16" name="Text 14"/>
          <p:cNvSpPr/>
          <p:nvPr/>
        </p:nvSpPr>
        <p:spPr>
          <a:xfrm>
            <a:off x="822960" y="4251960"/>
            <a:ext cx="5029200" cy="640080"/>
          </a:xfrm>
          <a:prstGeom prst="rect">
            <a:avLst/>
          </a:prstGeom>
          <a:noFill/>
          <a:ln/>
        </p:spPr>
        <p:txBody>
          <a:bodyPr wrap="square" lIns="0" tIns="0" rIns="0" bIns="0" rtlCol="0" anchor="ctr"/>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Evidența: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registre incomplete</a:t>
            </a:r>
            <a:endParaRPr lang="en-US" sz="1450" dirty="0"/>
          </a:p>
        </p:txBody>
      </p:sp>
      <p:sp>
        <p:nvSpPr>
          <p:cNvPr id="17" name="Shape 15"/>
          <p:cNvSpPr/>
          <p:nvPr/>
        </p:nvSpPr>
        <p:spPr>
          <a:xfrm>
            <a:off x="594360" y="498348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18" name="Shape 16"/>
          <p:cNvSpPr/>
          <p:nvPr/>
        </p:nvSpPr>
        <p:spPr>
          <a:xfrm>
            <a:off x="594360" y="4983480"/>
            <a:ext cx="64008" cy="640080"/>
          </a:xfrm>
          <a:prstGeom prst="rect">
            <a:avLst/>
          </a:prstGeom>
          <a:solidFill>
            <a:srgbClr val="FF4757"/>
          </a:solidFill>
          <a:ln w="12700">
            <a:solidFill>
              <a:srgbClr val="FF4757"/>
            </a:solidFill>
            <a:prstDash val="solid"/>
          </a:ln>
        </p:spPr>
        <p:txBody>
          <a:bodyPr/>
          <a:p/>
        </p:txBody>
      </p:sp>
      <p:sp>
        <p:nvSpPr>
          <p:cNvPr id="19" name="Text 17"/>
          <p:cNvSpPr/>
          <p:nvPr/>
        </p:nvSpPr>
        <p:spPr>
          <a:xfrm>
            <a:off x="822960" y="4983480"/>
            <a:ext cx="5029200" cy="640080"/>
          </a:xfrm>
          <a:prstGeom prst="rect">
            <a:avLst/>
          </a:prstGeom>
          <a:noFill/>
          <a:ln/>
        </p:spPr>
        <p:txBody>
          <a:bodyPr wrap="square" lIns="0" tIns="0" rIns="0" bIns="0" rtlCol="0" anchor="ctr"/>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Resursele umane: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personal puțin în asistența primară</a:t>
            </a:r>
            <a:endParaRPr lang="en-US" sz="1450" dirty="0"/>
          </a:p>
        </p:txBody>
      </p:sp>
      <p:sp>
        <p:nvSpPr>
          <p:cNvPr id="20" name="Text 18"/>
          <p:cNvSpPr/>
          <p:nvPr/>
        </p:nvSpPr>
        <p:spPr>
          <a:xfrm>
            <a:off x="6217920" y="1645920"/>
            <a:ext cx="539496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ROLURILE ASISTENTULUI (SINTEZĂ DIDACTICĂ)</a:t>
            </a:r>
            <a:endParaRPr lang="en-US" sz="1400" dirty="0"/>
          </a:p>
        </p:txBody>
      </p:sp>
      <p:sp>
        <p:nvSpPr>
          <p:cNvPr id="21" name="Shape 19"/>
          <p:cNvSpPr/>
          <p:nvPr/>
        </p:nvSpPr>
        <p:spPr>
          <a:xfrm>
            <a:off x="6217920" y="205740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22" name="Shape 20"/>
          <p:cNvSpPr/>
          <p:nvPr/>
        </p:nvSpPr>
        <p:spPr>
          <a:xfrm>
            <a:off x="6217920" y="2057400"/>
            <a:ext cx="64008" cy="640080"/>
          </a:xfrm>
          <a:prstGeom prst="rect">
            <a:avLst/>
          </a:prstGeom>
          <a:solidFill>
            <a:srgbClr val="27D3BE"/>
          </a:solidFill>
          <a:ln w="12700">
            <a:solidFill>
              <a:srgbClr val="27D3BE"/>
            </a:solidFill>
            <a:prstDash val="solid"/>
          </a:ln>
        </p:spPr>
        <p:txBody>
          <a:bodyPr/>
          <a:p/>
        </p:txBody>
      </p:sp>
      <p:sp>
        <p:nvSpPr>
          <p:cNvPr id="23" name="Text 21"/>
          <p:cNvSpPr/>
          <p:nvPr/>
        </p:nvSpPr>
        <p:spPr>
          <a:xfrm>
            <a:off x="6446520" y="2057400"/>
            <a:ext cx="5029200" cy="640080"/>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Administrarea: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lot, expirare, lanț de frig, tehnică</a:t>
            </a:r>
            <a:endParaRPr lang="en-US" sz="1450" dirty="0"/>
          </a:p>
        </p:txBody>
      </p:sp>
      <p:sp>
        <p:nvSpPr>
          <p:cNvPr id="24" name="Shape 22"/>
          <p:cNvSpPr/>
          <p:nvPr/>
        </p:nvSpPr>
        <p:spPr>
          <a:xfrm>
            <a:off x="6217920" y="278892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25" name="Shape 23"/>
          <p:cNvSpPr/>
          <p:nvPr/>
        </p:nvSpPr>
        <p:spPr>
          <a:xfrm>
            <a:off x="6217920" y="2788920"/>
            <a:ext cx="64008" cy="640080"/>
          </a:xfrm>
          <a:prstGeom prst="rect">
            <a:avLst/>
          </a:prstGeom>
          <a:solidFill>
            <a:srgbClr val="27D3BE"/>
          </a:solidFill>
          <a:ln w="12700">
            <a:solidFill>
              <a:srgbClr val="27D3BE"/>
            </a:solidFill>
            <a:prstDash val="solid"/>
          </a:ln>
        </p:spPr>
        <p:txBody>
          <a:bodyPr/>
          <a:p/>
        </p:txBody>
      </p:sp>
      <p:sp>
        <p:nvSpPr>
          <p:cNvPr id="26" name="Text 24"/>
          <p:cNvSpPr/>
          <p:nvPr/>
        </p:nvSpPr>
        <p:spPr>
          <a:xfrm>
            <a:off x="6446520" y="2788920"/>
            <a:ext cx="5029200" cy="640080"/>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Informarea: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beneficii, riscuri, temeri ascultate</a:t>
            </a:r>
            <a:endParaRPr lang="en-US" sz="1450" dirty="0"/>
          </a:p>
        </p:txBody>
      </p:sp>
      <p:sp>
        <p:nvSpPr>
          <p:cNvPr id="27" name="Shape 25"/>
          <p:cNvSpPr/>
          <p:nvPr/>
        </p:nvSpPr>
        <p:spPr>
          <a:xfrm>
            <a:off x="6217920" y="352044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28" name="Shape 26"/>
          <p:cNvSpPr/>
          <p:nvPr/>
        </p:nvSpPr>
        <p:spPr>
          <a:xfrm>
            <a:off x="6217920" y="3520440"/>
            <a:ext cx="64008" cy="640080"/>
          </a:xfrm>
          <a:prstGeom prst="rect">
            <a:avLst/>
          </a:prstGeom>
          <a:solidFill>
            <a:srgbClr val="27D3BE"/>
          </a:solidFill>
          <a:ln w="12700">
            <a:solidFill>
              <a:srgbClr val="27D3BE"/>
            </a:solidFill>
            <a:prstDash val="solid"/>
          </a:ln>
        </p:spPr>
        <p:txBody>
          <a:bodyPr/>
          <a:p/>
        </p:txBody>
      </p:sp>
      <p:sp>
        <p:nvSpPr>
          <p:cNvPr id="29" name="Text 27"/>
          <p:cNvSpPr/>
          <p:nvPr/>
        </p:nvSpPr>
        <p:spPr>
          <a:xfrm>
            <a:off x="6446520" y="3520440"/>
            <a:ext cx="5029200" cy="640080"/>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Reacțiile adverse: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recunoscute, tratate, raportate</a:t>
            </a:r>
            <a:endParaRPr lang="en-US" sz="1450" dirty="0"/>
          </a:p>
        </p:txBody>
      </p:sp>
      <p:sp>
        <p:nvSpPr>
          <p:cNvPr id="30" name="Shape 28"/>
          <p:cNvSpPr/>
          <p:nvPr/>
        </p:nvSpPr>
        <p:spPr>
          <a:xfrm>
            <a:off x="6217920" y="425196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31" name="Shape 29"/>
          <p:cNvSpPr/>
          <p:nvPr/>
        </p:nvSpPr>
        <p:spPr>
          <a:xfrm>
            <a:off x="6217920" y="4251960"/>
            <a:ext cx="64008" cy="640080"/>
          </a:xfrm>
          <a:prstGeom prst="rect">
            <a:avLst/>
          </a:prstGeom>
          <a:solidFill>
            <a:srgbClr val="27D3BE"/>
          </a:solidFill>
          <a:ln w="12700">
            <a:solidFill>
              <a:srgbClr val="27D3BE"/>
            </a:solidFill>
            <a:prstDash val="solid"/>
          </a:ln>
        </p:spPr>
        <p:txBody>
          <a:bodyPr/>
          <a:p/>
        </p:txBody>
      </p:sp>
      <p:sp>
        <p:nvSpPr>
          <p:cNvPr id="32" name="Text 30"/>
          <p:cNvSpPr/>
          <p:nvPr/>
        </p:nvSpPr>
        <p:spPr>
          <a:xfrm>
            <a:off x="6446520" y="4251960"/>
            <a:ext cx="5029200" cy="640080"/>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Documentarea: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registrul electronic și fișa pacientului</a:t>
            </a:r>
            <a:endParaRPr lang="en-US" sz="1450" dirty="0"/>
          </a:p>
        </p:txBody>
      </p:sp>
      <p:sp>
        <p:nvSpPr>
          <p:cNvPr id="33" name="Shape 31"/>
          <p:cNvSpPr/>
          <p:nvPr/>
        </p:nvSpPr>
        <p:spPr>
          <a:xfrm>
            <a:off x="6217920" y="4983480"/>
            <a:ext cx="5349240" cy="640080"/>
          </a:xfrm>
          <a:prstGeom prst="roundRect">
            <a:avLst>
              <a:gd name="adj" fmla="val 12857"/>
            </a:avLst>
          </a:prstGeom>
          <a:solidFill>
            <a:srgbClr val="1D1F2B"/>
          </a:solidFill>
          <a:ln w="12700">
            <a:solidFill>
              <a:srgbClr val="1D1F2B"/>
            </a:solidFill>
            <a:prstDash val="solid"/>
          </a:ln>
        </p:spPr>
        <p:txBody>
          <a:bodyPr/>
          <a:p/>
        </p:txBody>
      </p:sp>
      <p:sp>
        <p:nvSpPr>
          <p:cNvPr id="34" name="Shape 32"/>
          <p:cNvSpPr/>
          <p:nvPr/>
        </p:nvSpPr>
        <p:spPr>
          <a:xfrm>
            <a:off x="6217920" y="4983480"/>
            <a:ext cx="64008" cy="640080"/>
          </a:xfrm>
          <a:prstGeom prst="rect">
            <a:avLst/>
          </a:prstGeom>
          <a:solidFill>
            <a:srgbClr val="27D3BE"/>
          </a:solidFill>
          <a:ln w="12700">
            <a:solidFill>
              <a:srgbClr val="27D3BE"/>
            </a:solidFill>
            <a:prstDash val="solid"/>
          </a:ln>
        </p:spPr>
        <p:txBody>
          <a:bodyPr/>
          <a:p/>
        </p:txBody>
      </p:sp>
      <p:sp>
        <p:nvSpPr>
          <p:cNvPr id="35" name="Text 33"/>
          <p:cNvSpPr/>
          <p:nvPr/>
        </p:nvSpPr>
        <p:spPr>
          <a:xfrm>
            <a:off x="6446520" y="4983480"/>
            <a:ext cx="5029200" cy="640080"/>
          </a:xfrm>
          <a:prstGeom prst="rect">
            <a:avLst/>
          </a:prstGeom>
          <a:noFill/>
          <a:ln/>
        </p:spPr>
        <p:txBody>
          <a:bodyPr wrap="square" lIns="0" tIns="0" rIns="0" bIns="0" rtlCol="0" anchor="ctr"/>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Comunitatea: </a:t>
            </a:r>
            <a:pPr indent="0" marL="0">
              <a:buNone/>
            </a:pPr>
            <a:r>
              <a:rPr lang="en-US" sz="1450" dirty="0">
                <a:solidFill>
                  <a:srgbClr val="FFFFFF"/>
                </a:solidFill>
                <a:latin typeface="Palatino Linotype" pitchFamily="34" charset="0"/>
                <a:ea typeface="Palatino Linotype" pitchFamily="34" charset="-122"/>
                <a:cs typeface="Palatino Linotype" pitchFamily="34" charset="-120"/>
              </a:rPr>
              <a:t>copiii nevaccinați, cu mediatorul sanitar</a:t>
            </a:r>
            <a:endParaRPr lang="en-US" sz="1450" dirty="0"/>
          </a:p>
        </p:txBody>
      </p:sp>
      <p:sp>
        <p:nvSpPr>
          <p:cNvPr id="36" name="Text 34"/>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ordonanța privind asistența medicală comunitară (registru A188).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9B7EF7"/>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1F1040"/>
                </a:solidFill>
                <a:latin typeface="Palatino Linotype" pitchFamily="34" charset="0"/>
                <a:ea typeface="Palatino Linotype" pitchFamily="34" charset="-122"/>
                <a:cs typeface="Palatino Linotype" pitchFamily="34" charset="-120"/>
              </a:rPr>
              <a:t>ÎNAINTE DE PAUZĂ</a:t>
            </a:r>
            <a:endParaRPr lang="en-US" sz="1300" dirty="0"/>
          </a:p>
        </p:txBody>
      </p:sp>
      <p:sp>
        <p:nvSpPr>
          <p:cNvPr id="5" name="Text 3"/>
          <p:cNvSpPr/>
          <p:nvPr/>
        </p:nvSpPr>
        <p:spPr>
          <a:xfrm>
            <a:off x="594360" y="1280160"/>
            <a:ext cx="10972800" cy="2377440"/>
          </a:xfrm>
          <a:prstGeom prst="rect">
            <a:avLst/>
          </a:prstGeom>
          <a:noFill/>
          <a:ln/>
        </p:spPr>
        <p:txBody>
          <a:bodyPr wrap="square" lIns="0" tIns="0" rIns="0" bIns="0" rtlCol="0" anchor="ctr"/>
          <a:lstStyle/>
          <a:p>
            <a:pPr indent="0" marL="0">
              <a:buNone/>
            </a:pPr>
            <a:r>
              <a:rPr lang="en-US" sz="3800" b="1" dirty="0">
                <a:solidFill>
                  <a:srgbClr val="1F1040"/>
                </a:solidFill>
                <a:latin typeface="Palatino Linotype" pitchFamily="34" charset="0"/>
                <a:ea typeface="Palatino Linotype" pitchFamily="34" charset="-122"/>
                <a:cs typeface="Palatino Linotype" pitchFamily="34" charset="-120"/>
              </a:rPr>
              <a:t>Un singur cuvânt: ce îi vine în minte unei mame care ezită, când aude „vaccin”?</a:t>
            </a:r>
            <a:endParaRPr lang="en-US" sz="3800" dirty="0"/>
          </a:p>
        </p:txBody>
      </p:sp>
      <p:sp>
        <p:nvSpPr>
          <p:cNvPr id="6" name="Shape 4"/>
          <p:cNvSpPr/>
          <p:nvPr/>
        </p:nvSpPr>
        <p:spPr>
          <a:xfrm>
            <a:off x="594360" y="4023360"/>
            <a:ext cx="1280160" cy="36576"/>
          </a:xfrm>
          <a:prstGeom prst="rect">
            <a:avLst/>
          </a:prstGeom>
          <a:solidFill>
            <a:srgbClr val="1F1040"/>
          </a:solidFill>
          <a:ln/>
        </p:spPr>
        <p:txBody>
          <a:bodyPr/>
          <a:p/>
        </p:txBody>
      </p:sp>
      <p:sp>
        <p:nvSpPr>
          <p:cNvPr id="7" name="Text 5"/>
          <p:cNvSpPr/>
          <p:nvPr/>
        </p:nvSpPr>
        <p:spPr>
          <a:xfrm>
            <a:off x="594360" y="4206240"/>
            <a:ext cx="10972800" cy="548640"/>
          </a:xfrm>
          <a:prstGeom prst="rect">
            <a:avLst/>
          </a:prstGeom>
          <a:noFill/>
          <a:ln/>
        </p:spPr>
        <p:txBody>
          <a:bodyPr wrap="square" lIns="0" tIns="0" rIns="0" bIns="0" rtlCol="0" anchor="t"/>
          <a:lstStyle/>
          <a:p>
            <a:pPr indent="0" marL="0">
              <a:buNone/>
            </a:pPr>
            <a:r>
              <a:rPr lang="en-US" sz="2000" dirty="0">
                <a:solidFill>
                  <a:srgbClr val="1F1040"/>
                </a:solidFill>
                <a:latin typeface="Palatino Linotype" pitchFamily="34" charset="0"/>
                <a:ea typeface="Palatino Linotype" pitchFamily="34" charset="-122"/>
                <a:cs typeface="Palatino Linotype" pitchFamily="34" charset="-120"/>
              </a:rPr>
              <a:t>Norul de cuvinte deschide a doua parte a ședinței.</a:t>
            </a:r>
            <a:endParaRPr lang="en-US" sz="2000" dirty="0"/>
          </a:p>
        </p:txBody>
      </p:sp>
      <p:sp>
        <p:nvSpPr>
          <p:cNvPr id="8" name="Shape 6"/>
          <p:cNvSpPr/>
          <p:nvPr/>
        </p:nvSpPr>
        <p:spPr>
          <a:xfrm>
            <a:off x="594360" y="5120640"/>
            <a:ext cx="3108960" cy="329184"/>
          </a:xfrm>
          <a:prstGeom prst="roundRect">
            <a:avLst>
              <a:gd name="adj" fmla="val 50000"/>
            </a:avLst>
          </a:prstGeom>
          <a:solidFill>
            <a:srgbClr val="1F1040"/>
          </a:solidFill>
          <a:ln w="12700">
            <a:solidFill>
              <a:srgbClr val="1F1040"/>
            </a:solidFill>
            <a:prstDash val="solid"/>
          </a:ln>
        </p:spPr>
        <p:txBody>
          <a:bodyPr/>
          <a:p/>
        </p:txBody>
      </p:sp>
      <p:sp>
        <p:nvSpPr>
          <p:cNvPr id="9" name="Text 7"/>
          <p:cNvSpPr/>
          <p:nvPr/>
        </p:nvSpPr>
        <p:spPr>
          <a:xfrm>
            <a:off x="594360" y="5120640"/>
            <a:ext cx="31089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PAUZĂ · ZECE MINUTE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 DOUA PARTE · ACELAȘI CAZ</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Știe o parte. Nu a schimbat nimic.</a:t>
            </a:r>
            <a:endParaRPr lang="en-US" sz="3400" dirty="0"/>
          </a:p>
        </p:txBody>
      </p:sp>
      <p:sp>
        <p:nvSpPr>
          <p:cNvPr id="4" name="Shape 2"/>
          <p:cNvSpPr/>
          <p:nvPr/>
        </p:nvSpPr>
        <p:spPr>
          <a:xfrm>
            <a:off x="594360" y="1691640"/>
            <a:ext cx="7498080" cy="960120"/>
          </a:xfrm>
          <a:prstGeom prst="roundRect">
            <a:avLst>
              <a:gd name="adj" fmla="val 17143"/>
            </a:avLst>
          </a:prstGeom>
          <a:solidFill>
            <a:srgbClr val="30344A"/>
          </a:solidFill>
          <a:ln w="12700">
            <a:solidFill>
              <a:srgbClr val="30344A"/>
            </a:solidFill>
            <a:prstDash val="solid"/>
          </a:ln>
        </p:spPr>
        <p:txBody>
          <a:bodyPr/>
          <a:p/>
        </p:txBody>
      </p:sp>
      <p:sp>
        <p:nvSpPr>
          <p:cNvPr id="5" name="Shape 3"/>
          <p:cNvSpPr/>
          <p:nvPr/>
        </p:nvSpPr>
        <p:spPr>
          <a:xfrm flipV="1">
            <a:off x="1005840" y="2633472"/>
            <a:ext cx="457200" cy="292608"/>
          </a:xfrm>
          <a:prstGeom prst="triangle">
            <a:avLst/>
          </a:prstGeom>
          <a:solidFill>
            <a:srgbClr val="30344A"/>
          </a:solidFill>
          <a:ln w="12700">
            <a:solidFill>
              <a:srgbClr val="30344A"/>
            </a:solidFill>
            <a:prstDash val="solid"/>
          </a:ln>
        </p:spPr>
        <p:txBody>
          <a:bodyPr/>
          <a:p/>
        </p:txBody>
      </p:sp>
      <p:sp>
        <p:nvSpPr>
          <p:cNvPr id="6" name="Text 4"/>
          <p:cNvSpPr/>
          <p:nvPr/>
        </p:nvSpPr>
        <p:spPr>
          <a:xfrm>
            <a:off x="868680" y="1691640"/>
            <a:ext cx="7040880" cy="96012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„Știu că fumatul nu e bun, toată lumea știe. Dar nu am timp de doctori.”</a:t>
            </a:r>
            <a:endParaRPr lang="en-US" sz="1900" dirty="0"/>
          </a:p>
        </p:txBody>
      </p:sp>
      <p:sp>
        <p:nvSpPr>
          <p:cNvPr id="7" name="Shape 5"/>
          <p:cNvSpPr/>
          <p:nvPr/>
        </p:nvSpPr>
        <p:spPr>
          <a:xfrm>
            <a:off x="594360" y="3154680"/>
            <a:ext cx="3108960" cy="822960"/>
          </a:xfrm>
          <a:prstGeom prst="roundRect">
            <a:avLst>
              <a:gd name="adj" fmla="val 10000"/>
            </a:avLst>
          </a:prstGeom>
          <a:solidFill>
            <a:srgbClr val="272A38"/>
          </a:solidFill>
          <a:ln w="12700">
            <a:solidFill>
              <a:srgbClr val="272A38"/>
            </a:solidFill>
            <a:prstDash val="solid"/>
          </a:ln>
        </p:spPr>
        <p:txBody>
          <a:bodyPr/>
          <a:p/>
        </p:txBody>
      </p:sp>
      <p:sp>
        <p:nvSpPr>
          <p:cNvPr id="8" name="Text 6"/>
          <p:cNvSpPr/>
          <p:nvPr/>
        </p:nvSpPr>
        <p:spPr>
          <a:xfrm>
            <a:off x="594360" y="3154680"/>
            <a:ext cx="3108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Cunoștințe</a:t>
            </a:r>
            <a:endParaRPr lang="en-US" sz="1900" dirty="0"/>
          </a:p>
        </p:txBody>
      </p:sp>
      <p:sp>
        <p:nvSpPr>
          <p:cNvPr id="9" name="Shape 7"/>
          <p:cNvSpPr/>
          <p:nvPr/>
        </p:nvSpPr>
        <p:spPr>
          <a:xfrm>
            <a:off x="4343400" y="3154680"/>
            <a:ext cx="3108960" cy="822960"/>
          </a:xfrm>
          <a:prstGeom prst="roundRect">
            <a:avLst>
              <a:gd name="adj" fmla="val 10000"/>
            </a:avLst>
          </a:prstGeom>
          <a:solidFill>
            <a:srgbClr val="272A38"/>
          </a:solidFill>
          <a:ln w="12700">
            <a:solidFill>
              <a:srgbClr val="272A38"/>
            </a:solidFill>
            <a:prstDash val="solid"/>
          </a:ln>
        </p:spPr>
        <p:txBody>
          <a:bodyPr/>
          <a:p/>
        </p:txBody>
      </p:sp>
      <p:sp>
        <p:nvSpPr>
          <p:cNvPr id="10" name="Text 8"/>
          <p:cNvSpPr/>
          <p:nvPr/>
        </p:nvSpPr>
        <p:spPr>
          <a:xfrm>
            <a:off x="4343400" y="3154680"/>
            <a:ext cx="310896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Atitudini</a:t>
            </a:r>
            <a:endParaRPr lang="en-US" sz="1900" dirty="0"/>
          </a:p>
        </p:txBody>
      </p:sp>
      <p:sp>
        <p:nvSpPr>
          <p:cNvPr id="11" name="Shape 9"/>
          <p:cNvSpPr/>
          <p:nvPr/>
        </p:nvSpPr>
        <p:spPr>
          <a:xfrm>
            <a:off x="8092440" y="3154680"/>
            <a:ext cx="3108960" cy="822960"/>
          </a:xfrm>
          <a:prstGeom prst="roundRect">
            <a:avLst>
              <a:gd name="adj" fmla="val 10000"/>
            </a:avLst>
          </a:prstGeom>
          <a:solidFill>
            <a:srgbClr val="FF4757"/>
          </a:solidFill>
          <a:ln w="12700">
            <a:solidFill>
              <a:srgbClr val="FF4757"/>
            </a:solidFill>
            <a:prstDash val="solid"/>
          </a:ln>
        </p:spPr>
        <p:txBody>
          <a:bodyPr/>
          <a:p/>
        </p:txBody>
      </p:sp>
      <p:sp>
        <p:nvSpPr>
          <p:cNvPr id="12" name="Text 10"/>
          <p:cNvSpPr/>
          <p:nvPr/>
        </p:nvSpPr>
        <p:spPr>
          <a:xfrm>
            <a:off x="8092440" y="3154680"/>
            <a:ext cx="3108960" cy="822960"/>
          </a:xfrm>
          <a:prstGeom prst="rect">
            <a:avLst/>
          </a:prstGeom>
          <a:noFill/>
          <a:ln/>
        </p:spPr>
        <p:txBody>
          <a:bodyPr wrap="square" lIns="0" tIns="0" rIns="0" bIns="0" rtlCol="0" anchor="ctr"/>
          <a:lstStyle/>
          <a:p>
            <a:pPr algn="ctr" indent="0" marL="0">
              <a:buNone/>
            </a:pPr>
            <a:r>
              <a:rPr lang="en-US" sz="1900" b="1" dirty="0">
                <a:solidFill>
                  <a:srgbClr val="2E060B"/>
                </a:solidFill>
                <a:latin typeface="Palatino Linotype" pitchFamily="34" charset="0"/>
                <a:ea typeface="Palatino Linotype" pitchFamily="34" charset="-122"/>
                <a:cs typeface="Palatino Linotype" pitchFamily="34" charset="-120"/>
              </a:rPr>
              <a:t>Comportament</a:t>
            </a:r>
            <a:endParaRPr lang="en-US" sz="1900" dirty="0"/>
          </a:p>
        </p:txBody>
      </p:sp>
      <p:sp>
        <p:nvSpPr>
          <p:cNvPr id="13" name="Shape 11"/>
          <p:cNvSpPr/>
          <p:nvPr/>
        </p:nvSpPr>
        <p:spPr>
          <a:xfrm>
            <a:off x="3749040" y="3410712"/>
            <a:ext cx="548640" cy="310896"/>
          </a:xfrm>
          <a:prstGeom prst="rightArrow">
            <a:avLst/>
          </a:prstGeom>
          <a:solidFill>
            <a:srgbClr val="959BB0"/>
          </a:solidFill>
          <a:ln w="12700">
            <a:solidFill>
              <a:srgbClr val="959BB0"/>
            </a:solidFill>
            <a:prstDash val="solid"/>
          </a:ln>
        </p:spPr>
        <p:txBody>
          <a:bodyPr/>
          <a:p/>
        </p:txBody>
      </p:sp>
      <p:sp>
        <p:nvSpPr>
          <p:cNvPr id="14" name="Text 12"/>
          <p:cNvSpPr/>
          <p:nvPr/>
        </p:nvSpPr>
        <p:spPr>
          <a:xfrm>
            <a:off x="7452360" y="3154680"/>
            <a:ext cx="640080" cy="822960"/>
          </a:xfrm>
          <a:prstGeom prst="rect">
            <a:avLst/>
          </a:prstGeom>
          <a:noFill/>
          <a:ln/>
        </p:spPr>
        <p:txBody>
          <a:bodyPr wrap="square" lIns="0" tIns="0" rIns="0" bIns="0" rtlCol="0" anchor="ctr"/>
          <a:lstStyle/>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a:t>
            </a:r>
            <a:endParaRPr lang="en-US" sz="3000" dirty="0"/>
          </a:p>
        </p:txBody>
      </p:sp>
      <p:sp>
        <p:nvSpPr>
          <p:cNvPr id="15" name="Text 13"/>
          <p:cNvSpPr/>
          <p:nvPr/>
        </p:nvSpPr>
        <p:spPr>
          <a:xfrm>
            <a:off x="594360" y="4251960"/>
            <a:ext cx="10972800" cy="320040"/>
          </a:xfrm>
          <a:prstGeom prst="rect">
            <a:avLst/>
          </a:prstGeom>
          <a:noFill/>
          <a:ln/>
        </p:spPr>
        <p:txBody>
          <a:bodyPr wrap="square" lIns="0" tIns="0" rIns="0" bIns="0" rtlCol="0" anchor="t"/>
          <a:lstStyle/>
          <a:p>
            <a:pPr indent="0" marL="0">
              <a:buNone/>
            </a:pPr>
            <a:r>
              <a:rPr lang="en-US" sz="1400" b="1" spc="200" kern="0" dirty="0">
                <a:solidFill>
                  <a:srgbClr val="959BB0"/>
                </a:solidFill>
                <a:latin typeface="Palatino Linotype" pitchFamily="34" charset="0"/>
                <a:ea typeface="Palatino Linotype" pitchFamily="34" charset="-122"/>
                <a:cs typeface="Palatino Linotype" pitchFamily="34" charset="-120"/>
              </a:rPr>
              <a:t>Între ele intervin</a:t>
            </a:r>
            <a:endParaRPr lang="en-US" sz="1400" dirty="0"/>
          </a:p>
        </p:txBody>
      </p:sp>
      <p:sp>
        <p:nvSpPr>
          <p:cNvPr id="16" name="Shape 14"/>
          <p:cNvSpPr/>
          <p:nvPr/>
        </p:nvSpPr>
        <p:spPr>
          <a:xfrm>
            <a:off x="594360" y="4663440"/>
            <a:ext cx="2103120" cy="329184"/>
          </a:xfrm>
          <a:prstGeom prst="roundRect">
            <a:avLst>
              <a:gd name="adj" fmla="val 50000"/>
            </a:avLst>
          </a:prstGeom>
          <a:solidFill>
            <a:srgbClr val="07564B"/>
          </a:solidFill>
          <a:ln w="12700">
            <a:solidFill>
              <a:srgbClr val="07564B"/>
            </a:solidFill>
            <a:prstDash val="solid"/>
          </a:ln>
        </p:spPr>
        <p:txBody>
          <a:bodyPr/>
          <a:p/>
        </p:txBody>
      </p:sp>
      <p:sp>
        <p:nvSpPr>
          <p:cNvPr id="17" name="Text 15"/>
          <p:cNvSpPr/>
          <p:nvPr/>
        </p:nvSpPr>
        <p:spPr>
          <a:xfrm>
            <a:off x="594360" y="4663440"/>
            <a:ext cx="21031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percepțiile</a:t>
            </a:r>
            <a:endParaRPr lang="en-US" sz="1350" dirty="0"/>
          </a:p>
        </p:txBody>
      </p:sp>
      <p:sp>
        <p:nvSpPr>
          <p:cNvPr id="18" name="Shape 16"/>
          <p:cNvSpPr/>
          <p:nvPr/>
        </p:nvSpPr>
        <p:spPr>
          <a:xfrm>
            <a:off x="2834640" y="4663440"/>
            <a:ext cx="2103120" cy="329184"/>
          </a:xfrm>
          <a:prstGeom prst="roundRect">
            <a:avLst>
              <a:gd name="adj" fmla="val 50000"/>
            </a:avLst>
          </a:prstGeom>
          <a:solidFill>
            <a:srgbClr val="07564B"/>
          </a:solidFill>
          <a:ln w="12700">
            <a:solidFill>
              <a:srgbClr val="07564B"/>
            </a:solidFill>
            <a:prstDash val="solid"/>
          </a:ln>
        </p:spPr>
        <p:txBody>
          <a:bodyPr/>
          <a:p/>
        </p:txBody>
      </p:sp>
      <p:sp>
        <p:nvSpPr>
          <p:cNvPr id="19" name="Text 17"/>
          <p:cNvSpPr/>
          <p:nvPr/>
        </p:nvSpPr>
        <p:spPr>
          <a:xfrm>
            <a:off x="2834640" y="4663440"/>
            <a:ext cx="21031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emoțiile</a:t>
            </a:r>
            <a:endParaRPr lang="en-US" sz="1350" dirty="0"/>
          </a:p>
        </p:txBody>
      </p:sp>
      <p:sp>
        <p:nvSpPr>
          <p:cNvPr id="20" name="Shape 18"/>
          <p:cNvSpPr/>
          <p:nvPr/>
        </p:nvSpPr>
        <p:spPr>
          <a:xfrm>
            <a:off x="5074920" y="4663440"/>
            <a:ext cx="2103120" cy="329184"/>
          </a:xfrm>
          <a:prstGeom prst="roundRect">
            <a:avLst>
              <a:gd name="adj" fmla="val 50000"/>
            </a:avLst>
          </a:prstGeom>
          <a:solidFill>
            <a:srgbClr val="07564B"/>
          </a:solidFill>
          <a:ln w="12700">
            <a:solidFill>
              <a:srgbClr val="07564B"/>
            </a:solidFill>
            <a:prstDash val="solid"/>
          </a:ln>
        </p:spPr>
        <p:txBody>
          <a:bodyPr/>
          <a:p/>
        </p:txBody>
      </p:sp>
      <p:sp>
        <p:nvSpPr>
          <p:cNvPr id="21" name="Text 19"/>
          <p:cNvSpPr/>
          <p:nvPr/>
        </p:nvSpPr>
        <p:spPr>
          <a:xfrm>
            <a:off x="5074920" y="4663440"/>
            <a:ext cx="21031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normele grupului</a:t>
            </a:r>
            <a:endParaRPr lang="en-US" sz="1350" dirty="0"/>
          </a:p>
        </p:txBody>
      </p:sp>
      <p:sp>
        <p:nvSpPr>
          <p:cNvPr id="22" name="Shape 20"/>
          <p:cNvSpPr/>
          <p:nvPr/>
        </p:nvSpPr>
        <p:spPr>
          <a:xfrm>
            <a:off x="7315200" y="4663440"/>
            <a:ext cx="2103120" cy="329184"/>
          </a:xfrm>
          <a:prstGeom prst="roundRect">
            <a:avLst>
              <a:gd name="adj" fmla="val 50000"/>
            </a:avLst>
          </a:prstGeom>
          <a:solidFill>
            <a:srgbClr val="07564B"/>
          </a:solidFill>
          <a:ln w="12700">
            <a:solidFill>
              <a:srgbClr val="07564B"/>
            </a:solidFill>
            <a:prstDash val="solid"/>
          </a:ln>
        </p:spPr>
        <p:txBody>
          <a:bodyPr/>
          <a:p/>
        </p:txBody>
      </p:sp>
      <p:sp>
        <p:nvSpPr>
          <p:cNvPr id="23" name="Text 21"/>
          <p:cNvSpPr/>
          <p:nvPr/>
        </p:nvSpPr>
        <p:spPr>
          <a:xfrm>
            <a:off x="7315200" y="4663440"/>
            <a:ext cx="21031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obstacolele practice</a:t>
            </a:r>
            <a:endParaRPr lang="en-US" sz="1350" dirty="0"/>
          </a:p>
        </p:txBody>
      </p:sp>
      <p:sp>
        <p:nvSpPr>
          <p:cNvPr id="24" name="Shape 22"/>
          <p:cNvSpPr/>
          <p:nvPr/>
        </p:nvSpPr>
        <p:spPr>
          <a:xfrm>
            <a:off x="9555480" y="4663440"/>
            <a:ext cx="2103120" cy="329184"/>
          </a:xfrm>
          <a:prstGeom prst="roundRect">
            <a:avLst>
              <a:gd name="adj" fmla="val 50000"/>
            </a:avLst>
          </a:prstGeom>
          <a:solidFill>
            <a:srgbClr val="07564B"/>
          </a:solidFill>
          <a:ln w="12700">
            <a:solidFill>
              <a:srgbClr val="07564B"/>
            </a:solidFill>
            <a:prstDash val="solid"/>
          </a:ln>
        </p:spPr>
        <p:txBody>
          <a:bodyPr/>
          <a:p/>
        </p:txBody>
      </p:sp>
      <p:sp>
        <p:nvSpPr>
          <p:cNvPr id="25" name="Text 23"/>
          <p:cNvSpPr/>
          <p:nvPr/>
        </p:nvSpPr>
        <p:spPr>
          <a:xfrm>
            <a:off x="9555480" y="4663440"/>
            <a:ext cx="210312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încrederea în sine</a:t>
            </a:r>
            <a:endParaRPr lang="en-US" sz="1350" dirty="0"/>
          </a:p>
        </p:txBody>
      </p:sp>
      <p:sp>
        <p:nvSpPr>
          <p:cNvPr id="26" name="Text 24"/>
          <p:cNvSpPr/>
          <p:nvPr/>
        </p:nvSpPr>
        <p:spPr>
          <a:xfrm>
            <a:off x="594360" y="5303520"/>
            <a:ext cx="10972800" cy="7315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Informația corectă e necesară, dar nu suficientă: screeningul se face tocmai când nu ai probleme, despre vaccin a citit informații false, iar distanța și programul o împiedică.</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GLOSARUL OMS · CARTA DE LA OTTAWA, 1986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A învăța pe cineva sau a-i schimba condițiile</a:t>
            </a:r>
            <a:endParaRPr lang="en-US" sz="2800" dirty="0"/>
          </a:p>
        </p:txBody>
      </p:sp>
      <p:sp>
        <p:nvSpPr>
          <p:cNvPr id="4" name="Shape 2"/>
          <p:cNvSpPr/>
          <p:nvPr/>
        </p:nvSpPr>
        <p:spPr>
          <a:xfrm>
            <a:off x="594360" y="1600200"/>
            <a:ext cx="5394960" cy="1508760"/>
          </a:xfrm>
          <a:prstGeom prst="roundRect">
            <a:avLst>
              <a:gd name="adj" fmla="val 5455"/>
            </a:avLst>
          </a:prstGeom>
          <a:solidFill>
            <a:srgbClr val="ECEAE4"/>
          </a:solidFill>
          <a:ln w="12700">
            <a:solidFill>
              <a:srgbClr val="ECEAE4"/>
            </a:solidFill>
            <a:prstDash val="solid"/>
          </a:ln>
        </p:spPr>
        <p:txBody>
          <a:bodyPr/>
          <a:p/>
        </p:txBody>
      </p:sp>
      <p:sp>
        <p:nvSpPr>
          <p:cNvPr id="5" name="Text 3"/>
          <p:cNvSpPr/>
          <p:nvPr/>
        </p:nvSpPr>
        <p:spPr>
          <a:xfrm>
            <a:off x="822960" y="1691640"/>
            <a:ext cx="4937760" cy="32004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EDUCAȚIA PENTRU SĂNĂTATE</a:t>
            </a:r>
            <a:endParaRPr lang="en-US" sz="1400" dirty="0"/>
          </a:p>
        </p:txBody>
      </p:sp>
      <p:sp>
        <p:nvSpPr>
          <p:cNvPr id="6" name="Text 4"/>
          <p:cNvSpPr/>
          <p:nvPr/>
        </p:nvSpPr>
        <p:spPr>
          <a:xfrm>
            <a:off x="822960" y="2057400"/>
            <a:ext cx="493776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Experiențe de învățare: cunoștințe, motivație, alfabetizare în sănătate.</a:t>
            </a:r>
            <a:endParaRPr lang="en-US" sz="1500" dirty="0"/>
          </a:p>
        </p:txBody>
      </p:sp>
      <p:sp>
        <p:nvSpPr>
          <p:cNvPr id="7" name="Shape 5"/>
          <p:cNvSpPr/>
          <p:nvPr/>
        </p:nvSpPr>
        <p:spPr>
          <a:xfrm>
            <a:off x="6172200" y="1600200"/>
            <a:ext cx="5394960" cy="1508760"/>
          </a:xfrm>
          <a:prstGeom prst="roundRect">
            <a:avLst>
              <a:gd name="adj" fmla="val 5455"/>
            </a:avLst>
          </a:prstGeom>
          <a:solidFill>
            <a:srgbClr val="ECEAE4"/>
          </a:solidFill>
          <a:ln w="12700">
            <a:solidFill>
              <a:srgbClr val="ECEAE4"/>
            </a:solidFill>
            <a:prstDash val="solid"/>
          </a:ln>
        </p:spPr>
        <p:txBody>
          <a:bodyPr/>
          <a:p/>
        </p:txBody>
      </p:sp>
      <p:sp>
        <p:nvSpPr>
          <p:cNvPr id="8" name="Text 6"/>
          <p:cNvSpPr/>
          <p:nvPr/>
        </p:nvSpPr>
        <p:spPr>
          <a:xfrm>
            <a:off x="6400800" y="1691640"/>
            <a:ext cx="4937760" cy="32004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PROMOVAREA SĂNĂTĂȚII</a:t>
            </a:r>
            <a:endParaRPr lang="en-US" sz="1400" dirty="0"/>
          </a:p>
        </p:txBody>
      </p:sp>
      <p:sp>
        <p:nvSpPr>
          <p:cNvPr id="9" name="Text 7"/>
          <p:cNvSpPr/>
          <p:nvPr/>
        </p:nvSpPr>
        <p:spPr>
          <a:xfrm>
            <a:off x="6400800" y="2057400"/>
            <a:ext cx="493776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Procesul prin care oamenii capătă mai mult control asupra sănătății lor.</a:t>
            </a:r>
            <a:endParaRPr lang="en-US" sz="1500" dirty="0"/>
          </a:p>
        </p:txBody>
      </p:sp>
      <p:sp>
        <p:nvSpPr>
          <p:cNvPr id="10" name="Text 8"/>
          <p:cNvSpPr/>
          <p:nvPr/>
        </p:nvSpPr>
        <p:spPr>
          <a:xfrm>
            <a:off x="594360" y="3291840"/>
            <a:ext cx="1280160" cy="502920"/>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Ținta</a:t>
            </a:r>
            <a:endParaRPr lang="en-US" sz="1400" dirty="0"/>
          </a:p>
        </p:txBody>
      </p:sp>
      <p:sp>
        <p:nvSpPr>
          <p:cNvPr id="11" name="Text 9"/>
          <p:cNvSpPr/>
          <p:nvPr/>
        </p:nvSpPr>
        <p:spPr>
          <a:xfrm>
            <a:off x="1920240" y="3291840"/>
            <a:ext cx="4160520" cy="502920"/>
          </a:xfrm>
          <a:prstGeom prst="rect">
            <a:avLst/>
          </a:prstGeom>
          <a:noFill/>
          <a:ln/>
        </p:spPr>
        <p:txBody>
          <a:bodyPr wrap="square" lIns="0" tIns="0" rIns="0" bIns="0" rtlCol="0" anchor="ctr"/>
          <a:lstStyle/>
          <a:p>
            <a:pPr indent="0" marL="0">
              <a:buNone/>
            </a:pPr>
            <a:r>
              <a:rPr lang="en-US" sz="1450" dirty="0">
                <a:solidFill>
                  <a:srgbClr val="0E7C6B"/>
                </a:solidFill>
                <a:latin typeface="Palatino Linotype" pitchFamily="34" charset="0"/>
                <a:ea typeface="Palatino Linotype" pitchFamily="34" charset="-122"/>
                <a:cs typeface="Palatino Linotype" pitchFamily="34" charset="-120"/>
              </a:rPr>
              <a:t>persoana sau grupul</a:t>
            </a:r>
            <a:endParaRPr lang="en-US" sz="1450" dirty="0"/>
          </a:p>
        </p:txBody>
      </p:sp>
      <p:sp>
        <p:nvSpPr>
          <p:cNvPr id="12" name="Text 10"/>
          <p:cNvSpPr/>
          <p:nvPr/>
        </p:nvSpPr>
        <p:spPr>
          <a:xfrm>
            <a:off x="6172200" y="3291840"/>
            <a:ext cx="5394960" cy="502920"/>
          </a:xfrm>
          <a:prstGeom prst="rect">
            <a:avLst/>
          </a:prstGeom>
          <a:noFill/>
          <a:ln/>
        </p:spPr>
        <p:txBody>
          <a:bodyPr wrap="square" lIns="0" tIns="0" rIns="0" bIns="0" rtlCol="0" anchor="ctr"/>
          <a:lstStyle/>
          <a:p>
            <a:pPr indent="0" marL="0">
              <a:buNone/>
            </a:pPr>
            <a:r>
              <a:rPr lang="en-US" sz="1450" dirty="0">
                <a:solidFill>
                  <a:srgbClr val="B02532"/>
                </a:solidFill>
                <a:latin typeface="Palatino Linotype" pitchFamily="34" charset="0"/>
                <a:ea typeface="Palatino Linotype" pitchFamily="34" charset="-122"/>
                <a:cs typeface="Palatino Linotype" pitchFamily="34" charset="-120"/>
              </a:rPr>
              <a:t>și comunitatea, și politicile</a:t>
            </a:r>
            <a:endParaRPr lang="en-US" sz="1450" dirty="0"/>
          </a:p>
        </p:txBody>
      </p:sp>
      <p:sp>
        <p:nvSpPr>
          <p:cNvPr id="13" name="Shape 11"/>
          <p:cNvSpPr/>
          <p:nvPr/>
        </p:nvSpPr>
        <p:spPr>
          <a:xfrm>
            <a:off x="594360" y="3822192"/>
            <a:ext cx="10972800" cy="7315"/>
          </a:xfrm>
          <a:prstGeom prst="rect">
            <a:avLst/>
          </a:prstGeom>
          <a:solidFill>
            <a:srgbClr val="C9C6BE"/>
          </a:solidFill>
          <a:ln/>
        </p:spPr>
        <p:txBody>
          <a:bodyPr/>
          <a:p/>
        </p:txBody>
      </p:sp>
      <p:sp>
        <p:nvSpPr>
          <p:cNvPr id="14" name="Text 12"/>
          <p:cNvSpPr/>
          <p:nvPr/>
        </p:nvSpPr>
        <p:spPr>
          <a:xfrm>
            <a:off x="594360" y="3858768"/>
            <a:ext cx="1280160" cy="502920"/>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Metodele</a:t>
            </a:r>
            <a:endParaRPr lang="en-US" sz="1400" dirty="0"/>
          </a:p>
        </p:txBody>
      </p:sp>
      <p:sp>
        <p:nvSpPr>
          <p:cNvPr id="15" name="Text 13"/>
          <p:cNvSpPr/>
          <p:nvPr/>
        </p:nvSpPr>
        <p:spPr>
          <a:xfrm>
            <a:off x="1920240" y="3858768"/>
            <a:ext cx="4160520" cy="502920"/>
          </a:xfrm>
          <a:prstGeom prst="rect">
            <a:avLst/>
          </a:prstGeom>
          <a:noFill/>
          <a:ln/>
        </p:spPr>
        <p:txBody>
          <a:bodyPr wrap="square" lIns="0" tIns="0" rIns="0" bIns="0" rtlCol="0" anchor="ctr"/>
          <a:lstStyle/>
          <a:p>
            <a:pPr indent="0" marL="0">
              <a:buNone/>
            </a:pPr>
            <a:r>
              <a:rPr lang="en-US" sz="1450" dirty="0">
                <a:solidFill>
                  <a:srgbClr val="0E7C6B"/>
                </a:solidFill>
                <a:latin typeface="Palatino Linotype" pitchFamily="34" charset="0"/>
                <a:ea typeface="Palatino Linotype" pitchFamily="34" charset="-122"/>
                <a:cs typeface="Palatino Linotype" pitchFamily="34" charset="-120"/>
              </a:rPr>
              <a:t>informare, consiliere, exersare</a:t>
            </a:r>
            <a:endParaRPr lang="en-US" sz="1450" dirty="0"/>
          </a:p>
        </p:txBody>
      </p:sp>
      <p:sp>
        <p:nvSpPr>
          <p:cNvPr id="16" name="Text 14"/>
          <p:cNvSpPr/>
          <p:nvPr/>
        </p:nvSpPr>
        <p:spPr>
          <a:xfrm>
            <a:off x="6172200" y="3858768"/>
            <a:ext cx="5394960" cy="502920"/>
          </a:xfrm>
          <a:prstGeom prst="rect">
            <a:avLst/>
          </a:prstGeom>
          <a:noFill/>
          <a:ln/>
        </p:spPr>
        <p:txBody>
          <a:bodyPr wrap="square" lIns="0" tIns="0" rIns="0" bIns="0" rtlCol="0" anchor="ctr"/>
          <a:lstStyle/>
          <a:p>
            <a:pPr indent="0" marL="0">
              <a:buNone/>
            </a:pPr>
            <a:r>
              <a:rPr lang="en-US" sz="1450" dirty="0">
                <a:solidFill>
                  <a:srgbClr val="B02532"/>
                </a:solidFill>
                <a:latin typeface="Palatino Linotype" pitchFamily="34" charset="0"/>
                <a:ea typeface="Palatino Linotype" pitchFamily="34" charset="-122"/>
                <a:cs typeface="Palatino Linotype" pitchFamily="34" charset="-120"/>
              </a:rPr>
              <a:t>plus politici, mediu, comunitate, pledoarie</a:t>
            </a:r>
            <a:endParaRPr lang="en-US" sz="1450" dirty="0"/>
          </a:p>
        </p:txBody>
      </p:sp>
      <p:sp>
        <p:nvSpPr>
          <p:cNvPr id="17" name="Shape 15"/>
          <p:cNvSpPr/>
          <p:nvPr/>
        </p:nvSpPr>
        <p:spPr>
          <a:xfrm>
            <a:off x="594360" y="4389120"/>
            <a:ext cx="10972800" cy="7315"/>
          </a:xfrm>
          <a:prstGeom prst="rect">
            <a:avLst/>
          </a:prstGeom>
          <a:solidFill>
            <a:srgbClr val="C9C6BE"/>
          </a:solidFill>
          <a:ln/>
        </p:spPr>
        <p:txBody>
          <a:bodyPr/>
          <a:p/>
        </p:txBody>
      </p:sp>
      <p:sp>
        <p:nvSpPr>
          <p:cNvPr id="18" name="Text 16"/>
          <p:cNvSpPr/>
          <p:nvPr/>
        </p:nvSpPr>
        <p:spPr>
          <a:xfrm>
            <a:off x="594360" y="4425696"/>
            <a:ext cx="1280160" cy="502920"/>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Limita</a:t>
            </a:r>
            <a:endParaRPr lang="en-US" sz="1400" dirty="0"/>
          </a:p>
        </p:txBody>
      </p:sp>
      <p:sp>
        <p:nvSpPr>
          <p:cNvPr id="19" name="Text 17"/>
          <p:cNvSpPr/>
          <p:nvPr/>
        </p:nvSpPr>
        <p:spPr>
          <a:xfrm>
            <a:off x="1920240" y="4425696"/>
            <a:ext cx="4160520" cy="502920"/>
          </a:xfrm>
          <a:prstGeom prst="rect">
            <a:avLst/>
          </a:prstGeom>
          <a:noFill/>
          <a:ln/>
        </p:spPr>
        <p:txBody>
          <a:bodyPr wrap="square" lIns="0" tIns="0" rIns="0" bIns="0" rtlCol="0" anchor="ctr"/>
          <a:lstStyle/>
          <a:p>
            <a:pPr indent="0" marL="0">
              <a:buNone/>
            </a:pPr>
            <a:r>
              <a:rPr lang="en-US" sz="1450" dirty="0">
                <a:solidFill>
                  <a:srgbClr val="0E7C6B"/>
                </a:solidFill>
                <a:latin typeface="Palatino Linotype" pitchFamily="34" charset="0"/>
                <a:ea typeface="Palatino Linotype" pitchFamily="34" charset="-122"/>
                <a:cs typeface="Palatino Linotype" pitchFamily="34" charset="-120"/>
              </a:rPr>
              <a:t>condițiile pe care persoana nu le poate schimba</a:t>
            </a:r>
            <a:endParaRPr lang="en-US" sz="1450" dirty="0"/>
          </a:p>
        </p:txBody>
      </p:sp>
      <p:sp>
        <p:nvSpPr>
          <p:cNvPr id="20" name="Text 18"/>
          <p:cNvSpPr/>
          <p:nvPr/>
        </p:nvSpPr>
        <p:spPr>
          <a:xfrm>
            <a:off x="6172200" y="4425696"/>
            <a:ext cx="5394960" cy="502920"/>
          </a:xfrm>
          <a:prstGeom prst="rect">
            <a:avLst/>
          </a:prstGeom>
          <a:noFill/>
          <a:ln/>
        </p:spPr>
        <p:txBody>
          <a:bodyPr wrap="square" lIns="0" tIns="0" rIns="0" bIns="0" rtlCol="0" anchor="ctr"/>
          <a:lstStyle/>
          <a:p>
            <a:pPr indent="0" marL="0">
              <a:buNone/>
            </a:pPr>
            <a:r>
              <a:rPr lang="en-US" sz="1450" dirty="0">
                <a:solidFill>
                  <a:srgbClr val="B02532"/>
                </a:solidFill>
                <a:latin typeface="Palatino Linotype" pitchFamily="34" charset="0"/>
                <a:ea typeface="Palatino Linotype" pitchFamily="34" charset="-122"/>
                <a:cs typeface="Palatino Linotype" pitchFamily="34" charset="-120"/>
              </a:rPr>
              <a:t>timp, resurse, mai multe sectoare</a:t>
            </a:r>
            <a:endParaRPr lang="en-US" sz="1450" dirty="0"/>
          </a:p>
        </p:txBody>
      </p:sp>
      <p:sp>
        <p:nvSpPr>
          <p:cNvPr id="21" name="Shape 19"/>
          <p:cNvSpPr/>
          <p:nvPr/>
        </p:nvSpPr>
        <p:spPr>
          <a:xfrm>
            <a:off x="594360" y="4956048"/>
            <a:ext cx="10972800" cy="7315"/>
          </a:xfrm>
          <a:prstGeom prst="rect">
            <a:avLst/>
          </a:prstGeom>
          <a:solidFill>
            <a:srgbClr val="C9C6BE"/>
          </a:solidFill>
          <a:ln/>
        </p:spPr>
        <p:txBody>
          <a:bodyPr/>
          <a:p/>
        </p:txBody>
      </p:sp>
      <p:sp>
        <p:nvSpPr>
          <p:cNvPr id="22" name="Text 20"/>
          <p:cNvSpPr/>
          <p:nvPr/>
        </p:nvSpPr>
        <p:spPr>
          <a:xfrm>
            <a:off x="594360" y="5120640"/>
            <a:ext cx="10972800" cy="82296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Se completează: informarea antifumat plus interdicția în spațiile închise, prețuri mai mari, servicii de renunțare.</a:t>
            </a:r>
            <a:endParaRPr lang="en-US" sz="160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glosarul OMS de promovare a sănătății, 2021 (registru A801, A802); Carta de la Ottawa (A005).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CARTA DE LA OTTAWA, 1986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Cinci arii de acțiune</a:t>
            </a:r>
            <a:endParaRPr lang="en-US" sz="3200" dirty="0"/>
          </a:p>
        </p:txBody>
      </p:sp>
      <p:sp>
        <p:nvSpPr>
          <p:cNvPr id="4" name="Shape 2"/>
          <p:cNvSpPr/>
          <p:nvPr/>
        </p:nvSpPr>
        <p:spPr>
          <a:xfrm>
            <a:off x="594360" y="1645920"/>
            <a:ext cx="2103120" cy="219456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594360" y="1645920"/>
            <a:ext cx="210312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758952" y="1828800"/>
            <a:ext cx="1783080" cy="685800"/>
          </a:xfrm>
          <a:prstGeom prst="rect">
            <a:avLst/>
          </a:prstGeom>
          <a:noFill/>
          <a:ln/>
        </p:spPr>
        <p:txBody>
          <a:bodyPr wrap="square" lIns="0" tIns="0" rIns="0" bIns="0" rtlCol="0" anchor="t"/>
          <a:lstStyle/>
          <a:p>
            <a:pPr indent="0" marL="0">
              <a:buNone/>
            </a:pPr>
            <a:r>
              <a:rPr lang="en-US" sz="1400" b="1" dirty="0">
                <a:solidFill>
                  <a:srgbClr val="FF4757"/>
                </a:solidFill>
                <a:latin typeface="Palatino Linotype" pitchFamily="34" charset="0"/>
                <a:ea typeface="Palatino Linotype" pitchFamily="34" charset="-122"/>
                <a:cs typeface="Palatino Linotype" pitchFamily="34" charset="-120"/>
              </a:rPr>
              <a:t>Construirea unor politici publice</a:t>
            </a:r>
            <a:endParaRPr lang="en-US" sz="1550" dirty="0"/>
          </a:p>
        </p:txBody>
      </p:sp>
      <p:sp>
        <p:nvSpPr>
          <p:cNvPr id="7" name="Text 5"/>
          <p:cNvSpPr/>
          <p:nvPr/>
        </p:nvSpPr>
        <p:spPr>
          <a:xfrm>
            <a:off x="758952" y="2560320"/>
            <a:ext cx="1783080" cy="1188720"/>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favorabile sănătății: legea tutunului, alimentele</a:t>
            </a:r>
            <a:endParaRPr lang="en-US" sz="1350" dirty="0"/>
          </a:p>
        </p:txBody>
      </p:sp>
      <p:sp>
        <p:nvSpPr>
          <p:cNvPr id="8" name="Shape 6"/>
          <p:cNvSpPr/>
          <p:nvPr/>
        </p:nvSpPr>
        <p:spPr>
          <a:xfrm>
            <a:off x="2834640" y="1645920"/>
            <a:ext cx="2103120" cy="2194560"/>
          </a:xfrm>
          <a:prstGeom prst="roundRect">
            <a:avLst>
              <a:gd name="adj" fmla="val 3913"/>
            </a:avLst>
          </a:prstGeom>
          <a:solidFill>
            <a:srgbClr val="1D1F2B"/>
          </a:solidFill>
          <a:ln w="12700">
            <a:solidFill>
              <a:srgbClr val="1D1F2B"/>
            </a:solidFill>
            <a:prstDash val="solid"/>
          </a:ln>
        </p:spPr>
        <p:txBody>
          <a:bodyPr/>
          <a:p/>
        </p:txBody>
      </p:sp>
      <p:sp>
        <p:nvSpPr>
          <p:cNvPr id="9" name="Shape 7"/>
          <p:cNvSpPr/>
          <p:nvPr/>
        </p:nvSpPr>
        <p:spPr>
          <a:xfrm>
            <a:off x="2834640" y="1645920"/>
            <a:ext cx="2103120" cy="73152"/>
          </a:xfrm>
          <a:prstGeom prst="rect">
            <a:avLst/>
          </a:prstGeom>
          <a:solidFill>
            <a:srgbClr val="FFC24B"/>
          </a:solidFill>
          <a:ln w="12700">
            <a:solidFill>
              <a:srgbClr val="FFC24B"/>
            </a:solidFill>
            <a:prstDash val="solid"/>
          </a:ln>
        </p:spPr>
        <p:txBody>
          <a:bodyPr/>
          <a:p/>
        </p:txBody>
      </p:sp>
      <p:sp>
        <p:nvSpPr>
          <p:cNvPr id="10" name="Text 8"/>
          <p:cNvSpPr/>
          <p:nvPr/>
        </p:nvSpPr>
        <p:spPr>
          <a:xfrm>
            <a:off x="2999232" y="1828800"/>
            <a:ext cx="1783080" cy="685800"/>
          </a:xfrm>
          <a:prstGeom prst="rect">
            <a:avLst/>
          </a:prstGeom>
          <a:noFill/>
          <a:ln/>
        </p:spPr>
        <p:txBody>
          <a:bodyPr wrap="square" lIns="0" tIns="0" rIns="0" bIns="0" rtlCol="0" anchor="t"/>
          <a:lstStyle/>
          <a:p>
            <a:pPr indent="0" marL="0">
              <a:buNone/>
            </a:pPr>
            <a:r>
              <a:rPr lang="en-US" sz="1550" b="1" dirty="0">
                <a:solidFill>
                  <a:srgbClr val="FFC24B"/>
                </a:solidFill>
                <a:latin typeface="Palatino Linotype" pitchFamily="34" charset="0"/>
                <a:ea typeface="Palatino Linotype" pitchFamily="34" charset="-122"/>
                <a:cs typeface="Palatino Linotype" pitchFamily="34" charset="-120"/>
              </a:rPr>
              <a:t>Medii favorabile</a:t>
            </a:r>
            <a:endParaRPr lang="en-US" sz="1550" dirty="0"/>
          </a:p>
        </p:txBody>
      </p:sp>
      <p:sp>
        <p:nvSpPr>
          <p:cNvPr id="11" name="Text 9"/>
          <p:cNvSpPr/>
          <p:nvPr/>
        </p:nvSpPr>
        <p:spPr>
          <a:xfrm>
            <a:off x="2999232" y="2560320"/>
            <a:ext cx="1783080" cy="1188720"/>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la locul de muncă, în școală, în comunitate</a:t>
            </a:r>
            <a:endParaRPr lang="en-US" sz="1350" dirty="0"/>
          </a:p>
        </p:txBody>
      </p:sp>
      <p:sp>
        <p:nvSpPr>
          <p:cNvPr id="12" name="Shape 10"/>
          <p:cNvSpPr/>
          <p:nvPr/>
        </p:nvSpPr>
        <p:spPr>
          <a:xfrm>
            <a:off x="5074920" y="1645920"/>
            <a:ext cx="2103120" cy="2194560"/>
          </a:xfrm>
          <a:prstGeom prst="roundRect">
            <a:avLst>
              <a:gd name="adj" fmla="val 3913"/>
            </a:avLst>
          </a:prstGeom>
          <a:solidFill>
            <a:srgbClr val="1D1F2B"/>
          </a:solidFill>
          <a:ln w="12700">
            <a:solidFill>
              <a:srgbClr val="1D1F2B"/>
            </a:solidFill>
            <a:prstDash val="solid"/>
          </a:ln>
        </p:spPr>
        <p:txBody>
          <a:bodyPr/>
          <a:p/>
        </p:txBody>
      </p:sp>
      <p:sp>
        <p:nvSpPr>
          <p:cNvPr id="13" name="Shape 11"/>
          <p:cNvSpPr/>
          <p:nvPr/>
        </p:nvSpPr>
        <p:spPr>
          <a:xfrm>
            <a:off x="5074920" y="1645920"/>
            <a:ext cx="2103120" cy="73152"/>
          </a:xfrm>
          <a:prstGeom prst="rect">
            <a:avLst/>
          </a:prstGeom>
          <a:solidFill>
            <a:srgbClr val="27D3BE"/>
          </a:solidFill>
          <a:ln w="12700">
            <a:solidFill>
              <a:srgbClr val="27D3BE"/>
            </a:solidFill>
            <a:prstDash val="solid"/>
          </a:ln>
        </p:spPr>
        <p:txBody>
          <a:bodyPr/>
          <a:p/>
        </p:txBody>
      </p:sp>
      <p:sp>
        <p:nvSpPr>
          <p:cNvPr id="14" name="Text 12"/>
          <p:cNvSpPr/>
          <p:nvPr/>
        </p:nvSpPr>
        <p:spPr>
          <a:xfrm>
            <a:off x="5239512" y="1828800"/>
            <a:ext cx="1783080" cy="685800"/>
          </a:xfrm>
          <a:prstGeom prst="rect">
            <a:avLst/>
          </a:prstGeom>
          <a:noFill/>
          <a:ln/>
        </p:spPr>
        <p:txBody>
          <a:bodyPr wrap="square" lIns="0" tIns="0" rIns="0" bIns="0" rtlCol="0" anchor="t"/>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Acțiunea comunitară</a:t>
            </a:r>
            <a:endParaRPr lang="en-US" sz="1550" dirty="0"/>
          </a:p>
        </p:txBody>
      </p:sp>
      <p:sp>
        <p:nvSpPr>
          <p:cNvPr id="15" name="Text 13"/>
          <p:cNvSpPr/>
          <p:nvPr/>
        </p:nvSpPr>
        <p:spPr>
          <a:xfrm>
            <a:off x="5239512" y="2560320"/>
            <a:ext cx="1783080" cy="1188720"/>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comunitatea își stabilește prioritățile</a:t>
            </a:r>
            <a:endParaRPr lang="en-US" sz="1350" dirty="0"/>
          </a:p>
        </p:txBody>
      </p:sp>
      <p:sp>
        <p:nvSpPr>
          <p:cNvPr id="16" name="Shape 14"/>
          <p:cNvSpPr/>
          <p:nvPr/>
        </p:nvSpPr>
        <p:spPr>
          <a:xfrm>
            <a:off x="7315200" y="1645920"/>
            <a:ext cx="2103120" cy="2194560"/>
          </a:xfrm>
          <a:prstGeom prst="roundRect">
            <a:avLst>
              <a:gd name="adj" fmla="val 3913"/>
            </a:avLst>
          </a:prstGeom>
          <a:solidFill>
            <a:srgbClr val="1D1F2B"/>
          </a:solidFill>
          <a:ln w="12700">
            <a:solidFill>
              <a:srgbClr val="1D1F2B"/>
            </a:solidFill>
            <a:prstDash val="solid"/>
          </a:ln>
        </p:spPr>
        <p:txBody>
          <a:bodyPr/>
          <a:p/>
        </p:txBody>
      </p:sp>
      <p:sp>
        <p:nvSpPr>
          <p:cNvPr id="17" name="Shape 15"/>
          <p:cNvSpPr/>
          <p:nvPr/>
        </p:nvSpPr>
        <p:spPr>
          <a:xfrm>
            <a:off x="7315200" y="1645920"/>
            <a:ext cx="2103120" cy="73152"/>
          </a:xfrm>
          <a:prstGeom prst="rect">
            <a:avLst/>
          </a:prstGeom>
          <a:solidFill>
            <a:srgbClr val="9B7EF7"/>
          </a:solidFill>
          <a:ln w="12700">
            <a:solidFill>
              <a:srgbClr val="9B7EF7"/>
            </a:solidFill>
            <a:prstDash val="solid"/>
          </a:ln>
        </p:spPr>
        <p:txBody>
          <a:bodyPr/>
          <a:p/>
        </p:txBody>
      </p:sp>
      <p:sp>
        <p:nvSpPr>
          <p:cNvPr id="18" name="Text 16"/>
          <p:cNvSpPr/>
          <p:nvPr/>
        </p:nvSpPr>
        <p:spPr>
          <a:xfrm>
            <a:off x="7479792" y="1828800"/>
            <a:ext cx="1783080" cy="685800"/>
          </a:xfrm>
          <a:prstGeom prst="rect">
            <a:avLst/>
          </a:prstGeom>
          <a:noFill/>
          <a:ln/>
        </p:spPr>
        <p:txBody>
          <a:bodyPr wrap="square" lIns="0" tIns="0" rIns="0" bIns="0" rtlCol="0" anchor="t"/>
          <a:lstStyle/>
          <a:p>
            <a:pPr indent="0" marL="0">
              <a:buNone/>
            </a:pPr>
            <a:r>
              <a:rPr lang="en-US" sz="1550" b="1" dirty="0">
                <a:solidFill>
                  <a:srgbClr val="9B7EF7"/>
                </a:solidFill>
                <a:latin typeface="Palatino Linotype" pitchFamily="34" charset="0"/>
                <a:ea typeface="Palatino Linotype" pitchFamily="34" charset="-122"/>
                <a:cs typeface="Palatino Linotype" pitchFamily="34" charset="-120"/>
              </a:rPr>
              <a:t>Deprinderile personale</a:t>
            </a:r>
            <a:endParaRPr lang="en-US" sz="1550" dirty="0"/>
          </a:p>
        </p:txBody>
      </p:sp>
      <p:sp>
        <p:nvSpPr>
          <p:cNvPr id="19" name="Text 17"/>
          <p:cNvSpPr/>
          <p:nvPr/>
        </p:nvSpPr>
        <p:spPr>
          <a:xfrm>
            <a:off x="7479792" y="2560320"/>
            <a:ext cx="1783080" cy="1188720"/>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informare și educație pentru sănătate</a:t>
            </a:r>
            <a:endParaRPr lang="en-US" sz="1350" dirty="0"/>
          </a:p>
        </p:txBody>
      </p:sp>
      <p:sp>
        <p:nvSpPr>
          <p:cNvPr id="20" name="Shape 18"/>
          <p:cNvSpPr/>
          <p:nvPr/>
        </p:nvSpPr>
        <p:spPr>
          <a:xfrm>
            <a:off x="9555480" y="1645920"/>
            <a:ext cx="2103120" cy="2194560"/>
          </a:xfrm>
          <a:prstGeom prst="roundRect">
            <a:avLst>
              <a:gd name="adj" fmla="val 3913"/>
            </a:avLst>
          </a:prstGeom>
          <a:solidFill>
            <a:srgbClr val="1D1F2B"/>
          </a:solidFill>
          <a:ln w="12700">
            <a:solidFill>
              <a:srgbClr val="1D1F2B"/>
            </a:solidFill>
            <a:prstDash val="solid"/>
          </a:ln>
        </p:spPr>
        <p:txBody>
          <a:bodyPr/>
          <a:p/>
        </p:txBody>
      </p:sp>
      <p:sp>
        <p:nvSpPr>
          <p:cNvPr id="21" name="Shape 19"/>
          <p:cNvSpPr/>
          <p:nvPr/>
        </p:nvSpPr>
        <p:spPr>
          <a:xfrm>
            <a:off x="9555480" y="1645920"/>
            <a:ext cx="2103120" cy="73152"/>
          </a:xfrm>
          <a:prstGeom prst="rect">
            <a:avLst/>
          </a:prstGeom>
          <a:solidFill>
            <a:srgbClr val="FF8A3D"/>
          </a:solidFill>
          <a:ln w="12700">
            <a:solidFill>
              <a:srgbClr val="FF8A3D"/>
            </a:solidFill>
            <a:prstDash val="solid"/>
          </a:ln>
        </p:spPr>
        <p:txBody>
          <a:bodyPr/>
          <a:p/>
        </p:txBody>
      </p:sp>
      <p:sp>
        <p:nvSpPr>
          <p:cNvPr id="22" name="Text 20"/>
          <p:cNvSpPr/>
          <p:nvPr/>
        </p:nvSpPr>
        <p:spPr>
          <a:xfrm>
            <a:off x="9720072" y="1828800"/>
            <a:ext cx="1783080" cy="685800"/>
          </a:xfrm>
          <a:prstGeom prst="rect">
            <a:avLst/>
          </a:prstGeom>
          <a:noFill/>
          <a:ln/>
        </p:spPr>
        <p:txBody>
          <a:bodyPr wrap="square" lIns="0" tIns="0" rIns="0" bIns="0" rtlCol="0" anchor="t"/>
          <a:lstStyle/>
          <a:p>
            <a:pPr indent="0" marL="0">
              <a:buNone/>
            </a:pPr>
            <a:r>
              <a:rPr lang="en-US" sz="1550" b="1" dirty="0">
                <a:solidFill>
                  <a:srgbClr val="FF8A3D"/>
                </a:solidFill>
                <a:latin typeface="Palatino Linotype" pitchFamily="34" charset="0"/>
                <a:ea typeface="Palatino Linotype" pitchFamily="34" charset="-122"/>
                <a:cs typeface="Palatino Linotype" pitchFamily="34" charset="-120"/>
              </a:rPr>
              <a:t>Reorientarea serviciilor</a:t>
            </a:r>
            <a:endParaRPr lang="en-US" sz="1550" dirty="0"/>
          </a:p>
        </p:txBody>
      </p:sp>
      <p:sp>
        <p:nvSpPr>
          <p:cNvPr id="23" name="Text 21"/>
          <p:cNvSpPr/>
          <p:nvPr/>
        </p:nvSpPr>
        <p:spPr>
          <a:xfrm>
            <a:off x="9720072" y="2560320"/>
            <a:ext cx="1783080" cy="1188720"/>
          </a:xfrm>
          <a:prstGeom prst="rect">
            <a:avLst/>
          </a:prstGeom>
          <a:noFill/>
          <a:ln/>
        </p:spPr>
        <p:txBody>
          <a:bodyPr wrap="square" lIns="0" tIns="0" rIns="0" bIns="0" rtlCol="0" anchor="t"/>
          <a:lstStyle/>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de la tratarea bolii spre promovare</a:t>
            </a:r>
            <a:endParaRPr lang="en-US" sz="1350" dirty="0"/>
          </a:p>
        </p:txBody>
      </p:sp>
      <p:sp>
        <p:nvSpPr>
          <p:cNvPr id="24" name="Text 22"/>
          <p:cNvSpPr/>
          <p:nvPr/>
        </p:nvSpPr>
        <p:spPr>
          <a:xfrm>
            <a:off x="594360" y="4069080"/>
            <a:ext cx="3657600" cy="320040"/>
          </a:xfrm>
          <a:prstGeom prst="rect">
            <a:avLst/>
          </a:prstGeom>
          <a:noFill/>
          <a:ln/>
        </p:spPr>
        <p:txBody>
          <a:bodyPr wrap="square" lIns="0" tIns="0" rIns="0" bIns="0" rtlCol="0" anchor="t"/>
          <a:lstStyle/>
          <a:p>
            <a:pPr indent="0" marL="0">
              <a:buNone/>
            </a:pPr>
            <a:r>
              <a:rPr lang="en-US" sz="1400" b="1" spc="200" kern="0" dirty="0">
                <a:solidFill>
                  <a:srgbClr val="959BB0"/>
                </a:solidFill>
                <a:latin typeface="Palatino Linotype" pitchFamily="34" charset="0"/>
                <a:ea typeface="Palatino Linotype" pitchFamily="34" charset="-122"/>
                <a:cs typeface="Palatino Linotype" pitchFamily="34" charset="-120"/>
              </a:rPr>
              <a:t>TREI MODALITĂȚI</a:t>
            </a:r>
            <a:endParaRPr lang="en-US" sz="1400" dirty="0"/>
          </a:p>
        </p:txBody>
      </p:sp>
      <p:sp>
        <p:nvSpPr>
          <p:cNvPr id="25" name="Text 23"/>
          <p:cNvSpPr/>
          <p:nvPr/>
        </p:nvSpPr>
        <p:spPr>
          <a:xfrm>
            <a:off x="594360" y="4434840"/>
            <a:ext cx="6766560" cy="1280160"/>
          </a:xfrm>
          <a:prstGeom prst="rect">
            <a:avLst/>
          </a:prstGeom>
          <a:noFill/>
          <a:ln/>
        </p:spPr>
        <p:txBody>
          <a:bodyPr wrap="square" lIns="0" tIns="0" rIns="0" bIns="0" rtlCol="0" anchor="t"/>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Pledoaria, abilitarea, medierea. </a:t>
            </a:r>
            <a:pPr indent="0" marL="0">
              <a:buNone/>
            </a:pPr>
            <a:r>
              <a:rPr lang="en-US" sz="1550" dirty="0">
                <a:solidFill>
                  <a:srgbClr val="FFFFFF"/>
                </a:solidFill>
                <a:latin typeface="Palatino Linotype" pitchFamily="34" charset="0"/>
                <a:ea typeface="Palatino Linotype" pitchFamily="34" charset="-122"/>
                <a:cs typeface="Palatino Linotype" pitchFamily="34" charset="-120"/>
              </a:rPr>
              <a:t>Asistentul pledează pentru un pacient sau o comunitate, abilitează prin educație și mediază între familie, școală, primărie și serviciile de sănătate.</a:t>
            </a:r>
            <a:endParaRPr lang="en-US" sz="1550" dirty="0"/>
          </a:p>
          <a:p>
            <a:pPr indent="0" marL="0">
              <a:spcBef>
                <a:spcPts val="600"/>
              </a:spcBef>
              <a:buNone/>
            </a:pPr>
            <a:pPr indent="0" marL="0">
              <a:buNone/>
            </a:pPr>
            <a:r>
              <a:rPr lang="en-US" sz="1300" dirty="0">
                <a:solidFill>
                  <a:srgbClr val="FFFFFF"/>
                </a:solidFill>
                <a:latin typeface="Palatino Linotype" pitchFamily="34" charset="0"/>
                <a:ea typeface="Palatino Linotype" pitchFamily="34" charset="-122"/>
                <a:cs typeface="Palatino Linotype" pitchFamily="34" charset="-120"/>
              </a:rPr>
              <a:t>Glosarul OMS, 2021: ariile Cartei rămân valabile; azi se vorbește despre „sănătatea în toate politicile” și despre alfabetizarea în sănătate.</a:t>
            </a:r>
            <a:endParaRPr lang="en-US" sz="1550" dirty="0"/>
          </a:p>
        </p:txBody>
      </p:sp>
      <p:sp>
        <p:nvSpPr>
          <p:cNvPr id="26" name="Shape 24"/>
          <p:cNvSpPr/>
          <p:nvPr/>
        </p:nvSpPr>
        <p:spPr>
          <a:xfrm>
            <a:off x="8275320" y="4526280"/>
            <a:ext cx="237744" cy="237744"/>
          </a:xfrm>
          <a:prstGeom prst="ellipse">
            <a:avLst/>
          </a:prstGeom>
          <a:solidFill>
            <a:srgbClr val="FFC24B"/>
          </a:solidFill>
          <a:ln/>
        </p:spPr>
        <p:txBody>
          <a:bodyPr/>
          <a:p/>
        </p:txBody>
      </p:sp>
      <p:sp>
        <p:nvSpPr>
          <p:cNvPr id="27" name="Shape 25"/>
          <p:cNvSpPr/>
          <p:nvPr/>
        </p:nvSpPr>
        <p:spPr>
          <a:xfrm>
            <a:off x="8513064" y="4636008"/>
            <a:ext cx="1042416" cy="22860"/>
          </a:xfrm>
          <a:prstGeom prst="rect">
            <a:avLst/>
          </a:prstGeom>
          <a:solidFill>
            <a:srgbClr val="3A3E52"/>
          </a:solidFill>
          <a:ln/>
        </p:spPr>
        <p:txBody>
          <a:bodyPr/>
          <a:p/>
        </p:txBody>
      </p:sp>
      <p:sp>
        <p:nvSpPr>
          <p:cNvPr id="28" name="Text 26"/>
          <p:cNvSpPr/>
          <p:nvPr/>
        </p:nvSpPr>
        <p:spPr>
          <a:xfrm>
            <a:off x="7863840" y="4114800"/>
            <a:ext cx="1097280" cy="320040"/>
          </a:xfrm>
          <a:prstGeom prst="rect">
            <a:avLst/>
          </a:prstGeom>
          <a:noFill/>
          <a:ln/>
        </p:spPr>
        <p:txBody>
          <a:bodyPr wrap="square" lIns="0" tIns="0" rIns="0" bIns="0" rtlCol="0" anchor="t"/>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1986</a:t>
            </a:r>
            <a:endParaRPr lang="en-US" sz="1400" dirty="0"/>
          </a:p>
        </p:txBody>
      </p:sp>
      <p:sp>
        <p:nvSpPr>
          <p:cNvPr id="29" name="Text 27"/>
          <p:cNvSpPr/>
          <p:nvPr/>
        </p:nvSpPr>
        <p:spPr>
          <a:xfrm>
            <a:off x="7772400" y="4846320"/>
            <a:ext cx="1280160" cy="731520"/>
          </a:xfrm>
          <a:prstGeom prst="rect">
            <a:avLst/>
          </a:prstGeom>
          <a:noFill/>
          <a:ln/>
        </p:spPr>
        <p:txBody>
          <a:bodyPr wrap="square" lIns="0" tIns="0" rIns="0" bIns="0" rtlCol="0" anchor="t"/>
          <a:lstStyle/>
          <a:p>
            <a:pPr algn="ctr" indent="0" marL="0">
              <a:buNone/>
            </a:pPr>
            <a:r>
              <a:rPr lang="en-US" sz="1300" dirty="0">
                <a:solidFill>
                  <a:srgbClr val="FFFFFF"/>
                </a:solidFill>
                <a:latin typeface="Palatino Linotype" pitchFamily="34" charset="0"/>
                <a:ea typeface="Palatino Linotype" pitchFamily="34" charset="-122"/>
                <a:cs typeface="Palatino Linotype" pitchFamily="34" charset="-120"/>
              </a:rPr>
              <a:t>Ottawa</a:t>
            </a:r>
            <a:endParaRPr lang="en-US" sz="1300" dirty="0"/>
          </a:p>
        </p:txBody>
      </p:sp>
      <p:sp>
        <p:nvSpPr>
          <p:cNvPr id="30" name="Shape 28"/>
          <p:cNvSpPr/>
          <p:nvPr/>
        </p:nvSpPr>
        <p:spPr>
          <a:xfrm>
            <a:off x="9555480" y="4526280"/>
            <a:ext cx="237744" cy="237744"/>
          </a:xfrm>
          <a:prstGeom prst="ellipse">
            <a:avLst/>
          </a:prstGeom>
          <a:solidFill>
            <a:srgbClr val="FFC24B"/>
          </a:solidFill>
          <a:ln/>
        </p:spPr>
        <p:txBody>
          <a:bodyPr/>
          <a:p/>
        </p:txBody>
      </p:sp>
      <p:sp>
        <p:nvSpPr>
          <p:cNvPr id="31" name="Shape 29"/>
          <p:cNvSpPr/>
          <p:nvPr/>
        </p:nvSpPr>
        <p:spPr>
          <a:xfrm>
            <a:off x="9793224" y="4636008"/>
            <a:ext cx="1042416" cy="22860"/>
          </a:xfrm>
          <a:prstGeom prst="rect">
            <a:avLst/>
          </a:prstGeom>
          <a:solidFill>
            <a:srgbClr val="3A3E52"/>
          </a:solidFill>
          <a:ln/>
        </p:spPr>
        <p:txBody>
          <a:bodyPr/>
          <a:p/>
        </p:txBody>
      </p:sp>
      <p:sp>
        <p:nvSpPr>
          <p:cNvPr id="32" name="Text 30"/>
          <p:cNvSpPr/>
          <p:nvPr/>
        </p:nvSpPr>
        <p:spPr>
          <a:xfrm>
            <a:off x="9144000" y="4114800"/>
            <a:ext cx="1097280" cy="320040"/>
          </a:xfrm>
          <a:prstGeom prst="rect">
            <a:avLst/>
          </a:prstGeom>
          <a:noFill/>
          <a:ln/>
        </p:spPr>
        <p:txBody>
          <a:bodyPr wrap="square" lIns="0" tIns="0" rIns="0" bIns="0" rtlCol="0" anchor="t"/>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1997</a:t>
            </a:r>
            <a:endParaRPr lang="en-US" sz="1400" dirty="0"/>
          </a:p>
        </p:txBody>
      </p:sp>
      <p:sp>
        <p:nvSpPr>
          <p:cNvPr id="33" name="Text 31"/>
          <p:cNvSpPr/>
          <p:nvPr/>
        </p:nvSpPr>
        <p:spPr>
          <a:xfrm>
            <a:off x="9052560" y="4846320"/>
            <a:ext cx="1280160" cy="731520"/>
          </a:xfrm>
          <a:prstGeom prst="rect">
            <a:avLst/>
          </a:prstGeom>
          <a:noFill/>
          <a:ln/>
        </p:spPr>
        <p:txBody>
          <a:bodyPr wrap="square" lIns="0" tIns="0" rIns="0" bIns="0" rtlCol="0" anchor="t"/>
          <a:lstStyle/>
          <a:p>
            <a:pPr algn="ctr" indent="0" marL="0">
              <a:buNone/>
            </a:pPr>
            <a:r>
              <a:rPr lang="en-US" sz="1300" dirty="0">
                <a:solidFill>
                  <a:srgbClr val="FFFFFF"/>
                </a:solidFill>
                <a:latin typeface="Palatino Linotype" pitchFamily="34" charset="0"/>
                <a:ea typeface="Palatino Linotype" pitchFamily="34" charset="-122"/>
                <a:cs typeface="Palatino Linotype" pitchFamily="34" charset="-120"/>
              </a:rPr>
              <a:t>Jakarta</a:t>
            </a:r>
            <a:endParaRPr lang="en-US" sz="1300" dirty="0"/>
          </a:p>
        </p:txBody>
      </p:sp>
      <p:sp>
        <p:nvSpPr>
          <p:cNvPr id="34" name="Shape 32"/>
          <p:cNvSpPr/>
          <p:nvPr/>
        </p:nvSpPr>
        <p:spPr>
          <a:xfrm>
            <a:off x="10835640" y="4526280"/>
            <a:ext cx="237744" cy="237744"/>
          </a:xfrm>
          <a:prstGeom prst="ellipse">
            <a:avLst/>
          </a:prstGeom>
          <a:solidFill>
            <a:srgbClr val="FFC24B"/>
          </a:solidFill>
          <a:ln/>
        </p:spPr>
        <p:txBody>
          <a:bodyPr/>
          <a:p/>
        </p:txBody>
      </p:sp>
      <p:sp>
        <p:nvSpPr>
          <p:cNvPr id="35" name="Text 33"/>
          <p:cNvSpPr/>
          <p:nvPr/>
        </p:nvSpPr>
        <p:spPr>
          <a:xfrm>
            <a:off x="10424160" y="4114800"/>
            <a:ext cx="1097280" cy="320040"/>
          </a:xfrm>
          <a:prstGeom prst="rect">
            <a:avLst/>
          </a:prstGeom>
          <a:noFill/>
          <a:ln/>
        </p:spPr>
        <p:txBody>
          <a:bodyPr wrap="square" lIns="0" tIns="0" rIns="0" bIns="0" rtlCol="0" anchor="t"/>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2016</a:t>
            </a:r>
            <a:endParaRPr lang="en-US" sz="1400" dirty="0"/>
          </a:p>
        </p:txBody>
      </p:sp>
      <p:sp>
        <p:nvSpPr>
          <p:cNvPr id="36" name="Text 34"/>
          <p:cNvSpPr/>
          <p:nvPr/>
        </p:nvSpPr>
        <p:spPr>
          <a:xfrm>
            <a:off x="10332720" y="4846320"/>
            <a:ext cx="1280160" cy="731520"/>
          </a:xfrm>
          <a:prstGeom prst="rect">
            <a:avLst/>
          </a:prstGeom>
          <a:noFill/>
          <a:ln/>
        </p:spPr>
        <p:txBody>
          <a:bodyPr wrap="square" lIns="0" tIns="0" rIns="0" bIns="0" rtlCol="0" anchor="t"/>
          <a:lstStyle/>
          <a:p>
            <a:pPr algn="ctr" indent="0" marL="0">
              <a:buNone/>
            </a:pPr>
            <a:r>
              <a:rPr lang="en-US" sz="1300" dirty="0">
                <a:solidFill>
                  <a:srgbClr val="FFFFFF"/>
                </a:solidFill>
                <a:latin typeface="Palatino Linotype" pitchFamily="34" charset="0"/>
                <a:ea typeface="Palatino Linotype" pitchFamily="34" charset="-122"/>
                <a:cs typeface="Palatino Linotype" pitchFamily="34" charset="-120"/>
              </a:rPr>
              <a:t>Shanghai, Agenda 2030</a:t>
            </a:r>
            <a:endParaRPr lang="en-US" sz="1300" dirty="0"/>
          </a:p>
        </p:txBody>
      </p:sp>
      <p:sp>
        <p:nvSpPr>
          <p:cNvPr id="37" name="Text 3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Carta de la Ottawa (registru A190, A220); glosarul OMS din 2021 (A222, A803).</a:t>
            </a:r>
            <a:endParaRPr lang="en-US" sz="900" dirty="0"/>
          </a:p>
        </p:txBody>
      </p:sp>
      <p:sp>
        <p:nvSpPr>
          <p:cNvPr id="38" name="Text nou"/>
          <p:cNvSpPr/>
          <p:nvPr/>
        </p:nvSpPr>
        <p:spPr>
          <a:xfrm>
            <a:off x="7772400" y="3886200"/>
            <a:ext cx="3840480" cy="228600"/>
          </a:xfrm>
          <a:prstGeom prst="rect">
            <a:avLst/>
          </a:prstGeom>
          <a:noFill/>
          <a:ln/>
        </p:spPr>
        <p:txBody>
          <a:bodyPr wrap="square" lIns="0" tIns="0" rIns="0" bIns="0" rtlCol="0" anchor="t"/>
          <a:lstStyle/>
          <a:p>
            <a:pPr indent="0" marL="0">
              <a:buNone/>
            </a:pPr>
            <a:r>
              <a:rPr lang="en-US" sz="1050" b="1" spc="200" kern="0" dirty="0">
                <a:solidFill>
                  <a:srgbClr val="959BB0"/>
                </a:solidFill>
                <a:latin typeface="Palatino Linotype" pitchFamily="34" charset="0"/>
                <a:ea typeface="Palatino Linotype" pitchFamily="34" charset="-122"/>
                <a:cs typeface="Palatino Linotype" pitchFamily="34" charset="-120"/>
              </a:rPr>
              <a:t>CRONOLOGIE · PENTRU APROFUNDARE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GLOSARUL OMS, 2021 · PENTRU APROFUNDARE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 auzit sau a înțeles?</a:t>
            </a:r>
            <a:endParaRPr lang="en-US" sz="3200" dirty="0"/>
          </a:p>
        </p:txBody>
      </p:sp>
      <p:sp>
        <p:nvSpPr>
          <p:cNvPr id="4" name="Shape 2"/>
          <p:cNvSpPr/>
          <p:nvPr/>
        </p:nvSpPr>
        <p:spPr>
          <a:xfrm>
            <a:off x="594360" y="1600200"/>
            <a:ext cx="6675120" cy="1920240"/>
          </a:xfrm>
          <a:prstGeom prst="roundRect">
            <a:avLst>
              <a:gd name="adj" fmla="val 4286"/>
            </a:avLst>
          </a:prstGeom>
          <a:solidFill>
            <a:srgbClr val="ECEAE4"/>
          </a:solidFill>
          <a:ln w="12700">
            <a:solidFill>
              <a:srgbClr val="ECEAE4"/>
            </a:solidFill>
            <a:prstDash val="solid"/>
          </a:ln>
        </p:spPr>
        <p:txBody>
          <a:bodyPr/>
          <a:p/>
        </p:txBody>
      </p:sp>
      <p:sp>
        <p:nvSpPr>
          <p:cNvPr id="5" name="Text 3"/>
          <p:cNvSpPr/>
          <p:nvPr/>
        </p:nvSpPr>
        <p:spPr>
          <a:xfrm>
            <a:off x="822960" y="1600200"/>
            <a:ext cx="6263640" cy="192024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Alfabetizarea în sănătate: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cunoștințele și competențele care le permit oamenilor să găsească, să înțeleagă, să evalueze și să folosească informațiile și serviciile pentru decizii privind sănătatea.</a:t>
            </a:r>
            <a:endParaRPr lang="en-US" sz="1600" dirty="0"/>
          </a:p>
        </p:txBody>
      </p:sp>
      <p:sp>
        <p:nvSpPr>
          <p:cNvPr id="6" name="Text 4"/>
          <p:cNvSpPr/>
          <p:nvPr/>
        </p:nvSpPr>
        <p:spPr>
          <a:xfrm>
            <a:off x="7589520" y="1600200"/>
            <a:ext cx="4023360" cy="192024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Depinde și de cât de clar comunică serviciile.</a:t>
            </a:r>
            <a:endParaRPr lang="en-US" sz="2400" dirty="0"/>
          </a:p>
        </p:txBody>
      </p:sp>
      <p:sp>
        <p:nvSpPr>
          <p:cNvPr id="7" name="Text 5"/>
          <p:cNvSpPr/>
          <p:nvPr/>
        </p:nvSpPr>
        <p:spPr>
          <a:xfrm>
            <a:off x="594360" y="3749040"/>
            <a:ext cx="3657600" cy="320040"/>
          </a:xfrm>
          <a:prstGeom prst="rect">
            <a:avLst/>
          </a:prstGeom>
          <a:noFill/>
          <a:ln/>
        </p:spPr>
        <p:txBody>
          <a:bodyPr wrap="square" lIns="0" tIns="0" rIns="0" bIns="0" rtlCol="0" anchor="t"/>
          <a:lstStyle/>
          <a:p>
            <a:pPr indent="0" marL="0">
              <a:buNone/>
            </a:pPr>
            <a:r>
              <a:rPr lang="en-US" sz="1400" b="1" spc="200" kern="0" dirty="0">
                <a:solidFill>
                  <a:srgbClr val="585A64"/>
                </a:solidFill>
                <a:latin typeface="Palatino Linotype" pitchFamily="34" charset="0"/>
                <a:ea typeface="Palatino Linotype" pitchFamily="34" charset="-122"/>
                <a:cs typeface="Palatino Linotype" pitchFamily="34" charset="-120"/>
              </a:rPr>
              <a:t>CE FACEȚI</a:t>
            </a:r>
            <a:endParaRPr lang="en-US" sz="1400" dirty="0"/>
          </a:p>
        </p:txBody>
      </p:sp>
      <p:sp>
        <p:nvSpPr>
          <p:cNvPr id="8" name="Shape 6"/>
          <p:cNvSpPr/>
          <p:nvPr/>
        </p:nvSpPr>
        <p:spPr>
          <a:xfrm>
            <a:off x="594360" y="4114800"/>
            <a:ext cx="2651760" cy="1097280"/>
          </a:xfrm>
          <a:prstGeom prst="roundRect">
            <a:avLst>
              <a:gd name="adj" fmla="val 7500"/>
            </a:avLst>
          </a:prstGeom>
          <a:solidFill>
            <a:srgbClr val="ECEAE4"/>
          </a:solidFill>
          <a:ln w="12700">
            <a:solidFill>
              <a:srgbClr val="ECEAE4"/>
            </a:solidFill>
            <a:prstDash val="solid"/>
          </a:ln>
        </p:spPr>
        <p:txBody>
          <a:bodyPr/>
          <a:p/>
        </p:txBody>
      </p:sp>
      <p:sp>
        <p:nvSpPr>
          <p:cNvPr id="9" name="Shape 7"/>
          <p:cNvSpPr/>
          <p:nvPr/>
        </p:nvSpPr>
        <p:spPr>
          <a:xfrm>
            <a:off x="594360" y="4114800"/>
            <a:ext cx="64008" cy="1097280"/>
          </a:xfrm>
          <a:prstGeom prst="rect">
            <a:avLst/>
          </a:prstGeom>
          <a:solidFill>
            <a:srgbClr val="0E7C6B"/>
          </a:solidFill>
          <a:ln w="12700">
            <a:solidFill>
              <a:srgbClr val="0E7C6B"/>
            </a:solidFill>
            <a:prstDash val="solid"/>
          </a:ln>
        </p:spPr>
        <p:txBody>
          <a:bodyPr/>
          <a:p/>
        </p:txBody>
      </p:sp>
      <p:sp>
        <p:nvSpPr>
          <p:cNvPr id="10" name="Text 8"/>
          <p:cNvSpPr/>
          <p:nvPr/>
        </p:nvSpPr>
        <p:spPr>
          <a:xfrm>
            <a:off x="795528" y="4114800"/>
            <a:ext cx="2331720" cy="1097280"/>
          </a:xfrm>
          <a:prstGeom prst="rect">
            <a:avLst/>
          </a:prstGeom>
          <a:noFill/>
          <a:ln/>
        </p:spPr>
        <p:txBody>
          <a:bodyPr wrap="square" lIns="0" tIns="0" rIns="0" bIns="0" rtlCol="0" anchor="ctr"/>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Pacientul explică, cu cuvintele lui, cum va lua tratamentul</a:t>
            </a:r>
            <a:endParaRPr lang="en-US" sz="1500" dirty="0"/>
          </a:p>
        </p:txBody>
      </p:sp>
      <p:sp>
        <p:nvSpPr>
          <p:cNvPr id="11" name="Shape 9"/>
          <p:cNvSpPr/>
          <p:nvPr/>
        </p:nvSpPr>
        <p:spPr>
          <a:xfrm>
            <a:off x="3383280" y="4114800"/>
            <a:ext cx="2651760" cy="1097280"/>
          </a:xfrm>
          <a:prstGeom prst="roundRect">
            <a:avLst>
              <a:gd name="adj" fmla="val 7500"/>
            </a:avLst>
          </a:prstGeom>
          <a:solidFill>
            <a:srgbClr val="F9F8F5"/>
          </a:solidFill>
          <a:ln w="12700">
            <a:solidFill>
              <a:srgbClr val="F9F8F5"/>
            </a:solidFill>
            <a:prstDash val="solid"/>
          </a:ln>
        </p:spPr>
        <p:txBody>
          <a:bodyPr/>
          <a:p/>
        </p:txBody>
      </p:sp>
      <p:sp>
        <p:nvSpPr>
          <p:cNvPr id="12" name="Shape 10"/>
          <p:cNvSpPr/>
          <p:nvPr/>
        </p:nvSpPr>
        <p:spPr>
          <a:xfrm>
            <a:off x="3383280" y="4114800"/>
            <a:ext cx="64008" cy="1097280"/>
          </a:xfrm>
          <a:prstGeom prst="rect">
            <a:avLst/>
          </a:prstGeom>
          <a:solidFill>
            <a:srgbClr val="8A6100"/>
          </a:solidFill>
          <a:ln w="12700">
            <a:solidFill>
              <a:srgbClr val="8A6100"/>
            </a:solidFill>
            <a:prstDash val="solid"/>
          </a:ln>
        </p:spPr>
        <p:txBody>
          <a:bodyPr/>
          <a:p/>
        </p:txBody>
      </p:sp>
      <p:sp>
        <p:nvSpPr>
          <p:cNvPr id="13" name="Text 11"/>
          <p:cNvSpPr/>
          <p:nvPr/>
        </p:nvSpPr>
        <p:spPr>
          <a:xfrm>
            <a:off x="3584448" y="4114800"/>
            <a:ext cx="2331720" cy="1097280"/>
          </a:xfrm>
          <a:prstGeom prst="rect">
            <a:avLst/>
          </a:prstGeom>
          <a:noFill/>
          <a:ln/>
        </p:spPr>
        <p:txBody>
          <a:bodyPr wrap="square" lIns="0" tIns="0" rIns="0" bIns="0" rtlCol="0" anchor="ctr"/>
          <a:lstStyle/>
          <a:p>
            <a:pPr indent="0" marL="0">
              <a:buNone/>
            </a:pPr>
            <a:r>
              <a:rPr lang="en-US" sz="1500" b="1" dirty="0">
                <a:solidFill>
                  <a:srgbClr val="8A6100"/>
                </a:solidFill>
                <a:latin typeface="Palatino Linotype" pitchFamily="34" charset="0"/>
                <a:ea typeface="Palatino Linotype" pitchFamily="34" charset="-122"/>
                <a:cs typeface="Palatino Linotype" pitchFamily="34" charset="-120"/>
              </a:rPr>
              <a:t>Cuvinte simple</a:t>
            </a:r>
            <a:endParaRPr lang="en-US" sz="1500" dirty="0"/>
          </a:p>
        </p:txBody>
      </p:sp>
      <p:sp>
        <p:nvSpPr>
          <p:cNvPr id="14" name="Shape 12"/>
          <p:cNvSpPr/>
          <p:nvPr/>
        </p:nvSpPr>
        <p:spPr>
          <a:xfrm>
            <a:off x="6172200" y="4114800"/>
            <a:ext cx="2651760" cy="1097280"/>
          </a:xfrm>
          <a:prstGeom prst="roundRect">
            <a:avLst>
              <a:gd name="adj" fmla="val 7500"/>
            </a:avLst>
          </a:prstGeom>
          <a:solidFill>
            <a:srgbClr val="ECEAE4"/>
          </a:solidFill>
          <a:ln w="12700">
            <a:solidFill>
              <a:srgbClr val="ECEAE4"/>
            </a:solidFill>
            <a:prstDash val="solid"/>
          </a:ln>
        </p:spPr>
        <p:txBody>
          <a:bodyPr/>
          <a:p/>
        </p:txBody>
      </p:sp>
      <p:sp>
        <p:nvSpPr>
          <p:cNvPr id="15" name="Shape 13"/>
          <p:cNvSpPr/>
          <p:nvPr/>
        </p:nvSpPr>
        <p:spPr>
          <a:xfrm>
            <a:off x="6172200" y="4114800"/>
            <a:ext cx="64008" cy="1097280"/>
          </a:xfrm>
          <a:prstGeom prst="rect">
            <a:avLst/>
          </a:prstGeom>
          <a:solidFill>
            <a:srgbClr val="4A2D8C"/>
          </a:solidFill>
          <a:ln w="12700">
            <a:solidFill>
              <a:srgbClr val="4A2D8C"/>
            </a:solidFill>
            <a:prstDash val="solid"/>
          </a:ln>
        </p:spPr>
        <p:txBody>
          <a:bodyPr/>
          <a:p/>
        </p:txBody>
      </p:sp>
      <p:sp>
        <p:nvSpPr>
          <p:cNvPr id="16" name="Text 14"/>
          <p:cNvSpPr/>
          <p:nvPr/>
        </p:nvSpPr>
        <p:spPr>
          <a:xfrm>
            <a:off x="6373368" y="4114800"/>
            <a:ext cx="2331720" cy="1097280"/>
          </a:xfrm>
          <a:prstGeom prst="rect">
            <a:avLst/>
          </a:prstGeom>
          <a:noFill/>
          <a:ln/>
        </p:spPr>
        <p:txBody>
          <a:bodyPr wrap="square" lIns="0" tIns="0" rIns="0" bIns="0" rtlCol="0" anchor="ctr"/>
          <a:lstStyle/>
          <a:p>
            <a:pPr indent="0" marL="0">
              <a:buNone/>
            </a:pPr>
            <a:r>
              <a:rPr lang="en-US" sz="1500" b="1" dirty="0">
                <a:solidFill>
                  <a:srgbClr val="4A2D8C"/>
                </a:solidFill>
                <a:latin typeface="Palatino Linotype" pitchFamily="34" charset="0"/>
                <a:ea typeface="Palatino Linotype" pitchFamily="34" charset="-122"/>
                <a:cs typeface="Palatino Linotype" pitchFamily="34" charset="-120"/>
              </a:rPr>
              <a:t>Puține mesaje la o întâlnire</a:t>
            </a:r>
            <a:endParaRPr lang="en-US" sz="1500" dirty="0"/>
          </a:p>
        </p:txBody>
      </p:sp>
      <p:sp>
        <p:nvSpPr>
          <p:cNvPr id="17" name="Shape 15"/>
          <p:cNvSpPr/>
          <p:nvPr/>
        </p:nvSpPr>
        <p:spPr>
          <a:xfrm>
            <a:off x="8961120" y="4114800"/>
            <a:ext cx="2651760" cy="1097280"/>
          </a:xfrm>
          <a:prstGeom prst="roundRect">
            <a:avLst>
              <a:gd name="adj" fmla="val 7500"/>
            </a:avLst>
          </a:prstGeom>
          <a:solidFill>
            <a:srgbClr val="F9F8F5"/>
          </a:solidFill>
          <a:ln w="12700">
            <a:solidFill>
              <a:srgbClr val="F9F8F5"/>
            </a:solidFill>
            <a:prstDash val="solid"/>
          </a:ln>
        </p:spPr>
        <p:txBody>
          <a:bodyPr/>
          <a:p/>
        </p:txBody>
      </p:sp>
      <p:sp>
        <p:nvSpPr>
          <p:cNvPr id="18" name="Shape 16"/>
          <p:cNvSpPr/>
          <p:nvPr/>
        </p:nvSpPr>
        <p:spPr>
          <a:xfrm>
            <a:off x="8961120" y="4114800"/>
            <a:ext cx="64008" cy="1097280"/>
          </a:xfrm>
          <a:prstGeom prst="rect">
            <a:avLst/>
          </a:prstGeom>
          <a:solidFill>
            <a:srgbClr val="B02532"/>
          </a:solidFill>
          <a:ln w="12700">
            <a:solidFill>
              <a:srgbClr val="B02532"/>
            </a:solidFill>
            <a:prstDash val="solid"/>
          </a:ln>
        </p:spPr>
        <p:txBody>
          <a:bodyPr/>
          <a:p/>
        </p:txBody>
      </p:sp>
      <p:sp>
        <p:nvSpPr>
          <p:cNvPr id="19" name="Text 17"/>
          <p:cNvSpPr/>
          <p:nvPr/>
        </p:nvSpPr>
        <p:spPr>
          <a:xfrm>
            <a:off x="9162288" y="4114800"/>
            <a:ext cx="2331720" cy="10972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Materiale scrise clare</a:t>
            </a:r>
            <a:endParaRPr lang="en-US" sz="1500" dirty="0"/>
          </a:p>
        </p:txBody>
      </p:sp>
      <p:sp>
        <p:nvSpPr>
          <p:cNvPr id="20" name="Text 18"/>
          <p:cNvSpPr/>
          <p:nvPr/>
        </p:nvSpPr>
        <p:spPr>
          <a:xfrm>
            <a:off x="594360" y="5440680"/>
            <a:ext cx="1097280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prospect greu de înțeles sau o explicație grăbită la externare îi îngreunează înțelegerea, oricât de școlarizat ar fi pacientul.</a:t>
            </a:r>
            <a:endParaRPr lang="en-US" sz="1600" dirty="0"/>
          </a:p>
        </p:txBody>
      </p:sp>
      <p:sp>
        <p:nvSpPr>
          <p:cNvPr id="21" name="Text 19"/>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glosarul OMS de promovare a sănătății, 2021 (registru A221).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MCLEROY ȘI COLAB., 1988 · MODELUL ECOLOGIC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niveluri de acțiune</a:t>
            </a:r>
            <a:endParaRPr lang="en-US" sz="3000" dirty="0"/>
          </a:p>
        </p:txBody>
      </p:sp>
      <p:sp>
        <p:nvSpPr>
          <p:cNvPr id="4" name="Shape 2"/>
          <p:cNvSpPr/>
          <p:nvPr/>
        </p:nvSpPr>
        <p:spPr>
          <a:xfrm>
            <a:off x="548640" y="1645920"/>
            <a:ext cx="4297680" cy="4297680"/>
          </a:xfrm>
          <a:prstGeom prst="ellipse">
            <a:avLst/>
          </a:prstGeom>
          <a:solidFill>
            <a:srgbClr val="E4DFF5"/>
          </a:solidFill>
          <a:ln w="19050">
            <a:solidFill>
              <a:srgbClr val="F6F5F2"/>
            </a:solidFill>
            <a:prstDash val="solid"/>
          </a:ln>
        </p:spPr>
        <p:txBody>
          <a:bodyPr/>
          <a:p/>
        </p:txBody>
      </p:sp>
      <p:sp>
        <p:nvSpPr>
          <p:cNvPr id="5" name="Text 3"/>
          <p:cNvSpPr/>
          <p:nvPr/>
        </p:nvSpPr>
        <p:spPr>
          <a:xfrm>
            <a:off x="1417320" y="1700784"/>
            <a:ext cx="2560320" cy="347472"/>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Politici publice</a:t>
            </a:r>
            <a:endParaRPr lang="en-US" sz="1300" dirty="0"/>
          </a:p>
        </p:txBody>
      </p:sp>
      <p:sp>
        <p:nvSpPr>
          <p:cNvPr id="6" name="Shape 4"/>
          <p:cNvSpPr/>
          <p:nvPr/>
        </p:nvSpPr>
        <p:spPr>
          <a:xfrm>
            <a:off x="923544" y="2020824"/>
            <a:ext cx="3547872" cy="3547872"/>
          </a:xfrm>
          <a:prstGeom prst="ellipse">
            <a:avLst/>
          </a:prstGeom>
          <a:solidFill>
            <a:srgbClr val="D9EDE7"/>
          </a:solidFill>
          <a:ln w="19050">
            <a:solidFill>
              <a:srgbClr val="F6F5F2"/>
            </a:solidFill>
            <a:prstDash val="solid"/>
          </a:ln>
        </p:spPr>
        <p:txBody>
          <a:bodyPr/>
          <a:p/>
        </p:txBody>
      </p:sp>
      <p:sp>
        <p:nvSpPr>
          <p:cNvPr id="7" name="Text 5"/>
          <p:cNvSpPr/>
          <p:nvPr/>
        </p:nvSpPr>
        <p:spPr>
          <a:xfrm>
            <a:off x="1417320" y="2075688"/>
            <a:ext cx="2560320" cy="347472"/>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Comunitate</a:t>
            </a:r>
            <a:endParaRPr lang="en-US" sz="1300" dirty="0"/>
          </a:p>
        </p:txBody>
      </p:sp>
      <p:sp>
        <p:nvSpPr>
          <p:cNvPr id="8" name="Shape 6"/>
          <p:cNvSpPr/>
          <p:nvPr/>
        </p:nvSpPr>
        <p:spPr>
          <a:xfrm>
            <a:off x="1298448" y="2395728"/>
            <a:ext cx="2798064" cy="2798064"/>
          </a:xfrm>
          <a:prstGeom prst="ellipse">
            <a:avLst/>
          </a:prstGeom>
          <a:solidFill>
            <a:srgbClr val="F3E6CF"/>
          </a:solidFill>
          <a:ln w="19050">
            <a:solidFill>
              <a:srgbClr val="F6F5F2"/>
            </a:solidFill>
            <a:prstDash val="solid"/>
          </a:ln>
        </p:spPr>
        <p:txBody>
          <a:bodyPr/>
          <a:p/>
        </p:txBody>
      </p:sp>
      <p:sp>
        <p:nvSpPr>
          <p:cNvPr id="9" name="Text 7"/>
          <p:cNvSpPr/>
          <p:nvPr/>
        </p:nvSpPr>
        <p:spPr>
          <a:xfrm>
            <a:off x="1417320" y="2450592"/>
            <a:ext cx="2560320" cy="347472"/>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Organizații</a:t>
            </a:r>
            <a:endParaRPr lang="en-US" sz="1300" dirty="0"/>
          </a:p>
        </p:txBody>
      </p:sp>
      <p:sp>
        <p:nvSpPr>
          <p:cNvPr id="10" name="Shape 8"/>
          <p:cNvSpPr/>
          <p:nvPr/>
        </p:nvSpPr>
        <p:spPr>
          <a:xfrm>
            <a:off x="1673352" y="2770632"/>
            <a:ext cx="2048256" cy="2048256"/>
          </a:xfrm>
          <a:prstGeom prst="ellipse">
            <a:avLst/>
          </a:prstGeom>
          <a:solidFill>
            <a:srgbClr val="F6E3E5"/>
          </a:solidFill>
          <a:ln w="19050">
            <a:solidFill>
              <a:srgbClr val="F6F5F2"/>
            </a:solidFill>
            <a:prstDash val="solid"/>
          </a:ln>
        </p:spPr>
        <p:txBody>
          <a:bodyPr/>
          <a:p/>
        </p:txBody>
      </p:sp>
      <p:sp>
        <p:nvSpPr>
          <p:cNvPr id="11" name="Text 9"/>
          <p:cNvSpPr/>
          <p:nvPr/>
        </p:nvSpPr>
        <p:spPr>
          <a:xfrm>
            <a:off x="1417320" y="2825496"/>
            <a:ext cx="2560320" cy="347472"/>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Relații</a:t>
            </a:r>
            <a:endParaRPr lang="en-US" sz="1300" dirty="0"/>
          </a:p>
        </p:txBody>
      </p:sp>
      <p:sp>
        <p:nvSpPr>
          <p:cNvPr id="12" name="Shape 10"/>
          <p:cNvSpPr/>
          <p:nvPr/>
        </p:nvSpPr>
        <p:spPr>
          <a:xfrm>
            <a:off x="2048256" y="3145536"/>
            <a:ext cx="1298448" cy="1298448"/>
          </a:xfrm>
          <a:prstGeom prst="ellipse">
            <a:avLst/>
          </a:prstGeom>
          <a:solidFill>
            <a:srgbClr val="FF4757"/>
          </a:solidFill>
          <a:ln w="19050">
            <a:solidFill>
              <a:srgbClr val="F6F5F2"/>
            </a:solidFill>
            <a:prstDash val="solid"/>
          </a:ln>
        </p:spPr>
        <p:txBody>
          <a:bodyPr/>
          <a:p/>
        </p:txBody>
      </p:sp>
      <p:sp>
        <p:nvSpPr>
          <p:cNvPr id="13" name="Text 11"/>
          <p:cNvSpPr/>
          <p:nvPr/>
        </p:nvSpPr>
        <p:spPr>
          <a:xfrm>
            <a:off x="1417320" y="3200400"/>
            <a:ext cx="25603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Persoana</a:t>
            </a:r>
            <a:endParaRPr lang="en-US" sz="1300" dirty="0"/>
          </a:p>
        </p:txBody>
      </p:sp>
      <p:sp>
        <p:nvSpPr>
          <p:cNvPr id="14" name="Shape 12"/>
          <p:cNvSpPr/>
          <p:nvPr/>
        </p:nvSpPr>
        <p:spPr>
          <a:xfrm>
            <a:off x="5257800" y="1600200"/>
            <a:ext cx="6309360" cy="1188720"/>
          </a:xfrm>
          <a:prstGeom prst="roundRect">
            <a:avLst>
              <a:gd name="adj" fmla="val 6923"/>
            </a:avLst>
          </a:prstGeom>
          <a:solidFill>
            <a:srgbClr val="ECEAE4"/>
          </a:solidFill>
          <a:ln w="12700">
            <a:solidFill>
              <a:srgbClr val="ECEAE4"/>
            </a:solidFill>
            <a:prstDash val="solid"/>
          </a:ln>
        </p:spPr>
        <p:txBody>
          <a:bodyPr/>
          <a:p/>
        </p:txBody>
      </p:sp>
      <p:sp>
        <p:nvSpPr>
          <p:cNvPr id="15" name="Text 13"/>
          <p:cNvSpPr/>
          <p:nvPr/>
        </p:nvSpPr>
        <p:spPr>
          <a:xfrm>
            <a:off x="5440680" y="1691640"/>
            <a:ext cx="5943600" cy="292608"/>
          </a:xfrm>
          <a:prstGeom prst="rect">
            <a:avLst/>
          </a:prstGeom>
          <a:noFill/>
          <a:ln/>
        </p:spPr>
        <p:txBody>
          <a:bodyPr wrap="square" lIns="0" tIns="0" rIns="0" bIns="0" rtlCol="0" anchor="t"/>
          <a:lstStyle/>
          <a:p>
            <a:pPr indent="0" marL="0">
              <a:buNone/>
            </a:pPr>
            <a:r>
              <a:rPr lang="en-US" sz="1350" b="1" spc="200" kern="0" dirty="0">
                <a:solidFill>
                  <a:srgbClr val="B02532"/>
                </a:solidFill>
                <a:latin typeface="Palatino Linotype" pitchFamily="34" charset="0"/>
                <a:ea typeface="Palatino Linotype" pitchFamily="34" charset="-122"/>
                <a:cs typeface="Palatino Linotype" pitchFamily="34" charset="-120"/>
              </a:rPr>
              <a:t>INDIVIDUAL</a:t>
            </a:r>
            <a:endParaRPr lang="en-US" sz="1350" dirty="0"/>
          </a:p>
        </p:txBody>
      </p:sp>
      <p:sp>
        <p:nvSpPr>
          <p:cNvPr id="16" name="Text 14"/>
          <p:cNvSpPr/>
          <p:nvPr/>
        </p:nvSpPr>
        <p:spPr>
          <a:xfrm>
            <a:off x="5440680" y="1984248"/>
            <a:ext cx="5943600" cy="7772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Consilierea scurtă la fiecare contact: întrebați, recomandați, evaluați, sprijiniți, programați revenirea.</a:t>
            </a:r>
            <a:endParaRPr lang="en-US" sz="1400" dirty="0"/>
          </a:p>
        </p:txBody>
      </p:sp>
      <p:sp>
        <p:nvSpPr>
          <p:cNvPr id="17" name="Shape 15"/>
          <p:cNvSpPr/>
          <p:nvPr/>
        </p:nvSpPr>
        <p:spPr>
          <a:xfrm>
            <a:off x="5257800" y="2926080"/>
            <a:ext cx="6309360" cy="1188720"/>
          </a:xfrm>
          <a:prstGeom prst="roundRect">
            <a:avLst>
              <a:gd name="adj" fmla="val 6923"/>
            </a:avLst>
          </a:prstGeom>
          <a:solidFill>
            <a:srgbClr val="F9F8F5"/>
          </a:solidFill>
          <a:ln w="12700">
            <a:solidFill>
              <a:srgbClr val="F9F8F5"/>
            </a:solidFill>
            <a:prstDash val="solid"/>
          </a:ln>
        </p:spPr>
        <p:txBody>
          <a:bodyPr/>
          <a:p/>
        </p:txBody>
      </p:sp>
      <p:sp>
        <p:nvSpPr>
          <p:cNvPr id="18" name="Text 16"/>
          <p:cNvSpPr/>
          <p:nvPr/>
        </p:nvSpPr>
        <p:spPr>
          <a:xfrm>
            <a:off x="5440680" y="3017520"/>
            <a:ext cx="5943600" cy="292608"/>
          </a:xfrm>
          <a:prstGeom prst="rect">
            <a:avLst/>
          </a:prstGeom>
          <a:noFill/>
          <a:ln/>
        </p:spPr>
        <p:txBody>
          <a:bodyPr wrap="square" lIns="0" tIns="0" rIns="0" bIns="0" rtlCol="0" anchor="t"/>
          <a:lstStyle/>
          <a:p>
            <a:pPr indent="0" marL="0">
              <a:buNone/>
            </a:pPr>
            <a:r>
              <a:rPr lang="en-US" sz="1350" b="1" spc="200" kern="0" dirty="0">
                <a:solidFill>
                  <a:srgbClr val="0E7C6B"/>
                </a:solidFill>
                <a:latin typeface="Palatino Linotype" pitchFamily="34" charset="0"/>
                <a:ea typeface="Palatino Linotype" pitchFamily="34" charset="-122"/>
                <a:cs typeface="Palatino Linotype" pitchFamily="34" charset="-120"/>
              </a:rPr>
              <a:t>COMUNITAR</a:t>
            </a:r>
            <a:endParaRPr lang="en-US" sz="1350" dirty="0"/>
          </a:p>
        </p:txBody>
      </p:sp>
      <p:sp>
        <p:nvSpPr>
          <p:cNvPr id="19" name="Text 17"/>
          <p:cNvSpPr/>
          <p:nvPr/>
        </p:nvSpPr>
        <p:spPr>
          <a:xfrm>
            <a:off x="5440680" y="3310128"/>
            <a:ext cx="5943600" cy="7772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Campanii, școala, primăria, angajatorii; o zi de măsurare a tensiunii în comună. Marketingul social cercetează publicul și se evaluează; altfel rămâne un afiș.</a:t>
            </a:r>
            <a:endParaRPr lang="en-US" sz="1400" dirty="0"/>
          </a:p>
        </p:txBody>
      </p:sp>
      <p:sp>
        <p:nvSpPr>
          <p:cNvPr id="20" name="Shape 18"/>
          <p:cNvSpPr/>
          <p:nvPr/>
        </p:nvSpPr>
        <p:spPr>
          <a:xfrm>
            <a:off x="5257800" y="4251960"/>
            <a:ext cx="6309360" cy="1188720"/>
          </a:xfrm>
          <a:prstGeom prst="roundRect">
            <a:avLst>
              <a:gd name="adj" fmla="val 6923"/>
            </a:avLst>
          </a:prstGeom>
          <a:solidFill>
            <a:srgbClr val="ECEAE4"/>
          </a:solidFill>
          <a:ln w="12700">
            <a:solidFill>
              <a:srgbClr val="ECEAE4"/>
            </a:solidFill>
            <a:prstDash val="solid"/>
          </a:ln>
        </p:spPr>
        <p:txBody>
          <a:bodyPr/>
          <a:p/>
        </p:txBody>
      </p:sp>
      <p:sp>
        <p:nvSpPr>
          <p:cNvPr id="21" name="Text 19"/>
          <p:cNvSpPr/>
          <p:nvPr/>
        </p:nvSpPr>
        <p:spPr>
          <a:xfrm>
            <a:off x="5440680" y="4343400"/>
            <a:ext cx="5943600" cy="292608"/>
          </a:xfrm>
          <a:prstGeom prst="rect">
            <a:avLst/>
          </a:prstGeom>
          <a:noFill/>
          <a:ln/>
        </p:spPr>
        <p:txBody>
          <a:bodyPr wrap="square" lIns="0" tIns="0" rIns="0" bIns="0" rtlCol="0" anchor="t"/>
          <a:lstStyle/>
          <a:p>
            <a:pPr indent="0" marL="0">
              <a:buNone/>
            </a:pPr>
            <a:r>
              <a:rPr lang="en-US" sz="1350" b="1" spc="200" kern="0" dirty="0">
                <a:solidFill>
                  <a:srgbClr val="4A2D8C"/>
                </a:solidFill>
                <a:latin typeface="Palatino Linotype" pitchFamily="34" charset="0"/>
                <a:ea typeface="Palatino Linotype" pitchFamily="34" charset="-122"/>
                <a:cs typeface="Palatino Linotype" pitchFamily="34" charset="-120"/>
              </a:rPr>
              <a:t>POLITICI</a:t>
            </a:r>
            <a:endParaRPr lang="en-US" sz="1350" dirty="0"/>
          </a:p>
        </p:txBody>
      </p:sp>
      <p:sp>
        <p:nvSpPr>
          <p:cNvPr id="22" name="Text 20"/>
          <p:cNvSpPr/>
          <p:nvPr/>
        </p:nvSpPr>
        <p:spPr>
          <a:xfrm>
            <a:off x="5440680" y="4636008"/>
            <a:ext cx="5943600" cy="7772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Legislație, taxe, finanțarea programelor și a asistenței comunitare; asistentul contribuie prin pledoarie și prin datele pe care le colectează.</a:t>
            </a:r>
            <a:endParaRPr lang="en-US" sz="1400" dirty="0"/>
          </a:p>
        </p:txBody>
      </p:sp>
      <p:sp>
        <p:nvSpPr>
          <p:cNvPr id="23" name="Text 21"/>
          <p:cNvSpPr/>
          <p:nvPr/>
        </p:nvSpPr>
        <p:spPr>
          <a:xfrm>
            <a:off x="5257800" y="5623560"/>
            <a:ext cx="6309360" cy="548640"/>
          </a:xfrm>
          <a:prstGeom prst="rect">
            <a:avLst/>
          </a:prstGeom>
          <a:noFill/>
          <a:ln/>
        </p:spPr>
        <p:txBody>
          <a:bodyPr wrap="square" lIns="0" tIns="0" rIns="0" bIns="0" rtlCol="0" anchor="t"/>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Intervențiile numai asupra stilului de viață individual ajung să învinovățească victima.</a:t>
            </a:r>
            <a:endParaRPr lang="en-US" sz="145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McLeroy și colab., 1988 (registru A223).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MODELUL CONVINGERILOR DESPRE SĂNĂTATE · ORIGINILE, DESCRISE DE ROSENSTOCK, 1974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Ce cântărește o mamă înainte să spună da</a:t>
            </a:r>
            <a:endParaRPr lang="en-US" sz="2800" dirty="0"/>
          </a:p>
        </p:txBody>
      </p:sp>
      <p:sp>
        <p:nvSpPr>
          <p:cNvPr id="4" name="Shape 2"/>
          <p:cNvSpPr/>
          <p:nvPr/>
        </p:nvSpPr>
        <p:spPr>
          <a:xfrm>
            <a:off x="594360" y="1645920"/>
            <a:ext cx="3566160" cy="1261872"/>
          </a:xfrm>
          <a:prstGeom prst="roundRect">
            <a:avLst>
              <a:gd name="adj" fmla="val 6522"/>
            </a:avLst>
          </a:prstGeom>
          <a:solidFill>
            <a:srgbClr val="ECEAE4"/>
          </a:solidFill>
          <a:ln w="12700">
            <a:solidFill>
              <a:srgbClr val="ECEAE4"/>
            </a:solidFill>
            <a:prstDash val="solid"/>
          </a:ln>
        </p:spPr>
        <p:txBody>
          <a:bodyPr/>
          <a:p/>
        </p:txBody>
      </p:sp>
      <p:sp>
        <p:nvSpPr>
          <p:cNvPr id="5" name="Text 3"/>
          <p:cNvSpPr/>
          <p:nvPr/>
        </p:nvSpPr>
        <p:spPr>
          <a:xfrm>
            <a:off x="822960" y="1755648"/>
            <a:ext cx="315468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Susceptibilitatea percepută</a:t>
            </a:r>
            <a:endParaRPr lang="en-US" sz="1500" dirty="0"/>
          </a:p>
        </p:txBody>
      </p:sp>
      <p:sp>
        <p:nvSpPr>
          <p:cNvPr id="6" name="Text 4"/>
          <p:cNvSpPr/>
          <p:nvPr/>
        </p:nvSpPr>
        <p:spPr>
          <a:xfrm>
            <a:off x="822960" y="2148840"/>
            <a:ext cx="3154680" cy="685800"/>
          </a:xfrm>
          <a:prstGeom prst="rect">
            <a:avLst/>
          </a:prstGeom>
          <a:noFill/>
          <a:ln/>
        </p:spPr>
        <p:txBody>
          <a:bodyPr wrap="square" lIns="0" tIns="0" rIns="0" bIns="0" rtlCol="0" anchor="t"/>
          <a:lstStyle/>
          <a:p>
            <a:pPr indent="0" marL="0">
              <a:buNone/>
            </a:pPr>
            <a:r>
              <a:rPr lang="en-US" sz="1500" i="1" dirty="0">
                <a:solidFill>
                  <a:srgbClr val="11121A"/>
                </a:solidFill>
                <a:latin typeface="Palatino Linotype" pitchFamily="34" charset="0"/>
                <a:ea typeface="Palatino Linotype" pitchFamily="34" charset="-122"/>
                <a:cs typeface="Palatino Linotype" pitchFamily="34" charset="-120"/>
              </a:rPr>
              <a:t>„I se poate întâmpla fetei mele?”</a:t>
            </a:r>
            <a:endParaRPr lang="en-US" sz="1500" dirty="0"/>
          </a:p>
        </p:txBody>
      </p:sp>
      <p:sp>
        <p:nvSpPr>
          <p:cNvPr id="7" name="Shape 5"/>
          <p:cNvSpPr/>
          <p:nvPr/>
        </p:nvSpPr>
        <p:spPr>
          <a:xfrm>
            <a:off x="4343400" y="1645920"/>
            <a:ext cx="3566160" cy="1261872"/>
          </a:xfrm>
          <a:prstGeom prst="roundRect">
            <a:avLst>
              <a:gd name="adj" fmla="val 6522"/>
            </a:avLst>
          </a:prstGeom>
          <a:solidFill>
            <a:srgbClr val="ECEAE4"/>
          </a:solidFill>
          <a:ln w="12700">
            <a:solidFill>
              <a:srgbClr val="ECEAE4"/>
            </a:solidFill>
            <a:prstDash val="solid"/>
          </a:ln>
        </p:spPr>
        <p:txBody>
          <a:bodyPr/>
          <a:p/>
        </p:txBody>
      </p:sp>
      <p:sp>
        <p:nvSpPr>
          <p:cNvPr id="8" name="Text 6"/>
          <p:cNvSpPr/>
          <p:nvPr/>
        </p:nvSpPr>
        <p:spPr>
          <a:xfrm>
            <a:off x="4572000" y="1755648"/>
            <a:ext cx="315468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Severitatea percepută</a:t>
            </a:r>
            <a:endParaRPr lang="en-US" sz="1500" dirty="0"/>
          </a:p>
        </p:txBody>
      </p:sp>
      <p:sp>
        <p:nvSpPr>
          <p:cNvPr id="9" name="Text 7"/>
          <p:cNvSpPr/>
          <p:nvPr/>
        </p:nvSpPr>
        <p:spPr>
          <a:xfrm>
            <a:off x="4572000" y="2148840"/>
            <a:ext cx="3154680" cy="685800"/>
          </a:xfrm>
          <a:prstGeom prst="rect">
            <a:avLst/>
          </a:prstGeom>
          <a:noFill/>
          <a:ln/>
        </p:spPr>
        <p:txBody>
          <a:bodyPr wrap="square" lIns="0" tIns="0" rIns="0" bIns="0" rtlCol="0" anchor="t"/>
          <a:lstStyle/>
          <a:p>
            <a:pPr indent="0" marL="0">
              <a:buNone/>
            </a:pPr>
            <a:r>
              <a:rPr lang="en-US" sz="1500" i="1" dirty="0">
                <a:solidFill>
                  <a:srgbClr val="11121A"/>
                </a:solidFill>
                <a:latin typeface="Palatino Linotype" pitchFamily="34" charset="0"/>
                <a:ea typeface="Palatino Linotype" pitchFamily="34" charset="-122"/>
                <a:cs typeface="Palatino Linotype" pitchFamily="34" charset="-120"/>
              </a:rPr>
              <a:t>„Cât de grav ar fi?”</a:t>
            </a:r>
            <a:endParaRPr lang="en-US" sz="1500" dirty="0"/>
          </a:p>
        </p:txBody>
      </p:sp>
      <p:sp>
        <p:nvSpPr>
          <p:cNvPr id="10" name="Shape 8"/>
          <p:cNvSpPr/>
          <p:nvPr/>
        </p:nvSpPr>
        <p:spPr>
          <a:xfrm>
            <a:off x="8092440" y="1645920"/>
            <a:ext cx="3566160" cy="1261872"/>
          </a:xfrm>
          <a:prstGeom prst="roundRect">
            <a:avLst>
              <a:gd name="adj" fmla="val 6522"/>
            </a:avLst>
          </a:prstGeom>
          <a:solidFill>
            <a:srgbClr val="ECEAE4"/>
          </a:solidFill>
          <a:ln w="12700">
            <a:solidFill>
              <a:srgbClr val="ECEAE4"/>
            </a:solidFill>
            <a:prstDash val="solid"/>
          </a:ln>
        </p:spPr>
        <p:txBody>
          <a:bodyPr/>
          <a:p/>
        </p:txBody>
      </p:sp>
      <p:sp>
        <p:nvSpPr>
          <p:cNvPr id="11" name="Text 9"/>
          <p:cNvSpPr/>
          <p:nvPr/>
        </p:nvSpPr>
        <p:spPr>
          <a:xfrm>
            <a:off x="8321040" y="1755648"/>
            <a:ext cx="315468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Beneficiile percepute</a:t>
            </a:r>
            <a:endParaRPr lang="en-US" sz="1500" dirty="0"/>
          </a:p>
        </p:txBody>
      </p:sp>
      <p:sp>
        <p:nvSpPr>
          <p:cNvPr id="12" name="Text 10"/>
          <p:cNvSpPr/>
          <p:nvPr/>
        </p:nvSpPr>
        <p:spPr>
          <a:xfrm>
            <a:off x="8321040" y="2148840"/>
            <a:ext cx="3154680" cy="685800"/>
          </a:xfrm>
          <a:prstGeom prst="rect">
            <a:avLst/>
          </a:prstGeom>
          <a:noFill/>
          <a:ln/>
        </p:spPr>
        <p:txBody>
          <a:bodyPr wrap="square" lIns="0" tIns="0" rIns="0" bIns="0" rtlCol="0" anchor="t"/>
          <a:lstStyle/>
          <a:p>
            <a:pPr indent="0" marL="0">
              <a:buNone/>
            </a:pPr>
            <a:r>
              <a:rPr lang="en-US" sz="1500" i="1" dirty="0">
                <a:solidFill>
                  <a:srgbClr val="11121A"/>
                </a:solidFill>
                <a:latin typeface="Palatino Linotype" pitchFamily="34" charset="0"/>
                <a:ea typeface="Palatino Linotype" pitchFamily="34" charset="-122"/>
                <a:cs typeface="Palatino Linotype" pitchFamily="34" charset="-120"/>
              </a:rPr>
              <a:t>„Ce câștigăm?”</a:t>
            </a:r>
            <a:endParaRPr lang="en-US" sz="1500" dirty="0"/>
          </a:p>
        </p:txBody>
      </p:sp>
      <p:sp>
        <p:nvSpPr>
          <p:cNvPr id="13" name="Shape 11"/>
          <p:cNvSpPr/>
          <p:nvPr/>
        </p:nvSpPr>
        <p:spPr>
          <a:xfrm>
            <a:off x="594360" y="3063240"/>
            <a:ext cx="3566160" cy="1261872"/>
          </a:xfrm>
          <a:prstGeom prst="roundRect">
            <a:avLst>
              <a:gd name="adj" fmla="val 6522"/>
            </a:avLst>
          </a:prstGeom>
          <a:solidFill>
            <a:srgbClr val="B02532"/>
          </a:solidFill>
          <a:ln w="12700">
            <a:solidFill>
              <a:srgbClr val="B02532"/>
            </a:solidFill>
            <a:prstDash val="solid"/>
          </a:ln>
        </p:spPr>
        <p:txBody>
          <a:bodyPr/>
          <a:p/>
        </p:txBody>
      </p:sp>
      <p:sp>
        <p:nvSpPr>
          <p:cNvPr id="14" name="Text 12"/>
          <p:cNvSpPr/>
          <p:nvPr/>
        </p:nvSpPr>
        <p:spPr>
          <a:xfrm>
            <a:off x="822960" y="3172968"/>
            <a:ext cx="3154680" cy="36576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Barierele percepute</a:t>
            </a:r>
            <a:endParaRPr lang="en-US" sz="1500" dirty="0"/>
          </a:p>
        </p:txBody>
      </p:sp>
      <p:sp>
        <p:nvSpPr>
          <p:cNvPr id="15" name="Text 13"/>
          <p:cNvSpPr/>
          <p:nvPr/>
        </p:nvSpPr>
        <p:spPr>
          <a:xfrm>
            <a:off x="822960" y="3566160"/>
            <a:ext cx="3154680" cy="685800"/>
          </a:xfrm>
          <a:prstGeom prst="rect">
            <a:avLst/>
          </a:prstGeom>
          <a:noFill/>
          <a:ln/>
        </p:spPr>
        <p:txBody>
          <a:bodyPr wrap="square" lIns="0" tIns="0" rIns="0" bIns="0" rtlCol="0" anchor="t"/>
          <a:lstStyle/>
          <a:p>
            <a:pPr indent="0" marL="0">
              <a:buNone/>
            </a:pPr>
            <a:r>
              <a:rPr lang="en-US" sz="1500" i="1" dirty="0">
                <a:solidFill>
                  <a:srgbClr val="FFFFFF"/>
                </a:solidFill>
                <a:latin typeface="Palatino Linotype" pitchFamily="34" charset="0"/>
                <a:ea typeface="Palatino Linotype" pitchFamily="34" charset="-122"/>
                <a:cs typeface="Palatino Linotype" pitchFamily="34" charset="-120"/>
              </a:rPr>
              <a:t>„Ce ne costă, ce mă sperie?”</a:t>
            </a:r>
            <a:endParaRPr lang="en-US" sz="1500" dirty="0"/>
          </a:p>
        </p:txBody>
      </p:sp>
      <p:sp>
        <p:nvSpPr>
          <p:cNvPr id="16" name="Shape 14"/>
          <p:cNvSpPr/>
          <p:nvPr/>
        </p:nvSpPr>
        <p:spPr>
          <a:xfrm>
            <a:off x="4343400" y="3063240"/>
            <a:ext cx="3566160" cy="1261872"/>
          </a:xfrm>
          <a:prstGeom prst="roundRect">
            <a:avLst>
              <a:gd name="adj" fmla="val 6522"/>
            </a:avLst>
          </a:prstGeom>
          <a:solidFill>
            <a:srgbClr val="ECEAE4"/>
          </a:solidFill>
          <a:ln w="12700">
            <a:solidFill>
              <a:srgbClr val="ECEAE4"/>
            </a:solidFill>
            <a:prstDash val="solid"/>
          </a:ln>
        </p:spPr>
        <p:txBody>
          <a:bodyPr/>
          <a:p/>
        </p:txBody>
      </p:sp>
      <p:sp>
        <p:nvSpPr>
          <p:cNvPr id="17" name="Text 15"/>
          <p:cNvSpPr/>
          <p:nvPr/>
        </p:nvSpPr>
        <p:spPr>
          <a:xfrm>
            <a:off x="4572000" y="3172968"/>
            <a:ext cx="315468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Stimulii pentru acțiune</a:t>
            </a:r>
            <a:endParaRPr lang="en-US" sz="1500" dirty="0"/>
          </a:p>
        </p:txBody>
      </p:sp>
      <p:sp>
        <p:nvSpPr>
          <p:cNvPr id="18" name="Text 16"/>
          <p:cNvSpPr/>
          <p:nvPr/>
        </p:nvSpPr>
        <p:spPr>
          <a:xfrm>
            <a:off x="4572000" y="3566160"/>
            <a:ext cx="3154680" cy="6858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 recomandare, un simptom, boala unei rude</a:t>
            </a:r>
            <a:endParaRPr lang="en-US" sz="1500" dirty="0"/>
          </a:p>
        </p:txBody>
      </p:sp>
      <p:sp>
        <p:nvSpPr>
          <p:cNvPr id="19" name="Shape 17"/>
          <p:cNvSpPr/>
          <p:nvPr/>
        </p:nvSpPr>
        <p:spPr>
          <a:xfrm>
            <a:off x="8092440" y="3063240"/>
            <a:ext cx="3566160" cy="1261872"/>
          </a:xfrm>
          <a:prstGeom prst="roundRect">
            <a:avLst>
              <a:gd name="adj" fmla="val 6522"/>
            </a:avLst>
          </a:prstGeom>
          <a:solidFill>
            <a:srgbClr val="ECEAE4"/>
          </a:solidFill>
          <a:ln w="12700">
            <a:solidFill>
              <a:srgbClr val="ECEAE4"/>
            </a:solidFill>
            <a:prstDash val="solid"/>
          </a:ln>
        </p:spPr>
        <p:txBody>
          <a:bodyPr/>
          <a:p/>
        </p:txBody>
      </p:sp>
      <p:sp>
        <p:nvSpPr>
          <p:cNvPr id="20" name="Text 18"/>
          <p:cNvSpPr/>
          <p:nvPr/>
        </p:nvSpPr>
        <p:spPr>
          <a:xfrm>
            <a:off x="8321040" y="3172968"/>
            <a:ext cx="315468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Autoeficacitatea</a:t>
            </a:r>
            <a:endParaRPr lang="en-US" sz="1500" dirty="0"/>
          </a:p>
        </p:txBody>
      </p:sp>
      <p:sp>
        <p:nvSpPr>
          <p:cNvPr id="21" name="Text 19"/>
          <p:cNvSpPr/>
          <p:nvPr/>
        </p:nvSpPr>
        <p:spPr>
          <a:xfrm>
            <a:off x="8321040" y="3566160"/>
            <a:ext cx="3154680" cy="685800"/>
          </a:xfrm>
          <a:prstGeom prst="rect">
            <a:avLst/>
          </a:prstGeom>
          <a:noFill/>
          <a:ln/>
        </p:spPr>
        <p:txBody>
          <a:bodyPr wrap="square" lIns="0" tIns="0" rIns="0" bIns="0" rtlCol="0" anchor="t"/>
          <a:lstStyle/>
          <a:p>
            <a:pPr indent="0" marL="0">
              <a:buNone/>
            </a:pPr>
            <a:r>
              <a:rPr lang="en-US" sz="1500" i="1" dirty="0">
                <a:solidFill>
                  <a:srgbClr val="11121A"/>
                </a:solidFill>
                <a:latin typeface="Palatino Linotype" pitchFamily="34" charset="0"/>
                <a:ea typeface="Palatino Linotype" pitchFamily="34" charset="-122"/>
                <a:cs typeface="Palatino Linotype" pitchFamily="34" charset="-120"/>
              </a:rPr>
              <a:t>„Pot să o fac?”</a:t>
            </a:r>
            <a:endParaRPr lang="en-US" sz="1500" dirty="0"/>
          </a:p>
        </p:txBody>
      </p:sp>
      <p:sp>
        <p:nvSpPr>
          <p:cNvPr id="22" name="Text 20"/>
          <p:cNvSpPr/>
          <p:nvPr/>
        </p:nvSpPr>
        <p:spPr>
          <a:xfrm>
            <a:off x="594360" y="4572000"/>
            <a:ext cx="10972800" cy="914400"/>
          </a:xfrm>
          <a:prstGeom prst="rect">
            <a:avLst/>
          </a:prstGeom>
          <a:noFill/>
          <a:ln/>
        </p:spPr>
        <p:txBody>
          <a:bodyPr wrap="square" lIns="0" tIns="0" rIns="0" bIns="0" rtlCol="0" anchor="t"/>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Revizuire sistematică, 2022, 32 de studii (COVID-19): beneficiile percepute, cel mai des asociate cu comportamentul (96,7%); barierele, 64%; severitatea, cel mai rar (40%). Arătați beneficiile, reduceți obstacolele. La examen: cele patru percepții și autoeficacitatea.</a:t>
            </a:r>
            <a:endParaRPr lang="en-US" sz="165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Zewdie și colab., 2022 (registru A810, A811); originile modelului, descrise de Rosenstock, 1974. Stimulii: forma uzuală a modelului.</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MENTIMETER</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DOI VOLUNTARI · CEL MULT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Mama care spune nu</a:t>
            </a:r>
            <a:endParaRPr lang="en-US" sz="3200" dirty="0"/>
          </a:p>
        </p:txBody>
      </p:sp>
      <p:sp>
        <p:nvSpPr>
          <p:cNvPr id="6" name="Text 4"/>
          <p:cNvSpPr/>
          <p:nvPr/>
        </p:nvSpPr>
        <p:spPr>
          <a:xfrm>
            <a:off x="868680" y="1554480"/>
            <a:ext cx="3657600" cy="27432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DOAMNA M.</a:t>
            </a:r>
            <a:endParaRPr lang="en-US" sz="1300" dirty="0"/>
          </a:p>
        </p:txBody>
      </p:sp>
      <p:sp>
        <p:nvSpPr>
          <p:cNvPr id="7" name="Shape 5"/>
          <p:cNvSpPr/>
          <p:nvPr/>
        </p:nvSpPr>
        <p:spPr>
          <a:xfrm>
            <a:off x="594360" y="1874520"/>
            <a:ext cx="6400800" cy="914400"/>
          </a:xfrm>
          <a:prstGeom prst="roundRect">
            <a:avLst>
              <a:gd name="adj" fmla="val 18000"/>
            </a:avLst>
          </a:prstGeom>
          <a:solidFill>
            <a:srgbClr val="30344A"/>
          </a:solidFill>
          <a:ln w="12700">
            <a:solidFill>
              <a:srgbClr val="30344A"/>
            </a:solidFill>
            <a:prstDash val="solid"/>
          </a:ln>
        </p:spPr>
        <p:txBody>
          <a:bodyPr/>
          <a:p/>
        </p:txBody>
      </p:sp>
      <p:sp>
        <p:nvSpPr>
          <p:cNvPr id="8" name="Shape 6"/>
          <p:cNvSpPr/>
          <p:nvPr/>
        </p:nvSpPr>
        <p:spPr>
          <a:xfrm flipV="1">
            <a:off x="1005840" y="2770632"/>
            <a:ext cx="457200" cy="292608"/>
          </a:xfrm>
          <a:prstGeom prst="triangle">
            <a:avLst/>
          </a:prstGeom>
          <a:solidFill>
            <a:srgbClr val="30344A"/>
          </a:solidFill>
          <a:ln w="12700">
            <a:solidFill>
              <a:srgbClr val="30344A"/>
            </a:solidFill>
            <a:prstDash val="solid"/>
          </a:ln>
        </p:spPr>
        <p:txBody>
          <a:bodyPr/>
          <a:p/>
        </p:txBody>
      </p:sp>
      <p:sp>
        <p:nvSpPr>
          <p:cNvPr id="9" name="Text 7"/>
          <p:cNvSpPr/>
          <p:nvPr/>
        </p:nvSpPr>
        <p:spPr>
          <a:xfrm>
            <a:off x="868680" y="1874520"/>
            <a:ext cx="5943600" cy="91440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„Am citit că vaccinul nu a fost testat destul. Nu i-l fac fetei.”</a:t>
            </a:r>
            <a:endParaRPr lang="en-US" sz="1800" dirty="0"/>
          </a:p>
        </p:txBody>
      </p:sp>
      <p:sp>
        <p:nvSpPr>
          <p:cNvPr id="10" name="Text 8"/>
          <p:cNvSpPr/>
          <p:nvPr/>
        </p:nvSpPr>
        <p:spPr>
          <a:xfrm>
            <a:off x="4937760" y="3108960"/>
            <a:ext cx="6400800" cy="274320"/>
          </a:xfrm>
          <a:prstGeom prst="rect">
            <a:avLst/>
          </a:prstGeom>
          <a:noFill/>
          <a:ln/>
        </p:spPr>
        <p:txBody>
          <a:bodyPr wrap="square" lIns="0" tIns="0" rIns="0" bIns="0" rtlCol="0" anchor="t"/>
          <a:lstStyle/>
          <a:p>
            <a:pPr algn="r" indent="0" marL="0">
              <a:buNone/>
            </a:pPr>
            <a:r>
              <a:rPr lang="en-US" sz="1300" b="1" spc="200" kern="0" dirty="0">
                <a:solidFill>
                  <a:srgbClr val="9FE8DC"/>
                </a:solidFill>
                <a:latin typeface="Palatino Linotype" pitchFamily="34" charset="0"/>
                <a:ea typeface="Palatino Linotype" pitchFamily="34" charset="-122"/>
                <a:cs typeface="Palatino Linotype" pitchFamily="34" charset="-120"/>
              </a:rPr>
              <a:t>ASISTENTUL MEDICAL</a:t>
            </a:r>
            <a:endParaRPr lang="en-US" sz="1300" dirty="0"/>
          </a:p>
        </p:txBody>
      </p:sp>
      <p:sp>
        <p:nvSpPr>
          <p:cNvPr id="11" name="Shape 9"/>
          <p:cNvSpPr/>
          <p:nvPr/>
        </p:nvSpPr>
        <p:spPr>
          <a:xfrm>
            <a:off x="5166360" y="3429000"/>
            <a:ext cx="6400800" cy="914400"/>
          </a:xfrm>
          <a:prstGeom prst="roundRect">
            <a:avLst>
              <a:gd name="adj" fmla="val 18000"/>
            </a:avLst>
          </a:prstGeom>
          <a:solidFill>
            <a:srgbClr val="0F5A4F"/>
          </a:solidFill>
          <a:ln w="12700">
            <a:solidFill>
              <a:srgbClr val="0F5A4F"/>
            </a:solidFill>
            <a:prstDash val="solid"/>
          </a:ln>
        </p:spPr>
        <p:txBody>
          <a:bodyPr/>
          <a:p/>
        </p:txBody>
      </p:sp>
      <p:sp>
        <p:nvSpPr>
          <p:cNvPr id="12" name="Shape 10"/>
          <p:cNvSpPr/>
          <p:nvPr/>
        </p:nvSpPr>
        <p:spPr>
          <a:xfrm flipV="1">
            <a:off x="10698480" y="4325112"/>
            <a:ext cx="457200" cy="292608"/>
          </a:xfrm>
          <a:prstGeom prst="triangle">
            <a:avLst/>
          </a:prstGeom>
          <a:solidFill>
            <a:srgbClr val="0F5A4F"/>
          </a:solidFill>
          <a:ln w="12700">
            <a:solidFill>
              <a:srgbClr val="0F5A4F"/>
            </a:solidFill>
            <a:prstDash val="solid"/>
          </a:ln>
        </p:spPr>
        <p:txBody>
          <a:bodyPr/>
          <a:p/>
        </p:txBody>
      </p:sp>
      <p:sp>
        <p:nvSpPr>
          <p:cNvPr id="13" name="Text 11"/>
          <p:cNvSpPr/>
          <p:nvPr/>
        </p:nvSpPr>
        <p:spPr>
          <a:xfrm>
            <a:off x="5440680" y="3429000"/>
            <a:ext cx="5943600" cy="91440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Caută, cu modelul convingerilor, bariera principală.</a:t>
            </a:r>
            <a:endParaRPr lang="en-US" sz="1800" dirty="0"/>
          </a:p>
        </p:txBody>
      </p:sp>
      <p:sp>
        <p:nvSpPr>
          <p:cNvPr id="14" name="Text 12"/>
          <p:cNvSpPr/>
          <p:nvPr/>
        </p:nvSpPr>
        <p:spPr>
          <a:xfrm>
            <a:off x="594360" y="493776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Apoi votați: ce dimensiune a modelului a fost atinsă cel mai bine? Ce ați fi făcut diferit?</a:t>
            </a:r>
            <a:endParaRPr lang="en-US" sz="1800" dirty="0"/>
          </a:p>
        </p:txBody>
      </p:sp>
      <p:sp>
        <p:nvSpPr>
          <p:cNvPr id="15" name="Text 13"/>
          <p:cNvSpPr/>
          <p:nvPr/>
        </p:nvSpPr>
        <p:spPr>
          <a:xfrm>
            <a:off x="9692640" y="6263640"/>
            <a:ext cx="187452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MODELUL APLICAT · DOAMNA M. ȘI VACCINUL FIICEI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Șase convingeri, șase intervenții</a:t>
            </a:r>
            <a:endParaRPr lang="en-US" sz="3000" dirty="0"/>
          </a:p>
        </p:txBody>
      </p:sp>
      <p:sp>
        <p:nvSpPr>
          <p:cNvPr id="4" name="Text 2"/>
          <p:cNvSpPr/>
          <p:nvPr/>
        </p:nvSpPr>
        <p:spPr>
          <a:xfrm>
            <a:off x="3108960" y="1463040"/>
            <a:ext cx="320040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CE CREDE</a:t>
            </a:r>
            <a:endParaRPr lang="en-US" sz="1300" dirty="0"/>
          </a:p>
        </p:txBody>
      </p:sp>
      <p:sp>
        <p:nvSpPr>
          <p:cNvPr id="5" name="Text 3"/>
          <p:cNvSpPr/>
          <p:nvPr/>
        </p:nvSpPr>
        <p:spPr>
          <a:xfrm>
            <a:off x="6492240" y="1463040"/>
            <a:ext cx="502920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CE FACE ASISTENTUL</a:t>
            </a:r>
            <a:endParaRPr lang="en-US" sz="1300" dirty="0"/>
          </a:p>
        </p:txBody>
      </p:sp>
      <p:sp>
        <p:nvSpPr>
          <p:cNvPr id="6" name="Shape 4"/>
          <p:cNvSpPr/>
          <p:nvPr/>
        </p:nvSpPr>
        <p:spPr>
          <a:xfrm>
            <a:off x="594360" y="1783080"/>
            <a:ext cx="10972800" cy="585216"/>
          </a:xfrm>
          <a:prstGeom prst="roundRect">
            <a:avLst>
              <a:gd name="adj" fmla="val 14063"/>
            </a:avLst>
          </a:prstGeom>
          <a:solidFill>
            <a:srgbClr val="ECEAE4"/>
          </a:solidFill>
          <a:ln w="12700">
            <a:solidFill>
              <a:srgbClr val="ECEAE4"/>
            </a:solidFill>
            <a:prstDash val="solid"/>
          </a:ln>
        </p:spPr>
        <p:txBody>
          <a:bodyPr/>
          <a:p/>
        </p:txBody>
      </p:sp>
      <p:sp>
        <p:nvSpPr>
          <p:cNvPr id="7" name="Text 5"/>
          <p:cNvSpPr/>
          <p:nvPr/>
        </p:nvSpPr>
        <p:spPr>
          <a:xfrm>
            <a:off x="777240" y="1783080"/>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Susceptibilitatea</a:t>
            </a:r>
            <a:endParaRPr lang="en-US" sz="1500" dirty="0"/>
          </a:p>
        </p:txBody>
      </p:sp>
      <p:sp>
        <p:nvSpPr>
          <p:cNvPr id="8" name="Text 6"/>
          <p:cNvSpPr/>
          <p:nvPr/>
        </p:nvSpPr>
        <p:spPr>
          <a:xfrm>
            <a:off x="3108960" y="1783080"/>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fiica nu este în pericol</a:t>
            </a:r>
            <a:endParaRPr lang="en-US" sz="1450" dirty="0"/>
          </a:p>
        </p:txBody>
      </p:sp>
      <p:sp>
        <p:nvSpPr>
          <p:cNvPr id="9" name="Text 7"/>
          <p:cNvSpPr/>
          <p:nvPr/>
        </p:nvSpPr>
        <p:spPr>
          <a:xfrm>
            <a:off x="6492240" y="1783080"/>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infecția HPV e frecventă; vaccinați înaintea expunerii</a:t>
            </a:r>
            <a:endParaRPr lang="en-US" sz="1450" dirty="0"/>
          </a:p>
        </p:txBody>
      </p:sp>
      <p:sp>
        <p:nvSpPr>
          <p:cNvPr id="10" name="Shape 8"/>
          <p:cNvSpPr/>
          <p:nvPr/>
        </p:nvSpPr>
        <p:spPr>
          <a:xfrm>
            <a:off x="594360" y="2441448"/>
            <a:ext cx="10972800" cy="585216"/>
          </a:xfrm>
          <a:prstGeom prst="roundRect">
            <a:avLst>
              <a:gd name="adj" fmla="val 14063"/>
            </a:avLst>
          </a:prstGeom>
          <a:solidFill>
            <a:srgbClr val="F9F8F5"/>
          </a:solidFill>
          <a:ln w="12700">
            <a:solidFill>
              <a:srgbClr val="F9F8F5"/>
            </a:solidFill>
            <a:prstDash val="solid"/>
          </a:ln>
        </p:spPr>
        <p:txBody>
          <a:bodyPr/>
          <a:p/>
        </p:txBody>
      </p:sp>
      <p:sp>
        <p:nvSpPr>
          <p:cNvPr id="11" name="Text 9"/>
          <p:cNvSpPr/>
          <p:nvPr/>
        </p:nvSpPr>
        <p:spPr>
          <a:xfrm>
            <a:off x="777240" y="2441448"/>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Severitatea</a:t>
            </a:r>
            <a:endParaRPr lang="en-US" sz="1500" dirty="0"/>
          </a:p>
        </p:txBody>
      </p:sp>
      <p:sp>
        <p:nvSpPr>
          <p:cNvPr id="12" name="Text 10"/>
          <p:cNvSpPr/>
          <p:nvPr/>
        </p:nvSpPr>
        <p:spPr>
          <a:xfrm>
            <a:off x="3108960" y="2441448"/>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nu leagă virusul de cancer</a:t>
            </a:r>
            <a:endParaRPr lang="en-US" sz="1450" dirty="0"/>
          </a:p>
        </p:txBody>
      </p:sp>
      <p:sp>
        <p:nvSpPr>
          <p:cNvPr id="13" name="Text 11"/>
          <p:cNvSpPr/>
          <p:nvPr/>
        </p:nvSpPr>
        <p:spPr>
          <a:xfrm>
            <a:off x="6492240" y="2441448"/>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legătura, explicată simplu</a:t>
            </a:r>
            <a:endParaRPr lang="en-US" sz="1450" dirty="0"/>
          </a:p>
        </p:txBody>
      </p:sp>
      <p:sp>
        <p:nvSpPr>
          <p:cNvPr id="14" name="Shape 12"/>
          <p:cNvSpPr/>
          <p:nvPr/>
        </p:nvSpPr>
        <p:spPr>
          <a:xfrm>
            <a:off x="594360" y="3099816"/>
            <a:ext cx="10972800" cy="585216"/>
          </a:xfrm>
          <a:prstGeom prst="roundRect">
            <a:avLst>
              <a:gd name="adj" fmla="val 14063"/>
            </a:avLst>
          </a:prstGeom>
          <a:solidFill>
            <a:srgbClr val="ECEAE4"/>
          </a:solidFill>
          <a:ln w="12700">
            <a:solidFill>
              <a:srgbClr val="ECEAE4"/>
            </a:solidFill>
            <a:prstDash val="solid"/>
          </a:ln>
        </p:spPr>
        <p:txBody>
          <a:bodyPr/>
          <a:p/>
        </p:txBody>
      </p:sp>
      <p:sp>
        <p:nvSpPr>
          <p:cNvPr id="15" name="Text 13"/>
          <p:cNvSpPr/>
          <p:nvPr/>
        </p:nvSpPr>
        <p:spPr>
          <a:xfrm>
            <a:off x="777240" y="3099816"/>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Beneficiile</a:t>
            </a:r>
            <a:endParaRPr lang="en-US" sz="1500" dirty="0"/>
          </a:p>
        </p:txBody>
      </p:sp>
      <p:sp>
        <p:nvSpPr>
          <p:cNvPr id="16" name="Text 14"/>
          <p:cNvSpPr/>
          <p:nvPr/>
        </p:nvSpPr>
        <p:spPr>
          <a:xfrm>
            <a:off x="3108960" y="3099816"/>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nu știe ce previne vaccinul</a:t>
            </a:r>
            <a:endParaRPr lang="en-US" sz="1450" dirty="0"/>
          </a:p>
        </p:txBody>
      </p:sp>
      <p:sp>
        <p:nvSpPr>
          <p:cNvPr id="17" name="Text 15"/>
          <p:cNvSpPr/>
          <p:nvPr/>
        </p:nvSpPr>
        <p:spPr>
          <a:xfrm>
            <a:off x="6492240" y="3099816"/>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previne o parte importantă dintre cancerele de col uterin</a:t>
            </a:r>
            <a:endParaRPr lang="en-US" sz="1450" dirty="0"/>
          </a:p>
        </p:txBody>
      </p:sp>
      <p:sp>
        <p:nvSpPr>
          <p:cNvPr id="18" name="Shape 16"/>
          <p:cNvSpPr/>
          <p:nvPr/>
        </p:nvSpPr>
        <p:spPr>
          <a:xfrm>
            <a:off x="594360" y="3758184"/>
            <a:ext cx="10972800" cy="585216"/>
          </a:xfrm>
          <a:prstGeom prst="roundRect">
            <a:avLst>
              <a:gd name="adj" fmla="val 14063"/>
            </a:avLst>
          </a:prstGeom>
          <a:solidFill>
            <a:srgbClr val="F9F8F5"/>
          </a:solidFill>
          <a:ln w="12700">
            <a:solidFill>
              <a:srgbClr val="F9F8F5"/>
            </a:solidFill>
            <a:prstDash val="solid"/>
          </a:ln>
        </p:spPr>
        <p:txBody>
          <a:bodyPr/>
          <a:p/>
        </p:txBody>
      </p:sp>
      <p:sp>
        <p:nvSpPr>
          <p:cNvPr id="19" name="Text 17"/>
          <p:cNvSpPr/>
          <p:nvPr/>
        </p:nvSpPr>
        <p:spPr>
          <a:xfrm>
            <a:off x="777240" y="3758184"/>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Barierele</a:t>
            </a:r>
            <a:endParaRPr lang="en-US" sz="1500" dirty="0"/>
          </a:p>
        </p:txBody>
      </p:sp>
      <p:sp>
        <p:nvSpPr>
          <p:cNvPr id="20" name="Text 18"/>
          <p:cNvSpPr/>
          <p:nvPr/>
        </p:nvSpPr>
        <p:spPr>
          <a:xfrm>
            <a:off x="3108960" y="3758184"/>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teama de reacții adverse; nu știe unde și cum</a:t>
            </a:r>
            <a:endParaRPr lang="en-US" sz="1450" dirty="0"/>
          </a:p>
        </p:txBody>
      </p:sp>
      <p:sp>
        <p:nvSpPr>
          <p:cNvPr id="21" name="Text 19"/>
          <p:cNvSpPr/>
          <p:nvPr/>
        </p:nvSpPr>
        <p:spPr>
          <a:xfrm>
            <a:off x="6492240" y="3758184"/>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ascultare, surse oficiale; medicul de familie, ajutor la programare</a:t>
            </a:r>
            <a:endParaRPr lang="en-US" sz="1450" dirty="0"/>
          </a:p>
        </p:txBody>
      </p:sp>
      <p:sp>
        <p:nvSpPr>
          <p:cNvPr id="22" name="Shape 20"/>
          <p:cNvSpPr/>
          <p:nvPr/>
        </p:nvSpPr>
        <p:spPr>
          <a:xfrm>
            <a:off x="594360" y="4416552"/>
            <a:ext cx="10972800" cy="585216"/>
          </a:xfrm>
          <a:prstGeom prst="roundRect">
            <a:avLst>
              <a:gd name="adj" fmla="val 14063"/>
            </a:avLst>
          </a:prstGeom>
          <a:solidFill>
            <a:srgbClr val="ECEAE4"/>
          </a:solidFill>
          <a:ln w="12700">
            <a:solidFill>
              <a:srgbClr val="ECEAE4"/>
            </a:solidFill>
            <a:prstDash val="solid"/>
          </a:ln>
        </p:spPr>
        <p:txBody>
          <a:bodyPr/>
          <a:p/>
        </p:txBody>
      </p:sp>
      <p:sp>
        <p:nvSpPr>
          <p:cNvPr id="23" name="Text 21"/>
          <p:cNvSpPr/>
          <p:nvPr/>
        </p:nvSpPr>
        <p:spPr>
          <a:xfrm>
            <a:off x="777240" y="4416552"/>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Stimulii</a:t>
            </a:r>
            <a:endParaRPr lang="en-US" sz="1500" dirty="0"/>
          </a:p>
        </p:txBody>
      </p:sp>
      <p:sp>
        <p:nvSpPr>
          <p:cNvPr id="24" name="Text 22"/>
          <p:cNvSpPr/>
          <p:nvPr/>
        </p:nvSpPr>
        <p:spPr>
          <a:xfrm>
            <a:off x="3108960" y="4416552"/>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nimeni nu i l-a recomandat</a:t>
            </a:r>
            <a:endParaRPr lang="en-US" sz="1450" dirty="0"/>
          </a:p>
        </p:txBody>
      </p:sp>
      <p:sp>
        <p:nvSpPr>
          <p:cNvPr id="25" name="Text 23"/>
          <p:cNvSpPr/>
          <p:nvPr/>
        </p:nvSpPr>
        <p:spPr>
          <a:xfrm>
            <a:off x="6492240" y="4416552"/>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o recomandare clară, personală</a:t>
            </a:r>
            <a:endParaRPr lang="en-US" sz="1450" dirty="0"/>
          </a:p>
        </p:txBody>
      </p:sp>
      <p:sp>
        <p:nvSpPr>
          <p:cNvPr id="26" name="Shape 24"/>
          <p:cNvSpPr/>
          <p:nvPr/>
        </p:nvSpPr>
        <p:spPr>
          <a:xfrm>
            <a:off x="594360" y="5074920"/>
            <a:ext cx="10972800" cy="585216"/>
          </a:xfrm>
          <a:prstGeom prst="roundRect">
            <a:avLst>
              <a:gd name="adj" fmla="val 14063"/>
            </a:avLst>
          </a:prstGeom>
          <a:solidFill>
            <a:srgbClr val="F9F8F5"/>
          </a:solidFill>
          <a:ln w="12700">
            <a:solidFill>
              <a:srgbClr val="F9F8F5"/>
            </a:solidFill>
            <a:prstDash val="solid"/>
          </a:ln>
        </p:spPr>
        <p:txBody>
          <a:bodyPr/>
          <a:p/>
        </p:txBody>
      </p:sp>
      <p:sp>
        <p:nvSpPr>
          <p:cNvPr id="27" name="Text 25"/>
          <p:cNvSpPr/>
          <p:nvPr/>
        </p:nvSpPr>
        <p:spPr>
          <a:xfrm>
            <a:off x="777240" y="5074920"/>
            <a:ext cx="2286000" cy="585216"/>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Autoeficacitatea</a:t>
            </a:r>
            <a:endParaRPr lang="en-US" sz="1500" dirty="0"/>
          </a:p>
        </p:txBody>
      </p:sp>
      <p:sp>
        <p:nvSpPr>
          <p:cNvPr id="28" name="Text 26"/>
          <p:cNvSpPr/>
          <p:nvPr/>
        </p:nvSpPr>
        <p:spPr>
          <a:xfrm>
            <a:off x="3108960" y="5074920"/>
            <a:ext cx="3291840" cy="585216"/>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nu e sigură că își convinge fiica, nici că face față familiei</a:t>
            </a:r>
            <a:endParaRPr lang="en-US" sz="1450" dirty="0"/>
          </a:p>
        </p:txBody>
      </p:sp>
      <p:sp>
        <p:nvSpPr>
          <p:cNvPr id="29" name="Text 27"/>
          <p:cNvSpPr/>
          <p:nvPr/>
        </p:nvSpPr>
        <p:spPr>
          <a:xfrm>
            <a:off x="6492240" y="5074920"/>
            <a:ext cx="4983480" cy="585216"/>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pași exersați împreună; exemplul altor mame</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0" y="0"/>
            <a:ext cx="5486400" cy="6858000"/>
          </a:xfrm>
          <a:prstGeom prst="rect">
            <a:avLst/>
          </a:prstGeom>
          <a:solidFill>
            <a:srgbClr val="11121A"/>
          </a:solidFill>
          <a:ln w="12700">
            <a:solidFill>
              <a:srgbClr val="11121A"/>
            </a:solidFill>
            <a:prstDash val="solid"/>
          </a:ln>
        </p:spPr>
        <p:txBody>
          <a:bodyPr/>
          <a:p/>
        </p:txBody>
      </p:sp>
      <p:sp>
        <p:nvSpPr>
          <p:cNvPr id="3" name="Text 1"/>
          <p:cNvSpPr/>
          <p:nvPr/>
        </p:nvSpPr>
        <p:spPr>
          <a:xfrm>
            <a:off x="548640" y="1097280"/>
            <a:ext cx="44805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ADERENȚA LA TRATAMENT</a:t>
            </a:r>
            <a:endParaRPr lang="en-US" sz="1300" dirty="0"/>
          </a:p>
        </p:txBody>
      </p:sp>
      <p:sp>
        <p:nvSpPr>
          <p:cNvPr id="4" name="Text 2"/>
          <p:cNvSpPr/>
          <p:nvPr/>
        </p:nvSpPr>
        <p:spPr>
          <a:xfrm>
            <a:off x="548640" y="1554480"/>
            <a:ext cx="4480560" cy="20116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Același gest, în fiecare seară, ani de zile.</a:t>
            </a:r>
            <a:endParaRPr lang="en-US" sz="3200" dirty="0"/>
          </a:p>
        </p:txBody>
      </p:sp>
      <p:sp>
        <p:nvSpPr>
          <p:cNvPr id="5" name="Shape 3"/>
          <p:cNvSpPr/>
          <p:nvPr/>
        </p:nvSpPr>
        <p:spPr>
          <a:xfrm>
            <a:off x="576072" y="3840480"/>
            <a:ext cx="1097280" cy="27432"/>
          </a:xfrm>
          <a:prstGeom prst="rect">
            <a:avLst/>
          </a:prstGeom>
          <a:solidFill>
            <a:srgbClr val="FF4757"/>
          </a:solidFill>
          <a:ln/>
        </p:spPr>
        <p:txBody>
          <a:bodyPr/>
          <a:p/>
        </p:txBody>
      </p:sp>
      <p:sp>
        <p:nvSpPr>
          <p:cNvPr id="6" name="Text 4"/>
          <p:cNvSpPr/>
          <p:nvPr/>
        </p:nvSpPr>
        <p:spPr>
          <a:xfrm>
            <a:off x="548640" y="4069080"/>
            <a:ext cx="4480560" cy="82296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Tratamentul antihipertensiv al doamnei M.</a:t>
            </a:r>
            <a:endParaRPr lang="en-US" sz="1700" dirty="0"/>
          </a:p>
        </p:txBody>
      </p:sp>
      <p:sp>
        <p:nvSpPr>
          <p:cNvPr id="7" name="Text 5"/>
          <p:cNvSpPr/>
          <p:nvPr/>
        </p:nvSpPr>
        <p:spPr>
          <a:xfrm>
            <a:off x="6035040" y="347472"/>
            <a:ext cx="576072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AJZEN, 1991 · COMPORTAMENTUL PLANIFICAT</a:t>
            </a:r>
            <a:endParaRPr lang="en-US" sz="1300" dirty="0"/>
          </a:p>
        </p:txBody>
      </p:sp>
      <p:sp>
        <p:nvSpPr>
          <p:cNvPr id="8" name="Text 6"/>
          <p:cNvSpPr/>
          <p:nvPr/>
        </p:nvSpPr>
        <p:spPr>
          <a:xfrm>
            <a:off x="6035040" y="731520"/>
            <a:ext cx="5760720" cy="82296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Pastila de seară, în fiecare seară</a:t>
            </a:r>
            <a:endParaRPr lang="en-US" sz="2700" dirty="0"/>
          </a:p>
        </p:txBody>
      </p:sp>
      <p:sp>
        <p:nvSpPr>
          <p:cNvPr id="9" name="Shape 7"/>
          <p:cNvSpPr/>
          <p:nvPr/>
        </p:nvSpPr>
        <p:spPr>
          <a:xfrm>
            <a:off x="6035040" y="1691640"/>
            <a:ext cx="3429000" cy="786384"/>
          </a:xfrm>
          <a:prstGeom prst="roundRect">
            <a:avLst>
              <a:gd name="adj" fmla="val 10465"/>
            </a:avLst>
          </a:prstGeom>
          <a:solidFill>
            <a:srgbClr val="ECEAE4"/>
          </a:solidFill>
          <a:ln w="12700">
            <a:solidFill>
              <a:srgbClr val="ECEAE4"/>
            </a:solidFill>
            <a:prstDash val="solid"/>
          </a:ln>
        </p:spPr>
        <p:txBody>
          <a:bodyPr/>
          <a:p/>
        </p:txBody>
      </p:sp>
      <p:sp>
        <p:nvSpPr>
          <p:cNvPr id="10" name="Text 8"/>
          <p:cNvSpPr/>
          <p:nvPr/>
        </p:nvSpPr>
        <p:spPr>
          <a:xfrm>
            <a:off x="6217920" y="1691640"/>
            <a:ext cx="3154680" cy="786384"/>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Atitudinea</a:t>
            </a:r>
            <a:endParaRPr lang="en-US" sz="1400" dirty="0"/>
          </a:p>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„medicamentul mă ajută”</a:t>
            </a:r>
            <a:endParaRPr lang="en-US" sz="1400" dirty="0"/>
          </a:p>
        </p:txBody>
      </p:sp>
      <p:sp>
        <p:nvSpPr>
          <p:cNvPr id="11" name="Shape 9"/>
          <p:cNvSpPr/>
          <p:nvPr/>
        </p:nvSpPr>
        <p:spPr>
          <a:xfrm>
            <a:off x="6035040" y="2606040"/>
            <a:ext cx="3429000" cy="786384"/>
          </a:xfrm>
          <a:prstGeom prst="roundRect">
            <a:avLst>
              <a:gd name="adj" fmla="val 10465"/>
            </a:avLst>
          </a:prstGeom>
          <a:solidFill>
            <a:srgbClr val="ECEAE4"/>
          </a:solidFill>
          <a:ln w="12700">
            <a:solidFill>
              <a:srgbClr val="ECEAE4"/>
            </a:solidFill>
            <a:prstDash val="solid"/>
          </a:ln>
        </p:spPr>
        <p:txBody>
          <a:bodyPr/>
          <a:p/>
        </p:txBody>
      </p:sp>
      <p:sp>
        <p:nvSpPr>
          <p:cNvPr id="12" name="Text 10"/>
          <p:cNvSpPr/>
          <p:nvPr/>
        </p:nvSpPr>
        <p:spPr>
          <a:xfrm>
            <a:off x="6217920" y="2606040"/>
            <a:ext cx="3154680" cy="786384"/>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Normele subiective</a:t>
            </a:r>
            <a:endParaRPr lang="en-US" sz="1400" dirty="0"/>
          </a:p>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„fiica și medicul așteaptă să îl iau”</a:t>
            </a:r>
            <a:endParaRPr lang="en-US" sz="1400" dirty="0"/>
          </a:p>
        </p:txBody>
      </p:sp>
      <p:sp>
        <p:nvSpPr>
          <p:cNvPr id="13" name="Shape 11"/>
          <p:cNvSpPr/>
          <p:nvPr/>
        </p:nvSpPr>
        <p:spPr>
          <a:xfrm>
            <a:off x="6035040" y="3520440"/>
            <a:ext cx="3429000" cy="786384"/>
          </a:xfrm>
          <a:prstGeom prst="roundRect">
            <a:avLst>
              <a:gd name="adj" fmla="val 10465"/>
            </a:avLst>
          </a:prstGeom>
          <a:solidFill>
            <a:srgbClr val="ECEAE4"/>
          </a:solidFill>
          <a:ln w="12700">
            <a:solidFill>
              <a:srgbClr val="ECEAE4"/>
            </a:solidFill>
            <a:prstDash val="solid"/>
          </a:ln>
        </p:spPr>
        <p:txBody>
          <a:bodyPr/>
          <a:p/>
        </p:txBody>
      </p:sp>
      <p:sp>
        <p:nvSpPr>
          <p:cNvPr id="14" name="Text 12"/>
          <p:cNvSpPr/>
          <p:nvPr/>
        </p:nvSpPr>
        <p:spPr>
          <a:xfrm>
            <a:off x="6217920" y="3520440"/>
            <a:ext cx="3154680" cy="786384"/>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Controlul perceput</a:t>
            </a:r>
            <a:endParaRPr lang="en-US" sz="1400" dirty="0"/>
          </a:p>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„am rețeta, am un memento pe telefon”</a:t>
            </a:r>
            <a:endParaRPr lang="en-US" sz="1400" dirty="0"/>
          </a:p>
        </p:txBody>
      </p:sp>
      <p:sp>
        <p:nvSpPr>
          <p:cNvPr id="15" name="Shape 13"/>
          <p:cNvSpPr/>
          <p:nvPr/>
        </p:nvSpPr>
        <p:spPr>
          <a:xfrm>
            <a:off x="9555480" y="2697480"/>
            <a:ext cx="365760" cy="310896"/>
          </a:xfrm>
          <a:prstGeom prst="rightArrow">
            <a:avLst/>
          </a:prstGeom>
          <a:solidFill>
            <a:srgbClr val="B02532"/>
          </a:solidFill>
          <a:ln w="12700">
            <a:solidFill>
              <a:srgbClr val="B02532"/>
            </a:solidFill>
            <a:prstDash val="solid"/>
          </a:ln>
        </p:spPr>
        <p:txBody>
          <a:bodyPr/>
          <a:p/>
        </p:txBody>
      </p:sp>
      <p:sp>
        <p:nvSpPr>
          <p:cNvPr id="16" name="Shape 14"/>
          <p:cNvSpPr/>
          <p:nvPr/>
        </p:nvSpPr>
        <p:spPr>
          <a:xfrm>
            <a:off x="10012680" y="2331720"/>
            <a:ext cx="1691640" cy="1051560"/>
          </a:xfrm>
          <a:prstGeom prst="roundRect">
            <a:avLst>
              <a:gd name="adj" fmla="val 7826"/>
            </a:avLst>
          </a:prstGeom>
          <a:solidFill>
            <a:srgbClr val="B02532"/>
          </a:solidFill>
          <a:ln w="12700">
            <a:solidFill>
              <a:srgbClr val="B02532"/>
            </a:solidFill>
            <a:prstDash val="solid"/>
          </a:ln>
        </p:spPr>
        <p:txBody>
          <a:bodyPr/>
          <a:p/>
        </p:txBody>
      </p:sp>
      <p:sp>
        <p:nvSpPr>
          <p:cNvPr id="17" name="Text 15"/>
          <p:cNvSpPr/>
          <p:nvPr/>
        </p:nvSpPr>
        <p:spPr>
          <a:xfrm>
            <a:off x="10012680" y="2331720"/>
            <a:ext cx="169164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Intenția</a:t>
            </a:r>
            <a:endParaRPr lang="en-US" sz="1700" dirty="0"/>
          </a:p>
        </p:txBody>
      </p:sp>
      <p:sp>
        <p:nvSpPr>
          <p:cNvPr id="18" name="Text 16"/>
          <p:cNvSpPr/>
          <p:nvPr/>
        </p:nvSpPr>
        <p:spPr>
          <a:xfrm>
            <a:off x="9921240" y="3474720"/>
            <a:ext cx="1920240" cy="365760"/>
          </a:xfrm>
          <a:prstGeom prst="rect">
            <a:avLst/>
          </a:prstGeom>
          <a:noFill/>
          <a:ln/>
        </p:spPr>
        <p:txBody>
          <a:bodyPr wrap="square" lIns="0" tIns="0" rIns="0" bIns="0" rtlCol="0" anchor="t"/>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 comportamentul</a:t>
            </a:r>
            <a:endParaRPr lang="en-US" sz="1400" dirty="0"/>
          </a:p>
        </p:txBody>
      </p:sp>
      <p:sp>
        <p:nvSpPr>
          <p:cNvPr id="19" name="Text 17"/>
          <p:cNvSpPr/>
          <p:nvPr/>
        </p:nvSpPr>
        <p:spPr>
          <a:xfrm>
            <a:off x="6035040" y="4526280"/>
            <a:ext cx="5760720" cy="7772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Include influența celorlalți, prin normele subiective; potrivită pentru comportamentele repetate, ca aderența la tratament.</a:t>
            </a:r>
            <a:endParaRPr lang="en-US" sz="1500" dirty="0"/>
          </a:p>
        </p:txBody>
      </p:sp>
      <p:sp>
        <p:nvSpPr>
          <p:cNvPr id="20" name="Text 18"/>
          <p:cNvSpPr/>
          <p:nvPr/>
        </p:nvSpPr>
        <p:spPr>
          <a:xfrm>
            <a:off x="6035040" y="5303520"/>
            <a:ext cx="5760720" cy="77724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Limita, ca la modelul convingerilor: presupune o decizie rațională; obiceiul, dependența și emoțiile o pot rupe.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100" b="1" spc="200" kern="0" dirty="0">
                <a:solidFill>
                  <a:srgbClr val="FF4757"/>
                </a:solidFill>
                <a:latin typeface="Palatino Linotype" pitchFamily="34" charset="0"/>
                <a:ea typeface="Palatino Linotype" pitchFamily="34" charset="-122"/>
                <a:cs typeface="Palatino Linotype" pitchFamily="34" charset="-120"/>
              </a:rPr>
              <a:t>PROCHASKA ȘI DICLEMENTE · MODELUL TRANSTEORETIC · PENTRU APROFUNDARE (NU SE EVALUEAZĂ)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Schimbarea este un drum, nu un moment</a:t>
            </a:r>
            <a:endParaRPr lang="en-US" sz="3000" dirty="0"/>
          </a:p>
        </p:txBody>
      </p:sp>
      <p:sp>
        <p:nvSpPr>
          <p:cNvPr id="4" name="Shape 2"/>
          <p:cNvSpPr/>
          <p:nvPr/>
        </p:nvSpPr>
        <p:spPr>
          <a:xfrm>
            <a:off x="594360" y="3108960"/>
            <a:ext cx="2148840" cy="685800"/>
          </a:xfrm>
          <a:prstGeom prst="rect">
            <a:avLst/>
          </a:prstGeom>
          <a:solidFill>
            <a:srgbClr val="5A5F75"/>
          </a:solidFill>
          <a:ln w="12700">
            <a:solidFill>
              <a:srgbClr val="11121A"/>
            </a:solidFill>
            <a:prstDash val="solid"/>
          </a:ln>
        </p:spPr>
        <p:txBody>
          <a:bodyPr/>
          <a:p/>
        </p:txBody>
      </p:sp>
      <p:sp>
        <p:nvSpPr>
          <p:cNvPr id="5" name="Text 3"/>
          <p:cNvSpPr/>
          <p:nvPr/>
        </p:nvSpPr>
        <p:spPr>
          <a:xfrm>
            <a:off x="667512" y="3182112"/>
            <a:ext cx="2011680" cy="365760"/>
          </a:xfrm>
          <a:prstGeom prst="rect">
            <a:avLst/>
          </a:prstGeom>
          <a:noFill/>
          <a:ln/>
        </p:spPr>
        <p:txBody>
          <a:bodyPr wrap="square" lIns="0" tIns="0" rIns="0" bIns="0" rtlCol="0" anchor="t"/>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Precontemplarea</a:t>
            </a:r>
            <a:endParaRPr lang="en-US" sz="1450" dirty="0"/>
          </a:p>
        </p:txBody>
      </p:sp>
      <p:sp>
        <p:nvSpPr>
          <p:cNvPr id="6" name="Text 4"/>
          <p:cNvSpPr/>
          <p:nvPr/>
        </p:nvSpPr>
        <p:spPr>
          <a:xfrm>
            <a:off x="594360" y="3913632"/>
            <a:ext cx="2148840" cy="960120"/>
          </a:xfrm>
          <a:prstGeom prst="rect">
            <a:avLst/>
          </a:prstGeom>
          <a:noFill/>
          <a:ln/>
        </p:spPr>
        <p:txBody>
          <a:bodyPr wrap="square" lIns="0" tIns="0" rIns="0" bIns="0" rtlCol="0" anchor="t"/>
          <a:lstStyle/>
          <a:p>
            <a:pPr algn="ctr" indent="0" marL="0">
              <a:buNone/>
            </a:pPr>
            <a:r>
              <a:rPr lang="en-US" sz="1400" dirty="0">
                <a:solidFill>
                  <a:srgbClr val="FFFFFF"/>
                </a:solidFill>
                <a:latin typeface="Palatino Linotype" pitchFamily="34" charset="0"/>
                <a:ea typeface="Palatino Linotype" pitchFamily="34" charset="-122"/>
                <a:cs typeface="Palatino Linotype" pitchFamily="34" charset="-120"/>
              </a:rPr>
              <a:t>informare, fără presiune</a:t>
            </a:r>
            <a:endParaRPr lang="en-US" sz="1400" dirty="0"/>
          </a:p>
        </p:txBody>
      </p:sp>
      <p:sp>
        <p:nvSpPr>
          <p:cNvPr id="7" name="Shape 5"/>
          <p:cNvSpPr/>
          <p:nvPr/>
        </p:nvSpPr>
        <p:spPr>
          <a:xfrm>
            <a:off x="2834640" y="2724912"/>
            <a:ext cx="2148840" cy="1069848"/>
          </a:xfrm>
          <a:prstGeom prst="rect">
            <a:avLst/>
          </a:prstGeom>
          <a:solidFill>
            <a:srgbClr val="6B5BB0"/>
          </a:solidFill>
          <a:ln w="12700">
            <a:solidFill>
              <a:srgbClr val="11121A"/>
            </a:solidFill>
            <a:prstDash val="solid"/>
          </a:ln>
        </p:spPr>
        <p:txBody>
          <a:bodyPr/>
          <a:p/>
        </p:txBody>
      </p:sp>
      <p:sp>
        <p:nvSpPr>
          <p:cNvPr id="8" name="Text 6"/>
          <p:cNvSpPr/>
          <p:nvPr/>
        </p:nvSpPr>
        <p:spPr>
          <a:xfrm>
            <a:off x="2907792" y="2798064"/>
            <a:ext cx="2011680" cy="365760"/>
          </a:xfrm>
          <a:prstGeom prst="rect">
            <a:avLst/>
          </a:prstGeom>
          <a:noFill/>
          <a:ln/>
        </p:spPr>
        <p:txBody>
          <a:bodyPr wrap="square" lIns="0" tIns="0" rIns="0" bIns="0" rtlCol="0" anchor="t"/>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Contemplarea</a:t>
            </a:r>
            <a:endParaRPr lang="en-US" sz="1450" dirty="0"/>
          </a:p>
        </p:txBody>
      </p:sp>
      <p:sp>
        <p:nvSpPr>
          <p:cNvPr id="9" name="Text 7"/>
          <p:cNvSpPr/>
          <p:nvPr/>
        </p:nvSpPr>
        <p:spPr>
          <a:xfrm>
            <a:off x="2834640" y="3913632"/>
            <a:ext cx="2148840" cy="960120"/>
          </a:xfrm>
          <a:prstGeom prst="rect">
            <a:avLst/>
          </a:prstGeom>
          <a:noFill/>
          <a:ln/>
        </p:spPr>
        <p:txBody>
          <a:bodyPr wrap="square" lIns="0" tIns="0" rIns="0" bIns="0" rtlCol="0" anchor="t"/>
          <a:lstStyle/>
          <a:p>
            <a:pPr algn="ctr" indent="0" marL="0">
              <a:buNone/>
            </a:pPr>
            <a:r>
              <a:rPr lang="en-US" sz="1400" dirty="0">
                <a:solidFill>
                  <a:srgbClr val="FFFFFF"/>
                </a:solidFill>
                <a:latin typeface="Palatino Linotype" pitchFamily="34" charset="0"/>
                <a:ea typeface="Palatino Linotype" pitchFamily="34" charset="-122"/>
                <a:cs typeface="Palatino Linotype" pitchFamily="34" charset="-120"/>
              </a:rPr>
              <a:t>avantaje și dezavantaje, pentru ambivalență</a:t>
            </a:r>
            <a:endParaRPr lang="en-US" sz="1400" dirty="0"/>
          </a:p>
        </p:txBody>
      </p:sp>
      <p:sp>
        <p:nvSpPr>
          <p:cNvPr id="10" name="Shape 8"/>
          <p:cNvSpPr/>
          <p:nvPr/>
        </p:nvSpPr>
        <p:spPr>
          <a:xfrm>
            <a:off x="5074920" y="2340864"/>
            <a:ext cx="2148840" cy="1453896"/>
          </a:xfrm>
          <a:prstGeom prst="rect">
            <a:avLst/>
          </a:prstGeom>
          <a:solidFill>
            <a:srgbClr val="9B7EF7"/>
          </a:solidFill>
          <a:ln w="12700">
            <a:solidFill>
              <a:srgbClr val="11121A"/>
            </a:solidFill>
            <a:prstDash val="solid"/>
          </a:ln>
        </p:spPr>
        <p:txBody>
          <a:bodyPr/>
          <a:p/>
        </p:txBody>
      </p:sp>
      <p:sp>
        <p:nvSpPr>
          <p:cNvPr id="11" name="Text 9"/>
          <p:cNvSpPr/>
          <p:nvPr/>
        </p:nvSpPr>
        <p:spPr>
          <a:xfrm>
            <a:off x="5148072" y="2414016"/>
            <a:ext cx="2011680" cy="365760"/>
          </a:xfrm>
          <a:prstGeom prst="rect">
            <a:avLst/>
          </a:prstGeom>
          <a:noFill/>
          <a:ln/>
        </p:spPr>
        <p:txBody>
          <a:bodyPr wrap="square" lIns="0" tIns="0" rIns="0" bIns="0" rtlCol="0" anchor="t"/>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Pregătirea</a:t>
            </a:r>
            <a:endParaRPr lang="en-US" sz="1450" dirty="0"/>
          </a:p>
        </p:txBody>
      </p:sp>
      <p:sp>
        <p:nvSpPr>
          <p:cNvPr id="12" name="Text 10"/>
          <p:cNvSpPr/>
          <p:nvPr/>
        </p:nvSpPr>
        <p:spPr>
          <a:xfrm>
            <a:off x="5074920" y="3913632"/>
            <a:ext cx="2148840" cy="960120"/>
          </a:xfrm>
          <a:prstGeom prst="rect">
            <a:avLst/>
          </a:prstGeom>
          <a:noFill/>
          <a:ln/>
        </p:spPr>
        <p:txBody>
          <a:bodyPr wrap="square" lIns="0" tIns="0" rIns="0" bIns="0" rtlCol="0" anchor="t"/>
          <a:lstStyle/>
          <a:p>
            <a:pPr algn="ctr" indent="0" marL="0">
              <a:buNone/>
            </a:pPr>
            <a:r>
              <a:rPr lang="en-US" sz="1400" dirty="0">
                <a:solidFill>
                  <a:srgbClr val="FFFFFF"/>
                </a:solidFill>
                <a:latin typeface="Palatino Linotype" pitchFamily="34" charset="0"/>
                <a:ea typeface="Palatino Linotype" pitchFamily="34" charset="-122"/>
                <a:cs typeface="Palatino Linotype" pitchFamily="34" charset="-120"/>
              </a:rPr>
              <a:t>un plan concret, cu o dată și sprijin</a:t>
            </a:r>
            <a:endParaRPr lang="en-US" sz="1400" dirty="0"/>
          </a:p>
        </p:txBody>
      </p:sp>
      <p:sp>
        <p:nvSpPr>
          <p:cNvPr id="13" name="Shape 11"/>
          <p:cNvSpPr/>
          <p:nvPr/>
        </p:nvSpPr>
        <p:spPr>
          <a:xfrm>
            <a:off x="7315200" y="1956816"/>
            <a:ext cx="2148840" cy="1837944"/>
          </a:xfrm>
          <a:prstGeom prst="rect">
            <a:avLst/>
          </a:prstGeom>
          <a:solidFill>
            <a:srgbClr val="07564B"/>
          </a:solidFill>
          <a:ln w="12700">
            <a:solidFill>
              <a:srgbClr val="11121A"/>
            </a:solidFill>
            <a:prstDash val="solid"/>
          </a:ln>
        </p:spPr>
        <p:txBody>
          <a:bodyPr/>
          <a:p/>
        </p:txBody>
      </p:sp>
      <p:sp>
        <p:nvSpPr>
          <p:cNvPr id="14" name="Text 12"/>
          <p:cNvSpPr/>
          <p:nvPr/>
        </p:nvSpPr>
        <p:spPr>
          <a:xfrm>
            <a:off x="7388352" y="2029968"/>
            <a:ext cx="2011680" cy="365760"/>
          </a:xfrm>
          <a:prstGeom prst="rect">
            <a:avLst/>
          </a:prstGeom>
          <a:noFill/>
          <a:ln/>
        </p:spPr>
        <p:txBody>
          <a:bodyPr wrap="square" lIns="0" tIns="0" rIns="0" bIns="0" rtlCol="0" anchor="t"/>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Acțiunea</a:t>
            </a:r>
            <a:endParaRPr lang="en-US" sz="1450" dirty="0"/>
          </a:p>
        </p:txBody>
      </p:sp>
      <p:sp>
        <p:nvSpPr>
          <p:cNvPr id="15" name="Text 13"/>
          <p:cNvSpPr/>
          <p:nvPr/>
        </p:nvSpPr>
        <p:spPr>
          <a:xfrm>
            <a:off x="7315200" y="3913632"/>
            <a:ext cx="2148840" cy="960120"/>
          </a:xfrm>
          <a:prstGeom prst="rect">
            <a:avLst/>
          </a:prstGeom>
          <a:noFill/>
          <a:ln/>
        </p:spPr>
        <p:txBody>
          <a:bodyPr wrap="square" lIns="0" tIns="0" rIns="0" bIns="0" rtlCol="0" anchor="t"/>
          <a:lstStyle/>
          <a:p>
            <a:pPr algn="ctr" indent="0" marL="0">
              <a:buNone/>
            </a:pPr>
            <a:r>
              <a:rPr lang="en-US" sz="1400" dirty="0">
                <a:solidFill>
                  <a:srgbClr val="FFFFFF"/>
                </a:solidFill>
                <a:latin typeface="Palatino Linotype" pitchFamily="34" charset="0"/>
                <a:ea typeface="Palatino Linotype" pitchFamily="34" charset="-122"/>
                <a:cs typeface="Palatino Linotype" pitchFamily="34" charset="-120"/>
              </a:rPr>
              <a:t>sprijin, încurajare, monitorizare</a:t>
            </a:r>
            <a:endParaRPr lang="en-US" sz="1400" dirty="0"/>
          </a:p>
        </p:txBody>
      </p:sp>
      <p:sp>
        <p:nvSpPr>
          <p:cNvPr id="16" name="Shape 14"/>
          <p:cNvSpPr/>
          <p:nvPr/>
        </p:nvSpPr>
        <p:spPr>
          <a:xfrm>
            <a:off x="9555480" y="1572768"/>
            <a:ext cx="2148840" cy="2221992"/>
          </a:xfrm>
          <a:prstGeom prst="rect">
            <a:avLst/>
          </a:prstGeom>
          <a:solidFill>
            <a:srgbClr val="0E7C6B"/>
          </a:solidFill>
          <a:ln w="12700">
            <a:solidFill>
              <a:srgbClr val="11121A"/>
            </a:solidFill>
            <a:prstDash val="solid"/>
          </a:ln>
        </p:spPr>
        <p:txBody>
          <a:bodyPr/>
          <a:p/>
        </p:txBody>
      </p:sp>
      <p:sp>
        <p:nvSpPr>
          <p:cNvPr id="17" name="Text 15"/>
          <p:cNvSpPr/>
          <p:nvPr/>
        </p:nvSpPr>
        <p:spPr>
          <a:xfrm>
            <a:off x="9628632" y="1645920"/>
            <a:ext cx="2011680" cy="365760"/>
          </a:xfrm>
          <a:prstGeom prst="rect">
            <a:avLst/>
          </a:prstGeom>
          <a:noFill/>
          <a:ln/>
        </p:spPr>
        <p:txBody>
          <a:bodyPr wrap="square" lIns="0" tIns="0" rIns="0" bIns="0" rtlCol="0" anchor="t"/>
          <a:lstStyle/>
          <a:p>
            <a:pPr algn="ctr" indent="0" marL="0">
              <a:buNone/>
            </a:pPr>
            <a:r>
              <a:rPr lang="en-US" sz="1450" b="1" dirty="0">
                <a:solidFill>
                  <a:srgbClr val="FFFFFF"/>
                </a:solidFill>
                <a:latin typeface="Palatino Linotype" pitchFamily="34" charset="0"/>
                <a:ea typeface="Palatino Linotype" pitchFamily="34" charset="-122"/>
                <a:cs typeface="Palatino Linotype" pitchFamily="34" charset="-120"/>
              </a:rPr>
              <a:t>Menținerea</a:t>
            </a:r>
            <a:endParaRPr lang="en-US" sz="1450" dirty="0"/>
          </a:p>
        </p:txBody>
      </p:sp>
      <p:sp>
        <p:nvSpPr>
          <p:cNvPr id="18" name="Text 16"/>
          <p:cNvSpPr/>
          <p:nvPr/>
        </p:nvSpPr>
        <p:spPr>
          <a:xfrm>
            <a:off x="9555480" y="3913632"/>
            <a:ext cx="2148840" cy="960120"/>
          </a:xfrm>
          <a:prstGeom prst="rect">
            <a:avLst/>
          </a:prstGeom>
          <a:noFill/>
          <a:ln/>
        </p:spPr>
        <p:txBody>
          <a:bodyPr wrap="square" lIns="0" tIns="0" rIns="0" bIns="0" rtlCol="0" anchor="t"/>
          <a:lstStyle/>
          <a:p>
            <a:pPr algn="ctr" indent="0" marL="0">
              <a:buNone/>
            </a:pPr>
            <a:r>
              <a:rPr lang="en-US" sz="1400" dirty="0">
                <a:solidFill>
                  <a:srgbClr val="FFFFFF"/>
                </a:solidFill>
                <a:latin typeface="Palatino Linotype" pitchFamily="34" charset="0"/>
                <a:ea typeface="Palatino Linotype" pitchFamily="34" charset="-122"/>
                <a:cs typeface="Palatino Linotype" pitchFamily="34" charset="-120"/>
              </a:rPr>
              <a:t>prevenirea recăderii</a:t>
            </a:r>
            <a:endParaRPr lang="en-US" sz="1400" dirty="0"/>
          </a:p>
        </p:txBody>
      </p:sp>
      <p:sp>
        <p:nvSpPr>
          <p:cNvPr id="19" name="Shape 17"/>
          <p:cNvSpPr/>
          <p:nvPr/>
        </p:nvSpPr>
        <p:spPr>
          <a:xfrm flipV="1">
            <a:off x="11868912" y="3566160"/>
            <a:ext cx="914" cy="1508760"/>
          </a:xfrm>
          <a:prstGeom prst="line">
            <a:avLst/>
          </a:prstGeom>
          <a:noFill/>
          <a:ln w="31750">
            <a:solidFill>
              <a:srgbClr val="FF4757"/>
            </a:solidFill>
            <a:prstDash val="solid"/>
          </a:ln>
        </p:spPr>
        <p:txBody>
          <a:bodyPr/>
          <a:p/>
        </p:txBody>
      </p:sp>
      <p:sp>
        <p:nvSpPr>
          <p:cNvPr id="20" name="Shape 18"/>
          <p:cNvSpPr/>
          <p:nvPr/>
        </p:nvSpPr>
        <p:spPr>
          <a:xfrm>
            <a:off x="822960" y="5074920"/>
            <a:ext cx="11045952" cy="914"/>
          </a:xfrm>
          <a:prstGeom prst="line">
            <a:avLst/>
          </a:prstGeom>
          <a:noFill/>
          <a:ln w="31750">
            <a:solidFill>
              <a:srgbClr val="FF4757"/>
            </a:solidFill>
            <a:prstDash val="solid"/>
          </a:ln>
        </p:spPr>
        <p:txBody>
          <a:bodyPr/>
          <a:p/>
        </p:txBody>
      </p:sp>
      <p:sp>
        <p:nvSpPr>
          <p:cNvPr id="21" name="Shape 19"/>
          <p:cNvSpPr/>
          <p:nvPr/>
        </p:nvSpPr>
        <p:spPr>
          <a:xfrm rot="16200000">
            <a:off x="685800" y="4983480"/>
            <a:ext cx="274320" cy="219456"/>
          </a:xfrm>
          <a:prstGeom prst="triangle">
            <a:avLst/>
          </a:prstGeom>
          <a:solidFill>
            <a:srgbClr val="FF4757"/>
          </a:solidFill>
          <a:ln w="12700">
            <a:solidFill>
              <a:srgbClr val="FF4757"/>
            </a:solidFill>
            <a:prstDash val="solid"/>
          </a:ln>
        </p:spPr>
        <p:txBody>
          <a:bodyPr/>
          <a:p/>
        </p:txBody>
      </p:sp>
      <p:sp>
        <p:nvSpPr>
          <p:cNvPr id="22" name="Text 20"/>
          <p:cNvSpPr/>
          <p:nvPr/>
        </p:nvSpPr>
        <p:spPr>
          <a:xfrm>
            <a:off x="1828800" y="5120640"/>
            <a:ext cx="8686800" cy="365760"/>
          </a:xfrm>
          <a:prstGeom prst="rect">
            <a:avLst/>
          </a:prstGeom>
          <a:noFill/>
          <a:ln/>
        </p:spPr>
        <p:txBody>
          <a:bodyPr wrap="square" lIns="0" tIns="0" rIns="0" bIns="0" rtlCol="0" anchor="t"/>
          <a:lstStyle/>
          <a:p>
            <a:pPr algn="ctr" indent="0" marL="0">
              <a:buNone/>
            </a:pPr>
            <a:r>
              <a:rPr lang="en-US" sz="1450" b="1" dirty="0">
                <a:solidFill>
                  <a:srgbClr val="FF4757"/>
                </a:solidFill>
                <a:latin typeface="Palatino Linotype" pitchFamily="34" charset="0"/>
                <a:ea typeface="Palatino Linotype" pitchFamily="34" charset="-122"/>
                <a:cs typeface="Palatino Linotype" pitchFamily="34" charset="-120"/>
              </a:rPr>
              <a:t>Recăderea: o întoarcere într-o etapă anterioară, nu un eșec definitiv</a:t>
            </a:r>
            <a:endParaRPr lang="en-US" sz="1450" dirty="0"/>
          </a:p>
        </p:txBody>
      </p:sp>
      <p:sp>
        <p:nvSpPr>
          <p:cNvPr id="23" name="Text 21"/>
          <p:cNvSpPr/>
          <p:nvPr/>
        </p:nvSpPr>
        <p:spPr>
          <a:xfrm>
            <a:off x="594360" y="5623560"/>
            <a:ext cx="10972800" cy="59436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Asistentul evaluează etapa fără judecată și potrivește intervenția.</a:t>
            </a:r>
            <a:endParaRPr lang="en-US" sz="155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Hashemzadeh și colab., 2019 (registru A813); intervențiile, în forma uzuală a modelului.</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crumiera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Scrumieră</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Santeri Viinamäki · CC BY-SA 4.0 · Wikimedia Commons</a:t>
            </a:r>
            <a:endParaRPr lang="en-US" sz="850" dirty="0"/>
          </a:p>
        </p:txBody>
      </p:sp>
      <p:sp>
        <p:nvSpPr>
          <p:cNvPr id="6" name="Shape 3"/>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7" name="Text 4"/>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8" name="Text 5"/>
          <p:cNvSpPr/>
          <p:nvPr/>
        </p:nvSpPr>
        <p:spPr>
          <a:xfrm>
            <a:off x="6035040" y="347472"/>
            <a:ext cx="237744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FUMATUL</a:t>
            </a:r>
            <a:endParaRPr lang="en-US" sz="1300" dirty="0"/>
          </a:p>
        </p:txBody>
      </p:sp>
      <p:sp>
        <p:nvSpPr>
          <p:cNvPr id="9" name="Text 6"/>
          <p:cNvSpPr/>
          <p:nvPr/>
        </p:nvSpPr>
        <p:spPr>
          <a:xfrm>
            <a:off x="6035040" y="914400"/>
            <a:ext cx="5760720" cy="1188720"/>
          </a:xfrm>
          <a:prstGeom prst="rect">
            <a:avLst/>
          </a:prstGeom>
          <a:noFill/>
          <a:ln/>
        </p:spPr>
        <p:txBody>
          <a:bodyPr wrap="square" lIns="0" tIns="0" rIns="0" bIns="0" rtlCol="0" anchor="t"/>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„Știu că fumatul nu e bun, toată lumea știe. Dar nu am timp de doctori.”</a:t>
            </a:r>
            <a:endParaRPr lang="en-US" sz="1900" dirty="0"/>
          </a:p>
        </p:txBody>
      </p:sp>
      <p:sp>
        <p:nvSpPr>
          <p:cNvPr id="10" name="Text 7"/>
          <p:cNvSpPr/>
          <p:nvPr/>
        </p:nvSpPr>
        <p:spPr>
          <a:xfrm>
            <a:off x="6035040" y="2148840"/>
            <a:ext cx="5760720" cy="5486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În ce etapă se află?</a:t>
            </a:r>
            <a:endParaRPr lang="en-US" sz="2600" dirty="0"/>
          </a:p>
        </p:txBody>
      </p:sp>
      <p:sp>
        <p:nvSpPr>
          <p:cNvPr id="11" name="Shape 8"/>
          <p:cNvSpPr/>
          <p:nvPr/>
        </p:nvSpPr>
        <p:spPr>
          <a:xfrm>
            <a:off x="6035040" y="2880360"/>
            <a:ext cx="5760720" cy="658368"/>
          </a:xfrm>
          <a:prstGeom prst="roundRect">
            <a:avLst>
              <a:gd name="adj" fmla="val 12500"/>
            </a:avLst>
          </a:prstGeom>
          <a:solidFill>
            <a:srgbClr val="1D1F2B"/>
          </a:solidFill>
          <a:ln w="12700">
            <a:solidFill>
              <a:srgbClr val="1D1F2B"/>
            </a:solidFill>
            <a:prstDash val="solid"/>
          </a:ln>
        </p:spPr>
        <p:txBody>
          <a:bodyPr/>
          <a:p/>
        </p:txBody>
      </p:sp>
      <p:sp>
        <p:nvSpPr>
          <p:cNvPr id="12" name="Shape 9"/>
          <p:cNvSpPr/>
          <p:nvPr/>
        </p:nvSpPr>
        <p:spPr>
          <a:xfrm>
            <a:off x="6309360" y="2999232"/>
            <a:ext cx="420624" cy="420624"/>
          </a:xfrm>
          <a:prstGeom prst="ellipse">
            <a:avLst/>
          </a:prstGeom>
          <a:solidFill>
            <a:srgbClr val="FFC24B"/>
          </a:solidFill>
          <a:ln/>
        </p:spPr>
        <p:txBody>
          <a:bodyPr/>
          <a:p/>
        </p:txBody>
      </p:sp>
      <p:sp>
        <p:nvSpPr>
          <p:cNvPr id="13" name="Text 10"/>
          <p:cNvSpPr/>
          <p:nvPr/>
        </p:nvSpPr>
        <p:spPr>
          <a:xfrm>
            <a:off x="6309360" y="2999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4" name="Text 11"/>
          <p:cNvSpPr/>
          <p:nvPr/>
        </p:nvSpPr>
        <p:spPr>
          <a:xfrm>
            <a:off x="6949440" y="2880360"/>
            <a:ext cx="461772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Precontemplarea</a:t>
            </a:r>
            <a:endParaRPr lang="en-US" sz="1800" dirty="0"/>
          </a:p>
        </p:txBody>
      </p:sp>
      <p:sp>
        <p:nvSpPr>
          <p:cNvPr id="15" name="Shape 12"/>
          <p:cNvSpPr/>
          <p:nvPr/>
        </p:nvSpPr>
        <p:spPr>
          <a:xfrm>
            <a:off x="6035040" y="3666744"/>
            <a:ext cx="5760720" cy="658368"/>
          </a:xfrm>
          <a:prstGeom prst="roundRect">
            <a:avLst>
              <a:gd name="adj" fmla="val 12500"/>
            </a:avLst>
          </a:prstGeom>
          <a:solidFill>
            <a:srgbClr val="1D1F2B"/>
          </a:solidFill>
          <a:ln w="12700">
            <a:solidFill>
              <a:srgbClr val="1D1F2B"/>
            </a:solidFill>
            <a:prstDash val="solid"/>
          </a:ln>
        </p:spPr>
        <p:txBody>
          <a:bodyPr/>
          <a:p/>
        </p:txBody>
      </p:sp>
      <p:sp>
        <p:nvSpPr>
          <p:cNvPr id="16" name="Shape 13"/>
          <p:cNvSpPr/>
          <p:nvPr/>
        </p:nvSpPr>
        <p:spPr>
          <a:xfrm>
            <a:off x="6309360" y="3785616"/>
            <a:ext cx="420624" cy="420624"/>
          </a:xfrm>
          <a:prstGeom prst="ellipse">
            <a:avLst/>
          </a:prstGeom>
          <a:solidFill>
            <a:srgbClr val="FFC24B"/>
          </a:solidFill>
          <a:ln/>
        </p:spPr>
        <p:txBody>
          <a:bodyPr/>
          <a:p/>
        </p:txBody>
      </p:sp>
      <p:sp>
        <p:nvSpPr>
          <p:cNvPr id="17" name="Text 14"/>
          <p:cNvSpPr/>
          <p:nvPr/>
        </p:nvSpPr>
        <p:spPr>
          <a:xfrm>
            <a:off x="6309360" y="3785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8" name="Text 15"/>
          <p:cNvSpPr/>
          <p:nvPr/>
        </p:nvSpPr>
        <p:spPr>
          <a:xfrm>
            <a:off x="6949440" y="3666744"/>
            <a:ext cx="461772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Contemplarea</a:t>
            </a:r>
            <a:endParaRPr lang="en-US" sz="1800" dirty="0"/>
          </a:p>
        </p:txBody>
      </p:sp>
      <p:sp>
        <p:nvSpPr>
          <p:cNvPr id="19" name="Shape 16"/>
          <p:cNvSpPr/>
          <p:nvPr/>
        </p:nvSpPr>
        <p:spPr>
          <a:xfrm>
            <a:off x="6035040" y="4453128"/>
            <a:ext cx="5760720" cy="658368"/>
          </a:xfrm>
          <a:prstGeom prst="roundRect">
            <a:avLst>
              <a:gd name="adj" fmla="val 12500"/>
            </a:avLst>
          </a:prstGeom>
          <a:solidFill>
            <a:srgbClr val="1D1F2B"/>
          </a:solidFill>
          <a:ln w="12700">
            <a:solidFill>
              <a:srgbClr val="1D1F2B"/>
            </a:solidFill>
            <a:prstDash val="solid"/>
          </a:ln>
        </p:spPr>
        <p:txBody>
          <a:bodyPr/>
          <a:p/>
        </p:txBody>
      </p:sp>
      <p:sp>
        <p:nvSpPr>
          <p:cNvPr id="20" name="Shape 17"/>
          <p:cNvSpPr/>
          <p:nvPr/>
        </p:nvSpPr>
        <p:spPr>
          <a:xfrm>
            <a:off x="6309360" y="4572000"/>
            <a:ext cx="420624" cy="420624"/>
          </a:xfrm>
          <a:prstGeom prst="ellipse">
            <a:avLst/>
          </a:prstGeom>
          <a:solidFill>
            <a:srgbClr val="FFC24B"/>
          </a:solidFill>
          <a:ln/>
        </p:spPr>
        <p:txBody>
          <a:bodyPr/>
          <a:p/>
        </p:txBody>
      </p:sp>
      <p:sp>
        <p:nvSpPr>
          <p:cNvPr id="21" name="Text 18"/>
          <p:cNvSpPr/>
          <p:nvPr/>
        </p:nvSpPr>
        <p:spPr>
          <a:xfrm>
            <a:off x="6309360" y="4572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2" name="Text 19"/>
          <p:cNvSpPr/>
          <p:nvPr/>
        </p:nvSpPr>
        <p:spPr>
          <a:xfrm>
            <a:off x="6949440" y="4453128"/>
            <a:ext cx="461772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Pregătirea</a:t>
            </a:r>
            <a:endParaRPr lang="en-US" sz="1800" dirty="0"/>
          </a:p>
        </p:txBody>
      </p:sp>
      <p:sp>
        <p:nvSpPr>
          <p:cNvPr id="23" name="Shape 20"/>
          <p:cNvSpPr/>
          <p:nvPr/>
        </p:nvSpPr>
        <p:spPr>
          <a:xfrm>
            <a:off x="6035040" y="5239512"/>
            <a:ext cx="5760720" cy="658368"/>
          </a:xfrm>
          <a:prstGeom prst="roundRect">
            <a:avLst>
              <a:gd name="adj" fmla="val 12500"/>
            </a:avLst>
          </a:prstGeom>
          <a:solidFill>
            <a:srgbClr val="1D1F2B"/>
          </a:solidFill>
          <a:ln w="12700">
            <a:solidFill>
              <a:srgbClr val="1D1F2B"/>
            </a:solidFill>
            <a:prstDash val="solid"/>
          </a:ln>
        </p:spPr>
        <p:txBody>
          <a:bodyPr/>
          <a:p/>
        </p:txBody>
      </p:sp>
      <p:sp>
        <p:nvSpPr>
          <p:cNvPr id="24" name="Shape 21"/>
          <p:cNvSpPr/>
          <p:nvPr/>
        </p:nvSpPr>
        <p:spPr>
          <a:xfrm>
            <a:off x="6309360" y="5358384"/>
            <a:ext cx="420624" cy="420624"/>
          </a:xfrm>
          <a:prstGeom prst="ellipse">
            <a:avLst/>
          </a:prstGeom>
          <a:solidFill>
            <a:srgbClr val="FFC24B"/>
          </a:solidFill>
          <a:ln/>
        </p:spPr>
        <p:txBody>
          <a:bodyPr/>
          <a:p/>
        </p:txBody>
      </p:sp>
      <p:sp>
        <p:nvSpPr>
          <p:cNvPr id="25" name="Text 22"/>
          <p:cNvSpPr/>
          <p:nvPr/>
        </p:nvSpPr>
        <p:spPr>
          <a:xfrm>
            <a:off x="6309360" y="53583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6" name="Text 23"/>
          <p:cNvSpPr/>
          <p:nvPr/>
        </p:nvSpPr>
        <p:spPr>
          <a:xfrm>
            <a:off x="6949440" y="5239512"/>
            <a:ext cx="461772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Acțiunea</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AUTOEFICACITATEA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Ambivalentă, în termenii modelului</a:t>
            </a:r>
            <a:endParaRPr lang="en-US" sz="3000" dirty="0"/>
          </a:p>
        </p:txBody>
      </p:sp>
      <p:sp>
        <p:nvSpPr>
          <p:cNvPr id="4" name="Shape 2"/>
          <p:cNvSpPr/>
          <p:nvPr/>
        </p:nvSpPr>
        <p:spPr>
          <a:xfrm>
            <a:off x="594360" y="1645920"/>
            <a:ext cx="5394960" cy="3566160"/>
          </a:xfrm>
          <a:prstGeom prst="roundRect">
            <a:avLst>
              <a:gd name="adj" fmla="val 2308"/>
            </a:avLst>
          </a:prstGeom>
          <a:solidFill>
            <a:srgbClr val="ECEAE4"/>
          </a:solidFill>
          <a:ln w="12700">
            <a:solidFill>
              <a:srgbClr val="ECEAE4"/>
            </a:solidFill>
            <a:prstDash val="solid"/>
          </a:ln>
        </p:spPr>
        <p:txBody>
          <a:bodyPr/>
          <a:p/>
        </p:txBody>
      </p:sp>
      <p:sp>
        <p:nvSpPr>
          <p:cNvPr id="5" name="Text 3"/>
          <p:cNvSpPr/>
          <p:nvPr/>
        </p:nvSpPr>
        <p:spPr>
          <a:xfrm>
            <a:off x="822960" y="1783080"/>
            <a:ext cx="4937760" cy="32918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Modelul nu justifică amânarea sprijinului: recomandare clară și ajutor concret, oricare ar fi etapa.</a:t>
            </a:r>
            <a:endParaRPr lang="en-US" sz="17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Discuția se adaptează la ce spune ea.</a:t>
            </a:r>
            <a:endParaRPr lang="en-US" sz="17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Dacă reia fumatul, revine într-o etapă anterioară și poate reîncepe.</a:t>
            </a:r>
            <a:endParaRPr lang="en-US" sz="1700" dirty="0"/>
          </a:p>
        </p:txBody>
      </p:sp>
      <p:sp>
        <p:nvSpPr>
          <p:cNvPr id="6" name="Shape 4"/>
          <p:cNvSpPr/>
          <p:nvPr/>
        </p:nvSpPr>
        <p:spPr>
          <a:xfrm>
            <a:off x="6172200" y="1645920"/>
            <a:ext cx="5394960" cy="3566160"/>
          </a:xfrm>
          <a:prstGeom prst="roundRect">
            <a:avLst>
              <a:gd name="adj" fmla="val 2308"/>
            </a:avLst>
          </a:prstGeom>
          <a:solidFill>
            <a:srgbClr val="07564B"/>
          </a:solidFill>
          <a:ln w="12700">
            <a:solidFill>
              <a:srgbClr val="07564B"/>
            </a:solidFill>
            <a:prstDash val="solid"/>
          </a:ln>
        </p:spPr>
        <p:txBody>
          <a:bodyPr/>
          <a:p/>
        </p:txBody>
      </p:sp>
      <p:sp>
        <p:nvSpPr>
          <p:cNvPr id="7" name="Text 5"/>
          <p:cNvSpPr/>
          <p:nvPr/>
        </p:nvSpPr>
        <p:spPr>
          <a:xfrm>
            <a:off x="6400800" y="1783080"/>
            <a:ext cx="493776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BANDURA, 1977</a:t>
            </a:r>
            <a:endParaRPr lang="en-US" sz="1300" dirty="0"/>
          </a:p>
        </p:txBody>
      </p:sp>
      <p:sp>
        <p:nvSpPr>
          <p:cNvPr id="8" name="Text 6"/>
          <p:cNvSpPr/>
          <p:nvPr/>
        </p:nvSpPr>
        <p:spPr>
          <a:xfrm>
            <a:off x="6400800" y="2148840"/>
            <a:ext cx="4937760" cy="8229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Autoeficacitatea: încrederea că puteți face ce vă cere schimbarea.</a:t>
            </a:r>
            <a:endParaRPr lang="en-US" sz="1700" dirty="0"/>
          </a:p>
        </p:txBody>
      </p:sp>
      <p:sp>
        <p:nvSpPr>
          <p:cNvPr id="9" name="Text 7"/>
          <p:cNvSpPr/>
          <p:nvPr/>
        </p:nvSpPr>
        <p:spPr>
          <a:xfrm>
            <a:off x="6400800" y="3017520"/>
            <a:ext cx="4937760" cy="210312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Apare în toate cele trei modele (sinteză didactică). O creșteți prin demonstrație și exersare (își măsoară singură tensiunea, sub supraveghere), prin pași mici și prin exemplul altor pacienți.</a:t>
            </a:r>
            <a:endParaRPr lang="en-US" sz="1550" dirty="0"/>
          </a:p>
        </p:txBody>
      </p:sp>
      <p:sp>
        <p:nvSpPr>
          <p:cNvPr id="10" name="Text 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Bandura, 1977, după Behr și colab., 2025 (registru A815).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SALA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ALEGEȚI MODELUL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model pentru ce problemă</a:t>
            </a:r>
            <a:endParaRPr lang="en-US" sz="3000" dirty="0"/>
          </a:p>
        </p:txBody>
      </p:sp>
      <p:sp>
        <p:nvSpPr>
          <p:cNvPr id="6" name="Text 4"/>
          <p:cNvSpPr/>
          <p:nvPr/>
        </p:nvSpPr>
        <p:spPr>
          <a:xfrm>
            <a:off x="594360" y="1600200"/>
            <a:ext cx="5852160" cy="54864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O decizie punctuală: vaccinul, un test</a:t>
            </a:r>
            <a:endParaRPr lang="en-US" sz="1550" dirty="0"/>
          </a:p>
        </p:txBody>
      </p:sp>
      <p:sp>
        <p:nvSpPr>
          <p:cNvPr id="7" name="Shape 5"/>
          <p:cNvSpPr/>
          <p:nvPr/>
        </p:nvSpPr>
        <p:spPr>
          <a:xfrm>
            <a:off x="6492240" y="1719072"/>
            <a:ext cx="411480" cy="310896"/>
          </a:xfrm>
          <a:prstGeom prst="rightArrow">
            <a:avLst/>
          </a:prstGeom>
          <a:solidFill>
            <a:srgbClr val="959BB0"/>
          </a:solidFill>
          <a:ln w="12700">
            <a:solidFill>
              <a:srgbClr val="959BB0"/>
            </a:solidFill>
            <a:prstDash val="solid"/>
          </a:ln>
        </p:spPr>
        <p:txBody>
          <a:bodyPr/>
          <a:p/>
        </p:txBody>
      </p:sp>
      <p:sp>
        <p:nvSpPr>
          <p:cNvPr id="8" name="Text 6"/>
          <p:cNvSpPr/>
          <p:nvPr/>
        </p:nvSpPr>
        <p:spPr>
          <a:xfrm>
            <a:off x="7040880" y="1600200"/>
            <a:ext cx="4572000" cy="548640"/>
          </a:xfrm>
          <a:prstGeom prst="rect">
            <a:avLst/>
          </a:prstGeom>
          <a:noFill/>
          <a:ln/>
        </p:spPr>
        <p:txBody>
          <a:bodyPr wrap="square" lIns="0" tIns="0" rIns="0" bIns="0" rtlCol="0" anchor="ctr"/>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modelul convingerilor despre sănătate</a:t>
            </a:r>
            <a:endParaRPr lang="en-US" sz="1550" dirty="0"/>
          </a:p>
        </p:txBody>
      </p:sp>
      <p:sp>
        <p:nvSpPr>
          <p:cNvPr id="9" name="Text 7"/>
          <p:cNvSpPr/>
          <p:nvPr/>
        </p:nvSpPr>
        <p:spPr>
          <a:xfrm>
            <a:off x="594360" y="2221992"/>
            <a:ext cx="5852160" cy="54864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Un comportament repetat, influențat de ceilalți: aderența</a:t>
            </a:r>
            <a:endParaRPr lang="en-US" sz="1550" dirty="0"/>
          </a:p>
        </p:txBody>
      </p:sp>
      <p:sp>
        <p:nvSpPr>
          <p:cNvPr id="10" name="Shape 8"/>
          <p:cNvSpPr/>
          <p:nvPr/>
        </p:nvSpPr>
        <p:spPr>
          <a:xfrm>
            <a:off x="6492240" y="2340864"/>
            <a:ext cx="411480" cy="310896"/>
          </a:xfrm>
          <a:prstGeom prst="rightArrow">
            <a:avLst/>
          </a:prstGeom>
          <a:solidFill>
            <a:srgbClr val="959BB0"/>
          </a:solidFill>
          <a:ln w="12700">
            <a:solidFill>
              <a:srgbClr val="959BB0"/>
            </a:solidFill>
            <a:prstDash val="solid"/>
          </a:ln>
        </p:spPr>
        <p:txBody>
          <a:bodyPr/>
          <a:p/>
        </p:txBody>
      </p:sp>
      <p:sp>
        <p:nvSpPr>
          <p:cNvPr id="11" name="Text 9"/>
          <p:cNvSpPr/>
          <p:nvPr/>
        </p:nvSpPr>
        <p:spPr>
          <a:xfrm>
            <a:off x="7040880" y="2221992"/>
            <a:ext cx="4572000" cy="548640"/>
          </a:xfrm>
          <a:prstGeom prst="rect">
            <a:avLst/>
          </a:prstGeom>
          <a:noFill/>
          <a:ln/>
        </p:spPr>
        <p:txBody>
          <a:bodyPr wrap="square" lIns="0" tIns="0" rIns="0" bIns="0" rtlCol="0" anchor="ctr"/>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teoria comportamentului planificat</a:t>
            </a:r>
            <a:endParaRPr lang="en-US" sz="1550" dirty="0"/>
          </a:p>
        </p:txBody>
      </p:sp>
      <p:sp>
        <p:nvSpPr>
          <p:cNvPr id="12" name="Text 10"/>
          <p:cNvSpPr/>
          <p:nvPr/>
        </p:nvSpPr>
        <p:spPr>
          <a:xfrm>
            <a:off x="594360" y="2843784"/>
            <a:ext cx="5852160" cy="54864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Renunțarea la un obicei: fumatul, alcoolul</a:t>
            </a:r>
            <a:endParaRPr lang="en-US" sz="1550" dirty="0"/>
          </a:p>
        </p:txBody>
      </p:sp>
      <p:sp>
        <p:nvSpPr>
          <p:cNvPr id="13" name="Shape 11"/>
          <p:cNvSpPr/>
          <p:nvPr/>
        </p:nvSpPr>
        <p:spPr>
          <a:xfrm>
            <a:off x="6492240" y="2962656"/>
            <a:ext cx="411480" cy="310896"/>
          </a:xfrm>
          <a:prstGeom prst="rightArrow">
            <a:avLst/>
          </a:prstGeom>
          <a:solidFill>
            <a:srgbClr val="959BB0"/>
          </a:solidFill>
          <a:ln w="12700">
            <a:solidFill>
              <a:srgbClr val="959BB0"/>
            </a:solidFill>
            <a:prstDash val="solid"/>
          </a:ln>
        </p:spPr>
        <p:txBody>
          <a:bodyPr/>
          <a:p/>
        </p:txBody>
      </p:sp>
      <p:sp>
        <p:nvSpPr>
          <p:cNvPr id="14" name="Text 12"/>
          <p:cNvSpPr/>
          <p:nvPr/>
        </p:nvSpPr>
        <p:spPr>
          <a:xfrm>
            <a:off x="7040880" y="2843784"/>
            <a:ext cx="4572000" cy="548640"/>
          </a:xfrm>
          <a:prstGeom prst="rect">
            <a:avLst/>
          </a:prstGeom>
          <a:noFill/>
          <a:ln/>
        </p:spPr>
        <p:txBody>
          <a:bodyPr wrap="square" lIns="0" tIns="0" rIns="0" bIns="0" rtlCol="0" anchor="ctr"/>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modelul transteoretic</a:t>
            </a:r>
            <a:endParaRPr lang="en-US" sz="1550" dirty="0"/>
          </a:p>
        </p:txBody>
      </p:sp>
      <p:sp>
        <p:nvSpPr>
          <p:cNvPr id="15" name="Text 13"/>
          <p:cNvSpPr/>
          <p:nvPr/>
        </p:nvSpPr>
        <p:spPr>
          <a:xfrm>
            <a:off x="594360" y="3465576"/>
            <a:ext cx="5852160" cy="54864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Mediul în care trăiește comunitatea</a:t>
            </a:r>
            <a:endParaRPr lang="en-US" sz="1550" dirty="0"/>
          </a:p>
        </p:txBody>
      </p:sp>
      <p:sp>
        <p:nvSpPr>
          <p:cNvPr id="16" name="Shape 14"/>
          <p:cNvSpPr/>
          <p:nvPr/>
        </p:nvSpPr>
        <p:spPr>
          <a:xfrm>
            <a:off x="6492240" y="3584448"/>
            <a:ext cx="411480" cy="310896"/>
          </a:xfrm>
          <a:prstGeom prst="rightArrow">
            <a:avLst/>
          </a:prstGeom>
          <a:solidFill>
            <a:srgbClr val="959BB0"/>
          </a:solidFill>
          <a:ln w="12700">
            <a:solidFill>
              <a:srgbClr val="959BB0"/>
            </a:solidFill>
            <a:prstDash val="solid"/>
          </a:ln>
        </p:spPr>
        <p:txBody>
          <a:bodyPr/>
          <a:p/>
        </p:txBody>
      </p:sp>
      <p:sp>
        <p:nvSpPr>
          <p:cNvPr id="17" name="Text 15"/>
          <p:cNvSpPr/>
          <p:nvPr/>
        </p:nvSpPr>
        <p:spPr>
          <a:xfrm>
            <a:off x="7040880" y="3465576"/>
            <a:ext cx="4572000" cy="548640"/>
          </a:xfrm>
          <a:prstGeom prst="rect">
            <a:avLst/>
          </a:prstGeom>
          <a:noFill/>
          <a:ln/>
        </p:spPr>
        <p:txBody>
          <a:bodyPr wrap="square" lIns="0" tIns="0" rIns="0" bIns="0" rtlCol="0" anchor="ctr"/>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modelul ecologic, pe mai multe niveluri</a:t>
            </a:r>
            <a:endParaRPr lang="en-US" sz="1550" dirty="0"/>
          </a:p>
        </p:txBody>
      </p:sp>
      <p:sp>
        <p:nvSpPr>
          <p:cNvPr id="18" name="Shape 16"/>
          <p:cNvSpPr/>
          <p:nvPr/>
        </p:nvSpPr>
        <p:spPr>
          <a:xfrm>
            <a:off x="594360" y="4206240"/>
            <a:ext cx="10972800" cy="1783080"/>
          </a:xfrm>
          <a:prstGeom prst="roundRect">
            <a:avLst>
              <a:gd name="adj" fmla="val 4615"/>
            </a:avLst>
          </a:prstGeom>
          <a:solidFill>
            <a:srgbClr val="FFC24B"/>
          </a:solidFill>
          <a:ln w="12700">
            <a:solidFill>
              <a:srgbClr val="FFC24B"/>
            </a:solidFill>
            <a:prstDash val="solid"/>
          </a:ln>
        </p:spPr>
        <p:txBody>
          <a:bodyPr/>
          <a:p/>
        </p:txBody>
      </p:sp>
      <p:sp>
        <p:nvSpPr>
          <p:cNvPr id="19" name="Text 17"/>
          <p:cNvSpPr/>
          <p:nvPr/>
        </p:nvSpPr>
        <p:spPr>
          <a:xfrm>
            <a:off x="868680" y="4206240"/>
            <a:ext cx="10424160" cy="1783080"/>
          </a:xfrm>
          <a:prstGeom prst="rect">
            <a:avLst/>
          </a:prstGeom>
          <a:noFill/>
          <a:ln/>
        </p:spPr>
        <p:txBody>
          <a:bodyPr wrap="square" lIns="0" tIns="0" rIns="0" bIns="0" rtlCol="0" anchor="ctr"/>
          <a:lstStyle/>
          <a:p>
            <a:pPr indent="0" marL="0">
              <a:buNone/>
            </a:pPr>
            <a:r>
              <a:rPr lang="en-US" sz="1650" b="1" dirty="0">
                <a:solidFill>
                  <a:srgbClr val="3D2A00"/>
                </a:solidFill>
                <a:latin typeface="Palatino Linotype" pitchFamily="34" charset="0"/>
                <a:ea typeface="Palatino Linotype" pitchFamily="34" charset="-122"/>
                <a:cs typeface="Palatino Linotype" pitchFamily="34" charset="-120"/>
              </a:rPr>
              <a:t>În perechi, alegeți o situație: </a:t>
            </a:r>
            <a:pPr indent="0" marL="0">
              <a:buNone/>
            </a:pPr>
            <a:r>
              <a:rPr lang="en-US" sz="1650" dirty="0">
                <a:solidFill>
                  <a:srgbClr val="3D2A00"/>
                </a:solidFill>
                <a:latin typeface="Palatino Linotype" pitchFamily="34" charset="0"/>
                <a:ea typeface="Palatino Linotype" pitchFamily="34" charset="-122"/>
                <a:cs typeface="Palatino Linotype" pitchFamily="34" charset="-120"/>
              </a:rPr>
              <a:t>prevenirea obezității într-o școală rurală · aderența la tratamentul antidiabetic într-un cabinet de medicina familiei · vaccinarea antigripală a vârstnicilor într-o comunitate reticentă.</a:t>
            </a:r>
            <a:pPr indent="0" marL="0">
              <a:buNone/>
            </a:pPr>
            <a:r>
              <a:rPr lang="en-US" sz="1650" b="1" dirty="0">
                <a:solidFill>
                  <a:srgbClr val="3D2A00"/>
                </a:solidFill>
                <a:latin typeface="Palatino Linotype" pitchFamily="34" charset="0"/>
                <a:ea typeface="Palatino Linotype" pitchFamily="34" charset="-122"/>
                <a:cs typeface="Palatino Linotype" pitchFamily="34" charset="-120"/>
              </a:rPr>
              <a:t> Ce model, de ce, și trei intervenții care decurg din el.</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karelia_de_nord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Karelia de Nord, estul Finlandei</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Hemmo Vattulainen · CC BY 3.0 · Wikimedia Commons</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1969–1972 ȘI 2012 · PENTRU APROFUNDARE</a:t>
            </a:r>
            <a:endParaRPr lang="en-US" sz="1300" dirty="0"/>
          </a:p>
        </p:txBody>
      </p:sp>
      <p:sp>
        <p:nvSpPr>
          <p:cNvPr id="7" name="Text 4"/>
          <p:cNvSpPr/>
          <p:nvPr/>
        </p:nvSpPr>
        <p:spPr>
          <a:xfrm>
            <a:off x="594360" y="731520"/>
            <a:ext cx="5852160" cy="82296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North Karelia, patru decenii</a:t>
            </a:r>
            <a:endParaRPr lang="en-US" sz="2800" dirty="0"/>
          </a:p>
        </p:txBody>
      </p:sp>
      <p:sp>
        <p:nvSpPr>
          <p:cNvPr id="8" name="Text 5"/>
          <p:cNvSpPr/>
          <p:nvPr/>
        </p:nvSpPr>
        <p:spPr>
          <a:xfrm>
            <a:off x="594360" y="1645920"/>
            <a:ext cx="5852160" cy="320040"/>
          </a:xfrm>
          <a:prstGeom prst="rect">
            <a:avLst/>
          </a:prstGeom>
          <a:noFill/>
          <a:ln/>
        </p:spPr>
        <p:txBody>
          <a:bodyPr wrap="square" lIns="0" tIns="0" rIns="0" bIns="0" rtlCol="0" anchor="t"/>
          <a:lstStyle/>
          <a:p>
            <a:pPr indent="0" marL="0">
              <a:buNone/>
            </a:pPr>
            <a:r>
              <a:rPr lang="en-US" sz="1350" b="1" dirty="0">
                <a:solidFill>
                  <a:srgbClr val="585A64"/>
                </a:solidFill>
                <a:latin typeface="Palatino Linotype" pitchFamily="34" charset="0"/>
                <a:ea typeface="Palatino Linotype" pitchFamily="34" charset="-122"/>
                <a:cs typeface="Palatino Linotype" pitchFamily="34" charset="-120"/>
              </a:rPr>
              <a:t>Mortalitatea coronariană, 35–64 de ani, la 100 000</a:t>
            </a:r>
            <a:endParaRPr lang="en-US" sz="1350" dirty="0"/>
          </a:p>
        </p:txBody>
      </p:sp>
      <p:sp>
        <p:nvSpPr>
          <p:cNvPr id="9" name="Text 6"/>
          <p:cNvSpPr/>
          <p:nvPr/>
        </p:nvSpPr>
        <p:spPr>
          <a:xfrm>
            <a:off x="594360" y="2103120"/>
            <a:ext cx="1005840" cy="8686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Bărbați</a:t>
            </a:r>
            <a:endParaRPr lang="en-US" sz="1500" dirty="0"/>
          </a:p>
        </p:txBody>
      </p:sp>
      <p:sp>
        <p:nvSpPr>
          <p:cNvPr id="10" name="Shape 7"/>
          <p:cNvSpPr/>
          <p:nvPr/>
        </p:nvSpPr>
        <p:spPr>
          <a:xfrm>
            <a:off x="1645920" y="2103120"/>
            <a:ext cx="3749040" cy="384048"/>
          </a:xfrm>
          <a:prstGeom prst="rect">
            <a:avLst/>
          </a:prstGeom>
          <a:solidFill>
            <a:srgbClr val="B5B2AA"/>
          </a:solidFill>
          <a:ln w="12700">
            <a:solidFill>
              <a:srgbClr val="B5B2AA"/>
            </a:solidFill>
            <a:prstDash val="solid"/>
          </a:ln>
        </p:spPr>
        <p:txBody>
          <a:bodyPr/>
          <a:p/>
        </p:txBody>
      </p:sp>
      <p:sp>
        <p:nvSpPr>
          <p:cNvPr id="11" name="Text 8"/>
          <p:cNvSpPr/>
          <p:nvPr/>
        </p:nvSpPr>
        <p:spPr>
          <a:xfrm>
            <a:off x="5468112" y="2075688"/>
            <a:ext cx="731520" cy="438912"/>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643</a:t>
            </a:r>
            <a:endParaRPr lang="en-US" sz="1300" dirty="0"/>
          </a:p>
        </p:txBody>
      </p:sp>
      <p:sp>
        <p:nvSpPr>
          <p:cNvPr id="12" name="Shape 9"/>
          <p:cNvSpPr/>
          <p:nvPr/>
        </p:nvSpPr>
        <p:spPr>
          <a:xfrm>
            <a:off x="1645920" y="2560320"/>
            <a:ext cx="688004" cy="384048"/>
          </a:xfrm>
          <a:prstGeom prst="rect">
            <a:avLst/>
          </a:prstGeom>
          <a:solidFill>
            <a:srgbClr val="0E7C6B"/>
          </a:solidFill>
          <a:ln w="12700">
            <a:solidFill>
              <a:srgbClr val="0E7C6B"/>
            </a:solidFill>
            <a:prstDash val="solid"/>
          </a:ln>
        </p:spPr>
        <p:txBody>
          <a:bodyPr/>
          <a:p/>
        </p:txBody>
      </p:sp>
      <p:sp>
        <p:nvSpPr>
          <p:cNvPr id="13" name="Text 10"/>
          <p:cNvSpPr/>
          <p:nvPr/>
        </p:nvSpPr>
        <p:spPr>
          <a:xfrm>
            <a:off x="2407076" y="2532888"/>
            <a:ext cx="3291840" cy="438912"/>
          </a:xfrm>
          <a:prstGeom prst="rect">
            <a:avLst/>
          </a:prstGeom>
          <a:noFill/>
          <a:ln/>
        </p:spPr>
        <p:txBody>
          <a:bodyPr wrap="square" lIns="0" tIns="0" rIns="0" bIns="0" rtlCol="0" anchor="ctr"/>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118  ·  scădere de 82%</a:t>
            </a:r>
            <a:endParaRPr lang="en-US" sz="1400" dirty="0"/>
          </a:p>
        </p:txBody>
      </p:sp>
      <p:sp>
        <p:nvSpPr>
          <p:cNvPr id="14" name="Text 11"/>
          <p:cNvSpPr/>
          <p:nvPr/>
        </p:nvSpPr>
        <p:spPr>
          <a:xfrm>
            <a:off x="594360" y="3291840"/>
            <a:ext cx="1005840" cy="8686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Femei</a:t>
            </a:r>
            <a:endParaRPr lang="en-US" sz="1500" dirty="0"/>
          </a:p>
        </p:txBody>
      </p:sp>
      <p:sp>
        <p:nvSpPr>
          <p:cNvPr id="15" name="Shape 12"/>
          <p:cNvSpPr/>
          <p:nvPr/>
        </p:nvSpPr>
        <p:spPr>
          <a:xfrm>
            <a:off x="1645920" y="3291840"/>
            <a:ext cx="664682" cy="384048"/>
          </a:xfrm>
          <a:prstGeom prst="rect">
            <a:avLst/>
          </a:prstGeom>
          <a:solidFill>
            <a:srgbClr val="B5B2AA"/>
          </a:solidFill>
          <a:ln w="12700">
            <a:solidFill>
              <a:srgbClr val="B5B2AA"/>
            </a:solidFill>
            <a:prstDash val="solid"/>
          </a:ln>
        </p:spPr>
        <p:txBody>
          <a:bodyPr/>
          <a:p/>
        </p:txBody>
      </p:sp>
      <p:sp>
        <p:nvSpPr>
          <p:cNvPr id="16" name="Text 13"/>
          <p:cNvSpPr/>
          <p:nvPr/>
        </p:nvSpPr>
        <p:spPr>
          <a:xfrm>
            <a:off x="2383754" y="3264408"/>
            <a:ext cx="731520" cy="438912"/>
          </a:xfrm>
          <a:prstGeom prst="rect">
            <a:avLst/>
          </a:prstGeom>
          <a:noFill/>
          <a:ln/>
        </p:spPr>
        <p:txBody>
          <a:bodyPr wrap="square" lIns="0" tIns="0" rIns="0" bIns="0" rtlCol="0" anchor="ctr"/>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114</a:t>
            </a:r>
            <a:endParaRPr lang="en-US" sz="1300" dirty="0"/>
          </a:p>
        </p:txBody>
      </p:sp>
      <p:sp>
        <p:nvSpPr>
          <p:cNvPr id="17" name="Shape 14"/>
          <p:cNvSpPr/>
          <p:nvPr/>
        </p:nvSpPr>
        <p:spPr>
          <a:xfrm>
            <a:off x="1645920" y="3749040"/>
            <a:ext cx="99119" cy="384048"/>
          </a:xfrm>
          <a:prstGeom prst="rect">
            <a:avLst/>
          </a:prstGeom>
          <a:solidFill>
            <a:srgbClr val="0E7C6B"/>
          </a:solidFill>
          <a:ln w="12700">
            <a:solidFill>
              <a:srgbClr val="0E7C6B"/>
            </a:solidFill>
            <a:prstDash val="solid"/>
          </a:ln>
        </p:spPr>
        <p:txBody>
          <a:bodyPr/>
          <a:p/>
        </p:txBody>
      </p:sp>
      <p:sp>
        <p:nvSpPr>
          <p:cNvPr id="18" name="Text 15"/>
          <p:cNvSpPr/>
          <p:nvPr/>
        </p:nvSpPr>
        <p:spPr>
          <a:xfrm>
            <a:off x="1818191" y="3721608"/>
            <a:ext cx="3291840" cy="438912"/>
          </a:xfrm>
          <a:prstGeom prst="rect">
            <a:avLst/>
          </a:prstGeom>
          <a:noFill/>
          <a:ln/>
        </p:spPr>
        <p:txBody>
          <a:bodyPr wrap="square" lIns="0" tIns="0" rIns="0" bIns="0" rtlCol="0" anchor="ctr"/>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17  ·  scădere de 84%</a:t>
            </a:r>
            <a:endParaRPr lang="en-US" sz="1400" dirty="0"/>
          </a:p>
        </p:txBody>
      </p:sp>
      <p:sp>
        <p:nvSpPr>
          <p:cNvPr id="19" name="Text 16"/>
          <p:cNvSpPr/>
          <p:nvPr/>
        </p:nvSpPr>
        <p:spPr>
          <a:xfrm>
            <a:off x="594360" y="4526280"/>
            <a:ext cx="5852160" cy="114300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Program pe mai multe niveluri: informare, asistență primară, școli, industria alimentară, politici. În primii 10 ani, scăderea fumatului, a colesterolului și a tensiunii a explicat aproape toată reducerea. Studiu observațional.</a:t>
            </a:r>
            <a:endParaRPr lang="en-US" sz="1350" dirty="0"/>
          </a:p>
        </p:txBody>
      </p:sp>
      <p:sp>
        <p:nvSpPr>
          <p:cNvPr id="20" name="Text 17"/>
          <p:cNvSpPr/>
          <p:nvPr/>
        </p:nvSpPr>
        <p:spPr>
          <a:xfrm>
            <a:off x="594360" y="5669280"/>
            <a:ext cx="5852160" cy="685800"/>
          </a:xfrm>
          <a:prstGeom prst="rect">
            <a:avLst/>
          </a:prstGeom>
          <a:noFill/>
          <a:ln/>
        </p:spPr>
        <p:txBody>
          <a:bodyPr wrap="square" lIns="0" tIns="0" rIns="0" bIns="0" rtlCol="0" anchor="t"/>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Trei principii (ipoteze de lucru, nu rezultate demonstrate): mai multe sectoare, ani de zile, date și evaluare. Un singur succes arată ce e posibil, nu ce se va întâmpla oriunde.</a:t>
            </a:r>
            <a:endParaRPr lang="en-US" sz="1500" dirty="0"/>
          </a:p>
        </p:txBody>
      </p:sp>
      <p:sp>
        <p:nvSpPr>
          <p:cNvPr id="21"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Jousilahti și colab., 2016 (registru A814). Gri: 1969–1972; verde: 2012. Procentele sunt cele raportate de autori.</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PENTRU LUCRĂRILE PRACTICE ȘI PROIECTUL DE ECHIPĂ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Planul de intervenție, în șapte elemente</a:t>
            </a:r>
            <a:endParaRPr lang="en-US" sz="3000" dirty="0"/>
          </a:p>
        </p:txBody>
      </p:sp>
      <p:sp>
        <p:nvSpPr>
          <p:cNvPr id="4" name="Shape 2"/>
          <p:cNvSpPr/>
          <p:nvPr/>
        </p:nvSpPr>
        <p:spPr>
          <a:xfrm>
            <a:off x="594360" y="1600200"/>
            <a:ext cx="6766560" cy="512064"/>
          </a:xfrm>
          <a:prstGeom prst="roundRect">
            <a:avLst>
              <a:gd name="adj" fmla="val 16071"/>
            </a:avLst>
          </a:prstGeom>
          <a:solidFill>
            <a:srgbClr val="ECEAE4"/>
          </a:solidFill>
          <a:ln w="12700">
            <a:solidFill>
              <a:srgbClr val="ECEAE4"/>
            </a:solidFill>
            <a:prstDash val="solid"/>
          </a:ln>
        </p:spPr>
        <p:txBody>
          <a:bodyPr/>
          <a:p/>
        </p:txBody>
      </p:sp>
      <p:sp>
        <p:nvSpPr>
          <p:cNvPr id="5" name="Shape 3"/>
          <p:cNvSpPr/>
          <p:nvPr/>
        </p:nvSpPr>
        <p:spPr>
          <a:xfrm>
            <a:off x="731520" y="1645920"/>
            <a:ext cx="420624" cy="420624"/>
          </a:xfrm>
          <a:prstGeom prst="ellipse">
            <a:avLst/>
          </a:prstGeom>
          <a:solidFill>
            <a:srgbClr val="585A64"/>
          </a:solidFill>
          <a:ln/>
        </p:spPr>
        <p:txBody>
          <a:bodyPr/>
          <a:p/>
        </p:txBody>
      </p:sp>
      <p:sp>
        <p:nvSpPr>
          <p:cNvPr id="6" name="Text 4"/>
          <p:cNvSpPr/>
          <p:nvPr/>
        </p:nvSpPr>
        <p:spPr>
          <a:xfrm>
            <a:off x="731520" y="16459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25880" y="1600200"/>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Problema și populația-țintă, descrise cu date</a:t>
            </a:r>
            <a:endParaRPr lang="en-US" sz="1500" dirty="0"/>
          </a:p>
        </p:txBody>
      </p:sp>
      <p:sp>
        <p:nvSpPr>
          <p:cNvPr id="8" name="Shape 6"/>
          <p:cNvSpPr/>
          <p:nvPr/>
        </p:nvSpPr>
        <p:spPr>
          <a:xfrm>
            <a:off x="594360" y="2203704"/>
            <a:ext cx="6766560" cy="512064"/>
          </a:xfrm>
          <a:prstGeom prst="roundRect">
            <a:avLst>
              <a:gd name="adj" fmla="val 16071"/>
            </a:avLst>
          </a:prstGeom>
          <a:solidFill>
            <a:srgbClr val="F9F8F5"/>
          </a:solidFill>
          <a:ln w="12700">
            <a:solidFill>
              <a:srgbClr val="F9F8F5"/>
            </a:solidFill>
            <a:prstDash val="solid"/>
          </a:ln>
        </p:spPr>
        <p:txBody>
          <a:bodyPr/>
          <a:p/>
        </p:txBody>
      </p:sp>
      <p:sp>
        <p:nvSpPr>
          <p:cNvPr id="9" name="Shape 7"/>
          <p:cNvSpPr/>
          <p:nvPr/>
        </p:nvSpPr>
        <p:spPr>
          <a:xfrm>
            <a:off x="731520" y="2249424"/>
            <a:ext cx="420624" cy="420624"/>
          </a:xfrm>
          <a:prstGeom prst="ellipse">
            <a:avLst/>
          </a:prstGeom>
          <a:solidFill>
            <a:srgbClr val="585A64"/>
          </a:solidFill>
          <a:ln/>
        </p:spPr>
        <p:txBody>
          <a:bodyPr/>
          <a:p/>
        </p:txBody>
      </p:sp>
      <p:sp>
        <p:nvSpPr>
          <p:cNvPr id="10" name="Text 8"/>
          <p:cNvSpPr/>
          <p:nvPr/>
        </p:nvSpPr>
        <p:spPr>
          <a:xfrm>
            <a:off x="731520" y="2249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25880" y="2203704"/>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Nevoile și resursele comunității</a:t>
            </a:r>
            <a:endParaRPr lang="en-US" sz="1500" dirty="0"/>
          </a:p>
        </p:txBody>
      </p:sp>
      <p:sp>
        <p:nvSpPr>
          <p:cNvPr id="12" name="Shape 10"/>
          <p:cNvSpPr/>
          <p:nvPr/>
        </p:nvSpPr>
        <p:spPr>
          <a:xfrm>
            <a:off x="594360" y="2807208"/>
            <a:ext cx="6766560" cy="512064"/>
          </a:xfrm>
          <a:prstGeom prst="roundRect">
            <a:avLst>
              <a:gd name="adj" fmla="val 16071"/>
            </a:avLst>
          </a:prstGeom>
          <a:solidFill>
            <a:srgbClr val="ECEAE4"/>
          </a:solidFill>
          <a:ln w="12700">
            <a:solidFill>
              <a:srgbClr val="ECEAE4"/>
            </a:solidFill>
            <a:prstDash val="solid"/>
          </a:ln>
        </p:spPr>
        <p:txBody>
          <a:bodyPr/>
          <a:p/>
        </p:txBody>
      </p:sp>
      <p:sp>
        <p:nvSpPr>
          <p:cNvPr id="13" name="Shape 11"/>
          <p:cNvSpPr/>
          <p:nvPr/>
        </p:nvSpPr>
        <p:spPr>
          <a:xfrm>
            <a:off x="731520" y="2852928"/>
            <a:ext cx="420624" cy="420624"/>
          </a:xfrm>
          <a:prstGeom prst="ellipse">
            <a:avLst/>
          </a:prstGeom>
          <a:solidFill>
            <a:srgbClr val="585A64"/>
          </a:solidFill>
          <a:ln/>
        </p:spPr>
        <p:txBody>
          <a:bodyPr/>
          <a:p/>
        </p:txBody>
      </p:sp>
      <p:sp>
        <p:nvSpPr>
          <p:cNvPr id="14" name="Text 12"/>
          <p:cNvSpPr/>
          <p:nvPr/>
        </p:nvSpPr>
        <p:spPr>
          <a:xfrm>
            <a:off x="731520" y="2852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25880" y="2807208"/>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Obiective măsurabile: ce, la cine, cu cât, până când</a:t>
            </a:r>
            <a:endParaRPr lang="en-US" sz="1500" dirty="0"/>
          </a:p>
        </p:txBody>
      </p:sp>
      <p:sp>
        <p:nvSpPr>
          <p:cNvPr id="16" name="Shape 14"/>
          <p:cNvSpPr/>
          <p:nvPr/>
        </p:nvSpPr>
        <p:spPr>
          <a:xfrm>
            <a:off x="594360" y="3410712"/>
            <a:ext cx="6766560" cy="512064"/>
          </a:xfrm>
          <a:prstGeom prst="roundRect">
            <a:avLst>
              <a:gd name="adj" fmla="val 16071"/>
            </a:avLst>
          </a:prstGeom>
          <a:solidFill>
            <a:srgbClr val="F9F8F5"/>
          </a:solidFill>
          <a:ln w="12700">
            <a:solidFill>
              <a:srgbClr val="F9F8F5"/>
            </a:solidFill>
            <a:prstDash val="solid"/>
          </a:ln>
        </p:spPr>
        <p:txBody>
          <a:bodyPr/>
          <a:p/>
        </p:txBody>
      </p:sp>
      <p:sp>
        <p:nvSpPr>
          <p:cNvPr id="17" name="Shape 15"/>
          <p:cNvSpPr/>
          <p:nvPr/>
        </p:nvSpPr>
        <p:spPr>
          <a:xfrm>
            <a:off x="731520" y="3456432"/>
            <a:ext cx="420624" cy="420624"/>
          </a:xfrm>
          <a:prstGeom prst="ellipse">
            <a:avLst/>
          </a:prstGeom>
          <a:solidFill>
            <a:srgbClr val="585A64"/>
          </a:solidFill>
          <a:ln/>
        </p:spPr>
        <p:txBody>
          <a:bodyPr/>
          <a:p/>
        </p:txBody>
      </p:sp>
      <p:sp>
        <p:nvSpPr>
          <p:cNvPr id="18" name="Text 16"/>
          <p:cNvSpPr/>
          <p:nvPr/>
        </p:nvSpPr>
        <p:spPr>
          <a:xfrm>
            <a:off x="731520" y="34564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25880" y="3410712"/>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Modelul teoretic și motivul alegerii</a:t>
            </a:r>
            <a:endParaRPr lang="en-US" sz="1500" dirty="0"/>
          </a:p>
        </p:txBody>
      </p:sp>
      <p:sp>
        <p:nvSpPr>
          <p:cNvPr id="20" name="Shape 18"/>
          <p:cNvSpPr/>
          <p:nvPr/>
        </p:nvSpPr>
        <p:spPr>
          <a:xfrm>
            <a:off x="594360" y="4014216"/>
            <a:ext cx="6766560" cy="512064"/>
          </a:xfrm>
          <a:prstGeom prst="roundRect">
            <a:avLst>
              <a:gd name="adj" fmla="val 16071"/>
            </a:avLst>
          </a:prstGeom>
          <a:solidFill>
            <a:srgbClr val="ECEAE4"/>
          </a:solidFill>
          <a:ln w="12700">
            <a:solidFill>
              <a:srgbClr val="ECEAE4"/>
            </a:solidFill>
            <a:prstDash val="solid"/>
          </a:ln>
        </p:spPr>
        <p:txBody>
          <a:bodyPr/>
          <a:p/>
        </p:txBody>
      </p:sp>
      <p:sp>
        <p:nvSpPr>
          <p:cNvPr id="21" name="Shape 19"/>
          <p:cNvSpPr/>
          <p:nvPr/>
        </p:nvSpPr>
        <p:spPr>
          <a:xfrm>
            <a:off x="731520" y="4059936"/>
            <a:ext cx="420624" cy="420624"/>
          </a:xfrm>
          <a:prstGeom prst="ellipse">
            <a:avLst/>
          </a:prstGeom>
          <a:solidFill>
            <a:srgbClr val="585A64"/>
          </a:solidFill>
          <a:ln/>
        </p:spPr>
        <p:txBody>
          <a:bodyPr/>
          <a:p/>
        </p:txBody>
      </p:sp>
      <p:sp>
        <p:nvSpPr>
          <p:cNvPr id="22" name="Text 20"/>
          <p:cNvSpPr/>
          <p:nvPr/>
        </p:nvSpPr>
        <p:spPr>
          <a:xfrm>
            <a:off x="731520" y="40599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25880" y="4014216"/>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Intervențiile pe cele trei niveluri</a:t>
            </a:r>
            <a:endParaRPr lang="en-US" sz="1500" dirty="0"/>
          </a:p>
        </p:txBody>
      </p:sp>
      <p:sp>
        <p:nvSpPr>
          <p:cNvPr id="24" name="Shape 22"/>
          <p:cNvSpPr/>
          <p:nvPr/>
        </p:nvSpPr>
        <p:spPr>
          <a:xfrm>
            <a:off x="594360" y="4617720"/>
            <a:ext cx="6766560" cy="512064"/>
          </a:xfrm>
          <a:prstGeom prst="roundRect">
            <a:avLst>
              <a:gd name="adj" fmla="val 16071"/>
            </a:avLst>
          </a:prstGeom>
          <a:solidFill>
            <a:srgbClr val="F6E3E5"/>
          </a:solidFill>
          <a:ln w="12700">
            <a:solidFill>
              <a:srgbClr val="F6E3E5"/>
            </a:solidFill>
            <a:prstDash val="solid"/>
          </a:ln>
        </p:spPr>
        <p:txBody>
          <a:bodyPr/>
          <a:p/>
        </p:txBody>
      </p:sp>
      <p:sp>
        <p:nvSpPr>
          <p:cNvPr id="25" name="Shape 23"/>
          <p:cNvSpPr/>
          <p:nvPr/>
        </p:nvSpPr>
        <p:spPr>
          <a:xfrm>
            <a:off x="731520" y="4663440"/>
            <a:ext cx="420624" cy="420624"/>
          </a:xfrm>
          <a:prstGeom prst="ellipse">
            <a:avLst/>
          </a:prstGeom>
          <a:solidFill>
            <a:srgbClr val="B02532"/>
          </a:solidFill>
          <a:ln/>
        </p:spPr>
        <p:txBody>
          <a:bodyPr/>
          <a:p/>
        </p:txBody>
      </p:sp>
      <p:sp>
        <p:nvSpPr>
          <p:cNvPr id="26" name="Text 24"/>
          <p:cNvSpPr/>
          <p:nvPr/>
        </p:nvSpPr>
        <p:spPr>
          <a:xfrm>
            <a:off x="731520" y="4663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1325880" y="4617720"/>
            <a:ext cx="5943600" cy="51206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Indicatorii de evaluare</a:t>
            </a:r>
            <a:endParaRPr lang="en-US" sz="1500" dirty="0"/>
          </a:p>
        </p:txBody>
      </p:sp>
      <p:sp>
        <p:nvSpPr>
          <p:cNvPr id="28" name="Shape 26"/>
          <p:cNvSpPr/>
          <p:nvPr/>
        </p:nvSpPr>
        <p:spPr>
          <a:xfrm>
            <a:off x="594360" y="5221224"/>
            <a:ext cx="6766560" cy="512064"/>
          </a:xfrm>
          <a:prstGeom prst="roundRect">
            <a:avLst>
              <a:gd name="adj" fmla="val 16071"/>
            </a:avLst>
          </a:prstGeom>
          <a:solidFill>
            <a:srgbClr val="ECEAE4"/>
          </a:solidFill>
          <a:ln w="12700">
            <a:solidFill>
              <a:srgbClr val="ECEAE4"/>
            </a:solidFill>
            <a:prstDash val="solid"/>
          </a:ln>
        </p:spPr>
        <p:txBody>
          <a:bodyPr/>
          <a:p/>
        </p:txBody>
      </p:sp>
      <p:sp>
        <p:nvSpPr>
          <p:cNvPr id="29" name="Shape 27"/>
          <p:cNvSpPr/>
          <p:nvPr/>
        </p:nvSpPr>
        <p:spPr>
          <a:xfrm>
            <a:off x="731520" y="5266944"/>
            <a:ext cx="420624" cy="420624"/>
          </a:xfrm>
          <a:prstGeom prst="ellipse">
            <a:avLst/>
          </a:prstGeom>
          <a:solidFill>
            <a:srgbClr val="585A64"/>
          </a:solidFill>
          <a:ln/>
        </p:spPr>
        <p:txBody>
          <a:bodyPr/>
          <a:p/>
        </p:txBody>
      </p:sp>
      <p:sp>
        <p:nvSpPr>
          <p:cNvPr id="30" name="Text 28"/>
          <p:cNvSpPr/>
          <p:nvPr/>
        </p:nvSpPr>
        <p:spPr>
          <a:xfrm>
            <a:off x="731520"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31" name="Text 29"/>
          <p:cNvSpPr/>
          <p:nvPr/>
        </p:nvSpPr>
        <p:spPr>
          <a:xfrm>
            <a:off x="1325880" y="5221224"/>
            <a:ext cx="5943600" cy="512064"/>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Calendarul și responsabilii</a:t>
            </a:r>
            <a:endParaRPr lang="en-US" sz="1500" dirty="0"/>
          </a:p>
        </p:txBody>
      </p:sp>
      <p:sp>
        <p:nvSpPr>
          <p:cNvPr id="32" name="Shape 30"/>
          <p:cNvSpPr/>
          <p:nvPr/>
        </p:nvSpPr>
        <p:spPr>
          <a:xfrm>
            <a:off x="7635240" y="1600200"/>
            <a:ext cx="3931920" cy="4114800"/>
          </a:xfrm>
          <a:prstGeom prst="roundRect">
            <a:avLst>
              <a:gd name="adj" fmla="val 2093"/>
            </a:avLst>
          </a:prstGeom>
          <a:solidFill>
            <a:srgbClr val="B02532"/>
          </a:solidFill>
          <a:ln w="12700">
            <a:solidFill>
              <a:srgbClr val="B02532"/>
            </a:solidFill>
            <a:prstDash val="solid"/>
          </a:ln>
        </p:spPr>
        <p:txBody>
          <a:bodyPr/>
          <a:p/>
        </p:txBody>
      </p:sp>
      <p:sp>
        <p:nvSpPr>
          <p:cNvPr id="33" name="Text 31"/>
          <p:cNvSpPr/>
          <p:nvPr/>
        </p:nvSpPr>
        <p:spPr>
          <a:xfrm>
            <a:off x="7863840" y="1737360"/>
            <a:ext cx="3474720" cy="320040"/>
          </a:xfrm>
          <a:prstGeom prst="rect">
            <a:avLst/>
          </a:prstGeom>
          <a:noFill/>
          <a:ln/>
        </p:spPr>
        <p:txBody>
          <a:bodyPr wrap="square" lIns="0" tIns="0" rIns="0" bIns="0" rtlCol="0" anchor="t"/>
          <a:lstStyle/>
          <a:p>
            <a:pPr indent="0" marL="0">
              <a:buNone/>
            </a:pPr>
            <a:r>
              <a:rPr lang="en-US" sz="1300" b="1" spc="200" kern="0" dirty="0">
                <a:solidFill>
                  <a:srgbClr val="FFFFFF"/>
                </a:solidFill>
                <a:latin typeface="Palatino Linotype" pitchFamily="34" charset="0"/>
                <a:ea typeface="Palatino Linotype" pitchFamily="34" charset="-122"/>
                <a:cs typeface="Palatino Linotype" pitchFamily="34" charset="-120"/>
              </a:rPr>
              <a:t>INDICATORII</a:t>
            </a:r>
            <a:endParaRPr lang="en-US" sz="1300" dirty="0"/>
          </a:p>
        </p:txBody>
      </p:sp>
      <p:sp>
        <p:nvSpPr>
          <p:cNvPr id="34" name="Text 32"/>
          <p:cNvSpPr/>
          <p:nvPr/>
        </p:nvSpPr>
        <p:spPr>
          <a:xfrm>
            <a:off x="7863840" y="2194560"/>
            <a:ext cx="3520440" cy="100584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De proces</a:t>
            </a:r>
            <a:endParaRPr lang="en-US" sz="1600" dirty="0"/>
          </a:p>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s-a făcut ce s-a planificat?</a:t>
            </a:r>
            <a:endParaRPr lang="en-US" sz="1600" dirty="0"/>
          </a:p>
        </p:txBody>
      </p:sp>
      <p:sp>
        <p:nvSpPr>
          <p:cNvPr id="35" name="Text 33"/>
          <p:cNvSpPr/>
          <p:nvPr/>
        </p:nvSpPr>
        <p:spPr>
          <a:xfrm>
            <a:off x="7863840" y="3337560"/>
            <a:ext cx="3520440" cy="100584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De rezultat</a:t>
            </a:r>
            <a:endParaRPr lang="en-US" sz="1600" dirty="0"/>
          </a:p>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s-a schimbat comportamentul sau accesul?</a:t>
            </a:r>
            <a:endParaRPr lang="en-US" sz="1600" dirty="0"/>
          </a:p>
        </p:txBody>
      </p:sp>
      <p:sp>
        <p:nvSpPr>
          <p:cNvPr id="36" name="Text 34"/>
          <p:cNvSpPr/>
          <p:nvPr/>
        </p:nvSpPr>
        <p:spPr>
          <a:xfrm>
            <a:off x="7863840" y="4480560"/>
            <a:ext cx="3520440" cy="100584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De impact</a:t>
            </a:r>
            <a:endParaRPr lang="en-US" sz="1600" dirty="0"/>
          </a:p>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s-a schimbat starea de sănătate?</a:t>
            </a:r>
            <a:endParaRPr lang="en-US" sz="1600" dirty="0"/>
          </a:p>
        </p:txBody>
      </p:sp>
      <p:sp>
        <p:nvSpPr>
          <p:cNvPr id="37" name="Text 35"/>
          <p:cNvSpPr/>
          <p:nvPr/>
        </p:nvSpPr>
        <p:spPr>
          <a:xfrm>
            <a:off x="594360" y="5897880"/>
            <a:ext cx="10972800" cy="411480"/>
          </a:xfrm>
          <a:prstGeom prst="rect">
            <a:avLst/>
          </a:prstGeom>
          <a:noFill/>
          <a:ln/>
        </p:spPr>
        <p:txBody>
          <a:bodyPr wrap="square" lIns="0" tIns="0" rIns="0" bIns="0" rtlCol="0" anchor="t"/>
          <a:lstStyle/>
          <a:p>
            <a:pPr indent="0" marL="0">
              <a:buNone/>
            </a:pPr>
            <a:r>
              <a:rPr lang="en-US" sz="1300" i="1" dirty="0">
                <a:solidFill>
                  <a:srgbClr val="3A3C44"/>
                </a:solidFill>
                <a:latin typeface="Palatino Linotype" pitchFamily="34" charset="0"/>
                <a:ea typeface="Palatino Linotype" pitchFamily="34" charset="-122"/>
                <a:cs typeface="Palatino Linotype" pitchFamily="34" charset="-120"/>
              </a:rPr>
              <a:t>Convenție a cursului: alți autori folosesc „rezultat” și „impact” invers. La examen: proces față de schimbare.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MÂINE, PE SECȚIE ȘI ÎN COMUNITATE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Externarea doamnei M., în câteva minute</a:t>
            </a:r>
            <a:endParaRPr lang="en-US" sz="3000" dirty="0"/>
          </a:p>
        </p:txBody>
      </p:sp>
      <p:sp>
        <p:nvSpPr>
          <p:cNvPr id="4" name="Shape 2"/>
          <p:cNvSpPr/>
          <p:nvPr/>
        </p:nvSpPr>
        <p:spPr>
          <a:xfrm>
            <a:off x="594360" y="160020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5" name="Shape 3"/>
          <p:cNvSpPr/>
          <p:nvPr/>
        </p:nvSpPr>
        <p:spPr>
          <a:xfrm>
            <a:off x="777240" y="1719072"/>
            <a:ext cx="310896" cy="310896"/>
          </a:xfrm>
          <a:prstGeom prst="roundRect">
            <a:avLst>
              <a:gd name="adj" fmla="val 17647"/>
            </a:avLst>
          </a:prstGeom>
          <a:solidFill>
            <a:srgbClr val="27D3BE"/>
          </a:solidFill>
          <a:ln w="12700">
            <a:solidFill>
              <a:srgbClr val="27D3BE"/>
            </a:solidFill>
            <a:prstDash val="solid"/>
          </a:ln>
        </p:spPr>
        <p:txBody>
          <a:bodyPr/>
          <a:p/>
        </p:txBody>
      </p:sp>
      <p:sp>
        <p:nvSpPr>
          <p:cNvPr id="6" name="Text 4"/>
          <p:cNvSpPr/>
          <p:nvPr/>
        </p:nvSpPr>
        <p:spPr>
          <a:xfrm>
            <a:off x="777240" y="171907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7" name="Text 5"/>
          <p:cNvSpPr/>
          <p:nvPr/>
        </p:nvSpPr>
        <p:spPr>
          <a:xfrm>
            <a:off x="1325880" y="160020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Măsurați tensiunea și explicați valorile.</a:t>
            </a:r>
            <a:endParaRPr lang="en-US" sz="1650" dirty="0"/>
          </a:p>
        </p:txBody>
      </p:sp>
      <p:sp>
        <p:nvSpPr>
          <p:cNvPr id="8" name="Shape 6"/>
          <p:cNvSpPr/>
          <p:nvPr/>
        </p:nvSpPr>
        <p:spPr>
          <a:xfrm>
            <a:off x="594360" y="224028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9" name="Shape 7"/>
          <p:cNvSpPr/>
          <p:nvPr/>
        </p:nvSpPr>
        <p:spPr>
          <a:xfrm>
            <a:off x="777240" y="2359152"/>
            <a:ext cx="310896" cy="310896"/>
          </a:xfrm>
          <a:prstGeom prst="roundRect">
            <a:avLst>
              <a:gd name="adj" fmla="val 17647"/>
            </a:avLst>
          </a:prstGeom>
          <a:solidFill>
            <a:srgbClr val="27D3BE"/>
          </a:solidFill>
          <a:ln w="12700">
            <a:solidFill>
              <a:srgbClr val="27D3BE"/>
            </a:solidFill>
            <a:prstDash val="solid"/>
          </a:ln>
        </p:spPr>
        <p:txBody>
          <a:bodyPr/>
          <a:p/>
        </p:txBody>
      </p:sp>
      <p:sp>
        <p:nvSpPr>
          <p:cNvPr id="10" name="Text 8"/>
          <p:cNvSpPr/>
          <p:nvPr/>
        </p:nvSpPr>
        <p:spPr>
          <a:xfrm>
            <a:off x="777240" y="235915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11" name="Text 9"/>
          <p:cNvSpPr/>
          <p:nvPr/>
        </p:nvSpPr>
        <p:spPr>
          <a:xfrm>
            <a:off x="1325880" y="224028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Verificați că a înțeles cum ia tratamentul.</a:t>
            </a:r>
            <a:endParaRPr lang="en-US" sz="1650" dirty="0"/>
          </a:p>
        </p:txBody>
      </p:sp>
      <p:sp>
        <p:nvSpPr>
          <p:cNvPr id="12" name="Shape 10"/>
          <p:cNvSpPr/>
          <p:nvPr/>
        </p:nvSpPr>
        <p:spPr>
          <a:xfrm>
            <a:off x="594360" y="288036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13" name="Shape 11"/>
          <p:cNvSpPr/>
          <p:nvPr/>
        </p:nvSpPr>
        <p:spPr>
          <a:xfrm>
            <a:off x="777240" y="2999232"/>
            <a:ext cx="310896" cy="310896"/>
          </a:xfrm>
          <a:prstGeom prst="roundRect">
            <a:avLst>
              <a:gd name="adj" fmla="val 17647"/>
            </a:avLst>
          </a:prstGeom>
          <a:solidFill>
            <a:srgbClr val="27D3BE"/>
          </a:solidFill>
          <a:ln w="12700">
            <a:solidFill>
              <a:srgbClr val="27D3BE"/>
            </a:solidFill>
            <a:prstDash val="solid"/>
          </a:ln>
        </p:spPr>
        <p:txBody>
          <a:bodyPr/>
          <a:p/>
        </p:txBody>
      </p:sp>
      <p:sp>
        <p:nvSpPr>
          <p:cNvPr id="14" name="Text 12"/>
          <p:cNvSpPr/>
          <p:nvPr/>
        </p:nvSpPr>
        <p:spPr>
          <a:xfrm>
            <a:off x="777240" y="299923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15" name="Text 13"/>
          <p:cNvSpPr/>
          <p:nvPr/>
        </p:nvSpPr>
        <p:spPr>
          <a:xfrm>
            <a:off x="1325880" y="288036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Întrebați despre fumat, recomandați clar renunțarea, oferiți sprijin și o revenire.</a:t>
            </a:r>
            <a:endParaRPr lang="en-US" sz="1650" dirty="0"/>
          </a:p>
        </p:txBody>
      </p:sp>
      <p:sp>
        <p:nvSpPr>
          <p:cNvPr id="16" name="Shape 14"/>
          <p:cNvSpPr/>
          <p:nvPr/>
        </p:nvSpPr>
        <p:spPr>
          <a:xfrm>
            <a:off x="594360" y="352044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17" name="Shape 15"/>
          <p:cNvSpPr/>
          <p:nvPr/>
        </p:nvSpPr>
        <p:spPr>
          <a:xfrm>
            <a:off x="777240" y="3639312"/>
            <a:ext cx="310896" cy="310896"/>
          </a:xfrm>
          <a:prstGeom prst="roundRect">
            <a:avLst>
              <a:gd name="adj" fmla="val 17647"/>
            </a:avLst>
          </a:prstGeom>
          <a:solidFill>
            <a:srgbClr val="27D3BE"/>
          </a:solidFill>
          <a:ln w="12700">
            <a:solidFill>
              <a:srgbClr val="27D3BE"/>
            </a:solidFill>
            <a:prstDash val="solid"/>
          </a:ln>
        </p:spPr>
        <p:txBody>
          <a:bodyPr/>
          <a:p/>
        </p:txBody>
      </p:sp>
      <p:sp>
        <p:nvSpPr>
          <p:cNvPr id="18" name="Text 16"/>
          <p:cNvSpPr/>
          <p:nvPr/>
        </p:nvSpPr>
        <p:spPr>
          <a:xfrm>
            <a:off x="777240" y="363931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19" name="Text 17"/>
          <p:cNvSpPr/>
          <p:nvPr/>
        </p:nvSpPr>
        <p:spPr>
          <a:xfrm>
            <a:off x="1325880" y="352044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Explicați de ce contează screeningul pentru cancerul de col, cu testul din programul județului.</a:t>
            </a:r>
            <a:endParaRPr lang="en-US" sz="1650" dirty="0"/>
          </a:p>
        </p:txBody>
      </p:sp>
      <p:sp>
        <p:nvSpPr>
          <p:cNvPr id="20" name="Shape 18"/>
          <p:cNvSpPr/>
          <p:nvPr/>
        </p:nvSpPr>
        <p:spPr>
          <a:xfrm>
            <a:off x="594360" y="416052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21" name="Shape 19"/>
          <p:cNvSpPr/>
          <p:nvPr/>
        </p:nvSpPr>
        <p:spPr>
          <a:xfrm>
            <a:off x="777240" y="4279392"/>
            <a:ext cx="310896" cy="310896"/>
          </a:xfrm>
          <a:prstGeom prst="roundRect">
            <a:avLst>
              <a:gd name="adj" fmla="val 17647"/>
            </a:avLst>
          </a:prstGeom>
          <a:solidFill>
            <a:srgbClr val="27D3BE"/>
          </a:solidFill>
          <a:ln w="12700">
            <a:solidFill>
              <a:srgbClr val="27D3BE"/>
            </a:solidFill>
            <a:prstDash val="solid"/>
          </a:ln>
        </p:spPr>
        <p:txBody>
          <a:bodyPr/>
          <a:p/>
        </p:txBody>
      </p:sp>
      <p:sp>
        <p:nvSpPr>
          <p:cNvPr id="22" name="Text 20"/>
          <p:cNvSpPr/>
          <p:nvPr/>
        </p:nvSpPr>
        <p:spPr>
          <a:xfrm>
            <a:off x="777240" y="427939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23" name="Text 21"/>
          <p:cNvSpPr/>
          <p:nvPr/>
        </p:nvSpPr>
        <p:spPr>
          <a:xfrm>
            <a:off x="1325880" y="416052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Ascultați temerile despre vaccinul fiicei; recomandați-l clar.</a:t>
            </a:r>
            <a:endParaRPr lang="en-US" sz="1650" dirty="0"/>
          </a:p>
        </p:txBody>
      </p:sp>
      <p:sp>
        <p:nvSpPr>
          <p:cNvPr id="24" name="Shape 22"/>
          <p:cNvSpPr/>
          <p:nvPr/>
        </p:nvSpPr>
        <p:spPr>
          <a:xfrm>
            <a:off x="594360" y="4800600"/>
            <a:ext cx="10972800" cy="548640"/>
          </a:xfrm>
          <a:prstGeom prst="roundRect">
            <a:avLst>
              <a:gd name="adj" fmla="val 15000"/>
            </a:avLst>
          </a:prstGeom>
          <a:solidFill>
            <a:srgbClr val="1D1F2B"/>
          </a:solidFill>
          <a:ln w="12700">
            <a:solidFill>
              <a:srgbClr val="1D1F2B"/>
            </a:solidFill>
            <a:prstDash val="solid"/>
          </a:ln>
        </p:spPr>
        <p:txBody>
          <a:bodyPr/>
          <a:p/>
        </p:txBody>
      </p:sp>
      <p:sp>
        <p:nvSpPr>
          <p:cNvPr id="25" name="Shape 23"/>
          <p:cNvSpPr/>
          <p:nvPr/>
        </p:nvSpPr>
        <p:spPr>
          <a:xfrm>
            <a:off x="777240" y="4919472"/>
            <a:ext cx="310896" cy="310896"/>
          </a:xfrm>
          <a:prstGeom prst="roundRect">
            <a:avLst>
              <a:gd name="adj" fmla="val 17647"/>
            </a:avLst>
          </a:prstGeom>
          <a:solidFill>
            <a:srgbClr val="27D3BE"/>
          </a:solidFill>
          <a:ln w="12700">
            <a:solidFill>
              <a:srgbClr val="27D3BE"/>
            </a:solidFill>
            <a:prstDash val="solid"/>
          </a:ln>
        </p:spPr>
        <p:txBody>
          <a:bodyPr/>
          <a:p/>
        </p:txBody>
      </p:sp>
      <p:sp>
        <p:nvSpPr>
          <p:cNvPr id="26" name="Text 24"/>
          <p:cNvSpPr/>
          <p:nvPr/>
        </p:nvSpPr>
        <p:spPr>
          <a:xfrm>
            <a:off x="777240" y="4919472"/>
            <a:ext cx="310896" cy="310896"/>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a:t>
            </a:r>
            <a:endParaRPr lang="en-US" sz="1400" dirty="0"/>
          </a:p>
        </p:txBody>
      </p:sp>
      <p:sp>
        <p:nvSpPr>
          <p:cNvPr id="27" name="Text 25"/>
          <p:cNvSpPr/>
          <p:nvPr/>
        </p:nvSpPr>
        <p:spPr>
          <a:xfrm>
            <a:off x="1325880" y="4800600"/>
            <a:ext cx="10058400" cy="54864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Îndrumați-o spre medicul de familie.</a:t>
            </a:r>
            <a:endParaRPr lang="en-US" sz="1650" dirty="0"/>
          </a:p>
        </p:txBody>
      </p:sp>
      <p:sp>
        <p:nvSpPr>
          <p:cNvPr id="28" name="Text 26"/>
          <p:cNvSpPr/>
          <p:nvPr/>
        </p:nvSpPr>
        <p:spPr>
          <a:xfrm>
            <a:off x="594360" y="5532120"/>
            <a:ext cx="10972800" cy="64008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Fiecare gest durează câteva minute. Împreună fac din internare o ocazie de prevenție, cu efecte modeste, dar reale. În comunitate: semnalați pacienții fără control, ziua tensiunii în comună, pledoaria pentru un serviciu de renunțare.</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AȚI REȚINUT</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Povara, prevenția, schimbarea: zece întrebări</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arată ce ați reținut înaintea examenului.</a:t>
            </a:r>
            <a:endParaRPr lang="en-US" sz="1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58368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58368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58368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 pe secție sau în comunitate?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cursului, veți găsi două modificări făcute pe baza răspunsurilor.</a:t>
            </a:r>
            <a:endParaRPr lang="en-US" sz="1700" dirty="0"/>
          </a:p>
        </p:txBody>
      </p:sp>
      <p:pic>
        <p:nvPicPr>
          <p:cNvPr id="17" name="Picture 16" descr="Mentimeter_SPM_AMGIV_C02.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9137650" y="4394200"/>
            <a:ext cx="18415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2 - Doamna din salonul patru. Epidemiologie aplicată în nursing (II). Promovarea sănătății</dc:title>
  <dc:subject>PptxGenJS Presentation</dc:subject>
  <dc:creator>Conf. Univ. Dr. Adrian Pana</dc:creator>
  <cp:lastModifiedBy>Conf. Univ. Dr. Adrian Pana</cp:lastModifiedBy>
  <cp:revision>1</cp:revision>
  <dcterms:created xsi:type="dcterms:W3CDTF">2026-10-03T14:15:47Z</dcterms:created>
  <dcterms:modified xsi:type="dcterms:W3CDTF">2026-10-03T14:15:47Z</dcterms:modified>
  <cp:keywords>sursa_amprenta=cbbb5f43c250b3db; proiectie</cp:keywords>
</cp:coreProperties>
</file>