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22" r:id="rId73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24" r:id="rId75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23" r:id="rId74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25" r:id="rId7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26" r:id="rId77"/>
    <p:sldId id="321" r:id="rId72"/>
    <p:sldId id="319" r:id="rId65"/>
    <p:sldId id="320" r:id="rId6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ln w="28575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72,8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80,3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72.8</c:v>
                </c:pt>
                <c:pt idx="1">
                  <c:v>80.3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78,9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84,1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78.9</c:v>
                </c:pt>
                <c:pt idx="1">
                  <c:v>84.1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8.0"/>
          <c:min val="70.0"/>
        </c:scaling>
        <c:delete val="0"/>
        <c:axPos val="l"/>
        <c:majorGridlines>
          <c:spPr>
            <a:ln w="381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FFFFFF"/>
              </a:solidFill>
            </a:defRPr>
          </a:pPr>
        </a:p>
      </c:txPr>
    </c:legend>
    <c:plotVisOnly val="1"/>
    <c:dispBlanksAs val="span"/>
    <c:showDLblsOverMax val="1"/>
  </c:chart>
  <c:spPr>
    <a:solidFill>
      <a:srgbClr val="0F7B8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Cheltuieli cu sănătatea (% din PIB)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5,8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6,2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9,9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România 2023</c:v>
                </c:pt>
                <c:pt idx="1">
                  <c:v>România 2024</c:v>
                </c:pt>
                <c:pt idx="2">
                  <c:v>UE-27 2023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5.8</c:v>
                </c:pt>
                <c:pt idx="1">
                  <c:v>6.2</c:v>
                </c:pt>
                <c:pt idx="2">
                  <c:v>9.9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0E-5549-9EBD-9DC999DA74CA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1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13,4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17,5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12,5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Sheet1!$B$2:$B$27</c:f>
              <c:numCache>
                <c:formatCode>0.0</c:formatCode>
                <c:ptCount val="26"/>
                <c:pt idx="0">
                  <c:v>11.4</c:v>
                </c:pt>
                <c:pt idx="1">
                  <c:v>11.7</c:v>
                </c:pt>
                <c:pt idx="2">
                  <c:v>12.4</c:v>
                </c:pt>
                <c:pt idx="3">
                  <c:v>12.4</c:v>
                </c:pt>
                <c:pt idx="4">
                  <c:v>12.1</c:v>
                </c:pt>
                <c:pt idx="5">
                  <c:v>12.3</c:v>
                </c:pt>
                <c:pt idx="6">
                  <c:v>12.2</c:v>
                </c:pt>
                <c:pt idx="7">
                  <c:v>12.1</c:v>
                </c:pt>
                <c:pt idx="8">
                  <c:v>12.3</c:v>
                </c:pt>
                <c:pt idx="9">
                  <c:v>12.6</c:v>
                </c:pt>
                <c:pt idx="10">
                  <c:v>12.8</c:v>
                </c:pt>
                <c:pt idx="11">
                  <c:v>12.5</c:v>
                </c:pt>
                <c:pt idx="12">
                  <c:v>12.7</c:v>
                </c:pt>
                <c:pt idx="13">
                  <c:v>12.4</c:v>
                </c:pt>
                <c:pt idx="14">
                  <c:v>12.8</c:v>
                </c:pt>
                <c:pt idx="15">
                  <c:v>13.2</c:v>
                </c:pt>
                <c:pt idx="16">
                  <c:v>13.1</c:v>
                </c:pt>
                <c:pt idx="17">
                  <c:v>13.4</c:v>
                </c:pt>
                <c:pt idx="18">
                  <c:v>13.6</c:v>
                </c:pt>
                <c:pt idx="19">
                  <c:v>13.4</c:v>
                </c:pt>
                <c:pt idx="20">
                  <c:v>15.5</c:v>
                </c:pt>
                <c:pt idx="21">
                  <c:v>17.5</c:v>
                </c:pt>
                <c:pt idx="22">
                  <c:v>14.4</c:v>
                </c:pt>
                <c:pt idx="23">
                  <c:v>12.8</c:v>
                </c:pt>
                <c:pt idx="24">
                  <c:v>12.8</c:v>
                </c:pt>
                <c:pt idx="25">
                  <c:v>12.5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10,7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Sheet1!$C$2:$C$27</c:f>
              <c:numCache>
                <c:formatCode>0.0</c:formatCode>
                <c:ptCount val="26"/>
                <c:pt idx="0">
                  <c:v>9.9</c:v>
                </c:pt>
                <c:pt idx="1">
                  <c:v>9.9</c:v>
                </c:pt>
                <c:pt idx="2">
                  <c:v>10.0</c:v>
                </c:pt>
                <c:pt idx="3">
                  <c:v>10.1</c:v>
                </c:pt>
                <c:pt idx="4">
                  <c:v>9.7</c:v>
                </c:pt>
                <c:pt idx="5">
                  <c:v>9.9</c:v>
                </c:pt>
                <c:pt idx="6">
                  <c:v>9.7</c:v>
                </c:pt>
                <c:pt idx="7">
                  <c:v>9.7</c:v>
                </c:pt>
                <c:pt idx="8">
                  <c:v>9.8</c:v>
                </c:pt>
                <c:pt idx="9">
                  <c:v>9.8</c:v>
                </c:pt>
                <c:pt idx="10">
                  <c:v>9.8</c:v>
                </c:pt>
                <c:pt idx="11">
                  <c:v>9.8</c:v>
                </c:pt>
                <c:pt idx="12">
                  <c:v>10.1</c:v>
                </c:pt>
                <c:pt idx="13">
                  <c:v>10.0</c:v>
                </c:pt>
                <c:pt idx="14">
                  <c:v>9.9</c:v>
                </c:pt>
                <c:pt idx="15">
                  <c:v>10.4</c:v>
                </c:pt>
                <c:pt idx="16">
                  <c:v>10.2</c:v>
                </c:pt>
                <c:pt idx="17">
                  <c:v>10.5</c:v>
                </c:pt>
                <c:pt idx="18">
                  <c:v>10.5</c:v>
                </c:pt>
                <c:pt idx="19">
                  <c:v>10.4</c:v>
                </c:pt>
                <c:pt idx="20">
                  <c:v>11.6</c:v>
                </c:pt>
                <c:pt idx="21">
                  <c:v>11.9</c:v>
                </c:pt>
                <c:pt idx="22">
                  <c:v>11.5</c:v>
                </c:pt>
                <c:pt idx="23">
                  <c:v>10.8</c:v>
                </c:pt>
                <c:pt idx="24">
                  <c:v>10.7</c:v>
                </c:pt>
                <c:pt idx="25">
                  <c:v>10.7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9.0"/>
          <c:min val="8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0D3B4E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787,1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244,3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108,9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74,1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44,9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787.1</c:v>
                </c:pt>
                <c:pt idx="1">
                  <c:v>244.3</c:v>
                </c:pt>
                <c:pt idx="2">
                  <c:v>108.9</c:v>
                </c:pt>
                <c:pt idx="3">
                  <c:v>74.1</c:v>
                </c:pt>
                <c:pt idx="4">
                  <c:v>44.9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solidFill>
              <a:srgbClr val="D4A84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313,0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243,0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75,2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42,8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49,4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313.0</c:v>
                </c:pt>
                <c:pt idx="1">
                  <c:v>243.0</c:v>
                </c:pt>
                <c:pt idx="2">
                  <c:v>75.2</c:v>
                </c:pt>
                <c:pt idx="3">
                  <c:v>42.8</c:v>
                </c:pt>
                <c:pt idx="4">
                  <c:v>49.4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26,9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5,6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6,6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Sheet1!$B$2:$B$36</c:f>
              <c:numCache>
                <c:formatCode>0.0</c:formatCode>
                <c:ptCount val="35"/>
                <c:pt idx="0">
                  <c:v>26.9</c:v>
                </c:pt>
                <c:pt idx="1">
                  <c:v>22.7</c:v>
                </c:pt>
                <c:pt idx="2">
                  <c:v>23.3</c:v>
                </c:pt>
                <c:pt idx="3">
                  <c:v>23.3</c:v>
                </c:pt>
                <c:pt idx="4">
                  <c:v>23.9</c:v>
                </c:pt>
                <c:pt idx="5">
                  <c:v>21.2</c:v>
                </c:pt>
                <c:pt idx="6">
                  <c:v>22.3</c:v>
                </c:pt>
                <c:pt idx="7">
                  <c:v>22.0</c:v>
                </c:pt>
                <c:pt idx="8">
                  <c:v>20.5</c:v>
                </c:pt>
                <c:pt idx="9">
                  <c:v>18.6</c:v>
                </c:pt>
                <c:pt idx="10">
                  <c:v>18.6</c:v>
                </c:pt>
                <c:pt idx="11">
                  <c:v>18.4</c:v>
                </c:pt>
                <c:pt idx="12">
                  <c:v>17.3</c:v>
                </c:pt>
                <c:pt idx="13">
                  <c:v>16.7</c:v>
                </c:pt>
                <c:pt idx="14">
                  <c:v>16.8</c:v>
                </c:pt>
                <c:pt idx="15">
                  <c:v>15.0</c:v>
                </c:pt>
                <c:pt idx="16">
                  <c:v>13.9</c:v>
                </c:pt>
                <c:pt idx="17">
                  <c:v>12.0</c:v>
                </c:pt>
                <c:pt idx="18">
                  <c:v>11.0</c:v>
                </c:pt>
                <c:pt idx="19">
                  <c:v>10.1</c:v>
                </c:pt>
                <c:pt idx="20">
                  <c:v>9.8</c:v>
                </c:pt>
                <c:pt idx="21">
                  <c:v>9.4</c:v>
                </c:pt>
                <c:pt idx="22">
                  <c:v>9.0</c:v>
                </c:pt>
                <c:pt idx="23">
                  <c:v>8.9</c:v>
                </c:pt>
                <c:pt idx="24">
                  <c:v>8.2</c:v>
                </c:pt>
                <c:pt idx="25">
                  <c:v>7.5</c:v>
                </c:pt>
                <c:pt idx="26">
                  <c:v>6.8</c:v>
                </c:pt>
                <c:pt idx="27">
                  <c:v>6.5</c:v>
                </c:pt>
                <c:pt idx="28">
                  <c:v>6.0</c:v>
                </c:pt>
                <c:pt idx="29">
                  <c:v>5.8</c:v>
                </c:pt>
                <c:pt idx="30">
                  <c:v>5.6</c:v>
                </c:pt>
                <c:pt idx="31">
                  <c:v>5.2</c:v>
                </c:pt>
                <c:pt idx="32">
                  <c:v>5.6</c:v>
                </c:pt>
                <c:pt idx="33">
                  <c:v>5.6</c:v>
                </c:pt>
                <c:pt idx="34">
                  <c:v>6.6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9D6-774B-8C32-66EB71F5FD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3,5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Sheet1!$C$2:$C$36</c:f>
              <c:numCache>
                <c:formatCode>0.0</c:formatCode>
                <c:ptCount val="35"/>
                <c:pt idx="0">
                  <c:v>10.7</c:v>
                </c:pt>
                <c:pt idx="1">
                  <c:v>10.2</c:v>
                </c:pt>
                <c:pt idx="2">
                  <c:v>9.7</c:v>
                </c:pt>
                <c:pt idx="3">
                  <c:v>9.1</c:v>
                </c:pt>
                <c:pt idx="4">
                  <c:v>8.6</c:v>
                </c:pt>
                <c:pt idx="5">
                  <c:v>7.7</c:v>
                </c:pt>
                <c:pt idx="6">
                  <c:v>7.4</c:v>
                </c:pt>
                <c:pt idx="7">
                  <c:v>6.9</c:v>
                </c:pt>
                <c:pt idx="8">
                  <c:v>6.6</c:v>
                </c:pt>
                <c:pt idx="9">
                  <c:v>6.2</c:v>
                </c:pt>
                <c:pt idx="10">
                  <c:v>6.0</c:v>
                </c:pt>
                <c:pt idx="11">
                  <c:v>5.8</c:v>
                </c:pt>
                <c:pt idx="12">
                  <c:v>5.5</c:v>
                </c:pt>
                <c:pt idx="13">
                  <c:v>5.2</c:v>
                </c:pt>
                <c:pt idx="14">
                  <c:v>5.1</c:v>
                </c:pt>
                <c:pt idx="15">
                  <c:v>4.8</c:v>
                </c:pt>
                <c:pt idx="16">
                  <c:v>4.6</c:v>
                </c:pt>
                <c:pt idx="17">
                  <c:v>4.4</c:v>
                </c:pt>
                <c:pt idx="18">
                  <c:v>4.2</c:v>
                </c:pt>
                <c:pt idx="19">
                  <c:v>4.2</c:v>
                </c:pt>
                <c:pt idx="20">
                  <c:v>4.0</c:v>
                </c:pt>
                <c:pt idx="21">
                  <c:v>3.8</c:v>
                </c:pt>
                <c:pt idx="22">
                  <c:v>3.8</c:v>
                </c:pt>
                <c:pt idx="23">
                  <c:v>3.7</c:v>
                </c:pt>
                <c:pt idx="24">
                  <c:v>3.6</c:v>
                </c:pt>
                <c:pt idx="25">
                  <c:v>3.6</c:v>
                </c:pt>
                <c:pt idx="26">
                  <c:v>3.6</c:v>
                </c:pt>
                <c:pt idx="27">
                  <c:v>3.5</c:v>
                </c:pt>
                <c:pt idx="28">
                  <c:v>3.4</c:v>
                </c:pt>
                <c:pt idx="29">
                  <c:v>3.4</c:v>
                </c:pt>
                <c:pt idx="30">
                  <c:v>3.3</c:v>
                </c:pt>
                <c:pt idx="31">
                  <c:v>3.2</c:v>
                </c:pt>
                <c:pt idx="32">
                  <c:v>3.3</c:v>
                </c:pt>
                <c:pt idx="33">
                  <c:v>3.3</c:v>
                </c:pt>
                <c:pt idx="34">
                  <c:v>3.5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9D6-774B-8C32-66EB71F5FD9E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1000"/>
              <a:t>Mortalitatea infantilă pe medii de rezidență (‰,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5,1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</c:v>
                </c:pt>
                <c:pt idx="1">
                  <c:v>Urban</c:v>
                </c:pt>
                <c:pt idx="2">
                  <c:v>Rural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6.0</c:v>
                </c:pt>
                <c:pt idx="1">
                  <c:v>5.1</c:v>
                </c:pt>
                <c:pt idx="2">
                  <c:v>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A9-544E-A3AD-1DE65DF7F04C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3C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punctiformă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punctuală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3</c:v>
                </c:pt>
                <c:pt idx="2">
                  <c:v>8</c:v>
                </c:pt>
                <c:pt idx="3">
                  <c:v>15</c:v>
                </c:pt>
                <c:pt idx="4">
                  <c:v>12</c:v>
                </c:pt>
                <c:pt idx="5">
                  <c:v>6</c:v>
                </c:pt>
                <c:pt idx="6">
                  <c:v>3</c:v>
                </c:pt>
                <c:pt idx="7">
                  <c:v>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25-3343-977F-4DFDECEAF10E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continuă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continuă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7</c:v>
                </c:pt>
                <c:pt idx="7">
                  <c:v>5</c:v>
                </c:pt>
                <c:pt idx="8">
                  <c:v>6</c:v>
                </c:pt>
                <c:pt idx="9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10-D342-850E-6E11F4521E74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Transmitere de la persoană la persoană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Propagare P-P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  <c:pt idx="10">
                  <c:v>Z11</c:v>
                </c:pt>
                <c:pt idx="11">
                  <c:v>Z12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5</c:v>
                </c:pt>
                <c:pt idx="6">
                  <c:v>3</c:v>
                </c:pt>
                <c:pt idx="7">
                  <c:v>1</c:v>
                </c:pt>
                <c:pt idx="8">
                  <c:v>3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32-2840-AB46-85689AF99330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Cazuri de rujeolă raportate la OMS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2 435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9 076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6 407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3 900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1 004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3 677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25 505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6 837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#,##0</c:formatCode>
                <c:ptCount val="10"/>
                <c:pt idx="0">
                  <c:v>2435.0</c:v>
                </c:pt>
                <c:pt idx="1">
                  <c:v>9076.0</c:v>
                </c:pt>
                <c:pt idx="2">
                  <c:v>6407.0</c:v>
                </c:pt>
                <c:pt idx="3">
                  <c:v>3900.0</c:v>
                </c:pt>
                <c:pt idx="4">
                  <c:v>1004.0</c:v>
                </c:pt>
                <c:pt idx="5">
                  <c:v>2.0</c:v>
                </c:pt>
                <c:pt idx="6">
                  <c:v>17.0</c:v>
                </c:pt>
                <c:pt idx="7">
                  <c:v>3677.0</c:v>
                </c:pt>
                <c:pt idx="8">
                  <c:v>25505.0</c:v>
                </c:pt>
                <c:pt idx="9">
                  <c:v>6837.0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BD-FD43-8251-0ECC466317F8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chart" Target="../charts/chart1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PUBLICĂ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SECOLUL XXI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concepte la acțiune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veți ști la finalul acestui curs?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Obiective de învățare (C1, A1)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conceptele fundamentale ale sănătății publice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Explică modelul Dahlgren–Whitehead al determinanților sănătății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Interpretează indicatorii de mortalitate, morbiditate și speranță de viață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Analizează date reale (INS, Eurostat, OMS) pentru România și UE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cursului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 de sănătate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6" name="Text 32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544068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II-a: epidemiologie aplicată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5440680" y="34930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~50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Competențe vizate: C1 — Recunoașterea conceptelor SP  ·  A1 — Aplicarea metodelor de caracterizare  ·  RA1 — Evaluarea nevoilor de sănătate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/ 71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sănătatea publică</a:t>
            </a:r>
            <a:endParaRPr lang="en-US" sz="2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dumneavoastră?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solidFill>
            <a:srgbClr val="0E7C6B">
              <a:alpha val="3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4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menti.com și introduceți codul</a:t>
            </a:r>
            <a:endParaRPr lang="en-US" sz="14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 de cuvinte: scrieți primul cuvânt care vă vine în minte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/ 71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Ghiciți cifra!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a fost speranța de viață la naștere în România în 2024?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72,8 ani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66344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7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2120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 ani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5720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2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0584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80,3 ani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66344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8" name="Shape 15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2120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 ani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demo_mlexpec, 2024; valori estimate (e) sau estimate și provizorii (ep)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/ 71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patul pacientului: perspectiva populațională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clinic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individ și familie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 → tratament → îngrijire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Relație terapeutică individuală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parametri vitali, evoluție clinică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de sănătate publică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populație și comunitate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 → promovare → supraveghere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 multidisciplinară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rate, tendințe, inegalități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asistent medical din cabinetul de medicină de familie observă mai multe cazuri de boală digestivă după același eveniment → gândire epidemiologică → notificare la DSP → investigarea focarului. Aceasta este sănătate publică!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/ 71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 sănătății publice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Definiții, cadrul OMS, funcțiile esențiale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/ 71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Winslow (1920) la serviciile esențiale revizuite (2020)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694944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155448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109728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C.E.A. Winslow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Știința și arta de a preveni boala, a prelungi viața și a promova sănătatea, prin eforturile organizate ale comunității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– Constituția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stare de complet bine fizic, mintal și social, nu doar absența bolii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512064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IOM – The Future of Public Health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funcții de bază: evaluare, dezvoltarea politicilor, asigurare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67665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Serviciile esențiale revizuite (PHNCI, de Beaumont, cu CDC)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294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 esențiale, revizuite cu echitatea în centru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Winslow (1920); Constituția OMS (adoptată în 1946, în vigoare din 1948); IOM (1988); CDC, serviciile esențiale (1994, revizuite în 2020)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/ 71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zece servicii esențiale ale sănătății publice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CUNOAȘTERE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Evaluare și monitorizare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Investigarea problemelor și pericolelor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Comunicare, informare, educare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6136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3261360" y="169164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Mobilizarea comunităților și parteneriatelor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136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261360" y="224028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339852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Politici, planuri și legi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6136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3" name="Shape 21"/>
          <p:cNvSpPr/>
          <p:nvPr/>
        </p:nvSpPr>
        <p:spPr>
          <a:xfrm>
            <a:off x="3261360" y="278892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339852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6) Acțiuni legale și de reglementare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 ȘI RESURSE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552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606552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620268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7) Acces echitabil la servicii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6552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1" name="Shape 29"/>
          <p:cNvSpPr/>
          <p:nvPr/>
        </p:nvSpPr>
        <p:spPr>
          <a:xfrm>
            <a:off x="606552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20268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8) Forță de muncă diversă și competentă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6552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4" name="Shape 32"/>
          <p:cNvSpPr/>
          <p:nvPr/>
        </p:nvSpPr>
        <p:spPr>
          <a:xfrm>
            <a:off x="606552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620268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9) Evaluare, cercetare, calitate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10) Infrastructură organizațională solidă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serviciile esențiale de sănătate publică (1994, revizuite în 2020); grupările din antet sunt tematice</a:t>
            </a:r>
            <a:endParaRPr lang="en-US" sz="800" i="1" dirty="0"/>
          </a:p>
        </p:txBody>
      </p:sp>
      <p:sp>
        <p:nvSpPr>
          <p:cNvPr id="39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0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/ 71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asistenței de sănătate publică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Grupuri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populaționale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Focalizarea pe populație, nu pe individ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primară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Prevenirea bolii înaintea apariției ei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sănătății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Sociali, de mediu, comportamentali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multidisciplinară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Intersectorială, dincolo de sistemul medical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Decizii bazate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dovezi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mai bune dovezi științifice existente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95/2006 așază la baza asistenței de sănătate publică abordarea multidisciplinară și intersectorială, preocuparea pentru determinanții sănătății și deciziile bazate pe dovezi.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/ 71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Alma-Ata (1978) la Astana (2018)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73152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150876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1978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Alma-Ata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„Sănătate pentru toți”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medicală primară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83464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sănătatea, resursă a vieții de zi cu zi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2030 (ONU)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Obiectivul 3: viață sănătoasă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bunăstare pentru toți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67512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Astana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Reafirmarea asistenței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medicale primare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 (1978, 1986, 2018); ONU, Agenda 2030 (2015), obiectivul 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/ 71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și UE-27: tabloul de bord al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 (2024)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tratabilă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(la 100 000, 2023)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Cheltuieli cu sănătatea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(% din PIB, 2023)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5,8%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9,9%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infantilă (2024)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6,6‰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3,5‰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 — demo_mlexpec, demo_minfind (2024); hlth_cd_apr, hlth_sha11_hf (2023; UE-27: valoare provizorie la cheltuieli). Speranța de viață: RO estimată (e), UE estimată și provizorie (ep)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 / 71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face sănătate publică în România? Harta actorilor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Ministerul Sănătății — autoritatea centrală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județene și a municipiului București — servicii deconcentrate ale 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INSP, cu CNSCBT — îndrumare tehnică și metodologică, supraveghere, Registrul unic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F4757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de servicii medicale: cabinete de medicina familiei, spitale, laboratoare — raportează la DSP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2611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Legea nr. 95/2006, art. 2 alin. (7), art. 11–13 și art. 276–277; Legea nr. 185/2017; OUG nr. 144/2008; OUG nr. 18/2017; HG nr. 657/2022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/ 71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57200" y="35661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Finanțare: CNAS și casele de asigurări de sănătate (CJAS) · Calitate: ANMCS · Profesie: OAMGMAMR · Comunitate: asistenți medicali comunitari, mediatori sanitari, moașe și, în localitățile izolate, medici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Răspund, potrivit legii, și ministerele cu rețea sanitară proprie și autoritățile locale; INS furnizează numitorii demografici, dar nu face parte din rețeaua MS.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Activitate, trei minute: trasați drumul informației pentru un caz de boală transmisibilă, de la cabinet la nivel național.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dimensiuni și perspective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83280" y="1920240"/>
            <a:ext cx="2377440" cy="1280160"/>
          </a:xfrm>
          <a:prstGeom prst="ellips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383280" y="19202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 DE BINE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FIZICĂ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Funcționarea corpului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0807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807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Starea de bine psihică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Relații, sprijin, comunitate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64008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5379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RESURSĂ ZILNICĂ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 (1986)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18288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19659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BIOPSIHOSOCIALĂ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65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 lui Engel (1977)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50292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0" name="Shape 20"/>
          <p:cNvSpPr/>
          <p:nvPr/>
        </p:nvSpPr>
        <p:spPr>
          <a:xfrm>
            <a:off x="50292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1" name="Text 21"/>
          <p:cNvSpPr/>
          <p:nvPr/>
        </p:nvSpPr>
        <p:spPr>
          <a:xfrm>
            <a:off x="51663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ADAPTARE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51663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Huber și colab. (2011)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Constituția OMS (1946, în vigoare din 1948); Engel (1977); Carta de la Ottawa (1986); Huber și colab. (2011)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 / 71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Moment de reflecție: sănătos sau bolnav?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A — bărbat de vârstă mijlocie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simptome, cu hipertensiune arterială nedepistată; nu a mai fost la medic de mai mulți ani.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B — femeie vârstnică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 bine controlat, dar trăiește izolată social.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C — copil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Sănătos clinic, dar locuiește într-o comunitate fără acces la apă potabilă.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situează fiecare pe continuumul sănătate ↔ boală? Discuție în perechi, cinci minute, pe baza definiției 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 / 71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Modelul Dahlgren–Whitehead · Cadrul OMS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 / 71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8047" y="274320"/>
            <a:ext cx="8734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Curcubeul determinanților: modelul Dahlgren–Whitehead (1991)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11121A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Shape 3"/>
          <p:cNvSpPr/>
          <p:nvPr/>
        </p:nvSpPr>
        <p:spPr>
          <a:xfrm>
            <a:off x="8631936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Condiții generale socio-economice, culturale și de mediu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94944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1097280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7991856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280160" y="16002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Condiții de viață și de muncă (educație, muncă, locuință, apă, servicii de sănătate)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2194560"/>
            <a:ext cx="566928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1737360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7351776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92024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Rețele sociale și comunitare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77440" y="2788920"/>
            <a:ext cx="4389120" cy="502920"/>
          </a:xfrm>
          <a:prstGeom prst="rect">
            <a:avLst/>
          </a:prstGeom>
          <a:solidFill>
            <a:srgbClr val="FF4757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2377440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6711696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256032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Factori ai stilului de viață individual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3383280"/>
            <a:ext cx="3108960" cy="502920"/>
          </a:xfrm>
          <a:prstGeom prst="rect">
            <a:avLst/>
          </a:prstGeom>
          <a:solidFill>
            <a:srgbClr val="8A6100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017520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6071616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32004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Centrul: vârstă, sex, factori constituționali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Dahlgren și Whitehead (figura din 1991), reluată în Levelling up, OMS Europa (2006)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 / 71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 modelului: factorii biologici, nemodificabili, dar previzibili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28600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nemodificabili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Vârsta — riscuri diferite pe parcursul vieții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Sexul — avantaj biologic de supraviețuire al femeilor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genetici și constituționali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Implicație pentru nursing: screening diferențiat pe grupe de risc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1005840"/>
            <a:ext cx="36576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9"/>
          <p:cNvSpPr/>
          <p:nvPr/>
        </p:nvSpPr>
        <p:spPr>
          <a:xfrm>
            <a:off x="5029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ROMÂNIA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7,5 ani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5029200" y="2468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femei–bărbați în România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(UE-27: 5,2 ani)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212080" y="3200400"/>
          <a:ext cx="3291840" cy="109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 (2024); valori estimate (e; UE: ep). Axa verticală începe de la 70 de ani.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 / 71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1: stilul de viață — alegeri în context social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Fumători, 15 ani și peste (UE: 24,2%)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Consum episodic excesiv săptămânal (UE: 3,7%)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fizică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 (UE: 47,3%)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Alimentație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Cinci porții sau mai multe de fructe și legume pe zi (UE: 12,4%)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54864" cy="7315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Concept-cheie: diferențele de stil de viață dintre grupurile sociale sunt modelate, în mare măsură, de factori structurali (Whitehead și Dahlgren, OMS Europa). Datele: Eurostat, EHIS 2019.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 / 71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2: rețelele sociale și comunitare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Dovezi științifice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Meta-analiza Holt-Lunstad (2015): probabilitatea de deces este mai mare cu 29% la izolarea socială, cu 26% la singurătate și cu 32% la locuitul singur.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Influența este comparabilă cu a factorilor de risc bine stabiliți pentru mortalitate.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practica de îngrijire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Izolarea socială și singurătatea pacientului, la orice vârstă, sunt informații clinice relevante, nu detalii biografice.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al fiecăruia este încorporat în normele și în rețelele sociale ale comunității.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se formează în rețelele sociale și în condițiile de viață ale comunității (modelul Dahlgren–Whitehead).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Holt-Lunstad și colab. (2015); Dahlgren și Whitehead (1991)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/ 71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3: condițiile de viață și de muncă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Părăsirea timpurie a școlii, 18–24 de ani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9,1%)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Ocupare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6,1%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6,0%)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Locuință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cadă sau duș și toaletă în interior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2023; UE: 1,5% în 2020)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 de sănătate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(INS 2024)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națională ascunde evoluții opuse: la sate, unui medic de familie îi revin 2 319 locuitori în 2024, față de 2 030 în 2012.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/ 71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4: condițiile socio-economice, culturale și de mediu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951402642"/>
              </p:ext>
            </p:extLst>
          </p:nvPr>
        </p:nvGraphicFramePr>
        <p:xfrm>
          <a:off x="457200" y="91440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303520" y="914400"/>
            <a:ext cx="338328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303520" y="914400"/>
            <a:ext cx="54864" cy="29260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48640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Macrodeterminanți-cheie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de sărăcie sau excluziune socială: 27,4% (UE: 20,9%, 2025)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fiscale și de sănătate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la nivelul societății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și schimbările climatice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Migrația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Reziliența sistemului de sănătate (lecțiile pandemiei de COVID-19)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hlth_sha11_hf (2023, 2024; UE-27: valoare provizorie) și ilc_peps01n (2025); Marmot (2005)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/ 71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conceptual OMS al determinanților sociali (2010)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structurali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Contextul social și politic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Guvernanța și politicile macroeconomice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sociale (educație, sănătate, muncă)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Normele și valorile culturale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Poziția socio-economică (venit, educație, ocupație, gen, etnie)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intermediari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Circumstanțe materiale (locuință, hrană, mediu de muncă)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comportamentali și biologici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psihosociali (stres, sprijin social)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INECHITĂȚI ÎN SĂNĂTATE ← diferențe sistematice, produse social, deci modificabile, și nedrepte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Solar și Irwin, OMS (2010); Whitehead și Dahlgren (2006); Marmot (2005)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 / 71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Românii: inechitățile de sănătate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 ȘI RURAL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5,1‰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7452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7452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6,8‰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infantilă, 2025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REGIUNI DE DEZVOLTARE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Nord-Est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75,5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București-Ilfov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 (ani; valori estimate)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20" name="Shape 18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ACCESUL LA MEDICUL DE FAMILIE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1 457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6352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familie; la sate: 2 030 → 2 319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POP209B (2025) și TCI0321 (2012, 2024; seria pe populația rezidentă); Eurostat, demo_r_mlifexp (2024)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24 / 71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Exercițiu: cartografierea determinanților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LUI 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Pensionar, văduv, locuiește singur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Sat izolat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Fumează de zeci de ani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Hipertensiune arterială netratată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Pensie mică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Cabinetul medicului de familie, la mare distanță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SARCINA — zece minute, în perechi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Identificați câte un determinant din fiecare strat Dahlgren–Whitehead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Propuneți două intervenții populaționale, nu individuale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În ce strat ar produce o intervenție cel mai mare efect? De ce?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Gândiți populațional: ce poate face asistentul medical pentru sute de persoane în situații asemănătoare?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/ 71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sănătate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Mortalitate · Morbiditate · Speranța de viață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 / 71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măsoară sănătatea unei populații? De la date la decizii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brută, mortalitatea infantilă, mortalitatea evitabilă, pe cauze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DALY, YLD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 DE VIAȚĂ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naștere, ani sănătoși (HLY), speranța de viață sănătoasă (HALE)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&amp; ACCES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 la 1 000 de locuitori, paturi, cheltuieli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 de date: INS · INSP · Eurostat · OMS (GHO) · ECDC · IHME (GBD)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 / 71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mortalitate: definiții și formule de calcul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 (simplificată)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Utilizare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brută a mortalității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din an ÷ populația medie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Frecvența deceselor; comparațiile cer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infantile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sub un an ÷ născuții vii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Sănătatea mamei și a copilului; comparații între țări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specifică pe cauze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prin cauza respectivă ÷ populația × 100 000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Prioritizarea intervențiilor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evitabilă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evitabile sub 75 de ani;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Prevenția și calitatea îngrijirilor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metadatele demo_mor și hlth_cdeath; CDC, Principles of Epidemiology, lecția 3; OCDE/Eurostat, lista mortalității evitabile (2022)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/ 71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 a mortalității: România și UE-27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914400"/>
          <a:ext cx="8229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seriei: 17,5‰ în 2021, în pandemia de COVID-19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demo_gind; valori marcate de Eurostat ca estimate („e”) sau estimate și provizorii („ep”), de exemplu 2019, 2021 și 2025. Axa verticală nu pornește de la zero.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 / 71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mor românii? Mortalitatea pe cauze, 2023 (rate standardizate)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0" y="1371600"/>
            <a:ext cx="3200400" cy="182880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4864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Bolile aparatului circulator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0" y="1737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787,1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66928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la 100 000 de locuitori (2023)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2,5 ori media UE (313,0)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hlth_cd_asdr2 (2023), rate standardizate cu populația standard europeană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/ 71</a:t>
            </a:r>
            <a:endParaRPr lang="en-US" sz="800" dirty="0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914400"/>
          <a:ext cx="48463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 — Oglinda dezvoltării unei națiuni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274320" y="91440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097280"/>
            <a:ext cx="27432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Progres important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94360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26,9‰ (1990)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6,6‰ (2024)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scădere de 75,5%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3504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UE: 3,5‰ (2024). INS, 2025: 6,0‰ (urban 5,1‰, rural 6,8‰).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demo_minfind (1990–2024); INS, TEMPO POP209B (2025)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 / 71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care ar fi putut fi evitate: mortalitatea evitabilă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PREVENIBILĂ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sănătate publică și prevenție primară (vaccinare, măsuri antitabac, educație pentru sănătate)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150,9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TRATABILĂ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îngrijiri medicale la timp și eficace, inclusiv prevenție secundară (depistare precoce) și tratament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86,8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față de UE: aproximativ 113 la 100 000 pe fiecare componentă; România are cea mai mare rată tratabilă din UE. Nursingul contribuie la prevenție și la calitatea îngrijirii.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 / 71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Morbiditate: incidență și prevalență · ani de viață sănătoasă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depinde de incidență și de durată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cazuri NOI → măsoară RISCUL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cazuri EXISTENTE → măsoară POVARA bolii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cronică (diabet): durată lungă → prevalență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acută, cu vindecare rapidă → prevalență mică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2926080" cy="192024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sănătoasă, 2023 (valori estimate)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1234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76,4 ani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0" y="1234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59,2 ani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viață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sănătoși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(HLY)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17,2 ani trăiți cu limitări de activitate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144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 de calcul pe date reale (INS)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România 2025: 799 decese sub un an, 134 238 născuți vii → rata mortalității infantile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România 2024: 7 172 cazuri noi de tuberculoză, 19 059 534 locuitori → incidența la 100 000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România 2024: 244 575 decese, 19 059 534 locuitori → rata brută a mortalității = ?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33 / 71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Totul se leagă: harta conceptuală a cursului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0" y="1828800"/>
            <a:ext cx="2743200" cy="1371600"/>
          </a:xfrm>
          <a:prstGeom prst="lin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</a:t>
            </a:r>
            <a:endParaRPr lang="en-US" sz="120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PUBLICĂ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OMS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64008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5379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esențiale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Dahlgren–Whitehead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5" name="Shape 13"/>
          <p:cNvSpPr/>
          <p:nvPr/>
        </p:nvSpPr>
        <p:spPr>
          <a:xfrm>
            <a:off x="658368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72084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56616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3200400" y="356616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3337560" y="3566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Context: România și UE — date INS, Eurostat, OMS, ECDC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34 / 71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Recapitulare și bibliografie (partea I)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Asistența de sănătate publică: efortul organizat al societății (Legea nr. 95/2006)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Sănătatea se produce în condițiile de viață și de muncă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Indicatorii se citesc cu numitorul, anul și marcajele emitentului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dirty="0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Winslow, The Untilled Fields of Public Health (1920)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OMS, Constituția (1946)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IOM, The Future of Public Health (1988)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Dahlgren și Whitehead, Levelling up, OMS Europa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Solar și Irwin, cadrul conceptual OMS (2010)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Eurostat și INS: bazele de date citate pe diapozitive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Legea nr. 95/2006, titlul I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ec.europa.eu/eurostat · statistici.insse.ro · who.int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 partea a doua: epidemiologia aplicată în nursing.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/ 71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APLICATĂ ÎN NURSING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Detectivii sănătății publice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1, partea a II-a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populație la date: ce veți învăța în partea a doua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și interpretează incidența și prevalența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Clasifică factorii de risc; calculează rata de atac și riscul relativ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supravegherea epidemiologică și raportarea în România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Aplică pașii CDC de investigare a unui focar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40680" y="12070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1463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factori de risc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6642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epidemiologică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40680" y="2121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~8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 focarelor epidemice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25786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2834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 și încheiere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3035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6" name="Text 34"/>
          <p:cNvSpPr/>
          <p:nvPr/>
        </p:nvSpPr>
        <p:spPr>
          <a:xfrm>
            <a:off x="640080" y="34747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parte: indicatorii de mortalitate, morbiditate și speranță de viață sunt PRODUSUL muncii epidemiologice pe care o învățați acum.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8" name="Text 3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37 / 71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Verificați-vă cunoștințele!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38 / 71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Epidemiologia: știința de bază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Definiție (după dicționarul coordonat de J. M. Last, citat de CDC): studiul distribuției și al determinanților stărilor sau evenimentelor legate de sănătate în populații definite și aplicarea acestui studiu la controlul problemelor de sănătate.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(vârstă, sex, ocupație)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Boala sau evenimentul (definiția de caz)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Locul (geografie, mediu, instituție)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3212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(debut, sezonalitate)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Cauze (factori de risc, transmitere)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/ 71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și prevalența.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Concepte de bază · Formule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41 / 71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numere la rate: de ce contează comparabilitatea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ipotetice: 120 de cazuri ale bolii 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C: 800 000 de locuitori → 15 la 100 000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D: 150 000 de locuitori → 80 la 100 000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număr de cazuri, risc de peste cinci ori mai mare în districtul D!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unei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Numărător (cazuri)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 × Constantă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Numitor (populație la risc)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în aceeași perioadă de timp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permite compararea apariției bolii între populații de mărimi diferite.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/ 71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Incidența: câte cazuri NOI apar într-o perioadă?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măsoară RISCUL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Nr. cazuri NOI într-o perioadă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Populație la risc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cumulativă: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proporție (risc)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incidență: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persoană-timp (viteza apariției cazurilor)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Școala E: 1 200 de elevi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boala X la începutul semestrului;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de cazuri noi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opt săptămâni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30 ÷ 1 200 = 0,025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2,5% (25 la 1 000)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lecția 3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 / 71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Prevalența: câte cazuri EXISTENTE la un moment dat?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măsoară POVARA bolii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914400"/>
            <a:ext cx="320040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54864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Metafora bazinului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INTRARE = incidența (cazuri noi)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solidFill>
            <a:srgbClr val="0E7C6B">
              <a:alpha val="7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APEI =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IEȘIRE = vindecare sau deces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63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Toate cazurile EXISTENTE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totală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în ziua de control, 18 dintre cei 1 200 de elevi ai școlii E au boala X → P = 18 ÷ 1 200 = 1,5%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 / 71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Prevalența, incidența și durata bolii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≈ incidența × durata medie a bolii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MODERATĂ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LUNGĂ (boală cronică)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MARE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acută, vindecare în câteva zile (ilustrativ)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SCURTĂ (vindecare rapidă)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RELATIV MICĂ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P ≈ I × D cere populație stabilă, boală rară și frecvență constantă; ideea „durată lungă → prevalență mare” este valabilă mai general.</a:t>
            </a:r>
            <a:endParaRPr lang="en-US" sz="700" dirty="0"/>
          </a:p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Freeman și Hutchison (1980); Andersen și colab. (2012); CDC, Principles of Epidemiology, lecția 3 (diabetul, ca boală cronică); exemplul infecției acute este ilustrativ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 / 71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din România: incidență și prevalență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Comparație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Sursa, anul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rata de notificare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46,3 la 100 000 (8 825 de cazuri)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UE/SEE: 8,4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ECDC/OMS,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cazuri noi (INS)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7 172; 37,6 la 100 000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Estimarea OMS: 60 (49–73)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INS; 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Rujeolă și tuse convulsivă — cazuri noi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25 505 și 2 963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Tuse convulsivă, 2023: 17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Diabet declarat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7,4%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Hipertensiune declarată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21,9%; OMS: 48,4% estimat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Eurostat; OMS,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ECDC/OMS Europa, tuberculoza (2026); INS, TEMPO SAN109A; Eurostat, EHIS 2019; OMS, GHO. O prevalență declarată mică poate ascunde boala nediagnosticată.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 / 71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atac: instrumentul investigării focarelor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= (persoane expuse bolnave ÷ toate persoanele expuse) × 100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Masă festivă: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s-au îmbolnăvit în 24 de ore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35 ÷ 120 × 100 = 29,2%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Particularitățile ratei de atac (o formă de incidență)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Perioadă scurtă și definită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definită, expusă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exprimă de obicei în procente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Utilă în focarele alimentare și instituționale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 / 71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specifice: analiza pe subgrupuri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981795226"/>
              </p:ext>
            </p:extLst>
          </p:nvPr>
        </p:nvGraphicFramePr>
        <p:xfrm>
          <a:off x="457200" y="914400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914400"/>
            <a:ext cx="29260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760720" y="914400"/>
            <a:ext cx="54864" cy="25603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94360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vârstă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sex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cauză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mediu de rezidență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 Rata calculată pentru întreaga populație poate ascunde diferențe mari între grupuri.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POP209B (2025)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 / 71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Atelier de calcul: trei probleme, cinci minute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bolii Y în județul 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de cazuri noi într-un an, populație: 650 000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? la 100 000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bolii Z într-o comunitate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180 de cazuri existente, 4 500 de locuitori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 = ? 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la o masă festivă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invitați, 35 de bolnavi în 24 de 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?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ipotetice. Timp de lucru: cinci minute individual, apoi verificare frontală.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 / 71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risc: identificare și clasificare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Clasificare și măsură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Fumat, alcool, sedentarism, alimentație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Vârstă, sex, factori constituționali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RELATIV = riscul expușilor ÷ riscul neexpușilor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Egal cu unu: riscuri egale; peste unu: risc crescut; sub unu: efect protector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4937760" y="960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de risc în România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371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55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Alcool, consum episodic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55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139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Tensiune arterială crescută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1396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primul (GBD)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5237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523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Fructe și legume, cinci porții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9077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IHME, GBD 2023 (clasamentul factorilor de risc); Eurostat, EHIS 2019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51 / 71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Sisteme · Circuitul raportării · Rolul asistentului medical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52 / 71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Supravegherea: vigilența continuă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COLECTARE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ANALIZĂ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INTERPRETARE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TRANSMITERE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DECIZIE ȘI ACȚIUNE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trimit rapoarte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828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reguli cunoscute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2331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Autoritatea solicită rapoarte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anume, perioade limitate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Sentinelă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Eșantion prestabilit de furnizori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asemănătoare gripei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Sindromică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011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 și simptome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0" y="3337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Semnalare precoce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nu include acțiunile de control, dar există pentru ele; efectul măsurilor se urmărește prin aceeași supraveghere.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53 / 71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bolilor transmisibile în România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104224"/>
              </p:ext>
            </p:extLst>
          </p:nvPr>
        </p:nvGraphicFramePr>
        <p:xfrm>
          <a:off x="457200" y="914400"/>
          <a:ext cx="8229600" cy="2514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Element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Prevederea HG nr. 657/2022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Termen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Cine raportează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Furnizorii de servicii medicale, inclusiv laboratoarele, publici și privați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Fișa unică de raportare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 suspect sau confirmat; fișa se trimite la DSP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în cel mult 5 zile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Bolile marcate cu litera 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Declarare telefonică imediată la DSP, de exemplu rujeola, difteria, boala meningococică, botulismul; fișa urmează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imediat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Raportarea statistică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DSP, după validarea medicului epidemiolog; coduri CIM, revizia a zecea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Confidențialitatea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Datele de identitate, protejate conform Regulamentului (UE) 2016/679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legal: HG nr. 657/2022. Obligația de raportare revine furnizorului; asistentul medical recunoaște cazurile și contribuie la completarea și transmiterea fișei.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 / 71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cabinet la ECDC și OMS: circuitul informației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Furnizorul de servicii medicale (cabinet, spital, laborator)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județeană sau a municipiului București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 – CNSCBT: Registrul unic de boli transmisibile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UE: ECDC și alerta precoce · OMS, prin punctul focal național RSI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HG nr. 657/2022 trimite la Decizia nr. 1082/2013/UE, abrogată prin Regulamentul (UE) 2022/2371; Regulamentul Sanitar Internațional (2005) cere notificarea OMS în 24 de ore de la evaluare.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 / 71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linie: rolul asistentului medical în supraveghere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cazurilor care corespund definițiilor de caz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2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Documentarea datelor, completarea și transmiterea fișei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Anchetă epidemiologică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Identificarea contacților, participarea la anchetă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4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statusului vaccinal, recuperarea vaccinărilor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Educarea pacienților privind prevenția și igiena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HG nr. 657/2022 (obligația furnizorului); rolul asistentului medical, după notele cursului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56 / 71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57 / 71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focarelor epidemice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Definiții · Pașii CDC · Studii de caz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 / 71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Focar, epidemie, pandemie: terminologie esențială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ENDEMIC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Prezența constantă sau obișnuită a bolii într-o populație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de bază este cel așteptat, nu neapărat cel dorit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136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9852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definiție ca epidemia, de obicei pe o arie mai restrânsă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9852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îmbolnăvirile după o masă festivă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6552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0268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Creștere, adesea bruscă, peste nivelul așteptat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0268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rujeola în România, 2016–2020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PANDEMIE — epidemie extinsă în mai multe țări sau continente.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COVID-19, caracterizată drept pandemie de OMS la 11 martie 2020.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/ 71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CDC de investigare a unui focar: 13 pași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859536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859536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activității de teren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7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59689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59689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1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Stabilirea existenței focarului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3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33425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33425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7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diagnosticului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39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607161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07161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3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Definiția de caz de lucru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5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80897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80897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19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Căutarea sistematică a cazurilor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22"/>
          <p:cNvSpPr/>
          <p:nvPr/>
        </p:nvSpPr>
        <p:spPr>
          <a:xfrm>
            <a:off x="859536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859536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 descriptivă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01167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259689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259689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10311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Formularea ipotezelor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4903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Shape 30"/>
          <p:cNvSpPr/>
          <p:nvPr/>
        </p:nvSpPr>
        <p:spPr>
          <a:xfrm>
            <a:off x="433425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3" name="Text 31"/>
          <p:cNvSpPr/>
          <p:nvPr/>
        </p:nvSpPr>
        <p:spPr>
          <a:xfrm>
            <a:off x="433425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7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ipotezelor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39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6" name="Shape 34"/>
          <p:cNvSpPr/>
          <p:nvPr/>
        </p:nvSpPr>
        <p:spPr>
          <a:xfrm>
            <a:off x="607161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607161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7783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Rafinarea ipotezelor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22375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0" name="Shape 38"/>
          <p:cNvSpPr/>
          <p:nvPr/>
        </p:nvSpPr>
        <p:spPr>
          <a:xfrm>
            <a:off x="780897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780897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19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Studii de laborator și de mediu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6. Ordinea este conceptuală; măsurile de control se aplică cât mai devreme.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5" name="Text 4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61 / 71</a:t>
            </a:r>
            <a:endParaRPr lang="en-US" sz="1200" dirty="0"/>
          </a:p>
        </p:txBody>
      </p:sp>
      <p:sp>
        <p:nvSpPr>
          <p:cNvPr id="47" name="Card 11 39"/>
          <p:cNvSpPr/>
          <p:nvPr/>
        </p:nvSpPr>
        <p:spPr>
          <a:xfrm>
            <a:off x="205740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8" name="Card 11 40"/>
          <p:cNvSpPr/>
          <p:nvPr/>
        </p:nvSpPr>
        <p:spPr>
          <a:xfrm>
            <a:off x="264261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9" name="Card 11 41"/>
          <p:cNvSpPr/>
          <p:nvPr/>
        </p:nvSpPr>
        <p:spPr>
          <a:xfrm>
            <a:off x="264261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Card 11 42"/>
          <p:cNvSpPr/>
          <p:nvPr/>
        </p:nvSpPr>
        <p:spPr>
          <a:xfrm>
            <a:off x="214884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 de control și prevenție</a:t>
            </a:r>
            <a:endParaRPr lang="en-US" sz="1200" dirty="0"/>
          </a:p>
        </p:txBody>
      </p:sp>
      <p:sp>
        <p:nvSpPr>
          <p:cNvPr id="51" name="Card 12 39"/>
          <p:cNvSpPr/>
          <p:nvPr/>
        </p:nvSpPr>
        <p:spPr>
          <a:xfrm>
            <a:off x="379476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2" name="Card 12 40"/>
          <p:cNvSpPr/>
          <p:nvPr/>
        </p:nvSpPr>
        <p:spPr>
          <a:xfrm>
            <a:off x="437997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3" name="Card 12 41"/>
          <p:cNvSpPr/>
          <p:nvPr/>
        </p:nvSpPr>
        <p:spPr>
          <a:xfrm>
            <a:off x="437997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Card 12 42"/>
          <p:cNvSpPr/>
          <p:nvPr/>
        </p:nvSpPr>
        <p:spPr>
          <a:xfrm>
            <a:off x="388620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1200" dirty="0"/>
          </a:p>
        </p:txBody>
      </p:sp>
      <p:sp>
        <p:nvSpPr>
          <p:cNvPr id="55" name="Card 13 39"/>
          <p:cNvSpPr/>
          <p:nvPr/>
        </p:nvSpPr>
        <p:spPr>
          <a:xfrm>
            <a:off x="553212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6" name="Card 13 40"/>
          <p:cNvSpPr/>
          <p:nvPr/>
        </p:nvSpPr>
        <p:spPr>
          <a:xfrm>
            <a:off x="611733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7" name="Card 13 41"/>
          <p:cNvSpPr/>
          <p:nvPr/>
        </p:nvSpPr>
        <p:spPr>
          <a:xfrm>
            <a:off x="611733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</a:t>
            </a:r>
            <a:endParaRPr lang="en-US" sz="1200" dirty="0"/>
          </a:p>
        </p:txBody>
      </p:sp>
      <p:sp>
        <p:nvSpPr>
          <p:cNvPr id="58" name="Card 13 42"/>
          <p:cNvSpPr/>
          <p:nvPr/>
        </p:nvSpPr>
        <p:spPr>
          <a:xfrm>
            <a:off x="562356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Comunicarea rezultatelor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epidemică: forma sugerează tiparul de răspândire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012692282"/>
              </p:ext>
            </p:extLst>
          </p:nvPr>
        </p:nvGraphicFramePr>
        <p:xfrm>
          <a:off x="18288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3099189571"/>
              </p:ext>
            </p:extLst>
          </p:nvPr>
        </p:nvGraphicFramePr>
        <p:xfrm>
          <a:off x="320040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Chart 2"/>
          <p:cNvGraphicFramePr/>
          <p:nvPr>
            <p:extLst>
              <p:ext uri="{D42A27DB-BD31-4B8C-83A1-F6EECF244321}">
                <p14:modId xmlns:p14="http://schemas.microsoft.com/office/powerpoint/2010/main" val="3589773574"/>
              </p:ext>
            </p:extLst>
          </p:nvPr>
        </p:nvGraphicFramePr>
        <p:xfrm>
          <a:off x="621792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ipotetice, ilustrative. Sursa punctiformă: cazurile apar într-o singură perioadă de incubație; curba urcă abrupt și coboară mai lent. Sursa continuă: platou. Transmiterea de la persoană la persoană: vârfuri succesive, la o perioadă de incubație distanță.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62 / 71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Lanțul infecției: șase verigi, șase puncte de intervenție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0876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Rezervor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ieșire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546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Igienă respiratorie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Ventilație, vectori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intrare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protecție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4" name="Text 32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receptivă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438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9" name="Text 37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Măsurile de control vizează de obicei veriga cea mai ușor de întrerupt a lanțului; asistentul medical contribuie la fiecare verigă.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63 / 71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Studiu de caz: rujeola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22 822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cazuri, 2016–2020 (OMS)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56032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25 505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 în 2024 (OMS, INS)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cu prima doză,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76656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95%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necesară, două doze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274320" y="1828800"/>
          <a:ext cx="5029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5486400" y="1828800"/>
            <a:ext cx="32004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562356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Lecții învățate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21945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doză: 94% (2012), 83% (2022), 78% (2023), 66% (2025)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 apar și la acoperiri de 85–90%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Vaccinarea rapidă 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medical: identificare, raportare, recuperarea vaccinărilor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OMS, GHO (cazuri raportate; acoperire vaccinală WUENIC); ECDC, raportul anual 2024; CDC, lecția 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 / 71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COVID-19 în România: supraveghere și lecții epidemiologice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+110,8%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 de mortalitate, octombrie 2021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UE-27, nov. 2020 (p)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222,5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mortalitate: față de media lunară 2016–2019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Indicatorul nu distinge cauzele de deces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2021: 222,5 (UE: 113,0)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Caracterizată drept pandemie de OMS la 11 martie 2020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Triaj și identificarea cazurilor suspecte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Testare, investigarea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 și educație pentru sănătate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Îngrijirea pacienților cu COVID-19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demo_mexrt și hlth_cd_asdr2; OMS, cronologia COVID-19. Marcaj Eurostat: p = valoare provizorie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/ 71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investigare la acțiune: măsuri de control în focare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ELIMINAREA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Retragerea alimentului contaminat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Dezinfecția apei și a mediului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 umane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identificare, raportare, izolare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ÎNTRERUPEREA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TRANSMITERII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Izolare, carantină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Dezinfecție, ventilație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echipament de protecție, igienă, educație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PROTECȚIA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GAZDEI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 post-expunere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contacților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profilaxie, vaccinare, educație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 / 71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Investigația dumneavoastră: focar după o masă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Bolnavi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de atac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90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36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110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SARCINI (opt minute)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Calculați rata de atac la neconsumatori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Calculați riscul relativ pentru fiecare preparat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Desenați curba epidemică pe intervale de șase ore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Propuneți trei măsuri imediate de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Debutul bolii, în ore după masă: 0–6: 4 persoane; 6–12: 17; 12–18: 12; 18–24: 5; 24–30: 1 (valori ipotetice)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67 / 71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Harta de navigare epidemiologică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PREVALENȚĂ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6304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RISC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INTERVENȚII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CONTROL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FEEDBACK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4008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sănătate publică (mortalitate, morbiditate, speranță de viață) sunt PRODUSUL epidemiologiei aplicate.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93776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LP01: profilul de sănătate al comunității. C02: epidemiologie aplicată (II), promovarea sănătății și educația pentru sănătate.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Conceptele cursului se aplică în PRACTICA ZILNICĂ a asistentului medical!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 / 71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Bilet de ieșire și bibliografie (partea a II-a)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Ce idee din acest curs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Cât de pregătit vă simțiți să explicați diferența dintre incidență și prevalență?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CDC, Principles of Epidemiology, ediția a III-a (2012)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HG nr. 657/2022 privind raportarea bolilor transmisibile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ECDC, rapoartele anuale: rujeola (2025), tuberculoza (2026)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OMS, Global Health Observatory: rujeola și vaccinarea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Eurostat și INS: bazele de date citate pe diapozitive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IHME, Global Burden of Disease 2023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OMS, cronologia pandemiei de COVID-19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ecdc.europa.eu · who.int · ec.europa.eu/eurostat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Mulțumesc! Urmează LP01: profilul de sănătate al comunității, pe date INS.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C02: epidemiologie aplicată în nursing (II); promovarea sănătății.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71 / 71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Limitele interpretării: ce nu se poate afirma pe baza datelor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după 2019: nepublicat (EHIS)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pe județe: neprezentată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Decesele prin rujeolă, 2016–2020: neverificate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căutat: Eurostat hlth_ehis; CNSCBT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SERII NECOMPARABILE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Anii de viață sănătoasă: ruptură în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Rujeola 2024: 25 505 (OMS, INS)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față de 30 692 (ECDC), fără explicație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ESTIMĂRI ȘI LIMITE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 GBD: estimări de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prezintă numai ordinea factorilor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 nu distinge cauzele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Estimarea nu este o numărătoare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69 / 71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Noua sănătate publică: Carta de la Ottawa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pe agenda tuturor sectoarelor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39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favorabile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Condiții de viață și de muncă sigure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Acțiune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Comunitățile își stabilesc prioritățile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Abilități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personale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Informare, educație pentru sănătate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19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Reorientarea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serviciilor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îngrijirea curativă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modalități de acțiune: pledoaria, abilitarea, medierea; personalul de sănătate are o responsabilitate majoră în mediere. Denumirile diferă chiar în glosarul OMS din 2021. Surse: OMS Europa, Carta de la Ottawa (1986); OMS, glosarele promovării sănătății (1998, 2021).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 / 71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Infecțiile asociate asistenței medicale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1,26%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raportată, 2023 (INSP)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3,1% → 4,1%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 moment, 2023 (INSP)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2,2%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estimată de ECDC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40 359 de infecții raportate de spitale în 2023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activă identificată la 674 din 21 866 de pacienți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Validare (1 127 de pacienți): identificați 70,0%; corectat: 4,1%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ECDC, UE/SEE: 4,3%; după corecție, 6,5%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2025: 189 de focare; 11 din 41 de județe fără focar raportat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asistentul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infecției la patul pacientului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completă a cazurilor și a focarelor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infecții raportate: întâi verificăm dacă le căutăm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Discuție: ce schimbăm pentru o raportare completă?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INSP, CARMIAAM-ROM 2023; INSP, studiul de prevalență de moment 2023 și analiza focarelor de IAAM 2025; ECDC, studiul de prevalență 2022–2023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47 / 71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răspuns se justifică pe baza notelor cursului.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39 / 71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INS; ECDC/OMS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Eurostat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OMS (GHO); ECDC; INS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IHME (GBD)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58 / 71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Rezolvarea investigației: masa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 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Risc relativ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22,5%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0,9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CONCLUZIA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preparatul A are o rată de atac mult mai mare la consumatori decât la neconsumatori: este vehiculul cel mai probabil.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urcă abrupt și coboară mai lent: sursă comună punctiformă.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Bolnavii care nu au consumat preparatul A se investighează: contaminare încrucișată sau amintiri inexacte.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Preparatul A: 40,0% la consumatori, 5,0% la neconsumatori; RR = 8,0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68 / 71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latino Linotype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latino Linotype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C01 (decul de proiectat)</dc:title>
  <dc:subject>C01 · ro · derivat din C1_SPM_AMGIV_2026.pptx, actualizat pe notele și registrul din 27.09.2026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sursa_amprenta=5fcbe05d83e9175b; proiectie</cp:keywords>
</cp:coreProperties>
</file>