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22" r:id="rId73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324" r:id="rId75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23" r:id="rId74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25" r:id="rId76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26" r:id="rId77"/>
    <p:sldId id="321" r:id="rId72"/>
    <p:sldId id="319" r:id="rId65"/>
    <p:sldId id="320" r:id="rId6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40.xml"/><Relationship Id="rId40" Type="http://schemas.openxmlformats.org/officeDocument/2006/relationships/slide" Target="slides/slide41.xml"/><Relationship Id="rId41" Type="http://schemas.openxmlformats.org/officeDocument/2006/relationships/slide" Target="slides/slide42.xml"/><Relationship Id="rId42" Type="http://schemas.openxmlformats.org/officeDocument/2006/relationships/slide" Target="slides/slide43.xml"/><Relationship Id="rId43" Type="http://schemas.openxmlformats.org/officeDocument/2006/relationships/slide" Target="slides/slide44.xml"/><Relationship Id="rId44" Type="http://schemas.openxmlformats.org/officeDocument/2006/relationships/slide" Target="slides/slide45.xml"/><Relationship Id="rId45" Type="http://schemas.openxmlformats.org/officeDocument/2006/relationships/slide" Target="slides/slide46.xml"/><Relationship Id="rId46" Type="http://schemas.openxmlformats.org/officeDocument/2006/relationships/slide" Target="slides/slide48.xml"/><Relationship Id="rId47" Type="http://schemas.openxmlformats.org/officeDocument/2006/relationships/slide" Target="slides/slide49.xml"/><Relationship Id="rId48" Type="http://schemas.openxmlformats.org/officeDocument/2006/relationships/slide" Target="slides/slide50.xml"/><Relationship Id="rId49" Type="http://schemas.openxmlformats.org/officeDocument/2006/relationships/slide" Target="slides/slide51.xml"/><Relationship Id="rId50" Type="http://schemas.openxmlformats.org/officeDocument/2006/relationships/slide" Target="slides/slide52.xml"/><Relationship Id="rId51" Type="http://schemas.openxmlformats.org/officeDocument/2006/relationships/slide" Target="slides/slide53.xml"/><Relationship Id="rId52" Type="http://schemas.openxmlformats.org/officeDocument/2006/relationships/slide" Target="slides/slide54.xml"/><Relationship Id="rId53" Type="http://schemas.openxmlformats.org/officeDocument/2006/relationships/slide" Target="slides/slide55.xml"/><Relationship Id="rId54" Type="http://schemas.openxmlformats.org/officeDocument/2006/relationships/slide" Target="slides/slide56.xml"/><Relationship Id="rId55" Type="http://schemas.openxmlformats.org/officeDocument/2006/relationships/slide" Target="slides/slide57.xml"/><Relationship Id="rId56" Type="http://schemas.openxmlformats.org/officeDocument/2006/relationships/slide" Target="slides/slide59.xml"/><Relationship Id="rId57" Type="http://schemas.openxmlformats.org/officeDocument/2006/relationships/slide" Target="slides/slide60.xml"/><Relationship Id="rId58" Type="http://schemas.openxmlformats.org/officeDocument/2006/relationships/slide" Target="slides/slide61.xml"/><Relationship Id="rId59" Type="http://schemas.openxmlformats.org/officeDocument/2006/relationships/slide" Target="slides/slide62.xml"/><Relationship Id="rId60" Type="http://schemas.openxmlformats.org/officeDocument/2006/relationships/slide" Target="slides/slide63.xml"/><Relationship Id="rId61" Type="http://schemas.openxmlformats.org/officeDocument/2006/relationships/slide" Target="slides/slide64.xml"/><Relationship Id="rId62" Type="http://schemas.openxmlformats.org/officeDocument/2006/relationships/slide" Target="slides/slide65.xml"/><Relationship Id="rId63" Type="http://schemas.openxmlformats.org/officeDocument/2006/relationships/slide" Target="slides/slide66.xml"/><Relationship Id="rId64" Type="http://schemas.openxmlformats.org/officeDocument/2006/relationships/slide" Target="slides/slide67.xml"/><Relationship Id="rId65" Type="http://schemas.openxmlformats.org/officeDocument/2006/relationships/slide" Target="slides/slide70.xml"/><Relationship Id="rId66" Type="http://schemas.openxmlformats.org/officeDocument/2006/relationships/slide" Target="slides/slide71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Relationship Id="rId72" Type="http://schemas.openxmlformats.org/officeDocument/2006/relationships/slide" Target="slides/slide69.xml"/><Relationship Id="rId73" Type="http://schemas.openxmlformats.org/officeDocument/2006/relationships/slide" Target="slides/slide11.xml"/><Relationship Id="rId74" Type="http://schemas.openxmlformats.org/officeDocument/2006/relationships/slide" Target="slides/slide47.xml"/><Relationship Id="rId75" Type="http://schemas.openxmlformats.org/officeDocument/2006/relationships/slide" Target="slides/slide39.xml"/><Relationship Id="rId76" Type="http://schemas.openxmlformats.org/officeDocument/2006/relationships/slide" Target="slides/slide58.xml"/><Relationship Id="rId77" Type="http://schemas.openxmlformats.org/officeDocument/2006/relationships/slide" Target="slides/slide6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România</c:v>
                </c:pt>
              </c:strCache>
            </c:strRef>
          </c:tx>
          <c:spPr>
            <a:ln w="28575" cap="flat">
              <a:solidFill>
                <a:srgbClr val="FFFF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</a:rPr>
                      <a:t>72,8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</a:rPr>
                      <a:t>80,3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Bărbați</c:v>
                </c:pt>
                <c:pt idx="1">
                  <c:v>Femei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72.8</c:v>
                </c:pt>
                <c:pt idx="1">
                  <c:v>80.3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EBC-A346-BC38-BBF1573FA6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UE-27</c:v>
                </c:pt>
              </c:strCache>
            </c:strRef>
          </c:tx>
          <c:spPr>
            <a:ln w="28575" cap="flat">
              <a:solidFill>
                <a:srgbClr val="D4A84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843"/>
              </a:solidFill>
              <a:ln w="9525" cap="flat">
                <a:solidFill>
                  <a:srgbClr val="D4A843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D4A843"/>
                        </a:solidFill>
                      </a:rPr>
                      <a:t>78,9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D4A843"/>
                        </a:solidFill>
                      </a:rPr>
                      <a:t>84,1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Bărbați</c:v>
                </c:pt>
                <c:pt idx="1">
                  <c:v>Femei</c:v>
                </c:pt>
              </c:strCache>
            </c:strRef>
          </c:cat>
          <c:val>
            <c:numRef>
              <c:f>Sheet1!$C$2:$C$3</c:f>
              <c:numCache>
                <c:formatCode>0.0</c:formatCode>
                <c:ptCount val="2"/>
                <c:pt idx="0">
                  <c:v>78.9</c:v>
                </c:pt>
                <c:pt idx="1">
                  <c:v>84.1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EBC-A346-BC38-BBF1573FA6D8}"/>
            </c:ext>
          </c:extLst>
        </c:ser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8.0"/>
          <c:min val="70.0"/>
        </c:scaling>
        <c:delete val="0"/>
        <c:axPos val="l"/>
        <c:majorGridlines>
          <c:spPr>
            <a:ln w="381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FFFFFF"/>
              </a:solidFill>
            </a:defRPr>
          </a:pPr>
        </a:p>
      </c:txPr>
    </c:legend>
    <c:plotVisOnly val="1"/>
    <c:dispBlanksAs val="span"/>
    <c:showDLblsOverMax val="1"/>
  </c:chart>
  <c:spPr>
    <a:solidFill>
      <a:srgbClr val="0F7B8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Cheltuieli cu sănătatea (% din PIB)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D3B4E"/>
                        </a:solidFill>
                      </a:rPr>
                      <a:t>6,2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D3B4E"/>
                        </a:solidFill>
                      </a:rPr>
                      <a:t>10,2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România 2024</c:v>
                </c:pt>
                <c:pt idx="1">
                  <c:v>UE-27 2024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6.2</c:v>
                </c:pt>
                <c:pt idx="1">
                  <c:v>10.2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0E-5549-9EBD-9DC999DA74CA}"/>
            </c:ext>
          </c:extLst>
        </c:ser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D3B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0"/>
          <c:min val="0.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România (‰)</c:v>
                </c:pt>
              </c:strCache>
            </c:strRef>
          </c:tx>
          <c:spPr>
            <a:ln w="28575" cap="flat">
              <a:solidFill>
                <a:srgbClr val="0F7B8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7B8A"/>
              </a:solidFill>
              <a:ln w="9525" cap="flat">
                <a:solidFill>
                  <a:srgbClr val="0F7B8A"/>
                </a:solidFill>
                <a:prstDash val="solid"/>
                <a:round/>
              </a:ln>
              <a:effectLst/>
            </c:spPr>
          </c:marker>
          <c:dLbls>
            <c:dLbl>
              <c:idx val="19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D3B4E"/>
                        </a:solidFill>
                      </a:rPr>
                      <a:t>13,4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D3B4E"/>
                        </a:solidFill>
                      </a:rPr>
                      <a:t>17,5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D3B4E"/>
                        </a:solidFill>
                      </a:rPr>
                      <a:t>12,5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2005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2010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2015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2020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2025</c:v>
                </c:pt>
              </c:strCache>
            </c:strRef>
          </c:cat>
          <c:val>
            <c:numRef>
              <c:f>Sheet1!$B$2:$B$27</c:f>
              <c:numCache>
                <c:formatCode>0.0</c:formatCode>
                <c:ptCount val="26"/>
                <c:pt idx="0">
                  <c:v>11.4</c:v>
                </c:pt>
                <c:pt idx="1">
                  <c:v>11.7</c:v>
                </c:pt>
                <c:pt idx="2">
                  <c:v>12.4</c:v>
                </c:pt>
                <c:pt idx="3">
                  <c:v>12.4</c:v>
                </c:pt>
                <c:pt idx="4">
                  <c:v>12.1</c:v>
                </c:pt>
                <c:pt idx="5">
                  <c:v>12.3</c:v>
                </c:pt>
                <c:pt idx="6">
                  <c:v>12.2</c:v>
                </c:pt>
                <c:pt idx="7">
                  <c:v>12.1</c:v>
                </c:pt>
                <c:pt idx="8">
                  <c:v>12.3</c:v>
                </c:pt>
                <c:pt idx="9">
                  <c:v>12.6</c:v>
                </c:pt>
                <c:pt idx="10">
                  <c:v>12.8</c:v>
                </c:pt>
                <c:pt idx="11">
                  <c:v>12.5</c:v>
                </c:pt>
                <c:pt idx="12">
                  <c:v>12.7</c:v>
                </c:pt>
                <c:pt idx="13">
                  <c:v>12.4</c:v>
                </c:pt>
                <c:pt idx="14">
                  <c:v>12.8</c:v>
                </c:pt>
                <c:pt idx="15">
                  <c:v>13.2</c:v>
                </c:pt>
                <c:pt idx="16">
                  <c:v>13.1</c:v>
                </c:pt>
                <c:pt idx="17">
                  <c:v>13.4</c:v>
                </c:pt>
                <c:pt idx="18">
                  <c:v>13.6</c:v>
                </c:pt>
                <c:pt idx="19">
                  <c:v>13.4</c:v>
                </c:pt>
                <c:pt idx="20">
                  <c:v>15.5</c:v>
                </c:pt>
                <c:pt idx="21">
                  <c:v>17.5</c:v>
                </c:pt>
                <c:pt idx="22">
                  <c:v>14.4</c:v>
                </c:pt>
                <c:pt idx="23">
                  <c:v>12.8</c:v>
                </c:pt>
                <c:pt idx="24">
                  <c:v>12.8</c:v>
                </c:pt>
                <c:pt idx="25">
                  <c:v>12.5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CDB-EE48-B27A-669F632A2F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UE-27 (‰)</c:v>
                </c:pt>
              </c:strCache>
            </c:strRef>
          </c:tx>
          <c:spPr>
            <a:ln w="28575" cap="flat">
              <a:solidFill>
                <a:srgbClr val="D4A84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843"/>
              </a:solidFill>
              <a:ln w="9525" cap="flat">
                <a:solidFill>
                  <a:srgbClr val="D4A843"/>
                </a:solidFill>
                <a:prstDash val="solid"/>
                <a:round/>
              </a:ln>
              <a:effectLst/>
            </c:spPr>
          </c:marker>
          <c:dLbls>
            <c:dLbl>
              <c:idx val="2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8A6D1E"/>
                        </a:solidFill>
                      </a:rPr>
                      <a:t>10,7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2005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2010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2015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2020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2025</c:v>
                </c:pt>
              </c:strCache>
            </c:strRef>
          </c:cat>
          <c:val>
            <c:numRef>
              <c:f>Sheet1!$C$2:$C$27</c:f>
              <c:numCache>
                <c:formatCode>0.0</c:formatCode>
                <c:ptCount val="26"/>
                <c:pt idx="0">
                  <c:v>9.9</c:v>
                </c:pt>
                <c:pt idx="1">
                  <c:v>9.9</c:v>
                </c:pt>
                <c:pt idx="2">
                  <c:v>10.0</c:v>
                </c:pt>
                <c:pt idx="3">
                  <c:v>10.1</c:v>
                </c:pt>
                <c:pt idx="4">
                  <c:v>9.7</c:v>
                </c:pt>
                <c:pt idx="5">
                  <c:v>9.9</c:v>
                </c:pt>
                <c:pt idx="6">
                  <c:v>9.7</c:v>
                </c:pt>
                <c:pt idx="7">
                  <c:v>9.7</c:v>
                </c:pt>
                <c:pt idx="8">
                  <c:v>9.8</c:v>
                </c:pt>
                <c:pt idx="9">
                  <c:v>9.8</c:v>
                </c:pt>
                <c:pt idx="10">
                  <c:v>9.8</c:v>
                </c:pt>
                <c:pt idx="11">
                  <c:v>9.8</c:v>
                </c:pt>
                <c:pt idx="12">
                  <c:v>10.1</c:v>
                </c:pt>
                <c:pt idx="13">
                  <c:v>10.0</c:v>
                </c:pt>
                <c:pt idx="14">
                  <c:v>9.9</c:v>
                </c:pt>
                <c:pt idx="15">
                  <c:v>10.4</c:v>
                </c:pt>
                <c:pt idx="16">
                  <c:v>10.2</c:v>
                </c:pt>
                <c:pt idx="17">
                  <c:v>10.5</c:v>
                </c:pt>
                <c:pt idx="18">
                  <c:v>10.5</c:v>
                </c:pt>
                <c:pt idx="19">
                  <c:v>10.4</c:v>
                </c:pt>
                <c:pt idx="20">
                  <c:v>11.6</c:v>
                </c:pt>
                <c:pt idx="21">
                  <c:v>11.9</c:v>
                </c:pt>
                <c:pt idx="22">
                  <c:v>11.5</c:v>
                </c:pt>
                <c:pt idx="23">
                  <c:v>10.8</c:v>
                </c:pt>
                <c:pt idx="24">
                  <c:v>10.7</c:v>
                </c:pt>
                <c:pt idx="25">
                  <c:v>10.7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CDB-EE48-B27A-669F632A2F4F}"/>
            </c:ext>
          </c:extLst>
        </c:ser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D3B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9.0"/>
          <c:min val="8.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România</c:v>
                </c:pt>
              </c:strCache>
            </c:strRef>
          </c:tx>
          <c:spPr>
            <a:solidFill>
              <a:srgbClr val="0D3B4E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0D3B4E"/>
                        </a:solidFill>
                      </a:rPr>
                      <a:t>787,1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0D3B4E"/>
                        </a:solidFill>
                      </a:rPr>
                      <a:t>244,3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0D3B4E"/>
                        </a:solidFill>
                      </a:rPr>
                      <a:t>108,9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0D3B4E"/>
                        </a:solidFill>
                      </a:rPr>
                      <a:t>74,1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0D3B4E"/>
                        </a:solidFill>
                      </a:rPr>
                      <a:t>44,9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Aparatul circulator</c:v>
                </c:pt>
                <c:pt idx="1">
                  <c:v>Tumori</c:v>
                </c:pt>
                <c:pt idx="2">
                  <c:v>Aparatul respirator</c:v>
                </c:pt>
                <c:pt idx="3">
                  <c:v>Aparatul digestiv</c:v>
                </c:pt>
                <c:pt idx="4">
                  <c:v>Cauze externe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787.1</c:v>
                </c:pt>
                <c:pt idx="1">
                  <c:v>244.3</c:v>
                </c:pt>
                <c:pt idx="2">
                  <c:v>108.9</c:v>
                </c:pt>
                <c:pt idx="3">
                  <c:v>74.1</c:v>
                </c:pt>
                <c:pt idx="4">
                  <c:v>44.9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UE-27</c:v>
                </c:pt>
              </c:strCache>
            </c:strRef>
          </c:tx>
          <c:spPr>
            <a:solidFill>
              <a:srgbClr val="D4A843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8A6D1E"/>
                        </a:solidFill>
                      </a:rPr>
                      <a:t>313,0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8A6D1E"/>
                        </a:solidFill>
                      </a:rPr>
                      <a:t>243,0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8A6D1E"/>
                        </a:solidFill>
                      </a:rPr>
                      <a:t>75,2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8A6D1E"/>
                        </a:solidFill>
                      </a:rPr>
                      <a:t>42,8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8A6D1E"/>
                        </a:solidFill>
                      </a:rPr>
                      <a:t>49,4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Aparatul circulator</c:v>
                </c:pt>
                <c:pt idx="1">
                  <c:v>Tumori</c:v>
                </c:pt>
                <c:pt idx="2">
                  <c:v>Aparatul respirator</c:v>
                </c:pt>
                <c:pt idx="3">
                  <c:v>Aparatul digestiv</c:v>
                </c:pt>
                <c:pt idx="4">
                  <c:v>Cauze externe</c:v>
                </c:pt>
              </c:strCache>
            </c:strRef>
          </c:cat>
          <c:val>
            <c:numRef>
              <c:f>Sheet1!$C$2:$C$6</c:f>
              <c:numCache>
                <c:formatCode>0.0</c:formatCode>
                <c:ptCount val="5"/>
                <c:pt idx="0">
                  <c:v>313.0</c:v>
                </c:pt>
                <c:pt idx="1">
                  <c:v>243.0</c:v>
                </c:pt>
                <c:pt idx="2">
                  <c:v>75.2</c:v>
                </c:pt>
                <c:pt idx="3">
                  <c:v>42.8</c:v>
                </c:pt>
                <c:pt idx="4">
                  <c:v>49.4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România (‰)</c:v>
                </c:pt>
              </c:strCache>
            </c:strRef>
          </c:tx>
          <c:spPr>
            <a:ln w="28575" cap="flat">
              <a:solidFill>
                <a:srgbClr val="0F7B8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7B8A"/>
              </a:solidFill>
              <a:ln w="9525" cap="flat">
                <a:solidFill>
                  <a:srgbClr val="0F7B8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D3B4E"/>
                        </a:solidFill>
                      </a:rPr>
                      <a:t>26,9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D3B4E"/>
                        </a:solidFill>
                      </a:rPr>
                      <a:t>5,6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D3B4E"/>
                        </a:solidFill>
                      </a:rPr>
                      <a:t>6,6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Sheet1!$A$2:$A$36</c:f>
              <c:strCache>
                <c:ptCount val="35"/>
                <c:pt idx="0">
                  <c:v>1990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1995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2000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2005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2010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2015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2020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>2024</c:v>
                </c:pt>
              </c:strCache>
            </c:strRef>
          </c:cat>
          <c:val>
            <c:numRef>
              <c:f>Sheet1!$B$2:$B$36</c:f>
              <c:numCache>
                <c:formatCode>0.0</c:formatCode>
                <c:ptCount val="35"/>
                <c:pt idx="0">
                  <c:v>26.9</c:v>
                </c:pt>
                <c:pt idx="1">
                  <c:v>22.7</c:v>
                </c:pt>
                <c:pt idx="2">
                  <c:v>23.3</c:v>
                </c:pt>
                <c:pt idx="3">
                  <c:v>23.3</c:v>
                </c:pt>
                <c:pt idx="4">
                  <c:v>23.9</c:v>
                </c:pt>
                <c:pt idx="5">
                  <c:v>21.2</c:v>
                </c:pt>
                <c:pt idx="6">
                  <c:v>22.3</c:v>
                </c:pt>
                <c:pt idx="7">
                  <c:v>22.0</c:v>
                </c:pt>
                <c:pt idx="8">
                  <c:v>20.5</c:v>
                </c:pt>
                <c:pt idx="9">
                  <c:v>18.6</c:v>
                </c:pt>
                <c:pt idx="10">
                  <c:v>18.6</c:v>
                </c:pt>
                <c:pt idx="11">
                  <c:v>18.4</c:v>
                </c:pt>
                <c:pt idx="12">
                  <c:v>17.3</c:v>
                </c:pt>
                <c:pt idx="13">
                  <c:v>16.7</c:v>
                </c:pt>
                <c:pt idx="14">
                  <c:v>16.8</c:v>
                </c:pt>
                <c:pt idx="15">
                  <c:v>15.0</c:v>
                </c:pt>
                <c:pt idx="16">
                  <c:v>13.9</c:v>
                </c:pt>
                <c:pt idx="17">
                  <c:v>12.0</c:v>
                </c:pt>
                <c:pt idx="18">
                  <c:v>11.0</c:v>
                </c:pt>
                <c:pt idx="19">
                  <c:v>10.1</c:v>
                </c:pt>
                <c:pt idx="20">
                  <c:v>9.8</c:v>
                </c:pt>
                <c:pt idx="21">
                  <c:v>9.4</c:v>
                </c:pt>
                <c:pt idx="22">
                  <c:v>9.0</c:v>
                </c:pt>
                <c:pt idx="23">
                  <c:v>8.9</c:v>
                </c:pt>
                <c:pt idx="24">
                  <c:v>8.2</c:v>
                </c:pt>
                <c:pt idx="25">
                  <c:v>7.5</c:v>
                </c:pt>
                <c:pt idx="26">
                  <c:v>6.8</c:v>
                </c:pt>
                <c:pt idx="27">
                  <c:v>6.5</c:v>
                </c:pt>
                <c:pt idx="28">
                  <c:v>6.0</c:v>
                </c:pt>
                <c:pt idx="29">
                  <c:v>5.8</c:v>
                </c:pt>
                <c:pt idx="30">
                  <c:v>5.6</c:v>
                </c:pt>
                <c:pt idx="31">
                  <c:v>5.2</c:v>
                </c:pt>
                <c:pt idx="32">
                  <c:v>5.6</c:v>
                </c:pt>
                <c:pt idx="33">
                  <c:v>5.6</c:v>
                </c:pt>
                <c:pt idx="34">
                  <c:v>6.6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9D6-774B-8C32-66EB71F5FD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UE-27 (‰)</c:v>
                </c:pt>
              </c:strCache>
            </c:strRef>
          </c:tx>
          <c:spPr>
            <a:ln w="28575" cap="flat">
              <a:solidFill>
                <a:srgbClr val="D4A84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843"/>
              </a:solidFill>
              <a:ln w="9525" cap="flat">
                <a:solidFill>
                  <a:srgbClr val="D4A843"/>
                </a:solidFill>
                <a:prstDash val="solid"/>
                <a:round/>
              </a:ln>
              <a:effectLst/>
            </c:spPr>
          </c:marker>
          <c:dLbls>
            <c:dLbl>
              <c:idx val="3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8A6D1E"/>
                        </a:solidFill>
                      </a:rPr>
                      <a:t>3,5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Sheet1!$A$2:$A$36</c:f>
              <c:strCache>
                <c:ptCount val="35"/>
                <c:pt idx="0">
                  <c:v>1990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1995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2000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2005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2010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2015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2020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>2024</c:v>
                </c:pt>
              </c:strCache>
            </c:strRef>
          </c:cat>
          <c:val>
            <c:numRef>
              <c:f>Sheet1!$C$2:$C$36</c:f>
              <c:numCache>
                <c:formatCode>0.0</c:formatCode>
                <c:ptCount val="35"/>
                <c:pt idx="0">
                  <c:v>10.7</c:v>
                </c:pt>
                <c:pt idx="1">
                  <c:v>10.2</c:v>
                </c:pt>
                <c:pt idx="2">
                  <c:v>9.7</c:v>
                </c:pt>
                <c:pt idx="3">
                  <c:v>9.1</c:v>
                </c:pt>
                <c:pt idx="4">
                  <c:v>8.6</c:v>
                </c:pt>
                <c:pt idx="5">
                  <c:v>7.7</c:v>
                </c:pt>
                <c:pt idx="6">
                  <c:v>7.4</c:v>
                </c:pt>
                <c:pt idx="7">
                  <c:v>6.9</c:v>
                </c:pt>
                <c:pt idx="8">
                  <c:v>6.6</c:v>
                </c:pt>
                <c:pt idx="9">
                  <c:v>6.2</c:v>
                </c:pt>
                <c:pt idx="10">
                  <c:v>6.0</c:v>
                </c:pt>
                <c:pt idx="11">
                  <c:v>5.8</c:v>
                </c:pt>
                <c:pt idx="12">
                  <c:v>5.5</c:v>
                </c:pt>
                <c:pt idx="13">
                  <c:v>5.2</c:v>
                </c:pt>
                <c:pt idx="14">
                  <c:v>5.1</c:v>
                </c:pt>
                <c:pt idx="15">
                  <c:v>4.8</c:v>
                </c:pt>
                <c:pt idx="16">
                  <c:v>4.6</c:v>
                </c:pt>
                <c:pt idx="17">
                  <c:v>4.4</c:v>
                </c:pt>
                <c:pt idx="18">
                  <c:v>4.2</c:v>
                </c:pt>
                <c:pt idx="19">
                  <c:v>4.2</c:v>
                </c:pt>
                <c:pt idx="20">
                  <c:v>4.0</c:v>
                </c:pt>
                <c:pt idx="21">
                  <c:v>3.8</c:v>
                </c:pt>
                <c:pt idx="22">
                  <c:v>3.8</c:v>
                </c:pt>
                <c:pt idx="23">
                  <c:v>3.7</c:v>
                </c:pt>
                <c:pt idx="24">
                  <c:v>3.6</c:v>
                </c:pt>
                <c:pt idx="25">
                  <c:v>3.6</c:v>
                </c:pt>
                <c:pt idx="26">
                  <c:v>3.6</c:v>
                </c:pt>
                <c:pt idx="27">
                  <c:v>3.5</c:v>
                </c:pt>
                <c:pt idx="28">
                  <c:v>3.4</c:v>
                </c:pt>
                <c:pt idx="29">
                  <c:v>3.4</c:v>
                </c:pt>
                <c:pt idx="30">
                  <c:v>3.3</c:v>
                </c:pt>
                <c:pt idx="31">
                  <c:v>3.2</c:v>
                </c:pt>
                <c:pt idx="32">
                  <c:v>3.3</c:v>
                </c:pt>
                <c:pt idx="33">
                  <c:v>3.3</c:v>
                </c:pt>
                <c:pt idx="34">
                  <c:v>3.5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9D6-774B-8C32-66EB71F5FD9E}"/>
            </c:ext>
          </c:extLst>
        </c:ser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D3B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.0"/>
          <c:min val="0.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sz="1000"/>
              <a:t>Mortalitatea infantilă pe medii de rezidență (‰, 2025)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România</c:v>
                </c:pt>
              </c:strCache>
            </c:strRef>
          </c:tx>
          <c:spPr>
            <a:solidFill>
              <a:srgbClr val="10805A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1A3C34"/>
                        </a:solidFill>
                      </a:rPr>
                      <a:t>6,0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1A3C34"/>
                        </a:solidFill>
                      </a:rPr>
                      <a:t>5,1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1A3C34"/>
                        </a:solidFill>
                      </a:rPr>
                      <a:t>6,8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Total</c:v>
                </c:pt>
                <c:pt idx="1">
                  <c:v>Urban</c:v>
                </c:pt>
                <c:pt idx="2">
                  <c:v>Rural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6.0</c:v>
                </c:pt>
                <c:pt idx="1">
                  <c:v>5.1</c:v>
                </c:pt>
                <c:pt idx="2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A9-544E-A3AD-1DE65DF7F04C}"/>
            </c:ext>
          </c:extLst>
        </c:ser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C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.0"/>
          <c:min val="0.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sz="900"/>
              <a:t>Sursă comună punctiformă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Sursă punctuală</c:v>
                </c:pt>
              </c:strCache>
            </c:strRef>
          </c:tx>
          <c:spPr>
            <a:solidFill>
              <a:srgbClr val="10805A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Z1</c:v>
                </c:pt>
                <c:pt idx="1">
                  <c:v>Z2</c:v>
                </c:pt>
                <c:pt idx="2">
                  <c:v>Z3</c:v>
                </c:pt>
                <c:pt idx="3">
                  <c:v>Z4</c:v>
                </c:pt>
                <c:pt idx="4">
                  <c:v>Z5</c:v>
                </c:pt>
                <c:pt idx="5">
                  <c:v>Z6</c:v>
                </c:pt>
                <c:pt idx="6">
                  <c:v>Z7</c:v>
                </c:pt>
                <c:pt idx="7">
                  <c:v>Z8</c:v>
                </c:pt>
                <c:pt idx="8">
                  <c:v>Z9</c:v>
                </c:pt>
                <c:pt idx="9">
                  <c:v>Z10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3</c:v>
                </c:pt>
                <c:pt idx="2">
                  <c:v>8</c:v>
                </c:pt>
                <c:pt idx="3">
                  <c:v>15</c:v>
                </c:pt>
                <c:pt idx="4">
                  <c:v>12</c:v>
                </c:pt>
                <c:pt idx="5">
                  <c:v>6</c:v>
                </c:pt>
                <c:pt idx="6">
                  <c:v>3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25-3343-977F-4DFDECEAF10E}"/>
            </c:ext>
          </c:extLst>
        </c:ser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sz="900"/>
              <a:t>Sursă comună continuă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Sursă continuă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Z1</c:v>
                </c:pt>
                <c:pt idx="1">
                  <c:v>Z2</c:v>
                </c:pt>
                <c:pt idx="2">
                  <c:v>Z3</c:v>
                </c:pt>
                <c:pt idx="3">
                  <c:v>Z4</c:v>
                </c:pt>
                <c:pt idx="4">
                  <c:v>Z5</c:v>
                </c:pt>
                <c:pt idx="5">
                  <c:v>Z6</c:v>
                </c:pt>
                <c:pt idx="6">
                  <c:v>Z7</c:v>
                </c:pt>
                <c:pt idx="7">
                  <c:v>Z8</c:v>
                </c:pt>
                <c:pt idx="8">
                  <c:v>Z9</c:v>
                </c:pt>
                <c:pt idx="9">
                  <c:v>Z10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6</c:v>
                </c:pt>
                <c:pt idx="6">
                  <c:v>7</c:v>
                </c:pt>
                <c:pt idx="7">
                  <c:v>5</c:v>
                </c:pt>
                <c:pt idx="8">
                  <c:v>6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10-D342-850E-6E11F4521E74}"/>
            </c:ext>
          </c:extLst>
        </c:ser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sz="900"/>
              <a:t>Transmitere de la persoană la persoană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Propagare P-P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Z1</c:v>
                </c:pt>
                <c:pt idx="1">
                  <c:v>Z2</c:v>
                </c:pt>
                <c:pt idx="2">
                  <c:v>Z3</c:v>
                </c:pt>
                <c:pt idx="3">
                  <c:v>Z4</c:v>
                </c:pt>
                <c:pt idx="4">
                  <c:v>Z5</c:v>
                </c:pt>
                <c:pt idx="5">
                  <c:v>Z6</c:v>
                </c:pt>
                <c:pt idx="6">
                  <c:v>Z7</c:v>
                </c:pt>
                <c:pt idx="7">
                  <c:v>Z8</c:v>
                </c:pt>
                <c:pt idx="8">
                  <c:v>Z9</c:v>
                </c:pt>
                <c:pt idx="9">
                  <c:v>Z10</c:v>
                </c:pt>
                <c:pt idx="10">
                  <c:v>Z11</c:v>
                </c:pt>
                <c:pt idx="11">
                  <c:v>Z12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4">
                  <c:v>2</c:v>
                </c:pt>
                <c:pt idx="5">
                  <c:v>5</c:v>
                </c:pt>
                <c:pt idx="6">
                  <c:v>3</c:v>
                </c:pt>
                <c:pt idx="7">
                  <c:v>1</c:v>
                </c:pt>
                <c:pt idx="8">
                  <c:v>3</c:v>
                </c:pt>
                <c:pt idx="9">
                  <c:v>7</c:v>
                </c:pt>
                <c:pt idx="10">
                  <c:v>4</c:v>
                </c:pt>
                <c:pt idx="1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32-2840-AB46-85689AF99330}"/>
            </c:ext>
          </c:extLst>
        </c:ser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Cazuri de rujeolă raportate la OMS</c:v>
                </c:pt>
              </c:strCache>
            </c:strRef>
          </c:tx>
          <c:spPr>
            <a:solidFill>
              <a:srgbClr val="10805A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A3C34"/>
                        </a:solidFill>
                      </a:rPr>
                      <a:t>2 435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A3C34"/>
                        </a:solidFill>
                      </a:rPr>
                      <a:t>9 076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A3C34"/>
                        </a:solidFill>
                      </a:rPr>
                      <a:t>6 407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A3C34"/>
                        </a:solidFill>
                      </a:rPr>
                      <a:t>3 900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A3C34"/>
                        </a:solidFill>
                      </a:rPr>
                      <a:t>1 004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A3C34"/>
                        </a:solidFill>
                      </a:rPr>
                      <a:t>3 677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A3C34"/>
                        </a:solidFill>
                      </a:rPr>
                      <a:t>25 505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A3C34"/>
                        </a:solidFill>
                      </a:rPr>
                      <a:t>6 837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2435.0</c:v>
                </c:pt>
                <c:pt idx="1">
                  <c:v>9076.0</c:v>
                </c:pt>
                <c:pt idx="2">
                  <c:v>6407.0</c:v>
                </c:pt>
                <c:pt idx="3">
                  <c:v>3900.0</c:v>
                </c:pt>
                <c:pt idx="4">
                  <c:v>1004.0</c:v>
                </c:pt>
                <c:pt idx="5">
                  <c:v>2.0</c:v>
                </c:pt>
                <c:pt idx="6">
                  <c:v>17.0</c:v>
                </c:pt>
                <c:pt idx="7">
                  <c:v>3677.0</c:v>
                </c:pt>
                <c:pt idx="8">
                  <c:v>25505.0</c:v>
                </c:pt>
                <c:pt idx="9">
                  <c:v>6837.0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BD-FD43-8251-0ECC466317F8}"/>
            </c:ext>
          </c:extLst>
        </c:ser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785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chart" Target="../charts/char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chart" Target="../charts/char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chart" Target="../charts/char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chart" Target="../charts/char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chart" Target="../charts/chart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chart" Target="../charts/chart1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7315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SĂNĂTATEA PUBLICĂ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SECOLUL XXI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concepte la acțiune</a:t>
            </a:r>
            <a:endParaRPr lang="en-US" sz="1800" dirty="0"/>
          </a:p>
        </p:txBody>
      </p:sp>
      <p:sp>
        <p:nvSpPr>
          <p:cNvPr id="9004" name="Linie editoriala"/>
          <p:cNvSpPr/>
          <p:nvPr/>
        </p:nvSpPr>
        <p:spPr>
          <a:xfrm>
            <a:off x="914400" y="3320415"/>
            <a:ext cx="822960" cy="30861"/>
          </a:xfrm>
          <a:prstGeom prst="rect">
            <a:avLst/>
          </a:prstGeom>
          <a:solidFill>
            <a:srgbClr val="27D3BE"/>
          </a:solidFill>
          <a:ln>
            <a:noFill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7" name="Text 4"/>
          <p:cNvSpPr/>
          <p:nvPr/>
        </p:nvSpPr>
        <p:spPr>
          <a:xfrm>
            <a:off x="1097280" y="3474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 1 — Sănătate publică și management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Asistență medicală generală · Anul IV · Semestrul 7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„Iuliu Hațieganu” Cluj-Napoca · 2026–2027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veți ști la finalul acestui curs?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Obiective de învățare (C1, A1)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4114800" cy="384048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54864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Descrie conceptele fundamentale ale sănătății publice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4114800" cy="384048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54864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0" name="Text 7"/>
          <p:cNvSpPr/>
          <p:nvPr/>
        </p:nvSpPr>
        <p:spPr>
          <a:xfrm>
            <a:off x="640080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Explică modelul Dahlgren–Whitehead al determinanților sănătății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4114800" cy="384048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2" name="Shape 9"/>
          <p:cNvSpPr/>
          <p:nvPr/>
        </p:nvSpPr>
        <p:spPr>
          <a:xfrm>
            <a:off x="457200" y="2377440"/>
            <a:ext cx="54864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3" name="Text 10"/>
          <p:cNvSpPr/>
          <p:nvPr/>
        </p:nvSpPr>
        <p:spPr>
          <a:xfrm>
            <a:off x="640080" y="2377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Interpretează indicatorii de mortalitate, morbiditate și speranță de viață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834640"/>
            <a:ext cx="4114800" cy="384048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54864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6" name="Text 13"/>
          <p:cNvSpPr/>
          <p:nvPr/>
        </p:nvSpPr>
        <p:spPr>
          <a:xfrm>
            <a:off x="640080" y="2834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Analizează date reale (INS, Eurostat, OMS) pentru România și UE</a:t>
            </a:r>
            <a:endParaRPr lang="en-US" sz="1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00584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9496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Agenda cursului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029200" y="1463040"/>
            <a:ext cx="320040" cy="384048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0" name="Text 16"/>
          <p:cNvSpPr/>
          <p:nvPr/>
        </p:nvSpPr>
        <p:spPr>
          <a:xfrm>
            <a:off x="5029200" y="14630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4068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Deschidere și activare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440680" y="16642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~6 min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5029200" y="1920240"/>
            <a:ext cx="320040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4" name="Text 20"/>
          <p:cNvSpPr/>
          <p:nvPr/>
        </p:nvSpPr>
        <p:spPr>
          <a:xfrm>
            <a:off x="5029200" y="19202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4068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Concepte fundamentale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440680" y="21214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~14 min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029200" y="2377440"/>
            <a:ext cx="320040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8" name="Text 24"/>
          <p:cNvSpPr/>
          <p:nvPr/>
        </p:nvSpPr>
        <p:spPr>
          <a:xfrm>
            <a:off x="5029200" y="23774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44068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Determinanții sănătății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5440680" y="25786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~16 min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5029200" y="2834640"/>
            <a:ext cx="320040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32" name="Text 28"/>
          <p:cNvSpPr/>
          <p:nvPr/>
        </p:nvSpPr>
        <p:spPr>
          <a:xfrm>
            <a:off x="5029200" y="28346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440680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Indicatorii stării de sănătate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440680" y="30358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~14 min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5029200" y="3291840"/>
            <a:ext cx="320040" cy="384048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36" name="Text 32"/>
          <p:cNvSpPr/>
          <p:nvPr/>
        </p:nvSpPr>
        <p:spPr>
          <a:xfrm>
            <a:off x="5029200" y="32918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544068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a II-a: epidemiologie aplicată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5440680" y="34930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~50 min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ECEAE4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40" name="Text 36"/>
          <p:cNvSpPr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Competențe vizate: C1 — Recunoașterea conceptelor SP  ·  A1 — Aplicarea metodelor de caracterizare  ·  RA1 — Evaluarea nevoilor de sănătate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42" name="Text 38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/ 71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sănătatea publică</a:t>
            </a:r>
            <a:endParaRPr lang="en-US" sz="2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dumneavoastră?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0" y="2926080"/>
            <a:ext cx="3657600" cy="1097280"/>
          </a:xfrm>
          <a:prstGeom prst="rect">
            <a:avLst/>
          </a:prstGeom>
          <a:solidFill>
            <a:srgbClr val="0E7C6B">
              <a:alpha val="30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2"/>
          <p:cNvSpPr/>
          <p:nvPr/>
        </p:nvSpPr>
        <p:spPr>
          <a:xfrm>
            <a:off x="2743200" y="2926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Codul de acces Mentimeter este afișat de cadrul didactic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Accesați menti.com și introduceți codul</a:t>
            </a:r>
            <a:endParaRPr lang="en-US" sz="14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Nor de cuvinte: scrieți primul cuvânt care vă vine în minte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/ 71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Ghiciți cifra!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a fost speranța de viață la naștere în România în 2024?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3931920" cy="8229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457200" cy="8229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72,8 ani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663440" y="1737360"/>
            <a:ext cx="3931920" cy="8229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0" name="Shape 7"/>
          <p:cNvSpPr/>
          <p:nvPr/>
        </p:nvSpPr>
        <p:spPr>
          <a:xfrm>
            <a:off x="4663440" y="1737360"/>
            <a:ext cx="457200" cy="8229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1" name="Text 8"/>
          <p:cNvSpPr/>
          <p:nvPr/>
        </p:nvSpPr>
        <p:spPr>
          <a:xfrm>
            <a:off x="4663440" y="1737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212080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76,5 ani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57200" y="2743200"/>
            <a:ext cx="3931920" cy="8229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4" name="Shape 11"/>
          <p:cNvSpPr/>
          <p:nvPr/>
        </p:nvSpPr>
        <p:spPr>
          <a:xfrm>
            <a:off x="457200" y="2743200"/>
            <a:ext cx="457200" cy="8229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5" name="Text 12"/>
          <p:cNvSpPr/>
          <p:nvPr/>
        </p:nvSpPr>
        <p:spPr>
          <a:xfrm>
            <a:off x="457200" y="2743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05840" y="2743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80,3 ani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663440" y="2743200"/>
            <a:ext cx="3931920" cy="8229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8" name="Shape 15"/>
          <p:cNvSpPr/>
          <p:nvPr/>
        </p:nvSpPr>
        <p:spPr>
          <a:xfrm>
            <a:off x="4663440" y="2743200"/>
            <a:ext cx="457200" cy="8229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9" name="Text 16"/>
          <p:cNvSpPr/>
          <p:nvPr/>
        </p:nvSpPr>
        <p:spPr>
          <a:xfrm>
            <a:off x="4663440" y="2743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212080" y="2743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81,5 ani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demo_mlexpec, 2024; valori estimate (e) sau estimate și provizorii (ep)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23" name="Text 2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/ 71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Dincolo de patul pacientului: perspectiva populațională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20116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solidFill>
            <a:srgbClr val="585A64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Nursing clinic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Focus pe individ și familie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 → tratament → îngrijire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Relație terapeutică individuală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Indicatori: parametri vitali, evoluție clinică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20116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Nursing de sănătate publică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Focus pe populație și comunitate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Prevenție → promovare → supraveghere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Abordare multidisciplinară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Indicatori: rate, tendințe, inegalități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1005840"/>
          </a:xfrm>
          <a:prstGeom prst="rect">
            <a:avLst/>
          </a:prstGeom>
          <a:solidFill>
            <a:srgbClr val="FF4757">
              <a:alpha val="1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54864" cy="100584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9" name="Text 17"/>
          <p:cNvSpPr/>
          <p:nvPr/>
        </p:nvSpPr>
        <p:spPr>
          <a:xfrm>
            <a:off x="68580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Exemplu: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520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asistent medical din cabinetul de medicină de familie observă mai multe cazuri de boală digestivă după același eveniment → gândire epidemiologică → notificare la DSP → investigarea focarului. Aceasta este sănătate publică!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 / 71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Concepte fundamentale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 sănătății publice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SECȚIUNEA B · Definiții, cadrul OMS, funcțiile esențiale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 / 71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Winslow (1920) la serviciile esențiale revizuite (2020)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097280" y="2286000"/>
            <a:ext cx="6949440" cy="36576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4" name="Shape 2"/>
          <p:cNvSpPr/>
          <p:nvPr/>
        </p:nvSpPr>
        <p:spPr>
          <a:xfrm>
            <a:off x="1554480" y="2148840"/>
            <a:ext cx="274320" cy="27432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1920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C.E.A. Winslow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Știința și arta de a preveni boala, a prelungi viața și a promova sănătatea, prin eforturile organizate ale comunității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2148840"/>
            <a:ext cx="274320" cy="27432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9" name="Text 7"/>
          <p:cNvSpPr/>
          <p:nvPr/>
        </p:nvSpPr>
        <p:spPr>
          <a:xfrm>
            <a:off x="3108960" y="1097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1948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 – Constituția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2560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Sănătatea: stare de complet bine fizic, mintal și social, nu doar absența bolii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2148840"/>
            <a:ext cx="274320" cy="27432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5120640" y="1097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1988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IOM – The Future of Public Health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560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funcții de bază: evaluare, dezvoltarea politicilor, asigurare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2148840"/>
            <a:ext cx="274320" cy="27432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7" name="Text 15"/>
          <p:cNvSpPr/>
          <p:nvPr/>
        </p:nvSpPr>
        <p:spPr>
          <a:xfrm>
            <a:off x="6766560" y="1097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Serviciile esențiale revizuite (PHNCI, de Beaumont, cu CDC)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2560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servicii esențiale, revizuite cu echitatea în centru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Winslow (1920); Constituția OMS (adoptată în 1946, în vigoare din 1948); IOM (1988); CDC, serviciile esențiale (1994, revizuite în 2020)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 / 71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zece servicii esențiale (pentru aprofundare)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21280" cy="54864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62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CUNOAȘTERE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21280" cy="457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" cy="4572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1) Evaluare și monitorizare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621280" cy="457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4864" cy="4572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2) Investigarea problemelor și pericolelor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2621280" cy="457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54864" cy="4572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3) Comunicare, informare, educare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61360" y="1005840"/>
            <a:ext cx="2621280" cy="54864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5" name="Text 13"/>
          <p:cNvSpPr/>
          <p:nvPr/>
        </p:nvSpPr>
        <p:spPr>
          <a:xfrm>
            <a:off x="3261360" y="1005840"/>
            <a:ext cx="262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POLITICI ȘI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COMUNITATE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61360" y="1691640"/>
            <a:ext cx="2621280" cy="457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7" name="Shape 15"/>
          <p:cNvSpPr/>
          <p:nvPr/>
        </p:nvSpPr>
        <p:spPr>
          <a:xfrm>
            <a:off x="3261360" y="1691640"/>
            <a:ext cx="54864" cy="45720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8" name="Text 16"/>
          <p:cNvSpPr/>
          <p:nvPr/>
        </p:nvSpPr>
        <p:spPr>
          <a:xfrm>
            <a:off x="3398520" y="169164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4) Mobilizarea comunităților și parteneriatelor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61360" y="2240280"/>
            <a:ext cx="2621280" cy="457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0" name="Shape 18"/>
          <p:cNvSpPr/>
          <p:nvPr/>
        </p:nvSpPr>
        <p:spPr>
          <a:xfrm>
            <a:off x="3261360" y="2240280"/>
            <a:ext cx="54864" cy="45720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1" name="Text 19"/>
          <p:cNvSpPr/>
          <p:nvPr/>
        </p:nvSpPr>
        <p:spPr>
          <a:xfrm>
            <a:off x="3398520" y="224028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5) Politici, planuri și legi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61360" y="2788920"/>
            <a:ext cx="2621280" cy="457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3" name="Shape 21"/>
          <p:cNvSpPr/>
          <p:nvPr/>
        </p:nvSpPr>
        <p:spPr>
          <a:xfrm>
            <a:off x="3261360" y="2788920"/>
            <a:ext cx="54864" cy="45720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4" name="Text 22"/>
          <p:cNvSpPr/>
          <p:nvPr/>
        </p:nvSpPr>
        <p:spPr>
          <a:xfrm>
            <a:off x="3398520" y="278892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6) Acțiuni legale și de reglementare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65520" y="1005840"/>
            <a:ext cx="2621280" cy="54864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6" name="Text 24"/>
          <p:cNvSpPr/>
          <p:nvPr/>
        </p:nvSpPr>
        <p:spPr>
          <a:xfrm>
            <a:off x="6065520" y="1005840"/>
            <a:ext cx="262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SISTEM ȘI RESURSE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65520" y="1691640"/>
            <a:ext cx="2621280" cy="457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8" name="Shape 26"/>
          <p:cNvSpPr/>
          <p:nvPr/>
        </p:nvSpPr>
        <p:spPr>
          <a:xfrm>
            <a:off x="6065520" y="1691640"/>
            <a:ext cx="54864" cy="4572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9" name="Text 27"/>
          <p:cNvSpPr/>
          <p:nvPr/>
        </p:nvSpPr>
        <p:spPr>
          <a:xfrm>
            <a:off x="6202680" y="169164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7) Acces echitabil la servicii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65520" y="2240280"/>
            <a:ext cx="2621280" cy="457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31" name="Shape 29"/>
          <p:cNvSpPr/>
          <p:nvPr/>
        </p:nvSpPr>
        <p:spPr>
          <a:xfrm>
            <a:off x="6065520" y="2240280"/>
            <a:ext cx="54864" cy="4572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32" name="Text 30"/>
          <p:cNvSpPr/>
          <p:nvPr/>
        </p:nvSpPr>
        <p:spPr>
          <a:xfrm>
            <a:off x="6202680" y="224028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8) Forță de muncă diversă și competentă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65520" y="2788920"/>
            <a:ext cx="2621280" cy="457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34" name="Shape 32"/>
          <p:cNvSpPr/>
          <p:nvPr/>
        </p:nvSpPr>
        <p:spPr>
          <a:xfrm>
            <a:off x="6065520" y="2788920"/>
            <a:ext cx="54864" cy="4572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35" name="Text 33"/>
          <p:cNvSpPr/>
          <p:nvPr/>
        </p:nvSpPr>
        <p:spPr>
          <a:xfrm>
            <a:off x="6202680" y="278892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9) Evaluare, cercetare, calitate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11121A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37" name="Text 35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10) Infrastructură organizațională solidă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aprofundare (nu se evaluează). Sursa: CDC, serviciile esențiale de sănătate publică (1994, revizuite în 2020); grupările din antet sunt tematice</a:t>
            </a:r>
            <a:endParaRPr lang="en-US" sz="800" i="1" dirty="0"/>
          </a:p>
        </p:txBody>
      </p:sp>
      <p:sp>
        <p:nvSpPr>
          <p:cNvPr id="39" name="Shape 3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40" name="Text 38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 / 71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Principiile asistenței de sănătate publică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554480" cy="25603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548640" cy="548640"/>
          </a:xfrm>
          <a:prstGeom prst="ellipse">
            <a:avLst/>
          </a:prstGeom>
          <a:solidFill>
            <a:srgbClr val="0E7C6B">
              <a:alpha val="1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Grupuri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populaționale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Focalizarea pe populație, nu pe individ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011680" y="1005840"/>
            <a:ext cx="1554480" cy="25603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9" name="Shape 6"/>
          <p:cNvSpPr/>
          <p:nvPr/>
        </p:nvSpPr>
        <p:spPr>
          <a:xfrm>
            <a:off x="2514600" y="1143000"/>
            <a:ext cx="548640" cy="548640"/>
          </a:xfrm>
          <a:prstGeom prst="ellipse">
            <a:avLst/>
          </a:prstGeom>
          <a:solidFill>
            <a:srgbClr val="0E7C6B">
              <a:alpha val="1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2344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0312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Prevenție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primară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10312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Prevenirea bolii înaintea apariției ei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749040" y="1005840"/>
            <a:ext cx="1554480" cy="25603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4" name="Shape 10"/>
          <p:cNvSpPr/>
          <p:nvPr/>
        </p:nvSpPr>
        <p:spPr>
          <a:xfrm>
            <a:off x="4251960" y="1143000"/>
            <a:ext cx="548640" cy="548640"/>
          </a:xfrm>
          <a:prstGeom prst="ellipse">
            <a:avLst/>
          </a:prstGeom>
          <a:solidFill>
            <a:srgbClr val="0E7C6B">
              <a:alpha val="1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2344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4048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Determinanții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sănătății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84048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Sociali, de mediu, comportamentali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0" y="1005840"/>
            <a:ext cx="1554480" cy="25603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9" name="Shape 14"/>
          <p:cNvSpPr/>
          <p:nvPr/>
        </p:nvSpPr>
        <p:spPr>
          <a:xfrm>
            <a:off x="5989320" y="1143000"/>
            <a:ext cx="548640" cy="548640"/>
          </a:xfrm>
          <a:prstGeom prst="ellipse">
            <a:avLst/>
          </a:prstGeom>
          <a:solidFill>
            <a:srgbClr val="0E7C6B">
              <a:alpha val="1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12344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Abordare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multidisciplinară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57784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Intersectorială, dincolo de sistemul medical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223760" y="1005840"/>
            <a:ext cx="1554480" cy="25603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4" name="Shape 18"/>
          <p:cNvSpPr/>
          <p:nvPr/>
        </p:nvSpPr>
        <p:spPr>
          <a:xfrm>
            <a:off x="7726680" y="1143000"/>
            <a:ext cx="548640" cy="548640"/>
          </a:xfrm>
          <a:prstGeom prst="ellipse">
            <a:avLst/>
          </a:prstGeom>
          <a:solidFill>
            <a:srgbClr val="0E7C6B">
              <a:alpha val="1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123444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Decizii bazate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dovezi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731520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mai bune dovezi științifice existente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nr. 95/2006 așază la baza asistenței de sănătate publică abordarea multidisciplinară și intersectorială, preocuparea pentru determinanții sănătății și deciziile bazate pe dovezi.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30" name="Text 2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 / 71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Alma-Ata (1978) la Astana (2018)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2194560"/>
            <a:ext cx="7315200" cy="36576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4" name="Shape 2"/>
          <p:cNvSpPr/>
          <p:nvPr/>
        </p:nvSpPr>
        <p:spPr>
          <a:xfrm>
            <a:off x="1508760" y="2057400"/>
            <a:ext cx="274320" cy="27432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1978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Declarația de la Alma-Ata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„Sănătate pentru toți”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asistența medicală primară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057400"/>
            <a:ext cx="274320" cy="27432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9" name="Text 7"/>
          <p:cNvSpPr/>
          <p:nvPr/>
        </p:nvSpPr>
        <p:spPr>
          <a:xfrm>
            <a:off x="2834640" y="1097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1986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Carta de la Ottawa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468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Promovarea sănătății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sănătatea, resursă a vieții de zi cu zi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49240" y="2057400"/>
            <a:ext cx="274320" cy="27432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3" name="Text 11"/>
          <p:cNvSpPr/>
          <p:nvPr/>
        </p:nvSpPr>
        <p:spPr>
          <a:xfrm>
            <a:off x="4754880" y="1097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Agenda 2030 (ONU)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468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 3: viață sănătoasă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și bunăstare pentru toți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69480" y="2057400"/>
            <a:ext cx="274320" cy="27432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7" name="Text 15"/>
          <p:cNvSpPr/>
          <p:nvPr/>
        </p:nvSpPr>
        <p:spPr>
          <a:xfrm>
            <a:off x="6675120" y="1097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Declarația de la Astana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468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Reafirmarea asistenței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medicale primare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 (1978, 1986, 2018); ONU, Agenda 2030 (2015), obiectivul 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 / 71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Noua sănătate publică: Carta de la Ottawa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554480" cy="25603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548640" cy="548640"/>
          </a:xfrm>
          <a:prstGeom prst="ellipse">
            <a:avLst/>
          </a:prstGeom>
          <a:solidFill>
            <a:srgbClr val="0E7C6B">
              <a:alpha val="1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Politici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publice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Sănătatea pe agenda tuturor sectoarelor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011680" y="1005840"/>
            <a:ext cx="1554480" cy="25603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9" name="Shape 6"/>
          <p:cNvSpPr/>
          <p:nvPr/>
        </p:nvSpPr>
        <p:spPr>
          <a:xfrm>
            <a:off x="2514600" y="1143000"/>
            <a:ext cx="548640" cy="548640"/>
          </a:xfrm>
          <a:prstGeom prst="ellipse">
            <a:avLst/>
          </a:prstGeom>
          <a:solidFill>
            <a:srgbClr val="0E7C6B">
              <a:alpha val="1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39" y="12344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0312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favorabile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10312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Condiții de viață și de muncă sigure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749040" y="1005840"/>
            <a:ext cx="1554480" cy="25603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4" name="Shape 10"/>
          <p:cNvSpPr/>
          <p:nvPr/>
        </p:nvSpPr>
        <p:spPr>
          <a:xfrm>
            <a:off x="4251960" y="1143000"/>
            <a:ext cx="548640" cy="548640"/>
          </a:xfrm>
          <a:prstGeom prst="ellipse">
            <a:avLst/>
          </a:prstGeom>
          <a:solidFill>
            <a:srgbClr val="0E7C6B">
              <a:alpha val="1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2344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4048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Acțiune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comunitară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84048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Comunitățile își stabilesc prioritățile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0" y="1005840"/>
            <a:ext cx="1554480" cy="25603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9" name="Shape 14"/>
          <p:cNvSpPr/>
          <p:nvPr/>
        </p:nvSpPr>
        <p:spPr>
          <a:xfrm>
            <a:off x="5989320" y="1143000"/>
            <a:ext cx="548640" cy="548640"/>
          </a:xfrm>
          <a:prstGeom prst="ellipse">
            <a:avLst/>
          </a:prstGeom>
          <a:solidFill>
            <a:srgbClr val="0E7C6B">
              <a:alpha val="1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59" y="12344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Deprinderi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personale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57784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Informare, educație pentru sănătate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223760" y="1005840"/>
            <a:ext cx="1554480" cy="25603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4" name="Shape 18"/>
          <p:cNvSpPr/>
          <p:nvPr/>
        </p:nvSpPr>
        <p:spPr>
          <a:xfrm>
            <a:off x="7726680" y="1143000"/>
            <a:ext cx="548640" cy="548640"/>
          </a:xfrm>
          <a:prstGeom prst="ellipse">
            <a:avLst/>
          </a:prstGeom>
          <a:solidFill>
            <a:srgbClr val="0E7C6B">
              <a:alpha val="1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19" y="123444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Reorientarea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serviciilor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731520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Dincolo de îngrijirea curativă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modalități (pledoaria, abilitarea, medierea) și cinci arii de acțiune; pentru aprofundare: personalul de sănătate are o responsabilitate majoră în mediere. Surse: OMS Europa, Carta de la Ottawa (1986); OMS, glosarele promovării sănătății (1998, 2021).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30" name="Text 2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 / 71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și UE-27: tabloul de bord al sănătății publice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2926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1430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Speranța de viață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naștere (2024)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1737360" cy="73152"/>
          </a:xfrm>
          <a:prstGeom prst="rect">
            <a:avLst/>
          </a:prstGeom>
          <a:solidFill>
            <a:srgbClr val="0E7C6B">
              <a:alpha val="50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7" name="Text 4"/>
          <p:cNvSpPr/>
          <p:nvPr/>
        </p:nvSpPr>
        <p:spPr>
          <a:xfrm>
            <a:off x="548640" y="2423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76,5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 UE-27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4864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81,5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560320" y="1005840"/>
            <a:ext cx="1920240" cy="2926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1430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 tratabilă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(la 100 000, 2023)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651760" y="2286000"/>
            <a:ext cx="1737360" cy="73152"/>
          </a:xfrm>
          <a:prstGeom prst="rect">
            <a:avLst/>
          </a:prstGeom>
          <a:solidFill>
            <a:srgbClr val="0E7C6B">
              <a:alpha val="50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5" name="Text 11"/>
          <p:cNvSpPr/>
          <p:nvPr/>
        </p:nvSpPr>
        <p:spPr>
          <a:xfrm>
            <a:off x="2651760" y="2423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265176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199,7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2651760" y="31546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 UE-27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2651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86,8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4663440" y="1005840"/>
            <a:ext cx="1920240" cy="2926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1430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5488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Cheltuieli cu sănătatea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(% din PIB, 2024)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2286000"/>
            <a:ext cx="1737360" cy="73152"/>
          </a:xfrm>
          <a:prstGeom prst="rect">
            <a:avLst/>
          </a:prstGeom>
          <a:solidFill>
            <a:srgbClr val="0E7C6B">
              <a:alpha val="50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3" name="Text 18"/>
          <p:cNvSpPr/>
          <p:nvPr/>
        </p:nvSpPr>
        <p:spPr>
          <a:xfrm>
            <a:off x="4754880" y="2423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475488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6,2%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4754880" y="31546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 UE-27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475488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10,2%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6766560" y="1005840"/>
            <a:ext cx="1920240" cy="2926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14300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800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infantilă (2024)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858000" y="2286000"/>
            <a:ext cx="1737360" cy="73152"/>
          </a:xfrm>
          <a:prstGeom prst="rect">
            <a:avLst/>
          </a:prstGeom>
          <a:solidFill>
            <a:srgbClr val="0E7C6B">
              <a:alpha val="50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31" name="Text 25"/>
          <p:cNvSpPr/>
          <p:nvPr/>
        </p:nvSpPr>
        <p:spPr>
          <a:xfrm>
            <a:off x="6858000" y="2423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685800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6,6‰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6858000" y="31546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 UE-27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68580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3,5‰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Eurostat — demo_mlexpec, demo_minfind, hlth_sha11_hf (2024); hlth_cd_apr (2023). Speranța de viață: RO estimată (e), UE estimată și provizorie (ep)</a:t>
            </a:r>
            <a:endParaRPr lang="en-US" sz="700" dirty="0"/>
          </a:p>
        </p:txBody>
      </p:sp>
      <p:sp>
        <p:nvSpPr>
          <p:cNvPr id="36" name="Shape 3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37" name="Text 3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 / 71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face sănătate publică în România? Harta actorilor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0" y="1005840"/>
            <a:ext cx="3657600" cy="502920"/>
          </a:xfrm>
          <a:prstGeom prst="rect">
            <a:avLst/>
          </a:prstGeom>
          <a:solidFill>
            <a:srgbClr val="11121A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4" name="Text 2"/>
          <p:cNvSpPr/>
          <p:nvPr/>
        </p:nvSpPr>
        <p:spPr>
          <a:xfrm>
            <a:off x="2743200" y="1005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Ministerul Sănătății — autoritatea centrală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57400" y="1691640"/>
            <a:ext cx="5029200" cy="502920"/>
          </a:xfrm>
          <a:prstGeom prst="rect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7" name="Text 5"/>
          <p:cNvSpPr/>
          <p:nvPr/>
        </p:nvSpPr>
        <p:spPr>
          <a:xfrm>
            <a:off x="20574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DSP județene și a municipiului București — servicii deconcentrate ale 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377440"/>
            <a:ext cx="6400800" cy="502920"/>
          </a:xfrm>
          <a:prstGeom prst="rect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INSP, cu CNSCBT — îndrumare tehnică și metodologică, supraveghere, Registrul unic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FF4757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Furnizorii de servicii medicale: cabinete de medicina familiei, spitale, laboratoare — raportează la DSP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261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Legea nr. 95/2006, art. 2 alin. (7), art. 11–13 și art. 276–277; Legea nr. 185/2017; OUG nr. 144/2008; OUG nr. 18/2017; HG nr. 657/2022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 / 71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457200" y="3566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Finanțare: CNAS și casele de asigurări de sănătate (CJAS) · Calitate: ANMCS · Profesie: OAMGMAMR · Comunitate: asistenți medicali comunitari, mediatori sanitari, moașe și, în localitățile izolate, medici</a:t>
            </a:r>
            <a:endParaRPr lang="en-US" sz="700" dirty="0"/>
          </a:p>
          <a:p>
            <a:pPr marL="0" indent="0">
              <a:buNone/>
            </a:pPr>
            <a:r>
              <a:rPr lang="en-US" sz="9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Răspund, potrivit legii, și ministerele cu rețea sanitară proprie și autoritățile locale; INS furnizează numitorii demografici, dar nu face parte din rețeaua MS.</a:t>
            </a:r>
            <a:endParaRPr lang="en-US" sz="700" dirty="0"/>
          </a:p>
          <a:p>
            <a:pPr marL="0" indent="0">
              <a:buNone/>
            </a:pPr>
            <a:r>
              <a:rPr lang="en-US" sz="9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Activitate, trei minute: trasați drumul informației pentru un caz de boală transmisibilă, de la cabinet la nivel național.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Sănătatea: dimensiuni și perspective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383280" y="1920240"/>
            <a:ext cx="2377440" cy="1280160"/>
          </a:xfrm>
          <a:prstGeom prst="ellipse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4" name="Text 2"/>
          <p:cNvSpPr/>
          <p:nvPr/>
        </p:nvSpPr>
        <p:spPr>
          <a:xfrm>
            <a:off x="3383280" y="19202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STARE DE BINE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228600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54864" cy="6400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FIZICĂ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Funcționarea corpului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914400"/>
            <a:ext cx="228600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54864" cy="6400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1" name="Text 9"/>
          <p:cNvSpPr/>
          <p:nvPr/>
        </p:nvSpPr>
        <p:spPr>
          <a:xfrm>
            <a:off x="608076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MENTALĂ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Starea de bine psihică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28600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54864" cy="6400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5" name="Text 13"/>
          <p:cNvSpPr/>
          <p:nvPr/>
        </p:nvSpPr>
        <p:spPr>
          <a:xfrm>
            <a:off x="59436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SOCIALĂ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Relații, sprijin, comunitate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2926080"/>
            <a:ext cx="228600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8" name="Shape 16"/>
          <p:cNvSpPr/>
          <p:nvPr/>
        </p:nvSpPr>
        <p:spPr>
          <a:xfrm>
            <a:off x="6400800" y="2926080"/>
            <a:ext cx="54864" cy="6400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9" name="Text 17"/>
          <p:cNvSpPr/>
          <p:nvPr/>
        </p:nvSpPr>
        <p:spPr>
          <a:xfrm>
            <a:off x="653796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RESURSĂ ZILNICĂ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Carta de la Ottawa (1986)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28800" y="3611880"/>
            <a:ext cx="228600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2" name="Shape 20"/>
          <p:cNvSpPr/>
          <p:nvPr/>
        </p:nvSpPr>
        <p:spPr>
          <a:xfrm>
            <a:off x="1828800" y="3611880"/>
            <a:ext cx="54864" cy="6400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3" name="Text 21"/>
          <p:cNvSpPr/>
          <p:nvPr/>
        </p:nvSpPr>
        <p:spPr>
          <a:xfrm>
            <a:off x="196596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BIOPSIHOSOCIALĂ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6596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Modelul lui Engel (1977)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5029200" y="3611880"/>
            <a:ext cx="228600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30" name="Shape 20"/>
          <p:cNvSpPr/>
          <p:nvPr/>
        </p:nvSpPr>
        <p:spPr>
          <a:xfrm>
            <a:off x="5029200" y="3611880"/>
            <a:ext cx="54864" cy="6400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31" name="Text 21"/>
          <p:cNvSpPr/>
          <p:nvPr/>
        </p:nvSpPr>
        <p:spPr>
          <a:xfrm>
            <a:off x="516636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ADAPTARE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516636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Huber și colab. (2011)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3159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Constituția OMS (1946, în vigoare din 1948); Bolton (2023); Carta de la Ottawa (1986); Huber și colab. (2016)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14 / 71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Moment de reflecție: sănătos sau bolnav?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01168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Persoana A — bărbat de vârstă mijlocie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simptome, cu hipertensiune arterială nedepistată; nu a mai fost la medic de mai mulți ani.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2011680"/>
          </a:xfrm>
          <a:prstGeom prst="rect">
            <a:avLst/>
          </a:prstGeom>
          <a:solidFill>
            <a:srgbClr val="FF4757">
              <a:alpha val="20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4114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9" name="Text 7"/>
          <p:cNvSpPr/>
          <p:nvPr/>
        </p:nvSpPr>
        <p:spPr>
          <a:xfrm>
            <a:off x="329184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Persoana B — femeie vârstnică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6459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Diabet zaharat bine controlat, dar trăiește izolată social.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201168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612648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Persoana C — copil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16459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Sănătos clinic, dar locuiește într-o comunitate fără acces la apă potabilă.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se situează fiecare pe continuumul sănătate ↔ boală? Discuție în perechi, cinci minute, pe baza definiției OMS.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 / 71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Determinanții sănătății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SECȚIUNEA C · Modelul Dahlgren–Whitehead · Cadrul OMS · Date din România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 / 71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047" y="274320"/>
            <a:ext cx="8734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Curcubeul determinanților: modelul Dahlgren–Whitehead (1991)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11121A">
              <a:alpha val="8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5" name="Shape 3"/>
          <p:cNvSpPr/>
          <p:nvPr/>
        </p:nvSpPr>
        <p:spPr>
          <a:xfrm>
            <a:off x="8631936" y="1005840"/>
            <a:ext cx="54864" cy="502920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4) Condiții generale socio-economice, culturale și de mediu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1097280" y="1600200"/>
            <a:ext cx="6949440" cy="502920"/>
          </a:xfrm>
          <a:prstGeom prst="rect">
            <a:avLst/>
          </a:prstGeom>
          <a:solidFill>
            <a:srgbClr val="0E7C6B">
              <a:alpha val="8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8" name="Shape 6"/>
          <p:cNvSpPr/>
          <p:nvPr/>
        </p:nvSpPr>
        <p:spPr>
          <a:xfrm>
            <a:off x="1097280" y="1600200"/>
            <a:ext cx="54864" cy="50292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9" name="Shape 7"/>
          <p:cNvSpPr/>
          <p:nvPr/>
        </p:nvSpPr>
        <p:spPr>
          <a:xfrm>
            <a:off x="7991856" y="1600200"/>
            <a:ext cx="54864" cy="50292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0" name="Text 8"/>
          <p:cNvSpPr/>
          <p:nvPr/>
        </p:nvSpPr>
        <p:spPr>
          <a:xfrm>
            <a:off x="1280160" y="16002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3) Condiții de viață și de muncă (educație, muncă, locuință, apă, servicii de sănătate)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2194560"/>
            <a:ext cx="5669280" cy="502920"/>
          </a:xfrm>
          <a:prstGeom prst="rect">
            <a:avLst/>
          </a:prstGeom>
          <a:solidFill>
            <a:srgbClr val="0E7C6B">
              <a:alpha val="8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2" name="Shape 10"/>
          <p:cNvSpPr/>
          <p:nvPr/>
        </p:nvSpPr>
        <p:spPr>
          <a:xfrm>
            <a:off x="1737360" y="2194560"/>
            <a:ext cx="54864" cy="50292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3" name="Shape 11"/>
          <p:cNvSpPr/>
          <p:nvPr/>
        </p:nvSpPr>
        <p:spPr>
          <a:xfrm>
            <a:off x="7351776" y="2194560"/>
            <a:ext cx="54864" cy="50292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4" name="Text 12"/>
          <p:cNvSpPr/>
          <p:nvPr/>
        </p:nvSpPr>
        <p:spPr>
          <a:xfrm>
            <a:off x="1920240" y="2194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2) Rețele sociale și comunitare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377440" y="2788920"/>
            <a:ext cx="4389120" cy="502920"/>
          </a:xfrm>
          <a:prstGeom prst="rect">
            <a:avLst/>
          </a:prstGeom>
          <a:solidFill>
            <a:srgbClr val="FF4757">
              <a:alpha val="8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6" name="Shape 14"/>
          <p:cNvSpPr/>
          <p:nvPr/>
        </p:nvSpPr>
        <p:spPr>
          <a:xfrm>
            <a:off x="2377440" y="2788920"/>
            <a:ext cx="54864" cy="5029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7" name="Shape 15"/>
          <p:cNvSpPr/>
          <p:nvPr/>
        </p:nvSpPr>
        <p:spPr>
          <a:xfrm>
            <a:off x="6711696" y="2788920"/>
            <a:ext cx="54864" cy="5029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8" name="Text 16"/>
          <p:cNvSpPr/>
          <p:nvPr/>
        </p:nvSpPr>
        <p:spPr>
          <a:xfrm>
            <a:off x="2560320" y="2788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1) Factori ai stilului de viață individual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017520" y="3383280"/>
            <a:ext cx="3108960" cy="502920"/>
          </a:xfrm>
          <a:prstGeom prst="rect">
            <a:avLst/>
          </a:prstGeom>
          <a:solidFill>
            <a:srgbClr val="8A6100">
              <a:alpha val="85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0" name="Shape 18"/>
          <p:cNvSpPr/>
          <p:nvPr/>
        </p:nvSpPr>
        <p:spPr>
          <a:xfrm>
            <a:off x="3017520" y="3383280"/>
            <a:ext cx="54864" cy="50292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1" name="Shape 19"/>
          <p:cNvSpPr/>
          <p:nvPr/>
        </p:nvSpPr>
        <p:spPr>
          <a:xfrm>
            <a:off x="6071616" y="3383280"/>
            <a:ext cx="54864" cy="50292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2" name="Text 20"/>
          <p:cNvSpPr/>
          <p:nvPr/>
        </p:nvSpPr>
        <p:spPr>
          <a:xfrm>
            <a:off x="3200400" y="3383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Centrul: vârstă, sex, factori constituționali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Dahlgren și Whitehead (figura din 1991), reluată în Levelling up, OMS Europa (2006); modelul e folosit și astăzi (Improta și colab., 2026)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 / 71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Centrul modelului: factori în mare măsură fixați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22860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228600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lstStyle/>
          <a:p>
            <a:endParaRPr lang="ro-R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 numiți clinic „nemodificabili”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Vârsta — riscuri diferite pe parcursul vieții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Sexul — avantaj biologic de supraviețuire al femeilor (țările cu industrializare veche)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Factorii genetici și constituționali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Implicație pentru nursing: screening diferențiat pe grupe de risc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1005840"/>
            <a:ext cx="3657600" cy="2286000"/>
          </a:xfrm>
          <a:prstGeom prst="rect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2" name="Text 9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 ROMÂNIA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Speranța de viață la naștere, 2024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7,5 ani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5029200" y="2468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diferența femei–bărbați în România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(UE-27: 5,2 ani)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212080" y="3200400"/>
          <a:ext cx="329184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3"/>
          <p:cNvSpPr/>
          <p:nvPr/>
        </p:nvSpPr>
        <p:spPr>
          <a:xfrm>
            <a:off x="457200" y="34290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demo_mlexpec (2024); avantajul femeilor: Whitehead și Dahlgren (2006), Zarulli și colab. (2018); valori estimate (e; UE: ep). Axa verticală începe de la 70 de ani.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9" name="Text 1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 / 71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Stratul 1: stilul de viață — alegeri în context social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18288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36576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Fumat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27,3%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Fumători, 15 ani și peste (UE: 24,2%)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1920240" cy="18288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1920240" cy="36576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0" name="Text 8"/>
          <p:cNvSpPr/>
          <p:nvPr/>
        </p:nvSpPr>
        <p:spPr>
          <a:xfrm>
            <a:off x="2560320" y="1005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Alcool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11,1%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Consum episodic excesiv săptămânal (UE: 3,7%)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20240" cy="18288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1920240" cy="36576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5" name="Text 13"/>
          <p:cNvSpPr/>
          <p:nvPr/>
        </p:nvSpPr>
        <p:spPr>
          <a:xfrm>
            <a:off x="4663440" y="1005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 fizică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84,0%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activitate fizică aerobă în afara muncii (UE: 47,3%)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005840"/>
            <a:ext cx="1920240" cy="18288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9" name="Shape 17"/>
          <p:cNvSpPr/>
          <p:nvPr/>
        </p:nvSpPr>
        <p:spPr>
          <a:xfrm>
            <a:off x="6766560" y="1005840"/>
            <a:ext cx="1920240" cy="36576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0" name="Text 18"/>
          <p:cNvSpPr/>
          <p:nvPr/>
        </p:nvSpPr>
        <p:spPr>
          <a:xfrm>
            <a:off x="6766560" y="1005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Alimentație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2,4%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porții sau mai multe de fructe și legume pe zi (UE: 12,4%)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ECEAE4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54864" cy="7315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5" name="Text 23"/>
          <p:cNvSpPr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Concept-cheie: diferențele de stil de viață dintre grupurile sociale sunt modelate, în mare măsură, de factori structurali (Whitehead și Dahlgren, OMS Europa). Datele: Eurostat, EHIS 2019.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 / 71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Stratul 2: rețelele sociale și comunitare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20116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Dovezi științifice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Meta-analiza din 2025 (86 de studii, persoane vârstnice): raportul riscurilor de deces este 1,14 pentru singurătate, 1,35 pentru izolarea socială și 1,21 pentru locuitul singur.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/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Rezultatele au variat mult de la un studiu la altul; autorii cer intervenții de sănătate publică.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54864" cy="20116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9" name="Text 7"/>
          <p:cNvSpPr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practica de îngrijire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Izolarea socială și singurătatea pacientului sunt informații clinice relevante, nu detalii biografice.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/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Stilul de viață al fiecăruia este încorporat în normele și în rețelele sociale ale comunității.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Stilul de viață se formează în rețelele sociale și în condițiile de viață ale comunității (modelul Dahlgren–Whitehead).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Nakou și colab. (2025); Dahlgren și Whitehead (1991)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 / 71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Stratul 3: condițiile de viață și de muncă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237744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15,5%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Părăsirea timpurie a școlii, 18–24 de ani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(Eurostat 2025; UE: 9,1%)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1920240" cy="237744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8" name="Text 6"/>
          <p:cNvSpPr/>
          <p:nvPr/>
        </p:nvSpPr>
        <p:spPr>
          <a:xfrm>
            <a:off x="256032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Ocupare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6,1%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51760" y="2286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șomajului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(Eurostat 2025; UE: 6,0%)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920240" cy="237744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2" name="Text 10"/>
          <p:cNvSpPr/>
          <p:nvPr/>
        </p:nvSpPr>
        <p:spPr>
          <a:xfrm>
            <a:off x="466344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Locuință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13,9%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cadă sau duș și toaletă în interior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(Eurostat 2023; UE: 1,5% în 2020)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005840"/>
            <a:ext cx="1920240" cy="237744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6" name="Text 14"/>
          <p:cNvSpPr/>
          <p:nvPr/>
        </p:nvSpPr>
        <p:spPr>
          <a:xfrm>
            <a:off x="676656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 de sănătate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1 512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58000" y="2286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Locuitori la un medic de familie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(INS 2024)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 națională ascunde evoluții opuse: la sate, unui medic de familie îi revin 2 319 locuitori în 2024, față de 2 030 în 2012.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 / 71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Stratul 4: condițiile socio-economice, culturale și de mediu</a:t>
            </a:r>
            <a:endParaRPr lang="en-US" sz="20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951402642"/>
              </p:ext>
            </p:extLst>
          </p:nvPr>
        </p:nvGraphicFramePr>
        <p:xfrm>
          <a:off x="457200" y="914400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914400"/>
            <a:ext cx="3383280" cy="2926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5" name="Shape 2"/>
          <p:cNvSpPr/>
          <p:nvPr/>
        </p:nvSpPr>
        <p:spPr>
          <a:xfrm>
            <a:off x="5303520" y="914400"/>
            <a:ext cx="54864" cy="2926080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6" name="Text 3"/>
          <p:cNvSpPr/>
          <p:nvPr/>
        </p:nvSpPr>
        <p:spPr>
          <a:xfrm>
            <a:off x="5486400" y="1005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Macrodeterminanți-cheie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de sărăcie sau excluziune socială: 27,4% (UE: 20,9%, 2025)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Politicile fiscale și de sănătate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 la nivelul societății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Mediul și schimbările climatice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Migrația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Reziliența sistemului de sănătate (lecțiile pandemiei de COVID-19)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Eurostat, hlth_sha11_hf (2024) și ilc_peps01n (2025); OMS, glosarul promovării sănătății (2021)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15" name="Text 12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22 / 71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conceptual OMS al determinanților sociali (2010)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5603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Determinanți structurali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Contextul social și politic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Guvernanța și politicile macroeconomice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Politicile sociale (educație, sănătate, muncă)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Normele și valorile culturale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Poziția socio-economică (venit, educație, ocupație, gen, etnie)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25603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3" name="Text 11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Determinanți intermediari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Circumstanțe materiale (locuință, hrană, mediu de muncă)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 comportamentali și biologici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 psihosociali (stres, sprijin social)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Sistemul de sănătate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solidFill>
            <a:srgbClr val="FF4757">
              <a:alpha val="8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9" name="Text 17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 INECHITĂȚI ÎN SĂNĂTATE ← diferențe sistematice, produse social, deci modificabile, și nedrepte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Solar și Irwin, OMS (2010); Whitehead și Dahlgren (2006); OMS, glosarul promovării sănătății (2021)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23 / 71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Românii: diferențe care sugerează inechități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97480" cy="2743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9748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URBAN ȘI RURAL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Urban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5,1‰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74520" y="1554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Rural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74520" y="18288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6,8‰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Mortalitatea infantilă, 2025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005840"/>
            <a:ext cx="2697480" cy="2743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2" name="Shape 10"/>
          <p:cNvSpPr/>
          <p:nvPr/>
        </p:nvSpPr>
        <p:spPr>
          <a:xfrm>
            <a:off x="3337560" y="1005840"/>
            <a:ext cx="269748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3337560" y="1005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REGIUNI DE DEZVOLTARE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554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Nord-Est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18288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75,5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București-Ilfov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77,8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29000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Speranța de viață la naștere, 2024 (ani; valori estimate)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17920" y="1005840"/>
            <a:ext cx="2697480" cy="2743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269748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1" name="Text 19"/>
          <p:cNvSpPr/>
          <p:nvPr/>
        </p:nvSpPr>
        <p:spPr>
          <a:xfrm>
            <a:off x="6217920" y="1005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ACCESUL LA MEDICUL DE FAMILIE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554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18288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1 457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635240" y="1554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35240" y="18288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1 512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09360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Locuitori la un medic de familie; la sate: 2 030 → 2 319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INS, TEMPO POP209B (2025) și TCI0321 (2012, 2024; seria pe populația rezidentă); Eurostat, demo_r_mlifexp (2024)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24 / 71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Exercițiu: cartografierea determinanților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256032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CAZUL LUI 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Pensionar, văduv, locuiește singur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Sat izolat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48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Fumează de zeci de ani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40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Hipertensiune arterială netratată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33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Pensie mică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Cabinetul medicului de familie, la mare distanță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3840480" cy="2560320"/>
          </a:xfrm>
          <a:prstGeom prst="rect">
            <a:avLst/>
          </a:prstGeom>
          <a:solidFill>
            <a:srgbClr val="FF4757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5" name="Text 13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SARCINA — zece minute, în perechi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Identificați câte un determinant din fiecare strat Dahlgren–Whitehead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Propuneți două intervenții populaționale, nu individuale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În ce strat ar produce o intervenție cel mai mare efect? De ce?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Gândiți populațional: ce poate face asistentul medical pentru sute de persoane în situații asemănătoare?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 / 71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Indicatorii stării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sănătate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SECȚIUNEA D · Mortalitate · Morbiditate · Speranța de viață · Date din România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 / 71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se măsoară sănătatea unei populații? De la date la decizii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20116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1430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brută, mortalitatea infantilă, mortalitatea evitabilă, pe cauze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60320" y="1005840"/>
            <a:ext cx="1920240" cy="20116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1430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5176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MORBIDITATE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65176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Incidență, prevalență, DALY, YLD (aprofundare)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63440" y="1005840"/>
            <a:ext cx="1920240" cy="20116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1430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5488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SPERANȚĂ DE VIAȚĂ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75488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naștere, ani sănătoși (HLY), speranța de viață sănătoasă (HALE, aprofundare)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766560" y="1005840"/>
            <a:ext cx="1920240" cy="20116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14300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5800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RESURSE &amp; ACCES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85800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Medici la 1 000 de locuitori, paturi, cheltuieli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 de date: INS · INSP · Eurostat · OMS (GHO) · ECDC · IHME (GBD)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1" name="Text 1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27 / 71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Indicatorii de mortalitate: definiții și formule de calcul</a:t>
            </a:r>
            <a:endParaRPr lang="en-US" sz="1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423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Indicator</a:t>
                      </a:r>
                      <a:endParaRPr lang="en-US" sz="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Formula (simplificată)</a:t>
                      </a:r>
                      <a:endParaRPr lang="en-US" sz="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Utilizare</a:t>
                      </a:r>
                      <a:endParaRPr lang="en-US" sz="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Rata brută a mortalității</a:t>
                      </a:r>
                      <a:endParaRPr lang="en-US" sz="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Decesele din an ÷ populația medie × 1 000</a:t>
                      </a:r>
                      <a:endParaRPr lang="en-US" sz="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Frecvența deceselor; comparațiile cer rate standardizate</a:t>
                      </a:r>
                      <a:endParaRPr lang="en-US" sz="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Rata mortalității infantile</a:t>
                      </a:r>
                      <a:endParaRPr lang="en-US" sz="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Decesele sub un an ÷ născuții vii × 1 000</a:t>
                      </a:r>
                      <a:endParaRPr lang="en-US" sz="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Sănătatea mamei și a copilului; comparații între țări</a:t>
                      </a:r>
                      <a:endParaRPr lang="en-US" sz="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Mortalitatea specifică pe cauze</a:t>
                      </a:r>
                      <a:endParaRPr lang="en-US" sz="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Decesele prin cauza respectivă ÷ populația × 100 000</a:t>
                      </a:r>
                      <a:endParaRPr lang="en-US" sz="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Prioritizarea intervențiilor</a:t>
                      </a:r>
                      <a:endParaRPr lang="en-US" sz="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Mortalitatea evitabilă</a:t>
                      </a:r>
                      <a:endParaRPr lang="en-US" sz="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Decesele evitabile sub 75 de ani; rate standardizate</a:t>
                      </a:r>
                      <a:endParaRPr lang="en-US" sz="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Prevenția și calitatea îngrijirilor</a:t>
                      </a:r>
                      <a:endParaRPr lang="en-US" sz="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Eurostat, metadatele demo_mor și hlth_cdeath; CDC, Principles of Epidemiology, lecția 3; OCDE/Eurostat, lista mortalității evitabile (2022)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28 / 71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brută a mortalității: România și UE-27</a:t>
            </a:r>
            <a:endParaRPr lang="en-US" sz="1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914400"/>
          <a:ext cx="8229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914400" y="1097280"/>
            <a:ext cx="3200400" cy="411480"/>
          </a:xfrm>
          <a:prstGeom prst="rect">
            <a:avLst/>
          </a:prstGeom>
          <a:solidFill>
            <a:srgbClr val="FF4757">
              <a:alpha val="80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Maximul seriei: 17,5‰ în 2021, în pandemia de COVID-19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demo_gind; valori marcate de Eurostat ca estimate („e”) sau estimate și provizorii („ep”), de exemplu 2019, 2021 și 2025. Axa verticală nu pornește de la zero.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29 / 71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mor românii? Mortalitatea pe cauze, 2023 (rate standardizate)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486400" y="1371600"/>
            <a:ext cx="3200400" cy="1828800"/>
          </a:xfrm>
          <a:prstGeom prst="rect">
            <a:avLst/>
          </a:prstGeom>
          <a:solidFill>
            <a:srgbClr val="11121A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5" name="Text 2"/>
          <p:cNvSpPr/>
          <p:nvPr/>
        </p:nvSpPr>
        <p:spPr>
          <a:xfrm>
            <a:off x="548640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Bolile aparatului circulator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0" y="1737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787,1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669280" y="2468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la 100 000 de locuitori (2023)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2,5 ori media UE (313,0)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hlth_cd_asdr2 (2023), rate standardizate cu populația standard europeană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 / 71</a:t>
            </a:r>
            <a:endParaRPr lang="en-US" sz="800" dirty="0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57200" y="914400"/>
          <a:ext cx="48463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Mortalitatea infantilă — Oglinda dezvoltării unei națiuni</a:t>
            </a:r>
            <a:endParaRPr lang="en-US" sz="1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914400"/>
          <a:ext cx="5486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097280"/>
            <a:ext cx="2743200" cy="2286000"/>
          </a:xfrm>
          <a:prstGeom prst="rect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5" name="Text 2"/>
          <p:cNvSpPr/>
          <p:nvPr/>
        </p:nvSpPr>
        <p:spPr>
          <a:xfrm>
            <a:off x="59436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Progres important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4360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26,9‰ (1990)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6,6‰ (2024)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= scădere de 75,5%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3504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 UE: 3,5‰ (2024). Pentru 2025 există numai valoarea INS, 6,0‰ (urban 5,1‰, rural 6,8‰), care nu se compară direct cu seria Eurostat.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Eurostat, demo_minfind (1990–2024); INS, TEMPO POP209B (2025)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 / 71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care ar fi putut fi evitate: mortalitatea evitabilă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22860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PREVENIBILĂ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sub 75 de ani evitabile prin sănătate publică și prevenție primară (vaccinare, măsuri antitabac, educație pentru sănătate)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264,0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100 000 (2023); UE: 150,9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22860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1" name="Text 9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TRATABILĂ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sub 75 de ani evitabile prin îngrijiri medicale la timp și eficace, inclusiv prevenție secundară (depistare precoce) și tratament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199,7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100 000 (2023); UE: 86,8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Diferența față de UE: aproximativ 113 la 100 000 pe fiecare componentă; România are cea mai mare rată tratabilă din UE. Nursingul contribuie la prevenție și la calitatea îngrijirii.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32 / 71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Morbiditate: incidență și prevalență · ani de viață sănătoasă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4572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 depinde de incidență și de durată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INCIDENȚA = cazuri NOI → măsoară RISCUL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 = cazuri EXISTENTE → măsoară POVARA bolii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/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Boală cronică (diabet): durată lungă → prevalență mare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Boală acută, cu vindecare rapidă → prevalență mică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2926080" cy="1920240"/>
          </a:xfrm>
          <a:prstGeom prst="rect">
            <a:avLst/>
          </a:prstGeom>
          <a:solidFill>
            <a:srgbClr val="11121A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7" name="Text 5"/>
          <p:cNvSpPr/>
          <p:nvPr/>
        </p:nvSpPr>
        <p:spPr>
          <a:xfrm>
            <a:off x="5760720" y="960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 de viață sănătoasă, 2023 (valori estimate)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76,4 ani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234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59,2 ani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Speranță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viață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 sănătoși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(HLY)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17,2 ani trăiți cu limitări de activitate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solidFill>
            <a:srgbClr val="FF4757">
              <a:alpha val="15000"/>
            </a:srgbClr>
          </a:solidFill>
          <a:ln/>
        </p:spPr>
        <p:txBody>
          <a:bodyPr/>
          <a:lstStyle/>
          <a:p>
            <a:endParaRPr lang="ro-RO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6324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Exercițiu de calcul pe date reale (INS)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1) România 2025: 799 decese sub un an, 134 238 născuți vii → rata mortalității infantile = ?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2) România 2024: 7 172 cazuri noi de tuberculoză, 19 059 534 locuitori → incidența la 100 000 = ?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3) România 2024: 244 575 decese, 19 059 534 locuitori → rata brută a mortalității = ?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8" name="Text 1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33 / 71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Totul se leagă: harta conceptuală a cursului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0" y="1828800"/>
            <a:ext cx="2743200" cy="1371600"/>
          </a:xfrm>
          <a:prstGeom prst="line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4" name="Text 2"/>
          <p:cNvSpPr/>
          <p:nvPr/>
        </p:nvSpPr>
        <p:spPr>
          <a:xfrm>
            <a:off x="3200400" y="18288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SĂNĂTATEA</a:t>
            </a:r>
            <a:endParaRPr lang="en-US" sz="12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PUBLICĂ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28600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Definiții și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OMS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914400"/>
            <a:ext cx="228600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9" name="Shape 7"/>
          <p:cNvSpPr/>
          <p:nvPr/>
        </p:nvSpPr>
        <p:spPr>
          <a:xfrm>
            <a:off x="6400800" y="914400"/>
            <a:ext cx="54864" cy="6400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0" name="Text 8"/>
          <p:cNvSpPr/>
          <p:nvPr/>
        </p:nvSpPr>
        <p:spPr>
          <a:xfrm>
            <a:off x="6537960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servicii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esențiale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228600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54864" cy="6400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Modelul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Dahlgren–Whitehead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3017520"/>
            <a:ext cx="228600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5" name="Shape 13"/>
          <p:cNvSpPr/>
          <p:nvPr/>
        </p:nvSpPr>
        <p:spPr>
          <a:xfrm>
            <a:off x="6583680" y="3017520"/>
            <a:ext cx="54864" cy="6400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6" name="Text 14"/>
          <p:cNvSpPr/>
          <p:nvPr/>
        </p:nvSpPr>
        <p:spPr>
          <a:xfrm>
            <a:off x="67208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Indicatori de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3566160"/>
            <a:ext cx="228600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8" name="Shape 16"/>
          <p:cNvSpPr/>
          <p:nvPr/>
        </p:nvSpPr>
        <p:spPr>
          <a:xfrm>
            <a:off x="3200400" y="3566160"/>
            <a:ext cx="54864" cy="6400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9" name="Text 17"/>
          <p:cNvSpPr/>
          <p:nvPr/>
        </p:nvSpPr>
        <p:spPr>
          <a:xfrm>
            <a:off x="3337560" y="3566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Morbiditate și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 de viață sănătoasă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Context: România și UE — date INS, Eurostat, OMS, ECDC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34 / 71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Recapitulare și bibliografie (partea I)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286000"/>
          </a:xfrm>
          <a:prstGeom prst="rect">
            <a:avLst/>
          </a:prstGeom>
          <a:solidFill>
            <a:srgbClr val="0E7C6B">
              <a:alpha val="25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IDEI-CHEIE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Asistența de sănătate publică: efortul organizat al societății (Legea nr. 95/2006)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/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Sănătatea se produce în condițiile de viață și de muncă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/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Indicatorii se citesc cu numitorul, anul și marcajele emitentului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2286000"/>
          </a:xfrm>
          <a:prstGeom prst="rect">
            <a:avLst/>
          </a:prstGeom>
          <a:solidFill>
            <a:srgbClr val="0E7C6B">
              <a:alpha val="15000"/>
            </a:srgbClr>
          </a:solidFill>
          <a:ln/>
        </p:spPr>
        <p:txBody>
          <a:bodyPr/>
          <a:lstStyle/>
          <a:p>
            <a:endParaRPr lang="ro-RO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Bibliografie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Suportul de curs electronic actualizat (site-ul disciplinei)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Winslow, The Untilled Fields of Public Health (1920)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OMS, Constituția (1946)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 IOM, The Future of Public Health (1988)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 Dahlgren și Whitehead, Levelling up, OMS Europa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6. Solar și Irwin, cadrul conceptual OMS (2010)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937760" y="2788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7. Eurostat și INS: bazele de date citate pe diapozitive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937760" y="3017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8. Legea nr. 95/2006, titlul I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37760" y="32918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Resurse online: ec.europa.eu/eurostat · statistici.insse.ro · who.int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Urmează partea a doua: epidemiologia aplicată în nursing.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35 / 71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7315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EPIDEMIOLOGIA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APLICATĂ ÎN NURSING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Detectivii sănătății publice</a:t>
            </a:r>
            <a:endParaRPr lang="en-US" sz="1800" dirty="0"/>
          </a:p>
        </p:txBody>
      </p:sp>
      <p:sp>
        <p:nvSpPr>
          <p:cNvPr id="9004" name="Linie editoriala"/>
          <p:cNvSpPr/>
          <p:nvPr/>
        </p:nvSpPr>
        <p:spPr>
          <a:xfrm>
            <a:off x="914400" y="3320415"/>
            <a:ext cx="822960" cy="30861"/>
          </a:xfrm>
          <a:prstGeom prst="rect">
            <a:avLst/>
          </a:prstGeom>
          <a:solidFill>
            <a:srgbClr val="27D3BE"/>
          </a:solidFill>
          <a:ln>
            <a:noFill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7" name="Text 4"/>
          <p:cNvSpPr/>
          <p:nvPr/>
        </p:nvSpPr>
        <p:spPr>
          <a:xfrm>
            <a:off x="1097280" y="3474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 1, partea a II-a — Sănătate publică și management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Asistență medicală generală · Anul IV · Semestrul 7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„Iuliu Hațieganu” Cluj-Napoca · 2026–2027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populație la date: ce veți învăța în partea a doua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84048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Calculează și interpretează incidența și prevalența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384048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Clasifică factorii de risc; calculează rata de atac și riscul relativ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114800" cy="384048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54864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Descrie supravegherea epidemiologică și raportarea în România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114800" cy="384048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54864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4" name="Text 12"/>
          <p:cNvSpPr/>
          <p:nvPr/>
        </p:nvSpPr>
        <p:spPr>
          <a:xfrm>
            <a:off x="640080" y="2377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Aplică pașii CDC de investigare a unui focar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005840"/>
            <a:ext cx="320040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6" name="Text 14"/>
          <p:cNvSpPr/>
          <p:nvPr/>
        </p:nvSpPr>
        <p:spPr>
          <a:xfrm>
            <a:off x="5029200" y="10058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005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Deschidere și activare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12070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~6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1463040"/>
            <a:ext cx="320040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0" name="Text 18"/>
          <p:cNvSpPr/>
          <p:nvPr/>
        </p:nvSpPr>
        <p:spPr>
          <a:xfrm>
            <a:off x="5029200" y="14630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1463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Incidență, prevalență, factori de risc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16642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~16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1920240"/>
            <a:ext cx="320040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4" name="Text 22"/>
          <p:cNvSpPr/>
          <p:nvPr/>
        </p:nvSpPr>
        <p:spPr>
          <a:xfrm>
            <a:off x="5029200" y="19202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1920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Supravegherea epidemiologică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21214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~8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2377440"/>
            <a:ext cx="320040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8" name="Text 26"/>
          <p:cNvSpPr/>
          <p:nvPr/>
        </p:nvSpPr>
        <p:spPr>
          <a:xfrm>
            <a:off x="5029200" y="23774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2377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Investigarea focarelor epidemice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25786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~16 min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2834640"/>
            <a:ext cx="320040" cy="384048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32" name="Text 30"/>
          <p:cNvSpPr/>
          <p:nvPr/>
        </p:nvSpPr>
        <p:spPr>
          <a:xfrm>
            <a:off x="5029200" y="28346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Sinteză și încheiere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30358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~4 min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474720"/>
            <a:ext cx="8229600" cy="594360"/>
          </a:xfrm>
          <a:prstGeom prst="rect">
            <a:avLst/>
          </a:prstGeom>
          <a:solidFill>
            <a:srgbClr val="ECEAE4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36" name="Text 34"/>
          <p:cNvSpPr/>
          <p:nvPr/>
        </p:nvSpPr>
        <p:spPr>
          <a:xfrm>
            <a:off x="640080" y="34747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Legătura cu prima parte: indicatorii de mortalitate, morbiditate și speranță de viață sunt PRODUSUL muncii epidemiologice pe care o învățați acum.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38" name="Text 36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37 / 71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Adevărat sau fals? Verificați-vă cunoștințele!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Epidemiologia studiază numai epidemiile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Focarul are aceeași definiție ca epidemia, de obicei pe o arie mai restrânsă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Prevalența include cazuri noi și vechi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 Rata de atac se folosește în investigarea focarelor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 Incidența numără toate persoanele care au boala la un moment dat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Codul de acces Mentimeter este afișat de cadrul didactic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38 / 71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Adevărat sau fals? Răspunsurile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6400800" cy="50292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Epidemiologia studiază numai epidemiile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0" y="1005840"/>
            <a:ext cx="1828800" cy="502920"/>
          </a:xfrm>
          <a:prstGeom prst="rect">
            <a:avLst/>
          </a:prstGeom>
          <a:solidFill>
            <a:srgbClr val="B02532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6" name="Text 4"/>
          <p:cNvSpPr/>
          <p:nvPr/>
        </p:nvSpPr>
        <p:spPr>
          <a:xfrm>
            <a:off x="685800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6400800" cy="50292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Focarul are aceeași definiție ca epidemia, de obicei pe o arie mai restrânsă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1600200"/>
            <a:ext cx="1828800" cy="50292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0" name="Text 8"/>
          <p:cNvSpPr/>
          <p:nvPr/>
        </p:nvSpPr>
        <p:spPr>
          <a:xfrm>
            <a:off x="685800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ADEVĂRAT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6400800" cy="50292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Prevalența include cazuri noi și vechi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2194560"/>
            <a:ext cx="1828800" cy="50292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4" name="Text 12"/>
          <p:cNvSpPr/>
          <p:nvPr/>
        </p:nvSpPr>
        <p:spPr>
          <a:xfrm>
            <a:off x="685800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ADEVĂRAT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6400800" cy="50292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 Rata de atac se folosește în investigarea focarelor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2788920"/>
            <a:ext cx="1828800" cy="50292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8" name="Text 16"/>
          <p:cNvSpPr/>
          <p:nvPr/>
        </p:nvSpPr>
        <p:spPr>
          <a:xfrm>
            <a:off x="685800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ADEVĂRAT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6400800" cy="50292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 Incidența numără toate persoanele care au boala la un moment dat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3383280"/>
            <a:ext cx="1828800" cy="502920"/>
          </a:xfrm>
          <a:prstGeom prst="rect">
            <a:avLst/>
          </a:prstGeom>
          <a:solidFill>
            <a:srgbClr val="B02532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2" name="Text 20"/>
          <p:cNvSpPr/>
          <p:nvPr/>
        </p:nvSpPr>
        <p:spPr>
          <a:xfrm>
            <a:off x="685800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răspuns se justifică pe baza notelor cursului.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39 / 71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Epidemiologia: știința de bază a sănătății publice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Definiție (după dicționarul coordonat de J. M. Last, citat de CDC): studiul distribuției și al determinanților stărilor sau evenimentelor legate de sănătate în populații definite și aplicarea acestui studiu la controlul problemelor de sănătate.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508760" cy="13716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508760" cy="3657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Persoana (vârstă, sex, ocupație)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1920240"/>
            <a:ext cx="1508760" cy="13716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0" name="Shape 8"/>
          <p:cNvSpPr/>
          <p:nvPr/>
        </p:nvSpPr>
        <p:spPr>
          <a:xfrm>
            <a:off x="2148840" y="1920240"/>
            <a:ext cx="1508760" cy="3657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1" name="Text 9"/>
          <p:cNvSpPr/>
          <p:nvPr/>
        </p:nvSpPr>
        <p:spPr>
          <a:xfrm>
            <a:off x="214884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Boala sau evenimentul (definiția de caz)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0" y="1920240"/>
            <a:ext cx="1508760" cy="13716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4" name="Shape 12"/>
          <p:cNvSpPr/>
          <p:nvPr/>
        </p:nvSpPr>
        <p:spPr>
          <a:xfrm>
            <a:off x="3840480" y="1920240"/>
            <a:ext cx="1508760" cy="3657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5" name="Text 13"/>
          <p:cNvSpPr/>
          <p:nvPr/>
        </p:nvSpPr>
        <p:spPr>
          <a:xfrm>
            <a:off x="384048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Locul (geografie, mediu, instituție)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32120" y="1920240"/>
            <a:ext cx="1508760" cy="13716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8" name="Shape 16"/>
          <p:cNvSpPr/>
          <p:nvPr/>
        </p:nvSpPr>
        <p:spPr>
          <a:xfrm>
            <a:off x="5532120" y="1920240"/>
            <a:ext cx="1508760" cy="3657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9" name="Text 17"/>
          <p:cNvSpPr/>
          <p:nvPr/>
        </p:nvSpPr>
        <p:spPr>
          <a:xfrm>
            <a:off x="553212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Timpul (debut, sezonalitate)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1920240"/>
            <a:ext cx="1508760" cy="13716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2" name="Shape 20"/>
          <p:cNvSpPr/>
          <p:nvPr/>
        </p:nvSpPr>
        <p:spPr>
          <a:xfrm>
            <a:off x="7223760" y="1920240"/>
            <a:ext cx="1508760" cy="3657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3" name="Text 21"/>
          <p:cNvSpPr/>
          <p:nvPr/>
        </p:nvSpPr>
        <p:spPr>
          <a:xfrm>
            <a:off x="722376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Cauze (factori de risc, transmitere)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CDC, Principles of Epidemiology, ediția a III-a, lecția 1; Frérot și colab. (2018)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 / 71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Incidența și prevalența.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Factorii de risc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SECȚIUNEA B · Concepte de bază · Formule · Date din România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41 / 71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numere la rate: de ce contează comparabilitatea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20116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20116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Exemplu cu valori ipotetice: 120 de cazuri ale bolii 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Districtul C: 800 000 de locuitori → 15 la 100 000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Districtul D: 150 000 de locuitori → 80 la 100 000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/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număr de cazuri, risc de peste cinci ori mai mare în districtul D!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54864" cy="20116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9" name="Text 7"/>
          <p:cNvSpPr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Structura unei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Numărător (cazuri)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─────────────────── × Constantă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Numitor (populație la risc)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în aceeași perioadă de timp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permite compararea apariției bolii între populații de mărimi diferite.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42 / 71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Incidența: câte cazuri NOI apar într-o perioadă?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4572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INCIDENȚA = măsoară RISCUL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Nr. cazuri NOI într-o perioadă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─────────────────────── × Const.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   Populație la risc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Incidența cumulativă: </a:t>
            </a: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proporție (risc)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de incidență: </a:t>
            </a: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persoană-timp (viteza apariției cazurilor)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914400"/>
            <a:ext cx="3200400" cy="2286000"/>
          </a:xfrm>
          <a:prstGeom prst="rect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8" name="Text 6"/>
          <p:cNvSpPr/>
          <p:nvPr/>
        </p:nvSpPr>
        <p:spPr>
          <a:xfrm>
            <a:off x="548640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Exemplu cu valori ipotetice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Școala E: 1 200 de elevi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boala X la începutul semestrului;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 de cazuri noi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opt săptămâni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 = 30 ÷ 1 200 = 0,025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= 2,5% (25 la 1 000)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CDC, Principles of Epidemiology, lecția 3; Spronk și colab. (2019)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43 / 71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Prevalența: câte cazuri EXISTENTE la un moment dat?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4572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 = măsoară POVARA bolii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914400"/>
            <a:ext cx="3200400" cy="2743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6" name="Text 4"/>
          <p:cNvSpPr/>
          <p:nvPr/>
        </p:nvSpPr>
        <p:spPr>
          <a:xfrm>
            <a:off x="548640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Metafora bazinului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↓ INTRARE = incidența (cazuri noi)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2286000" cy="731520"/>
          </a:xfrm>
          <a:prstGeom prst="rect">
            <a:avLst/>
          </a:prstGeom>
          <a:solidFill>
            <a:srgbClr val="0E7C6B">
              <a:alpha val="70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NIVELUL APEI =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↓ IEȘIRE = vindecare sau deces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Toate cazurile EXISTENTE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──────────────────── × Const.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Populație totală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ipotetice: în ziua de control, 18 dintre cei 1 200 de elevi ai școlii E au boala X → P = 18 ÷ 1 200 = 1,5%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44 / 71</a:t>
            </a:r>
            <a:endParaRPr lang="en-US" sz="800" dirty="0"/>
          </a:p>
        </p:txBody>
      </p:sp>
      <p:sp>
        <p:nvSpPr>
          <p:cNvPr id="16" name="Text 16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CDC, Principles of Epidemiology, lecția 3; Spronk și colab. (2019)</a:t>
            </a:r>
            <a:endParaRPr lang="en-US" sz="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Prevalența, incidența și durata bolii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7315200" cy="50292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 ≈ incidența × durata medie a bolii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0" cy="16459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Diabet zaharat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Incidență: MODERATĂ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Durată: LUNGĂ (boală cronică)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 Prevalență: MARE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4023360" cy="16459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402336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Infecție acută, vindecare în câteva zile (ilustrativ)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Incidență: MARE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Durată: SCURTĂ (vindecare rapidă)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 Prevalență: RELATIV MICĂ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Calculul P ≈ I × D cere populație stabilă, boală rară și frecvență constantă; ideea „durată lungă → prevalență mare” este valabilă mai general.</a:t>
            </a:r>
            <a:endParaRPr lang="en-US" sz="700" dirty="0"/>
          </a:p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relația clasică (Rothman și Greenland; Freeman și Hutchison, 1980), preluată de Andersen și colab. (2012); CDC, Principles of Epidemiology, lecția 3 (diabetul, ca boală cronică); exemplul infecției acute este ilustrativ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 / 71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 din România: incidență și prevalență</a:t>
            </a:r>
            <a:endParaRPr lang="en-US" sz="18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175793"/>
              </p:ext>
            </p:extLst>
          </p:nvPr>
        </p:nvGraphicFramePr>
        <p:xfrm>
          <a:off x="457200" y="914400"/>
          <a:ext cx="8229600" cy="2423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Indicator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România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Comparație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Sursa, anul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Tuberculoză — rata de notificare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46,3 la 100 000 (8 825 de cazuri)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UE/SEE: 8,4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ECDC/OMS, 2024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Tuberculoză — cazuri noi (INS)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7 172; 37,6 la 100 000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Estimarea OMS: 60 (49–73)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INS; OMS, 2024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Rujeolă și tuse convulsivă — cazuri noi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25 505 și 2 963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Tuse convulsivă, 2023: 17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INS, 2024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Diabet declarat (EHIS)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5,0%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UE: 7,4%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Eurostat, 2019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Hipertensiune declarată (EHIS)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15,7%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UE: 21,9%; OMS: 48,4% estimat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Eurostat; OMS, 2019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ECDC/OMS Europa, tuberculoza (2026); INS, TEMPO SAN109A; Eurostat, EHIS 2019; OMS, GHO. O prevalență declarată mică poate ascunde boala nediagnosticată.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46 / 71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Infecțiile asociate asistenței medicale în România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97480" cy="731520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1,26%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incidența raportată, 2023 (INSP)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914400"/>
            <a:ext cx="2697480" cy="731520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7" name="Text 5"/>
          <p:cNvSpPr/>
          <p:nvPr/>
        </p:nvSpPr>
        <p:spPr>
          <a:xfrm>
            <a:off x="3337560" y="9144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3,1% → 4,1%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3756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 de moment, 2023 (INSP): 3,1% identificată, 4,1% estimată după corecție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914400"/>
            <a:ext cx="2697480" cy="731520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0" name="Text 8"/>
          <p:cNvSpPr/>
          <p:nvPr/>
        </p:nvSpPr>
        <p:spPr>
          <a:xfrm>
            <a:off x="6217920" y="9144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2,2%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incidența estimată de ECDC, necorectată (pentru aprofundare)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3931920" cy="18288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54864" cy="18288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4" name="Text 12"/>
          <p:cNvSpPr/>
          <p:nvPr/>
        </p:nvSpPr>
        <p:spPr>
          <a:xfrm>
            <a:off x="64008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arată datele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2860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40 359 de infecții raportate de spitale în 2023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Infecție activă identificată la 674 din 21 866 de pacienți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Validare (1 127 de pacienți): identificați 70,0%; prevalența estimată după corecție: 4,1%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aprofundare (nu se evaluează): ECDC, UE/SEE 4,3%; după corecție, 6,5%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2025: 189 de focare; 11 din 41 de județe fără focar raportat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920240"/>
            <a:ext cx="3931920" cy="18288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54864" cy="18288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8" name="Text 16"/>
          <p:cNvSpPr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asistentul medical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2860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Recunoașterea infecției la patul pacientului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Raportarea completă a cazurilor și a focarelor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Zero infecții raportate: întâi verificăm dacă le căutăm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Discuție: ce schimbăm pentru o raportare completă?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INSP, CARMIAAM-ROM 2023; INSP, studiul de prevalență de moment 2023 și analiza focarelor de IAAM 2025; ECDC, studiul de prevalență 2022–2023</a:t>
            </a:r>
            <a:endParaRPr lang="en-US" sz="800" i="1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47 / 71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de atac: instrumentul investigării focarelor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de atac = (persoane expuse bolnave ÷ toate persoanele expuse) × 100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114800" cy="18288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4864" cy="18288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Exemplu cu valori ipotetice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Masă festivă: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120 de invitați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35 s-au îmbolnăvit în 24 de ore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/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 = 35 ÷ 120 × 100 = 29,2%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931920" cy="18288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54864" cy="18288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Particularitățile ratei de atac (o formă de incidență)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Perioadă scurtă și definită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Populație definită, expusă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exprimă de obicei în procente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Utilă în focarele alimentare și instituționale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48 / 71</a:t>
            </a:r>
            <a:endParaRPr lang="en-US" sz="800" dirty="0"/>
          </a:p>
        </p:txBody>
      </p:sp>
      <p:sp>
        <p:nvSpPr>
          <p:cNvPr id="16" name="Text 16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CDC, Field Epidemiology Manual, cap. 8 (2019)</a:t>
            </a:r>
            <a:endParaRPr lang="en-US" sz="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Rate specifice: analiza pe subgrupuri</a:t>
            </a:r>
            <a:endParaRPr lang="en-US" sz="20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981795226"/>
              </p:ext>
            </p:extLst>
          </p:nvPr>
        </p:nvGraphicFramePr>
        <p:xfrm>
          <a:off x="457200" y="91440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914400"/>
            <a:ext cx="2926080" cy="25603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5" name="Shape 2"/>
          <p:cNvSpPr/>
          <p:nvPr/>
        </p:nvSpPr>
        <p:spPr>
          <a:xfrm>
            <a:off x="5760720" y="914400"/>
            <a:ext cx="54864" cy="2560320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6" name="Text 3"/>
          <p:cNvSpPr/>
          <p:nvPr/>
        </p:nvSpPr>
        <p:spPr>
          <a:xfrm>
            <a:off x="594360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Rate specifice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vârstă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sex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cauză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mediu de rezidență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ce? Rata calculată pentru întreaga populație poate ascunde diferențe mari între grupuri.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INS, TEMPO POP209B (2025)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14" name="Text 1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49 / 71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Atelier de calcul: trei probleme, cinci minute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57200" cy="8229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de incidență a bolii Y în județul 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42 de cazuri noi într-un an, populație: 650 000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005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 = ? la 100 000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57200" cy="8229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 bolii Z într-o comunitate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180 de cazuri existente, 4 500 de locuitori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 = ? 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57200" cy="8229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de atac la o masă festivă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120 de invitați, 35 de bolnavi în 24 de 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 = ? 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ipotetice. Timp de lucru: cinci minute individual, apoi verificare frontală.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 / 71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Factorii de risc: identificare și clasificare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25603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" cy="256032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Clasificare și măsură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MODIFICABILI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Fumat, alcool, sedentarism, alimentație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/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NEMODIFICABILI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Vârstă, sex, factori constituționali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/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RELATIV = riscul expușilor ÷ riscul neexpușilor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Egal cu unu: riscuri egale; peste unu: risc crescut; sub unu: efect protector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256032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54864" cy="256032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9" name="Text 7"/>
          <p:cNvSpPr/>
          <p:nvPr/>
        </p:nvSpPr>
        <p:spPr>
          <a:xfrm>
            <a:off x="4937760" y="960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 de risc în România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Fumat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27,3%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755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Alcool, consum episodic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7556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11,1%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139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Tensiune arterială crescută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1396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(GBD)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523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activitate fizică aerobă în afara muncii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5237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84,0%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907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Fructe și legume, cinci porții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907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2,4%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IHME, GBD 2023 (clasamentul factorilor de risc); Eurostat, EHIS 2019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51 / 71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Supravegherea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epidemiologică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SECȚIUNEA C · Sisteme · Circuitul raportării · Rolul asistentului medical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52 / 71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Supravegherea: vigilența continuă a sănătății publice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55448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COLECTARE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005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6B"/>
                </a:solidFill>
              </a:rPr>
              <a:t>→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005840"/>
            <a:ext cx="155448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7" name="Text 5"/>
          <p:cNvSpPr/>
          <p:nvPr/>
        </p:nvSpPr>
        <p:spPr>
          <a:xfrm>
            <a:off x="2011680" y="1005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ANALIZĂ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005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6B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1005840"/>
            <a:ext cx="155448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INTERPRETARE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005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6B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1005840"/>
            <a:ext cx="155448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3" name="Text 11"/>
          <p:cNvSpPr/>
          <p:nvPr/>
        </p:nvSpPr>
        <p:spPr>
          <a:xfrm>
            <a:off x="5486400" y="1005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 TRANSMITERE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0" y="1005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6B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0" y="1005840"/>
            <a:ext cx="155448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6" name="Text 14"/>
          <p:cNvSpPr/>
          <p:nvPr/>
        </p:nvSpPr>
        <p:spPr>
          <a:xfrm>
            <a:off x="7223760" y="1005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DECIZIE ȘI ACȚIUNE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828800"/>
            <a:ext cx="137160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8" name="Text 16"/>
          <p:cNvSpPr/>
          <p:nvPr/>
        </p:nvSpPr>
        <p:spPr>
          <a:xfrm>
            <a:off x="45720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Pasivă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Furnizorii trimit rapoarte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1828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reguli cunoscute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137160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2" name="Text 20"/>
          <p:cNvSpPr/>
          <p:nvPr/>
        </p:nvSpPr>
        <p:spPr>
          <a:xfrm>
            <a:off x="45720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Autoritatea solicită rapoarte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2331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Boli anume, perioade limitate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137160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6" name="Text 24"/>
          <p:cNvSpPr/>
          <p:nvPr/>
        </p:nvSpPr>
        <p:spPr>
          <a:xfrm>
            <a:off x="45720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Sentinelă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1168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Eșantion prestabilit de furnizori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Boli asemănătoare gripei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337560"/>
            <a:ext cx="137160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30" name="Text 28"/>
          <p:cNvSpPr/>
          <p:nvPr/>
        </p:nvSpPr>
        <p:spPr>
          <a:xfrm>
            <a:off x="45720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Sindromică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01168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Semne și simptome (ex.: paralizia flască acută)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3337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Semnalare precoce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Supravegherea nu include acțiunile de control, dar există pentru ele; efectul măsurilor se urmărește prin aceeași supraveghere.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53 / 71</a:t>
            </a:r>
            <a:endParaRPr lang="en-US" sz="1200" dirty="0"/>
          </a:p>
        </p:txBody>
      </p:sp>
      <p:sp>
        <p:nvSpPr>
          <p:cNvPr id="37" name="Text 37"/>
          <p:cNvSpPr/>
          <p:nvPr/>
        </p:nvSpPr>
        <p:spPr>
          <a:xfrm>
            <a:off x="457200" y="42976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OMS, standardele de supraveghere a bolilor prevenibile prin vaccinare (2018); Murray și Cohen (2017)</a:t>
            </a:r>
            <a:endParaRPr lang="en-US" sz="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Raportarea bolilor transmisibile în România</a:t>
            </a:r>
            <a:endParaRPr lang="en-US" sz="18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104224"/>
              </p:ext>
            </p:extLst>
          </p:nvPr>
        </p:nvGraphicFramePr>
        <p:xfrm>
          <a:off x="457200" y="914400"/>
          <a:ext cx="8229600" cy="2514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Element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Prevederea HG nr. 657/2022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Termen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Cine raportează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Furnizorii de servicii medicale, inclusiv laboratoarele, publici și privați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—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Fișa unică de raportare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Caz suspect sau confirmat; fișa se trimite la DSP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în cel mult 5 zile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Bolile marcate cu litera T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Declarare telefonică imediată la DSP, de exemplu rujeola, difteria, boala meningococică, botulismul; fișa urmează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imediat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Raportarea statistică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DSP, după validarea medicului epidemiolog; coduri CIM, revizia a zecea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—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Confidențialitatea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Datele de identitate, protejate conform Regulamentului (UE) 2016/679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—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ECEAE4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2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legal: HG nr. 657/2022. Obligația de raportare revine furnizorului; asistentul medical recunoaște cazurile și contribuie la completarea și transmiterea fișei.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54 / 71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cabinet la ECDC și OMS: circuitul informației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86000" y="1005840"/>
            <a:ext cx="4572000" cy="502920"/>
          </a:xfrm>
          <a:prstGeom prst="rect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4" name="Text 2"/>
          <p:cNvSpPr/>
          <p:nvPr/>
        </p:nvSpPr>
        <p:spPr>
          <a:xfrm>
            <a:off x="2286000" y="1005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Furnizorul de servicii medicale (cabinet, spital, laborator)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85A64"/>
                </a:solidFill>
              </a:rPr>
              <a:t>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57400" y="1783080"/>
            <a:ext cx="5029200" cy="502920"/>
          </a:xfrm>
          <a:prstGeom prst="rect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7" name="Text 5"/>
          <p:cNvSpPr/>
          <p:nvPr/>
        </p:nvSpPr>
        <p:spPr>
          <a:xfrm>
            <a:off x="2057400" y="1783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DSP județeană sau a municipiului București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85A64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2560320"/>
            <a:ext cx="5486400" cy="502920"/>
          </a:xfrm>
          <a:prstGeom prst="rect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0" name="Text 8"/>
          <p:cNvSpPr/>
          <p:nvPr/>
        </p:nvSpPr>
        <p:spPr>
          <a:xfrm>
            <a:off x="1828800" y="2560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INSP – CNSCBT: Registrul unic de boli transmisibile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85A64"/>
                </a:solidFill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3337560"/>
            <a:ext cx="6400800" cy="502920"/>
          </a:xfrm>
          <a:prstGeom prst="rect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1371600" y="3337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UE: ECDC și alerta precoce · OMS, prin punctul focal național RSI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aprofundare: HG nr. 657/2022 trimite la Decizia nr. 1082/2013/UE, abrogată prin Regulamentul (UE) 2022/2371; Regulamentul Sanitar Internațional (2005) cere notificarea OMS în 24 de ore de la evaluare.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55 / 71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linie: rolul asistentului medical în supraveghere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554480" cy="21945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54480" cy="4572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Identificare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Recunoașterea cazurilor care corespund definițiilor de caz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005840"/>
            <a:ext cx="1554480" cy="21945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8" name="Shape 6"/>
          <p:cNvSpPr/>
          <p:nvPr/>
        </p:nvSpPr>
        <p:spPr>
          <a:xfrm>
            <a:off x="2011680" y="1005840"/>
            <a:ext cx="1554480" cy="4572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9" name="Text 7"/>
          <p:cNvSpPr/>
          <p:nvPr/>
        </p:nvSpPr>
        <p:spPr>
          <a:xfrm>
            <a:off x="2011680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Documentarea datelor, completarea și transmiterea fișei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1005840"/>
            <a:ext cx="1554480" cy="21945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554480" cy="4572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3" name="Text 11"/>
          <p:cNvSpPr/>
          <p:nvPr/>
        </p:nvSpPr>
        <p:spPr>
          <a:xfrm>
            <a:off x="3749040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Anchetă epidemiologică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Identificarea contacților, participarea la anchetă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005840"/>
            <a:ext cx="1554480" cy="21945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6" name="Shape 14"/>
          <p:cNvSpPr/>
          <p:nvPr/>
        </p:nvSpPr>
        <p:spPr>
          <a:xfrm>
            <a:off x="5486400" y="1005840"/>
            <a:ext cx="1554480" cy="4572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7" name="Text 15"/>
          <p:cNvSpPr/>
          <p:nvPr/>
        </p:nvSpPr>
        <p:spPr>
          <a:xfrm>
            <a:off x="5486400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Vaccinare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Verificarea statusului vaccinal, recuperarea vaccinărilor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1005840"/>
            <a:ext cx="1554480" cy="21945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0" name="Shape 18"/>
          <p:cNvSpPr/>
          <p:nvPr/>
        </p:nvSpPr>
        <p:spPr>
          <a:xfrm>
            <a:off x="7223760" y="1005840"/>
            <a:ext cx="1554480" cy="4572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1" name="Text 19"/>
          <p:cNvSpPr/>
          <p:nvPr/>
        </p:nvSpPr>
        <p:spPr>
          <a:xfrm>
            <a:off x="7223760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Educarea pacienților privind prevenția și igiena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HG nr. 657/2022 (obligația furnizorului); rolul asistentului medical, după notele cursului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56 / 71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ce sursă de date apelați?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Incidența tuberculozei în România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Speranța de viață, România și 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Cazurile de rujeolă din ultimii ani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 Povara factorilor de risc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57 / 71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ce sursă de date apelați? Răspunsurile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59436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Incidența tuberculozei în România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0" y="1005840"/>
            <a:ext cx="3017520" cy="5943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6" name="Text 4"/>
          <p:cNvSpPr/>
          <p:nvPr/>
        </p:nvSpPr>
        <p:spPr>
          <a:xfrm>
            <a:off x="5669280" y="10058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 INS; ECDC/OMS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029200" cy="59436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Speranța de viață, România și 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737360"/>
            <a:ext cx="3017520" cy="5943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0" name="Text 8"/>
          <p:cNvSpPr/>
          <p:nvPr/>
        </p:nvSpPr>
        <p:spPr>
          <a:xfrm>
            <a:off x="5669280" y="1737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 Eurostat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5029200" cy="59436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Cazurile de rujeolă din ultimii ani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2468880"/>
            <a:ext cx="3017520" cy="5943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4" name="Text 12"/>
          <p:cNvSpPr/>
          <p:nvPr/>
        </p:nvSpPr>
        <p:spPr>
          <a:xfrm>
            <a:off x="5669280" y="2468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 OMS (GHO); ECDC; INS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5029200" cy="59436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 Povara factorilor de risc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3200400"/>
            <a:ext cx="3017520" cy="5943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8" name="Text 16"/>
          <p:cNvSpPr/>
          <p:nvPr/>
        </p:nvSpPr>
        <p:spPr>
          <a:xfrm>
            <a:off x="5669280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 IHME (GBD)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58 / 71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Investigarea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focarelor epidemice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SECȚIUNEA D · Definiții · Pașii CDC · Studii de caz din România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59 / 71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Focar, epidemie, pandemie: terminologie esențială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21280" cy="18288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585A64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ENDEMIC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Prezența constantă sau obișnuită a bolii într-o populație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Nivelul de bază este cel așteptat, nu neapărat cel dorit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1360" y="1005840"/>
            <a:ext cx="2621280" cy="18288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9" name="Shape 7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0" name="Text 8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FOCAR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98520" y="150876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definiție ca epidemia, de obicei pe o arie mai restrânsă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98520" y="224028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Ex.: îmbolnăvirile după o masă festivă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65520" y="1005840"/>
            <a:ext cx="2621280" cy="18288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4" name="Shape 12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5" name="Text 13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EPIDEMIE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02680" y="150876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Creștere, adesea bruscă, peste nivelul așteptat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02680" y="224028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Ex.: rujeola în România, 2016–2020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PANDEMIE — epidemie extinsă în mai multe țări sau continente.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Ex.: COVID-19, caracterizată drept pandemie de OMS la 11 martie 2020.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 / 71</a:t>
            </a:r>
            <a:endParaRPr lang="en-US" sz="1200" dirty="0"/>
          </a:p>
        </p:txBody>
      </p:sp>
      <p:sp>
        <p:nvSpPr>
          <p:cNvPr id="23" name="Text 23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Focar: CDC, Field Epidemiology Manual (2019): mai multe cazuri decât se așteaptă într-o zonă sau grup, într-o perioadă; se poate folosi termenul de epidemie când cazurile sunt clar mult mai numeroase și distribuite pe o arie mai mare</a:t>
            </a:r>
            <a:endParaRPr lang="en-US" sz="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Pașii CDC de investigare a unui focar: 10 pași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554480" cy="10515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4" name="Shape 2"/>
          <p:cNvSpPr/>
          <p:nvPr/>
        </p:nvSpPr>
        <p:spPr>
          <a:xfrm>
            <a:off x="859536" y="969264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5" name="Text 3"/>
          <p:cNvSpPr/>
          <p:nvPr/>
        </p:nvSpPr>
        <p:spPr>
          <a:xfrm>
            <a:off x="859536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Pregătirea activității de teren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79" y="914400"/>
            <a:ext cx="1554480" cy="10515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8" name="Shape 6"/>
          <p:cNvSpPr/>
          <p:nvPr/>
        </p:nvSpPr>
        <p:spPr>
          <a:xfrm>
            <a:off x="2596895" y="969264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9" name="Text 7"/>
          <p:cNvSpPr/>
          <p:nvPr/>
        </p:nvSpPr>
        <p:spPr>
          <a:xfrm>
            <a:off x="2596895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19" y="1389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Confirmarea diagnosticului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39" y="914400"/>
            <a:ext cx="1554480" cy="10515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2" name="Shape 10"/>
          <p:cNvSpPr/>
          <p:nvPr/>
        </p:nvSpPr>
        <p:spPr>
          <a:xfrm>
            <a:off x="4334255" y="969264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3" name="Text 11"/>
          <p:cNvSpPr/>
          <p:nvPr/>
        </p:nvSpPr>
        <p:spPr>
          <a:xfrm>
            <a:off x="4334255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79" y="1389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Stabilirea existenței focarului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399" y="914400"/>
            <a:ext cx="1554480" cy="10515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6" name="Shape 14"/>
          <p:cNvSpPr/>
          <p:nvPr/>
        </p:nvSpPr>
        <p:spPr>
          <a:xfrm>
            <a:off x="6071615" y="969264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7" name="Text 15"/>
          <p:cNvSpPr/>
          <p:nvPr/>
        </p:nvSpPr>
        <p:spPr>
          <a:xfrm>
            <a:off x="6071615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39" y="1389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Identificarea și numărarea cazurilor (definiția de caz)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59" y="914400"/>
            <a:ext cx="1554480" cy="10515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0" name="Shape 18"/>
          <p:cNvSpPr/>
          <p:nvPr/>
        </p:nvSpPr>
        <p:spPr>
          <a:xfrm>
            <a:off x="7808975" y="969264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1" name="Text 19"/>
          <p:cNvSpPr/>
          <p:nvPr/>
        </p:nvSpPr>
        <p:spPr>
          <a:xfrm>
            <a:off x="7808975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199" y="1389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Organizarea datelor după timp, loc și persoană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103119"/>
            <a:ext cx="1554480" cy="10515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4" name="Shape 22"/>
          <p:cNvSpPr/>
          <p:nvPr/>
        </p:nvSpPr>
        <p:spPr>
          <a:xfrm>
            <a:off x="859536" y="2157983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5" name="Text 23"/>
          <p:cNvSpPr/>
          <p:nvPr/>
        </p:nvSpPr>
        <p:spPr>
          <a:xfrm>
            <a:off x="859536" y="21579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2578607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Posibilitatea unor măsuri de control imediate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11679" y="2103119"/>
            <a:ext cx="1554480" cy="10515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8" name="Shape 26"/>
          <p:cNvSpPr/>
          <p:nvPr/>
        </p:nvSpPr>
        <p:spPr>
          <a:xfrm>
            <a:off x="2596895" y="2157983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9" name="Text 27"/>
          <p:cNvSpPr/>
          <p:nvPr/>
        </p:nvSpPr>
        <p:spPr>
          <a:xfrm>
            <a:off x="2596895" y="21579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03119" y="2578607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Formularea și testarea ipotezelor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749039" y="2103119"/>
            <a:ext cx="1554480" cy="10515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32" name="Shape 30"/>
          <p:cNvSpPr/>
          <p:nvPr/>
        </p:nvSpPr>
        <p:spPr>
          <a:xfrm>
            <a:off x="4334255" y="2157983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33" name="Text 31"/>
          <p:cNvSpPr/>
          <p:nvPr/>
        </p:nvSpPr>
        <p:spPr>
          <a:xfrm>
            <a:off x="4334255" y="21579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79" y="2578607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Planificarea unor studii sistematice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399" y="2103119"/>
            <a:ext cx="1554480" cy="10515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36" name="Shape 34"/>
          <p:cNvSpPr/>
          <p:nvPr/>
        </p:nvSpPr>
        <p:spPr>
          <a:xfrm>
            <a:off x="6071615" y="2157983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37" name="Text 35"/>
          <p:cNvSpPr/>
          <p:nvPr/>
        </p:nvSpPr>
        <p:spPr>
          <a:xfrm>
            <a:off x="6071615" y="21579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77839" y="2578607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Aplicarea și evaluarea măsurilor de control și prevenție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223759" y="2103119"/>
            <a:ext cx="1554480" cy="105156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40" name="Shape 38"/>
          <p:cNvSpPr/>
          <p:nvPr/>
        </p:nvSpPr>
        <p:spPr>
          <a:xfrm>
            <a:off x="7808975" y="2157983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41" name="Text 39"/>
          <p:cNvSpPr/>
          <p:nvPr/>
        </p:nvSpPr>
        <p:spPr>
          <a:xfrm>
            <a:off x="7808975" y="21579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15199" y="2578607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Comunicarea rezultatelor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CDC, Field Epidemiology Manual, cap. 3 (2019). Ordinea este conceptuală; măsuri preliminare de control se pot lua la orice pas; pașii se pot parcurge în altă ordine sau simultan.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45" name="Text 4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61 / 71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Curba epidemică: forma sugerează tiparul de răspândire</a:t>
            </a:r>
            <a:endParaRPr lang="en-US" sz="20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012692282"/>
              </p:ext>
            </p:extLst>
          </p:nvPr>
        </p:nvGraphicFramePr>
        <p:xfrm>
          <a:off x="182880" y="914400"/>
          <a:ext cx="27432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3099189571"/>
              </p:ext>
            </p:extLst>
          </p:nvPr>
        </p:nvGraphicFramePr>
        <p:xfrm>
          <a:off x="3200400" y="914400"/>
          <a:ext cx="27432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2"/>
          <p:cNvGraphicFramePr/>
          <p:nvPr>
            <p:extLst>
              <p:ext uri="{D42A27DB-BD31-4B8C-83A1-F6EECF244321}">
                <p14:modId xmlns:p14="http://schemas.microsoft.com/office/powerpoint/2010/main" val="3589773574"/>
              </p:ext>
            </p:extLst>
          </p:nvPr>
        </p:nvGraphicFramePr>
        <p:xfrm>
          <a:off x="6217920" y="914400"/>
          <a:ext cx="27432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ipotetice, ilustrative. Sursa punctiformă: cazurile apar într-o singură perioadă de incubație; curba urcă abrupt și coboară mai lent. Sursa continuă: platou. Transmiterea de la persoană la persoană: vârfuri succesive, la o perioadă de incubație distanță. Sursa: CDC, Field Epidemiology Manual, cap. 6 (2019).</a:t>
            </a:r>
            <a:endParaRPr lang="en-US" sz="1200" dirty="0"/>
          </a:p>
        </p:txBody>
      </p:sp>
      <p:sp>
        <p:nvSpPr>
          <p:cNvPr id="7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8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9" name="Text 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62 / 71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Lanțul infecției: șase verigi, șase puncte de intervenție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28600" y="1005840"/>
            <a:ext cx="1280160" cy="6400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4" name="Text 2"/>
          <p:cNvSpPr/>
          <p:nvPr/>
        </p:nvSpPr>
        <p:spPr>
          <a:xfrm>
            <a:off x="228600" y="1005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Agent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infecțios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100584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6B"/>
                </a:solidFill>
              </a:rPr>
              <a:t>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5A64"/>
                </a:solidFill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920240"/>
            <a:ext cx="128016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8" name="Text 6"/>
          <p:cNvSpPr/>
          <p:nvPr/>
        </p:nvSpPr>
        <p:spPr>
          <a:xfrm>
            <a:off x="22860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Tratament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Dezinfecție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1005840"/>
            <a:ext cx="1280160" cy="6400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0" name="Text 8"/>
          <p:cNvSpPr/>
          <p:nvPr/>
        </p:nvSpPr>
        <p:spPr>
          <a:xfrm>
            <a:off x="1691640" y="1005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Rezervor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100584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6B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5A64"/>
                </a:solidFill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91640" y="1920240"/>
            <a:ext cx="128016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4" name="Text 12"/>
          <p:cNvSpPr/>
          <p:nvPr/>
        </p:nvSpPr>
        <p:spPr>
          <a:xfrm>
            <a:off x="169164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Tratamentul sursei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Izolare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1005840"/>
            <a:ext cx="1280160" cy="6400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6" name="Text 14"/>
          <p:cNvSpPr/>
          <p:nvPr/>
        </p:nvSpPr>
        <p:spPr>
          <a:xfrm>
            <a:off x="3154680" y="1005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Poartă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ieșire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100584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6B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5468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5A64"/>
                </a:solidFill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54680" y="1920240"/>
            <a:ext cx="128016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0" name="Text 18"/>
          <p:cNvSpPr/>
          <p:nvPr/>
        </p:nvSpPr>
        <p:spPr>
          <a:xfrm>
            <a:off x="315468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Izolare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Igienă respiratorie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1005840"/>
            <a:ext cx="1280160" cy="6400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2" name="Text 20"/>
          <p:cNvSpPr/>
          <p:nvPr/>
        </p:nvSpPr>
        <p:spPr>
          <a:xfrm>
            <a:off x="4617720" y="1005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 de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transmitere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97880" y="100584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6B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5A64"/>
                </a:solidFill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1920240"/>
            <a:ext cx="128016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6" name="Text 24"/>
          <p:cNvSpPr/>
          <p:nvPr/>
        </p:nvSpPr>
        <p:spPr>
          <a:xfrm>
            <a:off x="461772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Spălarea mâinilor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Ventilație, vectori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1005840"/>
            <a:ext cx="1280160" cy="6400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8" name="Text 26"/>
          <p:cNvSpPr/>
          <p:nvPr/>
        </p:nvSpPr>
        <p:spPr>
          <a:xfrm>
            <a:off x="6080760" y="1005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Poartă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intrare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60920" y="100584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6B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8076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5A64"/>
                </a:solidFill>
              </a:rPr>
              <a:t>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80760" y="1920240"/>
            <a:ext cx="128016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32" name="Text 30"/>
          <p:cNvSpPr/>
          <p:nvPr/>
        </p:nvSpPr>
        <p:spPr>
          <a:xfrm>
            <a:off x="608076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Echipament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protecție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43800" y="1005840"/>
            <a:ext cx="1280160" cy="6400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34" name="Text 32"/>
          <p:cNvSpPr/>
          <p:nvPr/>
        </p:nvSpPr>
        <p:spPr>
          <a:xfrm>
            <a:off x="7543800" y="1005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Gazdă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receptivă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4380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5A64"/>
                </a:solidFill>
              </a:rPr>
              <a:t>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43800" y="1920240"/>
            <a:ext cx="1280160" cy="6400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37" name="Text 35"/>
          <p:cNvSpPr/>
          <p:nvPr/>
        </p:nvSpPr>
        <p:spPr>
          <a:xfrm>
            <a:off x="754380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Vaccinare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Profilaxie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39" name="Text 37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Măsurile de control vizează de obicei veriga cea mai ușor de întrerupt a lanțului; asistentul medical contribuie la fiecare verigă.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41" name="Text 39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63 / 71</a:t>
            </a:r>
            <a:endParaRPr lang="en-US" sz="1200" dirty="0"/>
          </a:p>
        </p:txBody>
      </p:sp>
      <p:sp>
        <p:nvSpPr>
          <p:cNvPr id="43" name="Text 43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Modul de transmitere, după clasificarea CDC. În manualele românești, verigile se grupează în trei factori: sursa (agentul și rezervorul), căile de transmitere (poarta de ieșire, modul de transmitere, poarta de intrare) și receptivitatea gazdei (precizare didactică).</a:t>
            </a:r>
            <a:endParaRPr lang="en-US" sz="7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Studiu de caz: rujeola în România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920240" cy="8229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22 822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cazuri, 2016–2020 (OMS)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868680"/>
            <a:ext cx="1920240" cy="8229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7" name="Text 5"/>
          <p:cNvSpPr/>
          <p:nvPr/>
        </p:nvSpPr>
        <p:spPr>
          <a:xfrm>
            <a:off x="2560320" y="868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25 505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cazuri în 2024 (OMS, INS)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1920240" cy="8229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0" name="Text 8"/>
          <p:cNvSpPr/>
          <p:nvPr/>
        </p:nvSpPr>
        <p:spPr>
          <a:xfrm>
            <a:off x="4663440" y="868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66%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acoperire cu prima doză, 2025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868680"/>
            <a:ext cx="1920240" cy="82296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6766560" y="868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95%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6656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acoperire necesară, două doze</a:t>
            </a:r>
            <a:endParaRPr lang="en-US" sz="12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274320" y="1828800"/>
          <a:ext cx="50292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5486400" y="1828800"/>
            <a:ext cx="3200400" cy="18288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/>
          </a:p>
        </p:txBody>
      </p:sp>
      <p:sp>
        <p:nvSpPr>
          <p:cNvPr id="17" name="Shape 14"/>
          <p:cNvSpPr/>
          <p:nvPr/>
        </p:nvSpPr>
        <p:spPr>
          <a:xfrm>
            <a:off x="5486400" y="1828800"/>
            <a:ext cx="54864" cy="18288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8" name="Text 15"/>
          <p:cNvSpPr/>
          <p:nvPr/>
        </p:nvSpPr>
        <p:spPr>
          <a:xfrm>
            <a:off x="562356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Lecții învățate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23560" y="21945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doză: 94% (2012), 83% (2022), 78% (2023), 66% (2025)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Focare apar și la acoperiri de 85–90%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Vaccinarea rapidă a contacților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Rolul asistentului medical: identificare, raportare, recuperarea vaccinărilor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OMS, GHO (cazuri raportate; acoperire vaccinală WUENIC); ECDC, raportul anual 2024; CDC, lecția 1; Randolph și Barreiro (2020): grupările de persoane receptive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22" name="Text 19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64 / 71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COVID-19 în România: supraveghere și lecții epidemiologice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97480" cy="731520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+110,8%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exces de mortalitate, octombrie 2021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914400"/>
            <a:ext cx="2697480" cy="731520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7" name="Text 5"/>
          <p:cNvSpPr/>
          <p:nvPr/>
        </p:nvSpPr>
        <p:spPr>
          <a:xfrm>
            <a:off x="3337560" y="9144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40,1%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3756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maximul UE-27, nov. 2020 (p)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914400"/>
            <a:ext cx="2697480" cy="731520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0" name="Text 8"/>
          <p:cNvSpPr/>
          <p:nvPr/>
        </p:nvSpPr>
        <p:spPr>
          <a:xfrm>
            <a:off x="6217920" y="9144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222,5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 COVID-19, 2021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3931920" cy="18288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54864" cy="18288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4" name="Text 12"/>
          <p:cNvSpPr/>
          <p:nvPr/>
        </p:nvSpPr>
        <p:spPr>
          <a:xfrm>
            <a:off x="64008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arată datele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2860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Excesul de mortalitate: față de media lunară 2016–2019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Indicatorul nu distinge cauzele de deces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 COVID-19, 2021: 222,5 (UE: 113,0)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Caracterizată drept pandemie de OMS la 11 martie 2020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920240"/>
            <a:ext cx="3931920" cy="18288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54864" cy="182880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8" name="Text 16"/>
          <p:cNvSpPr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Rolul asistentului medical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2860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Triaj și identificarea cazurilor suspecte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Testare, investigarea contacților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Vaccinare și educație pentru sănătate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Îngrijirea pacienților cu COVID-19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Eurostat, demo_mexrt și hlth_cd_asdr2; OMS, cronologia COVID-19. Marcaj Eurostat: p = valoare provizorie</a:t>
            </a:r>
            <a:endParaRPr lang="en-US" sz="800" i="1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 / 71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investigare la acțiune: măsuri de control în focare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21280" cy="2743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21280" cy="54864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62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ELIMINAREA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Retragerea alimentului contaminat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Dezinfecția apei și a mediului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Tratamentul sursei umane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2438400" cy="365760"/>
          </a:xfrm>
          <a:prstGeom prst="rect">
            <a:avLst/>
          </a:prstGeom>
          <a:solidFill>
            <a:srgbClr val="ECEAE4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AM: identificare, raportare, izolare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1360" y="1005840"/>
            <a:ext cx="2621280" cy="2743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2" name="Shape 10"/>
          <p:cNvSpPr/>
          <p:nvPr/>
        </p:nvSpPr>
        <p:spPr>
          <a:xfrm>
            <a:off x="3261360" y="1005840"/>
            <a:ext cx="2621280" cy="54864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3" name="Text 11"/>
          <p:cNvSpPr/>
          <p:nvPr/>
        </p:nvSpPr>
        <p:spPr>
          <a:xfrm>
            <a:off x="3261360" y="1005840"/>
            <a:ext cx="262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ÎNTRERUPEREA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TRANSMITERII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98520" y="169164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Izolare, carantină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98520" y="201168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Spălarea mâinilor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98520" y="233172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Dezinfecție, ventilație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52800" y="2697480"/>
            <a:ext cx="2438400" cy="365760"/>
          </a:xfrm>
          <a:prstGeom prst="rect">
            <a:avLst/>
          </a:prstGeom>
          <a:solidFill>
            <a:srgbClr val="ECEAE4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8" name="Text 16"/>
          <p:cNvSpPr/>
          <p:nvPr/>
        </p:nvSpPr>
        <p:spPr>
          <a:xfrm>
            <a:off x="3398520" y="269748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AM: echipament de protecție, igienă, educație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65520" y="1005840"/>
            <a:ext cx="2621280" cy="2743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0" name="Shape 18"/>
          <p:cNvSpPr/>
          <p:nvPr/>
        </p:nvSpPr>
        <p:spPr>
          <a:xfrm>
            <a:off x="6065520" y="1005840"/>
            <a:ext cx="2621280" cy="54864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1" name="Text 19"/>
          <p:cNvSpPr/>
          <p:nvPr/>
        </p:nvSpPr>
        <p:spPr>
          <a:xfrm>
            <a:off x="6065520" y="1005840"/>
            <a:ext cx="262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PROTECȚIA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GAZDEI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02680" y="169164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Profilaxie post-expunere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02680" y="201168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Vaccinare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02680" y="233172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Verificarea contacților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56960" y="2697480"/>
            <a:ext cx="2438400" cy="365760"/>
          </a:xfrm>
          <a:prstGeom prst="rect">
            <a:avLst/>
          </a:prstGeom>
          <a:solidFill>
            <a:srgbClr val="ECEAE4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6" name="Text 24"/>
          <p:cNvSpPr/>
          <p:nvPr/>
        </p:nvSpPr>
        <p:spPr>
          <a:xfrm>
            <a:off x="6202680" y="269748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AM: profilaxie, vaccinare, educație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66 / 71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Investigația dumneavoastră: focar după o masă festivă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ipotetice: 150 de participanți, 39 de bolnavi cu simptome digestive acute în 30 de ore</a:t>
            </a:r>
            <a:endParaRPr lang="en-US" sz="12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205374"/>
              </p:ext>
            </p:extLst>
          </p:nvPr>
        </p:nvGraphicFramePr>
        <p:xfrm>
          <a:off x="457200" y="1280160"/>
          <a:ext cx="4572000" cy="1737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Preparat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Au consumat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Bolnavi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Rata de atac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90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36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40,0%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B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110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30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27,3%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75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20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26,7%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130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34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26,2%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E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60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15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25,0%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280160"/>
            <a:ext cx="3383280" cy="210312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6" name="Text 3"/>
          <p:cNvSpPr/>
          <p:nvPr/>
        </p:nvSpPr>
        <p:spPr>
          <a:xfrm>
            <a:off x="53035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SARCINI (opt minute)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0" y="1691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Calculați rata de atac la neconsumatori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Calculați riscul relativ pentru fiecare preparat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Desenați curba epidemică pe intervale de șase ore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 Propuneți trei măsuri imediate de control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Debutul bolii, în ore după masă: sub 6 ore: 4 persoane; 6 până la sub 12: 17; 12 până la sub 18: 12; 18 până la sub 24: 5; 24 până la sub 30: 1 (valori ipotetice)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67 / 71</a:t>
            </a:r>
            <a:endParaRPr lang="en-US" sz="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Rezolvarea investigației: masa festivă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ipotetice: 150 de participanți, 39 de bolnavi cu simptome digestive acute în 30 de ore</a:t>
            </a:r>
            <a:endParaRPr lang="en-US" sz="12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205374"/>
              </p:ext>
            </p:extLst>
          </p:nvPr>
        </p:nvGraphicFramePr>
        <p:xfrm>
          <a:off x="457200" y="1280160"/>
          <a:ext cx="4572000" cy="1737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Preparat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Au consumat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Nu au consumat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Risc relativ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D3BE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40,0%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5,0%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D3BE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8,0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B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27,3%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22,5%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1,2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26,7%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25,3%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1,1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26,2%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25,0%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1,0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E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25,0%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26,7%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0,9</a:t>
                      </a:r>
                      <a:endParaRPr lang="en-US" sz="11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280160"/>
            <a:ext cx="3383280" cy="2103120"/>
          </a:xfrm>
          <a:prstGeom prst="rect">
            <a:avLst/>
          </a:prstGeom>
          <a:solidFill>
            <a:srgbClr val="0E7C6B">
              <a:alpha val="20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6" name="Text 3"/>
          <p:cNvSpPr/>
          <p:nvPr/>
        </p:nvSpPr>
        <p:spPr>
          <a:xfrm>
            <a:off x="53035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CONCLUZIA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0" y="1691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preparatul A are o rată de atac mult mai mare la consumatori decât la neconsumatori: este vehiculul cel mai probabil.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Curba urcă abrupt și coboară mai lent: sursă comună punctiformă.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Bolnavii care nu au consumat preparatul A se investighează: contaminare încrucișată sau amintiri inexacte.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Preparatul A: 40,0% la consumatori, 5,0% la neconsumatori; RR = 8,0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68 / 71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Limitele interpretării: ce nu se poate afirma pe baza datelor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21280" cy="2743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21280" cy="54864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62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 LIPSĂ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Stilul de viață după 2019: nepublicat (EHIS)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Incidența pe județe: neprezentată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Decesele prin rujeolă, 2016–2020: neverificate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2438400" cy="365760"/>
          </a:xfrm>
          <a:prstGeom prst="rect">
            <a:avLst/>
          </a:prstGeom>
          <a:solidFill>
            <a:srgbClr val="ECEAE4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căutat: Eurostat hlth_ehis; CNSCBT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1360" y="1005840"/>
            <a:ext cx="2621280" cy="2743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2" name="Shape 10"/>
          <p:cNvSpPr/>
          <p:nvPr/>
        </p:nvSpPr>
        <p:spPr>
          <a:xfrm>
            <a:off x="3261360" y="1005840"/>
            <a:ext cx="2621280" cy="54864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3" name="Text 11"/>
          <p:cNvSpPr/>
          <p:nvPr/>
        </p:nvSpPr>
        <p:spPr>
          <a:xfrm>
            <a:off x="3261360" y="1005840"/>
            <a:ext cx="262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SERII NECOMPARABILE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98520" y="169164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Anii de viață sănătoasă: ruptură în 2024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98520" y="201168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Rujeola 2024: 25 505 (OMS, INS)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98520" y="233172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față de 30 692 (ECDC), fără explicație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52800" y="2697480"/>
            <a:ext cx="2438400" cy="365760"/>
          </a:xfrm>
          <a:prstGeom prst="rect">
            <a:avLst/>
          </a:prstGeom>
          <a:solidFill>
            <a:srgbClr val="ECEAE4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18" name="Text 16"/>
          <p:cNvSpPr/>
          <p:nvPr/>
        </p:nvSpPr>
        <p:spPr>
          <a:xfrm>
            <a:off x="3398520" y="269748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compară numai valori din aceeași serie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65520" y="1005840"/>
            <a:ext cx="2621280" cy="274320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0" name="Shape 18"/>
          <p:cNvSpPr/>
          <p:nvPr/>
        </p:nvSpPr>
        <p:spPr>
          <a:xfrm>
            <a:off x="6065520" y="1005840"/>
            <a:ext cx="2621280" cy="54864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1" name="Text 19"/>
          <p:cNvSpPr/>
          <p:nvPr/>
        </p:nvSpPr>
        <p:spPr>
          <a:xfrm>
            <a:off x="6065520" y="1005840"/>
            <a:ext cx="262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ESTIMĂRI ȘI LIMITE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02680" y="169164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Factorii de risc GBD: estimări de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02680" y="201168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prezintă numai ordinea factorilor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02680" y="233172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Excesul de mortalitate nu distinge cauzele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56960" y="2697480"/>
            <a:ext cx="2438400" cy="365760"/>
          </a:xfrm>
          <a:prstGeom prst="rect">
            <a:avLst/>
          </a:prstGeom>
          <a:solidFill>
            <a:srgbClr val="ECEAE4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6" name="Text 24"/>
          <p:cNvSpPr/>
          <p:nvPr/>
        </p:nvSpPr>
        <p:spPr>
          <a:xfrm>
            <a:off x="6202680" y="269748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Estimarea nu este o numărătoare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69 / 71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Harta de navigare epidemiologică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82880" y="1097280"/>
            <a:ext cx="1280160" cy="731520"/>
          </a:xfrm>
          <a:prstGeom prst="rect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INCIDENȚĂ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PREVALENȚĂ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63040" y="109728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6B"/>
                </a:solidFill>
              </a:rPr>
              <a:t>→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0" y="1097280"/>
            <a:ext cx="1280160" cy="731520"/>
          </a:xfrm>
          <a:prstGeom prst="rect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7" name="Text 5"/>
          <p:cNvSpPr/>
          <p:nvPr/>
        </p:nvSpPr>
        <p:spPr>
          <a:xfrm>
            <a:off x="1645920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RISC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09728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6B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1280160" cy="731520"/>
          </a:xfrm>
          <a:prstGeom prst="rect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0" name="Text 8"/>
          <p:cNvSpPr/>
          <p:nvPr/>
        </p:nvSpPr>
        <p:spPr>
          <a:xfrm>
            <a:off x="3108960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SUPRAVEGHERE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EPIDEMIOLOGICĂ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109728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6B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1280160" cy="731520"/>
          </a:xfrm>
          <a:prstGeom prst="rect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3" name="Text 11"/>
          <p:cNvSpPr/>
          <p:nvPr/>
        </p:nvSpPr>
        <p:spPr>
          <a:xfrm>
            <a:off x="4572000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INVESTIGARE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FOCARE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109728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6B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1280160" cy="731520"/>
          </a:xfrm>
          <a:prstGeom prst="rect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6" name="Text 14"/>
          <p:cNvSpPr/>
          <p:nvPr/>
        </p:nvSpPr>
        <p:spPr>
          <a:xfrm>
            <a:off x="6035040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INTERVENȚII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&amp; CONTROL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109728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6B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1097280"/>
            <a:ext cx="1280160" cy="731520"/>
          </a:xfrm>
          <a:prstGeom prst="rect">
            <a:avLst/>
          </a:prstGeom>
          <a:solidFill>
            <a:srgbClr val="0E7C6B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19" name="Text 17"/>
          <p:cNvSpPr/>
          <p:nvPr/>
        </p:nvSpPr>
        <p:spPr>
          <a:xfrm>
            <a:off x="7498080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&amp; FEEDBACK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286000"/>
            <a:ext cx="3931920" cy="10972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54864" cy="10972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2" name="Text 20"/>
          <p:cNvSpPr/>
          <p:nvPr/>
        </p:nvSpPr>
        <p:spPr>
          <a:xfrm>
            <a:off x="64008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Legătura cu prima parte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2651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Indicatorii de sănătate publică (mortalitate, morbiditate, speranță de viață) sunt PRODUSUL epidemiologiei aplicate.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3931920" cy="1097280"/>
          </a:xfrm>
          <a:prstGeom prst="rect">
            <a:avLst/>
          </a:prstGeom>
          <a:solidFill>
            <a:srgbClr val="ECEAE4"/>
          </a:solidFill>
          <a:ln/>
          <a:effectLst/>
        </p:spPr>
        <p:txBody>
          <a:bodyPr/>
          <a:lstStyle/>
          <a:p>
            <a:endParaRPr lang="ro-RO" sz="120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54864" cy="1097280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ro-RO" sz="1200"/>
          </a:p>
        </p:txBody>
      </p:sp>
      <p:sp>
        <p:nvSpPr>
          <p:cNvPr id="26" name="Text 24"/>
          <p:cNvSpPr/>
          <p:nvPr/>
        </p:nvSpPr>
        <p:spPr>
          <a:xfrm>
            <a:off x="493776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Urmează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651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LP01: profilul de sănătate al comunității. C02: epidemiologie aplicată (II), promovarea sănătății și educația pentru sănătate.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Conceptele cursului se aplică în PRACTICA ZILNICĂ a asistentului medical!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 sz="120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70 / 71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Bilet de ieșire și bibliografie (partea a II-a)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743200"/>
          </a:xfrm>
          <a:prstGeom prst="rect">
            <a:avLst/>
          </a:prstGeom>
          <a:solidFill>
            <a:srgbClr val="0E7C6B">
              <a:alpha val="25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— Bilet de ieșire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Ce idee din acest curs v-a surprins cel mai mult?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/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Cât de pregătit vă simțiți să explicați diferența dintre incidență și prevalență?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/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Codul de acces Mentimeter este afișat de cadrul didactic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2743200"/>
          </a:xfrm>
          <a:prstGeom prst="rect">
            <a:avLst/>
          </a:prstGeom>
          <a:solidFill>
            <a:srgbClr val="0E7C6B">
              <a:alpha val="15000"/>
            </a:srgbClr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Bibliografie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Suportul de curs electronic actualizat (site-ul disciplinei)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0" y="16230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CDC, Principles of Epidemiology (2012); Field Epidemiology Manual (2019)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HG nr. 657/2022 privind raportarea bolilor transmisibile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937760" y="20345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 ECDC, rapoartele anuale: rujeola (2025), tuberculoza (2026)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 OMS, Global Health Observatory: rujeola și vaccinarea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937760" y="24460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6. Eurostat și INS: bazele de date citate pe diapozitive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7. IHME, Global Burden of Disease 2023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937760" y="28575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8. OMS, cronologia pandemiei de COVID-19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37760" y="3749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Resurse online: ecdc.europa.eu · who.int · ec.europa.eu/eurostat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Mulțumesc! Urmează LP01: profilul de sănătate al comunității, pe date INS.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 C02: epidemiologie aplicată în nursing (II); promovarea sănătății.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/>
          <a:lstStyle/>
          <a:p>
            <a:endParaRPr lang="ro-RO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— C01 | UMF „Iuliu Hațieganu” Cluj-Napoca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71 / 71</a:t>
            </a:r>
            <a:endParaRPr lang="en-US" sz="800" dirty="0"/>
          </a:p>
        </p:txBody>
      </p:sp>
      <p:sp>
        <p:nvSpPr>
          <p:cNvPr id="21" name="Text 21"/>
          <p:cNvSpPr/>
          <p:nvPr/>
        </p:nvSpPr>
        <p:spPr>
          <a:xfrm>
            <a:off x="493776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9. OMS, standardele de supraveghere a bolilor prevenibile prin vaccinare (2018)</a:t>
            </a:r>
            <a:endParaRPr lang="en-US" sz="700" dirty="0"/>
          </a:p>
        </p:txBody>
      </p:sp>
      <p:sp>
        <p:nvSpPr>
          <p:cNvPr id="22" name="Text 22"/>
          <p:cNvSpPr/>
          <p:nvPr/>
        </p:nvSpPr>
        <p:spPr>
          <a:xfrm>
            <a:off x="4937760" y="32689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10. OMS, Health promotion glossary of terms (2021)</a:t>
            </a:r>
            <a:endParaRPr lang="en-US" sz="700" dirty="0"/>
          </a:p>
        </p:txBody>
      </p:sp>
      <p:sp>
        <p:nvSpPr>
          <p:cNvPr id="23" name="Text 23"/>
          <p:cNvSpPr/>
          <p:nvPr/>
        </p:nvSpPr>
        <p:spPr>
          <a:xfrm>
            <a:off x="4937760" y="3474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11. Randolph și Barreiro (2020); Zarulli și colab. (2018); Nakou și colab. (2025)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alatino Linotype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alatino Linotype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5460</Words>
  <Application>Microsoft Macintosh PowerPoint</Application>
  <PresentationFormat>On-screen Show (16:9)</PresentationFormat>
  <Paragraphs>1075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Sănătate publică și management — C01 (decul de proiectat)</dc:title>
  <dc:subject>C01 · ro · derivat din C1_SPM_AMGIV_2026.pptx, actualizat pe notele și registrul din 27.09.2026</dc:subject>
  <dc:creator>Adrian · UMFIH Cluj-Napoca</dc:creator>
  <cp:lastModifiedBy>Adrian Pana</cp:lastModifiedBy>
  <cp:revision>4</cp:revision>
  <dcterms:created xsi:type="dcterms:W3CDTF">2026-03-02T22:31:11Z</dcterms:created>
  <dcterms:modified xsi:type="dcterms:W3CDTF">2026-03-03T06:44:49Z</dcterms:modified>
  <cp:keywords>sursa_amprenta=73672e78545e1f97; proiectie</cp:keywords>
</cp:coreProperties>
</file>