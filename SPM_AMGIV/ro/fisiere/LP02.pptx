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40080" y="731520"/>
            <a:ext cx="448056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40080" y="731520"/>
            <a:ext cx="448056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LUCRAREA PRACTICĂ · AMG, ANUL IV</a:t>
            </a:r>
            <a:endParaRPr lang="en-US" sz="1300" dirty="0"/>
          </a:p>
        </p:txBody>
      </p:sp>
      <p:sp>
        <p:nvSpPr>
          <p:cNvPr id="4" name="Text 2"/>
          <p:cNvSpPr/>
          <p:nvPr/>
        </p:nvSpPr>
        <p:spPr>
          <a:xfrm>
            <a:off x="640080" y="1371600"/>
            <a:ext cx="6583680" cy="1828800"/>
          </a:xfrm>
          <a:prstGeom prst="rect">
            <a:avLst/>
          </a:prstGeom>
          <a:noFill/>
          <a:ln/>
        </p:spPr>
        <p:txBody>
          <a:bodyPr wrap="square" lIns="0" tIns="0" rIns="0" bIns="0" rtlCol="0" anchor="t"/>
          <a:lstStyle/>
          <a:p>
            <a:pPr indent="0" marL="0">
              <a:buNone/>
            </a:pPr>
            <a:r>
              <a:rPr lang="en-US" sz="3800" b="1" dirty="0">
                <a:solidFill>
                  <a:srgbClr val="FFFFFF"/>
                </a:solidFill>
                <a:latin typeface="Palatino Linotype" pitchFamily="34" charset="0"/>
                <a:ea typeface="Palatino Linotype" pitchFamily="34" charset="-122"/>
                <a:cs typeface="Palatino Linotype" pitchFamily="34" charset="-120"/>
              </a:rPr>
              <a:t>Planul de intervenție în sănătate publică</a:t>
            </a:r>
            <a:endParaRPr lang="en-US" sz="3800" dirty="0"/>
          </a:p>
        </p:txBody>
      </p:sp>
      <p:sp>
        <p:nvSpPr>
          <p:cNvPr id="5" name="Text 3"/>
          <p:cNvSpPr/>
          <p:nvPr/>
        </p:nvSpPr>
        <p:spPr>
          <a:xfrm>
            <a:off x="640080" y="3291840"/>
            <a:ext cx="6583680" cy="822960"/>
          </a:xfrm>
          <a:prstGeom prst="rect">
            <a:avLst/>
          </a:prstGeom>
          <a:noFill/>
          <a:ln/>
        </p:spPr>
        <p:txBody>
          <a:bodyPr wrap="square" lIns="0" tIns="0" rIns="0" bIns="0" rtlCol="0" anchor="t"/>
          <a:lstStyle/>
          <a:p>
            <a:pPr indent="0" marL="0">
              <a:buNone/>
            </a:pPr>
            <a:r>
              <a:rPr lang="en-US" sz="2600" b="1" dirty="0">
                <a:solidFill>
                  <a:srgbClr val="27D3BE"/>
                </a:solidFill>
                <a:latin typeface="Palatino Linotype" pitchFamily="34" charset="0"/>
                <a:ea typeface="Palatino Linotype" pitchFamily="34" charset="-122"/>
                <a:cs typeface="Palatino Linotype" pitchFamily="34" charset="-120"/>
              </a:rPr>
              <a:t>Simularea investigării unui focar</a:t>
            </a:r>
            <a:endParaRPr lang="en-US" sz="2600" dirty="0"/>
          </a:p>
        </p:txBody>
      </p:sp>
      <p:sp>
        <p:nvSpPr>
          <p:cNvPr id="6" name="Shape 4"/>
          <p:cNvSpPr/>
          <p:nvPr/>
        </p:nvSpPr>
        <p:spPr>
          <a:xfrm>
            <a:off x="667512" y="4297680"/>
            <a:ext cx="1280160" cy="27432"/>
          </a:xfrm>
          <a:prstGeom prst="rect">
            <a:avLst/>
          </a:prstGeom>
          <a:solidFill>
            <a:srgbClr val="FF4757"/>
          </a:solidFill>
          <a:ln w="12700">
            <a:solidFill>
              <a:srgbClr val="FF4757"/>
            </a:solidFill>
            <a:prstDash val="solid"/>
          </a:ln>
        </p:spPr>
        <p:txBody>
          <a:bodyPr/>
          <a:p/>
        </p:txBody>
      </p:sp>
      <p:sp>
        <p:nvSpPr>
          <p:cNvPr id="7" name="Text 5"/>
          <p:cNvSpPr/>
          <p:nvPr/>
        </p:nvSpPr>
        <p:spPr>
          <a:xfrm>
            <a:off x="640080" y="4480560"/>
            <a:ext cx="6583680" cy="822960"/>
          </a:xfrm>
          <a:prstGeom prst="rect">
            <a:avLst/>
          </a:prstGeom>
          <a:noFill/>
          <a:ln/>
        </p:spPr>
        <p:txBody>
          <a:bodyPr wrap="square" lIns="0" tIns="0" rIns="0" bIns="0" rtlCol="0" anchor="t"/>
          <a:lstStyle/>
          <a:p>
            <a:pPr indent="0" marL="0">
              <a:buNone/>
            </a:pPr>
            <a:r>
              <a:rPr lang="en-US" sz="1400" dirty="0">
                <a:solidFill>
                  <a:srgbClr val="959BB0"/>
                </a:solidFill>
                <a:latin typeface="Palatino Linotype" pitchFamily="34" charset="0"/>
                <a:ea typeface="Palatino Linotype" pitchFamily="34" charset="-122"/>
                <a:cs typeface="Palatino Linotype" pitchFamily="34" charset="-120"/>
              </a:rPr>
              <a:t>Sănătate publică și management · Conf. univ. dr. Adrian Pană · UMF Cluj-Napoca</a:t>
            </a:r>
            <a:endParaRPr lang="en-US" sz="1400" dirty="0"/>
          </a:p>
        </p:txBody>
      </p:sp>
      <p:sp>
        <p:nvSpPr>
          <p:cNvPr id="8" name="Shape 6"/>
          <p:cNvSpPr/>
          <p:nvPr/>
        </p:nvSpPr>
        <p:spPr>
          <a:xfrm>
            <a:off x="7863840" y="5303520"/>
            <a:ext cx="548640" cy="365760"/>
          </a:xfrm>
          <a:prstGeom prst="rect">
            <a:avLst/>
          </a:prstGeom>
          <a:solidFill>
            <a:srgbClr val="27D3BE"/>
          </a:solidFill>
          <a:ln w="12700">
            <a:solidFill>
              <a:srgbClr val="27D3BE"/>
            </a:solidFill>
            <a:prstDash val="solid"/>
          </a:ln>
        </p:spPr>
        <p:txBody>
          <a:bodyPr/>
          <a:p/>
        </p:txBody>
      </p:sp>
      <p:sp>
        <p:nvSpPr>
          <p:cNvPr id="9" name="Shape 7"/>
          <p:cNvSpPr/>
          <p:nvPr/>
        </p:nvSpPr>
        <p:spPr>
          <a:xfrm>
            <a:off x="8522208" y="4023360"/>
            <a:ext cx="548640" cy="1645920"/>
          </a:xfrm>
          <a:prstGeom prst="rect">
            <a:avLst/>
          </a:prstGeom>
          <a:solidFill>
            <a:srgbClr val="27D3BE"/>
          </a:solidFill>
          <a:ln w="12700">
            <a:solidFill>
              <a:srgbClr val="27D3BE"/>
            </a:solidFill>
            <a:prstDash val="solid"/>
          </a:ln>
        </p:spPr>
        <p:txBody>
          <a:bodyPr/>
          <a:p/>
        </p:txBody>
      </p:sp>
      <p:sp>
        <p:nvSpPr>
          <p:cNvPr id="10" name="Shape 8"/>
          <p:cNvSpPr/>
          <p:nvPr/>
        </p:nvSpPr>
        <p:spPr>
          <a:xfrm>
            <a:off x="9180576" y="2560320"/>
            <a:ext cx="548640" cy="3108960"/>
          </a:xfrm>
          <a:prstGeom prst="rect">
            <a:avLst/>
          </a:prstGeom>
          <a:solidFill>
            <a:srgbClr val="FF4757"/>
          </a:solidFill>
          <a:ln w="12700">
            <a:solidFill>
              <a:srgbClr val="FF4757"/>
            </a:solidFill>
            <a:prstDash val="solid"/>
          </a:ln>
        </p:spPr>
        <p:txBody>
          <a:bodyPr/>
          <a:p/>
        </p:txBody>
      </p:sp>
      <p:sp>
        <p:nvSpPr>
          <p:cNvPr id="11" name="Shape 9"/>
          <p:cNvSpPr/>
          <p:nvPr/>
        </p:nvSpPr>
        <p:spPr>
          <a:xfrm>
            <a:off x="9838944" y="3474720"/>
            <a:ext cx="548640" cy="2194560"/>
          </a:xfrm>
          <a:prstGeom prst="rect">
            <a:avLst/>
          </a:prstGeom>
          <a:solidFill>
            <a:srgbClr val="27D3BE"/>
          </a:solidFill>
          <a:ln w="12700">
            <a:solidFill>
              <a:srgbClr val="27D3BE"/>
            </a:solidFill>
            <a:prstDash val="solid"/>
          </a:ln>
        </p:spPr>
        <p:txBody>
          <a:bodyPr/>
          <a:p/>
        </p:txBody>
      </p:sp>
      <p:sp>
        <p:nvSpPr>
          <p:cNvPr id="12" name="Shape 10"/>
          <p:cNvSpPr/>
          <p:nvPr/>
        </p:nvSpPr>
        <p:spPr>
          <a:xfrm>
            <a:off x="10497312" y="4572000"/>
            <a:ext cx="548640" cy="1097280"/>
          </a:xfrm>
          <a:prstGeom prst="rect">
            <a:avLst/>
          </a:prstGeom>
          <a:solidFill>
            <a:srgbClr val="27D3BE"/>
          </a:solidFill>
          <a:ln w="12700">
            <a:solidFill>
              <a:srgbClr val="27D3BE"/>
            </a:solidFill>
            <a:prstDash val="solid"/>
          </a:ln>
        </p:spPr>
        <p:txBody>
          <a:bodyPr/>
          <a:p/>
        </p:txBody>
      </p:sp>
      <p:sp>
        <p:nvSpPr>
          <p:cNvPr id="13" name="Shape 11"/>
          <p:cNvSpPr/>
          <p:nvPr/>
        </p:nvSpPr>
        <p:spPr>
          <a:xfrm>
            <a:off x="11155680" y="5303520"/>
            <a:ext cx="548640" cy="365760"/>
          </a:xfrm>
          <a:prstGeom prst="rect">
            <a:avLst/>
          </a:prstGeom>
          <a:solidFill>
            <a:srgbClr val="27D3BE"/>
          </a:solidFill>
          <a:ln w="12700">
            <a:solidFill>
              <a:srgbClr val="27D3BE"/>
            </a:solidFill>
            <a:prstDash val="solid"/>
          </a:ln>
        </p:spPr>
        <p:txBody>
          <a:bodyPr/>
          <a:p/>
        </p:txBody>
      </p:sp>
      <p:sp>
        <p:nvSpPr>
          <p:cNvPr id="14" name="Shape 12"/>
          <p:cNvSpPr/>
          <p:nvPr/>
        </p:nvSpPr>
        <p:spPr>
          <a:xfrm>
            <a:off x="7772400" y="5687568"/>
            <a:ext cx="4023360" cy="18288"/>
          </a:xfrm>
          <a:prstGeom prst="rect">
            <a:avLst/>
          </a:prstGeom>
          <a:solidFill>
            <a:srgbClr val="959BB0"/>
          </a:solidFill>
          <a:ln w="12700">
            <a:solidFill>
              <a:srgbClr val="959BB0"/>
            </a:solidFill>
            <a:prstDash val="solid"/>
          </a:ln>
        </p:spPr>
        <p:txBody>
          <a:body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DESFĂȘURAREA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Două ore, patru momente</a:t>
            </a:r>
            <a:endParaRPr lang="en-US" sz="3200" dirty="0"/>
          </a:p>
        </p:txBody>
      </p:sp>
      <p:sp>
        <p:nvSpPr>
          <p:cNvPr id="4" name="Shape 2"/>
          <p:cNvSpPr/>
          <p:nvPr/>
        </p:nvSpPr>
        <p:spPr>
          <a:xfrm>
            <a:off x="594360" y="1645920"/>
            <a:ext cx="954157" cy="292608"/>
          </a:xfrm>
          <a:prstGeom prst="rect">
            <a:avLst/>
          </a:prstGeom>
          <a:solidFill>
            <a:srgbClr val="B02532"/>
          </a:solidFill>
          <a:ln w="19050">
            <a:solidFill>
              <a:srgbClr val="F6F5F2"/>
            </a:solidFill>
            <a:prstDash val="solid"/>
          </a:ln>
        </p:spPr>
        <p:txBody>
          <a:bodyPr/>
          <a:p/>
        </p:txBody>
      </p:sp>
      <p:sp>
        <p:nvSpPr>
          <p:cNvPr id="5" name="Shape 3"/>
          <p:cNvSpPr/>
          <p:nvPr/>
        </p:nvSpPr>
        <p:spPr>
          <a:xfrm>
            <a:off x="1548517" y="1645920"/>
            <a:ext cx="3816626" cy="292608"/>
          </a:xfrm>
          <a:prstGeom prst="rect">
            <a:avLst/>
          </a:prstGeom>
          <a:solidFill>
            <a:srgbClr val="0E7C6B"/>
          </a:solidFill>
          <a:ln w="19050">
            <a:solidFill>
              <a:srgbClr val="F6F5F2"/>
            </a:solidFill>
            <a:prstDash val="solid"/>
          </a:ln>
        </p:spPr>
        <p:txBody>
          <a:bodyPr/>
          <a:p/>
        </p:txBody>
      </p:sp>
      <p:sp>
        <p:nvSpPr>
          <p:cNvPr id="6" name="Shape 4"/>
          <p:cNvSpPr/>
          <p:nvPr/>
        </p:nvSpPr>
        <p:spPr>
          <a:xfrm>
            <a:off x="5365143" y="1645920"/>
            <a:ext cx="4770783" cy="292608"/>
          </a:xfrm>
          <a:prstGeom prst="rect">
            <a:avLst/>
          </a:prstGeom>
          <a:solidFill>
            <a:srgbClr val="4A2D8C"/>
          </a:solidFill>
          <a:ln w="19050">
            <a:solidFill>
              <a:srgbClr val="F6F5F2"/>
            </a:solidFill>
            <a:prstDash val="solid"/>
          </a:ln>
        </p:spPr>
        <p:txBody>
          <a:bodyPr/>
          <a:p/>
        </p:txBody>
      </p:sp>
      <p:sp>
        <p:nvSpPr>
          <p:cNvPr id="7" name="Shape 5"/>
          <p:cNvSpPr/>
          <p:nvPr/>
        </p:nvSpPr>
        <p:spPr>
          <a:xfrm>
            <a:off x="10135925" y="1645920"/>
            <a:ext cx="1431235" cy="292608"/>
          </a:xfrm>
          <a:prstGeom prst="rect">
            <a:avLst/>
          </a:prstGeom>
          <a:solidFill>
            <a:srgbClr val="8A6100"/>
          </a:solidFill>
          <a:ln w="19050">
            <a:solidFill>
              <a:srgbClr val="F6F5F2"/>
            </a:solidFill>
            <a:prstDash val="solid"/>
          </a:ln>
        </p:spPr>
        <p:txBody>
          <a:bodyPr/>
          <a:p/>
        </p:txBody>
      </p:sp>
      <p:sp>
        <p:nvSpPr>
          <p:cNvPr id="8" name="Shape 6"/>
          <p:cNvSpPr/>
          <p:nvPr/>
        </p:nvSpPr>
        <p:spPr>
          <a:xfrm>
            <a:off x="594360" y="2240280"/>
            <a:ext cx="2606040" cy="45720"/>
          </a:xfrm>
          <a:prstGeom prst="rect">
            <a:avLst/>
          </a:prstGeom>
          <a:solidFill>
            <a:srgbClr val="B02532"/>
          </a:solidFill>
          <a:ln w="12700">
            <a:solidFill>
              <a:srgbClr val="B02532"/>
            </a:solidFill>
            <a:prstDash val="solid"/>
          </a:ln>
        </p:spPr>
        <p:txBody>
          <a:bodyPr/>
          <a:p/>
        </p:txBody>
      </p:sp>
      <p:sp>
        <p:nvSpPr>
          <p:cNvPr id="9" name="Text 7"/>
          <p:cNvSpPr/>
          <p:nvPr/>
        </p:nvSpPr>
        <p:spPr>
          <a:xfrm>
            <a:off x="594360" y="2377440"/>
            <a:ext cx="2606040" cy="82296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Deschiderea</a:t>
            </a:r>
            <a:endParaRPr lang="en-US" sz="1900" dirty="0"/>
          </a:p>
        </p:txBody>
      </p:sp>
      <p:sp>
        <p:nvSpPr>
          <p:cNvPr id="10" name="Text 8"/>
          <p:cNvSpPr/>
          <p:nvPr/>
        </p:nvSpPr>
        <p:spPr>
          <a:xfrm>
            <a:off x="594360" y="3200400"/>
            <a:ext cx="2606040" cy="10972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cele două părți ale lucrării; rolurile echipei</a:t>
            </a:r>
            <a:endParaRPr lang="en-US" sz="1600" dirty="0"/>
          </a:p>
        </p:txBody>
      </p:sp>
      <p:sp>
        <p:nvSpPr>
          <p:cNvPr id="11" name="Shape 9"/>
          <p:cNvSpPr/>
          <p:nvPr/>
        </p:nvSpPr>
        <p:spPr>
          <a:xfrm>
            <a:off x="3383280" y="2240280"/>
            <a:ext cx="2606040" cy="45720"/>
          </a:xfrm>
          <a:prstGeom prst="rect">
            <a:avLst/>
          </a:prstGeom>
          <a:solidFill>
            <a:srgbClr val="0E7C6B"/>
          </a:solidFill>
          <a:ln w="12700">
            <a:solidFill>
              <a:srgbClr val="0E7C6B"/>
            </a:solidFill>
            <a:prstDash val="solid"/>
          </a:ln>
        </p:spPr>
        <p:txBody>
          <a:bodyPr/>
          <a:p/>
        </p:txBody>
      </p:sp>
      <p:sp>
        <p:nvSpPr>
          <p:cNvPr id="12" name="Text 10"/>
          <p:cNvSpPr/>
          <p:nvPr/>
        </p:nvSpPr>
        <p:spPr>
          <a:xfrm>
            <a:off x="3383280" y="2377440"/>
            <a:ext cx="2606040" cy="822960"/>
          </a:xfrm>
          <a:prstGeom prst="rect">
            <a:avLst/>
          </a:prstGeom>
          <a:noFill/>
          <a:ln/>
        </p:spPr>
        <p:txBody>
          <a:bodyPr wrap="square" lIns="0" tIns="0" rIns="0" bIns="0" rtlCol="0" anchor="t"/>
          <a:lstStyle/>
          <a:p>
            <a:pPr indent="0" marL="0">
              <a:buNone/>
            </a:pPr>
            <a:r>
              <a:rPr lang="en-US" sz="1900" b="1" dirty="0">
                <a:solidFill>
                  <a:srgbClr val="0E7C6B"/>
                </a:solidFill>
                <a:latin typeface="Palatino Linotype" pitchFamily="34" charset="0"/>
                <a:ea typeface="Palatino Linotype" pitchFamily="34" charset="-122"/>
                <a:cs typeface="Palatino Linotype" pitchFamily="34" charset="-120"/>
              </a:rPr>
              <a:t>Planul de intervenție</a:t>
            </a:r>
            <a:endParaRPr lang="en-US" sz="1900" dirty="0"/>
          </a:p>
        </p:txBody>
      </p:sp>
      <p:sp>
        <p:nvSpPr>
          <p:cNvPr id="13" name="Text 11"/>
          <p:cNvSpPr/>
          <p:nvPr/>
        </p:nvSpPr>
        <p:spPr>
          <a:xfrm>
            <a:off x="3383280" y="3200400"/>
            <a:ext cx="2606040" cy="10972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o temă la alegere, de la problemă la indicatori</a:t>
            </a:r>
            <a:endParaRPr lang="en-US" sz="1600" dirty="0"/>
          </a:p>
        </p:txBody>
      </p:sp>
      <p:sp>
        <p:nvSpPr>
          <p:cNvPr id="14" name="Shape 12"/>
          <p:cNvSpPr/>
          <p:nvPr/>
        </p:nvSpPr>
        <p:spPr>
          <a:xfrm>
            <a:off x="6172200" y="2240280"/>
            <a:ext cx="2606040" cy="45720"/>
          </a:xfrm>
          <a:prstGeom prst="rect">
            <a:avLst/>
          </a:prstGeom>
          <a:solidFill>
            <a:srgbClr val="4A2D8C"/>
          </a:solidFill>
          <a:ln w="12700">
            <a:solidFill>
              <a:srgbClr val="4A2D8C"/>
            </a:solidFill>
            <a:prstDash val="solid"/>
          </a:ln>
        </p:spPr>
        <p:txBody>
          <a:bodyPr/>
          <a:p/>
        </p:txBody>
      </p:sp>
      <p:sp>
        <p:nvSpPr>
          <p:cNvPr id="15" name="Text 13"/>
          <p:cNvSpPr/>
          <p:nvPr/>
        </p:nvSpPr>
        <p:spPr>
          <a:xfrm>
            <a:off x="6172200" y="2377440"/>
            <a:ext cx="2606040" cy="822960"/>
          </a:xfrm>
          <a:prstGeom prst="rect">
            <a:avLst/>
          </a:prstGeom>
          <a:noFill/>
          <a:ln/>
        </p:spPr>
        <p:txBody>
          <a:bodyPr wrap="square" lIns="0" tIns="0" rIns="0" bIns="0" rtlCol="0" anchor="t"/>
          <a:lstStyle/>
          <a:p>
            <a:pPr indent="0" marL="0">
              <a:buNone/>
            </a:pPr>
            <a:r>
              <a:rPr lang="en-US" sz="1900" b="1" dirty="0">
                <a:solidFill>
                  <a:srgbClr val="4A2D8C"/>
                </a:solidFill>
                <a:latin typeface="Palatino Linotype" pitchFamily="34" charset="0"/>
                <a:ea typeface="Palatino Linotype" pitchFamily="34" charset="-122"/>
                <a:cs typeface="Palatino Linotype" pitchFamily="34" charset="-120"/>
              </a:rPr>
              <a:t>Investigarea focarului</a:t>
            </a:r>
            <a:endParaRPr lang="en-US" sz="1900" dirty="0"/>
          </a:p>
        </p:txBody>
      </p:sp>
      <p:sp>
        <p:nvSpPr>
          <p:cNvPr id="16" name="Text 14"/>
          <p:cNvSpPr/>
          <p:nvPr/>
        </p:nvSpPr>
        <p:spPr>
          <a:xfrm>
            <a:off x="6172200" y="3200400"/>
            <a:ext cx="2606040" cy="10972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cinci pași: de la definiția de caz la raportare</a:t>
            </a:r>
            <a:endParaRPr lang="en-US" sz="1600" dirty="0"/>
          </a:p>
        </p:txBody>
      </p:sp>
      <p:sp>
        <p:nvSpPr>
          <p:cNvPr id="17" name="Shape 15"/>
          <p:cNvSpPr/>
          <p:nvPr/>
        </p:nvSpPr>
        <p:spPr>
          <a:xfrm>
            <a:off x="8961120" y="2240280"/>
            <a:ext cx="2606040" cy="45720"/>
          </a:xfrm>
          <a:prstGeom prst="rect">
            <a:avLst/>
          </a:prstGeom>
          <a:solidFill>
            <a:srgbClr val="8A6100"/>
          </a:solidFill>
          <a:ln w="12700">
            <a:solidFill>
              <a:srgbClr val="8A6100"/>
            </a:solidFill>
            <a:prstDash val="solid"/>
          </a:ln>
        </p:spPr>
        <p:txBody>
          <a:bodyPr/>
          <a:p/>
        </p:txBody>
      </p:sp>
      <p:sp>
        <p:nvSpPr>
          <p:cNvPr id="18" name="Text 16"/>
          <p:cNvSpPr/>
          <p:nvPr/>
        </p:nvSpPr>
        <p:spPr>
          <a:xfrm>
            <a:off x="8961120" y="2377440"/>
            <a:ext cx="2606040" cy="822960"/>
          </a:xfrm>
          <a:prstGeom prst="rect">
            <a:avLst/>
          </a:prstGeom>
          <a:noFill/>
          <a:ln/>
        </p:spPr>
        <p:txBody>
          <a:bodyPr wrap="square" lIns="0" tIns="0" rIns="0" bIns="0" rtlCol="0" anchor="t"/>
          <a:lstStyle/>
          <a:p>
            <a:pPr indent="0" marL="0">
              <a:buNone/>
            </a:pPr>
            <a:r>
              <a:rPr lang="en-US" sz="1900" b="1" dirty="0">
                <a:solidFill>
                  <a:srgbClr val="8A6100"/>
                </a:solidFill>
                <a:latin typeface="Palatino Linotype" pitchFamily="34" charset="0"/>
                <a:ea typeface="Palatino Linotype" pitchFamily="34" charset="-122"/>
                <a:cs typeface="Palatino Linotype" pitchFamily="34" charset="-120"/>
              </a:rPr>
              <a:t>Sinteza</a:t>
            </a:r>
            <a:endParaRPr lang="en-US" sz="1900" dirty="0"/>
          </a:p>
        </p:txBody>
      </p:sp>
      <p:sp>
        <p:nvSpPr>
          <p:cNvPr id="19" name="Text 17"/>
          <p:cNvSpPr/>
          <p:nvPr/>
        </p:nvSpPr>
        <p:spPr>
          <a:xfrm>
            <a:off x="8961120" y="3200400"/>
            <a:ext cx="2606040" cy="10972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aceeași comunitate, două nevoi</a:t>
            </a:r>
            <a:endParaRPr lang="en-US" sz="1600" dirty="0"/>
          </a:p>
        </p:txBody>
      </p:sp>
      <p:sp>
        <p:nvSpPr>
          <p:cNvPr id="20" name="Shape 18"/>
          <p:cNvSpPr/>
          <p:nvPr/>
        </p:nvSpPr>
        <p:spPr>
          <a:xfrm>
            <a:off x="594360" y="4572000"/>
            <a:ext cx="10972800" cy="1371600"/>
          </a:xfrm>
          <a:prstGeom prst="roundRect">
            <a:avLst>
              <a:gd name="adj" fmla="val 6000"/>
            </a:avLst>
          </a:prstGeom>
          <a:solidFill>
            <a:srgbClr val="ECEAE4"/>
          </a:solidFill>
          <a:ln w="12700">
            <a:solidFill>
              <a:srgbClr val="ECEAE4"/>
            </a:solidFill>
            <a:prstDash val="solid"/>
          </a:ln>
        </p:spPr>
        <p:txBody>
          <a:bodyPr/>
          <a:p/>
        </p:txBody>
      </p:sp>
      <p:sp>
        <p:nvSpPr>
          <p:cNvPr id="21" name="Text 19"/>
          <p:cNvSpPr/>
          <p:nvPr/>
        </p:nvSpPr>
        <p:spPr>
          <a:xfrm>
            <a:off x="868680" y="4572000"/>
            <a:ext cx="10424160" cy="1371600"/>
          </a:xfrm>
          <a:prstGeom prst="rect">
            <a:avLst/>
          </a:prstGeom>
          <a:noFill/>
          <a:ln/>
        </p:spPr>
        <p:txBody>
          <a:bodyPr wrap="square" lIns="0" tIns="0" rIns="0" bIns="0" rtlCol="0" anchor="ctr"/>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Echipele sunt cele din prima lucrare, </a:t>
            </a:r>
            <a:pPr indent="0" marL="0">
              <a:buNone/>
            </a:pPr>
            <a:r>
              <a:rPr lang="en-US" sz="1600" dirty="0">
                <a:solidFill>
                  <a:srgbClr val="11121A"/>
                </a:solidFill>
                <a:latin typeface="Palatino Linotype" pitchFamily="34" charset="0"/>
                <a:ea typeface="Palatino Linotype" pitchFamily="34" charset="-122"/>
                <a:cs typeface="Palatino Linotype" pitchFamily="34" charset="-120"/>
              </a:rPr>
              <a:t>de patru sau cinci persoane, cu aceleași roluri: calcul, verificare, raport, timp. Rolurile se schimbă între cele două părți, astfel încât fiecare membru să aibă cel puțin două roluri diferite. Datele sunt pe diapozitive și în documentul lucrării; internetul trebuie numai pentru fișa echipei în Forms.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OBIECTIVELE LUCRĂRII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La finalul lucrării veți putea</a:t>
            </a:r>
            <a:endParaRPr lang="en-US" sz="3100" dirty="0"/>
          </a:p>
        </p:txBody>
      </p:sp>
      <p:sp>
        <p:nvSpPr>
          <p:cNvPr id="4" name="Shape 2"/>
          <p:cNvSpPr/>
          <p:nvPr/>
        </p:nvSpPr>
        <p:spPr>
          <a:xfrm>
            <a:off x="594360" y="1554480"/>
            <a:ext cx="10972800" cy="676656"/>
          </a:xfrm>
          <a:prstGeom prst="roundRect">
            <a:avLst>
              <a:gd name="adj" fmla="val 12162"/>
            </a:avLst>
          </a:prstGeom>
          <a:solidFill>
            <a:srgbClr val="ECEAE4"/>
          </a:solidFill>
          <a:ln w="12700">
            <a:solidFill>
              <a:srgbClr val="ECEAE4"/>
            </a:solidFill>
            <a:prstDash val="solid"/>
          </a:ln>
        </p:spPr>
        <p:txBody>
          <a:bodyPr/>
          <a:p/>
        </p:txBody>
      </p:sp>
      <p:sp>
        <p:nvSpPr>
          <p:cNvPr id="5" name="Shape 3"/>
          <p:cNvSpPr/>
          <p:nvPr/>
        </p:nvSpPr>
        <p:spPr>
          <a:xfrm>
            <a:off x="868680" y="1682496"/>
            <a:ext cx="420624" cy="420624"/>
          </a:xfrm>
          <a:prstGeom prst="ellipse">
            <a:avLst/>
          </a:prstGeom>
          <a:solidFill>
            <a:srgbClr val="B02532"/>
          </a:solidFill>
          <a:ln/>
        </p:spPr>
        <p:txBody>
          <a:bodyPr/>
          <a:p/>
        </p:txBody>
      </p:sp>
      <p:sp>
        <p:nvSpPr>
          <p:cNvPr id="6" name="Text 4"/>
          <p:cNvSpPr/>
          <p:nvPr/>
        </p:nvSpPr>
        <p:spPr>
          <a:xfrm>
            <a:off x="868680" y="168249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554480"/>
            <a:ext cx="9829800" cy="67665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Descrie elementele unui plan de intervenție de promovare a sănătății.</a:t>
            </a:r>
            <a:endParaRPr lang="en-US" sz="1600" dirty="0"/>
          </a:p>
        </p:txBody>
      </p:sp>
      <p:sp>
        <p:nvSpPr>
          <p:cNvPr id="8" name="Shape 6"/>
          <p:cNvSpPr/>
          <p:nvPr/>
        </p:nvSpPr>
        <p:spPr>
          <a:xfrm>
            <a:off x="594360" y="2322576"/>
            <a:ext cx="10972800" cy="676656"/>
          </a:xfrm>
          <a:prstGeom prst="roundRect">
            <a:avLst>
              <a:gd name="adj" fmla="val 12162"/>
            </a:avLst>
          </a:prstGeom>
          <a:solidFill>
            <a:srgbClr val="ECEAE4"/>
          </a:solidFill>
          <a:ln w="12700">
            <a:solidFill>
              <a:srgbClr val="ECEAE4"/>
            </a:solidFill>
            <a:prstDash val="solid"/>
          </a:ln>
        </p:spPr>
        <p:txBody>
          <a:bodyPr/>
          <a:p/>
        </p:txBody>
      </p:sp>
      <p:sp>
        <p:nvSpPr>
          <p:cNvPr id="9" name="Shape 7"/>
          <p:cNvSpPr/>
          <p:nvPr/>
        </p:nvSpPr>
        <p:spPr>
          <a:xfrm>
            <a:off x="868680" y="2450592"/>
            <a:ext cx="420624" cy="420624"/>
          </a:xfrm>
          <a:prstGeom prst="ellipse">
            <a:avLst/>
          </a:prstGeom>
          <a:solidFill>
            <a:srgbClr val="B02532"/>
          </a:solidFill>
          <a:ln/>
        </p:spPr>
        <p:txBody>
          <a:bodyPr/>
          <a:p/>
        </p:txBody>
      </p:sp>
      <p:sp>
        <p:nvSpPr>
          <p:cNvPr id="10" name="Text 8"/>
          <p:cNvSpPr/>
          <p:nvPr/>
        </p:nvSpPr>
        <p:spPr>
          <a:xfrm>
            <a:off x="868680" y="245059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08760" y="2322576"/>
            <a:ext cx="9829800" cy="67665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Formula un obiectiv măsurabil și calcula ce înseamnă el în număr de persoane și pe lună.</a:t>
            </a:r>
            <a:endParaRPr lang="en-US" sz="1600" dirty="0"/>
          </a:p>
        </p:txBody>
      </p:sp>
      <p:sp>
        <p:nvSpPr>
          <p:cNvPr id="12" name="Shape 10"/>
          <p:cNvSpPr/>
          <p:nvPr/>
        </p:nvSpPr>
        <p:spPr>
          <a:xfrm>
            <a:off x="594360" y="3090672"/>
            <a:ext cx="10972800" cy="676656"/>
          </a:xfrm>
          <a:prstGeom prst="roundRect">
            <a:avLst>
              <a:gd name="adj" fmla="val 12162"/>
            </a:avLst>
          </a:prstGeom>
          <a:solidFill>
            <a:srgbClr val="ECEAE4"/>
          </a:solidFill>
          <a:ln w="12700">
            <a:solidFill>
              <a:srgbClr val="ECEAE4"/>
            </a:solidFill>
            <a:prstDash val="solid"/>
          </a:ln>
        </p:spPr>
        <p:txBody>
          <a:bodyPr/>
          <a:p/>
        </p:txBody>
      </p:sp>
      <p:sp>
        <p:nvSpPr>
          <p:cNvPr id="13" name="Shape 11"/>
          <p:cNvSpPr/>
          <p:nvPr/>
        </p:nvSpPr>
        <p:spPr>
          <a:xfrm>
            <a:off x="868680" y="3218688"/>
            <a:ext cx="420624" cy="420624"/>
          </a:xfrm>
          <a:prstGeom prst="ellipse">
            <a:avLst/>
          </a:prstGeom>
          <a:solidFill>
            <a:srgbClr val="B02532"/>
          </a:solidFill>
          <a:ln/>
        </p:spPr>
        <p:txBody>
          <a:bodyPr/>
          <a:p/>
        </p:txBody>
      </p:sp>
      <p:sp>
        <p:nvSpPr>
          <p:cNvPr id="14" name="Text 12"/>
          <p:cNvSpPr/>
          <p:nvPr/>
        </p:nvSpPr>
        <p:spPr>
          <a:xfrm>
            <a:off x="868680" y="321868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3090672"/>
            <a:ext cx="9829800" cy="67665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Alege indicatori de proces, de rezultat și de impact pentru o intervenție.</a:t>
            </a:r>
            <a:endParaRPr lang="en-US" sz="1600" dirty="0"/>
          </a:p>
        </p:txBody>
      </p:sp>
      <p:sp>
        <p:nvSpPr>
          <p:cNvPr id="16" name="Shape 14"/>
          <p:cNvSpPr/>
          <p:nvPr/>
        </p:nvSpPr>
        <p:spPr>
          <a:xfrm>
            <a:off x="594360" y="3858768"/>
            <a:ext cx="10972800" cy="676656"/>
          </a:xfrm>
          <a:prstGeom prst="roundRect">
            <a:avLst>
              <a:gd name="adj" fmla="val 12162"/>
            </a:avLst>
          </a:prstGeom>
          <a:solidFill>
            <a:srgbClr val="ECEAE4"/>
          </a:solidFill>
          <a:ln w="12700">
            <a:solidFill>
              <a:srgbClr val="ECEAE4"/>
            </a:solidFill>
            <a:prstDash val="solid"/>
          </a:ln>
        </p:spPr>
        <p:txBody>
          <a:bodyPr/>
          <a:p/>
        </p:txBody>
      </p:sp>
      <p:sp>
        <p:nvSpPr>
          <p:cNvPr id="17" name="Shape 15"/>
          <p:cNvSpPr/>
          <p:nvPr/>
        </p:nvSpPr>
        <p:spPr>
          <a:xfrm>
            <a:off x="868680" y="3986784"/>
            <a:ext cx="420624" cy="420624"/>
          </a:xfrm>
          <a:prstGeom prst="ellipse">
            <a:avLst/>
          </a:prstGeom>
          <a:solidFill>
            <a:srgbClr val="B02532"/>
          </a:solidFill>
          <a:ln/>
        </p:spPr>
        <p:txBody>
          <a:bodyPr/>
          <a:p/>
        </p:txBody>
      </p:sp>
      <p:sp>
        <p:nvSpPr>
          <p:cNvPr id="18" name="Text 16"/>
          <p:cNvSpPr/>
          <p:nvPr/>
        </p:nvSpPr>
        <p:spPr>
          <a:xfrm>
            <a:off x="868680" y="39867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508760" y="3858768"/>
            <a:ext cx="9829800" cy="67665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Aplica pașii investigării unui focar pe un scenariu simulat.</a:t>
            </a:r>
            <a:endParaRPr lang="en-US" sz="1600" dirty="0"/>
          </a:p>
        </p:txBody>
      </p:sp>
      <p:sp>
        <p:nvSpPr>
          <p:cNvPr id="20" name="Shape 18"/>
          <p:cNvSpPr/>
          <p:nvPr/>
        </p:nvSpPr>
        <p:spPr>
          <a:xfrm>
            <a:off x="594360" y="4626864"/>
            <a:ext cx="10972800" cy="676656"/>
          </a:xfrm>
          <a:prstGeom prst="roundRect">
            <a:avLst>
              <a:gd name="adj" fmla="val 12162"/>
            </a:avLst>
          </a:prstGeom>
          <a:solidFill>
            <a:srgbClr val="ECEAE4"/>
          </a:solidFill>
          <a:ln w="12700">
            <a:solidFill>
              <a:srgbClr val="ECEAE4"/>
            </a:solidFill>
            <a:prstDash val="solid"/>
          </a:ln>
        </p:spPr>
        <p:txBody>
          <a:bodyPr/>
          <a:p/>
        </p:txBody>
      </p:sp>
      <p:sp>
        <p:nvSpPr>
          <p:cNvPr id="21" name="Shape 19"/>
          <p:cNvSpPr/>
          <p:nvPr/>
        </p:nvSpPr>
        <p:spPr>
          <a:xfrm>
            <a:off x="868680" y="4754880"/>
            <a:ext cx="420624" cy="420624"/>
          </a:xfrm>
          <a:prstGeom prst="ellipse">
            <a:avLst/>
          </a:prstGeom>
          <a:solidFill>
            <a:srgbClr val="B02532"/>
          </a:solidFill>
          <a:ln/>
        </p:spPr>
        <p:txBody>
          <a:bodyPr/>
          <a:p/>
        </p:txBody>
      </p:sp>
      <p:sp>
        <p:nvSpPr>
          <p:cNvPr id="22" name="Text 20"/>
          <p:cNvSpPr/>
          <p:nvPr/>
        </p:nvSpPr>
        <p:spPr>
          <a:xfrm>
            <a:off x="868680" y="47548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1508760" y="4626864"/>
            <a:ext cx="9829800" cy="67665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Identifica și urmări contacții cazurilor și stabili durata supravegherii lor.</a:t>
            </a:r>
            <a:endParaRPr lang="en-US" sz="1600" dirty="0"/>
          </a:p>
        </p:txBody>
      </p:sp>
      <p:sp>
        <p:nvSpPr>
          <p:cNvPr id="24" name="Shape 22"/>
          <p:cNvSpPr/>
          <p:nvPr/>
        </p:nvSpPr>
        <p:spPr>
          <a:xfrm>
            <a:off x="594360" y="5394960"/>
            <a:ext cx="10972800" cy="676656"/>
          </a:xfrm>
          <a:prstGeom prst="roundRect">
            <a:avLst>
              <a:gd name="adj" fmla="val 12162"/>
            </a:avLst>
          </a:prstGeom>
          <a:solidFill>
            <a:srgbClr val="ECEAE4"/>
          </a:solidFill>
          <a:ln w="12700">
            <a:solidFill>
              <a:srgbClr val="ECEAE4"/>
            </a:solidFill>
            <a:prstDash val="solid"/>
          </a:ln>
        </p:spPr>
        <p:txBody>
          <a:bodyPr/>
          <a:p/>
        </p:txBody>
      </p:sp>
      <p:sp>
        <p:nvSpPr>
          <p:cNvPr id="25" name="Shape 23"/>
          <p:cNvSpPr/>
          <p:nvPr/>
        </p:nvSpPr>
        <p:spPr>
          <a:xfrm>
            <a:off x="868680" y="5522976"/>
            <a:ext cx="420624" cy="420624"/>
          </a:xfrm>
          <a:prstGeom prst="ellipse">
            <a:avLst/>
          </a:prstGeom>
          <a:solidFill>
            <a:srgbClr val="B02532"/>
          </a:solidFill>
          <a:ln/>
        </p:spPr>
        <p:txBody>
          <a:bodyPr/>
          <a:p/>
        </p:txBody>
      </p:sp>
      <p:sp>
        <p:nvSpPr>
          <p:cNvPr id="26" name="Text 24"/>
          <p:cNvSpPr/>
          <p:nvPr/>
        </p:nvSpPr>
        <p:spPr>
          <a:xfrm>
            <a:off x="868680" y="552297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6</a:t>
            </a:r>
            <a:endParaRPr lang="en-US" sz="1400" dirty="0"/>
          </a:p>
        </p:txBody>
      </p:sp>
      <p:sp>
        <p:nvSpPr>
          <p:cNvPr id="27" name="Text 25"/>
          <p:cNvSpPr/>
          <p:nvPr/>
        </p:nvSpPr>
        <p:spPr>
          <a:xfrm>
            <a:off x="1508760" y="5394960"/>
            <a:ext cx="9829800" cy="67665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Propune măsuri de control legate de verigile lanțului infecției și descrie raportarea cazurilor.</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PARTEA ÎNTÂI · PLANUL DE INTERVENȚIE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Un plan răspunde la șapte întrebări</a:t>
            </a:r>
            <a:endParaRPr lang="en-US" sz="3100" dirty="0"/>
          </a:p>
        </p:txBody>
      </p:sp>
      <p:sp>
        <p:nvSpPr>
          <p:cNvPr id="4" name="Shape 2"/>
          <p:cNvSpPr/>
          <p:nvPr/>
        </p:nvSpPr>
        <p:spPr>
          <a:xfrm>
            <a:off x="594360" y="1600200"/>
            <a:ext cx="2651760" cy="987552"/>
          </a:xfrm>
          <a:prstGeom prst="roundRect">
            <a:avLst>
              <a:gd name="adj" fmla="val 8333"/>
            </a:avLst>
          </a:prstGeom>
          <a:solidFill>
            <a:srgbClr val="1D1F2B"/>
          </a:solidFill>
          <a:ln w="12700">
            <a:solidFill>
              <a:srgbClr val="1D1F2B"/>
            </a:solidFill>
            <a:prstDash val="solid"/>
          </a:ln>
        </p:spPr>
        <p:txBody>
          <a:bodyPr/>
          <a:p/>
        </p:txBody>
      </p:sp>
      <p:sp>
        <p:nvSpPr>
          <p:cNvPr id="5" name="Shape 3"/>
          <p:cNvSpPr/>
          <p:nvPr/>
        </p:nvSpPr>
        <p:spPr>
          <a:xfrm>
            <a:off x="740664" y="1883664"/>
            <a:ext cx="420624" cy="420624"/>
          </a:xfrm>
          <a:prstGeom prst="ellipse">
            <a:avLst/>
          </a:prstGeom>
          <a:solidFill>
            <a:srgbClr val="FFC24B"/>
          </a:solidFill>
          <a:ln/>
        </p:spPr>
        <p:txBody>
          <a:bodyPr/>
          <a:p/>
        </p:txBody>
      </p:sp>
      <p:sp>
        <p:nvSpPr>
          <p:cNvPr id="6" name="Text 4"/>
          <p:cNvSpPr/>
          <p:nvPr/>
        </p:nvSpPr>
        <p:spPr>
          <a:xfrm>
            <a:off x="740664" y="188366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280160" y="1600200"/>
            <a:ext cx="1874520" cy="987552"/>
          </a:xfrm>
          <a:prstGeom prst="rect">
            <a:avLst/>
          </a:prstGeom>
          <a:noFill/>
          <a:ln/>
        </p:spPr>
        <p:txBody>
          <a:bodyPr wrap="square" lIns="0" tIns="0" rIns="0" bIns="0" rtlCol="0" anchor="ctr"/>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Care este problema și pe cine afectează?</a:t>
            </a:r>
            <a:endParaRPr lang="en-US" sz="1400" dirty="0"/>
          </a:p>
        </p:txBody>
      </p:sp>
      <p:sp>
        <p:nvSpPr>
          <p:cNvPr id="8" name="Shape 6"/>
          <p:cNvSpPr/>
          <p:nvPr/>
        </p:nvSpPr>
        <p:spPr>
          <a:xfrm>
            <a:off x="3383280" y="1600200"/>
            <a:ext cx="2651760" cy="987552"/>
          </a:xfrm>
          <a:prstGeom prst="roundRect">
            <a:avLst>
              <a:gd name="adj" fmla="val 8333"/>
            </a:avLst>
          </a:prstGeom>
          <a:solidFill>
            <a:srgbClr val="1D1F2B"/>
          </a:solidFill>
          <a:ln w="12700">
            <a:solidFill>
              <a:srgbClr val="1D1F2B"/>
            </a:solidFill>
            <a:prstDash val="solid"/>
          </a:ln>
        </p:spPr>
        <p:txBody>
          <a:bodyPr/>
          <a:p/>
        </p:txBody>
      </p:sp>
      <p:sp>
        <p:nvSpPr>
          <p:cNvPr id="9" name="Shape 7"/>
          <p:cNvSpPr/>
          <p:nvPr/>
        </p:nvSpPr>
        <p:spPr>
          <a:xfrm>
            <a:off x="3529584" y="1883664"/>
            <a:ext cx="420624" cy="420624"/>
          </a:xfrm>
          <a:prstGeom prst="ellipse">
            <a:avLst/>
          </a:prstGeom>
          <a:solidFill>
            <a:srgbClr val="FFC24B"/>
          </a:solidFill>
          <a:ln/>
        </p:spPr>
        <p:txBody>
          <a:bodyPr/>
          <a:p/>
        </p:txBody>
      </p:sp>
      <p:sp>
        <p:nvSpPr>
          <p:cNvPr id="10" name="Text 8"/>
          <p:cNvSpPr/>
          <p:nvPr/>
        </p:nvSpPr>
        <p:spPr>
          <a:xfrm>
            <a:off x="3529584" y="188366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4069080" y="1600200"/>
            <a:ext cx="1874520" cy="987552"/>
          </a:xfrm>
          <a:prstGeom prst="rect">
            <a:avLst/>
          </a:prstGeom>
          <a:noFill/>
          <a:ln/>
        </p:spPr>
        <p:txBody>
          <a:bodyPr wrap="square" lIns="0" tIns="0" rIns="0" bIns="0" rtlCol="0" anchor="ctr"/>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Ce nevoi și ce resurse are comunitatea?</a:t>
            </a:r>
            <a:endParaRPr lang="en-US" sz="1400" dirty="0"/>
          </a:p>
        </p:txBody>
      </p:sp>
      <p:sp>
        <p:nvSpPr>
          <p:cNvPr id="12" name="Shape 10"/>
          <p:cNvSpPr/>
          <p:nvPr/>
        </p:nvSpPr>
        <p:spPr>
          <a:xfrm>
            <a:off x="6172200" y="1600200"/>
            <a:ext cx="2651760" cy="987552"/>
          </a:xfrm>
          <a:prstGeom prst="roundRect">
            <a:avLst>
              <a:gd name="adj" fmla="val 8333"/>
            </a:avLst>
          </a:prstGeom>
          <a:solidFill>
            <a:srgbClr val="1D1F2B"/>
          </a:solidFill>
          <a:ln w="12700">
            <a:solidFill>
              <a:srgbClr val="1D1F2B"/>
            </a:solidFill>
            <a:prstDash val="solid"/>
          </a:ln>
        </p:spPr>
        <p:txBody>
          <a:bodyPr/>
          <a:p/>
        </p:txBody>
      </p:sp>
      <p:sp>
        <p:nvSpPr>
          <p:cNvPr id="13" name="Shape 11"/>
          <p:cNvSpPr/>
          <p:nvPr/>
        </p:nvSpPr>
        <p:spPr>
          <a:xfrm>
            <a:off x="6318504" y="1883664"/>
            <a:ext cx="420624" cy="420624"/>
          </a:xfrm>
          <a:prstGeom prst="ellipse">
            <a:avLst/>
          </a:prstGeom>
          <a:solidFill>
            <a:srgbClr val="FFC24B"/>
          </a:solidFill>
          <a:ln/>
        </p:spPr>
        <p:txBody>
          <a:bodyPr/>
          <a:p/>
        </p:txBody>
      </p:sp>
      <p:sp>
        <p:nvSpPr>
          <p:cNvPr id="14" name="Text 12"/>
          <p:cNvSpPr/>
          <p:nvPr/>
        </p:nvSpPr>
        <p:spPr>
          <a:xfrm>
            <a:off x="6318504" y="188366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6858000" y="1600200"/>
            <a:ext cx="1874520" cy="987552"/>
          </a:xfrm>
          <a:prstGeom prst="rect">
            <a:avLst/>
          </a:prstGeom>
          <a:noFill/>
          <a:ln/>
        </p:spPr>
        <p:txBody>
          <a:bodyPr wrap="square" lIns="0" tIns="0" rIns="0" bIns="0" rtlCol="0" anchor="ctr"/>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Ce vrem să schimbăm și până când?</a:t>
            </a:r>
            <a:endParaRPr lang="en-US" sz="1400" dirty="0"/>
          </a:p>
        </p:txBody>
      </p:sp>
      <p:sp>
        <p:nvSpPr>
          <p:cNvPr id="16" name="Shape 14"/>
          <p:cNvSpPr/>
          <p:nvPr/>
        </p:nvSpPr>
        <p:spPr>
          <a:xfrm>
            <a:off x="8961120" y="1600200"/>
            <a:ext cx="2651760" cy="987552"/>
          </a:xfrm>
          <a:prstGeom prst="roundRect">
            <a:avLst>
              <a:gd name="adj" fmla="val 8333"/>
            </a:avLst>
          </a:prstGeom>
          <a:solidFill>
            <a:srgbClr val="1D1F2B"/>
          </a:solidFill>
          <a:ln w="12700">
            <a:solidFill>
              <a:srgbClr val="1D1F2B"/>
            </a:solidFill>
            <a:prstDash val="solid"/>
          </a:ln>
        </p:spPr>
        <p:txBody>
          <a:bodyPr/>
          <a:p/>
        </p:txBody>
      </p:sp>
      <p:sp>
        <p:nvSpPr>
          <p:cNvPr id="17" name="Shape 15"/>
          <p:cNvSpPr/>
          <p:nvPr/>
        </p:nvSpPr>
        <p:spPr>
          <a:xfrm>
            <a:off x="9107424" y="1883664"/>
            <a:ext cx="420624" cy="420624"/>
          </a:xfrm>
          <a:prstGeom prst="ellipse">
            <a:avLst/>
          </a:prstGeom>
          <a:solidFill>
            <a:srgbClr val="FFC24B"/>
          </a:solidFill>
          <a:ln/>
        </p:spPr>
        <p:txBody>
          <a:bodyPr/>
          <a:p/>
        </p:txBody>
      </p:sp>
      <p:sp>
        <p:nvSpPr>
          <p:cNvPr id="18" name="Text 16"/>
          <p:cNvSpPr/>
          <p:nvPr/>
        </p:nvSpPr>
        <p:spPr>
          <a:xfrm>
            <a:off x="9107424" y="188366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9646920" y="1600200"/>
            <a:ext cx="1874520" cy="987552"/>
          </a:xfrm>
          <a:prstGeom prst="rect">
            <a:avLst/>
          </a:prstGeom>
          <a:noFill/>
          <a:ln/>
        </p:spPr>
        <p:txBody>
          <a:bodyPr wrap="square" lIns="0" tIns="0" rIns="0" bIns="0" rtlCol="0" anchor="ctr"/>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De ce credem că intervenția va funcționa?</a:t>
            </a:r>
            <a:endParaRPr lang="en-US" sz="1400" dirty="0"/>
          </a:p>
        </p:txBody>
      </p:sp>
      <p:sp>
        <p:nvSpPr>
          <p:cNvPr id="20" name="Shape 18"/>
          <p:cNvSpPr/>
          <p:nvPr/>
        </p:nvSpPr>
        <p:spPr>
          <a:xfrm>
            <a:off x="594360" y="2697480"/>
            <a:ext cx="2651760" cy="987552"/>
          </a:xfrm>
          <a:prstGeom prst="roundRect">
            <a:avLst>
              <a:gd name="adj" fmla="val 8333"/>
            </a:avLst>
          </a:prstGeom>
          <a:solidFill>
            <a:srgbClr val="1D1F2B"/>
          </a:solidFill>
          <a:ln w="12700">
            <a:solidFill>
              <a:srgbClr val="1D1F2B"/>
            </a:solidFill>
            <a:prstDash val="solid"/>
          </a:ln>
        </p:spPr>
        <p:txBody>
          <a:bodyPr/>
          <a:p/>
        </p:txBody>
      </p:sp>
      <p:sp>
        <p:nvSpPr>
          <p:cNvPr id="21" name="Shape 19"/>
          <p:cNvSpPr/>
          <p:nvPr/>
        </p:nvSpPr>
        <p:spPr>
          <a:xfrm>
            <a:off x="740664" y="2980944"/>
            <a:ext cx="420624" cy="420624"/>
          </a:xfrm>
          <a:prstGeom prst="ellipse">
            <a:avLst/>
          </a:prstGeom>
          <a:solidFill>
            <a:srgbClr val="FFC24B"/>
          </a:solidFill>
          <a:ln/>
        </p:spPr>
        <p:txBody>
          <a:bodyPr/>
          <a:p/>
        </p:txBody>
      </p:sp>
      <p:sp>
        <p:nvSpPr>
          <p:cNvPr id="22" name="Text 20"/>
          <p:cNvSpPr/>
          <p:nvPr/>
        </p:nvSpPr>
        <p:spPr>
          <a:xfrm>
            <a:off x="740664" y="298094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1280160" y="2697480"/>
            <a:ext cx="1874520" cy="987552"/>
          </a:xfrm>
          <a:prstGeom prst="rect">
            <a:avLst/>
          </a:prstGeom>
          <a:noFill/>
          <a:ln/>
        </p:spPr>
        <p:txBody>
          <a:bodyPr wrap="square" lIns="0" tIns="0" rIns="0" bIns="0" rtlCol="0" anchor="ctr"/>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Ce facem concret la fiecare nivel?</a:t>
            </a:r>
            <a:endParaRPr lang="en-US" sz="1400" dirty="0"/>
          </a:p>
        </p:txBody>
      </p:sp>
      <p:sp>
        <p:nvSpPr>
          <p:cNvPr id="24" name="Shape 22"/>
          <p:cNvSpPr/>
          <p:nvPr/>
        </p:nvSpPr>
        <p:spPr>
          <a:xfrm>
            <a:off x="3383280" y="2697480"/>
            <a:ext cx="2651760" cy="987552"/>
          </a:xfrm>
          <a:prstGeom prst="roundRect">
            <a:avLst>
              <a:gd name="adj" fmla="val 8333"/>
            </a:avLst>
          </a:prstGeom>
          <a:solidFill>
            <a:srgbClr val="1D1F2B"/>
          </a:solidFill>
          <a:ln w="12700">
            <a:solidFill>
              <a:srgbClr val="1D1F2B"/>
            </a:solidFill>
            <a:prstDash val="solid"/>
          </a:ln>
        </p:spPr>
        <p:txBody>
          <a:bodyPr/>
          <a:p/>
        </p:txBody>
      </p:sp>
      <p:sp>
        <p:nvSpPr>
          <p:cNvPr id="25" name="Shape 23"/>
          <p:cNvSpPr/>
          <p:nvPr/>
        </p:nvSpPr>
        <p:spPr>
          <a:xfrm>
            <a:off x="3529584" y="2980944"/>
            <a:ext cx="420624" cy="420624"/>
          </a:xfrm>
          <a:prstGeom prst="ellipse">
            <a:avLst/>
          </a:prstGeom>
          <a:solidFill>
            <a:srgbClr val="FFC24B"/>
          </a:solidFill>
          <a:ln/>
        </p:spPr>
        <p:txBody>
          <a:bodyPr/>
          <a:p/>
        </p:txBody>
      </p:sp>
      <p:sp>
        <p:nvSpPr>
          <p:cNvPr id="26" name="Text 24"/>
          <p:cNvSpPr/>
          <p:nvPr/>
        </p:nvSpPr>
        <p:spPr>
          <a:xfrm>
            <a:off x="3529584" y="298094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6</a:t>
            </a:r>
            <a:endParaRPr lang="en-US" sz="1400" dirty="0"/>
          </a:p>
        </p:txBody>
      </p:sp>
      <p:sp>
        <p:nvSpPr>
          <p:cNvPr id="27" name="Text 25"/>
          <p:cNvSpPr/>
          <p:nvPr/>
        </p:nvSpPr>
        <p:spPr>
          <a:xfrm>
            <a:off x="4069080" y="2697480"/>
            <a:ext cx="1874520" cy="987552"/>
          </a:xfrm>
          <a:prstGeom prst="rect">
            <a:avLst/>
          </a:prstGeom>
          <a:noFill/>
          <a:ln/>
        </p:spPr>
        <p:txBody>
          <a:bodyPr wrap="square" lIns="0" tIns="0" rIns="0" bIns="0" rtlCol="0" anchor="ctr"/>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Cum aflăm dacă a funcționat?</a:t>
            </a:r>
            <a:endParaRPr lang="en-US" sz="1400" dirty="0"/>
          </a:p>
        </p:txBody>
      </p:sp>
      <p:sp>
        <p:nvSpPr>
          <p:cNvPr id="28" name="Shape 26"/>
          <p:cNvSpPr/>
          <p:nvPr/>
        </p:nvSpPr>
        <p:spPr>
          <a:xfrm>
            <a:off x="6172200" y="2697480"/>
            <a:ext cx="2651760" cy="987552"/>
          </a:xfrm>
          <a:prstGeom prst="roundRect">
            <a:avLst>
              <a:gd name="adj" fmla="val 8333"/>
            </a:avLst>
          </a:prstGeom>
          <a:solidFill>
            <a:srgbClr val="1D1F2B"/>
          </a:solidFill>
          <a:ln w="12700">
            <a:solidFill>
              <a:srgbClr val="1D1F2B"/>
            </a:solidFill>
            <a:prstDash val="solid"/>
          </a:ln>
        </p:spPr>
        <p:txBody>
          <a:bodyPr/>
          <a:p/>
        </p:txBody>
      </p:sp>
      <p:sp>
        <p:nvSpPr>
          <p:cNvPr id="29" name="Shape 27"/>
          <p:cNvSpPr/>
          <p:nvPr/>
        </p:nvSpPr>
        <p:spPr>
          <a:xfrm>
            <a:off x="6318504" y="2980944"/>
            <a:ext cx="420624" cy="420624"/>
          </a:xfrm>
          <a:prstGeom prst="ellipse">
            <a:avLst/>
          </a:prstGeom>
          <a:solidFill>
            <a:srgbClr val="FFC24B"/>
          </a:solidFill>
          <a:ln/>
        </p:spPr>
        <p:txBody>
          <a:bodyPr/>
          <a:p/>
        </p:txBody>
      </p:sp>
      <p:sp>
        <p:nvSpPr>
          <p:cNvPr id="30" name="Text 28"/>
          <p:cNvSpPr/>
          <p:nvPr/>
        </p:nvSpPr>
        <p:spPr>
          <a:xfrm>
            <a:off x="6318504" y="298094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7</a:t>
            </a:r>
            <a:endParaRPr lang="en-US" sz="1400" dirty="0"/>
          </a:p>
        </p:txBody>
      </p:sp>
      <p:sp>
        <p:nvSpPr>
          <p:cNvPr id="31" name="Text 29"/>
          <p:cNvSpPr/>
          <p:nvPr/>
        </p:nvSpPr>
        <p:spPr>
          <a:xfrm>
            <a:off x="6858000" y="2697480"/>
            <a:ext cx="1874520" cy="987552"/>
          </a:xfrm>
          <a:prstGeom prst="rect">
            <a:avLst/>
          </a:prstGeom>
          <a:noFill/>
          <a:ln/>
        </p:spPr>
        <p:txBody>
          <a:bodyPr wrap="square" lIns="0" tIns="0" rIns="0" bIns="0" rtlCol="0" anchor="ctr"/>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Cine face fiecare lucru și când?</a:t>
            </a:r>
            <a:endParaRPr lang="en-US" sz="1400" dirty="0"/>
          </a:p>
        </p:txBody>
      </p:sp>
      <p:sp>
        <p:nvSpPr>
          <p:cNvPr id="32" name="Text 30"/>
          <p:cNvSpPr/>
          <p:nvPr/>
        </p:nvSpPr>
        <p:spPr>
          <a:xfrm>
            <a:off x="594360" y="3886200"/>
            <a:ext cx="10972800" cy="36576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Obiectivul este partea cea mai des greșită.</a:t>
            </a:r>
            <a:endParaRPr lang="en-US" sz="1600" dirty="0"/>
          </a:p>
        </p:txBody>
      </p:sp>
      <p:sp>
        <p:nvSpPr>
          <p:cNvPr id="33" name="Shape 31"/>
          <p:cNvSpPr/>
          <p:nvPr/>
        </p:nvSpPr>
        <p:spPr>
          <a:xfrm>
            <a:off x="594360" y="4343400"/>
            <a:ext cx="5394960" cy="1645920"/>
          </a:xfrm>
          <a:prstGeom prst="roundRect">
            <a:avLst>
              <a:gd name="adj" fmla="val 5000"/>
            </a:avLst>
          </a:prstGeom>
          <a:solidFill>
            <a:srgbClr val="272A38"/>
          </a:solidFill>
          <a:ln w="12700">
            <a:solidFill>
              <a:srgbClr val="272A38"/>
            </a:solidFill>
            <a:prstDash val="solid"/>
          </a:ln>
        </p:spPr>
        <p:txBody>
          <a:bodyPr/>
          <a:p/>
        </p:txBody>
      </p:sp>
      <p:sp>
        <p:nvSpPr>
          <p:cNvPr id="34" name="Shape 32"/>
          <p:cNvSpPr/>
          <p:nvPr/>
        </p:nvSpPr>
        <p:spPr>
          <a:xfrm>
            <a:off x="594360" y="4343400"/>
            <a:ext cx="82296" cy="1645920"/>
          </a:xfrm>
          <a:prstGeom prst="rect">
            <a:avLst/>
          </a:prstGeom>
          <a:solidFill>
            <a:srgbClr val="FF4757"/>
          </a:solidFill>
          <a:ln w="12700">
            <a:solidFill>
              <a:srgbClr val="FF4757"/>
            </a:solidFill>
            <a:prstDash val="solid"/>
          </a:ln>
        </p:spPr>
        <p:txBody>
          <a:bodyPr/>
          <a:p/>
        </p:txBody>
      </p:sp>
      <p:sp>
        <p:nvSpPr>
          <p:cNvPr id="35" name="Text 33"/>
          <p:cNvSpPr/>
          <p:nvPr/>
        </p:nvSpPr>
        <p:spPr>
          <a:xfrm>
            <a:off x="868680" y="4343400"/>
            <a:ext cx="4983480" cy="1645920"/>
          </a:xfrm>
          <a:prstGeom prst="rect">
            <a:avLst/>
          </a:prstGeom>
          <a:noFill/>
          <a:ln/>
        </p:spPr>
        <p:txBody>
          <a:bodyPr wrap="square" lIns="0" tIns="0" rIns="0" bIns="0" rtlCol="0" anchor="ctr"/>
          <a:lstStyle/>
          <a:p>
            <a:pPr indent="0" marL="0">
              <a:buNone/>
            </a:pPr>
            <a:r>
              <a:rPr lang="en-US" sz="1500" b="1" dirty="0">
                <a:solidFill>
                  <a:srgbClr val="FF4757"/>
                </a:solidFill>
                <a:latin typeface="Palatino Linotype" pitchFamily="34" charset="0"/>
                <a:ea typeface="Palatino Linotype" pitchFamily="34" charset="-122"/>
                <a:cs typeface="Palatino Linotype" pitchFamily="34" charset="-120"/>
              </a:rPr>
              <a:t>Nu poate fi evaluat
</a:t>
            </a:r>
            <a:pPr indent="0" marL="0">
              <a:buNone/>
            </a:pPr>
            <a:r>
              <a:rPr lang="en-US" sz="1500" dirty="0">
                <a:solidFill>
                  <a:srgbClr val="FFFFFF"/>
                </a:solidFill>
                <a:latin typeface="Palatino Linotype" pitchFamily="34" charset="0"/>
                <a:ea typeface="Palatino Linotype" pitchFamily="34" charset="-122"/>
                <a:cs typeface="Palatino Linotype" pitchFamily="34" charset="-120"/>
              </a:rPr>
              <a:t>„creșterea conștientizării privind screeningul”: nu spune nici de unde se pornește, nici unde trebuie să se ajungă.</a:t>
            </a:r>
            <a:endParaRPr lang="en-US" sz="1500" dirty="0"/>
          </a:p>
        </p:txBody>
      </p:sp>
      <p:sp>
        <p:nvSpPr>
          <p:cNvPr id="36" name="Shape 34"/>
          <p:cNvSpPr/>
          <p:nvPr/>
        </p:nvSpPr>
        <p:spPr>
          <a:xfrm>
            <a:off x="6172200" y="4343400"/>
            <a:ext cx="5394960" cy="1645920"/>
          </a:xfrm>
          <a:prstGeom prst="roundRect">
            <a:avLst>
              <a:gd name="adj" fmla="val 5000"/>
            </a:avLst>
          </a:prstGeom>
          <a:solidFill>
            <a:srgbClr val="272A38"/>
          </a:solidFill>
          <a:ln w="12700">
            <a:solidFill>
              <a:srgbClr val="272A38"/>
            </a:solidFill>
            <a:prstDash val="solid"/>
          </a:ln>
        </p:spPr>
        <p:txBody>
          <a:bodyPr/>
          <a:p/>
        </p:txBody>
      </p:sp>
      <p:sp>
        <p:nvSpPr>
          <p:cNvPr id="37" name="Shape 35"/>
          <p:cNvSpPr/>
          <p:nvPr/>
        </p:nvSpPr>
        <p:spPr>
          <a:xfrm>
            <a:off x="6172200" y="4343400"/>
            <a:ext cx="82296" cy="1645920"/>
          </a:xfrm>
          <a:prstGeom prst="rect">
            <a:avLst/>
          </a:prstGeom>
          <a:solidFill>
            <a:srgbClr val="27D3BE"/>
          </a:solidFill>
          <a:ln w="12700">
            <a:solidFill>
              <a:srgbClr val="27D3BE"/>
            </a:solidFill>
            <a:prstDash val="solid"/>
          </a:ln>
        </p:spPr>
        <p:txBody>
          <a:bodyPr/>
          <a:p/>
        </p:txBody>
      </p:sp>
      <p:sp>
        <p:nvSpPr>
          <p:cNvPr id="38" name="Text 36"/>
          <p:cNvSpPr/>
          <p:nvPr/>
        </p:nvSpPr>
        <p:spPr>
          <a:xfrm>
            <a:off x="6446520" y="4343400"/>
            <a:ext cx="4983480" cy="1645920"/>
          </a:xfrm>
          <a:prstGeom prst="rect">
            <a:avLst/>
          </a:prstGeom>
          <a:noFill/>
          <a:ln/>
        </p:spPr>
        <p:txBody>
          <a:bodyPr wrap="square" lIns="0" tIns="0" rIns="0" bIns="0" rtlCol="0" anchor="ctr"/>
          <a:lstStyle/>
          <a:p>
            <a:pPr indent="0" marL="0">
              <a:buNone/>
            </a:pPr>
            <a:r>
              <a:rPr lang="en-US" sz="1500" b="1" dirty="0">
                <a:solidFill>
                  <a:srgbClr val="27D3BE"/>
                </a:solidFill>
                <a:latin typeface="Palatino Linotype" pitchFamily="34" charset="0"/>
                <a:ea typeface="Palatino Linotype" pitchFamily="34" charset="-122"/>
                <a:cs typeface="Palatino Linotype" pitchFamily="34" charset="-120"/>
              </a:rPr>
              <a:t>Poate fi evaluat
</a:t>
            </a:r>
            <a:pPr indent="0" marL="0">
              <a:buNone/>
            </a:pPr>
            <a:r>
              <a:rPr lang="en-US" sz="1500" dirty="0">
                <a:solidFill>
                  <a:srgbClr val="FFFFFF"/>
                </a:solidFill>
                <a:latin typeface="Palatino Linotype" pitchFamily="34" charset="0"/>
                <a:ea typeface="Palatino Linotype" pitchFamily="34" charset="-122"/>
                <a:cs typeface="Palatino Linotype" pitchFamily="34" charset="-120"/>
              </a:rPr>
              <a:t>ce se schimbă, la cine, de la ce valoare de pornire, până la ce valoare și până la ce dată.</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CUM AFLĂM DACĂ A FUNCȚIONAT</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Indicatori de proces, de rezultat și de impact</a:t>
            </a:r>
            <a:endParaRPr lang="en-US" sz="3100" dirty="0"/>
          </a:p>
        </p:txBody>
      </p:sp>
      <p:sp>
        <p:nvSpPr>
          <p:cNvPr id="4" name="Shape 2"/>
          <p:cNvSpPr/>
          <p:nvPr/>
        </p:nvSpPr>
        <p:spPr>
          <a:xfrm>
            <a:off x="594360" y="1600200"/>
            <a:ext cx="3474720" cy="3291840"/>
          </a:xfrm>
          <a:prstGeom prst="roundRect">
            <a:avLst>
              <a:gd name="adj" fmla="val 2500"/>
            </a:avLst>
          </a:prstGeom>
          <a:solidFill>
            <a:srgbClr val="ECEAE4"/>
          </a:solidFill>
          <a:ln w="12700">
            <a:solidFill>
              <a:srgbClr val="ECEAE4"/>
            </a:solidFill>
            <a:prstDash val="solid"/>
          </a:ln>
        </p:spPr>
        <p:txBody>
          <a:bodyPr/>
          <a:p/>
        </p:txBody>
      </p:sp>
      <p:sp>
        <p:nvSpPr>
          <p:cNvPr id="5" name="Shape 3"/>
          <p:cNvSpPr/>
          <p:nvPr/>
        </p:nvSpPr>
        <p:spPr>
          <a:xfrm>
            <a:off x="594360" y="1600200"/>
            <a:ext cx="3474720" cy="64008"/>
          </a:xfrm>
          <a:prstGeom prst="rect">
            <a:avLst/>
          </a:prstGeom>
          <a:solidFill>
            <a:srgbClr val="B02532"/>
          </a:solidFill>
          <a:ln w="12700">
            <a:solidFill>
              <a:srgbClr val="B02532"/>
            </a:solidFill>
            <a:prstDash val="solid"/>
          </a:ln>
        </p:spPr>
        <p:txBody>
          <a:bodyPr/>
          <a:p/>
        </p:txBody>
      </p:sp>
      <p:sp>
        <p:nvSpPr>
          <p:cNvPr id="6" name="Text 4"/>
          <p:cNvSpPr/>
          <p:nvPr/>
        </p:nvSpPr>
        <p:spPr>
          <a:xfrm>
            <a:off x="868680" y="1828800"/>
            <a:ext cx="2926080" cy="457200"/>
          </a:xfrm>
          <a:prstGeom prst="rect">
            <a:avLst/>
          </a:prstGeom>
          <a:noFill/>
          <a:ln/>
        </p:spPr>
        <p:txBody>
          <a:bodyPr wrap="square" lIns="0" tIns="0" rIns="0" bIns="0" rtlCol="0" anchor="t"/>
          <a:lstStyle/>
          <a:p>
            <a:pPr indent="0" marL="0">
              <a:buNone/>
            </a:pPr>
            <a:r>
              <a:rPr lang="en-US" sz="2200" b="1" dirty="0">
                <a:solidFill>
                  <a:srgbClr val="B02532"/>
                </a:solidFill>
                <a:latin typeface="Palatino Linotype" pitchFamily="34" charset="0"/>
                <a:ea typeface="Palatino Linotype" pitchFamily="34" charset="-122"/>
                <a:cs typeface="Palatino Linotype" pitchFamily="34" charset="-120"/>
              </a:rPr>
              <a:t>PROCES</a:t>
            </a:r>
            <a:endParaRPr lang="en-US" sz="2200" dirty="0"/>
          </a:p>
        </p:txBody>
      </p:sp>
      <p:sp>
        <p:nvSpPr>
          <p:cNvPr id="7" name="Text 5"/>
          <p:cNvSpPr/>
          <p:nvPr/>
        </p:nvSpPr>
        <p:spPr>
          <a:xfrm>
            <a:off x="868680" y="2377440"/>
            <a:ext cx="2971800" cy="100584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arată dacă intervenția s-a desfășurat cum a fost planificată</a:t>
            </a:r>
            <a:endParaRPr lang="en-US" sz="1600" dirty="0"/>
          </a:p>
        </p:txBody>
      </p:sp>
      <p:sp>
        <p:nvSpPr>
          <p:cNvPr id="8" name="Text 6"/>
          <p:cNvSpPr/>
          <p:nvPr/>
        </p:nvSpPr>
        <p:spPr>
          <a:xfrm>
            <a:off x="868680" y="3429000"/>
            <a:ext cx="2971800" cy="1371600"/>
          </a:xfrm>
          <a:prstGeom prst="rect">
            <a:avLst/>
          </a:prstGeom>
          <a:noFill/>
          <a:ln/>
        </p:spPr>
        <p:txBody>
          <a:bodyPr wrap="square" lIns="0" tIns="0" rIns="0" bIns="0" rtlCol="0" anchor="t"/>
          <a:lstStyle/>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numărul sesiunilor de informare ținute, al persoanelor contactate, al invitațiilor trimise</a:t>
            </a:r>
            <a:endParaRPr lang="en-US" sz="1400" dirty="0"/>
          </a:p>
        </p:txBody>
      </p:sp>
      <p:sp>
        <p:nvSpPr>
          <p:cNvPr id="9" name="Shape 7"/>
          <p:cNvSpPr/>
          <p:nvPr/>
        </p:nvSpPr>
        <p:spPr>
          <a:xfrm>
            <a:off x="4343400" y="1600200"/>
            <a:ext cx="3474720" cy="3291840"/>
          </a:xfrm>
          <a:prstGeom prst="roundRect">
            <a:avLst>
              <a:gd name="adj" fmla="val 2500"/>
            </a:avLst>
          </a:prstGeom>
          <a:solidFill>
            <a:srgbClr val="ECEAE4"/>
          </a:solidFill>
          <a:ln w="12700">
            <a:solidFill>
              <a:srgbClr val="ECEAE4"/>
            </a:solidFill>
            <a:prstDash val="solid"/>
          </a:ln>
        </p:spPr>
        <p:txBody>
          <a:bodyPr/>
          <a:p/>
        </p:txBody>
      </p:sp>
      <p:sp>
        <p:nvSpPr>
          <p:cNvPr id="10" name="Shape 8"/>
          <p:cNvSpPr/>
          <p:nvPr/>
        </p:nvSpPr>
        <p:spPr>
          <a:xfrm>
            <a:off x="4343400" y="1600200"/>
            <a:ext cx="3474720" cy="64008"/>
          </a:xfrm>
          <a:prstGeom prst="rect">
            <a:avLst/>
          </a:prstGeom>
          <a:solidFill>
            <a:srgbClr val="0E7C6B"/>
          </a:solidFill>
          <a:ln w="12700">
            <a:solidFill>
              <a:srgbClr val="0E7C6B"/>
            </a:solidFill>
            <a:prstDash val="solid"/>
          </a:ln>
        </p:spPr>
        <p:txBody>
          <a:bodyPr/>
          <a:p/>
        </p:txBody>
      </p:sp>
      <p:sp>
        <p:nvSpPr>
          <p:cNvPr id="11" name="Text 9"/>
          <p:cNvSpPr/>
          <p:nvPr/>
        </p:nvSpPr>
        <p:spPr>
          <a:xfrm>
            <a:off x="4617720" y="1828800"/>
            <a:ext cx="2926080" cy="457200"/>
          </a:xfrm>
          <a:prstGeom prst="rect">
            <a:avLst/>
          </a:prstGeom>
          <a:noFill/>
          <a:ln/>
        </p:spPr>
        <p:txBody>
          <a:bodyPr wrap="square" lIns="0" tIns="0" rIns="0" bIns="0" rtlCol="0" anchor="t"/>
          <a:lstStyle/>
          <a:p>
            <a:pPr indent="0" marL="0">
              <a:buNone/>
            </a:pPr>
            <a:r>
              <a:rPr lang="en-US" sz="2200" b="1" dirty="0">
                <a:solidFill>
                  <a:srgbClr val="0E7C6B"/>
                </a:solidFill>
                <a:latin typeface="Palatino Linotype" pitchFamily="34" charset="0"/>
                <a:ea typeface="Palatino Linotype" pitchFamily="34" charset="-122"/>
                <a:cs typeface="Palatino Linotype" pitchFamily="34" charset="-120"/>
              </a:rPr>
              <a:t>REZULTAT</a:t>
            </a:r>
            <a:endParaRPr lang="en-US" sz="2200" dirty="0"/>
          </a:p>
        </p:txBody>
      </p:sp>
      <p:sp>
        <p:nvSpPr>
          <p:cNvPr id="12" name="Text 10"/>
          <p:cNvSpPr/>
          <p:nvPr/>
        </p:nvSpPr>
        <p:spPr>
          <a:xfrm>
            <a:off x="4617720" y="2377440"/>
            <a:ext cx="2971800" cy="100584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arată dacă s-a schimbat comportamentul sau accesul</a:t>
            </a:r>
            <a:endParaRPr lang="en-US" sz="1600" dirty="0"/>
          </a:p>
        </p:txBody>
      </p:sp>
      <p:sp>
        <p:nvSpPr>
          <p:cNvPr id="13" name="Text 11"/>
          <p:cNvSpPr/>
          <p:nvPr/>
        </p:nvSpPr>
        <p:spPr>
          <a:xfrm>
            <a:off x="4617720" y="3429000"/>
            <a:ext cx="2971800" cy="1371600"/>
          </a:xfrm>
          <a:prstGeom prst="rect">
            <a:avLst/>
          </a:prstGeom>
          <a:noFill/>
          <a:ln/>
        </p:spPr>
        <p:txBody>
          <a:bodyPr wrap="square" lIns="0" tIns="0" rIns="0" bIns="0" rtlCol="0" anchor="t"/>
          <a:lstStyle/>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proporția persoanelor care au făcut testul, proporția fumătorilor care au încercat să renunțe</a:t>
            </a:r>
            <a:endParaRPr lang="en-US" sz="1400" dirty="0"/>
          </a:p>
        </p:txBody>
      </p:sp>
      <p:sp>
        <p:nvSpPr>
          <p:cNvPr id="14" name="Shape 12"/>
          <p:cNvSpPr/>
          <p:nvPr/>
        </p:nvSpPr>
        <p:spPr>
          <a:xfrm>
            <a:off x="8092440" y="1600200"/>
            <a:ext cx="3474720" cy="3291840"/>
          </a:xfrm>
          <a:prstGeom prst="roundRect">
            <a:avLst>
              <a:gd name="adj" fmla="val 2500"/>
            </a:avLst>
          </a:prstGeom>
          <a:solidFill>
            <a:srgbClr val="ECEAE4"/>
          </a:solidFill>
          <a:ln w="12700">
            <a:solidFill>
              <a:srgbClr val="ECEAE4"/>
            </a:solidFill>
            <a:prstDash val="solid"/>
          </a:ln>
        </p:spPr>
        <p:txBody>
          <a:bodyPr/>
          <a:p/>
        </p:txBody>
      </p:sp>
      <p:sp>
        <p:nvSpPr>
          <p:cNvPr id="15" name="Shape 13"/>
          <p:cNvSpPr/>
          <p:nvPr/>
        </p:nvSpPr>
        <p:spPr>
          <a:xfrm>
            <a:off x="8092440" y="1600200"/>
            <a:ext cx="3474720" cy="64008"/>
          </a:xfrm>
          <a:prstGeom prst="rect">
            <a:avLst/>
          </a:prstGeom>
          <a:solidFill>
            <a:srgbClr val="4A2D8C"/>
          </a:solidFill>
          <a:ln w="12700">
            <a:solidFill>
              <a:srgbClr val="4A2D8C"/>
            </a:solidFill>
            <a:prstDash val="solid"/>
          </a:ln>
        </p:spPr>
        <p:txBody>
          <a:bodyPr/>
          <a:p/>
        </p:txBody>
      </p:sp>
      <p:sp>
        <p:nvSpPr>
          <p:cNvPr id="16" name="Text 14"/>
          <p:cNvSpPr/>
          <p:nvPr/>
        </p:nvSpPr>
        <p:spPr>
          <a:xfrm>
            <a:off x="8366760" y="1828800"/>
            <a:ext cx="2926080" cy="457200"/>
          </a:xfrm>
          <a:prstGeom prst="rect">
            <a:avLst/>
          </a:prstGeom>
          <a:noFill/>
          <a:ln/>
        </p:spPr>
        <p:txBody>
          <a:bodyPr wrap="square" lIns="0" tIns="0" rIns="0" bIns="0" rtlCol="0" anchor="t"/>
          <a:lstStyle/>
          <a:p>
            <a:pPr indent="0" marL="0">
              <a:buNone/>
            </a:pPr>
            <a:r>
              <a:rPr lang="en-US" sz="2200" b="1" dirty="0">
                <a:solidFill>
                  <a:srgbClr val="4A2D8C"/>
                </a:solidFill>
                <a:latin typeface="Palatino Linotype" pitchFamily="34" charset="0"/>
                <a:ea typeface="Palatino Linotype" pitchFamily="34" charset="-122"/>
                <a:cs typeface="Palatino Linotype" pitchFamily="34" charset="-120"/>
              </a:rPr>
              <a:t>IMPACT</a:t>
            </a:r>
            <a:endParaRPr lang="en-US" sz="2200" dirty="0"/>
          </a:p>
        </p:txBody>
      </p:sp>
      <p:sp>
        <p:nvSpPr>
          <p:cNvPr id="17" name="Text 15"/>
          <p:cNvSpPr/>
          <p:nvPr/>
        </p:nvSpPr>
        <p:spPr>
          <a:xfrm>
            <a:off x="8366760" y="2377440"/>
            <a:ext cx="2971800" cy="100584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arată dacă s-a schimbat starea de sănătate</a:t>
            </a:r>
            <a:endParaRPr lang="en-US" sz="1600" dirty="0"/>
          </a:p>
        </p:txBody>
      </p:sp>
      <p:sp>
        <p:nvSpPr>
          <p:cNvPr id="18" name="Text 16"/>
          <p:cNvSpPr/>
          <p:nvPr/>
        </p:nvSpPr>
        <p:spPr>
          <a:xfrm>
            <a:off x="8366760" y="3429000"/>
            <a:ext cx="2971800" cy="1371600"/>
          </a:xfrm>
          <a:prstGeom prst="rect">
            <a:avLst/>
          </a:prstGeom>
          <a:noFill/>
          <a:ln/>
        </p:spPr>
        <p:txBody>
          <a:bodyPr wrap="square" lIns="0" tIns="0" rIns="0" bIns="0" rtlCol="0" anchor="t"/>
          <a:lstStyle/>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incidența, mortalitatea, complicațiile; efectul asupra mortalității apare abia după ani, nu după luni</a:t>
            </a:r>
            <a:endParaRPr lang="en-US" sz="1400" dirty="0"/>
          </a:p>
        </p:txBody>
      </p:sp>
      <p:sp>
        <p:nvSpPr>
          <p:cNvPr id="19" name="Shape 17"/>
          <p:cNvSpPr/>
          <p:nvPr/>
        </p:nvSpPr>
        <p:spPr>
          <a:xfrm>
            <a:off x="594360" y="5120640"/>
            <a:ext cx="10972800" cy="914400"/>
          </a:xfrm>
          <a:prstGeom prst="roundRect">
            <a:avLst>
              <a:gd name="adj" fmla="val 9000"/>
            </a:avLst>
          </a:prstGeom>
          <a:solidFill>
            <a:srgbClr val="F9F8F5"/>
          </a:solidFill>
          <a:ln w="12700">
            <a:solidFill>
              <a:srgbClr val="F9F8F5"/>
            </a:solidFill>
            <a:prstDash val="solid"/>
          </a:ln>
        </p:spPr>
        <p:txBody>
          <a:bodyPr/>
          <a:p/>
        </p:txBody>
      </p:sp>
      <p:sp>
        <p:nvSpPr>
          <p:cNvPr id="20" name="Text 18"/>
          <p:cNvSpPr/>
          <p:nvPr/>
        </p:nvSpPr>
        <p:spPr>
          <a:xfrm>
            <a:off x="868680" y="5120640"/>
            <a:ext cx="10424160" cy="91440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La examen nu se cere încadrarea unui indicator ca „de rezultat” sau „de impact”; se poate cere distincția dintre indicatorii de proces și cei care măsoară o schimbare.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FORMS</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SARCINA ECHIPEI</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Alegeți o temă și scrieți planul</a:t>
            </a:r>
            <a:endParaRPr lang="en-US" sz="3100" dirty="0"/>
          </a:p>
        </p:txBody>
      </p:sp>
      <p:sp>
        <p:nvSpPr>
          <p:cNvPr id="6" name="Shape 4"/>
          <p:cNvSpPr/>
          <p:nvPr/>
        </p:nvSpPr>
        <p:spPr>
          <a:xfrm>
            <a:off x="594360" y="1600200"/>
            <a:ext cx="7040880" cy="841248"/>
          </a:xfrm>
          <a:prstGeom prst="roundRect">
            <a:avLst>
              <a:gd name="adj" fmla="val 9783"/>
            </a:avLst>
          </a:prstGeom>
          <a:solidFill>
            <a:srgbClr val="1D1F2B"/>
          </a:solidFill>
          <a:ln w="12700">
            <a:solidFill>
              <a:srgbClr val="1D1F2B"/>
            </a:solidFill>
            <a:prstDash val="solid"/>
          </a:ln>
        </p:spPr>
        <p:txBody>
          <a:bodyPr/>
          <a:p/>
        </p:txBody>
      </p:sp>
      <p:sp>
        <p:nvSpPr>
          <p:cNvPr id="7" name="Shape 5"/>
          <p:cNvSpPr/>
          <p:nvPr/>
        </p:nvSpPr>
        <p:spPr>
          <a:xfrm>
            <a:off x="777240" y="1810512"/>
            <a:ext cx="420624" cy="420624"/>
          </a:xfrm>
          <a:prstGeom prst="ellipse">
            <a:avLst/>
          </a:prstGeom>
          <a:solidFill>
            <a:srgbClr val="FFC24B"/>
          </a:solidFill>
          <a:ln/>
        </p:spPr>
        <p:txBody>
          <a:bodyPr/>
          <a:p/>
        </p:txBody>
      </p:sp>
      <p:sp>
        <p:nvSpPr>
          <p:cNvPr id="8" name="Text 6"/>
          <p:cNvSpPr/>
          <p:nvPr/>
        </p:nvSpPr>
        <p:spPr>
          <a:xfrm>
            <a:off x="777240" y="181051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417320" y="1600200"/>
            <a:ext cx="6080760" cy="841248"/>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Reducerea fumatului la elevii unui liceu din oraș</a:t>
            </a:r>
            <a:endParaRPr lang="en-US" sz="1600" dirty="0"/>
          </a:p>
        </p:txBody>
      </p:sp>
      <p:sp>
        <p:nvSpPr>
          <p:cNvPr id="10" name="Shape 8"/>
          <p:cNvSpPr/>
          <p:nvPr/>
        </p:nvSpPr>
        <p:spPr>
          <a:xfrm>
            <a:off x="594360" y="2560320"/>
            <a:ext cx="7040880" cy="841248"/>
          </a:xfrm>
          <a:prstGeom prst="roundRect">
            <a:avLst>
              <a:gd name="adj" fmla="val 9783"/>
            </a:avLst>
          </a:prstGeom>
          <a:solidFill>
            <a:srgbClr val="1D1F2B"/>
          </a:solidFill>
          <a:ln w="12700">
            <a:solidFill>
              <a:srgbClr val="1D1F2B"/>
            </a:solidFill>
            <a:prstDash val="solid"/>
          </a:ln>
        </p:spPr>
        <p:txBody>
          <a:bodyPr/>
          <a:p/>
        </p:txBody>
      </p:sp>
      <p:sp>
        <p:nvSpPr>
          <p:cNvPr id="11" name="Shape 9"/>
          <p:cNvSpPr/>
          <p:nvPr/>
        </p:nvSpPr>
        <p:spPr>
          <a:xfrm>
            <a:off x="777240" y="2770632"/>
            <a:ext cx="420624" cy="420624"/>
          </a:xfrm>
          <a:prstGeom prst="ellipse">
            <a:avLst/>
          </a:prstGeom>
          <a:solidFill>
            <a:srgbClr val="FFC24B"/>
          </a:solidFill>
          <a:ln/>
        </p:spPr>
        <p:txBody>
          <a:bodyPr/>
          <a:p/>
        </p:txBody>
      </p:sp>
      <p:sp>
        <p:nvSpPr>
          <p:cNvPr id="12" name="Text 10"/>
          <p:cNvSpPr/>
          <p:nvPr/>
        </p:nvSpPr>
        <p:spPr>
          <a:xfrm>
            <a:off x="777240" y="27706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417320" y="2560320"/>
            <a:ext cx="6080760" cy="841248"/>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Creșterea participării femeilor la screeningul pentru cancerul de col uterin într-o comunitate rurală</a:t>
            </a:r>
            <a:endParaRPr lang="en-US" sz="1600" dirty="0"/>
          </a:p>
        </p:txBody>
      </p:sp>
      <p:sp>
        <p:nvSpPr>
          <p:cNvPr id="14" name="Shape 12"/>
          <p:cNvSpPr/>
          <p:nvPr/>
        </p:nvSpPr>
        <p:spPr>
          <a:xfrm>
            <a:off x="594360" y="3520440"/>
            <a:ext cx="7040880" cy="841248"/>
          </a:xfrm>
          <a:prstGeom prst="roundRect">
            <a:avLst>
              <a:gd name="adj" fmla="val 9783"/>
            </a:avLst>
          </a:prstGeom>
          <a:solidFill>
            <a:srgbClr val="1D1F2B"/>
          </a:solidFill>
          <a:ln w="12700">
            <a:solidFill>
              <a:srgbClr val="1D1F2B"/>
            </a:solidFill>
            <a:prstDash val="solid"/>
          </a:ln>
        </p:spPr>
        <p:txBody>
          <a:bodyPr/>
          <a:p/>
        </p:txBody>
      </p:sp>
      <p:sp>
        <p:nvSpPr>
          <p:cNvPr id="15" name="Shape 13"/>
          <p:cNvSpPr/>
          <p:nvPr/>
        </p:nvSpPr>
        <p:spPr>
          <a:xfrm>
            <a:off x="777240" y="3730752"/>
            <a:ext cx="420624" cy="420624"/>
          </a:xfrm>
          <a:prstGeom prst="ellipse">
            <a:avLst/>
          </a:prstGeom>
          <a:solidFill>
            <a:srgbClr val="FFC24B"/>
          </a:solidFill>
          <a:ln/>
        </p:spPr>
        <p:txBody>
          <a:bodyPr/>
          <a:p/>
        </p:txBody>
      </p:sp>
      <p:sp>
        <p:nvSpPr>
          <p:cNvPr id="16" name="Text 14"/>
          <p:cNvSpPr/>
          <p:nvPr/>
        </p:nvSpPr>
        <p:spPr>
          <a:xfrm>
            <a:off x="777240" y="373075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417320" y="3520440"/>
            <a:ext cx="6080760" cy="841248"/>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Prevenirea excesului ponderal la copiii unei școli primare</a:t>
            </a:r>
            <a:endParaRPr lang="en-US" sz="1600" dirty="0"/>
          </a:p>
        </p:txBody>
      </p:sp>
      <p:sp>
        <p:nvSpPr>
          <p:cNvPr id="18" name="Text 16"/>
          <p:cNvSpPr/>
          <p:nvPr/>
        </p:nvSpPr>
        <p:spPr>
          <a:xfrm>
            <a:off x="594360" y="4572000"/>
            <a:ext cx="7040880" cy="1417320"/>
          </a:xfrm>
          <a:prstGeom prst="rect">
            <a:avLst/>
          </a:prstGeom>
          <a:noFill/>
          <a:ln/>
        </p:spPr>
        <p:txBody>
          <a:bodyPr wrap="square" lIns="0" tIns="0" rIns="0" bIns="0" rtlCol="0" anchor="t"/>
          <a:lstStyle/>
          <a:p>
            <a:pPr indent="0" marL="0">
              <a:buNone/>
            </a:pPr>
            <a:r>
              <a:rPr lang="en-US" sz="1450" dirty="0">
                <a:solidFill>
                  <a:srgbClr val="959BB0"/>
                </a:solidFill>
                <a:latin typeface="Palatino Linotype" pitchFamily="34" charset="0"/>
                <a:ea typeface="Palatino Linotype" pitchFamily="34" charset="-122"/>
                <a:cs typeface="Palatino Linotype" pitchFamily="34" charset="-120"/>
              </a:rPr>
              <a:t>Planul cuprinde problema cu datele ei reale, populația-țintă, nevoile și resursele, un obiectiv măsurabil, modelul, câte o intervenție la trei niveluri, câte un indicator de proces, de rezultat și de impact, calendarul primelor șase luni și responsabilii.</a:t>
            </a:r>
            <a:endParaRPr lang="en-US" sz="1450" dirty="0"/>
          </a:p>
        </p:txBody>
      </p:sp>
      <p:sp>
        <p:nvSpPr>
          <p:cNvPr id="19" name="Shape 17"/>
          <p:cNvSpPr/>
          <p:nvPr/>
        </p:nvSpPr>
        <p:spPr>
          <a:xfrm>
            <a:off x="8092440" y="1600200"/>
            <a:ext cx="3474720" cy="3474720"/>
          </a:xfrm>
          <a:prstGeom prst="roundRect">
            <a:avLst>
              <a:gd name="adj" fmla="val 2368"/>
            </a:avLst>
          </a:prstGeom>
          <a:solidFill>
            <a:srgbClr val="FFFFFF"/>
          </a:solidFill>
          <a:ln w="12700">
            <a:solidFill>
              <a:srgbClr val="FFFFFF"/>
            </a:solidFill>
            <a:prstDash val="solid"/>
          </a:ln>
        </p:spPr>
        <p:txBody>
          <a:bodyPr/>
          <a:p/>
        </p:txBody>
      </p:sp>
      <p:sp>
        <p:nvSpPr>
          <p:cNvPr id="21" name="Text 19"/>
          <p:cNvSpPr/>
          <p:nvPr/>
        </p:nvSpPr>
        <p:spPr>
          <a:xfrm>
            <a:off x="8092440" y="5212080"/>
            <a:ext cx="3474720" cy="822960"/>
          </a:xfrm>
          <a:prstGeom prst="rect">
            <a:avLst/>
          </a:prstGeom>
          <a:noFill/>
          <a:ln/>
        </p:spPr>
        <p:txBody>
          <a:bodyPr wrap="square" lIns="0" tIns="0" rIns="0" bIns="0" rtlCol="0" anchor="t"/>
          <a:lstStyle/>
          <a:p>
            <a:pPr indent="0" marL="0">
              <a:buNone/>
            </a:pPr>
            <a:r>
              <a:rPr lang="en-US" sz="1300" i="1" dirty="0">
                <a:solidFill>
                  <a:srgbClr val="27D3BE"/>
                </a:solidFill>
                <a:latin typeface="Palatino Linotype" pitchFamily="34" charset="0"/>
                <a:ea typeface="Palatino Linotype" pitchFamily="34" charset="-122"/>
                <a:cs typeface="Palatino Linotype" pitchFamily="34" charset="-120"/>
              </a:rPr>
              <a:t>Fișa echipei: un singur telefon, cu contul UMF. Răspunsurile corecte apar după trimitere.</a:t>
            </a:r>
            <a:endParaRPr lang="en-US" sz="1300" dirty="0"/>
          </a:p>
        </p:txBody>
      </p:sp>
      <p:pic>
        <p:nvPicPr>
          <p:cNvPr id="22" name="Picture 21" descr="AMGIV_LP02_sala_marti_13_10.png"/>
          <p:cNvPicPr>
            <a:picLocks noChangeAspect="1"/>
          </p:cNvPicPr>
          <p:nvPr/>
        </p:nvPicPr>
        <p:blipFill>
          <a:blip r:embed="rId3"/>
          <a:stretch>
            <a:fillRect/>
          </a:stretch>
        </p:blipFill>
        <p:spPr>
          <a:xfrm>
            <a:off x="8266176" y="2313097"/>
            <a:ext cx="1469807" cy="1469807"/>
          </a:xfrm>
          <a:prstGeom prst="rect">
            <a:avLst/>
          </a:prstGeom>
        </p:spPr>
      </p:pic>
      <p:sp>
        <p:nvSpPr>
          <p:cNvPr id="23" name="TextBox 22"/>
          <p:cNvSpPr txBox="1"/>
          <p:nvPr/>
        </p:nvSpPr>
        <p:spPr>
          <a:xfrm>
            <a:off x="8172359" y="3821004"/>
            <a:ext cx="1657441" cy="579119"/>
          </a:xfrm>
          <a:prstGeom prst="rect">
            <a:avLst/>
          </a:prstGeom>
          <a:noFill/>
        </p:spPr>
        <p:txBody>
          <a:bodyPr wrap="square" lIns="0" rIns="0" tIns="0" bIns="0" anchor="t">
            <a:spAutoFit/>
          </a:bodyPr>
          <a:lstStyle/>
          <a:p>
            <a:pPr algn="ctr"/>
            <a:r>
              <a:rPr sz="1200" b="1">
                <a:solidFill>
                  <a:srgbClr val="B02532"/>
                </a:solidFill>
                <a:latin typeface="Palatino Linotype"/>
              </a:rPr>
              <a:t>marți</a:t>
            </a:r>
          </a:p>
          <a:p>
            <a:pPr algn="ctr"/>
            <a:r>
              <a:rPr sz="1200" b="1">
                <a:solidFill>
                  <a:srgbClr val="B02532"/>
                </a:solidFill>
                <a:latin typeface="Palatino Linotype"/>
              </a:rPr>
              <a:t>grupele 4–5</a:t>
            </a:r>
          </a:p>
        </p:txBody>
      </p:sp>
      <p:pic>
        <p:nvPicPr>
          <p:cNvPr id="24" name="Picture 23" descr="AMGIV_LP02_sala_miercuri_14_10.png"/>
          <p:cNvPicPr>
            <a:picLocks noChangeAspect="1"/>
          </p:cNvPicPr>
          <p:nvPr/>
        </p:nvPicPr>
        <p:blipFill>
          <a:blip r:embed="rId4"/>
          <a:stretch>
            <a:fillRect/>
          </a:stretch>
        </p:blipFill>
        <p:spPr>
          <a:xfrm>
            <a:off x="9923617" y="2313097"/>
            <a:ext cx="1469807" cy="1469807"/>
          </a:xfrm>
          <a:prstGeom prst="rect">
            <a:avLst/>
          </a:prstGeom>
        </p:spPr>
      </p:pic>
      <p:sp>
        <p:nvSpPr>
          <p:cNvPr id="25" name="TextBox 24"/>
          <p:cNvSpPr txBox="1"/>
          <p:nvPr/>
        </p:nvSpPr>
        <p:spPr>
          <a:xfrm>
            <a:off x="9829800" y="3821004"/>
            <a:ext cx="1657441" cy="579119"/>
          </a:xfrm>
          <a:prstGeom prst="rect">
            <a:avLst/>
          </a:prstGeom>
          <a:noFill/>
        </p:spPr>
        <p:txBody>
          <a:bodyPr wrap="square" lIns="0" rIns="0" tIns="0" bIns="0" anchor="t">
            <a:spAutoFit/>
          </a:bodyPr>
          <a:lstStyle/>
          <a:p>
            <a:pPr algn="ctr"/>
            <a:r>
              <a:rPr sz="1200" b="1">
                <a:solidFill>
                  <a:srgbClr val="B02532"/>
                </a:solidFill>
                <a:latin typeface="Palatino Linotype"/>
              </a:rPr>
              <a:t>miercuri</a:t>
            </a:r>
          </a:p>
          <a:p>
            <a:pPr algn="ctr"/>
            <a:r>
              <a:rPr sz="1200" b="1">
                <a:solidFill>
                  <a:srgbClr val="B02532"/>
                </a:solidFill>
                <a:latin typeface="Palatino Linotype"/>
              </a:rPr>
              <a:t>grupele 1–3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FIȘA ECHIPEI · FORMS</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VALORI IPOTETICE · COMUNITATEA A</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De la obiectiv la numărul de persoane</a:t>
            </a:r>
            <a:endParaRPr lang="en-US" sz="3100" dirty="0"/>
          </a:p>
        </p:txBody>
      </p:sp>
      <p:sp>
        <p:nvSpPr>
          <p:cNvPr id="6" name="Shape 4"/>
          <p:cNvSpPr/>
          <p:nvPr/>
        </p:nvSpPr>
        <p:spPr>
          <a:xfrm>
            <a:off x="594360" y="1691640"/>
            <a:ext cx="2697480" cy="1737360"/>
          </a:xfrm>
          <a:prstGeom prst="roundRect">
            <a:avLst>
              <a:gd name="adj" fmla="val 4737"/>
            </a:avLst>
          </a:prstGeom>
          <a:solidFill>
            <a:srgbClr val="1D1F2B"/>
          </a:solidFill>
          <a:ln w="12700">
            <a:solidFill>
              <a:srgbClr val="1D1F2B"/>
            </a:solidFill>
            <a:prstDash val="solid"/>
          </a:ln>
        </p:spPr>
        <p:txBody>
          <a:bodyPr/>
          <a:p/>
        </p:txBody>
      </p:sp>
      <p:sp>
        <p:nvSpPr>
          <p:cNvPr id="7" name="Text 5"/>
          <p:cNvSpPr/>
          <p:nvPr/>
        </p:nvSpPr>
        <p:spPr>
          <a:xfrm>
            <a:off x="868680" y="1783080"/>
            <a:ext cx="2194560" cy="731520"/>
          </a:xfrm>
          <a:prstGeom prst="rect">
            <a:avLst/>
          </a:prstGeom>
          <a:noFill/>
          <a:ln/>
        </p:spPr>
        <p:txBody>
          <a:bodyPr wrap="square" lIns="0" tIns="0" rIns="0" bIns="0" rtlCol="0" anchor="ctr"/>
          <a:lstStyle/>
          <a:p>
            <a:pPr indent="0" marL="0">
              <a:buNone/>
            </a:pPr>
            <a:r>
              <a:rPr lang="en-US" sz="4600" b="1" dirty="0">
                <a:solidFill>
                  <a:srgbClr val="FF4757"/>
                </a:solidFill>
                <a:latin typeface="Palatino Linotype" pitchFamily="34" charset="0"/>
                <a:ea typeface="Palatino Linotype" pitchFamily="34" charset="-122"/>
                <a:cs typeface="Palatino Linotype" pitchFamily="34" charset="-120"/>
              </a:rPr>
              <a:t>600</a:t>
            </a:r>
            <a:endParaRPr lang="en-US" sz="4600" dirty="0"/>
          </a:p>
        </p:txBody>
      </p:sp>
      <p:sp>
        <p:nvSpPr>
          <p:cNvPr id="8" name="Text 6"/>
          <p:cNvSpPr/>
          <p:nvPr/>
        </p:nvSpPr>
        <p:spPr>
          <a:xfrm>
            <a:off x="868680" y="2560320"/>
            <a:ext cx="2194560" cy="822960"/>
          </a:xfrm>
          <a:prstGeom prst="rect">
            <a:avLst/>
          </a:prstGeom>
          <a:noFill/>
          <a:ln/>
        </p:spPr>
        <p:txBody>
          <a:bodyPr wrap="square" lIns="0" tIns="0" rIns="0" bIns="0" rtlCol="0" anchor="t"/>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persoane în grupa-țintă a unui program de depistare prin testul T</a:t>
            </a:r>
            <a:endParaRPr lang="en-US" sz="1400" dirty="0"/>
          </a:p>
        </p:txBody>
      </p:sp>
      <p:sp>
        <p:nvSpPr>
          <p:cNvPr id="9" name="Shape 7"/>
          <p:cNvSpPr/>
          <p:nvPr/>
        </p:nvSpPr>
        <p:spPr>
          <a:xfrm>
            <a:off x="3429000" y="1691640"/>
            <a:ext cx="2697480" cy="1737360"/>
          </a:xfrm>
          <a:prstGeom prst="roundRect">
            <a:avLst>
              <a:gd name="adj" fmla="val 4737"/>
            </a:avLst>
          </a:prstGeom>
          <a:solidFill>
            <a:srgbClr val="1D1F2B"/>
          </a:solidFill>
          <a:ln w="12700">
            <a:solidFill>
              <a:srgbClr val="1D1F2B"/>
            </a:solidFill>
            <a:prstDash val="solid"/>
          </a:ln>
        </p:spPr>
        <p:txBody>
          <a:bodyPr/>
          <a:p/>
        </p:txBody>
      </p:sp>
      <p:sp>
        <p:nvSpPr>
          <p:cNvPr id="10" name="Text 8"/>
          <p:cNvSpPr/>
          <p:nvPr/>
        </p:nvSpPr>
        <p:spPr>
          <a:xfrm>
            <a:off x="3703320" y="1783080"/>
            <a:ext cx="2194560" cy="731520"/>
          </a:xfrm>
          <a:prstGeom prst="rect">
            <a:avLst/>
          </a:prstGeom>
          <a:noFill/>
          <a:ln/>
        </p:spPr>
        <p:txBody>
          <a:bodyPr wrap="square" lIns="0" tIns="0" rIns="0" bIns="0" rtlCol="0" anchor="ctr"/>
          <a:lstStyle/>
          <a:p>
            <a:pPr indent="0" marL="0">
              <a:buNone/>
            </a:pPr>
            <a:r>
              <a:rPr lang="en-US" sz="4600" b="1" dirty="0">
                <a:solidFill>
                  <a:srgbClr val="27D3BE"/>
                </a:solidFill>
                <a:latin typeface="Palatino Linotype" pitchFamily="34" charset="0"/>
                <a:ea typeface="Palatino Linotype" pitchFamily="34" charset="-122"/>
                <a:cs typeface="Palatino Linotype" pitchFamily="34" charset="-120"/>
              </a:rPr>
              <a:t>120</a:t>
            </a:r>
            <a:endParaRPr lang="en-US" sz="4600" dirty="0"/>
          </a:p>
        </p:txBody>
      </p:sp>
      <p:sp>
        <p:nvSpPr>
          <p:cNvPr id="11" name="Text 9"/>
          <p:cNvSpPr/>
          <p:nvPr/>
        </p:nvSpPr>
        <p:spPr>
          <a:xfrm>
            <a:off x="3703320" y="2560320"/>
            <a:ext cx="2194560" cy="822960"/>
          </a:xfrm>
          <a:prstGeom prst="rect">
            <a:avLst/>
          </a:prstGeom>
          <a:noFill/>
          <a:ln/>
        </p:spPr>
        <p:txBody>
          <a:bodyPr wrap="square" lIns="0" tIns="0" rIns="0" bIns="0" rtlCol="0" anchor="t"/>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dintre ele au făcut testul în ultimii trei ani</a:t>
            </a:r>
            <a:endParaRPr lang="en-US" sz="1400" dirty="0"/>
          </a:p>
        </p:txBody>
      </p:sp>
      <p:sp>
        <p:nvSpPr>
          <p:cNvPr id="12" name="Shape 10"/>
          <p:cNvSpPr/>
          <p:nvPr/>
        </p:nvSpPr>
        <p:spPr>
          <a:xfrm>
            <a:off x="594360" y="3657600"/>
            <a:ext cx="5532120" cy="1097280"/>
          </a:xfrm>
          <a:prstGeom prst="roundRect">
            <a:avLst>
              <a:gd name="adj" fmla="val 7500"/>
            </a:avLst>
          </a:prstGeom>
          <a:solidFill>
            <a:srgbClr val="272A38"/>
          </a:solidFill>
          <a:ln w="12700">
            <a:solidFill>
              <a:srgbClr val="272A38"/>
            </a:solidFill>
            <a:prstDash val="solid"/>
          </a:ln>
        </p:spPr>
        <p:txBody>
          <a:bodyPr/>
          <a:p/>
        </p:txBody>
      </p:sp>
      <p:sp>
        <p:nvSpPr>
          <p:cNvPr id="13" name="Text 11"/>
          <p:cNvSpPr/>
          <p:nvPr/>
        </p:nvSpPr>
        <p:spPr>
          <a:xfrm>
            <a:off x="868680" y="3657600"/>
            <a:ext cx="5029200" cy="1097280"/>
          </a:xfrm>
          <a:prstGeom prst="rect">
            <a:avLst/>
          </a:prstGeom>
          <a:noFill/>
          <a:ln/>
        </p:spPr>
        <p:txBody>
          <a:bodyPr wrap="square" lIns="0" tIns="0" rIns="0" bIns="0" rtlCol="0" anchor="ctr"/>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Obiectivul: </a:t>
            </a:r>
            <a:pPr indent="0" marL="0">
              <a:buNone/>
            </a:pPr>
            <a:r>
              <a:rPr lang="en-US" sz="1900" dirty="0">
                <a:solidFill>
                  <a:srgbClr val="FFFFFF"/>
                </a:solidFill>
                <a:latin typeface="Palatino Linotype" pitchFamily="34" charset="0"/>
                <a:ea typeface="Palatino Linotype" pitchFamily="34" charset="-122"/>
                <a:cs typeface="Palatino Linotype" pitchFamily="34" charset="-120"/>
              </a:rPr>
              <a:t>dublarea acoperirii în douăsprezece luni.</a:t>
            </a:r>
            <a:endParaRPr lang="en-US" sz="1900" dirty="0"/>
          </a:p>
        </p:txBody>
      </p:sp>
      <p:sp>
        <p:nvSpPr>
          <p:cNvPr id="14" name="Text 12"/>
          <p:cNvSpPr/>
          <p:nvPr/>
        </p:nvSpPr>
        <p:spPr>
          <a:xfrm>
            <a:off x="6583680" y="1691640"/>
            <a:ext cx="4937760" cy="365760"/>
          </a:xfrm>
          <a:prstGeom prst="rect">
            <a:avLst/>
          </a:prstGeom>
          <a:noFill/>
          <a:ln/>
        </p:spPr>
        <p:txBody>
          <a:bodyPr wrap="square" lIns="0" tIns="0" rIns="0" bIns="0" rtlCol="0" anchor="t"/>
          <a:lstStyle/>
          <a:p>
            <a:pPr indent="0" marL="0">
              <a:buNone/>
            </a:pPr>
            <a:r>
              <a:rPr lang="en-US" sz="1300" b="1" spc="200" kern="0" dirty="0">
                <a:solidFill>
                  <a:srgbClr val="959BB0"/>
                </a:solidFill>
                <a:latin typeface="Palatino Linotype" pitchFamily="34" charset="0"/>
                <a:ea typeface="Palatino Linotype" pitchFamily="34" charset="-122"/>
                <a:cs typeface="Palatino Linotype" pitchFamily="34" charset="-120"/>
              </a:rPr>
              <a:t>Calculați</a:t>
            </a:r>
            <a:endParaRPr lang="en-US" sz="1300" dirty="0"/>
          </a:p>
        </p:txBody>
      </p:sp>
      <p:sp>
        <p:nvSpPr>
          <p:cNvPr id="15" name="Shape 13"/>
          <p:cNvSpPr/>
          <p:nvPr/>
        </p:nvSpPr>
        <p:spPr>
          <a:xfrm>
            <a:off x="6583680" y="2103120"/>
            <a:ext cx="4983480" cy="749808"/>
          </a:xfrm>
          <a:prstGeom prst="roundRect">
            <a:avLst>
              <a:gd name="adj" fmla="val 10976"/>
            </a:avLst>
          </a:prstGeom>
          <a:solidFill>
            <a:srgbClr val="1D1F2B"/>
          </a:solidFill>
          <a:ln w="12700">
            <a:solidFill>
              <a:srgbClr val="1D1F2B"/>
            </a:solidFill>
            <a:prstDash val="solid"/>
          </a:ln>
        </p:spPr>
        <p:txBody>
          <a:bodyPr/>
          <a:p/>
        </p:txBody>
      </p:sp>
      <p:sp>
        <p:nvSpPr>
          <p:cNvPr id="16" name="Shape 14"/>
          <p:cNvSpPr/>
          <p:nvPr/>
        </p:nvSpPr>
        <p:spPr>
          <a:xfrm>
            <a:off x="6766560" y="2267712"/>
            <a:ext cx="420624" cy="420624"/>
          </a:xfrm>
          <a:prstGeom prst="ellipse">
            <a:avLst/>
          </a:prstGeom>
          <a:solidFill>
            <a:srgbClr val="FFC24B"/>
          </a:solidFill>
          <a:ln/>
        </p:spPr>
        <p:txBody>
          <a:bodyPr/>
          <a:p/>
        </p:txBody>
      </p:sp>
      <p:sp>
        <p:nvSpPr>
          <p:cNvPr id="17" name="Text 15"/>
          <p:cNvSpPr/>
          <p:nvPr/>
        </p:nvSpPr>
        <p:spPr>
          <a:xfrm>
            <a:off x="6766560" y="226771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18" name="Text 16"/>
          <p:cNvSpPr/>
          <p:nvPr/>
        </p:nvSpPr>
        <p:spPr>
          <a:xfrm>
            <a:off x="7406640" y="2103120"/>
            <a:ext cx="4023360" cy="749808"/>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Acoperirea de pornire, în %</a:t>
            </a:r>
            <a:endParaRPr lang="en-US" sz="1500" dirty="0"/>
          </a:p>
        </p:txBody>
      </p:sp>
      <p:sp>
        <p:nvSpPr>
          <p:cNvPr id="19" name="Shape 17"/>
          <p:cNvSpPr/>
          <p:nvPr/>
        </p:nvSpPr>
        <p:spPr>
          <a:xfrm>
            <a:off x="6583680" y="2971800"/>
            <a:ext cx="4983480" cy="749808"/>
          </a:xfrm>
          <a:prstGeom prst="roundRect">
            <a:avLst>
              <a:gd name="adj" fmla="val 10976"/>
            </a:avLst>
          </a:prstGeom>
          <a:solidFill>
            <a:srgbClr val="1D1F2B"/>
          </a:solidFill>
          <a:ln w="12700">
            <a:solidFill>
              <a:srgbClr val="1D1F2B"/>
            </a:solidFill>
            <a:prstDash val="solid"/>
          </a:ln>
        </p:spPr>
        <p:txBody>
          <a:bodyPr/>
          <a:p/>
        </p:txBody>
      </p:sp>
      <p:sp>
        <p:nvSpPr>
          <p:cNvPr id="20" name="Shape 18"/>
          <p:cNvSpPr/>
          <p:nvPr/>
        </p:nvSpPr>
        <p:spPr>
          <a:xfrm>
            <a:off x="6766560" y="3136392"/>
            <a:ext cx="420624" cy="420624"/>
          </a:xfrm>
          <a:prstGeom prst="ellipse">
            <a:avLst/>
          </a:prstGeom>
          <a:solidFill>
            <a:srgbClr val="FFC24B"/>
          </a:solidFill>
          <a:ln/>
        </p:spPr>
        <p:txBody>
          <a:bodyPr/>
          <a:p/>
        </p:txBody>
      </p:sp>
      <p:sp>
        <p:nvSpPr>
          <p:cNvPr id="21" name="Text 19"/>
          <p:cNvSpPr/>
          <p:nvPr/>
        </p:nvSpPr>
        <p:spPr>
          <a:xfrm>
            <a:off x="6766560" y="31363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22" name="Text 20"/>
          <p:cNvSpPr/>
          <p:nvPr/>
        </p:nvSpPr>
        <p:spPr>
          <a:xfrm>
            <a:off x="7406640" y="2971800"/>
            <a:ext cx="4023360" cy="749808"/>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Câte persoane trebuie să fi făcut testul la sfârșit</a:t>
            </a:r>
            <a:endParaRPr lang="en-US" sz="1500" dirty="0"/>
          </a:p>
        </p:txBody>
      </p:sp>
      <p:sp>
        <p:nvSpPr>
          <p:cNvPr id="23" name="Shape 21"/>
          <p:cNvSpPr/>
          <p:nvPr/>
        </p:nvSpPr>
        <p:spPr>
          <a:xfrm>
            <a:off x="6583680" y="3840480"/>
            <a:ext cx="4983480" cy="749808"/>
          </a:xfrm>
          <a:prstGeom prst="roundRect">
            <a:avLst>
              <a:gd name="adj" fmla="val 10976"/>
            </a:avLst>
          </a:prstGeom>
          <a:solidFill>
            <a:srgbClr val="1D1F2B"/>
          </a:solidFill>
          <a:ln w="12700">
            <a:solidFill>
              <a:srgbClr val="1D1F2B"/>
            </a:solidFill>
            <a:prstDash val="solid"/>
          </a:ln>
        </p:spPr>
        <p:txBody>
          <a:bodyPr/>
          <a:p/>
        </p:txBody>
      </p:sp>
      <p:sp>
        <p:nvSpPr>
          <p:cNvPr id="24" name="Shape 22"/>
          <p:cNvSpPr/>
          <p:nvPr/>
        </p:nvSpPr>
        <p:spPr>
          <a:xfrm>
            <a:off x="6766560" y="4005072"/>
            <a:ext cx="420624" cy="420624"/>
          </a:xfrm>
          <a:prstGeom prst="ellipse">
            <a:avLst/>
          </a:prstGeom>
          <a:solidFill>
            <a:srgbClr val="FFC24B"/>
          </a:solidFill>
          <a:ln/>
        </p:spPr>
        <p:txBody>
          <a:bodyPr/>
          <a:p/>
        </p:txBody>
      </p:sp>
      <p:sp>
        <p:nvSpPr>
          <p:cNvPr id="25" name="Text 23"/>
          <p:cNvSpPr/>
          <p:nvPr/>
        </p:nvSpPr>
        <p:spPr>
          <a:xfrm>
            <a:off x="6766560" y="400507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26" name="Text 24"/>
          <p:cNvSpPr/>
          <p:nvPr/>
        </p:nvSpPr>
        <p:spPr>
          <a:xfrm>
            <a:off x="7406640" y="3840480"/>
            <a:ext cx="4023360" cy="749808"/>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Câte persoane trebuie testate în plus</a:t>
            </a:r>
            <a:endParaRPr lang="en-US" sz="1500" dirty="0"/>
          </a:p>
        </p:txBody>
      </p:sp>
      <p:sp>
        <p:nvSpPr>
          <p:cNvPr id="27" name="Shape 25"/>
          <p:cNvSpPr/>
          <p:nvPr/>
        </p:nvSpPr>
        <p:spPr>
          <a:xfrm>
            <a:off x="6583680" y="4709160"/>
            <a:ext cx="4983480" cy="749808"/>
          </a:xfrm>
          <a:prstGeom prst="roundRect">
            <a:avLst>
              <a:gd name="adj" fmla="val 10976"/>
            </a:avLst>
          </a:prstGeom>
          <a:solidFill>
            <a:srgbClr val="1D1F2B"/>
          </a:solidFill>
          <a:ln w="12700">
            <a:solidFill>
              <a:srgbClr val="1D1F2B"/>
            </a:solidFill>
            <a:prstDash val="solid"/>
          </a:ln>
        </p:spPr>
        <p:txBody>
          <a:bodyPr/>
          <a:p/>
        </p:txBody>
      </p:sp>
      <p:sp>
        <p:nvSpPr>
          <p:cNvPr id="28" name="Shape 26"/>
          <p:cNvSpPr/>
          <p:nvPr/>
        </p:nvSpPr>
        <p:spPr>
          <a:xfrm>
            <a:off x="6766560" y="4873752"/>
            <a:ext cx="420624" cy="420624"/>
          </a:xfrm>
          <a:prstGeom prst="ellipse">
            <a:avLst/>
          </a:prstGeom>
          <a:solidFill>
            <a:srgbClr val="FFC24B"/>
          </a:solidFill>
          <a:ln/>
        </p:spPr>
        <p:txBody>
          <a:bodyPr/>
          <a:p/>
        </p:txBody>
      </p:sp>
      <p:sp>
        <p:nvSpPr>
          <p:cNvPr id="29" name="Text 27"/>
          <p:cNvSpPr/>
          <p:nvPr/>
        </p:nvSpPr>
        <p:spPr>
          <a:xfrm>
            <a:off x="6766560" y="487375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30" name="Text 28"/>
          <p:cNvSpPr/>
          <p:nvPr/>
        </p:nvSpPr>
        <p:spPr>
          <a:xfrm>
            <a:off x="7406640" y="4709160"/>
            <a:ext cx="4023360" cy="749808"/>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Câte persoane pe lună</a:t>
            </a:r>
            <a:endParaRPr lang="en-US" sz="1500" dirty="0"/>
          </a:p>
        </p:txBody>
      </p:sp>
      <p:sp>
        <p:nvSpPr>
          <p:cNvPr id="31" name="Text 29"/>
          <p:cNvSpPr/>
          <p:nvPr/>
        </p:nvSpPr>
        <p:spPr>
          <a:xfrm>
            <a:off x="594360" y="5029200"/>
            <a:ext cx="5532120" cy="822960"/>
          </a:xfrm>
          <a:prstGeom prst="rect">
            <a:avLst/>
          </a:prstGeom>
          <a:noFill/>
          <a:ln/>
        </p:spPr>
        <p:txBody>
          <a:bodyPr wrap="square" lIns="0" tIns="0" rIns="0" bIns="0" rtlCol="0" anchor="t"/>
          <a:lstStyle/>
          <a:p>
            <a:pPr indent="0" marL="0">
              <a:buNone/>
            </a:pPr>
            <a:r>
              <a:rPr lang="en-US" sz="1500" i="1" dirty="0">
                <a:solidFill>
                  <a:srgbClr val="27D3BE"/>
                </a:solidFill>
                <a:latin typeface="Palatino Linotype" pitchFamily="34" charset="0"/>
                <a:ea typeface="Palatino Linotype" pitchFamily="34" charset="-122"/>
                <a:cs typeface="Palatino Linotype" pitchFamily="34" charset="-120"/>
              </a:rPr>
              <a:t>Răspundeți în fișa echipei (pasul 2 al părții întâi). Verificatorul reface fiecare calcul.</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PARTEA A DOUA · VALORI IPOTETICE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Căminul A, luni dimineață</a:t>
            </a:r>
            <a:endParaRPr lang="en-US" sz="3200" dirty="0"/>
          </a:p>
        </p:txBody>
      </p:sp>
      <p:sp>
        <p:nvSpPr>
          <p:cNvPr id="4" name="Text 2"/>
          <p:cNvSpPr/>
          <p:nvPr/>
        </p:nvSpPr>
        <p:spPr>
          <a:xfrm>
            <a:off x="594360" y="1600200"/>
            <a:ext cx="10972800" cy="109728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Asistentul medical al cabinetului primește telefoane de la mai multe familii: persoane care au participat sâmbătă, la ora 13:00, la o masă la căminul A au vărsături, diaree și crampe abdominale.</a:t>
            </a:r>
            <a:endParaRPr lang="en-US" sz="1900" dirty="0"/>
          </a:p>
        </p:txBody>
      </p:sp>
      <p:sp>
        <p:nvSpPr>
          <p:cNvPr id="5" name="Shape 3"/>
          <p:cNvSpPr/>
          <p:nvPr/>
        </p:nvSpPr>
        <p:spPr>
          <a:xfrm>
            <a:off x="594360" y="3017520"/>
            <a:ext cx="2651760" cy="2103120"/>
          </a:xfrm>
          <a:prstGeom prst="roundRect">
            <a:avLst>
              <a:gd name="adj" fmla="val 3913"/>
            </a:avLst>
          </a:prstGeom>
          <a:solidFill>
            <a:srgbClr val="1D1F2B"/>
          </a:solidFill>
          <a:ln w="12700">
            <a:solidFill>
              <a:srgbClr val="1D1F2B"/>
            </a:solidFill>
            <a:prstDash val="solid"/>
          </a:ln>
        </p:spPr>
        <p:txBody>
          <a:bodyPr/>
          <a:p/>
        </p:txBody>
      </p:sp>
      <p:sp>
        <p:nvSpPr>
          <p:cNvPr id="6" name="Text 4"/>
          <p:cNvSpPr/>
          <p:nvPr/>
        </p:nvSpPr>
        <p:spPr>
          <a:xfrm>
            <a:off x="822960" y="3108960"/>
            <a:ext cx="2194560" cy="868680"/>
          </a:xfrm>
          <a:prstGeom prst="rect">
            <a:avLst/>
          </a:prstGeom>
          <a:noFill/>
          <a:ln/>
        </p:spPr>
        <p:txBody>
          <a:bodyPr wrap="square" lIns="0" tIns="0" rIns="0" bIns="0" rtlCol="0" anchor="ctr"/>
          <a:lstStyle/>
          <a:p>
            <a:pPr indent="0" marL="0">
              <a:buNone/>
            </a:pPr>
            <a:r>
              <a:rPr lang="en-US" sz="4400" b="1" dirty="0">
                <a:solidFill>
                  <a:srgbClr val="FF4757"/>
                </a:solidFill>
                <a:latin typeface="Palatino Linotype" pitchFamily="34" charset="0"/>
                <a:ea typeface="Palatino Linotype" pitchFamily="34" charset="-122"/>
                <a:cs typeface="Palatino Linotype" pitchFamily="34" charset="-120"/>
              </a:rPr>
              <a:t>120</a:t>
            </a:r>
            <a:endParaRPr lang="en-US" sz="4400" dirty="0"/>
          </a:p>
        </p:txBody>
      </p:sp>
      <p:sp>
        <p:nvSpPr>
          <p:cNvPr id="7" name="Text 5"/>
          <p:cNvSpPr/>
          <p:nvPr/>
        </p:nvSpPr>
        <p:spPr>
          <a:xfrm>
            <a:off x="822960" y="4023360"/>
            <a:ext cx="2240280" cy="100584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de participanți la masă</a:t>
            </a:r>
            <a:endParaRPr lang="en-US" sz="1500" dirty="0"/>
          </a:p>
        </p:txBody>
      </p:sp>
      <p:sp>
        <p:nvSpPr>
          <p:cNvPr id="8" name="Shape 6"/>
          <p:cNvSpPr/>
          <p:nvPr/>
        </p:nvSpPr>
        <p:spPr>
          <a:xfrm>
            <a:off x="3383280" y="3017520"/>
            <a:ext cx="2651760" cy="2103120"/>
          </a:xfrm>
          <a:prstGeom prst="roundRect">
            <a:avLst>
              <a:gd name="adj" fmla="val 3913"/>
            </a:avLst>
          </a:prstGeom>
          <a:solidFill>
            <a:srgbClr val="1D1F2B"/>
          </a:solidFill>
          <a:ln w="12700">
            <a:solidFill>
              <a:srgbClr val="1D1F2B"/>
            </a:solidFill>
            <a:prstDash val="solid"/>
          </a:ln>
        </p:spPr>
        <p:txBody>
          <a:bodyPr/>
          <a:p/>
        </p:txBody>
      </p:sp>
      <p:sp>
        <p:nvSpPr>
          <p:cNvPr id="9" name="Text 7"/>
          <p:cNvSpPr/>
          <p:nvPr/>
        </p:nvSpPr>
        <p:spPr>
          <a:xfrm>
            <a:off x="3611880" y="3108960"/>
            <a:ext cx="2194560" cy="868680"/>
          </a:xfrm>
          <a:prstGeom prst="rect">
            <a:avLst/>
          </a:prstGeom>
          <a:noFill/>
          <a:ln/>
        </p:spPr>
        <p:txBody>
          <a:bodyPr wrap="square" lIns="0" tIns="0" rIns="0" bIns="0" rtlCol="0" anchor="ctr"/>
          <a:lstStyle/>
          <a:p>
            <a:pPr indent="0" marL="0">
              <a:buNone/>
            </a:pPr>
            <a:r>
              <a:rPr lang="en-US" sz="4400" b="1" dirty="0">
                <a:solidFill>
                  <a:srgbClr val="FFC24B"/>
                </a:solidFill>
                <a:latin typeface="Palatino Linotype" pitchFamily="34" charset="0"/>
                <a:ea typeface="Palatino Linotype" pitchFamily="34" charset="-122"/>
                <a:cs typeface="Palatino Linotype" pitchFamily="34" charset="-120"/>
              </a:rPr>
              <a:t>30</a:t>
            </a:r>
            <a:endParaRPr lang="en-US" sz="4400" dirty="0"/>
          </a:p>
        </p:txBody>
      </p:sp>
      <p:sp>
        <p:nvSpPr>
          <p:cNvPr id="10" name="Text 8"/>
          <p:cNvSpPr/>
          <p:nvPr/>
        </p:nvSpPr>
        <p:spPr>
          <a:xfrm>
            <a:off x="3611880" y="4023360"/>
            <a:ext cx="2240280" cy="100584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de persoane bolnave până la ora 10:00</a:t>
            </a:r>
            <a:endParaRPr lang="en-US" sz="1500" dirty="0"/>
          </a:p>
        </p:txBody>
      </p:sp>
      <p:sp>
        <p:nvSpPr>
          <p:cNvPr id="11" name="Shape 9"/>
          <p:cNvSpPr/>
          <p:nvPr/>
        </p:nvSpPr>
        <p:spPr>
          <a:xfrm>
            <a:off x="6172200" y="3017520"/>
            <a:ext cx="2651760" cy="2103120"/>
          </a:xfrm>
          <a:prstGeom prst="roundRect">
            <a:avLst>
              <a:gd name="adj" fmla="val 3913"/>
            </a:avLst>
          </a:prstGeom>
          <a:solidFill>
            <a:srgbClr val="1D1F2B"/>
          </a:solidFill>
          <a:ln w="12700">
            <a:solidFill>
              <a:srgbClr val="1D1F2B"/>
            </a:solidFill>
            <a:prstDash val="solid"/>
          </a:ln>
        </p:spPr>
        <p:txBody>
          <a:bodyPr/>
          <a:p/>
        </p:txBody>
      </p:sp>
      <p:sp>
        <p:nvSpPr>
          <p:cNvPr id="12" name="Text 10"/>
          <p:cNvSpPr/>
          <p:nvPr/>
        </p:nvSpPr>
        <p:spPr>
          <a:xfrm>
            <a:off x="6400800" y="3108960"/>
            <a:ext cx="2194560" cy="868680"/>
          </a:xfrm>
          <a:prstGeom prst="rect">
            <a:avLst/>
          </a:prstGeom>
          <a:noFill/>
          <a:ln/>
        </p:spPr>
        <p:txBody>
          <a:bodyPr wrap="square" lIns="0" tIns="0" rIns="0" bIns="0" rtlCol="0" anchor="ctr"/>
          <a:lstStyle/>
          <a:p>
            <a:pPr indent="0" marL="0">
              <a:buNone/>
            </a:pPr>
            <a:r>
              <a:rPr lang="en-US" sz="4400" b="1" dirty="0">
                <a:solidFill>
                  <a:srgbClr val="27D3BE"/>
                </a:solidFill>
                <a:latin typeface="Palatino Linotype" pitchFamily="34" charset="0"/>
                <a:ea typeface="Palatino Linotype" pitchFamily="34" charset="-122"/>
                <a:cs typeface="Palatino Linotype" pitchFamily="34" charset="-120"/>
              </a:rPr>
              <a:t>0–2</a:t>
            </a:r>
            <a:endParaRPr lang="en-US" sz="4400" dirty="0"/>
          </a:p>
        </p:txBody>
      </p:sp>
      <p:sp>
        <p:nvSpPr>
          <p:cNvPr id="13" name="Text 11"/>
          <p:cNvSpPr/>
          <p:nvPr/>
        </p:nvSpPr>
        <p:spPr>
          <a:xfrm>
            <a:off x="6400800" y="4023360"/>
            <a:ext cx="2240280" cy="100584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raportări de boală diareică acută pe săptămână, de obicei</a:t>
            </a:r>
            <a:endParaRPr lang="en-US" sz="1500" dirty="0"/>
          </a:p>
        </p:txBody>
      </p:sp>
      <p:sp>
        <p:nvSpPr>
          <p:cNvPr id="14" name="Shape 12"/>
          <p:cNvSpPr/>
          <p:nvPr/>
        </p:nvSpPr>
        <p:spPr>
          <a:xfrm>
            <a:off x="8961120" y="3017520"/>
            <a:ext cx="2651760" cy="2103120"/>
          </a:xfrm>
          <a:prstGeom prst="roundRect">
            <a:avLst>
              <a:gd name="adj" fmla="val 3913"/>
            </a:avLst>
          </a:prstGeom>
          <a:solidFill>
            <a:srgbClr val="1D1F2B"/>
          </a:solidFill>
          <a:ln w="12700">
            <a:solidFill>
              <a:srgbClr val="1D1F2B"/>
            </a:solidFill>
            <a:prstDash val="solid"/>
          </a:ln>
        </p:spPr>
        <p:txBody>
          <a:bodyPr/>
          <a:p/>
        </p:txBody>
      </p:sp>
      <p:sp>
        <p:nvSpPr>
          <p:cNvPr id="15" name="Text 13"/>
          <p:cNvSpPr/>
          <p:nvPr/>
        </p:nvSpPr>
        <p:spPr>
          <a:xfrm>
            <a:off x="9189720" y="3108960"/>
            <a:ext cx="2194560" cy="868680"/>
          </a:xfrm>
          <a:prstGeom prst="rect">
            <a:avLst/>
          </a:prstGeom>
          <a:noFill/>
          <a:ln/>
        </p:spPr>
        <p:txBody>
          <a:bodyPr wrap="square" lIns="0" tIns="0" rIns="0" bIns="0" rtlCol="0" anchor="ctr"/>
          <a:lstStyle/>
          <a:p>
            <a:pPr indent="0" marL="0">
              <a:buNone/>
            </a:pPr>
            <a:r>
              <a:rPr lang="en-US" sz="4400" b="1" dirty="0">
                <a:solidFill>
                  <a:srgbClr val="9B7EF7"/>
                </a:solidFill>
                <a:latin typeface="Palatino Linotype" pitchFamily="34" charset="0"/>
                <a:ea typeface="Palatino Linotype" pitchFamily="34" charset="-122"/>
                <a:cs typeface="Palatino Linotype" pitchFamily="34" charset="-120"/>
              </a:rPr>
              <a:t>6–36</a:t>
            </a:r>
            <a:endParaRPr lang="en-US" sz="4400" dirty="0"/>
          </a:p>
        </p:txBody>
      </p:sp>
      <p:sp>
        <p:nvSpPr>
          <p:cNvPr id="16" name="Text 14"/>
          <p:cNvSpPr/>
          <p:nvPr/>
        </p:nvSpPr>
        <p:spPr>
          <a:xfrm>
            <a:off x="9189720" y="4023360"/>
            <a:ext cx="2240280" cy="100584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de ore, perioada de incubație a bolii K</a:t>
            </a:r>
            <a:endParaRPr lang="en-US" sz="1500" dirty="0"/>
          </a:p>
        </p:txBody>
      </p:sp>
      <p:sp>
        <p:nvSpPr>
          <p:cNvPr id="17" name="Text 15"/>
          <p:cNvSpPr/>
          <p:nvPr/>
        </p:nvSpPr>
        <p:spPr>
          <a:xfrm>
            <a:off x="594360" y="5394960"/>
            <a:ext cx="10972800" cy="548640"/>
          </a:xfrm>
          <a:prstGeom prst="rect">
            <a:avLst/>
          </a:prstGeom>
          <a:noFill/>
          <a:ln/>
        </p:spPr>
        <p:txBody>
          <a:bodyPr wrap="square" lIns="0" tIns="0" rIns="0" bIns="0" rtlCol="0" anchor="t"/>
          <a:lstStyle/>
          <a:p>
            <a:pPr indent="0" marL="0">
              <a:buNone/>
            </a:pPr>
            <a:r>
              <a:rPr lang="en-US" sz="1600" i="1" dirty="0">
                <a:solidFill>
                  <a:srgbClr val="959BB0"/>
                </a:solidFill>
                <a:latin typeface="Palatino Linotype" pitchFamily="34" charset="0"/>
                <a:ea typeface="Palatino Linotype" pitchFamily="34" charset="-122"/>
                <a:cs typeface="Palatino Linotype" pitchFamily="34" charset="-120"/>
              </a:rPr>
              <a:t>Probele de la câțiva bolnavi au plecat la laborator; rezultatele nu sunt încă disponibile.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PASUL 1</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Există un focar? Definiția de caz</a:t>
            </a:r>
            <a:endParaRPr lang="en-US" sz="3200" dirty="0"/>
          </a:p>
        </p:txBody>
      </p:sp>
      <p:sp>
        <p:nvSpPr>
          <p:cNvPr id="4" name="Text 2"/>
          <p:cNvSpPr/>
          <p:nvPr/>
        </p:nvSpPr>
        <p:spPr>
          <a:xfrm>
            <a:off x="594360" y="1600200"/>
            <a:ext cx="10972800" cy="82296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Existența focarului se stabilește comparând numărul de cazuri observat cu numărul așteptat, în același loc și în aceeași perioadă.</a:t>
            </a:r>
            <a:endParaRPr lang="en-US" sz="1800" dirty="0"/>
          </a:p>
        </p:txBody>
      </p:sp>
      <p:sp>
        <p:nvSpPr>
          <p:cNvPr id="5" name="Text 3"/>
          <p:cNvSpPr/>
          <p:nvPr/>
        </p:nvSpPr>
        <p:spPr>
          <a:xfrm>
            <a:off x="594360" y="2606040"/>
            <a:ext cx="10972800" cy="320040"/>
          </a:xfrm>
          <a:prstGeom prst="rect">
            <a:avLst/>
          </a:prstGeom>
          <a:noFill/>
          <a:ln/>
        </p:spPr>
        <p:txBody>
          <a:bodyPr wrap="square" lIns="0" tIns="0" rIns="0" bIns="0" rtlCol="0" anchor="t"/>
          <a:lstStyle/>
          <a:p>
            <a:pPr indent="0" marL="0">
              <a:buNone/>
            </a:pPr>
            <a:r>
              <a:rPr lang="en-US" sz="1300" b="1" spc="200" kern="0" dirty="0">
                <a:solidFill>
                  <a:srgbClr val="585A64"/>
                </a:solidFill>
                <a:latin typeface="Palatino Linotype" pitchFamily="34" charset="0"/>
                <a:ea typeface="Palatino Linotype" pitchFamily="34" charset="-122"/>
                <a:cs typeface="Palatino Linotype" pitchFamily="34" charset="-120"/>
              </a:rPr>
              <a:t>DEFINIȚIA DE CAZ ARE PATRU COMPONENTE</a:t>
            </a:r>
            <a:endParaRPr lang="en-US" sz="1300" dirty="0"/>
          </a:p>
        </p:txBody>
      </p:sp>
      <p:sp>
        <p:nvSpPr>
          <p:cNvPr id="6" name="Shape 4"/>
          <p:cNvSpPr/>
          <p:nvPr/>
        </p:nvSpPr>
        <p:spPr>
          <a:xfrm>
            <a:off x="594360" y="3017520"/>
            <a:ext cx="2651760" cy="1325880"/>
          </a:xfrm>
          <a:prstGeom prst="roundRect">
            <a:avLst>
              <a:gd name="adj" fmla="val 6207"/>
            </a:avLst>
          </a:prstGeom>
          <a:solidFill>
            <a:srgbClr val="ECEAE4"/>
          </a:solidFill>
          <a:ln w="12700">
            <a:solidFill>
              <a:srgbClr val="ECEAE4"/>
            </a:solidFill>
            <a:prstDash val="solid"/>
          </a:ln>
        </p:spPr>
        <p:txBody>
          <a:bodyPr/>
          <a:p/>
        </p:txBody>
      </p:sp>
      <p:sp>
        <p:nvSpPr>
          <p:cNvPr id="7" name="Shape 5"/>
          <p:cNvSpPr/>
          <p:nvPr/>
        </p:nvSpPr>
        <p:spPr>
          <a:xfrm>
            <a:off x="594360" y="3017520"/>
            <a:ext cx="2651760" cy="64008"/>
          </a:xfrm>
          <a:prstGeom prst="rect">
            <a:avLst/>
          </a:prstGeom>
          <a:solidFill>
            <a:srgbClr val="B02532"/>
          </a:solidFill>
          <a:ln w="12700">
            <a:solidFill>
              <a:srgbClr val="B02532"/>
            </a:solidFill>
            <a:prstDash val="solid"/>
          </a:ln>
        </p:spPr>
        <p:txBody>
          <a:bodyPr/>
          <a:p/>
        </p:txBody>
      </p:sp>
      <p:sp>
        <p:nvSpPr>
          <p:cNvPr id="8" name="Text 6"/>
          <p:cNvSpPr/>
          <p:nvPr/>
        </p:nvSpPr>
        <p:spPr>
          <a:xfrm>
            <a:off x="822960" y="3200400"/>
            <a:ext cx="2194560" cy="457200"/>
          </a:xfrm>
          <a:prstGeom prst="rect">
            <a:avLst/>
          </a:prstGeom>
          <a:noFill/>
          <a:ln/>
        </p:spPr>
        <p:txBody>
          <a:bodyPr wrap="square" lIns="0" tIns="0" rIns="0" bIns="0" rtlCol="0" anchor="t"/>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Timp</a:t>
            </a:r>
            <a:endParaRPr lang="en-US" sz="2000" dirty="0"/>
          </a:p>
        </p:txBody>
      </p:sp>
      <p:sp>
        <p:nvSpPr>
          <p:cNvPr id="9" name="Text 7"/>
          <p:cNvSpPr/>
          <p:nvPr/>
        </p:nvSpPr>
        <p:spPr>
          <a:xfrm>
            <a:off x="822960" y="3749040"/>
            <a:ext cx="2194560" cy="4572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în ce interval</a:t>
            </a:r>
            <a:endParaRPr lang="en-US" sz="1600" dirty="0"/>
          </a:p>
        </p:txBody>
      </p:sp>
      <p:sp>
        <p:nvSpPr>
          <p:cNvPr id="10" name="Shape 8"/>
          <p:cNvSpPr/>
          <p:nvPr/>
        </p:nvSpPr>
        <p:spPr>
          <a:xfrm>
            <a:off x="3383280" y="3017520"/>
            <a:ext cx="2651760" cy="1325880"/>
          </a:xfrm>
          <a:prstGeom prst="roundRect">
            <a:avLst>
              <a:gd name="adj" fmla="val 6207"/>
            </a:avLst>
          </a:prstGeom>
          <a:solidFill>
            <a:srgbClr val="ECEAE4"/>
          </a:solidFill>
          <a:ln w="12700">
            <a:solidFill>
              <a:srgbClr val="ECEAE4"/>
            </a:solidFill>
            <a:prstDash val="solid"/>
          </a:ln>
        </p:spPr>
        <p:txBody>
          <a:bodyPr/>
          <a:p/>
        </p:txBody>
      </p:sp>
      <p:sp>
        <p:nvSpPr>
          <p:cNvPr id="11" name="Shape 9"/>
          <p:cNvSpPr/>
          <p:nvPr/>
        </p:nvSpPr>
        <p:spPr>
          <a:xfrm>
            <a:off x="3383280" y="3017520"/>
            <a:ext cx="2651760" cy="64008"/>
          </a:xfrm>
          <a:prstGeom prst="rect">
            <a:avLst/>
          </a:prstGeom>
          <a:solidFill>
            <a:srgbClr val="0E7C6B"/>
          </a:solidFill>
          <a:ln w="12700">
            <a:solidFill>
              <a:srgbClr val="0E7C6B"/>
            </a:solidFill>
            <a:prstDash val="solid"/>
          </a:ln>
        </p:spPr>
        <p:txBody>
          <a:bodyPr/>
          <a:p/>
        </p:txBody>
      </p:sp>
      <p:sp>
        <p:nvSpPr>
          <p:cNvPr id="12" name="Text 10"/>
          <p:cNvSpPr/>
          <p:nvPr/>
        </p:nvSpPr>
        <p:spPr>
          <a:xfrm>
            <a:off x="3611880" y="3200400"/>
            <a:ext cx="2194560" cy="457200"/>
          </a:xfrm>
          <a:prstGeom prst="rect">
            <a:avLst/>
          </a:prstGeom>
          <a:noFill/>
          <a:ln/>
        </p:spPr>
        <p:txBody>
          <a:bodyPr wrap="square" lIns="0" tIns="0" rIns="0" bIns="0" rtlCol="0" anchor="t"/>
          <a:lstStyle/>
          <a:p>
            <a:pPr indent="0" marL="0">
              <a:buNone/>
            </a:pPr>
            <a:r>
              <a:rPr lang="en-US" sz="2000" b="1" dirty="0">
                <a:solidFill>
                  <a:srgbClr val="0E7C6B"/>
                </a:solidFill>
                <a:latin typeface="Palatino Linotype" pitchFamily="34" charset="0"/>
                <a:ea typeface="Palatino Linotype" pitchFamily="34" charset="-122"/>
                <a:cs typeface="Palatino Linotype" pitchFamily="34" charset="-120"/>
              </a:rPr>
              <a:t>Loc</a:t>
            </a:r>
            <a:endParaRPr lang="en-US" sz="2000" dirty="0"/>
          </a:p>
        </p:txBody>
      </p:sp>
      <p:sp>
        <p:nvSpPr>
          <p:cNvPr id="13" name="Text 11"/>
          <p:cNvSpPr/>
          <p:nvPr/>
        </p:nvSpPr>
        <p:spPr>
          <a:xfrm>
            <a:off x="3611880" y="3749040"/>
            <a:ext cx="2194560" cy="4572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unde</a:t>
            </a:r>
            <a:endParaRPr lang="en-US" sz="1600" dirty="0"/>
          </a:p>
        </p:txBody>
      </p:sp>
      <p:sp>
        <p:nvSpPr>
          <p:cNvPr id="14" name="Shape 12"/>
          <p:cNvSpPr/>
          <p:nvPr/>
        </p:nvSpPr>
        <p:spPr>
          <a:xfrm>
            <a:off x="6172200" y="3017520"/>
            <a:ext cx="2651760" cy="1325880"/>
          </a:xfrm>
          <a:prstGeom prst="roundRect">
            <a:avLst>
              <a:gd name="adj" fmla="val 6207"/>
            </a:avLst>
          </a:prstGeom>
          <a:solidFill>
            <a:srgbClr val="ECEAE4"/>
          </a:solidFill>
          <a:ln w="12700">
            <a:solidFill>
              <a:srgbClr val="ECEAE4"/>
            </a:solidFill>
            <a:prstDash val="solid"/>
          </a:ln>
        </p:spPr>
        <p:txBody>
          <a:bodyPr/>
          <a:p/>
        </p:txBody>
      </p:sp>
      <p:sp>
        <p:nvSpPr>
          <p:cNvPr id="15" name="Shape 13"/>
          <p:cNvSpPr/>
          <p:nvPr/>
        </p:nvSpPr>
        <p:spPr>
          <a:xfrm>
            <a:off x="6172200" y="3017520"/>
            <a:ext cx="2651760" cy="64008"/>
          </a:xfrm>
          <a:prstGeom prst="rect">
            <a:avLst/>
          </a:prstGeom>
          <a:solidFill>
            <a:srgbClr val="4A2D8C"/>
          </a:solidFill>
          <a:ln w="12700">
            <a:solidFill>
              <a:srgbClr val="4A2D8C"/>
            </a:solidFill>
            <a:prstDash val="solid"/>
          </a:ln>
        </p:spPr>
        <p:txBody>
          <a:bodyPr/>
          <a:p/>
        </p:txBody>
      </p:sp>
      <p:sp>
        <p:nvSpPr>
          <p:cNvPr id="16" name="Text 14"/>
          <p:cNvSpPr/>
          <p:nvPr/>
        </p:nvSpPr>
        <p:spPr>
          <a:xfrm>
            <a:off x="6400800" y="3200400"/>
            <a:ext cx="2194560" cy="457200"/>
          </a:xfrm>
          <a:prstGeom prst="rect">
            <a:avLst/>
          </a:prstGeom>
          <a:noFill/>
          <a:ln/>
        </p:spPr>
        <p:txBody>
          <a:bodyPr wrap="square" lIns="0" tIns="0" rIns="0" bIns="0" rtlCol="0" anchor="t"/>
          <a:lstStyle/>
          <a:p>
            <a:pPr indent="0" marL="0">
              <a:buNone/>
            </a:pPr>
            <a:r>
              <a:rPr lang="en-US" sz="2000" b="1" dirty="0">
                <a:solidFill>
                  <a:srgbClr val="4A2D8C"/>
                </a:solidFill>
                <a:latin typeface="Palatino Linotype" pitchFamily="34" charset="0"/>
                <a:ea typeface="Palatino Linotype" pitchFamily="34" charset="-122"/>
                <a:cs typeface="Palatino Linotype" pitchFamily="34" charset="-120"/>
              </a:rPr>
              <a:t>Persoană</a:t>
            </a:r>
            <a:endParaRPr lang="en-US" sz="2000" dirty="0"/>
          </a:p>
        </p:txBody>
      </p:sp>
      <p:sp>
        <p:nvSpPr>
          <p:cNvPr id="17" name="Text 15"/>
          <p:cNvSpPr/>
          <p:nvPr/>
        </p:nvSpPr>
        <p:spPr>
          <a:xfrm>
            <a:off x="6400800" y="3749040"/>
            <a:ext cx="2194560" cy="4572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cine</a:t>
            </a:r>
            <a:endParaRPr lang="en-US" sz="1600" dirty="0"/>
          </a:p>
        </p:txBody>
      </p:sp>
      <p:sp>
        <p:nvSpPr>
          <p:cNvPr id="18" name="Shape 16"/>
          <p:cNvSpPr/>
          <p:nvPr/>
        </p:nvSpPr>
        <p:spPr>
          <a:xfrm>
            <a:off x="8961120" y="3017520"/>
            <a:ext cx="2651760" cy="1325880"/>
          </a:xfrm>
          <a:prstGeom prst="roundRect">
            <a:avLst>
              <a:gd name="adj" fmla="val 6207"/>
            </a:avLst>
          </a:prstGeom>
          <a:solidFill>
            <a:srgbClr val="ECEAE4"/>
          </a:solidFill>
          <a:ln w="12700">
            <a:solidFill>
              <a:srgbClr val="ECEAE4"/>
            </a:solidFill>
            <a:prstDash val="solid"/>
          </a:ln>
        </p:spPr>
        <p:txBody>
          <a:bodyPr/>
          <a:p/>
        </p:txBody>
      </p:sp>
      <p:sp>
        <p:nvSpPr>
          <p:cNvPr id="19" name="Shape 17"/>
          <p:cNvSpPr/>
          <p:nvPr/>
        </p:nvSpPr>
        <p:spPr>
          <a:xfrm>
            <a:off x="8961120" y="3017520"/>
            <a:ext cx="2651760" cy="64008"/>
          </a:xfrm>
          <a:prstGeom prst="rect">
            <a:avLst/>
          </a:prstGeom>
          <a:solidFill>
            <a:srgbClr val="8A6100"/>
          </a:solidFill>
          <a:ln w="12700">
            <a:solidFill>
              <a:srgbClr val="8A6100"/>
            </a:solidFill>
            <a:prstDash val="solid"/>
          </a:ln>
        </p:spPr>
        <p:txBody>
          <a:bodyPr/>
          <a:p/>
        </p:txBody>
      </p:sp>
      <p:sp>
        <p:nvSpPr>
          <p:cNvPr id="20" name="Text 18"/>
          <p:cNvSpPr/>
          <p:nvPr/>
        </p:nvSpPr>
        <p:spPr>
          <a:xfrm>
            <a:off x="9189720" y="3200400"/>
            <a:ext cx="2194560" cy="457200"/>
          </a:xfrm>
          <a:prstGeom prst="rect">
            <a:avLst/>
          </a:prstGeom>
          <a:noFill/>
          <a:ln/>
        </p:spPr>
        <p:txBody>
          <a:bodyPr wrap="square" lIns="0" tIns="0" rIns="0" bIns="0" rtlCol="0" anchor="t"/>
          <a:lstStyle/>
          <a:p>
            <a:pPr indent="0" marL="0">
              <a:buNone/>
            </a:pPr>
            <a:r>
              <a:rPr lang="en-US" sz="2000" b="1" dirty="0">
                <a:solidFill>
                  <a:srgbClr val="8A6100"/>
                </a:solidFill>
                <a:latin typeface="Palatino Linotype" pitchFamily="34" charset="0"/>
                <a:ea typeface="Palatino Linotype" pitchFamily="34" charset="-122"/>
                <a:cs typeface="Palatino Linotype" pitchFamily="34" charset="-120"/>
              </a:rPr>
              <a:t>Criterii clinice</a:t>
            </a:r>
            <a:endParaRPr lang="en-US" sz="2000" dirty="0"/>
          </a:p>
        </p:txBody>
      </p:sp>
      <p:sp>
        <p:nvSpPr>
          <p:cNvPr id="21" name="Text 19"/>
          <p:cNvSpPr/>
          <p:nvPr/>
        </p:nvSpPr>
        <p:spPr>
          <a:xfrm>
            <a:off x="9189720" y="3749040"/>
            <a:ext cx="2194560" cy="4572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ce simptome</a:t>
            </a:r>
            <a:endParaRPr lang="en-US" sz="1600" dirty="0"/>
          </a:p>
        </p:txBody>
      </p:sp>
      <p:sp>
        <p:nvSpPr>
          <p:cNvPr id="22" name="Shape 20"/>
          <p:cNvSpPr/>
          <p:nvPr/>
        </p:nvSpPr>
        <p:spPr>
          <a:xfrm>
            <a:off x="594360" y="4617720"/>
            <a:ext cx="10972800" cy="1371600"/>
          </a:xfrm>
          <a:prstGeom prst="roundRect">
            <a:avLst>
              <a:gd name="adj" fmla="val 6000"/>
            </a:avLst>
          </a:prstGeom>
          <a:solidFill>
            <a:srgbClr val="11121A"/>
          </a:solidFill>
          <a:ln w="12700">
            <a:solidFill>
              <a:srgbClr val="11121A"/>
            </a:solidFill>
            <a:prstDash val="solid"/>
          </a:ln>
        </p:spPr>
        <p:txBody>
          <a:bodyPr/>
          <a:p/>
        </p:txBody>
      </p:sp>
      <p:sp>
        <p:nvSpPr>
          <p:cNvPr id="23" name="Text 21"/>
          <p:cNvSpPr/>
          <p:nvPr/>
        </p:nvSpPr>
        <p:spPr>
          <a:xfrm>
            <a:off x="868680" y="4617720"/>
            <a:ext cx="10424160" cy="1371600"/>
          </a:xfrm>
          <a:prstGeom prst="rect">
            <a:avLst/>
          </a:prstGeom>
          <a:noFill/>
          <a:ln/>
        </p:spPr>
        <p:txBody>
          <a:bodyPr wrap="square" lIns="0" tIns="0" rIns="0" bIns="0" rtlCol="0" anchor="ctr"/>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Decideți dacă situația este un focar și argumentați. Scrieți o definiție de caz pentru boala K, cu toate cele patru componente. Răspundeți în fișa echipei.</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PASUL 2</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Curba epidemică</a:t>
            </a:r>
            <a:endParaRPr lang="en-US" sz="3200" dirty="0"/>
          </a:p>
        </p:txBody>
      </p:sp>
      <p:sp>
        <p:nvSpPr>
          <p:cNvPr id="4" name="Text 2"/>
          <p:cNvSpPr/>
          <p:nvPr/>
        </p:nvSpPr>
        <p:spPr>
          <a:xfrm>
            <a:off x="594360" y="1554480"/>
            <a:ext cx="5669280" cy="822960"/>
          </a:xfrm>
          <a:prstGeom prst="rect">
            <a:avLst/>
          </a:prstGeom>
          <a:noFill/>
          <a:ln/>
        </p:spPr>
        <p:txBody>
          <a:bodyPr wrap="square" lIns="0" tIns="0" rIns="0" bIns="0" rtlCol="0" anchor="t"/>
          <a:lstStyle/>
          <a:p>
            <a:pPr indent="0" marL="0">
              <a:buNone/>
            </a:pPr>
            <a:r>
              <a:rPr lang="en-US" sz="1500" dirty="0">
                <a:solidFill>
                  <a:srgbClr val="959BB0"/>
                </a:solidFill>
                <a:latin typeface="Palatino Linotype" pitchFamily="34" charset="0"/>
                <a:ea typeface="Palatino Linotype" pitchFamily="34" charset="-122"/>
                <a:cs typeface="Palatino Linotype" pitchFamily="34" charset="-120"/>
              </a:rPr>
              <a:t>Cazurile de boală K găsite după aplicarea definiției de caz tuturor participanților la masă (valori ipotetice).</a:t>
            </a:r>
            <a:endParaRPr lang="en-US" sz="1500" dirty="0"/>
          </a:p>
        </p:txBody>
      </p:sp>
      <p:sp>
        <p:nvSpPr>
          <p:cNvPr id="5" name="Text 3"/>
          <p:cNvSpPr/>
          <p:nvPr/>
        </p:nvSpPr>
        <p:spPr>
          <a:xfrm>
            <a:off x="640080" y="2468880"/>
            <a:ext cx="4206240" cy="457200"/>
          </a:xfrm>
          <a:prstGeom prst="rect">
            <a:avLst/>
          </a:prstGeom>
          <a:noFill/>
          <a:ln/>
        </p:spPr>
        <p:txBody>
          <a:bodyPr wrap="square" lIns="0" tIns="0" rIns="0" bIns="0" rtlCol="0" anchor="ctr"/>
          <a:lstStyle/>
          <a:p>
            <a:pPr indent="0" marL="0">
              <a:buNone/>
            </a:pPr>
            <a:r>
              <a:rPr lang="en-US" sz="1500" b="1" dirty="0">
                <a:solidFill>
                  <a:srgbClr val="27D3BE"/>
                </a:solidFill>
                <a:latin typeface="Palatino Linotype" pitchFamily="34" charset="0"/>
                <a:ea typeface="Palatino Linotype" pitchFamily="34" charset="-122"/>
                <a:cs typeface="Palatino Linotype" pitchFamily="34" charset="-120"/>
              </a:rPr>
              <a:t>De la masă până la debut</a:t>
            </a:r>
            <a:endParaRPr lang="en-US" sz="1500" dirty="0"/>
          </a:p>
        </p:txBody>
      </p:sp>
      <p:sp>
        <p:nvSpPr>
          <p:cNvPr id="6" name="Text 4"/>
          <p:cNvSpPr/>
          <p:nvPr/>
        </p:nvSpPr>
        <p:spPr>
          <a:xfrm>
            <a:off x="4937760" y="2468880"/>
            <a:ext cx="1280160" cy="457200"/>
          </a:xfrm>
          <a:prstGeom prst="rect">
            <a:avLst/>
          </a:prstGeom>
          <a:noFill/>
          <a:ln/>
        </p:spPr>
        <p:txBody>
          <a:bodyPr wrap="square" lIns="0" tIns="0" rIns="0" bIns="0" rtlCol="0" anchor="ctr"/>
          <a:lstStyle/>
          <a:p>
            <a:pPr algn="r" indent="0" marL="0">
              <a:buNone/>
            </a:pPr>
            <a:r>
              <a:rPr lang="en-US" sz="1500" b="1" dirty="0">
                <a:solidFill>
                  <a:srgbClr val="27D3BE"/>
                </a:solidFill>
                <a:latin typeface="Palatino Linotype" pitchFamily="34" charset="0"/>
                <a:ea typeface="Palatino Linotype" pitchFamily="34" charset="-122"/>
                <a:cs typeface="Palatino Linotype" pitchFamily="34" charset="-120"/>
              </a:rPr>
              <a:t>Cazuri</a:t>
            </a:r>
            <a:endParaRPr lang="en-US" sz="1500" dirty="0"/>
          </a:p>
        </p:txBody>
      </p:sp>
      <p:sp>
        <p:nvSpPr>
          <p:cNvPr id="7" name="Shape 5"/>
          <p:cNvSpPr/>
          <p:nvPr/>
        </p:nvSpPr>
        <p:spPr>
          <a:xfrm>
            <a:off x="502920" y="2926080"/>
            <a:ext cx="5852160" cy="457200"/>
          </a:xfrm>
          <a:prstGeom prst="rect">
            <a:avLst/>
          </a:prstGeom>
          <a:solidFill>
            <a:srgbClr val="1D1F2B"/>
          </a:solidFill>
          <a:ln w="12700">
            <a:solidFill>
              <a:srgbClr val="1D1F2B"/>
            </a:solidFill>
            <a:prstDash val="solid"/>
          </a:ln>
        </p:spPr>
        <p:txBody>
          <a:bodyPr/>
          <a:p/>
        </p:txBody>
      </p:sp>
      <p:sp>
        <p:nvSpPr>
          <p:cNvPr id="8" name="Text 6"/>
          <p:cNvSpPr/>
          <p:nvPr/>
        </p:nvSpPr>
        <p:spPr>
          <a:xfrm>
            <a:off x="640080" y="2926080"/>
            <a:ext cx="4206240" cy="45720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sub 6 ore</a:t>
            </a:r>
            <a:endParaRPr lang="en-US" sz="1500" dirty="0"/>
          </a:p>
        </p:txBody>
      </p:sp>
      <p:sp>
        <p:nvSpPr>
          <p:cNvPr id="9" name="Text 7"/>
          <p:cNvSpPr/>
          <p:nvPr/>
        </p:nvSpPr>
        <p:spPr>
          <a:xfrm>
            <a:off x="4937760" y="2926080"/>
            <a:ext cx="1280160" cy="457200"/>
          </a:xfrm>
          <a:prstGeom prst="rect">
            <a:avLst/>
          </a:prstGeom>
          <a:noFill/>
          <a:ln/>
        </p:spPr>
        <p:txBody>
          <a:bodyPr wrap="square" lIns="0" tIns="0" rIns="0" bIns="0" rtlCol="0" anchor="ctr"/>
          <a:lstStyle/>
          <a:p>
            <a:pPr algn="r" indent="0" marL="0">
              <a:buNone/>
            </a:pPr>
            <a:r>
              <a:rPr lang="en-US" sz="1500" b="1" dirty="0">
                <a:solidFill>
                  <a:srgbClr val="FFC24B"/>
                </a:solidFill>
                <a:latin typeface="Palatino Linotype" pitchFamily="34" charset="0"/>
                <a:ea typeface="Palatino Linotype" pitchFamily="34" charset="-122"/>
                <a:cs typeface="Palatino Linotype" pitchFamily="34" charset="-120"/>
              </a:rPr>
              <a:t>2</a:t>
            </a:r>
            <a:endParaRPr lang="en-US" sz="1500" dirty="0"/>
          </a:p>
        </p:txBody>
      </p:sp>
      <p:sp>
        <p:nvSpPr>
          <p:cNvPr id="10" name="Text 8"/>
          <p:cNvSpPr/>
          <p:nvPr/>
        </p:nvSpPr>
        <p:spPr>
          <a:xfrm>
            <a:off x="640080" y="3383280"/>
            <a:ext cx="4206240" cy="45720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6 până la sub 12 ore</a:t>
            </a:r>
            <a:endParaRPr lang="en-US" sz="1500" dirty="0"/>
          </a:p>
        </p:txBody>
      </p:sp>
      <p:sp>
        <p:nvSpPr>
          <p:cNvPr id="11" name="Text 9"/>
          <p:cNvSpPr/>
          <p:nvPr/>
        </p:nvSpPr>
        <p:spPr>
          <a:xfrm>
            <a:off x="4937760" y="3383280"/>
            <a:ext cx="1280160" cy="457200"/>
          </a:xfrm>
          <a:prstGeom prst="rect">
            <a:avLst/>
          </a:prstGeom>
          <a:noFill/>
          <a:ln/>
        </p:spPr>
        <p:txBody>
          <a:bodyPr wrap="square" lIns="0" tIns="0" rIns="0" bIns="0" rtlCol="0" anchor="ctr"/>
          <a:lstStyle/>
          <a:p>
            <a:pPr algn="r" indent="0" marL="0">
              <a:buNone/>
            </a:pPr>
            <a:r>
              <a:rPr lang="en-US" sz="1500" b="1" dirty="0">
                <a:solidFill>
                  <a:srgbClr val="FFC24B"/>
                </a:solidFill>
                <a:latin typeface="Palatino Linotype" pitchFamily="34" charset="0"/>
                <a:ea typeface="Palatino Linotype" pitchFamily="34" charset="-122"/>
                <a:cs typeface="Palatino Linotype" pitchFamily="34" charset="-120"/>
              </a:rPr>
              <a:t>9</a:t>
            </a:r>
            <a:endParaRPr lang="en-US" sz="1500" dirty="0"/>
          </a:p>
        </p:txBody>
      </p:sp>
      <p:sp>
        <p:nvSpPr>
          <p:cNvPr id="12" name="Shape 10"/>
          <p:cNvSpPr/>
          <p:nvPr/>
        </p:nvSpPr>
        <p:spPr>
          <a:xfrm>
            <a:off x="502920" y="3840480"/>
            <a:ext cx="5852160" cy="457200"/>
          </a:xfrm>
          <a:prstGeom prst="rect">
            <a:avLst/>
          </a:prstGeom>
          <a:solidFill>
            <a:srgbClr val="1D1F2B"/>
          </a:solidFill>
          <a:ln w="12700">
            <a:solidFill>
              <a:srgbClr val="1D1F2B"/>
            </a:solidFill>
            <a:prstDash val="solid"/>
          </a:ln>
        </p:spPr>
        <p:txBody>
          <a:bodyPr/>
          <a:p/>
        </p:txBody>
      </p:sp>
      <p:sp>
        <p:nvSpPr>
          <p:cNvPr id="13" name="Text 11"/>
          <p:cNvSpPr/>
          <p:nvPr/>
        </p:nvSpPr>
        <p:spPr>
          <a:xfrm>
            <a:off x="640080" y="3840480"/>
            <a:ext cx="4206240" cy="45720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12 până la sub 18 ore</a:t>
            </a:r>
            <a:endParaRPr lang="en-US" sz="1500" dirty="0"/>
          </a:p>
        </p:txBody>
      </p:sp>
      <p:sp>
        <p:nvSpPr>
          <p:cNvPr id="14" name="Text 12"/>
          <p:cNvSpPr/>
          <p:nvPr/>
        </p:nvSpPr>
        <p:spPr>
          <a:xfrm>
            <a:off x="4937760" y="3840480"/>
            <a:ext cx="1280160" cy="457200"/>
          </a:xfrm>
          <a:prstGeom prst="rect">
            <a:avLst/>
          </a:prstGeom>
          <a:noFill/>
          <a:ln/>
        </p:spPr>
        <p:txBody>
          <a:bodyPr wrap="square" lIns="0" tIns="0" rIns="0" bIns="0" rtlCol="0" anchor="ctr"/>
          <a:lstStyle/>
          <a:p>
            <a:pPr algn="r" indent="0" marL="0">
              <a:buNone/>
            </a:pPr>
            <a:r>
              <a:rPr lang="en-US" sz="1500" b="1" dirty="0">
                <a:solidFill>
                  <a:srgbClr val="FFC24B"/>
                </a:solidFill>
                <a:latin typeface="Palatino Linotype" pitchFamily="34" charset="0"/>
                <a:ea typeface="Palatino Linotype" pitchFamily="34" charset="-122"/>
                <a:cs typeface="Palatino Linotype" pitchFamily="34" charset="-120"/>
              </a:rPr>
              <a:t>17</a:t>
            </a:r>
            <a:endParaRPr lang="en-US" sz="1500" dirty="0"/>
          </a:p>
        </p:txBody>
      </p:sp>
      <p:sp>
        <p:nvSpPr>
          <p:cNvPr id="15" name="Text 13"/>
          <p:cNvSpPr/>
          <p:nvPr/>
        </p:nvSpPr>
        <p:spPr>
          <a:xfrm>
            <a:off x="640080" y="4297680"/>
            <a:ext cx="4206240" cy="45720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18 până la sub 24 de ore</a:t>
            </a:r>
            <a:endParaRPr lang="en-US" sz="1500" dirty="0"/>
          </a:p>
        </p:txBody>
      </p:sp>
      <p:sp>
        <p:nvSpPr>
          <p:cNvPr id="16" name="Text 14"/>
          <p:cNvSpPr/>
          <p:nvPr/>
        </p:nvSpPr>
        <p:spPr>
          <a:xfrm>
            <a:off x="4937760" y="4297680"/>
            <a:ext cx="1280160" cy="457200"/>
          </a:xfrm>
          <a:prstGeom prst="rect">
            <a:avLst/>
          </a:prstGeom>
          <a:noFill/>
          <a:ln/>
        </p:spPr>
        <p:txBody>
          <a:bodyPr wrap="square" lIns="0" tIns="0" rIns="0" bIns="0" rtlCol="0" anchor="ctr"/>
          <a:lstStyle/>
          <a:p>
            <a:pPr algn="r" indent="0" marL="0">
              <a:buNone/>
            </a:pPr>
            <a:r>
              <a:rPr lang="en-US" sz="1500" b="1" dirty="0">
                <a:solidFill>
                  <a:srgbClr val="FFC24B"/>
                </a:solidFill>
                <a:latin typeface="Palatino Linotype" pitchFamily="34" charset="0"/>
                <a:ea typeface="Palatino Linotype" pitchFamily="34" charset="-122"/>
                <a:cs typeface="Palatino Linotype" pitchFamily="34" charset="-120"/>
              </a:rPr>
              <a:t>12</a:t>
            </a:r>
            <a:endParaRPr lang="en-US" sz="1500" dirty="0"/>
          </a:p>
        </p:txBody>
      </p:sp>
      <p:sp>
        <p:nvSpPr>
          <p:cNvPr id="17" name="Shape 15"/>
          <p:cNvSpPr/>
          <p:nvPr/>
        </p:nvSpPr>
        <p:spPr>
          <a:xfrm>
            <a:off x="502920" y="4754880"/>
            <a:ext cx="5852160" cy="457200"/>
          </a:xfrm>
          <a:prstGeom prst="rect">
            <a:avLst/>
          </a:prstGeom>
          <a:solidFill>
            <a:srgbClr val="1D1F2B"/>
          </a:solidFill>
          <a:ln w="12700">
            <a:solidFill>
              <a:srgbClr val="1D1F2B"/>
            </a:solidFill>
            <a:prstDash val="solid"/>
          </a:ln>
        </p:spPr>
        <p:txBody>
          <a:bodyPr/>
          <a:p/>
        </p:txBody>
      </p:sp>
      <p:sp>
        <p:nvSpPr>
          <p:cNvPr id="18" name="Text 16"/>
          <p:cNvSpPr/>
          <p:nvPr/>
        </p:nvSpPr>
        <p:spPr>
          <a:xfrm>
            <a:off x="640080" y="4754880"/>
            <a:ext cx="4206240" cy="45720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24 până la sub 30 de ore</a:t>
            </a:r>
            <a:endParaRPr lang="en-US" sz="1500" dirty="0"/>
          </a:p>
        </p:txBody>
      </p:sp>
      <p:sp>
        <p:nvSpPr>
          <p:cNvPr id="19" name="Text 17"/>
          <p:cNvSpPr/>
          <p:nvPr/>
        </p:nvSpPr>
        <p:spPr>
          <a:xfrm>
            <a:off x="4937760" y="4754880"/>
            <a:ext cx="1280160" cy="457200"/>
          </a:xfrm>
          <a:prstGeom prst="rect">
            <a:avLst/>
          </a:prstGeom>
          <a:noFill/>
          <a:ln/>
        </p:spPr>
        <p:txBody>
          <a:bodyPr wrap="square" lIns="0" tIns="0" rIns="0" bIns="0" rtlCol="0" anchor="ctr"/>
          <a:lstStyle/>
          <a:p>
            <a:pPr algn="r" indent="0" marL="0">
              <a:buNone/>
            </a:pPr>
            <a:r>
              <a:rPr lang="en-US" sz="1500" b="1" dirty="0">
                <a:solidFill>
                  <a:srgbClr val="FFC24B"/>
                </a:solidFill>
                <a:latin typeface="Palatino Linotype" pitchFamily="34" charset="0"/>
                <a:ea typeface="Palatino Linotype" pitchFamily="34" charset="-122"/>
                <a:cs typeface="Palatino Linotype" pitchFamily="34" charset="-120"/>
              </a:rPr>
              <a:t>6</a:t>
            </a:r>
            <a:endParaRPr lang="en-US" sz="1500" dirty="0"/>
          </a:p>
        </p:txBody>
      </p:sp>
      <p:sp>
        <p:nvSpPr>
          <p:cNvPr id="20" name="Text 18"/>
          <p:cNvSpPr/>
          <p:nvPr/>
        </p:nvSpPr>
        <p:spPr>
          <a:xfrm>
            <a:off x="640080" y="5212080"/>
            <a:ext cx="4206240" cy="45720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30 până la 36 de ore</a:t>
            </a:r>
            <a:endParaRPr lang="en-US" sz="1500" dirty="0"/>
          </a:p>
        </p:txBody>
      </p:sp>
      <p:sp>
        <p:nvSpPr>
          <p:cNvPr id="21" name="Text 19"/>
          <p:cNvSpPr/>
          <p:nvPr/>
        </p:nvSpPr>
        <p:spPr>
          <a:xfrm>
            <a:off x="4937760" y="5212080"/>
            <a:ext cx="1280160" cy="457200"/>
          </a:xfrm>
          <a:prstGeom prst="rect">
            <a:avLst/>
          </a:prstGeom>
          <a:noFill/>
          <a:ln/>
        </p:spPr>
        <p:txBody>
          <a:bodyPr wrap="square" lIns="0" tIns="0" rIns="0" bIns="0" rtlCol="0" anchor="ctr"/>
          <a:lstStyle/>
          <a:p>
            <a:pPr algn="r" indent="0" marL="0">
              <a:buNone/>
            </a:pPr>
            <a:r>
              <a:rPr lang="en-US" sz="1500" b="1" dirty="0">
                <a:solidFill>
                  <a:srgbClr val="FFC24B"/>
                </a:solidFill>
                <a:latin typeface="Palatino Linotype" pitchFamily="34" charset="0"/>
                <a:ea typeface="Palatino Linotype" pitchFamily="34" charset="-122"/>
                <a:cs typeface="Palatino Linotype" pitchFamily="34" charset="-120"/>
              </a:rPr>
              <a:t>2</a:t>
            </a:r>
            <a:endParaRPr lang="en-US" sz="1500" dirty="0"/>
          </a:p>
        </p:txBody>
      </p:sp>
      <p:sp>
        <p:nvSpPr>
          <p:cNvPr id="22" name="Shape 20"/>
          <p:cNvSpPr/>
          <p:nvPr/>
        </p:nvSpPr>
        <p:spPr>
          <a:xfrm>
            <a:off x="6766560" y="1600200"/>
            <a:ext cx="4800600" cy="4343400"/>
          </a:xfrm>
          <a:prstGeom prst="roundRect">
            <a:avLst>
              <a:gd name="adj" fmla="val 1895"/>
            </a:avLst>
          </a:prstGeom>
          <a:solidFill>
            <a:srgbClr val="272A38"/>
          </a:solidFill>
          <a:ln w="12700">
            <a:solidFill>
              <a:srgbClr val="272A38"/>
            </a:solidFill>
            <a:prstDash val="solid"/>
          </a:ln>
        </p:spPr>
        <p:txBody>
          <a:bodyPr/>
          <a:p/>
        </p:txBody>
      </p:sp>
      <p:sp>
        <p:nvSpPr>
          <p:cNvPr id="23" name="Text 21"/>
          <p:cNvSpPr/>
          <p:nvPr/>
        </p:nvSpPr>
        <p:spPr>
          <a:xfrm>
            <a:off x="7040880" y="1737360"/>
            <a:ext cx="4297680" cy="365760"/>
          </a:xfrm>
          <a:prstGeom prst="rect">
            <a:avLst/>
          </a:prstGeom>
          <a:noFill/>
          <a:ln/>
        </p:spPr>
        <p:txBody>
          <a:bodyPr wrap="square" lIns="0" tIns="0" rIns="0" bIns="0" rtlCol="0" anchor="t"/>
          <a:lstStyle/>
          <a:p>
            <a:pPr indent="0" marL="0">
              <a:buNone/>
            </a:pPr>
            <a:r>
              <a:rPr lang="en-US" sz="1300" b="1" spc="200" kern="0" dirty="0">
                <a:solidFill>
                  <a:srgbClr val="959BB0"/>
                </a:solidFill>
                <a:latin typeface="Palatino Linotype" pitchFamily="34" charset="0"/>
                <a:ea typeface="Palatino Linotype" pitchFamily="34" charset="-122"/>
                <a:cs typeface="Palatino Linotype" pitchFamily="34" charset="-120"/>
              </a:rPr>
              <a:t>Pe foaie</a:t>
            </a:r>
            <a:endParaRPr lang="en-US" sz="1300" dirty="0"/>
          </a:p>
        </p:txBody>
      </p:sp>
      <p:sp>
        <p:nvSpPr>
          <p:cNvPr id="24" name="Text 22"/>
          <p:cNvSpPr/>
          <p:nvPr/>
        </p:nvSpPr>
        <p:spPr>
          <a:xfrm>
            <a:off x="7040880" y="2194560"/>
            <a:ext cx="4297680" cy="356616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Desenați curba epidemică pe intervale de câte șase ore, cu timpul pe axa orizontală și numărul de cazuri pe axa verticală.
</a:t>
            </a:r>
            <a:pPr indent="0" marL="0">
              <a:buNone/>
            </a:pPr>
            <a:r>
              <a:rPr lang="en-US" sz="1700" dirty="0">
                <a:solidFill>
                  <a:srgbClr val="FFFFFF"/>
                </a:solidFill>
                <a:latin typeface="Palatino Linotype" pitchFamily="34" charset="0"/>
                <a:ea typeface="Palatino Linotype" pitchFamily="34" charset="-122"/>
                <a:cs typeface="Palatino Linotype" pitchFamily="34" charset="-120"/>
              </a:rPr>
              <a:t>Verificați totalul cazurilor din tabel.
</a:t>
            </a:r>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Ce tip de focar sugerează forma curbei și în ce interval se află cazul median?</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PASUL 3</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Ratele de atac și alimentul suspect</a:t>
            </a:r>
            <a:endParaRPr lang="en-US" sz="3100" dirty="0"/>
          </a:p>
        </p:txBody>
      </p:sp>
      <p:sp>
        <p:nvSpPr>
          <p:cNvPr id="4" name="Text 2"/>
          <p:cNvSpPr/>
          <p:nvPr/>
        </p:nvSpPr>
        <p:spPr>
          <a:xfrm>
            <a:off x="685800" y="1600200"/>
            <a:ext cx="3383280" cy="502920"/>
          </a:xfrm>
          <a:prstGeom prst="rect">
            <a:avLst/>
          </a:prstGeom>
          <a:noFill/>
          <a:ln/>
        </p:spPr>
        <p:txBody>
          <a:bodyPr wrap="square" lIns="0" tIns="0" rIns="0" bIns="0" rtlCol="0" anchor="ctr"/>
          <a:lstStyle/>
          <a:p>
            <a:pPr algn="l" indent="0" marL="0">
              <a:buNone/>
            </a:pPr>
            <a:r>
              <a:rPr lang="en-US" sz="1300" b="1" dirty="0">
                <a:solidFill>
                  <a:srgbClr val="0E7C6B"/>
                </a:solidFill>
                <a:latin typeface="Palatino Linotype" pitchFamily="34" charset="0"/>
                <a:ea typeface="Palatino Linotype" pitchFamily="34" charset="-122"/>
                <a:cs typeface="Palatino Linotype" pitchFamily="34" charset="-120"/>
              </a:rPr>
              <a:t>Alimentul</a:t>
            </a:r>
            <a:endParaRPr lang="en-US" sz="1300" dirty="0"/>
          </a:p>
        </p:txBody>
      </p:sp>
      <p:sp>
        <p:nvSpPr>
          <p:cNvPr id="5" name="Text 3"/>
          <p:cNvSpPr/>
          <p:nvPr/>
        </p:nvSpPr>
        <p:spPr>
          <a:xfrm>
            <a:off x="4114800" y="1600200"/>
            <a:ext cx="1554480" cy="502920"/>
          </a:xfrm>
          <a:prstGeom prst="rect">
            <a:avLst/>
          </a:prstGeom>
          <a:noFill/>
          <a:ln/>
        </p:spPr>
        <p:txBody>
          <a:bodyPr wrap="square" lIns="0" tIns="0" rIns="0" bIns="0" rtlCol="0" anchor="ctr"/>
          <a:lstStyle/>
          <a:p>
            <a:pPr algn="r" indent="0" marL="0">
              <a:buNone/>
            </a:pPr>
            <a:r>
              <a:rPr lang="en-US" sz="1300" b="1" dirty="0">
                <a:solidFill>
                  <a:srgbClr val="0E7C6B"/>
                </a:solidFill>
                <a:latin typeface="Palatino Linotype" pitchFamily="34" charset="0"/>
                <a:ea typeface="Palatino Linotype" pitchFamily="34" charset="-122"/>
                <a:cs typeface="Palatino Linotype" pitchFamily="34" charset="-120"/>
              </a:rPr>
              <a:t>Au consumat</a:t>
            </a:r>
            <a:endParaRPr lang="en-US" sz="1300" dirty="0"/>
          </a:p>
        </p:txBody>
      </p:sp>
      <p:sp>
        <p:nvSpPr>
          <p:cNvPr id="6" name="Text 4"/>
          <p:cNvSpPr/>
          <p:nvPr/>
        </p:nvSpPr>
        <p:spPr>
          <a:xfrm>
            <a:off x="5669280" y="1600200"/>
            <a:ext cx="1097280" cy="502920"/>
          </a:xfrm>
          <a:prstGeom prst="rect">
            <a:avLst/>
          </a:prstGeom>
          <a:noFill/>
          <a:ln/>
        </p:spPr>
        <p:txBody>
          <a:bodyPr wrap="square" lIns="0" tIns="0" rIns="0" bIns="0" rtlCol="0" anchor="ctr"/>
          <a:lstStyle/>
          <a:p>
            <a:pPr algn="r" indent="0" marL="0">
              <a:buNone/>
            </a:pPr>
            <a:r>
              <a:rPr lang="en-US" sz="1300" b="1" dirty="0">
                <a:solidFill>
                  <a:srgbClr val="0E7C6B"/>
                </a:solidFill>
                <a:latin typeface="Palatino Linotype" pitchFamily="34" charset="0"/>
                <a:ea typeface="Palatino Linotype" pitchFamily="34" charset="-122"/>
                <a:cs typeface="Palatino Linotype" pitchFamily="34" charset="-120"/>
              </a:rPr>
              <a:t>Bolnavi</a:t>
            </a:r>
            <a:endParaRPr lang="en-US" sz="1300" dirty="0"/>
          </a:p>
        </p:txBody>
      </p:sp>
      <p:sp>
        <p:nvSpPr>
          <p:cNvPr id="7" name="Text 5"/>
          <p:cNvSpPr/>
          <p:nvPr/>
        </p:nvSpPr>
        <p:spPr>
          <a:xfrm>
            <a:off x="6812280" y="1600200"/>
            <a:ext cx="1828800" cy="502920"/>
          </a:xfrm>
          <a:prstGeom prst="rect">
            <a:avLst/>
          </a:prstGeom>
          <a:noFill/>
          <a:ln/>
        </p:spPr>
        <p:txBody>
          <a:bodyPr wrap="square" lIns="0" tIns="0" rIns="0" bIns="0" rtlCol="0" anchor="ctr"/>
          <a:lstStyle/>
          <a:p>
            <a:pPr algn="r" indent="0" marL="0">
              <a:buNone/>
            </a:pPr>
            <a:r>
              <a:rPr lang="en-US" sz="1300" b="1" dirty="0">
                <a:solidFill>
                  <a:srgbClr val="0E7C6B"/>
                </a:solidFill>
                <a:latin typeface="Palatino Linotype" pitchFamily="34" charset="0"/>
                <a:ea typeface="Palatino Linotype" pitchFamily="34" charset="-122"/>
                <a:cs typeface="Palatino Linotype" pitchFamily="34" charset="-120"/>
              </a:rPr>
              <a:t>Nu au consumat</a:t>
            </a:r>
            <a:endParaRPr lang="en-US" sz="1300" dirty="0"/>
          </a:p>
        </p:txBody>
      </p:sp>
      <p:sp>
        <p:nvSpPr>
          <p:cNvPr id="8" name="Text 6"/>
          <p:cNvSpPr/>
          <p:nvPr/>
        </p:nvSpPr>
        <p:spPr>
          <a:xfrm>
            <a:off x="8686800" y="1600200"/>
            <a:ext cx="1097280" cy="502920"/>
          </a:xfrm>
          <a:prstGeom prst="rect">
            <a:avLst/>
          </a:prstGeom>
          <a:noFill/>
          <a:ln/>
        </p:spPr>
        <p:txBody>
          <a:bodyPr wrap="square" lIns="0" tIns="0" rIns="0" bIns="0" rtlCol="0" anchor="ctr"/>
          <a:lstStyle/>
          <a:p>
            <a:pPr algn="r" indent="0" marL="0">
              <a:buNone/>
            </a:pPr>
            <a:r>
              <a:rPr lang="en-US" sz="1300" b="1" dirty="0">
                <a:solidFill>
                  <a:srgbClr val="0E7C6B"/>
                </a:solidFill>
                <a:latin typeface="Palatino Linotype" pitchFamily="34" charset="0"/>
                <a:ea typeface="Palatino Linotype" pitchFamily="34" charset="-122"/>
                <a:cs typeface="Palatino Linotype" pitchFamily="34" charset="-120"/>
              </a:rPr>
              <a:t>Bolnavi</a:t>
            </a:r>
            <a:endParaRPr lang="en-US" sz="1300" dirty="0"/>
          </a:p>
        </p:txBody>
      </p:sp>
      <p:sp>
        <p:nvSpPr>
          <p:cNvPr id="9" name="Shape 7"/>
          <p:cNvSpPr/>
          <p:nvPr/>
        </p:nvSpPr>
        <p:spPr>
          <a:xfrm>
            <a:off x="594360" y="2084832"/>
            <a:ext cx="9144000" cy="22860"/>
          </a:xfrm>
          <a:prstGeom prst="rect">
            <a:avLst/>
          </a:prstGeom>
          <a:solidFill>
            <a:srgbClr val="0E7C6B"/>
          </a:solidFill>
          <a:ln w="12700">
            <a:solidFill>
              <a:srgbClr val="0E7C6B"/>
            </a:solidFill>
            <a:prstDash val="solid"/>
          </a:ln>
        </p:spPr>
        <p:txBody>
          <a:bodyPr/>
          <a:p/>
        </p:txBody>
      </p:sp>
      <p:sp>
        <p:nvSpPr>
          <p:cNvPr id="10" name="Shape 8"/>
          <p:cNvSpPr/>
          <p:nvPr/>
        </p:nvSpPr>
        <p:spPr>
          <a:xfrm>
            <a:off x="594360" y="2103120"/>
            <a:ext cx="9144000" cy="502920"/>
          </a:xfrm>
          <a:prstGeom prst="rect">
            <a:avLst/>
          </a:prstGeom>
          <a:solidFill>
            <a:srgbClr val="ECEAE4"/>
          </a:solidFill>
          <a:ln w="12700">
            <a:solidFill>
              <a:srgbClr val="ECEAE4"/>
            </a:solidFill>
            <a:prstDash val="solid"/>
          </a:ln>
        </p:spPr>
        <p:txBody>
          <a:bodyPr/>
          <a:p/>
        </p:txBody>
      </p:sp>
      <p:sp>
        <p:nvSpPr>
          <p:cNvPr id="11" name="Text 9"/>
          <p:cNvSpPr/>
          <p:nvPr/>
        </p:nvSpPr>
        <p:spPr>
          <a:xfrm>
            <a:off x="685800" y="2103120"/>
            <a:ext cx="3383280" cy="502920"/>
          </a:xfrm>
          <a:prstGeom prst="rect">
            <a:avLst/>
          </a:prstGeom>
          <a:noFill/>
          <a:ln/>
        </p:spPr>
        <p:txBody>
          <a:bodyPr wrap="square" lIns="0" tIns="0" rIns="0" bIns="0" rtlCol="0" anchor="ctr"/>
          <a:lstStyle/>
          <a:p>
            <a:pPr algn="l" indent="0" marL="0">
              <a:buNone/>
            </a:pPr>
            <a:r>
              <a:rPr lang="en-US" sz="1500" b="1" dirty="0">
                <a:solidFill>
                  <a:srgbClr val="11121A"/>
                </a:solidFill>
                <a:latin typeface="Palatino Linotype" pitchFamily="34" charset="0"/>
                <a:ea typeface="Palatino Linotype" pitchFamily="34" charset="-122"/>
                <a:cs typeface="Palatino Linotype" pitchFamily="34" charset="-120"/>
              </a:rPr>
              <a:t>Salată cu ou și maioneză</a:t>
            </a:r>
            <a:endParaRPr lang="en-US" sz="1500" dirty="0"/>
          </a:p>
        </p:txBody>
      </p:sp>
      <p:sp>
        <p:nvSpPr>
          <p:cNvPr id="12" name="Text 10"/>
          <p:cNvSpPr/>
          <p:nvPr/>
        </p:nvSpPr>
        <p:spPr>
          <a:xfrm>
            <a:off x="4114800" y="2103120"/>
            <a:ext cx="1554480" cy="502920"/>
          </a:xfrm>
          <a:prstGeom prst="rect">
            <a:avLst/>
          </a:prstGeom>
          <a:noFill/>
          <a:ln/>
        </p:spPr>
        <p:txBody>
          <a:bodyPr wrap="square" lIns="0" tIns="0" rIns="0" bIns="0" rtlCol="0" anchor="ct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70</a:t>
            </a:r>
            <a:endParaRPr lang="en-US" sz="1500" dirty="0"/>
          </a:p>
        </p:txBody>
      </p:sp>
      <p:sp>
        <p:nvSpPr>
          <p:cNvPr id="13" name="Text 11"/>
          <p:cNvSpPr/>
          <p:nvPr/>
        </p:nvSpPr>
        <p:spPr>
          <a:xfrm>
            <a:off x="5669280" y="2103120"/>
            <a:ext cx="1097280" cy="502920"/>
          </a:xfrm>
          <a:prstGeom prst="rect">
            <a:avLst/>
          </a:prstGeom>
          <a:noFill/>
          <a:ln/>
        </p:spPr>
        <p:txBody>
          <a:bodyPr wrap="square" lIns="0" tIns="0" rIns="0" bIns="0" rtlCol="0" anchor="ct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42</a:t>
            </a:r>
            <a:endParaRPr lang="en-US" sz="1500" dirty="0"/>
          </a:p>
        </p:txBody>
      </p:sp>
      <p:sp>
        <p:nvSpPr>
          <p:cNvPr id="14" name="Text 12"/>
          <p:cNvSpPr/>
          <p:nvPr/>
        </p:nvSpPr>
        <p:spPr>
          <a:xfrm>
            <a:off x="6812280" y="2103120"/>
            <a:ext cx="1828800" cy="502920"/>
          </a:xfrm>
          <a:prstGeom prst="rect">
            <a:avLst/>
          </a:prstGeom>
          <a:noFill/>
          <a:ln/>
        </p:spPr>
        <p:txBody>
          <a:bodyPr wrap="square" lIns="0" tIns="0" rIns="0" bIns="0" rtlCol="0" anchor="ct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50</a:t>
            </a:r>
            <a:endParaRPr lang="en-US" sz="1500" dirty="0"/>
          </a:p>
        </p:txBody>
      </p:sp>
      <p:sp>
        <p:nvSpPr>
          <p:cNvPr id="15" name="Text 13"/>
          <p:cNvSpPr/>
          <p:nvPr/>
        </p:nvSpPr>
        <p:spPr>
          <a:xfrm>
            <a:off x="8686800" y="2103120"/>
            <a:ext cx="1097280" cy="502920"/>
          </a:xfrm>
          <a:prstGeom prst="rect">
            <a:avLst/>
          </a:prstGeom>
          <a:noFill/>
          <a:ln/>
        </p:spPr>
        <p:txBody>
          <a:bodyPr wrap="square" lIns="0" tIns="0" rIns="0" bIns="0" rtlCol="0" anchor="ct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6</a:t>
            </a:r>
            <a:endParaRPr lang="en-US" sz="1500" dirty="0"/>
          </a:p>
        </p:txBody>
      </p:sp>
      <p:sp>
        <p:nvSpPr>
          <p:cNvPr id="16" name="Text 14"/>
          <p:cNvSpPr/>
          <p:nvPr/>
        </p:nvSpPr>
        <p:spPr>
          <a:xfrm>
            <a:off x="685800" y="2606040"/>
            <a:ext cx="3383280" cy="502920"/>
          </a:xfrm>
          <a:prstGeom prst="rect">
            <a:avLst/>
          </a:prstGeom>
          <a:noFill/>
          <a:ln/>
        </p:spPr>
        <p:txBody>
          <a:bodyPr wrap="square" lIns="0" tIns="0" rIns="0" bIns="0" rtlCol="0" anchor="ctr"/>
          <a:lstStyle/>
          <a:p>
            <a:pPr algn="l" indent="0" marL="0">
              <a:buNone/>
            </a:pPr>
            <a:r>
              <a:rPr lang="en-US" sz="1500" b="1" dirty="0">
                <a:solidFill>
                  <a:srgbClr val="11121A"/>
                </a:solidFill>
                <a:latin typeface="Palatino Linotype" pitchFamily="34" charset="0"/>
                <a:ea typeface="Palatino Linotype" pitchFamily="34" charset="-122"/>
                <a:cs typeface="Palatino Linotype" pitchFamily="34" charset="-120"/>
              </a:rPr>
              <a:t>Friptură</a:t>
            </a:r>
            <a:endParaRPr lang="en-US" sz="1500" dirty="0"/>
          </a:p>
        </p:txBody>
      </p:sp>
      <p:sp>
        <p:nvSpPr>
          <p:cNvPr id="17" name="Text 15"/>
          <p:cNvSpPr/>
          <p:nvPr/>
        </p:nvSpPr>
        <p:spPr>
          <a:xfrm>
            <a:off x="4114800" y="2606040"/>
            <a:ext cx="1554480" cy="502920"/>
          </a:xfrm>
          <a:prstGeom prst="rect">
            <a:avLst/>
          </a:prstGeom>
          <a:noFill/>
          <a:ln/>
        </p:spPr>
        <p:txBody>
          <a:bodyPr wrap="square" lIns="0" tIns="0" rIns="0" bIns="0" rtlCol="0" anchor="ct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100</a:t>
            </a:r>
            <a:endParaRPr lang="en-US" sz="1500" dirty="0"/>
          </a:p>
        </p:txBody>
      </p:sp>
      <p:sp>
        <p:nvSpPr>
          <p:cNvPr id="18" name="Text 16"/>
          <p:cNvSpPr/>
          <p:nvPr/>
        </p:nvSpPr>
        <p:spPr>
          <a:xfrm>
            <a:off x="5669280" y="2606040"/>
            <a:ext cx="1097280" cy="502920"/>
          </a:xfrm>
          <a:prstGeom prst="rect">
            <a:avLst/>
          </a:prstGeom>
          <a:noFill/>
          <a:ln/>
        </p:spPr>
        <p:txBody>
          <a:bodyPr wrap="square" lIns="0" tIns="0" rIns="0" bIns="0" rtlCol="0" anchor="ct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40</a:t>
            </a:r>
            <a:endParaRPr lang="en-US" sz="1500" dirty="0"/>
          </a:p>
        </p:txBody>
      </p:sp>
      <p:sp>
        <p:nvSpPr>
          <p:cNvPr id="19" name="Text 17"/>
          <p:cNvSpPr/>
          <p:nvPr/>
        </p:nvSpPr>
        <p:spPr>
          <a:xfrm>
            <a:off x="6812280" y="2606040"/>
            <a:ext cx="1828800" cy="502920"/>
          </a:xfrm>
          <a:prstGeom prst="rect">
            <a:avLst/>
          </a:prstGeom>
          <a:noFill/>
          <a:ln/>
        </p:spPr>
        <p:txBody>
          <a:bodyPr wrap="square" lIns="0" tIns="0" rIns="0" bIns="0" rtlCol="0" anchor="ct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20</a:t>
            </a:r>
            <a:endParaRPr lang="en-US" sz="1500" dirty="0"/>
          </a:p>
        </p:txBody>
      </p:sp>
      <p:sp>
        <p:nvSpPr>
          <p:cNvPr id="20" name="Text 18"/>
          <p:cNvSpPr/>
          <p:nvPr/>
        </p:nvSpPr>
        <p:spPr>
          <a:xfrm>
            <a:off x="8686800" y="2606040"/>
            <a:ext cx="1097280" cy="502920"/>
          </a:xfrm>
          <a:prstGeom prst="rect">
            <a:avLst/>
          </a:prstGeom>
          <a:noFill/>
          <a:ln/>
        </p:spPr>
        <p:txBody>
          <a:bodyPr wrap="square" lIns="0" tIns="0" rIns="0" bIns="0" rtlCol="0" anchor="ct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8</a:t>
            </a:r>
            <a:endParaRPr lang="en-US" sz="1500" dirty="0"/>
          </a:p>
        </p:txBody>
      </p:sp>
      <p:sp>
        <p:nvSpPr>
          <p:cNvPr id="21" name="Shape 19"/>
          <p:cNvSpPr/>
          <p:nvPr/>
        </p:nvSpPr>
        <p:spPr>
          <a:xfrm>
            <a:off x="594360" y="3108960"/>
            <a:ext cx="9144000" cy="502920"/>
          </a:xfrm>
          <a:prstGeom prst="rect">
            <a:avLst/>
          </a:prstGeom>
          <a:solidFill>
            <a:srgbClr val="ECEAE4"/>
          </a:solidFill>
          <a:ln w="12700">
            <a:solidFill>
              <a:srgbClr val="ECEAE4"/>
            </a:solidFill>
            <a:prstDash val="solid"/>
          </a:ln>
        </p:spPr>
        <p:txBody>
          <a:bodyPr/>
          <a:p/>
        </p:txBody>
      </p:sp>
      <p:sp>
        <p:nvSpPr>
          <p:cNvPr id="22" name="Text 20"/>
          <p:cNvSpPr/>
          <p:nvPr/>
        </p:nvSpPr>
        <p:spPr>
          <a:xfrm>
            <a:off x="685800" y="3108960"/>
            <a:ext cx="3383280" cy="502920"/>
          </a:xfrm>
          <a:prstGeom prst="rect">
            <a:avLst/>
          </a:prstGeom>
          <a:noFill/>
          <a:ln/>
        </p:spPr>
        <p:txBody>
          <a:bodyPr wrap="square" lIns="0" tIns="0" rIns="0" bIns="0" rtlCol="0" anchor="ctr"/>
          <a:lstStyle/>
          <a:p>
            <a:pPr algn="l" indent="0" marL="0">
              <a:buNone/>
            </a:pPr>
            <a:r>
              <a:rPr lang="en-US" sz="1500" b="1" dirty="0">
                <a:solidFill>
                  <a:srgbClr val="11121A"/>
                </a:solidFill>
                <a:latin typeface="Palatino Linotype" pitchFamily="34" charset="0"/>
                <a:ea typeface="Palatino Linotype" pitchFamily="34" charset="-122"/>
                <a:cs typeface="Palatino Linotype" pitchFamily="34" charset="-120"/>
              </a:rPr>
              <a:t>Prăjitură cu cremă</a:t>
            </a:r>
            <a:endParaRPr lang="en-US" sz="1500" dirty="0"/>
          </a:p>
        </p:txBody>
      </p:sp>
      <p:sp>
        <p:nvSpPr>
          <p:cNvPr id="23" name="Text 21"/>
          <p:cNvSpPr/>
          <p:nvPr/>
        </p:nvSpPr>
        <p:spPr>
          <a:xfrm>
            <a:off x="4114800" y="3108960"/>
            <a:ext cx="1554480" cy="502920"/>
          </a:xfrm>
          <a:prstGeom prst="rect">
            <a:avLst/>
          </a:prstGeom>
          <a:noFill/>
          <a:ln/>
        </p:spPr>
        <p:txBody>
          <a:bodyPr wrap="square" lIns="0" tIns="0" rIns="0" bIns="0" rtlCol="0" anchor="ct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60</a:t>
            </a:r>
            <a:endParaRPr lang="en-US" sz="1500" dirty="0"/>
          </a:p>
        </p:txBody>
      </p:sp>
      <p:sp>
        <p:nvSpPr>
          <p:cNvPr id="24" name="Text 22"/>
          <p:cNvSpPr/>
          <p:nvPr/>
        </p:nvSpPr>
        <p:spPr>
          <a:xfrm>
            <a:off x="5669280" y="3108960"/>
            <a:ext cx="1097280" cy="502920"/>
          </a:xfrm>
          <a:prstGeom prst="rect">
            <a:avLst/>
          </a:prstGeom>
          <a:noFill/>
          <a:ln/>
        </p:spPr>
        <p:txBody>
          <a:bodyPr wrap="square" lIns="0" tIns="0" rIns="0" bIns="0" rtlCol="0" anchor="ct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28</a:t>
            </a:r>
            <a:endParaRPr lang="en-US" sz="1500" dirty="0"/>
          </a:p>
        </p:txBody>
      </p:sp>
      <p:sp>
        <p:nvSpPr>
          <p:cNvPr id="25" name="Text 23"/>
          <p:cNvSpPr/>
          <p:nvPr/>
        </p:nvSpPr>
        <p:spPr>
          <a:xfrm>
            <a:off x="6812280" y="3108960"/>
            <a:ext cx="1828800" cy="502920"/>
          </a:xfrm>
          <a:prstGeom prst="rect">
            <a:avLst/>
          </a:prstGeom>
          <a:noFill/>
          <a:ln/>
        </p:spPr>
        <p:txBody>
          <a:bodyPr wrap="square" lIns="0" tIns="0" rIns="0" bIns="0" rtlCol="0" anchor="ct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60</a:t>
            </a:r>
            <a:endParaRPr lang="en-US" sz="1500" dirty="0"/>
          </a:p>
        </p:txBody>
      </p:sp>
      <p:sp>
        <p:nvSpPr>
          <p:cNvPr id="26" name="Text 24"/>
          <p:cNvSpPr/>
          <p:nvPr/>
        </p:nvSpPr>
        <p:spPr>
          <a:xfrm>
            <a:off x="8686800" y="3108960"/>
            <a:ext cx="1097280" cy="502920"/>
          </a:xfrm>
          <a:prstGeom prst="rect">
            <a:avLst/>
          </a:prstGeom>
          <a:noFill/>
          <a:ln/>
        </p:spPr>
        <p:txBody>
          <a:bodyPr wrap="square" lIns="0" tIns="0" rIns="0" bIns="0" rtlCol="0" anchor="ct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20</a:t>
            </a:r>
            <a:endParaRPr lang="en-US" sz="1500" dirty="0"/>
          </a:p>
        </p:txBody>
      </p:sp>
      <p:sp>
        <p:nvSpPr>
          <p:cNvPr id="27" name="Text 25"/>
          <p:cNvSpPr/>
          <p:nvPr/>
        </p:nvSpPr>
        <p:spPr>
          <a:xfrm>
            <a:off x="685800" y="3611880"/>
            <a:ext cx="3383280" cy="502920"/>
          </a:xfrm>
          <a:prstGeom prst="rect">
            <a:avLst/>
          </a:prstGeom>
          <a:noFill/>
          <a:ln/>
        </p:spPr>
        <p:txBody>
          <a:bodyPr wrap="square" lIns="0" tIns="0" rIns="0" bIns="0" rtlCol="0" anchor="ctr"/>
          <a:lstStyle/>
          <a:p>
            <a:pPr algn="l" indent="0" marL="0">
              <a:buNone/>
            </a:pPr>
            <a:r>
              <a:rPr lang="en-US" sz="1500" b="1" dirty="0">
                <a:solidFill>
                  <a:srgbClr val="11121A"/>
                </a:solidFill>
                <a:latin typeface="Palatino Linotype" pitchFamily="34" charset="0"/>
                <a:ea typeface="Palatino Linotype" pitchFamily="34" charset="-122"/>
                <a:cs typeface="Palatino Linotype" pitchFamily="34" charset="-120"/>
              </a:rPr>
              <a:t>Apă de la dozator</a:t>
            </a:r>
            <a:endParaRPr lang="en-US" sz="1500" dirty="0"/>
          </a:p>
        </p:txBody>
      </p:sp>
      <p:sp>
        <p:nvSpPr>
          <p:cNvPr id="28" name="Text 26"/>
          <p:cNvSpPr/>
          <p:nvPr/>
        </p:nvSpPr>
        <p:spPr>
          <a:xfrm>
            <a:off x="4114800" y="3611880"/>
            <a:ext cx="1554480" cy="502920"/>
          </a:xfrm>
          <a:prstGeom prst="rect">
            <a:avLst/>
          </a:prstGeom>
          <a:noFill/>
          <a:ln/>
        </p:spPr>
        <p:txBody>
          <a:bodyPr wrap="square" lIns="0" tIns="0" rIns="0" bIns="0" rtlCol="0" anchor="ct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80</a:t>
            </a:r>
            <a:endParaRPr lang="en-US" sz="1500" dirty="0"/>
          </a:p>
        </p:txBody>
      </p:sp>
      <p:sp>
        <p:nvSpPr>
          <p:cNvPr id="29" name="Text 27"/>
          <p:cNvSpPr/>
          <p:nvPr/>
        </p:nvSpPr>
        <p:spPr>
          <a:xfrm>
            <a:off x="5669280" y="3611880"/>
            <a:ext cx="1097280" cy="502920"/>
          </a:xfrm>
          <a:prstGeom prst="rect">
            <a:avLst/>
          </a:prstGeom>
          <a:noFill/>
          <a:ln/>
        </p:spPr>
        <p:txBody>
          <a:bodyPr wrap="square" lIns="0" tIns="0" rIns="0" bIns="0" rtlCol="0" anchor="ct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32</a:t>
            </a:r>
            <a:endParaRPr lang="en-US" sz="1500" dirty="0"/>
          </a:p>
        </p:txBody>
      </p:sp>
      <p:sp>
        <p:nvSpPr>
          <p:cNvPr id="30" name="Text 28"/>
          <p:cNvSpPr/>
          <p:nvPr/>
        </p:nvSpPr>
        <p:spPr>
          <a:xfrm>
            <a:off x="6812280" y="3611880"/>
            <a:ext cx="1828800" cy="502920"/>
          </a:xfrm>
          <a:prstGeom prst="rect">
            <a:avLst/>
          </a:prstGeom>
          <a:noFill/>
          <a:ln/>
        </p:spPr>
        <p:txBody>
          <a:bodyPr wrap="square" lIns="0" tIns="0" rIns="0" bIns="0" rtlCol="0" anchor="ct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40</a:t>
            </a:r>
            <a:endParaRPr lang="en-US" sz="1500" dirty="0"/>
          </a:p>
        </p:txBody>
      </p:sp>
      <p:sp>
        <p:nvSpPr>
          <p:cNvPr id="31" name="Text 29"/>
          <p:cNvSpPr/>
          <p:nvPr/>
        </p:nvSpPr>
        <p:spPr>
          <a:xfrm>
            <a:off x="8686800" y="3611880"/>
            <a:ext cx="1097280" cy="502920"/>
          </a:xfrm>
          <a:prstGeom prst="rect">
            <a:avLst/>
          </a:prstGeom>
          <a:noFill/>
          <a:ln/>
        </p:spPr>
        <p:txBody>
          <a:bodyPr wrap="square" lIns="0" tIns="0" rIns="0" bIns="0" rtlCol="0" anchor="ct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16</a:t>
            </a:r>
            <a:endParaRPr lang="en-US" sz="1500" dirty="0"/>
          </a:p>
        </p:txBody>
      </p:sp>
      <p:sp>
        <p:nvSpPr>
          <p:cNvPr id="32" name="Text 30"/>
          <p:cNvSpPr/>
          <p:nvPr/>
        </p:nvSpPr>
        <p:spPr>
          <a:xfrm>
            <a:off x="594360" y="4206240"/>
            <a:ext cx="9144000" cy="365760"/>
          </a:xfrm>
          <a:prstGeom prst="rect">
            <a:avLst/>
          </a:prstGeom>
          <a:noFill/>
          <a:ln/>
        </p:spPr>
        <p:txBody>
          <a:bodyPr wrap="square" lIns="0" tIns="0" rIns="0" bIns="0" rtlCol="0" anchor="t"/>
          <a:lstStyle/>
          <a:p>
            <a:pPr indent="0" marL="0">
              <a:buNone/>
            </a:pPr>
            <a:r>
              <a:rPr lang="en-US" sz="1300" i="1" dirty="0">
                <a:solidFill>
                  <a:srgbClr val="585A64"/>
                </a:solidFill>
                <a:latin typeface="Palatino Linotype" pitchFamily="34" charset="0"/>
                <a:ea typeface="Palatino Linotype" pitchFamily="34" charset="-122"/>
                <a:cs typeface="Palatino Linotype" pitchFamily="34" charset="-120"/>
              </a:rPr>
              <a:t>Valori ipotetice: cei 120 de participanți la masă, după consumul fiecărui aliment; bolnavii sunt numărați separat pentru fiecare aliment.</a:t>
            </a:r>
            <a:endParaRPr lang="en-US" sz="1300" dirty="0"/>
          </a:p>
        </p:txBody>
      </p:sp>
      <p:sp>
        <p:nvSpPr>
          <p:cNvPr id="33" name="Shape 31"/>
          <p:cNvSpPr/>
          <p:nvPr/>
        </p:nvSpPr>
        <p:spPr>
          <a:xfrm>
            <a:off x="594360" y="4663440"/>
            <a:ext cx="10972800" cy="1371600"/>
          </a:xfrm>
          <a:prstGeom prst="roundRect">
            <a:avLst>
              <a:gd name="adj" fmla="val 6000"/>
            </a:avLst>
          </a:prstGeom>
          <a:solidFill>
            <a:srgbClr val="11121A"/>
          </a:solidFill>
          <a:ln w="12700">
            <a:solidFill>
              <a:srgbClr val="11121A"/>
            </a:solidFill>
            <a:prstDash val="solid"/>
          </a:ln>
        </p:spPr>
        <p:txBody>
          <a:bodyPr/>
          <a:p/>
        </p:txBody>
      </p:sp>
      <p:sp>
        <p:nvSpPr>
          <p:cNvPr id="34" name="Text 32"/>
          <p:cNvSpPr/>
          <p:nvPr/>
        </p:nvSpPr>
        <p:spPr>
          <a:xfrm>
            <a:off x="868680" y="4663440"/>
            <a:ext cx="10424160" cy="1371600"/>
          </a:xfrm>
          <a:prstGeom prst="rect">
            <a:avLst/>
          </a:prstGeom>
          <a:noFill/>
          <a:ln/>
        </p:spPr>
        <p:txBody>
          <a:bodyPr wrap="square" lIns="0" tIns="0" rIns="0" bIns="0" rtlCol="0" anchor="ctr"/>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Pentru fiecare aliment: rata de atac la consumatori, rata de atac la neconsumatori și riscul relativ; apoi rata de atac generală. Care este alimentul suspect și ce ar trebui verificat înainte ca ipoteza să fie considerată confirmată?</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PASUL 4</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Miercuri: alte trei persoane bolnave</a:t>
            </a:r>
            <a:endParaRPr lang="en-US" sz="3200" dirty="0"/>
          </a:p>
        </p:txBody>
      </p:sp>
      <p:sp>
        <p:nvSpPr>
          <p:cNvPr id="4" name="Text 2"/>
          <p:cNvSpPr/>
          <p:nvPr/>
        </p:nvSpPr>
        <p:spPr>
          <a:xfrm>
            <a:off x="594360" y="1600200"/>
            <a:ext cx="10972800" cy="128016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Același tablou clinic. Niciuna nu a participat la masă și nu a consumat resturi aduse de la masă. Toate locuiesc cu participanți care s-au îmbolnăvit duminică. Debutul: la trei–patru zile după masă, în afara intervalului de incubație al expunerii de la căminul A.</a:t>
            </a:r>
            <a:endParaRPr lang="en-US" sz="1800" dirty="0"/>
          </a:p>
        </p:txBody>
      </p:sp>
      <p:sp>
        <p:nvSpPr>
          <p:cNvPr id="5" name="Shape 3"/>
          <p:cNvSpPr/>
          <p:nvPr/>
        </p:nvSpPr>
        <p:spPr>
          <a:xfrm>
            <a:off x="594360" y="3154680"/>
            <a:ext cx="3474720" cy="2468880"/>
          </a:xfrm>
          <a:prstGeom prst="roundRect">
            <a:avLst>
              <a:gd name="adj" fmla="val 3333"/>
            </a:avLst>
          </a:prstGeom>
          <a:solidFill>
            <a:srgbClr val="1D1F2B"/>
          </a:solidFill>
          <a:ln w="12700">
            <a:solidFill>
              <a:srgbClr val="1D1F2B"/>
            </a:solidFill>
            <a:prstDash val="solid"/>
          </a:ln>
        </p:spPr>
        <p:txBody>
          <a:bodyPr/>
          <a:p/>
        </p:txBody>
      </p:sp>
      <p:sp>
        <p:nvSpPr>
          <p:cNvPr id="6" name="Shape 4"/>
          <p:cNvSpPr/>
          <p:nvPr/>
        </p:nvSpPr>
        <p:spPr>
          <a:xfrm>
            <a:off x="868680" y="3383280"/>
            <a:ext cx="457200" cy="457200"/>
          </a:xfrm>
          <a:prstGeom prst="ellipse">
            <a:avLst/>
          </a:prstGeom>
          <a:solidFill>
            <a:srgbClr val="FF4757"/>
          </a:solidFill>
          <a:ln/>
        </p:spPr>
        <p:txBody>
          <a:bodyPr/>
          <a:p/>
        </p:txBody>
      </p:sp>
      <p:sp>
        <p:nvSpPr>
          <p:cNvPr id="7" name="Text 5"/>
          <p:cNvSpPr/>
          <p:nvPr/>
        </p:nvSpPr>
        <p:spPr>
          <a:xfrm>
            <a:off x="868680" y="3383280"/>
            <a:ext cx="457200" cy="457200"/>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8" name="Text 6"/>
          <p:cNvSpPr/>
          <p:nvPr/>
        </p:nvSpPr>
        <p:spPr>
          <a:xfrm>
            <a:off x="868680" y="4023360"/>
            <a:ext cx="2971800" cy="150876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Ce arată cele trei cazuri și ce alte explicații trebuie excluse?</a:t>
            </a:r>
            <a:endParaRPr lang="en-US" sz="1600" dirty="0"/>
          </a:p>
        </p:txBody>
      </p:sp>
      <p:sp>
        <p:nvSpPr>
          <p:cNvPr id="9" name="Shape 7"/>
          <p:cNvSpPr/>
          <p:nvPr/>
        </p:nvSpPr>
        <p:spPr>
          <a:xfrm>
            <a:off x="4343400" y="3154680"/>
            <a:ext cx="3474720" cy="2468880"/>
          </a:xfrm>
          <a:prstGeom prst="roundRect">
            <a:avLst>
              <a:gd name="adj" fmla="val 3333"/>
            </a:avLst>
          </a:prstGeom>
          <a:solidFill>
            <a:srgbClr val="1D1F2B"/>
          </a:solidFill>
          <a:ln w="12700">
            <a:solidFill>
              <a:srgbClr val="1D1F2B"/>
            </a:solidFill>
            <a:prstDash val="solid"/>
          </a:ln>
        </p:spPr>
        <p:txBody>
          <a:bodyPr/>
          <a:p/>
        </p:txBody>
      </p:sp>
      <p:sp>
        <p:nvSpPr>
          <p:cNvPr id="10" name="Shape 8"/>
          <p:cNvSpPr/>
          <p:nvPr/>
        </p:nvSpPr>
        <p:spPr>
          <a:xfrm>
            <a:off x="4617720" y="3383280"/>
            <a:ext cx="457200" cy="457200"/>
          </a:xfrm>
          <a:prstGeom prst="ellipse">
            <a:avLst/>
          </a:prstGeom>
          <a:solidFill>
            <a:srgbClr val="27D3BE"/>
          </a:solidFill>
          <a:ln/>
        </p:spPr>
        <p:txBody>
          <a:bodyPr/>
          <a:p/>
        </p:txBody>
      </p:sp>
      <p:sp>
        <p:nvSpPr>
          <p:cNvPr id="11" name="Text 9"/>
          <p:cNvSpPr/>
          <p:nvPr/>
        </p:nvSpPr>
        <p:spPr>
          <a:xfrm>
            <a:off x="4617720" y="3383280"/>
            <a:ext cx="457200" cy="457200"/>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2" name="Text 10"/>
          <p:cNvSpPr/>
          <p:nvPr/>
        </p:nvSpPr>
        <p:spPr>
          <a:xfrm>
            <a:off x="4617720" y="4023360"/>
            <a:ext cx="2971800" cy="150876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Cine sunt contacții, ce li se cere și cât durează supravegherea lor?</a:t>
            </a:r>
            <a:endParaRPr lang="en-US" sz="1600" dirty="0"/>
          </a:p>
        </p:txBody>
      </p:sp>
      <p:sp>
        <p:nvSpPr>
          <p:cNvPr id="13" name="Shape 11"/>
          <p:cNvSpPr/>
          <p:nvPr/>
        </p:nvSpPr>
        <p:spPr>
          <a:xfrm>
            <a:off x="8092440" y="3154680"/>
            <a:ext cx="3474720" cy="2468880"/>
          </a:xfrm>
          <a:prstGeom prst="roundRect">
            <a:avLst>
              <a:gd name="adj" fmla="val 3333"/>
            </a:avLst>
          </a:prstGeom>
          <a:solidFill>
            <a:srgbClr val="1D1F2B"/>
          </a:solidFill>
          <a:ln w="12700">
            <a:solidFill>
              <a:srgbClr val="1D1F2B"/>
            </a:solidFill>
            <a:prstDash val="solid"/>
          </a:ln>
        </p:spPr>
        <p:txBody>
          <a:bodyPr/>
          <a:p/>
        </p:txBody>
      </p:sp>
      <p:sp>
        <p:nvSpPr>
          <p:cNvPr id="14" name="Shape 12"/>
          <p:cNvSpPr/>
          <p:nvPr/>
        </p:nvSpPr>
        <p:spPr>
          <a:xfrm>
            <a:off x="8366760" y="3383280"/>
            <a:ext cx="457200" cy="457200"/>
          </a:xfrm>
          <a:prstGeom prst="ellipse">
            <a:avLst/>
          </a:prstGeom>
          <a:solidFill>
            <a:srgbClr val="FFC24B"/>
          </a:solidFill>
          <a:ln/>
        </p:spPr>
        <p:txBody>
          <a:bodyPr/>
          <a:p/>
        </p:txBody>
      </p:sp>
      <p:sp>
        <p:nvSpPr>
          <p:cNvPr id="15" name="Text 13"/>
          <p:cNvSpPr/>
          <p:nvPr/>
        </p:nvSpPr>
        <p:spPr>
          <a:xfrm>
            <a:off x="8366760" y="3383280"/>
            <a:ext cx="457200" cy="457200"/>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6" name="Text 14"/>
          <p:cNvSpPr/>
          <p:nvPr/>
        </p:nvSpPr>
        <p:spPr>
          <a:xfrm>
            <a:off x="8366760" y="4023360"/>
            <a:ext cx="2971800" cy="150876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Dacă fiecare caz are, în medie, trei membri ai familiei care nu au participat la masă, câte persoane trebuie urmărite?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2"/>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B02532"/>
          </a:solidFill>
          <a:ln w="12700">
            <a:solidFill>
              <a:srgbClr val="B02532"/>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JOC DE ROL</a:t>
            </a:r>
            <a:endParaRPr lang="en-US" sz="1300" dirty="0"/>
          </a:p>
        </p:txBody>
      </p:sp>
      <p:sp>
        <p:nvSpPr>
          <p:cNvPr id="4" name="Text 2"/>
          <p:cNvSpPr/>
          <p:nvPr/>
        </p:nvSpPr>
        <p:spPr>
          <a:xfrm>
            <a:off x="594360" y="347472"/>
            <a:ext cx="73152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PASUL 5</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Controlul și raportarea</a:t>
            </a:r>
            <a:endParaRPr lang="en-US" sz="3200" dirty="0"/>
          </a:p>
        </p:txBody>
      </p:sp>
      <p:sp>
        <p:nvSpPr>
          <p:cNvPr id="6" name="Text 4"/>
          <p:cNvSpPr/>
          <p:nvPr/>
        </p:nvSpPr>
        <p:spPr>
          <a:xfrm>
            <a:off x="594360" y="1508760"/>
            <a:ext cx="10972800" cy="54864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Fiecare echipă propune trei măsuri de control, fiecare legată de o verigă a lanțului infecției.</a:t>
            </a:r>
            <a:endParaRPr lang="en-US" sz="1700" dirty="0"/>
          </a:p>
        </p:txBody>
      </p:sp>
      <p:sp>
        <p:nvSpPr>
          <p:cNvPr id="7" name="Shape 5"/>
          <p:cNvSpPr/>
          <p:nvPr/>
        </p:nvSpPr>
        <p:spPr>
          <a:xfrm>
            <a:off x="594360" y="2194560"/>
            <a:ext cx="3474720" cy="1463040"/>
          </a:xfrm>
          <a:prstGeom prst="roundRect">
            <a:avLst>
              <a:gd name="adj" fmla="val 5625"/>
            </a:avLst>
          </a:prstGeom>
          <a:solidFill>
            <a:srgbClr val="ECEAE4"/>
          </a:solidFill>
          <a:ln w="12700">
            <a:solidFill>
              <a:srgbClr val="ECEAE4"/>
            </a:solidFill>
            <a:prstDash val="solid"/>
          </a:ln>
        </p:spPr>
        <p:txBody>
          <a:bodyPr/>
          <a:p/>
        </p:txBody>
      </p:sp>
      <p:sp>
        <p:nvSpPr>
          <p:cNvPr id="8" name="Shape 6"/>
          <p:cNvSpPr/>
          <p:nvPr/>
        </p:nvSpPr>
        <p:spPr>
          <a:xfrm>
            <a:off x="594360" y="2194560"/>
            <a:ext cx="3474720" cy="64008"/>
          </a:xfrm>
          <a:prstGeom prst="rect">
            <a:avLst/>
          </a:prstGeom>
          <a:solidFill>
            <a:srgbClr val="B02532"/>
          </a:solidFill>
          <a:ln w="12700">
            <a:solidFill>
              <a:srgbClr val="B02532"/>
            </a:solidFill>
            <a:prstDash val="solid"/>
          </a:ln>
        </p:spPr>
        <p:txBody>
          <a:bodyPr/>
          <a:p/>
        </p:txBody>
      </p:sp>
      <p:sp>
        <p:nvSpPr>
          <p:cNvPr id="9" name="Text 7"/>
          <p:cNvSpPr/>
          <p:nvPr/>
        </p:nvSpPr>
        <p:spPr>
          <a:xfrm>
            <a:off x="868680" y="2377440"/>
            <a:ext cx="3017520" cy="457200"/>
          </a:xfrm>
          <a:prstGeom prst="rect">
            <a:avLst/>
          </a:prstGeom>
          <a:noFill/>
          <a:ln/>
        </p:spPr>
        <p:txBody>
          <a:bodyPr wrap="square" lIns="0" tIns="0" rIns="0" bIns="0" rtlCol="0" anchor="t"/>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SURSA</a:t>
            </a:r>
            <a:endParaRPr lang="en-US" sz="1800" dirty="0"/>
          </a:p>
        </p:txBody>
      </p:sp>
      <p:sp>
        <p:nvSpPr>
          <p:cNvPr id="10" name="Text 8"/>
          <p:cNvSpPr/>
          <p:nvPr/>
        </p:nvSpPr>
        <p:spPr>
          <a:xfrm>
            <a:off x="868680" y="2926080"/>
            <a:ext cx="3017520" cy="6400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veriga de la care pornește infecția</a:t>
            </a:r>
            <a:endParaRPr lang="en-US" sz="1500" dirty="0"/>
          </a:p>
        </p:txBody>
      </p:sp>
      <p:sp>
        <p:nvSpPr>
          <p:cNvPr id="11" name="Shape 9"/>
          <p:cNvSpPr/>
          <p:nvPr/>
        </p:nvSpPr>
        <p:spPr>
          <a:xfrm>
            <a:off x="4343400" y="2194560"/>
            <a:ext cx="3474720" cy="1463040"/>
          </a:xfrm>
          <a:prstGeom prst="roundRect">
            <a:avLst>
              <a:gd name="adj" fmla="val 5625"/>
            </a:avLst>
          </a:prstGeom>
          <a:solidFill>
            <a:srgbClr val="ECEAE4"/>
          </a:solidFill>
          <a:ln w="12700">
            <a:solidFill>
              <a:srgbClr val="ECEAE4"/>
            </a:solidFill>
            <a:prstDash val="solid"/>
          </a:ln>
        </p:spPr>
        <p:txBody>
          <a:bodyPr/>
          <a:p/>
        </p:txBody>
      </p:sp>
      <p:sp>
        <p:nvSpPr>
          <p:cNvPr id="12" name="Shape 10"/>
          <p:cNvSpPr/>
          <p:nvPr/>
        </p:nvSpPr>
        <p:spPr>
          <a:xfrm>
            <a:off x="4343400" y="2194560"/>
            <a:ext cx="3474720" cy="64008"/>
          </a:xfrm>
          <a:prstGeom prst="rect">
            <a:avLst/>
          </a:prstGeom>
          <a:solidFill>
            <a:srgbClr val="0E7C6B"/>
          </a:solidFill>
          <a:ln w="12700">
            <a:solidFill>
              <a:srgbClr val="0E7C6B"/>
            </a:solidFill>
            <a:prstDash val="solid"/>
          </a:ln>
        </p:spPr>
        <p:txBody>
          <a:bodyPr/>
          <a:p/>
        </p:txBody>
      </p:sp>
      <p:sp>
        <p:nvSpPr>
          <p:cNvPr id="13" name="Text 11"/>
          <p:cNvSpPr/>
          <p:nvPr/>
        </p:nvSpPr>
        <p:spPr>
          <a:xfrm>
            <a:off x="4617720" y="2377440"/>
            <a:ext cx="3017520" cy="457200"/>
          </a:xfrm>
          <a:prstGeom prst="rect">
            <a:avLst/>
          </a:prstGeom>
          <a:noFill/>
          <a:ln/>
        </p:spPr>
        <p:txBody>
          <a:bodyPr wrap="square" lIns="0" tIns="0" rIns="0" bIns="0" rtlCol="0" anchor="t"/>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CALEA DE TRANSMITERE</a:t>
            </a:r>
            <a:endParaRPr lang="en-US" sz="1800" dirty="0"/>
          </a:p>
        </p:txBody>
      </p:sp>
      <p:sp>
        <p:nvSpPr>
          <p:cNvPr id="14" name="Text 12"/>
          <p:cNvSpPr/>
          <p:nvPr/>
        </p:nvSpPr>
        <p:spPr>
          <a:xfrm>
            <a:off x="4617720" y="2926080"/>
            <a:ext cx="3017520" cy="6400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cum ajunge infecția la alte persoane</a:t>
            </a:r>
            <a:endParaRPr lang="en-US" sz="1500" dirty="0"/>
          </a:p>
        </p:txBody>
      </p:sp>
      <p:sp>
        <p:nvSpPr>
          <p:cNvPr id="15" name="Shape 13"/>
          <p:cNvSpPr/>
          <p:nvPr/>
        </p:nvSpPr>
        <p:spPr>
          <a:xfrm>
            <a:off x="8092440" y="2194560"/>
            <a:ext cx="3474720" cy="1463040"/>
          </a:xfrm>
          <a:prstGeom prst="roundRect">
            <a:avLst>
              <a:gd name="adj" fmla="val 5625"/>
            </a:avLst>
          </a:prstGeom>
          <a:solidFill>
            <a:srgbClr val="ECEAE4"/>
          </a:solidFill>
          <a:ln w="12700">
            <a:solidFill>
              <a:srgbClr val="ECEAE4"/>
            </a:solidFill>
            <a:prstDash val="solid"/>
          </a:ln>
        </p:spPr>
        <p:txBody>
          <a:bodyPr/>
          <a:p/>
        </p:txBody>
      </p:sp>
      <p:sp>
        <p:nvSpPr>
          <p:cNvPr id="16" name="Shape 14"/>
          <p:cNvSpPr/>
          <p:nvPr/>
        </p:nvSpPr>
        <p:spPr>
          <a:xfrm>
            <a:off x="8092440" y="2194560"/>
            <a:ext cx="3474720" cy="64008"/>
          </a:xfrm>
          <a:prstGeom prst="rect">
            <a:avLst/>
          </a:prstGeom>
          <a:solidFill>
            <a:srgbClr val="4A2D8C"/>
          </a:solidFill>
          <a:ln w="12700">
            <a:solidFill>
              <a:srgbClr val="4A2D8C"/>
            </a:solidFill>
            <a:prstDash val="solid"/>
          </a:ln>
        </p:spPr>
        <p:txBody>
          <a:bodyPr/>
          <a:p/>
        </p:txBody>
      </p:sp>
      <p:sp>
        <p:nvSpPr>
          <p:cNvPr id="17" name="Text 15"/>
          <p:cNvSpPr/>
          <p:nvPr/>
        </p:nvSpPr>
        <p:spPr>
          <a:xfrm>
            <a:off x="8366760" y="2377440"/>
            <a:ext cx="3017520" cy="457200"/>
          </a:xfrm>
          <a:prstGeom prst="rect">
            <a:avLst/>
          </a:prstGeom>
          <a:noFill/>
          <a:ln/>
        </p:spPr>
        <p:txBody>
          <a:bodyPr wrap="square" lIns="0" tIns="0" rIns="0" bIns="0" rtlCol="0" anchor="t"/>
          <a:lstStyle/>
          <a:p>
            <a:pPr indent="0" marL="0">
              <a:buNone/>
            </a:pPr>
            <a:r>
              <a:rPr lang="en-US" sz="1800" b="1" dirty="0">
                <a:solidFill>
                  <a:srgbClr val="4A2D8C"/>
                </a:solidFill>
                <a:latin typeface="Palatino Linotype" pitchFamily="34" charset="0"/>
                <a:ea typeface="Palatino Linotype" pitchFamily="34" charset="-122"/>
                <a:cs typeface="Palatino Linotype" pitchFamily="34" charset="-120"/>
              </a:rPr>
              <a:t>PERSOANA RECEPTIVĂ</a:t>
            </a:r>
            <a:endParaRPr lang="en-US" sz="1800" dirty="0"/>
          </a:p>
        </p:txBody>
      </p:sp>
      <p:sp>
        <p:nvSpPr>
          <p:cNvPr id="18" name="Text 16"/>
          <p:cNvSpPr/>
          <p:nvPr/>
        </p:nvSpPr>
        <p:spPr>
          <a:xfrm>
            <a:off x="8366760" y="2926080"/>
            <a:ext cx="3017520" cy="6400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cine se poate îmbolnăvi</a:t>
            </a:r>
            <a:endParaRPr lang="en-US" sz="1500" dirty="0"/>
          </a:p>
        </p:txBody>
      </p:sp>
      <p:sp>
        <p:nvSpPr>
          <p:cNvPr id="19" name="Shape 17"/>
          <p:cNvSpPr/>
          <p:nvPr/>
        </p:nvSpPr>
        <p:spPr>
          <a:xfrm>
            <a:off x="594360" y="3886200"/>
            <a:ext cx="10972800" cy="2103120"/>
          </a:xfrm>
          <a:prstGeom prst="roundRect">
            <a:avLst>
              <a:gd name="adj" fmla="val 3913"/>
            </a:avLst>
          </a:prstGeom>
          <a:solidFill>
            <a:srgbClr val="11121A"/>
          </a:solidFill>
          <a:ln w="12700">
            <a:solidFill>
              <a:srgbClr val="11121A"/>
            </a:solidFill>
            <a:prstDash val="solid"/>
          </a:ln>
        </p:spPr>
        <p:txBody>
          <a:bodyPr/>
          <a:p/>
        </p:txBody>
      </p:sp>
      <p:sp>
        <p:nvSpPr>
          <p:cNvPr id="20" name="Text 18"/>
          <p:cNvSpPr/>
          <p:nvPr/>
        </p:nvSpPr>
        <p:spPr>
          <a:xfrm>
            <a:off x="868680" y="4023360"/>
            <a:ext cx="10058400" cy="365760"/>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Joc de rol, cel mult trei minute</a:t>
            </a:r>
            <a:endParaRPr lang="en-US" sz="1300" dirty="0"/>
          </a:p>
        </p:txBody>
      </p:sp>
      <p:sp>
        <p:nvSpPr>
          <p:cNvPr id="21" name="Text 19"/>
          <p:cNvSpPr/>
          <p:nvPr/>
        </p:nvSpPr>
        <p:spPr>
          <a:xfrm>
            <a:off x="868680" y="4434840"/>
            <a:ext cx="10424160" cy="146304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Medicul cabinetului a stabilit diagnosticul de caz suspect. Asistentul medical raportează focarul la direcția de sănătate publică, în numele cabinetului. Cealaltă echipă ascultă și notează ce informații au lipsit. Apoi scrieți în fișă informațiile transmise la prima raportare, în cel mult zece rânduri.</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RECAPITULARE · CUM SE CALCULEAZĂ ȘI CUM SE CITEȘTE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Formulele din cele două părți</a:t>
            </a:r>
            <a:endParaRPr lang="en-US" sz="3100" dirty="0"/>
          </a:p>
        </p:txBody>
      </p:sp>
      <p:sp>
        <p:nvSpPr>
          <p:cNvPr id="4" name="Shape 2"/>
          <p:cNvSpPr/>
          <p:nvPr/>
        </p:nvSpPr>
        <p:spPr>
          <a:xfrm>
            <a:off x="594360" y="1600200"/>
            <a:ext cx="3474720" cy="2103120"/>
          </a:xfrm>
          <a:prstGeom prst="roundRect">
            <a:avLst>
              <a:gd name="adj" fmla="val 3913"/>
            </a:avLst>
          </a:prstGeom>
          <a:solidFill>
            <a:srgbClr val="1D1F2B"/>
          </a:solidFill>
          <a:ln w="12700">
            <a:solidFill>
              <a:srgbClr val="1D1F2B"/>
            </a:solidFill>
            <a:prstDash val="solid"/>
          </a:ln>
        </p:spPr>
        <p:txBody>
          <a:bodyPr/>
          <a:p/>
        </p:txBody>
      </p:sp>
      <p:sp>
        <p:nvSpPr>
          <p:cNvPr id="5" name="Shape 3"/>
          <p:cNvSpPr/>
          <p:nvPr/>
        </p:nvSpPr>
        <p:spPr>
          <a:xfrm>
            <a:off x="594360" y="1600200"/>
            <a:ext cx="3474720" cy="54864"/>
          </a:xfrm>
          <a:prstGeom prst="rect">
            <a:avLst/>
          </a:prstGeom>
          <a:solidFill>
            <a:srgbClr val="FF4757"/>
          </a:solidFill>
          <a:ln w="12700">
            <a:solidFill>
              <a:srgbClr val="FF4757"/>
            </a:solidFill>
            <a:prstDash val="solid"/>
          </a:ln>
        </p:spPr>
        <p:txBody>
          <a:bodyPr/>
          <a:p/>
        </p:txBody>
      </p:sp>
      <p:sp>
        <p:nvSpPr>
          <p:cNvPr id="6" name="Text 4"/>
          <p:cNvSpPr/>
          <p:nvPr/>
        </p:nvSpPr>
        <p:spPr>
          <a:xfrm>
            <a:off x="850392" y="1783080"/>
            <a:ext cx="3017520" cy="365760"/>
          </a:xfrm>
          <a:prstGeom prst="rect">
            <a:avLst/>
          </a:prstGeom>
          <a:noFill/>
          <a:ln/>
        </p:spPr>
        <p:txBody>
          <a:bodyPr wrap="square" lIns="0" tIns="0" rIns="0" bIns="0" rtlCol="0" anchor="t"/>
          <a:lstStyle/>
          <a:p>
            <a:pPr indent="0" marL="0">
              <a:buNone/>
            </a:pPr>
            <a:r>
              <a:rPr lang="en-US" sz="1300" b="1" spc="100" kern="0" dirty="0">
                <a:solidFill>
                  <a:srgbClr val="FF4757"/>
                </a:solidFill>
                <a:latin typeface="Palatino Linotype" pitchFamily="34" charset="0"/>
                <a:ea typeface="Palatino Linotype" pitchFamily="34" charset="-122"/>
                <a:cs typeface="Palatino Linotype" pitchFamily="34" charset="-120"/>
              </a:rPr>
              <a:t>PLANUL</a:t>
            </a:r>
            <a:endParaRPr lang="en-US" sz="1300" dirty="0"/>
          </a:p>
        </p:txBody>
      </p:sp>
      <p:sp>
        <p:nvSpPr>
          <p:cNvPr id="7" name="Text 5"/>
          <p:cNvSpPr/>
          <p:nvPr/>
        </p:nvSpPr>
        <p:spPr>
          <a:xfrm>
            <a:off x="850392" y="2240280"/>
            <a:ext cx="3017520" cy="137160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Ritmul necesar: persoanele de testat în plus, împărțite la numărul de luni.</a:t>
            </a:r>
            <a:endParaRPr lang="en-US" sz="1500" dirty="0"/>
          </a:p>
        </p:txBody>
      </p:sp>
      <p:sp>
        <p:nvSpPr>
          <p:cNvPr id="8" name="Shape 6"/>
          <p:cNvSpPr/>
          <p:nvPr/>
        </p:nvSpPr>
        <p:spPr>
          <a:xfrm>
            <a:off x="4343400" y="1600200"/>
            <a:ext cx="3474720" cy="2103120"/>
          </a:xfrm>
          <a:prstGeom prst="roundRect">
            <a:avLst>
              <a:gd name="adj" fmla="val 3913"/>
            </a:avLst>
          </a:prstGeom>
          <a:solidFill>
            <a:srgbClr val="1D1F2B"/>
          </a:solidFill>
          <a:ln w="12700">
            <a:solidFill>
              <a:srgbClr val="1D1F2B"/>
            </a:solidFill>
            <a:prstDash val="solid"/>
          </a:ln>
        </p:spPr>
        <p:txBody>
          <a:bodyPr/>
          <a:p/>
        </p:txBody>
      </p:sp>
      <p:sp>
        <p:nvSpPr>
          <p:cNvPr id="9" name="Shape 7"/>
          <p:cNvSpPr/>
          <p:nvPr/>
        </p:nvSpPr>
        <p:spPr>
          <a:xfrm>
            <a:off x="4343400" y="1600200"/>
            <a:ext cx="3474720" cy="54864"/>
          </a:xfrm>
          <a:prstGeom prst="rect">
            <a:avLst/>
          </a:prstGeom>
          <a:solidFill>
            <a:srgbClr val="27D3BE"/>
          </a:solidFill>
          <a:ln w="12700">
            <a:solidFill>
              <a:srgbClr val="27D3BE"/>
            </a:solidFill>
            <a:prstDash val="solid"/>
          </a:ln>
        </p:spPr>
        <p:txBody>
          <a:bodyPr/>
          <a:p/>
        </p:txBody>
      </p:sp>
      <p:sp>
        <p:nvSpPr>
          <p:cNvPr id="10" name="Text 8"/>
          <p:cNvSpPr/>
          <p:nvPr/>
        </p:nvSpPr>
        <p:spPr>
          <a:xfrm>
            <a:off x="4599432" y="1783080"/>
            <a:ext cx="3017520" cy="365760"/>
          </a:xfrm>
          <a:prstGeom prst="rect">
            <a:avLst/>
          </a:prstGeom>
          <a:noFill/>
          <a:ln/>
        </p:spPr>
        <p:txBody>
          <a:bodyPr wrap="square" lIns="0" tIns="0" rIns="0" bIns="0" rtlCol="0" anchor="t"/>
          <a:lstStyle/>
          <a:p>
            <a:pPr indent="0" marL="0">
              <a:buNone/>
            </a:pPr>
            <a:r>
              <a:rPr lang="en-US" sz="1300" b="1" spc="100" kern="0" dirty="0">
                <a:solidFill>
                  <a:srgbClr val="27D3BE"/>
                </a:solidFill>
                <a:latin typeface="Palatino Linotype" pitchFamily="34" charset="0"/>
                <a:ea typeface="Palatino Linotype" pitchFamily="34" charset="-122"/>
                <a:cs typeface="Palatino Linotype" pitchFamily="34" charset="-120"/>
              </a:rPr>
              <a:t>1 · FOCARUL</a:t>
            </a:r>
            <a:endParaRPr lang="en-US" sz="1300" dirty="0"/>
          </a:p>
        </p:txBody>
      </p:sp>
      <p:sp>
        <p:nvSpPr>
          <p:cNvPr id="11" name="Text 9"/>
          <p:cNvSpPr/>
          <p:nvPr/>
        </p:nvSpPr>
        <p:spPr>
          <a:xfrm>
            <a:off x="4599432" y="2240280"/>
            <a:ext cx="3017520" cy="137160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Numărul de cazuri observat, comparat cu cel așteptat în același loc și în aceeași perioadă.</a:t>
            </a:r>
            <a:endParaRPr lang="en-US" sz="1500" dirty="0"/>
          </a:p>
        </p:txBody>
      </p:sp>
      <p:sp>
        <p:nvSpPr>
          <p:cNvPr id="12" name="Shape 10"/>
          <p:cNvSpPr/>
          <p:nvPr/>
        </p:nvSpPr>
        <p:spPr>
          <a:xfrm>
            <a:off x="8092440" y="1600200"/>
            <a:ext cx="3474720" cy="2103120"/>
          </a:xfrm>
          <a:prstGeom prst="roundRect">
            <a:avLst>
              <a:gd name="adj" fmla="val 3913"/>
            </a:avLst>
          </a:prstGeom>
          <a:solidFill>
            <a:srgbClr val="1D1F2B"/>
          </a:solidFill>
          <a:ln w="12700">
            <a:solidFill>
              <a:srgbClr val="1D1F2B"/>
            </a:solidFill>
            <a:prstDash val="solid"/>
          </a:ln>
        </p:spPr>
        <p:txBody>
          <a:bodyPr/>
          <a:p/>
        </p:txBody>
      </p:sp>
      <p:sp>
        <p:nvSpPr>
          <p:cNvPr id="13" name="Shape 11"/>
          <p:cNvSpPr/>
          <p:nvPr/>
        </p:nvSpPr>
        <p:spPr>
          <a:xfrm>
            <a:off x="8092440" y="1600200"/>
            <a:ext cx="3474720" cy="54864"/>
          </a:xfrm>
          <a:prstGeom prst="rect">
            <a:avLst/>
          </a:prstGeom>
          <a:solidFill>
            <a:srgbClr val="FFC24B"/>
          </a:solidFill>
          <a:ln w="12700">
            <a:solidFill>
              <a:srgbClr val="FFC24B"/>
            </a:solidFill>
            <a:prstDash val="solid"/>
          </a:ln>
        </p:spPr>
        <p:txBody>
          <a:bodyPr/>
          <a:p/>
        </p:txBody>
      </p:sp>
      <p:sp>
        <p:nvSpPr>
          <p:cNvPr id="14" name="Text 12"/>
          <p:cNvSpPr/>
          <p:nvPr/>
        </p:nvSpPr>
        <p:spPr>
          <a:xfrm>
            <a:off x="8348472" y="1783080"/>
            <a:ext cx="3017520" cy="365760"/>
          </a:xfrm>
          <a:prstGeom prst="rect">
            <a:avLst/>
          </a:prstGeom>
          <a:noFill/>
          <a:ln/>
        </p:spPr>
        <p:txBody>
          <a:bodyPr wrap="square" lIns="0" tIns="0" rIns="0" bIns="0" rtlCol="0" anchor="t"/>
          <a:lstStyle/>
          <a:p>
            <a:pPr indent="0" marL="0">
              <a:buNone/>
            </a:pPr>
            <a:r>
              <a:rPr lang="en-US" sz="1300" b="1" spc="100" kern="0" dirty="0">
                <a:solidFill>
                  <a:srgbClr val="FFC24B"/>
                </a:solidFill>
                <a:latin typeface="Palatino Linotype" pitchFamily="34" charset="0"/>
                <a:ea typeface="Palatino Linotype" pitchFamily="34" charset="-122"/>
                <a:cs typeface="Palatino Linotype" pitchFamily="34" charset="-120"/>
              </a:rPr>
              <a:t>2 · CURBA</a:t>
            </a:r>
            <a:endParaRPr lang="en-US" sz="1300" dirty="0"/>
          </a:p>
        </p:txBody>
      </p:sp>
      <p:sp>
        <p:nvSpPr>
          <p:cNvPr id="15" name="Text 13"/>
          <p:cNvSpPr/>
          <p:nvPr/>
        </p:nvSpPr>
        <p:spPr>
          <a:xfrm>
            <a:off x="8348472" y="2240280"/>
            <a:ext cx="3017520" cy="137160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Timpul pe axa orizontală, cazurile pe cea verticală; forma curbei sugerează tipul de focar.</a:t>
            </a:r>
            <a:endParaRPr lang="en-US" sz="1500" dirty="0"/>
          </a:p>
        </p:txBody>
      </p:sp>
      <p:sp>
        <p:nvSpPr>
          <p:cNvPr id="16" name="Shape 14"/>
          <p:cNvSpPr/>
          <p:nvPr/>
        </p:nvSpPr>
        <p:spPr>
          <a:xfrm>
            <a:off x="594360" y="3886200"/>
            <a:ext cx="3474720" cy="2103120"/>
          </a:xfrm>
          <a:prstGeom prst="roundRect">
            <a:avLst>
              <a:gd name="adj" fmla="val 3913"/>
            </a:avLst>
          </a:prstGeom>
          <a:solidFill>
            <a:srgbClr val="1D1F2B"/>
          </a:solidFill>
          <a:ln w="12700">
            <a:solidFill>
              <a:srgbClr val="1D1F2B"/>
            </a:solidFill>
            <a:prstDash val="solid"/>
          </a:ln>
        </p:spPr>
        <p:txBody>
          <a:bodyPr/>
          <a:p/>
        </p:txBody>
      </p:sp>
      <p:sp>
        <p:nvSpPr>
          <p:cNvPr id="17" name="Shape 15"/>
          <p:cNvSpPr/>
          <p:nvPr/>
        </p:nvSpPr>
        <p:spPr>
          <a:xfrm>
            <a:off x="594360" y="3886200"/>
            <a:ext cx="3474720" cy="54864"/>
          </a:xfrm>
          <a:prstGeom prst="rect">
            <a:avLst/>
          </a:prstGeom>
          <a:solidFill>
            <a:srgbClr val="9B7EF7"/>
          </a:solidFill>
          <a:ln w="12700">
            <a:solidFill>
              <a:srgbClr val="9B7EF7"/>
            </a:solidFill>
            <a:prstDash val="solid"/>
          </a:ln>
        </p:spPr>
        <p:txBody>
          <a:bodyPr/>
          <a:p/>
        </p:txBody>
      </p:sp>
      <p:sp>
        <p:nvSpPr>
          <p:cNvPr id="18" name="Text 16"/>
          <p:cNvSpPr/>
          <p:nvPr/>
        </p:nvSpPr>
        <p:spPr>
          <a:xfrm>
            <a:off x="850392" y="4069080"/>
            <a:ext cx="3017520" cy="365760"/>
          </a:xfrm>
          <a:prstGeom prst="rect">
            <a:avLst/>
          </a:prstGeom>
          <a:noFill/>
          <a:ln/>
        </p:spPr>
        <p:txBody>
          <a:bodyPr wrap="square" lIns="0" tIns="0" rIns="0" bIns="0" rtlCol="0" anchor="t"/>
          <a:lstStyle/>
          <a:p>
            <a:pPr indent="0" marL="0">
              <a:buNone/>
            </a:pPr>
            <a:r>
              <a:rPr lang="en-US" sz="1300" b="1" spc="100" kern="0" dirty="0">
                <a:solidFill>
                  <a:srgbClr val="9B7EF7"/>
                </a:solidFill>
                <a:latin typeface="Palatino Linotype" pitchFamily="34" charset="0"/>
                <a:ea typeface="Palatino Linotype" pitchFamily="34" charset="-122"/>
                <a:cs typeface="Palatino Linotype" pitchFamily="34" charset="-120"/>
              </a:rPr>
              <a:t>3 · RATA DE ATAC</a:t>
            </a:r>
            <a:endParaRPr lang="en-US" sz="1300" dirty="0"/>
          </a:p>
        </p:txBody>
      </p:sp>
      <p:sp>
        <p:nvSpPr>
          <p:cNvPr id="19" name="Text 17"/>
          <p:cNvSpPr/>
          <p:nvPr/>
        </p:nvSpPr>
        <p:spPr>
          <a:xfrm>
            <a:off x="850392" y="4526280"/>
            <a:ext cx="3017520" cy="137160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Bolnavii dintr-un grup, împărțiți la toți cei din grup; riscul relativ este raportul dintre ratele de atac la consumatori și la neconsumatori.</a:t>
            </a:r>
            <a:endParaRPr lang="en-US" sz="1500" dirty="0"/>
          </a:p>
        </p:txBody>
      </p:sp>
      <p:sp>
        <p:nvSpPr>
          <p:cNvPr id="20" name="Shape 18"/>
          <p:cNvSpPr/>
          <p:nvPr/>
        </p:nvSpPr>
        <p:spPr>
          <a:xfrm>
            <a:off x="4343400" y="3886200"/>
            <a:ext cx="3474720" cy="2103120"/>
          </a:xfrm>
          <a:prstGeom prst="roundRect">
            <a:avLst>
              <a:gd name="adj" fmla="val 3913"/>
            </a:avLst>
          </a:prstGeom>
          <a:solidFill>
            <a:srgbClr val="1D1F2B"/>
          </a:solidFill>
          <a:ln w="12700">
            <a:solidFill>
              <a:srgbClr val="1D1F2B"/>
            </a:solidFill>
            <a:prstDash val="solid"/>
          </a:ln>
        </p:spPr>
        <p:txBody>
          <a:bodyPr/>
          <a:p/>
        </p:txBody>
      </p:sp>
      <p:sp>
        <p:nvSpPr>
          <p:cNvPr id="21" name="Shape 19"/>
          <p:cNvSpPr/>
          <p:nvPr/>
        </p:nvSpPr>
        <p:spPr>
          <a:xfrm>
            <a:off x="4343400" y="3886200"/>
            <a:ext cx="3474720" cy="54864"/>
          </a:xfrm>
          <a:prstGeom prst="rect">
            <a:avLst/>
          </a:prstGeom>
          <a:solidFill>
            <a:srgbClr val="FF4757"/>
          </a:solidFill>
          <a:ln w="12700">
            <a:solidFill>
              <a:srgbClr val="FF4757"/>
            </a:solidFill>
            <a:prstDash val="solid"/>
          </a:ln>
        </p:spPr>
        <p:txBody>
          <a:bodyPr/>
          <a:p/>
        </p:txBody>
      </p:sp>
      <p:sp>
        <p:nvSpPr>
          <p:cNvPr id="22" name="Text 20"/>
          <p:cNvSpPr/>
          <p:nvPr/>
        </p:nvSpPr>
        <p:spPr>
          <a:xfrm>
            <a:off x="4599432" y="4069080"/>
            <a:ext cx="3017520" cy="365760"/>
          </a:xfrm>
          <a:prstGeom prst="rect">
            <a:avLst/>
          </a:prstGeom>
          <a:noFill/>
          <a:ln/>
        </p:spPr>
        <p:txBody>
          <a:bodyPr wrap="square" lIns="0" tIns="0" rIns="0" bIns="0" rtlCol="0" anchor="t"/>
          <a:lstStyle/>
          <a:p>
            <a:pPr indent="0" marL="0">
              <a:buNone/>
            </a:pPr>
            <a:r>
              <a:rPr lang="en-US" sz="1300" b="1" spc="100" kern="0" dirty="0">
                <a:solidFill>
                  <a:srgbClr val="FF4757"/>
                </a:solidFill>
                <a:latin typeface="Palatino Linotype" pitchFamily="34" charset="0"/>
                <a:ea typeface="Palatino Linotype" pitchFamily="34" charset="-122"/>
                <a:cs typeface="Palatino Linotype" pitchFamily="34" charset="-120"/>
              </a:rPr>
              <a:t>4 · CONTACȚII</a:t>
            </a:r>
            <a:endParaRPr lang="en-US" sz="1300" dirty="0"/>
          </a:p>
        </p:txBody>
      </p:sp>
      <p:sp>
        <p:nvSpPr>
          <p:cNvPr id="23" name="Text 21"/>
          <p:cNvSpPr/>
          <p:nvPr/>
        </p:nvSpPr>
        <p:spPr>
          <a:xfrm>
            <a:off x="4599432" y="4526280"/>
            <a:ext cx="3017520" cy="137160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Cazurile înmulțite cu numărul mediu de membri ai familiei, ca estimare; numărul real este mai mic dacă mai mulți bolnavi locuiesc împreună.</a:t>
            </a:r>
            <a:endParaRPr lang="en-US" sz="1500" dirty="0"/>
          </a:p>
        </p:txBody>
      </p:sp>
      <p:sp>
        <p:nvSpPr>
          <p:cNvPr id="24" name="Shape 22"/>
          <p:cNvSpPr/>
          <p:nvPr/>
        </p:nvSpPr>
        <p:spPr>
          <a:xfrm>
            <a:off x="8092440" y="3886200"/>
            <a:ext cx="3474720" cy="2103120"/>
          </a:xfrm>
          <a:prstGeom prst="roundRect">
            <a:avLst>
              <a:gd name="adj" fmla="val 3913"/>
            </a:avLst>
          </a:prstGeom>
          <a:solidFill>
            <a:srgbClr val="1D1F2B"/>
          </a:solidFill>
          <a:ln w="12700">
            <a:solidFill>
              <a:srgbClr val="1D1F2B"/>
            </a:solidFill>
            <a:prstDash val="solid"/>
          </a:ln>
        </p:spPr>
        <p:txBody>
          <a:bodyPr/>
          <a:p/>
        </p:txBody>
      </p:sp>
      <p:sp>
        <p:nvSpPr>
          <p:cNvPr id="25" name="Shape 23"/>
          <p:cNvSpPr/>
          <p:nvPr/>
        </p:nvSpPr>
        <p:spPr>
          <a:xfrm>
            <a:off x="8092440" y="3886200"/>
            <a:ext cx="3474720" cy="54864"/>
          </a:xfrm>
          <a:prstGeom prst="rect">
            <a:avLst/>
          </a:prstGeom>
          <a:solidFill>
            <a:srgbClr val="27D3BE"/>
          </a:solidFill>
          <a:ln w="12700">
            <a:solidFill>
              <a:srgbClr val="27D3BE"/>
            </a:solidFill>
            <a:prstDash val="solid"/>
          </a:ln>
        </p:spPr>
        <p:txBody>
          <a:bodyPr/>
          <a:p/>
        </p:txBody>
      </p:sp>
      <p:sp>
        <p:nvSpPr>
          <p:cNvPr id="26" name="Text 24"/>
          <p:cNvSpPr/>
          <p:nvPr/>
        </p:nvSpPr>
        <p:spPr>
          <a:xfrm>
            <a:off x="8348472" y="4069080"/>
            <a:ext cx="3017520" cy="365760"/>
          </a:xfrm>
          <a:prstGeom prst="rect">
            <a:avLst/>
          </a:prstGeom>
          <a:noFill/>
          <a:ln/>
        </p:spPr>
        <p:txBody>
          <a:bodyPr wrap="square" lIns="0" tIns="0" rIns="0" bIns="0" rtlCol="0" anchor="t"/>
          <a:lstStyle/>
          <a:p>
            <a:pPr indent="0" marL="0">
              <a:buNone/>
            </a:pPr>
            <a:r>
              <a:rPr lang="en-US" sz="1300" b="1" spc="100" kern="0" dirty="0">
                <a:solidFill>
                  <a:srgbClr val="27D3BE"/>
                </a:solidFill>
                <a:latin typeface="Palatino Linotype" pitchFamily="34" charset="0"/>
                <a:ea typeface="Palatino Linotype" pitchFamily="34" charset="-122"/>
                <a:cs typeface="Palatino Linotype" pitchFamily="34" charset="-120"/>
              </a:rPr>
              <a:t>5 · CONTROLUL</a:t>
            </a:r>
            <a:endParaRPr lang="en-US" sz="1300" dirty="0"/>
          </a:p>
        </p:txBody>
      </p:sp>
      <p:sp>
        <p:nvSpPr>
          <p:cNvPr id="27" name="Text 25"/>
          <p:cNvSpPr/>
          <p:nvPr/>
        </p:nvSpPr>
        <p:spPr>
          <a:xfrm>
            <a:off x="8348472" y="4526280"/>
            <a:ext cx="3017520" cy="137160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Fiecare măsură este legată de o verigă a lanțului infecției; raportarea începe de la stadiul de caz suspect.</a:t>
            </a:r>
            <a:endParaRPr lang="en-US" sz="1500" dirty="0"/>
          </a:p>
        </p:txBody>
      </p:sp>
      <p:sp>
        <p:nvSpPr>
          <p:cNvPr id="28" name="Text 26"/>
          <p:cNvSpPr/>
          <p:nvPr/>
        </p:nvSpPr>
        <p:spPr>
          <a:xfrm>
            <a:off x="594360" y="6172200"/>
            <a:ext cx="10972800" cy="365760"/>
          </a:xfrm>
          <a:prstGeom prst="rect">
            <a:avLst/>
          </a:prstGeom>
          <a:noFill/>
          <a:ln/>
        </p:spPr>
        <p:txBody>
          <a:bodyPr wrap="square" lIns="0" tIns="0" rIns="0" bIns="0" rtlCol="0" anchor="t"/>
          <a:lstStyle/>
          <a:p>
            <a:pPr indent="0" marL="0">
              <a:buNone/>
            </a:pPr>
            <a:r>
              <a:rPr lang="en-US" sz="1400" i="1" dirty="0">
                <a:solidFill>
                  <a:srgbClr val="27D3BE"/>
                </a:solidFill>
                <a:latin typeface="Palatino Linotype" pitchFamily="34" charset="0"/>
                <a:ea typeface="Palatino Linotype" pitchFamily="34" charset="-122"/>
                <a:cs typeface="Palatino Linotype" pitchFamily="34" charset="-120"/>
              </a:rPr>
              <a:t>Răspunsurile corecte și explicațiile apar în formular, după trimitere.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SINTEZA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Două părți, aceeași comunitate</a:t>
            </a:r>
            <a:endParaRPr lang="en-US" sz="3100" dirty="0"/>
          </a:p>
        </p:txBody>
      </p:sp>
      <p:sp>
        <p:nvSpPr>
          <p:cNvPr id="4" name="Shape 2"/>
          <p:cNvSpPr/>
          <p:nvPr/>
        </p:nvSpPr>
        <p:spPr>
          <a:xfrm>
            <a:off x="594360" y="1600200"/>
            <a:ext cx="3474720" cy="2468880"/>
          </a:xfrm>
          <a:prstGeom prst="roundRect">
            <a:avLst>
              <a:gd name="adj" fmla="val 3333"/>
            </a:avLst>
          </a:prstGeom>
          <a:solidFill>
            <a:srgbClr val="ECEAE4"/>
          </a:solidFill>
          <a:ln w="12700">
            <a:solidFill>
              <a:srgbClr val="ECEAE4"/>
            </a:solidFill>
            <a:prstDash val="solid"/>
          </a:ln>
        </p:spPr>
        <p:txBody>
          <a:bodyPr/>
          <a:p/>
        </p:txBody>
      </p:sp>
      <p:sp>
        <p:nvSpPr>
          <p:cNvPr id="5" name="Shape 3"/>
          <p:cNvSpPr/>
          <p:nvPr/>
        </p:nvSpPr>
        <p:spPr>
          <a:xfrm>
            <a:off x="594360" y="1600200"/>
            <a:ext cx="3474720" cy="64008"/>
          </a:xfrm>
          <a:prstGeom prst="rect">
            <a:avLst/>
          </a:prstGeom>
          <a:solidFill>
            <a:srgbClr val="0E7C6B"/>
          </a:solidFill>
          <a:ln w="12700">
            <a:solidFill>
              <a:srgbClr val="0E7C6B"/>
            </a:solidFill>
            <a:prstDash val="solid"/>
          </a:ln>
        </p:spPr>
        <p:txBody>
          <a:bodyPr/>
          <a:p/>
        </p:txBody>
      </p:sp>
      <p:sp>
        <p:nvSpPr>
          <p:cNvPr id="6" name="Shape 4"/>
          <p:cNvSpPr/>
          <p:nvPr/>
        </p:nvSpPr>
        <p:spPr>
          <a:xfrm>
            <a:off x="868680" y="1874520"/>
            <a:ext cx="420624" cy="420624"/>
          </a:xfrm>
          <a:prstGeom prst="ellipse">
            <a:avLst/>
          </a:prstGeom>
          <a:solidFill>
            <a:srgbClr val="0E7C6B"/>
          </a:solidFill>
          <a:ln/>
        </p:spPr>
        <p:txBody>
          <a:bodyPr/>
          <a:p/>
        </p:txBody>
      </p:sp>
      <p:sp>
        <p:nvSpPr>
          <p:cNvPr id="7" name="Text 5"/>
          <p:cNvSpPr/>
          <p:nvPr/>
        </p:nvSpPr>
        <p:spPr>
          <a:xfrm>
            <a:off x="868680" y="187452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8" name="Text 6"/>
          <p:cNvSpPr/>
          <p:nvPr/>
        </p:nvSpPr>
        <p:spPr>
          <a:xfrm>
            <a:off x="868680" y="2423160"/>
            <a:ext cx="2971800" cy="155448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Un obiectiv fără valoare de pornire, țintă și termen nu poate fi evaluat.</a:t>
            </a:r>
            <a:endParaRPr lang="en-US" sz="1600" dirty="0"/>
          </a:p>
        </p:txBody>
      </p:sp>
      <p:sp>
        <p:nvSpPr>
          <p:cNvPr id="9" name="Shape 7"/>
          <p:cNvSpPr/>
          <p:nvPr/>
        </p:nvSpPr>
        <p:spPr>
          <a:xfrm>
            <a:off x="4343400" y="1600200"/>
            <a:ext cx="3474720" cy="2468880"/>
          </a:xfrm>
          <a:prstGeom prst="roundRect">
            <a:avLst>
              <a:gd name="adj" fmla="val 3333"/>
            </a:avLst>
          </a:prstGeom>
          <a:solidFill>
            <a:srgbClr val="ECEAE4"/>
          </a:solidFill>
          <a:ln w="12700">
            <a:solidFill>
              <a:srgbClr val="ECEAE4"/>
            </a:solidFill>
            <a:prstDash val="solid"/>
          </a:ln>
        </p:spPr>
        <p:txBody>
          <a:bodyPr/>
          <a:p/>
        </p:txBody>
      </p:sp>
      <p:sp>
        <p:nvSpPr>
          <p:cNvPr id="10" name="Shape 8"/>
          <p:cNvSpPr/>
          <p:nvPr/>
        </p:nvSpPr>
        <p:spPr>
          <a:xfrm>
            <a:off x="4343400" y="1600200"/>
            <a:ext cx="3474720" cy="64008"/>
          </a:xfrm>
          <a:prstGeom prst="rect">
            <a:avLst/>
          </a:prstGeom>
          <a:solidFill>
            <a:srgbClr val="4A2D8C"/>
          </a:solidFill>
          <a:ln w="12700">
            <a:solidFill>
              <a:srgbClr val="4A2D8C"/>
            </a:solidFill>
            <a:prstDash val="solid"/>
          </a:ln>
        </p:spPr>
        <p:txBody>
          <a:bodyPr/>
          <a:p/>
        </p:txBody>
      </p:sp>
      <p:sp>
        <p:nvSpPr>
          <p:cNvPr id="11" name="Shape 9"/>
          <p:cNvSpPr/>
          <p:nvPr/>
        </p:nvSpPr>
        <p:spPr>
          <a:xfrm>
            <a:off x="4617720" y="1874520"/>
            <a:ext cx="420624" cy="420624"/>
          </a:xfrm>
          <a:prstGeom prst="ellipse">
            <a:avLst/>
          </a:prstGeom>
          <a:solidFill>
            <a:srgbClr val="4A2D8C"/>
          </a:solidFill>
          <a:ln/>
        </p:spPr>
        <p:txBody>
          <a:bodyPr/>
          <a:p/>
        </p:txBody>
      </p:sp>
      <p:sp>
        <p:nvSpPr>
          <p:cNvPr id="12" name="Text 10"/>
          <p:cNvSpPr/>
          <p:nvPr/>
        </p:nvSpPr>
        <p:spPr>
          <a:xfrm>
            <a:off x="4617720" y="187452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4617720" y="2423160"/>
            <a:ext cx="2971800" cy="155448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Rata de atac la cei care au consumat un aliment, comparată cu cea de la cei care nu l-au consumat, arată alimentul suspect.</a:t>
            </a:r>
            <a:endParaRPr lang="en-US" sz="1600" dirty="0"/>
          </a:p>
        </p:txBody>
      </p:sp>
      <p:sp>
        <p:nvSpPr>
          <p:cNvPr id="14" name="Shape 12"/>
          <p:cNvSpPr/>
          <p:nvPr/>
        </p:nvSpPr>
        <p:spPr>
          <a:xfrm>
            <a:off x="8092440" y="1600200"/>
            <a:ext cx="3474720" cy="2468880"/>
          </a:xfrm>
          <a:prstGeom prst="roundRect">
            <a:avLst>
              <a:gd name="adj" fmla="val 3333"/>
            </a:avLst>
          </a:prstGeom>
          <a:solidFill>
            <a:srgbClr val="ECEAE4"/>
          </a:solidFill>
          <a:ln w="12700">
            <a:solidFill>
              <a:srgbClr val="ECEAE4"/>
            </a:solidFill>
            <a:prstDash val="solid"/>
          </a:ln>
        </p:spPr>
        <p:txBody>
          <a:bodyPr/>
          <a:p/>
        </p:txBody>
      </p:sp>
      <p:sp>
        <p:nvSpPr>
          <p:cNvPr id="15" name="Shape 13"/>
          <p:cNvSpPr/>
          <p:nvPr/>
        </p:nvSpPr>
        <p:spPr>
          <a:xfrm>
            <a:off x="8092440" y="1600200"/>
            <a:ext cx="3474720" cy="64008"/>
          </a:xfrm>
          <a:prstGeom prst="rect">
            <a:avLst/>
          </a:prstGeom>
          <a:solidFill>
            <a:srgbClr val="B02532"/>
          </a:solidFill>
          <a:ln w="12700">
            <a:solidFill>
              <a:srgbClr val="B02532"/>
            </a:solidFill>
            <a:prstDash val="solid"/>
          </a:ln>
        </p:spPr>
        <p:txBody>
          <a:bodyPr/>
          <a:p/>
        </p:txBody>
      </p:sp>
      <p:sp>
        <p:nvSpPr>
          <p:cNvPr id="16" name="Shape 14"/>
          <p:cNvSpPr/>
          <p:nvPr/>
        </p:nvSpPr>
        <p:spPr>
          <a:xfrm>
            <a:off x="8366760" y="1874520"/>
            <a:ext cx="420624" cy="420624"/>
          </a:xfrm>
          <a:prstGeom prst="ellipse">
            <a:avLst/>
          </a:prstGeom>
          <a:solidFill>
            <a:srgbClr val="B02532"/>
          </a:solidFill>
          <a:ln/>
        </p:spPr>
        <p:txBody>
          <a:bodyPr/>
          <a:p/>
        </p:txBody>
      </p:sp>
      <p:sp>
        <p:nvSpPr>
          <p:cNvPr id="17" name="Text 15"/>
          <p:cNvSpPr/>
          <p:nvPr/>
        </p:nvSpPr>
        <p:spPr>
          <a:xfrm>
            <a:off x="8366760" y="187452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8" name="Text 16"/>
          <p:cNvSpPr/>
          <p:nvPr/>
        </p:nvSpPr>
        <p:spPr>
          <a:xfrm>
            <a:off x="8366760" y="2423160"/>
            <a:ext cx="2971800" cy="155448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Măsurile de control se aplică cât mai devreme, fără a aștepta încheierea investigației.</a:t>
            </a:r>
            <a:endParaRPr lang="en-US" sz="1600" dirty="0"/>
          </a:p>
        </p:txBody>
      </p:sp>
      <p:sp>
        <p:nvSpPr>
          <p:cNvPr id="19" name="Text 17"/>
          <p:cNvSpPr/>
          <p:nvPr/>
        </p:nvSpPr>
        <p:spPr>
          <a:xfrm>
            <a:off x="594360" y="4297680"/>
            <a:ext cx="10972800" cy="7315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Raportorii prezintă, pe rând, alimentul suspect, forma curbei epidemice și măsura de control pe care o consideră cea mai urgentă.</a:t>
            </a:r>
            <a:endParaRPr lang="en-US" sz="1600" dirty="0"/>
          </a:p>
        </p:txBody>
      </p:sp>
      <p:sp>
        <p:nvSpPr>
          <p:cNvPr id="20" name="Shape 18"/>
          <p:cNvSpPr/>
          <p:nvPr/>
        </p:nvSpPr>
        <p:spPr>
          <a:xfrm>
            <a:off x="0" y="5166360"/>
            <a:ext cx="12191695" cy="1005840"/>
          </a:xfrm>
          <a:prstGeom prst="rect">
            <a:avLst/>
          </a:prstGeom>
          <a:solidFill>
            <a:srgbClr val="11121A"/>
          </a:solidFill>
          <a:ln w="12700">
            <a:solidFill>
              <a:srgbClr val="11121A"/>
            </a:solidFill>
            <a:prstDash val="solid"/>
          </a:ln>
        </p:spPr>
        <p:txBody>
          <a:bodyPr/>
          <a:p/>
        </p:txBody>
      </p:sp>
      <p:sp>
        <p:nvSpPr>
          <p:cNvPr id="21" name="Text 19"/>
          <p:cNvSpPr/>
          <p:nvPr/>
        </p:nvSpPr>
        <p:spPr>
          <a:xfrm>
            <a:off x="594360" y="5166360"/>
            <a:ext cx="10972800" cy="1005840"/>
          </a:xfrm>
          <a:prstGeom prst="rect">
            <a:avLst/>
          </a:prstGeom>
          <a:noFill/>
          <a:ln/>
        </p:spPr>
        <p:txBody>
          <a:bodyPr wrap="square" lIns="0" tIns="0" rIns="0" bIns="0" rtlCol="0" anchor="ctr"/>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Aceeași comunitate are nevoie atât de investigarea rapidă a unui focar, cât și de un plan de prevenție pe termen lung.</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a:t>
            </a:r>
            <a:endParaRPr lang="en-US" sz="1300" dirty="0"/>
          </a:p>
        </p:txBody>
      </p:sp>
      <p:sp>
        <p:nvSpPr>
          <p:cNvPr id="4" name="Shape 2"/>
          <p:cNvSpPr/>
          <p:nvPr/>
        </p:nvSpPr>
        <p:spPr>
          <a:xfrm>
            <a:off x="594360" y="822960"/>
            <a:ext cx="4937760" cy="329184"/>
          </a:xfrm>
          <a:prstGeom prst="roundRect">
            <a:avLst>
              <a:gd name="adj" fmla="val 50000"/>
            </a:avLst>
          </a:prstGeom>
          <a:solidFill>
            <a:srgbClr val="FF4757"/>
          </a:solidFill>
          <a:ln w="12700">
            <a:solidFill>
              <a:srgbClr val="FF4757"/>
            </a:solidFill>
            <a:prstDash val="solid"/>
          </a:ln>
        </p:spPr>
        <p:txBody>
          <a:bodyPr/>
          <a:p/>
        </p:txBody>
      </p:sp>
      <p:sp>
        <p:nvSpPr>
          <p:cNvPr id="5" name="Text 3"/>
          <p:cNvSpPr/>
          <p:nvPr/>
        </p:nvSpPr>
        <p:spPr>
          <a:xfrm>
            <a:off x="594360" y="822960"/>
            <a:ext cx="493776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BILETUL DE IEȘIRE · ANONIM · OPȚIONAL</a:t>
            </a:r>
            <a:endParaRPr lang="en-US" sz="1300" dirty="0"/>
          </a:p>
        </p:txBody>
      </p:sp>
      <p:sp>
        <p:nvSpPr>
          <p:cNvPr id="6" name="Text 4"/>
          <p:cNvSpPr/>
          <p:nvPr/>
        </p:nvSpPr>
        <p:spPr>
          <a:xfrm>
            <a:off x="594360" y="1371600"/>
            <a:ext cx="7498080" cy="822960"/>
          </a:xfrm>
          <a:prstGeom prst="rect">
            <a:avLst/>
          </a:prstGeom>
          <a:noFill/>
          <a:ln/>
        </p:spPr>
        <p:txBody>
          <a:bodyPr wrap="square" lIns="0" tIns="0" rIns="0" bIns="0" rtlCol="0" anchor="t"/>
          <a:lstStyle/>
          <a:p>
            <a:pPr indent="0" marL="0">
              <a:buNone/>
            </a:pPr>
            <a:r>
              <a:rPr lang="en-US" sz="3800" b="1" dirty="0">
                <a:solidFill>
                  <a:srgbClr val="FFFFFF"/>
                </a:solidFill>
                <a:latin typeface="Palatino Linotype" pitchFamily="34" charset="0"/>
                <a:ea typeface="Palatino Linotype" pitchFamily="34" charset="-122"/>
                <a:cs typeface="Palatino Linotype" pitchFamily="34" charset="-120"/>
              </a:rPr>
              <a:t>Două întrebări pentru final</a:t>
            </a:r>
            <a:endParaRPr lang="en-US" sz="3800" dirty="0"/>
          </a:p>
        </p:txBody>
      </p:sp>
      <p:sp>
        <p:nvSpPr>
          <p:cNvPr id="7" name="Shape 5"/>
          <p:cNvSpPr/>
          <p:nvPr/>
        </p:nvSpPr>
        <p:spPr>
          <a:xfrm>
            <a:off x="822960" y="2788920"/>
            <a:ext cx="420624" cy="420624"/>
          </a:xfrm>
          <a:prstGeom prst="ellipse">
            <a:avLst/>
          </a:prstGeom>
          <a:solidFill>
            <a:srgbClr val="FFC24B"/>
          </a:solidFill>
          <a:ln/>
        </p:spPr>
        <p:txBody>
          <a:bodyPr/>
          <a:p/>
        </p:txBody>
      </p:sp>
      <p:sp>
        <p:nvSpPr>
          <p:cNvPr id="8" name="Text 6"/>
          <p:cNvSpPr/>
          <p:nvPr/>
        </p:nvSpPr>
        <p:spPr>
          <a:xfrm>
            <a:off x="822960" y="278892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508760" y="2514600"/>
            <a:ext cx="6309360" cy="105156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Care pas al investigației vi s-a părut cel mai greu și de ce?</a:t>
            </a:r>
            <a:endParaRPr lang="en-US" sz="2000" dirty="0"/>
          </a:p>
        </p:txBody>
      </p:sp>
      <p:sp>
        <p:nvSpPr>
          <p:cNvPr id="10" name="Shape 8"/>
          <p:cNvSpPr/>
          <p:nvPr/>
        </p:nvSpPr>
        <p:spPr>
          <a:xfrm>
            <a:off x="822960" y="4023360"/>
            <a:ext cx="420624" cy="420624"/>
          </a:xfrm>
          <a:prstGeom prst="ellipse">
            <a:avLst/>
          </a:prstGeom>
          <a:solidFill>
            <a:srgbClr val="FFC24B"/>
          </a:solidFill>
          <a:ln/>
        </p:spPr>
        <p:txBody>
          <a:bodyPr/>
          <a:p/>
        </p:txBody>
      </p:sp>
      <p:sp>
        <p:nvSpPr>
          <p:cNvPr id="11" name="Text 9"/>
          <p:cNvSpPr/>
          <p:nvPr/>
        </p:nvSpPr>
        <p:spPr>
          <a:xfrm>
            <a:off x="822960" y="40233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2" name="Text 10"/>
          <p:cNvSpPr/>
          <p:nvPr/>
        </p:nvSpPr>
        <p:spPr>
          <a:xfrm>
            <a:off x="1508760" y="3749040"/>
            <a:ext cx="6309360" cy="105156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faceți diferit de mâine, dacă vedeți în aceeași zi mai mulți pacienți cu aceleași simptome și cu o expunere comună?</a:t>
            </a:r>
            <a:endParaRPr lang="en-US" sz="2000" dirty="0"/>
          </a:p>
        </p:txBody>
      </p:sp>
      <p:sp>
        <p:nvSpPr>
          <p:cNvPr id="13" name="Shape 11"/>
          <p:cNvSpPr/>
          <p:nvPr/>
        </p:nvSpPr>
        <p:spPr>
          <a:xfrm>
            <a:off x="8549640" y="2377440"/>
            <a:ext cx="3017520" cy="2651760"/>
          </a:xfrm>
          <a:prstGeom prst="roundRect">
            <a:avLst>
              <a:gd name="adj" fmla="val 3103"/>
            </a:avLst>
          </a:prstGeom>
          <a:solidFill>
            <a:srgbClr val="FFFFFF"/>
          </a:solidFill>
          <a:ln w="12700">
            <a:solidFill>
              <a:srgbClr val="FFFFFF"/>
            </a:solidFill>
            <a:prstDash val="solid"/>
          </a:ln>
        </p:spPr>
        <p:txBody>
          <a:bodyPr/>
          <a:p/>
        </p:txBody>
      </p:sp>
      <p:sp>
        <p:nvSpPr>
          <p:cNvPr id="14" name="Text 12"/>
          <p:cNvSpPr/>
          <p:nvPr/>
        </p:nvSpPr>
        <p:spPr>
          <a:xfrm>
            <a:off x="8549640" y="2377440"/>
            <a:ext cx="3017520" cy="2651760"/>
          </a:xfrm>
          <a:prstGeom prst="rect">
            <a:avLst/>
          </a:prstGeom>
          <a:noFill/>
          <a:ln/>
        </p:spPr>
        <p:txBody>
          <a:bodyPr wrap="square" lIns="228600" tIns="0" rIns="228600" bIns="0" rtlCol="0" anchor="ctr"/>
          <a:lstStyle/>
          <a:p>
            <a:pPr algn="ctr" indent="0" marL="0">
              <a:buNone/>
            </a:pPr>
            <a:r>
              <a:rPr lang="en-US" sz="1800" dirty="0" i="1">
                <a:solidFill>
                  <a:srgbClr val="585A64"/>
                </a:solidFill>
                <a:latin typeface="Palatino Linotype" pitchFamily="34" charset="0"/>
                <a:ea typeface="Palatino Linotype" pitchFamily="34" charset="-122"/>
                <a:cs typeface="Palatino Linotype" pitchFamily="34" charset="-120"/>
              </a:rPr>
              <a:t>Mentimeter: intrați pe menti.com cu codul afișat pe ecran.</a:t>
            </a:r>
            <a:endParaRPr lang="en-US" sz="1400" dirty="0"/>
          </a:p>
        </p:txBody>
      </p:sp>
      <p:sp>
        <p:nvSpPr>
          <p:cNvPr id="15" name="Text 13"/>
          <p:cNvSpPr/>
          <p:nvPr/>
        </p:nvSpPr>
        <p:spPr>
          <a:xfrm>
            <a:off x="594360" y="5440680"/>
            <a:ext cx="10972800" cy="50292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Răspunsurile apar pe ecran, anonim.</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Lucrarea practică 2 - Planul de intervenție și simularea investigării unui focar</dc:title>
  <dc:subject>PptxGenJS Presentation</dc:subject>
  <dc:creator>Conf. Univ. Dr. Adrian Pana</dc:creator>
  <cp:lastModifiedBy>Conf. Univ. Dr. Adrian Pana</cp:lastModifiedBy>
  <cp:revision>1</cp:revision>
  <dcterms:created xsi:type="dcterms:W3CDTF">2026-10-11T08:19:39Z</dcterms:created>
  <dcterms:modified xsi:type="dcterms:W3CDTF">2026-10-11T08:19:39Z</dcterms:modified>
  <cp:keywords>sursa_amprenta=985b4f3aa059a239; proiectie</cp:keywords>
</cp:coreProperties>
</file>