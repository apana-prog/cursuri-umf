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Bună ziua și bine ați venit la cursul al patrulea. Astăzi vorbim despre o secție de spital, o noapte de gardă și o vizită anunțată, adică despre leadership și management în nursing și despre managementul calității și acreditarea de către Autoritatea Națională de Management al Calității în Sănătate (ANMCS). Deschideți Mentimeter de pe telefon sau din calculator: codul este pe ecran, iar linkul e și în chat. Îl folosim pe tot parcursul cursului.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Începem cu un caz care ne însoțește tot cursul. Mara este asistentă-șefă pe secția de medicină internă a unui spital județean. Are în subordine asistenți cu experiență foarte diferită: unii lucrează pe secție de peste zece ani, alții au venit în această toamnă, imediat după facultate. În aceeași săptămână se întâmplă două lucruri. Managerul spitalului anunță că spitalul va fi evaluat de ANMCS. Iar o asistentă tânără îi spune Marei, la sfârșitul unei ture grele, că se gândește să plece din spital, pentru că „nimeni nu are timp să-i explice nimic”. Rețineți ambele vești: le urmărim până la ultimul diapozitiv.</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Cele două întâmplări par fără legătură: una ține de oameni, cealaltă de documente și de standarde. Scrieți în chat, într-o frază, dacă vedeți o legătură între ele. Legătura există și este scrisă chiar în standardele ANMCS: pe lângă protocoale și indicatori, ele cer evaluarea periodică a culturii siguranței și a calității vieții profesionale a angajaților. De aceea, cursul are două părți. În prima o privim pe Mara ca lider al echipei; în a doua, ca responsabilă de calitatea îngrijirilor de pe secție.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Prima activitate, pe Mentimeter, anonim: scrieți un singur cuvânt pentru calitatea pe care o considerați esențială la un lider în nursing. Codul este pe ecran, iar linkul e și în chat. Răspunsurile rămân pe ecran. La sfârșitul primei părți ne întoarcem la ele și vedem câte dintre cuvinte descriu un manager, câte un lider și câte pe amândoi.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Iată ce urmărim azi. Cursul are două părți, pe aceeași secție. Partea întâi privește oamenii: puterea, stilurile de leadership, inteligența emoțională, delegarea, deciziile și conflictele. Partea a doua privește calitatea îngrijirilor: cum o definim, cum o măsurăm, ce înseamnă acreditarea de către ANMCS și cum se face îmbunătățirea continuă. La examen se cer definițiile, distincțiile și clasificările. Cifrele nu se cer pe de rost, cu o singură excepție: cei cinci ani ai ciclului de acreditare și cei cinci ani de valabilitate a certificatului. Le veți întâlni spre final.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Pornim de la o distincție din cursul trecut. Managementul a fost definit prin cele patru funcții ale lui, iar leadershipul ca o relație de influență între oameni care depind unii de alții pentru atingerea unui obiectiv comun. Managerii sunt, de regulă, numiți în funcție; liderii apar prin acceptarea celor care îi urmează. Mara este manager pentru că a fost numită asistentă-șefă. Devine lider numai dacă echipa o urmează și atunci când nu este de față. Diferența se vede în întrebări: managerul întreabă cum și când, liderul întreabă ce și de ce. Managementul menține ordinea de zi cu zi; leadershipul face posibilă schimbarea. Secția are nevoie de amândouă.</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s-a ajuns la această idee? Primele cercetări sistematice despre leadership au căutat trăsăturile care îl deosebesc pe lider de ceilalți, pornind de la teoria „marelui om”, potrivit căreia unii oameni se nasc cu însușirile necesare unui mare lider. Trăsăturile nu explică însă de ce același om conduce bine într-o situație și prost în alta. Atenția s-a mutat întâi pe ce face liderul, adică pe comportamentul lui, apoi pe potrivirea dintre lider și situație. Teoriile mai noi privesc liderul care transformă valorile și motivația echipei și liderul care conduce slujindu-i pe ceilalți. Succesiunea este o simplificare: teoriile se suprapun în timp. Anii și autorii nu se evaluează.</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îi face un lider pe ceilalți să-l urmeze? Prin putere, adică prin sursa influenței lui. John French și Bertram Raven au descris cinci surse. Puterea de recompensă: asistenta-șefă propune un coleg pentru un curs. Puterea coercitivă: sancțiunea, observația scrisă. Puterea de referință: oamenii îl urmează pentru că îl admiră. Puterea de expert: colegii vin la el când nu reușesc o puncție venoasă dificilă. Puterea legitimă: funcția din organigramă și din fișa postului. Sursele nu sunt la fel de eficace: puterea de referință tinde să le amplifice pe celelalte, iar puterea coercitivă tinde să le slăbească. Pentru Mara, consecința practică este că va obține mai mult prin competență și respect decât prin funcție și sancțiuni.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verificăm pe Mentimeter. Un asistent cu cincisprezece ani de experiență, fără nicio funcție, este căutat de toți colegii la un pacient instabil. Ce putere are în primul rând? Gândiți-vă la cele cinci surse de pe diapozitivul anterior. Votați fără să vedeți votul celorlalți; linkul e și în chat.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bună este B, puterea de expert. Nu are putere legitimă, pentru că nu are nicio funcție. Nu are nici putere de recompensă, pentru că nu poate acorda recompense. Influența lui vine din cunoștințele pe care colegii știu că le are și pe care este dispus să le împărtășească. Exemplul ilustrează o idee de pe diapozitivul cu managerul și liderul: influența nu vine numai din funcție. Trecem acum de la sursele puterii la stilurile de conducere.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stil: leadershipul transformațional. Liderul transformațional nu obține schimbarea prin recompense oferite în schimbul efortului, cum face liderul tranzacțional, ci îi inspiră pe ceilalți prin valorile, viziunea, pasiunea și angajamentul lui. Are patru componente: influența idealizată, adică liderul este un model; motivația inspirațională, o viziune atrăgătoare a ce ar putea deveni echipa; stimularea intelectuală, adică pune la îndoială obiceiurile stabilite; și considerația individualizată, grija pentru dezvoltarea fiecăruia. În nursing, stilul se potrivește momentelor de schimbare: reorganizarea unei secții, introducerea unui protocol nou. Riscul lui este dependența echipei de lider: când liderul pleacă, entuziasmul poate pleca odată cu 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 afirmație pe care o auziți des: „leadershipul transformațional îmbunătățește rezultatele pacienților”. Scrieți în chat dacă o credeți și de ce. Decul cursului citează studii despre această legătură, dar ele nu au fost citite pentru acest curs, așa că notele nu afirmă legătura. Ce știm din cursul trecut este altceva: numărul de pacienți pe asistent se asociază cu rezultatele pacienților. Este o asociere, fără dovada unei relații cauzale. Distincția dintre asociere și cauză contează ori de câte ori cineva vă spune că o schimbare de stil va salva pacienți.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stil: leadershipul situațional. Ideea de bază este că nu există un stil unic, bun în orice situație. Între teoriile situaționale se numără modelul ciclului de viață, atribuit lui Paul Hersey și Kenneth Blanchard. Criteriul este pregătirea celui condus pentru sarcina respectivă: capacitatea, motivația și angajamentul lui. Cine nu are încă această pregătire are nevoie, de regulă, de un stil mai directiv. Decul cursului descrie patru stiluri: directiv, de îndrumare, participativ și delegativ; ele nu se evaluează, dar ne ajută să gândim. Greșeala frecventă a asistentului-șef nu este un stil „rău”, ci același stil cu toată lumea: controlul strâns îi demotivează pe experți, iar libertatea deplină îi lasă singuri pe începători.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aplicăm. Patru situații de pe secția Marei. Prima: o asistentă venită acum o săptămână pregătește o perfuzie cu un medicament pe care nu l-a mai administrat. A doua: un asistent cu opt luni de practică montează primele catetere urinare la pacienți dificili; este dornic să învețe, dar mai greșește. A treia: echipa experimentată trece la o fișă nouă de evaluare a riscului de cădere și se teme că îi ia timp de la pacienți. A patra: o asistentă cu doisprezece ani pe secție coordonează instruirea colegilor pentru evaluarea ANMCS. Alegeți o situație și scrieți în chat, într-o frază, ce stil i se potrivește și de ce. Citiți și argumentele colegilor care au ales altfel, apoi votați pe Mentimeter varianta care potrivește stilurile cu situațiile.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Iată potrivirea: directiv, de îndrumare, participativ, delegativ. Asistenta din prima săptămână nu știe încă și nu este sigură pe sine: are nevoie de instrucțiuni clare, pas cu pas, și de supraveghere atentă. Asistentul cu opt luni de practică vrea, dar nu știe încă destul: explicații, întrebări deschise, încurajare. Echipa experimentată știe, dar ezită: decizia se ia împreună, cu sprijin și resurse. Asistenta cu doisprezece ani știe și vrea: primește obiective și termene clare și libertate în execuție. Rețineți ideea, nu etichetele: același om poate avea nevoie de stiluri diferite pentru sarcini diferite. Asistenta tânără care vrea să plece din spitalul Marei este, cel mai probabil, în a doua situație.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treilea stil: liderul „în slujba celorlalți”, formulat de Robert Greenleaf, pentru care leadershipul decurge în mod firesc din serviciu. Un astfel de lider renunță la laudele personale și se dedică unei cauze mai mari decât el. Patru trăsături sunt centrale: serviciul înaintea interesului propriu, ascultarea celorlalți, câștigarea încrederii și grija pentru dezvoltarea lor. Întrebarea prin care decul cursului rezumă stilul este dacă oamenii conduși devin, cu timpul, mai sănătoși, mai liberi, mai autonomi și mai dispuși să-i servească pe alții. În nursing se potrivește echipelor stabile și mature, îngrijirilor paliative, îndrumării colegilor noi. Limita lui este viteza: în urgență nu este timp să asculți pe toată lumea.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Tabelul pune cele trei stiluri alături. Stilul transformațional urmărește viziunea și inspirarea echipei; se potrivește schimbării și crizei; punctul lui tare este angajamentul și inovația, iar limita, dependența de lider. Stilul situațional urmărește potrivirea stilului cu omul; se potrivește aproape oriunde, dacă este aplicat corect; aduce flexibilitate, dar cere evaluarea continuă a fiecărui om. Stilul „în slujba celorlalți” urmărește binele celorlalți; se potrivește echipelor mature; aduce încredere și loialitate, cu prețul unei decizii lente. Tabelul este o sinteză didactică și nu conține date. Pentru curioși, decul cursului prezintă și șase stiluri emoționale, care nu se evaluează.</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termen nou al cursului: inteligența emoțională. Gândiți-vă la o tură în care un pacient o insultă pe Mara, un medic îi contestă o decizie și o colegă plânge în camera de gardă. Cunoștințele clinice nu o ajută în asemenea momente. O ajută inteligența emoțională: capacitatea de a recunoaște, de a înțelege, de a lua în seamă și de a gestiona propriile emoții și emoțiile celorlalți. Are patru componente: conștiința de sine, adică îți recunoști emoțiile și efectul lor asupra deciziilor; stăpânirea de sine, adică îți controlezi emoțiile potrivit situației; empatia, adică înțelegi emoțiile celorlalți; și abilitățile sociale, adică gestionezi latura emoțională a relațiilor.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Iată cele patru componente pe secție. Scrieți în chat exemplul în care v-ați recunoscut cel mai ușor. Conștiința de sine: asistenta observă că este iritată de un pacient dificil și se oprește o clipă înainte să-i răspundă. Stăpânirea de sine: asistenta coordonatoare rămâne calmă la o resuscitare și dă indicații clare. Empatia: vede o colegă nouă copleșită și îi propune o discuție, fără să o judece. Abilitățile sociale: asistenta-șefă mediază conflictul dintre un medic rezident și o asistentă cu experiență. Managerii care își cunosc emoțiile le pot folosi în decizii, iar cei care înțeleg emoțiile celorlalți pot ajuta grupurile să lucreze mai bine. Inteligența emoțională se poate dezvolta, cel puțin în parte, prin exercițiu; cât de mult rămâne o întrebare deschisă.</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 Mentimeter, anonim, o scală de la unu la cinci: cât de confortabil v-ați simți să gestionați un conflict între doi colegi din echipa de îngrijire? Aici nu există variantă bună sau greșită. Să privim distribuția voturilor: disconfortul este frecvent, iar abilitatea se exersează, nu se are de la sine.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cazul de noapte. Este noaptea de joi, pe secția Marei. În tură sunt două asistente, Ana, cu opt ani de experiență, care coordonează tura, și Ioana, venită de trei luni, și o infirmieră, Elena. Au în grijă optsprezece pacienți. Un pacient începe să respire greu, iar saturația lui scade la optzeci și doi la sută. În același timp, un alt pacient are nevoie urgent de o transfuzie. Medicul de gardă acoperă și secția vecină și este, în acel moment, acolo. Ce face Ana? Scrieți în chat prima ei mișcare. Situația cere trei decizii: cine se ocupă de fiecare pacient, cât discută Ana cu colegele înainte să decidă și cum îi explică fiecăreia ce are de făcut.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 să judecăm ce face Ana, avem nevoie de un cuvânt precis: delegarea. Ghidul pentru delegarea în nursing, adoptat în 2019 de Consiliul Național al Consiliilor de Stat de Nursing (NCSBN) și de Asociația Americană a Asistenților Medicali (ANA), o definește ca permisiunea dată unei persoane de a efectua o activitate de îngrijire specifică, care depășește rolul ei obișnuit. Cel care primește activitatea răspunde de executarea ei, dar asistentul medical care o deleagă păstrează răspunderea de ansamblu pentru pacient. Judecata profesională de îngrijire nu se deleagă: evaluarea pacientului și deciziile despre planul lui de îngrijire rămân la asistentul medical. Ghidul este american; în România, principiile lui se aplică în limitele reglementărilor profesiei și ale fișei postului.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Trei cuvinte se confundă ușor. Repartizarea privește îngrijirile de rutină, care intră în rolul obișnuit al celui care le primește. Delegarea privește o activitate care depășește acest rol, pentru care persoana a primit instruire suplimentară și și-a dovedit competența. Predarea înseamnă că răspunderea pentru îngrijirea unui pacient trece de la un asistent medical la altul. Ghidul nu se aplică predării: predarea nu este delegare. Țineți minte această distincție; o folosim imediat în cazul de noapte.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decide asistentul medical dacă o activitate poate fi delegată? Ghidul cere cinci condiții, numite „cele cinci drepturi ale delegării”. Sarcina potrivită: activitatea intră în fișa postului sau în procedurile scrise ale unității. Împrejurarea potrivită: pacientul este stabil; dacă starea lui se schimbă, persoana anunță asistentul medical, care reevaluează situația. Persoana potrivită: are cunoștințele și abilitățile necesare. Instrucțiunile potrivite: ce date se culeg, cum și când se raportează. Supravegherea potrivită: asistentul urmărește executarea, intervine la nevoie și evaluează rezultatul. Comunicarea merge în ambele sensuri: cel care primește pune întrebări de clarificare, acceptă sarcina și nu modifică nimic fără să-l consulte pe cel care i-a delegat-o.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un joc de rol, cu doi voluntari. Anunțați-vă cu reacția „mână ridicată” din Teams; cei doi vorbesc cu microfonul deschis, unul în rolul Anei, celălalt în rolul Ioanei. Ana îi repartizează Ioanei pacientul cu transfuzia și pleacă la pacientul cu dificultăți de respirație. Ceilalți urmăriți patru lucruri și notați în chat ce a lipsit: i-a spus Ana Ioanei ce urmărește, la ce interval, ce o face să sune imediat și când revine? Apoi votăm pe Mentimeter.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Întrebarea de pe Mentimeter: Ana îi repartizează Ioanei pacientul cu transfuzia. Este aceasta o delegare? Gândiți-vă la cele trei cuvinte de mai devreme, repartizare, delegare și predare, și la cine sunt cele două persoane. Votați fără să vedeți votul celorlalți.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bună este B: nu. Între două asistente medicale, transferul îngrijirii unui pacient este o predare, iar ghidul nu se aplică predării unui pacient de la un asistent medical la altul. Delegarea apare abia dacă Ana i-ar încredința Elenei, infirmiera, o activitate care îi depășește rolul obișnuit. Atunci Ana ar verifica cele cinci condiții: sarcina, împrejurarea, persoana, instrucțiunile și supravegherea. Scrieți în chat ce ar verifica întâi Ana în acest caz. Aici nu există o singură soluție bună; contează raționamentul.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lucru pe care îl face Ana este să decidă. Decul cursului deosebește trei moduri de a lua decizii. Modul rațional merge în pași succesivi, de la definirea problemei și culegerea datelor până la alegere, aplicare și evaluarea rezultatului; funcționează bine când există timp și date. Modul intuitiv se bazează pe experiență: expertul recunoaște repede tiparul situației; cercetătoarea Patricia Benner a descris trecerea asistentului medical de la începător la expert. Al treilea mod privește gradul de participare a echipei, de la decizia luată singur la decizia de grup; modelul lui Vroom, Yetton și Jago îl alege după cât de bună trebuie să fie decizia, cât contează acceptarea ei și cât timp este disponibil. În urgență decide cel care coordonează; un program nou al turelor se decide împreună.</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 întoarcem la noaptea de joi. Ana decide singură, pentru că nu este timp de consultare. Se duce ea la pacientul care respiră greu, pentru că evaluarea lui cere judecată clinică, iar judecata clinică nu se deleagă. Pacientul cu transfuzia îi revine Ioanei: între două asistente medicale, este o predare. Ana se asigură că pacientul este stabil și că Ioana știe exact ce semne urmărește și când o cheamă. Pentru Elena, Ana se întreabă întâi dacă activitatea este rutina infirmierei, adică o repartizare, sau o depășește; numai în al doilea caz este delegare, cu cele cinci condiții. Îl cheamă imediat pe medicul de gardă, printr-un mesaj structurat: situația, contextul, evaluarea și recomandarea. Față de Ioana, în noaptea aceea, Ana folosește un stil directiv.</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Ultimul subiect al primei părți: conflictele. Sunt inevitabile într-o echipă care lucrează sub presiune, cu profesii diferite și cu ture care se succed. Kenneth Thomas a descris cinci moduri de abordare a conflictului. Competiția este utilă când este nevoie de o acțiune rapidă și hotărâtă, de exemplu în urgență, cu riscul de a strica relațiile. Colaborarea se potrivește când preocupările ambelor părți sunt prea importante pentru un compromis. Compromisul dă o soluție temporară, sub presiunea timpului, între părți cu putere egală. Evitarea este utilă când problema este neînsemnată sau când oamenii au nevoie să se calmeze. Acomodarea, când descoperim că greșim sau când armonia echipei contează mai mult. Niciun stil nu este bun întotdeauna.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 Mentimeter: de trei săptămâni, doi asistenți se ceartă pe împărțirea saloanelor în tura de zi. Amândoi au argumente bune, iar conflictul afectează toată echipa. Ce stil se potrivește cel mai bine: evitarea, competiția sau colaborarea? Uitați-vă la cât durează conflictul și cât de important este. Votați fără să vedeți votul celorlalți.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bună este C, colaborarea. Conflictul este important, durează de trei săptămâni, are argumente de ambele părți, iar timpul permite o soluție care să țină seama de amândoi. Evitarea ar lăsa problema să crească; competiția ar strica relațiile. Concluzia se generalizează: asistenta-șefă care evită orice conflict lasă problemele să crească, iar cea care câștigă orice conflict își pierde echipa.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privim din nou norul de cuvinte de la început. Cuvinte precum „empatie”, „calm”, „încredere” sau „ascultare” descriu inteligența emoțională și puterea de referință. „Organizare” și „corectitudine” descriu managementul. Scrieți în chat ce cuvânt din nor vă surprinde acum. Concluzia primei părți este simplă: nu există un singur stil corect, ci stilul potrivit situației. Facem o scurtă oprire, apoi continuăm cu partea a doua, despre calitate.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Bine ați revenit. Partea a doua se petrece pe aceeași secție. Managerul spitalului îi cere Marei să pregătească secția pentru evaluarea ANMCS. Prima ei întrebare este cea pe care și-ar pune-o orice asistent medical: ce înseamnă, de fapt, că îngrijirile de pe secție sunt „de calitate”? Și cine decide asta? Scrieți în chat, în câteva cuvinte, ce înseamnă pentru voi o îngrijire de calitate.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Există două feluri de a defini calitatea. Legea nr. 185/2017 privind asigurarea calității în sistemul de sănătate dă o definiție juridică: calitatea este nivelul de conformare a serviciilor de sănătate la cerințele standardelor ANMCS, pentru a asigura pacienților cel mai bun rezultat, la cel mai bun cost, cu cel mai mic risc iatrogen. În sensul legii, calitatea se măsoară prin cât de mult respectă serviciile aceste cerințe. Definițiile internaționale pornesc de la rezultatele pentru pacient. Institutul de Medicină al Statelor Unite ale Americii a definit, în 1990, calitatea îngrijirii ca măsura în care serviciile cresc probabilitatea rezultatelor de sănătate dorite și sunt în acord cu cunoștințele profesionale actuale. Comparați cuvintele din chat cu cele două definiții.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2001, același institut a propus șase obiective de îmbunătățire, pe care multe organizații le-au preluat ca șase dimensiuni ale calității. Îngrijirea de calitate este sigură, adică evită vătămarea pacienților prin chiar îngrijirea care ar trebui să-i ajute; eficace, bazată pe dovezi, pentru toți cei care pot beneficia; centrată pe pacient, cu respect pentru preferințele, nevoile și valorile lui; promptă, fără așteptări care fac rău; eficientă, fără risipă; și echitabilă, de aceeași calitate indiferent de sex, etnie, loc de rezidență sau situație socio-economică. Observatorul European al Sistemelor și Politicilor de Sănătate notează că pare să se contureze un consens: calitatea înseamnă servicii eficace, sigure și centrate pe oameni.</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măsurăm calitatea? Modelul lui Avedis Donabedian, propus în 1966, este larg acceptat: structură, proces, rezultat. Structura cuprinde caracteristicile locului de îngrijire: resursele materiale, intelectuale și umane. Pe secția Marei: câți asistenți sunt în fiecare tură, ce pregătire au, dacă există saltele pentru prevenirea escarelor și protocoale scrise. Procesul este ce se face efectiv: dacă riscul de escare este evaluat la internare, dacă se respectă igiena mâinilor, dacă planul de îngrijire este completat. Rezultatul descrie efectele asupra sănătății: escarele apărute în spital, căderile, infecțiile asociate asistenței medicale, satisfacția, reinternările. O structură bună face posibil un proces bun; un proces bun face probabil un rezultat bun. Probabil, nu sigur: rezultatul depinde și de cât de bolnav era pacientul la internare.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Unii indicatori depind în primul rând de munca asistenților medicali; îi numim indicatori sensibili la îngrijirile de nursing. Îi ordonăm după modelul lui Donabedian. De structură: numărul de ore de îngrijire pe pacient și pe zi, proporția asistenților medicali în totalul personalului de îngrijire, nivelul de pregătire. De proces: evaluarea riscului de escare și de cădere la internare, completarea planurilor de îngrijire. De rezultat: escarele apărute în spital, căderile pacienților, infecțiile asociate cateterelor venoase centrale și urinare, satisfacția pacienților față de îngrijire. Lista este o sinteză didactică. Gândiți-vă care dintre acești indicatori se culeg chiar acum pe secția din stagiul vostru.</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 Mentimeter: „proporția pacienților cu risc de escare la care riscul a fost evaluat în primele ore de la internare”. Ce fel de indicator este: de structură, de proces sau de rezultat? Gândiți-vă ce numără, de fapt, indicatorul. Votați fără să vedeți votul celorlalți.</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bună este B, de proces. Indicatorul măsoară dacă s-a făcut un lucru care trebuia făcut: evaluarea riscului la internare. Nu este de structură, pentru că nu măsoară resursele secției. Nu este de rezultat, pentru că nu numără escarele apărute. Ca să deosebiți procesul de rezultat, întrebați-vă dacă indicatorul descrie o acțiune a echipei sau efectul îngrijirii asupra pacientului.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Trecem de la măsurarea internă la evaluarea externă, care are trei forme principale. Acreditarea este evaluarea externă a unei organizații de către un organism de acreditare, încheiată cu recunoașterea publică a faptului că organizația respectă standarde stabilite dinainte. Certificarea se folosește, de regulă, pentru conformitatea cu standardele Organizației Internaționale de Standardizare (ISO). Supravegherea urmărește standardele minime cerute pentru înregistrare, autorizare sau licențiere. Pe scurt: autorizarea spune că unitatea are voie să funcționeze; acreditarea, că respectă standardele de calitate și siguranță. Organizațiile de acreditare sunt evaluate, la rândul lor, de Societatea Internațională pentru Calitate în Sănătate (ISQua); potrivit datelor ISQua din 2018, între programele acreditate se afla și cel din România.</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 Mentimeter: spitalul primește un certificat ISO 9001 pentru sistemul lui de management al calității. Ce formă de evaluare externă este: acreditarea de către ANMCS, certificarea sau autorizarea de funcționare? Uitați-vă după ce standard se face evaluarea. Votați fără să vedeți votul celorlalți.</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bună este B, certificarea. Evaluarea privește conformitatea cu un standard ISO. Nu este acreditarea unității de către ANMCS, după standardele ANMCS, și nici dreptul de a funcționa, care ține de autorizare. Terminologia nu este însă uniformă: ce se numește certificare într-o țară poate fi numit acreditare în alta. De aceea, la examen contează distincția, nu doar cuvântul. Trecem acum la instituția care acreditează în România.</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este ANMCS? Potrivit Legii nr. 185/2017, este o instituție publică, organ de specialitate al administrației publice centrale, în subordinea Guvernului și în coordonarea prim-ministrului. Legea o definește ca autoritatea de standardizare și evaluare imparțială a serviciilor de sănătate, de acreditare și monitorizare a unităților sanitare. Cine răspunde însă de calitate? Potrivit legii, asigurarea calității serviciilor și a siguranței pacientului este responsabilitatea unităților sanitare. Acreditarea este obligatorie, cu excepțiile din lege: cabinetele de medicină de familie, cabinetele medicale dentare, unele cabinete din ambulatoriul de specialitate și laboratoarele de analize medicale și de anatomie patologică. Pe scurt: ANMCS verifică și recunoaște calitatea; spitalul și oamenii lui o produc.</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termen nou al cursului: acreditarea unităților sanitare, în definiția Legii nr. 185/2017. Este procesul de validare a conformității serviciilor de sănătate ale unei unități cu standardele ANMCS. În urma lui, unitățile sunt clasificate pe categorii de acreditare, pentru a conferi încredere în competența lor tehnico-profesională și organizatorică. Pe scurt: acreditarea nu spune doar că un spital are voie să funcționeze, ci că serviciile lui respectă standardele adoptate de ANMCS. Pe ecran este textul legii; la examen se cere sensul lui.</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Acesta este singurul diapozitiv cu cifre care se cer la examen. Legea definește două durate de cinci ani, ușor de confundat. Ciclul de acreditare este intervalul de 5 ani în care se folosește o ediție a standardelor ANMCS; poate fi prelungit în situații de epidemii, pandemii, cataclisme, dezastre naturale sau catastrofe. Perioada de acreditare este perioada de 5 ani de valabilitate a certificatului de acreditare al unei unități sanitare. Două reguli contează pentru secția Marei: indiferent de data înscrierii, evaluarea se face după standardele în vigoare la data evaluării, iar o unitate acreditată cere o nouă acreditare cu cel puțin 6 luni înainte de expirarea certificatului.</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sunt organizate standardele ANMCS? Pe patru niveluri: referința, care grupează standarde, criterii și cerințe cu același domeniu de aplicare; standardul, un nivel de performanță realizabil și măsurabil; criteriul, obiectivul specific de realizat; și cerința, acțiunea care trebuie întreprinsă. Ediția a III-a, pentru unitățile sanitare cu paturi, valabilă pentru al treilea ciclu de acreditare, a fost aprobată prin Ordinul președintelui ANMCS nr. 139, publicat în Monitorul Oficial nr. 808 bis din 23.09.2026. Ca și ediția a II-a, din 2017, are trei referințe: managementul strategic și organizațional, managementul clinic și etica medicală și drepturile pacientului. Formula „șase domenii” nu descrie structura standardelor ANMCS.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înseamnă concret aceste standarde pe secție? Câteva cerințe din ediția a III-a. Unitatea trebuie să aibă un sistem de management al calității care coordonează monitorizarea, evaluarea și îmbunătățirea. Trebuie să evalueze periodic cultura siguranței, cu un instrument standardizat, și să folosească rezultatele. Trebuie să evalueze experiența pacienților și a aparținătorilor, prin metode accesibile și confidențiale, și să analizeze sesizările și reclamațiile. Și trebuie să aibă un program de audit clinic, prioritizat după riscuri și rezultate, cu echipe care includ obligatoriu medici, asistenți medicali și farmaciști. Scrieți în chat pe care dintre acestea l-ați văzut deja pe o secție. Anexa citată nu precizează de la ce dată se evaluează spitalele după ediția a III-a.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Cum decurge acreditarea? Procedura aprobată în 2017 pentru al doilea ciclu are trei etape. Pregătirea evaluării: spitalul se înscrie, ANMCS planifică vizita și echipa de evaluatori, iar spitalul face autoevaluarea, adică își analizează serviciile și indicatorii și comunică concluziile către ANMCS. Evaluarea: comisia analizează documentele, observă direct activitatea, fără să o perturbe, organizează discuții de grup și interviuri și simulează unele procese pentru identificarea riscurilor clinice. Acreditarea: pe baza documentelor se întocmește raportul de acreditare, iar președintele ANMCS emite ordinul de acreditare sau de neacreditare. Apoi urmează monitorizarea și, la nevoie, reevaluarea. Procedura pentru ciclul al treilea nu a fost citită pentru acest curs.</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Asistentul medical nu este un spectator al acreditării: o bună parte din ce verifică evaluatorii este munca lui de fiecare zi. Decul cursului numește cinci contribuții. Documentarea corectă și completă a îngrijirilor: foaia de observație, planul de îngrijire, evidența medicației. Aplicarea protocoalelor și a listelor de verificare: prevenirea căderilor și a escarelor, transfuzia, montarea cateterelor. Participarea la auditul intern și la echipele de autoevaluare. Culegerea și raportarea indicatorilor: infecțiile, căderile, satisfacția pacienților. Și cultura calității: raportarea erorilor fără teama de pedeapsă și învățarea din evenimentele adverse. Reperul pentru un audit al practicii pot fi procedurile de practică pentru asistenții medicali generaliști, aprobate prin ordin al ministrului sănătății.</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Exercițiu, fiecare în chat. Evaluatorii ANMCS vin pe secția Marei. Ce trei lucruri ar putea observa direct, fără să citească niciun document, ca să afle dacă îngrijirile sunt sigure? Scrieți lista în chat, într-un singur mesaj. Apoi citim câteva liste și clasificăm împreună fiecare lucru: ține de structură, de proces sau de rezultat? Vă ajută modelul lui Donabedian și faptul că evaluarea ANMCS include observarea directă a activității.</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Evaluarea externă spune unde se află secția; îmbunătățirea o face echipa. Cel mai influent cadru pentru îmbunătățirea calității este ciclul PDCA, după inițialele în limba engleză ale celor patru etape: planifică, execută, verifică, acționează. Metoda vine din proiectarea industrială, de la Walter Shewhart și Edward Deming. Planifică: identifici problema, măsori situația de pornire, stabilești un obiectiv măsurabil și alegi schimbarea de încercat. Execută: aplici planul întâi la scară mică, cu culegerea datelor. Verifică: urmărești rezultatele și afli dacă planul a funcționat. Acționează: planul se modifică, iar ciclul reîncepe. Legătura cu cursul trecut: etapa „verifică” este controlul retroactiv, iar „acționează” deschide un nou ciclu de planificare.</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exemplu, cu valori ipotetice. Pe o secție, 3,2% dintre administrările de medicamente urmărite au avut o eroare. Planifică: echipa, cu farmacistul, un medic și responsabilul cu calitatea, urmărește drumul medicamentului și găsește, cu o diagramă cauză–efect, patru cauze: întreruperile în timpul pregătirii, medicamentele cu nume sau ambalaje asemănătoare, lipsa verificării duble și comunicarea deficitară la predarea turei. Alege verificarea dublă obligatorie pentru medicamentele cu risc mare. Execută: trei luni, pe o singură secție. Verifică: erorile scad la 0,8%. Acționează: schimbarea devine procedură pentru tot spitalul, iar echipa alege următoarea problemă. Cifrele sunt construite; o scădere se interpretează numai dacă erorile au fost înregistrate la fel, înainte și după schimbare.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Rândul vostru, în chat. Pe secția Marei, pacienții se plâng că așteaptă mult la sonerie în tura de noapte. Construiți un ciclu PDCA, câte o frază pentru fiecare etapă: ce măsurați la început, ce schimbare încercați, cum verificați și ce faceți dacă nu a mers. Scrieți ciclul într-un singur mesaj, cu literele P, D, C și A în față. Apoi citim un ciclu din chat și căutăm împreună etapa la care lipsește o măsurătoare.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 altă formă a aceleiași idei este auditul clinic. El le arată profesioniștilor cum se situează practica lor față de un reper; pentru că își apreciază cu greu, singuri, propria performanță, această informație îi poate motiva să-și schimbe practica. Standardele ANMCS cer ca auditul clinic să evalueze practica după criterii explicite, să ducă la măsuri de îmbunătățire și să verifice efectul lor prin reevaluare. Etapele, ca convenție a cursului: tema, standardul, datele, comparația, apoi schimbarea și reauditarea. În exemplul din note, cu valori ipotetice, evaluarea completă a riscului de escare apare în 34 din 50 de dosare, adică 68%, față de standardul de 100%. Un audit fără reauditare a măsurat, dar nu a îmbunătățit nimic.</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Pentru analiza problemelor de calitate se folosesc șapte instrumente simple. Diagrama cauză–efect, numită și diagrama Ishikawa sau „os de pește”, caută cauzele unei probleme. Diagrama Pareto ordonează cauzele după frecvență, pornind de la observația că puține cauze produc cea mai mare parte a efectelor. Histograma reprezintă distribuția valorilor, diagrama de dispersie, relația dintre două variabile, iar fișa de control urmărește un proces în timp. Diagrama de flux reprezintă pașii unui proces, iar foaia de înregistrare servește la culegerea datelor la locul îngrijirii. La lucrarea practică veți folosi câteva dintre ele într-o simulare de audit. Metodele Six Sigma și Lean și tabloul de bord echilibrat sunt în note, pentru curioși.</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Cazul se închide unde a început. Evaluatorii ANMCS vor verifica protocoale, dosare și indicatori. Acești indicatori sunt produși însă, zi de zi, de oameni care rămân în spital, care știu ce au de făcut și care raportează o greșeală fără teamă. De aceea, standardele ANMCS cer evaluarea periodică a culturii siguranței și a calității vieții profesionale a angajaților, cu măsuri de îmbunătățire. Conversația Marei cu asistenta tânără care vrea să plece face parte, astfel, și ea din pregătirea secției pentru acreditare. Cele două vești de la începutul cursului se întâlnesc aici.</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faceți diferit de mâine, în stagiu sau la primul loc de muncă? Alegeți una dintre cele trei situații și scrieți-o în chat. Când delegați sau vi se deleagă o activitate, verificați cele cinci condiții și dați sau solicitați instrucțiuni care spun ce se urmărește și când se sună. Când nu sunteți de acord cu un coleg, întrebați-vă ce stil folosiți: evitați, cedați, impuneți sau colaborați, și dacă stilul se potrivește situației. Când documentați o îngrijire, gândiți-vă că documentul este dovada procesului: ce nu este scris, pentru un audit sau pentru o evaluare ANMCS, nu s-a făcut.</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Recapitulăm în șase idei. Managerul este numit; liderul este acceptat. Stilul se alege după pregătirea celui condus. Cine deleagă rămâne răspunzător de pacient, iar predarea între doi asistenți medicali nu este delegare. Conflictele se abordează prin competiție, colaborare, compromis, evitare sau acomodare, după situație. Calitatea este, potrivit Legii nr. 185/2017, nivelul de conformare la standardele ANMCS și se analizează prin structură, proces și rezultat. Acreditarea o face ANMCS, pe cicluri de cinci ani, cu un certificat valabil cinci ani și cu standarde organizate în trei referințe; îmbunătățirea continuă folosește ciclul PDCA.</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 cinci minute înainte de final, biletul de ieșire, anonim, pe Mentimeter: ce a fost util, unde v-am pierdut și ce ați putea folosi mâine. Linkul e și în chat; nu aveți nevoie de cont. Răspunsurile se citesc înaintea cursului următor. Vă mulțumesc pentru participare.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SPM_AMGIV/active/img/spital_judetean_timisoara_commons.jpg">    </p:cNvPr>
          <p:cNvPicPr>
            <a:picLocks noChangeAspect="1"/>
          </p:cNvPicPr>
          <p:nvPr/>
        </p:nvPicPr>
        <p:blipFill>
          <a:blip r:embed="rId1"/>
          <a:srcRect l="12654" r="12654" t="0" b="0"/>
          <a:stretch/>
        </p:blipFill>
        <p:spPr>
          <a:xfrm>
            <a:off x="6705295" y="0"/>
            <a:ext cx="5486400" cy="6858000"/>
          </a:xfrm>
          <a:prstGeom prst="rect">
            <a:avLst/>
          </a:prstGeom>
        </p:spPr>
      </p:pic>
      <p:sp>
        <p:nvSpPr>
          <p:cNvPr id="3" name="Shape 0"/>
          <p:cNvSpPr/>
          <p:nvPr/>
        </p:nvSpPr>
        <p:spPr>
          <a:xfrm>
            <a:off x="640080" y="731520"/>
            <a:ext cx="4480560" cy="329184"/>
          </a:xfrm>
          <a:prstGeom prst="roundRect">
            <a:avLst>
              <a:gd name="adj" fmla="val 50000"/>
            </a:avLst>
          </a:prstGeom>
          <a:solidFill>
            <a:srgbClr val="FF4757"/>
          </a:solidFill>
          <a:ln w="12700">
            <a:solidFill>
              <a:srgbClr val="FF4757"/>
            </a:solidFill>
            <a:prstDash val="solid"/>
          </a:ln>
        </p:spPr>
        <p:txBody>
          <a:bodyPr/>
          <a:p/>
        </p:txBody>
      </p:sp>
      <p:sp>
        <p:nvSpPr>
          <p:cNvPr id="4" name="Text 1"/>
          <p:cNvSpPr/>
          <p:nvPr/>
        </p:nvSpPr>
        <p:spPr>
          <a:xfrm>
            <a:off x="640080" y="731520"/>
            <a:ext cx="448056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CURSUL AL PATRULEA · AMG, ANUL IV</a:t>
            </a:r>
            <a:endParaRPr lang="en-US" sz="1300" dirty="0"/>
          </a:p>
        </p:txBody>
      </p:sp>
      <p:sp>
        <p:nvSpPr>
          <p:cNvPr id="5" name="Text 2"/>
          <p:cNvSpPr/>
          <p:nvPr/>
        </p:nvSpPr>
        <p:spPr>
          <a:xfrm>
            <a:off x="640080" y="1325880"/>
            <a:ext cx="5760720" cy="146304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O secție, o noapte și o vizită anunțată</a:t>
            </a:r>
            <a:endParaRPr lang="en-US" sz="3600" dirty="0"/>
          </a:p>
        </p:txBody>
      </p:sp>
      <p:sp>
        <p:nvSpPr>
          <p:cNvPr id="6" name="Text 3"/>
          <p:cNvSpPr/>
          <p:nvPr/>
        </p:nvSpPr>
        <p:spPr>
          <a:xfrm>
            <a:off x="640080" y="2834640"/>
            <a:ext cx="5760720" cy="109728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Cum conduce o asistentă-șefă oamenii și calitatea îngrijirilor?</a:t>
            </a:r>
            <a:endParaRPr lang="en-US" sz="2200" dirty="0"/>
          </a:p>
        </p:txBody>
      </p:sp>
      <p:sp>
        <p:nvSpPr>
          <p:cNvPr id="7" name="Shape 4"/>
          <p:cNvSpPr/>
          <p:nvPr/>
        </p:nvSpPr>
        <p:spPr>
          <a:xfrm>
            <a:off x="667512" y="4114800"/>
            <a:ext cx="1280160" cy="27432"/>
          </a:xfrm>
          <a:prstGeom prst="rect">
            <a:avLst/>
          </a:prstGeom>
          <a:solidFill>
            <a:srgbClr val="FF4757"/>
          </a:solidFill>
          <a:ln/>
        </p:spPr>
        <p:txBody>
          <a:bodyPr/>
          <a:p/>
        </p:txBody>
      </p:sp>
      <p:sp>
        <p:nvSpPr>
          <p:cNvPr id="8" name="Text 5"/>
          <p:cNvSpPr/>
          <p:nvPr/>
        </p:nvSpPr>
        <p:spPr>
          <a:xfrm>
            <a:off x="640080" y="4297680"/>
            <a:ext cx="5760720" cy="1005840"/>
          </a:xfrm>
          <a:prstGeom prst="rect">
            <a:avLst/>
          </a:prstGeom>
          <a:noFill/>
          <a:ln/>
        </p:spPr>
        <p:txBody>
          <a:bodyPr wrap="square" lIns="0" tIns="0" rIns="0" bIns="0" rtlCol="0" anchor="t"/>
          <a:lstStyle/>
          <a:p>
            <a:pPr indent="0" marL="0">
              <a:buNone/>
            </a:pPr>
            <a:r>
              <a:rPr lang="en-US" sz="1400" b="1" dirty="0">
                <a:solidFill>
                  <a:srgbClr val="FFFFFF"/>
                </a:solidFill>
                <a:latin typeface="Palatino Linotype" pitchFamily="34" charset="0"/>
                <a:ea typeface="Palatino Linotype" pitchFamily="34" charset="-122"/>
                <a:cs typeface="Palatino Linotype" pitchFamily="34" charset="-120"/>
              </a:rPr>
              <a:t>Leadership și management în nursing. Managementul calității și acreditarea ANMCS</a:t>
            </a:r>
            <a:endParaRPr lang="en-US" sz="1400" dirty="0"/>
          </a:p>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Conf. univ. dr. Adrian Pană · UMF Cluj-Napoca</a:t>
            </a:r>
            <a:endParaRPr lang="en-US" sz="1400" dirty="0"/>
          </a:p>
        </p:txBody>
      </p:sp>
      <p:sp>
        <p:nvSpPr>
          <p:cNvPr id="9" name="Shape 6"/>
          <p:cNvSpPr/>
          <p:nvPr/>
        </p:nvSpPr>
        <p:spPr>
          <a:xfrm>
            <a:off x="640080" y="5532120"/>
            <a:ext cx="5760720" cy="640080"/>
          </a:xfrm>
          <a:prstGeom prst="roundRect">
            <a:avLst>
              <a:gd name="adj" fmla="val 12857"/>
            </a:avLst>
          </a:prstGeom>
          <a:solidFill>
            <a:srgbClr val="272A38"/>
          </a:solidFill>
          <a:ln w="12700">
            <a:solidFill>
              <a:srgbClr val="272A38"/>
            </a:solidFill>
            <a:prstDash val="solid"/>
          </a:ln>
        </p:spPr>
        <p:txBody>
          <a:bodyPr/>
          <a:p/>
        </p:txBody>
      </p:sp>
      <p:sp>
        <p:nvSpPr>
          <p:cNvPr id="10" name="Text 7"/>
          <p:cNvSpPr/>
          <p:nvPr/>
        </p:nvSpPr>
        <p:spPr>
          <a:xfrm>
            <a:off x="868680" y="5532120"/>
            <a:ext cx="5394960" cy="640080"/>
          </a:xfrm>
          <a:prstGeom prst="rect">
            <a:avLst/>
          </a:prstGeom>
          <a:noFill/>
          <a:ln/>
        </p:spPr>
        <p:txBody>
          <a:bodyPr wrap="square" lIns="0" tIns="0" rIns="0" bIns="0" rtlCol="0" anchor="ctr"/>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Mentimeter: menti.com/alqhad6d16gk</a:t>
            </a:r>
            <a:endParaRPr lang="en-US" sz="1500" dirty="0"/>
          </a:p>
        </p:txBody>
      </p:sp>
      <p:sp>
        <p:nvSpPr>
          <p:cNvPr id="11" name="Shape 8"/>
          <p:cNvSpPr/>
          <p:nvPr/>
        </p:nvSpPr>
        <p:spPr>
          <a:xfrm>
            <a:off x="6705295" y="6510528"/>
            <a:ext cx="5486400" cy="347472"/>
          </a:xfrm>
          <a:prstGeom prst="rect">
            <a:avLst/>
          </a:prstGeom>
          <a:solidFill>
            <a:srgbClr val="11121A">
              <a:alpha val="70000"/>
            </a:srgbClr>
          </a:solidFill>
          <a:ln w="12700">
            <a:solidFill>
              <a:srgbClr val="11121A"/>
            </a:solidFill>
            <a:prstDash val="solid"/>
          </a:ln>
        </p:spPr>
        <p:txBody>
          <a:bodyPr/>
          <a:p/>
        </p:txBody>
      </p:sp>
      <p:sp>
        <p:nvSpPr>
          <p:cNvPr id="12" name="Text 9"/>
          <p:cNvSpPr/>
          <p:nvPr/>
        </p:nvSpPr>
        <p:spPr>
          <a:xfrm>
            <a:off x="6812280" y="6556248"/>
            <a:ext cx="5303520" cy="219456"/>
          </a:xfrm>
          <a:prstGeom prst="rect">
            <a:avLst/>
          </a:prstGeom>
          <a:noFill/>
          <a:ln/>
        </p:spPr>
        <p:txBody>
          <a:bodyPr wrap="square" lIns="0" tIns="0" rIns="0" bIns="0" rtlCol="0" anchor="ctr"/>
          <a:lstStyle/>
          <a:p>
            <a:pPr indent="0" marL="0">
              <a:buNone/>
            </a:pPr>
            <a:r>
              <a:rPr lang="en-US" sz="850" i="1" dirty="0">
                <a:solidFill>
                  <a:srgbClr val="E6E8EF"/>
                </a:solidFill>
                <a:latin typeface="Palatino Linotype" pitchFamily="34" charset="0"/>
                <a:ea typeface="Palatino Linotype" pitchFamily="34" charset="-122"/>
                <a:cs typeface="Palatino Linotype" pitchFamily="34" charset="-120"/>
              </a:rPr>
              <a:t>Un spital județean (ilustrație): SCJU „Pius Brînzeu”, Timișoara · Foto: Chainwit. · CC BY-SA 4.0 · Wikimedia Commons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CAZUL ȘEDINȚEI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Mara, asistentă-șefă pe medicină internă</a:t>
            </a:r>
            <a:endParaRPr lang="en-US" sz="3000" dirty="0"/>
          </a:p>
        </p:txBody>
      </p:sp>
      <p:sp>
        <p:nvSpPr>
          <p:cNvPr id="4" name="Text 2"/>
          <p:cNvSpPr/>
          <p:nvPr/>
        </p:nvSpPr>
        <p:spPr>
          <a:xfrm>
            <a:off x="594360" y="1600200"/>
            <a:ext cx="10972800" cy="9144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Un spital județean. Asistenți cu experiență foarte diferită: unii lucrează pe secție de peste zece ani, alții au venit în această toamnă, imediat după facultate.</a:t>
            </a:r>
            <a:endParaRPr lang="en-US" sz="1800" dirty="0"/>
          </a:p>
        </p:txBody>
      </p:sp>
      <p:sp>
        <p:nvSpPr>
          <p:cNvPr id="5" name="Text 3"/>
          <p:cNvSpPr/>
          <p:nvPr/>
        </p:nvSpPr>
        <p:spPr>
          <a:xfrm>
            <a:off x="594360" y="2697480"/>
            <a:ext cx="5486400" cy="320040"/>
          </a:xfrm>
          <a:prstGeom prst="rect">
            <a:avLst/>
          </a:prstGeom>
          <a:noFill/>
          <a:ln/>
        </p:spPr>
        <p:txBody>
          <a:bodyPr wrap="square" lIns="0" tIns="0" rIns="0" bIns="0" rtlCol="0" anchor="t"/>
          <a:lstStyle/>
          <a:p>
            <a:pPr indent="0" marL="0">
              <a:buNone/>
            </a:pPr>
            <a:r>
              <a:rPr lang="en-US" sz="1300" b="1" spc="200" kern="0" dirty="0">
                <a:solidFill>
                  <a:srgbClr val="585A64"/>
                </a:solidFill>
                <a:latin typeface="Palatino Linotype" pitchFamily="34" charset="0"/>
                <a:ea typeface="Palatino Linotype" pitchFamily="34" charset="-122"/>
                <a:cs typeface="Palatino Linotype" pitchFamily="34" charset="-120"/>
              </a:rPr>
              <a:t>ÎN ACEEAȘI SĂPTĂMÂNĂ</a:t>
            </a:r>
            <a:endParaRPr lang="en-US" sz="1300" dirty="0"/>
          </a:p>
        </p:txBody>
      </p:sp>
      <p:sp>
        <p:nvSpPr>
          <p:cNvPr id="6" name="Shape 4"/>
          <p:cNvSpPr/>
          <p:nvPr/>
        </p:nvSpPr>
        <p:spPr>
          <a:xfrm>
            <a:off x="594360" y="3063240"/>
            <a:ext cx="5394960" cy="2377440"/>
          </a:xfrm>
          <a:prstGeom prst="roundRect">
            <a:avLst>
              <a:gd name="adj" fmla="val 3462"/>
            </a:avLst>
          </a:prstGeom>
          <a:solidFill>
            <a:srgbClr val="ECEAE4"/>
          </a:solidFill>
          <a:ln w="12700">
            <a:solidFill>
              <a:srgbClr val="ECEAE4"/>
            </a:solidFill>
            <a:prstDash val="solid"/>
          </a:ln>
        </p:spPr>
        <p:txBody>
          <a:bodyPr/>
          <a:p/>
        </p:txBody>
      </p:sp>
      <p:sp>
        <p:nvSpPr>
          <p:cNvPr id="7" name="Shape 5"/>
          <p:cNvSpPr/>
          <p:nvPr/>
        </p:nvSpPr>
        <p:spPr>
          <a:xfrm>
            <a:off x="594360" y="3063240"/>
            <a:ext cx="5394960" cy="73152"/>
          </a:xfrm>
          <a:prstGeom prst="rect">
            <a:avLst/>
          </a:prstGeom>
          <a:solidFill>
            <a:srgbClr val="0E7C6B"/>
          </a:solidFill>
          <a:ln w="12700">
            <a:solidFill>
              <a:srgbClr val="0E7C6B"/>
            </a:solidFill>
            <a:prstDash val="solid"/>
          </a:ln>
        </p:spPr>
        <p:txBody>
          <a:bodyPr/>
          <a:p/>
        </p:txBody>
      </p:sp>
      <p:sp>
        <p:nvSpPr>
          <p:cNvPr id="8" name="Text 6"/>
          <p:cNvSpPr/>
          <p:nvPr/>
        </p:nvSpPr>
        <p:spPr>
          <a:xfrm>
            <a:off x="822960" y="3264408"/>
            <a:ext cx="49377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Vizita anunțată</a:t>
            </a:r>
            <a:endParaRPr lang="en-US" sz="2000" dirty="0"/>
          </a:p>
        </p:txBody>
      </p:sp>
      <p:sp>
        <p:nvSpPr>
          <p:cNvPr id="9" name="Text 7"/>
          <p:cNvSpPr/>
          <p:nvPr/>
        </p:nvSpPr>
        <p:spPr>
          <a:xfrm>
            <a:off x="822960" y="3931920"/>
            <a:ext cx="4937760" cy="13716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Managerul spitalului anunță că spitalul va fi evaluat de ANMCS.</a:t>
            </a:r>
            <a:endParaRPr lang="en-US" sz="1700" dirty="0"/>
          </a:p>
        </p:txBody>
      </p:sp>
      <p:sp>
        <p:nvSpPr>
          <p:cNvPr id="10" name="Shape 8"/>
          <p:cNvSpPr/>
          <p:nvPr/>
        </p:nvSpPr>
        <p:spPr>
          <a:xfrm>
            <a:off x="6172200" y="3063240"/>
            <a:ext cx="5394960" cy="2377440"/>
          </a:xfrm>
          <a:prstGeom prst="roundRect">
            <a:avLst>
              <a:gd name="adj" fmla="val 3462"/>
            </a:avLst>
          </a:prstGeom>
          <a:solidFill>
            <a:srgbClr val="F9F8F5"/>
          </a:solidFill>
          <a:ln w="12700">
            <a:solidFill>
              <a:srgbClr val="F9F8F5"/>
            </a:solidFill>
            <a:prstDash val="solid"/>
          </a:ln>
        </p:spPr>
        <p:txBody>
          <a:bodyPr/>
          <a:p/>
        </p:txBody>
      </p:sp>
      <p:sp>
        <p:nvSpPr>
          <p:cNvPr id="11" name="Shape 9"/>
          <p:cNvSpPr/>
          <p:nvPr/>
        </p:nvSpPr>
        <p:spPr>
          <a:xfrm>
            <a:off x="6172200" y="3063240"/>
            <a:ext cx="5394960" cy="73152"/>
          </a:xfrm>
          <a:prstGeom prst="rect">
            <a:avLst/>
          </a:prstGeom>
          <a:solidFill>
            <a:srgbClr val="B02532"/>
          </a:solidFill>
          <a:ln w="12700">
            <a:solidFill>
              <a:srgbClr val="B02532"/>
            </a:solidFill>
            <a:prstDash val="solid"/>
          </a:ln>
        </p:spPr>
        <p:txBody>
          <a:bodyPr/>
          <a:p/>
        </p:txBody>
      </p:sp>
      <p:sp>
        <p:nvSpPr>
          <p:cNvPr id="12" name="Text 10"/>
          <p:cNvSpPr/>
          <p:nvPr/>
        </p:nvSpPr>
        <p:spPr>
          <a:xfrm>
            <a:off x="6400800" y="3264408"/>
            <a:ext cx="4937760" cy="6858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O asistentă tânără</a:t>
            </a:r>
            <a:endParaRPr lang="en-US" sz="2000" dirty="0"/>
          </a:p>
        </p:txBody>
      </p:sp>
      <p:sp>
        <p:nvSpPr>
          <p:cNvPr id="13" name="Text 11"/>
          <p:cNvSpPr/>
          <p:nvPr/>
        </p:nvSpPr>
        <p:spPr>
          <a:xfrm>
            <a:off x="6400800" y="3931920"/>
            <a:ext cx="4937760" cy="13716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La sfârșitul unei ture grele: se gândește să plece, pentru că „nimeni nu are timp să-i explice nimic”.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CE LEAGĂ CELE DOUĂ VEȘTI</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Oamenii și standardele: fără legătură?</a:t>
            </a:r>
            <a:endParaRPr lang="en-US" sz="3200" dirty="0"/>
          </a:p>
        </p:txBody>
      </p:sp>
      <p:sp>
        <p:nvSpPr>
          <p:cNvPr id="6" name="Shape 4"/>
          <p:cNvSpPr/>
          <p:nvPr/>
        </p:nvSpPr>
        <p:spPr>
          <a:xfrm>
            <a:off x="594360" y="1737360"/>
            <a:ext cx="6035040" cy="3017520"/>
          </a:xfrm>
          <a:prstGeom prst="roundRect">
            <a:avLst>
              <a:gd name="adj" fmla="val 2727"/>
            </a:avLst>
          </a:prstGeom>
          <a:solidFill>
            <a:srgbClr val="1D1F2B"/>
          </a:solidFill>
          <a:ln w="12700">
            <a:solidFill>
              <a:srgbClr val="1D1F2B"/>
            </a:solidFill>
            <a:prstDash val="solid"/>
          </a:ln>
        </p:spPr>
        <p:txBody>
          <a:bodyPr/>
          <a:p/>
        </p:txBody>
      </p:sp>
      <p:sp>
        <p:nvSpPr>
          <p:cNvPr id="7" name="Text 5"/>
          <p:cNvSpPr/>
          <p:nvPr/>
        </p:nvSpPr>
        <p:spPr>
          <a:xfrm>
            <a:off x="868680" y="1874520"/>
            <a:ext cx="5577840" cy="41148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Standardele ANMCS cer</a:t>
            </a:r>
            <a:endParaRPr lang="en-US" sz="1700" dirty="0"/>
          </a:p>
        </p:txBody>
      </p:sp>
      <p:sp>
        <p:nvSpPr>
          <p:cNvPr id="8" name="Text 6"/>
          <p:cNvSpPr/>
          <p:nvPr/>
        </p:nvSpPr>
        <p:spPr>
          <a:xfrm>
            <a:off x="868680" y="2331720"/>
            <a:ext cx="5577840" cy="228600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protocoale și indicatori, dar și evaluarea periodică a culturii siguranței și a calității vieții profesionale a angajaților.</a:t>
            </a:r>
            <a:endParaRPr lang="en-US" sz="1900" dirty="0"/>
          </a:p>
        </p:txBody>
      </p:sp>
      <p:sp>
        <p:nvSpPr>
          <p:cNvPr id="9" name="Shape 7"/>
          <p:cNvSpPr/>
          <p:nvPr/>
        </p:nvSpPr>
        <p:spPr>
          <a:xfrm>
            <a:off x="6858000" y="1737360"/>
            <a:ext cx="4709160" cy="1371600"/>
          </a:xfrm>
          <a:prstGeom prst="roundRect">
            <a:avLst>
              <a:gd name="adj" fmla="val 6000"/>
            </a:avLst>
          </a:prstGeom>
          <a:solidFill>
            <a:srgbClr val="272A38"/>
          </a:solidFill>
          <a:ln w="12700">
            <a:solidFill>
              <a:srgbClr val="272A38"/>
            </a:solidFill>
            <a:prstDash val="solid"/>
          </a:ln>
        </p:spPr>
        <p:txBody>
          <a:bodyPr/>
          <a:p/>
        </p:txBody>
      </p:sp>
      <p:sp>
        <p:nvSpPr>
          <p:cNvPr id="10" name="Shape 8"/>
          <p:cNvSpPr/>
          <p:nvPr/>
        </p:nvSpPr>
        <p:spPr>
          <a:xfrm>
            <a:off x="7132320" y="2212848"/>
            <a:ext cx="420624" cy="420624"/>
          </a:xfrm>
          <a:prstGeom prst="ellipse">
            <a:avLst/>
          </a:prstGeom>
          <a:solidFill>
            <a:srgbClr val="FFC24B"/>
          </a:solidFill>
          <a:ln/>
        </p:spPr>
        <p:txBody>
          <a:bodyPr/>
          <a:p/>
        </p:txBody>
      </p:sp>
      <p:sp>
        <p:nvSpPr>
          <p:cNvPr id="11" name="Text 9"/>
          <p:cNvSpPr/>
          <p:nvPr/>
        </p:nvSpPr>
        <p:spPr>
          <a:xfrm>
            <a:off x="7132320" y="22128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2" name="Text 10"/>
          <p:cNvSpPr/>
          <p:nvPr/>
        </p:nvSpPr>
        <p:spPr>
          <a:xfrm>
            <a:off x="7772400" y="1737360"/>
            <a:ext cx="3566160" cy="13716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Partea întâi: Mara, liderul echipei</a:t>
            </a:r>
            <a:endParaRPr lang="en-US" sz="1700" dirty="0"/>
          </a:p>
        </p:txBody>
      </p:sp>
      <p:sp>
        <p:nvSpPr>
          <p:cNvPr id="13" name="Shape 11"/>
          <p:cNvSpPr/>
          <p:nvPr/>
        </p:nvSpPr>
        <p:spPr>
          <a:xfrm>
            <a:off x="6858000" y="3291840"/>
            <a:ext cx="4709160" cy="1371600"/>
          </a:xfrm>
          <a:prstGeom prst="roundRect">
            <a:avLst>
              <a:gd name="adj" fmla="val 6000"/>
            </a:avLst>
          </a:prstGeom>
          <a:solidFill>
            <a:srgbClr val="272A38"/>
          </a:solidFill>
          <a:ln w="12700">
            <a:solidFill>
              <a:srgbClr val="272A38"/>
            </a:solidFill>
            <a:prstDash val="solid"/>
          </a:ln>
        </p:spPr>
        <p:txBody>
          <a:bodyPr/>
          <a:p/>
        </p:txBody>
      </p:sp>
      <p:sp>
        <p:nvSpPr>
          <p:cNvPr id="14" name="Shape 12"/>
          <p:cNvSpPr/>
          <p:nvPr/>
        </p:nvSpPr>
        <p:spPr>
          <a:xfrm>
            <a:off x="7132320" y="3767328"/>
            <a:ext cx="420624" cy="420624"/>
          </a:xfrm>
          <a:prstGeom prst="ellipse">
            <a:avLst/>
          </a:prstGeom>
          <a:solidFill>
            <a:srgbClr val="FFC24B"/>
          </a:solidFill>
          <a:ln/>
        </p:spPr>
        <p:txBody>
          <a:bodyPr/>
          <a:p/>
        </p:txBody>
      </p:sp>
      <p:sp>
        <p:nvSpPr>
          <p:cNvPr id="15" name="Text 13"/>
          <p:cNvSpPr/>
          <p:nvPr/>
        </p:nvSpPr>
        <p:spPr>
          <a:xfrm>
            <a:off x="7132320" y="37673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6" name="Text 14"/>
          <p:cNvSpPr/>
          <p:nvPr/>
        </p:nvSpPr>
        <p:spPr>
          <a:xfrm>
            <a:off x="7772400" y="3291840"/>
            <a:ext cx="3566160" cy="13716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Partea a doua: Mara, responsabila de calitate</a:t>
            </a:r>
            <a:endParaRPr lang="en-US" sz="1700" dirty="0"/>
          </a:p>
        </p:txBody>
      </p:sp>
      <p:sp>
        <p:nvSpPr>
          <p:cNvPr id="17" name="Shape 15"/>
          <p:cNvSpPr/>
          <p:nvPr/>
        </p:nvSpPr>
        <p:spPr>
          <a:xfrm>
            <a:off x="594360" y="5074920"/>
            <a:ext cx="10972800" cy="868680"/>
          </a:xfrm>
          <a:prstGeom prst="roundRect">
            <a:avLst>
              <a:gd name="adj" fmla="val 9474"/>
            </a:avLst>
          </a:prstGeom>
          <a:solidFill>
            <a:srgbClr val="272A38"/>
          </a:solidFill>
          <a:ln w="12700">
            <a:solidFill>
              <a:srgbClr val="272A38"/>
            </a:solidFill>
            <a:prstDash val="solid"/>
          </a:ln>
        </p:spPr>
        <p:txBody>
          <a:bodyPr/>
          <a:p/>
        </p:txBody>
      </p:sp>
      <p:sp>
        <p:nvSpPr>
          <p:cNvPr id="18" name="Text 16"/>
          <p:cNvSpPr/>
          <p:nvPr/>
        </p:nvSpPr>
        <p:spPr>
          <a:xfrm>
            <a:off x="868680" y="5074920"/>
            <a:ext cx="10424160" cy="86868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Cele două vești se întâlnesc în standardele ANMCS.</a:t>
            </a:r>
            <a:endParaRPr lang="en-US" sz="1800" dirty="0"/>
          </a:p>
        </p:txBody>
      </p:sp>
      <p:sp>
        <p:nvSpPr>
          <p:cNvPr id="19" name="Text 17"/>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standardele ANMCS, ediția a III-a (registru A1034, A1036).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NOR DE CUVINTE · TREI MINUTE</a:t>
            </a:r>
            <a:endParaRPr lang="en-US" sz="1300" dirty="0"/>
          </a:p>
        </p:txBody>
      </p:sp>
      <p:sp>
        <p:nvSpPr>
          <p:cNvPr id="5" name="Text 3"/>
          <p:cNvSpPr/>
          <p:nvPr/>
        </p:nvSpPr>
        <p:spPr>
          <a:xfrm>
            <a:off x="594360" y="914400"/>
            <a:ext cx="10972800" cy="1828800"/>
          </a:xfrm>
          <a:prstGeom prst="rect">
            <a:avLst/>
          </a:prstGeom>
          <a:noFill/>
          <a:ln/>
        </p:spPr>
        <p:txBody>
          <a:bodyPr wrap="square" lIns="0" tIns="0" rIns="0" bIns="0" rtlCol="0" anchor="ctr"/>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singur cuvânt: ce calitate este esențială la un lider în nursing?</a:t>
            </a:r>
            <a:endParaRPr lang="en-US" sz="3400" dirty="0"/>
          </a:p>
        </p:txBody>
      </p:sp>
      <p:sp>
        <p:nvSpPr>
          <p:cNvPr id="6" name="Text 4"/>
          <p:cNvSpPr/>
          <p:nvPr/>
        </p:nvSpPr>
        <p:spPr>
          <a:xfrm>
            <a:off x="594360" y="3017520"/>
            <a:ext cx="10972800" cy="1188720"/>
          </a:xfrm>
          <a:prstGeom prst="rect">
            <a:avLst/>
          </a:prstGeom>
          <a:noFill/>
          <a:ln/>
        </p:spPr>
        <p:txBody>
          <a:bodyPr wrap="square" lIns="0" tIns="0" rIns="0" bIns="0" rtlCol="0" anchor="t"/>
          <a:lstStyle/>
          <a:p>
            <a:pPr indent="0" marL="0">
              <a:buNone/>
            </a:pPr>
            <a:r>
              <a:rPr lang="en-US" sz="2000" dirty="0">
                <a:solidFill>
                  <a:srgbClr val="959BB0"/>
                </a:solidFill>
                <a:latin typeface="Palatino Linotype" pitchFamily="34" charset="0"/>
                <a:ea typeface="Palatino Linotype" pitchFamily="34" charset="-122"/>
                <a:cs typeface="Palatino Linotype" pitchFamily="34" charset="-120"/>
              </a:rPr>
              <a:t>Răspunsurile rămân pe ecran. La sfârșitul primei părți ne întoarcem la ele: câte descriu un manager, câte un lider și câte pe amândoi?</a:t>
            </a:r>
            <a:endParaRPr lang="en-US" sz="2000" dirty="0"/>
          </a:p>
        </p:txBody>
      </p:sp>
      <p:sp>
        <p:nvSpPr>
          <p:cNvPr id="7" name="Shape 5"/>
          <p:cNvSpPr/>
          <p:nvPr/>
        </p:nvSpPr>
        <p:spPr>
          <a:xfrm>
            <a:off x="594360" y="4754880"/>
            <a:ext cx="10972800" cy="822960"/>
          </a:xfrm>
          <a:prstGeom prst="roundRect">
            <a:avLst>
              <a:gd name="adj" fmla="val 10000"/>
            </a:avLst>
          </a:prstGeom>
          <a:solidFill>
            <a:srgbClr val="272A38"/>
          </a:solidFill>
          <a:ln w="12700">
            <a:solidFill>
              <a:srgbClr val="272A38"/>
            </a:solidFill>
            <a:prstDash val="solid"/>
          </a:ln>
        </p:spPr>
        <p:txBody>
          <a:bodyPr/>
          <a:p/>
        </p:txBody>
      </p:sp>
      <p:sp>
        <p:nvSpPr>
          <p:cNvPr id="8" name="Text 6"/>
          <p:cNvSpPr/>
          <p:nvPr/>
        </p:nvSpPr>
        <p:spPr>
          <a:xfrm>
            <a:off x="868680" y="4754880"/>
            <a:ext cx="10424160" cy="822960"/>
          </a:xfrm>
          <a:prstGeom prst="rect">
            <a:avLst/>
          </a:prstGeom>
          <a:noFill/>
          <a:ln/>
        </p:spPr>
        <p:txBody>
          <a:bodyPr wrap="square" lIns="0" tIns="0" rIns="0" bIns="0" rtlCol="0" anchor="ctr"/>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menti.com/alqhad6d16gk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URMĂRIM AZI · CE SE CERE LA EXAMEN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Două părți, aceeași secție</a:t>
            </a:r>
            <a:endParaRPr lang="en-US" sz="3200" dirty="0"/>
          </a:p>
        </p:txBody>
      </p:sp>
      <p:sp>
        <p:nvSpPr>
          <p:cNvPr id="4" name="Shape 2"/>
          <p:cNvSpPr/>
          <p:nvPr/>
        </p:nvSpPr>
        <p:spPr>
          <a:xfrm>
            <a:off x="594360" y="1691640"/>
            <a:ext cx="5394960" cy="2468880"/>
          </a:xfrm>
          <a:prstGeom prst="roundRect">
            <a:avLst>
              <a:gd name="adj" fmla="val 3333"/>
            </a:avLst>
          </a:prstGeom>
          <a:solidFill>
            <a:srgbClr val="ECEAE4"/>
          </a:solidFill>
          <a:ln w="12700">
            <a:solidFill>
              <a:srgbClr val="ECEAE4"/>
            </a:solidFill>
            <a:prstDash val="solid"/>
          </a:ln>
        </p:spPr>
        <p:txBody>
          <a:bodyPr/>
          <a:p/>
        </p:txBody>
      </p:sp>
      <p:sp>
        <p:nvSpPr>
          <p:cNvPr id="5" name="Shape 3"/>
          <p:cNvSpPr/>
          <p:nvPr/>
        </p:nvSpPr>
        <p:spPr>
          <a:xfrm>
            <a:off x="594360" y="1691640"/>
            <a:ext cx="53949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92808"/>
            <a:ext cx="4937760" cy="6858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Partea întâi, circa cincizeci de minute</a:t>
            </a:r>
            <a:endParaRPr lang="en-US" sz="1800" dirty="0"/>
          </a:p>
        </p:txBody>
      </p:sp>
      <p:sp>
        <p:nvSpPr>
          <p:cNvPr id="7" name="Text 5"/>
          <p:cNvSpPr/>
          <p:nvPr/>
        </p:nvSpPr>
        <p:spPr>
          <a:xfrm>
            <a:off x="822960" y="2560320"/>
            <a:ext cx="4937760" cy="14630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Puterea, stilurile de leadership, inteligența emoțională, delegarea, deciziile și conflictele.</a:t>
            </a:r>
            <a:endParaRPr lang="en-US" sz="1650" dirty="0"/>
          </a:p>
        </p:txBody>
      </p:sp>
      <p:sp>
        <p:nvSpPr>
          <p:cNvPr id="8" name="Shape 6"/>
          <p:cNvSpPr/>
          <p:nvPr/>
        </p:nvSpPr>
        <p:spPr>
          <a:xfrm>
            <a:off x="6172200" y="1691640"/>
            <a:ext cx="5394960" cy="2468880"/>
          </a:xfrm>
          <a:prstGeom prst="roundRect">
            <a:avLst>
              <a:gd name="adj" fmla="val 3333"/>
            </a:avLst>
          </a:prstGeom>
          <a:solidFill>
            <a:srgbClr val="F9F8F5"/>
          </a:solidFill>
          <a:ln w="12700">
            <a:solidFill>
              <a:srgbClr val="F9F8F5"/>
            </a:solidFill>
            <a:prstDash val="solid"/>
          </a:ln>
        </p:spPr>
        <p:txBody>
          <a:bodyPr/>
          <a:p/>
        </p:txBody>
      </p:sp>
      <p:sp>
        <p:nvSpPr>
          <p:cNvPr id="9" name="Shape 7"/>
          <p:cNvSpPr/>
          <p:nvPr/>
        </p:nvSpPr>
        <p:spPr>
          <a:xfrm>
            <a:off x="6172200" y="1691640"/>
            <a:ext cx="5394960" cy="73152"/>
          </a:xfrm>
          <a:prstGeom prst="rect">
            <a:avLst/>
          </a:prstGeom>
          <a:solidFill>
            <a:srgbClr val="B02532"/>
          </a:solidFill>
          <a:ln w="12700">
            <a:solidFill>
              <a:srgbClr val="B02532"/>
            </a:solidFill>
            <a:prstDash val="solid"/>
          </a:ln>
        </p:spPr>
        <p:txBody>
          <a:bodyPr/>
          <a:p/>
        </p:txBody>
      </p:sp>
      <p:sp>
        <p:nvSpPr>
          <p:cNvPr id="10" name="Text 8"/>
          <p:cNvSpPr/>
          <p:nvPr/>
        </p:nvSpPr>
        <p:spPr>
          <a:xfrm>
            <a:off x="6400800" y="1892808"/>
            <a:ext cx="4937760" cy="6858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Partea a doua, circa cincizeci de minute</a:t>
            </a:r>
            <a:endParaRPr lang="en-US" sz="1800" dirty="0"/>
          </a:p>
        </p:txBody>
      </p:sp>
      <p:sp>
        <p:nvSpPr>
          <p:cNvPr id="11" name="Text 9"/>
          <p:cNvSpPr/>
          <p:nvPr/>
        </p:nvSpPr>
        <p:spPr>
          <a:xfrm>
            <a:off x="6400800" y="2560320"/>
            <a:ext cx="4937760" cy="14630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Calitatea îngrijirilor: definiția, măsurarea, acreditarea ANMCS și îmbunătățirea continuă.</a:t>
            </a:r>
            <a:endParaRPr lang="en-US" sz="1650" dirty="0"/>
          </a:p>
        </p:txBody>
      </p:sp>
      <p:sp>
        <p:nvSpPr>
          <p:cNvPr id="12" name="Shape 10"/>
          <p:cNvSpPr/>
          <p:nvPr/>
        </p:nvSpPr>
        <p:spPr>
          <a:xfrm>
            <a:off x="594360" y="4389120"/>
            <a:ext cx="10972800" cy="1600200"/>
          </a:xfrm>
          <a:prstGeom prst="roundRect">
            <a:avLst>
              <a:gd name="adj" fmla="val 5143"/>
            </a:avLst>
          </a:prstGeom>
          <a:solidFill>
            <a:srgbClr val="11121A"/>
          </a:solidFill>
          <a:ln w="12700">
            <a:solidFill>
              <a:srgbClr val="11121A"/>
            </a:solidFill>
            <a:prstDash val="solid"/>
          </a:ln>
        </p:spPr>
        <p:txBody>
          <a:bodyPr/>
          <a:p/>
        </p:txBody>
      </p:sp>
      <p:sp>
        <p:nvSpPr>
          <p:cNvPr id="13" name="Text 11"/>
          <p:cNvSpPr/>
          <p:nvPr/>
        </p:nvSpPr>
        <p:spPr>
          <a:xfrm>
            <a:off x="868680" y="4389120"/>
            <a:ext cx="10424160" cy="1600200"/>
          </a:xfrm>
          <a:prstGeom prst="rect">
            <a:avLst/>
          </a:prstGeom>
          <a:noFill/>
          <a:ln/>
        </p:spPr>
        <p:txBody>
          <a:bodyPr wrap="square" lIns="0" tIns="0" rIns="0" bIns="0" rtlCol="0" anchor="ctr"/>
          <a:lstStyle/>
          <a:p>
            <a:pPr indent="0" marL="0">
              <a:buNone/>
            </a:pPr>
            <a:r>
              <a:rPr lang="en-US" sz="1750" b="1" dirty="0">
                <a:solidFill>
                  <a:srgbClr val="FFC24B"/>
                </a:solidFill>
                <a:latin typeface="Palatino Linotype" pitchFamily="34" charset="0"/>
                <a:ea typeface="Palatino Linotype" pitchFamily="34" charset="-122"/>
                <a:cs typeface="Palatino Linotype" pitchFamily="34" charset="-120"/>
              </a:rPr>
              <a:t>La examen: definițiile, distincțiile și clasificările. Cifrele nu se cer pe de rost, cu excepția celor cinci ani ai ciclului de acreditare și ai certificatului.</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MANAGERUL ȘI LIDERUL · DIN CURSUL TRECUT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Mara este numită. Devine și lider?</a:t>
            </a:r>
            <a:endParaRPr lang="en-US" sz="3000" dirty="0"/>
          </a:p>
        </p:txBody>
      </p:sp>
      <p:sp>
        <p:nvSpPr>
          <p:cNvPr id="4" name="Shape 2"/>
          <p:cNvSpPr/>
          <p:nvPr/>
        </p:nvSpPr>
        <p:spPr>
          <a:xfrm>
            <a:off x="594360" y="1645920"/>
            <a:ext cx="5394960" cy="2651760"/>
          </a:xfrm>
          <a:prstGeom prst="roundRect">
            <a:avLst>
              <a:gd name="adj" fmla="val 3103"/>
            </a:avLst>
          </a:prstGeom>
          <a:solidFill>
            <a:srgbClr val="ECEAE4"/>
          </a:solidFill>
          <a:ln w="12700">
            <a:solidFill>
              <a:srgbClr val="ECEAE4"/>
            </a:solidFill>
            <a:prstDash val="solid"/>
          </a:ln>
        </p:spPr>
        <p:txBody>
          <a:bodyPr/>
          <a:p/>
        </p:txBody>
      </p:sp>
      <p:sp>
        <p:nvSpPr>
          <p:cNvPr id="5" name="Shape 3"/>
          <p:cNvSpPr/>
          <p:nvPr/>
        </p:nvSpPr>
        <p:spPr>
          <a:xfrm>
            <a:off x="594360" y="1645920"/>
            <a:ext cx="53949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493776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Managerul: numit</a:t>
            </a:r>
            <a:endParaRPr lang="en-US" sz="1900" dirty="0"/>
          </a:p>
        </p:txBody>
      </p:sp>
      <p:sp>
        <p:nvSpPr>
          <p:cNvPr id="7" name="Text 5"/>
          <p:cNvSpPr/>
          <p:nvPr/>
        </p:nvSpPr>
        <p:spPr>
          <a:xfrm>
            <a:off x="822960" y="2514600"/>
            <a:ext cx="49377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Întreabă cum și când: cine lucrează în tura de noapte, dacă sunt destule perfuzoare, dacă protocolul a fost respectat.</a:t>
            </a:r>
            <a:endParaRPr lang="en-US" sz="1600" dirty="0"/>
          </a:p>
        </p:txBody>
      </p:sp>
      <p:sp>
        <p:nvSpPr>
          <p:cNvPr id="8" name="Shape 6"/>
          <p:cNvSpPr/>
          <p:nvPr/>
        </p:nvSpPr>
        <p:spPr>
          <a:xfrm>
            <a:off x="6172200" y="1645920"/>
            <a:ext cx="5394960" cy="2651760"/>
          </a:xfrm>
          <a:prstGeom prst="roundRect">
            <a:avLst>
              <a:gd name="adj" fmla="val 3103"/>
            </a:avLst>
          </a:prstGeom>
          <a:solidFill>
            <a:srgbClr val="F9F8F5"/>
          </a:solidFill>
          <a:ln w="12700">
            <a:solidFill>
              <a:srgbClr val="F9F8F5"/>
            </a:solidFill>
            <a:prstDash val="solid"/>
          </a:ln>
        </p:spPr>
        <p:txBody>
          <a:bodyPr/>
          <a:p/>
        </p:txBody>
      </p:sp>
      <p:sp>
        <p:nvSpPr>
          <p:cNvPr id="9" name="Shape 7"/>
          <p:cNvSpPr/>
          <p:nvPr/>
        </p:nvSpPr>
        <p:spPr>
          <a:xfrm>
            <a:off x="6172200" y="1645920"/>
            <a:ext cx="5394960" cy="73152"/>
          </a:xfrm>
          <a:prstGeom prst="rect">
            <a:avLst/>
          </a:prstGeom>
          <a:solidFill>
            <a:srgbClr val="B02532"/>
          </a:solidFill>
          <a:ln w="12700">
            <a:solidFill>
              <a:srgbClr val="B02532"/>
            </a:solidFill>
            <a:prstDash val="solid"/>
          </a:ln>
        </p:spPr>
        <p:txBody>
          <a:bodyPr/>
          <a:p/>
        </p:txBody>
      </p:sp>
      <p:sp>
        <p:nvSpPr>
          <p:cNvPr id="10" name="Text 8"/>
          <p:cNvSpPr/>
          <p:nvPr/>
        </p:nvSpPr>
        <p:spPr>
          <a:xfrm>
            <a:off x="6400800" y="1847088"/>
            <a:ext cx="4937760" cy="6858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Liderul: acceptat</a:t>
            </a:r>
            <a:endParaRPr lang="en-US" sz="1900" dirty="0"/>
          </a:p>
        </p:txBody>
      </p:sp>
      <p:sp>
        <p:nvSpPr>
          <p:cNvPr id="11" name="Text 9"/>
          <p:cNvSpPr/>
          <p:nvPr/>
        </p:nvSpPr>
        <p:spPr>
          <a:xfrm>
            <a:off x="6400800" y="2514600"/>
            <a:ext cx="49377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Întreabă ce și de ce: încotro merge secția, de ce pleacă oamenii, ce trebuie schimbat pentru siguranța pacienților.</a:t>
            </a:r>
            <a:endParaRPr lang="en-US" sz="1600" dirty="0"/>
          </a:p>
        </p:txBody>
      </p:sp>
      <p:sp>
        <p:nvSpPr>
          <p:cNvPr id="12" name="Shape 10"/>
          <p:cNvSpPr/>
          <p:nvPr/>
        </p:nvSpPr>
        <p:spPr>
          <a:xfrm>
            <a:off x="594360" y="4526280"/>
            <a:ext cx="10972800" cy="1097280"/>
          </a:xfrm>
          <a:prstGeom prst="roundRect">
            <a:avLst>
              <a:gd name="adj" fmla="val 7500"/>
            </a:avLst>
          </a:prstGeom>
          <a:solidFill>
            <a:srgbClr val="11121A"/>
          </a:solidFill>
          <a:ln w="12700">
            <a:solidFill>
              <a:srgbClr val="11121A"/>
            </a:solidFill>
            <a:prstDash val="solid"/>
          </a:ln>
        </p:spPr>
        <p:txBody>
          <a:bodyPr/>
          <a:p/>
        </p:txBody>
      </p:sp>
      <p:sp>
        <p:nvSpPr>
          <p:cNvPr id="13" name="Text 11"/>
          <p:cNvSpPr/>
          <p:nvPr/>
        </p:nvSpPr>
        <p:spPr>
          <a:xfrm>
            <a:off x="868680" y="4526280"/>
            <a:ext cx="10424160" cy="1097280"/>
          </a:xfrm>
          <a:prstGeom prst="rect">
            <a:avLst/>
          </a:prstGeom>
          <a:noFill/>
          <a:ln/>
        </p:spPr>
        <p:txBody>
          <a:bodyPr wrap="square" lIns="0" tIns="0" rIns="0" bIns="0" rtlCol="0" anchor="ctr"/>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Managementul menține ordinea de zi cu zi; leadershipul face posibilă schimbarea. Secția are nevoie de amândouă.</a:t>
            </a:r>
            <a:endParaRPr lang="en-US" sz="1700" dirty="0"/>
          </a:p>
        </p:txBody>
      </p:sp>
      <p:sp>
        <p:nvSpPr>
          <p:cNvPr id="14" name="Text 12"/>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A917); întrebările: sinteză didactică.</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CUM S-AU SCHIMBAT IDEILE DESPRE LEADERSHIP</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De la trăsături la situație</a:t>
            </a:r>
            <a:endParaRPr lang="en-US" sz="3200" dirty="0"/>
          </a:p>
        </p:txBody>
      </p:sp>
      <p:sp>
        <p:nvSpPr>
          <p:cNvPr id="4" name="Shape 2"/>
          <p:cNvSpPr/>
          <p:nvPr/>
        </p:nvSpPr>
        <p:spPr>
          <a:xfrm>
            <a:off x="594360" y="1691640"/>
            <a:ext cx="2514600" cy="2103120"/>
          </a:xfrm>
          <a:prstGeom prst="roundRect">
            <a:avLst>
              <a:gd name="adj" fmla="val 3913"/>
            </a:avLst>
          </a:prstGeom>
          <a:solidFill>
            <a:srgbClr val="ECEAE4"/>
          </a:solidFill>
          <a:ln w="12700">
            <a:solidFill>
              <a:srgbClr val="ECEAE4"/>
            </a:solidFill>
            <a:prstDash val="solid"/>
          </a:ln>
        </p:spPr>
        <p:txBody>
          <a:bodyPr/>
          <a:p/>
        </p:txBody>
      </p:sp>
      <p:sp>
        <p:nvSpPr>
          <p:cNvPr id="5" name="Shape 3"/>
          <p:cNvSpPr/>
          <p:nvPr/>
        </p:nvSpPr>
        <p:spPr>
          <a:xfrm>
            <a:off x="594360" y="1691640"/>
            <a:ext cx="251460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92808"/>
            <a:ext cx="2057400" cy="6858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Trăsăturile</a:t>
            </a:r>
            <a:endParaRPr lang="en-US" sz="1800" dirty="0"/>
          </a:p>
        </p:txBody>
      </p:sp>
      <p:sp>
        <p:nvSpPr>
          <p:cNvPr id="7" name="Text 5"/>
          <p:cNvSpPr/>
          <p:nvPr/>
        </p:nvSpPr>
        <p:spPr>
          <a:xfrm>
            <a:off x="822960" y="2560320"/>
            <a:ext cx="2057400" cy="10972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teoria „marelui om”</a:t>
            </a:r>
            <a:endParaRPr lang="en-US" sz="1500" dirty="0"/>
          </a:p>
        </p:txBody>
      </p:sp>
      <p:sp>
        <p:nvSpPr>
          <p:cNvPr id="8" name="Shape 6"/>
          <p:cNvSpPr/>
          <p:nvPr/>
        </p:nvSpPr>
        <p:spPr>
          <a:xfrm>
            <a:off x="3127248" y="2606040"/>
            <a:ext cx="256032" cy="310896"/>
          </a:xfrm>
          <a:prstGeom prst="rightArrow">
            <a:avLst/>
          </a:prstGeom>
          <a:solidFill>
            <a:srgbClr val="C9C6BE"/>
          </a:solidFill>
          <a:ln w="12700">
            <a:solidFill>
              <a:srgbClr val="C9C6BE"/>
            </a:solidFill>
            <a:prstDash val="solid"/>
          </a:ln>
        </p:spPr>
        <p:txBody>
          <a:bodyPr/>
          <a:p/>
        </p:txBody>
      </p:sp>
      <p:sp>
        <p:nvSpPr>
          <p:cNvPr id="9" name="Shape 7"/>
          <p:cNvSpPr/>
          <p:nvPr/>
        </p:nvSpPr>
        <p:spPr>
          <a:xfrm>
            <a:off x="3410712" y="1691640"/>
            <a:ext cx="2514600" cy="2103120"/>
          </a:xfrm>
          <a:prstGeom prst="roundRect">
            <a:avLst>
              <a:gd name="adj" fmla="val 3913"/>
            </a:avLst>
          </a:prstGeom>
          <a:solidFill>
            <a:srgbClr val="F9F8F5"/>
          </a:solidFill>
          <a:ln w="12700">
            <a:solidFill>
              <a:srgbClr val="F9F8F5"/>
            </a:solidFill>
            <a:prstDash val="solid"/>
          </a:ln>
        </p:spPr>
        <p:txBody>
          <a:bodyPr/>
          <a:p/>
        </p:txBody>
      </p:sp>
      <p:sp>
        <p:nvSpPr>
          <p:cNvPr id="10" name="Shape 8"/>
          <p:cNvSpPr/>
          <p:nvPr/>
        </p:nvSpPr>
        <p:spPr>
          <a:xfrm>
            <a:off x="3410712" y="1691640"/>
            <a:ext cx="2514600" cy="73152"/>
          </a:xfrm>
          <a:prstGeom prst="rect">
            <a:avLst/>
          </a:prstGeom>
          <a:solidFill>
            <a:srgbClr val="8A6100"/>
          </a:solidFill>
          <a:ln w="12700">
            <a:solidFill>
              <a:srgbClr val="8A6100"/>
            </a:solidFill>
            <a:prstDash val="solid"/>
          </a:ln>
        </p:spPr>
        <p:txBody>
          <a:bodyPr/>
          <a:p/>
        </p:txBody>
      </p:sp>
      <p:sp>
        <p:nvSpPr>
          <p:cNvPr id="11" name="Text 9"/>
          <p:cNvSpPr/>
          <p:nvPr/>
        </p:nvSpPr>
        <p:spPr>
          <a:xfrm>
            <a:off x="3639312" y="1892808"/>
            <a:ext cx="2057400" cy="68580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Comportamentul</a:t>
            </a:r>
            <a:endParaRPr lang="en-US" sz="1800" dirty="0"/>
          </a:p>
        </p:txBody>
      </p:sp>
      <p:sp>
        <p:nvSpPr>
          <p:cNvPr id="12" name="Text 10"/>
          <p:cNvSpPr/>
          <p:nvPr/>
        </p:nvSpPr>
        <p:spPr>
          <a:xfrm>
            <a:off x="3639312" y="2560320"/>
            <a:ext cx="2057400" cy="10972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ce face liderul</a:t>
            </a:r>
            <a:endParaRPr lang="en-US" sz="1500" dirty="0"/>
          </a:p>
        </p:txBody>
      </p:sp>
      <p:sp>
        <p:nvSpPr>
          <p:cNvPr id="13" name="Shape 11"/>
          <p:cNvSpPr/>
          <p:nvPr/>
        </p:nvSpPr>
        <p:spPr>
          <a:xfrm>
            <a:off x="5943600" y="2606040"/>
            <a:ext cx="256032" cy="310896"/>
          </a:xfrm>
          <a:prstGeom prst="rightArrow">
            <a:avLst/>
          </a:prstGeom>
          <a:solidFill>
            <a:srgbClr val="C9C6BE"/>
          </a:solidFill>
          <a:ln w="12700">
            <a:solidFill>
              <a:srgbClr val="C9C6BE"/>
            </a:solidFill>
            <a:prstDash val="solid"/>
          </a:ln>
        </p:spPr>
        <p:txBody>
          <a:bodyPr/>
          <a:p/>
        </p:txBody>
      </p:sp>
      <p:sp>
        <p:nvSpPr>
          <p:cNvPr id="14" name="Shape 12"/>
          <p:cNvSpPr/>
          <p:nvPr/>
        </p:nvSpPr>
        <p:spPr>
          <a:xfrm>
            <a:off x="6227064" y="1691640"/>
            <a:ext cx="2514600" cy="2103120"/>
          </a:xfrm>
          <a:prstGeom prst="roundRect">
            <a:avLst>
              <a:gd name="adj" fmla="val 3913"/>
            </a:avLst>
          </a:prstGeom>
          <a:solidFill>
            <a:srgbClr val="ECEAE4"/>
          </a:solidFill>
          <a:ln w="12700">
            <a:solidFill>
              <a:srgbClr val="ECEAE4"/>
            </a:solidFill>
            <a:prstDash val="solid"/>
          </a:ln>
        </p:spPr>
        <p:txBody>
          <a:bodyPr/>
          <a:p/>
        </p:txBody>
      </p:sp>
      <p:sp>
        <p:nvSpPr>
          <p:cNvPr id="15" name="Shape 13"/>
          <p:cNvSpPr/>
          <p:nvPr/>
        </p:nvSpPr>
        <p:spPr>
          <a:xfrm>
            <a:off x="6227064" y="1691640"/>
            <a:ext cx="2514600" cy="73152"/>
          </a:xfrm>
          <a:prstGeom prst="rect">
            <a:avLst/>
          </a:prstGeom>
          <a:solidFill>
            <a:srgbClr val="4A2D8C"/>
          </a:solidFill>
          <a:ln w="12700">
            <a:solidFill>
              <a:srgbClr val="4A2D8C"/>
            </a:solidFill>
            <a:prstDash val="solid"/>
          </a:ln>
        </p:spPr>
        <p:txBody>
          <a:bodyPr/>
          <a:p/>
        </p:txBody>
      </p:sp>
      <p:sp>
        <p:nvSpPr>
          <p:cNvPr id="16" name="Text 14"/>
          <p:cNvSpPr/>
          <p:nvPr/>
        </p:nvSpPr>
        <p:spPr>
          <a:xfrm>
            <a:off x="6455664" y="1892808"/>
            <a:ext cx="2057400" cy="685800"/>
          </a:xfrm>
          <a:prstGeom prst="rect">
            <a:avLst/>
          </a:prstGeom>
          <a:noFill/>
          <a:ln/>
        </p:spPr>
        <p:txBody>
          <a:bodyPr wrap="square" lIns="0" tIns="0" rIns="0" bIns="0" rtlCol="0" anchor="t"/>
          <a:lstStyle/>
          <a:p>
            <a:pPr indent="0" marL="0">
              <a:buNone/>
            </a:pPr>
            <a:r>
              <a:rPr lang="en-US" sz="1800" b="1" dirty="0">
                <a:solidFill>
                  <a:srgbClr val="4A2D8C"/>
                </a:solidFill>
                <a:latin typeface="Palatino Linotype" pitchFamily="34" charset="0"/>
                <a:ea typeface="Palatino Linotype" pitchFamily="34" charset="-122"/>
                <a:cs typeface="Palatino Linotype" pitchFamily="34" charset="-120"/>
              </a:rPr>
              <a:t>Situația</a:t>
            </a:r>
            <a:endParaRPr lang="en-US" sz="1800" dirty="0"/>
          </a:p>
        </p:txBody>
      </p:sp>
      <p:sp>
        <p:nvSpPr>
          <p:cNvPr id="17" name="Text 15"/>
          <p:cNvSpPr/>
          <p:nvPr/>
        </p:nvSpPr>
        <p:spPr>
          <a:xfrm>
            <a:off x="6455664" y="2560320"/>
            <a:ext cx="2057400" cy="10972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potrivirea dintre lider și situație</a:t>
            </a:r>
            <a:endParaRPr lang="en-US" sz="1500" dirty="0"/>
          </a:p>
        </p:txBody>
      </p:sp>
      <p:sp>
        <p:nvSpPr>
          <p:cNvPr id="18" name="Shape 16"/>
          <p:cNvSpPr/>
          <p:nvPr/>
        </p:nvSpPr>
        <p:spPr>
          <a:xfrm>
            <a:off x="8759952" y="2606040"/>
            <a:ext cx="256032" cy="310896"/>
          </a:xfrm>
          <a:prstGeom prst="rightArrow">
            <a:avLst/>
          </a:prstGeom>
          <a:solidFill>
            <a:srgbClr val="C9C6BE"/>
          </a:solidFill>
          <a:ln w="12700">
            <a:solidFill>
              <a:srgbClr val="C9C6BE"/>
            </a:solidFill>
            <a:prstDash val="solid"/>
          </a:ln>
        </p:spPr>
        <p:txBody>
          <a:bodyPr/>
          <a:p/>
        </p:txBody>
      </p:sp>
      <p:sp>
        <p:nvSpPr>
          <p:cNvPr id="19" name="Shape 17"/>
          <p:cNvSpPr/>
          <p:nvPr/>
        </p:nvSpPr>
        <p:spPr>
          <a:xfrm>
            <a:off x="9043416" y="1691640"/>
            <a:ext cx="2514600" cy="2103120"/>
          </a:xfrm>
          <a:prstGeom prst="roundRect">
            <a:avLst>
              <a:gd name="adj" fmla="val 3913"/>
            </a:avLst>
          </a:prstGeom>
          <a:solidFill>
            <a:srgbClr val="F9F8F5"/>
          </a:solidFill>
          <a:ln w="12700">
            <a:solidFill>
              <a:srgbClr val="F9F8F5"/>
            </a:solidFill>
            <a:prstDash val="solid"/>
          </a:ln>
        </p:spPr>
        <p:txBody>
          <a:bodyPr/>
          <a:p/>
        </p:txBody>
      </p:sp>
      <p:sp>
        <p:nvSpPr>
          <p:cNvPr id="20" name="Shape 18"/>
          <p:cNvSpPr/>
          <p:nvPr/>
        </p:nvSpPr>
        <p:spPr>
          <a:xfrm>
            <a:off x="9043416" y="1691640"/>
            <a:ext cx="2514600" cy="73152"/>
          </a:xfrm>
          <a:prstGeom prst="rect">
            <a:avLst/>
          </a:prstGeom>
          <a:solidFill>
            <a:srgbClr val="B02532"/>
          </a:solidFill>
          <a:ln w="12700">
            <a:solidFill>
              <a:srgbClr val="B02532"/>
            </a:solidFill>
            <a:prstDash val="solid"/>
          </a:ln>
        </p:spPr>
        <p:txBody>
          <a:bodyPr/>
          <a:p/>
        </p:txBody>
      </p:sp>
      <p:sp>
        <p:nvSpPr>
          <p:cNvPr id="21" name="Text 19"/>
          <p:cNvSpPr/>
          <p:nvPr/>
        </p:nvSpPr>
        <p:spPr>
          <a:xfrm>
            <a:off x="9272016" y="1892808"/>
            <a:ext cx="2057400" cy="6858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Valorile</a:t>
            </a:r>
            <a:endParaRPr lang="en-US" sz="1800" dirty="0"/>
          </a:p>
        </p:txBody>
      </p:sp>
      <p:sp>
        <p:nvSpPr>
          <p:cNvPr id="22" name="Text 20"/>
          <p:cNvSpPr/>
          <p:nvPr/>
        </p:nvSpPr>
        <p:spPr>
          <a:xfrm>
            <a:off x="9272016" y="2560320"/>
            <a:ext cx="2057400" cy="10972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liderul care transformă și liderul care slujește</a:t>
            </a:r>
            <a:endParaRPr lang="en-US" sz="1500" dirty="0"/>
          </a:p>
        </p:txBody>
      </p:sp>
      <p:sp>
        <p:nvSpPr>
          <p:cNvPr id="23" name="Text 21"/>
          <p:cNvSpPr/>
          <p:nvPr/>
        </p:nvSpPr>
        <p:spPr>
          <a:xfrm>
            <a:off x="594360" y="4069080"/>
            <a:ext cx="10972800" cy="73152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Trăsăturile nu explică de ce același om conduce bine într-o situație și prost în alta.</a:t>
            </a:r>
            <a:endParaRPr lang="en-US" sz="1800" dirty="0"/>
          </a:p>
        </p:txBody>
      </p:sp>
      <p:sp>
        <p:nvSpPr>
          <p:cNvPr id="24" name="Text 22"/>
          <p:cNvSpPr/>
          <p:nvPr/>
        </p:nvSpPr>
        <p:spPr>
          <a:xfrm>
            <a:off x="594360" y="4983480"/>
            <a:ext cx="10972800" cy="548640"/>
          </a:xfrm>
          <a:prstGeom prst="rect">
            <a:avLst/>
          </a:prstGeom>
          <a:noFill/>
          <a:ln/>
        </p:spPr>
        <p:txBody>
          <a:bodyPr wrap="square" lIns="0" tIns="0" rIns="0" bIns="0" rtlCol="0" anchor="t"/>
          <a:lstStyle/>
          <a:p>
            <a:pPr indent="0" marL="0">
              <a:buNone/>
            </a:pPr>
            <a:r>
              <a:rPr lang="en-US" sz="1500" i="1" dirty="0">
                <a:solidFill>
                  <a:srgbClr val="585A64"/>
                </a:solidFill>
                <a:latin typeface="Palatino Linotype" pitchFamily="34" charset="0"/>
                <a:ea typeface="Palatino Linotype" pitchFamily="34" charset="-122"/>
                <a:cs typeface="Palatino Linotype" pitchFamily="34" charset="-120"/>
              </a:rPr>
              <a:t>Pentru curioși (nu se evaluează): succesiunea este o simplificare; teoriile se suprapun în timp.</a:t>
            </a:r>
            <a:endParaRPr lang="en-US" sz="1500" dirty="0"/>
          </a:p>
        </p:txBody>
      </p:sp>
      <p:sp>
        <p:nvSpPr>
          <p:cNvPr id="25" name="Text 2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A1006, A1007, A1004, A1005); succesiunea: sinteză didactică. Anii și autorii nu se evaluează.</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FRENCH ȘI RAVEN, DUPĂ OPENSTAX</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Cinci surse ale puterii</a:t>
            </a:r>
            <a:endParaRPr lang="en-US" sz="3200" dirty="0"/>
          </a:p>
        </p:txBody>
      </p:sp>
      <p:sp>
        <p:nvSpPr>
          <p:cNvPr id="4" name="Shape 2"/>
          <p:cNvSpPr/>
          <p:nvPr/>
        </p:nvSpPr>
        <p:spPr>
          <a:xfrm>
            <a:off x="594360" y="1645920"/>
            <a:ext cx="6766560" cy="676656"/>
          </a:xfrm>
          <a:prstGeom prst="roundRect">
            <a:avLst>
              <a:gd name="adj" fmla="val 12162"/>
            </a:avLst>
          </a:prstGeom>
          <a:solidFill>
            <a:srgbClr val="ECEAE4"/>
          </a:solidFill>
          <a:ln w="12700">
            <a:solidFill>
              <a:srgbClr val="ECEAE4"/>
            </a:solidFill>
            <a:prstDash val="solid"/>
          </a:ln>
        </p:spPr>
        <p:txBody>
          <a:bodyPr/>
          <a:p/>
        </p:txBody>
      </p:sp>
      <p:sp>
        <p:nvSpPr>
          <p:cNvPr id="5" name="Text 3"/>
          <p:cNvSpPr/>
          <p:nvPr/>
        </p:nvSpPr>
        <p:spPr>
          <a:xfrm>
            <a:off x="822960" y="1645920"/>
            <a:ext cx="6400800" cy="676656"/>
          </a:xfrm>
          <a:prstGeom prst="rect">
            <a:avLst/>
          </a:prstGeom>
          <a:noFill/>
          <a:ln/>
        </p:spPr>
        <p:txBody>
          <a:bodyPr wrap="square" lIns="0" tIns="0" rIns="0" bIns="0" rtlCol="0" anchor="ctr"/>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De recompensă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propune un coleg pentru un curs</a:t>
            </a:r>
            <a:endParaRPr lang="en-US" sz="1600" dirty="0"/>
          </a:p>
        </p:txBody>
      </p:sp>
      <p:sp>
        <p:nvSpPr>
          <p:cNvPr id="6" name="Shape 4"/>
          <p:cNvSpPr/>
          <p:nvPr/>
        </p:nvSpPr>
        <p:spPr>
          <a:xfrm>
            <a:off x="594360" y="2432304"/>
            <a:ext cx="6766560" cy="676656"/>
          </a:xfrm>
          <a:prstGeom prst="roundRect">
            <a:avLst>
              <a:gd name="adj" fmla="val 12162"/>
            </a:avLst>
          </a:prstGeom>
          <a:solidFill>
            <a:srgbClr val="F9F8F5"/>
          </a:solidFill>
          <a:ln w="12700">
            <a:solidFill>
              <a:srgbClr val="F9F8F5"/>
            </a:solidFill>
            <a:prstDash val="solid"/>
          </a:ln>
        </p:spPr>
        <p:txBody>
          <a:bodyPr/>
          <a:p/>
        </p:txBody>
      </p:sp>
      <p:sp>
        <p:nvSpPr>
          <p:cNvPr id="7" name="Text 5"/>
          <p:cNvSpPr/>
          <p:nvPr/>
        </p:nvSpPr>
        <p:spPr>
          <a:xfrm>
            <a:off x="822960" y="2432304"/>
            <a:ext cx="6400800" cy="676656"/>
          </a:xfrm>
          <a:prstGeom prst="rect">
            <a:avLst/>
          </a:prstGeom>
          <a:noFill/>
          <a:ln/>
        </p:spPr>
        <p:txBody>
          <a:bodyPr wrap="square" lIns="0" tIns="0" rIns="0" bIns="0" rtlCol="0" anchor="ctr"/>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Coercitivă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sancțiunea, observația scrisă</a:t>
            </a:r>
            <a:endParaRPr lang="en-US" sz="1600" dirty="0"/>
          </a:p>
        </p:txBody>
      </p:sp>
      <p:sp>
        <p:nvSpPr>
          <p:cNvPr id="8" name="Shape 6"/>
          <p:cNvSpPr/>
          <p:nvPr/>
        </p:nvSpPr>
        <p:spPr>
          <a:xfrm>
            <a:off x="594360" y="3218688"/>
            <a:ext cx="6766560" cy="676656"/>
          </a:xfrm>
          <a:prstGeom prst="roundRect">
            <a:avLst>
              <a:gd name="adj" fmla="val 12162"/>
            </a:avLst>
          </a:prstGeom>
          <a:solidFill>
            <a:srgbClr val="ECEAE4"/>
          </a:solidFill>
          <a:ln w="12700">
            <a:solidFill>
              <a:srgbClr val="ECEAE4"/>
            </a:solidFill>
            <a:prstDash val="solid"/>
          </a:ln>
        </p:spPr>
        <p:txBody>
          <a:bodyPr/>
          <a:p/>
        </p:txBody>
      </p:sp>
      <p:sp>
        <p:nvSpPr>
          <p:cNvPr id="9" name="Text 7"/>
          <p:cNvSpPr/>
          <p:nvPr/>
        </p:nvSpPr>
        <p:spPr>
          <a:xfrm>
            <a:off x="822960" y="3218688"/>
            <a:ext cx="6400800" cy="676656"/>
          </a:xfrm>
          <a:prstGeom prst="rect">
            <a:avLst/>
          </a:prstGeom>
          <a:noFill/>
          <a:ln/>
        </p:spPr>
        <p:txBody>
          <a:bodyPr wrap="square" lIns="0" tIns="0" rIns="0" bIns="0" rtlCol="0" anchor="ctr"/>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De referință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oamenii îl urmează pentru că îl admiră</a:t>
            </a:r>
            <a:endParaRPr lang="en-US" sz="1600" dirty="0"/>
          </a:p>
        </p:txBody>
      </p:sp>
      <p:sp>
        <p:nvSpPr>
          <p:cNvPr id="10" name="Shape 8"/>
          <p:cNvSpPr/>
          <p:nvPr/>
        </p:nvSpPr>
        <p:spPr>
          <a:xfrm>
            <a:off x="594360" y="4005072"/>
            <a:ext cx="6766560" cy="676656"/>
          </a:xfrm>
          <a:prstGeom prst="roundRect">
            <a:avLst>
              <a:gd name="adj" fmla="val 12162"/>
            </a:avLst>
          </a:prstGeom>
          <a:solidFill>
            <a:srgbClr val="F9F8F5"/>
          </a:solidFill>
          <a:ln w="12700">
            <a:solidFill>
              <a:srgbClr val="F9F8F5"/>
            </a:solidFill>
            <a:prstDash val="solid"/>
          </a:ln>
        </p:spPr>
        <p:txBody>
          <a:bodyPr/>
          <a:p/>
        </p:txBody>
      </p:sp>
      <p:sp>
        <p:nvSpPr>
          <p:cNvPr id="11" name="Text 9"/>
          <p:cNvSpPr/>
          <p:nvPr/>
        </p:nvSpPr>
        <p:spPr>
          <a:xfrm>
            <a:off x="822960" y="4005072"/>
            <a:ext cx="6400800" cy="676656"/>
          </a:xfrm>
          <a:prstGeom prst="rect">
            <a:avLst/>
          </a:prstGeom>
          <a:noFill/>
          <a:ln/>
        </p:spPr>
        <p:txBody>
          <a:bodyPr wrap="square" lIns="0" tIns="0" rIns="0" bIns="0" rtlCol="0" anchor="ctr"/>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De expert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colegii vin la el la o puncție dificilă</a:t>
            </a:r>
            <a:endParaRPr lang="en-US" sz="1600" dirty="0"/>
          </a:p>
        </p:txBody>
      </p:sp>
      <p:sp>
        <p:nvSpPr>
          <p:cNvPr id="12" name="Shape 10"/>
          <p:cNvSpPr/>
          <p:nvPr/>
        </p:nvSpPr>
        <p:spPr>
          <a:xfrm>
            <a:off x="594360" y="4791456"/>
            <a:ext cx="6766560" cy="676656"/>
          </a:xfrm>
          <a:prstGeom prst="roundRect">
            <a:avLst>
              <a:gd name="adj" fmla="val 12162"/>
            </a:avLst>
          </a:prstGeom>
          <a:solidFill>
            <a:srgbClr val="ECEAE4"/>
          </a:solidFill>
          <a:ln w="12700">
            <a:solidFill>
              <a:srgbClr val="ECEAE4"/>
            </a:solidFill>
            <a:prstDash val="solid"/>
          </a:ln>
        </p:spPr>
        <p:txBody>
          <a:bodyPr/>
          <a:p/>
        </p:txBody>
      </p:sp>
      <p:sp>
        <p:nvSpPr>
          <p:cNvPr id="13" name="Text 11"/>
          <p:cNvSpPr/>
          <p:nvPr/>
        </p:nvSpPr>
        <p:spPr>
          <a:xfrm>
            <a:off x="822960" y="4791456"/>
            <a:ext cx="6400800" cy="676656"/>
          </a:xfrm>
          <a:prstGeom prst="rect">
            <a:avLst/>
          </a:prstGeom>
          <a:noFill/>
          <a:ln/>
        </p:spPr>
        <p:txBody>
          <a:bodyPr wrap="square" lIns="0" tIns="0" rIns="0" bIns="0" rtlCol="0" anchor="ctr"/>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Legitimă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funcția din organigramă și fișa postului</a:t>
            </a:r>
            <a:endParaRPr lang="en-US" sz="1600" dirty="0"/>
          </a:p>
        </p:txBody>
      </p:sp>
      <p:sp>
        <p:nvSpPr>
          <p:cNvPr id="14" name="Shape 12"/>
          <p:cNvSpPr/>
          <p:nvPr/>
        </p:nvSpPr>
        <p:spPr>
          <a:xfrm>
            <a:off x="7589520" y="1645920"/>
            <a:ext cx="3977640" cy="3840480"/>
          </a:xfrm>
          <a:prstGeom prst="roundRect">
            <a:avLst>
              <a:gd name="adj" fmla="val 2143"/>
            </a:avLst>
          </a:prstGeom>
          <a:solidFill>
            <a:srgbClr val="11121A"/>
          </a:solidFill>
          <a:ln w="12700">
            <a:solidFill>
              <a:srgbClr val="11121A"/>
            </a:solidFill>
            <a:prstDash val="solid"/>
          </a:ln>
        </p:spPr>
        <p:txBody>
          <a:bodyPr/>
          <a:p/>
        </p:txBody>
      </p:sp>
      <p:sp>
        <p:nvSpPr>
          <p:cNvPr id="15" name="Text 13"/>
          <p:cNvSpPr/>
          <p:nvPr/>
        </p:nvSpPr>
        <p:spPr>
          <a:xfrm>
            <a:off x="7818120" y="1828800"/>
            <a:ext cx="3566160" cy="182880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Puterea de referință tinde să le amplifice pe celelalte; puterea coercitivă tinde să le slăbească.</a:t>
            </a:r>
            <a:endParaRPr lang="en-US" sz="1700" dirty="0"/>
          </a:p>
        </p:txBody>
      </p:sp>
      <p:sp>
        <p:nvSpPr>
          <p:cNvPr id="16" name="Text 14"/>
          <p:cNvSpPr/>
          <p:nvPr/>
        </p:nvSpPr>
        <p:spPr>
          <a:xfrm>
            <a:off x="7818120" y="3749040"/>
            <a:ext cx="3566160" cy="155448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Mara obține mai mult prin competență și respect decât prin funcție și sancțiuni.</a:t>
            </a:r>
            <a:endParaRPr lang="en-US" sz="1600" dirty="0"/>
          </a:p>
        </p:txBody>
      </p:sp>
      <p:sp>
        <p:nvSpPr>
          <p:cNvPr id="17" name="Text 15"/>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A1002, A1003); exemplele sunt construite pentru curs.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PUTEREA · UN SINGUR RĂSPUNS CORECT</a:t>
            </a:r>
            <a:endParaRPr lang="en-US" sz="1300" dirty="0"/>
          </a:p>
        </p:txBody>
      </p:sp>
      <p:sp>
        <p:nvSpPr>
          <p:cNvPr id="5" name="Text 3"/>
          <p:cNvSpPr/>
          <p:nvPr/>
        </p:nvSpPr>
        <p:spPr>
          <a:xfrm>
            <a:off x="594360" y="868680"/>
            <a:ext cx="10972800" cy="1600200"/>
          </a:xfrm>
          <a:prstGeom prst="rect">
            <a:avLst/>
          </a:prstGeom>
          <a:noFill/>
          <a:ln/>
        </p:spPr>
        <p:txBody>
          <a:bodyPr wrap="square" lIns="0" tIns="0" rIns="0" bIns="0" rtlCol="0" anchor="ctr"/>
          <a:lstStyle/>
          <a:p>
            <a:pPr indent="0" marL="0">
              <a:buNone/>
            </a:pPr>
            <a:r>
              <a:rPr lang="en-US" sz="2500" b="1" dirty="0">
                <a:solidFill>
                  <a:srgbClr val="FFFFFF"/>
                </a:solidFill>
                <a:latin typeface="Palatino Linotype" pitchFamily="34" charset="0"/>
                <a:ea typeface="Palatino Linotype" pitchFamily="34" charset="-122"/>
                <a:cs typeface="Palatino Linotype" pitchFamily="34" charset="-120"/>
              </a:rPr>
              <a:t>Un asistent cu cincisprezece ani de experiență, fără nicio funcție, este căutat de toți colegii la un pacient instabil. Ce putere are în primul rând?</a:t>
            </a:r>
            <a:endParaRPr lang="en-US" sz="2500" dirty="0"/>
          </a:p>
        </p:txBody>
      </p:sp>
      <p:sp>
        <p:nvSpPr>
          <p:cNvPr id="6" name="Shape 4"/>
          <p:cNvSpPr/>
          <p:nvPr/>
        </p:nvSpPr>
        <p:spPr>
          <a:xfrm>
            <a:off x="594360" y="26974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868680" y="2852928"/>
            <a:ext cx="420624" cy="420624"/>
          </a:xfrm>
          <a:prstGeom prst="ellipse">
            <a:avLst/>
          </a:prstGeom>
          <a:solidFill>
            <a:srgbClr val="FFC24B"/>
          </a:solidFill>
          <a:ln/>
        </p:spPr>
        <p:txBody>
          <a:bodyPr/>
          <a:p/>
        </p:txBody>
      </p:sp>
      <p:sp>
        <p:nvSpPr>
          <p:cNvPr id="8" name="Text 6"/>
          <p:cNvSpPr/>
          <p:nvPr/>
        </p:nvSpPr>
        <p:spPr>
          <a:xfrm>
            <a:off x="868680" y="2852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269748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Puterea legitimă</a:t>
            </a:r>
            <a:endParaRPr lang="en-US" sz="2000" dirty="0"/>
          </a:p>
        </p:txBody>
      </p:sp>
      <p:sp>
        <p:nvSpPr>
          <p:cNvPr id="10" name="Shape 8"/>
          <p:cNvSpPr/>
          <p:nvPr/>
        </p:nvSpPr>
        <p:spPr>
          <a:xfrm>
            <a:off x="594360" y="35661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868680" y="3721608"/>
            <a:ext cx="420624" cy="420624"/>
          </a:xfrm>
          <a:prstGeom prst="ellipse">
            <a:avLst/>
          </a:prstGeom>
          <a:solidFill>
            <a:srgbClr val="FFC24B"/>
          </a:solidFill>
          <a:ln/>
        </p:spPr>
        <p:txBody>
          <a:bodyPr/>
          <a:p/>
        </p:txBody>
      </p:sp>
      <p:sp>
        <p:nvSpPr>
          <p:cNvPr id="12" name="Text 10"/>
          <p:cNvSpPr/>
          <p:nvPr/>
        </p:nvSpPr>
        <p:spPr>
          <a:xfrm>
            <a:off x="868680" y="3721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356616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Puterea de expert</a:t>
            </a:r>
            <a:endParaRPr lang="en-US" sz="2000" dirty="0"/>
          </a:p>
        </p:txBody>
      </p:sp>
      <p:sp>
        <p:nvSpPr>
          <p:cNvPr id="14" name="Shape 12"/>
          <p:cNvSpPr/>
          <p:nvPr/>
        </p:nvSpPr>
        <p:spPr>
          <a:xfrm>
            <a:off x="594360" y="44348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5" name="Shape 13"/>
          <p:cNvSpPr/>
          <p:nvPr/>
        </p:nvSpPr>
        <p:spPr>
          <a:xfrm>
            <a:off x="868680" y="4590288"/>
            <a:ext cx="420624" cy="420624"/>
          </a:xfrm>
          <a:prstGeom prst="ellipse">
            <a:avLst/>
          </a:prstGeom>
          <a:solidFill>
            <a:srgbClr val="FFC24B"/>
          </a:solidFill>
          <a:ln/>
        </p:spPr>
        <p:txBody>
          <a:bodyPr/>
          <a:p/>
        </p:txBody>
      </p:sp>
      <p:sp>
        <p:nvSpPr>
          <p:cNvPr id="16" name="Text 14"/>
          <p:cNvSpPr/>
          <p:nvPr/>
        </p:nvSpPr>
        <p:spPr>
          <a:xfrm>
            <a:off x="868680" y="4590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443484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Puterea de recompensă</a:t>
            </a:r>
            <a:endParaRPr lang="en-US" sz="2000" dirty="0"/>
          </a:p>
        </p:txBody>
      </p:sp>
      <p:sp>
        <p:nvSpPr>
          <p:cNvPr id="18" name="Text 16"/>
          <p:cNvSpPr/>
          <p:nvPr/>
        </p:nvSpPr>
        <p:spPr>
          <a:xfrm>
            <a:off x="594360" y="544068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fără să vedeți votul celorlalți.</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B. Puterea de expert</a:t>
            </a:r>
            <a:endParaRPr lang="en-US" sz="3200" dirty="0"/>
          </a:p>
        </p:txBody>
      </p:sp>
      <p:sp>
        <p:nvSpPr>
          <p:cNvPr id="4" name="Shape 2"/>
          <p:cNvSpPr/>
          <p:nvPr/>
        </p:nvSpPr>
        <p:spPr>
          <a:xfrm>
            <a:off x="594360" y="1691640"/>
            <a:ext cx="5394960" cy="2011680"/>
          </a:xfrm>
          <a:prstGeom prst="roundRect">
            <a:avLst>
              <a:gd name="adj" fmla="val 4091"/>
            </a:avLst>
          </a:prstGeom>
          <a:solidFill>
            <a:srgbClr val="ECEAE4"/>
          </a:solidFill>
          <a:ln w="12700">
            <a:solidFill>
              <a:srgbClr val="ECEAE4"/>
            </a:solidFill>
            <a:prstDash val="solid"/>
          </a:ln>
        </p:spPr>
        <p:txBody>
          <a:bodyPr/>
          <a:p/>
        </p:txBody>
      </p:sp>
      <p:sp>
        <p:nvSpPr>
          <p:cNvPr id="5" name="Shape 3"/>
          <p:cNvSpPr/>
          <p:nvPr/>
        </p:nvSpPr>
        <p:spPr>
          <a:xfrm>
            <a:off x="594360" y="1691640"/>
            <a:ext cx="5394960" cy="73152"/>
          </a:xfrm>
          <a:prstGeom prst="rect">
            <a:avLst/>
          </a:prstGeom>
          <a:solidFill>
            <a:srgbClr val="5A5F75"/>
          </a:solidFill>
          <a:ln w="12700">
            <a:solidFill>
              <a:srgbClr val="5A5F75"/>
            </a:solidFill>
            <a:prstDash val="solid"/>
          </a:ln>
        </p:spPr>
        <p:txBody>
          <a:bodyPr/>
          <a:p/>
        </p:txBody>
      </p:sp>
      <p:sp>
        <p:nvSpPr>
          <p:cNvPr id="6" name="Text 4"/>
          <p:cNvSpPr/>
          <p:nvPr/>
        </p:nvSpPr>
        <p:spPr>
          <a:xfrm>
            <a:off x="822960" y="1892808"/>
            <a:ext cx="4937760" cy="685800"/>
          </a:xfrm>
          <a:prstGeom prst="rect">
            <a:avLst/>
          </a:prstGeom>
          <a:noFill/>
          <a:ln/>
        </p:spPr>
        <p:txBody>
          <a:bodyPr wrap="square" lIns="0" tIns="0" rIns="0" bIns="0" rtlCol="0" anchor="t"/>
          <a:lstStyle/>
          <a:p>
            <a:pPr indent="0" marL="0">
              <a:buNone/>
            </a:pPr>
            <a:r>
              <a:rPr lang="en-US" sz="1900" b="1" dirty="0">
                <a:solidFill>
                  <a:srgbClr val="5A5F75"/>
                </a:solidFill>
                <a:latin typeface="Palatino Linotype" pitchFamily="34" charset="0"/>
                <a:ea typeface="Palatino Linotype" pitchFamily="34" charset="-122"/>
                <a:cs typeface="Palatino Linotype" pitchFamily="34" charset="-120"/>
              </a:rPr>
              <a:t>De ce nu legitimă?</a:t>
            </a:r>
            <a:endParaRPr lang="en-US" sz="1900" dirty="0"/>
          </a:p>
        </p:txBody>
      </p:sp>
      <p:sp>
        <p:nvSpPr>
          <p:cNvPr id="7" name="Text 5"/>
          <p:cNvSpPr/>
          <p:nvPr/>
        </p:nvSpPr>
        <p:spPr>
          <a:xfrm>
            <a:off x="822960" y="2560320"/>
            <a:ext cx="4937760" cy="10058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Nu are nicio funcție.</a:t>
            </a:r>
            <a:endParaRPr lang="en-US" sz="1700" dirty="0"/>
          </a:p>
        </p:txBody>
      </p:sp>
      <p:sp>
        <p:nvSpPr>
          <p:cNvPr id="8" name="Shape 6"/>
          <p:cNvSpPr/>
          <p:nvPr/>
        </p:nvSpPr>
        <p:spPr>
          <a:xfrm>
            <a:off x="6172200" y="1691640"/>
            <a:ext cx="5394960" cy="2011680"/>
          </a:xfrm>
          <a:prstGeom prst="roundRect">
            <a:avLst>
              <a:gd name="adj" fmla="val 4091"/>
            </a:avLst>
          </a:prstGeom>
          <a:solidFill>
            <a:srgbClr val="F9F8F5"/>
          </a:solidFill>
          <a:ln w="12700">
            <a:solidFill>
              <a:srgbClr val="F9F8F5"/>
            </a:solidFill>
            <a:prstDash val="solid"/>
          </a:ln>
        </p:spPr>
        <p:txBody>
          <a:bodyPr/>
          <a:p/>
        </p:txBody>
      </p:sp>
      <p:sp>
        <p:nvSpPr>
          <p:cNvPr id="9" name="Shape 7"/>
          <p:cNvSpPr/>
          <p:nvPr/>
        </p:nvSpPr>
        <p:spPr>
          <a:xfrm>
            <a:off x="6172200" y="1691640"/>
            <a:ext cx="5394960" cy="73152"/>
          </a:xfrm>
          <a:prstGeom prst="rect">
            <a:avLst/>
          </a:prstGeom>
          <a:solidFill>
            <a:srgbClr val="5A5F75"/>
          </a:solidFill>
          <a:ln w="12700">
            <a:solidFill>
              <a:srgbClr val="5A5F75"/>
            </a:solidFill>
            <a:prstDash val="solid"/>
          </a:ln>
        </p:spPr>
        <p:txBody>
          <a:bodyPr/>
          <a:p/>
        </p:txBody>
      </p:sp>
      <p:sp>
        <p:nvSpPr>
          <p:cNvPr id="10" name="Text 8"/>
          <p:cNvSpPr/>
          <p:nvPr/>
        </p:nvSpPr>
        <p:spPr>
          <a:xfrm>
            <a:off x="6400800" y="1892808"/>
            <a:ext cx="4937760" cy="685800"/>
          </a:xfrm>
          <a:prstGeom prst="rect">
            <a:avLst/>
          </a:prstGeom>
          <a:noFill/>
          <a:ln/>
        </p:spPr>
        <p:txBody>
          <a:bodyPr wrap="square" lIns="0" tIns="0" rIns="0" bIns="0" rtlCol="0" anchor="t"/>
          <a:lstStyle/>
          <a:p>
            <a:pPr indent="0" marL="0">
              <a:buNone/>
            </a:pPr>
            <a:r>
              <a:rPr lang="en-US" sz="1900" b="1" dirty="0">
                <a:solidFill>
                  <a:srgbClr val="5A5F75"/>
                </a:solidFill>
                <a:latin typeface="Palatino Linotype" pitchFamily="34" charset="0"/>
                <a:ea typeface="Palatino Linotype" pitchFamily="34" charset="-122"/>
                <a:cs typeface="Palatino Linotype" pitchFamily="34" charset="-120"/>
              </a:rPr>
              <a:t>De ce nu de recompensă?</a:t>
            </a:r>
            <a:endParaRPr lang="en-US" sz="1900" dirty="0"/>
          </a:p>
        </p:txBody>
      </p:sp>
      <p:sp>
        <p:nvSpPr>
          <p:cNvPr id="11" name="Text 9"/>
          <p:cNvSpPr/>
          <p:nvPr/>
        </p:nvSpPr>
        <p:spPr>
          <a:xfrm>
            <a:off x="6400800" y="2560320"/>
            <a:ext cx="4937760" cy="10058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Nu poate acorda recompense.</a:t>
            </a:r>
            <a:endParaRPr lang="en-US" sz="1700" dirty="0"/>
          </a:p>
        </p:txBody>
      </p:sp>
      <p:sp>
        <p:nvSpPr>
          <p:cNvPr id="12" name="Shape 10"/>
          <p:cNvSpPr/>
          <p:nvPr/>
        </p:nvSpPr>
        <p:spPr>
          <a:xfrm>
            <a:off x="594360" y="3977640"/>
            <a:ext cx="10972800" cy="1188720"/>
          </a:xfrm>
          <a:prstGeom prst="roundRect">
            <a:avLst>
              <a:gd name="adj" fmla="val 6923"/>
            </a:avLst>
          </a:prstGeom>
          <a:solidFill>
            <a:srgbClr val="11121A"/>
          </a:solidFill>
          <a:ln w="12700">
            <a:solidFill>
              <a:srgbClr val="11121A"/>
            </a:solidFill>
            <a:prstDash val="solid"/>
          </a:ln>
        </p:spPr>
        <p:txBody>
          <a:bodyPr/>
          <a:p/>
        </p:txBody>
      </p:sp>
      <p:sp>
        <p:nvSpPr>
          <p:cNvPr id="13" name="Text 11"/>
          <p:cNvSpPr/>
          <p:nvPr/>
        </p:nvSpPr>
        <p:spPr>
          <a:xfrm>
            <a:off x="868680" y="3977640"/>
            <a:ext cx="10424160" cy="118872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Influența lui vine din cunoștințele pe care colegii știu că le are și pe care le împărtășește.</a:t>
            </a:r>
            <a:endParaRPr lang="en-US" sz="1800" dirty="0"/>
          </a:p>
        </p:txBody>
      </p:sp>
      <p:sp>
        <p:nvSpPr>
          <p:cNvPr id="14" name="Text 12"/>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LEADERSHIPUL TRANSFORMAȚIONAL · OPENSTAX</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Inspiră, nu doar recompensează</a:t>
            </a:r>
            <a:endParaRPr lang="en-US" sz="3000" dirty="0"/>
          </a:p>
        </p:txBody>
      </p:sp>
      <p:sp>
        <p:nvSpPr>
          <p:cNvPr id="4" name="Shape 2"/>
          <p:cNvSpPr/>
          <p:nvPr/>
        </p:nvSpPr>
        <p:spPr>
          <a:xfrm>
            <a:off x="594360" y="1645920"/>
            <a:ext cx="3291840" cy="1554480"/>
          </a:xfrm>
          <a:prstGeom prst="roundRect">
            <a:avLst>
              <a:gd name="adj" fmla="val 5294"/>
            </a:avLst>
          </a:prstGeom>
          <a:solidFill>
            <a:srgbClr val="ECEAE4"/>
          </a:solidFill>
          <a:ln w="12700">
            <a:solidFill>
              <a:srgbClr val="ECEAE4"/>
            </a:solidFill>
            <a:prstDash val="solid"/>
          </a:ln>
        </p:spPr>
        <p:txBody>
          <a:bodyPr/>
          <a:p/>
        </p:txBody>
      </p:sp>
      <p:sp>
        <p:nvSpPr>
          <p:cNvPr id="5" name="Text 3"/>
          <p:cNvSpPr/>
          <p:nvPr/>
        </p:nvSpPr>
        <p:spPr>
          <a:xfrm>
            <a:off x="777240" y="1783080"/>
            <a:ext cx="2926080" cy="640080"/>
          </a:xfrm>
          <a:prstGeom prst="rect">
            <a:avLst/>
          </a:prstGeom>
          <a:noFill/>
          <a:ln/>
        </p:spPr>
        <p:txBody>
          <a:bodyPr wrap="square" lIns="0" tIns="0" rIns="0" bIns="0" rtlCol="0" anchor="t"/>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Influența idealizată</a:t>
            </a:r>
            <a:endParaRPr lang="en-US" sz="1650" dirty="0"/>
          </a:p>
        </p:txBody>
      </p:sp>
      <p:sp>
        <p:nvSpPr>
          <p:cNvPr id="6" name="Text 4"/>
          <p:cNvSpPr/>
          <p:nvPr/>
        </p:nvSpPr>
        <p:spPr>
          <a:xfrm>
            <a:off x="777240" y="2423160"/>
            <a:ext cx="2926080" cy="73152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liderul este un model</a:t>
            </a:r>
            <a:endParaRPr lang="en-US" sz="1500" dirty="0"/>
          </a:p>
        </p:txBody>
      </p:sp>
      <p:sp>
        <p:nvSpPr>
          <p:cNvPr id="7" name="Shape 5"/>
          <p:cNvSpPr/>
          <p:nvPr/>
        </p:nvSpPr>
        <p:spPr>
          <a:xfrm>
            <a:off x="4023360" y="1645920"/>
            <a:ext cx="3291840" cy="1554480"/>
          </a:xfrm>
          <a:prstGeom prst="roundRect">
            <a:avLst>
              <a:gd name="adj" fmla="val 5294"/>
            </a:avLst>
          </a:prstGeom>
          <a:solidFill>
            <a:srgbClr val="F9F8F5"/>
          </a:solidFill>
          <a:ln w="12700">
            <a:solidFill>
              <a:srgbClr val="F9F8F5"/>
            </a:solidFill>
            <a:prstDash val="solid"/>
          </a:ln>
        </p:spPr>
        <p:txBody>
          <a:bodyPr/>
          <a:p/>
        </p:txBody>
      </p:sp>
      <p:sp>
        <p:nvSpPr>
          <p:cNvPr id="8" name="Text 6"/>
          <p:cNvSpPr/>
          <p:nvPr/>
        </p:nvSpPr>
        <p:spPr>
          <a:xfrm>
            <a:off x="4206240" y="1783080"/>
            <a:ext cx="2926080" cy="640080"/>
          </a:xfrm>
          <a:prstGeom prst="rect">
            <a:avLst/>
          </a:prstGeom>
          <a:noFill/>
          <a:ln/>
        </p:spPr>
        <p:txBody>
          <a:bodyPr wrap="square" lIns="0" tIns="0" rIns="0" bIns="0" rtlCol="0" anchor="t"/>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Motivația inspirațională</a:t>
            </a:r>
            <a:endParaRPr lang="en-US" sz="1650" dirty="0"/>
          </a:p>
        </p:txBody>
      </p:sp>
      <p:sp>
        <p:nvSpPr>
          <p:cNvPr id="9" name="Text 7"/>
          <p:cNvSpPr/>
          <p:nvPr/>
        </p:nvSpPr>
        <p:spPr>
          <a:xfrm>
            <a:off x="4206240" y="2423160"/>
            <a:ext cx="2926080" cy="73152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o viziune atrăgătoare a echipei</a:t>
            </a:r>
            <a:endParaRPr lang="en-US" sz="1500" dirty="0"/>
          </a:p>
        </p:txBody>
      </p:sp>
      <p:sp>
        <p:nvSpPr>
          <p:cNvPr id="10" name="Shape 8"/>
          <p:cNvSpPr/>
          <p:nvPr/>
        </p:nvSpPr>
        <p:spPr>
          <a:xfrm>
            <a:off x="594360" y="3337560"/>
            <a:ext cx="3291840" cy="1554480"/>
          </a:xfrm>
          <a:prstGeom prst="roundRect">
            <a:avLst>
              <a:gd name="adj" fmla="val 5294"/>
            </a:avLst>
          </a:prstGeom>
          <a:solidFill>
            <a:srgbClr val="F9F8F5"/>
          </a:solidFill>
          <a:ln w="12700">
            <a:solidFill>
              <a:srgbClr val="F9F8F5"/>
            </a:solidFill>
            <a:prstDash val="solid"/>
          </a:ln>
        </p:spPr>
        <p:txBody>
          <a:bodyPr/>
          <a:p/>
        </p:txBody>
      </p:sp>
      <p:sp>
        <p:nvSpPr>
          <p:cNvPr id="11" name="Text 9"/>
          <p:cNvSpPr/>
          <p:nvPr/>
        </p:nvSpPr>
        <p:spPr>
          <a:xfrm>
            <a:off x="777240" y="3474720"/>
            <a:ext cx="2926080" cy="640080"/>
          </a:xfrm>
          <a:prstGeom prst="rect">
            <a:avLst/>
          </a:prstGeom>
          <a:noFill/>
          <a:ln/>
        </p:spPr>
        <p:txBody>
          <a:bodyPr wrap="square" lIns="0" tIns="0" rIns="0" bIns="0" rtlCol="0" anchor="t"/>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Stimularea intelectuală</a:t>
            </a:r>
            <a:endParaRPr lang="en-US" sz="1650" dirty="0"/>
          </a:p>
        </p:txBody>
      </p:sp>
      <p:sp>
        <p:nvSpPr>
          <p:cNvPr id="12" name="Text 10"/>
          <p:cNvSpPr/>
          <p:nvPr/>
        </p:nvSpPr>
        <p:spPr>
          <a:xfrm>
            <a:off x="777240" y="4114800"/>
            <a:ext cx="2926080" cy="73152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pune la îndoială obiceiurile stabilite</a:t>
            </a:r>
            <a:endParaRPr lang="en-US" sz="1500" dirty="0"/>
          </a:p>
        </p:txBody>
      </p:sp>
      <p:sp>
        <p:nvSpPr>
          <p:cNvPr id="13" name="Shape 11"/>
          <p:cNvSpPr/>
          <p:nvPr/>
        </p:nvSpPr>
        <p:spPr>
          <a:xfrm>
            <a:off x="4023360" y="3337560"/>
            <a:ext cx="3291840" cy="1554480"/>
          </a:xfrm>
          <a:prstGeom prst="roundRect">
            <a:avLst>
              <a:gd name="adj" fmla="val 5294"/>
            </a:avLst>
          </a:prstGeom>
          <a:solidFill>
            <a:srgbClr val="ECEAE4"/>
          </a:solidFill>
          <a:ln w="12700">
            <a:solidFill>
              <a:srgbClr val="ECEAE4"/>
            </a:solidFill>
            <a:prstDash val="solid"/>
          </a:ln>
        </p:spPr>
        <p:txBody>
          <a:bodyPr/>
          <a:p/>
        </p:txBody>
      </p:sp>
      <p:sp>
        <p:nvSpPr>
          <p:cNvPr id="14" name="Text 12"/>
          <p:cNvSpPr/>
          <p:nvPr/>
        </p:nvSpPr>
        <p:spPr>
          <a:xfrm>
            <a:off x="4206240" y="3474720"/>
            <a:ext cx="2926080" cy="640080"/>
          </a:xfrm>
          <a:prstGeom prst="rect">
            <a:avLst/>
          </a:prstGeom>
          <a:noFill/>
          <a:ln/>
        </p:spPr>
        <p:txBody>
          <a:bodyPr wrap="square" lIns="0" tIns="0" rIns="0" bIns="0" rtlCol="0" anchor="t"/>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Considerația individualizată</a:t>
            </a:r>
            <a:endParaRPr lang="en-US" sz="1650" dirty="0"/>
          </a:p>
        </p:txBody>
      </p:sp>
      <p:sp>
        <p:nvSpPr>
          <p:cNvPr id="15" name="Text 13"/>
          <p:cNvSpPr/>
          <p:nvPr/>
        </p:nvSpPr>
        <p:spPr>
          <a:xfrm>
            <a:off x="4206240" y="4114800"/>
            <a:ext cx="2926080" cy="73152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se ocupă de dezvoltarea fiecăruia</a:t>
            </a:r>
            <a:endParaRPr lang="en-US" sz="1500" dirty="0"/>
          </a:p>
        </p:txBody>
      </p:sp>
      <p:sp>
        <p:nvSpPr>
          <p:cNvPr id="16" name="Shape 14"/>
          <p:cNvSpPr/>
          <p:nvPr/>
        </p:nvSpPr>
        <p:spPr>
          <a:xfrm>
            <a:off x="7589520" y="1645920"/>
            <a:ext cx="3977640" cy="1600200"/>
          </a:xfrm>
          <a:prstGeom prst="roundRect">
            <a:avLst>
              <a:gd name="adj" fmla="val 5143"/>
            </a:avLst>
          </a:prstGeom>
          <a:solidFill>
            <a:srgbClr val="ECEAE4"/>
          </a:solidFill>
          <a:ln w="12700">
            <a:solidFill>
              <a:srgbClr val="ECEAE4"/>
            </a:solidFill>
            <a:prstDash val="solid"/>
          </a:ln>
        </p:spPr>
        <p:txBody>
          <a:bodyPr/>
          <a:p/>
        </p:txBody>
      </p:sp>
      <p:sp>
        <p:nvSpPr>
          <p:cNvPr id="17" name="Shape 15"/>
          <p:cNvSpPr/>
          <p:nvPr/>
        </p:nvSpPr>
        <p:spPr>
          <a:xfrm>
            <a:off x="7589520" y="1645920"/>
            <a:ext cx="3977640" cy="73152"/>
          </a:xfrm>
          <a:prstGeom prst="rect">
            <a:avLst/>
          </a:prstGeom>
          <a:solidFill>
            <a:srgbClr val="8A6100"/>
          </a:solidFill>
          <a:ln w="12700">
            <a:solidFill>
              <a:srgbClr val="8A6100"/>
            </a:solidFill>
            <a:prstDash val="solid"/>
          </a:ln>
        </p:spPr>
        <p:txBody>
          <a:bodyPr/>
          <a:p/>
        </p:txBody>
      </p:sp>
      <p:sp>
        <p:nvSpPr>
          <p:cNvPr id="18" name="Text 16"/>
          <p:cNvSpPr/>
          <p:nvPr/>
        </p:nvSpPr>
        <p:spPr>
          <a:xfrm>
            <a:off x="7818120" y="1847088"/>
            <a:ext cx="352044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Se potrivește</a:t>
            </a:r>
            <a:endParaRPr lang="en-US" sz="1700" dirty="0"/>
          </a:p>
        </p:txBody>
      </p:sp>
      <p:sp>
        <p:nvSpPr>
          <p:cNvPr id="19" name="Text 17"/>
          <p:cNvSpPr/>
          <p:nvPr/>
        </p:nvSpPr>
        <p:spPr>
          <a:xfrm>
            <a:off x="7818120" y="2514600"/>
            <a:ext cx="3520440" cy="5943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reorganizării secției, unui protocol nou</a:t>
            </a:r>
            <a:endParaRPr lang="en-US" sz="1500" dirty="0"/>
          </a:p>
        </p:txBody>
      </p:sp>
      <p:sp>
        <p:nvSpPr>
          <p:cNvPr id="20" name="Shape 18"/>
          <p:cNvSpPr/>
          <p:nvPr/>
        </p:nvSpPr>
        <p:spPr>
          <a:xfrm>
            <a:off x="7589520" y="3383280"/>
            <a:ext cx="3977640" cy="1600200"/>
          </a:xfrm>
          <a:prstGeom prst="roundRect">
            <a:avLst>
              <a:gd name="adj" fmla="val 5143"/>
            </a:avLst>
          </a:prstGeom>
          <a:solidFill>
            <a:srgbClr val="F9F8F5"/>
          </a:solidFill>
          <a:ln w="12700">
            <a:solidFill>
              <a:srgbClr val="F9F8F5"/>
            </a:solidFill>
            <a:prstDash val="solid"/>
          </a:ln>
        </p:spPr>
        <p:txBody>
          <a:bodyPr/>
          <a:p/>
        </p:txBody>
      </p:sp>
      <p:sp>
        <p:nvSpPr>
          <p:cNvPr id="21" name="Shape 19"/>
          <p:cNvSpPr/>
          <p:nvPr/>
        </p:nvSpPr>
        <p:spPr>
          <a:xfrm>
            <a:off x="7589520" y="3383280"/>
            <a:ext cx="3977640" cy="73152"/>
          </a:xfrm>
          <a:prstGeom prst="rect">
            <a:avLst/>
          </a:prstGeom>
          <a:solidFill>
            <a:srgbClr val="B02532"/>
          </a:solidFill>
          <a:ln w="12700">
            <a:solidFill>
              <a:srgbClr val="B02532"/>
            </a:solidFill>
            <a:prstDash val="solid"/>
          </a:ln>
        </p:spPr>
        <p:txBody>
          <a:bodyPr/>
          <a:p/>
        </p:txBody>
      </p:sp>
      <p:sp>
        <p:nvSpPr>
          <p:cNvPr id="22" name="Text 20"/>
          <p:cNvSpPr/>
          <p:nvPr/>
        </p:nvSpPr>
        <p:spPr>
          <a:xfrm>
            <a:off x="7818120" y="3584448"/>
            <a:ext cx="3520440" cy="6858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Riscul</a:t>
            </a:r>
            <a:endParaRPr lang="en-US" sz="1700" dirty="0"/>
          </a:p>
        </p:txBody>
      </p:sp>
      <p:sp>
        <p:nvSpPr>
          <p:cNvPr id="23" name="Text 21"/>
          <p:cNvSpPr/>
          <p:nvPr/>
        </p:nvSpPr>
        <p:spPr>
          <a:xfrm>
            <a:off x="7818120" y="4251960"/>
            <a:ext cx="3520440" cy="5943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dependența echipei de lider</a:t>
            </a:r>
            <a:endParaRPr lang="en-US" sz="1500" dirty="0"/>
          </a:p>
        </p:txBody>
      </p:sp>
      <p:sp>
        <p:nvSpPr>
          <p:cNvPr id="24" name="Text 22"/>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A1004); potrivirea și riscul: sinteză didactică.</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O AFIRMAȚIE DE VERIFICAT</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Un lider bun salvează pacienți?</a:t>
            </a:r>
            <a:endParaRPr lang="en-US" sz="3200" dirty="0"/>
          </a:p>
        </p:txBody>
      </p:sp>
      <p:sp>
        <p:nvSpPr>
          <p:cNvPr id="6" name="Shape 4"/>
          <p:cNvSpPr/>
          <p:nvPr/>
        </p:nvSpPr>
        <p:spPr>
          <a:xfrm>
            <a:off x="594360" y="1783080"/>
            <a:ext cx="5669280" cy="1554480"/>
          </a:xfrm>
          <a:prstGeom prst="roundRect">
            <a:avLst>
              <a:gd name="adj" fmla="val 10588"/>
            </a:avLst>
          </a:prstGeom>
          <a:solidFill>
            <a:srgbClr val="272A38"/>
          </a:solidFill>
          <a:ln w="12700">
            <a:solidFill>
              <a:srgbClr val="272A38"/>
            </a:solidFill>
            <a:prstDash val="solid"/>
          </a:ln>
        </p:spPr>
        <p:txBody>
          <a:bodyPr/>
          <a:p/>
        </p:txBody>
      </p:sp>
      <p:sp>
        <p:nvSpPr>
          <p:cNvPr id="7" name="Shape 5"/>
          <p:cNvSpPr/>
          <p:nvPr/>
        </p:nvSpPr>
        <p:spPr>
          <a:xfrm flipV="1">
            <a:off x="1005840" y="3319272"/>
            <a:ext cx="457200" cy="292608"/>
          </a:xfrm>
          <a:prstGeom prst="triangle">
            <a:avLst/>
          </a:prstGeom>
          <a:solidFill>
            <a:srgbClr val="272A38"/>
          </a:solidFill>
          <a:ln w="12700">
            <a:solidFill>
              <a:srgbClr val="272A38"/>
            </a:solidFill>
            <a:prstDash val="solid"/>
          </a:ln>
        </p:spPr>
        <p:txBody>
          <a:bodyPr/>
          <a:p/>
        </p:txBody>
      </p:sp>
      <p:sp>
        <p:nvSpPr>
          <p:cNvPr id="8" name="Text 6"/>
          <p:cNvSpPr/>
          <p:nvPr/>
        </p:nvSpPr>
        <p:spPr>
          <a:xfrm>
            <a:off x="868680" y="1783080"/>
            <a:ext cx="5212080" cy="15544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„Leadershipul transformațional îmbunătățește rezultatele pacienților.”</a:t>
            </a:r>
            <a:endParaRPr lang="en-US" sz="1900" dirty="0"/>
          </a:p>
        </p:txBody>
      </p:sp>
      <p:sp>
        <p:nvSpPr>
          <p:cNvPr id="9" name="Shape 7"/>
          <p:cNvSpPr/>
          <p:nvPr/>
        </p:nvSpPr>
        <p:spPr>
          <a:xfrm>
            <a:off x="6583680" y="1783080"/>
            <a:ext cx="4983480" cy="1417320"/>
          </a:xfrm>
          <a:prstGeom prst="roundRect">
            <a:avLst>
              <a:gd name="adj" fmla="val 5806"/>
            </a:avLst>
          </a:prstGeom>
          <a:solidFill>
            <a:srgbClr val="1D1F2B"/>
          </a:solidFill>
          <a:ln w="12700">
            <a:solidFill>
              <a:srgbClr val="1D1F2B"/>
            </a:solidFill>
            <a:prstDash val="solid"/>
          </a:ln>
        </p:spPr>
        <p:txBody>
          <a:bodyPr/>
          <a:p/>
        </p:txBody>
      </p:sp>
      <p:sp>
        <p:nvSpPr>
          <p:cNvPr id="10" name="Text 8"/>
          <p:cNvSpPr/>
          <p:nvPr/>
        </p:nvSpPr>
        <p:spPr>
          <a:xfrm>
            <a:off x="6812280" y="1920240"/>
            <a:ext cx="4572000" cy="36576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Ce nu putem afirma</a:t>
            </a:r>
            <a:endParaRPr lang="en-US" sz="1500" dirty="0"/>
          </a:p>
        </p:txBody>
      </p:sp>
      <p:sp>
        <p:nvSpPr>
          <p:cNvPr id="11" name="Text 9"/>
          <p:cNvSpPr/>
          <p:nvPr/>
        </p:nvSpPr>
        <p:spPr>
          <a:xfrm>
            <a:off x="6812280" y="2286000"/>
            <a:ext cx="4572000" cy="8686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Studiile din decul cursului nu au fost citite: notele nu afirmă această legătură.</a:t>
            </a:r>
            <a:endParaRPr lang="en-US" sz="1500" dirty="0"/>
          </a:p>
        </p:txBody>
      </p:sp>
      <p:sp>
        <p:nvSpPr>
          <p:cNvPr id="12" name="Shape 10"/>
          <p:cNvSpPr/>
          <p:nvPr/>
        </p:nvSpPr>
        <p:spPr>
          <a:xfrm>
            <a:off x="6583680" y="3383280"/>
            <a:ext cx="4983480" cy="1417320"/>
          </a:xfrm>
          <a:prstGeom prst="roundRect">
            <a:avLst>
              <a:gd name="adj" fmla="val 5806"/>
            </a:avLst>
          </a:prstGeom>
          <a:solidFill>
            <a:srgbClr val="1D1F2B"/>
          </a:solidFill>
          <a:ln w="12700">
            <a:solidFill>
              <a:srgbClr val="1D1F2B"/>
            </a:solidFill>
            <a:prstDash val="solid"/>
          </a:ln>
        </p:spPr>
        <p:txBody>
          <a:bodyPr/>
          <a:p/>
        </p:txBody>
      </p:sp>
      <p:sp>
        <p:nvSpPr>
          <p:cNvPr id="13" name="Text 11"/>
          <p:cNvSpPr/>
          <p:nvPr/>
        </p:nvSpPr>
        <p:spPr>
          <a:xfrm>
            <a:off x="6812280" y="3520440"/>
            <a:ext cx="4572000" cy="36576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Ce știm din cursul trecut</a:t>
            </a:r>
            <a:endParaRPr lang="en-US" sz="1500" dirty="0"/>
          </a:p>
        </p:txBody>
      </p:sp>
      <p:sp>
        <p:nvSpPr>
          <p:cNvPr id="14" name="Text 12"/>
          <p:cNvSpPr/>
          <p:nvPr/>
        </p:nvSpPr>
        <p:spPr>
          <a:xfrm>
            <a:off x="6812280" y="3886200"/>
            <a:ext cx="4572000" cy="8686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Numărul de pacienți pe asistent se asociază cu rezultatele pacienților.</a:t>
            </a:r>
            <a:endParaRPr lang="en-US" sz="1500" dirty="0"/>
          </a:p>
        </p:txBody>
      </p:sp>
      <p:sp>
        <p:nvSpPr>
          <p:cNvPr id="15" name="Shape 13"/>
          <p:cNvSpPr/>
          <p:nvPr/>
        </p:nvSpPr>
        <p:spPr>
          <a:xfrm>
            <a:off x="594360" y="5166360"/>
            <a:ext cx="10972800" cy="914400"/>
          </a:xfrm>
          <a:prstGeom prst="roundRect">
            <a:avLst>
              <a:gd name="adj" fmla="val 9000"/>
            </a:avLst>
          </a:prstGeom>
          <a:solidFill>
            <a:srgbClr val="272A38"/>
          </a:solidFill>
          <a:ln w="12700">
            <a:solidFill>
              <a:srgbClr val="272A38"/>
            </a:solidFill>
            <a:prstDash val="solid"/>
          </a:ln>
        </p:spPr>
        <p:txBody>
          <a:bodyPr/>
          <a:p/>
        </p:txBody>
      </p:sp>
      <p:sp>
        <p:nvSpPr>
          <p:cNvPr id="16" name="Text 14"/>
          <p:cNvSpPr/>
          <p:nvPr/>
        </p:nvSpPr>
        <p:spPr>
          <a:xfrm>
            <a:off x="868680" y="5166360"/>
            <a:ext cx="10424160" cy="91440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O asociere, fără dovada unei relații cauzale.</a:t>
            </a:r>
            <a:endParaRPr lang="en-US" sz="1800" dirty="0"/>
          </a:p>
        </p:txBody>
      </p:sp>
      <p:sp>
        <p:nvSpPr>
          <p:cNvPr id="17" name="Text 15"/>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registru A910, A931 (cursul al treilea).</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LEADERSHIPUL SITUAȚIONAL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Stilul se alege după omul condus</a:t>
            </a:r>
            <a:endParaRPr lang="en-US" sz="3000" dirty="0"/>
          </a:p>
        </p:txBody>
      </p:sp>
      <p:sp>
        <p:nvSpPr>
          <p:cNvPr id="4" name="Shape 2"/>
          <p:cNvSpPr/>
          <p:nvPr/>
        </p:nvSpPr>
        <p:spPr>
          <a:xfrm>
            <a:off x="594360" y="1600200"/>
            <a:ext cx="10972800" cy="1600200"/>
          </a:xfrm>
          <a:prstGeom prst="roundRect">
            <a:avLst>
              <a:gd name="adj" fmla="val 5143"/>
            </a:avLst>
          </a:prstGeom>
          <a:solidFill>
            <a:srgbClr val="FFFFFF"/>
          </a:solidFill>
          <a:ln w="12700">
            <a:solidFill>
              <a:srgbClr val="FFFFFF"/>
            </a:solidFill>
            <a:prstDash val="solid"/>
          </a:ln>
        </p:spPr>
        <p:txBody>
          <a:bodyPr/>
          <a:p/>
        </p:txBody>
      </p:sp>
      <p:sp>
        <p:nvSpPr>
          <p:cNvPr id="5" name="Shape 3"/>
          <p:cNvSpPr/>
          <p:nvPr/>
        </p:nvSpPr>
        <p:spPr>
          <a:xfrm>
            <a:off x="594360" y="1600200"/>
            <a:ext cx="82296" cy="1600200"/>
          </a:xfrm>
          <a:prstGeom prst="rect">
            <a:avLst/>
          </a:prstGeom>
          <a:solidFill>
            <a:srgbClr val="0E7C6B"/>
          </a:solidFill>
          <a:ln w="12700">
            <a:solidFill>
              <a:srgbClr val="0E7C6B"/>
            </a:solidFill>
            <a:prstDash val="solid"/>
          </a:ln>
        </p:spPr>
        <p:txBody>
          <a:bodyPr/>
          <a:p/>
        </p:txBody>
      </p:sp>
      <p:sp>
        <p:nvSpPr>
          <p:cNvPr id="6" name="Text 4"/>
          <p:cNvSpPr/>
          <p:nvPr/>
        </p:nvSpPr>
        <p:spPr>
          <a:xfrm>
            <a:off x="914400" y="1600200"/>
            <a:ext cx="10424160" cy="160020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Criteriul: pregătirea celui condus pentru sarcina respectivă, adică capacitatea, motivația și angajamentul lui. Cine nu are încă această pregătire are nevoie, de regulă, de un stil mai directiv.</a:t>
            </a:r>
            <a:endParaRPr lang="en-US" sz="1800" dirty="0"/>
          </a:p>
        </p:txBody>
      </p:sp>
      <p:sp>
        <p:nvSpPr>
          <p:cNvPr id="7" name="Text 5"/>
          <p:cNvSpPr/>
          <p:nvPr/>
        </p:nvSpPr>
        <p:spPr>
          <a:xfrm>
            <a:off x="594360" y="3429000"/>
            <a:ext cx="10972800" cy="320040"/>
          </a:xfrm>
          <a:prstGeom prst="rect">
            <a:avLst/>
          </a:prstGeom>
          <a:noFill/>
          <a:ln/>
        </p:spPr>
        <p:txBody>
          <a:bodyPr wrap="square" lIns="0" tIns="0" rIns="0" bIns="0" rtlCol="0" anchor="t"/>
          <a:lstStyle/>
          <a:p>
            <a:pPr indent="0" marL="0">
              <a:buNone/>
            </a:pPr>
            <a:r>
              <a:rPr lang="en-US" sz="1300" b="1" spc="100" kern="0" dirty="0">
                <a:solidFill>
                  <a:srgbClr val="585A64"/>
                </a:solidFill>
                <a:latin typeface="Palatino Linotype" pitchFamily="34" charset="0"/>
                <a:ea typeface="Palatino Linotype" pitchFamily="34" charset="-122"/>
                <a:cs typeface="Palatino Linotype" pitchFamily="34" charset="-120"/>
              </a:rPr>
              <a:t>PATRU STILURI, ÎN FORMA DIN DECUL CURSULUI · NU SE EVALUEAZĂ</a:t>
            </a:r>
            <a:endParaRPr lang="en-US" sz="1300" dirty="0"/>
          </a:p>
        </p:txBody>
      </p:sp>
      <p:sp>
        <p:nvSpPr>
          <p:cNvPr id="8" name="Shape 6"/>
          <p:cNvSpPr/>
          <p:nvPr/>
        </p:nvSpPr>
        <p:spPr>
          <a:xfrm>
            <a:off x="594360" y="3794760"/>
            <a:ext cx="2651760" cy="960120"/>
          </a:xfrm>
          <a:prstGeom prst="roundRect">
            <a:avLst>
              <a:gd name="adj" fmla="val 8571"/>
            </a:avLst>
          </a:prstGeom>
          <a:solidFill>
            <a:srgbClr val="ECEAE4"/>
          </a:solidFill>
          <a:ln w="12700">
            <a:solidFill>
              <a:srgbClr val="ECEAE4"/>
            </a:solidFill>
            <a:prstDash val="solid"/>
          </a:ln>
        </p:spPr>
        <p:txBody>
          <a:bodyPr/>
          <a:p/>
        </p:txBody>
      </p:sp>
      <p:sp>
        <p:nvSpPr>
          <p:cNvPr id="9" name="Text 7"/>
          <p:cNvSpPr/>
          <p:nvPr/>
        </p:nvSpPr>
        <p:spPr>
          <a:xfrm>
            <a:off x="777240" y="3794760"/>
            <a:ext cx="2286000" cy="960120"/>
          </a:xfrm>
          <a:prstGeom prst="rect">
            <a:avLst/>
          </a:prstGeom>
          <a:noFill/>
          <a:ln/>
        </p:spPr>
        <p:txBody>
          <a:bodyPr wrap="square" lIns="0" tIns="0" rIns="0" bIns="0" rtlCol="0" anchor="ctr"/>
          <a:lstStyle/>
          <a:p>
            <a:pPr indent="0" marL="0">
              <a:buNone/>
            </a:pPr>
            <a:r>
              <a:rPr lang="en-US" sz="1550" b="1" dirty="0">
                <a:solidFill>
                  <a:srgbClr val="4A2D8C"/>
                </a:solidFill>
                <a:latin typeface="Palatino Linotype" pitchFamily="34" charset="0"/>
                <a:ea typeface="Palatino Linotype" pitchFamily="34" charset="-122"/>
                <a:cs typeface="Palatino Linotype" pitchFamily="34" charset="-120"/>
              </a:rPr>
              <a:t>Directiv</a:t>
            </a:r>
            <a:endParaRPr lang="en-US" sz="1550" dirty="0"/>
          </a:p>
          <a:p>
            <a:pPr indent="0" marL="0">
              <a:buNone/>
            </a:pPr>
            <a:r>
              <a:rPr lang="en-US" sz="1550" i="1" dirty="0">
                <a:solidFill>
                  <a:srgbClr val="11121A"/>
                </a:solidFill>
                <a:latin typeface="Palatino Linotype" pitchFamily="34" charset="0"/>
                <a:ea typeface="Palatino Linotype" pitchFamily="34" charset="-122"/>
                <a:cs typeface="Palatino Linotype" pitchFamily="34" charset="-120"/>
              </a:rPr>
              <a:t>„spune”</a:t>
            </a:r>
            <a:endParaRPr lang="en-US" sz="1550" dirty="0"/>
          </a:p>
        </p:txBody>
      </p:sp>
      <p:sp>
        <p:nvSpPr>
          <p:cNvPr id="10" name="Shape 8"/>
          <p:cNvSpPr/>
          <p:nvPr/>
        </p:nvSpPr>
        <p:spPr>
          <a:xfrm>
            <a:off x="3383280" y="3794760"/>
            <a:ext cx="2651760" cy="960120"/>
          </a:xfrm>
          <a:prstGeom prst="roundRect">
            <a:avLst>
              <a:gd name="adj" fmla="val 8571"/>
            </a:avLst>
          </a:prstGeom>
          <a:solidFill>
            <a:srgbClr val="F9F8F5"/>
          </a:solidFill>
          <a:ln w="12700">
            <a:solidFill>
              <a:srgbClr val="F9F8F5"/>
            </a:solidFill>
            <a:prstDash val="solid"/>
          </a:ln>
        </p:spPr>
        <p:txBody>
          <a:bodyPr/>
          <a:p/>
        </p:txBody>
      </p:sp>
      <p:sp>
        <p:nvSpPr>
          <p:cNvPr id="11" name="Text 9"/>
          <p:cNvSpPr/>
          <p:nvPr/>
        </p:nvSpPr>
        <p:spPr>
          <a:xfrm>
            <a:off x="3566160" y="3794760"/>
            <a:ext cx="2286000" cy="960120"/>
          </a:xfrm>
          <a:prstGeom prst="rect">
            <a:avLst/>
          </a:prstGeom>
          <a:noFill/>
          <a:ln/>
        </p:spPr>
        <p:txBody>
          <a:bodyPr wrap="square" lIns="0" tIns="0" rIns="0" bIns="0" rtlCol="0" anchor="ctr"/>
          <a:lstStyle/>
          <a:p>
            <a:pPr indent="0" marL="0">
              <a:buNone/>
            </a:pPr>
            <a:r>
              <a:rPr lang="en-US" sz="1550" b="1" dirty="0">
                <a:solidFill>
                  <a:srgbClr val="4A2D8C"/>
                </a:solidFill>
                <a:latin typeface="Palatino Linotype" pitchFamily="34" charset="0"/>
                <a:ea typeface="Palatino Linotype" pitchFamily="34" charset="-122"/>
                <a:cs typeface="Palatino Linotype" pitchFamily="34" charset="-120"/>
              </a:rPr>
              <a:t>De îndrumare</a:t>
            </a:r>
            <a:endParaRPr lang="en-US" sz="1550" dirty="0"/>
          </a:p>
          <a:p>
            <a:pPr indent="0" marL="0">
              <a:buNone/>
            </a:pPr>
            <a:r>
              <a:rPr lang="en-US" sz="1550" i="1" dirty="0">
                <a:solidFill>
                  <a:srgbClr val="11121A"/>
                </a:solidFill>
                <a:latin typeface="Palatino Linotype" pitchFamily="34" charset="0"/>
                <a:ea typeface="Palatino Linotype" pitchFamily="34" charset="-122"/>
                <a:cs typeface="Palatino Linotype" pitchFamily="34" charset="-120"/>
              </a:rPr>
              <a:t>„explică”</a:t>
            </a:r>
            <a:endParaRPr lang="en-US" sz="1550" dirty="0"/>
          </a:p>
        </p:txBody>
      </p:sp>
      <p:sp>
        <p:nvSpPr>
          <p:cNvPr id="12" name="Shape 10"/>
          <p:cNvSpPr/>
          <p:nvPr/>
        </p:nvSpPr>
        <p:spPr>
          <a:xfrm>
            <a:off x="6172200" y="3794760"/>
            <a:ext cx="2651760" cy="960120"/>
          </a:xfrm>
          <a:prstGeom prst="roundRect">
            <a:avLst>
              <a:gd name="adj" fmla="val 8571"/>
            </a:avLst>
          </a:prstGeom>
          <a:solidFill>
            <a:srgbClr val="ECEAE4"/>
          </a:solidFill>
          <a:ln w="12700">
            <a:solidFill>
              <a:srgbClr val="ECEAE4"/>
            </a:solidFill>
            <a:prstDash val="solid"/>
          </a:ln>
        </p:spPr>
        <p:txBody>
          <a:bodyPr/>
          <a:p/>
        </p:txBody>
      </p:sp>
      <p:sp>
        <p:nvSpPr>
          <p:cNvPr id="13" name="Text 11"/>
          <p:cNvSpPr/>
          <p:nvPr/>
        </p:nvSpPr>
        <p:spPr>
          <a:xfrm>
            <a:off x="6355080" y="3794760"/>
            <a:ext cx="2286000" cy="960120"/>
          </a:xfrm>
          <a:prstGeom prst="rect">
            <a:avLst/>
          </a:prstGeom>
          <a:noFill/>
          <a:ln/>
        </p:spPr>
        <p:txBody>
          <a:bodyPr wrap="square" lIns="0" tIns="0" rIns="0" bIns="0" rtlCol="0" anchor="ctr"/>
          <a:lstStyle/>
          <a:p>
            <a:pPr indent="0" marL="0">
              <a:buNone/>
            </a:pPr>
            <a:r>
              <a:rPr lang="en-US" sz="1550" b="1" dirty="0">
                <a:solidFill>
                  <a:srgbClr val="4A2D8C"/>
                </a:solidFill>
                <a:latin typeface="Palatino Linotype" pitchFamily="34" charset="0"/>
                <a:ea typeface="Palatino Linotype" pitchFamily="34" charset="-122"/>
                <a:cs typeface="Palatino Linotype" pitchFamily="34" charset="-120"/>
              </a:rPr>
              <a:t>Participativ</a:t>
            </a:r>
            <a:endParaRPr lang="en-US" sz="1550" dirty="0"/>
          </a:p>
          <a:p>
            <a:pPr indent="0" marL="0">
              <a:buNone/>
            </a:pPr>
            <a:r>
              <a:rPr lang="en-US" sz="1550" i="1" dirty="0">
                <a:solidFill>
                  <a:srgbClr val="11121A"/>
                </a:solidFill>
                <a:latin typeface="Palatino Linotype" pitchFamily="34" charset="0"/>
                <a:ea typeface="Palatino Linotype" pitchFamily="34" charset="-122"/>
                <a:cs typeface="Palatino Linotype" pitchFamily="34" charset="-120"/>
              </a:rPr>
              <a:t>„sprijină”</a:t>
            </a:r>
            <a:endParaRPr lang="en-US" sz="1550" dirty="0"/>
          </a:p>
        </p:txBody>
      </p:sp>
      <p:sp>
        <p:nvSpPr>
          <p:cNvPr id="14" name="Shape 12"/>
          <p:cNvSpPr/>
          <p:nvPr/>
        </p:nvSpPr>
        <p:spPr>
          <a:xfrm>
            <a:off x="8961120" y="3794760"/>
            <a:ext cx="2651760" cy="960120"/>
          </a:xfrm>
          <a:prstGeom prst="roundRect">
            <a:avLst>
              <a:gd name="adj" fmla="val 8571"/>
            </a:avLst>
          </a:prstGeom>
          <a:solidFill>
            <a:srgbClr val="F9F8F5"/>
          </a:solidFill>
          <a:ln w="12700">
            <a:solidFill>
              <a:srgbClr val="F9F8F5"/>
            </a:solidFill>
            <a:prstDash val="solid"/>
          </a:ln>
        </p:spPr>
        <p:txBody>
          <a:bodyPr/>
          <a:p/>
        </p:txBody>
      </p:sp>
      <p:sp>
        <p:nvSpPr>
          <p:cNvPr id="15" name="Text 13"/>
          <p:cNvSpPr/>
          <p:nvPr/>
        </p:nvSpPr>
        <p:spPr>
          <a:xfrm>
            <a:off x="9144000" y="3794760"/>
            <a:ext cx="2286000" cy="960120"/>
          </a:xfrm>
          <a:prstGeom prst="rect">
            <a:avLst/>
          </a:prstGeom>
          <a:noFill/>
          <a:ln/>
        </p:spPr>
        <p:txBody>
          <a:bodyPr wrap="square" lIns="0" tIns="0" rIns="0" bIns="0" rtlCol="0" anchor="ctr"/>
          <a:lstStyle/>
          <a:p>
            <a:pPr indent="0" marL="0">
              <a:buNone/>
            </a:pPr>
            <a:r>
              <a:rPr lang="en-US" sz="1550" b="1" dirty="0">
                <a:solidFill>
                  <a:srgbClr val="4A2D8C"/>
                </a:solidFill>
                <a:latin typeface="Palatino Linotype" pitchFamily="34" charset="0"/>
                <a:ea typeface="Palatino Linotype" pitchFamily="34" charset="-122"/>
                <a:cs typeface="Palatino Linotype" pitchFamily="34" charset="-120"/>
              </a:rPr>
              <a:t>Delegativ</a:t>
            </a:r>
            <a:endParaRPr lang="en-US" sz="1550" dirty="0"/>
          </a:p>
          <a:p>
            <a:pPr indent="0" marL="0">
              <a:buNone/>
            </a:pPr>
            <a:r>
              <a:rPr lang="en-US" sz="1550" i="1" dirty="0">
                <a:solidFill>
                  <a:srgbClr val="11121A"/>
                </a:solidFill>
                <a:latin typeface="Palatino Linotype" pitchFamily="34" charset="0"/>
                <a:ea typeface="Palatino Linotype" pitchFamily="34" charset="-122"/>
                <a:cs typeface="Palatino Linotype" pitchFamily="34" charset="-120"/>
              </a:rPr>
              <a:t>„încredințează”</a:t>
            </a:r>
            <a:endParaRPr lang="en-US" sz="1550" dirty="0"/>
          </a:p>
        </p:txBody>
      </p:sp>
      <p:sp>
        <p:nvSpPr>
          <p:cNvPr id="16" name="Text 14"/>
          <p:cNvSpPr/>
          <p:nvPr/>
        </p:nvSpPr>
        <p:spPr>
          <a:xfrm>
            <a:off x="594360" y="5029200"/>
            <a:ext cx="10972800" cy="5486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Greșeala frecventă: același stil cu toată lumea.</a:t>
            </a:r>
            <a:endParaRPr lang="en-US" sz="1700" dirty="0"/>
          </a:p>
        </p:txBody>
      </p:sp>
      <p:sp>
        <p:nvSpPr>
          <p:cNvPr id="17" name="Text 15"/>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A1007, A1046); cele patru stiluri: convenție a cursului.</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CHAT, APOI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FIECARE,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stil pentru fiecare?</a:t>
            </a:r>
            <a:endParaRPr lang="en-US" sz="3200" dirty="0"/>
          </a:p>
        </p:txBody>
      </p:sp>
      <p:sp>
        <p:nvSpPr>
          <p:cNvPr id="6" name="Shape 4"/>
          <p:cNvSpPr/>
          <p:nvPr/>
        </p:nvSpPr>
        <p:spPr>
          <a:xfrm>
            <a:off x="594360" y="1645920"/>
            <a:ext cx="10972800" cy="768096"/>
          </a:xfrm>
          <a:prstGeom prst="roundRect">
            <a:avLst>
              <a:gd name="adj" fmla="val 10714"/>
            </a:avLst>
          </a:prstGeom>
          <a:solidFill>
            <a:srgbClr val="1D1F2B"/>
          </a:solidFill>
          <a:ln w="12700">
            <a:solidFill>
              <a:srgbClr val="1D1F2B"/>
            </a:solidFill>
            <a:prstDash val="solid"/>
          </a:ln>
        </p:spPr>
        <p:txBody>
          <a:bodyPr/>
          <a:p/>
        </p:txBody>
      </p:sp>
      <p:sp>
        <p:nvSpPr>
          <p:cNvPr id="7" name="Shape 5"/>
          <p:cNvSpPr/>
          <p:nvPr/>
        </p:nvSpPr>
        <p:spPr>
          <a:xfrm>
            <a:off x="868680" y="1819656"/>
            <a:ext cx="420624" cy="420624"/>
          </a:xfrm>
          <a:prstGeom prst="ellipse">
            <a:avLst/>
          </a:prstGeom>
          <a:solidFill>
            <a:srgbClr val="FFC24B"/>
          </a:solidFill>
          <a:ln/>
        </p:spPr>
        <p:txBody>
          <a:bodyPr/>
          <a:p/>
        </p:txBody>
      </p:sp>
      <p:sp>
        <p:nvSpPr>
          <p:cNvPr id="8" name="Text 6"/>
          <p:cNvSpPr/>
          <p:nvPr/>
        </p:nvSpPr>
        <p:spPr>
          <a:xfrm>
            <a:off x="868680" y="18196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1645920"/>
            <a:ext cx="9829800" cy="768096"/>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Venită acum o săptămână: o perfuzie cu un medicament pe care nu l-a mai administrat.</a:t>
            </a:r>
            <a:endParaRPr lang="en-US" sz="1600" dirty="0"/>
          </a:p>
        </p:txBody>
      </p:sp>
      <p:sp>
        <p:nvSpPr>
          <p:cNvPr id="10" name="Shape 8"/>
          <p:cNvSpPr/>
          <p:nvPr/>
        </p:nvSpPr>
        <p:spPr>
          <a:xfrm>
            <a:off x="594360" y="2542032"/>
            <a:ext cx="10972800" cy="768096"/>
          </a:xfrm>
          <a:prstGeom prst="roundRect">
            <a:avLst>
              <a:gd name="adj" fmla="val 10714"/>
            </a:avLst>
          </a:prstGeom>
          <a:solidFill>
            <a:srgbClr val="1D1F2B"/>
          </a:solidFill>
          <a:ln w="12700">
            <a:solidFill>
              <a:srgbClr val="1D1F2B"/>
            </a:solidFill>
            <a:prstDash val="solid"/>
          </a:ln>
        </p:spPr>
        <p:txBody>
          <a:bodyPr/>
          <a:p/>
        </p:txBody>
      </p:sp>
      <p:sp>
        <p:nvSpPr>
          <p:cNvPr id="11" name="Shape 9"/>
          <p:cNvSpPr/>
          <p:nvPr/>
        </p:nvSpPr>
        <p:spPr>
          <a:xfrm>
            <a:off x="868680" y="2715768"/>
            <a:ext cx="420624" cy="420624"/>
          </a:xfrm>
          <a:prstGeom prst="ellipse">
            <a:avLst/>
          </a:prstGeom>
          <a:solidFill>
            <a:srgbClr val="FFC24B"/>
          </a:solidFill>
          <a:ln/>
        </p:spPr>
        <p:txBody>
          <a:bodyPr/>
          <a:p/>
        </p:txBody>
      </p:sp>
      <p:sp>
        <p:nvSpPr>
          <p:cNvPr id="12" name="Text 10"/>
          <p:cNvSpPr/>
          <p:nvPr/>
        </p:nvSpPr>
        <p:spPr>
          <a:xfrm>
            <a:off x="868680" y="27157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2542032"/>
            <a:ext cx="9829800" cy="768096"/>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Opt luni de practică: primele catetere urinare la pacienți dificili; dornic să învețe, dar mai greșește.</a:t>
            </a:r>
            <a:endParaRPr lang="en-US" sz="1600" dirty="0"/>
          </a:p>
        </p:txBody>
      </p:sp>
      <p:sp>
        <p:nvSpPr>
          <p:cNvPr id="14" name="Shape 12"/>
          <p:cNvSpPr/>
          <p:nvPr/>
        </p:nvSpPr>
        <p:spPr>
          <a:xfrm>
            <a:off x="594360" y="3438144"/>
            <a:ext cx="10972800" cy="768096"/>
          </a:xfrm>
          <a:prstGeom prst="roundRect">
            <a:avLst>
              <a:gd name="adj" fmla="val 10714"/>
            </a:avLst>
          </a:prstGeom>
          <a:solidFill>
            <a:srgbClr val="1D1F2B"/>
          </a:solidFill>
          <a:ln w="12700">
            <a:solidFill>
              <a:srgbClr val="1D1F2B"/>
            </a:solidFill>
            <a:prstDash val="solid"/>
          </a:ln>
        </p:spPr>
        <p:txBody>
          <a:bodyPr/>
          <a:p/>
        </p:txBody>
      </p:sp>
      <p:sp>
        <p:nvSpPr>
          <p:cNvPr id="15" name="Shape 13"/>
          <p:cNvSpPr/>
          <p:nvPr/>
        </p:nvSpPr>
        <p:spPr>
          <a:xfrm>
            <a:off x="868680" y="3611880"/>
            <a:ext cx="420624" cy="420624"/>
          </a:xfrm>
          <a:prstGeom prst="ellipse">
            <a:avLst/>
          </a:prstGeom>
          <a:solidFill>
            <a:srgbClr val="FFC24B"/>
          </a:solidFill>
          <a:ln/>
        </p:spPr>
        <p:txBody>
          <a:bodyPr/>
          <a:p/>
        </p:txBody>
      </p:sp>
      <p:sp>
        <p:nvSpPr>
          <p:cNvPr id="16" name="Text 14"/>
          <p:cNvSpPr/>
          <p:nvPr/>
        </p:nvSpPr>
        <p:spPr>
          <a:xfrm>
            <a:off x="868680" y="36118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3438144"/>
            <a:ext cx="9829800" cy="768096"/>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Echipa experimentată trece la o fișă nouă de risc de cădere și se teme că îi ia timp.</a:t>
            </a:r>
            <a:endParaRPr lang="en-US" sz="1600" dirty="0"/>
          </a:p>
        </p:txBody>
      </p:sp>
      <p:sp>
        <p:nvSpPr>
          <p:cNvPr id="18" name="Shape 16"/>
          <p:cNvSpPr/>
          <p:nvPr/>
        </p:nvSpPr>
        <p:spPr>
          <a:xfrm>
            <a:off x="594360" y="4334256"/>
            <a:ext cx="10972800" cy="768096"/>
          </a:xfrm>
          <a:prstGeom prst="roundRect">
            <a:avLst>
              <a:gd name="adj" fmla="val 10714"/>
            </a:avLst>
          </a:prstGeom>
          <a:solidFill>
            <a:srgbClr val="1D1F2B"/>
          </a:solidFill>
          <a:ln w="12700">
            <a:solidFill>
              <a:srgbClr val="1D1F2B"/>
            </a:solidFill>
            <a:prstDash val="solid"/>
          </a:ln>
        </p:spPr>
        <p:txBody>
          <a:bodyPr/>
          <a:p/>
        </p:txBody>
      </p:sp>
      <p:sp>
        <p:nvSpPr>
          <p:cNvPr id="19" name="Shape 17"/>
          <p:cNvSpPr/>
          <p:nvPr/>
        </p:nvSpPr>
        <p:spPr>
          <a:xfrm>
            <a:off x="868680" y="4507992"/>
            <a:ext cx="420624" cy="420624"/>
          </a:xfrm>
          <a:prstGeom prst="ellipse">
            <a:avLst/>
          </a:prstGeom>
          <a:solidFill>
            <a:srgbClr val="FFC24B"/>
          </a:solidFill>
          <a:ln/>
        </p:spPr>
        <p:txBody>
          <a:bodyPr/>
          <a:p/>
        </p:txBody>
      </p:sp>
      <p:sp>
        <p:nvSpPr>
          <p:cNvPr id="20" name="Text 18"/>
          <p:cNvSpPr/>
          <p:nvPr/>
        </p:nvSpPr>
        <p:spPr>
          <a:xfrm>
            <a:off x="868680" y="45079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08760" y="4334256"/>
            <a:ext cx="9829800" cy="768096"/>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Doisprezece ani pe secție: coordonează instruirea colegilor pentru evaluarea ANMCS.</a:t>
            </a:r>
            <a:endParaRPr lang="en-US" sz="1600" dirty="0"/>
          </a:p>
        </p:txBody>
      </p:sp>
      <p:sp>
        <p:nvSpPr>
          <p:cNvPr id="22" name="Text 20"/>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Scrieți în chat stilul pentru o situație, apoi votați pe Mentimeter.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Directiv, de îndrumare, participativ, delegativ</a:t>
            </a:r>
            <a:endParaRPr lang="en-US" sz="2800" dirty="0"/>
          </a:p>
        </p:txBody>
      </p:sp>
      <p:sp>
        <p:nvSpPr>
          <p:cNvPr id="4" name="Shape 2"/>
          <p:cNvSpPr/>
          <p:nvPr/>
        </p:nvSpPr>
        <p:spPr>
          <a:xfrm>
            <a:off x="594360" y="1691640"/>
            <a:ext cx="2651760" cy="2651760"/>
          </a:xfrm>
          <a:prstGeom prst="roundRect">
            <a:avLst>
              <a:gd name="adj" fmla="val 3103"/>
            </a:avLst>
          </a:prstGeom>
          <a:solidFill>
            <a:srgbClr val="ECEAE4"/>
          </a:solidFill>
          <a:ln w="12700">
            <a:solidFill>
              <a:srgbClr val="ECEAE4"/>
            </a:solidFill>
            <a:prstDash val="solid"/>
          </a:ln>
        </p:spPr>
        <p:txBody>
          <a:bodyPr/>
          <a:p/>
        </p:txBody>
      </p:sp>
      <p:sp>
        <p:nvSpPr>
          <p:cNvPr id="5" name="Shape 3"/>
          <p:cNvSpPr/>
          <p:nvPr/>
        </p:nvSpPr>
        <p:spPr>
          <a:xfrm>
            <a:off x="594360" y="1691640"/>
            <a:ext cx="26517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92808"/>
            <a:ext cx="2194560" cy="68580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a · Directiv</a:t>
            </a:r>
            <a:endParaRPr lang="en-US" sz="1700" dirty="0"/>
          </a:p>
        </p:txBody>
      </p:sp>
      <p:sp>
        <p:nvSpPr>
          <p:cNvPr id="7" name="Text 5"/>
          <p:cNvSpPr/>
          <p:nvPr/>
        </p:nvSpPr>
        <p:spPr>
          <a:xfrm>
            <a:off x="822960" y="2560320"/>
            <a:ext cx="21945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nu știe încă și nu este sigură pe sine</a:t>
            </a:r>
            <a:endParaRPr lang="en-US" sz="1600" dirty="0"/>
          </a:p>
        </p:txBody>
      </p:sp>
      <p:sp>
        <p:nvSpPr>
          <p:cNvPr id="8" name="Shape 6"/>
          <p:cNvSpPr/>
          <p:nvPr/>
        </p:nvSpPr>
        <p:spPr>
          <a:xfrm>
            <a:off x="3383280" y="1691640"/>
            <a:ext cx="2651760" cy="2651760"/>
          </a:xfrm>
          <a:prstGeom prst="roundRect">
            <a:avLst>
              <a:gd name="adj" fmla="val 3103"/>
            </a:avLst>
          </a:prstGeom>
          <a:solidFill>
            <a:srgbClr val="F9F8F5"/>
          </a:solidFill>
          <a:ln w="12700">
            <a:solidFill>
              <a:srgbClr val="F9F8F5"/>
            </a:solidFill>
            <a:prstDash val="solid"/>
          </a:ln>
        </p:spPr>
        <p:txBody>
          <a:bodyPr/>
          <a:p/>
        </p:txBody>
      </p:sp>
      <p:sp>
        <p:nvSpPr>
          <p:cNvPr id="9" name="Shape 7"/>
          <p:cNvSpPr/>
          <p:nvPr/>
        </p:nvSpPr>
        <p:spPr>
          <a:xfrm>
            <a:off x="3383280" y="1691640"/>
            <a:ext cx="265176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3611880" y="1892808"/>
            <a:ext cx="219456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b · De îndrumare</a:t>
            </a:r>
            <a:endParaRPr lang="en-US" sz="1700" dirty="0"/>
          </a:p>
        </p:txBody>
      </p:sp>
      <p:sp>
        <p:nvSpPr>
          <p:cNvPr id="11" name="Text 9"/>
          <p:cNvSpPr/>
          <p:nvPr/>
        </p:nvSpPr>
        <p:spPr>
          <a:xfrm>
            <a:off x="3611880" y="2560320"/>
            <a:ext cx="21945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vrea, dar nu știe încă destul</a:t>
            </a:r>
            <a:endParaRPr lang="en-US" sz="1600" dirty="0"/>
          </a:p>
        </p:txBody>
      </p:sp>
      <p:sp>
        <p:nvSpPr>
          <p:cNvPr id="12" name="Shape 10"/>
          <p:cNvSpPr/>
          <p:nvPr/>
        </p:nvSpPr>
        <p:spPr>
          <a:xfrm>
            <a:off x="6172200" y="1691640"/>
            <a:ext cx="2651760" cy="2651760"/>
          </a:xfrm>
          <a:prstGeom prst="roundRect">
            <a:avLst>
              <a:gd name="adj" fmla="val 3103"/>
            </a:avLst>
          </a:prstGeom>
          <a:solidFill>
            <a:srgbClr val="ECEAE4"/>
          </a:solidFill>
          <a:ln w="12700">
            <a:solidFill>
              <a:srgbClr val="ECEAE4"/>
            </a:solidFill>
            <a:prstDash val="solid"/>
          </a:ln>
        </p:spPr>
        <p:txBody>
          <a:bodyPr/>
          <a:p/>
        </p:txBody>
      </p:sp>
      <p:sp>
        <p:nvSpPr>
          <p:cNvPr id="13" name="Shape 11"/>
          <p:cNvSpPr/>
          <p:nvPr/>
        </p:nvSpPr>
        <p:spPr>
          <a:xfrm>
            <a:off x="6172200" y="1691640"/>
            <a:ext cx="2651760" cy="73152"/>
          </a:xfrm>
          <a:prstGeom prst="rect">
            <a:avLst/>
          </a:prstGeom>
          <a:solidFill>
            <a:srgbClr val="4A2D8C"/>
          </a:solidFill>
          <a:ln w="12700">
            <a:solidFill>
              <a:srgbClr val="4A2D8C"/>
            </a:solidFill>
            <a:prstDash val="solid"/>
          </a:ln>
        </p:spPr>
        <p:txBody>
          <a:bodyPr/>
          <a:p/>
        </p:txBody>
      </p:sp>
      <p:sp>
        <p:nvSpPr>
          <p:cNvPr id="14" name="Text 12"/>
          <p:cNvSpPr/>
          <p:nvPr/>
        </p:nvSpPr>
        <p:spPr>
          <a:xfrm>
            <a:off x="6400800" y="1892808"/>
            <a:ext cx="2194560" cy="685800"/>
          </a:xfrm>
          <a:prstGeom prst="rect">
            <a:avLst/>
          </a:prstGeom>
          <a:noFill/>
          <a:ln/>
        </p:spPr>
        <p:txBody>
          <a:bodyPr wrap="square" lIns="0" tIns="0" rIns="0" bIns="0" rtlCol="0" anchor="t"/>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c · Participativ</a:t>
            </a:r>
            <a:endParaRPr lang="en-US" sz="1700" dirty="0"/>
          </a:p>
        </p:txBody>
      </p:sp>
      <p:sp>
        <p:nvSpPr>
          <p:cNvPr id="15" name="Text 13"/>
          <p:cNvSpPr/>
          <p:nvPr/>
        </p:nvSpPr>
        <p:spPr>
          <a:xfrm>
            <a:off x="6400800" y="2560320"/>
            <a:ext cx="21945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dar ezită</a:t>
            </a:r>
            <a:endParaRPr lang="en-US" sz="1600" dirty="0"/>
          </a:p>
        </p:txBody>
      </p:sp>
      <p:sp>
        <p:nvSpPr>
          <p:cNvPr id="16" name="Shape 14"/>
          <p:cNvSpPr/>
          <p:nvPr/>
        </p:nvSpPr>
        <p:spPr>
          <a:xfrm>
            <a:off x="8961120" y="1691640"/>
            <a:ext cx="2651760" cy="2651760"/>
          </a:xfrm>
          <a:prstGeom prst="roundRect">
            <a:avLst>
              <a:gd name="adj" fmla="val 3103"/>
            </a:avLst>
          </a:prstGeom>
          <a:solidFill>
            <a:srgbClr val="F9F8F5"/>
          </a:solidFill>
          <a:ln w="12700">
            <a:solidFill>
              <a:srgbClr val="F9F8F5"/>
            </a:solidFill>
            <a:prstDash val="solid"/>
          </a:ln>
        </p:spPr>
        <p:txBody>
          <a:bodyPr/>
          <a:p/>
        </p:txBody>
      </p:sp>
      <p:sp>
        <p:nvSpPr>
          <p:cNvPr id="17" name="Shape 15"/>
          <p:cNvSpPr/>
          <p:nvPr/>
        </p:nvSpPr>
        <p:spPr>
          <a:xfrm>
            <a:off x="8961120" y="1691640"/>
            <a:ext cx="2651760" cy="73152"/>
          </a:xfrm>
          <a:prstGeom prst="rect">
            <a:avLst/>
          </a:prstGeom>
          <a:solidFill>
            <a:srgbClr val="B02532"/>
          </a:solidFill>
          <a:ln w="12700">
            <a:solidFill>
              <a:srgbClr val="B02532"/>
            </a:solidFill>
            <a:prstDash val="solid"/>
          </a:ln>
        </p:spPr>
        <p:txBody>
          <a:bodyPr/>
          <a:p/>
        </p:txBody>
      </p:sp>
      <p:sp>
        <p:nvSpPr>
          <p:cNvPr id="18" name="Text 16"/>
          <p:cNvSpPr/>
          <p:nvPr/>
        </p:nvSpPr>
        <p:spPr>
          <a:xfrm>
            <a:off x="9189720" y="1892808"/>
            <a:ext cx="2194560" cy="6858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d · Delegativ</a:t>
            </a:r>
            <a:endParaRPr lang="en-US" sz="1700" dirty="0"/>
          </a:p>
        </p:txBody>
      </p:sp>
      <p:sp>
        <p:nvSpPr>
          <p:cNvPr id="19" name="Text 17"/>
          <p:cNvSpPr/>
          <p:nvPr/>
        </p:nvSpPr>
        <p:spPr>
          <a:xfrm>
            <a:off x="9189720" y="2560320"/>
            <a:ext cx="21945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și vrea</a:t>
            </a:r>
            <a:endParaRPr lang="en-US" sz="1600" dirty="0"/>
          </a:p>
        </p:txBody>
      </p:sp>
      <p:sp>
        <p:nvSpPr>
          <p:cNvPr id="20" name="Text 18"/>
          <p:cNvSpPr/>
          <p:nvPr/>
        </p:nvSpPr>
        <p:spPr>
          <a:xfrm>
            <a:off x="594360" y="4663440"/>
            <a:ext cx="10972800" cy="64008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Același om poate avea nevoie de stiluri diferite pentru sarcini diferite.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LIDERUL „ÎN SLUJBA CELORLALȚI” · GREENLEAF</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Întâi serviciul, apoi conducerea</a:t>
            </a:r>
            <a:endParaRPr lang="en-US" sz="3000" dirty="0"/>
          </a:p>
        </p:txBody>
      </p:sp>
      <p:sp>
        <p:nvSpPr>
          <p:cNvPr id="4" name="Shape 2"/>
          <p:cNvSpPr/>
          <p:nvPr/>
        </p:nvSpPr>
        <p:spPr>
          <a:xfrm>
            <a:off x="594360" y="1645920"/>
            <a:ext cx="6583680" cy="713232"/>
          </a:xfrm>
          <a:prstGeom prst="roundRect">
            <a:avLst>
              <a:gd name="adj" fmla="val 11538"/>
            </a:avLst>
          </a:prstGeom>
          <a:solidFill>
            <a:srgbClr val="ECEAE4"/>
          </a:solidFill>
          <a:ln w="12700">
            <a:solidFill>
              <a:srgbClr val="ECEAE4"/>
            </a:solidFill>
            <a:prstDash val="solid"/>
          </a:ln>
        </p:spPr>
        <p:txBody>
          <a:bodyPr/>
          <a:p/>
        </p:txBody>
      </p:sp>
      <p:sp>
        <p:nvSpPr>
          <p:cNvPr id="5" name="Shape 3"/>
          <p:cNvSpPr/>
          <p:nvPr/>
        </p:nvSpPr>
        <p:spPr>
          <a:xfrm>
            <a:off x="868680" y="1792224"/>
            <a:ext cx="420624" cy="420624"/>
          </a:xfrm>
          <a:prstGeom prst="ellipse">
            <a:avLst/>
          </a:prstGeom>
          <a:solidFill>
            <a:srgbClr val="0E7C6B"/>
          </a:solidFill>
          <a:ln/>
        </p:spPr>
        <p:txBody>
          <a:bodyPr/>
          <a:p/>
        </p:txBody>
      </p:sp>
      <p:sp>
        <p:nvSpPr>
          <p:cNvPr id="6" name="Text 4"/>
          <p:cNvSpPr/>
          <p:nvPr/>
        </p:nvSpPr>
        <p:spPr>
          <a:xfrm>
            <a:off x="868680" y="17922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645920"/>
            <a:ext cx="5440680" cy="71323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Serviciul înaintea interesului propriu</a:t>
            </a:r>
            <a:endParaRPr lang="en-US" sz="1700" dirty="0"/>
          </a:p>
        </p:txBody>
      </p:sp>
      <p:sp>
        <p:nvSpPr>
          <p:cNvPr id="8" name="Shape 6"/>
          <p:cNvSpPr/>
          <p:nvPr/>
        </p:nvSpPr>
        <p:spPr>
          <a:xfrm>
            <a:off x="594360" y="2487168"/>
            <a:ext cx="6583680" cy="713232"/>
          </a:xfrm>
          <a:prstGeom prst="roundRect">
            <a:avLst>
              <a:gd name="adj" fmla="val 11538"/>
            </a:avLst>
          </a:prstGeom>
          <a:solidFill>
            <a:srgbClr val="ECEAE4"/>
          </a:solidFill>
          <a:ln w="12700">
            <a:solidFill>
              <a:srgbClr val="ECEAE4"/>
            </a:solidFill>
            <a:prstDash val="solid"/>
          </a:ln>
        </p:spPr>
        <p:txBody>
          <a:bodyPr/>
          <a:p/>
        </p:txBody>
      </p:sp>
      <p:sp>
        <p:nvSpPr>
          <p:cNvPr id="9" name="Shape 7"/>
          <p:cNvSpPr/>
          <p:nvPr/>
        </p:nvSpPr>
        <p:spPr>
          <a:xfrm>
            <a:off x="868680" y="2633472"/>
            <a:ext cx="420624" cy="420624"/>
          </a:xfrm>
          <a:prstGeom prst="ellipse">
            <a:avLst/>
          </a:prstGeom>
          <a:solidFill>
            <a:srgbClr val="0E7C6B"/>
          </a:solidFill>
          <a:ln/>
        </p:spPr>
        <p:txBody>
          <a:bodyPr/>
          <a:p/>
        </p:txBody>
      </p:sp>
      <p:sp>
        <p:nvSpPr>
          <p:cNvPr id="10" name="Text 8"/>
          <p:cNvSpPr/>
          <p:nvPr/>
        </p:nvSpPr>
        <p:spPr>
          <a:xfrm>
            <a:off x="868680" y="26334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487168"/>
            <a:ext cx="5440680" cy="71323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Ascultarea celorlalți</a:t>
            </a:r>
            <a:endParaRPr lang="en-US" sz="1700" dirty="0"/>
          </a:p>
        </p:txBody>
      </p:sp>
      <p:sp>
        <p:nvSpPr>
          <p:cNvPr id="12" name="Shape 10"/>
          <p:cNvSpPr/>
          <p:nvPr/>
        </p:nvSpPr>
        <p:spPr>
          <a:xfrm>
            <a:off x="594360" y="3328416"/>
            <a:ext cx="6583680" cy="713232"/>
          </a:xfrm>
          <a:prstGeom prst="roundRect">
            <a:avLst>
              <a:gd name="adj" fmla="val 11538"/>
            </a:avLst>
          </a:prstGeom>
          <a:solidFill>
            <a:srgbClr val="ECEAE4"/>
          </a:solidFill>
          <a:ln w="12700">
            <a:solidFill>
              <a:srgbClr val="ECEAE4"/>
            </a:solidFill>
            <a:prstDash val="solid"/>
          </a:ln>
        </p:spPr>
        <p:txBody>
          <a:bodyPr/>
          <a:p/>
        </p:txBody>
      </p:sp>
      <p:sp>
        <p:nvSpPr>
          <p:cNvPr id="13" name="Shape 11"/>
          <p:cNvSpPr/>
          <p:nvPr/>
        </p:nvSpPr>
        <p:spPr>
          <a:xfrm>
            <a:off x="868680" y="3474720"/>
            <a:ext cx="420624" cy="420624"/>
          </a:xfrm>
          <a:prstGeom prst="ellipse">
            <a:avLst/>
          </a:prstGeom>
          <a:solidFill>
            <a:srgbClr val="0E7C6B"/>
          </a:solidFill>
          <a:ln/>
        </p:spPr>
        <p:txBody>
          <a:bodyPr/>
          <a:p/>
        </p:txBody>
      </p:sp>
      <p:sp>
        <p:nvSpPr>
          <p:cNvPr id="14" name="Text 12"/>
          <p:cNvSpPr/>
          <p:nvPr/>
        </p:nvSpPr>
        <p:spPr>
          <a:xfrm>
            <a:off x="868680" y="34747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328416"/>
            <a:ext cx="5440680" cy="71323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Câștigarea încrederii</a:t>
            </a:r>
            <a:endParaRPr lang="en-US" sz="1700" dirty="0"/>
          </a:p>
        </p:txBody>
      </p:sp>
      <p:sp>
        <p:nvSpPr>
          <p:cNvPr id="16" name="Shape 14"/>
          <p:cNvSpPr/>
          <p:nvPr/>
        </p:nvSpPr>
        <p:spPr>
          <a:xfrm>
            <a:off x="594360" y="4169664"/>
            <a:ext cx="6583680" cy="713232"/>
          </a:xfrm>
          <a:prstGeom prst="roundRect">
            <a:avLst>
              <a:gd name="adj" fmla="val 11538"/>
            </a:avLst>
          </a:prstGeom>
          <a:solidFill>
            <a:srgbClr val="ECEAE4"/>
          </a:solidFill>
          <a:ln w="12700">
            <a:solidFill>
              <a:srgbClr val="ECEAE4"/>
            </a:solidFill>
            <a:prstDash val="solid"/>
          </a:ln>
        </p:spPr>
        <p:txBody>
          <a:bodyPr/>
          <a:p/>
        </p:txBody>
      </p:sp>
      <p:sp>
        <p:nvSpPr>
          <p:cNvPr id="17" name="Shape 15"/>
          <p:cNvSpPr/>
          <p:nvPr/>
        </p:nvSpPr>
        <p:spPr>
          <a:xfrm>
            <a:off x="868680" y="4315968"/>
            <a:ext cx="420624" cy="420624"/>
          </a:xfrm>
          <a:prstGeom prst="ellipse">
            <a:avLst/>
          </a:prstGeom>
          <a:solidFill>
            <a:srgbClr val="0E7C6B"/>
          </a:solidFill>
          <a:ln/>
        </p:spPr>
        <p:txBody>
          <a:bodyPr/>
          <a:p/>
        </p:txBody>
      </p:sp>
      <p:sp>
        <p:nvSpPr>
          <p:cNvPr id="18" name="Text 16"/>
          <p:cNvSpPr/>
          <p:nvPr/>
        </p:nvSpPr>
        <p:spPr>
          <a:xfrm>
            <a:off x="868680" y="4315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4169664"/>
            <a:ext cx="5440680" cy="71323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Grija pentru dezvoltarea lor</a:t>
            </a:r>
            <a:endParaRPr lang="en-US" sz="1700" dirty="0"/>
          </a:p>
        </p:txBody>
      </p:sp>
      <p:sp>
        <p:nvSpPr>
          <p:cNvPr id="20" name="Shape 18"/>
          <p:cNvSpPr/>
          <p:nvPr/>
        </p:nvSpPr>
        <p:spPr>
          <a:xfrm>
            <a:off x="7406640" y="1645920"/>
            <a:ext cx="4160520" cy="1600200"/>
          </a:xfrm>
          <a:prstGeom prst="roundRect">
            <a:avLst>
              <a:gd name="adj" fmla="val 5143"/>
            </a:avLst>
          </a:prstGeom>
          <a:solidFill>
            <a:srgbClr val="ECEAE4"/>
          </a:solidFill>
          <a:ln w="12700">
            <a:solidFill>
              <a:srgbClr val="ECEAE4"/>
            </a:solidFill>
            <a:prstDash val="solid"/>
          </a:ln>
        </p:spPr>
        <p:txBody>
          <a:bodyPr/>
          <a:p/>
        </p:txBody>
      </p:sp>
      <p:sp>
        <p:nvSpPr>
          <p:cNvPr id="21" name="Shape 19"/>
          <p:cNvSpPr/>
          <p:nvPr/>
        </p:nvSpPr>
        <p:spPr>
          <a:xfrm>
            <a:off x="7406640" y="1645920"/>
            <a:ext cx="4160520" cy="73152"/>
          </a:xfrm>
          <a:prstGeom prst="rect">
            <a:avLst/>
          </a:prstGeom>
          <a:solidFill>
            <a:srgbClr val="8A6100"/>
          </a:solidFill>
          <a:ln w="12700">
            <a:solidFill>
              <a:srgbClr val="8A6100"/>
            </a:solidFill>
            <a:prstDash val="solid"/>
          </a:ln>
        </p:spPr>
        <p:txBody>
          <a:bodyPr/>
          <a:p/>
        </p:txBody>
      </p:sp>
      <p:sp>
        <p:nvSpPr>
          <p:cNvPr id="22" name="Text 20"/>
          <p:cNvSpPr/>
          <p:nvPr/>
        </p:nvSpPr>
        <p:spPr>
          <a:xfrm>
            <a:off x="7635240" y="1847088"/>
            <a:ext cx="370332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Se potrivește</a:t>
            </a:r>
            <a:endParaRPr lang="en-US" sz="1700" dirty="0"/>
          </a:p>
        </p:txBody>
      </p:sp>
      <p:sp>
        <p:nvSpPr>
          <p:cNvPr id="23" name="Text 21"/>
          <p:cNvSpPr/>
          <p:nvPr/>
        </p:nvSpPr>
        <p:spPr>
          <a:xfrm>
            <a:off x="7635240" y="2514600"/>
            <a:ext cx="3703320" cy="5943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echipelor mature, îngrijirilor paliative, îndrumării colegilor noi</a:t>
            </a:r>
            <a:endParaRPr lang="en-US" sz="1500" dirty="0"/>
          </a:p>
        </p:txBody>
      </p:sp>
      <p:sp>
        <p:nvSpPr>
          <p:cNvPr id="24" name="Shape 22"/>
          <p:cNvSpPr/>
          <p:nvPr/>
        </p:nvSpPr>
        <p:spPr>
          <a:xfrm>
            <a:off x="7406640" y="3383280"/>
            <a:ext cx="4160520" cy="1600200"/>
          </a:xfrm>
          <a:prstGeom prst="roundRect">
            <a:avLst>
              <a:gd name="adj" fmla="val 5143"/>
            </a:avLst>
          </a:prstGeom>
          <a:solidFill>
            <a:srgbClr val="F9F8F5"/>
          </a:solidFill>
          <a:ln w="12700">
            <a:solidFill>
              <a:srgbClr val="F9F8F5"/>
            </a:solidFill>
            <a:prstDash val="solid"/>
          </a:ln>
        </p:spPr>
        <p:txBody>
          <a:bodyPr/>
          <a:p/>
        </p:txBody>
      </p:sp>
      <p:sp>
        <p:nvSpPr>
          <p:cNvPr id="25" name="Shape 23"/>
          <p:cNvSpPr/>
          <p:nvPr/>
        </p:nvSpPr>
        <p:spPr>
          <a:xfrm>
            <a:off x="7406640" y="3383280"/>
            <a:ext cx="4160520" cy="73152"/>
          </a:xfrm>
          <a:prstGeom prst="rect">
            <a:avLst/>
          </a:prstGeom>
          <a:solidFill>
            <a:srgbClr val="B02532"/>
          </a:solidFill>
          <a:ln w="12700">
            <a:solidFill>
              <a:srgbClr val="B02532"/>
            </a:solidFill>
            <a:prstDash val="solid"/>
          </a:ln>
        </p:spPr>
        <p:txBody>
          <a:bodyPr/>
          <a:p/>
        </p:txBody>
      </p:sp>
      <p:sp>
        <p:nvSpPr>
          <p:cNvPr id="26" name="Text 24"/>
          <p:cNvSpPr/>
          <p:nvPr/>
        </p:nvSpPr>
        <p:spPr>
          <a:xfrm>
            <a:off x="7635240" y="3584448"/>
            <a:ext cx="3703320" cy="6858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Limita</a:t>
            </a:r>
            <a:endParaRPr lang="en-US" sz="1700" dirty="0"/>
          </a:p>
        </p:txBody>
      </p:sp>
      <p:sp>
        <p:nvSpPr>
          <p:cNvPr id="27" name="Text 25"/>
          <p:cNvSpPr/>
          <p:nvPr/>
        </p:nvSpPr>
        <p:spPr>
          <a:xfrm>
            <a:off x="7635240" y="4251960"/>
            <a:ext cx="3703320" cy="5943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viteza: în urgență nu este timp</a:t>
            </a:r>
            <a:endParaRPr lang="en-US" sz="1500" dirty="0"/>
          </a:p>
        </p:txBody>
      </p:sp>
      <p:sp>
        <p:nvSpPr>
          <p:cNvPr id="28" name="Text 2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A1005); potrivirea și limita: sinteză didactică.</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SINTEZĂ DIDACTICĂ DUPĂ DECUL CURSULUI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stiluri de leadership, comparate</a:t>
            </a:r>
            <a:endParaRPr lang="en-US" sz="3000" dirty="0"/>
          </a:p>
        </p:txBody>
      </p:sp>
      <p:sp>
        <p:nvSpPr>
          <p:cNvPr id="4" name="Shape 2"/>
          <p:cNvSpPr/>
          <p:nvPr/>
        </p:nvSpPr>
        <p:spPr>
          <a:xfrm>
            <a:off x="3063240" y="1645920"/>
            <a:ext cx="2715768" cy="658368"/>
          </a:xfrm>
          <a:prstGeom prst="roundRect">
            <a:avLst>
              <a:gd name="adj" fmla="val 12500"/>
            </a:avLst>
          </a:prstGeom>
          <a:solidFill>
            <a:srgbClr val="0E7C6B"/>
          </a:solidFill>
          <a:ln w="12700">
            <a:solidFill>
              <a:srgbClr val="0E7C6B"/>
            </a:solidFill>
            <a:prstDash val="solid"/>
          </a:ln>
        </p:spPr>
        <p:txBody>
          <a:bodyPr/>
          <a:p/>
        </p:txBody>
      </p:sp>
      <p:sp>
        <p:nvSpPr>
          <p:cNvPr id="5" name="Text 3"/>
          <p:cNvSpPr/>
          <p:nvPr/>
        </p:nvSpPr>
        <p:spPr>
          <a:xfrm>
            <a:off x="3200400" y="1645920"/>
            <a:ext cx="2468880" cy="658368"/>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Transformațional</a:t>
            </a:r>
            <a:endParaRPr lang="en-US" sz="1500" dirty="0"/>
          </a:p>
        </p:txBody>
      </p:sp>
      <p:sp>
        <p:nvSpPr>
          <p:cNvPr id="6" name="Shape 4"/>
          <p:cNvSpPr/>
          <p:nvPr/>
        </p:nvSpPr>
        <p:spPr>
          <a:xfrm>
            <a:off x="5943600" y="1645920"/>
            <a:ext cx="2670048" cy="658368"/>
          </a:xfrm>
          <a:prstGeom prst="roundRect">
            <a:avLst>
              <a:gd name="adj" fmla="val 12500"/>
            </a:avLst>
          </a:prstGeom>
          <a:solidFill>
            <a:srgbClr val="0E7C6B"/>
          </a:solidFill>
          <a:ln w="12700">
            <a:solidFill>
              <a:srgbClr val="0E7C6B"/>
            </a:solidFill>
            <a:prstDash val="solid"/>
          </a:ln>
        </p:spPr>
        <p:txBody>
          <a:bodyPr/>
          <a:p/>
        </p:txBody>
      </p:sp>
      <p:sp>
        <p:nvSpPr>
          <p:cNvPr id="7" name="Text 5"/>
          <p:cNvSpPr/>
          <p:nvPr/>
        </p:nvSpPr>
        <p:spPr>
          <a:xfrm>
            <a:off x="6080760" y="1645920"/>
            <a:ext cx="2423160" cy="658368"/>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Situațional</a:t>
            </a:r>
            <a:endParaRPr lang="en-US" sz="1500" dirty="0"/>
          </a:p>
        </p:txBody>
      </p:sp>
      <p:sp>
        <p:nvSpPr>
          <p:cNvPr id="8" name="Shape 6"/>
          <p:cNvSpPr/>
          <p:nvPr/>
        </p:nvSpPr>
        <p:spPr>
          <a:xfrm>
            <a:off x="8778240" y="1645920"/>
            <a:ext cx="2715768" cy="658368"/>
          </a:xfrm>
          <a:prstGeom prst="roundRect">
            <a:avLst>
              <a:gd name="adj" fmla="val 12500"/>
            </a:avLst>
          </a:prstGeom>
          <a:solidFill>
            <a:srgbClr val="0E7C6B"/>
          </a:solidFill>
          <a:ln w="12700">
            <a:solidFill>
              <a:srgbClr val="0E7C6B"/>
            </a:solidFill>
            <a:prstDash val="solid"/>
          </a:ln>
        </p:spPr>
        <p:txBody>
          <a:bodyPr/>
          <a:p/>
        </p:txBody>
      </p:sp>
      <p:sp>
        <p:nvSpPr>
          <p:cNvPr id="9" name="Text 7"/>
          <p:cNvSpPr/>
          <p:nvPr/>
        </p:nvSpPr>
        <p:spPr>
          <a:xfrm>
            <a:off x="8915400" y="1645920"/>
            <a:ext cx="2468880" cy="658368"/>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„În slujba celorlalți”</a:t>
            </a:r>
            <a:endParaRPr lang="en-US" sz="1500" dirty="0"/>
          </a:p>
        </p:txBody>
      </p:sp>
      <p:sp>
        <p:nvSpPr>
          <p:cNvPr id="10" name="Shape 8"/>
          <p:cNvSpPr/>
          <p:nvPr/>
        </p:nvSpPr>
        <p:spPr>
          <a:xfrm>
            <a:off x="594360" y="2395728"/>
            <a:ext cx="2304288" cy="658368"/>
          </a:xfrm>
          <a:prstGeom prst="roundRect">
            <a:avLst>
              <a:gd name="adj" fmla="val 12500"/>
            </a:avLst>
          </a:prstGeom>
          <a:solidFill>
            <a:srgbClr val="F9F8F5"/>
          </a:solidFill>
          <a:ln w="12700">
            <a:solidFill>
              <a:srgbClr val="F9F8F5"/>
            </a:solidFill>
            <a:prstDash val="solid"/>
          </a:ln>
        </p:spPr>
        <p:txBody>
          <a:bodyPr/>
          <a:p/>
        </p:txBody>
      </p:sp>
      <p:sp>
        <p:nvSpPr>
          <p:cNvPr id="11" name="Text 9"/>
          <p:cNvSpPr/>
          <p:nvPr/>
        </p:nvSpPr>
        <p:spPr>
          <a:xfrm>
            <a:off x="731520" y="2395728"/>
            <a:ext cx="2057400" cy="65836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Urmărește</a:t>
            </a:r>
            <a:endParaRPr lang="en-US" sz="1450" dirty="0"/>
          </a:p>
        </p:txBody>
      </p:sp>
      <p:sp>
        <p:nvSpPr>
          <p:cNvPr id="12" name="Shape 10"/>
          <p:cNvSpPr/>
          <p:nvPr/>
        </p:nvSpPr>
        <p:spPr>
          <a:xfrm>
            <a:off x="3063240" y="2395728"/>
            <a:ext cx="2715768" cy="658368"/>
          </a:xfrm>
          <a:prstGeom prst="roundRect">
            <a:avLst>
              <a:gd name="adj" fmla="val 12500"/>
            </a:avLst>
          </a:prstGeom>
          <a:solidFill>
            <a:srgbClr val="ECEAE4"/>
          </a:solidFill>
          <a:ln w="12700">
            <a:solidFill>
              <a:srgbClr val="ECEAE4"/>
            </a:solidFill>
            <a:prstDash val="solid"/>
          </a:ln>
        </p:spPr>
        <p:txBody>
          <a:bodyPr/>
          <a:p/>
        </p:txBody>
      </p:sp>
      <p:sp>
        <p:nvSpPr>
          <p:cNvPr id="13" name="Text 11"/>
          <p:cNvSpPr/>
          <p:nvPr/>
        </p:nvSpPr>
        <p:spPr>
          <a:xfrm>
            <a:off x="3200400" y="2395728"/>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viziunea, inspirarea</a:t>
            </a:r>
            <a:endParaRPr lang="en-US" sz="1450" dirty="0"/>
          </a:p>
        </p:txBody>
      </p:sp>
      <p:sp>
        <p:nvSpPr>
          <p:cNvPr id="14" name="Shape 12"/>
          <p:cNvSpPr/>
          <p:nvPr/>
        </p:nvSpPr>
        <p:spPr>
          <a:xfrm>
            <a:off x="5943600" y="2395728"/>
            <a:ext cx="2670048" cy="658368"/>
          </a:xfrm>
          <a:prstGeom prst="roundRect">
            <a:avLst>
              <a:gd name="adj" fmla="val 12500"/>
            </a:avLst>
          </a:prstGeom>
          <a:solidFill>
            <a:srgbClr val="ECEAE4"/>
          </a:solidFill>
          <a:ln w="12700">
            <a:solidFill>
              <a:srgbClr val="ECEAE4"/>
            </a:solidFill>
            <a:prstDash val="solid"/>
          </a:ln>
        </p:spPr>
        <p:txBody>
          <a:bodyPr/>
          <a:p/>
        </p:txBody>
      </p:sp>
      <p:sp>
        <p:nvSpPr>
          <p:cNvPr id="15" name="Text 13"/>
          <p:cNvSpPr/>
          <p:nvPr/>
        </p:nvSpPr>
        <p:spPr>
          <a:xfrm>
            <a:off x="6080760" y="2395728"/>
            <a:ext cx="242316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potrivirea stilului cu omul</a:t>
            </a:r>
            <a:endParaRPr lang="en-US" sz="1450" dirty="0"/>
          </a:p>
        </p:txBody>
      </p:sp>
      <p:sp>
        <p:nvSpPr>
          <p:cNvPr id="16" name="Shape 14"/>
          <p:cNvSpPr/>
          <p:nvPr/>
        </p:nvSpPr>
        <p:spPr>
          <a:xfrm>
            <a:off x="8778240" y="2395728"/>
            <a:ext cx="2715768" cy="658368"/>
          </a:xfrm>
          <a:prstGeom prst="roundRect">
            <a:avLst>
              <a:gd name="adj" fmla="val 12500"/>
            </a:avLst>
          </a:prstGeom>
          <a:solidFill>
            <a:srgbClr val="ECEAE4"/>
          </a:solidFill>
          <a:ln w="12700">
            <a:solidFill>
              <a:srgbClr val="ECEAE4"/>
            </a:solidFill>
            <a:prstDash val="solid"/>
          </a:ln>
        </p:spPr>
        <p:txBody>
          <a:bodyPr/>
          <a:p/>
        </p:txBody>
      </p:sp>
      <p:sp>
        <p:nvSpPr>
          <p:cNvPr id="17" name="Text 15"/>
          <p:cNvSpPr/>
          <p:nvPr/>
        </p:nvSpPr>
        <p:spPr>
          <a:xfrm>
            <a:off x="8915400" y="2395728"/>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binele celorlalți</a:t>
            </a:r>
            <a:endParaRPr lang="en-US" sz="1450" dirty="0"/>
          </a:p>
        </p:txBody>
      </p:sp>
      <p:sp>
        <p:nvSpPr>
          <p:cNvPr id="18" name="Shape 16"/>
          <p:cNvSpPr/>
          <p:nvPr/>
        </p:nvSpPr>
        <p:spPr>
          <a:xfrm>
            <a:off x="594360" y="3145536"/>
            <a:ext cx="2304288" cy="658368"/>
          </a:xfrm>
          <a:prstGeom prst="roundRect">
            <a:avLst>
              <a:gd name="adj" fmla="val 12500"/>
            </a:avLst>
          </a:prstGeom>
          <a:solidFill>
            <a:srgbClr val="F9F8F5"/>
          </a:solidFill>
          <a:ln w="12700">
            <a:solidFill>
              <a:srgbClr val="F9F8F5"/>
            </a:solidFill>
            <a:prstDash val="solid"/>
          </a:ln>
        </p:spPr>
        <p:txBody>
          <a:bodyPr/>
          <a:p/>
        </p:txBody>
      </p:sp>
      <p:sp>
        <p:nvSpPr>
          <p:cNvPr id="19" name="Text 17"/>
          <p:cNvSpPr/>
          <p:nvPr/>
        </p:nvSpPr>
        <p:spPr>
          <a:xfrm>
            <a:off x="731520" y="3145536"/>
            <a:ext cx="2057400" cy="65836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Se potrivește</a:t>
            </a:r>
            <a:endParaRPr lang="en-US" sz="1450" dirty="0"/>
          </a:p>
        </p:txBody>
      </p:sp>
      <p:sp>
        <p:nvSpPr>
          <p:cNvPr id="20" name="Shape 18"/>
          <p:cNvSpPr/>
          <p:nvPr/>
        </p:nvSpPr>
        <p:spPr>
          <a:xfrm>
            <a:off x="3063240" y="3145536"/>
            <a:ext cx="2715768" cy="658368"/>
          </a:xfrm>
          <a:prstGeom prst="roundRect">
            <a:avLst>
              <a:gd name="adj" fmla="val 12500"/>
            </a:avLst>
          </a:prstGeom>
          <a:solidFill>
            <a:srgbClr val="ECEAE4"/>
          </a:solidFill>
          <a:ln w="12700">
            <a:solidFill>
              <a:srgbClr val="ECEAE4"/>
            </a:solidFill>
            <a:prstDash val="solid"/>
          </a:ln>
        </p:spPr>
        <p:txBody>
          <a:bodyPr/>
          <a:p/>
        </p:txBody>
      </p:sp>
      <p:sp>
        <p:nvSpPr>
          <p:cNvPr id="21" name="Text 19"/>
          <p:cNvSpPr/>
          <p:nvPr/>
        </p:nvSpPr>
        <p:spPr>
          <a:xfrm>
            <a:off x="3200400" y="3145536"/>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schimbării, crizei</a:t>
            </a:r>
            <a:endParaRPr lang="en-US" sz="1450" dirty="0"/>
          </a:p>
        </p:txBody>
      </p:sp>
      <p:sp>
        <p:nvSpPr>
          <p:cNvPr id="22" name="Shape 20"/>
          <p:cNvSpPr/>
          <p:nvPr/>
        </p:nvSpPr>
        <p:spPr>
          <a:xfrm>
            <a:off x="5943600" y="3145536"/>
            <a:ext cx="2670048" cy="658368"/>
          </a:xfrm>
          <a:prstGeom prst="roundRect">
            <a:avLst>
              <a:gd name="adj" fmla="val 12500"/>
            </a:avLst>
          </a:prstGeom>
          <a:solidFill>
            <a:srgbClr val="ECEAE4"/>
          </a:solidFill>
          <a:ln w="12700">
            <a:solidFill>
              <a:srgbClr val="ECEAE4"/>
            </a:solidFill>
            <a:prstDash val="solid"/>
          </a:ln>
        </p:spPr>
        <p:txBody>
          <a:bodyPr/>
          <a:p/>
        </p:txBody>
      </p:sp>
      <p:sp>
        <p:nvSpPr>
          <p:cNvPr id="23" name="Text 21"/>
          <p:cNvSpPr/>
          <p:nvPr/>
        </p:nvSpPr>
        <p:spPr>
          <a:xfrm>
            <a:off x="6080760" y="3145536"/>
            <a:ext cx="242316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aproape oriunde</a:t>
            </a:r>
            <a:endParaRPr lang="en-US" sz="1450" dirty="0"/>
          </a:p>
        </p:txBody>
      </p:sp>
      <p:sp>
        <p:nvSpPr>
          <p:cNvPr id="24" name="Shape 22"/>
          <p:cNvSpPr/>
          <p:nvPr/>
        </p:nvSpPr>
        <p:spPr>
          <a:xfrm>
            <a:off x="8778240" y="3145536"/>
            <a:ext cx="2715768" cy="658368"/>
          </a:xfrm>
          <a:prstGeom prst="roundRect">
            <a:avLst>
              <a:gd name="adj" fmla="val 12500"/>
            </a:avLst>
          </a:prstGeom>
          <a:solidFill>
            <a:srgbClr val="ECEAE4"/>
          </a:solidFill>
          <a:ln w="12700">
            <a:solidFill>
              <a:srgbClr val="ECEAE4"/>
            </a:solidFill>
            <a:prstDash val="solid"/>
          </a:ln>
        </p:spPr>
        <p:txBody>
          <a:bodyPr/>
          <a:p/>
        </p:txBody>
      </p:sp>
      <p:sp>
        <p:nvSpPr>
          <p:cNvPr id="25" name="Text 23"/>
          <p:cNvSpPr/>
          <p:nvPr/>
        </p:nvSpPr>
        <p:spPr>
          <a:xfrm>
            <a:off x="8915400" y="3145536"/>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echipelor mature</a:t>
            </a:r>
            <a:endParaRPr lang="en-US" sz="1450" dirty="0"/>
          </a:p>
        </p:txBody>
      </p:sp>
      <p:sp>
        <p:nvSpPr>
          <p:cNvPr id="26" name="Shape 24"/>
          <p:cNvSpPr/>
          <p:nvPr/>
        </p:nvSpPr>
        <p:spPr>
          <a:xfrm>
            <a:off x="594360" y="3895344"/>
            <a:ext cx="2304288" cy="658368"/>
          </a:xfrm>
          <a:prstGeom prst="roundRect">
            <a:avLst>
              <a:gd name="adj" fmla="val 12500"/>
            </a:avLst>
          </a:prstGeom>
          <a:solidFill>
            <a:srgbClr val="F9F8F5"/>
          </a:solidFill>
          <a:ln w="12700">
            <a:solidFill>
              <a:srgbClr val="F9F8F5"/>
            </a:solidFill>
            <a:prstDash val="solid"/>
          </a:ln>
        </p:spPr>
        <p:txBody>
          <a:bodyPr/>
          <a:p/>
        </p:txBody>
      </p:sp>
      <p:sp>
        <p:nvSpPr>
          <p:cNvPr id="27" name="Text 25"/>
          <p:cNvSpPr/>
          <p:nvPr/>
        </p:nvSpPr>
        <p:spPr>
          <a:xfrm>
            <a:off x="731520" y="3895344"/>
            <a:ext cx="2057400" cy="65836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Punct tare</a:t>
            </a:r>
            <a:endParaRPr lang="en-US" sz="1450" dirty="0"/>
          </a:p>
        </p:txBody>
      </p:sp>
      <p:sp>
        <p:nvSpPr>
          <p:cNvPr id="28" name="Shape 26"/>
          <p:cNvSpPr/>
          <p:nvPr/>
        </p:nvSpPr>
        <p:spPr>
          <a:xfrm>
            <a:off x="3063240" y="3895344"/>
            <a:ext cx="2715768" cy="658368"/>
          </a:xfrm>
          <a:prstGeom prst="roundRect">
            <a:avLst>
              <a:gd name="adj" fmla="val 12500"/>
            </a:avLst>
          </a:prstGeom>
          <a:solidFill>
            <a:srgbClr val="ECEAE4"/>
          </a:solidFill>
          <a:ln w="12700">
            <a:solidFill>
              <a:srgbClr val="ECEAE4"/>
            </a:solidFill>
            <a:prstDash val="solid"/>
          </a:ln>
        </p:spPr>
        <p:txBody>
          <a:bodyPr/>
          <a:p/>
        </p:txBody>
      </p:sp>
      <p:sp>
        <p:nvSpPr>
          <p:cNvPr id="29" name="Text 27"/>
          <p:cNvSpPr/>
          <p:nvPr/>
        </p:nvSpPr>
        <p:spPr>
          <a:xfrm>
            <a:off x="3200400" y="3895344"/>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angajament, inovație</a:t>
            </a:r>
            <a:endParaRPr lang="en-US" sz="1450" dirty="0"/>
          </a:p>
        </p:txBody>
      </p:sp>
      <p:sp>
        <p:nvSpPr>
          <p:cNvPr id="30" name="Shape 28"/>
          <p:cNvSpPr/>
          <p:nvPr/>
        </p:nvSpPr>
        <p:spPr>
          <a:xfrm>
            <a:off x="5943600" y="3895344"/>
            <a:ext cx="2670048" cy="658368"/>
          </a:xfrm>
          <a:prstGeom prst="roundRect">
            <a:avLst>
              <a:gd name="adj" fmla="val 12500"/>
            </a:avLst>
          </a:prstGeom>
          <a:solidFill>
            <a:srgbClr val="ECEAE4"/>
          </a:solidFill>
          <a:ln w="12700">
            <a:solidFill>
              <a:srgbClr val="ECEAE4"/>
            </a:solidFill>
            <a:prstDash val="solid"/>
          </a:ln>
        </p:spPr>
        <p:txBody>
          <a:bodyPr/>
          <a:p/>
        </p:txBody>
      </p:sp>
      <p:sp>
        <p:nvSpPr>
          <p:cNvPr id="31" name="Text 29"/>
          <p:cNvSpPr/>
          <p:nvPr/>
        </p:nvSpPr>
        <p:spPr>
          <a:xfrm>
            <a:off x="6080760" y="3895344"/>
            <a:ext cx="242316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flexibilitate</a:t>
            </a:r>
            <a:endParaRPr lang="en-US" sz="1450" dirty="0"/>
          </a:p>
        </p:txBody>
      </p:sp>
      <p:sp>
        <p:nvSpPr>
          <p:cNvPr id="32" name="Shape 30"/>
          <p:cNvSpPr/>
          <p:nvPr/>
        </p:nvSpPr>
        <p:spPr>
          <a:xfrm>
            <a:off x="8778240" y="3895344"/>
            <a:ext cx="2715768" cy="658368"/>
          </a:xfrm>
          <a:prstGeom prst="roundRect">
            <a:avLst>
              <a:gd name="adj" fmla="val 12500"/>
            </a:avLst>
          </a:prstGeom>
          <a:solidFill>
            <a:srgbClr val="ECEAE4"/>
          </a:solidFill>
          <a:ln w="12700">
            <a:solidFill>
              <a:srgbClr val="ECEAE4"/>
            </a:solidFill>
            <a:prstDash val="solid"/>
          </a:ln>
        </p:spPr>
        <p:txBody>
          <a:bodyPr/>
          <a:p/>
        </p:txBody>
      </p:sp>
      <p:sp>
        <p:nvSpPr>
          <p:cNvPr id="33" name="Text 31"/>
          <p:cNvSpPr/>
          <p:nvPr/>
        </p:nvSpPr>
        <p:spPr>
          <a:xfrm>
            <a:off x="8915400" y="3895344"/>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încredere, loialitate</a:t>
            </a:r>
            <a:endParaRPr lang="en-US" sz="1450" dirty="0"/>
          </a:p>
        </p:txBody>
      </p:sp>
      <p:sp>
        <p:nvSpPr>
          <p:cNvPr id="34" name="Shape 32"/>
          <p:cNvSpPr/>
          <p:nvPr/>
        </p:nvSpPr>
        <p:spPr>
          <a:xfrm>
            <a:off x="594360" y="4645152"/>
            <a:ext cx="2304288" cy="658368"/>
          </a:xfrm>
          <a:prstGeom prst="roundRect">
            <a:avLst>
              <a:gd name="adj" fmla="val 12500"/>
            </a:avLst>
          </a:prstGeom>
          <a:solidFill>
            <a:srgbClr val="F9F8F5"/>
          </a:solidFill>
          <a:ln w="12700">
            <a:solidFill>
              <a:srgbClr val="F9F8F5"/>
            </a:solidFill>
            <a:prstDash val="solid"/>
          </a:ln>
        </p:spPr>
        <p:txBody>
          <a:bodyPr/>
          <a:p/>
        </p:txBody>
      </p:sp>
      <p:sp>
        <p:nvSpPr>
          <p:cNvPr id="35" name="Text 33"/>
          <p:cNvSpPr/>
          <p:nvPr/>
        </p:nvSpPr>
        <p:spPr>
          <a:xfrm>
            <a:off x="731520" y="4645152"/>
            <a:ext cx="2057400" cy="65836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Limită</a:t>
            </a:r>
            <a:endParaRPr lang="en-US" sz="1450" dirty="0"/>
          </a:p>
        </p:txBody>
      </p:sp>
      <p:sp>
        <p:nvSpPr>
          <p:cNvPr id="36" name="Shape 34"/>
          <p:cNvSpPr/>
          <p:nvPr/>
        </p:nvSpPr>
        <p:spPr>
          <a:xfrm>
            <a:off x="3063240" y="4645152"/>
            <a:ext cx="2715768" cy="658368"/>
          </a:xfrm>
          <a:prstGeom prst="roundRect">
            <a:avLst>
              <a:gd name="adj" fmla="val 12500"/>
            </a:avLst>
          </a:prstGeom>
          <a:solidFill>
            <a:srgbClr val="ECEAE4"/>
          </a:solidFill>
          <a:ln w="12700">
            <a:solidFill>
              <a:srgbClr val="ECEAE4"/>
            </a:solidFill>
            <a:prstDash val="solid"/>
          </a:ln>
        </p:spPr>
        <p:txBody>
          <a:bodyPr/>
          <a:p/>
        </p:txBody>
      </p:sp>
      <p:sp>
        <p:nvSpPr>
          <p:cNvPr id="37" name="Text 35"/>
          <p:cNvSpPr/>
          <p:nvPr/>
        </p:nvSpPr>
        <p:spPr>
          <a:xfrm>
            <a:off x="3200400" y="4645152"/>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dependența de lider</a:t>
            </a:r>
            <a:endParaRPr lang="en-US" sz="1450" dirty="0"/>
          </a:p>
        </p:txBody>
      </p:sp>
      <p:sp>
        <p:nvSpPr>
          <p:cNvPr id="38" name="Shape 36"/>
          <p:cNvSpPr/>
          <p:nvPr/>
        </p:nvSpPr>
        <p:spPr>
          <a:xfrm>
            <a:off x="5943600" y="4645152"/>
            <a:ext cx="2670048" cy="658368"/>
          </a:xfrm>
          <a:prstGeom prst="roundRect">
            <a:avLst>
              <a:gd name="adj" fmla="val 12500"/>
            </a:avLst>
          </a:prstGeom>
          <a:solidFill>
            <a:srgbClr val="ECEAE4"/>
          </a:solidFill>
          <a:ln w="12700">
            <a:solidFill>
              <a:srgbClr val="ECEAE4"/>
            </a:solidFill>
            <a:prstDash val="solid"/>
          </a:ln>
        </p:spPr>
        <p:txBody>
          <a:bodyPr/>
          <a:p/>
        </p:txBody>
      </p:sp>
      <p:sp>
        <p:nvSpPr>
          <p:cNvPr id="39" name="Text 37"/>
          <p:cNvSpPr/>
          <p:nvPr/>
        </p:nvSpPr>
        <p:spPr>
          <a:xfrm>
            <a:off x="6080760" y="4645152"/>
            <a:ext cx="242316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evaluarea continuă</a:t>
            </a:r>
            <a:endParaRPr lang="en-US" sz="1450" dirty="0"/>
          </a:p>
        </p:txBody>
      </p:sp>
      <p:sp>
        <p:nvSpPr>
          <p:cNvPr id="40" name="Shape 38"/>
          <p:cNvSpPr/>
          <p:nvPr/>
        </p:nvSpPr>
        <p:spPr>
          <a:xfrm>
            <a:off x="8778240" y="4645152"/>
            <a:ext cx="2715768" cy="658368"/>
          </a:xfrm>
          <a:prstGeom prst="roundRect">
            <a:avLst>
              <a:gd name="adj" fmla="val 12500"/>
            </a:avLst>
          </a:prstGeom>
          <a:solidFill>
            <a:srgbClr val="ECEAE4"/>
          </a:solidFill>
          <a:ln w="12700">
            <a:solidFill>
              <a:srgbClr val="ECEAE4"/>
            </a:solidFill>
            <a:prstDash val="solid"/>
          </a:ln>
        </p:spPr>
        <p:txBody>
          <a:bodyPr/>
          <a:p/>
        </p:txBody>
      </p:sp>
      <p:sp>
        <p:nvSpPr>
          <p:cNvPr id="41" name="Text 39"/>
          <p:cNvSpPr/>
          <p:nvPr/>
        </p:nvSpPr>
        <p:spPr>
          <a:xfrm>
            <a:off x="8915400" y="4645152"/>
            <a:ext cx="2468880" cy="65836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decizie lentă</a:t>
            </a:r>
            <a:endParaRPr lang="en-US" sz="1450" dirty="0"/>
          </a:p>
        </p:txBody>
      </p:sp>
      <p:sp>
        <p:nvSpPr>
          <p:cNvPr id="42" name="Text 40"/>
          <p:cNvSpPr/>
          <p:nvPr/>
        </p:nvSpPr>
        <p:spPr>
          <a:xfrm>
            <a:off x="594360" y="5532120"/>
            <a:ext cx="10972800" cy="45720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Pentru curioși (nu se evaluează): decul prezintă și șase stiluri emoționale.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594360" y="310896"/>
            <a:ext cx="3291840" cy="329184"/>
          </a:xfrm>
          <a:prstGeom prst="roundRect">
            <a:avLst>
              <a:gd name="adj" fmla="val 50000"/>
            </a:avLst>
          </a:prstGeom>
          <a:solidFill>
            <a:srgbClr val="0E7C6B"/>
          </a:solidFill>
          <a:ln w="12700">
            <a:solidFill>
              <a:srgbClr val="0E7C6B"/>
            </a:solidFill>
            <a:prstDash val="solid"/>
          </a:ln>
        </p:spPr>
        <p:txBody>
          <a:bodyPr/>
          <a:p/>
        </p:txBody>
      </p:sp>
      <p:sp>
        <p:nvSpPr>
          <p:cNvPr id="3" name="Text 1"/>
          <p:cNvSpPr/>
          <p:nvPr/>
        </p:nvSpPr>
        <p:spPr>
          <a:xfrm>
            <a:off x="594360" y="310896"/>
            <a:ext cx="329184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TERMENUL NOU 1 DIN 2</a:t>
            </a:r>
            <a:endParaRPr lang="en-US" sz="1300" dirty="0"/>
          </a:p>
        </p:txBody>
      </p:sp>
      <p:sp>
        <p:nvSpPr>
          <p:cNvPr id="4" name="Text 2"/>
          <p:cNvSpPr/>
          <p:nvPr/>
        </p:nvSpPr>
        <p:spPr>
          <a:xfrm>
            <a:off x="4114800" y="347472"/>
            <a:ext cx="749808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OPENSTAX, PRINCIPLES OF MANAGEMENT</a:t>
            </a:r>
            <a:endParaRPr lang="en-US" sz="1300" dirty="0"/>
          </a:p>
        </p:txBody>
      </p:sp>
      <p:sp>
        <p:nvSpPr>
          <p:cNvPr id="5" name="Text 3"/>
          <p:cNvSpPr/>
          <p:nvPr/>
        </p:nvSpPr>
        <p:spPr>
          <a:xfrm>
            <a:off x="594360" y="777240"/>
            <a:ext cx="10972800" cy="7315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Inteligența emoțională</a:t>
            </a:r>
            <a:endParaRPr lang="en-US" sz="3200" dirty="0"/>
          </a:p>
        </p:txBody>
      </p:sp>
      <p:sp>
        <p:nvSpPr>
          <p:cNvPr id="6" name="Shape 4"/>
          <p:cNvSpPr/>
          <p:nvPr/>
        </p:nvSpPr>
        <p:spPr>
          <a:xfrm>
            <a:off x="594360" y="1645920"/>
            <a:ext cx="10972800" cy="1325880"/>
          </a:xfrm>
          <a:prstGeom prst="roundRect">
            <a:avLst>
              <a:gd name="adj" fmla="val 6207"/>
            </a:avLst>
          </a:prstGeom>
          <a:solidFill>
            <a:srgbClr val="FFFFFF"/>
          </a:solidFill>
          <a:ln w="12700">
            <a:solidFill>
              <a:srgbClr val="FFFFFF"/>
            </a:solidFill>
            <a:prstDash val="solid"/>
          </a:ln>
        </p:spPr>
        <p:txBody>
          <a:bodyPr/>
          <a:p/>
        </p:txBody>
      </p:sp>
      <p:sp>
        <p:nvSpPr>
          <p:cNvPr id="7" name="Shape 5"/>
          <p:cNvSpPr/>
          <p:nvPr/>
        </p:nvSpPr>
        <p:spPr>
          <a:xfrm>
            <a:off x="594360" y="1645920"/>
            <a:ext cx="82296" cy="1325880"/>
          </a:xfrm>
          <a:prstGeom prst="rect">
            <a:avLst/>
          </a:prstGeom>
          <a:solidFill>
            <a:srgbClr val="0E7C6B"/>
          </a:solidFill>
          <a:ln w="12700">
            <a:solidFill>
              <a:srgbClr val="0E7C6B"/>
            </a:solidFill>
            <a:prstDash val="solid"/>
          </a:ln>
        </p:spPr>
        <p:txBody>
          <a:bodyPr/>
          <a:p/>
        </p:txBody>
      </p:sp>
      <p:sp>
        <p:nvSpPr>
          <p:cNvPr id="8" name="Text 6"/>
          <p:cNvSpPr/>
          <p:nvPr/>
        </p:nvSpPr>
        <p:spPr>
          <a:xfrm>
            <a:off x="914400" y="1645920"/>
            <a:ext cx="10424160" cy="1325880"/>
          </a:xfrm>
          <a:prstGeom prst="rect">
            <a:avLst/>
          </a:prstGeom>
          <a:noFill/>
          <a:ln/>
        </p:spPr>
        <p:txBody>
          <a:bodyPr wrap="square" lIns="0" tIns="0" rIns="0" bIns="0" rtlCol="0" anchor="ctr"/>
          <a:lstStyle/>
          <a:p>
            <a:pPr indent="0" marL="0">
              <a:buNone/>
            </a:pPr>
            <a:r>
              <a:rPr lang="en-US" sz="1900" i="1" dirty="0">
                <a:solidFill>
                  <a:srgbClr val="11121A"/>
                </a:solidFill>
                <a:latin typeface="Palatino Linotype" pitchFamily="34" charset="0"/>
                <a:ea typeface="Palatino Linotype" pitchFamily="34" charset="-122"/>
                <a:cs typeface="Palatino Linotype" pitchFamily="34" charset="-120"/>
              </a:rPr>
              <a:t>Capacitatea de a recunoaște, de a înțelege, de a lua în seamă și de a gestiona propriile emoții și emoțiile celorlalți.</a:t>
            </a:r>
            <a:endParaRPr lang="en-US" sz="1900" dirty="0"/>
          </a:p>
        </p:txBody>
      </p:sp>
      <p:sp>
        <p:nvSpPr>
          <p:cNvPr id="9" name="Shape 7"/>
          <p:cNvSpPr/>
          <p:nvPr/>
        </p:nvSpPr>
        <p:spPr>
          <a:xfrm>
            <a:off x="594360" y="3200400"/>
            <a:ext cx="2651760" cy="2377440"/>
          </a:xfrm>
          <a:prstGeom prst="roundRect">
            <a:avLst>
              <a:gd name="adj" fmla="val 3462"/>
            </a:avLst>
          </a:prstGeom>
          <a:solidFill>
            <a:srgbClr val="ECEAE4"/>
          </a:solidFill>
          <a:ln w="12700">
            <a:solidFill>
              <a:srgbClr val="ECEAE4"/>
            </a:solidFill>
            <a:prstDash val="solid"/>
          </a:ln>
        </p:spPr>
        <p:txBody>
          <a:bodyPr/>
          <a:p/>
        </p:txBody>
      </p:sp>
      <p:sp>
        <p:nvSpPr>
          <p:cNvPr id="10" name="Shape 8"/>
          <p:cNvSpPr/>
          <p:nvPr/>
        </p:nvSpPr>
        <p:spPr>
          <a:xfrm>
            <a:off x="594360" y="3200400"/>
            <a:ext cx="2651760" cy="73152"/>
          </a:xfrm>
          <a:prstGeom prst="rect">
            <a:avLst/>
          </a:prstGeom>
          <a:solidFill>
            <a:srgbClr val="0E7C6B"/>
          </a:solidFill>
          <a:ln w="12700">
            <a:solidFill>
              <a:srgbClr val="0E7C6B"/>
            </a:solidFill>
            <a:prstDash val="solid"/>
          </a:ln>
        </p:spPr>
        <p:txBody>
          <a:bodyPr/>
          <a:p/>
        </p:txBody>
      </p:sp>
      <p:sp>
        <p:nvSpPr>
          <p:cNvPr id="11" name="Text 9"/>
          <p:cNvSpPr/>
          <p:nvPr/>
        </p:nvSpPr>
        <p:spPr>
          <a:xfrm>
            <a:off x="822960" y="3401568"/>
            <a:ext cx="2194560" cy="68580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Conștiința de sine</a:t>
            </a:r>
            <a:endParaRPr lang="en-US" sz="1700" dirty="0"/>
          </a:p>
        </p:txBody>
      </p:sp>
      <p:sp>
        <p:nvSpPr>
          <p:cNvPr id="12" name="Text 10"/>
          <p:cNvSpPr/>
          <p:nvPr/>
        </p:nvSpPr>
        <p:spPr>
          <a:xfrm>
            <a:off x="822960" y="4069080"/>
            <a:ext cx="2194560" cy="13716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îți recunoști emoțiile și efectul lor asupra deciziilor</a:t>
            </a:r>
            <a:endParaRPr lang="en-US" sz="1500" dirty="0"/>
          </a:p>
        </p:txBody>
      </p:sp>
      <p:sp>
        <p:nvSpPr>
          <p:cNvPr id="13" name="Shape 11"/>
          <p:cNvSpPr/>
          <p:nvPr/>
        </p:nvSpPr>
        <p:spPr>
          <a:xfrm>
            <a:off x="3383280" y="3200400"/>
            <a:ext cx="2651760" cy="2377440"/>
          </a:xfrm>
          <a:prstGeom prst="roundRect">
            <a:avLst>
              <a:gd name="adj" fmla="val 3462"/>
            </a:avLst>
          </a:prstGeom>
          <a:solidFill>
            <a:srgbClr val="F9F8F5"/>
          </a:solidFill>
          <a:ln w="12700">
            <a:solidFill>
              <a:srgbClr val="F9F8F5"/>
            </a:solidFill>
            <a:prstDash val="solid"/>
          </a:ln>
        </p:spPr>
        <p:txBody>
          <a:bodyPr/>
          <a:p/>
        </p:txBody>
      </p:sp>
      <p:sp>
        <p:nvSpPr>
          <p:cNvPr id="14" name="Shape 12"/>
          <p:cNvSpPr/>
          <p:nvPr/>
        </p:nvSpPr>
        <p:spPr>
          <a:xfrm>
            <a:off x="3383280" y="3200400"/>
            <a:ext cx="2651760" cy="73152"/>
          </a:xfrm>
          <a:prstGeom prst="rect">
            <a:avLst/>
          </a:prstGeom>
          <a:solidFill>
            <a:srgbClr val="8A6100"/>
          </a:solidFill>
          <a:ln w="12700">
            <a:solidFill>
              <a:srgbClr val="8A6100"/>
            </a:solidFill>
            <a:prstDash val="solid"/>
          </a:ln>
        </p:spPr>
        <p:txBody>
          <a:bodyPr/>
          <a:p/>
        </p:txBody>
      </p:sp>
      <p:sp>
        <p:nvSpPr>
          <p:cNvPr id="15" name="Text 13"/>
          <p:cNvSpPr/>
          <p:nvPr/>
        </p:nvSpPr>
        <p:spPr>
          <a:xfrm>
            <a:off x="3611880" y="3401568"/>
            <a:ext cx="219456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Stăpânirea de sine</a:t>
            </a:r>
            <a:endParaRPr lang="en-US" sz="1700" dirty="0"/>
          </a:p>
        </p:txBody>
      </p:sp>
      <p:sp>
        <p:nvSpPr>
          <p:cNvPr id="16" name="Text 14"/>
          <p:cNvSpPr/>
          <p:nvPr/>
        </p:nvSpPr>
        <p:spPr>
          <a:xfrm>
            <a:off x="3611880" y="4069080"/>
            <a:ext cx="2194560" cy="13716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îți controlezi emoțiile, potrivit situației</a:t>
            </a:r>
            <a:endParaRPr lang="en-US" sz="1500" dirty="0"/>
          </a:p>
        </p:txBody>
      </p:sp>
      <p:sp>
        <p:nvSpPr>
          <p:cNvPr id="17" name="Shape 15"/>
          <p:cNvSpPr/>
          <p:nvPr/>
        </p:nvSpPr>
        <p:spPr>
          <a:xfrm>
            <a:off x="6172200" y="3200400"/>
            <a:ext cx="2651760" cy="2377440"/>
          </a:xfrm>
          <a:prstGeom prst="roundRect">
            <a:avLst>
              <a:gd name="adj" fmla="val 3462"/>
            </a:avLst>
          </a:prstGeom>
          <a:solidFill>
            <a:srgbClr val="ECEAE4"/>
          </a:solidFill>
          <a:ln w="12700">
            <a:solidFill>
              <a:srgbClr val="ECEAE4"/>
            </a:solidFill>
            <a:prstDash val="solid"/>
          </a:ln>
        </p:spPr>
        <p:txBody>
          <a:bodyPr/>
          <a:p/>
        </p:txBody>
      </p:sp>
      <p:sp>
        <p:nvSpPr>
          <p:cNvPr id="18" name="Shape 16"/>
          <p:cNvSpPr/>
          <p:nvPr/>
        </p:nvSpPr>
        <p:spPr>
          <a:xfrm>
            <a:off x="6172200" y="3200400"/>
            <a:ext cx="2651760" cy="73152"/>
          </a:xfrm>
          <a:prstGeom prst="rect">
            <a:avLst/>
          </a:prstGeom>
          <a:solidFill>
            <a:srgbClr val="4A2D8C"/>
          </a:solidFill>
          <a:ln w="12700">
            <a:solidFill>
              <a:srgbClr val="4A2D8C"/>
            </a:solidFill>
            <a:prstDash val="solid"/>
          </a:ln>
        </p:spPr>
        <p:txBody>
          <a:bodyPr/>
          <a:p/>
        </p:txBody>
      </p:sp>
      <p:sp>
        <p:nvSpPr>
          <p:cNvPr id="19" name="Text 17"/>
          <p:cNvSpPr/>
          <p:nvPr/>
        </p:nvSpPr>
        <p:spPr>
          <a:xfrm>
            <a:off x="6400800" y="3401568"/>
            <a:ext cx="2194560" cy="685800"/>
          </a:xfrm>
          <a:prstGeom prst="rect">
            <a:avLst/>
          </a:prstGeom>
          <a:noFill/>
          <a:ln/>
        </p:spPr>
        <p:txBody>
          <a:bodyPr wrap="square" lIns="0" tIns="0" rIns="0" bIns="0" rtlCol="0" anchor="t"/>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Empatia</a:t>
            </a:r>
            <a:endParaRPr lang="en-US" sz="1700" dirty="0"/>
          </a:p>
        </p:txBody>
      </p:sp>
      <p:sp>
        <p:nvSpPr>
          <p:cNvPr id="20" name="Text 18"/>
          <p:cNvSpPr/>
          <p:nvPr/>
        </p:nvSpPr>
        <p:spPr>
          <a:xfrm>
            <a:off x="6400800" y="4069080"/>
            <a:ext cx="2194560" cy="13716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înțelegi emoțiile celorlalți</a:t>
            </a:r>
            <a:endParaRPr lang="en-US" sz="1500" dirty="0"/>
          </a:p>
        </p:txBody>
      </p:sp>
      <p:sp>
        <p:nvSpPr>
          <p:cNvPr id="21" name="Shape 19"/>
          <p:cNvSpPr/>
          <p:nvPr/>
        </p:nvSpPr>
        <p:spPr>
          <a:xfrm>
            <a:off x="8961120" y="3200400"/>
            <a:ext cx="2651760" cy="2377440"/>
          </a:xfrm>
          <a:prstGeom prst="roundRect">
            <a:avLst>
              <a:gd name="adj" fmla="val 3462"/>
            </a:avLst>
          </a:prstGeom>
          <a:solidFill>
            <a:srgbClr val="F9F8F5"/>
          </a:solidFill>
          <a:ln w="12700">
            <a:solidFill>
              <a:srgbClr val="F9F8F5"/>
            </a:solidFill>
            <a:prstDash val="solid"/>
          </a:ln>
        </p:spPr>
        <p:txBody>
          <a:bodyPr/>
          <a:p/>
        </p:txBody>
      </p:sp>
      <p:sp>
        <p:nvSpPr>
          <p:cNvPr id="22" name="Shape 20"/>
          <p:cNvSpPr/>
          <p:nvPr/>
        </p:nvSpPr>
        <p:spPr>
          <a:xfrm>
            <a:off x="8961120" y="3200400"/>
            <a:ext cx="2651760" cy="73152"/>
          </a:xfrm>
          <a:prstGeom prst="rect">
            <a:avLst/>
          </a:prstGeom>
          <a:solidFill>
            <a:srgbClr val="B02532"/>
          </a:solidFill>
          <a:ln w="12700">
            <a:solidFill>
              <a:srgbClr val="B02532"/>
            </a:solidFill>
            <a:prstDash val="solid"/>
          </a:ln>
        </p:spPr>
        <p:txBody>
          <a:bodyPr/>
          <a:p/>
        </p:txBody>
      </p:sp>
      <p:sp>
        <p:nvSpPr>
          <p:cNvPr id="23" name="Text 21"/>
          <p:cNvSpPr/>
          <p:nvPr/>
        </p:nvSpPr>
        <p:spPr>
          <a:xfrm>
            <a:off x="9189720" y="3401568"/>
            <a:ext cx="2194560" cy="6858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Abilitățile sociale</a:t>
            </a:r>
            <a:endParaRPr lang="en-US" sz="1700" dirty="0"/>
          </a:p>
        </p:txBody>
      </p:sp>
      <p:sp>
        <p:nvSpPr>
          <p:cNvPr id="24" name="Text 22"/>
          <p:cNvSpPr/>
          <p:nvPr/>
        </p:nvSpPr>
        <p:spPr>
          <a:xfrm>
            <a:off x="9189720" y="4069080"/>
            <a:ext cx="2194560" cy="13716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gestionezi latura emoțională a relațiilor</a:t>
            </a:r>
            <a:endParaRPr lang="en-US" sz="1500" dirty="0"/>
          </a:p>
        </p:txBody>
      </p:sp>
      <p:sp>
        <p:nvSpPr>
          <p:cNvPr id="25" name="Text 2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2019 (registru A1001).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INTELIGENȚA EMOȚIONALĂ PE SECȚIE</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O tură grea: ce componentă vedeți?</a:t>
            </a:r>
            <a:endParaRPr lang="en-US" sz="3000" dirty="0"/>
          </a:p>
        </p:txBody>
      </p:sp>
      <p:sp>
        <p:nvSpPr>
          <p:cNvPr id="6" name="Shape 4"/>
          <p:cNvSpPr/>
          <p:nvPr/>
        </p:nvSpPr>
        <p:spPr>
          <a:xfrm>
            <a:off x="594360" y="1645920"/>
            <a:ext cx="2651760" cy="3291840"/>
          </a:xfrm>
          <a:prstGeom prst="roundRect">
            <a:avLst>
              <a:gd name="adj" fmla="val 3103"/>
            </a:avLst>
          </a:prstGeom>
          <a:solidFill>
            <a:srgbClr val="ECEAE4"/>
          </a:solidFill>
          <a:ln w="12700">
            <a:solidFill>
              <a:srgbClr val="ECEAE4"/>
            </a:solidFill>
            <a:prstDash val="solid"/>
          </a:ln>
        </p:spPr>
        <p:txBody>
          <a:bodyPr/>
          <a:p/>
        </p:txBody>
      </p:sp>
      <p:sp>
        <p:nvSpPr>
          <p:cNvPr id="7" name="Shape 5"/>
          <p:cNvSpPr/>
          <p:nvPr/>
        </p:nvSpPr>
        <p:spPr>
          <a:xfrm>
            <a:off x="594360" y="1645920"/>
            <a:ext cx="2651760" cy="73152"/>
          </a:xfrm>
          <a:prstGeom prst="rect">
            <a:avLst/>
          </a:prstGeom>
          <a:solidFill>
            <a:srgbClr val="0E7C6B"/>
          </a:solidFill>
          <a:ln w="12700">
            <a:solidFill>
              <a:srgbClr val="0E7C6B"/>
            </a:solidFill>
            <a:prstDash val="solid"/>
          </a:ln>
        </p:spPr>
        <p:txBody>
          <a:bodyPr/>
          <a:p/>
        </p:txBody>
      </p:sp>
      <p:sp>
        <p:nvSpPr>
          <p:cNvPr id="8" name="Text 6"/>
          <p:cNvSpPr/>
          <p:nvPr/>
        </p:nvSpPr>
        <p:spPr>
          <a:xfrm>
            <a:off x="822960" y="1847088"/>
            <a:ext cx="2194560" cy="68580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Conștiința de sine</a:t>
            </a:r>
            <a:endParaRPr lang="en-US" sz="1700" dirty="0"/>
          </a:p>
        </p:txBody>
      </p:sp>
      <p:sp>
        <p:nvSpPr>
          <p:cNvPr id="9" name="Text 7"/>
          <p:cNvSpPr/>
          <p:nvPr/>
        </p:nvSpPr>
        <p:spPr>
          <a:xfrm>
            <a:off x="822960" y="2514600"/>
            <a:ext cx="2194560" cy="22860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E iritată de un pacient dificil și face o pauză înainte să-i răspundă.</a:t>
            </a:r>
            <a:endParaRPr lang="en-US" sz="1550" dirty="0"/>
          </a:p>
        </p:txBody>
      </p:sp>
      <p:sp>
        <p:nvSpPr>
          <p:cNvPr id="10" name="Shape 8"/>
          <p:cNvSpPr/>
          <p:nvPr/>
        </p:nvSpPr>
        <p:spPr>
          <a:xfrm>
            <a:off x="3383280" y="1645920"/>
            <a:ext cx="2651760" cy="3291840"/>
          </a:xfrm>
          <a:prstGeom prst="roundRect">
            <a:avLst>
              <a:gd name="adj" fmla="val 3103"/>
            </a:avLst>
          </a:prstGeom>
          <a:solidFill>
            <a:srgbClr val="F9F8F5"/>
          </a:solidFill>
          <a:ln w="12700">
            <a:solidFill>
              <a:srgbClr val="F9F8F5"/>
            </a:solidFill>
            <a:prstDash val="solid"/>
          </a:ln>
        </p:spPr>
        <p:txBody>
          <a:bodyPr/>
          <a:p/>
        </p:txBody>
      </p:sp>
      <p:sp>
        <p:nvSpPr>
          <p:cNvPr id="11" name="Shape 9"/>
          <p:cNvSpPr/>
          <p:nvPr/>
        </p:nvSpPr>
        <p:spPr>
          <a:xfrm>
            <a:off x="3383280" y="1645920"/>
            <a:ext cx="2651760" cy="73152"/>
          </a:xfrm>
          <a:prstGeom prst="rect">
            <a:avLst/>
          </a:prstGeom>
          <a:solidFill>
            <a:srgbClr val="8A6100"/>
          </a:solidFill>
          <a:ln w="12700">
            <a:solidFill>
              <a:srgbClr val="8A6100"/>
            </a:solidFill>
            <a:prstDash val="solid"/>
          </a:ln>
        </p:spPr>
        <p:txBody>
          <a:bodyPr/>
          <a:p/>
        </p:txBody>
      </p:sp>
      <p:sp>
        <p:nvSpPr>
          <p:cNvPr id="12" name="Text 10"/>
          <p:cNvSpPr/>
          <p:nvPr/>
        </p:nvSpPr>
        <p:spPr>
          <a:xfrm>
            <a:off x="3611880" y="1847088"/>
            <a:ext cx="219456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Stăpânirea de sine</a:t>
            </a:r>
            <a:endParaRPr lang="en-US" sz="1700" dirty="0"/>
          </a:p>
        </p:txBody>
      </p:sp>
      <p:sp>
        <p:nvSpPr>
          <p:cNvPr id="13" name="Text 11"/>
          <p:cNvSpPr/>
          <p:nvPr/>
        </p:nvSpPr>
        <p:spPr>
          <a:xfrm>
            <a:off x="3611880" y="2514600"/>
            <a:ext cx="2194560" cy="22860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Rămâne calmă la o resuscitare și dă indicații clare.</a:t>
            </a:r>
            <a:endParaRPr lang="en-US" sz="1550" dirty="0"/>
          </a:p>
        </p:txBody>
      </p:sp>
      <p:sp>
        <p:nvSpPr>
          <p:cNvPr id="14" name="Shape 12"/>
          <p:cNvSpPr/>
          <p:nvPr/>
        </p:nvSpPr>
        <p:spPr>
          <a:xfrm>
            <a:off x="6172200" y="1645920"/>
            <a:ext cx="2651760" cy="3291840"/>
          </a:xfrm>
          <a:prstGeom prst="roundRect">
            <a:avLst>
              <a:gd name="adj" fmla="val 3103"/>
            </a:avLst>
          </a:prstGeom>
          <a:solidFill>
            <a:srgbClr val="ECEAE4"/>
          </a:solidFill>
          <a:ln w="12700">
            <a:solidFill>
              <a:srgbClr val="ECEAE4"/>
            </a:solidFill>
            <a:prstDash val="solid"/>
          </a:ln>
        </p:spPr>
        <p:txBody>
          <a:bodyPr/>
          <a:p/>
        </p:txBody>
      </p:sp>
      <p:sp>
        <p:nvSpPr>
          <p:cNvPr id="15" name="Shape 13"/>
          <p:cNvSpPr/>
          <p:nvPr/>
        </p:nvSpPr>
        <p:spPr>
          <a:xfrm>
            <a:off x="6172200" y="1645920"/>
            <a:ext cx="2651760" cy="73152"/>
          </a:xfrm>
          <a:prstGeom prst="rect">
            <a:avLst/>
          </a:prstGeom>
          <a:solidFill>
            <a:srgbClr val="4A2D8C"/>
          </a:solidFill>
          <a:ln w="12700">
            <a:solidFill>
              <a:srgbClr val="4A2D8C"/>
            </a:solidFill>
            <a:prstDash val="solid"/>
          </a:ln>
        </p:spPr>
        <p:txBody>
          <a:bodyPr/>
          <a:p/>
        </p:txBody>
      </p:sp>
      <p:sp>
        <p:nvSpPr>
          <p:cNvPr id="16" name="Text 14"/>
          <p:cNvSpPr/>
          <p:nvPr/>
        </p:nvSpPr>
        <p:spPr>
          <a:xfrm>
            <a:off x="6400800" y="1847088"/>
            <a:ext cx="2194560" cy="685800"/>
          </a:xfrm>
          <a:prstGeom prst="rect">
            <a:avLst/>
          </a:prstGeom>
          <a:noFill/>
          <a:ln/>
        </p:spPr>
        <p:txBody>
          <a:bodyPr wrap="square" lIns="0" tIns="0" rIns="0" bIns="0" rtlCol="0" anchor="t"/>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Empatia</a:t>
            </a:r>
            <a:endParaRPr lang="en-US" sz="1700" dirty="0"/>
          </a:p>
        </p:txBody>
      </p:sp>
      <p:sp>
        <p:nvSpPr>
          <p:cNvPr id="17" name="Text 15"/>
          <p:cNvSpPr/>
          <p:nvPr/>
        </p:nvSpPr>
        <p:spPr>
          <a:xfrm>
            <a:off x="6400800" y="2514600"/>
            <a:ext cx="2194560" cy="22860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Vede colega nouă copleșită și îi propune o discuție, fără să o judece.</a:t>
            </a:r>
            <a:endParaRPr lang="en-US" sz="1550" dirty="0"/>
          </a:p>
        </p:txBody>
      </p:sp>
      <p:sp>
        <p:nvSpPr>
          <p:cNvPr id="18" name="Shape 16"/>
          <p:cNvSpPr/>
          <p:nvPr/>
        </p:nvSpPr>
        <p:spPr>
          <a:xfrm>
            <a:off x="8961120" y="1645920"/>
            <a:ext cx="2651760" cy="3291840"/>
          </a:xfrm>
          <a:prstGeom prst="roundRect">
            <a:avLst>
              <a:gd name="adj" fmla="val 3103"/>
            </a:avLst>
          </a:prstGeom>
          <a:solidFill>
            <a:srgbClr val="F9F8F5"/>
          </a:solidFill>
          <a:ln w="12700">
            <a:solidFill>
              <a:srgbClr val="F9F8F5"/>
            </a:solidFill>
            <a:prstDash val="solid"/>
          </a:ln>
        </p:spPr>
        <p:txBody>
          <a:bodyPr/>
          <a:p/>
        </p:txBody>
      </p:sp>
      <p:sp>
        <p:nvSpPr>
          <p:cNvPr id="19" name="Shape 17"/>
          <p:cNvSpPr/>
          <p:nvPr/>
        </p:nvSpPr>
        <p:spPr>
          <a:xfrm>
            <a:off x="8961120" y="1645920"/>
            <a:ext cx="2651760" cy="73152"/>
          </a:xfrm>
          <a:prstGeom prst="rect">
            <a:avLst/>
          </a:prstGeom>
          <a:solidFill>
            <a:srgbClr val="B02532"/>
          </a:solidFill>
          <a:ln w="12700">
            <a:solidFill>
              <a:srgbClr val="B02532"/>
            </a:solidFill>
            <a:prstDash val="solid"/>
          </a:ln>
        </p:spPr>
        <p:txBody>
          <a:bodyPr/>
          <a:p/>
        </p:txBody>
      </p:sp>
      <p:sp>
        <p:nvSpPr>
          <p:cNvPr id="20" name="Text 18"/>
          <p:cNvSpPr/>
          <p:nvPr/>
        </p:nvSpPr>
        <p:spPr>
          <a:xfrm>
            <a:off x="9189720" y="1847088"/>
            <a:ext cx="2194560" cy="6858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Abilitățile sociale</a:t>
            </a:r>
            <a:endParaRPr lang="en-US" sz="1700" dirty="0"/>
          </a:p>
        </p:txBody>
      </p:sp>
      <p:sp>
        <p:nvSpPr>
          <p:cNvPr id="21" name="Text 19"/>
          <p:cNvSpPr/>
          <p:nvPr/>
        </p:nvSpPr>
        <p:spPr>
          <a:xfrm>
            <a:off x="9189720" y="2514600"/>
            <a:ext cx="2194560" cy="22860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Mediază conflictul dintre un rezident și o asistentă cu experiență.</a:t>
            </a:r>
            <a:endParaRPr lang="en-US" sz="1550" dirty="0"/>
          </a:p>
        </p:txBody>
      </p:sp>
      <p:sp>
        <p:nvSpPr>
          <p:cNvPr id="22" name="Text 20"/>
          <p:cNvSpPr/>
          <p:nvPr/>
        </p:nvSpPr>
        <p:spPr>
          <a:xfrm>
            <a:off x="594360" y="5166360"/>
            <a:ext cx="10972800" cy="5486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Inteligența emoțională se poate dezvolta, cel puțin în parte, prin exercițiu.</a:t>
            </a:r>
            <a:endParaRPr lang="en-US" sz="1700" dirty="0"/>
          </a:p>
        </p:txBody>
      </p:sp>
      <p:sp>
        <p:nvSpPr>
          <p:cNvPr id="23" name="Text 21"/>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Exemplele: decul cursului; dezvoltarea prin exercițiu: sinteză didactică.</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SCALĂ · FĂRĂ RĂSPUNS CORECT</a:t>
            </a:r>
            <a:endParaRPr lang="en-US" sz="1300" dirty="0"/>
          </a:p>
        </p:txBody>
      </p:sp>
      <p:sp>
        <p:nvSpPr>
          <p:cNvPr id="5" name="Text 3"/>
          <p:cNvSpPr/>
          <p:nvPr/>
        </p:nvSpPr>
        <p:spPr>
          <a:xfrm>
            <a:off x="594360" y="868680"/>
            <a:ext cx="10972800" cy="1737360"/>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Cât de confortabil v-ați simți să gestionați un conflict între doi colegi din echipa de îngrijire?</a:t>
            </a:r>
            <a:endParaRPr lang="en-US" sz="3000" dirty="0"/>
          </a:p>
        </p:txBody>
      </p:sp>
      <p:sp>
        <p:nvSpPr>
          <p:cNvPr id="6" name="Shape 4"/>
          <p:cNvSpPr/>
          <p:nvPr/>
        </p:nvSpPr>
        <p:spPr>
          <a:xfrm>
            <a:off x="2011680" y="3017520"/>
            <a:ext cx="822960" cy="822960"/>
          </a:xfrm>
          <a:prstGeom prst="ellipse">
            <a:avLst/>
          </a:prstGeom>
          <a:solidFill>
            <a:srgbClr val="FF4757"/>
          </a:solidFill>
          <a:ln/>
        </p:spPr>
        <p:txBody>
          <a:bodyPr/>
          <a:p/>
        </p:txBody>
      </p:sp>
      <p:sp>
        <p:nvSpPr>
          <p:cNvPr id="7" name="Text 5"/>
          <p:cNvSpPr/>
          <p:nvPr/>
        </p:nvSpPr>
        <p:spPr>
          <a:xfrm>
            <a:off x="2011680" y="3017520"/>
            <a:ext cx="822960" cy="82296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1</a:t>
            </a:r>
            <a:endParaRPr lang="en-US" sz="1700" dirty="0"/>
          </a:p>
        </p:txBody>
      </p:sp>
      <p:sp>
        <p:nvSpPr>
          <p:cNvPr id="8" name="Shape 6"/>
          <p:cNvSpPr/>
          <p:nvPr/>
        </p:nvSpPr>
        <p:spPr>
          <a:xfrm>
            <a:off x="3840480" y="3017520"/>
            <a:ext cx="822960" cy="822960"/>
          </a:xfrm>
          <a:prstGeom prst="ellipse">
            <a:avLst/>
          </a:prstGeom>
          <a:solidFill>
            <a:srgbClr val="FF4757"/>
          </a:solidFill>
          <a:ln/>
        </p:spPr>
        <p:txBody>
          <a:bodyPr/>
          <a:p/>
        </p:txBody>
      </p:sp>
      <p:sp>
        <p:nvSpPr>
          <p:cNvPr id="9" name="Text 7"/>
          <p:cNvSpPr/>
          <p:nvPr/>
        </p:nvSpPr>
        <p:spPr>
          <a:xfrm>
            <a:off x="3840480" y="3017520"/>
            <a:ext cx="822960" cy="82296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2</a:t>
            </a:r>
            <a:endParaRPr lang="en-US" sz="1700" dirty="0"/>
          </a:p>
        </p:txBody>
      </p:sp>
      <p:sp>
        <p:nvSpPr>
          <p:cNvPr id="10" name="Shape 8"/>
          <p:cNvSpPr/>
          <p:nvPr/>
        </p:nvSpPr>
        <p:spPr>
          <a:xfrm>
            <a:off x="5669280" y="3017520"/>
            <a:ext cx="822960" cy="822960"/>
          </a:xfrm>
          <a:prstGeom prst="ellipse">
            <a:avLst/>
          </a:prstGeom>
          <a:solidFill>
            <a:srgbClr val="FFC24B"/>
          </a:solidFill>
          <a:ln/>
        </p:spPr>
        <p:txBody>
          <a:bodyPr/>
          <a:p/>
        </p:txBody>
      </p:sp>
      <p:sp>
        <p:nvSpPr>
          <p:cNvPr id="11" name="Text 9"/>
          <p:cNvSpPr/>
          <p:nvPr/>
        </p:nvSpPr>
        <p:spPr>
          <a:xfrm>
            <a:off x="5669280" y="3017520"/>
            <a:ext cx="822960" cy="82296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3</a:t>
            </a:r>
            <a:endParaRPr lang="en-US" sz="1700" dirty="0"/>
          </a:p>
        </p:txBody>
      </p:sp>
      <p:sp>
        <p:nvSpPr>
          <p:cNvPr id="12" name="Shape 10"/>
          <p:cNvSpPr/>
          <p:nvPr/>
        </p:nvSpPr>
        <p:spPr>
          <a:xfrm>
            <a:off x="7498080" y="3017520"/>
            <a:ext cx="822960" cy="822960"/>
          </a:xfrm>
          <a:prstGeom prst="ellipse">
            <a:avLst/>
          </a:prstGeom>
          <a:solidFill>
            <a:srgbClr val="27D3BE"/>
          </a:solidFill>
          <a:ln/>
        </p:spPr>
        <p:txBody>
          <a:bodyPr/>
          <a:p/>
        </p:txBody>
      </p:sp>
      <p:sp>
        <p:nvSpPr>
          <p:cNvPr id="13" name="Text 11"/>
          <p:cNvSpPr/>
          <p:nvPr/>
        </p:nvSpPr>
        <p:spPr>
          <a:xfrm>
            <a:off x="7498080" y="3017520"/>
            <a:ext cx="822960" cy="82296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4</a:t>
            </a:r>
            <a:endParaRPr lang="en-US" sz="1700" dirty="0"/>
          </a:p>
        </p:txBody>
      </p:sp>
      <p:sp>
        <p:nvSpPr>
          <p:cNvPr id="14" name="Shape 12"/>
          <p:cNvSpPr/>
          <p:nvPr/>
        </p:nvSpPr>
        <p:spPr>
          <a:xfrm>
            <a:off x="9326880" y="3017520"/>
            <a:ext cx="822960" cy="822960"/>
          </a:xfrm>
          <a:prstGeom prst="ellipse">
            <a:avLst/>
          </a:prstGeom>
          <a:solidFill>
            <a:srgbClr val="27D3BE"/>
          </a:solidFill>
          <a:ln/>
        </p:spPr>
        <p:txBody>
          <a:bodyPr/>
          <a:p/>
        </p:txBody>
      </p:sp>
      <p:sp>
        <p:nvSpPr>
          <p:cNvPr id="15" name="Text 13"/>
          <p:cNvSpPr/>
          <p:nvPr/>
        </p:nvSpPr>
        <p:spPr>
          <a:xfrm>
            <a:off x="9326880" y="3017520"/>
            <a:ext cx="822960" cy="82296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5</a:t>
            </a:r>
            <a:endParaRPr lang="en-US" sz="1700" dirty="0"/>
          </a:p>
        </p:txBody>
      </p:sp>
      <p:sp>
        <p:nvSpPr>
          <p:cNvPr id="16" name="Text 14"/>
          <p:cNvSpPr/>
          <p:nvPr/>
        </p:nvSpPr>
        <p:spPr>
          <a:xfrm>
            <a:off x="1463040" y="3931920"/>
            <a:ext cx="1920240" cy="365760"/>
          </a:xfrm>
          <a:prstGeom prst="rect">
            <a:avLst/>
          </a:prstGeom>
          <a:noFill/>
          <a:ln/>
        </p:spPr>
        <p:txBody>
          <a:bodyPr wrap="square" lIns="0" tIns="0" rIns="0" bIns="0" rtlCol="0" anchor="t"/>
          <a:lstStyle/>
          <a:p>
            <a:pPr algn="ctr" indent="0" marL="0">
              <a:buNone/>
            </a:pPr>
            <a:r>
              <a:rPr lang="en-US" sz="1500" dirty="0">
                <a:solidFill>
                  <a:srgbClr val="959BB0"/>
                </a:solidFill>
                <a:latin typeface="Palatino Linotype" pitchFamily="34" charset="0"/>
                <a:ea typeface="Palatino Linotype" pitchFamily="34" charset="-122"/>
                <a:cs typeface="Palatino Linotype" pitchFamily="34" charset="-120"/>
              </a:rPr>
              <a:t>deloc</a:t>
            </a:r>
            <a:endParaRPr lang="en-US" sz="1500" dirty="0"/>
          </a:p>
        </p:txBody>
      </p:sp>
      <p:sp>
        <p:nvSpPr>
          <p:cNvPr id="17" name="Text 15"/>
          <p:cNvSpPr/>
          <p:nvPr/>
        </p:nvSpPr>
        <p:spPr>
          <a:xfrm>
            <a:off x="8778240" y="3931920"/>
            <a:ext cx="1920240" cy="365760"/>
          </a:xfrm>
          <a:prstGeom prst="rect">
            <a:avLst/>
          </a:prstGeom>
          <a:noFill/>
          <a:ln/>
        </p:spPr>
        <p:txBody>
          <a:bodyPr wrap="square" lIns="0" tIns="0" rIns="0" bIns="0" rtlCol="0" anchor="t"/>
          <a:lstStyle/>
          <a:p>
            <a:pPr algn="ctr" indent="0" marL="0">
              <a:buNone/>
            </a:pPr>
            <a:r>
              <a:rPr lang="en-US" sz="1500" dirty="0">
                <a:solidFill>
                  <a:srgbClr val="959BB0"/>
                </a:solidFill>
                <a:latin typeface="Palatino Linotype" pitchFamily="34" charset="0"/>
                <a:ea typeface="Palatino Linotype" pitchFamily="34" charset="-122"/>
                <a:cs typeface="Palatino Linotype" pitchFamily="34" charset="-120"/>
              </a:rPr>
              <a:t>foarte</a:t>
            </a:r>
            <a:endParaRPr lang="en-US" sz="1500" dirty="0"/>
          </a:p>
        </p:txBody>
      </p:sp>
      <p:sp>
        <p:nvSpPr>
          <p:cNvPr id="18" name="Shape 16"/>
          <p:cNvSpPr/>
          <p:nvPr/>
        </p:nvSpPr>
        <p:spPr>
          <a:xfrm>
            <a:off x="594360" y="4800600"/>
            <a:ext cx="10972800" cy="960120"/>
          </a:xfrm>
          <a:prstGeom prst="roundRect">
            <a:avLst>
              <a:gd name="adj" fmla="val 8571"/>
            </a:avLst>
          </a:prstGeom>
          <a:solidFill>
            <a:srgbClr val="272A38"/>
          </a:solidFill>
          <a:ln w="12700">
            <a:solidFill>
              <a:srgbClr val="272A38"/>
            </a:solidFill>
            <a:prstDash val="solid"/>
          </a:ln>
        </p:spPr>
        <p:txBody>
          <a:bodyPr/>
          <a:p/>
        </p:txBody>
      </p:sp>
      <p:sp>
        <p:nvSpPr>
          <p:cNvPr id="19" name="Text 17"/>
          <p:cNvSpPr/>
          <p:nvPr/>
        </p:nvSpPr>
        <p:spPr>
          <a:xfrm>
            <a:off x="868680" y="4800600"/>
            <a:ext cx="10424160" cy="96012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Disconfortul este frecvent: abilitatea se exersează, nu se are de la sine.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CAZUL DE NOAPTE · JOI, PE SECȚIA MAREI</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face Ana?</a:t>
            </a:r>
            <a:endParaRPr lang="en-US" sz="3400" dirty="0"/>
          </a:p>
        </p:txBody>
      </p:sp>
      <p:sp>
        <p:nvSpPr>
          <p:cNvPr id="6" name="Shape 4"/>
          <p:cNvSpPr/>
          <p:nvPr/>
        </p:nvSpPr>
        <p:spPr>
          <a:xfrm>
            <a:off x="594360" y="1600200"/>
            <a:ext cx="3566160" cy="1417320"/>
          </a:xfrm>
          <a:prstGeom prst="roundRect">
            <a:avLst>
              <a:gd name="adj" fmla="val 5806"/>
            </a:avLst>
          </a:prstGeom>
          <a:solidFill>
            <a:srgbClr val="1D1F2B"/>
          </a:solidFill>
          <a:ln w="12700">
            <a:solidFill>
              <a:srgbClr val="1D1F2B"/>
            </a:solidFill>
            <a:prstDash val="solid"/>
          </a:ln>
        </p:spPr>
        <p:txBody>
          <a:bodyPr/>
          <a:p/>
        </p:txBody>
      </p:sp>
      <p:sp>
        <p:nvSpPr>
          <p:cNvPr id="7" name="Shape 5"/>
          <p:cNvSpPr/>
          <p:nvPr/>
        </p:nvSpPr>
        <p:spPr>
          <a:xfrm>
            <a:off x="976579" y="1737360"/>
            <a:ext cx="241402" cy="241402"/>
          </a:xfrm>
          <a:prstGeom prst="ellipse">
            <a:avLst/>
          </a:prstGeom>
          <a:solidFill>
            <a:srgbClr val="FF4757"/>
          </a:solidFill>
          <a:ln w="12700">
            <a:solidFill>
              <a:srgbClr val="FF4757"/>
            </a:solidFill>
            <a:prstDash val="solid"/>
          </a:ln>
        </p:spPr>
        <p:txBody>
          <a:bodyPr/>
          <a:p/>
        </p:txBody>
      </p:sp>
      <p:sp>
        <p:nvSpPr>
          <p:cNvPr id="8" name="Shape 6"/>
          <p:cNvSpPr/>
          <p:nvPr/>
        </p:nvSpPr>
        <p:spPr>
          <a:xfrm>
            <a:off x="822960" y="2011680"/>
            <a:ext cx="548640" cy="630936"/>
          </a:xfrm>
          <a:prstGeom prst="roundRect">
            <a:avLst>
              <a:gd name="adj" fmla="val 30000"/>
            </a:avLst>
          </a:prstGeom>
          <a:solidFill>
            <a:srgbClr val="FF4757"/>
          </a:solidFill>
          <a:ln w="12700">
            <a:solidFill>
              <a:srgbClr val="FF4757"/>
            </a:solidFill>
            <a:prstDash val="solid"/>
          </a:ln>
        </p:spPr>
        <p:txBody>
          <a:bodyPr/>
          <a:p/>
        </p:txBody>
      </p:sp>
      <p:sp>
        <p:nvSpPr>
          <p:cNvPr id="9" name="Text 7"/>
          <p:cNvSpPr/>
          <p:nvPr/>
        </p:nvSpPr>
        <p:spPr>
          <a:xfrm>
            <a:off x="1554480" y="1691640"/>
            <a:ext cx="2468880" cy="457200"/>
          </a:xfrm>
          <a:prstGeom prst="rect">
            <a:avLst/>
          </a:prstGeom>
          <a:noFill/>
          <a:ln/>
        </p:spPr>
        <p:txBody>
          <a:bodyPr wrap="square" lIns="0" tIns="0" rIns="0" bIns="0" rtlCol="0" anchor="t"/>
          <a:lstStyle/>
          <a:p>
            <a:pPr indent="0" marL="0">
              <a:buNone/>
            </a:pPr>
            <a:r>
              <a:rPr lang="en-US" sz="1900" b="1" dirty="0">
                <a:solidFill>
                  <a:srgbClr val="FF4757"/>
                </a:solidFill>
                <a:latin typeface="Palatino Linotype" pitchFamily="34" charset="0"/>
                <a:ea typeface="Palatino Linotype" pitchFamily="34" charset="-122"/>
                <a:cs typeface="Palatino Linotype" pitchFamily="34" charset="-120"/>
              </a:rPr>
              <a:t>Ana</a:t>
            </a:r>
            <a:endParaRPr lang="en-US" sz="1900" dirty="0"/>
          </a:p>
        </p:txBody>
      </p:sp>
      <p:sp>
        <p:nvSpPr>
          <p:cNvPr id="10" name="Text 8"/>
          <p:cNvSpPr/>
          <p:nvPr/>
        </p:nvSpPr>
        <p:spPr>
          <a:xfrm>
            <a:off x="1554480" y="2148840"/>
            <a:ext cx="2468880" cy="822960"/>
          </a:xfrm>
          <a:prstGeom prst="rect">
            <a:avLst/>
          </a:prstGeom>
          <a:noFill/>
          <a:ln/>
        </p:spPr>
        <p:txBody>
          <a:bodyPr wrap="square" lIns="0" tIns="0" rIns="0" bIns="0" rtlCol="0" anchor="t"/>
          <a:lstStyle/>
          <a:p>
            <a:pPr indent="0" marL="0">
              <a:buNone/>
            </a:pPr>
            <a:r>
              <a:rPr lang="en-US" sz="1450" dirty="0">
                <a:solidFill>
                  <a:srgbClr val="E6E8EF"/>
                </a:solidFill>
                <a:latin typeface="Palatino Linotype" pitchFamily="34" charset="0"/>
                <a:ea typeface="Palatino Linotype" pitchFamily="34" charset="-122"/>
                <a:cs typeface="Palatino Linotype" pitchFamily="34" charset="-120"/>
              </a:rPr>
              <a:t>asistentă, opt ani de experiență; coordonează tura</a:t>
            </a:r>
            <a:endParaRPr lang="en-US" sz="1450" dirty="0"/>
          </a:p>
        </p:txBody>
      </p:sp>
      <p:sp>
        <p:nvSpPr>
          <p:cNvPr id="11" name="Shape 9"/>
          <p:cNvSpPr/>
          <p:nvPr/>
        </p:nvSpPr>
        <p:spPr>
          <a:xfrm>
            <a:off x="4297680" y="1600200"/>
            <a:ext cx="3566160" cy="1417320"/>
          </a:xfrm>
          <a:prstGeom prst="roundRect">
            <a:avLst>
              <a:gd name="adj" fmla="val 5806"/>
            </a:avLst>
          </a:prstGeom>
          <a:solidFill>
            <a:srgbClr val="1D1F2B"/>
          </a:solidFill>
          <a:ln w="12700">
            <a:solidFill>
              <a:srgbClr val="1D1F2B"/>
            </a:solidFill>
            <a:prstDash val="solid"/>
          </a:ln>
        </p:spPr>
        <p:txBody>
          <a:bodyPr/>
          <a:p/>
        </p:txBody>
      </p:sp>
      <p:sp>
        <p:nvSpPr>
          <p:cNvPr id="12" name="Shape 10"/>
          <p:cNvSpPr/>
          <p:nvPr/>
        </p:nvSpPr>
        <p:spPr>
          <a:xfrm>
            <a:off x="4679899" y="1737360"/>
            <a:ext cx="241402" cy="241402"/>
          </a:xfrm>
          <a:prstGeom prst="ellipse">
            <a:avLst/>
          </a:prstGeom>
          <a:solidFill>
            <a:srgbClr val="27D3BE"/>
          </a:solidFill>
          <a:ln w="12700">
            <a:solidFill>
              <a:srgbClr val="27D3BE"/>
            </a:solidFill>
            <a:prstDash val="solid"/>
          </a:ln>
        </p:spPr>
        <p:txBody>
          <a:bodyPr/>
          <a:p/>
        </p:txBody>
      </p:sp>
      <p:sp>
        <p:nvSpPr>
          <p:cNvPr id="13" name="Shape 11"/>
          <p:cNvSpPr/>
          <p:nvPr/>
        </p:nvSpPr>
        <p:spPr>
          <a:xfrm>
            <a:off x="4526280" y="2011680"/>
            <a:ext cx="548640" cy="630936"/>
          </a:xfrm>
          <a:prstGeom prst="roundRect">
            <a:avLst>
              <a:gd name="adj" fmla="val 30000"/>
            </a:avLst>
          </a:prstGeom>
          <a:solidFill>
            <a:srgbClr val="27D3BE"/>
          </a:solidFill>
          <a:ln w="12700">
            <a:solidFill>
              <a:srgbClr val="27D3BE"/>
            </a:solidFill>
            <a:prstDash val="solid"/>
          </a:ln>
        </p:spPr>
        <p:txBody>
          <a:bodyPr/>
          <a:p/>
        </p:txBody>
      </p:sp>
      <p:sp>
        <p:nvSpPr>
          <p:cNvPr id="14" name="Text 12"/>
          <p:cNvSpPr/>
          <p:nvPr/>
        </p:nvSpPr>
        <p:spPr>
          <a:xfrm>
            <a:off x="5257800" y="1691640"/>
            <a:ext cx="2468880" cy="45720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Ioana</a:t>
            </a:r>
            <a:endParaRPr lang="en-US" sz="1900" dirty="0"/>
          </a:p>
        </p:txBody>
      </p:sp>
      <p:sp>
        <p:nvSpPr>
          <p:cNvPr id="15" name="Text 13"/>
          <p:cNvSpPr/>
          <p:nvPr/>
        </p:nvSpPr>
        <p:spPr>
          <a:xfrm>
            <a:off x="5257800" y="2148840"/>
            <a:ext cx="2468880" cy="822960"/>
          </a:xfrm>
          <a:prstGeom prst="rect">
            <a:avLst/>
          </a:prstGeom>
          <a:noFill/>
          <a:ln/>
        </p:spPr>
        <p:txBody>
          <a:bodyPr wrap="square" lIns="0" tIns="0" rIns="0" bIns="0" rtlCol="0" anchor="t"/>
          <a:lstStyle/>
          <a:p>
            <a:pPr indent="0" marL="0">
              <a:buNone/>
            </a:pPr>
            <a:r>
              <a:rPr lang="en-US" sz="1450" dirty="0">
                <a:solidFill>
                  <a:srgbClr val="E6E8EF"/>
                </a:solidFill>
                <a:latin typeface="Palatino Linotype" pitchFamily="34" charset="0"/>
                <a:ea typeface="Palatino Linotype" pitchFamily="34" charset="-122"/>
                <a:cs typeface="Palatino Linotype" pitchFamily="34" charset="-120"/>
              </a:rPr>
              <a:t>asistentă, venită de trei luni</a:t>
            </a:r>
            <a:endParaRPr lang="en-US" sz="1450" dirty="0"/>
          </a:p>
        </p:txBody>
      </p:sp>
      <p:sp>
        <p:nvSpPr>
          <p:cNvPr id="16" name="Shape 14"/>
          <p:cNvSpPr/>
          <p:nvPr/>
        </p:nvSpPr>
        <p:spPr>
          <a:xfrm>
            <a:off x="8001000" y="1600200"/>
            <a:ext cx="3566160" cy="1417320"/>
          </a:xfrm>
          <a:prstGeom prst="roundRect">
            <a:avLst>
              <a:gd name="adj" fmla="val 5806"/>
            </a:avLst>
          </a:prstGeom>
          <a:solidFill>
            <a:srgbClr val="1D1F2B"/>
          </a:solidFill>
          <a:ln w="12700">
            <a:solidFill>
              <a:srgbClr val="1D1F2B"/>
            </a:solidFill>
            <a:prstDash val="solid"/>
          </a:ln>
        </p:spPr>
        <p:txBody>
          <a:bodyPr/>
          <a:p/>
        </p:txBody>
      </p:sp>
      <p:sp>
        <p:nvSpPr>
          <p:cNvPr id="17" name="Shape 15"/>
          <p:cNvSpPr/>
          <p:nvPr/>
        </p:nvSpPr>
        <p:spPr>
          <a:xfrm>
            <a:off x="8383219" y="1737360"/>
            <a:ext cx="241402" cy="241402"/>
          </a:xfrm>
          <a:prstGeom prst="ellipse">
            <a:avLst/>
          </a:prstGeom>
          <a:solidFill>
            <a:srgbClr val="FFC24B"/>
          </a:solidFill>
          <a:ln w="12700">
            <a:solidFill>
              <a:srgbClr val="FFC24B"/>
            </a:solidFill>
            <a:prstDash val="solid"/>
          </a:ln>
        </p:spPr>
        <p:txBody>
          <a:bodyPr/>
          <a:p/>
        </p:txBody>
      </p:sp>
      <p:sp>
        <p:nvSpPr>
          <p:cNvPr id="18" name="Shape 16"/>
          <p:cNvSpPr/>
          <p:nvPr/>
        </p:nvSpPr>
        <p:spPr>
          <a:xfrm>
            <a:off x="8229600" y="2011680"/>
            <a:ext cx="548640" cy="630936"/>
          </a:xfrm>
          <a:prstGeom prst="roundRect">
            <a:avLst>
              <a:gd name="adj" fmla="val 30000"/>
            </a:avLst>
          </a:prstGeom>
          <a:solidFill>
            <a:srgbClr val="FFC24B"/>
          </a:solidFill>
          <a:ln w="12700">
            <a:solidFill>
              <a:srgbClr val="FFC24B"/>
            </a:solidFill>
            <a:prstDash val="solid"/>
          </a:ln>
        </p:spPr>
        <p:txBody>
          <a:bodyPr/>
          <a:p/>
        </p:txBody>
      </p:sp>
      <p:sp>
        <p:nvSpPr>
          <p:cNvPr id="19" name="Text 17"/>
          <p:cNvSpPr/>
          <p:nvPr/>
        </p:nvSpPr>
        <p:spPr>
          <a:xfrm>
            <a:off x="8961120" y="1691640"/>
            <a:ext cx="246888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Elena</a:t>
            </a:r>
            <a:endParaRPr lang="en-US" sz="1900" dirty="0"/>
          </a:p>
        </p:txBody>
      </p:sp>
      <p:sp>
        <p:nvSpPr>
          <p:cNvPr id="20" name="Text 18"/>
          <p:cNvSpPr/>
          <p:nvPr/>
        </p:nvSpPr>
        <p:spPr>
          <a:xfrm>
            <a:off x="8961120" y="2148840"/>
            <a:ext cx="2468880" cy="822960"/>
          </a:xfrm>
          <a:prstGeom prst="rect">
            <a:avLst/>
          </a:prstGeom>
          <a:noFill/>
          <a:ln/>
        </p:spPr>
        <p:txBody>
          <a:bodyPr wrap="square" lIns="0" tIns="0" rIns="0" bIns="0" rtlCol="0" anchor="t"/>
          <a:lstStyle/>
          <a:p>
            <a:pPr indent="0" marL="0">
              <a:buNone/>
            </a:pPr>
            <a:r>
              <a:rPr lang="en-US" sz="1450" dirty="0">
                <a:solidFill>
                  <a:srgbClr val="E6E8EF"/>
                </a:solidFill>
                <a:latin typeface="Palatino Linotype" pitchFamily="34" charset="0"/>
                <a:ea typeface="Palatino Linotype" pitchFamily="34" charset="-122"/>
                <a:cs typeface="Palatino Linotype" pitchFamily="34" charset="-120"/>
              </a:rPr>
              <a:t>infirmieră</a:t>
            </a:r>
            <a:endParaRPr lang="en-US" sz="1450" dirty="0"/>
          </a:p>
        </p:txBody>
      </p:sp>
      <p:sp>
        <p:nvSpPr>
          <p:cNvPr id="21" name="Text 19"/>
          <p:cNvSpPr/>
          <p:nvPr/>
        </p:nvSpPr>
        <p:spPr>
          <a:xfrm>
            <a:off x="594360" y="3246120"/>
            <a:ext cx="10972800" cy="118872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Optsprezece pacienți. Unul respiră greu: saturația scade la optzeci și doi la sută. Altul are nevoie urgent de o transfuzie. Medicul de gardă este pe secția vecină.</a:t>
            </a:r>
            <a:endParaRPr lang="en-US" sz="1900" dirty="0"/>
          </a:p>
        </p:txBody>
      </p:sp>
      <p:sp>
        <p:nvSpPr>
          <p:cNvPr id="22" name="Shape 20"/>
          <p:cNvSpPr/>
          <p:nvPr/>
        </p:nvSpPr>
        <p:spPr>
          <a:xfrm>
            <a:off x="594360" y="4663440"/>
            <a:ext cx="10972800" cy="1097280"/>
          </a:xfrm>
          <a:prstGeom prst="roundRect">
            <a:avLst>
              <a:gd name="adj" fmla="val 7500"/>
            </a:avLst>
          </a:prstGeom>
          <a:solidFill>
            <a:srgbClr val="272A38"/>
          </a:solidFill>
          <a:ln w="12700">
            <a:solidFill>
              <a:srgbClr val="272A38"/>
            </a:solidFill>
            <a:prstDash val="solid"/>
          </a:ln>
        </p:spPr>
        <p:txBody>
          <a:bodyPr/>
          <a:p/>
        </p:txBody>
      </p:sp>
      <p:sp>
        <p:nvSpPr>
          <p:cNvPr id="23" name="Text 21"/>
          <p:cNvSpPr/>
          <p:nvPr/>
        </p:nvSpPr>
        <p:spPr>
          <a:xfrm>
            <a:off x="868680" y="4663440"/>
            <a:ext cx="10424160" cy="1097280"/>
          </a:xfrm>
          <a:prstGeom prst="rect">
            <a:avLst/>
          </a:prstGeom>
          <a:noFill/>
          <a:ln/>
        </p:spPr>
        <p:txBody>
          <a:bodyPr wrap="square" lIns="0" tIns="0" rIns="0" bIns="0" rtlCol="0" anchor="ctr"/>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Trei decizii: cine se ocupă de fiecare pacient, cât discută Ana cu colegele, cum le explică ce au de făcut.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GHIDUL NCSBN–ANA, 2019</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înseamnă delegarea</a:t>
            </a:r>
            <a:endParaRPr lang="en-US" sz="3000" dirty="0"/>
          </a:p>
        </p:txBody>
      </p:sp>
      <p:sp>
        <p:nvSpPr>
          <p:cNvPr id="4" name="Shape 2"/>
          <p:cNvSpPr/>
          <p:nvPr/>
        </p:nvSpPr>
        <p:spPr>
          <a:xfrm>
            <a:off x="594360" y="1600200"/>
            <a:ext cx="10972800" cy="1188720"/>
          </a:xfrm>
          <a:prstGeom prst="roundRect">
            <a:avLst>
              <a:gd name="adj" fmla="val 6923"/>
            </a:avLst>
          </a:prstGeom>
          <a:solidFill>
            <a:srgbClr val="FFFFFF"/>
          </a:solidFill>
          <a:ln w="12700">
            <a:solidFill>
              <a:srgbClr val="FFFFFF"/>
            </a:solidFill>
            <a:prstDash val="solid"/>
          </a:ln>
        </p:spPr>
        <p:txBody>
          <a:bodyPr/>
          <a:p/>
        </p:txBody>
      </p:sp>
      <p:sp>
        <p:nvSpPr>
          <p:cNvPr id="5" name="Shape 3"/>
          <p:cNvSpPr/>
          <p:nvPr/>
        </p:nvSpPr>
        <p:spPr>
          <a:xfrm>
            <a:off x="594360" y="1600200"/>
            <a:ext cx="82296" cy="1188720"/>
          </a:xfrm>
          <a:prstGeom prst="rect">
            <a:avLst/>
          </a:prstGeom>
          <a:solidFill>
            <a:srgbClr val="0E7C6B"/>
          </a:solidFill>
          <a:ln w="12700">
            <a:solidFill>
              <a:srgbClr val="0E7C6B"/>
            </a:solidFill>
            <a:prstDash val="solid"/>
          </a:ln>
        </p:spPr>
        <p:txBody>
          <a:bodyPr/>
          <a:p/>
        </p:txBody>
      </p:sp>
      <p:sp>
        <p:nvSpPr>
          <p:cNvPr id="6" name="Text 4"/>
          <p:cNvSpPr/>
          <p:nvPr/>
        </p:nvSpPr>
        <p:spPr>
          <a:xfrm>
            <a:off x="914400" y="1600200"/>
            <a:ext cx="10424160" cy="1188720"/>
          </a:xfrm>
          <a:prstGeom prst="rect">
            <a:avLst/>
          </a:prstGeom>
          <a:noFill/>
          <a:ln/>
        </p:spPr>
        <p:txBody>
          <a:bodyPr wrap="square" lIns="0" tIns="0" rIns="0" bIns="0" rtlCol="0" anchor="ctr"/>
          <a:lstStyle/>
          <a:p>
            <a:pPr indent="0" marL="0">
              <a:buNone/>
            </a:pPr>
            <a:r>
              <a:rPr lang="en-US" sz="1900" i="1" dirty="0">
                <a:solidFill>
                  <a:srgbClr val="11121A"/>
                </a:solidFill>
                <a:latin typeface="Palatino Linotype" pitchFamily="34" charset="0"/>
                <a:ea typeface="Palatino Linotype" pitchFamily="34" charset="-122"/>
                <a:cs typeface="Palatino Linotype" pitchFamily="34" charset="-120"/>
              </a:rPr>
              <a:t>Permisiunea dată unei persoane de a efectua o activitate de îngrijire specifică, care depășește rolul ei obișnuit.</a:t>
            </a:r>
            <a:endParaRPr lang="en-US" sz="1900" dirty="0"/>
          </a:p>
        </p:txBody>
      </p:sp>
      <p:sp>
        <p:nvSpPr>
          <p:cNvPr id="7" name="Shape 5"/>
          <p:cNvSpPr/>
          <p:nvPr/>
        </p:nvSpPr>
        <p:spPr>
          <a:xfrm>
            <a:off x="594360" y="3017520"/>
            <a:ext cx="5394960" cy="2468880"/>
          </a:xfrm>
          <a:prstGeom prst="roundRect">
            <a:avLst>
              <a:gd name="adj" fmla="val 3333"/>
            </a:avLst>
          </a:prstGeom>
          <a:solidFill>
            <a:srgbClr val="ECEAE4"/>
          </a:solidFill>
          <a:ln w="12700">
            <a:solidFill>
              <a:srgbClr val="ECEAE4"/>
            </a:solidFill>
            <a:prstDash val="solid"/>
          </a:ln>
        </p:spPr>
        <p:txBody>
          <a:bodyPr/>
          <a:p/>
        </p:txBody>
      </p:sp>
      <p:sp>
        <p:nvSpPr>
          <p:cNvPr id="8" name="Shape 6"/>
          <p:cNvSpPr/>
          <p:nvPr/>
        </p:nvSpPr>
        <p:spPr>
          <a:xfrm>
            <a:off x="594360" y="3017520"/>
            <a:ext cx="5394960" cy="73152"/>
          </a:xfrm>
          <a:prstGeom prst="rect">
            <a:avLst/>
          </a:prstGeom>
          <a:solidFill>
            <a:srgbClr val="8A6100"/>
          </a:solidFill>
          <a:ln w="12700">
            <a:solidFill>
              <a:srgbClr val="8A6100"/>
            </a:solidFill>
            <a:prstDash val="solid"/>
          </a:ln>
        </p:spPr>
        <p:txBody>
          <a:bodyPr/>
          <a:p/>
        </p:txBody>
      </p:sp>
      <p:sp>
        <p:nvSpPr>
          <p:cNvPr id="9" name="Text 7"/>
          <p:cNvSpPr/>
          <p:nvPr/>
        </p:nvSpPr>
        <p:spPr>
          <a:xfrm>
            <a:off x="822960" y="3218688"/>
            <a:ext cx="4937760" cy="68580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Cine răspunde</a:t>
            </a:r>
            <a:endParaRPr lang="en-US" sz="1800" dirty="0"/>
          </a:p>
        </p:txBody>
      </p:sp>
      <p:sp>
        <p:nvSpPr>
          <p:cNvPr id="10" name="Text 8"/>
          <p:cNvSpPr/>
          <p:nvPr/>
        </p:nvSpPr>
        <p:spPr>
          <a:xfrm>
            <a:off x="822960" y="3886200"/>
            <a:ext cx="4937760" cy="14630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Cel care primește activitatea răspunde de executarea ei; asistentul medical care o deleagă păstrează răspunderea de ansamblu pentru pacient.</a:t>
            </a:r>
            <a:endParaRPr lang="en-US" sz="1550" dirty="0"/>
          </a:p>
        </p:txBody>
      </p:sp>
      <p:sp>
        <p:nvSpPr>
          <p:cNvPr id="11" name="Shape 9"/>
          <p:cNvSpPr/>
          <p:nvPr/>
        </p:nvSpPr>
        <p:spPr>
          <a:xfrm>
            <a:off x="6172200" y="3017520"/>
            <a:ext cx="5394960" cy="2468880"/>
          </a:xfrm>
          <a:prstGeom prst="roundRect">
            <a:avLst>
              <a:gd name="adj" fmla="val 3333"/>
            </a:avLst>
          </a:prstGeom>
          <a:solidFill>
            <a:srgbClr val="F9F8F5"/>
          </a:solidFill>
          <a:ln w="12700">
            <a:solidFill>
              <a:srgbClr val="F9F8F5"/>
            </a:solidFill>
            <a:prstDash val="solid"/>
          </a:ln>
        </p:spPr>
        <p:txBody>
          <a:bodyPr/>
          <a:p/>
        </p:txBody>
      </p:sp>
      <p:sp>
        <p:nvSpPr>
          <p:cNvPr id="12" name="Shape 10"/>
          <p:cNvSpPr/>
          <p:nvPr/>
        </p:nvSpPr>
        <p:spPr>
          <a:xfrm>
            <a:off x="6172200" y="3017520"/>
            <a:ext cx="5394960" cy="73152"/>
          </a:xfrm>
          <a:prstGeom prst="rect">
            <a:avLst/>
          </a:prstGeom>
          <a:solidFill>
            <a:srgbClr val="B02532"/>
          </a:solidFill>
          <a:ln w="12700">
            <a:solidFill>
              <a:srgbClr val="B02532"/>
            </a:solidFill>
            <a:prstDash val="solid"/>
          </a:ln>
        </p:spPr>
        <p:txBody>
          <a:bodyPr/>
          <a:p/>
        </p:txBody>
      </p:sp>
      <p:sp>
        <p:nvSpPr>
          <p:cNvPr id="13" name="Text 11"/>
          <p:cNvSpPr/>
          <p:nvPr/>
        </p:nvSpPr>
        <p:spPr>
          <a:xfrm>
            <a:off x="6400800" y="3218688"/>
            <a:ext cx="4937760" cy="6858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Ce nu se deleagă</a:t>
            </a:r>
            <a:endParaRPr lang="en-US" sz="1800" dirty="0"/>
          </a:p>
        </p:txBody>
      </p:sp>
      <p:sp>
        <p:nvSpPr>
          <p:cNvPr id="14" name="Text 12"/>
          <p:cNvSpPr/>
          <p:nvPr/>
        </p:nvSpPr>
        <p:spPr>
          <a:xfrm>
            <a:off x="6400800" y="3886200"/>
            <a:ext cx="4937760" cy="14630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Judecata profesională de îngrijire: evaluarea pacientului și deciziile despre planul lui de îngrijire.</a:t>
            </a:r>
            <a:endParaRPr lang="en-US" sz="1550" dirty="0"/>
          </a:p>
        </p:txBody>
      </p:sp>
      <p:sp>
        <p:nvSpPr>
          <p:cNvPr id="15" name="Text 1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NCSBN și ANA, 2019 (registru A1009, A1010). Ghid american; în România, în limitele reglementărilor profesiei și ale fișei postului.</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TREI CUVINTE CARE SE CONFUNDĂ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Delegare, repartizare, predare</a:t>
            </a:r>
            <a:endParaRPr lang="en-US" sz="3000" dirty="0"/>
          </a:p>
        </p:txBody>
      </p:sp>
      <p:sp>
        <p:nvSpPr>
          <p:cNvPr id="4" name="Shape 2"/>
          <p:cNvSpPr/>
          <p:nvPr/>
        </p:nvSpPr>
        <p:spPr>
          <a:xfrm>
            <a:off x="594360" y="1645920"/>
            <a:ext cx="3566160" cy="2834640"/>
          </a:xfrm>
          <a:prstGeom prst="roundRect">
            <a:avLst>
              <a:gd name="adj" fmla="val 2903"/>
            </a:avLst>
          </a:prstGeom>
          <a:solidFill>
            <a:srgbClr val="ECEAE4"/>
          </a:solidFill>
          <a:ln w="12700">
            <a:solidFill>
              <a:srgbClr val="ECEAE4"/>
            </a:solidFill>
            <a:prstDash val="solid"/>
          </a:ln>
        </p:spPr>
        <p:txBody>
          <a:bodyPr/>
          <a:p/>
        </p:txBody>
      </p:sp>
      <p:sp>
        <p:nvSpPr>
          <p:cNvPr id="5" name="Shape 3"/>
          <p:cNvSpPr/>
          <p:nvPr/>
        </p:nvSpPr>
        <p:spPr>
          <a:xfrm>
            <a:off x="594360" y="1645920"/>
            <a:ext cx="35661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31089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Repartizarea</a:t>
            </a:r>
            <a:endParaRPr lang="en-US" sz="2000" dirty="0"/>
          </a:p>
        </p:txBody>
      </p:sp>
      <p:sp>
        <p:nvSpPr>
          <p:cNvPr id="7" name="Text 5"/>
          <p:cNvSpPr/>
          <p:nvPr/>
        </p:nvSpPr>
        <p:spPr>
          <a:xfrm>
            <a:off x="822960" y="2514600"/>
            <a:ext cx="3108960" cy="18288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Îngrijiri de rutină, care intră în rolul obișnuit al celui care le primește.</a:t>
            </a:r>
            <a:endParaRPr lang="en-US" sz="1600" dirty="0"/>
          </a:p>
        </p:txBody>
      </p:sp>
      <p:sp>
        <p:nvSpPr>
          <p:cNvPr id="8" name="Shape 6"/>
          <p:cNvSpPr/>
          <p:nvPr/>
        </p:nvSpPr>
        <p:spPr>
          <a:xfrm>
            <a:off x="4297680" y="1645920"/>
            <a:ext cx="3566160" cy="2834640"/>
          </a:xfrm>
          <a:prstGeom prst="roundRect">
            <a:avLst>
              <a:gd name="adj" fmla="val 2903"/>
            </a:avLst>
          </a:prstGeom>
          <a:solidFill>
            <a:srgbClr val="F9F8F5"/>
          </a:solidFill>
          <a:ln w="12700">
            <a:solidFill>
              <a:srgbClr val="F9F8F5"/>
            </a:solidFill>
            <a:prstDash val="solid"/>
          </a:ln>
        </p:spPr>
        <p:txBody>
          <a:bodyPr/>
          <a:p/>
        </p:txBody>
      </p:sp>
      <p:sp>
        <p:nvSpPr>
          <p:cNvPr id="9" name="Shape 7"/>
          <p:cNvSpPr/>
          <p:nvPr/>
        </p:nvSpPr>
        <p:spPr>
          <a:xfrm>
            <a:off x="4297680" y="1645920"/>
            <a:ext cx="356616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4526280" y="1847088"/>
            <a:ext cx="3108960" cy="685800"/>
          </a:xfrm>
          <a:prstGeom prst="rect">
            <a:avLst/>
          </a:prstGeom>
          <a:noFill/>
          <a:ln/>
        </p:spPr>
        <p:txBody>
          <a:bodyPr wrap="square" lIns="0" tIns="0" rIns="0" bIns="0" rtlCol="0" anchor="t"/>
          <a:lstStyle/>
          <a:p>
            <a:pPr indent="0" marL="0">
              <a:buNone/>
            </a:pPr>
            <a:r>
              <a:rPr lang="en-US" sz="2000" b="1" dirty="0">
                <a:solidFill>
                  <a:srgbClr val="8A6100"/>
                </a:solidFill>
                <a:latin typeface="Palatino Linotype" pitchFamily="34" charset="0"/>
                <a:ea typeface="Palatino Linotype" pitchFamily="34" charset="-122"/>
                <a:cs typeface="Palatino Linotype" pitchFamily="34" charset="-120"/>
              </a:rPr>
              <a:t>Delegarea</a:t>
            </a:r>
            <a:endParaRPr lang="en-US" sz="2000" dirty="0"/>
          </a:p>
        </p:txBody>
      </p:sp>
      <p:sp>
        <p:nvSpPr>
          <p:cNvPr id="11" name="Text 9"/>
          <p:cNvSpPr/>
          <p:nvPr/>
        </p:nvSpPr>
        <p:spPr>
          <a:xfrm>
            <a:off x="4526280" y="2514600"/>
            <a:ext cx="3108960" cy="18288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 activitate care depășește acest rol, după instruire suplimentară și competență dovedită.</a:t>
            </a:r>
            <a:endParaRPr lang="en-US" sz="1600" dirty="0"/>
          </a:p>
        </p:txBody>
      </p:sp>
      <p:sp>
        <p:nvSpPr>
          <p:cNvPr id="12" name="Shape 10"/>
          <p:cNvSpPr/>
          <p:nvPr/>
        </p:nvSpPr>
        <p:spPr>
          <a:xfrm>
            <a:off x="8001000" y="1645920"/>
            <a:ext cx="3566160" cy="2834640"/>
          </a:xfrm>
          <a:prstGeom prst="roundRect">
            <a:avLst>
              <a:gd name="adj" fmla="val 2903"/>
            </a:avLst>
          </a:prstGeom>
          <a:solidFill>
            <a:srgbClr val="ECEAE4"/>
          </a:solidFill>
          <a:ln w="12700">
            <a:solidFill>
              <a:srgbClr val="ECEAE4"/>
            </a:solidFill>
            <a:prstDash val="solid"/>
          </a:ln>
        </p:spPr>
        <p:txBody>
          <a:bodyPr/>
          <a:p/>
        </p:txBody>
      </p:sp>
      <p:sp>
        <p:nvSpPr>
          <p:cNvPr id="13" name="Shape 11"/>
          <p:cNvSpPr/>
          <p:nvPr/>
        </p:nvSpPr>
        <p:spPr>
          <a:xfrm>
            <a:off x="8001000" y="1645920"/>
            <a:ext cx="3566160"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9600" y="1847088"/>
            <a:ext cx="3108960" cy="6858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Predarea</a:t>
            </a:r>
            <a:endParaRPr lang="en-US" sz="2000" dirty="0"/>
          </a:p>
        </p:txBody>
      </p:sp>
      <p:sp>
        <p:nvSpPr>
          <p:cNvPr id="15" name="Text 13"/>
          <p:cNvSpPr/>
          <p:nvPr/>
        </p:nvSpPr>
        <p:spPr>
          <a:xfrm>
            <a:off x="8229600" y="2514600"/>
            <a:ext cx="3108960" cy="18288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Răspunderea pentru un pacient trece de la un asistent medical la altul.</a:t>
            </a:r>
            <a:endParaRPr lang="en-US" sz="1600" dirty="0"/>
          </a:p>
        </p:txBody>
      </p:sp>
      <p:sp>
        <p:nvSpPr>
          <p:cNvPr id="16" name="Shape 14"/>
          <p:cNvSpPr/>
          <p:nvPr/>
        </p:nvSpPr>
        <p:spPr>
          <a:xfrm>
            <a:off x="594360" y="4709160"/>
            <a:ext cx="10972800" cy="1005840"/>
          </a:xfrm>
          <a:prstGeom prst="roundRect">
            <a:avLst>
              <a:gd name="adj" fmla="val 8182"/>
            </a:avLst>
          </a:prstGeom>
          <a:solidFill>
            <a:srgbClr val="11121A"/>
          </a:solidFill>
          <a:ln w="12700">
            <a:solidFill>
              <a:srgbClr val="11121A"/>
            </a:solidFill>
            <a:prstDash val="solid"/>
          </a:ln>
        </p:spPr>
        <p:txBody>
          <a:bodyPr/>
          <a:p/>
        </p:txBody>
      </p:sp>
      <p:sp>
        <p:nvSpPr>
          <p:cNvPr id="17" name="Text 15"/>
          <p:cNvSpPr/>
          <p:nvPr/>
        </p:nvSpPr>
        <p:spPr>
          <a:xfrm>
            <a:off x="868680" y="4709160"/>
            <a:ext cx="10424160" cy="100584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Ghidul nu se aplică predării între asistenți medicali: predarea nu este delegare.</a:t>
            </a:r>
            <a:endParaRPr lang="en-US" sz="1800" dirty="0"/>
          </a:p>
        </p:txBody>
      </p:sp>
      <p:sp>
        <p:nvSpPr>
          <p:cNvPr id="18" name="Text 1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NCSBN și ANA, 2019 (registru A1042, A1043).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CELE CINCI DREPTURI ALE DELEGĂRII · NCSBN–ANA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Cinci condiții ale unei delegări sigure</a:t>
            </a:r>
            <a:endParaRPr lang="en-US" sz="3000" dirty="0"/>
          </a:p>
        </p:txBody>
      </p:sp>
      <p:sp>
        <p:nvSpPr>
          <p:cNvPr id="4" name="Shape 2"/>
          <p:cNvSpPr/>
          <p:nvPr/>
        </p:nvSpPr>
        <p:spPr>
          <a:xfrm>
            <a:off x="594360" y="1600200"/>
            <a:ext cx="10972800" cy="621792"/>
          </a:xfrm>
          <a:prstGeom prst="roundRect">
            <a:avLst>
              <a:gd name="adj" fmla="val 13235"/>
            </a:avLst>
          </a:prstGeom>
          <a:solidFill>
            <a:srgbClr val="ECEAE4"/>
          </a:solidFill>
          <a:ln w="12700">
            <a:solidFill>
              <a:srgbClr val="ECEAE4"/>
            </a:solidFill>
            <a:prstDash val="solid"/>
          </a:ln>
        </p:spPr>
        <p:txBody>
          <a:bodyPr/>
          <a:p/>
        </p:txBody>
      </p:sp>
      <p:sp>
        <p:nvSpPr>
          <p:cNvPr id="5" name="Shape 3"/>
          <p:cNvSpPr/>
          <p:nvPr/>
        </p:nvSpPr>
        <p:spPr>
          <a:xfrm>
            <a:off x="868680" y="1700784"/>
            <a:ext cx="420624" cy="420624"/>
          </a:xfrm>
          <a:prstGeom prst="ellipse">
            <a:avLst/>
          </a:prstGeom>
          <a:solidFill>
            <a:srgbClr val="0E7C6B"/>
          </a:solidFill>
          <a:ln/>
        </p:spPr>
        <p:txBody>
          <a:bodyPr/>
          <a:p/>
        </p:txBody>
      </p:sp>
      <p:sp>
        <p:nvSpPr>
          <p:cNvPr id="6" name="Text 4"/>
          <p:cNvSpPr/>
          <p:nvPr/>
        </p:nvSpPr>
        <p:spPr>
          <a:xfrm>
            <a:off x="868680"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600200"/>
            <a:ext cx="9829800" cy="621792"/>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Sarcina potrivită: în fișa postului sau în procedurile scrise ale unității</a:t>
            </a:r>
            <a:endParaRPr lang="en-US" sz="1550" dirty="0"/>
          </a:p>
        </p:txBody>
      </p:sp>
      <p:sp>
        <p:nvSpPr>
          <p:cNvPr id="8" name="Shape 6"/>
          <p:cNvSpPr/>
          <p:nvPr/>
        </p:nvSpPr>
        <p:spPr>
          <a:xfrm>
            <a:off x="594360" y="2331720"/>
            <a:ext cx="10972800" cy="621792"/>
          </a:xfrm>
          <a:prstGeom prst="roundRect">
            <a:avLst>
              <a:gd name="adj" fmla="val 13235"/>
            </a:avLst>
          </a:prstGeom>
          <a:solidFill>
            <a:srgbClr val="ECEAE4"/>
          </a:solidFill>
          <a:ln w="12700">
            <a:solidFill>
              <a:srgbClr val="ECEAE4"/>
            </a:solidFill>
            <a:prstDash val="solid"/>
          </a:ln>
        </p:spPr>
        <p:txBody>
          <a:bodyPr/>
          <a:p/>
        </p:txBody>
      </p:sp>
      <p:sp>
        <p:nvSpPr>
          <p:cNvPr id="9" name="Shape 7"/>
          <p:cNvSpPr/>
          <p:nvPr/>
        </p:nvSpPr>
        <p:spPr>
          <a:xfrm>
            <a:off x="868680" y="2432304"/>
            <a:ext cx="420624" cy="420624"/>
          </a:xfrm>
          <a:prstGeom prst="ellipse">
            <a:avLst/>
          </a:prstGeom>
          <a:solidFill>
            <a:srgbClr val="0E7C6B"/>
          </a:solidFill>
          <a:ln/>
        </p:spPr>
        <p:txBody>
          <a:bodyPr/>
          <a:p/>
        </p:txBody>
      </p:sp>
      <p:sp>
        <p:nvSpPr>
          <p:cNvPr id="10" name="Text 8"/>
          <p:cNvSpPr/>
          <p:nvPr/>
        </p:nvSpPr>
        <p:spPr>
          <a:xfrm>
            <a:off x="868680" y="24323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331720"/>
            <a:ext cx="9829800" cy="621792"/>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Împrejurarea potrivită: pacient stabil; dacă se schimbă, se anunță asistentul</a:t>
            </a:r>
            <a:endParaRPr lang="en-US" sz="1550" dirty="0"/>
          </a:p>
        </p:txBody>
      </p:sp>
      <p:sp>
        <p:nvSpPr>
          <p:cNvPr id="12" name="Shape 10"/>
          <p:cNvSpPr/>
          <p:nvPr/>
        </p:nvSpPr>
        <p:spPr>
          <a:xfrm>
            <a:off x="594360" y="3063240"/>
            <a:ext cx="10972800" cy="621792"/>
          </a:xfrm>
          <a:prstGeom prst="roundRect">
            <a:avLst>
              <a:gd name="adj" fmla="val 13235"/>
            </a:avLst>
          </a:prstGeom>
          <a:solidFill>
            <a:srgbClr val="ECEAE4"/>
          </a:solidFill>
          <a:ln w="12700">
            <a:solidFill>
              <a:srgbClr val="ECEAE4"/>
            </a:solidFill>
            <a:prstDash val="solid"/>
          </a:ln>
        </p:spPr>
        <p:txBody>
          <a:bodyPr/>
          <a:p/>
        </p:txBody>
      </p:sp>
      <p:sp>
        <p:nvSpPr>
          <p:cNvPr id="13" name="Shape 11"/>
          <p:cNvSpPr/>
          <p:nvPr/>
        </p:nvSpPr>
        <p:spPr>
          <a:xfrm>
            <a:off x="868680" y="3163824"/>
            <a:ext cx="420624" cy="420624"/>
          </a:xfrm>
          <a:prstGeom prst="ellipse">
            <a:avLst/>
          </a:prstGeom>
          <a:solidFill>
            <a:srgbClr val="0E7C6B"/>
          </a:solidFill>
          <a:ln/>
        </p:spPr>
        <p:txBody>
          <a:bodyPr/>
          <a:p/>
        </p:txBody>
      </p:sp>
      <p:sp>
        <p:nvSpPr>
          <p:cNvPr id="14" name="Text 12"/>
          <p:cNvSpPr/>
          <p:nvPr/>
        </p:nvSpPr>
        <p:spPr>
          <a:xfrm>
            <a:off x="868680" y="31638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063240"/>
            <a:ext cx="9829800" cy="621792"/>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Persoana potrivită: are cunoștințele și abilitățile necesare</a:t>
            </a:r>
            <a:endParaRPr lang="en-US" sz="1550" dirty="0"/>
          </a:p>
        </p:txBody>
      </p:sp>
      <p:sp>
        <p:nvSpPr>
          <p:cNvPr id="16" name="Shape 14"/>
          <p:cNvSpPr/>
          <p:nvPr/>
        </p:nvSpPr>
        <p:spPr>
          <a:xfrm>
            <a:off x="594360" y="3794760"/>
            <a:ext cx="10972800" cy="621792"/>
          </a:xfrm>
          <a:prstGeom prst="roundRect">
            <a:avLst>
              <a:gd name="adj" fmla="val 13235"/>
            </a:avLst>
          </a:prstGeom>
          <a:solidFill>
            <a:srgbClr val="ECEAE4"/>
          </a:solidFill>
          <a:ln w="12700">
            <a:solidFill>
              <a:srgbClr val="ECEAE4"/>
            </a:solidFill>
            <a:prstDash val="solid"/>
          </a:ln>
        </p:spPr>
        <p:txBody>
          <a:bodyPr/>
          <a:p/>
        </p:txBody>
      </p:sp>
      <p:sp>
        <p:nvSpPr>
          <p:cNvPr id="17" name="Shape 15"/>
          <p:cNvSpPr/>
          <p:nvPr/>
        </p:nvSpPr>
        <p:spPr>
          <a:xfrm>
            <a:off x="868680" y="3895344"/>
            <a:ext cx="420624" cy="420624"/>
          </a:xfrm>
          <a:prstGeom prst="ellipse">
            <a:avLst/>
          </a:prstGeom>
          <a:solidFill>
            <a:srgbClr val="0E7C6B"/>
          </a:solidFill>
          <a:ln/>
        </p:spPr>
        <p:txBody>
          <a:bodyPr/>
          <a:p/>
        </p:txBody>
      </p:sp>
      <p:sp>
        <p:nvSpPr>
          <p:cNvPr id="18" name="Text 16"/>
          <p:cNvSpPr/>
          <p:nvPr/>
        </p:nvSpPr>
        <p:spPr>
          <a:xfrm>
            <a:off x="868680" y="38953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3794760"/>
            <a:ext cx="9829800" cy="621792"/>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Instrucțiunile potrivite: ce se culege, cum și când se raportează</a:t>
            </a:r>
            <a:endParaRPr lang="en-US" sz="1550" dirty="0"/>
          </a:p>
        </p:txBody>
      </p:sp>
      <p:sp>
        <p:nvSpPr>
          <p:cNvPr id="20" name="Shape 18"/>
          <p:cNvSpPr/>
          <p:nvPr/>
        </p:nvSpPr>
        <p:spPr>
          <a:xfrm>
            <a:off x="594360" y="4526280"/>
            <a:ext cx="10972800" cy="621792"/>
          </a:xfrm>
          <a:prstGeom prst="roundRect">
            <a:avLst>
              <a:gd name="adj" fmla="val 13235"/>
            </a:avLst>
          </a:prstGeom>
          <a:solidFill>
            <a:srgbClr val="ECEAE4"/>
          </a:solidFill>
          <a:ln w="12700">
            <a:solidFill>
              <a:srgbClr val="ECEAE4"/>
            </a:solidFill>
            <a:prstDash val="solid"/>
          </a:ln>
        </p:spPr>
        <p:txBody>
          <a:bodyPr/>
          <a:p/>
        </p:txBody>
      </p:sp>
      <p:sp>
        <p:nvSpPr>
          <p:cNvPr id="21" name="Shape 19"/>
          <p:cNvSpPr/>
          <p:nvPr/>
        </p:nvSpPr>
        <p:spPr>
          <a:xfrm>
            <a:off x="868680" y="4626864"/>
            <a:ext cx="420624" cy="420624"/>
          </a:xfrm>
          <a:prstGeom prst="ellipse">
            <a:avLst/>
          </a:prstGeom>
          <a:solidFill>
            <a:srgbClr val="0E7C6B"/>
          </a:solidFill>
          <a:ln/>
        </p:spPr>
        <p:txBody>
          <a:bodyPr/>
          <a:p/>
        </p:txBody>
      </p:sp>
      <p:sp>
        <p:nvSpPr>
          <p:cNvPr id="22" name="Text 20"/>
          <p:cNvSpPr/>
          <p:nvPr/>
        </p:nvSpPr>
        <p:spPr>
          <a:xfrm>
            <a:off x="868680" y="4626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508760" y="4526280"/>
            <a:ext cx="9829800" cy="621792"/>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Supravegherea potrivită: urmărește, intervine, evaluează rezultatul</a:t>
            </a:r>
            <a:endParaRPr lang="en-US" sz="1550" dirty="0"/>
          </a:p>
        </p:txBody>
      </p:sp>
      <p:sp>
        <p:nvSpPr>
          <p:cNvPr id="24" name="Text 22"/>
          <p:cNvSpPr/>
          <p:nvPr/>
        </p:nvSpPr>
        <p:spPr>
          <a:xfrm>
            <a:off x="594360" y="5349240"/>
            <a:ext cx="10972800" cy="73152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Comunicarea merge în ambele sensuri: cel care primește întreabă, confirmă și nu modifică nimic singur.</a:t>
            </a:r>
            <a:endParaRPr lang="en-US" sz="1600" dirty="0"/>
          </a:p>
        </p:txBody>
      </p:sp>
      <p:sp>
        <p:nvSpPr>
          <p:cNvPr id="25" name="Text 2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NCSBN și ANA, 2019 (registru A1011, A1012).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 TREI MINUTE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DOI VOLUNTARI: ANA ȘI IOANA</a:t>
            </a:r>
            <a:endParaRPr lang="en-US" sz="1300" dirty="0"/>
          </a:p>
        </p:txBody>
      </p:sp>
      <p:sp>
        <p:nvSpPr>
          <p:cNvPr id="5" name="Text 3"/>
          <p:cNvSpPr/>
          <p:nvPr/>
        </p:nvSpPr>
        <p:spPr>
          <a:xfrm>
            <a:off x="594360" y="868680"/>
            <a:ext cx="10972800" cy="1097280"/>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Ana îi repartizează Ioanei pacientul cu transfuzia</a:t>
            </a:r>
            <a:endParaRPr lang="en-US" sz="3200" dirty="0"/>
          </a:p>
        </p:txBody>
      </p:sp>
      <p:sp>
        <p:nvSpPr>
          <p:cNvPr id="6" name="Text 4"/>
          <p:cNvSpPr/>
          <p:nvPr/>
        </p:nvSpPr>
        <p:spPr>
          <a:xfrm>
            <a:off x="594360" y="2057400"/>
            <a:ext cx="10972800" cy="731520"/>
          </a:xfrm>
          <a:prstGeom prst="rect">
            <a:avLst/>
          </a:prstGeom>
          <a:noFill/>
          <a:ln/>
        </p:spPr>
        <p:txBody>
          <a:bodyPr wrap="square" lIns="0" tIns="0" rIns="0" bIns="0" rtlCol="0" anchor="t"/>
          <a:lstStyle/>
          <a:p>
            <a:pPr indent="0" marL="0">
              <a:buNone/>
            </a:pPr>
            <a:r>
              <a:rPr lang="en-US" sz="1900" dirty="0">
                <a:solidFill>
                  <a:srgbClr val="959BB0"/>
                </a:solidFill>
                <a:latin typeface="Palatino Linotype" pitchFamily="34" charset="0"/>
                <a:ea typeface="Palatino Linotype" pitchFamily="34" charset="-122"/>
                <a:cs typeface="Palatino Linotype" pitchFamily="34" charset="-120"/>
              </a:rPr>
              <a:t>Apoi pleacă la pacientul cu dificultăți de respirație. Notați în chat dacă Ana i-a spus Ioanei:</a:t>
            </a:r>
            <a:endParaRPr lang="en-US" sz="1900" dirty="0"/>
          </a:p>
        </p:txBody>
      </p:sp>
      <p:sp>
        <p:nvSpPr>
          <p:cNvPr id="7" name="Shape 5"/>
          <p:cNvSpPr/>
          <p:nvPr/>
        </p:nvSpPr>
        <p:spPr>
          <a:xfrm>
            <a:off x="594360" y="2880360"/>
            <a:ext cx="10972800" cy="548640"/>
          </a:xfrm>
          <a:prstGeom prst="roundRect">
            <a:avLst>
              <a:gd name="adj" fmla="val 15000"/>
            </a:avLst>
          </a:prstGeom>
          <a:solidFill>
            <a:srgbClr val="1D1F2B"/>
          </a:solidFill>
          <a:ln w="12700">
            <a:solidFill>
              <a:srgbClr val="1D1F2B"/>
            </a:solidFill>
            <a:prstDash val="solid"/>
          </a:ln>
        </p:spPr>
        <p:txBody>
          <a:bodyPr/>
          <a:p/>
        </p:txBody>
      </p:sp>
      <p:sp>
        <p:nvSpPr>
          <p:cNvPr id="8" name="Shape 6"/>
          <p:cNvSpPr/>
          <p:nvPr/>
        </p:nvSpPr>
        <p:spPr>
          <a:xfrm>
            <a:off x="868680" y="2944368"/>
            <a:ext cx="420624" cy="420624"/>
          </a:xfrm>
          <a:prstGeom prst="ellipse">
            <a:avLst/>
          </a:prstGeom>
          <a:solidFill>
            <a:srgbClr val="FFC24B"/>
          </a:solidFill>
          <a:ln/>
        </p:spPr>
        <p:txBody>
          <a:bodyPr/>
          <a:p/>
        </p:txBody>
      </p:sp>
      <p:sp>
        <p:nvSpPr>
          <p:cNvPr id="9" name="Text 7"/>
          <p:cNvSpPr/>
          <p:nvPr/>
        </p:nvSpPr>
        <p:spPr>
          <a:xfrm>
            <a:off x="868680" y="29443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0" name="Text 8"/>
          <p:cNvSpPr/>
          <p:nvPr/>
        </p:nvSpPr>
        <p:spPr>
          <a:xfrm>
            <a:off x="1508760" y="2880360"/>
            <a:ext cx="9829800" cy="54864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ce urmărește</a:t>
            </a:r>
            <a:endParaRPr lang="en-US" sz="1700" dirty="0"/>
          </a:p>
        </p:txBody>
      </p:sp>
      <p:sp>
        <p:nvSpPr>
          <p:cNvPr id="11" name="Shape 9"/>
          <p:cNvSpPr/>
          <p:nvPr/>
        </p:nvSpPr>
        <p:spPr>
          <a:xfrm>
            <a:off x="594360" y="3520440"/>
            <a:ext cx="10972800" cy="548640"/>
          </a:xfrm>
          <a:prstGeom prst="roundRect">
            <a:avLst>
              <a:gd name="adj" fmla="val 15000"/>
            </a:avLst>
          </a:prstGeom>
          <a:solidFill>
            <a:srgbClr val="1D1F2B"/>
          </a:solidFill>
          <a:ln w="12700">
            <a:solidFill>
              <a:srgbClr val="1D1F2B"/>
            </a:solidFill>
            <a:prstDash val="solid"/>
          </a:ln>
        </p:spPr>
        <p:txBody>
          <a:bodyPr/>
          <a:p/>
        </p:txBody>
      </p:sp>
      <p:sp>
        <p:nvSpPr>
          <p:cNvPr id="12" name="Shape 10"/>
          <p:cNvSpPr/>
          <p:nvPr/>
        </p:nvSpPr>
        <p:spPr>
          <a:xfrm>
            <a:off x="868680" y="3584448"/>
            <a:ext cx="420624" cy="420624"/>
          </a:xfrm>
          <a:prstGeom prst="ellipse">
            <a:avLst/>
          </a:prstGeom>
          <a:solidFill>
            <a:srgbClr val="FFC24B"/>
          </a:solidFill>
          <a:ln/>
        </p:spPr>
        <p:txBody>
          <a:bodyPr/>
          <a:p/>
        </p:txBody>
      </p:sp>
      <p:sp>
        <p:nvSpPr>
          <p:cNvPr id="13" name="Text 11"/>
          <p:cNvSpPr/>
          <p:nvPr/>
        </p:nvSpPr>
        <p:spPr>
          <a:xfrm>
            <a:off x="868680" y="35844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1508760" y="3520440"/>
            <a:ext cx="9829800" cy="54864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la ce interval</a:t>
            </a:r>
            <a:endParaRPr lang="en-US" sz="1700" dirty="0"/>
          </a:p>
        </p:txBody>
      </p:sp>
      <p:sp>
        <p:nvSpPr>
          <p:cNvPr id="15" name="Shape 13"/>
          <p:cNvSpPr/>
          <p:nvPr/>
        </p:nvSpPr>
        <p:spPr>
          <a:xfrm>
            <a:off x="594360" y="4160520"/>
            <a:ext cx="10972800" cy="548640"/>
          </a:xfrm>
          <a:prstGeom prst="roundRect">
            <a:avLst>
              <a:gd name="adj" fmla="val 15000"/>
            </a:avLst>
          </a:prstGeom>
          <a:solidFill>
            <a:srgbClr val="1D1F2B"/>
          </a:solidFill>
          <a:ln w="12700">
            <a:solidFill>
              <a:srgbClr val="1D1F2B"/>
            </a:solidFill>
            <a:prstDash val="solid"/>
          </a:ln>
        </p:spPr>
        <p:txBody>
          <a:bodyPr/>
          <a:p/>
        </p:txBody>
      </p:sp>
      <p:sp>
        <p:nvSpPr>
          <p:cNvPr id="16" name="Shape 14"/>
          <p:cNvSpPr/>
          <p:nvPr/>
        </p:nvSpPr>
        <p:spPr>
          <a:xfrm>
            <a:off x="868680" y="4224528"/>
            <a:ext cx="420624" cy="420624"/>
          </a:xfrm>
          <a:prstGeom prst="ellipse">
            <a:avLst/>
          </a:prstGeom>
          <a:solidFill>
            <a:srgbClr val="FFC24B"/>
          </a:solidFill>
          <a:ln/>
        </p:spPr>
        <p:txBody>
          <a:bodyPr/>
          <a:p/>
        </p:txBody>
      </p:sp>
      <p:sp>
        <p:nvSpPr>
          <p:cNvPr id="17" name="Text 15"/>
          <p:cNvSpPr/>
          <p:nvPr/>
        </p:nvSpPr>
        <p:spPr>
          <a:xfrm>
            <a:off x="868680" y="42245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8" name="Text 16"/>
          <p:cNvSpPr/>
          <p:nvPr/>
        </p:nvSpPr>
        <p:spPr>
          <a:xfrm>
            <a:off x="1508760" y="4160520"/>
            <a:ext cx="9829800" cy="54864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ce o face să sune imediat</a:t>
            </a:r>
            <a:endParaRPr lang="en-US" sz="1700" dirty="0"/>
          </a:p>
        </p:txBody>
      </p:sp>
      <p:sp>
        <p:nvSpPr>
          <p:cNvPr id="19" name="Shape 17"/>
          <p:cNvSpPr/>
          <p:nvPr/>
        </p:nvSpPr>
        <p:spPr>
          <a:xfrm>
            <a:off x="594360" y="4800600"/>
            <a:ext cx="10972800" cy="548640"/>
          </a:xfrm>
          <a:prstGeom prst="roundRect">
            <a:avLst>
              <a:gd name="adj" fmla="val 15000"/>
            </a:avLst>
          </a:prstGeom>
          <a:solidFill>
            <a:srgbClr val="1D1F2B"/>
          </a:solidFill>
          <a:ln w="12700">
            <a:solidFill>
              <a:srgbClr val="1D1F2B"/>
            </a:solidFill>
            <a:prstDash val="solid"/>
          </a:ln>
        </p:spPr>
        <p:txBody>
          <a:bodyPr/>
          <a:p/>
        </p:txBody>
      </p:sp>
      <p:sp>
        <p:nvSpPr>
          <p:cNvPr id="20" name="Shape 18"/>
          <p:cNvSpPr/>
          <p:nvPr/>
        </p:nvSpPr>
        <p:spPr>
          <a:xfrm>
            <a:off x="868680" y="4864608"/>
            <a:ext cx="420624" cy="420624"/>
          </a:xfrm>
          <a:prstGeom prst="ellipse">
            <a:avLst/>
          </a:prstGeom>
          <a:solidFill>
            <a:srgbClr val="FFC24B"/>
          </a:solidFill>
          <a:ln/>
        </p:spPr>
        <p:txBody>
          <a:bodyPr/>
          <a:p/>
        </p:txBody>
      </p:sp>
      <p:sp>
        <p:nvSpPr>
          <p:cNvPr id="21" name="Text 19"/>
          <p:cNvSpPr/>
          <p:nvPr/>
        </p:nvSpPr>
        <p:spPr>
          <a:xfrm>
            <a:off x="868680" y="4864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508760" y="4800600"/>
            <a:ext cx="9829800" cy="54864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când revine Ana</a:t>
            </a:r>
            <a:endParaRPr lang="en-US" sz="1700" dirty="0"/>
          </a:p>
        </p:txBody>
      </p:sp>
      <p:sp>
        <p:nvSpPr>
          <p:cNvPr id="23" name="Text 21"/>
          <p:cNvSpPr/>
          <p:nvPr/>
        </p:nvSpPr>
        <p:spPr>
          <a:xfrm>
            <a:off x="594360" y="553212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Apoi votați pe Mentimeter.</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JOCUL DE ROL · UN SINGUR RĂSPUNS CORECT</a:t>
            </a:r>
            <a:endParaRPr lang="en-US" sz="1300" dirty="0"/>
          </a:p>
        </p:txBody>
      </p:sp>
      <p:sp>
        <p:nvSpPr>
          <p:cNvPr id="5" name="Text 3"/>
          <p:cNvSpPr/>
          <p:nvPr/>
        </p:nvSpPr>
        <p:spPr>
          <a:xfrm>
            <a:off x="594360" y="868680"/>
            <a:ext cx="10972800" cy="1600200"/>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Ana îi repartizează Ioanei pacientul cu transfuzia. Este aceasta o delegare?</a:t>
            </a:r>
            <a:endParaRPr lang="en-US" sz="3000" dirty="0"/>
          </a:p>
        </p:txBody>
      </p:sp>
      <p:sp>
        <p:nvSpPr>
          <p:cNvPr id="6" name="Shape 4"/>
          <p:cNvSpPr/>
          <p:nvPr/>
        </p:nvSpPr>
        <p:spPr>
          <a:xfrm>
            <a:off x="594360" y="26974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868680" y="2852928"/>
            <a:ext cx="420624" cy="420624"/>
          </a:xfrm>
          <a:prstGeom prst="ellipse">
            <a:avLst/>
          </a:prstGeom>
          <a:solidFill>
            <a:srgbClr val="FFC24B"/>
          </a:solidFill>
          <a:ln/>
        </p:spPr>
        <p:txBody>
          <a:bodyPr/>
          <a:p/>
        </p:txBody>
      </p:sp>
      <p:sp>
        <p:nvSpPr>
          <p:cNvPr id="8" name="Text 6"/>
          <p:cNvSpPr/>
          <p:nvPr/>
        </p:nvSpPr>
        <p:spPr>
          <a:xfrm>
            <a:off x="868680" y="2852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269748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Da</a:t>
            </a:r>
            <a:endParaRPr lang="en-US" sz="2000" dirty="0"/>
          </a:p>
        </p:txBody>
      </p:sp>
      <p:sp>
        <p:nvSpPr>
          <p:cNvPr id="10" name="Shape 8"/>
          <p:cNvSpPr/>
          <p:nvPr/>
        </p:nvSpPr>
        <p:spPr>
          <a:xfrm>
            <a:off x="594360" y="35661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868680" y="3721608"/>
            <a:ext cx="420624" cy="420624"/>
          </a:xfrm>
          <a:prstGeom prst="ellipse">
            <a:avLst/>
          </a:prstGeom>
          <a:solidFill>
            <a:srgbClr val="FFC24B"/>
          </a:solidFill>
          <a:ln/>
        </p:spPr>
        <p:txBody>
          <a:bodyPr/>
          <a:p/>
        </p:txBody>
      </p:sp>
      <p:sp>
        <p:nvSpPr>
          <p:cNvPr id="12" name="Text 10"/>
          <p:cNvSpPr/>
          <p:nvPr/>
        </p:nvSpPr>
        <p:spPr>
          <a:xfrm>
            <a:off x="868680" y="3721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356616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Nu</a:t>
            </a:r>
            <a:endParaRPr lang="en-US" sz="2000" dirty="0"/>
          </a:p>
        </p:txBody>
      </p:sp>
      <p:sp>
        <p:nvSpPr>
          <p:cNvPr id="14" name="Text 12"/>
          <p:cNvSpPr/>
          <p:nvPr/>
        </p:nvSpPr>
        <p:spPr>
          <a:xfrm>
            <a:off x="594360" y="544068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fără să vedeți votul celorlalți.</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B. Nu: între două asistente medicale este o predare</a:t>
            </a:r>
            <a:endParaRPr lang="en-US" sz="2800" dirty="0"/>
          </a:p>
        </p:txBody>
      </p:sp>
      <p:sp>
        <p:nvSpPr>
          <p:cNvPr id="4" name="Shape 2"/>
          <p:cNvSpPr/>
          <p:nvPr/>
        </p:nvSpPr>
        <p:spPr>
          <a:xfrm>
            <a:off x="594360" y="1691640"/>
            <a:ext cx="5394960" cy="3108960"/>
          </a:xfrm>
          <a:prstGeom prst="roundRect">
            <a:avLst>
              <a:gd name="adj" fmla="val 2647"/>
            </a:avLst>
          </a:prstGeom>
          <a:solidFill>
            <a:srgbClr val="ECEAE4"/>
          </a:solidFill>
          <a:ln w="12700">
            <a:solidFill>
              <a:srgbClr val="ECEAE4"/>
            </a:solidFill>
            <a:prstDash val="solid"/>
          </a:ln>
        </p:spPr>
        <p:txBody>
          <a:bodyPr/>
          <a:p/>
        </p:txBody>
      </p:sp>
      <p:sp>
        <p:nvSpPr>
          <p:cNvPr id="5" name="Shape 3"/>
          <p:cNvSpPr/>
          <p:nvPr/>
        </p:nvSpPr>
        <p:spPr>
          <a:xfrm>
            <a:off x="594360" y="1691640"/>
            <a:ext cx="53949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92808"/>
            <a:ext cx="49377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Ioana</a:t>
            </a:r>
            <a:endParaRPr lang="en-US" sz="2000" dirty="0"/>
          </a:p>
        </p:txBody>
      </p:sp>
      <p:sp>
        <p:nvSpPr>
          <p:cNvPr id="7" name="Text 5"/>
          <p:cNvSpPr/>
          <p:nvPr/>
        </p:nvSpPr>
        <p:spPr>
          <a:xfrm>
            <a:off x="822960" y="2560320"/>
            <a:ext cx="4937760" cy="210312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Ghidul nu se aplică predării unui pacient de la un asistent medical la altul.</a:t>
            </a:r>
            <a:endParaRPr lang="en-US" sz="1700" dirty="0"/>
          </a:p>
        </p:txBody>
      </p:sp>
      <p:sp>
        <p:nvSpPr>
          <p:cNvPr id="8" name="Shape 6"/>
          <p:cNvSpPr/>
          <p:nvPr/>
        </p:nvSpPr>
        <p:spPr>
          <a:xfrm>
            <a:off x="6172200" y="1691640"/>
            <a:ext cx="5394960" cy="3108960"/>
          </a:xfrm>
          <a:prstGeom prst="roundRect">
            <a:avLst>
              <a:gd name="adj" fmla="val 2647"/>
            </a:avLst>
          </a:prstGeom>
          <a:solidFill>
            <a:srgbClr val="F9F8F5"/>
          </a:solidFill>
          <a:ln w="12700">
            <a:solidFill>
              <a:srgbClr val="F9F8F5"/>
            </a:solidFill>
            <a:prstDash val="solid"/>
          </a:ln>
        </p:spPr>
        <p:txBody>
          <a:bodyPr/>
          <a:p/>
        </p:txBody>
      </p:sp>
      <p:sp>
        <p:nvSpPr>
          <p:cNvPr id="9" name="Shape 7"/>
          <p:cNvSpPr/>
          <p:nvPr/>
        </p:nvSpPr>
        <p:spPr>
          <a:xfrm>
            <a:off x="6172200" y="1691640"/>
            <a:ext cx="5394960" cy="73152"/>
          </a:xfrm>
          <a:prstGeom prst="rect">
            <a:avLst/>
          </a:prstGeom>
          <a:solidFill>
            <a:srgbClr val="B02532"/>
          </a:solidFill>
          <a:ln w="12700">
            <a:solidFill>
              <a:srgbClr val="B02532"/>
            </a:solidFill>
            <a:prstDash val="solid"/>
          </a:ln>
        </p:spPr>
        <p:txBody>
          <a:bodyPr/>
          <a:p/>
        </p:txBody>
      </p:sp>
      <p:sp>
        <p:nvSpPr>
          <p:cNvPr id="10" name="Text 8"/>
          <p:cNvSpPr/>
          <p:nvPr/>
        </p:nvSpPr>
        <p:spPr>
          <a:xfrm>
            <a:off x="6400800" y="1892808"/>
            <a:ext cx="4937760" cy="6858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Dacă Ana i-ar delega Elenei ceva</a:t>
            </a:r>
            <a:endParaRPr lang="en-US" sz="2000" dirty="0"/>
          </a:p>
        </p:txBody>
      </p:sp>
      <p:sp>
        <p:nvSpPr>
          <p:cNvPr id="11" name="Text 9"/>
          <p:cNvSpPr/>
          <p:nvPr/>
        </p:nvSpPr>
        <p:spPr>
          <a:xfrm>
            <a:off x="6400800" y="2560320"/>
            <a:ext cx="4937760" cy="210312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activitate care îi depășește rolul obișnuit: Ana verifică cele cinci condiții. Aici nu există un singur răspuns corect.</a:t>
            </a:r>
            <a:endParaRPr lang="en-US" sz="1700" dirty="0"/>
          </a:p>
        </p:txBody>
      </p:sp>
      <p:sp>
        <p:nvSpPr>
          <p:cNvPr id="12" name="Text 10"/>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NCSBN și ANA, 2019 (registru A1042, A1011).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CUM SE IAU DECIZIILE · CONVENȚIE A CURSULUI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moduri de a decide</a:t>
            </a:r>
            <a:endParaRPr lang="en-US" sz="3000" dirty="0"/>
          </a:p>
        </p:txBody>
      </p:sp>
      <p:sp>
        <p:nvSpPr>
          <p:cNvPr id="4" name="Shape 2"/>
          <p:cNvSpPr/>
          <p:nvPr/>
        </p:nvSpPr>
        <p:spPr>
          <a:xfrm>
            <a:off x="594360" y="1645920"/>
            <a:ext cx="3566160" cy="2971800"/>
          </a:xfrm>
          <a:prstGeom prst="roundRect">
            <a:avLst>
              <a:gd name="adj" fmla="val 2769"/>
            </a:avLst>
          </a:prstGeom>
          <a:solidFill>
            <a:srgbClr val="ECEAE4"/>
          </a:solidFill>
          <a:ln w="12700">
            <a:solidFill>
              <a:srgbClr val="ECEAE4"/>
            </a:solidFill>
            <a:prstDash val="solid"/>
          </a:ln>
        </p:spPr>
        <p:txBody>
          <a:bodyPr/>
          <a:p/>
        </p:txBody>
      </p:sp>
      <p:sp>
        <p:nvSpPr>
          <p:cNvPr id="5" name="Shape 3"/>
          <p:cNvSpPr/>
          <p:nvPr/>
        </p:nvSpPr>
        <p:spPr>
          <a:xfrm>
            <a:off x="594360" y="1645920"/>
            <a:ext cx="35661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310896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Rațional</a:t>
            </a:r>
            <a:endParaRPr lang="en-US" sz="1900" dirty="0"/>
          </a:p>
        </p:txBody>
      </p:sp>
      <p:sp>
        <p:nvSpPr>
          <p:cNvPr id="7" name="Text 5"/>
          <p:cNvSpPr/>
          <p:nvPr/>
        </p:nvSpPr>
        <p:spPr>
          <a:xfrm>
            <a:off x="822960" y="2514600"/>
            <a:ext cx="3108960" cy="19659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Pași succesivi, de la definirea problemei la evaluarea rezultatului; când există timp și date.</a:t>
            </a:r>
            <a:endParaRPr lang="en-US" sz="1550" dirty="0"/>
          </a:p>
        </p:txBody>
      </p:sp>
      <p:sp>
        <p:nvSpPr>
          <p:cNvPr id="8" name="Shape 6"/>
          <p:cNvSpPr/>
          <p:nvPr/>
        </p:nvSpPr>
        <p:spPr>
          <a:xfrm>
            <a:off x="4297680" y="1645920"/>
            <a:ext cx="3566160" cy="2971800"/>
          </a:xfrm>
          <a:prstGeom prst="roundRect">
            <a:avLst>
              <a:gd name="adj" fmla="val 2769"/>
            </a:avLst>
          </a:prstGeom>
          <a:solidFill>
            <a:srgbClr val="F9F8F5"/>
          </a:solidFill>
          <a:ln w="12700">
            <a:solidFill>
              <a:srgbClr val="F9F8F5"/>
            </a:solidFill>
            <a:prstDash val="solid"/>
          </a:ln>
        </p:spPr>
        <p:txBody>
          <a:bodyPr/>
          <a:p/>
        </p:txBody>
      </p:sp>
      <p:sp>
        <p:nvSpPr>
          <p:cNvPr id="9" name="Shape 7"/>
          <p:cNvSpPr/>
          <p:nvPr/>
        </p:nvSpPr>
        <p:spPr>
          <a:xfrm>
            <a:off x="4297680" y="1645920"/>
            <a:ext cx="356616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4526280" y="1847088"/>
            <a:ext cx="3108960" cy="685800"/>
          </a:xfrm>
          <a:prstGeom prst="rect">
            <a:avLst/>
          </a:prstGeom>
          <a:noFill/>
          <a:ln/>
        </p:spPr>
        <p:txBody>
          <a:bodyPr wrap="square" lIns="0" tIns="0" rIns="0" bIns="0" rtlCol="0" anchor="t"/>
          <a:lstStyle/>
          <a:p>
            <a:pPr indent="0" marL="0">
              <a:buNone/>
            </a:pPr>
            <a:r>
              <a:rPr lang="en-US" sz="1900" b="1" dirty="0">
                <a:solidFill>
                  <a:srgbClr val="8A6100"/>
                </a:solidFill>
                <a:latin typeface="Palatino Linotype" pitchFamily="34" charset="0"/>
                <a:ea typeface="Palatino Linotype" pitchFamily="34" charset="-122"/>
                <a:cs typeface="Palatino Linotype" pitchFamily="34" charset="-120"/>
              </a:rPr>
              <a:t>Intuitiv</a:t>
            </a:r>
            <a:endParaRPr lang="en-US" sz="1900" dirty="0"/>
          </a:p>
        </p:txBody>
      </p:sp>
      <p:sp>
        <p:nvSpPr>
          <p:cNvPr id="11" name="Text 9"/>
          <p:cNvSpPr/>
          <p:nvPr/>
        </p:nvSpPr>
        <p:spPr>
          <a:xfrm>
            <a:off x="4526280" y="2514600"/>
            <a:ext cx="3108960" cy="19659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Expertul recunoaște repede tiparul situației. Benner: drumul de la începător la expert.</a:t>
            </a:r>
            <a:endParaRPr lang="en-US" sz="1550" dirty="0"/>
          </a:p>
        </p:txBody>
      </p:sp>
      <p:sp>
        <p:nvSpPr>
          <p:cNvPr id="12" name="Shape 10"/>
          <p:cNvSpPr/>
          <p:nvPr/>
        </p:nvSpPr>
        <p:spPr>
          <a:xfrm>
            <a:off x="8001000" y="1645920"/>
            <a:ext cx="3566160" cy="2971800"/>
          </a:xfrm>
          <a:prstGeom prst="roundRect">
            <a:avLst>
              <a:gd name="adj" fmla="val 2769"/>
            </a:avLst>
          </a:prstGeom>
          <a:solidFill>
            <a:srgbClr val="ECEAE4"/>
          </a:solidFill>
          <a:ln w="12700">
            <a:solidFill>
              <a:srgbClr val="ECEAE4"/>
            </a:solidFill>
            <a:prstDash val="solid"/>
          </a:ln>
        </p:spPr>
        <p:txBody>
          <a:bodyPr/>
          <a:p/>
        </p:txBody>
      </p:sp>
      <p:sp>
        <p:nvSpPr>
          <p:cNvPr id="13" name="Shape 11"/>
          <p:cNvSpPr/>
          <p:nvPr/>
        </p:nvSpPr>
        <p:spPr>
          <a:xfrm>
            <a:off x="8001000" y="1645920"/>
            <a:ext cx="3566160" cy="73152"/>
          </a:xfrm>
          <a:prstGeom prst="rect">
            <a:avLst/>
          </a:prstGeom>
          <a:solidFill>
            <a:srgbClr val="4A2D8C"/>
          </a:solidFill>
          <a:ln w="12700">
            <a:solidFill>
              <a:srgbClr val="4A2D8C"/>
            </a:solidFill>
            <a:prstDash val="solid"/>
          </a:ln>
        </p:spPr>
        <p:txBody>
          <a:bodyPr/>
          <a:p/>
        </p:txBody>
      </p:sp>
      <p:sp>
        <p:nvSpPr>
          <p:cNvPr id="14" name="Text 12"/>
          <p:cNvSpPr/>
          <p:nvPr/>
        </p:nvSpPr>
        <p:spPr>
          <a:xfrm>
            <a:off x="8229600" y="1847088"/>
            <a:ext cx="3108960" cy="685800"/>
          </a:xfrm>
          <a:prstGeom prst="rect">
            <a:avLst/>
          </a:prstGeom>
          <a:noFill/>
          <a:ln/>
        </p:spPr>
        <p:txBody>
          <a:bodyPr wrap="square" lIns="0" tIns="0" rIns="0" bIns="0" rtlCol="0" anchor="t"/>
          <a:lstStyle/>
          <a:p>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Participarea echipei</a:t>
            </a:r>
            <a:endParaRPr lang="en-US" sz="1900" dirty="0"/>
          </a:p>
        </p:txBody>
      </p:sp>
      <p:sp>
        <p:nvSpPr>
          <p:cNvPr id="15" name="Text 13"/>
          <p:cNvSpPr/>
          <p:nvPr/>
        </p:nvSpPr>
        <p:spPr>
          <a:xfrm>
            <a:off x="8229600" y="2514600"/>
            <a:ext cx="3108960" cy="19659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De la decizia luată singur la decizia de grup, după calitatea cerută, acceptare și timp.</a:t>
            </a:r>
            <a:endParaRPr lang="en-US" sz="1550" dirty="0"/>
          </a:p>
        </p:txBody>
      </p:sp>
      <p:sp>
        <p:nvSpPr>
          <p:cNvPr id="16" name="Shape 14"/>
          <p:cNvSpPr/>
          <p:nvPr/>
        </p:nvSpPr>
        <p:spPr>
          <a:xfrm>
            <a:off x="594360" y="4846320"/>
            <a:ext cx="10972800" cy="960120"/>
          </a:xfrm>
          <a:prstGeom prst="roundRect">
            <a:avLst>
              <a:gd name="adj" fmla="val 8571"/>
            </a:avLst>
          </a:prstGeom>
          <a:solidFill>
            <a:srgbClr val="11121A"/>
          </a:solidFill>
          <a:ln w="12700">
            <a:solidFill>
              <a:srgbClr val="11121A"/>
            </a:solidFill>
            <a:prstDash val="solid"/>
          </a:ln>
        </p:spPr>
        <p:txBody>
          <a:bodyPr/>
          <a:p/>
        </p:txBody>
      </p:sp>
      <p:sp>
        <p:nvSpPr>
          <p:cNvPr id="17" name="Text 15"/>
          <p:cNvSpPr/>
          <p:nvPr/>
        </p:nvSpPr>
        <p:spPr>
          <a:xfrm>
            <a:off x="868680" y="4846320"/>
            <a:ext cx="10424160" cy="960120"/>
          </a:xfrm>
          <a:prstGeom prst="rect">
            <a:avLst/>
          </a:prstGeom>
          <a:noFill/>
          <a:ln/>
        </p:spPr>
        <p:txBody>
          <a:bodyPr wrap="square" lIns="0" tIns="0" rIns="0" bIns="0" rtlCol="0" anchor="ctr"/>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În urgență decide cel care coordonează; un program nou al turelor se decide împreună.</a:t>
            </a:r>
            <a:endParaRPr lang="en-US" sz="1700" dirty="0"/>
          </a:p>
        </p:txBody>
      </p:sp>
      <p:sp>
        <p:nvSpPr>
          <p:cNvPr id="18" name="Text 1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Vroom, Yetton și Jago, după OpenStax (registru A1007); cele trei moduri: convenție a cursului.</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ÎNAPOI LA NOAPTEA DE JOI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face Ana în noaptea de joi</a:t>
            </a:r>
            <a:endParaRPr lang="en-US" sz="3000" dirty="0"/>
          </a:p>
        </p:txBody>
      </p:sp>
      <p:sp>
        <p:nvSpPr>
          <p:cNvPr id="4" name="Shape 2"/>
          <p:cNvSpPr/>
          <p:nvPr/>
        </p:nvSpPr>
        <p:spPr>
          <a:xfrm>
            <a:off x="594360" y="155448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5" name="Shape 3"/>
          <p:cNvSpPr/>
          <p:nvPr/>
        </p:nvSpPr>
        <p:spPr>
          <a:xfrm>
            <a:off x="868680" y="1664208"/>
            <a:ext cx="420624" cy="420624"/>
          </a:xfrm>
          <a:prstGeom prst="ellipse">
            <a:avLst/>
          </a:prstGeom>
          <a:solidFill>
            <a:srgbClr val="B02532"/>
          </a:solidFill>
          <a:ln/>
        </p:spPr>
        <p:txBody>
          <a:bodyPr/>
          <a:p/>
        </p:txBody>
      </p:sp>
      <p:sp>
        <p:nvSpPr>
          <p:cNvPr id="6" name="Text 4"/>
          <p:cNvSpPr/>
          <p:nvPr/>
        </p:nvSpPr>
        <p:spPr>
          <a:xfrm>
            <a:off x="868680" y="1664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554480"/>
            <a:ext cx="98298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Decide singură: nu este timp de consultare.</a:t>
            </a:r>
            <a:endParaRPr lang="en-US" sz="1550" dirty="0"/>
          </a:p>
        </p:txBody>
      </p:sp>
      <p:sp>
        <p:nvSpPr>
          <p:cNvPr id="8" name="Shape 6"/>
          <p:cNvSpPr/>
          <p:nvPr/>
        </p:nvSpPr>
        <p:spPr>
          <a:xfrm>
            <a:off x="594360" y="2304288"/>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9" name="Shape 7"/>
          <p:cNvSpPr/>
          <p:nvPr/>
        </p:nvSpPr>
        <p:spPr>
          <a:xfrm>
            <a:off x="868680" y="2414016"/>
            <a:ext cx="420624" cy="420624"/>
          </a:xfrm>
          <a:prstGeom prst="ellipse">
            <a:avLst/>
          </a:prstGeom>
          <a:solidFill>
            <a:srgbClr val="B02532"/>
          </a:solidFill>
          <a:ln/>
        </p:spPr>
        <p:txBody>
          <a:bodyPr/>
          <a:p/>
        </p:txBody>
      </p:sp>
      <p:sp>
        <p:nvSpPr>
          <p:cNvPr id="10" name="Text 8"/>
          <p:cNvSpPr/>
          <p:nvPr/>
        </p:nvSpPr>
        <p:spPr>
          <a:xfrm>
            <a:off x="868680" y="2414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304288"/>
            <a:ext cx="98298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Merge ea la pacientul care respiră greu: evaluarea lui cere judecată clinică.</a:t>
            </a:r>
            <a:endParaRPr lang="en-US" sz="1550" dirty="0"/>
          </a:p>
        </p:txBody>
      </p:sp>
      <p:sp>
        <p:nvSpPr>
          <p:cNvPr id="12" name="Shape 10"/>
          <p:cNvSpPr/>
          <p:nvPr/>
        </p:nvSpPr>
        <p:spPr>
          <a:xfrm>
            <a:off x="594360" y="3054096"/>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3" name="Shape 11"/>
          <p:cNvSpPr/>
          <p:nvPr/>
        </p:nvSpPr>
        <p:spPr>
          <a:xfrm>
            <a:off x="868680" y="3163824"/>
            <a:ext cx="420624" cy="420624"/>
          </a:xfrm>
          <a:prstGeom prst="ellipse">
            <a:avLst/>
          </a:prstGeom>
          <a:solidFill>
            <a:srgbClr val="B02532"/>
          </a:solidFill>
          <a:ln/>
        </p:spPr>
        <p:txBody>
          <a:bodyPr/>
          <a:p/>
        </p:txBody>
      </p:sp>
      <p:sp>
        <p:nvSpPr>
          <p:cNvPr id="14" name="Text 12"/>
          <p:cNvSpPr/>
          <p:nvPr/>
        </p:nvSpPr>
        <p:spPr>
          <a:xfrm>
            <a:off x="868680" y="31638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054096"/>
            <a:ext cx="98298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Pacientul cu transfuzia îi revine Ioanei: o predare, cu semnele de urmărit și când o cheamă.</a:t>
            </a:r>
            <a:endParaRPr lang="en-US" sz="1550" dirty="0"/>
          </a:p>
        </p:txBody>
      </p:sp>
      <p:sp>
        <p:nvSpPr>
          <p:cNvPr id="16" name="Shape 14"/>
          <p:cNvSpPr/>
          <p:nvPr/>
        </p:nvSpPr>
        <p:spPr>
          <a:xfrm>
            <a:off x="594360" y="3803904"/>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7" name="Shape 15"/>
          <p:cNvSpPr/>
          <p:nvPr/>
        </p:nvSpPr>
        <p:spPr>
          <a:xfrm>
            <a:off x="868680" y="3913632"/>
            <a:ext cx="420624" cy="420624"/>
          </a:xfrm>
          <a:prstGeom prst="ellipse">
            <a:avLst/>
          </a:prstGeom>
          <a:solidFill>
            <a:srgbClr val="B02532"/>
          </a:solidFill>
          <a:ln/>
        </p:spPr>
        <p:txBody>
          <a:bodyPr/>
          <a:p/>
        </p:txBody>
      </p:sp>
      <p:sp>
        <p:nvSpPr>
          <p:cNvPr id="18" name="Text 16"/>
          <p:cNvSpPr/>
          <p:nvPr/>
        </p:nvSpPr>
        <p:spPr>
          <a:xfrm>
            <a:off x="868680" y="391363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3803904"/>
            <a:ext cx="98298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Elena: rutina infirmierei este repartizare; altceva este delegare, cu cele cinci condiții.</a:t>
            </a:r>
            <a:endParaRPr lang="en-US" sz="1550" dirty="0"/>
          </a:p>
        </p:txBody>
      </p:sp>
      <p:sp>
        <p:nvSpPr>
          <p:cNvPr id="20" name="Shape 18"/>
          <p:cNvSpPr/>
          <p:nvPr/>
        </p:nvSpPr>
        <p:spPr>
          <a:xfrm>
            <a:off x="594360" y="4553712"/>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21" name="Shape 19"/>
          <p:cNvSpPr/>
          <p:nvPr/>
        </p:nvSpPr>
        <p:spPr>
          <a:xfrm>
            <a:off x="868680" y="4663440"/>
            <a:ext cx="420624" cy="420624"/>
          </a:xfrm>
          <a:prstGeom prst="ellipse">
            <a:avLst/>
          </a:prstGeom>
          <a:solidFill>
            <a:srgbClr val="B02532"/>
          </a:solidFill>
          <a:ln/>
        </p:spPr>
        <p:txBody>
          <a:bodyPr/>
          <a:p/>
        </p:txBody>
      </p:sp>
      <p:sp>
        <p:nvSpPr>
          <p:cNvPr id="22" name="Text 20"/>
          <p:cNvSpPr/>
          <p:nvPr/>
        </p:nvSpPr>
        <p:spPr>
          <a:xfrm>
            <a:off x="868680" y="46634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508760" y="4553712"/>
            <a:ext cx="98298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Îl cheamă imediat pe medicul de gardă: situația, contextul, evaluarea, recomandarea.</a:t>
            </a:r>
            <a:endParaRPr lang="en-US" sz="1550" dirty="0"/>
          </a:p>
        </p:txBody>
      </p:sp>
      <p:sp>
        <p:nvSpPr>
          <p:cNvPr id="24" name="Text 22"/>
          <p:cNvSpPr/>
          <p:nvPr/>
        </p:nvSpPr>
        <p:spPr>
          <a:xfrm>
            <a:off x="594360" y="5394960"/>
            <a:ext cx="10972800" cy="54864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Față de Ioana, în noaptea aceea: un stil directiv.</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KENNETH THOMAS · OPENSTAX, ORGANIZATIONAL BEHAVIOR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Cinci moduri de abordare a conflictului</a:t>
            </a:r>
            <a:endParaRPr lang="en-US" sz="2800" dirty="0"/>
          </a:p>
        </p:txBody>
      </p:sp>
      <p:sp>
        <p:nvSpPr>
          <p:cNvPr id="4" name="Shape 2"/>
          <p:cNvSpPr/>
          <p:nvPr/>
        </p:nvSpPr>
        <p:spPr>
          <a:xfrm>
            <a:off x="594360" y="155448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5" name="Text 3"/>
          <p:cNvSpPr/>
          <p:nvPr/>
        </p:nvSpPr>
        <p:spPr>
          <a:xfrm>
            <a:off x="822960" y="1554480"/>
            <a:ext cx="2377440" cy="64008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Competiția</a:t>
            </a:r>
            <a:endParaRPr lang="en-US" sz="1650" dirty="0"/>
          </a:p>
        </p:txBody>
      </p:sp>
      <p:sp>
        <p:nvSpPr>
          <p:cNvPr id="6" name="Text 4"/>
          <p:cNvSpPr/>
          <p:nvPr/>
        </p:nvSpPr>
        <p:spPr>
          <a:xfrm>
            <a:off x="3200400" y="1554480"/>
            <a:ext cx="82296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acțiune rapidă și hotărâtă, de exemplu în urgență</a:t>
            </a:r>
            <a:endParaRPr lang="en-US" sz="1550" dirty="0"/>
          </a:p>
        </p:txBody>
      </p:sp>
      <p:sp>
        <p:nvSpPr>
          <p:cNvPr id="7" name="Shape 5"/>
          <p:cNvSpPr/>
          <p:nvPr/>
        </p:nvSpPr>
        <p:spPr>
          <a:xfrm>
            <a:off x="594360" y="2304288"/>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8" name="Text 6"/>
          <p:cNvSpPr/>
          <p:nvPr/>
        </p:nvSpPr>
        <p:spPr>
          <a:xfrm>
            <a:off x="822960" y="2304288"/>
            <a:ext cx="2377440" cy="64008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Colaborarea</a:t>
            </a:r>
            <a:endParaRPr lang="en-US" sz="1650" dirty="0"/>
          </a:p>
        </p:txBody>
      </p:sp>
      <p:sp>
        <p:nvSpPr>
          <p:cNvPr id="9" name="Text 7"/>
          <p:cNvSpPr/>
          <p:nvPr/>
        </p:nvSpPr>
        <p:spPr>
          <a:xfrm>
            <a:off x="3200400" y="2304288"/>
            <a:ext cx="82296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preocupările ambelor părți sunt prea importante pentru un compromis</a:t>
            </a:r>
            <a:endParaRPr lang="en-US" sz="1550" dirty="0"/>
          </a:p>
        </p:txBody>
      </p:sp>
      <p:sp>
        <p:nvSpPr>
          <p:cNvPr id="10" name="Shape 8"/>
          <p:cNvSpPr/>
          <p:nvPr/>
        </p:nvSpPr>
        <p:spPr>
          <a:xfrm>
            <a:off x="594360" y="3054096"/>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1" name="Text 9"/>
          <p:cNvSpPr/>
          <p:nvPr/>
        </p:nvSpPr>
        <p:spPr>
          <a:xfrm>
            <a:off x="822960" y="3054096"/>
            <a:ext cx="2377440" cy="64008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Compromisul</a:t>
            </a:r>
            <a:endParaRPr lang="en-US" sz="1650" dirty="0"/>
          </a:p>
        </p:txBody>
      </p:sp>
      <p:sp>
        <p:nvSpPr>
          <p:cNvPr id="12" name="Text 10"/>
          <p:cNvSpPr/>
          <p:nvPr/>
        </p:nvSpPr>
        <p:spPr>
          <a:xfrm>
            <a:off x="3200400" y="3054096"/>
            <a:ext cx="82296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o soluție temporară, sub presiunea timpului, între părți egale</a:t>
            </a:r>
            <a:endParaRPr lang="en-US" sz="1550" dirty="0"/>
          </a:p>
        </p:txBody>
      </p:sp>
      <p:sp>
        <p:nvSpPr>
          <p:cNvPr id="13" name="Shape 11"/>
          <p:cNvSpPr/>
          <p:nvPr/>
        </p:nvSpPr>
        <p:spPr>
          <a:xfrm>
            <a:off x="594360" y="3803904"/>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14" name="Text 12"/>
          <p:cNvSpPr/>
          <p:nvPr/>
        </p:nvSpPr>
        <p:spPr>
          <a:xfrm>
            <a:off x="822960" y="3803904"/>
            <a:ext cx="2377440" cy="64008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Evitarea</a:t>
            </a:r>
            <a:endParaRPr lang="en-US" sz="1650" dirty="0"/>
          </a:p>
        </p:txBody>
      </p:sp>
      <p:sp>
        <p:nvSpPr>
          <p:cNvPr id="15" name="Text 13"/>
          <p:cNvSpPr/>
          <p:nvPr/>
        </p:nvSpPr>
        <p:spPr>
          <a:xfrm>
            <a:off x="3200400" y="3803904"/>
            <a:ext cx="82296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problema este neînsemnată sau oamenii trebuie să se calmeze</a:t>
            </a:r>
            <a:endParaRPr lang="en-US" sz="1550" dirty="0"/>
          </a:p>
        </p:txBody>
      </p:sp>
      <p:sp>
        <p:nvSpPr>
          <p:cNvPr id="16" name="Shape 14"/>
          <p:cNvSpPr/>
          <p:nvPr/>
        </p:nvSpPr>
        <p:spPr>
          <a:xfrm>
            <a:off x="594360" y="4553712"/>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7" name="Text 15"/>
          <p:cNvSpPr/>
          <p:nvPr/>
        </p:nvSpPr>
        <p:spPr>
          <a:xfrm>
            <a:off x="822960" y="4553712"/>
            <a:ext cx="2377440" cy="64008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Acomodarea</a:t>
            </a:r>
            <a:endParaRPr lang="en-US" sz="1650" dirty="0"/>
          </a:p>
        </p:txBody>
      </p:sp>
      <p:sp>
        <p:nvSpPr>
          <p:cNvPr id="18" name="Text 16"/>
          <p:cNvSpPr/>
          <p:nvPr/>
        </p:nvSpPr>
        <p:spPr>
          <a:xfrm>
            <a:off x="3200400" y="4553712"/>
            <a:ext cx="822960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descoperim că greșim sau armonia echipei contează mai mult</a:t>
            </a:r>
            <a:endParaRPr lang="en-US" sz="1550" dirty="0"/>
          </a:p>
        </p:txBody>
      </p:sp>
      <p:sp>
        <p:nvSpPr>
          <p:cNvPr id="19" name="Text 17"/>
          <p:cNvSpPr/>
          <p:nvPr/>
        </p:nvSpPr>
        <p:spPr>
          <a:xfrm>
            <a:off x="594360" y="5394960"/>
            <a:ext cx="10972800" cy="64008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Niciun stil nu este bun întotdeauna. Nivelurile asertivității și ale cooperării nu se evaluează.</a:t>
            </a:r>
            <a:endParaRPr lang="en-US" sz="1600" dirty="0"/>
          </a:p>
        </p:txBody>
      </p:sp>
      <p:sp>
        <p:nvSpPr>
          <p:cNvPr id="20" name="Text 18"/>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OpenStax, Organizational Behavior, 2019 (registru A1044, A1045).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CONFLICTELE · UN SINGUR RĂSPUNS CORECT</a:t>
            </a:r>
            <a:endParaRPr lang="en-US" sz="1300" dirty="0"/>
          </a:p>
        </p:txBody>
      </p:sp>
      <p:sp>
        <p:nvSpPr>
          <p:cNvPr id="5" name="Text 3"/>
          <p:cNvSpPr/>
          <p:nvPr/>
        </p:nvSpPr>
        <p:spPr>
          <a:xfrm>
            <a:off x="594360" y="868680"/>
            <a:ext cx="10972800" cy="1600200"/>
          </a:xfrm>
          <a:prstGeom prst="rect">
            <a:avLst/>
          </a:prstGeom>
          <a:noFill/>
          <a:ln/>
        </p:spPr>
        <p:txBody>
          <a:bodyPr wrap="square" lIns="0" tIns="0" rIns="0" bIns="0" rtlCol="0" anchor="ctr"/>
          <a:lstStyle/>
          <a:p>
            <a:pPr indent="0" marL="0">
              <a:buNone/>
            </a:pPr>
            <a:r>
              <a:rPr lang="en-US" sz="2500" b="1" dirty="0">
                <a:solidFill>
                  <a:srgbClr val="FFFFFF"/>
                </a:solidFill>
                <a:latin typeface="Palatino Linotype" pitchFamily="34" charset="0"/>
                <a:ea typeface="Palatino Linotype" pitchFamily="34" charset="-122"/>
                <a:cs typeface="Palatino Linotype" pitchFamily="34" charset="-120"/>
              </a:rPr>
              <a:t>De trei săptămâni, doi asistenți se ceartă pe împărțirea saloanelor. Amândoi au argumente bune, iar conflictul afectează echipa. Ce stil se potrivește?</a:t>
            </a:r>
            <a:endParaRPr lang="en-US" sz="2500" dirty="0"/>
          </a:p>
        </p:txBody>
      </p:sp>
      <p:sp>
        <p:nvSpPr>
          <p:cNvPr id="6" name="Shape 4"/>
          <p:cNvSpPr/>
          <p:nvPr/>
        </p:nvSpPr>
        <p:spPr>
          <a:xfrm>
            <a:off x="594360" y="26974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868680" y="2852928"/>
            <a:ext cx="420624" cy="420624"/>
          </a:xfrm>
          <a:prstGeom prst="ellipse">
            <a:avLst/>
          </a:prstGeom>
          <a:solidFill>
            <a:srgbClr val="FFC24B"/>
          </a:solidFill>
          <a:ln/>
        </p:spPr>
        <p:txBody>
          <a:bodyPr/>
          <a:p/>
        </p:txBody>
      </p:sp>
      <p:sp>
        <p:nvSpPr>
          <p:cNvPr id="8" name="Text 6"/>
          <p:cNvSpPr/>
          <p:nvPr/>
        </p:nvSpPr>
        <p:spPr>
          <a:xfrm>
            <a:off x="868680" y="2852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269748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Evitarea</a:t>
            </a:r>
            <a:endParaRPr lang="en-US" sz="2000" dirty="0"/>
          </a:p>
        </p:txBody>
      </p:sp>
      <p:sp>
        <p:nvSpPr>
          <p:cNvPr id="10" name="Shape 8"/>
          <p:cNvSpPr/>
          <p:nvPr/>
        </p:nvSpPr>
        <p:spPr>
          <a:xfrm>
            <a:off x="594360" y="35661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868680" y="3721608"/>
            <a:ext cx="420624" cy="420624"/>
          </a:xfrm>
          <a:prstGeom prst="ellipse">
            <a:avLst/>
          </a:prstGeom>
          <a:solidFill>
            <a:srgbClr val="FFC24B"/>
          </a:solidFill>
          <a:ln/>
        </p:spPr>
        <p:txBody>
          <a:bodyPr/>
          <a:p/>
        </p:txBody>
      </p:sp>
      <p:sp>
        <p:nvSpPr>
          <p:cNvPr id="12" name="Text 10"/>
          <p:cNvSpPr/>
          <p:nvPr/>
        </p:nvSpPr>
        <p:spPr>
          <a:xfrm>
            <a:off x="868680" y="3721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356616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Competiția</a:t>
            </a:r>
            <a:endParaRPr lang="en-US" sz="2000" dirty="0"/>
          </a:p>
        </p:txBody>
      </p:sp>
      <p:sp>
        <p:nvSpPr>
          <p:cNvPr id="14" name="Shape 12"/>
          <p:cNvSpPr/>
          <p:nvPr/>
        </p:nvSpPr>
        <p:spPr>
          <a:xfrm>
            <a:off x="594360" y="44348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5" name="Shape 13"/>
          <p:cNvSpPr/>
          <p:nvPr/>
        </p:nvSpPr>
        <p:spPr>
          <a:xfrm>
            <a:off x="868680" y="4590288"/>
            <a:ext cx="420624" cy="420624"/>
          </a:xfrm>
          <a:prstGeom prst="ellipse">
            <a:avLst/>
          </a:prstGeom>
          <a:solidFill>
            <a:srgbClr val="FFC24B"/>
          </a:solidFill>
          <a:ln/>
        </p:spPr>
        <p:txBody>
          <a:bodyPr/>
          <a:p/>
        </p:txBody>
      </p:sp>
      <p:sp>
        <p:nvSpPr>
          <p:cNvPr id="16" name="Text 14"/>
          <p:cNvSpPr/>
          <p:nvPr/>
        </p:nvSpPr>
        <p:spPr>
          <a:xfrm>
            <a:off x="868680" y="4590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443484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Colaborarea</a:t>
            </a:r>
            <a:endParaRPr lang="en-US" sz="2000" dirty="0"/>
          </a:p>
        </p:txBody>
      </p:sp>
      <p:sp>
        <p:nvSpPr>
          <p:cNvPr id="18" name="Text 16"/>
          <p:cNvSpPr/>
          <p:nvPr/>
        </p:nvSpPr>
        <p:spPr>
          <a:xfrm>
            <a:off x="594360" y="544068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fără să vedeți votul celorlalți.</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 Colaborarea</a:t>
            </a:r>
            <a:endParaRPr lang="en-US" sz="3200" dirty="0"/>
          </a:p>
        </p:txBody>
      </p:sp>
      <p:sp>
        <p:nvSpPr>
          <p:cNvPr id="4" name="Shape 2"/>
          <p:cNvSpPr/>
          <p:nvPr/>
        </p:nvSpPr>
        <p:spPr>
          <a:xfrm>
            <a:off x="594360" y="1691640"/>
            <a:ext cx="2651760" cy="1371600"/>
          </a:xfrm>
          <a:prstGeom prst="roundRect">
            <a:avLst>
              <a:gd name="adj" fmla="val 6000"/>
            </a:avLst>
          </a:prstGeom>
          <a:solidFill>
            <a:srgbClr val="ECEAE4"/>
          </a:solidFill>
          <a:ln w="12700">
            <a:solidFill>
              <a:srgbClr val="ECEAE4"/>
            </a:solidFill>
            <a:prstDash val="solid"/>
          </a:ln>
        </p:spPr>
        <p:txBody>
          <a:bodyPr/>
          <a:p/>
        </p:txBody>
      </p:sp>
      <p:sp>
        <p:nvSpPr>
          <p:cNvPr id="5" name="Text 3"/>
          <p:cNvSpPr/>
          <p:nvPr/>
        </p:nvSpPr>
        <p:spPr>
          <a:xfrm>
            <a:off x="777240" y="1691640"/>
            <a:ext cx="2286000" cy="1371600"/>
          </a:xfrm>
          <a:prstGeom prst="rect">
            <a:avLst/>
          </a:prstGeom>
          <a:noFill/>
          <a:ln/>
        </p:spPr>
        <p:txBody>
          <a:bodyPr wrap="square" lIns="0" tIns="0" rIns="0" bIns="0" rtlCol="0" anchor="ctr"/>
          <a:lstStyle/>
          <a:p>
            <a:pPr algn="ctr" indent="0" marL="0">
              <a:buNone/>
            </a:pPr>
            <a:r>
              <a:rPr lang="en-US" sz="1650" b="1" dirty="0">
                <a:solidFill>
                  <a:srgbClr val="0E7C6B"/>
                </a:solidFill>
                <a:latin typeface="Palatino Linotype" pitchFamily="34" charset="0"/>
                <a:ea typeface="Palatino Linotype" pitchFamily="34" charset="-122"/>
                <a:cs typeface="Palatino Linotype" pitchFamily="34" charset="-120"/>
              </a:rPr>
              <a:t>Conflictul este important</a:t>
            </a:r>
            <a:endParaRPr lang="en-US" sz="1650" dirty="0"/>
          </a:p>
        </p:txBody>
      </p:sp>
      <p:sp>
        <p:nvSpPr>
          <p:cNvPr id="6" name="Shape 4"/>
          <p:cNvSpPr/>
          <p:nvPr/>
        </p:nvSpPr>
        <p:spPr>
          <a:xfrm>
            <a:off x="3383280" y="1691640"/>
            <a:ext cx="2651760" cy="1371600"/>
          </a:xfrm>
          <a:prstGeom prst="roundRect">
            <a:avLst>
              <a:gd name="adj" fmla="val 6000"/>
            </a:avLst>
          </a:prstGeom>
          <a:solidFill>
            <a:srgbClr val="F9F8F5"/>
          </a:solidFill>
          <a:ln w="12700">
            <a:solidFill>
              <a:srgbClr val="F9F8F5"/>
            </a:solidFill>
            <a:prstDash val="solid"/>
          </a:ln>
        </p:spPr>
        <p:txBody>
          <a:bodyPr/>
          <a:p/>
        </p:txBody>
      </p:sp>
      <p:sp>
        <p:nvSpPr>
          <p:cNvPr id="7" name="Text 5"/>
          <p:cNvSpPr/>
          <p:nvPr/>
        </p:nvSpPr>
        <p:spPr>
          <a:xfrm>
            <a:off x="3566160" y="1691640"/>
            <a:ext cx="2286000" cy="1371600"/>
          </a:xfrm>
          <a:prstGeom prst="rect">
            <a:avLst/>
          </a:prstGeom>
          <a:noFill/>
          <a:ln/>
        </p:spPr>
        <p:txBody>
          <a:bodyPr wrap="square" lIns="0" tIns="0" rIns="0" bIns="0" rtlCol="0" anchor="ctr"/>
          <a:lstStyle/>
          <a:p>
            <a:pPr algn="ctr" indent="0" marL="0">
              <a:buNone/>
            </a:pPr>
            <a:r>
              <a:rPr lang="en-US" sz="1650" b="1" dirty="0">
                <a:solidFill>
                  <a:srgbClr val="0E7C6B"/>
                </a:solidFill>
                <a:latin typeface="Palatino Linotype" pitchFamily="34" charset="0"/>
                <a:ea typeface="Palatino Linotype" pitchFamily="34" charset="-122"/>
                <a:cs typeface="Palatino Linotype" pitchFamily="34" charset="-120"/>
              </a:rPr>
              <a:t>Durează</a:t>
            </a:r>
            <a:endParaRPr lang="en-US" sz="1650" dirty="0"/>
          </a:p>
        </p:txBody>
      </p:sp>
      <p:sp>
        <p:nvSpPr>
          <p:cNvPr id="8" name="Shape 6"/>
          <p:cNvSpPr/>
          <p:nvPr/>
        </p:nvSpPr>
        <p:spPr>
          <a:xfrm>
            <a:off x="6172200" y="1691640"/>
            <a:ext cx="2651760" cy="1371600"/>
          </a:xfrm>
          <a:prstGeom prst="roundRect">
            <a:avLst>
              <a:gd name="adj" fmla="val 6000"/>
            </a:avLst>
          </a:prstGeom>
          <a:solidFill>
            <a:srgbClr val="ECEAE4"/>
          </a:solidFill>
          <a:ln w="12700">
            <a:solidFill>
              <a:srgbClr val="ECEAE4"/>
            </a:solidFill>
            <a:prstDash val="solid"/>
          </a:ln>
        </p:spPr>
        <p:txBody>
          <a:bodyPr/>
          <a:p/>
        </p:txBody>
      </p:sp>
      <p:sp>
        <p:nvSpPr>
          <p:cNvPr id="9" name="Text 7"/>
          <p:cNvSpPr/>
          <p:nvPr/>
        </p:nvSpPr>
        <p:spPr>
          <a:xfrm>
            <a:off x="6355080" y="1691640"/>
            <a:ext cx="2286000" cy="1371600"/>
          </a:xfrm>
          <a:prstGeom prst="rect">
            <a:avLst/>
          </a:prstGeom>
          <a:noFill/>
          <a:ln/>
        </p:spPr>
        <p:txBody>
          <a:bodyPr wrap="square" lIns="0" tIns="0" rIns="0" bIns="0" rtlCol="0" anchor="ctr"/>
          <a:lstStyle/>
          <a:p>
            <a:pPr algn="ctr" indent="0" marL="0">
              <a:buNone/>
            </a:pPr>
            <a:r>
              <a:rPr lang="en-US" sz="1650" b="1" dirty="0">
                <a:solidFill>
                  <a:srgbClr val="0E7C6B"/>
                </a:solidFill>
                <a:latin typeface="Palatino Linotype" pitchFamily="34" charset="0"/>
                <a:ea typeface="Palatino Linotype" pitchFamily="34" charset="-122"/>
                <a:cs typeface="Palatino Linotype" pitchFamily="34" charset="-120"/>
              </a:rPr>
              <a:t>Are argumente de ambele părți</a:t>
            </a:r>
            <a:endParaRPr lang="en-US" sz="1650" dirty="0"/>
          </a:p>
        </p:txBody>
      </p:sp>
      <p:sp>
        <p:nvSpPr>
          <p:cNvPr id="10" name="Shape 8"/>
          <p:cNvSpPr/>
          <p:nvPr/>
        </p:nvSpPr>
        <p:spPr>
          <a:xfrm>
            <a:off x="8961120" y="1691640"/>
            <a:ext cx="2651760" cy="1371600"/>
          </a:xfrm>
          <a:prstGeom prst="roundRect">
            <a:avLst>
              <a:gd name="adj" fmla="val 6000"/>
            </a:avLst>
          </a:prstGeom>
          <a:solidFill>
            <a:srgbClr val="F9F8F5"/>
          </a:solidFill>
          <a:ln w="12700">
            <a:solidFill>
              <a:srgbClr val="F9F8F5"/>
            </a:solidFill>
            <a:prstDash val="solid"/>
          </a:ln>
        </p:spPr>
        <p:txBody>
          <a:bodyPr/>
          <a:p/>
        </p:txBody>
      </p:sp>
      <p:sp>
        <p:nvSpPr>
          <p:cNvPr id="11" name="Text 9"/>
          <p:cNvSpPr/>
          <p:nvPr/>
        </p:nvSpPr>
        <p:spPr>
          <a:xfrm>
            <a:off x="9144000" y="1691640"/>
            <a:ext cx="2286000" cy="1371600"/>
          </a:xfrm>
          <a:prstGeom prst="rect">
            <a:avLst/>
          </a:prstGeom>
          <a:noFill/>
          <a:ln/>
        </p:spPr>
        <p:txBody>
          <a:bodyPr wrap="square" lIns="0" tIns="0" rIns="0" bIns="0" rtlCol="0" anchor="ctr"/>
          <a:lstStyle/>
          <a:p>
            <a:pPr algn="ctr" indent="0" marL="0">
              <a:buNone/>
            </a:pPr>
            <a:r>
              <a:rPr lang="en-US" sz="1650" b="1" dirty="0">
                <a:solidFill>
                  <a:srgbClr val="0E7C6B"/>
                </a:solidFill>
                <a:latin typeface="Palatino Linotype" pitchFamily="34" charset="0"/>
                <a:ea typeface="Palatino Linotype" pitchFamily="34" charset="-122"/>
                <a:cs typeface="Palatino Linotype" pitchFamily="34" charset="-120"/>
              </a:rPr>
              <a:t>Timpul permite o soluție comună</a:t>
            </a:r>
            <a:endParaRPr lang="en-US" sz="1650" dirty="0"/>
          </a:p>
        </p:txBody>
      </p:sp>
      <p:sp>
        <p:nvSpPr>
          <p:cNvPr id="12" name="Text 10"/>
          <p:cNvSpPr/>
          <p:nvPr/>
        </p:nvSpPr>
        <p:spPr>
          <a:xfrm>
            <a:off x="594360" y="3429000"/>
            <a:ext cx="10972800" cy="64008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Evitarea ar lăsa problema să crească; competiția ar strica relațiile.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SFÂRȘITUL PĂRȚII ÎNTÂI</a:t>
            </a:r>
            <a:endParaRPr lang="en-US" sz="1300" dirty="0"/>
          </a:p>
        </p:txBody>
      </p:sp>
      <p:sp>
        <p:nvSpPr>
          <p:cNvPr id="3" name="Shape 1"/>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NORUL DE CUVINTE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au descris cuvintele voastre?</a:t>
            </a:r>
            <a:endParaRPr lang="en-US" sz="3200" dirty="0"/>
          </a:p>
        </p:txBody>
      </p:sp>
      <p:sp>
        <p:nvSpPr>
          <p:cNvPr id="6" name="Shape 4"/>
          <p:cNvSpPr/>
          <p:nvPr/>
        </p:nvSpPr>
        <p:spPr>
          <a:xfrm>
            <a:off x="594360" y="1737360"/>
            <a:ext cx="5394960" cy="2377440"/>
          </a:xfrm>
          <a:prstGeom prst="roundRect">
            <a:avLst>
              <a:gd name="adj" fmla="val 3462"/>
            </a:avLst>
          </a:prstGeom>
          <a:solidFill>
            <a:srgbClr val="1D1F2B"/>
          </a:solidFill>
          <a:ln w="12700">
            <a:solidFill>
              <a:srgbClr val="1D1F2B"/>
            </a:solidFill>
            <a:prstDash val="solid"/>
          </a:ln>
        </p:spPr>
        <p:txBody>
          <a:bodyPr/>
          <a:p/>
        </p:txBody>
      </p:sp>
      <p:sp>
        <p:nvSpPr>
          <p:cNvPr id="7" name="Text 5"/>
          <p:cNvSpPr/>
          <p:nvPr/>
        </p:nvSpPr>
        <p:spPr>
          <a:xfrm>
            <a:off x="868680" y="1874520"/>
            <a:ext cx="4846320" cy="100584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„Empatie”, „calm”, „încredere”, „ascultare”</a:t>
            </a:r>
            <a:endParaRPr lang="en-US" sz="1900" dirty="0"/>
          </a:p>
        </p:txBody>
      </p:sp>
      <p:sp>
        <p:nvSpPr>
          <p:cNvPr id="8" name="Text 6"/>
          <p:cNvSpPr/>
          <p:nvPr/>
        </p:nvSpPr>
        <p:spPr>
          <a:xfrm>
            <a:off x="868680" y="2926080"/>
            <a:ext cx="4846320" cy="100584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inteligența emoțională și puterea de referință</a:t>
            </a:r>
            <a:endParaRPr lang="en-US" sz="1700" dirty="0"/>
          </a:p>
        </p:txBody>
      </p:sp>
      <p:sp>
        <p:nvSpPr>
          <p:cNvPr id="9" name="Shape 7"/>
          <p:cNvSpPr/>
          <p:nvPr/>
        </p:nvSpPr>
        <p:spPr>
          <a:xfrm>
            <a:off x="6172200" y="1737360"/>
            <a:ext cx="5394960" cy="2377440"/>
          </a:xfrm>
          <a:prstGeom prst="roundRect">
            <a:avLst>
              <a:gd name="adj" fmla="val 3462"/>
            </a:avLst>
          </a:prstGeom>
          <a:solidFill>
            <a:srgbClr val="1D1F2B"/>
          </a:solidFill>
          <a:ln w="12700">
            <a:solidFill>
              <a:srgbClr val="1D1F2B"/>
            </a:solidFill>
            <a:prstDash val="solid"/>
          </a:ln>
        </p:spPr>
        <p:txBody>
          <a:bodyPr/>
          <a:p/>
        </p:txBody>
      </p:sp>
      <p:sp>
        <p:nvSpPr>
          <p:cNvPr id="10" name="Text 8"/>
          <p:cNvSpPr/>
          <p:nvPr/>
        </p:nvSpPr>
        <p:spPr>
          <a:xfrm>
            <a:off x="6446520" y="1874520"/>
            <a:ext cx="4846320" cy="100584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„Organizare”, „corectitudine”</a:t>
            </a:r>
            <a:endParaRPr lang="en-US" sz="1900" dirty="0"/>
          </a:p>
        </p:txBody>
      </p:sp>
      <p:sp>
        <p:nvSpPr>
          <p:cNvPr id="11" name="Text 9"/>
          <p:cNvSpPr/>
          <p:nvPr/>
        </p:nvSpPr>
        <p:spPr>
          <a:xfrm>
            <a:off x="6446520" y="2926080"/>
            <a:ext cx="4846320" cy="100584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managementul</a:t>
            </a:r>
            <a:endParaRPr lang="en-US" sz="1700" dirty="0"/>
          </a:p>
        </p:txBody>
      </p:sp>
      <p:sp>
        <p:nvSpPr>
          <p:cNvPr id="12" name="Shape 10"/>
          <p:cNvSpPr/>
          <p:nvPr/>
        </p:nvSpPr>
        <p:spPr>
          <a:xfrm>
            <a:off x="594360" y="4434840"/>
            <a:ext cx="10972800" cy="914400"/>
          </a:xfrm>
          <a:prstGeom prst="roundRect">
            <a:avLst>
              <a:gd name="adj" fmla="val 9000"/>
            </a:avLst>
          </a:prstGeom>
          <a:solidFill>
            <a:srgbClr val="272A38"/>
          </a:solidFill>
          <a:ln w="12700">
            <a:solidFill>
              <a:srgbClr val="272A38"/>
            </a:solidFill>
            <a:prstDash val="solid"/>
          </a:ln>
        </p:spPr>
        <p:txBody>
          <a:bodyPr/>
          <a:p/>
        </p:txBody>
      </p:sp>
      <p:sp>
        <p:nvSpPr>
          <p:cNvPr id="13" name="Text 11"/>
          <p:cNvSpPr/>
          <p:nvPr/>
        </p:nvSpPr>
        <p:spPr>
          <a:xfrm>
            <a:off x="868680" y="4434840"/>
            <a:ext cx="10424160" cy="914400"/>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Nu există un singur stil corect, ci stilul potrivit situației.</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640080"/>
            <a:ext cx="420624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594360" y="640080"/>
            <a:ext cx="42062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PARTEA A DOUA · ACEEAȘI SECȚIE</a:t>
            </a:r>
            <a:endParaRPr lang="en-US" sz="1300" dirty="0"/>
          </a:p>
        </p:txBody>
      </p:sp>
      <p:sp>
        <p:nvSpPr>
          <p:cNvPr id="4" name="Text 2"/>
          <p:cNvSpPr/>
          <p:nvPr/>
        </p:nvSpPr>
        <p:spPr>
          <a:xfrm>
            <a:off x="594360" y="123444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Vizita anunțată</a:t>
            </a:r>
            <a:endParaRPr lang="en-US" sz="3800" dirty="0"/>
          </a:p>
        </p:txBody>
      </p:sp>
      <p:sp>
        <p:nvSpPr>
          <p:cNvPr id="5" name="Text 3"/>
          <p:cNvSpPr/>
          <p:nvPr/>
        </p:nvSpPr>
        <p:spPr>
          <a:xfrm>
            <a:off x="594360" y="2331720"/>
            <a:ext cx="10972800" cy="914400"/>
          </a:xfrm>
          <a:prstGeom prst="rect">
            <a:avLst/>
          </a:prstGeom>
          <a:noFill/>
          <a:ln/>
        </p:spPr>
        <p:txBody>
          <a:bodyPr wrap="square" lIns="0" tIns="0" rIns="0" bIns="0" rtlCol="0" anchor="t"/>
          <a:lstStyle/>
          <a:p>
            <a:pPr indent="0" marL="0">
              <a:buNone/>
            </a:pPr>
            <a:r>
              <a:rPr lang="en-US" sz="2100" dirty="0">
                <a:solidFill>
                  <a:srgbClr val="E6E8EF"/>
                </a:solidFill>
                <a:latin typeface="Palatino Linotype" pitchFamily="34" charset="0"/>
                <a:ea typeface="Palatino Linotype" pitchFamily="34" charset="-122"/>
                <a:cs typeface="Palatino Linotype" pitchFamily="34" charset="-120"/>
              </a:rPr>
              <a:t>Managerul spitalului îi cere Marei să pregătească secția pentru evaluarea ANMCS.</a:t>
            </a:r>
            <a:endParaRPr lang="en-US" sz="2100" dirty="0"/>
          </a:p>
        </p:txBody>
      </p:sp>
      <p:sp>
        <p:nvSpPr>
          <p:cNvPr id="6" name="Shape 4"/>
          <p:cNvSpPr/>
          <p:nvPr/>
        </p:nvSpPr>
        <p:spPr>
          <a:xfrm>
            <a:off x="594360" y="3566160"/>
            <a:ext cx="10972800" cy="1371600"/>
          </a:xfrm>
          <a:prstGeom prst="roundRect">
            <a:avLst>
              <a:gd name="adj" fmla="val 6000"/>
            </a:avLst>
          </a:prstGeom>
          <a:solidFill>
            <a:srgbClr val="272A38"/>
          </a:solidFill>
          <a:ln w="12700">
            <a:solidFill>
              <a:srgbClr val="272A38"/>
            </a:solidFill>
            <a:prstDash val="solid"/>
          </a:ln>
        </p:spPr>
        <p:txBody>
          <a:bodyPr/>
          <a:p/>
        </p:txBody>
      </p:sp>
      <p:sp>
        <p:nvSpPr>
          <p:cNvPr id="7" name="Text 5"/>
          <p:cNvSpPr/>
          <p:nvPr/>
        </p:nvSpPr>
        <p:spPr>
          <a:xfrm>
            <a:off x="868680" y="3566160"/>
            <a:ext cx="10424160" cy="1371600"/>
          </a:xfrm>
          <a:prstGeom prst="rect">
            <a:avLst/>
          </a:prstGeom>
          <a:noFill/>
          <a:ln/>
        </p:spPr>
        <p:txBody>
          <a:bodyPr wrap="square" lIns="0" tIns="0" rIns="0" bIns="0" rtlCol="0" anchor="ctr"/>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Ce înseamnă, de fapt, că îngrijirile de pe secție sunt „de calitate”? Și cine decide asta?</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LEGEA NR. 185/2017 · INSTITUTUL DE MEDICINĂ AL SUA, 1990</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Două definiții ale calității</a:t>
            </a:r>
            <a:endParaRPr lang="en-US" sz="3000" dirty="0"/>
          </a:p>
        </p:txBody>
      </p:sp>
      <p:sp>
        <p:nvSpPr>
          <p:cNvPr id="4" name="Shape 2"/>
          <p:cNvSpPr/>
          <p:nvPr/>
        </p:nvSpPr>
        <p:spPr>
          <a:xfrm>
            <a:off x="594360" y="1645920"/>
            <a:ext cx="5394960" cy="3840480"/>
          </a:xfrm>
          <a:prstGeom prst="roundRect">
            <a:avLst>
              <a:gd name="adj" fmla="val 2143"/>
            </a:avLst>
          </a:prstGeom>
          <a:solidFill>
            <a:srgbClr val="ECEAE4"/>
          </a:solidFill>
          <a:ln w="12700">
            <a:solidFill>
              <a:srgbClr val="ECEAE4"/>
            </a:solidFill>
            <a:prstDash val="solid"/>
          </a:ln>
        </p:spPr>
        <p:txBody>
          <a:bodyPr/>
          <a:p/>
        </p:txBody>
      </p:sp>
      <p:sp>
        <p:nvSpPr>
          <p:cNvPr id="5" name="Shape 3"/>
          <p:cNvSpPr/>
          <p:nvPr/>
        </p:nvSpPr>
        <p:spPr>
          <a:xfrm>
            <a:off x="594360" y="1645920"/>
            <a:ext cx="53949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4937760" cy="6858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Legea: conformarea la standarde</a:t>
            </a:r>
            <a:endParaRPr lang="en-US" sz="1800" dirty="0"/>
          </a:p>
        </p:txBody>
      </p:sp>
      <p:sp>
        <p:nvSpPr>
          <p:cNvPr id="7" name="Text 5"/>
          <p:cNvSpPr/>
          <p:nvPr/>
        </p:nvSpPr>
        <p:spPr>
          <a:xfrm>
            <a:off x="822960" y="2514600"/>
            <a:ext cx="4937760" cy="28346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„nivelul de conformare a serviciilor de sănătate la cerințele standardelor ANMCS, pentru a asigura pacienților cel mai bun rezultat, la cel mai bun cost, cu cel mai mic risc iatrogen […]”</a:t>
            </a:r>
            <a:endParaRPr lang="en-US" sz="1650" dirty="0"/>
          </a:p>
        </p:txBody>
      </p:sp>
      <p:sp>
        <p:nvSpPr>
          <p:cNvPr id="8" name="Shape 6"/>
          <p:cNvSpPr/>
          <p:nvPr/>
        </p:nvSpPr>
        <p:spPr>
          <a:xfrm>
            <a:off x="6172200" y="1645920"/>
            <a:ext cx="5394960" cy="3840480"/>
          </a:xfrm>
          <a:prstGeom prst="roundRect">
            <a:avLst>
              <a:gd name="adj" fmla="val 2143"/>
            </a:avLst>
          </a:prstGeom>
          <a:solidFill>
            <a:srgbClr val="F9F8F5"/>
          </a:solidFill>
          <a:ln w="12700">
            <a:solidFill>
              <a:srgbClr val="F9F8F5"/>
            </a:solidFill>
            <a:prstDash val="solid"/>
          </a:ln>
        </p:spPr>
        <p:txBody>
          <a:bodyPr/>
          <a:p/>
        </p:txBody>
      </p:sp>
      <p:sp>
        <p:nvSpPr>
          <p:cNvPr id="9" name="Shape 7"/>
          <p:cNvSpPr/>
          <p:nvPr/>
        </p:nvSpPr>
        <p:spPr>
          <a:xfrm>
            <a:off x="6172200" y="1645920"/>
            <a:ext cx="5394960" cy="73152"/>
          </a:xfrm>
          <a:prstGeom prst="rect">
            <a:avLst/>
          </a:prstGeom>
          <a:solidFill>
            <a:srgbClr val="B02532"/>
          </a:solidFill>
          <a:ln w="12700">
            <a:solidFill>
              <a:srgbClr val="B02532"/>
            </a:solidFill>
            <a:prstDash val="solid"/>
          </a:ln>
        </p:spPr>
        <p:txBody>
          <a:bodyPr/>
          <a:p/>
        </p:txBody>
      </p:sp>
      <p:sp>
        <p:nvSpPr>
          <p:cNvPr id="10" name="Text 8"/>
          <p:cNvSpPr/>
          <p:nvPr/>
        </p:nvSpPr>
        <p:spPr>
          <a:xfrm>
            <a:off x="6400800" y="1847088"/>
            <a:ext cx="4937760" cy="6858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Institutul de Medicină: rezultatele</a:t>
            </a:r>
            <a:endParaRPr lang="en-US" sz="1800" dirty="0"/>
          </a:p>
        </p:txBody>
      </p:sp>
      <p:sp>
        <p:nvSpPr>
          <p:cNvPr id="11" name="Text 9"/>
          <p:cNvSpPr/>
          <p:nvPr/>
        </p:nvSpPr>
        <p:spPr>
          <a:xfrm>
            <a:off x="6400800" y="2514600"/>
            <a:ext cx="4937760" cy="28346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„măsura în care serviciile de sănătate pentru persoane și populații cresc probabilitatea rezultatelor de sănătate dorite și sunt în acord cu cunoștințele profesionale actuale”</a:t>
            </a:r>
            <a:endParaRPr lang="en-US" sz="1650" dirty="0"/>
          </a:p>
        </p:txBody>
      </p:sp>
      <p:sp>
        <p:nvSpPr>
          <p:cNvPr id="12" name="Text 10"/>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Legea nr. 185/2017 (registru A1022); Busse și colab., 2019 (registru A1013).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INSTITUTUL DE MEDICINĂ AL SUA, 2001</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Șase dimensiuni ale calității</a:t>
            </a:r>
            <a:endParaRPr lang="en-US" sz="3000" dirty="0"/>
          </a:p>
        </p:txBody>
      </p:sp>
      <p:sp>
        <p:nvSpPr>
          <p:cNvPr id="4" name="Shape 2"/>
          <p:cNvSpPr/>
          <p:nvPr/>
        </p:nvSpPr>
        <p:spPr>
          <a:xfrm>
            <a:off x="594360" y="1645920"/>
            <a:ext cx="3566160" cy="1280160"/>
          </a:xfrm>
          <a:prstGeom prst="roundRect">
            <a:avLst>
              <a:gd name="adj" fmla="val 6429"/>
            </a:avLst>
          </a:prstGeom>
          <a:solidFill>
            <a:srgbClr val="ECEAE4"/>
          </a:solidFill>
          <a:ln w="12700">
            <a:solidFill>
              <a:srgbClr val="ECEAE4"/>
            </a:solidFill>
            <a:prstDash val="solid"/>
          </a:ln>
        </p:spPr>
        <p:txBody>
          <a:bodyPr/>
          <a:p/>
        </p:txBody>
      </p:sp>
      <p:sp>
        <p:nvSpPr>
          <p:cNvPr id="5" name="Text 3"/>
          <p:cNvSpPr/>
          <p:nvPr/>
        </p:nvSpPr>
        <p:spPr>
          <a:xfrm>
            <a:off x="777240" y="175564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Sigură</a:t>
            </a:r>
            <a:endParaRPr lang="en-US" sz="1800" dirty="0"/>
          </a:p>
        </p:txBody>
      </p:sp>
      <p:sp>
        <p:nvSpPr>
          <p:cNvPr id="6" name="Text 4"/>
          <p:cNvSpPr/>
          <p:nvPr/>
        </p:nvSpPr>
        <p:spPr>
          <a:xfrm>
            <a:off x="777240" y="224028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fără vătămare prin chiar îngrijirea</a:t>
            </a:r>
            <a:endParaRPr lang="en-US" sz="1500" dirty="0"/>
          </a:p>
        </p:txBody>
      </p:sp>
      <p:sp>
        <p:nvSpPr>
          <p:cNvPr id="7" name="Shape 5"/>
          <p:cNvSpPr/>
          <p:nvPr/>
        </p:nvSpPr>
        <p:spPr>
          <a:xfrm>
            <a:off x="4297680" y="1645920"/>
            <a:ext cx="3566160" cy="1280160"/>
          </a:xfrm>
          <a:prstGeom prst="roundRect">
            <a:avLst>
              <a:gd name="adj" fmla="val 6429"/>
            </a:avLst>
          </a:prstGeom>
          <a:solidFill>
            <a:srgbClr val="F9F8F5"/>
          </a:solidFill>
          <a:ln w="12700">
            <a:solidFill>
              <a:srgbClr val="F9F8F5"/>
            </a:solidFill>
            <a:prstDash val="solid"/>
          </a:ln>
        </p:spPr>
        <p:txBody>
          <a:bodyPr/>
          <a:p/>
        </p:txBody>
      </p:sp>
      <p:sp>
        <p:nvSpPr>
          <p:cNvPr id="8" name="Text 6"/>
          <p:cNvSpPr/>
          <p:nvPr/>
        </p:nvSpPr>
        <p:spPr>
          <a:xfrm>
            <a:off x="4480560" y="175564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Eficace</a:t>
            </a:r>
            <a:endParaRPr lang="en-US" sz="1800" dirty="0"/>
          </a:p>
        </p:txBody>
      </p:sp>
      <p:sp>
        <p:nvSpPr>
          <p:cNvPr id="9" name="Text 7"/>
          <p:cNvSpPr/>
          <p:nvPr/>
        </p:nvSpPr>
        <p:spPr>
          <a:xfrm>
            <a:off x="4480560" y="224028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bazată pe dovezi, pentru cei care pot beneficia</a:t>
            </a:r>
            <a:endParaRPr lang="en-US" sz="1500" dirty="0"/>
          </a:p>
        </p:txBody>
      </p:sp>
      <p:sp>
        <p:nvSpPr>
          <p:cNvPr id="10" name="Shape 8"/>
          <p:cNvSpPr/>
          <p:nvPr/>
        </p:nvSpPr>
        <p:spPr>
          <a:xfrm>
            <a:off x="8001000" y="1645920"/>
            <a:ext cx="3566160" cy="1280160"/>
          </a:xfrm>
          <a:prstGeom prst="roundRect">
            <a:avLst>
              <a:gd name="adj" fmla="val 6429"/>
            </a:avLst>
          </a:prstGeom>
          <a:solidFill>
            <a:srgbClr val="ECEAE4"/>
          </a:solidFill>
          <a:ln w="12700">
            <a:solidFill>
              <a:srgbClr val="ECEAE4"/>
            </a:solidFill>
            <a:prstDash val="solid"/>
          </a:ln>
        </p:spPr>
        <p:txBody>
          <a:bodyPr/>
          <a:p/>
        </p:txBody>
      </p:sp>
      <p:sp>
        <p:nvSpPr>
          <p:cNvPr id="11" name="Text 9"/>
          <p:cNvSpPr/>
          <p:nvPr/>
        </p:nvSpPr>
        <p:spPr>
          <a:xfrm>
            <a:off x="8183880" y="175564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Centrată pe pacient</a:t>
            </a:r>
            <a:endParaRPr lang="en-US" sz="1800" dirty="0"/>
          </a:p>
        </p:txBody>
      </p:sp>
      <p:sp>
        <p:nvSpPr>
          <p:cNvPr id="12" name="Text 10"/>
          <p:cNvSpPr/>
          <p:nvPr/>
        </p:nvSpPr>
        <p:spPr>
          <a:xfrm>
            <a:off x="8183880" y="224028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preferințele, nevoile, valorile lui</a:t>
            </a:r>
            <a:endParaRPr lang="en-US" sz="1500" dirty="0"/>
          </a:p>
        </p:txBody>
      </p:sp>
      <p:sp>
        <p:nvSpPr>
          <p:cNvPr id="13" name="Shape 11"/>
          <p:cNvSpPr/>
          <p:nvPr/>
        </p:nvSpPr>
        <p:spPr>
          <a:xfrm>
            <a:off x="594360" y="3063240"/>
            <a:ext cx="3566160" cy="1280160"/>
          </a:xfrm>
          <a:prstGeom prst="roundRect">
            <a:avLst>
              <a:gd name="adj" fmla="val 6429"/>
            </a:avLst>
          </a:prstGeom>
          <a:solidFill>
            <a:srgbClr val="F9F8F5"/>
          </a:solidFill>
          <a:ln w="12700">
            <a:solidFill>
              <a:srgbClr val="F9F8F5"/>
            </a:solidFill>
            <a:prstDash val="solid"/>
          </a:ln>
        </p:spPr>
        <p:txBody>
          <a:bodyPr/>
          <a:p/>
        </p:txBody>
      </p:sp>
      <p:sp>
        <p:nvSpPr>
          <p:cNvPr id="14" name="Text 12"/>
          <p:cNvSpPr/>
          <p:nvPr/>
        </p:nvSpPr>
        <p:spPr>
          <a:xfrm>
            <a:off x="777240" y="317296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Promptă</a:t>
            </a:r>
            <a:endParaRPr lang="en-US" sz="1800" dirty="0"/>
          </a:p>
        </p:txBody>
      </p:sp>
      <p:sp>
        <p:nvSpPr>
          <p:cNvPr id="15" name="Text 13"/>
          <p:cNvSpPr/>
          <p:nvPr/>
        </p:nvSpPr>
        <p:spPr>
          <a:xfrm>
            <a:off x="777240" y="365760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fără așteptări care fac rău</a:t>
            </a:r>
            <a:endParaRPr lang="en-US" sz="1500" dirty="0"/>
          </a:p>
        </p:txBody>
      </p:sp>
      <p:sp>
        <p:nvSpPr>
          <p:cNvPr id="16" name="Shape 14"/>
          <p:cNvSpPr/>
          <p:nvPr/>
        </p:nvSpPr>
        <p:spPr>
          <a:xfrm>
            <a:off x="4297680" y="3063240"/>
            <a:ext cx="3566160" cy="1280160"/>
          </a:xfrm>
          <a:prstGeom prst="roundRect">
            <a:avLst>
              <a:gd name="adj" fmla="val 6429"/>
            </a:avLst>
          </a:prstGeom>
          <a:solidFill>
            <a:srgbClr val="ECEAE4"/>
          </a:solidFill>
          <a:ln w="12700">
            <a:solidFill>
              <a:srgbClr val="ECEAE4"/>
            </a:solidFill>
            <a:prstDash val="solid"/>
          </a:ln>
        </p:spPr>
        <p:txBody>
          <a:bodyPr/>
          <a:p/>
        </p:txBody>
      </p:sp>
      <p:sp>
        <p:nvSpPr>
          <p:cNvPr id="17" name="Text 15"/>
          <p:cNvSpPr/>
          <p:nvPr/>
        </p:nvSpPr>
        <p:spPr>
          <a:xfrm>
            <a:off x="4480560" y="317296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Eficientă</a:t>
            </a:r>
            <a:endParaRPr lang="en-US" sz="1800" dirty="0"/>
          </a:p>
        </p:txBody>
      </p:sp>
      <p:sp>
        <p:nvSpPr>
          <p:cNvPr id="18" name="Text 16"/>
          <p:cNvSpPr/>
          <p:nvPr/>
        </p:nvSpPr>
        <p:spPr>
          <a:xfrm>
            <a:off x="4480560" y="365760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fără risipă</a:t>
            </a:r>
            <a:endParaRPr lang="en-US" sz="1500" dirty="0"/>
          </a:p>
        </p:txBody>
      </p:sp>
      <p:sp>
        <p:nvSpPr>
          <p:cNvPr id="19" name="Shape 17"/>
          <p:cNvSpPr/>
          <p:nvPr/>
        </p:nvSpPr>
        <p:spPr>
          <a:xfrm>
            <a:off x="8001000" y="3063240"/>
            <a:ext cx="3566160" cy="1280160"/>
          </a:xfrm>
          <a:prstGeom prst="roundRect">
            <a:avLst>
              <a:gd name="adj" fmla="val 6429"/>
            </a:avLst>
          </a:prstGeom>
          <a:solidFill>
            <a:srgbClr val="F9F8F5"/>
          </a:solidFill>
          <a:ln w="12700">
            <a:solidFill>
              <a:srgbClr val="F9F8F5"/>
            </a:solidFill>
            <a:prstDash val="solid"/>
          </a:ln>
        </p:spPr>
        <p:txBody>
          <a:bodyPr/>
          <a:p/>
        </p:txBody>
      </p:sp>
      <p:sp>
        <p:nvSpPr>
          <p:cNvPr id="20" name="Text 18"/>
          <p:cNvSpPr/>
          <p:nvPr/>
        </p:nvSpPr>
        <p:spPr>
          <a:xfrm>
            <a:off x="8183880" y="3172968"/>
            <a:ext cx="32004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Echitabilă</a:t>
            </a:r>
            <a:endParaRPr lang="en-US" sz="1800" dirty="0"/>
          </a:p>
        </p:txBody>
      </p:sp>
      <p:sp>
        <p:nvSpPr>
          <p:cNvPr id="21" name="Text 19"/>
          <p:cNvSpPr/>
          <p:nvPr/>
        </p:nvSpPr>
        <p:spPr>
          <a:xfrm>
            <a:off x="8183880" y="3657600"/>
            <a:ext cx="32004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aceeași calitate pentru oricine</a:t>
            </a:r>
            <a:endParaRPr lang="en-US" sz="1500" dirty="0"/>
          </a:p>
        </p:txBody>
      </p:sp>
      <p:sp>
        <p:nvSpPr>
          <p:cNvPr id="22" name="Shape 20"/>
          <p:cNvSpPr/>
          <p:nvPr/>
        </p:nvSpPr>
        <p:spPr>
          <a:xfrm>
            <a:off x="594360" y="4572000"/>
            <a:ext cx="10972800" cy="1188720"/>
          </a:xfrm>
          <a:prstGeom prst="roundRect">
            <a:avLst>
              <a:gd name="adj" fmla="val 6923"/>
            </a:avLst>
          </a:prstGeom>
          <a:solidFill>
            <a:srgbClr val="11121A"/>
          </a:solidFill>
          <a:ln w="12700">
            <a:solidFill>
              <a:srgbClr val="11121A"/>
            </a:solidFill>
            <a:prstDash val="solid"/>
          </a:ln>
        </p:spPr>
        <p:txBody>
          <a:bodyPr/>
          <a:p/>
        </p:txBody>
      </p:sp>
      <p:sp>
        <p:nvSpPr>
          <p:cNvPr id="23" name="Text 21"/>
          <p:cNvSpPr/>
          <p:nvPr/>
        </p:nvSpPr>
        <p:spPr>
          <a:xfrm>
            <a:off x="868680" y="4572000"/>
            <a:ext cx="10424160" cy="1188720"/>
          </a:xfrm>
          <a:prstGeom prst="rect">
            <a:avLst/>
          </a:prstGeom>
          <a:noFill/>
          <a:ln/>
        </p:spPr>
        <p:txBody>
          <a:bodyPr wrap="square" lIns="0" tIns="0" rIns="0" bIns="0" rtlCol="0" anchor="ctr"/>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La nivelul serviciilor de sănătate pare să se contureze un consens: eficace, sigure, centrate pe oameni.</a:t>
            </a:r>
            <a:endParaRPr lang="en-US" sz="1700" dirty="0"/>
          </a:p>
        </p:txBody>
      </p:sp>
      <p:sp>
        <p:nvSpPr>
          <p:cNvPr id="24" name="Text 22"/>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A1014, A1032); explicațiile: convenție a cursului.</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MODELUL LUI DONABEDIAN</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APLICAȚI PE SECȚIA MAREI</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Structură, proces, rezultat</a:t>
            </a:r>
            <a:endParaRPr lang="en-US" sz="3200" dirty="0"/>
          </a:p>
        </p:txBody>
      </p:sp>
      <p:sp>
        <p:nvSpPr>
          <p:cNvPr id="6" name="Shape 4"/>
          <p:cNvSpPr/>
          <p:nvPr/>
        </p:nvSpPr>
        <p:spPr>
          <a:xfrm>
            <a:off x="594360" y="1645920"/>
            <a:ext cx="3383280" cy="2697480"/>
          </a:xfrm>
          <a:prstGeom prst="roundRect">
            <a:avLst>
              <a:gd name="adj" fmla="val 3051"/>
            </a:avLst>
          </a:prstGeom>
          <a:solidFill>
            <a:srgbClr val="ECEAE4"/>
          </a:solidFill>
          <a:ln w="12700">
            <a:solidFill>
              <a:srgbClr val="ECEAE4"/>
            </a:solidFill>
            <a:prstDash val="solid"/>
          </a:ln>
        </p:spPr>
        <p:txBody>
          <a:bodyPr/>
          <a:p/>
        </p:txBody>
      </p:sp>
      <p:sp>
        <p:nvSpPr>
          <p:cNvPr id="7" name="Shape 5"/>
          <p:cNvSpPr/>
          <p:nvPr/>
        </p:nvSpPr>
        <p:spPr>
          <a:xfrm>
            <a:off x="594360" y="1645920"/>
            <a:ext cx="3383280" cy="73152"/>
          </a:xfrm>
          <a:prstGeom prst="rect">
            <a:avLst/>
          </a:prstGeom>
          <a:solidFill>
            <a:srgbClr val="0E7C6B"/>
          </a:solidFill>
          <a:ln w="12700">
            <a:solidFill>
              <a:srgbClr val="0E7C6B"/>
            </a:solidFill>
            <a:prstDash val="solid"/>
          </a:ln>
        </p:spPr>
        <p:txBody>
          <a:bodyPr/>
          <a:p/>
        </p:txBody>
      </p:sp>
      <p:sp>
        <p:nvSpPr>
          <p:cNvPr id="8" name="Text 6"/>
          <p:cNvSpPr/>
          <p:nvPr/>
        </p:nvSpPr>
        <p:spPr>
          <a:xfrm>
            <a:off x="822960" y="1847088"/>
            <a:ext cx="292608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Structura</a:t>
            </a:r>
            <a:endParaRPr lang="en-US" sz="1900" dirty="0"/>
          </a:p>
        </p:txBody>
      </p:sp>
      <p:sp>
        <p:nvSpPr>
          <p:cNvPr id="9" name="Text 7"/>
          <p:cNvSpPr/>
          <p:nvPr/>
        </p:nvSpPr>
        <p:spPr>
          <a:xfrm>
            <a:off x="822960" y="2514600"/>
            <a:ext cx="2926080" cy="16916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asistenții din fiecare tură, pregătirea lor, saltelele pentru prevenirea escarelor, protocoalele scrise</a:t>
            </a:r>
            <a:endParaRPr lang="en-US" sz="1500" dirty="0"/>
          </a:p>
        </p:txBody>
      </p:sp>
      <p:sp>
        <p:nvSpPr>
          <p:cNvPr id="10" name="Shape 8"/>
          <p:cNvSpPr/>
          <p:nvPr/>
        </p:nvSpPr>
        <p:spPr>
          <a:xfrm>
            <a:off x="4023360" y="2743200"/>
            <a:ext cx="365760" cy="310896"/>
          </a:xfrm>
          <a:prstGeom prst="rightArrow">
            <a:avLst/>
          </a:prstGeom>
          <a:solidFill>
            <a:srgbClr val="C9C6BE"/>
          </a:solidFill>
          <a:ln w="12700">
            <a:solidFill>
              <a:srgbClr val="C9C6BE"/>
            </a:solidFill>
            <a:prstDash val="solid"/>
          </a:ln>
        </p:spPr>
        <p:txBody>
          <a:bodyPr/>
          <a:p/>
        </p:txBody>
      </p:sp>
      <p:sp>
        <p:nvSpPr>
          <p:cNvPr id="11" name="Shape 9"/>
          <p:cNvSpPr/>
          <p:nvPr/>
        </p:nvSpPr>
        <p:spPr>
          <a:xfrm>
            <a:off x="4434840" y="1645920"/>
            <a:ext cx="3383280" cy="2697480"/>
          </a:xfrm>
          <a:prstGeom prst="roundRect">
            <a:avLst>
              <a:gd name="adj" fmla="val 3051"/>
            </a:avLst>
          </a:prstGeom>
          <a:solidFill>
            <a:srgbClr val="F9F8F5"/>
          </a:solidFill>
          <a:ln w="12700">
            <a:solidFill>
              <a:srgbClr val="F9F8F5"/>
            </a:solidFill>
            <a:prstDash val="solid"/>
          </a:ln>
        </p:spPr>
        <p:txBody>
          <a:bodyPr/>
          <a:p/>
        </p:txBody>
      </p:sp>
      <p:sp>
        <p:nvSpPr>
          <p:cNvPr id="12" name="Shape 10"/>
          <p:cNvSpPr/>
          <p:nvPr/>
        </p:nvSpPr>
        <p:spPr>
          <a:xfrm>
            <a:off x="4434840" y="1645920"/>
            <a:ext cx="3383280" cy="73152"/>
          </a:xfrm>
          <a:prstGeom prst="rect">
            <a:avLst/>
          </a:prstGeom>
          <a:solidFill>
            <a:srgbClr val="8A6100"/>
          </a:solidFill>
          <a:ln w="12700">
            <a:solidFill>
              <a:srgbClr val="8A6100"/>
            </a:solidFill>
            <a:prstDash val="solid"/>
          </a:ln>
        </p:spPr>
        <p:txBody>
          <a:bodyPr/>
          <a:p/>
        </p:txBody>
      </p:sp>
      <p:sp>
        <p:nvSpPr>
          <p:cNvPr id="13" name="Text 11"/>
          <p:cNvSpPr/>
          <p:nvPr/>
        </p:nvSpPr>
        <p:spPr>
          <a:xfrm>
            <a:off x="4663440" y="1847088"/>
            <a:ext cx="2926080" cy="685800"/>
          </a:xfrm>
          <a:prstGeom prst="rect">
            <a:avLst/>
          </a:prstGeom>
          <a:noFill/>
          <a:ln/>
        </p:spPr>
        <p:txBody>
          <a:bodyPr wrap="square" lIns="0" tIns="0" rIns="0" bIns="0" rtlCol="0" anchor="t"/>
          <a:lstStyle/>
          <a:p>
            <a:pPr indent="0" marL="0">
              <a:buNone/>
            </a:pPr>
            <a:r>
              <a:rPr lang="en-US" sz="1900" b="1" dirty="0">
                <a:solidFill>
                  <a:srgbClr val="8A6100"/>
                </a:solidFill>
                <a:latin typeface="Palatino Linotype" pitchFamily="34" charset="0"/>
                <a:ea typeface="Palatino Linotype" pitchFamily="34" charset="-122"/>
                <a:cs typeface="Palatino Linotype" pitchFamily="34" charset="-120"/>
              </a:rPr>
              <a:t>Procesul</a:t>
            </a:r>
            <a:endParaRPr lang="en-US" sz="1900" dirty="0"/>
          </a:p>
        </p:txBody>
      </p:sp>
      <p:sp>
        <p:nvSpPr>
          <p:cNvPr id="14" name="Text 12"/>
          <p:cNvSpPr/>
          <p:nvPr/>
        </p:nvSpPr>
        <p:spPr>
          <a:xfrm>
            <a:off x="4663440" y="2514600"/>
            <a:ext cx="2926080" cy="16916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evaluarea riscului de escare la internare, igiena mâinilor, planul de îngrijire completat</a:t>
            </a:r>
            <a:endParaRPr lang="en-US" sz="1500" dirty="0"/>
          </a:p>
        </p:txBody>
      </p:sp>
      <p:sp>
        <p:nvSpPr>
          <p:cNvPr id="15" name="Shape 13"/>
          <p:cNvSpPr/>
          <p:nvPr/>
        </p:nvSpPr>
        <p:spPr>
          <a:xfrm>
            <a:off x="7863840" y="2743200"/>
            <a:ext cx="365760" cy="310896"/>
          </a:xfrm>
          <a:prstGeom prst="rightArrow">
            <a:avLst/>
          </a:prstGeom>
          <a:solidFill>
            <a:srgbClr val="C9C6BE"/>
          </a:solidFill>
          <a:ln w="12700">
            <a:solidFill>
              <a:srgbClr val="C9C6BE"/>
            </a:solidFill>
            <a:prstDash val="solid"/>
          </a:ln>
        </p:spPr>
        <p:txBody>
          <a:bodyPr/>
          <a:p/>
        </p:txBody>
      </p:sp>
      <p:sp>
        <p:nvSpPr>
          <p:cNvPr id="16" name="Shape 14"/>
          <p:cNvSpPr/>
          <p:nvPr/>
        </p:nvSpPr>
        <p:spPr>
          <a:xfrm>
            <a:off x="8275320" y="1645920"/>
            <a:ext cx="3383280" cy="2697480"/>
          </a:xfrm>
          <a:prstGeom prst="roundRect">
            <a:avLst>
              <a:gd name="adj" fmla="val 3051"/>
            </a:avLst>
          </a:prstGeom>
          <a:solidFill>
            <a:srgbClr val="ECEAE4"/>
          </a:solidFill>
          <a:ln w="12700">
            <a:solidFill>
              <a:srgbClr val="ECEAE4"/>
            </a:solidFill>
            <a:prstDash val="solid"/>
          </a:ln>
        </p:spPr>
        <p:txBody>
          <a:bodyPr/>
          <a:p/>
        </p:txBody>
      </p:sp>
      <p:sp>
        <p:nvSpPr>
          <p:cNvPr id="17" name="Shape 15"/>
          <p:cNvSpPr/>
          <p:nvPr/>
        </p:nvSpPr>
        <p:spPr>
          <a:xfrm>
            <a:off x="8275320" y="1645920"/>
            <a:ext cx="3383280" cy="73152"/>
          </a:xfrm>
          <a:prstGeom prst="rect">
            <a:avLst/>
          </a:prstGeom>
          <a:solidFill>
            <a:srgbClr val="B02532"/>
          </a:solidFill>
          <a:ln w="12700">
            <a:solidFill>
              <a:srgbClr val="B02532"/>
            </a:solidFill>
            <a:prstDash val="solid"/>
          </a:ln>
        </p:spPr>
        <p:txBody>
          <a:bodyPr/>
          <a:p/>
        </p:txBody>
      </p:sp>
      <p:sp>
        <p:nvSpPr>
          <p:cNvPr id="18" name="Text 16"/>
          <p:cNvSpPr/>
          <p:nvPr/>
        </p:nvSpPr>
        <p:spPr>
          <a:xfrm>
            <a:off x="8503920" y="1847088"/>
            <a:ext cx="2926080" cy="6858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Rezultatul</a:t>
            </a:r>
            <a:endParaRPr lang="en-US" sz="1900" dirty="0"/>
          </a:p>
        </p:txBody>
      </p:sp>
      <p:sp>
        <p:nvSpPr>
          <p:cNvPr id="19" name="Text 17"/>
          <p:cNvSpPr/>
          <p:nvPr/>
        </p:nvSpPr>
        <p:spPr>
          <a:xfrm>
            <a:off x="8503920" y="2514600"/>
            <a:ext cx="2926080" cy="16916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escarele apărute în spital, căderile, infecțiile asociate, satisfacția, reinternările</a:t>
            </a:r>
            <a:endParaRPr lang="en-US" sz="1500" dirty="0"/>
          </a:p>
        </p:txBody>
      </p:sp>
      <p:sp>
        <p:nvSpPr>
          <p:cNvPr id="20" name="Text 18"/>
          <p:cNvSpPr/>
          <p:nvPr/>
        </p:nvSpPr>
        <p:spPr>
          <a:xfrm>
            <a:off x="594360" y="4526280"/>
            <a:ext cx="10972800" cy="73152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O structură bună face posibil un proces bun; un proces bun face probabil un rezultat bun. Probabil, nu sigur.</a:t>
            </a:r>
            <a:endParaRPr lang="en-US" sz="1700" dirty="0"/>
          </a:p>
        </p:txBody>
      </p:sp>
      <p:sp>
        <p:nvSpPr>
          <p:cNvPr id="21" name="Text 19"/>
          <p:cNvSpPr/>
          <p:nvPr/>
        </p:nvSpPr>
        <p:spPr>
          <a:xfrm>
            <a:off x="594360" y="5394960"/>
            <a:ext cx="10972800" cy="45720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Pentru curioși (nu se evaluează): de la inspecție la îmbunătățirea continuă, în note.</a:t>
            </a:r>
            <a:endParaRPr lang="en-US" sz="1400" dirty="0"/>
          </a:p>
        </p:txBody>
      </p:sp>
      <p:sp>
        <p:nvSpPr>
          <p:cNvPr id="22" name="Text 20"/>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A1015); exemplele sunt construite pentru curs.</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INDICATORII SENSIBILI LA ÎNGRIJIRILE DE NURSING · SINTEZĂ DIDACTICĂ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măsoară munca asistenților</a:t>
            </a:r>
            <a:endParaRPr lang="en-US" sz="3000" dirty="0"/>
          </a:p>
        </p:txBody>
      </p:sp>
      <p:sp>
        <p:nvSpPr>
          <p:cNvPr id="4" name="Shape 2"/>
          <p:cNvSpPr/>
          <p:nvPr/>
        </p:nvSpPr>
        <p:spPr>
          <a:xfrm>
            <a:off x="594360" y="1645920"/>
            <a:ext cx="3566160" cy="3657600"/>
          </a:xfrm>
          <a:prstGeom prst="roundRect">
            <a:avLst>
              <a:gd name="adj" fmla="val 2308"/>
            </a:avLst>
          </a:prstGeom>
          <a:solidFill>
            <a:srgbClr val="ECEAE4"/>
          </a:solidFill>
          <a:ln w="12700">
            <a:solidFill>
              <a:srgbClr val="ECEAE4"/>
            </a:solidFill>
            <a:prstDash val="solid"/>
          </a:ln>
        </p:spPr>
        <p:txBody>
          <a:bodyPr/>
          <a:p/>
        </p:txBody>
      </p:sp>
      <p:sp>
        <p:nvSpPr>
          <p:cNvPr id="5" name="Shape 3"/>
          <p:cNvSpPr/>
          <p:nvPr/>
        </p:nvSpPr>
        <p:spPr>
          <a:xfrm>
            <a:off x="594360" y="1645920"/>
            <a:ext cx="35661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31089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De structură</a:t>
            </a:r>
            <a:endParaRPr lang="en-US" sz="2000" dirty="0"/>
          </a:p>
        </p:txBody>
      </p:sp>
      <p:sp>
        <p:nvSpPr>
          <p:cNvPr id="7" name="Text 5"/>
          <p:cNvSpPr/>
          <p:nvPr/>
        </p:nvSpPr>
        <p:spPr>
          <a:xfrm>
            <a:off x="822960" y="2514600"/>
            <a:ext cx="3108960" cy="26517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orele de îngrijire pe pacient și pe zi; proporția asistenților medicali; pregătirea personalului</a:t>
            </a:r>
            <a:endParaRPr lang="en-US" sz="1600" dirty="0"/>
          </a:p>
        </p:txBody>
      </p:sp>
      <p:sp>
        <p:nvSpPr>
          <p:cNvPr id="8" name="Shape 6"/>
          <p:cNvSpPr/>
          <p:nvPr/>
        </p:nvSpPr>
        <p:spPr>
          <a:xfrm>
            <a:off x="4297680" y="1645920"/>
            <a:ext cx="3566160" cy="3657600"/>
          </a:xfrm>
          <a:prstGeom prst="roundRect">
            <a:avLst>
              <a:gd name="adj" fmla="val 2308"/>
            </a:avLst>
          </a:prstGeom>
          <a:solidFill>
            <a:srgbClr val="F9F8F5"/>
          </a:solidFill>
          <a:ln w="12700">
            <a:solidFill>
              <a:srgbClr val="F9F8F5"/>
            </a:solidFill>
            <a:prstDash val="solid"/>
          </a:ln>
        </p:spPr>
        <p:txBody>
          <a:bodyPr/>
          <a:p/>
        </p:txBody>
      </p:sp>
      <p:sp>
        <p:nvSpPr>
          <p:cNvPr id="9" name="Shape 7"/>
          <p:cNvSpPr/>
          <p:nvPr/>
        </p:nvSpPr>
        <p:spPr>
          <a:xfrm>
            <a:off x="4297680" y="1645920"/>
            <a:ext cx="356616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4526280" y="1847088"/>
            <a:ext cx="3108960" cy="685800"/>
          </a:xfrm>
          <a:prstGeom prst="rect">
            <a:avLst/>
          </a:prstGeom>
          <a:noFill/>
          <a:ln/>
        </p:spPr>
        <p:txBody>
          <a:bodyPr wrap="square" lIns="0" tIns="0" rIns="0" bIns="0" rtlCol="0" anchor="t"/>
          <a:lstStyle/>
          <a:p>
            <a:pPr indent="0" marL="0">
              <a:buNone/>
            </a:pPr>
            <a:r>
              <a:rPr lang="en-US" sz="2000" b="1" dirty="0">
                <a:solidFill>
                  <a:srgbClr val="8A6100"/>
                </a:solidFill>
                <a:latin typeface="Palatino Linotype" pitchFamily="34" charset="0"/>
                <a:ea typeface="Palatino Linotype" pitchFamily="34" charset="-122"/>
                <a:cs typeface="Palatino Linotype" pitchFamily="34" charset="-120"/>
              </a:rPr>
              <a:t>De proces</a:t>
            </a:r>
            <a:endParaRPr lang="en-US" sz="2000" dirty="0"/>
          </a:p>
        </p:txBody>
      </p:sp>
      <p:sp>
        <p:nvSpPr>
          <p:cNvPr id="11" name="Text 9"/>
          <p:cNvSpPr/>
          <p:nvPr/>
        </p:nvSpPr>
        <p:spPr>
          <a:xfrm>
            <a:off x="4526280" y="2514600"/>
            <a:ext cx="3108960" cy="26517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evaluarea riscului de escare și de cădere la internare; planurile de îngrijire completate</a:t>
            </a:r>
            <a:endParaRPr lang="en-US" sz="1600" dirty="0"/>
          </a:p>
        </p:txBody>
      </p:sp>
      <p:sp>
        <p:nvSpPr>
          <p:cNvPr id="12" name="Shape 10"/>
          <p:cNvSpPr/>
          <p:nvPr/>
        </p:nvSpPr>
        <p:spPr>
          <a:xfrm>
            <a:off x="8001000" y="1645920"/>
            <a:ext cx="3566160" cy="3657600"/>
          </a:xfrm>
          <a:prstGeom prst="roundRect">
            <a:avLst>
              <a:gd name="adj" fmla="val 2308"/>
            </a:avLst>
          </a:prstGeom>
          <a:solidFill>
            <a:srgbClr val="ECEAE4"/>
          </a:solidFill>
          <a:ln w="12700">
            <a:solidFill>
              <a:srgbClr val="ECEAE4"/>
            </a:solidFill>
            <a:prstDash val="solid"/>
          </a:ln>
        </p:spPr>
        <p:txBody>
          <a:bodyPr/>
          <a:p/>
        </p:txBody>
      </p:sp>
      <p:sp>
        <p:nvSpPr>
          <p:cNvPr id="13" name="Shape 11"/>
          <p:cNvSpPr/>
          <p:nvPr/>
        </p:nvSpPr>
        <p:spPr>
          <a:xfrm>
            <a:off x="8001000" y="1645920"/>
            <a:ext cx="3566160"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9600" y="1847088"/>
            <a:ext cx="3108960" cy="6858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De rezultat</a:t>
            </a:r>
            <a:endParaRPr lang="en-US" sz="2000" dirty="0"/>
          </a:p>
        </p:txBody>
      </p:sp>
      <p:sp>
        <p:nvSpPr>
          <p:cNvPr id="15" name="Text 13"/>
          <p:cNvSpPr/>
          <p:nvPr/>
        </p:nvSpPr>
        <p:spPr>
          <a:xfrm>
            <a:off x="8229600" y="2514600"/>
            <a:ext cx="3108960" cy="26517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escarele apărute în spital, căderile, infecțiile asociate cateterelor, satisfacția pacienților</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INDICATORII · UN SINGUR RĂSPUNS CORECT</a:t>
            </a:r>
            <a:endParaRPr lang="en-US" sz="1300" dirty="0"/>
          </a:p>
        </p:txBody>
      </p:sp>
      <p:sp>
        <p:nvSpPr>
          <p:cNvPr id="5" name="Text 3"/>
          <p:cNvSpPr/>
          <p:nvPr/>
        </p:nvSpPr>
        <p:spPr>
          <a:xfrm>
            <a:off x="594360" y="868680"/>
            <a:ext cx="10972800" cy="1600200"/>
          </a:xfrm>
          <a:prstGeom prst="rect">
            <a:avLst/>
          </a:prstGeom>
          <a:noFill/>
          <a:ln/>
        </p:spPr>
        <p:txBody>
          <a:bodyPr wrap="square" lIns="0" tIns="0" rIns="0" bIns="0" rtlCol="0" anchor="ctr"/>
          <a:lstStyle/>
          <a:p>
            <a:pPr indent="0" marL="0">
              <a:buNone/>
            </a:pPr>
            <a:r>
              <a:rPr lang="en-US" sz="2500" b="1" dirty="0">
                <a:solidFill>
                  <a:srgbClr val="FFFFFF"/>
                </a:solidFill>
                <a:latin typeface="Palatino Linotype" pitchFamily="34" charset="0"/>
                <a:ea typeface="Palatino Linotype" pitchFamily="34" charset="-122"/>
                <a:cs typeface="Palatino Linotype" pitchFamily="34" charset="-120"/>
              </a:rPr>
              <a:t>„Proporția pacienților cu risc de escare la care riscul a fost evaluat în primele ore de la internare.” Ce fel de indicator este?</a:t>
            </a:r>
            <a:endParaRPr lang="en-US" sz="2500" dirty="0"/>
          </a:p>
        </p:txBody>
      </p:sp>
      <p:sp>
        <p:nvSpPr>
          <p:cNvPr id="6" name="Shape 4"/>
          <p:cNvSpPr/>
          <p:nvPr/>
        </p:nvSpPr>
        <p:spPr>
          <a:xfrm>
            <a:off x="594360" y="26974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868680" y="2852928"/>
            <a:ext cx="420624" cy="420624"/>
          </a:xfrm>
          <a:prstGeom prst="ellipse">
            <a:avLst/>
          </a:prstGeom>
          <a:solidFill>
            <a:srgbClr val="FFC24B"/>
          </a:solidFill>
          <a:ln/>
        </p:spPr>
        <p:txBody>
          <a:bodyPr/>
          <a:p/>
        </p:txBody>
      </p:sp>
      <p:sp>
        <p:nvSpPr>
          <p:cNvPr id="8" name="Text 6"/>
          <p:cNvSpPr/>
          <p:nvPr/>
        </p:nvSpPr>
        <p:spPr>
          <a:xfrm>
            <a:off x="868680" y="2852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269748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De structură</a:t>
            </a:r>
            <a:endParaRPr lang="en-US" sz="2000" dirty="0"/>
          </a:p>
        </p:txBody>
      </p:sp>
      <p:sp>
        <p:nvSpPr>
          <p:cNvPr id="10" name="Shape 8"/>
          <p:cNvSpPr/>
          <p:nvPr/>
        </p:nvSpPr>
        <p:spPr>
          <a:xfrm>
            <a:off x="594360" y="35661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868680" y="3721608"/>
            <a:ext cx="420624" cy="420624"/>
          </a:xfrm>
          <a:prstGeom prst="ellipse">
            <a:avLst/>
          </a:prstGeom>
          <a:solidFill>
            <a:srgbClr val="FFC24B"/>
          </a:solidFill>
          <a:ln/>
        </p:spPr>
        <p:txBody>
          <a:bodyPr/>
          <a:p/>
        </p:txBody>
      </p:sp>
      <p:sp>
        <p:nvSpPr>
          <p:cNvPr id="12" name="Text 10"/>
          <p:cNvSpPr/>
          <p:nvPr/>
        </p:nvSpPr>
        <p:spPr>
          <a:xfrm>
            <a:off x="868680" y="3721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356616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De proces</a:t>
            </a:r>
            <a:endParaRPr lang="en-US" sz="2000" dirty="0"/>
          </a:p>
        </p:txBody>
      </p:sp>
      <p:sp>
        <p:nvSpPr>
          <p:cNvPr id="14" name="Shape 12"/>
          <p:cNvSpPr/>
          <p:nvPr/>
        </p:nvSpPr>
        <p:spPr>
          <a:xfrm>
            <a:off x="594360" y="44348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5" name="Shape 13"/>
          <p:cNvSpPr/>
          <p:nvPr/>
        </p:nvSpPr>
        <p:spPr>
          <a:xfrm>
            <a:off x="868680" y="4590288"/>
            <a:ext cx="420624" cy="420624"/>
          </a:xfrm>
          <a:prstGeom prst="ellipse">
            <a:avLst/>
          </a:prstGeom>
          <a:solidFill>
            <a:srgbClr val="FFC24B"/>
          </a:solidFill>
          <a:ln/>
        </p:spPr>
        <p:txBody>
          <a:bodyPr/>
          <a:p/>
        </p:txBody>
      </p:sp>
      <p:sp>
        <p:nvSpPr>
          <p:cNvPr id="16" name="Text 14"/>
          <p:cNvSpPr/>
          <p:nvPr/>
        </p:nvSpPr>
        <p:spPr>
          <a:xfrm>
            <a:off x="868680" y="4590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443484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De rezultat</a:t>
            </a:r>
            <a:endParaRPr lang="en-US" sz="2000" dirty="0"/>
          </a:p>
        </p:txBody>
      </p:sp>
      <p:sp>
        <p:nvSpPr>
          <p:cNvPr id="18" name="Text 16"/>
          <p:cNvSpPr/>
          <p:nvPr/>
        </p:nvSpPr>
        <p:spPr>
          <a:xfrm>
            <a:off x="594360" y="544068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fără să vedeți votul celorlalți.</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B. De proces</a:t>
            </a:r>
            <a:endParaRPr lang="en-US" sz="3200" dirty="0"/>
          </a:p>
        </p:txBody>
      </p:sp>
      <p:sp>
        <p:nvSpPr>
          <p:cNvPr id="4" name="Shape 2"/>
          <p:cNvSpPr/>
          <p:nvPr/>
        </p:nvSpPr>
        <p:spPr>
          <a:xfrm>
            <a:off x="594360" y="1691640"/>
            <a:ext cx="3566160" cy="2560320"/>
          </a:xfrm>
          <a:prstGeom prst="roundRect">
            <a:avLst>
              <a:gd name="adj" fmla="val 3214"/>
            </a:avLst>
          </a:prstGeom>
          <a:solidFill>
            <a:srgbClr val="ECEAE4"/>
          </a:solidFill>
          <a:ln w="12700">
            <a:solidFill>
              <a:srgbClr val="ECEAE4"/>
            </a:solidFill>
            <a:prstDash val="solid"/>
          </a:ln>
        </p:spPr>
        <p:txBody>
          <a:bodyPr/>
          <a:p/>
        </p:txBody>
      </p:sp>
      <p:sp>
        <p:nvSpPr>
          <p:cNvPr id="5" name="Shape 3"/>
          <p:cNvSpPr/>
          <p:nvPr/>
        </p:nvSpPr>
        <p:spPr>
          <a:xfrm>
            <a:off x="594360" y="1691640"/>
            <a:ext cx="3566160" cy="73152"/>
          </a:xfrm>
          <a:prstGeom prst="rect">
            <a:avLst/>
          </a:prstGeom>
          <a:solidFill>
            <a:srgbClr val="5A5F75"/>
          </a:solidFill>
          <a:ln w="12700">
            <a:solidFill>
              <a:srgbClr val="5A5F75"/>
            </a:solidFill>
            <a:prstDash val="solid"/>
          </a:ln>
        </p:spPr>
        <p:txBody>
          <a:bodyPr/>
          <a:p/>
        </p:txBody>
      </p:sp>
      <p:sp>
        <p:nvSpPr>
          <p:cNvPr id="6" name="Text 4"/>
          <p:cNvSpPr/>
          <p:nvPr/>
        </p:nvSpPr>
        <p:spPr>
          <a:xfrm>
            <a:off x="822960" y="1892808"/>
            <a:ext cx="3108960" cy="685800"/>
          </a:xfrm>
          <a:prstGeom prst="rect">
            <a:avLst/>
          </a:prstGeom>
          <a:noFill/>
          <a:ln/>
        </p:spPr>
        <p:txBody>
          <a:bodyPr wrap="square" lIns="0" tIns="0" rIns="0" bIns="0" rtlCol="0" anchor="t"/>
          <a:lstStyle/>
          <a:p>
            <a:pPr indent="0" marL="0">
              <a:buNone/>
            </a:pPr>
            <a:r>
              <a:rPr lang="en-US" sz="2000" b="1" dirty="0">
                <a:solidFill>
                  <a:srgbClr val="5A5F75"/>
                </a:solidFill>
                <a:latin typeface="Palatino Linotype" pitchFamily="34" charset="0"/>
                <a:ea typeface="Palatino Linotype" pitchFamily="34" charset="-122"/>
                <a:cs typeface="Palatino Linotype" pitchFamily="34" charset="-120"/>
              </a:rPr>
              <a:t>Nu de structură</a:t>
            </a:r>
            <a:endParaRPr lang="en-US" sz="2000" dirty="0"/>
          </a:p>
        </p:txBody>
      </p:sp>
      <p:sp>
        <p:nvSpPr>
          <p:cNvPr id="7" name="Text 5"/>
          <p:cNvSpPr/>
          <p:nvPr/>
        </p:nvSpPr>
        <p:spPr>
          <a:xfrm>
            <a:off x="822960" y="2560320"/>
            <a:ext cx="3108960" cy="15544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Nu măsoară resursele secției.</a:t>
            </a:r>
            <a:endParaRPr lang="en-US" sz="1700" dirty="0"/>
          </a:p>
        </p:txBody>
      </p:sp>
      <p:sp>
        <p:nvSpPr>
          <p:cNvPr id="8" name="Shape 6"/>
          <p:cNvSpPr/>
          <p:nvPr/>
        </p:nvSpPr>
        <p:spPr>
          <a:xfrm>
            <a:off x="4297680" y="1691640"/>
            <a:ext cx="3566160" cy="2560320"/>
          </a:xfrm>
          <a:prstGeom prst="roundRect">
            <a:avLst>
              <a:gd name="adj" fmla="val 3214"/>
            </a:avLst>
          </a:prstGeom>
          <a:solidFill>
            <a:srgbClr val="F9F8F5"/>
          </a:solidFill>
          <a:ln w="12700">
            <a:solidFill>
              <a:srgbClr val="F9F8F5"/>
            </a:solidFill>
            <a:prstDash val="solid"/>
          </a:ln>
        </p:spPr>
        <p:txBody>
          <a:bodyPr/>
          <a:p/>
        </p:txBody>
      </p:sp>
      <p:sp>
        <p:nvSpPr>
          <p:cNvPr id="9" name="Shape 7"/>
          <p:cNvSpPr/>
          <p:nvPr/>
        </p:nvSpPr>
        <p:spPr>
          <a:xfrm>
            <a:off x="4297680" y="1691640"/>
            <a:ext cx="3566160" cy="73152"/>
          </a:xfrm>
          <a:prstGeom prst="rect">
            <a:avLst/>
          </a:prstGeom>
          <a:solidFill>
            <a:srgbClr val="0E7C6B"/>
          </a:solidFill>
          <a:ln w="12700">
            <a:solidFill>
              <a:srgbClr val="0E7C6B"/>
            </a:solidFill>
            <a:prstDash val="solid"/>
          </a:ln>
        </p:spPr>
        <p:txBody>
          <a:bodyPr/>
          <a:p/>
        </p:txBody>
      </p:sp>
      <p:sp>
        <p:nvSpPr>
          <p:cNvPr id="10" name="Text 8"/>
          <p:cNvSpPr/>
          <p:nvPr/>
        </p:nvSpPr>
        <p:spPr>
          <a:xfrm>
            <a:off x="4526280" y="1892808"/>
            <a:ext cx="31089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De proces</a:t>
            </a:r>
            <a:endParaRPr lang="en-US" sz="2000" dirty="0"/>
          </a:p>
        </p:txBody>
      </p:sp>
      <p:sp>
        <p:nvSpPr>
          <p:cNvPr id="11" name="Text 9"/>
          <p:cNvSpPr/>
          <p:nvPr/>
        </p:nvSpPr>
        <p:spPr>
          <a:xfrm>
            <a:off x="4526280" y="2560320"/>
            <a:ext cx="3108960" cy="15544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Măsoară dacă s-a făcut un lucru care trebuia făcut.</a:t>
            </a:r>
            <a:endParaRPr lang="en-US" sz="1700" dirty="0"/>
          </a:p>
        </p:txBody>
      </p:sp>
      <p:sp>
        <p:nvSpPr>
          <p:cNvPr id="12" name="Shape 10"/>
          <p:cNvSpPr/>
          <p:nvPr/>
        </p:nvSpPr>
        <p:spPr>
          <a:xfrm>
            <a:off x="8001000" y="1691640"/>
            <a:ext cx="3566160" cy="2560320"/>
          </a:xfrm>
          <a:prstGeom prst="roundRect">
            <a:avLst>
              <a:gd name="adj" fmla="val 3214"/>
            </a:avLst>
          </a:prstGeom>
          <a:solidFill>
            <a:srgbClr val="ECEAE4"/>
          </a:solidFill>
          <a:ln w="12700">
            <a:solidFill>
              <a:srgbClr val="ECEAE4"/>
            </a:solidFill>
            <a:prstDash val="solid"/>
          </a:ln>
        </p:spPr>
        <p:txBody>
          <a:bodyPr/>
          <a:p/>
        </p:txBody>
      </p:sp>
      <p:sp>
        <p:nvSpPr>
          <p:cNvPr id="13" name="Shape 11"/>
          <p:cNvSpPr/>
          <p:nvPr/>
        </p:nvSpPr>
        <p:spPr>
          <a:xfrm>
            <a:off x="8001000" y="1691640"/>
            <a:ext cx="3566160" cy="73152"/>
          </a:xfrm>
          <a:prstGeom prst="rect">
            <a:avLst/>
          </a:prstGeom>
          <a:solidFill>
            <a:srgbClr val="5A5F75"/>
          </a:solidFill>
          <a:ln w="12700">
            <a:solidFill>
              <a:srgbClr val="5A5F75"/>
            </a:solidFill>
            <a:prstDash val="solid"/>
          </a:ln>
        </p:spPr>
        <p:txBody>
          <a:bodyPr/>
          <a:p/>
        </p:txBody>
      </p:sp>
      <p:sp>
        <p:nvSpPr>
          <p:cNvPr id="14" name="Text 12"/>
          <p:cNvSpPr/>
          <p:nvPr/>
        </p:nvSpPr>
        <p:spPr>
          <a:xfrm>
            <a:off x="8229600" y="1892808"/>
            <a:ext cx="3108960" cy="685800"/>
          </a:xfrm>
          <a:prstGeom prst="rect">
            <a:avLst/>
          </a:prstGeom>
          <a:noFill/>
          <a:ln/>
        </p:spPr>
        <p:txBody>
          <a:bodyPr wrap="square" lIns="0" tIns="0" rIns="0" bIns="0" rtlCol="0" anchor="t"/>
          <a:lstStyle/>
          <a:p>
            <a:pPr indent="0" marL="0">
              <a:buNone/>
            </a:pPr>
            <a:r>
              <a:rPr lang="en-US" sz="2000" b="1" dirty="0">
                <a:solidFill>
                  <a:srgbClr val="5A5F75"/>
                </a:solidFill>
                <a:latin typeface="Palatino Linotype" pitchFamily="34" charset="0"/>
                <a:ea typeface="Palatino Linotype" pitchFamily="34" charset="-122"/>
                <a:cs typeface="Palatino Linotype" pitchFamily="34" charset="-120"/>
              </a:rPr>
              <a:t>Nu de rezultat</a:t>
            </a:r>
            <a:endParaRPr lang="en-US" sz="2000" dirty="0"/>
          </a:p>
        </p:txBody>
      </p:sp>
      <p:sp>
        <p:nvSpPr>
          <p:cNvPr id="15" name="Text 13"/>
          <p:cNvSpPr/>
          <p:nvPr/>
        </p:nvSpPr>
        <p:spPr>
          <a:xfrm>
            <a:off x="8229600" y="2560320"/>
            <a:ext cx="3108960" cy="15544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Nu numără escarele apărute.</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TREI FORME DE EVALUARE EXTERNĂ · OBSERVATORUL EUROPEAN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Acreditare, certificare, supraveghere</a:t>
            </a:r>
            <a:endParaRPr lang="en-US" sz="3000" dirty="0"/>
          </a:p>
        </p:txBody>
      </p:sp>
      <p:sp>
        <p:nvSpPr>
          <p:cNvPr id="4" name="Shape 2"/>
          <p:cNvSpPr/>
          <p:nvPr/>
        </p:nvSpPr>
        <p:spPr>
          <a:xfrm>
            <a:off x="594360" y="1645920"/>
            <a:ext cx="3566160" cy="2651760"/>
          </a:xfrm>
          <a:prstGeom prst="roundRect">
            <a:avLst>
              <a:gd name="adj" fmla="val 3103"/>
            </a:avLst>
          </a:prstGeom>
          <a:solidFill>
            <a:srgbClr val="ECEAE4"/>
          </a:solidFill>
          <a:ln w="12700">
            <a:solidFill>
              <a:srgbClr val="ECEAE4"/>
            </a:solidFill>
            <a:prstDash val="solid"/>
          </a:ln>
        </p:spPr>
        <p:txBody>
          <a:bodyPr/>
          <a:p/>
        </p:txBody>
      </p:sp>
      <p:sp>
        <p:nvSpPr>
          <p:cNvPr id="5" name="Shape 3"/>
          <p:cNvSpPr/>
          <p:nvPr/>
        </p:nvSpPr>
        <p:spPr>
          <a:xfrm>
            <a:off x="594360" y="1645920"/>
            <a:ext cx="35661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3108960" cy="6858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Acreditarea</a:t>
            </a:r>
            <a:endParaRPr lang="en-US" sz="2000" dirty="0"/>
          </a:p>
        </p:txBody>
      </p:sp>
      <p:sp>
        <p:nvSpPr>
          <p:cNvPr id="7" name="Text 5"/>
          <p:cNvSpPr/>
          <p:nvPr/>
        </p:nvSpPr>
        <p:spPr>
          <a:xfrm>
            <a:off x="822960" y="2514600"/>
            <a:ext cx="31089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organism de acreditare recunoaște public că organizația respectă standarde stabilite dinainte.</a:t>
            </a:r>
            <a:endParaRPr lang="en-US" sz="1600" dirty="0"/>
          </a:p>
        </p:txBody>
      </p:sp>
      <p:sp>
        <p:nvSpPr>
          <p:cNvPr id="8" name="Shape 6"/>
          <p:cNvSpPr/>
          <p:nvPr/>
        </p:nvSpPr>
        <p:spPr>
          <a:xfrm>
            <a:off x="4297680" y="1645920"/>
            <a:ext cx="3566160" cy="2651760"/>
          </a:xfrm>
          <a:prstGeom prst="roundRect">
            <a:avLst>
              <a:gd name="adj" fmla="val 3103"/>
            </a:avLst>
          </a:prstGeom>
          <a:solidFill>
            <a:srgbClr val="F9F8F5"/>
          </a:solidFill>
          <a:ln w="12700">
            <a:solidFill>
              <a:srgbClr val="F9F8F5"/>
            </a:solidFill>
            <a:prstDash val="solid"/>
          </a:ln>
        </p:spPr>
        <p:txBody>
          <a:bodyPr/>
          <a:p/>
        </p:txBody>
      </p:sp>
      <p:sp>
        <p:nvSpPr>
          <p:cNvPr id="9" name="Shape 7"/>
          <p:cNvSpPr/>
          <p:nvPr/>
        </p:nvSpPr>
        <p:spPr>
          <a:xfrm>
            <a:off x="4297680" y="1645920"/>
            <a:ext cx="356616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4526280" y="1847088"/>
            <a:ext cx="3108960" cy="685800"/>
          </a:xfrm>
          <a:prstGeom prst="rect">
            <a:avLst/>
          </a:prstGeom>
          <a:noFill/>
          <a:ln/>
        </p:spPr>
        <p:txBody>
          <a:bodyPr wrap="square" lIns="0" tIns="0" rIns="0" bIns="0" rtlCol="0" anchor="t"/>
          <a:lstStyle/>
          <a:p>
            <a:pPr indent="0" marL="0">
              <a:buNone/>
            </a:pPr>
            <a:r>
              <a:rPr lang="en-US" sz="2000" b="1" dirty="0">
                <a:solidFill>
                  <a:srgbClr val="8A6100"/>
                </a:solidFill>
                <a:latin typeface="Palatino Linotype" pitchFamily="34" charset="0"/>
                <a:ea typeface="Palatino Linotype" pitchFamily="34" charset="-122"/>
                <a:cs typeface="Palatino Linotype" pitchFamily="34" charset="-120"/>
              </a:rPr>
              <a:t>Certificarea</a:t>
            </a:r>
            <a:endParaRPr lang="en-US" sz="2000" dirty="0"/>
          </a:p>
        </p:txBody>
      </p:sp>
      <p:sp>
        <p:nvSpPr>
          <p:cNvPr id="11" name="Text 9"/>
          <p:cNvSpPr/>
          <p:nvPr/>
        </p:nvSpPr>
        <p:spPr>
          <a:xfrm>
            <a:off x="4526280" y="2514600"/>
            <a:ext cx="31089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De regulă, conformitatea cu standardele ISO.</a:t>
            </a:r>
            <a:endParaRPr lang="en-US" sz="1600" dirty="0"/>
          </a:p>
        </p:txBody>
      </p:sp>
      <p:sp>
        <p:nvSpPr>
          <p:cNvPr id="12" name="Shape 10"/>
          <p:cNvSpPr/>
          <p:nvPr/>
        </p:nvSpPr>
        <p:spPr>
          <a:xfrm>
            <a:off x="8001000" y="1645920"/>
            <a:ext cx="3566160" cy="2651760"/>
          </a:xfrm>
          <a:prstGeom prst="roundRect">
            <a:avLst>
              <a:gd name="adj" fmla="val 3103"/>
            </a:avLst>
          </a:prstGeom>
          <a:solidFill>
            <a:srgbClr val="ECEAE4"/>
          </a:solidFill>
          <a:ln w="12700">
            <a:solidFill>
              <a:srgbClr val="ECEAE4"/>
            </a:solidFill>
            <a:prstDash val="solid"/>
          </a:ln>
        </p:spPr>
        <p:txBody>
          <a:bodyPr/>
          <a:p/>
        </p:txBody>
      </p:sp>
      <p:sp>
        <p:nvSpPr>
          <p:cNvPr id="13" name="Shape 11"/>
          <p:cNvSpPr/>
          <p:nvPr/>
        </p:nvSpPr>
        <p:spPr>
          <a:xfrm>
            <a:off x="8001000" y="1645920"/>
            <a:ext cx="3566160"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9600" y="1847088"/>
            <a:ext cx="3108960" cy="6858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Supravegherea</a:t>
            </a:r>
            <a:endParaRPr lang="en-US" sz="2000" dirty="0"/>
          </a:p>
        </p:txBody>
      </p:sp>
      <p:sp>
        <p:nvSpPr>
          <p:cNvPr id="15" name="Text 13"/>
          <p:cNvSpPr/>
          <p:nvPr/>
        </p:nvSpPr>
        <p:spPr>
          <a:xfrm>
            <a:off x="8229600" y="2514600"/>
            <a:ext cx="310896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Standardele minime pentru înregistrare, autorizare sau licențiere.</a:t>
            </a:r>
            <a:endParaRPr lang="en-US" sz="1600" dirty="0"/>
          </a:p>
        </p:txBody>
      </p:sp>
      <p:sp>
        <p:nvSpPr>
          <p:cNvPr id="16" name="Shape 14"/>
          <p:cNvSpPr/>
          <p:nvPr/>
        </p:nvSpPr>
        <p:spPr>
          <a:xfrm>
            <a:off x="594360" y="4526280"/>
            <a:ext cx="10972800" cy="1143000"/>
          </a:xfrm>
          <a:prstGeom prst="roundRect">
            <a:avLst>
              <a:gd name="adj" fmla="val 7200"/>
            </a:avLst>
          </a:prstGeom>
          <a:solidFill>
            <a:srgbClr val="11121A"/>
          </a:solidFill>
          <a:ln w="12700">
            <a:solidFill>
              <a:srgbClr val="11121A"/>
            </a:solidFill>
            <a:prstDash val="solid"/>
          </a:ln>
        </p:spPr>
        <p:txBody>
          <a:bodyPr/>
          <a:p/>
        </p:txBody>
      </p:sp>
      <p:sp>
        <p:nvSpPr>
          <p:cNvPr id="17" name="Text 15"/>
          <p:cNvSpPr/>
          <p:nvPr/>
        </p:nvSpPr>
        <p:spPr>
          <a:xfrm>
            <a:off x="868680" y="4526280"/>
            <a:ext cx="10424160" cy="1143000"/>
          </a:xfrm>
          <a:prstGeom prst="rect">
            <a:avLst/>
          </a:prstGeom>
          <a:noFill/>
          <a:ln/>
        </p:spPr>
        <p:txBody>
          <a:bodyPr wrap="square" lIns="0" tIns="0" rIns="0" bIns="0" rtlCol="0" anchor="ctr"/>
          <a:lstStyle/>
          <a:p>
            <a:pPr indent="0" marL="0">
              <a:buNone/>
            </a:pPr>
            <a:r>
              <a:rPr lang="en-US" sz="1650" b="1" dirty="0">
                <a:solidFill>
                  <a:srgbClr val="FFC24B"/>
                </a:solidFill>
                <a:latin typeface="Palatino Linotype" pitchFamily="34" charset="0"/>
                <a:ea typeface="Palatino Linotype" pitchFamily="34" charset="-122"/>
                <a:cs typeface="Palatino Linotype" pitchFamily="34" charset="-120"/>
              </a:rPr>
              <a:t>Pe scurt: autorizarea spune că unitatea are voie să funcționeze; acreditarea, că respectă standardele de calitate și siguranță.</a:t>
            </a:r>
            <a:endParaRPr lang="en-US" sz="1650" dirty="0"/>
          </a:p>
        </p:txBody>
      </p:sp>
      <p:sp>
        <p:nvSpPr>
          <p:cNvPr id="18" name="Text 1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A1016, A1020). ISQua evaluează organismele de acreditare, între care programul din România (date din 2018, A1017).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EVALUAREA EXTERNĂ · UN SINGUR RĂSPUNS CORECT</a:t>
            </a:r>
            <a:endParaRPr lang="en-US" sz="1300" dirty="0"/>
          </a:p>
        </p:txBody>
      </p:sp>
      <p:sp>
        <p:nvSpPr>
          <p:cNvPr id="5" name="Text 3"/>
          <p:cNvSpPr/>
          <p:nvPr/>
        </p:nvSpPr>
        <p:spPr>
          <a:xfrm>
            <a:off x="594360" y="868680"/>
            <a:ext cx="10972800" cy="1600200"/>
          </a:xfrm>
          <a:prstGeom prst="rect">
            <a:avLst/>
          </a:prstGeom>
          <a:noFill/>
          <a:ln/>
        </p:spPr>
        <p:txBody>
          <a:bodyPr wrap="square" lIns="0" tIns="0" rIns="0" bIns="0" rtlCol="0" anchor="ctr"/>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Spitalul primește un certificat ISO 9001 pentru sistemul lui de management al calității. Ce formă de evaluare externă este?</a:t>
            </a:r>
            <a:endParaRPr lang="en-US" sz="2600" dirty="0"/>
          </a:p>
        </p:txBody>
      </p:sp>
      <p:sp>
        <p:nvSpPr>
          <p:cNvPr id="6" name="Shape 4"/>
          <p:cNvSpPr/>
          <p:nvPr/>
        </p:nvSpPr>
        <p:spPr>
          <a:xfrm>
            <a:off x="594360" y="26974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868680" y="2852928"/>
            <a:ext cx="420624" cy="420624"/>
          </a:xfrm>
          <a:prstGeom prst="ellipse">
            <a:avLst/>
          </a:prstGeom>
          <a:solidFill>
            <a:srgbClr val="FFC24B"/>
          </a:solidFill>
          <a:ln/>
        </p:spPr>
        <p:txBody>
          <a:bodyPr/>
          <a:p/>
        </p:txBody>
      </p:sp>
      <p:sp>
        <p:nvSpPr>
          <p:cNvPr id="8" name="Text 6"/>
          <p:cNvSpPr/>
          <p:nvPr/>
        </p:nvSpPr>
        <p:spPr>
          <a:xfrm>
            <a:off x="868680" y="2852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269748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Acreditarea de către ANMCS</a:t>
            </a:r>
            <a:endParaRPr lang="en-US" sz="2000" dirty="0"/>
          </a:p>
        </p:txBody>
      </p:sp>
      <p:sp>
        <p:nvSpPr>
          <p:cNvPr id="10" name="Shape 8"/>
          <p:cNvSpPr/>
          <p:nvPr/>
        </p:nvSpPr>
        <p:spPr>
          <a:xfrm>
            <a:off x="594360" y="35661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868680" y="3721608"/>
            <a:ext cx="420624" cy="420624"/>
          </a:xfrm>
          <a:prstGeom prst="ellipse">
            <a:avLst/>
          </a:prstGeom>
          <a:solidFill>
            <a:srgbClr val="FFC24B"/>
          </a:solidFill>
          <a:ln/>
        </p:spPr>
        <p:txBody>
          <a:bodyPr/>
          <a:p/>
        </p:txBody>
      </p:sp>
      <p:sp>
        <p:nvSpPr>
          <p:cNvPr id="12" name="Text 10"/>
          <p:cNvSpPr/>
          <p:nvPr/>
        </p:nvSpPr>
        <p:spPr>
          <a:xfrm>
            <a:off x="868680" y="3721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356616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Certificarea</a:t>
            </a:r>
            <a:endParaRPr lang="en-US" sz="2000" dirty="0"/>
          </a:p>
        </p:txBody>
      </p:sp>
      <p:sp>
        <p:nvSpPr>
          <p:cNvPr id="14" name="Shape 12"/>
          <p:cNvSpPr/>
          <p:nvPr/>
        </p:nvSpPr>
        <p:spPr>
          <a:xfrm>
            <a:off x="594360" y="44348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5" name="Shape 13"/>
          <p:cNvSpPr/>
          <p:nvPr/>
        </p:nvSpPr>
        <p:spPr>
          <a:xfrm>
            <a:off x="868680" y="4590288"/>
            <a:ext cx="420624" cy="420624"/>
          </a:xfrm>
          <a:prstGeom prst="ellipse">
            <a:avLst/>
          </a:prstGeom>
          <a:solidFill>
            <a:srgbClr val="FFC24B"/>
          </a:solidFill>
          <a:ln/>
        </p:spPr>
        <p:txBody>
          <a:bodyPr/>
          <a:p/>
        </p:txBody>
      </p:sp>
      <p:sp>
        <p:nvSpPr>
          <p:cNvPr id="16" name="Text 14"/>
          <p:cNvSpPr/>
          <p:nvPr/>
        </p:nvSpPr>
        <p:spPr>
          <a:xfrm>
            <a:off x="868680" y="4590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4434840"/>
            <a:ext cx="982980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Autorizarea de funcționare</a:t>
            </a:r>
            <a:endParaRPr lang="en-US" sz="2000" dirty="0"/>
          </a:p>
        </p:txBody>
      </p:sp>
      <p:sp>
        <p:nvSpPr>
          <p:cNvPr id="18" name="Text 16"/>
          <p:cNvSpPr/>
          <p:nvPr/>
        </p:nvSpPr>
        <p:spPr>
          <a:xfrm>
            <a:off x="594360" y="544068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fără să vedeți votul celorlalți.</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B. Certificarea</a:t>
            </a:r>
            <a:endParaRPr lang="en-US" sz="3200" dirty="0"/>
          </a:p>
        </p:txBody>
      </p:sp>
      <p:sp>
        <p:nvSpPr>
          <p:cNvPr id="4" name="Shape 2"/>
          <p:cNvSpPr/>
          <p:nvPr/>
        </p:nvSpPr>
        <p:spPr>
          <a:xfrm>
            <a:off x="594360" y="1691640"/>
            <a:ext cx="10972800" cy="2011680"/>
          </a:xfrm>
          <a:prstGeom prst="roundRect">
            <a:avLst>
              <a:gd name="adj" fmla="val 4091"/>
            </a:avLst>
          </a:prstGeom>
          <a:solidFill>
            <a:srgbClr val="FFFFFF"/>
          </a:solidFill>
          <a:ln w="12700">
            <a:solidFill>
              <a:srgbClr val="FFFFFF"/>
            </a:solidFill>
            <a:prstDash val="solid"/>
          </a:ln>
        </p:spPr>
        <p:txBody>
          <a:bodyPr/>
          <a:p/>
        </p:txBody>
      </p:sp>
      <p:sp>
        <p:nvSpPr>
          <p:cNvPr id="5" name="Shape 3"/>
          <p:cNvSpPr/>
          <p:nvPr/>
        </p:nvSpPr>
        <p:spPr>
          <a:xfrm>
            <a:off x="594360" y="1691640"/>
            <a:ext cx="82296" cy="2011680"/>
          </a:xfrm>
          <a:prstGeom prst="rect">
            <a:avLst/>
          </a:prstGeom>
          <a:solidFill>
            <a:srgbClr val="8A6100"/>
          </a:solidFill>
          <a:ln w="12700">
            <a:solidFill>
              <a:srgbClr val="8A6100"/>
            </a:solidFill>
            <a:prstDash val="solid"/>
          </a:ln>
        </p:spPr>
        <p:txBody>
          <a:bodyPr/>
          <a:p/>
        </p:txBody>
      </p:sp>
      <p:sp>
        <p:nvSpPr>
          <p:cNvPr id="6" name="Text 4"/>
          <p:cNvSpPr/>
          <p:nvPr/>
        </p:nvSpPr>
        <p:spPr>
          <a:xfrm>
            <a:off x="914400" y="1691640"/>
            <a:ext cx="10424160" cy="201168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Evaluarea privește conformitatea cu un standard ISO. Nu este acreditarea unității de către ANMCS, după standardele ei, și nici dreptul de a funcționa.</a:t>
            </a:r>
            <a:endParaRPr lang="en-US" sz="2000" dirty="0"/>
          </a:p>
        </p:txBody>
      </p:sp>
      <p:sp>
        <p:nvSpPr>
          <p:cNvPr id="7" name="Text 5"/>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LEGEA NR. 185/2017, ART. 1, 3, 4 ȘI 7</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ANMCS: cine acreditează și cine răspunde</a:t>
            </a:r>
            <a:endParaRPr lang="en-US" sz="2800" dirty="0"/>
          </a:p>
        </p:txBody>
      </p:sp>
      <p:sp>
        <p:nvSpPr>
          <p:cNvPr id="4" name="Shape 2"/>
          <p:cNvSpPr/>
          <p:nvPr/>
        </p:nvSpPr>
        <p:spPr>
          <a:xfrm>
            <a:off x="594360" y="1600200"/>
            <a:ext cx="5394960" cy="2377440"/>
          </a:xfrm>
          <a:prstGeom prst="roundRect">
            <a:avLst>
              <a:gd name="adj" fmla="val 3462"/>
            </a:avLst>
          </a:prstGeom>
          <a:solidFill>
            <a:srgbClr val="ECEAE4"/>
          </a:solidFill>
          <a:ln w="12700">
            <a:solidFill>
              <a:srgbClr val="ECEAE4"/>
            </a:solidFill>
            <a:prstDash val="solid"/>
          </a:ln>
        </p:spPr>
        <p:txBody>
          <a:bodyPr/>
          <a:p/>
        </p:txBody>
      </p:sp>
      <p:sp>
        <p:nvSpPr>
          <p:cNvPr id="5" name="Shape 3"/>
          <p:cNvSpPr/>
          <p:nvPr/>
        </p:nvSpPr>
        <p:spPr>
          <a:xfrm>
            <a:off x="594360" y="1600200"/>
            <a:ext cx="539496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01368"/>
            <a:ext cx="493776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ANMCS</a:t>
            </a:r>
            <a:endParaRPr lang="en-US" sz="1900" dirty="0"/>
          </a:p>
        </p:txBody>
      </p:sp>
      <p:sp>
        <p:nvSpPr>
          <p:cNvPr id="7" name="Text 5"/>
          <p:cNvSpPr/>
          <p:nvPr/>
        </p:nvSpPr>
        <p:spPr>
          <a:xfrm>
            <a:off x="822960" y="2468880"/>
            <a:ext cx="4937760" cy="13716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Instituție publică, în subordinea Guvernului și în coordonarea prim-ministrului. Standardizează, evaluează, acreditează și monitorizează.</a:t>
            </a:r>
            <a:endParaRPr lang="en-US" sz="1550" dirty="0"/>
          </a:p>
        </p:txBody>
      </p:sp>
      <p:sp>
        <p:nvSpPr>
          <p:cNvPr id="8" name="Shape 6"/>
          <p:cNvSpPr/>
          <p:nvPr/>
        </p:nvSpPr>
        <p:spPr>
          <a:xfrm>
            <a:off x="6172200" y="1600200"/>
            <a:ext cx="5394960" cy="2377440"/>
          </a:xfrm>
          <a:prstGeom prst="roundRect">
            <a:avLst>
              <a:gd name="adj" fmla="val 3462"/>
            </a:avLst>
          </a:prstGeom>
          <a:solidFill>
            <a:srgbClr val="F9F8F5"/>
          </a:solidFill>
          <a:ln w="12700">
            <a:solidFill>
              <a:srgbClr val="F9F8F5"/>
            </a:solidFill>
            <a:prstDash val="solid"/>
          </a:ln>
        </p:spPr>
        <p:txBody>
          <a:bodyPr/>
          <a:p/>
        </p:txBody>
      </p:sp>
      <p:sp>
        <p:nvSpPr>
          <p:cNvPr id="9" name="Shape 7"/>
          <p:cNvSpPr/>
          <p:nvPr/>
        </p:nvSpPr>
        <p:spPr>
          <a:xfrm>
            <a:off x="6172200" y="1600200"/>
            <a:ext cx="5394960" cy="73152"/>
          </a:xfrm>
          <a:prstGeom prst="rect">
            <a:avLst/>
          </a:prstGeom>
          <a:solidFill>
            <a:srgbClr val="B02532"/>
          </a:solidFill>
          <a:ln w="12700">
            <a:solidFill>
              <a:srgbClr val="B02532"/>
            </a:solidFill>
            <a:prstDash val="solid"/>
          </a:ln>
        </p:spPr>
        <p:txBody>
          <a:bodyPr/>
          <a:p/>
        </p:txBody>
      </p:sp>
      <p:sp>
        <p:nvSpPr>
          <p:cNvPr id="10" name="Text 8"/>
          <p:cNvSpPr/>
          <p:nvPr/>
        </p:nvSpPr>
        <p:spPr>
          <a:xfrm>
            <a:off x="6400800" y="1801368"/>
            <a:ext cx="4937760" cy="6858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Unitatea sanitară</a:t>
            </a:r>
            <a:endParaRPr lang="en-US" sz="1900" dirty="0"/>
          </a:p>
        </p:txBody>
      </p:sp>
      <p:sp>
        <p:nvSpPr>
          <p:cNvPr id="11" name="Text 9"/>
          <p:cNvSpPr/>
          <p:nvPr/>
        </p:nvSpPr>
        <p:spPr>
          <a:xfrm>
            <a:off x="6400800" y="2468880"/>
            <a:ext cx="4937760" cy="13716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Răspunde de calitatea serviciilor și de siguranța pacientului.</a:t>
            </a:r>
            <a:endParaRPr lang="en-US" sz="1550" dirty="0"/>
          </a:p>
        </p:txBody>
      </p:sp>
      <p:sp>
        <p:nvSpPr>
          <p:cNvPr id="12" name="Shape 10"/>
          <p:cNvSpPr/>
          <p:nvPr/>
        </p:nvSpPr>
        <p:spPr>
          <a:xfrm>
            <a:off x="594360" y="4160520"/>
            <a:ext cx="10972800" cy="1097280"/>
          </a:xfrm>
          <a:prstGeom prst="roundRect">
            <a:avLst>
              <a:gd name="adj" fmla="val 7500"/>
            </a:avLst>
          </a:prstGeom>
          <a:solidFill>
            <a:srgbClr val="11121A"/>
          </a:solidFill>
          <a:ln w="12700">
            <a:solidFill>
              <a:srgbClr val="11121A"/>
            </a:solidFill>
            <a:prstDash val="solid"/>
          </a:ln>
        </p:spPr>
        <p:txBody>
          <a:bodyPr/>
          <a:p/>
        </p:txBody>
      </p:sp>
      <p:sp>
        <p:nvSpPr>
          <p:cNvPr id="13" name="Text 11"/>
          <p:cNvSpPr/>
          <p:nvPr/>
        </p:nvSpPr>
        <p:spPr>
          <a:xfrm>
            <a:off x="868680" y="4160520"/>
            <a:ext cx="10424160" cy="1097280"/>
          </a:xfrm>
          <a:prstGeom prst="rect">
            <a:avLst/>
          </a:prstGeom>
          <a:noFill/>
          <a:ln/>
        </p:spPr>
        <p:txBody>
          <a:bodyPr wrap="square" lIns="0" tIns="0" rIns="0" bIns="0" rtlCol="0" anchor="ctr"/>
          <a:lstStyle/>
          <a:p>
            <a:pPr indent="0" marL="0">
              <a:buNone/>
            </a:pPr>
            <a:r>
              <a:rPr lang="en-US" sz="1550" b="1" dirty="0">
                <a:solidFill>
                  <a:srgbClr val="FFC24B"/>
                </a:solidFill>
                <a:latin typeface="Palatino Linotype" pitchFamily="34" charset="0"/>
                <a:ea typeface="Palatino Linotype" pitchFamily="34" charset="-122"/>
                <a:cs typeface="Palatino Linotype" pitchFamily="34" charset="-120"/>
              </a:rPr>
              <a:t>Acreditarea este obligatorie, cu excepțiile din lege: medicina de familie, cabinetele dentare, unele cabinete de specialitate, laboratoarele.</a:t>
            </a:r>
            <a:endParaRPr lang="en-US" sz="1550" dirty="0"/>
          </a:p>
        </p:txBody>
      </p:sp>
      <p:sp>
        <p:nvSpPr>
          <p:cNvPr id="14" name="Text 12"/>
          <p:cNvSpPr/>
          <p:nvPr/>
        </p:nvSpPr>
        <p:spPr>
          <a:xfrm>
            <a:off x="594360" y="5440680"/>
            <a:ext cx="10972800" cy="5486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ANMCS verifică și recunoaște calitatea; spitalul și oamenii lui o produc.</a:t>
            </a:r>
            <a:endParaRPr lang="en-US" sz="1700" dirty="0"/>
          </a:p>
        </p:txBody>
      </p:sp>
      <p:sp>
        <p:nvSpPr>
          <p:cNvPr id="15" name="Text 1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Legea nr. 185/2017 (registru A1021, A1025, A1026).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594360" y="310896"/>
            <a:ext cx="3291840" cy="329184"/>
          </a:xfrm>
          <a:prstGeom prst="roundRect">
            <a:avLst>
              <a:gd name="adj" fmla="val 50000"/>
            </a:avLst>
          </a:prstGeom>
          <a:solidFill>
            <a:srgbClr val="0E7C6B"/>
          </a:solidFill>
          <a:ln w="12700">
            <a:solidFill>
              <a:srgbClr val="0E7C6B"/>
            </a:solidFill>
            <a:prstDash val="solid"/>
          </a:ln>
        </p:spPr>
        <p:txBody>
          <a:bodyPr/>
          <a:p/>
        </p:txBody>
      </p:sp>
      <p:sp>
        <p:nvSpPr>
          <p:cNvPr id="3" name="Text 1"/>
          <p:cNvSpPr/>
          <p:nvPr/>
        </p:nvSpPr>
        <p:spPr>
          <a:xfrm>
            <a:off x="594360" y="310896"/>
            <a:ext cx="329184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TERMENUL NOU 2 DIN 2</a:t>
            </a:r>
            <a:endParaRPr lang="en-US" sz="1300" dirty="0"/>
          </a:p>
        </p:txBody>
      </p:sp>
      <p:sp>
        <p:nvSpPr>
          <p:cNvPr id="4" name="Text 2"/>
          <p:cNvSpPr/>
          <p:nvPr/>
        </p:nvSpPr>
        <p:spPr>
          <a:xfrm>
            <a:off x="4114800" y="347472"/>
            <a:ext cx="749808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LEGEA NR. 185/2017, ART. 2</a:t>
            </a:r>
            <a:endParaRPr lang="en-US" sz="1300" dirty="0"/>
          </a:p>
        </p:txBody>
      </p:sp>
      <p:sp>
        <p:nvSpPr>
          <p:cNvPr id="5" name="Text 3"/>
          <p:cNvSpPr/>
          <p:nvPr/>
        </p:nvSpPr>
        <p:spPr>
          <a:xfrm>
            <a:off x="594360" y="777240"/>
            <a:ext cx="10972800" cy="7315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Acreditarea unităților sanitare</a:t>
            </a:r>
            <a:endParaRPr lang="en-US" sz="3200" dirty="0"/>
          </a:p>
        </p:txBody>
      </p:sp>
      <p:sp>
        <p:nvSpPr>
          <p:cNvPr id="6" name="Shape 4"/>
          <p:cNvSpPr/>
          <p:nvPr/>
        </p:nvSpPr>
        <p:spPr>
          <a:xfrm>
            <a:off x="594360" y="1691640"/>
            <a:ext cx="10972800" cy="2926080"/>
          </a:xfrm>
          <a:prstGeom prst="roundRect">
            <a:avLst>
              <a:gd name="adj" fmla="val 2813"/>
            </a:avLst>
          </a:prstGeom>
          <a:solidFill>
            <a:srgbClr val="FFFFFF"/>
          </a:solidFill>
          <a:ln w="12700">
            <a:solidFill>
              <a:srgbClr val="FFFFFF"/>
            </a:solidFill>
            <a:prstDash val="solid"/>
          </a:ln>
        </p:spPr>
        <p:txBody>
          <a:bodyPr/>
          <a:p/>
        </p:txBody>
      </p:sp>
      <p:sp>
        <p:nvSpPr>
          <p:cNvPr id="7" name="Shape 5"/>
          <p:cNvSpPr/>
          <p:nvPr/>
        </p:nvSpPr>
        <p:spPr>
          <a:xfrm>
            <a:off x="594360" y="1691640"/>
            <a:ext cx="82296" cy="2926080"/>
          </a:xfrm>
          <a:prstGeom prst="rect">
            <a:avLst/>
          </a:prstGeom>
          <a:solidFill>
            <a:srgbClr val="0E7C6B"/>
          </a:solidFill>
          <a:ln w="12700">
            <a:solidFill>
              <a:srgbClr val="0E7C6B"/>
            </a:solidFill>
            <a:prstDash val="solid"/>
          </a:ln>
        </p:spPr>
        <p:txBody>
          <a:bodyPr/>
          <a:p/>
        </p:txBody>
      </p:sp>
      <p:sp>
        <p:nvSpPr>
          <p:cNvPr id="8" name="Text 6"/>
          <p:cNvSpPr/>
          <p:nvPr/>
        </p:nvSpPr>
        <p:spPr>
          <a:xfrm>
            <a:off x="914400" y="1691640"/>
            <a:ext cx="10424160" cy="2926080"/>
          </a:xfrm>
          <a:prstGeom prst="rect">
            <a:avLst/>
          </a:prstGeom>
          <a:noFill/>
          <a:ln/>
        </p:spPr>
        <p:txBody>
          <a:bodyPr wrap="square" lIns="0" tIns="0" rIns="0" bIns="0" rtlCol="0" anchor="ctr"/>
          <a:lstStyle/>
          <a:p>
            <a:pPr indent="0" marL="0">
              <a:buNone/>
            </a:pPr>
            <a:r>
              <a:rPr lang="en-US" sz="1800" i="1" dirty="0">
                <a:solidFill>
                  <a:srgbClr val="11121A"/>
                </a:solidFill>
                <a:latin typeface="Palatino Linotype" pitchFamily="34" charset="0"/>
                <a:ea typeface="Palatino Linotype" pitchFamily="34" charset="-122"/>
                <a:cs typeface="Palatino Linotype" pitchFamily="34" charset="-120"/>
              </a:rPr>
              <a:t>„procesul de validare a conformității caracteristicilor serviciilor de sănătate efectuate de către unitățile sanitare, cu standardele ANMCS adoptate de către ANMCS și aprobate în condițiile prezentei legi, în urma căruia unitățile sanitare sunt clasificate pe categorii de acreditare pentru a conferi încredere în competența tehnico-profesională și organizatorică a acestora”</a:t>
            </a:r>
            <a:endParaRPr lang="en-US" sz="1800" dirty="0"/>
          </a:p>
        </p:txBody>
      </p:sp>
      <p:sp>
        <p:nvSpPr>
          <p:cNvPr id="9" name="Text 7"/>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Legea nr. 185/2017, art. 2 (registru A1023).</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LEGEA NR. 185/2017, ART. 2 ȘI 9 · SE CERE LA EXAMEN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Două durate de cinci ani, ușor de confundat</a:t>
            </a:r>
            <a:endParaRPr lang="en-US" sz="2800" dirty="0"/>
          </a:p>
        </p:txBody>
      </p:sp>
      <p:sp>
        <p:nvSpPr>
          <p:cNvPr id="4" name="Shape 2"/>
          <p:cNvSpPr/>
          <p:nvPr/>
        </p:nvSpPr>
        <p:spPr>
          <a:xfrm>
            <a:off x="594360" y="1645920"/>
            <a:ext cx="5394960" cy="2286000"/>
          </a:xfrm>
          <a:prstGeom prst="roundRect">
            <a:avLst>
              <a:gd name="adj" fmla="val 3600"/>
            </a:avLst>
          </a:prstGeom>
          <a:solidFill>
            <a:srgbClr val="1D1F2B"/>
          </a:solidFill>
          <a:ln w="12700">
            <a:solidFill>
              <a:srgbClr val="1D1F2B"/>
            </a:solidFill>
            <a:prstDash val="solid"/>
          </a:ln>
        </p:spPr>
        <p:txBody>
          <a:bodyPr/>
          <a:p/>
        </p:txBody>
      </p:sp>
      <p:sp>
        <p:nvSpPr>
          <p:cNvPr id="5" name="Text 3"/>
          <p:cNvSpPr/>
          <p:nvPr/>
        </p:nvSpPr>
        <p:spPr>
          <a:xfrm>
            <a:off x="868680" y="1737360"/>
            <a:ext cx="4846320" cy="731520"/>
          </a:xfrm>
          <a:prstGeom prst="rect">
            <a:avLst/>
          </a:prstGeom>
          <a:noFill/>
          <a:ln/>
        </p:spPr>
        <p:txBody>
          <a:bodyPr wrap="square" lIns="0" tIns="0" rIns="0" bIns="0" rtlCol="0" anchor="t"/>
          <a:lstStyle/>
          <a:p>
            <a:pPr indent="0" marL="0">
              <a:buNone/>
            </a:pPr>
            <a:r>
              <a:rPr lang="en-US" sz="4000" b="1" dirty="0">
                <a:solidFill>
                  <a:srgbClr val="FFC24B"/>
                </a:solidFill>
                <a:latin typeface="Palatino Linotype" pitchFamily="34" charset="0"/>
                <a:ea typeface="Palatino Linotype" pitchFamily="34" charset="-122"/>
                <a:cs typeface="Palatino Linotype" pitchFamily="34" charset="-120"/>
              </a:rPr>
              <a:t>5 ani</a:t>
            </a:r>
            <a:endParaRPr lang="en-US" sz="4000" dirty="0"/>
          </a:p>
        </p:txBody>
      </p:sp>
      <p:sp>
        <p:nvSpPr>
          <p:cNvPr id="6" name="Text 4"/>
          <p:cNvSpPr/>
          <p:nvPr/>
        </p:nvSpPr>
        <p:spPr>
          <a:xfrm>
            <a:off x="868680" y="2468880"/>
            <a:ext cx="4846320" cy="411480"/>
          </a:xfrm>
          <a:prstGeom prst="rect">
            <a:avLst/>
          </a:prstGeom>
          <a:noFill/>
          <a:ln/>
        </p:spPr>
        <p:txBody>
          <a:bodyPr wrap="square" lIns="0" tIns="0" rIns="0" bIns="0" rtlCol="0" anchor="t"/>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Ciclul de acreditare</a:t>
            </a:r>
            <a:endParaRPr lang="en-US" sz="1900" dirty="0"/>
          </a:p>
        </p:txBody>
      </p:sp>
      <p:sp>
        <p:nvSpPr>
          <p:cNvPr id="7" name="Text 5"/>
          <p:cNvSpPr/>
          <p:nvPr/>
        </p:nvSpPr>
        <p:spPr>
          <a:xfrm>
            <a:off x="868680" y="2880360"/>
            <a:ext cx="4846320" cy="96012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intervalul în care se folosește o ediție a standardelor; se poate prelungi în epidemii sau dezastre</a:t>
            </a:r>
            <a:endParaRPr lang="en-US" sz="1600" dirty="0"/>
          </a:p>
        </p:txBody>
      </p:sp>
      <p:sp>
        <p:nvSpPr>
          <p:cNvPr id="8" name="Shape 6"/>
          <p:cNvSpPr/>
          <p:nvPr/>
        </p:nvSpPr>
        <p:spPr>
          <a:xfrm>
            <a:off x="6172200" y="1645920"/>
            <a:ext cx="5394960" cy="2286000"/>
          </a:xfrm>
          <a:prstGeom prst="roundRect">
            <a:avLst>
              <a:gd name="adj" fmla="val 3600"/>
            </a:avLst>
          </a:prstGeom>
          <a:solidFill>
            <a:srgbClr val="1D1F2B"/>
          </a:solidFill>
          <a:ln w="12700">
            <a:solidFill>
              <a:srgbClr val="1D1F2B"/>
            </a:solidFill>
            <a:prstDash val="solid"/>
          </a:ln>
        </p:spPr>
        <p:txBody>
          <a:bodyPr/>
          <a:p/>
        </p:txBody>
      </p:sp>
      <p:sp>
        <p:nvSpPr>
          <p:cNvPr id="9" name="Text 7"/>
          <p:cNvSpPr/>
          <p:nvPr/>
        </p:nvSpPr>
        <p:spPr>
          <a:xfrm>
            <a:off x="6446520" y="1737360"/>
            <a:ext cx="4846320" cy="731520"/>
          </a:xfrm>
          <a:prstGeom prst="rect">
            <a:avLst/>
          </a:prstGeom>
          <a:noFill/>
          <a:ln/>
        </p:spPr>
        <p:txBody>
          <a:bodyPr wrap="square" lIns="0" tIns="0" rIns="0" bIns="0" rtlCol="0" anchor="t"/>
          <a:lstStyle/>
          <a:p>
            <a:pPr indent="0" marL="0">
              <a:buNone/>
            </a:pPr>
            <a:r>
              <a:rPr lang="en-US" sz="4000" b="1" dirty="0">
                <a:solidFill>
                  <a:srgbClr val="27D3BE"/>
                </a:solidFill>
                <a:latin typeface="Palatino Linotype" pitchFamily="34" charset="0"/>
                <a:ea typeface="Palatino Linotype" pitchFamily="34" charset="-122"/>
                <a:cs typeface="Palatino Linotype" pitchFamily="34" charset="-120"/>
              </a:rPr>
              <a:t>5 ani</a:t>
            </a:r>
            <a:endParaRPr lang="en-US" sz="4000" dirty="0"/>
          </a:p>
        </p:txBody>
      </p:sp>
      <p:sp>
        <p:nvSpPr>
          <p:cNvPr id="10" name="Text 8"/>
          <p:cNvSpPr/>
          <p:nvPr/>
        </p:nvSpPr>
        <p:spPr>
          <a:xfrm>
            <a:off x="6446520" y="2468880"/>
            <a:ext cx="4846320" cy="411480"/>
          </a:xfrm>
          <a:prstGeom prst="rect">
            <a:avLst/>
          </a:prstGeom>
          <a:noFill/>
          <a:ln/>
        </p:spPr>
        <p:txBody>
          <a:bodyPr wrap="square" lIns="0" tIns="0" rIns="0" bIns="0" rtlCol="0" anchor="t"/>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Perioada de acreditare</a:t>
            </a:r>
            <a:endParaRPr lang="en-US" sz="1900" dirty="0"/>
          </a:p>
        </p:txBody>
      </p:sp>
      <p:sp>
        <p:nvSpPr>
          <p:cNvPr id="11" name="Text 9"/>
          <p:cNvSpPr/>
          <p:nvPr/>
        </p:nvSpPr>
        <p:spPr>
          <a:xfrm>
            <a:off x="6446520" y="2880360"/>
            <a:ext cx="4846320" cy="96012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valabilitatea certificatului de acreditare al unității</a:t>
            </a:r>
            <a:endParaRPr lang="en-US" sz="1600" dirty="0"/>
          </a:p>
        </p:txBody>
      </p:sp>
      <p:sp>
        <p:nvSpPr>
          <p:cNvPr id="12" name="Text 10"/>
          <p:cNvSpPr/>
          <p:nvPr/>
        </p:nvSpPr>
        <p:spPr>
          <a:xfrm>
            <a:off x="594360" y="4114800"/>
            <a:ext cx="10972800" cy="100584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Evaluarea se face după standardele în vigoare la data evaluării. Noua acreditare se cere cu cel puțin 6 luni înainte de expirarea certificatului.</a:t>
            </a:r>
            <a:endParaRPr lang="en-US" sz="1700" dirty="0"/>
          </a:p>
        </p:txBody>
      </p:sp>
      <p:sp>
        <p:nvSpPr>
          <p:cNvPr id="13" name="Text 11"/>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Legea nr. 185/2017 (registru A1024, A1027, A1028).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ORDINUL PREȘEDINTELUI ANMCS NR. 139 · MONITORUL OFICIAL NR. 808 BIS DIN 23.09.2026</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Standardele ANMCS: trei referințe</a:t>
            </a:r>
            <a:endParaRPr lang="en-US" sz="3000" dirty="0"/>
          </a:p>
        </p:txBody>
      </p:sp>
      <p:sp>
        <p:nvSpPr>
          <p:cNvPr id="4" name="Text 2"/>
          <p:cNvSpPr/>
          <p:nvPr/>
        </p:nvSpPr>
        <p:spPr>
          <a:xfrm>
            <a:off x="594360" y="1508760"/>
            <a:ext cx="10972800" cy="41148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Patru niveluri: referința, standardul, criteriul, cerința.</a:t>
            </a:r>
            <a:endParaRPr lang="en-US" sz="1600" dirty="0"/>
          </a:p>
        </p:txBody>
      </p:sp>
      <p:sp>
        <p:nvSpPr>
          <p:cNvPr id="5" name="Shape 3"/>
          <p:cNvSpPr/>
          <p:nvPr/>
        </p:nvSpPr>
        <p:spPr>
          <a:xfrm>
            <a:off x="594360" y="2011680"/>
            <a:ext cx="3566160" cy="2971800"/>
          </a:xfrm>
          <a:prstGeom prst="roundRect">
            <a:avLst>
              <a:gd name="adj" fmla="val 2769"/>
            </a:avLst>
          </a:prstGeom>
          <a:solidFill>
            <a:srgbClr val="ECEAE4"/>
          </a:solidFill>
          <a:ln w="12700">
            <a:solidFill>
              <a:srgbClr val="ECEAE4"/>
            </a:solidFill>
            <a:prstDash val="solid"/>
          </a:ln>
        </p:spPr>
        <p:txBody>
          <a:bodyPr/>
          <a:p/>
        </p:txBody>
      </p:sp>
      <p:sp>
        <p:nvSpPr>
          <p:cNvPr id="6" name="Shape 4"/>
          <p:cNvSpPr/>
          <p:nvPr/>
        </p:nvSpPr>
        <p:spPr>
          <a:xfrm>
            <a:off x="594360" y="2011680"/>
            <a:ext cx="3566160" cy="73152"/>
          </a:xfrm>
          <a:prstGeom prst="rect">
            <a:avLst/>
          </a:prstGeom>
          <a:solidFill>
            <a:srgbClr val="0E7C6B"/>
          </a:solidFill>
          <a:ln w="12700">
            <a:solidFill>
              <a:srgbClr val="0E7C6B"/>
            </a:solidFill>
            <a:prstDash val="solid"/>
          </a:ln>
        </p:spPr>
        <p:txBody>
          <a:bodyPr/>
          <a:p/>
        </p:txBody>
      </p:sp>
      <p:sp>
        <p:nvSpPr>
          <p:cNvPr id="7" name="Text 5"/>
          <p:cNvSpPr/>
          <p:nvPr/>
        </p:nvSpPr>
        <p:spPr>
          <a:xfrm>
            <a:off x="822960" y="2212848"/>
            <a:ext cx="3108960" cy="68580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Managementul strategic și organizațional</a:t>
            </a:r>
            <a:endParaRPr lang="en-US" sz="1700" dirty="0"/>
          </a:p>
        </p:txBody>
      </p:sp>
      <p:sp>
        <p:nvSpPr>
          <p:cNvPr id="8" name="Text 6"/>
          <p:cNvSpPr/>
          <p:nvPr/>
        </p:nvSpPr>
        <p:spPr>
          <a:xfrm>
            <a:off x="822960" y="2880360"/>
            <a:ext cx="3108960" cy="1965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strategia, resursele umane, sistemul de management al calității, riscurile neclinice</a:t>
            </a:r>
            <a:endParaRPr lang="en-US" sz="1500" dirty="0"/>
          </a:p>
        </p:txBody>
      </p:sp>
      <p:sp>
        <p:nvSpPr>
          <p:cNvPr id="9" name="Shape 7"/>
          <p:cNvSpPr/>
          <p:nvPr/>
        </p:nvSpPr>
        <p:spPr>
          <a:xfrm>
            <a:off x="4297680" y="2011680"/>
            <a:ext cx="3566160" cy="2971800"/>
          </a:xfrm>
          <a:prstGeom prst="roundRect">
            <a:avLst>
              <a:gd name="adj" fmla="val 2769"/>
            </a:avLst>
          </a:prstGeom>
          <a:solidFill>
            <a:srgbClr val="F9F8F5"/>
          </a:solidFill>
          <a:ln w="12700">
            <a:solidFill>
              <a:srgbClr val="F9F8F5"/>
            </a:solidFill>
            <a:prstDash val="solid"/>
          </a:ln>
        </p:spPr>
        <p:txBody>
          <a:bodyPr/>
          <a:p/>
        </p:txBody>
      </p:sp>
      <p:sp>
        <p:nvSpPr>
          <p:cNvPr id="10" name="Shape 8"/>
          <p:cNvSpPr/>
          <p:nvPr/>
        </p:nvSpPr>
        <p:spPr>
          <a:xfrm>
            <a:off x="4297680" y="2011680"/>
            <a:ext cx="3566160" cy="73152"/>
          </a:xfrm>
          <a:prstGeom prst="rect">
            <a:avLst/>
          </a:prstGeom>
          <a:solidFill>
            <a:srgbClr val="8A6100"/>
          </a:solidFill>
          <a:ln w="12700">
            <a:solidFill>
              <a:srgbClr val="8A6100"/>
            </a:solidFill>
            <a:prstDash val="solid"/>
          </a:ln>
        </p:spPr>
        <p:txBody>
          <a:bodyPr/>
          <a:p/>
        </p:txBody>
      </p:sp>
      <p:sp>
        <p:nvSpPr>
          <p:cNvPr id="11" name="Text 9"/>
          <p:cNvSpPr/>
          <p:nvPr/>
        </p:nvSpPr>
        <p:spPr>
          <a:xfrm>
            <a:off x="4526280" y="2212848"/>
            <a:ext cx="3108960" cy="685800"/>
          </a:xfrm>
          <a:prstGeom prst="rect">
            <a:avLst/>
          </a:prstGeom>
          <a:noFill/>
          <a:ln/>
        </p:spPr>
        <p:txBody>
          <a:bodyPr wrap="square" lIns="0" tIns="0" rIns="0" bIns="0" rtlCol="0" anchor="t"/>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Managementul clinic</a:t>
            </a:r>
            <a:endParaRPr lang="en-US" sz="1700" dirty="0"/>
          </a:p>
        </p:txBody>
      </p:sp>
      <p:sp>
        <p:nvSpPr>
          <p:cNvPr id="12" name="Text 10"/>
          <p:cNvSpPr/>
          <p:nvPr/>
        </p:nvSpPr>
        <p:spPr>
          <a:xfrm>
            <a:off x="4526280" y="2880360"/>
            <a:ext cx="3108960" cy="1965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evaluarea inițială, medicamentele, infecțiile asociate, siguranța pacientului, auditul clinic</a:t>
            </a:r>
            <a:endParaRPr lang="en-US" sz="1500" dirty="0"/>
          </a:p>
        </p:txBody>
      </p:sp>
      <p:sp>
        <p:nvSpPr>
          <p:cNvPr id="13" name="Shape 11"/>
          <p:cNvSpPr/>
          <p:nvPr/>
        </p:nvSpPr>
        <p:spPr>
          <a:xfrm>
            <a:off x="8001000" y="2011680"/>
            <a:ext cx="3566160" cy="2971800"/>
          </a:xfrm>
          <a:prstGeom prst="roundRect">
            <a:avLst>
              <a:gd name="adj" fmla="val 2769"/>
            </a:avLst>
          </a:prstGeom>
          <a:solidFill>
            <a:srgbClr val="ECEAE4"/>
          </a:solidFill>
          <a:ln w="12700">
            <a:solidFill>
              <a:srgbClr val="ECEAE4"/>
            </a:solidFill>
            <a:prstDash val="solid"/>
          </a:ln>
        </p:spPr>
        <p:txBody>
          <a:bodyPr/>
          <a:p/>
        </p:txBody>
      </p:sp>
      <p:sp>
        <p:nvSpPr>
          <p:cNvPr id="14" name="Shape 12"/>
          <p:cNvSpPr/>
          <p:nvPr/>
        </p:nvSpPr>
        <p:spPr>
          <a:xfrm>
            <a:off x="8001000" y="2011680"/>
            <a:ext cx="3566160" cy="73152"/>
          </a:xfrm>
          <a:prstGeom prst="rect">
            <a:avLst/>
          </a:prstGeom>
          <a:solidFill>
            <a:srgbClr val="4A2D8C"/>
          </a:solidFill>
          <a:ln w="12700">
            <a:solidFill>
              <a:srgbClr val="4A2D8C"/>
            </a:solidFill>
            <a:prstDash val="solid"/>
          </a:ln>
        </p:spPr>
        <p:txBody>
          <a:bodyPr/>
          <a:p/>
        </p:txBody>
      </p:sp>
      <p:sp>
        <p:nvSpPr>
          <p:cNvPr id="15" name="Text 13"/>
          <p:cNvSpPr/>
          <p:nvPr/>
        </p:nvSpPr>
        <p:spPr>
          <a:xfrm>
            <a:off x="8229600" y="2212848"/>
            <a:ext cx="3108960" cy="685800"/>
          </a:xfrm>
          <a:prstGeom prst="rect">
            <a:avLst/>
          </a:prstGeom>
          <a:noFill/>
          <a:ln/>
        </p:spPr>
        <p:txBody>
          <a:bodyPr wrap="square" lIns="0" tIns="0" rIns="0" bIns="0" rtlCol="0" anchor="t"/>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Etica medicală și drepturile pacientului</a:t>
            </a:r>
            <a:endParaRPr lang="en-US" sz="1700" dirty="0"/>
          </a:p>
        </p:txBody>
      </p:sp>
      <p:sp>
        <p:nvSpPr>
          <p:cNvPr id="16" name="Text 14"/>
          <p:cNvSpPr/>
          <p:nvPr/>
        </p:nvSpPr>
        <p:spPr>
          <a:xfrm>
            <a:off x="8229600" y="2880360"/>
            <a:ext cx="3108960" cy="1965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autonomia, echitatea, binefacerea și evitarea vătămării</a:t>
            </a:r>
            <a:endParaRPr lang="en-US" sz="1500" dirty="0"/>
          </a:p>
        </p:txBody>
      </p:sp>
      <p:sp>
        <p:nvSpPr>
          <p:cNvPr id="17" name="Text 15"/>
          <p:cNvSpPr/>
          <p:nvPr/>
        </p:nvSpPr>
        <p:spPr>
          <a:xfrm>
            <a:off x="594360" y="5212080"/>
            <a:ext cx="10972800" cy="73152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Ediția a III-a are trei referințe, ca ediția a II-a din 2017. „Șase domenii” nu este structura standardelor ANMCS.</a:t>
            </a:r>
            <a:endParaRPr lang="en-US" sz="1600" dirty="0"/>
          </a:p>
        </p:txBody>
      </p:sp>
      <p:sp>
        <p:nvSpPr>
          <p:cNvPr id="18" name="Text 1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standardele ANMCS, ediția a III-a (registru A1030, A1031, A1033); Ordinul MS nr. 446/2017 (registru A1037).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STANDARDELE ANMCS, EDIȚIA A III-A</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CE VEDEȚI PE SECȚIE?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cer standardele, concret</a:t>
            </a:r>
            <a:endParaRPr lang="en-US" sz="3000" dirty="0"/>
          </a:p>
        </p:txBody>
      </p:sp>
      <p:sp>
        <p:nvSpPr>
          <p:cNvPr id="6" name="Shape 4"/>
          <p:cNvSpPr/>
          <p:nvPr/>
        </p:nvSpPr>
        <p:spPr>
          <a:xfrm>
            <a:off x="594360" y="160020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7" name="Shape 5"/>
          <p:cNvSpPr/>
          <p:nvPr/>
        </p:nvSpPr>
        <p:spPr>
          <a:xfrm>
            <a:off x="868680" y="1737360"/>
            <a:ext cx="420624" cy="420624"/>
          </a:xfrm>
          <a:prstGeom prst="ellipse">
            <a:avLst/>
          </a:prstGeom>
          <a:solidFill>
            <a:srgbClr val="0E7C6B"/>
          </a:solidFill>
          <a:ln/>
        </p:spPr>
        <p:txBody>
          <a:bodyPr/>
          <a:p/>
        </p:txBody>
      </p:sp>
      <p:sp>
        <p:nvSpPr>
          <p:cNvPr id="8" name="Text 6"/>
          <p:cNvSpPr/>
          <p:nvPr/>
        </p:nvSpPr>
        <p:spPr>
          <a:xfrm>
            <a:off x="86868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1600200"/>
            <a:ext cx="9829800" cy="694944"/>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sistem de management al calității care coordonează monitorizarea și îmbunătățirea</a:t>
            </a:r>
            <a:endParaRPr lang="en-US" sz="1600" dirty="0"/>
          </a:p>
        </p:txBody>
      </p:sp>
      <p:sp>
        <p:nvSpPr>
          <p:cNvPr id="10" name="Shape 8"/>
          <p:cNvSpPr/>
          <p:nvPr/>
        </p:nvSpPr>
        <p:spPr>
          <a:xfrm>
            <a:off x="594360" y="242316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1" name="Shape 9"/>
          <p:cNvSpPr/>
          <p:nvPr/>
        </p:nvSpPr>
        <p:spPr>
          <a:xfrm>
            <a:off x="868680" y="2560320"/>
            <a:ext cx="420624" cy="420624"/>
          </a:xfrm>
          <a:prstGeom prst="ellipse">
            <a:avLst/>
          </a:prstGeom>
          <a:solidFill>
            <a:srgbClr val="0E7C6B"/>
          </a:solidFill>
          <a:ln/>
        </p:spPr>
        <p:txBody>
          <a:bodyPr/>
          <a:p/>
        </p:txBody>
      </p:sp>
      <p:sp>
        <p:nvSpPr>
          <p:cNvPr id="12" name="Text 10"/>
          <p:cNvSpPr/>
          <p:nvPr/>
        </p:nvSpPr>
        <p:spPr>
          <a:xfrm>
            <a:off x="868680" y="25603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2423160"/>
            <a:ext cx="9829800" cy="694944"/>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Evaluarea periodică a culturii siguranței, cu un instrument standardizat</a:t>
            </a:r>
            <a:endParaRPr lang="en-US" sz="1600" dirty="0"/>
          </a:p>
        </p:txBody>
      </p:sp>
      <p:sp>
        <p:nvSpPr>
          <p:cNvPr id="14" name="Shape 12"/>
          <p:cNvSpPr/>
          <p:nvPr/>
        </p:nvSpPr>
        <p:spPr>
          <a:xfrm>
            <a:off x="594360" y="324612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5" name="Shape 13"/>
          <p:cNvSpPr/>
          <p:nvPr/>
        </p:nvSpPr>
        <p:spPr>
          <a:xfrm>
            <a:off x="868680" y="3383280"/>
            <a:ext cx="420624" cy="420624"/>
          </a:xfrm>
          <a:prstGeom prst="ellipse">
            <a:avLst/>
          </a:prstGeom>
          <a:solidFill>
            <a:srgbClr val="0E7C6B"/>
          </a:solidFill>
          <a:ln/>
        </p:spPr>
        <p:txBody>
          <a:bodyPr/>
          <a:p/>
        </p:txBody>
      </p:sp>
      <p:sp>
        <p:nvSpPr>
          <p:cNvPr id="16" name="Text 14"/>
          <p:cNvSpPr/>
          <p:nvPr/>
        </p:nvSpPr>
        <p:spPr>
          <a:xfrm>
            <a:off x="86868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08760" y="3246120"/>
            <a:ext cx="9829800" cy="694944"/>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Experiența pacienților și a aparținătorilor; analiza sesizărilor și a reclamațiilor</a:t>
            </a:r>
            <a:endParaRPr lang="en-US" sz="1600" dirty="0"/>
          </a:p>
        </p:txBody>
      </p:sp>
      <p:sp>
        <p:nvSpPr>
          <p:cNvPr id="18" name="Shape 16"/>
          <p:cNvSpPr/>
          <p:nvPr/>
        </p:nvSpPr>
        <p:spPr>
          <a:xfrm>
            <a:off x="594360" y="406908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9" name="Shape 17"/>
          <p:cNvSpPr/>
          <p:nvPr/>
        </p:nvSpPr>
        <p:spPr>
          <a:xfrm>
            <a:off x="868680" y="4206240"/>
            <a:ext cx="420624" cy="420624"/>
          </a:xfrm>
          <a:prstGeom prst="ellipse">
            <a:avLst/>
          </a:prstGeom>
          <a:solidFill>
            <a:srgbClr val="0E7C6B"/>
          </a:solidFill>
          <a:ln/>
        </p:spPr>
        <p:txBody>
          <a:bodyPr/>
          <a:p/>
        </p:txBody>
      </p:sp>
      <p:sp>
        <p:nvSpPr>
          <p:cNvPr id="20" name="Text 18"/>
          <p:cNvSpPr/>
          <p:nvPr/>
        </p:nvSpPr>
        <p:spPr>
          <a:xfrm>
            <a:off x="868680" y="42062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508760" y="4069080"/>
            <a:ext cx="9829800" cy="694944"/>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program de audit clinic; echipe cu medici, asistenți medicali și farmaciști</a:t>
            </a:r>
            <a:endParaRPr lang="en-US" sz="1600" dirty="0"/>
          </a:p>
        </p:txBody>
      </p:sp>
      <p:sp>
        <p:nvSpPr>
          <p:cNvPr id="22" name="Text 20"/>
          <p:cNvSpPr/>
          <p:nvPr/>
        </p:nvSpPr>
        <p:spPr>
          <a:xfrm>
            <a:off x="594360" y="5029200"/>
            <a:ext cx="10972800" cy="548640"/>
          </a:xfrm>
          <a:prstGeom prst="rect">
            <a:avLst/>
          </a:prstGeom>
          <a:noFill/>
          <a:ln/>
        </p:spPr>
        <p:txBody>
          <a:bodyPr wrap="square" lIns="0" tIns="0" rIns="0" bIns="0" rtlCol="0" anchor="t"/>
          <a:lstStyle/>
          <a:p>
            <a:pPr indent="0" marL="0">
              <a:buNone/>
            </a:pPr>
            <a:r>
              <a:rPr lang="en-US" sz="1550" i="1" dirty="0">
                <a:solidFill>
                  <a:srgbClr val="585A64"/>
                </a:solidFill>
                <a:latin typeface="Palatino Linotype" pitchFamily="34" charset="0"/>
                <a:ea typeface="Palatino Linotype" pitchFamily="34" charset="-122"/>
                <a:cs typeface="Palatino Linotype" pitchFamily="34" charset="-120"/>
              </a:rPr>
              <a:t>Anexa citată nu precizează de la ce dată se evaluează spitalele după ediția a III-a.</a:t>
            </a:r>
            <a:endParaRPr lang="en-US" sz="1550" dirty="0"/>
          </a:p>
        </p:txBody>
      </p:sp>
      <p:sp>
        <p:nvSpPr>
          <p:cNvPr id="23" name="Text 21"/>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standardele ANMCS, ediția a III-a (registru A1034, A1035).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PROCEDURA DIN 2017 · ORDINUL MS NR. 446/2017</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Cum decurge acreditarea</a:t>
            </a:r>
            <a:endParaRPr lang="en-US" sz="3000" dirty="0"/>
          </a:p>
        </p:txBody>
      </p:sp>
      <p:sp>
        <p:nvSpPr>
          <p:cNvPr id="4" name="Shape 2"/>
          <p:cNvSpPr/>
          <p:nvPr/>
        </p:nvSpPr>
        <p:spPr>
          <a:xfrm>
            <a:off x="594360" y="1645920"/>
            <a:ext cx="3383280" cy="2697480"/>
          </a:xfrm>
          <a:prstGeom prst="roundRect">
            <a:avLst>
              <a:gd name="adj" fmla="val 3051"/>
            </a:avLst>
          </a:prstGeom>
          <a:solidFill>
            <a:srgbClr val="ECEAE4"/>
          </a:solidFill>
          <a:ln w="12700">
            <a:solidFill>
              <a:srgbClr val="ECEAE4"/>
            </a:solidFill>
            <a:prstDash val="solid"/>
          </a:ln>
        </p:spPr>
        <p:txBody>
          <a:bodyPr/>
          <a:p/>
        </p:txBody>
      </p:sp>
      <p:sp>
        <p:nvSpPr>
          <p:cNvPr id="5" name="Shape 3"/>
          <p:cNvSpPr/>
          <p:nvPr/>
        </p:nvSpPr>
        <p:spPr>
          <a:xfrm>
            <a:off x="594360" y="1645920"/>
            <a:ext cx="338328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292608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1 · Pregătirea</a:t>
            </a:r>
            <a:endParaRPr lang="en-US" sz="1900" dirty="0"/>
          </a:p>
        </p:txBody>
      </p:sp>
      <p:sp>
        <p:nvSpPr>
          <p:cNvPr id="7" name="Text 5"/>
          <p:cNvSpPr/>
          <p:nvPr/>
        </p:nvSpPr>
        <p:spPr>
          <a:xfrm>
            <a:off x="822960" y="2514600"/>
            <a:ext cx="2926080" cy="16916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înscrierea; ANMCS planifică vizita; autoevaluarea spitalului</a:t>
            </a:r>
            <a:endParaRPr lang="en-US" sz="1550" dirty="0"/>
          </a:p>
        </p:txBody>
      </p:sp>
      <p:sp>
        <p:nvSpPr>
          <p:cNvPr id="8" name="Shape 6"/>
          <p:cNvSpPr/>
          <p:nvPr/>
        </p:nvSpPr>
        <p:spPr>
          <a:xfrm>
            <a:off x="4023360" y="2743200"/>
            <a:ext cx="365760" cy="310896"/>
          </a:xfrm>
          <a:prstGeom prst="rightArrow">
            <a:avLst/>
          </a:prstGeom>
          <a:solidFill>
            <a:srgbClr val="C9C6BE"/>
          </a:solidFill>
          <a:ln w="12700">
            <a:solidFill>
              <a:srgbClr val="C9C6BE"/>
            </a:solidFill>
            <a:prstDash val="solid"/>
          </a:ln>
        </p:spPr>
        <p:txBody>
          <a:bodyPr/>
          <a:p/>
        </p:txBody>
      </p:sp>
      <p:sp>
        <p:nvSpPr>
          <p:cNvPr id="9" name="Shape 7"/>
          <p:cNvSpPr/>
          <p:nvPr/>
        </p:nvSpPr>
        <p:spPr>
          <a:xfrm>
            <a:off x="4434840" y="1645920"/>
            <a:ext cx="3383280" cy="2697480"/>
          </a:xfrm>
          <a:prstGeom prst="roundRect">
            <a:avLst>
              <a:gd name="adj" fmla="val 3051"/>
            </a:avLst>
          </a:prstGeom>
          <a:solidFill>
            <a:srgbClr val="F9F8F5"/>
          </a:solidFill>
          <a:ln w="12700">
            <a:solidFill>
              <a:srgbClr val="F9F8F5"/>
            </a:solidFill>
            <a:prstDash val="solid"/>
          </a:ln>
        </p:spPr>
        <p:txBody>
          <a:bodyPr/>
          <a:p/>
        </p:txBody>
      </p:sp>
      <p:sp>
        <p:nvSpPr>
          <p:cNvPr id="10" name="Shape 8"/>
          <p:cNvSpPr/>
          <p:nvPr/>
        </p:nvSpPr>
        <p:spPr>
          <a:xfrm>
            <a:off x="4434840" y="1645920"/>
            <a:ext cx="3383280" cy="73152"/>
          </a:xfrm>
          <a:prstGeom prst="rect">
            <a:avLst/>
          </a:prstGeom>
          <a:solidFill>
            <a:srgbClr val="8A6100"/>
          </a:solidFill>
          <a:ln w="12700">
            <a:solidFill>
              <a:srgbClr val="8A6100"/>
            </a:solidFill>
            <a:prstDash val="solid"/>
          </a:ln>
        </p:spPr>
        <p:txBody>
          <a:bodyPr/>
          <a:p/>
        </p:txBody>
      </p:sp>
      <p:sp>
        <p:nvSpPr>
          <p:cNvPr id="11" name="Text 9"/>
          <p:cNvSpPr/>
          <p:nvPr/>
        </p:nvSpPr>
        <p:spPr>
          <a:xfrm>
            <a:off x="4663440" y="1847088"/>
            <a:ext cx="2926080" cy="685800"/>
          </a:xfrm>
          <a:prstGeom prst="rect">
            <a:avLst/>
          </a:prstGeom>
          <a:noFill/>
          <a:ln/>
        </p:spPr>
        <p:txBody>
          <a:bodyPr wrap="square" lIns="0" tIns="0" rIns="0" bIns="0" rtlCol="0" anchor="t"/>
          <a:lstStyle/>
          <a:p>
            <a:pPr indent="0" marL="0">
              <a:buNone/>
            </a:pPr>
            <a:r>
              <a:rPr lang="en-US" sz="1900" b="1" dirty="0">
                <a:solidFill>
                  <a:srgbClr val="8A6100"/>
                </a:solidFill>
                <a:latin typeface="Palatino Linotype" pitchFamily="34" charset="0"/>
                <a:ea typeface="Palatino Linotype" pitchFamily="34" charset="-122"/>
                <a:cs typeface="Palatino Linotype" pitchFamily="34" charset="-120"/>
              </a:rPr>
              <a:t>2 · Evaluarea</a:t>
            </a:r>
            <a:endParaRPr lang="en-US" sz="1900" dirty="0"/>
          </a:p>
        </p:txBody>
      </p:sp>
      <p:sp>
        <p:nvSpPr>
          <p:cNvPr id="12" name="Text 10"/>
          <p:cNvSpPr/>
          <p:nvPr/>
        </p:nvSpPr>
        <p:spPr>
          <a:xfrm>
            <a:off x="4663440" y="2514600"/>
            <a:ext cx="2926080" cy="16916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documentele, observarea directă, discuțiile de grup, interviurile, simularea unor procese</a:t>
            </a:r>
            <a:endParaRPr lang="en-US" sz="1550" dirty="0"/>
          </a:p>
        </p:txBody>
      </p:sp>
      <p:sp>
        <p:nvSpPr>
          <p:cNvPr id="13" name="Shape 11"/>
          <p:cNvSpPr/>
          <p:nvPr/>
        </p:nvSpPr>
        <p:spPr>
          <a:xfrm>
            <a:off x="7863840" y="2743200"/>
            <a:ext cx="365760" cy="310896"/>
          </a:xfrm>
          <a:prstGeom prst="rightArrow">
            <a:avLst/>
          </a:prstGeom>
          <a:solidFill>
            <a:srgbClr val="C9C6BE"/>
          </a:solidFill>
          <a:ln w="12700">
            <a:solidFill>
              <a:srgbClr val="C9C6BE"/>
            </a:solidFill>
            <a:prstDash val="solid"/>
          </a:ln>
        </p:spPr>
        <p:txBody>
          <a:bodyPr/>
          <a:p/>
        </p:txBody>
      </p:sp>
      <p:sp>
        <p:nvSpPr>
          <p:cNvPr id="14" name="Shape 12"/>
          <p:cNvSpPr/>
          <p:nvPr/>
        </p:nvSpPr>
        <p:spPr>
          <a:xfrm>
            <a:off x="8275320" y="1645920"/>
            <a:ext cx="3383280" cy="2697480"/>
          </a:xfrm>
          <a:prstGeom prst="roundRect">
            <a:avLst>
              <a:gd name="adj" fmla="val 3051"/>
            </a:avLst>
          </a:prstGeom>
          <a:solidFill>
            <a:srgbClr val="ECEAE4"/>
          </a:solidFill>
          <a:ln w="12700">
            <a:solidFill>
              <a:srgbClr val="ECEAE4"/>
            </a:solidFill>
            <a:prstDash val="solid"/>
          </a:ln>
        </p:spPr>
        <p:txBody>
          <a:bodyPr/>
          <a:p/>
        </p:txBody>
      </p:sp>
      <p:sp>
        <p:nvSpPr>
          <p:cNvPr id="15" name="Shape 13"/>
          <p:cNvSpPr/>
          <p:nvPr/>
        </p:nvSpPr>
        <p:spPr>
          <a:xfrm>
            <a:off x="8275320" y="1645920"/>
            <a:ext cx="3383280" cy="73152"/>
          </a:xfrm>
          <a:prstGeom prst="rect">
            <a:avLst/>
          </a:prstGeom>
          <a:solidFill>
            <a:srgbClr val="B02532"/>
          </a:solidFill>
          <a:ln w="12700">
            <a:solidFill>
              <a:srgbClr val="B02532"/>
            </a:solidFill>
            <a:prstDash val="solid"/>
          </a:ln>
        </p:spPr>
        <p:txBody>
          <a:bodyPr/>
          <a:p/>
        </p:txBody>
      </p:sp>
      <p:sp>
        <p:nvSpPr>
          <p:cNvPr id="16" name="Text 14"/>
          <p:cNvSpPr/>
          <p:nvPr/>
        </p:nvSpPr>
        <p:spPr>
          <a:xfrm>
            <a:off x="8503920" y="1847088"/>
            <a:ext cx="2926080" cy="6858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3 · Acreditarea</a:t>
            </a:r>
            <a:endParaRPr lang="en-US" sz="1900" dirty="0"/>
          </a:p>
        </p:txBody>
      </p:sp>
      <p:sp>
        <p:nvSpPr>
          <p:cNvPr id="17" name="Text 15"/>
          <p:cNvSpPr/>
          <p:nvPr/>
        </p:nvSpPr>
        <p:spPr>
          <a:xfrm>
            <a:off x="8503920" y="2514600"/>
            <a:ext cx="2926080" cy="16916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raportul de acreditare; ordinul de acreditare sau de neacreditare</a:t>
            </a:r>
            <a:endParaRPr lang="en-US" sz="1550" dirty="0"/>
          </a:p>
        </p:txBody>
      </p:sp>
      <p:sp>
        <p:nvSpPr>
          <p:cNvPr id="18" name="Shape 16"/>
          <p:cNvSpPr/>
          <p:nvPr/>
        </p:nvSpPr>
        <p:spPr>
          <a:xfrm>
            <a:off x="594360" y="4572000"/>
            <a:ext cx="10972800" cy="1097280"/>
          </a:xfrm>
          <a:prstGeom prst="roundRect">
            <a:avLst>
              <a:gd name="adj" fmla="val 7500"/>
            </a:avLst>
          </a:prstGeom>
          <a:solidFill>
            <a:srgbClr val="11121A"/>
          </a:solidFill>
          <a:ln w="12700">
            <a:solidFill>
              <a:srgbClr val="11121A"/>
            </a:solidFill>
            <a:prstDash val="solid"/>
          </a:ln>
        </p:spPr>
        <p:txBody>
          <a:bodyPr/>
          <a:p/>
        </p:txBody>
      </p:sp>
      <p:sp>
        <p:nvSpPr>
          <p:cNvPr id="19" name="Text 17"/>
          <p:cNvSpPr/>
          <p:nvPr/>
        </p:nvSpPr>
        <p:spPr>
          <a:xfrm>
            <a:off x="868680" y="4572000"/>
            <a:ext cx="10424160" cy="1097280"/>
          </a:xfrm>
          <a:prstGeom prst="rect">
            <a:avLst/>
          </a:prstGeom>
          <a:noFill/>
          <a:ln/>
        </p:spPr>
        <p:txBody>
          <a:bodyPr wrap="square" lIns="0" tIns="0" rIns="0" bIns="0" rtlCol="0" anchor="ctr"/>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Apoi: monitorizarea și, la nevoie, reevaluarea. Procedura pentru ciclul al treilea nu a fost citită pentru acest curs.</a:t>
            </a:r>
            <a:endParaRPr lang="en-US" sz="1600" dirty="0"/>
          </a:p>
        </p:txBody>
      </p:sp>
      <p:sp>
        <p:nvSpPr>
          <p:cNvPr id="20" name="Text 18"/>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Ordinul MS nr. 446/2017 (registru A1037–A1040); Legea nr. 185/2017 (registru A1047).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FACE ASISTENTUL MEDICAL · CONVENȚIE A CURSULUI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Munca asistentului, în ochii evaluatorilor</a:t>
            </a:r>
            <a:endParaRPr lang="en-US" sz="3000" dirty="0"/>
          </a:p>
        </p:txBody>
      </p:sp>
      <p:sp>
        <p:nvSpPr>
          <p:cNvPr id="4" name="Shape 2"/>
          <p:cNvSpPr/>
          <p:nvPr/>
        </p:nvSpPr>
        <p:spPr>
          <a:xfrm>
            <a:off x="594360" y="1645920"/>
            <a:ext cx="3566160" cy="1097280"/>
          </a:xfrm>
          <a:prstGeom prst="roundRect">
            <a:avLst>
              <a:gd name="adj" fmla="val 7500"/>
            </a:avLst>
          </a:prstGeom>
          <a:solidFill>
            <a:srgbClr val="ECEAE4"/>
          </a:solidFill>
          <a:ln w="12700">
            <a:solidFill>
              <a:srgbClr val="ECEAE4"/>
            </a:solidFill>
            <a:prstDash val="solid"/>
          </a:ln>
        </p:spPr>
        <p:txBody>
          <a:bodyPr/>
          <a:p/>
        </p:txBody>
      </p:sp>
      <p:sp>
        <p:nvSpPr>
          <p:cNvPr id="5" name="Text 3"/>
          <p:cNvSpPr/>
          <p:nvPr/>
        </p:nvSpPr>
        <p:spPr>
          <a:xfrm>
            <a:off x="777240" y="1645920"/>
            <a:ext cx="3200400" cy="1097280"/>
          </a:xfrm>
          <a:prstGeom prst="rect">
            <a:avLst/>
          </a:prstGeom>
          <a:noFill/>
          <a:ln/>
        </p:spPr>
        <p:txBody>
          <a:bodyPr wrap="square" lIns="0" tIns="0" rIns="0" bIns="0" rtlCol="0" anchor="ctr"/>
          <a:lstStyle/>
          <a:p>
            <a:pPr algn="ctr" indent="0" marL="0">
              <a:buNone/>
            </a:pPr>
            <a:r>
              <a:rPr lang="en-US" sz="1650" b="1" dirty="0">
                <a:solidFill>
                  <a:srgbClr val="11121A"/>
                </a:solidFill>
                <a:latin typeface="Palatino Linotype" pitchFamily="34" charset="0"/>
                <a:ea typeface="Palatino Linotype" pitchFamily="34" charset="-122"/>
                <a:cs typeface="Palatino Linotype" pitchFamily="34" charset="-120"/>
              </a:rPr>
              <a:t>Documentarea completă a îngrijirilor</a:t>
            </a:r>
            <a:endParaRPr lang="en-US" sz="1650" dirty="0"/>
          </a:p>
        </p:txBody>
      </p:sp>
      <p:sp>
        <p:nvSpPr>
          <p:cNvPr id="6" name="Shape 4"/>
          <p:cNvSpPr/>
          <p:nvPr/>
        </p:nvSpPr>
        <p:spPr>
          <a:xfrm>
            <a:off x="4297680" y="1645920"/>
            <a:ext cx="3566160" cy="1097280"/>
          </a:xfrm>
          <a:prstGeom prst="roundRect">
            <a:avLst>
              <a:gd name="adj" fmla="val 7500"/>
            </a:avLst>
          </a:prstGeom>
          <a:solidFill>
            <a:srgbClr val="F9F8F5"/>
          </a:solidFill>
          <a:ln w="12700">
            <a:solidFill>
              <a:srgbClr val="F9F8F5"/>
            </a:solidFill>
            <a:prstDash val="solid"/>
          </a:ln>
        </p:spPr>
        <p:txBody>
          <a:bodyPr/>
          <a:p/>
        </p:txBody>
      </p:sp>
      <p:sp>
        <p:nvSpPr>
          <p:cNvPr id="7" name="Text 5"/>
          <p:cNvSpPr/>
          <p:nvPr/>
        </p:nvSpPr>
        <p:spPr>
          <a:xfrm>
            <a:off x="4480560" y="1645920"/>
            <a:ext cx="3200400" cy="1097280"/>
          </a:xfrm>
          <a:prstGeom prst="rect">
            <a:avLst/>
          </a:prstGeom>
          <a:noFill/>
          <a:ln/>
        </p:spPr>
        <p:txBody>
          <a:bodyPr wrap="square" lIns="0" tIns="0" rIns="0" bIns="0" rtlCol="0" anchor="ctr"/>
          <a:lstStyle/>
          <a:p>
            <a:pPr algn="ctr" indent="0" marL="0">
              <a:buNone/>
            </a:pPr>
            <a:r>
              <a:rPr lang="en-US" sz="1650" b="1" dirty="0">
                <a:solidFill>
                  <a:srgbClr val="11121A"/>
                </a:solidFill>
                <a:latin typeface="Palatino Linotype" pitchFamily="34" charset="0"/>
                <a:ea typeface="Palatino Linotype" pitchFamily="34" charset="-122"/>
                <a:cs typeface="Palatino Linotype" pitchFamily="34" charset="-120"/>
              </a:rPr>
              <a:t>Protocoalele și listele de verificare</a:t>
            </a:r>
            <a:endParaRPr lang="en-US" sz="1650" dirty="0"/>
          </a:p>
        </p:txBody>
      </p:sp>
      <p:sp>
        <p:nvSpPr>
          <p:cNvPr id="8" name="Shape 6"/>
          <p:cNvSpPr/>
          <p:nvPr/>
        </p:nvSpPr>
        <p:spPr>
          <a:xfrm>
            <a:off x="8001000" y="1645920"/>
            <a:ext cx="3566160" cy="1097280"/>
          </a:xfrm>
          <a:prstGeom prst="roundRect">
            <a:avLst>
              <a:gd name="adj" fmla="val 7500"/>
            </a:avLst>
          </a:prstGeom>
          <a:solidFill>
            <a:srgbClr val="ECEAE4"/>
          </a:solidFill>
          <a:ln w="12700">
            <a:solidFill>
              <a:srgbClr val="ECEAE4"/>
            </a:solidFill>
            <a:prstDash val="solid"/>
          </a:ln>
        </p:spPr>
        <p:txBody>
          <a:bodyPr/>
          <a:p/>
        </p:txBody>
      </p:sp>
      <p:sp>
        <p:nvSpPr>
          <p:cNvPr id="9" name="Text 7"/>
          <p:cNvSpPr/>
          <p:nvPr/>
        </p:nvSpPr>
        <p:spPr>
          <a:xfrm>
            <a:off x="8183880" y="1645920"/>
            <a:ext cx="3200400" cy="1097280"/>
          </a:xfrm>
          <a:prstGeom prst="rect">
            <a:avLst/>
          </a:prstGeom>
          <a:noFill/>
          <a:ln/>
        </p:spPr>
        <p:txBody>
          <a:bodyPr wrap="square" lIns="0" tIns="0" rIns="0" bIns="0" rtlCol="0" anchor="ctr"/>
          <a:lstStyle/>
          <a:p>
            <a:pPr algn="ctr" indent="0" marL="0">
              <a:buNone/>
            </a:pPr>
            <a:r>
              <a:rPr lang="en-US" sz="1650" b="1" dirty="0">
                <a:solidFill>
                  <a:srgbClr val="11121A"/>
                </a:solidFill>
                <a:latin typeface="Palatino Linotype" pitchFamily="34" charset="0"/>
                <a:ea typeface="Palatino Linotype" pitchFamily="34" charset="-122"/>
                <a:cs typeface="Palatino Linotype" pitchFamily="34" charset="-120"/>
              </a:rPr>
              <a:t>Auditul intern și autoevaluarea</a:t>
            </a:r>
            <a:endParaRPr lang="en-US" sz="1650" dirty="0"/>
          </a:p>
        </p:txBody>
      </p:sp>
      <p:sp>
        <p:nvSpPr>
          <p:cNvPr id="10" name="Shape 8"/>
          <p:cNvSpPr/>
          <p:nvPr/>
        </p:nvSpPr>
        <p:spPr>
          <a:xfrm>
            <a:off x="594360" y="2926080"/>
            <a:ext cx="3566160" cy="1097280"/>
          </a:xfrm>
          <a:prstGeom prst="roundRect">
            <a:avLst>
              <a:gd name="adj" fmla="val 7500"/>
            </a:avLst>
          </a:prstGeom>
          <a:solidFill>
            <a:srgbClr val="F9F8F5"/>
          </a:solidFill>
          <a:ln w="12700">
            <a:solidFill>
              <a:srgbClr val="F9F8F5"/>
            </a:solidFill>
            <a:prstDash val="solid"/>
          </a:ln>
        </p:spPr>
        <p:txBody>
          <a:bodyPr/>
          <a:p/>
        </p:txBody>
      </p:sp>
      <p:sp>
        <p:nvSpPr>
          <p:cNvPr id="11" name="Text 9"/>
          <p:cNvSpPr/>
          <p:nvPr/>
        </p:nvSpPr>
        <p:spPr>
          <a:xfrm>
            <a:off x="777240" y="2926080"/>
            <a:ext cx="3200400" cy="1097280"/>
          </a:xfrm>
          <a:prstGeom prst="rect">
            <a:avLst/>
          </a:prstGeom>
          <a:noFill/>
          <a:ln/>
        </p:spPr>
        <p:txBody>
          <a:bodyPr wrap="square" lIns="0" tIns="0" rIns="0" bIns="0" rtlCol="0" anchor="ctr"/>
          <a:lstStyle/>
          <a:p>
            <a:pPr algn="ctr" indent="0" marL="0">
              <a:buNone/>
            </a:pPr>
            <a:r>
              <a:rPr lang="en-US" sz="1650" b="1" dirty="0">
                <a:solidFill>
                  <a:srgbClr val="11121A"/>
                </a:solidFill>
                <a:latin typeface="Palatino Linotype" pitchFamily="34" charset="0"/>
                <a:ea typeface="Palatino Linotype" pitchFamily="34" charset="-122"/>
                <a:cs typeface="Palatino Linotype" pitchFamily="34" charset="-120"/>
              </a:rPr>
              <a:t>Culegerea și raportarea indicatorilor</a:t>
            </a:r>
            <a:endParaRPr lang="en-US" sz="1650" dirty="0"/>
          </a:p>
        </p:txBody>
      </p:sp>
      <p:sp>
        <p:nvSpPr>
          <p:cNvPr id="12" name="Shape 10"/>
          <p:cNvSpPr/>
          <p:nvPr/>
        </p:nvSpPr>
        <p:spPr>
          <a:xfrm>
            <a:off x="4297680" y="2926080"/>
            <a:ext cx="3566160" cy="1097280"/>
          </a:xfrm>
          <a:prstGeom prst="roundRect">
            <a:avLst>
              <a:gd name="adj" fmla="val 7500"/>
            </a:avLst>
          </a:prstGeom>
          <a:solidFill>
            <a:srgbClr val="ECEAE4"/>
          </a:solidFill>
          <a:ln w="12700">
            <a:solidFill>
              <a:srgbClr val="ECEAE4"/>
            </a:solidFill>
            <a:prstDash val="solid"/>
          </a:ln>
        </p:spPr>
        <p:txBody>
          <a:bodyPr/>
          <a:p/>
        </p:txBody>
      </p:sp>
      <p:sp>
        <p:nvSpPr>
          <p:cNvPr id="13" name="Text 11"/>
          <p:cNvSpPr/>
          <p:nvPr/>
        </p:nvSpPr>
        <p:spPr>
          <a:xfrm>
            <a:off x="4480560" y="2926080"/>
            <a:ext cx="3200400" cy="1097280"/>
          </a:xfrm>
          <a:prstGeom prst="rect">
            <a:avLst/>
          </a:prstGeom>
          <a:noFill/>
          <a:ln/>
        </p:spPr>
        <p:txBody>
          <a:bodyPr wrap="square" lIns="0" tIns="0" rIns="0" bIns="0" rtlCol="0" anchor="ctr"/>
          <a:lstStyle/>
          <a:p>
            <a:pPr algn="ctr" indent="0" marL="0">
              <a:buNone/>
            </a:pPr>
            <a:r>
              <a:rPr lang="en-US" sz="1650" b="1" dirty="0">
                <a:solidFill>
                  <a:srgbClr val="11121A"/>
                </a:solidFill>
                <a:latin typeface="Palatino Linotype" pitchFamily="34" charset="0"/>
                <a:ea typeface="Palatino Linotype" pitchFamily="34" charset="-122"/>
                <a:cs typeface="Palatino Linotype" pitchFamily="34" charset="-120"/>
              </a:rPr>
              <a:t>Raportarea erorilor fără teamă</a:t>
            </a:r>
            <a:endParaRPr lang="en-US" sz="1650" dirty="0"/>
          </a:p>
        </p:txBody>
      </p:sp>
      <p:sp>
        <p:nvSpPr>
          <p:cNvPr id="14" name="Text 12"/>
          <p:cNvSpPr/>
          <p:nvPr/>
        </p:nvSpPr>
        <p:spPr>
          <a:xfrm>
            <a:off x="594360" y="4343400"/>
            <a:ext cx="1097280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Reperul pentru un audit al practicii: procedurile de practică pentru asistenții medicali generaliști, aprobate prin ordin al ministrului sănătății.</a:t>
            </a:r>
            <a:endParaRPr lang="en-US" sz="1600" dirty="0"/>
          </a:p>
        </p:txBody>
      </p:sp>
      <p:sp>
        <p:nvSpPr>
          <p:cNvPr id="15" name="Text 13"/>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A1041; cele cinci contribuții: convenție a cursului.</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 CHAT · DOUĂ MINUTE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EVALUATORII ANMCS PE SECȚIA MAREI</a:t>
            </a:r>
            <a:endParaRPr lang="en-US" sz="1300" dirty="0"/>
          </a:p>
        </p:txBody>
      </p:sp>
      <p:sp>
        <p:nvSpPr>
          <p:cNvPr id="5" name="Text 3"/>
          <p:cNvSpPr/>
          <p:nvPr/>
        </p:nvSpPr>
        <p:spPr>
          <a:xfrm>
            <a:off x="594360" y="914400"/>
            <a:ext cx="10972800" cy="1645920"/>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trei lucruri ar putea observa direct, fără să citească niciun document?</a:t>
            </a:r>
            <a:endParaRPr lang="en-US" sz="3200" dirty="0"/>
          </a:p>
        </p:txBody>
      </p:sp>
      <p:sp>
        <p:nvSpPr>
          <p:cNvPr id="6" name="Text 4"/>
          <p:cNvSpPr/>
          <p:nvPr/>
        </p:nvSpPr>
        <p:spPr>
          <a:xfrm>
            <a:off x="594360" y="2697480"/>
            <a:ext cx="10972800" cy="548640"/>
          </a:xfrm>
          <a:prstGeom prst="rect">
            <a:avLst/>
          </a:prstGeom>
          <a:noFill/>
          <a:ln/>
        </p:spPr>
        <p:txBody>
          <a:bodyPr wrap="square" lIns="0" tIns="0" rIns="0" bIns="0" rtlCol="0" anchor="t"/>
          <a:lstStyle/>
          <a:p>
            <a:pPr indent="0" marL="0">
              <a:buNone/>
            </a:pPr>
            <a:r>
              <a:rPr lang="en-US" sz="2000" dirty="0">
                <a:solidFill>
                  <a:srgbClr val="959BB0"/>
                </a:solidFill>
                <a:latin typeface="Palatino Linotype" pitchFamily="34" charset="0"/>
                <a:ea typeface="Palatino Linotype" pitchFamily="34" charset="-122"/>
                <a:cs typeface="Palatino Linotype" pitchFamily="34" charset="-120"/>
              </a:rPr>
              <a:t>Ca să afle dacă îngrijirile sunt sigure.</a:t>
            </a:r>
            <a:endParaRPr lang="en-US" sz="2000" dirty="0"/>
          </a:p>
        </p:txBody>
      </p:sp>
      <p:sp>
        <p:nvSpPr>
          <p:cNvPr id="7" name="Shape 5"/>
          <p:cNvSpPr/>
          <p:nvPr/>
        </p:nvSpPr>
        <p:spPr>
          <a:xfrm>
            <a:off x="594360" y="35204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8" name="Shape 6"/>
          <p:cNvSpPr/>
          <p:nvPr/>
        </p:nvSpPr>
        <p:spPr>
          <a:xfrm>
            <a:off x="868680" y="3675888"/>
            <a:ext cx="420624" cy="420624"/>
          </a:xfrm>
          <a:prstGeom prst="ellipse">
            <a:avLst/>
          </a:prstGeom>
          <a:solidFill>
            <a:srgbClr val="FFC24B"/>
          </a:solidFill>
          <a:ln/>
        </p:spPr>
        <p:txBody>
          <a:bodyPr/>
          <a:p/>
        </p:txBody>
      </p:sp>
      <p:sp>
        <p:nvSpPr>
          <p:cNvPr id="9" name="Text 7"/>
          <p:cNvSpPr/>
          <p:nvPr/>
        </p:nvSpPr>
        <p:spPr>
          <a:xfrm>
            <a:off x="868680" y="36758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0" name="Text 8"/>
          <p:cNvSpPr/>
          <p:nvPr/>
        </p:nvSpPr>
        <p:spPr>
          <a:xfrm>
            <a:off x="1508760" y="3520440"/>
            <a:ext cx="9829800" cy="73152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Citim câteva liste din chat.</a:t>
            </a:r>
            <a:endParaRPr lang="en-US" sz="1900" dirty="0"/>
          </a:p>
        </p:txBody>
      </p:sp>
      <p:sp>
        <p:nvSpPr>
          <p:cNvPr id="11" name="Shape 9"/>
          <p:cNvSpPr/>
          <p:nvPr/>
        </p:nvSpPr>
        <p:spPr>
          <a:xfrm>
            <a:off x="594360" y="438912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2" name="Shape 10"/>
          <p:cNvSpPr/>
          <p:nvPr/>
        </p:nvSpPr>
        <p:spPr>
          <a:xfrm>
            <a:off x="868680" y="4544568"/>
            <a:ext cx="420624" cy="420624"/>
          </a:xfrm>
          <a:prstGeom prst="ellipse">
            <a:avLst/>
          </a:prstGeom>
          <a:solidFill>
            <a:srgbClr val="FFC24B"/>
          </a:solidFill>
          <a:ln/>
        </p:spPr>
        <p:txBody>
          <a:bodyPr/>
          <a:p/>
        </p:txBody>
      </p:sp>
      <p:sp>
        <p:nvSpPr>
          <p:cNvPr id="13" name="Text 11"/>
          <p:cNvSpPr/>
          <p:nvPr/>
        </p:nvSpPr>
        <p:spPr>
          <a:xfrm>
            <a:off x="868680" y="45445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1508760" y="4389120"/>
            <a:ext cx="9829800" cy="73152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Clasificăm împreună fiecare lucru: structură, proces sau rezultat.</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CICLUL PDCA · OBSERVATORUL EUROPEAN · OPENSTAX</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Planifică, execută, verifică, acționează</a:t>
            </a:r>
            <a:endParaRPr lang="en-US" sz="2800" dirty="0"/>
          </a:p>
        </p:txBody>
      </p:sp>
      <p:sp>
        <p:nvSpPr>
          <p:cNvPr id="4" name="Shape 2"/>
          <p:cNvSpPr/>
          <p:nvPr/>
        </p:nvSpPr>
        <p:spPr>
          <a:xfrm>
            <a:off x="594360" y="1645920"/>
            <a:ext cx="3383280" cy="1828800"/>
          </a:xfrm>
          <a:prstGeom prst="roundRect">
            <a:avLst>
              <a:gd name="adj" fmla="val 4500"/>
            </a:avLst>
          </a:prstGeom>
          <a:solidFill>
            <a:srgbClr val="ECEAE4"/>
          </a:solidFill>
          <a:ln w="12700">
            <a:solidFill>
              <a:srgbClr val="ECEAE4"/>
            </a:solidFill>
            <a:prstDash val="solid"/>
          </a:ln>
        </p:spPr>
        <p:txBody>
          <a:bodyPr/>
          <a:p/>
        </p:txBody>
      </p:sp>
      <p:sp>
        <p:nvSpPr>
          <p:cNvPr id="5" name="Shape 3"/>
          <p:cNvSpPr/>
          <p:nvPr/>
        </p:nvSpPr>
        <p:spPr>
          <a:xfrm>
            <a:off x="594360" y="1645920"/>
            <a:ext cx="3383280" cy="73152"/>
          </a:xfrm>
          <a:prstGeom prst="rect">
            <a:avLst/>
          </a:prstGeom>
          <a:solidFill>
            <a:srgbClr val="0E7C6B"/>
          </a:solidFill>
          <a:ln w="12700">
            <a:solidFill>
              <a:srgbClr val="0E7C6B"/>
            </a:solidFill>
            <a:prstDash val="solid"/>
          </a:ln>
        </p:spPr>
        <p:txBody>
          <a:bodyPr/>
          <a:p/>
        </p:txBody>
      </p:sp>
      <p:sp>
        <p:nvSpPr>
          <p:cNvPr id="6" name="Text 4"/>
          <p:cNvSpPr/>
          <p:nvPr/>
        </p:nvSpPr>
        <p:spPr>
          <a:xfrm>
            <a:off x="822960" y="1847088"/>
            <a:ext cx="2926080" cy="6858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Planifică</a:t>
            </a:r>
            <a:endParaRPr lang="en-US" sz="1800" dirty="0"/>
          </a:p>
        </p:txBody>
      </p:sp>
      <p:sp>
        <p:nvSpPr>
          <p:cNvPr id="7" name="Text 5"/>
          <p:cNvSpPr/>
          <p:nvPr/>
        </p:nvSpPr>
        <p:spPr>
          <a:xfrm>
            <a:off x="822960" y="2514600"/>
            <a:ext cx="2926080" cy="82296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problema, situația de pornire, obiectivul măsurabil, schimbarea de încercat</a:t>
            </a:r>
            <a:endParaRPr lang="en-US" sz="1450" dirty="0"/>
          </a:p>
        </p:txBody>
      </p:sp>
      <p:sp>
        <p:nvSpPr>
          <p:cNvPr id="8" name="Shape 6"/>
          <p:cNvSpPr/>
          <p:nvPr/>
        </p:nvSpPr>
        <p:spPr>
          <a:xfrm>
            <a:off x="4114800" y="1645920"/>
            <a:ext cx="3383280" cy="1828800"/>
          </a:xfrm>
          <a:prstGeom prst="roundRect">
            <a:avLst>
              <a:gd name="adj" fmla="val 4500"/>
            </a:avLst>
          </a:prstGeom>
          <a:solidFill>
            <a:srgbClr val="F9F8F5"/>
          </a:solidFill>
          <a:ln w="12700">
            <a:solidFill>
              <a:srgbClr val="F9F8F5"/>
            </a:solidFill>
            <a:prstDash val="solid"/>
          </a:ln>
        </p:spPr>
        <p:txBody>
          <a:bodyPr/>
          <a:p/>
        </p:txBody>
      </p:sp>
      <p:sp>
        <p:nvSpPr>
          <p:cNvPr id="9" name="Shape 7"/>
          <p:cNvSpPr/>
          <p:nvPr/>
        </p:nvSpPr>
        <p:spPr>
          <a:xfrm>
            <a:off x="4114800" y="1645920"/>
            <a:ext cx="3383280" cy="73152"/>
          </a:xfrm>
          <a:prstGeom prst="rect">
            <a:avLst/>
          </a:prstGeom>
          <a:solidFill>
            <a:srgbClr val="8A6100"/>
          </a:solidFill>
          <a:ln w="12700">
            <a:solidFill>
              <a:srgbClr val="8A6100"/>
            </a:solidFill>
            <a:prstDash val="solid"/>
          </a:ln>
        </p:spPr>
        <p:txBody>
          <a:bodyPr/>
          <a:p/>
        </p:txBody>
      </p:sp>
      <p:sp>
        <p:nvSpPr>
          <p:cNvPr id="10" name="Text 8"/>
          <p:cNvSpPr/>
          <p:nvPr/>
        </p:nvSpPr>
        <p:spPr>
          <a:xfrm>
            <a:off x="4343400" y="1847088"/>
            <a:ext cx="2926080" cy="68580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Execută</a:t>
            </a:r>
            <a:endParaRPr lang="en-US" sz="1800" dirty="0"/>
          </a:p>
        </p:txBody>
      </p:sp>
      <p:sp>
        <p:nvSpPr>
          <p:cNvPr id="11" name="Text 9"/>
          <p:cNvSpPr/>
          <p:nvPr/>
        </p:nvSpPr>
        <p:spPr>
          <a:xfrm>
            <a:off x="4343400" y="2514600"/>
            <a:ext cx="2926080" cy="82296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întâi la scară mică, cu culegerea datelor</a:t>
            </a:r>
            <a:endParaRPr lang="en-US" sz="1450" dirty="0"/>
          </a:p>
        </p:txBody>
      </p:sp>
      <p:sp>
        <p:nvSpPr>
          <p:cNvPr id="12" name="Shape 10"/>
          <p:cNvSpPr/>
          <p:nvPr/>
        </p:nvSpPr>
        <p:spPr>
          <a:xfrm>
            <a:off x="594360" y="3611880"/>
            <a:ext cx="3383280" cy="1828800"/>
          </a:xfrm>
          <a:prstGeom prst="roundRect">
            <a:avLst>
              <a:gd name="adj" fmla="val 4500"/>
            </a:avLst>
          </a:prstGeom>
          <a:solidFill>
            <a:srgbClr val="F9F8F5"/>
          </a:solidFill>
          <a:ln w="12700">
            <a:solidFill>
              <a:srgbClr val="F9F8F5"/>
            </a:solidFill>
            <a:prstDash val="solid"/>
          </a:ln>
        </p:spPr>
        <p:txBody>
          <a:bodyPr/>
          <a:p/>
        </p:txBody>
      </p:sp>
      <p:sp>
        <p:nvSpPr>
          <p:cNvPr id="13" name="Shape 11"/>
          <p:cNvSpPr/>
          <p:nvPr/>
        </p:nvSpPr>
        <p:spPr>
          <a:xfrm>
            <a:off x="594360" y="3611880"/>
            <a:ext cx="3383280"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960" y="3813048"/>
            <a:ext cx="2926080" cy="6858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Acționează</a:t>
            </a:r>
            <a:endParaRPr lang="en-US" sz="1800" dirty="0"/>
          </a:p>
        </p:txBody>
      </p:sp>
      <p:sp>
        <p:nvSpPr>
          <p:cNvPr id="15" name="Text 13"/>
          <p:cNvSpPr/>
          <p:nvPr/>
        </p:nvSpPr>
        <p:spPr>
          <a:xfrm>
            <a:off x="822960" y="4480560"/>
            <a:ext cx="2926080" cy="82296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planul se modifică, iar ciclul reîncepe</a:t>
            </a:r>
            <a:endParaRPr lang="en-US" sz="1450" dirty="0"/>
          </a:p>
        </p:txBody>
      </p:sp>
      <p:sp>
        <p:nvSpPr>
          <p:cNvPr id="16" name="Shape 14"/>
          <p:cNvSpPr/>
          <p:nvPr/>
        </p:nvSpPr>
        <p:spPr>
          <a:xfrm>
            <a:off x="4114800" y="3611880"/>
            <a:ext cx="3383280" cy="1828800"/>
          </a:xfrm>
          <a:prstGeom prst="roundRect">
            <a:avLst>
              <a:gd name="adj" fmla="val 4500"/>
            </a:avLst>
          </a:prstGeom>
          <a:solidFill>
            <a:srgbClr val="ECEAE4"/>
          </a:solidFill>
          <a:ln w="12700">
            <a:solidFill>
              <a:srgbClr val="ECEAE4"/>
            </a:solidFill>
            <a:prstDash val="solid"/>
          </a:ln>
        </p:spPr>
        <p:txBody>
          <a:bodyPr/>
          <a:p/>
        </p:txBody>
      </p:sp>
      <p:sp>
        <p:nvSpPr>
          <p:cNvPr id="17" name="Shape 15"/>
          <p:cNvSpPr/>
          <p:nvPr/>
        </p:nvSpPr>
        <p:spPr>
          <a:xfrm>
            <a:off x="4114800" y="3611880"/>
            <a:ext cx="3383280" cy="73152"/>
          </a:xfrm>
          <a:prstGeom prst="rect">
            <a:avLst/>
          </a:prstGeom>
          <a:solidFill>
            <a:srgbClr val="4A2D8C"/>
          </a:solidFill>
          <a:ln w="12700">
            <a:solidFill>
              <a:srgbClr val="4A2D8C"/>
            </a:solidFill>
            <a:prstDash val="solid"/>
          </a:ln>
        </p:spPr>
        <p:txBody>
          <a:bodyPr/>
          <a:p/>
        </p:txBody>
      </p:sp>
      <p:sp>
        <p:nvSpPr>
          <p:cNvPr id="18" name="Text 16"/>
          <p:cNvSpPr/>
          <p:nvPr/>
        </p:nvSpPr>
        <p:spPr>
          <a:xfrm>
            <a:off x="4343400" y="3813048"/>
            <a:ext cx="2926080" cy="685800"/>
          </a:xfrm>
          <a:prstGeom prst="rect">
            <a:avLst/>
          </a:prstGeom>
          <a:noFill/>
          <a:ln/>
        </p:spPr>
        <p:txBody>
          <a:bodyPr wrap="square" lIns="0" tIns="0" rIns="0" bIns="0" rtlCol="0" anchor="t"/>
          <a:lstStyle/>
          <a:p>
            <a:pPr indent="0" marL="0">
              <a:buNone/>
            </a:pPr>
            <a:r>
              <a:rPr lang="en-US" sz="1800" b="1" dirty="0">
                <a:solidFill>
                  <a:srgbClr val="4A2D8C"/>
                </a:solidFill>
                <a:latin typeface="Palatino Linotype" pitchFamily="34" charset="0"/>
                <a:ea typeface="Palatino Linotype" pitchFamily="34" charset="-122"/>
                <a:cs typeface="Palatino Linotype" pitchFamily="34" charset="-120"/>
              </a:rPr>
              <a:t>Verifică</a:t>
            </a:r>
            <a:endParaRPr lang="en-US" sz="1800" dirty="0"/>
          </a:p>
        </p:txBody>
      </p:sp>
      <p:sp>
        <p:nvSpPr>
          <p:cNvPr id="19" name="Text 17"/>
          <p:cNvSpPr/>
          <p:nvPr/>
        </p:nvSpPr>
        <p:spPr>
          <a:xfrm>
            <a:off x="4343400" y="4480560"/>
            <a:ext cx="2926080" cy="82296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a funcționat planul?</a:t>
            </a:r>
            <a:endParaRPr lang="en-US" sz="1450" dirty="0"/>
          </a:p>
        </p:txBody>
      </p:sp>
      <p:sp>
        <p:nvSpPr>
          <p:cNvPr id="20" name="Shape 18"/>
          <p:cNvSpPr/>
          <p:nvPr/>
        </p:nvSpPr>
        <p:spPr>
          <a:xfrm>
            <a:off x="7772400" y="1645920"/>
            <a:ext cx="3794760" cy="3794760"/>
          </a:xfrm>
          <a:prstGeom prst="roundRect">
            <a:avLst>
              <a:gd name="adj" fmla="val 2169"/>
            </a:avLst>
          </a:prstGeom>
          <a:solidFill>
            <a:srgbClr val="11121A"/>
          </a:solidFill>
          <a:ln w="12700">
            <a:solidFill>
              <a:srgbClr val="11121A"/>
            </a:solidFill>
            <a:prstDash val="solid"/>
          </a:ln>
        </p:spPr>
        <p:txBody>
          <a:bodyPr/>
          <a:p/>
        </p:txBody>
      </p:sp>
      <p:sp>
        <p:nvSpPr>
          <p:cNvPr id="21" name="Text 19"/>
          <p:cNvSpPr/>
          <p:nvPr/>
        </p:nvSpPr>
        <p:spPr>
          <a:xfrm>
            <a:off x="8001000" y="1828800"/>
            <a:ext cx="3383280" cy="128016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Cel mai influent cadru pentru îmbunătățirea calității.</a:t>
            </a:r>
            <a:endParaRPr lang="en-US" sz="1700" dirty="0"/>
          </a:p>
        </p:txBody>
      </p:sp>
      <p:sp>
        <p:nvSpPr>
          <p:cNvPr id="22" name="Text 20"/>
          <p:cNvSpPr/>
          <p:nvPr/>
        </p:nvSpPr>
        <p:spPr>
          <a:xfrm>
            <a:off x="8001000" y="3200400"/>
            <a:ext cx="3383280" cy="2103120"/>
          </a:xfrm>
          <a:prstGeom prst="rect">
            <a:avLst/>
          </a:prstGeom>
          <a:noFill/>
          <a:ln/>
        </p:spPr>
        <p:txBody>
          <a:bodyPr wrap="square" lIns="0" tIns="0" rIns="0" bIns="0" rtlCol="0" anchor="t"/>
          <a:lstStyle/>
          <a:p>
            <a:pPr indent="0" marL="0">
              <a:buNone/>
            </a:pPr>
            <a:r>
              <a:rPr lang="en-US" sz="1550" dirty="0">
                <a:solidFill>
                  <a:srgbClr val="E6E8EF"/>
                </a:solidFill>
                <a:latin typeface="Palatino Linotype" pitchFamily="34" charset="0"/>
                <a:ea typeface="Palatino Linotype" pitchFamily="34" charset="-122"/>
                <a:cs typeface="Palatino Linotype" pitchFamily="34" charset="-120"/>
              </a:rPr>
              <a:t>Etapa „verifică” este controlul retroactiv din cursul trecut; „acționează” deschide un nou ciclu de planificare.</a:t>
            </a:r>
            <a:endParaRPr lang="en-US" sz="1550" dirty="0"/>
          </a:p>
        </p:txBody>
      </p:sp>
      <p:sp>
        <p:nvSpPr>
          <p:cNvPr id="23" name="Text 21"/>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A1018); OpenStax, 2019 (registru A1008).</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EXEMPLU · VALORI IPOTETICE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PDCA pentru erorile de administrare</a:t>
            </a:r>
            <a:endParaRPr lang="en-US" sz="3000" dirty="0"/>
          </a:p>
        </p:txBody>
      </p:sp>
      <p:sp>
        <p:nvSpPr>
          <p:cNvPr id="4" name="Shape 2"/>
          <p:cNvSpPr/>
          <p:nvPr/>
        </p:nvSpPr>
        <p:spPr>
          <a:xfrm>
            <a:off x="594360" y="1600200"/>
            <a:ext cx="10972800" cy="749808"/>
          </a:xfrm>
          <a:prstGeom prst="roundRect">
            <a:avLst>
              <a:gd name="adj" fmla="val 10976"/>
            </a:avLst>
          </a:prstGeom>
          <a:solidFill>
            <a:srgbClr val="ECEAE4"/>
          </a:solidFill>
          <a:ln w="12700">
            <a:solidFill>
              <a:srgbClr val="ECEAE4"/>
            </a:solidFill>
            <a:prstDash val="solid"/>
          </a:ln>
        </p:spPr>
        <p:txBody>
          <a:bodyPr/>
          <a:p/>
        </p:txBody>
      </p:sp>
      <p:sp>
        <p:nvSpPr>
          <p:cNvPr id="5" name="Text 3"/>
          <p:cNvSpPr/>
          <p:nvPr/>
        </p:nvSpPr>
        <p:spPr>
          <a:xfrm>
            <a:off x="822960" y="1600200"/>
            <a:ext cx="2011680" cy="731520"/>
          </a:xfrm>
          <a:prstGeom prst="rect">
            <a:avLst/>
          </a:prstGeom>
          <a:noFill/>
          <a:ln/>
        </p:spPr>
        <p:txBody>
          <a:bodyPr wrap="square" lIns="0" tIns="0" rIns="0" bIns="0" rtlCol="0" anchor="ctr"/>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Planifică</a:t>
            </a:r>
            <a:endParaRPr lang="en-US" sz="1650" dirty="0"/>
          </a:p>
        </p:txBody>
      </p:sp>
      <p:sp>
        <p:nvSpPr>
          <p:cNvPr id="6" name="Text 4"/>
          <p:cNvSpPr/>
          <p:nvPr/>
        </p:nvSpPr>
        <p:spPr>
          <a:xfrm>
            <a:off x="2834640" y="1600200"/>
            <a:ext cx="8595360" cy="7315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3,2% dintre administrări au avut o eroare; diagrama cauză–efect găsește patru cauze; se alege verificarea dublă pentru medicamentele cu risc mare.</a:t>
            </a:r>
            <a:endParaRPr lang="en-US" sz="1500" dirty="0"/>
          </a:p>
        </p:txBody>
      </p:sp>
      <p:sp>
        <p:nvSpPr>
          <p:cNvPr id="7" name="Shape 5"/>
          <p:cNvSpPr/>
          <p:nvPr/>
        </p:nvSpPr>
        <p:spPr>
          <a:xfrm>
            <a:off x="594360" y="2441448"/>
            <a:ext cx="10972800" cy="713232"/>
          </a:xfrm>
          <a:prstGeom prst="roundRect">
            <a:avLst>
              <a:gd name="adj" fmla="val 11538"/>
            </a:avLst>
          </a:prstGeom>
          <a:solidFill>
            <a:srgbClr val="F9F8F5"/>
          </a:solidFill>
          <a:ln w="12700">
            <a:solidFill>
              <a:srgbClr val="F9F8F5"/>
            </a:solidFill>
            <a:prstDash val="solid"/>
          </a:ln>
        </p:spPr>
        <p:txBody>
          <a:bodyPr/>
          <a:p/>
        </p:txBody>
      </p:sp>
      <p:sp>
        <p:nvSpPr>
          <p:cNvPr id="8" name="Text 6"/>
          <p:cNvSpPr/>
          <p:nvPr/>
        </p:nvSpPr>
        <p:spPr>
          <a:xfrm>
            <a:off x="822960" y="2441448"/>
            <a:ext cx="2011680" cy="731520"/>
          </a:xfrm>
          <a:prstGeom prst="rect">
            <a:avLst/>
          </a:prstGeom>
          <a:noFill/>
          <a:ln/>
        </p:spPr>
        <p:txBody>
          <a:bodyPr wrap="square" lIns="0" tIns="0" rIns="0" bIns="0" rtlCol="0" anchor="ctr"/>
          <a:lstStyle/>
          <a:p>
            <a:pPr indent="0" marL="0">
              <a:buNone/>
            </a:pPr>
            <a:r>
              <a:rPr lang="en-US" sz="1650" b="1" dirty="0">
                <a:solidFill>
                  <a:srgbClr val="8A6100"/>
                </a:solidFill>
                <a:latin typeface="Palatino Linotype" pitchFamily="34" charset="0"/>
                <a:ea typeface="Palatino Linotype" pitchFamily="34" charset="-122"/>
                <a:cs typeface="Palatino Linotype" pitchFamily="34" charset="-120"/>
              </a:rPr>
              <a:t>Execută</a:t>
            </a:r>
            <a:endParaRPr lang="en-US" sz="1650" dirty="0"/>
          </a:p>
        </p:txBody>
      </p:sp>
      <p:sp>
        <p:nvSpPr>
          <p:cNvPr id="9" name="Text 7"/>
          <p:cNvSpPr/>
          <p:nvPr/>
        </p:nvSpPr>
        <p:spPr>
          <a:xfrm>
            <a:off x="2834640" y="2441448"/>
            <a:ext cx="8595360" cy="7315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trei luni, pe o singură secție</a:t>
            </a:r>
            <a:endParaRPr lang="en-US" sz="1500" dirty="0"/>
          </a:p>
        </p:txBody>
      </p:sp>
      <p:sp>
        <p:nvSpPr>
          <p:cNvPr id="10" name="Shape 8"/>
          <p:cNvSpPr/>
          <p:nvPr/>
        </p:nvSpPr>
        <p:spPr>
          <a:xfrm>
            <a:off x="594360" y="3282696"/>
            <a:ext cx="10972800" cy="713232"/>
          </a:xfrm>
          <a:prstGeom prst="roundRect">
            <a:avLst>
              <a:gd name="adj" fmla="val 11538"/>
            </a:avLst>
          </a:prstGeom>
          <a:solidFill>
            <a:srgbClr val="ECEAE4"/>
          </a:solidFill>
          <a:ln w="12700">
            <a:solidFill>
              <a:srgbClr val="ECEAE4"/>
            </a:solidFill>
            <a:prstDash val="solid"/>
          </a:ln>
        </p:spPr>
        <p:txBody>
          <a:bodyPr/>
          <a:p/>
        </p:txBody>
      </p:sp>
      <p:sp>
        <p:nvSpPr>
          <p:cNvPr id="11" name="Text 9"/>
          <p:cNvSpPr/>
          <p:nvPr/>
        </p:nvSpPr>
        <p:spPr>
          <a:xfrm>
            <a:off x="822960" y="3282696"/>
            <a:ext cx="2011680" cy="73152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Verifică</a:t>
            </a:r>
            <a:endParaRPr lang="en-US" sz="1650" dirty="0"/>
          </a:p>
        </p:txBody>
      </p:sp>
      <p:sp>
        <p:nvSpPr>
          <p:cNvPr id="12" name="Text 10"/>
          <p:cNvSpPr/>
          <p:nvPr/>
        </p:nvSpPr>
        <p:spPr>
          <a:xfrm>
            <a:off x="2834640" y="3282696"/>
            <a:ext cx="8595360" cy="7315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erorile scad la 0,8%</a:t>
            </a:r>
            <a:endParaRPr lang="en-US" sz="1500" dirty="0"/>
          </a:p>
        </p:txBody>
      </p:sp>
      <p:sp>
        <p:nvSpPr>
          <p:cNvPr id="13" name="Shape 11"/>
          <p:cNvSpPr/>
          <p:nvPr/>
        </p:nvSpPr>
        <p:spPr>
          <a:xfrm>
            <a:off x="594360" y="4123944"/>
            <a:ext cx="10972800" cy="713232"/>
          </a:xfrm>
          <a:prstGeom prst="roundRect">
            <a:avLst>
              <a:gd name="adj" fmla="val 11538"/>
            </a:avLst>
          </a:prstGeom>
          <a:solidFill>
            <a:srgbClr val="F9F8F5"/>
          </a:solidFill>
          <a:ln w="12700">
            <a:solidFill>
              <a:srgbClr val="F9F8F5"/>
            </a:solidFill>
            <a:prstDash val="solid"/>
          </a:ln>
        </p:spPr>
        <p:txBody>
          <a:bodyPr/>
          <a:p/>
        </p:txBody>
      </p:sp>
      <p:sp>
        <p:nvSpPr>
          <p:cNvPr id="14" name="Text 12"/>
          <p:cNvSpPr/>
          <p:nvPr/>
        </p:nvSpPr>
        <p:spPr>
          <a:xfrm>
            <a:off x="822960" y="4123944"/>
            <a:ext cx="2011680" cy="731520"/>
          </a:xfrm>
          <a:prstGeom prst="rect">
            <a:avLst/>
          </a:prstGeom>
          <a:noFill/>
          <a:ln/>
        </p:spPr>
        <p:txBody>
          <a:bodyPr wrap="square" lIns="0" tIns="0" rIns="0" bIns="0" rtlCol="0" anchor="ctr"/>
          <a:lstStyle/>
          <a:p>
            <a:pPr indent="0" marL="0">
              <a:buNone/>
            </a:pPr>
            <a:r>
              <a:rPr lang="en-US" sz="1650" b="1" dirty="0">
                <a:solidFill>
                  <a:srgbClr val="B02532"/>
                </a:solidFill>
                <a:latin typeface="Palatino Linotype" pitchFamily="34" charset="0"/>
                <a:ea typeface="Palatino Linotype" pitchFamily="34" charset="-122"/>
                <a:cs typeface="Palatino Linotype" pitchFamily="34" charset="-120"/>
              </a:rPr>
              <a:t>Acționează</a:t>
            </a:r>
            <a:endParaRPr lang="en-US" sz="1650" dirty="0"/>
          </a:p>
        </p:txBody>
      </p:sp>
      <p:sp>
        <p:nvSpPr>
          <p:cNvPr id="15" name="Text 13"/>
          <p:cNvSpPr/>
          <p:nvPr/>
        </p:nvSpPr>
        <p:spPr>
          <a:xfrm>
            <a:off x="2834640" y="4123944"/>
            <a:ext cx="8595360" cy="7315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procedură pentru tot spitalul; echipa alege următoarea problemă</a:t>
            </a:r>
            <a:endParaRPr lang="en-US" sz="1500" dirty="0"/>
          </a:p>
        </p:txBody>
      </p:sp>
      <p:sp>
        <p:nvSpPr>
          <p:cNvPr id="16" name="Text 14"/>
          <p:cNvSpPr/>
          <p:nvPr/>
        </p:nvSpPr>
        <p:spPr>
          <a:xfrm>
            <a:off x="594360" y="5120640"/>
            <a:ext cx="10972800" cy="73152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O scădere se interpretează numai dacă erorile au fost înregistrate la fel, înainte și după schimbare.</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 CHAT · DOUĂ MINUTE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SONERIA DIN TURA DE NOAPTE</a:t>
            </a:r>
            <a:endParaRPr lang="en-US" sz="1300" dirty="0"/>
          </a:p>
        </p:txBody>
      </p:sp>
      <p:sp>
        <p:nvSpPr>
          <p:cNvPr id="5" name="Text 3"/>
          <p:cNvSpPr/>
          <p:nvPr/>
        </p:nvSpPr>
        <p:spPr>
          <a:xfrm>
            <a:off x="594360" y="868680"/>
            <a:ext cx="10972800" cy="1280160"/>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Pacienții se plâng că așteaptă mult la sonerie, noaptea</a:t>
            </a:r>
            <a:endParaRPr lang="en-US" sz="3200" dirty="0"/>
          </a:p>
        </p:txBody>
      </p:sp>
      <p:sp>
        <p:nvSpPr>
          <p:cNvPr id="6" name="Shape 4"/>
          <p:cNvSpPr/>
          <p:nvPr/>
        </p:nvSpPr>
        <p:spPr>
          <a:xfrm>
            <a:off x="594360" y="2331720"/>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7" name="Shape 5"/>
          <p:cNvSpPr/>
          <p:nvPr/>
        </p:nvSpPr>
        <p:spPr>
          <a:xfrm>
            <a:off x="868680" y="2441448"/>
            <a:ext cx="420624" cy="420624"/>
          </a:xfrm>
          <a:prstGeom prst="ellipse">
            <a:avLst/>
          </a:prstGeom>
          <a:solidFill>
            <a:srgbClr val="FFC24B"/>
          </a:solidFill>
          <a:ln/>
        </p:spPr>
        <p:txBody>
          <a:bodyPr/>
          <a:p/>
        </p:txBody>
      </p:sp>
      <p:sp>
        <p:nvSpPr>
          <p:cNvPr id="8" name="Text 6"/>
          <p:cNvSpPr/>
          <p:nvPr/>
        </p:nvSpPr>
        <p:spPr>
          <a:xfrm>
            <a:off x="868680" y="24414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P</a:t>
            </a:r>
            <a:endParaRPr lang="en-US" sz="1400" dirty="0"/>
          </a:p>
        </p:txBody>
      </p:sp>
      <p:sp>
        <p:nvSpPr>
          <p:cNvPr id="9" name="Text 7"/>
          <p:cNvSpPr/>
          <p:nvPr/>
        </p:nvSpPr>
        <p:spPr>
          <a:xfrm>
            <a:off x="1508760" y="2331720"/>
            <a:ext cx="9829800" cy="64008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măsurați la început?</a:t>
            </a:r>
            <a:endParaRPr lang="en-US" sz="1800" dirty="0"/>
          </a:p>
        </p:txBody>
      </p:sp>
      <p:sp>
        <p:nvSpPr>
          <p:cNvPr id="10" name="Shape 8"/>
          <p:cNvSpPr/>
          <p:nvPr/>
        </p:nvSpPr>
        <p:spPr>
          <a:xfrm>
            <a:off x="594360" y="3081528"/>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11" name="Shape 9"/>
          <p:cNvSpPr/>
          <p:nvPr/>
        </p:nvSpPr>
        <p:spPr>
          <a:xfrm>
            <a:off x="868680" y="3191256"/>
            <a:ext cx="420624" cy="420624"/>
          </a:xfrm>
          <a:prstGeom prst="ellipse">
            <a:avLst/>
          </a:prstGeom>
          <a:solidFill>
            <a:srgbClr val="FFC24B"/>
          </a:solidFill>
          <a:ln/>
        </p:spPr>
        <p:txBody>
          <a:bodyPr/>
          <a:p/>
        </p:txBody>
      </p:sp>
      <p:sp>
        <p:nvSpPr>
          <p:cNvPr id="12" name="Text 10"/>
          <p:cNvSpPr/>
          <p:nvPr/>
        </p:nvSpPr>
        <p:spPr>
          <a:xfrm>
            <a:off x="868680" y="31912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13" name="Text 11"/>
          <p:cNvSpPr/>
          <p:nvPr/>
        </p:nvSpPr>
        <p:spPr>
          <a:xfrm>
            <a:off x="1508760" y="3081528"/>
            <a:ext cx="9829800" cy="64008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schimbare încercați?</a:t>
            </a:r>
            <a:endParaRPr lang="en-US" sz="1800" dirty="0"/>
          </a:p>
        </p:txBody>
      </p:sp>
      <p:sp>
        <p:nvSpPr>
          <p:cNvPr id="14" name="Shape 12"/>
          <p:cNvSpPr/>
          <p:nvPr/>
        </p:nvSpPr>
        <p:spPr>
          <a:xfrm>
            <a:off x="594360" y="3831336"/>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15" name="Shape 13"/>
          <p:cNvSpPr/>
          <p:nvPr/>
        </p:nvSpPr>
        <p:spPr>
          <a:xfrm>
            <a:off x="868680" y="3941064"/>
            <a:ext cx="420624" cy="420624"/>
          </a:xfrm>
          <a:prstGeom prst="ellipse">
            <a:avLst/>
          </a:prstGeom>
          <a:solidFill>
            <a:srgbClr val="FFC24B"/>
          </a:solidFill>
          <a:ln/>
        </p:spPr>
        <p:txBody>
          <a:bodyPr/>
          <a:p/>
        </p:txBody>
      </p:sp>
      <p:sp>
        <p:nvSpPr>
          <p:cNvPr id="16" name="Text 14"/>
          <p:cNvSpPr/>
          <p:nvPr/>
        </p:nvSpPr>
        <p:spPr>
          <a:xfrm>
            <a:off x="868680" y="39410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3831336"/>
            <a:ext cx="9829800" cy="64008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Cum verificați?</a:t>
            </a:r>
            <a:endParaRPr lang="en-US" sz="1800" dirty="0"/>
          </a:p>
        </p:txBody>
      </p:sp>
      <p:sp>
        <p:nvSpPr>
          <p:cNvPr id="18" name="Shape 16"/>
          <p:cNvSpPr/>
          <p:nvPr/>
        </p:nvSpPr>
        <p:spPr>
          <a:xfrm>
            <a:off x="594360" y="4581144"/>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19" name="Shape 17"/>
          <p:cNvSpPr/>
          <p:nvPr/>
        </p:nvSpPr>
        <p:spPr>
          <a:xfrm>
            <a:off x="868680" y="4690872"/>
            <a:ext cx="420624" cy="420624"/>
          </a:xfrm>
          <a:prstGeom prst="ellipse">
            <a:avLst/>
          </a:prstGeom>
          <a:solidFill>
            <a:srgbClr val="FFC24B"/>
          </a:solidFill>
          <a:ln/>
        </p:spPr>
        <p:txBody>
          <a:bodyPr/>
          <a:p/>
        </p:txBody>
      </p:sp>
      <p:sp>
        <p:nvSpPr>
          <p:cNvPr id="20" name="Text 18"/>
          <p:cNvSpPr/>
          <p:nvPr/>
        </p:nvSpPr>
        <p:spPr>
          <a:xfrm>
            <a:off x="868680" y="46908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21" name="Text 19"/>
          <p:cNvSpPr/>
          <p:nvPr/>
        </p:nvSpPr>
        <p:spPr>
          <a:xfrm>
            <a:off x="1508760" y="4581144"/>
            <a:ext cx="9829800" cy="64008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faceți dacă nu a mers?</a:t>
            </a:r>
            <a:endParaRPr lang="en-US" sz="1800" dirty="0"/>
          </a:p>
        </p:txBody>
      </p:sp>
      <p:sp>
        <p:nvSpPr>
          <p:cNvPr id="22" name="Text 20"/>
          <p:cNvSpPr/>
          <p:nvPr/>
        </p:nvSpPr>
        <p:spPr>
          <a:xfrm>
            <a:off x="594360" y="548640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Citim un ciclu din chat; spuneți la ce etapă lipsește o măsurătoare.</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AUDITUL CLINIC · ETAPELE: CONVENȚIE A CURSULUI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Auditul clinic: o buclă care se închide</a:t>
            </a:r>
            <a:endParaRPr lang="en-US" sz="3000" dirty="0"/>
          </a:p>
        </p:txBody>
      </p:sp>
      <p:sp>
        <p:nvSpPr>
          <p:cNvPr id="4" name="Shape 2"/>
          <p:cNvSpPr/>
          <p:nvPr/>
        </p:nvSpPr>
        <p:spPr>
          <a:xfrm>
            <a:off x="594360" y="1691640"/>
            <a:ext cx="1920240" cy="914400"/>
          </a:xfrm>
          <a:prstGeom prst="roundRect">
            <a:avLst>
              <a:gd name="adj" fmla="val 9000"/>
            </a:avLst>
          </a:prstGeom>
          <a:solidFill>
            <a:srgbClr val="ECEAE4"/>
          </a:solidFill>
          <a:ln w="12700">
            <a:solidFill>
              <a:srgbClr val="ECEAE4"/>
            </a:solidFill>
            <a:prstDash val="solid"/>
          </a:ln>
        </p:spPr>
        <p:txBody>
          <a:bodyPr/>
          <a:p/>
        </p:txBody>
      </p:sp>
      <p:sp>
        <p:nvSpPr>
          <p:cNvPr id="5" name="Text 3"/>
          <p:cNvSpPr/>
          <p:nvPr/>
        </p:nvSpPr>
        <p:spPr>
          <a:xfrm>
            <a:off x="667512" y="1691640"/>
            <a:ext cx="1773936" cy="9144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Tema</a:t>
            </a:r>
            <a:endParaRPr lang="en-US" sz="1500" dirty="0"/>
          </a:p>
        </p:txBody>
      </p:sp>
      <p:sp>
        <p:nvSpPr>
          <p:cNvPr id="6" name="Shape 4"/>
          <p:cNvSpPr/>
          <p:nvPr/>
        </p:nvSpPr>
        <p:spPr>
          <a:xfrm>
            <a:off x="2542032" y="1993392"/>
            <a:ext cx="292608" cy="310896"/>
          </a:xfrm>
          <a:prstGeom prst="rightArrow">
            <a:avLst/>
          </a:prstGeom>
          <a:solidFill>
            <a:srgbClr val="C9C6BE"/>
          </a:solidFill>
          <a:ln w="12700">
            <a:solidFill>
              <a:srgbClr val="C9C6BE"/>
            </a:solidFill>
            <a:prstDash val="solid"/>
          </a:ln>
        </p:spPr>
        <p:txBody>
          <a:bodyPr/>
          <a:p/>
        </p:txBody>
      </p:sp>
      <p:sp>
        <p:nvSpPr>
          <p:cNvPr id="7" name="Shape 5"/>
          <p:cNvSpPr/>
          <p:nvPr/>
        </p:nvSpPr>
        <p:spPr>
          <a:xfrm>
            <a:off x="2862072" y="1691640"/>
            <a:ext cx="1920240" cy="914400"/>
          </a:xfrm>
          <a:prstGeom prst="roundRect">
            <a:avLst>
              <a:gd name="adj" fmla="val 9000"/>
            </a:avLst>
          </a:prstGeom>
          <a:solidFill>
            <a:srgbClr val="ECEAE4"/>
          </a:solidFill>
          <a:ln w="12700">
            <a:solidFill>
              <a:srgbClr val="ECEAE4"/>
            </a:solidFill>
            <a:prstDash val="solid"/>
          </a:ln>
        </p:spPr>
        <p:txBody>
          <a:bodyPr/>
          <a:p/>
        </p:txBody>
      </p:sp>
      <p:sp>
        <p:nvSpPr>
          <p:cNvPr id="8" name="Text 6"/>
          <p:cNvSpPr/>
          <p:nvPr/>
        </p:nvSpPr>
        <p:spPr>
          <a:xfrm>
            <a:off x="2935224" y="1691640"/>
            <a:ext cx="1773936" cy="9144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Standardul</a:t>
            </a:r>
            <a:endParaRPr lang="en-US" sz="1500" dirty="0"/>
          </a:p>
        </p:txBody>
      </p:sp>
      <p:sp>
        <p:nvSpPr>
          <p:cNvPr id="9" name="Shape 7"/>
          <p:cNvSpPr/>
          <p:nvPr/>
        </p:nvSpPr>
        <p:spPr>
          <a:xfrm>
            <a:off x="4809744" y="1993392"/>
            <a:ext cx="292608" cy="310896"/>
          </a:xfrm>
          <a:prstGeom prst="rightArrow">
            <a:avLst/>
          </a:prstGeom>
          <a:solidFill>
            <a:srgbClr val="C9C6BE"/>
          </a:solidFill>
          <a:ln w="12700">
            <a:solidFill>
              <a:srgbClr val="C9C6BE"/>
            </a:solidFill>
            <a:prstDash val="solid"/>
          </a:ln>
        </p:spPr>
        <p:txBody>
          <a:bodyPr/>
          <a:p/>
        </p:txBody>
      </p:sp>
      <p:sp>
        <p:nvSpPr>
          <p:cNvPr id="10" name="Shape 8"/>
          <p:cNvSpPr/>
          <p:nvPr/>
        </p:nvSpPr>
        <p:spPr>
          <a:xfrm>
            <a:off x="5129784" y="1691640"/>
            <a:ext cx="1920240" cy="914400"/>
          </a:xfrm>
          <a:prstGeom prst="roundRect">
            <a:avLst>
              <a:gd name="adj" fmla="val 9000"/>
            </a:avLst>
          </a:prstGeom>
          <a:solidFill>
            <a:srgbClr val="ECEAE4"/>
          </a:solidFill>
          <a:ln w="12700">
            <a:solidFill>
              <a:srgbClr val="ECEAE4"/>
            </a:solidFill>
            <a:prstDash val="solid"/>
          </a:ln>
        </p:spPr>
        <p:txBody>
          <a:bodyPr/>
          <a:p/>
        </p:txBody>
      </p:sp>
      <p:sp>
        <p:nvSpPr>
          <p:cNvPr id="11" name="Text 9"/>
          <p:cNvSpPr/>
          <p:nvPr/>
        </p:nvSpPr>
        <p:spPr>
          <a:xfrm>
            <a:off x="5202936" y="1691640"/>
            <a:ext cx="1773936" cy="9144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Datele</a:t>
            </a:r>
            <a:endParaRPr lang="en-US" sz="1500" dirty="0"/>
          </a:p>
        </p:txBody>
      </p:sp>
      <p:sp>
        <p:nvSpPr>
          <p:cNvPr id="12" name="Shape 10"/>
          <p:cNvSpPr/>
          <p:nvPr/>
        </p:nvSpPr>
        <p:spPr>
          <a:xfrm>
            <a:off x="7077456" y="1993392"/>
            <a:ext cx="292608" cy="310896"/>
          </a:xfrm>
          <a:prstGeom prst="rightArrow">
            <a:avLst/>
          </a:prstGeom>
          <a:solidFill>
            <a:srgbClr val="C9C6BE"/>
          </a:solidFill>
          <a:ln w="12700">
            <a:solidFill>
              <a:srgbClr val="C9C6BE"/>
            </a:solidFill>
            <a:prstDash val="solid"/>
          </a:ln>
        </p:spPr>
        <p:txBody>
          <a:bodyPr/>
          <a:p/>
        </p:txBody>
      </p:sp>
      <p:sp>
        <p:nvSpPr>
          <p:cNvPr id="13" name="Shape 11"/>
          <p:cNvSpPr/>
          <p:nvPr/>
        </p:nvSpPr>
        <p:spPr>
          <a:xfrm>
            <a:off x="7397496" y="1691640"/>
            <a:ext cx="1920240" cy="914400"/>
          </a:xfrm>
          <a:prstGeom prst="roundRect">
            <a:avLst>
              <a:gd name="adj" fmla="val 9000"/>
            </a:avLst>
          </a:prstGeom>
          <a:solidFill>
            <a:srgbClr val="ECEAE4"/>
          </a:solidFill>
          <a:ln w="12700">
            <a:solidFill>
              <a:srgbClr val="ECEAE4"/>
            </a:solidFill>
            <a:prstDash val="solid"/>
          </a:ln>
        </p:spPr>
        <p:txBody>
          <a:bodyPr/>
          <a:p/>
        </p:txBody>
      </p:sp>
      <p:sp>
        <p:nvSpPr>
          <p:cNvPr id="14" name="Text 12"/>
          <p:cNvSpPr/>
          <p:nvPr/>
        </p:nvSpPr>
        <p:spPr>
          <a:xfrm>
            <a:off x="7470648" y="1691640"/>
            <a:ext cx="1773936" cy="9144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Comparația</a:t>
            </a:r>
            <a:endParaRPr lang="en-US" sz="1500" dirty="0"/>
          </a:p>
        </p:txBody>
      </p:sp>
      <p:sp>
        <p:nvSpPr>
          <p:cNvPr id="15" name="Shape 13"/>
          <p:cNvSpPr/>
          <p:nvPr/>
        </p:nvSpPr>
        <p:spPr>
          <a:xfrm>
            <a:off x="9345168" y="1993392"/>
            <a:ext cx="292608" cy="310896"/>
          </a:xfrm>
          <a:prstGeom prst="rightArrow">
            <a:avLst/>
          </a:prstGeom>
          <a:solidFill>
            <a:srgbClr val="C9C6BE"/>
          </a:solidFill>
          <a:ln w="12700">
            <a:solidFill>
              <a:srgbClr val="C9C6BE"/>
            </a:solidFill>
            <a:prstDash val="solid"/>
          </a:ln>
        </p:spPr>
        <p:txBody>
          <a:bodyPr/>
          <a:p/>
        </p:txBody>
      </p:sp>
      <p:sp>
        <p:nvSpPr>
          <p:cNvPr id="16" name="Shape 14"/>
          <p:cNvSpPr/>
          <p:nvPr/>
        </p:nvSpPr>
        <p:spPr>
          <a:xfrm>
            <a:off x="9665208" y="1691640"/>
            <a:ext cx="1920240" cy="914400"/>
          </a:xfrm>
          <a:prstGeom prst="roundRect">
            <a:avLst>
              <a:gd name="adj" fmla="val 9000"/>
            </a:avLst>
          </a:prstGeom>
          <a:solidFill>
            <a:srgbClr val="0E7C6B"/>
          </a:solidFill>
          <a:ln w="12700">
            <a:solidFill>
              <a:srgbClr val="0E7C6B"/>
            </a:solidFill>
            <a:prstDash val="solid"/>
          </a:ln>
        </p:spPr>
        <p:txBody>
          <a:bodyPr/>
          <a:p/>
        </p:txBody>
      </p:sp>
      <p:sp>
        <p:nvSpPr>
          <p:cNvPr id="17" name="Text 15"/>
          <p:cNvSpPr/>
          <p:nvPr/>
        </p:nvSpPr>
        <p:spPr>
          <a:xfrm>
            <a:off x="9738360" y="1691640"/>
            <a:ext cx="1773936"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Schimbarea și reauditarea</a:t>
            </a:r>
            <a:endParaRPr lang="en-US" sz="1500" dirty="0"/>
          </a:p>
        </p:txBody>
      </p:sp>
      <p:sp>
        <p:nvSpPr>
          <p:cNvPr id="18" name="Text 16"/>
          <p:cNvSpPr/>
          <p:nvPr/>
        </p:nvSpPr>
        <p:spPr>
          <a:xfrm>
            <a:off x="594360" y="2880360"/>
            <a:ext cx="10972800" cy="10972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Le arată profesioniștilor cum se situează practica lor față de un reper. Standardele ANMCS cer criterii explicite, măsuri de îmbunătățire și verificarea efectului prin reevaluare.</a:t>
            </a:r>
            <a:endParaRPr lang="en-US" sz="1700" dirty="0"/>
          </a:p>
        </p:txBody>
      </p:sp>
      <p:sp>
        <p:nvSpPr>
          <p:cNvPr id="19" name="Shape 17"/>
          <p:cNvSpPr/>
          <p:nvPr/>
        </p:nvSpPr>
        <p:spPr>
          <a:xfrm>
            <a:off x="594360" y="4160520"/>
            <a:ext cx="10972800" cy="960120"/>
          </a:xfrm>
          <a:prstGeom prst="roundRect">
            <a:avLst>
              <a:gd name="adj" fmla="val 8571"/>
            </a:avLst>
          </a:prstGeom>
          <a:solidFill>
            <a:srgbClr val="11121A"/>
          </a:solidFill>
          <a:ln w="12700">
            <a:solidFill>
              <a:srgbClr val="11121A"/>
            </a:solidFill>
            <a:prstDash val="solid"/>
          </a:ln>
        </p:spPr>
        <p:txBody>
          <a:bodyPr/>
          <a:p/>
        </p:txBody>
      </p:sp>
      <p:sp>
        <p:nvSpPr>
          <p:cNvPr id="20" name="Text 18"/>
          <p:cNvSpPr/>
          <p:nvPr/>
        </p:nvSpPr>
        <p:spPr>
          <a:xfrm>
            <a:off x="868680" y="4160520"/>
            <a:ext cx="10424160" cy="96012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Un audit fără reauditare a măsurat, dar nu a îmbunătățit nimic.</a:t>
            </a:r>
            <a:endParaRPr lang="en-US" sz="1800" dirty="0"/>
          </a:p>
        </p:txBody>
      </p:sp>
      <p:sp>
        <p:nvSpPr>
          <p:cNvPr id="21" name="Text 19"/>
          <p:cNvSpPr/>
          <p:nvPr/>
        </p:nvSpPr>
        <p:spPr>
          <a:xfrm>
            <a:off x="594360" y="5349240"/>
            <a:ext cx="10972800" cy="45720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Exemplul cu valori ipotetice din note: un audit al evaluării riscului de escare.</a:t>
            </a:r>
            <a:endParaRPr lang="en-US" sz="1400" dirty="0"/>
          </a:p>
        </p:txBody>
      </p:sp>
      <p:sp>
        <p:nvSpPr>
          <p:cNvPr id="22" name="Text 20"/>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Busse și colab., 2019 (registru A1019); standardele ANMCS, ediția a III-a (registru A1035).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INSTRUMENTELE DE BAZĂ · CONVENȚIE A CURSULUI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Șapte instrumente simple</a:t>
            </a:r>
            <a:endParaRPr lang="en-US" sz="3000" dirty="0"/>
          </a:p>
        </p:txBody>
      </p:sp>
      <p:sp>
        <p:nvSpPr>
          <p:cNvPr id="4" name="Shape 2"/>
          <p:cNvSpPr/>
          <p:nvPr/>
        </p:nvSpPr>
        <p:spPr>
          <a:xfrm>
            <a:off x="594360" y="1645920"/>
            <a:ext cx="2651760" cy="1325880"/>
          </a:xfrm>
          <a:prstGeom prst="roundRect">
            <a:avLst>
              <a:gd name="adj" fmla="val 6207"/>
            </a:avLst>
          </a:prstGeom>
          <a:solidFill>
            <a:srgbClr val="ECEAE4"/>
          </a:solidFill>
          <a:ln w="12700">
            <a:solidFill>
              <a:srgbClr val="ECEAE4"/>
            </a:solidFill>
            <a:prstDash val="solid"/>
          </a:ln>
        </p:spPr>
        <p:txBody>
          <a:bodyPr/>
          <a:p/>
        </p:txBody>
      </p:sp>
      <p:sp>
        <p:nvSpPr>
          <p:cNvPr id="5" name="Text 3"/>
          <p:cNvSpPr/>
          <p:nvPr/>
        </p:nvSpPr>
        <p:spPr>
          <a:xfrm>
            <a:off x="777240" y="175564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Cauză–efect</a:t>
            </a:r>
            <a:endParaRPr lang="en-US" sz="1600" dirty="0"/>
          </a:p>
        </p:txBody>
      </p:sp>
      <p:sp>
        <p:nvSpPr>
          <p:cNvPr id="6" name="Text 4"/>
          <p:cNvSpPr/>
          <p:nvPr/>
        </p:nvSpPr>
        <p:spPr>
          <a:xfrm>
            <a:off x="777240" y="228600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cauzele unei probleme</a:t>
            </a:r>
            <a:endParaRPr lang="en-US" sz="1450" dirty="0"/>
          </a:p>
        </p:txBody>
      </p:sp>
      <p:sp>
        <p:nvSpPr>
          <p:cNvPr id="7" name="Shape 5"/>
          <p:cNvSpPr/>
          <p:nvPr/>
        </p:nvSpPr>
        <p:spPr>
          <a:xfrm>
            <a:off x="3383280" y="1645920"/>
            <a:ext cx="2651760" cy="1325880"/>
          </a:xfrm>
          <a:prstGeom prst="roundRect">
            <a:avLst>
              <a:gd name="adj" fmla="val 6207"/>
            </a:avLst>
          </a:prstGeom>
          <a:solidFill>
            <a:srgbClr val="F9F8F5"/>
          </a:solidFill>
          <a:ln w="12700">
            <a:solidFill>
              <a:srgbClr val="F9F8F5"/>
            </a:solidFill>
            <a:prstDash val="solid"/>
          </a:ln>
        </p:spPr>
        <p:txBody>
          <a:bodyPr/>
          <a:p/>
        </p:txBody>
      </p:sp>
      <p:sp>
        <p:nvSpPr>
          <p:cNvPr id="8" name="Text 6"/>
          <p:cNvSpPr/>
          <p:nvPr/>
        </p:nvSpPr>
        <p:spPr>
          <a:xfrm>
            <a:off x="3566160" y="175564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Pareto</a:t>
            </a:r>
            <a:endParaRPr lang="en-US" sz="1600" dirty="0"/>
          </a:p>
        </p:txBody>
      </p:sp>
      <p:sp>
        <p:nvSpPr>
          <p:cNvPr id="9" name="Text 7"/>
          <p:cNvSpPr/>
          <p:nvPr/>
        </p:nvSpPr>
        <p:spPr>
          <a:xfrm>
            <a:off x="3566160" y="228600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cauzele, după frecvență</a:t>
            </a:r>
            <a:endParaRPr lang="en-US" sz="1450" dirty="0"/>
          </a:p>
        </p:txBody>
      </p:sp>
      <p:sp>
        <p:nvSpPr>
          <p:cNvPr id="10" name="Shape 8"/>
          <p:cNvSpPr/>
          <p:nvPr/>
        </p:nvSpPr>
        <p:spPr>
          <a:xfrm>
            <a:off x="6172200" y="1645920"/>
            <a:ext cx="2651760" cy="1325880"/>
          </a:xfrm>
          <a:prstGeom prst="roundRect">
            <a:avLst>
              <a:gd name="adj" fmla="val 6207"/>
            </a:avLst>
          </a:prstGeom>
          <a:solidFill>
            <a:srgbClr val="ECEAE4"/>
          </a:solidFill>
          <a:ln w="12700">
            <a:solidFill>
              <a:srgbClr val="ECEAE4"/>
            </a:solidFill>
            <a:prstDash val="solid"/>
          </a:ln>
        </p:spPr>
        <p:txBody>
          <a:bodyPr/>
          <a:p/>
        </p:txBody>
      </p:sp>
      <p:sp>
        <p:nvSpPr>
          <p:cNvPr id="11" name="Text 9"/>
          <p:cNvSpPr/>
          <p:nvPr/>
        </p:nvSpPr>
        <p:spPr>
          <a:xfrm>
            <a:off x="6355080" y="175564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Histograma</a:t>
            </a:r>
            <a:endParaRPr lang="en-US" sz="1600" dirty="0"/>
          </a:p>
        </p:txBody>
      </p:sp>
      <p:sp>
        <p:nvSpPr>
          <p:cNvPr id="12" name="Text 10"/>
          <p:cNvSpPr/>
          <p:nvPr/>
        </p:nvSpPr>
        <p:spPr>
          <a:xfrm>
            <a:off x="6355080" y="228600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distribuția valorilor</a:t>
            </a:r>
            <a:endParaRPr lang="en-US" sz="1450" dirty="0"/>
          </a:p>
        </p:txBody>
      </p:sp>
      <p:sp>
        <p:nvSpPr>
          <p:cNvPr id="13" name="Shape 11"/>
          <p:cNvSpPr/>
          <p:nvPr/>
        </p:nvSpPr>
        <p:spPr>
          <a:xfrm>
            <a:off x="8961120" y="1645920"/>
            <a:ext cx="2651760" cy="1325880"/>
          </a:xfrm>
          <a:prstGeom prst="roundRect">
            <a:avLst>
              <a:gd name="adj" fmla="val 6207"/>
            </a:avLst>
          </a:prstGeom>
          <a:solidFill>
            <a:srgbClr val="F9F8F5"/>
          </a:solidFill>
          <a:ln w="12700">
            <a:solidFill>
              <a:srgbClr val="F9F8F5"/>
            </a:solidFill>
            <a:prstDash val="solid"/>
          </a:ln>
        </p:spPr>
        <p:txBody>
          <a:bodyPr/>
          <a:p/>
        </p:txBody>
      </p:sp>
      <p:sp>
        <p:nvSpPr>
          <p:cNvPr id="14" name="Text 12"/>
          <p:cNvSpPr/>
          <p:nvPr/>
        </p:nvSpPr>
        <p:spPr>
          <a:xfrm>
            <a:off x="9144000" y="175564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Diagrama de dispersie</a:t>
            </a:r>
            <a:endParaRPr lang="en-US" sz="1600" dirty="0"/>
          </a:p>
        </p:txBody>
      </p:sp>
      <p:sp>
        <p:nvSpPr>
          <p:cNvPr id="15" name="Text 13"/>
          <p:cNvSpPr/>
          <p:nvPr/>
        </p:nvSpPr>
        <p:spPr>
          <a:xfrm>
            <a:off x="9144000" y="228600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relația a două variabile</a:t>
            </a:r>
            <a:endParaRPr lang="en-US" sz="1450" dirty="0"/>
          </a:p>
        </p:txBody>
      </p:sp>
      <p:sp>
        <p:nvSpPr>
          <p:cNvPr id="16" name="Shape 14"/>
          <p:cNvSpPr/>
          <p:nvPr/>
        </p:nvSpPr>
        <p:spPr>
          <a:xfrm>
            <a:off x="594360" y="3108960"/>
            <a:ext cx="2651760" cy="1325880"/>
          </a:xfrm>
          <a:prstGeom prst="roundRect">
            <a:avLst>
              <a:gd name="adj" fmla="val 6207"/>
            </a:avLst>
          </a:prstGeom>
          <a:solidFill>
            <a:srgbClr val="ECEAE4"/>
          </a:solidFill>
          <a:ln w="12700">
            <a:solidFill>
              <a:srgbClr val="ECEAE4"/>
            </a:solidFill>
            <a:prstDash val="solid"/>
          </a:ln>
        </p:spPr>
        <p:txBody>
          <a:bodyPr/>
          <a:p/>
        </p:txBody>
      </p:sp>
      <p:sp>
        <p:nvSpPr>
          <p:cNvPr id="17" name="Text 15"/>
          <p:cNvSpPr/>
          <p:nvPr/>
        </p:nvSpPr>
        <p:spPr>
          <a:xfrm>
            <a:off x="777240" y="321868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Fișa de control</a:t>
            </a:r>
            <a:endParaRPr lang="en-US" sz="1600" dirty="0"/>
          </a:p>
        </p:txBody>
      </p:sp>
      <p:sp>
        <p:nvSpPr>
          <p:cNvPr id="18" name="Text 16"/>
          <p:cNvSpPr/>
          <p:nvPr/>
        </p:nvSpPr>
        <p:spPr>
          <a:xfrm>
            <a:off x="777240" y="374904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procesul în timp</a:t>
            </a:r>
            <a:endParaRPr lang="en-US" sz="1450" dirty="0"/>
          </a:p>
        </p:txBody>
      </p:sp>
      <p:sp>
        <p:nvSpPr>
          <p:cNvPr id="19" name="Shape 17"/>
          <p:cNvSpPr/>
          <p:nvPr/>
        </p:nvSpPr>
        <p:spPr>
          <a:xfrm>
            <a:off x="3383280" y="3108960"/>
            <a:ext cx="2651760" cy="1325880"/>
          </a:xfrm>
          <a:prstGeom prst="roundRect">
            <a:avLst>
              <a:gd name="adj" fmla="val 6207"/>
            </a:avLst>
          </a:prstGeom>
          <a:solidFill>
            <a:srgbClr val="F9F8F5"/>
          </a:solidFill>
          <a:ln w="12700">
            <a:solidFill>
              <a:srgbClr val="F9F8F5"/>
            </a:solidFill>
            <a:prstDash val="solid"/>
          </a:ln>
        </p:spPr>
        <p:txBody>
          <a:bodyPr/>
          <a:p/>
        </p:txBody>
      </p:sp>
      <p:sp>
        <p:nvSpPr>
          <p:cNvPr id="20" name="Text 18"/>
          <p:cNvSpPr/>
          <p:nvPr/>
        </p:nvSpPr>
        <p:spPr>
          <a:xfrm>
            <a:off x="3566160" y="321868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Diagrama de flux</a:t>
            </a:r>
            <a:endParaRPr lang="en-US" sz="1600" dirty="0"/>
          </a:p>
        </p:txBody>
      </p:sp>
      <p:sp>
        <p:nvSpPr>
          <p:cNvPr id="21" name="Text 19"/>
          <p:cNvSpPr/>
          <p:nvPr/>
        </p:nvSpPr>
        <p:spPr>
          <a:xfrm>
            <a:off x="3566160" y="374904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pașii procesului</a:t>
            </a:r>
            <a:endParaRPr lang="en-US" sz="1450" dirty="0"/>
          </a:p>
        </p:txBody>
      </p:sp>
      <p:sp>
        <p:nvSpPr>
          <p:cNvPr id="22" name="Shape 20"/>
          <p:cNvSpPr/>
          <p:nvPr/>
        </p:nvSpPr>
        <p:spPr>
          <a:xfrm>
            <a:off x="6172200" y="3108960"/>
            <a:ext cx="2651760" cy="1325880"/>
          </a:xfrm>
          <a:prstGeom prst="roundRect">
            <a:avLst>
              <a:gd name="adj" fmla="val 6207"/>
            </a:avLst>
          </a:prstGeom>
          <a:solidFill>
            <a:srgbClr val="ECEAE4"/>
          </a:solidFill>
          <a:ln w="12700">
            <a:solidFill>
              <a:srgbClr val="ECEAE4"/>
            </a:solidFill>
            <a:prstDash val="solid"/>
          </a:ln>
        </p:spPr>
        <p:txBody>
          <a:bodyPr/>
          <a:p/>
        </p:txBody>
      </p:sp>
      <p:sp>
        <p:nvSpPr>
          <p:cNvPr id="23" name="Text 21"/>
          <p:cNvSpPr/>
          <p:nvPr/>
        </p:nvSpPr>
        <p:spPr>
          <a:xfrm>
            <a:off x="6355080" y="3218688"/>
            <a:ext cx="2286000" cy="5029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Foaia de înregistrare</a:t>
            </a:r>
            <a:endParaRPr lang="en-US" sz="1600" dirty="0"/>
          </a:p>
        </p:txBody>
      </p:sp>
      <p:sp>
        <p:nvSpPr>
          <p:cNvPr id="24" name="Text 22"/>
          <p:cNvSpPr/>
          <p:nvPr/>
        </p:nvSpPr>
        <p:spPr>
          <a:xfrm>
            <a:off x="6355080" y="3749040"/>
            <a:ext cx="2286000" cy="64008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datele, la locul îngrijirii</a:t>
            </a:r>
            <a:endParaRPr lang="en-US" sz="1450" dirty="0"/>
          </a:p>
        </p:txBody>
      </p:sp>
      <p:sp>
        <p:nvSpPr>
          <p:cNvPr id="25" name="Text 23"/>
          <p:cNvSpPr/>
          <p:nvPr/>
        </p:nvSpPr>
        <p:spPr>
          <a:xfrm>
            <a:off x="8961120" y="3108960"/>
            <a:ext cx="2606040" cy="1325880"/>
          </a:xfrm>
          <a:prstGeom prst="rect">
            <a:avLst/>
          </a:prstGeom>
          <a:noFill/>
          <a:ln/>
        </p:spPr>
        <p:txBody>
          <a:bodyPr wrap="square" lIns="0" tIns="0" rIns="0" bIns="0" rtlCol="0" anchor="ctr"/>
          <a:lstStyle/>
          <a:p>
            <a:pPr indent="0" marL="0">
              <a:buNone/>
            </a:pPr>
            <a:r>
              <a:rPr lang="en-US" sz="1450" b="1" dirty="0">
                <a:solidFill>
                  <a:srgbClr val="B02532"/>
                </a:solidFill>
                <a:latin typeface="Palatino Linotype" pitchFamily="34" charset="0"/>
                <a:ea typeface="Palatino Linotype" pitchFamily="34" charset="-122"/>
                <a:cs typeface="Palatino Linotype" pitchFamily="34" charset="-120"/>
              </a:rPr>
              <a:t>La lucrarea practică a săptămânii: câteva dintre ele, într-o simulare de audit.</a:t>
            </a:r>
            <a:endParaRPr lang="en-US" sz="1450" dirty="0"/>
          </a:p>
        </p:txBody>
      </p:sp>
      <p:sp>
        <p:nvSpPr>
          <p:cNvPr id="26" name="Text 24"/>
          <p:cNvSpPr/>
          <p:nvPr/>
        </p:nvSpPr>
        <p:spPr>
          <a:xfrm>
            <a:off x="594360" y="4846320"/>
            <a:ext cx="10972800" cy="45720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Pentru curioși (nu se evaluează): Six Sigma, Lean și tabloul de bord echilibrat, în note.</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CAZUL SE ÎNCHIDE UNDE A ÎNCEPUT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Indicatorii sunt produși de oameni</a:t>
            </a:r>
            <a:endParaRPr lang="en-US" sz="3200" dirty="0"/>
          </a:p>
        </p:txBody>
      </p:sp>
      <p:sp>
        <p:nvSpPr>
          <p:cNvPr id="4" name="Text 2"/>
          <p:cNvSpPr/>
          <p:nvPr/>
        </p:nvSpPr>
        <p:spPr>
          <a:xfrm>
            <a:off x="594360" y="1645920"/>
            <a:ext cx="10972800" cy="146304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Evaluatorii verifică protocoale, dosare și indicatori. Indicatorii sunt produși, zi de zi, de oameni care rămân în spital, care știu ce au de făcut și care raportează o greșeală fără teamă.</a:t>
            </a:r>
            <a:endParaRPr lang="en-US" sz="1900" dirty="0"/>
          </a:p>
        </p:txBody>
      </p:sp>
      <p:sp>
        <p:nvSpPr>
          <p:cNvPr id="5" name="Shape 3"/>
          <p:cNvSpPr/>
          <p:nvPr/>
        </p:nvSpPr>
        <p:spPr>
          <a:xfrm>
            <a:off x="594360" y="3337560"/>
            <a:ext cx="10972800" cy="1097280"/>
          </a:xfrm>
          <a:prstGeom prst="roundRect">
            <a:avLst>
              <a:gd name="adj" fmla="val 7500"/>
            </a:avLst>
          </a:prstGeom>
          <a:solidFill>
            <a:srgbClr val="272A38"/>
          </a:solidFill>
          <a:ln w="12700">
            <a:solidFill>
              <a:srgbClr val="272A38"/>
            </a:solidFill>
            <a:prstDash val="solid"/>
          </a:ln>
        </p:spPr>
        <p:txBody>
          <a:bodyPr/>
          <a:p/>
        </p:txBody>
      </p:sp>
      <p:sp>
        <p:nvSpPr>
          <p:cNvPr id="6" name="Text 4"/>
          <p:cNvSpPr/>
          <p:nvPr/>
        </p:nvSpPr>
        <p:spPr>
          <a:xfrm>
            <a:off x="868680" y="3337560"/>
            <a:ext cx="10424160" cy="1097280"/>
          </a:xfrm>
          <a:prstGeom prst="rect">
            <a:avLst/>
          </a:prstGeom>
          <a:noFill/>
          <a:ln/>
        </p:spPr>
        <p:txBody>
          <a:bodyPr wrap="square" lIns="0" tIns="0" rIns="0" bIns="0" rtlCol="0" anchor="ctr"/>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Standardele ANMCS cer evaluarea periodică a culturii siguranței și a calității vieții profesionale, cu măsuri de îmbunătățire.</a:t>
            </a:r>
            <a:endParaRPr lang="en-US" sz="1700" dirty="0"/>
          </a:p>
        </p:txBody>
      </p:sp>
      <p:sp>
        <p:nvSpPr>
          <p:cNvPr id="7" name="Text 5"/>
          <p:cNvSpPr/>
          <p:nvPr/>
        </p:nvSpPr>
        <p:spPr>
          <a:xfrm>
            <a:off x="594360" y="4663440"/>
            <a:ext cx="10972800" cy="82296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Conversația Marei cu asistenta tânără face parte și ea din pregătirea secției pentru acreditare.</a:t>
            </a:r>
            <a:endParaRPr lang="en-US" sz="1900" dirty="0"/>
          </a:p>
        </p:txBody>
      </p:sp>
      <p:sp>
        <p:nvSpPr>
          <p:cNvPr id="8" name="Text 6"/>
          <p:cNvSpPr/>
          <p:nvPr/>
        </p:nvSpPr>
        <p:spPr>
          <a:xfrm>
            <a:off x="594360" y="6382512"/>
            <a:ext cx="969264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standardele ANMCS, ediția a III-a (registru A1034, A1036).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FACEȚI DIFERIT DE MÂINE</a:t>
            </a:r>
            <a:endParaRPr lang="en-US" sz="1300" dirty="0"/>
          </a:p>
        </p:txBody>
      </p:sp>
      <p:sp>
        <p:nvSpPr>
          <p:cNvPr id="3" name="Shape 1"/>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4" name="Text 2"/>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ALEGEȚI UNA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Luni dimineață, în stagiu</a:t>
            </a:r>
            <a:endParaRPr lang="en-US" sz="3200" dirty="0"/>
          </a:p>
        </p:txBody>
      </p:sp>
      <p:sp>
        <p:nvSpPr>
          <p:cNvPr id="6" name="Shape 4"/>
          <p:cNvSpPr/>
          <p:nvPr/>
        </p:nvSpPr>
        <p:spPr>
          <a:xfrm>
            <a:off x="594360" y="1691640"/>
            <a:ext cx="3566160" cy="3840480"/>
          </a:xfrm>
          <a:prstGeom prst="roundRect">
            <a:avLst>
              <a:gd name="adj" fmla="val 2308"/>
            </a:avLst>
          </a:prstGeom>
          <a:solidFill>
            <a:srgbClr val="ECEAE4"/>
          </a:solidFill>
          <a:ln w="12700">
            <a:solidFill>
              <a:srgbClr val="ECEAE4"/>
            </a:solidFill>
            <a:prstDash val="solid"/>
          </a:ln>
        </p:spPr>
        <p:txBody>
          <a:bodyPr/>
          <a:p/>
        </p:txBody>
      </p:sp>
      <p:sp>
        <p:nvSpPr>
          <p:cNvPr id="7" name="Shape 5"/>
          <p:cNvSpPr/>
          <p:nvPr/>
        </p:nvSpPr>
        <p:spPr>
          <a:xfrm>
            <a:off x="594360" y="1691640"/>
            <a:ext cx="3566160" cy="73152"/>
          </a:xfrm>
          <a:prstGeom prst="rect">
            <a:avLst/>
          </a:prstGeom>
          <a:solidFill>
            <a:srgbClr val="0E7C6B"/>
          </a:solidFill>
          <a:ln w="12700">
            <a:solidFill>
              <a:srgbClr val="0E7C6B"/>
            </a:solidFill>
            <a:prstDash val="solid"/>
          </a:ln>
        </p:spPr>
        <p:txBody>
          <a:bodyPr/>
          <a:p/>
        </p:txBody>
      </p:sp>
      <p:sp>
        <p:nvSpPr>
          <p:cNvPr id="8" name="Text 6"/>
          <p:cNvSpPr/>
          <p:nvPr/>
        </p:nvSpPr>
        <p:spPr>
          <a:xfrm>
            <a:off x="822960" y="1892808"/>
            <a:ext cx="3108960" cy="6858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Când delegați</a:t>
            </a:r>
            <a:endParaRPr lang="en-US" sz="1900" dirty="0"/>
          </a:p>
        </p:txBody>
      </p:sp>
      <p:sp>
        <p:nvSpPr>
          <p:cNvPr id="9" name="Text 7"/>
          <p:cNvSpPr/>
          <p:nvPr/>
        </p:nvSpPr>
        <p:spPr>
          <a:xfrm>
            <a:off x="822960" y="2560320"/>
            <a:ext cx="3108960" cy="28346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Și când vi se deleagă: verificați cele cinci condiții. Cereți sau dați instrucțiuni: ce se urmărește și când se sună.</a:t>
            </a:r>
            <a:endParaRPr lang="en-US" sz="1600" dirty="0"/>
          </a:p>
        </p:txBody>
      </p:sp>
      <p:sp>
        <p:nvSpPr>
          <p:cNvPr id="10" name="Shape 8"/>
          <p:cNvSpPr/>
          <p:nvPr/>
        </p:nvSpPr>
        <p:spPr>
          <a:xfrm>
            <a:off x="4297680" y="1691640"/>
            <a:ext cx="3566160" cy="3840480"/>
          </a:xfrm>
          <a:prstGeom prst="roundRect">
            <a:avLst>
              <a:gd name="adj" fmla="val 2308"/>
            </a:avLst>
          </a:prstGeom>
          <a:solidFill>
            <a:srgbClr val="F9F8F5"/>
          </a:solidFill>
          <a:ln w="12700">
            <a:solidFill>
              <a:srgbClr val="F9F8F5"/>
            </a:solidFill>
            <a:prstDash val="solid"/>
          </a:ln>
        </p:spPr>
        <p:txBody>
          <a:bodyPr/>
          <a:p/>
        </p:txBody>
      </p:sp>
      <p:sp>
        <p:nvSpPr>
          <p:cNvPr id="11" name="Shape 9"/>
          <p:cNvSpPr/>
          <p:nvPr/>
        </p:nvSpPr>
        <p:spPr>
          <a:xfrm>
            <a:off x="4297680" y="1691640"/>
            <a:ext cx="3566160" cy="73152"/>
          </a:xfrm>
          <a:prstGeom prst="rect">
            <a:avLst/>
          </a:prstGeom>
          <a:solidFill>
            <a:srgbClr val="B02532"/>
          </a:solidFill>
          <a:ln w="12700">
            <a:solidFill>
              <a:srgbClr val="B02532"/>
            </a:solidFill>
            <a:prstDash val="solid"/>
          </a:ln>
        </p:spPr>
        <p:txBody>
          <a:bodyPr/>
          <a:p/>
        </p:txBody>
      </p:sp>
      <p:sp>
        <p:nvSpPr>
          <p:cNvPr id="12" name="Text 10"/>
          <p:cNvSpPr/>
          <p:nvPr/>
        </p:nvSpPr>
        <p:spPr>
          <a:xfrm>
            <a:off x="4526280" y="1892808"/>
            <a:ext cx="3108960" cy="6858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Când nu sunteți de acord</a:t>
            </a:r>
            <a:endParaRPr lang="en-US" sz="1900" dirty="0"/>
          </a:p>
        </p:txBody>
      </p:sp>
      <p:sp>
        <p:nvSpPr>
          <p:cNvPr id="13" name="Text 11"/>
          <p:cNvSpPr/>
          <p:nvPr/>
        </p:nvSpPr>
        <p:spPr>
          <a:xfrm>
            <a:off x="4526280" y="2560320"/>
            <a:ext cx="3108960" cy="28346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Ce stil folosiți: evitați, cedați, impuneți sau colaborați? Se potrivește situației?</a:t>
            </a:r>
            <a:endParaRPr lang="en-US" sz="1600" dirty="0"/>
          </a:p>
        </p:txBody>
      </p:sp>
      <p:sp>
        <p:nvSpPr>
          <p:cNvPr id="14" name="Shape 12"/>
          <p:cNvSpPr/>
          <p:nvPr/>
        </p:nvSpPr>
        <p:spPr>
          <a:xfrm>
            <a:off x="8001000" y="1691640"/>
            <a:ext cx="3566160" cy="3840480"/>
          </a:xfrm>
          <a:prstGeom prst="roundRect">
            <a:avLst>
              <a:gd name="adj" fmla="val 2308"/>
            </a:avLst>
          </a:prstGeom>
          <a:solidFill>
            <a:srgbClr val="ECEAE4"/>
          </a:solidFill>
          <a:ln w="12700">
            <a:solidFill>
              <a:srgbClr val="ECEAE4"/>
            </a:solidFill>
            <a:prstDash val="solid"/>
          </a:ln>
        </p:spPr>
        <p:txBody>
          <a:bodyPr/>
          <a:p/>
        </p:txBody>
      </p:sp>
      <p:sp>
        <p:nvSpPr>
          <p:cNvPr id="15" name="Shape 13"/>
          <p:cNvSpPr/>
          <p:nvPr/>
        </p:nvSpPr>
        <p:spPr>
          <a:xfrm>
            <a:off x="8001000" y="1691640"/>
            <a:ext cx="3566160" cy="73152"/>
          </a:xfrm>
          <a:prstGeom prst="rect">
            <a:avLst/>
          </a:prstGeom>
          <a:solidFill>
            <a:srgbClr val="4A2D8C"/>
          </a:solidFill>
          <a:ln w="12700">
            <a:solidFill>
              <a:srgbClr val="4A2D8C"/>
            </a:solidFill>
            <a:prstDash val="solid"/>
          </a:ln>
        </p:spPr>
        <p:txBody>
          <a:bodyPr/>
          <a:p/>
        </p:txBody>
      </p:sp>
      <p:sp>
        <p:nvSpPr>
          <p:cNvPr id="16" name="Text 14"/>
          <p:cNvSpPr/>
          <p:nvPr/>
        </p:nvSpPr>
        <p:spPr>
          <a:xfrm>
            <a:off x="8229600" y="1892808"/>
            <a:ext cx="3108960" cy="685800"/>
          </a:xfrm>
          <a:prstGeom prst="rect">
            <a:avLst/>
          </a:prstGeom>
          <a:noFill/>
          <a:ln/>
        </p:spPr>
        <p:txBody>
          <a:bodyPr wrap="square" lIns="0" tIns="0" rIns="0" bIns="0" rtlCol="0" anchor="t"/>
          <a:lstStyle/>
          <a:p>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Când documentați</a:t>
            </a:r>
            <a:endParaRPr lang="en-US" sz="1900" dirty="0"/>
          </a:p>
        </p:txBody>
      </p:sp>
      <p:sp>
        <p:nvSpPr>
          <p:cNvPr id="17" name="Text 15"/>
          <p:cNvSpPr/>
          <p:nvPr/>
        </p:nvSpPr>
        <p:spPr>
          <a:xfrm>
            <a:off x="8229600" y="2560320"/>
            <a:ext cx="3108960" cy="28346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Documentul este dovada procesului: ce nu este scris nu s-a făcut.</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RECAPITULARE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rămâne din cursul de azi</a:t>
            </a:r>
            <a:endParaRPr lang="en-US" sz="3200" dirty="0"/>
          </a:p>
        </p:txBody>
      </p:sp>
      <p:sp>
        <p:nvSpPr>
          <p:cNvPr id="4" name="Shape 2"/>
          <p:cNvSpPr/>
          <p:nvPr/>
        </p:nvSpPr>
        <p:spPr>
          <a:xfrm>
            <a:off x="594360" y="1554480"/>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5" name="Shape 3"/>
          <p:cNvSpPr/>
          <p:nvPr/>
        </p:nvSpPr>
        <p:spPr>
          <a:xfrm>
            <a:off x="868680" y="1664208"/>
            <a:ext cx="420624" cy="420624"/>
          </a:xfrm>
          <a:prstGeom prst="ellipse">
            <a:avLst/>
          </a:prstGeom>
          <a:solidFill>
            <a:srgbClr val="FFC24B"/>
          </a:solidFill>
          <a:ln/>
        </p:spPr>
        <p:txBody>
          <a:bodyPr/>
          <a:p/>
        </p:txBody>
      </p:sp>
      <p:sp>
        <p:nvSpPr>
          <p:cNvPr id="6" name="Text 4"/>
          <p:cNvSpPr/>
          <p:nvPr/>
        </p:nvSpPr>
        <p:spPr>
          <a:xfrm>
            <a:off x="868680" y="16642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554480"/>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Managerul este numit; liderul este acceptat.</a:t>
            </a:r>
            <a:endParaRPr lang="en-US" sz="1600" dirty="0"/>
          </a:p>
        </p:txBody>
      </p:sp>
      <p:sp>
        <p:nvSpPr>
          <p:cNvPr id="8" name="Shape 6"/>
          <p:cNvSpPr/>
          <p:nvPr/>
        </p:nvSpPr>
        <p:spPr>
          <a:xfrm>
            <a:off x="594360" y="2304288"/>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9" name="Shape 7"/>
          <p:cNvSpPr/>
          <p:nvPr/>
        </p:nvSpPr>
        <p:spPr>
          <a:xfrm>
            <a:off x="868680" y="2414016"/>
            <a:ext cx="420624" cy="420624"/>
          </a:xfrm>
          <a:prstGeom prst="ellipse">
            <a:avLst/>
          </a:prstGeom>
          <a:solidFill>
            <a:srgbClr val="FFC24B"/>
          </a:solidFill>
          <a:ln/>
        </p:spPr>
        <p:txBody>
          <a:bodyPr/>
          <a:p/>
        </p:txBody>
      </p:sp>
      <p:sp>
        <p:nvSpPr>
          <p:cNvPr id="10" name="Text 8"/>
          <p:cNvSpPr/>
          <p:nvPr/>
        </p:nvSpPr>
        <p:spPr>
          <a:xfrm>
            <a:off x="868680" y="24140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304288"/>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Stilul se alege după pregătirea celui condus.</a:t>
            </a:r>
            <a:endParaRPr lang="en-US" sz="1600" dirty="0"/>
          </a:p>
        </p:txBody>
      </p:sp>
      <p:sp>
        <p:nvSpPr>
          <p:cNvPr id="12" name="Shape 10"/>
          <p:cNvSpPr/>
          <p:nvPr/>
        </p:nvSpPr>
        <p:spPr>
          <a:xfrm>
            <a:off x="594360" y="3054096"/>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13" name="Shape 11"/>
          <p:cNvSpPr/>
          <p:nvPr/>
        </p:nvSpPr>
        <p:spPr>
          <a:xfrm>
            <a:off x="868680" y="3163824"/>
            <a:ext cx="420624" cy="420624"/>
          </a:xfrm>
          <a:prstGeom prst="ellipse">
            <a:avLst/>
          </a:prstGeom>
          <a:solidFill>
            <a:srgbClr val="FFC24B"/>
          </a:solidFill>
          <a:ln/>
        </p:spPr>
        <p:txBody>
          <a:bodyPr/>
          <a:p/>
        </p:txBody>
      </p:sp>
      <p:sp>
        <p:nvSpPr>
          <p:cNvPr id="14" name="Text 12"/>
          <p:cNvSpPr/>
          <p:nvPr/>
        </p:nvSpPr>
        <p:spPr>
          <a:xfrm>
            <a:off x="868680" y="31638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054096"/>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Cine deleagă rămâne răspunzător; predarea între asistenți nu este delegare.</a:t>
            </a:r>
            <a:endParaRPr lang="en-US" sz="1600" dirty="0"/>
          </a:p>
        </p:txBody>
      </p:sp>
      <p:sp>
        <p:nvSpPr>
          <p:cNvPr id="16" name="Shape 14"/>
          <p:cNvSpPr/>
          <p:nvPr/>
        </p:nvSpPr>
        <p:spPr>
          <a:xfrm>
            <a:off x="594360" y="3803904"/>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17" name="Shape 15"/>
          <p:cNvSpPr/>
          <p:nvPr/>
        </p:nvSpPr>
        <p:spPr>
          <a:xfrm>
            <a:off x="868680" y="3913632"/>
            <a:ext cx="420624" cy="420624"/>
          </a:xfrm>
          <a:prstGeom prst="ellipse">
            <a:avLst/>
          </a:prstGeom>
          <a:solidFill>
            <a:srgbClr val="FFC24B"/>
          </a:solidFill>
          <a:ln/>
        </p:spPr>
        <p:txBody>
          <a:bodyPr/>
          <a:p/>
        </p:txBody>
      </p:sp>
      <p:sp>
        <p:nvSpPr>
          <p:cNvPr id="18" name="Text 16"/>
          <p:cNvSpPr/>
          <p:nvPr/>
        </p:nvSpPr>
        <p:spPr>
          <a:xfrm>
            <a:off x="868680" y="3913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3803904"/>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Conflictele: competiție, colaborare, compromis, evitare, acomodare.</a:t>
            </a:r>
            <a:endParaRPr lang="en-US" sz="1600" dirty="0"/>
          </a:p>
        </p:txBody>
      </p:sp>
      <p:sp>
        <p:nvSpPr>
          <p:cNvPr id="20" name="Shape 18"/>
          <p:cNvSpPr/>
          <p:nvPr/>
        </p:nvSpPr>
        <p:spPr>
          <a:xfrm>
            <a:off x="594360" y="4553712"/>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21" name="Shape 19"/>
          <p:cNvSpPr/>
          <p:nvPr/>
        </p:nvSpPr>
        <p:spPr>
          <a:xfrm>
            <a:off x="868680" y="4663440"/>
            <a:ext cx="420624" cy="420624"/>
          </a:xfrm>
          <a:prstGeom prst="ellipse">
            <a:avLst/>
          </a:prstGeom>
          <a:solidFill>
            <a:srgbClr val="FFC24B"/>
          </a:solidFill>
          <a:ln/>
        </p:spPr>
        <p:txBody>
          <a:bodyPr/>
          <a:p/>
        </p:txBody>
      </p:sp>
      <p:sp>
        <p:nvSpPr>
          <p:cNvPr id="22" name="Text 20"/>
          <p:cNvSpPr/>
          <p:nvPr/>
        </p:nvSpPr>
        <p:spPr>
          <a:xfrm>
            <a:off x="868680" y="46634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508760" y="4553712"/>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Calitatea: conformarea la standardele ANMCS; structură, proces, rezultat.</a:t>
            </a:r>
            <a:endParaRPr lang="en-US" sz="1600" dirty="0"/>
          </a:p>
        </p:txBody>
      </p:sp>
      <p:sp>
        <p:nvSpPr>
          <p:cNvPr id="24" name="Shape 22"/>
          <p:cNvSpPr/>
          <p:nvPr/>
        </p:nvSpPr>
        <p:spPr>
          <a:xfrm>
            <a:off x="594360" y="5303520"/>
            <a:ext cx="10972800" cy="640080"/>
          </a:xfrm>
          <a:prstGeom prst="roundRect">
            <a:avLst>
              <a:gd name="adj" fmla="val 12857"/>
            </a:avLst>
          </a:prstGeom>
          <a:solidFill>
            <a:srgbClr val="1D1F2B"/>
          </a:solidFill>
          <a:ln w="12700">
            <a:solidFill>
              <a:srgbClr val="1D1F2B"/>
            </a:solidFill>
            <a:prstDash val="solid"/>
          </a:ln>
        </p:spPr>
        <p:txBody>
          <a:bodyPr/>
          <a:p/>
        </p:txBody>
      </p:sp>
      <p:sp>
        <p:nvSpPr>
          <p:cNvPr id="25" name="Shape 23"/>
          <p:cNvSpPr/>
          <p:nvPr/>
        </p:nvSpPr>
        <p:spPr>
          <a:xfrm>
            <a:off x="868680" y="5413248"/>
            <a:ext cx="420624" cy="420624"/>
          </a:xfrm>
          <a:prstGeom prst="ellipse">
            <a:avLst/>
          </a:prstGeom>
          <a:solidFill>
            <a:srgbClr val="FFC24B"/>
          </a:solidFill>
          <a:ln/>
        </p:spPr>
        <p:txBody>
          <a:bodyPr/>
          <a:p/>
        </p:txBody>
      </p:sp>
      <p:sp>
        <p:nvSpPr>
          <p:cNvPr id="26" name="Text 24"/>
          <p:cNvSpPr/>
          <p:nvPr/>
        </p:nvSpPr>
        <p:spPr>
          <a:xfrm>
            <a:off x="868680" y="54132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6</a:t>
            </a:r>
            <a:endParaRPr lang="en-US" sz="1400" dirty="0"/>
          </a:p>
        </p:txBody>
      </p:sp>
      <p:sp>
        <p:nvSpPr>
          <p:cNvPr id="27" name="Text 25"/>
          <p:cNvSpPr/>
          <p:nvPr/>
        </p:nvSpPr>
        <p:spPr>
          <a:xfrm>
            <a:off x="1508760" y="5303520"/>
            <a:ext cx="9829800" cy="6400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Acreditarea: ANMCS, cicluri de cinci ani, trei referințe; îmbunătățirea: PDCA.</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603504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60350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CU CINCI MINUTE ÎNAINTE DE FINAL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58368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a:t>
            </a:r>
            <a:endParaRPr lang="en-US" sz="22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58368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te-am pierdut?</a:t>
            </a:r>
            <a:endParaRPr lang="en-US" sz="22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58368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ai putea folosi mâine?</a:t>
            </a:r>
            <a:endParaRPr lang="en-US" sz="22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Răspunsurile se citesc înaintea cursului următor.</a:t>
            </a:r>
            <a:endParaRPr lang="en-US" sz="1700" dirty="0"/>
          </a:p>
        </p:txBody>
      </p:sp>
      <p:pic>
        <p:nvPicPr>
          <p:cNvPr id="17" name="Picture 16" descr="Mentimeter_SPM_AMGIV_C04.png"/>
          <p:cNvPicPr>
            <a:picLocks noChangeAspect="1"/>
          </p:cNvPicPr>
          <p:nvPr/>
        </p:nvPicPr>
        <p:blipFill>
          <a:blip r:embed="rId3"/>
          <a:stretch>
            <a:fillRect/>
          </a:stretch>
        </p:blipFill>
        <p:spPr>
          <a:xfrm>
            <a:off x="9137650" y="2514600"/>
            <a:ext cx="1841500" cy="1841500"/>
          </a:xfrm>
          <a:prstGeom prst="rect">
            <a:avLst/>
          </a:prstGeom>
        </p:spPr>
      </p:pic>
      <p:sp>
        <p:nvSpPr>
          <p:cNvPr id="18" name="TextBox 17"/>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linkul e și în chat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Sesiunea N - [TITLU]</dc:title>
  <dc:subject>PptxGenJS Presentation</dc:subject>
  <dc:creator>Conf. Univ. Dr. Adrian Pana</dc:creator>
  <cp:lastModifiedBy>Conf. Univ. Dr. Adrian Pana</cp:lastModifiedBy>
  <cp:revision>1</cp:revision>
  <dcterms:created xsi:type="dcterms:W3CDTF">2026-10-17T11:20:59Z</dcterms:created>
  <dcterms:modified xsi:type="dcterms:W3CDTF">2026-10-17T11:20:59Z</dcterms:modified>
  <cp:keywords>sursa_amprenta=cb7ba06f1f755ca5; proiectie</cp:keywords>
</cp:coreProperties>
</file>