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AMGIV/active/img/spital_judetean_timisoara_commons.jpg">    </p:cNvPr>
          <p:cNvPicPr>
            <a:picLocks noChangeAspect="1"/>
          </p:cNvPicPr>
          <p:nvPr/>
        </p:nvPicPr>
        <p:blipFill>
          <a:blip r:embed="rId1"/>
          <a:srcRect l="12654" r="12654" t="0" b="0"/>
          <a:stretch/>
        </p:blipFill>
        <p:spPr>
          <a:xfrm>
            <a:off x="6705295" y="0"/>
            <a:ext cx="5486400" cy="6858000"/>
          </a:xfrm>
          <a:prstGeom prst="rect">
            <a:avLst/>
          </a:prstGeom>
        </p:spPr>
      </p:pic>
      <p:sp>
        <p:nvSpPr>
          <p:cNvPr id="3" name="Shape 0"/>
          <p:cNvSpPr/>
          <p:nvPr/>
        </p:nvSpPr>
        <p:spPr>
          <a:xfrm>
            <a:off x="640080" y="731520"/>
            <a:ext cx="4480560" cy="329184"/>
          </a:xfrm>
          <a:prstGeom prst="roundRect">
            <a:avLst>
              <a:gd name="adj" fmla="val 50000"/>
            </a:avLst>
          </a:prstGeom>
          <a:solidFill>
            <a:srgbClr val="FF4757"/>
          </a:solidFill>
          <a:ln w="12700">
            <a:solidFill>
              <a:srgbClr val="FF4757"/>
            </a:solidFill>
            <a:prstDash val="solid"/>
          </a:ln>
        </p:spPr>
        <p:txBody>
          <a:bodyPr/>
          <a:p/>
        </p:txBody>
      </p:sp>
      <p:sp>
        <p:nvSpPr>
          <p:cNvPr id="4" name="Text 1"/>
          <p:cNvSpPr/>
          <p:nvPr/>
        </p:nvSpPr>
        <p:spPr>
          <a:xfrm>
            <a:off x="640080" y="731520"/>
            <a:ext cx="448056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CURSUL AL PATRULEA · AMG, ANUL IV</a:t>
            </a:r>
            <a:endParaRPr lang="en-US" sz="1300" dirty="0"/>
          </a:p>
        </p:txBody>
      </p:sp>
      <p:sp>
        <p:nvSpPr>
          <p:cNvPr id="5" name="Text 2"/>
          <p:cNvSpPr/>
          <p:nvPr/>
        </p:nvSpPr>
        <p:spPr>
          <a:xfrm>
            <a:off x="640080" y="1325880"/>
            <a:ext cx="5760720" cy="146304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O secție, o noapte și o vizită anunțată</a:t>
            </a:r>
            <a:endParaRPr lang="en-US" sz="3600" dirty="0"/>
          </a:p>
        </p:txBody>
      </p:sp>
      <p:sp>
        <p:nvSpPr>
          <p:cNvPr id="6" name="Text 3"/>
          <p:cNvSpPr/>
          <p:nvPr/>
        </p:nvSpPr>
        <p:spPr>
          <a:xfrm>
            <a:off x="640080" y="2834640"/>
            <a:ext cx="5760720" cy="1097280"/>
          </a:xfrm>
          <a:prstGeom prst="rect">
            <a:avLst/>
          </a:prstGeom>
          <a:noFill/>
          <a:ln/>
        </p:spPr>
        <p:txBody>
          <a:bodyPr wrap="square" lIns="0" tIns="0" rIns="0" bIns="0" rtlCol="0" anchor="t"/>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Cum conduce o asistentă-șefă oamenii și calitatea îngrijirilor?</a:t>
            </a:r>
            <a:endParaRPr lang="en-US" sz="2200" dirty="0"/>
          </a:p>
        </p:txBody>
      </p:sp>
      <p:sp>
        <p:nvSpPr>
          <p:cNvPr id="7" name="Shape 4"/>
          <p:cNvSpPr/>
          <p:nvPr/>
        </p:nvSpPr>
        <p:spPr>
          <a:xfrm>
            <a:off x="667512" y="4114800"/>
            <a:ext cx="1280160" cy="27432"/>
          </a:xfrm>
          <a:prstGeom prst="rect">
            <a:avLst/>
          </a:prstGeom>
          <a:solidFill>
            <a:srgbClr val="FF4757"/>
          </a:solidFill>
          <a:ln/>
        </p:spPr>
        <p:txBody>
          <a:bodyPr/>
          <a:p/>
        </p:txBody>
      </p:sp>
      <p:sp>
        <p:nvSpPr>
          <p:cNvPr id="8" name="Text 5"/>
          <p:cNvSpPr/>
          <p:nvPr/>
        </p:nvSpPr>
        <p:spPr>
          <a:xfrm>
            <a:off x="640080" y="4297680"/>
            <a:ext cx="5760720" cy="1005840"/>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Leadership și management în nursing. Managementul calității și acreditarea ANMCS</a:t>
            </a:r>
            <a:endParaRPr lang="en-US" sz="1400" dirty="0"/>
          </a:p>
          <a:p>
            <a:pPr indent="0" marL="0">
              <a:buNone/>
            </a:pPr>
            <a:r>
              <a:rPr lang="en-US" sz="1400" dirty="0">
                <a:solidFill>
                  <a:srgbClr val="959BB0"/>
                </a:solidFill>
                <a:latin typeface="Palatino Linotype" pitchFamily="34" charset="0"/>
                <a:ea typeface="Palatino Linotype" pitchFamily="34" charset="-122"/>
                <a:cs typeface="Palatino Linotype" pitchFamily="34" charset="-120"/>
              </a:rPr>
              <a:t>Conf. univ. dr. Adrian Pană · UMF Cluj-Napoca</a:t>
            </a:r>
            <a:endParaRPr lang="en-US" sz="1400" dirty="0"/>
          </a:p>
        </p:txBody>
      </p:sp>
      <p:sp>
        <p:nvSpPr>
          <p:cNvPr id="9" name="Shape 6"/>
          <p:cNvSpPr/>
          <p:nvPr/>
        </p:nvSpPr>
        <p:spPr>
          <a:xfrm>
            <a:off x="640080" y="5532120"/>
            <a:ext cx="5760720" cy="640080"/>
          </a:xfrm>
          <a:prstGeom prst="roundRect">
            <a:avLst>
              <a:gd name="adj" fmla="val 12857"/>
            </a:avLst>
          </a:prstGeom>
          <a:solidFill>
            <a:srgbClr val="272A38"/>
          </a:solidFill>
          <a:ln w="12700">
            <a:solidFill>
              <a:srgbClr val="272A38"/>
            </a:solidFill>
            <a:prstDash val="solid"/>
          </a:ln>
        </p:spPr>
        <p:txBody>
          <a:bodyPr/>
          <a:p/>
        </p:txBody>
      </p:sp>
      <p:sp>
        <p:nvSpPr>
          <p:cNvPr id="10" name="Text 7"/>
          <p:cNvSpPr/>
          <p:nvPr/>
        </p:nvSpPr>
        <p:spPr>
          <a:xfrm>
            <a:off x="868680" y="5532120"/>
            <a:ext cx="5394960" cy="640080"/>
          </a:xfrm>
          <a:prstGeom prst="rect">
            <a:avLst/>
          </a:prstGeom>
          <a:noFill/>
          <a:ln/>
        </p:spPr>
        <p:txBody>
          <a:bodyPr wrap="square" lIns="0" tIns="0" rIns="0" bIns="0" rtlCol="0" anchor="ctr"/>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Mentimeter: menti.com/alqhad6d16gk</a:t>
            </a:r>
            <a:endParaRPr lang="en-US" sz="1500" dirty="0"/>
          </a:p>
        </p:txBody>
      </p:sp>
      <p:sp>
        <p:nvSpPr>
          <p:cNvPr id="11" name="Shape 8"/>
          <p:cNvSpPr/>
          <p:nvPr/>
        </p:nvSpPr>
        <p:spPr>
          <a:xfrm>
            <a:off x="6705295" y="6510528"/>
            <a:ext cx="5486400" cy="347472"/>
          </a:xfrm>
          <a:prstGeom prst="rect">
            <a:avLst/>
          </a:prstGeom>
          <a:solidFill>
            <a:srgbClr val="11121A">
              <a:alpha val="70000"/>
            </a:srgbClr>
          </a:solidFill>
          <a:ln w="12700">
            <a:solidFill>
              <a:srgbClr val="11121A"/>
            </a:solidFill>
            <a:prstDash val="solid"/>
          </a:ln>
        </p:spPr>
        <p:txBody>
          <a:bodyPr/>
          <a:p/>
        </p:txBody>
      </p:sp>
      <p:sp>
        <p:nvSpPr>
          <p:cNvPr id="12" name="Text 9"/>
          <p:cNvSpPr/>
          <p:nvPr/>
        </p:nvSpPr>
        <p:spPr>
          <a:xfrm>
            <a:off x="6812280" y="6556248"/>
            <a:ext cx="5303520" cy="219456"/>
          </a:xfrm>
          <a:prstGeom prst="rect">
            <a:avLst/>
          </a:prstGeom>
          <a:noFill/>
          <a:ln/>
        </p:spPr>
        <p:txBody>
          <a:bodyPr wrap="square" lIns="0" tIns="0" rIns="0" bIns="0" rtlCol="0" anchor="ctr"/>
          <a:lstStyle/>
          <a:p>
            <a:pPr indent="0" marL="0">
              <a:buNone/>
            </a:pPr>
            <a:r>
              <a:rPr lang="en-US" sz="850" i="1" dirty="0">
                <a:solidFill>
                  <a:srgbClr val="E6E8EF"/>
                </a:solidFill>
                <a:latin typeface="Palatino Linotype" pitchFamily="34" charset="0"/>
                <a:ea typeface="Palatino Linotype" pitchFamily="34" charset="-122"/>
                <a:cs typeface="Palatino Linotype" pitchFamily="34" charset="-120"/>
              </a:rPr>
              <a:t>Un spital județean (ilustrație): SCJU „Pius Brînzeu”, Timișoara · Foto: Chainwit. · CC BY-SA 4.0 · Wikimedia Commons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CAZUL ȘEDINȚEI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Mara, asistentă-șefă pe medicină internă</a:t>
            </a:r>
            <a:endParaRPr lang="en-US" sz="3000" dirty="0"/>
          </a:p>
        </p:txBody>
      </p:sp>
      <p:sp>
        <p:nvSpPr>
          <p:cNvPr id="4" name="Text 2"/>
          <p:cNvSpPr/>
          <p:nvPr/>
        </p:nvSpPr>
        <p:spPr>
          <a:xfrm>
            <a:off x="594360" y="1600200"/>
            <a:ext cx="10972800" cy="9144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Un spital județean. Asistenți cu experiență foarte diferită: unii lucrează pe secție de peste zece ani, alții au venit în această toamnă, imediat după facultate.</a:t>
            </a:r>
            <a:endParaRPr lang="en-US" sz="1800" dirty="0"/>
          </a:p>
        </p:txBody>
      </p:sp>
      <p:sp>
        <p:nvSpPr>
          <p:cNvPr id="5" name="Text 3"/>
          <p:cNvSpPr/>
          <p:nvPr/>
        </p:nvSpPr>
        <p:spPr>
          <a:xfrm>
            <a:off x="594360" y="2697480"/>
            <a:ext cx="5486400" cy="320040"/>
          </a:xfrm>
          <a:prstGeom prst="rect">
            <a:avLst/>
          </a:prstGeom>
          <a:noFill/>
          <a:ln/>
        </p:spPr>
        <p:txBody>
          <a:bodyPr wrap="square" lIns="0" tIns="0" rIns="0" bIns="0" rtlCol="0" anchor="t"/>
          <a:lstStyle/>
          <a:p>
            <a:pPr indent="0" marL="0">
              <a:buNone/>
            </a:pPr>
            <a:r>
              <a:rPr lang="en-US" sz="1300" b="1" spc="200" kern="0" dirty="0">
                <a:solidFill>
                  <a:srgbClr val="585A64"/>
                </a:solidFill>
                <a:latin typeface="Palatino Linotype" pitchFamily="34" charset="0"/>
                <a:ea typeface="Palatino Linotype" pitchFamily="34" charset="-122"/>
                <a:cs typeface="Palatino Linotype" pitchFamily="34" charset="-120"/>
              </a:rPr>
              <a:t>ÎN ACEEAȘI SĂPTĂMÂNĂ</a:t>
            </a:r>
            <a:endParaRPr lang="en-US" sz="1300" dirty="0"/>
          </a:p>
        </p:txBody>
      </p:sp>
      <p:sp>
        <p:nvSpPr>
          <p:cNvPr id="6" name="Shape 4"/>
          <p:cNvSpPr/>
          <p:nvPr/>
        </p:nvSpPr>
        <p:spPr>
          <a:xfrm>
            <a:off x="594360" y="3063240"/>
            <a:ext cx="5394960" cy="2377440"/>
          </a:xfrm>
          <a:prstGeom prst="roundRect">
            <a:avLst>
              <a:gd name="adj" fmla="val 3462"/>
            </a:avLst>
          </a:prstGeom>
          <a:solidFill>
            <a:srgbClr val="ECEAE4"/>
          </a:solidFill>
          <a:ln w="12700">
            <a:solidFill>
              <a:srgbClr val="ECEAE4"/>
            </a:solidFill>
            <a:prstDash val="solid"/>
          </a:ln>
        </p:spPr>
        <p:txBody>
          <a:bodyPr/>
          <a:p/>
        </p:txBody>
      </p:sp>
      <p:sp>
        <p:nvSpPr>
          <p:cNvPr id="7" name="Shape 5"/>
          <p:cNvSpPr/>
          <p:nvPr/>
        </p:nvSpPr>
        <p:spPr>
          <a:xfrm>
            <a:off x="594360" y="3063240"/>
            <a:ext cx="5394960" cy="73152"/>
          </a:xfrm>
          <a:prstGeom prst="rect">
            <a:avLst/>
          </a:prstGeom>
          <a:solidFill>
            <a:srgbClr val="0E7C6B"/>
          </a:solidFill>
          <a:ln w="12700">
            <a:solidFill>
              <a:srgbClr val="0E7C6B"/>
            </a:solidFill>
            <a:prstDash val="solid"/>
          </a:ln>
        </p:spPr>
        <p:txBody>
          <a:bodyPr/>
          <a:p/>
        </p:txBody>
      </p:sp>
      <p:sp>
        <p:nvSpPr>
          <p:cNvPr id="8" name="Text 6"/>
          <p:cNvSpPr/>
          <p:nvPr/>
        </p:nvSpPr>
        <p:spPr>
          <a:xfrm>
            <a:off x="822960" y="3264408"/>
            <a:ext cx="4937760" cy="68580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Vizita anunțată</a:t>
            </a:r>
            <a:endParaRPr lang="en-US" sz="2000" dirty="0"/>
          </a:p>
        </p:txBody>
      </p:sp>
      <p:sp>
        <p:nvSpPr>
          <p:cNvPr id="9" name="Text 7"/>
          <p:cNvSpPr/>
          <p:nvPr/>
        </p:nvSpPr>
        <p:spPr>
          <a:xfrm>
            <a:off x="822960" y="3931920"/>
            <a:ext cx="4937760" cy="13716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Managerul spitalului anunță că spitalul va fi evaluat de ANMCS.</a:t>
            </a:r>
            <a:endParaRPr lang="en-US" sz="1700" dirty="0"/>
          </a:p>
        </p:txBody>
      </p:sp>
      <p:sp>
        <p:nvSpPr>
          <p:cNvPr id="10" name="Shape 8"/>
          <p:cNvSpPr/>
          <p:nvPr/>
        </p:nvSpPr>
        <p:spPr>
          <a:xfrm>
            <a:off x="6172200" y="3063240"/>
            <a:ext cx="5394960" cy="2377440"/>
          </a:xfrm>
          <a:prstGeom prst="roundRect">
            <a:avLst>
              <a:gd name="adj" fmla="val 3462"/>
            </a:avLst>
          </a:prstGeom>
          <a:solidFill>
            <a:srgbClr val="F9F8F5"/>
          </a:solidFill>
          <a:ln w="12700">
            <a:solidFill>
              <a:srgbClr val="F9F8F5"/>
            </a:solidFill>
            <a:prstDash val="solid"/>
          </a:ln>
        </p:spPr>
        <p:txBody>
          <a:bodyPr/>
          <a:p/>
        </p:txBody>
      </p:sp>
      <p:sp>
        <p:nvSpPr>
          <p:cNvPr id="11" name="Shape 9"/>
          <p:cNvSpPr/>
          <p:nvPr/>
        </p:nvSpPr>
        <p:spPr>
          <a:xfrm>
            <a:off x="6172200" y="3063240"/>
            <a:ext cx="5394960" cy="73152"/>
          </a:xfrm>
          <a:prstGeom prst="rect">
            <a:avLst/>
          </a:prstGeom>
          <a:solidFill>
            <a:srgbClr val="B02532"/>
          </a:solidFill>
          <a:ln w="12700">
            <a:solidFill>
              <a:srgbClr val="B02532"/>
            </a:solidFill>
            <a:prstDash val="solid"/>
          </a:ln>
        </p:spPr>
        <p:txBody>
          <a:bodyPr/>
          <a:p/>
        </p:txBody>
      </p:sp>
      <p:sp>
        <p:nvSpPr>
          <p:cNvPr id="12" name="Text 10"/>
          <p:cNvSpPr/>
          <p:nvPr/>
        </p:nvSpPr>
        <p:spPr>
          <a:xfrm>
            <a:off x="6400800" y="3264408"/>
            <a:ext cx="4937760" cy="6858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O asistentă tânără</a:t>
            </a:r>
            <a:endParaRPr lang="en-US" sz="2000" dirty="0"/>
          </a:p>
        </p:txBody>
      </p:sp>
      <p:sp>
        <p:nvSpPr>
          <p:cNvPr id="13" name="Text 11"/>
          <p:cNvSpPr/>
          <p:nvPr/>
        </p:nvSpPr>
        <p:spPr>
          <a:xfrm>
            <a:off x="6400800" y="3931920"/>
            <a:ext cx="4937760" cy="13716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La sfârșitul unei ture grele: se gândește să plece, pentru că „nimeni nu are timp să-i explice nimic”.</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CE LEAGĂ CELE DOUĂ VEȘTI</a:t>
            </a:r>
            <a:endParaRPr lang="en-US" sz="1300" dirty="0"/>
          </a:p>
        </p:txBody>
      </p:sp>
      <p:sp>
        <p:nvSpPr>
          <p:cNvPr id="3" name="Shape 1"/>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CĂTRE SALĂ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Oamenii și standardele: fără legătură?</a:t>
            </a:r>
            <a:endParaRPr lang="en-US" sz="3200" dirty="0"/>
          </a:p>
        </p:txBody>
      </p:sp>
      <p:sp>
        <p:nvSpPr>
          <p:cNvPr id="6" name="Shape 4"/>
          <p:cNvSpPr/>
          <p:nvPr/>
        </p:nvSpPr>
        <p:spPr>
          <a:xfrm>
            <a:off x="594360" y="1737360"/>
            <a:ext cx="6035040" cy="3017520"/>
          </a:xfrm>
          <a:prstGeom prst="roundRect">
            <a:avLst>
              <a:gd name="adj" fmla="val 2727"/>
            </a:avLst>
          </a:prstGeom>
          <a:solidFill>
            <a:srgbClr val="1D1F2B"/>
          </a:solidFill>
          <a:ln w="12700">
            <a:solidFill>
              <a:srgbClr val="1D1F2B"/>
            </a:solidFill>
            <a:prstDash val="solid"/>
          </a:ln>
        </p:spPr>
        <p:txBody>
          <a:bodyPr/>
          <a:p/>
        </p:txBody>
      </p:sp>
      <p:sp>
        <p:nvSpPr>
          <p:cNvPr id="7" name="Text 5"/>
          <p:cNvSpPr/>
          <p:nvPr/>
        </p:nvSpPr>
        <p:spPr>
          <a:xfrm>
            <a:off x="868680" y="1874520"/>
            <a:ext cx="5577840" cy="41148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Standardele ANMCS cer</a:t>
            </a:r>
            <a:endParaRPr lang="en-US" sz="1700" dirty="0"/>
          </a:p>
        </p:txBody>
      </p:sp>
      <p:sp>
        <p:nvSpPr>
          <p:cNvPr id="8" name="Text 6"/>
          <p:cNvSpPr/>
          <p:nvPr/>
        </p:nvSpPr>
        <p:spPr>
          <a:xfrm>
            <a:off x="868680" y="2331720"/>
            <a:ext cx="5577840" cy="228600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protocoale și indicatori, dar și evaluarea periodică a culturii siguranței și a calității vieții profesionale a angajaților.</a:t>
            </a:r>
            <a:endParaRPr lang="en-US" sz="1900" dirty="0"/>
          </a:p>
        </p:txBody>
      </p:sp>
      <p:sp>
        <p:nvSpPr>
          <p:cNvPr id="9" name="Shape 7"/>
          <p:cNvSpPr/>
          <p:nvPr/>
        </p:nvSpPr>
        <p:spPr>
          <a:xfrm>
            <a:off x="6858000" y="1737360"/>
            <a:ext cx="4709160" cy="1371600"/>
          </a:xfrm>
          <a:prstGeom prst="roundRect">
            <a:avLst>
              <a:gd name="adj" fmla="val 6000"/>
            </a:avLst>
          </a:prstGeom>
          <a:solidFill>
            <a:srgbClr val="272A38"/>
          </a:solidFill>
          <a:ln w="12700">
            <a:solidFill>
              <a:srgbClr val="272A38"/>
            </a:solidFill>
            <a:prstDash val="solid"/>
          </a:ln>
        </p:spPr>
        <p:txBody>
          <a:bodyPr/>
          <a:p/>
        </p:txBody>
      </p:sp>
      <p:sp>
        <p:nvSpPr>
          <p:cNvPr id="10" name="Shape 8"/>
          <p:cNvSpPr/>
          <p:nvPr/>
        </p:nvSpPr>
        <p:spPr>
          <a:xfrm>
            <a:off x="7132320" y="2212848"/>
            <a:ext cx="420624" cy="420624"/>
          </a:xfrm>
          <a:prstGeom prst="ellipse">
            <a:avLst/>
          </a:prstGeom>
          <a:solidFill>
            <a:srgbClr val="FFC24B"/>
          </a:solidFill>
          <a:ln/>
        </p:spPr>
        <p:txBody>
          <a:bodyPr/>
          <a:p/>
        </p:txBody>
      </p:sp>
      <p:sp>
        <p:nvSpPr>
          <p:cNvPr id="11" name="Text 9"/>
          <p:cNvSpPr/>
          <p:nvPr/>
        </p:nvSpPr>
        <p:spPr>
          <a:xfrm>
            <a:off x="7132320" y="2212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2" name="Text 10"/>
          <p:cNvSpPr/>
          <p:nvPr/>
        </p:nvSpPr>
        <p:spPr>
          <a:xfrm>
            <a:off x="7772400" y="1737360"/>
            <a:ext cx="3566160" cy="13716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Partea întâi: Mara, liderul echipei</a:t>
            </a:r>
            <a:endParaRPr lang="en-US" sz="1700" dirty="0"/>
          </a:p>
        </p:txBody>
      </p:sp>
      <p:sp>
        <p:nvSpPr>
          <p:cNvPr id="13" name="Shape 11"/>
          <p:cNvSpPr/>
          <p:nvPr/>
        </p:nvSpPr>
        <p:spPr>
          <a:xfrm>
            <a:off x="6858000" y="3291840"/>
            <a:ext cx="4709160" cy="1371600"/>
          </a:xfrm>
          <a:prstGeom prst="roundRect">
            <a:avLst>
              <a:gd name="adj" fmla="val 6000"/>
            </a:avLst>
          </a:prstGeom>
          <a:solidFill>
            <a:srgbClr val="272A38"/>
          </a:solidFill>
          <a:ln w="12700">
            <a:solidFill>
              <a:srgbClr val="272A38"/>
            </a:solidFill>
            <a:prstDash val="solid"/>
          </a:ln>
        </p:spPr>
        <p:txBody>
          <a:bodyPr/>
          <a:p/>
        </p:txBody>
      </p:sp>
      <p:sp>
        <p:nvSpPr>
          <p:cNvPr id="14" name="Shape 12"/>
          <p:cNvSpPr/>
          <p:nvPr/>
        </p:nvSpPr>
        <p:spPr>
          <a:xfrm>
            <a:off x="7132320" y="3767328"/>
            <a:ext cx="420624" cy="420624"/>
          </a:xfrm>
          <a:prstGeom prst="ellipse">
            <a:avLst/>
          </a:prstGeom>
          <a:solidFill>
            <a:srgbClr val="FFC24B"/>
          </a:solidFill>
          <a:ln/>
        </p:spPr>
        <p:txBody>
          <a:bodyPr/>
          <a:p/>
        </p:txBody>
      </p:sp>
      <p:sp>
        <p:nvSpPr>
          <p:cNvPr id="15" name="Text 13"/>
          <p:cNvSpPr/>
          <p:nvPr/>
        </p:nvSpPr>
        <p:spPr>
          <a:xfrm>
            <a:off x="7132320" y="37673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6" name="Text 14"/>
          <p:cNvSpPr/>
          <p:nvPr/>
        </p:nvSpPr>
        <p:spPr>
          <a:xfrm>
            <a:off x="7772400" y="3291840"/>
            <a:ext cx="3566160" cy="13716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Partea a doua: Mara, responsabila de calitate</a:t>
            </a:r>
            <a:endParaRPr lang="en-US" sz="1700" dirty="0"/>
          </a:p>
        </p:txBody>
      </p:sp>
      <p:sp>
        <p:nvSpPr>
          <p:cNvPr id="17" name="Shape 15"/>
          <p:cNvSpPr/>
          <p:nvPr/>
        </p:nvSpPr>
        <p:spPr>
          <a:xfrm>
            <a:off x="594360" y="5074920"/>
            <a:ext cx="10972800" cy="868680"/>
          </a:xfrm>
          <a:prstGeom prst="roundRect">
            <a:avLst>
              <a:gd name="adj" fmla="val 9474"/>
            </a:avLst>
          </a:prstGeom>
          <a:solidFill>
            <a:srgbClr val="272A38"/>
          </a:solidFill>
          <a:ln w="12700">
            <a:solidFill>
              <a:srgbClr val="272A38"/>
            </a:solidFill>
            <a:prstDash val="solid"/>
          </a:ln>
        </p:spPr>
        <p:txBody>
          <a:bodyPr/>
          <a:p/>
        </p:txBody>
      </p:sp>
      <p:sp>
        <p:nvSpPr>
          <p:cNvPr id="18" name="Text 16"/>
          <p:cNvSpPr/>
          <p:nvPr/>
        </p:nvSpPr>
        <p:spPr>
          <a:xfrm>
            <a:off x="868680" y="5074920"/>
            <a:ext cx="10424160" cy="868680"/>
          </a:xfrm>
          <a:prstGeom prst="rect">
            <a:avLst/>
          </a:prstGeom>
          <a:noFill/>
          <a:ln/>
        </p:spPr>
        <p:txBody>
          <a:bodyPr wrap="square" lIns="0" tIns="0" rIns="0" bIns="0" rtlCol="0" anchor="ctr"/>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Cele două vești se întâlnesc în standardele ANMCS.</a:t>
            </a:r>
            <a:endParaRPr lang="en-US" sz="1800" dirty="0"/>
          </a:p>
        </p:txBody>
      </p:sp>
      <p:sp>
        <p:nvSpPr>
          <p:cNvPr id="19" name="Text 17"/>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standardele ANMCS, ediția a III-a (registru A1034, A1036).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NOR DE CUVINTE · TREI MINUTE</a:t>
            </a:r>
            <a:endParaRPr lang="en-US" sz="1300" dirty="0"/>
          </a:p>
        </p:txBody>
      </p:sp>
      <p:sp>
        <p:nvSpPr>
          <p:cNvPr id="5" name="Text 3"/>
          <p:cNvSpPr/>
          <p:nvPr/>
        </p:nvSpPr>
        <p:spPr>
          <a:xfrm>
            <a:off x="594360" y="914400"/>
            <a:ext cx="10972800" cy="1828800"/>
          </a:xfrm>
          <a:prstGeom prst="rect">
            <a:avLst/>
          </a:prstGeom>
          <a:noFill/>
          <a:ln/>
        </p:spPr>
        <p:txBody>
          <a:bodyPr wrap="square" lIns="0" tIns="0" rIns="0" bIns="0" rtlCol="0" anchor="ctr"/>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Un singur cuvânt: ce calitate este esențială la un lider în nursing?</a:t>
            </a:r>
            <a:endParaRPr lang="en-US" sz="3400" dirty="0"/>
          </a:p>
        </p:txBody>
      </p:sp>
      <p:sp>
        <p:nvSpPr>
          <p:cNvPr id="6" name="Text 4"/>
          <p:cNvSpPr/>
          <p:nvPr/>
        </p:nvSpPr>
        <p:spPr>
          <a:xfrm>
            <a:off x="594360" y="3017520"/>
            <a:ext cx="10972800" cy="1188720"/>
          </a:xfrm>
          <a:prstGeom prst="rect">
            <a:avLst/>
          </a:prstGeom>
          <a:noFill/>
          <a:ln/>
        </p:spPr>
        <p:txBody>
          <a:bodyPr wrap="square" lIns="0" tIns="0" rIns="0" bIns="0" rtlCol="0" anchor="t"/>
          <a:lstStyle/>
          <a:p>
            <a:pPr indent="0" marL="0">
              <a:buNone/>
            </a:pPr>
            <a:r>
              <a:rPr lang="en-US" sz="2000" dirty="0">
                <a:solidFill>
                  <a:srgbClr val="959BB0"/>
                </a:solidFill>
                <a:latin typeface="Palatino Linotype" pitchFamily="34" charset="0"/>
                <a:ea typeface="Palatino Linotype" pitchFamily="34" charset="-122"/>
                <a:cs typeface="Palatino Linotype" pitchFamily="34" charset="-120"/>
              </a:rPr>
              <a:t>Răspunsurile rămân pe ecran. La sfârșitul primei părți ne întoarcem la ele: câte descriu un manager, câte un lider și câte pe amândoi?</a:t>
            </a:r>
            <a:endParaRPr lang="en-US" sz="2000" dirty="0"/>
          </a:p>
        </p:txBody>
      </p:sp>
      <p:sp>
        <p:nvSpPr>
          <p:cNvPr id="7" name="Shape 5"/>
          <p:cNvSpPr/>
          <p:nvPr/>
        </p:nvSpPr>
        <p:spPr>
          <a:xfrm>
            <a:off x="594360" y="4754880"/>
            <a:ext cx="10972800" cy="822960"/>
          </a:xfrm>
          <a:prstGeom prst="roundRect">
            <a:avLst>
              <a:gd name="adj" fmla="val 10000"/>
            </a:avLst>
          </a:prstGeom>
          <a:solidFill>
            <a:srgbClr val="272A38"/>
          </a:solidFill>
          <a:ln w="12700">
            <a:solidFill>
              <a:srgbClr val="272A38"/>
            </a:solidFill>
            <a:prstDash val="solid"/>
          </a:ln>
        </p:spPr>
        <p:txBody>
          <a:bodyPr/>
          <a:p/>
        </p:txBody>
      </p:sp>
      <p:sp>
        <p:nvSpPr>
          <p:cNvPr id="8" name="Text 6"/>
          <p:cNvSpPr/>
          <p:nvPr/>
        </p:nvSpPr>
        <p:spPr>
          <a:xfrm>
            <a:off x="868680" y="4754880"/>
            <a:ext cx="10424160" cy="822960"/>
          </a:xfrm>
          <a:prstGeom prst="rect">
            <a:avLst/>
          </a:prstGeom>
          <a:noFill/>
          <a:ln/>
        </p:spPr>
        <p:txBody>
          <a:bodyPr wrap="square" lIns="0" tIns="0" rIns="0" bIns="0" rtlCol="0" anchor="ctr"/>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menti.com/alqhad6d16gk</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URMĂRIM AZI · CE SE CERE LA EXAMEN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Două părți, aceeași secție</a:t>
            </a:r>
            <a:endParaRPr lang="en-US" sz="3200" dirty="0"/>
          </a:p>
        </p:txBody>
      </p:sp>
      <p:sp>
        <p:nvSpPr>
          <p:cNvPr id="4" name="Shape 2"/>
          <p:cNvSpPr/>
          <p:nvPr/>
        </p:nvSpPr>
        <p:spPr>
          <a:xfrm>
            <a:off x="594360" y="1691640"/>
            <a:ext cx="5394960" cy="2468880"/>
          </a:xfrm>
          <a:prstGeom prst="roundRect">
            <a:avLst>
              <a:gd name="adj" fmla="val 3333"/>
            </a:avLst>
          </a:prstGeom>
          <a:solidFill>
            <a:srgbClr val="ECEAE4"/>
          </a:solidFill>
          <a:ln w="12700">
            <a:solidFill>
              <a:srgbClr val="ECEAE4"/>
            </a:solidFill>
            <a:prstDash val="solid"/>
          </a:ln>
        </p:spPr>
        <p:txBody>
          <a:bodyPr/>
          <a:p/>
        </p:txBody>
      </p:sp>
      <p:sp>
        <p:nvSpPr>
          <p:cNvPr id="5" name="Shape 3"/>
          <p:cNvSpPr/>
          <p:nvPr/>
        </p:nvSpPr>
        <p:spPr>
          <a:xfrm>
            <a:off x="594360" y="1691640"/>
            <a:ext cx="539496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892808"/>
            <a:ext cx="4937760" cy="6858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Partea întâi, circa cincizeci de minute</a:t>
            </a:r>
            <a:endParaRPr lang="en-US" sz="1800" dirty="0"/>
          </a:p>
        </p:txBody>
      </p:sp>
      <p:sp>
        <p:nvSpPr>
          <p:cNvPr id="7" name="Text 5"/>
          <p:cNvSpPr/>
          <p:nvPr/>
        </p:nvSpPr>
        <p:spPr>
          <a:xfrm>
            <a:off x="822960" y="2560320"/>
            <a:ext cx="4937760" cy="146304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Puterea, stilurile de leadership, inteligența emoțională, delegarea, deciziile și conflictele.</a:t>
            </a:r>
            <a:endParaRPr lang="en-US" sz="1650" dirty="0"/>
          </a:p>
        </p:txBody>
      </p:sp>
      <p:sp>
        <p:nvSpPr>
          <p:cNvPr id="8" name="Shape 6"/>
          <p:cNvSpPr/>
          <p:nvPr/>
        </p:nvSpPr>
        <p:spPr>
          <a:xfrm>
            <a:off x="6172200" y="1691640"/>
            <a:ext cx="5394960" cy="2468880"/>
          </a:xfrm>
          <a:prstGeom prst="roundRect">
            <a:avLst>
              <a:gd name="adj" fmla="val 3333"/>
            </a:avLst>
          </a:prstGeom>
          <a:solidFill>
            <a:srgbClr val="F9F8F5"/>
          </a:solidFill>
          <a:ln w="12700">
            <a:solidFill>
              <a:srgbClr val="F9F8F5"/>
            </a:solidFill>
            <a:prstDash val="solid"/>
          </a:ln>
        </p:spPr>
        <p:txBody>
          <a:bodyPr/>
          <a:p/>
        </p:txBody>
      </p:sp>
      <p:sp>
        <p:nvSpPr>
          <p:cNvPr id="9" name="Shape 7"/>
          <p:cNvSpPr/>
          <p:nvPr/>
        </p:nvSpPr>
        <p:spPr>
          <a:xfrm>
            <a:off x="6172200" y="1691640"/>
            <a:ext cx="5394960" cy="73152"/>
          </a:xfrm>
          <a:prstGeom prst="rect">
            <a:avLst/>
          </a:prstGeom>
          <a:solidFill>
            <a:srgbClr val="B02532"/>
          </a:solidFill>
          <a:ln w="12700">
            <a:solidFill>
              <a:srgbClr val="B02532"/>
            </a:solidFill>
            <a:prstDash val="solid"/>
          </a:ln>
        </p:spPr>
        <p:txBody>
          <a:bodyPr/>
          <a:p/>
        </p:txBody>
      </p:sp>
      <p:sp>
        <p:nvSpPr>
          <p:cNvPr id="10" name="Text 8"/>
          <p:cNvSpPr/>
          <p:nvPr/>
        </p:nvSpPr>
        <p:spPr>
          <a:xfrm>
            <a:off x="6400800" y="1892808"/>
            <a:ext cx="4937760" cy="68580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Partea a doua, circa cincizeci de minute</a:t>
            </a:r>
            <a:endParaRPr lang="en-US" sz="1800" dirty="0"/>
          </a:p>
        </p:txBody>
      </p:sp>
      <p:sp>
        <p:nvSpPr>
          <p:cNvPr id="11" name="Text 9"/>
          <p:cNvSpPr/>
          <p:nvPr/>
        </p:nvSpPr>
        <p:spPr>
          <a:xfrm>
            <a:off x="6400800" y="2560320"/>
            <a:ext cx="4937760" cy="146304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Calitatea îngrijirilor: definiția, măsurarea, acreditarea ANMCS și îmbunătățirea continuă.</a:t>
            </a:r>
            <a:endParaRPr lang="en-US" sz="1650" dirty="0"/>
          </a:p>
        </p:txBody>
      </p:sp>
      <p:sp>
        <p:nvSpPr>
          <p:cNvPr id="12" name="Shape 10"/>
          <p:cNvSpPr/>
          <p:nvPr/>
        </p:nvSpPr>
        <p:spPr>
          <a:xfrm>
            <a:off x="594360" y="4389120"/>
            <a:ext cx="10972800" cy="1600200"/>
          </a:xfrm>
          <a:prstGeom prst="roundRect">
            <a:avLst>
              <a:gd name="adj" fmla="val 5143"/>
            </a:avLst>
          </a:prstGeom>
          <a:solidFill>
            <a:srgbClr val="11121A"/>
          </a:solidFill>
          <a:ln w="12700">
            <a:solidFill>
              <a:srgbClr val="11121A"/>
            </a:solidFill>
            <a:prstDash val="solid"/>
          </a:ln>
        </p:spPr>
        <p:txBody>
          <a:bodyPr/>
          <a:p/>
        </p:txBody>
      </p:sp>
      <p:sp>
        <p:nvSpPr>
          <p:cNvPr id="13" name="Text 11"/>
          <p:cNvSpPr/>
          <p:nvPr/>
        </p:nvSpPr>
        <p:spPr>
          <a:xfrm>
            <a:off x="868680" y="4389120"/>
            <a:ext cx="10424160" cy="1600200"/>
          </a:xfrm>
          <a:prstGeom prst="rect">
            <a:avLst/>
          </a:prstGeom>
          <a:noFill/>
          <a:ln/>
        </p:spPr>
        <p:txBody>
          <a:bodyPr wrap="square" lIns="0" tIns="0" rIns="0" bIns="0" rtlCol="0" anchor="ctr"/>
          <a:lstStyle/>
          <a:p>
            <a:pPr indent="0" marL="0">
              <a:buNone/>
            </a:pPr>
            <a:r>
              <a:rPr lang="en-US" sz="1750" b="1" dirty="0">
                <a:solidFill>
                  <a:srgbClr val="FFC24B"/>
                </a:solidFill>
                <a:latin typeface="Palatino Linotype" pitchFamily="34" charset="0"/>
                <a:ea typeface="Palatino Linotype" pitchFamily="34" charset="-122"/>
                <a:cs typeface="Palatino Linotype" pitchFamily="34" charset="-120"/>
              </a:rPr>
              <a:t>La examen: definițiile, distincțiile și clasificările. Cifrele nu se cer pe de rost, cu excepția celor cinci ani ai ciclului de acreditare și ai certificatului.</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MANAGERUL ȘI LIDERUL · DIN CURSUL TRECUT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Mara este numită. Devine și lider?</a:t>
            </a:r>
            <a:endParaRPr lang="en-US" sz="3000" dirty="0"/>
          </a:p>
        </p:txBody>
      </p:sp>
      <p:sp>
        <p:nvSpPr>
          <p:cNvPr id="4" name="Shape 2"/>
          <p:cNvSpPr/>
          <p:nvPr/>
        </p:nvSpPr>
        <p:spPr>
          <a:xfrm>
            <a:off x="594360" y="1645920"/>
            <a:ext cx="5394960" cy="2651760"/>
          </a:xfrm>
          <a:prstGeom prst="roundRect">
            <a:avLst>
              <a:gd name="adj" fmla="val 3103"/>
            </a:avLst>
          </a:prstGeom>
          <a:solidFill>
            <a:srgbClr val="ECEAE4"/>
          </a:solidFill>
          <a:ln w="12700">
            <a:solidFill>
              <a:srgbClr val="ECEAE4"/>
            </a:solidFill>
            <a:prstDash val="solid"/>
          </a:ln>
        </p:spPr>
        <p:txBody>
          <a:bodyPr/>
          <a:p/>
        </p:txBody>
      </p:sp>
      <p:sp>
        <p:nvSpPr>
          <p:cNvPr id="5" name="Shape 3"/>
          <p:cNvSpPr/>
          <p:nvPr/>
        </p:nvSpPr>
        <p:spPr>
          <a:xfrm>
            <a:off x="594360" y="1645920"/>
            <a:ext cx="539496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847088"/>
            <a:ext cx="4937760" cy="68580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Managerul: numit</a:t>
            </a:r>
            <a:endParaRPr lang="en-US" sz="1900" dirty="0"/>
          </a:p>
        </p:txBody>
      </p:sp>
      <p:sp>
        <p:nvSpPr>
          <p:cNvPr id="7" name="Text 5"/>
          <p:cNvSpPr/>
          <p:nvPr/>
        </p:nvSpPr>
        <p:spPr>
          <a:xfrm>
            <a:off x="822960" y="2514600"/>
            <a:ext cx="4937760" cy="1645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Întreabă cum și când: cine lucrează în tura de noapte, dacă sunt destule perfuzoare, dacă protocolul a fost respectat.</a:t>
            </a:r>
            <a:endParaRPr lang="en-US" sz="1600" dirty="0"/>
          </a:p>
        </p:txBody>
      </p:sp>
      <p:sp>
        <p:nvSpPr>
          <p:cNvPr id="8" name="Shape 6"/>
          <p:cNvSpPr/>
          <p:nvPr/>
        </p:nvSpPr>
        <p:spPr>
          <a:xfrm>
            <a:off x="6172200" y="1645920"/>
            <a:ext cx="5394960" cy="2651760"/>
          </a:xfrm>
          <a:prstGeom prst="roundRect">
            <a:avLst>
              <a:gd name="adj" fmla="val 3103"/>
            </a:avLst>
          </a:prstGeom>
          <a:solidFill>
            <a:srgbClr val="F9F8F5"/>
          </a:solidFill>
          <a:ln w="12700">
            <a:solidFill>
              <a:srgbClr val="F9F8F5"/>
            </a:solidFill>
            <a:prstDash val="solid"/>
          </a:ln>
        </p:spPr>
        <p:txBody>
          <a:bodyPr/>
          <a:p/>
        </p:txBody>
      </p:sp>
      <p:sp>
        <p:nvSpPr>
          <p:cNvPr id="9" name="Shape 7"/>
          <p:cNvSpPr/>
          <p:nvPr/>
        </p:nvSpPr>
        <p:spPr>
          <a:xfrm>
            <a:off x="6172200" y="1645920"/>
            <a:ext cx="5394960" cy="73152"/>
          </a:xfrm>
          <a:prstGeom prst="rect">
            <a:avLst/>
          </a:prstGeom>
          <a:solidFill>
            <a:srgbClr val="B02532"/>
          </a:solidFill>
          <a:ln w="12700">
            <a:solidFill>
              <a:srgbClr val="B02532"/>
            </a:solidFill>
            <a:prstDash val="solid"/>
          </a:ln>
        </p:spPr>
        <p:txBody>
          <a:bodyPr/>
          <a:p/>
        </p:txBody>
      </p:sp>
      <p:sp>
        <p:nvSpPr>
          <p:cNvPr id="10" name="Text 8"/>
          <p:cNvSpPr/>
          <p:nvPr/>
        </p:nvSpPr>
        <p:spPr>
          <a:xfrm>
            <a:off x="6400800" y="1847088"/>
            <a:ext cx="4937760" cy="68580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Liderul: acceptat</a:t>
            </a:r>
            <a:endParaRPr lang="en-US" sz="1900" dirty="0"/>
          </a:p>
        </p:txBody>
      </p:sp>
      <p:sp>
        <p:nvSpPr>
          <p:cNvPr id="11" name="Text 9"/>
          <p:cNvSpPr/>
          <p:nvPr/>
        </p:nvSpPr>
        <p:spPr>
          <a:xfrm>
            <a:off x="6400800" y="2514600"/>
            <a:ext cx="4937760" cy="1645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Întreabă ce și de ce: încotro merge secția, de ce pleacă oamenii, ce trebuie schimbat pentru siguranța pacienților.</a:t>
            </a:r>
            <a:endParaRPr lang="en-US" sz="1600" dirty="0"/>
          </a:p>
        </p:txBody>
      </p:sp>
      <p:sp>
        <p:nvSpPr>
          <p:cNvPr id="12" name="Shape 10"/>
          <p:cNvSpPr/>
          <p:nvPr/>
        </p:nvSpPr>
        <p:spPr>
          <a:xfrm>
            <a:off x="594360" y="4526280"/>
            <a:ext cx="10972800" cy="1097280"/>
          </a:xfrm>
          <a:prstGeom prst="roundRect">
            <a:avLst>
              <a:gd name="adj" fmla="val 7500"/>
            </a:avLst>
          </a:prstGeom>
          <a:solidFill>
            <a:srgbClr val="11121A"/>
          </a:solidFill>
          <a:ln w="12700">
            <a:solidFill>
              <a:srgbClr val="11121A"/>
            </a:solidFill>
            <a:prstDash val="solid"/>
          </a:ln>
        </p:spPr>
        <p:txBody>
          <a:bodyPr/>
          <a:p/>
        </p:txBody>
      </p:sp>
      <p:sp>
        <p:nvSpPr>
          <p:cNvPr id="13" name="Text 11"/>
          <p:cNvSpPr/>
          <p:nvPr/>
        </p:nvSpPr>
        <p:spPr>
          <a:xfrm>
            <a:off x="868680" y="4526280"/>
            <a:ext cx="10424160" cy="1097280"/>
          </a:xfrm>
          <a:prstGeom prst="rect">
            <a:avLst/>
          </a:prstGeom>
          <a:noFill/>
          <a:ln/>
        </p:spPr>
        <p:txBody>
          <a:bodyPr wrap="square" lIns="0" tIns="0" rIns="0" bIns="0" rtlCol="0" anchor="ctr"/>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Managementul menține ordinea de zi cu zi; leadershipul face posibilă schimbarea. Secția are nevoie de amândouă.</a:t>
            </a:r>
            <a:endParaRPr lang="en-US" sz="1700" dirty="0"/>
          </a:p>
        </p:txBody>
      </p:sp>
      <p:sp>
        <p:nvSpPr>
          <p:cNvPr id="14" name="Text 12"/>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OpenStax, 2019 (registru A917); întrebările: sinteză didactică.</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CUM S-AU SCHIMBAT IDEILE DESPRE LEADERSHIP</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De la trăsături la situație</a:t>
            </a:r>
            <a:endParaRPr lang="en-US" sz="3200" dirty="0"/>
          </a:p>
        </p:txBody>
      </p:sp>
      <p:sp>
        <p:nvSpPr>
          <p:cNvPr id="4" name="Shape 2"/>
          <p:cNvSpPr/>
          <p:nvPr/>
        </p:nvSpPr>
        <p:spPr>
          <a:xfrm>
            <a:off x="594360" y="1691640"/>
            <a:ext cx="2514600" cy="2103120"/>
          </a:xfrm>
          <a:prstGeom prst="roundRect">
            <a:avLst>
              <a:gd name="adj" fmla="val 3913"/>
            </a:avLst>
          </a:prstGeom>
          <a:solidFill>
            <a:srgbClr val="ECEAE4"/>
          </a:solidFill>
          <a:ln w="12700">
            <a:solidFill>
              <a:srgbClr val="ECEAE4"/>
            </a:solidFill>
            <a:prstDash val="solid"/>
          </a:ln>
        </p:spPr>
        <p:txBody>
          <a:bodyPr/>
          <a:p/>
        </p:txBody>
      </p:sp>
      <p:sp>
        <p:nvSpPr>
          <p:cNvPr id="5" name="Shape 3"/>
          <p:cNvSpPr/>
          <p:nvPr/>
        </p:nvSpPr>
        <p:spPr>
          <a:xfrm>
            <a:off x="594360" y="1691640"/>
            <a:ext cx="251460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892808"/>
            <a:ext cx="2057400" cy="6858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Trăsăturile</a:t>
            </a:r>
            <a:endParaRPr lang="en-US" sz="1800" dirty="0"/>
          </a:p>
        </p:txBody>
      </p:sp>
      <p:sp>
        <p:nvSpPr>
          <p:cNvPr id="7" name="Text 5"/>
          <p:cNvSpPr/>
          <p:nvPr/>
        </p:nvSpPr>
        <p:spPr>
          <a:xfrm>
            <a:off x="822960" y="2560320"/>
            <a:ext cx="205740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teoria „marelui om”</a:t>
            </a:r>
            <a:endParaRPr lang="en-US" sz="1500" dirty="0"/>
          </a:p>
        </p:txBody>
      </p:sp>
      <p:sp>
        <p:nvSpPr>
          <p:cNvPr id="8" name="Shape 6"/>
          <p:cNvSpPr/>
          <p:nvPr/>
        </p:nvSpPr>
        <p:spPr>
          <a:xfrm>
            <a:off x="3127248" y="2606040"/>
            <a:ext cx="256032" cy="310896"/>
          </a:xfrm>
          <a:prstGeom prst="rightArrow">
            <a:avLst/>
          </a:prstGeom>
          <a:solidFill>
            <a:srgbClr val="C9C6BE"/>
          </a:solidFill>
          <a:ln w="12700">
            <a:solidFill>
              <a:srgbClr val="C9C6BE"/>
            </a:solidFill>
            <a:prstDash val="solid"/>
          </a:ln>
        </p:spPr>
        <p:txBody>
          <a:bodyPr/>
          <a:p/>
        </p:txBody>
      </p:sp>
      <p:sp>
        <p:nvSpPr>
          <p:cNvPr id="9" name="Shape 7"/>
          <p:cNvSpPr/>
          <p:nvPr/>
        </p:nvSpPr>
        <p:spPr>
          <a:xfrm>
            <a:off x="3410712" y="1691640"/>
            <a:ext cx="2514600" cy="2103120"/>
          </a:xfrm>
          <a:prstGeom prst="roundRect">
            <a:avLst>
              <a:gd name="adj" fmla="val 3913"/>
            </a:avLst>
          </a:prstGeom>
          <a:solidFill>
            <a:srgbClr val="F9F8F5"/>
          </a:solidFill>
          <a:ln w="12700">
            <a:solidFill>
              <a:srgbClr val="F9F8F5"/>
            </a:solidFill>
            <a:prstDash val="solid"/>
          </a:ln>
        </p:spPr>
        <p:txBody>
          <a:bodyPr/>
          <a:p/>
        </p:txBody>
      </p:sp>
      <p:sp>
        <p:nvSpPr>
          <p:cNvPr id="10" name="Shape 8"/>
          <p:cNvSpPr/>
          <p:nvPr/>
        </p:nvSpPr>
        <p:spPr>
          <a:xfrm>
            <a:off x="3410712" y="1691640"/>
            <a:ext cx="2514600" cy="73152"/>
          </a:xfrm>
          <a:prstGeom prst="rect">
            <a:avLst/>
          </a:prstGeom>
          <a:solidFill>
            <a:srgbClr val="8A6100"/>
          </a:solidFill>
          <a:ln w="12700">
            <a:solidFill>
              <a:srgbClr val="8A6100"/>
            </a:solidFill>
            <a:prstDash val="solid"/>
          </a:ln>
        </p:spPr>
        <p:txBody>
          <a:bodyPr/>
          <a:p/>
        </p:txBody>
      </p:sp>
      <p:sp>
        <p:nvSpPr>
          <p:cNvPr id="11" name="Text 9"/>
          <p:cNvSpPr/>
          <p:nvPr/>
        </p:nvSpPr>
        <p:spPr>
          <a:xfrm>
            <a:off x="3639312" y="1892808"/>
            <a:ext cx="2057400" cy="685800"/>
          </a:xfrm>
          <a:prstGeom prst="rect">
            <a:avLst/>
          </a:prstGeom>
          <a:noFill/>
          <a:ln/>
        </p:spPr>
        <p:txBody>
          <a:bodyPr wrap="square" lIns="0" tIns="0" rIns="0" bIns="0" rtlCol="0" anchor="t"/>
          <a:lstStyle/>
          <a:p>
            <a:pPr indent="0" marL="0">
              <a:buNone/>
            </a:pPr>
            <a:r>
              <a:rPr lang="en-US" sz="1800" b="1" dirty="0">
                <a:solidFill>
                  <a:srgbClr val="8A6100"/>
                </a:solidFill>
                <a:latin typeface="Palatino Linotype" pitchFamily="34" charset="0"/>
                <a:ea typeface="Palatino Linotype" pitchFamily="34" charset="-122"/>
                <a:cs typeface="Palatino Linotype" pitchFamily="34" charset="-120"/>
              </a:rPr>
              <a:t>Comportamentul</a:t>
            </a:r>
            <a:endParaRPr lang="en-US" sz="1800" dirty="0"/>
          </a:p>
        </p:txBody>
      </p:sp>
      <p:sp>
        <p:nvSpPr>
          <p:cNvPr id="12" name="Text 10"/>
          <p:cNvSpPr/>
          <p:nvPr/>
        </p:nvSpPr>
        <p:spPr>
          <a:xfrm>
            <a:off x="3639312" y="2560320"/>
            <a:ext cx="205740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ce face liderul</a:t>
            </a:r>
            <a:endParaRPr lang="en-US" sz="1500" dirty="0"/>
          </a:p>
        </p:txBody>
      </p:sp>
      <p:sp>
        <p:nvSpPr>
          <p:cNvPr id="13" name="Shape 11"/>
          <p:cNvSpPr/>
          <p:nvPr/>
        </p:nvSpPr>
        <p:spPr>
          <a:xfrm>
            <a:off x="5943600" y="2606040"/>
            <a:ext cx="256032" cy="310896"/>
          </a:xfrm>
          <a:prstGeom prst="rightArrow">
            <a:avLst/>
          </a:prstGeom>
          <a:solidFill>
            <a:srgbClr val="C9C6BE"/>
          </a:solidFill>
          <a:ln w="12700">
            <a:solidFill>
              <a:srgbClr val="C9C6BE"/>
            </a:solidFill>
            <a:prstDash val="solid"/>
          </a:ln>
        </p:spPr>
        <p:txBody>
          <a:bodyPr/>
          <a:p/>
        </p:txBody>
      </p:sp>
      <p:sp>
        <p:nvSpPr>
          <p:cNvPr id="14" name="Shape 12"/>
          <p:cNvSpPr/>
          <p:nvPr/>
        </p:nvSpPr>
        <p:spPr>
          <a:xfrm>
            <a:off x="6227064" y="1691640"/>
            <a:ext cx="2514600" cy="2103120"/>
          </a:xfrm>
          <a:prstGeom prst="roundRect">
            <a:avLst>
              <a:gd name="adj" fmla="val 3913"/>
            </a:avLst>
          </a:prstGeom>
          <a:solidFill>
            <a:srgbClr val="ECEAE4"/>
          </a:solidFill>
          <a:ln w="12700">
            <a:solidFill>
              <a:srgbClr val="ECEAE4"/>
            </a:solidFill>
            <a:prstDash val="solid"/>
          </a:ln>
        </p:spPr>
        <p:txBody>
          <a:bodyPr/>
          <a:p/>
        </p:txBody>
      </p:sp>
      <p:sp>
        <p:nvSpPr>
          <p:cNvPr id="15" name="Shape 13"/>
          <p:cNvSpPr/>
          <p:nvPr/>
        </p:nvSpPr>
        <p:spPr>
          <a:xfrm>
            <a:off x="6227064" y="1691640"/>
            <a:ext cx="2514600" cy="73152"/>
          </a:xfrm>
          <a:prstGeom prst="rect">
            <a:avLst/>
          </a:prstGeom>
          <a:solidFill>
            <a:srgbClr val="4A2D8C"/>
          </a:solidFill>
          <a:ln w="12700">
            <a:solidFill>
              <a:srgbClr val="4A2D8C"/>
            </a:solidFill>
            <a:prstDash val="solid"/>
          </a:ln>
        </p:spPr>
        <p:txBody>
          <a:bodyPr/>
          <a:p/>
        </p:txBody>
      </p:sp>
      <p:sp>
        <p:nvSpPr>
          <p:cNvPr id="16" name="Text 14"/>
          <p:cNvSpPr/>
          <p:nvPr/>
        </p:nvSpPr>
        <p:spPr>
          <a:xfrm>
            <a:off x="6455664" y="1892808"/>
            <a:ext cx="2057400" cy="685800"/>
          </a:xfrm>
          <a:prstGeom prst="rect">
            <a:avLst/>
          </a:prstGeom>
          <a:noFill/>
          <a:ln/>
        </p:spPr>
        <p:txBody>
          <a:bodyPr wrap="square" lIns="0" tIns="0" rIns="0" bIns="0" rtlCol="0" anchor="t"/>
          <a:lstStyle/>
          <a:p>
            <a:pPr indent="0" marL="0">
              <a:buNone/>
            </a:pPr>
            <a:r>
              <a:rPr lang="en-US" sz="1800" b="1" dirty="0">
                <a:solidFill>
                  <a:srgbClr val="4A2D8C"/>
                </a:solidFill>
                <a:latin typeface="Palatino Linotype" pitchFamily="34" charset="0"/>
                <a:ea typeface="Palatino Linotype" pitchFamily="34" charset="-122"/>
                <a:cs typeface="Palatino Linotype" pitchFamily="34" charset="-120"/>
              </a:rPr>
              <a:t>Situația</a:t>
            </a:r>
            <a:endParaRPr lang="en-US" sz="1800" dirty="0"/>
          </a:p>
        </p:txBody>
      </p:sp>
      <p:sp>
        <p:nvSpPr>
          <p:cNvPr id="17" name="Text 15"/>
          <p:cNvSpPr/>
          <p:nvPr/>
        </p:nvSpPr>
        <p:spPr>
          <a:xfrm>
            <a:off x="6455664" y="2560320"/>
            <a:ext cx="205740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potrivirea dintre lider și situație</a:t>
            </a:r>
            <a:endParaRPr lang="en-US" sz="1500" dirty="0"/>
          </a:p>
        </p:txBody>
      </p:sp>
      <p:sp>
        <p:nvSpPr>
          <p:cNvPr id="18" name="Shape 16"/>
          <p:cNvSpPr/>
          <p:nvPr/>
        </p:nvSpPr>
        <p:spPr>
          <a:xfrm>
            <a:off x="8759952" y="2606040"/>
            <a:ext cx="256032" cy="310896"/>
          </a:xfrm>
          <a:prstGeom prst="rightArrow">
            <a:avLst/>
          </a:prstGeom>
          <a:solidFill>
            <a:srgbClr val="C9C6BE"/>
          </a:solidFill>
          <a:ln w="12700">
            <a:solidFill>
              <a:srgbClr val="C9C6BE"/>
            </a:solidFill>
            <a:prstDash val="solid"/>
          </a:ln>
        </p:spPr>
        <p:txBody>
          <a:bodyPr/>
          <a:p/>
        </p:txBody>
      </p:sp>
      <p:sp>
        <p:nvSpPr>
          <p:cNvPr id="19" name="Shape 17"/>
          <p:cNvSpPr/>
          <p:nvPr/>
        </p:nvSpPr>
        <p:spPr>
          <a:xfrm>
            <a:off x="9043416" y="1691640"/>
            <a:ext cx="2514600" cy="2103120"/>
          </a:xfrm>
          <a:prstGeom prst="roundRect">
            <a:avLst>
              <a:gd name="adj" fmla="val 3913"/>
            </a:avLst>
          </a:prstGeom>
          <a:solidFill>
            <a:srgbClr val="F9F8F5"/>
          </a:solidFill>
          <a:ln w="12700">
            <a:solidFill>
              <a:srgbClr val="F9F8F5"/>
            </a:solidFill>
            <a:prstDash val="solid"/>
          </a:ln>
        </p:spPr>
        <p:txBody>
          <a:bodyPr/>
          <a:p/>
        </p:txBody>
      </p:sp>
      <p:sp>
        <p:nvSpPr>
          <p:cNvPr id="20" name="Shape 18"/>
          <p:cNvSpPr/>
          <p:nvPr/>
        </p:nvSpPr>
        <p:spPr>
          <a:xfrm>
            <a:off x="9043416" y="1691640"/>
            <a:ext cx="2514600" cy="73152"/>
          </a:xfrm>
          <a:prstGeom prst="rect">
            <a:avLst/>
          </a:prstGeom>
          <a:solidFill>
            <a:srgbClr val="B02532"/>
          </a:solidFill>
          <a:ln w="12700">
            <a:solidFill>
              <a:srgbClr val="B02532"/>
            </a:solidFill>
            <a:prstDash val="solid"/>
          </a:ln>
        </p:spPr>
        <p:txBody>
          <a:bodyPr/>
          <a:p/>
        </p:txBody>
      </p:sp>
      <p:sp>
        <p:nvSpPr>
          <p:cNvPr id="21" name="Text 19"/>
          <p:cNvSpPr/>
          <p:nvPr/>
        </p:nvSpPr>
        <p:spPr>
          <a:xfrm>
            <a:off x="9272016" y="1892808"/>
            <a:ext cx="2057400" cy="68580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Valorile</a:t>
            </a:r>
            <a:endParaRPr lang="en-US" sz="1800" dirty="0"/>
          </a:p>
        </p:txBody>
      </p:sp>
      <p:sp>
        <p:nvSpPr>
          <p:cNvPr id="22" name="Text 20"/>
          <p:cNvSpPr/>
          <p:nvPr/>
        </p:nvSpPr>
        <p:spPr>
          <a:xfrm>
            <a:off x="9272016" y="2560320"/>
            <a:ext cx="205740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liderul care transformă și liderul care slujește</a:t>
            </a:r>
            <a:endParaRPr lang="en-US" sz="1500" dirty="0"/>
          </a:p>
        </p:txBody>
      </p:sp>
      <p:sp>
        <p:nvSpPr>
          <p:cNvPr id="23" name="Text 21"/>
          <p:cNvSpPr/>
          <p:nvPr/>
        </p:nvSpPr>
        <p:spPr>
          <a:xfrm>
            <a:off x="594360" y="4069080"/>
            <a:ext cx="10972800" cy="73152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Trăsăturile nu explică de ce același om conduce bine într-o situație și prost în alta.</a:t>
            </a:r>
            <a:endParaRPr lang="en-US" sz="1800" dirty="0"/>
          </a:p>
        </p:txBody>
      </p:sp>
      <p:sp>
        <p:nvSpPr>
          <p:cNvPr id="24" name="Text 22"/>
          <p:cNvSpPr/>
          <p:nvPr/>
        </p:nvSpPr>
        <p:spPr>
          <a:xfrm>
            <a:off x="594360" y="4983480"/>
            <a:ext cx="10972800" cy="548640"/>
          </a:xfrm>
          <a:prstGeom prst="rect">
            <a:avLst/>
          </a:prstGeom>
          <a:noFill/>
          <a:ln/>
        </p:spPr>
        <p:txBody>
          <a:bodyPr wrap="square" lIns="0" tIns="0" rIns="0" bIns="0" rtlCol="0" anchor="t"/>
          <a:lstStyle/>
          <a:p>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Pentru curioși (nu se evaluează): succesiunea este o simplificare; teoriile se suprapun în timp.</a:t>
            </a:r>
            <a:endParaRPr lang="en-US" sz="1500" dirty="0"/>
          </a:p>
        </p:txBody>
      </p:sp>
      <p:sp>
        <p:nvSpPr>
          <p:cNvPr id="25" name="Text 23"/>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OpenStax, 2019 (registru A1006, A1007, A1004, A1005); succesiunea: sinteză didactică. Anii și autorii nu se evaluează.</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FRENCH ȘI RAVEN, DUPĂ OPENSTAX</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Cinci surse ale puterii</a:t>
            </a:r>
            <a:endParaRPr lang="en-US" sz="3200" dirty="0"/>
          </a:p>
        </p:txBody>
      </p:sp>
      <p:sp>
        <p:nvSpPr>
          <p:cNvPr id="4" name="Shape 2"/>
          <p:cNvSpPr/>
          <p:nvPr/>
        </p:nvSpPr>
        <p:spPr>
          <a:xfrm>
            <a:off x="594360" y="1645920"/>
            <a:ext cx="6766560" cy="676656"/>
          </a:xfrm>
          <a:prstGeom prst="roundRect">
            <a:avLst>
              <a:gd name="adj" fmla="val 12162"/>
            </a:avLst>
          </a:prstGeom>
          <a:solidFill>
            <a:srgbClr val="ECEAE4"/>
          </a:solidFill>
          <a:ln w="12700">
            <a:solidFill>
              <a:srgbClr val="ECEAE4"/>
            </a:solidFill>
            <a:prstDash val="solid"/>
          </a:ln>
        </p:spPr>
        <p:txBody>
          <a:bodyPr/>
          <a:p/>
        </p:txBody>
      </p:sp>
      <p:sp>
        <p:nvSpPr>
          <p:cNvPr id="5" name="Text 3"/>
          <p:cNvSpPr/>
          <p:nvPr/>
        </p:nvSpPr>
        <p:spPr>
          <a:xfrm>
            <a:off x="822960" y="1645920"/>
            <a:ext cx="6400800" cy="676656"/>
          </a:xfrm>
          <a:prstGeom prst="rect">
            <a:avLst/>
          </a:prstGeom>
          <a:noFill/>
          <a:ln/>
        </p:spPr>
        <p:txBody>
          <a:bodyPr wrap="square" lIns="0" tIns="0" rIns="0" bIns="0" rtlCol="0" anchor="ctr"/>
          <a:lstStyle/>
          <a:p>
            <a:pPr indent="0" marL="0">
              <a:buNone/>
            </a:pPr>
            <a:r>
              <a:rPr lang="en-US" sz="1600" b="1" dirty="0">
                <a:solidFill>
                  <a:srgbClr val="4A2D8C"/>
                </a:solidFill>
                <a:latin typeface="Palatino Linotype" pitchFamily="34" charset="0"/>
                <a:ea typeface="Palatino Linotype" pitchFamily="34" charset="-122"/>
                <a:cs typeface="Palatino Linotype" pitchFamily="34" charset="-120"/>
              </a:rPr>
              <a:t>De recompensă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propune un coleg pentru un curs</a:t>
            </a:r>
            <a:endParaRPr lang="en-US" sz="1600" dirty="0"/>
          </a:p>
        </p:txBody>
      </p:sp>
      <p:sp>
        <p:nvSpPr>
          <p:cNvPr id="6" name="Shape 4"/>
          <p:cNvSpPr/>
          <p:nvPr/>
        </p:nvSpPr>
        <p:spPr>
          <a:xfrm>
            <a:off x="594360" y="2432304"/>
            <a:ext cx="6766560" cy="676656"/>
          </a:xfrm>
          <a:prstGeom prst="roundRect">
            <a:avLst>
              <a:gd name="adj" fmla="val 12162"/>
            </a:avLst>
          </a:prstGeom>
          <a:solidFill>
            <a:srgbClr val="F9F8F5"/>
          </a:solidFill>
          <a:ln w="12700">
            <a:solidFill>
              <a:srgbClr val="F9F8F5"/>
            </a:solidFill>
            <a:prstDash val="solid"/>
          </a:ln>
        </p:spPr>
        <p:txBody>
          <a:bodyPr/>
          <a:p/>
        </p:txBody>
      </p:sp>
      <p:sp>
        <p:nvSpPr>
          <p:cNvPr id="7" name="Text 5"/>
          <p:cNvSpPr/>
          <p:nvPr/>
        </p:nvSpPr>
        <p:spPr>
          <a:xfrm>
            <a:off x="822960" y="2432304"/>
            <a:ext cx="6400800" cy="676656"/>
          </a:xfrm>
          <a:prstGeom prst="rect">
            <a:avLst/>
          </a:prstGeom>
          <a:noFill/>
          <a:ln/>
        </p:spPr>
        <p:txBody>
          <a:bodyPr wrap="square" lIns="0" tIns="0" rIns="0" bIns="0" rtlCol="0" anchor="ctr"/>
          <a:lstStyle/>
          <a:p>
            <a:pPr indent="0" marL="0">
              <a:buNone/>
            </a:pPr>
            <a:r>
              <a:rPr lang="en-US" sz="1600" b="1" dirty="0">
                <a:solidFill>
                  <a:srgbClr val="4A2D8C"/>
                </a:solidFill>
                <a:latin typeface="Palatino Linotype" pitchFamily="34" charset="0"/>
                <a:ea typeface="Palatino Linotype" pitchFamily="34" charset="-122"/>
                <a:cs typeface="Palatino Linotype" pitchFamily="34" charset="-120"/>
              </a:rPr>
              <a:t>Coercitivă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sancțiunea, observația scrisă</a:t>
            </a:r>
            <a:endParaRPr lang="en-US" sz="1600" dirty="0"/>
          </a:p>
        </p:txBody>
      </p:sp>
      <p:sp>
        <p:nvSpPr>
          <p:cNvPr id="8" name="Shape 6"/>
          <p:cNvSpPr/>
          <p:nvPr/>
        </p:nvSpPr>
        <p:spPr>
          <a:xfrm>
            <a:off x="594360" y="3218688"/>
            <a:ext cx="6766560" cy="676656"/>
          </a:xfrm>
          <a:prstGeom prst="roundRect">
            <a:avLst>
              <a:gd name="adj" fmla="val 12162"/>
            </a:avLst>
          </a:prstGeom>
          <a:solidFill>
            <a:srgbClr val="ECEAE4"/>
          </a:solidFill>
          <a:ln w="12700">
            <a:solidFill>
              <a:srgbClr val="ECEAE4"/>
            </a:solidFill>
            <a:prstDash val="solid"/>
          </a:ln>
        </p:spPr>
        <p:txBody>
          <a:bodyPr/>
          <a:p/>
        </p:txBody>
      </p:sp>
      <p:sp>
        <p:nvSpPr>
          <p:cNvPr id="9" name="Text 7"/>
          <p:cNvSpPr/>
          <p:nvPr/>
        </p:nvSpPr>
        <p:spPr>
          <a:xfrm>
            <a:off x="822960" y="3218688"/>
            <a:ext cx="6400800" cy="676656"/>
          </a:xfrm>
          <a:prstGeom prst="rect">
            <a:avLst/>
          </a:prstGeom>
          <a:noFill/>
          <a:ln/>
        </p:spPr>
        <p:txBody>
          <a:bodyPr wrap="square" lIns="0" tIns="0" rIns="0" bIns="0" rtlCol="0" anchor="ctr"/>
          <a:lstStyle/>
          <a:p>
            <a:pPr indent="0" marL="0">
              <a:buNone/>
            </a:pPr>
            <a:r>
              <a:rPr lang="en-US" sz="1600" b="1" dirty="0">
                <a:solidFill>
                  <a:srgbClr val="4A2D8C"/>
                </a:solidFill>
                <a:latin typeface="Palatino Linotype" pitchFamily="34" charset="0"/>
                <a:ea typeface="Palatino Linotype" pitchFamily="34" charset="-122"/>
                <a:cs typeface="Palatino Linotype" pitchFamily="34" charset="-120"/>
              </a:rPr>
              <a:t>De referință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oamenii îl urmează pentru că îl admiră</a:t>
            </a:r>
            <a:endParaRPr lang="en-US" sz="1600" dirty="0"/>
          </a:p>
        </p:txBody>
      </p:sp>
      <p:sp>
        <p:nvSpPr>
          <p:cNvPr id="10" name="Shape 8"/>
          <p:cNvSpPr/>
          <p:nvPr/>
        </p:nvSpPr>
        <p:spPr>
          <a:xfrm>
            <a:off x="594360" y="4005072"/>
            <a:ext cx="6766560" cy="676656"/>
          </a:xfrm>
          <a:prstGeom prst="roundRect">
            <a:avLst>
              <a:gd name="adj" fmla="val 12162"/>
            </a:avLst>
          </a:prstGeom>
          <a:solidFill>
            <a:srgbClr val="F9F8F5"/>
          </a:solidFill>
          <a:ln w="12700">
            <a:solidFill>
              <a:srgbClr val="F9F8F5"/>
            </a:solidFill>
            <a:prstDash val="solid"/>
          </a:ln>
        </p:spPr>
        <p:txBody>
          <a:bodyPr/>
          <a:p/>
        </p:txBody>
      </p:sp>
      <p:sp>
        <p:nvSpPr>
          <p:cNvPr id="11" name="Text 9"/>
          <p:cNvSpPr/>
          <p:nvPr/>
        </p:nvSpPr>
        <p:spPr>
          <a:xfrm>
            <a:off x="822960" y="4005072"/>
            <a:ext cx="6400800" cy="676656"/>
          </a:xfrm>
          <a:prstGeom prst="rect">
            <a:avLst/>
          </a:prstGeom>
          <a:noFill/>
          <a:ln/>
        </p:spPr>
        <p:txBody>
          <a:bodyPr wrap="square" lIns="0" tIns="0" rIns="0" bIns="0" rtlCol="0" anchor="ctr"/>
          <a:lstStyle/>
          <a:p>
            <a:pPr indent="0" marL="0">
              <a:buNone/>
            </a:pPr>
            <a:r>
              <a:rPr lang="en-US" sz="1600" b="1" dirty="0">
                <a:solidFill>
                  <a:srgbClr val="4A2D8C"/>
                </a:solidFill>
                <a:latin typeface="Palatino Linotype" pitchFamily="34" charset="0"/>
                <a:ea typeface="Palatino Linotype" pitchFamily="34" charset="-122"/>
                <a:cs typeface="Palatino Linotype" pitchFamily="34" charset="-120"/>
              </a:rPr>
              <a:t>De expert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colegii vin la el la o puncție dificilă</a:t>
            </a:r>
            <a:endParaRPr lang="en-US" sz="1600" dirty="0"/>
          </a:p>
        </p:txBody>
      </p:sp>
      <p:sp>
        <p:nvSpPr>
          <p:cNvPr id="12" name="Shape 10"/>
          <p:cNvSpPr/>
          <p:nvPr/>
        </p:nvSpPr>
        <p:spPr>
          <a:xfrm>
            <a:off x="594360" y="4791456"/>
            <a:ext cx="6766560" cy="676656"/>
          </a:xfrm>
          <a:prstGeom prst="roundRect">
            <a:avLst>
              <a:gd name="adj" fmla="val 12162"/>
            </a:avLst>
          </a:prstGeom>
          <a:solidFill>
            <a:srgbClr val="ECEAE4"/>
          </a:solidFill>
          <a:ln w="12700">
            <a:solidFill>
              <a:srgbClr val="ECEAE4"/>
            </a:solidFill>
            <a:prstDash val="solid"/>
          </a:ln>
        </p:spPr>
        <p:txBody>
          <a:bodyPr/>
          <a:p/>
        </p:txBody>
      </p:sp>
      <p:sp>
        <p:nvSpPr>
          <p:cNvPr id="13" name="Text 11"/>
          <p:cNvSpPr/>
          <p:nvPr/>
        </p:nvSpPr>
        <p:spPr>
          <a:xfrm>
            <a:off x="822960" y="4791456"/>
            <a:ext cx="6400800" cy="676656"/>
          </a:xfrm>
          <a:prstGeom prst="rect">
            <a:avLst/>
          </a:prstGeom>
          <a:noFill/>
          <a:ln/>
        </p:spPr>
        <p:txBody>
          <a:bodyPr wrap="square" lIns="0" tIns="0" rIns="0" bIns="0" rtlCol="0" anchor="ctr"/>
          <a:lstStyle/>
          <a:p>
            <a:pPr indent="0" marL="0">
              <a:buNone/>
            </a:pPr>
            <a:r>
              <a:rPr lang="en-US" sz="1600" b="1" dirty="0">
                <a:solidFill>
                  <a:srgbClr val="4A2D8C"/>
                </a:solidFill>
                <a:latin typeface="Palatino Linotype" pitchFamily="34" charset="0"/>
                <a:ea typeface="Palatino Linotype" pitchFamily="34" charset="-122"/>
                <a:cs typeface="Palatino Linotype" pitchFamily="34" charset="-120"/>
              </a:rPr>
              <a:t>Legitimă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funcția din organigramă și fișa postului</a:t>
            </a:r>
            <a:endParaRPr lang="en-US" sz="1600" dirty="0"/>
          </a:p>
        </p:txBody>
      </p:sp>
      <p:sp>
        <p:nvSpPr>
          <p:cNvPr id="14" name="Shape 12"/>
          <p:cNvSpPr/>
          <p:nvPr/>
        </p:nvSpPr>
        <p:spPr>
          <a:xfrm>
            <a:off x="7589520" y="1645920"/>
            <a:ext cx="3977640" cy="3840480"/>
          </a:xfrm>
          <a:prstGeom prst="roundRect">
            <a:avLst>
              <a:gd name="adj" fmla="val 2143"/>
            </a:avLst>
          </a:prstGeom>
          <a:solidFill>
            <a:srgbClr val="11121A"/>
          </a:solidFill>
          <a:ln w="12700">
            <a:solidFill>
              <a:srgbClr val="11121A"/>
            </a:solidFill>
            <a:prstDash val="solid"/>
          </a:ln>
        </p:spPr>
        <p:txBody>
          <a:bodyPr/>
          <a:p/>
        </p:txBody>
      </p:sp>
      <p:sp>
        <p:nvSpPr>
          <p:cNvPr id="15" name="Text 13"/>
          <p:cNvSpPr/>
          <p:nvPr/>
        </p:nvSpPr>
        <p:spPr>
          <a:xfrm>
            <a:off x="7818120" y="1828800"/>
            <a:ext cx="3566160" cy="182880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Puterea de referință tinde să le amplifice pe celelalte; puterea coercitivă tinde să le slăbească.</a:t>
            </a:r>
            <a:endParaRPr lang="en-US" sz="1700" dirty="0"/>
          </a:p>
        </p:txBody>
      </p:sp>
      <p:sp>
        <p:nvSpPr>
          <p:cNvPr id="16" name="Text 14"/>
          <p:cNvSpPr/>
          <p:nvPr/>
        </p:nvSpPr>
        <p:spPr>
          <a:xfrm>
            <a:off x="7818120" y="3749040"/>
            <a:ext cx="3566160" cy="155448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Mara obține mai mult prin competență și respect decât prin funcție și sancțiuni.</a:t>
            </a:r>
            <a:endParaRPr lang="en-US" sz="1600" dirty="0"/>
          </a:p>
        </p:txBody>
      </p:sp>
      <p:sp>
        <p:nvSpPr>
          <p:cNvPr id="17" name="Text 15"/>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OpenStax, 2019 (registru A1002, A1003); exemplele sunt construite pentru curs.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PUTEREA · UN SINGUR RĂSPUNS CORECT</a:t>
            </a:r>
            <a:endParaRPr lang="en-US" sz="1300" dirty="0"/>
          </a:p>
        </p:txBody>
      </p:sp>
      <p:sp>
        <p:nvSpPr>
          <p:cNvPr id="5" name="Text 3"/>
          <p:cNvSpPr/>
          <p:nvPr/>
        </p:nvSpPr>
        <p:spPr>
          <a:xfrm>
            <a:off x="594360" y="868680"/>
            <a:ext cx="10972800" cy="1600200"/>
          </a:xfrm>
          <a:prstGeom prst="rect">
            <a:avLst/>
          </a:prstGeom>
          <a:noFill/>
          <a:ln/>
        </p:spPr>
        <p:txBody>
          <a:bodyPr wrap="square" lIns="0" tIns="0" rIns="0" bIns="0" rtlCol="0" anchor="ctr"/>
          <a:lstStyle/>
          <a:p>
            <a:pPr indent="0" marL="0">
              <a:buNone/>
            </a:pPr>
            <a:r>
              <a:rPr lang="en-US" sz="2500" b="1" dirty="0">
                <a:solidFill>
                  <a:srgbClr val="FFFFFF"/>
                </a:solidFill>
                <a:latin typeface="Palatino Linotype" pitchFamily="34" charset="0"/>
                <a:ea typeface="Palatino Linotype" pitchFamily="34" charset="-122"/>
                <a:cs typeface="Palatino Linotype" pitchFamily="34" charset="-120"/>
              </a:rPr>
              <a:t>Un asistent cu cincisprezece ani de experiență, fără nicio funcție, este căutat de toți colegii la un pacient instabil. Ce putere are în primul rând?</a:t>
            </a:r>
            <a:endParaRPr lang="en-US" sz="2500" dirty="0"/>
          </a:p>
        </p:txBody>
      </p:sp>
      <p:sp>
        <p:nvSpPr>
          <p:cNvPr id="6" name="Shape 4"/>
          <p:cNvSpPr/>
          <p:nvPr/>
        </p:nvSpPr>
        <p:spPr>
          <a:xfrm>
            <a:off x="594360" y="269748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7" name="Shape 5"/>
          <p:cNvSpPr/>
          <p:nvPr/>
        </p:nvSpPr>
        <p:spPr>
          <a:xfrm>
            <a:off x="868680" y="2852928"/>
            <a:ext cx="420624" cy="420624"/>
          </a:xfrm>
          <a:prstGeom prst="ellipse">
            <a:avLst/>
          </a:prstGeom>
          <a:solidFill>
            <a:srgbClr val="FFC24B"/>
          </a:solidFill>
          <a:ln/>
        </p:spPr>
        <p:txBody>
          <a:bodyPr/>
          <a:p/>
        </p:txBody>
      </p:sp>
      <p:sp>
        <p:nvSpPr>
          <p:cNvPr id="8" name="Text 6"/>
          <p:cNvSpPr/>
          <p:nvPr/>
        </p:nvSpPr>
        <p:spPr>
          <a:xfrm>
            <a:off x="868680" y="2852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269748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Puterea legitimă</a:t>
            </a:r>
            <a:endParaRPr lang="en-US" sz="2000" dirty="0"/>
          </a:p>
        </p:txBody>
      </p:sp>
      <p:sp>
        <p:nvSpPr>
          <p:cNvPr id="10" name="Shape 8"/>
          <p:cNvSpPr/>
          <p:nvPr/>
        </p:nvSpPr>
        <p:spPr>
          <a:xfrm>
            <a:off x="594360" y="356616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1" name="Shape 9"/>
          <p:cNvSpPr/>
          <p:nvPr/>
        </p:nvSpPr>
        <p:spPr>
          <a:xfrm>
            <a:off x="868680" y="3721608"/>
            <a:ext cx="420624" cy="420624"/>
          </a:xfrm>
          <a:prstGeom prst="ellipse">
            <a:avLst/>
          </a:prstGeom>
          <a:solidFill>
            <a:srgbClr val="FFC24B"/>
          </a:solidFill>
          <a:ln/>
        </p:spPr>
        <p:txBody>
          <a:bodyPr/>
          <a:p/>
        </p:txBody>
      </p:sp>
      <p:sp>
        <p:nvSpPr>
          <p:cNvPr id="12" name="Text 10"/>
          <p:cNvSpPr/>
          <p:nvPr/>
        </p:nvSpPr>
        <p:spPr>
          <a:xfrm>
            <a:off x="868680" y="37216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356616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Puterea de expert</a:t>
            </a:r>
            <a:endParaRPr lang="en-US" sz="2000" dirty="0"/>
          </a:p>
        </p:txBody>
      </p:sp>
      <p:sp>
        <p:nvSpPr>
          <p:cNvPr id="14" name="Shape 12"/>
          <p:cNvSpPr/>
          <p:nvPr/>
        </p:nvSpPr>
        <p:spPr>
          <a:xfrm>
            <a:off x="594360" y="443484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5" name="Shape 13"/>
          <p:cNvSpPr/>
          <p:nvPr/>
        </p:nvSpPr>
        <p:spPr>
          <a:xfrm>
            <a:off x="868680" y="4590288"/>
            <a:ext cx="420624" cy="420624"/>
          </a:xfrm>
          <a:prstGeom prst="ellipse">
            <a:avLst/>
          </a:prstGeom>
          <a:solidFill>
            <a:srgbClr val="FFC24B"/>
          </a:solidFill>
          <a:ln/>
        </p:spPr>
        <p:txBody>
          <a:bodyPr/>
          <a:p/>
        </p:txBody>
      </p:sp>
      <p:sp>
        <p:nvSpPr>
          <p:cNvPr id="16" name="Text 14"/>
          <p:cNvSpPr/>
          <p:nvPr/>
        </p:nvSpPr>
        <p:spPr>
          <a:xfrm>
            <a:off x="868680" y="45902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443484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Puterea de recompensă</a:t>
            </a:r>
            <a:endParaRPr lang="en-US" sz="2000" dirty="0"/>
          </a:p>
        </p:txBody>
      </p:sp>
      <p:sp>
        <p:nvSpPr>
          <p:cNvPr id="18" name="Text 16"/>
          <p:cNvSpPr/>
          <p:nvPr/>
        </p:nvSpPr>
        <p:spPr>
          <a:xfrm>
            <a:off x="594360" y="5440680"/>
            <a:ext cx="10972800" cy="6400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Votați fără să vedeți votul celorlalți.</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B. Puterea de expert</a:t>
            </a:r>
            <a:endParaRPr lang="en-US" sz="3200" dirty="0"/>
          </a:p>
        </p:txBody>
      </p:sp>
      <p:sp>
        <p:nvSpPr>
          <p:cNvPr id="4" name="Shape 2"/>
          <p:cNvSpPr/>
          <p:nvPr/>
        </p:nvSpPr>
        <p:spPr>
          <a:xfrm>
            <a:off x="594360" y="1691640"/>
            <a:ext cx="5394960" cy="2011680"/>
          </a:xfrm>
          <a:prstGeom prst="roundRect">
            <a:avLst>
              <a:gd name="adj" fmla="val 4091"/>
            </a:avLst>
          </a:prstGeom>
          <a:solidFill>
            <a:srgbClr val="ECEAE4"/>
          </a:solidFill>
          <a:ln w="12700">
            <a:solidFill>
              <a:srgbClr val="ECEAE4"/>
            </a:solidFill>
            <a:prstDash val="solid"/>
          </a:ln>
        </p:spPr>
        <p:txBody>
          <a:bodyPr/>
          <a:p/>
        </p:txBody>
      </p:sp>
      <p:sp>
        <p:nvSpPr>
          <p:cNvPr id="5" name="Shape 3"/>
          <p:cNvSpPr/>
          <p:nvPr/>
        </p:nvSpPr>
        <p:spPr>
          <a:xfrm>
            <a:off x="594360" y="1691640"/>
            <a:ext cx="5394960" cy="73152"/>
          </a:xfrm>
          <a:prstGeom prst="rect">
            <a:avLst/>
          </a:prstGeom>
          <a:solidFill>
            <a:srgbClr val="5A5F75"/>
          </a:solidFill>
          <a:ln w="12700">
            <a:solidFill>
              <a:srgbClr val="5A5F75"/>
            </a:solidFill>
            <a:prstDash val="solid"/>
          </a:ln>
        </p:spPr>
        <p:txBody>
          <a:bodyPr/>
          <a:p/>
        </p:txBody>
      </p:sp>
      <p:sp>
        <p:nvSpPr>
          <p:cNvPr id="6" name="Text 4"/>
          <p:cNvSpPr/>
          <p:nvPr/>
        </p:nvSpPr>
        <p:spPr>
          <a:xfrm>
            <a:off x="822960" y="1892808"/>
            <a:ext cx="4937760" cy="685800"/>
          </a:xfrm>
          <a:prstGeom prst="rect">
            <a:avLst/>
          </a:prstGeom>
          <a:noFill/>
          <a:ln/>
        </p:spPr>
        <p:txBody>
          <a:bodyPr wrap="square" lIns="0" tIns="0" rIns="0" bIns="0" rtlCol="0" anchor="t"/>
          <a:lstStyle/>
          <a:p>
            <a:pPr indent="0" marL="0">
              <a:buNone/>
            </a:pPr>
            <a:r>
              <a:rPr lang="en-US" sz="1900" b="1" dirty="0">
                <a:solidFill>
                  <a:srgbClr val="5A5F75"/>
                </a:solidFill>
                <a:latin typeface="Palatino Linotype" pitchFamily="34" charset="0"/>
                <a:ea typeface="Palatino Linotype" pitchFamily="34" charset="-122"/>
                <a:cs typeface="Palatino Linotype" pitchFamily="34" charset="-120"/>
              </a:rPr>
              <a:t>De ce nu legitimă?</a:t>
            </a:r>
            <a:endParaRPr lang="en-US" sz="1900" dirty="0"/>
          </a:p>
        </p:txBody>
      </p:sp>
      <p:sp>
        <p:nvSpPr>
          <p:cNvPr id="7" name="Text 5"/>
          <p:cNvSpPr/>
          <p:nvPr/>
        </p:nvSpPr>
        <p:spPr>
          <a:xfrm>
            <a:off x="822960" y="2560320"/>
            <a:ext cx="4937760" cy="10058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Nu are nicio funcție.</a:t>
            </a:r>
            <a:endParaRPr lang="en-US" sz="1700" dirty="0"/>
          </a:p>
        </p:txBody>
      </p:sp>
      <p:sp>
        <p:nvSpPr>
          <p:cNvPr id="8" name="Shape 6"/>
          <p:cNvSpPr/>
          <p:nvPr/>
        </p:nvSpPr>
        <p:spPr>
          <a:xfrm>
            <a:off x="6172200" y="1691640"/>
            <a:ext cx="5394960" cy="2011680"/>
          </a:xfrm>
          <a:prstGeom prst="roundRect">
            <a:avLst>
              <a:gd name="adj" fmla="val 4091"/>
            </a:avLst>
          </a:prstGeom>
          <a:solidFill>
            <a:srgbClr val="F9F8F5"/>
          </a:solidFill>
          <a:ln w="12700">
            <a:solidFill>
              <a:srgbClr val="F9F8F5"/>
            </a:solidFill>
            <a:prstDash val="solid"/>
          </a:ln>
        </p:spPr>
        <p:txBody>
          <a:bodyPr/>
          <a:p/>
        </p:txBody>
      </p:sp>
      <p:sp>
        <p:nvSpPr>
          <p:cNvPr id="9" name="Shape 7"/>
          <p:cNvSpPr/>
          <p:nvPr/>
        </p:nvSpPr>
        <p:spPr>
          <a:xfrm>
            <a:off x="6172200" y="1691640"/>
            <a:ext cx="5394960" cy="73152"/>
          </a:xfrm>
          <a:prstGeom prst="rect">
            <a:avLst/>
          </a:prstGeom>
          <a:solidFill>
            <a:srgbClr val="5A5F75"/>
          </a:solidFill>
          <a:ln w="12700">
            <a:solidFill>
              <a:srgbClr val="5A5F75"/>
            </a:solidFill>
            <a:prstDash val="solid"/>
          </a:ln>
        </p:spPr>
        <p:txBody>
          <a:bodyPr/>
          <a:p/>
        </p:txBody>
      </p:sp>
      <p:sp>
        <p:nvSpPr>
          <p:cNvPr id="10" name="Text 8"/>
          <p:cNvSpPr/>
          <p:nvPr/>
        </p:nvSpPr>
        <p:spPr>
          <a:xfrm>
            <a:off x="6400800" y="1892808"/>
            <a:ext cx="4937760" cy="685800"/>
          </a:xfrm>
          <a:prstGeom prst="rect">
            <a:avLst/>
          </a:prstGeom>
          <a:noFill/>
          <a:ln/>
        </p:spPr>
        <p:txBody>
          <a:bodyPr wrap="square" lIns="0" tIns="0" rIns="0" bIns="0" rtlCol="0" anchor="t"/>
          <a:lstStyle/>
          <a:p>
            <a:pPr indent="0" marL="0">
              <a:buNone/>
            </a:pPr>
            <a:r>
              <a:rPr lang="en-US" sz="1900" b="1" dirty="0">
                <a:solidFill>
                  <a:srgbClr val="5A5F75"/>
                </a:solidFill>
                <a:latin typeface="Palatino Linotype" pitchFamily="34" charset="0"/>
                <a:ea typeface="Palatino Linotype" pitchFamily="34" charset="-122"/>
                <a:cs typeface="Palatino Linotype" pitchFamily="34" charset="-120"/>
              </a:rPr>
              <a:t>De ce nu de recompensă?</a:t>
            </a:r>
            <a:endParaRPr lang="en-US" sz="1900" dirty="0"/>
          </a:p>
        </p:txBody>
      </p:sp>
      <p:sp>
        <p:nvSpPr>
          <p:cNvPr id="11" name="Text 9"/>
          <p:cNvSpPr/>
          <p:nvPr/>
        </p:nvSpPr>
        <p:spPr>
          <a:xfrm>
            <a:off x="6400800" y="2560320"/>
            <a:ext cx="4937760" cy="10058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Nu poate acorda recompense.</a:t>
            </a:r>
            <a:endParaRPr lang="en-US" sz="1700" dirty="0"/>
          </a:p>
        </p:txBody>
      </p:sp>
      <p:sp>
        <p:nvSpPr>
          <p:cNvPr id="12" name="Shape 10"/>
          <p:cNvSpPr/>
          <p:nvPr/>
        </p:nvSpPr>
        <p:spPr>
          <a:xfrm>
            <a:off x="594360" y="3977640"/>
            <a:ext cx="10972800" cy="1188720"/>
          </a:xfrm>
          <a:prstGeom prst="roundRect">
            <a:avLst>
              <a:gd name="adj" fmla="val 6923"/>
            </a:avLst>
          </a:prstGeom>
          <a:solidFill>
            <a:srgbClr val="11121A"/>
          </a:solidFill>
          <a:ln w="12700">
            <a:solidFill>
              <a:srgbClr val="11121A"/>
            </a:solidFill>
            <a:prstDash val="solid"/>
          </a:ln>
        </p:spPr>
        <p:txBody>
          <a:bodyPr/>
          <a:p/>
        </p:txBody>
      </p:sp>
      <p:sp>
        <p:nvSpPr>
          <p:cNvPr id="13" name="Text 11"/>
          <p:cNvSpPr/>
          <p:nvPr/>
        </p:nvSpPr>
        <p:spPr>
          <a:xfrm>
            <a:off x="868680" y="3977640"/>
            <a:ext cx="10424160" cy="1188720"/>
          </a:xfrm>
          <a:prstGeom prst="rect">
            <a:avLst/>
          </a:prstGeom>
          <a:noFill/>
          <a:ln/>
        </p:spPr>
        <p:txBody>
          <a:bodyPr wrap="square" lIns="0" tIns="0" rIns="0" bIns="0" rtlCol="0" anchor="ctr"/>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Influența lui vine din cunoștințele pe care colegii știu că le are și pe care le împărtășește.</a:t>
            </a:r>
            <a:endParaRPr lang="en-US" sz="1800" dirty="0"/>
          </a:p>
        </p:txBody>
      </p:sp>
      <p:sp>
        <p:nvSpPr>
          <p:cNvPr id="14" name="Text 12"/>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OpenStax, 2019 (registru A1002).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LEADERSHIPUL TRANSFORMAȚIONAL · OPENSTAX</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Inspiră, nu doar recompensează</a:t>
            </a:r>
            <a:endParaRPr lang="en-US" sz="3000" dirty="0"/>
          </a:p>
        </p:txBody>
      </p:sp>
      <p:sp>
        <p:nvSpPr>
          <p:cNvPr id="4" name="Shape 2"/>
          <p:cNvSpPr/>
          <p:nvPr/>
        </p:nvSpPr>
        <p:spPr>
          <a:xfrm>
            <a:off x="594360" y="1645920"/>
            <a:ext cx="3291840" cy="1554480"/>
          </a:xfrm>
          <a:prstGeom prst="roundRect">
            <a:avLst>
              <a:gd name="adj" fmla="val 5294"/>
            </a:avLst>
          </a:prstGeom>
          <a:solidFill>
            <a:srgbClr val="ECEAE4"/>
          </a:solidFill>
          <a:ln w="12700">
            <a:solidFill>
              <a:srgbClr val="ECEAE4"/>
            </a:solidFill>
            <a:prstDash val="solid"/>
          </a:ln>
        </p:spPr>
        <p:txBody>
          <a:bodyPr/>
          <a:p/>
        </p:txBody>
      </p:sp>
      <p:sp>
        <p:nvSpPr>
          <p:cNvPr id="5" name="Text 3"/>
          <p:cNvSpPr/>
          <p:nvPr/>
        </p:nvSpPr>
        <p:spPr>
          <a:xfrm>
            <a:off x="777240" y="1783080"/>
            <a:ext cx="2926080" cy="640080"/>
          </a:xfrm>
          <a:prstGeom prst="rect">
            <a:avLst/>
          </a:prstGeom>
          <a:noFill/>
          <a:ln/>
        </p:spPr>
        <p:txBody>
          <a:bodyPr wrap="square" lIns="0" tIns="0" rIns="0" bIns="0" rtlCol="0" anchor="t"/>
          <a:lstStyle/>
          <a:p>
            <a:pPr indent="0" marL="0">
              <a:buNone/>
            </a:pPr>
            <a:r>
              <a:rPr lang="en-US" sz="1650" b="1" dirty="0">
                <a:solidFill>
                  <a:srgbClr val="0E7C6B"/>
                </a:solidFill>
                <a:latin typeface="Palatino Linotype" pitchFamily="34" charset="0"/>
                <a:ea typeface="Palatino Linotype" pitchFamily="34" charset="-122"/>
                <a:cs typeface="Palatino Linotype" pitchFamily="34" charset="-120"/>
              </a:rPr>
              <a:t>Influența idealizată</a:t>
            </a:r>
            <a:endParaRPr lang="en-US" sz="1650" dirty="0"/>
          </a:p>
        </p:txBody>
      </p:sp>
      <p:sp>
        <p:nvSpPr>
          <p:cNvPr id="6" name="Text 4"/>
          <p:cNvSpPr/>
          <p:nvPr/>
        </p:nvSpPr>
        <p:spPr>
          <a:xfrm>
            <a:off x="777240" y="2423160"/>
            <a:ext cx="2926080" cy="7315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liderul este un model</a:t>
            </a:r>
            <a:endParaRPr lang="en-US" sz="1500" dirty="0"/>
          </a:p>
        </p:txBody>
      </p:sp>
      <p:sp>
        <p:nvSpPr>
          <p:cNvPr id="7" name="Shape 5"/>
          <p:cNvSpPr/>
          <p:nvPr/>
        </p:nvSpPr>
        <p:spPr>
          <a:xfrm>
            <a:off x="4023360" y="1645920"/>
            <a:ext cx="3291840" cy="1554480"/>
          </a:xfrm>
          <a:prstGeom prst="roundRect">
            <a:avLst>
              <a:gd name="adj" fmla="val 5294"/>
            </a:avLst>
          </a:prstGeom>
          <a:solidFill>
            <a:srgbClr val="F9F8F5"/>
          </a:solidFill>
          <a:ln w="12700">
            <a:solidFill>
              <a:srgbClr val="F9F8F5"/>
            </a:solidFill>
            <a:prstDash val="solid"/>
          </a:ln>
        </p:spPr>
        <p:txBody>
          <a:bodyPr/>
          <a:p/>
        </p:txBody>
      </p:sp>
      <p:sp>
        <p:nvSpPr>
          <p:cNvPr id="8" name="Text 6"/>
          <p:cNvSpPr/>
          <p:nvPr/>
        </p:nvSpPr>
        <p:spPr>
          <a:xfrm>
            <a:off x="4206240" y="1783080"/>
            <a:ext cx="2926080" cy="640080"/>
          </a:xfrm>
          <a:prstGeom prst="rect">
            <a:avLst/>
          </a:prstGeom>
          <a:noFill/>
          <a:ln/>
        </p:spPr>
        <p:txBody>
          <a:bodyPr wrap="square" lIns="0" tIns="0" rIns="0" bIns="0" rtlCol="0" anchor="t"/>
          <a:lstStyle/>
          <a:p>
            <a:pPr indent="0" marL="0">
              <a:buNone/>
            </a:pPr>
            <a:r>
              <a:rPr lang="en-US" sz="1650" b="1" dirty="0">
                <a:solidFill>
                  <a:srgbClr val="0E7C6B"/>
                </a:solidFill>
                <a:latin typeface="Palatino Linotype" pitchFamily="34" charset="0"/>
                <a:ea typeface="Palatino Linotype" pitchFamily="34" charset="-122"/>
                <a:cs typeface="Palatino Linotype" pitchFamily="34" charset="-120"/>
              </a:rPr>
              <a:t>Motivația inspirațională</a:t>
            </a:r>
            <a:endParaRPr lang="en-US" sz="1650" dirty="0"/>
          </a:p>
        </p:txBody>
      </p:sp>
      <p:sp>
        <p:nvSpPr>
          <p:cNvPr id="9" name="Text 7"/>
          <p:cNvSpPr/>
          <p:nvPr/>
        </p:nvSpPr>
        <p:spPr>
          <a:xfrm>
            <a:off x="4206240" y="2423160"/>
            <a:ext cx="2926080" cy="7315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o viziune atrăgătoare a echipei</a:t>
            </a:r>
            <a:endParaRPr lang="en-US" sz="1500" dirty="0"/>
          </a:p>
        </p:txBody>
      </p:sp>
      <p:sp>
        <p:nvSpPr>
          <p:cNvPr id="10" name="Shape 8"/>
          <p:cNvSpPr/>
          <p:nvPr/>
        </p:nvSpPr>
        <p:spPr>
          <a:xfrm>
            <a:off x="594360" y="3337560"/>
            <a:ext cx="3291840" cy="1554480"/>
          </a:xfrm>
          <a:prstGeom prst="roundRect">
            <a:avLst>
              <a:gd name="adj" fmla="val 5294"/>
            </a:avLst>
          </a:prstGeom>
          <a:solidFill>
            <a:srgbClr val="F9F8F5"/>
          </a:solidFill>
          <a:ln w="12700">
            <a:solidFill>
              <a:srgbClr val="F9F8F5"/>
            </a:solidFill>
            <a:prstDash val="solid"/>
          </a:ln>
        </p:spPr>
        <p:txBody>
          <a:bodyPr/>
          <a:p/>
        </p:txBody>
      </p:sp>
      <p:sp>
        <p:nvSpPr>
          <p:cNvPr id="11" name="Text 9"/>
          <p:cNvSpPr/>
          <p:nvPr/>
        </p:nvSpPr>
        <p:spPr>
          <a:xfrm>
            <a:off x="777240" y="3474720"/>
            <a:ext cx="2926080" cy="640080"/>
          </a:xfrm>
          <a:prstGeom prst="rect">
            <a:avLst/>
          </a:prstGeom>
          <a:noFill/>
          <a:ln/>
        </p:spPr>
        <p:txBody>
          <a:bodyPr wrap="square" lIns="0" tIns="0" rIns="0" bIns="0" rtlCol="0" anchor="t"/>
          <a:lstStyle/>
          <a:p>
            <a:pPr indent="0" marL="0">
              <a:buNone/>
            </a:pPr>
            <a:r>
              <a:rPr lang="en-US" sz="1650" b="1" dirty="0">
                <a:solidFill>
                  <a:srgbClr val="0E7C6B"/>
                </a:solidFill>
                <a:latin typeface="Palatino Linotype" pitchFamily="34" charset="0"/>
                <a:ea typeface="Palatino Linotype" pitchFamily="34" charset="-122"/>
                <a:cs typeface="Palatino Linotype" pitchFamily="34" charset="-120"/>
              </a:rPr>
              <a:t>Stimularea intelectuală</a:t>
            </a:r>
            <a:endParaRPr lang="en-US" sz="1650" dirty="0"/>
          </a:p>
        </p:txBody>
      </p:sp>
      <p:sp>
        <p:nvSpPr>
          <p:cNvPr id="12" name="Text 10"/>
          <p:cNvSpPr/>
          <p:nvPr/>
        </p:nvSpPr>
        <p:spPr>
          <a:xfrm>
            <a:off x="777240" y="4114800"/>
            <a:ext cx="2926080" cy="7315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pune la îndoială obiceiurile stabilite</a:t>
            </a:r>
            <a:endParaRPr lang="en-US" sz="1500" dirty="0"/>
          </a:p>
        </p:txBody>
      </p:sp>
      <p:sp>
        <p:nvSpPr>
          <p:cNvPr id="13" name="Shape 11"/>
          <p:cNvSpPr/>
          <p:nvPr/>
        </p:nvSpPr>
        <p:spPr>
          <a:xfrm>
            <a:off x="4023360" y="3337560"/>
            <a:ext cx="3291840" cy="1554480"/>
          </a:xfrm>
          <a:prstGeom prst="roundRect">
            <a:avLst>
              <a:gd name="adj" fmla="val 5294"/>
            </a:avLst>
          </a:prstGeom>
          <a:solidFill>
            <a:srgbClr val="ECEAE4"/>
          </a:solidFill>
          <a:ln w="12700">
            <a:solidFill>
              <a:srgbClr val="ECEAE4"/>
            </a:solidFill>
            <a:prstDash val="solid"/>
          </a:ln>
        </p:spPr>
        <p:txBody>
          <a:bodyPr/>
          <a:p/>
        </p:txBody>
      </p:sp>
      <p:sp>
        <p:nvSpPr>
          <p:cNvPr id="14" name="Text 12"/>
          <p:cNvSpPr/>
          <p:nvPr/>
        </p:nvSpPr>
        <p:spPr>
          <a:xfrm>
            <a:off x="4206240" y="3474720"/>
            <a:ext cx="2926080" cy="640080"/>
          </a:xfrm>
          <a:prstGeom prst="rect">
            <a:avLst/>
          </a:prstGeom>
          <a:noFill/>
          <a:ln/>
        </p:spPr>
        <p:txBody>
          <a:bodyPr wrap="square" lIns="0" tIns="0" rIns="0" bIns="0" rtlCol="0" anchor="t"/>
          <a:lstStyle/>
          <a:p>
            <a:pPr indent="0" marL="0">
              <a:buNone/>
            </a:pPr>
            <a:r>
              <a:rPr lang="en-US" sz="1650" b="1" dirty="0">
                <a:solidFill>
                  <a:srgbClr val="0E7C6B"/>
                </a:solidFill>
                <a:latin typeface="Palatino Linotype" pitchFamily="34" charset="0"/>
                <a:ea typeface="Palatino Linotype" pitchFamily="34" charset="-122"/>
                <a:cs typeface="Palatino Linotype" pitchFamily="34" charset="-120"/>
              </a:rPr>
              <a:t>Considerația individualizată</a:t>
            </a:r>
            <a:endParaRPr lang="en-US" sz="1650" dirty="0"/>
          </a:p>
        </p:txBody>
      </p:sp>
      <p:sp>
        <p:nvSpPr>
          <p:cNvPr id="15" name="Text 13"/>
          <p:cNvSpPr/>
          <p:nvPr/>
        </p:nvSpPr>
        <p:spPr>
          <a:xfrm>
            <a:off x="4206240" y="4114800"/>
            <a:ext cx="2926080" cy="7315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se ocupă de dezvoltarea fiecăruia</a:t>
            </a:r>
            <a:endParaRPr lang="en-US" sz="1500" dirty="0"/>
          </a:p>
        </p:txBody>
      </p:sp>
      <p:sp>
        <p:nvSpPr>
          <p:cNvPr id="16" name="Shape 14"/>
          <p:cNvSpPr/>
          <p:nvPr/>
        </p:nvSpPr>
        <p:spPr>
          <a:xfrm>
            <a:off x="7589520" y="1645920"/>
            <a:ext cx="3977640" cy="1600200"/>
          </a:xfrm>
          <a:prstGeom prst="roundRect">
            <a:avLst>
              <a:gd name="adj" fmla="val 5143"/>
            </a:avLst>
          </a:prstGeom>
          <a:solidFill>
            <a:srgbClr val="ECEAE4"/>
          </a:solidFill>
          <a:ln w="12700">
            <a:solidFill>
              <a:srgbClr val="ECEAE4"/>
            </a:solidFill>
            <a:prstDash val="solid"/>
          </a:ln>
        </p:spPr>
        <p:txBody>
          <a:bodyPr/>
          <a:p/>
        </p:txBody>
      </p:sp>
      <p:sp>
        <p:nvSpPr>
          <p:cNvPr id="17" name="Shape 15"/>
          <p:cNvSpPr/>
          <p:nvPr/>
        </p:nvSpPr>
        <p:spPr>
          <a:xfrm>
            <a:off x="7589520" y="1645920"/>
            <a:ext cx="3977640" cy="73152"/>
          </a:xfrm>
          <a:prstGeom prst="rect">
            <a:avLst/>
          </a:prstGeom>
          <a:solidFill>
            <a:srgbClr val="8A6100"/>
          </a:solidFill>
          <a:ln w="12700">
            <a:solidFill>
              <a:srgbClr val="8A6100"/>
            </a:solidFill>
            <a:prstDash val="solid"/>
          </a:ln>
        </p:spPr>
        <p:txBody>
          <a:bodyPr/>
          <a:p/>
        </p:txBody>
      </p:sp>
      <p:sp>
        <p:nvSpPr>
          <p:cNvPr id="18" name="Text 16"/>
          <p:cNvSpPr/>
          <p:nvPr/>
        </p:nvSpPr>
        <p:spPr>
          <a:xfrm>
            <a:off x="7818120" y="1847088"/>
            <a:ext cx="3520440" cy="685800"/>
          </a:xfrm>
          <a:prstGeom prst="rect">
            <a:avLst/>
          </a:prstGeom>
          <a:noFill/>
          <a:ln/>
        </p:spPr>
        <p:txBody>
          <a:bodyPr wrap="square" lIns="0" tIns="0" rIns="0" bIns="0" rtlCol="0" anchor="t"/>
          <a:lstStyle/>
          <a:p>
            <a:pPr indent="0" marL="0">
              <a:buNone/>
            </a:pPr>
            <a:r>
              <a:rPr lang="en-US" sz="1700" b="1" dirty="0">
                <a:solidFill>
                  <a:srgbClr val="8A6100"/>
                </a:solidFill>
                <a:latin typeface="Palatino Linotype" pitchFamily="34" charset="0"/>
                <a:ea typeface="Palatino Linotype" pitchFamily="34" charset="-122"/>
                <a:cs typeface="Palatino Linotype" pitchFamily="34" charset="-120"/>
              </a:rPr>
              <a:t>Se potrivește</a:t>
            </a:r>
            <a:endParaRPr lang="en-US" sz="1700" dirty="0"/>
          </a:p>
        </p:txBody>
      </p:sp>
      <p:sp>
        <p:nvSpPr>
          <p:cNvPr id="19" name="Text 17"/>
          <p:cNvSpPr/>
          <p:nvPr/>
        </p:nvSpPr>
        <p:spPr>
          <a:xfrm>
            <a:off x="7818120" y="2514600"/>
            <a:ext cx="3520440" cy="5943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reorganizării secției, unui protocol nou</a:t>
            </a:r>
            <a:endParaRPr lang="en-US" sz="1500" dirty="0"/>
          </a:p>
        </p:txBody>
      </p:sp>
      <p:sp>
        <p:nvSpPr>
          <p:cNvPr id="20" name="Shape 18"/>
          <p:cNvSpPr/>
          <p:nvPr/>
        </p:nvSpPr>
        <p:spPr>
          <a:xfrm>
            <a:off x="7589520" y="3383280"/>
            <a:ext cx="3977640" cy="1600200"/>
          </a:xfrm>
          <a:prstGeom prst="roundRect">
            <a:avLst>
              <a:gd name="adj" fmla="val 5143"/>
            </a:avLst>
          </a:prstGeom>
          <a:solidFill>
            <a:srgbClr val="F9F8F5"/>
          </a:solidFill>
          <a:ln w="12700">
            <a:solidFill>
              <a:srgbClr val="F9F8F5"/>
            </a:solidFill>
            <a:prstDash val="solid"/>
          </a:ln>
        </p:spPr>
        <p:txBody>
          <a:bodyPr/>
          <a:p/>
        </p:txBody>
      </p:sp>
      <p:sp>
        <p:nvSpPr>
          <p:cNvPr id="21" name="Shape 19"/>
          <p:cNvSpPr/>
          <p:nvPr/>
        </p:nvSpPr>
        <p:spPr>
          <a:xfrm>
            <a:off x="7589520" y="3383280"/>
            <a:ext cx="3977640" cy="73152"/>
          </a:xfrm>
          <a:prstGeom prst="rect">
            <a:avLst/>
          </a:prstGeom>
          <a:solidFill>
            <a:srgbClr val="B02532"/>
          </a:solidFill>
          <a:ln w="12700">
            <a:solidFill>
              <a:srgbClr val="B02532"/>
            </a:solidFill>
            <a:prstDash val="solid"/>
          </a:ln>
        </p:spPr>
        <p:txBody>
          <a:bodyPr/>
          <a:p/>
        </p:txBody>
      </p:sp>
      <p:sp>
        <p:nvSpPr>
          <p:cNvPr id="22" name="Text 20"/>
          <p:cNvSpPr/>
          <p:nvPr/>
        </p:nvSpPr>
        <p:spPr>
          <a:xfrm>
            <a:off x="7818120" y="3584448"/>
            <a:ext cx="3520440" cy="6858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Riscul</a:t>
            </a:r>
            <a:endParaRPr lang="en-US" sz="1700" dirty="0"/>
          </a:p>
        </p:txBody>
      </p:sp>
      <p:sp>
        <p:nvSpPr>
          <p:cNvPr id="23" name="Text 21"/>
          <p:cNvSpPr/>
          <p:nvPr/>
        </p:nvSpPr>
        <p:spPr>
          <a:xfrm>
            <a:off x="7818120" y="4251960"/>
            <a:ext cx="3520440" cy="5943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dependența echipei de lider</a:t>
            </a:r>
            <a:endParaRPr lang="en-US" sz="1500" dirty="0"/>
          </a:p>
        </p:txBody>
      </p:sp>
      <p:sp>
        <p:nvSpPr>
          <p:cNvPr id="24" name="Text 22"/>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OpenStax, 2019 (registru A1004); potrivirea și riscul: sinteză didactică.</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O AFIRMAȚIE DE VERIFICAT</a:t>
            </a:r>
            <a:endParaRPr lang="en-US" sz="1300" dirty="0"/>
          </a:p>
        </p:txBody>
      </p:sp>
      <p:sp>
        <p:nvSpPr>
          <p:cNvPr id="3" name="Shape 1"/>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CĂTRE SALĂ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Un lider bun salvează pacienți?</a:t>
            </a:r>
            <a:endParaRPr lang="en-US" sz="3200" dirty="0"/>
          </a:p>
        </p:txBody>
      </p:sp>
      <p:sp>
        <p:nvSpPr>
          <p:cNvPr id="6" name="Shape 4"/>
          <p:cNvSpPr/>
          <p:nvPr/>
        </p:nvSpPr>
        <p:spPr>
          <a:xfrm>
            <a:off x="594360" y="1783080"/>
            <a:ext cx="5669280" cy="1554480"/>
          </a:xfrm>
          <a:prstGeom prst="roundRect">
            <a:avLst>
              <a:gd name="adj" fmla="val 10588"/>
            </a:avLst>
          </a:prstGeom>
          <a:solidFill>
            <a:srgbClr val="272A38"/>
          </a:solidFill>
          <a:ln w="12700">
            <a:solidFill>
              <a:srgbClr val="272A38"/>
            </a:solidFill>
            <a:prstDash val="solid"/>
          </a:ln>
        </p:spPr>
        <p:txBody>
          <a:bodyPr/>
          <a:p/>
        </p:txBody>
      </p:sp>
      <p:sp>
        <p:nvSpPr>
          <p:cNvPr id="7" name="Shape 5"/>
          <p:cNvSpPr/>
          <p:nvPr/>
        </p:nvSpPr>
        <p:spPr>
          <a:xfrm flipV="1">
            <a:off x="1005840" y="3319272"/>
            <a:ext cx="457200" cy="292608"/>
          </a:xfrm>
          <a:prstGeom prst="triangle">
            <a:avLst/>
          </a:prstGeom>
          <a:solidFill>
            <a:srgbClr val="272A38"/>
          </a:solidFill>
          <a:ln w="12700">
            <a:solidFill>
              <a:srgbClr val="272A38"/>
            </a:solidFill>
            <a:prstDash val="solid"/>
          </a:ln>
        </p:spPr>
        <p:txBody>
          <a:bodyPr/>
          <a:p/>
        </p:txBody>
      </p:sp>
      <p:sp>
        <p:nvSpPr>
          <p:cNvPr id="8" name="Text 6"/>
          <p:cNvSpPr/>
          <p:nvPr/>
        </p:nvSpPr>
        <p:spPr>
          <a:xfrm>
            <a:off x="868680" y="1783080"/>
            <a:ext cx="5212080" cy="1554480"/>
          </a:xfrm>
          <a:prstGeom prst="rect">
            <a:avLst/>
          </a:prstGeom>
          <a:noFill/>
          <a:ln/>
        </p:spPr>
        <p:txBody>
          <a:bodyPr wrap="square" lIns="0" tIns="0" rIns="0" bIns="0" rtlCol="0" anchor="ctr"/>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„Leadershipul transformațional îmbunătățește rezultatele pacienților.”</a:t>
            </a:r>
            <a:endParaRPr lang="en-US" sz="1900" dirty="0"/>
          </a:p>
        </p:txBody>
      </p:sp>
      <p:sp>
        <p:nvSpPr>
          <p:cNvPr id="9" name="Shape 7"/>
          <p:cNvSpPr/>
          <p:nvPr/>
        </p:nvSpPr>
        <p:spPr>
          <a:xfrm>
            <a:off x="6583680" y="1783080"/>
            <a:ext cx="4983480" cy="1417320"/>
          </a:xfrm>
          <a:prstGeom prst="roundRect">
            <a:avLst>
              <a:gd name="adj" fmla="val 5806"/>
            </a:avLst>
          </a:prstGeom>
          <a:solidFill>
            <a:srgbClr val="1D1F2B"/>
          </a:solidFill>
          <a:ln w="12700">
            <a:solidFill>
              <a:srgbClr val="1D1F2B"/>
            </a:solidFill>
            <a:prstDash val="solid"/>
          </a:ln>
        </p:spPr>
        <p:txBody>
          <a:bodyPr/>
          <a:p/>
        </p:txBody>
      </p:sp>
      <p:sp>
        <p:nvSpPr>
          <p:cNvPr id="10" name="Text 8"/>
          <p:cNvSpPr/>
          <p:nvPr/>
        </p:nvSpPr>
        <p:spPr>
          <a:xfrm>
            <a:off x="6812280" y="1920240"/>
            <a:ext cx="4572000" cy="36576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Ce nu putem afirma</a:t>
            </a:r>
            <a:endParaRPr lang="en-US" sz="1500" dirty="0"/>
          </a:p>
        </p:txBody>
      </p:sp>
      <p:sp>
        <p:nvSpPr>
          <p:cNvPr id="11" name="Text 9"/>
          <p:cNvSpPr/>
          <p:nvPr/>
        </p:nvSpPr>
        <p:spPr>
          <a:xfrm>
            <a:off x="6812280" y="2286000"/>
            <a:ext cx="4572000" cy="868680"/>
          </a:xfrm>
          <a:prstGeom prst="rect">
            <a:avLst/>
          </a:prstGeom>
          <a:noFill/>
          <a:ln/>
        </p:spPr>
        <p:txBody>
          <a:bodyPr wrap="square" lIns="0" tIns="0" rIns="0" bIns="0" rtlCol="0" anchor="t"/>
          <a:lstStyle/>
          <a:p>
            <a:pPr indent="0" marL="0">
              <a:buNone/>
            </a:pPr>
            <a:r>
              <a:rPr lang="en-US" sz="1500" dirty="0">
                <a:solidFill>
                  <a:srgbClr val="E6E8EF"/>
                </a:solidFill>
                <a:latin typeface="Palatino Linotype" pitchFamily="34" charset="0"/>
                <a:ea typeface="Palatino Linotype" pitchFamily="34" charset="-122"/>
                <a:cs typeface="Palatino Linotype" pitchFamily="34" charset="-120"/>
              </a:rPr>
              <a:t>Studiile din decul cursului nu au fost citite: notele nu afirmă această legătură.</a:t>
            </a:r>
            <a:endParaRPr lang="en-US" sz="1500" dirty="0"/>
          </a:p>
        </p:txBody>
      </p:sp>
      <p:sp>
        <p:nvSpPr>
          <p:cNvPr id="12" name="Shape 10"/>
          <p:cNvSpPr/>
          <p:nvPr/>
        </p:nvSpPr>
        <p:spPr>
          <a:xfrm>
            <a:off x="6583680" y="3383280"/>
            <a:ext cx="4983480" cy="1417320"/>
          </a:xfrm>
          <a:prstGeom prst="roundRect">
            <a:avLst>
              <a:gd name="adj" fmla="val 5806"/>
            </a:avLst>
          </a:prstGeom>
          <a:solidFill>
            <a:srgbClr val="1D1F2B"/>
          </a:solidFill>
          <a:ln w="12700">
            <a:solidFill>
              <a:srgbClr val="1D1F2B"/>
            </a:solidFill>
            <a:prstDash val="solid"/>
          </a:ln>
        </p:spPr>
        <p:txBody>
          <a:bodyPr/>
          <a:p/>
        </p:txBody>
      </p:sp>
      <p:sp>
        <p:nvSpPr>
          <p:cNvPr id="13" name="Text 11"/>
          <p:cNvSpPr/>
          <p:nvPr/>
        </p:nvSpPr>
        <p:spPr>
          <a:xfrm>
            <a:off x="6812280" y="3520440"/>
            <a:ext cx="4572000" cy="36576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Ce știm din cursul trecut</a:t>
            </a:r>
            <a:endParaRPr lang="en-US" sz="1500" dirty="0"/>
          </a:p>
        </p:txBody>
      </p:sp>
      <p:sp>
        <p:nvSpPr>
          <p:cNvPr id="14" name="Text 12"/>
          <p:cNvSpPr/>
          <p:nvPr/>
        </p:nvSpPr>
        <p:spPr>
          <a:xfrm>
            <a:off x="6812280" y="3886200"/>
            <a:ext cx="4572000" cy="868680"/>
          </a:xfrm>
          <a:prstGeom prst="rect">
            <a:avLst/>
          </a:prstGeom>
          <a:noFill/>
          <a:ln/>
        </p:spPr>
        <p:txBody>
          <a:bodyPr wrap="square" lIns="0" tIns="0" rIns="0" bIns="0" rtlCol="0" anchor="t"/>
          <a:lstStyle/>
          <a:p>
            <a:pPr indent="0" marL="0">
              <a:buNone/>
            </a:pPr>
            <a:r>
              <a:rPr lang="en-US" sz="1500" dirty="0">
                <a:solidFill>
                  <a:srgbClr val="E6E8EF"/>
                </a:solidFill>
                <a:latin typeface="Palatino Linotype" pitchFamily="34" charset="0"/>
                <a:ea typeface="Palatino Linotype" pitchFamily="34" charset="-122"/>
                <a:cs typeface="Palatino Linotype" pitchFamily="34" charset="-120"/>
              </a:rPr>
              <a:t>Numărul de pacienți pe asistent se asociază cu rezultatele pacienților.</a:t>
            </a:r>
            <a:endParaRPr lang="en-US" sz="1500" dirty="0"/>
          </a:p>
        </p:txBody>
      </p:sp>
      <p:sp>
        <p:nvSpPr>
          <p:cNvPr id="15" name="Shape 13"/>
          <p:cNvSpPr/>
          <p:nvPr/>
        </p:nvSpPr>
        <p:spPr>
          <a:xfrm>
            <a:off x="594360" y="5166360"/>
            <a:ext cx="10972800" cy="914400"/>
          </a:xfrm>
          <a:prstGeom prst="roundRect">
            <a:avLst>
              <a:gd name="adj" fmla="val 9000"/>
            </a:avLst>
          </a:prstGeom>
          <a:solidFill>
            <a:srgbClr val="272A38"/>
          </a:solidFill>
          <a:ln w="12700">
            <a:solidFill>
              <a:srgbClr val="272A38"/>
            </a:solidFill>
            <a:prstDash val="solid"/>
          </a:ln>
        </p:spPr>
        <p:txBody>
          <a:bodyPr/>
          <a:p/>
        </p:txBody>
      </p:sp>
      <p:sp>
        <p:nvSpPr>
          <p:cNvPr id="16" name="Text 14"/>
          <p:cNvSpPr/>
          <p:nvPr/>
        </p:nvSpPr>
        <p:spPr>
          <a:xfrm>
            <a:off x="868680" y="5166360"/>
            <a:ext cx="10424160" cy="914400"/>
          </a:xfrm>
          <a:prstGeom prst="rect">
            <a:avLst/>
          </a:prstGeom>
          <a:noFill/>
          <a:ln/>
        </p:spPr>
        <p:txBody>
          <a:bodyPr wrap="square" lIns="0" tIns="0" rIns="0" bIns="0" rtlCol="0" anchor="ctr"/>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O asociere, fără dovada unei relații cauzale.</a:t>
            </a:r>
            <a:endParaRPr lang="en-US" sz="1800" dirty="0"/>
          </a:p>
        </p:txBody>
      </p:sp>
      <p:sp>
        <p:nvSpPr>
          <p:cNvPr id="17" name="Text 15"/>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registru A910, A931 (cursul al treilea).</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LEADERSHIPUL SITUAȚIONAL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Stilul se alege după omul condus</a:t>
            </a:r>
            <a:endParaRPr lang="en-US" sz="3000" dirty="0"/>
          </a:p>
        </p:txBody>
      </p:sp>
      <p:sp>
        <p:nvSpPr>
          <p:cNvPr id="4" name="Shape 2"/>
          <p:cNvSpPr/>
          <p:nvPr/>
        </p:nvSpPr>
        <p:spPr>
          <a:xfrm>
            <a:off x="594360" y="1600200"/>
            <a:ext cx="10972800" cy="1600200"/>
          </a:xfrm>
          <a:prstGeom prst="roundRect">
            <a:avLst>
              <a:gd name="adj" fmla="val 5143"/>
            </a:avLst>
          </a:prstGeom>
          <a:solidFill>
            <a:srgbClr val="FFFFFF"/>
          </a:solidFill>
          <a:ln w="12700">
            <a:solidFill>
              <a:srgbClr val="FFFFFF"/>
            </a:solidFill>
            <a:prstDash val="solid"/>
          </a:ln>
        </p:spPr>
        <p:txBody>
          <a:bodyPr/>
          <a:p/>
        </p:txBody>
      </p:sp>
      <p:sp>
        <p:nvSpPr>
          <p:cNvPr id="5" name="Shape 3"/>
          <p:cNvSpPr/>
          <p:nvPr/>
        </p:nvSpPr>
        <p:spPr>
          <a:xfrm>
            <a:off x="594360" y="1600200"/>
            <a:ext cx="82296" cy="1600200"/>
          </a:xfrm>
          <a:prstGeom prst="rect">
            <a:avLst/>
          </a:prstGeom>
          <a:solidFill>
            <a:srgbClr val="0E7C6B"/>
          </a:solidFill>
          <a:ln w="12700">
            <a:solidFill>
              <a:srgbClr val="0E7C6B"/>
            </a:solidFill>
            <a:prstDash val="solid"/>
          </a:ln>
        </p:spPr>
        <p:txBody>
          <a:bodyPr/>
          <a:p/>
        </p:txBody>
      </p:sp>
      <p:sp>
        <p:nvSpPr>
          <p:cNvPr id="6" name="Text 4"/>
          <p:cNvSpPr/>
          <p:nvPr/>
        </p:nvSpPr>
        <p:spPr>
          <a:xfrm>
            <a:off x="914400" y="1600200"/>
            <a:ext cx="10424160" cy="160020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Criteriul: pregătirea celui condus pentru sarcina respectivă, adică capacitatea, motivația și angajamentul lui. Cine nu are încă această pregătire are nevoie, de regulă, de un stil mai directiv.</a:t>
            </a:r>
            <a:endParaRPr lang="en-US" sz="1800" dirty="0"/>
          </a:p>
        </p:txBody>
      </p:sp>
      <p:sp>
        <p:nvSpPr>
          <p:cNvPr id="7" name="Text 5"/>
          <p:cNvSpPr/>
          <p:nvPr/>
        </p:nvSpPr>
        <p:spPr>
          <a:xfrm>
            <a:off x="594360" y="3429000"/>
            <a:ext cx="10972800" cy="320040"/>
          </a:xfrm>
          <a:prstGeom prst="rect">
            <a:avLst/>
          </a:prstGeom>
          <a:noFill/>
          <a:ln/>
        </p:spPr>
        <p:txBody>
          <a:bodyPr wrap="square" lIns="0" tIns="0" rIns="0" bIns="0" rtlCol="0" anchor="t"/>
          <a:lstStyle/>
          <a:p>
            <a:pPr indent="0" marL="0">
              <a:buNone/>
            </a:pPr>
            <a:r>
              <a:rPr lang="en-US" sz="1300" b="1" spc="100" kern="0" dirty="0">
                <a:solidFill>
                  <a:srgbClr val="585A64"/>
                </a:solidFill>
                <a:latin typeface="Palatino Linotype" pitchFamily="34" charset="0"/>
                <a:ea typeface="Palatino Linotype" pitchFamily="34" charset="-122"/>
                <a:cs typeface="Palatino Linotype" pitchFamily="34" charset="-120"/>
              </a:rPr>
              <a:t>PATRU STILURI, ÎN FORMA DIN DECUL CURSULUI · NU SE EVALUEAZĂ</a:t>
            </a:r>
            <a:endParaRPr lang="en-US" sz="1300" dirty="0"/>
          </a:p>
        </p:txBody>
      </p:sp>
      <p:sp>
        <p:nvSpPr>
          <p:cNvPr id="8" name="Shape 6"/>
          <p:cNvSpPr/>
          <p:nvPr/>
        </p:nvSpPr>
        <p:spPr>
          <a:xfrm>
            <a:off x="594360" y="3794760"/>
            <a:ext cx="2651760" cy="960120"/>
          </a:xfrm>
          <a:prstGeom prst="roundRect">
            <a:avLst>
              <a:gd name="adj" fmla="val 8571"/>
            </a:avLst>
          </a:prstGeom>
          <a:solidFill>
            <a:srgbClr val="ECEAE4"/>
          </a:solidFill>
          <a:ln w="12700">
            <a:solidFill>
              <a:srgbClr val="ECEAE4"/>
            </a:solidFill>
            <a:prstDash val="solid"/>
          </a:ln>
        </p:spPr>
        <p:txBody>
          <a:bodyPr/>
          <a:p/>
        </p:txBody>
      </p:sp>
      <p:sp>
        <p:nvSpPr>
          <p:cNvPr id="9" name="Text 7"/>
          <p:cNvSpPr/>
          <p:nvPr/>
        </p:nvSpPr>
        <p:spPr>
          <a:xfrm>
            <a:off x="777240" y="3794760"/>
            <a:ext cx="2286000" cy="960120"/>
          </a:xfrm>
          <a:prstGeom prst="rect">
            <a:avLst/>
          </a:prstGeom>
          <a:noFill/>
          <a:ln/>
        </p:spPr>
        <p:txBody>
          <a:bodyPr wrap="square" lIns="0" tIns="0" rIns="0" bIns="0" rtlCol="0" anchor="ctr"/>
          <a:lstStyle/>
          <a:p>
            <a:pPr indent="0" marL="0">
              <a:buNone/>
            </a:pPr>
            <a:r>
              <a:rPr lang="en-US" sz="1550" b="1" dirty="0">
                <a:solidFill>
                  <a:srgbClr val="4A2D8C"/>
                </a:solidFill>
                <a:latin typeface="Palatino Linotype" pitchFamily="34" charset="0"/>
                <a:ea typeface="Palatino Linotype" pitchFamily="34" charset="-122"/>
                <a:cs typeface="Palatino Linotype" pitchFamily="34" charset="-120"/>
              </a:rPr>
              <a:t>Directiv</a:t>
            </a:r>
            <a:endParaRPr lang="en-US" sz="1550" dirty="0"/>
          </a:p>
          <a:p>
            <a:pPr indent="0" marL="0">
              <a:buNone/>
            </a:pPr>
            <a:r>
              <a:rPr lang="en-US" sz="1550" i="1" dirty="0">
                <a:solidFill>
                  <a:srgbClr val="11121A"/>
                </a:solidFill>
                <a:latin typeface="Palatino Linotype" pitchFamily="34" charset="0"/>
                <a:ea typeface="Palatino Linotype" pitchFamily="34" charset="-122"/>
                <a:cs typeface="Palatino Linotype" pitchFamily="34" charset="-120"/>
              </a:rPr>
              <a:t>„spune”</a:t>
            </a:r>
            <a:endParaRPr lang="en-US" sz="1550" dirty="0"/>
          </a:p>
        </p:txBody>
      </p:sp>
      <p:sp>
        <p:nvSpPr>
          <p:cNvPr id="10" name="Shape 8"/>
          <p:cNvSpPr/>
          <p:nvPr/>
        </p:nvSpPr>
        <p:spPr>
          <a:xfrm>
            <a:off x="3383280" y="3794760"/>
            <a:ext cx="2651760" cy="960120"/>
          </a:xfrm>
          <a:prstGeom prst="roundRect">
            <a:avLst>
              <a:gd name="adj" fmla="val 8571"/>
            </a:avLst>
          </a:prstGeom>
          <a:solidFill>
            <a:srgbClr val="F9F8F5"/>
          </a:solidFill>
          <a:ln w="12700">
            <a:solidFill>
              <a:srgbClr val="F9F8F5"/>
            </a:solidFill>
            <a:prstDash val="solid"/>
          </a:ln>
        </p:spPr>
        <p:txBody>
          <a:bodyPr/>
          <a:p/>
        </p:txBody>
      </p:sp>
      <p:sp>
        <p:nvSpPr>
          <p:cNvPr id="11" name="Text 9"/>
          <p:cNvSpPr/>
          <p:nvPr/>
        </p:nvSpPr>
        <p:spPr>
          <a:xfrm>
            <a:off x="3566160" y="3794760"/>
            <a:ext cx="2286000" cy="960120"/>
          </a:xfrm>
          <a:prstGeom prst="rect">
            <a:avLst/>
          </a:prstGeom>
          <a:noFill/>
          <a:ln/>
        </p:spPr>
        <p:txBody>
          <a:bodyPr wrap="square" lIns="0" tIns="0" rIns="0" bIns="0" rtlCol="0" anchor="ctr"/>
          <a:lstStyle/>
          <a:p>
            <a:pPr indent="0" marL="0">
              <a:buNone/>
            </a:pPr>
            <a:r>
              <a:rPr lang="en-US" sz="1550" b="1" dirty="0">
                <a:solidFill>
                  <a:srgbClr val="4A2D8C"/>
                </a:solidFill>
                <a:latin typeface="Palatino Linotype" pitchFamily="34" charset="0"/>
                <a:ea typeface="Palatino Linotype" pitchFamily="34" charset="-122"/>
                <a:cs typeface="Palatino Linotype" pitchFamily="34" charset="-120"/>
              </a:rPr>
              <a:t>De îndrumare</a:t>
            </a:r>
            <a:endParaRPr lang="en-US" sz="1550" dirty="0"/>
          </a:p>
          <a:p>
            <a:pPr indent="0" marL="0">
              <a:buNone/>
            </a:pPr>
            <a:r>
              <a:rPr lang="en-US" sz="1550" i="1" dirty="0">
                <a:solidFill>
                  <a:srgbClr val="11121A"/>
                </a:solidFill>
                <a:latin typeface="Palatino Linotype" pitchFamily="34" charset="0"/>
                <a:ea typeface="Palatino Linotype" pitchFamily="34" charset="-122"/>
                <a:cs typeface="Palatino Linotype" pitchFamily="34" charset="-120"/>
              </a:rPr>
              <a:t>„explică”</a:t>
            </a:r>
            <a:endParaRPr lang="en-US" sz="1550" dirty="0"/>
          </a:p>
        </p:txBody>
      </p:sp>
      <p:sp>
        <p:nvSpPr>
          <p:cNvPr id="12" name="Shape 10"/>
          <p:cNvSpPr/>
          <p:nvPr/>
        </p:nvSpPr>
        <p:spPr>
          <a:xfrm>
            <a:off x="6172200" y="3794760"/>
            <a:ext cx="2651760" cy="960120"/>
          </a:xfrm>
          <a:prstGeom prst="roundRect">
            <a:avLst>
              <a:gd name="adj" fmla="val 8571"/>
            </a:avLst>
          </a:prstGeom>
          <a:solidFill>
            <a:srgbClr val="ECEAE4"/>
          </a:solidFill>
          <a:ln w="12700">
            <a:solidFill>
              <a:srgbClr val="ECEAE4"/>
            </a:solidFill>
            <a:prstDash val="solid"/>
          </a:ln>
        </p:spPr>
        <p:txBody>
          <a:bodyPr/>
          <a:p/>
        </p:txBody>
      </p:sp>
      <p:sp>
        <p:nvSpPr>
          <p:cNvPr id="13" name="Text 11"/>
          <p:cNvSpPr/>
          <p:nvPr/>
        </p:nvSpPr>
        <p:spPr>
          <a:xfrm>
            <a:off x="6355080" y="3794760"/>
            <a:ext cx="2286000" cy="960120"/>
          </a:xfrm>
          <a:prstGeom prst="rect">
            <a:avLst/>
          </a:prstGeom>
          <a:noFill/>
          <a:ln/>
        </p:spPr>
        <p:txBody>
          <a:bodyPr wrap="square" lIns="0" tIns="0" rIns="0" bIns="0" rtlCol="0" anchor="ctr"/>
          <a:lstStyle/>
          <a:p>
            <a:pPr indent="0" marL="0">
              <a:buNone/>
            </a:pPr>
            <a:r>
              <a:rPr lang="en-US" sz="1550" b="1" dirty="0">
                <a:solidFill>
                  <a:srgbClr val="4A2D8C"/>
                </a:solidFill>
                <a:latin typeface="Palatino Linotype" pitchFamily="34" charset="0"/>
                <a:ea typeface="Palatino Linotype" pitchFamily="34" charset="-122"/>
                <a:cs typeface="Palatino Linotype" pitchFamily="34" charset="-120"/>
              </a:rPr>
              <a:t>Participativ</a:t>
            </a:r>
            <a:endParaRPr lang="en-US" sz="1550" dirty="0"/>
          </a:p>
          <a:p>
            <a:pPr indent="0" marL="0">
              <a:buNone/>
            </a:pPr>
            <a:r>
              <a:rPr lang="en-US" sz="1550" i="1" dirty="0">
                <a:solidFill>
                  <a:srgbClr val="11121A"/>
                </a:solidFill>
                <a:latin typeface="Palatino Linotype" pitchFamily="34" charset="0"/>
                <a:ea typeface="Palatino Linotype" pitchFamily="34" charset="-122"/>
                <a:cs typeface="Palatino Linotype" pitchFamily="34" charset="-120"/>
              </a:rPr>
              <a:t>„sprijină”</a:t>
            </a:r>
            <a:endParaRPr lang="en-US" sz="1550" dirty="0"/>
          </a:p>
        </p:txBody>
      </p:sp>
      <p:sp>
        <p:nvSpPr>
          <p:cNvPr id="14" name="Shape 12"/>
          <p:cNvSpPr/>
          <p:nvPr/>
        </p:nvSpPr>
        <p:spPr>
          <a:xfrm>
            <a:off x="8961120" y="3794760"/>
            <a:ext cx="2651760" cy="960120"/>
          </a:xfrm>
          <a:prstGeom prst="roundRect">
            <a:avLst>
              <a:gd name="adj" fmla="val 8571"/>
            </a:avLst>
          </a:prstGeom>
          <a:solidFill>
            <a:srgbClr val="F9F8F5"/>
          </a:solidFill>
          <a:ln w="12700">
            <a:solidFill>
              <a:srgbClr val="F9F8F5"/>
            </a:solidFill>
            <a:prstDash val="solid"/>
          </a:ln>
        </p:spPr>
        <p:txBody>
          <a:bodyPr/>
          <a:p/>
        </p:txBody>
      </p:sp>
      <p:sp>
        <p:nvSpPr>
          <p:cNvPr id="15" name="Text 13"/>
          <p:cNvSpPr/>
          <p:nvPr/>
        </p:nvSpPr>
        <p:spPr>
          <a:xfrm>
            <a:off x="9144000" y="3794760"/>
            <a:ext cx="2286000" cy="960120"/>
          </a:xfrm>
          <a:prstGeom prst="rect">
            <a:avLst/>
          </a:prstGeom>
          <a:noFill/>
          <a:ln/>
        </p:spPr>
        <p:txBody>
          <a:bodyPr wrap="square" lIns="0" tIns="0" rIns="0" bIns="0" rtlCol="0" anchor="ctr"/>
          <a:lstStyle/>
          <a:p>
            <a:pPr indent="0" marL="0">
              <a:buNone/>
            </a:pPr>
            <a:r>
              <a:rPr lang="en-US" sz="1550" b="1" dirty="0">
                <a:solidFill>
                  <a:srgbClr val="4A2D8C"/>
                </a:solidFill>
                <a:latin typeface="Palatino Linotype" pitchFamily="34" charset="0"/>
                <a:ea typeface="Palatino Linotype" pitchFamily="34" charset="-122"/>
                <a:cs typeface="Palatino Linotype" pitchFamily="34" charset="-120"/>
              </a:rPr>
              <a:t>Delegativ</a:t>
            </a:r>
            <a:endParaRPr lang="en-US" sz="1550" dirty="0"/>
          </a:p>
          <a:p>
            <a:pPr indent="0" marL="0">
              <a:buNone/>
            </a:pPr>
            <a:r>
              <a:rPr lang="en-US" sz="1550" i="1" dirty="0">
                <a:solidFill>
                  <a:srgbClr val="11121A"/>
                </a:solidFill>
                <a:latin typeface="Palatino Linotype" pitchFamily="34" charset="0"/>
                <a:ea typeface="Palatino Linotype" pitchFamily="34" charset="-122"/>
                <a:cs typeface="Palatino Linotype" pitchFamily="34" charset="-120"/>
              </a:rPr>
              <a:t>„încredințează”</a:t>
            </a:r>
            <a:endParaRPr lang="en-US" sz="1550" dirty="0"/>
          </a:p>
        </p:txBody>
      </p:sp>
      <p:sp>
        <p:nvSpPr>
          <p:cNvPr id="16" name="Text 14"/>
          <p:cNvSpPr/>
          <p:nvPr/>
        </p:nvSpPr>
        <p:spPr>
          <a:xfrm>
            <a:off x="594360" y="5029200"/>
            <a:ext cx="10972800" cy="54864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Greșeala frecventă: același stil cu toată lumea.</a:t>
            </a:r>
            <a:endParaRPr lang="en-US" sz="1700" dirty="0"/>
          </a:p>
        </p:txBody>
      </p:sp>
      <p:sp>
        <p:nvSpPr>
          <p:cNvPr id="17" name="Text 15"/>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OpenStax, 2019 (registru A1007, A1046); cele patru stiluri: convenție a cursului.</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APOI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CU COLEGUL DE BANCĂ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stil pentru fiecare?</a:t>
            </a:r>
            <a:endParaRPr lang="en-US" sz="3200" dirty="0"/>
          </a:p>
        </p:txBody>
      </p:sp>
      <p:sp>
        <p:nvSpPr>
          <p:cNvPr id="6" name="Shape 4"/>
          <p:cNvSpPr/>
          <p:nvPr/>
        </p:nvSpPr>
        <p:spPr>
          <a:xfrm>
            <a:off x="594360" y="1645920"/>
            <a:ext cx="10972800" cy="768096"/>
          </a:xfrm>
          <a:prstGeom prst="roundRect">
            <a:avLst>
              <a:gd name="adj" fmla="val 10714"/>
            </a:avLst>
          </a:prstGeom>
          <a:solidFill>
            <a:srgbClr val="1D1F2B"/>
          </a:solidFill>
          <a:ln w="12700">
            <a:solidFill>
              <a:srgbClr val="1D1F2B"/>
            </a:solidFill>
            <a:prstDash val="solid"/>
          </a:ln>
        </p:spPr>
        <p:txBody>
          <a:bodyPr/>
          <a:p/>
        </p:txBody>
      </p:sp>
      <p:sp>
        <p:nvSpPr>
          <p:cNvPr id="7" name="Shape 5"/>
          <p:cNvSpPr/>
          <p:nvPr/>
        </p:nvSpPr>
        <p:spPr>
          <a:xfrm>
            <a:off x="868680" y="1819656"/>
            <a:ext cx="420624" cy="420624"/>
          </a:xfrm>
          <a:prstGeom prst="ellipse">
            <a:avLst/>
          </a:prstGeom>
          <a:solidFill>
            <a:srgbClr val="FFC24B"/>
          </a:solidFill>
          <a:ln/>
        </p:spPr>
        <p:txBody>
          <a:bodyPr/>
          <a:p/>
        </p:txBody>
      </p:sp>
      <p:sp>
        <p:nvSpPr>
          <p:cNvPr id="8" name="Text 6"/>
          <p:cNvSpPr/>
          <p:nvPr/>
        </p:nvSpPr>
        <p:spPr>
          <a:xfrm>
            <a:off x="868680" y="181965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645920"/>
            <a:ext cx="9829800" cy="768096"/>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Venită acum o săptămână: o perfuzie cu un medicament pe care nu l-a mai administrat.</a:t>
            </a:r>
            <a:endParaRPr lang="en-US" sz="1600" dirty="0"/>
          </a:p>
        </p:txBody>
      </p:sp>
      <p:sp>
        <p:nvSpPr>
          <p:cNvPr id="10" name="Shape 8"/>
          <p:cNvSpPr/>
          <p:nvPr/>
        </p:nvSpPr>
        <p:spPr>
          <a:xfrm>
            <a:off x="594360" y="2542032"/>
            <a:ext cx="10972800" cy="768096"/>
          </a:xfrm>
          <a:prstGeom prst="roundRect">
            <a:avLst>
              <a:gd name="adj" fmla="val 10714"/>
            </a:avLst>
          </a:prstGeom>
          <a:solidFill>
            <a:srgbClr val="1D1F2B"/>
          </a:solidFill>
          <a:ln w="12700">
            <a:solidFill>
              <a:srgbClr val="1D1F2B"/>
            </a:solidFill>
            <a:prstDash val="solid"/>
          </a:ln>
        </p:spPr>
        <p:txBody>
          <a:bodyPr/>
          <a:p/>
        </p:txBody>
      </p:sp>
      <p:sp>
        <p:nvSpPr>
          <p:cNvPr id="11" name="Shape 9"/>
          <p:cNvSpPr/>
          <p:nvPr/>
        </p:nvSpPr>
        <p:spPr>
          <a:xfrm>
            <a:off x="868680" y="2715768"/>
            <a:ext cx="420624" cy="420624"/>
          </a:xfrm>
          <a:prstGeom prst="ellipse">
            <a:avLst/>
          </a:prstGeom>
          <a:solidFill>
            <a:srgbClr val="FFC24B"/>
          </a:solidFill>
          <a:ln/>
        </p:spPr>
        <p:txBody>
          <a:bodyPr/>
          <a:p/>
        </p:txBody>
      </p:sp>
      <p:sp>
        <p:nvSpPr>
          <p:cNvPr id="12" name="Text 10"/>
          <p:cNvSpPr/>
          <p:nvPr/>
        </p:nvSpPr>
        <p:spPr>
          <a:xfrm>
            <a:off x="868680" y="27157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542032"/>
            <a:ext cx="9829800" cy="768096"/>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Opt luni de practică: primele catetere urinare la pacienți dificili; dornic să învețe, dar mai greșește.</a:t>
            </a:r>
            <a:endParaRPr lang="en-US" sz="1600" dirty="0"/>
          </a:p>
        </p:txBody>
      </p:sp>
      <p:sp>
        <p:nvSpPr>
          <p:cNvPr id="14" name="Shape 12"/>
          <p:cNvSpPr/>
          <p:nvPr/>
        </p:nvSpPr>
        <p:spPr>
          <a:xfrm>
            <a:off x="594360" y="3438144"/>
            <a:ext cx="10972800" cy="768096"/>
          </a:xfrm>
          <a:prstGeom prst="roundRect">
            <a:avLst>
              <a:gd name="adj" fmla="val 10714"/>
            </a:avLst>
          </a:prstGeom>
          <a:solidFill>
            <a:srgbClr val="1D1F2B"/>
          </a:solidFill>
          <a:ln w="12700">
            <a:solidFill>
              <a:srgbClr val="1D1F2B"/>
            </a:solidFill>
            <a:prstDash val="solid"/>
          </a:ln>
        </p:spPr>
        <p:txBody>
          <a:bodyPr/>
          <a:p/>
        </p:txBody>
      </p:sp>
      <p:sp>
        <p:nvSpPr>
          <p:cNvPr id="15" name="Shape 13"/>
          <p:cNvSpPr/>
          <p:nvPr/>
        </p:nvSpPr>
        <p:spPr>
          <a:xfrm>
            <a:off x="868680" y="3611880"/>
            <a:ext cx="420624" cy="420624"/>
          </a:xfrm>
          <a:prstGeom prst="ellipse">
            <a:avLst/>
          </a:prstGeom>
          <a:solidFill>
            <a:srgbClr val="FFC24B"/>
          </a:solidFill>
          <a:ln/>
        </p:spPr>
        <p:txBody>
          <a:bodyPr/>
          <a:p/>
        </p:txBody>
      </p:sp>
      <p:sp>
        <p:nvSpPr>
          <p:cNvPr id="16" name="Text 14"/>
          <p:cNvSpPr/>
          <p:nvPr/>
        </p:nvSpPr>
        <p:spPr>
          <a:xfrm>
            <a:off x="868680" y="36118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438144"/>
            <a:ext cx="9829800" cy="768096"/>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Echipa experimentată trece la o fișă nouă de risc de cădere și se teme că îi ia timp.</a:t>
            </a:r>
            <a:endParaRPr lang="en-US" sz="1600" dirty="0"/>
          </a:p>
        </p:txBody>
      </p:sp>
      <p:sp>
        <p:nvSpPr>
          <p:cNvPr id="18" name="Shape 16"/>
          <p:cNvSpPr/>
          <p:nvPr/>
        </p:nvSpPr>
        <p:spPr>
          <a:xfrm>
            <a:off x="594360" y="4334256"/>
            <a:ext cx="10972800" cy="768096"/>
          </a:xfrm>
          <a:prstGeom prst="roundRect">
            <a:avLst>
              <a:gd name="adj" fmla="val 10714"/>
            </a:avLst>
          </a:prstGeom>
          <a:solidFill>
            <a:srgbClr val="1D1F2B"/>
          </a:solidFill>
          <a:ln w="12700">
            <a:solidFill>
              <a:srgbClr val="1D1F2B"/>
            </a:solidFill>
            <a:prstDash val="solid"/>
          </a:ln>
        </p:spPr>
        <p:txBody>
          <a:bodyPr/>
          <a:p/>
        </p:txBody>
      </p:sp>
      <p:sp>
        <p:nvSpPr>
          <p:cNvPr id="19" name="Shape 17"/>
          <p:cNvSpPr/>
          <p:nvPr/>
        </p:nvSpPr>
        <p:spPr>
          <a:xfrm>
            <a:off x="868680" y="4507992"/>
            <a:ext cx="420624" cy="420624"/>
          </a:xfrm>
          <a:prstGeom prst="ellipse">
            <a:avLst/>
          </a:prstGeom>
          <a:solidFill>
            <a:srgbClr val="FFC24B"/>
          </a:solidFill>
          <a:ln/>
        </p:spPr>
        <p:txBody>
          <a:bodyPr/>
          <a:p/>
        </p:txBody>
      </p:sp>
      <p:sp>
        <p:nvSpPr>
          <p:cNvPr id="20" name="Text 18"/>
          <p:cNvSpPr/>
          <p:nvPr/>
        </p:nvSpPr>
        <p:spPr>
          <a:xfrm>
            <a:off x="868680" y="45079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08760" y="4334256"/>
            <a:ext cx="9829800" cy="768096"/>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Doisprezece ani pe secție: coordonează instruirea colegilor pentru evaluarea ANMCS.</a:t>
            </a:r>
            <a:endParaRPr lang="en-US" sz="1600" dirty="0"/>
          </a:p>
        </p:txBody>
      </p:sp>
      <p:sp>
        <p:nvSpPr>
          <p:cNvPr id="22" name="Text 20"/>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Apoi votați pe telefon varianta care potrivește stilurile cu situațiile.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Directiv, de îndrumare, participativ, delegativ</a:t>
            </a:r>
            <a:endParaRPr lang="en-US" sz="2800" dirty="0"/>
          </a:p>
        </p:txBody>
      </p:sp>
      <p:sp>
        <p:nvSpPr>
          <p:cNvPr id="4" name="Shape 2"/>
          <p:cNvSpPr/>
          <p:nvPr/>
        </p:nvSpPr>
        <p:spPr>
          <a:xfrm>
            <a:off x="594360" y="1691640"/>
            <a:ext cx="2651760" cy="2651760"/>
          </a:xfrm>
          <a:prstGeom prst="roundRect">
            <a:avLst>
              <a:gd name="adj" fmla="val 3103"/>
            </a:avLst>
          </a:prstGeom>
          <a:solidFill>
            <a:srgbClr val="ECEAE4"/>
          </a:solidFill>
          <a:ln w="12700">
            <a:solidFill>
              <a:srgbClr val="ECEAE4"/>
            </a:solidFill>
            <a:prstDash val="solid"/>
          </a:ln>
        </p:spPr>
        <p:txBody>
          <a:bodyPr/>
          <a:p/>
        </p:txBody>
      </p:sp>
      <p:sp>
        <p:nvSpPr>
          <p:cNvPr id="5" name="Shape 3"/>
          <p:cNvSpPr/>
          <p:nvPr/>
        </p:nvSpPr>
        <p:spPr>
          <a:xfrm>
            <a:off x="594360" y="1691640"/>
            <a:ext cx="265176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892808"/>
            <a:ext cx="2194560" cy="6858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a · Directiv</a:t>
            </a:r>
            <a:endParaRPr lang="en-US" sz="1700" dirty="0"/>
          </a:p>
        </p:txBody>
      </p:sp>
      <p:sp>
        <p:nvSpPr>
          <p:cNvPr id="7" name="Text 5"/>
          <p:cNvSpPr/>
          <p:nvPr/>
        </p:nvSpPr>
        <p:spPr>
          <a:xfrm>
            <a:off x="822960" y="2560320"/>
            <a:ext cx="2194560" cy="1645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nu știe încă și nu este sigură pe sine</a:t>
            </a:r>
            <a:endParaRPr lang="en-US" sz="1600" dirty="0"/>
          </a:p>
        </p:txBody>
      </p:sp>
      <p:sp>
        <p:nvSpPr>
          <p:cNvPr id="8" name="Shape 6"/>
          <p:cNvSpPr/>
          <p:nvPr/>
        </p:nvSpPr>
        <p:spPr>
          <a:xfrm>
            <a:off x="3383280" y="1691640"/>
            <a:ext cx="2651760" cy="2651760"/>
          </a:xfrm>
          <a:prstGeom prst="roundRect">
            <a:avLst>
              <a:gd name="adj" fmla="val 3103"/>
            </a:avLst>
          </a:prstGeom>
          <a:solidFill>
            <a:srgbClr val="F9F8F5"/>
          </a:solidFill>
          <a:ln w="12700">
            <a:solidFill>
              <a:srgbClr val="F9F8F5"/>
            </a:solidFill>
            <a:prstDash val="solid"/>
          </a:ln>
        </p:spPr>
        <p:txBody>
          <a:bodyPr/>
          <a:p/>
        </p:txBody>
      </p:sp>
      <p:sp>
        <p:nvSpPr>
          <p:cNvPr id="9" name="Shape 7"/>
          <p:cNvSpPr/>
          <p:nvPr/>
        </p:nvSpPr>
        <p:spPr>
          <a:xfrm>
            <a:off x="3383280" y="1691640"/>
            <a:ext cx="2651760" cy="73152"/>
          </a:xfrm>
          <a:prstGeom prst="rect">
            <a:avLst/>
          </a:prstGeom>
          <a:solidFill>
            <a:srgbClr val="8A6100"/>
          </a:solidFill>
          <a:ln w="12700">
            <a:solidFill>
              <a:srgbClr val="8A6100"/>
            </a:solidFill>
            <a:prstDash val="solid"/>
          </a:ln>
        </p:spPr>
        <p:txBody>
          <a:bodyPr/>
          <a:p/>
        </p:txBody>
      </p:sp>
      <p:sp>
        <p:nvSpPr>
          <p:cNvPr id="10" name="Text 8"/>
          <p:cNvSpPr/>
          <p:nvPr/>
        </p:nvSpPr>
        <p:spPr>
          <a:xfrm>
            <a:off x="3611880" y="1892808"/>
            <a:ext cx="2194560" cy="685800"/>
          </a:xfrm>
          <a:prstGeom prst="rect">
            <a:avLst/>
          </a:prstGeom>
          <a:noFill/>
          <a:ln/>
        </p:spPr>
        <p:txBody>
          <a:bodyPr wrap="square" lIns="0" tIns="0" rIns="0" bIns="0" rtlCol="0" anchor="t"/>
          <a:lstStyle/>
          <a:p>
            <a:pPr indent="0" marL="0">
              <a:buNone/>
            </a:pPr>
            <a:r>
              <a:rPr lang="en-US" sz="1700" b="1" dirty="0">
                <a:solidFill>
                  <a:srgbClr val="8A6100"/>
                </a:solidFill>
                <a:latin typeface="Palatino Linotype" pitchFamily="34" charset="0"/>
                <a:ea typeface="Palatino Linotype" pitchFamily="34" charset="-122"/>
                <a:cs typeface="Palatino Linotype" pitchFamily="34" charset="-120"/>
              </a:rPr>
              <a:t>b · De îndrumare</a:t>
            </a:r>
            <a:endParaRPr lang="en-US" sz="1700" dirty="0"/>
          </a:p>
        </p:txBody>
      </p:sp>
      <p:sp>
        <p:nvSpPr>
          <p:cNvPr id="11" name="Text 9"/>
          <p:cNvSpPr/>
          <p:nvPr/>
        </p:nvSpPr>
        <p:spPr>
          <a:xfrm>
            <a:off x="3611880" y="2560320"/>
            <a:ext cx="2194560" cy="1645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vrea, dar nu știe încă destul</a:t>
            </a:r>
            <a:endParaRPr lang="en-US" sz="1600" dirty="0"/>
          </a:p>
        </p:txBody>
      </p:sp>
      <p:sp>
        <p:nvSpPr>
          <p:cNvPr id="12" name="Shape 10"/>
          <p:cNvSpPr/>
          <p:nvPr/>
        </p:nvSpPr>
        <p:spPr>
          <a:xfrm>
            <a:off x="6172200" y="1691640"/>
            <a:ext cx="2651760" cy="2651760"/>
          </a:xfrm>
          <a:prstGeom prst="roundRect">
            <a:avLst>
              <a:gd name="adj" fmla="val 3103"/>
            </a:avLst>
          </a:prstGeom>
          <a:solidFill>
            <a:srgbClr val="ECEAE4"/>
          </a:solidFill>
          <a:ln w="12700">
            <a:solidFill>
              <a:srgbClr val="ECEAE4"/>
            </a:solidFill>
            <a:prstDash val="solid"/>
          </a:ln>
        </p:spPr>
        <p:txBody>
          <a:bodyPr/>
          <a:p/>
        </p:txBody>
      </p:sp>
      <p:sp>
        <p:nvSpPr>
          <p:cNvPr id="13" name="Shape 11"/>
          <p:cNvSpPr/>
          <p:nvPr/>
        </p:nvSpPr>
        <p:spPr>
          <a:xfrm>
            <a:off x="6172200" y="1691640"/>
            <a:ext cx="2651760" cy="73152"/>
          </a:xfrm>
          <a:prstGeom prst="rect">
            <a:avLst/>
          </a:prstGeom>
          <a:solidFill>
            <a:srgbClr val="4A2D8C"/>
          </a:solidFill>
          <a:ln w="12700">
            <a:solidFill>
              <a:srgbClr val="4A2D8C"/>
            </a:solidFill>
            <a:prstDash val="solid"/>
          </a:ln>
        </p:spPr>
        <p:txBody>
          <a:bodyPr/>
          <a:p/>
        </p:txBody>
      </p:sp>
      <p:sp>
        <p:nvSpPr>
          <p:cNvPr id="14" name="Text 12"/>
          <p:cNvSpPr/>
          <p:nvPr/>
        </p:nvSpPr>
        <p:spPr>
          <a:xfrm>
            <a:off x="6400800" y="1892808"/>
            <a:ext cx="2194560" cy="685800"/>
          </a:xfrm>
          <a:prstGeom prst="rect">
            <a:avLst/>
          </a:prstGeom>
          <a:noFill/>
          <a:ln/>
        </p:spPr>
        <p:txBody>
          <a:bodyPr wrap="square" lIns="0" tIns="0" rIns="0" bIns="0" rtlCol="0" anchor="t"/>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c · Participativ</a:t>
            </a:r>
            <a:endParaRPr lang="en-US" sz="1700" dirty="0"/>
          </a:p>
        </p:txBody>
      </p:sp>
      <p:sp>
        <p:nvSpPr>
          <p:cNvPr id="15" name="Text 13"/>
          <p:cNvSpPr/>
          <p:nvPr/>
        </p:nvSpPr>
        <p:spPr>
          <a:xfrm>
            <a:off x="6400800" y="2560320"/>
            <a:ext cx="2194560" cy="1645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știe, dar ezită</a:t>
            </a:r>
            <a:endParaRPr lang="en-US" sz="1600" dirty="0"/>
          </a:p>
        </p:txBody>
      </p:sp>
      <p:sp>
        <p:nvSpPr>
          <p:cNvPr id="16" name="Shape 14"/>
          <p:cNvSpPr/>
          <p:nvPr/>
        </p:nvSpPr>
        <p:spPr>
          <a:xfrm>
            <a:off x="8961120" y="1691640"/>
            <a:ext cx="2651760" cy="2651760"/>
          </a:xfrm>
          <a:prstGeom prst="roundRect">
            <a:avLst>
              <a:gd name="adj" fmla="val 3103"/>
            </a:avLst>
          </a:prstGeom>
          <a:solidFill>
            <a:srgbClr val="F9F8F5"/>
          </a:solidFill>
          <a:ln w="12700">
            <a:solidFill>
              <a:srgbClr val="F9F8F5"/>
            </a:solidFill>
            <a:prstDash val="solid"/>
          </a:ln>
        </p:spPr>
        <p:txBody>
          <a:bodyPr/>
          <a:p/>
        </p:txBody>
      </p:sp>
      <p:sp>
        <p:nvSpPr>
          <p:cNvPr id="17" name="Shape 15"/>
          <p:cNvSpPr/>
          <p:nvPr/>
        </p:nvSpPr>
        <p:spPr>
          <a:xfrm>
            <a:off x="8961120" y="1691640"/>
            <a:ext cx="2651760" cy="73152"/>
          </a:xfrm>
          <a:prstGeom prst="rect">
            <a:avLst/>
          </a:prstGeom>
          <a:solidFill>
            <a:srgbClr val="B02532"/>
          </a:solidFill>
          <a:ln w="12700">
            <a:solidFill>
              <a:srgbClr val="B02532"/>
            </a:solidFill>
            <a:prstDash val="solid"/>
          </a:ln>
        </p:spPr>
        <p:txBody>
          <a:bodyPr/>
          <a:p/>
        </p:txBody>
      </p:sp>
      <p:sp>
        <p:nvSpPr>
          <p:cNvPr id="18" name="Text 16"/>
          <p:cNvSpPr/>
          <p:nvPr/>
        </p:nvSpPr>
        <p:spPr>
          <a:xfrm>
            <a:off x="9189720" y="1892808"/>
            <a:ext cx="2194560" cy="6858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d · Delegativ</a:t>
            </a:r>
            <a:endParaRPr lang="en-US" sz="1700" dirty="0"/>
          </a:p>
        </p:txBody>
      </p:sp>
      <p:sp>
        <p:nvSpPr>
          <p:cNvPr id="19" name="Text 17"/>
          <p:cNvSpPr/>
          <p:nvPr/>
        </p:nvSpPr>
        <p:spPr>
          <a:xfrm>
            <a:off x="9189720" y="2560320"/>
            <a:ext cx="2194560" cy="1645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știe și vrea</a:t>
            </a:r>
            <a:endParaRPr lang="en-US" sz="1600" dirty="0"/>
          </a:p>
        </p:txBody>
      </p:sp>
      <p:sp>
        <p:nvSpPr>
          <p:cNvPr id="20" name="Text 18"/>
          <p:cNvSpPr/>
          <p:nvPr/>
        </p:nvSpPr>
        <p:spPr>
          <a:xfrm>
            <a:off x="594360" y="4663440"/>
            <a:ext cx="10972800" cy="64008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Același om poate avea nevoie de stiluri diferite pentru sarcini diferite.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LIDERUL „ÎN SLUJBA CELORLALȚI” · GREENLEAF</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Întâi serviciul, apoi conducerea</a:t>
            </a:r>
            <a:endParaRPr lang="en-US" sz="3000" dirty="0"/>
          </a:p>
        </p:txBody>
      </p:sp>
      <p:sp>
        <p:nvSpPr>
          <p:cNvPr id="4" name="Shape 2"/>
          <p:cNvSpPr/>
          <p:nvPr/>
        </p:nvSpPr>
        <p:spPr>
          <a:xfrm>
            <a:off x="594360" y="1645920"/>
            <a:ext cx="6583680" cy="713232"/>
          </a:xfrm>
          <a:prstGeom prst="roundRect">
            <a:avLst>
              <a:gd name="adj" fmla="val 11538"/>
            </a:avLst>
          </a:prstGeom>
          <a:solidFill>
            <a:srgbClr val="ECEAE4"/>
          </a:solidFill>
          <a:ln w="12700">
            <a:solidFill>
              <a:srgbClr val="ECEAE4"/>
            </a:solidFill>
            <a:prstDash val="solid"/>
          </a:ln>
        </p:spPr>
        <p:txBody>
          <a:bodyPr/>
          <a:p/>
        </p:txBody>
      </p:sp>
      <p:sp>
        <p:nvSpPr>
          <p:cNvPr id="5" name="Shape 3"/>
          <p:cNvSpPr/>
          <p:nvPr/>
        </p:nvSpPr>
        <p:spPr>
          <a:xfrm>
            <a:off x="868680" y="1792224"/>
            <a:ext cx="420624" cy="420624"/>
          </a:xfrm>
          <a:prstGeom prst="ellipse">
            <a:avLst/>
          </a:prstGeom>
          <a:solidFill>
            <a:srgbClr val="0E7C6B"/>
          </a:solidFill>
          <a:ln/>
        </p:spPr>
        <p:txBody>
          <a:bodyPr/>
          <a:p/>
        </p:txBody>
      </p:sp>
      <p:sp>
        <p:nvSpPr>
          <p:cNvPr id="6" name="Text 4"/>
          <p:cNvSpPr/>
          <p:nvPr/>
        </p:nvSpPr>
        <p:spPr>
          <a:xfrm>
            <a:off x="868680" y="17922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45920"/>
            <a:ext cx="5440680" cy="71323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Serviciul înaintea interesului propriu</a:t>
            </a:r>
            <a:endParaRPr lang="en-US" sz="1700" dirty="0"/>
          </a:p>
        </p:txBody>
      </p:sp>
      <p:sp>
        <p:nvSpPr>
          <p:cNvPr id="8" name="Shape 6"/>
          <p:cNvSpPr/>
          <p:nvPr/>
        </p:nvSpPr>
        <p:spPr>
          <a:xfrm>
            <a:off x="594360" y="2487168"/>
            <a:ext cx="6583680" cy="713232"/>
          </a:xfrm>
          <a:prstGeom prst="roundRect">
            <a:avLst>
              <a:gd name="adj" fmla="val 11538"/>
            </a:avLst>
          </a:prstGeom>
          <a:solidFill>
            <a:srgbClr val="ECEAE4"/>
          </a:solidFill>
          <a:ln w="12700">
            <a:solidFill>
              <a:srgbClr val="ECEAE4"/>
            </a:solidFill>
            <a:prstDash val="solid"/>
          </a:ln>
        </p:spPr>
        <p:txBody>
          <a:bodyPr/>
          <a:p/>
        </p:txBody>
      </p:sp>
      <p:sp>
        <p:nvSpPr>
          <p:cNvPr id="9" name="Shape 7"/>
          <p:cNvSpPr/>
          <p:nvPr/>
        </p:nvSpPr>
        <p:spPr>
          <a:xfrm>
            <a:off x="868680" y="2633472"/>
            <a:ext cx="420624" cy="420624"/>
          </a:xfrm>
          <a:prstGeom prst="ellipse">
            <a:avLst/>
          </a:prstGeom>
          <a:solidFill>
            <a:srgbClr val="0E7C6B"/>
          </a:solidFill>
          <a:ln/>
        </p:spPr>
        <p:txBody>
          <a:bodyPr/>
          <a:p/>
        </p:txBody>
      </p:sp>
      <p:sp>
        <p:nvSpPr>
          <p:cNvPr id="10" name="Text 8"/>
          <p:cNvSpPr/>
          <p:nvPr/>
        </p:nvSpPr>
        <p:spPr>
          <a:xfrm>
            <a:off x="868680" y="26334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487168"/>
            <a:ext cx="5440680" cy="71323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Ascultarea celorlalți</a:t>
            </a:r>
            <a:endParaRPr lang="en-US" sz="1700" dirty="0"/>
          </a:p>
        </p:txBody>
      </p:sp>
      <p:sp>
        <p:nvSpPr>
          <p:cNvPr id="12" name="Shape 10"/>
          <p:cNvSpPr/>
          <p:nvPr/>
        </p:nvSpPr>
        <p:spPr>
          <a:xfrm>
            <a:off x="594360" y="3328416"/>
            <a:ext cx="6583680" cy="713232"/>
          </a:xfrm>
          <a:prstGeom prst="roundRect">
            <a:avLst>
              <a:gd name="adj" fmla="val 11538"/>
            </a:avLst>
          </a:prstGeom>
          <a:solidFill>
            <a:srgbClr val="ECEAE4"/>
          </a:solidFill>
          <a:ln w="12700">
            <a:solidFill>
              <a:srgbClr val="ECEAE4"/>
            </a:solidFill>
            <a:prstDash val="solid"/>
          </a:ln>
        </p:spPr>
        <p:txBody>
          <a:bodyPr/>
          <a:p/>
        </p:txBody>
      </p:sp>
      <p:sp>
        <p:nvSpPr>
          <p:cNvPr id="13" name="Shape 11"/>
          <p:cNvSpPr/>
          <p:nvPr/>
        </p:nvSpPr>
        <p:spPr>
          <a:xfrm>
            <a:off x="868680" y="3474720"/>
            <a:ext cx="420624" cy="420624"/>
          </a:xfrm>
          <a:prstGeom prst="ellipse">
            <a:avLst/>
          </a:prstGeom>
          <a:solidFill>
            <a:srgbClr val="0E7C6B"/>
          </a:solidFill>
          <a:ln/>
        </p:spPr>
        <p:txBody>
          <a:bodyPr/>
          <a:p/>
        </p:txBody>
      </p:sp>
      <p:sp>
        <p:nvSpPr>
          <p:cNvPr id="14" name="Text 12"/>
          <p:cNvSpPr/>
          <p:nvPr/>
        </p:nvSpPr>
        <p:spPr>
          <a:xfrm>
            <a:off x="868680" y="34747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328416"/>
            <a:ext cx="5440680" cy="71323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Câștigarea încrederii</a:t>
            </a:r>
            <a:endParaRPr lang="en-US" sz="1700" dirty="0"/>
          </a:p>
        </p:txBody>
      </p:sp>
      <p:sp>
        <p:nvSpPr>
          <p:cNvPr id="16" name="Shape 14"/>
          <p:cNvSpPr/>
          <p:nvPr/>
        </p:nvSpPr>
        <p:spPr>
          <a:xfrm>
            <a:off x="594360" y="4169664"/>
            <a:ext cx="6583680" cy="713232"/>
          </a:xfrm>
          <a:prstGeom prst="roundRect">
            <a:avLst>
              <a:gd name="adj" fmla="val 11538"/>
            </a:avLst>
          </a:prstGeom>
          <a:solidFill>
            <a:srgbClr val="ECEAE4"/>
          </a:solidFill>
          <a:ln w="12700">
            <a:solidFill>
              <a:srgbClr val="ECEAE4"/>
            </a:solidFill>
            <a:prstDash val="solid"/>
          </a:ln>
        </p:spPr>
        <p:txBody>
          <a:bodyPr/>
          <a:p/>
        </p:txBody>
      </p:sp>
      <p:sp>
        <p:nvSpPr>
          <p:cNvPr id="17" name="Shape 15"/>
          <p:cNvSpPr/>
          <p:nvPr/>
        </p:nvSpPr>
        <p:spPr>
          <a:xfrm>
            <a:off x="868680" y="4315968"/>
            <a:ext cx="420624" cy="420624"/>
          </a:xfrm>
          <a:prstGeom prst="ellipse">
            <a:avLst/>
          </a:prstGeom>
          <a:solidFill>
            <a:srgbClr val="0E7C6B"/>
          </a:solidFill>
          <a:ln/>
        </p:spPr>
        <p:txBody>
          <a:bodyPr/>
          <a:p/>
        </p:txBody>
      </p:sp>
      <p:sp>
        <p:nvSpPr>
          <p:cNvPr id="18" name="Text 16"/>
          <p:cNvSpPr/>
          <p:nvPr/>
        </p:nvSpPr>
        <p:spPr>
          <a:xfrm>
            <a:off x="868680" y="43159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4169664"/>
            <a:ext cx="5440680" cy="71323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Grija pentru dezvoltarea lor</a:t>
            </a:r>
            <a:endParaRPr lang="en-US" sz="1700" dirty="0"/>
          </a:p>
        </p:txBody>
      </p:sp>
      <p:sp>
        <p:nvSpPr>
          <p:cNvPr id="20" name="Shape 18"/>
          <p:cNvSpPr/>
          <p:nvPr/>
        </p:nvSpPr>
        <p:spPr>
          <a:xfrm>
            <a:off x="7406640" y="1645920"/>
            <a:ext cx="4160520" cy="1600200"/>
          </a:xfrm>
          <a:prstGeom prst="roundRect">
            <a:avLst>
              <a:gd name="adj" fmla="val 5143"/>
            </a:avLst>
          </a:prstGeom>
          <a:solidFill>
            <a:srgbClr val="ECEAE4"/>
          </a:solidFill>
          <a:ln w="12700">
            <a:solidFill>
              <a:srgbClr val="ECEAE4"/>
            </a:solidFill>
            <a:prstDash val="solid"/>
          </a:ln>
        </p:spPr>
        <p:txBody>
          <a:bodyPr/>
          <a:p/>
        </p:txBody>
      </p:sp>
      <p:sp>
        <p:nvSpPr>
          <p:cNvPr id="21" name="Shape 19"/>
          <p:cNvSpPr/>
          <p:nvPr/>
        </p:nvSpPr>
        <p:spPr>
          <a:xfrm>
            <a:off x="7406640" y="1645920"/>
            <a:ext cx="4160520" cy="73152"/>
          </a:xfrm>
          <a:prstGeom prst="rect">
            <a:avLst/>
          </a:prstGeom>
          <a:solidFill>
            <a:srgbClr val="8A6100"/>
          </a:solidFill>
          <a:ln w="12700">
            <a:solidFill>
              <a:srgbClr val="8A6100"/>
            </a:solidFill>
            <a:prstDash val="solid"/>
          </a:ln>
        </p:spPr>
        <p:txBody>
          <a:bodyPr/>
          <a:p/>
        </p:txBody>
      </p:sp>
      <p:sp>
        <p:nvSpPr>
          <p:cNvPr id="22" name="Text 20"/>
          <p:cNvSpPr/>
          <p:nvPr/>
        </p:nvSpPr>
        <p:spPr>
          <a:xfrm>
            <a:off x="7635240" y="1847088"/>
            <a:ext cx="3703320" cy="685800"/>
          </a:xfrm>
          <a:prstGeom prst="rect">
            <a:avLst/>
          </a:prstGeom>
          <a:noFill/>
          <a:ln/>
        </p:spPr>
        <p:txBody>
          <a:bodyPr wrap="square" lIns="0" tIns="0" rIns="0" bIns="0" rtlCol="0" anchor="t"/>
          <a:lstStyle/>
          <a:p>
            <a:pPr indent="0" marL="0">
              <a:buNone/>
            </a:pPr>
            <a:r>
              <a:rPr lang="en-US" sz="1700" b="1" dirty="0">
                <a:solidFill>
                  <a:srgbClr val="8A6100"/>
                </a:solidFill>
                <a:latin typeface="Palatino Linotype" pitchFamily="34" charset="0"/>
                <a:ea typeface="Palatino Linotype" pitchFamily="34" charset="-122"/>
                <a:cs typeface="Palatino Linotype" pitchFamily="34" charset="-120"/>
              </a:rPr>
              <a:t>Se potrivește</a:t>
            </a:r>
            <a:endParaRPr lang="en-US" sz="1700" dirty="0"/>
          </a:p>
        </p:txBody>
      </p:sp>
      <p:sp>
        <p:nvSpPr>
          <p:cNvPr id="23" name="Text 21"/>
          <p:cNvSpPr/>
          <p:nvPr/>
        </p:nvSpPr>
        <p:spPr>
          <a:xfrm>
            <a:off x="7635240" y="2514600"/>
            <a:ext cx="3703320" cy="5943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echipelor mature, îngrijirilor paliative, îndrumării colegilor noi</a:t>
            </a:r>
            <a:endParaRPr lang="en-US" sz="1500" dirty="0"/>
          </a:p>
        </p:txBody>
      </p:sp>
      <p:sp>
        <p:nvSpPr>
          <p:cNvPr id="24" name="Shape 22"/>
          <p:cNvSpPr/>
          <p:nvPr/>
        </p:nvSpPr>
        <p:spPr>
          <a:xfrm>
            <a:off x="7406640" y="3383280"/>
            <a:ext cx="4160520" cy="1600200"/>
          </a:xfrm>
          <a:prstGeom prst="roundRect">
            <a:avLst>
              <a:gd name="adj" fmla="val 5143"/>
            </a:avLst>
          </a:prstGeom>
          <a:solidFill>
            <a:srgbClr val="F9F8F5"/>
          </a:solidFill>
          <a:ln w="12700">
            <a:solidFill>
              <a:srgbClr val="F9F8F5"/>
            </a:solidFill>
            <a:prstDash val="solid"/>
          </a:ln>
        </p:spPr>
        <p:txBody>
          <a:bodyPr/>
          <a:p/>
        </p:txBody>
      </p:sp>
      <p:sp>
        <p:nvSpPr>
          <p:cNvPr id="25" name="Shape 23"/>
          <p:cNvSpPr/>
          <p:nvPr/>
        </p:nvSpPr>
        <p:spPr>
          <a:xfrm>
            <a:off x="7406640" y="3383280"/>
            <a:ext cx="4160520" cy="73152"/>
          </a:xfrm>
          <a:prstGeom prst="rect">
            <a:avLst/>
          </a:prstGeom>
          <a:solidFill>
            <a:srgbClr val="B02532"/>
          </a:solidFill>
          <a:ln w="12700">
            <a:solidFill>
              <a:srgbClr val="B02532"/>
            </a:solidFill>
            <a:prstDash val="solid"/>
          </a:ln>
        </p:spPr>
        <p:txBody>
          <a:bodyPr/>
          <a:p/>
        </p:txBody>
      </p:sp>
      <p:sp>
        <p:nvSpPr>
          <p:cNvPr id="26" name="Text 24"/>
          <p:cNvSpPr/>
          <p:nvPr/>
        </p:nvSpPr>
        <p:spPr>
          <a:xfrm>
            <a:off x="7635240" y="3584448"/>
            <a:ext cx="3703320" cy="6858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Limita</a:t>
            </a:r>
            <a:endParaRPr lang="en-US" sz="1700" dirty="0"/>
          </a:p>
        </p:txBody>
      </p:sp>
      <p:sp>
        <p:nvSpPr>
          <p:cNvPr id="27" name="Text 25"/>
          <p:cNvSpPr/>
          <p:nvPr/>
        </p:nvSpPr>
        <p:spPr>
          <a:xfrm>
            <a:off x="7635240" y="4251960"/>
            <a:ext cx="3703320" cy="5943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viteza: în urgență nu este timp</a:t>
            </a:r>
            <a:endParaRPr lang="en-US" sz="1500" dirty="0"/>
          </a:p>
        </p:txBody>
      </p:sp>
      <p:sp>
        <p:nvSpPr>
          <p:cNvPr id="28" name="Text 26"/>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OpenStax, 2019 (registru A1005); potrivirea și limita: sinteză didactică.</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SINTEZĂ DIDACTICĂ DUPĂ DECUL CURSULUI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Trei stiluri de leadership, comparate</a:t>
            </a:r>
            <a:endParaRPr lang="en-US" sz="3000" dirty="0"/>
          </a:p>
        </p:txBody>
      </p:sp>
      <p:sp>
        <p:nvSpPr>
          <p:cNvPr id="4" name="Shape 2"/>
          <p:cNvSpPr/>
          <p:nvPr/>
        </p:nvSpPr>
        <p:spPr>
          <a:xfrm>
            <a:off x="3063240" y="1645920"/>
            <a:ext cx="2715768" cy="658368"/>
          </a:xfrm>
          <a:prstGeom prst="roundRect">
            <a:avLst>
              <a:gd name="adj" fmla="val 12500"/>
            </a:avLst>
          </a:prstGeom>
          <a:solidFill>
            <a:srgbClr val="0E7C6B"/>
          </a:solidFill>
          <a:ln w="12700">
            <a:solidFill>
              <a:srgbClr val="0E7C6B"/>
            </a:solidFill>
            <a:prstDash val="solid"/>
          </a:ln>
        </p:spPr>
        <p:txBody>
          <a:bodyPr/>
          <a:p/>
        </p:txBody>
      </p:sp>
      <p:sp>
        <p:nvSpPr>
          <p:cNvPr id="5" name="Text 3"/>
          <p:cNvSpPr/>
          <p:nvPr/>
        </p:nvSpPr>
        <p:spPr>
          <a:xfrm>
            <a:off x="3200400" y="1645920"/>
            <a:ext cx="2468880" cy="658368"/>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Transformațional</a:t>
            </a:r>
            <a:endParaRPr lang="en-US" sz="1500" dirty="0"/>
          </a:p>
        </p:txBody>
      </p:sp>
      <p:sp>
        <p:nvSpPr>
          <p:cNvPr id="6" name="Shape 4"/>
          <p:cNvSpPr/>
          <p:nvPr/>
        </p:nvSpPr>
        <p:spPr>
          <a:xfrm>
            <a:off x="5943600" y="1645920"/>
            <a:ext cx="2670048" cy="658368"/>
          </a:xfrm>
          <a:prstGeom prst="roundRect">
            <a:avLst>
              <a:gd name="adj" fmla="val 12500"/>
            </a:avLst>
          </a:prstGeom>
          <a:solidFill>
            <a:srgbClr val="0E7C6B"/>
          </a:solidFill>
          <a:ln w="12700">
            <a:solidFill>
              <a:srgbClr val="0E7C6B"/>
            </a:solidFill>
            <a:prstDash val="solid"/>
          </a:ln>
        </p:spPr>
        <p:txBody>
          <a:bodyPr/>
          <a:p/>
        </p:txBody>
      </p:sp>
      <p:sp>
        <p:nvSpPr>
          <p:cNvPr id="7" name="Text 5"/>
          <p:cNvSpPr/>
          <p:nvPr/>
        </p:nvSpPr>
        <p:spPr>
          <a:xfrm>
            <a:off x="6080760" y="1645920"/>
            <a:ext cx="2423160" cy="658368"/>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Situațional</a:t>
            </a:r>
            <a:endParaRPr lang="en-US" sz="1500" dirty="0"/>
          </a:p>
        </p:txBody>
      </p:sp>
      <p:sp>
        <p:nvSpPr>
          <p:cNvPr id="8" name="Shape 6"/>
          <p:cNvSpPr/>
          <p:nvPr/>
        </p:nvSpPr>
        <p:spPr>
          <a:xfrm>
            <a:off x="8778240" y="1645920"/>
            <a:ext cx="2715768" cy="658368"/>
          </a:xfrm>
          <a:prstGeom prst="roundRect">
            <a:avLst>
              <a:gd name="adj" fmla="val 12500"/>
            </a:avLst>
          </a:prstGeom>
          <a:solidFill>
            <a:srgbClr val="0E7C6B"/>
          </a:solidFill>
          <a:ln w="12700">
            <a:solidFill>
              <a:srgbClr val="0E7C6B"/>
            </a:solidFill>
            <a:prstDash val="solid"/>
          </a:ln>
        </p:spPr>
        <p:txBody>
          <a:bodyPr/>
          <a:p/>
        </p:txBody>
      </p:sp>
      <p:sp>
        <p:nvSpPr>
          <p:cNvPr id="9" name="Text 7"/>
          <p:cNvSpPr/>
          <p:nvPr/>
        </p:nvSpPr>
        <p:spPr>
          <a:xfrm>
            <a:off x="8915400" y="1645920"/>
            <a:ext cx="2468880" cy="658368"/>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„În slujba celorlalți”</a:t>
            </a:r>
            <a:endParaRPr lang="en-US" sz="1500" dirty="0"/>
          </a:p>
        </p:txBody>
      </p:sp>
      <p:sp>
        <p:nvSpPr>
          <p:cNvPr id="10" name="Shape 8"/>
          <p:cNvSpPr/>
          <p:nvPr/>
        </p:nvSpPr>
        <p:spPr>
          <a:xfrm>
            <a:off x="594360" y="2395728"/>
            <a:ext cx="2304288" cy="658368"/>
          </a:xfrm>
          <a:prstGeom prst="roundRect">
            <a:avLst>
              <a:gd name="adj" fmla="val 12500"/>
            </a:avLst>
          </a:prstGeom>
          <a:solidFill>
            <a:srgbClr val="F9F8F5"/>
          </a:solidFill>
          <a:ln w="12700">
            <a:solidFill>
              <a:srgbClr val="F9F8F5"/>
            </a:solidFill>
            <a:prstDash val="solid"/>
          </a:ln>
        </p:spPr>
        <p:txBody>
          <a:bodyPr/>
          <a:p/>
        </p:txBody>
      </p:sp>
      <p:sp>
        <p:nvSpPr>
          <p:cNvPr id="11" name="Text 9"/>
          <p:cNvSpPr/>
          <p:nvPr/>
        </p:nvSpPr>
        <p:spPr>
          <a:xfrm>
            <a:off x="731520" y="2395728"/>
            <a:ext cx="2057400" cy="658368"/>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Urmărește</a:t>
            </a:r>
            <a:endParaRPr lang="en-US" sz="1450" dirty="0"/>
          </a:p>
        </p:txBody>
      </p:sp>
      <p:sp>
        <p:nvSpPr>
          <p:cNvPr id="12" name="Shape 10"/>
          <p:cNvSpPr/>
          <p:nvPr/>
        </p:nvSpPr>
        <p:spPr>
          <a:xfrm>
            <a:off x="3063240" y="2395728"/>
            <a:ext cx="2715768" cy="658368"/>
          </a:xfrm>
          <a:prstGeom prst="roundRect">
            <a:avLst>
              <a:gd name="adj" fmla="val 12500"/>
            </a:avLst>
          </a:prstGeom>
          <a:solidFill>
            <a:srgbClr val="ECEAE4"/>
          </a:solidFill>
          <a:ln w="12700">
            <a:solidFill>
              <a:srgbClr val="ECEAE4"/>
            </a:solidFill>
            <a:prstDash val="solid"/>
          </a:ln>
        </p:spPr>
        <p:txBody>
          <a:bodyPr/>
          <a:p/>
        </p:txBody>
      </p:sp>
      <p:sp>
        <p:nvSpPr>
          <p:cNvPr id="13" name="Text 11"/>
          <p:cNvSpPr/>
          <p:nvPr/>
        </p:nvSpPr>
        <p:spPr>
          <a:xfrm>
            <a:off x="3200400" y="2395728"/>
            <a:ext cx="2468880" cy="658368"/>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viziunea, inspirarea</a:t>
            </a:r>
            <a:endParaRPr lang="en-US" sz="1450" dirty="0"/>
          </a:p>
        </p:txBody>
      </p:sp>
      <p:sp>
        <p:nvSpPr>
          <p:cNvPr id="14" name="Shape 12"/>
          <p:cNvSpPr/>
          <p:nvPr/>
        </p:nvSpPr>
        <p:spPr>
          <a:xfrm>
            <a:off x="5943600" y="2395728"/>
            <a:ext cx="2670048" cy="658368"/>
          </a:xfrm>
          <a:prstGeom prst="roundRect">
            <a:avLst>
              <a:gd name="adj" fmla="val 12500"/>
            </a:avLst>
          </a:prstGeom>
          <a:solidFill>
            <a:srgbClr val="ECEAE4"/>
          </a:solidFill>
          <a:ln w="12700">
            <a:solidFill>
              <a:srgbClr val="ECEAE4"/>
            </a:solidFill>
            <a:prstDash val="solid"/>
          </a:ln>
        </p:spPr>
        <p:txBody>
          <a:bodyPr/>
          <a:p/>
        </p:txBody>
      </p:sp>
      <p:sp>
        <p:nvSpPr>
          <p:cNvPr id="15" name="Text 13"/>
          <p:cNvSpPr/>
          <p:nvPr/>
        </p:nvSpPr>
        <p:spPr>
          <a:xfrm>
            <a:off x="6080760" y="2395728"/>
            <a:ext cx="2423160" cy="658368"/>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potrivirea stilului cu omul</a:t>
            </a:r>
            <a:endParaRPr lang="en-US" sz="1450" dirty="0"/>
          </a:p>
        </p:txBody>
      </p:sp>
      <p:sp>
        <p:nvSpPr>
          <p:cNvPr id="16" name="Shape 14"/>
          <p:cNvSpPr/>
          <p:nvPr/>
        </p:nvSpPr>
        <p:spPr>
          <a:xfrm>
            <a:off x="8778240" y="2395728"/>
            <a:ext cx="2715768" cy="658368"/>
          </a:xfrm>
          <a:prstGeom prst="roundRect">
            <a:avLst>
              <a:gd name="adj" fmla="val 12500"/>
            </a:avLst>
          </a:prstGeom>
          <a:solidFill>
            <a:srgbClr val="ECEAE4"/>
          </a:solidFill>
          <a:ln w="12700">
            <a:solidFill>
              <a:srgbClr val="ECEAE4"/>
            </a:solidFill>
            <a:prstDash val="solid"/>
          </a:ln>
        </p:spPr>
        <p:txBody>
          <a:bodyPr/>
          <a:p/>
        </p:txBody>
      </p:sp>
      <p:sp>
        <p:nvSpPr>
          <p:cNvPr id="17" name="Text 15"/>
          <p:cNvSpPr/>
          <p:nvPr/>
        </p:nvSpPr>
        <p:spPr>
          <a:xfrm>
            <a:off x="8915400" y="2395728"/>
            <a:ext cx="2468880" cy="658368"/>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binele celorlalți</a:t>
            </a:r>
            <a:endParaRPr lang="en-US" sz="1450" dirty="0"/>
          </a:p>
        </p:txBody>
      </p:sp>
      <p:sp>
        <p:nvSpPr>
          <p:cNvPr id="18" name="Shape 16"/>
          <p:cNvSpPr/>
          <p:nvPr/>
        </p:nvSpPr>
        <p:spPr>
          <a:xfrm>
            <a:off x="594360" y="3145536"/>
            <a:ext cx="2304288" cy="658368"/>
          </a:xfrm>
          <a:prstGeom prst="roundRect">
            <a:avLst>
              <a:gd name="adj" fmla="val 12500"/>
            </a:avLst>
          </a:prstGeom>
          <a:solidFill>
            <a:srgbClr val="F9F8F5"/>
          </a:solidFill>
          <a:ln w="12700">
            <a:solidFill>
              <a:srgbClr val="F9F8F5"/>
            </a:solidFill>
            <a:prstDash val="solid"/>
          </a:ln>
        </p:spPr>
        <p:txBody>
          <a:bodyPr/>
          <a:p/>
        </p:txBody>
      </p:sp>
      <p:sp>
        <p:nvSpPr>
          <p:cNvPr id="19" name="Text 17"/>
          <p:cNvSpPr/>
          <p:nvPr/>
        </p:nvSpPr>
        <p:spPr>
          <a:xfrm>
            <a:off x="731520" y="3145536"/>
            <a:ext cx="2057400" cy="658368"/>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Se potrivește</a:t>
            </a:r>
            <a:endParaRPr lang="en-US" sz="1450" dirty="0"/>
          </a:p>
        </p:txBody>
      </p:sp>
      <p:sp>
        <p:nvSpPr>
          <p:cNvPr id="20" name="Shape 18"/>
          <p:cNvSpPr/>
          <p:nvPr/>
        </p:nvSpPr>
        <p:spPr>
          <a:xfrm>
            <a:off x="3063240" y="3145536"/>
            <a:ext cx="2715768" cy="658368"/>
          </a:xfrm>
          <a:prstGeom prst="roundRect">
            <a:avLst>
              <a:gd name="adj" fmla="val 12500"/>
            </a:avLst>
          </a:prstGeom>
          <a:solidFill>
            <a:srgbClr val="ECEAE4"/>
          </a:solidFill>
          <a:ln w="12700">
            <a:solidFill>
              <a:srgbClr val="ECEAE4"/>
            </a:solidFill>
            <a:prstDash val="solid"/>
          </a:ln>
        </p:spPr>
        <p:txBody>
          <a:bodyPr/>
          <a:p/>
        </p:txBody>
      </p:sp>
      <p:sp>
        <p:nvSpPr>
          <p:cNvPr id="21" name="Text 19"/>
          <p:cNvSpPr/>
          <p:nvPr/>
        </p:nvSpPr>
        <p:spPr>
          <a:xfrm>
            <a:off x="3200400" y="3145536"/>
            <a:ext cx="2468880" cy="658368"/>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schimbării, crizei</a:t>
            </a:r>
            <a:endParaRPr lang="en-US" sz="1450" dirty="0"/>
          </a:p>
        </p:txBody>
      </p:sp>
      <p:sp>
        <p:nvSpPr>
          <p:cNvPr id="22" name="Shape 20"/>
          <p:cNvSpPr/>
          <p:nvPr/>
        </p:nvSpPr>
        <p:spPr>
          <a:xfrm>
            <a:off x="5943600" y="3145536"/>
            <a:ext cx="2670048" cy="658368"/>
          </a:xfrm>
          <a:prstGeom prst="roundRect">
            <a:avLst>
              <a:gd name="adj" fmla="val 12500"/>
            </a:avLst>
          </a:prstGeom>
          <a:solidFill>
            <a:srgbClr val="ECEAE4"/>
          </a:solidFill>
          <a:ln w="12700">
            <a:solidFill>
              <a:srgbClr val="ECEAE4"/>
            </a:solidFill>
            <a:prstDash val="solid"/>
          </a:ln>
        </p:spPr>
        <p:txBody>
          <a:bodyPr/>
          <a:p/>
        </p:txBody>
      </p:sp>
      <p:sp>
        <p:nvSpPr>
          <p:cNvPr id="23" name="Text 21"/>
          <p:cNvSpPr/>
          <p:nvPr/>
        </p:nvSpPr>
        <p:spPr>
          <a:xfrm>
            <a:off x="6080760" y="3145536"/>
            <a:ext cx="2423160" cy="658368"/>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aproape oriunde</a:t>
            </a:r>
            <a:endParaRPr lang="en-US" sz="1450" dirty="0"/>
          </a:p>
        </p:txBody>
      </p:sp>
      <p:sp>
        <p:nvSpPr>
          <p:cNvPr id="24" name="Shape 22"/>
          <p:cNvSpPr/>
          <p:nvPr/>
        </p:nvSpPr>
        <p:spPr>
          <a:xfrm>
            <a:off x="8778240" y="3145536"/>
            <a:ext cx="2715768" cy="658368"/>
          </a:xfrm>
          <a:prstGeom prst="roundRect">
            <a:avLst>
              <a:gd name="adj" fmla="val 12500"/>
            </a:avLst>
          </a:prstGeom>
          <a:solidFill>
            <a:srgbClr val="ECEAE4"/>
          </a:solidFill>
          <a:ln w="12700">
            <a:solidFill>
              <a:srgbClr val="ECEAE4"/>
            </a:solidFill>
            <a:prstDash val="solid"/>
          </a:ln>
        </p:spPr>
        <p:txBody>
          <a:bodyPr/>
          <a:p/>
        </p:txBody>
      </p:sp>
      <p:sp>
        <p:nvSpPr>
          <p:cNvPr id="25" name="Text 23"/>
          <p:cNvSpPr/>
          <p:nvPr/>
        </p:nvSpPr>
        <p:spPr>
          <a:xfrm>
            <a:off x="8915400" y="3145536"/>
            <a:ext cx="2468880" cy="658368"/>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echipelor mature</a:t>
            </a:r>
            <a:endParaRPr lang="en-US" sz="1450" dirty="0"/>
          </a:p>
        </p:txBody>
      </p:sp>
      <p:sp>
        <p:nvSpPr>
          <p:cNvPr id="26" name="Shape 24"/>
          <p:cNvSpPr/>
          <p:nvPr/>
        </p:nvSpPr>
        <p:spPr>
          <a:xfrm>
            <a:off x="594360" y="3895344"/>
            <a:ext cx="2304288" cy="658368"/>
          </a:xfrm>
          <a:prstGeom prst="roundRect">
            <a:avLst>
              <a:gd name="adj" fmla="val 12500"/>
            </a:avLst>
          </a:prstGeom>
          <a:solidFill>
            <a:srgbClr val="F9F8F5"/>
          </a:solidFill>
          <a:ln w="12700">
            <a:solidFill>
              <a:srgbClr val="F9F8F5"/>
            </a:solidFill>
            <a:prstDash val="solid"/>
          </a:ln>
        </p:spPr>
        <p:txBody>
          <a:bodyPr/>
          <a:p/>
        </p:txBody>
      </p:sp>
      <p:sp>
        <p:nvSpPr>
          <p:cNvPr id="27" name="Text 25"/>
          <p:cNvSpPr/>
          <p:nvPr/>
        </p:nvSpPr>
        <p:spPr>
          <a:xfrm>
            <a:off x="731520" y="3895344"/>
            <a:ext cx="2057400" cy="658368"/>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Punct tare</a:t>
            </a:r>
            <a:endParaRPr lang="en-US" sz="1450" dirty="0"/>
          </a:p>
        </p:txBody>
      </p:sp>
      <p:sp>
        <p:nvSpPr>
          <p:cNvPr id="28" name="Shape 26"/>
          <p:cNvSpPr/>
          <p:nvPr/>
        </p:nvSpPr>
        <p:spPr>
          <a:xfrm>
            <a:off x="3063240" y="3895344"/>
            <a:ext cx="2715768" cy="658368"/>
          </a:xfrm>
          <a:prstGeom prst="roundRect">
            <a:avLst>
              <a:gd name="adj" fmla="val 12500"/>
            </a:avLst>
          </a:prstGeom>
          <a:solidFill>
            <a:srgbClr val="ECEAE4"/>
          </a:solidFill>
          <a:ln w="12700">
            <a:solidFill>
              <a:srgbClr val="ECEAE4"/>
            </a:solidFill>
            <a:prstDash val="solid"/>
          </a:ln>
        </p:spPr>
        <p:txBody>
          <a:bodyPr/>
          <a:p/>
        </p:txBody>
      </p:sp>
      <p:sp>
        <p:nvSpPr>
          <p:cNvPr id="29" name="Text 27"/>
          <p:cNvSpPr/>
          <p:nvPr/>
        </p:nvSpPr>
        <p:spPr>
          <a:xfrm>
            <a:off x="3200400" y="3895344"/>
            <a:ext cx="2468880" cy="658368"/>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angajament, inovație</a:t>
            </a:r>
            <a:endParaRPr lang="en-US" sz="1450" dirty="0"/>
          </a:p>
        </p:txBody>
      </p:sp>
      <p:sp>
        <p:nvSpPr>
          <p:cNvPr id="30" name="Shape 28"/>
          <p:cNvSpPr/>
          <p:nvPr/>
        </p:nvSpPr>
        <p:spPr>
          <a:xfrm>
            <a:off x="5943600" y="3895344"/>
            <a:ext cx="2670048" cy="658368"/>
          </a:xfrm>
          <a:prstGeom prst="roundRect">
            <a:avLst>
              <a:gd name="adj" fmla="val 12500"/>
            </a:avLst>
          </a:prstGeom>
          <a:solidFill>
            <a:srgbClr val="ECEAE4"/>
          </a:solidFill>
          <a:ln w="12700">
            <a:solidFill>
              <a:srgbClr val="ECEAE4"/>
            </a:solidFill>
            <a:prstDash val="solid"/>
          </a:ln>
        </p:spPr>
        <p:txBody>
          <a:bodyPr/>
          <a:p/>
        </p:txBody>
      </p:sp>
      <p:sp>
        <p:nvSpPr>
          <p:cNvPr id="31" name="Text 29"/>
          <p:cNvSpPr/>
          <p:nvPr/>
        </p:nvSpPr>
        <p:spPr>
          <a:xfrm>
            <a:off x="6080760" y="3895344"/>
            <a:ext cx="2423160" cy="658368"/>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flexibilitate</a:t>
            </a:r>
            <a:endParaRPr lang="en-US" sz="1450" dirty="0"/>
          </a:p>
        </p:txBody>
      </p:sp>
      <p:sp>
        <p:nvSpPr>
          <p:cNvPr id="32" name="Shape 30"/>
          <p:cNvSpPr/>
          <p:nvPr/>
        </p:nvSpPr>
        <p:spPr>
          <a:xfrm>
            <a:off x="8778240" y="3895344"/>
            <a:ext cx="2715768" cy="658368"/>
          </a:xfrm>
          <a:prstGeom prst="roundRect">
            <a:avLst>
              <a:gd name="adj" fmla="val 12500"/>
            </a:avLst>
          </a:prstGeom>
          <a:solidFill>
            <a:srgbClr val="ECEAE4"/>
          </a:solidFill>
          <a:ln w="12700">
            <a:solidFill>
              <a:srgbClr val="ECEAE4"/>
            </a:solidFill>
            <a:prstDash val="solid"/>
          </a:ln>
        </p:spPr>
        <p:txBody>
          <a:bodyPr/>
          <a:p/>
        </p:txBody>
      </p:sp>
      <p:sp>
        <p:nvSpPr>
          <p:cNvPr id="33" name="Text 31"/>
          <p:cNvSpPr/>
          <p:nvPr/>
        </p:nvSpPr>
        <p:spPr>
          <a:xfrm>
            <a:off x="8915400" y="3895344"/>
            <a:ext cx="2468880" cy="658368"/>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încredere, loialitate</a:t>
            </a:r>
            <a:endParaRPr lang="en-US" sz="1450" dirty="0"/>
          </a:p>
        </p:txBody>
      </p:sp>
      <p:sp>
        <p:nvSpPr>
          <p:cNvPr id="34" name="Shape 32"/>
          <p:cNvSpPr/>
          <p:nvPr/>
        </p:nvSpPr>
        <p:spPr>
          <a:xfrm>
            <a:off x="594360" y="4645152"/>
            <a:ext cx="2304288" cy="658368"/>
          </a:xfrm>
          <a:prstGeom prst="roundRect">
            <a:avLst>
              <a:gd name="adj" fmla="val 12500"/>
            </a:avLst>
          </a:prstGeom>
          <a:solidFill>
            <a:srgbClr val="F9F8F5"/>
          </a:solidFill>
          <a:ln w="12700">
            <a:solidFill>
              <a:srgbClr val="F9F8F5"/>
            </a:solidFill>
            <a:prstDash val="solid"/>
          </a:ln>
        </p:spPr>
        <p:txBody>
          <a:bodyPr/>
          <a:p/>
        </p:txBody>
      </p:sp>
      <p:sp>
        <p:nvSpPr>
          <p:cNvPr id="35" name="Text 33"/>
          <p:cNvSpPr/>
          <p:nvPr/>
        </p:nvSpPr>
        <p:spPr>
          <a:xfrm>
            <a:off x="731520" y="4645152"/>
            <a:ext cx="2057400" cy="658368"/>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Limită</a:t>
            </a:r>
            <a:endParaRPr lang="en-US" sz="1450" dirty="0"/>
          </a:p>
        </p:txBody>
      </p:sp>
      <p:sp>
        <p:nvSpPr>
          <p:cNvPr id="36" name="Shape 34"/>
          <p:cNvSpPr/>
          <p:nvPr/>
        </p:nvSpPr>
        <p:spPr>
          <a:xfrm>
            <a:off x="3063240" y="4645152"/>
            <a:ext cx="2715768" cy="658368"/>
          </a:xfrm>
          <a:prstGeom prst="roundRect">
            <a:avLst>
              <a:gd name="adj" fmla="val 12500"/>
            </a:avLst>
          </a:prstGeom>
          <a:solidFill>
            <a:srgbClr val="ECEAE4"/>
          </a:solidFill>
          <a:ln w="12700">
            <a:solidFill>
              <a:srgbClr val="ECEAE4"/>
            </a:solidFill>
            <a:prstDash val="solid"/>
          </a:ln>
        </p:spPr>
        <p:txBody>
          <a:bodyPr/>
          <a:p/>
        </p:txBody>
      </p:sp>
      <p:sp>
        <p:nvSpPr>
          <p:cNvPr id="37" name="Text 35"/>
          <p:cNvSpPr/>
          <p:nvPr/>
        </p:nvSpPr>
        <p:spPr>
          <a:xfrm>
            <a:off x="3200400" y="4645152"/>
            <a:ext cx="2468880" cy="658368"/>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dependența de lider</a:t>
            </a:r>
            <a:endParaRPr lang="en-US" sz="1450" dirty="0"/>
          </a:p>
        </p:txBody>
      </p:sp>
      <p:sp>
        <p:nvSpPr>
          <p:cNvPr id="38" name="Shape 36"/>
          <p:cNvSpPr/>
          <p:nvPr/>
        </p:nvSpPr>
        <p:spPr>
          <a:xfrm>
            <a:off x="5943600" y="4645152"/>
            <a:ext cx="2670048" cy="658368"/>
          </a:xfrm>
          <a:prstGeom prst="roundRect">
            <a:avLst>
              <a:gd name="adj" fmla="val 12500"/>
            </a:avLst>
          </a:prstGeom>
          <a:solidFill>
            <a:srgbClr val="ECEAE4"/>
          </a:solidFill>
          <a:ln w="12700">
            <a:solidFill>
              <a:srgbClr val="ECEAE4"/>
            </a:solidFill>
            <a:prstDash val="solid"/>
          </a:ln>
        </p:spPr>
        <p:txBody>
          <a:bodyPr/>
          <a:p/>
        </p:txBody>
      </p:sp>
      <p:sp>
        <p:nvSpPr>
          <p:cNvPr id="39" name="Text 37"/>
          <p:cNvSpPr/>
          <p:nvPr/>
        </p:nvSpPr>
        <p:spPr>
          <a:xfrm>
            <a:off x="6080760" y="4645152"/>
            <a:ext cx="2423160" cy="658368"/>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evaluarea continuă</a:t>
            </a:r>
            <a:endParaRPr lang="en-US" sz="1450" dirty="0"/>
          </a:p>
        </p:txBody>
      </p:sp>
      <p:sp>
        <p:nvSpPr>
          <p:cNvPr id="40" name="Shape 38"/>
          <p:cNvSpPr/>
          <p:nvPr/>
        </p:nvSpPr>
        <p:spPr>
          <a:xfrm>
            <a:off x="8778240" y="4645152"/>
            <a:ext cx="2715768" cy="658368"/>
          </a:xfrm>
          <a:prstGeom prst="roundRect">
            <a:avLst>
              <a:gd name="adj" fmla="val 12500"/>
            </a:avLst>
          </a:prstGeom>
          <a:solidFill>
            <a:srgbClr val="ECEAE4"/>
          </a:solidFill>
          <a:ln w="12700">
            <a:solidFill>
              <a:srgbClr val="ECEAE4"/>
            </a:solidFill>
            <a:prstDash val="solid"/>
          </a:ln>
        </p:spPr>
        <p:txBody>
          <a:bodyPr/>
          <a:p/>
        </p:txBody>
      </p:sp>
      <p:sp>
        <p:nvSpPr>
          <p:cNvPr id="41" name="Text 39"/>
          <p:cNvSpPr/>
          <p:nvPr/>
        </p:nvSpPr>
        <p:spPr>
          <a:xfrm>
            <a:off x="8915400" y="4645152"/>
            <a:ext cx="2468880" cy="658368"/>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decizie lentă</a:t>
            </a:r>
            <a:endParaRPr lang="en-US" sz="1450" dirty="0"/>
          </a:p>
        </p:txBody>
      </p:sp>
      <p:sp>
        <p:nvSpPr>
          <p:cNvPr id="42" name="Text 40"/>
          <p:cNvSpPr/>
          <p:nvPr/>
        </p:nvSpPr>
        <p:spPr>
          <a:xfrm>
            <a:off x="594360" y="5532120"/>
            <a:ext cx="10972800" cy="45720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Pentru curioși (nu se evaluează): decul prezintă și șase stiluri emoționale.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594360" y="310896"/>
            <a:ext cx="3291840" cy="329184"/>
          </a:xfrm>
          <a:prstGeom prst="roundRect">
            <a:avLst>
              <a:gd name="adj" fmla="val 50000"/>
            </a:avLst>
          </a:prstGeom>
          <a:solidFill>
            <a:srgbClr val="0E7C6B"/>
          </a:solidFill>
          <a:ln w="12700">
            <a:solidFill>
              <a:srgbClr val="0E7C6B"/>
            </a:solidFill>
            <a:prstDash val="solid"/>
          </a:ln>
        </p:spPr>
        <p:txBody>
          <a:bodyPr/>
          <a:p/>
        </p:txBody>
      </p:sp>
      <p:sp>
        <p:nvSpPr>
          <p:cNvPr id="3" name="Text 1"/>
          <p:cNvSpPr/>
          <p:nvPr/>
        </p:nvSpPr>
        <p:spPr>
          <a:xfrm>
            <a:off x="594360" y="310896"/>
            <a:ext cx="329184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TERMENUL NOU 1 DIN 2</a:t>
            </a:r>
            <a:endParaRPr lang="en-US" sz="1300" dirty="0"/>
          </a:p>
        </p:txBody>
      </p:sp>
      <p:sp>
        <p:nvSpPr>
          <p:cNvPr id="4" name="Text 2"/>
          <p:cNvSpPr/>
          <p:nvPr/>
        </p:nvSpPr>
        <p:spPr>
          <a:xfrm>
            <a:off x="4114800" y="347472"/>
            <a:ext cx="749808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OPENSTAX, PRINCIPLES OF MANAGEMENT</a:t>
            </a:r>
            <a:endParaRPr lang="en-US" sz="1300" dirty="0"/>
          </a:p>
        </p:txBody>
      </p:sp>
      <p:sp>
        <p:nvSpPr>
          <p:cNvPr id="5" name="Text 3"/>
          <p:cNvSpPr/>
          <p:nvPr/>
        </p:nvSpPr>
        <p:spPr>
          <a:xfrm>
            <a:off x="594360" y="777240"/>
            <a:ext cx="10972800" cy="7315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Inteligența emoțională</a:t>
            </a:r>
            <a:endParaRPr lang="en-US" sz="3200" dirty="0"/>
          </a:p>
        </p:txBody>
      </p:sp>
      <p:sp>
        <p:nvSpPr>
          <p:cNvPr id="6" name="Shape 4"/>
          <p:cNvSpPr/>
          <p:nvPr/>
        </p:nvSpPr>
        <p:spPr>
          <a:xfrm>
            <a:off x="594360" y="1645920"/>
            <a:ext cx="10972800" cy="1325880"/>
          </a:xfrm>
          <a:prstGeom prst="roundRect">
            <a:avLst>
              <a:gd name="adj" fmla="val 6207"/>
            </a:avLst>
          </a:prstGeom>
          <a:solidFill>
            <a:srgbClr val="FFFFFF"/>
          </a:solidFill>
          <a:ln w="12700">
            <a:solidFill>
              <a:srgbClr val="FFFFFF"/>
            </a:solidFill>
            <a:prstDash val="solid"/>
          </a:ln>
        </p:spPr>
        <p:txBody>
          <a:bodyPr/>
          <a:p/>
        </p:txBody>
      </p:sp>
      <p:sp>
        <p:nvSpPr>
          <p:cNvPr id="7" name="Shape 5"/>
          <p:cNvSpPr/>
          <p:nvPr/>
        </p:nvSpPr>
        <p:spPr>
          <a:xfrm>
            <a:off x="594360" y="1645920"/>
            <a:ext cx="82296" cy="1325880"/>
          </a:xfrm>
          <a:prstGeom prst="rect">
            <a:avLst/>
          </a:prstGeom>
          <a:solidFill>
            <a:srgbClr val="0E7C6B"/>
          </a:solidFill>
          <a:ln w="12700">
            <a:solidFill>
              <a:srgbClr val="0E7C6B"/>
            </a:solidFill>
            <a:prstDash val="solid"/>
          </a:ln>
        </p:spPr>
        <p:txBody>
          <a:bodyPr/>
          <a:p/>
        </p:txBody>
      </p:sp>
      <p:sp>
        <p:nvSpPr>
          <p:cNvPr id="8" name="Text 6"/>
          <p:cNvSpPr/>
          <p:nvPr/>
        </p:nvSpPr>
        <p:spPr>
          <a:xfrm>
            <a:off x="914400" y="1645920"/>
            <a:ext cx="10424160" cy="1325880"/>
          </a:xfrm>
          <a:prstGeom prst="rect">
            <a:avLst/>
          </a:prstGeom>
          <a:noFill/>
          <a:ln/>
        </p:spPr>
        <p:txBody>
          <a:bodyPr wrap="square" lIns="0" tIns="0" rIns="0" bIns="0" rtlCol="0" anchor="ctr"/>
          <a:lstStyle/>
          <a:p>
            <a:pPr indent="0" marL="0">
              <a:buNone/>
            </a:pPr>
            <a:r>
              <a:rPr lang="en-US" sz="1900" i="1" dirty="0">
                <a:solidFill>
                  <a:srgbClr val="11121A"/>
                </a:solidFill>
                <a:latin typeface="Palatino Linotype" pitchFamily="34" charset="0"/>
                <a:ea typeface="Palatino Linotype" pitchFamily="34" charset="-122"/>
                <a:cs typeface="Palatino Linotype" pitchFamily="34" charset="-120"/>
              </a:rPr>
              <a:t>Capacitatea de a recunoaște, de a înțelege, de a lua în seamă și de a gestiona propriile emoții și emoțiile celorlalți.</a:t>
            </a:r>
            <a:endParaRPr lang="en-US" sz="1900" dirty="0"/>
          </a:p>
        </p:txBody>
      </p:sp>
      <p:sp>
        <p:nvSpPr>
          <p:cNvPr id="9" name="Shape 7"/>
          <p:cNvSpPr/>
          <p:nvPr/>
        </p:nvSpPr>
        <p:spPr>
          <a:xfrm>
            <a:off x="594360" y="3200400"/>
            <a:ext cx="2651760" cy="2377440"/>
          </a:xfrm>
          <a:prstGeom prst="roundRect">
            <a:avLst>
              <a:gd name="adj" fmla="val 3462"/>
            </a:avLst>
          </a:prstGeom>
          <a:solidFill>
            <a:srgbClr val="ECEAE4"/>
          </a:solidFill>
          <a:ln w="12700">
            <a:solidFill>
              <a:srgbClr val="ECEAE4"/>
            </a:solidFill>
            <a:prstDash val="solid"/>
          </a:ln>
        </p:spPr>
        <p:txBody>
          <a:bodyPr/>
          <a:p/>
        </p:txBody>
      </p:sp>
      <p:sp>
        <p:nvSpPr>
          <p:cNvPr id="10" name="Shape 8"/>
          <p:cNvSpPr/>
          <p:nvPr/>
        </p:nvSpPr>
        <p:spPr>
          <a:xfrm>
            <a:off x="594360" y="3200400"/>
            <a:ext cx="2651760" cy="73152"/>
          </a:xfrm>
          <a:prstGeom prst="rect">
            <a:avLst/>
          </a:prstGeom>
          <a:solidFill>
            <a:srgbClr val="0E7C6B"/>
          </a:solidFill>
          <a:ln w="12700">
            <a:solidFill>
              <a:srgbClr val="0E7C6B"/>
            </a:solidFill>
            <a:prstDash val="solid"/>
          </a:ln>
        </p:spPr>
        <p:txBody>
          <a:bodyPr/>
          <a:p/>
        </p:txBody>
      </p:sp>
      <p:sp>
        <p:nvSpPr>
          <p:cNvPr id="11" name="Text 9"/>
          <p:cNvSpPr/>
          <p:nvPr/>
        </p:nvSpPr>
        <p:spPr>
          <a:xfrm>
            <a:off x="822960" y="3401568"/>
            <a:ext cx="2194560" cy="6858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Conștiința de sine</a:t>
            </a:r>
            <a:endParaRPr lang="en-US" sz="1700" dirty="0"/>
          </a:p>
        </p:txBody>
      </p:sp>
      <p:sp>
        <p:nvSpPr>
          <p:cNvPr id="12" name="Text 10"/>
          <p:cNvSpPr/>
          <p:nvPr/>
        </p:nvSpPr>
        <p:spPr>
          <a:xfrm>
            <a:off x="822960" y="4069080"/>
            <a:ext cx="2194560" cy="13716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îți recunoști emoțiile și efectul lor asupra deciziilor</a:t>
            </a:r>
            <a:endParaRPr lang="en-US" sz="1500" dirty="0"/>
          </a:p>
        </p:txBody>
      </p:sp>
      <p:sp>
        <p:nvSpPr>
          <p:cNvPr id="13" name="Shape 11"/>
          <p:cNvSpPr/>
          <p:nvPr/>
        </p:nvSpPr>
        <p:spPr>
          <a:xfrm>
            <a:off x="3383280" y="3200400"/>
            <a:ext cx="2651760" cy="2377440"/>
          </a:xfrm>
          <a:prstGeom prst="roundRect">
            <a:avLst>
              <a:gd name="adj" fmla="val 3462"/>
            </a:avLst>
          </a:prstGeom>
          <a:solidFill>
            <a:srgbClr val="F9F8F5"/>
          </a:solidFill>
          <a:ln w="12700">
            <a:solidFill>
              <a:srgbClr val="F9F8F5"/>
            </a:solidFill>
            <a:prstDash val="solid"/>
          </a:ln>
        </p:spPr>
        <p:txBody>
          <a:bodyPr/>
          <a:p/>
        </p:txBody>
      </p:sp>
      <p:sp>
        <p:nvSpPr>
          <p:cNvPr id="14" name="Shape 12"/>
          <p:cNvSpPr/>
          <p:nvPr/>
        </p:nvSpPr>
        <p:spPr>
          <a:xfrm>
            <a:off x="3383280" y="3200400"/>
            <a:ext cx="2651760" cy="73152"/>
          </a:xfrm>
          <a:prstGeom prst="rect">
            <a:avLst/>
          </a:prstGeom>
          <a:solidFill>
            <a:srgbClr val="8A6100"/>
          </a:solidFill>
          <a:ln w="12700">
            <a:solidFill>
              <a:srgbClr val="8A6100"/>
            </a:solidFill>
            <a:prstDash val="solid"/>
          </a:ln>
        </p:spPr>
        <p:txBody>
          <a:bodyPr/>
          <a:p/>
        </p:txBody>
      </p:sp>
      <p:sp>
        <p:nvSpPr>
          <p:cNvPr id="15" name="Text 13"/>
          <p:cNvSpPr/>
          <p:nvPr/>
        </p:nvSpPr>
        <p:spPr>
          <a:xfrm>
            <a:off x="3611880" y="3401568"/>
            <a:ext cx="2194560" cy="685800"/>
          </a:xfrm>
          <a:prstGeom prst="rect">
            <a:avLst/>
          </a:prstGeom>
          <a:noFill/>
          <a:ln/>
        </p:spPr>
        <p:txBody>
          <a:bodyPr wrap="square" lIns="0" tIns="0" rIns="0" bIns="0" rtlCol="0" anchor="t"/>
          <a:lstStyle/>
          <a:p>
            <a:pPr indent="0" marL="0">
              <a:buNone/>
            </a:pPr>
            <a:r>
              <a:rPr lang="en-US" sz="1700" b="1" dirty="0">
                <a:solidFill>
                  <a:srgbClr val="8A6100"/>
                </a:solidFill>
                <a:latin typeface="Palatino Linotype" pitchFamily="34" charset="0"/>
                <a:ea typeface="Palatino Linotype" pitchFamily="34" charset="-122"/>
                <a:cs typeface="Palatino Linotype" pitchFamily="34" charset="-120"/>
              </a:rPr>
              <a:t>Stăpânirea de sine</a:t>
            </a:r>
            <a:endParaRPr lang="en-US" sz="1700" dirty="0"/>
          </a:p>
        </p:txBody>
      </p:sp>
      <p:sp>
        <p:nvSpPr>
          <p:cNvPr id="16" name="Text 14"/>
          <p:cNvSpPr/>
          <p:nvPr/>
        </p:nvSpPr>
        <p:spPr>
          <a:xfrm>
            <a:off x="3611880" y="4069080"/>
            <a:ext cx="2194560" cy="13716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îți controlezi emoțiile, potrivit situației</a:t>
            </a:r>
            <a:endParaRPr lang="en-US" sz="1500" dirty="0"/>
          </a:p>
        </p:txBody>
      </p:sp>
      <p:sp>
        <p:nvSpPr>
          <p:cNvPr id="17" name="Shape 15"/>
          <p:cNvSpPr/>
          <p:nvPr/>
        </p:nvSpPr>
        <p:spPr>
          <a:xfrm>
            <a:off x="6172200" y="3200400"/>
            <a:ext cx="2651760" cy="2377440"/>
          </a:xfrm>
          <a:prstGeom prst="roundRect">
            <a:avLst>
              <a:gd name="adj" fmla="val 3462"/>
            </a:avLst>
          </a:prstGeom>
          <a:solidFill>
            <a:srgbClr val="ECEAE4"/>
          </a:solidFill>
          <a:ln w="12700">
            <a:solidFill>
              <a:srgbClr val="ECEAE4"/>
            </a:solidFill>
            <a:prstDash val="solid"/>
          </a:ln>
        </p:spPr>
        <p:txBody>
          <a:bodyPr/>
          <a:p/>
        </p:txBody>
      </p:sp>
      <p:sp>
        <p:nvSpPr>
          <p:cNvPr id="18" name="Shape 16"/>
          <p:cNvSpPr/>
          <p:nvPr/>
        </p:nvSpPr>
        <p:spPr>
          <a:xfrm>
            <a:off x="6172200" y="3200400"/>
            <a:ext cx="2651760" cy="73152"/>
          </a:xfrm>
          <a:prstGeom prst="rect">
            <a:avLst/>
          </a:prstGeom>
          <a:solidFill>
            <a:srgbClr val="4A2D8C"/>
          </a:solidFill>
          <a:ln w="12700">
            <a:solidFill>
              <a:srgbClr val="4A2D8C"/>
            </a:solidFill>
            <a:prstDash val="solid"/>
          </a:ln>
        </p:spPr>
        <p:txBody>
          <a:bodyPr/>
          <a:p/>
        </p:txBody>
      </p:sp>
      <p:sp>
        <p:nvSpPr>
          <p:cNvPr id="19" name="Text 17"/>
          <p:cNvSpPr/>
          <p:nvPr/>
        </p:nvSpPr>
        <p:spPr>
          <a:xfrm>
            <a:off x="6400800" y="3401568"/>
            <a:ext cx="2194560" cy="685800"/>
          </a:xfrm>
          <a:prstGeom prst="rect">
            <a:avLst/>
          </a:prstGeom>
          <a:noFill/>
          <a:ln/>
        </p:spPr>
        <p:txBody>
          <a:bodyPr wrap="square" lIns="0" tIns="0" rIns="0" bIns="0" rtlCol="0" anchor="t"/>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Empatia</a:t>
            </a:r>
            <a:endParaRPr lang="en-US" sz="1700" dirty="0"/>
          </a:p>
        </p:txBody>
      </p:sp>
      <p:sp>
        <p:nvSpPr>
          <p:cNvPr id="20" name="Text 18"/>
          <p:cNvSpPr/>
          <p:nvPr/>
        </p:nvSpPr>
        <p:spPr>
          <a:xfrm>
            <a:off x="6400800" y="4069080"/>
            <a:ext cx="2194560" cy="13716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înțelegi emoțiile celorlalți</a:t>
            </a:r>
            <a:endParaRPr lang="en-US" sz="1500" dirty="0"/>
          </a:p>
        </p:txBody>
      </p:sp>
      <p:sp>
        <p:nvSpPr>
          <p:cNvPr id="21" name="Shape 19"/>
          <p:cNvSpPr/>
          <p:nvPr/>
        </p:nvSpPr>
        <p:spPr>
          <a:xfrm>
            <a:off x="8961120" y="3200400"/>
            <a:ext cx="2651760" cy="2377440"/>
          </a:xfrm>
          <a:prstGeom prst="roundRect">
            <a:avLst>
              <a:gd name="adj" fmla="val 3462"/>
            </a:avLst>
          </a:prstGeom>
          <a:solidFill>
            <a:srgbClr val="F9F8F5"/>
          </a:solidFill>
          <a:ln w="12700">
            <a:solidFill>
              <a:srgbClr val="F9F8F5"/>
            </a:solidFill>
            <a:prstDash val="solid"/>
          </a:ln>
        </p:spPr>
        <p:txBody>
          <a:bodyPr/>
          <a:p/>
        </p:txBody>
      </p:sp>
      <p:sp>
        <p:nvSpPr>
          <p:cNvPr id="22" name="Shape 20"/>
          <p:cNvSpPr/>
          <p:nvPr/>
        </p:nvSpPr>
        <p:spPr>
          <a:xfrm>
            <a:off x="8961120" y="3200400"/>
            <a:ext cx="2651760" cy="73152"/>
          </a:xfrm>
          <a:prstGeom prst="rect">
            <a:avLst/>
          </a:prstGeom>
          <a:solidFill>
            <a:srgbClr val="B02532"/>
          </a:solidFill>
          <a:ln w="12700">
            <a:solidFill>
              <a:srgbClr val="B02532"/>
            </a:solidFill>
            <a:prstDash val="solid"/>
          </a:ln>
        </p:spPr>
        <p:txBody>
          <a:bodyPr/>
          <a:p/>
        </p:txBody>
      </p:sp>
      <p:sp>
        <p:nvSpPr>
          <p:cNvPr id="23" name="Text 21"/>
          <p:cNvSpPr/>
          <p:nvPr/>
        </p:nvSpPr>
        <p:spPr>
          <a:xfrm>
            <a:off x="9189720" y="3401568"/>
            <a:ext cx="2194560" cy="6858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Abilitățile sociale</a:t>
            </a:r>
            <a:endParaRPr lang="en-US" sz="1700" dirty="0"/>
          </a:p>
        </p:txBody>
      </p:sp>
      <p:sp>
        <p:nvSpPr>
          <p:cNvPr id="24" name="Text 22"/>
          <p:cNvSpPr/>
          <p:nvPr/>
        </p:nvSpPr>
        <p:spPr>
          <a:xfrm>
            <a:off x="9189720" y="4069080"/>
            <a:ext cx="2194560" cy="13716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gestionezi latura emoțională a relațiilor</a:t>
            </a:r>
            <a:endParaRPr lang="en-US" sz="1500" dirty="0"/>
          </a:p>
        </p:txBody>
      </p:sp>
      <p:sp>
        <p:nvSpPr>
          <p:cNvPr id="25" name="Text 23"/>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OpenStax, 2019 (registru A1001).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INTELIGENȚA EMOȚIONALĂ PE SECȚIE</a:t>
            </a:r>
            <a:endParaRPr lang="en-US" sz="1300" dirty="0"/>
          </a:p>
        </p:txBody>
      </p:sp>
      <p:sp>
        <p:nvSpPr>
          <p:cNvPr id="3" name="Shape 1"/>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CĂTRE SALĂ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O tură grea: ce componentă vedeți?</a:t>
            </a:r>
            <a:endParaRPr lang="en-US" sz="3000" dirty="0"/>
          </a:p>
        </p:txBody>
      </p:sp>
      <p:sp>
        <p:nvSpPr>
          <p:cNvPr id="6" name="Shape 4"/>
          <p:cNvSpPr/>
          <p:nvPr/>
        </p:nvSpPr>
        <p:spPr>
          <a:xfrm>
            <a:off x="594360" y="1645920"/>
            <a:ext cx="2651760" cy="3291840"/>
          </a:xfrm>
          <a:prstGeom prst="roundRect">
            <a:avLst>
              <a:gd name="adj" fmla="val 3103"/>
            </a:avLst>
          </a:prstGeom>
          <a:solidFill>
            <a:srgbClr val="ECEAE4"/>
          </a:solidFill>
          <a:ln w="12700">
            <a:solidFill>
              <a:srgbClr val="ECEAE4"/>
            </a:solidFill>
            <a:prstDash val="solid"/>
          </a:ln>
        </p:spPr>
        <p:txBody>
          <a:bodyPr/>
          <a:p/>
        </p:txBody>
      </p:sp>
      <p:sp>
        <p:nvSpPr>
          <p:cNvPr id="7" name="Shape 5"/>
          <p:cNvSpPr/>
          <p:nvPr/>
        </p:nvSpPr>
        <p:spPr>
          <a:xfrm>
            <a:off x="594360" y="1645920"/>
            <a:ext cx="2651760" cy="73152"/>
          </a:xfrm>
          <a:prstGeom prst="rect">
            <a:avLst/>
          </a:prstGeom>
          <a:solidFill>
            <a:srgbClr val="0E7C6B"/>
          </a:solidFill>
          <a:ln w="12700">
            <a:solidFill>
              <a:srgbClr val="0E7C6B"/>
            </a:solidFill>
            <a:prstDash val="solid"/>
          </a:ln>
        </p:spPr>
        <p:txBody>
          <a:bodyPr/>
          <a:p/>
        </p:txBody>
      </p:sp>
      <p:sp>
        <p:nvSpPr>
          <p:cNvPr id="8" name="Text 6"/>
          <p:cNvSpPr/>
          <p:nvPr/>
        </p:nvSpPr>
        <p:spPr>
          <a:xfrm>
            <a:off x="822960" y="1847088"/>
            <a:ext cx="2194560" cy="6858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Conștiința de sine</a:t>
            </a:r>
            <a:endParaRPr lang="en-US" sz="1700" dirty="0"/>
          </a:p>
        </p:txBody>
      </p:sp>
      <p:sp>
        <p:nvSpPr>
          <p:cNvPr id="9" name="Text 7"/>
          <p:cNvSpPr/>
          <p:nvPr/>
        </p:nvSpPr>
        <p:spPr>
          <a:xfrm>
            <a:off x="822960" y="2514600"/>
            <a:ext cx="2194560" cy="22860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E iritată de un pacient dificil și face o pauză înainte să-i răspundă.</a:t>
            </a:r>
            <a:endParaRPr lang="en-US" sz="1550" dirty="0"/>
          </a:p>
        </p:txBody>
      </p:sp>
      <p:sp>
        <p:nvSpPr>
          <p:cNvPr id="10" name="Shape 8"/>
          <p:cNvSpPr/>
          <p:nvPr/>
        </p:nvSpPr>
        <p:spPr>
          <a:xfrm>
            <a:off x="3383280" y="1645920"/>
            <a:ext cx="2651760" cy="3291840"/>
          </a:xfrm>
          <a:prstGeom prst="roundRect">
            <a:avLst>
              <a:gd name="adj" fmla="val 3103"/>
            </a:avLst>
          </a:prstGeom>
          <a:solidFill>
            <a:srgbClr val="F9F8F5"/>
          </a:solidFill>
          <a:ln w="12700">
            <a:solidFill>
              <a:srgbClr val="F9F8F5"/>
            </a:solidFill>
            <a:prstDash val="solid"/>
          </a:ln>
        </p:spPr>
        <p:txBody>
          <a:bodyPr/>
          <a:p/>
        </p:txBody>
      </p:sp>
      <p:sp>
        <p:nvSpPr>
          <p:cNvPr id="11" name="Shape 9"/>
          <p:cNvSpPr/>
          <p:nvPr/>
        </p:nvSpPr>
        <p:spPr>
          <a:xfrm>
            <a:off x="3383280" y="1645920"/>
            <a:ext cx="2651760" cy="73152"/>
          </a:xfrm>
          <a:prstGeom prst="rect">
            <a:avLst/>
          </a:prstGeom>
          <a:solidFill>
            <a:srgbClr val="8A6100"/>
          </a:solidFill>
          <a:ln w="12700">
            <a:solidFill>
              <a:srgbClr val="8A6100"/>
            </a:solidFill>
            <a:prstDash val="solid"/>
          </a:ln>
        </p:spPr>
        <p:txBody>
          <a:bodyPr/>
          <a:p/>
        </p:txBody>
      </p:sp>
      <p:sp>
        <p:nvSpPr>
          <p:cNvPr id="12" name="Text 10"/>
          <p:cNvSpPr/>
          <p:nvPr/>
        </p:nvSpPr>
        <p:spPr>
          <a:xfrm>
            <a:off x="3611880" y="1847088"/>
            <a:ext cx="2194560" cy="685800"/>
          </a:xfrm>
          <a:prstGeom prst="rect">
            <a:avLst/>
          </a:prstGeom>
          <a:noFill/>
          <a:ln/>
        </p:spPr>
        <p:txBody>
          <a:bodyPr wrap="square" lIns="0" tIns="0" rIns="0" bIns="0" rtlCol="0" anchor="t"/>
          <a:lstStyle/>
          <a:p>
            <a:pPr indent="0" marL="0">
              <a:buNone/>
            </a:pPr>
            <a:r>
              <a:rPr lang="en-US" sz="1700" b="1" dirty="0">
                <a:solidFill>
                  <a:srgbClr val="8A6100"/>
                </a:solidFill>
                <a:latin typeface="Palatino Linotype" pitchFamily="34" charset="0"/>
                <a:ea typeface="Palatino Linotype" pitchFamily="34" charset="-122"/>
                <a:cs typeface="Palatino Linotype" pitchFamily="34" charset="-120"/>
              </a:rPr>
              <a:t>Stăpânirea de sine</a:t>
            </a:r>
            <a:endParaRPr lang="en-US" sz="1700" dirty="0"/>
          </a:p>
        </p:txBody>
      </p:sp>
      <p:sp>
        <p:nvSpPr>
          <p:cNvPr id="13" name="Text 11"/>
          <p:cNvSpPr/>
          <p:nvPr/>
        </p:nvSpPr>
        <p:spPr>
          <a:xfrm>
            <a:off x="3611880" y="2514600"/>
            <a:ext cx="2194560" cy="22860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Rămâne calmă la o resuscitare și dă indicații clare.</a:t>
            </a:r>
            <a:endParaRPr lang="en-US" sz="1550" dirty="0"/>
          </a:p>
        </p:txBody>
      </p:sp>
      <p:sp>
        <p:nvSpPr>
          <p:cNvPr id="14" name="Shape 12"/>
          <p:cNvSpPr/>
          <p:nvPr/>
        </p:nvSpPr>
        <p:spPr>
          <a:xfrm>
            <a:off x="6172200" y="1645920"/>
            <a:ext cx="2651760" cy="3291840"/>
          </a:xfrm>
          <a:prstGeom prst="roundRect">
            <a:avLst>
              <a:gd name="adj" fmla="val 3103"/>
            </a:avLst>
          </a:prstGeom>
          <a:solidFill>
            <a:srgbClr val="ECEAE4"/>
          </a:solidFill>
          <a:ln w="12700">
            <a:solidFill>
              <a:srgbClr val="ECEAE4"/>
            </a:solidFill>
            <a:prstDash val="solid"/>
          </a:ln>
        </p:spPr>
        <p:txBody>
          <a:bodyPr/>
          <a:p/>
        </p:txBody>
      </p:sp>
      <p:sp>
        <p:nvSpPr>
          <p:cNvPr id="15" name="Shape 13"/>
          <p:cNvSpPr/>
          <p:nvPr/>
        </p:nvSpPr>
        <p:spPr>
          <a:xfrm>
            <a:off x="6172200" y="1645920"/>
            <a:ext cx="2651760" cy="73152"/>
          </a:xfrm>
          <a:prstGeom prst="rect">
            <a:avLst/>
          </a:prstGeom>
          <a:solidFill>
            <a:srgbClr val="4A2D8C"/>
          </a:solidFill>
          <a:ln w="12700">
            <a:solidFill>
              <a:srgbClr val="4A2D8C"/>
            </a:solidFill>
            <a:prstDash val="solid"/>
          </a:ln>
        </p:spPr>
        <p:txBody>
          <a:bodyPr/>
          <a:p/>
        </p:txBody>
      </p:sp>
      <p:sp>
        <p:nvSpPr>
          <p:cNvPr id="16" name="Text 14"/>
          <p:cNvSpPr/>
          <p:nvPr/>
        </p:nvSpPr>
        <p:spPr>
          <a:xfrm>
            <a:off x="6400800" y="1847088"/>
            <a:ext cx="2194560" cy="685800"/>
          </a:xfrm>
          <a:prstGeom prst="rect">
            <a:avLst/>
          </a:prstGeom>
          <a:noFill/>
          <a:ln/>
        </p:spPr>
        <p:txBody>
          <a:bodyPr wrap="square" lIns="0" tIns="0" rIns="0" bIns="0" rtlCol="0" anchor="t"/>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Empatia</a:t>
            </a:r>
            <a:endParaRPr lang="en-US" sz="1700" dirty="0"/>
          </a:p>
        </p:txBody>
      </p:sp>
      <p:sp>
        <p:nvSpPr>
          <p:cNvPr id="17" name="Text 15"/>
          <p:cNvSpPr/>
          <p:nvPr/>
        </p:nvSpPr>
        <p:spPr>
          <a:xfrm>
            <a:off x="6400800" y="2514600"/>
            <a:ext cx="2194560" cy="22860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Vede colega nouă copleșită și îi propune o discuție, fără să o judece.</a:t>
            </a:r>
            <a:endParaRPr lang="en-US" sz="1550" dirty="0"/>
          </a:p>
        </p:txBody>
      </p:sp>
      <p:sp>
        <p:nvSpPr>
          <p:cNvPr id="18" name="Shape 16"/>
          <p:cNvSpPr/>
          <p:nvPr/>
        </p:nvSpPr>
        <p:spPr>
          <a:xfrm>
            <a:off x="8961120" y="1645920"/>
            <a:ext cx="2651760" cy="3291840"/>
          </a:xfrm>
          <a:prstGeom prst="roundRect">
            <a:avLst>
              <a:gd name="adj" fmla="val 3103"/>
            </a:avLst>
          </a:prstGeom>
          <a:solidFill>
            <a:srgbClr val="F9F8F5"/>
          </a:solidFill>
          <a:ln w="12700">
            <a:solidFill>
              <a:srgbClr val="F9F8F5"/>
            </a:solidFill>
            <a:prstDash val="solid"/>
          </a:ln>
        </p:spPr>
        <p:txBody>
          <a:bodyPr/>
          <a:p/>
        </p:txBody>
      </p:sp>
      <p:sp>
        <p:nvSpPr>
          <p:cNvPr id="19" name="Shape 17"/>
          <p:cNvSpPr/>
          <p:nvPr/>
        </p:nvSpPr>
        <p:spPr>
          <a:xfrm>
            <a:off x="8961120" y="1645920"/>
            <a:ext cx="2651760" cy="73152"/>
          </a:xfrm>
          <a:prstGeom prst="rect">
            <a:avLst/>
          </a:prstGeom>
          <a:solidFill>
            <a:srgbClr val="B02532"/>
          </a:solidFill>
          <a:ln w="12700">
            <a:solidFill>
              <a:srgbClr val="B02532"/>
            </a:solidFill>
            <a:prstDash val="solid"/>
          </a:ln>
        </p:spPr>
        <p:txBody>
          <a:bodyPr/>
          <a:p/>
        </p:txBody>
      </p:sp>
      <p:sp>
        <p:nvSpPr>
          <p:cNvPr id="20" name="Text 18"/>
          <p:cNvSpPr/>
          <p:nvPr/>
        </p:nvSpPr>
        <p:spPr>
          <a:xfrm>
            <a:off x="9189720" y="1847088"/>
            <a:ext cx="2194560" cy="6858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Abilitățile sociale</a:t>
            </a:r>
            <a:endParaRPr lang="en-US" sz="1700" dirty="0"/>
          </a:p>
        </p:txBody>
      </p:sp>
      <p:sp>
        <p:nvSpPr>
          <p:cNvPr id="21" name="Text 19"/>
          <p:cNvSpPr/>
          <p:nvPr/>
        </p:nvSpPr>
        <p:spPr>
          <a:xfrm>
            <a:off x="9189720" y="2514600"/>
            <a:ext cx="2194560" cy="22860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Mediază conflictul dintre un rezident și o asistentă cu experiență.</a:t>
            </a:r>
            <a:endParaRPr lang="en-US" sz="1550" dirty="0"/>
          </a:p>
        </p:txBody>
      </p:sp>
      <p:sp>
        <p:nvSpPr>
          <p:cNvPr id="22" name="Text 20"/>
          <p:cNvSpPr/>
          <p:nvPr/>
        </p:nvSpPr>
        <p:spPr>
          <a:xfrm>
            <a:off x="594360" y="5166360"/>
            <a:ext cx="10972800" cy="54864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Inteligența emoțională se poate dezvolta, cel puțin în parte, prin exercițiu.</a:t>
            </a:r>
            <a:endParaRPr lang="en-US" sz="1700" dirty="0"/>
          </a:p>
        </p:txBody>
      </p:sp>
      <p:sp>
        <p:nvSpPr>
          <p:cNvPr id="23" name="Text 21"/>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Exemplele: decul cursului; dezvoltarea prin exercițiu: sinteză didactică.</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SCALĂ · FĂRĂ RĂSPUNS CORECT</a:t>
            </a:r>
            <a:endParaRPr lang="en-US" sz="1300" dirty="0"/>
          </a:p>
        </p:txBody>
      </p:sp>
      <p:sp>
        <p:nvSpPr>
          <p:cNvPr id="5" name="Text 3"/>
          <p:cNvSpPr/>
          <p:nvPr/>
        </p:nvSpPr>
        <p:spPr>
          <a:xfrm>
            <a:off x="594360" y="868680"/>
            <a:ext cx="10972800" cy="1737360"/>
          </a:xfrm>
          <a:prstGeom prst="rect">
            <a:avLst/>
          </a:prstGeom>
          <a:noFill/>
          <a:ln/>
        </p:spPr>
        <p:txBody>
          <a:bodyPr wrap="square" lIns="0" tIns="0" rIns="0" bIns="0" rtlCol="0" anchor="ctr"/>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Cât de confortabil v-ați simți să gestionați un conflict între doi colegi din echipa de îngrijire?</a:t>
            </a:r>
            <a:endParaRPr lang="en-US" sz="3000" dirty="0"/>
          </a:p>
        </p:txBody>
      </p:sp>
      <p:sp>
        <p:nvSpPr>
          <p:cNvPr id="6" name="Shape 4"/>
          <p:cNvSpPr/>
          <p:nvPr/>
        </p:nvSpPr>
        <p:spPr>
          <a:xfrm>
            <a:off x="2011680" y="3017520"/>
            <a:ext cx="822960" cy="822960"/>
          </a:xfrm>
          <a:prstGeom prst="ellipse">
            <a:avLst/>
          </a:prstGeom>
          <a:solidFill>
            <a:srgbClr val="FF4757"/>
          </a:solidFill>
          <a:ln/>
        </p:spPr>
        <p:txBody>
          <a:bodyPr/>
          <a:p/>
        </p:txBody>
      </p:sp>
      <p:sp>
        <p:nvSpPr>
          <p:cNvPr id="7" name="Text 5"/>
          <p:cNvSpPr/>
          <p:nvPr/>
        </p:nvSpPr>
        <p:spPr>
          <a:xfrm>
            <a:off x="2011680" y="3017520"/>
            <a:ext cx="822960" cy="822960"/>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1</a:t>
            </a:r>
            <a:endParaRPr lang="en-US" sz="1700" dirty="0"/>
          </a:p>
        </p:txBody>
      </p:sp>
      <p:sp>
        <p:nvSpPr>
          <p:cNvPr id="8" name="Shape 6"/>
          <p:cNvSpPr/>
          <p:nvPr/>
        </p:nvSpPr>
        <p:spPr>
          <a:xfrm>
            <a:off x="3840480" y="3017520"/>
            <a:ext cx="822960" cy="822960"/>
          </a:xfrm>
          <a:prstGeom prst="ellipse">
            <a:avLst/>
          </a:prstGeom>
          <a:solidFill>
            <a:srgbClr val="FF4757"/>
          </a:solidFill>
          <a:ln/>
        </p:spPr>
        <p:txBody>
          <a:bodyPr/>
          <a:p/>
        </p:txBody>
      </p:sp>
      <p:sp>
        <p:nvSpPr>
          <p:cNvPr id="9" name="Text 7"/>
          <p:cNvSpPr/>
          <p:nvPr/>
        </p:nvSpPr>
        <p:spPr>
          <a:xfrm>
            <a:off x="3840480" y="3017520"/>
            <a:ext cx="822960" cy="822960"/>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2</a:t>
            </a:r>
            <a:endParaRPr lang="en-US" sz="1700" dirty="0"/>
          </a:p>
        </p:txBody>
      </p:sp>
      <p:sp>
        <p:nvSpPr>
          <p:cNvPr id="10" name="Shape 8"/>
          <p:cNvSpPr/>
          <p:nvPr/>
        </p:nvSpPr>
        <p:spPr>
          <a:xfrm>
            <a:off x="5669280" y="3017520"/>
            <a:ext cx="822960" cy="822960"/>
          </a:xfrm>
          <a:prstGeom prst="ellipse">
            <a:avLst/>
          </a:prstGeom>
          <a:solidFill>
            <a:srgbClr val="FFC24B"/>
          </a:solidFill>
          <a:ln/>
        </p:spPr>
        <p:txBody>
          <a:bodyPr/>
          <a:p/>
        </p:txBody>
      </p:sp>
      <p:sp>
        <p:nvSpPr>
          <p:cNvPr id="11" name="Text 9"/>
          <p:cNvSpPr/>
          <p:nvPr/>
        </p:nvSpPr>
        <p:spPr>
          <a:xfrm>
            <a:off x="5669280" y="3017520"/>
            <a:ext cx="822960" cy="822960"/>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3</a:t>
            </a:r>
            <a:endParaRPr lang="en-US" sz="1700" dirty="0"/>
          </a:p>
        </p:txBody>
      </p:sp>
      <p:sp>
        <p:nvSpPr>
          <p:cNvPr id="12" name="Shape 10"/>
          <p:cNvSpPr/>
          <p:nvPr/>
        </p:nvSpPr>
        <p:spPr>
          <a:xfrm>
            <a:off x="7498080" y="3017520"/>
            <a:ext cx="822960" cy="822960"/>
          </a:xfrm>
          <a:prstGeom prst="ellipse">
            <a:avLst/>
          </a:prstGeom>
          <a:solidFill>
            <a:srgbClr val="27D3BE"/>
          </a:solidFill>
          <a:ln/>
        </p:spPr>
        <p:txBody>
          <a:bodyPr/>
          <a:p/>
        </p:txBody>
      </p:sp>
      <p:sp>
        <p:nvSpPr>
          <p:cNvPr id="13" name="Text 11"/>
          <p:cNvSpPr/>
          <p:nvPr/>
        </p:nvSpPr>
        <p:spPr>
          <a:xfrm>
            <a:off x="7498080" y="3017520"/>
            <a:ext cx="822960" cy="822960"/>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4</a:t>
            </a:r>
            <a:endParaRPr lang="en-US" sz="1700" dirty="0"/>
          </a:p>
        </p:txBody>
      </p:sp>
      <p:sp>
        <p:nvSpPr>
          <p:cNvPr id="14" name="Shape 12"/>
          <p:cNvSpPr/>
          <p:nvPr/>
        </p:nvSpPr>
        <p:spPr>
          <a:xfrm>
            <a:off x="9326880" y="3017520"/>
            <a:ext cx="822960" cy="822960"/>
          </a:xfrm>
          <a:prstGeom prst="ellipse">
            <a:avLst/>
          </a:prstGeom>
          <a:solidFill>
            <a:srgbClr val="27D3BE"/>
          </a:solidFill>
          <a:ln/>
        </p:spPr>
        <p:txBody>
          <a:bodyPr/>
          <a:p/>
        </p:txBody>
      </p:sp>
      <p:sp>
        <p:nvSpPr>
          <p:cNvPr id="15" name="Text 13"/>
          <p:cNvSpPr/>
          <p:nvPr/>
        </p:nvSpPr>
        <p:spPr>
          <a:xfrm>
            <a:off x="9326880" y="3017520"/>
            <a:ext cx="822960" cy="822960"/>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5</a:t>
            </a:r>
            <a:endParaRPr lang="en-US" sz="1700" dirty="0"/>
          </a:p>
        </p:txBody>
      </p:sp>
      <p:sp>
        <p:nvSpPr>
          <p:cNvPr id="16" name="Text 14"/>
          <p:cNvSpPr/>
          <p:nvPr/>
        </p:nvSpPr>
        <p:spPr>
          <a:xfrm>
            <a:off x="1463040" y="3931920"/>
            <a:ext cx="1920240" cy="365760"/>
          </a:xfrm>
          <a:prstGeom prst="rect">
            <a:avLst/>
          </a:prstGeom>
          <a:noFill/>
          <a:ln/>
        </p:spPr>
        <p:txBody>
          <a:bodyPr wrap="square" lIns="0" tIns="0" rIns="0" bIns="0" rtlCol="0" anchor="t"/>
          <a:lstStyle/>
          <a:p>
            <a:pPr algn="ctr" indent="0" marL="0">
              <a:buNone/>
            </a:pPr>
            <a:r>
              <a:rPr lang="en-US" sz="1500" dirty="0">
                <a:solidFill>
                  <a:srgbClr val="959BB0"/>
                </a:solidFill>
                <a:latin typeface="Palatino Linotype" pitchFamily="34" charset="0"/>
                <a:ea typeface="Palatino Linotype" pitchFamily="34" charset="-122"/>
                <a:cs typeface="Palatino Linotype" pitchFamily="34" charset="-120"/>
              </a:rPr>
              <a:t>deloc</a:t>
            </a:r>
            <a:endParaRPr lang="en-US" sz="1500" dirty="0"/>
          </a:p>
        </p:txBody>
      </p:sp>
      <p:sp>
        <p:nvSpPr>
          <p:cNvPr id="17" name="Text 15"/>
          <p:cNvSpPr/>
          <p:nvPr/>
        </p:nvSpPr>
        <p:spPr>
          <a:xfrm>
            <a:off x="8778240" y="3931920"/>
            <a:ext cx="1920240" cy="365760"/>
          </a:xfrm>
          <a:prstGeom prst="rect">
            <a:avLst/>
          </a:prstGeom>
          <a:noFill/>
          <a:ln/>
        </p:spPr>
        <p:txBody>
          <a:bodyPr wrap="square" lIns="0" tIns="0" rIns="0" bIns="0" rtlCol="0" anchor="t"/>
          <a:lstStyle/>
          <a:p>
            <a:pPr algn="ctr" indent="0" marL="0">
              <a:buNone/>
            </a:pPr>
            <a:r>
              <a:rPr lang="en-US" sz="1500" dirty="0">
                <a:solidFill>
                  <a:srgbClr val="959BB0"/>
                </a:solidFill>
                <a:latin typeface="Palatino Linotype" pitchFamily="34" charset="0"/>
                <a:ea typeface="Palatino Linotype" pitchFamily="34" charset="-122"/>
                <a:cs typeface="Palatino Linotype" pitchFamily="34" charset="-120"/>
              </a:rPr>
              <a:t>foarte</a:t>
            </a:r>
            <a:endParaRPr lang="en-US" sz="1500" dirty="0"/>
          </a:p>
        </p:txBody>
      </p:sp>
      <p:sp>
        <p:nvSpPr>
          <p:cNvPr id="18" name="Shape 16"/>
          <p:cNvSpPr/>
          <p:nvPr/>
        </p:nvSpPr>
        <p:spPr>
          <a:xfrm>
            <a:off x="594360" y="4800600"/>
            <a:ext cx="10972800" cy="960120"/>
          </a:xfrm>
          <a:prstGeom prst="roundRect">
            <a:avLst>
              <a:gd name="adj" fmla="val 8571"/>
            </a:avLst>
          </a:prstGeom>
          <a:solidFill>
            <a:srgbClr val="272A38"/>
          </a:solidFill>
          <a:ln w="12700">
            <a:solidFill>
              <a:srgbClr val="272A38"/>
            </a:solidFill>
            <a:prstDash val="solid"/>
          </a:ln>
        </p:spPr>
        <p:txBody>
          <a:bodyPr/>
          <a:p/>
        </p:txBody>
      </p:sp>
      <p:sp>
        <p:nvSpPr>
          <p:cNvPr id="19" name="Text 17"/>
          <p:cNvSpPr/>
          <p:nvPr/>
        </p:nvSpPr>
        <p:spPr>
          <a:xfrm>
            <a:off x="868680" y="4800600"/>
            <a:ext cx="10424160" cy="960120"/>
          </a:xfrm>
          <a:prstGeom prst="rect">
            <a:avLst/>
          </a:prstGeom>
          <a:noFill/>
          <a:ln/>
        </p:spPr>
        <p:txBody>
          <a:bodyPr wrap="square" lIns="0" tIns="0" rIns="0" bIns="0" rtlCol="0" anchor="ctr"/>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Disconfortul este frecvent: abilitatea se exersează, nu se are de la sine.</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CAZUL DE NOAPTE · JOI, PE SECȚIA MAREI</a:t>
            </a:r>
            <a:endParaRPr lang="en-US" sz="1300" dirty="0"/>
          </a:p>
        </p:txBody>
      </p:sp>
      <p:sp>
        <p:nvSpPr>
          <p:cNvPr id="3" name="Shape 1"/>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CĂTRE SALĂ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face Ana?</a:t>
            </a:r>
            <a:endParaRPr lang="en-US" sz="3400" dirty="0"/>
          </a:p>
        </p:txBody>
      </p:sp>
      <p:sp>
        <p:nvSpPr>
          <p:cNvPr id="6" name="Shape 4"/>
          <p:cNvSpPr/>
          <p:nvPr/>
        </p:nvSpPr>
        <p:spPr>
          <a:xfrm>
            <a:off x="594360" y="1600200"/>
            <a:ext cx="3566160" cy="1417320"/>
          </a:xfrm>
          <a:prstGeom prst="roundRect">
            <a:avLst>
              <a:gd name="adj" fmla="val 5806"/>
            </a:avLst>
          </a:prstGeom>
          <a:solidFill>
            <a:srgbClr val="1D1F2B"/>
          </a:solidFill>
          <a:ln w="12700">
            <a:solidFill>
              <a:srgbClr val="1D1F2B"/>
            </a:solidFill>
            <a:prstDash val="solid"/>
          </a:ln>
        </p:spPr>
        <p:txBody>
          <a:bodyPr/>
          <a:p/>
        </p:txBody>
      </p:sp>
      <p:sp>
        <p:nvSpPr>
          <p:cNvPr id="7" name="Shape 5"/>
          <p:cNvSpPr/>
          <p:nvPr/>
        </p:nvSpPr>
        <p:spPr>
          <a:xfrm>
            <a:off x="976579" y="1737360"/>
            <a:ext cx="241402" cy="241402"/>
          </a:xfrm>
          <a:prstGeom prst="ellipse">
            <a:avLst/>
          </a:prstGeom>
          <a:solidFill>
            <a:srgbClr val="FF4757"/>
          </a:solidFill>
          <a:ln w="12700">
            <a:solidFill>
              <a:srgbClr val="FF4757"/>
            </a:solidFill>
            <a:prstDash val="solid"/>
          </a:ln>
        </p:spPr>
        <p:txBody>
          <a:bodyPr/>
          <a:p/>
        </p:txBody>
      </p:sp>
      <p:sp>
        <p:nvSpPr>
          <p:cNvPr id="8" name="Shape 6"/>
          <p:cNvSpPr/>
          <p:nvPr/>
        </p:nvSpPr>
        <p:spPr>
          <a:xfrm>
            <a:off x="822960" y="2011680"/>
            <a:ext cx="548640" cy="630936"/>
          </a:xfrm>
          <a:prstGeom prst="roundRect">
            <a:avLst>
              <a:gd name="adj" fmla="val 30000"/>
            </a:avLst>
          </a:prstGeom>
          <a:solidFill>
            <a:srgbClr val="FF4757"/>
          </a:solidFill>
          <a:ln w="12700">
            <a:solidFill>
              <a:srgbClr val="FF4757"/>
            </a:solidFill>
            <a:prstDash val="solid"/>
          </a:ln>
        </p:spPr>
        <p:txBody>
          <a:bodyPr/>
          <a:p/>
        </p:txBody>
      </p:sp>
      <p:sp>
        <p:nvSpPr>
          <p:cNvPr id="9" name="Text 7"/>
          <p:cNvSpPr/>
          <p:nvPr/>
        </p:nvSpPr>
        <p:spPr>
          <a:xfrm>
            <a:off x="1554480" y="1691640"/>
            <a:ext cx="2468880" cy="457200"/>
          </a:xfrm>
          <a:prstGeom prst="rect">
            <a:avLst/>
          </a:prstGeom>
          <a:noFill/>
          <a:ln/>
        </p:spPr>
        <p:txBody>
          <a:bodyPr wrap="square" lIns="0" tIns="0" rIns="0" bIns="0" rtlCol="0" anchor="t"/>
          <a:lstStyle/>
          <a:p>
            <a:pPr indent="0" marL="0">
              <a:buNone/>
            </a:pPr>
            <a:r>
              <a:rPr lang="en-US" sz="1900" b="1" dirty="0">
                <a:solidFill>
                  <a:srgbClr val="FF4757"/>
                </a:solidFill>
                <a:latin typeface="Palatino Linotype" pitchFamily="34" charset="0"/>
                <a:ea typeface="Palatino Linotype" pitchFamily="34" charset="-122"/>
                <a:cs typeface="Palatino Linotype" pitchFamily="34" charset="-120"/>
              </a:rPr>
              <a:t>Ana</a:t>
            </a:r>
            <a:endParaRPr lang="en-US" sz="1900" dirty="0"/>
          </a:p>
        </p:txBody>
      </p:sp>
      <p:sp>
        <p:nvSpPr>
          <p:cNvPr id="10" name="Text 8"/>
          <p:cNvSpPr/>
          <p:nvPr/>
        </p:nvSpPr>
        <p:spPr>
          <a:xfrm>
            <a:off x="1554480" y="2148840"/>
            <a:ext cx="2468880" cy="822960"/>
          </a:xfrm>
          <a:prstGeom prst="rect">
            <a:avLst/>
          </a:prstGeom>
          <a:noFill/>
          <a:ln/>
        </p:spPr>
        <p:txBody>
          <a:bodyPr wrap="square" lIns="0" tIns="0" rIns="0" bIns="0" rtlCol="0" anchor="t"/>
          <a:lstStyle/>
          <a:p>
            <a:pPr indent="0" marL="0">
              <a:buNone/>
            </a:pPr>
            <a:r>
              <a:rPr lang="en-US" sz="1450" dirty="0">
                <a:solidFill>
                  <a:srgbClr val="E6E8EF"/>
                </a:solidFill>
                <a:latin typeface="Palatino Linotype" pitchFamily="34" charset="0"/>
                <a:ea typeface="Palatino Linotype" pitchFamily="34" charset="-122"/>
                <a:cs typeface="Palatino Linotype" pitchFamily="34" charset="-120"/>
              </a:rPr>
              <a:t>asistentă, opt ani de experiență; coordonează tura</a:t>
            </a:r>
            <a:endParaRPr lang="en-US" sz="1450" dirty="0"/>
          </a:p>
        </p:txBody>
      </p:sp>
      <p:sp>
        <p:nvSpPr>
          <p:cNvPr id="11" name="Shape 9"/>
          <p:cNvSpPr/>
          <p:nvPr/>
        </p:nvSpPr>
        <p:spPr>
          <a:xfrm>
            <a:off x="4297680" y="1600200"/>
            <a:ext cx="3566160" cy="1417320"/>
          </a:xfrm>
          <a:prstGeom prst="roundRect">
            <a:avLst>
              <a:gd name="adj" fmla="val 5806"/>
            </a:avLst>
          </a:prstGeom>
          <a:solidFill>
            <a:srgbClr val="1D1F2B"/>
          </a:solidFill>
          <a:ln w="12700">
            <a:solidFill>
              <a:srgbClr val="1D1F2B"/>
            </a:solidFill>
            <a:prstDash val="solid"/>
          </a:ln>
        </p:spPr>
        <p:txBody>
          <a:bodyPr/>
          <a:p/>
        </p:txBody>
      </p:sp>
      <p:sp>
        <p:nvSpPr>
          <p:cNvPr id="12" name="Shape 10"/>
          <p:cNvSpPr/>
          <p:nvPr/>
        </p:nvSpPr>
        <p:spPr>
          <a:xfrm>
            <a:off x="4679899" y="1737360"/>
            <a:ext cx="241402" cy="241402"/>
          </a:xfrm>
          <a:prstGeom prst="ellipse">
            <a:avLst/>
          </a:prstGeom>
          <a:solidFill>
            <a:srgbClr val="27D3BE"/>
          </a:solidFill>
          <a:ln w="12700">
            <a:solidFill>
              <a:srgbClr val="27D3BE"/>
            </a:solidFill>
            <a:prstDash val="solid"/>
          </a:ln>
        </p:spPr>
        <p:txBody>
          <a:bodyPr/>
          <a:p/>
        </p:txBody>
      </p:sp>
      <p:sp>
        <p:nvSpPr>
          <p:cNvPr id="13" name="Shape 11"/>
          <p:cNvSpPr/>
          <p:nvPr/>
        </p:nvSpPr>
        <p:spPr>
          <a:xfrm>
            <a:off x="4526280" y="2011680"/>
            <a:ext cx="548640" cy="630936"/>
          </a:xfrm>
          <a:prstGeom prst="roundRect">
            <a:avLst>
              <a:gd name="adj" fmla="val 30000"/>
            </a:avLst>
          </a:prstGeom>
          <a:solidFill>
            <a:srgbClr val="27D3BE"/>
          </a:solidFill>
          <a:ln w="12700">
            <a:solidFill>
              <a:srgbClr val="27D3BE"/>
            </a:solidFill>
            <a:prstDash val="solid"/>
          </a:ln>
        </p:spPr>
        <p:txBody>
          <a:bodyPr/>
          <a:p/>
        </p:txBody>
      </p:sp>
      <p:sp>
        <p:nvSpPr>
          <p:cNvPr id="14" name="Text 12"/>
          <p:cNvSpPr/>
          <p:nvPr/>
        </p:nvSpPr>
        <p:spPr>
          <a:xfrm>
            <a:off x="5257800" y="1691640"/>
            <a:ext cx="2468880" cy="45720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Ioana</a:t>
            </a:r>
            <a:endParaRPr lang="en-US" sz="1900" dirty="0"/>
          </a:p>
        </p:txBody>
      </p:sp>
      <p:sp>
        <p:nvSpPr>
          <p:cNvPr id="15" name="Text 13"/>
          <p:cNvSpPr/>
          <p:nvPr/>
        </p:nvSpPr>
        <p:spPr>
          <a:xfrm>
            <a:off x="5257800" y="2148840"/>
            <a:ext cx="2468880" cy="822960"/>
          </a:xfrm>
          <a:prstGeom prst="rect">
            <a:avLst/>
          </a:prstGeom>
          <a:noFill/>
          <a:ln/>
        </p:spPr>
        <p:txBody>
          <a:bodyPr wrap="square" lIns="0" tIns="0" rIns="0" bIns="0" rtlCol="0" anchor="t"/>
          <a:lstStyle/>
          <a:p>
            <a:pPr indent="0" marL="0">
              <a:buNone/>
            </a:pPr>
            <a:r>
              <a:rPr lang="en-US" sz="1450" dirty="0">
                <a:solidFill>
                  <a:srgbClr val="E6E8EF"/>
                </a:solidFill>
                <a:latin typeface="Palatino Linotype" pitchFamily="34" charset="0"/>
                <a:ea typeface="Palatino Linotype" pitchFamily="34" charset="-122"/>
                <a:cs typeface="Palatino Linotype" pitchFamily="34" charset="-120"/>
              </a:rPr>
              <a:t>asistentă, venită de trei luni</a:t>
            </a:r>
            <a:endParaRPr lang="en-US" sz="1450" dirty="0"/>
          </a:p>
        </p:txBody>
      </p:sp>
      <p:sp>
        <p:nvSpPr>
          <p:cNvPr id="16" name="Shape 14"/>
          <p:cNvSpPr/>
          <p:nvPr/>
        </p:nvSpPr>
        <p:spPr>
          <a:xfrm>
            <a:off x="8001000" y="1600200"/>
            <a:ext cx="3566160" cy="1417320"/>
          </a:xfrm>
          <a:prstGeom prst="roundRect">
            <a:avLst>
              <a:gd name="adj" fmla="val 5806"/>
            </a:avLst>
          </a:prstGeom>
          <a:solidFill>
            <a:srgbClr val="1D1F2B"/>
          </a:solidFill>
          <a:ln w="12700">
            <a:solidFill>
              <a:srgbClr val="1D1F2B"/>
            </a:solidFill>
            <a:prstDash val="solid"/>
          </a:ln>
        </p:spPr>
        <p:txBody>
          <a:bodyPr/>
          <a:p/>
        </p:txBody>
      </p:sp>
      <p:sp>
        <p:nvSpPr>
          <p:cNvPr id="17" name="Shape 15"/>
          <p:cNvSpPr/>
          <p:nvPr/>
        </p:nvSpPr>
        <p:spPr>
          <a:xfrm>
            <a:off x="8383219" y="1737360"/>
            <a:ext cx="241402" cy="241402"/>
          </a:xfrm>
          <a:prstGeom prst="ellipse">
            <a:avLst/>
          </a:prstGeom>
          <a:solidFill>
            <a:srgbClr val="FFC24B"/>
          </a:solidFill>
          <a:ln w="12700">
            <a:solidFill>
              <a:srgbClr val="FFC24B"/>
            </a:solidFill>
            <a:prstDash val="solid"/>
          </a:ln>
        </p:spPr>
        <p:txBody>
          <a:bodyPr/>
          <a:p/>
        </p:txBody>
      </p:sp>
      <p:sp>
        <p:nvSpPr>
          <p:cNvPr id="18" name="Shape 16"/>
          <p:cNvSpPr/>
          <p:nvPr/>
        </p:nvSpPr>
        <p:spPr>
          <a:xfrm>
            <a:off x="8229600" y="2011680"/>
            <a:ext cx="548640" cy="630936"/>
          </a:xfrm>
          <a:prstGeom prst="roundRect">
            <a:avLst>
              <a:gd name="adj" fmla="val 30000"/>
            </a:avLst>
          </a:prstGeom>
          <a:solidFill>
            <a:srgbClr val="FFC24B"/>
          </a:solidFill>
          <a:ln w="12700">
            <a:solidFill>
              <a:srgbClr val="FFC24B"/>
            </a:solidFill>
            <a:prstDash val="solid"/>
          </a:ln>
        </p:spPr>
        <p:txBody>
          <a:bodyPr/>
          <a:p/>
        </p:txBody>
      </p:sp>
      <p:sp>
        <p:nvSpPr>
          <p:cNvPr id="19" name="Text 17"/>
          <p:cNvSpPr/>
          <p:nvPr/>
        </p:nvSpPr>
        <p:spPr>
          <a:xfrm>
            <a:off x="8961120" y="1691640"/>
            <a:ext cx="2468880" cy="45720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Elena</a:t>
            </a:r>
            <a:endParaRPr lang="en-US" sz="1900" dirty="0"/>
          </a:p>
        </p:txBody>
      </p:sp>
      <p:sp>
        <p:nvSpPr>
          <p:cNvPr id="20" name="Text 18"/>
          <p:cNvSpPr/>
          <p:nvPr/>
        </p:nvSpPr>
        <p:spPr>
          <a:xfrm>
            <a:off x="8961120" y="2148840"/>
            <a:ext cx="2468880" cy="822960"/>
          </a:xfrm>
          <a:prstGeom prst="rect">
            <a:avLst/>
          </a:prstGeom>
          <a:noFill/>
          <a:ln/>
        </p:spPr>
        <p:txBody>
          <a:bodyPr wrap="square" lIns="0" tIns="0" rIns="0" bIns="0" rtlCol="0" anchor="t"/>
          <a:lstStyle/>
          <a:p>
            <a:pPr indent="0" marL="0">
              <a:buNone/>
            </a:pPr>
            <a:r>
              <a:rPr lang="en-US" sz="1450" dirty="0">
                <a:solidFill>
                  <a:srgbClr val="E6E8EF"/>
                </a:solidFill>
                <a:latin typeface="Palatino Linotype" pitchFamily="34" charset="0"/>
                <a:ea typeface="Palatino Linotype" pitchFamily="34" charset="-122"/>
                <a:cs typeface="Palatino Linotype" pitchFamily="34" charset="-120"/>
              </a:rPr>
              <a:t>infirmieră</a:t>
            </a:r>
            <a:endParaRPr lang="en-US" sz="1450" dirty="0"/>
          </a:p>
        </p:txBody>
      </p:sp>
      <p:sp>
        <p:nvSpPr>
          <p:cNvPr id="21" name="Text 19"/>
          <p:cNvSpPr/>
          <p:nvPr/>
        </p:nvSpPr>
        <p:spPr>
          <a:xfrm>
            <a:off x="594360" y="3246120"/>
            <a:ext cx="10972800" cy="118872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Optsprezece pacienți. Unul respiră greu: saturația scade la optzeci și doi la sută. Altul are nevoie urgent de o transfuzie. Medicul de gardă este pe secția vecină.</a:t>
            </a:r>
            <a:endParaRPr lang="en-US" sz="1900" dirty="0"/>
          </a:p>
        </p:txBody>
      </p:sp>
      <p:sp>
        <p:nvSpPr>
          <p:cNvPr id="22" name="Shape 20"/>
          <p:cNvSpPr/>
          <p:nvPr/>
        </p:nvSpPr>
        <p:spPr>
          <a:xfrm>
            <a:off x="594360" y="4663440"/>
            <a:ext cx="10972800" cy="1097280"/>
          </a:xfrm>
          <a:prstGeom prst="roundRect">
            <a:avLst>
              <a:gd name="adj" fmla="val 7500"/>
            </a:avLst>
          </a:prstGeom>
          <a:solidFill>
            <a:srgbClr val="272A38"/>
          </a:solidFill>
          <a:ln w="12700">
            <a:solidFill>
              <a:srgbClr val="272A38"/>
            </a:solidFill>
            <a:prstDash val="solid"/>
          </a:ln>
        </p:spPr>
        <p:txBody>
          <a:bodyPr/>
          <a:p/>
        </p:txBody>
      </p:sp>
      <p:sp>
        <p:nvSpPr>
          <p:cNvPr id="23" name="Text 21"/>
          <p:cNvSpPr/>
          <p:nvPr/>
        </p:nvSpPr>
        <p:spPr>
          <a:xfrm>
            <a:off x="868680" y="4663440"/>
            <a:ext cx="10424160" cy="1097280"/>
          </a:xfrm>
          <a:prstGeom prst="rect">
            <a:avLst/>
          </a:prstGeom>
          <a:noFill/>
          <a:ln/>
        </p:spPr>
        <p:txBody>
          <a:bodyPr wrap="square" lIns="0" tIns="0" rIns="0" bIns="0" rtlCol="0" anchor="ctr"/>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Trei decizii: cine se ocupă de fiecare pacient, cât discută Ana cu colegele, cum le explică ce au de făcut.</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GHIDUL NCSBN–ANA, 2019</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înseamnă delegarea</a:t>
            </a:r>
            <a:endParaRPr lang="en-US" sz="3000" dirty="0"/>
          </a:p>
        </p:txBody>
      </p:sp>
      <p:sp>
        <p:nvSpPr>
          <p:cNvPr id="4" name="Shape 2"/>
          <p:cNvSpPr/>
          <p:nvPr/>
        </p:nvSpPr>
        <p:spPr>
          <a:xfrm>
            <a:off x="594360" y="1600200"/>
            <a:ext cx="10972800" cy="1188720"/>
          </a:xfrm>
          <a:prstGeom prst="roundRect">
            <a:avLst>
              <a:gd name="adj" fmla="val 6923"/>
            </a:avLst>
          </a:prstGeom>
          <a:solidFill>
            <a:srgbClr val="FFFFFF"/>
          </a:solidFill>
          <a:ln w="12700">
            <a:solidFill>
              <a:srgbClr val="FFFFFF"/>
            </a:solidFill>
            <a:prstDash val="solid"/>
          </a:ln>
        </p:spPr>
        <p:txBody>
          <a:bodyPr/>
          <a:p/>
        </p:txBody>
      </p:sp>
      <p:sp>
        <p:nvSpPr>
          <p:cNvPr id="5" name="Shape 3"/>
          <p:cNvSpPr/>
          <p:nvPr/>
        </p:nvSpPr>
        <p:spPr>
          <a:xfrm>
            <a:off x="594360" y="1600200"/>
            <a:ext cx="82296" cy="1188720"/>
          </a:xfrm>
          <a:prstGeom prst="rect">
            <a:avLst/>
          </a:prstGeom>
          <a:solidFill>
            <a:srgbClr val="0E7C6B"/>
          </a:solidFill>
          <a:ln w="12700">
            <a:solidFill>
              <a:srgbClr val="0E7C6B"/>
            </a:solidFill>
            <a:prstDash val="solid"/>
          </a:ln>
        </p:spPr>
        <p:txBody>
          <a:bodyPr/>
          <a:p/>
        </p:txBody>
      </p:sp>
      <p:sp>
        <p:nvSpPr>
          <p:cNvPr id="6" name="Text 4"/>
          <p:cNvSpPr/>
          <p:nvPr/>
        </p:nvSpPr>
        <p:spPr>
          <a:xfrm>
            <a:off x="914400" y="1600200"/>
            <a:ext cx="10424160" cy="1188720"/>
          </a:xfrm>
          <a:prstGeom prst="rect">
            <a:avLst/>
          </a:prstGeom>
          <a:noFill/>
          <a:ln/>
        </p:spPr>
        <p:txBody>
          <a:bodyPr wrap="square" lIns="0" tIns="0" rIns="0" bIns="0" rtlCol="0" anchor="ctr"/>
          <a:lstStyle/>
          <a:p>
            <a:pPr indent="0" marL="0">
              <a:buNone/>
            </a:pPr>
            <a:r>
              <a:rPr lang="en-US" sz="1900" i="1" dirty="0">
                <a:solidFill>
                  <a:srgbClr val="11121A"/>
                </a:solidFill>
                <a:latin typeface="Palatino Linotype" pitchFamily="34" charset="0"/>
                <a:ea typeface="Palatino Linotype" pitchFamily="34" charset="-122"/>
                <a:cs typeface="Palatino Linotype" pitchFamily="34" charset="-120"/>
              </a:rPr>
              <a:t>Permisiunea dată unei persoane de a efectua o activitate de îngrijire specifică, care depășește rolul ei obișnuit.</a:t>
            </a:r>
            <a:endParaRPr lang="en-US" sz="1900" dirty="0"/>
          </a:p>
        </p:txBody>
      </p:sp>
      <p:sp>
        <p:nvSpPr>
          <p:cNvPr id="7" name="Shape 5"/>
          <p:cNvSpPr/>
          <p:nvPr/>
        </p:nvSpPr>
        <p:spPr>
          <a:xfrm>
            <a:off x="594360" y="3017520"/>
            <a:ext cx="5394960" cy="2468880"/>
          </a:xfrm>
          <a:prstGeom prst="roundRect">
            <a:avLst>
              <a:gd name="adj" fmla="val 3333"/>
            </a:avLst>
          </a:prstGeom>
          <a:solidFill>
            <a:srgbClr val="ECEAE4"/>
          </a:solidFill>
          <a:ln w="12700">
            <a:solidFill>
              <a:srgbClr val="ECEAE4"/>
            </a:solidFill>
            <a:prstDash val="solid"/>
          </a:ln>
        </p:spPr>
        <p:txBody>
          <a:bodyPr/>
          <a:p/>
        </p:txBody>
      </p:sp>
      <p:sp>
        <p:nvSpPr>
          <p:cNvPr id="8" name="Shape 6"/>
          <p:cNvSpPr/>
          <p:nvPr/>
        </p:nvSpPr>
        <p:spPr>
          <a:xfrm>
            <a:off x="594360" y="3017520"/>
            <a:ext cx="5394960" cy="73152"/>
          </a:xfrm>
          <a:prstGeom prst="rect">
            <a:avLst/>
          </a:prstGeom>
          <a:solidFill>
            <a:srgbClr val="8A6100"/>
          </a:solidFill>
          <a:ln w="12700">
            <a:solidFill>
              <a:srgbClr val="8A6100"/>
            </a:solidFill>
            <a:prstDash val="solid"/>
          </a:ln>
        </p:spPr>
        <p:txBody>
          <a:bodyPr/>
          <a:p/>
        </p:txBody>
      </p:sp>
      <p:sp>
        <p:nvSpPr>
          <p:cNvPr id="9" name="Text 7"/>
          <p:cNvSpPr/>
          <p:nvPr/>
        </p:nvSpPr>
        <p:spPr>
          <a:xfrm>
            <a:off x="822960" y="3218688"/>
            <a:ext cx="4937760" cy="685800"/>
          </a:xfrm>
          <a:prstGeom prst="rect">
            <a:avLst/>
          </a:prstGeom>
          <a:noFill/>
          <a:ln/>
        </p:spPr>
        <p:txBody>
          <a:bodyPr wrap="square" lIns="0" tIns="0" rIns="0" bIns="0" rtlCol="0" anchor="t"/>
          <a:lstStyle/>
          <a:p>
            <a:pPr indent="0" marL="0">
              <a:buNone/>
            </a:pPr>
            <a:r>
              <a:rPr lang="en-US" sz="1800" b="1" dirty="0">
                <a:solidFill>
                  <a:srgbClr val="8A6100"/>
                </a:solidFill>
                <a:latin typeface="Palatino Linotype" pitchFamily="34" charset="0"/>
                <a:ea typeface="Palatino Linotype" pitchFamily="34" charset="-122"/>
                <a:cs typeface="Palatino Linotype" pitchFamily="34" charset="-120"/>
              </a:rPr>
              <a:t>Cine răspunde</a:t>
            </a:r>
            <a:endParaRPr lang="en-US" sz="1800" dirty="0"/>
          </a:p>
        </p:txBody>
      </p:sp>
      <p:sp>
        <p:nvSpPr>
          <p:cNvPr id="10" name="Text 8"/>
          <p:cNvSpPr/>
          <p:nvPr/>
        </p:nvSpPr>
        <p:spPr>
          <a:xfrm>
            <a:off x="822960" y="3886200"/>
            <a:ext cx="4937760" cy="146304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Cel care primește activitatea răspunde de executarea ei; asistentul medical care o deleagă păstrează răspunderea de ansamblu pentru pacient.</a:t>
            </a:r>
            <a:endParaRPr lang="en-US" sz="1550" dirty="0"/>
          </a:p>
        </p:txBody>
      </p:sp>
      <p:sp>
        <p:nvSpPr>
          <p:cNvPr id="11" name="Shape 9"/>
          <p:cNvSpPr/>
          <p:nvPr/>
        </p:nvSpPr>
        <p:spPr>
          <a:xfrm>
            <a:off x="6172200" y="3017520"/>
            <a:ext cx="5394960" cy="2468880"/>
          </a:xfrm>
          <a:prstGeom prst="roundRect">
            <a:avLst>
              <a:gd name="adj" fmla="val 3333"/>
            </a:avLst>
          </a:prstGeom>
          <a:solidFill>
            <a:srgbClr val="F9F8F5"/>
          </a:solidFill>
          <a:ln w="12700">
            <a:solidFill>
              <a:srgbClr val="F9F8F5"/>
            </a:solidFill>
            <a:prstDash val="solid"/>
          </a:ln>
        </p:spPr>
        <p:txBody>
          <a:bodyPr/>
          <a:p/>
        </p:txBody>
      </p:sp>
      <p:sp>
        <p:nvSpPr>
          <p:cNvPr id="12" name="Shape 10"/>
          <p:cNvSpPr/>
          <p:nvPr/>
        </p:nvSpPr>
        <p:spPr>
          <a:xfrm>
            <a:off x="6172200" y="3017520"/>
            <a:ext cx="5394960" cy="73152"/>
          </a:xfrm>
          <a:prstGeom prst="rect">
            <a:avLst/>
          </a:prstGeom>
          <a:solidFill>
            <a:srgbClr val="B02532"/>
          </a:solidFill>
          <a:ln w="12700">
            <a:solidFill>
              <a:srgbClr val="B02532"/>
            </a:solidFill>
            <a:prstDash val="solid"/>
          </a:ln>
        </p:spPr>
        <p:txBody>
          <a:bodyPr/>
          <a:p/>
        </p:txBody>
      </p:sp>
      <p:sp>
        <p:nvSpPr>
          <p:cNvPr id="13" name="Text 11"/>
          <p:cNvSpPr/>
          <p:nvPr/>
        </p:nvSpPr>
        <p:spPr>
          <a:xfrm>
            <a:off x="6400800" y="3218688"/>
            <a:ext cx="4937760" cy="68580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Ce nu se deleagă</a:t>
            </a:r>
            <a:endParaRPr lang="en-US" sz="1800" dirty="0"/>
          </a:p>
        </p:txBody>
      </p:sp>
      <p:sp>
        <p:nvSpPr>
          <p:cNvPr id="14" name="Text 12"/>
          <p:cNvSpPr/>
          <p:nvPr/>
        </p:nvSpPr>
        <p:spPr>
          <a:xfrm>
            <a:off x="6400800" y="3886200"/>
            <a:ext cx="4937760" cy="146304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Judecata profesională de îngrijire: evaluarea pacientului și deciziile despre planul lui de îngrijire.</a:t>
            </a:r>
            <a:endParaRPr lang="en-US" sz="1550" dirty="0"/>
          </a:p>
        </p:txBody>
      </p:sp>
      <p:sp>
        <p:nvSpPr>
          <p:cNvPr id="15" name="Text 13"/>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NCSBN și ANA, 2019 (registru A1009, A1010). Ghid american; în România, în limitele reglementărilor profesiei și ale fișei postului.</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TREI CUVINTE CARE SE CONFUNDĂ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Delegare, repartizare, predare</a:t>
            </a:r>
            <a:endParaRPr lang="en-US" sz="3000" dirty="0"/>
          </a:p>
        </p:txBody>
      </p:sp>
      <p:sp>
        <p:nvSpPr>
          <p:cNvPr id="4" name="Shape 2"/>
          <p:cNvSpPr/>
          <p:nvPr/>
        </p:nvSpPr>
        <p:spPr>
          <a:xfrm>
            <a:off x="594360" y="1645920"/>
            <a:ext cx="3566160" cy="2834640"/>
          </a:xfrm>
          <a:prstGeom prst="roundRect">
            <a:avLst>
              <a:gd name="adj" fmla="val 2903"/>
            </a:avLst>
          </a:prstGeom>
          <a:solidFill>
            <a:srgbClr val="ECEAE4"/>
          </a:solidFill>
          <a:ln w="12700">
            <a:solidFill>
              <a:srgbClr val="ECEAE4"/>
            </a:solidFill>
            <a:prstDash val="solid"/>
          </a:ln>
        </p:spPr>
        <p:txBody>
          <a:bodyPr/>
          <a:p/>
        </p:txBody>
      </p:sp>
      <p:sp>
        <p:nvSpPr>
          <p:cNvPr id="5" name="Shape 3"/>
          <p:cNvSpPr/>
          <p:nvPr/>
        </p:nvSpPr>
        <p:spPr>
          <a:xfrm>
            <a:off x="594360" y="1645920"/>
            <a:ext cx="356616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847088"/>
            <a:ext cx="3108960" cy="68580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Repartizarea</a:t>
            </a:r>
            <a:endParaRPr lang="en-US" sz="2000" dirty="0"/>
          </a:p>
        </p:txBody>
      </p:sp>
      <p:sp>
        <p:nvSpPr>
          <p:cNvPr id="7" name="Text 5"/>
          <p:cNvSpPr/>
          <p:nvPr/>
        </p:nvSpPr>
        <p:spPr>
          <a:xfrm>
            <a:off x="822960" y="2514600"/>
            <a:ext cx="3108960" cy="18288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Îngrijiri de rutină, care intră în rolul obișnuit al celui care le primește.</a:t>
            </a:r>
            <a:endParaRPr lang="en-US" sz="1600" dirty="0"/>
          </a:p>
        </p:txBody>
      </p:sp>
      <p:sp>
        <p:nvSpPr>
          <p:cNvPr id="8" name="Shape 6"/>
          <p:cNvSpPr/>
          <p:nvPr/>
        </p:nvSpPr>
        <p:spPr>
          <a:xfrm>
            <a:off x="4297680" y="1645920"/>
            <a:ext cx="3566160" cy="2834640"/>
          </a:xfrm>
          <a:prstGeom prst="roundRect">
            <a:avLst>
              <a:gd name="adj" fmla="val 2903"/>
            </a:avLst>
          </a:prstGeom>
          <a:solidFill>
            <a:srgbClr val="F9F8F5"/>
          </a:solidFill>
          <a:ln w="12700">
            <a:solidFill>
              <a:srgbClr val="F9F8F5"/>
            </a:solidFill>
            <a:prstDash val="solid"/>
          </a:ln>
        </p:spPr>
        <p:txBody>
          <a:bodyPr/>
          <a:p/>
        </p:txBody>
      </p:sp>
      <p:sp>
        <p:nvSpPr>
          <p:cNvPr id="9" name="Shape 7"/>
          <p:cNvSpPr/>
          <p:nvPr/>
        </p:nvSpPr>
        <p:spPr>
          <a:xfrm>
            <a:off x="4297680" y="1645920"/>
            <a:ext cx="3566160" cy="73152"/>
          </a:xfrm>
          <a:prstGeom prst="rect">
            <a:avLst/>
          </a:prstGeom>
          <a:solidFill>
            <a:srgbClr val="8A6100"/>
          </a:solidFill>
          <a:ln w="12700">
            <a:solidFill>
              <a:srgbClr val="8A6100"/>
            </a:solidFill>
            <a:prstDash val="solid"/>
          </a:ln>
        </p:spPr>
        <p:txBody>
          <a:bodyPr/>
          <a:p/>
        </p:txBody>
      </p:sp>
      <p:sp>
        <p:nvSpPr>
          <p:cNvPr id="10" name="Text 8"/>
          <p:cNvSpPr/>
          <p:nvPr/>
        </p:nvSpPr>
        <p:spPr>
          <a:xfrm>
            <a:off x="4526280" y="1847088"/>
            <a:ext cx="3108960" cy="685800"/>
          </a:xfrm>
          <a:prstGeom prst="rect">
            <a:avLst/>
          </a:prstGeom>
          <a:noFill/>
          <a:ln/>
        </p:spPr>
        <p:txBody>
          <a:bodyPr wrap="square" lIns="0" tIns="0" rIns="0" bIns="0" rtlCol="0" anchor="t"/>
          <a:lstStyle/>
          <a:p>
            <a:pPr indent="0" marL="0">
              <a:buNone/>
            </a:pPr>
            <a:r>
              <a:rPr lang="en-US" sz="2000" b="1" dirty="0">
                <a:solidFill>
                  <a:srgbClr val="8A6100"/>
                </a:solidFill>
                <a:latin typeface="Palatino Linotype" pitchFamily="34" charset="0"/>
                <a:ea typeface="Palatino Linotype" pitchFamily="34" charset="-122"/>
                <a:cs typeface="Palatino Linotype" pitchFamily="34" charset="-120"/>
              </a:rPr>
              <a:t>Delegarea</a:t>
            </a:r>
            <a:endParaRPr lang="en-US" sz="2000" dirty="0"/>
          </a:p>
        </p:txBody>
      </p:sp>
      <p:sp>
        <p:nvSpPr>
          <p:cNvPr id="11" name="Text 9"/>
          <p:cNvSpPr/>
          <p:nvPr/>
        </p:nvSpPr>
        <p:spPr>
          <a:xfrm>
            <a:off x="4526280" y="2514600"/>
            <a:ext cx="3108960" cy="18288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 activitate care depășește acest rol, după instruire suplimentară și competență dovedită.</a:t>
            </a:r>
            <a:endParaRPr lang="en-US" sz="1600" dirty="0"/>
          </a:p>
        </p:txBody>
      </p:sp>
      <p:sp>
        <p:nvSpPr>
          <p:cNvPr id="12" name="Shape 10"/>
          <p:cNvSpPr/>
          <p:nvPr/>
        </p:nvSpPr>
        <p:spPr>
          <a:xfrm>
            <a:off x="8001000" y="1645920"/>
            <a:ext cx="3566160" cy="2834640"/>
          </a:xfrm>
          <a:prstGeom prst="roundRect">
            <a:avLst>
              <a:gd name="adj" fmla="val 2903"/>
            </a:avLst>
          </a:prstGeom>
          <a:solidFill>
            <a:srgbClr val="ECEAE4"/>
          </a:solidFill>
          <a:ln w="12700">
            <a:solidFill>
              <a:srgbClr val="ECEAE4"/>
            </a:solidFill>
            <a:prstDash val="solid"/>
          </a:ln>
        </p:spPr>
        <p:txBody>
          <a:bodyPr/>
          <a:p/>
        </p:txBody>
      </p:sp>
      <p:sp>
        <p:nvSpPr>
          <p:cNvPr id="13" name="Shape 11"/>
          <p:cNvSpPr/>
          <p:nvPr/>
        </p:nvSpPr>
        <p:spPr>
          <a:xfrm>
            <a:off x="8001000" y="1645920"/>
            <a:ext cx="3566160" cy="73152"/>
          </a:xfrm>
          <a:prstGeom prst="rect">
            <a:avLst/>
          </a:prstGeom>
          <a:solidFill>
            <a:srgbClr val="B02532"/>
          </a:solidFill>
          <a:ln w="12700">
            <a:solidFill>
              <a:srgbClr val="B02532"/>
            </a:solidFill>
            <a:prstDash val="solid"/>
          </a:ln>
        </p:spPr>
        <p:txBody>
          <a:bodyPr/>
          <a:p/>
        </p:txBody>
      </p:sp>
      <p:sp>
        <p:nvSpPr>
          <p:cNvPr id="14" name="Text 12"/>
          <p:cNvSpPr/>
          <p:nvPr/>
        </p:nvSpPr>
        <p:spPr>
          <a:xfrm>
            <a:off x="8229600" y="1847088"/>
            <a:ext cx="3108960" cy="6858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Predarea</a:t>
            </a:r>
            <a:endParaRPr lang="en-US" sz="2000" dirty="0"/>
          </a:p>
        </p:txBody>
      </p:sp>
      <p:sp>
        <p:nvSpPr>
          <p:cNvPr id="15" name="Text 13"/>
          <p:cNvSpPr/>
          <p:nvPr/>
        </p:nvSpPr>
        <p:spPr>
          <a:xfrm>
            <a:off x="8229600" y="2514600"/>
            <a:ext cx="3108960" cy="18288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Răspunderea pentru un pacient trece de la un asistent medical la altul.</a:t>
            </a:r>
            <a:endParaRPr lang="en-US" sz="1600" dirty="0"/>
          </a:p>
        </p:txBody>
      </p:sp>
      <p:sp>
        <p:nvSpPr>
          <p:cNvPr id="16" name="Shape 14"/>
          <p:cNvSpPr/>
          <p:nvPr/>
        </p:nvSpPr>
        <p:spPr>
          <a:xfrm>
            <a:off x="594360" y="4709160"/>
            <a:ext cx="10972800" cy="1005840"/>
          </a:xfrm>
          <a:prstGeom prst="roundRect">
            <a:avLst>
              <a:gd name="adj" fmla="val 8182"/>
            </a:avLst>
          </a:prstGeom>
          <a:solidFill>
            <a:srgbClr val="11121A"/>
          </a:solidFill>
          <a:ln w="12700">
            <a:solidFill>
              <a:srgbClr val="11121A"/>
            </a:solidFill>
            <a:prstDash val="solid"/>
          </a:ln>
        </p:spPr>
        <p:txBody>
          <a:bodyPr/>
          <a:p/>
        </p:txBody>
      </p:sp>
      <p:sp>
        <p:nvSpPr>
          <p:cNvPr id="17" name="Text 15"/>
          <p:cNvSpPr/>
          <p:nvPr/>
        </p:nvSpPr>
        <p:spPr>
          <a:xfrm>
            <a:off x="868680" y="4709160"/>
            <a:ext cx="10424160" cy="1005840"/>
          </a:xfrm>
          <a:prstGeom prst="rect">
            <a:avLst/>
          </a:prstGeom>
          <a:noFill/>
          <a:ln/>
        </p:spPr>
        <p:txBody>
          <a:bodyPr wrap="square" lIns="0" tIns="0" rIns="0" bIns="0" rtlCol="0" anchor="ctr"/>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Ghidul nu se aplică predării între asistenți medicali: predarea nu este delegare.</a:t>
            </a:r>
            <a:endParaRPr lang="en-US" sz="1800" dirty="0"/>
          </a:p>
        </p:txBody>
      </p:sp>
      <p:sp>
        <p:nvSpPr>
          <p:cNvPr id="18" name="Text 16"/>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NCSBN și ANA, 2019 (registru A1042, A1043).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CELE CINCI DREPTURI ALE DELEGĂRII · NCSBN–ANA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Cinci condiții ale unei delegări sigure</a:t>
            </a:r>
            <a:endParaRPr lang="en-US" sz="3000" dirty="0"/>
          </a:p>
        </p:txBody>
      </p:sp>
      <p:sp>
        <p:nvSpPr>
          <p:cNvPr id="4" name="Shape 2"/>
          <p:cNvSpPr/>
          <p:nvPr/>
        </p:nvSpPr>
        <p:spPr>
          <a:xfrm>
            <a:off x="594360" y="1600200"/>
            <a:ext cx="10972800" cy="621792"/>
          </a:xfrm>
          <a:prstGeom prst="roundRect">
            <a:avLst>
              <a:gd name="adj" fmla="val 13235"/>
            </a:avLst>
          </a:prstGeom>
          <a:solidFill>
            <a:srgbClr val="ECEAE4"/>
          </a:solidFill>
          <a:ln w="12700">
            <a:solidFill>
              <a:srgbClr val="ECEAE4"/>
            </a:solidFill>
            <a:prstDash val="solid"/>
          </a:ln>
        </p:spPr>
        <p:txBody>
          <a:bodyPr/>
          <a:p/>
        </p:txBody>
      </p:sp>
      <p:sp>
        <p:nvSpPr>
          <p:cNvPr id="5" name="Shape 3"/>
          <p:cNvSpPr/>
          <p:nvPr/>
        </p:nvSpPr>
        <p:spPr>
          <a:xfrm>
            <a:off x="868680" y="1700784"/>
            <a:ext cx="420624" cy="420624"/>
          </a:xfrm>
          <a:prstGeom prst="ellipse">
            <a:avLst/>
          </a:prstGeom>
          <a:solidFill>
            <a:srgbClr val="0E7C6B"/>
          </a:solidFill>
          <a:ln/>
        </p:spPr>
        <p:txBody>
          <a:bodyPr/>
          <a:p/>
        </p:txBody>
      </p:sp>
      <p:sp>
        <p:nvSpPr>
          <p:cNvPr id="6" name="Text 4"/>
          <p:cNvSpPr/>
          <p:nvPr/>
        </p:nvSpPr>
        <p:spPr>
          <a:xfrm>
            <a:off x="868680" y="1700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00200"/>
            <a:ext cx="9829800" cy="621792"/>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Sarcina potrivită: în fișa postului sau în procedurile scrise ale unității</a:t>
            </a:r>
            <a:endParaRPr lang="en-US" sz="1550" dirty="0"/>
          </a:p>
        </p:txBody>
      </p:sp>
      <p:sp>
        <p:nvSpPr>
          <p:cNvPr id="8" name="Shape 6"/>
          <p:cNvSpPr/>
          <p:nvPr/>
        </p:nvSpPr>
        <p:spPr>
          <a:xfrm>
            <a:off x="594360" y="2331720"/>
            <a:ext cx="10972800" cy="621792"/>
          </a:xfrm>
          <a:prstGeom prst="roundRect">
            <a:avLst>
              <a:gd name="adj" fmla="val 13235"/>
            </a:avLst>
          </a:prstGeom>
          <a:solidFill>
            <a:srgbClr val="ECEAE4"/>
          </a:solidFill>
          <a:ln w="12700">
            <a:solidFill>
              <a:srgbClr val="ECEAE4"/>
            </a:solidFill>
            <a:prstDash val="solid"/>
          </a:ln>
        </p:spPr>
        <p:txBody>
          <a:bodyPr/>
          <a:p/>
        </p:txBody>
      </p:sp>
      <p:sp>
        <p:nvSpPr>
          <p:cNvPr id="9" name="Shape 7"/>
          <p:cNvSpPr/>
          <p:nvPr/>
        </p:nvSpPr>
        <p:spPr>
          <a:xfrm>
            <a:off x="868680" y="2432304"/>
            <a:ext cx="420624" cy="420624"/>
          </a:xfrm>
          <a:prstGeom prst="ellipse">
            <a:avLst/>
          </a:prstGeom>
          <a:solidFill>
            <a:srgbClr val="0E7C6B"/>
          </a:solidFill>
          <a:ln/>
        </p:spPr>
        <p:txBody>
          <a:bodyPr/>
          <a:p/>
        </p:txBody>
      </p:sp>
      <p:sp>
        <p:nvSpPr>
          <p:cNvPr id="10" name="Text 8"/>
          <p:cNvSpPr/>
          <p:nvPr/>
        </p:nvSpPr>
        <p:spPr>
          <a:xfrm>
            <a:off x="868680" y="24323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331720"/>
            <a:ext cx="9829800" cy="621792"/>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Împrejurarea potrivită: pacient stabil; dacă se schimbă, se anunță asistentul</a:t>
            </a:r>
            <a:endParaRPr lang="en-US" sz="1550" dirty="0"/>
          </a:p>
        </p:txBody>
      </p:sp>
      <p:sp>
        <p:nvSpPr>
          <p:cNvPr id="12" name="Shape 10"/>
          <p:cNvSpPr/>
          <p:nvPr/>
        </p:nvSpPr>
        <p:spPr>
          <a:xfrm>
            <a:off x="594360" y="3063240"/>
            <a:ext cx="10972800" cy="621792"/>
          </a:xfrm>
          <a:prstGeom prst="roundRect">
            <a:avLst>
              <a:gd name="adj" fmla="val 13235"/>
            </a:avLst>
          </a:prstGeom>
          <a:solidFill>
            <a:srgbClr val="ECEAE4"/>
          </a:solidFill>
          <a:ln w="12700">
            <a:solidFill>
              <a:srgbClr val="ECEAE4"/>
            </a:solidFill>
            <a:prstDash val="solid"/>
          </a:ln>
        </p:spPr>
        <p:txBody>
          <a:bodyPr/>
          <a:p/>
        </p:txBody>
      </p:sp>
      <p:sp>
        <p:nvSpPr>
          <p:cNvPr id="13" name="Shape 11"/>
          <p:cNvSpPr/>
          <p:nvPr/>
        </p:nvSpPr>
        <p:spPr>
          <a:xfrm>
            <a:off x="868680" y="3163824"/>
            <a:ext cx="420624" cy="420624"/>
          </a:xfrm>
          <a:prstGeom prst="ellipse">
            <a:avLst/>
          </a:prstGeom>
          <a:solidFill>
            <a:srgbClr val="0E7C6B"/>
          </a:solidFill>
          <a:ln/>
        </p:spPr>
        <p:txBody>
          <a:bodyPr/>
          <a:p/>
        </p:txBody>
      </p:sp>
      <p:sp>
        <p:nvSpPr>
          <p:cNvPr id="14" name="Text 12"/>
          <p:cNvSpPr/>
          <p:nvPr/>
        </p:nvSpPr>
        <p:spPr>
          <a:xfrm>
            <a:off x="868680" y="31638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063240"/>
            <a:ext cx="9829800" cy="621792"/>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Persoana potrivită: are cunoștințele și abilitățile necesare</a:t>
            </a:r>
            <a:endParaRPr lang="en-US" sz="1550" dirty="0"/>
          </a:p>
        </p:txBody>
      </p:sp>
      <p:sp>
        <p:nvSpPr>
          <p:cNvPr id="16" name="Shape 14"/>
          <p:cNvSpPr/>
          <p:nvPr/>
        </p:nvSpPr>
        <p:spPr>
          <a:xfrm>
            <a:off x="594360" y="3794760"/>
            <a:ext cx="10972800" cy="621792"/>
          </a:xfrm>
          <a:prstGeom prst="roundRect">
            <a:avLst>
              <a:gd name="adj" fmla="val 13235"/>
            </a:avLst>
          </a:prstGeom>
          <a:solidFill>
            <a:srgbClr val="ECEAE4"/>
          </a:solidFill>
          <a:ln w="12700">
            <a:solidFill>
              <a:srgbClr val="ECEAE4"/>
            </a:solidFill>
            <a:prstDash val="solid"/>
          </a:ln>
        </p:spPr>
        <p:txBody>
          <a:bodyPr/>
          <a:p/>
        </p:txBody>
      </p:sp>
      <p:sp>
        <p:nvSpPr>
          <p:cNvPr id="17" name="Shape 15"/>
          <p:cNvSpPr/>
          <p:nvPr/>
        </p:nvSpPr>
        <p:spPr>
          <a:xfrm>
            <a:off x="868680" y="3895344"/>
            <a:ext cx="420624" cy="420624"/>
          </a:xfrm>
          <a:prstGeom prst="ellipse">
            <a:avLst/>
          </a:prstGeom>
          <a:solidFill>
            <a:srgbClr val="0E7C6B"/>
          </a:solidFill>
          <a:ln/>
        </p:spPr>
        <p:txBody>
          <a:bodyPr/>
          <a:p/>
        </p:txBody>
      </p:sp>
      <p:sp>
        <p:nvSpPr>
          <p:cNvPr id="18" name="Text 16"/>
          <p:cNvSpPr/>
          <p:nvPr/>
        </p:nvSpPr>
        <p:spPr>
          <a:xfrm>
            <a:off x="868680" y="3895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3794760"/>
            <a:ext cx="9829800" cy="621792"/>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Instrucțiunile potrivite: ce se culege, cum și când se raportează</a:t>
            </a:r>
            <a:endParaRPr lang="en-US" sz="1550" dirty="0"/>
          </a:p>
        </p:txBody>
      </p:sp>
      <p:sp>
        <p:nvSpPr>
          <p:cNvPr id="20" name="Shape 18"/>
          <p:cNvSpPr/>
          <p:nvPr/>
        </p:nvSpPr>
        <p:spPr>
          <a:xfrm>
            <a:off x="594360" y="4526280"/>
            <a:ext cx="10972800" cy="621792"/>
          </a:xfrm>
          <a:prstGeom prst="roundRect">
            <a:avLst>
              <a:gd name="adj" fmla="val 13235"/>
            </a:avLst>
          </a:prstGeom>
          <a:solidFill>
            <a:srgbClr val="ECEAE4"/>
          </a:solidFill>
          <a:ln w="12700">
            <a:solidFill>
              <a:srgbClr val="ECEAE4"/>
            </a:solidFill>
            <a:prstDash val="solid"/>
          </a:ln>
        </p:spPr>
        <p:txBody>
          <a:bodyPr/>
          <a:p/>
        </p:txBody>
      </p:sp>
      <p:sp>
        <p:nvSpPr>
          <p:cNvPr id="21" name="Shape 19"/>
          <p:cNvSpPr/>
          <p:nvPr/>
        </p:nvSpPr>
        <p:spPr>
          <a:xfrm>
            <a:off x="868680" y="4626864"/>
            <a:ext cx="420624" cy="420624"/>
          </a:xfrm>
          <a:prstGeom prst="ellipse">
            <a:avLst/>
          </a:prstGeom>
          <a:solidFill>
            <a:srgbClr val="0E7C6B"/>
          </a:solidFill>
          <a:ln/>
        </p:spPr>
        <p:txBody>
          <a:bodyPr/>
          <a:p/>
        </p:txBody>
      </p:sp>
      <p:sp>
        <p:nvSpPr>
          <p:cNvPr id="22" name="Text 20"/>
          <p:cNvSpPr/>
          <p:nvPr/>
        </p:nvSpPr>
        <p:spPr>
          <a:xfrm>
            <a:off x="868680" y="4626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4526280"/>
            <a:ext cx="9829800" cy="621792"/>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Supravegherea potrivită: urmărește, intervine, evaluează rezultatul</a:t>
            </a:r>
            <a:endParaRPr lang="en-US" sz="1550" dirty="0"/>
          </a:p>
        </p:txBody>
      </p:sp>
      <p:sp>
        <p:nvSpPr>
          <p:cNvPr id="24" name="Text 22"/>
          <p:cNvSpPr/>
          <p:nvPr/>
        </p:nvSpPr>
        <p:spPr>
          <a:xfrm>
            <a:off x="594360" y="5349240"/>
            <a:ext cx="10972800" cy="73152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Comunicarea merge în ambele sensuri: cel care primește întreabă, confirmă și nu modifică nimic singur.</a:t>
            </a:r>
            <a:endParaRPr lang="en-US" sz="1600" dirty="0"/>
          </a:p>
        </p:txBody>
      </p:sp>
      <p:sp>
        <p:nvSpPr>
          <p:cNvPr id="25" name="Text 23"/>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NCSBN și ANA, 2019 (registru A1011, A1012).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JOC DE ROL · TREI MINUTE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DOI VOLUNTARI: ANA ȘI IOANA</a:t>
            </a:r>
            <a:endParaRPr lang="en-US" sz="1300" dirty="0"/>
          </a:p>
        </p:txBody>
      </p:sp>
      <p:sp>
        <p:nvSpPr>
          <p:cNvPr id="5" name="Text 3"/>
          <p:cNvSpPr/>
          <p:nvPr/>
        </p:nvSpPr>
        <p:spPr>
          <a:xfrm>
            <a:off x="594360" y="868680"/>
            <a:ext cx="10972800" cy="1097280"/>
          </a:xfrm>
          <a:prstGeom prst="rect">
            <a:avLst/>
          </a:prstGeom>
          <a:noFill/>
          <a:ln/>
        </p:spPr>
        <p:txBody>
          <a:bodyPr wrap="square" lIns="0" tIns="0" rIns="0" bIns="0" rtlCol="0" anchor="ctr"/>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Ana îi repartizează Ioanei pacientul cu transfuzia</a:t>
            </a:r>
            <a:endParaRPr lang="en-US" sz="3200" dirty="0"/>
          </a:p>
        </p:txBody>
      </p:sp>
      <p:sp>
        <p:nvSpPr>
          <p:cNvPr id="6" name="Text 4"/>
          <p:cNvSpPr/>
          <p:nvPr/>
        </p:nvSpPr>
        <p:spPr>
          <a:xfrm>
            <a:off x="594360" y="2057400"/>
            <a:ext cx="10972800" cy="731520"/>
          </a:xfrm>
          <a:prstGeom prst="rect">
            <a:avLst/>
          </a:prstGeom>
          <a:noFill/>
          <a:ln/>
        </p:spPr>
        <p:txBody>
          <a:bodyPr wrap="square" lIns="0" tIns="0" rIns="0" bIns="0" rtlCol="0" anchor="t"/>
          <a:lstStyle/>
          <a:p>
            <a:pPr indent="0" marL="0">
              <a:buNone/>
            </a:pPr>
            <a:r>
              <a:rPr lang="en-US" sz="1900" dirty="0">
                <a:solidFill>
                  <a:srgbClr val="959BB0"/>
                </a:solidFill>
                <a:latin typeface="Palatino Linotype" pitchFamily="34" charset="0"/>
                <a:ea typeface="Palatino Linotype" pitchFamily="34" charset="-122"/>
                <a:cs typeface="Palatino Linotype" pitchFamily="34" charset="-120"/>
              </a:rPr>
              <a:t>Apoi pleacă la pacientul cu dificultăți de respirație. Sala urmărește dacă Ana i-a spus Ioanei:</a:t>
            </a:r>
            <a:endParaRPr lang="en-US" sz="1900" dirty="0"/>
          </a:p>
        </p:txBody>
      </p:sp>
      <p:sp>
        <p:nvSpPr>
          <p:cNvPr id="7" name="Shape 5"/>
          <p:cNvSpPr/>
          <p:nvPr/>
        </p:nvSpPr>
        <p:spPr>
          <a:xfrm>
            <a:off x="594360" y="2880360"/>
            <a:ext cx="10972800" cy="548640"/>
          </a:xfrm>
          <a:prstGeom prst="roundRect">
            <a:avLst>
              <a:gd name="adj" fmla="val 15000"/>
            </a:avLst>
          </a:prstGeom>
          <a:solidFill>
            <a:srgbClr val="1D1F2B"/>
          </a:solidFill>
          <a:ln w="12700">
            <a:solidFill>
              <a:srgbClr val="1D1F2B"/>
            </a:solidFill>
            <a:prstDash val="solid"/>
          </a:ln>
        </p:spPr>
        <p:txBody>
          <a:bodyPr/>
          <a:p/>
        </p:txBody>
      </p:sp>
      <p:sp>
        <p:nvSpPr>
          <p:cNvPr id="8" name="Shape 6"/>
          <p:cNvSpPr/>
          <p:nvPr/>
        </p:nvSpPr>
        <p:spPr>
          <a:xfrm>
            <a:off x="868680" y="2944368"/>
            <a:ext cx="420624" cy="420624"/>
          </a:xfrm>
          <a:prstGeom prst="ellipse">
            <a:avLst/>
          </a:prstGeom>
          <a:solidFill>
            <a:srgbClr val="FFC24B"/>
          </a:solidFill>
          <a:ln/>
        </p:spPr>
        <p:txBody>
          <a:bodyPr/>
          <a:p/>
        </p:txBody>
      </p:sp>
      <p:sp>
        <p:nvSpPr>
          <p:cNvPr id="9" name="Text 7"/>
          <p:cNvSpPr/>
          <p:nvPr/>
        </p:nvSpPr>
        <p:spPr>
          <a:xfrm>
            <a:off x="868680" y="29443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1508760" y="2880360"/>
            <a:ext cx="9829800" cy="54864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ce urmărește</a:t>
            </a:r>
            <a:endParaRPr lang="en-US" sz="1700" dirty="0"/>
          </a:p>
        </p:txBody>
      </p:sp>
      <p:sp>
        <p:nvSpPr>
          <p:cNvPr id="11" name="Shape 9"/>
          <p:cNvSpPr/>
          <p:nvPr/>
        </p:nvSpPr>
        <p:spPr>
          <a:xfrm>
            <a:off x="594360" y="3520440"/>
            <a:ext cx="10972800" cy="548640"/>
          </a:xfrm>
          <a:prstGeom prst="roundRect">
            <a:avLst>
              <a:gd name="adj" fmla="val 15000"/>
            </a:avLst>
          </a:prstGeom>
          <a:solidFill>
            <a:srgbClr val="1D1F2B"/>
          </a:solidFill>
          <a:ln w="12700">
            <a:solidFill>
              <a:srgbClr val="1D1F2B"/>
            </a:solidFill>
            <a:prstDash val="solid"/>
          </a:ln>
        </p:spPr>
        <p:txBody>
          <a:bodyPr/>
          <a:p/>
        </p:txBody>
      </p:sp>
      <p:sp>
        <p:nvSpPr>
          <p:cNvPr id="12" name="Shape 10"/>
          <p:cNvSpPr/>
          <p:nvPr/>
        </p:nvSpPr>
        <p:spPr>
          <a:xfrm>
            <a:off x="868680" y="3584448"/>
            <a:ext cx="420624" cy="420624"/>
          </a:xfrm>
          <a:prstGeom prst="ellipse">
            <a:avLst/>
          </a:prstGeom>
          <a:solidFill>
            <a:srgbClr val="FFC24B"/>
          </a:solidFill>
          <a:ln/>
        </p:spPr>
        <p:txBody>
          <a:bodyPr/>
          <a:p/>
        </p:txBody>
      </p:sp>
      <p:sp>
        <p:nvSpPr>
          <p:cNvPr id="13" name="Text 11"/>
          <p:cNvSpPr/>
          <p:nvPr/>
        </p:nvSpPr>
        <p:spPr>
          <a:xfrm>
            <a:off x="868680" y="35844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1508760" y="3520440"/>
            <a:ext cx="9829800" cy="54864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la ce interval</a:t>
            </a:r>
            <a:endParaRPr lang="en-US" sz="1700" dirty="0"/>
          </a:p>
        </p:txBody>
      </p:sp>
      <p:sp>
        <p:nvSpPr>
          <p:cNvPr id="15" name="Shape 13"/>
          <p:cNvSpPr/>
          <p:nvPr/>
        </p:nvSpPr>
        <p:spPr>
          <a:xfrm>
            <a:off x="594360" y="4160520"/>
            <a:ext cx="10972800" cy="548640"/>
          </a:xfrm>
          <a:prstGeom prst="roundRect">
            <a:avLst>
              <a:gd name="adj" fmla="val 15000"/>
            </a:avLst>
          </a:prstGeom>
          <a:solidFill>
            <a:srgbClr val="1D1F2B"/>
          </a:solidFill>
          <a:ln w="12700">
            <a:solidFill>
              <a:srgbClr val="1D1F2B"/>
            </a:solidFill>
            <a:prstDash val="solid"/>
          </a:ln>
        </p:spPr>
        <p:txBody>
          <a:bodyPr/>
          <a:p/>
        </p:txBody>
      </p:sp>
      <p:sp>
        <p:nvSpPr>
          <p:cNvPr id="16" name="Shape 14"/>
          <p:cNvSpPr/>
          <p:nvPr/>
        </p:nvSpPr>
        <p:spPr>
          <a:xfrm>
            <a:off x="868680" y="4224528"/>
            <a:ext cx="420624" cy="420624"/>
          </a:xfrm>
          <a:prstGeom prst="ellipse">
            <a:avLst/>
          </a:prstGeom>
          <a:solidFill>
            <a:srgbClr val="FFC24B"/>
          </a:solidFill>
          <a:ln/>
        </p:spPr>
        <p:txBody>
          <a:bodyPr/>
          <a:p/>
        </p:txBody>
      </p:sp>
      <p:sp>
        <p:nvSpPr>
          <p:cNvPr id="17" name="Text 15"/>
          <p:cNvSpPr/>
          <p:nvPr/>
        </p:nvSpPr>
        <p:spPr>
          <a:xfrm>
            <a:off x="868680" y="42245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8" name="Text 16"/>
          <p:cNvSpPr/>
          <p:nvPr/>
        </p:nvSpPr>
        <p:spPr>
          <a:xfrm>
            <a:off x="1508760" y="4160520"/>
            <a:ext cx="9829800" cy="54864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ce o face să sune imediat</a:t>
            </a:r>
            <a:endParaRPr lang="en-US" sz="1700" dirty="0"/>
          </a:p>
        </p:txBody>
      </p:sp>
      <p:sp>
        <p:nvSpPr>
          <p:cNvPr id="19" name="Shape 17"/>
          <p:cNvSpPr/>
          <p:nvPr/>
        </p:nvSpPr>
        <p:spPr>
          <a:xfrm>
            <a:off x="594360" y="4800600"/>
            <a:ext cx="10972800" cy="548640"/>
          </a:xfrm>
          <a:prstGeom prst="roundRect">
            <a:avLst>
              <a:gd name="adj" fmla="val 15000"/>
            </a:avLst>
          </a:prstGeom>
          <a:solidFill>
            <a:srgbClr val="1D1F2B"/>
          </a:solidFill>
          <a:ln w="12700">
            <a:solidFill>
              <a:srgbClr val="1D1F2B"/>
            </a:solidFill>
            <a:prstDash val="solid"/>
          </a:ln>
        </p:spPr>
        <p:txBody>
          <a:bodyPr/>
          <a:p/>
        </p:txBody>
      </p:sp>
      <p:sp>
        <p:nvSpPr>
          <p:cNvPr id="20" name="Shape 18"/>
          <p:cNvSpPr/>
          <p:nvPr/>
        </p:nvSpPr>
        <p:spPr>
          <a:xfrm>
            <a:off x="868680" y="4864608"/>
            <a:ext cx="420624" cy="420624"/>
          </a:xfrm>
          <a:prstGeom prst="ellipse">
            <a:avLst/>
          </a:prstGeom>
          <a:solidFill>
            <a:srgbClr val="FFC24B"/>
          </a:solidFill>
          <a:ln/>
        </p:spPr>
        <p:txBody>
          <a:bodyPr/>
          <a:p/>
        </p:txBody>
      </p:sp>
      <p:sp>
        <p:nvSpPr>
          <p:cNvPr id="21" name="Text 19"/>
          <p:cNvSpPr/>
          <p:nvPr/>
        </p:nvSpPr>
        <p:spPr>
          <a:xfrm>
            <a:off x="868680" y="48646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2" name="Text 20"/>
          <p:cNvSpPr/>
          <p:nvPr/>
        </p:nvSpPr>
        <p:spPr>
          <a:xfrm>
            <a:off x="1508760" y="4800600"/>
            <a:ext cx="9829800" cy="54864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când revine Ana</a:t>
            </a:r>
            <a:endParaRPr lang="en-US" sz="1700" dirty="0"/>
          </a:p>
        </p:txBody>
      </p:sp>
      <p:sp>
        <p:nvSpPr>
          <p:cNvPr id="23" name="Text 21"/>
          <p:cNvSpPr/>
          <p:nvPr/>
        </p:nvSpPr>
        <p:spPr>
          <a:xfrm>
            <a:off x="594360" y="5532120"/>
            <a:ext cx="10972800" cy="45720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Apoi votați pe telefon.</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JOCUL DE ROL · UN SINGUR RĂSPUNS CORECT</a:t>
            </a:r>
            <a:endParaRPr lang="en-US" sz="1300" dirty="0"/>
          </a:p>
        </p:txBody>
      </p:sp>
      <p:sp>
        <p:nvSpPr>
          <p:cNvPr id="5" name="Text 3"/>
          <p:cNvSpPr/>
          <p:nvPr/>
        </p:nvSpPr>
        <p:spPr>
          <a:xfrm>
            <a:off x="594360" y="868680"/>
            <a:ext cx="10972800" cy="1600200"/>
          </a:xfrm>
          <a:prstGeom prst="rect">
            <a:avLst/>
          </a:prstGeom>
          <a:noFill/>
          <a:ln/>
        </p:spPr>
        <p:txBody>
          <a:bodyPr wrap="square" lIns="0" tIns="0" rIns="0" bIns="0" rtlCol="0" anchor="ctr"/>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Ana îi repartizează Ioanei pacientul cu transfuzia. Este aceasta o delegare?</a:t>
            </a:r>
            <a:endParaRPr lang="en-US" sz="3000" dirty="0"/>
          </a:p>
        </p:txBody>
      </p:sp>
      <p:sp>
        <p:nvSpPr>
          <p:cNvPr id="6" name="Shape 4"/>
          <p:cNvSpPr/>
          <p:nvPr/>
        </p:nvSpPr>
        <p:spPr>
          <a:xfrm>
            <a:off x="594360" y="269748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7" name="Shape 5"/>
          <p:cNvSpPr/>
          <p:nvPr/>
        </p:nvSpPr>
        <p:spPr>
          <a:xfrm>
            <a:off x="868680" y="2852928"/>
            <a:ext cx="420624" cy="420624"/>
          </a:xfrm>
          <a:prstGeom prst="ellipse">
            <a:avLst/>
          </a:prstGeom>
          <a:solidFill>
            <a:srgbClr val="FFC24B"/>
          </a:solidFill>
          <a:ln/>
        </p:spPr>
        <p:txBody>
          <a:bodyPr/>
          <a:p/>
        </p:txBody>
      </p:sp>
      <p:sp>
        <p:nvSpPr>
          <p:cNvPr id="8" name="Text 6"/>
          <p:cNvSpPr/>
          <p:nvPr/>
        </p:nvSpPr>
        <p:spPr>
          <a:xfrm>
            <a:off x="868680" y="2852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269748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Da</a:t>
            </a:r>
            <a:endParaRPr lang="en-US" sz="2000" dirty="0"/>
          </a:p>
        </p:txBody>
      </p:sp>
      <p:sp>
        <p:nvSpPr>
          <p:cNvPr id="10" name="Shape 8"/>
          <p:cNvSpPr/>
          <p:nvPr/>
        </p:nvSpPr>
        <p:spPr>
          <a:xfrm>
            <a:off x="594360" y="356616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1" name="Shape 9"/>
          <p:cNvSpPr/>
          <p:nvPr/>
        </p:nvSpPr>
        <p:spPr>
          <a:xfrm>
            <a:off x="868680" y="3721608"/>
            <a:ext cx="420624" cy="420624"/>
          </a:xfrm>
          <a:prstGeom prst="ellipse">
            <a:avLst/>
          </a:prstGeom>
          <a:solidFill>
            <a:srgbClr val="FFC24B"/>
          </a:solidFill>
          <a:ln/>
        </p:spPr>
        <p:txBody>
          <a:bodyPr/>
          <a:p/>
        </p:txBody>
      </p:sp>
      <p:sp>
        <p:nvSpPr>
          <p:cNvPr id="12" name="Text 10"/>
          <p:cNvSpPr/>
          <p:nvPr/>
        </p:nvSpPr>
        <p:spPr>
          <a:xfrm>
            <a:off x="868680" y="37216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356616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Nu</a:t>
            </a:r>
            <a:endParaRPr lang="en-US" sz="2000" dirty="0"/>
          </a:p>
        </p:txBody>
      </p:sp>
      <p:sp>
        <p:nvSpPr>
          <p:cNvPr id="14" name="Text 12"/>
          <p:cNvSpPr/>
          <p:nvPr/>
        </p:nvSpPr>
        <p:spPr>
          <a:xfrm>
            <a:off x="594360" y="5440680"/>
            <a:ext cx="10972800" cy="6400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Votați fără să vedeți votul celorlalți.</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B. Nu: între două asistente medicale este o predare</a:t>
            </a:r>
            <a:endParaRPr lang="en-US" sz="2800" dirty="0"/>
          </a:p>
        </p:txBody>
      </p:sp>
      <p:sp>
        <p:nvSpPr>
          <p:cNvPr id="4" name="Shape 2"/>
          <p:cNvSpPr/>
          <p:nvPr/>
        </p:nvSpPr>
        <p:spPr>
          <a:xfrm>
            <a:off x="594360" y="1691640"/>
            <a:ext cx="5394960" cy="3108960"/>
          </a:xfrm>
          <a:prstGeom prst="roundRect">
            <a:avLst>
              <a:gd name="adj" fmla="val 2647"/>
            </a:avLst>
          </a:prstGeom>
          <a:solidFill>
            <a:srgbClr val="ECEAE4"/>
          </a:solidFill>
          <a:ln w="12700">
            <a:solidFill>
              <a:srgbClr val="ECEAE4"/>
            </a:solidFill>
            <a:prstDash val="solid"/>
          </a:ln>
        </p:spPr>
        <p:txBody>
          <a:bodyPr/>
          <a:p/>
        </p:txBody>
      </p:sp>
      <p:sp>
        <p:nvSpPr>
          <p:cNvPr id="5" name="Shape 3"/>
          <p:cNvSpPr/>
          <p:nvPr/>
        </p:nvSpPr>
        <p:spPr>
          <a:xfrm>
            <a:off x="594360" y="1691640"/>
            <a:ext cx="539496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892808"/>
            <a:ext cx="4937760" cy="68580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Ioana</a:t>
            </a:r>
            <a:endParaRPr lang="en-US" sz="2000" dirty="0"/>
          </a:p>
        </p:txBody>
      </p:sp>
      <p:sp>
        <p:nvSpPr>
          <p:cNvPr id="7" name="Text 5"/>
          <p:cNvSpPr/>
          <p:nvPr/>
        </p:nvSpPr>
        <p:spPr>
          <a:xfrm>
            <a:off x="822960" y="2560320"/>
            <a:ext cx="4937760" cy="210312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Ghidul nu se aplică predării unui pacient de la un asistent medical la altul.</a:t>
            </a:r>
            <a:endParaRPr lang="en-US" sz="1700" dirty="0"/>
          </a:p>
        </p:txBody>
      </p:sp>
      <p:sp>
        <p:nvSpPr>
          <p:cNvPr id="8" name="Shape 6"/>
          <p:cNvSpPr/>
          <p:nvPr/>
        </p:nvSpPr>
        <p:spPr>
          <a:xfrm>
            <a:off x="6172200" y="1691640"/>
            <a:ext cx="5394960" cy="3108960"/>
          </a:xfrm>
          <a:prstGeom prst="roundRect">
            <a:avLst>
              <a:gd name="adj" fmla="val 2647"/>
            </a:avLst>
          </a:prstGeom>
          <a:solidFill>
            <a:srgbClr val="F9F8F5"/>
          </a:solidFill>
          <a:ln w="12700">
            <a:solidFill>
              <a:srgbClr val="F9F8F5"/>
            </a:solidFill>
            <a:prstDash val="solid"/>
          </a:ln>
        </p:spPr>
        <p:txBody>
          <a:bodyPr/>
          <a:p/>
        </p:txBody>
      </p:sp>
      <p:sp>
        <p:nvSpPr>
          <p:cNvPr id="9" name="Shape 7"/>
          <p:cNvSpPr/>
          <p:nvPr/>
        </p:nvSpPr>
        <p:spPr>
          <a:xfrm>
            <a:off x="6172200" y="1691640"/>
            <a:ext cx="5394960" cy="73152"/>
          </a:xfrm>
          <a:prstGeom prst="rect">
            <a:avLst/>
          </a:prstGeom>
          <a:solidFill>
            <a:srgbClr val="B02532"/>
          </a:solidFill>
          <a:ln w="12700">
            <a:solidFill>
              <a:srgbClr val="B02532"/>
            </a:solidFill>
            <a:prstDash val="solid"/>
          </a:ln>
        </p:spPr>
        <p:txBody>
          <a:bodyPr/>
          <a:p/>
        </p:txBody>
      </p:sp>
      <p:sp>
        <p:nvSpPr>
          <p:cNvPr id="10" name="Text 8"/>
          <p:cNvSpPr/>
          <p:nvPr/>
        </p:nvSpPr>
        <p:spPr>
          <a:xfrm>
            <a:off x="6400800" y="1892808"/>
            <a:ext cx="4937760" cy="6858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Dacă Ana i-ar delega Elenei ceva</a:t>
            </a:r>
            <a:endParaRPr lang="en-US" sz="2000" dirty="0"/>
          </a:p>
        </p:txBody>
      </p:sp>
      <p:sp>
        <p:nvSpPr>
          <p:cNvPr id="11" name="Text 9"/>
          <p:cNvSpPr/>
          <p:nvPr/>
        </p:nvSpPr>
        <p:spPr>
          <a:xfrm>
            <a:off x="6400800" y="2560320"/>
            <a:ext cx="4937760" cy="210312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O activitate care îi depășește rolul obișnuit: Ana verifică cele cinci condiții. Aici nu există un singur răspuns corect.</a:t>
            </a:r>
            <a:endParaRPr lang="en-US" sz="1700" dirty="0"/>
          </a:p>
        </p:txBody>
      </p:sp>
      <p:sp>
        <p:nvSpPr>
          <p:cNvPr id="12" name="Text 10"/>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NCSBN și ANA, 2019 (registru A1042, A1011).</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CUM SE IAU DECIZIILE · CONVENȚIE A CURSULUI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Trei moduri de a decide</a:t>
            </a:r>
            <a:endParaRPr lang="en-US" sz="3000" dirty="0"/>
          </a:p>
        </p:txBody>
      </p:sp>
      <p:sp>
        <p:nvSpPr>
          <p:cNvPr id="4" name="Shape 2"/>
          <p:cNvSpPr/>
          <p:nvPr/>
        </p:nvSpPr>
        <p:spPr>
          <a:xfrm>
            <a:off x="594360" y="1645920"/>
            <a:ext cx="3566160" cy="2971800"/>
          </a:xfrm>
          <a:prstGeom prst="roundRect">
            <a:avLst>
              <a:gd name="adj" fmla="val 2769"/>
            </a:avLst>
          </a:prstGeom>
          <a:solidFill>
            <a:srgbClr val="ECEAE4"/>
          </a:solidFill>
          <a:ln w="12700">
            <a:solidFill>
              <a:srgbClr val="ECEAE4"/>
            </a:solidFill>
            <a:prstDash val="solid"/>
          </a:ln>
        </p:spPr>
        <p:txBody>
          <a:bodyPr/>
          <a:p/>
        </p:txBody>
      </p:sp>
      <p:sp>
        <p:nvSpPr>
          <p:cNvPr id="5" name="Shape 3"/>
          <p:cNvSpPr/>
          <p:nvPr/>
        </p:nvSpPr>
        <p:spPr>
          <a:xfrm>
            <a:off x="594360" y="1645920"/>
            <a:ext cx="356616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847088"/>
            <a:ext cx="3108960" cy="68580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Rațional</a:t>
            </a:r>
            <a:endParaRPr lang="en-US" sz="1900" dirty="0"/>
          </a:p>
        </p:txBody>
      </p:sp>
      <p:sp>
        <p:nvSpPr>
          <p:cNvPr id="7" name="Text 5"/>
          <p:cNvSpPr/>
          <p:nvPr/>
        </p:nvSpPr>
        <p:spPr>
          <a:xfrm>
            <a:off x="822960" y="2514600"/>
            <a:ext cx="3108960" cy="19659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Pași succesivi, de la definirea problemei la evaluarea rezultatului; când există timp și date.</a:t>
            </a:r>
            <a:endParaRPr lang="en-US" sz="1550" dirty="0"/>
          </a:p>
        </p:txBody>
      </p:sp>
      <p:sp>
        <p:nvSpPr>
          <p:cNvPr id="8" name="Shape 6"/>
          <p:cNvSpPr/>
          <p:nvPr/>
        </p:nvSpPr>
        <p:spPr>
          <a:xfrm>
            <a:off x="4297680" y="1645920"/>
            <a:ext cx="3566160" cy="2971800"/>
          </a:xfrm>
          <a:prstGeom prst="roundRect">
            <a:avLst>
              <a:gd name="adj" fmla="val 2769"/>
            </a:avLst>
          </a:prstGeom>
          <a:solidFill>
            <a:srgbClr val="F9F8F5"/>
          </a:solidFill>
          <a:ln w="12700">
            <a:solidFill>
              <a:srgbClr val="F9F8F5"/>
            </a:solidFill>
            <a:prstDash val="solid"/>
          </a:ln>
        </p:spPr>
        <p:txBody>
          <a:bodyPr/>
          <a:p/>
        </p:txBody>
      </p:sp>
      <p:sp>
        <p:nvSpPr>
          <p:cNvPr id="9" name="Shape 7"/>
          <p:cNvSpPr/>
          <p:nvPr/>
        </p:nvSpPr>
        <p:spPr>
          <a:xfrm>
            <a:off x="4297680" y="1645920"/>
            <a:ext cx="3566160" cy="73152"/>
          </a:xfrm>
          <a:prstGeom prst="rect">
            <a:avLst/>
          </a:prstGeom>
          <a:solidFill>
            <a:srgbClr val="8A6100"/>
          </a:solidFill>
          <a:ln w="12700">
            <a:solidFill>
              <a:srgbClr val="8A6100"/>
            </a:solidFill>
            <a:prstDash val="solid"/>
          </a:ln>
        </p:spPr>
        <p:txBody>
          <a:bodyPr/>
          <a:p/>
        </p:txBody>
      </p:sp>
      <p:sp>
        <p:nvSpPr>
          <p:cNvPr id="10" name="Text 8"/>
          <p:cNvSpPr/>
          <p:nvPr/>
        </p:nvSpPr>
        <p:spPr>
          <a:xfrm>
            <a:off x="4526280" y="1847088"/>
            <a:ext cx="3108960" cy="685800"/>
          </a:xfrm>
          <a:prstGeom prst="rect">
            <a:avLst/>
          </a:prstGeom>
          <a:noFill/>
          <a:ln/>
        </p:spPr>
        <p:txBody>
          <a:bodyPr wrap="square" lIns="0" tIns="0" rIns="0" bIns="0" rtlCol="0" anchor="t"/>
          <a:lstStyle/>
          <a:p>
            <a:pPr indent="0" marL="0">
              <a:buNone/>
            </a:pPr>
            <a:r>
              <a:rPr lang="en-US" sz="1900" b="1" dirty="0">
                <a:solidFill>
                  <a:srgbClr val="8A6100"/>
                </a:solidFill>
                <a:latin typeface="Palatino Linotype" pitchFamily="34" charset="0"/>
                <a:ea typeface="Palatino Linotype" pitchFamily="34" charset="-122"/>
                <a:cs typeface="Palatino Linotype" pitchFamily="34" charset="-120"/>
              </a:rPr>
              <a:t>Intuitiv</a:t>
            </a:r>
            <a:endParaRPr lang="en-US" sz="1900" dirty="0"/>
          </a:p>
        </p:txBody>
      </p:sp>
      <p:sp>
        <p:nvSpPr>
          <p:cNvPr id="11" name="Text 9"/>
          <p:cNvSpPr/>
          <p:nvPr/>
        </p:nvSpPr>
        <p:spPr>
          <a:xfrm>
            <a:off x="4526280" y="2514600"/>
            <a:ext cx="3108960" cy="19659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Expertul recunoaște repede tiparul situației. Benner: drumul de la începător la expert.</a:t>
            </a:r>
            <a:endParaRPr lang="en-US" sz="1550" dirty="0"/>
          </a:p>
        </p:txBody>
      </p:sp>
      <p:sp>
        <p:nvSpPr>
          <p:cNvPr id="12" name="Shape 10"/>
          <p:cNvSpPr/>
          <p:nvPr/>
        </p:nvSpPr>
        <p:spPr>
          <a:xfrm>
            <a:off x="8001000" y="1645920"/>
            <a:ext cx="3566160" cy="2971800"/>
          </a:xfrm>
          <a:prstGeom prst="roundRect">
            <a:avLst>
              <a:gd name="adj" fmla="val 2769"/>
            </a:avLst>
          </a:prstGeom>
          <a:solidFill>
            <a:srgbClr val="ECEAE4"/>
          </a:solidFill>
          <a:ln w="12700">
            <a:solidFill>
              <a:srgbClr val="ECEAE4"/>
            </a:solidFill>
            <a:prstDash val="solid"/>
          </a:ln>
        </p:spPr>
        <p:txBody>
          <a:bodyPr/>
          <a:p/>
        </p:txBody>
      </p:sp>
      <p:sp>
        <p:nvSpPr>
          <p:cNvPr id="13" name="Shape 11"/>
          <p:cNvSpPr/>
          <p:nvPr/>
        </p:nvSpPr>
        <p:spPr>
          <a:xfrm>
            <a:off x="8001000" y="1645920"/>
            <a:ext cx="3566160" cy="73152"/>
          </a:xfrm>
          <a:prstGeom prst="rect">
            <a:avLst/>
          </a:prstGeom>
          <a:solidFill>
            <a:srgbClr val="4A2D8C"/>
          </a:solidFill>
          <a:ln w="12700">
            <a:solidFill>
              <a:srgbClr val="4A2D8C"/>
            </a:solidFill>
            <a:prstDash val="solid"/>
          </a:ln>
        </p:spPr>
        <p:txBody>
          <a:bodyPr/>
          <a:p/>
        </p:txBody>
      </p:sp>
      <p:sp>
        <p:nvSpPr>
          <p:cNvPr id="14" name="Text 12"/>
          <p:cNvSpPr/>
          <p:nvPr/>
        </p:nvSpPr>
        <p:spPr>
          <a:xfrm>
            <a:off x="8229600" y="1847088"/>
            <a:ext cx="3108960" cy="685800"/>
          </a:xfrm>
          <a:prstGeom prst="rect">
            <a:avLst/>
          </a:prstGeom>
          <a:noFill/>
          <a:ln/>
        </p:spPr>
        <p:txBody>
          <a:bodyPr wrap="square" lIns="0" tIns="0" rIns="0" bIns="0" rtlCol="0" anchor="t"/>
          <a:lstStyle/>
          <a:p>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Participarea echipei</a:t>
            </a:r>
            <a:endParaRPr lang="en-US" sz="1900" dirty="0"/>
          </a:p>
        </p:txBody>
      </p:sp>
      <p:sp>
        <p:nvSpPr>
          <p:cNvPr id="15" name="Text 13"/>
          <p:cNvSpPr/>
          <p:nvPr/>
        </p:nvSpPr>
        <p:spPr>
          <a:xfrm>
            <a:off x="8229600" y="2514600"/>
            <a:ext cx="3108960" cy="19659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De la decizia luată singur la decizia de grup, după calitatea cerută, acceptare și timp.</a:t>
            </a:r>
            <a:endParaRPr lang="en-US" sz="1550" dirty="0"/>
          </a:p>
        </p:txBody>
      </p:sp>
      <p:sp>
        <p:nvSpPr>
          <p:cNvPr id="16" name="Shape 14"/>
          <p:cNvSpPr/>
          <p:nvPr/>
        </p:nvSpPr>
        <p:spPr>
          <a:xfrm>
            <a:off x="594360" y="4846320"/>
            <a:ext cx="10972800" cy="960120"/>
          </a:xfrm>
          <a:prstGeom prst="roundRect">
            <a:avLst>
              <a:gd name="adj" fmla="val 8571"/>
            </a:avLst>
          </a:prstGeom>
          <a:solidFill>
            <a:srgbClr val="11121A"/>
          </a:solidFill>
          <a:ln w="12700">
            <a:solidFill>
              <a:srgbClr val="11121A"/>
            </a:solidFill>
            <a:prstDash val="solid"/>
          </a:ln>
        </p:spPr>
        <p:txBody>
          <a:bodyPr/>
          <a:p/>
        </p:txBody>
      </p:sp>
      <p:sp>
        <p:nvSpPr>
          <p:cNvPr id="17" name="Text 15"/>
          <p:cNvSpPr/>
          <p:nvPr/>
        </p:nvSpPr>
        <p:spPr>
          <a:xfrm>
            <a:off x="868680" y="4846320"/>
            <a:ext cx="10424160" cy="960120"/>
          </a:xfrm>
          <a:prstGeom prst="rect">
            <a:avLst/>
          </a:prstGeom>
          <a:noFill/>
          <a:ln/>
        </p:spPr>
        <p:txBody>
          <a:bodyPr wrap="square" lIns="0" tIns="0" rIns="0" bIns="0" rtlCol="0" anchor="ctr"/>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În urgență decide cel care coordonează; un program nou al turelor se decide împreună.</a:t>
            </a:r>
            <a:endParaRPr lang="en-US" sz="1700" dirty="0"/>
          </a:p>
        </p:txBody>
      </p:sp>
      <p:sp>
        <p:nvSpPr>
          <p:cNvPr id="18" name="Text 16"/>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Vroom, Yetton și Jago, după OpenStax (registru A1007); cele trei moduri: convenție a cursului.</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ÎNAPOI LA NOAPTEA DE JOI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face Ana în noaptea de joi</a:t>
            </a:r>
            <a:endParaRPr lang="en-US" sz="3000" dirty="0"/>
          </a:p>
        </p:txBody>
      </p:sp>
      <p:sp>
        <p:nvSpPr>
          <p:cNvPr id="4" name="Shape 2"/>
          <p:cNvSpPr/>
          <p:nvPr/>
        </p:nvSpPr>
        <p:spPr>
          <a:xfrm>
            <a:off x="594360" y="1554480"/>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5" name="Shape 3"/>
          <p:cNvSpPr/>
          <p:nvPr/>
        </p:nvSpPr>
        <p:spPr>
          <a:xfrm>
            <a:off x="868680" y="1664208"/>
            <a:ext cx="420624" cy="420624"/>
          </a:xfrm>
          <a:prstGeom prst="ellipse">
            <a:avLst/>
          </a:prstGeom>
          <a:solidFill>
            <a:srgbClr val="B02532"/>
          </a:solidFill>
          <a:ln/>
        </p:spPr>
        <p:txBody>
          <a:bodyPr/>
          <a:p/>
        </p:txBody>
      </p:sp>
      <p:sp>
        <p:nvSpPr>
          <p:cNvPr id="6" name="Text 4"/>
          <p:cNvSpPr/>
          <p:nvPr/>
        </p:nvSpPr>
        <p:spPr>
          <a:xfrm>
            <a:off x="868680" y="16642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554480"/>
            <a:ext cx="98298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Decide singură: nu este timp de consultare.</a:t>
            </a:r>
            <a:endParaRPr lang="en-US" sz="1550" dirty="0"/>
          </a:p>
        </p:txBody>
      </p:sp>
      <p:sp>
        <p:nvSpPr>
          <p:cNvPr id="8" name="Shape 6"/>
          <p:cNvSpPr/>
          <p:nvPr/>
        </p:nvSpPr>
        <p:spPr>
          <a:xfrm>
            <a:off x="594360" y="2304288"/>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9" name="Shape 7"/>
          <p:cNvSpPr/>
          <p:nvPr/>
        </p:nvSpPr>
        <p:spPr>
          <a:xfrm>
            <a:off x="868680" y="2414016"/>
            <a:ext cx="420624" cy="420624"/>
          </a:xfrm>
          <a:prstGeom prst="ellipse">
            <a:avLst/>
          </a:prstGeom>
          <a:solidFill>
            <a:srgbClr val="B02532"/>
          </a:solidFill>
          <a:ln/>
        </p:spPr>
        <p:txBody>
          <a:bodyPr/>
          <a:p/>
        </p:txBody>
      </p:sp>
      <p:sp>
        <p:nvSpPr>
          <p:cNvPr id="10" name="Text 8"/>
          <p:cNvSpPr/>
          <p:nvPr/>
        </p:nvSpPr>
        <p:spPr>
          <a:xfrm>
            <a:off x="868680" y="24140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304288"/>
            <a:ext cx="98298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Merge ea la pacientul care respiră greu: evaluarea lui cere judecată clinică.</a:t>
            </a:r>
            <a:endParaRPr lang="en-US" sz="1550" dirty="0"/>
          </a:p>
        </p:txBody>
      </p:sp>
      <p:sp>
        <p:nvSpPr>
          <p:cNvPr id="12" name="Shape 10"/>
          <p:cNvSpPr/>
          <p:nvPr/>
        </p:nvSpPr>
        <p:spPr>
          <a:xfrm>
            <a:off x="594360" y="3054096"/>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13" name="Shape 11"/>
          <p:cNvSpPr/>
          <p:nvPr/>
        </p:nvSpPr>
        <p:spPr>
          <a:xfrm>
            <a:off x="868680" y="3163824"/>
            <a:ext cx="420624" cy="420624"/>
          </a:xfrm>
          <a:prstGeom prst="ellipse">
            <a:avLst/>
          </a:prstGeom>
          <a:solidFill>
            <a:srgbClr val="B02532"/>
          </a:solidFill>
          <a:ln/>
        </p:spPr>
        <p:txBody>
          <a:bodyPr/>
          <a:p/>
        </p:txBody>
      </p:sp>
      <p:sp>
        <p:nvSpPr>
          <p:cNvPr id="14" name="Text 12"/>
          <p:cNvSpPr/>
          <p:nvPr/>
        </p:nvSpPr>
        <p:spPr>
          <a:xfrm>
            <a:off x="868680" y="31638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054096"/>
            <a:ext cx="98298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Pacientul cu transfuzia îi revine Ioanei: o predare, cu semnele de urmărit și când o cheamă.</a:t>
            </a:r>
            <a:endParaRPr lang="en-US" sz="1550" dirty="0"/>
          </a:p>
        </p:txBody>
      </p:sp>
      <p:sp>
        <p:nvSpPr>
          <p:cNvPr id="16" name="Shape 14"/>
          <p:cNvSpPr/>
          <p:nvPr/>
        </p:nvSpPr>
        <p:spPr>
          <a:xfrm>
            <a:off x="594360" y="3803904"/>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17" name="Shape 15"/>
          <p:cNvSpPr/>
          <p:nvPr/>
        </p:nvSpPr>
        <p:spPr>
          <a:xfrm>
            <a:off x="868680" y="3913632"/>
            <a:ext cx="420624" cy="420624"/>
          </a:xfrm>
          <a:prstGeom prst="ellipse">
            <a:avLst/>
          </a:prstGeom>
          <a:solidFill>
            <a:srgbClr val="B02532"/>
          </a:solidFill>
          <a:ln/>
        </p:spPr>
        <p:txBody>
          <a:bodyPr/>
          <a:p/>
        </p:txBody>
      </p:sp>
      <p:sp>
        <p:nvSpPr>
          <p:cNvPr id="18" name="Text 16"/>
          <p:cNvSpPr/>
          <p:nvPr/>
        </p:nvSpPr>
        <p:spPr>
          <a:xfrm>
            <a:off x="868680" y="3913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3803904"/>
            <a:ext cx="98298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Elena: rutina infirmierei este repartizare; altceva este delegare, cu cele cinci condiții.</a:t>
            </a:r>
            <a:endParaRPr lang="en-US" sz="1550" dirty="0"/>
          </a:p>
        </p:txBody>
      </p:sp>
      <p:sp>
        <p:nvSpPr>
          <p:cNvPr id="20" name="Shape 18"/>
          <p:cNvSpPr/>
          <p:nvPr/>
        </p:nvSpPr>
        <p:spPr>
          <a:xfrm>
            <a:off x="594360" y="4553712"/>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21" name="Shape 19"/>
          <p:cNvSpPr/>
          <p:nvPr/>
        </p:nvSpPr>
        <p:spPr>
          <a:xfrm>
            <a:off x="868680" y="4663440"/>
            <a:ext cx="420624" cy="420624"/>
          </a:xfrm>
          <a:prstGeom prst="ellipse">
            <a:avLst/>
          </a:prstGeom>
          <a:solidFill>
            <a:srgbClr val="B02532"/>
          </a:solidFill>
          <a:ln/>
        </p:spPr>
        <p:txBody>
          <a:bodyPr/>
          <a:p/>
        </p:txBody>
      </p:sp>
      <p:sp>
        <p:nvSpPr>
          <p:cNvPr id="22" name="Text 20"/>
          <p:cNvSpPr/>
          <p:nvPr/>
        </p:nvSpPr>
        <p:spPr>
          <a:xfrm>
            <a:off x="868680" y="46634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4553712"/>
            <a:ext cx="98298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Îl cheamă imediat pe medicul de gardă: situația, contextul, evaluarea, recomandarea.</a:t>
            </a:r>
            <a:endParaRPr lang="en-US" sz="1550" dirty="0"/>
          </a:p>
        </p:txBody>
      </p:sp>
      <p:sp>
        <p:nvSpPr>
          <p:cNvPr id="24" name="Text 22"/>
          <p:cNvSpPr/>
          <p:nvPr/>
        </p:nvSpPr>
        <p:spPr>
          <a:xfrm>
            <a:off x="594360" y="5394960"/>
            <a:ext cx="10972800" cy="54864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Față de Ioana, în noaptea aceea: un stil directiv.</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KENNETH THOMAS · OPENSTAX, ORGANIZATIONAL BEHAVIOR</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Cinci moduri de abordare a conflictului</a:t>
            </a:r>
            <a:endParaRPr lang="en-US" sz="2800" dirty="0"/>
          </a:p>
        </p:txBody>
      </p:sp>
      <p:sp>
        <p:nvSpPr>
          <p:cNvPr id="4" name="Shape 2"/>
          <p:cNvSpPr/>
          <p:nvPr/>
        </p:nvSpPr>
        <p:spPr>
          <a:xfrm>
            <a:off x="594360" y="1554480"/>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5" name="Text 3"/>
          <p:cNvSpPr/>
          <p:nvPr/>
        </p:nvSpPr>
        <p:spPr>
          <a:xfrm>
            <a:off x="822960" y="1554480"/>
            <a:ext cx="2377440" cy="640080"/>
          </a:xfrm>
          <a:prstGeom prst="rect">
            <a:avLst/>
          </a:prstGeom>
          <a:noFill/>
          <a:ln/>
        </p:spPr>
        <p:txBody>
          <a:bodyPr wrap="square" lIns="0" tIns="0" rIns="0" bIns="0" rtlCol="0" anchor="ctr"/>
          <a:lstStyle/>
          <a:p>
            <a:pPr indent="0" marL="0">
              <a:buNone/>
            </a:pPr>
            <a:r>
              <a:rPr lang="en-US" sz="1650" b="1" dirty="0">
                <a:solidFill>
                  <a:srgbClr val="4A2D8C"/>
                </a:solidFill>
                <a:latin typeface="Palatino Linotype" pitchFamily="34" charset="0"/>
                <a:ea typeface="Palatino Linotype" pitchFamily="34" charset="-122"/>
                <a:cs typeface="Palatino Linotype" pitchFamily="34" charset="-120"/>
              </a:rPr>
              <a:t>Competiția</a:t>
            </a:r>
            <a:endParaRPr lang="en-US" sz="1650" dirty="0"/>
          </a:p>
        </p:txBody>
      </p:sp>
      <p:sp>
        <p:nvSpPr>
          <p:cNvPr id="6" name="Text 4"/>
          <p:cNvSpPr/>
          <p:nvPr/>
        </p:nvSpPr>
        <p:spPr>
          <a:xfrm>
            <a:off x="3200400" y="1554480"/>
            <a:ext cx="82296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acțiune rapidă și hotărâtă, de exemplu în urgență</a:t>
            </a:r>
            <a:endParaRPr lang="en-US" sz="1550" dirty="0"/>
          </a:p>
        </p:txBody>
      </p:sp>
      <p:sp>
        <p:nvSpPr>
          <p:cNvPr id="7" name="Shape 5"/>
          <p:cNvSpPr/>
          <p:nvPr/>
        </p:nvSpPr>
        <p:spPr>
          <a:xfrm>
            <a:off x="594360" y="2304288"/>
            <a:ext cx="10972800" cy="640080"/>
          </a:xfrm>
          <a:prstGeom prst="roundRect">
            <a:avLst>
              <a:gd name="adj" fmla="val 12857"/>
            </a:avLst>
          </a:prstGeom>
          <a:solidFill>
            <a:srgbClr val="F9F8F5"/>
          </a:solidFill>
          <a:ln w="12700">
            <a:solidFill>
              <a:srgbClr val="F9F8F5"/>
            </a:solidFill>
            <a:prstDash val="solid"/>
          </a:ln>
        </p:spPr>
        <p:txBody>
          <a:bodyPr/>
          <a:p/>
        </p:txBody>
      </p:sp>
      <p:sp>
        <p:nvSpPr>
          <p:cNvPr id="8" name="Text 6"/>
          <p:cNvSpPr/>
          <p:nvPr/>
        </p:nvSpPr>
        <p:spPr>
          <a:xfrm>
            <a:off x="822960" y="2304288"/>
            <a:ext cx="2377440" cy="640080"/>
          </a:xfrm>
          <a:prstGeom prst="rect">
            <a:avLst/>
          </a:prstGeom>
          <a:noFill/>
          <a:ln/>
        </p:spPr>
        <p:txBody>
          <a:bodyPr wrap="square" lIns="0" tIns="0" rIns="0" bIns="0" rtlCol="0" anchor="ctr"/>
          <a:lstStyle/>
          <a:p>
            <a:pPr indent="0" marL="0">
              <a:buNone/>
            </a:pPr>
            <a:r>
              <a:rPr lang="en-US" sz="1650" b="1" dirty="0">
                <a:solidFill>
                  <a:srgbClr val="4A2D8C"/>
                </a:solidFill>
                <a:latin typeface="Palatino Linotype" pitchFamily="34" charset="0"/>
                <a:ea typeface="Palatino Linotype" pitchFamily="34" charset="-122"/>
                <a:cs typeface="Palatino Linotype" pitchFamily="34" charset="-120"/>
              </a:rPr>
              <a:t>Colaborarea</a:t>
            </a:r>
            <a:endParaRPr lang="en-US" sz="1650" dirty="0"/>
          </a:p>
        </p:txBody>
      </p:sp>
      <p:sp>
        <p:nvSpPr>
          <p:cNvPr id="9" name="Text 7"/>
          <p:cNvSpPr/>
          <p:nvPr/>
        </p:nvSpPr>
        <p:spPr>
          <a:xfrm>
            <a:off x="3200400" y="2304288"/>
            <a:ext cx="82296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preocupările ambelor părți sunt prea importante pentru un compromis</a:t>
            </a:r>
            <a:endParaRPr lang="en-US" sz="1550" dirty="0"/>
          </a:p>
        </p:txBody>
      </p:sp>
      <p:sp>
        <p:nvSpPr>
          <p:cNvPr id="10" name="Shape 8"/>
          <p:cNvSpPr/>
          <p:nvPr/>
        </p:nvSpPr>
        <p:spPr>
          <a:xfrm>
            <a:off x="594360" y="3054096"/>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11" name="Text 9"/>
          <p:cNvSpPr/>
          <p:nvPr/>
        </p:nvSpPr>
        <p:spPr>
          <a:xfrm>
            <a:off x="822960" y="3054096"/>
            <a:ext cx="2377440" cy="640080"/>
          </a:xfrm>
          <a:prstGeom prst="rect">
            <a:avLst/>
          </a:prstGeom>
          <a:noFill/>
          <a:ln/>
        </p:spPr>
        <p:txBody>
          <a:bodyPr wrap="square" lIns="0" tIns="0" rIns="0" bIns="0" rtlCol="0" anchor="ctr"/>
          <a:lstStyle/>
          <a:p>
            <a:pPr indent="0" marL="0">
              <a:buNone/>
            </a:pPr>
            <a:r>
              <a:rPr lang="en-US" sz="1650" b="1" dirty="0">
                <a:solidFill>
                  <a:srgbClr val="4A2D8C"/>
                </a:solidFill>
                <a:latin typeface="Palatino Linotype" pitchFamily="34" charset="0"/>
                <a:ea typeface="Palatino Linotype" pitchFamily="34" charset="-122"/>
                <a:cs typeface="Palatino Linotype" pitchFamily="34" charset="-120"/>
              </a:rPr>
              <a:t>Compromisul</a:t>
            </a:r>
            <a:endParaRPr lang="en-US" sz="1650" dirty="0"/>
          </a:p>
        </p:txBody>
      </p:sp>
      <p:sp>
        <p:nvSpPr>
          <p:cNvPr id="12" name="Text 10"/>
          <p:cNvSpPr/>
          <p:nvPr/>
        </p:nvSpPr>
        <p:spPr>
          <a:xfrm>
            <a:off x="3200400" y="3054096"/>
            <a:ext cx="82296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o soluție temporară, sub presiunea timpului, între părți egale</a:t>
            </a:r>
            <a:endParaRPr lang="en-US" sz="1550" dirty="0"/>
          </a:p>
        </p:txBody>
      </p:sp>
      <p:sp>
        <p:nvSpPr>
          <p:cNvPr id="13" name="Shape 11"/>
          <p:cNvSpPr/>
          <p:nvPr/>
        </p:nvSpPr>
        <p:spPr>
          <a:xfrm>
            <a:off x="594360" y="3803904"/>
            <a:ext cx="10972800" cy="640080"/>
          </a:xfrm>
          <a:prstGeom prst="roundRect">
            <a:avLst>
              <a:gd name="adj" fmla="val 12857"/>
            </a:avLst>
          </a:prstGeom>
          <a:solidFill>
            <a:srgbClr val="F9F8F5"/>
          </a:solidFill>
          <a:ln w="12700">
            <a:solidFill>
              <a:srgbClr val="F9F8F5"/>
            </a:solidFill>
            <a:prstDash val="solid"/>
          </a:ln>
        </p:spPr>
        <p:txBody>
          <a:bodyPr/>
          <a:p/>
        </p:txBody>
      </p:sp>
      <p:sp>
        <p:nvSpPr>
          <p:cNvPr id="14" name="Text 12"/>
          <p:cNvSpPr/>
          <p:nvPr/>
        </p:nvSpPr>
        <p:spPr>
          <a:xfrm>
            <a:off x="822960" y="3803904"/>
            <a:ext cx="2377440" cy="640080"/>
          </a:xfrm>
          <a:prstGeom prst="rect">
            <a:avLst/>
          </a:prstGeom>
          <a:noFill/>
          <a:ln/>
        </p:spPr>
        <p:txBody>
          <a:bodyPr wrap="square" lIns="0" tIns="0" rIns="0" bIns="0" rtlCol="0" anchor="ctr"/>
          <a:lstStyle/>
          <a:p>
            <a:pPr indent="0" marL="0">
              <a:buNone/>
            </a:pPr>
            <a:r>
              <a:rPr lang="en-US" sz="1650" b="1" dirty="0">
                <a:solidFill>
                  <a:srgbClr val="4A2D8C"/>
                </a:solidFill>
                <a:latin typeface="Palatino Linotype" pitchFamily="34" charset="0"/>
                <a:ea typeface="Palatino Linotype" pitchFamily="34" charset="-122"/>
                <a:cs typeface="Palatino Linotype" pitchFamily="34" charset="-120"/>
              </a:rPr>
              <a:t>Evitarea</a:t>
            </a:r>
            <a:endParaRPr lang="en-US" sz="1650" dirty="0"/>
          </a:p>
        </p:txBody>
      </p:sp>
      <p:sp>
        <p:nvSpPr>
          <p:cNvPr id="15" name="Text 13"/>
          <p:cNvSpPr/>
          <p:nvPr/>
        </p:nvSpPr>
        <p:spPr>
          <a:xfrm>
            <a:off x="3200400" y="3803904"/>
            <a:ext cx="82296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problema este neînsemnată sau oamenii trebuie să se calmeze</a:t>
            </a:r>
            <a:endParaRPr lang="en-US" sz="1550" dirty="0"/>
          </a:p>
        </p:txBody>
      </p:sp>
      <p:sp>
        <p:nvSpPr>
          <p:cNvPr id="16" name="Shape 14"/>
          <p:cNvSpPr/>
          <p:nvPr/>
        </p:nvSpPr>
        <p:spPr>
          <a:xfrm>
            <a:off x="594360" y="4553712"/>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17" name="Text 15"/>
          <p:cNvSpPr/>
          <p:nvPr/>
        </p:nvSpPr>
        <p:spPr>
          <a:xfrm>
            <a:off x="822960" y="4553712"/>
            <a:ext cx="2377440" cy="640080"/>
          </a:xfrm>
          <a:prstGeom prst="rect">
            <a:avLst/>
          </a:prstGeom>
          <a:noFill/>
          <a:ln/>
        </p:spPr>
        <p:txBody>
          <a:bodyPr wrap="square" lIns="0" tIns="0" rIns="0" bIns="0" rtlCol="0" anchor="ctr"/>
          <a:lstStyle/>
          <a:p>
            <a:pPr indent="0" marL="0">
              <a:buNone/>
            </a:pPr>
            <a:r>
              <a:rPr lang="en-US" sz="1650" b="1" dirty="0">
                <a:solidFill>
                  <a:srgbClr val="4A2D8C"/>
                </a:solidFill>
                <a:latin typeface="Palatino Linotype" pitchFamily="34" charset="0"/>
                <a:ea typeface="Palatino Linotype" pitchFamily="34" charset="-122"/>
                <a:cs typeface="Palatino Linotype" pitchFamily="34" charset="-120"/>
              </a:rPr>
              <a:t>Acomodarea</a:t>
            </a:r>
            <a:endParaRPr lang="en-US" sz="1650" dirty="0"/>
          </a:p>
        </p:txBody>
      </p:sp>
      <p:sp>
        <p:nvSpPr>
          <p:cNvPr id="18" name="Text 16"/>
          <p:cNvSpPr/>
          <p:nvPr/>
        </p:nvSpPr>
        <p:spPr>
          <a:xfrm>
            <a:off x="3200400" y="4553712"/>
            <a:ext cx="82296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descoperim că greșim sau armonia echipei contează mai mult</a:t>
            </a:r>
            <a:endParaRPr lang="en-US" sz="1550" dirty="0"/>
          </a:p>
        </p:txBody>
      </p:sp>
      <p:sp>
        <p:nvSpPr>
          <p:cNvPr id="19" name="Text 17"/>
          <p:cNvSpPr/>
          <p:nvPr/>
        </p:nvSpPr>
        <p:spPr>
          <a:xfrm>
            <a:off x="594360" y="5394960"/>
            <a:ext cx="10972800" cy="64008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Niciun stil nu este bun întotdeauna. Nivelurile asertivității și ale cooperării nu se evaluează.</a:t>
            </a:r>
            <a:endParaRPr lang="en-US" sz="1600" dirty="0"/>
          </a:p>
        </p:txBody>
      </p:sp>
      <p:sp>
        <p:nvSpPr>
          <p:cNvPr id="20" name="Text 18"/>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OpenStax, Organizational Behavior, 2019 (registru A1044, A1045).</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CONFLICTELE · UN SINGUR RĂSPUNS CORECT</a:t>
            </a:r>
            <a:endParaRPr lang="en-US" sz="1300" dirty="0"/>
          </a:p>
        </p:txBody>
      </p:sp>
      <p:sp>
        <p:nvSpPr>
          <p:cNvPr id="5" name="Text 3"/>
          <p:cNvSpPr/>
          <p:nvPr/>
        </p:nvSpPr>
        <p:spPr>
          <a:xfrm>
            <a:off x="594360" y="868680"/>
            <a:ext cx="10972800" cy="1600200"/>
          </a:xfrm>
          <a:prstGeom prst="rect">
            <a:avLst/>
          </a:prstGeom>
          <a:noFill/>
          <a:ln/>
        </p:spPr>
        <p:txBody>
          <a:bodyPr wrap="square" lIns="0" tIns="0" rIns="0" bIns="0" rtlCol="0" anchor="ctr"/>
          <a:lstStyle/>
          <a:p>
            <a:pPr indent="0" marL="0">
              <a:buNone/>
            </a:pPr>
            <a:r>
              <a:rPr lang="en-US" sz="2500" b="1" dirty="0">
                <a:solidFill>
                  <a:srgbClr val="FFFFFF"/>
                </a:solidFill>
                <a:latin typeface="Palatino Linotype" pitchFamily="34" charset="0"/>
                <a:ea typeface="Palatino Linotype" pitchFamily="34" charset="-122"/>
                <a:cs typeface="Palatino Linotype" pitchFamily="34" charset="-120"/>
              </a:rPr>
              <a:t>De trei săptămâni, doi asistenți se ceartă pe împărțirea saloanelor. Amândoi au argumente bune, iar conflictul afectează echipa. Ce stil se potrivește?</a:t>
            </a:r>
            <a:endParaRPr lang="en-US" sz="2500" dirty="0"/>
          </a:p>
        </p:txBody>
      </p:sp>
      <p:sp>
        <p:nvSpPr>
          <p:cNvPr id="6" name="Shape 4"/>
          <p:cNvSpPr/>
          <p:nvPr/>
        </p:nvSpPr>
        <p:spPr>
          <a:xfrm>
            <a:off x="594360" y="269748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7" name="Shape 5"/>
          <p:cNvSpPr/>
          <p:nvPr/>
        </p:nvSpPr>
        <p:spPr>
          <a:xfrm>
            <a:off x="868680" y="2852928"/>
            <a:ext cx="420624" cy="420624"/>
          </a:xfrm>
          <a:prstGeom prst="ellipse">
            <a:avLst/>
          </a:prstGeom>
          <a:solidFill>
            <a:srgbClr val="FFC24B"/>
          </a:solidFill>
          <a:ln/>
        </p:spPr>
        <p:txBody>
          <a:bodyPr/>
          <a:p/>
        </p:txBody>
      </p:sp>
      <p:sp>
        <p:nvSpPr>
          <p:cNvPr id="8" name="Text 6"/>
          <p:cNvSpPr/>
          <p:nvPr/>
        </p:nvSpPr>
        <p:spPr>
          <a:xfrm>
            <a:off x="868680" y="2852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269748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Evitarea</a:t>
            </a:r>
            <a:endParaRPr lang="en-US" sz="2000" dirty="0"/>
          </a:p>
        </p:txBody>
      </p:sp>
      <p:sp>
        <p:nvSpPr>
          <p:cNvPr id="10" name="Shape 8"/>
          <p:cNvSpPr/>
          <p:nvPr/>
        </p:nvSpPr>
        <p:spPr>
          <a:xfrm>
            <a:off x="594360" y="356616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1" name="Shape 9"/>
          <p:cNvSpPr/>
          <p:nvPr/>
        </p:nvSpPr>
        <p:spPr>
          <a:xfrm>
            <a:off x="868680" y="3721608"/>
            <a:ext cx="420624" cy="420624"/>
          </a:xfrm>
          <a:prstGeom prst="ellipse">
            <a:avLst/>
          </a:prstGeom>
          <a:solidFill>
            <a:srgbClr val="FFC24B"/>
          </a:solidFill>
          <a:ln/>
        </p:spPr>
        <p:txBody>
          <a:bodyPr/>
          <a:p/>
        </p:txBody>
      </p:sp>
      <p:sp>
        <p:nvSpPr>
          <p:cNvPr id="12" name="Text 10"/>
          <p:cNvSpPr/>
          <p:nvPr/>
        </p:nvSpPr>
        <p:spPr>
          <a:xfrm>
            <a:off x="868680" y="37216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356616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Competiția</a:t>
            </a:r>
            <a:endParaRPr lang="en-US" sz="2000" dirty="0"/>
          </a:p>
        </p:txBody>
      </p:sp>
      <p:sp>
        <p:nvSpPr>
          <p:cNvPr id="14" name="Shape 12"/>
          <p:cNvSpPr/>
          <p:nvPr/>
        </p:nvSpPr>
        <p:spPr>
          <a:xfrm>
            <a:off x="594360" y="443484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5" name="Shape 13"/>
          <p:cNvSpPr/>
          <p:nvPr/>
        </p:nvSpPr>
        <p:spPr>
          <a:xfrm>
            <a:off x="868680" y="4590288"/>
            <a:ext cx="420624" cy="420624"/>
          </a:xfrm>
          <a:prstGeom prst="ellipse">
            <a:avLst/>
          </a:prstGeom>
          <a:solidFill>
            <a:srgbClr val="FFC24B"/>
          </a:solidFill>
          <a:ln/>
        </p:spPr>
        <p:txBody>
          <a:bodyPr/>
          <a:p/>
        </p:txBody>
      </p:sp>
      <p:sp>
        <p:nvSpPr>
          <p:cNvPr id="16" name="Text 14"/>
          <p:cNvSpPr/>
          <p:nvPr/>
        </p:nvSpPr>
        <p:spPr>
          <a:xfrm>
            <a:off x="868680" y="45902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443484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Colaborarea</a:t>
            </a:r>
            <a:endParaRPr lang="en-US" sz="2000" dirty="0"/>
          </a:p>
        </p:txBody>
      </p:sp>
      <p:sp>
        <p:nvSpPr>
          <p:cNvPr id="18" name="Text 16"/>
          <p:cNvSpPr/>
          <p:nvPr/>
        </p:nvSpPr>
        <p:spPr>
          <a:xfrm>
            <a:off x="594360" y="5440680"/>
            <a:ext cx="10972800" cy="6400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Votați fără să vedeți votul celorlalți.</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 Colaborarea</a:t>
            </a:r>
            <a:endParaRPr lang="en-US" sz="3200" dirty="0"/>
          </a:p>
        </p:txBody>
      </p:sp>
      <p:sp>
        <p:nvSpPr>
          <p:cNvPr id="4" name="Shape 2"/>
          <p:cNvSpPr/>
          <p:nvPr/>
        </p:nvSpPr>
        <p:spPr>
          <a:xfrm>
            <a:off x="594360" y="1691640"/>
            <a:ext cx="2651760" cy="1371600"/>
          </a:xfrm>
          <a:prstGeom prst="roundRect">
            <a:avLst>
              <a:gd name="adj" fmla="val 6000"/>
            </a:avLst>
          </a:prstGeom>
          <a:solidFill>
            <a:srgbClr val="ECEAE4"/>
          </a:solidFill>
          <a:ln w="12700">
            <a:solidFill>
              <a:srgbClr val="ECEAE4"/>
            </a:solidFill>
            <a:prstDash val="solid"/>
          </a:ln>
        </p:spPr>
        <p:txBody>
          <a:bodyPr/>
          <a:p/>
        </p:txBody>
      </p:sp>
      <p:sp>
        <p:nvSpPr>
          <p:cNvPr id="5" name="Text 3"/>
          <p:cNvSpPr/>
          <p:nvPr/>
        </p:nvSpPr>
        <p:spPr>
          <a:xfrm>
            <a:off x="777240" y="1691640"/>
            <a:ext cx="2286000" cy="1371600"/>
          </a:xfrm>
          <a:prstGeom prst="rect">
            <a:avLst/>
          </a:prstGeom>
          <a:noFill/>
          <a:ln/>
        </p:spPr>
        <p:txBody>
          <a:bodyPr wrap="square" lIns="0" tIns="0" rIns="0" bIns="0" rtlCol="0" anchor="ctr"/>
          <a:lstStyle/>
          <a:p>
            <a:pPr algn="ctr" indent="0" marL="0">
              <a:buNone/>
            </a:pPr>
            <a:r>
              <a:rPr lang="en-US" sz="1650" b="1" dirty="0">
                <a:solidFill>
                  <a:srgbClr val="0E7C6B"/>
                </a:solidFill>
                <a:latin typeface="Palatino Linotype" pitchFamily="34" charset="0"/>
                <a:ea typeface="Palatino Linotype" pitchFamily="34" charset="-122"/>
                <a:cs typeface="Palatino Linotype" pitchFamily="34" charset="-120"/>
              </a:rPr>
              <a:t>Conflictul este important</a:t>
            </a:r>
            <a:endParaRPr lang="en-US" sz="1650" dirty="0"/>
          </a:p>
        </p:txBody>
      </p:sp>
      <p:sp>
        <p:nvSpPr>
          <p:cNvPr id="6" name="Shape 4"/>
          <p:cNvSpPr/>
          <p:nvPr/>
        </p:nvSpPr>
        <p:spPr>
          <a:xfrm>
            <a:off x="3383280" y="1691640"/>
            <a:ext cx="2651760" cy="1371600"/>
          </a:xfrm>
          <a:prstGeom prst="roundRect">
            <a:avLst>
              <a:gd name="adj" fmla="val 6000"/>
            </a:avLst>
          </a:prstGeom>
          <a:solidFill>
            <a:srgbClr val="F9F8F5"/>
          </a:solidFill>
          <a:ln w="12700">
            <a:solidFill>
              <a:srgbClr val="F9F8F5"/>
            </a:solidFill>
            <a:prstDash val="solid"/>
          </a:ln>
        </p:spPr>
        <p:txBody>
          <a:bodyPr/>
          <a:p/>
        </p:txBody>
      </p:sp>
      <p:sp>
        <p:nvSpPr>
          <p:cNvPr id="7" name="Text 5"/>
          <p:cNvSpPr/>
          <p:nvPr/>
        </p:nvSpPr>
        <p:spPr>
          <a:xfrm>
            <a:off x="3566160" y="1691640"/>
            <a:ext cx="2286000" cy="1371600"/>
          </a:xfrm>
          <a:prstGeom prst="rect">
            <a:avLst/>
          </a:prstGeom>
          <a:noFill/>
          <a:ln/>
        </p:spPr>
        <p:txBody>
          <a:bodyPr wrap="square" lIns="0" tIns="0" rIns="0" bIns="0" rtlCol="0" anchor="ctr"/>
          <a:lstStyle/>
          <a:p>
            <a:pPr algn="ctr" indent="0" marL="0">
              <a:buNone/>
            </a:pPr>
            <a:r>
              <a:rPr lang="en-US" sz="1650" b="1" dirty="0">
                <a:solidFill>
                  <a:srgbClr val="0E7C6B"/>
                </a:solidFill>
                <a:latin typeface="Palatino Linotype" pitchFamily="34" charset="0"/>
                <a:ea typeface="Palatino Linotype" pitchFamily="34" charset="-122"/>
                <a:cs typeface="Palatino Linotype" pitchFamily="34" charset="-120"/>
              </a:rPr>
              <a:t>Durează</a:t>
            </a:r>
            <a:endParaRPr lang="en-US" sz="1650" dirty="0"/>
          </a:p>
        </p:txBody>
      </p:sp>
      <p:sp>
        <p:nvSpPr>
          <p:cNvPr id="8" name="Shape 6"/>
          <p:cNvSpPr/>
          <p:nvPr/>
        </p:nvSpPr>
        <p:spPr>
          <a:xfrm>
            <a:off x="6172200" y="1691640"/>
            <a:ext cx="2651760" cy="1371600"/>
          </a:xfrm>
          <a:prstGeom prst="roundRect">
            <a:avLst>
              <a:gd name="adj" fmla="val 6000"/>
            </a:avLst>
          </a:prstGeom>
          <a:solidFill>
            <a:srgbClr val="ECEAE4"/>
          </a:solidFill>
          <a:ln w="12700">
            <a:solidFill>
              <a:srgbClr val="ECEAE4"/>
            </a:solidFill>
            <a:prstDash val="solid"/>
          </a:ln>
        </p:spPr>
        <p:txBody>
          <a:bodyPr/>
          <a:p/>
        </p:txBody>
      </p:sp>
      <p:sp>
        <p:nvSpPr>
          <p:cNvPr id="9" name="Text 7"/>
          <p:cNvSpPr/>
          <p:nvPr/>
        </p:nvSpPr>
        <p:spPr>
          <a:xfrm>
            <a:off x="6355080" y="1691640"/>
            <a:ext cx="2286000" cy="1371600"/>
          </a:xfrm>
          <a:prstGeom prst="rect">
            <a:avLst/>
          </a:prstGeom>
          <a:noFill/>
          <a:ln/>
        </p:spPr>
        <p:txBody>
          <a:bodyPr wrap="square" lIns="0" tIns="0" rIns="0" bIns="0" rtlCol="0" anchor="ctr"/>
          <a:lstStyle/>
          <a:p>
            <a:pPr algn="ctr" indent="0" marL="0">
              <a:buNone/>
            </a:pPr>
            <a:r>
              <a:rPr lang="en-US" sz="1650" b="1" dirty="0">
                <a:solidFill>
                  <a:srgbClr val="0E7C6B"/>
                </a:solidFill>
                <a:latin typeface="Palatino Linotype" pitchFamily="34" charset="0"/>
                <a:ea typeface="Palatino Linotype" pitchFamily="34" charset="-122"/>
                <a:cs typeface="Palatino Linotype" pitchFamily="34" charset="-120"/>
              </a:rPr>
              <a:t>Are argumente de ambele părți</a:t>
            </a:r>
            <a:endParaRPr lang="en-US" sz="1650" dirty="0"/>
          </a:p>
        </p:txBody>
      </p:sp>
      <p:sp>
        <p:nvSpPr>
          <p:cNvPr id="10" name="Shape 8"/>
          <p:cNvSpPr/>
          <p:nvPr/>
        </p:nvSpPr>
        <p:spPr>
          <a:xfrm>
            <a:off x="8961120" y="1691640"/>
            <a:ext cx="2651760" cy="1371600"/>
          </a:xfrm>
          <a:prstGeom prst="roundRect">
            <a:avLst>
              <a:gd name="adj" fmla="val 6000"/>
            </a:avLst>
          </a:prstGeom>
          <a:solidFill>
            <a:srgbClr val="F9F8F5"/>
          </a:solidFill>
          <a:ln w="12700">
            <a:solidFill>
              <a:srgbClr val="F9F8F5"/>
            </a:solidFill>
            <a:prstDash val="solid"/>
          </a:ln>
        </p:spPr>
        <p:txBody>
          <a:bodyPr/>
          <a:p/>
        </p:txBody>
      </p:sp>
      <p:sp>
        <p:nvSpPr>
          <p:cNvPr id="11" name="Text 9"/>
          <p:cNvSpPr/>
          <p:nvPr/>
        </p:nvSpPr>
        <p:spPr>
          <a:xfrm>
            <a:off x="9144000" y="1691640"/>
            <a:ext cx="2286000" cy="1371600"/>
          </a:xfrm>
          <a:prstGeom prst="rect">
            <a:avLst/>
          </a:prstGeom>
          <a:noFill/>
          <a:ln/>
        </p:spPr>
        <p:txBody>
          <a:bodyPr wrap="square" lIns="0" tIns="0" rIns="0" bIns="0" rtlCol="0" anchor="ctr"/>
          <a:lstStyle/>
          <a:p>
            <a:pPr algn="ctr" indent="0" marL="0">
              <a:buNone/>
            </a:pPr>
            <a:r>
              <a:rPr lang="en-US" sz="1650" b="1" dirty="0">
                <a:solidFill>
                  <a:srgbClr val="0E7C6B"/>
                </a:solidFill>
                <a:latin typeface="Palatino Linotype" pitchFamily="34" charset="0"/>
                <a:ea typeface="Palatino Linotype" pitchFamily="34" charset="-122"/>
                <a:cs typeface="Palatino Linotype" pitchFamily="34" charset="-120"/>
              </a:rPr>
              <a:t>Timpul permite o soluție comună</a:t>
            </a:r>
            <a:endParaRPr lang="en-US" sz="1650" dirty="0"/>
          </a:p>
        </p:txBody>
      </p:sp>
      <p:sp>
        <p:nvSpPr>
          <p:cNvPr id="12" name="Text 10"/>
          <p:cNvSpPr/>
          <p:nvPr/>
        </p:nvSpPr>
        <p:spPr>
          <a:xfrm>
            <a:off x="594360" y="3429000"/>
            <a:ext cx="10972800" cy="64008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Evitarea ar lăsa problema să crească; competiția ar strica relațiile.</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SFÂRȘITUL PĂRȚII ÎNTÂI</a:t>
            </a:r>
            <a:endParaRPr lang="en-US" sz="1300" dirty="0"/>
          </a:p>
        </p:txBody>
      </p:sp>
      <p:sp>
        <p:nvSpPr>
          <p:cNvPr id="3" name="Shape 1"/>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NORUL DE CUVINTE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au descris cuvintele voastre?</a:t>
            </a:r>
            <a:endParaRPr lang="en-US" sz="3200" dirty="0"/>
          </a:p>
        </p:txBody>
      </p:sp>
      <p:sp>
        <p:nvSpPr>
          <p:cNvPr id="6" name="Shape 4"/>
          <p:cNvSpPr/>
          <p:nvPr/>
        </p:nvSpPr>
        <p:spPr>
          <a:xfrm>
            <a:off x="594360" y="1737360"/>
            <a:ext cx="5394960" cy="2377440"/>
          </a:xfrm>
          <a:prstGeom prst="roundRect">
            <a:avLst>
              <a:gd name="adj" fmla="val 3462"/>
            </a:avLst>
          </a:prstGeom>
          <a:solidFill>
            <a:srgbClr val="1D1F2B"/>
          </a:solidFill>
          <a:ln w="12700">
            <a:solidFill>
              <a:srgbClr val="1D1F2B"/>
            </a:solidFill>
            <a:prstDash val="solid"/>
          </a:ln>
        </p:spPr>
        <p:txBody>
          <a:bodyPr/>
          <a:p/>
        </p:txBody>
      </p:sp>
      <p:sp>
        <p:nvSpPr>
          <p:cNvPr id="7" name="Text 5"/>
          <p:cNvSpPr/>
          <p:nvPr/>
        </p:nvSpPr>
        <p:spPr>
          <a:xfrm>
            <a:off x="868680" y="1874520"/>
            <a:ext cx="4846320" cy="100584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„Empatie”, „calm”, „încredere”, „ascultare”</a:t>
            </a:r>
            <a:endParaRPr lang="en-US" sz="1900" dirty="0"/>
          </a:p>
        </p:txBody>
      </p:sp>
      <p:sp>
        <p:nvSpPr>
          <p:cNvPr id="8" name="Text 6"/>
          <p:cNvSpPr/>
          <p:nvPr/>
        </p:nvSpPr>
        <p:spPr>
          <a:xfrm>
            <a:off x="868680" y="2926080"/>
            <a:ext cx="4846320" cy="100584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inteligența emoțională și puterea de referință</a:t>
            </a:r>
            <a:endParaRPr lang="en-US" sz="1700" dirty="0"/>
          </a:p>
        </p:txBody>
      </p:sp>
      <p:sp>
        <p:nvSpPr>
          <p:cNvPr id="9" name="Shape 7"/>
          <p:cNvSpPr/>
          <p:nvPr/>
        </p:nvSpPr>
        <p:spPr>
          <a:xfrm>
            <a:off x="6172200" y="1737360"/>
            <a:ext cx="5394960" cy="2377440"/>
          </a:xfrm>
          <a:prstGeom prst="roundRect">
            <a:avLst>
              <a:gd name="adj" fmla="val 3462"/>
            </a:avLst>
          </a:prstGeom>
          <a:solidFill>
            <a:srgbClr val="1D1F2B"/>
          </a:solidFill>
          <a:ln w="12700">
            <a:solidFill>
              <a:srgbClr val="1D1F2B"/>
            </a:solidFill>
            <a:prstDash val="solid"/>
          </a:ln>
        </p:spPr>
        <p:txBody>
          <a:bodyPr/>
          <a:p/>
        </p:txBody>
      </p:sp>
      <p:sp>
        <p:nvSpPr>
          <p:cNvPr id="10" name="Text 8"/>
          <p:cNvSpPr/>
          <p:nvPr/>
        </p:nvSpPr>
        <p:spPr>
          <a:xfrm>
            <a:off x="6446520" y="1874520"/>
            <a:ext cx="4846320" cy="100584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„Organizare”, „corectitudine”</a:t>
            </a:r>
            <a:endParaRPr lang="en-US" sz="1900" dirty="0"/>
          </a:p>
        </p:txBody>
      </p:sp>
      <p:sp>
        <p:nvSpPr>
          <p:cNvPr id="11" name="Text 9"/>
          <p:cNvSpPr/>
          <p:nvPr/>
        </p:nvSpPr>
        <p:spPr>
          <a:xfrm>
            <a:off x="6446520" y="2926080"/>
            <a:ext cx="4846320" cy="100584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managementul</a:t>
            </a:r>
            <a:endParaRPr lang="en-US" sz="1700" dirty="0"/>
          </a:p>
        </p:txBody>
      </p:sp>
      <p:sp>
        <p:nvSpPr>
          <p:cNvPr id="12" name="Shape 10"/>
          <p:cNvSpPr/>
          <p:nvPr/>
        </p:nvSpPr>
        <p:spPr>
          <a:xfrm>
            <a:off x="594360" y="4434840"/>
            <a:ext cx="10972800" cy="914400"/>
          </a:xfrm>
          <a:prstGeom prst="roundRect">
            <a:avLst>
              <a:gd name="adj" fmla="val 9000"/>
            </a:avLst>
          </a:prstGeom>
          <a:solidFill>
            <a:srgbClr val="272A38"/>
          </a:solidFill>
          <a:ln w="12700">
            <a:solidFill>
              <a:srgbClr val="272A38"/>
            </a:solidFill>
            <a:prstDash val="solid"/>
          </a:ln>
        </p:spPr>
        <p:txBody>
          <a:bodyPr/>
          <a:p/>
        </p:txBody>
      </p:sp>
      <p:sp>
        <p:nvSpPr>
          <p:cNvPr id="13" name="Text 11"/>
          <p:cNvSpPr/>
          <p:nvPr/>
        </p:nvSpPr>
        <p:spPr>
          <a:xfrm>
            <a:off x="868680" y="4434840"/>
            <a:ext cx="10424160" cy="914400"/>
          </a:xfrm>
          <a:prstGeom prst="rect">
            <a:avLst/>
          </a:prstGeom>
          <a:noFill/>
          <a:ln/>
        </p:spPr>
        <p:txBody>
          <a:bodyPr wrap="square" lIns="0" tIns="0" rIns="0" bIns="0" rtlCol="0" anchor="ctr"/>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Nu există un singur stil corect, ci stilul potrivit situației.</a:t>
            </a:r>
            <a:endParaRPr lang="en-US" sz="1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594360" y="640080"/>
            <a:ext cx="420624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594360" y="640080"/>
            <a:ext cx="42062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PARTEA A DOUA · ACEEAȘI SECȚIE</a:t>
            </a:r>
            <a:endParaRPr lang="en-US" sz="1300" dirty="0"/>
          </a:p>
        </p:txBody>
      </p:sp>
      <p:sp>
        <p:nvSpPr>
          <p:cNvPr id="4" name="Text 2"/>
          <p:cNvSpPr/>
          <p:nvPr/>
        </p:nvSpPr>
        <p:spPr>
          <a:xfrm>
            <a:off x="594360" y="1234440"/>
            <a:ext cx="10972800" cy="91440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Vizita anunțată</a:t>
            </a:r>
            <a:endParaRPr lang="en-US" sz="3800" dirty="0"/>
          </a:p>
        </p:txBody>
      </p:sp>
      <p:sp>
        <p:nvSpPr>
          <p:cNvPr id="5" name="Text 3"/>
          <p:cNvSpPr/>
          <p:nvPr/>
        </p:nvSpPr>
        <p:spPr>
          <a:xfrm>
            <a:off x="594360" y="2331720"/>
            <a:ext cx="10972800" cy="914400"/>
          </a:xfrm>
          <a:prstGeom prst="rect">
            <a:avLst/>
          </a:prstGeom>
          <a:noFill/>
          <a:ln/>
        </p:spPr>
        <p:txBody>
          <a:bodyPr wrap="square" lIns="0" tIns="0" rIns="0" bIns="0" rtlCol="0" anchor="t"/>
          <a:lstStyle/>
          <a:p>
            <a:pPr indent="0" marL="0">
              <a:buNone/>
            </a:pPr>
            <a:r>
              <a:rPr lang="en-US" sz="2100" dirty="0">
                <a:solidFill>
                  <a:srgbClr val="E6E8EF"/>
                </a:solidFill>
                <a:latin typeface="Palatino Linotype" pitchFamily="34" charset="0"/>
                <a:ea typeface="Palatino Linotype" pitchFamily="34" charset="-122"/>
                <a:cs typeface="Palatino Linotype" pitchFamily="34" charset="-120"/>
              </a:rPr>
              <a:t>Managerul spitalului îi cere Marei să pregătească secția pentru evaluarea ANMCS.</a:t>
            </a:r>
            <a:endParaRPr lang="en-US" sz="2100" dirty="0"/>
          </a:p>
        </p:txBody>
      </p:sp>
      <p:sp>
        <p:nvSpPr>
          <p:cNvPr id="6" name="Shape 4"/>
          <p:cNvSpPr/>
          <p:nvPr/>
        </p:nvSpPr>
        <p:spPr>
          <a:xfrm>
            <a:off x="594360" y="3566160"/>
            <a:ext cx="10972800" cy="1371600"/>
          </a:xfrm>
          <a:prstGeom prst="roundRect">
            <a:avLst>
              <a:gd name="adj" fmla="val 6000"/>
            </a:avLst>
          </a:prstGeom>
          <a:solidFill>
            <a:srgbClr val="272A38"/>
          </a:solidFill>
          <a:ln w="12700">
            <a:solidFill>
              <a:srgbClr val="272A38"/>
            </a:solidFill>
            <a:prstDash val="solid"/>
          </a:ln>
        </p:spPr>
        <p:txBody>
          <a:bodyPr/>
          <a:p/>
        </p:txBody>
      </p:sp>
      <p:sp>
        <p:nvSpPr>
          <p:cNvPr id="7" name="Text 5"/>
          <p:cNvSpPr/>
          <p:nvPr/>
        </p:nvSpPr>
        <p:spPr>
          <a:xfrm>
            <a:off x="868680" y="3566160"/>
            <a:ext cx="10424160" cy="1371600"/>
          </a:xfrm>
          <a:prstGeom prst="rect">
            <a:avLst/>
          </a:prstGeom>
          <a:noFill/>
          <a:ln/>
        </p:spPr>
        <p:txBody>
          <a:bodyPr wrap="square" lIns="0" tIns="0" rIns="0" bIns="0" rtlCol="0" anchor="ctr"/>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Ce înseamnă, de fapt, că îngrijirile de pe secție sunt „de calitate”? Și cine decide asta?</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LEGEA NR. 185/2017 · INSTITUTUL DE MEDICINĂ AL SUA, 1990</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Două definiții ale calității</a:t>
            </a:r>
            <a:endParaRPr lang="en-US" sz="3000" dirty="0"/>
          </a:p>
        </p:txBody>
      </p:sp>
      <p:sp>
        <p:nvSpPr>
          <p:cNvPr id="4" name="Shape 2"/>
          <p:cNvSpPr/>
          <p:nvPr/>
        </p:nvSpPr>
        <p:spPr>
          <a:xfrm>
            <a:off x="594360" y="1645920"/>
            <a:ext cx="5394960" cy="3840480"/>
          </a:xfrm>
          <a:prstGeom prst="roundRect">
            <a:avLst>
              <a:gd name="adj" fmla="val 2143"/>
            </a:avLst>
          </a:prstGeom>
          <a:solidFill>
            <a:srgbClr val="ECEAE4"/>
          </a:solidFill>
          <a:ln w="12700">
            <a:solidFill>
              <a:srgbClr val="ECEAE4"/>
            </a:solidFill>
            <a:prstDash val="solid"/>
          </a:ln>
        </p:spPr>
        <p:txBody>
          <a:bodyPr/>
          <a:p/>
        </p:txBody>
      </p:sp>
      <p:sp>
        <p:nvSpPr>
          <p:cNvPr id="5" name="Shape 3"/>
          <p:cNvSpPr/>
          <p:nvPr/>
        </p:nvSpPr>
        <p:spPr>
          <a:xfrm>
            <a:off x="594360" y="1645920"/>
            <a:ext cx="539496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847088"/>
            <a:ext cx="4937760" cy="6858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Legea: conformarea la standarde</a:t>
            </a:r>
            <a:endParaRPr lang="en-US" sz="1800" dirty="0"/>
          </a:p>
        </p:txBody>
      </p:sp>
      <p:sp>
        <p:nvSpPr>
          <p:cNvPr id="7" name="Text 5"/>
          <p:cNvSpPr/>
          <p:nvPr/>
        </p:nvSpPr>
        <p:spPr>
          <a:xfrm>
            <a:off x="822960" y="2514600"/>
            <a:ext cx="4937760" cy="283464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„nivelul de conformare a serviciilor de sănătate la cerințele standardelor ANMCS, pentru a asigura pacienților cel mai bun rezultat, la cel mai bun cost, cu cel mai mic risc iatrogen […]”</a:t>
            </a:r>
            <a:endParaRPr lang="en-US" sz="1650" dirty="0"/>
          </a:p>
        </p:txBody>
      </p:sp>
      <p:sp>
        <p:nvSpPr>
          <p:cNvPr id="8" name="Shape 6"/>
          <p:cNvSpPr/>
          <p:nvPr/>
        </p:nvSpPr>
        <p:spPr>
          <a:xfrm>
            <a:off x="6172200" y="1645920"/>
            <a:ext cx="5394960" cy="3840480"/>
          </a:xfrm>
          <a:prstGeom prst="roundRect">
            <a:avLst>
              <a:gd name="adj" fmla="val 2143"/>
            </a:avLst>
          </a:prstGeom>
          <a:solidFill>
            <a:srgbClr val="F9F8F5"/>
          </a:solidFill>
          <a:ln w="12700">
            <a:solidFill>
              <a:srgbClr val="F9F8F5"/>
            </a:solidFill>
            <a:prstDash val="solid"/>
          </a:ln>
        </p:spPr>
        <p:txBody>
          <a:bodyPr/>
          <a:p/>
        </p:txBody>
      </p:sp>
      <p:sp>
        <p:nvSpPr>
          <p:cNvPr id="9" name="Shape 7"/>
          <p:cNvSpPr/>
          <p:nvPr/>
        </p:nvSpPr>
        <p:spPr>
          <a:xfrm>
            <a:off x="6172200" y="1645920"/>
            <a:ext cx="5394960" cy="73152"/>
          </a:xfrm>
          <a:prstGeom prst="rect">
            <a:avLst/>
          </a:prstGeom>
          <a:solidFill>
            <a:srgbClr val="B02532"/>
          </a:solidFill>
          <a:ln w="12700">
            <a:solidFill>
              <a:srgbClr val="B02532"/>
            </a:solidFill>
            <a:prstDash val="solid"/>
          </a:ln>
        </p:spPr>
        <p:txBody>
          <a:bodyPr/>
          <a:p/>
        </p:txBody>
      </p:sp>
      <p:sp>
        <p:nvSpPr>
          <p:cNvPr id="10" name="Text 8"/>
          <p:cNvSpPr/>
          <p:nvPr/>
        </p:nvSpPr>
        <p:spPr>
          <a:xfrm>
            <a:off x="6400800" y="1847088"/>
            <a:ext cx="4937760" cy="68580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Institutul de Medicină: rezultatele</a:t>
            </a:r>
            <a:endParaRPr lang="en-US" sz="1800" dirty="0"/>
          </a:p>
        </p:txBody>
      </p:sp>
      <p:sp>
        <p:nvSpPr>
          <p:cNvPr id="11" name="Text 9"/>
          <p:cNvSpPr/>
          <p:nvPr/>
        </p:nvSpPr>
        <p:spPr>
          <a:xfrm>
            <a:off x="6400800" y="2514600"/>
            <a:ext cx="4937760" cy="283464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„măsura în care serviciile de sănătate pentru persoane și populații cresc probabilitatea rezultatelor de sănătate dorite și sunt în acord cu cunoștințele profesionale actuale”</a:t>
            </a:r>
            <a:endParaRPr lang="en-US" sz="1650" dirty="0"/>
          </a:p>
        </p:txBody>
      </p:sp>
      <p:sp>
        <p:nvSpPr>
          <p:cNvPr id="12" name="Text 10"/>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Legea nr. 185/2017 (registru A1022); Busse și colab., 2019 (registru A1013).</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INSTITUTUL DE MEDICINĂ AL SUA, 2001</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Șase dimensiuni ale calității</a:t>
            </a:r>
            <a:endParaRPr lang="en-US" sz="3000" dirty="0"/>
          </a:p>
        </p:txBody>
      </p:sp>
      <p:sp>
        <p:nvSpPr>
          <p:cNvPr id="4" name="Shape 2"/>
          <p:cNvSpPr/>
          <p:nvPr/>
        </p:nvSpPr>
        <p:spPr>
          <a:xfrm>
            <a:off x="594360" y="1645920"/>
            <a:ext cx="3566160" cy="1280160"/>
          </a:xfrm>
          <a:prstGeom prst="roundRect">
            <a:avLst>
              <a:gd name="adj" fmla="val 6429"/>
            </a:avLst>
          </a:prstGeom>
          <a:solidFill>
            <a:srgbClr val="ECEAE4"/>
          </a:solidFill>
          <a:ln w="12700">
            <a:solidFill>
              <a:srgbClr val="ECEAE4"/>
            </a:solidFill>
            <a:prstDash val="solid"/>
          </a:ln>
        </p:spPr>
        <p:txBody>
          <a:bodyPr/>
          <a:p/>
        </p:txBody>
      </p:sp>
      <p:sp>
        <p:nvSpPr>
          <p:cNvPr id="5" name="Text 3"/>
          <p:cNvSpPr/>
          <p:nvPr/>
        </p:nvSpPr>
        <p:spPr>
          <a:xfrm>
            <a:off x="777240" y="1755648"/>
            <a:ext cx="3200400" cy="4572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Sigură</a:t>
            </a:r>
            <a:endParaRPr lang="en-US" sz="1800" dirty="0"/>
          </a:p>
        </p:txBody>
      </p:sp>
      <p:sp>
        <p:nvSpPr>
          <p:cNvPr id="6" name="Text 4"/>
          <p:cNvSpPr/>
          <p:nvPr/>
        </p:nvSpPr>
        <p:spPr>
          <a:xfrm>
            <a:off x="777240" y="2240280"/>
            <a:ext cx="3200400" cy="6400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fără vătămare prin chiar îngrijirea</a:t>
            </a:r>
            <a:endParaRPr lang="en-US" sz="1500" dirty="0"/>
          </a:p>
        </p:txBody>
      </p:sp>
      <p:sp>
        <p:nvSpPr>
          <p:cNvPr id="7" name="Shape 5"/>
          <p:cNvSpPr/>
          <p:nvPr/>
        </p:nvSpPr>
        <p:spPr>
          <a:xfrm>
            <a:off x="4297680" y="1645920"/>
            <a:ext cx="3566160" cy="1280160"/>
          </a:xfrm>
          <a:prstGeom prst="roundRect">
            <a:avLst>
              <a:gd name="adj" fmla="val 6429"/>
            </a:avLst>
          </a:prstGeom>
          <a:solidFill>
            <a:srgbClr val="F9F8F5"/>
          </a:solidFill>
          <a:ln w="12700">
            <a:solidFill>
              <a:srgbClr val="F9F8F5"/>
            </a:solidFill>
            <a:prstDash val="solid"/>
          </a:ln>
        </p:spPr>
        <p:txBody>
          <a:bodyPr/>
          <a:p/>
        </p:txBody>
      </p:sp>
      <p:sp>
        <p:nvSpPr>
          <p:cNvPr id="8" name="Text 6"/>
          <p:cNvSpPr/>
          <p:nvPr/>
        </p:nvSpPr>
        <p:spPr>
          <a:xfrm>
            <a:off x="4480560" y="1755648"/>
            <a:ext cx="3200400" cy="4572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Eficace</a:t>
            </a:r>
            <a:endParaRPr lang="en-US" sz="1800" dirty="0"/>
          </a:p>
        </p:txBody>
      </p:sp>
      <p:sp>
        <p:nvSpPr>
          <p:cNvPr id="9" name="Text 7"/>
          <p:cNvSpPr/>
          <p:nvPr/>
        </p:nvSpPr>
        <p:spPr>
          <a:xfrm>
            <a:off x="4480560" y="2240280"/>
            <a:ext cx="3200400" cy="6400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bazată pe dovezi, pentru cei care pot beneficia</a:t>
            </a:r>
            <a:endParaRPr lang="en-US" sz="1500" dirty="0"/>
          </a:p>
        </p:txBody>
      </p:sp>
      <p:sp>
        <p:nvSpPr>
          <p:cNvPr id="10" name="Shape 8"/>
          <p:cNvSpPr/>
          <p:nvPr/>
        </p:nvSpPr>
        <p:spPr>
          <a:xfrm>
            <a:off x="8001000" y="1645920"/>
            <a:ext cx="3566160" cy="1280160"/>
          </a:xfrm>
          <a:prstGeom prst="roundRect">
            <a:avLst>
              <a:gd name="adj" fmla="val 6429"/>
            </a:avLst>
          </a:prstGeom>
          <a:solidFill>
            <a:srgbClr val="ECEAE4"/>
          </a:solidFill>
          <a:ln w="12700">
            <a:solidFill>
              <a:srgbClr val="ECEAE4"/>
            </a:solidFill>
            <a:prstDash val="solid"/>
          </a:ln>
        </p:spPr>
        <p:txBody>
          <a:bodyPr/>
          <a:p/>
        </p:txBody>
      </p:sp>
      <p:sp>
        <p:nvSpPr>
          <p:cNvPr id="11" name="Text 9"/>
          <p:cNvSpPr/>
          <p:nvPr/>
        </p:nvSpPr>
        <p:spPr>
          <a:xfrm>
            <a:off x="8183880" y="1755648"/>
            <a:ext cx="3200400" cy="4572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Centrată pe pacient</a:t>
            </a:r>
            <a:endParaRPr lang="en-US" sz="1800" dirty="0"/>
          </a:p>
        </p:txBody>
      </p:sp>
      <p:sp>
        <p:nvSpPr>
          <p:cNvPr id="12" name="Text 10"/>
          <p:cNvSpPr/>
          <p:nvPr/>
        </p:nvSpPr>
        <p:spPr>
          <a:xfrm>
            <a:off x="8183880" y="2240280"/>
            <a:ext cx="3200400" cy="6400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preferințele, nevoile, valorile lui</a:t>
            </a:r>
            <a:endParaRPr lang="en-US" sz="1500" dirty="0"/>
          </a:p>
        </p:txBody>
      </p:sp>
      <p:sp>
        <p:nvSpPr>
          <p:cNvPr id="13" name="Shape 11"/>
          <p:cNvSpPr/>
          <p:nvPr/>
        </p:nvSpPr>
        <p:spPr>
          <a:xfrm>
            <a:off x="594360" y="3063240"/>
            <a:ext cx="3566160" cy="1280160"/>
          </a:xfrm>
          <a:prstGeom prst="roundRect">
            <a:avLst>
              <a:gd name="adj" fmla="val 6429"/>
            </a:avLst>
          </a:prstGeom>
          <a:solidFill>
            <a:srgbClr val="F9F8F5"/>
          </a:solidFill>
          <a:ln w="12700">
            <a:solidFill>
              <a:srgbClr val="F9F8F5"/>
            </a:solidFill>
            <a:prstDash val="solid"/>
          </a:ln>
        </p:spPr>
        <p:txBody>
          <a:bodyPr/>
          <a:p/>
        </p:txBody>
      </p:sp>
      <p:sp>
        <p:nvSpPr>
          <p:cNvPr id="14" name="Text 12"/>
          <p:cNvSpPr/>
          <p:nvPr/>
        </p:nvSpPr>
        <p:spPr>
          <a:xfrm>
            <a:off x="777240" y="3172968"/>
            <a:ext cx="3200400" cy="4572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Promptă</a:t>
            </a:r>
            <a:endParaRPr lang="en-US" sz="1800" dirty="0"/>
          </a:p>
        </p:txBody>
      </p:sp>
      <p:sp>
        <p:nvSpPr>
          <p:cNvPr id="15" name="Text 13"/>
          <p:cNvSpPr/>
          <p:nvPr/>
        </p:nvSpPr>
        <p:spPr>
          <a:xfrm>
            <a:off x="777240" y="3657600"/>
            <a:ext cx="3200400" cy="6400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fără așteptări care fac rău</a:t>
            </a:r>
            <a:endParaRPr lang="en-US" sz="1500" dirty="0"/>
          </a:p>
        </p:txBody>
      </p:sp>
      <p:sp>
        <p:nvSpPr>
          <p:cNvPr id="16" name="Shape 14"/>
          <p:cNvSpPr/>
          <p:nvPr/>
        </p:nvSpPr>
        <p:spPr>
          <a:xfrm>
            <a:off x="4297680" y="3063240"/>
            <a:ext cx="3566160" cy="1280160"/>
          </a:xfrm>
          <a:prstGeom prst="roundRect">
            <a:avLst>
              <a:gd name="adj" fmla="val 6429"/>
            </a:avLst>
          </a:prstGeom>
          <a:solidFill>
            <a:srgbClr val="ECEAE4"/>
          </a:solidFill>
          <a:ln w="12700">
            <a:solidFill>
              <a:srgbClr val="ECEAE4"/>
            </a:solidFill>
            <a:prstDash val="solid"/>
          </a:ln>
        </p:spPr>
        <p:txBody>
          <a:bodyPr/>
          <a:p/>
        </p:txBody>
      </p:sp>
      <p:sp>
        <p:nvSpPr>
          <p:cNvPr id="17" name="Text 15"/>
          <p:cNvSpPr/>
          <p:nvPr/>
        </p:nvSpPr>
        <p:spPr>
          <a:xfrm>
            <a:off x="4480560" y="3172968"/>
            <a:ext cx="3200400" cy="4572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Eficientă</a:t>
            </a:r>
            <a:endParaRPr lang="en-US" sz="1800" dirty="0"/>
          </a:p>
        </p:txBody>
      </p:sp>
      <p:sp>
        <p:nvSpPr>
          <p:cNvPr id="18" name="Text 16"/>
          <p:cNvSpPr/>
          <p:nvPr/>
        </p:nvSpPr>
        <p:spPr>
          <a:xfrm>
            <a:off x="4480560" y="3657600"/>
            <a:ext cx="3200400" cy="6400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fără risipă</a:t>
            </a:r>
            <a:endParaRPr lang="en-US" sz="1500" dirty="0"/>
          </a:p>
        </p:txBody>
      </p:sp>
      <p:sp>
        <p:nvSpPr>
          <p:cNvPr id="19" name="Shape 17"/>
          <p:cNvSpPr/>
          <p:nvPr/>
        </p:nvSpPr>
        <p:spPr>
          <a:xfrm>
            <a:off x="8001000" y="3063240"/>
            <a:ext cx="3566160" cy="1280160"/>
          </a:xfrm>
          <a:prstGeom prst="roundRect">
            <a:avLst>
              <a:gd name="adj" fmla="val 6429"/>
            </a:avLst>
          </a:prstGeom>
          <a:solidFill>
            <a:srgbClr val="F9F8F5"/>
          </a:solidFill>
          <a:ln w="12700">
            <a:solidFill>
              <a:srgbClr val="F9F8F5"/>
            </a:solidFill>
            <a:prstDash val="solid"/>
          </a:ln>
        </p:spPr>
        <p:txBody>
          <a:bodyPr/>
          <a:p/>
        </p:txBody>
      </p:sp>
      <p:sp>
        <p:nvSpPr>
          <p:cNvPr id="20" name="Text 18"/>
          <p:cNvSpPr/>
          <p:nvPr/>
        </p:nvSpPr>
        <p:spPr>
          <a:xfrm>
            <a:off x="8183880" y="3172968"/>
            <a:ext cx="3200400" cy="4572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Echitabilă</a:t>
            </a:r>
            <a:endParaRPr lang="en-US" sz="1800" dirty="0"/>
          </a:p>
        </p:txBody>
      </p:sp>
      <p:sp>
        <p:nvSpPr>
          <p:cNvPr id="21" name="Text 19"/>
          <p:cNvSpPr/>
          <p:nvPr/>
        </p:nvSpPr>
        <p:spPr>
          <a:xfrm>
            <a:off x="8183880" y="3657600"/>
            <a:ext cx="3200400" cy="6400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aceeași calitate pentru oricine</a:t>
            </a:r>
            <a:endParaRPr lang="en-US" sz="1500" dirty="0"/>
          </a:p>
        </p:txBody>
      </p:sp>
      <p:sp>
        <p:nvSpPr>
          <p:cNvPr id="22" name="Shape 20"/>
          <p:cNvSpPr/>
          <p:nvPr/>
        </p:nvSpPr>
        <p:spPr>
          <a:xfrm>
            <a:off x="594360" y="4572000"/>
            <a:ext cx="10972800" cy="1188720"/>
          </a:xfrm>
          <a:prstGeom prst="roundRect">
            <a:avLst>
              <a:gd name="adj" fmla="val 6923"/>
            </a:avLst>
          </a:prstGeom>
          <a:solidFill>
            <a:srgbClr val="11121A"/>
          </a:solidFill>
          <a:ln w="12700">
            <a:solidFill>
              <a:srgbClr val="11121A"/>
            </a:solidFill>
            <a:prstDash val="solid"/>
          </a:ln>
        </p:spPr>
        <p:txBody>
          <a:bodyPr/>
          <a:p/>
        </p:txBody>
      </p:sp>
      <p:sp>
        <p:nvSpPr>
          <p:cNvPr id="23" name="Text 21"/>
          <p:cNvSpPr/>
          <p:nvPr/>
        </p:nvSpPr>
        <p:spPr>
          <a:xfrm>
            <a:off x="868680" y="4572000"/>
            <a:ext cx="10424160" cy="1188720"/>
          </a:xfrm>
          <a:prstGeom prst="rect">
            <a:avLst/>
          </a:prstGeom>
          <a:noFill/>
          <a:ln/>
        </p:spPr>
        <p:txBody>
          <a:bodyPr wrap="square" lIns="0" tIns="0" rIns="0" bIns="0" rtlCol="0" anchor="ctr"/>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La nivelul serviciilor de sănătate pare să se contureze un consens: eficace, sigure, centrate pe oameni.</a:t>
            </a:r>
            <a:endParaRPr lang="en-US" sz="1700" dirty="0"/>
          </a:p>
        </p:txBody>
      </p:sp>
      <p:sp>
        <p:nvSpPr>
          <p:cNvPr id="24" name="Text 22"/>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Busse și colab., 2019 (registru A1014, A1032); explicațiile: convenție a cursului.</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MODELUL LUI DONABEDIAN</a:t>
            </a:r>
            <a:endParaRPr lang="en-US" sz="1300" dirty="0"/>
          </a:p>
        </p:txBody>
      </p:sp>
      <p:sp>
        <p:nvSpPr>
          <p:cNvPr id="3" name="Shape 1"/>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APLICAȚI PE SECȚIA MAREI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Structură, proces, rezultat</a:t>
            </a:r>
            <a:endParaRPr lang="en-US" sz="3200" dirty="0"/>
          </a:p>
        </p:txBody>
      </p:sp>
      <p:sp>
        <p:nvSpPr>
          <p:cNvPr id="6" name="Shape 4"/>
          <p:cNvSpPr/>
          <p:nvPr/>
        </p:nvSpPr>
        <p:spPr>
          <a:xfrm>
            <a:off x="594360" y="1645920"/>
            <a:ext cx="3383280" cy="2697480"/>
          </a:xfrm>
          <a:prstGeom prst="roundRect">
            <a:avLst>
              <a:gd name="adj" fmla="val 3051"/>
            </a:avLst>
          </a:prstGeom>
          <a:solidFill>
            <a:srgbClr val="ECEAE4"/>
          </a:solidFill>
          <a:ln w="12700">
            <a:solidFill>
              <a:srgbClr val="ECEAE4"/>
            </a:solidFill>
            <a:prstDash val="solid"/>
          </a:ln>
        </p:spPr>
        <p:txBody>
          <a:bodyPr/>
          <a:p/>
        </p:txBody>
      </p:sp>
      <p:sp>
        <p:nvSpPr>
          <p:cNvPr id="7" name="Shape 5"/>
          <p:cNvSpPr/>
          <p:nvPr/>
        </p:nvSpPr>
        <p:spPr>
          <a:xfrm>
            <a:off x="594360" y="1645920"/>
            <a:ext cx="3383280" cy="73152"/>
          </a:xfrm>
          <a:prstGeom prst="rect">
            <a:avLst/>
          </a:prstGeom>
          <a:solidFill>
            <a:srgbClr val="0E7C6B"/>
          </a:solidFill>
          <a:ln w="12700">
            <a:solidFill>
              <a:srgbClr val="0E7C6B"/>
            </a:solidFill>
            <a:prstDash val="solid"/>
          </a:ln>
        </p:spPr>
        <p:txBody>
          <a:bodyPr/>
          <a:p/>
        </p:txBody>
      </p:sp>
      <p:sp>
        <p:nvSpPr>
          <p:cNvPr id="8" name="Text 6"/>
          <p:cNvSpPr/>
          <p:nvPr/>
        </p:nvSpPr>
        <p:spPr>
          <a:xfrm>
            <a:off x="822960" y="1847088"/>
            <a:ext cx="2926080" cy="68580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Structura</a:t>
            </a:r>
            <a:endParaRPr lang="en-US" sz="1900" dirty="0"/>
          </a:p>
        </p:txBody>
      </p:sp>
      <p:sp>
        <p:nvSpPr>
          <p:cNvPr id="9" name="Text 7"/>
          <p:cNvSpPr/>
          <p:nvPr/>
        </p:nvSpPr>
        <p:spPr>
          <a:xfrm>
            <a:off x="822960" y="2514600"/>
            <a:ext cx="2926080" cy="16916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asistenții din fiecare tură, pregătirea lor, saltelele pentru prevenirea escarelor, protocoalele scrise</a:t>
            </a:r>
            <a:endParaRPr lang="en-US" sz="1500" dirty="0"/>
          </a:p>
        </p:txBody>
      </p:sp>
      <p:sp>
        <p:nvSpPr>
          <p:cNvPr id="10" name="Shape 8"/>
          <p:cNvSpPr/>
          <p:nvPr/>
        </p:nvSpPr>
        <p:spPr>
          <a:xfrm>
            <a:off x="4023360" y="2743200"/>
            <a:ext cx="365760" cy="310896"/>
          </a:xfrm>
          <a:prstGeom prst="rightArrow">
            <a:avLst/>
          </a:prstGeom>
          <a:solidFill>
            <a:srgbClr val="C9C6BE"/>
          </a:solidFill>
          <a:ln w="12700">
            <a:solidFill>
              <a:srgbClr val="C9C6BE"/>
            </a:solidFill>
            <a:prstDash val="solid"/>
          </a:ln>
        </p:spPr>
        <p:txBody>
          <a:bodyPr/>
          <a:p/>
        </p:txBody>
      </p:sp>
      <p:sp>
        <p:nvSpPr>
          <p:cNvPr id="11" name="Shape 9"/>
          <p:cNvSpPr/>
          <p:nvPr/>
        </p:nvSpPr>
        <p:spPr>
          <a:xfrm>
            <a:off x="4434840" y="1645920"/>
            <a:ext cx="3383280" cy="2697480"/>
          </a:xfrm>
          <a:prstGeom prst="roundRect">
            <a:avLst>
              <a:gd name="adj" fmla="val 3051"/>
            </a:avLst>
          </a:prstGeom>
          <a:solidFill>
            <a:srgbClr val="F9F8F5"/>
          </a:solidFill>
          <a:ln w="12700">
            <a:solidFill>
              <a:srgbClr val="F9F8F5"/>
            </a:solidFill>
            <a:prstDash val="solid"/>
          </a:ln>
        </p:spPr>
        <p:txBody>
          <a:bodyPr/>
          <a:p/>
        </p:txBody>
      </p:sp>
      <p:sp>
        <p:nvSpPr>
          <p:cNvPr id="12" name="Shape 10"/>
          <p:cNvSpPr/>
          <p:nvPr/>
        </p:nvSpPr>
        <p:spPr>
          <a:xfrm>
            <a:off x="4434840" y="1645920"/>
            <a:ext cx="3383280" cy="73152"/>
          </a:xfrm>
          <a:prstGeom prst="rect">
            <a:avLst/>
          </a:prstGeom>
          <a:solidFill>
            <a:srgbClr val="8A6100"/>
          </a:solidFill>
          <a:ln w="12700">
            <a:solidFill>
              <a:srgbClr val="8A6100"/>
            </a:solidFill>
            <a:prstDash val="solid"/>
          </a:ln>
        </p:spPr>
        <p:txBody>
          <a:bodyPr/>
          <a:p/>
        </p:txBody>
      </p:sp>
      <p:sp>
        <p:nvSpPr>
          <p:cNvPr id="13" name="Text 11"/>
          <p:cNvSpPr/>
          <p:nvPr/>
        </p:nvSpPr>
        <p:spPr>
          <a:xfrm>
            <a:off x="4663440" y="1847088"/>
            <a:ext cx="2926080" cy="685800"/>
          </a:xfrm>
          <a:prstGeom prst="rect">
            <a:avLst/>
          </a:prstGeom>
          <a:noFill/>
          <a:ln/>
        </p:spPr>
        <p:txBody>
          <a:bodyPr wrap="square" lIns="0" tIns="0" rIns="0" bIns="0" rtlCol="0" anchor="t"/>
          <a:lstStyle/>
          <a:p>
            <a:pPr indent="0" marL="0">
              <a:buNone/>
            </a:pPr>
            <a:r>
              <a:rPr lang="en-US" sz="1900" b="1" dirty="0">
                <a:solidFill>
                  <a:srgbClr val="8A6100"/>
                </a:solidFill>
                <a:latin typeface="Palatino Linotype" pitchFamily="34" charset="0"/>
                <a:ea typeface="Palatino Linotype" pitchFamily="34" charset="-122"/>
                <a:cs typeface="Palatino Linotype" pitchFamily="34" charset="-120"/>
              </a:rPr>
              <a:t>Procesul</a:t>
            </a:r>
            <a:endParaRPr lang="en-US" sz="1900" dirty="0"/>
          </a:p>
        </p:txBody>
      </p:sp>
      <p:sp>
        <p:nvSpPr>
          <p:cNvPr id="14" name="Text 12"/>
          <p:cNvSpPr/>
          <p:nvPr/>
        </p:nvSpPr>
        <p:spPr>
          <a:xfrm>
            <a:off x="4663440" y="2514600"/>
            <a:ext cx="2926080" cy="16916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evaluarea riscului de escare la internare, igiena mâinilor, planul de îngrijire completat</a:t>
            </a:r>
            <a:endParaRPr lang="en-US" sz="1500" dirty="0"/>
          </a:p>
        </p:txBody>
      </p:sp>
      <p:sp>
        <p:nvSpPr>
          <p:cNvPr id="15" name="Shape 13"/>
          <p:cNvSpPr/>
          <p:nvPr/>
        </p:nvSpPr>
        <p:spPr>
          <a:xfrm>
            <a:off x="7863840" y="2743200"/>
            <a:ext cx="365760" cy="310896"/>
          </a:xfrm>
          <a:prstGeom prst="rightArrow">
            <a:avLst/>
          </a:prstGeom>
          <a:solidFill>
            <a:srgbClr val="C9C6BE"/>
          </a:solidFill>
          <a:ln w="12700">
            <a:solidFill>
              <a:srgbClr val="C9C6BE"/>
            </a:solidFill>
            <a:prstDash val="solid"/>
          </a:ln>
        </p:spPr>
        <p:txBody>
          <a:bodyPr/>
          <a:p/>
        </p:txBody>
      </p:sp>
      <p:sp>
        <p:nvSpPr>
          <p:cNvPr id="16" name="Shape 14"/>
          <p:cNvSpPr/>
          <p:nvPr/>
        </p:nvSpPr>
        <p:spPr>
          <a:xfrm>
            <a:off x="8275320" y="1645920"/>
            <a:ext cx="3383280" cy="2697480"/>
          </a:xfrm>
          <a:prstGeom prst="roundRect">
            <a:avLst>
              <a:gd name="adj" fmla="val 3051"/>
            </a:avLst>
          </a:prstGeom>
          <a:solidFill>
            <a:srgbClr val="ECEAE4"/>
          </a:solidFill>
          <a:ln w="12700">
            <a:solidFill>
              <a:srgbClr val="ECEAE4"/>
            </a:solidFill>
            <a:prstDash val="solid"/>
          </a:ln>
        </p:spPr>
        <p:txBody>
          <a:bodyPr/>
          <a:p/>
        </p:txBody>
      </p:sp>
      <p:sp>
        <p:nvSpPr>
          <p:cNvPr id="17" name="Shape 15"/>
          <p:cNvSpPr/>
          <p:nvPr/>
        </p:nvSpPr>
        <p:spPr>
          <a:xfrm>
            <a:off x="8275320" y="1645920"/>
            <a:ext cx="3383280" cy="73152"/>
          </a:xfrm>
          <a:prstGeom prst="rect">
            <a:avLst/>
          </a:prstGeom>
          <a:solidFill>
            <a:srgbClr val="B02532"/>
          </a:solidFill>
          <a:ln w="12700">
            <a:solidFill>
              <a:srgbClr val="B02532"/>
            </a:solidFill>
            <a:prstDash val="solid"/>
          </a:ln>
        </p:spPr>
        <p:txBody>
          <a:bodyPr/>
          <a:p/>
        </p:txBody>
      </p:sp>
      <p:sp>
        <p:nvSpPr>
          <p:cNvPr id="18" name="Text 16"/>
          <p:cNvSpPr/>
          <p:nvPr/>
        </p:nvSpPr>
        <p:spPr>
          <a:xfrm>
            <a:off x="8503920" y="1847088"/>
            <a:ext cx="2926080" cy="68580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Rezultatul</a:t>
            </a:r>
            <a:endParaRPr lang="en-US" sz="1900" dirty="0"/>
          </a:p>
        </p:txBody>
      </p:sp>
      <p:sp>
        <p:nvSpPr>
          <p:cNvPr id="19" name="Text 17"/>
          <p:cNvSpPr/>
          <p:nvPr/>
        </p:nvSpPr>
        <p:spPr>
          <a:xfrm>
            <a:off x="8503920" y="2514600"/>
            <a:ext cx="2926080" cy="16916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escarele apărute în spital, căderile, infecțiile asociate, satisfacția, reinternările</a:t>
            </a:r>
            <a:endParaRPr lang="en-US" sz="1500" dirty="0"/>
          </a:p>
        </p:txBody>
      </p:sp>
      <p:sp>
        <p:nvSpPr>
          <p:cNvPr id="20" name="Text 18"/>
          <p:cNvSpPr/>
          <p:nvPr/>
        </p:nvSpPr>
        <p:spPr>
          <a:xfrm>
            <a:off x="594360" y="4526280"/>
            <a:ext cx="10972800" cy="73152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O structură bună face posibil un proces bun; un proces bun face probabil un rezultat bun. Probabil, nu sigur.</a:t>
            </a:r>
            <a:endParaRPr lang="en-US" sz="1700" dirty="0"/>
          </a:p>
        </p:txBody>
      </p:sp>
      <p:sp>
        <p:nvSpPr>
          <p:cNvPr id="21" name="Text 19"/>
          <p:cNvSpPr/>
          <p:nvPr/>
        </p:nvSpPr>
        <p:spPr>
          <a:xfrm>
            <a:off x="594360" y="5394960"/>
            <a:ext cx="10972800" cy="45720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Pentru curioși (nu se evaluează): de la inspecție la îmbunătățirea continuă, în note.</a:t>
            </a:r>
            <a:endParaRPr lang="en-US" sz="1400" dirty="0"/>
          </a:p>
        </p:txBody>
      </p:sp>
      <p:sp>
        <p:nvSpPr>
          <p:cNvPr id="22" name="Text 20"/>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Busse și colab., 2019 (registru A1015); exemplele sunt construite pentru curs.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INDICATORII SENSIBILI LA ÎNGRIJIRILE DE NURSING · SINTEZĂ DIDACTICĂ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măsoară munca asistenților</a:t>
            </a:r>
            <a:endParaRPr lang="en-US" sz="3000" dirty="0"/>
          </a:p>
        </p:txBody>
      </p:sp>
      <p:sp>
        <p:nvSpPr>
          <p:cNvPr id="4" name="Shape 2"/>
          <p:cNvSpPr/>
          <p:nvPr/>
        </p:nvSpPr>
        <p:spPr>
          <a:xfrm>
            <a:off x="594360" y="1645920"/>
            <a:ext cx="3566160" cy="3657600"/>
          </a:xfrm>
          <a:prstGeom prst="roundRect">
            <a:avLst>
              <a:gd name="adj" fmla="val 2308"/>
            </a:avLst>
          </a:prstGeom>
          <a:solidFill>
            <a:srgbClr val="ECEAE4"/>
          </a:solidFill>
          <a:ln w="12700">
            <a:solidFill>
              <a:srgbClr val="ECEAE4"/>
            </a:solidFill>
            <a:prstDash val="solid"/>
          </a:ln>
        </p:spPr>
        <p:txBody>
          <a:bodyPr/>
          <a:p/>
        </p:txBody>
      </p:sp>
      <p:sp>
        <p:nvSpPr>
          <p:cNvPr id="5" name="Shape 3"/>
          <p:cNvSpPr/>
          <p:nvPr/>
        </p:nvSpPr>
        <p:spPr>
          <a:xfrm>
            <a:off x="594360" y="1645920"/>
            <a:ext cx="356616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847088"/>
            <a:ext cx="3108960" cy="68580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De structură</a:t>
            </a:r>
            <a:endParaRPr lang="en-US" sz="2000" dirty="0"/>
          </a:p>
        </p:txBody>
      </p:sp>
      <p:sp>
        <p:nvSpPr>
          <p:cNvPr id="7" name="Text 5"/>
          <p:cNvSpPr/>
          <p:nvPr/>
        </p:nvSpPr>
        <p:spPr>
          <a:xfrm>
            <a:off x="822960" y="2514600"/>
            <a:ext cx="3108960" cy="26517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orele de îngrijire pe pacient și pe zi; proporția asistenților medicali; pregătirea personalului</a:t>
            </a:r>
            <a:endParaRPr lang="en-US" sz="1600" dirty="0"/>
          </a:p>
        </p:txBody>
      </p:sp>
      <p:sp>
        <p:nvSpPr>
          <p:cNvPr id="8" name="Shape 6"/>
          <p:cNvSpPr/>
          <p:nvPr/>
        </p:nvSpPr>
        <p:spPr>
          <a:xfrm>
            <a:off x="4297680" y="1645920"/>
            <a:ext cx="3566160" cy="3657600"/>
          </a:xfrm>
          <a:prstGeom prst="roundRect">
            <a:avLst>
              <a:gd name="adj" fmla="val 2308"/>
            </a:avLst>
          </a:prstGeom>
          <a:solidFill>
            <a:srgbClr val="F9F8F5"/>
          </a:solidFill>
          <a:ln w="12700">
            <a:solidFill>
              <a:srgbClr val="F9F8F5"/>
            </a:solidFill>
            <a:prstDash val="solid"/>
          </a:ln>
        </p:spPr>
        <p:txBody>
          <a:bodyPr/>
          <a:p/>
        </p:txBody>
      </p:sp>
      <p:sp>
        <p:nvSpPr>
          <p:cNvPr id="9" name="Shape 7"/>
          <p:cNvSpPr/>
          <p:nvPr/>
        </p:nvSpPr>
        <p:spPr>
          <a:xfrm>
            <a:off x="4297680" y="1645920"/>
            <a:ext cx="3566160" cy="73152"/>
          </a:xfrm>
          <a:prstGeom prst="rect">
            <a:avLst/>
          </a:prstGeom>
          <a:solidFill>
            <a:srgbClr val="8A6100"/>
          </a:solidFill>
          <a:ln w="12700">
            <a:solidFill>
              <a:srgbClr val="8A6100"/>
            </a:solidFill>
            <a:prstDash val="solid"/>
          </a:ln>
        </p:spPr>
        <p:txBody>
          <a:bodyPr/>
          <a:p/>
        </p:txBody>
      </p:sp>
      <p:sp>
        <p:nvSpPr>
          <p:cNvPr id="10" name="Text 8"/>
          <p:cNvSpPr/>
          <p:nvPr/>
        </p:nvSpPr>
        <p:spPr>
          <a:xfrm>
            <a:off x="4526280" y="1847088"/>
            <a:ext cx="3108960" cy="685800"/>
          </a:xfrm>
          <a:prstGeom prst="rect">
            <a:avLst/>
          </a:prstGeom>
          <a:noFill/>
          <a:ln/>
        </p:spPr>
        <p:txBody>
          <a:bodyPr wrap="square" lIns="0" tIns="0" rIns="0" bIns="0" rtlCol="0" anchor="t"/>
          <a:lstStyle/>
          <a:p>
            <a:pPr indent="0" marL="0">
              <a:buNone/>
            </a:pPr>
            <a:r>
              <a:rPr lang="en-US" sz="2000" b="1" dirty="0">
                <a:solidFill>
                  <a:srgbClr val="8A6100"/>
                </a:solidFill>
                <a:latin typeface="Palatino Linotype" pitchFamily="34" charset="0"/>
                <a:ea typeface="Palatino Linotype" pitchFamily="34" charset="-122"/>
                <a:cs typeface="Palatino Linotype" pitchFamily="34" charset="-120"/>
              </a:rPr>
              <a:t>De proces</a:t>
            </a:r>
            <a:endParaRPr lang="en-US" sz="2000" dirty="0"/>
          </a:p>
        </p:txBody>
      </p:sp>
      <p:sp>
        <p:nvSpPr>
          <p:cNvPr id="11" name="Text 9"/>
          <p:cNvSpPr/>
          <p:nvPr/>
        </p:nvSpPr>
        <p:spPr>
          <a:xfrm>
            <a:off x="4526280" y="2514600"/>
            <a:ext cx="3108960" cy="26517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evaluarea riscului de escare și de cădere la internare; planurile de îngrijire completate</a:t>
            </a:r>
            <a:endParaRPr lang="en-US" sz="1600" dirty="0"/>
          </a:p>
        </p:txBody>
      </p:sp>
      <p:sp>
        <p:nvSpPr>
          <p:cNvPr id="12" name="Shape 10"/>
          <p:cNvSpPr/>
          <p:nvPr/>
        </p:nvSpPr>
        <p:spPr>
          <a:xfrm>
            <a:off x="8001000" y="1645920"/>
            <a:ext cx="3566160" cy="3657600"/>
          </a:xfrm>
          <a:prstGeom prst="roundRect">
            <a:avLst>
              <a:gd name="adj" fmla="val 2308"/>
            </a:avLst>
          </a:prstGeom>
          <a:solidFill>
            <a:srgbClr val="ECEAE4"/>
          </a:solidFill>
          <a:ln w="12700">
            <a:solidFill>
              <a:srgbClr val="ECEAE4"/>
            </a:solidFill>
            <a:prstDash val="solid"/>
          </a:ln>
        </p:spPr>
        <p:txBody>
          <a:bodyPr/>
          <a:p/>
        </p:txBody>
      </p:sp>
      <p:sp>
        <p:nvSpPr>
          <p:cNvPr id="13" name="Shape 11"/>
          <p:cNvSpPr/>
          <p:nvPr/>
        </p:nvSpPr>
        <p:spPr>
          <a:xfrm>
            <a:off x="8001000" y="1645920"/>
            <a:ext cx="3566160" cy="73152"/>
          </a:xfrm>
          <a:prstGeom prst="rect">
            <a:avLst/>
          </a:prstGeom>
          <a:solidFill>
            <a:srgbClr val="B02532"/>
          </a:solidFill>
          <a:ln w="12700">
            <a:solidFill>
              <a:srgbClr val="B02532"/>
            </a:solidFill>
            <a:prstDash val="solid"/>
          </a:ln>
        </p:spPr>
        <p:txBody>
          <a:bodyPr/>
          <a:p/>
        </p:txBody>
      </p:sp>
      <p:sp>
        <p:nvSpPr>
          <p:cNvPr id="14" name="Text 12"/>
          <p:cNvSpPr/>
          <p:nvPr/>
        </p:nvSpPr>
        <p:spPr>
          <a:xfrm>
            <a:off x="8229600" y="1847088"/>
            <a:ext cx="3108960" cy="6858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De rezultat</a:t>
            </a:r>
            <a:endParaRPr lang="en-US" sz="2000" dirty="0"/>
          </a:p>
        </p:txBody>
      </p:sp>
      <p:sp>
        <p:nvSpPr>
          <p:cNvPr id="15" name="Text 13"/>
          <p:cNvSpPr/>
          <p:nvPr/>
        </p:nvSpPr>
        <p:spPr>
          <a:xfrm>
            <a:off x="8229600" y="2514600"/>
            <a:ext cx="3108960" cy="26517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escarele apărute în spital, căderile, infecțiile asociate cateterelor, satisfacția pacienților</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INDICATORII · UN SINGUR RĂSPUNS CORECT</a:t>
            </a:r>
            <a:endParaRPr lang="en-US" sz="1300" dirty="0"/>
          </a:p>
        </p:txBody>
      </p:sp>
      <p:sp>
        <p:nvSpPr>
          <p:cNvPr id="5" name="Text 3"/>
          <p:cNvSpPr/>
          <p:nvPr/>
        </p:nvSpPr>
        <p:spPr>
          <a:xfrm>
            <a:off x="594360" y="868680"/>
            <a:ext cx="10972800" cy="1600200"/>
          </a:xfrm>
          <a:prstGeom prst="rect">
            <a:avLst/>
          </a:prstGeom>
          <a:noFill/>
          <a:ln/>
        </p:spPr>
        <p:txBody>
          <a:bodyPr wrap="square" lIns="0" tIns="0" rIns="0" bIns="0" rtlCol="0" anchor="ctr"/>
          <a:lstStyle/>
          <a:p>
            <a:pPr indent="0" marL="0">
              <a:buNone/>
            </a:pPr>
            <a:r>
              <a:rPr lang="en-US" sz="2500" b="1" dirty="0">
                <a:solidFill>
                  <a:srgbClr val="FFFFFF"/>
                </a:solidFill>
                <a:latin typeface="Palatino Linotype" pitchFamily="34" charset="0"/>
                <a:ea typeface="Palatino Linotype" pitchFamily="34" charset="-122"/>
                <a:cs typeface="Palatino Linotype" pitchFamily="34" charset="-120"/>
              </a:rPr>
              <a:t>„Proporția pacienților cu risc de escare la care riscul a fost evaluat în primele ore de la internare.” Ce fel de indicator este?</a:t>
            </a:r>
            <a:endParaRPr lang="en-US" sz="2500" dirty="0"/>
          </a:p>
        </p:txBody>
      </p:sp>
      <p:sp>
        <p:nvSpPr>
          <p:cNvPr id="6" name="Shape 4"/>
          <p:cNvSpPr/>
          <p:nvPr/>
        </p:nvSpPr>
        <p:spPr>
          <a:xfrm>
            <a:off x="594360" y="269748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7" name="Shape 5"/>
          <p:cNvSpPr/>
          <p:nvPr/>
        </p:nvSpPr>
        <p:spPr>
          <a:xfrm>
            <a:off x="868680" y="2852928"/>
            <a:ext cx="420624" cy="420624"/>
          </a:xfrm>
          <a:prstGeom prst="ellipse">
            <a:avLst/>
          </a:prstGeom>
          <a:solidFill>
            <a:srgbClr val="FFC24B"/>
          </a:solidFill>
          <a:ln/>
        </p:spPr>
        <p:txBody>
          <a:bodyPr/>
          <a:p/>
        </p:txBody>
      </p:sp>
      <p:sp>
        <p:nvSpPr>
          <p:cNvPr id="8" name="Text 6"/>
          <p:cNvSpPr/>
          <p:nvPr/>
        </p:nvSpPr>
        <p:spPr>
          <a:xfrm>
            <a:off x="868680" y="2852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269748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De structură</a:t>
            </a:r>
            <a:endParaRPr lang="en-US" sz="2000" dirty="0"/>
          </a:p>
        </p:txBody>
      </p:sp>
      <p:sp>
        <p:nvSpPr>
          <p:cNvPr id="10" name="Shape 8"/>
          <p:cNvSpPr/>
          <p:nvPr/>
        </p:nvSpPr>
        <p:spPr>
          <a:xfrm>
            <a:off x="594360" y="356616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1" name="Shape 9"/>
          <p:cNvSpPr/>
          <p:nvPr/>
        </p:nvSpPr>
        <p:spPr>
          <a:xfrm>
            <a:off x="868680" y="3721608"/>
            <a:ext cx="420624" cy="420624"/>
          </a:xfrm>
          <a:prstGeom prst="ellipse">
            <a:avLst/>
          </a:prstGeom>
          <a:solidFill>
            <a:srgbClr val="FFC24B"/>
          </a:solidFill>
          <a:ln/>
        </p:spPr>
        <p:txBody>
          <a:bodyPr/>
          <a:p/>
        </p:txBody>
      </p:sp>
      <p:sp>
        <p:nvSpPr>
          <p:cNvPr id="12" name="Text 10"/>
          <p:cNvSpPr/>
          <p:nvPr/>
        </p:nvSpPr>
        <p:spPr>
          <a:xfrm>
            <a:off x="868680" y="37216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356616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De proces</a:t>
            </a:r>
            <a:endParaRPr lang="en-US" sz="2000" dirty="0"/>
          </a:p>
        </p:txBody>
      </p:sp>
      <p:sp>
        <p:nvSpPr>
          <p:cNvPr id="14" name="Shape 12"/>
          <p:cNvSpPr/>
          <p:nvPr/>
        </p:nvSpPr>
        <p:spPr>
          <a:xfrm>
            <a:off x="594360" y="443484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5" name="Shape 13"/>
          <p:cNvSpPr/>
          <p:nvPr/>
        </p:nvSpPr>
        <p:spPr>
          <a:xfrm>
            <a:off x="868680" y="4590288"/>
            <a:ext cx="420624" cy="420624"/>
          </a:xfrm>
          <a:prstGeom prst="ellipse">
            <a:avLst/>
          </a:prstGeom>
          <a:solidFill>
            <a:srgbClr val="FFC24B"/>
          </a:solidFill>
          <a:ln/>
        </p:spPr>
        <p:txBody>
          <a:bodyPr/>
          <a:p/>
        </p:txBody>
      </p:sp>
      <p:sp>
        <p:nvSpPr>
          <p:cNvPr id="16" name="Text 14"/>
          <p:cNvSpPr/>
          <p:nvPr/>
        </p:nvSpPr>
        <p:spPr>
          <a:xfrm>
            <a:off x="868680" y="45902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443484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De rezultat</a:t>
            </a:r>
            <a:endParaRPr lang="en-US" sz="2000" dirty="0"/>
          </a:p>
        </p:txBody>
      </p:sp>
      <p:sp>
        <p:nvSpPr>
          <p:cNvPr id="18" name="Text 16"/>
          <p:cNvSpPr/>
          <p:nvPr/>
        </p:nvSpPr>
        <p:spPr>
          <a:xfrm>
            <a:off x="594360" y="5440680"/>
            <a:ext cx="10972800" cy="6400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Votați fără să vedeți votul celorlalți.</a:t>
            </a:r>
            <a:endParaRPr lang="en-US"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B. De proces</a:t>
            </a:r>
            <a:endParaRPr lang="en-US" sz="3200" dirty="0"/>
          </a:p>
        </p:txBody>
      </p:sp>
      <p:sp>
        <p:nvSpPr>
          <p:cNvPr id="4" name="Shape 2"/>
          <p:cNvSpPr/>
          <p:nvPr/>
        </p:nvSpPr>
        <p:spPr>
          <a:xfrm>
            <a:off x="594360" y="1691640"/>
            <a:ext cx="3566160" cy="2560320"/>
          </a:xfrm>
          <a:prstGeom prst="roundRect">
            <a:avLst>
              <a:gd name="adj" fmla="val 3214"/>
            </a:avLst>
          </a:prstGeom>
          <a:solidFill>
            <a:srgbClr val="ECEAE4"/>
          </a:solidFill>
          <a:ln w="12700">
            <a:solidFill>
              <a:srgbClr val="ECEAE4"/>
            </a:solidFill>
            <a:prstDash val="solid"/>
          </a:ln>
        </p:spPr>
        <p:txBody>
          <a:bodyPr/>
          <a:p/>
        </p:txBody>
      </p:sp>
      <p:sp>
        <p:nvSpPr>
          <p:cNvPr id="5" name="Shape 3"/>
          <p:cNvSpPr/>
          <p:nvPr/>
        </p:nvSpPr>
        <p:spPr>
          <a:xfrm>
            <a:off x="594360" y="1691640"/>
            <a:ext cx="3566160" cy="73152"/>
          </a:xfrm>
          <a:prstGeom prst="rect">
            <a:avLst/>
          </a:prstGeom>
          <a:solidFill>
            <a:srgbClr val="5A5F75"/>
          </a:solidFill>
          <a:ln w="12700">
            <a:solidFill>
              <a:srgbClr val="5A5F75"/>
            </a:solidFill>
            <a:prstDash val="solid"/>
          </a:ln>
        </p:spPr>
        <p:txBody>
          <a:bodyPr/>
          <a:p/>
        </p:txBody>
      </p:sp>
      <p:sp>
        <p:nvSpPr>
          <p:cNvPr id="6" name="Text 4"/>
          <p:cNvSpPr/>
          <p:nvPr/>
        </p:nvSpPr>
        <p:spPr>
          <a:xfrm>
            <a:off x="822960" y="1892808"/>
            <a:ext cx="3108960" cy="685800"/>
          </a:xfrm>
          <a:prstGeom prst="rect">
            <a:avLst/>
          </a:prstGeom>
          <a:noFill/>
          <a:ln/>
        </p:spPr>
        <p:txBody>
          <a:bodyPr wrap="square" lIns="0" tIns="0" rIns="0" bIns="0" rtlCol="0" anchor="t"/>
          <a:lstStyle/>
          <a:p>
            <a:pPr indent="0" marL="0">
              <a:buNone/>
            </a:pPr>
            <a:r>
              <a:rPr lang="en-US" sz="2000" b="1" dirty="0">
                <a:solidFill>
                  <a:srgbClr val="5A5F75"/>
                </a:solidFill>
                <a:latin typeface="Palatino Linotype" pitchFamily="34" charset="0"/>
                <a:ea typeface="Palatino Linotype" pitchFamily="34" charset="-122"/>
                <a:cs typeface="Palatino Linotype" pitchFamily="34" charset="-120"/>
              </a:rPr>
              <a:t>Nu de structură</a:t>
            </a:r>
            <a:endParaRPr lang="en-US" sz="2000" dirty="0"/>
          </a:p>
        </p:txBody>
      </p:sp>
      <p:sp>
        <p:nvSpPr>
          <p:cNvPr id="7" name="Text 5"/>
          <p:cNvSpPr/>
          <p:nvPr/>
        </p:nvSpPr>
        <p:spPr>
          <a:xfrm>
            <a:off x="822960" y="2560320"/>
            <a:ext cx="3108960" cy="15544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Nu măsoară resursele secției.</a:t>
            </a:r>
            <a:endParaRPr lang="en-US" sz="1700" dirty="0"/>
          </a:p>
        </p:txBody>
      </p:sp>
      <p:sp>
        <p:nvSpPr>
          <p:cNvPr id="8" name="Shape 6"/>
          <p:cNvSpPr/>
          <p:nvPr/>
        </p:nvSpPr>
        <p:spPr>
          <a:xfrm>
            <a:off x="4297680" y="1691640"/>
            <a:ext cx="3566160" cy="2560320"/>
          </a:xfrm>
          <a:prstGeom prst="roundRect">
            <a:avLst>
              <a:gd name="adj" fmla="val 3214"/>
            </a:avLst>
          </a:prstGeom>
          <a:solidFill>
            <a:srgbClr val="F9F8F5"/>
          </a:solidFill>
          <a:ln w="12700">
            <a:solidFill>
              <a:srgbClr val="F9F8F5"/>
            </a:solidFill>
            <a:prstDash val="solid"/>
          </a:ln>
        </p:spPr>
        <p:txBody>
          <a:bodyPr/>
          <a:p/>
        </p:txBody>
      </p:sp>
      <p:sp>
        <p:nvSpPr>
          <p:cNvPr id="9" name="Shape 7"/>
          <p:cNvSpPr/>
          <p:nvPr/>
        </p:nvSpPr>
        <p:spPr>
          <a:xfrm>
            <a:off x="4297680" y="1691640"/>
            <a:ext cx="3566160" cy="73152"/>
          </a:xfrm>
          <a:prstGeom prst="rect">
            <a:avLst/>
          </a:prstGeom>
          <a:solidFill>
            <a:srgbClr val="0E7C6B"/>
          </a:solidFill>
          <a:ln w="12700">
            <a:solidFill>
              <a:srgbClr val="0E7C6B"/>
            </a:solidFill>
            <a:prstDash val="solid"/>
          </a:ln>
        </p:spPr>
        <p:txBody>
          <a:bodyPr/>
          <a:p/>
        </p:txBody>
      </p:sp>
      <p:sp>
        <p:nvSpPr>
          <p:cNvPr id="10" name="Text 8"/>
          <p:cNvSpPr/>
          <p:nvPr/>
        </p:nvSpPr>
        <p:spPr>
          <a:xfrm>
            <a:off x="4526280" y="1892808"/>
            <a:ext cx="3108960" cy="68580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De proces</a:t>
            </a:r>
            <a:endParaRPr lang="en-US" sz="2000" dirty="0"/>
          </a:p>
        </p:txBody>
      </p:sp>
      <p:sp>
        <p:nvSpPr>
          <p:cNvPr id="11" name="Text 9"/>
          <p:cNvSpPr/>
          <p:nvPr/>
        </p:nvSpPr>
        <p:spPr>
          <a:xfrm>
            <a:off x="4526280" y="2560320"/>
            <a:ext cx="3108960" cy="15544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Măsoară dacă s-a făcut un lucru care trebuia făcut.</a:t>
            </a:r>
            <a:endParaRPr lang="en-US" sz="1700" dirty="0"/>
          </a:p>
        </p:txBody>
      </p:sp>
      <p:sp>
        <p:nvSpPr>
          <p:cNvPr id="12" name="Shape 10"/>
          <p:cNvSpPr/>
          <p:nvPr/>
        </p:nvSpPr>
        <p:spPr>
          <a:xfrm>
            <a:off x="8001000" y="1691640"/>
            <a:ext cx="3566160" cy="2560320"/>
          </a:xfrm>
          <a:prstGeom prst="roundRect">
            <a:avLst>
              <a:gd name="adj" fmla="val 3214"/>
            </a:avLst>
          </a:prstGeom>
          <a:solidFill>
            <a:srgbClr val="ECEAE4"/>
          </a:solidFill>
          <a:ln w="12700">
            <a:solidFill>
              <a:srgbClr val="ECEAE4"/>
            </a:solidFill>
            <a:prstDash val="solid"/>
          </a:ln>
        </p:spPr>
        <p:txBody>
          <a:bodyPr/>
          <a:p/>
        </p:txBody>
      </p:sp>
      <p:sp>
        <p:nvSpPr>
          <p:cNvPr id="13" name="Shape 11"/>
          <p:cNvSpPr/>
          <p:nvPr/>
        </p:nvSpPr>
        <p:spPr>
          <a:xfrm>
            <a:off x="8001000" y="1691640"/>
            <a:ext cx="3566160" cy="73152"/>
          </a:xfrm>
          <a:prstGeom prst="rect">
            <a:avLst/>
          </a:prstGeom>
          <a:solidFill>
            <a:srgbClr val="5A5F75"/>
          </a:solidFill>
          <a:ln w="12700">
            <a:solidFill>
              <a:srgbClr val="5A5F75"/>
            </a:solidFill>
            <a:prstDash val="solid"/>
          </a:ln>
        </p:spPr>
        <p:txBody>
          <a:bodyPr/>
          <a:p/>
        </p:txBody>
      </p:sp>
      <p:sp>
        <p:nvSpPr>
          <p:cNvPr id="14" name="Text 12"/>
          <p:cNvSpPr/>
          <p:nvPr/>
        </p:nvSpPr>
        <p:spPr>
          <a:xfrm>
            <a:off x="8229600" y="1892808"/>
            <a:ext cx="3108960" cy="685800"/>
          </a:xfrm>
          <a:prstGeom prst="rect">
            <a:avLst/>
          </a:prstGeom>
          <a:noFill/>
          <a:ln/>
        </p:spPr>
        <p:txBody>
          <a:bodyPr wrap="square" lIns="0" tIns="0" rIns="0" bIns="0" rtlCol="0" anchor="t"/>
          <a:lstStyle/>
          <a:p>
            <a:pPr indent="0" marL="0">
              <a:buNone/>
            </a:pPr>
            <a:r>
              <a:rPr lang="en-US" sz="2000" b="1" dirty="0">
                <a:solidFill>
                  <a:srgbClr val="5A5F75"/>
                </a:solidFill>
                <a:latin typeface="Palatino Linotype" pitchFamily="34" charset="0"/>
                <a:ea typeface="Palatino Linotype" pitchFamily="34" charset="-122"/>
                <a:cs typeface="Palatino Linotype" pitchFamily="34" charset="-120"/>
              </a:rPr>
              <a:t>Nu de rezultat</a:t>
            </a:r>
            <a:endParaRPr lang="en-US" sz="2000" dirty="0"/>
          </a:p>
        </p:txBody>
      </p:sp>
      <p:sp>
        <p:nvSpPr>
          <p:cNvPr id="15" name="Text 13"/>
          <p:cNvSpPr/>
          <p:nvPr/>
        </p:nvSpPr>
        <p:spPr>
          <a:xfrm>
            <a:off x="8229600" y="2560320"/>
            <a:ext cx="3108960" cy="15544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Nu numără escarele apărute.</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TREI FORME DE EVALUARE EXTERNĂ · OBSERVATORUL EUROPEAN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Acreditare, certificare, supraveghere</a:t>
            </a:r>
            <a:endParaRPr lang="en-US" sz="3000" dirty="0"/>
          </a:p>
        </p:txBody>
      </p:sp>
      <p:sp>
        <p:nvSpPr>
          <p:cNvPr id="4" name="Shape 2"/>
          <p:cNvSpPr/>
          <p:nvPr/>
        </p:nvSpPr>
        <p:spPr>
          <a:xfrm>
            <a:off x="594360" y="1645920"/>
            <a:ext cx="3566160" cy="2651760"/>
          </a:xfrm>
          <a:prstGeom prst="roundRect">
            <a:avLst>
              <a:gd name="adj" fmla="val 3103"/>
            </a:avLst>
          </a:prstGeom>
          <a:solidFill>
            <a:srgbClr val="ECEAE4"/>
          </a:solidFill>
          <a:ln w="12700">
            <a:solidFill>
              <a:srgbClr val="ECEAE4"/>
            </a:solidFill>
            <a:prstDash val="solid"/>
          </a:ln>
        </p:spPr>
        <p:txBody>
          <a:bodyPr/>
          <a:p/>
        </p:txBody>
      </p:sp>
      <p:sp>
        <p:nvSpPr>
          <p:cNvPr id="5" name="Shape 3"/>
          <p:cNvSpPr/>
          <p:nvPr/>
        </p:nvSpPr>
        <p:spPr>
          <a:xfrm>
            <a:off x="594360" y="1645920"/>
            <a:ext cx="356616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847088"/>
            <a:ext cx="3108960" cy="68580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Acreditarea</a:t>
            </a:r>
            <a:endParaRPr lang="en-US" sz="2000" dirty="0"/>
          </a:p>
        </p:txBody>
      </p:sp>
      <p:sp>
        <p:nvSpPr>
          <p:cNvPr id="7" name="Text 5"/>
          <p:cNvSpPr/>
          <p:nvPr/>
        </p:nvSpPr>
        <p:spPr>
          <a:xfrm>
            <a:off x="822960" y="2514600"/>
            <a:ext cx="3108960" cy="1645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Un organism de acreditare recunoaște public că organizația respectă standarde stabilite dinainte.</a:t>
            </a:r>
            <a:endParaRPr lang="en-US" sz="1600" dirty="0"/>
          </a:p>
        </p:txBody>
      </p:sp>
      <p:sp>
        <p:nvSpPr>
          <p:cNvPr id="8" name="Shape 6"/>
          <p:cNvSpPr/>
          <p:nvPr/>
        </p:nvSpPr>
        <p:spPr>
          <a:xfrm>
            <a:off x="4297680" y="1645920"/>
            <a:ext cx="3566160" cy="2651760"/>
          </a:xfrm>
          <a:prstGeom prst="roundRect">
            <a:avLst>
              <a:gd name="adj" fmla="val 3103"/>
            </a:avLst>
          </a:prstGeom>
          <a:solidFill>
            <a:srgbClr val="F9F8F5"/>
          </a:solidFill>
          <a:ln w="12700">
            <a:solidFill>
              <a:srgbClr val="F9F8F5"/>
            </a:solidFill>
            <a:prstDash val="solid"/>
          </a:ln>
        </p:spPr>
        <p:txBody>
          <a:bodyPr/>
          <a:p/>
        </p:txBody>
      </p:sp>
      <p:sp>
        <p:nvSpPr>
          <p:cNvPr id="9" name="Shape 7"/>
          <p:cNvSpPr/>
          <p:nvPr/>
        </p:nvSpPr>
        <p:spPr>
          <a:xfrm>
            <a:off x="4297680" y="1645920"/>
            <a:ext cx="3566160" cy="73152"/>
          </a:xfrm>
          <a:prstGeom prst="rect">
            <a:avLst/>
          </a:prstGeom>
          <a:solidFill>
            <a:srgbClr val="8A6100"/>
          </a:solidFill>
          <a:ln w="12700">
            <a:solidFill>
              <a:srgbClr val="8A6100"/>
            </a:solidFill>
            <a:prstDash val="solid"/>
          </a:ln>
        </p:spPr>
        <p:txBody>
          <a:bodyPr/>
          <a:p/>
        </p:txBody>
      </p:sp>
      <p:sp>
        <p:nvSpPr>
          <p:cNvPr id="10" name="Text 8"/>
          <p:cNvSpPr/>
          <p:nvPr/>
        </p:nvSpPr>
        <p:spPr>
          <a:xfrm>
            <a:off x="4526280" y="1847088"/>
            <a:ext cx="3108960" cy="685800"/>
          </a:xfrm>
          <a:prstGeom prst="rect">
            <a:avLst/>
          </a:prstGeom>
          <a:noFill/>
          <a:ln/>
        </p:spPr>
        <p:txBody>
          <a:bodyPr wrap="square" lIns="0" tIns="0" rIns="0" bIns="0" rtlCol="0" anchor="t"/>
          <a:lstStyle/>
          <a:p>
            <a:pPr indent="0" marL="0">
              <a:buNone/>
            </a:pPr>
            <a:r>
              <a:rPr lang="en-US" sz="2000" b="1" dirty="0">
                <a:solidFill>
                  <a:srgbClr val="8A6100"/>
                </a:solidFill>
                <a:latin typeface="Palatino Linotype" pitchFamily="34" charset="0"/>
                <a:ea typeface="Palatino Linotype" pitchFamily="34" charset="-122"/>
                <a:cs typeface="Palatino Linotype" pitchFamily="34" charset="-120"/>
              </a:rPr>
              <a:t>Certificarea</a:t>
            </a:r>
            <a:endParaRPr lang="en-US" sz="2000" dirty="0"/>
          </a:p>
        </p:txBody>
      </p:sp>
      <p:sp>
        <p:nvSpPr>
          <p:cNvPr id="11" name="Text 9"/>
          <p:cNvSpPr/>
          <p:nvPr/>
        </p:nvSpPr>
        <p:spPr>
          <a:xfrm>
            <a:off x="4526280" y="2514600"/>
            <a:ext cx="3108960" cy="1645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De regulă, conformitatea cu standardele ISO.</a:t>
            </a:r>
            <a:endParaRPr lang="en-US" sz="1600" dirty="0"/>
          </a:p>
        </p:txBody>
      </p:sp>
      <p:sp>
        <p:nvSpPr>
          <p:cNvPr id="12" name="Shape 10"/>
          <p:cNvSpPr/>
          <p:nvPr/>
        </p:nvSpPr>
        <p:spPr>
          <a:xfrm>
            <a:off x="8001000" y="1645920"/>
            <a:ext cx="3566160" cy="2651760"/>
          </a:xfrm>
          <a:prstGeom prst="roundRect">
            <a:avLst>
              <a:gd name="adj" fmla="val 3103"/>
            </a:avLst>
          </a:prstGeom>
          <a:solidFill>
            <a:srgbClr val="ECEAE4"/>
          </a:solidFill>
          <a:ln w="12700">
            <a:solidFill>
              <a:srgbClr val="ECEAE4"/>
            </a:solidFill>
            <a:prstDash val="solid"/>
          </a:ln>
        </p:spPr>
        <p:txBody>
          <a:bodyPr/>
          <a:p/>
        </p:txBody>
      </p:sp>
      <p:sp>
        <p:nvSpPr>
          <p:cNvPr id="13" name="Shape 11"/>
          <p:cNvSpPr/>
          <p:nvPr/>
        </p:nvSpPr>
        <p:spPr>
          <a:xfrm>
            <a:off x="8001000" y="1645920"/>
            <a:ext cx="3566160" cy="73152"/>
          </a:xfrm>
          <a:prstGeom prst="rect">
            <a:avLst/>
          </a:prstGeom>
          <a:solidFill>
            <a:srgbClr val="B02532"/>
          </a:solidFill>
          <a:ln w="12700">
            <a:solidFill>
              <a:srgbClr val="B02532"/>
            </a:solidFill>
            <a:prstDash val="solid"/>
          </a:ln>
        </p:spPr>
        <p:txBody>
          <a:bodyPr/>
          <a:p/>
        </p:txBody>
      </p:sp>
      <p:sp>
        <p:nvSpPr>
          <p:cNvPr id="14" name="Text 12"/>
          <p:cNvSpPr/>
          <p:nvPr/>
        </p:nvSpPr>
        <p:spPr>
          <a:xfrm>
            <a:off x="8229600" y="1847088"/>
            <a:ext cx="3108960" cy="6858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Supravegherea</a:t>
            </a:r>
            <a:endParaRPr lang="en-US" sz="2000" dirty="0"/>
          </a:p>
        </p:txBody>
      </p:sp>
      <p:sp>
        <p:nvSpPr>
          <p:cNvPr id="15" name="Text 13"/>
          <p:cNvSpPr/>
          <p:nvPr/>
        </p:nvSpPr>
        <p:spPr>
          <a:xfrm>
            <a:off x="8229600" y="2514600"/>
            <a:ext cx="3108960" cy="16459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Standardele minime pentru înregistrare, autorizare sau licențiere.</a:t>
            </a:r>
            <a:endParaRPr lang="en-US" sz="1600" dirty="0"/>
          </a:p>
        </p:txBody>
      </p:sp>
      <p:sp>
        <p:nvSpPr>
          <p:cNvPr id="16" name="Shape 14"/>
          <p:cNvSpPr/>
          <p:nvPr/>
        </p:nvSpPr>
        <p:spPr>
          <a:xfrm>
            <a:off x="594360" y="4526280"/>
            <a:ext cx="10972800" cy="1143000"/>
          </a:xfrm>
          <a:prstGeom prst="roundRect">
            <a:avLst>
              <a:gd name="adj" fmla="val 7200"/>
            </a:avLst>
          </a:prstGeom>
          <a:solidFill>
            <a:srgbClr val="11121A"/>
          </a:solidFill>
          <a:ln w="12700">
            <a:solidFill>
              <a:srgbClr val="11121A"/>
            </a:solidFill>
            <a:prstDash val="solid"/>
          </a:ln>
        </p:spPr>
        <p:txBody>
          <a:bodyPr/>
          <a:p/>
        </p:txBody>
      </p:sp>
      <p:sp>
        <p:nvSpPr>
          <p:cNvPr id="17" name="Text 15"/>
          <p:cNvSpPr/>
          <p:nvPr/>
        </p:nvSpPr>
        <p:spPr>
          <a:xfrm>
            <a:off x="868680" y="4526280"/>
            <a:ext cx="10424160" cy="1143000"/>
          </a:xfrm>
          <a:prstGeom prst="rect">
            <a:avLst/>
          </a:prstGeom>
          <a:noFill/>
          <a:ln/>
        </p:spPr>
        <p:txBody>
          <a:bodyPr wrap="square" lIns="0" tIns="0" rIns="0" bIns="0" rtlCol="0" anchor="ctr"/>
          <a:lstStyle/>
          <a:p>
            <a:pPr indent="0" marL="0">
              <a:buNone/>
            </a:pPr>
            <a:r>
              <a:rPr lang="en-US" sz="1650" b="1" dirty="0">
                <a:solidFill>
                  <a:srgbClr val="FFC24B"/>
                </a:solidFill>
                <a:latin typeface="Palatino Linotype" pitchFamily="34" charset="0"/>
                <a:ea typeface="Palatino Linotype" pitchFamily="34" charset="-122"/>
                <a:cs typeface="Palatino Linotype" pitchFamily="34" charset="-120"/>
              </a:rPr>
              <a:t>Pe scurt: autorizarea spune că unitatea are voie să funcționeze; acreditarea, că respectă standardele de calitate și siguranță.</a:t>
            </a:r>
            <a:endParaRPr lang="en-US" sz="1650" dirty="0"/>
          </a:p>
        </p:txBody>
      </p:sp>
      <p:sp>
        <p:nvSpPr>
          <p:cNvPr id="18" name="Text 16"/>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Busse și colab., 2019 (registru A1016, A1020). ISQua evaluează organismele de acreditare, între care programul din România (date din 2018, A1017).</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EVALUAREA EXTERNĂ · UN SINGUR RĂSPUNS CORECT</a:t>
            </a:r>
            <a:endParaRPr lang="en-US" sz="1300" dirty="0"/>
          </a:p>
        </p:txBody>
      </p:sp>
      <p:sp>
        <p:nvSpPr>
          <p:cNvPr id="5" name="Text 3"/>
          <p:cNvSpPr/>
          <p:nvPr/>
        </p:nvSpPr>
        <p:spPr>
          <a:xfrm>
            <a:off x="594360" y="868680"/>
            <a:ext cx="10972800" cy="1600200"/>
          </a:xfrm>
          <a:prstGeom prst="rect">
            <a:avLst/>
          </a:prstGeom>
          <a:noFill/>
          <a:ln/>
        </p:spPr>
        <p:txBody>
          <a:bodyPr wrap="square" lIns="0" tIns="0" rIns="0" bIns="0" rtlCol="0" anchor="ctr"/>
          <a:lstStyle/>
          <a:p>
            <a:pPr indent="0" marL="0">
              <a:buNone/>
            </a:pPr>
            <a:r>
              <a:rPr lang="en-US" sz="2600" b="1" dirty="0">
                <a:solidFill>
                  <a:srgbClr val="FFFFFF"/>
                </a:solidFill>
                <a:latin typeface="Palatino Linotype" pitchFamily="34" charset="0"/>
                <a:ea typeface="Palatino Linotype" pitchFamily="34" charset="-122"/>
                <a:cs typeface="Palatino Linotype" pitchFamily="34" charset="-120"/>
              </a:rPr>
              <a:t>Spitalul primește un certificat ISO 9001 pentru sistemul lui de management al calității. Ce formă de evaluare externă este?</a:t>
            </a:r>
            <a:endParaRPr lang="en-US" sz="2600" dirty="0"/>
          </a:p>
        </p:txBody>
      </p:sp>
      <p:sp>
        <p:nvSpPr>
          <p:cNvPr id="6" name="Shape 4"/>
          <p:cNvSpPr/>
          <p:nvPr/>
        </p:nvSpPr>
        <p:spPr>
          <a:xfrm>
            <a:off x="594360" y="269748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7" name="Shape 5"/>
          <p:cNvSpPr/>
          <p:nvPr/>
        </p:nvSpPr>
        <p:spPr>
          <a:xfrm>
            <a:off x="868680" y="2852928"/>
            <a:ext cx="420624" cy="420624"/>
          </a:xfrm>
          <a:prstGeom prst="ellipse">
            <a:avLst/>
          </a:prstGeom>
          <a:solidFill>
            <a:srgbClr val="FFC24B"/>
          </a:solidFill>
          <a:ln/>
        </p:spPr>
        <p:txBody>
          <a:bodyPr/>
          <a:p/>
        </p:txBody>
      </p:sp>
      <p:sp>
        <p:nvSpPr>
          <p:cNvPr id="8" name="Text 6"/>
          <p:cNvSpPr/>
          <p:nvPr/>
        </p:nvSpPr>
        <p:spPr>
          <a:xfrm>
            <a:off x="868680" y="2852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269748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Acreditarea de către ANMCS</a:t>
            </a:r>
            <a:endParaRPr lang="en-US" sz="2000" dirty="0"/>
          </a:p>
        </p:txBody>
      </p:sp>
      <p:sp>
        <p:nvSpPr>
          <p:cNvPr id="10" name="Shape 8"/>
          <p:cNvSpPr/>
          <p:nvPr/>
        </p:nvSpPr>
        <p:spPr>
          <a:xfrm>
            <a:off x="594360" y="356616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1" name="Shape 9"/>
          <p:cNvSpPr/>
          <p:nvPr/>
        </p:nvSpPr>
        <p:spPr>
          <a:xfrm>
            <a:off x="868680" y="3721608"/>
            <a:ext cx="420624" cy="420624"/>
          </a:xfrm>
          <a:prstGeom prst="ellipse">
            <a:avLst/>
          </a:prstGeom>
          <a:solidFill>
            <a:srgbClr val="FFC24B"/>
          </a:solidFill>
          <a:ln/>
        </p:spPr>
        <p:txBody>
          <a:bodyPr/>
          <a:p/>
        </p:txBody>
      </p:sp>
      <p:sp>
        <p:nvSpPr>
          <p:cNvPr id="12" name="Text 10"/>
          <p:cNvSpPr/>
          <p:nvPr/>
        </p:nvSpPr>
        <p:spPr>
          <a:xfrm>
            <a:off x="868680" y="37216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356616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Certificarea</a:t>
            </a:r>
            <a:endParaRPr lang="en-US" sz="2000" dirty="0"/>
          </a:p>
        </p:txBody>
      </p:sp>
      <p:sp>
        <p:nvSpPr>
          <p:cNvPr id="14" name="Shape 12"/>
          <p:cNvSpPr/>
          <p:nvPr/>
        </p:nvSpPr>
        <p:spPr>
          <a:xfrm>
            <a:off x="594360" y="443484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5" name="Shape 13"/>
          <p:cNvSpPr/>
          <p:nvPr/>
        </p:nvSpPr>
        <p:spPr>
          <a:xfrm>
            <a:off x="868680" y="4590288"/>
            <a:ext cx="420624" cy="420624"/>
          </a:xfrm>
          <a:prstGeom prst="ellipse">
            <a:avLst/>
          </a:prstGeom>
          <a:solidFill>
            <a:srgbClr val="FFC24B"/>
          </a:solidFill>
          <a:ln/>
        </p:spPr>
        <p:txBody>
          <a:bodyPr/>
          <a:p/>
        </p:txBody>
      </p:sp>
      <p:sp>
        <p:nvSpPr>
          <p:cNvPr id="16" name="Text 14"/>
          <p:cNvSpPr/>
          <p:nvPr/>
        </p:nvSpPr>
        <p:spPr>
          <a:xfrm>
            <a:off x="868680" y="45902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443484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Autorizarea de funcționare</a:t>
            </a:r>
            <a:endParaRPr lang="en-US" sz="2000" dirty="0"/>
          </a:p>
        </p:txBody>
      </p:sp>
      <p:sp>
        <p:nvSpPr>
          <p:cNvPr id="18" name="Text 16"/>
          <p:cNvSpPr/>
          <p:nvPr/>
        </p:nvSpPr>
        <p:spPr>
          <a:xfrm>
            <a:off x="594360" y="5440680"/>
            <a:ext cx="10972800" cy="6400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Votați fără să vedeți votul celorlalți.</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B. Certificarea</a:t>
            </a:r>
            <a:endParaRPr lang="en-US" sz="3200" dirty="0"/>
          </a:p>
        </p:txBody>
      </p:sp>
      <p:sp>
        <p:nvSpPr>
          <p:cNvPr id="4" name="Shape 2"/>
          <p:cNvSpPr/>
          <p:nvPr/>
        </p:nvSpPr>
        <p:spPr>
          <a:xfrm>
            <a:off x="594360" y="1691640"/>
            <a:ext cx="10972800" cy="2011680"/>
          </a:xfrm>
          <a:prstGeom prst="roundRect">
            <a:avLst>
              <a:gd name="adj" fmla="val 4091"/>
            </a:avLst>
          </a:prstGeom>
          <a:solidFill>
            <a:srgbClr val="FFFFFF"/>
          </a:solidFill>
          <a:ln w="12700">
            <a:solidFill>
              <a:srgbClr val="FFFFFF"/>
            </a:solidFill>
            <a:prstDash val="solid"/>
          </a:ln>
        </p:spPr>
        <p:txBody>
          <a:bodyPr/>
          <a:p/>
        </p:txBody>
      </p:sp>
      <p:sp>
        <p:nvSpPr>
          <p:cNvPr id="5" name="Shape 3"/>
          <p:cNvSpPr/>
          <p:nvPr/>
        </p:nvSpPr>
        <p:spPr>
          <a:xfrm>
            <a:off x="594360" y="1691640"/>
            <a:ext cx="82296" cy="2011680"/>
          </a:xfrm>
          <a:prstGeom prst="rect">
            <a:avLst/>
          </a:prstGeom>
          <a:solidFill>
            <a:srgbClr val="8A6100"/>
          </a:solidFill>
          <a:ln w="12700">
            <a:solidFill>
              <a:srgbClr val="8A6100"/>
            </a:solidFill>
            <a:prstDash val="solid"/>
          </a:ln>
        </p:spPr>
        <p:txBody>
          <a:bodyPr/>
          <a:p/>
        </p:txBody>
      </p:sp>
      <p:sp>
        <p:nvSpPr>
          <p:cNvPr id="6" name="Text 4"/>
          <p:cNvSpPr/>
          <p:nvPr/>
        </p:nvSpPr>
        <p:spPr>
          <a:xfrm>
            <a:off x="914400" y="1691640"/>
            <a:ext cx="10424160" cy="201168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Evaluarea privește conformitatea cu un standard ISO. Nu este acreditarea unității de către ANMCS, după standardele ei, și nici dreptul de a funcționa.</a:t>
            </a:r>
            <a:endParaRPr lang="en-US" sz="2000" dirty="0"/>
          </a:p>
        </p:txBody>
      </p:sp>
      <p:sp>
        <p:nvSpPr>
          <p:cNvPr id="7" name="Text 5"/>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Busse și colab., 2019 (registru A1016).</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LEGEA NR. 185/2017, ART. 1, 3, 4 ȘI 7</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ANMCS: cine acreditează și cine răspunde</a:t>
            </a:r>
            <a:endParaRPr lang="en-US" sz="2800" dirty="0"/>
          </a:p>
        </p:txBody>
      </p:sp>
      <p:sp>
        <p:nvSpPr>
          <p:cNvPr id="4" name="Shape 2"/>
          <p:cNvSpPr/>
          <p:nvPr/>
        </p:nvSpPr>
        <p:spPr>
          <a:xfrm>
            <a:off x="594360" y="1600200"/>
            <a:ext cx="5394960" cy="2377440"/>
          </a:xfrm>
          <a:prstGeom prst="roundRect">
            <a:avLst>
              <a:gd name="adj" fmla="val 3462"/>
            </a:avLst>
          </a:prstGeom>
          <a:solidFill>
            <a:srgbClr val="ECEAE4"/>
          </a:solidFill>
          <a:ln w="12700">
            <a:solidFill>
              <a:srgbClr val="ECEAE4"/>
            </a:solidFill>
            <a:prstDash val="solid"/>
          </a:ln>
        </p:spPr>
        <p:txBody>
          <a:bodyPr/>
          <a:p/>
        </p:txBody>
      </p:sp>
      <p:sp>
        <p:nvSpPr>
          <p:cNvPr id="5" name="Shape 3"/>
          <p:cNvSpPr/>
          <p:nvPr/>
        </p:nvSpPr>
        <p:spPr>
          <a:xfrm>
            <a:off x="594360" y="1600200"/>
            <a:ext cx="539496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801368"/>
            <a:ext cx="4937760" cy="68580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ANMCS</a:t>
            </a:r>
            <a:endParaRPr lang="en-US" sz="1900" dirty="0"/>
          </a:p>
        </p:txBody>
      </p:sp>
      <p:sp>
        <p:nvSpPr>
          <p:cNvPr id="7" name="Text 5"/>
          <p:cNvSpPr/>
          <p:nvPr/>
        </p:nvSpPr>
        <p:spPr>
          <a:xfrm>
            <a:off x="822960" y="2468880"/>
            <a:ext cx="4937760" cy="13716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Instituție publică, în subordinea Guvernului și în coordonarea prim-ministrului. Standardizează, evaluează, acreditează și monitorizează.</a:t>
            </a:r>
            <a:endParaRPr lang="en-US" sz="1550" dirty="0"/>
          </a:p>
        </p:txBody>
      </p:sp>
      <p:sp>
        <p:nvSpPr>
          <p:cNvPr id="8" name="Shape 6"/>
          <p:cNvSpPr/>
          <p:nvPr/>
        </p:nvSpPr>
        <p:spPr>
          <a:xfrm>
            <a:off x="6172200" y="1600200"/>
            <a:ext cx="5394960" cy="2377440"/>
          </a:xfrm>
          <a:prstGeom prst="roundRect">
            <a:avLst>
              <a:gd name="adj" fmla="val 3462"/>
            </a:avLst>
          </a:prstGeom>
          <a:solidFill>
            <a:srgbClr val="F9F8F5"/>
          </a:solidFill>
          <a:ln w="12700">
            <a:solidFill>
              <a:srgbClr val="F9F8F5"/>
            </a:solidFill>
            <a:prstDash val="solid"/>
          </a:ln>
        </p:spPr>
        <p:txBody>
          <a:bodyPr/>
          <a:p/>
        </p:txBody>
      </p:sp>
      <p:sp>
        <p:nvSpPr>
          <p:cNvPr id="9" name="Shape 7"/>
          <p:cNvSpPr/>
          <p:nvPr/>
        </p:nvSpPr>
        <p:spPr>
          <a:xfrm>
            <a:off x="6172200" y="1600200"/>
            <a:ext cx="5394960" cy="73152"/>
          </a:xfrm>
          <a:prstGeom prst="rect">
            <a:avLst/>
          </a:prstGeom>
          <a:solidFill>
            <a:srgbClr val="B02532"/>
          </a:solidFill>
          <a:ln w="12700">
            <a:solidFill>
              <a:srgbClr val="B02532"/>
            </a:solidFill>
            <a:prstDash val="solid"/>
          </a:ln>
        </p:spPr>
        <p:txBody>
          <a:bodyPr/>
          <a:p/>
        </p:txBody>
      </p:sp>
      <p:sp>
        <p:nvSpPr>
          <p:cNvPr id="10" name="Text 8"/>
          <p:cNvSpPr/>
          <p:nvPr/>
        </p:nvSpPr>
        <p:spPr>
          <a:xfrm>
            <a:off x="6400800" y="1801368"/>
            <a:ext cx="4937760" cy="68580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Unitatea sanitară</a:t>
            </a:r>
            <a:endParaRPr lang="en-US" sz="1900" dirty="0"/>
          </a:p>
        </p:txBody>
      </p:sp>
      <p:sp>
        <p:nvSpPr>
          <p:cNvPr id="11" name="Text 9"/>
          <p:cNvSpPr/>
          <p:nvPr/>
        </p:nvSpPr>
        <p:spPr>
          <a:xfrm>
            <a:off x="6400800" y="2468880"/>
            <a:ext cx="4937760" cy="13716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Răspunde de calitatea serviciilor și de siguranța pacientului.</a:t>
            </a:r>
            <a:endParaRPr lang="en-US" sz="1550" dirty="0"/>
          </a:p>
        </p:txBody>
      </p:sp>
      <p:sp>
        <p:nvSpPr>
          <p:cNvPr id="12" name="Shape 10"/>
          <p:cNvSpPr/>
          <p:nvPr/>
        </p:nvSpPr>
        <p:spPr>
          <a:xfrm>
            <a:off x="594360" y="4160520"/>
            <a:ext cx="10972800" cy="1097280"/>
          </a:xfrm>
          <a:prstGeom prst="roundRect">
            <a:avLst>
              <a:gd name="adj" fmla="val 7500"/>
            </a:avLst>
          </a:prstGeom>
          <a:solidFill>
            <a:srgbClr val="11121A"/>
          </a:solidFill>
          <a:ln w="12700">
            <a:solidFill>
              <a:srgbClr val="11121A"/>
            </a:solidFill>
            <a:prstDash val="solid"/>
          </a:ln>
        </p:spPr>
        <p:txBody>
          <a:bodyPr/>
          <a:p/>
        </p:txBody>
      </p:sp>
      <p:sp>
        <p:nvSpPr>
          <p:cNvPr id="13" name="Text 11"/>
          <p:cNvSpPr/>
          <p:nvPr/>
        </p:nvSpPr>
        <p:spPr>
          <a:xfrm>
            <a:off x="868680" y="4160520"/>
            <a:ext cx="10424160" cy="1097280"/>
          </a:xfrm>
          <a:prstGeom prst="rect">
            <a:avLst/>
          </a:prstGeom>
          <a:noFill/>
          <a:ln/>
        </p:spPr>
        <p:txBody>
          <a:bodyPr wrap="square" lIns="0" tIns="0" rIns="0" bIns="0" rtlCol="0" anchor="ctr"/>
          <a:lstStyle/>
          <a:p>
            <a:pPr indent="0" marL="0">
              <a:buNone/>
            </a:pPr>
            <a:r>
              <a:rPr lang="en-US" sz="1550" b="1" dirty="0">
                <a:solidFill>
                  <a:srgbClr val="FFC24B"/>
                </a:solidFill>
                <a:latin typeface="Palatino Linotype" pitchFamily="34" charset="0"/>
                <a:ea typeface="Palatino Linotype" pitchFamily="34" charset="-122"/>
                <a:cs typeface="Palatino Linotype" pitchFamily="34" charset="-120"/>
              </a:rPr>
              <a:t>Acreditarea este obligatorie, cu excepțiile din lege: medicina de familie, cabinetele dentare, unele cabinete de specialitate, laboratoarele.</a:t>
            </a:r>
            <a:endParaRPr lang="en-US" sz="1550" dirty="0"/>
          </a:p>
        </p:txBody>
      </p:sp>
      <p:sp>
        <p:nvSpPr>
          <p:cNvPr id="14" name="Text 12"/>
          <p:cNvSpPr/>
          <p:nvPr/>
        </p:nvSpPr>
        <p:spPr>
          <a:xfrm>
            <a:off x="594360" y="5440680"/>
            <a:ext cx="10972800" cy="54864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ANMCS verifică și recunoaște calitatea; spitalul și oamenii lui o produc.</a:t>
            </a:r>
            <a:endParaRPr lang="en-US" sz="1700" dirty="0"/>
          </a:p>
        </p:txBody>
      </p:sp>
      <p:sp>
        <p:nvSpPr>
          <p:cNvPr id="15" name="Text 13"/>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Legea nr. 185/2017 (registru A1021, A1025, A1026).</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594360" y="310896"/>
            <a:ext cx="3291840" cy="329184"/>
          </a:xfrm>
          <a:prstGeom prst="roundRect">
            <a:avLst>
              <a:gd name="adj" fmla="val 50000"/>
            </a:avLst>
          </a:prstGeom>
          <a:solidFill>
            <a:srgbClr val="0E7C6B"/>
          </a:solidFill>
          <a:ln w="12700">
            <a:solidFill>
              <a:srgbClr val="0E7C6B"/>
            </a:solidFill>
            <a:prstDash val="solid"/>
          </a:ln>
        </p:spPr>
        <p:txBody>
          <a:bodyPr/>
          <a:p/>
        </p:txBody>
      </p:sp>
      <p:sp>
        <p:nvSpPr>
          <p:cNvPr id="3" name="Text 1"/>
          <p:cNvSpPr/>
          <p:nvPr/>
        </p:nvSpPr>
        <p:spPr>
          <a:xfrm>
            <a:off x="594360" y="310896"/>
            <a:ext cx="329184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TERMENUL NOU 2 DIN 2</a:t>
            </a:r>
            <a:endParaRPr lang="en-US" sz="1300" dirty="0"/>
          </a:p>
        </p:txBody>
      </p:sp>
      <p:sp>
        <p:nvSpPr>
          <p:cNvPr id="4" name="Text 2"/>
          <p:cNvSpPr/>
          <p:nvPr/>
        </p:nvSpPr>
        <p:spPr>
          <a:xfrm>
            <a:off x="4114800" y="347472"/>
            <a:ext cx="749808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LEGEA NR. 185/2017, ART. 2</a:t>
            </a:r>
            <a:endParaRPr lang="en-US" sz="1300" dirty="0"/>
          </a:p>
        </p:txBody>
      </p:sp>
      <p:sp>
        <p:nvSpPr>
          <p:cNvPr id="5" name="Text 3"/>
          <p:cNvSpPr/>
          <p:nvPr/>
        </p:nvSpPr>
        <p:spPr>
          <a:xfrm>
            <a:off x="594360" y="777240"/>
            <a:ext cx="10972800" cy="7315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Acreditarea unităților sanitare</a:t>
            </a:r>
            <a:endParaRPr lang="en-US" sz="3200" dirty="0"/>
          </a:p>
        </p:txBody>
      </p:sp>
      <p:sp>
        <p:nvSpPr>
          <p:cNvPr id="6" name="Shape 4"/>
          <p:cNvSpPr/>
          <p:nvPr/>
        </p:nvSpPr>
        <p:spPr>
          <a:xfrm>
            <a:off x="594360" y="1691640"/>
            <a:ext cx="10972800" cy="2926080"/>
          </a:xfrm>
          <a:prstGeom prst="roundRect">
            <a:avLst>
              <a:gd name="adj" fmla="val 2813"/>
            </a:avLst>
          </a:prstGeom>
          <a:solidFill>
            <a:srgbClr val="FFFFFF"/>
          </a:solidFill>
          <a:ln w="12700">
            <a:solidFill>
              <a:srgbClr val="FFFFFF"/>
            </a:solidFill>
            <a:prstDash val="solid"/>
          </a:ln>
        </p:spPr>
        <p:txBody>
          <a:bodyPr/>
          <a:p/>
        </p:txBody>
      </p:sp>
      <p:sp>
        <p:nvSpPr>
          <p:cNvPr id="7" name="Shape 5"/>
          <p:cNvSpPr/>
          <p:nvPr/>
        </p:nvSpPr>
        <p:spPr>
          <a:xfrm>
            <a:off x="594360" y="1691640"/>
            <a:ext cx="82296" cy="2926080"/>
          </a:xfrm>
          <a:prstGeom prst="rect">
            <a:avLst/>
          </a:prstGeom>
          <a:solidFill>
            <a:srgbClr val="0E7C6B"/>
          </a:solidFill>
          <a:ln w="12700">
            <a:solidFill>
              <a:srgbClr val="0E7C6B"/>
            </a:solidFill>
            <a:prstDash val="solid"/>
          </a:ln>
        </p:spPr>
        <p:txBody>
          <a:bodyPr/>
          <a:p/>
        </p:txBody>
      </p:sp>
      <p:sp>
        <p:nvSpPr>
          <p:cNvPr id="8" name="Text 6"/>
          <p:cNvSpPr/>
          <p:nvPr/>
        </p:nvSpPr>
        <p:spPr>
          <a:xfrm>
            <a:off x="914400" y="1691640"/>
            <a:ext cx="10424160" cy="2926080"/>
          </a:xfrm>
          <a:prstGeom prst="rect">
            <a:avLst/>
          </a:prstGeom>
          <a:noFill/>
          <a:ln/>
        </p:spPr>
        <p:txBody>
          <a:bodyPr wrap="square" lIns="0" tIns="0" rIns="0" bIns="0" rtlCol="0" anchor="ctr"/>
          <a:lstStyle/>
          <a:p>
            <a:pPr indent="0" marL="0">
              <a:buNone/>
            </a:pPr>
            <a:r>
              <a:rPr lang="en-US" sz="1800" i="1" dirty="0">
                <a:solidFill>
                  <a:srgbClr val="11121A"/>
                </a:solidFill>
                <a:latin typeface="Palatino Linotype" pitchFamily="34" charset="0"/>
                <a:ea typeface="Palatino Linotype" pitchFamily="34" charset="-122"/>
                <a:cs typeface="Palatino Linotype" pitchFamily="34" charset="-120"/>
              </a:rPr>
              <a:t>„procesul de validare a conformității caracteristicilor serviciilor de sănătate efectuate de către unitățile sanitare, cu standardele ANMCS adoptate de către ANMCS și aprobate în condițiile prezentei legi, în urma căruia unitățile sanitare sunt clasificate pe categorii de acreditare pentru a conferi încredere în competența tehnico-profesională și organizatorică a acestora”</a:t>
            </a:r>
            <a:endParaRPr lang="en-US" sz="1800" dirty="0"/>
          </a:p>
        </p:txBody>
      </p:sp>
      <p:sp>
        <p:nvSpPr>
          <p:cNvPr id="9" name="Text 7"/>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Legea nr. 185/2017, art. 2 (registru A1023).</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LEGEA NR. 185/2017, ART. 2 ȘI 9 · SE CERE LA EXAMEN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Două durate de cinci ani, ușor de confundat</a:t>
            </a:r>
            <a:endParaRPr lang="en-US" sz="2800" dirty="0"/>
          </a:p>
        </p:txBody>
      </p:sp>
      <p:sp>
        <p:nvSpPr>
          <p:cNvPr id="4" name="Shape 2"/>
          <p:cNvSpPr/>
          <p:nvPr/>
        </p:nvSpPr>
        <p:spPr>
          <a:xfrm>
            <a:off x="594360" y="1645920"/>
            <a:ext cx="5394960" cy="2286000"/>
          </a:xfrm>
          <a:prstGeom prst="roundRect">
            <a:avLst>
              <a:gd name="adj" fmla="val 3600"/>
            </a:avLst>
          </a:prstGeom>
          <a:solidFill>
            <a:srgbClr val="1D1F2B"/>
          </a:solidFill>
          <a:ln w="12700">
            <a:solidFill>
              <a:srgbClr val="1D1F2B"/>
            </a:solidFill>
            <a:prstDash val="solid"/>
          </a:ln>
        </p:spPr>
        <p:txBody>
          <a:bodyPr/>
          <a:p/>
        </p:txBody>
      </p:sp>
      <p:sp>
        <p:nvSpPr>
          <p:cNvPr id="5" name="Text 3"/>
          <p:cNvSpPr/>
          <p:nvPr/>
        </p:nvSpPr>
        <p:spPr>
          <a:xfrm>
            <a:off x="868680" y="1737360"/>
            <a:ext cx="4846320" cy="731520"/>
          </a:xfrm>
          <a:prstGeom prst="rect">
            <a:avLst/>
          </a:prstGeom>
          <a:noFill/>
          <a:ln/>
        </p:spPr>
        <p:txBody>
          <a:bodyPr wrap="square" lIns="0" tIns="0" rIns="0" bIns="0" rtlCol="0" anchor="t"/>
          <a:lstStyle/>
          <a:p>
            <a:pPr indent="0" marL="0">
              <a:buNone/>
            </a:pPr>
            <a:r>
              <a:rPr lang="en-US" sz="4000" b="1" dirty="0">
                <a:solidFill>
                  <a:srgbClr val="FFC24B"/>
                </a:solidFill>
                <a:latin typeface="Palatino Linotype" pitchFamily="34" charset="0"/>
                <a:ea typeface="Palatino Linotype" pitchFamily="34" charset="-122"/>
                <a:cs typeface="Palatino Linotype" pitchFamily="34" charset="-120"/>
              </a:rPr>
              <a:t>5 ani</a:t>
            </a:r>
            <a:endParaRPr lang="en-US" sz="4000" dirty="0"/>
          </a:p>
        </p:txBody>
      </p:sp>
      <p:sp>
        <p:nvSpPr>
          <p:cNvPr id="6" name="Text 4"/>
          <p:cNvSpPr/>
          <p:nvPr/>
        </p:nvSpPr>
        <p:spPr>
          <a:xfrm>
            <a:off x="868680" y="2468880"/>
            <a:ext cx="4846320" cy="411480"/>
          </a:xfrm>
          <a:prstGeom prst="rect">
            <a:avLst/>
          </a:prstGeom>
          <a:noFill/>
          <a:ln/>
        </p:spPr>
        <p:txBody>
          <a:bodyPr wrap="square" lIns="0" tIns="0" rIns="0" bIns="0" rtlCol="0" anchor="t"/>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Ciclul de acreditare</a:t>
            </a:r>
            <a:endParaRPr lang="en-US" sz="1900" dirty="0"/>
          </a:p>
        </p:txBody>
      </p:sp>
      <p:sp>
        <p:nvSpPr>
          <p:cNvPr id="7" name="Text 5"/>
          <p:cNvSpPr/>
          <p:nvPr/>
        </p:nvSpPr>
        <p:spPr>
          <a:xfrm>
            <a:off x="868680" y="2880360"/>
            <a:ext cx="4846320" cy="96012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intervalul în care se folosește o ediție a standardelor; se poate prelungi în epidemii sau dezastre</a:t>
            </a:r>
            <a:endParaRPr lang="en-US" sz="1600" dirty="0"/>
          </a:p>
        </p:txBody>
      </p:sp>
      <p:sp>
        <p:nvSpPr>
          <p:cNvPr id="8" name="Shape 6"/>
          <p:cNvSpPr/>
          <p:nvPr/>
        </p:nvSpPr>
        <p:spPr>
          <a:xfrm>
            <a:off x="6172200" y="1645920"/>
            <a:ext cx="5394960" cy="2286000"/>
          </a:xfrm>
          <a:prstGeom prst="roundRect">
            <a:avLst>
              <a:gd name="adj" fmla="val 3600"/>
            </a:avLst>
          </a:prstGeom>
          <a:solidFill>
            <a:srgbClr val="1D1F2B"/>
          </a:solidFill>
          <a:ln w="12700">
            <a:solidFill>
              <a:srgbClr val="1D1F2B"/>
            </a:solidFill>
            <a:prstDash val="solid"/>
          </a:ln>
        </p:spPr>
        <p:txBody>
          <a:bodyPr/>
          <a:p/>
        </p:txBody>
      </p:sp>
      <p:sp>
        <p:nvSpPr>
          <p:cNvPr id="9" name="Text 7"/>
          <p:cNvSpPr/>
          <p:nvPr/>
        </p:nvSpPr>
        <p:spPr>
          <a:xfrm>
            <a:off x="6446520" y="1737360"/>
            <a:ext cx="4846320" cy="731520"/>
          </a:xfrm>
          <a:prstGeom prst="rect">
            <a:avLst/>
          </a:prstGeom>
          <a:noFill/>
          <a:ln/>
        </p:spPr>
        <p:txBody>
          <a:bodyPr wrap="square" lIns="0" tIns="0" rIns="0" bIns="0" rtlCol="0" anchor="t"/>
          <a:lstStyle/>
          <a:p>
            <a:pPr indent="0" marL="0">
              <a:buNone/>
            </a:pPr>
            <a:r>
              <a:rPr lang="en-US" sz="4000" b="1" dirty="0">
                <a:solidFill>
                  <a:srgbClr val="27D3BE"/>
                </a:solidFill>
                <a:latin typeface="Palatino Linotype" pitchFamily="34" charset="0"/>
                <a:ea typeface="Palatino Linotype" pitchFamily="34" charset="-122"/>
                <a:cs typeface="Palatino Linotype" pitchFamily="34" charset="-120"/>
              </a:rPr>
              <a:t>5 ani</a:t>
            </a:r>
            <a:endParaRPr lang="en-US" sz="4000" dirty="0"/>
          </a:p>
        </p:txBody>
      </p:sp>
      <p:sp>
        <p:nvSpPr>
          <p:cNvPr id="10" name="Text 8"/>
          <p:cNvSpPr/>
          <p:nvPr/>
        </p:nvSpPr>
        <p:spPr>
          <a:xfrm>
            <a:off x="6446520" y="2468880"/>
            <a:ext cx="4846320" cy="411480"/>
          </a:xfrm>
          <a:prstGeom prst="rect">
            <a:avLst/>
          </a:prstGeom>
          <a:noFill/>
          <a:ln/>
        </p:spPr>
        <p:txBody>
          <a:bodyPr wrap="square" lIns="0" tIns="0" rIns="0" bIns="0" rtlCol="0" anchor="t"/>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Perioada de acreditare</a:t>
            </a:r>
            <a:endParaRPr lang="en-US" sz="1900" dirty="0"/>
          </a:p>
        </p:txBody>
      </p:sp>
      <p:sp>
        <p:nvSpPr>
          <p:cNvPr id="11" name="Text 9"/>
          <p:cNvSpPr/>
          <p:nvPr/>
        </p:nvSpPr>
        <p:spPr>
          <a:xfrm>
            <a:off x="6446520" y="2880360"/>
            <a:ext cx="4846320" cy="96012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valabilitatea certificatului de acreditare al unității</a:t>
            </a:r>
            <a:endParaRPr lang="en-US" sz="1600" dirty="0"/>
          </a:p>
        </p:txBody>
      </p:sp>
      <p:sp>
        <p:nvSpPr>
          <p:cNvPr id="12" name="Text 10"/>
          <p:cNvSpPr/>
          <p:nvPr/>
        </p:nvSpPr>
        <p:spPr>
          <a:xfrm>
            <a:off x="594360" y="4114800"/>
            <a:ext cx="10972800" cy="10058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Evaluarea se face după standardele în vigoare la data evaluării. Noua acreditare se cere cu cel puțin 6 luni înainte de expirarea certificatului.</a:t>
            </a:r>
            <a:endParaRPr lang="en-US" sz="1700" dirty="0"/>
          </a:p>
        </p:txBody>
      </p:sp>
      <p:sp>
        <p:nvSpPr>
          <p:cNvPr id="13" name="Text 11"/>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Legea nr. 185/2017 (registru A1024, A1027, A1028).</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ORDINUL PREȘEDINTELUI ANMCS NR. 139 · MONITORUL OFICIAL NR. 808 BIS DIN 23.09.2026</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Standardele ANMCS: trei referințe</a:t>
            </a:r>
            <a:endParaRPr lang="en-US" sz="3000" dirty="0"/>
          </a:p>
        </p:txBody>
      </p:sp>
      <p:sp>
        <p:nvSpPr>
          <p:cNvPr id="4" name="Text 2"/>
          <p:cNvSpPr/>
          <p:nvPr/>
        </p:nvSpPr>
        <p:spPr>
          <a:xfrm>
            <a:off x="594360" y="1508760"/>
            <a:ext cx="10972800" cy="41148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Patru niveluri: referința, standardul, criteriul, cerința.</a:t>
            </a:r>
            <a:endParaRPr lang="en-US" sz="1600" dirty="0"/>
          </a:p>
        </p:txBody>
      </p:sp>
      <p:sp>
        <p:nvSpPr>
          <p:cNvPr id="5" name="Shape 3"/>
          <p:cNvSpPr/>
          <p:nvPr/>
        </p:nvSpPr>
        <p:spPr>
          <a:xfrm>
            <a:off x="594360" y="2011680"/>
            <a:ext cx="3566160" cy="2971800"/>
          </a:xfrm>
          <a:prstGeom prst="roundRect">
            <a:avLst>
              <a:gd name="adj" fmla="val 2769"/>
            </a:avLst>
          </a:prstGeom>
          <a:solidFill>
            <a:srgbClr val="ECEAE4"/>
          </a:solidFill>
          <a:ln w="12700">
            <a:solidFill>
              <a:srgbClr val="ECEAE4"/>
            </a:solidFill>
            <a:prstDash val="solid"/>
          </a:ln>
        </p:spPr>
        <p:txBody>
          <a:bodyPr/>
          <a:p/>
        </p:txBody>
      </p:sp>
      <p:sp>
        <p:nvSpPr>
          <p:cNvPr id="6" name="Shape 4"/>
          <p:cNvSpPr/>
          <p:nvPr/>
        </p:nvSpPr>
        <p:spPr>
          <a:xfrm>
            <a:off x="594360" y="2011680"/>
            <a:ext cx="3566160" cy="73152"/>
          </a:xfrm>
          <a:prstGeom prst="rect">
            <a:avLst/>
          </a:prstGeom>
          <a:solidFill>
            <a:srgbClr val="0E7C6B"/>
          </a:solidFill>
          <a:ln w="12700">
            <a:solidFill>
              <a:srgbClr val="0E7C6B"/>
            </a:solidFill>
            <a:prstDash val="solid"/>
          </a:ln>
        </p:spPr>
        <p:txBody>
          <a:bodyPr/>
          <a:p/>
        </p:txBody>
      </p:sp>
      <p:sp>
        <p:nvSpPr>
          <p:cNvPr id="7" name="Text 5"/>
          <p:cNvSpPr/>
          <p:nvPr/>
        </p:nvSpPr>
        <p:spPr>
          <a:xfrm>
            <a:off x="822960" y="2212848"/>
            <a:ext cx="3108960" cy="6858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Managementul strategic și organizațional</a:t>
            </a:r>
            <a:endParaRPr lang="en-US" sz="1700" dirty="0"/>
          </a:p>
        </p:txBody>
      </p:sp>
      <p:sp>
        <p:nvSpPr>
          <p:cNvPr id="8" name="Text 6"/>
          <p:cNvSpPr/>
          <p:nvPr/>
        </p:nvSpPr>
        <p:spPr>
          <a:xfrm>
            <a:off x="822960" y="2880360"/>
            <a:ext cx="3108960" cy="19659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strategia, resursele umane, sistemul de management al calității, riscurile neclinice</a:t>
            </a:r>
            <a:endParaRPr lang="en-US" sz="1500" dirty="0"/>
          </a:p>
        </p:txBody>
      </p:sp>
      <p:sp>
        <p:nvSpPr>
          <p:cNvPr id="9" name="Shape 7"/>
          <p:cNvSpPr/>
          <p:nvPr/>
        </p:nvSpPr>
        <p:spPr>
          <a:xfrm>
            <a:off x="4297680" y="2011680"/>
            <a:ext cx="3566160" cy="2971800"/>
          </a:xfrm>
          <a:prstGeom prst="roundRect">
            <a:avLst>
              <a:gd name="adj" fmla="val 2769"/>
            </a:avLst>
          </a:prstGeom>
          <a:solidFill>
            <a:srgbClr val="F9F8F5"/>
          </a:solidFill>
          <a:ln w="12700">
            <a:solidFill>
              <a:srgbClr val="F9F8F5"/>
            </a:solidFill>
            <a:prstDash val="solid"/>
          </a:ln>
        </p:spPr>
        <p:txBody>
          <a:bodyPr/>
          <a:p/>
        </p:txBody>
      </p:sp>
      <p:sp>
        <p:nvSpPr>
          <p:cNvPr id="10" name="Shape 8"/>
          <p:cNvSpPr/>
          <p:nvPr/>
        </p:nvSpPr>
        <p:spPr>
          <a:xfrm>
            <a:off x="4297680" y="2011680"/>
            <a:ext cx="3566160" cy="73152"/>
          </a:xfrm>
          <a:prstGeom prst="rect">
            <a:avLst/>
          </a:prstGeom>
          <a:solidFill>
            <a:srgbClr val="8A6100"/>
          </a:solidFill>
          <a:ln w="12700">
            <a:solidFill>
              <a:srgbClr val="8A6100"/>
            </a:solidFill>
            <a:prstDash val="solid"/>
          </a:ln>
        </p:spPr>
        <p:txBody>
          <a:bodyPr/>
          <a:p/>
        </p:txBody>
      </p:sp>
      <p:sp>
        <p:nvSpPr>
          <p:cNvPr id="11" name="Text 9"/>
          <p:cNvSpPr/>
          <p:nvPr/>
        </p:nvSpPr>
        <p:spPr>
          <a:xfrm>
            <a:off x="4526280" y="2212848"/>
            <a:ext cx="3108960" cy="685800"/>
          </a:xfrm>
          <a:prstGeom prst="rect">
            <a:avLst/>
          </a:prstGeom>
          <a:noFill/>
          <a:ln/>
        </p:spPr>
        <p:txBody>
          <a:bodyPr wrap="square" lIns="0" tIns="0" rIns="0" bIns="0" rtlCol="0" anchor="t"/>
          <a:lstStyle/>
          <a:p>
            <a:pPr indent="0" marL="0">
              <a:buNone/>
            </a:pPr>
            <a:r>
              <a:rPr lang="en-US" sz="1700" b="1" dirty="0">
                <a:solidFill>
                  <a:srgbClr val="8A6100"/>
                </a:solidFill>
                <a:latin typeface="Palatino Linotype" pitchFamily="34" charset="0"/>
                <a:ea typeface="Palatino Linotype" pitchFamily="34" charset="-122"/>
                <a:cs typeface="Palatino Linotype" pitchFamily="34" charset="-120"/>
              </a:rPr>
              <a:t>Managementul clinic</a:t>
            </a:r>
            <a:endParaRPr lang="en-US" sz="1700" dirty="0"/>
          </a:p>
        </p:txBody>
      </p:sp>
      <p:sp>
        <p:nvSpPr>
          <p:cNvPr id="12" name="Text 10"/>
          <p:cNvSpPr/>
          <p:nvPr/>
        </p:nvSpPr>
        <p:spPr>
          <a:xfrm>
            <a:off x="4526280" y="2880360"/>
            <a:ext cx="3108960" cy="19659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evaluarea inițială, medicamentele, infecțiile asociate, siguranța pacientului, auditul clinic</a:t>
            </a:r>
            <a:endParaRPr lang="en-US" sz="1500" dirty="0"/>
          </a:p>
        </p:txBody>
      </p:sp>
      <p:sp>
        <p:nvSpPr>
          <p:cNvPr id="13" name="Shape 11"/>
          <p:cNvSpPr/>
          <p:nvPr/>
        </p:nvSpPr>
        <p:spPr>
          <a:xfrm>
            <a:off x="8001000" y="2011680"/>
            <a:ext cx="3566160" cy="2971800"/>
          </a:xfrm>
          <a:prstGeom prst="roundRect">
            <a:avLst>
              <a:gd name="adj" fmla="val 2769"/>
            </a:avLst>
          </a:prstGeom>
          <a:solidFill>
            <a:srgbClr val="ECEAE4"/>
          </a:solidFill>
          <a:ln w="12700">
            <a:solidFill>
              <a:srgbClr val="ECEAE4"/>
            </a:solidFill>
            <a:prstDash val="solid"/>
          </a:ln>
        </p:spPr>
        <p:txBody>
          <a:bodyPr/>
          <a:p/>
        </p:txBody>
      </p:sp>
      <p:sp>
        <p:nvSpPr>
          <p:cNvPr id="14" name="Shape 12"/>
          <p:cNvSpPr/>
          <p:nvPr/>
        </p:nvSpPr>
        <p:spPr>
          <a:xfrm>
            <a:off x="8001000" y="2011680"/>
            <a:ext cx="3566160" cy="73152"/>
          </a:xfrm>
          <a:prstGeom prst="rect">
            <a:avLst/>
          </a:prstGeom>
          <a:solidFill>
            <a:srgbClr val="4A2D8C"/>
          </a:solidFill>
          <a:ln w="12700">
            <a:solidFill>
              <a:srgbClr val="4A2D8C"/>
            </a:solidFill>
            <a:prstDash val="solid"/>
          </a:ln>
        </p:spPr>
        <p:txBody>
          <a:bodyPr/>
          <a:p/>
        </p:txBody>
      </p:sp>
      <p:sp>
        <p:nvSpPr>
          <p:cNvPr id="15" name="Text 13"/>
          <p:cNvSpPr/>
          <p:nvPr/>
        </p:nvSpPr>
        <p:spPr>
          <a:xfrm>
            <a:off x="8229600" y="2212848"/>
            <a:ext cx="3108960" cy="685800"/>
          </a:xfrm>
          <a:prstGeom prst="rect">
            <a:avLst/>
          </a:prstGeom>
          <a:noFill/>
          <a:ln/>
        </p:spPr>
        <p:txBody>
          <a:bodyPr wrap="square" lIns="0" tIns="0" rIns="0" bIns="0" rtlCol="0" anchor="t"/>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Etica medicală și drepturile pacientului</a:t>
            </a:r>
            <a:endParaRPr lang="en-US" sz="1700" dirty="0"/>
          </a:p>
        </p:txBody>
      </p:sp>
      <p:sp>
        <p:nvSpPr>
          <p:cNvPr id="16" name="Text 14"/>
          <p:cNvSpPr/>
          <p:nvPr/>
        </p:nvSpPr>
        <p:spPr>
          <a:xfrm>
            <a:off x="8229600" y="2880360"/>
            <a:ext cx="3108960" cy="19659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autonomia, echitatea, binefacerea și evitarea vătămării</a:t>
            </a:r>
            <a:endParaRPr lang="en-US" sz="1500" dirty="0"/>
          </a:p>
        </p:txBody>
      </p:sp>
      <p:sp>
        <p:nvSpPr>
          <p:cNvPr id="17" name="Text 15"/>
          <p:cNvSpPr/>
          <p:nvPr/>
        </p:nvSpPr>
        <p:spPr>
          <a:xfrm>
            <a:off x="594360" y="5212080"/>
            <a:ext cx="10972800" cy="73152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Ediția a III-a are trei referințe, ca ediția a II-a din 2017. „Șase domenii” nu este structura standardelor ANMCS.</a:t>
            </a:r>
            <a:endParaRPr lang="en-US" sz="1600" dirty="0"/>
          </a:p>
        </p:txBody>
      </p:sp>
      <p:sp>
        <p:nvSpPr>
          <p:cNvPr id="18" name="Text 16"/>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standardele ANMCS, ediția a III-a (registru A1030, A1031, A1033); Ordinul MS nr. 446/2017 (registru A1037).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STANDARDELE ANMCS, EDIȚIA A III-A</a:t>
            </a:r>
            <a:endParaRPr lang="en-US" sz="1300" dirty="0"/>
          </a:p>
        </p:txBody>
      </p:sp>
      <p:sp>
        <p:nvSpPr>
          <p:cNvPr id="3" name="Shape 1"/>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CE VEDEȚI PE SECȚIE?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cer standardele, concret</a:t>
            </a:r>
            <a:endParaRPr lang="en-US" sz="3000" dirty="0"/>
          </a:p>
        </p:txBody>
      </p:sp>
      <p:sp>
        <p:nvSpPr>
          <p:cNvPr id="6" name="Shape 4"/>
          <p:cNvSpPr/>
          <p:nvPr/>
        </p:nvSpPr>
        <p:spPr>
          <a:xfrm>
            <a:off x="594360" y="1600200"/>
            <a:ext cx="10972800" cy="694944"/>
          </a:xfrm>
          <a:prstGeom prst="roundRect">
            <a:avLst>
              <a:gd name="adj" fmla="val 11842"/>
            </a:avLst>
          </a:prstGeom>
          <a:solidFill>
            <a:srgbClr val="ECEAE4"/>
          </a:solidFill>
          <a:ln w="12700">
            <a:solidFill>
              <a:srgbClr val="ECEAE4"/>
            </a:solidFill>
            <a:prstDash val="solid"/>
          </a:ln>
        </p:spPr>
        <p:txBody>
          <a:bodyPr/>
          <a:p/>
        </p:txBody>
      </p:sp>
      <p:sp>
        <p:nvSpPr>
          <p:cNvPr id="7" name="Shape 5"/>
          <p:cNvSpPr/>
          <p:nvPr/>
        </p:nvSpPr>
        <p:spPr>
          <a:xfrm>
            <a:off x="868680" y="1737360"/>
            <a:ext cx="420624" cy="420624"/>
          </a:xfrm>
          <a:prstGeom prst="ellipse">
            <a:avLst/>
          </a:prstGeom>
          <a:solidFill>
            <a:srgbClr val="0E7C6B"/>
          </a:solidFill>
          <a:ln/>
        </p:spPr>
        <p:txBody>
          <a:bodyPr/>
          <a:p/>
        </p:txBody>
      </p:sp>
      <p:sp>
        <p:nvSpPr>
          <p:cNvPr id="8" name="Text 6"/>
          <p:cNvSpPr/>
          <p:nvPr/>
        </p:nvSpPr>
        <p:spPr>
          <a:xfrm>
            <a:off x="868680" y="17373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08760" y="1600200"/>
            <a:ext cx="9829800" cy="69494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Un sistem de management al calității care coordonează monitorizarea și îmbunătățirea</a:t>
            </a:r>
            <a:endParaRPr lang="en-US" sz="1600" dirty="0"/>
          </a:p>
        </p:txBody>
      </p:sp>
      <p:sp>
        <p:nvSpPr>
          <p:cNvPr id="10" name="Shape 8"/>
          <p:cNvSpPr/>
          <p:nvPr/>
        </p:nvSpPr>
        <p:spPr>
          <a:xfrm>
            <a:off x="594360" y="2423160"/>
            <a:ext cx="10972800" cy="694944"/>
          </a:xfrm>
          <a:prstGeom prst="roundRect">
            <a:avLst>
              <a:gd name="adj" fmla="val 11842"/>
            </a:avLst>
          </a:prstGeom>
          <a:solidFill>
            <a:srgbClr val="ECEAE4"/>
          </a:solidFill>
          <a:ln w="12700">
            <a:solidFill>
              <a:srgbClr val="ECEAE4"/>
            </a:solidFill>
            <a:prstDash val="solid"/>
          </a:ln>
        </p:spPr>
        <p:txBody>
          <a:bodyPr/>
          <a:p/>
        </p:txBody>
      </p:sp>
      <p:sp>
        <p:nvSpPr>
          <p:cNvPr id="11" name="Shape 9"/>
          <p:cNvSpPr/>
          <p:nvPr/>
        </p:nvSpPr>
        <p:spPr>
          <a:xfrm>
            <a:off x="868680" y="2560320"/>
            <a:ext cx="420624" cy="420624"/>
          </a:xfrm>
          <a:prstGeom prst="ellipse">
            <a:avLst/>
          </a:prstGeom>
          <a:solidFill>
            <a:srgbClr val="0E7C6B"/>
          </a:solidFill>
          <a:ln/>
        </p:spPr>
        <p:txBody>
          <a:bodyPr/>
          <a:p/>
        </p:txBody>
      </p:sp>
      <p:sp>
        <p:nvSpPr>
          <p:cNvPr id="12" name="Text 10"/>
          <p:cNvSpPr/>
          <p:nvPr/>
        </p:nvSpPr>
        <p:spPr>
          <a:xfrm>
            <a:off x="868680" y="25603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08760" y="2423160"/>
            <a:ext cx="9829800" cy="69494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Evaluarea periodică a culturii siguranței, cu un instrument standardizat</a:t>
            </a:r>
            <a:endParaRPr lang="en-US" sz="1600" dirty="0"/>
          </a:p>
        </p:txBody>
      </p:sp>
      <p:sp>
        <p:nvSpPr>
          <p:cNvPr id="14" name="Shape 12"/>
          <p:cNvSpPr/>
          <p:nvPr/>
        </p:nvSpPr>
        <p:spPr>
          <a:xfrm>
            <a:off x="594360" y="3246120"/>
            <a:ext cx="10972800" cy="694944"/>
          </a:xfrm>
          <a:prstGeom prst="roundRect">
            <a:avLst>
              <a:gd name="adj" fmla="val 11842"/>
            </a:avLst>
          </a:prstGeom>
          <a:solidFill>
            <a:srgbClr val="ECEAE4"/>
          </a:solidFill>
          <a:ln w="12700">
            <a:solidFill>
              <a:srgbClr val="ECEAE4"/>
            </a:solidFill>
            <a:prstDash val="solid"/>
          </a:ln>
        </p:spPr>
        <p:txBody>
          <a:bodyPr/>
          <a:p/>
        </p:txBody>
      </p:sp>
      <p:sp>
        <p:nvSpPr>
          <p:cNvPr id="15" name="Shape 13"/>
          <p:cNvSpPr/>
          <p:nvPr/>
        </p:nvSpPr>
        <p:spPr>
          <a:xfrm>
            <a:off x="868680" y="3383280"/>
            <a:ext cx="420624" cy="420624"/>
          </a:xfrm>
          <a:prstGeom prst="ellipse">
            <a:avLst/>
          </a:prstGeom>
          <a:solidFill>
            <a:srgbClr val="0E7C6B"/>
          </a:solidFill>
          <a:ln/>
        </p:spPr>
        <p:txBody>
          <a:bodyPr/>
          <a:p/>
        </p:txBody>
      </p:sp>
      <p:sp>
        <p:nvSpPr>
          <p:cNvPr id="16" name="Text 14"/>
          <p:cNvSpPr/>
          <p:nvPr/>
        </p:nvSpPr>
        <p:spPr>
          <a:xfrm>
            <a:off x="868680" y="33832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508760" y="3246120"/>
            <a:ext cx="9829800" cy="69494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Experiența pacienților și a aparținătorilor; analiza sesizărilor și a reclamațiilor</a:t>
            </a:r>
            <a:endParaRPr lang="en-US" sz="1600" dirty="0"/>
          </a:p>
        </p:txBody>
      </p:sp>
      <p:sp>
        <p:nvSpPr>
          <p:cNvPr id="18" name="Shape 16"/>
          <p:cNvSpPr/>
          <p:nvPr/>
        </p:nvSpPr>
        <p:spPr>
          <a:xfrm>
            <a:off x="594360" y="4069080"/>
            <a:ext cx="10972800" cy="694944"/>
          </a:xfrm>
          <a:prstGeom prst="roundRect">
            <a:avLst>
              <a:gd name="adj" fmla="val 11842"/>
            </a:avLst>
          </a:prstGeom>
          <a:solidFill>
            <a:srgbClr val="ECEAE4"/>
          </a:solidFill>
          <a:ln w="12700">
            <a:solidFill>
              <a:srgbClr val="ECEAE4"/>
            </a:solidFill>
            <a:prstDash val="solid"/>
          </a:ln>
        </p:spPr>
        <p:txBody>
          <a:bodyPr/>
          <a:p/>
        </p:txBody>
      </p:sp>
      <p:sp>
        <p:nvSpPr>
          <p:cNvPr id="19" name="Shape 17"/>
          <p:cNvSpPr/>
          <p:nvPr/>
        </p:nvSpPr>
        <p:spPr>
          <a:xfrm>
            <a:off x="868680" y="4206240"/>
            <a:ext cx="420624" cy="420624"/>
          </a:xfrm>
          <a:prstGeom prst="ellipse">
            <a:avLst/>
          </a:prstGeom>
          <a:solidFill>
            <a:srgbClr val="0E7C6B"/>
          </a:solidFill>
          <a:ln/>
        </p:spPr>
        <p:txBody>
          <a:bodyPr/>
          <a:p/>
        </p:txBody>
      </p:sp>
      <p:sp>
        <p:nvSpPr>
          <p:cNvPr id="20" name="Text 18"/>
          <p:cNvSpPr/>
          <p:nvPr/>
        </p:nvSpPr>
        <p:spPr>
          <a:xfrm>
            <a:off x="868680" y="42062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508760" y="4069080"/>
            <a:ext cx="9829800" cy="69494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Un program de audit clinic; echipe cu medici, asistenți medicali și farmaciști</a:t>
            </a:r>
            <a:endParaRPr lang="en-US" sz="1600" dirty="0"/>
          </a:p>
        </p:txBody>
      </p:sp>
      <p:sp>
        <p:nvSpPr>
          <p:cNvPr id="22" name="Text 20"/>
          <p:cNvSpPr/>
          <p:nvPr/>
        </p:nvSpPr>
        <p:spPr>
          <a:xfrm>
            <a:off x="594360" y="5029200"/>
            <a:ext cx="10972800" cy="548640"/>
          </a:xfrm>
          <a:prstGeom prst="rect">
            <a:avLst/>
          </a:prstGeom>
          <a:noFill/>
          <a:ln/>
        </p:spPr>
        <p:txBody>
          <a:bodyPr wrap="square" lIns="0" tIns="0" rIns="0" bIns="0" rtlCol="0" anchor="t"/>
          <a:lstStyle/>
          <a:p>
            <a:pPr indent="0" marL="0">
              <a:buNone/>
            </a:pPr>
            <a:r>
              <a:rPr lang="en-US" sz="1550" i="1" dirty="0">
                <a:solidFill>
                  <a:srgbClr val="585A64"/>
                </a:solidFill>
                <a:latin typeface="Palatino Linotype" pitchFamily="34" charset="0"/>
                <a:ea typeface="Palatino Linotype" pitchFamily="34" charset="-122"/>
                <a:cs typeface="Palatino Linotype" pitchFamily="34" charset="-120"/>
              </a:rPr>
              <a:t>Anexa citată nu precizează de la ce dată se evaluează spitalele după ediția a III-a.</a:t>
            </a:r>
            <a:endParaRPr lang="en-US" sz="1550" dirty="0"/>
          </a:p>
        </p:txBody>
      </p:sp>
      <p:sp>
        <p:nvSpPr>
          <p:cNvPr id="23" name="Text 21"/>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standardele ANMCS, ediția a III-a (registru A1034, A1035).</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PROCEDURA DIN 2017 · ORDINUL MS NR. 446/2017</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Cum decurge acreditarea</a:t>
            </a:r>
            <a:endParaRPr lang="en-US" sz="3000" dirty="0"/>
          </a:p>
        </p:txBody>
      </p:sp>
      <p:sp>
        <p:nvSpPr>
          <p:cNvPr id="4" name="Shape 2"/>
          <p:cNvSpPr/>
          <p:nvPr/>
        </p:nvSpPr>
        <p:spPr>
          <a:xfrm>
            <a:off x="594360" y="1645920"/>
            <a:ext cx="3383280" cy="2697480"/>
          </a:xfrm>
          <a:prstGeom prst="roundRect">
            <a:avLst>
              <a:gd name="adj" fmla="val 3051"/>
            </a:avLst>
          </a:prstGeom>
          <a:solidFill>
            <a:srgbClr val="ECEAE4"/>
          </a:solidFill>
          <a:ln w="12700">
            <a:solidFill>
              <a:srgbClr val="ECEAE4"/>
            </a:solidFill>
            <a:prstDash val="solid"/>
          </a:ln>
        </p:spPr>
        <p:txBody>
          <a:bodyPr/>
          <a:p/>
        </p:txBody>
      </p:sp>
      <p:sp>
        <p:nvSpPr>
          <p:cNvPr id="5" name="Shape 3"/>
          <p:cNvSpPr/>
          <p:nvPr/>
        </p:nvSpPr>
        <p:spPr>
          <a:xfrm>
            <a:off x="594360" y="1645920"/>
            <a:ext cx="338328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847088"/>
            <a:ext cx="2926080" cy="68580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1 · Pregătirea</a:t>
            </a:r>
            <a:endParaRPr lang="en-US" sz="1900" dirty="0"/>
          </a:p>
        </p:txBody>
      </p:sp>
      <p:sp>
        <p:nvSpPr>
          <p:cNvPr id="7" name="Text 5"/>
          <p:cNvSpPr/>
          <p:nvPr/>
        </p:nvSpPr>
        <p:spPr>
          <a:xfrm>
            <a:off x="822960" y="2514600"/>
            <a:ext cx="2926080" cy="169164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înscrierea; ANMCS planifică vizita; autoevaluarea spitalului</a:t>
            </a:r>
            <a:endParaRPr lang="en-US" sz="1550" dirty="0"/>
          </a:p>
        </p:txBody>
      </p:sp>
      <p:sp>
        <p:nvSpPr>
          <p:cNvPr id="8" name="Shape 6"/>
          <p:cNvSpPr/>
          <p:nvPr/>
        </p:nvSpPr>
        <p:spPr>
          <a:xfrm>
            <a:off x="4023360" y="2743200"/>
            <a:ext cx="365760" cy="310896"/>
          </a:xfrm>
          <a:prstGeom prst="rightArrow">
            <a:avLst/>
          </a:prstGeom>
          <a:solidFill>
            <a:srgbClr val="C9C6BE"/>
          </a:solidFill>
          <a:ln w="12700">
            <a:solidFill>
              <a:srgbClr val="C9C6BE"/>
            </a:solidFill>
            <a:prstDash val="solid"/>
          </a:ln>
        </p:spPr>
        <p:txBody>
          <a:bodyPr/>
          <a:p/>
        </p:txBody>
      </p:sp>
      <p:sp>
        <p:nvSpPr>
          <p:cNvPr id="9" name="Shape 7"/>
          <p:cNvSpPr/>
          <p:nvPr/>
        </p:nvSpPr>
        <p:spPr>
          <a:xfrm>
            <a:off x="4434840" y="1645920"/>
            <a:ext cx="3383280" cy="2697480"/>
          </a:xfrm>
          <a:prstGeom prst="roundRect">
            <a:avLst>
              <a:gd name="adj" fmla="val 3051"/>
            </a:avLst>
          </a:prstGeom>
          <a:solidFill>
            <a:srgbClr val="F9F8F5"/>
          </a:solidFill>
          <a:ln w="12700">
            <a:solidFill>
              <a:srgbClr val="F9F8F5"/>
            </a:solidFill>
            <a:prstDash val="solid"/>
          </a:ln>
        </p:spPr>
        <p:txBody>
          <a:bodyPr/>
          <a:p/>
        </p:txBody>
      </p:sp>
      <p:sp>
        <p:nvSpPr>
          <p:cNvPr id="10" name="Shape 8"/>
          <p:cNvSpPr/>
          <p:nvPr/>
        </p:nvSpPr>
        <p:spPr>
          <a:xfrm>
            <a:off x="4434840" y="1645920"/>
            <a:ext cx="3383280" cy="73152"/>
          </a:xfrm>
          <a:prstGeom prst="rect">
            <a:avLst/>
          </a:prstGeom>
          <a:solidFill>
            <a:srgbClr val="8A6100"/>
          </a:solidFill>
          <a:ln w="12700">
            <a:solidFill>
              <a:srgbClr val="8A6100"/>
            </a:solidFill>
            <a:prstDash val="solid"/>
          </a:ln>
        </p:spPr>
        <p:txBody>
          <a:bodyPr/>
          <a:p/>
        </p:txBody>
      </p:sp>
      <p:sp>
        <p:nvSpPr>
          <p:cNvPr id="11" name="Text 9"/>
          <p:cNvSpPr/>
          <p:nvPr/>
        </p:nvSpPr>
        <p:spPr>
          <a:xfrm>
            <a:off x="4663440" y="1847088"/>
            <a:ext cx="2926080" cy="685800"/>
          </a:xfrm>
          <a:prstGeom prst="rect">
            <a:avLst/>
          </a:prstGeom>
          <a:noFill/>
          <a:ln/>
        </p:spPr>
        <p:txBody>
          <a:bodyPr wrap="square" lIns="0" tIns="0" rIns="0" bIns="0" rtlCol="0" anchor="t"/>
          <a:lstStyle/>
          <a:p>
            <a:pPr indent="0" marL="0">
              <a:buNone/>
            </a:pPr>
            <a:r>
              <a:rPr lang="en-US" sz="1900" b="1" dirty="0">
                <a:solidFill>
                  <a:srgbClr val="8A6100"/>
                </a:solidFill>
                <a:latin typeface="Palatino Linotype" pitchFamily="34" charset="0"/>
                <a:ea typeface="Palatino Linotype" pitchFamily="34" charset="-122"/>
                <a:cs typeface="Palatino Linotype" pitchFamily="34" charset="-120"/>
              </a:rPr>
              <a:t>2 · Evaluarea</a:t>
            </a:r>
            <a:endParaRPr lang="en-US" sz="1900" dirty="0"/>
          </a:p>
        </p:txBody>
      </p:sp>
      <p:sp>
        <p:nvSpPr>
          <p:cNvPr id="12" name="Text 10"/>
          <p:cNvSpPr/>
          <p:nvPr/>
        </p:nvSpPr>
        <p:spPr>
          <a:xfrm>
            <a:off x="4663440" y="2514600"/>
            <a:ext cx="2926080" cy="169164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documentele, observarea directă, discuțiile de grup, interviurile, simularea unor procese</a:t>
            </a:r>
            <a:endParaRPr lang="en-US" sz="1550" dirty="0"/>
          </a:p>
        </p:txBody>
      </p:sp>
      <p:sp>
        <p:nvSpPr>
          <p:cNvPr id="13" name="Shape 11"/>
          <p:cNvSpPr/>
          <p:nvPr/>
        </p:nvSpPr>
        <p:spPr>
          <a:xfrm>
            <a:off x="7863840" y="2743200"/>
            <a:ext cx="365760" cy="310896"/>
          </a:xfrm>
          <a:prstGeom prst="rightArrow">
            <a:avLst/>
          </a:prstGeom>
          <a:solidFill>
            <a:srgbClr val="C9C6BE"/>
          </a:solidFill>
          <a:ln w="12700">
            <a:solidFill>
              <a:srgbClr val="C9C6BE"/>
            </a:solidFill>
            <a:prstDash val="solid"/>
          </a:ln>
        </p:spPr>
        <p:txBody>
          <a:bodyPr/>
          <a:p/>
        </p:txBody>
      </p:sp>
      <p:sp>
        <p:nvSpPr>
          <p:cNvPr id="14" name="Shape 12"/>
          <p:cNvSpPr/>
          <p:nvPr/>
        </p:nvSpPr>
        <p:spPr>
          <a:xfrm>
            <a:off x="8275320" y="1645920"/>
            <a:ext cx="3383280" cy="2697480"/>
          </a:xfrm>
          <a:prstGeom prst="roundRect">
            <a:avLst>
              <a:gd name="adj" fmla="val 3051"/>
            </a:avLst>
          </a:prstGeom>
          <a:solidFill>
            <a:srgbClr val="ECEAE4"/>
          </a:solidFill>
          <a:ln w="12700">
            <a:solidFill>
              <a:srgbClr val="ECEAE4"/>
            </a:solidFill>
            <a:prstDash val="solid"/>
          </a:ln>
        </p:spPr>
        <p:txBody>
          <a:bodyPr/>
          <a:p/>
        </p:txBody>
      </p:sp>
      <p:sp>
        <p:nvSpPr>
          <p:cNvPr id="15" name="Shape 13"/>
          <p:cNvSpPr/>
          <p:nvPr/>
        </p:nvSpPr>
        <p:spPr>
          <a:xfrm>
            <a:off x="8275320" y="1645920"/>
            <a:ext cx="3383280" cy="73152"/>
          </a:xfrm>
          <a:prstGeom prst="rect">
            <a:avLst/>
          </a:prstGeom>
          <a:solidFill>
            <a:srgbClr val="B02532"/>
          </a:solidFill>
          <a:ln w="12700">
            <a:solidFill>
              <a:srgbClr val="B02532"/>
            </a:solidFill>
            <a:prstDash val="solid"/>
          </a:ln>
        </p:spPr>
        <p:txBody>
          <a:bodyPr/>
          <a:p/>
        </p:txBody>
      </p:sp>
      <p:sp>
        <p:nvSpPr>
          <p:cNvPr id="16" name="Text 14"/>
          <p:cNvSpPr/>
          <p:nvPr/>
        </p:nvSpPr>
        <p:spPr>
          <a:xfrm>
            <a:off x="8503920" y="1847088"/>
            <a:ext cx="2926080" cy="68580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3 · Acreditarea</a:t>
            </a:r>
            <a:endParaRPr lang="en-US" sz="1900" dirty="0"/>
          </a:p>
        </p:txBody>
      </p:sp>
      <p:sp>
        <p:nvSpPr>
          <p:cNvPr id="17" name="Text 15"/>
          <p:cNvSpPr/>
          <p:nvPr/>
        </p:nvSpPr>
        <p:spPr>
          <a:xfrm>
            <a:off x="8503920" y="2514600"/>
            <a:ext cx="2926080" cy="169164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raportul de acreditare; ordinul de acreditare sau de neacreditare</a:t>
            </a:r>
            <a:endParaRPr lang="en-US" sz="1550" dirty="0"/>
          </a:p>
        </p:txBody>
      </p:sp>
      <p:sp>
        <p:nvSpPr>
          <p:cNvPr id="18" name="Shape 16"/>
          <p:cNvSpPr/>
          <p:nvPr/>
        </p:nvSpPr>
        <p:spPr>
          <a:xfrm>
            <a:off x="594360" y="4572000"/>
            <a:ext cx="10972800" cy="1097280"/>
          </a:xfrm>
          <a:prstGeom prst="roundRect">
            <a:avLst>
              <a:gd name="adj" fmla="val 7500"/>
            </a:avLst>
          </a:prstGeom>
          <a:solidFill>
            <a:srgbClr val="11121A"/>
          </a:solidFill>
          <a:ln w="12700">
            <a:solidFill>
              <a:srgbClr val="11121A"/>
            </a:solidFill>
            <a:prstDash val="solid"/>
          </a:ln>
        </p:spPr>
        <p:txBody>
          <a:bodyPr/>
          <a:p/>
        </p:txBody>
      </p:sp>
      <p:sp>
        <p:nvSpPr>
          <p:cNvPr id="19" name="Text 17"/>
          <p:cNvSpPr/>
          <p:nvPr/>
        </p:nvSpPr>
        <p:spPr>
          <a:xfrm>
            <a:off x="868680" y="4572000"/>
            <a:ext cx="10424160" cy="1097280"/>
          </a:xfrm>
          <a:prstGeom prst="rect">
            <a:avLst/>
          </a:prstGeom>
          <a:noFill/>
          <a:ln/>
        </p:spPr>
        <p:txBody>
          <a:bodyPr wrap="square" lIns="0" tIns="0" rIns="0" bIns="0" rtlCol="0" anchor="ctr"/>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Apoi: monitorizarea și, la nevoie, reevaluarea. Procedura pentru ciclul al treilea nu a fost citită pentru acest curs.</a:t>
            </a:r>
            <a:endParaRPr lang="en-US" sz="1600" dirty="0"/>
          </a:p>
        </p:txBody>
      </p:sp>
      <p:sp>
        <p:nvSpPr>
          <p:cNvPr id="20" name="Text 18"/>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Ordinul MS nr. 446/2017 (registru A1037–A1040); Legea nr. 185/2017 (registru A1047).</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FACE ASISTENTUL MEDICAL · CONVENȚIE A CURSULUI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Munca asistentului, în ochii evaluatorilor</a:t>
            </a:r>
            <a:endParaRPr lang="en-US" sz="3000" dirty="0"/>
          </a:p>
        </p:txBody>
      </p:sp>
      <p:sp>
        <p:nvSpPr>
          <p:cNvPr id="4" name="Shape 2"/>
          <p:cNvSpPr/>
          <p:nvPr/>
        </p:nvSpPr>
        <p:spPr>
          <a:xfrm>
            <a:off x="594360" y="1645920"/>
            <a:ext cx="3566160" cy="1097280"/>
          </a:xfrm>
          <a:prstGeom prst="roundRect">
            <a:avLst>
              <a:gd name="adj" fmla="val 7500"/>
            </a:avLst>
          </a:prstGeom>
          <a:solidFill>
            <a:srgbClr val="ECEAE4"/>
          </a:solidFill>
          <a:ln w="12700">
            <a:solidFill>
              <a:srgbClr val="ECEAE4"/>
            </a:solidFill>
            <a:prstDash val="solid"/>
          </a:ln>
        </p:spPr>
        <p:txBody>
          <a:bodyPr/>
          <a:p/>
        </p:txBody>
      </p:sp>
      <p:sp>
        <p:nvSpPr>
          <p:cNvPr id="5" name="Text 3"/>
          <p:cNvSpPr/>
          <p:nvPr/>
        </p:nvSpPr>
        <p:spPr>
          <a:xfrm>
            <a:off x="777240" y="1645920"/>
            <a:ext cx="3200400" cy="1097280"/>
          </a:xfrm>
          <a:prstGeom prst="rect">
            <a:avLst/>
          </a:prstGeom>
          <a:noFill/>
          <a:ln/>
        </p:spPr>
        <p:txBody>
          <a:bodyPr wrap="square" lIns="0" tIns="0" rIns="0" bIns="0" rtlCol="0" anchor="ctr"/>
          <a:lstStyle/>
          <a:p>
            <a:pPr algn="ctr" indent="0" marL="0">
              <a:buNone/>
            </a:pPr>
            <a:r>
              <a:rPr lang="en-US" sz="1650" b="1" dirty="0">
                <a:solidFill>
                  <a:srgbClr val="11121A"/>
                </a:solidFill>
                <a:latin typeface="Palatino Linotype" pitchFamily="34" charset="0"/>
                <a:ea typeface="Palatino Linotype" pitchFamily="34" charset="-122"/>
                <a:cs typeface="Palatino Linotype" pitchFamily="34" charset="-120"/>
              </a:rPr>
              <a:t>Documentarea completă a îngrijirilor</a:t>
            </a:r>
            <a:endParaRPr lang="en-US" sz="1650" dirty="0"/>
          </a:p>
        </p:txBody>
      </p:sp>
      <p:sp>
        <p:nvSpPr>
          <p:cNvPr id="6" name="Shape 4"/>
          <p:cNvSpPr/>
          <p:nvPr/>
        </p:nvSpPr>
        <p:spPr>
          <a:xfrm>
            <a:off x="4297680" y="1645920"/>
            <a:ext cx="3566160" cy="1097280"/>
          </a:xfrm>
          <a:prstGeom prst="roundRect">
            <a:avLst>
              <a:gd name="adj" fmla="val 7500"/>
            </a:avLst>
          </a:prstGeom>
          <a:solidFill>
            <a:srgbClr val="F9F8F5"/>
          </a:solidFill>
          <a:ln w="12700">
            <a:solidFill>
              <a:srgbClr val="F9F8F5"/>
            </a:solidFill>
            <a:prstDash val="solid"/>
          </a:ln>
        </p:spPr>
        <p:txBody>
          <a:bodyPr/>
          <a:p/>
        </p:txBody>
      </p:sp>
      <p:sp>
        <p:nvSpPr>
          <p:cNvPr id="7" name="Text 5"/>
          <p:cNvSpPr/>
          <p:nvPr/>
        </p:nvSpPr>
        <p:spPr>
          <a:xfrm>
            <a:off x="4480560" y="1645920"/>
            <a:ext cx="3200400" cy="1097280"/>
          </a:xfrm>
          <a:prstGeom prst="rect">
            <a:avLst/>
          </a:prstGeom>
          <a:noFill/>
          <a:ln/>
        </p:spPr>
        <p:txBody>
          <a:bodyPr wrap="square" lIns="0" tIns="0" rIns="0" bIns="0" rtlCol="0" anchor="ctr"/>
          <a:lstStyle/>
          <a:p>
            <a:pPr algn="ctr" indent="0" marL="0">
              <a:buNone/>
            </a:pPr>
            <a:r>
              <a:rPr lang="en-US" sz="1650" b="1" dirty="0">
                <a:solidFill>
                  <a:srgbClr val="11121A"/>
                </a:solidFill>
                <a:latin typeface="Palatino Linotype" pitchFamily="34" charset="0"/>
                <a:ea typeface="Palatino Linotype" pitchFamily="34" charset="-122"/>
                <a:cs typeface="Palatino Linotype" pitchFamily="34" charset="-120"/>
              </a:rPr>
              <a:t>Protocoalele și listele de verificare</a:t>
            </a:r>
            <a:endParaRPr lang="en-US" sz="1650" dirty="0"/>
          </a:p>
        </p:txBody>
      </p:sp>
      <p:sp>
        <p:nvSpPr>
          <p:cNvPr id="8" name="Shape 6"/>
          <p:cNvSpPr/>
          <p:nvPr/>
        </p:nvSpPr>
        <p:spPr>
          <a:xfrm>
            <a:off x="8001000" y="1645920"/>
            <a:ext cx="3566160" cy="1097280"/>
          </a:xfrm>
          <a:prstGeom prst="roundRect">
            <a:avLst>
              <a:gd name="adj" fmla="val 7500"/>
            </a:avLst>
          </a:prstGeom>
          <a:solidFill>
            <a:srgbClr val="ECEAE4"/>
          </a:solidFill>
          <a:ln w="12700">
            <a:solidFill>
              <a:srgbClr val="ECEAE4"/>
            </a:solidFill>
            <a:prstDash val="solid"/>
          </a:ln>
        </p:spPr>
        <p:txBody>
          <a:bodyPr/>
          <a:p/>
        </p:txBody>
      </p:sp>
      <p:sp>
        <p:nvSpPr>
          <p:cNvPr id="9" name="Text 7"/>
          <p:cNvSpPr/>
          <p:nvPr/>
        </p:nvSpPr>
        <p:spPr>
          <a:xfrm>
            <a:off x="8183880" y="1645920"/>
            <a:ext cx="3200400" cy="1097280"/>
          </a:xfrm>
          <a:prstGeom prst="rect">
            <a:avLst/>
          </a:prstGeom>
          <a:noFill/>
          <a:ln/>
        </p:spPr>
        <p:txBody>
          <a:bodyPr wrap="square" lIns="0" tIns="0" rIns="0" bIns="0" rtlCol="0" anchor="ctr"/>
          <a:lstStyle/>
          <a:p>
            <a:pPr algn="ctr" indent="0" marL="0">
              <a:buNone/>
            </a:pPr>
            <a:r>
              <a:rPr lang="en-US" sz="1650" b="1" dirty="0">
                <a:solidFill>
                  <a:srgbClr val="11121A"/>
                </a:solidFill>
                <a:latin typeface="Palatino Linotype" pitchFamily="34" charset="0"/>
                <a:ea typeface="Palatino Linotype" pitchFamily="34" charset="-122"/>
                <a:cs typeface="Palatino Linotype" pitchFamily="34" charset="-120"/>
              </a:rPr>
              <a:t>Auditul intern și autoevaluarea</a:t>
            </a:r>
            <a:endParaRPr lang="en-US" sz="1650" dirty="0"/>
          </a:p>
        </p:txBody>
      </p:sp>
      <p:sp>
        <p:nvSpPr>
          <p:cNvPr id="10" name="Shape 8"/>
          <p:cNvSpPr/>
          <p:nvPr/>
        </p:nvSpPr>
        <p:spPr>
          <a:xfrm>
            <a:off x="594360" y="2926080"/>
            <a:ext cx="3566160" cy="1097280"/>
          </a:xfrm>
          <a:prstGeom prst="roundRect">
            <a:avLst>
              <a:gd name="adj" fmla="val 7500"/>
            </a:avLst>
          </a:prstGeom>
          <a:solidFill>
            <a:srgbClr val="F9F8F5"/>
          </a:solidFill>
          <a:ln w="12700">
            <a:solidFill>
              <a:srgbClr val="F9F8F5"/>
            </a:solidFill>
            <a:prstDash val="solid"/>
          </a:ln>
        </p:spPr>
        <p:txBody>
          <a:bodyPr/>
          <a:p/>
        </p:txBody>
      </p:sp>
      <p:sp>
        <p:nvSpPr>
          <p:cNvPr id="11" name="Text 9"/>
          <p:cNvSpPr/>
          <p:nvPr/>
        </p:nvSpPr>
        <p:spPr>
          <a:xfrm>
            <a:off x="777240" y="2926080"/>
            <a:ext cx="3200400" cy="1097280"/>
          </a:xfrm>
          <a:prstGeom prst="rect">
            <a:avLst/>
          </a:prstGeom>
          <a:noFill/>
          <a:ln/>
        </p:spPr>
        <p:txBody>
          <a:bodyPr wrap="square" lIns="0" tIns="0" rIns="0" bIns="0" rtlCol="0" anchor="ctr"/>
          <a:lstStyle/>
          <a:p>
            <a:pPr algn="ctr" indent="0" marL="0">
              <a:buNone/>
            </a:pPr>
            <a:r>
              <a:rPr lang="en-US" sz="1650" b="1" dirty="0">
                <a:solidFill>
                  <a:srgbClr val="11121A"/>
                </a:solidFill>
                <a:latin typeface="Palatino Linotype" pitchFamily="34" charset="0"/>
                <a:ea typeface="Palatino Linotype" pitchFamily="34" charset="-122"/>
                <a:cs typeface="Palatino Linotype" pitchFamily="34" charset="-120"/>
              </a:rPr>
              <a:t>Culegerea și raportarea indicatorilor</a:t>
            </a:r>
            <a:endParaRPr lang="en-US" sz="1650" dirty="0"/>
          </a:p>
        </p:txBody>
      </p:sp>
      <p:sp>
        <p:nvSpPr>
          <p:cNvPr id="12" name="Shape 10"/>
          <p:cNvSpPr/>
          <p:nvPr/>
        </p:nvSpPr>
        <p:spPr>
          <a:xfrm>
            <a:off x="4297680" y="2926080"/>
            <a:ext cx="3566160" cy="1097280"/>
          </a:xfrm>
          <a:prstGeom prst="roundRect">
            <a:avLst>
              <a:gd name="adj" fmla="val 7500"/>
            </a:avLst>
          </a:prstGeom>
          <a:solidFill>
            <a:srgbClr val="ECEAE4"/>
          </a:solidFill>
          <a:ln w="12700">
            <a:solidFill>
              <a:srgbClr val="ECEAE4"/>
            </a:solidFill>
            <a:prstDash val="solid"/>
          </a:ln>
        </p:spPr>
        <p:txBody>
          <a:bodyPr/>
          <a:p/>
        </p:txBody>
      </p:sp>
      <p:sp>
        <p:nvSpPr>
          <p:cNvPr id="13" name="Text 11"/>
          <p:cNvSpPr/>
          <p:nvPr/>
        </p:nvSpPr>
        <p:spPr>
          <a:xfrm>
            <a:off x="4480560" y="2926080"/>
            <a:ext cx="3200400" cy="1097280"/>
          </a:xfrm>
          <a:prstGeom prst="rect">
            <a:avLst/>
          </a:prstGeom>
          <a:noFill/>
          <a:ln/>
        </p:spPr>
        <p:txBody>
          <a:bodyPr wrap="square" lIns="0" tIns="0" rIns="0" bIns="0" rtlCol="0" anchor="ctr"/>
          <a:lstStyle/>
          <a:p>
            <a:pPr algn="ctr" indent="0" marL="0">
              <a:buNone/>
            </a:pPr>
            <a:r>
              <a:rPr lang="en-US" sz="1650" b="1" dirty="0">
                <a:solidFill>
                  <a:srgbClr val="11121A"/>
                </a:solidFill>
                <a:latin typeface="Palatino Linotype" pitchFamily="34" charset="0"/>
                <a:ea typeface="Palatino Linotype" pitchFamily="34" charset="-122"/>
                <a:cs typeface="Palatino Linotype" pitchFamily="34" charset="-120"/>
              </a:rPr>
              <a:t>Raportarea erorilor fără teamă</a:t>
            </a:r>
            <a:endParaRPr lang="en-US" sz="1650" dirty="0"/>
          </a:p>
        </p:txBody>
      </p:sp>
      <p:sp>
        <p:nvSpPr>
          <p:cNvPr id="14" name="Text 12"/>
          <p:cNvSpPr/>
          <p:nvPr/>
        </p:nvSpPr>
        <p:spPr>
          <a:xfrm>
            <a:off x="594360" y="4343400"/>
            <a:ext cx="10972800" cy="9144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Reperul pentru un audit al practicii: procedurile de practică pentru asistenții medicali generaliști, aprobate prin ordin al ministrului sănătății.</a:t>
            </a:r>
            <a:endParaRPr lang="en-US" sz="1600" dirty="0"/>
          </a:p>
        </p:txBody>
      </p:sp>
      <p:sp>
        <p:nvSpPr>
          <p:cNvPr id="15" name="Text 13"/>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registru A1041; cele cinci contribuții: convenție a cursului.</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DOUĂ MINUTE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EVALUATORII ANMCS PE SECȚIA MAREI</a:t>
            </a:r>
            <a:endParaRPr lang="en-US" sz="1300" dirty="0"/>
          </a:p>
        </p:txBody>
      </p:sp>
      <p:sp>
        <p:nvSpPr>
          <p:cNvPr id="5" name="Text 3"/>
          <p:cNvSpPr/>
          <p:nvPr/>
        </p:nvSpPr>
        <p:spPr>
          <a:xfrm>
            <a:off x="594360" y="914400"/>
            <a:ext cx="10972800" cy="1645920"/>
          </a:xfrm>
          <a:prstGeom prst="rect">
            <a:avLst/>
          </a:prstGeom>
          <a:noFill/>
          <a:ln/>
        </p:spPr>
        <p:txBody>
          <a:bodyPr wrap="square" lIns="0" tIns="0" rIns="0" bIns="0" rtlCol="0" anchor="ctr"/>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trei lucruri ar putea observa direct, fără să citească niciun document?</a:t>
            </a:r>
            <a:endParaRPr lang="en-US" sz="3200" dirty="0"/>
          </a:p>
        </p:txBody>
      </p:sp>
      <p:sp>
        <p:nvSpPr>
          <p:cNvPr id="6" name="Text 4"/>
          <p:cNvSpPr/>
          <p:nvPr/>
        </p:nvSpPr>
        <p:spPr>
          <a:xfrm>
            <a:off x="594360" y="2697480"/>
            <a:ext cx="10972800" cy="548640"/>
          </a:xfrm>
          <a:prstGeom prst="rect">
            <a:avLst/>
          </a:prstGeom>
          <a:noFill/>
          <a:ln/>
        </p:spPr>
        <p:txBody>
          <a:bodyPr wrap="square" lIns="0" tIns="0" rIns="0" bIns="0" rtlCol="0" anchor="t"/>
          <a:lstStyle/>
          <a:p>
            <a:pPr indent="0" marL="0">
              <a:buNone/>
            </a:pPr>
            <a:r>
              <a:rPr lang="en-US" sz="2000" dirty="0">
                <a:solidFill>
                  <a:srgbClr val="959BB0"/>
                </a:solidFill>
                <a:latin typeface="Palatino Linotype" pitchFamily="34" charset="0"/>
                <a:ea typeface="Palatino Linotype" pitchFamily="34" charset="-122"/>
                <a:cs typeface="Palatino Linotype" pitchFamily="34" charset="-120"/>
              </a:rPr>
              <a:t>Ca să afle dacă îngrijirile sunt sigure.</a:t>
            </a:r>
            <a:endParaRPr lang="en-US" sz="2000" dirty="0"/>
          </a:p>
        </p:txBody>
      </p:sp>
      <p:sp>
        <p:nvSpPr>
          <p:cNvPr id="7" name="Shape 5"/>
          <p:cNvSpPr/>
          <p:nvPr/>
        </p:nvSpPr>
        <p:spPr>
          <a:xfrm>
            <a:off x="594360" y="352044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8" name="Shape 6"/>
          <p:cNvSpPr/>
          <p:nvPr/>
        </p:nvSpPr>
        <p:spPr>
          <a:xfrm>
            <a:off x="868680" y="3675888"/>
            <a:ext cx="420624" cy="420624"/>
          </a:xfrm>
          <a:prstGeom prst="ellipse">
            <a:avLst/>
          </a:prstGeom>
          <a:solidFill>
            <a:srgbClr val="FFC24B"/>
          </a:solidFill>
          <a:ln/>
        </p:spPr>
        <p:txBody>
          <a:bodyPr/>
          <a:p/>
        </p:txBody>
      </p:sp>
      <p:sp>
        <p:nvSpPr>
          <p:cNvPr id="9" name="Text 7"/>
          <p:cNvSpPr/>
          <p:nvPr/>
        </p:nvSpPr>
        <p:spPr>
          <a:xfrm>
            <a:off x="868680" y="36758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1508760" y="3520440"/>
            <a:ext cx="982980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Două perechi își prezintă lista.</a:t>
            </a:r>
            <a:endParaRPr lang="en-US" sz="1900" dirty="0"/>
          </a:p>
        </p:txBody>
      </p:sp>
      <p:sp>
        <p:nvSpPr>
          <p:cNvPr id="11" name="Shape 9"/>
          <p:cNvSpPr/>
          <p:nvPr/>
        </p:nvSpPr>
        <p:spPr>
          <a:xfrm>
            <a:off x="594360" y="438912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2" name="Shape 10"/>
          <p:cNvSpPr/>
          <p:nvPr/>
        </p:nvSpPr>
        <p:spPr>
          <a:xfrm>
            <a:off x="868680" y="4544568"/>
            <a:ext cx="420624" cy="420624"/>
          </a:xfrm>
          <a:prstGeom prst="ellipse">
            <a:avLst/>
          </a:prstGeom>
          <a:solidFill>
            <a:srgbClr val="FFC24B"/>
          </a:solidFill>
          <a:ln/>
        </p:spPr>
        <p:txBody>
          <a:bodyPr/>
          <a:p/>
        </p:txBody>
      </p:sp>
      <p:sp>
        <p:nvSpPr>
          <p:cNvPr id="13" name="Text 11"/>
          <p:cNvSpPr/>
          <p:nvPr/>
        </p:nvSpPr>
        <p:spPr>
          <a:xfrm>
            <a:off x="868680" y="45445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1508760" y="4389120"/>
            <a:ext cx="982980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Sala clasifică fiecare lucru: structură, proces sau rezultat.</a:t>
            </a:r>
            <a:endParaRPr lang="en-US" sz="1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CICLUL PDCA · OBSERVATORUL EUROPEAN · OPENSTAX</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Planifică, execută, verifică, acționează</a:t>
            </a:r>
            <a:endParaRPr lang="en-US" sz="2800" dirty="0"/>
          </a:p>
        </p:txBody>
      </p:sp>
      <p:sp>
        <p:nvSpPr>
          <p:cNvPr id="4" name="Shape 2"/>
          <p:cNvSpPr/>
          <p:nvPr/>
        </p:nvSpPr>
        <p:spPr>
          <a:xfrm>
            <a:off x="594360" y="1645920"/>
            <a:ext cx="3383280" cy="1828800"/>
          </a:xfrm>
          <a:prstGeom prst="roundRect">
            <a:avLst>
              <a:gd name="adj" fmla="val 4500"/>
            </a:avLst>
          </a:prstGeom>
          <a:solidFill>
            <a:srgbClr val="ECEAE4"/>
          </a:solidFill>
          <a:ln w="12700">
            <a:solidFill>
              <a:srgbClr val="ECEAE4"/>
            </a:solidFill>
            <a:prstDash val="solid"/>
          </a:ln>
        </p:spPr>
        <p:txBody>
          <a:bodyPr/>
          <a:p/>
        </p:txBody>
      </p:sp>
      <p:sp>
        <p:nvSpPr>
          <p:cNvPr id="5" name="Shape 3"/>
          <p:cNvSpPr/>
          <p:nvPr/>
        </p:nvSpPr>
        <p:spPr>
          <a:xfrm>
            <a:off x="594360" y="1645920"/>
            <a:ext cx="338328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847088"/>
            <a:ext cx="2926080" cy="6858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Planifică</a:t>
            </a:r>
            <a:endParaRPr lang="en-US" sz="1800" dirty="0"/>
          </a:p>
        </p:txBody>
      </p:sp>
      <p:sp>
        <p:nvSpPr>
          <p:cNvPr id="7" name="Text 5"/>
          <p:cNvSpPr/>
          <p:nvPr/>
        </p:nvSpPr>
        <p:spPr>
          <a:xfrm>
            <a:off x="822960" y="2514600"/>
            <a:ext cx="2926080" cy="82296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problema, situația de pornire, obiectivul măsurabil, schimbarea de încercat</a:t>
            </a:r>
            <a:endParaRPr lang="en-US" sz="1450" dirty="0"/>
          </a:p>
        </p:txBody>
      </p:sp>
      <p:sp>
        <p:nvSpPr>
          <p:cNvPr id="8" name="Shape 6"/>
          <p:cNvSpPr/>
          <p:nvPr/>
        </p:nvSpPr>
        <p:spPr>
          <a:xfrm>
            <a:off x="4114800" y="1645920"/>
            <a:ext cx="3383280" cy="1828800"/>
          </a:xfrm>
          <a:prstGeom prst="roundRect">
            <a:avLst>
              <a:gd name="adj" fmla="val 4500"/>
            </a:avLst>
          </a:prstGeom>
          <a:solidFill>
            <a:srgbClr val="F9F8F5"/>
          </a:solidFill>
          <a:ln w="12700">
            <a:solidFill>
              <a:srgbClr val="F9F8F5"/>
            </a:solidFill>
            <a:prstDash val="solid"/>
          </a:ln>
        </p:spPr>
        <p:txBody>
          <a:bodyPr/>
          <a:p/>
        </p:txBody>
      </p:sp>
      <p:sp>
        <p:nvSpPr>
          <p:cNvPr id="9" name="Shape 7"/>
          <p:cNvSpPr/>
          <p:nvPr/>
        </p:nvSpPr>
        <p:spPr>
          <a:xfrm>
            <a:off x="4114800" y="1645920"/>
            <a:ext cx="3383280" cy="73152"/>
          </a:xfrm>
          <a:prstGeom prst="rect">
            <a:avLst/>
          </a:prstGeom>
          <a:solidFill>
            <a:srgbClr val="8A6100"/>
          </a:solidFill>
          <a:ln w="12700">
            <a:solidFill>
              <a:srgbClr val="8A6100"/>
            </a:solidFill>
            <a:prstDash val="solid"/>
          </a:ln>
        </p:spPr>
        <p:txBody>
          <a:bodyPr/>
          <a:p/>
        </p:txBody>
      </p:sp>
      <p:sp>
        <p:nvSpPr>
          <p:cNvPr id="10" name="Text 8"/>
          <p:cNvSpPr/>
          <p:nvPr/>
        </p:nvSpPr>
        <p:spPr>
          <a:xfrm>
            <a:off x="4343400" y="1847088"/>
            <a:ext cx="2926080" cy="685800"/>
          </a:xfrm>
          <a:prstGeom prst="rect">
            <a:avLst/>
          </a:prstGeom>
          <a:noFill/>
          <a:ln/>
        </p:spPr>
        <p:txBody>
          <a:bodyPr wrap="square" lIns="0" tIns="0" rIns="0" bIns="0" rtlCol="0" anchor="t"/>
          <a:lstStyle/>
          <a:p>
            <a:pPr indent="0" marL="0">
              <a:buNone/>
            </a:pPr>
            <a:r>
              <a:rPr lang="en-US" sz="1800" b="1" dirty="0">
                <a:solidFill>
                  <a:srgbClr val="8A6100"/>
                </a:solidFill>
                <a:latin typeface="Palatino Linotype" pitchFamily="34" charset="0"/>
                <a:ea typeface="Palatino Linotype" pitchFamily="34" charset="-122"/>
                <a:cs typeface="Palatino Linotype" pitchFamily="34" charset="-120"/>
              </a:rPr>
              <a:t>Execută</a:t>
            </a:r>
            <a:endParaRPr lang="en-US" sz="1800" dirty="0"/>
          </a:p>
        </p:txBody>
      </p:sp>
      <p:sp>
        <p:nvSpPr>
          <p:cNvPr id="11" name="Text 9"/>
          <p:cNvSpPr/>
          <p:nvPr/>
        </p:nvSpPr>
        <p:spPr>
          <a:xfrm>
            <a:off x="4343400" y="2514600"/>
            <a:ext cx="2926080" cy="82296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întâi la scară mică, cu culegerea datelor</a:t>
            </a:r>
            <a:endParaRPr lang="en-US" sz="1450" dirty="0"/>
          </a:p>
        </p:txBody>
      </p:sp>
      <p:sp>
        <p:nvSpPr>
          <p:cNvPr id="12" name="Shape 10"/>
          <p:cNvSpPr/>
          <p:nvPr/>
        </p:nvSpPr>
        <p:spPr>
          <a:xfrm>
            <a:off x="594360" y="3611880"/>
            <a:ext cx="3383280" cy="1828800"/>
          </a:xfrm>
          <a:prstGeom prst="roundRect">
            <a:avLst>
              <a:gd name="adj" fmla="val 4500"/>
            </a:avLst>
          </a:prstGeom>
          <a:solidFill>
            <a:srgbClr val="F9F8F5"/>
          </a:solidFill>
          <a:ln w="12700">
            <a:solidFill>
              <a:srgbClr val="F9F8F5"/>
            </a:solidFill>
            <a:prstDash val="solid"/>
          </a:ln>
        </p:spPr>
        <p:txBody>
          <a:bodyPr/>
          <a:p/>
        </p:txBody>
      </p:sp>
      <p:sp>
        <p:nvSpPr>
          <p:cNvPr id="13" name="Shape 11"/>
          <p:cNvSpPr/>
          <p:nvPr/>
        </p:nvSpPr>
        <p:spPr>
          <a:xfrm>
            <a:off x="594360" y="3611880"/>
            <a:ext cx="3383280" cy="73152"/>
          </a:xfrm>
          <a:prstGeom prst="rect">
            <a:avLst/>
          </a:prstGeom>
          <a:solidFill>
            <a:srgbClr val="B02532"/>
          </a:solidFill>
          <a:ln w="12700">
            <a:solidFill>
              <a:srgbClr val="B02532"/>
            </a:solidFill>
            <a:prstDash val="solid"/>
          </a:ln>
        </p:spPr>
        <p:txBody>
          <a:bodyPr/>
          <a:p/>
        </p:txBody>
      </p:sp>
      <p:sp>
        <p:nvSpPr>
          <p:cNvPr id="14" name="Text 12"/>
          <p:cNvSpPr/>
          <p:nvPr/>
        </p:nvSpPr>
        <p:spPr>
          <a:xfrm>
            <a:off x="822960" y="3813048"/>
            <a:ext cx="2926080" cy="68580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Acționează</a:t>
            </a:r>
            <a:endParaRPr lang="en-US" sz="1800" dirty="0"/>
          </a:p>
        </p:txBody>
      </p:sp>
      <p:sp>
        <p:nvSpPr>
          <p:cNvPr id="15" name="Text 13"/>
          <p:cNvSpPr/>
          <p:nvPr/>
        </p:nvSpPr>
        <p:spPr>
          <a:xfrm>
            <a:off x="822960" y="4480560"/>
            <a:ext cx="2926080" cy="82296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planul se modifică, iar ciclul reîncepe</a:t>
            </a:r>
            <a:endParaRPr lang="en-US" sz="1450" dirty="0"/>
          </a:p>
        </p:txBody>
      </p:sp>
      <p:sp>
        <p:nvSpPr>
          <p:cNvPr id="16" name="Shape 14"/>
          <p:cNvSpPr/>
          <p:nvPr/>
        </p:nvSpPr>
        <p:spPr>
          <a:xfrm>
            <a:off x="4114800" y="3611880"/>
            <a:ext cx="3383280" cy="1828800"/>
          </a:xfrm>
          <a:prstGeom prst="roundRect">
            <a:avLst>
              <a:gd name="adj" fmla="val 4500"/>
            </a:avLst>
          </a:prstGeom>
          <a:solidFill>
            <a:srgbClr val="ECEAE4"/>
          </a:solidFill>
          <a:ln w="12700">
            <a:solidFill>
              <a:srgbClr val="ECEAE4"/>
            </a:solidFill>
            <a:prstDash val="solid"/>
          </a:ln>
        </p:spPr>
        <p:txBody>
          <a:bodyPr/>
          <a:p/>
        </p:txBody>
      </p:sp>
      <p:sp>
        <p:nvSpPr>
          <p:cNvPr id="17" name="Shape 15"/>
          <p:cNvSpPr/>
          <p:nvPr/>
        </p:nvSpPr>
        <p:spPr>
          <a:xfrm>
            <a:off x="4114800" y="3611880"/>
            <a:ext cx="3383280" cy="73152"/>
          </a:xfrm>
          <a:prstGeom prst="rect">
            <a:avLst/>
          </a:prstGeom>
          <a:solidFill>
            <a:srgbClr val="4A2D8C"/>
          </a:solidFill>
          <a:ln w="12700">
            <a:solidFill>
              <a:srgbClr val="4A2D8C"/>
            </a:solidFill>
            <a:prstDash val="solid"/>
          </a:ln>
        </p:spPr>
        <p:txBody>
          <a:bodyPr/>
          <a:p/>
        </p:txBody>
      </p:sp>
      <p:sp>
        <p:nvSpPr>
          <p:cNvPr id="18" name="Text 16"/>
          <p:cNvSpPr/>
          <p:nvPr/>
        </p:nvSpPr>
        <p:spPr>
          <a:xfrm>
            <a:off x="4343400" y="3813048"/>
            <a:ext cx="2926080" cy="685800"/>
          </a:xfrm>
          <a:prstGeom prst="rect">
            <a:avLst/>
          </a:prstGeom>
          <a:noFill/>
          <a:ln/>
        </p:spPr>
        <p:txBody>
          <a:bodyPr wrap="square" lIns="0" tIns="0" rIns="0" bIns="0" rtlCol="0" anchor="t"/>
          <a:lstStyle/>
          <a:p>
            <a:pPr indent="0" marL="0">
              <a:buNone/>
            </a:pPr>
            <a:r>
              <a:rPr lang="en-US" sz="1800" b="1" dirty="0">
                <a:solidFill>
                  <a:srgbClr val="4A2D8C"/>
                </a:solidFill>
                <a:latin typeface="Palatino Linotype" pitchFamily="34" charset="0"/>
                <a:ea typeface="Palatino Linotype" pitchFamily="34" charset="-122"/>
                <a:cs typeface="Palatino Linotype" pitchFamily="34" charset="-120"/>
              </a:rPr>
              <a:t>Verifică</a:t>
            </a:r>
            <a:endParaRPr lang="en-US" sz="1800" dirty="0"/>
          </a:p>
        </p:txBody>
      </p:sp>
      <p:sp>
        <p:nvSpPr>
          <p:cNvPr id="19" name="Text 17"/>
          <p:cNvSpPr/>
          <p:nvPr/>
        </p:nvSpPr>
        <p:spPr>
          <a:xfrm>
            <a:off x="4343400" y="4480560"/>
            <a:ext cx="2926080" cy="82296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a funcționat planul?</a:t>
            </a:r>
            <a:endParaRPr lang="en-US" sz="1450" dirty="0"/>
          </a:p>
        </p:txBody>
      </p:sp>
      <p:sp>
        <p:nvSpPr>
          <p:cNvPr id="20" name="Shape 18"/>
          <p:cNvSpPr/>
          <p:nvPr/>
        </p:nvSpPr>
        <p:spPr>
          <a:xfrm>
            <a:off x="7772400" y="1645920"/>
            <a:ext cx="3794760" cy="3794760"/>
          </a:xfrm>
          <a:prstGeom prst="roundRect">
            <a:avLst>
              <a:gd name="adj" fmla="val 2169"/>
            </a:avLst>
          </a:prstGeom>
          <a:solidFill>
            <a:srgbClr val="11121A"/>
          </a:solidFill>
          <a:ln w="12700">
            <a:solidFill>
              <a:srgbClr val="11121A"/>
            </a:solidFill>
            <a:prstDash val="solid"/>
          </a:ln>
        </p:spPr>
        <p:txBody>
          <a:bodyPr/>
          <a:p/>
        </p:txBody>
      </p:sp>
      <p:sp>
        <p:nvSpPr>
          <p:cNvPr id="21" name="Text 19"/>
          <p:cNvSpPr/>
          <p:nvPr/>
        </p:nvSpPr>
        <p:spPr>
          <a:xfrm>
            <a:off x="8001000" y="1828800"/>
            <a:ext cx="3383280" cy="128016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Cel mai influent cadru pentru îmbunătățirea calității.</a:t>
            </a:r>
            <a:endParaRPr lang="en-US" sz="1700" dirty="0"/>
          </a:p>
        </p:txBody>
      </p:sp>
      <p:sp>
        <p:nvSpPr>
          <p:cNvPr id="22" name="Text 20"/>
          <p:cNvSpPr/>
          <p:nvPr/>
        </p:nvSpPr>
        <p:spPr>
          <a:xfrm>
            <a:off x="8001000" y="3200400"/>
            <a:ext cx="3383280" cy="2103120"/>
          </a:xfrm>
          <a:prstGeom prst="rect">
            <a:avLst/>
          </a:prstGeom>
          <a:noFill/>
          <a:ln/>
        </p:spPr>
        <p:txBody>
          <a:bodyPr wrap="square" lIns="0" tIns="0" rIns="0" bIns="0" rtlCol="0" anchor="t"/>
          <a:lstStyle/>
          <a:p>
            <a:pPr indent="0" marL="0">
              <a:buNone/>
            </a:pPr>
            <a:r>
              <a:rPr lang="en-US" sz="1550" dirty="0">
                <a:solidFill>
                  <a:srgbClr val="E6E8EF"/>
                </a:solidFill>
                <a:latin typeface="Palatino Linotype" pitchFamily="34" charset="0"/>
                <a:ea typeface="Palatino Linotype" pitchFamily="34" charset="-122"/>
                <a:cs typeface="Palatino Linotype" pitchFamily="34" charset="-120"/>
              </a:rPr>
              <a:t>Etapa „verifică” este controlul retroactiv din cursul trecut; „acționează” deschide un nou ciclu de planificare.</a:t>
            </a:r>
            <a:endParaRPr lang="en-US" sz="1550" dirty="0"/>
          </a:p>
        </p:txBody>
      </p:sp>
      <p:sp>
        <p:nvSpPr>
          <p:cNvPr id="23" name="Text 21"/>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Busse și colab., 2019 (registru A1018); OpenStax, 2019 (registru A1008).</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EXEMPLU · VALORI IPOTETICE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PDCA pentru erorile de administrare</a:t>
            </a:r>
            <a:endParaRPr lang="en-US" sz="3000" dirty="0"/>
          </a:p>
        </p:txBody>
      </p:sp>
      <p:sp>
        <p:nvSpPr>
          <p:cNvPr id="4" name="Shape 2"/>
          <p:cNvSpPr/>
          <p:nvPr/>
        </p:nvSpPr>
        <p:spPr>
          <a:xfrm>
            <a:off x="594360" y="1600200"/>
            <a:ext cx="10972800" cy="749808"/>
          </a:xfrm>
          <a:prstGeom prst="roundRect">
            <a:avLst>
              <a:gd name="adj" fmla="val 10976"/>
            </a:avLst>
          </a:prstGeom>
          <a:solidFill>
            <a:srgbClr val="ECEAE4"/>
          </a:solidFill>
          <a:ln w="12700">
            <a:solidFill>
              <a:srgbClr val="ECEAE4"/>
            </a:solidFill>
            <a:prstDash val="solid"/>
          </a:ln>
        </p:spPr>
        <p:txBody>
          <a:bodyPr/>
          <a:p/>
        </p:txBody>
      </p:sp>
      <p:sp>
        <p:nvSpPr>
          <p:cNvPr id="5" name="Text 3"/>
          <p:cNvSpPr/>
          <p:nvPr/>
        </p:nvSpPr>
        <p:spPr>
          <a:xfrm>
            <a:off x="822960" y="1600200"/>
            <a:ext cx="2011680" cy="731520"/>
          </a:xfrm>
          <a:prstGeom prst="rect">
            <a:avLst/>
          </a:prstGeom>
          <a:noFill/>
          <a:ln/>
        </p:spPr>
        <p:txBody>
          <a:bodyPr wrap="square" lIns="0" tIns="0" rIns="0" bIns="0" rtlCol="0" anchor="ctr"/>
          <a:lstStyle/>
          <a:p>
            <a:pPr indent="0" marL="0">
              <a:buNone/>
            </a:pPr>
            <a:r>
              <a:rPr lang="en-US" sz="1650" b="1" dirty="0">
                <a:solidFill>
                  <a:srgbClr val="0E7C6B"/>
                </a:solidFill>
                <a:latin typeface="Palatino Linotype" pitchFamily="34" charset="0"/>
                <a:ea typeface="Palatino Linotype" pitchFamily="34" charset="-122"/>
                <a:cs typeface="Palatino Linotype" pitchFamily="34" charset="-120"/>
              </a:rPr>
              <a:t>Planifică</a:t>
            </a:r>
            <a:endParaRPr lang="en-US" sz="1650" dirty="0"/>
          </a:p>
        </p:txBody>
      </p:sp>
      <p:sp>
        <p:nvSpPr>
          <p:cNvPr id="6" name="Text 4"/>
          <p:cNvSpPr/>
          <p:nvPr/>
        </p:nvSpPr>
        <p:spPr>
          <a:xfrm>
            <a:off x="2834640" y="1600200"/>
            <a:ext cx="859536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3,2% dintre administrări au avut o eroare; diagrama cauză–efect găsește patru cauze; se alege verificarea dublă pentru medicamentele cu risc mare.</a:t>
            </a:r>
            <a:endParaRPr lang="en-US" sz="1500" dirty="0"/>
          </a:p>
        </p:txBody>
      </p:sp>
      <p:sp>
        <p:nvSpPr>
          <p:cNvPr id="7" name="Shape 5"/>
          <p:cNvSpPr/>
          <p:nvPr/>
        </p:nvSpPr>
        <p:spPr>
          <a:xfrm>
            <a:off x="594360" y="2441448"/>
            <a:ext cx="10972800" cy="713232"/>
          </a:xfrm>
          <a:prstGeom prst="roundRect">
            <a:avLst>
              <a:gd name="adj" fmla="val 11538"/>
            </a:avLst>
          </a:prstGeom>
          <a:solidFill>
            <a:srgbClr val="F9F8F5"/>
          </a:solidFill>
          <a:ln w="12700">
            <a:solidFill>
              <a:srgbClr val="F9F8F5"/>
            </a:solidFill>
            <a:prstDash val="solid"/>
          </a:ln>
        </p:spPr>
        <p:txBody>
          <a:bodyPr/>
          <a:p/>
        </p:txBody>
      </p:sp>
      <p:sp>
        <p:nvSpPr>
          <p:cNvPr id="8" name="Text 6"/>
          <p:cNvSpPr/>
          <p:nvPr/>
        </p:nvSpPr>
        <p:spPr>
          <a:xfrm>
            <a:off x="822960" y="2441448"/>
            <a:ext cx="2011680" cy="731520"/>
          </a:xfrm>
          <a:prstGeom prst="rect">
            <a:avLst/>
          </a:prstGeom>
          <a:noFill/>
          <a:ln/>
        </p:spPr>
        <p:txBody>
          <a:bodyPr wrap="square" lIns="0" tIns="0" rIns="0" bIns="0" rtlCol="0" anchor="ctr"/>
          <a:lstStyle/>
          <a:p>
            <a:pPr indent="0" marL="0">
              <a:buNone/>
            </a:pPr>
            <a:r>
              <a:rPr lang="en-US" sz="1650" b="1" dirty="0">
                <a:solidFill>
                  <a:srgbClr val="8A6100"/>
                </a:solidFill>
                <a:latin typeface="Palatino Linotype" pitchFamily="34" charset="0"/>
                <a:ea typeface="Palatino Linotype" pitchFamily="34" charset="-122"/>
                <a:cs typeface="Palatino Linotype" pitchFamily="34" charset="-120"/>
              </a:rPr>
              <a:t>Execută</a:t>
            </a:r>
            <a:endParaRPr lang="en-US" sz="1650" dirty="0"/>
          </a:p>
        </p:txBody>
      </p:sp>
      <p:sp>
        <p:nvSpPr>
          <p:cNvPr id="9" name="Text 7"/>
          <p:cNvSpPr/>
          <p:nvPr/>
        </p:nvSpPr>
        <p:spPr>
          <a:xfrm>
            <a:off x="2834640" y="2441448"/>
            <a:ext cx="859536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trei luni, pe o singură secție</a:t>
            </a:r>
            <a:endParaRPr lang="en-US" sz="1500" dirty="0"/>
          </a:p>
        </p:txBody>
      </p:sp>
      <p:sp>
        <p:nvSpPr>
          <p:cNvPr id="10" name="Shape 8"/>
          <p:cNvSpPr/>
          <p:nvPr/>
        </p:nvSpPr>
        <p:spPr>
          <a:xfrm>
            <a:off x="594360" y="3282696"/>
            <a:ext cx="10972800" cy="713232"/>
          </a:xfrm>
          <a:prstGeom prst="roundRect">
            <a:avLst>
              <a:gd name="adj" fmla="val 11538"/>
            </a:avLst>
          </a:prstGeom>
          <a:solidFill>
            <a:srgbClr val="ECEAE4"/>
          </a:solidFill>
          <a:ln w="12700">
            <a:solidFill>
              <a:srgbClr val="ECEAE4"/>
            </a:solidFill>
            <a:prstDash val="solid"/>
          </a:ln>
        </p:spPr>
        <p:txBody>
          <a:bodyPr/>
          <a:p/>
        </p:txBody>
      </p:sp>
      <p:sp>
        <p:nvSpPr>
          <p:cNvPr id="11" name="Text 9"/>
          <p:cNvSpPr/>
          <p:nvPr/>
        </p:nvSpPr>
        <p:spPr>
          <a:xfrm>
            <a:off x="822960" y="3282696"/>
            <a:ext cx="2011680" cy="731520"/>
          </a:xfrm>
          <a:prstGeom prst="rect">
            <a:avLst/>
          </a:prstGeom>
          <a:noFill/>
          <a:ln/>
        </p:spPr>
        <p:txBody>
          <a:bodyPr wrap="square" lIns="0" tIns="0" rIns="0" bIns="0" rtlCol="0" anchor="ctr"/>
          <a:lstStyle/>
          <a:p>
            <a:pPr indent="0" marL="0">
              <a:buNone/>
            </a:pPr>
            <a:r>
              <a:rPr lang="en-US" sz="1650" b="1" dirty="0">
                <a:solidFill>
                  <a:srgbClr val="4A2D8C"/>
                </a:solidFill>
                <a:latin typeface="Palatino Linotype" pitchFamily="34" charset="0"/>
                <a:ea typeface="Palatino Linotype" pitchFamily="34" charset="-122"/>
                <a:cs typeface="Palatino Linotype" pitchFamily="34" charset="-120"/>
              </a:rPr>
              <a:t>Verifică</a:t>
            </a:r>
            <a:endParaRPr lang="en-US" sz="1650" dirty="0"/>
          </a:p>
        </p:txBody>
      </p:sp>
      <p:sp>
        <p:nvSpPr>
          <p:cNvPr id="12" name="Text 10"/>
          <p:cNvSpPr/>
          <p:nvPr/>
        </p:nvSpPr>
        <p:spPr>
          <a:xfrm>
            <a:off x="2834640" y="3282696"/>
            <a:ext cx="859536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erorile scad la 0,8%</a:t>
            </a:r>
            <a:endParaRPr lang="en-US" sz="1500" dirty="0"/>
          </a:p>
        </p:txBody>
      </p:sp>
      <p:sp>
        <p:nvSpPr>
          <p:cNvPr id="13" name="Shape 11"/>
          <p:cNvSpPr/>
          <p:nvPr/>
        </p:nvSpPr>
        <p:spPr>
          <a:xfrm>
            <a:off x="594360" y="4123944"/>
            <a:ext cx="10972800" cy="713232"/>
          </a:xfrm>
          <a:prstGeom prst="roundRect">
            <a:avLst>
              <a:gd name="adj" fmla="val 11538"/>
            </a:avLst>
          </a:prstGeom>
          <a:solidFill>
            <a:srgbClr val="F9F8F5"/>
          </a:solidFill>
          <a:ln w="12700">
            <a:solidFill>
              <a:srgbClr val="F9F8F5"/>
            </a:solidFill>
            <a:prstDash val="solid"/>
          </a:ln>
        </p:spPr>
        <p:txBody>
          <a:bodyPr/>
          <a:p/>
        </p:txBody>
      </p:sp>
      <p:sp>
        <p:nvSpPr>
          <p:cNvPr id="14" name="Text 12"/>
          <p:cNvSpPr/>
          <p:nvPr/>
        </p:nvSpPr>
        <p:spPr>
          <a:xfrm>
            <a:off x="822960" y="4123944"/>
            <a:ext cx="2011680" cy="731520"/>
          </a:xfrm>
          <a:prstGeom prst="rect">
            <a:avLst/>
          </a:prstGeom>
          <a:noFill/>
          <a:ln/>
        </p:spPr>
        <p:txBody>
          <a:bodyPr wrap="square" lIns="0" tIns="0" rIns="0" bIns="0" rtlCol="0" anchor="ctr"/>
          <a:lstStyle/>
          <a:p>
            <a:pPr indent="0" marL="0">
              <a:buNone/>
            </a:pPr>
            <a:r>
              <a:rPr lang="en-US" sz="1650" b="1" dirty="0">
                <a:solidFill>
                  <a:srgbClr val="B02532"/>
                </a:solidFill>
                <a:latin typeface="Palatino Linotype" pitchFamily="34" charset="0"/>
                <a:ea typeface="Palatino Linotype" pitchFamily="34" charset="-122"/>
                <a:cs typeface="Palatino Linotype" pitchFamily="34" charset="-120"/>
              </a:rPr>
              <a:t>Acționează</a:t>
            </a:r>
            <a:endParaRPr lang="en-US" sz="1650" dirty="0"/>
          </a:p>
        </p:txBody>
      </p:sp>
      <p:sp>
        <p:nvSpPr>
          <p:cNvPr id="15" name="Text 13"/>
          <p:cNvSpPr/>
          <p:nvPr/>
        </p:nvSpPr>
        <p:spPr>
          <a:xfrm>
            <a:off x="2834640" y="4123944"/>
            <a:ext cx="859536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procedură pentru tot spitalul; echipa alege următoarea problemă</a:t>
            </a:r>
            <a:endParaRPr lang="en-US" sz="1500" dirty="0"/>
          </a:p>
        </p:txBody>
      </p:sp>
      <p:sp>
        <p:nvSpPr>
          <p:cNvPr id="16" name="Text 14"/>
          <p:cNvSpPr/>
          <p:nvPr/>
        </p:nvSpPr>
        <p:spPr>
          <a:xfrm>
            <a:off x="594360" y="5120640"/>
            <a:ext cx="10972800" cy="73152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O scădere se interpretează numai dacă erorile au fost înregistrate la fel, înainte și după schimbare.</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DOUĂ MINUTE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SONERIA DIN TURA DE NOAPTE</a:t>
            </a:r>
            <a:endParaRPr lang="en-US" sz="1300" dirty="0"/>
          </a:p>
        </p:txBody>
      </p:sp>
      <p:sp>
        <p:nvSpPr>
          <p:cNvPr id="5" name="Text 3"/>
          <p:cNvSpPr/>
          <p:nvPr/>
        </p:nvSpPr>
        <p:spPr>
          <a:xfrm>
            <a:off x="594360" y="868680"/>
            <a:ext cx="10972800" cy="1280160"/>
          </a:xfrm>
          <a:prstGeom prst="rect">
            <a:avLst/>
          </a:prstGeom>
          <a:noFill/>
          <a:ln/>
        </p:spPr>
        <p:txBody>
          <a:bodyPr wrap="square" lIns="0" tIns="0" rIns="0" bIns="0" rtlCol="0" anchor="ctr"/>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Pacienții se plâng că așteaptă mult la sonerie, noaptea</a:t>
            </a:r>
            <a:endParaRPr lang="en-US" sz="3200" dirty="0"/>
          </a:p>
        </p:txBody>
      </p:sp>
      <p:sp>
        <p:nvSpPr>
          <p:cNvPr id="6" name="Shape 4"/>
          <p:cNvSpPr/>
          <p:nvPr/>
        </p:nvSpPr>
        <p:spPr>
          <a:xfrm>
            <a:off x="594360" y="2331720"/>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7" name="Shape 5"/>
          <p:cNvSpPr/>
          <p:nvPr/>
        </p:nvSpPr>
        <p:spPr>
          <a:xfrm>
            <a:off x="868680" y="2441448"/>
            <a:ext cx="420624" cy="420624"/>
          </a:xfrm>
          <a:prstGeom prst="ellipse">
            <a:avLst/>
          </a:prstGeom>
          <a:solidFill>
            <a:srgbClr val="FFC24B"/>
          </a:solidFill>
          <a:ln/>
        </p:spPr>
        <p:txBody>
          <a:bodyPr/>
          <a:p/>
        </p:txBody>
      </p:sp>
      <p:sp>
        <p:nvSpPr>
          <p:cNvPr id="8" name="Text 6"/>
          <p:cNvSpPr/>
          <p:nvPr/>
        </p:nvSpPr>
        <p:spPr>
          <a:xfrm>
            <a:off x="868680" y="24414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P</a:t>
            </a:r>
            <a:endParaRPr lang="en-US" sz="1400" dirty="0"/>
          </a:p>
        </p:txBody>
      </p:sp>
      <p:sp>
        <p:nvSpPr>
          <p:cNvPr id="9" name="Text 7"/>
          <p:cNvSpPr/>
          <p:nvPr/>
        </p:nvSpPr>
        <p:spPr>
          <a:xfrm>
            <a:off x="1508760" y="2331720"/>
            <a:ext cx="9829800" cy="64008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Ce măsurați la început?</a:t>
            </a:r>
            <a:endParaRPr lang="en-US" sz="1800" dirty="0"/>
          </a:p>
        </p:txBody>
      </p:sp>
      <p:sp>
        <p:nvSpPr>
          <p:cNvPr id="10" name="Shape 8"/>
          <p:cNvSpPr/>
          <p:nvPr/>
        </p:nvSpPr>
        <p:spPr>
          <a:xfrm>
            <a:off x="594360" y="3081528"/>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11" name="Shape 9"/>
          <p:cNvSpPr/>
          <p:nvPr/>
        </p:nvSpPr>
        <p:spPr>
          <a:xfrm>
            <a:off x="868680" y="3191256"/>
            <a:ext cx="420624" cy="420624"/>
          </a:xfrm>
          <a:prstGeom prst="ellipse">
            <a:avLst/>
          </a:prstGeom>
          <a:solidFill>
            <a:srgbClr val="FFC24B"/>
          </a:solidFill>
          <a:ln/>
        </p:spPr>
        <p:txBody>
          <a:bodyPr/>
          <a:p/>
        </p:txBody>
      </p:sp>
      <p:sp>
        <p:nvSpPr>
          <p:cNvPr id="12" name="Text 10"/>
          <p:cNvSpPr/>
          <p:nvPr/>
        </p:nvSpPr>
        <p:spPr>
          <a:xfrm>
            <a:off x="868680" y="319125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13" name="Text 11"/>
          <p:cNvSpPr/>
          <p:nvPr/>
        </p:nvSpPr>
        <p:spPr>
          <a:xfrm>
            <a:off x="1508760" y="3081528"/>
            <a:ext cx="9829800" cy="64008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Ce schimbare încercați?</a:t>
            </a:r>
            <a:endParaRPr lang="en-US" sz="1800" dirty="0"/>
          </a:p>
        </p:txBody>
      </p:sp>
      <p:sp>
        <p:nvSpPr>
          <p:cNvPr id="14" name="Shape 12"/>
          <p:cNvSpPr/>
          <p:nvPr/>
        </p:nvSpPr>
        <p:spPr>
          <a:xfrm>
            <a:off x="594360" y="3831336"/>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15" name="Shape 13"/>
          <p:cNvSpPr/>
          <p:nvPr/>
        </p:nvSpPr>
        <p:spPr>
          <a:xfrm>
            <a:off x="868680" y="3941064"/>
            <a:ext cx="420624" cy="420624"/>
          </a:xfrm>
          <a:prstGeom prst="ellipse">
            <a:avLst/>
          </a:prstGeom>
          <a:solidFill>
            <a:srgbClr val="FFC24B"/>
          </a:solidFill>
          <a:ln/>
        </p:spPr>
        <p:txBody>
          <a:bodyPr/>
          <a:p/>
        </p:txBody>
      </p:sp>
      <p:sp>
        <p:nvSpPr>
          <p:cNvPr id="16" name="Text 14"/>
          <p:cNvSpPr/>
          <p:nvPr/>
        </p:nvSpPr>
        <p:spPr>
          <a:xfrm>
            <a:off x="868680" y="39410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831336"/>
            <a:ext cx="9829800" cy="64008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Cum verificați?</a:t>
            </a:r>
            <a:endParaRPr lang="en-US" sz="1800" dirty="0"/>
          </a:p>
        </p:txBody>
      </p:sp>
      <p:sp>
        <p:nvSpPr>
          <p:cNvPr id="18" name="Shape 16"/>
          <p:cNvSpPr/>
          <p:nvPr/>
        </p:nvSpPr>
        <p:spPr>
          <a:xfrm>
            <a:off x="594360" y="4581144"/>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19" name="Shape 17"/>
          <p:cNvSpPr/>
          <p:nvPr/>
        </p:nvSpPr>
        <p:spPr>
          <a:xfrm>
            <a:off x="868680" y="4690872"/>
            <a:ext cx="420624" cy="420624"/>
          </a:xfrm>
          <a:prstGeom prst="ellipse">
            <a:avLst/>
          </a:prstGeom>
          <a:solidFill>
            <a:srgbClr val="FFC24B"/>
          </a:solidFill>
          <a:ln/>
        </p:spPr>
        <p:txBody>
          <a:bodyPr/>
          <a:p/>
        </p:txBody>
      </p:sp>
      <p:sp>
        <p:nvSpPr>
          <p:cNvPr id="20" name="Text 18"/>
          <p:cNvSpPr/>
          <p:nvPr/>
        </p:nvSpPr>
        <p:spPr>
          <a:xfrm>
            <a:off x="868680" y="46908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21" name="Text 19"/>
          <p:cNvSpPr/>
          <p:nvPr/>
        </p:nvSpPr>
        <p:spPr>
          <a:xfrm>
            <a:off x="1508760" y="4581144"/>
            <a:ext cx="9829800" cy="64008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Ce faceți dacă nu a mers?</a:t>
            </a:r>
            <a:endParaRPr lang="en-US" sz="1800" dirty="0"/>
          </a:p>
        </p:txBody>
      </p:sp>
      <p:sp>
        <p:nvSpPr>
          <p:cNvPr id="22" name="Text 20"/>
          <p:cNvSpPr/>
          <p:nvPr/>
        </p:nvSpPr>
        <p:spPr>
          <a:xfrm>
            <a:off x="594360" y="5486400"/>
            <a:ext cx="10972800" cy="45720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O pereche citește ciclul; sala spune la ce etapă lipsește o măsurătoare.</a:t>
            </a:r>
            <a:endParaRPr lang="en-US" sz="1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AUDITUL CLINIC · ETAPELE: CONVENȚIE A CURSULUI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Auditul clinic: o buclă care se închide</a:t>
            </a:r>
            <a:endParaRPr lang="en-US" sz="3000" dirty="0"/>
          </a:p>
        </p:txBody>
      </p:sp>
      <p:sp>
        <p:nvSpPr>
          <p:cNvPr id="4" name="Shape 2"/>
          <p:cNvSpPr/>
          <p:nvPr/>
        </p:nvSpPr>
        <p:spPr>
          <a:xfrm>
            <a:off x="594360" y="1691640"/>
            <a:ext cx="1920240" cy="914400"/>
          </a:xfrm>
          <a:prstGeom prst="roundRect">
            <a:avLst>
              <a:gd name="adj" fmla="val 9000"/>
            </a:avLst>
          </a:prstGeom>
          <a:solidFill>
            <a:srgbClr val="ECEAE4"/>
          </a:solidFill>
          <a:ln w="12700">
            <a:solidFill>
              <a:srgbClr val="ECEAE4"/>
            </a:solidFill>
            <a:prstDash val="solid"/>
          </a:ln>
        </p:spPr>
        <p:txBody>
          <a:bodyPr/>
          <a:p/>
        </p:txBody>
      </p:sp>
      <p:sp>
        <p:nvSpPr>
          <p:cNvPr id="5" name="Text 3"/>
          <p:cNvSpPr/>
          <p:nvPr/>
        </p:nvSpPr>
        <p:spPr>
          <a:xfrm>
            <a:off x="667512" y="1691640"/>
            <a:ext cx="1773936" cy="91440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Tema</a:t>
            </a:r>
            <a:endParaRPr lang="en-US" sz="1500" dirty="0"/>
          </a:p>
        </p:txBody>
      </p:sp>
      <p:sp>
        <p:nvSpPr>
          <p:cNvPr id="6" name="Shape 4"/>
          <p:cNvSpPr/>
          <p:nvPr/>
        </p:nvSpPr>
        <p:spPr>
          <a:xfrm>
            <a:off x="2542032" y="1993392"/>
            <a:ext cx="292608" cy="310896"/>
          </a:xfrm>
          <a:prstGeom prst="rightArrow">
            <a:avLst/>
          </a:prstGeom>
          <a:solidFill>
            <a:srgbClr val="C9C6BE"/>
          </a:solidFill>
          <a:ln w="12700">
            <a:solidFill>
              <a:srgbClr val="C9C6BE"/>
            </a:solidFill>
            <a:prstDash val="solid"/>
          </a:ln>
        </p:spPr>
        <p:txBody>
          <a:bodyPr/>
          <a:p/>
        </p:txBody>
      </p:sp>
      <p:sp>
        <p:nvSpPr>
          <p:cNvPr id="7" name="Shape 5"/>
          <p:cNvSpPr/>
          <p:nvPr/>
        </p:nvSpPr>
        <p:spPr>
          <a:xfrm>
            <a:off x="2862072" y="1691640"/>
            <a:ext cx="1920240" cy="914400"/>
          </a:xfrm>
          <a:prstGeom prst="roundRect">
            <a:avLst>
              <a:gd name="adj" fmla="val 9000"/>
            </a:avLst>
          </a:prstGeom>
          <a:solidFill>
            <a:srgbClr val="ECEAE4"/>
          </a:solidFill>
          <a:ln w="12700">
            <a:solidFill>
              <a:srgbClr val="ECEAE4"/>
            </a:solidFill>
            <a:prstDash val="solid"/>
          </a:ln>
        </p:spPr>
        <p:txBody>
          <a:bodyPr/>
          <a:p/>
        </p:txBody>
      </p:sp>
      <p:sp>
        <p:nvSpPr>
          <p:cNvPr id="8" name="Text 6"/>
          <p:cNvSpPr/>
          <p:nvPr/>
        </p:nvSpPr>
        <p:spPr>
          <a:xfrm>
            <a:off x="2935224" y="1691640"/>
            <a:ext cx="1773936" cy="91440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Standardul</a:t>
            </a:r>
            <a:endParaRPr lang="en-US" sz="1500" dirty="0"/>
          </a:p>
        </p:txBody>
      </p:sp>
      <p:sp>
        <p:nvSpPr>
          <p:cNvPr id="9" name="Shape 7"/>
          <p:cNvSpPr/>
          <p:nvPr/>
        </p:nvSpPr>
        <p:spPr>
          <a:xfrm>
            <a:off x="4809744" y="1993392"/>
            <a:ext cx="292608" cy="310896"/>
          </a:xfrm>
          <a:prstGeom prst="rightArrow">
            <a:avLst/>
          </a:prstGeom>
          <a:solidFill>
            <a:srgbClr val="C9C6BE"/>
          </a:solidFill>
          <a:ln w="12700">
            <a:solidFill>
              <a:srgbClr val="C9C6BE"/>
            </a:solidFill>
            <a:prstDash val="solid"/>
          </a:ln>
        </p:spPr>
        <p:txBody>
          <a:bodyPr/>
          <a:p/>
        </p:txBody>
      </p:sp>
      <p:sp>
        <p:nvSpPr>
          <p:cNvPr id="10" name="Shape 8"/>
          <p:cNvSpPr/>
          <p:nvPr/>
        </p:nvSpPr>
        <p:spPr>
          <a:xfrm>
            <a:off x="5129784" y="1691640"/>
            <a:ext cx="1920240" cy="914400"/>
          </a:xfrm>
          <a:prstGeom prst="roundRect">
            <a:avLst>
              <a:gd name="adj" fmla="val 9000"/>
            </a:avLst>
          </a:prstGeom>
          <a:solidFill>
            <a:srgbClr val="ECEAE4"/>
          </a:solidFill>
          <a:ln w="12700">
            <a:solidFill>
              <a:srgbClr val="ECEAE4"/>
            </a:solidFill>
            <a:prstDash val="solid"/>
          </a:ln>
        </p:spPr>
        <p:txBody>
          <a:bodyPr/>
          <a:p/>
        </p:txBody>
      </p:sp>
      <p:sp>
        <p:nvSpPr>
          <p:cNvPr id="11" name="Text 9"/>
          <p:cNvSpPr/>
          <p:nvPr/>
        </p:nvSpPr>
        <p:spPr>
          <a:xfrm>
            <a:off x="5202936" y="1691640"/>
            <a:ext cx="1773936" cy="91440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Datele</a:t>
            </a:r>
            <a:endParaRPr lang="en-US" sz="1500" dirty="0"/>
          </a:p>
        </p:txBody>
      </p:sp>
      <p:sp>
        <p:nvSpPr>
          <p:cNvPr id="12" name="Shape 10"/>
          <p:cNvSpPr/>
          <p:nvPr/>
        </p:nvSpPr>
        <p:spPr>
          <a:xfrm>
            <a:off x="7077456" y="1993392"/>
            <a:ext cx="292608" cy="310896"/>
          </a:xfrm>
          <a:prstGeom prst="rightArrow">
            <a:avLst/>
          </a:prstGeom>
          <a:solidFill>
            <a:srgbClr val="C9C6BE"/>
          </a:solidFill>
          <a:ln w="12700">
            <a:solidFill>
              <a:srgbClr val="C9C6BE"/>
            </a:solidFill>
            <a:prstDash val="solid"/>
          </a:ln>
        </p:spPr>
        <p:txBody>
          <a:bodyPr/>
          <a:p/>
        </p:txBody>
      </p:sp>
      <p:sp>
        <p:nvSpPr>
          <p:cNvPr id="13" name="Shape 11"/>
          <p:cNvSpPr/>
          <p:nvPr/>
        </p:nvSpPr>
        <p:spPr>
          <a:xfrm>
            <a:off x="7397496" y="1691640"/>
            <a:ext cx="1920240" cy="914400"/>
          </a:xfrm>
          <a:prstGeom prst="roundRect">
            <a:avLst>
              <a:gd name="adj" fmla="val 9000"/>
            </a:avLst>
          </a:prstGeom>
          <a:solidFill>
            <a:srgbClr val="ECEAE4"/>
          </a:solidFill>
          <a:ln w="12700">
            <a:solidFill>
              <a:srgbClr val="ECEAE4"/>
            </a:solidFill>
            <a:prstDash val="solid"/>
          </a:ln>
        </p:spPr>
        <p:txBody>
          <a:bodyPr/>
          <a:p/>
        </p:txBody>
      </p:sp>
      <p:sp>
        <p:nvSpPr>
          <p:cNvPr id="14" name="Text 12"/>
          <p:cNvSpPr/>
          <p:nvPr/>
        </p:nvSpPr>
        <p:spPr>
          <a:xfrm>
            <a:off x="7470648" y="1691640"/>
            <a:ext cx="1773936" cy="91440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Comparația</a:t>
            </a:r>
            <a:endParaRPr lang="en-US" sz="1500" dirty="0"/>
          </a:p>
        </p:txBody>
      </p:sp>
      <p:sp>
        <p:nvSpPr>
          <p:cNvPr id="15" name="Shape 13"/>
          <p:cNvSpPr/>
          <p:nvPr/>
        </p:nvSpPr>
        <p:spPr>
          <a:xfrm>
            <a:off x="9345168" y="1993392"/>
            <a:ext cx="292608" cy="310896"/>
          </a:xfrm>
          <a:prstGeom prst="rightArrow">
            <a:avLst/>
          </a:prstGeom>
          <a:solidFill>
            <a:srgbClr val="C9C6BE"/>
          </a:solidFill>
          <a:ln w="12700">
            <a:solidFill>
              <a:srgbClr val="C9C6BE"/>
            </a:solidFill>
            <a:prstDash val="solid"/>
          </a:ln>
        </p:spPr>
        <p:txBody>
          <a:bodyPr/>
          <a:p/>
        </p:txBody>
      </p:sp>
      <p:sp>
        <p:nvSpPr>
          <p:cNvPr id="16" name="Shape 14"/>
          <p:cNvSpPr/>
          <p:nvPr/>
        </p:nvSpPr>
        <p:spPr>
          <a:xfrm>
            <a:off x="9665208" y="1691640"/>
            <a:ext cx="1920240" cy="914400"/>
          </a:xfrm>
          <a:prstGeom prst="roundRect">
            <a:avLst>
              <a:gd name="adj" fmla="val 9000"/>
            </a:avLst>
          </a:prstGeom>
          <a:solidFill>
            <a:srgbClr val="0E7C6B"/>
          </a:solidFill>
          <a:ln w="12700">
            <a:solidFill>
              <a:srgbClr val="0E7C6B"/>
            </a:solidFill>
            <a:prstDash val="solid"/>
          </a:ln>
        </p:spPr>
        <p:txBody>
          <a:bodyPr/>
          <a:p/>
        </p:txBody>
      </p:sp>
      <p:sp>
        <p:nvSpPr>
          <p:cNvPr id="17" name="Text 15"/>
          <p:cNvSpPr/>
          <p:nvPr/>
        </p:nvSpPr>
        <p:spPr>
          <a:xfrm>
            <a:off x="9738360" y="1691640"/>
            <a:ext cx="177393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Schimbarea și reauditarea</a:t>
            </a:r>
            <a:endParaRPr lang="en-US" sz="1500" dirty="0"/>
          </a:p>
        </p:txBody>
      </p:sp>
      <p:sp>
        <p:nvSpPr>
          <p:cNvPr id="18" name="Text 16"/>
          <p:cNvSpPr/>
          <p:nvPr/>
        </p:nvSpPr>
        <p:spPr>
          <a:xfrm>
            <a:off x="594360" y="2880360"/>
            <a:ext cx="10972800" cy="10972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Le arată profesioniștilor cum se situează practica lor față de un reper. Standardele ANMCS cer criterii explicite, măsuri de îmbunătățire și verificarea efectului prin reevaluare.</a:t>
            </a:r>
            <a:endParaRPr lang="en-US" sz="1700" dirty="0"/>
          </a:p>
        </p:txBody>
      </p:sp>
      <p:sp>
        <p:nvSpPr>
          <p:cNvPr id="19" name="Shape 17"/>
          <p:cNvSpPr/>
          <p:nvPr/>
        </p:nvSpPr>
        <p:spPr>
          <a:xfrm>
            <a:off x="594360" y="4160520"/>
            <a:ext cx="10972800" cy="960120"/>
          </a:xfrm>
          <a:prstGeom prst="roundRect">
            <a:avLst>
              <a:gd name="adj" fmla="val 8571"/>
            </a:avLst>
          </a:prstGeom>
          <a:solidFill>
            <a:srgbClr val="11121A"/>
          </a:solidFill>
          <a:ln w="12700">
            <a:solidFill>
              <a:srgbClr val="11121A"/>
            </a:solidFill>
            <a:prstDash val="solid"/>
          </a:ln>
        </p:spPr>
        <p:txBody>
          <a:bodyPr/>
          <a:p/>
        </p:txBody>
      </p:sp>
      <p:sp>
        <p:nvSpPr>
          <p:cNvPr id="20" name="Text 18"/>
          <p:cNvSpPr/>
          <p:nvPr/>
        </p:nvSpPr>
        <p:spPr>
          <a:xfrm>
            <a:off x="868680" y="4160520"/>
            <a:ext cx="10424160" cy="960120"/>
          </a:xfrm>
          <a:prstGeom prst="rect">
            <a:avLst/>
          </a:prstGeom>
          <a:noFill/>
          <a:ln/>
        </p:spPr>
        <p:txBody>
          <a:bodyPr wrap="square" lIns="0" tIns="0" rIns="0" bIns="0" rtlCol="0" anchor="ctr"/>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Un audit fără reauditare a măsurat, dar nu a îmbunătățit nimic.</a:t>
            </a:r>
            <a:endParaRPr lang="en-US" sz="1800" dirty="0"/>
          </a:p>
        </p:txBody>
      </p:sp>
      <p:sp>
        <p:nvSpPr>
          <p:cNvPr id="21" name="Text 19"/>
          <p:cNvSpPr/>
          <p:nvPr/>
        </p:nvSpPr>
        <p:spPr>
          <a:xfrm>
            <a:off x="594360" y="5349240"/>
            <a:ext cx="10972800" cy="45720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Exemplul cu valori ipotetice din note: un audit al evaluării riscului de escare.</a:t>
            </a:r>
            <a:endParaRPr lang="en-US" sz="1400" dirty="0"/>
          </a:p>
        </p:txBody>
      </p:sp>
      <p:sp>
        <p:nvSpPr>
          <p:cNvPr id="22" name="Text 20"/>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Busse și colab., 2019 (registru A1019); standardele ANMCS, ediția a III-a (registru A1035).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INSTRUMENTELE DE BAZĂ · CONVENȚIE A CURSULUI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Șapte instrumente simple</a:t>
            </a:r>
            <a:endParaRPr lang="en-US" sz="3000" dirty="0"/>
          </a:p>
        </p:txBody>
      </p:sp>
      <p:sp>
        <p:nvSpPr>
          <p:cNvPr id="4" name="Shape 2"/>
          <p:cNvSpPr/>
          <p:nvPr/>
        </p:nvSpPr>
        <p:spPr>
          <a:xfrm>
            <a:off x="594360" y="1645920"/>
            <a:ext cx="2651760" cy="1325880"/>
          </a:xfrm>
          <a:prstGeom prst="roundRect">
            <a:avLst>
              <a:gd name="adj" fmla="val 6207"/>
            </a:avLst>
          </a:prstGeom>
          <a:solidFill>
            <a:srgbClr val="ECEAE4"/>
          </a:solidFill>
          <a:ln w="12700">
            <a:solidFill>
              <a:srgbClr val="ECEAE4"/>
            </a:solidFill>
            <a:prstDash val="solid"/>
          </a:ln>
        </p:spPr>
        <p:txBody>
          <a:bodyPr/>
          <a:p/>
        </p:txBody>
      </p:sp>
      <p:sp>
        <p:nvSpPr>
          <p:cNvPr id="5" name="Text 3"/>
          <p:cNvSpPr/>
          <p:nvPr/>
        </p:nvSpPr>
        <p:spPr>
          <a:xfrm>
            <a:off x="777240" y="1755648"/>
            <a:ext cx="2286000" cy="50292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Cauză–efect</a:t>
            </a:r>
            <a:endParaRPr lang="en-US" sz="1600" dirty="0"/>
          </a:p>
        </p:txBody>
      </p:sp>
      <p:sp>
        <p:nvSpPr>
          <p:cNvPr id="6" name="Text 4"/>
          <p:cNvSpPr/>
          <p:nvPr/>
        </p:nvSpPr>
        <p:spPr>
          <a:xfrm>
            <a:off x="777240" y="2286000"/>
            <a:ext cx="2286000" cy="64008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cauzele unei probleme</a:t>
            </a:r>
            <a:endParaRPr lang="en-US" sz="1450" dirty="0"/>
          </a:p>
        </p:txBody>
      </p:sp>
      <p:sp>
        <p:nvSpPr>
          <p:cNvPr id="7" name="Shape 5"/>
          <p:cNvSpPr/>
          <p:nvPr/>
        </p:nvSpPr>
        <p:spPr>
          <a:xfrm>
            <a:off x="3383280" y="1645920"/>
            <a:ext cx="2651760" cy="1325880"/>
          </a:xfrm>
          <a:prstGeom prst="roundRect">
            <a:avLst>
              <a:gd name="adj" fmla="val 6207"/>
            </a:avLst>
          </a:prstGeom>
          <a:solidFill>
            <a:srgbClr val="F9F8F5"/>
          </a:solidFill>
          <a:ln w="12700">
            <a:solidFill>
              <a:srgbClr val="F9F8F5"/>
            </a:solidFill>
            <a:prstDash val="solid"/>
          </a:ln>
        </p:spPr>
        <p:txBody>
          <a:bodyPr/>
          <a:p/>
        </p:txBody>
      </p:sp>
      <p:sp>
        <p:nvSpPr>
          <p:cNvPr id="8" name="Text 6"/>
          <p:cNvSpPr/>
          <p:nvPr/>
        </p:nvSpPr>
        <p:spPr>
          <a:xfrm>
            <a:off x="3566160" y="1755648"/>
            <a:ext cx="2286000" cy="50292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Pareto</a:t>
            </a:r>
            <a:endParaRPr lang="en-US" sz="1600" dirty="0"/>
          </a:p>
        </p:txBody>
      </p:sp>
      <p:sp>
        <p:nvSpPr>
          <p:cNvPr id="9" name="Text 7"/>
          <p:cNvSpPr/>
          <p:nvPr/>
        </p:nvSpPr>
        <p:spPr>
          <a:xfrm>
            <a:off x="3566160" y="2286000"/>
            <a:ext cx="2286000" cy="64008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cauzele, după frecvență</a:t>
            </a:r>
            <a:endParaRPr lang="en-US" sz="1450" dirty="0"/>
          </a:p>
        </p:txBody>
      </p:sp>
      <p:sp>
        <p:nvSpPr>
          <p:cNvPr id="10" name="Shape 8"/>
          <p:cNvSpPr/>
          <p:nvPr/>
        </p:nvSpPr>
        <p:spPr>
          <a:xfrm>
            <a:off x="6172200" y="1645920"/>
            <a:ext cx="2651760" cy="1325880"/>
          </a:xfrm>
          <a:prstGeom prst="roundRect">
            <a:avLst>
              <a:gd name="adj" fmla="val 6207"/>
            </a:avLst>
          </a:prstGeom>
          <a:solidFill>
            <a:srgbClr val="ECEAE4"/>
          </a:solidFill>
          <a:ln w="12700">
            <a:solidFill>
              <a:srgbClr val="ECEAE4"/>
            </a:solidFill>
            <a:prstDash val="solid"/>
          </a:ln>
        </p:spPr>
        <p:txBody>
          <a:bodyPr/>
          <a:p/>
        </p:txBody>
      </p:sp>
      <p:sp>
        <p:nvSpPr>
          <p:cNvPr id="11" name="Text 9"/>
          <p:cNvSpPr/>
          <p:nvPr/>
        </p:nvSpPr>
        <p:spPr>
          <a:xfrm>
            <a:off x="6355080" y="1755648"/>
            <a:ext cx="2286000" cy="50292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Histograma</a:t>
            </a:r>
            <a:endParaRPr lang="en-US" sz="1600" dirty="0"/>
          </a:p>
        </p:txBody>
      </p:sp>
      <p:sp>
        <p:nvSpPr>
          <p:cNvPr id="12" name="Text 10"/>
          <p:cNvSpPr/>
          <p:nvPr/>
        </p:nvSpPr>
        <p:spPr>
          <a:xfrm>
            <a:off x="6355080" y="2286000"/>
            <a:ext cx="2286000" cy="64008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distribuția valorilor</a:t>
            </a:r>
            <a:endParaRPr lang="en-US" sz="1450" dirty="0"/>
          </a:p>
        </p:txBody>
      </p:sp>
      <p:sp>
        <p:nvSpPr>
          <p:cNvPr id="13" name="Shape 11"/>
          <p:cNvSpPr/>
          <p:nvPr/>
        </p:nvSpPr>
        <p:spPr>
          <a:xfrm>
            <a:off x="8961120" y="1645920"/>
            <a:ext cx="2651760" cy="1325880"/>
          </a:xfrm>
          <a:prstGeom prst="roundRect">
            <a:avLst>
              <a:gd name="adj" fmla="val 6207"/>
            </a:avLst>
          </a:prstGeom>
          <a:solidFill>
            <a:srgbClr val="F9F8F5"/>
          </a:solidFill>
          <a:ln w="12700">
            <a:solidFill>
              <a:srgbClr val="F9F8F5"/>
            </a:solidFill>
            <a:prstDash val="solid"/>
          </a:ln>
        </p:spPr>
        <p:txBody>
          <a:bodyPr/>
          <a:p/>
        </p:txBody>
      </p:sp>
      <p:sp>
        <p:nvSpPr>
          <p:cNvPr id="14" name="Text 12"/>
          <p:cNvSpPr/>
          <p:nvPr/>
        </p:nvSpPr>
        <p:spPr>
          <a:xfrm>
            <a:off x="9144000" y="1755648"/>
            <a:ext cx="2286000" cy="50292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Diagrama de dispersie</a:t>
            </a:r>
            <a:endParaRPr lang="en-US" sz="1600" dirty="0"/>
          </a:p>
        </p:txBody>
      </p:sp>
      <p:sp>
        <p:nvSpPr>
          <p:cNvPr id="15" name="Text 13"/>
          <p:cNvSpPr/>
          <p:nvPr/>
        </p:nvSpPr>
        <p:spPr>
          <a:xfrm>
            <a:off x="9144000" y="2286000"/>
            <a:ext cx="2286000" cy="64008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relația a două variabile</a:t>
            </a:r>
            <a:endParaRPr lang="en-US" sz="1450" dirty="0"/>
          </a:p>
        </p:txBody>
      </p:sp>
      <p:sp>
        <p:nvSpPr>
          <p:cNvPr id="16" name="Shape 14"/>
          <p:cNvSpPr/>
          <p:nvPr/>
        </p:nvSpPr>
        <p:spPr>
          <a:xfrm>
            <a:off x="594360" y="3108960"/>
            <a:ext cx="2651760" cy="1325880"/>
          </a:xfrm>
          <a:prstGeom prst="roundRect">
            <a:avLst>
              <a:gd name="adj" fmla="val 6207"/>
            </a:avLst>
          </a:prstGeom>
          <a:solidFill>
            <a:srgbClr val="ECEAE4"/>
          </a:solidFill>
          <a:ln w="12700">
            <a:solidFill>
              <a:srgbClr val="ECEAE4"/>
            </a:solidFill>
            <a:prstDash val="solid"/>
          </a:ln>
        </p:spPr>
        <p:txBody>
          <a:bodyPr/>
          <a:p/>
        </p:txBody>
      </p:sp>
      <p:sp>
        <p:nvSpPr>
          <p:cNvPr id="17" name="Text 15"/>
          <p:cNvSpPr/>
          <p:nvPr/>
        </p:nvSpPr>
        <p:spPr>
          <a:xfrm>
            <a:off x="777240" y="3218688"/>
            <a:ext cx="2286000" cy="50292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Fișa de control</a:t>
            </a:r>
            <a:endParaRPr lang="en-US" sz="1600" dirty="0"/>
          </a:p>
        </p:txBody>
      </p:sp>
      <p:sp>
        <p:nvSpPr>
          <p:cNvPr id="18" name="Text 16"/>
          <p:cNvSpPr/>
          <p:nvPr/>
        </p:nvSpPr>
        <p:spPr>
          <a:xfrm>
            <a:off x="777240" y="3749040"/>
            <a:ext cx="2286000" cy="64008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procesul în timp</a:t>
            </a:r>
            <a:endParaRPr lang="en-US" sz="1450" dirty="0"/>
          </a:p>
        </p:txBody>
      </p:sp>
      <p:sp>
        <p:nvSpPr>
          <p:cNvPr id="19" name="Shape 17"/>
          <p:cNvSpPr/>
          <p:nvPr/>
        </p:nvSpPr>
        <p:spPr>
          <a:xfrm>
            <a:off x="3383280" y="3108960"/>
            <a:ext cx="2651760" cy="1325880"/>
          </a:xfrm>
          <a:prstGeom prst="roundRect">
            <a:avLst>
              <a:gd name="adj" fmla="val 6207"/>
            </a:avLst>
          </a:prstGeom>
          <a:solidFill>
            <a:srgbClr val="F9F8F5"/>
          </a:solidFill>
          <a:ln w="12700">
            <a:solidFill>
              <a:srgbClr val="F9F8F5"/>
            </a:solidFill>
            <a:prstDash val="solid"/>
          </a:ln>
        </p:spPr>
        <p:txBody>
          <a:bodyPr/>
          <a:p/>
        </p:txBody>
      </p:sp>
      <p:sp>
        <p:nvSpPr>
          <p:cNvPr id="20" name="Text 18"/>
          <p:cNvSpPr/>
          <p:nvPr/>
        </p:nvSpPr>
        <p:spPr>
          <a:xfrm>
            <a:off x="3566160" y="3218688"/>
            <a:ext cx="2286000" cy="50292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Diagrama de flux</a:t>
            </a:r>
            <a:endParaRPr lang="en-US" sz="1600" dirty="0"/>
          </a:p>
        </p:txBody>
      </p:sp>
      <p:sp>
        <p:nvSpPr>
          <p:cNvPr id="21" name="Text 19"/>
          <p:cNvSpPr/>
          <p:nvPr/>
        </p:nvSpPr>
        <p:spPr>
          <a:xfrm>
            <a:off x="3566160" y="3749040"/>
            <a:ext cx="2286000" cy="64008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pașii procesului</a:t>
            </a:r>
            <a:endParaRPr lang="en-US" sz="1450" dirty="0"/>
          </a:p>
        </p:txBody>
      </p:sp>
      <p:sp>
        <p:nvSpPr>
          <p:cNvPr id="22" name="Shape 20"/>
          <p:cNvSpPr/>
          <p:nvPr/>
        </p:nvSpPr>
        <p:spPr>
          <a:xfrm>
            <a:off x="6172200" y="3108960"/>
            <a:ext cx="2651760" cy="1325880"/>
          </a:xfrm>
          <a:prstGeom prst="roundRect">
            <a:avLst>
              <a:gd name="adj" fmla="val 6207"/>
            </a:avLst>
          </a:prstGeom>
          <a:solidFill>
            <a:srgbClr val="ECEAE4"/>
          </a:solidFill>
          <a:ln w="12700">
            <a:solidFill>
              <a:srgbClr val="ECEAE4"/>
            </a:solidFill>
            <a:prstDash val="solid"/>
          </a:ln>
        </p:spPr>
        <p:txBody>
          <a:bodyPr/>
          <a:p/>
        </p:txBody>
      </p:sp>
      <p:sp>
        <p:nvSpPr>
          <p:cNvPr id="23" name="Text 21"/>
          <p:cNvSpPr/>
          <p:nvPr/>
        </p:nvSpPr>
        <p:spPr>
          <a:xfrm>
            <a:off x="6355080" y="3218688"/>
            <a:ext cx="2286000" cy="50292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Foaia de înregistrare</a:t>
            </a:r>
            <a:endParaRPr lang="en-US" sz="1600" dirty="0"/>
          </a:p>
        </p:txBody>
      </p:sp>
      <p:sp>
        <p:nvSpPr>
          <p:cNvPr id="24" name="Text 22"/>
          <p:cNvSpPr/>
          <p:nvPr/>
        </p:nvSpPr>
        <p:spPr>
          <a:xfrm>
            <a:off x="6355080" y="3749040"/>
            <a:ext cx="2286000" cy="64008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datele, la locul îngrijirii</a:t>
            </a:r>
            <a:endParaRPr lang="en-US" sz="1450" dirty="0"/>
          </a:p>
        </p:txBody>
      </p:sp>
      <p:sp>
        <p:nvSpPr>
          <p:cNvPr id="25" name="Text 23"/>
          <p:cNvSpPr/>
          <p:nvPr/>
        </p:nvSpPr>
        <p:spPr>
          <a:xfrm>
            <a:off x="8961120" y="3108960"/>
            <a:ext cx="2606040" cy="1325880"/>
          </a:xfrm>
          <a:prstGeom prst="rect">
            <a:avLst/>
          </a:prstGeom>
          <a:noFill/>
          <a:ln/>
        </p:spPr>
        <p:txBody>
          <a:bodyPr wrap="square" lIns="0" tIns="0" rIns="0" bIns="0" rtlCol="0" anchor="ctr"/>
          <a:lstStyle/>
          <a:p>
            <a:pPr indent="0" marL="0">
              <a:buNone/>
            </a:pPr>
            <a:r>
              <a:rPr lang="en-US" sz="1450" b="1" dirty="0">
                <a:solidFill>
                  <a:srgbClr val="B02532"/>
                </a:solidFill>
                <a:latin typeface="Palatino Linotype" pitchFamily="34" charset="0"/>
                <a:ea typeface="Palatino Linotype" pitchFamily="34" charset="-122"/>
                <a:cs typeface="Palatino Linotype" pitchFamily="34" charset="-120"/>
              </a:rPr>
              <a:t>La lucrarea practică a săptămânii: câteva dintre ele, într-o simulare de audit.</a:t>
            </a:r>
            <a:endParaRPr lang="en-US" sz="1450" dirty="0"/>
          </a:p>
        </p:txBody>
      </p:sp>
      <p:sp>
        <p:nvSpPr>
          <p:cNvPr id="26" name="Text 24"/>
          <p:cNvSpPr/>
          <p:nvPr/>
        </p:nvSpPr>
        <p:spPr>
          <a:xfrm>
            <a:off x="594360" y="4846320"/>
            <a:ext cx="10972800" cy="45720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Pentru curioși (nu se evaluează): Six Sigma, Lean și tabloul de bord echilibrat, în note.</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CAZUL SE ÎNCHIDE UNDE A ÎNCEPUT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Indicatorii sunt produși de oameni</a:t>
            </a:r>
            <a:endParaRPr lang="en-US" sz="3200" dirty="0"/>
          </a:p>
        </p:txBody>
      </p:sp>
      <p:sp>
        <p:nvSpPr>
          <p:cNvPr id="4" name="Text 2"/>
          <p:cNvSpPr/>
          <p:nvPr/>
        </p:nvSpPr>
        <p:spPr>
          <a:xfrm>
            <a:off x="594360" y="1645920"/>
            <a:ext cx="10972800" cy="146304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Evaluatorii verifică protocoale, dosare și indicatori. Indicatorii sunt produși, zi de zi, de oameni care rămân în spital, care știu ce au de făcut și care raportează o greșeală fără teamă.</a:t>
            </a:r>
            <a:endParaRPr lang="en-US" sz="1900" dirty="0"/>
          </a:p>
        </p:txBody>
      </p:sp>
      <p:sp>
        <p:nvSpPr>
          <p:cNvPr id="5" name="Shape 3"/>
          <p:cNvSpPr/>
          <p:nvPr/>
        </p:nvSpPr>
        <p:spPr>
          <a:xfrm>
            <a:off x="594360" y="3337560"/>
            <a:ext cx="10972800" cy="1097280"/>
          </a:xfrm>
          <a:prstGeom prst="roundRect">
            <a:avLst>
              <a:gd name="adj" fmla="val 7500"/>
            </a:avLst>
          </a:prstGeom>
          <a:solidFill>
            <a:srgbClr val="272A38"/>
          </a:solidFill>
          <a:ln w="12700">
            <a:solidFill>
              <a:srgbClr val="272A38"/>
            </a:solidFill>
            <a:prstDash val="solid"/>
          </a:ln>
        </p:spPr>
        <p:txBody>
          <a:bodyPr/>
          <a:p/>
        </p:txBody>
      </p:sp>
      <p:sp>
        <p:nvSpPr>
          <p:cNvPr id="6" name="Text 4"/>
          <p:cNvSpPr/>
          <p:nvPr/>
        </p:nvSpPr>
        <p:spPr>
          <a:xfrm>
            <a:off x="868680" y="3337560"/>
            <a:ext cx="10424160" cy="1097280"/>
          </a:xfrm>
          <a:prstGeom prst="rect">
            <a:avLst/>
          </a:prstGeom>
          <a:noFill/>
          <a:ln/>
        </p:spPr>
        <p:txBody>
          <a:bodyPr wrap="square" lIns="0" tIns="0" rIns="0" bIns="0" rtlCol="0" anchor="ctr"/>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Standardele ANMCS cer evaluarea periodică a culturii siguranței și a calității vieții profesionale, cu măsuri de îmbunătățire.</a:t>
            </a:r>
            <a:endParaRPr lang="en-US" sz="1700" dirty="0"/>
          </a:p>
        </p:txBody>
      </p:sp>
      <p:sp>
        <p:nvSpPr>
          <p:cNvPr id="7" name="Text 5"/>
          <p:cNvSpPr/>
          <p:nvPr/>
        </p:nvSpPr>
        <p:spPr>
          <a:xfrm>
            <a:off x="594360" y="4663440"/>
            <a:ext cx="10972800" cy="82296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Conversația Marei cu asistenta tânără face parte și ea din pregătirea secției pentru acreditare.</a:t>
            </a:r>
            <a:endParaRPr lang="en-US" sz="1900" dirty="0"/>
          </a:p>
        </p:txBody>
      </p:sp>
      <p:sp>
        <p:nvSpPr>
          <p:cNvPr id="8" name="Text 6"/>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standardele ANMCS, ediția a III-a (registru A1034, A1036).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FACEȚI DIFERIT DE MÂINE</a:t>
            </a:r>
            <a:endParaRPr lang="en-US" sz="1300" dirty="0"/>
          </a:p>
        </p:txBody>
      </p:sp>
      <p:sp>
        <p:nvSpPr>
          <p:cNvPr id="3" name="Shape 1"/>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ALEGEȚI UNA</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Luni dimineață, în stagiu</a:t>
            </a:r>
            <a:endParaRPr lang="en-US" sz="3200" dirty="0"/>
          </a:p>
        </p:txBody>
      </p:sp>
      <p:sp>
        <p:nvSpPr>
          <p:cNvPr id="6" name="Shape 4"/>
          <p:cNvSpPr/>
          <p:nvPr/>
        </p:nvSpPr>
        <p:spPr>
          <a:xfrm>
            <a:off x="594360" y="1691640"/>
            <a:ext cx="3566160" cy="3840480"/>
          </a:xfrm>
          <a:prstGeom prst="roundRect">
            <a:avLst>
              <a:gd name="adj" fmla="val 2308"/>
            </a:avLst>
          </a:prstGeom>
          <a:solidFill>
            <a:srgbClr val="ECEAE4"/>
          </a:solidFill>
          <a:ln w="12700">
            <a:solidFill>
              <a:srgbClr val="ECEAE4"/>
            </a:solidFill>
            <a:prstDash val="solid"/>
          </a:ln>
        </p:spPr>
        <p:txBody>
          <a:bodyPr/>
          <a:p/>
        </p:txBody>
      </p:sp>
      <p:sp>
        <p:nvSpPr>
          <p:cNvPr id="7" name="Shape 5"/>
          <p:cNvSpPr/>
          <p:nvPr/>
        </p:nvSpPr>
        <p:spPr>
          <a:xfrm>
            <a:off x="594360" y="1691640"/>
            <a:ext cx="3566160" cy="73152"/>
          </a:xfrm>
          <a:prstGeom prst="rect">
            <a:avLst/>
          </a:prstGeom>
          <a:solidFill>
            <a:srgbClr val="0E7C6B"/>
          </a:solidFill>
          <a:ln w="12700">
            <a:solidFill>
              <a:srgbClr val="0E7C6B"/>
            </a:solidFill>
            <a:prstDash val="solid"/>
          </a:ln>
        </p:spPr>
        <p:txBody>
          <a:bodyPr/>
          <a:p/>
        </p:txBody>
      </p:sp>
      <p:sp>
        <p:nvSpPr>
          <p:cNvPr id="8" name="Text 6"/>
          <p:cNvSpPr/>
          <p:nvPr/>
        </p:nvSpPr>
        <p:spPr>
          <a:xfrm>
            <a:off x="822960" y="1892808"/>
            <a:ext cx="3108960" cy="68580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Când delegați</a:t>
            </a:r>
            <a:endParaRPr lang="en-US" sz="1900" dirty="0"/>
          </a:p>
        </p:txBody>
      </p:sp>
      <p:sp>
        <p:nvSpPr>
          <p:cNvPr id="9" name="Text 7"/>
          <p:cNvSpPr/>
          <p:nvPr/>
        </p:nvSpPr>
        <p:spPr>
          <a:xfrm>
            <a:off x="822960" y="2560320"/>
            <a:ext cx="3108960" cy="28346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Și când vi se deleagă: verificați cele cinci condiții. Cereți sau dați instrucțiuni: ce se urmărește și când se sună.</a:t>
            </a:r>
            <a:endParaRPr lang="en-US" sz="1600" dirty="0"/>
          </a:p>
        </p:txBody>
      </p:sp>
      <p:sp>
        <p:nvSpPr>
          <p:cNvPr id="10" name="Shape 8"/>
          <p:cNvSpPr/>
          <p:nvPr/>
        </p:nvSpPr>
        <p:spPr>
          <a:xfrm>
            <a:off x="4297680" y="1691640"/>
            <a:ext cx="3566160" cy="3840480"/>
          </a:xfrm>
          <a:prstGeom prst="roundRect">
            <a:avLst>
              <a:gd name="adj" fmla="val 2308"/>
            </a:avLst>
          </a:prstGeom>
          <a:solidFill>
            <a:srgbClr val="F9F8F5"/>
          </a:solidFill>
          <a:ln w="12700">
            <a:solidFill>
              <a:srgbClr val="F9F8F5"/>
            </a:solidFill>
            <a:prstDash val="solid"/>
          </a:ln>
        </p:spPr>
        <p:txBody>
          <a:bodyPr/>
          <a:p/>
        </p:txBody>
      </p:sp>
      <p:sp>
        <p:nvSpPr>
          <p:cNvPr id="11" name="Shape 9"/>
          <p:cNvSpPr/>
          <p:nvPr/>
        </p:nvSpPr>
        <p:spPr>
          <a:xfrm>
            <a:off x="4297680" y="1691640"/>
            <a:ext cx="3566160" cy="73152"/>
          </a:xfrm>
          <a:prstGeom prst="rect">
            <a:avLst/>
          </a:prstGeom>
          <a:solidFill>
            <a:srgbClr val="B02532"/>
          </a:solidFill>
          <a:ln w="12700">
            <a:solidFill>
              <a:srgbClr val="B02532"/>
            </a:solidFill>
            <a:prstDash val="solid"/>
          </a:ln>
        </p:spPr>
        <p:txBody>
          <a:bodyPr/>
          <a:p/>
        </p:txBody>
      </p:sp>
      <p:sp>
        <p:nvSpPr>
          <p:cNvPr id="12" name="Text 10"/>
          <p:cNvSpPr/>
          <p:nvPr/>
        </p:nvSpPr>
        <p:spPr>
          <a:xfrm>
            <a:off x="4526280" y="1892808"/>
            <a:ext cx="3108960" cy="68580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Când nu sunteți de acord</a:t>
            </a:r>
            <a:endParaRPr lang="en-US" sz="1900" dirty="0"/>
          </a:p>
        </p:txBody>
      </p:sp>
      <p:sp>
        <p:nvSpPr>
          <p:cNvPr id="13" name="Text 11"/>
          <p:cNvSpPr/>
          <p:nvPr/>
        </p:nvSpPr>
        <p:spPr>
          <a:xfrm>
            <a:off x="4526280" y="2560320"/>
            <a:ext cx="3108960" cy="28346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Ce stil folosiți: evitați, cedați, impuneți sau colaborați? Se potrivește situației?</a:t>
            </a:r>
            <a:endParaRPr lang="en-US" sz="1600" dirty="0"/>
          </a:p>
        </p:txBody>
      </p:sp>
      <p:sp>
        <p:nvSpPr>
          <p:cNvPr id="14" name="Shape 12"/>
          <p:cNvSpPr/>
          <p:nvPr/>
        </p:nvSpPr>
        <p:spPr>
          <a:xfrm>
            <a:off x="8001000" y="1691640"/>
            <a:ext cx="3566160" cy="3840480"/>
          </a:xfrm>
          <a:prstGeom prst="roundRect">
            <a:avLst>
              <a:gd name="adj" fmla="val 2308"/>
            </a:avLst>
          </a:prstGeom>
          <a:solidFill>
            <a:srgbClr val="ECEAE4"/>
          </a:solidFill>
          <a:ln w="12700">
            <a:solidFill>
              <a:srgbClr val="ECEAE4"/>
            </a:solidFill>
            <a:prstDash val="solid"/>
          </a:ln>
        </p:spPr>
        <p:txBody>
          <a:bodyPr/>
          <a:p/>
        </p:txBody>
      </p:sp>
      <p:sp>
        <p:nvSpPr>
          <p:cNvPr id="15" name="Shape 13"/>
          <p:cNvSpPr/>
          <p:nvPr/>
        </p:nvSpPr>
        <p:spPr>
          <a:xfrm>
            <a:off x="8001000" y="1691640"/>
            <a:ext cx="3566160" cy="73152"/>
          </a:xfrm>
          <a:prstGeom prst="rect">
            <a:avLst/>
          </a:prstGeom>
          <a:solidFill>
            <a:srgbClr val="4A2D8C"/>
          </a:solidFill>
          <a:ln w="12700">
            <a:solidFill>
              <a:srgbClr val="4A2D8C"/>
            </a:solidFill>
            <a:prstDash val="solid"/>
          </a:ln>
        </p:spPr>
        <p:txBody>
          <a:bodyPr/>
          <a:p/>
        </p:txBody>
      </p:sp>
      <p:sp>
        <p:nvSpPr>
          <p:cNvPr id="16" name="Text 14"/>
          <p:cNvSpPr/>
          <p:nvPr/>
        </p:nvSpPr>
        <p:spPr>
          <a:xfrm>
            <a:off x="8229600" y="1892808"/>
            <a:ext cx="3108960" cy="685800"/>
          </a:xfrm>
          <a:prstGeom prst="rect">
            <a:avLst/>
          </a:prstGeom>
          <a:noFill/>
          <a:ln/>
        </p:spPr>
        <p:txBody>
          <a:bodyPr wrap="square" lIns="0" tIns="0" rIns="0" bIns="0" rtlCol="0" anchor="t"/>
          <a:lstStyle/>
          <a:p>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Când documentați</a:t>
            </a:r>
            <a:endParaRPr lang="en-US" sz="1900" dirty="0"/>
          </a:p>
        </p:txBody>
      </p:sp>
      <p:sp>
        <p:nvSpPr>
          <p:cNvPr id="17" name="Text 15"/>
          <p:cNvSpPr/>
          <p:nvPr/>
        </p:nvSpPr>
        <p:spPr>
          <a:xfrm>
            <a:off x="8229600" y="2560320"/>
            <a:ext cx="3108960" cy="28346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Documentul este dovada procesului: ce nu este scris nu s-a făcut.</a:t>
            </a:r>
            <a:endParaRPr lang="en-US"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RECAPITULARE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rămâne din cursul de azi</a:t>
            </a:r>
            <a:endParaRPr lang="en-US" sz="3200" dirty="0"/>
          </a:p>
        </p:txBody>
      </p:sp>
      <p:sp>
        <p:nvSpPr>
          <p:cNvPr id="4" name="Shape 2"/>
          <p:cNvSpPr/>
          <p:nvPr/>
        </p:nvSpPr>
        <p:spPr>
          <a:xfrm>
            <a:off x="594360" y="1554480"/>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5" name="Shape 3"/>
          <p:cNvSpPr/>
          <p:nvPr/>
        </p:nvSpPr>
        <p:spPr>
          <a:xfrm>
            <a:off x="868680" y="1664208"/>
            <a:ext cx="420624" cy="420624"/>
          </a:xfrm>
          <a:prstGeom prst="ellipse">
            <a:avLst/>
          </a:prstGeom>
          <a:solidFill>
            <a:srgbClr val="FFC24B"/>
          </a:solidFill>
          <a:ln/>
        </p:spPr>
        <p:txBody>
          <a:bodyPr/>
          <a:p/>
        </p:txBody>
      </p:sp>
      <p:sp>
        <p:nvSpPr>
          <p:cNvPr id="6" name="Text 4"/>
          <p:cNvSpPr/>
          <p:nvPr/>
        </p:nvSpPr>
        <p:spPr>
          <a:xfrm>
            <a:off x="868680" y="16642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554480"/>
            <a:ext cx="9829800" cy="6400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Managerul este numit; liderul este acceptat.</a:t>
            </a:r>
            <a:endParaRPr lang="en-US" sz="1600" dirty="0"/>
          </a:p>
        </p:txBody>
      </p:sp>
      <p:sp>
        <p:nvSpPr>
          <p:cNvPr id="8" name="Shape 6"/>
          <p:cNvSpPr/>
          <p:nvPr/>
        </p:nvSpPr>
        <p:spPr>
          <a:xfrm>
            <a:off x="594360" y="2304288"/>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9" name="Shape 7"/>
          <p:cNvSpPr/>
          <p:nvPr/>
        </p:nvSpPr>
        <p:spPr>
          <a:xfrm>
            <a:off x="868680" y="2414016"/>
            <a:ext cx="420624" cy="420624"/>
          </a:xfrm>
          <a:prstGeom prst="ellipse">
            <a:avLst/>
          </a:prstGeom>
          <a:solidFill>
            <a:srgbClr val="FFC24B"/>
          </a:solidFill>
          <a:ln/>
        </p:spPr>
        <p:txBody>
          <a:bodyPr/>
          <a:p/>
        </p:txBody>
      </p:sp>
      <p:sp>
        <p:nvSpPr>
          <p:cNvPr id="10" name="Text 8"/>
          <p:cNvSpPr/>
          <p:nvPr/>
        </p:nvSpPr>
        <p:spPr>
          <a:xfrm>
            <a:off x="868680" y="24140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304288"/>
            <a:ext cx="9829800" cy="6400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Stilul se alege după pregătirea celui condus.</a:t>
            </a:r>
            <a:endParaRPr lang="en-US" sz="1600" dirty="0"/>
          </a:p>
        </p:txBody>
      </p:sp>
      <p:sp>
        <p:nvSpPr>
          <p:cNvPr id="12" name="Shape 10"/>
          <p:cNvSpPr/>
          <p:nvPr/>
        </p:nvSpPr>
        <p:spPr>
          <a:xfrm>
            <a:off x="594360" y="3054096"/>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13" name="Shape 11"/>
          <p:cNvSpPr/>
          <p:nvPr/>
        </p:nvSpPr>
        <p:spPr>
          <a:xfrm>
            <a:off x="868680" y="3163824"/>
            <a:ext cx="420624" cy="420624"/>
          </a:xfrm>
          <a:prstGeom prst="ellipse">
            <a:avLst/>
          </a:prstGeom>
          <a:solidFill>
            <a:srgbClr val="FFC24B"/>
          </a:solidFill>
          <a:ln/>
        </p:spPr>
        <p:txBody>
          <a:bodyPr/>
          <a:p/>
        </p:txBody>
      </p:sp>
      <p:sp>
        <p:nvSpPr>
          <p:cNvPr id="14" name="Text 12"/>
          <p:cNvSpPr/>
          <p:nvPr/>
        </p:nvSpPr>
        <p:spPr>
          <a:xfrm>
            <a:off x="868680" y="31638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054096"/>
            <a:ext cx="9829800" cy="6400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Cine deleagă rămâne răspunzător; predarea între asistenți nu este delegare.</a:t>
            </a:r>
            <a:endParaRPr lang="en-US" sz="1600" dirty="0"/>
          </a:p>
        </p:txBody>
      </p:sp>
      <p:sp>
        <p:nvSpPr>
          <p:cNvPr id="16" name="Shape 14"/>
          <p:cNvSpPr/>
          <p:nvPr/>
        </p:nvSpPr>
        <p:spPr>
          <a:xfrm>
            <a:off x="594360" y="3803904"/>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17" name="Shape 15"/>
          <p:cNvSpPr/>
          <p:nvPr/>
        </p:nvSpPr>
        <p:spPr>
          <a:xfrm>
            <a:off x="868680" y="3913632"/>
            <a:ext cx="420624" cy="420624"/>
          </a:xfrm>
          <a:prstGeom prst="ellipse">
            <a:avLst/>
          </a:prstGeom>
          <a:solidFill>
            <a:srgbClr val="FFC24B"/>
          </a:solidFill>
          <a:ln/>
        </p:spPr>
        <p:txBody>
          <a:bodyPr/>
          <a:p/>
        </p:txBody>
      </p:sp>
      <p:sp>
        <p:nvSpPr>
          <p:cNvPr id="18" name="Text 16"/>
          <p:cNvSpPr/>
          <p:nvPr/>
        </p:nvSpPr>
        <p:spPr>
          <a:xfrm>
            <a:off x="868680" y="39136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3803904"/>
            <a:ext cx="9829800" cy="6400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Conflictele: competiție, colaborare, compromis, evitare, acomodare.</a:t>
            </a:r>
            <a:endParaRPr lang="en-US" sz="1600" dirty="0"/>
          </a:p>
        </p:txBody>
      </p:sp>
      <p:sp>
        <p:nvSpPr>
          <p:cNvPr id="20" name="Shape 18"/>
          <p:cNvSpPr/>
          <p:nvPr/>
        </p:nvSpPr>
        <p:spPr>
          <a:xfrm>
            <a:off x="594360" y="4553712"/>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21" name="Shape 19"/>
          <p:cNvSpPr/>
          <p:nvPr/>
        </p:nvSpPr>
        <p:spPr>
          <a:xfrm>
            <a:off x="868680" y="4663440"/>
            <a:ext cx="420624" cy="420624"/>
          </a:xfrm>
          <a:prstGeom prst="ellipse">
            <a:avLst/>
          </a:prstGeom>
          <a:solidFill>
            <a:srgbClr val="FFC24B"/>
          </a:solidFill>
          <a:ln/>
        </p:spPr>
        <p:txBody>
          <a:bodyPr/>
          <a:p/>
        </p:txBody>
      </p:sp>
      <p:sp>
        <p:nvSpPr>
          <p:cNvPr id="22" name="Text 20"/>
          <p:cNvSpPr/>
          <p:nvPr/>
        </p:nvSpPr>
        <p:spPr>
          <a:xfrm>
            <a:off x="868680" y="46634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4553712"/>
            <a:ext cx="9829800" cy="6400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Calitatea: conformarea la standardele ANMCS; structură, proces, rezultat.</a:t>
            </a:r>
            <a:endParaRPr lang="en-US" sz="1600" dirty="0"/>
          </a:p>
        </p:txBody>
      </p:sp>
      <p:sp>
        <p:nvSpPr>
          <p:cNvPr id="24" name="Shape 22"/>
          <p:cNvSpPr/>
          <p:nvPr/>
        </p:nvSpPr>
        <p:spPr>
          <a:xfrm>
            <a:off x="594360" y="5303520"/>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25" name="Shape 23"/>
          <p:cNvSpPr/>
          <p:nvPr/>
        </p:nvSpPr>
        <p:spPr>
          <a:xfrm>
            <a:off x="868680" y="5413248"/>
            <a:ext cx="420624" cy="420624"/>
          </a:xfrm>
          <a:prstGeom prst="ellipse">
            <a:avLst/>
          </a:prstGeom>
          <a:solidFill>
            <a:srgbClr val="FFC24B"/>
          </a:solidFill>
          <a:ln/>
        </p:spPr>
        <p:txBody>
          <a:bodyPr/>
          <a:p/>
        </p:txBody>
      </p:sp>
      <p:sp>
        <p:nvSpPr>
          <p:cNvPr id="26" name="Text 24"/>
          <p:cNvSpPr/>
          <p:nvPr/>
        </p:nvSpPr>
        <p:spPr>
          <a:xfrm>
            <a:off x="868680" y="54132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6</a:t>
            </a:r>
            <a:endParaRPr lang="en-US" sz="1400" dirty="0"/>
          </a:p>
        </p:txBody>
      </p:sp>
      <p:sp>
        <p:nvSpPr>
          <p:cNvPr id="27" name="Text 25"/>
          <p:cNvSpPr/>
          <p:nvPr/>
        </p:nvSpPr>
        <p:spPr>
          <a:xfrm>
            <a:off x="1508760" y="5303520"/>
            <a:ext cx="9829800" cy="6400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Acreditarea: ANMCS, cicluri de cinci ani, trei referințe; îmbunătățirea: PDCA.</a:t>
            </a:r>
            <a:endParaRPr lang="en-US" sz="1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603504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60350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CU CINCI MINUTE ÎNAINTE DE FINAL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58368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 fost util?</a:t>
            </a:r>
            <a:endParaRPr lang="en-US" sz="22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58368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Unde te-am pierdut?</a:t>
            </a:r>
            <a:endParaRPr lang="en-US" sz="22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58368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ai putea folosi mâine?</a:t>
            </a:r>
            <a:endParaRPr lang="en-US" sz="22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6" name="Text 14"/>
          <p:cNvSpPr/>
          <p:nvPr/>
        </p:nvSpPr>
        <p:spPr>
          <a:xfrm>
            <a:off x="594360" y="5349240"/>
            <a:ext cx="10972800" cy="73152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Răspunsurile se citesc înaintea cursului următor.</a:t>
            </a:r>
            <a:endParaRPr lang="en-US" sz="1700" dirty="0"/>
          </a:p>
        </p:txBody>
      </p:sp>
      <p:pic>
        <p:nvPicPr>
          <p:cNvPr id="17" name="Picture 16" descr="Mentimeter_SPM_AMGIV_C04.png"/>
          <p:cNvPicPr>
            <a:picLocks noChangeAspect="1"/>
          </p:cNvPicPr>
          <p:nvPr/>
        </p:nvPicPr>
        <p:blipFill>
          <a:blip r:embed="rId3"/>
          <a:stretch>
            <a:fillRect/>
          </a:stretch>
        </p:blipFill>
        <p:spPr>
          <a:xfrm>
            <a:off x="9137650" y="2514600"/>
            <a:ext cx="1841500" cy="1841500"/>
          </a:xfrm>
          <a:prstGeom prst="rect">
            <a:avLst/>
          </a:prstGeom>
        </p:spPr>
      </p:pic>
      <p:sp>
        <p:nvSpPr>
          <p:cNvPr id="18" name="TextBox 17"/>
          <p:cNvSpPr txBox="1"/>
          <p:nvPr/>
        </p:nvSpPr>
        <p:spPr>
          <a:xfrm>
            <a:off x="8549640" y="4394200"/>
            <a:ext cx="301752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Sesiunea N - [TITLU]</dc:title>
  <dc:subject>PptxGenJS Presentation</dc:subject>
  <dc:creator>Conf. Univ. Dr. Adrian Pana</dc:creator>
  <cp:lastModifiedBy>Conf. Univ. Dr. Adrian Pana</cp:lastModifiedBy>
  <cp:revision>1</cp:revision>
  <dcterms:created xsi:type="dcterms:W3CDTF">2026-10-17T11:20:59Z</dcterms:created>
  <dcterms:modified xsi:type="dcterms:W3CDTF">2026-10-17T11:20:59Z</dcterms:modified>
  <cp:keywords>sursa_amprenta=cb7ba06f1f755ca5; proiectie</cp:keywords>
</cp:coreProperties>
</file>