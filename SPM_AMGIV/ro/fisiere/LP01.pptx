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AMGIV/active/img/cluj_napoca_commons.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126480" cy="6858000"/>
          </a:xfrm>
          <a:prstGeom prst="rect">
            <a:avLst/>
          </a:prstGeom>
          <a:solidFill>
            <a:srgbClr val="11121A">
              <a:alpha val="88000"/>
            </a:srgbClr>
          </a:solidFill>
          <a:ln w="12700">
            <a:solidFill>
              <a:srgbClr val="11121A"/>
            </a:solidFill>
            <a:prstDash val="solid"/>
          </a:ln>
        </p:spPr>
      </p:sp>
      <p:sp>
        <p:nvSpPr>
          <p:cNvPr id="4" name="Shape 1"/>
          <p:cNvSpPr/>
          <p:nvPr/>
        </p:nvSpPr>
        <p:spPr>
          <a:xfrm>
            <a:off x="640080" y="731520"/>
            <a:ext cx="4480560" cy="329184"/>
          </a:xfrm>
          <a:prstGeom prst="roundRect">
            <a:avLst>
              <a:gd name="adj" fmla="val 50000"/>
            </a:avLst>
          </a:prstGeom>
          <a:solidFill>
            <a:srgbClr val="FF4757"/>
          </a:solidFill>
          <a:ln w="12700">
            <a:solidFill>
              <a:srgbClr val="FF4757"/>
            </a:solidFill>
            <a:prstDash val="solid"/>
          </a:ln>
        </p:spPr>
      </p:sp>
      <p:sp>
        <p:nvSpPr>
          <p:cNvPr id="5" name="Text 2"/>
          <p:cNvSpPr/>
          <p:nvPr/>
        </p:nvSpPr>
        <p:spPr>
          <a:xfrm>
            <a:off x="640080" y="731520"/>
            <a:ext cx="44805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LUCRAREA PRACTICĂ · AMG, ANUL IV</a:t>
            </a:r>
            <a:endParaRPr lang="en-US" sz="1300" dirty="0"/>
          </a:p>
        </p:txBody>
      </p:sp>
      <p:sp>
        <p:nvSpPr>
          <p:cNvPr id="6" name="Text 3"/>
          <p:cNvSpPr/>
          <p:nvPr/>
        </p:nvSpPr>
        <p:spPr>
          <a:xfrm>
            <a:off x="640080" y="1371600"/>
            <a:ext cx="5120640" cy="146304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Profilul de sănătate al comunității</a:t>
            </a:r>
            <a:endParaRPr lang="en-US" sz="3800" dirty="0"/>
          </a:p>
        </p:txBody>
      </p:sp>
      <p:sp>
        <p:nvSpPr>
          <p:cNvPr id="7" name="Text 4"/>
          <p:cNvSpPr/>
          <p:nvPr/>
        </p:nvSpPr>
        <p:spPr>
          <a:xfrm>
            <a:off x="640080" y="2926080"/>
            <a:ext cx="5120640" cy="109728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Ce spun cifrele despre locuitorii județului Cluj</a:t>
            </a:r>
            <a:endParaRPr lang="en-US" sz="2400" dirty="0"/>
          </a:p>
        </p:txBody>
      </p:sp>
      <p:sp>
        <p:nvSpPr>
          <p:cNvPr id="8" name="Shape 5"/>
          <p:cNvSpPr/>
          <p:nvPr/>
        </p:nvSpPr>
        <p:spPr>
          <a:xfrm>
            <a:off x="667512" y="4206240"/>
            <a:ext cx="1280160" cy="27432"/>
          </a:xfrm>
          <a:prstGeom prst="rect">
            <a:avLst/>
          </a:prstGeom>
          <a:solidFill>
            <a:srgbClr val="FF4757"/>
          </a:solidFill>
          <a:ln w="12700">
            <a:solidFill>
              <a:srgbClr val="FF4757"/>
            </a:solidFill>
            <a:prstDash val="solid"/>
          </a:ln>
        </p:spPr>
      </p:sp>
      <p:sp>
        <p:nvSpPr>
          <p:cNvPr id="9" name="Text 6"/>
          <p:cNvSpPr/>
          <p:nvPr/>
        </p:nvSpPr>
        <p:spPr>
          <a:xfrm>
            <a:off x="640080" y="4389120"/>
            <a:ext cx="5120640" cy="118872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Calculul și interpretarea indicatorilor epidemiologici</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Sănătate publică și management · Conf. univ. dr. Adrian Pană · UMF Cluj-Napoca</a:t>
            </a:r>
            <a:endParaRPr lang="en-US" sz="1400" dirty="0"/>
          </a:p>
        </p:txBody>
      </p:sp>
      <p:sp>
        <p:nvSpPr>
          <p:cNvPr id="10" name="Shape 7"/>
          <p:cNvSpPr/>
          <p:nvPr/>
        </p:nvSpPr>
        <p:spPr>
          <a:xfrm>
            <a:off x="7863840" y="6492240"/>
            <a:ext cx="4206240" cy="256032"/>
          </a:xfrm>
          <a:prstGeom prst="rect">
            <a:avLst/>
          </a:prstGeom>
          <a:solidFill>
            <a:srgbClr val="11121A">
              <a:alpha val="70000"/>
            </a:srgbClr>
          </a:solidFill>
          <a:ln w="12700">
            <a:solidFill>
              <a:srgbClr val="11121A"/>
            </a:solidFill>
            <a:prstDash val="solid"/>
          </a:ln>
        </p:spPr>
      </p:sp>
      <p:sp>
        <p:nvSpPr>
          <p:cNvPr id="11" name="Text 8"/>
          <p:cNvSpPr/>
          <p:nvPr/>
        </p:nvSpPr>
        <p:spPr>
          <a:xfrm>
            <a:off x="7955280" y="6510528"/>
            <a:ext cx="4069080" cy="219456"/>
          </a:xfrm>
          <a:prstGeom prst="rect">
            <a:avLst/>
          </a:prstGeom>
          <a:noFill/>
          <a:ln/>
        </p:spPr>
        <p:txBody>
          <a:bodyPr wrap="square" lIns="0" tIns="0" rIns="0" bIns="0" rtlCol="0" anchor="ctr"/>
          <a:lstStyle/>
          <a:p>
            <a:pPr indent="0" marL="0">
              <a:buNone/>
            </a:pPr>
            <a:r>
              <a:rPr lang="en-US" sz="850" i="1" dirty="0">
                <a:solidFill>
                  <a:srgbClr val="E6E8EF"/>
                </a:solidFill>
                <a:latin typeface="Palatino Linotype" pitchFamily="34" charset="0"/>
                <a:ea typeface="Palatino Linotype" pitchFamily="34" charset="-122"/>
                <a:cs typeface="Palatino Linotype" pitchFamily="34" charset="-120"/>
              </a:rPr>
              <a:t>Cluj-Napoca · Foto: GiuliaTrei · CC BY-SA 3.0 RO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GRUPĂ</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DE PORNIRE</a:t>
            </a:r>
            <a:endParaRPr lang="en-US" sz="1300" dirty="0"/>
          </a:p>
        </p:txBody>
      </p:sp>
      <p:sp>
        <p:nvSpPr>
          <p:cNvPr id="5" name="Text 3"/>
          <p:cNvSpPr/>
          <p:nvPr/>
        </p:nvSpPr>
        <p:spPr>
          <a:xfrm>
            <a:off x="594360" y="1188720"/>
            <a:ext cx="10607040" cy="292608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 ar trebui să știe o echipă de îngrijire despre locuitorii unui județ înainte de a organiza un serviciu de îngrijire la domiciliu sau o campanie de vaccinare?</a:t>
            </a:r>
            <a:endParaRPr lang="en-US" sz="3400" dirty="0"/>
          </a:p>
        </p:txBody>
      </p:sp>
      <p:sp>
        <p:nvSpPr>
          <p:cNvPr id="6" name="Shape 4"/>
          <p:cNvSpPr/>
          <p:nvPr/>
        </p:nvSpPr>
        <p:spPr>
          <a:xfrm>
            <a:off x="621792" y="4434840"/>
            <a:ext cx="1280160" cy="27432"/>
          </a:xfrm>
          <a:prstGeom prst="rect">
            <a:avLst/>
          </a:prstGeom>
          <a:solidFill>
            <a:srgbClr val="FFC24B"/>
          </a:solidFill>
          <a:ln w="12700">
            <a:solidFill>
              <a:srgbClr val="FFC24B"/>
            </a:solidFill>
            <a:prstDash val="solid"/>
          </a:ln>
        </p:spPr>
      </p:sp>
      <p:sp>
        <p:nvSpPr>
          <p:cNvPr id="7" name="Text 5"/>
          <p:cNvSpPr/>
          <p:nvPr/>
        </p:nvSpPr>
        <p:spPr>
          <a:xfrm>
            <a:off x="594360" y="4663440"/>
            <a:ext cx="9601200" cy="914400"/>
          </a:xfrm>
          <a:prstGeom prst="rect">
            <a:avLst/>
          </a:prstGeom>
          <a:noFill/>
          <a:ln/>
        </p:spPr>
        <p:txBody>
          <a:bodyPr wrap="square" lIns="0" tIns="0" rIns="0" bIns="0" rtlCol="0" anchor="t"/>
          <a:lstStyle/>
          <a:p>
            <a:pPr indent="0" marL="0">
              <a:buNone/>
            </a:pPr>
            <a:r>
              <a:rPr lang="en-US" sz="1900" dirty="0">
                <a:solidFill>
                  <a:srgbClr val="959BB0"/>
                </a:solidFill>
                <a:latin typeface="Palatino Linotype" pitchFamily="34" charset="0"/>
                <a:ea typeface="Palatino Linotype" pitchFamily="34" charset="-122"/>
                <a:cs typeface="Palatino Linotype" pitchFamily="34" charset="-120"/>
              </a:rPr>
              <a:t>Notați trei lucruri. La sfârșitul lucrării le veți regăsi, transformate în indicatori, în fișa de evaluare comunitară a județului.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OBIECTIVELE LUCRĂRII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La finalul lucrării veți putea</a:t>
            </a:r>
            <a:endParaRPr lang="en-US" sz="3100" dirty="0"/>
          </a:p>
        </p:txBody>
      </p:sp>
      <p:sp>
        <p:nvSpPr>
          <p:cNvPr id="4" name="Shape 2"/>
          <p:cNvSpPr/>
          <p:nvPr/>
        </p:nvSpPr>
        <p:spPr>
          <a:xfrm>
            <a:off x="594360" y="1600200"/>
            <a:ext cx="10972800" cy="932688"/>
          </a:xfrm>
          <a:prstGeom prst="roundRect">
            <a:avLst>
              <a:gd name="adj" fmla="val 8824"/>
            </a:avLst>
          </a:prstGeom>
          <a:solidFill>
            <a:srgbClr val="ECEAE4"/>
          </a:solidFill>
          <a:ln w="12700">
            <a:solidFill>
              <a:srgbClr val="ECEAE4"/>
            </a:solidFill>
            <a:prstDash val="solid"/>
          </a:ln>
        </p:spPr>
      </p:sp>
      <p:sp>
        <p:nvSpPr>
          <p:cNvPr id="5" name="Shape 3"/>
          <p:cNvSpPr/>
          <p:nvPr/>
        </p:nvSpPr>
        <p:spPr>
          <a:xfrm>
            <a:off x="868680" y="1856232"/>
            <a:ext cx="420624" cy="420624"/>
          </a:xfrm>
          <a:prstGeom prst="ellipse">
            <a:avLst/>
          </a:prstGeom>
          <a:solidFill>
            <a:srgbClr val="B02532"/>
          </a:solidFill>
          <a:ln/>
        </p:spPr>
      </p:sp>
      <p:sp>
        <p:nvSpPr>
          <p:cNvPr id="6" name="Text 4"/>
          <p:cNvSpPr/>
          <p:nvPr/>
        </p:nvSpPr>
        <p:spPr>
          <a:xfrm>
            <a:off x="868680" y="1856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93268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Calcula, din numere absolute, indicatorii profilului: natalitatea, mortalitatea, sporul natural, mortalitatea infantilă, structura pe vârste, personalul medical.</a:t>
            </a:r>
            <a:endParaRPr lang="en-US" sz="1700" dirty="0"/>
          </a:p>
        </p:txBody>
      </p:sp>
      <p:sp>
        <p:nvSpPr>
          <p:cNvPr id="8" name="Shape 6"/>
          <p:cNvSpPr/>
          <p:nvPr/>
        </p:nvSpPr>
        <p:spPr>
          <a:xfrm>
            <a:off x="594360" y="2679192"/>
            <a:ext cx="10972800" cy="932688"/>
          </a:xfrm>
          <a:prstGeom prst="roundRect">
            <a:avLst>
              <a:gd name="adj" fmla="val 8824"/>
            </a:avLst>
          </a:prstGeom>
          <a:solidFill>
            <a:srgbClr val="ECEAE4"/>
          </a:solidFill>
          <a:ln w="12700">
            <a:solidFill>
              <a:srgbClr val="ECEAE4"/>
            </a:solidFill>
            <a:prstDash val="solid"/>
          </a:ln>
        </p:spPr>
      </p:sp>
      <p:sp>
        <p:nvSpPr>
          <p:cNvPr id="9" name="Shape 7"/>
          <p:cNvSpPr/>
          <p:nvPr/>
        </p:nvSpPr>
        <p:spPr>
          <a:xfrm>
            <a:off x="868680" y="2935224"/>
            <a:ext cx="420624" cy="420624"/>
          </a:xfrm>
          <a:prstGeom prst="ellipse">
            <a:avLst/>
          </a:prstGeom>
          <a:solidFill>
            <a:srgbClr val="B02532"/>
          </a:solidFill>
          <a:ln/>
        </p:spPr>
      </p:sp>
      <p:sp>
        <p:nvSpPr>
          <p:cNvPr id="10" name="Text 8"/>
          <p:cNvSpPr/>
          <p:nvPr/>
        </p:nvSpPr>
        <p:spPr>
          <a:xfrm>
            <a:off x="868680" y="29352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679192"/>
            <a:ext cx="9829800" cy="93268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Compara județul cu țara și formula constatări sprijinite pe date, împreună cu limitele lor.</a:t>
            </a:r>
            <a:endParaRPr lang="en-US" sz="1700" dirty="0"/>
          </a:p>
        </p:txBody>
      </p:sp>
      <p:sp>
        <p:nvSpPr>
          <p:cNvPr id="12" name="Shape 10"/>
          <p:cNvSpPr/>
          <p:nvPr/>
        </p:nvSpPr>
        <p:spPr>
          <a:xfrm>
            <a:off x="594360" y="3758184"/>
            <a:ext cx="10972800" cy="932688"/>
          </a:xfrm>
          <a:prstGeom prst="roundRect">
            <a:avLst>
              <a:gd name="adj" fmla="val 8824"/>
            </a:avLst>
          </a:prstGeom>
          <a:solidFill>
            <a:srgbClr val="ECEAE4"/>
          </a:solidFill>
          <a:ln w="12700">
            <a:solidFill>
              <a:srgbClr val="ECEAE4"/>
            </a:solidFill>
            <a:prstDash val="solid"/>
          </a:ln>
        </p:spPr>
      </p:sp>
      <p:sp>
        <p:nvSpPr>
          <p:cNvPr id="13" name="Shape 11"/>
          <p:cNvSpPr/>
          <p:nvPr/>
        </p:nvSpPr>
        <p:spPr>
          <a:xfrm>
            <a:off x="868680" y="4014216"/>
            <a:ext cx="420624" cy="420624"/>
          </a:xfrm>
          <a:prstGeom prst="ellipse">
            <a:avLst/>
          </a:prstGeom>
          <a:solidFill>
            <a:srgbClr val="B02532"/>
          </a:solidFill>
          <a:ln/>
        </p:spPr>
      </p:sp>
      <p:sp>
        <p:nvSpPr>
          <p:cNvPr id="14" name="Text 12"/>
          <p:cNvSpPr/>
          <p:nvPr/>
        </p:nvSpPr>
        <p:spPr>
          <a:xfrm>
            <a:off x="868680" y="40142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758184"/>
            <a:ext cx="9829800" cy="93268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Calcula incidența, prevalența și ratele specifice pe vârste, alegând numitorul potrivit.</a:t>
            </a:r>
            <a:endParaRPr lang="en-US" sz="1700" dirty="0"/>
          </a:p>
        </p:txBody>
      </p:sp>
      <p:sp>
        <p:nvSpPr>
          <p:cNvPr id="16" name="Shape 14"/>
          <p:cNvSpPr/>
          <p:nvPr/>
        </p:nvSpPr>
        <p:spPr>
          <a:xfrm>
            <a:off x="594360" y="4837176"/>
            <a:ext cx="10972800" cy="932688"/>
          </a:xfrm>
          <a:prstGeom prst="roundRect">
            <a:avLst>
              <a:gd name="adj" fmla="val 8824"/>
            </a:avLst>
          </a:prstGeom>
          <a:solidFill>
            <a:srgbClr val="ECEAE4"/>
          </a:solidFill>
          <a:ln w="12700">
            <a:solidFill>
              <a:srgbClr val="ECEAE4"/>
            </a:solidFill>
            <a:prstDash val="solid"/>
          </a:ln>
        </p:spPr>
      </p:sp>
      <p:sp>
        <p:nvSpPr>
          <p:cNvPr id="17" name="Shape 15"/>
          <p:cNvSpPr/>
          <p:nvPr/>
        </p:nvSpPr>
        <p:spPr>
          <a:xfrm>
            <a:off x="868680" y="5093208"/>
            <a:ext cx="420624" cy="420624"/>
          </a:xfrm>
          <a:prstGeom prst="ellipse">
            <a:avLst/>
          </a:prstGeom>
          <a:solidFill>
            <a:srgbClr val="B02532"/>
          </a:solidFill>
          <a:ln/>
        </p:spPr>
      </p:sp>
      <p:sp>
        <p:nvSpPr>
          <p:cNvPr id="18" name="Text 16"/>
          <p:cNvSpPr/>
          <p:nvPr/>
        </p:nvSpPr>
        <p:spPr>
          <a:xfrm>
            <a:off x="868680" y="5093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837176"/>
            <a:ext cx="9829800" cy="93268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Recunoaște, în foaia de calcul, instabilitatea ratelor calculate din numere mici.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ECHIPE DE PATRU SAU CINCI STUDENȚI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Patru roluri în fiecare echipă</a:t>
            </a:r>
            <a:endParaRPr lang="en-US" sz="3200" dirty="0"/>
          </a:p>
        </p:txBody>
      </p:sp>
      <p:sp>
        <p:nvSpPr>
          <p:cNvPr id="4" name="Shape 2"/>
          <p:cNvSpPr/>
          <p:nvPr/>
        </p:nvSpPr>
        <p:spPr>
          <a:xfrm>
            <a:off x="594360" y="1691640"/>
            <a:ext cx="2606040" cy="2834640"/>
          </a:xfrm>
          <a:prstGeom prst="roundRect">
            <a:avLst>
              <a:gd name="adj" fmla="val 3158"/>
            </a:avLst>
          </a:prstGeom>
          <a:solidFill>
            <a:srgbClr val="1D1F2B"/>
          </a:solidFill>
          <a:ln w="12700">
            <a:solidFill>
              <a:srgbClr val="1D1F2B"/>
            </a:solidFill>
            <a:prstDash val="solid"/>
          </a:ln>
        </p:spPr>
      </p:sp>
      <p:sp>
        <p:nvSpPr>
          <p:cNvPr id="5" name="Shape 3"/>
          <p:cNvSpPr/>
          <p:nvPr/>
        </p:nvSpPr>
        <p:spPr>
          <a:xfrm>
            <a:off x="594360" y="1691640"/>
            <a:ext cx="2606040" cy="566928"/>
          </a:xfrm>
          <a:prstGeom prst="rect">
            <a:avLst/>
          </a:prstGeom>
          <a:solidFill>
            <a:srgbClr val="FF4757"/>
          </a:solidFill>
          <a:ln w="12700">
            <a:solidFill>
              <a:srgbClr val="FF4757"/>
            </a:solidFill>
            <a:prstDash val="solid"/>
          </a:ln>
        </p:spPr>
      </p:sp>
      <p:sp>
        <p:nvSpPr>
          <p:cNvPr id="6" name="Text 4"/>
          <p:cNvSpPr/>
          <p:nvPr/>
        </p:nvSpPr>
        <p:spPr>
          <a:xfrm>
            <a:off x="822960" y="1691640"/>
            <a:ext cx="2194560" cy="566928"/>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Calculul</a:t>
            </a:r>
            <a:endParaRPr lang="en-US" sz="1900" dirty="0"/>
          </a:p>
        </p:txBody>
      </p:sp>
      <p:sp>
        <p:nvSpPr>
          <p:cNvPr id="7" name="Text 5"/>
          <p:cNvSpPr/>
          <p:nvPr/>
        </p:nvSpPr>
        <p:spPr>
          <a:xfrm>
            <a:off x="822960" y="2468880"/>
            <a:ext cx="219456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Face calculele și completează fișa echipei.</a:t>
            </a:r>
            <a:endParaRPr lang="en-US" sz="1700" dirty="0"/>
          </a:p>
        </p:txBody>
      </p:sp>
      <p:sp>
        <p:nvSpPr>
          <p:cNvPr id="8" name="Shape 6"/>
          <p:cNvSpPr/>
          <p:nvPr/>
        </p:nvSpPr>
        <p:spPr>
          <a:xfrm>
            <a:off x="3383280" y="1691640"/>
            <a:ext cx="2606040" cy="2834640"/>
          </a:xfrm>
          <a:prstGeom prst="roundRect">
            <a:avLst>
              <a:gd name="adj" fmla="val 3158"/>
            </a:avLst>
          </a:prstGeom>
          <a:solidFill>
            <a:srgbClr val="1D1F2B"/>
          </a:solidFill>
          <a:ln w="12700">
            <a:solidFill>
              <a:srgbClr val="1D1F2B"/>
            </a:solidFill>
            <a:prstDash val="solid"/>
          </a:ln>
        </p:spPr>
      </p:sp>
      <p:sp>
        <p:nvSpPr>
          <p:cNvPr id="9" name="Shape 7"/>
          <p:cNvSpPr/>
          <p:nvPr/>
        </p:nvSpPr>
        <p:spPr>
          <a:xfrm>
            <a:off x="3383280" y="1691640"/>
            <a:ext cx="2606040" cy="566928"/>
          </a:xfrm>
          <a:prstGeom prst="rect">
            <a:avLst/>
          </a:prstGeom>
          <a:solidFill>
            <a:srgbClr val="FFC24B"/>
          </a:solidFill>
          <a:ln w="12700">
            <a:solidFill>
              <a:srgbClr val="FFC24B"/>
            </a:solidFill>
            <a:prstDash val="solid"/>
          </a:ln>
        </p:spPr>
      </p:sp>
      <p:sp>
        <p:nvSpPr>
          <p:cNvPr id="10" name="Text 8"/>
          <p:cNvSpPr/>
          <p:nvPr/>
        </p:nvSpPr>
        <p:spPr>
          <a:xfrm>
            <a:off x="3611880" y="1691640"/>
            <a:ext cx="2194560" cy="566928"/>
          </a:xfrm>
          <a:prstGeom prst="rect">
            <a:avLst/>
          </a:prstGeom>
          <a:noFill/>
          <a:ln/>
        </p:spPr>
        <p:txBody>
          <a:bodyPr wrap="square" lIns="0" tIns="0" rIns="0" bIns="0" rtlCol="0" anchor="ctr"/>
          <a:lstStyle/>
          <a:p>
            <a:pPr indent="0" marL="0">
              <a:buNone/>
            </a:pPr>
            <a:r>
              <a:rPr lang="en-US" sz="1900" b="1" dirty="0">
                <a:solidFill>
                  <a:srgbClr val="3D2A00"/>
                </a:solidFill>
                <a:latin typeface="Palatino Linotype" pitchFamily="34" charset="0"/>
                <a:ea typeface="Palatino Linotype" pitchFamily="34" charset="-122"/>
                <a:cs typeface="Palatino Linotype" pitchFamily="34" charset="-120"/>
              </a:rPr>
              <a:t>Verificarea</a:t>
            </a:r>
            <a:endParaRPr lang="en-US" sz="1900" dirty="0"/>
          </a:p>
        </p:txBody>
      </p:sp>
      <p:sp>
        <p:nvSpPr>
          <p:cNvPr id="11" name="Text 9"/>
          <p:cNvSpPr/>
          <p:nvPr/>
        </p:nvSpPr>
        <p:spPr>
          <a:xfrm>
            <a:off x="3611880" y="2468880"/>
            <a:ext cx="219456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Reface independent fiecare calcul, înainte ca rezultatul să intre în fișă.</a:t>
            </a:r>
            <a:endParaRPr lang="en-US" sz="1700" dirty="0"/>
          </a:p>
        </p:txBody>
      </p:sp>
      <p:sp>
        <p:nvSpPr>
          <p:cNvPr id="12" name="Shape 10"/>
          <p:cNvSpPr/>
          <p:nvPr/>
        </p:nvSpPr>
        <p:spPr>
          <a:xfrm>
            <a:off x="6172200" y="1691640"/>
            <a:ext cx="2606040" cy="2834640"/>
          </a:xfrm>
          <a:prstGeom prst="roundRect">
            <a:avLst>
              <a:gd name="adj" fmla="val 3158"/>
            </a:avLst>
          </a:prstGeom>
          <a:solidFill>
            <a:srgbClr val="1D1F2B"/>
          </a:solidFill>
          <a:ln w="12700">
            <a:solidFill>
              <a:srgbClr val="1D1F2B"/>
            </a:solidFill>
            <a:prstDash val="solid"/>
          </a:ln>
        </p:spPr>
      </p:sp>
      <p:sp>
        <p:nvSpPr>
          <p:cNvPr id="13" name="Shape 11"/>
          <p:cNvSpPr/>
          <p:nvPr/>
        </p:nvSpPr>
        <p:spPr>
          <a:xfrm>
            <a:off x="6172200" y="1691640"/>
            <a:ext cx="2606040" cy="566928"/>
          </a:xfrm>
          <a:prstGeom prst="rect">
            <a:avLst/>
          </a:prstGeom>
          <a:solidFill>
            <a:srgbClr val="27D3BE"/>
          </a:solidFill>
          <a:ln w="12700">
            <a:solidFill>
              <a:srgbClr val="27D3BE"/>
            </a:solidFill>
            <a:prstDash val="solid"/>
          </a:ln>
        </p:spPr>
      </p:sp>
      <p:sp>
        <p:nvSpPr>
          <p:cNvPr id="14" name="Text 12"/>
          <p:cNvSpPr/>
          <p:nvPr/>
        </p:nvSpPr>
        <p:spPr>
          <a:xfrm>
            <a:off x="6400800" y="1691640"/>
            <a:ext cx="2194560" cy="566928"/>
          </a:xfrm>
          <a:prstGeom prst="rect">
            <a:avLst/>
          </a:prstGeom>
          <a:noFill/>
          <a:ln/>
        </p:spPr>
        <p:txBody>
          <a:bodyPr wrap="square" lIns="0" tIns="0" rIns="0" bIns="0" rtlCol="0" anchor="ctr"/>
          <a:lstStyle/>
          <a:p>
            <a:pPr indent="0" marL="0">
              <a:buNone/>
            </a:pPr>
            <a:r>
              <a:rPr lang="en-US" sz="1900" b="1" dirty="0">
                <a:solidFill>
                  <a:srgbClr val="073B34"/>
                </a:solidFill>
                <a:latin typeface="Palatino Linotype" pitchFamily="34" charset="0"/>
                <a:ea typeface="Palatino Linotype" pitchFamily="34" charset="-122"/>
                <a:cs typeface="Palatino Linotype" pitchFamily="34" charset="-120"/>
              </a:rPr>
              <a:t>Raportul</a:t>
            </a:r>
            <a:endParaRPr lang="en-US" sz="1900" dirty="0"/>
          </a:p>
        </p:txBody>
      </p:sp>
      <p:sp>
        <p:nvSpPr>
          <p:cNvPr id="15" name="Text 13"/>
          <p:cNvSpPr/>
          <p:nvPr/>
        </p:nvSpPr>
        <p:spPr>
          <a:xfrm>
            <a:off x="6400800" y="2468880"/>
            <a:ext cx="219456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Prezintă constatările echipei la sinteză.</a:t>
            </a:r>
            <a:endParaRPr lang="en-US" sz="1700" dirty="0"/>
          </a:p>
        </p:txBody>
      </p:sp>
      <p:sp>
        <p:nvSpPr>
          <p:cNvPr id="16" name="Shape 14"/>
          <p:cNvSpPr/>
          <p:nvPr/>
        </p:nvSpPr>
        <p:spPr>
          <a:xfrm>
            <a:off x="8961120" y="1691640"/>
            <a:ext cx="2606040" cy="2834640"/>
          </a:xfrm>
          <a:prstGeom prst="roundRect">
            <a:avLst>
              <a:gd name="adj" fmla="val 3158"/>
            </a:avLst>
          </a:prstGeom>
          <a:solidFill>
            <a:srgbClr val="1D1F2B"/>
          </a:solidFill>
          <a:ln w="12700">
            <a:solidFill>
              <a:srgbClr val="1D1F2B"/>
            </a:solidFill>
            <a:prstDash val="solid"/>
          </a:ln>
        </p:spPr>
      </p:sp>
      <p:sp>
        <p:nvSpPr>
          <p:cNvPr id="17" name="Shape 15"/>
          <p:cNvSpPr/>
          <p:nvPr/>
        </p:nvSpPr>
        <p:spPr>
          <a:xfrm>
            <a:off x="8961120" y="1691640"/>
            <a:ext cx="2606040" cy="566928"/>
          </a:xfrm>
          <a:prstGeom prst="rect">
            <a:avLst/>
          </a:prstGeom>
          <a:solidFill>
            <a:srgbClr val="9B7EF7"/>
          </a:solidFill>
          <a:ln w="12700">
            <a:solidFill>
              <a:srgbClr val="9B7EF7"/>
            </a:solidFill>
            <a:prstDash val="solid"/>
          </a:ln>
        </p:spPr>
      </p:sp>
      <p:sp>
        <p:nvSpPr>
          <p:cNvPr id="18" name="Text 16"/>
          <p:cNvSpPr/>
          <p:nvPr/>
        </p:nvSpPr>
        <p:spPr>
          <a:xfrm>
            <a:off x="9189720" y="1691640"/>
            <a:ext cx="2194560" cy="566928"/>
          </a:xfrm>
          <a:prstGeom prst="rect">
            <a:avLst/>
          </a:prstGeom>
          <a:noFill/>
          <a:ln/>
        </p:spPr>
        <p:txBody>
          <a:bodyPr wrap="square" lIns="0" tIns="0" rIns="0" bIns="0" rtlCol="0" anchor="ctr"/>
          <a:lstStyle/>
          <a:p>
            <a:pPr indent="0" marL="0">
              <a:buNone/>
            </a:pPr>
            <a:r>
              <a:rPr lang="en-US" sz="1900" b="1" dirty="0">
                <a:solidFill>
                  <a:srgbClr val="1F1040"/>
                </a:solidFill>
                <a:latin typeface="Palatino Linotype" pitchFamily="34" charset="0"/>
                <a:ea typeface="Palatino Linotype" pitchFamily="34" charset="-122"/>
                <a:cs typeface="Palatino Linotype" pitchFamily="34" charset="-120"/>
              </a:rPr>
              <a:t>Timpul</a:t>
            </a:r>
            <a:endParaRPr lang="en-US" sz="1900" dirty="0"/>
          </a:p>
        </p:txBody>
      </p:sp>
      <p:sp>
        <p:nvSpPr>
          <p:cNvPr id="19" name="Text 17"/>
          <p:cNvSpPr/>
          <p:nvPr/>
        </p:nvSpPr>
        <p:spPr>
          <a:xfrm>
            <a:off x="9189720" y="2468880"/>
            <a:ext cx="2194560" cy="19202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Urmărește durata fiecărui moment al lucrării.</a:t>
            </a:r>
            <a:endParaRPr lang="en-US" sz="1700" dirty="0"/>
          </a:p>
        </p:txBody>
      </p:sp>
      <p:sp>
        <p:nvSpPr>
          <p:cNvPr id="20" name="Shape 18"/>
          <p:cNvSpPr/>
          <p:nvPr/>
        </p:nvSpPr>
        <p:spPr>
          <a:xfrm>
            <a:off x="594360" y="4846320"/>
            <a:ext cx="10972800" cy="1051560"/>
          </a:xfrm>
          <a:prstGeom prst="roundRect">
            <a:avLst>
              <a:gd name="adj" fmla="val 7826"/>
            </a:avLst>
          </a:prstGeom>
          <a:solidFill>
            <a:srgbClr val="272A38"/>
          </a:solidFill>
          <a:ln w="12700">
            <a:solidFill>
              <a:srgbClr val="272A38"/>
            </a:solidFill>
            <a:prstDash val="solid"/>
          </a:ln>
        </p:spPr>
      </p:sp>
      <p:sp>
        <p:nvSpPr>
          <p:cNvPr id="21" name="Text 19"/>
          <p:cNvSpPr/>
          <p:nvPr/>
        </p:nvSpPr>
        <p:spPr>
          <a:xfrm>
            <a:off x="868680" y="4846320"/>
            <a:ext cx="10424160" cy="10515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De ce verificare independentă? </a:t>
            </a:r>
            <a:pPr indent="0" marL="0">
              <a:buNone/>
            </a:pPr>
            <a:r>
              <a:rPr lang="en-US" sz="1900" dirty="0">
                <a:solidFill>
                  <a:srgbClr val="FFFFFF"/>
                </a:solidFill>
                <a:latin typeface="Palatino Linotype" pitchFamily="34" charset="0"/>
                <a:ea typeface="Palatino Linotype" pitchFamily="34" charset="-122"/>
                <a:cs typeface="Palatino Linotype" pitchFamily="34" charset="-120"/>
              </a:rPr>
              <a:t>O eroare de numitor sau de virgulă schimbă concluzia, nu doar cifra.</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DESFĂȘURAREA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Două ore, patru momente</a:t>
            </a:r>
            <a:endParaRPr lang="en-US" sz="3200" dirty="0"/>
          </a:p>
        </p:txBody>
      </p:sp>
      <p:sp>
        <p:nvSpPr>
          <p:cNvPr id="4" name="Shape 2"/>
          <p:cNvSpPr/>
          <p:nvPr/>
        </p:nvSpPr>
        <p:spPr>
          <a:xfrm>
            <a:off x="584200" y="1645920"/>
            <a:ext cx="914400" cy="292608"/>
          </a:xfrm>
          <a:prstGeom prst="rect">
            <a:avLst/>
          </a:prstGeom>
          <a:solidFill>
            <a:srgbClr val="B02532"/>
          </a:solidFill>
          <a:ln w="19050">
            <a:solidFill>
              <a:srgbClr val="F6F5F2"/>
            </a:solidFill>
            <a:prstDash val="solid"/>
          </a:ln>
        </p:spPr>
      </p:sp>
      <p:sp>
        <p:nvSpPr>
          <p:cNvPr id="5" name="Shape 3"/>
          <p:cNvSpPr/>
          <p:nvPr/>
        </p:nvSpPr>
        <p:spPr>
          <a:xfrm>
            <a:off x="1498600" y="1645920"/>
            <a:ext cx="4572000" cy="292608"/>
          </a:xfrm>
          <a:prstGeom prst="rect">
            <a:avLst/>
          </a:prstGeom>
          <a:solidFill>
            <a:srgbClr val="0E7C6B"/>
          </a:solidFill>
          <a:ln w="19050">
            <a:solidFill>
              <a:srgbClr val="F6F5F2"/>
            </a:solidFill>
            <a:prstDash val="solid"/>
          </a:ln>
        </p:spPr>
      </p:sp>
      <p:sp>
        <p:nvSpPr>
          <p:cNvPr id="6" name="Shape 4"/>
          <p:cNvSpPr/>
          <p:nvPr/>
        </p:nvSpPr>
        <p:spPr>
          <a:xfrm>
            <a:off x="6070600" y="1645920"/>
            <a:ext cx="3200400" cy="292608"/>
          </a:xfrm>
          <a:prstGeom prst="rect">
            <a:avLst/>
          </a:prstGeom>
          <a:solidFill>
            <a:srgbClr val="4A2D8C"/>
          </a:solidFill>
          <a:ln w="19050">
            <a:solidFill>
              <a:srgbClr val="F6F5F2"/>
            </a:solidFill>
            <a:prstDash val="solid"/>
          </a:ln>
        </p:spPr>
      </p:sp>
      <p:sp>
        <p:nvSpPr>
          <p:cNvPr id="7" name="Shape 5"/>
          <p:cNvSpPr/>
          <p:nvPr/>
        </p:nvSpPr>
        <p:spPr>
          <a:xfrm>
            <a:off x="9271000" y="1645920"/>
            <a:ext cx="2286000" cy="292608"/>
          </a:xfrm>
          <a:prstGeom prst="rect">
            <a:avLst/>
          </a:prstGeom>
          <a:solidFill>
            <a:srgbClr val="8A6100"/>
          </a:solidFill>
          <a:ln w="19050">
            <a:solidFill>
              <a:srgbClr val="F6F5F2"/>
            </a:solidFill>
            <a:prstDash val="solid"/>
          </a:ln>
        </p:spPr>
      </p:sp>
      <p:sp>
        <p:nvSpPr>
          <p:cNvPr id="8" name="Shape 6"/>
          <p:cNvSpPr/>
          <p:nvPr/>
        </p:nvSpPr>
        <p:spPr>
          <a:xfrm>
            <a:off x="594360" y="2240280"/>
            <a:ext cx="2606040" cy="45720"/>
          </a:xfrm>
          <a:prstGeom prst="rect">
            <a:avLst/>
          </a:prstGeom>
          <a:solidFill>
            <a:srgbClr val="B02532"/>
          </a:solidFill>
          <a:ln w="12700">
            <a:solidFill>
              <a:srgbClr val="B02532"/>
            </a:solidFill>
            <a:prstDash val="solid"/>
          </a:ln>
        </p:spPr>
      </p:sp>
      <p:sp>
        <p:nvSpPr>
          <p:cNvPr id="9" name="Text 7"/>
          <p:cNvSpPr/>
          <p:nvPr/>
        </p:nvSpPr>
        <p:spPr>
          <a:xfrm>
            <a:off x="594360" y="2377440"/>
            <a:ext cx="260604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Deschiderea</a:t>
            </a:r>
            <a:endParaRPr lang="en-US" sz="1900" dirty="0"/>
          </a:p>
        </p:txBody>
      </p:sp>
      <p:sp>
        <p:nvSpPr>
          <p:cNvPr id="10" name="Text 8"/>
          <p:cNvSpPr/>
          <p:nvPr/>
        </p:nvSpPr>
        <p:spPr>
          <a:xfrm>
            <a:off x="59436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zece minute: obiectivele, datele, echipele</a:t>
            </a:r>
            <a:endParaRPr lang="en-US" sz="1600" dirty="0"/>
          </a:p>
        </p:txBody>
      </p:sp>
      <p:sp>
        <p:nvSpPr>
          <p:cNvPr id="11" name="Shape 9"/>
          <p:cNvSpPr/>
          <p:nvPr/>
        </p:nvSpPr>
        <p:spPr>
          <a:xfrm>
            <a:off x="3383280" y="2240280"/>
            <a:ext cx="2606040" cy="45720"/>
          </a:xfrm>
          <a:prstGeom prst="rect">
            <a:avLst/>
          </a:prstGeom>
          <a:solidFill>
            <a:srgbClr val="0E7C6B"/>
          </a:solidFill>
          <a:ln w="12700">
            <a:solidFill>
              <a:srgbClr val="0E7C6B"/>
            </a:solidFill>
            <a:prstDash val="solid"/>
          </a:ln>
        </p:spPr>
      </p:sp>
      <p:sp>
        <p:nvSpPr>
          <p:cNvPr id="12" name="Text 10"/>
          <p:cNvSpPr/>
          <p:nvPr/>
        </p:nvSpPr>
        <p:spPr>
          <a:xfrm>
            <a:off x="3383280" y="2377440"/>
            <a:ext cx="2606040" cy="82296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Profilul județului Cluj</a:t>
            </a:r>
            <a:endParaRPr lang="en-US" sz="1900" dirty="0"/>
          </a:p>
        </p:txBody>
      </p:sp>
      <p:sp>
        <p:nvSpPr>
          <p:cNvPr id="13" name="Text 11"/>
          <p:cNvSpPr/>
          <p:nvPr/>
        </p:nvSpPr>
        <p:spPr>
          <a:xfrm>
            <a:off x="338328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cincizeci de minute: calculul, apoi interpretarea</a:t>
            </a:r>
            <a:endParaRPr lang="en-US" sz="1600" dirty="0"/>
          </a:p>
        </p:txBody>
      </p:sp>
      <p:sp>
        <p:nvSpPr>
          <p:cNvPr id="14" name="Shape 12"/>
          <p:cNvSpPr/>
          <p:nvPr/>
        </p:nvSpPr>
        <p:spPr>
          <a:xfrm>
            <a:off x="6172200" y="2240280"/>
            <a:ext cx="2606040" cy="45720"/>
          </a:xfrm>
          <a:prstGeom prst="rect">
            <a:avLst/>
          </a:prstGeom>
          <a:solidFill>
            <a:srgbClr val="4A2D8C"/>
          </a:solidFill>
          <a:ln w="12700">
            <a:solidFill>
              <a:srgbClr val="4A2D8C"/>
            </a:solidFill>
            <a:prstDash val="solid"/>
          </a:ln>
        </p:spPr>
      </p:sp>
      <p:sp>
        <p:nvSpPr>
          <p:cNvPr id="15" name="Text 13"/>
          <p:cNvSpPr/>
          <p:nvPr/>
        </p:nvSpPr>
        <p:spPr>
          <a:xfrm>
            <a:off x="6172200" y="2377440"/>
            <a:ext cx="2606040" cy="82296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Indicatorii epidemiologici</a:t>
            </a:r>
            <a:endParaRPr lang="en-US" sz="1900" dirty="0"/>
          </a:p>
        </p:txBody>
      </p:sp>
      <p:sp>
        <p:nvSpPr>
          <p:cNvPr id="16" name="Text 14"/>
          <p:cNvSpPr/>
          <p:nvPr/>
        </p:nvSpPr>
        <p:spPr>
          <a:xfrm>
            <a:off x="617220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treizeci și cinci de minute: două exerciții de calcul</a:t>
            </a:r>
            <a:endParaRPr lang="en-US" sz="1600" dirty="0"/>
          </a:p>
        </p:txBody>
      </p:sp>
      <p:sp>
        <p:nvSpPr>
          <p:cNvPr id="17" name="Shape 15"/>
          <p:cNvSpPr/>
          <p:nvPr/>
        </p:nvSpPr>
        <p:spPr>
          <a:xfrm>
            <a:off x="8961120" y="2240280"/>
            <a:ext cx="2606040" cy="45720"/>
          </a:xfrm>
          <a:prstGeom prst="rect">
            <a:avLst/>
          </a:prstGeom>
          <a:solidFill>
            <a:srgbClr val="8A6100"/>
          </a:solidFill>
          <a:ln w="12700">
            <a:solidFill>
              <a:srgbClr val="8A6100"/>
            </a:solidFill>
            <a:prstDash val="solid"/>
          </a:ln>
        </p:spPr>
      </p:sp>
      <p:sp>
        <p:nvSpPr>
          <p:cNvPr id="18" name="Text 16"/>
          <p:cNvSpPr/>
          <p:nvPr/>
        </p:nvSpPr>
        <p:spPr>
          <a:xfrm>
            <a:off x="8961120" y="2377440"/>
            <a:ext cx="2606040" cy="82296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Sinteza și predarea</a:t>
            </a:r>
            <a:endParaRPr lang="en-US" sz="1900" dirty="0"/>
          </a:p>
        </p:txBody>
      </p:sp>
      <p:sp>
        <p:nvSpPr>
          <p:cNvPr id="19" name="Text 17"/>
          <p:cNvSpPr/>
          <p:nvPr/>
        </p:nvSpPr>
        <p:spPr>
          <a:xfrm>
            <a:off x="8961120" y="3200400"/>
            <a:ext cx="2606040" cy="10972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douăzeci și cinci de minute: fișa în Forms, constatările, biletul de ieșire</a:t>
            </a:r>
            <a:endParaRPr lang="en-US" sz="1600" dirty="0"/>
          </a:p>
        </p:txBody>
      </p:sp>
      <p:sp>
        <p:nvSpPr>
          <p:cNvPr id="20" name="Shape 18"/>
          <p:cNvSpPr/>
          <p:nvPr/>
        </p:nvSpPr>
        <p:spPr>
          <a:xfrm>
            <a:off x="594360" y="4617720"/>
            <a:ext cx="10972800" cy="1143000"/>
          </a:xfrm>
          <a:prstGeom prst="roundRect">
            <a:avLst>
              <a:gd name="adj" fmla="val 7200"/>
            </a:avLst>
          </a:prstGeom>
          <a:solidFill>
            <a:srgbClr val="ECEAE4"/>
          </a:solidFill>
          <a:ln w="12700">
            <a:solidFill>
              <a:srgbClr val="ECEAE4"/>
            </a:solidFill>
            <a:prstDash val="solid"/>
          </a:ln>
        </p:spPr>
      </p:sp>
      <p:sp>
        <p:nvSpPr>
          <p:cNvPr id="21" name="Text 19"/>
          <p:cNvSpPr/>
          <p:nvPr/>
        </p:nvSpPr>
        <p:spPr>
          <a:xfrm>
            <a:off x="868680" y="4617720"/>
            <a:ext cx="10424160" cy="11430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Datele sunt în documentul lucrării și pe diapozitive, deci calculul nu cere internet; conexiunea trebuie numai la predarea fișei în Forms. Fiecare student are un calculator de buzunar sau un laptop cu Excel ori un program echivalent.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EVALUAREA STĂRII DE SĂNĂTATE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Profilul începe cu evaluarea</a:t>
            </a:r>
            <a:endParaRPr lang="en-US" sz="3200" dirty="0"/>
          </a:p>
        </p:txBody>
      </p:sp>
      <p:sp>
        <p:nvSpPr>
          <p:cNvPr id="4" name="Text 2"/>
          <p:cNvSpPr/>
          <p:nvPr/>
        </p:nvSpPr>
        <p:spPr>
          <a:xfrm>
            <a:off x="594360" y="1645920"/>
            <a:ext cx="5120640" cy="237744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Evaluarea este una dintre cele trei funcții de bază ale sănătății publice, alături de dezvoltarea politicilor și de asigurare: colectarea și analiza regulată a informațiilor despre sănătatea comunității.</a:t>
            </a:r>
            <a:endParaRPr lang="en-US" sz="1900" dirty="0"/>
          </a:p>
        </p:txBody>
      </p:sp>
      <p:sp>
        <p:nvSpPr>
          <p:cNvPr id="5" name="Text 3"/>
          <p:cNvSpPr/>
          <p:nvPr/>
        </p:nvSpPr>
        <p:spPr>
          <a:xfrm>
            <a:off x="594360" y="4160520"/>
            <a:ext cx="5120640" cy="109728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Profilul comunității pune acești indicatori pe domenii și îi compară cu țara.</a:t>
            </a:r>
            <a:endParaRPr lang="en-US" sz="1800" dirty="0"/>
          </a:p>
        </p:txBody>
      </p:sp>
      <p:sp>
        <p:nvSpPr>
          <p:cNvPr id="6" name="Text 4"/>
          <p:cNvSpPr/>
          <p:nvPr/>
        </p:nvSpPr>
        <p:spPr>
          <a:xfrm>
            <a:off x="6355080" y="1645920"/>
            <a:ext cx="5212080" cy="32004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DE UNDE VIN DATELE</a:t>
            </a:r>
            <a:endParaRPr lang="en-US" sz="1300" dirty="0"/>
          </a:p>
        </p:txBody>
      </p:sp>
      <p:sp>
        <p:nvSpPr>
          <p:cNvPr id="7" name="Shape 5"/>
          <p:cNvSpPr/>
          <p:nvPr/>
        </p:nvSpPr>
        <p:spPr>
          <a:xfrm>
            <a:off x="6355080" y="2011680"/>
            <a:ext cx="1673352" cy="822960"/>
          </a:xfrm>
          <a:prstGeom prst="roundRect">
            <a:avLst>
              <a:gd name="adj" fmla="val 10000"/>
            </a:avLst>
          </a:prstGeom>
          <a:solidFill>
            <a:srgbClr val="272A38"/>
          </a:solidFill>
          <a:ln w="12700">
            <a:solidFill>
              <a:srgbClr val="272A38"/>
            </a:solidFill>
            <a:prstDash val="solid"/>
          </a:ln>
        </p:spPr>
      </p:sp>
      <p:sp>
        <p:nvSpPr>
          <p:cNvPr id="8" name="Text 6"/>
          <p:cNvSpPr/>
          <p:nvPr/>
        </p:nvSpPr>
        <p:spPr>
          <a:xfrm>
            <a:off x="6464808" y="2011680"/>
            <a:ext cx="14630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Persoanele</a:t>
            </a:r>
            <a:endParaRPr lang="en-US" sz="1500" dirty="0"/>
          </a:p>
        </p:txBody>
      </p:sp>
      <p:sp>
        <p:nvSpPr>
          <p:cNvPr id="9" name="Shape 7"/>
          <p:cNvSpPr/>
          <p:nvPr/>
        </p:nvSpPr>
        <p:spPr>
          <a:xfrm>
            <a:off x="8119872" y="2011680"/>
            <a:ext cx="1673352" cy="822960"/>
          </a:xfrm>
          <a:prstGeom prst="roundRect">
            <a:avLst>
              <a:gd name="adj" fmla="val 10000"/>
            </a:avLst>
          </a:prstGeom>
          <a:solidFill>
            <a:srgbClr val="272A38"/>
          </a:solidFill>
          <a:ln w="12700">
            <a:solidFill>
              <a:srgbClr val="272A38"/>
            </a:solidFill>
            <a:prstDash val="solid"/>
          </a:ln>
        </p:spPr>
      </p:sp>
      <p:sp>
        <p:nvSpPr>
          <p:cNvPr id="10" name="Text 8"/>
          <p:cNvSpPr/>
          <p:nvPr/>
        </p:nvSpPr>
        <p:spPr>
          <a:xfrm>
            <a:off x="8229600" y="2011680"/>
            <a:ext cx="14630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Mediul</a:t>
            </a:r>
            <a:endParaRPr lang="en-US" sz="1500" dirty="0"/>
          </a:p>
        </p:txBody>
      </p:sp>
      <p:sp>
        <p:nvSpPr>
          <p:cNvPr id="11" name="Shape 9"/>
          <p:cNvSpPr/>
          <p:nvPr/>
        </p:nvSpPr>
        <p:spPr>
          <a:xfrm>
            <a:off x="9884664" y="2011680"/>
            <a:ext cx="1673352" cy="822960"/>
          </a:xfrm>
          <a:prstGeom prst="roundRect">
            <a:avLst>
              <a:gd name="adj" fmla="val 10000"/>
            </a:avLst>
          </a:prstGeom>
          <a:solidFill>
            <a:srgbClr val="272A38"/>
          </a:solidFill>
          <a:ln w="12700">
            <a:solidFill>
              <a:srgbClr val="272A38"/>
            </a:solidFill>
            <a:prstDash val="solid"/>
          </a:ln>
        </p:spPr>
      </p:sp>
      <p:sp>
        <p:nvSpPr>
          <p:cNvPr id="12" name="Text 10"/>
          <p:cNvSpPr/>
          <p:nvPr/>
        </p:nvSpPr>
        <p:spPr>
          <a:xfrm>
            <a:off x="9994392" y="2011680"/>
            <a:ext cx="14630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Furnizorii de îngrijire</a:t>
            </a:r>
            <a:endParaRPr lang="en-US" sz="1500" dirty="0"/>
          </a:p>
        </p:txBody>
      </p:sp>
      <p:sp>
        <p:nvSpPr>
          <p:cNvPr id="13" name="Text 11"/>
          <p:cNvSpPr/>
          <p:nvPr/>
        </p:nvSpPr>
        <p:spPr>
          <a:xfrm>
            <a:off x="6355080" y="3154680"/>
            <a:ext cx="5212080" cy="32004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CUM SE COLECTEAZĂ</a:t>
            </a:r>
            <a:endParaRPr lang="en-US" sz="1300" dirty="0"/>
          </a:p>
        </p:txBody>
      </p:sp>
      <p:sp>
        <p:nvSpPr>
          <p:cNvPr id="14" name="Text 12"/>
          <p:cNvSpPr/>
          <p:nvPr/>
        </p:nvSpPr>
        <p:spPr>
          <a:xfrm>
            <a:off x="6355080" y="3520440"/>
            <a:ext cx="5212080" cy="54864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Monitorizarea mediului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aer, apă, vectori</a:t>
            </a:r>
            <a:endParaRPr lang="en-US" sz="1600" dirty="0"/>
          </a:p>
        </p:txBody>
      </p:sp>
      <p:sp>
        <p:nvSpPr>
          <p:cNvPr id="15" name="Text 13"/>
          <p:cNvSpPr/>
          <p:nvPr/>
        </p:nvSpPr>
        <p:spPr>
          <a:xfrm>
            <a:off x="6355080" y="4142232"/>
            <a:ext cx="5212080" cy="54864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Ancheta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un eșantion, informație structurată</a:t>
            </a:r>
            <a:endParaRPr lang="en-US" sz="1600" dirty="0"/>
          </a:p>
        </p:txBody>
      </p:sp>
      <p:sp>
        <p:nvSpPr>
          <p:cNvPr id="16" name="Text 14"/>
          <p:cNvSpPr/>
          <p:nvPr/>
        </p:nvSpPr>
        <p:spPr>
          <a:xfrm>
            <a:off x="6355080" y="4764024"/>
            <a:ext cx="5212080" cy="54864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Notificarea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furnizorii raportează cazurile unor boli</a:t>
            </a:r>
            <a:endParaRPr lang="en-US" sz="1600" dirty="0"/>
          </a:p>
        </p:txBody>
      </p:sp>
      <p:sp>
        <p:nvSpPr>
          <p:cNvPr id="17" name="Text 15"/>
          <p:cNvSpPr/>
          <p:nvPr/>
        </p:nvSpPr>
        <p:spPr>
          <a:xfrm>
            <a:off x="6355080" y="5385816"/>
            <a:ext cx="5212080" cy="548640"/>
          </a:xfrm>
          <a:prstGeom prst="rect">
            <a:avLst/>
          </a:prstGeom>
          <a:noFill/>
          <a:ln/>
        </p:spPr>
        <p:txBody>
          <a:bodyPr wrap="square" lIns="0" tIns="0" rIns="0" bIns="0" rtlCol="0" anchor="ctr"/>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Registrul  </a:t>
            </a:r>
            <a:pPr indent="0" marL="0">
              <a:buNone/>
            </a:pPr>
            <a:r>
              <a:rPr lang="en-US" sz="1600" dirty="0">
                <a:solidFill>
                  <a:srgbClr val="FFFFFF"/>
                </a:solidFill>
                <a:latin typeface="Palatino Linotype" pitchFamily="34" charset="0"/>
                <a:ea typeface="Palatino Linotype" pitchFamily="34" charset="-122"/>
                <a:cs typeface="Palatino Linotype" pitchFamily="34" charset="-120"/>
              </a:rPr>
              <a:t>evidență permanentă: nașteri, decese, cancer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AJUNGE ÎN DATE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Cazurile raportate nu sunt toate îmbolnăvirile</a:t>
            </a:r>
            <a:endParaRPr lang="en-US" sz="3000" dirty="0"/>
          </a:p>
        </p:txBody>
      </p:sp>
      <p:sp>
        <p:nvSpPr>
          <p:cNvPr id="4" name="Shape 2"/>
          <p:cNvSpPr/>
          <p:nvPr/>
        </p:nvSpPr>
        <p:spPr>
          <a:xfrm>
            <a:off x="594360" y="1783080"/>
            <a:ext cx="6035040" cy="749808"/>
          </a:xfrm>
          <a:prstGeom prst="rect">
            <a:avLst/>
          </a:prstGeom>
          <a:solidFill>
            <a:srgbClr val="B5B2AA"/>
          </a:solidFill>
          <a:ln w="12700">
            <a:solidFill>
              <a:srgbClr val="B5B2AA"/>
            </a:solidFill>
            <a:prstDash val="solid"/>
          </a:ln>
        </p:spPr>
      </p:sp>
      <p:sp>
        <p:nvSpPr>
          <p:cNvPr id="5" name="Shape 3"/>
          <p:cNvSpPr/>
          <p:nvPr/>
        </p:nvSpPr>
        <p:spPr>
          <a:xfrm>
            <a:off x="1508760" y="2880360"/>
            <a:ext cx="4206240" cy="749808"/>
          </a:xfrm>
          <a:prstGeom prst="rect">
            <a:avLst/>
          </a:prstGeom>
          <a:solidFill>
            <a:srgbClr val="FFC24B"/>
          </a:solidFill>
          <a:ln w="12700">
            <a:solidFill>
              <a:srgbClr val="FFC24B"/>
            </a:solidFill>
            <a:prstDash val="solid"/>
          </a:ln>
        </p:spPr>
      </p:sp>
      <p:sp>
        <p:nvSpPr>
          <p:cNvPr id="6" name="Shape 4"/>
          <p:cNvSpPr/>
          <p:nvPr/>
        </p:nvSpPr>
        <p:spPr>
          <a:xfrm>
            <a:off x="2423160" y="3977640"/>
            <a:ext cx="2377440" cy="749808"/>
          </a:xfrm>
          <a:prstGeom prst="rect">
            <a:avLst/>
          </a:prstGeom>
          <a:solidFill>
            <a:srgbClr val="B02532"/>
          </a:solidFill>
          <a:ln w="12700">
            <a:solidFill>
              <a:srgbClr val="B02532"/>
            </a:solidFill>
            <a:prstDash val="solid"/>
          </a:ln>
        </p:spPr>
      </p:sp>
      <p:sp>
        <p:nvSpPr>
          <p:cNvPr id="7" name="Text 5"/>
          <p:cNvSpPr/>
          <p:nvPr/>
        </p:nvSpPr>
        <p:spPr>
          <a:xfrm>
            <a:off x="594360" y="2569464"/>
            <a:ext cx="6035040" cy="256032"/>
          </a:xfrm>
          <a:prstGeom prst="rect">
            <a:avLst/>
          </a:prstGeom>
          <a:noFill/>
          <a:ln/>
        </p:spPr>
        <p:txBody>
          <a:bodyPr wrap="square" lIns="0" tIns="0" rIns="0" bIns="0" rtlCol="0" anchor="ctr"/>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Toate îmbolnăvirile din populație</a:t>
            </a:r>
            <a:endParaRPr lang="en-US" sz="1300" dirty="0"/>
          </a:p>
        </p:txBody>
      </p:sp>
      <p:sp>
        <p:nvSpPr>
          <p:cNvPr id="8" name="Text 6"/>
          <p:cNvSpPr/>
          <p:nvPr/>
        </p:nvSpPr>
        <p:spPr>
          <a:xfrm>
            <a:off x="594360" y="3666744"/>
            <a:ext cx="6035040" cy="256032"/>
          </a:xfrm>
          <a:prstGeom prst="rect">
            <a:avLst/>
          </a:prstGeom>
          <a:noFill/>
          <a:ln/>
        </p:spPr>
        <p:txBody>
          <a:bodyPr wrap="square" lIns="0" tIns="0" rIns="0" bIns="0" rtlCol="0" anchor="ctr"/>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Cele recunoscute de un medic</a:t>
            </a:r>
            <a:endParaRPr lang="en-US" sz="1300" dirty="0"/>
          </a:p>
        </p:txBody>
      </p:sp>
      <p:sp>
        <p:nvSpPr>
          <p:cNvPr id="9" name="Text 7"/>
          <p:cNvSpPr/>
          <p:nvPr/>
        </p:nvSpPr>
        <p:spPr>
          <a:xfrm>
            <a:off x="594360" y="4764024"/>
            <a:ext cx="6035040" cy="256032"/>
          </a:xfrm>
          <a:prstGeom prst="rect">
            <a:avLst/>
          </a:prstGeom>
          <a:noFill/>
          <a:ln/>
        </p:spPr>
        <p:txBody>
          <a:bodyPr wrap="square" lIns="0" tIns="0" rIns="0" bIns="0" rtlCol="0" anchor="ctr"/>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Cele înregistrate și raportate</a:t>
            </a:r>
            <a:endParaRPr lang="en-US" sz="1300" dirty="0"/>
          </a:p>
        </p:txBody>
      </p:sp>
      <p:sp>
        <p:nvSpPr>
          <p:cNvPr id="10" name="Text 8"/>
          <p:cNvSpPr/>
          <p:nvPr/>
        </p:nvSpPr>
        <p:spPr>
          <a:xfrm>
            <a:off x="594360" y="5166360"/>
            <a:ext cx="6035040" cy="274320"/>
          </a:xfrm>
          <a:prstGeom prst="rect">
            <a:avLst/>
          </a:prstGeom>
          <a:noFill/>
          <a:ln/>
        </p:spPr>
        <p:txBody>
          <a:bodyPr wrap="square" lIns="0" tIns="0" rIns="0" bIns="0" rtlCol="0" anchor="t"/>
          <a:lstStyle/>
          <a:p>
            <a:pPr algn="ctr" indent="0" marL="0">
              <a:buNone/>
            </a:pPr>
            <a:r>
              <a:rPr lang="en-US" sz="1100" i="1" dirty="0">
                <a:solidFill>
                  <a:srgbClr val="585A64"/>
                </a:solidFill>
                <a:latin typeface="Palatino Linotype" pitchFamily="34" charset="0"/>
                <a:ea typeface="Palatino Linotype" pitchFamily="34" charset="-122"/>
                <a:cs typeface="Palatino Linotype" pitchFamily="34" charset="-120"/>
              </a:rPr>
              <a:t>Schemă didactică; lățimile nu reprezintă valori.</a:t>
            </a:r>
            <a:endParaRPr lang="en-US" sz="1100" dirty="0"/>
          </a:p>
        </p:txBody>
      </p:sp>
      <p:sp>
        <p:nvSpPr>
          <p:cNvPr id="11" name="Text 9"/>
          <p:cNvSpPr/>
          <p:nvPr/>
        </p:nvSpPr>
        <p:spPr>
          <a:xfrm>
            <a:off x="7086600" y="1783080"/>
            <a:ext cx="4480560" cy="18288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O boală este numărată numai dacă este recunoscută și înregistrată. Bolile grave ajung mai des în date decât cele ușoare.</a:t>
            </a:r>
            <a:endParaRPr lang="en-US" sz="1900" dirty="0"/>
          </a:p>
        </p:txBody>
      </p:sp>
      <p:sp>
        <p:nvSpPr>
          <p:cNvPr id="12" name="Shape 10"/>
          <p:cNvSpPr/>
          <p:nvPr/>
        </p:nvSpPr>
        <p:spPr>
          <a:xfrm>
            <a:off x="7114032" y="3794760"/>
            <a:ext cx="1097280" cy="27432"/>
          </a:xfrm>
          <a:prstGeom prst="rect">
            <a:avLst/>
          </a:prstGeom>
          <a:solidFill>
            <a:srgbClr val="B02532"/>
          </a:solidFill>
          <a:ln w="12700">
            <a:solidFill>
              <a:srgbClr val="B02532"/>
            </a:solidFill>
            <a:prstDash val="solid"/>
          </a:ln>
        </p:spPr>
      </p:sp>
      <p:sp>
        <p:nvSpPr>
          <p:cNvPr id="13" name="Text 11"/>
          <p:cNvSpPr/>
          <p:nvPr/>
        </p:nvSpPr>
        <p:spPr>
          <a:xfrm>
            <a:off x="7086600" y="3977640"/>
            <a:ext cx="4480560" cy="13716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Când citiți o incidență calculată din cazuri raportate, întrebați ce a rămas în afara ei.</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JUDEȚUL CLUJ ÎN DATE · INS,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Datele de pornire ale profilului</a:t>
            </a:r>
            <a:endParaRPr lang="en-US" sz="3000" dirty="0"/>
          </a:p>
        </p:txBody>
      </p:sp>
      <p:sp>
        <p:nvSpPr>
          <p:cNvPr id="4" name="Text 2"/>
          <p:cNvSpPr/>
          <p:nvPr/>
        </p:nvSpPr>
        <p:spPr>
          <a:xfrm>
            <a:off x="594360" y="1691640"/>
            <a:ext cx="5669280" cy="1463040"/>
          </a:xfrm>
          <a:prstGeom prst="rect">
            <a:avLst/>
          </a:prstGeom>
          <a:noFill/>
          <a:ln/>
        </p:spPr>
        <p:txBody>
          <a:bodyPr wrap="square" lIns="0" tIns="0" rIns="0" bIns="0" rtlCol="0" anchor="ctr"/>
          <a:lstStyle/>
          <a:p>
            <a:pPr indent="0" marL="0">
              <a:buNone/>
            </a:pPr>
            <a:r>
              <a:rPr lang="en-US" sz="8800" b="1" dirty="0">
                <a:solidFill>
                  <a:srgbClr val="FFC24B"/>
                </a:solidFill>
                <a:latin typeface="Palatino Linotype" pitchFamily="34" charset="0"/>
                <a:ea typeface="Palatino Linotype" pitchFamily="34" charset="-122"/>
                <a:cs typeface="Palatino Linotype" pitchFamily="34" charset="-120"/>
              </a:rPr>
              <a:t>699 564</a:t>
            </a:r>
            <a:endParaRPr lang="en-US" sz="8800" dirty="0"/>
          </a:p>
        </p:txBody>
      </p:sp>
      <p:sp>
        <p:nvSpPr>
          <p:cNvPr id="5" name="Text 3"/>
          <p:cNvSpPr/>
          <p:nvPr/>
        </p:nvSpPr>
        <p:spPr>
          <a:xfrm>
            <a:off x="594360" y="3154680"/>
            <a:ext cx="5486400" cy="45720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locuitori în județul Cluj la 1 iulie 2025</a:t>
            </a:r>
            <a:endParaRPr lang="en-US" sz="2000" dirty="0"/>
          </a:p>
        </p:txBody>
      </p:sp>
      <p:sp>
        <p:nvSpPr>
          <p:cNvPr id="6" name="Text 4"/>
          <p:cNvSpPr/>
          <p:nvPr/>
        </p:nvSpPr>
        <p:spPr>
          <a:xfrm>
            <a:off x="594360" y="3611880"/>
            <a:ext cx="5486400" cy="41148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România: 19 046 434</a:t>
            </a:r>
            <a:endParaRPr lang="en-US" sz="1800" dirty="0"/>
          </a:p>
        </p:txBody>
      </p:sp>
      <p:sp>
        <p:nvSpPr>
          <p:cNvPr id="7" name="Shape 5"/>
          <p:cNvSpPr/>
          <p:nvPr/>
        </p:nvSpPr>
        <p:spPr>
          <a:xfrm>
            <a:off x="6583680" y="1691640"/>
            <a:ext cx="4983480" cy="841248"/>
          </a:xfrm>
          <a:prstGeom prst="roundRect">
            <a:avLst>
              <a:gd name="adj" fmla="val 9783"/>
            </a:avLst>
          </a:prstGeom>
          <a:solidFill>
            <a:srgbClr val="1D1F2B"/>
          </a:solidFill>
          <a:ln w="12700">
            <a:solidFill>
              <a:srgbClr val="1D1F2B"/>
            </a:solidFill>
            <a:prstDash val="solid"/>
          </a:ln>
        </p:spPr>
      </p:sp>
      <p:sp>
        <p:nvSpPr>
          <p:cNvPr id="8" name="Text 6"/>
          <p:cNvSpPr/>
          <p:nvPr/>
        </p:nvSpPr>
        <p:spPr>
          <a:xfrm>
            <a:off x="6812280" y="1691640"/>
            <a:ext cx="1737360" cy="841248"/>
          </a:xfrm>
          <a:prstGeom prst="rect">
            <a:avLst/>
          </a:prstGeom>
          <a:noFill/>
          <a:ln/>
        </p:spPr>
        <p:txBody>
          <a:bodyPr wrap="square" lIns="0" tIns="0" rIns="0" bIns="0" rtlCol="0" anchor="ctr"/>
          <a:lstStyle/>
          <a:p>
            <a:pPr indent="0" marL="0">
              <a:buNone/>
            </a:pPr>
            <a:r>
              <a:rPr lang="en-US" sz="3200" b="1" dirty="0">
                <a:solidFill>
                  <a:srgbClr val="27D3BE"/>
                </a:solidFill>
                <a:latin typeface="Palatino Linotype" pitchFamily="34" charset="0"/>
                <a:ea typeface="Palatino Linotype" pitchFamily="34" charset="-122"/>
                <a:cs typeface="Palatino Linotype" pitchFamily="34" charset="-120"/>
              </a:rPr>
              <a:t>5 679</a:t>
            </a:r>
            <a:endParaRPr lang="en-US" sz="3200" dirty="0"/>
          </a:p>
        </p:txBody>
      </p:sp>
      <p:sp>
        <p:nvSpPr>
          <p:cNvPr id="9" name="Text 7"/>
          <p:cNvSpPr/>
          <p:nvPr/>
        </p:nvSpPr>
        <p:spPr>
          <a:xfrm>
            <a:off x="8641080" y="1764792"/>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născuți vii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România: 134 238</a:t>
            </a:r>
            <a:endParaRPr lang="en-US" sz="1500" dirty="0"/>
          </a:p>
        </p:txBody>
      </p:sp>
      <p:sp>
        <p:nvSpPr>
          <p:cNvPr id="10" name="Shape 8"/>
          <p:cNvSpPr/>
          <p:nvPr/>
        </p:nvSpPr>
        <p:spPr>
          <a:xfrm>
            <a:off x="6583680" y="2651760"/>
            <a:ext cx="4983480" cy="841248"/>
          </a:xfrm>
          <a:prstGeom prst="roundRect">
            <a:avLst>
              <a:gd name="adj" fmla="val 9783"/>
            </a:avLst>
          </a:prstGeom>
          <a:solidFill>
            <a:srgbClr val="1D1F2B"/>
          </a:solidFill>
          <a:ln w="12700">
            <a:solidFill>
              <a:srgbClr val="1D1F2B"/>
            </a:solidFill>
            <a:prstDash val="solid"/>
          </a:ln>
        </p:spPr>
      </p:sp>
      <p:sp>
        <p:nvSpPr>
          <p:cNvPr id="11" name="Text 9"/>
          <p:cNvSpPr/>
          <p:nvPr/>
        </p:nvSpPr>
        <p:spPr>
          <a:xfrm>
            <a:off x="6812280" y="2651760"/>
            <a:ext cx="1737360" cy="841248"/>
          </a:xfrm>
          <a:prstGeom prst="rect">
            <a:avLst/>
          </a:prstGeom>
          <a:noFill/>
          <a:ln/>
        </p:spPr>
        <p:txBody>
          <a:bodyPr wrap="square" lIns="0" tIns="0" rIns="0" bIns="0" rtlCol="0" anchor="ctr"/>
          <a:lstStyle/>
          <a:p>
            <a:pPr indent="0" marL="0">
              <a:buNone/>
            </a:pPr>
            <a:r>
              <a:rPr lang="en-US" sz="3200" b="1" dirty="0">
                <a:solidFill>
                  <a:srgbClr val="FF4757"/>
                </a:solidFill>
                <a:latin typeface="Palatino Linotype" pitchFamily="34" charset="0"/>
                <a:ea typeface="Palatino Linotype" pitchFamily="34" charset="-122"/>
                <a:cs typeface="Palatino Linotype" pitchFamily="34" charset="-120"/>
              </a:rPr>
              <a:t>7 688</a:t>
            </a:r>
            <a:endParaRPr lang="en-US" sz="3200" dirty="0"/>
          </a:p>
        </p:txBody>
      </p:sp>
      <p:sp>
        <p:nvSpPr>
          <p:cNvPr id="12" name="Text 10"/>
          <p:cNvSpPr/>
          <p:nvPr/>
        </p:nvSpPr>
        <p:spPr>
          <a:xfrm>
            <a:off x="8641080" y="2724912"/>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decedați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România: 238 316</a:t>
            </a:r>
            <a:endParaRPr lang="en-US" sz="1500" dirty="0"/>
          </a:p>
        </p:txBody>
      </p:sp>
      <p:sp>
        <p:nvSpPr>
          <p:cNvPr id="13" name="Shape 11"/>
          <p:cNvSpPr/>
          <p:nvPr/>
        </p:nvSpPr>
        <p:spPr>
          <a:xfrm>
            <a:off x="6583680" y="3611880"/>
            <a:ext cx="4983480" cy="841248"/>
          </a:xfrm>
          <a:prstGeom prst="roundRect">
            <a:avLst>
              <a:gd name="adj" fmla="val 9783"/>
            </a:avLst>
          </a:prstGeom>
          <a:solidFill>
            <a:srgbClr val="1D1F2B"/>
          </a:solidFill>
          <a:ln w="12700">
            <a:solidFill>
              <a:srgbClr val="1D1F2B"/>
            </a:solidFill>
            <a:prstDash val="solid"/>
          </a:ln>
        </p:spPr>
      </p:sp>
      <p:sp>
        <p:nvSpPr>
          <p:cNvPr id="14" name="Text 12"/>
          <p:cNvSpPr/>
          <p:nvPr/>
        </p:nvSpPr>
        <p:spPr>
          <a:xfrm>
            <a:off x="6812280" y="3611880"/>
            <a:ext cx="1737360" cy="841248"/>
          </a:xfrm>
          <a:prstGeom prst="rect">
            <a:avLst/>
          </a:prstGeom>
          <a:noFill/>
          <a:ln/>
        </p:spPr>
        <p:txBody>
          <a:bodyPr wrap="square" lIns="0" tIns="0" rIns="0" bIns="0" rtlCol="0" anchor="ctr"/>
          <a:lstStyle/>
          <a:p>
            <a:pPr indent="0" marL="0">
              <a:buNone/>
            </a:pPr>
            <a:r>
              <a:rPr lang="en-US" sz="3200" b="1" dirty="0">
                <a:solidFill>
                  <a:srgbClr val="9B7EF7"/>
                </a:solidFill>
                <a:latin typeface="Palatino Linotype" pitchFamily="34" charset="0"/>
                <a:ea typeface="Palatino Linotype" pitchFamily="34" charset="-122"/>
                <a:cs typeface="Palatino Linotype" pitchFamily="34" charset="-120"/>
              </a:rPr>
              <a:t>32</a:t>
            </a:r>
            <a:endParaRPr lang="en-US" sz="3200" dirty="0"/>
          </a:p>
        </p:txBody>
      </p:sp>
      <p:sp>
        <p:nvSpPr>
          <p:cNvPr id="15" name="Text 13"/>
          <p:cNvSpPr/>
          <p:nvPr/>
        </p:nvSpPr>
        <p:spPr>
          <a:xfrm>
            <a:off x="8641080" y="3685032"/>
            <a:ext cx="2834640" cy="73152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decese sub un an</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România: 799</a:t>
            </a:r>
            <a:endParaRPr lang="en-US" sz="1500" dirty="0"/>
          </a:p>
        </p:txBody>
      </p:sp>
      <p:sp>
        <p:nvSpPr>
          <p:cNvPr id="16" name="Shape 14"/>
          <p:cNvSpPr/>
          <p:nvPr/>
        </p:nvSpPr>
        <p:spPr>
          <a:xfrm>
            <a:off x="594360" y="4709160"/>
            <a:ext cx="10972800" cy="1097280"/>
          </a:xfrm>
          <a:prstGeom prst="roundRect">
            <a:avLst>
              <a:gd name="adj" fmla="val 7500"/>
            </a:avLst>
          </a:prstGeom>
          <a:solidFill>
            <a:srgbClr val="272A38"/>
          </a:solidFill>
          <a:ln w="12700">
            <a:solidFill>
              <a:srgbClr val="272A38"/>
            </a:solidFill>
            <a:prstDash val="solid"/>
          </a:ln>
        </p:spPr>
      </p:sp>
      <p:sp>
        <p:nvSpPr>
          <p:cNvPr id="17" name="Text 15"/>
          <p:cNvSpPr/>
          <p:nvPr/>
        </p:nvSpPr>
        <p:spPr>
          <a:xfrm>
            <a:off x="868680" y="4709160"/>
            <a:ext cx="10424160" cy="109728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Ratele nu sunt date gata calculate: le obțineți voi, cu populația rezidentă, după exemplele lucrate pe datele României.</a:t>
            </a:r>
            <a:endParaRPr lang="en-US" sz="18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INS, baza de date TEMPO; populația rezidentă. Toate datele sunt în documentul lucrării.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STRUCTURA PE VÂRSTE ȘI PERSONALUL MEDICAL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intră în fișă: numere absolute</a:t>
            </a:r>
            <a:endParaRPr lang="en-US" sz="3000" dirty="0"/>
          </a:p>
        </p:txBody>
      </p:sp>
      <p:sp>
        <p:nvSpPr>
          <p:cNvPr id="4" name="Text 2"/>
          <p:cNvSpPr/>
          <p:nvPr/>
        </p:nvSpPr>
        <p:spPr>
          <a:xfrm>
            <a:off x="594360" y="1463040"/>
            <a:ext cx="530352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Populația rezidentă la 1 ianuarie 2026</a:t>
            </a:r>
            <a:endParaRPr lang="en-US" sz="1500" dirty="0"/>
          </a:p>
        </p:txBody>
      </p:sp>
      <p:sp>
        <p:nvSpPr>
          <p:cNvPr id="5" name="Text 3"/>
          <p:cNvSpPr/>
          <p:nvPr/>
        </p:nvSpPr>
        <p:spPr>
          <a:xfrm>
            <a:off x="685800" y="1874520"/>
            <a:ext cx="2011680" cy="530352"/>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Grupa</a:t>
            </a:r>
            <a:endParaRPr lang="en-US" sz="1300" dirty="0"/>
          </a:p>
        </p:txBody>
      </p:sp>
      <p:sp>
        <p:nvSpPr>
          <p:cNvPr id="6" name="Text 4"/>
          <p:cNvSpPr/>
          <p:nvPr/>
        </p:nvSpPr>
        <p:spPr>
          <a:xfrm>
            <a:off x="2697480" y="1874520"/>
            <a:ext cx="1463040" cy="530352"/>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Cluj</a:t>
            </a:r>
            <a:endParaRPr lang="en-US" sz="1300" dirty="0"/>
          </a:p>
        </p:txBody>
      </p:sp>
      <p:sp>
        <p:nvSpPr>
          <p:cNvPr id="7" name="Text 5"/>
          <p:cNvSpPr/>
          <p:nvPr/>
        </p:nvSpPr>
        <p:spPr>
          <a:xfrm>
            <a:off x="4206240" y="1874520"/>
            <a:ext cx="1691640" cy="530352"/>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România</a:t>
            </a:r>
            <a:endParaRPr lang="en-US" sz="1300" dirty="0"/>
          </a:p>
        </p:txBody>
      </p:sp>
      <p:sp>
        <p:nvSpPr>
          <p:cNvPr id="8" name="Shape 6"/>
          <p:cNvSpPr/>
          <p:nvPr/>
        </p:nvSpPr>
        <p:spPr>
          <a:xfrm>
            <a:off x="594360" y="2386584"/>
            <a:ext cx="5303520" cy="22860"/>
          </a:xfrm>
          <a:prstGeom prst="rect">
            <a:avLst/>
          </a:prstGeom>
          <a:solidFill>
            <a:srgbClr val="0E7C6B"/>
          </a:solidFill>
          <a:ln w="12700">
            <a:solidFill>
              <a:srgbClr val="0E7C6B"/>
            </a:solidFill>
            <a:prstDash val="solid"/>
          </a:ln>
        </p:spPr>
      </p:sp>
      <p:sp>
        <p:nvSpPr>
          <p:cNvPr id="9" name="Shape 7"/>
          <p:cNvSpPr/>
          <p:nvPr/>
        </p:nvSpPr>
        <p:spPr>
          <a:xfrm>
            <a:off x="594360" y="2404872"/>
            <a:ext cx="5303520" cy="530352"/>
          </a:xfrm>
          <a:prstGeom prst="rect">
            <a:avLst/>
          </a:prstGeom>
          <a:solidFill>
            <a:srgbClr val="ECEAE4"/>
          </a:solidFill>
          <a:ln w="12700">
            <a:solidFill>
              <a:srgbClr val="ECEAE4"/>
            </a:solidFill>
            <a:prstDash val="solid"/>
          </a:ln>
        </p:spPr>
      </p:sp>
      <p:sp>
        <p:nvSpPr>
          <p:cNvPr id="10" name="Text 8"/>
          <p:cNvSpPr/>
          <p:nvPr/>
        </p:nvSpPr>
        <p:spPr>
          <a:xfrm>
            <a:off x="685800" y="2404872"/>
            <a:ext cx="201168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0–14 ani</a:t>
            </a:r>
            <a:endParaRPr lang="en-US" sz="1500" dirty="0"/>
          </a:p>
        </p:txBody>
      </p:sp>
      <p:sp>
        <p:nvSpPr>
          <p:cNvPr id="11" name="Text 9"/>
          <p:cNvSpPr/>
          <p:nvPr/>
        </p:nvSpPr>
        <p:spPr>
          <a:xfrm>
            <a:off x="2697480" y="2404872"/>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104 093</a:t>
            </a:r>
            <a:endParaRPr lang="en-US" sz="1500" dirty="0"/>
          </a:p>
        </p:txBody>
      </p:sp>
      <p:sp>
        <p:nvSpPr>
          <p:cNvPr id="12" name="Text 10"/>
          <p:cNvSpPr/>
          <p:nvPr/>
        </p:nvSpPr>
        <p:spPr>
          <a:xfrm>
            <a:off x="4206240" y="2404872"/>
            <a:ext cx="16916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2 871 139</a:t>
            </a:r>
            <a:endParaRPr lang="en-US" sz="1500" dirty="0"/>
          </a:p>
        </p:txBody>
      </p:sp>
      <p:sp>
        <p:nvSpPr>
          <p:cNvPr id="13" name="Text 11"/>
          <p:cNvSpPr/>
          <p:nvPr/>
        </p:nvSpPr>
        <p:spPr>
          <a:xfrm>
            <a:off x="685800" y="2935224"/>
            <a:ext cx="201168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15–64 de ani</a:t>
            </a:r>
            <a:endParaRPr lang="en-US" sz="1500" dirty="0"/>
          </a:p>
        </p:txBody>
      </p:sp>
      <p:sp>
        <p:nvSpPr>
          <p:cNvPr id="14" name="Text 12"/>
          <p:cNvSpPr/>
          <p:nvPr/>
        </p:nvSpPr>
        <p:spPr>
          <a:xfrm>
            <a:off x="2697480" y="2935224"/>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458 507</a:t>
            </a:r>
            <a:endParaRPr lang="en-US" sz="1500" dirty="0"/>
          </a:p>
        </p:txBody>
      </p:sp>
      <p:sp>
        <p:nvSpPr>
          <p:cNvPr id="15" name="Text 13"/>
          <p:cNvSpPr/>
          <p:nvPr/>
        </p:nvSpPr>
        <p:spPr>
          <a:xfrm>
            <a:off x="4206240" y="2935224"/>
            <a:ext cx="16916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12 266 941</a:t>
            </a:r>
            <a:endParaRPr lang="en-US" sz="1500" dirty="0"/>
          </a:p>
        </p:txBody>
      </p:sp>
      <p:sp>
        <p:nvSpPr>
          <p:cNvPr id="16" name="Shape 14"/>
          <p:cNvSpPr/>
          <p:nvPr/>
        </p:nvSpPr>
        <p:spPr>
          <a:xfrm>
            <a:off x="594360" y="3465576"/>
            <a:ext cx="5303520" cy="530352"/>
          </a:xfrm>
          <a:prstGeom prst="rect">
            <a:avLst/>
          </a:prstGeom>
          <a:solidFill>
            <a:srgbClr val="ECEAE4"/>
          </a:solidFill>
          <a:ln w="12700">
            <a:solidFill>
              <a:srgbClr val="ECEAE4"/>
            </a:solidFill>
            <a:prstDash val="solid"/>
          </a:ln>
        </p:spPr>
      </p:sp>
      <p:sp>
        <p:nvSpPr>
          <p:cNvPr id="17" name="Text 15"/>
          <p:cNvSpPr/>
          <p:nvPr/>
        </p:nvSpPr>
        <p:spPr>
          <a:xfrm>
            <a:off x="685800" y="3465576"/>
            <a:ext cx="201168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65 de ani și peste</a:t>
            </a:r>
            <a:endParaRPr lang="en-US" sz="1500" dirty="0"/>
          </a:p>
        </p:txBody>
      </p:sp>
      <p:sp>
        <p:nvSpPr>
          <p:cNvPr id="18" name="Text 16"/>
          <p:cNvSpPr/>
          <p:nvPr/>
        </p:nvSpPr>
        <p:spPr>
          <a:xfrm>
            <a:off x="2697480" y="3465576"/>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138 964</a:t>
            </a:r>
            <a:endParaRPr lang="en-US" sz="1500" dirty="0"/>
          </a:p>
        </p:txBody>
      </p:sp>
      <p:sp>
        <p:nvSpPr>
          <p:cNvPr id="19" name="Text 17"/>
          <p:cNvSpPr/>
          <p:nvPr/>
        </p:nvSpPr>
        <p:spPr>
          <a:xfrm>
            <a:off x="4206240" y="3465576"/>
            <a:ext cx="16916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3 903 242</a:t>
            </a:r>
            <a:endParaRPr lang="en-US" sz="1500" dirty="0"/>
          </a:p>
        </p:txBody>
      </p:sp>
      <p:sp>
        <p:nvSpPr>
          <p:cNvPr id="20" name="Text 18"/>
          <p:cNvSpPr/>
          <p:nvPr/>
        </p:nvSpPr>
        <p:spPr>
          <a:xfrm>
            <a:off x="685800" y="3995928"/>
            <a:ext cx="201168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Total</a:t>
            </a:r>
            <a:endParaRPr lang="en-US" sz="1500" dirty="0"/>
          </a:p>
        </p:txBody>
      </p:sp>
      <p:sp>
        <p:nvSpPr>
          <p:cNvPr id="21" name="Text 19"/>
          <p:cNvSpPr/>
          <p:nvPr/>
        </p:nvSpPr>
        <p:spPr>
          <a:xfrm>
            <a:off x="2697480" y="3995928"/>
            <a:ext cx="1463040" cy="530352"/>
          </a:xfrm>
          <a:prstGeom prst="rect">
            <a:avLst/>
          </a:prstGeom>
          <a:noFill/>
          <a:ln/>
        </p:spPr>
        <p:txBody>
          <a:bodyPr wrap="square" lIns="0" tIns="0" rIns="0" bIns="0" rtlCol="0" anchor="ctr"/>
          <a:lstStyle/>
          <a:p>
            <a:pPr algn="r" indent="0" marL="0">
              <a:buNone/>
            </a:pPr>
            <a:r>
              <a:rPr lang="en-US" sz="1500" b="1" dirty="0">
                <a:solidFill>
                  <a:srgbClr val="11121A"/>
                </a:solidFill>
                <a:latin typeface="Palatino Linotype" pitchFamily="34" charset="0"/>
                <a:ea typeface="Palatino Linotype" pitchFamily="34" charset="-122"/>
                <a:cs typeface="Palatino Linotype" pitchFamily="34" charset="-120"/>
              </a:rPr>
              <a:t>701 564</a:t>
            </a:r>
            <a:endParaRPr lang="en-US" sz="1500" dirty="0"/>
          </a:p>
        </p:txBody>
      </p:sp>
      <p:sp>
        <p:nvSpPr>
          <p:cNvPr id="22" name="Text 20"/>
          <p:cNvSpPr/>
          <p:nvPr/>
        </p:nvSpPr>
        <p:spPr>
          <a:xfrm>
            <a:off x="4206240" y="3995928"/>
            <a:ext cx="1691640" cy="530352"/>
          </a:xfrm>
          <a:prstGeom prst="rect">
            <a:avLst/>
          </a:prstGeom>
          <a:noFill/>
          <a:ln/>
        </p:spPr>
        <p:txBody>
          <a:bodyPr wrap="square" lIns="0" tIns="0" rIns="0" bIns="0" rtlCol="0" anchor="ctr"/>
          <a:lstStyle/>
          <a:p>
            <a:pPr algn="r" indent="0" marL="0">
              <a:buNone/>
            </a:pPr>
            <a:r>
              <a:rPr lang="en-US" sz="1500" b="1" dirty="0">
                <a:solidFill>
                  <a:srgbClr val="11121A"/>
                </a:solidFill>
                <a:latin typeface="Palatino Linotype" pitchFamily="34" charset="0"/>
                <a:ea typeface="Palatino Linotype" pitchFamily="34" charset="-122"/>
                <a:cs typeface="Palatino Linotype" pitchFamily="34" charset="-120"/>
              </a:rPr>
              <a:t>19 041 322</a:t>
            </a:r>
            <a:endParaRPr lang="en-US" sz="1500" dirty="0"/>
          </a:p>
        </p:txBody>
      </p:sp>
      <p:sp>
        <p:nvSpPr>
          <p:cNvPr id="23" name="Text 21"/>
          <p:cNvSpPr/>
          <p:nvPr/>
        </p:nvSpPr>
        <p:spPr>
          <a:xfrm>
            <a:off x="6355080" y="1463040"/>
            <a:ext cx="521208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Personalul medical în 2025</a:t>
            </a:r>
            <a:endParaRPr lang="en-US" sz="1500" dirty="0"/>
          </a:p>
        </p:txBody>
      </p:sp>
      <p:sp>
        <p:nvSpPr>
          <p:cNvPr id="24" name="Text 22"/>
          <p:cNvSpPr/>
          <p:nvPr/>
        </p:nvSpPr>
        <p:spPr>
          <a:xfrm>
            <a:off x="6446520" y="1874520"/>
            <a:ext cx="2514600" cy="530352"/>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Categoria</a:t>
            </a:r>
            <a:endParaRPr lang="en-US" sz="1300" dirty="0"/>
          </a:p>
        </p:txBody>
      </p:sp>
      <p:sp>
        <p:nvSpPr>
          <p:cNvPr id="25" name="Text 23"/>
          <p:cNvSpPr/>
          <p:nvPr/>
        </p:nvSpPr>
        <p:spPr>
          <a:xfrm>
            <a:off x="8961120" y="1874520"/>
            <a:ext cx="1097280" cy="530352"/>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Cluj</a:t>
            </a:r>
            <a:endParaRPr lang="en-US" sz="1300" dirty="0"/>
          </a:p>
        </p:txBody>
      </p:sp>
      <p:sp>
        <p:nvSpPr>
          <p:cNvPr id="26" name="Text 24"/>
          <p:cNvSpPr/>
          <p:nvPr/>
        </p:nvSpPr>
        <p:spPr>
          <a:xfrm>
            <a:off x="10058400" y="1874520"/>
            <a:ext cx="1463040" cy="530352"/>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România</a:t>
            </a:r>
            <a:endParaRPr lang="en-US" sz="1300" dirty="0"/>
          </a:p>
        </p:txBody>
      </p:sp>
      <p:sp>
        <p:nvSpPr>
          <p:cNvPr id="27" name="Shape 25"/>
          <p:cNvSpPr/>
          <p:nvPr/>
        </p:nvSpPr>
        <p:spPr>
          <a:xfrm>
            <a:off x="6355080" y="2386584"/>
            <a:ext cx="5212080" cy="22860"/>
          </a:xfrm>
          <a:prstGeom prst="rect">
            <a:avLst/>
          </a:prstGeom>
          <a:solidFill>
            <a:srgbClr val="0E7C6B"/>
          </a:solidFill>
          <a:ln w="12700">
            <a:solidFill>
              <a:srgbClr val="0E7C6B"/>
            </a:solidFill>
            <a:prstDash val="solid"/>
          </a:ln>
        </p:spPr>
      </p:sp>
      <p:sp>
        <p:nvSpPr>
          <p:cNvPr id="28" name="Shape 26"/>
          <p:cNvSpPr/>
          <p:nvPr/>
        </p:nvSpPr>
        <p:spPr>
          <a:xfrm>
            <a:off x="6355080" y="2404872"/>
            <a:ext cx="5212080" cy="530352"/>
          </a:xfrm>
          <a:prstGeom prst="rect">
            <a:avLst/>
          </a:prstGeom>
          <a:solidFill>
            <a:srgbClr val="ECEAE4"/>
          </a:solidFill>
          <a:ln w="12700">
            <a:solidFill>
              <a:srgbClr val="ECEAE4"/>
            </a:solidFill>
            <a:prstDash val="solid"/>
          </a:ln>
        </p:spPr>
      </p:sp>
      <p:sp>
        <p:nvSpPr>
          <p:cNvPr id="29" name="Text 27"/>
          <p:cNvSpPr/>
          <p:nvPr/>
        </p:nvSpPr>
        <p:spPr>
          <a:xfrm>
            <a:off x="6446520" y="2404872"/>
            <a:ext cx="251460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Medici</a:t>
            </a:r>
            <a:endParaRPr lang="en-US" sz="1500" dirty="0"/>
          </a:p>
        </p:txBody>
      </p:sp>
      <p:sp>
        <p:nvSpPr>
          <p:cNvPr id="30" name="Text 28"/>
          <p:cNvSpPr/>
          <p:nvPr/>
        </p:nvSpPr>
        <p:spPr>
          <a:xfrm>
            <a:off x="8961120" y="2404872"/>
            <a:ext cx="109728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4 454</a:t>
            </a:r>
            <a:endParaRPr lang="en-US" sz="1500" dirty="0"/>
          </a:p>
        </p:txBody>
      </p:sp>
      <p:sp>
        <p:nvSpPr>
          <p:cNvPr id="31" name="Text 29"/>
          <p:cNvSpPr/>
          <p:nvPr/>
        </p:nvSpPr>
        <p:spPr>
          <a:xfrm>
            <a:off x="10058400" y="2404872"/>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77 556</a:t>
            </a:r>
            <a:endParaRPr lang="en-US" sz="1500" dirty="0"/>
          </a:p>
        </p:txBody>
      </p:sp>
      <p:sp>
        <p:nvSpPr>
          <p:cNvPr id="32" name="Text 30"/>
          <p:cNvSpPr/>
          <p:nvPr/>
        </p:nvSpPr>
        <p:spPr>
          <a:xfrm>
            <a:off x="6446520" y="2935224"/>
            <a:ext cx="251460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Medici de familie</a:t>
            </a:r>
            <a:endParaRPr lang="en-US" sz="1500" dirty="0"/>
          </a:p>
        </p:txBody>
      </p:sp>
      <p:sp>
        <p:nvSpPr>
          <p:cNvPr id="33" name="Text 31"/>
          <p:cNvSpPr/>
          <p:nvPr/>
        </p:nvSpPr>
        <p:spPr>
          <a:xfrm>
            <a:off x="8961120" y="2935224"/>
            <a:ext cx="109728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505</a:t>
            </a:r>
            <a:endParaRPr lang="en-US" sz="1500" dirty="0"/>
          </a:p>
        </p:txBody>
      </p:sp>
      <p:sp>
        <p:nvSpPr>
          <p:cNvPr id="34" name="Text 32"/>
          <p:cNvSpPr/>
          <p:nvPr/>
        </p:nvSpPr>
        <p:spPr>
          <a:xfrm>
            <a:off x="10058400" y="2935224"/>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13 227</a:t>
            </a:r>
            <a:endParaRPr lang="en-US" sz="1500" dirty="0"/>
          </a:p>
        </p:txBody>
      </p:sp>
      <p:sp>
        <p:nvSpPr>
          <p:cNvPr id="35" name="Shape 33"/>
          <p:cNvSpPr/>
          <p:nvPr/>
        </p:nvSpPr>
        <p:spPr>
          <a:xfrm>
            <a:off x="6355080" y="3465576"/>
            <a:ext cx="5212080" cy="530352"/>
          </a:xfrm>
          <a:prstGeom prst="rect">
            <a:avLst/>
          </a:prstGeom>
          <a:solidFill>
            <a:srgbClr val="ECEAE4"/>
          </a:solidFill>
          <a:ln w="12700">
            <a:solidFill>
              <a:srgbClr val="ECEAE4"/>
            </a:solidFill>
            <a:prstDash val="solid"/>
          </a:ln>
        </p:spPr>
      </p:sp>
      <p:sp>
        <p:nvSpPr>
          <p:cNvPr id="36" name="Text 34"/>
          <p:cNvSpPr/>
          <p:nvPr/>
        </p:nvSpPr>
        <p:spPr>
          <a:xfrm>
            <a:off x="6446520" y="3465576"/>
            <a:ext cx="251460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Asistenți, personal mediu</a:t>
            </a:r>
            <a:endParaRPr lang="en-US" sz="1500" dirty="0"/>
          </a:p>
        </p:txBody>
      </p:sp>
      <p:sp>
        <p:nvSpPr>
          <p:cNvPr id="37" name="Text 35"/>
          <p:cNvSpPr/>
          <p:nvPr/>
        </p:nvSpPr>
        <p:spPr>
          <a:xfrm>
            <a:off x="8961120" y="3465576"/>
            <a:ext cx="109728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5 002</a:t>
            </a:r>
            <a:endParaRPr lang="en-US" sz="1500" dirty="0"/>
          </a:p>
        </p:txBody>
      </p:sp>
      <p:sp>
        <p:nvSpPr>
          <p:cNvPr id="38" name="Text 36"/>
          <p:cNvSpPr/>
          <p:nvPr/>
        </p:nvSpPr>
        <p:spPr>
          <a:xfrm>
            <a:off x="10058400" y="3465576"/>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145 320</a:t>
            </a:r>
            <a:endParaRPr lang="en-US" sz="1500" dirty="0"/>
          </a:p>
        </p:txBody>
      </p:sp>
      <p:sp>
        <p:nvSpPr>
          <p:cNvPr id="39" name="Text 37"/>
          <p:cNvSpPr/>
          <p:nvPr/>
        </p:nvSpPr>
        <p:spPr>
          <a:xfrm>
            <a:off x="6446520" y="3995928"/>
            <a:ext cx="2514600" cy="530352"/>
          </a:xfrm>
          <a:prstGeom prst="rect">
            <a:avLst/>
          </a:prstGeom>
          <a:noFill/>
          <a:ln/>
        </p:spPr>
        <p:txBody>
          <a:bodyPr wrap="square" lIns="0" tIns="0" rIns="0" bIns="0" rtlCol="0" anchor="ctr"/>
          <a:lstStyle/>
          <a:p>
            <a:pPr algn="l" indent="0" marL="0">
              <a:buNone/>
            </a:pPr>
            <a:r>
              <a:rPr lang="en-US" sz="1500" b="1" dirty="0">
                <a:solidFill>
                  <a:srgbClr val="11121A"/>
                </a:solidFill>
                <a:latin typeface="Palatino Linotype" pitchFamily="34" charset="0"/>
                <a:ea typeface="Palatino Linotype" pitchFamily="34" charset="-122"/>
                <a:cs typeface="Palatino Linotype" pitchFamily="34" charset="-120"/>
              </a:rPr>
              <a:t>Asistenți cu studii superioare</a:t>
            </a:r>
            <a:endParaRPr lang="en-US" sz="1500" dirty="0"/>
          </a:p>
        </p:txBody>
      </p:sp>
      <p:sp>
        <p:nvSpPr>
          <p:cNvPr id="40" name="Text 38"/>
          <p:cNvSpPr/>
          <p:nvPr/>
        </p:nvSpPr>
        <p:spPr>
          <a:xfrm>
            <a:off x="8961120" y="3995928"/>
            <a:ext cx="109728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2 406</a:t>
            </a:r>
            <a:endParaRPr lang="en-US" sz="1500" dirty="0"/>
          </a:p>
        </p:txBody>
      </p:sp>
      <p:sp>
        <p:nvSpPr>
          <p:cNvPr id="41" name="Text 39"/>
          <p:cNvSpPr/>
          <p:nvPr/>
        </p:nvSpPr>
        <p:spPr>
          <a:xfrm>
            <a:off x="10058400" y="3995928"/>
            <a:ext cx="1463040" cy="530352"/>
          </a:xfrm>
          <a:prstGeom prst="rect">
            <a:avLst/>
          </a:prstGeom>
          <a:noFill/>
          <a:ln/>
        </p:spPr>
        <p:txBody>
          <a:bodyPr wrap="square" lIns="0" tIns="0" rIns="0" bIns="0" rtlCol="0" anchor="ctr"/>
          <a:lstStyle/>
          <a:p>
            <a:pPr algn="r" indent="0" marL="0">
              <a:buNone/>
            </a:pPr>
            <a:r>
              <a:rPr lang="en-US" sz="1500" dirty="0">
                <a:solidFill>
                  <a:srgbClr val="11121A"/>
                </a:solidFill>
                <a:latin typeface="Palatino Linotype" pitchFamily="34" charset="0"/>
                <a:ea typeface="Palatino Linotype" pitchFamily="34" charset="-122"/>
                <a:cs typeface="Palatino Linotype" pitchFamily="34" charset="-120"/>
              </a:rPr>
              <a:t>22 040</a:t>
            </a:r>
            <a:endParaRPr lang="en-US" sz="1500" dirty="0"/>
          </a:p>
        </p:txBody>
      </p:sp>
      <p:sp>
        <p:nvSpPr>
          <p:cNvPr id="42" name="Shape 40"/>
          <p:cNvSpPr/>
          <p:nvPr/>
        </p:nvSpPr>
        <p:spPr>
          <a:xfrm>
            <a:off x="594360" y="4754880"/>
            <a:ext cx="10972800" cy="1143000"/>
          </a:xfrm>
          <a:prstGeom prst="roundRect">
            <a:avLst>
              <a:gd name="adj" fmla="val 7200"/>
            </a:avLst>
          </a:prstGeom>
          <a:solidFill>
            <a:srgbClr val="ECEAE4"/>
          </a:solidFill>
          <a:ln w="12700">
            <a:solidFill>
              <a:srgbClr val="ECEAE4"/>
            </a:solidFill>
            <a:prstDash val="solid"/>
          </a:ln>
        </p:spPr>
      </p:sp>
      <p:sp>
        <p:nvSpPr>
          <p:cNvPr id="43" name="Text 41"/>
          <p:cNvSpPr/>
          <p:nvPr/>
        </p:nvSpPr>
        <p:spPr>
          <a:xfrm>
            <a:off x="868680" y="4754880"/>
            <a:ext cx="10424160" cy="114300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Fiecare persoană este numărată o singură dată, la funcția de bază; numărul medicilor include și personalul din învățământul medico-farmaceutic și din cercetare. Asistenții medicali din calcul sunt suma celor două categorii; moașele, înregistrate separat, nu sunt incluse.</a:t>
            </a:r>
            <a:endParaRPr lang="en-US" sz="1650" dirty="0"/>
          </a:p>
        </p:txBody>
      </p:sp>
      <p:sp>
        <p:nvSpPr>
          <p:cNvPr id="44" name="Text 4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INS, baza de date TEMPO.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GRAFIC · JUDEȚUL CLUJ FAȚĂ DE ROMÂNIA, 2025</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Durata medie a vieții și șomajul înregistrat</a:t>
            </a:r>
            <a:endParaRPr lang="en-US" sz="3000" dirty="0"/>
          </a:p>
        </p:txBody>
      </p:sp>
      <p:sp>
        <p:nvSpPr>
          <p:cNvPr id="4" name="Text 2"/>
          <p:cNvSpPr/>
          <p:nvPr/>
        </p:nvSpPr>
        <p:spPr>
          <a:xfrm>
            <a:off x="594360" y="1508760"/>
            <a:ext cx="685800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Durata medie a vieții (ani)</a:t>
            </a:r>
            <a:endParaRPr lang="en-US" sz="1500" dirty="0"/>
          </a:p>
        </p:txBody>
      </p:sp>
      <p:sp>
        <p:nvSpPr>
          <p:cNvPr id="5" name="Text 3"/>
          <p:cNvSpPr/>
          <p:nvPr/>
        </p:nvSpPr>
        <p:spPr>
          <a:xfrm>
            <a:off x="594360" y="2286000"/>
            <a:ext cx="164592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Total</a:t>
            </a:r>
            <a:endParaRPr lang="en-US" sz="1600" dirty="0"/>
          </a:p>
        </p:txBody>
      </p:sp>
      <p:sp>
        <p:nvSpPr>
          <p:cNvPr id="6" name="Shape 4"/>
          <p:cNvSpPr/>
          <p:nvPr/>
        </p:nvSpPr>
        <p:spPr>
          <a:xfrm>
            <a:off x="2331720" y="2514600"/>
            <a:ext cx="4983480" cy="9144"/>
          </a:xfrm>
          <a:prstGeom prst="rect">
            <a:avLst/>
          </a:prstGeom>
          <a:solidFill>
            <a:srgbClr val="E2DFD8"/>
          </a:solidFill>
          <a:ln w="12700">
            <a:solidFill>
              <a:srgbClr val="E2DFD8"/>
            </a:solidFill>
            <a:prstDash val="solid"/>
          </a:ln>
        </p:spPr>
      </p:sp>
      <p:sp>
        <p:nvSpPr>
          <p:cNvPr id="7" name="Shape 5"/>
          <p:cNvSpPr/>
          <p:nvPr/>
        </p:nvSpPr>
        <p:spPr>
          <a:xfrm>
            <a:off x="4474616" y="2496312"/>
            <a:ext cx="1255837" cy="36576"/>
          </a:xfrm>
          <a:prstGeom prst="rect">
            <a:avLst/>
          </a:prstGeom>
          <a:solidFill>
            <a:srgbClr val="B5B2AA"/>
          </a:solidFill>
          <a:ln w="12700">
            <a:solidFill>
              <a:srgbClr val="B5B2AA"/>
            </a:solidFill>
            <a:prstDash val="solid"/>
          </a:ln>
        </p:spPr>
      </p:sp>
      <p:sp>
        <p:nvSpPr>
          <p:cNvPr id="8" name="Shape 6"/>
          <p:cNvSpPr/>
          <p:nvPr/>
        </p:nvSpPr>
        <p:spPr>
          <a:xfrm>
            <a:off x="4346600" y="2386584"/>
            <a:ext cx="256032" cy="256032"/>
          </a:xfrm>
          <a:prstGeom prst="ellipse">
            <a:avLst/>
          </a:prstGeom>
          <a:solidFill>
            <a:srgbClr val="5A5F75"/>
          </a:solidFill>
          <a:ln w="19050">
            <a:solidFill>
              <a:srgbClr val="F6F5F2"/>
            </a:solidFill>
            <a:prstDash val="solid"/>
          </a:ln>
        </p:spPr>
      </p:sp>
      <p:sp>
        <p:nvSpPr>
          <p:cNvPr id="9" name="Text 7"/>
          <p:cNvSpPr/>
          <p:nvPr/>
        </p:nvSpPr>
        <p:spPr>
          <a:xfrm>
            <a:off x="3925976" y="2788920"/>
            <a:ext cx="1097280" cy="329184"/>
          </a:xfrm>
          <a:prstGeom prst="rect">
            <a:avLst/>
          </a:prstGeom>
          <a:noFill/>
          <a:ln/>
        </p:spPr>
        <p:txBody>
          <a:bodyPr wrap="square" lIns="0" tIns="0" rIns="0" bIns="0" rtlCol="0" anchor="ctr"/>
          <a:lstStyle/>
          <a:p>
            <a:pPr algn="ctr" indent="0" marL="0">
              <a:buNone/>
            </a:pPr>
            <a:r>
              <a:rPr lang="en-US" sz="1400" dirty="0">
                <a:solidFill>
                  <a:srgbClr val="5A5F75"/>
                </a:solidFill>
                <a:latin typeface="Palatino Linotype" pitchFamily="34" charset="0"/>
                <a:ea typeface="Palatino Linotype" pitchFamily="34" charset="-122"/>
                <a:cs typeface="Palatino Linotype" pitchFamily="34" charset="-120"/>
              </a:rPr>
              <a:t>77,45</a:t>
            </a:r>
            <a:endParaRPr lang="en-US" sz="1400" dirty="0"/>
          </a:p>
        </p:txBody>
      </p:sp>
      <p:sp>
        <p:nvSpPr>
          <p:cNvPr id="10" name="Shape 8"/>
          <p:cNvSpPr/>
          <p:nvPr/>
        </p:nvSpPr>
        <p:spPr>
          <a:xfrm>
            <a:off x="5602437" y="2386584"/>
            <a:ext cx="256032" cy="256032"/>
          </a:xfrm>
          <a:prstGeom prst="ellipse">
            <a:avLst/>
          </a:prstGeom>
          <a:solidFill>
            <a:srgbClr val="B02532"/>
          </a:solidFill>
          <a:ln w="19050">
            <a:solidFill>
              <a:srgbClr val="F6F5F2"/>
            </a:solidFill>
            <a:prstDash val="solid"/>
          </a:ln>
        </p:spPr>
      </p:sp>
      <p:sp>
        <p:nvSpPr>
          <p:cNvPr id="11" name="Text 9"/>
          <p:cNvSpPr/>
          <p:nvPr/>
        </p:nvSpPr>
        <p:spPr>
          <a:xfrm>
            <a:off x="5181813" y="1947672"/>
            <a:ext cx="1097280" cy="329184"/>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78,71</a:t>
            </a:r>
            <a:endParaRPr lang="en-US" sz="1600" dirty="0"/>
          </a:p>
        </p:txBody>
      </p:sp>
      <p:sp>
        <p:nvSpPr>
          <p:cNvPr id="12" name="Text 10"/>
          <p:cNvSpPr/>
          <p:nvPr/>
        </p:nvSpPr>
        <p:spPr>
          <a:xfrm>
            <a:off x="594360" y="3337560"/>
            <a:ext cx="164592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Mediul urban</a:t>
            </a:r>
            <a:endParaRPr lang="en-US" sz="1600" dirty="0"/>
          </a:p>
        </p:txBody>
      </p:sp>
      <p:sp>
        <p:nvSpPr>
          <p:cNvPr id="13" name="Shape 11"/>
          <p:cNvSpPr/>
          <p:nvPr/>
        </p:nvSpPr>
        <p:spPr>
          <a:xfrm>
            <a:off x="2331720" y="3566160"/>
            <a:ext cx="4983480" cy="9144"/>
          </a:xfrm>
          <a:prstGeom prst="rect">
            <a:avLst/>
          </a:prstGeom>
          <a:solidFill>
            <a:srgbClr val="E2DFD8"/>
          </a:solidFill>
          <a:ln w="12700">
            <a:solidFill>
              <a:srgbClr val="E2DFD8"/>
            </a:solidFill>
            <a:prstDash val="solid"/>
          </a:ln>
        </p:spPr>
      </p:sp>
      <p:sp>
        <p:nvSpPr>
          <p:cNvPr id="14" name="Shape 12"/>
          <p:cNvSpPr/>
          <p:nvPr/>
        </p:nvSpPr>
        <p:spPr>
          <a:xfrm>
            <a:off x="5770321" y="3547872"/>
            <a:ext cx="1066465" cy="36576"/>
          </a:xfrm>
          <a:prstGeom prst="rect">
            <a:avLst/>
          </a:prstGeom>
          <a:solidFill>
            <a:srgbClr val="B5B2AA"/>
          </a:solidFill>
          <a:ln w="12700">
            <a:solidFill>
              <a:srgbClr val="B5B2AA"/>
            </a:solidFill>
            <a:prstDash val="solid"/>
          </a:ln>
        </p:spPr>
      </p:sp>
      <p:sp>
        <p:nvSpPr>
          <p:cNvPr id="15" name="Shape 13"/>
          <p:cNvSpPr/>
          <p:nvPr/>
        </p:nvSpPr>
        <p:spPr>
          <a:xfrm>
            <a:off x="5642305" y="3438144"/>
            <a:ext cx="256032" cy="256032"/>
          </a:xfrm>
          <a:prstGeom prst="ellipse">
            <a:avLst/>
          </a:prstGeom>
          <a:solidFill>
            <a:srgbClr val="5A5F75"/>
          </a:solidFill>
          <a:ln w="19050">
            <a:solidFill>
              <a:srgbClr val="F6F5F2"/>
            </a:solidFill>
            <a:prstDash val="solid"/>
          </a:ln>
        </p:spPr>
      </p:sp>
      <p:sp>
        <p:nvSpPr>
          <p:cNvPr id="16" name="Text 14"/>
          <p:cNvSpPr/>
          <p:nvPr/>
        </p:nvSpPr>
        <p:spPr>
          <a:xfrm>
            <a:off x="5221681" y="3840480"/>
            <a:ext cx="1097280" cy="329184"/>
          </a:xfrm>
          <a:prstGeom prst="rect">
            <a:avLst/>
          </a:prstGeom>
          <a:noFill/>
          <a:ln/>
        </p:spPr>
        <p:txBody>
          <a:bodyPr wrap="square" lIns="0" tIns="0" rIns="0" bIns="0" rtlCol="0" anchor="ctr"/>
          <a:lstStyle/>
          <a:p>
            <a:pPr algn="ctr" indent="0" marL="0">
              <a:buNone/>
            </a:pPr>
            <a:r>
              <a:rPr lang="en-US" sz="1400" dirty="0">
                <a:solidFill>
                  <a:srgbClr val="5A5F75"/>
                </a:solidFill>
                <a:latin typeface="Palatino Linotype" pitchFamily="34" charset="0"/>
                <a:ea typeface="Palatino Linotype" pitchFamily="34" charset="-122"/>
                <a:cs typeface="Palatino Linotype" pitchFamily="34" charset="-120"/>
              </a:rPr>
              <a:t>78,75</a:t>
            </a:r>
            <a:endParaRPr lang="en-US" sz="1400" dirty="0"/>
          </a:p>
        </p:txBody>
      </p:sp>
      <p:sp>
        <p:nvSpPr>
          <p:cNvPr id="17" name="Shape 15"/>
          <p:cNvSpPr/>
          <p:nvPr/>
        </p:nvSpPr>
        <p:spPr>
          <a:xfrm>
            <a:off x="6708770" y="3438144"/>
            <a:ext cx="256032" cy="256032"/>
          </a:xfrm>
          <a:prstGeom prst="ellipse">
            <a:avLst/>
          </a:prstGeom>
          <a:solidFill>
            <a:srgbClr val="B02532"/>
          </a:solidFill>
          <a:ln w="19050">
            <a:solidFill>
              <a:srgbClr val="F6F5F2"/>
            </a:solidFill>
            <a:prstDash val="solid"/>
          </a:ln>
        </p:spPr>
      </p:sp>
      <p:sp>
        <p:nvSpPr>
          <p:cNvPr id="18" name="Text 16"/>
          <p:cNvSpPr/>
          <p:nvPr/>
        </p:nvSpPr>
        <p:spPr>
          <a:xfrm>
            <a:off x="6288146" y="2999232"/>
            <a:ext cx="1097280" cy="329184"/>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79,82</a:t>
            </a:r>
            <a:endParaRPr lang="en-US" sz="1600" dirty="0"/>
          </a:p>
        </p:txBody>
      </p:sp>
      <p:sp>
        <p:nvSpPr>
          <p:cNvPr id="19" name="Text 17"/>
          <p:cNvSpPr/>
          <p:nvPr/>
        </p:nvSpPr>
        <p:spPr>
          <a:xfrm>
            <a:off x="594360" y="4389120"/>
            <a:ext cx="1645920" cy="45720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Mediul rural</a:t>
            </a:r>
            <a:endParaRPr lang="en-US" sz="1600" dirty="0"/>
          </a:p>
        </p:txBody>
      </p:sp>
      <p:sp>
        <p:nvSpPr>
          <p:cNvPr id="20" name="Shape 18"/>
          <p:cNvSpPr/>
          <p:nvPr/>
        </p:nvSpPr>
        <p:spPr>
          <a:xfrm>
            <a:off x="2331720" y="4617720"/>
            <a:ext cx="4983480" cy="9144"/>
          </a:xfrm>
          <a:prstGeom prst="rect">
            <a:avLst/>
          </a:prstGeom>
          <a:solidFill>
            <a:srgbClr val="E2DFD8"/>
          </a:solidFill>
          <a:ln w="12700">
            <a:solidFill>
              <a:srgbClr val="E2DFD8"/>
            </a:solidFill>
            <a:prstDash val="solid"/>
          </a:ln>
        </p:spPr>
      </p:sp>
      <p:sp>
        <p:nvSpPr>
          <p:cNvPr id="21" name="Shape 19"/>
          <p:cNvSpPr/>
          <p:nvPr/>
        </p:nvSpPr>
        <p:spPr>
          <a:xfrm>
            <a:off x="2869936" y="4599432"/>
            <a:ext cx="986729" cy="36576"/>
          </a:xfrm>
          <a:prstGeom prst="rect">
            <a:avLst/>
          </a:prstGeom>
          <a:solidFill>
            <a:srgbClr val="B5B2AA"/>
          </a:solidFill>
          <a:ln w="12700">
            <a:solidFill>
              <a:srgbClr val="B5B2AA"/>
            </a:solidFill>
            <a:prstDash val="solid"/>
          </a:ln>
        </p:spPr>
      </p:sp>
      <p:sp>
        <p:nvSpPr>
          <p:cNvPr id="22" name="Shape 20"/>
          <p:cNvSpPr/>
          <p:nvPr/>
        </p:nvSpPr>
        <p:spPr>
          <a:xfrm>
            <a:off x="2741920" y="4489704"/>
            <a:ext cx="256032" cy="256032"/>
          </a:xfrm>
          <a:prstGeom prst="ellipse">
            <a:avLst/>
          </a:prstGeom>
          <a:solidFill>
            <a:srgbClr val="5A5F75"/>
          </a:solidFill>
          <a:ln w="19050">
            <a:solidFill>
              <a:srgbClr val="F6F5F2"/>
            </a:solidFill>
            <a:prstDash val="solid"/>
          </a:ln>
        </p:spPr>
      </p:sp>
      <p:sp>
        <p:nvSpPr>
          <p:cNvPr id="23" name="Text 21"/>
          <p:cNvSpPr/>
          <p:nvPr/>
        </p:nvSpPr>
        <p:spPr>
          <a:xfrm>
            <a:off x="2321296" y="4892040"/>
            <a:ext cx="1097280" cy="329184"/>
          </a:xfrm>
          <a:prstGeom prst="rect">
            <a:avLst/>
          </a:prstGeom>
          <a:noFill/>
          <a:ln/>
        </p:spPr>
        <p:txBody>
          <a:bodyPr wrap="square" lIns="0" tIns="0" rIns="0" bIns="0" rtlCol="0" anchor="ctr"/>
          <a:lstStyle/>
          <a:p>
            <a:pPr algn="ctr" indent="0" marL="0">
              <a:buNone/>
            </a:pPr>
            <a:r>
              <a:rPr lang="en-US" sz="1400" dirty="0">
                <a:solidFill>
                  <a:srgbClr val="5A5F75"/>
                </a:solidFill>
                <a:latin typeface="Palatino Linotype" pitchFamily="34" charset="0"/>
                <a:ea typeface="Palatino Linotype" pitchFamily="34" charset="-122"/>
                <a:cs typeface="Palatino Linotype" pitchFamily="34" charset="-120"/>
              </a:rPr>
              <a:t>75,84</a:t>
            </a:r>
            <a:endParaRPr lang="en-US" sz="1400" dirty="0"/>
          </a:p>
        </p:txBody>
      </p:sp>
      <p:sp>
        <p:nvSpPr>
          <p:cNvPr id="24" name="Shape 22"/>
          <p:cNvSpPr/>
          <p:nvPr/>
        </p:nvSpPr>
        <p:spPr>
          <a:xfrm>
            <a:off x="3728649" y="4489704"/>
            <a:ext cx="256032" cy="256032"/>
          </a:xfrm>
          <a:prstGeom prst="ellipse">
            <a:avLst/>
          </a:prstGeom>
          <a:solidFill>
            <a:srgbClr val="B02532"/>
          </a:solidFill>
          <a:ln w="19050">
            <a:solidFill>
              <a:srgbClr val="F6F5F2"/>
            </a:solidFill>
            <a:prstDash val="solid"/>
          </a:ln>
        </p:spPr>
      </p:sp>
      <p:sp>
        <p:nvSpPr>
          <p:cNvPr id="25" name="Text 23"/>
          <p:cNvSpPr/>
          <p:nvPr/>
        </p:nvSpPr>
        <p:spPr>
          <a:xfrm>
            <a:off x="3308025" y="4050792"/>
            <a:ext cx="1097280" cy="329184"/>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76,83</a:t>
            </a:r>
            <a:endParaRPr lang="en-US" sz="1600" dirty="0"/>
          </a:p>
        </p:txBody>
      </p:sp>
      <p:sp>
        <p:nvSpPr>
          <p:cNvPr id="26" name="Shape 24"/>
          <p:cNvSpPr/>
          <p:nvPr/>
        </p:nvSpPr>
        <p:spPr>
          <a:xfrm>
            <a:off x="2331720" y="5440680"/>
            <a:ext cx="219456" cy="219456"/>
          </a:xfrm>
          <a:prstGeom prst="ellipse">
            <a:avLst/>
          </a:prstGeom>
          <a:solidFill>
            <a:srgbClr val="B02532"/>
          </a:solidFill>
          <a:ln w="12700">
            <a:solidFill>
              <a:srgbClr val="B02532"/>
            </a:solidFill>
            <a:prstDash val="solid"/>
          </a:ln>
        </p:spPr>
      </p:sp>
      <p:sp>
        <p:nvSpPr>
          <p:cNvPr id="27" name="Text 25"/>
          <p:cNvSpPr/>
          <p:nvPr/>
        </p:nvSpPr>
        <p:spPr>
          <a:xfrm>
            <a:off x="2642616" y="5385816"/>
            <a:ext cx="1645920" cy="3291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Județul Cluj</a:t>
            </a:r>
            <a:endParaRPr lang="en-US" sz="1400" dirty="0"/>
          </a:p>
        </p:txBody>
      </p:sp>
      <p:sp>
        <p:nvSpPr>
          <p:cNvPr id="28" name="Shape 26"/>
          <p:cNvSpPr/>
          <p:nvPr/>
        </p:nvSpPr>
        <p:spPr>
          <a:xfrm>
            <a:off x="4343400" y="5440680"/>
            <a:ext cx="219456" cy="219456"/>
          </a:xfrm>
          <a:prstGeom prst="ellipse">
            <a:avLst/>
          </a:prstGeom>
          <a:solidFill>
            <a:srgbClr val="5A5F75"/>
          </a:solidFill>
          <a:ln w="12700">
            <a:solidFill>
              <a:srgbClr val="5A5F75"/>
            </a:solidFill>
            <a:prstDash val="solid"/>
          </a:ln>
        </p:spPr>
      </p:sp>
      <p:sp>
        <p:nvSpPr>
          <p:cNvPr id="29" name="Text 27"/>
          <p:cNvSpPr/>
          <p:nvPr/>
        </p:nvSpPr>
        <p:spPr>
          <a:xfrm>
            <a:off x="4654296" y="5385816"/>
            <a:ext cx="1645920" cy="3291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România</a:t>
            </a:r>
            <a:endParaRPr lang="en-US" sz="1400" dirty="0"/>
          </a:p>
        </p:txBody>
      </p:sp>
      <p:sp>
        <p:nvSpPr>
          <p:cNvPr id="30" name="Text 28"/>
          <p:cNvSpPr/>
          <p:nvPr/>
        </p:nvSpPr>
        <p:spPr>
          <a:xfrm>
            <a:off x="5669280" y="5385816"/>
            <a:ext cx="2377440" cy="329184"/>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Axa nu începe de la zero.</a:t>
            </a:r>
            <a:endParaRPr lang="en-US" sz="1100" dirty="0"/>
          </a:p>
        </p:txBody>
      </p:sp>
      <p:sp>
        <p:nvSpPr>
          <p:cNvPr id="31" name="Shape 29"/>
          <p:cNvSpPr/>
          <p:nvPr/>
        </p:nvSpPr>
        <p:spPr>
          <a:xfrm>
            <a:off x="8001000" y="1508760"/>
            <a:ext cx="3566160" cy="2331720"/>
          </a:xfrm>
          <a:prstGeom prst="roundRect">
            <a:avLst>
              <a:gd name="adj" fmla="val 3529"/>
            </a:avLst>
          </a:prstGeom>
          <a:solidFill>
            <a:srgbClr val="ECEAE4"/>
          </a:solidFill>
          <a:ln w="12700">
            <a:solidFill>
              <a:srgbClr val="ECEAE4"/>
            </a:solidFill>
            <a:prstDash val="solid"/>
          </a:ln>
        </p:spPr>
      </p:sp>
      <p:sp>
        <p:nvSpPr>
          <p:cNvPr id="32" name="Text 30"/>
          <p:cNvSpPr/>
          <p:nvPr/>
        </p:nvSpPr>
        <p:spPr>
          <a:xfrm>
            <a:off x="8229600" y="1600200"/>
            <a:ext cx="320040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Rata șomajului înregistrat</a:t>
            </a:r>
            <a:endParaRPr lang="en-US" sz="1500" dirty="0"/>
          </a:p>
        </p:txBody>
      </p:sp>
      <p:sp>
        <p:nvSpPr>
          <p:cNvPr id="33" name="Text 31"/>
          <p:cNvSpPr/>
          <p:nvPr/>
        </p:nvSpPr>
        <p:spPr>
          <a:xfrm>
            <a:off x="8229600" y="2148840"/>
            <a:ext cx="100584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Cluj</a:t>
            </a:r>
            <a:endParaRPr lang="en-US" sz="1400" dirty="0"/>
          </a:p>
        </p:txBody>
      </p:sp>
      <p:sp>
        <p:nvSpPr>
          <p:cNvPr id="34" name="Shape 32"/>
          <p:cNvSpPr/>
          <p:nvPr/>
        </p:nvSpPr>
        <p:spPr>
          <a:xfrm>
            <a:off x="9235440" y="2212848"/>
            <a:ext cx="685800" cy="329184"/>
          </a:xfrm>
          <a:prstGeom prst="rect">
            <a:avLst/>
          </a:prstGeom>
          <a:solidFill>
            <a:srgbClr val="B02532"/>
          </a:solidFill>
          <a:ln w="12700">
            <a:solidFill>
              <a:srgbClr val="B02532"/>
            </a:solidFill>
            <a:prstDash val="solid"/>
          </a:ln>
        </p:spPr>
      </p:sp>
      <p:sp>
        <p:nvSpPr>
          <p:cNvPr id="35" name="Text 33"/>
          <p:cNvSpPr/>
          <p:nvPr/>
        </p:nvSpPr>
        <p:spPr>
          <a:xfrm>
            <a:off x="9994392" y="2148840"/>
            <a:ext cx="731520" cy="45720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1,5%</a:t>
            </a:r>
            <a:endParaRPr lang="en-US" sz="1500" dirty="0"/>
          </a:p>
        </p:txBody>
      </p:sp>
      <p:sp>
        <p:nvSpPr>
          <p:cNvPr id="36" name="Text 34"/>
          <p:cNvSpPr/>
          <p:nvPr/>
        </p:nvSpPr>
        <p:spPr>
          <a:xfrm>
            <a:off x="8229600" y="2926080"/>
            <a:ext cx="1005840" cy="457200"/>
          </a:xfrm>
          <a:prstGeom prst="rect">
            <a:avLst/>
          </a:prstGeom>
          <a:noFill/>
          <a:ln/>
        </p:spPr>
        <p:txBody>
          <a:bodyPr wrap="square" lIns="0" tIns="0" rIns="0" bIns="0" rtlCol="0" anchor="ctr"/>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România</a:t>
            </a:r>
            <a:endParaRPr lang="en-US" sz="1400" dirty="0"/>
          </a:p>
        </p:txBody>
      </p:sp>
      <p:sp>
        <p:nvSpPr>
          <p:cNvPr id="37" name="Shape 35"/>
          <p:cNvSpPr/>
          <p:nvPr/>
        </p:nvSpPr>
        <p:spPr>
          <a:xfrm>
            <a:off x="9235440" y="2990088"/>
            <a:ext cx="1508760" cy="329184"/>
          </a:xfrm>
          <a:prstGeom prst="rect">
            <a:avLst/>
          </a:prstGeom>
          <a:solidFill>
            <a:srgbClr val="5A5F75"/>
          </a:solidFill>
          <a:ln w="12700">
            <a:solidFill>
              <a:srgbClr val="5A5F75"/>
            </a:solidFill>
            <a:prstDash val="solid"/>
          </a:ln>
        </p:spPr>
      </p:sp>
      <p:sp>
        <p:nvSpPr>
          <p:cNvPr id="38" name="Text 36"/>
          <p:cNvSpPr/>
          <p:nvPr/>
        </p:nvSpPr>
        <p:spPr>
          <a:xfrm>
            <a:off x="10817352" y="2926080"/>
            <a:ext cx="731520" cy="457200"/>
          </a:xfrm>
          <a:prstGeom prst="rect">
            <a:avLst/>
          </a:prstGeom>
          <a:noFill/>
          <a:ln/>
        </p:spPr>
        <p:txBody>
          <a:bodyPr wrap="square" lIns="0" tIns="0" rIns="0" bIns="0" rtlCol="0" anchor="ctr"/>
          <a:lstStyle/>
          <a:p>
            <a:pPr indent="0" marL="0">
              <a:buNone/>
            </a:pPr>
            <a:r>
              <a:rPr lang="en-US" sz="1500" b="1" dirty="0">
                <a:solidFill>
                  <a:srgbClr val="5A5F75"/>
                </a:solidFill>
                <a:latin typeface="Palatino Linotype" pitchFamily="34" charset="0"/>
                <a:ea typeface="Palatino Linotype" pitchFamily="34" charset="-122"/>
                <a:cs typeface="Palatino Linotype" pitchFamily="34" charset="-120"/>
              </a:rPr>
              <a:t>3,3%</a:t>
            </a:r>
            <a:endParaRPr lang="en-US" sz="1500" dirty="0"/>
          </a:p>
        </p:txBody>
      </p:sp>
      <p:sp>
        <p:nvSpPr>
          <p:cNvPr id="39" name="Text 37"/>
          <p:cNvSpPr/>
          <p:nvPr/>
        </p:nvSpPr>
        <p:spPr>
          <a:xfrm>
            <a:off x="8001000" y="4023360"/>
            <a:ext cx="3566160" cy="20116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Atenție la comparații. Durata medie a vieții este denumirea INS pentru speranța de viață la naștere; valorile INS (populația după domiciliu) și Eurostat (reședința obișnuită) diferă prin populație și metodă, nu prin definiție, deci nu se compară. Nici șomajul înregistrat nu se compară cu rata șomajului publicată de Eurostat.</a:t>
            </a:r>
            <a:endParaRPr lang="en-US" sz="145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INS, baza de date TEMPO; valorile se trec direct în fișă.</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CUM SE CALCULEAZĂ O RATĂ · EXEMPLU PE DATELE ROMÂNIEI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Natalitatea României, în patru pași</a:t>
            </a:r>
            <a:endParaRPr lang="en-US" sz="3000" dirty="0"/>
          </a:p>
        </p:txBody>
      </p:sp>
      <p:sp>
        <p:nvSpPr>
          <p:cNvPr id="4" name="Shape 2"/>
          <p:cNvSpPr/>
          <p:nvPr/>
        </p:nvSpPr>
        <p:spPr>
          <a:xfrm>
            <a:off x="594360" y="1783080"/>
            <a:ext cx="2468880" cy="2514600"/>
          </a:xfrm>
          <a:prstGeom prst="roundRect">
            <a:avLst>
              <a:gd name="adj" fmla="val 3333"/>
            </a:avLst>
          </a:prstGeom>
          <a:solidFill>
            <a:srgbClr val="1D1F2B"/>
          </a:solidFill>
          <a:ln w="12700">
            <a:solidFill>
              <a:srgbClr val="1D1F2B"/>
            </a:solidFill>
            <a:prstDash val="solid"/>
          </a:ln>
        </p:spPr>
      </p:sp>
      <p:sp>
        <p:nvSpPr>
          <p:cNvPr id="5" name="Shape 3"/>
          <p:cNvSpPr/>
          <p:nvPr/>
        </p:nvSpPr>
        <p:spPr>
          <a:xfrm>
            <a:off x="822960" y="1965960"/>
            <a:ext cx="420624" cy="420624"/>
          </a:xfrm>
          <a:prstGeom prst="ellipse">
            <a:avLst/>
          </a:prstGeom>
          <a:solidFill>
            <a:srgbClr val="27D3BE"/>
          </a:solidFill>
          <a:ln/>
        </p:spPr>
      </p:sp>
      <p:sp>
        <p:nvSpPr>
          <p:cNvPr id="6" name="Text 4"/>
          <p:cNvSpPr/>
          <p:nvPr/>
        </p:nvSpPr>
        <p:spPr>
          <a:xfrm>
            <a:off x="82296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965960"/>
            <a:ext cx="1600200" cy="420624"/>
          </a:xfrm>
          <a:prstGeom prst="rect">
            <a:avLst/>
          </a:prstGeom>
          <a:noFill/>
          <a:ln/>
        </p:spPr>
        <p:txBody>
          <a:bodyPr wrap="square" lIns="0" tIns="0" rIns="0" bIns="0" rtlCol="0" anchor="ctr"/>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Numărătorul</a:t>
            </a:r>
            <a:endParaRPr lang="en-US" sz="1500" dirty="0"/>
          </a:p>
        </p:txBody>
      </p:sp>
      <p:sp>
        <p:nvSpPr>
          <p:cNvPr id="8" name="Text 6"/>
          <p:cNvSpPr/>
          <p:nvPr/>
        </p:nvSpPr>
        <p:spPr>
          <a:xfrm>
            <a:off x="777240" y="2606040"/>
            <a:ext cx="2148840" cy="82296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134 238</a:t>
            </a:r>
            <a:endParaRPr lang="en-US" sz="3400" dirty="0"/>
          </a:p>
        </p:txBody>
      </p:sp>
      <p:sp>
        <p:nvSpPr>
          <p:cNvPr id="9" name="Text 7"/>
          <p:cNvSpPr/>
          <p:nvPr/>
        </p:nvSpPr>
        <p:spPr>
          <a:xfrm>
            <a:off x="822960" y="3474720"/>
            <a:ext cx="2103120" cy="6858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născuți vii în 2025</a:t>
            </a:r>
            <a:endParaRPr lang="en-US" sz="1500" dirty="0"/>
          </a:p>
        </p:txBody>
      </p:sp>
      <p:sp>
        <p:nvSpPr>
          <p:cNvPr id="10" name="Shape 8"/>
          <p:cNvSpPr/>
          <p:nvPr/>
        </p:nvSpPr>
        <p:spPr>
          <a:xfrm>
            <a:off x="3099816" y="2880360"/>
            <a:ext cx="292608" cy="310896"/>
          </a:xfrm>
          <a:prstGeom prst="rightArrow">
            <a:avLst/>
          </a:prstGeom>
          <a:solidFill>
            <a:srgbClr val="5A5F75"/>
          </a:solidFill>
          <a:ln w="12700">
            <a:solidFill>
              <a:srgbClr val="5A5F75"/>
            </a:solidFill>
            <a:prstDash val="solid"/>
          </a:ln>
        </p:spPr>
      </p:sp>
      <p:sp>
        <p:nvSpPr>
          <p:cNvPr id="11" name="Shape 9"/>
          <p:cNvSpPr/>
          <p:nvPr/>
        </p:nvSpPr>
        <p:spPr>
          <a:xfrm>
            <a:off x="3429000" y="1783080"/>
            <a:ext cx="2468880" cy="2514600"/>
          </a:xfrm>
          <a:prstGeom prst="roundRect">
            <a:avLst>
              <a:gd name="adj" fmla="val 3333"/>
            </a:avLst>
          </a:prstGeom>
          <a:solidFill>
            <a:srgbClr val="1D1F2B"/>
          </a:solidFill>
          <a:ln w="12700">
            <a:solidFill>
              <a:srgbClr val="1D1F2B"/>
            </a:solidFill>
            <a:prstDash val="solid"/>
          </a:ln>
        </p:spPr>
      </p:sp>
      <p:sp>
        <p:nvSpPr>
          <p:cNvPr id="12" name="Shape 10"/>
          <p:cNvSpPr/>
          <p:nvPr/>
        </p:nvSpPr>
        <p:spPr>
          <a:xfrm>
            <a:off x="3657600" y="1965960"/>
            <a:ext cx="420624" cy="420624"/>
          </a:xfrm>
          <a:prstGeom prst="ellipse">
            <a:avLst/>
          </a:prstGeom>
          <a:solidFill>
            <a:srgbClr val="FFC24B"/>
          </a:solidFill>
          <a:ln/>
        </p:spPr>
      </p:sp>
      <p:sp>
        <p:nvSpPr>
          <p:cNvPr id="13" name="Text 11"/>
          <p:cNvSpPr/>
          <p:nvPr/>
        </p:nvSpPr>
        <p:spPr>
          <a:xfrm>
            <a:off x="365760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4206240" y="1965960"/>
            <a:ext cx="1600200" cy="420624"/>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Numitorul</a:t>
            </a:r>
            <a:endParaRPr lang="en-US" sz="1500" dirty="0"/>
          </a:p>
        </p:txBody>
      </p:sp>
      <p:sp>
        <p:nvSpPr>
          <p:cNvPr id="15" name="Text 13"/>
          <p:cNvSpPr/>
          <p:nvPr/>
        </p:nvSpPr>
        <p:spPr>
          <a:xfrm>
            <a:off x="3611880" y="2606040"/>
            <a:ext cx="2148840" cy="822960"/>
          </a:xfrm>
          <a:prstGeom prst="rect">
            <a:avLst/>
          </a:prstGeom>
          <a:noFill/>
          <a:ln/>
        </p:spPr>
        <p:txBody>
          <a:bodyPr wrap="square" lIns="0" tIns="0" rIns="0" bIns="0" rtlCol="0" anchor="ctr"/>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19 046 434</a:t>
            </a:r>
            <a:endParaRPr lang="en-US" sz="2700" dirty="0"/>
          </a:p>
        </p:txBody>
      </p:sp>
      <p:sp>
        <p:nvSpPr>
          <p:cNvPr id="16" name="Text 14"/>
          <p:cNvSpPr/>
          <p:nvPr/>
        </p:nvSpPr>
        <p:spPr>
          <a:xfrm>
            <a:off x="3657600" y="3474720"/>
            <a:ext cx="2103120" cy="6858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locuitori la 1 iulie 2025</a:t>
            </a:r>
            <a:endParaRPr lang="en-US" sz="1500" dirty="0"/>
          </a:p>
        </p:txBody>
      </p:sp>
      <p:sp>
        <p:nvSpPr>
          <p:cNvPr id="17" name="Shape 15"/>
          <p:cNvSpPr/>
          <p:nvPr/>
        </p:nvSpPr>
        <p:spPr>
          <a:xfrm>
            <a:off x="5934456" y="2880360"/>
            <a:ext cx="292608" cy="310896"/>
          </a:xfrm>
          <a:prstGeom prst="rightArrow">
            <a:avLst/>
          </a:prstGeom>
          <a:solidFill>
            <a:srgbClr val="5A5F75"/>
          </a:solidFill>
          <a:ln w="12700">
            <a:solidFill>
              <a:srgbClr val="5A5F75"/>
            </a:solidFill>
            <a:prstDash val="solid"/>
          </a:ln>
        </p:spPr>
      </p:sp>
      <p:sp>
        <p:nvSpPr>
          <p:cNvPr id="18" name="Shape 16"/>
          <p:cNvSpPr/>
          <p:nvPr/>
        </p:nvSpPr>
        <p:spPr>
          <a:xfrm>
            <a:off x="6263640" y="1783080"/>
            <a:ext cx="2468880" cy="2514600"/>
          </a:xfrm>
          <a:prstGeom prst="roundRect">
            <a:avLst>
              <a:gd name="adj" fmla="val 3333"/>
            </a:avLst>
          </a:prstGeom>
          <a:solidFill>
            <a:srgbClr val="1D1F2B"/>
          </a:solidFill>
          <a:ln w="12700">
            <a:solidFill>
              <a:srgbClr val="1D1F2B"/>
            </a:solidFill>
            <a:prstDash val="solid"/>
          </a:ln>
        </p:spPr>
      </p:sp>
      <p:sp>
        <p:nvSpPr>
          <p:cNvPr id="19" name="Shape 17"/>
          <p:cNvSpPr/>
          <p:nvPr/>
        </p:nvSpPr>
        <p:spPr>
          <a:xfrm>
            <a:off x="6492240" y="1965960"/>
            <a:ext cx="420624" cy="420624"/>
          </a:xfrm>
          <a:prstGeom prst="ellipse">
            <a:avLst/>
          </a:prstGeom>
          <a:solidFill>
            <a:srgbClr val="9B7EF7"/>
          </a:solidFill>
          <a:ln/>
        </p:spPr>
      </p:sp>
      <p:sp>
        <p:nvSpPr>
          <p:cNvPr id="20" name="Text 18"/>
          <p:cNvSpPr/>
          <p:nvPr/>
        </p:nvSpPr>
        <p:spPr>
          <a:xfrm>
            <a:off x="649224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1" name="Text 19"/>
          <p:cNvSpPr/>
          <p:nvPr/>
        </p:nvSpPr>
        <p:spPr>
          <a:xfrm>
            <a:off x="7040880" y="1965960"/>
            <a:ext cx="1600200" cy="420624"/>
          </a:xfrm>
          <a:prstGeom prst="rect">
            <a:avLst/>
          </a:prstGeom>
          <a:noFill/>
          <a:ln/>
        </p:spPr>
        <p:txBody>
          <a:bodyPr wrap="square" lIns="0" tIns="0" rIns="0" bIns="0" rtlCol="0" anchor="ctr"/>
          <a:lstStyle/>
          <a:p>
            <a:pPr indent="0" marL="0">
              <a:buNone/>
            </a:pPr>
            <a:r>
              <a:rPr lang="en-US" sz="1500" b="1" dirty="0">
                <a:solidFill>
                  <a:srgbClr val="9B7EF7"/>
                </a:solidFill>
                <a:latin typeface="Palatino Linotype" pitchFamily="34" charset="0"/>
                <a:ea typeface="Palatino Linotype" pitchFamily="34" charset="-122"/>
                <a:cs typeface="Palatino Linotype" pitchFamily="34" charset="-120"/>
              </a:rPr>
              <a:t>Împărțirea</a:t>
            </a:r>
            <a:endParaRPr lang="en-US" sz="1500" dirty="0"/>
          </a:p>
        </p:txBody>
      </p:sp>
      <p:sp>
        <p:nvSpPr>
          <p:cNvPr id="22" name="Text 20"/>
          <p:cNvSpPr/>
          <p:nvPr/>
        </p:nvSpPr>
        <p:spPr>
          <a:xfrm>
            <a:off x="6446520" y="2606040"/>
            <a:ext cx="2148840" cy="82296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0,007048</a:t>
            </a:r>
            <a:endParaRPr lang="en-US" sz="3400" dirty="0"/>
          </a:p>
        </p:txBody>
      </p:sp>
      <p:sp>
        <p:nvSpPr>
          <p:cNvPr id="23" name="Text 21"/>
          <p:cNvSpPr/>
          <p:nvPr/>
        </p:nvSpPr>
        <p:spPr>
          <a:xfrm>
            <a:off x="6492240" y="3474720"/>
            <a:ext cx="2103120" cy="6858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patru cifre semnificative</a:t>
            </a:r>
            <a:endParaRPr lang="en-US" sz="1500" dirty="0"/>
          </a:p>
        </p:txBody>
      </p:sp>
      <p:sp>
        <p:nvSpPr>
          <p:cNvPr id="24" name="Shape 22"/>
          <p:cNvSpPr/>
          <p:nvPr/>
        </p:nvSpPr>
        <p:spPr>
          <a:xfrm>
            <a:off x="8769096" y="2880360"/>
            <a:ext cx="292608" cy="310896"/>
          </a:xfrm>
          <a:prstGeom prst="rightArrow">
            <a:avLst/>
          </a:prstGeom>
          <a:solidFill>
            <a:srgbClr val="5A5F75"/>
          </a:solidFill>
          <a:ln w="12700">
            <a:solidFill>
              <a:srgbClr val="5A5F75"/>
            </a:solidFill>
            <a:prstDash val="solid"/>
          </a:ln>
        </p:spPr>
      </p:sp>
      <p:sp>
        <p:nvSpPr>
          <p:cNvPr id="25" name="Shape 23"/>
          <p:cNvSpPr/>
          <p:nvPr/>
        </p:nvSpPr>
        <p:spPr>
          <a:xfrm>
            <a:off x="9098280" y="1783080"/>
            <a:ext cx="2468880" cy="2514600"/>
          </a:xfrm>
          <a:prstGeom prst="roundRect">
            <a:avLst>
              <a:gd name="adj" fmla="val 3333"/>
            </a:avLst>
          </a:prstGeom>
          <a:solidFill>
            <a:srgbClr val="1D1F2B"/>
          </a:solidFill>
          <a:ln w="12700">
            <a:solidFill>
              <a:srgbClr val="1D1F2B"/>
            </a:solidFill>
            <a:prstDash val="solid"/>
          </a:ln>
        </p:spPr>
      </p:sp>
      <p:sp>
        <p:nvSpPr>
          <p:cNvPr id="26" name="Shape 24"/>
          <p:cNvSpPr/>
          <p:nvPr/>
        </p:nvSpPr>
        <p:spPr>
          <a:xfrm>
            <a:off x="9326880" y="1965960"/>
            <a:ext cx="420624" cy="420624"/>
          </a:xfrm>
          <a:prstGeom prst="ellipse">
            <a:avLst/>
          </a:prstGeom>
          <a:solidFill>
            <a:srgbClr val="FF4757"/>
          </a:solidFill>
          <a:ln/>
        </p:spPr>
      </p:sp>
      <p:sp>
        <p:nvSpPr>
          <p:cNvPr id="27" name="Text 25"/>
          <p:cNvSpPr/>
          <p:nvPr/>
        </p:nvSpPr>
        <p:spPr>
          <a:xfrm>
            <a:off x="9326880" y="1965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8" name="Text 26"/>
          <p:cNvSpPr/>
          <p:nvPr/>
        </p:nvSpPr>
        <p:spPr>
          <a:xfrm>
            <a:off x="9875520" y="1965960"/>
            <a:ext cx="1600200" cy="420624"/>
          </a:xfrm>
          <a:prstGeom prst="rect">
            <a:avLst/>
          </a:prstGeom>
          <a:noFill/>
          <a:ln/>
        </p:spPr>
        <p:txBody>
          <a:bodyPr wrap="square" lIns="0" tIns="0" rIns="0" bIns="0" rtlCol="0" anchor="ctr"/>
          <a:lstStyle/>
          <a:p>
            <a:pPr indent="0" marL="0">
              <a:buNone/>
            </a:pPr>
            <a:r>
              <a:rPr lang="en-US" sz="1500" b="1" dirty="0">
                <a:solidFill>
                  <a:srgbClr val="FF4757"/>
                </a:solidFill>
                <a:latin typeface="Palatino Linotype" pitchFamily="34" charset="0"/>
                <a:ea typeface="Palatino Linotype" pitchFamily="34" charset="-122"/>
                <a:cs typeface="Palatino Linotype" pitchFamily="34" charset="-120"/>
              </a:rPr>
              <a:t>Multiplicatorul</a:t>
            </a:r>
            <a:endParaRPr lang="en-US" sz="1500" dirty="0"/>
          </a:p>
        </p:txBody>
      </p:sp>
      <p:sp>
        <p:nvSpPr>
          <p:cNvPr id="29" name="Text 27"/>
          <p:cNvSpPr/>
          <p:nvPr/>
        </p:nvSpPr>
        <p:spPr>
          <a:xfrm>
            <a:off x="9281160" y="2606040"/>
            <a:ext cx="2148840" cy="82296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7,0‰</a:t>
            </a:r>
            <a:endParaRPr lang="en-US" sz="3400" dirty="0"/>
          </a:p>
        </p:txBody>
      </p:sp>
      <p:sp>
        <p:nvSpPr>
          <p:cNvPr id="30" name="Text 28"/>
          <p:cNvSpPr/>
          <p:nvPr/>
        </p:nvSpPr>
        <p:spPr>
          <a:xfrm>
            <a:off x="9326880" y="3474720"/>
            <a:ext cx="2103120" cy="68580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înmulțit cu 1 000</a:t>
            </a:r>
            <a:endParaRPr lang="en-US" sz="1500" dirty="0"/>
          </a:p>
        </p:txBody>
      </p:sp>
      <p:sp>
        <p:nvSpPr>
          <p:cNvPr id="31" name="Text 29"/>
          <p:cNvSpPr/>
          <p:nvPr/>
        </p:nvSpPr>
        <p:spPr>
          <a:xfrm>
            <a:off x="594360" y="4663440"/>
            <a:ext cx="10972800" cy="10058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Pașii intermediari păstrează cel puțin patru cifre semnificative; rotunjirea se face numai la sfârșit. Aceiași pași, aplicați datelor județului Cluj, dau rezultatele din fișă.</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NUMĂRĂTORUL ȘI NUMITORUL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Fiecare indicator are numitorul lui</a:t>
            </a:r>
            <a:endParaRPr lang="en-US" sz="3000" dirty="0"/>
          </a:p>
        </p:txBody>
      </p:sp>
      <p:sp>
        <p:nvSpPr>
          <p:cNvPr id="4" name="Text 2"/>
          <p:cNvSpPr/>
          <p:nvPr/>
        </p:nvSpPr>
        <p:spPr>
          <a:xfrm>
            <a:off x="685800" y="1554480"/>
            <a:ext cx="2697480" cy="548640"/>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Indicatorul</a:t>
            </a:r>
            <a:endParaRPr lang="en-US" sz="1300" dirty="0"/>
          </a:p>
        </p:txBody>
      </p:sp>
      <p:sp>
        <p:nvSpPr>
          <p:cNvPr id="5" name="Text 3"/>
          <p:cNvSpPr/>
          <p:nvPr/>
        </p:nvSpPr>
        <p:spPr>
          <a:xfrm>
            <a:off x="3429000" y="1554480"/>
            <a:ext cx="3154680" cy="548640"/>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Numărătorul</a:t>
            </a:r>
            <a:endParaRPr lang="en-US" sz="1300" dirty="0"/>
          </a:p>
        </p:txBody>
      </p:sp>
      <p:sp>
        <p:nvSpPr>
          <p:cNvPr id="6" name="Text 4"/>
          <p:cNvSpPr/>
          <p:nvPr/>
        </p:nvSpPr>
        <p:spPr>
          <a:xfrm>
            <a:off x="6629400" y="1554480"/>
            <a:ext cx="3566160" cy="548640"/>
          </a:xfrm>
          <a:prstGeom prst="rect">
            <a:avLst/>
          </a:prstGeom>
          <a:noFill/>
          <a:ln/>
        </p:spPr>
        <p:txBody>
          <a:bodyPr wrap="square" lIns="0" tIns="0" rIns="0" bIns="0" rtlCol="0" anchor="ctr"/>
          <a:lstStyle/>
          <a:p>
            <a:pPr algn="l" indent="0" marL="0">
              <a:buNone/>
            </a:pPr>
            <a:r>
              <a:rPr lang="en-US" sz="1300" b="1" dirty="0">
                <a:solidFill>
                  <a:srgbClr val="0E7C6B"/>
                </a:solidFill>
                <a:latin typeface="Palatino Linotype" pitchFamily="34" charset="0"/>
                <a:ea typeface="Palatino Linotype" pitchFamily="34" charset="-122"/>
                <a:cs typeface="Palatino Linotype" pitchFamily="34" charset="-120"/>
              </a:rPr>
              <a:t>Numitorul</a:t>
            </a:r>
            <a:endParaRPr lang="en-US" sz="1300" dirty="0"/>
          </a:p>
        </p:txBody>
      </p:sp>
      <p:sp>
        <p:nvSpPr>
          <p:cNvPr id="7" name="Text 5"/>
          <p:cNvSpPr/>
          <p:nvPr/>
        </p:nvSpPr>
        <p:spPr>
          <a:xfrm>
            <a:off x="10241280" y="1554480"/>
            <a:ext cx="1234440" cy="548640"/>
          </a:xfrm>
          <a:prstGeom prst="rect">
            <a:avLst/>
          </a:prstGeom>
          <a:noFill/>
          <a:ln/>
        </p:spPr>
        <p:txBody>
          <a:bodyPr wrap="square" lIns="0" tIns="0" rIns="0" bIns="0" rtlCol="0" anchor="ctr"/>
          <a:lstStyle/>
          <a:p>
            <a:pPr algn="r" indent="0" marL="0">
              <a:buNone/>
            </a:pPr>
            <a:r>
              <a:rPr lang="en-US" sz="1300" b="1" dirty="0">
                <a:solidFill>
                  <a:srgbClr val="0E7C6B"/>
                </a:solidFill>
                <a:latin typeface="Palatino Linotype" pitchFamily="34" charset="0"/>
                <a:ea typeface="Palatino Linotype" pitchFamily="34" charset="-122"/>
                <a:cs typeface="Palatino Linotype" pitchFamily="34" charset="-120"/>
              </a:rPr>
              <a:t>La</a:t>
            </a:r>
            <a:endParaRPr lang="en-US" sz="1300" dirty="0"/>
          </a:p>
        </p:txBody>
      </p:sp>
      <p:sp>
        <p:nvSpPr>
          <p:cNvPr id="8" name="Shape 6"/>
          <p:cNvSpPr/>
          <p:nvPr/>
        </p:nvSpPr>
        <p:spPr>
          <a:xfrm>
            <a:off x="594360" y="2084832"/>
            <a:ext cx="10972800" cy="22860"/>
          </a:xfrm>
          <a:prstGeom prst="rect">
            <a:avLst/>
          </a:prstGeom>
          <a:solidFill>
            <a:srgbClr val="0E7C6B"/>
          </a:solidFill>
          <a:ln w="12700">
            <a:solidFill>
              <a:srgbClr val="0E7C6B"/>
            </a:solidFill>
            <a:prstDash val="solid"/>
          </a:ln>
        </p:spPr>
      </p:sp>
      <p:sp>
        <p:nvSpPr>
          <p:cNvPr id="9" name="Shape 7"/>
          <p:cNvSpPr/>
          <p:nvPr/>
        </p:nvSpPr>
        <p:spPr>
          <a:xfrm>
            <a:off x="594360" y="2103120"/>
            <a:ext cx="10972800" cy="548640"/>
          </a:xfrm>
          <a:prstGeom prst="rect">
            <a:avLst/>
          </a:prstGeom>
          <a:solidFill>
            <a:srgbClr val="ECEAE4"/>
          </a:solidFill>
          <a:ln w="12700">
            <a:solidFill>
              <a:srgbClr val="ECEAE4"/>
            </a:solidFill>
            <a:prstDash val="solid"/>
          </a:ln>
        </p:spPr>
      </p:sp>
      <p:sp>
        <p:nvSpPr>
          <p:cNvPr id="10" name="Text 8"/>
          <p:cNvSpPr/>
          <p:nvPr/>
        </p:nvSpPr>
        <p:spPr>
          <a:xfrm>
            <a:off x="685800" y="2103120"/>
            <a:ext cx="2697480" cy="548640"/>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Natalitatea</a:t>
            </a:r>
            <a:endParaRPr lang="en-US" sz="1600" dirty="0"/>
          </a:p>
        </p:txBody>
      </p:sp>
      <p:sp>
        <p:nvSpPr>
          <p:cNvPr id="11" name="Text 9"/>
          <p:cNvSpPr/>
          <p:nvPr/>
        </p:nvSpPr>
        <p:spPr>
          <a:xfrm>
            <a:off x="3429000" y="2103120"/>
            <a:ext cx="315468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născuții vii din an</a:t>
            </a:r>
            <a:endParaRPr lang="en-US" sz="1600" dirty="0"/>
          </a:p>
        </p:txBody>
      </p:sp>
      <p:sp>
        <p:nvSpPr>
          <p:cNvPr id="12" name="Text 10"/>
          <p:cNvSpPr/>
          <p:nvPr/>
        </p:nvSpPr>
        <p:spPr>
          <a:xfrm>
            <a:off x="6629400" y="2103120"/>
            <a:ext cx="356616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populația la mijlocul anului</a:t>
            </a:r>
            <a:endParaRPr lang="en-US" sz="1600" dirty="0"/>
          </a:p>
        </p:txBody>
      </p:sp>
      <p:sp>
        <p:nvSpPr>
          <p:cNvPr id="13" name="Text 11"/>
          <p:cNvSpPr/>
          <p:nvPr/>
        </p:nvSpPr>
        <p:spPr>
          <a:xfrm>
            <a:off x="10241280" y="2103120"/>
            <a:ext cx="1234440" cy="548640"/>
          </a:xfrm>
          <a:prstGeom prst="rect">
            <a:avLst/>
          </a:prstGeom>
          <a:noFill/>
          <a:ln/>
        </p:spPr>
        <p:txBody>
          <a:bodyPr wrap="square" lIns="0" tIns="0" rIns="0" bIns="0" rtlCol="0" anchor="ctr"/>
          <a:lstStyle/>
          <a:p>
            <a:pPr algn="r" indent="0" marL="0">
              <a:buNone/>
            </a:pPr>
            <a:r>
              <a:rPr lang="en-US" sz="1600" dirty="0">
                <a:solidFill>
                  <a:srgbClr val="11121A"/>
                </a:solidFill>
                <a:latin typeface="Palatino Linotype" pitchFamily="34" charset="0"/>
                <a:ea typeface="Palatino Linotype" pitchFamily="34" charset="-122"/>
                <a:cs typeface="Palatino Linotype" pitchFamily="34" charset="-120"/>
              </a:rPr>
              <a:t>1 000</a:t>
            </a:r>
            <a:endParaRPr lang="en-US" sz="1600" dirty="0"/>
          </a:p>
        </p:txBody>
      </p:sp>
      <p:sp>
        <p:nvSpPr>
          <p:cNvPr id="14" name="Text 12"/>
          <p:cNvSpPr/>
          <p:nvPr/>
        </p:nvSpPr>
        <p:spPr>
          <a:xfrm>
            <a:off x="685800" y="2651760"/>
            <a:ext cx="2697480" cy="548640"/>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Mortalitatea generală</a:t>
            </a:r>
            <a:endParaRPr lang="en-US" sz="1600" dirty="0"/>
          </a:p>
        </p:txBody>
      </p:sp>
      <p:sp>
        <p:nvSpPr>
          <p:cNvPr id="15" name="Text 13"/>
          <p:cNvSpPr/>
          <p:nvPr/>
        </p:nvSpPr>
        <p:spPr>
          <a:xfrm>
            <a:off x="3429000" y="2651760"/>
            <a:ext cx="315468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decedații din an</a:t>
            </a:r>
            <a:endParaRPr lang="en-US" sz="1600" dirty="0"/>
          </a:p>
        </p:txBody>
      </p:sp>
      <p:sp>
        <p:nvSpPr>
          <p:cNvPr id="16" name="Text 14"/>
          <p:cNvSpPr/>
          <p:nvPr/>
        </p:nvSpPr>
        <p:spPr>
          <a:xfrm>
            <a:off x="6629400" y="2651760"/>
            <a:ext cx="356616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populația la mijlocul anului</a:t>
            </a:r>
            <a:endParaRPr lang="en-US" sz="1600" dirty="0"/>
          </a:p>
        </p:txBody>
      </p:sp>
      <p:sp>
        <p:nvSpPr>
          <p:cNvPr id="17" name="Text 15"/>
          <p:cNvSpPr/>
          <p:nvPr/>
        </p:nvSpPr>
        <p:spPr>
          <a:xfrm>
            <a:off x="10241280" y="2651760"/>
            <a:ext cx="1234440" cy="548640"/>
          </a:xfrm>
          <a:prstGeom prst="rect">
            <a:avLst/>
          </a:prstGeom>
          <a:noFill/>
          <a:ln/>
        </p:spPr>
        <p:txBody>
          <a:bodyPr wrap="square" lIns="0" tIns="0" rIns="0" bIns="0" rtlCol="0" anchor="ctr"/>
          <a:lstStyle/>
          <a:p>
            <a:pPr algn="r" indent="0" marL="0">
              <a:buNone/>
            </a:pPr>
            <a:r>
              <a:rPr lang="en-US" sz="1600" dirty="0">
                <a:solidFill>
                  <a:srgbClr val="11121A"/>
                </a:solidFill>
                <a:latin typeface="Palatino Linotype" pitchFamily="34" charset="0"/>
                <a:ea typeface="Palatino Linotype" pitchFamily="34" charset="-122"/>
                <a:cs typeface="Palatino Linotype" pitchFamily="34" charset="-120"/>
              </a:rPr>
              <a:t>1 000</a:t>
            </a:r>
            <a:endParaRPr lang="en-US" sz="1600" dirty="0"/>
          </a:p>
        </p:txBody>
      </p:sp>
      <p:sp>
        <p:nvSpPr>
          <p:cNvPr id="18" name="Shape 16"/>
          <p:cNvSpPr/>
          <p:nvPr/>
        </p:nvSpPr>
        <p:spPr>
          <a:xfrm>
            <a:off x="594360" y="3200400"/>
            <a:ext cx="10972800" cy="548640"/>
          </a:xfrm>
          <a:prstGeom prst="rect">
            <a:avLst/>
          </a:prstGeom>
          <a:solidFill>
            <a:srgbClr val="ECEAE4"/>
          </a:solidFill>
          <a:ln w="12700">
            <a:solidFill>
              <a:srgbClr val="ECEAE4"/>
            </a:solidFill>
            <a:prstDash val="solid"/>
          </a:ln>
        </p:spPr>
      </p:sp>
      <p:sp>
        <p:nvSpPr>
          <p:cNvPr id="19" name="Text 17"/>
          <p:cNvSpPr/>
          <p:nvPr/>
        </p:nvSpPr>
        <p:spPr>
          <a:xfrm>
            <a:off x="685800" y="3200400"/>
            <a:ext cx="2697480" cy="548640"/>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Mortalitatea infantilă</a:t>
            </a:r>
            <a:endParaRPr lang="en-US" sz="1600" dirty="0"/>
          </a:p>
        </p:txBody>
      </p:sp>
      <p:sp>
        <p:nvSpPr>
          <p:cNvPr id="20" name="Text 18"/>
          <p:cNvSpPr/>
          <p:nvPr/>
        </p:nvSpPr>
        <p:spPr>
          <a:xfrm>
            <a:off x="3429000" y="3200400"/>
            <a:ext cx="315468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decedații sub un an</a:t>
            </a:r>
            <a:endParaRPr lang="en-US" sz="1600" dirty="0"/>
          </a:p>
        </p:txBody>
      </p:sp>
      <p:sp>
        <p:nvSpPr>
          <p:cNvPr id="21" name="Text 19"/>
          <p:cNvSpPr/>
          <p:nvPr/>
        </p:nvSpPr>
        <p:spPr>
          <a:xfrm>
            <a:off x="6629400" y="3200400"/>
            <a:ext cx="356616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născuții vii din același an</a:t>
            </a:r>
            <a:endParaRPr lang="en-US" sz="1600" dirty="0"/>
          </a:p>
        </p:txBody>
      </p:sp>
      <p:sp>
        <p:nvSpPr>
          <p:cNvPr id="22" name="Text 20"/>
          <p:cNvSpPr/>
          <p:nvPr/>
        </p:nvSpPr>
        <p:spPr>
          <a:xfrm>
            <a:off x="10241280" y="3200400"/>
            <a:ext cx="1234440" cy="548640"/>
          </a:xfrm>
          <a:prstGeom prst="rect">
            <a:avLst/>
          </a:prstGeom>
          <a:noFill/>
          <a:ln/>
        </p:spPr>
        <p:txBody>
          <a:bodyPr wrap="square" lIns="0" tIns="0" rIns="0" bIns="0" rtlCol="0" anchor="ctr"/>
          <a:lstStyle/>
          <a:p>
            <a:pPr algn="r" indent="0" marL="0">
              <a:buNone/>
            </a:pPr>
            <a:r>
              <a:rPr lang="en-US" sz="1600" dirty="0">
                <a:solidFill>
                  <a:srgbClr val="11121A"/>
                </a:solidFill>
                <a:latin typeface="Palatino Linotype" pitchFamily="34" charset="0"/>
                <a:ea typeface="Palatino Linotype" pitchFamily="34" charset="-122"/>
                <a:cs typeface="Palatino Linotype" pitchFamily="34" charset="-120"/>
              </a:rPr>
              <a:t>1 000</a:t>
            </a:r>
            <a:endParaRPr lang="en-US" sz="1600" dirty="0"/>
          </a:p>
        </p:txBody>
      </p:sp>
      <p:sp>
        <p:nvSpPr>
          <p:cNvPr id="23" name="Text 21"/>
          <p:cNvSpPr/>
          <p:nvPr/>
        </p:nvSpPr>
        <p:spPr>
          <a:xfrm>
            <a:off x="685800" y="3749040"/>
            <a:ext cx="2697480" cy="548640"/>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Dependența vârstnicilor</a:t>
            </a:r>
            <a:endParaRPr lang="en-US" sz="1600" dirty="0"/>
          </a:p>
        </p:txBody>
      </p:sp>
      <p:sp>
        <p:nvSpPr>
          <p:cNvPr id="24" name="Text 22"/>
          <p:cNvSpPr/>
          <p:nvPr/>
        </p:nvSpPr>
        <p:spPr>
          <a:xfrm>
            <a:off x="3429000" y="3749040"/>
            <a:ext cx="315468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persoanele de 65 de ani și peste</a:t>
            </a:r>
            <a:endParaRPr lang="en-US" sz="1600" dirty="0"/>
          </a:p>
        </p:txBody>
      </p:sp>
      <p:sp>
        <p:nvSpPr>
          <p:cNvPr id="25" name="Text 23"/>
          <p:cNvSpPr/>
          <p:nvPr/>
        </p:nvSpPr>
        <p:spPr>
          <a:xfrm>
            <a:off x="6629400" y="3749040"/>
            <a:ext cx="356616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persoanele de 15–64 de ani</a:t>
            </a:r>
            <a:endParaRPr lang="en-US" sz="1600" dirty="0"/>
          </a:p>
        </p:txBody>
      </p:sp>
      <p:sp>
        <p:nvSpPr>
          <p:cNvPr id="26" name="Text 24"/>
          <p:cNvSpPr/>
          <p:nvPr/>
        </p:nvSpPr>
        <p:spPr>
          <a:xfrm>
            <a:off x="10241280" y="3749040"/>
            <a:ext cx="1234440" cy="548640"/>
          </a:xfrm>
          <a:prstGeom prst="rect">
            <a:avLst/>
          </a:prstGeom>
          <a:noFill/>
          <a:ln/>
        </p:spPr>
        <p:txBody>
          <a:bodyPr wrap="square" lIns="0" tIns="0" rIns="0" bIns="0" rtlCol="0" anchor="ctr"/>
          <a:lstStyle/>
          <a:p>
            <a:pPr algn="r" indent="0" marL="0">
              <a:buNone/>
            </a:pPr>
            <a:r>
              <a:rPr lang="en-US" sz="1600" dirty="0">
                <a:solidFill>
                  <a:srgbClr val="11121A"/>
                </a:solidFill>
                <a:latin typeface="Palatino Linotype" pitchFamily="34" charset="0"/>
                <a:ea typeface="Palatino Linotype" pitchFamily="34" charset="-122"/>
                <a:cs typeface="Palatino Linotype" pitchFamily="34" charset="-120"/>
              </a:rPr>
              <a:t>100</a:t>
            </a:r>
            <a:endParaRPr lang="en-US" sz="1600" dirty="0"/>
          </a:p>
        </p:txBody>
      </p:sp>
      <p:sp>
        <p:nvSpPr>
          <p:cNvPr id="27" name="Shape 25"/>
          <p:cNvSpPr/>
          <p:nvPr/>
        </p:nvSpPr>
        <p:spPr>
          <a:xfrm>
            <a:off x="594360" y="4297680"/>
            <a:ext cx="10972800" cy="548640"/>
          </a:xfrm>
          <a:prstGeom prst="rect">
            <a:avLst/>
          </a:prstGeom>
          <a:solidFill>
            <a:srgbClr val="ECEAE4"/>
          </a:solidFill>
          <a:ln w="12700">
            <a:solidFill>
              <a:srgbClr val="ECEAE4"/>
            </a:solidFill>
            <a:prstDash val="solid"/>
          </a:ln>
        </p:spPr>
      </p:sp>
      <p:sp>
        <p:nvSpPr>
          <p:cNvPr id="28" name="Text 26"/>
          <p:cNvSpPr/>
          <p:nvPr/>
        </p:nvSpPr>
        <p:spPr>
          <a:xfrm>
            <a:off x="685800" y="4297680"/>
            <a:ext cx="2697480" cy="548640"/>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Personalul medical</a:t>
            </a:r>
            <a:endParaRPr lang="en-US" sz="1600" dirty="0"/>
          </a:p>
        </p:txBody>
      </p:sp>
      <p:sp>
        <p:nvSpPr>
          <p:cNvPr id="29" name="Text 27"/>
          <p:cNvSpPr/>
          <p:nvPr/>
        </p:nvSpPr>
        <p:spPr>
          <a:xfrm>
            <a:off x="3429000" y="4297680"/>
            <a:ext cx="315468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medicii sau asistenții</a:t>
            </a:r>
            <a:endParaRPr lang="en-US" sz="1600" dirty="0"/>
          </a:p>
        </p:txBody>
      </p:sp>
      <p:sp>
        <p:nvSpPr>
          <p:cNvPr id="30" name="Text 28"/>
          <p:cNvSpPr/>
          <p:nvPr/>
        </p:nvSpPr>
        <p:spPr>
          <a:xfrm>
            <a:off x="6629400" y="4297680"/>
            <a:ext cx="3566160" cy="548640"/>
          </a:xfrm>
          <a:prstGeom prst="rect">
            <a:avLst/>
          </a:prstGeom>
          <a:noFill/>
          <a:ln/>
        </p:spPr>
        <p:txBody>
          <a:bodyPr wrap="square" lIns="0" tIns="0" rIns="0" bIns="0" rtlCol="0" anchor="ct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populația</a:t>
            </a:r>
            <a:endParaRPr lang="en-US" sz="1600" dirty="0"/>
          </a:p>
        </p:txBody>
      </p:sp>
      <p:sp>
        <p:nvSpPr>
          <p:cNvPr id="31" name="Text 29"/>
          <p:cNvSpPr/>
          <p:nvPr/>
        </p:nvSpPr>
        <p:spPr>
          <a:xfrm>
            <a:off x="10241280" y="4297680"/>
            <a:ext cx="1234440" cy="548640"/>
          </a:xfrm>
          <a:prstGeom prst="rect">
            <a:avLst/>
          </a:prstGeom>
          <a:noFill/>
          <a:ln/>
        </p:spPr>
        <p:txBody>
          <a:bodyPr wrap="square" lIns="0" tIns="0" rIns="0" bIns="0" rtlCol="0" anchor="ctr"/>
          <a:lstStyle/>
          <a:p>
            <a:pPr algn="r" indent="0" marL="0">
              <a:buNone/>
            </a:pPr>
            <a:r>
              <a:rPr lang="en-US" sz="1600" dirty="0">
                <a:solidFill>
                  <a:srgbClr val="11121A"/>
                </a:solidFill>
                <a:latin typeface="Palatino Linotype" pitchFamily="34" charset="0"/>
                <a:ea typeface="Palatino Linotype" pitchFamily="34" charset="-122"/>
                <a:cs typeface="Palatino Linotype" pitchFamily="34" charset="-120"/>
              </a:rPr>
              <a:t>1 000</a:t>
            </a:r>
            <a:endParaRPr lang="en-US" sz="1600" dirty="0"/>
          </a:p>
        </p:txBody>
      </p:sp>
      <p:sp>
        <p:nvSpPr>
          <p:cNvPr id="32" name="Shape 30"/>
          <p:cNvSpPr/>
          <p:nvPr/>
        </p:nvSpPr>
        <p:spPr>
          <a:xfrm>
            <a:off x="594360" y="5029200"/>
            <a:ext cx="10972800" cy="868680"/>
          </a:xfrm>
          <a:prstGeom prst="roundRect">
            <a:avLst>
              <a:gd name="adj" fmla="val 9474"/>
            </a:avLst>
          </a:prstGeom>
          <a:solidFill>
            <a:srgbClr val="ECEAE4"/>
          </a:solidFill>
          <a:ln w="12700">
            <a:solidFill>
              <a:srgbClr val="ECEAE4"/>
            </a:solidFill>
            <a:prstDash val="solid"/>
          </a:ln>
        </p:spPr>
      </p:sp>
      <p:sp>
        <p:nvSpPr>
          <p:cNvPr id="33" name="Text 31"/>
          <p:cNvSpPr/>
          <p:nvPr/>
        </p:nvSpPr>
        <p:spPr>
          <a:xfrm>
            <a:off x="868680" y="5029200"/>
            <a:ext cx="10424160" cy="86868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Sporul natural este natalitatea minus mortalitatea generală. Ponderea unei grupe de vârstă: persoanele din grupă împărțite la populația totală.</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LUCRU ÎN ECHIPĂ</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PRIMA SARCINĂ · FIȘA DE EVALUARE COMUNITARĂ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Profilul județului Cluj, pas cu pas</a:t>
            </a:r>
            <a:endParaRPr lang="en-US" sz="3000" dirty="0"/>
          </a:p>
        </p:txBody>
      </p:sp>
      <p:sp>
        <p:nvSpPr>
          <p:cNvPr id="6" name="Shape 4"/>
          <p:cNvSpPr/>
          <p:nvPr/>
        </p:nvSpPr>
        <p:spPr>
          <a:xfrm>
            <a:off x="594360" y="1463040"/>
            <a:ext cx="10972800" cy="786384"/>
          </a:xfrm>
          <a:prstGeom prst="roundRect">
            <a:avLst>
              <a:gd name="adj" fmla="val 10465"/>
            </a:avLst>
          </a:prstGeom>
          <a:solidFill>
            <a:srgbClr val="1D1F2B"/>
          </a:solidFill>
          <a:ln w="12700">
            <a:solidFill>
              <a:srgbClr val="1D1F2B"/>
            </a:solidFill>
            <a:prstDash val="solid"/>
          </a:ln>
        </p:spPr>
      </p:sp>
      <p:sp>
        <p:nvSpPr>
          <p:cNvPr id="7" name="Shape 5"/>
          <p:cNvSpPr/>
          <p:nvPr/>
        </p:nvSpPr>
        <p:spPr>
          <a:xfrm>
            <a:off x="868680" y="1645920"/>
            <a:ext cx="420624" cy="420624"/>
          </a:xfrm>
          <a:prstGeom prst="ellipse">
            <a:avLst/>
          </a:prstGeom>
          <a:solidFill>
            <a:srgbClr val="FFC24B"/>
          </a:solidFill>
          <a:ln/>
        </p:spPr>
      </p:sp>
      <p:sp>
        <p:nvSpPr>
          <p:cNvPr id="8" name="Text 6"/>
          <p:cNvSpPr/>
          <p:nvPr/>
        </p:nvSpPr>
        <p:spPr>
          <a:xfrm>
            <a:off x="868680" y="1645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463040"/>
            <a:ext cx="98298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Verificați metoda pe 2024: INS a publicat 8,1‰, 11,4‰ și −3,3‰. Dacă diferă, căutați eroarea.</a:t>
            </a:r>
            <a:endParaRPr lang="en-US" sz="1650" dirty="0"/>
          </a:p>
        </p:txBody>
      </p:sp>
      <p:sp>
        <p:nvSpPr>
          <p:cNvPr id="10" name="Shape 8"/>
          <p:cNvSpPr/>
          <p:nvPr/>
        </p:nvSpPr>
        <p:spPr>
          <a:xfrm>
            <a:off x="594360" y="2359152"/>
            <a:ext cx="10972800" cy="786384"/>
          </a:xfrm>
          <a:prstGeom prst="roundRect">
            <a:avLst>
              <a:gd name="adj" fmla="val 10465"/>
            </a:avLst>
          </a:prstGeom>
          <a:solidFill>
            <a:srgbClr val="1D1F2B"/>
          </a:solidFill>
          <a:ln w="12700">
            <a:solidFill>
              <a:srgbClr val="1D1F2B"/>
            </a:solidFill>
            <a:prstDash val="solid"/>
          </a:ln>
        </p:spPr>
      </p:sp>
      <p:sp>
        <p:nvSpPr>
          <p:cNvPr id="11" name="Shape 9"/>
          <p:cNvSpPr/>
          <p:nvPr/>
        </p:nvSpPr>
        <p:spPr>
          <a:xfrm>
            <a:off x="868680" y="2542032"/>
            <a:ext cx="420624" cy="420624"/>
          </a:xfrm>
          <a:prstGeom prst="ellipse">
            <a:avLst/>
          </a:prstGeom>
          <a:solidFill>
            <a:srgbClr val="FFC24B"/>
          </a:solidFill>
          <a:ln/>
        </p:spPr>
      </p:sp>
      <p:sp>
        <p:nvSpPr>
          <p:cNvPr id="12" name="Text 10"/>
          <p:cNvSpPr/>
          <p:nvPr/>
        </p:nvSpPr>
        <p:spPr>
          <a:xfrm>
            <a:off x="868680" y="2542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359152"/>
            <a:ext cx="98298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Ratele anului 2025 și mortalitatea infantilă, comparată cu valoarea publicată de INS.</a:t>
            </a:r>
            <a:endParaRPr lang="en-US" sz="1650" dirty="0"/>
          </a:p>
        </p:txBody>
      </p:sp>
      <p:sp>
        <p:nvSpPr>
          <p:cNvPr id="14" name="Shape 12"/>
          <p:cNvSpPr/>
          <p:nvPr/>
        </p:nvSpPr>
        <p:spPr>
          <a:xfrm>
            <a:off x="594360" y="3255264"/>
            <a:ext cx="10972800" cy="786384"/>
          </a:xfrm>
          <a:prstGeom prst="roundRect">
            <a:avLst>
              <a:gd name="adj" fmla="val 10465"/>
            </a:avLst>
          </a:prstGeom>
          <a:solidFill>
            <a:srgbClr val="1D1F2B"/>
          </a:solidFill>
          <a:ln w="12700">
            <a:solidFill>
              <a:srgbClr val="1D1F2B"/>
            </a:solidFill>
            <a:prstDash val="solid"/>
          </a:ln>
        </p:spPr>
      </p:sp>
      <p:sp>
        <p:nvSpPr>
          <p:cNvPr id="15" name="Shape 13"/>
          <p:cNvSpPr/>
          <p:nvPr/>
        </p:nvSpPr>
        <p:spPr>
          <a:xfrm>
            <a:off x="868680" y="3438144"/>
            <a:ext cx="420624" cy="420624"/>
          </a:xfrm>
          <a:prstGeom prst="ellipse">
            <a:avLst/>
          </a:prstGeom>
          <a:solidFill>
            <a:srgbClr val="FFC24B"/>
          </a:solidFill>
          <a:ln/>
        </p:spPr>
      </p:sp>
      <p:sp>
        <p:nvSpPr>
          <p:cNvPr id="16" name="Text 14"/>
          <p:cNvSpPr/>
          <p:nvPr/>
        </p:nvSpPr>
        <p:spPr>
          <a:xfrm>
            <a:off x="868680" y="34381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255264"/>
            <a:ext cx="98298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Ponderile grupelor de vârstă și dependența vârstnicilor, la 1 ianuarie 2026.</a:t>
            </a:r>
            <a:endParaRPr lang="en-US" sz="1650" dirty="0"/>
          </a:p>
        </p:txBody>
      </p:sp>
      <p:sp>
        <p:nvSpPr>
          <p:cNvPr id="18" name="Shape 16"/>
          <p:cNvSpPr/>
          <p:nvPr/>
        </p:nvSpPr>
        <p:spPr>
          <a:xfrm>
            <a:off x="594360" y="4151376"/>
            <a:ext cx="10972800" cy="786384"/>
          </a:xfrm>
          <a:prstGeom prst="roundRect">
            <a:avLst>
              <a:gd name="adj" fmla="val 10465"/>
            </a:avLst>
          </a:prstGeom>
          <a:solidFill>
            <a:srgbClr val="1D1F2B"/>
          </a:solidFill>
          <a:ln w="12700">
            <a:solidFill>
              <a:srgbClr val="1D1F2B"/>
            </a:solidFill>
            <a:prstDash val="solid"/>
          </a:ln>
        </p:spPr>
      </p:sp>
      <p:sp>
        <p:nvSpPr>
          <p:cNvPr id="19" name="Shape 17"/>
          <p:cNvSpPr/>
          <p:nvPr/>
        </p:nvSpPr>
        <p:spPr>
          <a:xfrm>
            <a:off x="868680" y="4334256"/>
            <a:ext cx="420624" cy="420624"/>
          </a:xfrm>
          <a:prstGeom prst="ellipse">
            <a:avLst/>
          </a:prstGeom>
          <a:solidFill>
            <a:srgbClr val="FFC24B"/>
          </a:solidFill>
          <a:ln/>
        </p:spPr>
      </p:sp>
      <p:sp>
        <p:nvSpPr>
          <p:cNvPr id="20" name="Text 18"/>
          <p:cNvSpPr/>
          <p:nvPr/>
        </p:nvSpPr>
        <p:spPr>
          <a:xfrm>
            <a:off x="868680" y="43342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508760" y="4151376"/>
            <a:ext cx="98298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Medici și asistenți la 1 000 de locuitori, locuitori la un medic de familie, asistenți la un medic.</a:t>
            </a:r>
            <a:endParaRPr lang="en-US" sz="1650" dirty="0"/>
          </a:p>
        </p:txBody>
      </p:sp>
      <p:sp>
        <p:nvSpPr>
          <p:cNvPr id="22" name="Shape 20"/>
          <p:cNvSpPr/>
          <p:nvPr/>
        </p:nvSpPr>
        <p:spPr>
          <a:xfrm>
            <a:off x="594360" y="5047488"/>
            <a:ext cx="10972800" cy="786384"/>
          </a:xfrm>
          <a:prstGeom prst="roundRect">
            <a:avLst>
              <a:gd name="adj" fmla="val 10465"/>
            </a:avLst>
          </a:prstGeom>
          <a:solidFill>
            <a:srgbClr val="1D1F2B"/>
          </a:solidFill>
          <a:ln w="12700">
            <a:solidFill>
              <a:srgbClr val="1D1F2B"/>
            </a:solidFill>
            <a:prstDash val="solid"/>
          </a:ln>
        </p:spPr>
      </p:sp>
      <p:sp>
        <p:nvSpPr>
          <p:cNvPr id="23" name="Shape 21"/>
          <p:cNvSpPr/>
          <p:nvPr/>
        </p:nvSpPr>
        <p:spPr>
          <a:xfrm>
            <a:off x="868680" y="5230368"/>
            <a:ext cx="420624" cy="420624"/>
          </a:xfrm>
          <a:prstGeom prst="ellipse">
            <a:avLst/>
          </a:prstGeom>
          <a:solidFill>
            <a:srgbClr val="FFC24B"/>
          </a:solidFill>
          <a:ln/>
        </p:spPr>
      </p:sp>
      <p:sp>
        <p:nvSpPr>
          <p:cNvPr id="24" name="Text 22"/>
          <p:cNvSpPr/>
          <p:nvPr/>
        </p:nvSpPr>
        <p:spPr>
          <a:xfrm>
            <a:off x="868680" y="5230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1508760" y="5047488"/>
            <a:ext cx="9829800" cy="786384"/>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Durata vieții și șomajul se preiau direct. Notați: mai mare, mai mic sau apropiat de țară.</a:t>
            </a:r>
            <a:endParaRPr lang="en-US" sz="1650" dirty="0"/>
          </a:p>
        </p:txBody>
      </p:sp>
      <p:sp>
        <p:nvSpPr>
          <p:cNvPr id="26" name="Text 24"/>
          <p:cNvSpPr/>
          <p:nvPr/>
        </p:nvSpPr>
        <p:spPr>
          <a:xfrm>
            <a:off x="584200" y="5918200"/>
            <a:ext cx="10972800" cy="660400"/>
          </a:xfrm>
          <a:prstGeom prst="rect">
            <a:avLst/>
          </a:prstGeom>
          <a:noFill/>
          <a:ln/>
        </p:spPr>
        <p:txBody>
          <a:bodyPr wrap="square" lIns="0" tIns="0" rIns="0" bIns="0" rtlCol="0" anchor="ctr"/>
          <a:lstStyle/>
          <a:p>
            <a:pPr indent="0" marL="0">
              <a:buNone/>
            </a:pPr>
            <a:r>
              <a:rPr lang="en-US" sz="1300" dirty="0">
                <a:solidFill>
                  <a:srgbClr val="FFFFFF"/>
                </a:solidFill>
                <a:latin typeface="Palatino Linotype" pitchFamily="34" charset="0"/>
                <a:ea typeface="Palatino Linotype" pitchFamily="34" charset="-122"/>
                <a:cs typeface="Palatino Linotype" pitchFamily="34" charset="-120"/>
              </a:rPr>
              <a:t>Datele de verificare, județul Cluj, 2024: populația la 1 iulie, 695 531 de persoane; 5 623 de născuți vii; 7 913 decedați; 484 de medici de familie. INS a publicat 1 437 de locuitori la un medic de familie. Sursa: INS, baza de date TEMPO.</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LUCRU ÎN ECHIPĂ</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 DOUA SARCINĂ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constatări despre populația județului</a:t>
            </a:r>
            <a:endParaRPr lang="en-US" sz="3000" dirty="0"/>
          </a:p>
        </p:txBody>
      </p:sp>
      <p:sp>
        <p:nvSpPr>
          <p:cNvPr id="6" name="Text 4"/>
          <p:cNvSpPr/>
          <p:nvPr/>
        </p:nvSpPr>
        <p:spPr>
          <a:xfrm>
            <a:off x="594360" y="1554480"/>
            <a:ext cx="475488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O constatare completă are cinci elemente</a:t>
            </a:r>
            <a:endParaRPr lang="en-US" sz="1500" dirty="0"/>
          </a:p>
        </p:txBody>
      </p:sp>
      <p:sp>
        <p:nvSpPr>
          <p:cNvPr id="7" name="Shape 5"/>
          <p:cNvSpPr/>
          <p:nvPr/>
        </p:nvSpPr>
        <p:spPr>
          <a:xfrm>
            <a:off x="594360" y="2011680"/>
            <a:ext cx="4480560" cy="530352"/>
          </a:xfrm>
          <a:prstGeom prst="roundRect">
            <a:avLst>
              <a:gd name="adj" fmla="val 17241"/>
            </a:avLst>
          </a:prstGeom>
          <a:solidFill>
            <a:srgbClr val="0E7C6B"/>
          </a:solidFill>
          <a:ln w="12700">
            <a:solidFill>
              <a:srgbClr val="0E7C6B"/>
            </a:solidFill>
            <a:prstDash val="solid"/>
          </a:ln>
        </p:spPr>
      </p:sp>
      <p:sp>
        <p:nvSpPr>
          <p:cNvPr id="8" name="Text 6"/>
          <p:cNvSpPr/>
          <p:nvPr/>
        </p:nvSpPr>
        <p:spPr>
          <a:xfrm>
            <a:off x="822960" y="2011680"/>
            <a:ext cx="4114800" cy="530352"/>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Indicatorul</a:t>
            </a:r>
            <a:endParaRPr lang="en-US" sz="1700" dirty="0"/>
          </a:p>
        </p:txBody>
      </p:sp>
      <p:sp>
        <p:nvSpPr>
          <p:cNvPr id="9" name="Shape 7"/>
          <p:cNvSpPr/>
          <p:nvPr/>
        </p:nvSpPr>
        <p:spPr>
          <a:xfrm>
            <a:off x="594360" y="2670048"/>
            <a:ext cx="4480560" cy="530352"/>
          </a:xfrm>
          <a:prstGeom prst="roundRect">
            <a:avLst>
              <a:gd name="adj" fmla="val 17241"/>
            </a:avLst>
          </a:prstGeom>
          <a:solidFill>
            <a:srgbClr val="0E7C6B"/>
          </a:solidFill>
          <a:ln w="12700">
            <a:solidFill>
              <a:srgbClr val="0E7C6B"/>
            </a:solidFill>
            <a:prstDash val="solid"/>
          </a:ln>
        </p:spPr>
      </p:sp>
      <p:sp>
        <p:nvSpPr>
          <p:cNvPr id="10" name="Text 8"/>
          <p:cNvSpPr/>
          <p:nvPr/>
        </p:nvSpPr>
        <p:spPr>
          <a:xfrm>
            <a:off x="822960" y="2670048"/>
            <a:ext cx="4114800" cy="530352"/>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Valoarea</a:t>
            </a:r>
            <a:endParaRPr lang="en-US" sz="1700" dirty="0"/>
          </a:p>
        </p:txBody>
      </p:sp>
      <p:sp>
        <p:nvSpPr>
          <p:cNvPr id="11" name="Shape 9"/>
          <p:cNvSpPr/>
          <p:nvPr/>
        </p:nvSpPr>
        <p:spPr>
          <a:xfrm>
            <a:off x="594360" y="3328416"/>
            <a:ext cx="4480560" cy="530352"/>
          </a:xfrm>
          <a:prstGeom prst="roundRect">
            <a:avLst>
              <a:gd name="adj" fmla="val 17241"/>
            </a:avLst>
          </a:prstGeom>
          <a:solidFill>
            <a:srgbClr val="0E7C6B"/>
          </a:solidFill>
          <a:ln w="12700">
            <a:solidFill>
              <a:srgbClr val="0E7C6B"/>
            </a:solidFill>
            <a:prstDash val="solid"/>
          </a:ln>
        </p:spPr>
      </p:sp>
      <p:sp>
        <p:nvSpPr>
          <p:cNvPr id="12" name="Text 10"/>
          <p:cNvSpPr/>
          <p:nvPr/>
        </p:nvSpPr>
        <p:spPr>
          <a:xfrm>
            <a:off x="822960" y="3328416"/>
            <a:ext cx="4114800" cy="530352"/>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Anul</a:t>
            </a:r>
            <a:endParaRPr lang="en-US" sz="1700" dirty="0"/>
          </a:p>
        </p:txBody>
      </p:sp>
      <p:sp>
        <p:nvSpPr>
          <p:cNvPr id="13" name="Shape 11"/>
          <p:cNvSpPr/>
          <p:nvPr/>
        </p:nvSpPr>
        <p:spPr>
          <a:xfrm>
            <a:off x="594360" y="3986784"/>
            <a:ext cx="4480560" cy="530352"/>
          </a:xfrm>
          <a:prstGeom prst="roundRect">
            <a:avLst>
              <a:gd name="adj" fmla="val 17241"/>
            </a:avLst>
          </a:prstGeom>
          <a:solidFill>
            <a:srgbClr val="0E7C6B"/>
          </a:solidFill>
          <a:ln w="12700">
            <a:solidFill>
              <a:srgbClr val="0E7C6B"/>
            </a:solidFill>
            <a:prstDash val="solid"/>
          </a:ln>
        </p:spPr>
      </p:sp>
      <p:sp>
        <p:nvSpPr>
          <p:cNvPr id="14" name="Text 12"/>
          <p:cNvSpPr/>
          <p:nvPr/>
        </p:nvSpPr>
        <p:spPr>
          <a:xfrm>
            <a:off x="822960" y="3986784"/>
            <a:ext cx="4114800" cy="530352"/>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Termenul de comparație</a:t>
            </a:r>
            <a:endParaRPr lang="en-US" sz="1700" dirty="0"/>
          </a:p>
        </p:txBody>
      </p:sp>
      <p:sp>
        <p:nvSpPr>
          <p:cNvPr id="15" name="Shape 13"/>
          <p:cNvSpPr/>
          <p:nvPr/>
        </p:nvSpPr>
        <p:spPr>
          <a:xfrm>
            <a:off x="594360" y="4645152"/>
            <a:ext cx="4480560" cy="530352"/>
          </a:xfrm>
          <a:prstGeom prst="roundRect">
            <a:avLst>
              <a:gd name="adj" fmla="val 17241"/>
            </a:avLst>
          </a:prstGeom>
          <a:solidFill>
            <a:srgbClr val="B02532"/>
          </a:solidFill>
          <a:ln w="12700">
            <a:solidFill>
              <a:srgbClr val="B02532"/>
            </a:solidFill>
            <a:prstDash val="solid"/>
          </a:ln>
        </p:spPr>
      </p:sp>
      <p:sp>
        <p:nvSpPr>
          <p:cNvPr id="16" name="Text 14"/>
          <p:cNvSpPr/>
          <p:nvPr/>
        </p:nvSpPr>
        <p:spPr>
          <a:xfrm>
            <a:off x="822960" y="4645152"/>
            <a:ext cx="4114800" cy="530352"/>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O limită a datelor</a:t>
            </a:r>
            <a:endParaRPr lang="en-US" sz="1700" dirty="0"/>
          </a:p>
        </p:txBody>
      </p:sp>
      <p:sp>
        <p:nvSpPr>
          <p:cNvPr id="17" name="Text 15"/>
          <p:cNvSpPr/>
          <p:nvPr/>
        </p:nvSpPr>
        <p:spPr>
          <a:xfrm>
            <a:off x="5806440" y="1554480"/>
            <a:ext cx="576072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Întrebări pentru discuția echipei</a:t>
            </a:r>
            <a:endParaRPr lang="en-US" sz="1500" dirty="0"/>
          </a:p>
        </p:txBody>
      </p:sp>
      <p:sp>
        <p:nvSpPr>
          <p:cNvPr id="18" name="Shape 16"/>
          <p:cNvSpPr/>
          <p:nvPr/>
        </p:nvSpPr>
        <p:spPr>
          <a:xfrm>
            <a:off x="5806440" y="2011680"/>
            <a:ext cx="5760720" cy="960120"/>
          </a:xfrm>
          <a:prstGeom prst="roundRect">
            <a:avLst>
              <a:gd name="adj" fmla="val 8571"/>
            </a:avLst>
          </a:prstGeom>
          <a:solidFill>
            <a:srgbClr val="ECEAE4"/>
          </a:solidFill>
          <a:ln w="12700">
            <a:solidFill>
              <a:srgbClr val="ECEAE4"/>
            </a:solidFill>
            <a:prstDash val="solid"/>
          </a:ln>
        </p:spPr>
      </p:sp>
      <p:sp>
        <p:nvSpPr>
          <p:cNvPr id="19" name="Text 17"/>
          <p:cNvSpPr/>
          <p:nvPr/>
        </p:nvSpPr>
        <p:spPr>
          <a:xfrm>
            <a:off x="6035040" y="2011680"/>
            <a:ext cx="5349240" cy="960120"/>
          </a:xfrm>
          <a:prstGeom prst="rect">
            <a:avLst/>
          </a:prstGeom>
          <a:noFill/>
          <a:ln/>
        </p:spPr>
        <p:txBody>
          <a:bodyPr wrap="square" lIns="0" tIns="0" rIns="0" bIns="0" rtlCol="0" anchor="ctr"/>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Mortalitatea generală mai mică decât a țării înseamnă un risc de deces mai mic la aceeași vârstă?</a:t>
            </a:r>
            <a:endParaRPr lang="en-US" sz="1600" dirty="0"/>
          </a:p>
        </p:txBody>
      </p:sp>
      <p:sp>
        <p:nvSpPr>
          <p:cNvPr id="20" name="Shape 18"/>
          <p:cNvSpPr/>
          <p:nvPr/>
        </p:nvSpPr>
        <p:spPr>
          <a:xfrm>
            <a:off x="5806440" y="3108960"/>
            <a:ext cx="5760720" cy="960120"/>
          </a:xfrm>
          <a:prstGeom prst="roundRect">
            <a:avLst>
              <a:gd name="adj" fmla="val 8571"/>
            </a:avLst>
          </a:prstGeom>
          <a:solidFill>
            <a:srgbClr val="ECEAE4"/>
          </a:solidFill>
          <a:ln w="12700">
            <a:solidFill>
              <a:srgbClr val="ECEAE4"/>
            </a:solidFill>
            <a:prstDash val="solid"/>
          </a:ln>
        </p:spPr>
      </p:sp>
      <p:sp>
        <p:nvSpPr>
          <p:cNvPr id="21" name="Text 19"/>
          <p:cNvSpPr/>
          <p:nvPr/>
        </p:nvSpPr>
        <p:spPr>
          <a:xfrm>
            <a:off x="6035040" y="3108960"/>
            <a:ext cx="5349240" cy="960120"/>
          </a:xfrm>
          <a:prstGeom prst="rect">
            <a:avLst/>
          </a:prstGeom>
          <a:noFill/>
          <a:ln/>
        </p:spPr>
        <p:txBody>
          <a:bodyPr wrap="square" lIns="0" tIns="0" rIns="0" bIns="0" rtlCol="0" anchor="ctr"/>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Ce nu arată numărul de medici la 1 000 de locuitori despre accesul la îngrijire?</a:t>
            </a:r>
            <a:endParaRPr lang="en-US" sz="1600" dirty="0"/>
          </a:p>
        </p:txBody>
      </p:sp>
      <p:sp>
        <p:nvSpPr>
          <p:cNvPr id="22" name="Shape 20"/>
          <p:cNvSpPr/>
          <p:nvPr/>
        </p:nvSpPr>
        <p:spPr>
          <a:xfrm>
            <a:off x="5806440" y="4206240"/>
            <a:ext cx="5760720" cy="960120"/>
          </a:xfrm>
          <a:prstGeom prst="roundRect">
            <a:avLst>
              <a:gd name="adj" fmla="val 8571"/>
            </a:avLst>
          </a:prstGeom>
          <a:solidFill>
            <a:srgbClr val="ECEAE4"/>
          </a:solidFill>
          <a:ln w="12700">
            <a:solidFill>
              <a:srgbClr val="ECEAE4"/>
            </a:solidFill>
            <a:prstDash val="solid"/>
          </a:ln>
        </p:spPr>
      </p:sp>
      <p:sp>
        <p:nvSpPr>
          <p:cNvPr id="23" name="Text 21"/>
          <p:cNvSpPr/>
          <p:nvPr/>
        </p:nvSpPr>
        <p:spPr>
          <a:xfrm>
            <a:off x="6035040" y="4206240"/>
            <a:ext cx="5349240" cy="960120"/>
          </a:xfrm>
          <a:prstGeom prst="rect">
            <a:avLst/>
          </a:prstGeom>
          <a:noFill/>
          <a:ln/>
        </p:spPr>
        <p:txBody>
          <a:bodyPr wrap="square" lIns="0" tIns="0" rIns="0" bIns="0" rtlCol="0" anchor="ctr"/>
          <a:lstStyle/>
          <a:p>
            <a:pPr indent="0" marL="0">
              <a:buNone/>
            </a:pPr>
            <a:r>
              <a:rPr lang="en-US" sz="1600" i="1" dirty="0">
                <a:solidFill>
                  <a:srgbClr val="11121A"/>
                </a:solidFill>
                <a:latin typeface="Palatino Linotype" pitchFamily="34" charset="0"/>
                <a:ea typeface="Palatino Linotype" pitchFamily="34" charset="-122"/>
                <a:cs typeface="Palatino Linotype" pitchFamily="34" charset="-120"/>
              </a:rPr>
              <a:t>Ce determinanți ar putea explica diferența dintre mediul urban și cel rural?</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7E3D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EROARE FRECVENTĂ · SURSELE AMESTECATE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Două instituții, două metode</a:t>
            </a:r>
            <a:endParaRPr lang="en-US" sz="3000" dirty="0"/>
          </a:p>
        </p:txBody>
      </p:sp>
      <p:sp>
        <p:nvSpPr>
          <p:cNvPr id="4" name="Shape 2"/>
          <p:cNvSpPr/>
          <p:nvPr/>
        </p:nvSpPr>
        <p:spPr>
          <a:xfrm>
            <a:off x="685800" y="1554480"/>
            <a:ext cx="5120640" cy="329184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sp>
      <p:sp>
        <p:nvSpPr>
          <p:cNvPr id="5" name="Text 3"/>
          <p:cNvSpPr/>
          <p:nvPr/>
        </p:nvSpPr>
        <p:spPr>
          <a:xfrm>
            <a:off x="1051560" y="1783080"/>
            <a:ext cx="4389120" cy="292608"/>
          </a:xfrm>
          <a:prstGeom prst="rect">
            <a:avLst/>
          </a:prstGeom>
          <a:noFill/>
          <a:ln/>
        </p:spPr>
        <p:txBody>
          <a:bodyPr wrap="square" lIns="0" tIns="0" rIns="0" bIns="0" rtlCol="0" anchor="t"/>
          <a:lstStyle/>
          <a:p>
            <a:pPr indent="0" marL="0">
              <a:buNone/>
            </a:pPr>
            <a:r>
              <a:rPr lang="en-US" sz="1300" b="1" spc="200" kern="0" dirty="0">
                <a:solidFill>
                  <a:srgbClr val="11121A"/>
                </a:solidFill>
                <a:latin typeface="Palatino Linotype" pitchFamily="34" charset="0"/>
                <a:ea typeface="Palatino Linotype" pitchFamily="34" charset="-122"/>
                <a:cs typeface="Palatino Linotype" pitchFamily="34" charset="-120"/>
              </a:rPr>
              <a:t>DOUĂ VALORI PUBLICATE</a:t>
            </a:r>
            <a:endParaRPr lang="en-US" sz="1300" dirty="0"/>
          </a:p>
        </p:txBody>
      </p:sp>
      <p:sp>
        <p:nvSpPr>
          <p:cNvPr id="6" name="Shape 4"/>
          <p:cNvSpPr/>
          <p:nvPr/>
        </p:nvSpPr>
        <p:spPr>
          <a:xfrm>
            <a:off x="1051560" y="2148840"/>
            <a:ext cx="4389120" cy="13716"/>
          </a:xfrm>
          <a:prstGeom prst="rect">
            <a:avLst/>
          </a:prstGeom>
          <a:solidFill>
            <a:srgbClr val="C9C6BE"/>
          </a:solidFill>
          <a:ln w="12700">
            <a:solidFill>
              <a:srgbClr val="C9C6BE"/>
            </a:solidFill>
            <a:prstDash val="solid"/>
          </a:ln>
        </p:spPr>
      </p:sp>
      <p:sp>
        <p:nvSpPr>
          <p:cNvPr id="7" name="Text 5"/>
          <p:cNvSpPr/>
          <p:nvPr/>
        </p:nvSpPr>
        <p:spPr>
          <a:xfrm>
            <a:off x="1051560" y="2331720"/>
            <a:ext cx="4389120" cy="100584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INS, 2024</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durata medie a vieții în România: 77,07 ani</a:t>
            </a:r>
            <a:endParaRPr lang="en-US" sz="1700" dirty="0"/>
          </a:p>
        </p:txBody>
      </p:sp>
      <p:sp>
        <p:nvSpPr>
          <p:cNvPr id="8" name="Text 6"/>
          <p:cNvSpPr/>
          <p:nvPr/>
        </p:nvSpPr>
        <p:spPr>
          <a:xfrm>
            <a:off x="1051560" y="3474720"/>
            <a:ext cx="4389120" cy="118872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Eurostat, 2024</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speranța de viață: România 76,5 ani, Uniunea Europeană 81,5 ani</a:t>
            </a:r>
            <a:endParaRPr lang="en-US" sz="1700" dirty="0"/>
          </a:p>
        </p:txBody>
      </p:sp>
      <p:sp>
        <p:nvSpPr>
          <p:cNvPr id="9" name="Shape 7"/>
          <p:cNvSpPr/>
          <p:nvPr/>
        </p:nvSpPr>
        <p:spPr>
          <a:xfrm>
            <a:off x="6263640" y="1554480"/>
            <a:ext cx="5303520" cy="1508760"/>
          </a:xfrm>
          <a:prstGeom prst="roundRect">
            <a:avLst>
              <a:gd name="adj" fmla="val 5455"/>
            </a:avLst>
          </a:prstGeom>
          <a:solidFill>
            <a:srgbClr val="F6DADC"/>
          </a:solidFill>
          <a:ln w="12700">
            <a:solidFill>
              <a:srgbClr val="F6DADC"/>
            </a:solidFill>
            <a:prstDash val="solid"/>
          </a:ln>
        </p:spPr>
      </p:sp>
      <p:sp>
        <p:nvSpPr>
          <p:cNvPr id="10" name="Text 8"/>
          <p:cNvSpPr/>
          <p:nvPr/>
        </p:nvSpPr>
        <p:spPr>
          <a:xfrm>
            <a:off x="6492240" y="164592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GREȘIT · SURSE AMESTECATE</a:t>
            </a:r>
            <a:endParaRPr lang="en-US" sz="1300" dirty="0"/>
          </a:p>
        </p:txBody>
      </p:sp>
      <p:sp>
        <p:nvSpPr>
          <p:cNvPr id="11" name="Text 9"/>
          <p:cNvSpPr/>
          <p:nvPr/>
        </p:nvSpPr>
        <p:spPr>
          <a:xfrm>
            <a:off x="6492240" y="2011680"/>
            <a:ext cx="4846320" cy="822960"/>
          </a:xfrm>
          <a:prstGeom prst="rect">
            <a:avLst/>
          </a:prstGeom>
          <a:noFill/>
          <a:ln/>
        </p:spPr>
        <p:txBody>
          <a:bodyPr wrap="square" lIns="0" tIns="0" rIns="0" bIns="0" rtlCol="0" anchor="ctr"/>
          <a:lstStyle/>
          <a:p>
            <a:pPr indent="0" marL="0">
              <a:buNone/>
            </a:pPr>
            <a:r>
              <a:rPr lang="en-US" sz="3000" b="1" strike="sngStrike" dirty="0">
                <a:solidFill>
                  <a:srgbClr val="B02532"/>
                </a:solidFill>
                <a:latin typeface="Palatino Linotype" pitchFamily="34" charset="0"/>
                <a:ea typeface="Palatino Linotype" pitchFamily="34" charset="-122"/>
                <a:cs typeface="Palatino Linotype" pitchFamily="34" charset="-120"/>
              </a:rPr>
              <a:t>81,5 − 77,07 = 4,43 ani</a:t>
            </a:r>
            <a:endParaRPr lang="en-US" sz="3000" dirty="0"/>
          </a:p>
        </p:txBody>
      </p:sp>
      <p:sp>
        <p:nvSpPr>
          <p:cNvPr id="12" name="Shape 10"/>
          <p:cNvSpPr/>
          <p:nvPr/>
        </p:nvSpPr>
        <p:spPr>
          <a:xfrm>
            <a:off x="6263640" y="3291840"/>
            <a:ext cx="5303520" cy="1554480"/>
          </a:xfrm>
          <a:prstGeom prst="roundRect">
            <a:avLst>
              <a:gd name="adj" fmla="val 5294"/>
            </a:avLst>
          </a:prstGeom>
          <a:solidFill>
            <a:srgbClr val="D8EEE9"/>
          </a:solidFill>
          <a:ln w="12700">
            <a:solidFill>
              <a:srgbClr val="D8EEE9"/>
            </a:solidFill>
            <a:prstDash val="solid"/>
          </a:ln>
        </p:spPr>
      </p:sp>
      <p:sp>
        <p:nvSpPr>
          <p:cNvPr id="13" name="Text 11"/>
          <p:cNvSpPr/>
          <p:nvPr/>
        </p:nvSpPr>
        <p:spPr>
          <a:xfrm>
            <a:off x="6492240" y="3383280"/>
            <a:ext cx="48463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CORECT · ACEEAȘI SURSĂ, EUROSTAT</a:t>
            </a:r>
            <a:endParaRPr lang="en-US" sz="1300" dirty="0"/>
          </a:p>
        </p:txBody>
      </p:sp>
      <p:sp>
        <p:nvSpPr>
          <p:cNvPr id="14" name="Text 12"/>
          <p:cNvSpPr/>
          <p:nvPr/>
        </p:nvSpPr>
        <p:spPr>
          <a:xfrm>
            <a:off x="6492240" y="3749040"/>
            <a:ext cx="2194560" cy="822960"/>
          </a:xfrm>
          <a:prstGeom prst="rect">
            <a:avLst/>
          </a:prstGeom>
          <a:noFill/>
          <a:ln/>
        </p:spPr>
        <p:txBody>
          <a:bodyPr wrap="square" lIns="0" tIns="0" rIns="0" bIns="0" rtlCol="0" anchor="ctr"/>
          <a:lstStyle/>
          <a:p>
            <a:pPr indent="0" marL="0">
              <a:buNone/>
            </a:pPr>
            <a:r>
              <a:rPr lang="en-US" sz="3600" b="1" dirty="0">
                <a:solidFill>
                  <a:srgbClr val="0E7C6B"/>
                </a:solidFill>
                <a:latin typeface="Palatino Linotype" pitchFamily="34" charset="0"/>
                <a:ea typeface="Palatino Linotype" pitchFamily="34" charset="-122"/>
                <a:cs typeface="Palatino Linotype" pitchFamily="34" charset="-120"/>
              </a:rPr>
              <a:t>5,0 ani</a:t>
            </a:r>
            <a:endParaRPr lang="en-US" sz="3600" dirty="0"/>
          </a:p>
        </p:txBody>
      </p:sp>
      <p:sp>
        <p:nvSpPr>
          <p:cNvPr id="15" name="Text 13"/>
          <p:cNvSpPr/>
          <p:nvPr/>
        </p:nvSpPr>
        <p:spPr>
          <a:xfrm>
            <a:off x="8686800" y="3749040"/>
            <a:ext cx="2743200" cy="82296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diferența dintre UE și România</a:t>
            </a:r>
            <a:endParaRPr lang="en-US" sz="1600" dirty="0"/>
          </a:p>
        </p:txBody>
      </p:sp>
      <p:sp>
        <p:nvSpPr>
          <p:cNvPr id="16" name="Text 14"/>
          <p:cNvSpPr/>
          <p:nvPr/>
        </p:nvSpPr>
        <p:spPr>
          <a:xfrm>
            <a:off x="685800" y="5120640"/>
            <a:ext cx="1088136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Se compară numai valori din aceeași sursă și calculate după aceeași metodă. Înaintea oricărei comparații, verificați definiția și sursa fiecărei valori.</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LUCRU ÎN ECHIPĂ</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 DOUA PARTE · INDICATORII EPIDEMIOLOGICI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Două exerciții în sală, trei în portofoliu</a:t>
            </a:r>
            <a:endParaRPr lang="en-US" sz="3000" dirty="0"/>
          </a:p>
        </p:txBody>
      </p:sp>
      <p:sp>
        <p:nvSpPr>
          <p:cNvPr id="6" name="Shape 4"/>
          <p:cNvSpPr/>
          <p:nvPr/>
        </p:nvSpPr>
        <p:spPr>
          <a:xfrm>
            <a:off x="594360" y="1463040"/>
            <a:ext cx="10972800" cy="676656"/>
          </a:xfrm>
          <a:prstGeom prst="roundRect">
            <a:avLst>
              <a:gd name="adj" fmla="val 12162"/>
            </a:avLst>
          </a:prstGeom>
          <a:solidFill>
            <a:srgbClr val="1D1F2B"/>
          </a:solidFill>
          <a:ln w="12700">
            <a:solidFill>
              <a:srgbClr val="1D1F2B"/>
            </a:solidFill>
            <a:prstDash val="solid"/>
          </a:ln>
        </p:spPr>
      </p:sp>
      <p:sp>
        <p:nvSpPr>
          <p:cNvPr id="7" name="Text 5"/>
          <p:cNvSpPr/>
          <p:nvPr/>
        </p:nvSpPr>
        <p:spPr>
          <a:xfrm>
            <a:off x="868680" y="1463040"/>
            <a:ext cx="78638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Prevalența și incidența într-o listă de pacienți</a:t>
            </a:r>
            <a:endParaRPr lang="en-US" sz="1700" dirty="0"/>
          </a:p>
        </p:txBody>
      </p:sp>
      <p:sp>
        <p:nvSpPr>
          <p:cNvPr id="8" name="Shape 6"/>
          <p:cNvSpPr/>
          <p:nvPr/>
        </p:nvSpPr>
        <p:spPr>
          <a:xfrm>
            <a:off x="9098280" y="1636776"/>
            <a:ext cx="2240280" cy="329184"/>
          </a:xfrm>
          <a:prstGeom prst="roundRect">
            <a:avLst>
              <a:gd name="adj" fmla="val 50000"/>
            </a:avLst>
          </a:prstGeom>
          <a:solidFill>
            <a:srgbClr val="27D3BE"/>
          </a:solidFill>
          <a:ln w="12700">
            <a:solidFill>
              <a:srgbClr val="27D3BE"/>
            </a:solidFill>
            <a:prstDash val="solid"/>
          </a:ln>
        </p:spPr>
      </p:sp>
      <p:sp>
        <p:nvSpPr>
          <p:cNvPr id="9" name="Text 7"/>
          <p:cNvSpPr/>
          <p:nvPr/>
        </p:nvSpPr>
        <p:spPr>
          <a:xfrm>
            <a:off x="9098280" y="1636776"/>
            <a:ext cx="224028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ÎN SALĂ</a:t>
            </a:r>
            <a:endParaRPr lang="en-US" sz="1200" dirty="0"/>
          </a:p>
        </p:txBody>
      </p:sp>
      <p:sp>
        <p:nvSpPr>
          <p:cNvPr id="10" name="Shape 8"/>
          <p:cNvSpPr/>
          <p:nvPr/>
        </p:nvSpPr>
        <p:spPr>
          <a:xfrm>
            <a:off x="594360" y="2249424"/>
            <a:ext cx="10972800" cy="676656"/>
          </a:xfrm>
          <a:prstGeom prst="roundRect">
            <a:avLst>
              <a:gd name="adj" fmla="val 12162"/>
            </a:avLst>
          </a:prstGeom>
          <a:solidFill>
            <a:srgbClr val="1D1F2B"/>
          </a:solidFill>
          <a:ln w="12700">
            <a:solidFill>
              <a:srgbClr val="1D1F2B"/>
            </a:solidFill>
            <a:prstDash val="solid"/>
          </a:ln>
        </p:spPr>
      </p:sp>
      <p:sp>
        <p:nvSpPr>
          <p:cNvPr id="11" name="Text 9"/>
          <p:cNvSpPr/>
          <p:nvPr/>
        </p:nvSpPr>
        <p:spPr>
          <a:xfrm>
            <a:off x="868680" y="2249424"/>
            <a:ext cx="78638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Ratele de mortalitate specifice pe vârste: Cluj față de România</a:t>
            </a:r>
            <a:endParaRPr lang="en-US" sz="1700" dirty="0"/>
          </a:p>
        </p:txBody>
      </p:sp>
      <p:sp>
        <p:nvSpPr>
          <p:cNvPr id="12" name="Shape 10"/>
          <p:cNvSpPr/>
          <p:nvPr/>
        </p:nvSpPr>
        <p:spPr>
          <a:xfrm>
            <a:off x="9098280" y="2423160"/>
            <a:ext cx="2240280" cy="329184"/>
          </a:xfrm>
          <a:prstGeom prst="roundRect">
            <a:avLst>
              <a:gd name="adj" fmla="val 50000"/>
            </a:avLst>
          </a:prstGeom>
          <a:solidFill>
            <a:srgbClr val="27D3BE"/>
          </a:solidFill>
          <a:ln w="12700">
            <a:solidFill>
              <a:srgbClr val="9B7EF7"/>
            </a:solidFill>
            <a:prstDash val="solid"/>
          </a:ln>
        </p:spPr>
      </p:sp>
      <p:sp>
        <p:nvSpPr>
          <p:cNvPr id="13" name="Text 11"/>
          <p:cNvSpPr/>
          <p:nvPr/>
        </p:nvSpPr>
        <p:spPr>
          <a:xfrm>
            <a:off x="9098280" y="2423160"/>
            <a:ext cx="2240280" cy="329184"/>
          </a:xfrm>
          <a:prstGeom prst="rect">
            <a:avLst/>
          </a:prstGeom>
          <a:noFill/>
          <a:ln/>
        </p:spPr>
        <p:txBody>
          <a:bodyPr wrap="square" lIns="0" tIns="0" rIns="0" bIns="0" rtlCol="0" anchor="ctr"/>
          <a:lstStyle/>
          <a:p>
            <a:pPr algn="ctr" indent="0" marL="0">
              <a:buNone/>
            </a:pPr>
            <a:r>
              <a:rPr lang="en-US" sz="1200" b="1" dirty="0">
                <a:solidFill>
                  <a:srgbClr val="1F1040"/>
                </a:solidFill>
                <a:latin typeface="Palatino Linotype" pitchFamily="34" charset="0"/>
                <a:ea typeface="Palatino Linotype" pitchFamily="34" charset="-122"/>
                <a:cs typeface="Palatino Linotype" pitchFamily="34" charset="-120"/>
              </a:rPr>
              <a:t>ÎN SALĂ</a:t>
            </a:r>
            <a:endParaRPr lang="en-US" sz="1200" dirty="0"/>
          </a:p>
        </p:txBody>
      </p:sp>
      <p:sp>
        <p:nvSpPr>
          <p:cNvPr id="14" name="Shape 12"/>
          <p:cNvSpPr/>
          <p:nvPr/>
        </p:nvSpPr>
        <p:spPr>
          <a:xfrm>
            <a:off x="594360" y="3035808"/>
            <a:ext cx="10972800" cy="676656"/>
          </a:xfrm>
          <a:prstGeom prst="roundRect">
            <a:avLst>
              <a:gd name="adj" fmla="val 12162"/>
            </a:avLst>
          </a:prstGeom>
          <a:solidFill>
            <a:srgbClr val="1D1F2B"/>
          </a:solidFill>
          <a:ln w="12700">
            <a:solidFill>
              <a:srgbClr val="1D1F2B"/>
            </a:solidFill>
            <a:prstDash val="solid"/>
          </a:ln>
        </p:spPr>
      </p:sp>
      <p:sp>
        <p:nvSpPr>
          <p:cNvPr id="15" name="Text 13"/>
          <p:cNvSpPr/>
          <p:nvPr/>
        </p:nvSpPr>
        <p:spPr>
          <a:xfrm>
            <a:off x="868680" y="3035808"/>
            <a:ext cx="78638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Incidența rujeolei și a tusei convulsive, la 100 000 de locuitori</a:t>
            </a:r>
            <a:endParaRPr lang="en-US" sz="1700" dirty="0"/>
          </a:p>
        </p:txBody>
      </p:sp>
      <p:sp>
        <p:nvSpPr>
          <p:cNvPr id="16" name="Shape 14"/>
          <p:cNvSpPr/>
          <p:nvPr/>
        </p:nvSpPr>
        <p:spPr>
          <a:xfrm>
            <a:off x="9098280" y="3209544"/>
            <a:ext cx="2240280" cy="329184"/>
          </a:xfrm>
          <a:prstGeom prst="roundRect">
            <a:avLst>
              <a:gd name="adj" fmla="val 50000"/>
            </a:avLst>
          </a:prstGeom>
          <a:solidFill>
            <a:srgbClr val="9B7EF7"/>
          </a:solidFill>
          <a:ln w="12700">
            <a:solidFill>
              <a:srgbClr val="27D3BE"/>
            </a:solidFill>
            <a:prstDash val="solid"/>
          </a:ln>
        </p:spPr>
      </p:sp>
      <p:sp>
        <p:nvSpPr>
          <p:cNvPr id="17" name="Text 15"/>
          <p:cNvSpPr/>
          <p:nvPr/>
        </p:nvSpPr>
        <p:spPr>
          <a:xfrm>
            <a:off x="9098280" y="3209544"/>
            <a:ext cx="224028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PORTOFOLIU</a:t>
            </a:r>
            <a:endParaRPr lang="en-US" sz="1200" dirty="0"/>
          </a:p>
        </p:txBody>
      </p:sp>
      <p:sp>
        <p:nvSpPr>
          <p:cNvPr id="18" name="Shape 16"/>
          <p:cNvSpPr/>
          <p:nvPr/>
        </p:nvSpPr>
        <p:spPr>
          <a:xfrm>
            <a:off x="594360" y="3822192"/>
            <a:ext cx="10972800" cy="676656"/>
          </a:xfrm>
          <a:prstGeom prst="roundRect">
            <a:avLst>
              <a:gd name="adj" fmla="val 12162"/>
            </a:avLst>
          </a:prstGeom>
          <a:solidFill>
            <a:srgbClr val="1D1F2B"/>
          </a:solidFill>
          <a:ln w="12700">
            <a:solidFill>
              <a:srgbClr val="1D1F2B"/>
            </a:solidFill>
            <a:prstDash val="solid"/>
          </a:ln>
        </p:spPr>
      </p:sp>
      <p:sp>
        <p:nvSpPr>
          <p:cNvPr id="19" name="Text 17"/>
          <p:cNvSpPr/>
          <p:nvPr/>
        </p:nvSpPr>
        <p:spPr>
          <a:xfrm>
            <a:off x="868680" y="3822192"/>
            <a:ext cx="78638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Prevalența infecțiilor asociate asistenței medicale</a:t>
            </a:r>
            <a:endParaRPr lang="en-US" sz="1700" dirty="0"/>
          </a:p>
        </p:txBody>
      </p:sp>
      <p:sp>
        <p:nvSpPr>
          <p:cNvPr id="20" name="Shape 18"/>
          <p:cNvSpPr/>
          <p:nvPr/>
        </p:nvSpPr>
        <p:spPr>
          <a:xfrm>
            <a:off x="9098280" y="3995928"/>
            <a:ext cx="2240280" cy="329184"/>
          </a:xfrm>
          <a:prstGeom prst="roundRect">
            <a:avLst>
              <a:gd name="adj" fmla="val 50000"/>
            </a:avLst>
          </a:prstGeom>
          <a:solidFill>
            <a:srgbClr val="9B7EF7"/>
          </a:solidFill>
          <a:ln w="12700">
            <a:solidFill>
              <a:srgbClr val="27D3BE"/>
            </a:solidFill>
            <a:prstDash val="solid"/>
          </a:ln>
        </p:spPr>
      </p:sp>
      <p:sp>
        <p:nvSpPr>
          <p:cNvPr id="21" name="Text 19"/>
          <p:cNvSpPr/>
          <p:nvPr/>
        </p:nvSpPr>
        <p:spPr>
          <a:xfrm>
            <a:off x="9098280" y="3995928"/>
            <a:ext cx="224028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PORTOFOLIU</a:t>
            </a:r>
            <a:endParaRPr lang="en-US" sz="1200" dirty="0"/>
          </a:p>
        </p:txBody>
      </p:sp>
      <p:sp>
        <p:nvSpPr>
          <p:cNvPr id="22" name="Shape 20"/>
          <p:cNvSpPr/>
          <p:nvPr/>
        </p:nvSpPr>
        <p:spPr>
          <a:xfrm>
            <a:off x="594360" y="4608576"/>
            <a:ext cx="10972800" cy="676656"/>
          </a:xfrm>
          <a:prstGeom prst="roundRect">
            <a:avLst>
              <a:gd name="adj" fmla="val 12162"/>
            </a:avLst>
          </a:prstGeom>
          <a:solidFill>
            <a:srgbClr val="1D1F2B"/>
          </a:solidFill>
          <a:ln w="12700">
            <a:solidFill>
              <a:srgbClr val="1D1F2B"/>
            </a:solidFill>
            <a:prstDash val="solid"/>
          </a:ln>
        </p:spPr>
      </p:sp>
      <p:sp>
        <p:nvSpPr>
          <p:cNvPr id="23" name="Text 21"/>
          <p:cNvSpPr/>
          <p:nvPr/>
        </p:nvSpPr>
        <p:spPr>
          <a:xfrm>
            <a:off x="868680" y="4608576"/>
            <a:ext cx="78638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Foaia de calcul: incidența în șase localități</a:t>
            </a:r>
            <a:endParaRPr lang="en-US" sz="1700" dirty="0"/>
          </a:p>
        </p:txBody>
      </p:sp>
      <p:sp>
        <p:nvSpPr>
          <p:cNvPr id="24" name="Shape 22"/>
          <p:cNvSpPr/>
          <p:nvPr/>
        </p:nvSpPr>
        <p:spPr>
          <a:xfrm>
            <a:off x="9098280" y="4782312"/>
            <a:ext cx="2240280" cy="329184"/>
          </a:xfrm>
          <a:prstGeom prst="roundRect">
            <a:avLst>
              <a:gd name="adj" fmla="val 50000"/>
            </a:avLst>
          </a:prstGeom>
          <a:solidFill>
            <a:srgbClr val="9B7EF7"/>
          </a:solidFill>
          <a:ln w="12700">
            <a:solidFill>
              <a:srgbClr val="9B7EF7"/>
            </a:solidFill>
            <a:prstDash val="solid"/>
          </a:ln>
        </p:spPr>
      </p:sp>
      <p:sp>
        <p:nvSpPr>
          <p:cNvPr id="25" name="Text 23"/>
          <p:cNvSpPr/>
          <p:nvPr/>
        </p:nvSpPr>
        <p:spPr>
          <a:xfrm>
            <a:off x="9098280" y="4782312"/>
            <a:ext cx="2240280" cy="329184"/>
          </a:xfrm>
          <a:prstGeom prst="rect">
            <a:avLst/>
          </a:prstGeom>
          <a:noFill/>
          <a:ln/>
        </p:spPr>
        <p:txBody>
          <a:bodyPr wrap="square" lIns="0" tIns="0" rIns="0" bIns="0" rtlCol="0" anchor="ctr"/>
          <a:lstStyle/>
          <a:p>
            <a:pPr algn="ctr" indent="0" marL="0">
              <a:buNone/>
            </a:pPr>
            <a:r>
              <a:rPr lang="en-US" sz="1200" b="1" dirty="0">
                <a:solidFill>
                  <a:srgbClr val="1F1040"/>
                </a:solidFill>
                <a:latin typeface="Palatino Linotype" pitchFamily="34" charset="0"/>
                <a:ea typeface="Palatino Linotype" pitchFamily="34" charset="-122"/>
                <a:cs typeface="Palatino Linotype" pitchFamily="34" charset="-120"/>
              </a:rPr>
              <a:t>PORTOFOLIU</a:t>
            </a:r>
            <a:endParaRPr lang="en-US" sz="1200" dirty="0"/>
          </a:p>
        </p:txBody>
      </p:sp>
      <p:sp>
        <p:nvSpPr>
          <p:cNvPr id="26" name="Text 24"/>
          <p:cNvSpPr/>
          <p:nvPr/>
        </p:nvSpPr>
        <p:spPr>
          <a:xfrm>
            <a:off x="594360" y="5486400"/>
            <a:ext cx="10972800" cy="77724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Portofoliul se rezolvă individual, acasă, și se predă în formularul de portofoliu până la lucrarea practică următoare. Standardizarea directă este pentru aprofundare și nu se evaluează.</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PORTOFOLIU · DATELE PRIMULUI EXERCIȚIU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Rujeola în România: cazurile și vaccinarea</a:t>
            </a:r>
            <a:endParaRPr lang="en-US" sz="3000" dirty="0"/>
          </a:p>
        </p:txBody>
      </p:sp>
      <p:sp>
        <p:nvSpPr>
          <p:cNvPr id="4" name="Text 2"/>
          <p:cNvSpPr/>
          <p:nvPr/>
        </p:nvSpPr>
        <p:spPr>
          <a:xfrm>
            <a:off x="594360" y="1508760"/>
            <a:ext cx="484632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Cazuri noi de rujeolă</a:t>
            </a:r>
            <a:endParaRPr lang="en-US" sz="1500" dirty="0"/>
          </a:p>
        </p:txBody>
      </p:sp>
      <p:sp>
        <p:nvSpPr>
          <p:cNvPr id="5" name="Shape 3"/>
          <p:cNvSpPr/>
          <p:nvPr/>
        </p:nvSpPr>
        <p:spPr>
          <a:xfrm>
            <a:off x="1097280" y="4685611"/>
            <a:ext cx="1463040" cy="435029"/>
          </a:xfrm>
          <a:prstGeom prst="rect">
            <a:avLst/>
          </a:prstGeom>
          <a:solidFill>
            <a:srgbClr val="B02532"/>
          </a:solidFill>
          <a:ln w="12700">
            <a:solidFill>
              <a:srgbClr val="B02532"/>
            </a:solidFill>
            <a:prstDash val="solid"/>
          </a:ln>
        </p:spPr>
      </p:sp>
      <p:sp>
        <p:nvSpPr>
          <p:cNvPr id="6" name="Text 4"/>
          <p:cNvSpPr/>
          <p:nvPr/>
        </p:nvSpPr>
        <p:spPr>
          <a:xfrm>
            <a:off x="731520" y="4228411"/>
            <a:ext cx="2194560" cy="411480"/>
          </a:xfrm>
          <a:prstGeom prst="rect">
            <a:avLst/>
          </a:prstGeom>
          <a:noFill/>
          <a:ln/>
        </p:spPr>
        <p:txBody>
          <a:bodyPr wrap="square" lIns="0" tIns="0" rIns="0" bIns="0" rtlCol="0" anchor="ctr"/>
          <a:lstStyle/>
          <a:p>
            <a:pPr algn="ctr" indent="0" marL="0">
              <a:buNone/>
            </a:pPr>
            <a:r>
              <a:rPr lang="en-US" sz="2000" b="1" dirty="0">
                <a:solidFill>
                  <a:srgbClr val="B02532"/>
                </a:solidFill>
                <a:latin typeface="Palatino Linotype" pitchFamily="34" charset="0"/>
                <a:ea typeface="Palatino Linotype" pitchFamily="34" charset="-122"/>
                <a:cs typeface="Palatino Linotype" pitchFamily="34" charset="-120"/>
              </a:rPr>
              <a:t>3 677</a:t>
            </a:r>
            <a:endParaRPr lang="en-US" sz="2000" dirty="0"/>
          </a:p>
        </p:txBody>
      </p:sp>
      <p:sp>
        <p:nvSpPr>
          <p:cNvPr id="7" name="Text 5"/>
          <p:cNvSpPr/>
          <p:nvPr/>
        </p:nvSpPr>
        <p:spPr>
          <a:xfrm>
            <a:off x="1097280" y="5193792"/>
            <a:ext cx="1463040" cy="347472"/>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2023</a:t>
            </a:r>
            <a:endParaRPr lang="en-US" sz="1500" dirty="0"/>
          </a:p>
        </p:txBody>
      </p:sp>
      <p:sp>
        <p:nvSpPr>
          <p:cNvPr id="8" name="Shape 6"/>
          <p:cNvSpPr/>
          <p:nvPr/>
        </p:nvSpPr>
        <p:spPr>
          <a:xfrm>
            <a:off x="3200400" y="2103120"/>
            <a:ext cx="1463040" cy="3017520"/>
          </a:xfrm>
          <a:prstGeom prst="rect">
            <a:avLst/>
          </a:prstGeom>
          <a:solidFill>
            <a:srgbClr val="B02532"/>
          </a:solidFill>
          <a:ln w="12700">
            <a:solidFill>
              <a:srgbClr val="B02532"/>
            </a:solidFill>
            <a:prstDash val="solid"/>
          </a:ln>
        </p:spPr>
      </p:sp>
      <p:sp>
        <p:nvSpPr>
          <p:cNvPr id="9" name="Text 7"/>
          <p:cNvSpPr/>
          <p:nvPr/>
        </p:nvSpPr>
        <p:spPr>
          <a:xfrm>
            <a:off x="2834640" y="1645920"/>
            <a:ext cx="2194560" cy="411480"/>
          </a:xfrm>
          <a:prstGeom prst="rect">
            <a:avLst/>
          </a:prstGeom>
          <a:noFill/>
          <a:ln/>
        </p:spPr>
        <p:txBody>
          <a:bodyPr wrap="square" lIns="0" tIns="0" rIns="0" bIns="0" rtlCol="0" anchor="ctr"/>
          <a:lstStyle/>
          <a:p>
            <a:pPr algn="ctr" indent="0" marL="0">
              <a:buNone/>
            </a:pPr>
            <a:r>
              <a:rPr lang="en-US" sz="2000" b="1" dirty="0">
                <a:solidFill>
                  <a:srgbClr val="B02532"/>
                </a:solidFill>
                <a:latin typeface="Palatino Linotype" pitchFamily="34" charset="0"/>
                <a:ea typeface="Palatino Linotype" pitchFamily="34" charset="-122"/>
                <a:cs typeface="Palatino Linotype" pitchFamily="34" charset="-120"/>
              </a:rPr>
              <a:t>25 505</a:t>
            </a:r>
            <a:endParaRPr lang="en-US" sz="2000" dirty="0"/>
          </a:p>
        </p:txBody>
      </p:sp>
      <p:sp>
        <p:nvSpPr>
          <p:cNvPr id="10" name="Text 8"/>
          <p:cNvSpPr/>
          <p:nvPr/>
        </p:nvSpPr>
        <p:spPr>
          <a:xfrm>
            <a:off x="3200400" y="5193792"/>
            <a:ext cx="1463040" cy="347472"/>
          </a:xfrm>
          <a:prstGeom prst="rect">
            <a:avLst/>
          </a:prstGeom>
          <a:noFill/>
          <a:ln/>
        </p:spPr>
        <p:txBody>
          <a:bodyPr wrap="square" lIns="0" tIns="0" rIns="0" bIns="0" rtlCol="0" anchor="t"/>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2024</a:t>
            </a:r>
            <a:endParaRPr lang="en-US" sz="1500" dirty="0"/>
          </a:p>
        </p:txBody>
      </p:sp>
      <p:sp>
        <p:nvSpPr>
          <p:cNvPr id="11" name="Shape 9"/>
          <p:cNvSpPr/>
          <p:nvPr/>
        </p:nvSpPr>
        <p:spPr>
          <a:xfrm>
            <a:off x="822960" y="5120640"/>
            <a:ext cx="4206240" cy="18288"/>
          </a:xfrm>
          <a:prstGeom prst="rect">
            <a:avLst/>
          </a:prstGeom>
          <a:solidFill>
            <a:srgbClr val="585A64"/>
          </a:solidFill>
          <a:ln w="12700">
            <a:solidFill>
              <a:srgbClr val="585A64"/>
            </a:solidFill>
            <a:prstDash val="solid"/>
          </a:ln>
        </p:spPr>
      </p:sp>
      <p:sp>
        <p:nvSpPr>
          <p:cNvPr id="12" name="Text 10"/>
          <p:cNvSpPr/>
          <p:nvPr/>
        </p:nvSpPr>
        <p:spPr>
          <a:xfrm>
            <a:off x="6035040" y="1508760"/>
            <a:ext cx="5577840" cy="36576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Acoperirea cu prima doză de vaccin rujeolic</a:t>
            </a:r>
            <a:endParaRPr lang="en-US" sz="1500" dirty="0"/>
          </a:p>
        </p:txBody>
      </p:sp>
      <p:sp>
        <p:nvSpPr>
          <p:cNvPr id="13" name="Shape 11"/>
          <p:cNvSpPr/>
          <p:nvPr/>
        </p:nvSpPr>
        <p:spPr>
          <a:xfrm>
            <a:off x="6428232" y="2584094"/>
            <a:ext cx="1234440" cy="663854"/>
          </a:xfrm>
          <a:prstGeom prst="line">
            <a:avLst/>
          </a:prstGeom>
          <a:noFill/>
          <a:ln w="31750">
            <a:solidFill>
              <a:srgbClr val="4A2D8C"/>
            </a:solidFill>
            <a:prstDash val="solid"/>
          </a:ln>
        </p:spPr>
      </p:sp>
      <p:sp>
        <p:nvSpPr>
          <p:cNvPr id="14" name="Shape 12"/>
          <p:cNvSpPr/>
          <p:nvPr/>
        </p:nvSpPr>
        <p:spPr>
          <a:xfrm>
            <a:off x="6309360" y="2465222"/>
            <a:ext cx="237744" cy="237744"/>
          </a:xfrm>
          <a:prstGeom prst="ellipse">
            <a:avLst/>
          </a:prstGeom>
          <a:solidFill>
            <a:srgbClr val="4A2D8C"/>
          </a:solidFill>
          <a:ln w="19050">
            <a:solidFill>
              <a:srgbClr val="F6F5F2"/>
            </a:solidFill>
            <a:prstDash val="solid"/>
          </a:ln>
        </p:spPr>
      </p:sp>
      <p:sp>
        <p:nvSpPr>
          <p:cNvPr id="15" name="Text 13"/>
          <p:cNvSpPr/>
          <p:nvPr/>
        </p:nvSpPr>
        <p:spPr>
          <a:xfrm>
            <a:off x="5943600" y="2739542"/>
            <a:ext cx="969264" cy="329184"/>
          </a:xfrm>
          <a:prstGeom prst="rect">
            <a:avLst/>
          </a:prstGeom>
          <a:noFill/>
          <a:ln/>
        </p:spPr>
        <p:txBody>
          <a:bodyPr wrap="square" lIns="0" tIns="0" rIns="0" bIns="0" rtlCol="0" anchor="t"/>
          <a:lstStyle/>
          <a:p>
            <a:pPr algn="ctr" indent="0" marL="0">
              <a:buNone/>
            </a:pPr>
            <a:r>
              <a:rPr lang="en-US" sz="1600" b="1" dirty="0">
                <a:solidFill>
                  <a:srgbClr val="4A2D8C"/>
                </a:solidFill>
                <a:latin typeface="Palatino Linotype" pitchFamily="34" charset="0"/>
                <a:ea typeface="Palatino Linotype" pitchFamily="34" charset="-122"/>
                <a:cs typeface="Palatino Linotype" pitchFamily="34" charset="-120"/>
              </a:rPr>
              <a:t>94%</a:t>
            </a:r>
            <a:endParaRPr lang="en-US" sz="1600" dirty="0"/>
          </a:p>
        </p:txBody>
      </p:sp>
      <p:sp>
        <p:nvSpPr>
          <p:cNvPr id="16" name="Text 14"/>
          <p:cNvSpPr/>
          <p:nvPr/>
        </p:nvSpPr>
        <p:spPr>
          <a:xfrm>
            <a:off x="5943600" y="5193792"/>
            <a:ext cx="969264" cy="347472"/>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2012</a:t>
            </a:r>
            <a:endParaRPr lang="en-US" sz="1400" dirty="0"/>
          </a:p>
        </p:txBody>
      </p:sp>
      <p:sp>
        <p:nvSpPr>
          <p:cNvPr id="17" name="Shape 15"/>
          <p:cNvSpPr/>
          <p:nvPr/>
        </p:nvSpPr>
        <p:spPr>
          <a:xfrm>
            <a:off x="7662672" y="3247949"/>
            <a:ext cx="1234440" cy="301752"/>
          </a:xfrm>
          <a:prstGeom prst="line">
            <a:avLst/>
          </a:prstGeom>
          <a:noFill/>
          <a:ln w="31750">
            <a:solidFill>
              <a:srgbClr val="4A2D8C"/>
            </a:solidFill>
            <a:prstDash val="solid"/>
          </a:ln>
        </p:spPr>
      </p:sp>
      <p:sp>
        <p:nvSpPr>
          <p:cNvPr id="18" name="Shape 16"/>
          <p:cNvSpPr/>
          <p:nvPr/>
        </p:nvSpPr>
        <p:spPr>
          <a:xfrm>
            <a:off x="7543800" y="3129077"/>
            <a:ext cx="237744" cy="237744"/>
          </a:xfrm>
          <a:prstGeom prst="ellipse">
            <a:avLst/>
          </a:prstGeom>
          <a:solidFill>
            <a:srgbClr val="4A2D8C"/>
          </a:solidFill>
          <a:ln w="19050">
            <a:solidFill>
              <a:srgbClr val="F6F5F2"/>
            </a:solidFill>
            <a:prstDash val="solid"/>
          </a:ln>
        </p:spPr>
      </p:sp>
      <p:sp>
        <p:nvSpPr>
          <p:cNvPr id="19" name="Text 17"/>
          <p:cNvSpPr/>
          <p:nvPr/>
        </p:nvSpPr>
        <p:spPr>
          <a:xfrm>
            <a:off x="7178040" y="3403397"/>
            <a:ext cx="969264" cy="329184"/>
          </a:xfrm>
          <a:prstGeom prst="rect">
            <a:avLst/>
          </a:prstGeom>
          <a:noFill/>
          <a:ln/>
        </p:spPr>
        <p:txBody>
          <a:bodyPr wrap="square" lIns="0" tIns="0" rIns="0" bIns="0" rtlCol="0" anchor="t"/>
          <a:lstStyle/>
          <a:p>
            <a:pPr algn="ctr" indent="0" marL="0">
              <a:buNone/>
            </a:pPr>
            <a:r>
              <a:rPr lang="en-US" sz="1600" b="1" dirty="0">
                <a:solidFill>
                  <a:srgbClr val="4A2D8C"/>
                </a:solidFill>
                <a:latin typeface="Palatino Linotype" pitchFamily="34" charset="0"/>
                <a:ea typeface="Palatino Linotype" pitchFamily="34" charset="-122"/>
                <a:cs typeface="Palatino Linotype" pitchFamily="34" charset="-120"/>
              </a:rPr>
              <a:t>83%</a:t>
            </a:r>
            <a:endParaRPr lang="en-US" sz="1600" dirty="0"/>
          </a:p>
        </p:txBody>
      </p:sp>
      <p:sp>
        <p:nvSpPr>
          <p:cNvPr id="20" name="Text 18"/>
          <p:cNvSpPr/>
          <p:nvPr/>
        </p:nvSpPr>
        <p:spPr>
          <a:xfrm>
            <a:off x="7178040" y="5193792"/>
            <a:ext cx="969264" cy="347472"/>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2022</a:t>
            </a:r>
            <a:endParaRPr lang="en-US" sz="1400" dirty="0"/>
          </a:p>
        </p:txBody>
      </p:sp>
      <p:sp>
        <p:nvSpPr>
          <p:cNvPr id="21" name="Shape 19"/>
          <p:cNvSpPr/>
          <p:nvPr/>
        </p:nvSpPr>
        <p:spPr>
          <a:xfrm>
            <a:off x="8897112" y="3549701"/>
            <a:ext cx="1234440" cy="724205"/>
          </a:xfrm>
          <a:prstGeom prst="line">
            <a:avLst/>
          </a:prstGeom>
          <a:noFill/>
          <a:ln w="31750">
            <a:solidFill>
              <a:srgbClr val="4A2D8C"/>
            </a:solidFill>
            <a:prstDash val="solid"/>
          </a:ln>
        </p:spPr>
      </p:sp>
      <p:sp>
        <p:nvSpPr>
          <p:cNvPr id="22" name="Shape 20"/>
          <p:cNvSpPr/>
          <p:nvPr/>
        </p:nvSpPr>
        <p:spPr>
          <a:xfrm>
            <a:off x="8778240" y="3430829"/>
            <a:ext cx="237744" cy="237744"/>
          </a:xfrm>
          <a:prstGeom prst="ellipse">
            <a:avLst/>
          </a:prstGeom>
          <a:solidFill>
            <a:srgbClr val="4A2D8C"/>
          </a:solidFill>
          <a:ln w="19050">
            <a:solidFill>
              <a:srgbClr val="F6F5F2"/>
            </a:solidFill>
            <a:prstDash val="solid"/>
          </a:ln>
        </p:spPr>
      </p:sp>
      <p:sp>
        <p:nvSpPr>
          <p:cNvPr id="23" name="Text 21"/>
          <p:cNvSpPr/>
          <p:nvPr/>
        </p:nvSpPr>
        <p:spPr>
          <a:xfrm>
            <a:off x="8412480" y="3705149"/>
            <a:ext cx="969264" cy="329184"/>
          </a:xfrm>
          <a:prstGeom prst="rect">
            <a:avLst/>
          </a:prstGeom>
          <a:noFill/>
          <a:ln/>
        </p:spPr>
        <p:txBody>
          <a:bodyPr wrap="square" lIns="0" tIns="0" rIns="0" bIns="0" rtlCol="0" anchor="t"/>
          <a:lstStyle/>
          <a:p>
            <a:pPr algn="ctr" indent="0" marL="0">
              <a:buNone/>
            </a:pPr>
            <a:r>
              <a:rPr lang="en-US" sz="1600" b="1" dirty="0">
                <a:solidFill>
                  <a:srgbClr val="4A2D8C"/>
                </a:solidFill>
                <a:latin typeface="Palatino Linotype" pitchFamily="34" charset="0"/>
                <a:ea typeface="Palatino Linotype" pitchFamily="34" charset="-122"/>
                <a:cs typeface="Palatino Linotype" pitchFamily="34" charset="-120"/>
              </a:rPr>
              <a:t>78%</a:t>
            </a:r>
            <a:endParaRPr lang="en-US" sz="1600" dirty="0"/>
          </a:p>
        </p:txBody>
      </p:sp>
      <p:sp>
        <p:nvSpPr>
          <p:cNvPr id="24" name="Text 22"/>
          <p:cNvSpPr/>
          <p:nvPr/>
        </p:nvSpPr>
        <p:spPr>
          <a:xfrm>
            <a:off x="8412480" y="5193792"/>
            <a:ext cx="969264" cy="347472"/>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2023</a:t>
            </a:r>
            <a:endParaRPr lang="en-US" sz="1400" dirty="0"/>
          </a:p>
        </p:txBody>
      </p:sp>
      <p:sp>
        <p:nvSpPr>
          <p:cNvPr id="25" name="Shape 23"/>
          <p:cNvSpPr/>
          <p:nvPr/>
        </p:nvSpPr>
        <p:spPr>
          <a:xfrm>
            <a:off x="10131552" y="4273906"/>
            <a:ext cx="1234440" cy="914"/>
          </a:xfrm>
          <a:prstGeom prst="line">
            <a:avLst/>
          </a:prstGeom>
          <a:noFill/>
          <a:ln w="31750">
            <a:solidFill>
              <a:srgbClr val="4A2D8C"/>
            </a:solidFill>
            <a:prstDash val="solid"/>
          </a:ln>
        </p:spPr>
      </p:sp>
      <p:sp>
        <p:nvSpPr>
          <p:cNvPr id="26" name="Shape 24"/>
          <p:cNvSpPr/>
          <p:nvPr/>
        </p:nvSpPr>
        <p:spPr>
          <a:xfrm>
            <a:off x="10012680" y="4155034"/>
            <a:ext cx="237744" cy="237744"/>
          </a:xfrm>
          <a:prstGeom prst="ellipse">
            <a:avLst/>
          </a:prstGeom>
          <a:solidFill>
            <a:srgbClr val="4A2D8C"/>
          </a:solidFill>
          <a:ln w="19050">
            <a:solidFill>
              <a:srgbClr val="F6F5F2"/>
            </a:solidFill>
            <a:prstDash val="solid"/>
          </a:ln>
        </p:spPr>
      </p:sp>
      <p:sp>
        <p:nvSpPr>
          <p:cNvPr id="27" name="Text 25"/>
          <p:cNvSpPr/>
          <p:nvPr/>
        </p:nvSpPr>
        <p:spPr>
          <a:xfrm>
            <a:off x="9646920" y="4429354"/>
            <a:ext cx="969264" cy="329184"/>
          </a:xfrm>
          <a:prstGeom prst="rect">
            <a:avLst/>
          </a:prstGeom>
          <a:noFill/>
          <a:ln/>
        </p:spPr>
        <p:txBody>
          <a:bodyPr wrap="square" lIns="0" tIns="0" rIns="0" bIns="0" rtlCol="0" anchor="t"/>
          <a:lstStyle/>
          <a:p>
            <a:pPr algn="ctr" indent="0" marL="0">
              <a:buNone/>
            </a:pPr>
            <a:r>
              <a:rPr lang="en-US" sz="1600" b="1" dirty="0">
                <a:solidFill>
                  <a:srgbClr val="4A2D8C"/>
                </a:solidFill>
                <a:latin typeface="Palatino Linotype" pitchFamily="34" charset="0"/>
                <a:ea typeface="Palatino Linotype" pitchFamily="34" charset="-122"/>
                <a:cs typeface="Palatino Linotype" pitchFamily="34" charset="-120"/>
              </a:rPr>
              <a:t>66%</a:t>
            </a:r>
            <a:endParaRPr lang="en-US" sz="1600" dirty="0"/>
          </a:p>
        </p:txBody>
      </p:sp>
      <p:sp>
        <p:nvSpPr>
          <p:cNvPr id="28" name="Text 26"/>
          <p:cNvSpPr/>
          <p:nvPr/>
        </p:nvSpPr>
        <p:spPr>
          <a:xfrm>
            <a:off x="9646920" y="5193792"/>
            <a:ext cx="969264" cy="347472"/>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2024</a:t>
            </a:r>
            <a:endParaRPr lang="en-US" sz="1400" dirty="0"/>
          </a:p>
        </p:txBody>
      </p:sp>
      <p:sp>
        <p:nvSpPr>
          <p:cNvPr id="29" name="Shape 27"/>
          <p:cNvSpPr/>
          <p:nvPr/>
        </p:nvSpPr>
        <p:spPr>
          <a:xfrm>
            <a:off x="11247120" y="4155034"/>
            <a:ext cx="237744" cy="237744"/>
          </a:xfrm>
          <a:prstGeom prst="ellipse">
            <a:avLst/>
          </a:prstGeom>
          <a:solidFill>
            <a:srgbClr val="4A2D8C"/>
          </a:solidFill>
          <a:ln w="19050">
            <a:solidFill>
              <a:srgbClr val="F6F5F2"/>
            </a:solidFill>
            <a:prstDash val="solid"/>
          </a:ln>
        </p:spPr>
      </p:sp>
      <p:sp>
        <p:nvSpPr>
          <p:cNvPr id="30" name="Text 28"/>
          <p:cNvSpPr/>
          <p:nvPr/>
        </p:nvSpPr>
        <p:spPr>
          <a:xfrm>
            <a:off x="10881360" y="4429354"/>
            <a:ext cx="969264" cy="329184"/>
          </a:xfrm>
          <a:prstGeom prst="rect">
            <a:avLst/>
          </a:prstGeom>
          <a:noFill/>
          <a:ln/>
        </p:spPr>
        <p:txBody>
          <a:bodyPr wrap="square" lIns="0" tIns="0" rIns="0" bIns="0" rtlCol="0" anchor="t"/>
          <a:lstStyle/>
          <a:p>
            <a:pPr algn="ctr" indent="0" marL="0">
              <a:buNone/>
            </a:pPr>
            <a:r>
              <a:rPr lang="en-US" sz="1600" b="1" dirty="0">
                <a:solidFill>
                  <a:srgbClr val="4A2D8C"/>
                </a:solidFill>
                <a:latin typeface="Palatino Linotype" pitchFamily="34" charset="0"/>
                <a:ea typeface="Palatino Linotype" pitchFamily="34" charset="-122"/>
                <a:cs typeface="Palatino Linotype" pitchFamily="34" charset="-120"/>
              </a:rPr>
              <a:t>66%</a:t>
            </a:r>
            <a:endParaRPr lang="en-US" sz="1600" dirty="0"/>
          </a:p>
        </p:txBody>
      </p:sp>
      <p:sp>
        <p:nvSpPr>
          <p:cNvPr id="31" name="Text 29"/>
          <p:cNvSpPr/>
          <p:nvPr/>
        </p:nvSpPr>
        <p:spPr>
          <a:xfrm>
            <a:off x="10881360" y="5193792"/>
            <a:ext cx="969264" cy="347472"/>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2025</a:t>
            </a:r>
            <a:endParaRPr lang="en-US" sz="1400" dirty="0"/>
          </a:p>
        </p:txBody>
      </p:sp>
      <p:sp>
        <p:nvSpPr>
          <p:cNvPr id="32" name="Shape 30"/>
          <p:cNvSpPr/>
          <p:nvPr/>
        </p:nvSpPr>
        <p:spPr>
          <a:xfrm>
            <a:off x="6126480" y="5120640"/>
            <a:ext cx="5394960" cy="18288"/>
          </a:xfrm>
          <a:prstGeom prst="rect">
            <a:avLst/>
          </a:prstGeom>
          <a:solidFill>
            <a:srgbClr val="585A64"/>
          </a:solidFill>
          <a:ln w="12700">
            <a:solidFill>
              <a:srgbClr val="585A64"/>
            </a:solidFill>
            <a:prstDash val="solid"/>
          </a:ln>
        </p:spPr>
      </p:sp>
      <p:sp>
        <p:nvSpPr>
          <p:cNvPr id="33" name="Text 31"/>
          <p:cNvSpPr/>
          <p:nvPr/>
        </p:nvSpPr>
        <p:spPr>
          <a:xfrm>
            <a:off x="594360" y="5669280"/>
            <a:ext cx="10972800" cy="54864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De ce comparăm incidențele, nu numărul cazurilor? Calculul la 100 000 de locuitori îl faceți acasă.</a:t>
            </a:r>
            <a:endParaRPr lang="en-US" sz="1700" dirty="0"/>
          </a:p>
        </p:txBody>
      </p:sp>
      <p:sp>
        <p:nvSpPr>
          <p:cNvPr id="34" name="Text 3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Surse: INS (cazurile noi), OMS și UNICEF (acoperirea vaccinală); toate valorile sunt în documentul lucrării.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MICROSOFT FORMS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PREDAREA FIȘEI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Fiecare student predă fișa, individual</a:t>
            </a:r>
            <a:endParaRPr lang="en-US" sz="3000" dirty="0"/>
          </a:p>
        </p:txBody>
      </p:sp>
      <p:sp>
        <p:nvSpPr>
          <p:cNvPr id="6" name="Shape 4"/>
          <p:cNvSpPr/>
          <p:nvPr/>
        </p:nvSpPr>
        <p:spPr>
          <a:xfrm>
            <a:off x="594360" y="1600200"/>
            <a:ext cx="6949440" cy="1024128"/>
          </a:xfrm>
          <a:prstGeom prst="roundRect">
            <a:avLst>
              <a:gd name="adj" fmla="val 8036"/>
            </a:avLst>
          </a:prstGeom>
          <a:solidFill>
            <a:srgbClr val="1D1F2B"/>
          </a:solidFill>
          <a:ln w="12700">
            <a:solidFill>
              <a:srgbClr val="1D1F2B"/>
            </a:solidFill>
            <a:prstDash val="solid"/>
          </a:ln>
        </p:spPr>
        <p:txBody>
          <a:bodyPr/>
          <a:p/>
        </p:txBody>
      </p:sp>
      <p:sp>
        <p:nvSpPr>
          <p:cNvPr id="7" name="Shape 5"/>
          <p:cNvSpPr/>
          <p:nvPr/>
        </p:nvSpPr>
        <p:spPr>
          <a:xfrm>
            <a:off x="868680" y="1901952"/>
            <a:ext cx="420624" cy="420624"/>
          </a:xfrm>
          <a:prstGeom prst="ellipse">
            <a:avLst/>
          </a:prstGeom>
          <a:solidFill>
            <a:srgbClr val="27D3BE"/>
          </a:solidFill>
          <a:ln/>
        </p:spPr>
        <p:txBody>
          <a:bodyPr/>
          <a:p/>
        </p:txBody>
      </p:sp>
      <p:sp>
        <p:nvSpPr>
          <p:cNvPr id="8" name="Text 6"/>
          <p:cNvSpPr/>
          <p:nvPr/>
        </p:nvSpPr>
        <p:spPr>
          <a:xfrm>
            <a:off x="868680" y="19019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600200"/>
            <a:ext cx="5806440" cy="1024128"/>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Deschideți formularul cu codul QR și autentificați-vă cu contul UMF.</a:t>
            </a:r>
            <a:endParaRPr lang="en-US" sz="1750" dirty="0"/>
          </a:p>
        </p:txBody>
      </p:sp>
      <p:sp>
        <p:nvSpPr>
          <p:cNvPr id="10" name="Shape 8"/>
          <p:cNvSpPr/>
          <p:nvPr/>
        </p:nvSpPr>
        <p:spPr>
          <a:xfrm>
            <a:off x="594360" y="2807208"/>
            <a:ext cx="6949440" cy="1024128"/>
          </a:xfrm>
          <a:prstGeom prst="roundRect">
            <a:avLst>
              <a:gd name="adj" fmla="val 8036"/>
            </a:avLst>
          </a:prstGeom>
          <a:solidFill>
            <a:srgbClr val="1D1F2B"/>
          </a:solidFill>
          <a:ln w="12700">
            <a:solidFill>
              <a:srgbClr val="1D1F2B"/>
            </a:solidFill>
            <a:prstDash val="solid"/>
          </a:ln>
        </p:spPr>
        <p:txBody>
          <a:bodyPr/>
          <a:p/>
        </p:txBody>
      </p:sp>
      <p:sp>
        <p:nvSpPr>
          <p:cNvPr id="11" name="Shape 9"/>
          <p:cNvSpPr/>
          <p:nvPr/>
        </p:nvSpPr>
        <p:spPr>
          <a:xfrm>
            <a:off x="868680" y="3108960"/>
            <a:ext cx="420624" cy="420624"/>
          </a:xfrm>
          <a:prstGeom prst="ellipse">
            <a:avLst/>
          </a:prstGeom>
          <a:solidFill>
            <a:srgbClr val="27D3BE"/>
          </a:solidFill>
          <a:ln/>
        </p:spPr>
        <p:txBody>
          <a:bodyPr/>
          <a:p/>
        </p:txBody>
      </p:sp>
      <p:sp>
        <p:nvSpPr>
          <p:cNvPr id="12" name="Text 10"/>
          <p:cNvSpPr/>
          <p:nvPr/>
        </p:nvSpPr>
        <p:spPr>
          <a:xfrm>
            <a:off x="868680" y="31089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807208"/>
            <a:ext cx="5806440" cy="1024128"/>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Introduceți rezultatele calculate în echipă; fiecare membru predă propriul formular.</a:t>
            </a:r>
            <a:endParaRPr lang="en-US" sz="1750" dirty="0"/>
          </a:p>
        </p:txBody>
      </p:sp>
      <p:sp>
        <p:nvSpPr>
          <p:cNvPr id="14" name="Shape 12"/>
          <p:cNvSpPr/>
          <p:nvPr/>
        </p:nvSpPr>
        <p:spPr>
          <a:xfrm>
            <a:off x="594360" y="4014216"/>
            <a:ext cx="6949440" cy="1024128"/>
          </a:xfrm>
          <a:prstGeom prst="roundRect">
            <a:avLst>
              <a:gd name="adj" fmla="val 8036"/>
            </a:avLst>
          </a:prstGeom>
          <a:solidFill>
            <a:srgbClr val="1D1F2B"/>
          </a:solidFill>
          <a:ln w="12700">
            <a:solidFill>
              <a:srgbClr val="1D1F2B"/>
            </a:solidFill>
            <a:prstDash val="solid"/>
          </a:ln>
        </p:spPr>
        <p:txBody>
          <a:bodyPr/>
          <a:p/>
        </p:txBody>
      </p:sp>
      <p:sp>
        <p:nvSpPr>
          <p:cNvPr id="15" name="Shape 13"/>
          <p:cNvSpPr/>
          <p:nvPr/>
        </p:nvSpPr>
        <p:spPr>
          <a:xfrm>
            <a:off x="868680" y="4315968"/>
            <a:ext cx="420624" cy="420624"/>
          </a:xfrm>
          <a:prstGeom prst="ellipse">
            <a:avLst/>
          </a:prstGeom>
          <a:solidFill>
            <a:srgbClr val="27D3BE"/>
          </a:solidFill>
          <a:ln/>
        </p:spPr>
        <p:txBody>
          <a:bodyPr/>
          <a:p/>
        </p:txBody>
      </p:sp>
      <p:sp>
        <p:nvSpPr>
          <p:cNvPr id="16" name="Text 14"/>
          <p:cNvSpPr/>
          <p:nvPr/>
        </p:nvSpPr>
        <p:spPr>
          <a:xfrm>
            <a:off x="868680" y="43159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4014216"/>
            <a:ext cx="5806440" cy="1024128"/>
          </a:xfrm>
          <a:prstGeom prst="rect">
            <a:avLst/>
          </a:prstGeom>
          <a:noFill/>
          <a:ln/>
        </p:spPr>
        <p:txBody>
          <a:bodyPr wrap="square" lIns="0" tIns="0" rIns="0" bIns="0" rtlCol="0" anchor="ctr"/>
          <a:lstStyle/>
          <a:p>
            <a:pPr indent="0" marL="0">
              <a:buNone/>
            </a:pPr>
            <a:r>
              <a:rPr lang="en-US" sz="1750" dirty="0">
                <a:solidFill>
                  <a:srgbClr val="FFFFFF"/>
                </a:solidFill>
                <a:latin typeface="Palatino Linotype" pitchFamily="34" charset="0"/>
                <a:ea typeface="Palatino Linotype" pitchFamily="34" charset="-122"/>
                <a:cs typeface="Palatino Linotype" pitchFamily="34" charset="-120"/>
              </a:rPr>
              <a:t>Rezolvările apar în formular după predare. Comparați-le cu ale voastre și notați unde ați greșit.</a:t>
            </a:r>
            <a:endParaRPr lang="en-US" sz="1750" dirty="0"/>
          </a:p>
        </p:txBody>
      </p:sp>
      <p:sp>
        <p:nvSpPr>
          <p:cNvPr id="18" name="Shape 16"/>
          <p:cNvSpPr/>
          <p:nvPr/>
        </p:nvSpPr>
        <p:spPr>
          <a:xfrm>
            <a:off x="8001000" y="1600200"/>
            <a:ext cx="3566160" cy="3438144"/>
          </a:xfrm>
          <a:prstGeom prst="roundRect">
            <a:avLst>
              <a:gd name="adj" fmla="val 2394"/>
            </a:avLst>
          </a:prstGeom>
          <a:solidFill>
            <a:srgbClr val="FFFFFF"/>
          </a:solidFill>
          <a:ln w="12700">
            <a:solidFill>
              <a:srgbClr val="FFFFFF"/>
            </a:solidFill>
            <a:prstDash val="solid"/>
          </a:ln>
        </p:spPr>
        <p:txBody>
          <a:bodyPr/>
          <a:p/>
        </p:txBody>
      </p:sp>
      <p:sp>
        <p:nvSpPr>
          <p:cNvPr id="20" name="Text 18"/>
          <p:cNvSpPr/>
          <p:nvPr/>
        </p:nvSpPr>
        <p:spPr>
          <a:xfrm>
            <a:off x="594360" y="5349240"/>
            <a:ext cx="10972800" cy="64008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Formularul se completează cu contul instituțional; răspunsurile nu se văd înainte de predare.</a:t>
            </a:r>
            <a:endParaRPr lang="en-US" sz="1600" dirty="0"/>
          </a:p>
        </p:txBody>
      </p:sp>
      <p:pic>
        <p:nvPicPr>
          <p:cNvPr id="21" name="Picture 20" descr="AMG_IV_LP01_sala_marti_6_10_grupele_4_5_Miana_Hossu.png"/>
          <p:cNvPicPr>
            <a:picLocks noChangeAspect="1"/>
          </p:cNvPicPr>
          <p:nvPr/>
        </p:nvPicPr>
        <p:blipFill>
          <a:blip r:embed="rId3"/>
          <a:stretch>
            <a:fillRect/>
          </a:stretch>
        </p:blipFill>
        <p:spPr>
          <a:xfrm>
            <a:off x="8001000" y="2167534"/>
            <a:ext cx="1676095" cy="1676095"/>
          </a:xfrm>
          <a:prstGeom prst="rect">
            <a:avLst/>
          </a:prstGeom>
        </p:spPr>
      </p:pic>
      <p:sp>
        <p:nvSpPr>
          <p:cNvPr id="22" name="TextBox 21"/>
          <p:cNvSpPr txBox="1"/>
          <p:nvPr/>
        </p:nvSpPr>
        <p:spPr>
          <a:xfrm>
            <a:off x="7894016" y="3881729"/>
            <a:ext cx="1890064" cy="627380"/>
          </a:xfrm>
          <a:prstGeom prst="rect">
            <a:avLst/>
          </a:prstGeom>
          <a:noFill/>
        </p:spPr>
        <p:txBody>
          <a:bodyPr wrap="square" lIns="0" rIns="0" tIns="0" bIns="0" anchor="t">
            <a:spAutoFit/>
          </a:bodyPr>
          <a:lstStyle/>
          <a:p>
            <a:pPr algn="ctr"/>
            <a:r>
              <a:rPr sz="1200" b="1">
                <a:solidFill>
                  <a:srgbClr val="B02532"/>
                </a:solidFill>
                <a:latin typeface="Palatino Linotype"/>
              </a:rPr>
              <a:t>marți 6.10</a:t>
            </a:r>
          </a:p>
          <a:p>
            <a:pPr algn="ctr"/>
            <a:r>
              <a:rPr sz="1200" b="1">
                <a:solidFill>
                  <a:srgbClr val="B02532"/>
                </a:solidFill>
                <a:latin typeface="Palatino Linotype"/>
              </a:rPr>
              <a:t>grupele 4–5</a:t>
            </a:r>
          </a:p>
        </p:txBody>
      </p:sp>
      <p:pic>
        <p:nvPicPr>
          <p:cNvPr id="23" name="Picture 22" descr="AMG_IV_LP01_sala_miercuri_7_10_grupele_1_3.png"/>
          <p:cNvPicPr>
            <a:picLocks noChangeAspect="1"/>
          </p:cNvPicPr>
          <p:nvPr/>
        </p:nvPicPr>
        <p:blipFill>
          <a:blip r:embed="rId4"/>
          <a:stretch>
            <a:fillRect/>
          </a:stretch>
        </p:blipFill>
        <p:spPr>
          <a:xfrm>
            <a:off x="9891064" y="2167534"/>
            <a:ext cx="1676095" cy="1676095"/>
          </a:xfrm>
          <a:prstGeom prst="rect">
            <a:avLst/>
          </a:prstGeom>
        </p:spPr>
      </p:pic>
      <p:sp>
        <p:nvSpPr>
          <p:cNvPr id="24" name="TextBox 23"/>
          <p:cNvSpPr txBox="1"/>
          <p:nvPr/>
        </p:nvSpPr>
        <p:spPr>
          <a:xfrm>
            <a:off x="9784080" y="3881729"/>
            <a:ext cx="1890064" cy="627380"/>
          </a:xfrm>
          <a:prstGeom prst="rect">
            <a:avLst/>
          </a:prstGeom>
          <a:noFill/>
        </p:spPr>
        <p:txBody>
          <a:bodyPr wrap="square" lIns="0" rIns="0" tIns="0" bIns="0" anchor="t">
            <a:spAutoFit/>
          </a:bodyPr>
          <a:lstStyle/>
          <a:p>
            <a:pPr algn="ctr"/>
            <a:r>
              <a:rPr sz="1200" b="1">
                <a:solidFill>
                  <a:srgbClr val="B02532"/>
                </a:solidFill>
                <a:latin typeface="Palatino Linotype"/>
              </a:rPr>
              <a:t>miercuri 7.10</a:t>
            </a:r>
          </a:p>
          <a:p>
            <a:pPr algn="ctr"/>
            <a:r>
              <a:rPr sz="1200" b="1">
                <a:solidFill>
                  <a:srgbClr val="B02532"/>
                </a:solidFill>
                <a:latin typeface="Palatino Linotype"/>
              </a:rPr>
              <a:t>grupele 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SINTEZA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principii de interpretare</a:t>
            </a:r>
            <a:endParaRPr lang="en-US" sz="3100" dirty="0"/>
          </a:p>
        </p:txBody>
      </p:sp>
      <p:sp>
        <p:nvSpPr>
          <p:cNvPr id="4" name="Shape 2"/>
          <p:cNvSpPr/>
          <p:nvPr/>
        </p:nvSpPr>
        <p:spPr>
          <a:xfrm>
            <a:off x="594360" y="1600200"/>
            <a:ext cx="3474720" cy="2240280"/>
          </a:xfrm>
          <a:prstGeom prst="roundRect">
            <a:avLst>
              <a:gd name="adj" fmla="val 3673"/>
            </a:avLst>
          </a:prstGeom>
          <a:solidFill>
            <a:srgbClr val="ECEAE4"/>
          </a:solidFill>
          <a:ln w="12700">
            <a:solidFill>
              <a:srgbClr val="ECEAE4"/>
            </a:solidFill>
            <a:prstDash val="solid"/>
          </a:ln>
        </p:spPr>
      </p:sp>
      <p:sp>
        <p:nvSpPr>
          <p:cNvPr id="5" name="Shape 3"/>
          <p:cNvSpPr/>
          <p:nvPr/>
        </p:nvSpPr>
        <p:spPr>
          <a:xfrm>
            <a:off x="594360" y="1600200"/>
            <a:ext cx="3474720" cy="64008"/>
          </a:xfrm>
          <a:prstGeom prst="rect">
            <a:avLst/>
          </a:prstGeom>
          <a:solidFill>
            <a:srgbClr val="0E7C6B"/>
          </a:solidFill>
          <a:ln w="12700">
            <a:solidFill>
              <a:srgbClr val="0E7C6B"/>
            </a:solidFill>
            <a:prstDash val="solid"/>
          </a:ln>
        </p:spPr>
      </p:sp>
      <p:sp>
        <p:nvSpPr>
          <p:cNvPr id="6" name="Shape 4"/>
          <p:cNvSpPr/>
          <p:nvPr/>
        </p:nvSpPr>
        <p:spPr>
          <a:xfrm>
            <a:off x="868680" y="1874520"/>
            <a:ext cx="420624" cy="420624"/>
          </a:xfrm>
          <a:prstGeom prst="ellipse">
            <a:avLst/>
          </a:prstGeom>
          <a:solidFill>
            <a:srgbClr val="0E7C6B"/>
          </a:solidFill>
          <a:ln/>
        </p:spPr>
      </p:sp>
      <p:sp>
        <p:nvSpPr>
          <p:cNvPr id="7" name="Text 5"/>
          <p:cNvSpPr/>
          <p:nvPr/>
        </p:nvSpPr>
        <p:spPr>
          <a:xfrm>
            <a:off x="86868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868680" y="2423160"/>
            <a:ext cx="2971800" cy="13258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Populațiile se compară prin rate specifice pe vârste sau standardizate, nu prin rata brută.</a:t>
            </a:r>
            <a:endParaRPr lang="en-US" sz="1700" dirty="0"/>
          </a:p>
        </p:txBody>
      </p:sp>
      <p:sp>
        <p:nvSpPr>
          <p:cNvPr id="9" name="Shape 7"/>
          <p:cNvSpPr/>
          <p:nvPr/>
        </p:nvSpPr>
        <p:spPr>
          <a:xfrm>
            <a:off x="4343400" y="1600200"/>
            <a:ext cx="3474720" cy="2240280"/>
          </a:xfrm>
          <a:prstGeom prst="roundRect">
            <a:avLst>
              <a:gd name="adj" fmla="val 3673"/>
            </a:avLst>
          </a:prstGeom>
          <a:solidFill>
            <a:srgbClr val="ECEAE4"/>
          </a:solidFill>
          <a:ln w="12700">
            <a:solidFill>
              <a:srgbClr val="ECEAE4"/>
            </a:solidFill>
            <a:prstDash val="solid"/>
          </a:ln>
        </p:spPr>
      </p:sp>
      <p:sp>
        <p:nvSpPr>
          <p:cNvPr id="10" name="Shape 8"/>
          <p:cNvSpPr/>
          <p:nvPr/>
        </p:nvSpPr>
        <p:spPr>
          <a:xfrm>
            <a:off x="4343400" y="1600200"/>
            <a:ext cx="3474720" cy="64008"/>
          </a:xfrm>
          <a:prstGeom prst="rect">
            <a:avLst/>
          </a:prstGeom>
          <a:solidFill>
            <a:srgbClr val="4A2D8C"/>
          </a:solidFill>
          <a:ln w="12700">
            <a:solidFill>
              <a:srgbClr val="4A2D8C"/>
            </a:solidFill>
            <a:prstDash val="solid"/>
          </a:ln>
        </p:spPr>
      </p:sp>
      <p:sp>
        <p:nvSpPr>
          <p:cNvPr id="11" name="Shape 9"/>
          <p:cNvSpPr/>
          <p:nvPr/>
        </p:nvSpPr>
        <p:spPr>
          <a:xfrm>
            <a:off x="4617720" y="1874520"/>
            <a:ext cx="420624" cy="420624"/>
          </a:xfrm>
          <a:prstGeom prst="ellipse">
            <a:avLst/>
          </a:prstGeom>
          <a:solidFill>
            <a:srgbClr val="4A2D8C"/>
          </a:solidFill>
          <a:ln/>
        </p:spPr>
      </p:sp>
      <p:sp>
        <p:nvSpPr>
          <p:cNvPr id="12" name="Text 10"/>
          <p:cNvSpPr/>
          <p:nvPr/>
        </p:nvSpPr>
        <p:spPr>
          <a:xfrm>
            <a:off x="461772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4617720" y="2423160"/>
            <a:ext cx="2971800" cy="13258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Numitorul greșit schimbă mărimea riscului.</a:t>
            </a:r>
            <a:endParaRPr lang="en-US" sz="1700" dirty="0"/>
          </a:p>
        </p:txBody>
      </p:sp>
      <p:sp>
        <p:nvSpPr>
          <p:cNvPr id="14" name="Shape 12"/>
          <p:cNvSpPr/>
          <p:nvPr/>
        </p:nvSpPr>
        <p:spPr>
          <a:xfrm>
            <a:off x="8092440" y="1600200"/>
            <a:ext cx="3474720" cy="2240280"/>
          </a:xfrm>
          <a:prstGeom prst="roundRect">
            <a:avLst>
              <a:gd name="adj" fmla="val 3673"/>
            </a:avLst>
          </a:prstGeom>
          <a:solidFill>
            <a:srgbClr val="ECEAE4"/>
          </a:solidFill>
          <a:ln w="12700">
            <a:solidFill>
              <a:srgbClr val="ECEAE4"/>
            </a:solidFill>
            <a:prstDash val="solid"/>
          </a:ln>
        </p:spPr>
      </p:sp>
      <p:sp>
        <p:nvSpPr>
          <p:cNvPr id="15" name="Shape 13"/>
          <p:cNvSpPr/>
          <p:nvPr/>
        </p:nvSpPr>
        <p:spPr>
          <a:xfrm>
            <a:off x="8092440" y="1600200"/>
            <a:ext cx="3474720" cy="64008"/>
          </a:xfrm>
          <a:prstGeom prst="rect">
            <a:avLst/>
          </a:prstGeom>
          <a:solidFill>
            <a:srgbClr val="B02532"/>
          </a:solidFill>
          <a:ln w="12700">
            <a:solidFill>
              <a:srgbClr val="B02532"/>
            </a:solidFill>
            <a:prstDash val="solid"/>
          </a:ln>
        </p:spPr>
      </p:sp>
      <p:sp>
        <p:nvSpPr>
          <p:cNvPr id="16" name="Shape 14"/>
          <p:cNvSpPr/>
          <p:nvPr/>
        </p:nvSpPr>
        <p:spPr>
          <a:xfrm>
            <a:off x="8366760" y="1874520"/>
            <a:ext cx="420624" cy="420624"/>
          </a:xfrm>
          <a:prstGeom prst="ellipse">
            <a:avLst/>
          </a:prstGeom>
          <a:solidFill>
            <a:srgbClr val="B02532"/>
          </a:solidFill>
          <a:ln/>
        </p:spPr>
      </p:sp>
      <p:sp>
        <p:nvSpPr>
          <p:cNvPr id="17" name="Text 15"/>
          <p:cNvSpPr/>
          <p:nvPr/>
        </p:nvSpPr>
        <p:spPr>
          <a:xfrm>
            <a:off x="8366760" y="18745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8366760" y="2423160"/>
            <a:ext cx="2971800" cy="13258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Ratele calculate din numere mici de cazuri sunt instabile.</a:t>
            </a:r>
            <a:endParaRPr lang="en-US" sz="1700" dirty="0"/>
          </a:p>
        </p:txBody>
      </p:sp>
      <p:sp>
        <p:nvSpPr>
          <p:cNvPr id="19" name="Text 17"/>
          <p:cNvSpPr/>
          <p:nvPr/>
        </p:nvSpPr>
        <p:spPr>
          <a:xfrm>
            <a:off x="594360" y="4069080"/>
            <a:ext cx="1097280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Raportorii câtorva echipe, prin rotație: o constatare, cu indicatorul, valoarea, termenul de comparație și o limită a datelor.</a:t>
            </a:r>
            <a:endParaRPr lang="en-US" sz="1700" dirty="0"/>
          </a:p>
        </p:txBody>
      </p:sp>
      <p:sp>
        <p:nvSpPr>
          <p:cNvPr id="20" name="Shape 18"/>
          <p:cNvSpPr/>
          <p:nvPr/>
        </p:nvSpPr>
        <p:spPr>
          <a:xfrm>
            <a:off x="0" y="5074920"/>
            <a:ext cx="12191695" cy="1051560"/>
          </a:xfrm>
          <a:prstGeom prst="rect">
            <a:avLst/>
          </a:prstGeom>
          <a:solidFill>
            <a:srgbClr val="11121A"/>
          </a:solidFill>
          <a:ln w="12700">
            <a:solidFill>
              <a:srgbClr val="11121A"/>
            </a:solidFill>
            <a:prstDash val="solid"/>
          </a:ln>
        </p:spPr>
      </p:sp>
      <p:sp>
        <p:nvSpPr>
          <p:cNvPr id="21" name="Text 19"/>
          <p:cNvSpPr/>
          <p:nvPr/>
        </p:nvSpPr>
        <p:spPr>
          <a:xfrm>
            <a:off x="594360" y="5074920"/>
            <a:ext cx="10972800" cy="1051560"/>
          </a:xfrm>
          <a:prstGeom prst="rect">
            <a:avLst/>
          </a:prstGeom>
          <a:noFill/>
          <a:ln/>
        </p:spPr>
        <p:txBody>
          <a:bodyPr wrap="square" lIns="0" tIns="0" rIns="0" bIns="0" rtlCol="0" anchor="ctr"/>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O cifră devine constatare numai împreună cu numitorul, sursa și termenul de comparație.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Shape 2"/>
          <p:cNvSpPr/>
          <p:nvPr/>
        </p:nvSpPr>
        <p:spPr>
          <a:xfrm>
            <a:off x="594360" y="822960"/>
            <a:ext cx="4023360" cy="329184"/>
          </a:xfrm>
          <a:prstGeom prst="roundRect">
            <a:avLst>
              <a:gd name="adj" fmla="val 50000"/>
            </a:avLst>
          </a:prstGeom>
          <a:solidFill>
            <a:srgbClr val="FF4757"/>
          </a:solidFill>
          <a:ln w="12700">
            <a:solidFill>
              <a:srgbClr val="FF4757"/>
            </a:solidFill>
            <a:prstDash val="solid"/>
          </a:ln>
        </p:spPr>
      </p:sp>
      <p:sp>
        <p:nvSpPr>
          <p:cNvPr id="5" name="Text 3"/>
          <p:cNvSpPr/>
          <p:nvPr/>
        </p:nvSpPr>
        <p:spPr>
          <a:xfrm>
            <a:off x="594360" y="822960"/>
            <a:ext cx="40233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BILETUL DE IEȘIRE · ANONIM</a:t>
            </a:r>
            <a:endParaRPr lang="en-US" sz="1300" dirty="0"/>
          </a:p>
        </p:txBody>
      </p:sp>
      <p:sp>
        <p:nvSpPr>
          <p:cNvPr id="6" name="Text 4"/>
          <p:cNvSpPr/>
          <p:nvPr/>
        </p:nvSpPr>
        <p:spPr>
          <a:xfrm>
            <a:off x="594360" y="1371600"/>
            <a:ext cx="749808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Două întrebări pentru final</a:t>
            </a:r>
            <a:endParaRPr lang="en-US" sz="3800" dirty="0"/>
          </a:p>
        </p:txBody>
      </p:sp>
      <p:sp>
        <p:nvSpPr>
          <p:cNvPr id="7" name="Shape 5"/>
          <p:cNvSpPr/>
          <p:nvPr/>
        </p:nvSpPr>
        <p:spPr>
          <a:xfrm>
            <a:off x="822960" y="2788920"/>
            <a:ext cx="420624" cy="420624"/>
          </a:xfrm>
          <a:prstGeom prst="ellipse">
            <a:avLst/>
          </a:prstGeom>
          <a:solidFill>
            <a:srgbClr val="FFC24B"/>
          </a:solidFill>
          <a:ln/>
        </p:spPr>
      </p:sp>
      <p:sp>
        <p:nvSpPr>
          <p:cNvPr id="8" name="Text 6"/>
          <p:cNvSpPr/>
          <p:nvPr/>
        </p:nvSpPr>
        <p:spPr>
          <a:xfrm>
            <a:off x="822960" y="27889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2514600"/>
            <a:ext cx="6309360" cy="105156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Ce indicator din profil v-a surprins cel mai mult?</a:t>
            </a:r>
            <a:endParaRPr lang="en-US" sz="2100" dirty="0"/>
          </a:p>
        </p:txBody>
      </p:sp>
      <p:sp>
        <p:nvSpPr>
          <p:cNvPr id="10" name="Shape 8"/>
          <p:cNvSpPr/>
          <p:nvPr/>
        </p:nvSpPr>
        <p:spPr>
          <a:xfrm>
            <a:off x="822960" y="4023360"/>
            <a:ext cx="420624" cy="420624"/>
          </a:xfrm>
          <a:prstGeom prst="ellipse">
            <a:avLst/>
          </a:prstGeom>
          <a:solidFill>
            <a:srgbClr val="FFC24B"/>
          </a:solidFill>
          <a:ln/>
        </p:spPr>
      </p:sp>
      <p:sp>
        <p:nvSpPr>
          <p:cNvPr id="11" name="Text 9"/>
          <p:cNvSpPr/>
          <p:nvPr/>
        </p:nvSpPr>
        <p:spPr>
          <a:xfrm>
            <a:off x="822960" y="4023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508760" y="3749040"/>
            <a:ext cx="6309360" cy="105156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Ce întrebare despre sănătatea județului ar cere date pe care nu le-ați avut în această lucrare?</a:t>
            </a:r>
            <a:endParaRPr lang="en-US" sz="2100" dirty="0"/>
          </a:p>
        </p:txBody>
      </p:sp>
      <p:sp>
        <p:nvSpPr>
          <p:cNvPr id="13" name="Shape 11"/>
          <p:cNvSpPr/>
          <p:nvPr/>
        </p:nvSpPr>
        <p:spPr>
          <a:xfrm>
            <a:off x="8549640" y="2377440"/>
            <a:ext cx="3017520" cy="2651760"/>
          </a:xfrm>
          <a:prstGeom prst="roundRect">
            <a:avLst>
              <a:gd name="adj" fmla="val 3103"/>
            </a:avLst>
          </a:prstGeom>
          <a:solidFill>
            <a:srgbClr val="FFFFFF"/>
          </a:solidFill>
          <a:ln w="12700">
            <a:solidFill>
              <a:srgbClr val="FFFFFF"/>
            </a:solidFill>
            <a:prstDash val="solid"/>
          </a:ln>
        </p:spPr>
      </p:sp>
      <p:sp>
        <p:nvSpPr>
          <p:cNvPr id="14" name="Text 12"/>
          <p:cNvSpPr/>
          <p:nvPr/>
        </p:nvSpPr>
        <p:spPr>
          <a:xfrm>
            <a:off x="8549640" y="2377440"/>
            <a:ext cx="3017520" cy="265176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Intrați pe menti.com cu codul afișat de cadrul didactic</a:t>
            </a:r>
            <a:endParaRPr lang="en-US" sz="1400" dirty="0"/>
          </a:p>
        </p:txBody>
      </p:sp>
      <p:sp>
        <p:nvSpPr>
          <p:cNvPr id="15" name="Text 13"/>
          <p:cNvSpPr/>
          <p:nvPr/>
        </p:nvSpPr>
        <p:spPr>
          <a:xfrm>
            <a:off x="594360" y="5440680"/>
            <a:ext cx="10972800" cy="5029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apar pe ecran ca nor de cuvinte.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1 - Profilul de sănătate al comunității</dc:title>
  <dc:subject>PptxGenJS Presentation</dc:subject>
  <dc:creator>Conf. Univ. Dr. Adrian Pana</dc:creator>
  <cp:lastModifiedBy>Conf. Univ. Dr. Adrian Pana</cp:lastModifiedBy>
  <cp:revision>1</cp:revision>
  <dcterms:created xsi:type="dcterms:W3CDTF">2026-10-03T14:32:29Z</dcterms:created>
  <dcterms:modified xsi:type="dcterms:W3CDTF">2026-10-03T14:32:29Z</dcterms:modified>
  <cp:keywords>sursa_amprenta=cd34500955445b1f; proiectie</cp:keywords>
</cp:coreProperties>
</file>