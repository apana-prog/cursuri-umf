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48272"/>
            <a:ext cx="9509522" cy="109728"/>
          </a:xfrm>
          <a:prstGeom prst="rect">
            <a:avLst/>
          </a:prstGeom>
          <a:solidFill>
            <a:srgbClr val="D4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6748272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11535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539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Profilul de sănătate al comunității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30"/>
              </a:spcAft>
            </a:pPr>
            <a:r>
              <a:rPr sz="1800" b="0">
                <a:solidFill>
                  <a:srgbClr val="D4E6EA"/>
                </a:solidFill>
                <a:latin typeface="Calibri"/>
              </a:rPr>
              <a:t>Ce spun cifrele despre locuitorii județului Cluj</a:t>
            </a:r>
          </a:p>
          <a:p>
            <a:pPr algn="l">
              <a:spcAft>
                <a:spcPts val="630"/>
              </a:spcAft>
            </a:pPr>
            <a:r>
              <a:rPr sz="1800" b="0">
                <a:solidFill>
                  <a:srgbClr val="D4E6EA"/>
                </a:solidFill>
                <a:latin typeface="Calibri"/>
              </a:rPr>
              <a:t>Calculul și interpretarea indicatorilor epidemiologici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D4E6EA"/>
                </a:solidFill>
                <a:latin typeface="Calibri"/>
              </a:rPr>
              <a:t>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Întrebarea de pornire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13296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Ce ar trebui să știe o echipă de îngrijire despre locuitorii unui județ înainte de a organiza un serviciu de îngrijire la domiciliu sau o campanie de vaccinare?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Obiectivele lucrării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3030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Indicatorii profilului, calculați din numere absolute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Comparația cu țara și limitele datelor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Incidența, prevalența, ratele specifice pe vârste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Foaia de calcul și numerele mici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La examen: definițiile, formulele și interpretarea; cifrele servesc la calcul și nu se cer pe de rost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Patru roluri în fiecare echipă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1560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Echipe de patru sau cinci studenți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Roluri: calcul, verificare independentă, raportor, timp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O eroare de numitor sau de virgulă schimbă concluzia, nu doar cifra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Două ore, patru momente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2270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Deschiderea, zece minute; profilul județului Cluj, cincizeci; două exerciții, treizeci și cinci; sinteza și predarea fișei, douăzeci și cinci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Datele sunt în documentul lucrării și pe diapozitive; internetul trebuie numai la predarea în 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Profilul începe cu evaluarea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1973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Evaluarea: colectarea și analiza regulată a informațiilor despre sănătatea comunității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Surse: persoanele, mediul, furnizorii de îngrijire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Metode: monitorizarea mediului, ancheta, notificarea, registrul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Cazurile raportate nu sunt toate îmbolnăvirile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1032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O boală este numărată numai dacă este recunoscută și înregistrată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Bolile grave ajung mai des în date decât cele ușoare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Datele de pornire ale profilului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2501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Populația la 1 iulie 2025: Cluj 699 564, România 19 046 434 [1,2,3,4]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Născuți vii: 5 679 și 134 238 [1,2,3,4]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Decedați: 7 688 și 238 316 [1,2,3,4]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Decese sub un an: 32 și 799 [1,2,3,4]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50"/>
              </a:spcAft>
            </a:pPr>
            <a:r>
              <a:rPr sz="1000" b="0">
                <a:solidFill>
                  <a:srgbClr val="474A52"/>
                </a:solidFill>
                <a:latin typeface="Calibri"/>
              </a:rPr>
              <a:t>[1] INS, TEMPO POP106A, 2025; [2] INS, TEMPO POP201H, 2025; [3] INS, TEMPO POP206H, 2025; [4] INS, TEMPO POP208E,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Structura pe vârste și personalul medical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4152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Cluj, 1 ianuarie 2026: 701 564 de locuitori; 104 093, 458 507 și 138 964 pe grupele mari de vârstă [5,6,7,8]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România: 19 041 322; 2 871 139, 12 266 941 și 3 903 242 [5,6,7,8]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Medici: 4 454 și 77 556 (inclusiv personalul din învățământul medico-farmaceutic și din cercetare); medici de familie: 505 și 13 227 [5,6,7,8]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Asistenți medicali: 5 002 și 145 320 (personal mediu), 2 406 și 22 040 (studii superioare); fiecare persoană numărată o singură dată [5,6,7,8]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50"/>
              </a:spcAft>
            </a:pPr>
            <a:r>
              <a:rPr sz="1000" b="0">
                <a:solidFill>
                  <a:srgbClr val="474A52"/>
                </a:solidFill>
                <a:latin typeface="Calibri"/>
              </a:rPr>
              <a:t>[5] INS, TEMPO POP105A, 2026; [6] INS, TEMPO POP105A, 2026; [7] INS, TEMPO SAN104A, 2025; [8] INS, TEMPO SAN104A,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Durata medie a vieții și șomajul înregistrat,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291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Durata medie a vieții (denumirea INS pentru speranța de viață la naștere): 78,71 ani în Cluj, 77,45 ani în România [9,10]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Mediul urban: 79,82 și 78,75; mediul rural: 76,83 și 75,84 [9,10]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Șomajul înregistrat: 1,5% și 3,3% [9,10]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Valorile INS și Eurostat diferă prin populație și metodă, nu prin definiție: nu se compară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50"/>
              </a:spcAft>
            </a:pPr>
            <a:r>
              <a:rPr sz="1000" b="0">
                <a:solidFill>
                  <a:srgbClr val="474A52"/>
                </a:solidFill>
                <a:latin typeface="Calibri"/>
              </a:rPr>
              <a:t>[9] INS, TEMPO POP217A, 2025; [10] INS, TEMPO SOM103A,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Natalitatea României, în patru pași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185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Natalitatea: 134 238 ÷ 19 046 434 = 0,007048; înmulțit cu 1 000 dă 7,0‰ [11]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Pașii intermediari: cel puțin patru cifre semnificative; rotunjirea, numai la sfârșit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50"/>
              </a:spcAft>
            </a:pPr>
            <a:r>
              <a:rPr sz="1000" b="0">
                <a:solidFill>
                  <a:srgbClr val="474A52"/>
                </a:solidFill>
                <a:latin typeface="Calibri"/>
              </a:rPr>
              <a:t>[11] calcul pe baza: INS, TEMPO POP201H; INS, TEMPO POP106A,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Fiecare indicator are numitorul lui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291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Natalitatea și mortalitatea generală: populația la mijlocul anului, la 1 000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Mortalitatea infantilă: născuții vii din același an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Dependența vârstnicilor: vârstnicii împărțiți la persoanele în vârstă de muncă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Sporul natural: natalitatea minus mortalitatea generală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Prima sarcină: profilul județului Cluj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385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Verificați metoda pe 2024 (695 531 de locuitori, 5 623 de născuți vii, 7 913 decedați): INS a publicat 8,1‰, 11,4‰ și −3,3‰ [12,13]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Ratele ultimului an cu date complete și mortalitatea infantilă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Structura pe vârste și dependența vârstnicilor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Personalul la 1 000 de locuitori și la un medic; verificare pe 2024: 484 de medici de familie, INS a publicat 1 437 de locuitori la un medic de familie [14,15]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Comparația cu țara, indicator cu indicator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50"/>
              </a:spcAft>
            </a:pPr>
            <a:r>
              <a:rPr sz="1000" b="0">
                <a:solidFill>
                  <a:srgbClr val="474A52"/>
                </a:solidFill>
                <a:latin typeface="Calibri"/>
              </a:rPr>
              <a:t>[12] INS, TEMPO POP202B; INS, TEMPO POP207C; INS, TEMPO POP215B, 2024; [13] INS, TEMPO POP106A; INS, TEMPO POP201H; INS, TEMPO POP206H, 2024; [14] INS, TEMPO TCI0321, 2024; [15] INS, TEMPO SAN104A,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A doua sarcină: trei constatări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2501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Indicatorul, valoarea, anul, termenul de comparație și o limită a datelor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Mortalitate mai mică înseamnă risc mai mic la aceeași vârstă?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Ce nu arată numărul de medici despre acces?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Diferența dintre mediul urban și cel rural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Eroare frecventă: sursele amestecate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2617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INS, 2024: durata medie a vieții de 77,07 ani [16,17,18,19]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Eurostat, 2024: România 76,5 ani, UE 81,5 ani [16,17,18,19]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Amestecul surselor: 81,5 − 77,07 = 4,43 ani [16,17,18,19]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Din aceeași sursă, Eurostat: 5,0 ani [16,17,18,19]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Se compară numai valori din aceeași sursă și metodă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50"/>
              </a:spcAft>
            </a:pPr>
            <a:r>
              <a:rPr sz="1000" b="0">
                <a:solidFill>
                  <a:srgbClr val="474A52"/>
                </a:solidFill>
                <a:latin typeface="Calibri"/>
              </a:rPr>
              <a:t>[16] INS, TEMPO POP217A, 2024; [17] Eurostat, demo_mlexpec, 2024 — valori marcate de Eurostat (RO, UE-27); [18] calcul pe baza: INS, TEMPO POP217A; Eurostat, demo_mlexpec, 2024; [19] calcul pe baza: Eurostat, demo_mlexpec,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Două exerciții în sală, trei în portofoliu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374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În sală: prevalența și incidența într-o listă de pacienți, pe valori ipotetice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În sală: ratele de mortalitate specifice pe vârste, județul Cluj față de România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Portofoliu, individual, până la lucrarea practică următoare: rujeola și tusea convulsivă, infecțiile asociate asistenței medicale, foaia de calcul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Standardizarea directă: pentru aprofundare, nu se evaluează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Rujeola în România: cazurile și vaccinarea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2386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Rujeolă: 3 677 de cazuri în 2023 și 25 505 în 2024 [20,21,22]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Prima doză de vaccin rujeolic: 94% (2012), 83% (2022), 78% (2023), 66% (2024 și 2025) [20,21,22]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Portofoliu: rata de incidență la 100 000 de locuitori se calculează acasă [20,21,22]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50"/>
              </a:spcAft>
            </a:pPr>
            <a:r>
              <a:rPr sz="1000" b="0">
                <a:solidFill>
                  <a:srgbClr val="474A52"/>
                </a:solidFill>
                <a:latin typeface="Calibri"/>
              </a:rPr>
              <a:t>[20] INS, TEMPO SAN109A, 2023; [21] INS, TEMPO SAN109A, 2024; [22] OMS, GHO WHS8_110; OMS, GHO MCV2,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Predarea fișei în Microsoft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144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Fiecare student predă individual fișa în formularul Microsoft Forms, cu contul UMF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Rezolvările se văd în formular după predare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2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522" cy="109728"/>
          </a:xfrm>
          <a:prstGeom prst="rect">
            <a:avLst/>
          </a:prstGeom>
          <a:solidFill>
            <a:srgbClr val="0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0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1120"/>
              </a:spcAft>
            </a:pPr>
            <a:r>
              <a:rPr sz="3200" b="1">
                <a:solidFill>
                  <a:srgbClr val="15171C"/>
                </a:solidFill>
                <a:latin typeface="Cambria"/>
              </a:rPr>
              <a:t>Trei principii de interpretare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11535" cy="291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Comparația dintre populații: rate specifice pe vârste sau standardizate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Numitorul greșit schimbă mărimea riscului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Ratele din numere mici sunt instabile</a:t>
            </a:r>
          </a:p>
          <a:p>
            <a:pPr algn="l">
              <a:spcAft>
                <a:spcPts val="910"/>
              </a:spcAft>
            </a:pPr>
            <a:r>
              <a:rPr sz="2600" b="0">
                <a:solidFill>
                  <a:srgbClr val="15171C"/>
                </a:solidFill>
                <a:latin typeface="Calibri"/>
              </a:rPr>
              <a:t>•  O cifră devine constatare numai împreună cu numitorul, sursa și termenul de comparație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474A52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48272"/>
            <a:ext cx="9509522" cy="109728"/>
          </a:xfrm>
          <a:prstGeom prst="rect">
            <a:avLst/>
          </a:prstGeom>
          <a:solidFill>
            <a:srgbClr val="D4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522" y="6748272"/>
            <a:ext cx="2682172" cy="109728"/>
          </a:xfrm>
          <a:prstGeom prst="rect">
            <a:avLst/>
          </a:prstGeom>
          <a:solidFill>
            <a:srgbClr val="B94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11535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539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Biletul de ieșire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30"/>
              </a:spcAft>
            </a:pPr>
            <a:r>
              <a:rPr sz="1800" b="0">
                <a:solidFill>
                  <a:srgbClr val="D4E6EA"/>
                </a:solidFill>
                <a:latin typeface="Calibri"/>
              </a:rPr>
              <a:t>Ce indicator din profil v-a surprins cel mai mult?</a:t>
            </a:r>
          </a:p>
          <a:p>
            <a:pPr algn="l">
              <a:spcAft>
                <a:spcPts val="630"/>
              </a:spcAft>
            </a:pPr>
            <a:r>
              <a:rPr sz="1800" b="0">
                <a:solidFill>
                  <a:srgbClr val="D4E6EA"/>
                </a:solidFill>
                <a:latin typeface="Calibri"/>
              </a:rPr>
              <a:t>Ce întrebare despre sănătatea județului ar cere date care nu au fost disponibile?</a:t>
            </a:r>
          </a:p>
          <a:p>
            <a:pPr algn="l">
              <a:spcAft>
                <a:spcPts val="630"/>
              </a:spcAft>
            </a:pPr>
            <a:r>
              <a:rPr sz="1800" b="0">
                <a:solidFill>
                  <a:srgbClr val="D4E6EA"/>
                </a:solidFill>
                <a:latin typeface="Calibri"/>
              </a:rPr>
              <a:t>Intrați pe menti.com cu codul afișat de cadrul didactic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15"/>
              </a:spcAft>
            </a:pPr>
            <a:r>
              <a:rPr sz="900" b="0">
                <a:solidFill>
                  <a:srgbClr val="D4E6EA"/>
                </a:solidFill>
                <a:latin typeface="Calibri"/>
              </a:rP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Profilul de sănătate al comunității. Calculul și interpretarea indicatorilor epidemiologici</dc:title>
  <dc:subject>LP01 · ro</dc:subject>
  <dc:creator/>
  <cp:keywords>sursa_amprenta=377c89fc3280236e; diapozitive=20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