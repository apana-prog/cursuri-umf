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785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0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 1"/>
          <p:cNvSpPr/>
          <p:nvPr/>
        </p:nvSpPr>
        <p:spPr>
          <a:xfrm>
            <a:off x="914400" y="7315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PROFILUL DE SĂNĂTATE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 COMUNITĂȚII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Calculul și interpretarea indicatorilor epidemiologici</a:t>
            </a:r>
            <a:endParaRPr lang="en-US" sz="1800" dirty="0"/>
          </a:p>
        </p:txBody>
      </p:sp>
      <p:sp>
        <p:nvSpPr>
          <p:cNvPr id="9004" name="Linie editoriala"/>
          <p:cNvSpPr/>
          <p:nvPr/>
        </p:nvSpPr>
        <p:spPr>
          <a:xfrm>
            <a:off x="914400" y="3320415"/>
            <a:ext cx="822960" cy="30861"/>
          </a:xfrm>
          <a:prstGeom prst="rect">
            <a:avLst/>
          </a:prstGeom>
          <a:solidFill>
            <a:srgbClr val="27D3BE"/>
          </a:solidFill>
          <a:ln>
            <a:noFill/>
          </a:ln>
        </p:spPr>
      </p:sp>
      <p:sp>
        <p:nvSpPr>
          <p:cNvPr id="6" name="Shape 3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1097280" y="34747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Lucrarea practică 1 — Sănătate publică și management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Asistență medicală generală · Anul IV · Semestrul 7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UMF „Iuliu Hațieganu” Cluj-Napoca ·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veți ști la finalul lucrării?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Obiectivele lucrării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3"/>
          <p:cNvSpPr/>
          <p:nvPr/>
        </p:nvSpPr>
        <p:spPr>
          <a:xfrm>
            <a:off x="457200" y="14630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Descrie sursele și metodele evaluării comunitare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19202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64008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Calculează indicatorii profilului și îi compară cu țara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3774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Shape 9"/>
          <p:cNvSpPr/>
          <p:nvPr/>
        </p:nvSpPr>
        <p:spPr>
          <a:xfrm>
            <a:off x="457200" y="23774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0"/>
          <p:cNvSpPr/>
          <p:nvPr/>
        </p:nvSpPr>
        <p:spPr>
          <a:xfrm>
            <a:off x="640080" y="2377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Calculează incidența, prevalența și ratele specifice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8346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3"/>
          <p:cNvSpPr/>
          <p:nvPr/>
        </p:nvSpPr>
        <p:spPr>
          <a:xfrm>
            <a:off x="640080" y="2834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Folosește foaia de calcul; recunoaște ratele instabile</a:t>
            </a:r>
            <a:endParaRPr lang="en-US" sz="10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0584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9496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Desfășurarea lucrării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0" name="Text 16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40680" y="1463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Deschidere și roluri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5440680" y="16642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~10 min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4" name="Text 20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440680" y="1920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Profilul județului Cluj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5440680" y="21214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~40 min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8" name="Text 24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440680" y="23774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 epidemiologici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40680" y="2578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~40 min</a:t>
            </a:r>
            <a:endParaRPr lang="en-US" sz="800" dirty="0"/>
          </a:p>
        </p:txBody>
      </p:sp>
      <p:sp>
        <p:nvSpPr>
          <p:cNvPr id="31" name="Shape 27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2" name="Text 28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5440680" y="2834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Sinteză și bilet de ieșire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40680" y="30358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~10 min</a:t>
            </a:r>
            <a:endParaRPr lang="en-US" sz="800" dirty="0"/>
          </a:p>
        </p:txBody>
      </p:sp>
      <p:sp>
        <p:nvSpPr>
          <p:cNvPr id="39" name="Shape 35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0" name="Text 3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Echipe de patru sau cinci studenți · roluri: calcul, verificare independentă, raportor, timp</a:t>
            </a:r>
            <a:endParaRPr lang="en-US" sz="800" dirty="0"/>
          </a:p>
        </p:txBody>
      </p:sp>
      <p:sp>
        <p:nvSpPr>
          <p:cNvPr id="41" name="Shape 3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42" name="Text 3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 / 29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Evaluarea stării de sănătate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unei comunități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PARTEA I · Funcția de evaluare · Surse · Metode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 / 29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Evaluarea, funcție de bază a agențiilor de sănătate publică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Institutul de Medicină (1988)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IOM a recomandat ca fiecare autoritate de sănătate publică să colecteze, să analizeze și să pună la dispoziție, regulat și sistematic, informații despre sănătatea comunității.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Evaluarea este una dintre cele trei funcții de bază, alături de dezvoltarea politicilor și de asigurare.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0116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493776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Serviciile esențiale (CDC, 2020)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Primul serviciu: evaluarea și monitorizarea stării de sănătate, a factorilor care o influențează și a nevoilor și resurselor comunității.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Profilul comunității: indicatori pe domenii, comparați cu țara și urmăriți în timp.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asistentul medical, profilul comunității este punctul de plecare al intervențiilor comunitare.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IOM (1988); CDC, serviciile esențiale (2020)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 / 29</a:t>
            </a:r>
            <a:endParaRPr lang="en-US" sz="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Metode de colectare a datelor de sănătate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MONITORIZAREA MEDIULUI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Aerul, apa, vectorii animali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56032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5176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ANCHETA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265176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Eșantion, informație structurată și sistematică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66344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NOTIFICAREA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75488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Furnizorii raportează cazurile unor boli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76656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5800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REGISTRUL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685800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Evidență permanentă: nașteri, decese, cancer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boală apare în date numai dacă este recunoscută și înregistrată: cazurile raportate nu sunt toate îmbolnăvirile.</a:t>
            </a:r>
            <a:endParaRPr lang="en-US" sz="800" dirty="0"/>
          </a:p>
        </p:txBody>
      </p:sp>
      <p:sp>
        <p:nvSpPr>
          <p:cNvPr id="20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2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 / 29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Populația de referință a datelor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411480"/>
          </a:xfrm>
          <a:prstGeom prst="rect">
            <a:avLst/>
          </a:prstGeom>
          <a:solidFill>
            <a:srgbClr val="585A6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Populația rezidentă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Reședința obișnuită în România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Locuire de cel puțin 12 luni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Născuții vii: după reședința mamei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Decedații: după ultima reședință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Excepții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Durata medie a vieții (INS)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Calculată pe populația după domiciliu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șomajului înregistrat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Raportată la populația activă civilă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1005840"/>
          </a:xfrm>
          <a:prstGeom prst="rect">
            <a:avLst/>
          </a:prstGeom>
          <a:solidFill>
            <a:srgbClr val="FF4757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54864" cy="100584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85800" y="32004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reținut: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5204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Numărătorul și numitorul unei rate se referă la aceeași populație; valorile calculate pe baze diferite nu se compară între ele.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 / 29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date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INS TEMPO · Populație · Resurse · Durata medie a vieții · Șomaj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 / 29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Populația și mișcarea naturală, 2025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Populația rezidentă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1 iulie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54864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699 564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19 046 434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6032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176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Născuți vii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(reședința mamei)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65176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1"/>
          <p:cNvSpPr/>
          <p:nvPr/>
        </p:nvSpPr>
        <p:spPr>
          <a:xfrm>
            <a:off x="265176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6517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5 679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65176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6517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134 238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66344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Decedați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(reședința obișnuită)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18"/>
          <p:cNvSpPr/>
          <p:nvPr/>
        </p:nvSpPr>
        <p:spPr>
          <a:xfrm>
            <a:off x="475488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47548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7 688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475488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47548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238 316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76656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sub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an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1" name="Text 25"/>
          <p:cNvSpPr/>
          <p:nvPr/>
        </p:nvSpPr>
        <p:spPr>
          <a:xfrm>
            <a:off x="685800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68580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32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685800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8580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799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INS, TEMPO POP106A, POP201H, POP206H, POP208E (2025)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37" name="Text 3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 / 29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Structura pe vârste la 1 ianuarie 2026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totală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54864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701 564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19 041 322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6032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176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(0–14 ani)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65176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1"/>
          <p:cNvSpPr/>
          <p:nvPr/>
        </p:nvSpPr>
        <p:spPr>
          <a:xfrm>
            <a:off x="265176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6517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104 093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65176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6517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2 871 139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66344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Vârstă de muncă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(15–64 de ani)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18"/>
          <p:cNvSpPr/>
          <p:nvPr/>
        </p:nvSpPr>
        <p:spPr>
          <a:xfrm>
            <a:off x="475488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47548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458 507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475488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47548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12 266 941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76656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Vârstnici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(65 de ani și peste)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1" name="Text 25"/>
          <p:cNvSpPr/>
          <p:nvPr/>
        </p:nvSpPr>
        <p:spPr>
          <a:xfrm>
            <a:off x="685800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68580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138 964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685800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8580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3 903 242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INS, TEMPO POP105A (1 ianuarie 2026)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37" name="Text 3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 / 29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Resursele umane în sănătate, 2025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(fără stomatologi)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54864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4 454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77 556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6032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176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familie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65176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1"/>
          <p:cNvSpPr/>
          <p:nvPr/>
        </p:nvSpPr>
        <p:spPr>
          <a:xfrm>
            <a:off x="265176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6517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505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65176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6517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13 227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66344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Asistenți medicali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(personal mediu)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18"/>
          <p:cNvSpPr/>
          <p:nvPr/>
        </p:nvSpPr>
        <p:spPr>
          <a:xfrm>
            <a:off x="475488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47548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5 002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475488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47548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145 320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76656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Asistenți medicali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(studii superioare)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1" name="Text 25"/>
          <p:cNvSpPr/>
          <p:nvPr/>
        </p:nvSpPr>
        <p:spPr>
          <a:xfrm>
            <a:off x="685800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68580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2 406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685800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8580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22 040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INS, TEMPO SAN104A (2025); fiecare persoană este numărată o singură dată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37" name="Text 3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 / 29</a:t>
            </a:r>
            <a:endParaRPr lang="en-US" sz="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Durata medie a vieții (INS) și șomajul înregistrat, 2025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Durata medie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vieții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54864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78,71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77,45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6032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176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Durata medie a vieții,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mediul urban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65176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1"/>
          <p:cNvSpPr/>
          <p:nvPr/>
        </p:nvSpPr>
        <p:spPr>
          <a:xfrm>
            <a:off x="265176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6517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79,82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65176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6517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78,75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66344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Durata medie a vieții,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mediul rural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18"/>
          <p:cNvSpPr/>
          <p:nvPr/>
        </p:nvSpPr>
        <p:spPr>
          <a:xfrm>
            <a:off x="475488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47548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76,83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475488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47548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75,84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76656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șomajului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înregistrat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1" name="Text 25"/>
          <p:cNvSpPr/>
          <p:nvPr/>
        </p:nvSpPr>
        <p:spPr>
          <a:xfrm>
            <a:off x="685800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68580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1,5%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685800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8580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3,3%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INS, TEMPO POP217A (populația după domiciliu) și SOM103A (2025)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37" name="Text 3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 / 29</a:t>
            </a:r>
            <a:endParaRPr lang="en-US" sz="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metodei: valorile publicate de INS pentru 2024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Natalitate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8,1‰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Cluj, 2024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(POP202B)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256032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11,4‰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65176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Cluj, 2024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(POP207C)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466344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Spor natural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−3,3‰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Cluj, 2024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(POP215B)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676656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Medicul de familie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1 437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85800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Locuitori la un medic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familie (TCI0321)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de intrare pentru 2024: 695 531 de locuitori, 5 623 de născuți vii, 7 913 decedați, 484 de medici de familie. Pentru 2025, INS a publicat deja mortalitatea infantilă a județului: 5,6‰.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 / 29</a:t>
            </a:r>
            <a:endParaRPr lang="en-US" sz="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Calculul indicatorilor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profilului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Formule în cuvinte · Exemple lucrate pe datele României · Sarcinile echipei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 / 29</a:t>
            </a:r>
            <a:endParaRPr lang="en-US" sz="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Formulele indicatorilor, în cuvinte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4231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Indicator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Formula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La ce folosește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natalității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născuții vii ÷ populația de la mijlocul anului × 1 000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Maternitate, pediatrie, vaccinare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mortalității generale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decedații ÷ populația de la mijlocul anului × 1 000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Îngrijirea la sfârșitul vieții; depinde de vârstă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sporului natural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natalității − rata mortalității generale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Creșterea sau scăderea naturală a populației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mortalității infantile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sub un an ÷ născuții vii × 1 000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Sănătatea mamei și a copilului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INS, metadatele POP202B și POP215B; Eurostat, metadatele demo_mor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14 / 29</a:t>
            </a:r>
            <a:endParaRPr lang="en-US" sz="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Structura pe vârste și personalul: formule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4231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Indicator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Formula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La ce folosește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Ponderea unei grupe de vârstă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persoanele din grupă ÷ populația totală × 100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Planificarea serviciilor pe vârste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Dependența vârstnicilor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vârstnicii ÷ persoanele în vârstă de muncă × 100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Presiunea asupra populației în vârstă de muncă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Medici sau asistenți la 1 000 de locuitori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numărul lor ÷ populația de la mijlocul anului × 1 000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Oferta de personal a populației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Locuitori la un medic de familie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populația ÷ numărul medicilor de familie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Asigurarea populației cu medici de familie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glosarul (raportul de dependență); INS, metadatele TCI0321 și SAN104A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 / 29</a:t>
            </a:r>
            <a:endParaRPr lang="en-US" sz="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lucrat: natalitate, mortalitate, spor natural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ROMÂNIA, 2025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Născuți vii: 134 238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Decedați: 238 316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Populația la 1 iulie: 19 046 434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Rotunjirea: </a:t>
            </a: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numai la sfârșit</a:t>
            </a: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Pașii intermediari: </a:t>
            </a: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 puțin patru cifre semnificative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914400"/>
            <a:ext cx="32004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5486400" y="1005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Calculul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0" y="1371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134 238 ÷ 19 046 434 = 0,007048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× 1 000 = 7,048 ≈ 7,0‰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238 316 ÷ 19 046 434 = 0,01251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× 1 000 = 12,51 ≈ 12,5‰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2377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Spor natural: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7,048 − 12,51 = −5,462 ≈ −5,5‰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INS, TEMPO POP201H, POP206H, POP106A (2025)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16 / 29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lucrat: mortalitatea infantilă și dependența vârstnicilor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sub un an, 2025: 799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Născuți vii, 2025: 134 238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Vârstnici și vârstă de muncă, 1 ianuarie 2026: 3 903 242 și 12 266 941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Numitorul mortalității infantile: </a:t>
            </a: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născuții vii</a:t>
            </a: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Dependența: </a:t>
            </a: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vârstnici la 100 de persoane în vârstă de muncă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914400"/>
            <a:ext cx="32004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5486400" y="1005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Calculul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0" y="1371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799 ÷ 134 238 = 0,005952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× 1 000 = 5,952 ≈ 6,0‰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3 903 242 ÷ 12 266 941 = 0,3182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× 100 = 31,82 ≈ 31,8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2377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 infantilă: 6,0‰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Dependență: 31,8 la 100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INS, TEMPO POP201H, POP208E, POP105A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17 / 29</a:t>
            </a:r>
            <a:endParaRPr lang="en-US" sz="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lucrat: personalul medical, România 2025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Medici la 1 000 de locuitori = medicii ÷ populația de la mijlocul anului × 1 000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11480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Densitatea personalului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77 556 ÷ 19 046 434 = 0,004072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4,1 medici la 1 000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145 320 + 22 040 = 167 360 de asistenți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167 360 ÷ 19 046 434 = 0,008787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8,8 asistenți medicali la 1 000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64592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Structura echipei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011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19 046 434 ÷ 13 227 = 1 439,97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1 440 de locuitori la un medic de familie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167 360 ÷ 77 556 = 2,158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2,2 asistenți medicali la un medic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18 / 29</a:t>
            </a:r>
            <a:endParaRPr lang="en-US" sz="800" dirty="0"/>
          </a:p>
        </p:txBody>
      </p:sp>
      <p:sp>
        <p:nvSpPr>
          <p:cNvPr id="16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INS, TEMPO SAN104A și POP106A (2025)</a:t>
            </a:r>
            <a:endParaRPr lang="en-US" sz="7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 sarcină: profilul județului Cluj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5603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PAȘII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Verificați metoda pe anul deja publicat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55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Ratele ultimului an cu date complete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482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Mortalitatea infantilă, comparată cu INS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40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Structura pe vârste și dependența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33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Personalul la 1 000 de locuitori și la un medic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Durata medie a vieții și șomajul, preluate direct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218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Sensul diferenței față de țară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005840"/>
            <a:ext cx="3840480" cy="2560320"/>
          </a:xfrm>
          <a:prstGeom prst="rect">
            <a:avLst/>
          </a:prstGeom>
          <a:solidFill>
            <a:srgbClr val="FF4757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FIȘA DE EVALUARE COMUNITARĂ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Calculul, cu numitorul potrivit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Verificarea independentă a fiecărui calcul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Valorile județului și ale țării, cu sursa și anul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Rotunjirea se face numai la sfârșit; o eroare de numitor schimbă concluzia, nu doar cifra.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 / 29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doua sarcină: trei constatări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5603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ÎNTREBĂRI-GHID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 mai mică = risc mai mic la aceeași vârstă?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55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Mai mulți medici = acces mai bun?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482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înseamnă mai puțini asistenți la un medic?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40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 putea explica diferența urban–rural și ce date ar verifica explicația?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33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indicatori de morbiditate lipsesc?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date ar trebui căutate?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005840"/>
            <a:ext cx="3840480" cy="2560320"/>
          </a:xfrm>
          <a:prstGeom prst="rect">
            <a:avLst/>
          </a:prstGeom>
          <a:solidFill>
            <a:srgbClr val="FF4757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FIECARE CONSTATARE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Indicatorul și valoarea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Anul și termenul de comparație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O limită a datelor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Constatările nu afirmă cauze pe care datele nu le pot arăta.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 / 29</a:t>
            </a:r>
            <a:endParaRPr lang="en-US" sz="12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Eroare frecventă: sursele amestecate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Durata medie a vieții, România 2024, calculată pe populația după domiciliu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77,07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02336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EUROSTAT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00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 la naștere, 2024, pe populația cu reședința obișnuită; UE: 81,5 ani (ep)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76,5 (e)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5488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81,5 − 77,07 = 4,43 amestecă două surse; din aceeași sursă, diferența UE–România este de 5,0 ani. În 2019–2024, diferența INS–Eurostat a variat între −0,84 și 3,07 ani (valorile Eurostat ale României, estimate: e).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/ 29</a:t>
            </a:r>
            <a:endParaRPr lang="en-US" sz="800" dirty="0"/>
          </a:p>
        </p:txBody>
      </p:sp>
      <p:sp>
        <p:nvSpPr>
          <p:cNvPr id="19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Marcaje Eurostat: e = valoare estimată; p = valoare provizorie. Surse: INS, TEMPO POP217A; Eurostat, demo_mlexpec (2024)</a:t>
            </a:r>
            <a:endParaRPr lang="en-US" sz="7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epidemiologici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PARTEA A II-A · Incidență · Prevalență · Rate specifice · Foaia de calcul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 / 29</a:t>
            </a:r>
            <a:endParaRPr lang="en-US" sz="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Rujeola și tusea convulsivă în România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175793"/>
              </p:ext>
            </p:extLst>
          </p:nvPr>
        </p:nvGraphicFramePr>
        <p:xfrm>
          <a:off x="457200" y="914400"/>
          <a:ext cx="8229600" cy="242316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Indicator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2023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Sursa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Cazuri noi de rujeolă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3 677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25 505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INS, SAN109A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Cazuri noi de tuse convulsivă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17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2 963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INS, SAN109A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Populația rezidentă la 1 iulie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19 065 938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19 059 534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INS, POP106A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Incidența la 100 000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?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?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 calculat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 nou: boala depistată pentru prima oară la medic, indiferent de data îmbolnăvirii (INS). Surse: INS, TEMPO; OMS, GHO.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23 / 29</a:t>
            </a:r>
            <a:endParaRPr lang="en-US" sz="800" dirty="0"/>
          </a:p>
        </p:txBody>
      </p:sp>
      <p:sp>
        <p:nvSpPr>
          <p:cNvPr id="46" name="Text 1"/>
          <p:cNvSpPr/>
          <p:nvPr/>
        </p:nvSpPr>
        <p:spPr>
          <a:xfrm>
            <a:off x="457200" y="32918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Acoperirea vaccinală cu vaccin rujeolic, estimată de OMS și UNICEF — prima doză: 94% (2012), 83% (2022), 78% (2023), 66% (2024 și 2025); a doua doză: 90%, 71%, 62% și 68% în aceiași ani.</a:t>
            </a:r>
            <a:endParaRPr lang="en-US" sz="7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Exercițiile părții a doua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rujeolei și a tusei convulsive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reale INS, 2023 și 2024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0" y="10058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100 000 = 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57200" y="20116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și incidența bolii 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listă de 2 000 de adulți; apoi date reale: INSP, 2023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2011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P, I = 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301752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9728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Rate specifice pe vârste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Județul Cluj și România, 2025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3017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‰ = ?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 patrulea exercițiu: foaia de calcul, cu valori ipotetice, despre instabilitatea ratelor calculate din numere mici.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2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24 / 29</a:t>
            </a:r>
            <a:endParaRPr lang="en-US" sz="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și incidența într-o listă de pacienți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boala cronică K, lista unui cabinet de medicină de familie, un an</a:t>
            </a:r>
            <a:endParaRPr lang="en-US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205374"/>
              </p:ext>
            </p:extLst>
          </p:nvPr>
        </p:nvGraphicFramePr>
        <p:xfrm>
          <a:off x="457200" y="1280160"/>
          <a:ext cx="4572000" cy="1792224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Situația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Numărul de persoane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Adulți pe listă, la începutul anului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2 000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Cu boala K, la începutul anului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600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Cazuri noi de boală K în cursul anului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42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Decedați cu boala K în cursul anului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18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Vindecați de boala K în cursul anului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Alte ieșiri de pe listă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83280" cy="21031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5303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SARCINI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Prevalența de moment la început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Incidența, cu numitorul potrivit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Prevalența la sfârșitul anului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4) Ce planifică asistentul medical?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5) Date reale: prevalența infecțiilor asociate asistenței medicale (INSP, 2023)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Care este numitorul potrivit al incidenței? Comparați rezultatul cu cel obținut pe întreaga listă.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 / 29</a:t>
            </a:r>
            <a:endParaRPr lang="en-US" sz="8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Mortalitatea pe grupe de vârstă, 2025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175793"/>
              </p:ext>
            </p:extLst>
          </p:nvPr>
        </p:nvGraphicFramePr>
        <p:xfrm>
          <a:off x="457200" y="914400"/>
          <a:ext cx="8229600" cy="242316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Grupa de vârstă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Decese, Cluj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Populația, Cluj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România: decese și populația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0–14 ani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51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104 540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1 244 și 2 906 683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15–64 de ani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1 326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456 962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46 887 și 12 255 543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65 de ani și peste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6 311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138 062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190 185 și 3 884 208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specifică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 ÷ populație × 1 000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exemplu: 190 185 ÷ 3 884 208 × 1 000 = 49,0‰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Suplimentar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ajustată: rată × pondere (ca fracție), adunate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ponderile din populația țării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INS, TEMPO POP206K și POP106A (populația la 1 iulie 2025)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 / 29</a:t>
            </a:r>
            <a:endParaRPr lang="en-US" sz="8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Foaia de calcul și numerele mici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boala M, cele șase localități ale unui județ ipotetic, un an</a:t>
            </a:r>
            <a:endParaRPr lang="en-US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205374"/>
              </p:ext>
            </p:extLst>
          </p:nvPr>
        </p:nvGraphicFramePr>
        <p:xfrm>
          <a:off x="457200" y="1280160"/>
          <a:ext cx="4572000" cy="19202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Localitatea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Populația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Cazuri noi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Incidența la 100 000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48 500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?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12 300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8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?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3 200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?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1 450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?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27 800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11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?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860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 b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?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83280" cy="21031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5303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PAȘII ÎN FOAIA DE CALCUL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Datele în coloanele A, B și C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În D2: =C2/B2*100000, copiată în jos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Ordonare descrescătoare după incidență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4) Rândul de total, calculat din sume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singur caz în plus schimbă mult rata unei localități mici.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 / 29</a:t>
            </a:r>
            <a:endParaRPr lang="en-US" sz="8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Limitele interpretării: ce nu se poate afirma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LIPSĂ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pe județe: SAN109A este națională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bolilor cronice pe județe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Datele județene ale supravegherii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căutat: DSP Cluj, rapoartele INSP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 DIFERITE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9852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Ratele din 2025: publicate pe domiciliu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9852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Durata medie a vieții INS ≠ Eurostat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852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Baze de populație și metode diferite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5280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compară numai valori din aceeași serie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6552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LIMITE DE INTERPRETARE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0268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Copiii de 0–14 ani: câteva zeci de decese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0268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Numerele mici: rate instabile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0268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Datele din 2024–2025 se pot revizui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5696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20268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Mai mulți ani, înainte de concluzii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28 / 29</a:t>
            </a:r>
            <a:endParaRPr lang="en-US" sz="1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Sinteza și biletul de ieșire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286000"/>
          </a:xfrm>
          <a:prstGeom prst="rect">
            <a:avLst/>
          </a:prstGeom>
          <a:solidFill>
            <a:srgbClr val="0E7C6B">
              <a:alpha val="2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— Bilet de ieșire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Ce indicator din profil v-a surprins cel mai mult?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Ce întrebare despre sănătatea județului ar cere date care au lipsit?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2286000"/>
          </a:xfrm>
          <a:prstGeom prst="rect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Idei-cheie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Profilul: indicatori comparați cu o referință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0" y="1719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Rata: numărător, numitor, perioadă, multiplicator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937760" y="20208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Rata brută depinde de structura pe vârste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937760" y="23225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4) Nu se compară valori din surse diferite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937760" y="26243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5) Ratele din numere mici sunt instabile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937760" y="2926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6) Constatarea: indicator, valoare, an, referință, limită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937760" y="32918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Date: INS TEMPO, extrase și arhivate pentru această lucrare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Urmează cursul C02: epidemiologie aplicată în nursing (II); promovarea sănătății și educația pentru sănătate.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29 / 29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latino Linotype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latino Linotype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5460</Words>
  <Application>Microsoft Macintosh PowerPoint</Application>
  <PresentationFormat>On-screen Show (16:9)</PresentationFormat>
  <Paragraphs>1075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Sănătate publică și management — LP01 (decul de proiectat)</dc:title>
  <dc:subject>LP01 · ro · în designul decului C1_SPM_AMGIV_2026, pe datele și exemplele din lp/ro/LP01.md</dc:subject>
  <dc:creator>Adrian · UMFIH Cluj-Napoca</dc:creator>
  <cp:lastModifiedBy>Adrian Pana</cp:lastModifiedBy>
  <cp:revision>4</cp:revision>
  <dcterms:created xsi:type="dcterms:W3CDTF">2026-03-02T22:31:11Z</dcterms:created>
  <dcterms:modified xsi:type="dcterms:W3CDTF">2026-03-03T06:44:49Z</dcterms:modified>
  <cp:keywords>sursa_amprenta=59783f94ac70b49b; proiectie</cp:keywords>
</cp:coreProperties>
</file>