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strada_comuna_biertan_common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40080" y="731520"/>
            <a:ext cx="4206240" cy="329184"/>
          </a:xfrm>
          <a:prstGeom prst="roundRect">
            <a:avLst>
              <a:gd name="adj" fmla="val 50000"/>
            </a:avLst>
          </a:prstGeom>
          <a:solidFill>
            <a:srgbClr val="FF4757"/>
          </a:solidFill>
          <a:ln w="12700">
            <a:solidFill>
              <a:srgbClr val="FF4757"/>
            </a:solidFill>
            <a:prstDash val="solid"/>
          </a:ln>
        </p:spPr>
        <p:txBody>
          <a:bodyPr/>
          <a:p/>
        </p:txBody>
      </p:sp>
      <p:sp>
        <p:nvSpPr>
          <p:cNvPr id="4" name="Text 1"/>
          <p:cNvSpPr/>
          <p:nvPr/>
        </p:nvSpPr>
        <p:spPr>
          <a:xfrm>
            <a:off x="640080" y="73152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CURSUL AL TREILEA · AMG, ANUL IV</a:t>
            </a:r>
            <a:endParaRPr lang="en-US" sz="1300" dirty="0"/>
          </a:p>
        </p:txBody>
      </p:sp>
      <p:sp>
        <p:nvSpPr>
          <p:cNvPr id="5" name="Text 2"/>
          <p:cNvSpPr/>
          <p:nvPr/>
        </p:nvSpPr>
        <p:spPr>
          <a:xfrm>
            <a:off x="640080" y="1325880"/>
            <a:ext cx="5760720" cy="146304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Trei vizite într-o comună de deal</a:t>
            </a:r>
            <a:endParaRPr lang="en-US" sz="3800" dirty="0"/>
          </a:p>
        </p:txBody>
      </p:sp>
      <p:sp>
        <p:nvSpPr>
          <p:cNvPr id="6" name="Text 3"/>
          <p:cNvSpPr/>
          <p:nvPr/>
        </p:nvSpPr>
        <p:spPr>
          <a:xfrm>
            <a:off x="640080" y="2834640"/>
            <a:ext cx="5760720" cy="109728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Cine este vulnerabil și cum se organizează îngrijirea lui?</a:t>
            </a:r>
            <a:endParaRPr lang="en-US" sz="2400" dirty="0"/>
          </a:p>
        </p:txBody>
      </p:sp>
      <p:sp>
        <p:nvSpPr>
          <p:cNvPr id="7" name="Shape 4"/>
          <p:cNvSpPr/>
          <p:nvPr/>
        </p:nvSpPr>
        <p:spPr>
          <a:xfrm>
            <a:off x="667512" y="4114800"/>
            <a:ext cx="1280160" cy="27432"/>
          </a:xfrm>
          <a:prstGeom prst="rect">
            <a:avLst/>
          </a:prstGeom>
          <a:solidFill>
            <a:srgbClr val="FF4757"/>
          </a:solidFill>
          <a:ln/>
        </p:spPr>
        <p:txBody>
          <a:bodyPr/>
          <a:p/>
        </p:txBody>
      </p:sp>
      <p:sp>
        <p:nvSpPr>
          <p:cNvPr id="8" name="Text 5"/>
          <p:cNvSpPr/>
          <p:nvPr/>
        </p:nvSpPr>
        <p:spPr>
          <a:xfrm>
            <a:off x="640080" y="4297680"/>
            <a:ext cx="5760720" cy="100584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Sănătatea populațiilor vulnerabile. Introducere în managementul serviciilor de sănătate</a:t>
            </a:r>
            <a:endParaRPr lang="en-US" sz="1400" dirty="0"/>
          </a:p>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Conf. univ. dr. Adrian Pană · UMF Cluj-Napoca</a:t>
            </a:r>
            <a:endParaRPr lang="en-US" sz="1400" dirty="0"/>
          </a:p>
        </p:txBody>
      </p:sp>
      <p:sp>
        <p:nvSpPr>
          <p:cNvPr id="9" name="Shape 6"/>
          <p:cNvSpPr/>
          <p:nvPr/>
        </p:nvSpPr>
        <p:spPr>
          <a:xfrm>
            <a:off x="640080" y="5532120"/>
            <a:ext cx="5760720" cy="640080"/>
          </a:xfrm>
          <a:prstGeom prst="roundRect">
            <a:avLst>
              <a:gd name="adj" fmla="val 12857"/>
            </a:avLst>
          </a:prstGeom>
          <a:solidFill>
            <a:srgbClr val="272A38"/>
          </a:solidFill>
          <a:ln w="12700">
            <a:solidFill>
              <a:srgbClr val="272A38"/>
            </a:solidFill>
            <a:prstDash val="solid"/>
          </a:ln>
        </p:spPr>
        <p:txBody>
          <a:bodyPr/>
          <a:p/>
        </p:txBody>
      </p:sp>
      <p:sp>
        <p:nvSpPr>
          <p:cNvPr id="10" name="Text 7"/>
          <p:cNvSpPr/>
          <p:nvPr/>
        </p:nvSpPr>
        <p:spPr>
          <a:xfrm>
            <a:off x="868680" y="5532120"/>
            <a:ext cx="5394960" cy="64008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Mentimeter: menti.com · menti.com/aldcvd61anas</a:t>
            </a:r>
            <a:endParaRPr lang="en-US" sz="1500" dirty="0"/>
          </a:p>
        </p:txBody>
      </p:sp>
      <p:sp>
        <p:nvSpPr>
          <p:cNvPr id="11" name="Shape 8"/>
          <p:cNvSpPr/>
          <p:nvPr/>
        </p:nvSpPr>
        <p:spPr>
          <a:xfrm>
            <a:off x="6705295" y="6510528"/>
            <a:ext cx="5486400" cy="347472"/>
          </a:xfrm>
          <a:prstGeom prst="rect">
            <a:avLst/>
          </a:prstGeom>
          <a:solidFill>
            <a:srgbClr val="11121A">
              <a:alpha val="70000"/>
            </a:srgbClr>
          </a:solidFill>
          <a:ln w="12700">
            <a:solidFill>
              <a:srgbClr val="11121A"/>
            </a:solidFill>
            <a:prstDash val="solid"/>
          </a:ln>
        </p:spPr>
        <p:txBody>
          <a:bodyPr/>
          <a:p/>
        </p:txBody>
      </p:sp>
      <p:sp>
        <p:nvSpPr>
          <p:cNvPr id="12" name="Text 9"/>
          <p:cNvSpPr/>
          <p:nvPr/>
        </p:nvSpPr>
        <p:spPr>
          <a:xfrm>
            <a:off x="6812280" y="6556248"/>
            <a:ext cx="5303520" cy="219456"/>
          </a:xfrm>
          <a:prstGeom prst="rect">
            <a:avLst/>
          </a:prstGeom>
          <a:noFill/>
          <a:ln/>
        </p:spPr>
        <p:txBody>
          <a:bodyPr wrap="square" lIns="0" tIns="0" rIns="0" bIns="0" rtlCol="0" anchor="ctr"/>
          <a:lstStyle/>
          <a:p>
            <a:pPr indent="0" marL="0">
              <a:buNone/>
            </a:pPr>
            <a:r>
              <a:rPr lang="en-US" sz="850" i="1" dirty="0">
                <a:solidFill>
                  <a:srgbClr val="E6E8EF"/>
                </a:solidFill>
                <a:latin typeface="Palatino Linotype" pitchFamily="34" charset="0"/>
                <a:ea typeface="Palatino Linotype" pitchFamily="34" charset="-122"/>
                <a:cs typeface="Palatino Linotype" pitchFamily="34" charset="-120"/>
              </a:rPr>
              <a:t>O comună din Transilvania: Biertan, județul Sibiu · Foto: Paul Colin Hennig · CC BY-SA 4.0 · Wikimedia Commons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VOTURILE VOASTRE DIN CURSUL AL DOILEA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am schimbat după biletele voastre</a:t>
            </a:r>
            <a:endParaRPr lang="en-US" sz="3200" dirty="0"/>
          </a:p>
        </p:txBody>
      </p:sp>
      <p:sp>
        <p:nvSpPr>
          <p:cNvPr id="4" name="Shape 2"/>
          <p:cNvSpPr/>
          <p:nvPr/>
        </p:nvSpPr>
        <p:spPr>
          <a:xfrm>
            <a:off x="594360" y="1828800"/>
            <a:ext cx="10972800" cy="1371600"/>
          </a:xfrm>
          <a:prstGeom prst="roundRect">
            <a:avLst>
              <a:gd name="adj" fmla="val 6000"/>
            </a:avLst>
          </a:prstGeom>
          <a:solidFill>
            <a:srgbClr val="ECEAE4"/>
          </a:solidFill>
          <a:ln w="12700">
            <a:solidFill>
              <a:srgbClr val="ECEAE4"/>
            </a:solidFill>
            <a:prstDash val="solid"/>
          </a:ln>
        </p:spPr>
        <p:txBody>
          <a:bodyPr/>
          <a:p/>
        </p:txBody>
      </p:sp>
      <p:sp>
        <p:nvSpPr>
          <p:cNvPr id="5" name="Shape 3"/>
          <p:cNvSpPr/>
          <p:nvPr/>
        </p:nvSpPr>
        <p:spPr>
          <a:xfrm>
            <a:off x="594360" y="1828800"/>
            <a:ext cx="82296" cy="1371600"/>
          </a:xfrm>
          <a:prstGeom prst="rect">
            <a:avLst/>
          </a:prstGeom>
          <a:solidFill>
            <a:srgbClr val="0E7C6B"/>
          </a:solidFill>
          <a:ln w="12700">
            <a:solidFill>
              <a:srgbClr val="0E7C6B"/>
            </a:solidFill>
            <a:prstDash val="solid"/>
          </a:ln>
        </p:spPr>
        <p:txBody>
          <a:bodyPr/>
          <a:p/>
        </p:txBody>
      </p:sp>
      <p:sp>
        <p:nvSpPr>
          <p:cNvPr id="6" name="Shape 4"/>
          <p:cNvSpPr/>
          <p:nvPr/>
        </p:nvSpPr>
        <p:spPr>
          <a:xfrm>
            <a:off x="914400" y="2267712"/>
            <a:ext cx="493776" cy="493776"/>
          </a:xfrm>
          <a:prstGeom prst="ellipse">
            <a:avLst/>
          </a:prstGeom>
          <a:solidFill>
            <a:srgbClr val="0E7C6B"/>
          </a:solidFill>
          <a:ln/>
        </p:spPr>
        <p:txBody>
          <a:bodyPr/>
          <a:p/>
        </p:txBody>
      </p:sp>
      <p:sp>
        <p:nvSpPr>
          <p:cNvPr id="7" name="Text 5"/>
          <p:cNvSpPr/>
          <p:nvPr/>
        </p:nvSpPr>
        <p:spPr>
          <a:xfrm>
            <a:off x="914400" y="22677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a:t>
            </a:r>
            <a:endParaRPr lang="en-US" sz="1700" dirty="0"/>
          </a:p>
        </p:txBody>
      </p:sp>
      <p:sp>
        <p:nvSpPr>
          <p:cNvPr id="8" name="Text 6"/>
          <p:cNvSpPr/>
          <p:nvPr/>
        </p:nvSpPr>
        <p:spPr>
          <a:xfrm>
            <a:off x="1645920" y="1828800"/>
            <a:ext cx="9601200" cy="1371600"/>
          </a:xfrm>
          <a:prstGeom prst="rect">
            <a:avLst/>
          </a:prstGeom>
          <a:noFill/>
          <a:ln/>
        </p:spPr>
        <p:txBody>
          <a:bodyPr wrap="square" lIns="0" tIns="0" rIns="0" bIns="0" rtlCol="0" anchor="ctr"/>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Cursul de azi are mai puține voturi, iar biletul de ieșire are o oră fixă, cu zece minute înainte de final.</a:t>
            </a:r>
            <a:endParaRPr lang="en-US" sz="2100" dirty="0"/>
          </a:p>
        </p:txBody>
      </p:sp>
      <p:sp>
        <p:nvSpPr>
          <p:cNvPr id="9" name="Shape 7"/>
          <p:cNvSpPr/>
          <p:nvPr/>
        </p:nvSpPr>
        <p:spPr>
          <a:xfrm>
            <a:off x="594360" y="3429000"/>
            <a:ext cx="10972800" cy="1371600"/>
          </a:xfrm>
          <a:prstGeom prst="roundRect">
            <a:avLst>
              <a:gd name="adj" fmla="val 6000"/>
            </a:avLst>
          </a:prstGeom>
          <a:solidFill>
            <a:srgbClr val="ECEAE4"/>
          </a:solidFill>
          <a:ln w="12700">
            <a:solidFill>
              <a:srgbClr val="ECEAE4"/>
            </a:solidFill>
            <a:prstDash val="solid"/>
          </a:ln>
        </p:spPr>
        <p:txBody>
          <a:bodyPr/>
          <a:p/>
        </p:txBody>
      </p:sp>
      <p:sp>
        <p:nvSpPr>
          <p:cNvPr id="10" name="Shape 8"/>
          <p:cNvSpPr/>
          <p:nvPr/>
        </p:nvSpPr>
        <p:spPr>
          <a:xfrm>
            <a:off x="594360" y="3429000"/>
            <a:ext cx="82296" cy="1371600"/>
          </a:xfrm>
          <a:prstGeom prst="rect">
            <a:avLst/>
          </a:prstGeom>
          <a:solidFill>
            <a:srgbClr val="B02532"/>
          </a:solidFill>
          <a:ln w="12700">
            <a:solidFill>
              <a:srgbClr val="B02532"/>
            </a:solidFill>
            <a:prstDash val="solid"/>
          </a:ln>
        </p:spPr>
        <p:txBody>
          <a:bodyPr/>
          <a:p/>
        </p:txBody>
      </p:sp>
      <p:sp>
        <p:nvSpPr>
          <p:cNvPr id="11" name="Shape 9"/>
          <p:cNvSpPr/>
          <p:nvPr/>
        </p:nvSpPr>
        <p:spPr>
          <a:xfrm>
            <a:off x="914400" y="3867912"/>
            <a:ext cx="493776" cy="493776"/>
          </a:xfrm>
          <a:prstGeom prst="ellipse">
            <a:avLst/>
          </a:prstGeom>
          <a:solidFill>
            <a:srgbClr val="B02532"/>
          </a:solidFill>
          <a:ln/>
        </p:spPr>
        <p:txBody>
          <a:bodyPr/>
          <a:p/>
        </p:txBody>
      </p:sp>
      <p:sp>
        <p:nvSpPr>
          <p:cNvPr id="12" name="Text 10"/>
          <p:cNvSpPr/>
          <p:nvPr/>
        </p:nvSpPr>
        <p:spPr>
          <a:xfrm>
            <a:off x="914400" y="38679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a:t>
            </a:r>
            <a:endParaRPr lang="en-US" sz="1700" dirty="0"/>
          </a:p>
        </p:txBody>
      </p:sp>
      <p:sp>
        <p:nvSpPr>
          <p:cNvPr id="13" name="Text 11"/>
          <p:cNvSpPr/>
          <p:nvPr/>
        </p:nvSpPr>
        <p:spPr>
          <a:xfrm>
            <a:off x="1645920" y="3429000"/>
            <a:ext cx="9601200" cy="1371600"/>
          </a:xfrm>
          <a:prstGeom prst="rect">
            <a:avLst/>
          </a:prstGeom>
          <a:noFill/>
          <a:ln/>
        </p:spPr>
        <p:txBody>
          <a:bodyPr wrap="square" lIns="0" tIns="0" rIns="0" bIns="0" rtlCol="0" anchor="ctr"/>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Începem cu o recapitulare de două minute despre nivelurile de prevenție: opt dintre cei nouăsprezece care ați votat ați ales alt nivel decât cel corect.</a:t>
            </a:r>
            <a:endParaRPr lang="en-US" sz="2100" dirty="0"/>
          </a:p>
        </p:txBody>
      </p:sp>
      <p:sp>
        <p:nvSpPr>
          <p:cNvPr id="14" name="Shape 12"/>
          <p:cNvSpPr/>
          <p:nvPr/>
        </p:nvSpPr>
        <p:spPr>
          <a:xfrm>
            <a:off x="594360" y="5257800"/>
            <a:ext cx="10972800" cy="822960"/>
          </a:xfrm>
          <a:prstGeom prst="roundRect">
            <a:avLst>
              <a:gd name="adj" fmla="val 10000"/>
            </a:avLst>
          </a:prstGeom>
          <a:solidFill>
            <a:srgbClr val="11121A"/>
          </a:solidFill>
          <a:ln w="12700">
            <a:solidFill>
              <a:srgbClr val="11121A"/>
            </a:solidFill>
            <a:prstDash val="solid"/>
          </a:ln>
        </p:spPr>
        <p:txBody>
          <a:bodyPr/>
          <a:p/>
        </p:txBody>
      </p:sp>
      <p:sp>
        <p:nvSpPr>
          <p:cNvPr id="15" name="Text 13"/>
          <p:cNvSpPr/>
          <p:nvPr/>
        </p:nvSpPr>
        <p:spPr>
          <a:xfrm>
            <a:off x="868680" y="5257800"/>
            <a:ext cx="10424160" cy="82296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Aveți nevoie de telefon: votați anonim, pe menti.com.</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RECAPITULARE · NIVELURILE PREVENȚIEI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Prima întrebare: există deja boala?</a:t>
            </a:r>
            <a:endParaRPr lang="en-US" sz="3200" dirty="0"/>
          </a:p>
        </p:txBody>
      </p:sp>
      <p:sp>
        <p:nvSpPr>
          <p:cNvPr id="4" name="Shape 2"/>
          <p:cNvSpPr/>
          <p:nvPr/>
        </p:nvSpPr>
        <p:spPr>
          <a:xfrm>
            <a:off x="594360" y="1783080"/>
            <a:ext cx="10972800" cy="1005840"/>
          </a:xfrm>
          <a:prstGeom prst="roundRect">
            <a:avLst>
              <a:gd name="adj" fmla="val 8182"/>
            </a:avLst>
          </a:prstGeom>
          <a:solidFill>
            <a:srgbClr val="ECEAE4"/>
          </a:solidFill>
          <a:ln w="12700">
            <a:solidFill>
              <a:srgbClr val="ECEAE4"/>
            </a:solidFill>
            <a:prstDash val="solid"/>
          </a:ln>
        </p:spPr>
        <p:txBody>
          <a:bodyPr/>
          <a:p/>
        </p:txBody>
      </p:sp>
      <p:sp>
        <p:nvSpPr>
          <p:cNvPr id="5" name="Text 3"/>
          <p:cNvSpPr/>
          <p:nvPr/>
        </p:nvSpPr>
        <p:spPr>
          <a:xfrm>
            <a:off x="822960" y="1783080"/>
            <a:ext cx="2377440" cy="1005840"/>
          </a:xfrm>
          <a:prstGeom prst="rect">
            <a:avLst/>
          </a:prstGeom>
          <a:noFill/>
          <a:ln/>
        </p:spPr>
        <p:txBody>
          <a:bodyPr wrap="square" lIns="0" tIns="0" rIns="0" bIns="0" rtlCol="0" anchor="ctr"/>
          <a:lstStyle/>
          <a:p>
            <a:pPr indent="0" marL="0">
              <a:buNone/>
            </a:pPr>
            <a:r>
              <a:rPr lang="en-US" sz="1500" b="1" spc="100" kern="0" dirty="0">
                <a:solidFill>
                  <a:srgbClr val="0E7C6B"/>
                </a:solidFill>
                <a:latin typeface="Palatino Linotype" pitchFamily="34" charset="0"/>
                <a:ea typeface="Palatino Linotype" pitchFamily="34" charset="-122"/>
                <a:cs typeface="Palatino Linotype" pitchFamily="34" charset="-120"/>
              </a:rPr>
              <a:t>NU</a:t>
            </a:r>
            <a:endParaRPr lang="en-US" sz="1500" dirty="0"/>
          </a:p>
        </p:txBody>
      </p:sp>
      <p:sp>
        <p:nvSpPr>
          <p:cNvPr id="6" name="Shape 4"/>
          <p:cNvSpPr/>
          <p:nvPr/>
        </p:nvSpPr>
        <p:spPr>
          <a:xfrm>
            <a:off x="3200400" y="2130552"/>
            <a:ext cx="411480" cy="310896"/>
          </a:xfrm>
          <a:prstGeom prst="rightArrow">
            <a:avLst/>
          </a:prstGeom>
          <a:solidFill>
            <a:srgbClr val="0E7C6B"/>
          </a:solidFill>
          <a:ln w="12700">
            <a:solidFill>
              <a:srgbClr val="0E7C6B"/>
            </a:solidFill>
            <a:prstDash val="solid"/>
          </a:ln>
        </p:spPr>
        <p:txBody>
          <a:bodyPr/>
          <a:p/>
        </p:txBody>
      </p:sp>
      <p:sp>
        <p:nvSpPr>
          <p:cNvPr id="7" name="Text 5"/>
          <p:cNvSpPr/>
          <p:nvPr/>
        </p:nvSpPr>
        <p:spPr>
          <a:xfrm>
            <a:off x="3794760" y="1783080"/>
            <a:ext cx="2011680" cy="100584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Primară</a:t>
            </a:r>
            <a:endParaRPr lang="en-US" sz="2200" dirty="0"/>
          </a:p>
        </p:txBody>
      </p:sp>
      <p:sp>
        <p:nvSpPr>
          <p:cNvPr id="8" name="Text 6"/>
          <p:cNvSpPr/>
          <p:nvPr/>
        </p:nvSpPr>
        <p:spPr>
          <a:xfrm>
            <a:off x="5852160" y="1783080"/>
            <a:ext cx="548640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chiar dacă măsura reduce un factor de risc deja prezent, precum fumatul sau tensiunea crescută</a:t>
            </a:r>
            <a:endParaRPr lang="en-US" sz="1600" dirty="0"/>
          </a:p>
        </p:txBody>
      </p:sp>
      <p:sp>
        <p:nvSpPr>
          <p:cNvPr id="9" name="Shape 7"/>
          <p:cNvSpPr/>
          <p:nvPr/>
        </p:nvSpPr>
        <p:spPr>
          <a:xfrm>
            <a:off x="594360" y="2926080"/>
            <a:ext cx="10972800" cy="1005840"/>
          </a:xfrm>
          <a:prstGeom prst="roundRect">
            <a:avLst>
              <a:gd name="adj" fmla="val 8182"/>
            </a:avLst>
          </a:prstGeom>
          <a:solidFill>
            <a:srgbClr val="F9F8F5"/>
          </a:solidFill>
          <a:ln w="12700">
            <a:solidFill>
              <a:srgbClr val="F9F8F5"/>
            </a:solidFill>
            <a:prstDash val="solid"/>
          </a:ln>
        </p:spPr>
        <p:txBody>
          <a:bodyPr/>
          <a:p/>
        </p:txBody>
      </p:sp>
      <p:sp>
        <p:nvSpPr>
          <p:cNvPr id="10" name="Text 8"/>
          <p:cNvSpPr/>
          <p:nvPr/>
        </p:nvSpPr>
        <p:spPr>
          <a:xfrm>
            <a:off x="822960" y="2926080"/>
            <a:ext cx="2377440" cy="1005840"/>
          </a:xfrm>
          <a:prstGeom prst="rect">
            <a:avLst/>
          </a:prstGeom>
          <a:noFill/>
          <a:ln/>
        </p:spPr>
        <p:txBody>
          <a:bodyPr wrap="square" lIns="0" tIns="0" rIns="0" bIns="0" rtlCol="0" anchor="ctr"/>
          <a:lstStyle/>
          <a:p>
            <a:pPr indent="0" marL="0">
              <a:buNone/>
            </a:pPr>
            <a:r>
              <a:rPr lang="en-US" sz="1500" b="1" spc="100" kern="0" dirty="0">
                <a:solidFill>
                  <a:srgbClr val="8A6100"/>
                </a:solidFill>
                <a:latin typeface="Palatino Linotype" pitchFamily="34" charset="0"/>
                <a:ea typeface="Palatino Linotype" pitchFamily="34" charset="-122"/>
                <a:cs typeface="Palatino Linotype" pitchFamily="34" charset="-120"/>
              </a:rPr>
              <a:t>DA, FĂRĂ SIMPTOME</a:t>
            </a:r>
            <a:endParaRPr lang="en-US" sz="1500" dirty="0"/>
          </a:p>
        </p:txBody>
      </p:sp>
      <p:sp>
        <p:nvSpPr>
          <p:cNvPr id="11" name="Shape 9"/>
          <p:cNvSpPr/>
          <p:nvPr/>
        </p:nvSpPr>
        <p:spPr>
          <a:xfrm>
            <a:off x="3200400" y="3273552"/>
            <a:ext cx="411480" cy="310896"/>
          </a:xfrm>
          <a:prstGeom prst="rightArrow">
            <a:avLst/>
          </a:prstGeom>
          <a:solidFill>
            <a:srgbClr val="8A6100"/>
          </a:solidFill>
          <a:ln w="12700">
            <a:solidFill>
              <a:srgbClr val="8A6100"/>
            </a:solidFill>
            <a:prstDash val="solid"/>
          </a:ln>
        </p:spPr>
        <p:txBody>
          <a:bodyPr/>
          <a:p/>
        </p:txBody>
      </p:sp>
      <p:sp>
        <p:nvSpPr>
          <p:cNvPr id="12" name="Text 10"/>
          <p:cNvSpPr/>
          <p:nvPr/>
        </p:nvSpPr>
        <p:spPr>
          <a:xfrm>
            <a:off x="3794760" y="2926080"/>
            <a:ext cx="2011680" cy="1005840"/>
          </a:xfrm>
          <a:prstGeom prst="rect">
            <a:avLst/>
          </a:prstGeom>
          <a:noFill/>
          <a:ln/>
        </p:spPr>
        <p:txBody>
          <a:bodyPr wrap="square" lIns="0" tIns="0" rIns="0" bIns="0" rtlCol="0" anchor="ctr"/>
          <a:lstStyle/>
          <a:p>
            <a:pPr indent="0" marL="0">
              <a:buNone/>
            </a:pPr>
            <a:r>
              <a:rPr lang="en-US" sz="2200" b="1" dirty="0">
                <a:solidFill>
                  <a:srgbClr val="8A6100"/>
                </a:solidFill>
                <a:latin typeface="Palatino Linotype" pitchFamily="34" charset="0"/>
                <a:ea typeface="Palatino Linotype" pitchFamily="34" charset="-122"/>
                <a:cs typeface="Palatino Linotype" pitchFamily="34" charset="-120"/>
              </a:rPr>
              <a:t>Secundară</a:t>
            </a:r>
            <a:endParaRPr lang="en-US" sz="2200" dirty="0"/>
          </a:p>
        </p:txBody>
      </p:sp>
      <p:sp>
        <p:nvSpPr>
          <p:cNvPr id="13" name="Text 11"/>
          <p:cNvSpPr/>
          <p:nvPr/>
        </p:nvSpPr>
        <p:spPr>
          <a:xfrm>
            <a:off x="5852160" y="2926080"/>
            <a:ext cx="548640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boala există, nu dă încă simptome, iar noi o căutăm</a:t>
            </a:r>
            <a:endParaRPr lang="en-US" sz="1600" dirty="0"/>
          </a:p>
        </p:txBody>
      </p:sp>
      <p:sp>
        <p:nvSpPr>
          <p:cNvPr id="14" name="Shape 12"/>
          <p:cNvSpPr/>
          <p:nvPr/>
        </p:nvSpPr>
        <p:spPr>
          <a:xfrm>
            <a:off x="594360" y="4069080"/>
            <a:ext cx="10972800" cy="1005840"/>
          </a:xfrm>
          <a:prstGeom prst="roundRect">
            <a:avLst>
              <a:gd name="adj" fmla="val 8182"/>
            </a:avLst>
          </a:prstGeom>
          <a:solidFill>
            <a:srgbClr val="ECEAE4"/>
          </a:solidFill>
          <a:ln w="12700">
            <a:solidFill>
              <a:srgbClr val="ECEAE4"/>
            </a:solidFill>
            <a:prstDash val="solid"/>
          </a:ln>
        </p:spPr>
        <p:txBody>
          <a:bodyPr/>
          <a:p/>
        </p:txBody>
      </p:sp>
      <p:sp>
        <p:nvSpPr>
          <p:cNvPr id="15" name="Text 13"/>
          <p:cNvSpPr/>
          <p:nvPr/>
        </p:nvSpPr>
        <p:spPr>
          <a:xfrm>
            <a:off x="822960" y="4069080"/>
            <a:ext cx="2377440" cy="1005840"/>
          </a:xfrm>
          <a:prstGeom prst="rect">
            <a:avLst/>
          </a:prstGeom>
          <a:noFill/>
          <a:ln/>
        </p:spPr>
        <p:txBody>
          <a:bodyPr wrap="square" lIns="0" tIns="0" rIns="0" bIns="0" rtlCol="0" anchor="ctr"/>
          <a:lstStyle/>
          <a:p>
            <a:pPr indent="0" marL="0">
              <a:buNone/>
            </a:pPr>
            <a:r>
              <a:rPr lang="en-US" sz="1500" b="1" spc="100" kern="0" dirty="0">
                <a:solidFill>
                  <a:srgbClr val="B02532"/>
                </a:solidFill>
                <a:latin typeface="Palatino Linotype" pitchFamily="34" charset="0"/>
                <a:ea typeface="Palatino Linotype" pitchFamily="34" charset="-122"/>
                <a:cs typeface="Palatino Linotype" pitchFamily="34" charset="-120"/>
              </a:rPr>
              <a:t>DA, INSTALATĂ</a:t>
            </a:r>
            <a:endParaRPr lang="en-US" sz="1500" dirty="0"/>
          </a:p>
        </p:txBody>
      </p:sp>
      <p:sp>
        <p:nvSpPr>
          <p:cNvPr id="16" name="Shape 14"/>
          <p:cNvSpPr/>
          <p:nvPr/>
        </p:nvSpPr>
        <p:spPr>
          <a:xfrm>
            <a:off x="3200400" y="4416552"/>
            <a:ext cx="411480" cy="310896"/>
          </a:xfrm>
          <a:prstGeom prst="rightArrow">
            <a:avLst/>
          </a:prstGeom>
          <a:solidFill>
            <a:srgbClr val="B02532"/>
          </a:solidFill>
          <a:ln w="12700">
            <a:solidFill>
              <a:srgbClr val="B02532"/>
            </a:solidFill>
            <a:prstDash val="solid"/>
          </a:ln>
        </p:spPr>
        <p:txBody>
          <a:bodyPr/>
          <a:p/>
        </p:txBody>
      </p:sp>
      <p:sp>
        <p:nvSpPr>
          <p:cNvPr id="17" name="Text 15"/>
          <p:cNvSpPr/>
          <p:nvPr/>
        </p:nvSpPr>
        <p:spPr>
          <a:xfrm>
            <a:off x="3794760" y="4069080"/>
            <a:ext cx="2011680" cy="1005840"/>
          </a:xfrm>
          <a:prstGeom prst="rect">
            <a:avLst/>
          </a:prstGeom>
          <a:noFill/>
          <a:ln/>
        </p:spPr>
        <p:txBody>
          <a:bodyPr wrap="square" lIns="0" tIns="0" rIns="0" bIns="0" rtlCol="0" anchor="ctr"/>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Terțiară</a:t>
            </a:r>
            <a:endParaRPr lang="en-US" sz="2200" dirty="0"/>
          </a:p>
        </p:txBody>
      </p:sp>
      <p:sp>
        <p:nvSpPr>
          <p:cNvPr id="18" name="Text 16"/>
          <p:cNvSpPr/>
          <p:nvPr/>
        </p:nvSpPr>
        <p:spPr>
          <a:xfrm>
            <a:off x="5852160" y="4069080"/>
            <a:ext cx="548640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boala este instalată, iar noi îi limităm consecințele</a:t>
            </a:r>
            <a:endParaRPr lang="en-US" sz="1600" dirty="0"/>
          </a:p>
        </p:txBody>
      </p:sp>
      <p:sp>
        <p:nvSpPr>
          <p:cNvPr id="19" name="Text 17"/>
          <p:cNvSpPr/>
          <p:nvPr/>
        </p:nvSpPr>
        <p:spPr>
          <a:xfrm>
            <a:off x="594360" y="5349240"/>
            <a:ext cx="10972800" cy="77724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Nivelul se stabilește față de o boală anume: măsurarea tensiunii este prevenție secundară pentru hipertensiune, dar primară pentru accidentul vascular cerebral.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RECAPITULARE · DOUĂ MINUTE</a:t>
            </a:r>
            <a:endParaRPr lang="en-US" sz="1300" dirty="0"/>
          </a:p>
        </p:txBody>
      </p:sp>
      <p:sp>
        <p:nvSpPr>
          <p:cNvPr id="5" name="Text 3"/>
          <p:cNvSpPr/>
          <p:nvPr/>
        </p:nvSpPr>
        <p:spPr>
          <a:xfrm>
            <a:off x="594360" y="868680"/>
            <a:ext cx="10972800" cy="1600200"/>
          </a:xfrm>
          <a:prstGeom prst="rect">
            <a:avLst/>
          </a:prstGeom>
          <a:noFill/>
          <a:ln/>
        </p:spPr>
        <p:txBody>
          <a:bodyPr wrap="square" lIns="0" tIns="0" rIns="0" bIns="0" rtlCol="0" anchor="ctr"/>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O fată de doisprezece ani este vaccinată împotriva HPV. Ce nivel de prevenție este, față de cancerul de col uterin?</a:t>
            </a:r>
            <a:endParaRPr lang="en-US" sz="2800" dirty="0"/>
          </a:p>
        </p:txBody>
      </p:sp>
      <p:sp>
        <p:nvSpPr>
          <p:cNvPr id="6" name="Shape 4"/>
          <p:cNvSpPr/>
          <p:nvPr/>
        </p:nvSpPr>
        <p:spPr>
          <a:xfrm>
            <a:off x="594360" y="2697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2852928"/>
            <a:ext cx="420624" cy="420624"/>
          </a:xfrm>
          <a:prstGeom prst="ellipse">
            <a:avLst/>
          </a:prstGeom>
          <a:solidFill>
            <a:srgbClr val="FFC24B"/>
          </a:solidFill>
          <a:ln/>
        </p:spPr>
        <p:txBody>
          <a:bodyPr/>
          <a:p/>
        </p:txBody>
      </p:sp>
      <p:sp>
        <p:nvSpPr>
          <p:cNvPr id="8" name="Text 6"/>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69748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Primară</a:t>
            </a:r>
            <a:endParaRPr lang="en-US" sz="2000" dirty="0"/>
          </a:p>
        </p:txBody>
      </p:sp>
      <p:sp>
        <p:nvSpPr>
          <p:cNvPr id="10" name="Shape 8"/>
          <p:cNvSpPr/>
          <p:nvPr/>
        </p:nvSpPr>
        <p:spPr>
          <a:xfrm>
            <a:off x="594360" y="35661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3721608"/>
            <a:ext cx="420624" cy="420624"/>
          </a:xfrm>
          <a:prstGeom prst="ellipse">
            <a:avLst/>
          </a:prstGeom>
          <a:solidFill>
            <a:srgbClr val="FFC24B"/>
          </a:solidFill>
          <a:ln/>
        </p:spPr>
        <p:txBody>
          <a:bodyPr/>
          <a:p/>
        </p:txBody>
      </p:sp>
      <p:sp>
        <p:nvSpPr>
          <p:cNvPr id="12" name="Text 10"/>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356616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Secundară</a:t>
            </a:r>
            <a:endParaRPr lang="en-US" sz="2000" dirty="0"/>
          </a:p>
        </p:txBody>
      </p:sp>
      <p:sp>
        <p:nvSpPr>
          <p:cNvPr id="14" name="Shape 12"/>
          <p:cNvSpPr/>
          <p:nvPr/>
        </p:nvSpPr>
        <p:spPr>
          <a:xfrm>
            <a:off x="594360" y="44348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4590288"/>
            <a:ext cx="420624" cy="420624"/>
          </a:xfrm>
          <a:prstGeom prst="ellipse">
            <a:avLst/>
          </a:prstGeom>
          <a:solidFill>
            <a:srgbClr val="FFC24B"/>
          </a:solidFill>
          <a:ln/>
        </p:spPr>
        <p:txBody>
          <a:bodyPr/>
          <a:p/>
        </p:txBody>
      </p:sp>
      <p:sp>
        <p:nvSpPr>
          <p:cNvPr id="16" name="Text 14"/>
          <p:cNvSpPr/>
          <p:nvPr/>
        </p:nvSpPr>
        <p:spPr>
          <a:xfrm>
            <a:off x="868680" y="4590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443484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Terțiară</a:t>
            </a:r>
            <a:endParaRPr lang="en-US" sz="2000" dirty="0"/>
          </a:p>
        </p:txBody>
      </p:sp>
      <p:sp>
        <p:nvSpPr>
          <p:cNvPr id="18" name="Text 16"/>
          <p:cNvSpPr/>
          <p:nvPr/>
        </p:nvSpPr>
        <p:spPr>
          <a:xfrm>
            <a:off x="594360" y="544068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Votați fără să vedeți votul celorlalți; rezultatul apare la închiderea votului.</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 Primară: vaccinul împiedică apariția bolii</a:t>
            </a:r>
            <a:endParaRPr lang="en-US" sz="3000" dirty="0"/>
          </a:p>
        </p:txBody>
      </p:sp>
      <p:sp>
        <p:nvSpPr>
          <p:cNvPr id="4" name="Shape 2"/>
          <p:cNvSpPr/>
          <p:nvPr/>
        </p:nvSpPr>
        <p:spPr>
          <a:xfrm>
            <a:off x="594360" y="1783080"/>
            <a:ext cx="5394960" cy="3108960"/>
          </a:xfrm>
          <a:prstGeom prst="roundRect">
            <a:avLst>
              <a:gd name="adj" fmla="val 2647"/>
            </a:avLst>
          </a:prstGeom>
          <a:solidFill>
            <a:srgbClr val="ECEAE4"/>
          </a:solidFill>
          <a:ln w="12700">
            <a:solidFill>
              <a:srgbClr val="ECEAE4"/>
            </a:solidFill>
            <a:prstDash val="solid"/>
          </a:ln>
        </p:spPr>
        <p:txBody>
          <a:bodyPr/>
          <a:p/>
        </p:txBody>
      </p:sp>
      <p:sp>
        <p:nvSpPr>
          <p:cNvPr id="5" name="Shape 3"/>
          <p:cNvSpPr/>
          <p:nvPr/>
        </p:nvSpPr>
        <p:spPr>
          <a:xfrm>
            <a:off x="594360" y="1783080"/>
            <a:ext cx="53949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984248"/>
            <a:ext cx="4937760" cy="6858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Vaccinul HPV, la doisprezece ani</a:t>
            </a:r>
            <a:endParaRPr lang="en-US" sz="2000" dirty="0"/>
          </a:p>
        </p:txBody>
      </p:sp>
      <p:sp>
        <p:nvSpPr>
          <p:cNvPr id="7" name="Text 5"/>
          <p:cNvSpPr/>
          <p:nvPr/>
        </p:nvSpPr>
        <p:spPr>
          <a:xfrm>
            <a:off x="822960" y="2651760"/>
            <a:ext cx="4937760" cy="21031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Se administrează înainte ca infecția să se producă. Boala nu există încă: prevenție primară.</a:t>
            </a:r>
            <a:endParaRPr lang="en-US" sz="1800" dirty="0"/>
          </a:p>
        </p:txBody>
      </p:sp>
      <p:sp>
        <p:nvSpPr>
          <p:cNvPr id="8" name="Shape 6"/>
          <p:cNvSpPr/>
          <p:nvPr/>
        </p:nvSpPr>
        <p:spPr>
          <a:xfrm>
            <a:off x="6172200" y="1783080"/>
            <a:ext cx="5394960" cy="3108960"/>
          </a:xfrm>
          <a:prstGeom prst="roundRect">
            <a:avLst>
              <a:gd name="adj" fmla="val 2647"/>
            </a:avLst>
          </a:prstGeom>
          <a:solidFill>
            <a:srgbClr val="F9F8F5"/>
          </a:solidFill>
          <a:ln w="12700">
            <a:solidFill>
              <a:srgbClr val="F9F8F5"/>
            </a:solidFill>
            <a:prstDash val="solid"/>
          </a:ln>
        </p:spPr>
        <p:txBody>
          <a:bodyPr/>
          <a:p/>
        </p:txBody>
      </p:sp>
      <p:sp>
        <p:nvSpPr>
          <p:cNvPr id="9" name="Shape 7"/>
          <p:cNvSpPr/>
          <p:nvPr/>
        </p:nvSpPr>
        <p:spPr>
          <a:xfrm>
            <a:off x="6172200" y="1783080"/>
            <a:ext cx="5394960" cy="73152"/>
          </a:xfrm>
          <a:prstGeom prst="rect">
            <a:avLst/>
          </a:prstGeom>
          <a:solidFill>
            <a:srgbClr val="8A6100"/>
          </a:solidFill>
          <a:ln w="12700">
            <a:solidFill>
              <a:srgbClr val="8A6100"/>
            </a:solidFill>
            <a:prstDash val="solid"/>
          </a:ln>
        </p:spPr>
        <p:txBody>
          <a:bodyPr/>
          <a:p/>
        </p:txBody>
      </p:sp>
      <p:sp>
        <p:nvSpPr>
          <p:cNvPr id="10" name="Text 8"/>
          <p:cNvSpPr/>
          <p:nvPr/>
        </p:nvSpPr>
        <p:spPr>
          <a:xfrm>
            <a:off x="6400800" y="1984248"/>
            <a:ext cx="4937760" cy="685800"/>
          </a:xfrm>
          <a:prstGeom prst="rect">
            <a:avLst/>
          </a:prstGeom>
          <a:noFill/>
          <a:ln/>
        </p:spPr>
        <p:txBody>
          <a:bodyPr wrap="square" lIns="0" tIns="0" rIns="0" bIns="0" rtlCol="0" anchor="t"/>
          <a:lstStyle/>
          <a:p>
            <a:pPr indent="0" marL="0">
              <a:buNone/>
            </a:pPr>
            <a:r>
              <a:rPr lang="en-US" sz="2000" b="1" dirty="0">
                <a:solidFill>
                  <a:srgbClr val="8A6100"/>
                </a:solidFill>
                <a:latin typeface="Palatino Linotype" pitchFamily="34" charset="0"/>
                <a:ea typeface="Palatino Linotype" pitchFamily="34" charset="-122"/>
                <a:cs typeface="Palatino Linotype" pitchFamily="34" charset="-120"/>
              </a:rPr>
              <a:t>Testul Babeș-Papanicolau</a:t>
            </a:r>
            <a:endParaRPr lang="en-US" sz="2000" dirty="0"/>
          </a:p>
        </p:txBody>
      </p:sp>
      <p:sp>
        <p:nvSpPr>
          <p:cNvPr id="11" name="Text 9"/>
          <p:cNvSpPr/>
          <p:nvPr/>
        </p:nvSpPr>
        <p:spPr>
          <a:xfrm>
            <a:off x="6400800" y="2651760"/>
            <a:ext cx="4937760" cy="21031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Caută leziunile la o femeie fără simptome. Boala poate exista, dar nu se vede: prevenție secundară.</a:t>
            </a:r>
            <a:endParaRPr lang="en-US" sz="1800" dirty="0"/>
          </a:p>
        </p:txBody>
      </p:sp>
      <p:sp>
        <p:nvSpPr>
          <p:cNvPr id="12" name="Text 10"/>
          <p:cNvSpPr/>
          <p:nvPr/>
        </p:nvSpPr>
        <p:spPr>
          <a:xfrm>
            <a:off x="594360" y="5166360"/>
            <a:ext cx="10972800" cy="54864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Aceeași boală, două măsuri, două niveluri.</a:t>
            </a:r>
            <a:endParaRPr lang="en-US" sz="2000" dirty="0"/>
          </a:p>
        </p:txBody>
      </p:sp>
      <p:sp>
        <p:nvSpPr>
          <p:cNvPr id="13" name="Text 11"/>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nivelurile prevenției, cursul al doilea (registru A800).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strada_comuna_biertan_common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O comună de deal din Transilvania (ilustrație)</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indent="0" marL="0">
              <a:buNone/>
            </a:pPr>
            <a:r>
              <a:rPr lang="en-US" sz="850" i="1" dirty="0">
                <a:solidFill>
                  <a:srgbClr val="C9CCD8"/>
                </a:solidFill>
                <a:latin typeface="Palatino Linotype" pitchFamily="34" charset="0"/>
                <a:ea typeface="Palatino Linotype" pitchFamily="34" charset="-122"/>
                <a:cs typeface="Palatino Linotype" pitchFamily="34" charset="-120"/>
              </a:rPr>
              <a:t>Biertan, județul Sibiu · Foto: Paul Colin Hennig · CC BY-SA 4.0 · Wikimedia Commons</a:t>
            </a:r>
            <a:endParaRPr lang="en-US" sz="850" dirty="0"/>
          </a:p>
        </p:txBody>
      </p:sp>
      <p:sp>
        <p:nvSpPr>
          <p:cNvPr id="6" name="Text 3"/>
          <p:cNvSpPr/>
          <p:nvPr/>
        </p:nvSpPr>
        <p:spPr>
          <a:xfrm>
            <a:off x="594360" y="347472"/>
            <a:ext cx="576072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CAZUL ȘEDINȚEI</a:t>
            </a:r>
            <a:endParaRPr lang="en-US" sz="1300" dirty="0"/>
          </a:p>
        </p:txBody>
      </p:sp>
      <p:sp>
        <p:nvSpPr>
          <p:cNvPr id="7" name="Text 4"/>
          <p:cNvSpPr/>
          <p:nvPr/>
        </p:nvSpPr>
        <p:spPr>
          <a:xfrm>
            <a:off x="594360" y="731520"/>
            <a:ext cx="5760720" cy="11887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Ioana, asistentă medicală comunitară</a:t>
            </a:r>
            <a:endParaRPr lang="en-US" sz="3000" dirty="0"/>
          </a:p>
        </p:txBody>
      </p:sp>
      <p:sp>
        <p:nvSpPr>
          <p:cNvPr id="8" name="Text 5"/>
          <p:cNvSpPr/>
          <p:nvPr/>
        </p:nvSpPr>
        <p:spPr>
          <a:xfrm>
            <a:off x="594360" y="2103120"/>
            <a:ext cx="5760720" cy="82296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O comună de deal, la patruzeci de kilometri de reședința de județ.</a:t>
            </a:r>
            <a:endParaRPr lang="en-US" sz="1900" dirty="0"/>
          </a:p>
        </p:txBody>
      </p:sp>
      <p:sp>
        <p:nvSpPr>
          <p:cNvPr id="9" name="Text 6"/>
          <p:cNvSpPr/>
          <p:nvPr/>
        </p:nvSpPr>
        <p:spPr>
          <a:xfrm>
            <a:off x="594360" y="2971800"/>
            <a:ext cx="5760720" cy="10972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Lucrează în centrul comunitar al primăriei, împreună cu o mediatoare sanitară și o asistentă socială.</a:t>
            </a:r>
            <a:endParaRPr lang="en-US" sz="1900" dirty="0"/>
          </a:p>
        </p:txBody>
      </p:sp>
      <p:sp>
        <p:nvSpPr>
          <p:cNvPr id="10" name="Shape 7"/>
          <p:cNvSpPr/>
          <p:nvPr/>
        </p:nvSpPr>
        <p:spPr>
          <a:xfrm>
            <a:off x="594360" y="4343400"/>
            <a:ext cx="5760720" cy="1188720"/>
          </a:xfrm>
          <a:prstGeom prst="roundRect">
            <a:avLst>
              <a:gd name="adj" fmla="val 6923"/>
            </a:avLst>
          </a:prstGeom>
          <a:solidFill>
            <a:srgbClr val="ECEAE4"/>
          </a:solidFill>
          <a:ln w="12700">
            <a:solidFill>
              <a:srgbClr val="ECEAE4"/>
            </a:solidFill>
            <a:prstDash val="solid"/>
          </a:ln>
        </p:spPr>
        <p:txBody>
          <a:bodyPr/>
          <a:p/>
        </p:txBody>
      </p:sp>
      <p:sp>
        <p:nvSpPr>
          <p:cNvPr id="11" name="Text 8"/>
          <p:cNvSpPr/>
          <p:nvPr/>
        </p:nvSpPr>
        <p:spPr>
          <a:xfrm>
            <a:off x="822960" y="4343400"/>
            <a:ext cx="5349240" cy="1188720"/>
          </a:xfrm>
          <a:prstGeom prst="rect">
            <a:avLst/>
          </a:prstGeom>
          <a:noFill/>
          <a:ln/>
        </p:spPr>
        <p:txBody>
          <a:bodyPr wrap="square" lIns="0" tIns="0" rIns="0" bIns="0" rtlCol="0" anchor="ctr"/>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Cazul este construit pentru acest curs. Persoanele nu există, dar situațiile sunt frecvente în comunele din România.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AGENDA DE AZI · TREI VIZITE</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CĂTRE SALĂ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îi face mai expuși decât alți pacienți?</a:t>
            </a:r>
            <a:endParaRPr lang="en-US" sz="3000" dirty="0"/>
          </a:p>
        </p:txBody>
      </p:sp>
      <p:sp>
        <p:nvSpPr>
          <p:cNvPr id="6" name="Shape 4"/>
          <p:cNvSpPr/>
          <p:nvPr/>
        </p:nvSpPr>
        <p:spPr>
          <a:xfrm>
            <a:off x="594360" y="1691640"/>
            <a:ext cx="3566160" cy="3611880"/>
          </a:xfrm>
          <a:prstGeom prst="roundRect">
            <a:avLst>
              <a:gd name="adj" fmla="val 2308"/>
            </a:avLst>
          </a:prstGeom>
          <a:solidFill>
            <a:srgbClr val="ECEAE4"/>
          </a:solidFill>
          <a:ln w="12700">
            <a:solidFill>
              <a:srgbClr val="ECEAE4"/>
            </a:solidFill>
            <a:prstDash val="solid"/>
          </a:ln>
        </p:spPr>
        <p:txBody>
          <a:bodyPr/>
          <a:p/>
        </p:txBody>
      </p:sp>
      <p:sp>
        <p:nvSpPr>
          <p:cNvPr id="7" name="Shape 5"/>
          <p:cNvSpPr/>
          <p:nvPr/>
        </p:nvSpPr>
        <p:spPr>
          <a:xfrm>
            <a:off x="1009498" y="1920240"/>
            <a:ext cx="221285" cy="221285"/>
          </a:xfrm>
          <a:prstGeom prst="ellipse">
            <a:avLst/>
          </a:prstGeom>
          <a:solidFill>
            <a:srgbClr val="B02532"/>
          </a:solidFill>
          <a:ln w="12700">
            <a:solidFill>
              <a:srgbClr val="B02532"/>
            </a:solidFill>
            <a:prstDash val="solid"/>
          </a:ln>
        </p:spPr>
        <p:txBody>
          <a:bodyPr/>
          <a:p/>
        </p:txBody>
      </p:sp>
      <p:sp>
        <p:nvSpPr>
          <p:cNvPr id="8" name="Shape 6"/>
          <p:cNvSpPr/>
          <p:nvPr/>
        </p:nvSpPr>
        <p:spPr>
          <a:xfrm>
            <a:off x="868680" y="2171700"/>
            <a:ext cx="502920" cy="578358"/>
          </a:xfrm>
          <a:prstGeom prst="roundRect">
            <a:avLst>
              <a:gd name="adj" fmla="val 30000"/>
            </a:avLst>
          </a:prstGeom>
          <a:solidFill>
            <a:srgbClr val="B02532"/>
          </a:solidFill>
          <a:ln w="12700">
            <a:solidFill>
              <a:srgbClr val="B02532"/>
            </a:solidFill>
            <a:prstDash val="solid"/>
          </a:ln>
        </p:spPr>
        <p:txBody>
          <a:bodyPr/>
          <a:p/>
        </p:txBody>
      </p:sp>
      <p:sp>
        <p:nvSpPr>
          <p:cNvPr id="9" name="Text 7"/>
          <p:cNvSpPr/>
          <p:nvPr/>
        </p:nvSpPr>
        <p:spPr>
          <a:xfrm>
            <a:off x="1554480" y="1965960"/>
            <a:ext cx="2468880" cy="548640"/>
          </a:xfrm>
          <a:prstGeom prst="rect">
            <a:avLst/>
          </a:prstGeom>
          <a:noFill/>
          <a:ln/>
        </p:spPr>
        <p:txBody>
          <a:bodyPr wrap="square" lIns="0" tIns="0" rIns="0" bIns="0" rtlCol="0" anchor="ctr"/>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Doamna Elena</a:t>
            </a:r>
            <a:endParaRPr lang="en-US" sz="1900" dirty="0"/>
          </a:p>
        </p:txBody>
      </p:sp>
      <p:sp>
        <p:nvSpPr>
          <p:cNvPr id="10" name="Text 8"/>
          <p:cNvSpPr/>
          <p:nvPr/>
        </p:nvSpPr>
        <p:spPr>
          <a:xfrm>
            <a:off x="822960" y="2880360"/>
            <a:ext cx="3108960" cy="23317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Șaptezeci și opt de ani, singură. Hipertensiune, diabet, cinci medicamente pe zi.</a:t>
            </a:r>
            <a:endParaRPr lang="en-US" sz="1450" dirty="0"/>
          </a:p>
        </p:txBody>
      </p:sp>
      <p:sp>
        <p:nvSpPr>
          <p:cNvPr id="11" name="Shape 9"/>
          <p:cNvSpPr/>
          <p:nvPr/>
        </p:nvSpPr>
        <p:spPr>
          <a:xfrm>
            <a:off x="4297680" y="1691640"/>
            <a:ext cx="3566160" cy="3611880"/>
          </a:xfrm>
          <a:prstGeom prst="roundRect">
            <a:avLst>
              <a:gd name="adj" fmla="val 2308"/>
            </a:avLst>
          </a:prstGeom>
          <a:solidFill>
            <a:srgbClr val="F9F8F5"/>
          </a:solidFill>
          <a:ln w="12700">
            <a:solidFill>
              <a:srgbClr val="F9F8F5"/>
            </a:solidFill>
            <a:prstDash val="solid"/>
          </a:ln>
        </p:spPr>
        <p:txBody>
          <a:bodyPr/>
          <a:p/>
        </p:txBody>
      </p:sp>
      <p:sp>
        <p:nvSpPr>
          <p:cNvPr id="12" name="Shape 10"/>
          <p:cNvSpPr/>
          <p:nvPr/>
        </p:nvSpPr>
        <p:spPr>
          <a:xfrm>
            <a:off x="4712818" y="1920240"/>
            <a:ext cx="221285" cy="221285"/>
          </a:xfrm>
          <a:prstGeom prst="ellipse">
            <a:avLst/>
          </a:prstGeom>
          <a:solidFill>
            <a:srgbClr val="0E7C6B"/>
          </a:solidFill>
          <a:ln w="12700">
            <a:solidFill>
              <a:srgbClr val="0E7C6B"/>
            </a:solidFill>
            <a:prstDash val="solid"/>
          </a:ln>
        </p:spPr>
        <p:txBody>
          <a:bodyPr/>
          <a:p/>
        </p:txBody>
      </p:sp>
      <p:sp>
        <p:nvSpPr>
          <p:cNvPr id="13" name="Shape 11"/>
          <p:cNvSpPr/>
          <p:nvPr/>
        </p:nvSpPr>
        <p:spPr>
          <a:xfrm>
            <a:off x="4572000" y="2171700"/>
            <a:ext cx="502920" cy="578358"/>
          </a:xfrm>
          <a:prstGeom prst="roundRect">
            <a:avLst>
              <a:gd name="adj" fmla="val 30000"/>
            </a:avLst>
          </a:prstGeom>
          <a:solidFill>
            <a:srgbClr val="0E7C6B"/>
          </a:solidFill>
          <a:ln w="12700">
            <a:solidFill>
              <a:srgbClr val="0E7C6B"/>
            </a:solidFill>
            <a:prstDash val="solid"/>
          </a:ln>
        </p:spPr>
        <p:txBody>
          <a:bodyPr/>
          <a:p/>
        </p:txBody>
      </p:sp>
      <p:sp>
        <p:nvSpPr>
          <p:cNvPr id="14" name="Text 12"/>
          <p:cNvSpPr/>
          <p:nvPr/>
        </p:nvSpPr>
        <p:spPr>
          <a:xfrm>
            <a:off x="5257800" y="1965960"/>
            <a:ext cx="2468880" cy="548640"/>
          </a:xfrm>
          <a:prstGeom prst="rect">
            <a:avLst/>
          </a:prstGeom>
          <a:noFill/>
          <a:ln/>
        </p:spPr>
        <p:txBody>
          <a:bodyPr wrap="square" lIns="0" tIns="0" rIns="0" bIns="0" rtlCol="0" anchor="ctr"/>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Andrei</a:t>
            </a:r>
            <a:endParaRPr lang="en-US" sz="1900" dirty="0"/>
          </a:p>
        </p:txBody>
      </p:sp>
      <p:sp>
        <p:nvSpPr>
          <p:cNvPr id="15" name="Text 13"/>
          <p:cNvSpPr/>
          <p:nvPr/>
        </p:nvSpPr>
        <p:spPr>
          <a:xfrm>
            <a:off x="4526280" y="2880360"/>
            <a:ext cx="3108960" cy="23317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Doi ani, vaccinuri restante. Casă fără apă curentă; neînscris la medicul de familie. Mama lucrează cu ziua, neasigurată.</a:t>
            </a:r>
            <a:endParaRPr lang="en-US" sz="1450" dirty="0"/>
          </a:p>
        </p:txBody>
      </p:sp>
      <p:sp>
        <p:nvSpPr>
          <p:cNvPr id="16" name="Shape 14"/>
          <p:cNvSpPr/>
          <p:nvPr/>
        </p:nvSpPr>
        <p:spPr>
          <a:xfrm>
            <a:off x="8001000" y="1691640"/>
            <a:ext cx="3566160" cy="3611880"/>
          </a:xfrm>
          <a:prstGeom prst="roundRect">
            <a:avLst>
              <a:gd name="adj" fmla="val 2308"/>
            </a:avLst>
          </a:prstGeom>
          <a:solidFill>
            <a:srgbClr val="ECEAE4"/>
          </a:solidFill>
          <a:ln w="12700">
            <a:solidFill>
              <a:srgbClr val="ECEAE4"/>
            </a:solidFill>
            <a:prstDash val="solid"/>
          </a:ln>
        </p:spPr>
        <p:txBody>
          <a:bodyPr/>
          <a:p/>
        </p:txBody>
      </p:sp>
      <p:sp>
        <p:nvSpPr>
          <p:cNvPr id="17" name="Shape 15"/>
          <p:cNvSpPr/>
          <p:nvPr/>
        </p:nvSpPr>
        <p:spPr>
          <a:xfrm>
            <a:off x="8416138" y="1920240"/>
            <a:ext cx="221285" cy="221285"/>
          </a:xfrm>
          <a:prstGeom prst="ellipse">
            <a:avLst/>
          </a:prstGeom>
          <a:solidFill>
            <a:srgbClr val="4A2D8C"/>
          </a:solidFill>
          <a:ln w="12700">
            <a:solidFill>
              <a:srgbClr val="4A2D8C"/>
            </a:solidFill>
            <a:prstDash val="solid"/>
          </a:ln>
        </p:spPr>
        <p:txBody>
          <a:bodyPr/>
          <a:p/>
        </p:txBody>
      </p:sp>
      <p:sp>
        <p:nvSpPr>
          <p:cNvPr id="18" name="Shape 16"/>
          <p:cNvSpPr/>
          <p:nvPr/>
        </p:nvSpPr>
        <p:spPr>
          <a:xfrm>
            <a:off x="8275320" y="2171700"/>
            <a:ext cx="502920" cy="578358"/>
          </a:xfrm>
          <a:prstGeom prst="roundRect">
            <a:avLst>
              <a:gd name="adj" fmla="val 30000"/>
            </a:avLst>
          </a:prstGeom>
          <a:solidFill>
            <a:srgbClr val="4A2D8C"/>
          </a:solidFill>
          <a:ln w="12700">
            <a:solidFill>
              <a:srgbClr val="4A2D8C"/>
            </a:solidFill>
            <a:prstDash val="solid"/>
          </a:ln>
        </p:spPr>
        <p:txBody>
          <a:bodyPr/>
          <a:p/>
        </p:txBody>
      </p:sp>
      <p:sp>
        <p:nvSpPr>
          <p:cNvPr id="19" name="Text 17"/>
          <p:cNvSpPr/>
          <p:nvPr/>
        </p:nvSpPr>
        <p:spPr>
          <a:xfrm>
            <a:off x="8961120" y="1965960"/>
            <a:ext cx="2468880" cy="548640"/>
          </a:xfrm>
          <a:prstGeom prst="rect">
            <a:avLst/>
          </a:prstGeom>
          <a:noFill/>
          <a:ln/>
        </p:spPr>
        <p:txBody>
          <a:bodyPr wrap="square" lIns="0" tIns="0" rIns="0" bIns="0" rtlCol="0" anchor="ctr"/>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Domnul Vasile</a:t>
            </a:r>
            <a:endParaRPr lang="en-US" sz="1900" dirty="0"/>
          </a:p>
        </p:txBody>
      </p:sp>
      <p:sp>
        <p:nvSpPr>
          <p:cNvPr id="20" name="Text 18"/>
          <p:cNvSpPr/>
          <p:nvPr/>
        </p:nvSpPr>
        <p:spPr>
          <a:xfrm>
            <a:off x="8229600" y="2880360"/>
            <a:ext cx="3108960" cy="23317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Cincizeci și doi de ani, scaun cu rotile. Cabinetul are scări; autobuzul trece de două ori pe zi.</a:t>
            </a:r>
            <a:endParaRPr lang="en-US" sz="1450" dirty="0"/>
          </a:p>
        </p:txBody>
      </p:sp>
      <p:sp>
        <p:nvSpPr>
          <p:cNvPr id="21" name="Text 19"/>
          <p:cNvSpPr/>
          <p:nvPr/>
        </p:nvSpPr>
        <p:spPr>
          <a:xfrm>
            <a:off x="594360" y="5486400"/>
            <a:ext cx="10972800" cy="685800"/>
          </a:xfrm>
          <a:prstGeom prst="rect">
            <a:avLst/>
          </a:prstGeom>
          <a:noFill/>
          <a:ln/>
        </p:spPr>
        <p:txBody>
          <a:bodyPr wrap="square" lIns="0" tIns="0" rIns="0" bIns="0" rtlCol="0" anchor="t"/>
          <a:lstStyle/>
          <a:p>
            <a:pPr indent="0" marL="0">
              <a:buNone/>
            </a:pPr>
            <a:r>
              <a:rPr lang="en-US" sz="1650" b="1" dirty="0">
                <a:solidFill>
                  <a:srgbClr val="B02532"/>
                </a:solidFill>
                <a:latin typeface="Palatino Linotype" pitchFamily="34" charset="0"/>
                <a:ea typeface="Palatino Linotype" pitchFamily="34" charset="-122"/>
                <a:cs typeface="Palatino Linotype" pitchFamily="34" charset="-120"/>
              </a:rPr>
              <a:t>Copiii sub 18 ani sunt asigurați prin lege. Ce îi expune ține de viața lor, nu de diagnostic.</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CAZUL · FĂRĂ RĂSPUNS CORECT UNIC</a:t>
            </a:r>
            <a:endParaRPr lang="en-US" sz="1300" dirty="0"/>
          </a:p>
        </p:txBody>
      </p:sp>
      <p:sp>
        <p:nvSpPr>
          <p:cNvPr id="5" name="Text 3"/>
          <p:cNvSpPr/>
          <p:nvPr/>
        </p:nvSpPr>
        <p:spPr>
          <a:xfrm>
            <a:off x="594360" y="868680"/>
            <a:ext cx="10972800" cy="1600200"/>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Dacă Ioana ar putea face astăzi o singură vizită, pe cine ați alege?</a:t>
            </a:r>
            <a:endParaRPr lang="en-US" sz="3200" dirty="0"/>
          </a:p>
        </p:txBody>
      </p:sp>
      <p:sp>
        <p:nvSpPr>
          <p:cNvPr id="6" name="Shape 4"/>
          <p:cNvSpPr/>
          <p:nvPr/>
        </p:nvSpPr>
        <p:spPr>
          <a:xfrm>
            <a:off x="594360" y="2697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2852928"/>
            <a:ext cx="420624" cy="420624"/>
          </a:xfrm>
          <a:prstGeom prst="ellipse">
            <a:avLst/>
          </a:prstGeom>
          <a:solidFill>
            <a:srgbClr val="FFC24B"/>
          </a:solidFill>
          <a:ln/>
        </p:spPr>
        <p:txBody>
          <a:bodyPr/>
          <a:p/>
        </p:txBody>
      </p:sp>
      <p:sp>
        <p:nvSpPr>
          <p:cNvPr id="8" name="Text 6"/>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69748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Doamna Elena: șaptezeci și opt de ani, singură</a:t>
            </a:r>
            <a:endParaRPr lang="en-US" sz="2000" dirty="0"/>
          </a:p>
        </p:txBody>
      </p:sp>
      <p:sp>
        <p:nvSpPr>
          <p:cNvPr id="10" name="Shape 8"/>
          <p:cNvSpPr/>
          <p:nvPr/>
        </p:nvSpPr>
        <p:spPr>
          <a:xfrm>
            <a:off x="594360" y="35661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3721608"/>
            <a:ext cx="420624" cy="420624"/>
          </a:xfrm>
          <a:prstGeom prst="ellipse">
            <a:avLst/>
          </a:prstGeom>
          <a:solidFill>
            <a:srgbClr val="FFC24B"/>
          </a:solidFill>
          <a:ln/>
        </p:spPr>
        <p:txBody>
          <a:bodyPr/>
          <a:p/>
        </p:txBody>
      </p:sp>
      <p:sp>
        <p:nvSpPr>
          <p:cNvPr id="12" name="Text 10"/>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356616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Familia lui Andrei: doi ani, vaccinuri restante</a:t>
            </a:r>
            <a:endParaRPr lang="en-US" sz="2000" dirty="0"/>
          </a:p>
        </p:txBody>
      </p:sp>
      <p:sp>
        <p:nvSpPr>
          <p:cNvPr id="14" name="Shape 12"/>
          <p:cNvSpPr/>
          <p:nvPr/>
        </p:nvSpPr>
        <p:spPr>
          <a:xfrm>
            <a:off x="594360" y="44348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4590288"/>
            <a:ext cx="420624" cy="420624"/>
          </a:xfrm>
          <a:prstGeom prst="ellipse">
            <a:avLst/>
          </a:prstGeom>
          <a:solidFill>
            <a:srgbClr val="FFC24B"/>
          </a:solidFill>
          <a:ln/>
        </p:spPr>
        <p:txBody>
          <a:bodyPr/>
          <a:p/>
        </p:txBody>
      </p:sp>
      <p:sp>
        <p:nvSpPr>
          <p:cNvPr id="16" name="Text 14"/>
          <p:cNvSpPr/>
          <p:nvPr/>
        </p:nvSpPr>
        <p:spPr>
          <a:xfrm>
            <a:off x="868680" y="4590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443484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Domnul Vasile: scaun cu rotile</a:t>
            </a:r>
            <a:endParaRPr lang="en-US" sz="2000" dirty="0"/>
          </a:p>
        </p:txBody>
      </p:sp>
      <p:sp>
        <p:nvSpPr>
          <p:cNvPr id="18" name="Text 16"/>
          <p:cNvSpPr/>
          <p:nvPr/>
        </p:nvSpPr>
        <p:spPr>
          <a:xfrm>
            <a:off x="594360" y="544068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După vot: câte un student din fiecare grup explică alegerea, într-o frază.</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URMĂRIM AZI · CE SE CERE LA EXAMEN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Două părți, aceeași comună</a:t>
            </a:r>
            <a:endParaRPr lang="en-US" sz="3200" dirty="0"/>
          </a:p>
        </p:txBody>
      </p:sp>
      <p:sp>
        <p:nvSpPr>
          <p:cNvPr id="4" name="Shape 2"/>
          <p:cNvSpPr/>
          <p:nvPr/>
        </p:nvSpPr>
        <p:spPr>
          <a:xfrm>
            <a:off x="594360" y="1691640"/>
            <a:ext cx="5394960" cy="2606040"/>
          </a:xfrm>
          <a:prstGeom prst="roundRect">
            <a:avLst>
              <a:gd name="adj" fmla="val 3158"/>
            </a:avLst>
          </a:prstGeom>
          <a:solidFill>
            <a:srgbClr val="ECEAE4"/>
          </a:solidFill>
          <a:ln w="12700">
            <a:solidFill>
              <a:srgbClr val="ECEAE4"/>
            </a:solidFill>
            <a:prstDash val="solid"/>
          </a:ln>
        </p:spPr>
        <p:txBody>
          <a:bodyPr/>
          <a:p/>
        </p:txBody>
      </p:sp>
      <p:sp>
        <p:nvSpPr>
          <p:cNvPr id="5" name="Shape 3"/>
          <p:cNvSpPr/>
          <p:nvPr/>
        </p:nvSpPr>
        <p:spPr>
          <a:xfrm>
            <a:off x="594360" y="1691640"/>
            <a:ext cx="53949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92808"/>
            <a:ext cx="4937760" cy="6858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Partea întâi, circa șaptezeci de minute</a:t>
            </a:r>
            <a:endParaRPr lang="en-US" sz="1800" dirty="0"/>
          </a:p>
        </p:txBody>
      </p:sp>
      <p:sp>
        <p:nvSpPr>
          <p:cNvPr id="7" name="Text 5"/>
          <p:cNvSpPr/>
          <p:nvPr/>
        </p:nvSpPr>
        <p:spPr>
          <a:xfrm>
            <a:off x="822960" y="2560320"/>
            <a:ext cx="4937760" cy="16002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Grupurile vulnerabile, inegalitățile și inechitățile, mediul și munca, programele naționale de sănătate.</a:t>
            </a:r>
            <a:endParaRPr lang="en-US" sz="1650" dirty="0"/>
          </a:p>
        </p:txBody>
      </p:sp>
      <p:sp>
        <p:nvSpPr>
          <p:cNvPr id="8" name="Shape 6"/>
          <p:cNvSpPr/>
          <p:nvPr/>
        </p:nvSpPr>
        <p:spPr>
          <a:xfrm>
            <a:off x="6172200" y="1691640"/>
            <a:ext cx="5394960" cy="2606040"/>
          </a:xfrm>
          <a:prstGeom prst="roundRect">
            <a:avLst>
              <a:gd name="adj" fmla="val 3158"/>
            </a:avLst>
          </a:prstGeom>
          <a:solidFill>
            <a:srgbClr val="F9F8F5"/>
          </a:solidFill>
          <a:ln w="12700">
            <a:solidFill>
              <a:srgbClr val="F9F8F5"/>
            </a:solidFill>
            <a:prstDash val="solid"/>
          </a:ln>
        </p:spPr>
        <p:txBody>
          <a:bodyPr/>
          <a:p/>
        </p:txBody>
      </p:sp>
      <p:sp>
        <p:nvSpPr>
          <p:cNvPr id="9" name="Shape 7"/>
          <p:cNvSpPr/>
          <p:nvPr/>
        </p:nvSpPr>
        <p:spPr>
          <a:xfrm>
            <a:off x="6172200" y="1691640"/>
            <a:ext cx="5394960" cy="73152"/>
          </a:xfrm>
          <a:prstGeom prst="rect">
            <a:avLst/>
          </a:prstGeom>
          <a:solidFill>
            <a:srgbClr val="B02532"/>
          </a:solidFill>
          <a:ln w="12700">
            <a:solidFill>
              <a:srgbClr val="B02532"/>
            </a:solidFill>
            <a:prstDash val="solid"/>
          </a:ln>
        </p:spPr>
        <p:txBody>
          <a:bodyPr/>
          <a:p/>
        </p:txBody>
      </p:sp>
      <p:sp>
        <p:nvSpPr>
          <p:cNvPr id="10" name="Text 8"/>
          <p:cNvSpPr/>
          <p:nvPr/>
        </p:nvSpPr>
        <p:spPr>
          <a:xfrm>
            <a:off x="6400800" y="1892808"/>
            <a:ext cx="4937760" cy="6858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Partea a doua, circa treizeci de minute</a:t>
            </a:r>
            <a:endParaRPr lang="en-US" sz="1800" dirty="0"/>
          </a:p>
        </p:txBody>
      </p:sp>
      <p:sp>
        <p:nvSpPr>
          <p:cNvPr id="11" name="Text 9"/>
          <p:cNvSpPr/>
          <p:nvPr/>
        </p:nvSpPr>
        <p:spPr>
          <a:xfrm>
            <a:off x="6400800" y="2560320"/>
            <a:ext cx="4937760" cy="16002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Funcțiile managementului, teoriile organizaționale, sistemul de sănătate din România și conducerea spitalului.</a:t>
            </a:r>
            <a:endParaRPr lang="en-US" sz="1650" dirty="0"/>
          </a:p>
        </p:txBody>
      </p:sp>
      <p:sp>
        <p:nvSpPr>
          <p:cNvPr id="12" name="Shape 10"/>
          <p:cNvSpPr/>
          <p:nvPr/>
        </p:nvSpPr>
        <p:spPr>
          <a:xfrm>
            <a:off x="594360" y="4526280"/>
            <a:ext cx="10972800" cy="1508760"/>
          </a:xfrm>
          <a:prstGeom prst="roundRect">
            <a:avLst>
              <a:gd name="adj" fmla="val 5455"/>
            </a:avLst>
          </a:prstGeom>
          <a:solidFill>
            <a:srgbClr val="11121A"/>
          </a:solidFill>
          <a:ln w="12700">
            <a:solidFill>
              <a:srgbClr val="11121A"/>
            </a:solidFill>
            <a:prstDash val="solid"/>
          </a:ln>
        </p:spPr>
        <p:txBody>
          <a:bodyPr/>
          <a:p/>
        </p:txBody>
      </p:sp>
      <p:sp>
        <p:nvSpPr>
          <p:cNvPr id="13" name="Text 11"/>
          <p:cNvSpPr/>
          <p:nvPr/>
        </p:nvSpPr>
        <p:spPr>
          <a:xfrm>
            <a:off x="868680" y="4526280"/>
            <a:ext cx="10424160" cy="1508760"/>
          </a:xfrm>
          <a:prstGeom prst="rect">
            <a:avLst/>
          </a:prstGeom>
          <a:noFill/>
          <a:ln/>
        </p:spPr>
        <p:txBody>
          <a:bodyPr wrap="square" lIns="0" tIns="0" rIns="0" bIns="0" rtlCol="0" anchor="ctr"/>
          <a:lstStyle/>
          <a:p>
            <a:pPr indent="0" marL="0">
              <a:buNone/>
            </a:pPr>
            <a:r>
              <a:rPr lang="en-US" sz="1750" b="1" dirty="0">
                <a:solidFill>
                  <a:srgbClr val="FFC24B"/>
                </a:solidFill>
                <a:latin typeface="Palatino Linotype" pitchFamily="34" charset="0"/>
                <a:ea typeface="Palatino Linotype" pitchFamily="34" charset="-122"/>
                <a:cs typeface="Palatino Linotype" pitchFamily="34" charset="-120"/>
              </a:rPr>
              <a:t>La examen: definițiile, distincțiile și structurile. Cifrele nu se cer pe de rost; când apar, întrebarea dă indicatorul, anul și sursa.</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594360" y="310896"/>
            <a:ext cx="3291840" cy="329184"/>
          </a:xfrm>
          <a:prstGeom prst="roundRect">
            <a:avLst>
              <a:gd name="adj" fmla="val 50000"/>
            </a:avLst>
          </a:prstGeom>
          <a:solidFill>
            <a:srgbClr val="0E7C6B"/>
          </a:solidFill>
          <a:ln w="12700">
            <a:solidFill>
              <a:srgbClr val="0E7C6B"/>
            </a:solidFill>
            <a:prstDash val="solid"/>
          </a:ln>
        </p:spPr>
        <p:txBody>
          <a:bodyPr/>
          <a:p/>
        </p:txBody>
      </p:sp>
      <p:sp>
        <p:nvSpPr>
          <p:cNvPr id="3" name="Text 1"/>
          <p:cNvSpPr/>
          <p:nvPr/>
        </p:nvSpPr>
        <p:spPr>
          <a:xfrm>
            <a:off x="594360" y="310896"/>
            <a:ext cx="32918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TERMENUL NOU 1 DIN 3</a:t>
            </a:r>
            <a:endParaRPr lang="en-US" sz="1300" dirty="0"/>
          </a:p>
        </p:txBody>
      </p:sp>
      <p:sp>
        <p:nvSpPr>
          <p:cNvPr id="4" name="Text 2"/>
          <p:cNvSpPr/>
          <p:nvPr/>
        </p:nvSpPr>
        <p:spPr>
          <a:xfrm>
            <a:off x="4114800" y="347472"/>
            <a:ext cx="749808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ASISTENȚEI SOCIALE NR. 292/2011, ART. 6 LIT. P)</a:t>
            </a:r>
            <a:endParaRPr lang="en-US" sz="1300" dirty="0"/>
          </a:p>
        </p:txBody>
      </p:sp>
      <p:sp>
        <p:nvSpPr>
          <p:cNvPr id="5" name="Text 3"/>
          <p:cNvSpPr/>
          <p:nvPr/>
        </p:nvSpPr>
        <p:spPr>
          <a:xfrm>
            <a:off x="594360" y="777240"/>
            <a:ext cx="10972800" cy="7315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Grupul vulnerabil</a:t>
            </a:r>
            <a:endParaRPr lang="en-US" sz="3200" dirty="0"/>
          </a:p>
        </p:txBody>
      </p:sp>
      <p:sp>
        <p:nvSpPr>
          <p:cNvPr id="6" name="Shape 4"/>
          <p:cNvSpPr/>
          <p:nvPr/>
        </p:nvSpPr>
        <p:spPr>
          <a:xfrm>
            <a:off x="594360" y="1645920"/>
            <a:ext cx="10972800" cy="2148840"/>
          </a:xfrm>
          <a:prstGeom prst="roundRect">
            <a:avLst>
              <a:gd name="adj" fmla="val 3830"/>
            </a:avLst>
          </a:prstGeom>
          <a:solidFill>
            <a:srgbClr val="FFFFFF"/>
          </a:solidFill>
          <a:ln w="12700">
            <a:solidFill>
              <a:srgbClr val="FFFFFF"/>
            </a:solidFill>
            <a:prstDash val="solid"/>
          </a:ln>
        </p:spPr>
        <p:txBody>
          <a:bodyPr/>
          <a:p/>
        </p:txBody>
      </p:sp>
      <p:sp>
        <p:nvSpPr>
          <p:cNvPr id="7" name="Shape 5"/>
          <p:cNvSpPr/>
          <p:nvPr/>
        </p:nvSpPr>
        <p:spPr>
          <a:xfrm>
            <a:off x="594360" y="1645920"/>
            <a:ext cx="82296" cy="2148840"/>
          </a:xfrm>
          <a:prstGeom prst="rect">
            <a:avLst/>
          </a:prstGeom>
          <a:solidFill>
            <a:srgbClr val="0E7C6B"/>
          </a:solidFill>
          <a:ln w="12700">
            <a:solidFill>
              <a:srgbClr val="0E7C6B"/>
            </a:solidFill>
            <a:prstDash val="solid"/>
          </a:ln>
        </p:spPr>
        <p:txBody>
          <a:bodyPr/>
          <a:p/>
        </p:txBody>
      </p:sp>
      <p:sp>
        <p:nvSpPr>
          <p:cNvPr id="8" name="Text 6"/>
          <p:cNvSpPr/>
          <p:nvPr/>
        </p:nvSpPr>
        <p:spPr>
          <a:xfrm>
            <a:off x="914400" y="1645920"/>
            <a:ext cx="10424160" cy="2148840"/>
          </a:xfrm>
          <a:prstGeom prst="rect">
            <a:avLst/>
          </a:prstGeom>
          <a:noFill/>
          <a:ln/>
        </p:spPr>
        <p:txBody>
          <a:bodyPr wrap="square" lIns="0" tIns="0" rIns="0" bIns="0" rtlCol="0" anchor="ctr"/>
          <a:lstStyle/>
          <a:p>
            <a:pPr indent="0" marL="0">
              <a:buNone/>
            </a:pPr>
            <a:r>
              <a:rPr lang="en-US" sz="1800" i="1" dirty="0">
                <a:solidFill>
                  <a:srgbClr val="11121A"/>
                </a:solidFill>
                <a:latin typeface="Palatino Linotype" pitchFamily="34" charset="0"/>
                <a:ea typeface="Palatino Linotype" pitchFamily="34" charset="-122"/>
                <a:cs typeface="Palatino Linotype" pitchFamily="34" charset="-120"/>
              </a:rPr>
              <a:t>„Persoane sau familii care sunt în risc de a-și pierde capacitatea de satisfacere a nevoilor zilnice de trai din cauza unor situații de boală, dizabilitate, sărăcie, dependență de droguri sau de alcool ori a altor situații care conduc la vulnerabilitate economică și socială”</a:t>
            </a:r>
            <a:endParaRPr lang="en-US" sz="1800" dirty="0"/>
          </a:p>
        </p:txBody>
      </p:sp>
      <p:sp>
        <p:nvSpPr>
          <p:cNvPr id="9" name="Shape 7"/>
          <p:cNvSpPr/>
          <p:nvPr/>
        </p:nvSpPr>
        <p:spPr>
          <a:xfrm>
            <a:off x="594360" y="4023360"/>
            <a:ext cx="5394960" cy="1600200"/>
          </a:xfrm>
          <a:prstGeom prst="roundRect">
            <a:avLst>
              <a:gd name="adj" fmla="val 5143"/>
            </a:avLst>
          </a:prstGeom>
          <a:solidFill>
            <a:srgbClr val="ECEAE4"/>
          </a:solidFill>
          <a:ln w="12700">
            <a:solidFill>
              <a:srgbClr val="ECEAE4"/>
            </a:solidFill>
            <a:prstDash val="solid"/>
          </a:ln>
        </p:spPr>
        <p:txBody>
          <a:bodyPr/>
          <a:p/>
        </p:txBody>
      </p:sp>
      <p:sp>
        <p:nvSpPr>
          <p:cNvPr id="10" name="Shape 8"/>
          <p:cNvSpPr/>
          <p:nvPr/>
        </p:nvSpPr>
        <p:spPr>
          <a:xfrm>
            <a:off x="594360" y="4023360"/>
            <a:ext cx="5394960" cy="73152"/>
          </a:xfrm>
          <a:prstGeom prst="rect">
            <a:avLst/>
          </a:prstGeom>
          <a:solidFill>
            <a:srgbClr val="0E7C6B"/>
          </a:solidFill>
          <a:ln w="12700">
            <a:solidFill>
              <a:srgbClr val="0E7C6B"/>
            </a:solidFill>
            <a:prstDash val="solid"/>
          </a:ln>
        </p:spPr>
        <p:txBody>
          <a:bodyPr/>
          <a:p/>
        </p:txBody>
      </p:sp>
      <p:sp>
        <p:nvSpPr>
          <p:cNvPr id="11" name="Text 9"/>
          <p:cNvSpPr/>
          <p:nvPr/>
        </p:nvSpPr>
        <p:spPr>
          <a:xfrm>
            <a:off x="822960" y="4224528"/>
            <a:ext cx="493776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Riscul</a:t>
            </a:r>
            <a:endParaRPr lang="en-US" sz="1700" dirty="0"/>
          </a:p>
        </p:txBody>
      </p:sp>
      <p:sp>
        <p:nvSpPr>
          <p:cNvPr id="12" name="Text 10"/>
          <p:cNvSpPr/>
          <p:nvPr/>
        </p:nvSpPr>
        <p:spPr>
          <a:xfrm>
            <a:off x="822960" y="4892040"/>
            <a:ext cx="4937760" cy="5943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Vulnerabil înainte ca nevoile să rămână nesatisfăcute.</a:t>
            </a:r>
            <a:endParaRPr lang="en-US" sz="1600" dirty="0"/>
          </a:p>
        </p:txBody>
      </p:sp>
      <p:sp>
        <p:nvSpPr>
          <p:cNvPr id="13" name="Shape 11"/>
          <p:cNvSpPr/>
          <p:nvPr/>
        </p:nvSpPr>
        <p:spPr>
          <a:xfrm>
            <a:off x="6172200" y="4023360"/>
            <a:ext cx="5394960" cy="1600200"/>
          </a:xfrm>
          <a:prstGeom prst="roundRect">
            <a:avLst>
              <a:gd name="adj" fmla="val 5143"/>
            </a:avLst>
          </a:prstGeom>
          <a:solidFill>
            <a:srgbClr val="F9F8F5"/>
          </a:solidFill>
          <a:ln w="12700">
            <a:solidFill>
              <a:srgbClr val="F9F8F5"/>
            </a:solidFill>
            <a:prstDash val="solid"/>
          </a:ln>
        </p:spPr>
        <p:txBody>
          <a:bodyPr/>
          <a:p/>
        </p:txBody>
      </p:sp>
      <p:sp>
        <p:nvSpPr>
          <p:cNvPr id="14" name="Shape 12"/>
          <p:cNvSpPr/>
          <p:nvPr/>
        </p:nvSpPr>
        <p:spPr>
          <a:xfrm>
            <a:off x="6172200" y="4023360"/>
            <a:ext cx="5394960" cy="73152"/>
          </a:xfrm>
          <a:prstGeom prst="rect">
            <a:avLst/>
          </a:prstGeom>
          <a:solidFill>
            <a:srgbClr val="B02532"/>
          </a:solidFill>
          <a:ln w="12700">
            <a:solidFill>
              <a:srgbClr val="B02532"/>
            </a:solidFill>
            <a:prstDash val="solid"/>
          </a:ln>
        </p:spPr>
        <p:txBody>
          <a:bodyPr/>
          <a:p/>
        </p:txBody>
      </p:sp>
      <p:sp>
        <p:nvSpPr>
          <p:cNvPr id="15" name="Text 13"/>
          <p:cNvSpPr/>
          <p:nvPr/>
        </p:nvSpPr>
        <p:spPr>
          <a:xfrm>
            <a:off x="6400800" y="4224528"/>
            <a:ext cx="493776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Cumulul</a:t>
            </a:r>
            <a:endParaRPr lang="en-US" sz="1700" dirty="0"/>
          </a:p>
        </p:txBody>
      </p:sp>
      <p:sp>
        <p:nvSpPr>
          <p:cNvPr id="16" name="Text 14"/>
          <p:cNvSpPr/>
          <p:nvPr/>
        </p:nvSpPr>
        <p:spPr>
          <a:xfrm>
            <a:off x="6400800" y="4892040"/>
            <a:ext cx="4937760" cy="5943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Boala și dizabilitatea, în aceeași listă cu sărăcia și dependența.</a:t>
            </a:r>
            <a:endParaRPr lang="en-US" sz="1600" dirty="0"/>
          </a:p>
        </p:txBody>
      </p:sp>
      <p:sp>
        <p:nvSpPr>
          <p:cNvPr id="17" name="Text 15"/>
          <p:cNvSpPr/>
          <p:nvPr/>
        </p:nvSpPr>
        <p:spPr>
          <a:xfrm>
            <a:off x="594360" y="580644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engl. vulnerable group · fr. groupe vulnérable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FLASKERUD ȘI WINSLOW, DUPĂ MORANTE-GARCÍA ȘI COLAB.</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APLICAȚI PE CELE TREI VIZITE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Resurse, risc, rezultate</a:t>
            </a:r>
            <a:endParaRPr lang="en-US" sz="3200" dirty="0"/>
          </a:p>
        </p:txBody>
      </p:sp>
      <p:sp>
        <p:nvSpPr>
          <p:cNvPr id="6" name="Shape 4"/>
          <p:cNvSpPr/>
          <p:nvPr/>
        </p:nvSpPr>
        <p:spPr>
          <a:xfrm>
            <a:off x="594360" y="1691640"/>
            <a:ext cx="3383280" cy="2377440"/>
          </a:xfrm>
          <a:prstGeom prst="roundRect">
            <a:avLst>
              <a:gd name="adj" fmla="val 3462"/>
            </a:avLst>
          </a:prstGeom>
          <a:solidFill>
            <a:srgbClr val="ECEAE4"/>
          </a:solidFill>
          <a:ln w="12700">
            <a:solidFill>
              <a:srgbClr val="ECEAE4"/>
            </a:solidFill>
            <a:prstDash val="solid"/>
          </a:ln>
        </p:spPr>
        <p:txBody>
          <a:bodyPr/>
          <a:p/>
        </p:txBody>
      </p:sp>
      <p:sp>
        <p:nvSpPr>
          <p:cNvPr id="7" name="Shape 5"/>
          <p:cNvSpPr/>
          <p:nvPr/>
        </p:nvSpPr>
        <p:spPr>
          <a:xfrm>
            <a:off x="594360" y="1691640"/>
            <a:ext cx="3383280" cy="73152"/>
          </a:xfrm>
          <a:prstGeom prst="rect">
            <a:avLst/>
          </a:prstGeom>
          <a:solidFill>
            <a:srgbClr val="0E7C6B"/>
          </a:solidFill>
          <a:ln w="12700">
            <a:solidFill>
              <a:srgbClr val="0E7C6B"/>
            </a:solidFill>
            <a:prstDash val="solid"/>
          </a:ln>
        </p:spPr>
        <p:txBody>
          <a:bodyPr/>
          <a:p/>
        </p:txBody>
      </p:sp>
      <p:sp>
        <p:nvSpPr>
          <p:cNvPr id="8" name="Text 6"/>
          <p:cNvSpPr/>
          <p:nvPr/>
        </p:nvSpPr>
        <p:spPr>
          <a:xfrm>
            <a:off x="822960" y="1892808"/>
            <a:ext cx="2926080" cy="6858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Resursele</a:t>
            </a:r>
            <a:endParaRPr lang="en-US" sz="1900" dirty="0"/>
          </a:p>
        </p:txBody>
      </p:sp>
      <p:sp>
        <p:nvSpPr>
          <p:cNvPr id="9" name="Text 7"/>
          <p:cNvSpPr/>
          <p:nvPr/>
        </p:nvSpPr>
        <p:spPr>
          <a:xfrm>
            <a:off x="822960" y="2560320"/>
            <a:ext cx="2926080" cy="13716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venitul și munca, educația, locuința și apa, sprijinul familiei, accesul la îngrijire</a:t>
            </a:r>
            <a:endParaRPr lang="en-US" sz="1550" dirty="0"/>
          </a:p>
        </p:txBody>
      </p:sp>
      <p:sp>
        <p:nvSpPr>
          <p:cNvPr id="10" name="Shape 8"/>
          <p:cNvSpPr/>
          <p:nvPr/>
        </p:nvSpPr>
        <p:spPr>
          <a:xfrm>
            <a:off x="4023360" y="2697480"/>
            <a:ext cx="365760" cy="310896"/>
          </a:xfrm>
          <a:prstGeom prst="rightArrow">
            <a:avLst/>
          </a:prstGeom>
          <a:solidFill>
            <a:srgbClr val="C9C6BE"/>
          </a:solidFill>
          <a:ln w="12700">
            <a:solidFill>
              <a:srgbClr val="C9C6BE"/>
            </a:solidFill>
            <a:prstDash val="solid"/>
          </a:ln>
        </p:spPr>
        <p:txBody>
          <a:bodyPr/>
          <a:p/>
        </p:txBody>
      </p:sp>
      <p:sp>
        <p:nvSpPr>
          <p:cNvPr id="11" name="Shape 9"/>
          <p:cNvSpPr/>
          <p:nvPr/>
        </p:nvSpPr>
        <p:spPr>
          <a:xfrm>
            <a:off x="4434840" y="1691640"/>
            <a:ext cx="3383280" cy="2377440"/>
          </a:xfrm>
          <a:prstGeom prst="roundRect">
            <a:avLst>
              <a:gd name="adj" fmla="val 3462"/>
            </a:avLst>
          </a:prstGeom>
          <a:solidFill>
            <a:srgbClr val="F9F8F5"/>
          </a:solidFill>
          <a:ln w="12700">
            <a:solidFill>
              <a:srgbClr val="F9F8F5"/>
            </a:solidFill>
            <a:prstDash val="solid"/>
          </a:ln>
        </p:spPr>
        <p:txBody>
          <a:bodyPr/>
          <a:p/>
        </p:txBody>
      </p:sp>
      <p:sp>
        <p:nvSpPr>
          <p:cNvPr id="12" name="Shape 10"/>
          <p:cNvSpPr/>
          <p:nvPr/>
        </p:nvSpPr>
        <p:spPr>
          <a:xfrm>
            <a:off x="4434840" y="1691640"/>
            <a:ext cx="3383280" cy="73152"/>
          </a:xfrm>
          <a:prstGeom prst="rect">
            <a:avLst/>
          </a:prstGeom>
          <a:solidFill>
            <a:srgbClr val="8A6100"/>
          </a:solidFill>
          <a:ln w="12700">
            <a:solidFill>
              <a:srgbClr val="8A6100"/>
            </a:solidFill>
            <a:prstDash val="solid"/>
          </a:ln>
        </p:spPr>
        <p:txBody>
          <a:bodyPr/>
          <a:p/>
        </p:txBody>
      </p:sp>
      <p:sp>
        <p:nvSpPr>
          <p:cNvPr id="13" name="Text 11"/>
          <p:cNvSpPr/>
          <p:nvPr/>
        </p:nvSpPr>
        <p:spPr>
          <a:xfrm>
            <a:off x="4663440" y="1892808"/>
            <a:ext cx="2926080" cy="68580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Riscul relativ</a:t>
            </a:r>
            <a:endParaRPr lang="en-US" sz="1900" dirty="0"/>
          </a:p>
        </p:txBody>
      </p:sp>
      <p:sp>
        <p:nvSpPr>
          <p:cNvPr id="14" name="Text 12"/>
          <p:cNvSpPr/>
          <p:nvPr/>
        </p:nvSpPr>
        <p:spPr>
          <a:xfrm>
            <a:off x="4663440" y="2560320"/>
            <a:ext cx="2926080" cy="13716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expunerile, comportamentele de risc, excluziunea și discriminarea</a:t>
            </a:r>
            <a:endParaRPr lang="en-US" sz="1550" dirty="0"/>
          </a:p>
        </p:txBody>
      </p:sp>
      <p:sp>
        <p:nvSpPr>
          <p:cNvPr id="15" name="Shape 13"/>
          <p:cNvSpPr/>
          <p:nvPr/>
        </p:nvSpPr>
        <p:spPr>
          <a:xfrm>
            <a:off x="7863840" y="2697480"/>
            <a:ext cx="365760" cy="310896"/>
          </a:xfrm>
          <a:prstGeom prst="rightArrow">
            <a:avLst/>
          </a:prstGeom>
          <a:solidFill>
            <a:srgbClr val="C9C6BE"/>
          </a:solidFill>
          <a:ln w="12700">
            <a:solidFill>
              <a:srgbClr val="C9C6BE"/>
            </a:solidFill>
            <a:prstDash val="solid"/>
          </a:ln>
        </p:spPr>
        <p:txBody>
          <a:bodyPr/>
          <a:p/>
        </p:txBody>
      </p:sp>
      <p:sp>
        <p:nvSpPr>
          <p:cNvPr id="16" name="Shape 14"/>
          <p:cNvSpPr/>
          <p:nvPr/>
        </p:nvSpPr>
        <p:spPr>
          <a:xfrm>
            <a:off x="8275320" y="1691640"/>
            <a:ext cx="3383280" cy="2377440"/>
          </a:xfrm>
          <a:prstGeom prst="roundRect">
            <a:avLst>
              <a:gd name="adj" fmla="val 3462"/>
            </a:avLst>
          </a:prstGeom>
          <a:solidFill>
            <a:srgbClr val="ECEAE4"/>
          </a:solidFill>
          <a:ln w="12700">
            <a:solidFill>
              <a:srgbClr val="ECEAE4"/>
            </a:solidFill>
            <a:prstDash val="solid"/>
          </a:ln>
        </p:spPr>
        <p:txBody>
          <a:bodyPr/>
          <a:p/>
        </p:txBody>
      </p:sp>
      <p:sp>
        <p:nvSpPr>
          <p:cNvPr id="17" name="Shape 15"/>
          <p:cNvSpPr/>
          <p:nvPr/>
        </p:nvSpPr>
        <p:spPr>
          <a:xfrm>
            <a:off x="8275320" y="1691640"/>
            <a:ext cx="3383280" cy="73152"/>
          </a:xfrm>
          <a:prstGeom prst="rect">
            <a:avLst/>
          </a:prstGeom>
          <a:solidFill>
            <a:srgbClr val="B02532"/>
          </a:solidFill>
          <a:ln w="12700">
            <a:solidFill>
              <a:srgbClr val="B02532"/>
            </a:solidFill>
            <a:prstDash val="solid"/>
          </a:ln>
        </p:spPr>
        <p:txBody>
          <a:bodyPr/>
          <a:p/>
        </p:txBody>
      </p:sp>
      <p:sp>
        <p:nvSpPr>
          <p:cNvPr id="18" name="Text 16"/>
          <p:cNvSpPr/>
          <p:nvPr/>
        </p:nvSpPr>
        <p:spPr>
          <a:xfrm>
            <a:off x="8503920" y="1892808"/>
            <a:ext cx="2926080" cy="6858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Starea de sănătate</a:t>
            </a:r>
            <a:endParaRPr lang="en-US" sz="1900" dirty="0"/>
          </a:p>
        </p:txBody>
      </p:sp>
      <p:sp>
        <p:nvSpPr>
          <p:cNvPr id="19" name="Text 17"/>
          <p:cNvSpPr/>
          <p:nvPr/>
        </p:nvSpPr>
        <p:spPr>
          <a:xfrm>
            <a:off x="8503920" y="2560320"/>
            <a:ext cx="2926080" cy="13716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morbiditatea și mortalitatea; dizabilitatea, calitatea vieții</a:t>
            </a:r>
            <a:endParaRPr lang="en-US" sz="1550" dirty="0"/>
          </a:p>
        </p:txBody>
      </p:sp>
      <p:sp>
        <p:nvSpPr>
          <p:cNvPr id="20" name="Text 18"/>
          <p:cNvSpPr/>
          <p:nvPr/>
        </p:nvSpPr>
        <p:spPr>
          <a:xfrm>
            <a:off x="594360" y="4160520"/>
            <a:ext cx="10972800" cy="411480"/>
          </a:xfrm>
          <a:prstGeom prst="rect">
            <a:avLst/>
          </a:prstGeom>
          <a:noFill/>
          <a:ln/>
        </p:spPr>
        <p:txBody>
          <a:bodyPr wrap="square" lIns="0" tIns="0" rIns="0" bIns="0" rtlCol="0" anchor="t"/>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Cercul se închide: rezultatele slabe reduc, la rândul lor, resursele</a:t>
            </a:r>
            <a:endParaRPr lang="en-US" sz="1600" dirty="0"/>
          </a:p>
        </p:txBody>
      </p:sp>
      <p:sp>
        <p:nvSpPr>
          <p:cNvPr id="21" name="Text 19"/>
          <p:cNvSpPr/>
          <p:nvPr/>
        </p:nvSpPr>
        <p:spPr>
          <a:xfrm>
            <a:off x="594360" y="4754880"/>
            <a:ext cx="10972800" cy="822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model folosit frecvent în literatura de nursing: intervenția poate porni din oricare punct.</a:t>
            </a:r>
            <a:endParaRPr lang="en-US" sz="1700" dirty="0"/>
          </a:p>
        </p:txBody>
      </p:sp>
      <p:sp>
        <p:nvSpPr>
          <p:cNvPr id="22" name="Text 20"/>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Morante-García și colab., 2022 (registru A924); detaliile riscului și ale stării de sănătate: precizare didactică.</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O AFIRMAȚIE DE VERIFICAT</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CĂTRE SALĂ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Ați crede că „nu au grijă de ei”?</a:t>
            </a:r>
            <a:endParaRPr lang="en-US" sz="3200" dirty="0"/>
          </a:p>
        </p:txBody>
      </p:sp>
      <p:sp>
        <p:nvSpPr>
          <p:cNvPr id="6" name="Shape 4"/>
          <p:cNvSpPr/>
          <p:nvPr/>
        </p:nvSpPr>
        <p:spPr>
          <a:xfrm>
            <a:off x="594360" y="1783080"/>
            <a:ext cx="5669280" cy="1554480"/>
          </a:xfrm>
          <a:prstGeom prst="roundRect">
            <a:avLst>
              <a:gd name="adj" fmla="val 10588"/>
            </a:avLst>
          </a:prstGeom>
          <a:solidFill>
            <a:srgbClr val="272A38"/>
          </a:solidFill>
          <a:ln w="12700">
            <a:solidFill>
              <a:srgbClr val="272A38"/>
            </a:solidFill>
            <a:prstDash val="solid"/>
          </a:ln>
        </p:spPr>
        <p:txBody>
          <a:bodyPr/>
          <a:p/>
        </p:txBody>
      </p:sp>
      <p:sp>
        <p:nvSpPr>
          <p:cNvPr id="7" name="Shape 5"/>
          <p:cNvSpPr/>
          <p:nvPr/>
        </p:nvSpPr>
        <p:spPr>
          <a:xfrm flipV="1">
            <a:off x="1005840" y="3319272"/>
            <a:ext cx="457200" cy="292608"/>
          </a:xfrm>
          <a:prstGeom prst="triangle">
            <a:avLst/>
          </a:prstGeom>
          <a:solidFill>
            <a:srgbClr val="272A38"/>
          </a:solidFill>
          <a:ln w="12700">
            <a:solidFill>
              <a:srgbClr val="272A38"/>
            </a:solidFill>
            <a:prstDash val="solid"/>
          </a:ln>
        </p:spPr>
        <p:txBody>
          <a:bodyPr/>
          <a:p/>
        </p:txBody>
      </p:sp>
      <p:sp>
        <p:nvSpPr>
          <p:cNvPr id="8" name="Text 6"/>
          <p:cNvSpPr/>
          <p:nvPr/>
        </p:nvSpPr>
        <p:spPr>
          <a:xfrm>
            <a:off x="868680" y="1783080"/>
            <a:ext cx="5212080" cy="15544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„Persoanele vulnerabile sunt cele care nu au grijă de sănătatea lor.”</a:t>
            </a:r>
            <a:endParaRPr lang="en-US" sz="1900" dirty="0"/>
          </a:p>
        </p:txBody>
      </p:sp>
      <p:sp>
        <p:nvSpPr>
          <p:cNvPr id="9" name="Shape 7"/>
          <p:cNvSpPr/>
          <p:nvPr/>
        </p:nvSpPr>
        <p:spPr>
          <a:xfrm>
            <a:off x="6583680" y="1783080"/>
            <a:ext cx="4983480" cy="1417320"/>
          </a:xfrm>
          <a:prstGeom prst="roundRect">
            <a:avLst>
              <a:gd name="adj" fmla="val 5806"/>
            </a:avLst>
          </a:prstGeom>
          <a:solidFill>
            <a:srgbClr val="1D1F2B"/>
          </a:solidFill>
          <a:ln w="12700">
            <a:solidFill>
              <a:srgbClr val="1D1F2B"/>
            </a:solidFill>
            <a:prstDash val="solid"/>
          </a:ln>
        </p:spPr>
        <p:txBody>
          <a:bodyPr/>
          <a:p/>
        </p:txBody>
      </p:sp>
      <p:sp>
        <p:nvSpPr>
          <p:cNvPr id="10" name="Text 8"/>
          <p:cNvSpPr/>
          <p:nvPr/>
        </p:nvSpPr>
        <p:spPr>
          <a:xfrm>
            <a:off x="6812280" y="1920240"/>
            <a:ext cx="4572000" cy="3657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Ce spune legea</a:t>
            </a:r>
            <a:endParaRPr lang="en-US" sz="1500" dirty="0"/>
          </a:p>
        </p:txBody>
      </p:sp>
      <p:sp>
        <p:nvSpPr>
          <p:cNvPr id="11" name="Text 9"/>
          <p:cNvSpPr/>
          <p:nvPr/>
        </p:nvSpPr>
        <p:spPr>
          <a:xfrm>
            <a:off x="6812280" y="2286000"/>
            <a:ext cx="4572000" cy="8686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Pe primul plan stau situații pe care persoana nu le alege: boala, dizabilitatea, sărăcia.</a:t>
            </a:r>
            <a:endParaRPr lang="en-US" sz="1500" dirty="0"/>
          </a:p>
        </p:txBody>
      </p:sp>
      <p:sp>
        <p:nvSpPr>
          <p:cNvPr id="12" name="Shape 10"/>
          <p:cNvSpPr/>
          <p:nvPr/>
        </p:nvSpPr>
        <p:spPr>
          <a:xfrm>
            <a:off x="6583680" y="3383280"/>
            <a:ext cx="4983480" cy="1417320"/>
          </a:xfrm>
          <a:prstGeom prst="roundRect">
            <a:avLst>
              <a:gd name="adj" fmla="val 5806"/>
            </a:avLst>
          </a:prstGeom>
          <a:solidFill>
            <a:srgbClr val="1D1F2B"/>
          </a:solidFill>
          <a:ln w="12700">
            <a:solidFill>
              <a:srgbClr val="1D1F2B"/>
            </a:solidFill>
            <a:prstDash val="solid"/>
          </a:ln>
        </p:spPr>
        <p:txBody>
          <a:bodyPr/>
          <a:p/>
        </p:txBody>
      </p:sp>
      <p:sp>
        <p:nvSpPr>
          <p:cNvPr id="13" name="Text 11"/>
          <p:cNvSpPr/>
          <p:nvPr/>
        </p:nvSpPr>
        <p:spPr>
          <a:xfrm>
            <a:off x="6812280" y="3520440"/>
            <a:ext cx="4572000" cy="3657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Ce arată datele</a:t>
            </a:r>
            <a:endParaRPr lang="en-US" sz="1500" dirty="0"/>
          </a:p>
        </p:txBody>
      </p:sp>
      <p:sp>
        <p:nvSpPr>
          <p:cNvPr id="14" name="Text 12"/>
          <p:cNvSpPr/>
          <p:nvPr/>
        </p:nvSpPr>
        <p:spPr>
          <a:xfrm>
            <a:off x="6812280" y="3886200"/>
            <a:ext cx="4572000" cy="8686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Diferențele de stil de viață dintre grupuri sunt modelate, în mare măsură, de factori structurali.</a:t>
            </a:r>
            <a:endParaRPr lang="en-US" sz="1500" dirty="0"/>
          </a:p>
        </p:txBody>
      </p:sp>
      <p:sp>
        <p:nvSpPr>
          <p:cNvPr id="15" name="Shape 13"/>
          <p:cNvSpPr/>
          <p:nvPr/>
        </p:nvSpPr>
        <p:spPr>
          <a:xfrm>
            <a:off x="594360" y="5166360"/>
            <a:ext cx="10972800" cy="914400"/>
          </a:xfrm>
          <a:prstGeom prst="roundRect">
            <a:avLst>
              <a:gd name="adj" fmla="val 9000"/>
            </a:avLst>
          </a:prstGeom>
          <a:solidFill>
            <a:srgbClr val="272A38"/>
          </a:solidFill>
          <a:ln w="12700">
            <a:solidFill>
              <a:srgbClr val="272A38"/>
            </a:solidFill>
            <a:prstDash val="solid"/>
          </a:ln>
        </p:spPr>
        <p:txBody>
          <a:bodyPr/>
          <a:p/>
        </p:txBody>
      </p:sp>
      <p:sp>
        <p:nvSpPr>
          <p:cNvPr id="16" name="Text 14"/>
          <p:cNvSpPr/>
          <p:nvPr/>
        </p:nvSpPr>
        <p:spPr>
          <a:xfrm>
            <a:off x="868680" y="5166360"/>
            <a:ext cx="10424160" cy="91440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Comportamentul contează, dar se explică prin resursele și condițiile de viață.</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EUROSTAT · RISCUL DE SĂRĂCIE SAU EXCLUZIUNE SOCIALĂ · 2025 · %</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CE VEDEȚI?</a:t>
            </a:r>
            <a:endParaRPr lang="en-US" sz="1300" dirty="0"/>
          </a:p>
        </p:txBody>
      </p:sp>
      <p:sp>
        <p:nvSpPr>
          <p:cNvPr id="5" name="Text 3"/>
          <p:cNvSpPr/>
          <p:nvPr/>
        </p:nvSpPr>
        <p:spPr>
          <a:xfrm>
            <a:off x="594360" y="731520"/>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Copiii și vârstnicii, mai expuși decât în UE</a:t>
            </a:r>
            <a:endParaRPr lang="en-US" sz="3000" dirty="0"/>
          </a:p>
        </p:txBody>
      </p:sp>
      <p:sp>
        <p:nvSpPr>
          <p:cNvPr id="6" name="Shape 4"/>
          <p:cNvSpPr/>
          <p:nvPr/>
        </p:nvSpPr>
        <p:spPr>
          <a:xfrm>
            <a:off x="594360" y="1609344"/>
            <a:ext cx="256032" cy="182880"/>
          </a:xfrm>
          <a:prstGeom prst="rect">
            <a:avLst/>
          </a:prstGeom>
          <a:solidFill>
            <a:srgbClr val="B02532"/>
          </a:solidFill>
          <a:ln w="12700">
            <a:solidFill>
              <a:srgbClr val="B02532"/>
            </a:solidFill>
            <a:prstDash val="solid"/>
          </a:ln>
        </p:spPr>
        <p:txBody>
          <a:bodyPr/>
          <a:p/>
        </p:txBody>
      </p:sp>
      <p:sp>
        <p:nvSpPr>
          <p:cNvPr id="7" name="Text 5"/>
          <p:cNvSpPr/>
          <p:nvPr/>
        </p:nvSpPr>
        <p:spPr>
          <a:xfrm>
            <a:off x="923544" y="155448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România</a:t>
            </a:r>
            <a:endParaRPr lang="en-US" sz="1300" dirty="0"/>
          </a:p>
        </p:txBody>
      </p:sp>
      <p:sp>
        <p:nvSpPr>
          <p:cNvPr id="8" name="Shape 6"/>
          <p:cNvSpPr/>
          <p:nvPr/>
        </p:nvSpPr>
        <p:spPr>
          <a:xfrm>
            <a:off x="2331720" y="1609344"/>
            <a:ext cx="256032" cy="182880"/>
          </a:xfrm>
          <a:prstGeom prst="rect">
            <a:avLst/>
          </a:prstGeom>
          <a:solidFill>
            <a:srgbClr val="B5B2AA"/>
          </a:solidFill>
          <a:ln w="12700">
            <a:solidFill>
              <a:srgbClr val="B5B2AA"/>
            </a:solidFill>
            <a:prstDash val="solid"/>
          </a:ln>
        </p:spPr>
        <p:txBody>
          <a:bodyPr/>
          <a:p/>
        </p:txBody>
      </p:sp>
      <p:sp>
        <p:nvSpPr>
          <p:cNvPr id="9" name="Text 7"/>
          <p:cNvSpPr/>
          <p:nvPr/>
        </p:nvSpPr>
        <p:spPr>
          <a:xfrm>
            <a:off x="2660904" y="155448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Media UE</a:t>
            </a:r>
            <a:endParaRPr lang="en-US" sz="1300" dirty="0"/>
          </a:p>
        </p:txBody>
      </p:sp>
      <p:sp>
        <p:nvSpPr>
          <p:cNvPr id="10" name="Text 8"/>
          <p:cNvSpPr/>
          <p:nvPr/>
        </p:nvSpPr>
        <p:spPr>
          <a:xfrm>
            <a:off x="594360" y="2057400"/>
            <a:ext cx="2743200" cy="82296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Copiii sub 18 ani</a:t>
            </a:r>
            <a:endParaRPr lang="en-US" sz="1500" dirty="0"/>
          </a:p>
        </p:txBody>
      </p:sp>
      <p:sp>
        <p:nvSpPr>
          <p:cNvPr id="11" name="Shape 9"/>
          <p:cNvSpPr/>
          <p:nvPr/>
        </p:nvSpPr>
        <p:spPr>
          <a:xfrm>
            <a:off x="3429000" y="2057400"/>
            <a:ext cx="3851453" cy="384048"/>
          </a:xfrm>
          <a:prstGeom prst="rect">
            <a:avLst/>
          </a:prstGeom>
          <a:solidFill>
            <a:srgbClr val="B02532"/>
          </a:solidFill>
          <a:ln w="12700">
            <a:solidFill>
              <a:srgbClr val="B02532"/>
            </a:solidFill>
            <a:prstDash val="solid"/>
          </a:ln>
        </p:spPr>
        <p:txBody>
          <a:bodyPr/>
          <a:p/>
        </p:txBody>
      </p:sp>
      <p:sp>
        <p:nvSpPr>
          <p:cNvPr id="12" name="Text 10"/>
          <p:cNvSpPr/>
          <p:nvPr/>
        </p:nvSpPr>
        <p:spPr>
          <a:xfrm>
            <a:off x="7353605" y="2011680"/>
            <a:ext cx="1188720" cy="475488"/>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32,4</a:t>
            </a:r>
            <a:endParaRPr lang="en-US" sz="1400" dirty="0"/>
          </a:p>
        </p:txBody>
      </p:sp>
      <p:sp>
        <p:nvSpPr>
          <p:cNvPr id="13" name="Shape 11"/>
          <p:cNvSpPr/>
          <p:nvPr/>
        </p:nvSpPr>
        <p:spPr>
          <a:xfrm>
            <a:off x="3429000" y="2496312"/>
            <a:ext cx="2888590" cy="384048"/>
          </a:xfrm>
          <a:prstGeom prst="rect">
            <a:avLst/>
          </a:prstGeom>
          <a:solidFill>
            <a:srgbClr val="B5B2AA"/>
          </a:solidFill>
          <a:ln w="12700">
            <a:solidFill>
              <a:srgbClr val="B5B2AA"/>
            </a:solidFill>
            <a:prstDash val="solid"/>
          </a:ln>
        </p:spPr>
        <p:txBody>
          <a:bodyPr/>
          <a:p/>
        </p:txBody>
      </p:sp>
      <p:sp>
        <p:nvSpPr>
          <p:cNvPr id="14" name="Text 12"/>
          <p:cNvSpPr/>
          <p:nvPr/>
        </p:nvSpPr>
        <p:spPr>
          <a:xfrm>
            <a:off x="6390742" y="2450592"/>
            <a:ext cx="1188720" cy="475488"/>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24,3</a:t>
            </a:r>
            <a:endParaRPr lang="en-US" sz="1400" dirty="0"/>
          </a:p>
        </p:txBody>
      </p:sp>
      <p:sp>
        <p:nvSpPr>
          <p:cNvPr id="15" name="Text 13"/>
          <p:cNvSpPr/>
          <p:nvPr/>
        </p:nvSpPr>
        <p:spPr>
          <a:xfrm>
            <a:off x="594360" y="3200400"/>
            <a:ext cx="2743200" cy="82296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Persoanele de 65 de ani și peste</a:t>
            </a:r>
            <a:endParaRPr lang="en-US" sz="1500" dirty="0"/>
          </a:p>
        </p:txBody>
      </p:sp>
      <p:sp>
        <p:nvSpPr>
          <p:cNvPr id="16" name="Shape 14"/>
          <p:cNvSpPr/>
          <p:nvPr/>
        </p:nvSpPr>
        <p:spPr>
          <a:xfrm>
            <a:off x="3429000" y="3200400"/>
            <a:ext cx="3328416" cy="384048"/>
          </a:xfrm>
          <a:prstGeom prst="rect">
            <a:avLst/>
          </a:prstGeom>
          <a:solidFill>
            <a:srgbClr val="B02532"/>
          </a:solidFill>
          <a:ln w="12700">
            <a:solidFill>
              <a:srgbClr val="B02532"/>
            </a:solidFill>
            <a:prstDash val="solid"/>
          </a:ln>
        </p:spPr>
        <p:txBody>
          <a:bodyPr/>
          <a:p/>
        </p:txBody>
      </p:sp>
      <p:sp>
        <p:nvSpPr>
          <p:cNvPr id="17" name="Text 15"/>
          <p:cNvSpPr/>
          <p:nvPr/>
        </p:nvSpPr>
        <p:spPr>
          <a:xfrm>
            <a:off x="6830568" y="3154680"/>
            <a:ext cx="1188720" cy="475488"/>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28,0</a:t>
            </a:r>
            <a:endParaRPr lang="en-US" sz="1400" dirty="0"/>
          </a:p>
        </p:txBody>
      </p:sp>
      <p:sp>
        <p:nvSpPr>
          <p:cNvPr id="18" name="Shape 16"/>
          <p:cNvSpPr/>
          <p:nvPr/>
        </p:nvSpPr>
        <p:spPr>
          <a:xfrm>
            <a:off x="3429000" y="3639312"/>
            <a:ext cx="2234794" cy="384048"/>
          </a:xfrm>
          <a:prstGeom prst="rect">
            <a:avLst/>
          </a:prstGeom>
          <a:solidFill>
            <a:srgbClr val="B5B2AA"/>
          </a:solidFill>
          <a:ln w="12700">
            <a:solidFill>
              <a:srgbClr val="B5B2AA"/>
            </a:solidFill>
            <a:prstDash val="solid"/>
          </a:ln>
        </p:spPr>
        <p:txBody>
          <a:bodyPr/>
          <a:p/>
        </p:txBody>
      </p:sp>
      <p:sp>
        <p:nvSpPr>
          <p:cNvPr id="19" name="Text 17"/>
          <p:cNvSpPr/>
          <p:nvPr/>
        </p:nvSpPr>
        <p:spPr>
          <a:xfrm>
            <a:off x="5736946" y="3593592"/>
            <a:ext cx="1188720" cy="475488"/>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18,8</a:t>
            </a:r>
            <a:endParaRPr lang="en-US" sz="1400" dirty="0"/>
          </a:p>
        </p:txBody>
      </p:sp>
      <p:sp>
        <p:nvSpPr>
          <p:cNvPr id="20" name="Text 18"/>
          <p:cNvSpPr/>
          <p:nvPr/>
        </p:nvSpPr>
        <p:spPr>
          <a:xfrm>
            <a:off x="594360" y="4343400"/>
            <a:ext cx="2743200" cy="82296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Toată populația</a:t>
            </a:r>
            <a:endParaRPr lang="en-US" sz="1500" dirty="0"/>
          </a:p>
        </p:txBody>
      </p:sp>
      <p:sp>
        <p:nvSpPr>
          <p:cNvPr id="21" name="Shape 19"/>
          <p:cNvSpPr/>
          <p:nvPr/>
        </p:nvSpPr>
        <p:spPr>
          <a:xfrm>
            <a:off x="3429000" y="4343400"/>
            <a:ext cx="3257093" cy="384048"/>
          </a:xfrm>
          <a:prstGeom prst="rect">
            <a:avLst/>
          </a:prstGeom>
          <a:solidFill>
            <a:srgbClr val="B02532"/>
          </a:solidFill>
          <a:ln w="12700">
            <a:solidFill>
              <a:srgbClr val="B02532"/>
            </a:solidFill>
            <a:prstDash val="solid"/>
          </a:ln>
        </p:spPr>
        <p:txBody>
          <a:bodyPr/>
          <a:p/>
        </p:txBody>
      </p:sp>
      <p:sp>
        <p:nvSpPr>
          <p:cNvPr id="22" name="Text 20"/>
          <p:cNvSpPr/>
          <p:nvPr/>
        </p:nvSpPr>
        <p:spPr>
          <a:xfrm>
            <a:off x="6759245" y="4297680"/>
            <a:ext cx="1188720" cy="475488"/>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27,4</a:t>
            </a:r>
            <a:endParaRPr lang="en-US" sz="1400" dirty="0"/>
          </a:p>
        </p:txBody>
      </p:sp>
      <p:sp>
        <p:nvSpPr>
          <p:cNvPr id="23" name="Shape 21"/>
          <p:cNvSpPr/>
          <p:nvPr/>
        </p:nvSpPr>
        <p:spPr>
          <a:xfrm>
            <a:off x="3429000" y="4782312"/>
            <a:ext cx="2484425" cy="384048"/>
          </a:xfrm>
          <a:prstGeom prst="rect">
            <a:avLst/>
          </a:prstGeom>
          <a:solidFill>
            <a:srgbClr val="B5B2AA"/>
          </a:solidFill>
          <a:ln w="12700">
            <a:solidFill>
              <a:srgbClr val="B5B2AA"/>
            </a:solidFill>
            <a:prstDash val="solid"/>
          </a:ln>
        </p:spPr>
        <p:txBody>
          <a:bodyPr/>
          <a:p/>
        </p:txBody>
      </p:sp>
      <p:sp>
        <p:nvSpPr>
          <p:cNvPr id="24" name="Text 22"/>
          <p:cNvSpPr/>
          <p:nvPr/>
        </p:nvSpPr>
        <p:spPr>
          <a:xfrm>
            <a:off x="5986577" y="4736592"/>
            <a:ext cx="1188720" cy="475488"/>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20,9</a:t>
            </a:r>
            <a:endParaRPr lang="en-US" sz="1400" dirty="0"/>
          </a:p>
        </p:txBody>
      </p:sp>
      <p:sp>
        <p:nvSpPr>
          <p:cNvPr id="25" name="Shape 23"/>
          <p:cNvSpPr/>
          <p:nvPr/>
        </p:nvSpPr>
        <p:spPr>
          <a:xfrm>
            <a:off x="8412480" y="2011680"/>
            <a:ext cx="3154680" cy="3246120"/>
          </a:xfrm>
          <a:prstGeom prst="roundRect">
            <a:avLst>
              <a:gd name="adj" fmla="val 2609"/>
            </a:avLst>
          </a:prstGeom>
          <a:solidFill>
            <a:srgbClr val="ECEAE4"/>
          </a:solidFill>
          <a:ln w="12700">
            <a:solidFill>
              <a:srgbClr val="ECEAE4"/>
            </a:solidFill>
            <a:prstDash val="solid"/>
          </a:ln>
        </p:spPr>
        <p:txBody>
          <a:bodyPr/>
          <a:p/>
        </p:txBody>
      </p:sp>
      <p:sp>
        <p:nvSpPr>
          <p:cNvPr id="26" name="Text 24"/>
          <p:cNvSpPr/>
          <p:nvPr/>
        </p:nvSpPr>
        <p:spPr>
          <a:xfrm>
            <a:off x="8595360" y="2148840"/>
            <a:ext cx="2834640" cy="3017520"/>
          </a:xfrm>
          <a:prstGeom prst="rect">
            <a:avLst/>
          </a:prstGeom>
          <a:noFill/>
          <a:ln/>
        </p:spPr>
        <p:txBody>
          <a:bodyPr wrap="square" lIns="0" tIns="0" rIns="0" bIns="0" rtlCol="0" anchor="t"/>
          <a:lstStyle/>
          <a:p>
            <a:pPr indent="0" marL="0">
              <a:buNone/>
            </a:pPr>
            <a:r>
              <a:rPr lang="en-US" sz="1550" b="1" dirty="0">
                <a:solidFill>
                  <a:srgbClr val="B02532"/>
                </a:solidFill>
                <a:latin typeface="Palatino Linotype" pitchFamily="34" charset="0"/>
                <a:ea typeface="Palatino Linotype" pitchFamily="34" charset="-122"/>
                <a:cs typeface="Palatino Linotype" pitchFamily="34" charset="-120"/>
              </a:rPr>
              <a:t>Mortalitatea infantilă, 2025</a:t>
            </a:r>
            <a:endParaRPr lang="en-US" sz="1550" dirty="0"/>
          </a:p>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5,1 la 1 000 de născuți vii în mediul urban; 6,8 în mediul rural.</a:t>
            </a:r>
            <a:endParaRPr lang="en-US" sz="1550" dirty="0"/>
          </a:p>
        </p:txBody>
      </p:sp>
      <p:sp>
        <p:nvSpPr>
          <p:cNvPr id="27" name="Text 25"/>
          <p:cNvSpPr/>
          <p:nvPr/>
        </p:nvSpPr>
        <p:spPr>
          <a:xfrm>
            <a:off x="594360" y="5532120"/>
            <a:ext cx="10972800" cy="7315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Sărăcia copiilor este un indicator important al vulnerabilității pe termen lung.</a:t>
            </a:r>
            <a:endParaRPr lang="en-US" sz="1550" dirty="0"/>
          </a:p>
        </p:txBody>
      </p:sp>
      <p:sp>
        <p:nvSpPr>
          <p:cNvPr id="28" name="Text 26"/>
          <p:cNvSpPr/>
          <p:nvPr/>
        </p:nvSpPr>
        <p:spPr>
          <a:xfrm>
            <a:off x="594360" y="6400800"/>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2025 (registru A880, A039, A044); A042.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DIZABILITATEA ȘI MEDIUL RURAL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Când scările și distanța devin bariere</a:t>
            </a:r>
            <a:endParaRPr lang="en-US" sz="3000" dirty="0"/>
          </a:p>
        </p:txBody>
      </p:sp>
      <p:sp>
        <p:nvSpPr>
          <p:cNvPr id="4" name="Text 2"/>
          <p:cNvSpPr/>
          <p:nvPr/>
        </p:nvSpPr>
        <p:spPr>
          <a:xfrm>
            <a:off x="594360" y="1600200"/>
            <a:ext cx="6035040" cy="365760"/>
          </a:xfrm>
          <a:prstGeom prst="rect">
            <a:avLst/>
          </a:prstGeom>
          <a:noFill/>
          <a:ln/>
        </p:spPr>
        <p:txBody>
          <a:bodyPr wrap="square" lIns="0" tIns="0" rIns="0" bIns="0" rtlCol="0" anchor="t"/>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Risc de sărăcie sau excluziune socială, 16 ani și peste, 2025, %</a:t>
            </a:r>
            <a:endParaRPr lang="en-US" sz="1400" dirty="0"/>
          </a:p>
        </p:txBody>
      </p:sp>
      <p:sp>
        <p:nvSpPr>
          <p:cNvPr id="5" name="Shape 3"/>
          <p:cNvSpPr/>
          <p:nvPr/>
        </p:nvSpPr>
        <p:spPr>
          <a:xfrm>
            <a:off x="594360" y="2066544"/>
            <a:ext cx="256032" cy="182880"/>
          </a:xfrm>
          <a:prstGeom prst="rect">
            <a:avLst/>
          </a:prstGeom>
          <a:solidFill>
            <a:srgbClr val="B02532"/>
          </a:solidFill>
          <a:ln w="12700">
            <a:solidFill>
              <a:srgbClr val="B02532"/>
            </a:solidFill>
            <a:prstDash val="solid"/>
          </a:ln>
        </p:spPr>
        <p:txBody>
          <a:bodyPr/>
          <a:p/>
        </p:txBody>
      </p:sp>
      <p:sp>
        <p:nvSpPr>
          <p:cNvPr id="6" name="Text 4"/>
          <p:cNvSpPr/>
          <p:nvPr/>
        </p:nvSpPr>
        <p:spPr>
          <a:xfrm>
            <a:off x="923544" y="201168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România</a:t>
            </a:r>
            <a:endParaRPr lang="en-US" sz="1300" dirty="0"/>
          </a:p>
        </p:txBody>
      </p:sp>
      <p:sp>
        <p:nvSpPr>
          <p:cNvPr id="7" name="Shape 5"/>
          <p:cNvSpPr/>
          <p:nvPr/>
        </p:nvSpPr>
        <p:spPr>
          <a:xfrm>
            <a:off x="2331720" y="2066544"/>
            <a:ext cx="256032" cy="182880"/>
          </a:xfrm>
          <a:prstGeom prst="rect">
            <a:avLst/>
          </a:prstGeom>
          <a:solidFill>
            <a:srgbClr val="B5B2AA"/>
          </a:solidFill>
          <a:ln w="12700">
            <a:solidFill>
              <a:srgbClr val="B5B2AA"/>
            </a:solidFill>
            <a:prstDash val="solid"/>
          </a:ln>
        </p:spPr>
        <p:txBody>
          <a:bodyPr/>
          <a:p/>
        </p:txBody>
      </p:sp>
      <p:sp>
        <p:nvSpPr>
          <p:cNvPr id="8" name="Text 6"/>
          <p:cNvSpPr/>
          <p:nvPr/>
        </p:nvSpPr>
        <p:spPr>
          <a:xfrm>
            <a:off x="2660904" y="2011680"/>
            <a:ext cx="1371600" cy="292608"/>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Media UE</a:t>
            </a:r>
            <a:endParaRPr lang="en-US" sz="1300" dirty="0"/>
          </a:p>
        </p:txBody>
      </p:sp>
      <p:sp>
        <p:nvSpPr>
          <p:cNvPr id="9" name="Text 7"/>
          <p:cNvSpPr/>
          <p:nvPr/>
        </p:nvSpPr>
        <p:spPr>
          <a:xfrm>
            <a:off x="594360" y="2514600"/>
            <a:ext cx="2377440" cy="822960"/>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Cu limitări severe ale activității</a:t>
            </a:r>
            <a:endParaRPr lang="en-US" sz="1450" dirty="0"/>
          </a:p>
        </p:txBody>
      </p:sp>
      <p:sp>
        <p:nvSpPr>
          <p:cNvPr id="10" name="Shape 8"/>
          <p:cNvSpPr/>
          <p:nvPr/>
        </p:nvSpPr>
        <p:spPr>
          <a:xfrm>
            <a:off x="3017520" y="2514600"/>
            <a:ext cx="2579980" cy="384048"/>
          </a:xfrm>
          <a:prstGeom prst="rect">
            <a:avLst/>
          </a:prstGeom>
          <a:solidFill>
            <a:srgbClr val="B02532"/>
          </a:solidFill>
          <a:ln w="12700">
            <a:solidFill>
              <a:srgbClr val="B02532"/>
            </a:solidFill>
            <a:prstDash val="solid"/>
          </a:ln>
        </p:spPr>
        <p:txBody>
          <a:bodyPr/>
          <a:p/>
        </p:txBody>
      </p:sp>
      <p:sp>
        <p:nvSpPr>
          <p:cNvPr id="11" name="Text 9"/>
          <p:cNvSpPr/>
          <p:nvPr/>
        </p:nvSpPr>
        <p:spPr>
          <a:xfrm>
            <a:off x="5670652" y="2468880"/>
            <a:ext cx="1188720" cy="475488"/>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51,3</a:t>
            </a:r>
            <a:endParaRPr lang="en-US" sz="1400" dirty="0"/>
          </a:p>
        </p:txBody>
      </p:sp>
      <p:sp>
        <p:nvSpPr>
          <p:cNvPr id="12" name="Shape 10"/>
          <p:cNvSpPr/>
          <p:nvPr/>
        </p:nvSpPr>
        <p:spPr>
          <a:xfrm>
            <a:off x="3017520" y="2953512"/>
            <a:ext cx="1835658" cy="384048"/>
          </a:xfrm>
          <a:prstGeom prst="rect">
            <a:avLst/>
          </a:prstGeom>
          <a:solidFill>
            <a:srgbClr val="B5B2AA"/>
          </a:solidFill>
          <a:ln w="12700">
            <a:solidFill>
              <a:srgbClr val="B5B2AA"/>
            </a:solidFill>
            <a:prstDash val="solid"/>
          </a:ln>
        </p:spPr>
        <p:txBody>
          <a:bodyPr/>
          <a:p/>
        </p:txBody>
      </p:sp>
      <p:sp>
        <p:nvSpPr>
          <p:cNvPr id="13" name="Text 11"/>
          <p:cNvSpPr/>
          <p:nvPr/>
        </p:nvSpPr>
        <p:spPr>
          <a:xfrm>
            <a:off x="4926330" y="2907792"/>
            <a:ext cx="1188720" cy="475488"/>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36,5</a:t>
            </a:r>
            <a:endParaRPr lang="en-US" sz="1400" dirty="0"/>
          </a:p>
        </p:txBody>
      </p:sp>
      <p:sp>
        <p:nvSpPr>
          <p:cNvPr id="14" name="Text 12"/>
          <p:cNvSpPr/>
          <p:nvPr/>
        </p:nvSpPr>
        <p:spPr>
          <a:xfrm>
            <a:off x="594360" y="3703320"/>
            <a:ext cx="2377440" cy="822960"/>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Fără limitări</a:t>
            </a:r>
            <a:endParaRPr lang="en-US" sz="1450" dirty="0"/>
          </a:p>
        </p:txBody>
      </p:sp>
      <p:sp>
        <p:nvSpPr>
          <p:cNvPr id="15" name="Shape 13"/>
          <p:cNvSpPr/>
          <p:nvPr/>
        </p:nvSpPr>
        <p:spPr>
          <a:xfrm>
            <a:off x="3017520" y="3703320"/>
            <a:ext cx="1166774" cy="384048"/>
          </a:xfrm>
          <a:prstGeom prst="rect">
            <a:avLst/>
          </a:prstGeom>
          <a:solidFill>
            <a:srgbClr val="B02532"/>
          </a:solidFill>
          <a:ln w="12700">
            <a:solidFill>
              <a:srgbClr val="B02532"/>
            </a:solidFill>
            <a:prstDash val="solid"/>
          </a:ln>
        </p:spPr>
        <p:txBody>
          <a:bodyPr/>
          <a:p/>
        </p:txBody>
      </p:sp>
      <p:sp>
        <p:nvSpPr>
          <p:cNvPr id="16" name="Text 14"/>
          <p:cNvSpPr/>
          <p:nvPr/>
        </p:nvSpPr>
        <p:spPr>
          <a:xfrm>
            <a:off x="4257446" y="3657600"/>
            <a:ext cx="1188720" cy="475488"/>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23,2</a:t>
            </a:r>
            <a:endParaRPr lang="en-US" sz="1400" dirty="0"/>
          </a:p>
        </p:txBody>
      </p:sp>
      <p:sp>
        <p:nvSpPr>
          <p:cNvPr id="17" name="Shape 15"/>
          <p:cNvSpPr/>
          <p:nvPr/>
        </p:nvSpPr>
        <p:spPr>
          <a:xfrm>
            <a:off x="3017520" y="4142232"/>
            <a:ext cx="890168" cy="384048"/>
          </a:xfrm>
          <a:prstGeom prst="rect">
            <a:avLst/>
          </a:prstGeom>
          <a:solidFill>
            <a:srgbClr val="B5B2AA"/>
          </a:solidFill>
          <a:ln w="12700">
            <a:solidFill>
              <a:srgbClr val="B5B2AA"/>
            </a:solidFill>
            <a:prstDash val="solid"/>
          </a:ln>
        </p:spPr>
        <p:txBody>
          <a:bodyPr/>
          <a:p/>
        </p:txBody>
      </p:sp>
      <p:sp>
        <p:nvSpPr>
          <p:cNvPr id="18" name="Text 16"/>
          <p:cNvSpPr/>
          <p:nvPr/>
        </p:nvSpPr>
        <p:spPr>
          <a:xfrm>
            <a:off x="3980840" y="4096512"/>
            <a:ext cx="1188720" cy="475488"/>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17,7</a:t>
            </a:r>
            <a:endParaRPr lang="en-US" sz="1400" dirty="0"/>
          </a:p>
        </p:txBody>
      </p:sp>
      <p:sp>
        <p:nvSpPr>
          <p:cNvPr id="19" name="Text 17"/>
          <p:cNvSpPr/>
          <p:nvPr/>
        </p:nvSpPr>
        <p:spPr>
          <a:xfrm>
            <a:off x="594360" y="5029200"/>
            <a:ext cx="6035040" cy="54864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Domnul Vasile: dizabilitatea și sărăcia se întrețin.</a:t>
            </a:r>
            <a:endParaRPr lang="en-US" sz="1600" dirty="0"/>
          </a:p>
        </p:txBody>
      </p:sp>
      <p:sp>
        <p:nvSpPr>
          <p:cNvPr id="20" name="Shape 18"/>
          <p:cNvSpPr/>
          <p:nvPr/>
        </p:nvSpPr>
        <p:spPr>
          <a:xfrm>
            <a:off x="6903720" y="1600200"/>
            <a:ext cx="4663440" cy="4023360"/>
          </a:xfrm>
          <a:prstGeom prst="roundRect">
            <a:avLst>
              <a:gd name="adj" fmla="val 2045"/>
            </a:avLst>
          </a:prstGeom>
          <a:solidFill>
            <a:srgbClr val="ECEAE4"/>
          </a:solidFill>
          <a:ln w="12700">
            <a:solidFill>
              <a:srgbClr val="ECEAE4"/>
            </a:solidFill>
            <a:prstDash val="solid"/>
          </a:ln>
        </p:spPr>
        <p:txBody>
          <a:bodyPr/>
          <a:p/>
        </p:txBody>
      </p:sp>
      <p:sp>
        <p:nvSpPr>
          <p:cNvPr id="21" name="Shape 19"/>
          <p:cNvSpPr/>
          <p:nvPr/>
        </p:nvSpPr>
        <p:spPr>
          <a:xfrm>
            <a:off x="6903720" y="1600200"/>
            <a:ext cx="4663440" cy="73152"/>
          </a:xfrm>
          <a:prstGeom prst="rect">
            <a:avLst/>
          </a:prstGeom>
          <a:solidFill>
            <a:srgbClr val="0E7C6B"/>
          </a:solidFill>
          <a:ln w="12700">
            <a:solidFill>
              <a:srgbClr val="0E7C6B"/>
            </a:solidFill>
            <a:prstDash val="solid"/>
          </a:ln>
        </p:spPr>
        <p:txBody>
          <a:bodyPr/>
          <a:p/>
        </p:txBody>
      </p:sp>
      <p:sp>
        <p:nvSpPr>
          <p:cNvPr id="22" name="Text 20"/>
          <p:cNvSpPr/>
          <p:nvPr/>
        </p:nvSpPr>
        <p:spPr>
          <a:xfrm>
            <a:off x="7132320" y="1801368"/>
            <a:ext cx="4206240" cy="6858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Mediul rural</a:t>
            </a:r>
            <a:endParaRPr lang="en-US" sz="1900" dirty="0"/>
          </a:p>
        </p:txBody>
      </p:sp>
      <p:sp>
        <p:nvSpPr>
          <p:cNvPr id="23" name="Text 21"/>
          <p:cNvSpPr/>
          <p:nvPr/>
        </p:nvSpPr>
        <p:spPr>
          <a:xfrm>
            <a:off x="7132320" y="2468880"/>
            <a:ext cx="4206240" cy="30175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Distanța, lipsa personalului și infrastructura reduc accesul. Personalul și unitățile sunt distribuite inegal între rural și urban.</a:t>
            </a:r>
            <a:endParaRPr lang="en-US" sz="1550" dirty="0"/>
          </a:p>
        </p:txBody>
      </p:sp>
      <p:sp>
        <p:nvSpPr>
          <p:cNvPr id="24" name="Text 2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2025 (registru A882); Observatorul European, raportul despre România, 2026 (registru A900).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OBSERVATORUL EUROPEAN · RAPORTUL DESPRE ROMÂNIA, 2026</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Romii: ce știm din surse oficiale și ce nu</a:t>
            </a:r>
            <a:endParaRPr lang="en-US" sz="3000" dirty="0"/>
          </a:p>
        </p:txBody>
      </p:sp>
      <p:sp>
        <p:nvSpPr>
          <p:cNvPr id="4" name="Shape 2"/>
          <p:cNvSpPr/>
          <p:nvPr/>
        </p:nvSpPr>
        <p:spPr>
          <a:xfrm>
            <a:off x="594360" y="1783080"/>
            <a:ext cx="5394960" cy="1828800"/>
          </a:xfrm>
          <a:prstGeom prst="roundRect">
            <a:avLst>
              <a:gd name="adj" fmla="val 4500"/>
            </a:avLst>
          </a:prstGeom>
          <a:solidFill>
            <a:srgbClr val="1D1F2B"/>
          </a:solidFill>
          <a:ln w="12700">
            <a:solidFill>
              <a:srgbClr val="1D1F2B"/>
            </a:solidFill>
            <a:prstDash val="solid"/>
          </a:ln>
        </p:spPr>
        <p:txBody>
          <a:bodyPr/>
          <a:p/>
        </p:txBody>
      </p:sp>
      <p:sp>
        <p:nvSpPr>
          <p:cNvPr id="5" name="Text 3"/>
          <p:cNvSpPr/>
          <p:nvPr/>
        </p:nvSpPr>
        <p:spPr>
          <a:xfrm>
            <a:off x="868680" y="1892808"/>
            <a:ext cx="4846320" cy="914400"/>
          </a:xfrm>
          <a:prstGeom prst="rect">
            <a:avLst/>
          </a:prstGeom>
          <a:noFill/>
          <a:ln/>
        </p:spPr>
        <p:txBody>
          <a:bodyPr wrap="square" lIns="0" tIns="0" rIns="0" bIns="0" rtlCol="0" anchor="ctr"/>
          <a:lstStyle/>
          <a:p>
            <a:pPr indent="0" marL="0">
              <a:buNone/>
            </a:pPr>
            <a:r>
              <a:rPr lang="en-US" sz="4600" b="1" dirty="0">
                <a:solidFill>
                  <a:srgbClr val="FFC24B"/>
                </a:solidFill>
                <a:latin typeface="Palatino Linotype" pitchFamily="34" charset="0"/>
                <a:ea typeface="Palatino Linotype" pitchFamily="34" charset="-122"/>
                <a:cs typeface="Palatino Linotype" pitchFamily="34" charset="-120"/>
              </a:rPr>
              <a:t>2,9%</a:t>
            </a:r>
            <a:endParaRPr lang="en-US" sz="4600" dirty="0"/>
          </a:p>
        </p:txBody>
      </p:sp>
      <p:sp>
        <p:nvSpPr>
          <p:cNvPr id="6" name="Text 4"/>
          <p:cNvSpPr/>
          <p:nvPr/>
        </p:nvSpPr>
        <p:spPr>
          <a:xfrm>
            <a:off x="868680" y="2715768"/>
            <a:ext cx="4846320" cy="841248"/>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s-au declarat de etnie romă (INS); ponderea reală nu este cunoscută</a:t>
            </a:r>
            <a:endParaRPr lang="en-US" sz="1200" dirty="0"/>
          </a:p>
        </p:txBody>
      </p:sp>
      <p:sp>
        <p:nvSpPr>
          <p:cNvPr id="7" name="Shape 5"/>
          <p:cNvSpPr/>
          <p:nvPr/>
        </p:nvSpPr>
        <p:spPr>
          <a:xfrm>
            <a:off x="6172200" y="1783080"/>
            <a:ext cx="5394960" cy="1828800"/>
          </a:xfrm>
          <a:prstGeom prst="roundRect">
            <a:avLst>
              <a:gd name="adj" fmla="val 4500"/>
            </a:avLst>
          </a:prstGeom>
          <a:solidFill>
            <a:srgbClr val="1D1F2B"/>
          </a:solidFill>
          <a:ln w="12700">
            <a:solidFill>
              <a:srgbClr val="1D1F2B"/>
            </a:solidFill>
            <a:prstDash val="solid"/>
          </a:ln>
        </p:spPr>
        <p:txBody>
          <a:bodyPr/>
          <a:p/>
        </p:txBody>
      </p:sp>
      <p:sp>
        <p:nvSpPr>
          <p:cNvPr id="8" name="Text 6"/>
          <p:cNvSpPr/>
          <p:nvPr/>
        </p:nvSpPr>
        <p:spPr>
          <a:xfrm>
            <a:off x="6446520" y="1892808"/>
            <a:ext cx="4846320" cy="914400"/>
          </a:xfrm>
          <a:prstGeom prst="rect">
            <a:avLst/>
          </a:prstGeom>
          <a:noFill/>
          <a:ln/>
        </p:spPr>
        <p:txBody>
          <a:bodyPr wrap="square" lIns="0" tIns="0" rIns="0" bIns="0" rtlCol="0" anchor="ctr"/>
          <a:lstStyle/>
          <a:p>
            <a:pPr indent="0" marL="0">
              <a:buNone/>
            </a:pPr>
            <a:r>
              <a:rPr lang="en-US" sz="4600" b="1" dirty="0">
                <a:solidFill>
                  <a:srgbClr val="FF4757"/>
                </a:solidFill>
                <a:latin typeface="Palatino Linotype" pitchFamily="34" charset="0"/>
                <a:ea typeface="Palatino Linotype" pitchFamily="34" charset="-122"/>
                <a:cs typeface="Palatino Linotype" pitchFamily="34" charset="-120"/>
              </a:rPr>
              <a:t>42%</a:t>
            </a:r>
            <a:endParaRPr lang="en-US" sz="4600" dirty="0"/>
          </a:p>
        </p:txBody>
      </p:sp>
      <p:sp>
        <p:nvSpPr>
          <p:cNvPr id="9" name="Text 7"/>
          <p:cNvSpPr/>
          <p:nvPr/>
        </p:nvSpPr>
        <p:spPr>
          <a:xfrm>
            <a:off x="6446520" y="2715768"/>
            <a:ext cx="4846320" cy="841248"/>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dintre romi nu aveau asigurare de sănătate (ancheta FRA din 2021, citată de raport)</a:t>
            </a:r>
            <a:endParaRPr lang="en-US" sz="1200" dirty="0"/>
          </a:p>
        </p:txBody>
      </p:sp>
      <p:sp>
        <p:nvSpPr>
          <p:cNvPr id="10" name="Text 8"/>
          <p:cNvSpPr/>
          <p:nvPr/>
        </p:nvSpPr>
        <p:spPr>
          <a:xfrm>
            <a:off x="594360" y="3886200"/>
            <a:ext cx="10972800" cy="8229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Raportul leagă acoperirea scăzută de sărăcia mai mare, de educația mai scăzută și de politicile de protecție slabe.</a:t>
            </a:r>
            <a:endParaRPr lang="en-US" sz="1700" dirty="0"/>
          </a:p>
        </p:txBody>
      </p:sp>
      <p:sp>
        <p:nvSpPr>
          <p:cNvPr id="11" name="Shape 9"/>
          <p:cNvSpPr/>
          <p:nvPr/>
        </p:nvSpPr>
        <p:spPr>
          <a:xfrm>
            <a:off x="594360" y="4937760"/>
            <a:ext cx="10972800" cy="1051560"/>
          </a:xfrm>
          <a:prstGeom prst="roundRect">
            <a:avLst>
              <a:gd name="adj" fmla="val 7826"/>
            </a:avLst>
          </a:prstGeom>
          <a:solidFill>
            <a:srgbClr val="272A38"/>
          </a:solidFill>
          <a:ln w="12700">
            <a:solidFill>
              <a:srgbClr val="272A38"/>
            </a:solidFill>
            <a:prstDash val="solid"/>
          </a:ln>
        </p:spPr>
        <p:txBody>
          <a:bodyPr/>
          <a:p/>
        </p:txBody>
      </p:sp>
      <p:sp>
        <p:nvSpPr>
          <p:cNvPr id="12" name="Text 10"/>
          <p:cNvSpPr/>
          <p:nvPr/>
        </p:nvSpPr>
        <p:spPr>
          <a:xfrm>
            <a:off x="868680" y="4937760"/>
            <a:ext cx="10424160" cy="1051560"/>
          </a:xfrm>
          <a:prstGeom prst="rect">
            <a:avLst/>
          </a:prstGeom>
          <a:noFill/>
          <a:ln/>
        </p:spPr>
        <p:txBody>
          <a:bodyPr wrap="square" lIns="0" tIns="0" rIns="0" bIns="0" rtlCol="0" anchor="ctr"/>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Speranța de viață a romilor nu este prezentată: nu am găsit o sursă oficială care să o măsoare.</a:t>
            </a:r>
            <a:endParaRPr lang="en-US" sz="1700" dirty="0"/>
          </a:p>
        </p:txBody>
      </p:sp>
      <p:sp>
        <p:nvSpPr>
          <p:cNvPr id="13" name="Text 11"/>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Observatorul European al Sistemelor și Politicilor de Sănătate, 2026 (registru A901).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ALTE GRUPURI VULNERABILE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Alte grupuri, aceleași mecanisme</a:t>
            </a:r>
            <a:endParaRPr lang="en-US" sz="3000" dirty="0"/>
          </a:p>
        </p:txBody>
      </p:sp>
      <p:sp>
        <p:nvSpPr>
          <p:cNvPr id="4" name="Shape 2"/>
          <p:cNvSpPr/>
          <p:nvPr/>
        </p:nvSpPr>
        <p:spPr>
          <a:xfrm>
            <a:off x="594360" y="1645920"/>
            <a:ext cx="3566160" cy="2971800"/>
          </a:xfrm>
          <a:prstGeom prst="roundRect">
            <a:avLst>
              <a:gd name="adj" fmla="val 2769"/>
            </a:avLst>
          </a:prstGeom>
          <a:solidFill>
            <a:srgbClr val="ECEAE4"/>
          </a:solidFill>
          <a:ln w="12700">
            <a:solidFill>
              <a:srgbClr val="ECEAE4"/>
            </a:solidFill>
            <a:prstDash val="solid"/>
          </a:ln>
        </p:spPr>
        <p:txBody>
          <a:bodyPr/>
          <a:p/>
        </p:txBody>
      </p:sp>
      <p:sp>
        <p:nvSpPr>
          <p:cNvPr id="5" name="Shape 3"/>
          <p:cNvSpPr/>
          <p:nvPr/>
        </p:nvSpPr>
        <p:spPr>
          <a:xfrm>
            <a:off x="594360" y="1645920"/>
            <a:ext cx="3566160" cy="73152"/>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847088"/>
            <a:ext cx="3108960" cy="6858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Migranții și refugiații</a:t>
            </a:r>
            <a:endParaRPr lang="en-US" sz="1800" dirty="0"/>
          </a:p>
        </p:txBody>
      </p:sp>
      <p:sp>
        <p:nvSpPr>
          <p:cNvPr id="7" name="Text 5"/>
          <p:cNvSpPr/>
          <p:nvPr/>
        </p:nvSpPr>
        <p:spPr>
          <a:xfrm>
            <a:off x="822960" y="2514600"/>
            <a:ext cx="3108960" cy="1965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Limba, lipsa asigurării, traumele, statutul juridic incert. August 2026: 222 825 de beneficiari ai protecției temporare.</a:t>
            </a:r>
            <a:endParaRPr lang="en-US" sz="1500" dirty="0"/>
          </a:p>
        </p:txBody>
      </p:sp>
      <p:sp>
        <p:nvSpPr>
          <p:cNvPr id="8" name="Shape 6"/>
          <p:cNvSpPr/>
          <p:nvPr/>
        </p:nvSpPr>
        <p:spPr>
          <a:xfrm>
            <a:off x="4297680" y="1645920"/>
            <a:ext cx="3566160" cy="2971800"/>
          </a:xfrm>
          <a:prstGeom prst="roundRect">
            <a:avLst>
              <a:gd name="adj" fmla="val 2769"/>
            </a:avLst>
          </a:prstGeom>
          <a:solidFill>
            <a:srgbClr val="F9F8F5"/>
          </a:solidFill>
          <a:ln w="12700">
            <a:solidFill>
              <a:srgbClr val="F9F8F5"/>
            </a:solidFill>
            <a:prstDash val="solid"/>
          </a:ln>
        </p:spPr>
        <p:txBody>
          <a:bodyPr/>
          <a:p/>
        </p:txBody>
      </p:sp>
      <p:sp>
        <p:nvSpPr>
          <p:cNvPr id="9" name="Shape 7"/>
          <p:cNvSpPr/>
          <p:nvPr/>
        </p:nvSpPr>
        <p:spPr>
          <a:xfrm>
            <a:off x="4297680" y="1645920"/>
            <a:ext cx="3566160" cy="73152"/>
          </a:xfrm>
          <a:prstGeom prst="rect">
            <a:avLst/>
          </a:prstGeom>
          <a:solidFill>
            <a:srgbClr val="4A2D8C"/>
          </a:solidFill>
          <a:ln w="12700">
            <a:solidFill>
              <a:srgbClr val="4A2D8C"/>
            </a:solidFill>
            <a:prstDash val="solid"/>
          </a:ln>
        </p:spPr>
        <p:txBody>
          <a:bodyPr/>
          <a:p/>
        </p:txBody>
      </p:sp>
      <p:sp>
        <p:nvSpPr>
          <p:cNvPr id="10" name="Text 8"/>
          <p:cNvSpPr/>
          <p:nvPr/>
        </p:nvSpPr>
        <p:spPr>
          <a:xfrm>
            <a:off x="4526280" y="1847088"/>
            <a:ext cx="3108960" cy="685800"/>
          </a:xfrm>
          <a:prstGeom prst="rect">
            <a:avLst/>
          </a:prstGeom>
          <a:noFill/>
          <a:ln/>
        </p:spPr>
        <p:txBody>
          <a:bodyPr wrap="square" lIns="0" tIns="0" rIns="0" bIns="0" rtlCol="0" anchor="t"/>
          <a:lstStyle/>
          <a:p>
            <a:pPr indent="0" marL="0">
              <a:buNone/>
            </a:pPr>
            <a:r>
              <a:rPr lang="en-US" sz="1800" b="1" dirty="0">
                <a:solidFill>
                  <a:srgbClr val="4A2D8C"/>
                </a:solidFill>
                <a:latin typeface="Palatino Linotype" pitchFamily="34" charset="0"/>
                <a:ea typeface="Palatino Linotype" pitchFamily="34" charset="-122"/>
                <a:cs typeface="Palatino Linotype" pitchFamily="34" charset="-120"/>
              </a:rPr>
              <a:t>Tulburările psihice</a:t>
            </a:r>
            <a:endParaRPr lang="en-US" sz="1800" dirty="0"/>
          </a:p>
        </p:txBody>
      </p:sp>
      <p:sp>
        <p:nvSpPr>
          <p:cNvPr id="11" name="Text 9"/>
          <p:cNvSpPr/>
          <p:nvPr/>
        </p:nvSpPr>
        <p:spPr>
          <a:xfrm>
            <a:off x="4526280" y="2514600"/>
            <a:ext cx="3108960" cy="1965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Stigmatul, lipsa serviciilor comunitare de sănătate mintală, deficitul de specialiști, mai ales în mediul rural.</a:t>
            </a:r>
            <a:endParaRPr lang="en-US" sz="1500" dirty="0"/>
          </a:p>
        </p:txBody>
      </p:sp>
      <p:sp>
        <p:nvSpPr>
          <p:cNvPr id="12" name="Shape 10"/>
          <p:cNvSpPr/>
          <p:nvPr/>
        </p:nvSpPr>
        <p:spPr>
          <a:xfrm>
            <a:off x="8001000" y="1645920"/>
            <a:ext cx="3566160" cy="2971800"/>
          </a:xfrm>
          <a:prstGeom prst="roundRect">
            <a:avLst>
              <a:gd name="adj" fmla="val 2769"/>
            </a:avLst>
          </a:prstGeom>
          <a:solidFill>
            <a:srgbClr val="ECEAE4"/>
          </a:solidFill>
          <a:ln w="12700">
            <a:solidFill>
              <a:srgbClr val="ECEAE4"/>
            </a:solidFill>
            <a:prstDash val="solid"/>
          </a:ln>
        </p:spPr>
        <p:txBody>
          <a:bodyPr/>
          <a:p/>
        </p:txBody>
      </p:sp>
      <p:sp>
        <p:nvSpPr>
          <p:cNvPr id="13" name="Shape 11"/>
          <p:cNvSpPr/>
          <p:nvPr/>
        </p:nvSpPr>
        <p:spPr>
          <a:xfrm>
            <a:off x="8001000" y="1645920"/>
            <a:ext cx="3566160" cy="73152"/>
          </a:xfrm>
          <a:prstGeom prst="rect">
            <a:avLst/>
          </a:prstGeom>
          <a:solidFill>
            <a:srgbClr val="B02532"/>
          </a:solidFill>
          <a:ln w="12700">
            <a:solidFill>
              <a:srgbClr val="B02532"/>
            </a:solidFill>
            <a:prstDash val="solid"/>
          </a:ln>
        </p:spPr>
        <p:txBody>
          <a:bodyPr/>
          <a:p/>
        </p:txBody>
      </p:sp>
      <p:sp>
        <p:nvSpPr>
          <p:cNvPr id="14" name="Text 12"/>
          <p:cNvSpPr/>
          <p:nvPr/>
        </p:nvSpPr>
        <p:spPr>
          <a:xfrm>
            <a:off x="8229600" y="1847088"/>
            <a:ext cx="3108960" cy="6858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Fără adăpost</a:t>
            </a:r>
            <a:endParaRPr lang="en-US" sz="1800" dirty="0"/>
          </a:p>
        </p:txBody>
      </p:sp>
      <p:sp>
        <p:nvSpPr>
          <p:cNvPr id="15" name="Text 13"/>
          <p:cNvSpPr/>
          <p:nvPr/>
        </p:nvSpPr>
        <p:spPr>
          <a:xfrm>
            <a:off x="8229600" y="2514600"/>
            <a:ext cx="3108960" cy="19659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Frigul, violența, infecțiile, mai multe boli deodată; ajung la îngrijire adesea prin serviciul de urgență.</a:t>
            </a:r>
            <a:endParaRPr lang="en-US" sz="1500" dirty="0"/>
          </a:p>
        </p:txBody>
      </p:sp>
      <p:sp>
        <p:nvSpPr>
          <p:cNvPr id="16" name="Shape 14"/>
          <p:cNvSpPr/>
          <p:nvPr/>
        </p:nvSpPr>
        <p:spPr>
          <a:xfrm>
            <a:off x="594360" y="4846320"/>
            <a:ext cx="10972800" cy="1143000"/>
          </a:xfrm>
          <a:prstGeom prst="roundRect">
            <a:avLst>
              <a:gd name="adj" fmla="val 7200"/>
            </a:avLst>
          </a:prstGeom>
          <a:solidFill>
            <a:srgbClr val="11121A"/>
          </a:solidFill>
          <a:ln w="12700">
            <a:solidFill>
              <a:srgbClr val="11121A"/>
            </a:solidFill>
            <a:prstDash val="solid"/>
          </a:ln>
        </p:spPr>
        <p:txBody>
          <a:bodyPr/>
          <a:p/>
        </p:txBody>
      </p:sp>
      <p:sp>
        <p:nvSpPr>
          <p:cNvPr id="17" name="Text 15"/>
          <p:cNvSpPr/>
          <p:nvPr/>
        </p:nvSpPr>
        <p:spPr>
          <a:xfrm>
            <a:off x="868680" y="4846320"/>
            <a:ext cx="10424160" cy="1143000"/>
          </a:xfrm>
          <a:prstGeom prst="rect">
            <a:avLst/>
          </a:prstGeom>
          <a:noFill/>
          <a:ln/>
        </p:spPr>
        <p:txBody>
          <a:bodyPr wrap="square" lIns="0" tIns="0" rIns="0" bIns="0" rtlCol="0" anchor="ctr"/>
          <a:lstStyle/>
          <a:p>
            <a:pPr indent="0" marL="0">
              <a:buNone/>
            </a:pPr>
            <a:r>
              <a:rPr lang="en-US" sz="1650" b="1" dirty="0">
                <a:solidFill>
                  <a:srgbClr val="FFC24B"/>
                </a:solidFill>
                <a:latin typeface="Palatino Linotype" pitchFamily="34" charset="0"/>
                <a:ea typeface="Palatino Linotype" pitchFamily="34" charset="-122"/>
                <a:cs typeface="Palatino Linotype" pitchFamily="34" charset="-120"/>
              </a:rPr>
              <a:t>Riscurile se adună la aceeași persoană: vârstnic, cu dizabilitate, singur, într-un sat izolat.</a:t>
            </a:r>
            <a:endParaRPr lang="en-US" sz="1650" dirty="0"/>
          </a:p>
        </p:txBody>
      </p:sp>
      <p:sp>
        <p:nvSpPr>
          <p:cNvPr id="18" name="Text 16"/>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(registru A883); descrierile grupurilor: sinteză didactică.</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EUROSTAT · NEVOI NESATISFĂCUTE · 2025 · %</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CE ASCUNDE MEDIA?</a:t>
            </a:r>
            <a:endParaRPr lang="en-US" sz="1300" dirty="0"/>
          </a:p>
        </p:txBody>
      </p:sp>
      <p:sp>
        <p:nvSpPr>
          <p:cNvPr id="5" name="Text 3"/>
          <p:cNvSpPr/>
          <p:nvPr/>
        </p:nvSpPr>
        <p:spPr>
          <a:xfrm>
            <a:off x="594360" y="731520"/>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Media națională ascunde diferența</a:t>
            </a:r>
            <a:endParaRPr lang="en-US" sz="3000" dirty="0"/>
          </a:p>
        </p:txBody>
      </p:sp>
      <p:sp>
        <p:nvSpPr>
          <p:cNvPr id="6" name="Text 4"/>
          <p:cNvSpPr/>
          <p:nvPr/>
        </p:nvSpPr>
        <p:spPr>
          <a:xfrm>
            <a:off x="594360" y="1783080"/>
            <a:ext cx="3017520" cy="6400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UE</a:t>
            </a:r>
            <a:endParaRPr lang="en-US" sz="1500" dirty="0"/>
          </a:p>
        </p:txBody>
      </p:sp>
      <p:sp>
        <p:nvSpPr>
          <p:cNvPr id="7" name="Shape 5"/>
          <p:cNvSpPr/>
          <p:nvPr/>
        </p:nvSpPr>
        <p:spPr>
          <a:xfrm>
            <a:off x="3657600" y="1892808"/>
            <a:ext cx="1755648" cy="420624"/>
          </a:xfrm>
          <a:prstGeom prst="rect">
            <a:avLst/>
          </a:prstGeom>
          <a:solidFill>
            <a:srgbClr val="B5B2AA"/>
          </a:solidFill>
          <a:ln w="12700">
            <a:solidFill>
              <a:srgbClr val="B5B2AA"/>
            </a:solidFill>
            <a:prstDash val="solid"/>
          </a:ln>
        </p:spPr>
        <p:txBody>
          <a:bodyPr/>
          <a:p/>
        </p:txBody>
      </p:sp>
      <p:sp>
        <p:nvSpPr>
          <p:cNvPr id="8" name="Text 6"/>
          <p:cNvSpPr/>
          <p:nvPr/>
        </p:nvSpPr>
        <p:spPr>
          <a:xfrm>
            <a:off x="5504688" y="1783080"/>
            <a:ext cx="914400" cy="640080"/>
          </a:xfrm>
          <a:prstGeom prst="rect">
            <a:avLst/>
          </a:prstGeom>
          <a:noFill/>
          <a:ln/>
        </p:spPr>
        <p:txBody>
          <a:bodyPr wrap="square" lIns="0" tIns="0" rIns="0" bIns="0" rtlCol="0" anchor="ctr"/>
          <a:lstStyle/>
          <a:p>
            <a:pPr indent="0" marL="0">
              <a:buNone/>
            </a:pPr>
            <a:r>
              <a:rPr lang="en-US" sz="1700" b="1" dirty="0">
                <a:solidFill>
                  <a:srgbClr val="B5B2AA"/>
                </a:solidFill>
                <a:latin typeface="Palatino Linotype" pitchFamily="34" charset="0"/>
                <a:ea typeface="Palatino Linotype" pitchFamily="34" charset="-122"/>
                <a:cs typeface="Palatino Linotype" pitchFamily="34" charset="-120"/>
              </a:rPr>
              <a:t>2,4</a:t>
            </a:r>
            <a:endParaRPr lang="en-US" sz="1700" dirty="0"/>
          </a:p>
        </p:txBody>
      </p:sp>
      <p:sp>
        <p:nvSpPr>
          <p:cNvPr id="9" name="Text 7"/>
          <p:cNvSpPr/>
          <p:nvPr/>
        </p:nvSpPr>
        <p:spPr>
          <a:xfrm>
            <a:off x="594360" y="2651760"/>
            <a:ext cx="3017520" cy="6400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România</a:t>
            </a:r>
            <a:endParaRPr lang="en-US" sz="1500" dirty="0"/>
          </a:p>
        </p:txBody>
      </p:sp>
      <p:sp>
        <p:nvSpPr>
          <p:cNvPr id="10" name="Shape 8"/>
          <p:cNvSpPr/>
          <p:nvPr/>
        </p:nvSpPr>
        <p:spPr>
          <a:xfrm>
            <a:off x="3657600" y="2761488"/>
            <a:ext cx="2121408" cy="420624"/>
          </a:xfrm>
          <a:prstGeom prst="rect">
            <a:avLst/>
          </a:prstGeom>
          <a:solidFill>
            <a:srgbClr val="B02532"/>
          </a:solidFill>
          <a:ln w="12700">
            <a:solidFill>
              <a:srgbClr val="B02532"/>
            </a:solidFill>
            <a:prstDash val="solid"/>
          </a:ln>
        </p:spPr>
        <p:txBody>
          <a:bodyPr/>
          <a:p/>
        </p:txBody>
      </p:sp>
      <p:sp>
        <p:nvSpPr>
          <p:cNvPr id="11" name="Text 9"/>
          <p:cNvSpPr/>
          <p:nvPr/>
        </p:nvSpPr>
        <p:spPr>
          <a:xfrm>
            <a:off x="5870448" y="2651760"/>
            <a:ext cx="91440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2,9</a:t>
            </a:r>
            <a:endParaRPr lang="en-US" sz="1700" dirty="0"/>
          </a:p>
        </p:txBody>
      </p:sp>
      <p:sp>
        <p:nvSpPr>
          <p:cNvPr id="12" name="Text 10"/>
          <p:cNvSpPr/>
          <p:nvPr/>
        </p:nvSpPr>
        <p:spPr>
          <a:xfrm>
            <a:off x="594360" y="3520440"/>
            <a:ext cx="3017520" cy="6400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România, cei mai săraci 20%</a:t>
            </a:r>
            <a:endParaRPr lang="en-US" sz="1500" dirty="0"/>
          </a:p>
        </p:txBody>
      </p:sp>
      <p:sp>
        <p:nvSpPr>
          <p:cNvPr id="13" name="Shape 11"/>
          <p:cNvSpPr/>
          <p:nvPr/>
        </p:nvSpPr>
        <p:spPr>
          <a:xfrm>
            <a:off x="3657600" y="3630168"/>
            <a:ext cx="4389120" cy="420624"/>
          </a:xfrm>
          <a:prstGeom prst="rect">
            <a:avLst/>
          </a:prstGeom>
          <a:solidFill>
            <a:srgbClr val="B02532"/>
          </a:solidFill>
          <a:ln w="12700">
            <a:solidFill>
              <a:srgbClr val="B02532"/>
            </a:solidFill>
            <a:prstDash val="solid"/>
          </a:ln>
        </p:spPr>
        <p:txBody>
          <a:bodyPr/>
          <a:p/>
        </p:txBody>
      </p:sp>
      <p:sp>
        <p:nvSpPr>
          <p:cNvPr id="14" name="Text 12"/>
          <p:cNvSpPr/>
          <p:nvPr/>
        </p:nvSpPr>
        <p:spPr>
          <a:xfrm>
            <a:off x="8138160" y="3520440"/>
            <a:ext cx="91440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6,0</a:t>
            </a:r>
            <a:endParaRPr lang="en-US" sz="1700" dirty="0"/>
          </a:p>
        </p:txBody>
      </p:sp>
      <p:sp>
        <p:nvSpPr>
          <p:cNvPr id="15" name="Text 13"/>
          <p:cNvSpPr/>
          <p:nvPr/>
        </p:nvSpPr>
        <p:spPr>
          <a:xfrm>
            <a:off x="594360" y="4389120"/>
            <a:ext cx="3017520" cy="6400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România, cei mai bogați 20%</a:t>
            </a:r>
            <a:endParaRPr lang="en-US" sz="1500" dirty="0"/>
          </a:p>
        </p:txBody>
      </p:sp>
      <p:sp>
        <p:nvSpPr>
          <p:cNvPr id="16" name="Shape 14"/>
          <p:cNvSpPr/>
          <p:nvPr/>
        </p:nvSpPr>
        <p:spPr>
          <a:xfrm>
            <a:off x="3657600" y="4498848"/>
            <a:ext cx="658368" cy="420624"/>
          </a:xfrm>
          <a:prstGeom prst="rect">
            <a:avLst/>
          </a:prstGeom>
          <a:solidFill>
            <a:srgbClr val="0E7C6B"/>
          </a:solidFill>
          <a:ln w="12700">
            <a:solidFill>
              <a:srgbClr val="0E7C6B"/>
            </a:solidFill>
            <a:prstDash val="solid"/>
          </a:ln>
        </p:spPr>
        <p:txBody>
          <a:bodyPr/>
          <a:p/>
        </p:txBody>
      </p:sp>
      <p:sp>
        <p:nvSpPr>
          <p:cNvPr id="17" name="Text 15"/>
          <p:cNvSpPr/>
          <p:nvPr/>
        </p:nvSpPr>
        <p:spPr>
          <a:xfrm>
            <a:off x="4407408" y="4389120"/>
            <a:ext cx="914400" cy="640080"/>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0,9</a:t>
            </a:r>
            <a:endParaRPr lang="en-US" sz="1700" dirty="0"/>
          </a:p>
        </p:txBody>
      </p:sp>
      <p:sp>
        <p:nvSpPr>
          <p:cNvPr id="18" name="Shape 16"/>
          <p:cNvSpPr/>
          <p:nvPr/>
        </p:nvSpPr>
        <p:spPr>
          <a:xfrm>
            <a:off x="9144000" y="1783080"/>
            <a:ext cx="2423160" cy="3291840"/>
          </a:xfrm>
          <a:prstGeom prst="roundRect">
            <a:avLst>
              <a:gd name="adj" fmla="val 3396"/>
            </a:avLst>
          </a:prstGeom>
          <a:solidFill>
            <a:srgbClr val="ECEAE4"/>
          </a:solidFill>
          <a:ln w="12700">
            <a:solidFill>
              <a:srgbClr val="ECEAE4"/>
            </a:solidFill>
            <a:prstDash val="solid"/>
          </a:ln>
        </p:spPr>
        <p:txBody>
          <a:bodyPr/>
          <a:p/>
        </p:txBody>
      </p:sp>
      <p:sp>
        <p:nvSpPr>
          <p:cNvPr id="19" name="Text 17"/>
          <p:cNvSpPr/>
          <p:nvPr/>
        </p:nvSpPr>
        <p:spPr>
          <a:xfrm>
            <a:off x="9281160" y="1874520"/>
            <a:ext cx="2194560" cy="310896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Comparată cu UE, România pare aproape. În interiorul țării, cei mai săraci declară de câteva ori mai des nevoi nesatisfăcute.</a:t>
            </a:r>
            <a:endParaRPr lang="en-US" sz="1400" dirty="0"/>
          </a:p>
        </p:txBody>
      </p:sp>
      <p:sp>
        <p:nvSpPr>
          <p:cNvPr id="20" name="Shape 18"/>
          <p:cNvSpPr/>
          <p:nvPr/>
        </p:nvSpPr>
        <p:spPr>
          <a:xfrm>
            <a:off x="594360" y="5349240"/>
            <a:ext cx="10972800" cy="777240"/>
          </a:xfrm>
          <a:prstGeom prst="roundRect">
            <a:avLst>
              <a:gd name="adj" fmla="val 10588"/>
            </a:avLst>
          </a:prstGeom>
          <a:solidFill>
            <a:srgbClr val="11121A"/>
          </a:solidFill>
          <a:ln w="12700">
            <a:solidFill>
              <a:srgbClr val="11121A"/>
            </a:solidFill>
            <a:prstDash val="solid"/>
          </a:ln>
        </p:spPr>
        <p:txBody>
          <a:bodyPr/>
          <a:p/>
        </p:txBody>
      </p:sp>
      <p:sp>
        <p:nvSpPr>
          <p:cNvPr id="21" name="Text 19"/>
          <p:cNvSpPr/>
          <p:nvPr/>
        </p:nvSpPr>
        <p:spPr>
          <a:xfrm>
            <a:off x="868680" y="5349240"/>
            <a:ext cx="10424160" cy="777240"/>
          </a:xfrm>
          <a:prstGeom prst="rect">
            <a:avLst/>
          </a:prstGeom>
          <a:noFill/>
          <a:ln/>
        </p:spPr>
        <p:txBody>
          <a:bodyPr wrap="square" lIns="0" tIns="0" rIns="0" bIns="0" rtlCol="0" anchor="ctr"/>
          <a:lstStyle/>
          <a:p>
            <a:pPr indent="0" marL="0">
              <a:buNone/>
            </a:pPr>
            <a:r>
              <a:rPr lang="en-US" sz="1650" b="1" dirty="0">
                <a:solidFill>
                  <a:srgbClr val="FFC24B"/>
                </a:solidFill>
                <a:latin typeface="Palatino Linotype" pitchFamily="34" charset="0"/>
                <a:ea typeface="Palatino Linotype" pitchFamily="34" charset="-122"/>
                <a:cs typeface="Palatino Linotype" pitchFamily="34" charset="-120"/>
              </a:rPr>
              <a:t>La anamneză: „Ați renunțat în ultimul an la un consult sau la un tratament? De ce?”</a:t>
            </a:r>
            <a:endParaRPr lang="en-US" sz="1650" dirty="0"/>
          </a:p>
        </p:txBody>
      </p:sp>
      <p:sp>
        <p:nvSpPr>
          <p:cNvPr id="22" name="Text 20"/>
          <p:cNvSpPr/>
          <p:nvPr/>
        </p:nvSpPr>
        <p:spPr>
          <a:xfrm>
            <a:off x="594360" y="6400800"/>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persoanele de 16 ani și peste, 2025 (registru A037). Indicatorul măsoară ce declară oamenii.</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594360" y="310896"/>
            <a:ext cx="3291840" cy="329184"/>
          </a:xfrm>
          <a:prstGeom prst="roundRect">
            <a:avLst>
              <a:gd name="adj" fmla="val 50000"/>
            </a:avLst>
          </a:prstGeom>
          <a:solidFill>
            <a:srgbClr val="0E7C6B"/>
          </a:solidFill>
          <a:ln w="12700">
            <a:solidFill>
              <a:srgbClr val="0E7C6B"/>
            </a:solidFill>
            <a:prstDash val="solid"/>
          </a:ln>
        </p:spPr>
        <p:txBody>
          <a:bodyPr/>
          <a:p/>
        </p:txBody>
      </p:sp>
      <p:sp>
        <p:nvSpPr>
          <p:cNvPr id="3" name="Text 1"/>
          <p:cNvSpPr/>
          <p:nvPr/>
        </p:nvSpPr>
        <p:spPr>
          <a:xfrm>
            <a:off x="594360" y="310896"/>
            <a:ext cx="32918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TERMENUL NOU 2 DIN 3</a:t>
            </a:r>
            <a:endParaRPr lang="en-US" sz="1300" dirty="0"/>
          </a:p>
        </p:txBody>
      </p:sp>
      <p:sp>
        <p:nvSpPr>
          <p:cNvPr id="4" name="Text 2"/>
          <p:cNvSpPr/>
          <p:nvPr/>
        </p:nvSpPr>
        <p:spPr>
          <a:xfrm>
            <a:off x="4114800" y="347472"/>
            <a:ext cx="749808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DOUĂ CUVINTE CARE NU ÎNSEAMNĂ ACELAȘI LUCRU</a:t>
            </a:r>
            <a:endParaRPr lang="en-US" sz="1300" dirty="0"/>
          </a:p>
        </p:txBody>
      </p:sp>
      <p:sp>
        <p:nvSpPr>
          <p:cNvPr id="5" name="Text 3"/>
          <p:cNvSpPr/>
          <p:nvPr/>
        </p:nvSpPr>
        <p:spPr>
          <a:xfrm>
            <a:off x="594360" y="777240"/>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Inegalitate și inechitate în sănătate</a:t>
            </a:r>
            <a:endParaRPr lang="en-US" sz="3000" dirty="0"/>
          </a:p>
        </p:txBody>
      </p:sp>
      <p:sp>
        <p:nvSpPr>
          <p:cNvPr id="6" name="Shape 4"/>
          <p:cNvSpPr/>
          <p:nvPr/>
        </p:nvSpPr>
        <p:spPr>
          <a:xfrm>
            <a:off x="594360" y="1691640"/>
            <a:ext cx="5394960" cy="3337560"/>
          </a:xfrm>
          <a:prstGeom prst="roundRect">
            <a:avLst>
              <a:gd name="adj" fmla="val 2466"/>
            </a:avLst>
          </a:prstGeom>
          <a:solidFill>
            <a:srgbClr val="ECEAE4"/>
          </a:solidFill>
          <a:ln w="12700">
            <a:solidFill>
              <a:srgbClr val="ECEAE4"/>
            </a:solidFill>
            <a:prstDash val="solid"/>
          </a:ln>
        </p:spPr>
        <p:txBody>
          <a:bodyPr/>
          <a:p/>
        </p:txBody>
      </p:sp>
      <p:sp>
        <p:nvSpPr>
          <p:cNvPr id="7" name="Shape 5"/>
          <p:cNvSpPr/>
          <p:nvPr/>
        </p:nvSpPr>
        <p:spPr>
          <a:xfrm>
            <a:off x="594360" y="1691640"/>
            <a:ext cx="5394960" cy="73152"/>
          </a:xfrm>
          <a:prstGeom prst="rect">
            <a:avLst/>
          </a:prstGeom>
          <a:solidFill>
            <a:srgbClr val="5A5F75"/>
          </a:solidFill>
          <a:ln w="12700">
            <a:solidFill>
              <a:srgbClr val="5A5F75"/>
            </a:solidFill>
            <a:prstDash val="solid"/>
          </a:ln>
        </p:spPr>
        <p:txBody>
          <a:bodyPr/>
          <a:p/>
        </p:txBody>
      </p:sp>
      <p:sp>
        <p:nvSpPr>
          <p:cNvPr id="8" name="Text 6"/>
          <p:cNvSpPr/>
          <p:nvPr/>
        </p:nvSpPr>
        <p:spPr>
          <a:xfrm>
            <a:off x="822960" y="1892808"/>
            <a:ext cx="4937760" cy="685800"/>
          </a:xfrm>
          <a:prstGeom prst="rect">
            <a:avLst/>
          </a:prstGeom>
          <a:noFill/>
          <a:ln/>
        </p:spPr>
        <p:txBody>
          <a:bodyPr wrap="square" lIns="0" tIns="0" rIns="0" bIns="0" rtlCol="0" anchor="t"/>
          <a:lstStyle/>
          <a:p>
            <a:pPr indent="0" marL="0">
              <a:buNone/>
            </a:pPr>
            <a:r>
              <a:rPr lang="en-US" sz="2000" b="1" dirty="0">
                <a:solidFill>
                  <a:srgbClr val="5A5F75"/>
                </a:solidFill>
                <a:latin typeface="Palatino Linotype" pitchFamily="34" charset="0"/>
                <a:ea typeface="Palatino Linotype" pitchFamily="34" charset="-122"/>
                <a:cs typeface="Palatino Linotype" pitchFamily="34" charset="-120"/>
              </a:rPr>
              <a:t>Inegalitate: descrie</a:t>
            </a:r>
            <a:endParaRPr lang="en-US" sz="2000" dirty="0"/>
          </a:p>
        </p:txBody>
      </p:sp>
      <p:sp>
        <p:nvSpPr>
          <p:cNvPr id="9" name="Text 7"/>
          <p:cNvSpPr/>
          <p:nvPr/>
        </p:nvSpPr>
        <p:spPr>
          <a:xfrm>
            <a:off x="822960" y="2560320"/>
            <a:ext cx="4937760" cy="233172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Orice diferență măsurabilă de stare de sănătate între persoane sau grupuri.</a:t>
            </a:r>
            <a:endParaRPr lang="en-US" sz="1650" dirty="0"/>
          </a:p>
          <a:p>
            <a:pPr indent="0" marL="0">
              <a:buNone/>
            </a:pPr>
            <a:endParaRPr lang="en-US" sz="1650" dirty="0"/>
          </a:p>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Exemplu: femeile au un avantaj biologic de supraviețuire.</a:t>
            </a:r>
            <a:endParaRPr lang="en-US" sz="1650" dirty="0"/>
          </a:p>
        </p:txBody>
      </p:sp>
      <p:sp>
        <p:nvSpPr>
          <p:cNvPr id="10" name="Shape 8"/>
          <p:cNvSpPr/>
          <p:nvPr/>
        </p:nvSpPr>
        <p:spPr>
          <a:xfrm>
            <a:off x="6172200" y="1691640"/>
            <a:ext cx="5394960" cy="3337560"/>
          </a:xfrm>
          <a:prstGeom prst="roundRect">
            <a:avLst>
              <a:gd name="adj" fmla="val 2466"/>
            </a:avLst>
          </a:prstGeom>
          <a:solidFill>
            <a:srgbClr val="F9F8F5"/>
          </a:solidFill>
          <a:ln w="12700">
            <a:solidFill>
              <a:srgbClr val="F9F8F5"/>
            </a:solidFill>
            <a:prstDash val="solid"/>
          </a:ln>
        </p:spPr>
        <p:txBody>
          <a:bodyPr/>
          <a:p/>
        </p:txBody>
      </p:sp>
      <p:sp>
        <p:nvSpPr>
          <p:cNvPr id="11" name="Shape 9"/>
          <p:cNvSpPr/>
          <p:nvPr/>
        </p:nvSpPr>
        <p:spPr>
          <a:xfrm>
            <a:off x="6172200" y="1691640"/>
            <a:ext cx="5394960" cy="73152"/>
          </a:xfrm>
          <a:prstGeom prst="rect">
            <a:avLst/>
          </a:prstGeom>
          <a:solidFill>
            <a:srgbClr val="B02532"/>
          </a:solidFill>
          <a:ln w="12700">
            <a:solidFill>
              <a:srgbClr val="B02532"/>
            </a:solidFill>
            <a:prstDash val="solid"/>
          </a:ln>
        </p:spPr>
        <p:txBody>
          <a:bodyPr/>
          <a:p/>
        </p:txBody>
      </p:sp>
      <p:sp>
        <p:nvSpPr>
          <p:cNvPr id="12" name="Text 10"/>
          <p:cNvSpPr/>
          <p:nvPr/>
        </p:nvSpPr>
        <p:spPr>
          <a:xfrm>
            <a:off x="6400800" y="1892808"/>
            <a:ext cx="4937760" cy="6858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Inechitate: judecă</a:t>
            </a:r>
            <a:endParaRPr lang="en-US" sz="2000" dirty="0"/>
          </a:p>
        </p:txBody>
      </p:sp>
      <p:sp>
        <p:nvSpPr>
          <p:cNvPr id="13" name="Text 11"/>
          <p:cNvSpPr/>
          <p:nvPr/>
        </p:nvSpPr>
        <p:spPr>
          <a:xfrm>
            <a:off x="6400800" y="2560320"/>
            <a:ext cx="4937760" cy="233172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O diferență sistematică, produsă de procese sociale, deci modificabilă, și nedreaptă.</a:t>
            </a:r>
            <a:endParaRPr lang="en-US" sz="1650" dirty="0"/>
          </a:p>
          <a:p>
            <a:pPr indent="0" marL="0">
              <a:buNone/>
            </a:pPr>
            <a:endParaRPr lang="en-US" sz="1650" dirty="0"/>
          </a:p>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Exemplu: Andrei, asigurat prin lege, nu primește vaccinurile pe care le primesc copiii din oraș.</a:t>
            </a:r>
            <a:endParaRPr lang="en-US" sz="1650" dirty="0"/>
          </a:p>
        </p:txBody>
      </p:sp>
      <p:sp>
        <p:nvSpPr>
          <p:cNvPr id="14" name="Text 12"/>
          <p:cNvSpPr/>
          <p:nvPr/>
        </p:nvSpPr>
        <p:spPr>
          <a:xfrm>
            <a:off x="594360" y="525780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engl. health inequity · fr. iniquité en santé</a:t>
            </a:r>
            <a:endParaRPr lang="en-US" sz="1400" dirty="0"/>
          </a:p>
        </p:txBody>
      </p:sp>
      <p:sp>
        <p:nvSpPr>
          <p:cNvPr id="15" name="Text 1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registru A043, A928, A025, A909.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DOUĂ MINUTE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Inechitate sau inegalitate?</a:t>
            </a:r>
            <a:endParaRPr lang="en-US" sz="3200" dirty="0"/>
          </a:p>
        </p:txBody>
      </p:sp>
      <p:sp>
        <p:nvSpPr>
          <p:cNvPr id="6" name="Shape 4"/>
          <p:cNvSpPr/>
          <p:nvPr/>
        </p:nvSpPr>
        <p:spPr>
          <a:xfrm>
            <a:off x="594360" y="173736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7" name="Shape 5"/>
          <p:cNvSpPr/>
          <p:nvPr/>
        </p:nvSpPr>
        <p:spPr>
          <a:xfrm>
            <a:off x="868680" y="1883664"/>
            <a:ext cx="420624" cy="420624"/>
          </a:xfrm>
          <a:prstGeom prst="ellipse">
            <a:avLst/>
          </a:prstGeom>
          <a:solidFill>
            <a:srgbClr val="FFC24B"/>
          </a:solidFill>
          <a:ln/>
        </p:spPr>
        <p:txBody>
          <a:bodyPr/>
          <a:p/>
        </p:txBody>
      </p:sp>
      <p:sp>
        <p:nvSpPr>
          <p:cNvPr id="8" name="Text 6"/>
          <p:cNvSpPr/>
          <p:nvPr/>
        </p:nvSpPr>
        <p:spPr>
          <a:xfrm>
            <a:off x="868680" y="1883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737360"/>
            <a:ext cx="982980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Femeile au un avantaj biologic de supraviețuire față de bărbați.</a:t>
            </a:r>
            <a:endParaRPr lang="en-US" sz="1800" dirty="0"/>
          </a:p>
        </p:txBody>
      </p:sp>
      <p:sp>
        <p:nvSpPr>
          <p:cNvPr id="10" name="Shape 8"/>
          <p:cNvSpPr/>
          <p:nvPr/>
        </p:nvSpPr>
        <p:spPr>
          <a:xfrm>
            <a:off x="594360" y="2578608"/>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1" name="Shape 9"/>
          <p:cNvSpPr/>
          <p:nvPr/>
        </p:nvSpPr>
        <p:spPr>
          <a:xfrm>
            <a:off x="868680" y="2724912"/>
            <a:ext cx="420624" cy="420624"/>
          </a:xfrm>
          <a:prstGeom prst="ellipse">
            <a:avLst/>
          </a:prstGeom>
          <a:solidFill>
            <a:srgbClr val="FFC24B"/>
          </a:solidFill>
          <a:ln/>
        </p:spPr>
        <p:txBody>
          <a:bodyPr/>
          <a:p/>
        </p:txBody>
      </p:sp>
      <p:sp>
        <p:nvSpPr>
          <p:cNvPr id="12" name="Text 10"/>
          <p:cNvSpPr/>
          <p:nvPr/>
        </p:nvSpPr>
        <p:spPr>
          <a:xfrm>
            <a:off x="868680" y="27249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578608"/>
            <a:ext cx="982980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Copiii din familiile sărace sunt mai rar vaccinați complet.</a:t>
            </a:r>
            <a:endParaRPr lang="en-US" sz="1800" dirty="0"/>
          </a:p>
        </p:txBody>
      </p:sp>
      <p:sp>
        <p:nvSpPr>
          <p:cNvPr id="14" name="Shape 12"/>
          <p:cNvSpPr/>
          <p:nvPr/>
        </p:nvSpPr>
        <p:spPr>
          <a:xfrm>
            <a:off x="594360" y="3419856"/>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5" name="Shape 13"/>
          <p:cNvSpPr/>
          <p:nvPr/>
        </p:nvSpPr>
        <p:spPr>
          <a:xfrm>
            <a:off x="868680" y="3566160"/>
            <a:ext cx="420624" cy="420624"/>
          </a:xfrm>
          <a:prstGeom prst="ellipse">
            <a:avLst/>
          </a:prstGeom>
          <a:solidFill>
            <a:srgbClr val="FFC24B"/>
          </a:solidFill>
          <a:ln/>
        </p:spPr>
        <p:txBody>
          <a:bodyPr/>
          <a:p/>
        </p:txBody>
      </p:sp>
      <p:sp>
        <p:nvSpPr>
          <p:cNvPr id="16" name="Text 14"/>
          <p:cNvSpPr/>
          <p:nvPr/>
        </p:nvSpPr>
        <p:spPr>
          <a:xfrm>
            <a:off x="868680" y="3566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419856"/>
            <a:ext cx="982980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Mortalitatea infantilă este mai mare în mediul rural decât în cel urban.</a:t>
            </a:r>
            <a:endParaRPr lang="en-US" sz="1800" dirty="0"/>
          </a:p>
        </p:txBody>
      </p:sp>
      <p:sp>
        <p:nvSpPr>
          <p:cNvPr id="18" name="Shape 16"/>
          <p:cNvSpPr/>
          <p:nvPr/>
        </p:nvSpPr>
        <p:spPr>
          <a:xfrm>
            <a:off x="594360" y="4261104"/>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9" name="Shape 17"/>
          <p:cNvSpPr/>
          <p:nvPr/>
        </p:nvSpPr>
        <p:spPr>
          <a:xfrm>
            <a:off x="868680" y="4407408"/>
            <a:ext cx="420624" cy="420624"/>
          </a:xfrm>
          <a:prstGeom prst="ellipse">
            <a:avLst/>
          </a:prstGeom>
          <a:solidFill>
            <a:srgbClr val="FFC24B"/>
          </a:solidFill>
          <a:ln/>
        </p:spPr>
        <p:txBody>
          <a:bodyPr/>
          <a:p/>
        </p:txBody>
      </p:sp>
      <p:sp>
        <p:nvSpPr>
          <p:cNvPr id="20" name="Text 18"/>
          <p:cNvSpPr/>
          <p:nvPr/>
        </p:nvSpPr>
        <p:spPr>
          <a:xfrm>
            <a:off x="86868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261104"/>
            <a:ext cx="9829800" cy="71323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Vârstnicii au mai multe boli cronice decât tinerii.</a:t>
            </a:r>
            <a:endParaRPr lang="en-US" sz="1800" dirty="0"/>
          </a:p>
        </p:txBody>
      </p:sp>
      <p:sp>
        <p:nvSpPr>
          <p:cNvPr id="22" name="Text 20"/>
          <p:cNvSpPr/>
          <p:nvPr/>
        </p:nvSpPr>
        <p:spPr>
          <a:xfrm>
            <a:off x="594360" y="5257800"/>
            <a:ext cx="10972800" cy="54864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Argumentați prin cele trei criterii: sistematic, produs social, nedrept.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(b) și (c) sunt inechități; (a) și (d), inegalități</a:t>
            </a:r>
            <a:endParaRPr lang="en-US" sz="2800" dirty="0"/>
          </a:p>
        </p:txBody>
      </p:sp>
      <p:sp>
        <p:nvSpPr>
          <p:cNvPr id="4" name="Shape 2"/>
          <p:cNvSpPr/>
          <p:nvPr/>
        </p:nvSpPr>
        <p:spPr>
          <a:xfrm>
            <a:off x="594360" y="1691640"/>
            <a:ext cx="5394960" cy="3383280"/>
          </a:xfrm>
          <a:prstGeom prst="roundRect">
            <a:avLst>
              <a:gd name="adj" fmla="val 2432"/>
            </a:avLst>
          </a:prstGeom>
          <a:solidFill>
            <a:srgbClr val="ECEAE4"/>
          </a:solidFill>
          <a:ln w="12700">
            <a:solidFill>
              <a:srgbClr val="ECEAE4"/>
            </a:solidFill>
            <a:prstDash val="solid"/>
          </a:ln>
        </p:spPr>
        <p:txBody>
          <a:bodyPr/>
          <a:p/>
        </p:txBody>
      </p:sp>
      <p:sp>
        <p:nvSpPr>
          <p:cNvPr id="5" name="Shape 3"/>
          <p:cNvSpPr/>
          <p:nvPr/>
        </p:nvSpPr>
        <p:spPr>
          <a:xfrm>
            <a:off x="594360" y="1691640"/>
            <a:ext cx="5394960" cy="73152"/>
          </a:xfrm>
          <a:prstGeom prst="rect">
            <a:avLst/>
          </a:prstGeom>
          <a:solidFill>
            <a:srgbClr val="B02532"/>
          </a:solidFill>
          <a:ln w="12700">
            <a:solidFill>
              <a:srgbClr val="B02532"/>
            </a:solidFill>
            <a:prstDash val="solid"/>
          </a:ln>
        </p:spPr>
        <p:txBody>
          <a:bodyPr/>
          <a:p/>
        </p:txBody>
      </p:sp>
      <p:sp>
        <p:nvSpPr>
          <p:cNvPr id="6" name="Text 4"/>
          <p:cNvSpPr/>
          <p:nvPr/>
        </p:nvSpPr>
        <p:spPr>
          <a:xfrm>
            <a:off x="822960" y="1892808"/>
            <a:ext cx="4937760" cy="6858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Inechități</a:t>
            </a:r>
            <a:endParaRPr lang="en-US" sz="2000" dirty="0"/>
          </a:p>
        </p:txBody>
      </p:sp>
      <p:sp>
        <p:nvSpPr>
          <p:cNvPr id="7" name="Text 5"/>
          <p:cNvSpPr/>
          <p:nvPr/>
        </p:nvSpPr>
        <p:spPr>
          <a:xfrm>
            <a:off x="822960" y="2560320"/>
            <a:ext cx="4937760" cy="23774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(b) copiii din familiile sărace, mai rar vaccinați complet</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 mortalitatea infantilă, mai mare în mediul rural</a:t>
            </a:r>
            <a:endParaRPr lang="en-US" sz="1600" dirty="0"/>
          </a:p>
          <a:p>
            <a:pPr indent="0" marL="0">
              <a:buNone/>
            </a:pP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Sistematice, produse social, corectabile.</a:t>
            </a:r>
            <a:endParaRPr lang="en-US" sz="1600" dirty="0"/>
          </a:p>
        </p:txBody>
      </p:sp>
      <p:sp>
        <p:nvSpPr>
          <p:cNvPr id="8" name="Shape 6"/>
          <p:cNvSpPr/>
          <p:nvPr/>
        </p:nvSpPr>
        <p:spPr>
          <a:xfrm>
            <a:off x="6172200" y="1691640"/>
            <a:ext cx="5394960" cy="3383280"/>
          </a:xfrm>
          <a:prstGeom prst="roundRect">
            <a:avLst>
              <a:gd name="adj" fmla="val 2432"/>
            </a:avLst>
          </a:prstGeom>
          <a:solidFill>
            <a:srgbClr val="F9F8F5"/>
          </a:solidFill>
          <a:ln w="12700">
            <a:solidFill>
              <a:srgbClr val="F9F8F5"/>
            </a:solidFill>
            <a:prstDash val="solid"/>
          </a:ln>
        </p:spPr>
        <p:txBody>
          <a:bodyPr/>
          <a:p/>
        </p:txBody>
      </p:sp>
      <p:sp>
        <p:nvSpPr>
          <p:cNvPr id="9" name="Shape 7"/>
          <p:cNvSpPr/>
          <p:nvPr/>
        </p:nvSpPr>
        <p:spPr>
          <a:xfrm>
            <a:off x="6172200" y="1691640"/>
            <a:ext cx="5394960" cy="73152"/>
          </a:xfrm>
          <a:prstGeom prst="rect">
            <a:avLst/>
          </a:prstGeom>
          <a:solidFill>
            <a:srgbClr val="5A5F75"/>
          </a:solidFill>
          <a:ln w="12700">
            <a:solidFill>
              <a:srgbClr val="5A5F75"/>
            </a:solidFill>
            <a:prstDash val="solid"/>
          </a:ln>
        </p:spPr>
        <p:txBody>
          <a:bodyPr/>
          <a:p/>
        </p:txBody>
      </p:sp>
      <p:sp>
        <p:nvSpPr>
          <p:cNvPr id="10" name="Text 8"/>
          <p:cNvSpPr/>
          <p:nvPr/>
        </p:nvSpPr>
        <p:spPr>
          <a:xfrm>
            <a:off x="6400800" y="1892808"/>
            <a:ext cx="4937760" cy="685800"/>
          </a:xfrm>
          <a:prstGeom prst="rect">
            <a:avLst/>
          </a:prstGeom>
          <a:noFill/>
          <a:ln/>
        </p:spPr>
        <p:txBody>
          <a:bodyPr wrap="square" lIns="0" tIns="0" rIns="0" bIns="0" rtlCol="0" anchor="t"/>
          <a:lstStyle/>
          <a:p>
            <a:pPr indent="0" marL="0">
              <a:buNone/>
            </a:pPr>
            <a:r>
              <a:rPr lang="en-US" sz="2000" b="1" dirty="0">
                <a:solidFill>
                  <a:srgbClr val="5A5F75"/>
                </a:solidFill>
                <a:latin typeface="Palatino Linotype" pitchFamily="34" charset="0"/>
                <a:ea typeface="Palatino Linotype" pitchFamily="34" charset="-122"/>
                <a:cs typeface="Palatino Linotype" pitchFamily="34" charset="-120"/>
              </a:rPr>
              <a:t>Inegalități</a:t>
            </a:r>
            <a:endParaRPr lang="en-US" sz="2000" dirty="0"/>
          </a:p>
        </p:txBody>
      </p:sp>
      <p:sp>
        <p:nvSpPr>
          <p:cNvPr id="11" name="Text 9"/>
          <p:cNvSpPr/>
          <p:nvPr/>
        </p:nvSpPr>
        <p:spPr>
          <a:xfrm>
            <a:off x="6400800" y="2560320"/>
            <a:ext cx="4937760" cy="23774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 avantajul biologic de supraviețuire al femeilor</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 mai multe boli cronice la vârstnici</a:t>
            </a:r>
            <a:endParaRPr lang="en-US" sz="1600" dirty="0"/>
          </a:p>
          <a:p>
            <a:pPr indent="0" marL="0">
              <a:buNone/>
            </a:pP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Legate de biologie și de vârstă.</a:t>
            </a:r>
            <a:endParaRPr lang="en-US" sz="1600" dirty="0"/>
          </a:p>
        </p:txBody>
      </p:sp>
      <p:sp>
        <p:nvSpPr>
          <p:cNvPr id="12" name="Text 10"/>
          <p:cNvSpPr/>
          <p:nvPr/>
        </p:nvSpPr>
        <p:spPr>
          <a:xfrm>
            <a:off x="594360" y="5303520"/>
            <a:ext cx="10972800" cy="64008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Întrebarea utilă: ar putea diferența să dispară dacă s-ar schimba condițiile sociale?</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GRADIENTUL SOCIAL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Pe toată scara socială, nu doar la capăt</a:t>
            </a:r>
            <a:endParaRPr lang="en-US" sz="3000" dirty="0"/>
          </a:p>
        </p:txBody>
      </p:sp>
      <p:sp>
        <p:nvSpPr>
          <p:cNvPr id="4" name="Shape 2"/>
          <p:cNvSpPr/>
          <p:nvPr/>
        </p:nvSpPr>
        <p:spPr>
          <a:xfrm>
            <a:off x="594360" y="4389120"/>
            <a:ext cx="1005840" cy="731520"/>
          </a:xfrm>
          <a:prstGeom prst="rect">
            <a:avLst/>
          </a:prstGeom>
          <a:solidFill>
            <a:srgbClr val="B5B2AA"/>
          </a:solidFill>
          <a:ln w="12700">
            <a:solidFill>
              <a:srgbClr val="F6F5F2"/>
            </a:solidFill>
            <a:prstDash val="solid"/>
          </a:ln>
        </p:spPr>
        <p:txBody>
          <a:bodyPr/>
          <a:p/>
        </p:txBody>
      </p:sp>
      <p:sp>
        <p:nvSpPr>
          <p:cNvPr id="5" name="Shape 3"/>
          <p:cNvSpPr/>
          <p:nvPr/>
        </p:nvSpPr>
        <p:spPr>
          <a:xfrm>
            <a:off x="1737360" y="3886200"/>
            <a:ext cx="1005840" cy="1234440"/>
          </a:xfrm>
          <a:prstGeom prst="rect">
            <a:avLst/>
          </a:prstGeom>
          <a:solidFill>
            <a:srgbClr val="B5B2AA"/>
          </a:solidFill>
          <a:ln w="12700">
            <a:solidFill>
              <a:srgbClr val="F6F5F2"/>
            </a:solidFill>
            <a:prstDash val="solid"/>
          </a:ln>
        </p:spPr>
        <p:txBody>
          <a:bodyPr/>
          <a:p/>
        </p:txBody>
      </p:sp>
      <p:sp>
        <p:nvSpPr>
          <p:cNvPr id="6" name="Shape 4"/>
          <p:cNvSpPr/>
          <p:nvPr/>
        </p:nvSpPr>
        <p:spPr>
          <a:xfrm>
            <a:off x="2880360" y="3383280"/>
            <a:ext cx="1005840" cy="1737360"/>
          </a:xfrm>
          <a:prstGeom prst="rect">
            <a:avLst/>
          </a:prstGeom>
          <a:solidFill>
            <a:srgbClr val="B5B2AA"/>
          </a:solidFill>
          <a:ln w="12700">
            <a:solidFill>
              <a:srgbClr val="F6F5F2"/>
            </a:solidFill>
            <a:prstDash val="solid"/>
          </a:ln>
        </p:spPr>
        <p:txBody>
          <a:bodyPr/>
          <a:p/>
        </p:txBody>
      </p:sp>
      <p:sp>
        <p:nvSpPr>
          <p:cNvPr id="7" name="Shape 5"/>
          <p:cNvSpPr/>
          <p:nvPr/>
        </p:nvSpPr>
        <p:spPr>
          <a:xfrm>
            <a:off x="4023360" y="2880360"/>
            <a:ext cx="1005840" cy="2240280"/>
          </a:xfrm>
          <a:prstGeom prst="rect">
            <a:avLst/>
          </a:prstGeom>
          <a:solidFill>
            <a:srgbClr val="B5B2AA"/>
          </a:solidFill>
          <a:ln w="12700">
            <a:solidFill>
              <a:srgbClr val="F6F5F2"/>
            </a:solidFill>
            <a:prstDash val="solid"/>
          </a:ln>
        </p:spPr>
        <p:txBody>
          <a:bodyPr/>
          <a:p/>
        </p:txBody>
      </p:sp>
      <p:sp>
        <p:nvSpPr>
          <p:cNvPr id="8" name="Shape 6"/>
          <p:cNvSpPr/>
          <p:nvPr/>
        </p:nvSpPr>
        <p:spPr>
          <a:xfrm>
            <a:off x="5166360" y="2377440"/>
            <a:ext cx="1005840" cy="2743200"/>
          </a:xfrm>
          <a:prstGeom prst="rect">
            <a:avLst/>
          </a:prstGeom>
          <a:solidFill>
            <a:srgbClr val="0E7C6B"/>
          </a:solidFill>
          <a:ln w="12700">
            <a:solidFill>
              <a:srgbClr val="F6F5F2"/>
            </a:solidFill>
            <a:prstDash val="solid"/>
          </a:ln>
        </p:spPr>
        <p:txBody>
          <a:bodyPr/>
          <a:p/>
        </p:txBody>
      </p:sp>
      <p:sp>
        <p:nvSpPr>
          <p:cNvPr id="9" name="Text 7"/>
          <p:cNvSpPr/>
          <p:nvPr/>
        </p:nvSpPr>
        <p:spPr>
          <a:xfrm>
            <a:off x="594360" y="5212080"/>
            <a:ext cx="54864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poziția socială →</a:t>
            </a:r>
            <a:endParaRPr lang="en-US" sz="1400" dirty="0"/>
          </a:p>
        </p:txBody>
      </p:sp>
      <p:sp>
        <p:nvSpPr>
          <p:cNvPr id="10" name="Text 8"/>
          <p:cNvSpPr/>
          <p:nvPr/>
        </p:nvSpPr>
        <p:spPr>
          <a:xfrm>
            <a:off x="594360" y="1691640"/>
            <a:ext cx="27432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starea de sănătate ↑</a:t>
            </a:r>
            <a:endParaRPr lang="en-US" sz="1400" dirty="0"/>
          </a:p>
        </p:txBody>
      </p:sp>
      <p:sp>
        <p:nvSpPr>
          <p:cNvPr id="11" name="Text 9"/>
          <p:cNvSpPr/>
          <p:nvPr/>
        </p:nvSpPr>
        <p:spPr>
          <a:xfrm>
            <a:off x="6583680" y="1691640"/>
            <a:ext cx="4983480" cy="12801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Sănătatea scade treptat, pe măsură ce scade poziția socială, pe toată scara, nu numai la grupul cel mai sărac.</a:t>
            </a:r>
            <a:endParaRPr lang="en-US" sz="1800" dirty="0"/>
          </a:p>
        </p:txBody>
      </p:sp>
      <p:sp>
        <p:nvSpPr>
          <p:cNvPr id="12" name="Text 10"/>
          <p:cNvSpPr/>
          <p:nvPr/>
        </p:nvSpPr>
        <p:spPr>
          <a:xfrm>
            <a:off x="6583680" y="3063240"/>
            <a:ext cx="4983480" cy="146304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O sinteză recentă: o corelație între statutul social mai înalt și sănătatea mai bună, care stă la baza inechităților, în sănătatea fizică și în cea mintală.</a:t>
            </a:r>
            <a:endParaRPr lang="en-US" sz="1550" dirty="0"/>
          </a:p>
        </p:txBody>
      </p:sp>
      <p:sp>
        <p:nvSpPr>
          <p:cNvPr id="13" name="Text 11"/>
          <p:cNvSpPr/>
          <p:nvPr/>
        </p:nvSpPr>
        <p:spPr>
          <a:xfrm>
            <a:off x="6583680" y="4617720"/>
            <a:ext cx="498348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Termenul este asociat cu numele lui Michael Marmot.</a:t>
            </a:r>
            <a:endParaRPr lang="en-US" sz="1400" dirty="0"/>
          </a:p>
        </p:txBody>
      </p:sp>
      <p:sp>
        <p:nvSpPr>
          <p:cNvPr id="14" name="Text 1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Bolton, 2023 (registru A930); gradientul din datele românești: cursul întâi.</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CONVENȚIE A CURSULUI, DUPĂ LUCRĂRILE OMS</a:t>
            </a:r>
            <a:endParaRPr lang="en-US" sz="1300" dirty="0"/>
          </a:p>
        </p:txBody>
      </p:sp>
      <p:sp>
        <p:nvSpPr>
          <p:cNvPr id="3" name="Shape 1"/>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RELUAȚI VOTUL</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Patru niveluri de acțiune</a:t>
            </a:r>
            <a:endParaRPr lang="en-US" sz="3200" dirty="0"/>
          </a:p>
        </p:txBody>
      </p:sp>
      <p:sp>
        <p:nvSpPr>
          <p:cNvPr id="6" name="Shape 4"/>
          <p:cNvSpPr/>
          <p:nvPr/>
        </p:nvSpPr>
        <p:spPr>
          <a:xfrm>
            <a:off x="594360" y="1645920"/>
            <a:ext cx="6949440" cy="694944"/>
          </a:xfrm>
          <a:prstGeom prst="roundRect">
            <a:avLst>
              <a:gd name="adj" fmla="val 11842"/>
            </a:avLst>
          </a:prstGeom>
          <a:solidFill>
            <a:srgbClr val="1D1F2B"/>
          </a:solidFill>
          <a:ln w="12700">
            <a:solidFill>
              <a:srgbClr val="1D1F2B"/>
            </a:solidFill>
            <a:prstDash val="solid"/>
          </a:ln>
        </p:spPr>
        <p:txBody>
          <a:bodyPr/>
          <a:p/>
        </p:txBody>
      </p:sp>
      <p:sp>
        <p:nvSpPr>
          <p:cNvPr id="7" name="Shape 5"/>
          <p:cNvSpPr/>
          <p:nvPr/>
        </p:nvSpPr>
        <p:spPr>
          <a:xfrm>
            <a:off x="594360" y="1645920"/>
            <a:ext cx="82296" cy="694944"/>
          </a:xfrm>
          <a:prstGeom prst="rect">
            <a:avLst/>
          </a:prstGeom>
          <a:solidFill>
            <a:srgbClr val="9B7EF7"/>
          </a:solidFill>
          <a:ln w="12700">
            <a:solidFill>
              <a:srgbClr val="9B7EF7"/>
            </a:solidFill>
            <a:prstDash val="solid"/>
          </a:ln>
        </p:spPr>
        <p:txBody>
          <a:bodyPr/>
          <a:p/>
        </p:txBody>
      </p:sp>
      <p:sp>
        <p:nvSpPr>
          <p:cNvPr id="8" name="Text 6"/>
          <p:cNvSpPr/>
          <p:nvPr/>
        </p:nvSpPr>
        <p:spPr>
          <a:xfrm>
            <a:off x="868680" y="1645920"/>
            <a:ext cx="2103120" cy="694944"/>
          </a:xfrm>
          <a:prstGeom prst="rect">
            <a:avLst/>
          </a:prstGeom>
          <a:noFill/>
          <a:ln/>
        </p:spPr>
        <p:txBody>
          <a:bodyPr wrap="square" lIns="0" tIns="0" rIns="0" bIns="0" rtlCol="0" anchor="ctr"/>
          <a:lstStyle/>
          <a:p>
            <a:pPr indent="0" marL="0">
              <a:buNone/>
            </a:pPr>
            <a:r>
              <a:rPr lang="en-US" sz="1500" b="1" dirty="0">
                <a:solidFill>
                  <a:srgbClr val="9B7EF7"/>
                </a:solidFill>
                <a:latin typeface="Palatino Linotype" pitchFamily="34" charset="0"/>
                <a:ea typeface="Palatino Linotype" pitchFamily="34" charset="-122"/>
                <a:cs typeface="Palatino Linotype" pitchFamily="34" charset="-120"/>
              </a:rPr>
              <a:t>Structural</a:t>
            </a:r>
            <a:endParaRPr lang="en-US" sz="1500" dirty="0"/>
          </a:p>
        </p:txBody>
      </p:sp>
      <p:sp>
        <p:nvSpPr>
          <p:cNvPr id="9" name="Text 7"/>
          <p:cNvSpPr/>
          <p:nvPr/>
        </p:nvSpPr>
        <p:spPr>
          <a:xfrm>
            <a:off x="3017520" y="1645920"/>
            <a:ext cx="4434840" cy="694944"/>
          </a:xfrm>
          <a:prstGeom prst="rect">
            <a:avLst/>
          </a:prstGeom>
          <a:noFill/>
          <a:ln/>
        </p:spPr>
        <p:txBody>
          <a:bodyPr wrap="square" lIns="0" tIns="0" rIns="0" bIns="0" rtlCol="0" anchor="ctr"/>
          <a:lstStyle/>
          <a:p>
            <a:pPr indent="0" marL="0">
              <a:buNone/>
            </a:pPr>
            <a:r>
              <a:rPr lang="en-US" sz="1400" dirty="0">
                <a:solidFill>
                  <a:srgbClr val="E6E8EF"/>
                </a:solidFill>
                <a:latin typeface="Palatino Linotype" pitchFamily="34" charset="0"/>
                <a:ea typeface="Palatino Linotype" pitchFamily="34" charset="-122"/>
                <a:cs typeface="Palatino Linotype" pitchFamily="34" charset="-120"/>
              </a:rPr>
              <a:t>educația, protecția socială, locuința, „sănătatea în toate politicile”</a:t>
            </a:r>
            <a:endParaRPr lang="en-US" sz="1400" dirty="0"/>
          </a:p>
        </p:txBody>
      </p:sp>
      <p:sp>
        <p:nvSpPr>
          <p:cNvPr id="10" name="Shape 8"/>
          <p:cNvSpPr/>
          <p:nvPr/>
        </p:nvSpPr>
        <p:spPr>
          <a:xfrm>
            <a:off x="594360" y="2450592"/>
            <a:ext cx="6949440" cy="694944"/>
          </a:xfrm>
          <a:prstGeom prst="roundRect">
            <a:avLst>
              <a:gd name="adj" fmla="val 11842"/>
            </a:avLst>
          </a:prstGeom>
          <a:solidFill>
            <a:srgbClr val="1D1F2B"/>
          </a:solidFill>
          <a:ln w="12700">
            <a:solidFill>
              <a:srgbClr val="1D1F2B"/>
            </a:solidFill>
            <a:prstDash val="solid"/>
          </a:ln>
        </p:spPr>
        <p:txBody>
          <a:bodyPr/>
          <a:p/>
        </p:txBody>
      </p:sp>
      <p:sp>
        <p:nvSpPr>
          <p:cNvPr id="11" name="Shape 9"/>
          <p:cNvSpPr/>
          <p:nvPr/>
        </p:nvSpPr>
        <p:spPr>
          <a:xfrm>
            <a:off x="594360" y="2450592"/>
            <a:ext cx="82296" cy="694944"/>
          </a:xfrm>
          <a:prstGeom prst="rect">
            <a:avLst/>
          </a:prstGeom>
          <a:solidFill>
            <a:srgbClr val="FF8A3D"/>
          </a:solidFill>
          <a:ln w="12700">
            <a:solidFill>
              <a:srgbClr val="FF8A3D"/>
            </a:solidFill>
            <a:prstDash val="solid"/>
          </a:ln>
        </p:spPr>
        <p:txBody>
          <a:bodyPr/>
          <a:p/>
        </p:txBody>
      </p:sp>
      <p:sp>
        <p:nvSpPr>
          <p:cNvPr id="12" name="Text 10"/>
          <p:cNvSpPr/>
          <p:nvPr/>
        </p:nvSpPr>
        <p:spPr>
          <a:xfrm>
            <a:off x="868680" y="2450592"/>
            <a:ext cx="2103120" cy="694944"/>
          </a:xfrm>
          <a:prstGeom prst="rect">
            <a:avLst/>
          </a:prstGeom>
          <a:noFill/>
          <a:ln/>
        </p:spPr>
        <p:txBody>
          <a:bodyPr wrap="square" lIns="0" tIns="0" rIns="0" bIns="0" rtlCol="0" anchor="ctr"/>
          <a:lstStyle/>
          <a:p>
            <a:pPr indent="0" marL="0">
              <a:buNone/>
            </a:pPr>
            <a:r>
              <a:rPr lang="en-US" sz="1500" b="1" dirty="0">
                <a:solidFill>
                  <a:srgbClr val="FF8A3D"/>
                </a:solidFill>
                <a:latin typeface="Palatino Linotype" pitchFamily="34" charset="0"/>
                <a:ea typeface="Palatino Linotype" pitchFamily="34" charset="-122"/>
                <a:cs typeface="Palatino Linotype" pitchFamily="34" charset="-120"/>
              </a:rPr>
              <a:t>Intermediar</a:t>
            </a:r>
            <a:endParaRPr lang="en-US" sz="1500" dirty="0"/>
          </a:p>
        </p:txBody>
      </p:sp>
      <p:sp>
        <p:nvSpPr>
          <p:cNvPr id="13" name="Text 11"/>
          <p:cNvSpPr/>
          <p:nvPr/>
        </p:nvSpPr>
        <p:spPr>
          <a:xfrm>
            <a:off x="3017520" y="2450592"/>
            <a:ext cx="4434840" cy="694944"/>
          </a:xfrm>
          <a:prstGeom prst="rect">
            <a:avLst/>
          </a:prstGeom>
          <a:noFill/>
          <a:ln/>
        </p:spPr>
        <p:txBody>
          <a:bodyPr wrap="square" lIns="0" tIns="0" rIns="0" bIns="0" rtlCol="0" anchor="ctr"/>
          <a:lstStyle/>
          <a:p>
            <a:pPr indent="0" marL="0">
              <a:buNone/>
            </a:pPr>
            <a:r>
              <a:rPr lang="en-US" sz="1400" dirty="0">
                <a:solidFill>
                  <a:srgbClr val="E6E8EF"/>
                </a:solidFill>
                <a:latin typeface="Palatino Linotype" pitchFamily="34" charset="0"/>
                <a:ea typeface="Palatino Linotype" pitchFamily="34" charset="-122"/>
                <a:cs typeface="Palatino Linotype" pitchFamily="34" charset="-120"/>
              </a:rPr>
              <a:t>munca decentă, alimentele accesibile, transportul public, spațiile verzi</a:t>
            </a:r>
            <a:endParaRPr lang="en-US" sz="1400" dirty="0"/>
          </a:p>
        </p:txBody>
      </p:sp>
      <p:sp>
        <p:nvSpPr>
          <p:cNvPr id="14" name="Shape 12"/>
          <p:cNvSpPr/>
          <p:nvPr/>
        </p:nvSpPr>
        <p:spPr>
          <a:xfrm>
            <a:off x="594360" y="3255264"/>
            <a:ext cx="6949440" cy="694944"/>
          </a:xfrm>
          <a:prstGeom prst="roundRect">
            <a:avLst>
              <a:gd name="adj" fmla="val 11842"/>
            </a:avLst>
          </a:prstGeom>
          <a:solidFill>
            <a:srgbClr val="1D1F2B"/>
          </a:solidFill>
          <a:ln w="12700">
            <a:solidFill>
              <a:srgbClr val="1D1F2B"/>
            </a:solidFill>
            <a:prstDash val="solid"/>
          </a:ln>
        </p:spPr>
        <p:txBody>
          <a:bodyPr/>
          <a:p/>
        </p:txBody>
      </p:sp>
      <p:sp>
        <p:nvSpPr>
          <p:cNvPr id="15" name="Shape 13"/>
          <p:cNvSpPr/>
          <p:nvPr/>
        </p:nvSpPr>
        <p:spPr>
          <a:xfrm>
            <a:off x="594360" y="3255264"/>
            <a:ext cx="82296" cy="694944"/>
          </a:xfrm>
          <a:prstGeom prst="rect">
            <a:avLst/>
          </a:prstGeom>
          <a:solidFill>
            <a:srgbClr val="27D3BE"/>
          </a:solidFill>
          <a:ln w="12700">
            <a:solidFill>
              <a:srgbClr val="27D3BE"/>
            </a:solidFill>
            <a:prstDash val="solid"/>
          </a:ln>
        </p:spPr>
        <p:txBody>
          <a:bodyPr/>
          <a:p/>
        </p:txBody>
      </p:sp>
      <p:sp>
        <p:nvSpPr>
          <p:cNvPr id="16" name="Text 14"/>
          <p:cNvSpPr/>
          <p:nvPr/>
        </p:nvSpPr>
        <p:spPr>
          <a:xfrm>
            <a:off x="868680" y="3255264"/>
            <a:ext cx="2103120" cy="694944"/>
          </a:xfrm>
          <a:prstGeom prst="rect">
            <a:avLst/>
          </a:prstGeom>
          <a:noFill/>
          <a:ln/>
        </p:spPr>
        <p:txBody>
          <a:bodyPr wrap="square" lIns="0" tIns="0" rIns="0" bIns="0" rtlCol="0" anchor="ctr"/>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Serviciile de sănătate</a:t>
            </a:r>
            <a:endParaRPr lang="en-US" sz="1500" dirty="0"/>
          </a:p>
        </p:txBody>
      </p:sp>
      <p:sp>
        <p:nvSpPr>
          <p:cNvPr id="17" name="Text 15"/>
          <p:cNvSpPr/>
          <p:nvPr/>
        </p:nvSpPr>
        <p:spPr>
          <a:xfrm>
            <a:off x="3017520" y="3255264"/>
            <a:ext cx="4434840" cy="694944"/>
          </a:xfrm>
          <a:prstGeom prst="rect">
            <a:avLst/>
          </a:prstGeom>
          <a:noFill/>
          <a:ln/>
        </p:spPr>
        <p:txBody>
          <a:bodyPr wrap="square" lIns="0" tIns="0" rIns="0" bIns="0" rtlCol="0" anchor="ctr"/>
          <a:lstStyle/>
          <a:p>
            <a:pPr indent="0" marL="0">
              <a:buNone/>
            </a:pPr>
            <a:r>
              <a:rPr lang="en-US" sz="1400" dirty="0">
                <a:solidFill>
                  <a:srgbClr val="E6E8EF"/>
                </a:solidFill>
                <a:latin typeface="Palatino Linotype" pitchFamily="34" charset="0"/>
                <a:ea typeface="Palatino Linotype" pitchFamily="34" charset="-122"/>
                <a:cs typeface="Palatino Linotype" pitchFamily="34" charset="-120"/>
              </a:rPr>
              <a:t>acoperirea universală, asistența comunitară, mediatorii, telemedicina</a:t>
            </a:r>
            <a:endParaRPr lang="en-US" sz="1400" dirty="0"/>
          </a:p>
        </p:txBody>
      </p:sp>
      <p:sp>
        <p:nvSpPr>
          <p:cNvPr id="18" name="Shape 16"/>
          <p:cNvSpPr/>
          <p:nvPr/>
        </p:nvSpPr>
        <p:spPr>
          <a:xfrm>
            <a:off x="594360" y="4059936"/>
            <a:ext cx="6949440" cy="694944"/>
          </a:xfrm>
          <a:prstGeom prst="roundRect">
            <a:avLst>
              <a:gd name="adj" fmla="val 11842"/>
            </a:avLst>
          </a:prstGeom>
          <a:solidFill>
            <a:srgbClr val="1D1F2B"/>
          </a:solidFill>
          <a:ln w="12700">
            <a:solidFill>
              <a:srgbClr val="1D1F2B"/>
            </a:solidFill>
            <a:prstDash val="solid"/>
          </a:ln>
        </p:spPr>
        <p:txBody>
          <a:bodyPr/>
          <a:p/>
        </p:txBody>
      </p:sp>
      <p:sp>
        <p:nvSpPr>
          <p:cNvPr id="19" name="Shape 17"/>
          <p:cNvSpPr/>
          <p:nvPr/>
        </p:nvSpPr>
        <p:spPr>
          <a:xfrm>
            <a:off x="594360" y="4059936"/>
            <a:ext cx="82296" cy="694944"/>
          </a:xfrm>
          <a:prstGeom prst="rect">
            <a:avLst/>
          </a:prstGeom>
          <a:solidFill>
            <a:srgbClr val="FF4757"/>
          </a:solidFill>
          <a:ln w="12700">
            <a:solidFill>
              <a:srgbClr val="FF4757"/>
            </a:solidFill>
            <a:prstDash val="solid"/>
          </a:ln>
        </p:spPr>
        <p:txBody>
          <a:bodyPr/>
          <a:p/>
        </p:txBody>
      </p:sp>
      <p:sp>
        <p:nvSpPr>
          <p:cNvPr id="20" name="Text 18"/>
          <p:cNvSpPr/>
          <p:nvPr/>
        </p:nvSpPr>
        <p:spPr>
          <a:xfrm>
            <a:off x="868680" y="4059936"/>
            <a:ext cx="2103120" cy="694944"/>
          </a:xfrm>
          <a:prstGeom prst="rect">
            <a:avLst/>
          </a:prstGeom>
          <a:noFill/>
          <a:ln/>
        </p:spPr>
        <p:txBody>
          <a:bodyPr wrap="square" lIns="0" tIns="0" rIns="0" bIns="0" rtlCol="0" anchor="ctr"/>
          <a:lstStyle/>
          <a:p>
            <a:pPr indent="0" marL="0">
              <a:buNone/>
            </a:pPr>
            <a:r>
              <a:rPr lang="en-US" sz="1500" b="1" dirty="0">
                <a:solidFill>
                  <a:srgbClr val="FF4757"/>
                </a:solidFill>
                <a:latin typeface="Palatino Linotype" pitchFamily="34" charset="0"/>
                <a:ea typeface="Palatino Linotype" pitchFamily="34" charset="-122"/>
                <a:cs typeface="Palatino Linotype" pitchFamily="34" charset="-120"/>
              </a:rPr>
              <a:t>Consecințele bolii</a:t>
            </a:r>
            <a:endParaRPr lang="en-US" sz="1500" dirty="0"/>
          </a:p>
        </p:txBody>
      </p:sp>
      <p:sp>
        <p:nvSpPr>
          <p:cNvPr id="21" name="Text 19"/>
          <p:cNvSpPr/>
          <p:nvPr/>
        </p:nvSpPr>
        <p:spPr>
          <a:xfrm>
            <a:off x="3017520" y="4059936"/>
            <a:ext cx="4434840" cy="694944"/>
          </a:xfrm>
          <a:prstGeom prst="rect">
            <a:avLst/>
          </a:prstGeom>
          <a:noFill/>
          <a:ln/>
        </p:spPr>
        <p:txBody>
          <a:bodyPr wrap="square" lIns="0" tIns="0" rIns="0" bIns="0" rtlCol="0" anchor="ctr"/>
          <a:lstStyle/>
          <a:p>
            <a:pPr indent="0" marL="0">
              <a:buNone/>
            </a:pPr>
            <a:r>
              <a:rPr lang="en-US" sz="1400" dirty="0">
                <a:solidFill>
                  <a:srgbClr val="E6E8EF"/>
                </a:solidFill>
                <a:latin typeface="Palatino Linotype" pitchFamily="34" charset="0"/>
                <a:ea typeface="Palatino Linotype" pitchFamily="34" charset="-122"/>
                <a:cs typeface="Palatino Linotype" pitchFamily="34" charset="-120"/>
              </a:rPr>
              <a:t>reabilitarea, serviciile sociale, îngrijirile paliative</a:t>
            </a:r>
            <a:endParaRPr lang="en-US" sz="1400" dirty="0"/>
          </a:p>
        </p:txBody>
      </p:sp>
      <p:sp>
        <p:nvSpPr>
          <p:cNvPr id="22" name="Shape 20"/>
          <p:cNvSpPr/>
          <p:nvPr/>
        </p:nvSpPr>
        <p:spPr>
          <a:xfrm>
            <a:off x="7818120" y="1645920"/>
            <a:ext cx="3749040" cy="3108960"/>
          </a:xfrm>
          <a:prstGeom prst="roundRect">
            <a:avLst>
              <a:gd name="adj" fmla="val 2647"/>
            </a:avLst>
          </a:prstGeom>
          <a:solidFill>
            <a:srgbClr val="272A38"/>
          </a:solidFill>
          <a:ln w="12700">
            <a:solidFill>
              <a:srgbClr val="272A38"/>
            </a:solidFill>
            <a:prstDash val="solid"/>
          </a:ln>
        </p:spPr>
        <p:txBody>
          <a:bodyPr/>
          <a:p/>
        </p:txBody>
      </p:sp>
      <p:sp>
        <p:nvSpPr>
          <p:cNvPr id="23" name="Text 21"/>
          <p:cNvSpPr/>
          <p:nvPr/>
        </p:nvSpPr>
        <p:spPr>
          <a:xfrm>
            <a:off x="8001000" y="1783080"/>
            <a:ext cx="3383280" cy="28346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Vizita aleasă: la ce nivel acționează? O măsură de nivel mai înalt poate avea un efect mai durabil.</a:t>
            </a:r>
            <a:endParaRPr lang="en-US" sz="1600" dirty="0"/>
          </a:p>
        </p:txBody>
      </p:sp>
      <p:sp>
        <p:nvSpPr>
          <p:cNvPr id="24" name="Text 22"/>
          <p:cNvSpPr/>
          <p:nvPr/>
        </p:nvSpPr>
        <p:spPr>
          <a:xfrm>
            <a:off x="594360" y="4983480"/>
            <a:ext cx="10972800" cy="86868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Asistentul lucrează mai ales la ultimele două niveluri, dar poate semnala restul: o rampă, o cursă de autobuz.</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ROLURILE ASISTENTULUI MEDICAL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Ce face asistentul pentru populațiile vulnerabile</a:t>
            </a:r>
            <a:endParaRPr lang="en-US" sz="2800" dirty="0"/>
          </a:p>
        </p:txBody>
      </p:sp>
      <p:sp>
        <p:nvSpPr>
          <p:cNvPr id="4" name="Shape 2"/>
          <p:cNvSpPr/>
          <p:nvPr/>
        </p:nvSpPr>
        <p:spPr>
          <a:xfrm>
            <a:off x="594360" y="1645920"/>
            <a:ext cx="2240280" cy="960120"/>
          </a:xfrm>
          <a:prstGeom prst="roundRect">
            <a:avLst>
              <a:gd name="adj" fmla="val 8571"/>
            </a:avLst>
          </a:prstGeom>
          <a:solidFill>
            <a:srgbClr val="ECEAE4"/>
          </a:solidFill>
          <a:ln w="12700">
            <a:solidFill>
              <a:srgbClr val="ECEAE4"/>
            </a:solidFill>
            <a:prstDash val="solid"/>
          </a:ln>
        </p:spPr>
        <p:txBody>
          <a:bodyPr/>
          <a:p/>
        </p:txBody>
      </p:sp>
      <p:sp>
        <p:nvSpPr>
          <p:cNvPr id="5" name="Text 3"/>
          <p:cNvSpPr/>
          <p:nvPr/>
        </p:nvSpPr>
        <p:spPr>
          <a:xfrm>
            <a:off x="731520" y="1645920"/>
            <a:ext cx="1965960" cy="960120"/>
          </a:xfrm>
          <a:prstGeom prst="rect">
            <a:avLst/>
          </a:prstGeom>
          <a:noFill/>
          <a:ln/>
        </p:spPr>
        <p:txBody>
          <a:bodyPr wrap="square" lIns="0" tIns="0" rIns="0" bIns="0" rtlCol="0" anchor="ctr"/>
          <a:lstStyle/>
          <a:p>
            <a:pPr algn="ctr" indent="0" marL="0">
              <a:buNone/>
            </a:pPr>
            <a:r>
              <a:rPr lang="en-US" sz="1450" b="1" dirty="0">
                <a:solidFill>
                  <a:srgbClr val="11121A"/>
                </a:solidFill>
                <a:latin typeface="Palatino Linotype" pitchFamily="34" charset="0"/>
                <a:ea typeface="Palatino Linotype" pitchFamily="34" charset="-122"/>
                <a:cs typeface="Palatino Linotype" pitchFamily="34" charset="-120"/>
              </a:rPr>
              <a:t>Screeningul factorilor de risc</a:t>
            </a:r>
            <a:endParaRPr lang="en-US" sz="1450" dirty="0"/>
          </a:p>
        </p:txBody>
      </p:sp>
      <p:sp>
        <p:nvSpPr>
          <p:cNvPr id="6" name="Shape 4"/>
          <p:cNvSpPr/>
          <p:nvPr/>
        </p:nvSpPr>
        <p:spPr>
          <a:xfrm>
            <a:off x="2971800" y="1645920"/>
            <a:ext cx="2240280" cy="960120"/>
          </a:xfrm>
          <a:prstGeom prst="roundRect">
            <a:avLst>
              <a:gd name="adj" fmla="val 8571"/>
            </a:avLst>
          </a:prstGeom>
          <a:solidFill>
            <a:srgbClr val="F9F8F5"/>
          </a:solidFill>
          <a:ln w="12700">
            <a:solidFill>
              <a:srgbClr val="F9F8F5"/>
            </a:solidFill>
            <a:prstDash val="solid"/>
          </a:ln>
        </p:spPr>
        <p:txBody>
          <a:bodyPr/>
          <a:p/>
        </p:txBody>
      </p:sp>
      <p:sp>
        <p:nvSpPr>
          <p:cNvPr id="7" name="Text 5"/>
          <p:cNvSpPr/>
          <p:nvPr/>
        </p:nvSpPr>
        <p:spPr>
          <a:xfrm>
            <a:off x="3108960" y="1645920"/>
            <a:ext cx="1965960" cy="960120"/>
          </a:xfrm>
          <a:prstGeom prst="rect">
            <a:avLst/>
          </a:prstGeom>
          <a:noFill/>
          <a:ln/>
        </p:spPr>
        <p:txBody>
          <a:bodyPr wrap="square" lIns="0" tIns="0" rIns="0" bIns="0" rtlCol="0" anchor="ctr"/>
          <a:lstStyle/>
          <a:p>
            <a:pPr algn="ctr" indent="0" marL="0">
              <a:buNone/>
            </a:pPr>
            <a:r>
              <a:rPr lang="en-US" sz="1450" b="1" dirty="0">
                <a:solidFill>
                  <a:srgbClr val="11121A"/>
                </a:solidFill>
                <a:latin typeface="Palatino Linotype" pitchFamily="34" charset="0"/>
                <a:ea typeface="Palatino Linotype" pitchFamily="34" charset="-122"/>
                <a:cs typeface="Palatino Linotype" pitchFamily="34" charset="-120"/>
              </a:rPr>
              <a:t>Căutarea activă a celor greu accesibili</a:t>
            </a:r>
            <a:endParaRPr lang="en-US" sz="1450" dirty="0"/>
          </a:p>
        </p:txBody>
      </p:sp>
      <p:sp>
        <p:nvSpPr>
          <p:cNvPr id="8" name="Shape 6"/>
          <p:cNvSpPr/>
          <p:nvPr/>
        </p:nvSpPr>
        <p:spPr>
          <a:xfrm>
            <a:off x="5349240" y="1645920"/>
            <a:ext cx="2240280" cy="960120"/>
          </a:xfrm>
          <a:prstGeom prst="roundRect">
            <a:avLst>
              <a:gd name="adj" fmla="val 8571"/>
            </a:avLst>
          </a:prstGeom>
          <a:solidFill>
            <a:srgbClr val="ECEAE4"/>
          </a:solidFill>
          <a:ln w="12700">
            <a:solidFill>
              <a:srgbClr val="ECEAE4"/>
            </a:solidFill>
            <a:prstDash val="solid"/>
          </a:ln>
        </p:spPr>
        <p:txBody>
          <a:bodyPr/>
          <a:p/>
        </p:txBody>
      </p:sp>
      <p:sp>
        <p:nvSpPr>
          <p:cNvPr id="9" name="Text 7"/>
          <p:cNvSpPr/>
          <p:nvPr/>
        </p:nvSpPr>
        <p:spPr>
          <a:xfrm>
            <a:off x="5486400" y="1645920"/>
            <a:ext cx="1965960" cy="960120"/>
          </a:xfrm>
          <a:prstGeom prst="rect">
            <a:avLst/>
          </a:prstGeom>
          <a:noFill/>
          <a:ln/>
        </p:spPr>
        <p:txBody>
          <a:bodyPr wrap="square" lIns="0" tIns="0" rIns="0" bIns="0" rtlCol="0" anchor="ctr"/>
          <a:lstStyle/>
          <a:p>
            <a:pPr algn="ctr" indent="0" marL="0">
              <a:buNone/>
            </a:pPr>
            <a:r>
              <a:rPr lang="en-US" sz="1450" b="1" dirty="0">
                <a:solidFill>
                  <a:srgbClr val="11121A"/>
                </a:solidFill>
                <a:latin typeface="Palatino Linotype" pitchFamily="34" charset="0"/>
                <a:ea typeface="Palatino Linotype" pitchFamily="34" charset="-122"/>
                <a:cs typeface="Palatino Linotype" pitchFamily="34" charset="-120"/>
              </a:rPr>
              <a:t>Pledoaria pentru acces echitabil</a:t>
            </a:r>
            <a:endParaRPr lang="en-US" sz="1450" dirty="0"/>
          </a:p>
        </p:txBody>
      </p:sp>
      <p:sp>
        <p:nvSpPr>
          <p:cNvPr id="10" name="Shape 8"/>
          <p:cNvSpPr/>
          <p:nvPr/>
        </p:nvSpPr>
        <p:spPr>
          <a:xfrm>
            <a:off x="594360" y="2743200"/>
            <a:ext cx="2240280" cy="960120"/>
          </a:xfrm>
          <a:prstGeom prst="roundRect">
            <a:avLst>
              <a:gd name="adj" fmla="val 8571"/>
            </a:avLst>
          </a:prstGeom>
          <a:solidFill>
            <a:srgbClr val="F9F8F5"/>
          </a:solidFill>
          <a:ln w="12700">
            <a:solidFill>
              <a:srgbClr val="F9F8F5"/>
            </a:solidFill>
            <a:prstDash val="solid"/>
          </a:ln>
        </p:spPr>
        <p:txBody>
          <a:bodyPr/>
          <a:p/>
        </p:txBody>
      </p:sp>
      <p:sp>
        <p:nvSpPr>
          <p:cNvPr id="11" name="Text 9"/>
          <p:cNvSpPr/>
          <p:nvPr/>
        </p:nvSpPr>
        <p:spPr>
          <a:xfrm>
            <a:off x="731520" y="2743200"/>
            <a:ext cx="1965960" cy="960120"/>
          </a:xfrm>
          <a:prstGeom prst="rect">
            <a:avLst/>
          </a:prstGeom>
          <a:noFill/>
          <a:ln/>
        </p:spPr>
        <p:txBody>
          <a:bodyPr wrap="square" lIns="0" tIns="0" rIns="0" bIns="0" rtlCol="0" anchor="ctr"/>
          <a:lstStyle/>
          <a:p>
            <a:pPr algn="ctr" indent="0" marL="0">
              <a:buNone/>
            </a:pPr>
            <a:r>
              <a:rPr lang="en-US" sz="1450" b="1" dirty="0">
                <a:solidFill>
                  <a:srgbClr val="11121A"/>
                </a:solidFill>
                <a:latin typeface="Palatino Linotype" pitchFamily="34" charset="0"/>
                <a:ea typeface="Palatino Linotype" pitchFamily="34" charset="-122"/>
                <a:cs typeface="Palatino Linotype" pitchFamily="34" charset="-120"/>
              </a:rPr>
              <a:t>Educație adaptată cultural</a:t>
            </a:r>
            <a:endParaRPr lang="en-US" sz="1450" dirty="0"/>
          </a:p>
        </p:txBody>
      </p:sp>
      <p:sp>
        <p:nvSpPr>
          <p:cNvPr id="12" name="Shape 10"/>
          <p:cNvSpPr/>
          <p:nvPr/>
        </p:nvSpPr>
        <p:spPr>
          <a:xfrm>
            <a:off x="2971800" y="2743200"/>
            <a:ext cx="2240280" cy="960120"/>
          </a:xfrm>
          <a:prstGeom prst="roundRect">
            <a:avLst>
              <a:gd name="adj" fmla="val 8571"/>
            </a:avLst>
          </a:prstGeom>
          <a:solidFill>
            <a:srgbClr val="ECEAE4"/>
          </a:solidFill>
          <a:ln w="12700">
            <a:solidFill>
              <a:srgbClr val="ECEAE4"/>
            </a:solidFill>
            <a:prstDash val="solid"/>
          </a:ln>
        </p:spPr>
        <p:txBody>
          <a:bodyPr/>
          <a:p/>
        </p:txBody>
      </p:sp>
      <p:sp>
        <p:nvSpPr>
          <p:cNvPr id="13" name="Text 11"/>
          <p:cNvSpPr/>
          <p:nvPr/>
        </p:nvSpPr>
        <p:spPr>
          <a:xfrm>
            <a:off x="3108960" y="2743200"/>
            <a:ext cx="1965960" cy="960120"/>
          </a:xfrm>
          <a:prstGeom prst="rect">
            <a:avLst/>
          </a:prstGeom>
          <a:noFill/>
          <a:ln/>
        </p:spPr>
        <p:txBody>
          <a:bodyPr wrap="square" lIns="0" tIns="0" rIns="0" bIns="0" rtlCol="0" anchor="ctr"/>
          <a:lstStyle/>
          <a:p>
            <a:pPr algn="ctr" indent="0" marL="0">
              <a:buNone/>
            </a:pPr>
            <a:r>
              <a:rPr lang="en-US" sz="1450" b="1" dirty="0">
                <a:solidFill>
                  <a:srgbClr val="11121A"/>
                </a:solidFill>
                <a:latin typeface="Palatino Linotype" pitchFamily="34" charset="0"/>
                <a:ea typeface="Palatino Linotype" pitchFamily="34" charset="-122"/>
                <a:cs typeface="Palatino Linotype" pitchFamily="34" charset="-120"/>
              </a:rPr>
              <a:t>Managementul de caz</a:t>
            </a:r>
            <a:endParaRPr lang="en-US" sz="1450" dirty="0"/>
          </a:p>
        </p:txBody>
      </p:sp>
      <p:sp>
        <p:nvSpPr>
          <p:cNvPr id="14" name="Shape 12"/>
          <p:cNvSpPr/>
          <p:nvPr/>
        </p:nvSpPr>
        <p:spPr>
          <a:xfrm>
            <a:off x="5349240" y="2743200"/>
            <a:ext cx="2240280" cy="960120"/>
          </a:xfrm>
          <a:prstGeom prst="roundRect">
            <a:avLst>
              <a:gd name="adj" fmla="val 8571"/>
            </a:avLst>
          </a:prstGeom>
          <a:solidFill>
            <a:srgbClr val="F9F8F5"/>
          </a:solidFill>
          <a:ln w="12700">
            <a:solidFill>
              <a:srgbClr val="F9F8F5"/>
            </a:solidFill>
            <a:prstDash val="solid"/>
          </a:ln>
        </p:spPr>
        <p:txBody>
          <a:bodyPr/>
          <a:p/>
        </p:txBody>
      </p:sp>
      <p:sp>
        <p:nvSpPr>
          <p:cNvPr id="15" name="Text 13"/>
          <p:cNvSpPr/>
          <p:nvPr/>
        </p:nvSpPr>
        <p:spPr>
          <a:xfrm>
            <a:off x="5486400" y="2743200"/>
            <a:ext cx="1965960" cy="960120"/>
          </a:xfrm>
          <a:prstGeom prst="rect">
            <a:avLst/>
          </a:prstGeom>
          <a:noFill/>
          <a:ln/>
        </p:spPr>
        <p:txBody>
          <a:bodyPr wrap="square" lIns="0" tIns="0" rIns="0" bIns="0" rtlCol="0" anchor="ctr"/>
          <a:lstStyle/>
          <a:p>
            <a:pPr algn="ctr" indent="0" marL="0">
              <a:buNone/>
            </a:pPr>
            <a:r>
              <a:rPr lang="en-US" sz="1450" b="1" dirty="0">
                <a:solidFill>
                  <a:srgbClr val="11121A"/>
                </a:solidFill>
                <a:latin typeface="Palatino Linotype" pitchFamily="34" charset="0"/>
                <a:ea typeface="Palatino Linotype" pitchFamily="34" charset="-122"/>
                <a:cs typeface="Palatino Linotype" pitchFamily="34" charset="-120"/>
              </a:rPr>
              <a:t>Trimiterea și urmărirea</a:t>
            </a:r>
            <a:endParaRPr lang="en-US" sz="1450" dirty="0"/>
          </a:p>
        </p:txBody>
      </p:sp>
      <p:sp>
        <p:nvSpPr>
          <p:cNvPr id="16" name="Shape 14"/>
          <p:cNvSpPr/>
          <p:nvPr/>
        </p:nvSpPr>
        <p:spPr>
          <a:xfrm>
            <a:off x="7818120" y="1645920"/>
            <a:ext cx="3749040" cy="2057400"/>
          </a:xfrm>
          <a:prstGeom prst="roundRect">
            <a:avLst>
              <a:gd name="adj" fmla="val 4000"/>
            </a:avLst>
          </a:prstGeom>
          <a:solidFill>
            <a:srgbClr val="11121A"/>
          </a:solidFill>
          <a:ln w="12700">
            <a:solidFill>
              <a:srgbClr val="11121A"/>
            </a:solidFill>
            <a:prstDash val="solid"/>
          </a:ln>
        </p:spPr>
        <p:txBody>
          <a:bodyPr/>
          <a:p/>
        </p:txBody>
      </p:sp>
      <p:sp>
        <p:nvSpPr>
          <p:cNvPr id="17" name="Text 15"/>
          <p:cNvSpPr/>
          <p:nvPr/>
        </p:nvSpPr>
        <p:spPr>
          <a:xfrm>
            <a:off x="8092440" y="1755648"/>
            <a:ext cx="3200400" cy="1028700"/>
          </a:xfrm>
          <a:prstGeom prst="rect">
            <a:avLst/>
          </a:prstGeom>
          <a:noFill/>
          <a:ln/>
        </p:spPr>
        <p:txBody>
          <a:bodyPr wrap="square" lIns="0" tIns="0" rIns="0" bIns="0" rtlCol="0" anchor="ctr"/>
          <a:lstStyle/>
          <a:p>
            <a:pPr indent="0" marL="0">
              <a:buNone/>
            </a:pPr>
            <a:r>
              <a:rPr lang="en-US" sz="3200" b="1" dirty="0">
                <a:solidFill>
                  <a:srgbClr val="FFC24B"/>
                </a:solidFill>
                <a:latin typeface="Palatino Linotype" pitchFamily="34" charset="0"/>
                <a:ea typeface="Palatino Linotype" pitchFamily="34" charset="-122"/>
                <a:cs typeface="Palatino Linotype" pitchFamily="34" charset="-120"/>
              </a:rPr>
              <a:t>1 791 · 459</a:t>
            </a:r>
            <a:endParaRPr lang="en-US" sz="3200" dirty="0"/>
          </a:p>
        </p:txBody>
      </p:sp>
      <p:sp>
        <p:nvSpPr>
          <p:cNvPr id="18" name="Text 16"/>
          <p:cNvSpPr/>
          <p:nvPr/>
        </p:nvSpPr>
        <p:spPr>
          <a:xfrm>
            <a:off x="8092440" y="2692908"/>
            <a:ext cx="3200400" cy="946404"/>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asistenți medicali comunitari și mediatori sanitari, în 2020, distribuiți inegal între județe</a:t>
            </a:r>
            <a:endParaRPr lang="en-US" sz="1200" dirty="0"/>
          </a:p>
        </p:txBody>
      </p:sp>
      <p:sp>
        <p:nvSpPr>
          <p:cNvPr id="19" name="Text 17"/>
          <p:cNvSpPr/>
          <p:nvPr/>
        </p:nvSpPr>
        <p:spPr>
          <a:xfrm>
            <a:off x="594360" y="4023360"/>
            <a:ext cx="1097280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Mediatorul sanitar nu înlocuiește asistentul: îi deschide ușa. Pentru Andrei: mediatoarea câștigă încrederea mamei, asistenta sprijină înscrierea la medicul de familie.</a:t>
            </a:r>
            <a:endParaRPr lang="en-US" sz="1600" dirty="0"/>
          </a:p>
        </p:txBody>
      </p:sp>
      <p:sp>
        <p:nvSpPr>
          <p:cNvPr id="20" name="Text 18"/>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Observatorul European, raportul despre România, 2026 (registru A902); rolurile: convenție a cursului.</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TREI MINUTE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ÎNAPOI LA ANDREI</a:t>
            </a:r>
            <a:endParaRPr lang="en-US" sz="1300" dirty="0"/>
          </a:p>
        </p:txBody>
      </p:sp>
      <p:sp>
        <p:nvSpPr>
          <p:cNvPr id="5" name="Text 3"/>
          <p:cNvSpPr/>
          <p:nvPr/>
        </p:nvSpPr>
        <p:spPr>
          <a:xfrm>
            <a:off x="594360" y="914400"/>
            <a:ext cx="10972800" cy="155448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o oprește pe familia lui Andrei să ajungă la vaccin?</a:t>
            </a:r>
            <a:endParaRPr lang="en-US" sz="3400" dirty="0"/>
          </a:p>
        </p:txBody>
      </p:sp>
      <p:sp>
        <p:nvSpPr>
          <p:cNvPr id="6" name="Text 4"/>
          <p:cNvSpPr/>
          <p:nvPr/>
        </p:nvSpPr>
        <p:spPr>
          <a:xfrm>
            <a:off x="594360" y="2697480"/>
            <a:ext cx="10972800" cy="82296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Vaccinurile sunt gratuite, iar Andrei este asigurat prin lege. Și totuși nu le-a primit.</a:t>
            </a:r>
            <a:endParaRPr lang="en-US" sz="2000" dirty="0"/>
          </a:p>
        </p:txBody>
      </p:sp>
      <p:sp>
        <p:nvSpPr>
          <p:cNvPr id="7" name="Shape 5"/>
          <p:cNvSpPr/>
          <p:nvPr/>
        </p:nvSpPr>
        <p:spPr>
          <a:xfrm>
            <a:off x="594360" y="370332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8" name="Shape 6"/>
          <p:cNvSpPr/>
          <p:nvPr/>
        </p:nvSpPr>
        <p:spPr>
          <a:xfrm>
            <a:off x="868680" y="3858768"/>
            <a:ext cx="420624" cy="420624"/>
          </a:xfrm>
          <a:prstGeom prst="ellipse">
            <a:avLst/>
          </a:prstGeom>
          <a:solidFill>
            <a:srgbClr val="FFC24B"/>
          </a:solidFill>
          <a:ln/>
        </p:spPr>
        <p:txBody>
          <a:bodyPr/>
          <a:p/>
        </p:txBody>
      </p:sp>
      <p:sp>
        <p:nvSpPr>
          <p:cNvPr id="9" name="Text 7"/>
          <p:cNvSpPr/>
          <p:nvPr/>
        </p:nvSpPr>
        <p:spPr>
          <a:xfrm>
            <a:off x="868680" y="38587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3703320"/>
            <a:ext cx="98298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Numiți două bariere.</a:t>
            </a:r>
            <a:endParaRPr lang="en-US" sz="1900" dirty="0"/>
          </a:p>
        </p:txBody>
      </p:sp>
      <p:sp>
        <p:nvSpPr>
          <p:cNvPr id="11" name="Shape 9"/>
          <p:cNvSpPr/>
          <p:nvPr/>
        </p:nvSpPr>
        <p:spPr>
          <a:xfrm>
            <a:off x="594360" y="457200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2" name="Shape 10"/>
          <p:cNvSpPr/>
          <p:nvPr/>
        </p:nvSpPr>
        <p:spPr>
          <a:xfrm>
            <a:off x="868680" y="4727448"/>
            <a:ext cx="420624" cy="420624"/>
          </a:xfrm>
          <a:prstGeom prst="ellipse">
            <a:avLst/>
          </a:prstGeom>
          <a:solidFill>
            <a:srgbClr val="FFC24B"/>
          </a:solidFill>
          <a:ln/>
        </p:spPr>
        <p:txBody>
          <a:bodyPr/>
          <a:p/>
        </p:txBody>
      </p:sp>
      <p:sp>
        <p:nvSpPr>
          <p:cNvPr id="13" name="Text 11"/>
          <p:cNvSpPr/>
          <p:nvPr/>
        </p:nvSpPr>
        <p:spPr>
          <a:xfrm>
            <a:off x="868680" y="47274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08760" y="4572000"/>
            <a:ext cx="98298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Cine din echipa Ioanei poate ridica fiecare barieră?</a:t>
            </a:r>
            <a:endParaRPr lang="en-US" sz="1900" dirty="0"/>
          </a:p>
        </p:txBody>
      </p:sp>
      <p:sp>
        <p:nvSpPr>
          <p:cNvPr id="15" name="Text 13"/>
          <p:cNvSpPr/>
          <p:nvPr/>
        </p:nvSpPr>
        <p:spPr>
          <a:xfrm>
            <a:off x="594360" y="5532120"/>
            <a:ext cx="1097280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Fără vot: două perechi spun ce au găsit.</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MODELUL DPSEEA · OMS</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UNDE AȚI INTERVENI?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la cauză la efect: unde ați interveni?</a:t>
            </a:r>
            <a:endParaRPr lang="en-US" sz="3000" dirty="0"/>
          </a:p>
        </p:txBody>
      </p:sp>
      <p:sp>
        <p:nvSpPr>
          <p:cNvPr id="6" name="Shape 4"/>
          <p:cNvSpPr/>
          <p:nvPr/>
        </p:nvSpPr>
        <p:spPr>
          <a:xfrm>
            <a:off x="594360" y="1691640"/>
            <a:ext cx="1920240" cy="868680"/>
          </a:xfrm>
          <a:prstGeom prst="roundRect">
            <a:avLst>
              <a:gd name="adj" fmla="val 9474"/>
            </a:avLst>
          </a:prstGeom>
          <a:solidFill>
            <a:srgbClr val="ECEAE4"/>
          </a:solidFill>
          <a:ln w="12700">
            <a:solidFill>
              <a:srgbClr val="ECEAE4"/>
            </a:solidFill>
            <a:prstDash val="solid"/>
          </a:ln>
        </p:spPr>
        <p:txBody>
          <a:bodyPr/>
          <a:p/>
        </p:txBody>
      </p:sp>
      <p:sp>
        <p:nvSpPr>
          <p:cNvPr id="7" name="Text 5"/>
          <p:cNvSpPr/>
          <p:nvPr/>
        </p:nvSpPr>
        <p:spPr>
          <a:xfrm>
            <a:off x="594360" y="1691640"/>
            <a:ext cx="1920240" cy="86868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Forțele motrice</a:t>
            </a:r>
            <a:endParaRPr lang="en-US" sz="1500" dirty="0"/>
          </a:p>
        </p:txBody>
      </p:sp>
      <p:sp>
        <p:nvSpPr>
          <p:cNvPr id="8" name="Shape 6"/>
          <p:cNvSpPr/>
          <p:nvPr/>
        </p:nvSpPr>
        <p:spPr>
          <a:xfrm>
            <a:off x="2542032" y="1965960"/>
            <a:ext cx="292608" cy="310896"/>
          </a:xfrm>
          <a:prstGeom prst="rightArrow">
            <a:avLst/>
          </a:prstGeom>
          <a:solidFill>
            <a:srgbClr val="C9C6BE"/>
          </a:solidFill>
          <a:ln w="12700">
            <a:solidFill>
              <a:srgbClr val="C9C6BE"/>
            </a:solidFill>
            <a:prstDash val="solid"/>
          </a:ln>
        </p:spPr>
        <p:txBody>
          <a:bodyPr/>
          <a:p/>
        </p:txBody>
      </p:sp>
      <p:sp>
        <p:nvSpPr>
          <p:cNvPr id="9" name="Shape 7"/>
          <p:cNvSpPr/>
          <p:nvPr/>
        </p:nvSpPr>
        <p:spPr>
          <a:xfrm>
            <a:off x="2862072" y="1691640"/>
            <a:ext cx="1920240" cy="868680"/>
          </a:xfrm>
          <a:prstGeom prst="roundRect">
            <a:avLst>
              <a:gd name="adj" fmla="val 9474"/>
            </a:avLst>
          </a:prstGeom>
          <a:solidFill>
            <a:srgbClr val="ECEAE4"/>
          </a:solidFill>
          <a:ln w="12700">
            <a:solidFill>
              <a:srgbClr val="ECEAE4"/>
            </a:solidFill>
            <a:prstDash val="solid"/>
          </a:ln>
        </p:spPr>
        <p:txBody>
          <a:bodyPr/>
          <a:p/>
        </p:txBody>
      </p:sp>
      <p:sp>
        <p:nvSpPr>
          <p:cNvPr id="10" name="Text 8"/>
          <p:cNvSpPr/>
          <p:nvPr/>
        </p:nvSpPr>
        <p:spPr>
          <a:xfrm>
            <a:off x="2862072" y="1691640"/>
            <a:ext cx="1920240" cy="86868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Presiunile</a:t>
            </a:r>
            <a:endParaRPr lang="en-US" sz="1500" dirty="0"/>
          </a:p>
        </p:txBody>
      </p:sp>
      <p:sp>
        <p:nvSpPr>
          <p:cNvPr id="11" name="Shape 9"/>
          <p:cNvSpPr/>
          <p:nvPr/>
        </p:nvSpPr>
        <p:spPr>
          <a:xfrm>
            <a:off x="4809744" y="1965960"/>
            <a:ext cx="292608" cy="310896"/>
          </a:xfrm>
          <a:prstGeom prst="rightArrow">
            <a:avLst/>
          </a:prstGeom>
          <a:solidFill>
            <a:srgbClr val="C9C6BE"/>
          </a:solidFill>
          <a:ln w="12700">
            <a:solidFill>
              <a:srgbClr val="C9C6BE"/>
            </a:solidFill>
            <a:prstDash val="solid"/>
          </a:ln>
        </p:spPr>
        <p:txBody>
          <a:bodyPr/>
          <a:p/>
        </p:txBody>
      </p:sp>
      <p:sp>
        <p:nvSpPr>
          <p:cNvPr id="12" name="Shape 10"/>
          <p:cNvSpPr/>
          <p:nvPr/>
        </p:nvSpPr>
        <p:spPr>
          <a:xfrm>
            <a:off x="5129784" y="1691640"/>
            <a:ext cx="1920240" cy="868680"/>
          </a:xfrm>
          <a:prstGeom prst="roundRect">
            <a:avLst>
              <a:gd name="adj" fmla="val 9474"/>
            </a:avLst>
          </a:prstGeom>
          <a:solidFill>
            <a:srgbClr val="ECEAE4"/>
          </a:solidFill>
          <a:ln w="12700">
            <a:solidFill>
              <a:srgbClr val="ECEAE4"/>
            </a:solidFill>
            <a:prstDash val="solid"/>
          </a:ln>
        </p:spPr>
        <p:txBody>
          <a:bodyPr/>
          <a:p/>
        </p:txBody>
      </p:sp>
      <p:sp>
        <p:nvSpPr>
          <p:cNvPr id="13" name="Text 11"/>
          <p:cNvSpPr/>
          <p:nvPr/>
        </p:nvSpPr>
        <p:spPr>
          <a:xfrm>
            <a:off x="5129784" y="1691640"/>
            <a:ext cx="1920240" cy="86868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Starea mediului</a:t>
            </a:r>
            <a:endParaRPr lang="en-US" sz="1500" dirty="0"/>
          </a:p>
        </p:txBody>
      </p:sp>
      <p:sp>
        <p:nvSpPr>
          <p:cNvPr id="14" name="Shape 12"/>
          <p:cNvSpPr/>
          <p:nvPr/>
        </p:nvSpPr>
        <p:spPr>
          <a:xfrm>
            <a:off x="7077456" y="1965960"/>
            <a:ext cx="292608" cy="310896"/>
          </a:xfrm>
          <a:prstGeom prst="rightArrow">
            <a:avLst/>
          </a:prstGeom>
          <a:solidFill>
            <a:srgbClr val="C9C6BE"/>
          </a:solidFill>
          <a:ln w="12700">
            <a:solidFill>
              <a:srgbClr val="C9C6BE"/>
            </a:solidFill>
            <a:prstDash val="solid"/>
          </a:ln>
        </p:spPr>
        <p:txBody>
          <a:bodyPr/>
          <a:p/>
        </p:txBody>
      </p:sp>
      <p:sp>
        <p:nvSpPr>
          <p:cNvPr id="15" name="Shape 13"/>
          <p:cNvSpPr/>
          <p:nvPr/>
        </p:nvSpPr>
        <p:spPr>
          <a:xfrm>
            <a:off x="7397496" y="1691640"/>
            <a:ext cx="1920240" cy="868680"/>
          </a:xfrm>
          <a:prstGeom prst="roundRect">
            <a:avLst>
              <a:gd name="adj" fmla="val 9474"/>
            </a:avLst>
          </a:prstGeom>
          <a:solidFill>
            <a:srgbClr val="0E7C6B"/>
          </a:solidFill>
          <a:ln w="12700">
            <a:solidFill>
              <a:srgbClr val="0E7C6B"/>
            </a:solidFill>
            <a:prstDash val="solid"/>
          </a:ln>
        </p:spPr>
        <p:txBody>
          <a:bodyPr/>
          <a:p/>
        </p:txBody>
      </p:sp>
      <p:sp>
        <p:nvSpPr>
          <p:cNvPr id="16" name="Text 14"/>
          <p:cNvSpPr/>
          <p:nvPr/>
        </p:nvSpPr>
        <p:spPr>
          <a:xfrm>
            <a:off x="7397496" y="1691640"/>
            <a:ext cx="192024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Expunerea</a:t>
            </a:r>
            <a:endParaRPr lang="en-US" sz="1500" dirty="0"/>
          </a:p>
        </p:txBody>
      </p:sp>
      <p:sp>
        <p:nvSpPr>
          <p:cNvPr id="17" name="Shape 15"/>
          <p:cNvSpPr/>
          <p:nvPr/>
        </p:nvSpPr>
        <p:spPr>
          <a:xfrm>
            <a:off x="9345168" y="1965960"/>
            <a:ext cx="292608" cy="310896"/>
          </a:xfrm>
          <a:prstGeom prst="rightArrow">
            <a:avLst/>
          </a:prstGeom>
          <a:solidFill>
            <a:srgbClr val="C9C6BE"/>
          </a:solidFill>
          <a:ln w="12700">
            <a:solidFill>
              <a:srgbClr val="C9C6BE"/>
            </a:solidFill>
            <a:prstDash val="solid"/>
          </a:ln>
        </p:spPr>
        <p:txBody>
          <a:bodyPr/>
          <a:p/>
        </p:txBody>
      </p:sp>
      <p:sp>
        <p:nvSpPr>
          <p:cNvPr id="18" name="Shape 16"/>
          <p:cNvSpPr/>
          <p:nvPr/>
        </p:nvSpPr>
        <p:spPr>
          <a:xfrm>
            <a:off x="9665208" y="1691640"/>
            <a:ext cx="1920240" cy="868680"/>
          </a:xfrm>
          <a:prstGeom prst="roundRect">
            <a:avLst>
              <a:gd name="adj" fmla="val 9474"/>
            </a:avLst>
          </a:prstGeom>
          <a:solidFill>
            <a:srgbClr val="ECEAE4"/>
          </a:solidFill>
          <a:ln w="12700">
            <a:solidFill>
              <a:srgbClr val="ECEAE4"/>
            </a:solidFill>
            <a:prstDash val="solid"/>
          </a:ln>
        </p:spPr>
        <p:txBody>
          <a:bodyPr/>
          <a:p/>
        </p:txBody>
      </p:sp>
      <p:sp>
        <p:nvSpPr>
          <p:cNvPr id="19" name="Text 17"/>
          <p:cNvSpPr/>
          <p:nvPr/>
        </p:nvSpPr>
        <p:spPr>
          <a:xfrm>
            <a:off x="9665208" y="1691640"/>
            <a:ext cx="1920240" cy="86868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Efectele</a:t>
            </a:r>
            <a:endParaRPr lang="en-US" sz="1500" dirty="0"/>
          </a:p>
        </p:txBody>
      </p:sp>
      <p:sp>
        <p:nvSpPr>
          <p:cNvPr id="20" name="Shape 18"/>
          <p:cNvSpPr/>
          <p:nvPr/>
        </p:nvSpPr>
        <p:spPr>
          <a:xfrm>
            <a:off x="594360" y="2697480"/>
            <a:ext cx="10972800" cy="548640"/>
          </a:xfrm>
          <a:prstGeom prst="roundRect">
            <a:avLst>
              <a:gd name="adj" fmla="val 15000"/>
            </a:avLst>
          </a:prstGeom>
          <a:solidFill>
            <a:srgbClr val="B02532"/>
          </a:solidFill>
          <a:ln w="12700">
            <a:solidFill>
              <a:srgbClr val="B02532"/>
            </a:solidFill>
            <a:prstDash val="solid"/>
          </a:ln>
        </p:spPr>
        <p:txBody>
          <a:bodyPr/>
          <a:p/>
        </p:txBody>
      </p:sp>
      <p:sp>
        <p:nvSpPr>
          <p:cNvPr id="21" name="Text 19"/>
          <p:cNvSpPr/>
          <p:nvPr/>
        </p:nvSpPr>
        <p:spPr>
          <a:xfrm>
            <a:off x="594360" y="2697480"/>
            <a:ext cx="109728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Acțiunile pot interveni la fiecare verigă</a:t>
            </a:r>
            <a:endParaRPr lang="en-US" sz="1500" dirty="0"/>
          </a:p>
        </p:txBody>
      </p:sp>
      <p:sp>
        <p:nvSpPr>
          <p:cNvPr id="22" name="Shape 20"/>
          <p:cNvSpPr/>
          <p:nvPr/>
        </p:nvSpPr>
        <p:spPr>
          <a:xfrm>
            <a:off x="594360" y="3474720"/>
            <a:ext cx="5394960" cy="1874520"/>
          </a:xfrm>
          <a:prstGeom prst="roundRect">
            <a:avLst>
              <a:gd name="adj" fmla="val 4390"/>
            </a:avLst>
          </a:prstGeom>
          <a:solidFill>
            <a:srgbClr val="ECEAE4"/>
          </a:solidFill>
          <a:ln w="12700">
            <a:solidFill>
              <a:srgbClr val="ECEAE4"/>
            </a:solidFill>
            <a:prstDash val="solid"/>
          </a:ln>
        </p:spPr>
        <p:txBody>
          <a:bodyPr/>
          <a:p/>
        </p:txBody>
      </p:sp>
      <p:sp>
        <p:nvSpPr>
          <p:cNvPr id="23" name="Shape 21"/>
          <p:cNvSpPr/>
          <p:nvPr/>
        </p:nvSpPr>
        <p:spPr>
          <a:xfrm>
            <a:off x="594360" y="3474720"/>
            <a:ext cx="5394960" cy="73152"/>
          </a:xfrm>
          <a:prstGeom prst="rect">
            <a:avLst/>
          </a:prstGeom>
          <a:solidFill>
            <a:srgbClr val="0E7C6B"/>
          </a:solidFill>
          <a:ln w="12700">
            <a:solidFill>
              <a:srgbClr val="0E7C6B"/>
            </a:solidFill>
            <a:prstDash val="solid"/>
          </a:ln>
        </p:spPr>
        <p:txBody>
          <a:bodyPr/>
          <a:p/>
        </p:txBody>
      </p:sp>
      <p:sp>
        <p:nvSpPr>
          <p:cNvPr id="24" name="Text 22"/>
          <p:cNvSpPr/>
          <p:nvPr/>
        </p:nvSpPr>
        <p:spPr>
          <a:xfrm>
            <a:off x="822960" y="3675888"/>
            <a:ext cx="493776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Andrei</a:t>
            </a:r>
            <a:endParaRPr lang="en-US" sz="1700" dirty="0"/>
          </a:p>
        </p:txBody>
      </p:sp>
      <p:sp>
        <p:nvSpPr>
          <p:cNvPr id="25" name="Text 23"/>
          <p:cNvSpPr/>
          <p:nvPr/>
        </p:nvSpPr>
        <p:spPr>
          <a:xfrm>
            <a:off x="822960" y="4343400"/>
            <a:ext cx="4937760" cy="86868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Casa fără apă curentă: apa nesigură crește riscul bolilor diareice.</a:t>
            </a:r>
            <a:endParaRPr lang="en-US" sz="1550" dirty="0"/>
          </a:p>
        </p:txBody>
      </p:sp>
      <p:sp>
        <p:nvSpPr>
          <p:cNvPr id="26" name="Shape 24"/>
          <p:cNvSpPr/>
          <p:nvPr/>
        </p:nvSpPr>
        <p:spPr>
          <a:xfrm>
            <a:off x="6172200" y="3474720"/>
            <a:ext cx="5394960" cy="1874520"/>
          </a:xfrm>
          <a:prstGeom prst="roundRect">
            <a:avLst>
              <a:gd name="adj" fmla="val 4390"/>
            </a:avLst>
          </a:prstGeom>
          <a:solidFill>
            <a:srgbClr val="F9F8F5"/>
          </a:solidFill>
          <a:ln w="12700">
            <a:solidFill>
              <a:srgbClr val="F9F8F5"/>
            </a:solidFill>
            <a:prstDash val="solid"/>
          </a:ln>
        </p:spPr>
        <p:txBody>
          <a:bodyPr/>
          <a:p/>
        </p:txBody>
      </p:sp>
      <p:sp>
        <p:nvSpPr>
          <p:cNvPr id="27" name="Shape 25"/>
          <p:cNvSpPr/>
          <p:nvPr/>
        </p:nvSpPr>
        <p:spPr>
          <a:xfrm>
            <a:off x="6172200" y="3474720"/>
            <a:ext cx="5394960" cy="73152"/>
          </a:xfrm>
          <a:prstGeom prst="rect">
            <a:avLst/>
          </a:prstGeom>
          <a:solidFill>
            <a:srgbClr val="B02532"/>
          </a:solidFill>
          <a:ln w="12700">
            <a:solidFill>
              <a:srgbClr val="B02532"/>
            </a:solidFill>
            <a:prstDash val="solid"/>
          </a:ln>
        </p:spPr>
        <p:txBody>
          <a:bodyPr/>
          <a:p/>
        </p:txBody>
      </p:sp>
      <p:sp>
        <p:nvSpPr>
          <p:cNvPr id="28" name="Text 26"/>
          <p:cNvSpPr/>
          <p:nvPr/>
        </p:nvSpPr>
        <p:spPr>
          <a:xfrm>
            <a:off x="6400800" y="3675888"/>
            <a:ext cx="493776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Doamna Elena</a:t>
            </a:r>
            <a:endParaRPr lang="en-US" sz="1700" dirty="0"/>
          </a:p>
        </p:txBody>
      </p:sp>
      <p:sp>
        <p:nvSpPr>
          <p:cNvPr id="29" name="Text 27"/>
          <p:cNvSpPr/>
          <p:nvPr/>
        </p:nvSpPr>
        <p:spPr>
          <a:xfrm>
            <a:off x="6400800" y="4343400"/>
            <a:ext cx="4937760" cy="86868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Fumul din sobă și frigul agravează bolile respiratorii și cardiovasculare.</a:t>
            </a:r>
            <a:endParaRPr lang="en-US" sz="1550" dirty="0"/>
          </a:p>
        </p:txBody>
      </p:sp>
      <p:sp>
        <p:nvSpPr>
          <p:cNvPr id="30" name="Text 28"/>
          <p:cNvSpPr/>
          <p:nvPr/>
        </p:nvSpPr>
        <p:spPr>
          <a:xfrm>
            <a:off x="594360" y="5486400"/>
            <a:ext cx="10972800" cy="640080"/>
          </a:xfrm>
          <a:prstGeom prst="rect">
            <a:avLst/>
          </a:prstGeom>
          <a:noFill/>
          <a:ln/>
        </p:spPr>
        <p:txBody>
          <a:bodyPr wrap="square" lIns="0" tIns="0" rIns="0" bIns="0" rtlCol="0" anchor="t"/>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Un filtru de apă acționează la expunere, canalizarea la presiune, o lege privind emisiile la forța motrice.</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AGENȚIA EUROPEANĂ DE MEDIU · UE-27 · DATELE ANULUI 2022</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Aerul pe care îl respirăm</a:t>
            </a:r>
            <a:endParaRPr lang="en-US" sz="3200" dirty="0"/>
          </a:p>
        </p:txBody>
      </p:sp>
      <p:sp>
        <p:nvSpPr>
          <p:cNvPr id="4" name="Shape 2"/>
          <p:cNvSpPr/>
          <p:nvPr/>
        </p:nvSpPr>
        <p:spPr>
          <a:xfrm>
            <a:off x="594360" y="1645920"/>
            <a:ext cx="6035040" cy="2240280"/>
          </a:xfrm>
          <a:prstGeom prst="roundRect">
            <a:avLst>
              <a:gd name="adj" fmla="val 3673"/>
            </a:avLst>
          </a:prstGeom>
          <a:solidFill>
            <a:srgbClr val="1D1F2B"/>
          </a:solidFill>
          <a:ln w="12700">
            <a:solidFill>
              <a:srgbClr val="1D1F2B"/>
            </a:solidFill>
            <a:prstDash val="solid"/>
          </a:ln>
        </p:spPr>
        <p:txBody>
          <a:bodyPr/>
          <a:p/>
        </p:txBody>
      </p:sp>
      <p:sp>
        <p:nvSpPr>
          <p:cNvPr id="5" name="Text 3"/>
          <p:cNvSpPr/>
          <p:nvPr/>
        </p:nvSpPr>
        <p:spPr>
          <a:xfrm>
            <a:off x="868680" y="1755648"/>
            <a:ext cx="5486400" cy="1120140"/>
          </a:xfrm>
          <a:prstGeom prst="rect">
            <a:avLst/>
          </a:prstGeom>
          <a:noFill/>
          <a:ln/>
        </p:spPr>
        <p:txBody>
          <a:bodyPr wrap="square" lIns="0" tIns="0" rIns="0" bIns="0" rtlCol="0" anchor="ctr"/>
          <a:lstStyle/>
          <a:p>
            <a:pPr indent="0" marL="0">
              <a:buNone/>
            </a:pPr>
            <a:r>
              <a:rPr lang="en-US" sz="6000" b="1" dirty="0">
                <a:solidFill>
                  <a:srgbClr val="FF4757"/>
                </a:solidFill>
                <a:latin typeface="Palatino Linotype" pitchFamily="34" charset="0"/>
                <a:ea typeface="Palatino Linotype" pitchFamily="34" charset="-122"/>
                <a:cs typeface="Palatino Linotype" pitchFamily="34" charset="-120"/>
              </a:rPr>
              <a:t>239 000</a:t>
            </a:r>
            <a:endParaRPr lang="en-US" sz="6000" dirty="0"/>
          </a:p>
        </p:txBody>
      </p:sp>
      <p:sp>
        <p:nvSpPr>
          <p:cNvPr id="6" name="Text 4"/>
          <p:cNvSpPr/>
          <p:nvPr/>
        </p:nvSpPr>
        <p:spPr>
          <a:xfrm>
            <a:off x="868680" y="2784348"/>
            <a:ext cx="5486400" cy="1030529"/>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de decese atribuibile particulelor fine (PM2,5) peste nivelul recomandat de OMS, de 5 µg/m³</a:t>
            </a:r>
            <a:endParaRPr lang="en-US" sz="1200" dirty="0"/>
          </a:p>
        </p:txBody>
      </p:sp>
      <p:sp>
        <p:nvSpPr>
          <p:cNvPr id="7" name="Shape 5"/>
          <p:cNvSpPr/>
          <p:nvPr/>
        </p:nvSpPr>
        <p:spPr>
          <a:xfrm>
            <a:off x="6812280" y="1645920"/>
            <a:ext cx="2286000" cy="2240280"/>
          </a:xfrm>
          <a:prstGeom prst="roundRect">
            <a:avLst>
              <a:gd name="adj" fmla="val 3673"/>
            </a:avLst>
          </a:prstGeom>
          <a:solidFill>
            <a:srgbClr val="1D1F2B"/>
          </a:solidFill>
          <a:ln w="12700">
            <a:solidFill>
              <a:srgbClr val="1D1F2B"/>
            </a:solidFill>
            <a:prstDash val="solid"/>
          </a:ln>
        </p:spPr>
        <p:txBody>
          <a:bodyPr/>
          <a:p/>
        </p:txBody>
      </p:sp>
      <p:sp>
        <p:nvSpPr>
          <p:cNvPr id="8" name="Text 6"/>
          <p:cNvSpPr/>
          <p:nvPr/>
        </p:nvSpPr>
        <p:spPr>
          <a:xfrm>
            <a:off x="7086600" y="1755648"/>
            <a:ext cx="1737360" cy="1120140"/>
          </a:xfrm>
          <a:prstGeom prst="rect">
            <a:avLst/>
          </a:prstGeom>
          <a:noFill/>
          <a:ln/>
        </p:spPr>
        <p:txBody>
          <a:bodyPr wrap="square" lIns="0" tIns="0" rIns="0" bIns="0" rtlCol="0" anchor="ctr"/>
          <a:lstStyle/>
          <a:p>
            <a:pPr indent="0" marL="0">
              <a:buNone/>
            </a:pPr>
            <a:r>
              <a:rPr lang="en-US" sz="3000" b="1" dirty="0">
                <a:solidFill>
                  <a:srgbClr val="FFC24B"/>
                </a:solidFill>
                <a:latin typeface="Palatino Linotype" pitchFamily="34" charset="0"/>
                <a:ea typeface="Palatino Linotype" pitchFamily="34" charset="-122"/>
                <a:cs typeface="Palatino Linotype" pitchFamily="34" charset="-120"/>
              </a:rPr>
              <a:t>70 000</a:t>
            </a:r>
            <a:endParaRPr lang="en-US" sz="3000" dirty="0"/>
          </a:p>
        </p:txBody>
      </p:sp>
      <p:sp>
        <p:nvSpPr>
          <p:cNvPr id="9" name="Text 7"/>
          <p:cNvSpPr/>
          <p:nvPr/>
        </p:nvSpPr>
        <p:spPr>
          <a:xfrm>
            <a:off x="7086600" y="2784348"/>
            <a:ext cx="1737360" cy="1030529"/>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ozonul</a:t>
            </a:r>
            <a:endParaRPr lang="en-US" sz="1200" dirty="0"/>
          </a:p>
        </p:txBody>
      </p:sp>
      <p:sp>
        <p:nvSpPr>
          <p:cNvPr id="10" name="Shape 8"/>
          <p:cNvSpPr/>
          <p:nvPr/>
        </p:nvSpPr>
        <p:spPr>
          <a:xfrm>
            <a:off x="9281160" y="1645920"/>
            <a:ext cx="2286000" cy="2240280"/>
          </a:xfrm>
          <a:prstGeom prst="roundRect">
            <a:avLst>
              <a:gd name="adj" fmla="val 3673"/>
            </a:avLst>
          </a:prstGeom>
          <a:solidFill>
            <a:srgbClr val="1D1F2B"/>
          </a:solidFill>
          <a:ln w="12700">
            <a:solidFill>
              <a:srgbClr val="1D1F2B"/>
            </a:solidFill>
            <a:prstDash val="solid"/>
          </a:ln>
        </p:spPr>
        <p:txBody>
          <a:bodyPr/>
          <a:p/>
        </p:txBody>
      </p:sp>
      <p:sp>
        <p:nvSpPr>
          <p:cNvPr id="11" name="Text 9"/>
          <p:cNvSpPr/>
          <p:nvPr/>
        </p:nvSpPr>
        <p:spPr>
          <a:xfrm>
            <a:off x="9555480" y="1755648"/>
            <a:ext cx="1737360" cy="1120140"/>
          </a:xfrm>
          <a:prstGeom prst="rect">
            <a:avLst/>
          </a:prstGeom>
          <a:noFill/>
          <a:ln/>
        </p:spPr>
        <p:txBody>
          <a:bodyPr wrap="square" lIns="0" tIns="0" rIns="0" bIns="0" rtlCol="0" anchor="ctr"/>
          <a:lstStyle/>
          <a:p>
            <a:pPr indent="0" marL="0">
              <a:buNone/>
            </a:pPr>
            <a:r>
              <a:rPr lang="en-US" sz="3000" b="1" dirty="0">
                <a:solidFill>
                  <a:srgbClr val="FFC24B"/>
                </a:solidFill>
                <a:latin typeface="Palatino Linotype" pitchFamily="34" charset="0"/>
                <a:ea typeface="Palatino Linotype" pitchFamily="34" charset="-122"/>
                <a:cs typeface="Palatino Linotype" pitchFamily="34" charset="-120"/>
              </a:rPr>
              <a:t>48 000</a:t>
            </a:r>
            <a:endParaRPr lang="en-US" sz="3000" dirty="0"/>
          </a:p>
        </p:txBody>
      </p:sp>
      <p:sp>
        <p:nvSpPr>
          <p:cNvPr id="12" name="Text 10"/>
          <p:cNvSpPr/>
          <p:nvPr/>
        </p:nvSpPr>
        <p:spPr>
          <a:xfrm>
            <a:off x="9555480" y="2784348"/>
            <a:ext cx="1737360" cy="1030529"/>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dioxidul de azot</a:t>
            </a:r>
            <a:endParaRPr lang="en-US" sz="1200" dirty="0"/>
          </a:p>
        </p:txBody>
      </p:sp>
      <p:sp>
        <p:nvSpPr>
          <p:cNvPr id="13" name="Text 11"/>
          <p:cNvSpPr/>
          <p:nvPr/>
        </p:nvSpPr>
        <p:spPr>
          <a:xfrm>
            <a:off x="594360" y="4114800"/>
            <a:ext cx="1097280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45% </a:t>
            </a:r>
            <a:pPr indent="0" marL="0">
              <a:buNone/>
            </a:pPr>
            <a:r>
              <a:rPr lang="en-US" sz="1700" dirty="0">
                <a:solidFill>
                  <a:srgbClr val="FFFFFF"/>
                </a:solidFill>
                <a:latin typeface="Palatino Linotype" pitchFamily="34" charset="0"/>
                <a:ea typeface="Palatino Linotype" pitchFamily="34" charset="-122"/>
                <a:cs typeface="Palatino Linotype" pitchFamily="34" charset="-120"/>
              </a:rPr>
              <a:t>scăderea deceselor atribuibile particulelor fine, între 2005 și 2022; ținta pentru 2030: o reducere de cel puțin 55%.</a:t>
            </a:r>
            <a:endParaRPr lang="en-US" sz="1700" dirty="0"/>
          </a:p>
        </p:txBody>
      </p:sp>
      <p:sp>
        <p:nvSpPr>
          <p:cNvPr id="14" name="Shape 12"/>
          <p:cNvSpPr/>
          <p:nvPr/>
        </p:nvSpPr>
        <p:spPr>
          <a:xfrm>
            <a:off x="594360" y="4983480"/>
            <a:ext cx="10972800" cy="960120"/>
          </a:xfrm>
          <a:prstGeom prst="roundRect">
            <a:avLst>
              <a:gd name="adj" fmla="val 8571"/>
            </a:avLst>
          </a:prstGeom>
          <a:solidFill>
            <a:srgbClr val="272A38"/>
          </a:solidFill>
          <a:ln w="12700">
            <a:solidFill>
              <a:srgbClr val="272A38"/>
            </a:solidFill>
            <a:prstDash val="solid"/>
          </a:ln>
        </p:spPr>
        <p:txBody>
          <a:bodyPr/>
          <a:p/>
        </p:txBody>
      </p:sp>
      <p:sp>
        <p:nvSpPr>
          <p:cNvPr id="15" name="Text 13"/>
          <p:cNvSpPr/>
          <p:nvPr/>
        </p:nvSpPr>
        <p:spPr>
          <a:xfrm>
            <a:off x="868680" y="4983480"/>
            <a:ext cx="10424160" cy="960120"/>
          </a:xfrm>
          <a:prstGeom prst="rect">
            <a:avLst/>
          </a:prstGeom>
          <a:noFill/>
          <a:ln/>
        </p:spPr>
        <p:txBody>
          <a:bodyPr wrap="square" lIns="0" tIns="0" rIns="0" bIns="0" rtlCol="0" anchor="ctr"/>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În ani de viață pierduți raportați la populație, cele mai afectate state: Bulgaria, Polonia, România.</a:t>
            </a:r>
            <a:endParaRPr lang="en-US" sz="1700" dirty="0"/>
          </a:p>
        </p:txBody>
      </p:sp>
      <p:sp>
        <p:nvSpPr>
          <p:cNvPr id="16" name="Text 14"/>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AEM, Harm to human health from air pollution in Europe, 2024 (registru A891, A892, A893).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NR. 319/2006 · SECURITATEA ȘI SĂNĂTATEA ÎN MUNCĂ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Cine răspunde de siguranța la locul de muncă</a:t>
            </a:r>
            <a:endParaRPr lang="en-US" sz="2800" dirty="0"/>
          </a:p>
        </p:txBody>
      </p:sp>
      <p:sp>
        <p:nvSpPr>
          <p:cNvPr id="4" name="Shape 2"/>
          <p:cNvSpPr/>
          <p:nvPr/>
        </p:nvSpPr>
        <p:spPr>
          <a:xfrm>
            <a:off x="594360" y="1645920"/>
            <a:ext cx="5486400" cy="1920240"/>
          </a:xfrm>
          <a:prstGeom prst="roundRect">
            <a:avLst>
              <a:gd name="adj" fmla="val 4286"/>
            </a:avLst>
          </a:prstGeom>
          <a:solidFill>
            <a:srgbClr val="ECEAE4"/>
          </a:solidFill>
          <a:ln w="12700">
            <a:solidFill>
              <a:srgbClr val="ECEAE4"/>
            </a:solidFill>
            <a:prstDash val="solid"/>
          </a:ln>
        </p:spPr>
        <p:txBody>
          <a:bodyPr/>
          <a:p/>
        </p:txBody>
      </p:sp>
      <p:sp>
        <p:nvSpPr>
          <p:cNvPr id="5" name="Shape 3"/>
          <p:cNvSpPr/>
          <p:nvPr/>
        </p:nvSpPr>
        <p:spPr>
          <a:xfrm>
            <a:off x="594360" y="1645920"/>
            <a:ext cx="5486400" cy="73152"/>
          </a:xfrm>
          <a:prstGeom prst="rect">
            <a:avLst/>
          </a:prstGeom>
          <a:solidFill>
            <a:srgbClr val="B02532"/>
          </a:solidFill>
          <a:ln w="12700">
            <a:solidFill>
              <a:srgbClr val="B02532"/>
            </a:solidFill>
            <a:prstDash val="solid"/>
          </a:ln>
        </p:spPr>
        <p:txBody>
          <a:bodyPr/>
          <a:p/>
        </p:txBody>
      </p:sp>
      <p:sp>
        <p:nvSpPr>
          <p:cNvPr id="6" name="Text 4"/>
          <p:cNvSpPr/>
          <p:nvPr/>
        </p:nvSpPr>
        <p:spPr>
          <a:xfrm>
            <a:off x="822960" y="1847088"/>
            <a:ext cx="502920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Angajatorul, art. 6 alin. (1)</a:t>
            </a:r>
            <a:endParaRPr lang="en-US" sz="1700" dirty="0"/>
          </a:p>
        </p:txBody>
      </p:sp>
      <p:sp>
        <p:nvSpPr>
          <p:cNvPr id="7" name="Text 5"/>
          <p:cNvSpPr/>
          <p:nvPr/>
        </p:nvSpPr>
        <p:spPr>
          <a:xfrm>
            <a:off x="822960" y="2514600"/>
            <a:ext cx="502920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„Angajatorul are obligația de a asigura securitatea și sănătatea lucrătorilor în toate aspectele legate de muncă.”</a:t>
            </a:r>
            <a:endParaRPr lang="en-US" sz="1550" dirty="0"/>
          </a:p>
        </p:txBody>
      </p:sp>
      <p:sp>
        <p:nvSpPr>
          <p:cNvPr id="8" name="Shape 6"/>
          <p:cNvSpPr/>
          <p:nvPr/>
        </p:nvSpPr>
        <p:spPr>
          <a:xfrm>
            <a:off x="594360" y="3703320"/>
            <a:ext cx="5486400" cy="1920240"/>
          </a:xfrm>
          <a:prstGeom prst="roundRect">
            <a:avLst>
              <a:gd name="adj" fmla="val 4286"/>
            </a:avLst>
          </a:prstGeom>
          <a:solidFill>
            <a:srgbClr val="F9F8F5"/>
          </a:solidFill>
          <a:ln w="12700">
            <a:solidFill>
              <a:srgbClr val="F9F8F5"/>
            </a:solidFill>
            <a:prstDash val="solid"/>
          </a:ln>
        </p:spPr>
        <p:txBody>
          <a:bodyPr/>
          <a:p/>
        </p:txBody>
      </p:sp>
      <p:sp>
        <p:nvSpPr>
          <p:cNvPr id="9" name="Shape 7"/>
          <p:cNvSpPr/>
          <p:nvPr/>
        </p:nvSpPr>
        <p:spPr>
          <a:xfrm>
            <a:off x="594360" y="3703320"/>
            <a:ext cx="548640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822960" y="3904488"/>
            <a:ext cx="502920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Lucrătorul, art. 22</a:t>
            </a:r>
            <a:endParaRPr lang="en-US" sz="1700" dirty="0"/>
          </a:p>
        </p:txBody>
      </p:sp>
      <p:sp>
        <p:nvSpPr>
          <p:cNvPr id="11" name="Text 9"/>
          <p:cNvSpPr/>
          <p:nvPr/>
        </p:nvSpPr>
        <p:spPr>
          <a:xfrm>
            <a:off x="822960" y="4572000"/>
            <a:ext cx="502920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Își desfășoară activitatea astfel încât să nu expună la pericol nici propria persoană, nici pe ceilalți.</a:t>
            </a:r>
            <a:endParaRPr lang="en-US" sz="1550" dirty="0"/>
          </a:p>
        </p:txBody>
      </p:sp>
      <p:sp>
        <p:nvSpPr>
          <p:cNvPr id="12" name="Shape 10"/>
          <p:cNvSpPr/>
          <p:nvPr/>
        </p:nvSpPr>
        <p:spPr>
          <a:xfrm>
            <a:off x="6309360" y="1645920"/>
            <a:ext cx="5257800" cy="685800"/>
          </a:xfrm>
          <a:prstGeom prst="roundRect">
            <a:avLst>
              <a:gd name="adj" fmla="val 12000"/>
            </a:avLst>
          </a:prstGeom>
          <a:solidFill>
            <a:srgbClr val="ECEAE4"/>
          </a:solidFill>
          <a:ln w="12700">
            <a:solidFill>
              <a:srgbClr val="ECEAE4"/>
            </a:solidFill>
            <a:prstDash val="solid"/>
          </a:ln>
        </p:spPr>
        <p:txBody>
          <a:bodyPr/>
          <a:p/>
        </p:txBody>
      </p:sp>
      <p:sp>
        <p:nvSpPr>
          <p:cNvPr id="13" name="Text 11"/>
          <p:cNvSpPr/>
          <p:nvPr/>
        </p:nvSpPr>
        <p:spPr>
          <a:xfrm>
            <a:off x="6492240" y="1645920"/>
            <a:ext cx="4937760" cy="685800"/>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Fizice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zgomot, radiații</a:t>
            </a:r>
            <a:endParaRPr lang="en-US" sz="1550" dirty="0"/>
          </a:p>
        </p:txBody>
      </p:sp>
      <p:sp>
        <p:nvSpPr>
          <p:cNvPr id="14" name="Shape 12"/>
          <p:cNvSpPr/>
          <p:nvPr/>
        </p:nvSpPr>
        <p:spPr>
          <a:xfrm>
            <a:off x="6309360" y="2441448"/>
            <a:ext cx="5257800" cy="685800"/>
          </a:xfrm>
          <a:prstGeom prst="roundRect">
            <a:avLst>
              <a:gd name="adj" fmla="val 12000"/>
            </a:avLst>
          </a:prstGeom>
          <a:solidFill>
            <a:srgbClr val="F9F8F5"/>
          </a:solidFill>
          <a:ln w="12700">
            <a:solidFill>
              <a:srgbClr val="F9F8F5"/>
            </a:solidFill>
            <a:prstDash val="solid"/>
          </a:ln>
        </p:spPr>
        <p:txBody>
          <a:bodyPr/>
          <a:p/>
        </p:txBody>
      </p:sp>
      <p:sp>
        <p:nvSpPr>
          <p:cNvPr id="15" name="Text 13"/>
          <p:cNvSpPr/>
          <p:nvPr/>
        </p:nvSpPr>
        <p:spPr>
          <a:xfrm>
            <a:off x="6492240" y="2441448"/>
            <a:ext cx="4937760" cy="685800"/>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Chimice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dezinfectante, citostatice</a:t>
            </a:r>
            <a:endParaRPr lang="en-US" sz="1550" dirty="0"/>
          </a:p>
        </p:txBody>
      </p:sp>
      <p:sp>
        <p:nvSpPr>
          <p:cNvPr id="16" name="Shape 14"/>
          <p:cNvSpPr/>
          <p:nvPr/>
        </p:nvSpPr>
        <p:spPr>
          <a:xfrm>
            <a:off x="6309360" y="3236976"/>
            <a:ext cx="5257800" cy="685800"/>
          </a:xfrm>
          <a:prstGeom prst="roundRect">
            <a:avLst>
              <a:gd name="adj" fmla="val 12000"/>
            </a:avLst>
          </a:prstGeom>
          <a:solidFill>
            <a:srgbClr val="ECEAE4"/>
          </a:solidFill>
          <a:ln w="12700">
            <a:solidFill>
              <a:srgbClr val="ECEAE4"/>
            </a:solidFill>
            <a:prstDash val="solid"/>
          </a:ln>
        </p:spPr>
        <p:txBody>
          <a:bodyPr/>
          <a:p/>
        </p:txBody>
      </p:sp>
      <p:sp>
        <p:nvSpPr>
          <p:cNvPr id="17" name="Text 15"/>
          <p:cNvSpPr/>
          <p:nvPr/>
        </p:nvSpPr>
        <p:spPr>
          <a:xfrm>
            <a:off x="6492240" y="3236976"/>
            <a:ext cx="4937760" cy="685800"/>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Biologice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înțepături cu ace</a:t>
            </a:r>
            <a:endParaRPr lang="en-US" sz="1550" dirty="0"/>
          </a:p>
        </p:txBody>
      </p:sp>
      <p:sp>
        <p:nvSpPr>
          <p:cNvPr id="18" name="Shape 16"/>
          <p:cNvSpPr/>
          <p:nvPr/>
        </p:nvSpPr>
        <p:spPr>
          <a:xfrm>
            <a:off x="6309360" y="4032504"/>
            <a:ext cx="5257800" cy="685800"/>
          </a:xfrm>
          <a:prstGeom prst="roundRect">
            <a:avLst>
              <a:gd name="adj" fmla="val 12000"/>
            </a:avLst>
          </a:prstGeom>
          <a:solidFill>
            <a:srgbClr val="F9F8F5"/>
          </a:solidFill>
          <a:ln w="12700">
            <a:solidFill>
              <a:srgbClr val="F9F8F5"/>
            </a:solidFill>
            <a:prstDash val="solid"/>
          </a:ln>
        </p:spPr>
        <p:txBody>
          <a:bodyPr/>
          <a:p/>
        </p:txBody>
      </p:sp>
      <p:sp>
        <p:nvSpPr>
          <p:cNvPr id="19" name="Text 17"/>
          <p:cNvSpPr/>
          <p:nvPr/>
        </p:nvSpPr>
        <p:spPr>
          <a:xfrm>
            <a:off x="6492240" y="4032504"/>
            <a:ext cx="4937760" cy="685800"/>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Ergonomice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mobilizarea pacienților</a:t>
            </a:r>
            <a:endParaRPr lang="en-US" sz="1550" dirty="0"/>
          </a:p>
        </p:txBody>
      </p:sp>
      <p:sp>
        <p:nvSpPr>
          <p:cNvPr id="20" name="Shape 18"/>
          <p:cNvSpPr/>
          <p:nvPr/>
        </p:nvSpPr>
        <p:spPr>
          <a:xfrm>
            <a:off x="6309360" y="4828032"/>
            <a:ext cx="5257800" cy="685800"/>
          </a:xfrm>
          <a:prstGeom prst="roundRect">
            <a:avLst>
              <a:gd name="adj" fmla="val 12000"/>
            </a:avLst>
          </a:prstGeom>
          <a:solidFill>
            <a:srgbClr val="ECEAE4"/>
          </a:solidFill>
          <a:ln w="12700">
            <a:solidFill>
              <a:srgbClr val="ECEAE4"/>
            </a:solidFill>
            <a:prstDash val="solid"/>
          </a:ln>
        </p:spPr>
        <p:txBody>
          <a:bodyPr/>
          <a:p/>
        </p:txBody>
      </p:sp>
      <p:sp>
        <p:nvSpPr>
          <p:cNvPr id="21" name="Text 19"/>
          <p:cNvSpPr/>
          <p:nvPr/>
        </p:nvSpPr>
        <p:spPr>
          <a:xfrm>
            <a:off x="6492240" y="4828032"/>
            <a:ext cx="4937760" cy="685800"/>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Psihosociale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ture, violență</a:t>
            </a:r>
            <a:endParaRPr lang="en-US" sz="1550" dirty="0"/>
          </a:p>
        </p:txBody>
      </p:sp>
      <p:sp>
        <p:nvSpPr>
          <p:cNvPr id="22" name="Text 20"/>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Legea nr. 319/2006 (registru A890); cele cinci categorii: convenție a cursului. Asistentul este expus la toate.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OMS · CLASIFICAREA INTERNAȚIONALĂ A MALADIILOR, REVIZIA A 11-A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Epuizarea profesională: un fenomen ocupațional</a:t>
            </a:r>
            <a:endParaRPr lang="en-US" sz="3000" dirty="0"/>
          </a:p>
        </p:txBody>
      </p:sp>
      <p:sp>
        <p:nvSpPr>
          <p:cNvPr id="4" name="Text 2"/>
          <p:cNvSpPr/>
          <p:nvPr/>
        </p:nvSpPr>
        <p:spPr>
          <a:xfrm>
            <a:off x="594360" y="1645920"/>
            <a:ext cx="10972800" cy="1005840"/>
          </a:xfrm>
          <a:prstGeom prst="rect">
            <a:avLst/>
          </a:prstGeom>
          <a:noFill/>
          <a:ln/>
        </p:spPr>
        <p:txBody>
          <a:bodyPr wrap="square" lIns="0" tIns="0" rIns="0" bIns="0" rtlCol="0" anchor="t"/>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„Un sindrom conceptualizat ca rezultat al stresului cronic la locul de muncă, care nu a fost gestionat cu succes” (traducere proprie)</a:t>
            </a:r>
            <a:endParaRPr lang="en-US" sz="1900" dirty="0"/>
          </a:p>
        </p:txBody>
      </p:sp>
      <p:sp>
        <p:nvSpPr>
          <p:cNvPr id="5" name="Shape 3"/>
          <p:cNvSpPr/>
          <p:nvPr/>
        </p:nvSpPr>
        <p:spPr>
          <a:xfrm>
            <a:off x="594360" y="2788920"/>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6" name="Shape 4"/>
          <p:cNvSpPr/>
          <p:nvPr/>
        </p:nvSpPr>
        <p:spPr>
          <a:xfrm>
            <a:off x="868680" y="2898648"/>
            <a:ext cx="420624" cy="420624"/>
          </a:xfrm>
          <a:prstGeom prst="ellipse">
            <a:avLst/>
          </a:prstGeom>
          <a:solidFill>
            <a:srgbClr val="FFC24B"/>
          </a:solidFill>
          <a:ln/>
        </p:spPr>
        <p:txBody>
          <a:bodyPr/>
          <a:p/>
        </p:txBody>
      </p:sp>
      <p:sp>
        <p:nvSpPr>
          <p:cNvPr id="7" name="Text 5"/>
          <p:cNvSpPr/>
          <p:nvPr/>
        </p:nvSpPr>
        <p:spPr>
          <a:xfrm>
            <a:off x="868680" y="2898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508760" y="2788920"/>
            <a:ext cx="982980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Senzația de epuizare a energiei</a:t>
            </a:r>
            <a:endParaRPr lang="en-US" sz="1700" dirty="0"/>
          </a:p>
        </p:txBody>
      </p:sp>
      <p:sp>
        <p:nvSpPr>
          <p:cNvPr id="9" name="Shape 7"/>
          <p:cNvSpPr/>
          <p:nvPr/>
        </p:nvSpPr>
        <p:spPr>
          <a:xfrm>
            <a:off x="594360" y="3538728"/>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0" name="Shape 8"/>
          <p:cNvSpPr/>
          <p:nvPr/>
        </p:nvSpPr>
        <p:spPr>
          <a:xfrm>
            <a:off x="868680" y="3648456"/>
            <a:ext cx="420624" cy="420624"/>
          </a:xfrm>
          <a:prstGeom prst="ellipse">
            <a:avLst/>
          </a:prstGeom>
          <a:solidFill>
            <a:srgbClr val="FFC24B"/>
          </a:solidFill>
          <a:ln/>
        </p:spPr>
        <p:txBody>
          <a:bodyPr/>
          <a:p/>
        </p:txBody>
      </p:sp>
      <p:sp>
        <p:nvSpPr>
          <p:cNvPr id="11" name="Text 9"/>
          <p:cNvSpPr/>
          <p:nvPr/>
        </p:nvSpPr>
        <p:spPr>
          <a:xfrm>
            <a:off x="868680" y="36484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508760" y="3538728"/>
            <a:ext cx="982980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Distanțarea mentală de muncă, negativismul sau cinismul față de ea</a:t>
            </a:r>
            <a:endParaRPr lang="en-US" sz="1700" dirty="0"/>
          </a:p>
        </p:txBody>
      </p:sp>
      <p:sp>
        <p:nvSpPr>
          <p:cNvPr id="13" name="Shape 11"/>
          <p:cNvSpPr/>
          <p:nvPr/>
        </p:nvSpPr>
        <p:spPr>
          <a:xfrm>
            <a:off x="594360" y="4288536"/>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4" name="Shape 12"/>
          <p:cNvSpPr/>
          <p:nvPr/>
        </p:nvSpPr>
        <p:spPr>
          <a:xfrm>
            <a:off x="868680" y="4398264"/>
            <a:ext cx="420624" cy="420624"/>
          </a:xfrm>
          <a:prstGeom prst="ellipse">
            <a:avLst/>
          </a:prstGeom>
          <a:solidFill>
            <a:srgbClr val="FFC24B"/>
          </a:solidFill>
          <a:ln/>
        </p:spPr>
        <p:txBody>
          <a:bodyPr/>
          <a:p/>
        </p:txBody>
      </p:sp>
      <p:sp>
        <p:nvSpPr>
          <p:cNvPr id="15" name="Text 13"/>
          <p:cNvSpPr/>
          <p:nvPr/>
        </p:nvSpPr>
        <p:spPr>
          <a:xfrm>
            <a:off x="868680" y="43982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1508760" y="4288536"/>
            <a:ext cx="982980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Eficacitatea profesională redusă</a:t>
            </a:r>
            <a:endParaRPr lang="en-US" sz="1700" dirty="0"/>
          </a:p>
        </p:txBody>
      </p:sp>
      <p:sp>
        <p:nvSpPr>
          <p:cNvPr id="17" name="Shape 15"/>
          <p:cNvSpPr/>
          <p:nvPr/>
        </p:nvSpPr>
        <p:spPr>
          <a:xfrm>
            <a:off x="594360" y="5120640"/>
            <a:ext cx="10972800" cy="777240"/>
          </a:xfrm>
          <a:prstGeom prst="roundRect">
            <a:avLst>
              <a:gd name="adj" fmla="val 10588"/>
            </a:avLst>
          </a:prstGeom>
          <a:solidFill>
            <a:srgbClr val="272A38"/>
          </a:solidFill>
          <a:ln w="12700">
            <a:solidFill>
              <a:srgbClr val="272A38"/>
            </a:solidFill>
            <a:prstDash val="solid"/>
          </a:ln>
        </p:spPr>
        <p:txBody>
          <a:bodyPr/>
          <a:p/>
        </p:txBody>
      </p:sp>
      <p:sp>
        <p:nvSpPr>
          <p:cNvPr id="18" name="Text 16"/>
          <p:cNvSpPr/>
          <p:nvPr/>
        </p:nvSpPr>
        <p:spPr>
          <a:xfrm>
            <a:off x="868680" y="5120640"/>
            <a:ext cx="10424160" cy="777240"/>
          </a:xfrm>
          <a:prstGeom prst="rect">
            <a:avLst/>
          </a:prstGeom>
          <a:noFill/>
          <a:ln/>
        </p:spPr>
        <p:txBody>
          <a:bodyPr wrap="square" lIns="0" tIns="0" rIns="0" bIns="0" rtlCol="0" anchor="ctr"/>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Numai în contextul profesional; clasificat ca fenomen ocupațional, nu ca afecțiune medicală.</a:t>
            </a:r>
            <a:endParaRPr lang="en-US" sz="1700" dirty="0"/>
          </a:p>
        </p:txBody>
      </p:sp>
      <p:sp>
        <p:nvSpPr>
          <p:cNvPr id="19" name="Text 17"/>
          <p:cNvSpPr/>
          <p:nvPr/>
        </p:nvSpPr>
        <p:spPr>
          <a:xfrm>
            <a:off x="594360" y="6355080"/>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OMS, 2019 (registru A894). Originalul: „Burn-out is a syndrome conceptualized as resulting from chronic workplace stress that has not been successfully managed.”</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DISCUȚIE · FĂRĂ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CU TOATĂ SALA</a:t>
            </a:r>
            <a:endParaRPr lang="en-US" sz="1300" dirty="0"/>
          </a:p>
        </p:txBody>
      </p:sp>
      <p:sp>
        <p:nvSpPr>
          <p:cNvPr id="5" name="Text 3"/>
          <p:cNvSpPr/>
          <p:nvPr/>
        </p:nvSpPr>
        <p:spPr>
          <a:xfrm>
            <a:off x="594360" y="914400"/>
            <a:ext cx="10972800" cy="137160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Un risc profesional pe care l-ați întâlnit în stagiu</a:t>
            </a:r>
            <a:endParaRPr lang="en-US" sz="3400" dirty="0"/>
          </a:p>
        </p:txBody>
      </p:sp>
      <p:sp>
        <p:nvSpPr>
          <p:cNvPr id="6" name="Shape 4"/>
          <p:cNvSpPr/>
          <p:nvPr/>
        </p:nvSpPr>
        <p:spPr>
          <a:xfrm>
            <a:off x="594360" y="26060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2761488"/>
            <a:ext cx="420624" cy="420624"/>
          </a:xfrm>
          <a:prstGeom prst="ellipse">
            <a:avLst/>
          </a:prstGeom>
          <a:solidFill>
            <a:srgbClr val="FFC24B"/>
          </a:solidFill>
          <a:ln/>
        </p:spPr>
        <p:txBody>
          <a:bodyPr/>
          <a:p/>
        </p:txBody>
      </p:sp>
      <p:sp>
        <p:nvSpPr>
          <p:cNvPr id="8" name="Text 6"/>
          <p:cNvSpPr/>
          <p:nvPr/>
        </p:nvSpPr>
        <p:spPr>
          <a:xfrm>
            <a:off x="868680" y="27614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260604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risc ați întâlnit?</a:t>
            </a:r>
            <a:endParaRPr lang="en-US" sz="2000" dirty="0"/>
          </a:p>
        </p:txBody>
      </p:sp>
      <p:sp>
        <p:nvSpPr>
          <p:cNvPr id="10" name="Shape 8"/>
          <p:cNvSpPr/>
          <p:nvPr/>
        </p:nvSpPr>
        <p:spPr>
          <a:xfrm>
            <a:off x="594360" y="347472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3630168"/>
            <a:ext cx="420624" cy="420624"/>
          </a:xfrm>
          <a:prstGeom prst="ellipse">
            <a:avLst/>
          </a:prstGeom>
          <a:solidFill>
            <a:srgbClr val="FFC24B"/>
          </a:solidFill>
          <a:ln/>
        </p:spPr>
        <p:txBody>
          <a:bodyPr/>
          <a:p/>
        </p:txBody>
      </p:sp>
      <p:sp>
        <p:nvSpPr>
          <p:cNvPr id="12" name="Text 10"/>
          <p:cNvSpPr/>
          <p:nvPr/>
        </p:nvSpPr>
        <p:spPr>
          <a:xfrm>
            <a:off x="868680" y="36301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347472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În ce categorie se încadrează?</a:t>
            </a:r>
            <a:endParaRPr lang="en-US" sz="2000" dirty="0"/>
          </a:p>
        </p:txBody>
      </p:sp>
      <p:sp>
        <p:nvSpPr>
          <p:cNvPr id="14" name="Shape 12"/>
          <p:cNvSpPr/>
          <p:nvPr/>
        </p:nvSpPr>
        <p:spPr>
          <a:xfrm>
            <a:off x="594360" y="434340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4498848"/>
            <a:ext cx="420624" cy="420624"/>
          </a:xfrm>
          <a:prstGeom prst="ellipse">
            <a:avLst/>
          </a:prstGeom>
          <a:solidFill>
            <a:srgbClr val="FFC24B"/>
          </a:solidFill>
          <a:ln/>
        </p:spPr>
        <p:txBody>
          <a:bodyPr/>
          <a:p/>
        </p:txBody>
      </p:sp>
      <p:sp>
        <p:nvSpPr>
          <p:cNvPr id="16" name="Text 14"/>
          <p:cNvSpPr/>
          <p:nvPr/>
        </p:nvSpPr>
        <p:spPr>
          <a:xfrm>
            <a:off x="86868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434340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măsură l-ar fi redus?</a:t>
            </a:r>
            <a:endParaRPr lang="en-US" sz="2000" dirty="0"/>
          </a:p>
        </p:txBody>
      </p:sp>
      <p:sp>
        <p:nvSpPr>
          <p:cNvPr id="18" name="Text 16"/>
          <p:cNvSpPr/>
          <p:nvPr/>
        </p:nvSpPr>
        <p:spPr>
          <a:xfrm>
            <a:off x="594360" y="5394960"/>
            <a:ext cx="10972800" cy="54864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Pe tablă: un exemplu biologic, unul ergonomic, unul psihosocial.</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NUMĂRUL DE PACIENȚI PE ASISTENT ȘI MORTALITATEA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Câți pacienți are un asistent: o decizie de organizare</a:t>
            </a:r>
            <a:endParaRPr lang="en-US" sz="2700" dirty="0"/>
          </a:p>
        </p:txBody>
      </p:sp>
      <p:sp>
        <p:nvSpPr>
          <p:cNvPr id="4" name="Shape 2"/>
          <p:cNvSpPr/>
          <p:nvPr/>
        </p:nvSpPr>
        <p:spPr>
          <a:xfrm>
            <a:off x="594360" y="1645920"/>
            <a:ext cx="5394960" cy="1828800"/>
          </a:xfrm>
          <a:prstGeom prst="roundRect">
            <a:avLst>
              <a:gd name="adj" fmla="val 4500"/>
            </a:avLst>
          </a:prstGeom>
          <a:solidFill>
            <a:srgbClr val="ECEAE4"/>
          </a:solidFill>
          <a:ln w="12700">
            <a:solidFill>
              <a:srgbClr val="ECEAE4"/>
            </a:solidFill>
            <a:prstDash val="solid"/>
          </a:ln>
        </p:spPr>
        <p:txBody>
          <a:bodyPr/>
          <a:p/>
        </p:txBody>
      </p:sp>
      <p:sp>
        <p:nvSpPr>
          <p:cNvPr id="5" name="Text 3"/>
          <p:cNvSpPr/>
          <p:nvPr/>
        </p:nvSpPr>
        <p:spPr>
          <a:xfrm>
            <a:off x="868680" y="1755648"/>
            <a:ext cx="4846320" cy="914400"/>
          </a:xfrm>
          <a:prstGeom prst="rect">
            <a:avLst/>
          </a:prstGeom>
          <a:noFill/>
          <a:ln/>
        </p:spPr>
        <p:txBody>
          <a:bodyPr wrap="square" lIns="0" tIns="0" rIns="0" bIns="0" rtlCol="0" anchor="ctr"/>
          <a:lstStyle/>
          <a:p>
            <a:pPr indent="0" marL="0">
              <a:buNone/>
            </a:pPr>
            <a:r>
              <a:rPr lang="en-US" sz="4400" b="1" dirty="0">
                <a:solidFill>
                  <a:srgbClr val="B02532"/>
                </a:solidFill>
                <a:latin typeface="Palatino Linotype" pitchFamily="34" charset="0"/>
                <a:ea typeface="Palatino Linotype" pitchFamily="34" charset="-122"/>
                <a:cs typeface="Palatino Linotype" pitchFamily="34" charset="-120"/>
              </a:rPr>
              <a:t>+7%</a:t>
            </a:r>
            <a:endParaRPr lang="en-US" sz="4400" dirty="0"/>
          </a:p>
        </p:txBody>
      </p:sp>
      <p:sp>
        <p:nvSpPr>
          <p:cNvPr id="6" name="Text 4"/>
          <p:cNvSpPr/>
          <p:nvPr/>
        </p:nvSpPr>
        <p:spPr>
          <a:xfrm>
            <a:off x="868680" y="2578608"/>
            <a:ext cx="4846320" cy="841248"/>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șansele de deces în 30 de zile, pentru fiecare pacient în plus pe asistent (raportul șanselor 1,068)</a:t>
            </a:r>
            <a:endParaRPr lang="en-US" sz="1200" dirty="0"/>
          </a:p>
        </p:txBody>
      </p:sp>
      <p:sp>
        <p:nvSpPr>
          <p:cNvPr id="7" name="Text 5"/>
          <p:cNvSpPr/>
          <p:nvPr/>
        </p:nvSpPr>
        <p:spPr>
          <a:xfrm>
            <a:off x="594360" y="3611880"/>
            <a:ext cx="539496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The Lancet, 2014: 422 730 de pacienți operați, de 50 de ani și peste, nouă țări.</a:t>
            </a:r>
            <a:endParaRPr lang="en-US" sz="1500" dirty="0"/>
          </a:p>
        </p:txBody>
      </p:sp>
      <p:sp>
        <p:nvSpPr>
          <p:cNvPr id="8" name="Shape 6"/>
          <p:cNvSpPr/>
          <p:nvPr/>
        </p:nvSpPr>
        <p:spPr>
          <a:xfrm>
            <a:off x="6172200" y="1645920"/>
            <a:ext cx="5394960" cy="1828800"/>
          </a:xfrm>
          <a:prstGeom prst="roundRect">
            <a:avLst>
              <a:gd name="adj" fmla="val 4500"/>
            </a:avLst>
          </a:prstGeom>
          <a:solidFill>
            <a:srgbClr val="F9F8F5"/>
          </a:solidFill>
          <a:ln w="12700">
            <a:solidFill>
              <a:srgbClr val="F9F8F5"/>
            </a:solidFill>
            <a:prstDash val="solid"/>
          </a:ln>
        </p:spPr>
        <p:txBody>
          <a:bodyPr/>
          <a:p/>
        </p:txBody>
      </p:sp>
      <p:sp>
        <p:nvSpPr>
          <p:cNvPr id="9" name="Text 7"/>
          <p:cNvSpPr/>
          <p:nvPr/>
        </p:nvSpPr>
        <p:spPr>
          <a:xfrm>
            <a:off x="6446520" y="1755648"/>
            <a:ext cx="4846320" cy="914400"/>
          </a:xfrm>
          <a:prstGeom prst="rect">
            <a:avLst/>
          </a:prstGeom>
          <a:noFill/>
          <a:ln/>
        </p:spPr>
        <p:txBody>
          <a:bodyPr wrap="square" lIns="0" tIns="0" rIns="0" bIns="0" rtlCol="0" anchor="ctr"/>
          <a:lstStyle/>
          <a:p>
            <a:pPr indent="0" marL="0">
              <a:buNone/>
            </a:pPr>
            <a:r>
              <a:rPr lang="en-US" sz="4400" b="1" dirty="0">
                <a:solidFill>
                  <a:srgbClr val="0E7C6B"/>
                </a:solidFill>
                <a:latin typeface="Palatino Linotype" pitchFamily="34" charset="0"/>
                <a:ea typeface="Palatino Linotype" pitchFamily="34" charset="-122"/>
                <a:cs typeface="Palatino Linotype" pitchFamily="34" charset="-120"/>
              </a:rPr>
              <a:t>9,6%</a:t>
            </a:r>
            <a:endParaRPr lang="en-US" sz="4400" dirty="0"/>
          </a:p>
        </p:txBody>
      </p:sp>
      <p:sp>
        <p:nvSpPr>
          <p:cNvPr id="10" name="Text 8"/>
          <p:cNvSpPr/>
          <p:nvPr/>
        </p:nvSpPr>
        <p:spPr>
          <a:xfrm>
            <a:off x="6446520" y="2578608"/>
            <a:ext cx="4846320" cy="841248"/>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reducerea șanselor de deces la o tură suplimentară de 12 ore a unui asistent licențiat</a:t>
            </a:r>
            <a:endParaRPr lang="en-US" sz="1200" dirty="0"/>
          </a:p>
        </p:txBody>
      </p:sp>
      <p:sp>
        <p:nvSpPr>
          <p:cNvPr id="11" name="Text 9"/>
          <p:cNvSpPr/>
          <p:nvPr/>
        </p:nvSpPr>
        <p:spPr>
          <a:xfrm>
            <a:off x="6172200" y="3611880"/>
            <a:ext cx="539496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Trei spitale englezești, 2017; fără asociere pentru personalul auxiliar.</a:t>
            </a:r>
            <a:endParaRPr lang="en-US" sz="1500" dirty="0"/>
          </a:p>
        </p:txBody>
      </p:sp>
      <p:sp>
        <p:nvSpPr>
          <p:cNvPr id="12" name="Shape 10"/>
          <p:cNvSpPr/>
          <p:nvPr/>
        </p:nvSpPr>
        <p:spPr>
          <a:xfrm>
            <a:off x="594360" y="4754880"/>
            <a:ext cx="10972800" cy="914400"/>
          </a:xfrm>
          <a:prstGeom prst="roundRect">
            <a:avLst>
              <a:gd name="adj" fmla="val 9000"/>
            </a:avLst>
          </a:prstGeom>
          <a:solidFill>
            <a:srgbClr val="11121A"/>
          </a:solidFill>
          <a:ln w="12700">
            <a:solidFill>
              <a:srgbClr val="11121A"/>
            </a:solidFill>
            <a:prstDash val="solid"/>
          </a:ln>
        </p:spPr>
        <p:txBody>
          <a:bodyPr/>
          <a:p/>
        </p:txBody>
      </p:sp>
      <p:sp>
        <p:nvSpPr>
          <p:cNvPr id="13" name="Text 11"/>
          <p:cNvSpPr/>
          <p:nvPr/>
        </p:nvSpPr>
        <p:spPr>
          <a:xfrm>
            <a:off x="868680" y="4754880"/>
            <a:ext cx="10424160" cy="914400"/>
          </a:xfrm>
          <a:prstGeom prst="rect">
            <a:avLst/>
          </a:prstGeom>
          <a:noFill/>
          <a:ln/>
        </p:spPr>
        <p:txBody>
          <a:bodyPr wrap="square" lIns="0" tIns="0" rIns="0" bIns="0" rtlCol="0" anchor="ctr"/>
          <a:lstStyle/>
          <a:p>
            <a:pPr indent="0" marL="0">
              <a:buNone/>
            </a:pPr>
            <a:r>
              <a:rPr lang="en-US" sz="1750" b="1" dirty="0">
                <a:solidFill>
                  <a:srgbClr val="FFC24B"/>
                </a:solidFill>
                <a:latin typeface="Palatino Linotype" pitchFamily="34" charset="0"/>
                <a:ea typeface="Palatino Linotype" pitchFamily="34" charset="-122"/>
                <a:cs typeface="Palatino Linotype" pitchFamily="34" charset="-120"/>
              </a:rPr>
              <a:t>Studii observaționale: o asociere, nu o relație cauzală dovedită.</a:t>
            </a:r>
            <a:endParaRPr lang="en-US" sz="1750" dirty="0"/>
          </a:p>
        </p:txBody>
      </p:sp>
      <p:sp>
        <p:nvSpPr>
          <p:cNvPr id="14" name="Text 12"/>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Aiken și colab., 2014 (registru A910); Zaranko și colab., 2023 (registru A931).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NR. 95/2006, ART. 9</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CUM AJUNGE VACCINUL?</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Programele naționale de sănătate</a:t>
            </a:r>
            <a:endParaRPr lang="en-US" sz="3000" dirty="0"/>
          </a:p>
        </p:txBody>
      </p:sp>
      <p:sp>
        <p:nvSpPr>
          <p:cNvPr id="6" name="Shape 4"/>
          <p:cNvSpPr/>
          <p:nvPr/>
        </p:nvSpPr>
        <p:spPr>
          <a:xfrm>
            <a:off x="594360" y="1600200"/>
            <a:ext cx="10972800" cy="1325880"/>
          </a:xfrm>
          <a:prstGeom prst="roundRect">
            <a:avLst>
              <a:gd name="adj" fmla="val 6207"/>
            </a:avLst>
          </a:prstGeom>
          <a:solidFill>
            <a:srgbClr val="FFFFFF"/>
          </a:solidFill>
          <a:ln w="12700">
            <a:solidFill>
              <a:srgbClr val="FFFFFF"/>
            </a:solidFill>
            <a:prstDash val="solid"/>
          </a:ln>
        </p:spPr>
        <p:txBody>
          <a:bodyPr/>
          <a:p/>
        </p:txBody>
      </p:sp>
      <p:sp>
        <p:nvSpPr>
          <p:cNvPr id="7" name="Shape 5"/>
          <p:cNvSpPr/>
          <p:nvPr/>
        </p:nvSpPr>
        <p:spPr>
          <a:xfrm>
            <a:off x="594360" y="1600200"/>
            <a:ext cx="82296" cy="1325880"/>
          </a:xfrm>
          <a:prstGeom prst="rect">
            <a:avLst/>
          </a:prstGeom>
          <a:solidFill>
            <a:srgbClr val="0E7C6B"/>
          </a:solidFill>
          <a:ln w="12700">
            <a:solidFill>
              <a:srgbClr val="0E7C6B"/>
            </a:solidFill>
            <a:prstDash val="solid"/>
          </a:ln>
        </p:spPr>
        <p:txBody>
          <a:bodyPr/>
          <a:p/>
        </p:txBody>
      </p:sp>
      <p:sp>
        <p:nvSpPr>
          <p:cNvPr id="8" name="Text 6"/>
          <p:cNvSpPr/>
          <p:nvPr/>
        </p:nvSpPr>
        <p:spPr>
          <a:xfrm>
            <a:off x="914400" y="1600200"/>
            <a:ext cx="10424160" cy="1325880"/>
          </a:xfrm>
          <a:prstGeom prst="rect">
            <a:avLst/>
          </a:prstGeom>
          <a:noFill/>
          <a:ln/>
        </p:spPr>
        <p:txBody>
          <a:bodyPr wrap="square" lIns="0" tIns="0" rIns="0" bIns="0" rtlCol="0" anchor="ctr"/>
          <a:lstStyle/>
          <a:p>
            <a:pPr indent="0" marL="0">
              <a:buNone/>
            </a:pPr>
            <a:r>
              <a:rPr lang="en-US" sz="1700" i="1" dirty="0">
                <a:solidFill>
                  <a:srgbClr val="11121A"/>
                </a:solidFill>
                <a:latin typeface="Palatino Linotype" pitchFamily="34" charset="0"/>
                <a:ea typeface="Palatino Linotype" pitchFamily="34" charset="-122"/>
                <a:cs typeface="Palatino Linotype" pitchFamily="34" charset="-120"/>
              </a:rPr>
              <a:t>„cadrul implementării obiectivelor politicii și strategiei sănătății publice de către Ministerul Sănătății, ca autoritate centrală a domeniului de sănătate publică”</a:t>
            </a:r>
            <a:endParaRPr lang="en-US" sz="1700" dirty="0"/>
          </a:p>
        </p:txBody>
      </p:sp>
      <p:sp>
        <p:nvSpPr>
          <p:cNvPr id="9" name="Shape 7"/>
          <p:cNvSpPr/>
          <p:nvPr/>
        </p:nvSpPr>
        <p:spPr>
          <a:xfrm>
            <a:off x="594360" y="3154680"/>
            <a:ext cx="3566160" cy="1600200"/>
          </a:xfrm>
          <a:prstGeom prst="roundRect">
            <a:avLst>
              <a:gd name="adj" fmla="val 5143"/>
            </a:avLst>
          </a:prstGeom>
          <a:solidFill>
            <a:srgbClr val="ECEAE4"/>
          </a:solidFill>
          <a:ln w="12700">
            <a:solidFill>
              <a:srgbClr val="ECEAE4"/>
            </a:solidFill>
            <a:prstDash val="solid"/>
          </a:ln>
        </p:spPr>
        <p:txBody>
          <a:bodyPr/>
          <a:p/>
        </p:txBody>
      </p:sp>
      <p:sp>
        <p:nvSpPr>
          <p:cNvPr id="10" name="Shape 8"/>
          <p:cNvSpPr/>
          <p:nvPr/>
        </p:nvSpPr>
        <p:spPr>
          <a:xfrm>
            <a:off x="594360" y="3154680"/>
            <a:ext cx="3566160" cy="73152"/>
          </a:xfrm>
          <a:prstGeom prst="rect">
            <a:avLst/>
          </a:prstGeom>
          <a:solidFill>
            <a:srgbClr val="0E7C6B"/>
          </a:solidFill>
          <a:ln w="12700">
            <a:solidFill>
              <a:srgbClr val="0E7C6B"/>
            </a:solidFill>
            <a:prstDash val="solid"/>
          </a:ln>
        </p:spPr>
        <p:txBody>
          <a:bodyPr/>
          <a:p/>
        </p:txBody>
      </p:sp>
      <p:sp>
        <p:nvSpPr>
          <p:cNvPr id="11" name="Text 9"/>
          <p:cNvSpPr/>
          <p:nvPr/>
        </p:nvSpPr>
        <p:spPr>
          <a:xfrm>
            <a:off x="822960" y="3355848"/>
            <a:ext cx="310896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Elaborează</a:t>
            </a:r>
            <a:endParaRPr lang="en-US" sz="1700" dirty="0"/>
          </a:p>
        </p:txBody>
      </p:sp>
      <p:sp>
        <p:nvSpPr>
          <p:cNvPr id="12" name="Text 10"/>
          <p:cNvSpPr/>
          <p:nvPr/>
        </p:nvSpPr>
        <p:spPr>
          <a:xfrm>
            <a:off x="822960" y="4023360"/>
            <a:ext cx="3108960" cy="594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Ministerul Sănătății, cu participarea CNAS</a:t>
            </a:r>
            <a:endParaRPr lang="en-US" sz="1500" dirty="0"/>
          </a:p>
        </p:txBody>
      </p:sp>
      <p:sp>
        <p:nvSpPr>
          <p:cNvPr id="13" name="Shape 11"/>
          <p:cNvSpPr/>
          <p:nvPr/>
        </p:nvSpPr>
        <p:spPr>
          <a:xfrm>
            <a:off x="4297680" y="3154680"/>
            <a:ext cx="3566160" cy="1600200"/>
          </a:xfrm>
          <a:prstGeom prst="roundRect">
            <a:avLst>
              <a:gd name="adj" fmla="val 5143"/>
            </a:avLst>
          </a:prstGeom>
          <a:solidFill>
            <a:srgbClr val="F9F8F5"/>
          </a:solidFill>
          <a:ln w="12700">
            <a:solidFill>
              <a:srgbClr val="F9F8F5"/>
            </a:solidFill>
            <a:prstDash val="solid"/>
          </a:ln>
        </p:spPr>
        <p:txBody>
          <a:bodyPr/>
          <a:p/>
        </p:txBody>
      </p:sp>
      <p:sp>
        <p:nvSpPr>
          <p:cNvPr id="14" name="Shape 12"/>
          <p:cNvSpPr/>
          <p:nvPr/>
        </p:nvSpPr>
        <p:spPr>
          <a:xfrm>
            <a:off x="4297680" y="3154680"/>
            <a:ext cx="3566160" cy="73152"/>
          </a:xfrm>
          <a:prstGeom prst="rect">
            <a:avLst/>
          </a:prstGeom>
          <a:solidFill>
            <a:srgbClr val="8A6100"/>
          </a:solidFill>
          <a:ln w="12700">
            <a:solidFill>
              <a:srgbClr val="8A6100"/>
            </a:solidFill>
            <a:prstDash val="solid"/>
          </a:ln>
        </p:spPr>
        <p:txBody>
          <a:bodyPr/>
          <a:p/>
        </p:txBody>
      </p:sp>
      <p:sp>
        <p:nvSpPr>
          <p:cNvPr id="15" name="Text 13"/>
          <p:cNvSpPr/>
          <p:nvPr/>
        </p:nvSpPr>
        <p:spPr>
          <a:xfrm>
            <a:off x="4526280" y="3355848"/>
            <a:ext cx="3108960" cy="685800"/>
          </a:xfrm>
          <a:prstGeom prst="rect">
            <a:avLst/>
          </a:prstGeom>
          <a:noFill/>
          <a:ln/>
        </p:spPr>
        <p:txBody>
          <a:bodyPr wrap="square" lIns="0" tIns="0" rIns="0" bIns="0" rtlCol="0" anchor="t"/>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Derulează</a:t>
            </a:r>
            <a:endParaRPr lang="en-US" sz="1700" dirty="0"/>
          </a:p>
        </p:txBody>
      </p:sp>
      <p:sp>
        <p:nvSpPr>
          <p:cNvPr id="16" name="Text 14"/>
          <p:cNvSpPr/>
          <p:nvPr/>
        </p:nvSpPr>
        <p:spPr>
          <a:xfrm>
            <a:off x="4526280" y="4023360"/>
            <a:ext cx="3108960" cy="594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Ministerul Sănătății și/sau CNAS, după caz</a:t>
            </a:r>
            <a:endParaRPr lang="en-US" sz="1500" dirty="0"/>
          </a:p>
        </p:txBody>
      </p:sp>
      <p:sp>
        <p:nvSpPr>
          <p:cNvPr id="17" name="Shape 15"/>
          <p:cNvSpPr/>
          <p:nvPr/>
        </p:nvSpPr>
        <p:spPr>
          <a:xfrm>
            <a:off x="8001000" y="3154680"/>
            <a:ext cx="3566160" cy="1600200"/>
          </a:xfrm>
          <a:prstGeom prst="roundRect">
            <a:avLst>
              <a:gd name="adj" fmla="val 5143"/>
            </a:avLst>
          </a:prstGeom>
          <a:solidFill>
            <a:srgbClr val="ECEAE4"/>
          </a:solidFill>
          <a:ln w="12700">
            <a:solidFill>
              <a:srgbClr val="ECEAE4"/>
            </a:solidFill>
            <a:prstDash val="solid"/>
          </a:ln>
        </p:spPr>
        <p:txBody>
          <a:bodyPr/>
          <a:p/>
        </p:txBody>
      </p:sp>
      <p:sp>
        <p:nvSpPr>
          <p:cNvPr id="18" name="Shape 16"/>
          <p:cNvSpPr/>
          <p:nvPr/>
        </p:nvSpPr>
        <p:spPr>
          <a:xfrm>
            <a:off x="8001000" y="3154680"/>
            <a:ext cx="3566160" cy="73152"/>
          </a:xfrm>
          <a:prstGeom prst="rect">
            <a:avLst/>
          </a:prstGeom>
          <a:solidFill>
            <a:srgbClr val="B02532"/>
          </a:solidFill>
          <a:ln w="12700">
            <a:solidFill>
              <a:srgbClr val="B02532"/>
            </a:solidFill>
            <a:prstDash val="solid"/>
          </a:ln>
        </p:spPr>
        <p:txBody>
          <a:bodyPr/>
          <a:p/>
        </p:txBody>
      </p:sp>
      <p:sp>
        <p:nvSpPr>
          <p:cNvPr id="19" name="Text 17"/>
          <p:cNvSpPr/>
          <p:nvPr/>
        </p:nvSpPr>
        <p:spPr>
          <a:xfrm>
            <a:off x="8229600" y="3355848"/>
            <a:ext cx="310896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Finanțează</a:t>
            </a:r>
            <a:endParaRPr lang="en-US" sz="1700" dirty="0"/>
          </a:p>
        </p:txBody>
      </p:sp>
      <p:sp>
        <p:nvSpPr>
          <p:cNvPr id="20" name="Text 18"/>
          <p:cNvSpPr/>
          <p:nvPr/>
        </p:nvSpPr>
        <p:spPr>
          <a:xfrm>
            <a:off x="8229600" y="4023360"/>
            <a:ext cx="3108960" cy="5943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bugetul de stat, Fondul național unic de asigurări sociale de sănătate</a:t>
            </a:r>
            <a:endParaRPr lang="en-US" sz="1500" dirty="0"/>
          </a:p>
        </p:txBody>
      </p:sp>
      <p:sp>
        <p:nvSpPr>
          <p:cNvPr id="21" name="Text 19"/>
          <p:cNvSpPr/>
          <p:nvPr/>
        </p:nvSpPr>
        <p:spPr>
          <a:xfrm>
            <a:off x="594360" y="4937760"/>
            <a:ext cx="10972800" cy="10972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Vaccinul gratuit nu ajunge singur la Andrei: îl aduc asistenta, mediatoarea și medicul de familie.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640080"/>
            <a:ext cx="42062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594360" y="64008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PARTEA A DOUA · ACELAȘI CAZ</a:t>
            </a:r>
            <a:endParaRPr lang="en-US" sz="1300" dirty="0"/>
          </a:p>
        </p:txBody>
      </p:sp>
      <p:sp>
        <p:nvSpPr>
          <p:cNvPr id="4" name="Text 2"/>
          <p:cNvSpPr/>
          <p:nvPr/>
        </p:nvSpPr>
        <p:spPr>
          <a:xfrm>
            <a:off x="594360" y="1234440"/>
            <a:ext cx="10972800" cy="91440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Ioana devine coordonatoare</a:t>
            </a:r>
            <a:endParaRPr lang="en-US" sz="3800" dirty="0"/>
          </a:p>
        </p:txBody>
      </p:sp>
      <p:sp>
        <p:nvSpPr>
          <p:cNvPr id="5" name="Text 3"/>
          <p:cNvSpPr/>
          <p:nvPr/>
        </p:nvSpPr>
        <p:spPr>
          <a:xfrm>
            <a:off x="594360" y="2331720"/>
            <a:ext cx="10972800" cy="150876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Centrul comunitar devine un centru integrat de servicii medicale și sociale. Ioana trebuie să decidă ce servicii oferă în primul an, cine face fiecare lucru, cum își motivează colegii și cum află dacă centrul își atinge scopurile.</a:t>
            </a:r>
            <a:endParaRPr lang="en-US" sz="1900" dirty="0"/>
          </a:p>
        </p:txBody>
      </p:sp>
      <p:sp>
        <p:nvSpPr>
          <p:cNvPr id="6" name="Shape 4"/>
          <p:cNvSpPr/>
          <p:nvPr/>
        </p:nvSpPr>
        <p:spPr>
          <a:xfrm>
            <a:off x="594360" y="4114800"/>
            <a:ext cx="10972800" cy="1371600"/>
          </a:xfrm>
          <a:prstGeom prst="roundRect">
            <a:avLst>
              <a:gd name="adj" fmla="val 6000"/>
            </a:avLst>
          </a:prstGeom>
          <a:solidFill>
            <a:srgbClr val="272A38"/>
          </a:solidFill>
          <a:ln w="12700">
            <a:solidFill>
              <a:srgbClr val="272A38"/>
            </a:solidFill>
            <a:prstDash val="solid"/>
          </a:ln>
        </p:spPr>
        <p:txBody>
          <a:bodyPr/>
          <a:p/>
        </p:txBody>
      </p:sp>
      <p:sp>
        <p:nvSpPr>
          <p:cNvPr id="7" name="Text 5"/>
          <p:cNvSpPr/>
          <p:nvPr/>
        </p:nvSpPr>
        <p:spPr>
          <a:xfrm>
            <a:off x="868680" y="4114800"/>
            <a:ext cx="10424160" cy="1371600"/>
          </a:xfrm>
          <a:prstGeom prst="rect">
            <a:avLst/>
          </a:prstGeom>
          <a:noFill/>
          <a:ln/>
        </p:spPr>
        <p:txBody>
          <a:bodyPr wrap="square" lIns="0" tIns="0" rIns="0" bIns="0" rtlCol="0" anchor="ctr"/>
          <a:lstStyle/>
          <a:p>
            <a:pPr indent="0" marL="0">
              <a:buNone/>
            </a:pPr>
            <a:r>
              <a:rPr lang="en-US" sz="1750" b="1" dirty="0">
                <a:solidFill>
                  <a:srgbClr val="FFC24B"/>
                </a:solidFill>
                <a:latin typeface="Palatino Linotype" pitchFamily="34" charset="0"/>
                <a:ea typeface="Palatino Linotype" pitchFamily="34" charset="-122"/>
                <a:cs typeface="Palatino Linotype" pitchFamily="34" charset="-120"/>
              </a:rPr>
              <a:t>Managementul: planificarea, organizarea, conducerea și controlul activității oamenilor, împreună cu celelalte resurse, pentru atingerea obiectivelor organizației.</a:t>
            </a:r>
            <a:endParaRPr lang="en-US" sz="1750" dirty="0"/>
          </a:p>
        </p:txBody>
      </p:sp>
      <p:sp>
        <p:nvSpPr>
          <p:cNvPr id="8" name="Text 6"/>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OpenStax, Principles of Management, 2019 (registru A911).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CONVENȚIE A CURSULUI · SINTEZĂ DIDACTICĂ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De ce managementul în sănătate este diferit</a:t>
            </a:r>
            <a:endParaRPr lang="en-US" sz="2800" dirty="0"/>
          </a:p>
        </p:txBody>
      </p:sp>
      <p:sp>
        <p:nvSpPr>
          <p:cNvPr id="4" name="Shape 2"/>
          <p:cNvSpPr/>
          <p:nvPr/>
        </p:nvSpPr>
        <p:spPr>
          <a:xfrm>
            <a:off x="594360" y="1600200"/>
            <a:ext cx="10972800" cy="603504"/>
          </a:xfrm>
          <a:prstGeom prst="roundRect">
            <a:avLst>
              <a:gd name="adj" fmla="val 13636"/>
            </a:avLst>
          </a:prstGeom>
          <a:solidFill>
            <a:srgbClr val="ECEAE4"/>
          </a:solidFill>
          <a:ln w="12700">
            <a:solidFill>
              <a:srgbClr val="ECEAE4"/>
            </a:solidFill>
            <a:prstDash val="solid"/>
          </a:ln>
        </p:spPr>
        <p:txBody>
          <a:bodyPr/>
          <a:p/>
        </p:txBody>
      </p:sp>
      <p:sp>
        <p:nvSpPr>
          <p:cNvPr id="5" name="Shape 3"/>
          <p:cNvSpPr/>
          <p:nvPr/>
        </p:nvSpPr>
        <p:spPr>
          <a:xfrm>
            <a:off x="868680" y="1691640"/>
            <a:ext cx="420624" cy="420624"/>
          </a:xfrm>
          <a:prstGeom prst="ellipse">
            <a:avLst/>
          </a:prstGeom>
          <a:solidFill>
            <a:srgbClr val="B02532"/>
          </a:solidFill>
          <a:ln/>
        </p:spPr>
        <p:txBody>
          <a:bodyPr/>
          <a:p/>
        </p:txBody>
      </p:sp>
      <p:sp>
        <p:nvSpPr>
          <p:cNvPr id="6" name="Text 4"/>
          <p:cNvSpPr/>
          <p:nvPr/>
        </p:nvSpPr>
        <p:spPr>
          <a:xfrm>
            <a:off x="868680" y="16916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00200"/>
            <a:ext cx="9829800" cy="60350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Serviciul nu se stochează: o oră de îngrijire neutilizată este pierdută.</a:t>
            </a:r>
            <a:endParaRPr lang="en-US" sz="1600" dirty="0"/>
          </a:p>
        </p:txBody>
      </p:sp>
      <p:sp>
        <p:nvSpPr>
          <p:cNvPr id="8" name="Shape 6"/>
          <p:cNvSpPr/>
          <p:nvPr/>
        </p:nvSpPr>
        <p:spPr>
          <a:xfrm>
            <a:off x="594360" y="2313432"/>
            <a:ext cx="10972800" cy="603504"/>
          </a:xfrm>
          <a:prstGeom prst="roundRect">
            <a:avLst>
              <a:gd name="adj" fmla="val 13636"/>
            </a:avLst>
          </a:prstGeom>
          <a:solidFill>
            <a:srgbClr val="ECEAE4"/>
          </a:solidFill>
          <a:ln w="12700">
            <a:solidFill>
              <a:srgbClr val="ECEAE4"/>
            </a:solidFill>
            <a:prstDash val="solid"/>
          </a:ln>
        </p:spPr>
        <p:txBody>
          <a:bodyPr/>
          <a:p/>
        </p:txBody>
      </p:sp>
      <p:sp>
        <p:nvSpPr>
          <p:cNvPr id="9" name="Shape 7"/>
          <p:cNvSpPr/>
          <p:nvPr/>
        </p:nvSpPr>
        <p:spPr>
          <a:xfrm>
            <a:off x="868680" y="2404872"/>
            <a:ext cx="420624" cy="420624"/>
          </a:xfrm>
          <a:prstGeom prst="ellipse">
            <a:avLst/>
          </a:prstGeom>
          <a:solidFill>
            <a:srgbClr val="B02532"/>
          </a:solidFill>
          <a:ln/>
        </p:spPr>
        <p:txBody>
          <a:bodyPr/>
          <a:p/>
        </p:txBody>
      </p:sp>
      <p:sp>
        <p:nvSpPr>
          <p:cNvPr id="10" name="Text 8"/>
          <p:cNvSpPr/>
          <p:nvPr/>
        </p:nvSpPr>
        <p:spPr>
          <a:xfrm>
            <a:off x="86868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313432"/>
            <a:ext cx="9829800" cy="60350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Pacientul nu poate evalua singur calitatea tehnică (asimetria de informație).</a:t>
            </a:r>
            <a:endParaRPr lang="en-US" sz="1600" dirty="0"/>
          </a:p>
        </p:txBody>
      </p:sp>
      <p:sp>
        <p:nvSpPr>
          <p:cNvPr id="12" name="Shape 10"/>
          <p:cNvSpPr/>
          <p:nvPr/>
        </p:nvSpPr>
        <p:spPr>
          <a:xfrm>
            <a:off x="594360" y="3026664"/>
            <a:ext cx="10972800" cy="603504"/>
          </a:xfrm>
          <a:prstGeom prst="roundRect">
            <a:avLst>
              <a:gd name="adj" fmla="val 13636"/>
            </a:avLst>
          </a:prstGeom>
          <a:solidFill>
            <a:srgbClr val="ECEAE4"/>
          </a:solidFill>
          <a:ln w="12700">
            <a:solidFill>
              <a:srgbClr val="ECEAE4"/>
            </a:solidFill>
            <a:prstDash val="solid"/>
          </a:ln>
        </p:spPr>
        <p:txBody>
          <a:bodyPr/>
          <a:p/>
        </p:txBody>
      </p:sp>
      <p:sp>
        <p:nvSpPr>
          <p:cNvPr id="13" name="Shape 11"/>
          <p:cNvSpPr/>
          <p:nvPr/>
        </p:nvSpPr>
        <p:spPr>
          <a:xfrm>
            <a:off x="868680" y="3118104"/>
            <a:ext cx="420624" cy="420624"/>
          </a:xfrm>
          <a:prstGeom prst="ellipse">
            <a:avLst/>
          </a:prstGeom>
          <a:solidFill>
            <a:srgbClr val="B02532"/>
          </a:solidFill>
          <a:ln/>
        </p:spPr>
        <p:txBody>
          <a:bodyPr/>
          <a:p/>
        </p:txBody>
      </p:sp>
      <p:sp>
        <p:nvSpPr>
          <p:cNvPr id="14" name="Text 12"/>
          <p:cNvSpPr/>
          <p:nvPr/>
        </p:nvSpPr>
        <p:spPr>
          <a:xfrm>
            <a:off x="868680" y="31181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026664"/>
            <a:ext cx="9829800" cy="60350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Cererea este greu de prevăzut; urgențele nu se programează.</a:t>
            </a:r>
            <a:endParaRPr lang="en-US" sz="1600" dirty="0"/>
          </a:p>
        </p:txBody>
      </p:sp>
      <p:sp>
        <p:nvSpPr>
          <p:cNvPr id="16" name="Shape 14"/>
          <p:cNvSpPr/>
          <p:nvPr/>
        </p:nvSpPr>
        <p:spPr>
          <a:xfrm>
            <a:off x="594360" y="3739896"/>
            <a:ext cx="10972800" cy="603504"/>
          </a:xfrm>
          <a:prstGeom prst="roundRect">
            <a:avLst>
              <a:gd name="adj" fmla="val 13636"/>
            </a:avLst>
          </a:prstGeom>
          <a:solidFill>
            <a:srgbClr val="ECEAE4"/>
          </a:solidFill>
          <a:ln w="12700">
            <a:solidFill>
              <a:srgbClr val="ECEAE4"/>
            </a:solidFill>
            <a:prstDash val="solid"/>
          </a:ln>
        </p:spPr>
        <p:txBody>
          <a:bodyPr/>
          <a:p/>
        </p:txBody>
      </p:sp>
      <p:sp>
        <p:nvSpPr>
          <p:cNvPr id="17" name="Shape 15"/>
          <p:cNvSpPr/>
          <p:nvPr/>
        </p:nvSpPr>
        <p:spPr>
          <a:xfrm>
            <a:off x="868680" y="3831336"/>
            <a:ext cx="420624" cy="420624"/>
          </a:xfrm>
          <a:prstGeom prst="ellipse">
            <a:avLst/>
          </a:prstGeom>
          <a:solidFill>
            <a:srgbClr val="B02532"/>
          </a:solidFill>
          <a:ln/>
        </p:spPr>
        <p:txBody>
          <a:bodyPr/>
          <a:p/>
        </p:txBody>
      </p:sp>
      <p:sp>
        <p:nvSpPr>
          <p:cNvPr id="18" name="Text 16"/>
          <p:cNvSpPr/>
          <p:nvPr/>
        </p:nvSpPr>
        <p:spPr>
          <a:xfrm>
            <a:off x="868680" y="38313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739896"/>
            <a:ext cx="9829800" cy="60350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Greșelile pot avea consecințe ireversibile.</a:t>
            </a:r>
            <a:endParaRPr lang="en-US" sz="1600" dirty="0"/>
          </a:p>
        </p:txBody>
      </p:sp>
      <p:sp>
        <p:nvSpPr>
          <p:cNvPr id="20" name="Shape 18"/>
          <p:cNvSpPr/>
          <p:nvPr/>
        </p:nvSpPr>
        <p:spPr>
          <a:xfrm>
            <a:off x="594360" y="4453128"/>
            <a:ext cx="10972800" cy="603504"/>
          </a:xfrm>
          <a:prstGeom prst="roundRect">
            <a:avLst>
              <a:gd name="adj" fmla="val 13636"/>
            </a:avLst>
          </a:prstGeom>
          <a:solidFill>
            <a:srgbClr val="ECEAE4"/>
          </a:solidFill>
          <a:ln w="12700">
            <a:solidFill>
              <a:srgbClr val="ECEAE4"/>
            </a:solidFill>
            <a:prstDash val="solid"/>
          </a:ln>
        </p:spPr>
        <p:txBody>
          <a:bodyPr/>
          <a:p/>
        </p:txBody>
      </p:sp>
      <p:sp>
        <p:nvSpPr>
          <p:cNvPr id="21" name="Shape 19"/>
          <p:cNvSpPr/>
          <p:nvPr/>
        </p:nvSpPr>
        <p:spPr>
          <a:xfrm>
            <a:off x="868680" y="4544568"/>
            <a:ext cx="420624" cy="420624"/>
          </a:xfrm>
          <a:prstGeom prst="ellipse">
            <a:avLst/>
          </a:prstGeom>
          <a:solidFill>
            <a:srgbClr val="B02532"/>
          </a:solidFill>
          <a:ln/>
        </p:spPr>
        <p:txBody>
          <a:bodyPr/>
          <a:p/>
        </p:txBody>
      </p:sp>
      <p:sp>
        <p:nvSpPr>
          <p:cNvPr id="22" name="Text 20"/>
          <p:cNvSpPr/>
          <p:nvPr/>
        </p:nvSpPr>
        <p:spPr>
          <a:xfrm>
            <a:off x="868680" y="4544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453128"/>
            <a:ext cx="9829800" cy="60350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Profesii cu autonomie mare trebuie să lucreze împreună.</a:t>
            </a:r>
            <a:endParaRPr lang="en-US" sz="1600" dirty="0"/>
          </a:p>
        </p:txBody>
      </p:sp>
      <p:sp>
        <p:nvSpPr>
          <p:cNvPr id="24" name="Text 22"/>
          <p:cNvSpPr/>
          <p:nvPr/>
        </p:nvSpPr>
        <p:spPr>
          <a:xfrm>
            <a:off x="594360" y="5257800"/>
            <a:ext cx="10972800" cy="82296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Instrumentele din industrie se adaptează, nu se copiază. Managerul este numit; liderul este acceptat.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CICLUL FUNCȚIILOR · OPENSTAX</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Cele patru funcții ale managementului</a:t>
            </a:r>
            <a:endParaRPr lang="en-US" sz="3000" dirty="0"/>
          </a:p>
        </p:txBody>
      </p:sp>
      <p:sp>
        <p:nvSpPr>
          <p:cNvPr id="4" name="Text 2"/>
          <p:cNvSpPr/>
          <p:nvPr/>
        </p:nvSpPr>
        <p:spPr>
          <a:xfrm>
            <a:off x="3017520" y="1463040"/>
            <a:ext cx="3291840" cy="27432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ÎNTREBAREA</a:t>
            </a:r>
            <a:endParaRPr lang="en-US" sz="1300" dirty="0"/>
          </a:p>
        </p:txBody>
      </p:sp>
      <p:sp>
        <p:nvSpPr>
          <p:cNvPr id="5" name="Text 3"/>
          <p:cNvSpPr/>
          <p:nvPr/>
        </p:nvSpPr>
        <p:spPr>
          <a:xfrm>
            <a:off x="6492240" y="1463040"/>
            <a:ext cx="5029200" cy="27432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CE FACE IOANA</a:t>
            </a:r>
            <a:endParaRPr lang="en-US" sz="1300" dirty="0"/>
          </a:p>
        </p:txBody>
      </p:sp>
      <p:sp>
        <p:nvSpPr>
          <p:cNvPr id="6" name="Shape 4"/>
          <p:cNvSpPr/>
          <p:nvPr/>
        </p:nvSpPr>
        <p:spPr>
          <a:xfrm>
            <a:off x="594360" y="1783080"/>
            <a:ext cx="10972800" cy="658368"/>
          </a:xfrm>
          <a:prstGeom prst="roundRect">
            <a:avLst>
              <a:gd name="adj" fmla="val 12500"/>
            </a:avLst>
          </a:prstGeom>
          <a:solidFill>
            <a:srgbClr val="ECEAE4"/>
          </a:solidFill>
          <a:ln w="12700">
            <a:solidFill>
              <a:srgbClr val="ECEAE4"/>
            </a:solidFill>
            <a:prstDash val="solid"/>
          </a:ln>
        </p:spPr>
        <p:txBody>
          <a:bodyPr/>
          <a:p/>
        </p:txBody>
      </p:sp>
      <p:sp>
        <p:nvSpPr>
          <p:cNvPr id="7" name="Text 5"/>
          <p:cNvSpPr/>
          <p:nvPr/>
        </p:nvSpPr>
        <p:spPr>
          <a:xfrm>
            <a:off x="777240" y="1783080"/>
            <a:ext cx="2194560" cy="658368"/>
          </a:xfrm>
          <a:prstGeom prst="rect">
            <a:avLst/>
          </a:prstGeom>
          <a:noFill/>
          <a:ln/>
        </p:spPr>
        <p:txBody>
          <a:bodyPr wrap="square" lIns="0" tIns="0" rIns="0" bIns="0" rtlCol="0" anchor="ctr"/>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Planificarea</a:t>
            </a:r>
            <a:endParaRPr lang="en-US" sz="1600" dirty="0"/>
          </a:p>
        </p:txBody>
      </p:sp>
      <p:sp>
        <p:nvSpPr>
          <p:cNvPr id="8" name="Text 6"/>
          <p:cNvSpPr/>
          <p:nvPr/>
        </p:nvSpPr>
        <p:spPr>
          <a:xfrm>
            <a:off x="3017520" y="1783080"/>
            <a:ext cx="338328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Ce vrem să obținem și cum?</a:t>
            </a:r>
            <a:endParaRPr lang="en-US" sz="1500" dirty="0"/>
          </a:p>
        </p:txBody>
      </p:sp>
      <p:sp>
        <p:nvSpPr>
          <p:cNvPr id="9" name="Text 7"/>
          <p:cNvSpPr/>
          <p:nvPr/>
        </p:nvSpPr>
        <p:spPr>
          <a:xfrm>
            <a:off x="6492240" y="1783080"/>
            <a:ext cx="498348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obiectivele primului an și pașii</a:t>
            </a:r>
            <a:endParaRPr lang="en-US" sz="1500" dirty="0"/>
          </a:p>
        </p:txBody>
      </p:sp>
      <p:sp>
        <p:nvSpPr>
          <p:cNvPr id="10" name="Shape 8"/>
          <p:cNvSpPr/>
          <p:nvPr/>
        </p:nvSpPr>
        <p:spPr>
          <a:xfrm>
            <a:off x="594360" y="2532888"/>
            <a:ext cx="10972800" cy="658368"/>
          </a:xfrm>
          <a:prstGeom prst="roundRect">
            <a:avLst>
              <a:gd name="adj" fmla="val 12500"/>
            </a:avLst>
          </a:prstGeom>
          <a:solidFill>
            <a:srgbClr val="F9F8F5"/>
          </a:solidFill>
          <a:ln w="12700">
            <a:solidFill>
              <a:srgbClr val="F9F8F5"/>
            </a:solidFill>
            <a:prstDash val="solid"/>
          </a:ln>
        </p:spPr>
        <p:txBody>
          <a:bodyPr/>
          <a:p/>
        </p:txBody>
      </p:sp>
      <p:sp>
        <p:nvSpPr>
          <p:cNvPr id="11" name="Text 9"/>
          <p:cNvSpPr/>
          <p:nvPr/>
        </p:nvSpPr>
        <p:spPr>
          <a:xfrm>
            <a:off x="777240" y="2532888"/>
            <a:ext cx="2194560" cy="658368"/>
          </a:xfrm>
          <a:prstGeom prst="rect">
            <a:avLst/>
          </a:prstGeom>
          <a:noFill/>
          <a:ln/>
        </p:spPr>
        <p:txBody>
          <a:bodyPr wrap="square" lIns="0" tIns="0" rIns="0" bIns="0" rtlCol="0" anchor="ctr"/>
          <a:lstStyle/>
          <a:p>
            <a:pPr indent="0" marL="0">
              <a:buNone/>
            </a:pPr>
            <a:r>
              <a:rPr lang="en-US" sz="1600" b="1" dirty="0">
                <a:solidFill>
                  <a:srgbClr val="8A6100"/>
                </a:solidFill>
                <a:latin typeface="Palatino Linotype" pitchFamily="34" charset="0"/>
                <a:ea typeface="Palatino Linotype" pitchFamily="34" charset="-122"/>
                <a:cs typeface="Palatino Linotype" pitchFamily="34" charset="-120"/>
              </a:rPr>
              <a:t>Organizarea</a:t>
            </a:r>
            <a:endParaRPr lang="en-US" sz="1600" dirty="0"/>
          </a:p>
        </p:txBody>
      </p:sp>
      <p:sp>
        <p:nvSpPr>
          <p:cNvPr id="12" name="Text 10"/>
          <p:cNvSpPr/>
          <p:nvPr/>
        </p:nvSpPr>
        <p:spPr>
          <a:xfrm>
            <a:off x="3017520" y="2532888"/>
            <a:ext cx="338328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Cine face și cu ce resurse?</a:t>
            </a:r>
            <a:endParaRPr lang="en-US" sz="1500" dirty="0"/>
          </a:p>
        </p:txBody>
      </p:sp>
      <p:sp>
        <p:nvSpPr>
          <p:cNvPr id="13" name="Text 11"/>
          <p:cNvSpPr/>
          <p:nvPr/>
        </p:nvSpPr>
        <p:spPr>
          <a:xfrm>
            <a:off x="6492240" y="2532888"/>
            <a:ext cx="498348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împarte sarcinile, stabilește programul</a:t>
            </a:r>
            <a:endParaRPr lang="en-US" sz="1500" dirty="0"/>
          </a:p>
        </p:txBody>
      </p:sp>
      <p:sp>
        <p:nvSpPr>
          <p:cNvPr id="14" name="Shape 12"/>
          <p:cNvSpPr/>
          <p:nvPr/>
        </p:nvSpPr>
        <p:spPr>
          <a:xfrm>
            <a:off x="594360" y="3282696"/>
            <a:ext cx="10972800" cy="658368"/>
          </a:xfrm>
          <a:prstGeom prst="roundRect">
            <a:avLst>
              <a:gd name="adj" fmla="val 12500"/>
            </a:avLst>
          </a:prstGeom>
          <a:solidFill>
            <a:srgbClr val="ECEAE4"/>
          </a:solidFill>
          <a:ln w="12700">
            <a:solidFill>
              <a:srgbClr val="ECEAE4"/>
            </a:solidFill>
            <a:prstDash val="solid"/>
          </a:ln>
        </p:spPr>
        <p:txBody>
          <a:bodyPr/>
          <a:p/>
        </p:txBody>
      </p:sp>
      <p:sp>
        <p:nvSpPr>
          <p:cNvPr id="15" name="Text 13"/>
          <p:cNvSpPr/>
          <p:nvPr/>
        </p:nvSpPr>
        <p:spPr>
          <a:xfrm>
            <a:off x="777240" y="3282696"/>
            <a:ext cx="2194560" cy="658368"/>
          </a:xfrm>
          <a:prstGeom prst="rect">
            <a:avLst/>
          </a:prstGeom>
          <a:noFill/>
          <a:ln/>
        </p:spPr>
        <p:txBody>
          <a:bodyPr wrap="square" lIns="0" tIns="0" rIns="0" bIns="0" rtlCol="0" anchor="ctr"/>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Conducerea</a:t>
            </a:r>
            <a:endParaRPr lang="en-US" sz="1600" dirty="0"/>
          </a:p>
        </p:txBody>
      </p:sp>
      <p:sp>
        <p:nvSpPr>
          <p:cNvPr id="16" name="Text 14"/>
          <p:cNvSpPr/>
          <p:nvPr/>
        </p:nvSpPr>
        <p:spPr>
          <a:xfrm>
            <a:off x="3017520" y="3282696"/>
            <a:ext cx="338328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Cum lucrăm împreună?</a:t>
            </a:r>
            <a:endParaRPr lang="en-US" sz="1500" dirty="0"/>
          </a:p>
        </p:txBody>
      </p:sp>
      <p:sp>
        <p:nvSpPr>
          <p:cNvPr id="17" name="Text 15"/>
          <p:cNvSpPr/>
          <p:nvPr/>
        </p:nvSpPr>
        <p:spPr>
          <a:xfrm>
            <a:off x="6492240" y="3282696"/>
            <a:ext cx="498348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motivează, comunică, deleagă</a:t>
            </a:r>
            <a:endParaRPr lang="en-US" sz="1500" dirty="0"/>
          </a:p>
        </p:txBody>
      </p:sp>
      <p:sp>
        <p:nvSpPr>
          <p:cNvPr id="18" name="Shape 16"/>
          <p:cNvSpPr/>
          <p:nvPr/>
        </p:nvSpPr>
        <p:spPr>
          <a:xfrm>
            <a:off x="594360" y="4032504"/>
            <a:ext cx="10972800" cy="658368"/>
          </a:xfrm>
          <a:prstGeom prst="roundRect">
            <a:avLst>
              <a:gd name="adj" fmla="val 12500"/>
            </a:avLst>
          </a:prstGeom>
          <a:solidFill>
            <a:srgbClr val="F9F8F5"/>
          </a:solidFill>
          <a:ln w="12700">
            <a:solidFill>
              <a:srgbClr val="F9F8F5"/>
            </a:solidFill>
            <a:prstDash val="solid"/>
          </a:ln>
        </p:spPr>
        <p:txBody>
          <a:bodyPr/>
          <a:p/>
        </p:txBody>
      </p:sp>
      <p:sp>
        <p:nvSpPr>
          <p:cNvPr id="19" name="Text 17"/>
          <p:cNvSpPr/>
          <p:nvPr/>
        </p:nvSpPr>
        <p:spPr>
          <a:xfrm>
            <a:off x="777240" y="4032504"/>
            <a:ext cx="2194560" cy="658368"/>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Controlul</a:t>
            </a:r>
            <a:endParaRPr lang="en-US" sz="1600" dirty="0"/>
          </a:p>
        </p:txBody>
      </p:sp>
      <p:sp>
        <p:nvSpPr>
          <p:cNvPr id="20" name="Text 18"/>
          <p:cNvSpPr/>
          <p:nvPr/>
        </p:nvSpPr>
        <p:spPr>
          <a:xfrm>
            <a:off x="3017520" y="4032504"/>
            <a:ext cx="338328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Am obținut ce ne-am propus?</a:t>
            </a:r>
            <a:endParaRPr lang="en-US" sz="1500" dirty="0"/>
          </a:p>
        </p:txBody>
      </p:sp>
      <p:sp>
        <p:nvSpPr>
          <p:cNvPr id="21" name="Text 19"/>
          <p:cNvSpPr/>
          <p:nvPr/>
        </p:nvSpPr>
        <p:spPr>
          <a:xfrm>
            <a:off x="6492240" y="4032504"/>
            <a:ext cx="498348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compară rezultatele cu obiectivele și propune corecțiile</a:t>
            </a:r>
            <a:endParaRPr lang="en-US" sz="1500" dirty="0"/>
          </a:p>
        </p:txBody>
      </p:sp>
      <p:sp>
        <p:nvSpPr>
          <p:cNvPr id="22" name="Text 20"/>
          <p:cNvSpPr/>
          <p:nvPr/>
        </p:nvSpPr>
        <p:spPr>
          <a:xfrm>
            <a:off x="594360" y="4892040"/>
            <a:ext cx="10972800" cy="822960"/>
          </a:xfrm>
          <a:prstGeom prst="rect">
            <a:avLst/>
          </a:prstGeom>
          <a:noFill/>
          <a:ln/>
        </p:spPr>
        <p:txBody>
          <a:bodyPr wrap="square" lIns="0" tIns="0" rIns="0" bIns="0" rtlCol="0" anchor="t"/>
          <a:lstStyle/>
          <a:p>
            <a:pPr indent="0" marL="0">
              <a:buNone/>
            </a:pPr>
            <a:r>
              <a:rPr lang="en-US" sz="1550" b="1" dirty="0">
                <a:solidFill>
                  <a:srgbClr val="B02532"/>
                </a:solidFill>
                <a:latin typeface="Palatino Linotype" pitchFamily="34" charset="0"/>
                <a:ea typeface="Palatino Linotype" pitchFamily="34" charset="-122"/>
                <a:cs typeface="Palatino Linotype" pitchFamily="34" charset="-120"/>
              </a:rPr>
              <a:t>Ciclul se reia: informațiile din control intră în ciclul următor de planificare. Fayol descria cinci funcții, inclusiv încadrarea cu personal.</a:t>
            </a:r>
            <a:endParaRPr lang="en-US" sz="1550" dirty="0"/>
          </a:p>
        </p:txBody>
      </p:sp>
      <p:sp>
        <p:nvSpPr>
          <p:cNvPr id="23" name="Text 21"/>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A911, A929, A920); exemplele Ioanei sunt construite pentru curs.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PLANIFICAREA</a:t>
            </a:r>
            <a:endParaRPr lang="en-US" sz="1300" dirty="0"/>
          </a:p>
        </p:txBody>
      </p:sp>
      <p:sp>
        <p:nvSpPr>
          <p:cNvPr id="3" name="Shape 1"/>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TREI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Planificarea și analiza SWOT</a:t>
            </a:r>
            <a:endParaRPr lang="en-US" sz="3000" dirty="0"/>
          </a:p>
        </p:txBody>
      </p:sp>
      <p:sp>
        <p:nvSpPr>
          <p:cNvPr id="6" name="Shape 4"/>
          <p:cNvSpPr/>
          <p:nvPr/>
        </p:nvSpPr>
        <p:spPr>
          <a:xfrm>
            <a:off x="594360" y="1645920"/>
            <a:ext cx="5120640" cy="658368"/>
          </a:xfrm>
          <a:prstGeom prst="roundRect">
            <a:avLst>
              <a:gd name="adj" fmla="val 12500"/>
            </a:avLst>
          </a:prstGeom>
          <a:solidFill>
            <a:srgbClr val="ECEAE4"/>
          </a:solidFill>
          <a:ln w="12700">
            <a:solidFill>
              <a:srgbClr val="ECEAE4"/>
            </a:solidFill>
            <a:prstDash val="solid"/>
          </a:ln>
        </p:spPr>
        <p:txBody>
          <a:bodyPr/>
          <a:p/>
        </p:txBody>
      </p:sp>
      <p:sp>
        <p:nvSpPr>
          <p:cNvPr id="7" name="Text 5"/>
          <p:cNvSpPr/>
          <p:nvPr/>
        </p:nvSpPr>
        <p:spPr>
          <a:xfrm>
            <a:off x="777240" y="1645920"/>
            <a:ext cx="4800600" cy="658368"/>
          </a:xfrm>
          <a:prstGeom prst="rect">
            <a:avLst/>
          </a:prstGeom>
          <a:noFill/>
          <a:ln/>
        </p:spPr>
        <p:txBody>
          <a:bodyPr wrap="square" lIns="0" tIns="0" rIns="0" bIns="0" rtlCol="0" anchor="ctr"/>
          <a:lstStyle/>
          <a:p>
            <a:pPr indent="0" marL="0">
              <a:buNone/>
            </a:pPr>
            <a:r>
              <a:rPr lang="en-US" sz="1450" b="1" dirty="0">
                <a:solidFill>
                  <a:srgbClr val="0E7C6B"/>
                </a:solidFill>
                <a:latin typeface="Palatino Linotype" pitchFamily="34" charset="0"/>
                <a:ea typeface="Palatino Linotype" pitchFamily="34" charset="-122"/>
                <a:cs typeface="Palatino Linotype" pitchFamily="34" charset="-120"/>
              </a:rPr>
              <a:t>Strategică: </a:t>
            </a:r>
            <a:pPr indent="0" marL="0">
              <a:buNone/>
            </a:pPr>
            <a:r>
              <a:rPr lang="en-US" sz="1450" dirty="0">
                <a:solidFill>
                  <a:srgbClr val="11121A"/>
                </a:solidFill>
                <a:latin typeface="Palatino Linotype" pitchFamily="34" charset="0"/>
                <a:ea typeface="Palatino Linotype" pitchFamily="34" charset="-122"/>
                <a:cs typeface="Palatino Linotype" pitchFamily="34" charset="-120"/>
              </a:rPr>
              <a:t>conducerea de vârf: direcția de ansamblu</a:t>
            </a:r>
            <a:endParaRPr lang="en-US" sz="1450" dirty="0"/>
          </a:p>
        </p:txBody>
      </p:sp>
      <p:sp>
        <p:nvSpPr>
          <p:cNvPr id="8" name="Shape 6"/>
          <p:cNvSpPr/>
          <p:nvPr/>
        </p:nvSpPr>
        <p:spPr>
          <a:xfrm>
            <a:off x="594360" y="2395728"/>
            <a:ext cx="5120640" cy="658368"/>
          </a:xfrm>
          <a:prstGeom prst="roundRect">
            <a:avLst>
              <a:gd name="adj" fmla="val 12500"/>
            </a:avLst>
          </a:prstGeom>
          <a:solidFill>
            <a:srgbClr val="F9F8F5"/>
          </a:solidFill>
          <a:ln w="12700">
            <a:solidFill>
              <a:srgbClr val="F9F8F5"/>
            </a:solidFill>
            <a:prstDash val="solid"/>
          </a:ln>
        </p:spPr>
        <p:txBody>
          <a:bodyPr/>
          <a:p/>
        </p:txBody>
      </p:sp>
      <p:sp>
        <p:nvSpPr>
          <p:cNvPr id="9" name="Text 7"/>
          <p:cNvSpPr/>
          <p:nvPr/>
        </p:nvSpPr>
        <p:spPr>
          <a:xfrm>
            <a:off x="777240" y="2395728"/>
            <a:ext cx="4800600" cy="658368"/>
          </a:xfrm>
          <a:prstGeom prst="rect">
            <a:avLst/>
          </a:prstGeom>
          <a:noFill/>
          <a:ln/>
        </p:spPr>
        <p:txBody>
          <a:bodyPr wrap="square" lIns="0" tIns="0" rIns="0" bIns="0" rtlCol="0" anchor="ctr"/>
          <a:lstStyle/>
          <a:p>
            <a:pPr indent="0" marL="0">
              <a:buNone/>
            </a:pPr>
            <a:r>
              <a:rPr lang="en-US" sz="1450" b="1" dirty="0">
                <a:solidFill>
                  <a:srgbClr val="0E7C6B"/>
                </a:solidFill>
                <a:latin typeface="Palatino Linotype" pitchFamily="34" charset="0"/>
                <a:ea typeface="Palatino Linotype" pitchFamily="34" charset="-122"/>
                <a:cs typeface="Palatino Linotype" pitchFamily="34" charset="-120"/>
              </a:rPr>
              <a:t>Tactică: </a:t>
            </a:r>
            <a:pPr indent="0" marL="0">
              <a:buNone/>
            </a:pPr>
            <a:r>
              <a:rPr lang="en-US" sz="1450" dirty="0">
                <a:solidFill>
                  <a:srgbClr val="11121A"/>
                </a:solidFill>
                <a:latin typeface="Palatino Linotype" pitchFamily="34" charset="0"/>
                <a:ea typeface="Palatino Linotype" pitchFamily="34" charset="-122"/>
                <a:cs typeface="Palatino Linotype" pitchFamily="34" charset="-120"/>
              </a:rPr>
              <a:t>șefii de compartiment: acțiunile compartimentului</a:t>
            </a:r>
            <a:endParaRPr lang="en-US" sz="1450" dirty="0"/>
          </a:p>
        </p:txBody>
      </p:sp>
      <p:sp>
        <p:nvSpPr>
          <p:cNvPr id="10" name="Shape 8"/>
          <p:cNvSpPr/>
          <p:nvPr/>
        </p:nvSpPr>
        <p:spPr>
          <a:xfrm>
            <a:off x="594360" y="3145536"/>
            <a:ext cx="5120640" cy="658368"/>
          </a:xfrm>
          <a:prstGeom prst="roundRect">
            <a:avLst>
              <a:gd name="adj" fmla="val 12500"/>
            </a:avLst>
          </a:prstGeom>
          <a:solidFill>
            <a:srgbClr val="ECEAE4"/>
          </a:solidFill>
          <a:ln w="12700">
            <a:solidFill>
              <a:srgbClr val="ECEAE4"/>
            </a:solidFill>
            <a:prstDash val="solid"/>
          </a:ln>
        </p:spPr>
        <p:txBody>
          <a:bodyPr/>
          <a:p/>
        </p:txBody>
      </p:sp>
      <p:sp>
        <p:nvSpPr>
          <p:cNvPr id="11" name="Text 9"/>
          <p:cNvSpPr/>
          <p:nvPr/>
        </p:nvSpPr>
        <p:spPr>
          <a:xfrm>
            <a:off x="777240" y="3145536"/>
            <a:ext cx="4800600" cy="658368"/>
          </a:xfrm>
          <a:prstGeom prst="rect">
            <a:avLst/>
          </a:prstGeom>
          <a:noFill/>
          <a:ln/>
        </p:spPr>
        <p:txBody>
          <a:bodyPr wrap="square" lIns="0" tIns="0" rIns="0" bIns="0" rtlCol="0" anchor="ctr"/>
          <a:lstStyle/>
          <a:p>
            <a:pPr indent="0" marL="0">
              <a:buNone/>
            </a:pPr>
            <a:r>
              <a:rPr lang="en-US" sz="1450" b="1" dirty="0">
                <a:solidFill>
                  <a:srgbClr val="0E7C6B"/>
                </a:solidFill>
                <a:latin typeface="Palatino Linotype" pitchFamily="34" charset="0"/>
                <a:ea typeface="Palatino Linotype" pitchFamily="34" charset="-122"/>
                <a:cs typeface="Palatino Linotype" pitchFamily="34" charset="-120"/>
              </a:rPr>
              <a:t>Operațională: </a:t>
            </a:r>
            <a:pPr indent="0" marL="0">
              <a:buNone/>
            </a:pPr>
            <a:r>
              <a:rPr lang="en-US" sz="1450" dirty="0">
                <a:solidFill>
                  <a:srgbClr val="11121A"/>
                </a:solidFill>
                <a:latin typeface="Palatino Linotype" pitchFamily="34" charset="0"/>
                <a:ea typeface="Palatino Linotype" pitchFamily="34" charset="-122"/>
                <a:cs typeface="Palatino Linotype" pitchFamily="34" charset="-120"/>
              </a:rPr>
              <a:t>activitățile zilnice: turele, lista de vizite</a:t>
            </a:r>
            <a:endParaRPr lang="en-US" sz="1450" dirty="0"/>
          </a:p>
        </p:txBody>
      </p:sp>
      <p:sp>
        <p:nvSpPr>
          <p:cNvPr id="12" name="Text 10"/>
          <p:cNvSpPr/>
          <p:nvPr/>
        </p:nvSpPr>
        <p:spPr>
          <a:xfrm>
            <a:off x="594360" y="3977640"/>
            <a:ext cx="5120640" cy="8229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Obiectivul bun: specific, măsurabil, realizabil, relevant, încadrat în timp.</a:t>
            </a:r>
            <a:endParaRPr lang="en-US" sz="1500" dirty="0"/>
          </a:p>
        </p:txBody>
      </p:sp>
      <p:sp>
        <p:nvSpPr>
          <p:cNvPr id="13" name="Shape 11"/>
          <p:cNvSpPr/>
          <p:nvPr/>
        </p:nvSpPr>
        <p:spPr>
          <a:xfrm>
            <a:off x="5989320" y="1645920"/>
            <a:ext cx="2724912" cy="1481328"/>
          </a:xfrm>
          <a:prstGeom prst="roundRect">
            <a:avLst>
              <a:gd name="adj" fmla="val 5556"/>
            </a:avLst>
          </a:prstGeom>
          <a:solidFill>
            <a:srgbClr val="FFFFFF"/>
          </a:solidFill>
          <a:ln w="12700">
            <a:solidFill>
              <a:srgbClr val="FFFFFF"/>
            </a:solidFill>
            <a:prstDash val="solid"/>
          </a:ln>
        </p:spPr>
        <p:txBody>
          <a:bodyPr/>
          <a:p/>
        </p:txBody>
      </p:sp>
      <p:sp>
        <p:nvSpPr>
          <p:cNvPr id="14" name="Shape 12"/>
          <p:cNvSpPr/>
          <p:nvPr/>
        </p:nvSpPr>
        <p:spPr>
          <a:xfrm>
            <a:off x="5989320" y="1645920"/>
            <a:ext cx="2724912" cy="64008"/>
          </a:xfrm>
          <a:prstGeom prst="rect">
            <a:avLst/>
          </a:prstGeom>
          <a:solidFill>
            <a:srgbClr val="0E7C6B"/>
          </a:solidFill>
          <a:ln w="12700">
            <a:solidFill>
              <a:srgbClr val="0E7C6B"/>
            </a:solidFill>
            <a:prstDash val="solid"/>
          </a:ln>
        </p:spPr>
        <p:txBody>
          <a:bodyPr/>
          <a:p/>
        </p:txBody>
      </p:sp>
      <p:sp>
        <p:nvSpPr>
          <p:cNvPr id="15" name="Text 13"/>
          <p:cNvSpPr/>
          <p:nvPr/>
        </p:nvSpPr>
        <p:spPr>
          <a:xfrm>
            <a:off x="6172200" y="1783080"/>
            <a:ext cx="2377440" cy="36576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Puncte tari</a:t>
            </a:r>
            <a:endParaRPr lang="en-US" sz="1600" dirty="0"/>
          </a:p>
        </p:txBody>
      </p:sp>
      <p:sp>
        <p:nvSpPr>
          <p:cNvPr id="16" name="Text 14"/>
          <p:cNvSpPr/>
          <p:nvPr/>
        </p:nvSpPr>
        <p:spPr>
          <a:xfrm>
            <a:off x="6172200" y="2194560"/>
            <a:ext cx="237744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interne · ?</a:t>
            </a:r>
            <a:endParaRPr lang="en-US" sz="1400" dirty="0"/>
          </a:p>
        </p:txBody>
      </p:sp>
      <p:sp>
        <p:nvSpPr>
          <p:cNvPr id="17" name="Shape 15"/>
          <p:cNvSpPr/>
          <p:nvPr/>
        </p:nvSpPr>
        <p:spPr>
          <a:xfrm>
            <a:off x="8805672" y="1645920"/>
            <a:ext cx="2724912" cy="1481328"/>
          </a:xfrm>
          <a:prstGeom prst="roundRect">
            <a:avLst>
              <a:gd name="adj" fmla="val 5556"/>
            </a:avLst>
          </a:prstGeom>
          <a:solidFill>
            <a:srgbClr val="FFFFFF"/>
          </a:solidFill>
          <a:ln w="12700">
            <a:solidFill>
              <a:srgbClr val="FFFFFF"/>
            </a:solidFill>
            <a:prstDash val="solid"/>
          </a:ln>
        </p:spPr>
        <p:txBody>
          <a:bodyPr/>
          <a:p/>
        </p:txBody>
      </p:sp>
      <p:sp>
        <p:nvSpPr>
          <p:cNvPr id="18" name="Shape 16"/>
          <p:cNvSpPr/>
          <p:nvPr/>
        </p:nvSpPr>
        <p:spPr>
          <a:xfrm>
            <a:off x="8805672" y="1645920"/>
            <a:ext cx="2724912" cy="64008"/>
          </a:xfrm>
          <a:prstGeom prst="rect">
            <a:avLst/>
          </a:prstGeom>
          <a:solidFill>
            <a:srgbClr val="B02532"/>
          </a:solidFill>
          <a:ln w="12700">
            <a:solidFill>
              <a:srgbClr val="B02532"/>
            </a:solidFill>
            <a:prstDash val="solid"/>
          </a:ln>
        </p:spPr>
        <p:txBody>
          <a:bodyPr/>
          <a:p/>
        </p:txBody>
      </p:sp>
      <p:sp>
        <p:nvSpPr>
          <p:cNvPr id="19" name="Text 17"/>
          <p:cNvSpPr/>
          <p:nvPr/>
        </p:nvSpPr>
        <p:spPr>
          <a:xfrm>
            <a:off x="8988552" y="1783080"/>
            <a:ext cx="2377440" cy="36576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Puncte slabe</a:t>
            </a:r>
            <a:endParaRPr lang="en-US" sz="1600" dirty="0"/>
          </a:p>
        </p:txBody>
      </p:sp>
      <p:sp>
        <p:nvSpPr>
          <p:cNvPr id="20" name="Text 18"/>
          <p:cNvSpPr/>
          <p:nvPr/>
        </p:nvSpPr>
        <p:spPr>
          <a:xfrm>
            <a:off x="8988552" y="2194560"/>
            <a:ext cx="237744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interne · ?</a:t>
            </a:r>
            <a:endParaRPr lang="en-US" sz="1400" dirty="0"/>
          </a:p>
        </p:txBody>
      </p:sp>
      <p:sp>
        <p:nvSpPr>
          <p:cNvPr id="21" name="Shape 19"/>
          <p:cNvSpPr/>
          <p:nvPr/>
        </p:nvSpPr>
        <p:spPr>
          <a:xfrm>
            <a:off x="5989320" y="3246120"/>
            <a:ext cx="2724912" cy="1481328"/>
          </a:xfrm>
          <a:prstGeom prst="roundRect">
            <a:avLst>
              <a:gd name="adj" fmla="val 5556"/>
            </a:avLst>
          </a:prstGeom>
          <a:solidFill>
            <a:srgbClr val="FFFFFF"/>
          </a:solidFill>
          <a:ln w="12700">
            <a:solidFill>
              <a:srgbClr val="FFFFFF"/>
            </a:solidFill>
            <a:prstDash val="solid"/>
          </a:ln>
        </p:spPr>
        <p:txBody>
          <a:bodyPr/>
          <a:p/>
        </p:txBody>
      </p:sp>
      <p:sp>
        <p:nvSpPr>
          <p:cNvPr id="22" name="Shape 20"/>
          <p:cNvSpPr/>
          <p:nvPr/>
        </p:nvSpPr>
        <p:spPr>
          <a:xfrm>
            <a:off x="5989320" y="3246120"/>
            <a:ext cx="2724912" cy="64008"/>
          </a:xfrm>
          <a:prstGeom prst="rect">
            <a:avLst/>
          </a:prstGeom>
          <a:solidFill>
            <a:srgbClr val="0E7C6B"/>
          </a:solidFill>
          <a:ln w="12700">
            <a:solidFill>
              <a:srgbClr val="0E7C6B"/>
            </a:solidFill>
            <a:prstDash val="solid"/>
          </a:ln>
        </p:spPr>
        <p:txBody>
          <a:bodyPr/>
          <a:p/>
        </p:txBody>
      </p:sp>
      <p:sp>
        <p:nvSpPr>
          <p:cNvPr id="23" name="Text 21"/>
          <p:cNvSpPr/>
          <p:nvPr/>
        </p:nvSpPr>
        <p:spPr>
          <a:xfrm>
            <a:off x="6172200" y="3383280"/>
            <a:ext cx="2377440" cy="36576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Oportunități</a:t>
            </a:r>
            <a:endParaRPr lang="en-US" sz="1600" dirty="0"/>
          </a:p>
        </p:txBody>
      </p:sp>
      <p:sp>
        <p:nvSpPr>
          <p:cNvPr id="24" name="Text 22"/>
          <p:cNvSpPr/>
          <p:nvPr/>
        </p:nvSpPr>
        <p:spPr>
          <a:xfrm>
            <a:off x="6172200" y="3794760"/>
            <a:ext cx="237744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externe · ?</a:t>
            </a:r>
            <a:endParaRPr lang="en-US" sz="1400" dirty="0"/>
          </a:p>
        </p:txBody>
      </p:sp>
      <p:sp>
        <p:nvSpPr>
          <p:cNvPr id="25" name="Shape 23"/>
          <p:cNvSpPr/>
          <p:nvPr/>
        </p:nvSpPr>
        <p:spPr>
          <a:xfrm>
            <a:off x="8805672" y="3246120"/>
            <a:ext cx="2724912" cy="1481328"/>
          </a:xfrm>
          <a:prstGeom prst="roundRect">
            <a:avLst>
              <a:gd name="adj" fmla="val 5556"/>
            </a:avLst>
          </a:prstGeom>
          <a:solidFill>
            <a:srgbClr val="FFFFFF"/>
          </a:solidFill>
          <a:ln w="12700">
            <a:solidFill>
              <a:srgbClr val="FFFFFF"/>
            </a:solidFill>
            <a:prstDash val="solid"/>
          </a:ln>
        </p:spPr>
        <p:txBody>
          <a:bodyPr/>
          <a:p/>
        </p:txBody>
      </p:sp>
      <p:sp>
        <p:nvSpPr>
          <p:cNvPr id="26" name="Shape 24"/>
          <p:cNvSpPr/>
          <p:nvPr/>
        </p:nvSpPr>
        <p:spPr>
          <a:xfrm>
            <a:off x="8805672" y="3246120"/>
            <a:ext cx="2724912" cy="64008"/>
          </a:xfrm>
          <a:prstGeom prst="rect">
            <a:avLst/>
          </a:prstGeom>
          <a:solidFill>
            <a:srgbClr val="B02532"/>
          </a:solidFill>
          <a:ln w="12700">
            <a:solidFill>
              <a:srgbClr val="B02532"/>
            </a:solidFill>
            <a:prstDash val="solid"/>
          </a:ln>
        </p:spPr>
        <p:txBody>
          <a:bodyPr/>
          <a:p/>
        </p:txBody>
      </p:sp>
      <p:sp>
        <p:nvSpPr>
          <p:cNvPr id="27" name="Text 25"/>
          <p:cNvSpPr/>
          <p:nvPr/>
        </p:nvSpPr>
        <p:spPr>
          <a:xfrm>
            <a:off x="8988552" y="3383280"/>
            <a:ext cx="2377440" cy="36576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Amenințări</a:t>
            </a:r>
            <a:endParaRPr lang="en-US" sz="1600" dirty="0"/>
          </a:p>
        </p:txBody>
      </p:sp>
      <p:sp>
        <p:nvSpPr>
          <p:cNvPr id="28" name="Text 26"/>
          <p:cNvSpPr/>
          <p:nvPr/>
        </p:nvSpPr>
        <p:spPr>
          <a:xfrm>
            <a:off x="8988552" y="3794760"/>
            <a:ext cx="237744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externe · ?</a:t>
            </a:r>
            <a:endParaRPr lang="en-US" sz="1400" dirty="0"/>
          </a:p>
        </p:txBody>
      </p:sp>
      <p:sp>
        <p:nvSpPr>
          <p:cNvPr id="29" name="Shape 27"/>
          <p:cNvSpPr/>
          <p:nvPr/>
        </p:nvSpPr>
        <p:spPr>
          <a:xfrm>
            <a:off x="594360" y="5074920"/>
            <a:ext cx="10972800" cy="960120"/>
          </a:xfrm>
          <a:prstGeom prst="roundRect">
            <a:avLst>
              <a:gd name="adj" fmla="val 8571"/>
            </a:avLst>
          </a:prstGeom>
          <a:solidFill>
            <a:srgbClr val="11121A"/>
          </a:solidFill>
          <a:ln w="12700">
            <a:solidFill>
              <a:srgbClr val="11121A"/>
            </a:solidFill>
            <a:prstDash val="solid"/>
          </a:ln>
        </p:spPr>
        <p:txBody>
          <a:bodyPr/>
          <a:p/>
        </p:txBody>
      </p:sp>
      <p:sp>
        <p:nvSpPr>
          <p:cNvPr id="30" name="Text 28"/>
          <p:cNvSpPr/>
          <p:nvPr/>
        </p:nvSpPr>
        <p:spPr>
          <a:xfrm>
            <a:off x="868680" y="5074920"/>
            <a:ext cx="10424160" cy="96012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Cu colegul de bancă: câte un exemplu pe cadran pentru centrul Ioanei. Exersați la lucrarea practică a săptămânii.</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ORGANIZAREA · OPENSTAX</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Cine face, cui raportează, cu ce resurse</a:t>
            </a:r>
            <a:endParaRPr lang="en-US" sz="2800" dirty="0"/>
          </a:p>
        </p:txBody>
      </p:sp>
      <p:sp>
        <p:nvSpPr>
          <p:cNvPr id="4" name="Shape 2"/>
          <p:cNvSpPr/>
          <p:nvPr/>
        </p:nvSpPr>
        <p:spPr>
          <a:xfrm>
            <a:off x="594360" y="1600200"/>
            <a:ext cx="3566160" cy="3657600"/>
          </a:xfrm>
          <a:prstGeom prst="roundRect">
            <a:avLst>
              <a:gd name="adj" fmla="val 2308"/>
            </a:avLst>
          </a:prstGeom>
          <a:solidFill>
            <a:srgbClr val="ECEAE4"/>
          </a:solidFill>
          <a:ln w="12700">
            <a:solidFill>
              <a:srgbClr val="ECEAE4"/>
            </a:solidFill>
            <a:prstDash val="solid"/>
          </a:ln>
        </p:spPr>
        <p:txBody>
          <a:bodyPr/>
          <a:p/>
        </p:txBody>
      </p:sp>
      <p:sp>
        <p:nvSpPr>
          <p:cNvPr id="5" name="Shape 3"/>
          <p:cNvSpPr/>
          <p:nvPr/>
        </p:nvSpPr>
        <p:spPr>
          <a:xfrm>
            <a:off x="1645920" y="1783080"/>
            <a:ext cx="1188720" cy="384048"/>
          </a:xfrm>
          <a:prstGeom prst="roundRect">
            <a:avLst>
              <a:gd name="adj" fmla="val 21429"/>
            </a:avLst>
          </a:prstGeom>
          <a:solidFill>
            <a:srgbClr val="0E7C6B"/>
          </a:solidFill>
          <a:ln w="12700">
            <a:solidFill>
              <a:srgbClr val="0E7C6B"/>
            </a:solidFill>
            <a:prstDash val="solid"/>
          </a:ln>
        </p:spPr>
        <p:txBody>
          <a:bodyPr/>
          <a:p/>
        </p:txBody>
      </p:sp>
      <p:sp>
        <p:nvSpPr>
          <p:cNvPr id="6" name="Shape 4"/>
          <p:cNvSpPr/>
          <p:nvPr/>
        </p:nvSpPr>
        <p:spPr>
          <a:xfrm>
            <a:off x="777240" y="2606040"/>
            <a:ext cx="960120" cy="347472"/>
          </a:xfrm>
          <a:prstGeom prst="roundRect">
            <a:avLst>
              <a:gd name="adj" fmla="val 23684"/>
            </a:avLst>
          </a:prstGeom>
          <a:solidFill>
            <a:srgbClr val="B5B2AA"/>
          </a:solidFill>
          <a:ln w="12700">
            <a:solidFill>
              <a:srgbClr val="B5B2AA"/>
            </a:solidFill>
            <a:prstDash val="solid"/>
          </a:ln>
        </p:spPr>
        <p:txBody>
          <a:bodyPr/>
          <a:p/>
        </p:txBody>
      </p:sp>
      <p:sp>
        <p:nvSpPr>
          <p:cNvPr id="7" name="Shape 5"/>
          <p:cNvSpPr/>
          <p:nvPr/>
        </p:nvSpPr>
        <p:spPr>
          <a:xfrm flipV="1">
            <a:off x="1252728" y="2167128"/>
            <a:ext cx="987552" cy="438912"/>
          </a:xfrm>
          <a:prstGeom prst="line">
            <a:avLst/>
          </a:prstGeom>
          <a:noFill/>
          <a:ln w="19050">
            <a:solidFill>
              <a:srgbClr val="C9C6BE"/>
            </a:solidFill>
            <a:prstDash val="solid"/>
          </a:ln>
        </p:spPr>
        <p:txBody>
          <a:bodyPr/>
          <a:p/>
        </p:txBody>
      </p:sp>
      <p:sp>
        <p:nvSpPr>
          <p:cNvPr id="8" name="Shape 6"/>
          <p:cNvSpPr/>
          <p:nvPr/>
        </p:nvSpPr>
        <p:spPr>
          <a:xfrm>
            <a:off x="1920240" y="2606040"/>
            <a:ext cx="960120" cy="347472"/>
          </a:xfrm>
          <a:prstGeom prst="roundRect">
            <a:avLst>
              <a:gd name="adj" fmla="val 23684"/>
            </a:avLst>
          </a:prstGeom>
          <a:solidFill>
            <a:srgbClr val="B5B2AA"/>
          </a:solidFill>
          <a:ln w="12700">
            <a:solidFill>
              <a:srgbClr val="B5B2AA"/>
            </a:solidFill>
            <a:prstDash val="solid"/>
          </a:ln>
        </p:spPr>
        <p:txBody>
          <a:bodyPr/>
          <a:p/>
        </p:txBody>
      </p:sp>
      <p:sp>
        <p:nvSpPr>
          <p:cNvPr id="9" name="Shape 7"/>
          <p:cNvSpPr/>
          <p:nvPr/>
        </p:nvSpPr>
        <p:spPr>
          <a:xfrm>
            <a:off x="2240280" y="2167128"/>
            <a:ext cx="155448" cy="438912"/>
          </a:xfrm>
          <a:prstGeom prst="line">
            <a:avLst/>
          </a:prstGeom>
          <a:noFill/>
          <a:ln w="19050">
            <a:solidFill>
              <a:srgbClr val="C9C6BE"/>
            </a:solidFill>
            <a:prstDash val="solid"/>
          </a:ln>
        </p:spPr>
        <p:txBody>
          <a:bodyPr/>
          <a:p/>
        </p:txBody>
      </p:sp>
      <p:sp>
        <p:nvSpPr>
          <p:cNvPr id="10" name="Shape 8"/>
          <p:cNvSpPr/>
          <p:nvPr/>
        </p:nvSpPr>
        <p:spPr>
          <a:xfrm>
            <a:off x="3063240" y="2606040"/>
            <a:ext cx="960120" cy="347472"/>
          </a:xfrm>
          <a:prstGeom prst="roundRect">
            <a:avLst>
              <a:gd name="adj" fmla="val 23684"/>
            </a:avLst>
          </a:prstGeom>
          <a:solidFill>
            <a:srgbClr val="B5B2AA"/>
          </a:solidFill>
          <a:ln w="12700">
            <a:solidFill>
              <a:srgbClr val="B5B2AA"/>
            </a:solidFill>
            <a:prstDash val="solid"/>
          </a:ln>
        </p:spPr>
        <p:txBody>
          <a:bodyPr/>
          <a:p/>
        </p:txBody>
      </p:sp>
      <p:sp>
        <p:nvSpPr>
          <p:cNvPr id="11" name="Shape 9"/>
          <p:cNvSpPr/>
          <p:nvPr/>
        </p:nvSpPr>
        <p:spPr>
          <a:xfrm>
            <a:off x="2240280" y="2167128"/>
            <a:ext cx="1298448" cy="438912"/>
          </a:xfrm>
          <a:prstGeom prst="line">
            <a:avLst/>
          </a:prstGeom>
          <a:noFill/>
          <a:ln w="19050">
            <a:solidFill>
              <a:srgbClr val="C9C6BE"/>
            </a:solidFill>
            <a:prstDash val="solid"/>
          </a:ln>
        </p:spPr>
        <p:txBody>
          <a:bodyPr/>
          <a:p/>
        </p:txBody>
      </p:sp>
      <p:sp>
        <p:nvSpPr>
          <p:cNvPr id="12" name="Text 10"/>
          <p:cNvSpPr/>
          <p:nvPr/>
        </p:nvSpPr>
        <p:spPr>
          <a:xfrm>
            <a:off x="777240" y="3611880"/>
            <a:ext cx="3246120" cy="41148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Funcțională</a:t>
            </a:r>
            <a:endParaRPr lang="en-US" sz="1800" dirty="0"/>
          </a:p>
        </p:txBody>
      </p:sp>
      <p:sp>
        <p:nvSpPr>
          <p:cNvPr id="13" name="Text 11"/>
          <p:cNvSpPr/>
          <p:nvPr/>
        </p:nvSpPr>
        <p:spPr>
          <a:xfrm>
            <a:off x="777240" y="4023360"/>
            <a:ext cx="32461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pe specialități (secțiile, laboratorul): specializare înaltă, raportare simplă, dar compartimente izolate</a:t>
            </a:r>
            <a:endParaRPr lang="en-US" sz="1400" dirty="0"/>
          </a:p>
        </p:txBody>
      </p:sp>
      <p:sp>
        <p:nvSpPr>
          <p:cNvPr id="14" name="Shape 12"/>
          <p:cNvSpPr/>
          <p:nvPr/>
        </p:nvSpPr>
        <p:spPr>
          <a:xfrm>
            <a:off x="4297680" y="1600200"/>
            <a:ext cx="3566160" cy="3657600"/>
          </a:xfrm>
          <a:prstGeom prst="roundRect">
            <a:avLst>
              <a:gd name="adj" fmla="val 2308"/>
            </a:avLst>
          </a:prstGeom>
          <a:solidFill>
            <a:srgbClr val="F9F8F5"/>
          </a:solidFill>
          <a:ln w="12700">
            <a:solidFill>
              <a:srgbClr val="F9F8F5"/>
            </a:solidFill>
            <a:prstDash val="solid"/>
          </a:ln>
        </p:spPr>
        <p:txBody>
          <a:bodyPr/>
          <a:p/>
        </p:txBody>
      </p:sp>
      <p:sp>
        <p:nvSpPr>
          <p:cNvPr id="15" name="Shape 13"/>
          <p:cNvSpPr/>
          <p:nvPr/>
        </p:nvSpPr>
        <p:spPr>
          <a:xfrm>
            <a:off x="5349240" y="1783080"/>
            <a:ext cx="1188720" cy="384048"/>
          </a:xfrm>
          <a:prstGeom prst="roundRect">
            <a:avLst>
              <a:gd name="adj" fmla="val 21429"/>
            </a:avLst>
          </a:prstGeom>
          <a:solidFill>
            <a:srgbClr val="4A2D8C"/>
          </a:solidFill>
          <a:ln w="12700">
            <a:solidFill>
              <a:srgbClr val="4A2D8C"/>
            </a:solidFill>
            <a:prstDash val="solid"/>
          </a:ln>
        </p:spPr>
        <p:txBody>
          <a:bodyPr/>
          <a:p/>
        </p:txBody>
      </p:sp>
      <p:sp>
        <p:nvSpPr>
          <p:cNvPr id="16" name="Shape 14"/>
          <p:cNvSpPr/>
          <p:nvPr/>
        </p:nvSpPr>
        <p:spPr>
          <a:xfrm>
            <a:off x="4480560" y="2606040"/>
            <a:ext cx="960120" cy="347472"/>
          </a:xfrm>
          <a:prstGeom prst="roundRect">
            <a:avLst>
              <a:gd name="adj" fmla="val 23684"/>
            </a:avLst>
          </a:prstGeom>
          <a:solidFill>
            <a:srgbClr val="B5B2AA"/>
          </a:solidFill>
          <a:ln w="12700">
            <a:solidFill>
              <a:srgbClr val="B5B2AA"/>
            </a:solidFill>
            <a:prstDash val="solid"/>
          </a:ln>
        </p:spPr>
        <p:txBody>
          <a:bodyPr/>
          <a:p/>
        </p:txBody>
      </p:sp>
      <p:sp>
        <p:nvSpPr>
          <p:cNvPr id="17" name="Shape 15"/>
          <p:cNvSpPr/>
          <p:nvPr/>
        </p:nvSpPr>
        <p:spPr>
          <a:xfrm flipV="1">
            <a:off x="4956048" y="2167128"/>
            <a:ext cx="987552" cy="438912"/>
          </a:xfrm>
          <a:prstGeom prst="line">
            <a:avLst/>
          </a:prstGeom>
          <a:noFill/>
          <a:ln w="19050">
            <a:solidFill>
              <a:srgbClr val="C9C6BE"/>
            </a:solidFill>
            <a:prstDash val="solid"/>
          </a:ln>
        </p:spPr>
        <p:txBody>
          <a:bodyPr/>
          <a:p/>
        </p:txBody>
      </p:sp>
      <p:sp>
        <p:nvSpPr>
          <p:cNvPr id="18" name="Shape 16"/>
          <p:cNvSpPr/>
          <p:nvPr/>
        </p:nvSpPr>
        <p:spPr>
          <a:xfrm>
            <a:off x="5623560" y="2606040"/>
            <a:ext cx="960120" cy="347472"/>
          </a:xfrm>
          <a:prstGeom prst="roundRect">
            <a:avLst>
              <a:gd name="adj" fmla="val 23684"/>
            </a:avLst>
          </a:prstGeom>
          <a:solidFill>
            <a:srgbClr val="B5B2AA"/>
          </a:solidFill>
          <a:ln w="12700">
            <a:solidFill>
              <a:srgbClr val="B5B2AA"/>
            </a:solidFill>
            <a:prstDash val="solid"/>
          </a:ln>
        </p:spPr>
        <p:txBody>
          <a:bodyPr/>
          <a:p/>
        </p:txBody>
      </p:sp>
      <p:sp>
        <p:nvSpPr>
          <p:cNvPr id="19" name="Shape 17"/>
          <p:cNvSpPr/>
          <p:nvPr/>
        </p:nvSpPr>
        <p:spPr>
          <a:xfrm>
            <a:off x="5943600" y="2167128"/>
            <a:ext cx="155448" cy="438912"/>
          </a:xfrm>
          <a:prstGeom prst="line">
            <a:avLst/>
          </a:prstGeom>
          <a:noFill/>
          <a:ln w="19050">
            <a:solidFill>
              <a:srgbClr val="C9C6BE"/>
            </a:solidFill>
            <a:prstDash val="solid"/>
          </a:ln>
        </p:spPr>
        <p:txBody>
          <a:bodyPr/>
          <a:p/>
        </p:txBody>
      </p:sp>
      <p:sp>
        <p:nvSpPr>
          <p:cNvPr id="20" name="Shape 18"/>
          <p:cNvSpPr/>
          <p:nvPr/>
        </p:nvSpPr>
        <p:spPr>
          <a:xfrm>
            <a:off x="6766560" y="2606040"/>
            <a:ext cx="960120" cy="347472"/>
          </a:xfrm>
          <a:prstGeom prst="roundRect">
            <a:avLst>
              <a:gd name="adj" fmla="val 23684"/>
            </a:avLst>
          </a:prstGeom>
          <a:solidFill>
            <a:srgbClr val="B5B2AA"/>
          </a:solidFill>
          <a:ln w="12700">
            <a:solidFill>
              <a:srgbClr val="B5B2AA"/>
            </a:solidFill>
            <a:prstDash val="solid"/>
          </a:ln>
        </p:spPr>
        <p:txBody>
          <a:bodyPr/>
          <a:p/>
        </p:txBody>
      </p:sp>
      <p:sp>
        <p:nvSpPr>
          <p:cNvPr id="21" name="Shape 19"/>
          <p:cNvSpPr/>
          <p:nvPr/>
        </p:nvSpPr>
        <p:spPr>
          <a:xfrm>
            <a:off x="5943600" y="2167128"/>
            <a:ext cx="1298448" cy="438912"/>
          </a:xfrm>
          <a:prstGeom prst="line">
            <a:avLst/>
          </a:prstGeom>
          <a:noFill/>
          <a:ln w="19050">
            <a:solidFill>
              <a:srgbClr val="C9C6BE"/>
            </a:solidFill>
            <a:prstDash val="solid"/>
          </a:ln>
        </p:spPr>
        <p:txBody>
          <a:bodyPr/>
          <a:p/>
        </p:txBody>
      </p:sp>
      <p:sp>
        <p:nvSpPr>
          <p:cNvPr id="22" name="Text 20"/>
          <p:cNvSpPr/>
          <p:nvPr/>
        </p:nvSpPr>
        <p:spPr>
          <a:xfrm>
            <a:off x="4480560" y="3611880"/>
            <a:ext cx="3246120" cy="411480"/>
          </a:xfrm>
          <a:prstGeom prst="rect">
            <a:avLst/>
          </a:prstGeom>
          <a:noFill/>
          <a:ln/>
        </p:spPr>
        <p:txBody>
          <a:bodyPr wrap="square" lIns="0" tIns="0" rIns="0" bIns="0" rtlCol="0" anchor="t"/>
          <a:lstStyle/>
          <a:p>
            <a:pPr indent="0" marL="0">
              <a:buNone/>
            </a:pPr>
            <a:r>
              <a:rPr lang="en-US" sz="1800" b="1" dirty="0">
                <a:solidFill>
                  <a:srgbClr val="4A2D8C"/>
                </a:solidFill>
                <a:latin typeface="Palatino Linotype" pitchFamily="34" charset="0"/>
                <a:ea typeface="Palatino Linotype" pitchFamily="34" charset="-122"/>
                <a:cs typeface="Palatino Linotype" pitchFamily="34" charset="-120"/>
              </a:rPr>
              <a:t>Divizională</a:t>
            </a:r>
            <a:endParaRPr lang="en-US" sz="1800" dirty="0"/>
          </a:p>
        </p:txBody>
      </p:sp>
      <p:sp>
        <p:nvSpPr>
          <p:cNvPr id="23" name="Text 21"/>
          <p:cNvSpPr/>
          <p:nvPr/>
        </p:nvSpPr>
        <p:spPr>
          <a:xfrm>
            <a:off x="4480560" y="4023360"/>
            <a:ext cx="32461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pe servicii, beneficiari sau zone; fiecare divizie are resursele ei</a:t>
            </a:r>
            <a:endParaRPr lang="en-US" sz="1400" dirty="0"/>
          </a:p>
        </p:txBody>
      </p:sp>
      <p:sp>
        <p:nvSpPr>
          <p:cNvPr id="24" name="Shape 22"/>
          <p:cNvSpPr/>
          <p:nvPr/>
        </p:nvSpPr>
        <p:spPr>
          <a:xfrm>
            <a:off x="8001000" y="1600200"/>
            <a:ext cx="3566160" cy="3657600"/>
          </a:xfrm>
          <a:prstGeom prst="roundRect">
            <a:avLst>
              <a:gd name="adj" fmla="val 2308"/>
            </a:avLst>
          </a:prstGeom>
          <a:solidFill>
            <a:srgbClr val="ECEAE4"/>
          </a:solidFill>
          <a:ln w="12700">
            <a:solidFill>
              <a:srgbClr val="ECEAE4"/>
            </a:solidFill>
            <a:prstDash val="solid"/>
          </a:ln>
        </p:spPr>
        <p:txBody>
          <a:bodyPr/>
          <a:p/>
        </p:txBody>
      </p:sp>
      <p:sp>
        <p:nvSpPr>
          <p:cNvPr id="25" name="Shape 23"/>
          <p:cNvSpPr/>
          <p:nvPr/>
        </p:nvSpPr>
        <p:spPr>
          <a:xfrm>
            <a:off x="9052560" y="1783080"/>
            <a:ext cx="1188720" cy="384048"/>
          </a:xfrm>
          <a:prstGeom prst="roundRect">
            <a:avLst>
              <a:gd name="adj" fmla="val 21429"/>
            </a:avLst>
          </a:prstGeom>
          <a:solidFill>
            <a:srgbClr val="8A6100"/>
          </a:solidFill>
          <a:ln w="12700">
            <a:solidFill>
              <a:srgbClr val="8A6100"/>
            </a:solidFill>
            <a:prstDash val="solid"/>
          </a:ln>
        </p:spPr>
        <p:txBody>
          <a:bodyPr/>
          <a:p/>
        </p:txBody>
      </p:sp>
      <p:sp>
        <p:nvSpPr>
          <p:cNvPr id="26" name="Shape 24"/>
          <p:cNvSpPr/>
          <p:nvPr/>
        </p:nvSpPr>
        <p:spPr>
          <a:xfrm>
            <a:off x="8183880" y="2606040"/>
            <a:ext cx="960120" cy="347472"/>
          </a:xfrm>
          <a:prstGeom prst="roundRect">
            <a:avLst>
              <a:gd name="adj" fmla="val 23684"/>
            </a:avLst>
          </a:prstGeom>
          <a:solidFill>
            <a:srgbClr val="B5B2AA"/>
          </a:solidFill>
          <a:ln w="12700">
            <a:solidFill>
              <a:srgbClr val="B5B2AA"/>
            </a:solidFill>
            <a:prstDash val="solid"/>
          </a:ln>
        </p:spPr>
        <p:txBody>
          <a:bodyPr/>
          <a:p/>
        </p:txBody>
      </p:sp>
      <p:sp>
        <p:nvSpPr>
          <p:cNvPr id="27" name="Shape 25"/>
          <p:cNvSpPr/>
          <p:nvPr/>
        </p:nvSpPr>
        <p:spPr>
          <a:xfrm flipV="1">
            <a:off x="8659368" y="2167128"/>
            <a:ext cx="987552" cy="438912"/>
          </a:xfrm>
          <a:prstGeom prst="line">
            <a:avLst/>
          </a:prstGeom>
          <a:noFill/>
          <a:ln w="19050">
            <a:solidFill>
              <a:srgbClr val="C9C6BE"/>
            </a:solidFill>
            <a:prstDash val="solid"/>
          </a:ln>
        </p:spPr>
        <p:txBody>
          <a:bodyPr/>
          <a:p/>
        </p:txBody>
      </p:sp>
      <p:sp>
        <p:nvSpPr>
          <p:cNvPr id="28" name="Shape 26"/>
          <p:cNvSpPr/>
          <p:nvPr/>
        </p:nvSpPr>
        <p:spPr>
          <a:xfrm>
            <a:off x="9326880" y="2606040"/>
            <a:ext cx="960120" cy="347472"/>
          </a:xfrm>
          <a:prstGeom prst="roundRect">
            <a:avLst>
              <a:gd name="adj" fmla="val 23684"/>
            </a:avLst>
          </a:prstGeom>
          <a:solidFill>
            <a:srgbClr val="8A6100"/>
          </a:solidFill>
          <a:ln w="12700">
            <a:solidFill>
              <a:srgbClr val="8A6100"/>
            </a:solidFill>
            <a:prstDash val="solid"/>
          </a:ln>
        </p:spPr>
        <p:txBody>
          <a:bodyPr/>
          <a:p/>
        </p:txBody>
      </p:sp>
      <p:sp>
        <p:nvSpPr>
          <p:cNvPr id="29" name="Shape 27"/>
          <p:cNvSpPr/>
          <p:nvPr/>
        </p:nvSpPr>
        <p:spPr>
          <a:xfrm>
            <a:off x="9646920" y="2167128"/>
            <a:ext cx="155448" cy="438912"/>
          </a:xfrm>
          <a:prstGeom prst="line">
            <a:avLst/>
          </a:prstGeom>
          <a:noFill/>
          <a:ln w="19050">
            <a:solidFill>
              <a:srgbClr val="C9C6BE"/>
            </a:solidFill>
            <a:prstDash val="solid"/>
          </a:ln>
        </p:spPr>
        <p:txBody>
          <a:bodyPr/>
          <a:p/>
        </p:txBody>
      </p:sp>
      <p:sp>
        <p:nvSpPr>
          <p:cNvPr id="30" name="Shape 28"/>
          <p:cNvSpPr/>
          <p:nvPr/>
        </p:nvSpPr>
        <p:spPr>
          <a:xfrm>
            <a:off x="10469880" y="2606040"/>
            <a:ext cx="960120" cy="347472"/>
          </a:xfrm>
          <a:prstGeom prst="roundRect">
            <a:avLst>
              <a:gd name="adj" fmla="val 23684"/>
            </a:avLst>
          </a:prstGeom>
          <a:solidFill>
            <a:srgbClr val="B5B2AA"/>
          </a:solidFill>
          <a:ln w="12700">
            <a:solidFill>
              <a:srgbClr val="B5B2AA"/>
            </a:solidFill>
            <a:prstDash val="solid"/>
          </a:ln>
        </p:spPr>
        <p:txBody>
          <a:bodyPr/>
          <a:p/>
        </p:txBody>
      </p:sp>
      <p:sp>
        <p:nvSpPr>
          <p:cNvPr id="31" name="Shape 29"/>
          <p:cNvSpPr/>
          <p:nvPr/>
        </p:nvSpPr>
        <p:spPr>
          <a:xfrm>
            <a:off x="9646920" y="2167128"/>
            <a:ext cx="1298448" cy="438912"/>
          </a:xfrm>
          <a:prstGeom prst="line">
            <a:avLst/>
          </a:prstGeom>
          <a:noFill/>
          <a:ln w="19050">
            <a:solidFill>
              <a:srgbClr val="C9C6BE"/>
            </a:solidFill>
            <a:prstDash val="solid"/>
          </a:ln>
        </p:spPr>
        <p:txBody>
          <a:bodyPr/>
          <a:p/>
        </p:txBody>
      </p:sp>
      <p:sp>
        <p:nvSpPr>
          <p:cNvPr id="32" name="Shape 30"/>
          <p:cNvSpPr/>
          <p:nvPr/>
        </p:nvSpPr>
        <p:spPr>
          <a:xfrm>
            <a:off x="8183880" y="3200400"/>
            <a:ext cx="3246120" cy="292608"/>
          </a:xfrm>
          <a:prstGeom prst="roundRect">
            <a:avLst>
              <a:gd name="adj" fmla="val 28125"/>
            </a:avLst>
          </a:prstGeom>
          <a:solidFill>
            <a:srgbClr val="8A6100"/>
          </a:solidFill>
          <a:ln w="12700">
            <a:solidFill>
              <a:srgbClr val="8A6100"/>
            </a:solidFill>
            <a:prstDash val="solid"/>
          </a:ln>
        </p:spPr>
        <p:txBody>
          <a:bodyPr/>
          <a:p/>
        </p:txBody>
      </p:sp>
      <p:sp>
        <p:nvSpPr>
          <p:cNvPr id="33" name="Shape 31"/>
          <p:cNvSpPr/>
          <p:nvPr/>
        </p:nvSpPr>
        <p:spPr>
          <a:xfrm flipV="1">
            <a:off x="9802368" y="2953512"/>
            <a:ext cx="914" cy="246888"/>
          </a:xfrm>
          <a:prstGeom prst="line">
            <a:avLst/>
          </a:prstGeom>
          <a:noFill/>
          <a:ln w="19050">
            <a:solidFill>
              <a:srgbClr val="8A6100"/>
            </a:solidFill>
            <a:prstDash val="solid"/>
          </a:ln>
        </p:spPr>
        <p:txBody>
          <a:bodyPr/>
          <a:p/>
        </p:txBody>
      </p:sp>
      <p:sp>
        <p:nvSpPr>
          <p:cNvPr id="34" name="Text 32"/>
          <p:cNvSpPr/>
          <p:nvPr/>
        </p:nvSpPr>
        <p:spPr>
          <a:xfrm>
            <a:off x="8183880" y="3611880"/>
            <a:ext cx="3246120" cy="411480"/>
          </a:xfrm>
          <a:prstGeom prst="rect">
            <a:avLst/>
          </a:prstGeom>
          <a:noFill/>
          <a:ln/>
        </p:spPr>
        <p:txBody>
          <a:bodyPr wrap="square" lIns="0" tIns="0" rIns="0" bIns="0" rtlCol="0" anchor="t"/>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Matriceală</a:t>
            </a:r>
            <a:endParaRPr lang="en-US" sz="1800" dirty="0"/>
          </a:p>
        </p:txBody>
      </p:sp>
      <p:sp>
        <p:nvSpPr>
          <p:cNvPr id="35" name="Text 33"/>
          <p:cNvSpPr/>
          <p:nvPr/>
        </p:nvSpPr>
        <p:spPr>
          <a:xfrm>
            <a:off x="8183880" y="4023360"/>
            <a:ext cx="32461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dublă raportare, la șef și la coordonatorul de proiect: flexibilă, dar poate produce confuzie</a:t>
            </a:r>
            <a:endParaRPr lang="en-US" sz="1400" dirty="0"/>
          </a:p>
        </p:txBody>
      </p:sp>
      <p:sp>
        <p:nvSpPr>
          <p:cNvPr id="36" name="Text 34"/>
          <p:cNvSpPr/>
          <p:nvPr/>
        </p:nvSpPr>
        <p:spPr>
          <a:xfrm>
            <a:off x="594360" y="5440680"/>
            <a:ext cx="10972800" cy="54864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Spitalul public: structură predominant funcțională. Fișa postului spune ce sarcini vă revin.</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CONDUCEREA ȘI CONTROLUL · OPENSTAX</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Conducerea și controlul</a:t>
            </a:r>
            <a:endParaRPr lang="en-US" sz="3000" dirty="0"/>
          </a:p>
        </p:txBody>
      </p:sp>
      <p:sp>
        <p:nvSpPr>
          <p:cNvPr id="4" name="Shape 2"/>
          <p:cNvSpPr/>
          <p:nvPr/>
        </p:nvSpPr>
        <p:spPr>
          <a:xfrm>
            <a:off x="594360" y="1600200"/>
            <a:ext cx="4572000" cy="3794760"/>
          </a:xfrm>
          <a:prstGeom prst="roundRect">
            <a:avLst>
              <a:gd name="adj" fmla="val 2169"/>
            </a:avLst>
          </a:prstGeom>
          <a:solidFill>
            <a:srgbClr val="ECEAE4"/>
          </a:solidFill>
          <a:ln w="12700">
            <a:solidFill>
              <a:srgbClr val="ECEAE4"/>
            </a:solidFill>
            <a:prstDash val="solid"/>
          </a:ln>
        </p:spPr>
        <p:txBody>
          <a:bodyPr/>
          <a:p/>
        </p:txBody>
      </p:sp>
      <p:sp>
        <p:nvSpPr>
          <p:cNvPr id="5" name="Shape 3"/>
          <p:cNvSpPr/>
          <p:nvPr/>
        </p:nvSpPr>
        <p:spPr>
          <a:xfrm>
            <a:off x="594360" y="1600200"/>
            <a:ext cx="4572000" cy="73152"/>
          </a:xfrm>
          <a:prstGeom prst="rect">
            <a:avLst/>
          </a:prstGeom>
          <a:solidFill>
            <a:srgbClr val="4A2D8C"/>
          </a:solidFill>
          <a:ln w="12700">
            <a:solidFill>
              <a:srgbClr val="4A2D8C"/>
            </a:solidFill>
            <a:prstDash val="solid"/>
          </a:ln>
        </p:spPr>
        <p:txBody>
          <a:bodyPr/>
          <a:p/>
        </p:txBody>
      </p:sp>
      <p:sp>
        <p:nvSpPr>
          <p:cNvPr id="6" name="Text 4"/>
          <p:cNvSpPr/>
          <p:nvPr/>
        </p:nvSpPr>
        <p:spPr>
          <a:xfrm>
            <a:off x="822960" y="1801368"/>
            <a:ext cx="4114800" cy="68580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Conducerea</a:t>
            </a:r>
            <a:endParaRPr lang="en-US" sz="1900" dirty="0"/>
          </a:p>
        </p:txBody>
      </p:sp>
      <p:sp>
        <p:nvSpPr>
          <p:cNvPr id="7" name="Text 5"/>
          <p:cNvSpPr/>
          <p:nvPr/>
        </p:nvSpPr>
        <p:spPr>
          <a:xfrm>
            <a:off x="822960" y="2468880"/>
            <a:ext cx="4114800" cy="27889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Motivarea, comunicarea, delegarea, conflictele.</a:t>
            </a:r>
            <a:endParaRPr lang="en-US" sz="1500" dirty="0"/>
          </a:p>
          <a:p>
            <a:pPr indent="0" marL="0">
              <a:buNone/>
            </a:pPr>
            <a:endParaRPr lang="en-US" sz="1500" dirty="0"/>
          </a:p>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Maslow: nevoile, ordonate ierarhic.</a:t>
            </a:r>
            <a:endParaRPr lang="en-US" sz="1500" dirty="0"/>
          </a:p>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Herzberg: motivatorii, legați de munca însăși, și factorii de igienă, care previn nemulțumirea.</a:t>
            </a:r>
            <a:endParaRPr lang="en-US" sz="1500" dirty="0"/>
          </a:p>
        </p:txBody>
      </p:sp>
      <p:sp>
        <p:nvSpPr>
          <p:cNvPr id="8" name="Text 6"/>
          <p:cNvSpPr/>
          <p:nvPr/>
        </p:nvSpPr>
        <p:spPr>
          <a:xfrm>
            <a:off x="5394960" y="1600200"/>
            <a:ext cx="6172200" cy="7772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Controlul: compararea rezultatelor cu cele planificate și acțiunile de corecție.</a:t>
            </a:r>
            <a:endParaRPr lang="en-US" sz="1600" dirty="0"/>
          </a:p>
        </p:txBody>
      </p:sp>
      <p:sp>
        <p:nvSpPr>
          <p:cNvPr id="9" name="Shape 7"/>
          <p:cNvSpPr/>
          <p:nvPr/>
        </p:nvSpPr>
        <p:spPr>
          <a:xfrm>
            <a:off x="5394960" y="2514600"/>
            <a:ext cx="6172200" cy="841248"/>
          </a:xfrm>
          <a:prstGeom prst="roundRect">
            <a:avLst>
              <a:gd name="adj" fmla="val 9783"/>
            </a:avLst>
          </a:prstGeom>
          <a:solidFill>
            <a:srgbClr val="ECEAE4"/>
          </a:solidFill>
          <a:ln w="12700">
            <a:solidFill>
              <a:srgbClr val="ECEAE4"/>
            </a:solidFill>
            <a:prstDash val="solid"/>
          </a:ln>
        </p:spPr>
        <p:txBody>
          <a:bodyPr/>
          <a:p/>
        </p:txBody>
      </p:sp>
      <p:sp>
        <p:nvSpPr>
          <p:cNvPr id="10" name="Text 8"/>
          <p:cNvSpPr/>
          <p:nvPr/>
        </p:nvSpPr>
        <p:spPr>
          <a:xfrm>
            <a:off x="5577840" y="2514600"/>
            <a:ext cx="5852160" cy="84124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Preventiv: </a:t>
            </a:r>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înainte: echipamentele, stocurile, calificarea</a:t>
            </a:r>
            <a:endParaRPr lang="en-US" sz="1500" dirty="0"/>
          </a:p>
        </p:txBody>
      </p:sp>
      <p:sp>
        <p:nvSpPr>
          <p:cNvPr id="11" name="Shape 9"/>
          <p:cNvSpPr/>
          <p:nvPr/>
        </p:nvSpPr>
        <p:spPr>
          <a:xfrm>
            <a:off x="5394960" y="3493008"/>
            <a:ext cx="6172200" cy="841248"/>
          </a:xfrm>
          <a:prstGeom prst="roundRect">
            <a:avLst>
              <a:gd name="adj" fmla="val 9783"/>
            </a:avLst>
          </a:prstGeom>
          <a:solidFill>
            <a:srgbClr val="F9F8F5"/>
          </a:solidFill>
          <a:ln w="12700">
            <a:solidFill>
              <a:srgbClr val="F9F8F5"/>
            </a:solidFill>
            <a:prstDash val="solid"/>
          </a:ln>
        </p:spPr>
        <p:txBody>
          <a:bodyPr/>
          <a:p/>
        </p:txBody>
      </p:sp>
      <p:sp>
        <p:nvSpPr>
          <p:cNvPr id="12" name="Text 10"/>
          <p:cNvSpPr/>
          <p:nvPr/>
        </p:nvSpPr>
        <p:spPr>
          <a:xfrm>
            <a:off x="5577840" y="3493008"/>
            <a:ext cx="5852160" cy="84124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Concurent: </a:t>
            </a:r>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 timpul activității: listele de verificare la vizită</a:t>
            </a:r>
            <a:endParaRPr lang="en-US" sz="1500" dirty="0"/>
          </a:p>
        </p:txBody>
      </p:sp>
      <p:sp>
        <p:nvSpPr>
          <p:cNvPr id="13" name="Shape 11"/>
          <p:cNvSpPr/>
          <p:nvPr/>
        </p:nvSpPr>
        <p:spPr>
          <a:xfrm>
            <a:off x="5394960" y="4471416"/>
            <a:ext cx="6172200" cy="841248"/>
          </a:xfrm>
          <a:prstGeom prst="roundRect">
            <a:avLst>
              <a:gd name="adj" fmla="val 9783"/>
            </a:avLst>
          </a:prstGeom>
          <a:solidFill>
            <a:srgbClr val="ECEAE4"/>
          </a:solidFill>
          <a:ln w="12700">
            <a:solidFill>
              <a:srgbClr val="ECEAE4"/>
            </a:solidFill>
            <a:prstDash val="solid"/>
          </a:ln>
        </p:spPr>
        <p:txBody>
          <a:bodyPr/>
          <a:p/>
        </p:txBody>
      </p:sp>
      <p:sp>
        <p:nvSpPr>
          <p:cNvPr id="14" name="Text 12"/>
          <p:cNvSpPr/>
          <p:nvPr/>
        </p:nvSpPr>
        <p:spPr>
          <a:xfrm>
            <a:off x="5577840" y="4471416"/>
            <a:ext cx="5852160" cy="84124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Retroactiv: </a:t>
            </a:r>
            <a:pPr indent="0" marL="0">
              <a:buNone/>
            </a:pPr>
            <a:r>
              <a:rPr lang="en-US" sz="1500" dirty="0">
                <a:solidFill>
                  <a:srgbClr val="11121A"/>
                </a:solidFill>
                <a:latin typeface="Palatino Linotype" pitchFamily="34" charset="0"/>
                <a:ea typeface="Palatino Linotype" pitchFamily="34" charset="-122"/>
                <a:cs typeface="Palatino Linotype" pitchFamily="34" charset="-120"/>
              </a:rPr>
              <a:t>după: proporția lunară a copiilor vaccinați complet</a:t>
            </a:r>
            <a:endParaRPr lang="en-US" sz="1500" dirty="0"/>
          </a:p>
        </p:txBody>
      </p:sp>
      <p:sp>
        <p:nvSpPr>
          <p:cNvPr id="15" name="Text 13"/>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OpenStax, 2019 (registru A918, A916, A929); exemplele centrului sunt construite pentru curs.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FUNCȚIILE MANAGEMENTULUI</a:t>
            </a:r>
            <a:endParaRPr lang="en-US" sz="1300" dirty="0"/>
          </a:p>
        </p:txBody>
      </p:sp>
      <p:sp>
        <p:nvSpPr>
          <p:cNvPr id="5" name="Text 3"/>
          <p:cNvSpPr/>
          <p:nvPr/>
        </p:nvSpPr>
        <p:spPr>
          <a:xfrm>
            <a:off x="594360" y="868680"/>
            <a:ext cx="10972800" cy="1600200"/>
          </a:xfrm>
          <a:prstGeom prst="rect">
            <a:avLst/>
          </a:prstGeom>
          <a:noFill/>
          <a:ln/>
        </p:spPr>
        <p:txBody>
          <a:bodyPr wrap="square" lIns="0" tIns="0" rIns="0" bIns="0" rtlCol="0" anchor="ctr"/>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După primele șase luni, numai jumătate dintre copiii planificați sunt vaccinați complet. Ioana mută o zi pe săptămână a mediatoarei pe vizite. Ce funcții a exercitat, în ordine?</a:t>
            </a:r>
            <a:endParaRPr lang="en-US" sz="2600" dirty="0"/>
          </a:p>
        </p:txBody>
      </p:sp>
      <p:sp>
        <p:nvSpPr>
          <p:cNvPr id="6" name="Shape 4"/>
          <p:cNvSpPr/>
          <p:nvPr/>
        </p:nvSpPr>
        <p:spPr>
          <a:xfrm>
            <a:off x="594360" y="2697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2852928"/>
            <a:ext cx="420624" cy="420624"/>
          </a:xfrm>
          <a:prstGeom prst="ellipse">
            <a:avLst/>
          </a:prstGeom>
          <a:solidFill>
            <a:srgbClr val="FFC24B"/>
          </a:solidFill>
          <a:ln/>
        </p:spPr>
        <p:txBody>
          <a:bodyPr/>
          <a:p/>
        </p:txBody>
      </p:sp>
      <p:sp>
        <p:nvSpPr>
          <p:cNvPr id="8" name="Text 6"/>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269748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Controlul, apoi organizarea</a:t>
            </a:r>
            <a:endParaRPr lang="en-US" sz="2000" dirty="0"/>
          </a:p>
        </p:txBody>
      </p:sp>
      <p:sp>
        <p:nvSpPr>
          <p:cNvPr id="10" name="Shape 8"/>
          <p:cNvSpPr/>
          <p:nvPr/>
        </p:nvSpPr>
        <p:spPr>
          <a:xfrm>
            <a:off x="594360" y="35661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3721608"/>
            <a:ext cx="420624" cy="420624"/>
          </a:xfrm>
          <a:prstGeom prst="ellipse">
            <a:avLst/>
          </a:prstGeom>
          <a:solidFill>
            <a:srgbClr val="FFC24B"/>
          </a:solidFill>
          <a:ln/>
        </p:spPr>
        <p:txBody>
          <a:bodyPr/>
          <a:p/>
        </p:txBody>
      </p:sp>
      <p:sp>
        <p:nvSpPr>
          <p:cNvPr id="12" name="Text 10"/>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356616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Planificarea, apoi conducerea</a:t>
            </a:r>
            <a:endParaRPr lang="en-US" sz="2000" dirty="0"/>
          </a:p>
        </p:txBody>
      </p:sp>
      <p:sp>
        <p:nvSpPr>
          <p:cNvPr id="14" name="Shape 12"/>
          <p:cNvSpPr/>
          <p:nvPr/>
        </p:nvSpPr>
        <p:spPr>
          <a:xfrm>
            <a:off x="594360" y="44348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4590288"/>
            <a:ext cx="420624" cy="420624"/>
          </a:xfrm>
          <a:prstGeom prst="ellipse">
            <a:avLst/>
          </a:prstGeom>
          <a:solidFill>
            <a:srgbClr val="FFC24B"/>
          </a:solidFill>
          <a:ln/>
        </p:spPr>
        <p:txBody>
          <a:bodyPr/>
          <a:p/>
        </p:txBody>
      </p:sp>
      <p:sp>
        <p:nvSpPr>
          <p:cNvPr id="16" name="Text 14"/>
          <p:cNvSpPr/>
          <p:nvPr/>
        </p:nvSpPr>
        <p:spPr>
          <a:xfrm>
            <a:off x="868680" y="4590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4434840"/>
            <a:ext cx="982980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Organizarea, apoi controlul</a:t>
            </a:r>
            <a:endParaRPr lang="en-US" sz="2000" dirty="0"/>
          </a:p>
        </p:txBody>
      </p:sp>
      <p:sp>
        <p:nvSpPr>
          <p:cNvPr id="18" name="Text 16"/>
          <p:cNvSpPr/>
          <p:nvPr/>
        </p:nvSpPr>
        <p:spPr>
          <a:xfrm>
            <a:off x="594360" y="544068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Votați fără să vedeți votul celorlalți.</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 Controlul, apoi organizarea</a:t>
            </a:r>
            <a:endParaRPr lang="en-US" sz="3200" dirty="0"/>
          </a:p>
        </p:txBody>
      </p:sp>
      <p:sp>
        <p:nvSpPr>
          <p:cNvPr id="4" name="Shape 2"/>
          <p:cNvSpPr/>
          <p:nvPr/>
        </p:nvSpPr>
        <p:spPr>
          <a:xfrm>
            <a:off x="594360" y="1691640"/>
            <a:ext cx="5120640" cy="3017520"/>
          </a:xfrm>
          <a:prstGeom prst="roundRect">
            <a:avLst>
              <a:gd name="adj" fmla="val 2727"/>
            </a:avLst>
          </a:prstGeom>
          <a:solidFill>
            <a:srgbClr val="ECEAE4"/>
          </a:solidFill>
          <a:ln w="12700">
            <a:solidFill>
              <a:srgbClr val="ECEAE4"/>
            </a:solidFill>
            <a:prstDash val="solid"/>
          </a:ln>
        </p:spPr>
        <p:txBody>
          <a:bodyPr/>
          <a:p/>
        </p:txBody>
      </p:sp>
      <p:sp>
        <p:nvSpPr>
          <p:cNvPr id="5" name="Shape 3"/>
          <p:cNvSpPr/>
          <p:nvPr/>
        </p:nvSpPr>
        <p:spPr>
          <a:xfrm>
            <a:off x="594360" y="1691640"/>
            <a:ext cx="5120640" cy="73152"/>
          </a:xfrm>
          <a:prstGeom prst="rect">
            <a:avLst/>
          </a:prstGeom>
          <a:solidFill>
            <a:srgbClr val="B02532"/>
          </a:solidFill>
          <a:ln w="12700">
            <a:solidFill>
              <a:srgbClr val="B02532"/>
            </a:solidFill>
            <a:prstDash val="solid"/>
          </a:ln>
        </p:spPr>
        <p:txBody>
          <a:bodyPr/>
          <a:p/>
        </p:txBody>
      </p:sp>
      <p:sp>
        <p:nvSpPr>
          <p:cNvPr id="6" name="Text 4"/>
          <p:cNvSpPr/>
          <p:nvPr/>
        </p:nvSpPr>
        <p:spPr>
          <a:xfrm>
            <a:off x="822960" y="1892808"/>
            <a:ext cx="4663440" cy="6858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1 · Controlul</a:t>
            </a:r>
            <a:endParaRPr lang="en-US" sz="2000" dirty="0"/>
          </a:p>
        </p:txBody>
      </p:sp>
      <p:sp>
        <p:nvSpPr>
          <p:cNvPr id="7" name="Text 5"/>
          <p:cNvSpPr/>
          <p:nvPr/>
        </p:nvSpPr>
        <p:spPr>
          <a:xfrm>
            <a:off x="822960" y="2560320"/>
            <a:ext cx="4663440" cy="20116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Compară rezultatul (jumătate dintre copii) cu obiectivul planificat. Este un control retroactiv.</a:t>
            </a:r>
            <a:endParaRPr lang="en-US" sz="1700" dirty="0"/>
          </a:p>
        </p:txBody>
      </p:sp>
      <p:sp>
        <p:nvSpPr>
          <p:cNvPr id="8" name="Shape 6"/>
          <p:cNvSpPr/>
          <p:nvPr/>
        </p:nvSpPr>
        <p:spPr>
          <a:xfrm>
            <a:off x="5806440" y="3017520"/>
            <a:ext cx="502920" cy="310896"/>
          </a:xfrm>
          <a:prstGeom prst="rightArrow">
            <a:avLst/>
          </a:prstGeom>
          <a:solidFill>
            <a:srgbClr val="C9C6BE"/>
          </a:solidFill>
          <a:ln w="12700">
            <a:solidFill>
              <a:srgbClr val="C9C6BE"/>
            </a:solidFill>
            <a:prstDash val="solid"/>
          </a:ln>
        </p:spPr>
        <p:txBody>
          <a:bodyPr/>
          <a:p/>
        </p:txBody>
      </p:sp>
      <p:sp>
        <p:nvSpPr>
          <p:cNvPr id="9" name="Shape 7"/>
          <p:cNvSpPr/>
          <p:nvPr/>
        </p:nvSpPr>
        <p:spPr>
          <a:xfrm>
            <a:off x="6446520" y="1691640"/>
            <a:ext cx="5120640" cy="3017520"/>
          </a:xfrm>
          <a:prstGeom prst="roundRect">
            <a:avLst>
              <a:gd name="adj" fmla="val 2727"/>
            </a:avLst>
          </a:prstGeom>
          <a:solidFill>
            <a:srgbClr val="F9F8F5"/>
          </a:solidFill>
          <a:ln w="12700">
            <a:solidFill>
              <a:srgbClr val="F9F8F5"/>
            </a:solidFill>
            <a:prstDash val="solid"/>
          </a:ln>
        </p:spPr>
        <p:txBody>
          <a:bodyPr/>
          <a:p/>
        </p:txBody>
      </p:sp>
      <p:sp>
        <p:nvSpPr>
          <p:cNvPr id="10" name="Shape 8"/>
          <p:cNvSpPr/>
          <p:nvPr/>
        </p:nvSpPr>
        <p:spPr>
          <a:xfrm>
            <a:off x="6446520" y="1691640"/>
            <a:ext cx="5120640" cy="73152"/>
          </a:xfrm>
          <a:prstGeom prst="rect">
            <a:avLst/>
          </a:prstGeom>
          <a:solidFill>
            <a:srgbClr val="8A6100"/>
          </a:solidFill>
          <a:ln w="12700">
            <a:solidFill>
              <a:srgbClr val="8A6100"/>
            </a:solidFill>
            <a:prstDash val="solid"/>
          </a:ln>
        </p:spPr>
        <p:txBody>
          <a:bodyPr/>
          <a:p/>
        </p:txBody>
      </p:sp>
      <p:sp>
        <p:nvSpPr>
          <p:cNvPr id="11" name="Text 9"/>
          <p:cNvSpPr/>
          <p:nvPr/>
        </p:nvSpPr>
        <p:spPr>
          <a:xfrm>
            <a:off x="6675120" y="1892808"/>
            <a:ext cx="4663440" cy="685800"/>
          </a:xfrm>
          <a:prstGeom prst="rect">
            <a:avLst/>
          </a:prstGeom>
          <a:noFill/>
          <a:ln/>
        </p:spPr>
        <p:txBody>
          <a:bodyPr wrap="square" lIns="0" tIns="0" rIns="0" bIns="0" rtlCol="0" anchor="t"/>
          <a:lstStyle/>
          <a:p>
            <a:pPr indent="0" marL="0">
              <a:buNone/>
            </a:pPr>
            <a:r>
              <a:rPr lang="en-US" sz="2000" b="1" dirty="0">
                <a:solidFill>
                  <a:srgbClr val="8A6100"/>
                </a:solidFill>
                <a:latin typeface="Palatino Linotype" pitchFamily="34" charset="0"/>
                <a:ea typeface="Palatino Linotype" pitchFamily="34" charset="-122"/>
                <a:cs typeface="Palatino Linotype" pitchFamily="34" charset="-120"/>
              </a:rPr>
              <a:t>2 · Organizarea</a:t>
            </a:r>
            <a:endParaRPr lang="en-US" sz="2000" dirty="0"/>
          </a:p>
        </p:txBody>
      </p:sp>
      <p:sp>
        <p:nvSpPr>
          <p:cNvPr id="12" name="Text 10"/>
          <p:cNvSpPr/>
          <p:nvPr/>
        </p:nvSpPr>
        <p:spPr>
          <a:xfrm>
            <a:off x="6675120" y="2560320"/>
            <a:ext cx="4663440" cy="20116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Redistribuie sarcinile: o zi a mediatoarei trece pe vizitele la familiile cu vaccinuri restante.</a:t>
            </a:r>
            <a:endParaRPr lang="en-US" sz="1700" dirty="0"/>
          </a:p>
        </p:txBody>
      </p:sp>
      <p:sp>
        <p:nvSpPr>
          <p:cNvPr id="13" name="Text 11"/>
          <p:cNvSpPr/>
          <p:nvPr/>
        </p:nvSpPr>
        <p:spPr>
          <a:xfrm>
            <a:off x="594360" y="4983480"/>
            <a:ext cx="10972800" cy="54864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Informația din control intră în ciclul următor de planificare.</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TEORIILE ORGANIZAȚIONALE · OPENSTAX</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Trei școli despre organizații</a:t>
            </a:r>
            <a:endParaRPr lang="en-US" sz="3200" dirty="0"/>
          </a:p>
        </p:txBody>
      </p:sp>
      <p:sp>
        <p:nvSpPr>
          <p:cNvPr id="4" name="Shape 2"/>
          <p:cNvSpPr/>
          <p:nvPr/>
        </p:nvSpPr>
        <p:spPr>
          <a:xfrm>
            <a:off x="594360" y="1600200"/>
            <a:ext cx="3566160" cy="4160520"/>
          </a:xfrm>
          <a:prstGeom prst="roundRect">
            <a:avLst>
              <a:gd name="adj" fmla="val 2308"/>
            </a:avLst>
          </a:prstGeom>
          <a:solidFill>
            <a:srgbClr val="1D1F2B"/>
          </a:solidFill>
          <a:ln w="12700">
            <a:solidFill>
              <a:srgbClr val="1D1F2B"/>
            </a:solidFill>
            <a:prstDash val="solid"/>
          </a:ln>
        </p:spPr>
        <p:txBody>
          <a:bodyPr/>
          <a:p/>
        </p:txBody>
      </p:sp>
      <p:sp>
        <p:nvSpPr>
          <p:cNvPr id="5" name="Shape 3"/>
          <p:cNvSpPr/>
          <p:nvPr/>
        </p:nvSpPr>
        <p:spPr>
          <a:xfrm>
            <a:off x="594360" y="1600200"/>
            <a:ext cx="3566160" cy="73152"/>
          </a:xfrm>
          <a:prstGeom prst="rect">
            <a:avLst/>
          </a:prstGeom>
          <a:solidFill>
            <a:srgbClr val="FF4757"/>
          </a:solidFill>
          <a:ln w="12700">
            <a:solidFill>
              <a:srgbClr val="FF4757"/>
            </a:solidFill>
            <a:prstDash val="solid"/>
          </a:ln>
        </p:spPr>
        <p:txBody>
          <a:bodyPr/>
          <a:p/>
        </p:txBody>
      </p:sp>
      <p:sp>
        <p:nvSpPr>
          <p:cNvPr id="6" name="Text 4"/>
          <p:cNvSpPr/>
          <p:nvPr/>
        </p:nvSpPr>
        <p:spPr>
          <a:xfrm>
            <a:off x="822960" y="1783080"/>
            <a:ext cx="3108960" cy="457200"/>
          </a:xfrm>
          <a:prstGeom prst="rect">
            <a:avLst/>
          </a:prstGeom>
          <a:noFill/>
          <a:ln/>
        </p:spPr>
        <p:txBody>
          <a:bodyPr wrap="square" lIns="0" tIns="0" rIns="0" bIns="0" rtlCol="0" anchor="t"/>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Clasică</a:t>
            </a:r>
            <a:endParaRPr lang="en-US" sz="1900" dirty="0"/>
          </a:p>
        </p:txBody>
      </p:sp>
      <p:sp>
        <p:nvSpPr>
          <p:cNvPr id="7" name="Text 5"/>
          <p:cNvSpPr/>
          <p:nvPr/>
        </p:nvSpPr>
        <p:spPr>
          <a:xfrm>
            <a:off x="822960" y="2286000"/>
            <a:ext cx="3108960" cy="2377440"/>
          </a:xfrm>
          <a:prstGeom prst="rect">
            <a:avLst/>
          </a:prstGeom>
          <a:noFill/>
          <a:ln/>
        </p:spPr>
        <p:txBody>
          <a:bodyPr wrap="square" lIns="0" tIns="0" rIns="0" bIns="0" rtlCol="0" anchor="t"/>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Taylor: munca organizată după reguli stabilite prin cercetare. Fayol: unitatea de comandă. Weber: birocrația, reguli fixe și merit.</a:t>
            </a:r>
            <a:endParaRPr lang="en-US" sz="1450" dirty="0"/>
          </a:p>
        </p:txBody>
      </p:sp>
      <p:sp>
        <p:nvSpPr>
          <p:cNvPr id="8" name="Text 6"/>
          <p:cNvSpPr/>
          <p:nvPr/>
        </p:nvSpPr>
        <p:spPr>
          <a:xfrm>
            <a:off x="822960" y="4754880"/>
            <a:ext cx="3108960" cy="868680"/>
          </a:xfrm>
          <a:prstGeom prst="rect">
            <a:avLst/>
          </a:prstGeom>
          <a:noFill/>
          <a:ln/>
        </p:spPr>
        <p:txBody>
          <a:bodyPr wrap="square" lIns="0" tIns="0" rIns="0" bIns="0" rtlCol="0" anchor="t"/>
          <a:lstStyle/>
          <a:p>
            <a:pPr indent="0" marL="0">
              <a:buNone/>
            </a:pPr>
            <a:r>
              <a:rPr lang="en-US" sz="1450" b="1" dirty="0">
                <a:solidFill>
                  <a:srgbClr val="FF4757"/>
                </a:solidFill>
                <a:latin typeface="Palatino Linotype" pitchFamily="34" charset="0"/>
                <a:ea typeface="Palatino Linotype" pitchFamily="34" charset="-122"/>
                <a:cs typeface="Palatino Linotype" pitchFamily="34" charset="-120"/>
              </a:rPr>
              <a:t>În sănătate: protocoalele, fișa postului.</a:t>
            </a:r>
            <a:endParaRPr lang="en-US" sz="1450" dirty="0"/>
          </a:p>
        </p:txBody>
      </p:sp>
      <p:sp>
        <p:nvSpPr>
          <p:cNvPr id="9" name="Shape 7"/>
          <p:cNvSpPr/>
          <p:nvPr/>
        </p:nvSpPr>
        <p:spPr>
          <a:xfrm>
            <a:off x="4297680" y="1600200"/>
            <a:ext cx="3566160" cy="4160520"/>
          </a:xfrm>
          <a:prstGeom prst="roundRect">
            <a:avLst>
              <a:gd name="adj" fmla="val 2308"/>
            </a:avLst>
          </a:prstGeom>
          <a:solidFill>
            <a:srgbClr val="1D1F2B"/>
          </a:solidFill>
          <a:ln w="12700">
            <a:solidFill>
              <a:srgbClr val="1D1F2B"/>
            </a:solidFill>
            <a:prstDash val="solid"/>
          </a:ln>
        </p:spPr>
        <p:txBody>
          <a:bodyPr/>
          <a:p/>
        </p:txBody>
      </p:sp>
      <p:sp>
        <p:nvSpPr>
          <p:cNvPr id="10" name="Shape 8"/>
          <p:cNvSpPr/>
          <p:nvPr/>
        </p:nvSpPr>
        <p:spPr>
          <a:xfrm>
            <a:off x="4297680" y="1600200"/>
            <a:ext cx="3566160" cy="73152"/>
          </a:xfrm>
          <a:prstGeom prst="rect">
            <a:avLst/>
          </a:prstGeom>
          <a:solidFill>
            <a:srgbClr val="FFC24B"/>
          </a:solidFill>
          <a:ln w="12700">
            <a:solidFill>
              <a:srgbClr val="FFC24B"/>
            </a:solidFill>
            <a:prstDash val="solid"/>
          </a:ln>
        </p:spPr>
        <p:txBody>
          <a:bodyPr/>
          <a:p/>
        </p:txBody>
      </p:sp>
      <p:sp>
        <p:nvSpPr>
          <p:cNvPr id="11" name="Text 9"/>
          <p:cNvSpPr/>
          <p:nvPr/>
        </p:nvSpPr>
        <p:spPr>
          <a:xfrm>
            <a:off x="4526280" y="1783080"/>
            <a:ext cx="310896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Relațiile umane</a:t>
            </a:r>
            <a:endParaRPr lang="en-US" sz="1900" dirty="0"/>
          </a:p>
        </p:txBody>
      </p:sp>
      <p:sp>
        <p:nvSpPr>
          <p:cNvPr id="12" name="Text 10"/>
          <p:cNvSpPr/>
          <p:nvPr/>
        </p:nvSpPr>
        <p:spPr>
          <a:xfrm>
            <a:off x="4526280" y="2286000"/>
            <a:ext cx="3108960" cy="2377440"/>
          </a:xfrm>
          <a:prstGeom prst="rect">
            <a:avLst/>
          </a:prstGeom>
          <a:noFill/>
          <a:ln/>
        </p:spPr>
        <p:txBody>
          <a:bodyPr wrap="square" lIns="0" tIns="0" rIns="0" bIns="0" rtlCol="0" anchor="t"/>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Studiile Hawthorne, asociate cu Elton Mayo, deși nu el le-a început. McGregor: teoria X și teoria Y.</a:t>
            </a:r>
            <a:endParaRPr lang="en-US" sz="1450" dirty="0"/>
          </a:p>
        </p:txBody>
      </p:sp>
      <p:sp>
        <p:nvSpPr>
          <p:cNvPr id="13" name="Text 11"/>
          <p:cNvSpPr/>
          <p:nvPr/>
        </p:nvSpPr>
        <p:spPr>
          <a:xfrm>
            <a:off x="4526280" y="4754880"/>
            <a:ext cx="3108960" cy="868680"/>
          </a:xfrm>
          <a:prstGeom prst="rect">
            <a:avLst/>
          </a:prstGeom>
          <a:noFill/>
          <a:ln/>
        </p:spPr>
        <p:txBody>
          <a:bodyPr wrap="square" lIns="0" tIns="0" rIns="0" bIns="0" rtlCol="0" anchor="t"/>
          <a:lstStyle/>
          <a:p>
            <a:pPr indent="0" marL="0">
              <a:buNone/>
            </a:pPr>
            <a:r>
              <a:rPr lang="en-US" sz="1450" b="1" dirty="0">
                <a:solidFill>
                  <a:srgbClr val="FFC24B"/>
                </a:solidFill>
                <a:latin typeface="Palatino Linotype" pitchFamily="34" charset="0"/>
                <a:ea typeface="Palatino Linotype" pitchFamily="34" charset="-122"/>
                <a:cs typeface="Palatino Linotype" pitchFamily="34" charset="-120"/>
              </a:rPr>
              <a:t>În sănătate: motivația, echipa, climatul.</a:t>
            </a:r>
            <a:endParaRPr lang="en-US" sz="1450" dirty="0"/>
          </a:p>
        </p:txBody>
      </p:sp>
      <p:sp>
        <p:nvSpPr>
          <p:cNvPr id="14" name="Shape 12"/>
          <p:cNvSpPr/>
          <p:nvPr/>
        </p:nvSpPr>
        <p:spPr>
          <a:xfrm>
            <a:off x="8001000" y="1600200"/>
            <a:ext cx="3566160" cy="4160520"/>
          </a:xfrm>
          <a:prstGeom prst="roundRect">
            <a:avLst>
              <a:gd name="adj" fmla="val 2308"/>
            </a:avLst>
          </a:prstGeom>
          <a:solidFill>
            <a:srgbClr val="1D1F2B"/>
          </a:solidFill>
          <a:ln w="12700">
            <a:solidFill>
              <a:srgbClr val="1D1F2B"/>
            </a:solidFill>
            <a:prstDash val="solid"/>
          </a:ln>
        </p:spPr>
        <p:txBody>
          <a:bodyPr/>
          <a:p/>
        </p:txBody>
      </p:sp>
      <p:sp>
        <p:nvSpPr>
          <p:cNvPr id="15" name="Shape 13"/>
          <p:cNvSpPr/>
          <p:nvPr/>
        </p:nvSpPr>
        <p:spPr>
          <a:xfrm>
            <a:off x="8001000" y="1600200"/>
            <a:ext cx="3566160" cy="73152"/>
          </a:xfrm>
          <a:prstGeom prst="rect">
            <a:avLst/>
          </a:prstGeom>
          <a:solidFill>
            <a:srgbClr val="27D3BE"/>
          </a:solidFill>
          <a:ln w="12700">
            <a:solidFill>
              <a:srgbClr val="27D3BE"/>
            </a:solidFill>
            <a:prstDash val="solid"/>
          </a:ln>
        </p:spPr>
        <p:txBody>
          <a:bodyPr/>
          <a:p/>
        </p:txBody>
      </p:sp>
      <p:sp>
        <p:nvSpPr>
          <p:cNvPr id="16" name="Text 14"/>
          <p:cNvSpPr/>
          <p:nvPr/>
        </p:nvSpPr>
        <p:spPr>
          <a:xfrm>
            <a:off x="8229600" y="1783080"/>
            <a:ext cx="3108960" cy="45720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Moderne</a:t>
            </a:r>
            <a:endParaRPr lang="en-US" sz="1900" dirty="0"/>
          </a:p>
        </p:txBody>
      </p:sp>
      <p:sp>
        <p:nvSpPr>
          <p:cNvPr id="17" name="Text 15"/>
          <p:cNvSpPr/>
          <p:nvPr/>
        </p:nvSpPr>
        <p:spPr>
          <a:xfrm>
            <a:off x="8229600" y="2286000"/>
            <a:ext cx="3108960" cy="2377440"/>
          </a:xfrm>
          <a:prstGeom prst="rect">
            <a:avLst/>
          </a:prstGeom>
          <a:noFill/>
          <a:ln/>
        </p:spPr>
        <p:txBody>
          <a:bodyPr wrap="square" lIns="0" tIns="0" rIns="0" bIns="0" rtlCol="0" anchor="t"/>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Sistemul deschis: intrări, procese, ieșiri. Contingența: depinde de situație. Sistemele adaptative complexe.</a:t>
            </a:r>
            <a:endParaRPr lang="en-US" sz="1450" dirty="0"/>
          </a:p>
        </p:txBody>
      </p:sp>
      <p:sp>
        <p:nvSpPr>
          <p:cNvPr id="18" name="Text 16"/>
          <p:cNvSpPr/>
          <p:nvPr/>
        </p:nvSpPr>
        <p:spPr>
          <a:xfrm>
            <a:off x="8229600" y="4754880"/>
            <a:ext cx="3108960" cy="868680"/>
          </a:xfrm>
          <a:prstGeom prst="rect">
            <a:avLst/>
          </a:prstGeom>
          <a:noFill/>
          <a:ln/>
        </p:spPr>
        <p:txBody>
          <a:bodyPr wrap="square" lIns="0" tIns="0" rIns="0" bIns="0" rtlCol="0" anchor="t"/>
          <a:lstStyle/>
          <a:p>
            <a:pPr indent="0" marL="0">
              <a:buNone/>
            </a:pPr>
            <a:r>
              <a:rPr lang="en-US" sz="1450" b="1" dirty="0">
                <a:solidFill>
                  <a:srgbClr val="27D3BE"/>
                </a:solidFill>
                <a:latin typeface="Palatino Linotype" pitchFamily="34" charset="0"/>
                <a:ea typeface="Palatino Linotype" pitchFamily="34" charset="-122"/>
                <a:cs typeface="Palatino Linotype" pitchFamily="34" charset="-120"/>
              </a:rPr>
              <a:t>În sănătate: efectele neprevăzute ale schimbărilor.</a:t>
            </a:r>
            <a:endParaRPr lang="en-US" sz="1450" dirty="0"/>
          </a:p>
        </p:txBody>
      </p:sp>
      <p:sp>
        <p:nvSpPr>
          <p:cNvPr id="19" name="Text 17"/>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OpenStax, 2019 (registru A919–A923); A905. Anii și autorii nu se evaluează.</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NR. 95/2006 · OBSERVATORUL EUROPEAN, 2026</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Sistemul de sănătate din România</a:t>
            </a:r>
            <a:endParaRPr lang="en-US" sz="3000" dirty="0"/>
          </a:p>
        </p:txBody>
      </p:sp>
      <p:sp>
        <p:nvSpPr>
          <p:cNvPr id="4" name="Text 2"/>
          <p:cNvSpPr/>
          <p:nvPr/>
        </p:nvSpPr>
        <p:spPr>
          <a:xfrm>
            <a:off x="594360" y="1508760"/>
            <a:ext cx="2743200" cy="27432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NAȚIONAL</a:t>
            </a:r>
            <a:endParaRPr lang="en-US" sz="1300" dirty="0"/>
          </a:p>
        </p:txBody>
      </p:sp>
      <p:sp>
        <p:nvSpPr>
          <p:cNvPr id="5" name="Shape 3"/>
          <p:cNvSpPr/>
          <p:nvPr/>
        </p:nvSpPr>
        <p:spPr>
          <a:xfrm>
            <a:off x="594360" y="1828800"/>
            <a:ext cx="3246120" cy="841248"/>
          </a:xfrm>
          <a:prstGeom prst="roundRect">
            <a:avLst>
              <a:gd name="adj" fmla="val 9783"/>
            </a:avLst>
          </a:prstGeom>
          <a:solidFill>
            <a:srgbClr val="0E7C6B"/>
          </a:solidFill>
          <a:ln w="12700">
            <a:solidFill>
              <a:srgbClr val="0E7C6B"/>
            </a:solidFill>
            <a:prstDash val="solid"/>
          </a:ln>
        </p:spPr>
        <p:txBody>
          <a:bodyPr/>
          <a:p/>
        </p:txBody>
      </p:sp>
      <p:sp>
        <p:nvSpPr>
          <p:cNvPr id="6" name="Text 4"/>
          <p:cNvSpPr/>
          <p:nvPr/>
        </p:nvSpPr>
        <p:spPr>
          <a:xfrm>
            <a:off x="731520" y="1828800"/>
            <a:ext cx="3017520" cy="841248"/>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Ministerul Sănătății</a:t>
            </a:r>
            <a:endParaRPr lang="en-US" sz="1350" dirty="0"/>
          </a:p>
          <a:p>
            <a:pPr indent="0" marL="0">
              <a:buNone/>
            </a:pPr>
            <a:r>
              <a:rPr lang="en-US" sz="1350" dirty="0">
                <a:solidFill>
                  <a:srgbClr val="FFFFFF"/>
                </a:solidFill>
                <a:latin typeface="Palatino Linotype" pitchFamily="34" charset="0"/>
                <a:ea typeface="Palatino Linotype" pitchFamily="34" charset="-122"/>
                <a:cs typeface="Palatino Linotype" pitchFamily="34" charset="-120"/>
              </a:rPr>
              <a:t>conduce sistemul; programele naționale</a:t>
            </a:r>
            <a:endParaRPr lang="en-US" sz="1350" dirty="0"/>
          </a:p>
        </p:txBody>
      </p:sp>
      <p:sp>
        <p:nvSpPr>
          <p:cNvPr id="7" name="Shape 5"/>
          <p:cNvSpPr/>
          <p:nvPr/>
        </p:nvSpPr>
        <p:spPr>
          <a:xfrm>
            <a:off x="3977640" y="1828800"/>
            <a:ext cx="3246120" cy="841248"/>
          </a:xfrm>
          <a:prstGeom prst="roundRect">
            <a:avLst>
              <a:gd name="adj" fmla="val 9783"/>
            </a:avLst>
          </a:prstGeom>
          <a:solidFill>
            <a:srgbClr val="ECEAE4"/>
          </a:solidFill>
          <a:ln w="12700">
            <a:solidFill>
              <a:srgbClr val="ECEAE4"/>
            </a:solidFill>
            <a:prstDash val="solid"/>
          </a:ln>
        </p:spPr>
        <p:txBody>
          <a:bodyPr/>
          <a:p/>
        </p:txBody>
      </p:sp>
      <p:sp>
        <p:nvSpPr>
          <p:cNvPr id="8" name="Text 6"/>
          <p:cNvSpPr/>
          <p:nvPr/>
        </p:nvSpPr>
        <p:spPr>
          <a:xfrm>
            <a:off x="4114800" y="1828800"/>
            <a:ext cx="3017520" cy="841248"/>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INSP</a:t>
            </a:r>
            <a:endParaRPr lang="en-US" sz="1350" dirty="0"/>
          </a:p>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specialitate, în subordinea ministerului</a:t>
            </a:r>
            <a:endParaRPr lang="en-US" sz="1350" dirty="0"/>
          </a:p>
        </p:txBody>
      </p:sp>
      <p:sp>
        <p:nvSpPr>
          <p:cNvPr id="9" name="Shape 7"/>
          <p:cNvSpPr/>
          <p:nvPr/>
        </p:nvSpPr>
        <p:spPr>
          <a:xfrm>
            <a:off x="594360" y="2788920"/>
            <a:ext cx="3246120" cy="841248"/>
          </a:xfrm>
          <a:prstGeom prst="roundRect">
            <a:avLst>
              <a:gd name="adj" fmla="val 9783"/>
            </a:avLst>
          </a:prstGeom>
          <a:solidFill>
            <a:srgbClr val="ECEAE4"/>
          </a:solidFill>
          <a:ln w="12700">
            <a:solidFill>
              <a:srgbClr val="ECEAE4"/>
            </a:solidFill>
            <a:prstDash val="solid"/>
          </a:ln>
        </p:spPr>
        <p:txBody>
          <a:bodyPr/>
          <a:p/>
        </p:txBody>
      </p:sp>
      <p:sp>
        <p:nvSpPr>
          <p:cNvPr id="10" name="Text 8"/>
          <p:cNvSpPr/>
          <p:nvPr/>
        </p:nvSpPr>
        <p:spPr>
          <a:xfrm>
            <a:off x="731520" y="2788920"/>
            <a:ext cx="3017520" cy="841248"/>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CNAS</a:t>
            </a:r>
            <a:endParaRPr lang="en-US" sz="1350" dirty="0"/>
          </a:p>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asigurările sociale; contractul-cadru</a:t>
            </a:r>
            <a:endParaRPr lang="en-US" sz="1350" dirty="0"/>
          </a:p>
        </p:txBody>
      </p:sp>
      <p:sp>
        <p:nvSpPr>
          <p:cNvPr id="11" name="Shape 9"/>
          <p:cNvSpPr/>
          <p:nvPr/>
        </p:nvSpPr>
        <p:spPr>
          <a:xfrm>
            <a:off x="3977640" y="2788920"/>
            <a:ext cx="3246120" cy="841248"/>
          </a:xfrm>
          <a:prstGeom prst="roundRect">
            <a:avLst>
              <a:gd name="adj" fmla="val 9783"/>
            </a:avLst>
          </a:prstGeom>
          <a:solidFill>
            <a:srgbClr val="ECEAE4"/>
          </a:solidFill>
          <a:ln w="12700">
            <a:solidFill>
              <a:srgbClr val="ECEAE4"/>
            </a:solidFill>
            <a:prstDash val="solid"/>
          </a:ln>
        </p:spPr>
        <p:txBody>
          <a:bodyPr/>
          <a:p/>
        </p:txBody>
      </p:sp>
      <p:sp>
        <p:nvSpPr>
          <p:cNvPr id="12" name="Text 10"/>
          <p:cNvSpPr/>
          <p:nvPr/>
        </p:nvSpPr>
        <p:spPr>
          <a:xfrm>
            <a:off x="4114800" y="2788920"/>
            <a:ext cx="3017520" cy="841248"/>
          </a:xfrm>
          <a:prstGeom prst="rect">
            <a:avLst/>
          </a:prstGeom>
          <a:noFill/>
          <a:ln/>
        </p:spPr>
        <p:txBody>
          <a:bodyPr wrap="square" lIns="0" tIns="0" rIns="0" bIns="0" rtlCol="0" anchor="ctr"/>
          <a:lstStyle/>
          <a:p>
            <a:pPr indent="0" marL="0">
              <a:buNone/>
            </a:pPr>
            <a:r>
              <a:rPr lang="en-US" sz="1350" b="1" dirty="0">
                <a:solidFill>
                  <a:srgbClr val="11121A"/>
                </a:solidFill>
                <a:latin typeface="Palatino Linotype" pitchFamily="34" charset="0"/>
                <a:ea typeface="Palatino Linotype" pitchFamily="34" charset="-122"/>
                <a:cs typeface="Palatino Linotype" pitchFamily="34" charset="-120"/>
              </a:rPr>
              <a:t>ANMCS</a:t>
            </a:r>
            <a:endParaRPr lang="en-US" sz="1350" dirty="0"/>
          </a:p>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acreditează spitalele</a:t>
            </a:r>
            <a:endParaRPr lang="en-US" sz="1350" dirty="0"/>
          </a:p>
        </p:txBody>
      </p:sp>
      <p:sp>
        <p:nvSpPr>
          <p:cNvPr id="13" name="Text 11"/>
          <p:cNvSpPr/>
          <p:nvPr/>
        </p:nvSpPr>
        <p:spPr>
          <a:xfrm>
            <a:off x="594360" y="3886200"/>
            <a:ext cx="2743200" cy="27432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JUDEȚEAN</a:t>
            </a:r>
            <a:endParaRPr lang="en-US" sz="1300" dirty="0"/>
          </a:p>
        </p:txBody>
      </p:sp>
      <p:sp>
        <p:nvSpPr>
          <p:cNvPr id="14" name="Shape 12"/>
          <p:cNvSpPr/>
          <p:nvPr/>
        </p:nvSpPr>
        <p:spPr>
          <a:xfrm>
            <a:off x="594360" y="4206240"/>
            <a:ext cx="6629400" cy="841248"/>
          </a:xfrm>
          <a:prstGeom prst="roundRect">
            <a:avLst>
              <a:gd name="adj" fmla="val 9783"/>
            </a:avLst>
          </a:prstGeom>
          <a:solidFill>
            <a:srgbClr val="F9F8F5"/>
          </a:solidFill>
          <a:ln w="12700">
            <a:solidFill>
              <a:srgbClr val="F9F8F5"/>
            </a:solidFill>
            <a:prstDash val="solid"/>
          </a:ln>
        </p:spPr>
        <p:txBody>
          <a:bodyPr/>
          <a:p/>
        </p:txBody>
      </p:sp>
      <p:sp>
        <p:nvSpPr>
          <p:cNvPr id="15" name="Text 13"/>
          <p:cNvSpPr/>
          <p:nvPr/>
        </p:nvSpPr>
        <p:spPr>
          <a:xfrm>
            <a:off x="777240" y="4206240"/>
            <a:ext cx="6309360" cy="841248"/>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41 de direcții de sănătate publică și una în București; casele județene de asigurări de sănătate</a:t>
            </a:r>
            <a:endParaRPr lang="en-US" sz="1400" dirty="0"/>
          </a:p>
        </p:txBody>
      </p:sp>
      <p:sp>
        <p:nvSpPr>
          <p:cNvPr id="16" name="Shape 14"/>
          <p:cNvSpPr/>
          <p:nvPr/>
        </p:nvSpPr>
        <p:spPr>
          <a:xfrm>
            <a:off x="7498080" y="1508760"/>
            <a:ext cx="4069080" cy="1783080"/>
          </a:xfrm>
          <a:prstGeom prst="roundRect">
            <a:avLst>
              <a:gd name="adj" fmla="val 4615"/>
            </a:avLst>
          </a:prstGeom>
          <a:solidFill>
            <a:srgbClr val="11121A"/>
          </a:solidFill>
          <a:ln w="12700">
            <a:solidFill>
              <a:srgbClr val="11121A"/>
            </a:solidFill>
            <a:prstDash val="solid"/>
          </a:ln>
        </p:spPr>
        <p:txBody>
          <a:bodyPr/>
          <a:p/>
        </p:txBody>
      </p:sp>
      <p:sp>
        <p:nvSpPr>
          <p:cNvPr id="17" name="Text 15"/>
          <p:cNvSpPr/>
          <p:nvPr/>
        </p:nvSpPr>
        <p:spPr>
          <a:xfrm>
            <a:off x="7772400" y="1618488"/>
            <a:ext cx="3520440" cy="891540"/>
          </a:xfrm>
          <a:prstGeom prst="rect">
            <a:avLst/>
          </a:prstGeom>
          <a:noFill/>
          <a:ln/>
        </p:spPr>
        <p:txBody>
          <a:bodyPr wrap="square" lIns="0" tIns="0" rIns="0" bIns="0" rtlCol="0" anchor="ctr"/>
          <a:lstStyle/>
          <a:p>
            <a:pPr indent="0" marL="0">
              <a:buNone/>
            </a:pPr>
            <a:r>
              <a:rPr lang="en-US" sz="3800" b="1" dirty="0">
                <a:solidFill>
                  <a:srgbClr val="FFC24B"/>
                </a:solidFill>
                <a:latin typeface="Palatino Linotype" pitchFamily="34" charset="0"/>
                <a:ea typeface="Palatino Linotype" pitchFamily="34" charset="-122"/>
                <a:cs typeface="Palatino Linotype" pitchFamily="34" charset="-120"/>
              </a:rPr>
              <a:t>89%</a:t>
            </a:r>
            <a:endParaRPr lang="en-US" sz="3800" dirty="0"/>
          </a:p>
        </p:txBody>
      </p:sp>
      <p:sp>
        <p:nvSpPr>
          <p:cNvPr id="18" name="Text 16"/>
          <p:cNvSpPr/>
          <p:nvPr/>
        </p:nvSpPr>
        <p:spPr>
          <a:xfrm>
            <a:off x="7772400" y="2418588"/>
            <a:ext cx="3520440" cy="820217"/>
          </a:xfrm>
          <a:prstGeom prst="rect">
            <a:avLst/>
          </a:prstGeom>
          <a:noFill/>
          <a:ln/>
        </p:spPr>
        <p:txBody>
          <a:bodyPr wrap="square" lIns="0" tIns="0" rIns="0" bIns="0" rtlCol="0" anchor="t"/>
          <a:lstStyle/>
          <a:p>
            <a:pPr indent="0" marL="0">
              <a:buNone/>
            </a:pPr>
            <a:r>
              <a:rPr lang="en-US" sz="1200" dirty="0">
                <a:solidFill>
                  <a:srgbClr val="E6E8EF"/>
                </a:solidFill>
                <a:latin typeface="Palatino Linotype" pitchFamily="34" charset="0"/>
                <a:ea typeface="Palatino Linotype" pitchFamily="34" charset="-122"/>
                <a:cs typeface="Palatino Linotype" pitchFamily="34" charset="-120"/>
              </a:rPr>
              <a:t>din populație acoperită de asigurările sociale, cu pachetul complet, în 2023</a:t>
            </a:r>
            <a:endParaRPr lang="en-US" sz="1200" dirty="0"/>
          </a:p>
        </p:txBody>
      </p:sp>
      <p:sp>
        <p:nvSpPr>
          <p:cNvPr id="19" name="Text 17"/>
          <p:cNvSpPr/>
          <p:nvPr/>
        </p:nvSpPr>
        <p:spPr>
          <a:xfrm>
            <a:off x="7498080" y="3429000"/>
            <a:ext cx="4069080" cy="16459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Contribuția: 10% din venit. Angajatorul: 2,25%. În 2022, plățile directe ale pacienților: 21,4% din cheltuiala curentă.</a:t>
            </a:r>
            <a:endParaRPr lang="en-US" sz="1400" dirty="0"/>
          </a:p>
        </p:txBody>
      </p:sp>
      <p:sp>
        <p:nvSpPr>
          <p:cNvPr id="20" name="Text 18"/>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Legea nr. 95/2006 (registru A895, A896, A886, A887, A889); A925, A926, A897, A898, A899, A903.</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594360" y="310896"/>
            <a:ext cx="3291840" cy="329184"/>
          </a:xfrm>
          <a:prstGeom prst="roundRect">
            <a:avLst>
              <a:gd name="adj" fmla="val 50000"/>
            </a:avLst>
          </a:prstGeom>
          <a:solidFill>
            <a:srgbClr val="0E7C6B"/>
          </a:solidFill>
          <a:ln w="12700">
            <a:solidFill>
              <a:srgbClr val="0E7C6B"/>
            </a:solidFill>
            <a:prstDash val="solid"/>
          </a:ln>
        </p:spPr>
        <p:txBody>
          <a:bodyPr/>
          <a:p/>
        </p:txBody>
      </p:sp>
      <p:sp>
        <p:nvSpPr>
          <p:cNvPr id="3" name="Text 1"/>
          <p:cNvSpPr/>
          <p:nvPr/>
        </p:nvSpPr>
        <p:spPr>
          <a:xfrm>
            <a:off x="594360" y="310896"/>
            <a:ext cx="32918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TERMENUL NOU 3 DIN 3</a:t>
            </a:r>
            <a:endParaRPr lang="en-US" sz="1300" dirty="0"/>
          </a:p>
        </p:txBody>
      </p:sp>
      <p:sp>
        <p:nvSpPr>
          <p:cNvPr id="4" name="Text 2"/>
          <p:cNvSpPr/>
          <p:nvPr/>
        </p:nvSpPr>
        <p:spPr>
          <a:xfrm>
            <a:off x="4114800" y="347472"/>
            <a:ext cx="749808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NR. 95/2006, ART. 176 ȘI 181</a:t>
            </a:r>
            <a:endParaRPr lang="en-US" sz="1300" dirty="0"/>
          </a:p>
        </p:txBody>
      </p:sp>
      <p:sp>
        <p:nvSpPr>
          <p:cNvPr id="5" name="Text 3"/>
          <p:cNvSpPr/>
          <p:nvPr/>
        </p:nvSpPr>
        <p:spPr>
          <a:xfrm>
            <a:off x="594360" y="777240"/>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Comitetul director al spitalului public</a:t>
            </a:r>
            <a:endParaRPr lang="en-US" sz="3000" dirty="0"/>
          </a:p>
        </p:txBody>
      </p:sp>
      <p:sp>
        <p:nvSpPr>
          <p:cNvPr id="6" name="Text 4"/>
          <p:cNvSpPr/>
          <p:nvPr/>
        </p:nvSpPr>
        <p:spPr>
          <a:xfrm>
            <a:off x="594360" y="1600200"/>
            <a:ext cx="10972800" cy="5486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Spitalul public este condus de un manager. Alături de el funcționează comitetul director:</a:t>
            </a:r>
            <a:endParaRPr lang="en-US" sz="1700" dirty="0"/>
          </a:p>
        </p:txBody>
      </p:sp>
      <p:sp>
        <p:nvSpPr>
          <p:cNvPr id="7" name="Shape 5"/>
          <p:cNvSpPr/>
          <p:nvPr/>
        </p:nvSpPr>
        <p:spPr>
          <a:xfrm>
            <a:off x="594360" y="2331720"/>
            <a:ext cx="2651760" cy="1508760"/>
          </a:xfrm>
          <a:prstGeom prst="roundRect">
            <a:avLst>
              <a:gd name="adj" fmla="val 5455"/>
            </a:avLst>
          </a:prstGeom>
          <a:solidFill>
            <a:srgbClr val="ECEAE4"/>
          </a:solidFill>
          <a:ln w="12700">
            <a:solidFill>
              <a:srgbClr val="ECEAE4"/>
            </a:solidFill>
            <a:prstDash val="solid"/>
          </a:ln>
        </p:spPr>
        <p:txBody>
          <a:bodyPr/>
          <a:p/>
        </p:txBody>
      </p:sp>
      <p:sp>
        <p:nvSpPr>
          <p:cNvPr id="8" name="Text 6"/>
          <p:cNvSpPr/>
          <p:nvPr/>
        </p:nvSpPr>
        <p:spPr>
          <a:xfrm>
            <a:off x="731520" y="2331720"/>
            <a:ext cx="2377440" cy="15087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Managerul spitalului</a:t>
            </a:r>
            <a:endParaRPr lang="en-US" sz="1600" dirty="0"/>
          </a:p>
        </p:txBody>
      </p:sp>
      <p:sp>
        <p:nvSpPr>
          <p:cNvPr id="9" name="Shape 7"/>
          <p:cNvSpPr/>
          <p:nvPr/>
        </p:nvSpPr>
        <p:spPr>
          <a:xfrm>
            <a:off x="3383280" y="2331720"/>
            <a:ext cx="2651760" cy="1508760"/>
          </a:xfrm>
          <a:prstGeom prst="roundRect">
            <a:avLst>
              <a:gd name="adj" fmla="val 5455"/>
            </a:avLst>
          </a:prstGeom>
          <a:solidFill>
            <a:srgbClr val="ECEAE4"/>
          </a:solidFill>
          <a:ln w="12700">
            <a:solidFill>
              <a:srgbClr val="ECEAE4"/>
            </a:solidFill>
            <a:prstDash val="solid"/>
          </a:ln>
        </p:spPr>
        <p:txBody>
          <a:bodyPr/>
          <a:p/>
        </p:txBody>
      </p:sp>
      <p:sp>
        <p:nvSpPr>
          <p:cNvPr id="10" name="Text 8"/>
          <p:cNvSpPr/>
          <p:nvPr/>
        </p:nvSpPr>
        <p:spPr>
          <a:xfrm>
            <a:off x="3520440" y="2331720"/>
            <a:ext cx="2377440" cy="15087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Directorul medical</a:t>
            </a:r>
            <a:endParaRPr lang="en-US" sz="1600" dirty="0"/>
          </a:p>
        </p:txBody>
      </p:sp>
      <p:sp>
        <p:nvSpPr>
          <p:cNvPr id="11" name="Shape 9"/>
          <p:cNvSpPr/>
          <p:nvPr/>
        </p:nvSpPr>
        <p:spPr>
          <a:xfrm>
            <a:off x="6172200" y="2331720"/>
            <a:ext cx="2651760" cy="1508760"/>
          </a:xfrm>
          <a:prstGeom prst="roundRect">
            <a:avLst>
              <a:gd name="adj" fmla="val 5455"/>
            </a:avLst>
          </a:prstGeom>
          <a:solidFill>
            <a:srgbClr val="ECEAE4"/>
          </a:solidFill>
          <a:ln w="12700">
            <a:solidFill>
              <a:srgbClr val="ECEAE4"/>
            </a:solidFill>
            <a:prstDash val="solid"/>
          </a:ln>
        </p:spPr>
        <p:txBody>
          <a:bodyPr/>
          <a:p/>
        </p:txBody>
      </p:sp>
      <p:sp>
        <p:nvSpPr>
          <p:cNvPr id="12" name="Text 10"/>
          <p:cNvSpPr/>
          <p:nvPr/>
        </p:nvSpPr>
        <p:spPr>
          <a:xfrm>
            <a:off x="6309360" y="2331720"/>
            <a:ext cx="2377440" cy="1508760"/>
          </a:xfrm>
          <a:prstGeom prst="rect">
            <a:avLst/>
          </a:prstGeom>
          <a:noFill/>
          <a:ln/>
        </p:spPr>
        <p:txBody>
          <a:bodyPr wrap="square" lIns="0" tIns="0" rIns="0" bIns="0" rtlCol="0" anchor="ctr"/>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Directorul financiar-contabil</a:t>
            </a:r>
            <a:endParaRPr lang="en-US" sz="1600" dirty="0"/>
          </a:p>
        </p:txBody>
      </p:sp>
      <p:sp>
        <p:nvSpPr>
          <p:cNvPr id="13" name="Shape 11"/>
          <p:cNvSpPr/>
          <p:nvPr/>
        </p:nvSpPr>
        <p:spPr>
          <a:xfrm>
            <a:off x="8961120" y="2331720"/>
            <a:ext cx="2651760" cy="1508760"/>
          </a:xfrm>
          <a:prstGeom prst="roundRect">
            <a:avLst>
              <a:gd name="adj" fmla="val 5455"/>
            </a:avLst>
          </a:prstGeom>
          <a:solidFill>
            <a:srgbClr val="0E7C6B"/>
          </a:solidFill>
          <a:ln w="12700">
            <a:solidFill>
              <a:srgbClr val="0E7C6B"/>
            </a:solidFill>
            <a:prstDash val="solid"/>
          </a:ln>
        </p:spPr>
        <p:txBody>
          <a:bodyPr/>
          <a:p/>
        </p:txBody>
      </p:sp>
      <p:sp>
        <p:nvSpPr>
          <p:cNvPr id="14" name="Text 12"/>
          <p:cNvSpPr/>
          <p:nvPr/>
        </p:nvSpPr>
        <p:spPr>
          <a:xfrm>
            <a:off x="9098280" y="2331720"/>
            <a:ext cx="2377440" cy="150876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Directorul de îngrijiri, în spitalele cu peste 400 de paturi</a:t>
            </a:r>
            <a:endParaRPr lang="en-US" sz="1600" dirty="0"/>
          </a:p>
        </p:txBody>
      </p:sp>
      <p:sp>
        <p:nvSpPr>
          <p:cNvPr id="15" name="Text 13"/>
          <p:cNvSpPr/>
          <p:nvPr/>
        </p:nvSpPr>
        <p:spPr>
          <a:xfrm>
            <a:off x="594360" y="4114800"/>
            <a:ext cx="10972800" cy="86868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Directorul de îngrijiri: funcția prin care un asistent medical intră în conducerea spitalului. Cere un curs de management spitalicesc.</a:t>
            </a:r>
            <a:endParaRPr lang="en-US" sz="1700" dirty="0"/>
          </a:p>
        </p:txBody>
      </p:sp>
      <p:sp>
        <p:nvSpPr>
          <p:cNvPr id="16" name="Text 14"/>
          <p:cNvSpPr/>
          <p:nvPr/>
        </p:nvSpPr>
        <p:spPr>
          <a:xfrm>
            <a:off x="594360" y="521208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engl. hospital executive board · fr. comité de direction</a:t>
            </a:r>
            <a:endParaRPr lang="en-US" sz="1400" dirty="0"/>
          </a:p>
        </p:txBody>
      </p:sp>
      <p:sp>
        <p:nvSpPr>
          <p:cNvPr id="17" name="Text 15"/>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Legea nr. 95/2006 (registru A888); Observatorul European, 2026 (registru A904).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DOUĂ MINUTE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ÎNAPOI LA DOAMNA ELENA</a:t>
            </a:r>
            <a:endParaRPr lang="en-US" sz="1300" dirty="0"/>
          </a:p>
        </p:txBody>
      </p:sp>
      <p:sp>
        <p:nvSpPr>
          <p:cNvPr id="5" name="Text 3"/>
          <p:cNvSpPr/>
          <p:nvPr/>
        </p:nvSpPr>
        <p:spPr>
          <a:xfrm>
            <a:off x="594360" y="868680"/>
            <a:ext cx="10972800" cy="82296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Drumul doamnei Elena prin sistem</a:t>
            </a:r>
            <a:endParaRPr lang="en-US" sz="3400" dirty="0"/>
          </a:p>
        </p:txBody>
      </p:sp>
      <p:sp>
        <p:nvSpPr>
          <p:cNvPr id="6" name="Text 4"/>
          <p:cNvSpPr/>
          <p:nvPr/>
        </p:nvSpPr>
        <p:spPr>
          <a:xfrm>
            <a:off x="594360" y="1737360"/>
            <a:ext cx="10972800" cy="548640"/>
          </a:xfrm>
          <a:prstGeom prst="rect">
            <a:avLst/>
          </a:prstGeom>
          <a:noFill/>
          <a:ln/>
        </p:spPr>
        <p:txBody>
          <a:bodyPr wrap="square" lIns="0" tIns="0" rIns="0" bIns="0" rtlCol="0" anchor="t"/>
          <a:lstStyle/>
          <a:p>
            <a:pPr indent="0" marL="0">
              <a:buNone/>
            </a:pPr>
            <a:r>
              <a:rPr lang="en-US" sz="1900" dirty="0">
                <a:solidFill>
                  <a:srgbClr val="959BB0"/>
                </a:solidFill>
                <a:latin typeface="Palatino Linotype" pitchFamily="34" charset="0"/>
                <a:ea typeface="Palatino Linotype" pitchFamily="34" charset="-122"/>
                <a:cs typeface="Palatino Linotype" pitchFamily="34" charset="-120"/>
              </a:rPr>
              <a:t>Insuficiența ei cardiacă s-a decompensat; are nevoie de internare.</a:t>
            </a:r>
            <a:endParaRPr lang="en-US" sz="1900" dirty="0"/>
          </a:p>
        </p:txBody>
      </p:sp>
      <p:sp>
        <p:nvSpPr>
          <p:cNvPr id="7" name="Shape 5"/>
          <p:cNvSpPr/>
          <p:nvPr/>
        </p:nvSpPr>
        <p:spPr>
          <a:xfrm>
            <a:off x="594360" y="2468880"/>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8" name="Shape 6"/>
          <p:cNvSpPr/>
          <p:nvPr/>
        </p:nvSpPr>
        <p:spPr>
          <a:xfrm>
            <a:off x="868680" y="2587752"/>
            <a:ext cx="420624" cy="420624"/>
          </a:xfrm>
          <a:prstGeom prst="ellipse">
            <a:avLst/>
          </a:prstGeom>
          <a:solidFill>
            <a:srgbClr val="FFC24B"/>
          </a:solidFill>
          <a:ln/>
        </p:spPr>
        <p:txBody>
          <a:bodyPr/>
          <a:p/>
        </p:txBody>
      </p:sp>
      <p:sp>
        <p:nvSpPr>
          <p:cNvPr id="9" name="Text 7"/>
          <p:cNvSpPr/>
          <p:nvPr/>
        </p:nvSpPr>
        <p:spPr>
          <a:xfrm>
            <a:off x="868680" y="25877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2468880"/>
            <a:ext cx="982980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Cine o trimite la spital?</a:t>
            </a:r>
            <a:endParaRPr lang="en-US" sz="1800" dirty="0"/>
          </a:p>
        </p:txBody>
      </p:sp>
      <p:sp>
        <p:nvSpPr>
          <p:cNvPr id="11" name="Shape 9"/>
          <p:cNvSpPr/>
          <p:nvPr/>
        </p:nvSpPr>
        <p:spPr>
          <a:xfrm>
            <a:off x="594360" y="3246120"/>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2" name="Shape 10"/>
          <p:cNvSpPr/>
          <p:nvPr/>
        </p:nvSpPr>
        <p:spPr>
          <a:xfrm>
            <a:off x="868680" y="3364992"/>
            <a:ext cx="420624" cy="420624"/>
          </a:xfrm>
          <a:prstGeom prst="ellipse">
            <a:avLst/>
          </a:prstGeom>
          <a:solidFill>
            <a:srgbClr val="FFC24B"/>
          </a:solidFill>
          <a:ln/>
        </p:spPr>
        <p:txBody>
          <a:bodyPr/>
          <a:p/>
        </p:txBody>
      </p:sp>
      <p:sp>
        <p:nvSpPr>
          <p:cNvPr id="13" name="Text 11"/>
          <p:cNvSpPr/>
          <p:nvPr/>
        </p:nvSpPr>
        <p:spPr>
          <a:xfrm>
            <a:off x="868680" y="33649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08760" y="3246120"/>
            <a:ext cx="982980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Cine plătește internarea?</a:t>
            </a:r>
            <a:endParaRPr lang="en-US" sz="1800" dirty="0"/>
          </a:p>
        </p:txBody>
      </p:sp>
      <p:sp>
        <p:nvSpPr>
          <p:cNvPr id="15" name="Shape 13"/>
          <p:cNvSpPr/>
          <p:nvPr/>
        </p:nvSpPr>
        <p:spPr>
          <a:xfrm>
            <a:off x="594360" y="4023360"/>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6" name="Shape 14"/>
          <p:cNvSpPr/>
          <p:nvPr/>
        </p:nvSpPr>
        <p:spPr>
          <a:xfrm>
            <a:off x="868680" y="4142232"/>
            <a:ext cx="420624" cy="420624"/>
          </a:xfrm>
          <a:prstGeom prst="ellipse">
            <a:avLst/>
          </a:prstGeom>
          <a:solidFill>
            <a:srgbClr val="FFC24B"/>
          </a:solidFill>
          <a:ln/>
        </p:spPr>
        <p:txBody>
          <a:bodyPr/>
          <a:p/>
        </p:txBody>
      </p:sp>
      <p:sp>
        <p:nvSpPr>
          <p:cNvPr id="17" name="Text 15"/>
          <p:cNvSpPr/>
          <p:nvPr/>
        </p:nvSpPr>
        <p:spPr>
          <a:xfrm>
            <a:off x="868680" y="4142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1508760" y="4023360"/>
            <a:ext cx="982980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Cine verifică dacă spitalul respectă standardele?</a:t>
            </a:r>
            <a:endParaRPr lang="en-US" sz="1800" dirty="0"/>
          </a:p>
        </p:txBody>
      </p:sp>
      <p:sp>
        <p:nvSpPr>
          <p:cNvPr id="19" name="Shape 17"/>
          <p:cNvSpPr/>
          <p:nvPr/>
        </p:nvSpPr>
        <p:spPr>
          <a:xfrm>
            <a:off x="594360" y="4800600"/>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20" name="Shape 18"/>
          <p:cNvSpPr/>
          <p:nvPr/>
        </p:nvSpPr>
        <p:spPr>
          <a:xfrm>
            <a:off x="868680" y="4919472"/>
            <a:ext cx="420624" cy="420624"/>
          </a:xfrm>
          <a:prstGeom prst="ellipse">
            <a:avLst/>
          </a:prstGeom>
          <a:solidFill>
            <a:srgbClr val="FFC24B"/>
          </a:solidFill>
          <a:ln/>
        </p:spPr>
        <p:txBody>
          <a:bodyPr/>
          <a:p/>
        </p:txBody>
      </p:sp>
      <p:sp>
        <p:nvSpPr>
          <p:cNvPr id="21" name="Text 19"/>
          <p:cNvSpPr/>
          <p:nvPr/>
        </p:nvSpPr>
        <p:spPr>
          <a:xfrm>
            <a:off x="868680" y="49194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508760" y="4800600"/>
            <a:ext cx="982980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Cine răspunde de programul național util după externare?</a:t>
            </a:r>
            <a:endParaRPr lang="en-US" sz="1800" dirty="0"/>
          </a:p>
        </p:txBody>
      </p:sp>
      <p:sp>
        <p:nvSpPr>
          <p:cNvPr id="23" name="Text 21"/>
          <p:cNvSpPr/>
          <p:nvPr/>
        </p:nvSpPr>
        <p:spPr>
          <a:xfrm>
            <a:off x="594360" y="5669280"/>
            <a:ext cx="1097280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Două perechi își prezintă drumul.</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Drumul doamnei Elena: cine răspunde la fiecare pas</a:t>
            </a:r>
            <a:endParaRPr lang="en-US" sz="2800" dirty="0"/>
          </a:p>
        </p:txBody>
      </p:sp>
      <p:sp>
        <p:nvSpPr>
          <p:cNvPr id="4" name="Shape 2"/>
          <p:cNvSpPr/>
          <p:nvPr/>
        </p:nvSpPr>
        <p:spPr>
          <a:xfrm>
            <a:off x="594360" y="1737360"/>
            <a:ext cx="10972800" cy="1005840"/>
          </a:xfrm>
          <a:prstGeom prst="roundRect">
            <a:avLst>
              <a:gd name="adj" fmla="val 8182"/>
            </a:avLst>
          </a:prstGeom>
          <a:solidFill>
            <a:srgbClr val="ECEAE4"/>
          </a:solidFill>
          <a:ln w="12700">
            <a:solidFill>
              <a:srgbClr val="ECEAE4"/>
            </a:solidFill>
            <a:prstDash val="solid"/>
          </a:ln>
        </p:spPr>
        <p:txBody>
          <a:bodyPr/>
          <a:p/>
        </p:txBody>
      </p:sp>
      <p:sp>
        <p:nvSpPr>
          <p:cNvPr id="5" name="Shape 3"/>
          <p:cNvSpPr/>
          <p:nvPr/>
        </p:nvSpPr>
        <p:spPr>
          <a:xfrm>
            <a:off x="822960" y="2029968"/>
            <a:ext cx="420624" cy="420624"/>
          </a:xfrm>
          <a:prstGeom prst="ellipse">
            <a:avLst/>
          </a:prstGeom>
          <a:solidFill>
            <a:srgbClr val="8A6100"/>
          </a:solidFill>
          <a:ln/>
        </p:spPr>
        <p:txBody>
          <a:bodyPr/>
          <a:p/>
        </p:txBody>
      </p:sp>
      <p:sp>
        <p:nvSpPr>
          <p:cNvPr id="6" name="Text 4"/>
          <p:cNvSpPr/>
          <p:nvPr/>
        </p:nvSpPr>
        <p:spPr>
          <a:xfrm>
            <a:off x="822960" y="20299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737360"/>
            <a:ext cx="2377440" cy="1005840"/>
          </a:xfrm>
          <a:prstGeom prst="rect">
            <a:avLst/>
          </a:prstGeom>
          <a:noFill/>
          <a:ln/>
        </p:spPr>
        <p:txBody>
          <a:bodyPr wrap="square" lIns="0" tIns="0" rIns="0" bIns="0" rtlCol="0" anchor="ctr"/>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Plata</a:t>
            </a:r>
            <a:endParaRPr lang="en-US" sz="1700" dirty="0"/>
          </a:p>
        </p:txBody>
      </p:sp>
      <p:sp>
        <p:nvSpPr>
          <p:cNvPr id="8" name="Text 6"/>
          <p:cNvSpPr/>
          <p:nvPr/>
        </p:nvSpPr>
        <p:spPr>
          <a:xfrm>
            <a:off x="3840480" y="1737360"/>
            <a:ext cx="758952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casa județeană de asigurări de sănătate, din fondul administrat cu CNAS; pentru cazurile acute, plata pe grupuri de diagnostice</a:t>
            </a:r>
            <a:endParaRPr lang="en-US" sz="1600" dirty="0"/>
          </a:p>
        </p:txBody>
      </p:sp>
      <p:sp>
        <p:nvSpPr>
          <p:cNvPr id="9" name="Shape 7"/>
          <p:cNvSpPr/>
          <p:nvPr/>
        </p:nvSpPr>
        <p:spPr>
          <a:xfrm>
            <a:off x="594360" y="2926080"/>
            <a:ext cx="10972800" cy="1005840"/>
          </a:xfrm>
          <a:prstGeom prst="roundRect">
            <a:avLst>
              <a:gd name="adj" fmla="val 8182"/>
            </a:avLst>
          </a:prstGeom>
          <a:solidFill>
            <a:srgbClr val="F9F8F5"/>
          </a:solidFill>
          <a:ln w="12700">
            <a:solidFill>
              <a:srgbClr val="F9F8F5"/>
            </a:solidFill>
            <a:prstDash val="solid"/>
          </a:ln>
        </p:spPr>
        <p:txBody>
          <a:bodyPr/>
          <a:p/>
        </p:txBody>
      </p:sp>
      <p:sp>
        <p:nvSpPr>
          <p:cNvPr id="10" name="Shape 8"/>
          <p:cNvSpPr/>
          <p:nvPr/>
        </p:nvSpPr>
        <p:spPr>
          <a:xfrm>
            <a:off x="822960" y="3218688"/>
            <a:ext cx="420624" cy="420624"/>
          </a:xfrm>
          <a:prstGeom prst="ellipse">
            <a:avLst/>
          </a:prstGeom>
          <a:solidFill>
            <a:srgbClr val="4A2D8C"/>
          </a:solidFill>
          <a:ln/>
        </p:spPr>
        <p:txBody>
          <a:bodyPr/>
          <a:p/>
        </p:txBody>
      </p:sp>
      <p:sp>
        <p:nvSpPr>
          <p:cNvPr id="11" name="Text 9"/>
          <p:cNvSpPr/>
          <p:nvPr/>
        </p:nvSpPr>
        <p:spPr>
          <a:xfrm>
            <a:off x="822960" y="32186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463040" y="2926080"/>
            <a:ext cx="2377440" cy="1005840"/>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Standardele</a:t>
            </a:r>
            <a:endParaRPr lang="en-US" sz="1700" dirty="0"/>
          </a:p>
        </p:txBody>
      </p:sp>
      <p:sp>
        <p:nvSpPr>
          <p:cNvPr id="13" name="Text 11"/>
          <p:cNvSpPr/>
          <p:nvPr/>
        </p:nvSpPr>
        <p:spPr>
          <a:xfrm>
            <a:off x="3840480" y="2926080"/>
            <a:ext cx="758952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Autoritatea Națională de Management al Calității în Sănătate acreditează spitalele</a:t>
            </a:r>
            <a:endParaRPr lang="en-US" sz="1600" dirty="0"/>
          </a:p>
        </p:txBody>
      </p:sp>
      <p:sp>
        <p:nvSpPr>
          <p:cNvPr id="14" name="Shape 12"/>
          <p:cNvSpPr/>
          <p:nvPr/>
        </p:nvSpPr>
        <p:spPr>
          <a:xfrm>
            <a:off x="594360" y="4114800"/>
            <a:ext cx="10972800" cy="1005840"/>
          </a:xfrm>
          <a:prstGeom prst="roundRect">
            <a:avLst>
              <a:gd name="adj" fmla="val 8182"/>
            </a:avLst>
          </a:prstGeom>
          <a:solidFill>
            <a:srgbClr val="ECEAE4"/>
          </a:solidFill>
          <a:ln w="12700">
            <a:solidFill>
              <a:srgbClr val="ECEAE4"/>
            </a:solidFill>
            <a:prstDash val="solid"/>
          </a:ln>
        </p:spPr>
        <p:txBody>
          <a:bodyPr/>
          <a:p/>
        </p:txBody>
      </p:sp>
      <p:sp>
        <p:nvSpPr>
          <p:cNvPr id="15" name="Shape 13"/>
          <p:cNvSpPr/>
          <p:nvPr/>
        </p:nvSpPr>
        <p:spPr>
          <a:xfrm>
            <a:off x="822960" y="4407408"/>
            <a:ext cx="420624" cy="420624"/>
          </a:xfrm>
          <a:prstGeom prst="ellipse">
            <a:avLst/>
          </a:prstGeom>
          <a:solidFill>
            <a:srgbClr val="B02532"/>
          </a:solidFill>
          <a:ln/>
        </p:spPr>
        <p:txBody>
          <a:bodyPr/>
          <a:p/>
        </p:txBody>
      </p:sp>
      <p:sp>
        <p:nvSpPr>
          <p:cNvPr id="16" name="Text 14"/>
          <p:cNvSpPr/>
          <p:nvPr/>
        </p:nvSpPr>
        <p:spPr>
          <a:xfrm>
            <a:off x="822960" y="44074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463040" y="4114800"/>
            <a:ext cx="2377440" cy="10058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Programul național</a:t>
            </a:r>
            <a:endParaRPr lang="en-US" sz="1700" dirty="0"/>
          </a:p>
        </p:txBody>
      </p:sp>
      <p:sp>
        <p:nvSpPr>
          <p:cNvPr id="18" name="Text 16"/>
          <p:cNvSpPr/>
          <p:nvPr/>
        </p:nvSpPr>
        <p:spPr>
          <a:xfrm>
            <a:off x="3840480" y="4114800"/>
            <a:ext cx="7589520" cy="10058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elaborat de Ministerul Sănătății, cu CNAS; derulat de minister și/sau CNAS; în județ, direcția de sănătate publică</a:t>
            </a:r>
            <a:endParaRPr lang="en-US" sz="1600" dirty="0"/>
          </a:p>
        </p:txBody>
      </p:sp>
      <p:sp>
        <p:nvSpPr>
          <p:cNvPr id="19" name="Text 17"/>
          <p:cNvSpPr/>
          <p:nvPr/>
        </p:nvSpPr>
        <p:spPr>
          <a:xfrm>
            <a:off x="594360" y="5349240"/>
            <a:ext cx="10972800" cy="54864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Cine o trimite la spital: răspunsurile voastre, discutate în sală.</a:t>
            </a:r>
            <a:endParaRPr lang="en-US" sz="1600" dirty="0"/>
          </a:p>
        </p:txBody>
      </p:sp>
      <p:sp>
        <p:nvSpPr>
          <p:cNvPr id="20" name="Text 18"/>
          <p:cNvSpPr/>
          <p:nvPr/>
        </p:nvSpPr>
        <p:spPr>
          <a:xfrm>
            <a:off x="594360" y="6382512"/>
            <a:ext cx="969264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registru A925, A927, A926, A885, A886.</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FACEȚI DIFERIT DE MÂINE</a:t>
            </a:r>
            <a:endParaRPr lang="en-US" sz="1300" dirty="0"/>
          </a:p>
        </p:txBody>
      </p:sp>
      <p:sp>
        <p:nvSpPr>
          <p:cNvPr id="3" name="Shape 1"/>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4" name="Text 2"/>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ALEGEȚI UNA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Luni dimineață, în stagiu</a:t>
            </a:r>
            <a:endParaRPr lang="en-US" sz="3200" dirty="0"/>
          </a:p>
        </p:txBody>
      </p:sp>
      <p:sp>
        <p:nvSpPr>
          <p:cNvPr id="6" name="Shape 4"/>
          <p:cNvSpPr/>
          <p:nvPr/>
        </p:nvSpPr>
        <p:spPr>
          <a:xfrm>
            <a:off x="594360" y="1691640"/>
            <a:ext cx="3566160" cy="3840480"/>
          </a:xfrm>
          <a:prstGeom prst="roundRect">
            <a:avLst>
              <a:gd name="adj" fmla="val 2308"/>
            </a:avLst>
          </a:prstGeom>
          <a:solidFill>
            <a:srgbClr val="ECEAE4"/>
          </a:solidFill>
          <a:ln w="12700">
            <a:solidFill>
              <a:srgbClr val="ECEAE4"/>
            </a:solidFill>
            <a:prstDash val="solid"/>
          </a:ln>
        </p:spPr>
        <p:txBody>
          <a:bodyPr/>
          <a:p/>
        </p:txBody>
      </p:sp>
      <p:sp>
        <p:nvSpPr>
          <p:cNvPr id="7" name="Shape 5"/>
          <p:cNvSpPr/>
          <p:nvPr/>
        </p:nvSpPr>
        <p:spPr>
          <a:xfrm>
            <a:off x="594360" y="1691640"/>
            <a:ext cx="3566160" cy="73152"/>
          </a:xfrm>
          <a:prstGeom prst="rect">
            <a:avLst/>
          </a:prstGeom>
          <a:solidFill>
            <a:srgbClr val="0E7C6B"/>
          </a:solidFill>
          <a:ln w="12700">
            <a:solidFill>
              <a:srgbClr val="0E7C6B"/>
            </a:solidFill>
            <a:prstDash val="solid"/>
          </a:ln>
        </p:spPr>
        <p:txBody>
          <a:bodyPr/>
          <a:p/>
        </p:txBody>
      </p:sp>
      <p:sp>
        <p:nvSpPr>
          <p:cNvPr id="8" name="Text 6"/>
          <p:cNvSpPr/>
          <p:nvPr/>
        </p:nvSpPr>
        <p:spPr>
          <a:xfrm>
            <a:off x="822960" y="1892808"/>
            <a:ext cx="3108960" cy="6858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La anamneză</a:t>
            </a:r>
            <a:endParaRPr lang="en-US" sz="1900" dirty="0"/>
          </a:p>
        </p:txBody>
      </p:sp>
      <p:sp>
        <p:nvSpPr>
          <p:cNvPr id="9" name="Text 7"/>
          <p:cNvSpPr/>
          <p:nvPr/>
        </p:nvSpPr>
        <p:spPr>
          <a:xfrm>
            <a:off x="822960" y="2560320"/>
            <a:ext cx="3108960" cy="2834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„Ați renunțat în ultimul an la un consult sau la un tratament? De ce?” Notați motivul, nu numai faptul.</a:t>
            </a:r>
            <a:endParaRPr lang="en-US" sz="1600" dirty="0"/>
          </a:p>
        </p:txBody>
      </p:sp>
      <p:sp>
        <p:nvSpPr>
          <p:cNvPr id="10" name="Shape 8"/>
          <p:cNvSpPr/>
          <p:nvPr/>
        </p:nvSpPr>
        <p:spPr>
          <a:xfrm>
            <a:off x="4297680" y="1691640"/>
            <a:ext cx="3566160" cy="3840480"/>
          </a:xfrm>
          <a:prstGeom prst="roundRect">
            <a:avLst>
              <a:gd name="adj" fmla="val 2308"/>
            </a:avLst>
          </a:prstGeom>
          <a:solidFill>
            <a:srgbClr val="F9F8F5"/>
          </a:solidFill>
          <a:ln w="12700">
            <a:solidFill>
              <a:srgbClr val="F9F8F5"/>
            </a:solidFill>
            <a:prstDash val="solid"/>
          </a:ln>
        </p:spPr>
        <p:txBody>
          <a:bodyPr/>
          <a:p/>
        </p:txBody>
      </p:sp>
      <p:sp>
        <p:nvSpPr>
          <p:cNvPr id="11" name="Shape 9"/>
          <p:cNvSpPr/>
          <p:nvPr/>
        </p:nvSpPr>
        <p:spPr>
          <a:xfrm>
            <a:off x="4297680" y="1691640"/>
            <a:ext cx="3566160" cy="73152"/>
          </a:xfrm>
          <a:prstGeom prst="rect">
            <a:avLst/>
          </a:prstGeom>
          <a:solidFill>
            <a:srgbClr val="B02532"/>
          </a:solidFill>
          <a:ln w="12700">
            <a:solidFill>
              <a:srgbClr val="B02532"/>
            </a:solidFill>
            <a:prstDash val="solid"/>
          </a:ln>
        </p:spPr>
        <p:txBody>
          <a:bodyPr/>
          <a:p/>
        </p:txBody>
      </p:sp>
      <p:sp>
        <p:nvSpPr>
          <p:cNvPr id="12" name="Text 10"/>
          <p:cNvSpPr/>
          <p:nvPr/>
        </p:nvSpPr>
        <p:spPr>
          <a:xfrm>
            <a:off x="4526280" y="1892808"/>
            <a:ext cx="3108960" cy="6858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Înainte de externare</a:t>
            </a:r>
            <a:endParaRPr lang="en-US" sz="1900" dirty="0"/>
          </a:p>
        </p:txBody>
      </p:sp>
      <p:sp>
        <p:nvSpPr>
          <p:cNvPr id="13" name="Text 11"/>
          <p:cNvSpPr/>
          <p:nvPr/>
        </p:nvSpPr>
        <p:spPr>
          <a:xfrm>
            <a:off x="4526280" y="2560320"/>
            <a:ext cx="3108960" cy="2834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Verificați cine îl preia în comunitate și scrieți numele în planul de externare.</a:t>
            </a:r>
            <a:endParaRPr lang="en-US" sz="1600" dirty="0"/>
          </a:p>
        </p:txBody>
      </p:sp>
      <p:sp>
        <p:nvSpPr>
          <p:cNvPr id="14" name="Shape 12"/>
          <p:cNvSpPr/>
          <p:nvPr/>
        </p:nvSpPr>
        <p:spPr>
          <a:xfrm>
            <a:off x="8001000" y="1691640"/>
            <a:ext cx="3566160" cy="3840480"/>
          </a:xfrm>
          <a:prstGeom prst="roundRect">
            <a:avLst>
              <a:gd name="adj" fmla="val 2308"/>
            </a:avLst>
          </a:prstGeom>
          <a:solidFill>
            <a:srgbClr val="ECEAE4"/>
          </a:solidFill>
          <a:ln w="12700">
            <a:solidFill>
              <a:srgbClr val="ECEAE4"/>
            </a:solidFill>
            <a:prstDash val="solid"/>
          </a:ln>
        </p:spPr>
        <p:txBody>
          <a:bodyPr/>
          <a:p/>
        </p:txBody>
      </p:sp>
      <p:sp>
        <p:nvSpPr>
          <p:cNvPr id="15" name="Shape 13"/>
          <p:cNvSpPr/>
          <p:nvPr/>
        </p:nvSpPr>
        <p:spPr>
          <a:xfrm>
            <a:off x="8001000" y="1691640"/>
            <a:ext cx="3566160" cy="73152"/>
          </a:xfrm>
          <a:prstGeom prst="rect">
            <a:avLst/>
          </a:prstGeom>
          <a:solidFill>
            <a:srgbClr val="4A2D8C"/>
          </a:solidFill>
          <a:ln w="12700">
            <a:solidFill>
              <a:srgbClr val="4A2D8C"/>
            </a:solidFill>
            <a:prstDash val="solid"/>
          </a:ln>
        </p:spPr>
        <p:txBody>
          <a:bodyPr/>
          <a:p/>
        </p:txBody>
      </p:sp>
      <p:sp>
        <p:nvSpPr>
          <p:cNvPr id="16" name="Text 14"/>
          <p:cNvSpPr/>
          <p:nvPr/>
        </p:nvSpPr>
        <p:spPr>
          <a:xfrm>
            <a:off x="8229600" y="1892808"/>
            <a:ext cx="3108960" cy="68580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Pe tură</a:t>
            </a:r>
            <a:endParaRPr lang="en-US" sz="1900" dirty="0"/>
          </a:p>
        </p:txBody>
      </p:sp>
      <p:sp>
        <p:nvSpPr>
          <p:cNvPr id="17" name="Text 15"/>
          <p:cNvSpPr/>
          <p:nvPr/>
        </p:nvSpPr>
        <p:spPr>
          <a:xfrm>
            <a:off x="8229600" y="2560320"/>
            <a:ext cx="3108960" cy="28346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Numiți funcția pe care o exercitați: planificați, organizați, comunicați la predare, verificați efectul.</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RECAPITULARE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rămâne din cursul de azi</a:t>
            </a:r>
            <a:endParaRPr lang="en-US" sz="3200" dirty="0"/>
          </a:p>
        </p:txBody>
      </p:sp>
      <p:sp>
        <p:nvSpPr>
          <p:cNvPr id="4" name="Shape 2"/>
          <p:cNvSpPr/>
          <p:nvPr/>
        </p:nvSpPr>
        <p:spPr>
          <a:xfrm>
            <a:off x="594360" y="160020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5" name="Shape 3"/>
          <p:cNvSpPr/>
          <p:nvPr/>
        </p:nvSpPr>
        <p:spPr>
          <a:xfrm>
            <a:off x="868680" y="1755648"/>
            <a:ext cx="420624" cy="420624"/>
          </a:xfrm>
          <a:prstGeom prst="ellipse">
            <a:avLst/>
          </a:prstGeom>
          <a:solidFill>
            <a:srgbClr val="FFC24B"/>
          </a:solidFill>
          <a:ln/>
        </p:spPr>
        <p:txBody>
          <a:bodyPr/>
          <a:p/>
        </p:txBody>
      </p:sp>
      <p:sp>
        <p:nvSpPr>
          <p:cNvPr id="6" name="Text 4"/>
          <p:cNvSpPr/>
          <p:nvPr/>
        </p:nvSpPr>
        <p:spPr>
          <a:xfrm>
            <a:off x="868680" y="1755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00200"/>
            <a:ext cx="9829800" cy="7315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Grupul vulnerabil: riscul de a pierde capacitatea de a-și satisface nevoile zilnice de trai.</a:t>
            </a:r>
            <a:endParaRPr lang="en-US" sz="1600" dirty="0"/>
          </a:p>
        </p:txBody>
      </p:sp>
      <p:sp>
        <p:nvSpPr>
          <p:cNvPr id="8" name="Shape 6"/>
          <p:cNvSpPr/>
          <p:nvPr/>
        </p:nvSpPr>
        <p:spPr>
          <a:xfrm>
            <a:off x="594360" y="2441448"/>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9" name="Shape 7"/>
          <p:cNvSpPr/>
          <p:nvPr/>
        </p:nvSpPr>
        <p:spPr>
          <a:xfrm>
            <a:off x="868680" y="2596896"/>
            <a:ext cx="420624" cy="420624"/>
          </a:xfrm>
          <a:prstGeom prst="ellipse">
            <a:avLst/>
          </a:prstGeom>
          <a:solidFill>
            <a:srgbClr val="FFC24B"/>
          </a:solidFill>
          <a:ln/>
        </p:spPr>
        <p:txBody>
          <a:bodyPr/>
          <a:p/>
        </p:txBody>
      </p:sp>
      <p:sp>
        <p:nvSpPr>
          <p:cNvPr id="10" name="Text 8"/>
          <p:cNvSpPr/>
          <p:nvPr/>
        </p:nvSpPr>
        <p:spPr>
          <a:xfrm>
            <a:off x="868680" y="25968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41448"/>
            <a:ext cx="9829800" cy="7315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Copiii, vârstnicii, persoanele cu dizabilități, ruralul: printre grupurile vulnerabile pe care asistentul le întâlnește.</a:t>
            </a:r>
            <a:endParaRPr lang="en-US" sz="1600" dirty="0"/>
          </a:p>
        </p:txBody>
      </p:sp>
      <p:sp>
        <p:nvSpPr>
          <p:cNvPr id="12" name="Shape 10"/>
          <p:cNvSpPr/>
          <p:nvPr/>
        </p:nvSpPr>
        <p:spPr>
          <a:xfrm>
            <a:off x="594360" y="3282696"/>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3" name="Shape 11"/>
          <p:cNvSpPr/>
          <p:nvPr/>
        </p:nvSpPr>
        <p:spPr>
          <a:xfrm>
            <a:off x="868680" y="3438144"/>
            <a:ext cx="420624" cy="420624"/>
          </a:xfrm>
          <a:prstGeom prst="ellipse">
            <a:avLst/>
          </a:prstGeom>
          <a:solidFill>
            <a:srgbClr val="FFC24B"/>
          </a:solidFill>
          <a:ln/>
        </p:spPr>
        <p:txBody>
          <a:bodyPr/>
          <a:p/>
        </p:txBody>
      </p:sp>
      <p:sp>
        <p:nvSpPr>
          <p:cNvPr id="14" name="Text 12"/>
          <p:cNvSpPr/>
          <p:nvPr/>
        </p:nvSpPr>
        <p:spPr>
          <a:xfrm>
            <a:off x="868680" y="34381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282696"/>
            <a:ext cx="9829800" cy="7315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Inechitatea: o diferență sistematică, produsă social și nedreaptă.</a:t>
            </a:r>
            <a:endParaRPr lang="en-US" sz="1600" dirty="0"/>
          </a:p>
        </p:txBody>
      </p:sp>
      <p:sp>
        <p:nvSpPr>
          <p:cNvPr id="16" name="Shape 14"/>
          <p:cNvSpPr/>
          <p:nvPr/>
        </p:nvSpPr>
        <p:spPr>
          <a:xfrm>
            <a:off x="594360" y="4123944"/>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7" name="Shape 15"/>
          <p:cNvSpPr/>
          <p:nvPr/>
        </p:nvSpPr>
        <p:spPr>
          <a:xfrm>
            <a:off x="868680" y="4279392"/>
            <a:ext cx="420624" cy="420624"/>
          </a:xfrm>
          <a:prstGeom prst="ellipse">
            <a:avLst/>
          </a:prstGeom>
          <a:solidFill>
            <a:srgbClr val="FFC24B"/>
          </a:solidFill>
          <a:ln/>
        </p:spPr>
        <p:txBody>
          <a:bodyPr/>
          <a:p/>
        </p:txBody>
      </p:sp>
      <p:sp>
        <p:nvSpPr>
          <p:cNvPr id="18" name="Text 16"/>
          <p:cNvSpPr/>
          <p:nvPr/>
        </p:nvSpPr>
        <p:spPr>
          <a:xfrm>
            <a:off x="868680" y="4279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123944"/>
            <a:ext cx="9829800" cy="7315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Epuizarea profesională: fenomen ocupațional, nu boală.</a:t>
            </a:r>
            <a:endParaRPr lang="en-US" sz="1600" dirty="0"/>
          </a:p>
        </p:txBody>
      </p:sp>
      <p:sp>
        <p:nvSpPr>
          <p:cNvPr id="20" name="Shape 18"/>
          <p:cNvSpPr/>
          <p:nvPr/>
        </p:nvSpPr>
        <p:spPr>
          <a:xfrm>
            <a:off x="594360" y="4965192"/>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21" name="Shape 19"/>
          <p:cNvSpPr/>
          <p:nvPr/>
        </p:nvSpPr>
        <p:spPr>
          <a:xfrm>
            <a:off x="868680" y="5120640"/>
            <a:ext cx="420624" cy="420624"/>
          </a:xfrm>
          <a:prstGeom prst="ellipse">
            <a:avLst/>
          </a:prstGeom>
          <a:solidFill>
            <a:srgbClr val="FFC24B"/>
          </a:solidFill>
          <a:ln/>
        </p:spPr>
        <p:txBody>
          <a:bodyPr/>
          <a:p/>
        </p:txBody>
      </p:sp>
      <p:sp>
        <p:nvSpPr>
          <p:cNvPr id="22" name="Text 20"/>
          <p:cNvSpPr/>
          <p:nvPr/>
        </p:nvSpPr>
        <p:spPr>
          <a:xfrm>
            <a:off x="868680" y="51206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965192"/>
            <a:ext cx="9829800" cy="7315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Managementul: planificare, organizare, conducere, control, în ciclu.</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60350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ORA FIXĂ · CU ZECE MINUTE ÎNAINTE DE FINAL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58368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58368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te-am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58368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ai putea folosi mâine?</a:t>
            </a:r>
            <a:endParaRPr lang="en-US" sz="22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Răspunsurile se citesc înaintea cursului următor; pe pagina cursului veți găsi două modificări făcute pe baza lor.</a:t>
            </a:r>
            <a:endParaRPr lang="en-US" sz="1700" dirty="0"/>
          </a:p>
        </p:txBody>
      </p:sp>
      <p:pic>
        <p:nvPicPr>
          <p:cNvPr id="17" name="Picture 16" descr="Mentimeter_SPM_AMGIV_C03.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Cursul 3 - Sănătatea populațiilor vulnerabile. Introducere în managementul serviciilor de sănătate</dc:title>
  <dc:subject>PptxGenJS Presentation</dc:subject>
  <dc:creator>Conf. Univ. Dr. Adrian Pana</dc:creator>
  <cp:lastModifiedBy>Conf. Univ. Dr. Adrian Pana</cp:lastModifiedBy>
  <cp:revision>1</cp:revision>
  <dcterms:created xsi:type="dcterms:W3CDTF">2026-10-11T10:22:31Z</dcterms:created>
  <dcterms:modified xsi:type="dcterms:W3CDTF">2026-10-11T10:22:31Z</dcterms:modified>
  <cp:keywords>sursa_amprenta=10c1fa22f709f6bf; proiectie</cp:keywords>
</cp:coreProperties>
</file>