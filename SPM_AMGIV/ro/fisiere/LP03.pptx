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44805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7315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LUCRAREA PRACTICĂ · AMG, ANUL IV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Sesiunea de educație pentru sănătate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SWOT și planul strategic al unui serviciu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67512" y="429768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44805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publică și management · Conf. univ. dr. Adrian Pană · UMF Cluj-Napoca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55280" y="1828800"/>
            <a:ext cx="1783080" cy="1783080"/>
          </a:xfrm>
          <a:prstGeom prst="roundRect">
            <a:avLst>
              <a:gd name="adj" fmla="val 4615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955280" y="182880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tari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829800" y="1828800"/>
            <a:ext cx="1783080" cy="1783080"/>
          </a:xfrm>
          <a:prstGeom prst="roundRect">
            <a:avLst>
              <a:gd name="adj" fmla="val 4615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29800" y="182880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slabe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0" y="3703320"/>
            <a:ext cx="1783080" cy="1783080"/>
          </a:xfrm>
          <a:prstGeom prst="roundRect">
            <a:avLst>
              <a:gd name="adj" fmla="val 4615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955280" y="370332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oportunități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829800" y="3703320"/>
            <a:ext cx="1783080" cy="1783080"/>
          </a:xfrm>
          <a:prstGeom prst="roundRect">
            <a:avLst>
              <a:gd name="adj" fmla="val 4615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829800" y="370332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amenințări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DESFĂȘURAREA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ore, două părți, un singur centru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Momentul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2104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Marți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Miercuri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947672"/>
            <a:ext cx="10789920" cy="228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1965960"/>
            <a:ext cx="10789920" cy="457200"/>
          </a:xfrm>
          <a:prstGeom prst="rect">
            <a:avLst/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Deschiderea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1965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Cazul și rolurile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0" y="1965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875520" y="1965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2423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 o sesiune bună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2423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87552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2880360"/>
            <a:ext cx="10789920" cy="457200"/>
          </a:xfrm>
          <a:prstGeom prst="rect">
            <a:avLst/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" y="2880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43200" y="2880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Planificarea sesiunii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2880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7552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743200" y="3337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Simularea și feedbackul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21040" y="3337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875520" y="3337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39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94360" y="3794760"/>
            <a:ext cx="10789920" cy="457200"/>
          </a:xfrm>
          <a:prstGeom prst="rect">
            <a:avLst/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5800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a II-a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743200" y="3794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SWOT a centrului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2104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87552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5800" y="4251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a II-a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743200" y="4251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Prioritățile și obiectivul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4251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875520" y="4251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94360" y="4709160"/>
            <a:ext cx="10789920" cy="457200"/>
          </a:xfrm>
          <a:prstGeom prst="rect">
            <a:avLst/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85800" y="4709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a II-a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2743200" y="4709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de acțiune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21040" y="4709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875520" y="4709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85800" y="5166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Sinteza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2743200" y="5166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Sinteza și biletul de ieșire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321040" y="5166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875520" y="5166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94360" y="57607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Marți: grupele 4–5. Miercuri: grupele 1–3.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OBIECTIVELE LUCRĂRII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finalul lucrării veți putea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682496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682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Planifica o sesiune de educație pentru sănătate.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322576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" y="245059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322576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 un obiectiv de învățare care poate fi verificat.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090672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3218688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3218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090672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 înțelegerea prin reformulare.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3858768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68680" y="3986784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858768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Clasifica factorii unui serviciu: puncte tari, puncte slabe, oportunități, amenințări.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626864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" y="4754880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626864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Alege priorități și formula obiective măsurabile.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5394960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68680" y="5522976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8680" y="5522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5394960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Scrie un plan de acțiune pe șase luni, cu indicatori și control.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 · CAZUL IOANEI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cereri în aceeași săptămână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474720" cy="2331720"/>
          </a:xfrm>
          <a:prstGeom prst="roundRect">
            <a:avLst>
              <a:gd name="adj" fmla="val 352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810512"/>
            <a:ext cx="457200" cy="457200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Elevii de clasa a opta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Directoarea școlii cere o întâlnire despre fumat.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74720" cy="2331720"/>
          </a:xfrm>
          <a:prstGeom prst="roundRect">
            <a:avLst>
              <a:gd name="adj" fmla="val 352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17720" y="1810512"/>
            <a:ext cx="457200" cy="457200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1772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423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Clubul pensionarilor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017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Cere o întâlnire despre tensiunea arterială.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3474720" cy="2331720"/>
          </a:xfrm>
          <a:prstGeom prst="roundRect">
            <a:avLst>
              <a:gd name="adj" fmla="val 352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66760" y="1810512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667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423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Gravidele din evidența cabinetului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3017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de familie cere o sesiune despre vaccinarea copilului.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4206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Ioana nu vrea trei prelegeri, ci trei sesiuni după care participanții știu sau pot face ceva anume.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94360" y="52578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5257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deosebește o sesiune de educație pentru sănătate de o prelegere?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DE PLANIFICARE · ȘAPTE RUBRICI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conține planul unei sesiuni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00200"/>
            <a:ext cx="265176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95528" y="1828800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9552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8013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Grupul-țintă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știe, ce crede, ce îl împiedică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6002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83280" y="1600200"/>
            <a:ext cx="265176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84448" y="1828800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8444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60520" y="18013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611880" y="24688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va ști sau va putea face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16002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72200" y="1600200"/>
            <a:ext cx="2651760" cy="640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373368" y="1828800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7336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18013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Mesajele-cheie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400800" y="24688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mult trei, în cuvinte simple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61120" y="16002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961120" y="1600200"/>
            <a:ext cx="2651760" cy="64008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162288" y="1828800"/>
            <a:ext cx="420624" cy="420624"/>
          </a:xfrm>
          <a:prstGeom prst="ellipse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16228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38360" y="18013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Metodele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189720" y="24688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explicație scurtă, apoi o activitate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" y="370332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94360" y="3703320"/>
            <a:ext cx="265176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95528" y="3931920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95528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71600" y="39044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Materialele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22960" y="4572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litere mari, cuvinte obișnuite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383280" y="370332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3383280" y="3703320"/>
            <a:ext cx="265176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584448" y="3931920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584448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160520" y="39044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Desfășurarea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3611880" y="4572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minut cu minut, cu timp pentru întrebări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72200" y="370332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172200" y="3703320"/>
            <a:ext cx="2651760" cy="640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373368" y="3931920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373368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49440" y="39044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6400800" y="4572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aflați dacă obiectivul a fost atins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961120" y="370332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9144000" y="370332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 se scrie după ce aflați ce știe grupul; metodele se aleg după obiectiv.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 DE ÎNVĂȚARE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vede la sfârșitul sesiunii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00200"/>
            <a:ext cx="539496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0392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poate verifica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0392" y="23317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„spune”, „arată”, „alege”, „își măsoară”: participantul face sau spune ceva observabil.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9496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28232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se poate verifica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28232" y="23317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„înțelege”, „conștientizează”, „află”: nu se văd la sfârșitul sesiunii.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94360" y="37947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Nici formulările care descriu ce face educatorul (prezentarea unor diapozitive, informarea participanților, împărțirea unei broșuri) nu sunt obiective de învățare: ele nu spun ce poate face participantul la final.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50292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obiectiv bun este specific, măsurabil, realizabil, relevant și încadrat în timp.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PASUL 1 · VOTUL ECHIPEI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formulare poate fi verificată?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ipotetice. Clubul pensionarilor: 15 membri, 9 cu aparat acasă.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057400"/>
            <a:ext cx="768096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2960" y="22128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057400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Participanții vor conștientiza importanța controlului tensiunii arteriale.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2898648"/>
            <a:ext cx="7680960" cy="1508760"/>
          </a:xfrm>
          <a:prstGeom prst="roundRect">
            <a:avLst>
              <a:gd name="adj" fmla="val 545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22960" y="34427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34427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898648"/>
            <a:ext cx="6629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sfârșitul sesiunii de 30 de minute, fiecare dintre cei 9 participanți care au aparat acasă își măsoară tensiunea cu aparatul adus de centru, în fața asistentei, respectând pașii arătați, și notează valoarea în carnetul lui.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4517136"/>
            <a:ext cx="768096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2960" y="46725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4672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517136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Prezentarea a douăzeci de diapozitive despre hipertensiunea arterială.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5358384"/>
            <a:ext cx="768096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" y="55138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5513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5358384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Informarea vârstnicilor despre riscurile tensiunii mari.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732520" y="2057400"/>
            <a:ext cx="2834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732520" y="49834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  <p:pic>
        <p:nvPicPr>
          <p:cNvPr id="26" name="Picture 25" descr="AMG_IV_LP03_sala_marti_20_10_grupele_4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252" y="2585634"/>
            <a:ext cx="1199053" cy="119905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97717" y="3822787"/>
            <a:ext cx="1352123" cy="579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marți</a:t>
            </a:r>
          </a:p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grupele 4–5</a:t>
            </a:r>
          </a:p>
        </p:txBody>
      </p:sp>
      <p:pic>
        <p:nvPicPr>
          <p:cNvPr id="28" name="Picture 27" descr="AMG_IV_LP03_sala_miercuri_21_10_grupele_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375" y="2585634"/>
            <a:ext cx="1199053" cy="119905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149840" y="3822787"/>
            <a:ext cx="1352123" cy="579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miercuri</a:t>
            </a:r>
          </a:p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grupele 1–3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PASUL 2 · VOTUL ECHIPEI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încheiere verifică înțelegerea?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680960" cy="822960"/>
          </a:xfrm>
          <a:prstGeom prst="roundRect">
            <a:avLst>
              <a:gd name="adj" fmla="val 10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8928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6629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„Ați înțeles? Aveți întrebări?”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624328"/>
            <a:ext cx="7680960" cy="1051560"/>
          </a:xfrm>
          <a:prstGeom prst="roundRect">
            <a:avLst>
              <a:gd name="adj" fmla="val 782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29397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29397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624328"/>
            <a:ext cx="6629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„Ca să fiu sigură că am explicat bine, spuneți-mi cum veți proceda mâine dimineață.”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785616"/>
            <a:ext cx="7680960" cy="822960"/>
          </a:xfrm>
          <a:prstGeom prst="roundRect">
            <a:avLst>
              <a:gd name="adj" fmla="val 10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39867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785616"/>
            <a:ext cx="6629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„Vă las broșura, citiți-o acasă.”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718304"/>
            <a:ext cx="7680960" cy="822960"/>
          </a:xfrm>
          <a:prstGeom prst="roundRect">
            <a:avLst>
              <a:gd name="adj" fmla="val 10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" y="49194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4919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718304"/>
            <a:ext cx="6629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„Repet încă o dată cele trei mesaje.”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732520" y="1691640"/>
            <a:ext cx="2834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732520" y="46177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  <p:pic>
        <p:nvPicPr>
          <p:cNvPr id="25" name="Picture 24" descr="AMG_IV_LP03_sala_marti_20_10_grupele_4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252" y="2219874"/>
            <a:ext cx="1199053" cy="119905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797717" y="3457027"/>
            <a:ext cx="1352123" cy="579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marți</a:t>
            </a:r>
          </a:p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grupele 4–5</a:t>
            </a:r>
          </a:p>
        </p:txBody>
      </p:sp>
      <p:pic>
        <p:nvPicPr>
          <p:cNvPr id="27" name="Picture 26" descr="AMG_IV_LP03_sala_miercuri_21_10_grupele_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375" y="2219874"/>
            <a:ext cx="1199053" cy="119905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149840" y="3457027"/>
            <a:ext cx="1352123" cy="579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miercuri</a:t>
            </a:r>
          </a:p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grupele 1–3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LA VOT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arată cele două răspunsuri corecte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00200"/>
            <a:ext cx="539496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0392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Pasul 1: obiectivul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0392" y="233172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(cei 9 cu aparat), ce face (își măsoară tensiunea), cum se verifică (în fața asistentei), până când (la sfârșitul sesiunii).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9496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28232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Pasul 2: încheierea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28232" y="233172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„da” la „Ați înțeles?” nu arată ce a înțeles persoana. Repetarea mesajelor nu verifică nimic: vorbește tot educatorul.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461772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46177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Verificarea prin reformulare: persoana explică cu propriile cuvinte sau arată ce i s-a arătat. Revizia sistematică din 2020: direcția efectului, nu mărimea lui.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SARCINA ECHIPEI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Planificați o sesiune de zece minute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749808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17830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600200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Elevii de clasa a opta: fumatul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496312"/>
            <a:ext cx="749808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26791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2679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496312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Clubul pensionarilor: tensiunea arterială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392424"/>
            <a:ext cx="749808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35753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3575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392424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Gravidele din evidența cabinetului: vaccinarea copilului după naștere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4360" y="43891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Alegeți un grup-țintă; fiecare grup este ales de cel puțin o echipă. Completați în formular cele șapte rubrici ale fișei. Conținutul medical se ia din notele cursurilor: nu adăugați recomandări pe care notele nu le conțin.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94360" y="56235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Grila: grupul-țintă, obiectivul, cel mult trei mesaje, participanți activi, evaluarea prin reformulare.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732520" y="1600200"/>
            <a:ext cx="2834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732520" y="45262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  <p:pic>
        <p:nvPicPr>
          <p:cNvPr id="23" name="Picture 22" descr="AMG_IV_LP03_sala_marti_20_10_grupele_4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252" y="2128434"/>
            <a:ext cx="1199053" cy="119905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97717" y="3365587"/>
            <a:ext cx="1352123" cy="579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marți</a:t>
            </a:r>
          </a:p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grupele 4–5</a:t>
            </a:r>
          </a:p>
        </p:txBody>
      </p:sp>
      <p:pic>
        <p:nvPicPr>
          <p:cNvPr id="25" name="Picture 24" descr="AMG_IV_LP03_sala_miercuri_21_10_grupele_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375" y="2128434"/>
            <a:ext cx="1199053" cy="119905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149840" y="3365587"/>
            <a:ext cx="1352123" cy="579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miercuri</a:t>
            </a:r>
          </a:p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grupele 1–3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JOC DE ROL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SIMULAREA ȘI FEEDBACKUL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 minute pentru fiecare grupă de studiu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8394895" cy="731520"/>
          </a:xfrm>
          <a:prstGeom prst="roundRect">
            <a:avLst>
              <a:gd name="adj" fmla="val 1125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1645920"/>
            <a:ext cx="839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Sesiunea · 10 minute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034975" y="1645920"/>
            <a:ext cx="1642403" cy="731520"/>
          </a:xfrm>
          <a:prstGeom prst="roundRect">
            <a:avLst>
              <a:gd name="adj" fmla="val 1125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034975" y="1645920"/>
            <a:ext cx="16424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Feedback oral · 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723098" y="1645920"/>
            <a:ext cx="798342" cy="731520"/>
          </a:xfrm>
          <a:prstGeom prst="roundRect">
            <a:avLst>
              <a:gd name="adj" fmla="val 1125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052560" y="2423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educatorului: 1 minut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8346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" y="2834640"/>
            <a:ext cx="5394960" cy="64008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0392" y="3017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Tragerea la sorți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392" y="35661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fiecare grupă de studiu se trage la sorți o echipă: două marți, trei miercuri. Același grup-țintă nu se simulează de două ori.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172200" y="28346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72200" y="2834640"/>
            <a:ext cx="5394960" cy="64008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28232" y="3017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Feedbackul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28232" y="35661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echipe trase la sorți spun oral un lucru reușit și un lucru de schimbat, raportat la grilă. Celelalte notează în portofoliu.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94360" y="521208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5212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observație trimite la un criteriu al grilei, nu la persoana educatorului.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MODEL · PLANUL PENTRU GRAVIDE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plan de sesiune corect, printre mai multe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554480"/>
            <a:ext cx="82296" cy="786384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55448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Grupul-țintă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26080" y="1554480"/>
            <a:ext cx="8503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gravidele din evidența cabinetului; bariere probabile: teama de reacții adverse, necunoașterea locului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450592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2450592"/>
            <a:ext cx="82296" cy="786384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450592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2450592"/>
            <a:ext cx="8503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spune unde și cum programează vaccinurile copilului de la vârsta de 2 luni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3346704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" y="3346704"/>
            <a:ext cx="82296" cy="786384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3346704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Mesajele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3346704"/>
            <a:ext cx="8503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calendarul național; vaccinarea la medicul de familie, cu programare; întrebarea se pune medicului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4242816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4242816"/>
            <a:ext cx="82296" cy="786384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4242816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Metodele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26080" y="4242816"/>
            <a:ext cx="8503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explicație de trei minute; calendar tipărit, cu prima programare marcată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5138928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94360" y="5138928"/>
            <a:ext cx="82296" cy="786384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5138928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926080" y="5138928"/>
            <a:ext cx="8503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reformulare; indicator: proporția copiilor vaccinați la termen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 · PARTEA A DOUA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Centrul după primul 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7739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Mediatoarea are încrederea familiilor din sate.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532888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77240" y="27523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752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53288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Registrul arată care copii au vaccinuri restante.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3511296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77240" y="373075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51129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autoturism; autobuzul circulă de două ori pe zi.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4489704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" y="47091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4709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489704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Asistenta socială lucrează două zile pe săptămână.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72200" y="1554480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55080" y="17739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55080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15544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Consiliul județean anunță finanțare pentru telemedicină.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72200" y="2532888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355080" y="27523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55080" y="2752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253288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Școala cere sesiuni de educație pentru sănătate.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72200" y="3511296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355080" y="373075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35508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351129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de familie se pensionează peste un an, fără înlocuitor.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172200" y="4489704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355080" y="47091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355080" y="4709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49440" y="4489704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Afirmații false despre vaccinuri circulă în grupurile părinților.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94360" y="553212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68680" y="55321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50 de copii sub doi ani din evidență, 30 au vaccinurile la zi.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SWOT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căsuțe, două întrebări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78308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AJUTĂ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6052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ÎNCURCĂ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EXTERN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783080"/>
            <a:ext cx="2286000" cy="1783080"/>
          </a:xfrm>
          <a:prstGeom prst="roundRect">
            <a:avLst>
              <a:gd name="adj" fmla="val 461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783080" y="1783080"/>
            <a:ext cx="228600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96596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Puncte tari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965960" y="251460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 bine serviciul: capacitățile și resursele lui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160520" y="1783080"/>
            <a:ext cx="2286000" cy="1783080"/>
          </a:xfrm>
          <a:prstGeom prst="roundRect">
            <a:avLst>
              <a:gd name="adj" fmla="val 461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160520" y="1783080"/>
            <a:ext cx="228600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34340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Puncte slabe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43400" y="251460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goluri de capacitate, nu neapărat defecte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783080" y="3703320"/>
            <a:ext cx="2286000" cy="1783080"/>
          </a:xfrm>
          <a:prstGeom prst="roundRect">
            <a:avLst>
              <a:gd name="adj" fmla="val 461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783080" y="3703320"/>
            <a:ext cx="2286000" cy="64008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96596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Oportunități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965960" y="443484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situații din afară de care serviciul poate profita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160520" y="3703320"/>
            <a:ext cx="2286000" cy="1783080"/>
          </a:xfrm>
          <a:prstGeom prst="roundRect">
            <a:avLst>
              <a:gd name="adj" fmla="val 461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160520" y="3703320"/>
            <a:ext cx="2286000" cy="640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34340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Amenințări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343400" y="443484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 externi care îngreunează scopurile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766560" y="1600200"/>
            <a:ext cx="4800600" cy="3886200"/>
          </a:xfrm>
          <a:prstGeom prst="roundRect">
            <a:avLst>
              <a:gd name="adj" fmla="val 211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040880" y="1737360"/>
            <a:ext cx="4297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întrebări
</a:t>
            </a:r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Factorul ține de resursele serviciului sau vine din afara lui?
2. Ajută sau încurcă?
</a:t>
            </a:r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Intern: </a:t>
            </a:r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oamenii, echipamentele, datele și modul de lucru ale centrului.
</a:t>
            </a:r>
            <a:pPr indent="0" marL="0">
              <a:buNone/>
            </a:pPr>
            <a:r>
              <a:rPr lang="en-US" sz="15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Extern: </a:t>
            </a:r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deciziile altor instituții, finanțările anunțate, cererile din comunitate, informațiile care circulă.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PASUL 1 · PARTEA A DOUA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Așezați cele opt constatări în matrice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18242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8242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60020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Desenați matricea pe o foaie, cu patru căsuțe, și așezați cele opt constatări ale Ioanei.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28300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28300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60604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fiecare, notați: internă sau externă, ajută sau încurcă.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611880"/>
            <a:ext cx="7498080" cy="1188720"/>
          </a:xfrm>
          <a:prstGeom prst="roundRect">
            <a:avLst>
              <a:gd name="adj" fmla="val 692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39959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611880"/>
            <a:ext cx="6537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Adăugați câte o constatare proprie în fiecare căsuță, scrisă concret: „asistenta socială lucrează două zile pe săptămână”, nu „personal insuficient”.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5074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constatare poate fi citită în două feluri: scrieți-o în căsuța efectului principal și notați cealaltă lectură.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732520" y="1600200"/>
            <a:ext cx="2834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732520" y="45262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  <p:pic>
        <p:nvPicPr>
          <p:cNvPr id="22" name="Picture 21" descr="AMG_IV_LP03_sala_marti_20_10_grupele_4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252" y="2128434"/>
            <a:ext cx="1199053" cy="119905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7717" y="3365587"/>
            <a:ext cx="1352123" cy="579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marți</a:t>
            </a:r>
          </a:p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grupele 4–5</a:t>
            </a:r>
          </a:p>
        </p:txBody>
      </p:sp>
      <p:pic>
        <p:nvPicPr>
          <p:cNvPr id="24" name="Picture 23" descr="AMG_IV_LP03_sala_miercuri_21_10_grupele_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375" y="2128434"/>
            <a:ext cx="1199053" cy="119905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149840" y="3365587"/>
            <a:ext cx="1352123" cy="579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miercuri</a:t>
            </a:r>
          </a:p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grupele 1–3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· MATRICEA SWOT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Matricea centrului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00200"/>
            <a:ext cx="265176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Puncte tari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încrederea familiilor în mediatoare; registrul electronic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5176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2044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Puncte slabe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20440" y="23317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lipsa autoturismului; asistenta socială două zile pe săptămână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61188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" y="3611880"/>
            <a:ext cx="2651760" cy="64008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Oportunități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4343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finanțarea pentru telemedicină; cererea școlii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337560" y="361188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337560" y="3611880"/>
            <a:ext cx="2651760" cy="640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52044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Amenințări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520440" y="4343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pensionarea medicului de familie; afirmațiile false despre vaccinuri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217920" y="1600200"/>
            <a:ext cx="5349240" cy="3886200"/>
          </a:xfrm>
          <a:prstGeom prst="roundRect">
            <a:avLst>
              <a:gd name="adj" fmla="val 211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92240" y="1600200"/>
            <a:ext cx="48463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Cererea școlii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poate fi citită și ca încărcare a echipei; efectul principal este accesul la un grup-țintă, elevii.
</a:t>
            </a:r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Lipsa autoturismului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rămâne punct slab chiar dacă soluția vine din finanțare externă: ține de resursele centrului.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MATRICE LA PRIORITĂȚI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Matricea nu spune singură ce se face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94960" cy="2926080"/>
          </a:xfrm>
          <a:prstGeom prst="roundRect">
            <a:avLst>
              <a:gd name="adj" fmla="val 28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00200"/>
            <a:ext cx="5394960" cy="64008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0392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Citirea pe perechi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50392" y="2331720"/>
            <a:ext cx="4937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Punctele tari se folosesc pentru oportunități și amenințări. Punctele slabe se ocolesc, se acoperă cu ajutor din afară sau se completează prin capacități noi.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94960" cy="2926080"/>
          </a:xfrm>
          <a:prstGeom prst="roundRect">
            <a:avLst>
              <a:gd name="adj" fmla="val 28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94960" cy="64008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28232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Scorul de prioritizare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28232" y="2331720"/>
            <a:ext cx="4937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Importanța (cât afectează sănătatea comunității) și fezabilitatea (cât poate face centrul în șase luni), de la unu la trei. Scorul este produsul lor.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480060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48006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Scorul nu decide în locul echipei; o obligă să își spună argumentele.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PASUL 2 · PARTEA A DOUA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Calculați scorul și alegeți prioritatea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ipotetice: notele echipei Ioanei, de la unu (mică) la trei (mare).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77840" y="18745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Importanța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18745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Fezabilitatea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478024"/>
            <a:ext cx="7955280" cy="2286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2496312"/>
            <a:ext cx="7955280" cy="621792"/>
          </a:xfrm>
          <a:prstGeom prst="rect">
            <a:avLst/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249631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Copiii sub doi ani cu vaccinuri restante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577840" y="249631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32320" y="249631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5800" y="311810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Vârstnicii cu hipertensiune care nu își măsoară tensiunea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577840" y="311810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132320" y="311810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94360" y="3739896"/>
            <a:ext cx="7955280" cy="621792"/>
          </a:xfrm>
          <a:prstGeom prst="rect">
            <a:avLst/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" y="373989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Pensionarea medicului de familie fără înlocuitor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577840" y="373989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132320" y="373989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85800" y="436168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Lipsa autoturismului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577840" y="436168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32320" y="436168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94360" y="51663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problemă devine prioritatea pentru următoarele șase luni? Ce faceți cu problema care are importanță mare, dar fezabilitate mică?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8732520" y="1600200"/>
            <a:ext cx="2834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732520" y="45262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  <p:pic>
        <p:nvPicPr>
          <p:cNvPr id="29" name="Picture 28" descr="AMG_IV_LP03_sala_marti_20_10_grupele_4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252" y="2128434"/>
            <a:ext cx="1199053" cy="119905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797717" y="3365587"/>
            <a:ext cx="1352123" cy="579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marți</a:t>
            </a:r>
          </a:p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grupele 4–5</a:t>
            </a:r>
          </a:p>
        </p:txBody>
      </p:sp>
      <p:pic>
        <p:nvPicPr>
          <p:cNvPr id="31" name="Picture 30" descr="AMG_IV_LP03_sala_miercuri_21_10_grupele_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375" y="2128434"/>
            <a:ext cx="1199053" cy="119905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149840" y="3365587"/>
            <a:ext cx="1352123" cy="579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miercuri</a:t>
            </a:r>
          </a:p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grupele 1–3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· PRIORITATEA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Scorurile: 9, 6, 3 și 2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00200"/>
            <a:ext cx="265176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83080"/>
            <a:ext cx="219456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194560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copiii cu vaccinuri restante (3 × 3)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51760" cy="64008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11880" y="1783080"/>
            <a:ext cx="219456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11880" y="2560320"/>
            <a:ext cx="2194560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vârstnicii cu hipertensiune (3 × 2)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2651760" cy="640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0" y="1783080"/>
            <a:ext cx="219456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2560320"/>
            <a:ext cx="2194560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pensionarea medicului de familie (3 × 1)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6002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961120" y="1600200"/>
            <a:ext cx="265176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89720" y="1783080"/>
            <a:ext cx="219456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89720" y="2560320"/>
            <a:ext cx="2194560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lipsa autoturismului (2 × 1)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37947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Prioritatea: recuperarea vaccinurilor restante, pentru că centrul are resursele potrivite: registrul și mediatoarea. Pensionarea medicului are importanță mare, dar nu se rezolvă în șase luni: intră în planul pe termen lung și în pledoarie.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94360" y="51206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5120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Fezabilitate mică înseamnă că problema nu se rezolvă în acest plan, nu că nu este importantă.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PASUL 3 · PARTEA A DOUA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 pentru șase luni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2377440" cy="155448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645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copii sub doi ani în evidența centrului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108960" y="1600200"/>
            <a:ext cx="2377440" cy="155448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37560" y="1645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337560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vaccinurile la zi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3337560"/>
            <a:ext cx="4892040" cy="868680"/>
          </a:xfrm>
          <a:prstGeom prst="roundRect">
            <a:avLst>
              <a:gd name="adj" fmla="val 9474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33375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nouă din zece cu vaccinurile la zi.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85216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Calculați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2011680"/>
            <a:ext cx="2331720" cy="585216"/>
          </a:xfrm>
          <a:prstGeom prst="roundRect">
            <a:avLst>
              <a:gd name="adj" fmla="val 1406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01168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Acoperirea de pornire, în %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52160" y="2670048"/>
            <a:ext cx="2331720" cy="585216"/>
          </a:xfrm>
          <a:prstGeom prst="roundRect">
            <a:avLst>
              <a:gd name="adj" fmla="val 1406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89320" y="2670048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copii au vaccinurile la zi la sfârșit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52160" y="3328416"/>
            <a:ext cx="2331720" cy="585216"/>
          </a:xfrm>
          <a:prstGeom prst="roundRect">
            <a:avLst>
              <a:gd name="adj" fmla="val 1406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89320" y="3328416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copii trebuie recuperați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852160" y="3986784"/>
            <a:ext cx="2331720" cy="585216"/>
          </a:xfrm>
          <a:prstGeom prst="roundRect">
            <a:avLst>
              <a:gd name="adj" fmla="val 1406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986784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Ritmul lunar minim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4360" y="50292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Realizabil: ținta poate fi atinsă cu oamenii, timpul și banii pe care centrul îi are sau îi poate obține în șase luni.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732520" y="1600200"/>
            <a:ext cx="2834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732520" y="45262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  <p:pic>
        <p:nvPicPr>
          <p:cNvPr id="27" name="Picture 26" descr="AMG_IV_LP03_sala_marti_20_10_grupele_4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252" y="2128434"/>
            <a:ext cx="1199053" cy="119905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797717" y="3365587"/>
            <a:ext cx="1352123" cy="579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marți</a:t>
            </a:r>
          </a:p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grupele 4–5</a:t>
            </a:r>
          </a:p>
        </p:txBody>
      </p:sp>
      <p:pic>
        <p:nvPicPr>
          <p:cNvPr id="29" name="Picture 28" descr="AMG_IV_LP03_sala_miercuri_21_10_grupele_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375" y="2128434"/>
            <a:ext cx="1199053" cy="119905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149840" y="3365587"/>
            <a:ext cx="1352123" cy="579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miercuri</a:t>
            </a:r>
          </a:p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grupele 1–3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SE CITEȘTE CALCULUL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valori, o singură înlănțuire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00200"/>
            <a:ext cx="265176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1828800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Acoperirea de pornire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copiii cu vaccinurile la zi, împărțiți la toți copiii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383280" y="160020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83280" y="1600200"/>
            <a:ext cx="265176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11880" y="1828800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1188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sfârșit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611880" y="2926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nouă din zece, aplicat la toți copiii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72200" y="160020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72200" y="1600200"/>
            <a:ext cx="2651760" cy="640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0" y="1828800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recuperat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400800" y="2926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ținta minus copiii care au deja vaccinurile la zi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61120" y="160020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961120" y="1600200"/>
            <a:ext cx="2651760" cy="64008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189720" y="1828800"/>
            <a:ext cx="420624" cy="420624"/>
          </a:xfrm>
          <a:prstGeom prst="ellipse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18972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89720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Ritmul lunar minim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189720" y="2926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copiii de recuperat, împărțiți la luni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94360" y="4297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Ritmul planificat este puțin peste cel minim, ca să rămână o rezervă. Valorile apar în formular, după trimitere.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4360" y="530352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68680" y="53035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Obiectivul: nouă din zece copii sub doi ani cu vaccinurile la zi, până la sfârșitul celor șase luni.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DE ACȚIUNE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elemente, un plan pe o pagină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10312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554480"/>
            <a:ext cx="210312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Misiunea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2834640" y="1554480"/>
            <a:ext cx="210312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834640" y="1554480"/>
            <a:ext cx="210312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7180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SWOT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074920" y="1554480"/>
            <a:ext cx="210312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074920" y="1554480"/>
            <a:ext cx="2103120" cy="640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21208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Prioritățile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315200" y="1554480"/>
            <a:ext cx="210312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315200" y="1554480"/>
            <a:ext cx="2103120" cy="64008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5236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Obiectivele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9555480" y="1554480"/>
            <a:ext cx="210312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55480" y="1554480"/>
            <a:ext cx="210312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9264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de acțiune și controlul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8580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Activitatea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Responsabilul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Resursele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0976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se controlează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3319272"/>
            <a:ext cx="10789920" cy="228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94360" y="3337560"/>
            <a:ext cx="10789920" cy="548640"/>
          </a:xfrm>
          <a:prstGeom prst="rect">
            <a:avLst/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8580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43200" y="3337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…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0" y="3337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…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26480" y="3337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…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0" y="3337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…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50976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…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4360" y="4343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un rând pentru fiecare activitate. În practică, pașii se suprapun: planul se revizuiește lunar, când se compară rezultatul cu ritmul planificat.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4360" y="516636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68680" y="5166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Controlul compară rezultatul cu obiectivul: standardul este ținta din obiectiv.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SARCINA ECHIPEI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de acțiune pe șase luni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7498080" cy="841248"/>
          </a:xfrm>
          <a:prstGeom prst="roundRect">
            <a:avLst>
              <a:gd name="adj" fmla="val 978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181051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600200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Scrieți planul pentru obiectivul de vaccinare, cu cel puțin patru activități.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560320"/>
            <a:ext cx="7498080" cy="841248"/>
          </a:xfrm>
          <a:prstGeom prst="roundRect">
            <a:avLst>
              <a:gd name="adj" fmla="val 978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27706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560320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Folosiți un punct tare și o oportunitate; spuneți cum ocoliți sau acoperiți un punct slab.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520440"/>
            <a:ext cx="7498080" cy="841248"/>
          </a:xfrm>
          <a:prstGeom prst="roundRect">
            <a:avLst>
              <a:gd name="adj" fmla="val 978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373075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520440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fiecare activitate: control preventiv, concurent sau retroactiv?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52628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45262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Preventiv: înainte de începerea activității. Concurent: în timpul ei. Retroactiv: după încheierea ei.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94360" y="55321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ultimele cinci minute, două echipe își citesc reciproc planul și dau câte o observație despre responsabili și termene.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732520" y="1600200"/>
            <a:ext cx="2834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732520" y="45262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300" dirty="0"/>
          </a:p>
        </p:txBody>
      </p:sp>
      <p:pic>
        <p:nvPicPr>
          <p:cNvPr id="24" name="Picture 23" descr="AMG_IV_LP03_sala_marti_20_10_grupele_4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252" y="2128434"/>
            <a:ext cx="1199053" cy="119905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797717" y="3365587"/>
            <a:ext cx="1352123" cy="579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marți</a:t>
            </a:r>
          </a:p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grupele 4–5</a:t>
            </a:r>
          </a:p>
        </p:txBody>
      </p:sp>
      <p:pic>
        <p:nvPicPr>
          <p:cNvPr id="26" name="Picture 25" descr="AMG_IV_LP03_sala_miercuri_21_10_grupele_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375" y="2128434"/>
            <a:ext cx="1199053" cy="119905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149840" y="3365587"/>
            <a:ext cx="1352123" cy="579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miercuri</a:t>
            </a:r>
          </a:p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grupele 1–3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MODEL · PLAN DE ACȚIUNE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plan de acțiune corect, printre mai multe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554480"/>
            <a:ext cx="82296" cy="7498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5544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Luna întâi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200400" y="155448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lista copiilor din registru, verificată cu medicul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0" y="155448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control preventiv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42316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4360" y="2423160"/>
            <a:ext cx="82296" cy="7498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24231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Lunile întâi–a șasea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200400" y="242316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vizitele mediatoarei, potrivite cu orarul autobuzului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46720" y="242316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control concurent, prin lista de verificare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29184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" y="3291840"/>
            <a:ext cx="82296" cy="7498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32918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Luna a doua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200400" y="329184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sesiunea pentru gravide, încheiată prin reformulare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46720" y="329184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control concurent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16052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60520"/>
            <a:ext cx="82296" cy="7498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41605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Luna a treia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200400" y="416052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cererea de finanțare pentru telemedicină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46720" y="416052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control retroactiv, după termenul de depunere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50292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94360" y="5029200"/>
            <a:ext cx="82296" cy="7498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8680" y="50292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fiecare lună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200400" y="502920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copiii recuperați, comparați cu ritmul planificat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046720" y="502920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control retroactiv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5943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ipotetice. Există mai multe planuri corecte.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SINTEZA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părți, același centru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474720" cy="26517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00200"/>
            <a:ext cx="3474720" cy="640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874520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obiectiv de învățare spune ce poate face participantul la final și se verifică prin reformulare, nu prin „Ați înțeles?”.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74720" cy="26517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474720" cy="640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17720" y="1874520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1772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42316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Punctele tari și slabe sunt interne; oportunitățile și amenințările sunt externe.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3474720" cy="26517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92440" y="1600200"/>
            <a:ext cx="3474720" cy="640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366760" y="1874520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667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242316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plan leagă fiecare obiectiv de activități, responsabili, termene și indicatori.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94360" y="4434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Verificarea prin reformulare este, la scara unei întâlniri, ceea ce este controlul la scara unui serviciu.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21208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52120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Portofoliul se completează individual, acasă, până sâmbătă, 24 octombrie 2026, ora 22:00.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822960"/>
            <a:ext cx="49377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8229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BILETUL DE IEȘIRE · ANONIM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5146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34747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te-am pierdut?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44348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ai putea folosi mâine?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549640" y="237744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49640" y="2377440"/>
            <a:ext cx="3017520" cy="265176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dirty="0" i="1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Mentimeter: intrați pe menti.com cu codul afișat pe ecran.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5486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apar pe ecran, anonim.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Lucrarea practică 3 - Sesiunea de educație pentru sănătate și planul strategic al unui serviciu</dc:title>
  <dc:subject>PptxGenJS Presentation</dc:subject>
  <dc:creator>Conf. Univ. Dr. Adrian Pana</dc:creator>
  <cp:lastModifiedBy>Conf. Univ. Dr. Adrian Pana</cp:lastModifiedBy>
  <cp:revision>1</cp:revision>
  <dcterms:created xsi:type="dcterms:W3CDTF">2026-10-17T07:58:47Z</dcterms:created>
  <dcterms:modified xsi:type="dcterms:W3CDTF">2026-10-17T07:58:47Z</dcterms:modified>
  <cp:keywords>sursa_amprenta=6441e3a042b8edf5; proiectie</cp:keywords>
</cp:coreProperties>
</file>