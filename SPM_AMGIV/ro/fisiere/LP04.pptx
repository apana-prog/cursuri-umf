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6"/>
    <p:sldId id="271" r:id="rId17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4480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· AMG, ANUL IV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căderi într-o lună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Marei îngrijește mai prost decât secția vecină?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7512" y="370332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86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verificare, indicatorii de calitate și măsurile de îmbunătățire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· Conf. univ. dr. Adrian Pană · UMF Cluj-Napoca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429000" cy="1280160"/>
          </a:xfrm>
          <a:prstGeom prst="roundRect">
            <a:avLst>
              <a:gd name="adj" fmla="val 642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întâi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667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situația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429000" cy="1280160"/>
          </a:xfrm>
          <a:prstGeom prst="roundRect">
            <a:avLst>
              <a:gd name="adj" fmla="val 6429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complicația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4297680"/>
            <a:ext cx="3429000" cy="1280160"/>
          </a:xfrm>
          <a:prstGeom prst="roundRect">
            <a:avLst>
              <a:gd name="adj" fmla="val 642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deznodământul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DESFĂȘURAREA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ore, trei acte, un singur caz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Momentul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11880" y="15087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0" y="15087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789920" cy="228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84248"/>
            <a:ext cx="10789920" cy="475488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84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întâi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19842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Cazul, prima decizie, indicatorul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0" y="1984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4597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verificare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45973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patul dlui 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0" y="24597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2935224"/>
            <a:ext cx="10789920" cy="475488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352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secției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93522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Secției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0" y="29352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4107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11880" y="34107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decizie, cele 100 de puncte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0" y="34107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886200"/>
            <a:ext cx="10789920" cy="475488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86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îmbunătățire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11880" y="38862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de trei luni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0" y="38862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361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11880" y="436168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Decembrie, a treia decizie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0" y="43616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" y="4837176"/>
            <a:ext cx="10789920" cy="475488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371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11880" y="48371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Biletul de ieșire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58400" y="48371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Marți: grupele a patra și a cincea. Miercuri: grupele întâi, a doua și a treia..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LUCRĂRII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finalul lucrării veți putea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910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 o listă de verificare și calcula proporția cerințelor respectate.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185416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26771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185416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 un indicator prin numărător, numitor și perioadă.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62072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 o rată la 1 000 de zile de spitalizare și o proporție.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538728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62102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538728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când se pot compara indicatorii a două secții.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215384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9768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215384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 măsurile potrivite cu indicatorul și cu resursele.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4892040"/>
            <a:ext cx="10972800" cy="585216"/>
          </a:xfrm>
          <a:prstGeom prst="roundRect">
            <a:avLst>
              <a:gd name="adj" fmla="val 1406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97433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892040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Scrie planul unui ciclu de îmbunătățire.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100 de puncte nu se cer la examen.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SITUAȚIA · CAZ CONSTRUIT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din septembrie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 Valori ipotetice.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39496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A · medicină internă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de paturi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810 zile de spitalizare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135 de internări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căderi raportate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53949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B · chirurgie generală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paturi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420 de zile de spitalizare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cădere raportată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 de îngrijiri: „Secția A are de patru ori mai multe căderi decât Secția B. Ce se întâmplă la dumneavoastră?”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Mara are două zile ca să răspundă.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PRIMUL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poate spune Mara despre siguranța Secției 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42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42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A este mai puțin sigură: are de patru ori mai multe căderi.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77724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111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111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87168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compară ratele căderilor la 1 000 de zile de spitalizare și se trage concluzia din ele.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465576"/>
            <a:ext cx="77724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267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267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compară ratele, dar întâi se verifică dacă secțiile definesc și raportează căderile la fel și dacă au pacienți cu riscuri asemănătoare.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" y="4718304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8508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508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18304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căderilor nu spune nimic: indicatorul se abandonează.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732520" y="16916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6916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32520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DUPĂ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colegul care a votat altfel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 de bancă, apoi votați din nou, la același cod. A: de patru ori mai multe căderi. B: ratele și concluzia. C: ratele, după trei verificări. D: abandonarea indicatorului.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40233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17520"/>
            <a:ext cx="40233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381304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9481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435025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320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5880" y="488746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6923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25880" y="542467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40233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40233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74920" y="3657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32120" y="381304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19481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435025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7320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488746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526923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542467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1463040"/>
            <a:ext cx="24688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4630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4023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UN INDICATOR DE CALITATE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părți, spuse în cuvinte înainte de calcul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3568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353568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3736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Numărătorul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286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numără: căderile, pacienții evaluați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12920" y="1554480"/>
            <a:ext cx="353568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2920" y="1554480"/>
            <a:ext cx="353568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173736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Numitorul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8952" y="2286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 se numără: zilele de spitalizare, dosarele citite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31480" y="1554480"/>
            <a:ext cx="353568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1480" y="1554480"/>
            <a:ext cx="353568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7512" y="173736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Perioada și locul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7512" y="2286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septembrie, Secția 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parte din numitor, spusă în procente.   </a:t>
            </a:r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evenimentele raportate la timpul în care puteau apărea.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Numitorul cuprinde numai cazurile care pot ajunge în numărător: zilele de spitalizare, nu paturile.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RATA, ȘI NU NUMĂRUL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scoate din comparație mărimea secției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căderilor = căderile raportate în lună ÷ zilele de spitalizare din lună × 1 000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68880"/>
            <a:ext cx="347472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30175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268980"/>
            <a:ext cx="301752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A: 4 ÷ 810 × 1 000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468880"/>
            <a:ext cx="347472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30175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0" y="3268980"/>
            <a:ext cx="301752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B: 1 ÷ 420 × 1 000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92440" y="246888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468880"/>
            <a:ext cx="347472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606040"/>
            <a:ext cx="30175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21040" y="3268980"/>
            <a:ext cx="301752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B, cu o singură cădere în plus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4360" y="4206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Căderi la 1 000 de zile de spitalizare.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006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06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de patru ori, ci de aproximativ două ori; cu numere mici, o cădere schimbă mult rata.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EUROPEANĂ DE PREVALENȚĂ ECDC, 2022–2023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cea mai mică nu înseamnă cele mai puține infecții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74720" cy="2240280"/>
          </a:xfrm>
          <a:prstGeom prst="roundRect">
            <a:avLst>
              <a:gd name="adj" fmla="val 36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7472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3017520" cy="94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20340"/>
            <a:ext cx="3017520" cy="103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cel puțin o infecție asociată asistenței medicale, UE/SEE; 3,1%–13,8% pe țări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2240280"/>
          </a:xfrm>
          <a:prstGeom prst="roundRect">
            <a:avLst>
              <a:gd name="adj" fmla="val 36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600200"/>
            <a:ext cx="347472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3017520" cy="94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720340"/>
            <a:ext cx="3017520" cy="103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cea mai mică valoare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74720" cy="2240280"/>
          </a:xfrm>
          <a:prstGeom prst="roundRect">
            <a:avLst>
              <a:gd name="adj" fmla="val 36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600200"/>
            <a:ext cx="347472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37360"/>
            <a:ext cx="3017520" cy="94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70,0%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21040" y="2720340"/>
            <a:ext cx="3017520" cy="103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infecțiile echipei de validare, găsite de culegătorii din România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Validarea: 1 127 de pacienți, 7 spitale; 3,1% în ancheta primară, 4,1% după corecție.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8463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prevalențelor brute între țări poate duce la concluzii înșelătoare.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EXPLICAȚIA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Ratele întâi, apoi trei verificări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53568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definiție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240280"/>
            <a:ext cx="307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OMS; căderea nevăzută se raportează.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2920" y="150876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2920" y="1508760"/>
            <a:ext cx="353568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raportare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8952" y="2240280"/>
            <a:ext cx="307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fără vinovat aduce mai multe raportări.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1480" y="150876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1480" y="1508760"/>
            <a:ext cx="353568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751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 asemănători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7512" y="2240280"/>
            <a:ext cx="307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 confuzi au alt risc decât pacienții operați programat.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confundă numărul cu frecvența. B se oprește prea devreme. D aruncă un indicator cerut de standardele ANMCS.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C: ratele, apoi cele trei verificări.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VERIFICARE · CONVENȚIE A LUCRĂRII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cerințe la patul pacientului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5910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Brățara, cu doi identificatori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3591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3113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cădere evaluat multifactorial în 24 de ore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312724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99923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Patul jos, frânele blocate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3767328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89534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Soneria la îndemână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4535424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66344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53542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Lumina de noapte funcționează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72200" y="1463040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1591056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46304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și familia informați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172200" y="2231136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35915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223113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escare evaluat la internare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172200" y="2999232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312724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299923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schimbare a poziției, la risc de escare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172200" y="3767328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792" y="389534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376732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mâinilor înainte de contact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172200" y="4535424"/>
            <a:ext cx="539496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6792" y="466344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453542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montării cateterului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de 24 de ore: procedura secției. Fiecare cerință: „da”, „nu” sau „nu se aplică”.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CAZUL DLUI M.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Dl M., 82 de ani, în a doua zi de internare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53568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53568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459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1945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Confuz noaptea.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12920" y="1463040"/>
            <a:ext cx="353568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2920" y="1463040"/>
            <a:ext cx="353568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16459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Diuretic dimineața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8952" y="21945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ridică noaptea la toaletă.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31480" y="1463040"/>
            <a:ext cx="353568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1480" y="1463040"/>
            <a:ext cx="353568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7512" y="16459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7512" y="21945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căzut acum o lună.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notează asistenta de tură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5760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scor de risc, fără medicamente, confuzie și căderea de acasă.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279392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793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Soneria, pe noptiera unde pacientul nu ajunge.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94360" y="490118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0118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 pacientul, nici fiica nu au fost informați.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94360" y="55229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52297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de escare mic; se mobilizează singur.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1 · LISTA DE VERIFICARE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Bifați lista la patul dlui M.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768096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46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Singuri, cinci minute: „da”, „nu” sau „nu se aplică”, cu un rând de justificare.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768096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609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4688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echipă: cădeți de acord și calculați proporția cerințelor respectate.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768096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75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832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cerința nerespectată pe care o corectați prima și spuneți de 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434840"/>
            <a:ext cx="768096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348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= cerințele „da” ÷ cerințele „da” sau „nu” × 100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394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Cerințele care nu se aplică nu intră nici în numărător, nici în numitor.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732520" y="155448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155448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2520" y="44805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SENSIBILI LA ÎNGRIJIRILE DE NURSING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urmărește Mara căderile, escarele și infecțiile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949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493776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937760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studii, în revizia sistematică 1997–2017; raportate cel mai des: personalul, mortalitatea, infecțiile nosocomiale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54480"/>
            <a:ext cx="53949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91640"/>
            <a:ext cx="493776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4937760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cheltuielile și activitatea spitalelor OCDE, pentru remedierea eșecurilor de siguranță (raport OCDE din 2017)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 vine mai ales din câteva evenimente adverse frecvente: infecțiile, tromboembolismul venos, escarele, erorile de medicație, diagnosticele greșite.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9834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Infecțiile, escarele și erorile de medicație țin în mare măsură de îngrijirile de nursing.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2 · TABLOUL SECȚIEI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indicatori pentru septembrie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Tipul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Numărătorul ÷ numitorul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01952"/>
            <a:ext cx="7726680" cy="228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0240"/>
            <a:ext cx="772668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căderilor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8912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 ÷ zile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și 810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Escarele în spital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4612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escare noi ÷ internări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și 135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017520"/>
            <a:ext cx="772668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17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riscului de cădere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4612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8912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evaluări ÷ dosare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3017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 și 40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580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riscului de escare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4612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89120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evaluări ÷ dosare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și 40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4360" y="4114800"/>
            <a:ext cx="772668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mâinilor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24612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89120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respectate ÷ observate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31520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78 și 120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5800" y="4663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Infecțiile, ziua anchetei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246120" y="4663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389120" y="4663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infecție ÷ internați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315200" y="4663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și 27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94360" y="5349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Dosarele: peste 65 de ani.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732520" y="14630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14630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32520" y="4389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COMPLICAȚIA ·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acceptă analiza, dar resursele sunt limitate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 echipei, bugetul și orele de instruire pentru trei luni: 100 de puncte. Cinci măsuri posibile: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Instruirea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2011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 efectul cu 20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Saltelele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6517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30; sub prag, efect proporțional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Asistentul de noapte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3291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50, altfel niciun efect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931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mâinilor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3931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 efectul cu 15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94360" y="457200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72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în fișa de internare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572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15; jumătate din efect dacă M1 are sub 10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94360" y="53492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Punctele puse peste prag nu mai aduc nimic.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PRIMUL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indicator urmăriți în primul ciclu de trei luni?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căderilor.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2441448"/>
            <a:ext cx="77724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026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026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41448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pacienților de peste 65 de ani la care riscul de cădere a fost evaluat multifactorial în primele 24 de ore.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694176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96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94176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saltelelor pentru prevenirea escarelor de pe secție.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" y="4535424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7823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535424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pacienților la care scorul de risc de cădere este completat în foaia de observație.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732520" y="16916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6916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32520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23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acest indicator, Mara va ști dacă planul a funcționat. Votați singuri.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DUPĂ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schimba colegul vostru de bancă?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în perechi, apoi votați din nou, la același cod. A: rata căderilor. B: evaluarea multifactorială în 24 de ore. C: numărul saltelelor. D: scorul completat.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40233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17520"/>
            <a:ext cx="40233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381304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9481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435025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320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5880" y="488746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6923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25880" y="542467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40233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40233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74920" y="3657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32120" y="381304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19481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435025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7320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488746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526923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5424678"/>
            <a:ext cx="301752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1463040"/>
            <a:ext cx="24688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4630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4023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EXPLICAȚIA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 se schimbă și se măsoară în trei luni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53949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· Rata căderilor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Rezultat, cu numere mici: indicatorii de rezultat cer eșantioane mari și timp.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63040"/>
            <a:ext cx="53949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· Evaluarea multifactorială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Proces: recomandarea ghidurilor pentru vârstnicii spitalizați; se măsoară lunar, din dosare.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08960"/>
            <a:ext cx="53949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· Numărul saltelelor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Structură: arată că resursa există, nu că ajunge la pacientul potrivit.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108960"/>
            <a:ext cx="539496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· Scorul completat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Măsoară o rubrică; ghidurile recomandă să nu se folosească scoruri în spitale.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B. Rata căderilor se urmărește în continuare, dar ciclul se judecă după proces.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INSTRUMENTUL · CELE 100 DE PUNCTE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Împărțiți 100 de puncte între cinci măsuri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Instruirea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4630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pragul: 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084832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8483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0848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Saltelele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20848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pragul: 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706624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0662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7066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Asistentul de noapte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27066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pragul: 50, tot sau nimic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3328416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2841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328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mâinilor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3284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pragul: 15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950208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50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395020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în fișa de internare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9502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pragul: 15, cu instruirea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echipă, cinci minute. Pe ecran: alocarea medie a grupei și profilul cel mai apropiat.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594360" y="5394960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3949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sacrificat fără să vă dați seama?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732520" y="14630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4630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4389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100 DE PUNCTE · TREI PROFILURI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aduce fiecare alocare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0332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Escare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Eval. cădere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Eval. escare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12680" y="15087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442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efect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130552"/>
            <a:ext cx="10881360" cy="228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148840"/>
            <a:ext cx="10881360" cy="64008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 și echipamentele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924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12680" y="21488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744200" y="21488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Împărțit egal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10896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70332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29768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9204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7220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3232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9244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5256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012680" y="27889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744200" y="2788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94360" y="3429000"/>
            <a:ext cx="10881360" cy="64008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 întâi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108960" y="3429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703320" y="3429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297680" y="3429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92040" y="3429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486400" y="3429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17220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13232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09244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05256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0012680" y="34290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744200" y="3429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9436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ipotetice, pe lună, după plan.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94360" y="48006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48006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„Împărțit egal” pierde cele mai multe puncte: 20 pe un post care nu se poate ocupa.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3 · PLANUL DE ÎMBUNĂTĂȚIRE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de trei luni pentru evaluarea riscului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721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417320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și valoarea inițială, din tablou.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2039112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939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039112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Obiectivul, cu țintă și termen.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2660904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15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660904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Schimbarea, întâi la scară mică, cu responsabilul ei.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" y="3282696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37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282696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Măsurătoarea: același numărător, același numitor, lunar.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3904488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9593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90448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Decizia: se păstrează, se modifică, se extinde sau se oprește.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94360" y="4617720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6177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Standardele ANMCS: obiective, valori inițiale și măsuri care permit evaluarea schimbării.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" y="5623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echipe își verifică reciproc măsurătoarea.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732520" y="14630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4630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32520" y="4389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3 · CE S-A ÎNTÂMPLAT DE FAPT ·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A în decembrie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26517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1945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19456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multifactorială: 36 din 40 de dosare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63040"/>
            <a:ext cx="26517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219456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 raportate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63040"/>
            <a:ext cx="26517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00200"/>
            <a:ext cx="21945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19456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escară nouă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61120" y="1463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463040"/>
            <a:ext cx="26517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600200"/>
            <a:ext cx="21945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9720" y="2468880"/>
            <a:ext cx="219456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mâinilor: 94 din 120 de momente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Alocarea echipei: apropiată de „Procesul întâi”. Modelul prevedea 95% și 80%: un model făcut dinainte este mai optimist decât o secție reală.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era în plan: erorile de medicație raportate au crescut de la una pe lună la patru pe lună.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CU VOTUL SĂLII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confirmat decembrie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53568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24028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schimbat repede, în direcția dorită, cum se aștepta la a doua decizie.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12920" y="150876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2920" y="1508760"/>
            <a:ext cx="353568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8952" y="224028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scăzut puțin; cu numere atât de mici, scăderea nu se deosebește de întâmplare.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31480" y="150876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1480" y="1508760"/>
            <a:ext cx="353568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7512" y="16916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Erorile raportate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7512" y="224028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mai probabil, efectul raportării încurajate, nu o înrăutățire a îngrijirii.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2062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„Oamenii și echipamentele”: probabil mai puține căderi, dar procesele neschimbate și efectul pierdut la încheierea postului temporar.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3 · O VARIANTĂ A CAZULUI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B: erorile raportate cresc de la una la cinci pe lună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o campanie de raportare fără teamă. Ce concluzie trage directorul?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899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899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Siguranța medicației s-a înrăutățit; campania trebuie oprită.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2852928"/>
            <a:ext cx="77724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141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141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852928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Raportarea s-a schimbat: seria nu se compară înainte și după, iar siguranța se judecă printr-o a doua sursă și prin analiza fiecărui eveniment.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4105656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382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382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05656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Erorile s-au înmulțit de cinci ori; personalul trebuie sancționat.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901184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0337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33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901184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 nu mai are valoare și se abandonează.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732520" y="18288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182880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47548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3 · EXPLICAȚIA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Raportarea s-a schimbat, nu neapărat siguranța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53949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fiecărui eveniment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1945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Standardele ANMCS: evenimentele adverse și incidentele near miss se raportează și se analizează; concluziile previn recurența.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63040"/>
            <a:ext cx="53949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sursă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Observarea directă a administrărilor sau citirea dosarelor permite comparația pe care seria raportărilor nu o mai permite.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validarea românească a anchetei ECDC, culegătorii găsiseră 70,0% dintre infecțiile identificate de echipa de validare.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B. Oprirea campaniei sau sancțiunea ar scădea raportarea, nu erorile.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 · SECȚIA A, DE LA SEPTEMBRIE LA DECEMBRIE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câți? Raportat la fel?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47472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un pacient: ce se uită.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63040"/>
            <a:ext cx="347472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194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 secție: cât de des; se compară rate, definite și raportate la fel.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63040"/>
            <a:ext cx="347472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Ciclul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face cu cifra: obiectiv, valoare inițială, aceeași măsurătoare.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dimineață: în fața unui număr pe un tablou, întrebați „din câți?” și „raportat la fel?”.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Portofoliul: individual, acasă, până sâmbătă, 31 octombrie 2026, ora 22:00.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822960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BILETUL DE IEȘIRE · ANONIM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474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te-am pierdut?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ai putea folosi mâine?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549640" y="23774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3774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53035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apar pe ecran, anonim.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4 - Evaluarea calității îngrijirilor: listă de verificare, indicatori și măsuri de îmbunătățire</dc:title>
  <dc:subject>PptxGenJS Presentation</dc:subject>
  <dc:creator>Conf. Univ. Dr. Adrian Pana</dc:creator>
  <cp:lastModifiedBy>Conf. Univ. Dr. Adrian Pana</cp:lastModifiedBy>
  <cp:revision>1</cp:revision>
  <dcterms:created xsi:type="dcterms:W3CDTF">2026-10-25T10:41:07Z</dcterms:created>
  <dcterms:modified xsi:type="dcterms:W3CDTF">2026-10-25T10:41:07Z</dcterms:modified>
  <cp:keywords>sursa_amprenta=b999c58f9525b9e3; proiectie</cp:keywords>
</cp:coreProperties>
</file>