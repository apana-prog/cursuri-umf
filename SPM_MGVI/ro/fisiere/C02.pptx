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2  ·  SĂNĂTATE PUBLICĂ ȘI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știm cât de sănătoasă este o populație?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Mortalitate, morbiditate, povara bolii: DALY, QALY, HALE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" y="448056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situații ale unui medic tânăr: două țări, garda de neurologie, cabinetul de familie, comisia care decide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Medicină, anul 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CURSUL TRECUT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facem cu răspunsurile dumneavoastră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" cy="29260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1945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Citim toate răspunsurile de la biletul de ieșire al primului curs.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3640" y="1965960"/>
            <a:ext cx="64008" cy="2926080"/>
          </a:xfrm>
          <a:prstGeom prst="rect">
            <a:avLst/>
          </a:prstGeom>
          <a:solidFill>
            <a:srgbClr val="27D3BE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21945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1945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Alegem două modificări și le aplicăm de la cursul următor.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două modificări vor apărea și pe pagina disciplinei.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DIN TITLU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țări, aceeași durată a vieții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ani, la naștere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LETONIA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76,4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62940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ani, la naștere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Trăiesc la fel de mult. Trăiesc la fel de bine?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speranța de viață la naștere, 2024.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ÎNTREBĂRI,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dintre cele două țări este mai sănătoasă?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12064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ÎNTÂI, UN CUVÂNT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trebui să măsurăm ca să știm cât de sănătoasă este o populație?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53212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550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APOI, UN VOT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560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speranță de viață, dar una dintre țări are mult mai mulți ani de viață sănătoasă raportați.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3840480"/>
            <a:ext cx="4892040" cy="402336"/>
          </a:xfrm>
          <a:prstGeom prst="roundRect">
            <a:avLst>
              <a:gd name="adj" fmla="val 20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384048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țară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4315968"/>
            <a:ext cx="4892040" cy="402336"/>
          </a:xfrm>
          <a:prstGeom prst="roundRect">
            <a:avLst>
              <a:gd name="adj" fmla="val 20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4315968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țară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4791456"/>
            <a:ext cx="4892040" cy="402336"/>
          </a:xfrm>
          <a:prstGeom prst="roundRect">
            <a:avLst>
              <a:gd name="adj" fmla="val 2045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479145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poate spune din aceste cifre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poate spune din aceste cifre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760720" cy="3566160"/>
          </a:xfrm>
          <a:prstGeom prst="roundRect">
            <a:avLst>
              <a:gd name="adj" fmla="val 2308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5760720" cy="45720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Țara și anul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de viață sănătoasă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Marcaj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5577840" cy="7772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2024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65,0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66360" y="2468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 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Letonia, 2024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52,5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3337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2023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8036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59,2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166360" y="4206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= ruptură de serie · e = valoare estimată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1828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Seria României are o ruptură: se schimbă felul în care se măsoară, nu sănătatea.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766560" y="3520440"/>
            <a:ext cx="4800600" cy="1874520"/>
          </a:xfrm>
          <a:prstGeom prst="roundRect">
            <a:avLst>
              <a:gd name="adj" fmla="val 439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40880" y="361188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 vine dintr-o singură întrebare de auto-evaluare: cât ați fost limitat, din cauza sănătății, în activitățile obișnuite?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anii de viață sănătoasă la naștere, ancheta EU-SILC.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Nicio cifră nu spune singură cât de sănătoasă este o populație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377440"/>
            <a:ext cx="566928" cy="566928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moare, și la ce vârstă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63440" y="2377440"/>
            <a:ext cx="566928" cy="566928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bolnav, și cât de grav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0" y="2377440"/>
            <a:ext cx="566928" cy="566928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combină cele două într-o singură măsură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Parcurgem cele trei informații în această ordine. La sfârșit, revenim la cele două țări.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MOARE · MORTALITATEA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 rot="-120000">
            <a:off x="822960" y="1097280"/>
            <a:ext cx="6126480" cy="44805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 rot="-120000">
            <a:off x="12344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EDIȚIA DE DIMINEAȚĂ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-120000">
            <a:off x="1234440" y="1828800"/>
            <a:ext cx="5303520" cy="2286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-120000">
            <a:off x="1234440" y="20116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moare mai mult decât în România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 rot="-120000">
            <a:off x="1234440" y="4251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citată: rata brută a mortalității.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498080" y="3840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întrebare ați pune, înainte de a-l crede?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 construit pentru exercițiu; nu provine dintr-o publicație.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MOARE · RATA BRUTĂ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brută: o medie ponderată, nu un risc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a mortalității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într-un an ÷ populația medie × 1 000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 la „câte decese, raportat la mărimea populației”, nu la „cât de mare e riscul unei persoane de o anumită vârstă”.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Populație tânără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148840"/>
            <a:ext cx="2551176" cy="731520"/>
          </a:xfrm>
          <a:prstGeom prst="rect">
            <a:avLst/>
          </a:prstGeom>
          <a:solidFill>
            <a:srgbClr val="ECEAE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52160" y="214884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tineri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03336" y="2148840"/>
            <a:ext cx="2267712" cy="731520"/>
          </a:xfrm>
          <a:prstGeom prst="rect">
            <a:avLst/>
          </a:prstGeom>
          <a:solidFill>
            <a:srgbClr val="9B7EF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03336" y="214884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671048" y="2148840"/>
            <a:ext cx="850392" cy="731520"/>
          </a:xfrm>
          <a:prstGeom prst="rect">
            <a:avLst/>
          </a:prstGeom>
          <a:solidFill>
            <a:srgbClr val="FF475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5216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Populație îmbătrânită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474720"/>
            <a:ext cx="1133856" cy="731520"/>
          </a:xfrm>
          <a:prstGeom prst="rect">
            <a:avLst/>
          </a:prstGeom>
          <a:solidFill>
            <a:srgbClr val="ECEAE4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52160" y="3474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tineri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86016" y="3474720"/>
            <a:ext cx="2551176" cy="731520"/>
          </a:xfrm>
          <a:prstGeom prst="rect">
            <a:avLst/>
          </a:prstGeom>
          <a:solidFill>
            <a:srgbClr val="9B7EF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86016" y="347472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37192" y="3474720"/>
            <a:ext cx="1984248" cy="731520"/>
          </a:xfrm>
          <a:prstGeom prst="rect">
            <a:avLst/>
          </a:prstGeom>
          <a:solidFill>
            <a:srgbClr val="FF4757"/>
          </a:solidFill>
          <a:ln w="19050">
            <a:solidFill>
              <a:srgbClr val="F6F5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37192" y="3474720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48920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riscuri pe vârste, altă structură pe vârste: altă rată brută.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5216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Schemă: proporțiile sunt ilustrative.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REAL · ROMÂNIA ȘI CROAȚIA,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Croația pare mai afectată, până o comparăm corect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(la 1 000 de locuitori)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86857"/>
            <a:ext cx="1554480" cy="228806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29657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12,8‰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697480"/>
            <a:ext cx="1554480" cy="237744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13,3‰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Croația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074920"/>
            <a:ext cx="429768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23560" y="3566160"/>
            <a:ext cx="822960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49240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ordinea se inversează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(la 100 000 de locuitori)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23760" y="2697480"/>
            <a:ext cx="1554480" cy="23774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4944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1 376,1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0" y="2854352"/>
            <a:ext cx="1554480" cy="2220568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0" y="2397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1 285,3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0" y="5148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Croația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40880" y="5074920"/>
            <a:ext cx="429768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Persoanele de 65 de ani și peste: 19,7% din populația României, 22,7% din cea a Croației.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rata brută a mortalității și rata standardizată (standardul european), 2023.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„rata pe care ar avea-o o țară dacă populația ei ar avea aceeași vârstă ca a alteia”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Alegem un standard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81528" y="3063240"/>
            <a:ext cx="34747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2900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Ponderea fiecărei grupe de vârstă în standard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6168" y="3063240"/>
            <a:ext cx="34747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6364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9224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grupei × ponderea ei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50808" y="3063240"/>
            <a:ext cx="34747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098280" y="2514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2688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2688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Adunăm produsele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94360" y="425196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Exemplu, cu valori construite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A (tânără)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rată brută 710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standardizată 1 200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68680" y="5303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B (îmbătrânită)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754880" y="5303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rată brută 1 540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72400" y="5303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standardizată 1 100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 STANDARDIZATE · ATENȚIE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 standard, altă ordine, când ratele se încrucișează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Ratele pe vârste (la 100 000)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475488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tineri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0" y="2816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0" y="28163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4381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34381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0" y="343814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4343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are riscul mai mare la tineri, X la vârstnici.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standardizată, după standardul ales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103120"/>
            <a:ext cx="571500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 tânăr (0,9 și 0,1)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X  590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 670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pare mai afectată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852160" y="3886200"/>
            <a:ext cx="5715000" cy="1600200"/>
          </a:xfrm>
          <a:prstGeom prst="roundRect">
            <a:avLst>
              <a:gd name="adj" fmla="val 514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 îmbătrânit (0,5 și 0,5)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8076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X  2 550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50392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  2 150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80760" y="4983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ordinea se inversează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MOARE · FĂRĂ RATE PE VÂRSTE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decese ar fi fost de așteptat?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4720" cy="3063240"/>
          </a:xfrm>
          <a:prstGeom prst="roundRect">
            <a:avLst>
              <a:gd name="adj" fmla="val 268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Orașul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60 000 de locuitori sub 65 de ani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40 000 de locuitori de 65 de ani și peste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1 452 de decese înregistrate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60520" y="3108960"/>
            <a:ext cx="457200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09160" y="17830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ratele țării (2 și 30 la 1 000)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120 sub 65 de ani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1 200 la 65 de ani și peste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total 1 320 de decese așteptate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6760" y="3108960"/>
            <a:ext cx="457200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915400" y="1783080"/>
            <a:ext cx="2651760" cy="3063240"/>
          </a:xfrm>
          <a:prstGeom prst="roundRect">
            <a:avLst>
              <a:gd name="adj" fmla="val 3103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15400" y="1965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1,10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9098280" y="3383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1 452 ÷ 1 320: cu 10% mai multe decese decât la ratele țării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standardizat al mortalității (SMR) = decese observate ÷ decese așteptate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ADEVĂRAT SAU FALS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AFIRMAȚII,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Țara X are rata brută mai mare decât țara Y, deci locuitorii ei au un risc de deces mai mare.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770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87752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raport standardizat al mortalității peste unu înseamnă mai multe decese decât la ratele populației de referință.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483864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6667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83864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 infantilă raportează decesele sub un an la populația totală.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79976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5628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562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79976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Standardizarea directă cere ratele pe vârste ale populațiilor comparate.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5276088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4589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276088"/>
            <a:ext cx="9829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Rapoartele standardizate ale mortalității a două județe se compară direct.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Fals, adevărat, fals, adevărat, fals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Rata brută depinde de structura pe vârste.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76148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5786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Peste unu: exces de decese față de referință.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465576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648456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Decesele sub un an se raportează la născuții vii.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352544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53542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35254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Fără ratele pe vârste, metoda directă nu se poate aplica.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5239512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542239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2395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Fiecare raport are alt numitor; pentru comparație, standardizarea directă.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MOARE · ANII PIERDUȚI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pacienți în aceeași noapte: câți ani s-au pierdut înainte de 75?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 tânăr, accident rutier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4732020" cy="548640"/>
          </a:xfrm>
          <a:prstGeom prst="rect">
            <a:avLst/>
          </a:prstGeom>
          <a:solidFill>
            <a:srgbClr val="ECEAE4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737860" y="2148840"/>
            <a:ext cx="3154680" cy="548640"/>
          </a:xfrm>
          <a:prstGeom prst="rect">
            <a:avLst/>
          </a:prstGeom>
          <a:solidFill>
            <a:srgbClr val="FF4757">
              <a:alpha val="65000"/>
            </a:srgbClr>
          </a:solidFill>
          <a:ln w="19050">
            <a:solidFill>
              <a:srgbClr val="FF4757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 la 45 de ani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750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de ani pierduți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Femeie foarte vârstnică, accident vascular cerebral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8412480" cy="548640"/>
          </a:xfrm>
          <a:prstGeom prst="rect">
            <a:avLst/>
          </a:prstGeom>
          <a:solidFill>
            <a:srgbClr val="ECEAE4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 la 80 de ani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ani pierduți: a depășit vârsta-limită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92540" y="1600200"/>
            <a:ext cx="27432" cy="2926080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5246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de ani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deces la 25 de ani înseamnă 50 de ani pierduți, unul la 70 de ani, 5: primul cântărește de zece ori mai mult.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MOARE · DECESE EVITABILE, SUB 75 DE ANI,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fi evitat prevenția, ce ar fi evitat îngrijirea la timp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Prevenibile (prevenție, sănătate publică)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80360" y="2249424"/>
            <a:ext cx="5669280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41080" y="22494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264,0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614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Uniunea Europeană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60" y="2816352"/>
            <a:ext cx="3240509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2309" y="28163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150,9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trei sferturi peste media 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Tratabile (îngrijire medicală la timp)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80360" y="4261104"/>
            <a:ext cx="4288467" cy="329184"/>
          </a:xfrm>
          <a:prstGeom prst="roundRect">
            <a:avLst>
              <a:gd name="adj" fmla="val 1388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60267" y="42611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199,7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7731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Uniunea Europeană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80360" y="4828032"/>
            <a:ext cx="1863991" cy="329184"/>
          </a:xfrm>
          <a:prstGeom prst="roundRect">
            <a:avLst>
              <a:gd name="adj" fmla="val 13889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35791" y="4828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4297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de două ori media 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 standardizate, la 100 000 de locuitori, lista comună OCDE–Eurostat.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mortalitatea evitabilă (hlth_cd_apr), 2023.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+ COLEGUL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VOT, UN MINUT DE DISCUȚIE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bărbat de cincizeci și cinci de ani moare de cancer pulmonar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lista OCDE–Eurostat, decesul lui este: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Prevenibil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2044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Tratabil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7220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Ambele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961120" y="27432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9828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Niciunul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minut de discuție cu colegul de bancă, apoi votul.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Prevenibil: se clasifică după cauză și vârstă, nu după istoric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21031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Prevenibil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cancerul pulmonar, codurile C33–C34, vârstele 0–74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12080" y="196596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Clasificarea nu spune că pacientul nu ar fi putut primi tratament: spune că astfel de decese se evită mai ales prin prevenție primară, în primul rând prin reducerea fumatului.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12080" y="3931920"/>
            <a:ext cx="635508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40680" y="39319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clasifică după cauza decesului și vârsta la deces, nu după istoricul pacientului.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lista comună OCDE–Eurostat a mortalității evitabile.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86384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CLASAMENT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ORDONAȚI,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omoară cei mai mulți români?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Ordonați cele cinci cauze după numărul deceselor din România, de la cele mai multe la cele mai puține.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6060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Cancerul pulmonar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3282696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28269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Cardiopatia ischemică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3959352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95935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Ciroza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6360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Accidentul vascular cerebral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5312664"/>
            <a:ext cx="67665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531266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Cardiopatia hipertensivă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863840" y="31089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cauze, un singur clasament.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· GBD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mor românii: două boli cardiovasculare în frunte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Cardiopatia ischemică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520440" y="1837944"/>
            <a:ext cx="4572000" cy="493776"/>
          </a:xfrm>
          <a:prstGeom prst="roundRect">
            <a:avLst>
              <a:gd name="adj" fmla="val 925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83880" y="183794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56 400  (22,9%)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Accidentul vascular cerebral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2569464"/>
            <a:ext cx="3574915" cy="493776"/>
          </a:xfrm>
          <a:prstGeom prst="roundRect">
            <a:avLst>
              <a:gd name="adj" fmla="val 925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86795" y="256946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44 100  (17,9%)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Cardiopatia hipertensivă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20440" y="3300984"/>
            <a:ext cx="1134894" cy="493776"/>
          </a:xfrm>
          <a:prstGeom prst="roundRect">
            <a:avLst>
              <a:gd name="adj" fmla="val 9259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46774" y="330098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14 000  (5,7%)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Cancerul pulmonar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4032504"/>
            <a:ext cx="843064" cy="493776"/>
          </a:xfrm>
          <a:prstGeom prst="roundRect">
            <a:avLst>
              <a:gd name="adj" fmla="val 9259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54944" y="403250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10 400  (4,2%)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Ciroza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20440" y="4764024"/>
            <a:ext cx="818745" cy="493776"/>
          </a:xfrm>
          <a:prstGeom prst="roundRect">
            <a:avLst>
              <a:gd name="adj" fmla="val 9259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30625" y="4764024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10 100  (4,1%)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5532120"/>
            <a:ext cx="1097280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Bolile sistemului circulator: 54,0% dintre decesele din România, în 2023 (Eurostat). Valorile GBD sunt estimări de model.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IHME, Global Burden of Disease Study 2023, România, 2023; Eurostat, decese pe cauze, 2023.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SUFERĂ · MORBIDITATEA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familie nou venit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" cy="214884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965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pacienți cu diabet aveți acum pe listă?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33375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3337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prevalența: cazurile existente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2240280"/>
          </a:xfrm>
          <a:prstGeom prst="roundRect">
            <a:avLst>
              <a:gd name="adj" fmla="val 367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63640" y="1828800"/>
            <a:ext cx="64008" cy="214884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cazuri noi apar în fiecare an?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583680" y="33375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0" y="33375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incidența: cazurile noi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34340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Într-o comunitate, 400 de persoane aflate la risc sunt urmărite un an. Apar 12 cazuri noi: 12 ÷ 400 = 3% într-un an.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Prevalența: câți oameni au boala acum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20240" y="1874520"/>
            <a:ext cx="274320" cy="82296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63040" y="1783080"/>
            <a:ext cx="1188720" cy="164592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965960" y="2697480"/>
            <a:ext cx="182880" cy="182880"/>
          </a:xfrm>
          <a:prstGeom prst="ellipse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28346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272A38"/>
          </a:solidFill>
          <a:ln w="254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77824" y="3886200"/>
            <a:ext cx="5010912" cy="1581912"/>
          </a:xfrm>
          <a:prstGeom prst="rect">
            <a:avLst/>
          </a:prstGeom>
          <a:solidFill>
            <a:srgbClr val="27D3BE">
              <a:alpha val="75000"/>
            </a:srgbClr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120640" y="5577840"/>
            <a:ext cx="457200" cy="45720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4688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robinet: cazurile noi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(incidența)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nivelul apei: prevalența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scurgere: vindecare sau deces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920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„câți oameni au boala acum”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persoanelor care au o boală sau o caracteristică, la un moment dat sau într-un interval.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4480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boală rară, dar de lungă durată, poate avea o prevalență mare.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SUFERĂ · PREVALENȚA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≈ cazuri noi × durata bolii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783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≈ cazuri noi pe an × durata medie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Condiții: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429000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429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populație stabilă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087368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873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prevalență constantă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745736"/>
            <a:ext cx="566928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74573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prevalență mică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noi: 0,01 pe persoană-an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651760"/>
            <a:ext cx="1737360" cy="22860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0" y="2194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0,01 × 10 = 10%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0" y="5010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durează 10 ani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92640" y="4480560"/>
            <a:ext cx="1737360" cy="4572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1832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0,01 × 2 = 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0" y="5010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tratament: 2 ani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4937760"/>
            <a:ext cx="4572000" cy="2286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scade de cinci ori, fără ca vreun caz nou să fie evitat: s-a schimbat numai durata.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3816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2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PARADOXUL TRATAMENTULUI EFICACE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crește. Programul a eșuat?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577840" cy="3566160"/>
          </a:xfrm>
          <a:prstGeom prst="roundRect">
            <a:avLst>
              <a:gd name="adj" fmla="val 2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infecție cronică, tratabilă, dar nevindecabilă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Prevenția reduce incidența cu 40%: cazurile noi se înmulțesc cu 0,6.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Tratamentul îi face pe bolnavi să trăiască de cinci ori mai mult: durata se înmulțește cu 5.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0,6 × 5 = 3: prevalența, de trei ori mai mare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ziar titrează: „programul de control a eșuat”.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4160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bancă, în două propoziții: explicația pe care i-ați da-o unui jurnalist.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SUFERĂ · UN PACIENT, MAI MULTE BOLI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cu mai multe boli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internat pentru pneumonie are și diabet, și insuficiență cardiacă.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42316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4231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COMORBIDITATE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2971800"/>
            <a:ext cx="1417320" cy="1051560"/>
          </a:xfrm>
          <a:prstGeom prst="ellipse">
            <a:avLst/>
          </a:prstGeom>
          <a:solidFill>
            <a:srgbClr val="FF4757"/>
          </a:solidFill>
          <a:ln w="1905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51560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79192" y="2971800"/>
            <a:ext cx="1417320" cy="1051560"/>
          </a:xfrm>
          <a:prstGeom prst="ellipse">
            <a:avLst/>
          </a:prstGeom>
          <a:solidFill>
            <a:srgbClr val="F9F8F5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79192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6824" y="2971800"/>
            <a:ext cx="1417320" cy="1051560"/>
          </a:xfrm>
          <a:prstGeom prst="ellipse">
            <a:avLst/>
          </a:prstGeom>
          <a:solidFill>
            <a:srgbClr val="F9F8F5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06824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insuf. cardiacă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pornește de la o boală de referință (boala-index): orice altă boală care coexistă cu ea.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24028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37960" y="242316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37960" y="24231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MULTIMORBIDITATE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971800"/>
            <a:ext cx="1417320" cy="10515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20840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pneumonie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48472" y="2971800"/>
            <a:ext cx="1417320" cy="10515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48472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76104" y="2971800"/>
            <a:ext cx="1417320" cy="10515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76104" y="297180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insuf. cardiacă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42062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sau mai multe afecțiuni de lungă durată la aceeași persoană, fără o boală de referință.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SUFERĂ · CE ȘTIM ȘI CE NU ȘTIM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nu știe că are boala nu o poate declara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DECLARAT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15,7%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 arterială, persoane de 15 ani și peste, România, 2019 (ancheta EHIS)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45,1%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6629400" y="37490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 arterială, adulți din România (studiul SEPHAR III, cu tensiunea măsurată)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Diabet declarat în România: 5,0%. Media UE: 7,4% pentru diabet, 21,9% pentru hipertensiune.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Cifrele nu se compară direct, dar distanța are o explicație simplă. Același lucru ne face prudenți cu anii de viață sănătoasă de la început.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GĂSIM DATELE · UN 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sursă folosiți?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691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 mortalitatea evitabilă din România cu media UE. Unde căutați?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063240"/>
            <a:ext cx="73152" cy="128016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TEMPO a Institutului Național de Statistică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județe, sexe, grupe de vârstă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73152" cy="12801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seturi comparabile pentru statele UE și AELS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5720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617720"/>
            <a:ext cx="73152" cy="12801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GBD Compare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estimări de model, 204 de țări și teritorii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63640" y="4617720"/>
            <a:ext cx="73152" cy="12801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Supravegherea bolilor transmisibile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Institutul Național de Sănătate Publică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CALITATEA DATELOR · CINE COMPLETEAZĂ CERTIFICATUL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care face statisticile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rot="-72000">
            <a:off x="822960" y="1737360"/>
            <a:ext cx="5303520" cy="40233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 rot="-72000">
            <a:off x="11430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CERTIFICAT CONSTATATOR AL DECESULUI · EXTRAS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-72000">
            <a:off x="1143000" y="2377440"/>
            <a:ext cx="466344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 rot="-72000">
            <a:off x="1143000" y="2651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Cauza directă: insuficiență cardiacă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-72000">
            <a:off x="1143000" y="356616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 rot="-72000">
            <a:off x="1325880" y="3566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Cauza inițială: boala care a declanșat șirul evenimentelor ________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Scenă reconstituită; certificatul este fictiv.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probleme care se repetă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subînregistrarea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codificarea incorectă a cauzei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definiții diferite între țări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întârzierea publicării: ultimul an cu cauze de deces este 2023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codurile nespecifice, fără boala care a declanșat șirul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certificatele individuale se construiesc toate statisticile.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ÎN UNIUNEA EUROPEANĂ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este cea mai mare distanță față de media 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2628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321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România ÷ 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74429" y="1920240"/>
            <a:ext cx="27432" cy="36118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920240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Speranța de viață la naștere (ani), 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76,5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58258" y="2011680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21240" y="1920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5,0 ani mai puțin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441448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441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de viață sănătoasă (Eurostat), 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4414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65,0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32120" y="2441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65,2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42005" y="2532888"/>
            <a:ext cx="274320" cy="274320"/>
          </a:xfrm>
          <a:prstGeom prst="ellipse">
            <a:avLst/>
          </a:prstGeom>
          <a:solidFill>
            <a:srgbClr val="585A6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2124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ruptură de serie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962656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2962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a mortalității, 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29626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1 376,1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29626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963,4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61956" y="3054096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9626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3483864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3483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 prevenibilă, 2023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34838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264,0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32120" y="34838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150,9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623384" y="3575304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21240" y="34838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circa trei sferturi peste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4005072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1520" y="4005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 tratabilă, 2023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40050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199,7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32120" y="4005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86,8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15394" y="4096512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921240" y="4005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de două ori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" y="4526280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152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 infantilă, 2024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26280" y="4526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6,6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532120" y="4526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3,5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819108" y="4617720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92124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de două ori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4360" y="5047488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31520" y="5047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Cheltuieli cu sănătatea (% din PIB), 2023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26280" y="5047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5,8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532120" y="5047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9,9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951327" y="5138928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921240" y="50474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 sub media UE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Anii de viață sănătoasă nu se folosesc nici pentru, nici împotriva celorlalte constatări.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9436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 (indicatorii din tabel). Linia verticală: media UE; punctul roșu: România mai departe de medie, în sensul mai rău.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13816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GBD COMPARE · 5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LUCRU INDIVIDUAL, PE TELEFON SAU LAPTOP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Povara bolii, în mâinile dumneavoastră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892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Selectați România.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7340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78608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Anul cel mai recent, ambele sexe, toate vârstele.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419856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5753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419856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Măsura: DALY.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261104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4165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261104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Identificați primele cinci cauze.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5102352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2578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10235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 cu Germania: ce cauze apar într-o țară și nu apar în cealaltă?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Garda de neurologie: ce a pierdut pacientul?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 de patruzeci și cinci de ani, accident vascular cerebral. Supraviețuiește, cu hemipareză și afazie, și nu își mai poate relua munca. Mortalitatea nu îl numără: nu a murit. Morbiditatea îl numără o singură dată, ca pe oricine.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0936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30936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„anii de viață sănătoasă pierduți, prin deces prematur sau prin boală”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385876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3858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pierduți prin deces: decese × speranța de viață de referință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481888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48188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4709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 trăiți cu boală: durata × ponderea dizabilității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 = YLL + YLD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SCALĂ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ESTIMARE,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grea este pierderea completă a auzului?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34924" cy="5029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48740" y="3017520"/>
            <a:ext cx="534924" cy="502920"/>
          </a:xfrm>
          <a:prstGeom prst="rect">
            <a:avLst/>
          </a:prstGeom>
          <a:solidFill>
            <a:srgbClr val="32CCB9"/>
          </a:solidFill>
          <a:ln w="12700">
            <a:solidFill>
              <a:srgbClr val="32CCB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874520" y="3017520"/>
            <a:ext cx="534924" cy="502920"/>
          </a:xfrm>
          <a:prstGeom prst="rect">
            <a:avLst/>
          </a:prstGeom>
          <a:solidFill>
            <a:srgbClr val="3EC4B3"/>
          </a:solidFill>
          <a:ln w="12700">
            <a:solidFill>
              <a:srgbClr val="3EC4B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400300" y="3017520"/>
            <a:ext cx="534924" cy="502920"/>
          </a:xfrm>
          <a:prstGeom prst="rect">
            <a:avLst/>
          </a:prstGeom>
          <a:solidFill>
            <a:srgbClr val="49BDAE"/>
          </a:solidFill>
          <a:ln w="12700">
            <a:solidFill>
              <a:srgbClr val="49BDA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26080" y="3017520"/>
            <a:ext cx="534924" cy="502920"/>
          </a:xfrm>
          <a:prstGeom prst="rect">
            <a:avLst/>
          </a:prstGeom>
          <a:solidFill>
            <a:srgbClr val="54B6A8"/>
          </a:solidFill>
          <a:ln w="12700">
            <a:solidFill>
              <a:srgbClr val="54B6A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51860" y="3017520"/>
            <a:ext cx="534924" cy="502920"/>
          </a:xfrm>
          <a:prstGeom prst="rect">
            <a:avLst/>
          </a:prstGeom>
          <a:solidFill>
            <a:srgbClr val="60AEA3"/>
          </a:solidFill>
          <a:ln w="12700">
            <a:solidFill>
              <a:srgbClr val="60AEA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977640" y="3017520"/>
            <a:ext cx="534924" cy="502920"/>
          </a:xfrm>
          <a:prstGeom prst="rect">
            <a:avLst/>
          </a:prstGeom>
          <a:solidFill>
            <a:srgbClr val="6BA79D"/>
          </a:solidFill>
          <a:ln w="12700">
            <a:solidFill>
              <a:srgbClr val="6BA79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03420" y="3017520"/>
            <a:ext cx="534924" cy="502920"/>
          </a:xfrm>
          <a:prstGeom prst="rect">
            <a:avLst/>
          </a:prstGeom>
          <a:solidFill>
            <a:srgbClr val="779F98"/>
          </a:solidFill>
          <a:ln w="12700">
            <a:solidFill>
              <a:srgbClr val="779F9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29200" y="3017520"/>
            <a:ext cx="534924" cy="502920"/>
          </a:xfrm>
          <a:prstGeom prst="rect">
            <a:avLst/>
          </a:prstGeom>
          <a:solidFill>
            <a:srgbClr val="829893"/>
          </a:solidFill>
          <a:ln w="12700">
            <a:solidFill>
              <a:srgbClr val="82989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554980" y="3017520"/>
            <a:ext cx="534924" cy="502920"/>
          </a:xfrm>
          <a:prstGeom prst="rect">
            <a:avLst/>
          </a:prstGeom>
          <a:solidFill>
            <a:srgbClr val="8D918D"/>
          </a:solidFill>
          <a:ln w="12700">
            <a:solidFill>
              <a:srgbClr val="8D918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534924" cy="502920"/>
          </a:xfrm>
          <a:prstGeom prst="rect">
            <a:avLst/>
          </a:prstGeom>
          <a:solidFill>
            <a:srgbClr val="998988"/>
          </a:solidFill>
          <a:ln w="12700">
            <a:solidFill>
              <a:srgbClr val="99898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06540" y="3017520"/>
            <a:ext cx="534924" cy="502920"/>
          </a:xfrm>
          <a:prstGeom prst="rect">
            <a:avLst/>
          </a:prstGeom>
          <a:solidFill>
            <a:srgbClr val="A48282"/>
          </a:solidFill>
          <a:ln w="12700">
            <a:solidFill>
              <a:srgbClr val="A4828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132320" y="3017520"/>
            <a:ext cx="534924" cy="502920"/>
          </a:xfrm>
          <a:prstGeom prst="rect">
            <a:avLst/>
          </a:prstGeom>
          <a:solidFill>
            <a:srgbClr val="AF7B7D"/>
          </a:solidFill>
          <a:ln w="12700">
            <a:solidFill>
              <a:srgbClr val="AF7B7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58100" y="3017520"/>
            <a:ext cx="534924" cy="502920"/>
          </a:xfrm>
          <a:prstGeom prst="rect">
            <a:avLst/>
          </a:prstGeom>
          <a:solidFill>
            <a:srgbClr val="BB7378"/>
          </a:solidFill>
          <a:ln w="12700">
            <a:solidFill>
              <a:srgbClr val="BB737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183880" y="3017520"/>
            <a:ext cx="534924" cy="502920"/>
          </a:xfrm>
          <a:prstGeom prst="rect">
            <a:avLst/>
          </a:prstGeom>
          <a:solidFill>
            <a:srgbClr val="C66C72"/>
          </a:solidFill>
          <a:ln w="12700">
            <a:solidFill>
              <a:srgbClr val="C66C7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709660" y="3017520"/>
            <a:ext cx="534924" cy="502920"/>
          </a:xfrm>
          <a:prstGeom prst="rect">
            <a:avLst/>
          </a:prstGeom>
          <a:solidFill>
            <a:srgbClr val="D2646D"/>
          </a:solidFill>
          <a:ln w="12700">
            <a:solidFill>
              <a:srgbClr val="D2646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235440" y="3017520"/>
            <a:ext cx="534924" cy="502920"/>
          </a:xfrm>
          <a:prstGeom prst="rect">
            <a:avLst/>
          </a:prstGeom>
          <a:solidFill>
            <a:srgbClr val="DD5D67"/>
          </a:solidFill>
          <a:ln w="12700">
            <a:solidFill>
              <a:srgbClr val="DD5D67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761220" y="3017520"/>
            <a:ext cx="534924" cy="502920"/>
          </a:xfrm>
          <a:prstGeom prst="rect">
            <a:avLst/>
          </a:prstGeom>
          <a:solidFill>
            <a:srgbClr val="E85662"/>
          </a:solidFill>
          <a:ln w="12700">
            <a:solidFill>
              <a:srgbClr val="E8566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287000" y="3017520"/>
            <a:ext cx="534924" cy="502920"/>
          </a:xfrm>
          <a:prstGeom prst="rect">
            <a:avLst/>
          </a:prstGeom>
          <a:solidFill>
            <a:srgbClr val="F44E5C"/>
          </a:solidFill>
          <a:ln w="12700">
            <a:solidFill>
              <a:srgbClr val="F44E5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12780" y="3017520"/>
            <a:ext cx="534924" cy="5029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2296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 deplină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3272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863840" y="4297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echivalent cu decesul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Ponderea dizabilității: un număr între 0 și 1, care exprimă pierderea de sănătate asociată unei stări.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număr ați da pierderii complete a auzului?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stare, două ponderi: de peste șase ori mai mare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solidFill>
            <a:srgbClr val="ECEAE4"/>
          </a:solidFill>
          <a:ln w="9525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87095" y="2514600"/>
            <a:ext cx="365760" cy="365760"/>
          </a:xfrm>
          <a:prstGeom prst="ellipse">
            <a:avLst/>
          </a:prstGeom>
          <a:solidFill>
            <a:srgbClr val="27D3BE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8455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0,033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695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ediția 2010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00934" y="2514600"/>
            <a:ext cx="365760" cy="365760"/>
          </a:xfrm>
          <a:prstGeom prst="ellipse">
            <a:avLst/>
          </a:prstGeom>
          <a:solidFill>
            <a:srgbClr val="FF4757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52294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0,215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86534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ediția 2013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Pierderea completă a auzului: după revizuirea descrierii stării, ponderea a crescut de la 0,033 la 0,215.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10515600" cy="1280160"/>
          </a:xfrm>
          <a:prstGeom prst="roundRect">
            <a:avLst>
              <a:gd name="adj" fmla="val 64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4709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Ponderile nu sunt măsurători fizice, ci judecăți de valoare agregate. Cine ar trebui să le stabilească: populația generală, care își imaginează starea, sau pacienții, care au trăit-o?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· DALY, GBD 2023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locul al treilea, o boală care nu ucide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2023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Cardiopatia ischemică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066544"/>
            <a:ext cx="2743200" cy="475488"/>
          </a:xfrm>
          <a:prstGeom prst="roundRect">
            <a:avLst>
              <a:gd name="adj" fmla="val 961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97880" y="20665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988 000 (12,9%)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Accidentul vascular cerebral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63240" y="2779776"/>
            <a:ext cx="2101824" cy="475488"/>
          </a:xfrm>
          <a:prstGeom prst="roundRect">
            <a:avLst>
              <a:gd name="adj" fmla="val 961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56504" y="27797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757 000 (9,9%)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4381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3493008"/>
            <a:ext cx="1066183" cy="475488"/>
          </a:xfrm>
          <a:prstGeom prst="roundRect">
            <a:avLst>
              <a:gd name="adj" fmla="val 9615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20863" y="34930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384 000 (5,0%)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Ciroza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4206240"/>
            <a:ext cx="813520" cy="475488"/>
          </a:xfrm>
          <a:prstGeom prst="roundRect">
            <a:avLst>
              <a:gd name="adj" fmla="val 9615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68200" y="4206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293 000 (3,8%)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8646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Cancerul pulmonar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63240" y="4919472"/>
            <a:ext cx="719118" cy="475488"/>
          </a:xfrm>
          <a:prstGeom prst="roundRect">
            <a:avLst>
              <a:gd name="adj" fmla="val 9615"/>
            </a:avLst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73798" y="49194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259 000 (3,4%)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623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Locurile 3–5: intervale de incertitudine care se suprapun; ordinea nu este sigură.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164592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838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Germania, 2023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83880" y="224028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Cardiopatia ischemică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Căderile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Lombalgia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Boala Alzheimer și alte demențe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Accidentul vascular cerebral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83880" y="4572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România domină bolile cardiovasculare și apare ciroza; în Germania urcă căderile și demența.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IHME, Global Burden of Disease Study 2023, ambele sexe, toate vârstele.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8096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GÂNDIȚI · PERECHI · PREZENTAȚI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 · 20 DE MINUTE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 pentru pacientul din gardă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7830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Accident vascular cerebral la 45 de ani. Trăiește 20 de ani cu o dizabilitate cu ponderea 0,3 și moare la 65 de ani. Vârsta de referință, pentru calcul: 80 de ani (valoare ipotetică).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Singuri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80360" y="3749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minute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37490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0" y="40233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749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perechi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29400" y="3749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minute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37490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21040" y="40233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7490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Împreună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378440" y="374904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minute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schimbă dacă ponderea dizabilității este mult mai mare? Dacă pacientul moare mult mai devreme?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943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REZOLVAREA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 = 15 + 6 = 21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659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65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57400" y="16916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80 − 65 = 15 ani pierduți prin deces prematur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971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26974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× 0,3 = 6 ani pierduți prin dizabilitate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80960" y="1691640"/>
            <a:ext cx="3886200" cy="1874520"/>
          </a:xfrm>
          <a:prstGeom prst="roundRect">
            <a:avLst>
              <a:gd name="adj" fmla="val 439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80960" y="1691640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variem datele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3434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Ponderea 0,8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434340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 = 20 × 0,8 = 16; DALY = 15 + 16 = 31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516636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51663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Moare la 50 de ani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840480" y="516636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 = 80 − 50 = 30; YLD = 5 × 0,3 = 1,5; DALY = 31,5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 de referință de 80 de ani este ipotetică: GBD nu folosește o vârstă-limită. Decesul prematur mută povara în anii pierduți prin deces.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VOT, PE TELEFON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pierde mai mult: fetița sau bărbatul?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0352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FETIȚA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ani. Dizabilitate ușoară, cu ponderea 0,1. Trăiește cu ea 70 de ani, până la 75 de ani.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BĂRBATUL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de ani. Dizabilitate gravă, cu ponderea 0,8. Trăiește cu ea 10 ani, până la 70 de ani.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 de referință: 80 de ani. Votați: cine are DALY mai mare?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REZOLVAREA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Bărbatul: 18. Fetița: 12.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83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Fetița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91840" y="17830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 = 70 × 0,1 = 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 = 80 − 75 = 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55480" y="1920240"/>
            <a:ext cx="1783080" cy="960120"/>
          </a:xfrm>
          <a:prstGeom prst="roundRect">
            <a:avLst>
              <a:gd name="adj" fmla="val 8571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55480" y="19202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200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Bărbatul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YLD = 10 × 0,8 = 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YLL = 80 − 70 = 10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55480" y="3337560"/>
            <a:ext cx="1783080" cy="960120"/>
          </a:xfrm>
          <a:prstGeom prst="roundRect">
            <a:avLst>
              <a:gd name="adj" fmla="val 8571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55480" y="33375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94360" y="4754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acest exemplu, gravitatea dizabilității și decesul mai timpuriu cântăresc mai mult decât durata lungă a unei dizabilități ușoare. Nu este o regulă: cu alte valori, concluzia se poate inversa.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SE CÂȘTIGĂ · COMISIA CARE DECIDE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Comisia: un medicament nou, scump, care schimbă calitatea vieții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QALY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anii de viață ponderați cu calitatea lor, de la 0 la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QALY = ani × utilitate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18288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Aveți de trăit 30 de ani cu o boală cronică, care vă limitează mult activitățile. Câți ani ați da, ca să trăiți restul în sănătate deplină?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răspunsurile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cedează 5 din cei 30 de ani dă stării de boală utilitatea (30 − 5) ÷ 30 = 0,83. Cine cedează 10 ani: 0,67. Răspunsurile diferă: utilitatea este o judecată de valoare.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construite.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CITIT ACASĂ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măsuri, trei întrebări diferite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65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65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boli produc cea mai mare pierdere într-o populație?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povara bolilor și prioritizează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965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1965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QALY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Merită finanțat un medicament nou?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evaluează cost-eficacitatea unei intervenții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66760" y="1965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60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evoluează, în ansamblu, sănătatea unei populații?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monitorizează sănătatea populației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5212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note, la secțiunile despre QALY și speranța de viață sănătoasă: pragurile folosite în Regatul Unit și legea americană, anii trăiți sănătos, comparația completă.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DATE LA DECIZIE · DE MÂINE, CA MEDICI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de mâine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brute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0370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46888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0604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7822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5274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priorități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2726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9244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01784" y="1810512"/>
            <a:ext cx="256032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66960" y="1691640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04120" y="16916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26060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22960" y="2834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citiți o comparație de mortalitate, întrebați întâi dacă ratele sunt standardizate și pe ce standard.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26060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46520" y="28346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2606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completați un certificat de deces, treceți cauza inițială cât mai precis: din el se fac toate statisticile.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" y="4251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22960" y="44805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4251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un pacient spune că „nu are nimic”, măsurați tensiunea arterială: boala necunoscută nu se declară.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4251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446520" y="44805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4652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251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auziți că o boală „este prioritară”, întrebați ce indicator s-a folosit și cine a rămas în afara calculului.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REȚINUT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idei din cursul de azi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6733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amestecă riscul pe vârste cu îmbătrânirea populației.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4231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04288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populații se compară după ratele standardizate sau ratele pe vârste.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1729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054096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 este un instrument de comparație, nu numărul real de decese.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392277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803904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depinde de cazurile noi și de durata bolii: un tratament care prelungește viața o crește.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553712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467258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672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53712"/>
            <a:ext cx="9829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DALY, QALY și HALE răspund la întrebări diferite; niciuna nu le înlocuiește pe celelalte.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4406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Revenim la cele două țări: diferența de ani de viață sănătoasă dintre România și Letonia nu se poate citi ca o diferență reală de sănătate.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Începutul cursului următor: două modificări, făcute pe baza răspunsurilor dumneavoastră.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2 - Cum știm cât de sănătoasă este o populație?</dc:title>
  <dc:subject>PptxGenJS Presentation</dc:subject>
  <dc:creator>Conf. Univ. Dr. Adrian Pana</dc:creator>
  <cp:lastModifiedBy>Conf. Univ. Dr. Adrian Pana</cp:lastModifiedBy>
  <cp:revision>1</cp:revision>
  <dcterms:created xsi:type="dcterms:W3CDTF">2026-10-03T22:33:30Z</dcterms:created>
  <dcterms:modified xsi:type="dcterms:W3CDTF">2026-10-03T22:33:30Z</dcterms:modified>
  <cp:keywords>sursa_amprenta=91ea9312bf7b5a3e; proiectie</cp:keywords>
</cp:coreProperties>
</file>