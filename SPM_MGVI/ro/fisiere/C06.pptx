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6  ·  SĂNĂTATE PUBLICĂ ȘI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Știm, dar nu facem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sănătății. Modele comportamentale. Alfabetizarea în sănătate. Sănătatea mintală din perspectivă populațională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67512" y="434340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care știe ce îi face rău și o întrebare: cine ar putea schimba ceva pentru el și pentru oamenii ca el?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Medicină, anul 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ZILEI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Vasile, 56 de ani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Fabrica lui s-a închis după 20 de ani. Fumează un pachet pe zi și știe că „fumatul face cancer”.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46888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5968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KITUL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" y="2980944"/>
            <a:ext cx="31028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sângele ocult în scaun, de șase luni în sertar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8160" y="246888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9328" y="25968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CÂND E ȘOMER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9328" y="2980944"/>
            <a:ext cx="31028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doarme prost, a slăbit, nu mai iese din casă: „nu mai are rost”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61960" y="2468880"/>
            <a:ext cx="3505200" cy="2148840"/>
          </a:xfrm>
          <a:prstGeom prst="roundRect">
            <a:avLst>
              <a:gd name="adj" fmla="val 383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3128" y="25968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FIICA, STUDENTĂ LA MEDICINĂ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63128" y="2980944"/>
            <a:ext cx="31028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i-a trimis un articol despre screening; el, un clip despre „cancerul provocat de colonoscopie”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46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nu face ce știe că trebuie?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construit; 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 DE CUVINTE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ORICE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nu a făcut testul?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credeți că domnul Vasile nu a făcut testul?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Unul până la trei cuvinte.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lui nu este lipsa informației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pliant în plus nu atinge ce îl oprește: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poate face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103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îi permite mediul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21031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03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îl pune în mișcare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210312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103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starea lui psihică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CURSUL, ÎN PATRU PĂRȚI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148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83280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41148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4617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modele ale comportamentului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1148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617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Alfabetizarea în sănătate și marketingul social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1120" y="39776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41148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4617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mintală a populației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PLIANT LA POLITICI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sănătății: mai mult decât informare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Procesul prin care oamenii sunt ajutați să-și sporească controlul asupra sănătății lor și să și-o îmbunătățească.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15468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2826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PENTRU SĂNĂTATE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66674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parte a promovării, nu un sinonim: cunoștințe, motivație, alfabetizare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28160" y="315468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2826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CLINICĂ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66674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pornește de la o boală și de la riscul ei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61960" y="315468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2826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66674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pornește de la condițiile de viață: determinanții sociali, economici și de mediu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Ottawa, 21 noiembrie 1986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Conferință internațională pentru promovarea sănătății: „Sănătate pentru toți” până în 2000 și după.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STRATEGII DE BAZĂ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15468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282696"/>
            <a:ext cx="3102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Pledoaria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3831336"/>
            <a:ext cx="31028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cere public condițiile necesare sănătății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315468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282696"/>
            <a:ext cx="3102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Abilitarea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9328" y="3831336"/>
            <a:ext cx="31028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oamenii, capabili să-și atingă potențialul de sănătate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315468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282696"/>
            <a:ext cx="3102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Medierea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63128" y="3831336"/>
            <a:ext cx="31028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interesele diferite din societate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Carta de la Ottawa, 1986; OMS, glosarul promovării sănătății, 2021.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DOMENII DE ACȚIUNE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cere Carta de la Ottawa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9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Politici publice sănătoase: legi și taxe care fac ușoară alegerea sănătoasă.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221992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225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221992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Medii favorabile: spații fără fum, orașe bune de mers pe jos.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2935224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035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935224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Acțiunea comunitară: comunitățile își stabilesc propriile priorități.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749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Abilitățile personale: educație și alfabetizare în sănătate.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94360" y="4361688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622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361688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Reorientarea serviciilor: fiecare consultație, ocazia unui sfat scurt.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Primele două acționează asupra tuturor, fără să ceară fiecăruia motivație sau timp.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2021; OMS, „Tackling NCDs”, 2024.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DOUĂ VOTURI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CINCI DOMENII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face și ce ar ajuta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212848"/>
            <a:ext cx="475488" cy="4754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domeniu credeți că se folosește cel mai des în România?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630168"/>
            <a:ext cx="475488" cy="4754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30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24612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ar avea cel mai mare efect pentru domnul Vasile și pentru oamenii ca el?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9436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cinci variante la ambele voturi. Întrebări de opinie: nu există un răspuns corect.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ȘCOALA, LOCUL DE MUNCĂ, ORAȘUL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Mediile de viață și sănătatea în toate politicile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 DE VIAȚĂ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vieții de zi cu zi. Abordarea nu folosește școala pentru o prelegere: schimbă școala însăși.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ÎN TOATE POLITICILE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sectoarele cântăresc sistematic efectele deciziilor asupra sănătății și a echității în sănătate.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50592" y="370332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37033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06824" y="370332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37033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locuire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63056" y="370332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37033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taxe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19288" y="370332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37033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alimentație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75520" y="3703320"/>
            <a:ext cx="1719072" cy="566928"/>
          </a:xfrm>
          <a:prstGeom prst="roundRect">
            <a:avLst>
              <a:gd name="adj" fmla="val 14516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370332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muncă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5262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26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Ministerul sănătății nu decide aici: e nevoie de angajamentul întregului guvern.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OTTAWA LA GENEVA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Geneva pentru bunăstare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21992"/>
            <a:ext cx="10515600" cy="36576"/>
          </a:xfrm>
          <a:prstGeom prst="rect">
            <a:avLst/>
          </a:prstGeom>
          <a:solidFill>
            <a:srgbClr val="6A6F85"/>
          </a:solidFill>
          <a:ln w="12700">
            <a:solidFill>
              <a:srgbClr val="6A6F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93976"/>
            <a:ext cx="292608" cy="29260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514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1986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2093976"/>
            <a:ext cx="292608" cy="29260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514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13–15 decembrie 2021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43400" y="2971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10-a Conferință globală de promovare a sănătății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2093976"/>
            <a:ext cx="292608" cy="29260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2514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decembrie 2021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92440" y="2971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 publică Carta, convenită de participanți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20624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Cere rezultate echitabile în sănătate și în societate, acum și pentru generațiile viitoare, fără a distruge sănătatea planetei.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Carta de la Geneva pentru bunăstare, 2021.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DISTANȚA DINTRE INTENȚIE ȘI COMPORTAMENT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se rupe lanțul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331720" cy="731520"/>
          </a:xfrm>
          <a:prstGeom prst="roundRect">
            <a:avLst>
              <a:gd name="adj" fmla="val 1125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71800" y="1801368"/>
            <a:ext cx="384048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600200"/>
            <a:ext cx="2331720" cy="731520"/>
          </a:xfrm>
          <a:prstGeom prst="roundRect">
            <a:avLst>
              <a:gd name="adj" fmla="val 1125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00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atitudinea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06440" y="1801368"/>
            <a:ext cx="384048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00200"/>
            <a:ext cx="2331720" cy="731520"/>
          </a:xfrm>
          <a:prstGeom prst="roundRect">
            <a:avLst>
              <a:gd name="adj" fmla="val 1125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intenția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41080" y="1801368"/>
            <a:ext cx="384048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1600200"/>
            <a:ext cx="2331720" cy="731520"/>
          </a:xfrm>
          <a:prstGeom prst="roundRect">
            <a:avLst>
              <a:gd name="adj" fmla="val 1125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600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comportamentul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Vasile știe că fumatul face cancer. Intenția poate exista. Comportamentul nu urmează.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55848"/>
            <a:ext cx="4800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30,8%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68680" y="3927348"/>
            <a:ext cx="48006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bărbații din România fumau zilnic, în 2019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355848"/>
            <a:ext cx="4800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23,6%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492240" y="3927348"/>
            <a:ext cx="48006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media Uniunii Europene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Comportamentul depinde și de abilități, de mediu, de obiceiuri și de emoții.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ancheta europeană de sănătate (EHIS), 2019; Michie et al., 2011.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MODEL · CHAMPION ȘI SKINNER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Modelul convingerilor despre sănătate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constructe, pe cazul domnului Vasile: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140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Susceptibilitatea percepută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798064"/>
            <a:ext cx="3102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„eu n-am nimic, nu mă doare nimic”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8160" y="22860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9328" y="24140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Gravitatea percepută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9328" y="2798064"/>
            <a:ext cx="3102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 fi boala gravă pentru el?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61960" y="228600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3128" y="24140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Beneficiile percepute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3128" y="2798064"/>
            <a:ext cx="3102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l-ar ajuta testul?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1970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Barierele percepute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" y="4581144"/>
            <a:ext cx="3102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frica de rezultat, jena, clipul despre colonoscopie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28160" y="406908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9328" y="41970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Semnalele de acțiune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9328" y="4581144"/>
            <a:ext cx="3102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care insistă, boala unui vecin, o scrisoare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61960" y="4069080"/>
            <a:ext cx="35052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3128" y="41970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Autoeficacitatea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63128" y="4581144"/>
            <a:ext cx="3102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crede că poate face testul singur, acasă?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Lau et al., 2020.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ARATĂ DOVEZILE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asociere nu este o cauză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206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2624328"/>
            <a:ext cx="365760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studii transversale: analiza sistematică din 2020, screeningul colorectal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600200"/>
            <a:ext cx="653796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6002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Susceptibilitatea, beneficiile și semnalele de acțiune erau asociate cu screeningul; barierele, invers.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20624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06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convingerile și comportamentul, măsurate în același moment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43400" y="420624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206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 declarat, eșantioane de conveniență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92440" y="420624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4206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sociodemografici și normele culturale apar numai ca factori modificatori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52578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mediu, cost și norme: un model mai cuprinzător.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Lau et al., 2020.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MODEL · COM-B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Capacitate, oportunitate, motivație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comportament are loc numai atunci când persoana are capacitatea și oportunitatea de a-l face și este mai motivată pentru el decât pentru orice alt comportament.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West și Michie, 2020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456432"/>
            <a:ext cx="566928" cy="56692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456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psihologică și fizică: cunoștințe, abilități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456432"/>
            <a:ext cx="566928" cy="56692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57800" y="3456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Oportunitatea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0" y="41605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externi care fac comportamentul posibil sau îl declanșează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32918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456432"/>
            <a:ext cx="566928" cy="56692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06840" y="3456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21040" y="41605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procesele care dau energie și direcție comportamentului, nu doar deciziile conștiente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Michie, van Stralen și West, 2011; West și Michie, 2020.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 ARE DOUĂ PĂRȚI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„Vreau să mă las” și țigara de după cafea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REFLEXIVĂ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planuri, evaluări, convingeri despre consecințe: „vreau să mă las”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EMOȚIONALĂ ȘI DE OBIȘNUINȚĂ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reacțiile și obiceiurile: țigara de după cafea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Săgețile contează: oportunitatea și capacitatea influențează motivația; comportamentul le schimbă pe toate.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605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Exemplul autorilor: exersarea condusului crește capacitatea, iar aceasta, dorința de a conduce.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West și Michie, 2020; Michie et al., 2011.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ARTICOLUL DIN 2011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Roata schimbării comportamentului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4023360" cy="4023360"/>
          </a:xfrm>
          <a:prstGeom prst="ellipse">
            <a:avLst/>
          </a:prstGeom>
          <a:solidFill>
            <a:srgbClr val="272A38"/>
          </a:solidFill>
          <a:ln w="25400">
            <a:solidFill>
              <a:srgbClr val="111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03120"/>
            <a:ext cx="2926080" cy="2926080"/>
          </a:xfrm>
          <a:prstGeom prst="ellipse">
            <a:avLst/>
          </a:prstGeom>
          <a:solidFill>
            <a:srgbClr val="07564B"/>
          </a:solidFill>
          <a:ln w="25400">
            <a:solidFill>
              <a:srgbClr val="1112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2743200"/>
            <a:ext cx="1645920" cy="1645920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11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743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COM-B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176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funcții de intervenție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șapte categorii de politici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19 cadre de clasificare analizate, niciunul nu acoperea totul.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ȘAPTE CATEGORII DE POLITICI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comunicarea și marketingul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8346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ghidurile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36499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măsurile fiscale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336499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reglementarea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38953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legislația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38953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planificarea mediului fizic și social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42569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furnizarea de servicii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512064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diagnosticul, apoi intervenția: dacă oamenii știu deja, educația nu corectează nimic.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Michie, van Stralen și West, 2011.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FUNCȚII DE INTERVENȚIE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poate face o intervenție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" y="2139696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 cunoașterea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28160" y="1554480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68249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Persuasiunea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9328" y="2139696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provoacă emoții sau acțiune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1960" y="1554480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68249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Stimularea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63128" y="2139696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așteptarea unei recompense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2990088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1810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Constrângerea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5528" y="3575304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așteptarea unui cost: prețul alcoolului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28160" y="2990088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9328" y="311810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Instruirea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9328" y="3575304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transmite abilități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61960" y="2990088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3128" y="311810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Restricția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63128" y="3575304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reguli care reduc oportunitatea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4425696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553712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Restructurarea mediului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5528" y="5010912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pe ecranul medicului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28160" y="4425696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9328" y="4553712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Modelarea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29328" y="5010912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exemplu de urmat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1960" y="4425696"/>
            <a:ext cx="35052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3128" y="4553712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Abilitarea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63128" y="5010912"/>
            <a:ext cx="3102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sprijin și medicație pentru renunțarea la fumat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Michie, van Stralen și West, 2011.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VOT · 6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 ÎN PERECHI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din sertar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condiție lipsește în primul rând și ce funcție de intervenție ați alege?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658368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369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3867912"/>
            <a:ext cx="658368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50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67912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Oportunitatea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4581144"/>
            <a:ext cx="6583680" cy="585216"/>
          </a:xfrm>
          <a:prstGeom prst="roundRect">
            <a:avLst>
              <a:gd name="adj" fmla="val 1406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63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581144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52360" y="3154680"/>
            <a:ext cx="41148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 de bancă, apoi votul.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0" y="4069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DIAGNOSTIC POSIBIL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Lipsesc mai multe condiții deodată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CAPACITATEA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fumat nu este problema principală. Pentru test poate lipsi: poate nu știe cum se folosește kitul.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OPORTUNITATEA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Nimeni nu-i amintește de kit, țigările sunt la îndemână, tratamentul pentru renunțare costă.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MOTIVAȚIA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Automată: dependența de nicotină. Reflexivă: slăbită de lipsa de speranță.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720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Abilitarea, restructurarea mediului și, mai ales, evaluarea stării lui psihice. Un pliant nu corectează niciun deficit.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ALFABETIZAREA ÎN SĂNĂTATE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Articolul fiicei, clipul tatălui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judecăm informația despre sănătate?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Cunoștințele și competențele care le permit oamenilor să găsească, să înțeleagă, să evalueze și să folosească informațiile și serviciile pentru sănătatea lor și a celor din jur. Ele sunt mediate de structurile organizaționale și de resursele disponibile.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38912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89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ține numai de individ: guvernul, societatea civilă și serviciile trebuie să facă accesibilă informația de încredere.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EUROPEANĂ: DEFINIȚIA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operații, trei domenii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ACCESA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de screening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ÎNȚELEGE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176272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scrisoarea cu rezultatul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EVALUA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176272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clipul: e de încredere?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0" y="16002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APLICA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176272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 facă testul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îngrijire medicală · prevenția bolilor · promovarea sănătății: douăsprezece situații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34340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34340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2019–2021, printre sarcinile cele mai grele: a judeca opțiunile de tratament sau dacă o informație digitală este de încredere.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Sørensen et al., 2015; rezumatul raportului internațional HLS19, 2021.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HLS-EU, 2011 · OPT ȚĂRI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fiecare al doilea respondent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Iulie–august 2011, circa o mie de persoane de cel puțin 15 ani în fiecare țară. Scor 0–50, patru niveluri; inadecvat și problematic = „limitată”.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749040"/>
            <a:ext cx="512064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85876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47,6%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4773168"/>
            <a:ext cx="457200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alfabetizare limitată, în eșantionul total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ALFABETIZARE LIMITATĂ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0" y="1874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Olanda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1929384"/>
            <a:ext cx="1098752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6832" y="19293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28,7%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24414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2496312"/>
            <a:ext cx="1822321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0401" y="2496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47,6%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0083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Bulgaria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2377440" cy="329184"/>
          </a:xfrm>
          <a:prstGeom prst="roundRect">
            <a:avLst>
              <a:gd name="adj" fmla="val 13889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3063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62,1%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INADECVATĂ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41148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Olanda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06640" y="4169664"/>
            <a:ext cx="68911" cy="329184"/>
          </a:xfrm>
          <a:prstGeom prst="roundRect">
            <a:avLst>
              <a:gd name="adj" fmla="val 66346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6991" y="4169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1,8%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46817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06640" y="4736592"/>
            <a:ext cx="474722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2802" y="4736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12,4%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52486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Bulgaria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06640" y="5303520"/>
            <a:ext cx="1029841" cy="329184"/>
          </a:xfrm>
          <a:prstGeom prst="roundRect">
            <a:avLst>
              <a:gd name="adj" fmla="val 13889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7921" y="53035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26,9%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Sørensen et al., 2015 (HLS-EU).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cifră care lipsește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6400800" cy="4251960"/>
          </a:xfrm>
          <a:prstGeom prst="roundRect">
            <a:avLst>
              <a:gd name="adj" fmla="val 193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HLS19 · NOIEMBRIE 2019 – IUNIE 2021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țări din Regiunea Europeană a OMS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42 445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9476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interviuri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nu a participat nici acum; procentul Bulgariei nu se transferă. Comparațiile între țări, cu prudență: metode diferite, design transversal.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223760" y="1554480"/>
            <a:ext cx="4343400" cy="4251960"/>
          </a:xfrm>
          <a:prstGeom prst="roundRect">
            <a:avLst>
              <a:gd name="adj" fmla="val 1935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664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GRADIENTUL SOCIAL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52360" y="210312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Alfabetizare limitată mai frecventă la lipsuri financiare, statut social scăzut, educație redusă, vârstă înaintată; în toate țările, în 2019–2021.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rezumatul raportului internațional HLS19, 2021; Sørensen et al., 2015.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POATE FACE MEDICUL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Recomandările anchetei din 2019–2021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COMUNICAREA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centrată pe persoană; medicii, sprijiniți să-i dedice mai mult timp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INFORMAȚIA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accesibilă, de încredere și ușor de înțeles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ușor de parcurs: invitațiile, formularele de consimțământ și aplicațiile, scrise pentru destinatari și testate cu ei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rezumatul raportului internațional HLS19, 2021.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MARKETINGUL SOCIAL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pentru kitul din sertar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Conceptele de marketing, integrate cu alte abordări, pentru a influența comportamente care aduc beneficii indivizilor și comunităților.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2571750" cy="1965960"/>
          </a:xfrm>
          <a:prstGeom prst="roundRect">
            <a:avLst>
              <a:gd name="adj" fmla="val 41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55117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935224"/>
            <a:ext cx="21694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comportamentul precis: „înlocuiți o băutură îndulcită pe zi cu apă”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4710" y="2423160"/>
            <a:ext cx="2571750" cy="1965960"/>
          </a:xfrm>
          <a:prstGeom prst="roundRect">
            <a:avLst>
              <a:gd name="adj" fmla="val 41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5878" y="255117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PREȚUL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95878" y="2935224"/>
            <a:ext cx="21694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bani, timp, efort, plăcere pierdută, jenă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2423160"/>
            <a:ext cx="2571750" cy="1965960"/>
          </a:xfrm>
          <a:prstGeom prst="roundRect">
            <a:avLst>
              <a:gd name="adj" fmla="val 41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6228" y="255117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96228" y="2935224"/>
            <a:ext cx="21694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și când: un kit trimis acasă elimină drumul la cabinet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95410" y="2423160"/>
            <a:ext cx="2571750" cy="1965960"/>
          </a:xfrm>
          <a:prstGeom prst="roundRect">
            <a:avLst>
              <a:gd name="adj" fmla="val 41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96578" y="255117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96578" y="2935224"/>
            <a:ext cx="21694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și canalul, pentru un public precis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6177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617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o campanie de afișe: un proces, de la cercetarea publicului la testarea mesajului.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PENTRU ATELIER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teme, numai date verificate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VACCINAREA HPV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Printre cele mai cost-eficace intervenții (OMS): vaccinarea fetelor de 9–14 ani, una sau două doze.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RENUNȚAREA LA FUMAT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Fumatul zilnic la bărbați, în 2019: 30,8% în România, 23,6% în Uniunea Europeană.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840480"/>
            <a:ext cx="53721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968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SCREENINGUL COLORECTAL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4352544"/>
            <a:ext cx="49697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cincizeci de ani. Detaliile: în cursul despre screening.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5060" y="3840480"/>
            <a:ext cx="53721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968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REDUCEREA CONSUMULUI DE SARE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4352544"/>
            <a:ext cx="49697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Recomandate de OMS: reformularea alimentelor, etichetarea pe fața ambalajului.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„Tackling NCDs”; Eurostat, ancheta europeană de sănătate (EHIS), 2019.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 · 25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ATELIER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Proiectați mesajul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3794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9829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 COM-B, într-o propoziție: „bariera principală este … pentru că …”.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42616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496312"/>
            <a:ext cx="9829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public-țintă precis: vârsta, mediul, canalele; nu „populația generală”.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300984"/>
            <a:ext cx="9829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Mesajul: o țintă clară, cel mult cincisprezece cuvinte, un îndemn la acțiune.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594360" y="4105656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2519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105656"/>
            <a:ext cx="9829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minut de prezentare pentru echipă.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594360" y="49834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Criteriile: comportament precis și realizabil · mesajul corespunde barierei · publicul și canalul se potrivesc · mesajul atinge o emoție.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ATELIER · VOTUL SĂLII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mesaj vă convinge?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mesajul cel mai convingător dintre cele prezentate.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43434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făcut mesajul câștigător mai eficient decât celelalte? De regulă, cele mai slabe sunt cele mai generale: fără public precis, fără canal, fără diagnostic.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MINTALĂ A POPULAȚIEI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mai are rost”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Vasile doarme prost și a slăbit.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stare de bine mintal care le permite oamenilor să facă față stresului vieții, să-și pună în valoare abilitățile, să învețe și să muncească bine și să contribuie la viața comunității.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5372100" cy="1965960"/>
          </a:xfrm>
          <a:prstGeom prst="roundRect">
            <a:avLst>
              <a:gd name="adj" fmla="val 41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38313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CLINICIANUL ÎNTREABĂ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4215384"/>
            <a:ext cx="49697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pacientul o tulburare și cum se tratează?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95060" y="3703320"/>
            <a:ext cx="5372100" cy="1965960"/>
          </a:xfrm>
          <a:prstGeom prst="roundRect">
            <a:avLst>
              <a:gd name="adj" fmla="val 41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6228" y="38313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PUBLICĂ ÎNTREABĂ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6228" y="4215384"/>
            <a:ext cx="49697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sunt afectați, ce povară, cine nu ajunge la îngrijire?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„Mental health: strengthening our response”.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FRECVENTE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din 7 oameni, în 2023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66928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1,2 miliarde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68680" y="2715768"/>
            <a:ext cx="5120640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oameni trăiau cu o tulburare mintală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709928"/>
            <a:ext cx="4526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470 mil.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766560" y="2144268"/>
            <a:ext cx="4526280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o tulburare anxioasă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852928"/>
            <a:ext cx="4526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322 mil.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766560" y="3287268"/>
            <a:ext cx="4526280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depresie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OMS din 2022: 1 din 8 oameni în 2019 (970 de milioane). Estimări diferite, puse alături, nu dovedesc singure o creștere.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„Mental disorders”; raportul mondial despre sănătatea mintală, 2022.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DEPRESIA NU ESTE TRISTEȚEA OBIȘNUITĂ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două săptămâni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Dispoziție depresivă (tristă, iritabilă, goală) sau pierderea plăcerii și a interesului, cea mai mare parte a zilei, aproape în fiecare zi.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2606040" cy="1097280"/>
          </a:xfrm>
          <a:prstGeom prst="roundRect">
            <a:avLst>
              <a:gd name="adj" fmla="val 75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lipsa speranței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697480"/>
            <a:ext cx="2606040" cy="1097280"/>
          </a:xfrm>
          <a:prstGeom prst="roundRect">
            <a:avLst>
              <a:gd name="adj" fmla="val 7500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697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gânduri despre moarte sau sinucidere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697480"/>
            <a:ext cx="2606040" cy="1097280"/>
          </a:xfrm>
          <a:prstGeom prst="roundRect">
            <a:avLst>
              <a:gd name="adj" fmla="val 75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97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tulburări de somn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2697480"/>
            <a:ext cx="2606040" cy="1097280"/>
          </a:xfrm>
          <a:prstGeom prst="roundRect">
            <a:avLst>
              <a:gd name="adj" fmla="val 7500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697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tulburări de apetit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14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suicid crește. Somnul, slăbirea și lipsa de speranță ale domnului Vasile cer o evaluare, nu încurajări.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„Mental disorders”.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POVARA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Dizabilitate, mai mult decât deces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48006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15,6%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" y="2921508"/>
            <a:ext cx="48006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anii trăiți cu dizabilitate în lume: tulburările mintale, prima cauză (unul din șase ani)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55648"/>
            <a:ext cx="48006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5,6%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92240" y="2921508"/>
            <a:ext cx="48006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depresia singură, a doua cauză, în 2019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4348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Statisticile de deces o subestimează: niciun deces nu este atribuit depresiei, iar suicidul se numără la leziunile intenționale.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raportul mondial despre sănătatea mintală, 2022.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ROMÂNIA: CE ARATĂ DATELE DECLARATE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simptome declarate. De ce?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453819"/>
            <a:ext cx="1005840" cy="1392501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96619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4,1%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919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2468880"/>
            <a:ext cx="1005840" cy="23774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2011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4919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283464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57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Simptome depresive actuale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23360" y="4167051"/>
            <a:ext cx="1005840" cy="679269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709851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4919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3929307"/>
            <a:ext cx="1005840" cy="917013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472107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2,7%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4919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4846320"/>
            <a:ext cx="283464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5257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Simptome depresive majore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78040" y="1600200"/>
            <a:ext cx="4389120" cy="4160520"/>
          </a:xfrm>
          <a:prstGeom prst="roundRect">
            <a:avLst>
              <a:gd name="adj" fmla="val 19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09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EXPLICAȚII POSIBILE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2194560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09560" y="21305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frecvență mai mică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06640" y="3154680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9560" y="309067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declarare mai rară: stigma, felul în care oamenii își numesc simptomele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06640" y="4114800"/>
            <a:ext cx="384048" cy="38404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09560" y="405079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combinație a acestora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06640" y="5074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declarate în chestionar, nu diagnostice. Ancheta nu le separă.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ancheta europeană de sănătate (EHIS), 2019.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SUICIDUL, O PROBLEMĂ DE SĂNĂTATE PUBLICĂ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Prevenibil, dar frecvent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727 000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538728"/>
            <a:ext cx="2971800" cy="1640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oameni își iau viața în fiecare an; tentativele sunt mult mai numeroase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47088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17720" y="3538728"/>
            <a:ext cx="2971800" cy="1640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cauză de deces la persoanele de 15–29 de ani, în 2021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7373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47088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366760" y="3538728"/>
            <a:ext cx="2971800" cy="1640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suicidurile din lume, în țări cu venituri mici și medii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„Suicide”.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· EUROSTAT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5,9 ori mai mare la bărbați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LA 100 000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2011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929384"/>
            <a:ext cx="1832052" cy="265176"/>
          </a:xfrm>
          <a:prstGeom prst="roundRect">
            <a:avLst>
              <a:gd name="adj" fmla="val 17241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2412" y="192938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2023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2432304"/>
            <a:ext cx="1173923" cy="265176"/>
          </a:xfrm>
          <a:prstGeom prst="roundRect">
            <a:avLst>
              <a:gd name="adj" fmla="val 17241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4283" y="243230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8,33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UE, 2011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88920" y="2935224"/>
            <a:ext cx="1658712" cy="265176"/>
          </a:xfrm>
          <a:prstGeom prst="roundRect">
            <a:avLst>
              <a:gd name="adj" fmla="val 17241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9072" y="293522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11,77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UE, 2023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88920" y="3438144"/>
            <a:ext cx="1461414" cy="265176"/>
          </a:xfrm>
          <a:prstGeom prst="roundRect">
            <a:avLst>
              <a:gd name="adj" fmla="val 17241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1774" y="343814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10,37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2023, PE SEXE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bărbați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58200" y="1929384"/>
            <a:ext cx="2112497" cy="265176"/>
          </a:xfrm>
          <a:prstGeom prst="roundRect">
            <a:avLst>
              <a:gd name="adj" fmla="val 17241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62137" y="192938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14,99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femei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58200" y="2432304"/>
            <a:ext cx="357955" cy="265176"/>
          </a:xfrm>
          <a:prstGeom prst="roundRect">
            <a:avLst>
              <a:gd name="adj" fmla="val 17241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07595" y="243230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2,54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UE, bărbați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58200" y="2935224"/>
            <a:ext cx="2377440" cy="265176"/>
          </a:xfrm>
          <a:prstGeom prst="roundRect">
            <a:avLst>
              <a:gd name="adj" fmla="val 17241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27080" y="293522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16,87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UE, femei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58200" y="3438144"/>
            <a:ext cx="655311" cy="265176"/>
          </a:xfrm>
          <a:prstGeom prst="roundRect">
            <a:avLst>
              <a:gd name="adj" fmla="val 17241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4951" y="343814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4,65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4360" y="40233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023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 bărbați / femei: 5,9 în România, 3,6 în UE.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94360" y="4983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rezervă: date suficiente în circa 80 de state membre; raportare incompletă din cauza stigmei.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mortalitatea standardizată prin suicid; OMS, fișa „Suicide”.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SUICIDUL POATE FI PREVENIT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intervenții LIVE LIFE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49808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870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870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Limitarea accesului la mijloace: pesticide, arme de foc, anumite medicamente.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749808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643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43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3172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Relatarea responsabilă a cazurilor, în colaborare cu presa.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749808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2415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41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10896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Abilitățile socio-emoționale ale adolescenților.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749808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187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187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86200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Identificarea, evaluarea, tratarea și urmărirea timpurie a celor afectați.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" y="4754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Primele două acționează asupra întregii populații, fără ca cineva să ceară ajutor.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21040" y="1554480"/>
            <a:ext cx="3246120" cy="4114800"/>
          </a:xfrm>
          <a:prstGeom prst="roundRect">
            <a:avLst>
              <a:gd name="adj" fmla="val 253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1664208"/>
            <a:ext cx="2697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38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8595360" y="3630168"/>
            <a:ext cx="26974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țări raportează o strategie națională de prevenire a suicidului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„Suicide”.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STIGMA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Universală, în toate culturile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VINE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familia și vecinii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9202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profesioniștii din sănătate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92440" y="192024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9202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persoana însăși: autostigmatizarea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17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Mulți aleg să sufere fără ajutor decât să riște discriminarea și excluderea.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4617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Stigma îi împiedică pe mulți cu gânduri de sinucidere să ceară ajutor; îi atinge și pe cei care lucrează în sănătatea mintală.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raportul mondial despre sănătatea mintală, 2022; fișa „Suicide”.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DECALAJUL DE TRATAMENT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nu ajunge la îngrijire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480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418588"/>
            <a:ext cx="48006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persoanele cu psihoză primesc îngrijire formală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09928"/>
            <a:ext cx="480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treime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92240" y="2418588"/>
            <a:ext cx="48006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persoanele cu depresie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930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4133088"/>
            <a:ext cx="48006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bugetele de sănătate merg, în medie, la sănătatea mintală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4930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70%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92240" y="4133088"/>
            <a:ext cx="48006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cheltuielile de sănătate mintală, în țările cu venituri medii: spitalele de psihiatrie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0292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Serviciile din comunitate rămân subfinanțate; stigma ține oamenii departe chiar unde serviciile există.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fișa „Mental disorders”; raportul mondial despre sănătatea mintală, 2022.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ACȚIUNE AL OMS, 2013–2030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ținte pentru 2030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48006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jumătate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464308"/>
            <a:ext cx="48006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creșterea acoperirii cu servicii pentru tulburările mintale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09928"/>
            <a:ext cx="48006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92240" y="2464308"/>
            <a:ext cx="48006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țări: dublarea serviciilor de sănătate mintală în comunitate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84448"/>
            <a:ext cx="48006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4338828"/>
            <a:ext cx="48006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țări: sănătatea mintală integrată în asistența primară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47472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584448"/>
            <a:ext cx="48006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treime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92240" y="4338828"/>
            <a:ext cx="4800600" cy="77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reducerea ratei suicidului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Aprobat de a 74-a Adunare Mondială a Sănătății.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planul cuprinzător de acțiune pentru sănătatea mintală 2013–2030.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DIRECȚII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spital spre comunitate și spre cabinet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DEZINSTITUȚIONALIZAREA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Statele mută îngrijirea dinspre spitalele de psihiatrie de lungă durată spre servicii nespecializate.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INTEGRAREA ÎN ASISTENȚA PRIMARĂ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Împărțirea sarcinilor cu asistența primară reduce decalajul de tratament și crește acoperirea.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4805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805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care îi poate recunoaște depresia domnului Vasile: medicul de familie care i-a dat kitul.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planul de acțiune 2013–2030; raportul mondial despre sănătatea mintală, 2022.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SUICIDAR · mhGAP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întrebare directă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mai are rost”: întrebați direct despre gândurile de sinucidere.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120640" cy="36118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58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orice persoană cu lipsă extremă de speranță sau cu o tulburare prioritară (de exemplu, depresia): gândurile, planurile, actele de autovătămare. Întrebarea nu provoacă autovătămarea.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0" y="2148840"/>
            <a:ext cx="5623560" cy="3611880"/>
          </a:xfrm>
          <a:prstGeom prst="roundRect">
            <a:avLst>
              <a:gd name="adj" fmla="val 227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258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RISCUL ESTE IMINENT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852928"/>
            <a:ext cx="137160" cy="13716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9748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mijloacele de autovătămare se îndepărtează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137160" cy="13716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41071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 sigur: persoana nu rămâne singură, este supravegheată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4279392"/>
            <a:ext cx="137160" cy="13716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12394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consultul unui specialist în sănătate mintală, unde există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992624"/>
            <a:ext cx="137160" cy="13716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83717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contactul și urmărirea se mențin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ghidul de intervenție mhGAP (conduita detaliată: în ghid).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FILM · 10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VIZIONARE GHIDATĂ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„I had a black dog”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Filmul, apoi o reflecție individuală, în scris: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7004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423160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recunoscut din pacienții văzuți în stagii?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72160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474720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l-ar fi putut face pe personaj să ceară ajutor mai devreme?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45262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731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526280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putea face medicul de familie la prima consultație?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CONSULTAȚIA DE CINCISPREZECE MINUTE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întâi?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Sunteți medicul de familie al domnului Vasile.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0972800" cy="649224"/>
          </a:xfrm>
          <a:prstGeom prst="roundRect">
            <a:avLst>
              <a:gd name="adj" fmla="val 126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03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003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10058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Discutați testul din sertar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10972800" cy="649224"/>
          </a:xfrm>
          <a:prstGeom prst="roundRect">
            <a:avLst>
              <a:gd name="adj" fmla="val 126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775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7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10058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Discutați renunțarea la fumat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10972800" cy="649224"/>
          </a:xfrm>
          <a:prstGeom prst="roundRect">
            <a:avLst>
              <a:gd name="adj" fmla="val 126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547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547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10058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Îl întrebați cum doarme și cum se simte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9436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există un singur răspuns corect: contează ordinea și legătura dintre cele trei.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8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afirmații: adevărat sau fals?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ordinea cursului: promovarea sănătății, Carta de la Ottawa, sănătatea în toate politicile, cele două modele, alfabetizarea în sănătate, marketingul social, povara tulburărilor mintale și suicidul.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jocului apare pe ecran. Douăzeci de secunde pentru fiecare afirmație.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fals: răspunsurile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include acțiunea asupra determinanților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domeniu al Cartei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6596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angajamentul întregului guvern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96596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construct al modelului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6596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obiceiurile, și reacțiile emoționale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funcție a roții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58952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28,7% la peste 62,1%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58952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comportament precis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8952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cauză; prima: tulburările mintale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21792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9516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58952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14,99 față de 2,54 la 100 000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REȚINUT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 din cursul de azi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8191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Promovarea sănătății: mai mult control asupra sănătății, prin informare și prin condițiile de viață.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317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212848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diagnosticul: capacitatea, oportunitatea sau motivația; apoi intervenția.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96265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08152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962656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Alfabetizarea în sănătate depinde și de instituții.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712464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83133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712464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jumătate, cu alfabetizare limitată în 2011; România, în nicio anchetă.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462272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58114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462272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Tulburările mintale: prima cauză de dizabilitate; cei mai mulți nu primesc îngrijire eficace.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Domnului Vasile nu îi lipsește informația, ci cineva care să-l întrebe cum se simte.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MÂINE, CA MEDICI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luni dimineață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nu face ce i-ați recomandat? Nu repetați mai apăsat: întrebați-vă ce îi lipsește, capacitatea, oportunitatea sau motivația.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pare doar „obosit”? Depresia e o cauză principală de dizabilitate; cei mai mulți nu primesc îngrijire.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983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52628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întrebare despre somn și speranță poate fi prima intervenție; întrebarea directă despre sinucidere nu provoacă autovătămarea.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Începutul cursului următor: două modificări, făcute pe baza răspunsurilor dumneavoastră.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6 - Știm, dar nu facem</dc:title>
  <dc:subject>PptxGenJS Presentation</dc:subject>
  <dc:creator>Conf. Univ. Dr. Adrian Pana</dc:creator>
  <cp:lastModifiedBy>Conf. Univ. Dr. Adrian Pana</cp:lastModifiedBy>
  <cp:revision>1</cp:revision>
  <dcterms:created xsi:type="dcterms:W3CDTF">2026-10-17T08:21:15Z</dcterms:created>
  <dcterms:modified xsi:type="dcterms:W3CDTF">2026-10-17T08:21:15Z</dcterms:modified>
  <cp:keywords>sursa_amprenta=7987f0e2659fcf3d; proiectie</cp:keywords>
</cp:coreProperties>
</file>