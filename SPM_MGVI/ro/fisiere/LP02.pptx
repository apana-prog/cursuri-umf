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Criteriu de lucru: comparați lungimea barelor de jos, de la mijloc și de sus.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Mortalitatea nu adaugă persoane la o vârstă; fertilitatea Ilfovului e cea mai mică, deci nici nașterile nu explică forma.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777240"/>
            <a:ext cx="320040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40080" y="777240"/>
            <a:ext cx="3200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LUCRAREA PRACTICĂ 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53035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Cine vor fi pacienții peste zece ani?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667512" y="3749040"/>
            <a:ext cx="1280160" cy="27432"/>
          </a:xfrm>
          <a:prstGeom prst="rect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640080" y="3977640"/>
            <a:ext cx="5303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Profilul de sănătate al județului (II)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Structura populației și piramida vârstelor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7967872" y="5372608"/>
            <a:ext cx="113040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098280" y="5372608"/>
            <a:ext cx="106380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7742667" y="5103368"/>
            <a:ext cx="1355613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9098280" y="5103368"/>
            <a:ext cx="128736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738275" y="4834128"/>
            <a:ext cx="136000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9098280" y="4834128"/>
            <a:ext cx="1287366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7654654" y="4564888"/>
            <a:ext cx="1443626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9098280" y="4564888"/>
            <a:ext cx="1364237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7751201" y="4295648"/>
            <a:ext cx="134707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9098280" y="4295648"/>
            <a:ext cx="1241242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7772710" y="4026408"/>
            <a:ext cx="132557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9098280" y="4026408"/>
            <a:ext cx="119911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7673512" y="3757168"/>
            <a:ext cx="142476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9098280" y="3757168"/>
            <a:ext cx="130093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7302802" y="3487928"/>
            <a:ext cx="1795478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9098280" y="3487928"/>
            <a:ext cx="165951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381580" y="3218688"/>
            <a:ext cx="171670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9098280" y="3218688"/>
            <a:ext cx="159405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7143900" y="2949448"/>
            <a:ext cx="1954380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9098280" y="2949448"/>
            <a:ext cx="185826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7245358" y="2680208"/>
            <a:ext cx="1852922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9098280" y="2680208"/>
            <a:ext cx="181824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7302759" y="2410968"/>
            <a:ext cx="1795521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9098280" y="2410968"/>
            <a:ext cx="184311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7868875" y="2141728"/>
            <a:ext cx="1229405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9098280" y="2141728"/>
            <a:ext cx="1385599" cy="232664"/>
          </a:xfrm>
          <a:prstGeom prst="rect">
            <a:avLst/>
          </a:prstGeom>
          <a:solidFill>
            <a:srgbClr val="272A38"/>
          </a:solidFill>
          <a:ln w="12700">
            <a:solidFill>
              <a:srgbClr val="272A38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7735132" y="1872488"/>
            <a:ext cx="136314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9098280" y="1872488"/>
            <a:ext cx="176956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7977067" y="1603248"/>
            <a:ext cx="1121213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9098280" y="1603248"/>
            <a:ext cx="1582800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8386806" y="1334008"/>
            <a:ext cx="711474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9098280" y="1334008"/>
            <a:ext cx="1117266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8703925" y="1064768"/>
            <a:ext cx="394355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9098280" y="1064768"/>
            <a:ext cx="728418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8776328" y="795528"/>
            <a:ext cx="321952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9098280" y="795528"/>
            <a:ext cx="718659" cy="2326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Text 41"/>
          <p:cNvSpPr/>
          <p:nvPr/>
        </p:nvSpPr>
        <p:spPr>
          <a:xfrm>
            <a:off x="6675120" y="57607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România, 1 ianuarie 2025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ÎNAINTEA ORICĂRUI CALCUL</a:t>
            </a:r>
            <a:endParaRPr lang="en-US" sz="1300" dirty="0"/>
          </a:p>
        </p:txBody>
      </p:sp>
      <p:sp>
        <p:nvSpPr>
          <p:cNvPr id="3" name="Shape 1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PENTRU TOATĂ GRUPA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Care dintre ele este Teleormanul?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94360" y="1371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59436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Bărbați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9319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1595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43693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7464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51541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58978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593902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963683" y="4823993"/>
            <a:ext cx="98525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3589020" y="4823993"/>
            <a:ext cx="9254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2948940" y="48082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674359" y="4648733"/>
            <a:ext cx="127458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3589020" y="4648733"/>
            <a:ext cx="122035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1762553" y="4473473"/>
            <a:ext cx="118638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3589020" y="4473473"/>
            <a:ext cx="1129302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1828925" y="4298213"/>
            <a:ext cx="112001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3589020" y="4298213"/>
            <a:ext cx="104812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2948940" y="428244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042459" y="4122953"/>
            <a:ext cx="90648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3589020" y="4122953"/>
            <a:ext cx="86907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894193" y="3947693"/>
            <a:ext cx="105474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3589020" y="3947693"/>
            <a:ext cx="110936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628315" y="3772433"/>
            <a:ext cx="132062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3589020" y="3772433"/>
            <a:ext cx="14204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Text 29"/>
          <p:cNvSpPr/>
          <p:nvPr/>
        </p:nvSpPr>
        <p:spPr>
          <a:xfrm>
            <a:off x="2948940" y="375666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32" name="Shape 30"/>
          <p:cNvSpPr/>
          <p:nvPr/>
        </p:nvSpPr>
        <p:spPr>
          <a:xfrm>
            <a:off x="1005117" y="3597173"/>
            <a:ext cx="19438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3589020" y="3597173"/>
            <a:ext cx="2064033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1122600" y="3421913"/>
            <a:ext cx="182634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3589020" y="3421913"/>
            <a:ext cx="181601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1061293" y="3246653"/>
            <a:ext cx="188764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3589020" y="3246653"/>
            <a:ext cx="182146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2948940" y="323088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541680" y="3071393"/>
            <a:ext cx="140726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3589020" y="3071393"/>
            <a:ext cx="142421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1631432" y="2896133"/>
            <a:ext cx="1317508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3589020" y="2896133"/>
            <a:ext cx="1344135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2240017" y="2720873"/>
            <a:ext cx="7089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4" name="Shape 42"/>
          <p:cNvSpPr/>
          <p:nvPr/>
        </p:nvSpPr>
        <p:spPr>
          <a:xfrm>
            <a:off x="3589020" y="2720873"/>
            <a:ext cx="83712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5" name="Text 43"/>
          <p:cNvSpPr/>
          <p:nvPr/>
        </p:nvSpPr>
        <p:spPr>
          <a:xfrm>
            <a:off x="2948940" y="270510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46" name="Shape 44"/>
          <p:cNvSpPr/>
          <p:nvPr/>
        </p:nvSpPr>
        <p:spPr>
          <a:xfrm>
            <a:off x="2170917" y="2545613"/>
            <a:ext cx="77802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3589020" y="2545613"/>
            <a:ext cx="102967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2316975" y="2370353"/>
            <a:ext cx="63196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3589020" y="2370353"/>
            <a:ext cx="87686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2578373" y="2195093"/>
            <a:ext cx="37056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3589020" y="2195093"/>
            <a:ext cx="55299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2" name="Text 50"/>
          <p:cNvSpPr/>
          <p:nvPr/>
        </p:nvSpPr>
        <p:spPr>
          <a:xfrm>
            <a:off x="2948940" y="21793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2766903" y="2019833"/>
            <a:ext cx="18203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3589020" y="2019833"/>
            <a:ext cx="336212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2803661" y="1844573"/>
            <a:ext cx="14527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3589020" y="1844573"/>
            <a:ext cx="37069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7" name="Text 55"/>
          <p:cNvSpPr/>
          <p:nvPr/>
        </p:nvSpPr>
        <p:spPr>
          <a:xfrm>
            <a:off x="32004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58" name="Text 56"/>
          <p:cNvSpPr/>
          <p:nvPr/>
        </p:nvSpPr>
        <p:spPr>
          <a:xfrm>
            <a:off x="566928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110490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48844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1" name="Text 59"/>
          <p:cNvSpPr/>
          <p:nvPr/>
        </p:nvSpPr>
        <p:spPr>
          <a:xfrm>
            <a:off x="18897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62" name="Text 60"/>
          <p:cNvSpPr/>
          <p:nvPr/>
        </p:nvSpPr>
        <p:spPr>
          <a:xfrm>
            <a:off x="40995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63" name="Text 61"/>
          <p:cNvSpPr/>
          <p:nvPr/>
        </p:nvSpPr>
        <p:spPr>
          <a:xfrm>
            <a:off x="29946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64" name="Text 62"/>
          <p:cNvSpPr/>
          <p:nvPr/>
        </p:nvSpPr>
        <p:spPr>
          <a:xfrm>
            <a:off x="6217920" y="1371600"/>
            <a:ext cx="5349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621792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Bărbați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9555480" y="14447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</a:t>
            </a:r>
            <a:endParaRPr lang="en-US" sz="1300" dirty="0"/>
          </a:p>
        </p:txBody>
      </p:sp>
      <p:sp>
        <p:nvSpPr>
          <p:cNvPr id="67" name="Shape 65"/>
          <p:cNvSpPr/>
          <p:nvPr/>
        </p:nvSpPr>
        <p:spPr>
          <a:xfrm>
            <a:off x="77830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999286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699820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1077772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621334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11562588" y="1828800"/>
            <a:ext cx="9144" cy="315468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862189" y="4823993"/>
            <a:ext cx="71031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9212580" y="4823993"/>
            <a:ext cx="65352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5" name="Text 73"/>
          <p:cNvSpPr/>
          <p:nvPr/>
        </p:nvSpPr>
        <p:spPr>
          <a:xfrm>
            <a:off x="8572500" y="48082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76" name="Shape 74"/>
          <p:cNvSpPr/>
          <p:nvPr/>
        </p:nvSpPr>
        <p:spPr>
          <a:xfrm>
            <a:off x="7667123" y="4648733"/>
            <a:ext cx="90537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9212580" y="4648733"/>
            <a:ext cx="82176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7617479" y="4473473"/>
            <a:ext cx="955021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9212580" y="4473473"/>
            <a:ext cx="87591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7500013" y="4298213"/>
            <a:ext cx="107248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9212580" y="4298213"/>
            <a:ext cx="100479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8572500" y="428244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83" name="Shape 81"/>
          <p:cNvSpPr/>
          <p:nvPr/>
        </p:nvSpPr>
        <p:spPr>
          <a:xfrm>
            <a:off x="7537121" y="4122953"/>
            <a:ext cx="103537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4" name="Shape 82"/>
          <p:cNvSpPr/>
          <p:nvPr/>
        </p:nvSpPr>
        <p:spPr>
          <a:xfrm>
            <a:off x="9212580" y="4122953"/>
            <a:ext cx="88958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5" name="Shape 83"/>
          <p:cNvSpPr/>
          <p:nvPr/>
        </p:nvSpPr>
        <p:spPr>
          <a:xfrm>
            <a:off x="7566205" y="3947693"/>
            <a:ext cx="100629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6" name="Shape 84"/>
          <p:cNvSpPr/>
          <p:nvPr/>
        </p:nvSpPr>
        <p:spPr>
          <a:xfrm>
            <a:off x="9212580" y="3947693"/>
            <a:ext cx="779888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7" name="Shape 85"/>
          <p:cNvSpPr/>
          <p:nvPr/>
        </p:nvSpPr>
        <p:spPr>
          <a:xfrm>
            <a:off x="7532231" y="3772433"/>
            <a:ext cx="1040269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8" name="Shape 86"/>
          <p:cNvSpPr/>
          <p:nvPr/>
        </p:nvSpPr>
        <p:spPr>
          <a:xfrm>
            <a:off x="9212580" y="3772433"/>
            <a:ext cx="77675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9" name="Text 87"/>
          <p:cNvSpPr/>
          <p:nvPr/>
        </p:nvSpPr>
        <p:spPr>
          <a:xfrm>
            <a:off x="8572500" y="375666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90" name="Shape 88"/>
          <p:cNvSpPr/>
          <p:nvPr/>
        </p:nvSpPr>
        <p:spPr>
          <a:xfrm>
            <a:off x="7351457" y="3597173"/>
            <a:ext cx="122104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1" name="Shape 89"/>
          <p:cNvSpPr/>
          <p:nvPr/>
        </p:nvSpPr>
        <p:spPr>
          <a:xfrm>
            <a:off x="9212580" y="3597173"/>
            <a:ext cx="101632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2" name="Shape 90"/>
          <p:cNvSpPr/>
          <p:nvPr/>
        </p:nvSpPr>
        <p:spPr>
          <a:xfrm>
            <a:off x="7380667" y="3421913"/>
            <a:ext cx="119183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3" name="Shape 91"/>
          <p:cNvSpPr/>
          <p:nvPr/>
        </p:nvSpPr>
        <p:spPr>
          <a:xfrm>
            <a:off x="9212580" y="3421913"/>
            <a:ext cx="1038890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4" name="Shape 92"/>
          <p:cNvSpPr/>
          <p:nvPr/>
        </p:nvSpPr>
        <p:spPr>
          <a:xfrm>
            <a:off x="7025135" y="3246653"/>
            <a:ext cx="154736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5" name="Shape 93"/>
          <p:cNvSpPr/>
          <p:nvPr/>
        </p:nvSpPr>
        <p:spPr>
          <a:xfrm>
            <a:off x="9212580" y="3246653"/>
            <a:ext cx="1450208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6" name="Text 94"/>
          <p:cNvSpPr/>
          <p:nvPr/>
        </p:nvSpPr>
        <p:spPr>
          <a:xfrm>
            <a:off x="8572500" y="323088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97" name="Shape 95"/>
          <p:cNvSpPr/>
          <p:nvPr/>
        </p:nvSpPr>
        <p:spPr>
          <a:xfrm>
            <a:off x="6927100" y="3071393"/>
            <a:ext cx="164540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98" name="Shape 96"/>
          <p:cNvSpPr/>
          <p:nvPr/>
        </p:nvSpPr>
        <p:spPr>
          <a:xfrm>
            <a:off x="9212580" y="3071393"/>
            <a:ext cx="1534077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9" name="Shape 97"/>
          <p:cNvSpPr/>
          <p:nvPr/>
        </p:nvSpPr>
        <p:spPr>
          <a:xfrm>
            <a:off x="6842354" y="2896133"/>
            <a:ext cx="1730146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0" name="Shape 98"/>
          <p:cNvSpPr/>
          <p:nvPr/>
        </p:nvSpPr>
        <p:spPr>
          <a:xfrm>
            <a:off x="9212580" y="2896133"/>
            <a:ext cx="160904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1" name="Shape 99"/>
          <p:cNvSpPr/>
          <p:nvPr/>
        </p:nvSpPr>
        <p:spPr>
          <a:xfrm>
            <a:off x="7443850" y="2720873"/>
            <a:ext cx="112865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2" name="Shape 100"/>
          <p:cNvSpPr/>
          <p:nvPr/>
        </p:nvSpPr>
        <p:spPr>
          <a:xfrm>
            <a:off x="9212580" y="2720873"/>
            <a:ext cx="1182306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3" name="Text 101"/>
          <p:cNvSpPr/>
          <p:nvPr/>
        </p:nvSpPr>
        <p:spPr>
          <a:xfrm>
            <a:off x="8572500" y="270510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104" name="Shape 102"/>
          <p:cNvSpPr/>
          <p:nvPr/>
        </p:nvSpPr>
        <p:spPr>
          <a:xfrm>
            <a:off x="7305950" y="2545613"/>
            <a:ext cx="1266550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5" name="Shape 103"/>
          <p:cNvSpPr/>
          <p:nvPr/>
        </p:nvSpPr>
        <p:spPr>
          <a:xfrm>
            <a:off x="9212580" y="2545613"/>
            <a:ext cx="1521039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6" name="Shape 104"/>
          <p:cNvSpPr/>
          <p:nvPr/>
        </p:nvSpPr>
        <p:spPr>
          <a:xfrm>
            <a:off x="7430185" y="2370353"/>
            <a:ext cx="1142315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7" name="Shape 105"/>
          <p:cNvSpPr/>
          <p:nvPr/>
        </p:nvSpPr>
        <p:spPr>
          <a:xfrm>
            <a:off x="9212580" y="2370353"/>
            <a:ext cx="162095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08" name="Shape 106"/>
          <p:cNvSpPr/>
          <p:nvPr/>
        </p:nvSpPr>
        <p:spPr>
          <a:xfrm>
            <a:off x="7699843" y="2195093"/>
            <a:ext cx="872657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9" name="Shape 107"/>
          <p:cNvSpPr/>
          <p:nvPr/>
        </p:nvSpPr>
        <p:spPr>
          <a:xfrm>
            <a:off x="9212580" y="2195093"/>
            <a:ext cx="132973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0" name="Text 108"/>
          <p:cNvSpPr/>
          <p:nvPr/>
        </p:nvSpPr>
        <p:spPr>
          <a:xfrm>
            <a:off x="8572500" y="2179320"/>
            <a:ext cx="640080" cy="1752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111" name="Shape 109"/>
          <p:cNvSpPr/>
          <p:nvPr/>
        </p:nvSpPr>
        <p:spPr>
          <a:xfrm>
            <a:off x="8065654" y="2019833"/>
            <a:ext cx="506846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2" name="Shape 110"/>
          <p:cNvSpPr/>
          <p:nvPr/>
        </p:nvSpPr>
        <p:spPr>
          <a:xfrm>
            <a:off x="9212580" y="2019833"/>
            <a:ext cx="880304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3" name="Shape 111"/>
          <p:cNvSpPr/>
          <p:nvPr/>
        </p:nvSpPr>
        <p:spPr>
          <a:xfrm>
            <a:off x="8166447" y="1844573"/>
            <a:ext cx="406053" cy="143713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4" name="Shape 112"/>
          <p:cNvSpPr/>
          <p:nvPr/>
        </p:nvSpPr>
        <p:spPr>
          <a:xfrm>
            <a:off x="9212580" y="1844573"/>
            <a:ext cx="873911" cy="143713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5" name="Text 113"/>
          <p:cNvSpPr/>
          <p:nvPr/>
        </p:nvSpPr>
        <p:spPr>
          <a:xfrm>
            <a:off x="594360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116" name="Text 114"/>
          <p:cNvSpPr/>
          <p:nvPr/>
        </p:nvSpPr>
        <p:spPr>
          <a:xfrm>
            <a:off x="1129284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117" name="Text 115"/>
          <p:cNvSpPr/>
          <p:nvPr/>
        </p:nvSpPr>
        <p:spPr>
          <a:xfrm>
            <a:off x="672846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118" name="Text 116"/>
          <p:cNvSpPr/>
          <p:nvPr/>
        </p:nvSpPr>
        <p:spPr>
          <a:xfrm>
            <a:off x="1050798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119" name="Text 117"/>
          <p:cNvSpPr/>
          <p:nvPr/>
        </p:nvSpPr>
        <p:spPr>
          <a:xfrm>
            <a:off x="75133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120" name="Text 118"/>
          <p:cNvSpPr/>
          <p:nvPr/>
        </p:nvSpPr>
        <p:spPr>
          <a:xfrm>
            <a:off x="97231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121" name="Text 119"/>
          <p:cNvSpPr/>
          <p:nvPr/>
        </p:nvSpPr>
        <p:spPr>
          <a:xfrm>
            <a:off x="8618220" y="50200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122" name="Shape 120"/>
          <p:cNvSpPr/>
          <p:nvPr/>
        </p:nvSpPr>
        <p:spPr>
          <a:xfrm>
            <a:off x="594360" y="5440680"/>
            <a:ext cx="10972800" cy="731520"/>
          </a:xfrm>
          <a:prstGeom prst="roundRect">
            <a:avLst>
              <a:gd name="adj" fmla="val 11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23" name="Text 121"/>
          <p:cNvSpPr/>
          <p:nvPr/>
        </p:nvSpPr>
        <p:spPr>
          <a:xfrm>
            <a:off x="822960" y="54406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ar planifica diferit directorul spitalului județean în fiecare județ?</a:t>
            </a:r>
            <a:endParaRPr lang="en-US" sz="2000" dirty="0"/>
          </a:p>
        </p:txBody>
      </p:sp>
      <p:sp>
        <p:nvSpPr>
          <p:cNvPr id="124" name="Text 1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Pondere în populația totală, %, 1 ianuarie 2025. Sursa: Eurostat, demo_r_pjangrp3; valori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RĂSPUNSUL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Între ele sunt 9,3 ani de vârstă mediană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 (A)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1471790" y="4789830"/>
            <a:ext cx="63133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103120" y="4789830"/>
            <a:ext cx="59300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286399" y="4627270"/>
            <a:ext cx="81672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103120" y="4627270"/>
            <a:ext cx="78197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342911" y="4464710"/>
            <a:ext cx="76020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103120" y="4464710"/>
            <a:ext cx="72363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385440" y="4302150"/>
            <a:ext cx="71768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103120" y="4302150"/>
            <a:ext cx="67161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22268" y="4139590"/>
            <a:ext cx="580852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103120" y="4139590"/>
            <a:ext cx="55688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427263" y="3977030"/>
            <a:ext cx="67585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103120" y="3977030"/>
            <a:ext cx="71085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256894" y="3814470"/>
            <a:ext cx="84622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103120" y="3814470"/>
            <a:ext cx="91018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57564" y="3651910"/>
            <a:ext cx="124555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103120" y="3651910"/>
            <a:ext cx="132258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32844" y="3489350"/>
            <a:ext cx="117027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103120" y="3489350"/>
            <a:ext cx="116366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93560" y="3326790"/>
            <a:ext cx="120956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4" name="Shape 22"/>
          <p:cNvSpPr/>
          <p:nvPr/>
        </p:nvSpPr>
        <p:spPr>
          <a:xfrm>
            <a:off x="2103120" y="3326790"/>
            <a:ext cx="116715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1201381" y="3164230"/>
            <a:ext cx="90173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2103120" y="3164230"/>
            <a:ext cx="91260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1258891" y="3001670"/>
            <a:ext cx="84422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2103120" y="3001670"/>
            <a:ext cx="86129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1648859" y="2839110"/>
            <a:ext cx="45426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2103120" y="2839110"/>
            <a:ext cx="536408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1604581" y="2676550"/>
            <a:ext cx="49853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2103120" y="2676550"/>
            <a:ext cx="65979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1698172" y="2513990"/>
            <a:ext cx="404948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2103120" y="2513990"/>
            <a:ext cx="56187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1865669" y="2351430"/>
            <a:ext cx="23745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2103120" y="2351430"/>
            <a:ext cx="354345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1986475" y="2188870"/>
            <a:ext cx="11664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2103120" y="2188870"/>
            <a:ext cx="21543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2010029" y="2026310"/>
            <a:ext cx="9309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2103120" y="2026310"/>
            <a:ext cx="23753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84048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40,1</a:t>
            </a:r>
            <a:endParaRPr lang="en-US" sz="5000" dirty="0"/>
          </a:p>
        </p:txBody>
      </p:sp>
      <p:sp>
        <p:nvSpPr>
          <p:cNvPr id="42" name="Text 40"/>
          <p:cNvSpPr/>
          <p:nvPr/>
        </p:nvSpPr>
        <p:spPr>
          <a:xfrm>
            <a:off x="384048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ani, vârsta mediană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384048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13,4%</a:t>
            </a:r>
            <a:endParaRPr lang="en-US" sz="3600" dirty="0"/>
          </a:p>
        </p:txBody>
      </p:sp>
      <p:sp>
        <p:nvSpPr>
          <p:cNvPr id="44" name="Text 42"/>
          <p:cNvSpPr/>
          <p:nvPr/>
        </p:nvSpPr>
        <p:spPr>
          <a:xfrm>
            <a:off x="384048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65 de ani și peste</a:t>
            </a:r>
            <a:endParaRPr lang="en-US" sz="1400" dirty="0"/>
          </a:p>
        </p:txBody>
      </p:sp>
      <p:sp>
        <p:nvSpPr>
          <p:cNvPr id="45" name="Text 43"/>
          <p:cNvSpPr/>
          <p:nvPr/>
        </p:nvSpPr>
        <p:spPr>
          <a:xfrm>
            <a:off x="6263640" y="146304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(B)</a:t>
            </a:r>
            <a:endParaRPr lang="en-US" sz="2200" dirty="0"/>
          </a:p>
        </p:txBody>
      </p:sp>
      <p:sp>
        <p:nvSpPr>
          <p:cNvPr id="46" name="Shape 44"/>
          <p:cNvSpPr/>
          <p:nvPr/>
        </p:nvSpPr>
        <p:spPr>
          <a:xfrm>
            <a:off x="7317249" y="4789830"/>
            <a:ext cx="455151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7772400" y="4789830"/>
            <a:ext cx="41876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7192255" y="4627270"/>
            <a:ext cx="58014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7772400" y="4627270"/>
            <a:ext cx="52656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7160445" y="4464710"/>
            <a:ext cx="61195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7772400" y="4464710"/>
            <a:ext cx="56126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7085175" y="4302150"/>
            <a:ext cx="68722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7772400" y="4302150"/>
            <a:ext cx="64384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7108953" y="4139590"/>
            <a:ext cx="66344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7772400" y="4139590"/>
            <a:ext cx="570023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7127590" y="3977030"/>
            <a:ext cx="64481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7772400" y="3977030"/>
            <a:ext cx="49973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7105820" y="3814470"/>
            <a:ext cx="666580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7772400" y="3814470"/>
            <a:ext cx="49772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6989984" y="3651910"/>
            <a:ext cx="78241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7772400" y="3651910"/>
            <a:ext cx="651237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7008701" y="3489350"/>
            <a:ext cx="76369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7772400" y="3489350"/>
            <a:ext cx="66569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6780884" y="3326790"/>
            <a:ext cx="99151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5" name="Shape 63"/>
          <p:cNvSpPr/>
          <p:nvPr/>
        </p:nvSpPr>
        <p:spPr>
          <a:xfrm>
            <a:off x="7772400" y="3326790"/>
            <a:ext cx="929260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6" name="Shape 64"/>
          <p:cNvSpPr/>
          <p:nvPr/>
        </p:nvSpPr>
        <p:spPr>
          <a:xfrm>
            <a:off x="6718066" y="3164230"/>
            <a:ext cx="1054334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7" name="Shape 65"/>
          <p:cNvSpPr/>
          <p:nvPr/>
        </p:nvSpPr>
        <p:spPr>
          <a:xfrm>
            <a:off x="7772400" y="3164230"/>
            <a:ext cx="983001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8" name="Shape 66"/>
          <p:cNvSpPr/>
          <p:nvPr/>
        </p:nvSpPr>
        <p:spPr>
          <a:xfrm>
            <a:off x="6663763" y="3001670"/>
            <a:ext cx="1108637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9" name="Shape 67"/>
          <p:cNvSpPr/>
          <p:nvPr/>
        </p:nvSpPr>
        <p:spPr>
          <a:xfrm>
            <a:off x="7772400" y="3001670"/>
            <a:ext cx="1031038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0" name="Shape 68"/>
          <p:cNvSpPr/>
          <p:nvPr/>
        </p:nvSpPr>
        <p:spPr>
          <a:xfrm>
            <a:off x="7049187" y="2839110"/>
            <a:ext cx="723213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1" name="Shape 69"/>
          <p:cNvSpPr/>
          <p:nvPr/>
        </p:nvSpPr>
        <p:spPr>
          <a:xfrm>
            <a:off x="7772400" y="2839110"/>
            <a:ext cx="757594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2" name="Shape 70"/>
          <p:cNvSpPr/>
          <p:nvPr/>
        </p:nvSpPr>
        <p:spPr>
          <a:xfrm>
            <a:off x="6960824" y="2676550"/>
            <a:ext cx="811576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3" name="Shape 71"/>
          <p:cNvSpPr/>
          <p:nvPr/>
        </p:nvSpPr>
        <p:spPr>
          <a:xfrm>
            <a:off x="7772400" y="2676550"/>
            <a:ext cx="974646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4" name="Shape 72"/>
          <p:cNvSpPr/>
          <p:nvPr/>
        </p:nvSpPr>
        <p:spPr>
          <a:xfrm>
            <a:off x="7040431" y="2513990"/>
            <a:ext cx="73196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5" name="Shape 73"/>
          <p:cNvSpPr/>
          <p:nvPr/>
        </p:nvSpPr>
        <p:spPr>
          <a:xfrm>
            <a:off x="7772400" y="2513990"/>
            <a:ext cx="1038669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6" name="Shape 74"/>
          <p:cNvSpPr/>
          <p:nvPr/>
        </p:nvSpPr>
        <p:spPr>
          <a:xfrm>
            <a:off x="7213222" y="2351430"/>
            <a:ext cx="559178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7" name="Shape 75"/>
          <p:cNvSpPr/>
          <p:nvPr/>
        </p:nvSpPr>
        <p:spPr>
          <a:xfrm>
            <a:off x="7772400" y="2351430"/>
            <a:ext cx="85206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8" name="Shape 76"/>
          <p:cNvSpPr/>
          <p:nvPr/>
        </p:nvSpPr>
        <p:spPr>
          <a:xfrm>
            <a:off x="7447625" y="2188870"/>
            <a:ext cx="324775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79" name="Shape 77"/>
          <p:cNvSpPr/>
          <p:nvPr/>
        </p:nvSpPr>
        <p:spPr>
          <a:xfrm>
            <a:off x="7772400" y="2188870"/>
            <a:ext cx="564079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0" name="Shape 78"/>
          <p:cNvSpPr/>
          <p:nvPr/>
        </p:nvSpPr>
        <p:spPr>
          <a:xfrm>
            <a:off x="7512211" y="2026310"/>
            <a:ext cx="260189" cy="133299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1" name="Shape 79"/>
          <p:cNvSpPr/>
          <p:nvPr/>
        </p:nvSpPr>
        <p:spPr>
          <a:xfrm>
            <a:off x="7772400" y="2026310"/>
            <a:ext cx="559982" cy="133299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2" name="Text 80"/>
          <p:cNvSpPr/>
          <p:nvPr/>
        </p:nvSpPr>
        <p:spPr>
          <a:xfrm>
            <a:off x="9509760" y="196596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49,4</a:t>
            </a:r>
            <a:endParaRPr lang="en-US" sz="5000" dirty="0"/>
          </a:p>
        </p:txBody>
      </p:sp>
      <p:sp>
        <p:nvSpPr>
          <p:cNvPr id="83" name="Text 81"/>
          <p:cNvSpPr/>
          <p:nvPr/>
        </p:nvSpPr>
        <p:spPr>
          <a:xfrm>
            <a:off x="9509760" y="2880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ani, vârsta mediană</a:t>
            </a:r>
            <a:endParaRPr lang="en-US" sz="1400" dirty="0"/>
          </a:p>
        </p:txBody>
      </p:sp>
      <p:sp>
        <p:nvSpPr>
          <p:cNvPr id="84" name="Text 82"/>
          <p:cNvSpPr/>
          <p:nvPr/>
        </p:nvSpPr>
        <p:spPr>
          <a:xfrm>
            <a:off x="9509760" y="3611880"/>
            <a:ext cx="2103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26,6%</a:t>
            </a:r>
            <a:endParaRPr lang="en-US" sz="3600" dirty="0"/>
          </a:p>
        </p:txBody>
      </p:sp>
      <p:sp>
        <p:nvSpPr>
          <p:cNvPr id="85" name="Text 83"/>
          <p:cNvSpPr/>
          <p:nvPr/>
        </p:nvSpPr>
        <p:spPr>
          <a:xfrm>
            <a:off x="9509760" y="4343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au 65 de ani și peste</a:t>
            </a:r>
            <a:endParaRPr lang="en-US" sz="1400" dirty="0"/>
          </a:p>
        </p:txBody>
      </p:sp>
      <p:sp>
        <p:nvSpPr>
          <p:cNvPr id="86" name="Shape 84"/>
          <p:cNvSpPr/>
          <p:nvPr/>
        </p:nvSpPr>
        <p:spPr>
          <a:xfrm>
            <a:off x="594360" y="5257800"/>
            <a:ext cx="10972800" cy="868680"/>
          </a:xfrm>
          <a:prstGeom prst="roundRect">
            <a:avLst>
              <a:gd name="adj" fmla="val 9474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87" name="Text 85"/>
          <p:cNvSpPr/>
          <p:nvPr/>
        </p:nvSpPr>
        <p:spPr>
          <a:xfrm>
            <a:off x="822960" y="5257800"/>
            <a:ext cx="10515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România: </a:t>
            </a:r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vârsta mediană 44,0 ani; 20,3% au 65 de ani și peste. Vârsta mediană: jumătate dintre locuitori sunt mai tineri, jumătate mai în vârstă.</a:t>
            </a:r>
            <a:endParaRPr lang="en-US" sz="1600" dirty="0"/>
          </a:p>
        </p:txBody>
      </p:sp>
      <p:sp>
        <p:nvSpPr>
          <p:cNvPr id="88" name="Text 8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demo_r_pjanind3 și demo_r_pjangrp3; 1 ianuarie 2025, valori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DEMONSTRAȚIA ÎN EXCEL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Piramida în cinci pași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6002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17647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17647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16002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Copiați populația din 2025: bărbații și femeile, pe grupe de vârstă, de la cea mai tânără.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94360" y="247802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914400" y="2642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914400" y="2642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600200" y="247802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Calculați ponderea fiecărei celule: populația celulei ÷ populația totală × 100.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594360" y="3355848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914400" y="352044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91440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600200" y="3355848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Treceți ponderile bărbaților cu semnul minus.</a:t>
            </a:r>
            <a:endParaRPr lang="en-US" sz="1700" dirty="0"/>
          </a:p>
        </p:txBody>
      </p:sp>
      <p:sp>
        <p:nvSpPr>
          <p:cNvPr id="16" name="Shape 14"/>
          <p:cNvSpPr/>
          <p:nvPr/>
        </p:nvSpPr>
        <p:spPr>
          <a:xfrm>
            <a:off x="594360" y="423367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914400" y="439826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14400" y="439826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600200" y="423367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Inserați un grafic cu bare orizontale grupate.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94360" y="511149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914400" y="527608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914400" y="52760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600200" y="511149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Suprapunere 100%, distanță 0 între bare, formatul „0;0” pe axa orizontală.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E94A8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„Pe sexe” din fișierul echipei. Pe ecran, cu fișierul Teleormanului.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REZULTATUL DEMONSTRAȚIEI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Teleorman, 1 ianuarie 2025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Bărbați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715000" y="1417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67766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545134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63372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649528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8978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7539228" y="1737360"/>
            <a:ext cx="9144" cy="3931920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781397" y="5469128"/>
            <a:ext cx="944783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4411980" y="5469128"/>
            <a:ext cx="869247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3726180" y="54508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21940" y="5250688"/>
            <a:ext cx="120424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11980" y="5250688"/>
            <a:ext cx="109302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3726180" y="52324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5–9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455909" y="5032248"/>
            <a:ext cx="1270271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4411980" y="5032248"/>
            <a:ext cx="1165054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3726180" y="50139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10–14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2299668" y="4813808"/>
            <a:ext cx="1426512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4411980" y="4813808"/>
            <a:ext cx="1336469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3726180" y="47955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15–19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2349025" y="4595368"/>
            <a:ext cx="1377155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5" name="Shape 23"/>
          <p:cNvSpPr/>
          <p:nvPr/>
        </p:nvSpPr>
        <p:spPr>
          <a:xfrm>
            <a:off x="4411980" y="4595368"/>
            <a:ext cx="118323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6" name="Text 24"/>
          <p:cNvSpPr/>
          <p:nvPr/>
        </p:nvSpPr>
        <p:spPr>
          <a:xfrm>
            <a:off x="3726180" y="45770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20–24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387710" y="4376928"/>
            <a:ext cx="133847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411980" y="4376928"/>
            <a:ext cx="1037327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3726180" y="43586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25–29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342522" y="4158488"/>
            <a:ext cx="1383658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4411980" y="4158488"/>
            <a:ext cx="1033158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Text 30"/>
          <p:cNvSpPr/>
          <p:nvPr/>
        </p:nvSpPr>
        <p:spPr>
          <a:xfrm>
            <a:off x="3726180" y="41402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30–34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2102074" y="3940048"/>
            <a:ext cx="1624106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411980" y="3940048"/>
            <a:ext cx="135181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5" name="Text 33"/>
          <p:cNvSpPr/>
          <p:nvPr/>
        </p:nvSpPr>
        <p:spPr>
          <a:xfrm>
            <a:off x="3726180" y="39217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35–39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2140926" y="3721608"/>
            <a:ext cx="158525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4411980" y="3721608"/>
            <a:ext cx="1381824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Text 36"/>
          <p:cNvSpPr/>
          <p:nvPr/>
        </p:nvSpPr>
        <p:spPr>
          <a:xfrm>
            <a:off x="3726180" y="37033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40–44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1668034" y="3503168"/>
            <a:ext cx="2058146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4411980" y="3503168"/>
            <a:ext cx="1928918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1" name="Text 39"/>
          <p:cNvSpPr/>
          <p:nvPr/>
        </p:nvSpPr>
        <p:spPr>
          <a:xfrm>
            <a:off x="3726180" y="34848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45–49</a:t>
            </a:r>
            <a:endParaRPr lang="en-US" sz="1300" dirty="0"/>
          </a:p>
        </p:txBody>
      </p:sp>
      <p:sp>
        <p:nvSpPr>
          <p:cNvPr id="42" name="Shape 40"/>
          <p:cNvSpPr/>
          <p:nvPr/>
        </p:nvSpPr>
        <p:spPr>
          <a:xfrm>
            <a:off x="1537639" y="3284728"/>
            <a:ext cx="2188541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4411980" y="3284728"/>
            <a:ext cx="2040471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3726180" y="32664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50–54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424918" y="3066288"/>
            <a:ext cx="2301262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6" name="Shape 44"/>
          <p:cNvSpPr/>
          <p:nvPr/>
        </p:nvSpPr>
        <p:spPr>
          <a:xfrm>
            <a:off x="4411980" y="3066288"/>
            <a:ext cx="2140185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7" name="Text 45"/>
          <p:cNvSpPr/>
          <p:nvPr/>
        </p:nvSpPr>
        <p:spPr>
          <a:xfrm>
            <a:off x="3726180" y="30480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55–59</a:t>
            </a:r>
            <a:endParaRPr lang="en-US" sz="1300" dirty="0"/>
          </a:p>
        </p:txBody>
      </p:sp>
      <p:sp>
        <p:nvSpPr>
          <p:cNvPr id="48" name="Shape 46"/>
          <p:cNvSpPr/>
          <p:nvPr/>
        </p:nvSpPr>
        <p:spPr>
          <a:xfrm>
            <a:off x="2224966" y="2847848"/>
            <a:ext cx="150121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4411980" y="2847848"/>
            <a:ext cx="1572582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0" name="Text 48"/>
          <p:cNvSpPr/>
          <p:nvPr/>
        </p:nvSpPr>
        <p:spPr>
          <a:xfrm>
            <a:off x="3726180" y="28295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60–64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2041545" y="2629408"/>
            <a:ext cx="1684635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4411980" y="2629408"/>
            <a:ext cx="2023129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3" name="Text 51"/>
          <p:cNvSpPr/>
          <p:nvPr/>
        </p:nvSpPr>
        <p:spPr>
          <a:xfrm>
            <a:off x="3726180" y="261112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65–69</a:t>
            </a:r>
            <a:endParaRPr lang="en-US" sz="1300" dirty="0"/>
          </a:p>
        </p:txBody>
      </p:sp>
      <p:sp>
        <p:nvSpPr>
          <p:cNvPr id="54" name="Shape 52"/>
          <p:cNvSpPr/>
          <p:nvPr/>
        </p:nvSpPr>
        <p:spPr>
          <a:xfrm>
            <a:off x="2206790" y="2410968"/>
            <a:ext cx="151939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4411980" y="2410968"/>
            <a:ext cx="2156026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6" name="Text 54"/>
          <p:cNvSpPr/>
          <p:nvPr/>
        </p:nvSpPr>
        <p:spPr>
          <a:xfrm>
            <a:off x="3726180" y="239268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70–74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565461" y="2192528"/>
            <a:ext cx="1160719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4411980" y="2192528"/>
            <a:ext cx="1768675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9" name="Text 57"/>
          <p:cNvSpPr/>
          <p:nvPr/>
        </p:nvSpPr>
        <p:spPr>
          <a:xfrm>
            <a:off x="3726180" y="217424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75–79</a:t>
            </a:r>
            <a:endParaRPr lang="en-US" sz="1300" dirty="0"/>
          </a:p>
        </p:txBody>
      </p:sp>
      <p:sp>
        <p:nvSpPr>
          <p:cNvPr id="60" name="Shape 58"/>
          <p:cNvSpPr/>
          <p:nvPr/>
        </p:nvSpPr>
        <p:spPr>
          <a:xfrm>
            <a:off x="3052026" y="1974088"/>
            <a:ext cx="674154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4411980" y="1974088"/>
            <a:ext cx="1170890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2" name="Text 60"/>
          <p:cNvSpPr/>
          <p:nvPr/>
        </p:nvSpPr>
        <p:spPr>
          <a:xfrm>
            <a:off x="3726180" y="195580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80–84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3186090" y="1755648"/>
            <a:ext cx="540090" cy="181864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4411980" y="1755648"/>
            <a:ext cx="1162386" cy="18186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3726180" y="1737360"/>
            <a:ext cx="685800" cy="218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85+</a:t>
            </a:r>
            <a:endParaRPr lang="en-US" sz="1300" dirty="0"/>
          </a:p>
        </p:txBody>
      </p:sp>
      <p:sp>
        <p:nvSpPr>
          <p:cNvPr id="66" name="Text 64"/>
          <p:cNvSpPr/>
          <p:nvPr/>
        </p:nvSpPr>
        <p:spPr>
          <a:xfrm>
            <a:off x="32004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67" name="Text 65"/>
          <p:cNvSpPr/>
          <p:nvPr/>
        </p:nvSpPr>
        <p:spPr>
          <a:xfrm>
            <a:off x="726948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</a:t>
            </a:r>
            <a:endParaRPr lang="en-US" sz="1300" dirty="0"/>
          </a:p>
        </p:txBody>
      </p:sp>
      <p:sp>
        <p:nvSpPr>
          <p:cNvPr id="68" name="Text 66"/>
          <p:cNvSpPr/>
          <p:nvPr/>
        </p:nvSpPr>
        <p:spPr>
          <a:xfrm>
            <a:off x="136398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69" name="Text 67"/>
          <p:cNvSpPr/>
          <p:nvPr/>
        </p:nvSpPr>
        <p:spPr>
          <a:xfrm>
            <a:off x="622554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300" dirty="0"/>
          </a:p>
        </p:txBody>
      </p:sp>
      <p:sp>
        <p:nvSpPr>
          <p:cNvPr id="70" name="Text 68"/>
          <p:cNvSpPr/>
          <p:nvPr/>
        </p:nvSpPr>
        <p:spPr>
          <a:xfrm>
            <a:off x="240792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71" name="Text 69"/>
          <p:cNvSpPr/>
          <p:nvPr/>
        </p:nvSpPr>
        <p:spPr>
          <a:xfrm>
            <a:off x="518160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300" dirty="0"/>
          </a:p>
        </p:txBody>
      </p:sp>
      <p:sp>
        <p:nvSpPr>
          <p:cNvPr id="72" name="Text 70"/>
          <p:cNvSpPr/>
          <p:nvPr/>
        </p:nvSpPr>
        <p:spPr>
          <a:xfrm>
            <a:off x="3794760" y="570585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7818120" y="1773936"/>
            <a:ext cx="64008" cy="1019048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74" name="Text 72"/>
          <p:cNvSpPr/>
          <p:nvPr/>
        </p:nvSpPr>
        <p:spPr>
          <a:xfrm>
            <a:off x="8046720" y="1773936"/>
            <a:ext cx="3520440" cy="1019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65 de ani și peste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vârful: vârstnicii</a:t>
            </a:r>
            <a:endParaRPr lang="en-US" sz="1700" dirty="0"/>
          </a:p>
        </p:txBody>
      </p:sp>
      <p:sp>
        <p:nvSpPr>
          <p:cNvPr id="75" name="Shape 73"/>
          <p:cNvSpPr/>
          <p:nvPr/>
        </p:nvSpPr>
        <p:spPr>
          <a:xfrm>
            <a:off x="7818120" y="2866136"/>
            <a:ext cx="64008" cy="2111248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76" name="Text 74"/>
          <p:cNvSpPr/>
          <p:nvPr/>
        </p:nvSpPr>
        <p:spPr>
          <a:xfrm>
            <a:off x="8046720" y="2866136"/>
            <a:ext cx="3520440" cy="211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15–64 de ani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mijlocul: vârsta de muncă</a:t>
            </a:r>
            <a:endParaRPr lang="en-US" sz="1700" dirty="0"/>
          </a:p>
        </p:txBody>
      </p:sp>
      <p:sp>
        <p:nvSpPr>
          <p:cNvPr id="77" name="Shape 75"/>
          <p:cNvSpPr/>
          <p:nvPr/>
        </p:nvSpPr>
        <p:spPr>
          <a:xfrm>
            <a:off x="7818120" y="5050536"/>
            <a:ext cx="64008" cy="582168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78" name="Text 76"/>
          <p:cNvSpPr/>
          <p:nvPr/>
        </p:nvSpPr>
        <p:spPr>
          <a:xfrm>
            <a:off x="8046720" y="5050536"/>
            <a:ext cx="3520440" cy="582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0–14 ani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baza: copiii</a:t>
            </a:r>
            <a:endParaRPr lang="en-US" sz="1700" dirty="0"/>
          </a:p>
        </p:txBody>
      </p:sp>
      <p:sp>
        <p:nvSpPr>
          <p:cNvPr id="79" name="Text 77"/>
          <p:cNvSpPr/>
          <p:nvPr/>
        </p:nvSpPr>
        <p:spPr>
          <a:xfrm>
            <a:off x="594360" y="59893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Pondere în populația totală, %. Sursa: Eurostat, demo_r_pjangrp3; valori estimate.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FORME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Cum se citește forma unei piramide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3419856"/>
            <a:ext cx="135788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2345436" y="3419856"/>
            <a:ext cx="135788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124712" y="3209544"/>
            <a:ext cx="119329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2345436" y="3209544"/>
            <a:ext cx="119329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275588" y="2999232"/>
            <a:ext cx="10424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2345436" y="2999232"/>
            <a:ext cx="10424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1412748" y="2788920"/>
            <a:ext cx="9052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2" name="Shape 10"/>
          <p:cNvSpPr/>
          <p:nvPr/>
        </p:nvSpPr>
        <p:spPr>
          <a:xfrm>
            <a:off x="2345436" y="2788920"/>
            <a:ext cx="9052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3" name="Shape 11"/>
          <p:cNvSpPr/>
          <p:nvPr/>
        </p:nvSpPr>
        <p:spPr>
          <a:xfrm>
            <a:off x="1549908" y="2578608"/>
            <a:ext cx="76809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2345436" y="2578608"/>
            <a:ext cx="76809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1687068" y="2368296"/>
            <a:ext cx="63093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2345436" y="2368296"/>
            <a:ext cx="63093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1824228" y="2157984"/>
            <a:ext cx="49377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8" name="Shape 16"/>
          <p:cNvSpPr/>
          <p:nvPr/>
        </p:nvSpPr>
        <p:spPr>
          <a:xfrm>
            <a:off x="2345436" y="2157984"/>
            <a:ext cx="49377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1961388" y="1947672"/>
            <a:ext cx="3566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2345436" y="1947672"/>
            <a:ext cx="3566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2098548" y="1737360"/>
            <a:ext cx="2194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2" name="Shape 20"/>
          <p:cNvSpPr/>
          <p:nvPr/>
        </p:nvSpPr>
        <p:spPr>
          <a:xfrm>
            <a:off x="2345436" y="1737360"/>
            <a:ext cx="2194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6868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Expansivă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86868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Bara de la bază e cea mai lungă; barele se scurtează regulat spre vârf.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34340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4983480" y="3419856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6094476" y="3419856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28" name="Shape 26"/>
          <p:cNvSpPr/>
          <p:nvPr/>
        </p:nvSpPr>
        <p:spPr>
          <a:xfrm>
            <a:off x="4983480" y="3209544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9" name="Shape 27"/>
          <p:cNvSpPr/>
          <p:nvPr/>
        </p:nvSpPr>
        <p:spPr>
          <a:xfrm>
            <a:off x="6094476" y="3209544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0" name="Shape 28"/>
          <p:cNvSpPr/>
          <p:nvPr/>
        </p:nvSpPr>
        <p:spPr>
          <a:xfrm>
            <a:off x="4983480" y="2999232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1" name="Shape 29"/>
          <p:cNvSpPr/>
          <p:nvPr/>
        </p:nvSpPr>
        <p:spPr>
          <a:xfrm>
            <a:off x="6094476" y="2999232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4983480" y="2788920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3" name="Shape 31"/>
          <p:cNvSpPr/>
          <p:nvPr/>
        </p:nvSpPr>
        <p:spPr>
          <a:xfrm>
            <a:off x="6094476" y="2788920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4" name="Shape 32"/>
          <p:cNvSpPr/>
          <p:nvPr/>
        </p:nvSpPr>
        <p:spPr>
          <a:xfrm>
            <a:off x="4983480" y="2578608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5" name="Shape 33"/>
          <p:cNvSpPr/>
          <p:nvPr/>
        </p:nvSpPr>
        <p:spPr>
          <a:xfrm>
            <a:off x="6094476" y="2578608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6" name="Shape 34"/>
          <p:cNvSpPr/>
          <p:nvPr/>
        </p:nvSpPr>
        <p:spPr>
          <a:xfrm>
            <a:off x="4983480" y="2368296"/>
            <a:ext cx="108356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7" name="Shape 35"/>
          <p:cNvSpPr/>
          <p:nvPr/>
        </p:nvSpPr>
        <p:spPr>
          <a:xfrm>
            <a:off x="6094476" y="2368296"/>
            <a:ext cx="108356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8" name="Shape 36"/>
          <p:cNvSpPr/>
          <p:nvPr/>
        </p:nvSpPr>
        <p:spPr>
          <a:xfrm>
            <a:off x="5065776" y="2157984"/>
            <a:ext cx="1001268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9" name="Shape 37"/>
          <p:cNvSpPr/>
          <p:nvPr/>
        </p:nvSpPr>
        <p:spPr>
          <a:xfrm>
            <a:off x="6094476" y="2157984"/>
            <a:ext cx="1001268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0" name="Shape 38"/>
          <p:cNvSpPr/>
          <p:nvPr/>
        </p:nvSpPr>
        <p:spPr>
          <a:xfrm>
            <a:off x="5285232" y="1947672"/>
            <a:ext cx="78181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1" name="Shape 39"/>
          <p:cNvSpPr/>
          <p:nvPr/>
        </p:nvSpPr>
        <p:spPr>
          <a:xfrm>
            <a:off x="6094476" y="1947672"/>
            <a:ext cx="78181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2" name="Shape 40"/>
          <p:cNvSpPr/>
          <p:nvPr/>
        </p:nvSpPr>
        <p:spPr>
          <a:xfrm>
            <a:off x="5614416" y="1737360"/>
            <a:ext cx="452628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3" name="Shape 41"/>
          <p:cNvSpPr/>
          <p:nvPr/>
        </p:nvSpPr>
        <p:spPr>
          <a:xfrm>
            <a:off x="6094476" y="1737360"/>
            <a:ext cx="452628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4" name="Text 42"/>
          <p:cNvSpPr/>
          <p:nvPr/>
        </p:nvSpPr>
        <p:spPr>
          <a:xfrm>
            <a:off x="461772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Staționară</a:t>
            </a:r>
            <a:endParaRPr lang="en-US" sz="2200" dirty="0"/>
          </a:p>
        </p:txBody>
      </p:sp>
      <p:sp>
        <p:nvSpPr>
          <p:cNvPr id="45" name="Text 43"/>
          <p:cNvSpPr/>
          <p:nvPr/>
        </p:nvSpPr>
        <p:spPr>
          <a:xfrm>
            <a:off x="461772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Bare aproape egale până la vârstele înaintate; se scurtează numai sus.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8092440" y="1554480"/>
            <a:ext cx="3474720" cy="4069080"/>
          </a:xfrm>
          <a:prstGeom prst="roundRect">
            <a:avLst>
              <a:gd name="adj" fmla="val 2368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47" name="Shape 45"/>
          <p:cNvSpPr/>
          <p:nvPr/>
        </p:nvSpPr>
        <p:spPr>
          <a:xfrm>
            <a:off x="9116568" y="3419856"/>
            <a:ext cx="69951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48" name="Shape 46"/>
          <p:cNvSpPr/>
          <p:nvPr/>
        </p:nvSpPr>
        <p:spPr>
          <a:xfrm>
            <a:off x="9843516" y="3419856"/>
            <a:ext cx="69951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49" name="Shape 47"/>
          <p:cNvSpPr/>
          <p:nvPr/>
        </p:nvSpPr>
        <p:spPr>
          <a:xfrm>
            <a:off x="8979408" y="3209544"/>
            <a:ext cx="83667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0" name="Shape 48"/>
          <p:cNvSpPr/>
          <p:nvPr/>
        </p:nvSpPr>
        <p:spPr>
          <a:xfrm>
            <a:off x="9843516" y="3209544"/>
            <a:ext cx="83667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1" name="Shape 49"/>
          <p:cNvSpPr/>
          <p:nvPr/>
        </p:nvSpPr>
        <p:spPr>
          <a:xfrm>
            <a:off x="8759952" y="2999232"/>
            <a:ext cx="1056132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2" name="Shape 50"/>
          <p:cNvSpPr/>
          <p:nvPr/>
        </p:nvSpPr>
        <p:spPr>
          <a:xfrm>
            <a:off x="9843516" y="2999232"/>
            <a:ext cx="1056132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3" name="Shape 51"/>
          <p:cNvSpPr/>
          <p:nvPr/>
        </p:nvSpPr>
        <p:spPr>
          <a:xfrm>
            <a:off x="8567928" y="2788920"/>
            <a:ext cx="1248156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4" name="Shape 52"/>
          <p:cNvSpPr/>
          <p:nvPr/>
        </p:nvSpPr>
        <p:spPr>
          <a:xfrm>
            <a:off x="9843516" y="2788920"/>
            <a:ext cx="1248156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5" name="Shape 53"/>
          <p:cNvSpPr/>
          <p:nvPr/>
        </p:nvSpPr>
        <p:spPr>
          <a:xfrm>
            <a:off x="8458200" y="2578608"/>
            <a:ext cx="135788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6" name="Shape 54"/>
          <p:cNvSpPr/>
          <p:nvPr/>
        </p:nvSpPr>
        <p:spPr>
          <a:xfrm>
            <a:off x="9843516" y="2578608"/>
            <a:ext cx="135788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7" name="Shape 55"/>
          <p:cNvSpPr/>
          <p:nvPr/>
        </p:nvSpPr>
        <p:spPr>
          <a:xfrm>
            <a:off x="8513064" y="2368296"/>
            <a:ext cx="1303020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58" name="Shape 56"/>
          <p:cNvSpPr/>
          <p:nvPr/>
        </p:nvSpPr>
        <p:spPr>
          <a:xfrm>
            <a:off x="9843516" y="2368296"/>
            <a:ext cx="1303020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59" name="Shape 57"/>
          <p:cNvSpPr/>
          <p:nvPr/>
        </p:nvSpPr>
        <p:spPr>
          <a:xfrm>
            <a:off x="8650224" y="2157984"/>
            <a:ext cx="1165860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0" name="Shape 58"/>
          <p:cNvSpPr/>
          <p:nvPr/>
        </p:nvSpPr>
        <p:spPr>
          <a:xfrm>
            <a:off x="9843516" y="2157984"/>
            <a:ext cx="1165860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1" name="Shape 59"/>
          <p:cNvSpPr/>
          <p:nvPr/>
        </p:nvSpPr>
        <p:spPr>
          <a:xfrm>
            <a:off x="8869680" y="1947672"/>
            <a:ext cx="94640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2" name="Shape 60"/>
          <p:cNvSpPr/>
          <p:nvPr/>
        </p:nvSpPr>
        <p:spPr>
          <a:xfrm>
            <a:off x="9843516" y="1947672"/>
            <a:ext cx="94640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3" name="Shape 61"/>
          <p:cNvSpPr/>
          <p:nvPr/>
        </p:nvSpPr>
        <p:spPr>
          <a:xfrm>
            <a:off x="9212580" y="1737360"/>
            <a:ext cx="603504" cy="182880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64" name="Shape 62"/>
          <p:cNvSpPr/>
          <p:nvPr/>
        </p:nvSpPr>
        <p:spPr>
          <a:xfrm>
            <a:off x="9843516" y="1737360"/>
            <a:ext cx="603504" cy="182880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65" name="Text 63"/>
          <p:cNvSpPr/>
          <p:nvPr/>
        </p:nvSpPr>
        <p:spPr>
          <a:xfrm>
            <a:off x="8366760" y="3749040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2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Constrictivă</a:t>
            </a:r>
            <a:endParaRPr lang="en-US" sz="2200" dirty="0"/>
          </a:p>
        </p:txBody>
      </p:sp>
      <p:sp>
        <p:nvSpPr>
          <p:cNvPr id="66" name="Text 64"/>
          <p:cNvSpPr/>
          <p:nvPr/>
        </p:nvSpPr>
        <p:spPr>
          <a:xfrm>
            <a:off x="8366760" y="4251960"/>
            <a:ext cx="2971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Baza mai îngustă decât mijlocul: grupele cele mai tinere sunt mai puțin numeroase decât cele de vârstă mijlocie.</a:t>
            </a:r>
            <a:endParaRPr lang="en-US" sz="1500" dirty="0"/>
          </a:p>
        </p:txBody>
      </p:sp>
      <p:sp>
        <p:nvSpPr>
          <p:cNvPr id="67" name="Text 65"/>
          <p:cNvSpPr/>
          <p:nvPr/>
        </p:nvSpPr>
        <p:spPr>
          <a:xfrm>
            <a:off x="594360" y="576072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Forma se citește pe trei zone: baza, mijlocul, vârful.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ÎNAINTEA ORICĂREI COMPARAȚII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verificări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94360" y="15087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110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9110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508760" y="15087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populație?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5087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Adresa din buletin sau locul unde omul locuiește de fapt. Profilul se face pe o singură bază: reședința obișnuită.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94360" y="28803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868680" y="32826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868680" y="32826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08760" y="28803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Aceeași definiție pe toată seria?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937760" y="28803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După recensământul din 2021, în Teleorman cei de 90 de ani și peste scad de la 4 055 la 2 512, fără explicație.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594360" y="4251960"/>
            <a:ext cx="10972800" cy="1225296"/>
          </a:xfrm>
          <a:prstGeom prst="roundRect">
            <a:avLst>
              <a:gd name="adj" fmla="val 671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465429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465429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4251960"/>
            <a:ext cx="338328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Ultimul an și marcajele lui?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4251960"/>
            <a:ext cx="6446520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Populația din 2025 are marcajul „e”: estimată, deci revizuibilă. Notați data descărcării.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FFC24B"/>
          </a:solidFill>
          <a:ln w="12700">
            <a:solidFill>
              <a:srgbClr val="FFC24B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MICROSOFT FORMS · CONT UMF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Exercițiul comun, în patru pași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65960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659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Piramida Teleormanului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670048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072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072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670048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îmbătrânire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511296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64845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648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511296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de dependență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352544"/>
            <a:ext cx="7223760" cy="694944"/>
          </a:xfrm>
          <a:prstGeom prst="roundRect">
            <a:avLst>
              <a:gd name="adj" fmla="val 11842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4897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4897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352544"/>
            <a:ext cx="59436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Natalitatea și fertilitatea</a:t>
            </a:r>
            <a:endParaRPr lang="en-US" sz="1900" dirty="0"/>
          </a:p>
        </p:txBody>
      </p:sp>
      <p:sp>
        <p:nvSpPr>
          <p:cNvPr id="22" name="Shape 20"/>
          <p:cNvSpPr/>
          <p:nvPr/>
        </p:nvSpPr>
        <p:spPr>
          <a:xfrm>
            <a:off x="8321040" y="1783080"/>
            <a:ext cx="3246120" cy="3246120"/>
          </a:xfrm>
          <a:prstGeom prst="roundRect">
            <a:avLst>
              <a:gd name="adj" fmla="val 253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321040" y="1783080"/>
            <a:ext cx="3246120" cy="324612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Codul QR al formularului grupei voastre apare pe ecranul din sală.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321040" y="5120640"/>
            <a:ext cx="3246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dirty="0">
                <a:solidFill>
                  <a:srgbClr val="959BB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/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594360" y="534924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 coleg calculează, altul reface independent. Fiecare predă formularul înainte de a ieși din sală.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PAȘILOR 1 ȘI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și Ilfov, 1 ianuarie 2025</a:t>
            </a:r>
            <a:endParaRPr lang="en-US" sz="30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600200"/>
          <a:ext cx="6949440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828800"/>
                <a:gridCol w="182880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Populația totală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313 033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604 264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Bărbați de 55–59 de ani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13 801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Băieți de 0–4 ani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5 666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—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Copii de 0–14 ani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39 261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103 495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Persoane de 65 de ani și peste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83 121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81 214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7909560" y="1600200"/>
            <a:ext cx="3657600" cy="3072384"/>
          </a:xfrm>
          <a:prstGeom prst="roundRect">
            <a:avLst>
              <a:gd name="adj" fmla="val 2679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6" name="Shape 3"/>
          <p:cNvSpPr/>
          <p:nvPr/>
        </p:nvSpPr>
        <p:spPr>
          <a:xfrm>
            <a:off x="7909560" y="1600200"/>
            <a:ext cx="82296" cy="3072384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7" name="Text 4"/>
          <p:cNvSpPr/>
          <p:nvPr/>
        </p:nvSpPr>
        <p:spPr>
          <a:xfrm>
            <a:off x="8229600" y="1737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Termen nou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0" y="21031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îmbătrânire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8229600" y="2926080"/>
            <a:ext cx="31546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„câți vârstnici (65+) revin la 100 de copii (0–14)”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demo_r_pjangrp3; populația estimată.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DATELE PAȘILOR 3 ȘI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Dependența și natalitatea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4173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3, Teleorman</a:t>
            </a:r>
            <a:endParaRPr lang="en-US" sz="15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783080"/>
          <a:ext cx="5394960" cy="914400"/>
        </p:xfrm>
        <a:graphic>
          <a:graphicData uri="http://schemas.openxmlformats.org/drawingml/2006/table">
            <a:tbl>
              <a:tblPr/>
              <a:tblGrid>
                <a:gridCol w="3749040"/>
                <a:gridCol w="164592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Persoane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0–14 ani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39 261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15–64 de ani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190 651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65+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83 121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România, raportul de dependență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55,6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309360" y="14173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Pasul 4, 2024</a:t>
            </a:r>
            <a:endParaRPr lang="en-US" sz="1500" dirty="0"/>
          </a:p>
        </p:txBody>
      </p:sp>
      <p:graphicFrame>
        <p:nvGraphicFramePr>
          <p:cNvPr id="2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09360" y="1783080"/>
          <a:ext cx="5257800" cy="914400"/>
        </p:xfrm>
        <a:graphic>
          <a:graphicData uri="http://schemas.openxmlformats.org/drawingml/2006/table">
            <a:tbl>
              <a:tblPr/>
              <a:tblGrid>
                <a:gridCol w="2331720"/>
                <a:gridCol w="1463040"/>
                <a:gridCol w="1463040"/>
              </a:tblGrid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21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Teleorman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02532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Ilfov</a:t>
                      </a:r>
                      <a:endParaRPr lang="en-US" sz="15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7C6B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Născuți vii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1 749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4 253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Populația medie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314 257,5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593 963,5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9F8F5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600" b="1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Fertilitatea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1,27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600" dirty="0">
                          <a:solidFill>
                            <a:srgbClr val="11121A"/>
                          </a:solidFill>
                          <a:latin typeface="Palatino Linotype" pitchFamily="34" charset="0"/>
                          <a:ea typeface="Palatino Linotype" pitchFamily="34" charset="-122"/>
                          <a:cs typeface="Palatino Linotype" pitchFamily="34" charset="-120"/>
                        </a:rPr>
                        <a:t>1,09</a:t>
                      </a:r>
                      <a:endParaRPr lang="en-US" sz="1600" dirty="0">
                        <a:latin typeface="Palatino Linotype" charset="0"/>
                        <a:ea typeface="Palatino Linotype" charset="0"/>
                        <a:cs typeface="Palatino Linotype" charset="0"/>
                      </a:endParaRPr>
                    </a:p>
                  </a:txBody>
                  <a:tcPr marL="91440" marR="91440" marT="0" marB="0" anchor="ctr">
                    <a:lnL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6F5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EAE4"/>
                    </a:solidFill>
                  </a:tcPr>
                </a:tc>
              </a:tr>
            </a:tbl>
          </a:graphicData>
        </a:graphic>
      </p:graphicFrame>
      <p:sp>
        <p:nvSpPr>
          <p:cNvPr id="8" name="Shape 4"/>
          <p:cNvSpPr/>
          <p:nvPr/>
        </p:nvSpPr>
        <p:spPr>
          <a:xfrm>
            <a:off x="6309360" y="4114800"/>
            <a:ext cx="525780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9" name="Text 5"/>
          <p:cNvSpPr/>
          <p:nvPr/>
        </p:nvSpPr>
        <p:spPr>
          <a:xfrm>
            <a:off x="6583680" y="4251960"/>
            <a:ext cx="47548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Raportul de dependență: </a:t>
            </a:r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„câți copii și vârstnici la 100 de oameni de 15–64 de ani”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totală de fertilitate: </a:t>
            </a:r>
            <a:pPr indent="0" marL="0">
              <a:buNone/>
            </a:pPr>
            <a:r>
              <a:rPr lang="en-US" sz="1500" i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„câți copii ar avea o femeie, la ratele pe vârste de azi”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Eurostat; valori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92440" y="292608"/>
            <a:ext cx="3474720" cy="420624"/>
          </a:xfrm>
          <a:prstGeom prst="roundRect">
            <a:avLst>
              <a:gd name="adj" fmla="val 50000"/>
            </a:avLst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8092440" y="29260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ÎN ECHIPĂ · EXCEL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594360" y="347472"/>
            <a:ext cx="6858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FC24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PIRAMIDA JUDEȚULUI VOSTRU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94360" y="77724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Același drum, cu fișierul echipei</a:t>
            </a:r>
            <a:endParaRPr lang="en-US" sz="32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914400" y="1993392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914400" y="19933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600200" y="1828800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Foaia „Pe sexe” din fișierul echipei: anul 2025.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594360" y="2724912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914400" y="2889504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288950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2724912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Ponderi din populația totală, cei cinci pași.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594360" y="3621024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914400" y="3785616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914400" y="378561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600200" y="3621024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Titlu complet: județul, data, sursa.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594360" y="4517136"/>
            <a:ext cx="10972800" cy="749808"/>
          </a:xfrm>
          <a:prstGeom prst="roundRect">
            <a:avLst>
              <a:gd name="adj" fmla="val 10976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914400" y="4681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914400" y="4681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600200" y="4517136"/>
            <a:ext cx="969264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Numiți forma: expansivă, staționară sau constrictivă.</a:t>
            </a:r>
            <a:endParaRPr lang="en-US" sz="1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· EXERCIȚIUL COMUN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Cei patru pași, rezolvați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594360" y="1554480"/>
            <a:ext cx="82296" cy="20116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86868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 · Piramida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370332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6868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4,41% · 1,81%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Teleorman: constrictivă. Ilfov: nașterile recente nu produc adulți de 35–49 de ani; surplusul față de țară (28,9% față de 21,8%) se potrivește cu sosirile.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6217920" y="1554480"/>
            <a:ext cx="82296" cy="2011680"/>
          </a:xfrm>
          <a:prstGeom prst="rect">
            <a:avLst/>
          </a:prstGeom>
          <a:solidFill>
            <a:srgbClr val="0E7C6B"/>
          </a:solidFill>
          <a:ln w="12700">
            <a:solidFill>
              <a:srgbClr val="0E7C6B"/>
            </a:solidFill>
            <a:prstDash val="solid"/>
          </a:ln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92240" y="166420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 · Îmbătrânirea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9326880" y="168249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· Ilfov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10312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211,7 · 78,5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283464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Teleorman: 212 vârstnici la 100 de copii.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9436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7" name="Shape 15"/>
          <p:cNvSpPr/>
          <p:nvPr/>
        </p:nvSpPr>
        <p:spPr>
          <a:xfrm>
            <a:off x="594360" y="3749040"/>
            <a:ext cx="82296" cy="2011680"/>
          </a:xfrm>
          <a:prstGeom prst="rect">
            <a:avLst/>
          </a:prstGeom>
          <a:solidFill>
            <a:srgbClr val="4A2D8C"/>
          </a:solidFill>
          <a:ln w="12700">
            <a:solidFill>
              <a:srgbClr val="4A2D8C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6868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A2D8C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 · Dependența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370332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68680" y="4297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64,2 · 43,6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6868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Diferența față de țară vine din vârstnici.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6217920" y="3749040"/>
            <a:ext cx="5349240" cy="2011680"/>
          </a:xfrm>
          <a:prstGeom prst="roundRect">
            <a:avLst>
              <a:gd name="adj" fmla="val 4091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6217920" y="3749040"/>
            <a:ext cx="82296" cy="2011680"/>
          </a:xfrm>
          <a:prstGeom prst="rect">
            <a:avLst/>
          </a:prstGeom>
          <a:solidFill>
            <a:srgbClr val="B02532"/>
          </a:solidFill>
          <a:ln w="12700">
            <a:solidFill>
              <a:srgbClr val="B02532"/>
            </a:solidFill>
            <a:prstDash val="solid"/>
          </a:ln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492240" y="385876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 · Natalitatea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9326880" y="387705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 · Ilfov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429768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5,57 · 7,16</a:t>
            </a:r>
            <a:endParaRPr lang="en-US" sz="3200" dirty="0"/>
          </a:p>
        </p:txBody>
      </p:sp>
      <p:sp>
        <p:nvSpPr>
          <p:cNvPr id="27" name="Text 25"/>
          <p:cNvSpPr/>
          <p:nvPr/>
        </p:nvSpPr>
        <p:spPr>
          <a:xfrm>
            <a:off x="6492240" y="5029200"/>
            <a:ext cx="4846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1 000 de locuitori, în 2024.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demo_r_pjangrp3 și demo_r_gind3; calculul din notele lucrării.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REZULTATELE · PASUL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Natalitate mai mare, fertilitate mai mică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9436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natalității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59436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la 1 000 de locuitori, 2024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4360" y="5074920"/>
            <a:ext cx="329184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688336"/>
            <a:ext cx="1280160" cy="2386584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85800" y="2304288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7,2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68580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423160" y="3218688"/>
            <a:ext cx="1280160" cy="1856232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2240280" y="2834640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5,6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224028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206240" y="15087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Rata totală de fertilitate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206240" y="187452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copii pe femeie, 2024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206240" y="5074920"/>
            <a:ext cx="3291840" cy="18288"/>
          </a:xfrm>
          <a:prstGeom prst="rect">
            <a:avLst/>
          </a:prstGeom>
          <a:solidFill>
            <a:srgbClr val="C9C6BE"/>
          </a:solidFill>
          <a:ln w="12700">
            <a:solidFill>
              <a:srgbClr val="C9C6BE"/>
            </a:solidFill>
            <a:prstDash val="solid"/>
          </a:ln>
        </p:spPr>
        <p:txBody>
          <a:bodyPr/>
          <a:p/>
        </p:txBody>
      </p:sp>
      <p:sp>
        <p:nvSpPr>
          <p:cNvPr id="16" name="Shape 14"/>
          <p:cNvSpPr/>
          <p:nvPr/>
        </p:nvSpPr>
        <p:spPr>
          <a:xfrm>
            <a:off x="4480560" y="3147974"/>
            <a:ext cx="1280160" cy="1926946"/>
          </a:xfrm>
          <a:prstGeom prst="rect">
            <a:avLst/>
          </a:prstGeom>
          <a:solidFill>
            <a:srgbClr val="27D3BE"/>
          </a:solidFill>
          <a:ln w="12700">
            <a:solidFill>
              <a:srgbClr val="27D3BE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4297680" y="2763926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1,09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429768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Ilfov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6035040" y="2829763"/>
            <a:ext cx="1280160" cy="2245157"/>
          </a:xfrm>
          <a:prstGeom prst="rect">
            <a:avLst/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5852160" y="2445715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1,27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5852160" y="5148072"/>
            <a:ext cx="1645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Teleorman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863840" y="1508760"/>
            <a:ext cx="3703320" cy="3657600"/>
          </a:xfrm>
          <a:prstGeom prst="roundRect">
            <a:avLst>
              <a:gd name="adj" fmla="val 225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8138160" y="16459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De ce?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8138160" y="2240280"/>
            <a:ext cx="320040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Femeile de 15–49 de ani sunt 25,9% din populația Ilfovului și 17,7% din a Teleormanului.</a:t>
            </a:r>
            <a:endParaRPr lang="en-US" sz="1600" dirty="0"/>
          </a:p>
          <a:p>
            <a:pPr indent="0" marL="0">
              <a:buNone/>
            </a:pPr>
            <a:r>
              <a:rPr lang="en-US" sz="800" dirty="0">
                <a:solidFill>
                  <a:srgbClr val="000000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 </a:t>
            </a:r>
            <a:endParaRPr lang="en-US" sz="1600" dirty="0"/>
          </a:p>
          <a:p>
            <a:pPr indent="0" marL="0">
              <a:buNone/>
            </a:pPr>
            <a:r>
              <a:rPr lang="en-US" sz="16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Natalitatea numără nașterile la toată populația; fertilitatea nu depinde de câte femei sunt.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94360" y="6382512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Sursa: Eurostat, demo_r_gind3 și demo_r_find3; valori estimate.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6F5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94360" y="347472"/>
            <a:ext cx="10972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02532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ACASĂ, ÎN CEL MULT DOUĂ ZILE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94360" y="694944"/>
            <a:ext cx="109728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Capitolul demografic al județului vostru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94360" y="1554480"/>
            <a:ext cx="10972800" cy="777240"/>
          </a:xfrm>
          <a:prstGeom prst="roundRect">
            <a:avLst>
              <a:gd name="adj" fmla="val 10588"/>
            </a:avLst>
          </a:prstGeom>
          <a:solidFill>
            <a:srgbClr val="1D1F2B"/>
          </a:solidFill>
          <a:ln w="12700">
            <a:solidFill>
              <a:srgbClr val="1D1F2B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8680" y="1554480"/>
            <a:ext cx="10424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Sinteză, prin rotație: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indicator ați pune pe prima pagină a profilului și ce serviciu decurge din el?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594360" y="2514600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868680" y="2578608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868680" y="2578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08760" y="2514600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Piramidele din 2025 și 2019, cu rezerva saltului din 2021–2022.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94360" y="3136392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1" name="Shape 9"/>
          <p:cNvSpPr/>
          <p:nvPr/>
        </p:nvSpPr>
        <p:spPr>
          <a:xfrm>
            <a:off x="868680" y="3200400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68680" y="32004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508760" y="313639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Indicele de îmbătrânire și rapoartele de dependență și de feminitate, comparate cu țara.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3758184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868680" y="3822192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68680" y="3822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508760" y="3758184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Din Eurostat: natalitatea, fertilitatea, sporul natural, soldul migrației (2024).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594360" y="4379976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F9F8F5"/>
          </a:solidFill>
          <a:ln w="12700">
            <a:solidFill>
              <a:srgbClr val="F9F8F5"/>
            </a:solidFill>
            <a:prstDash val="solid"/>
          </a:ln>
        </p:spPr>
        <p:txBody>
          <a:bodyPr/>
          <a:p/>
        </p:txBody>
      </p:sp>
      <p:sp>
        <p:nvSpPr>
          <p:cNvPr id="19" name="Shape 17"/>
          <p:cNvSpPr/>
          <p:nvPr/>
        </p:nvSpPr>
        <p:spPr>
          <a:xfrm>
            <a:off x="868680" y="4443984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68680" y="4443984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508760" y="4379976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 constatare și o consecință pentru serviciile din 2030–2040.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94360" y="5001768"/>
            <a:ext cx="10972800" cy="548640"/>
          </a:xfrm>
          <a:prstGeom prst="roundRect">
            <a:avLst>
              <a:gd name="adj" fmla="val 15000"/>
            </a:avLst>
          </a:prstGeom>
          <a:solidFill>
            <a:srgbClr val="ECEAE4"/>
          </a:solidFill>
          <a:ln w="12700">
            <a:solidFill>
              <a:srgbClr val="ECEAE4"/>
            </a:solidFill>
            <a:prstDash val="solid"/>
          </a:ln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868680" y="5065776"/>
            <a:ext cx="420624" cy="420624"/>
          </a:xfrm>
          <a:prstGeom prst="ellipse">
            <a:avLst/>
          </a:prstGeom>
          <a:solidFill>
            <a:srgbClr val="FF4757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868680" y="506577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508760" y="5001768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Opțional: proiecția EUROPOP2019 pentru județ (2025, 2040), cu rezerva bazei din 2019.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94360" y="57150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E7C6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Individual, în formularul de acasă, cu fișierul Excel.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2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800" y="822960"/>
            <a:ext cx="3840480" cy="329184"/>
          </a:xfrm>
          <a:prstGeom prst="roundRect">
            <a:avLst>
              <a:gd name="adj" fmla="val 50000"/>
            </a:avLst>
          </a:prstGeom>
          <a:solidFill>
            <a:srgbClr val="FF4757"/>
          </a:solidFill>
          <a:ln w="12700">
            <a:solidFill>
              <a:srgbClr val="FF4757"/>
            </a:solidFill>
            <a:prstDash val="solid"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685800" y="82296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E060B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ULTIMELE CINCI MINUTE · ANONIM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058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Trei întrebări pentru final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914400" y="267004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914400" y="267004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00200" y="25146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 fost util azi?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914400" y="353872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914400" y="353872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600200" y="338328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Unde v-am pierdut?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914400" y="4407408"/>
            <a:ext cx="420624" cy="420624"/>
          </a:xfrm>
          <a:prstGeom prst="ellipse">
            <a:avLst/>
          </a:prstGeom>
          <a:solidFill>
            <a:srgbClr val="FFC24B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914400" y="44074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1121A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600200" y="425196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Ce ați putea folosi mâine?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549640" y="2514600"/>
            <a:ext cx="3017520" cy="246888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8549640" y="2514600"/>
            <a:ext cx="3017520" cy="2468880"/>
          </a:xfrm>
          <a:prstGeom prst="rect">
            <a:avLst/>
          </a:prstGeom>
          <a:noFill/>
          <a:ln/>
        </p:spPr>
        <p:txBody>
          <a:bodyPr wrap="square" lIns="228600" tIns="0" rIns="228600" bIns="0" rtlCol="0" anchor="ctr"/>
          <a:lstStyle/>
          <a:p>
            <a:pPr algn="ctr" indent="0" marL="0">
              <a:buNone/>
            </a:pPr>
            <a:r>
              <a:rPr lang="en-US" sz="1800" dirty="0" i="1">
                <a:solidFill>
                  <a:srgbClr val="585A64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Mentimeter: intrați pe menti.com cu codul afișat pe ecran.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594360" y="534924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27D3BE"/>
                </a:solidFill>
                <a:latin typeface="Palatino Linotype" pitchFamily="34" charset="0"/>
                <a:ea typeface="Palatino Linotype" pitchFamily="34" charset="-122"/>
                <a:cs typeface="Palatino Linotype" pitchFamily="34" charset="-120"/>
              </a:rPr>
              <a:t>Luni, pe pagina disciplinei, veți găsi două modificări făcute pe baza răspunsurilor.</a:t>
            </a:r>
            <a:endParaRPr lang="en-US" sz="1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LP02 - Cine vor fi pacienții peste zece ani?</dc:title>
  <dc:subject>PptxGenJS Presentation</dc:subject>
  <dc:creator>Conf. Univ. Dr. Adrian Pana</dc:creator>
  <cp:lastModifiedBy>Conf. Univ. Dr. Adrian Pana</cp:lastModifiedBy>
  <cp:revision>1</cp:revision>
  <dcterms:created xsi:type="dcterms:W3CDTF">2026-10-11T08:24:39Z</dcterms:created>
  <dcterms:modified xsi:type="dcterms:W3CDTF">2026-10-11T08:24:39Z</dcterms:modified>
  <cp:keywords>sursa_amprenta=52c9048381f20302; proiectie</cp:keywords>
</cp:coreProperties>
</file>