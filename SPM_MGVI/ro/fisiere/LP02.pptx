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Criteriu de lucru: comparați lungimea barelor de jos, de la mijloc și de sus.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Mortalitatea nu adaugă persoane la o vârstă; fertilitatea Ilfovului e cea mai mică, deci nici nașterile nu explică forma.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320040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77724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LUCRAREA PRACTICĂ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 vor fi pacienții peste zece ani?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67512" y="3749040"/>
            <a:ext cx="1280160" cy="27432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9776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Profilul de sănătate al județului (II)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Structura populației și piramida vârstelor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967872" y="5372608"/>
            <a:ext cx="1130408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098280" y="5372608"/>
            <a:ext cx="1063808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42667" y="5103368"/>
            <a:ext cx="1355613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098280" y="5103368"/>
            <a:ext cx="1287361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738275" y="4834128"/>
            <a:ext cx="1360005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098280" y="4834128"/>
            <a:ext cx="1287366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54654" y="4564888"/>
            <a:ext cx="1443626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098280" y="4564888"/>
            <a:ext cx="1364237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751201" y="4295648"/>
            <a:ext cx="1347079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098280" y="4295648"/>
            <a:ext cx="1241242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772710" y="4026408"/>
            <a:ext cx="1325570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098280" y="4026408"/>
            <a:ext cx="1199118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673512" y="3757168"/>
            <a:ext cx="1424768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098280" y="3757168"/>
            <a:ext cx="1300938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302802" y="3487928"/>
            <a:ext cx="1795478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098280" y="3487928"/>
            <a:ext cx="1659519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381580" y="3218688"/>
            <a:ext cx="1716700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098280" y="3218688"/>
            <a:ext cx="1594051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143900" y="2949448"/>
            <a:ext cx="1954380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098280" y="2949448"/>
            <a:ext cx="1858269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245358" y="2680208"/>
            <a:ext cx="1852922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9098280" y="2680208"/>
            <a:ext cx="1818245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302759" y="2410968"/>
            <a:ext cx="1795521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9098280" y="2410968"/>
            <a:ext cx="1843119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868875" y="2141728"/>
            <a:ext cx="1229405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9098280" y="2141728"/>
            <a:ext cx="1385599" cy="232664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7735132" y="1872488"/>
            <a:ext cx="1363148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9098280" y="1872488"/>
            <a:ext cx="1769568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7977067" y="1603248"/>
            <a:ext cx="1121213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9098280" y="1603248"/>
            <a:ext cx="1582800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8386806" y="1334008"/>
            <a:ext cx="711474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9098280" y="1334008"/>
            <a:ext cx="1117266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8703925" y="1064768"/>
            <a:ext cx="394355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9098280" y="1064768"/>
            <a:ext cx="728418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8776328" y="795528"/>
            <a:ext cx="321952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098280" y="795528"/>
            <a:ext cx="718659" cy="2326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675120" y="5760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România, 1 ianuarie 2025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ÎNAINTEA ORICĂRUI CALCUL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TOATĂ GRUPA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Care dintre ele este Teleormanul?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Bărbați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31920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Femei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5950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36930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7464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15416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8978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93902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963683" y="4823993"/>
            <a:ext cx="98525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589020" y="4823993"/>
            <a:ext cx="92544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948940" y="480822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0–4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674359" y="4648733"/>
            <a:ext cx="1274581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589020" y="4648733"/>
            <a:ext cx="1220353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762553" y="4473473"/>
            <a:ext cx="118638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589020" y="4473473"/>
            <a:ext cx="1129302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828925" y="4298213"/>
            <a:ext cx="1120015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589020" y="4298213"/>
            <a:ext cx="1048123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2948940" y="428244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15–19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042459" y="4122953"/>
            <a:ext cx="906481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589020" y="4122953"/>
            <a:ext cx="869073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894193" y="3947693"/>
            <a:ext cx="105474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3589020" y="3947693"/>
            <a:ext cx="110936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628315" y="3772433"/>
            <a:ext cx="1320625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589020" y="3772433"/>
            <a:ext cx="142044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948940" y="375666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30–34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05117" y="3597173"/>
            <a:ext cx="1943823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3589020" y="3597173"/>
            <a:ext cx="2064033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1122600" y="3421913"/>
            <a:ext cx="1826340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589020" y="3421913"/>
            <a:ext cx="181601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1061293" y="3246653"/>
            <a:ext cx="188764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589020" y="3246653"/>
            <a:ext cx="1821469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948940" y="323088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45–49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541680" y="3071393"/>
            <a:ext cx="1407260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589020" y="3071393"/>
            <a:ext cx="1424210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1631432" y="2896133"/>
            <a:ext cx="1317508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3589020" y="2896133"/>
            <a:ext cx="1344135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2240017" y="2720873"/>
            <a:ext cx="708923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3589020" y="2720873"/>
            <a:ext cx="837121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48940" y="270510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60–64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170917" y="2545613"/>
            <a:ext cx="778023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3589020" y="2545613"/>
            <a:ext cx="1029679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2316975" y="2370353"/>
            <a:ext cx="631965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3589020" y="2370353"/>
            <a:ext cx="876867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2578373" y="2195093"/>
            <a:ext cx="37056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3589020" y="2195093"/>
            <a:ext cx="55299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2948940" y="217932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75–79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766903" y="2019833"/>
            <a:ext cx="18203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3589020" y="2019833"/>
            <a:ext cx="336212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2803661" y="1844573"/>
            <a:ext cx="145279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3589020" y="1844573"/>
            <a:ext cx="370697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32004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66928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110490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488442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88976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09956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299466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6217920" y="137160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6217920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Bărbați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9555480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Femei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778306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999286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699820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1077772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1334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11562588" y="1828800"/>
            <a:ext cx="9144" cy="315468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7862189" y="4823993"/>
            <a:ext cx="710311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9212580" y="4823993"/>
            <a:ext cx="653521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8572500" y="480822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0–4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667123" y="4648733"/>
            <a:ext cx="90537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9212580" y="4648733"/>
            <a:ext cx="821760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7617479" y="4473473"/>
            <a:ext cx="955021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9212580" y="4473473"/>
            <a:ext cx="875917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7500013" y="4298213"/>
            <a:ext cx="107248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9212580" y="4298213"/>
            <a:ext cx="1004791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8572500" y="428244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15–19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7537121" y="4122953"/>
            <a:ext cx="1035379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4" name="Shape 82"/>
          <p:cNvSpPr/>
          <p:nvPr/>
        </p:nvSpPr>
        <p:spPr>
          <a:xfrm>
            <a:off x="9212580" y="4122953"/>
            <a:ext cx="889581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5" name="Shape 83"/>
          <p:cNvSpPr/>
          <p:nvPr/>
        </p:nvSpPr>
        <p:spPr>
          <a:xfrm>
            <a:off x="7566205" y="3947693"/>
            <a:ext cx="1006295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6" name="Shape 84"/>
          <p:cNvSpPr/>
          <p:nvPr/>
        </p:nvSpPr>
        <p:spPr>
          <a:xfrm>
            <a:off x="9212580" y="3947693"/>
            <a:ext cx="779888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7" name="Shape 85"/>
          <p:cNvSpPr/>
          <p:nvPr/>
        </p:nvSpPr>
        <p:spPr>
          <a:xfrm>
            <a:off x="7532231" y="3772433"/>
            <a:ext cx="1040269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8" name="Shape 86"/>
          <p:cNvSpPr/>
          <p:nvPr/>
        </p:nvSpPr>
        <p:spPr>
          <a:xfrm>
            <a:off x="9212580" y="3772433"/>
            <a:ext cx="77675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8572500" y="375666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30–34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7351457" y="3597173"/>
            <a:ext cx="1221043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91" name="Shape 89"/>
          <p:cNvSpPr/>
          <p:nvPr/>
        </p:nvSpPr>
        <p:spPr>
          <a:xfrm>
            <a:off x="9212580" y="3597173"/>
            <a:ext cx="101632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92" name="Shape 90"/>
          <p:cNvSpPr/>
          <p:nvPr/>
        </p:nvSpPr>
        <p:spPr>
          <a:xfrm>
            <a:off x="7380667" y="3421913"/>
            <a:ext cx="1191833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9212580" y="3421913"/>
            <a:ext cx="1038890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94" name="Shape 92"/>
          <p:cNvSpPr/>
          <p:nvPr/>
        </p:nvSpPr>
        <p:spPr>
          <a:xfrm>
            <a:off x="7025135" y="3246653"/>
            <a:ext cx="1547365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95" name="Shape 93"/>
          <p:cNvSpPr/>
          <p:nvPr/>
        </p:nvSpPr>
        <p:spPr>
          <a:xfrm>
            <a:off x="9212580" y="3246653"/>
            <a:ext cx="1450208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96" name="Text 94"/>
          <p:cNvSpPr/>
          <p:nvPr/>
        </p:nvSpPr>
        <p:spPr>
          <a:xfrm>
            <a:off x="8572500" y="323088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45–49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6927100" y="3071393"/>
            <a:ext cx="1645400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98" name="Shape 96"/>
          <p:cNvSpPr/>
          <p:nvPr/>
        </p:nvSpPr>
        <p:spPr>
          <a:xfrm>
            <a:off x="9212580" y="3071393"/>
            <a:ext cx="1534077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99" name="Shape 97"/>
          <p:cNvSpPr/>
          <p:nvPr/>
        </p:nvSpPr>
        <p:spPr>
          <a:xfrm>
            <a:off x="6842354" y="2896133"/>
            <a:ext cx="1730146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0" name="Shape 98"/>
          <p:cNvSpPr/>
          <p:nvPr/>
        </p:nvSpPr>
        <p:spPr>
          <a:xfrm>
            <a:off x="9212580" y="2896133"/>
            <a:ext cx="160904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01" name="Shape 99"/>
          <p:cNvSpPr/>
          <p:nvPr/>
        </p:nvSpPr>
        <p:spPr>
          <a:xfrm>
            <a:off x="7443850" y="2720873"/>
            <a:ext cx="1128650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2" name="Shape 100"/>
          <p:cNvSpPr/>
          <p:nvPr/>
        </p:nvSpPr>
        <p:spPr>
          <a:xfrm>
            <a:off x="9212580" y="2720873"/>
            <a:ext cx="1182306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/>
          <p:nvPr/>
        </p:nvSpPr>
        <p:spPr>
          <a:xfrm>
            <a:off x="8572500" y="270510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60–64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7305950" y="2545613"/>
            <a:ext cx="1266550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5" name="Shape 103"/>
          <p:cNvSpPr/>
          <p:nvPr/>
        </p:nvSpPr>
        <p:spPr>
          <a:xfrm>
            <a:off x="9212580" y="2545613"/>
            <a:ext cx="1521039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06" name="Shape 104"/>
          <p:cNvSpPr/>
          <p:nvPr/>
        </p:nvSpPr>
        <p:spPr>
          <a:xfrm>
            <a:off x="7430185" y="2370353"/>
            <a:ext cx="1142315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7" name="Shape 105"/>
          <p:cNvSpPr/>
          <p:nvPr/>
        </p:nvSpPr>
        <p:spPr>
          <a:xfrm>
            <a:off x="9212580" y="2370353"/>
            <a:ext cx="162095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08" name="Shape 106"/>
          <p:cNvSpPr/>
          <p:nvPr/>
        </p:nvSpPr>
        <p:spPr>
          <a:xfrm>
            <a:off x="7699843" y="2195093"/>
            <a:ext cx="872657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9" name="Shape 107"/>
          <p:cNvSpPr/>
          <p:nvPr/>
        </p:nvSpPr>
        <p:spPr>
          <a:xfrm>
            <a:off x="9212580" y="2195093"/>
            <a:ext cx="132973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10" name="Text 108"/>
          <p:cNvSpPr/>
          <p:nvPr/>
        </p:nvSpPr>
        <p:spPr>
          <a:xfrm>
            <a:off x="8572500" y="2179320"/>
            <a:ext cx="640080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75–79</a:t>
            </a:r>
            <a:endParaRPr lang="en-US" sz="1300" dirty="0"/>
          </a:p>
        </p:txBody>
      </p:sp>
      <p:sp>
        <p:nvSpPr>
          <p:cNvPr id="111" name="Shape 109"/>
          <p:cNvSpPr/>
          <p:nvPr/>
        </p:nvSpPr>
        <p:spPr>
          <a:xfrm>
            <a:off x="8065654" y="2019833"/>
            <a:ext cx="506846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12" name="Shape 110"/>
          <p:cNvSpPr/>
          <p:nvPr/>
        </p:nvSpPr>
        <p:spPr>
          <a:xfrm>
            <a:off x="9212580" y="2019833"/>
            <a:ext cx="880304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13" name="Shape 111"/>
          <p:cNvSpPr/>
          <p:nvPr/>
        </p:nvSpPr>
        <p:spPr>
          <a:xfrm>
            <a:off x="8166447" y="1844573"/>
            <a:ext cx="406053" cy="14371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14" name="Shape 112"/>
          <p:cNvSpPr/>
          <p:nvPr/>
        </p:nvSpPr>
        <p:spPr>
          <a:xfrm>
            <a:off x="9212580" y="1844573"/>
            <a:ext cx="873911" cy="143713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15" name="Text 113"/>
          <p:cNvSpPr/>
          <p:nvPr/>
        </p:nvSpPr>
        <p:spPr>
          <a:xfrm>
            <a:off x="594360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300" dirty="0"/>
          </a:p>
        </p:txBody>
      </p:sp>
      <p:sp>
        <p:nvSpPr>
          <p:cNvPr id="116" name="Text 114"/>
          <p:cNvSpPr/>
          <p:nvPr/>
        </p:nvSpPr>
        <p:spPr>
          <a:xfrm>
            <a:off x="1129284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300" dirty="0"/>
          </a:p>
        </p:txBody>
      </p:sp>
      <p:sp>
        <p:nvSpPr>
          <p:cNvPr id="117" name="Text 115"/>
          <p:cNvSpPr/>
          <p:nvPr/>
        </p:nvSpPr>
        <p:spPr>
          <a:xfrm>
            <a:off x="672846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1050798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300" dirty="0"/>
          </a:p>
        </p:txBody>
      </p:sp>
      <p:sp>
        <p:nvSpPr>
          <p:cNvPr id="119" name="Text 117"/>
          <p:cNvSpPr/>
          <p:nvPr/>
        </p:nvSpPr>
        <p:spPr>
          <a:xfrm>
            <a:off x="751332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300" dirty="0"/>
          </a:p>
        </p:txBody>
      </p:sp>
      <p:sp>
        <p:nvSpPr>
          <p:cNvPr id="120" name="Text 118"/>
          <p:cNvSpPr/>
          <p:nvPr/>
        </p:nvSpPr>
        <p:spPr>
          <a:xfrm>
            <a:off x="972312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300" dirty="0"/>
          </a:p>
        </p:txBody>
      </p:sp>
      <p:sp>
        <p:nvSpPr>
          <p:cNvPr id="121" name="Text 119"/>
          <p:cNvSpPr/>
          <p:nvPr/>
        </p:nvSpPr>
        <p:spPr>
          <a:xfrm>
            <a:off x="8618220" y="50200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594360" y="544068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23" name="Text 121"/>
          <p:cNvSpPr/>
          <p:nvPr/>
        </p:nvSpPr>
        <p:spPr>
          <a:xfrm>
            <a:off x="82296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ar planifica diferit directorul spitalului județean în fiecare județ?</a:t>
            </a:r>
            <a:endParaRPr lang="en-US" sz="2000" dirty="0"/>
          </a:p>
        </p:txBody>
      </p:sp>
      <p:sp>
        <p:nvSpPr>
          <p:cNvPr id="124" name="Text 122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Pondere în populația totală, %, 1 ianuarie 2025. Sursa: Eurostat, demo_r_pjangrp3; valori estimate.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RĂSPUNSUL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 ele sunt 9,3 ani de vârstă mediană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Ilfov (A)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471790" y="4789830"/>
            <a:ext cx="631330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103120" y="4789830"/>
            <a:ext cx="593003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86399" y="4627270"/>
            <a:ext cx="816721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103120" y="4627270"/>
            <a:ext cx="781974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342911" y="4464710"/>
            <a:ext cx="760209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103120" y="4464710"/>
            <a:ext cx="723630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85440" y="4302150"/>
            <a:ext cx="717680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103120" y="4302150"/>
            <a:ext cx="671613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522268" y="4139590"/>
            <a:ext cx="580852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103120" y="4139590"/>
            <a:ext cx="556882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427263" y="3977030"/>
            <a:ext cx="675857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103120" y="3977030"/>
            <a:ext cx="710855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56894" y="3814470"/>
            <a:ext cx="846226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103120" y="3814470"/>
            <a:ext cx="910187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57564" y="3651910"/>
            <a:ext cx="1245556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103120" y="3651910"/>
            <a:ext cx="1322584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32844" y="3489350"/>
            <a:ext cx="1170276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103120" y="3489350"/>
            <a:ext cx="1163660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93560" y="3326790"/>
            <a:ext cx="1209560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103120" y="3326790"/>
            <a:ext cx="1167155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201381" y="3164230"/>
            <a:ext cx="901739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2103120" y="3164230"/>
            <a:ext cx="912601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258891" y="3001670"/>
            <a:ext cx="844229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2103120" y="3001670"/>
            <a:ext cx="861290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648859" y="2839110"/>
            <a:ext cx="454261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2103120" y="2839110"/>
            <a:ext cx="536408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604581" y="2676550"/>
            <a:ext cx="498539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103120" y="2676550"/>
            <a:ext cx="659794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698172" y="2513990"/>
            <a:ext cx="404948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2103120" y="2513990"/>
            <a:ext cx="561876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865669" y="2351430"/>
            <a:ext cx="237451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2103120" y="2351430"/>
            <a:ext cx="354345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1986475" y="2188870"/>
            <a:ext cx="116645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03120" y="2188870"/>
            <a:ext cx="215437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2010029" y="2026310"/>
            <a:ext cx="93091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2103120" y="2026310"/>
            <a:ext cx="237534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840480" y="1965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40,1</a:t>
            </a:r>
            <a:endParaRPr lang="en-US" sz="5000" dirty="0"/>
          </a:p>
        </p:txBody>
      </p:sp>
      <p:sp>
        <p:nvSpPr>
          <p:cNvPr id="42" name="Text 40"/>
          <p:cNvSpPr/>
          <p:nvPr/>
        </p:nvSpPr>
        <p:spPr>
          <a:xfrm>
            <a:off x="3840480" y="2880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ani, vârsta mediană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840480" y="36118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13,4%</a:t>
            </a:r>
            <a:endParaRPr lang="en-US" sz="3600" dirty="0"/>
          </a:p>
        </p:txBody>
      </p:sp>
      <p:sp>
        <p:nvSpPr>
          <p:cNvPr id="44" name="Text 42"/>
          <p:cNvSpPr/>
          <p:nvPr/>
        </p:nvSpPr>
        <p:spPr>
          <a:xfrm>
            <a:off x="3840480" y="4343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 65 de ani și peste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263640" y="14630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 (B)</a:t>
            </a:r>
            <a:endParaRPr lang="en-US" sz="2200" dirty="0"/>
          </a:p>
        </p:txBody>
      </p:sp>
      <p:sp>
        <p:nvSpPr>
          <p:cNvPr id="46" name="Shape 44"/>
          <p:cNvSpPr/>
          <p:nvPr/>
        </p:nvSpPr>
        <p:spPr>
          <a:xfrm>
            <a:off x="7317249" y="4789830"/>
            <a:ext cx="455151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772400" y="4789830"/>
            <a:ext cx="418761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7192255" y="4627270"/>
            <a:ext cx="580145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7772400" y="4627270"/>
            <a:ext cx="526564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7160445" y="4464710"/>
            <a:ext cx="611955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7772400" y="4464710"/>
            <a:ext cx="561267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7085175" y="4302150"/>
            <a:ext cx="687225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7772400" y="4302150"/>
            <a:ext cx="643846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7108953" y="4139590"/>
            <a:ext cx="663447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7772400" y="4139590"/>
            <a:ext cx="570023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7127590" y="3977030"/>
            <a:ext cx="644810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7772400" y="3977030"/>
            <a:ext cx="499734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7105820" y="3814470"/>
            <a:ext cx="666580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7772400" y="3814470"/>
            <a:ext cx="497726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6989984" y="3651910"/>
            <a:ext cx="782416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7772400" y="3651910"/>
            <a:ext cx="651237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008701" y="3489350"/>
            <a:ext cx="763699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7772400" y="3489350"/>
            <a:ext cx="665696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6780884" y="3326790"/>
            <a:ext cx="991516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7772400" y="3326790"/>
            <a:ext cx="929260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6718066" y="3164230"/>
            <a:ext cx="1054334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7772400" y="3164230"/>
            <a:ext cx="983001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6663763" y="3001670"/>
            <a:ext cx="1108637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7772400" y="3001670"/>
            <a:ext cx="1031038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7049187" y="2839110"/>
            <a:ext cx="723213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7772400" y="2839110"/>
            <a:ext cx="757594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6960824" y="2676550"/>
            <a:ext cx="811576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7772400" y="2676550"/>
            <a:ext cx="974646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7040431" y="2513990"/>
            <a:ext cx="731969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7772400" y="2513990"/>
            <a:ext cx="1038669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213222" y="2351430"/>
            <a:ext cx="559178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7772400" y="2351430"/>
            <a:ext cx="852062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7447625" y="2188870"/>
            <a:ext cx="324775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7772400" y="2188870"/>
            <a:ext cx="564079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7512211" y="2026310"/>
            <a:ext cx="260189" cy="133299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7772400" y="2026310"/>
            <a:ext cx="559982" cy="133299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9509760" y="1965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49,4</a:t>
            </a:r>
            <a:endParaRPr lang="en-US" sz="5000" dirty="0"/>
          </a:p>
        </p:txBody>
      </p:sp>
      <p:sp>
        <p:nvSpPr>
          <p:cNvPr id="83" name="Text 81"/>
          <p:cNvSpPr/>
          <p:nvPr/>
        </p:nvSpPr>
        <p:spPr>
          <a:xfrm>
            <a:off x="9509760" y="2880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ani, vârsta mediană</a:t>
            </a:r>
            <a:endParaRPr lang="en-US" sz="1400" dirty="0"/>
          </a:p>
        </p:txBody>
      </p:sp>
      <p:sp>
        <p:nvSpPr>
          <p:cNvPr id="84" name="Text 82"/>
          <p:cNvSpPr/>
          <p:nvPr/>
        </p:nvSpPr>
        <p:spPr>
          <a:xfrm>
            <a:off x="9509760" y="36118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26,6%</a:t>
            </a:r>
            <a:endParaRPr lang="en-US" sz="3600" dirty="0"/>
          </a:p>
        </p:txBody>
      </p:sp>
      <p:sp>
        <p:nvSpPr>
          <p:cNvPr id="85" name="Text 83"/>
          <p:cNvSpPr/>
          <p:nvPr/>
        </p:nvSpPr>
        <p:spPr>
          <a:xfrm>
            <a:off x="9509760" y="4343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 65 de ani și peste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594360" y="5257800"/>
            <a:ext cx="10972800" cy="868680"/>
          </a:xfrm>
          <a:prstGeom prst="roundRect">
            <a:avLst>
              <a:gd name="adj" fmla="val 9474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România: </a:t>
            </a:r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vârsta mediană 44,0 ani; 20,3% au 65 de ani și peste. Vârsta mediană: jumătate dintre locuitori sunt mai tineri, jumătate mai în vârstă.</a:t>
            </a:r>
            <a:endParaRPr lang="en-US" sz="1600" dirty="0"/>
          </a:p>
        </p:txBody>
      </p:sp>
      <p:sp>
        <p:nvSpPr>
          <p:cNvPr id="88" name="Text 86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demo_r_pjanind3 și demo_r_pjangrp3; 1 ianuarie 2025, valori estimate.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DEMONSTRAȚIA ÎN EXCEL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Piramida în cinci pași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176479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764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160020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Copiați populația din 2025: bărbații și femeile, pe grupe de vârstă, de la cea mai tânără.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94360" y="2478024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14400" y="264261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2642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00200" y="2478024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Calculați ponderea fiecărei celule: populația celulei ÷ populația totală × 100.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94360" y="3355848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4400" y="352044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3520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355848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Treceți ponderile bărbaților cu semnul minus.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94360" y="4233672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14400" y="439826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" y="4398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00200" y="4233672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Inserați un grafic cu bare orizontale grupate.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94360" y="5111496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14400" y="527608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4400" y="5276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00200" y="5111496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Suprapunere 100%, distanță 0 între bare, formatul „0;0” pe axa orizontală.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Foaia „Pe sexe” din fișierul echipei. Pe ecran, cu fișierul Teleormanului.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REZULTATUL DEMONSTRAȚIEI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Teleorman, 1 ianuarie 2025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Bărbați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71500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Femei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77668" y="1737360"/>
            <a:ext cx="9144" cy="39319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51348" y="1737360"/>
            <a:ext cx="9144" cy="39319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633728" y="1737360"/>
            <a:ext cx="9144" cy="39319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95288" y="1737360"/>
            <a:ext cx="9144" cy="39319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89788" y="1737360"/>
            <a:ext cx="9144" cy="39319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39228" y="1737360"/>
            <a:ext cx="9144" cy="39319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781397" y="5469128"/>
            <a:ext cx="944783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411980" y="5469128"/>
            <a:ext cx="869247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726180" y="545084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0–4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21940" y="5250688"/>
            <a:ext cx="1204240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411980" y="5250688"/>
            <a:ext cx="1093020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726180" y="523240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5–9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455909" y="5032248"/>
            <a:ext cx="1270271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11980" y="5032248"/>
            <a:ext cx="1165054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726180" y="501396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10–14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299668" y="4813808"/>
            <a:ext cx="1426512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411980" y="4813808"/>
            <a:ext cx="1336469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726180" y="479552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15–19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349025" y="4595368"/>
            <a:ext cx="1377155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411980" y="4595368"/>
            <a:ext cx="1183230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726180" y="457708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20–24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387710" y="4376928"/>
            <a:ext cx="1338470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411980" y="4376928"/>
            <a:ext cx="1037327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726180" y="435864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25–29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342522" y="4158488"/>
            <a:ext cx="1383658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411980" y="4158488"/>
            <a:ext cx="1033158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3726180" y="414020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30–34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102074" y="3940048"/>
            <a:ext cx="1624106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411980" y="3940048"/>
            <a:ext cx="1351810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726180" y="392176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35–39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40926" y="3721608"/>
            <a:ext cx="1585254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4411980" y="3721608"/>
            <a:ext cx="1381824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726180" y="370332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40–44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668034" y="3503168"/>
            <a:ext cx="2058146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4411980" y="3503168"/>
            <a:ext cx="1928918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726180" y="348488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45–49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1537639" y="3284728"/>
            <a:ext cx="2188541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4411980" y="3284728"/>
            <a:ext cx="2040471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3726180" y="326644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50–54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1424918" y="3066288"/>
            <a:ext cx="2301262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4411980" y="3066288"/>
            <a:ext cx="2140185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3726180" y="304800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55–59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224966" y="2847848"/>
            <a:ext cx="1501214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411980" y="2847848"/>
            <a:ext cx="1572582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726180" y="282956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60–64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041545" y="2629408"/>
            <a:ext cx="1684635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4411980" y="2629408"/>
            <a:ext cx="2023129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726180" y="261112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65–69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206790" y="2410968"/>
            <a:ext cx="1519390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4411980" y="2410968"/>
            <a:ext cx="2156026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3726180" y="239268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70–74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565461" y="2192528"/>
            <a:ext cx="1160719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4411980" y="2192528"/>
            <a:ext cx="1768675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3726180" y="217424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75–79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052026" y="1974088"/>
            <a:ext cx="674154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4411980" y="1974088"/>
            <a:ext cx="1170890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3726180" y="195580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80–84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3186090" y="1755648"/>
            <a:ext cx="540090" cy="18186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411980" y="1755648"/>
            <a:ext cx="1162386" cy="18186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3726180" y="1737360"/>
            <a:ext cx="685800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85+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320040" y="57058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7269480" y="57058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1363980" y="57058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6225540" y="57058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2407920" y="57058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5181600" y="57058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3794760" y="57058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7818120" y="1773936"/>
            <a:ext cx="64008" cy="1019048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8046720" y="1773936"/>
            <a:ext cx="3520440" cy="1019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65 de ani și peste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vârful: vârstnicii</a:t>
            </a:r>
            <a:endParaRPr lang="en-US" sz="1700" dirty="0"/>
          </a:p>
        </p:txBody>
      </p:sp>
      <p:sp>
        <p:nvSpPr>
          <p:cNvPr id="75" name="Shape 73"/>
          <p:cNvSpPr/>
          <p:nvPr/>
        </p:nvSpPr>
        <p:spPr>
          <a:xfrm>
            <a:off x="7818120" y="2866136"/>
            <a:ext cx="64008" cy="2111248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8046720" y="2866136"/>
            <a:ext cx="3520440" cy="211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15–64 de ani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mijlocul: vârsta de muncă</a:t>
            </a:r>
            <a:endParaRPr lang="en-US" sz="1700" dirty="0"/>
          </a:p>
        </p:txBody>
      </p:sp>
      <p:sp>
        <p:nvSpPr>
          <p:cNvPr id="77" name="Shape 75"/>
          <p:cNvSpPr/>
          <p:nvPr/>
        </p:nvSpPr>
        <p:spPr>
          <a:xfrm>
            <a:off x="7818120" y="5050536"/>
            <a:ext cx="64008" cy="582168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8046720" y="5050536"/>
            <a:ext cx="3520440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0–14 ani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baza: copiii</a:t>
            </a:r>
            <a:endParaRPr lang="en-US" sz="1700" dirty="0"/>
          </a:p>
        </p:txBody>
      </p:sp>
      <p:sp>
        <p:nvSpPr>
          <p:cNvPr id="79" name="Text 77"/>
          <p:cNvSpPr/>
          <p:nvPr/>
        </p:nvSpPr>
        <p:spPr>
          <a:xfrm>
            <a:off x="59436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Pondere în populația totală, %. Sursa: Eurostat, demo_r_pjangrp3; valori estimate.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FORME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Cum se citește forma unei piramide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3474720" cy="4069080"/>
          </a:xfrm>
          <a:prstGeom prst="roundRect">
            <a:avLst>
              <a:gd name="adj" fmla="val 236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0120" y="3419856"/>
            <a:ext cx="135788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345436" y="3419856"/>
            <a:ext cx="135788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124712" y="3209544"/>
            <a:ext cx="1193292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345436" y="3209544"/>
            <a:ext cx="1193292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275588" y="2999232"/>
            <a:ext cx="104241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345436" y="2999232"/>
            <a:ext cx="104241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412748" y="2788920"/>
            <a:ext cx="90525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345436" y="2788920"/>
            <a:ext cx="90525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549908" y="2578608"/>
            <a:ext cx="76809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345436" y="2578608"/>
            <a:ext cx="76809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687068" y="2368296"/>
            <a:ext cx="63093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345436" y="2368296"/>
            <a:ext cx="63093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824228" y="2157984"/>
            <a:ext cx="49377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345436" y="2157984"/>
            <a:ext cx="49377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61388" y="1947672"/>
            <a:ext cx="35661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345436" y="1947672"/>
            <a:ext cx="35661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2098548" y="1737360"/>
            <a:ext cx="21945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345436" y="1737360"/>
            <a:ext cx="21945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68680" y="37490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Expansivă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68680" y="42519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Bara de la bază e cea mai lungă; barele se scurtează regulat spre vârf.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343400" y="1554480"/>
            <a:ext cx="3474720" cy="4069080"/>
          </a:xfrm>
          <a:prstGeom prst="roundRect">
            <a:avLst>
              <a:gd name="adj" fmla="val 236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983480" y="3419856"/>
            <a:ext cx="108356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094476" y="3419856"/>
            <a:ext cx="108356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983480" y="3209544"/>
            <a:ext cx="108356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094476" y="3209544"/>
            <a:ext cx="108356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983480" y="2999232"/>
            <a:ext cx="108356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094476" y="2999232"/>
            <a:ext cx="108356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4983480" y="2788920"/>
            <a:ext cx="108356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6094476" y="2788920"/>
            <a:ext cx="108356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983480" y="2578608"/>
            <a:ext cx="108356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094476" y="2578608"/>
            <a:ext cx="108356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4983480" y="2368296"/>
            <a:ext cx="108356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094476" y="2368296"/>
            <a:ext cx="108356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5065776" y="2157984"/>
            <a:ext cx="1001268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6094476" y="2157984"/>
            <a:ext cx="1001268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285232" y="1947672"/>
            <a:ext cx="781812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6094476" y="1947672"/>
            <a:ext cx="781812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5614416" y="1737360"/>
            <a:ext cx="452628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6094476" y="1737360"/>
            <a:ext cx="452628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617720" y="37490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Staționară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4617720" y="42519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Bare aproape egale până la vârstele înaintate; se scurtează numai sus.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8092440" y="1554480"/>
            <a:ext cx="3474720" cy="4069080"/>
          </a:xfrm>
          <a:prstGeom prst="roundRect">
            <a:avLst>
              <a:gd name="adj" fmla="val 236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9116568" y="3419856"/>
            <a:ext cx="69951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9843516" y="3419856"/>
            <a:ext cx="69951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8979408" y="3209544"/>
            <a:ext cx="83667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9843516" y="3209544"/>
            <a:ext cx="83667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8759952" y="2999232"/>
            <a:ext cx="1056132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9843516" y="2999232"/>
            <a:ext cx="1056132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8567928" y="2788920"/>
            <a:ext cx="1248156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9843516" y="2788920"/>
            <a:ext cx="1248156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8458200" y="2578608"/>
            <a:ext cx="135788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9843516" y="2578608"/>
            <a:ext cx="135788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8513064" y="2368296"/>
            <a:ext cx="1303020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9843516" y="2368296"/>
            <a:ext cx="1303020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8650224" y="2157984"/>
            <a:ext cx="1165860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9843516" y="2157984"/>
            <a:ext cx="1165860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8869680" y="1947672"/>
            <a:ext cx="94640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9843516" y="1947672"/>
            <a:ext cx="94640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9212580" y="1737360"/>
            <a:ext cx="603504" cy="1828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9843516" y="1737360"/>
            <a:ext cx="603504" cy="18288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8366760" y="37490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Constrictivă</a:t>
            </a:r>
            <a:endParaRPr lang="en-US" sz="2200" dirty="0"/>
          </a:p>
        </p:txBody>
      </p:sp>
      <p:sp>
        <p:nvSpPr>
          <p:cNvPr id="66" name="Text 64"/>
          <p:cNvSpPr/>
          <p:nvPr/>
        </p:nvSpPr>
        <p:spPr>
          <a:xfrm>
            <a:off x="8366760" y="42519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Baza mai îngustă decât mijlocul: grupele cele mai tinere sunt mai puțin numeroase decât cele de vârstă mijlocie.</a:t>
            </a:r>
            <a:endParaRPr lang="en-US" sz="1500" dirty="0"/>
          </a:p>
        </p:txBody>
      </p:sp>
      <p:sp>
        <p:nvSpPr>
          <p:cNvPr id="67" name="Text 65"/>
          <p:cNvSpPr/>
          <p:nvPr/>
        </p:nvSpPr>
        <p:spPr>
          <a:xfrm>
            <a:off x="59436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Forma se citește pe trei zone: baza, mijlocul, vârful.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ÎNAINTEA ORICĂREI COMPARAȚII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verificări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508760"/>
            <a:ext cx="10972800" cy="1225296"/>
          </a:xfrm>
          <a:prstGeom prst="roundRect">
            <a:avLst>
              <a:gd name="adj" fmla="val 671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191109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911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08760" y="1508760"/>
            <a:ext cx="33832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populație?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0" y="1508760"/>
            <a:ext cx="6446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Adresa din buletin sau locul unde omul locuiește de fapt. Profilul se face pe o singură bază: reședința obișnuită.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2880360"/>
            <a:ext cx="10972800" cy="1225296"/>
          </a:xfrm>
          <a:prstGeom prst="roundRect">
            <a:avLst>
              <a:gd name="adj" fmla="val 671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68680" y="328269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2826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08760" y="2880360"/>
            <a:ext cx="33832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Aceeași definiție pe toată seria?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37760" y="2880360"/>
            <a:ext cx="6446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După recensământul din 2021, în Teleorman cei de 90 de ani și peste scad de la 4 055 la 2 512, fără explicație.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" y="4251960"/>
            <a:ext cx="10972800" cy="1225296"/>
          </a:xfrm>
          <a:prstGeom prst="roundRect">
            <a:avLst>
              <a:gd name="adj" fmla="val 671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465429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4251960"/>
            <a:ext cx="33832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Ultimul an și marcajele lui?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37760" y="4251960"/>
            <a:ext cx="6446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Populația din 2025 are marcajul „e”: estimată, deci revizuibilă. Notați data descărcării.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MICROSOFT FORMS · CONT UMF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ECHIPĂ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77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Exercițiul comun, în patru pași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7223760" cy="694944"/>
          </a:xfrm>
          <a:prstGeom prst="roundRect">
            <a:avLst>
              <a:gd name="adj" fmla="val 1184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14400" y="196596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00200" y="1828800"/>
            <a:ext cx="5943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Piramida Teleormanului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2670048"/>
            <a:ext cx="7223760" cy="694944"/>
          </a:xfrm>
          <a:prstGeom prst="roundRect">
            <a:avLst>
              <a:gd name="adj" fmla="val 1184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14400" y="28072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2670048"/>
            <a:ext cx="5943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Indicele de îmbătrânire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3511296"/>
            <a:ext cx="7223760" cy="694944"/>
          </a:xfrm>
          <a:prstGeom prst="roundRect">
            <a:avLst>
              <a:gd name="adj" fmla="val 1184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14400" y="364845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3648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3511296"/>
            <a:ext cx="5943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Raportul de dependență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94360" y="4352544"/>
            <a:ext cx="7223760" cy="694944"/>
          </a:xfrm>
          <a:prstGeom prst="roundRect">
            <a:avLst>
              <a:gd name="adj" fmla="val 1184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14400" y="448970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" y="44897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00200" y="4352544"/>
            <a:ext cx="5943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Natalitatea și fertilitatea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8321040" y="1783080"/>
            <a:ext cx="324612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321040" y="1783080"/>
            <a:ext cx="32461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[QR FORMULAR]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21040" y="51206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[linkul scurt]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94360" y="534924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coleg calculează, altul reface independent. Fiecare predă formularul înainte de a ieși din sală.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DATELE PAȘILOR 1 ȘI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 și Ilfov, 1 ianuarie 2025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0020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2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Teleorman</a:t>
                      </a: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5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Ilfov</a:t>
                      </a: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Populația totală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313 033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604 264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Bărbați de 55–59 de ani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13 801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Băieți de 0–4 ani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5 666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Copii de 0–14 ani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39 261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103 495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Persoane de 65 de ani și peste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83 121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81 214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909560" y="1600200"/>
            <a:ext cx="3657600" cy="3072384"/>
          </a:xfrm>
          <a:prstGeom prst="roundRect">
            <a:avLst>
              <a:gd name="adj" fmla="val 267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7909560" y="1600200"/>
            <a:ext cx="82296" cy="3072384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229600" y="1737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Termen nou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Indicele de îmbătrânire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0" y="29260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„câți vârstnici (65+) revin la 100 de copii (0–14)”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demo_r_pjangrp3; populația estimată.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DATELE PAȘILOR 3 ȘI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Dependența și natalitatea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Pasul 3, Teleorman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2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Persoane</a:t>
                      </a: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53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0–14 ani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39 261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15–64 de ani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190 651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65+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83 121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România, raportul de dependență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55,6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3093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Pasul 4, 2024</a:t>
            </a:r>
            <a:endParaRPr lang="en-US" sz="15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783080"/>
          <a:ext cx="52578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463040"/>
                <a:gridCol w="14630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2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Teleorman</a:t>
                      </a: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5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Ilfov</a:t>
                      </a:r>
                      <a:endParaRPr lang="en-US" sz="15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Născuți vii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1 749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4 253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Populația medie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314 257,5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593 963,5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8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Fertilitatea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1,27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1,09</a:t>
                      </a:r>
                      <a:endParaRPr lang="en-US" sz="16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6F5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309360" y="4114800"/>
            <a:ext cx="5257800" cy="2011680"/>
          </a:xfrm>
          <a:prstGeom prst="roundRect">
            <a:avLst>
              <a:gd name="adj" fmla="val 409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6583680" y="42519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Raportul de dependență: </a:t>
            </a:r>
            <a:pPr indent="0" marL="0">
              <a:buNone/>
            </a:pPr>
            <a:r>
              <a:rPr lang="en-US" sz="15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„câți copii și vârstnici la 100 de oameni de 15–64 de ani”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totală de fertilitate: </a:t>
            </a:r>
            <a:pPr indent="0" marL="0">
              <a:buNone/>
            </a:pPr>
            <a:r>
              <a:rPr lang="en-US" sz="15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„câți copii ar avea o femeie, la ratele pe vârste de azi”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Eurostat; valori estimate.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92440" y="292608"/>
            <a:ext cx="3474720" cy="42062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092440" y="29260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ECHIPĂ · EXCEL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PIRAMIDA JUDEȚULUI VOSTRU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77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Același drum, cu fișierul echipei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14400" y="199339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00200" y="182880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Foaia „Pe sexe” din fișierul echipei: anul 2025.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2724912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14400" y="288950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2724912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Ponderi din populația totală, cei cinci pași.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3621024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14400" y="378561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3785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3621024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Titlu complet: județul, data, sursa.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94360" y="4517136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14400" y="468172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" y="4681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00200" y="4517136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Numiți forma: expansivă, staționară sau constrictivă.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REZULTATELE · EXERCIȚIUL COMUN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Cei patru pași, rezolvați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94360" y="1554480"/>
            <a:ext cx="82296" cy="201168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664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· Piramida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703320" y="168249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103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4,41% · 1,81%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Teleorman: constrictivă. Ilfov: nașterile recente nu produc adulți de 35–49 de ani; surplusul față de țară (28,9% față de 21,8%) se potrivește cu sosirile.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217920" y="1554480"/>
            <a:ext cx="82296" cy="201168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92240" y="1664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 · Îmbătrânirea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26880" y="168249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 · Ilfov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2103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211,7 · 78,5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492240" y="28346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Teleorman: 212 vârstnici la 100 de copii.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94360" y="374904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94360" y="3749040"/>
            <a:ext cx="82296" cy="2011680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68680" y="3858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 · Dependența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703320" y="387705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" y="42976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64,2 · 43,6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6868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Diferența față de țară vine din vârstnici.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0" y="374904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217920" y="3749040"/>
            <a:ext cx="82296" cy="201168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492240" y="3858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 · Natalitatea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326880" y="387705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 · Ilfov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92240" y="42976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5,57 · 7,16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649224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1 000 de locuitori, în 2024.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demo_r_pjangrp3 și demo_r_gind3; calculul din notele lucrării.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REZULTATELE · PASUL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Natalitate mai mare, fertilitate mai mică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508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natalității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874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1 000 de locuitori, 2024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5074920"/>
            <a:ext cx="3291840" cy="18288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2688336"/>
            <a:ext cx="1280160" cy="23865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23042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7,2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85800" y="514807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Ilfov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423160" y="3218688"/>
            <a:ext cx="1280160" cy="1856232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240280" y="2834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5,6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240280" y="514807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206240" y="1508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totală de fertilitate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206240" y="1874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copii pe femeie, 2024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06240" y="5074920"/>
            <a:ext cx="3291840" cy="18288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480560" y="3147974"/>
            <a:ext cx="1280160" cy="1926946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97680" y="276392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1,09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297680" y="514807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Ilfov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035040" y="2829763"/>
            <a:ext cx="1280160" cy="2245157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52160" y="2445715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1,27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852160" y="514807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Teleorman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863840" y="1508760"/>
            <a:ext cx="3703320" cy="3657600"/>
          </a:xfrm>
          <a:prstGeom prst="roundRect">
            <a:avLst>
              <a:gd name="adj" fmla="val 225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138160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ce?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22402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Femeile de 15–49 de ani sunt 25,9% din populația Ilfovului și 17,7% din a Teleormanului.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Natalitatea numără nașterile la toată populația; fertilitatea nu depinde de câte femei sunt.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demo_r_gind3 și demo_r_find3; valori estimate.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ACASĂ, ÎN CEL MULT DOUĂ ZILE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Capitolul demografic al județului vostru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5544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Sinteză, prin rotație: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indicator ați pune pe prima pagină a profilului și ce serviciu decurge din el?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94360" y="2514600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2578608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578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25146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Piramidele din 2025 și 2019, cu rezerva saltului din 2021–2022.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3136392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3200400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868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313639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Indicele de îmbătrânire și rapoartele de dependență și de feminitate, comparate cu țara.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758184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822192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8221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75818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 Eurostat: natalitatea, fertilitatea, sporul natural, soldul migrației (2024).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94360" y="4379976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68680" y="4443984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68680" y="4443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437997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constatare și o consecință pentru serviciile din 2030–2040.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94360" y="5001768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68680" y="5065776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68680" y="5065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08760" y="500176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Opțional: proiecția EUROPOP2019 pentru județ (2025, 2040), cu rezerva bazei din 2019.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4360" y="5715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Individual, în formularul de acasă, cu fișierul Excel.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822960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822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ULTIMELE CINCI MINUTE · ANONIM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întrebări pentru final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914400" y="267004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251460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 fost util azi?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14400" y="353872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3538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33832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 v-am pierdut?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4400" y="44074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4407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42519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ați putea folosi mâine?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549640" y="2514600"/>
            <a:ext cx="301752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549640" y="2514600"/>
            <a:ext cx="3017520" cy="2468880"/>
          </a:xfrm>
          <a:prstGeom prst="rect">
            <a:avLst/>
          </a:prstGeom>
          <a:noFill/>
          <a:ln/>
        </p:spPr>
        <p:txBody>
          <a:bodyPr wrap="square" lIns="228600" tIns="0" rIns="228600" bIns="0" rtlCol="0" anchor="ctr"/>
          <a:lstStyle/>
          <a:p>
            <a:pPr algn="ctr" indent="0" marL="0">
              <a:buNone/>
            </a:pPr>
            <a:r>
              <a:rPr lang="en-US" sz="1800" dirty="0" i="1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Mentimeter: intrați pe menti.com cu codul afișat pe ecran.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4360" y="5349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Luni, pe pagina disciplinei, veți găsi două modificări făcute pe baza răspunsurilor.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LP02 - Cine vor fi pacienții peste zece ani?</dc:title>
  <dc:subject>PptxGenJS Presentation</dc:subject>
  <dc:creator>Conf. Univ. Dr. Adrian Pana</dc:creator>
  <cp:lastModifiedBy>Conf. Univ. Dr. Adrian Pana</cp:lastModifiedBy>
  <cp:revision>1</cp:revision>
  <dcterms:created xsi:type="dcterms:W3CDTF">2026-10-11T08:24:39Z</dcterms:created>
  <dcterms:modified xsi:type="dcterms:W3CDTF">2026-10-11T08:24:39Z</dcterms:modified>
  <cp:keywords>sursa_amprenta=52c9048381f20302; proiectie</cp:keywords>
</cp:coreProperties>
</file>