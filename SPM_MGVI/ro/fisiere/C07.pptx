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7  ·  SĂNĂTATE PUBLICĂ ȘI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Luni, 07:45: o secție fără asistente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Funcțiile managementului, modelele de sisteme de sănătate și componentele fundamentale ale sistemului de sănătate definite de OMS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67512" y="434340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26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un medic atunci când problema din fața lui nu mai este a unui pacient, ci a unei secții?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Medicină, anul VI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ÎNTÂI · SITUAȚIA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 de medicină internă, luni dimineață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3102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 de pacienți internați la 30 de paturi; trei au nevoie de supraveghere atentă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28160" y="1600200"/>
            <a:ext cx="350520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TURA DE ZI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112264"/>
            <a:ext cx="3102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obicei trei asistente; la 07:45, două au trimis certificate de concediu medical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61960" y="1600200"/>
            <a:ext cx="350520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ZIUA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112264"/>
            <a:ext cx="3102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internări programate, doi pacienți anunțați de la urgențe; tura următoare, la 14:00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69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Resursele umane nu au pe nimeni. Asistenta de noapte se oferă să mai rămână două ore.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571500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7150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curs; detaliile sunt plauzibile, nu reale.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construit; 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JOC DE ROL · TREI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PRIMUL 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telefon, imediat după vestea absențelor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53721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139696"/>
            <a:ext cx="4969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VOLUNTARUL 1 · ȘEFUL SECȚIEI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642616"/>
            <a:ext cx="496976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Cere ajutor pentru tura de zi.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195060" y="2011680"/>
            <a:ext cx="53721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6228" y="2139696"/>
            <a:ext cx="4969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VOLUNTARUL 2 · DIRECTORUL DE ÎNGRIJIRI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96228" y="2642616"/>
            <a:ext cx="496976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Are o singură asistentă disponibilă, pentru câteva ore, și întreabă ce se poate amâna.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94360" y="4617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notează ce face fiecare dintre cei doi, fără să voteze încă.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VOTUL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DECIZIE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Sunteți șeful secției. Ce faceți în primele treizeci de minute?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Solicitați conducerii suspendarea internărilor, programate și din urgență, până după-amiază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889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651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Solicitați o asistentă din altă secție, reprogramați ce poate aștepta și împărțiți sarcinile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118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Lăsați asistenta de noapte să mai rămână două ore și preluați o parte din tratamente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29768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348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Anunțați situația în scris managerului și așteptați decizia lui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individual, fără discuție.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REVOTUL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Convingeți-l pe colegul care a votat altfel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cu colegul de bancă. Apoi votați din nou, cu aceleași variante.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299923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41757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175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63040" y="358216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005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00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63040" y="416509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58343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83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63040" y="4748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REVOTUL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83464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86600" y="299923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341757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4175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86600" y="358216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00050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000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86600" y="416509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58343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583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86600" y="4748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ESTE MANAGEMENTUL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 prin munca altora, cu resurse limitate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Șeful secției nu tratează un pacient: împarte două mâini de asistentă între douăzeci și opt de pacienți.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560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ESTE DIFERIT ÎN SĂNĂTATE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350520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1455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MULȚI ACTORI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529584"/>
            <a:ext cx="3102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proprietarul, plătitorul, direcția de sănătate publică, acreditarea, pacienții, angajații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28160" y="3017520"/>
            <a:ext cx="350520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9328" y="31455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CALITATEA NU SE VEDE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9328" y="3529584"/>
            <a:ext cx="3102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nu o poate judeca singur; se asigură prin reguli, standarde și control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61960" y="3017520"/>
            <a:ext cx="350520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31455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LIMITE ETICE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3128" y="3529584"/>
            <a:ext cx="3102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spital nu refuză un pacient grav pentru că tratamentul lui costă mult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FUNCȚIILE MANAGEMENTULUI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Fayol la cele patru funcții de azi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Activitățile prin care un conducător transformă resursele unei organizații în rezultate.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Planificarea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383280" y="274320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74320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Conducerea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61120" y="274320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Controlul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922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FAYOL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430682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previziunea, planificarea, organizarea, comanda, coordonarea și controlul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95060" y="379476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6228" y="3922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MANUAL UNIVERSITAR RECENT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96228" y="430682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funcții de bază; cursul le folosește pe acestea, iar conducerea ține locul comenzii și al coordonării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Fayol, teoria generală a managementului; OpenStax, Principles of Management (manual universitar).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EXEMPLE DIN SPITAL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fiecare funcție pe secție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PLANIFICAREA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06654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necesarul de asistente pe anul următor; pe secție lipsește lista de înlocuire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5060" y="155448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06654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face ce și cine răspunde; o asistentă mutată spre secția supraîncărcată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4655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CONDUCEREA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384962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motivează și comunică: ce se amână azi și de ce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95060" y="333756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6228" y="34655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CONTROLUL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6228" y="384962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compară rezultatul cu ce s-a propus: indicatori, auditul unui caz, analiza unei plângeri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512064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aceeași dimineață, șeful secției organizează, conduce și notează ce trebuie planificat și controlat.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ROLURILE MANAGERULUI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Mintzberg: zece roluri, în trei categorii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052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INTERPERSONALE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3102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reprezentantul · liderul · agentul de legătură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28160" y="1645920"/>
            <a:ext cx="35052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INFORMAȚIONALE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9328" y="2157984"/>
            <a:ext cx="3102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monitorul · difuzorul · purtătorul de cuvânt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61960" y="1645920"/>
            <a:ext cx="35052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DECIZIONALE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3128" y="2157984"/>
            <a:ext cx="3102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antreprenorul · gestionarul perturbărilor · alocatorul de resurse · negociatorul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94360" y="45720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72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Funcțiile spun ce face managementul; rolurile spun ce face managerul în ziua lui de lucru.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Mintzberg, rolurile manageriale.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ROLURILE, ÎN CAZUL SECȚIEI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 dimineață, șeful secției joacă patru roluri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gestionarul perturbărilor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16002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alocatorul de resurse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agentul de legătură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0" y="16002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negociatorul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două, la telefon cu directorul de îngrijiri.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2004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004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Rolul de lider le influențează pe celelalte. Bunăvoința nu ajunge: o secție se conduce cu deprinderi de management.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448056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Ipoteza unui studiu: medicii fac sarcini manageriale de la începutul carierei, iar studenții nu se simt pregătiți pentru acest rol.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DECIZIE · CE SPUN FUNCȚIILE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B: organizare și conducere, urmate de planificare și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Mută problema la urgențe și scade accesul; decizia ține de conducerea spitalului.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Folosește resursele spitalului, amână ce poate aștepta, păstrează supravegherea instabililor.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Ascunde problema: o tură de paisprezece ore, iar șeful nu mai conduce secția.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23944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Lasă pacienții fără decizie în orele cu cel mai mare risc.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criză se văd organizarea și conducerea; lipsesc planificarea și controlul, care au produs criza.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DOILEA · COMPLICAȚIA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săptămâni mai târziu: problema nu este de luni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824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PERSONALUL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5528" y="2066544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unsprezece ture neacoperite în trei luni; două asistente plecate în străinătate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28160" y="1554480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6824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29328" y="2066544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plângere: tratament cu patru ore întârziere; trimisă și la direcția de sănătate publică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61960" y="1554480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6824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CHIRURGIA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63128" y="2066544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ocupare de aproximativ 60%: blocul operator, în renovare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3547872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675888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" y="4059936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contractul nu crește; orele suplimentare au depășit bugetul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328160" y="3547872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9328" y="3675888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29328" y="4059936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despre paturi și ture vin lunar, pe hârtie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61960" y="3547872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3128" y="3675888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63128" y="4059936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 convoacă comitetul director lărgit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94360" y="571500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7150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curs; detaliile sunt plauzibile, nu reale.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construit; 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PROBLEMĂ CU MAI MULTE FEȚE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părea problema unei secții ține de tot sistemul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lipsesc oameni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25496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62656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banii sunt fixați prin contract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56632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3792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informația vine prea târziu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87768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4928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serviciile se reduc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18904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6064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aparține mai multor instituții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490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a vedea toate fețele deodată, OMS a propus în 2007 un cadru comun, folosit și în analizele recente ale organizației.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cadrul celor șase componente fundamentale ale sistemului de sănătate, 2007.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 DE SĂNĂTATE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larg decât spitalul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Ansamblul tuturor organizațiilor, persoanelor și acțiunilor al căror scop principal este să promoveze, să refacă sau să mențină sănătatea.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29718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9718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direcția de sănătate publică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61120" y="29718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casa de asigurări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70332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farmacia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370332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ministerul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370332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pacientul, acasă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46634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634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spital nu își poate rezolva singur toate problemele: o parte din cauze stau în alte organizații ale sistemului.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cadrul celor șase componente fundamentale ale sistemului de sănătate, 2007.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ȘASE COMPONENTE FUNDAMENTALE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sistem, descris prin șase părți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Furnizarea serviciilor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9C4A0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6002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Personalul din sănătate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011680"/>
            <a:ext cx="457200" cy="457200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0" y="16002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 informațional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30632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0632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Produsele medicale, vaccinurile și tehnologiile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43400" y="30632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474720"/>
            <a:ext cx="457200" cy="457200"/>
          </a:xfrm>
          <a:prstGeom prst="ellipse">
            <a:avLst/>
          </a:prstGeom>
          <a:solidFill>
            <a:srgbClr val="8A6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Finanțarea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092440" y="30632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474720"/>
            <a:ext cx="457200" cy="457200"/>
          </a:xfrm>
          <a:prstGeom prst="ellipse">
            <a:avLst/>
          </a:prstGeom>
          <a:solidFill>
            <a:srgbClr val="11121A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30632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Conducerea și guvernanța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94360" y="47091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7091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fiecare componentă, OMS spune ce înseamnă să funcționeze bine.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cadrul celor șase componente fundamentale ale sistemului de sănătate, 2007.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„A FUNCȚIONA BINE” (I)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Serviciile, personalul, informația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intervenții eficace, sigure, de calitate, când și unde e nevoie. România: sistem centrat pe spital.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PERSONALUL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93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suficient, distribuit echitabil, competent și receptiv. România: aproape 200 de localități fără medic de familie, în 2024.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31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informații fiabile și la timp. România: fără strategie clară, sisteme neinteroperabile.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OMS, 2007;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„A FUNCȚIONA BINE” (II)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Produsele, finanțarea, guvernanța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PRODUSELE MEDICALE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 echitabil la produse esențiale sigure, eficace și cost-eficace, folosite rațional.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93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fonduri suficiente și protecție de sărăcirea produsă de plata îngrijirilor. România: cheltuielile cele mai mici din UE (date din 2022).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GUVERNANȚA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31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cadre strategice, supraveghere, reglementare și răspundere. România: planificare insuficientă, reforme fragmentate.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OMS, 2007;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CONDUCEREA ȘI GUVERNANȚA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Guvernanța, în formularea OMS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„Cadre strategice de politică, însoțite de supraveghere eficace, de construirea de coaliții, de reglementări și stimulente potrivite, de atenție la proiectarea sistemului și de răspundere.”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numită și administrarea responsabilă a sistemului: supravegherea și orientarea lui de ansamblu.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44348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Prezentarea din anii trecuți atribuia definiția altor autori; textul este al documentului OMS din 2007.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cadrul celor șase componente fundamentale ale sistemului de sănătate, 2007.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URMĂREȘTE UN SISTEM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Componentele sunt mijloace, nu scopuri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șase componente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0" y="1801368"/>
            <a:ext cx="384048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160020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00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accesul · acoperirea · calitatea · siguranța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35240" y="1801368"/>
            <a:ext cx="384048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60020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00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rezultate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606040"/>
            <a:ext cx="257175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3405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18104"/>
            <a:ext cx="21694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nivelul ei și echitatea între grupuri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94710" y="2606040"/>
            <a:ext cx="257175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878" y="273405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RECEPTIVITATEA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95878" y="3118104"/>
            <a:ext cx="21694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respectul pentru persoană și orientarea spre client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5060" y="2606040"/>
            <a:ext cx="257175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6228" y="273405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PROTECȚIA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96228" y="3118104"/>
            <a:ext cx="21694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împotriva riscului social și financiar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95410" y="2606040"/>
            <a:ext cx="257175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96578" y="273405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EFICIENȚA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96578" y="3118104"/>
            <a:ext cx="21694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eficiența îmbunătățită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43434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43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multe asistente nu înseamnă tratament la timp, dacă sunt prost repartizate între secții.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cadrul celor șase componente fundamentale ale sistemului de sănătate, 2007.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COMPONENTELE SUNT LEGATE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Spitalul A, o singură criză atinge cinci componente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PERSONALUL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lipsesc asistente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21838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3006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23006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contractul nu crește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9317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0485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0485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nimeni nu vede zilnic ocuparea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76795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7963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77963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internările se reduc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04274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5442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GUVERNANȚA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05442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aparține mai multor instituții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5661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Orele suplimentare plătite ating o singură componentă și mută problema în alta: bugetul se depășește, personalul rămas obosește.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COMITETUL, ÎN LEGE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decide într-un spital public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721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COMITETUL DIRECTOR · ART. 181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49697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managerul, directorul medical și directorul financiar-contabil; în spitalele cu peste 400 de paturi, și un director de îngrijiri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95060" y="1600200"/>
            <a:ext cx="53721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CONSILIUL DE ADMINISTRAȚIE · ART. 187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12264"/>
            <a:ext cx="49697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5–8 membri, numiți de minister sau de direcția de sănătate publică și de autoritatea locală; sindicatul, invitat permanent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caz, casa de asigurări, consiliul județean, sindicatul și pacienții sunt invitați la comitetul director.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Legea nr. 95/2006.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COMITETUL · COD QR PE RÂND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INSTRUMENTUL ZILEI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Comitetul director lărgit al Spitalului 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 spitalului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880360" y="1737360"/>
            <a:ext cx="1051560" cy="1280160"/>
          </a:xfrm>
          <a:prstGeom prst="rect">
            <a:avLst/>
          </a:prstGeom>
          <a:solidFill>
            <a:srgbClr val="272A38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880360" y="1737360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rol 1]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011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Directorul medical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629400" y="1737360"/>
            <a:ext cx="1051560" cy="1280160"/>
          </a:xfrm>
          <a:prstGeom prst="rect">
            <a:avLst/>
          </a:prstGeom>
          <a:solidFill>
            <a:srgbClr val="272A38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629400" y="1737360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rol 2]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55448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011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Reprezentantul casei județene de asigurări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10378440" y="1737360"/>
            <a:ext cx="1051560" cy="1280160"/>
          </a:xfrm>
          <a:prstGeom prst="rect">
            <a:avLst/>
          </a:prstGeom>
          <a:solidFill>
            <a:srgbClr val="272A38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378440" y="1737360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rol 3]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33756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794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Reprezentantul asociației de pacienți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2880360" y="3520440"/>
            <a:ext cx="1051560" cy="1280160"/>
          </a:xfrm>
          <a:prstGeom prst="rect">
            <a:avLst/>
          </a:prstGeom>
          <a:solidFill>
            <a:srgbClr val="272A38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880360" y="3520440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rol 4]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333756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3794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Liderul sindicatului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629400" y="3520440"/>
            <a:ext cx="1051560" cy="1280160"/>
          </a:xfrm>
          <a:prstGeom prst="rect">
            <a:avLst/>
          </a:prstGeom>
          <a:solidFill>
            <a:srgbClr val="272A38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629400" y="3520440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rol 5]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92440" y="333756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3794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Reprezentantul consiliului județean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10378440" y="3520440"/>
            <a:ext cx="1051560" cy="1280160"/>
          </a:xfrm>
          <a:prstGeom prst="rect">
            <a:avLst/>
          </a:prstGeom>
          <a:solidFill>
            <a:srgbClr val="272A38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0378440" y="3520440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rol 6]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516636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166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rolului · votul din rol · perechile · revotul · purtătorii de cuvânt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Deschideți pe telefon fișa rândului vostru.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VOTUL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DECIZIE · DIN ROLUL RÂNDULUI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decide comitetul?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740664"/>
          </a:xfrm>
          <a:prstGeom prst="roundRect">
            <a:avLst>
              <a:gd name="adj" fmla="val 111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059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59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10058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Închiderea temporară a unor paturi de medicină internă, până la ocuparea posturilor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0972800" cy="740664"/>
          </a:xfrm>
          <a:prstGeom prst="roundRect">
            <a:avLst>
              <a:gd name="adj" fmla="val 111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746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746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10058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Ore suplimentare plătite și angajări temporare, fără un termen de încheiere a măsurii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10972800" cy="740664"/>
          </a:xfrm>
          <a:prstGeom prst="roundRect">
            <a:avLst>
              <a:gd name="adj" fmla="val 111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433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433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10058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Mutarea voluntară, cu pregătire, a unor asistente de la chirurgie; recrutare pe un an, cu județul; turele neacoperite, urmărite lunar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4360" y="4251960"/>
            <a:ext cx="10972800" cy="740664"/>
          </a:xfrm>
          <a:prstGeom prst="roundRect">
            <a:avLst>
              <a:gd name="adj" fmla="val 111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119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119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51960"/>
            <a:ext cx="10058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cerere de bani către casă și consiliul județean, fără alte măsuri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 rolul vostru, apoi votul.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REVOTUL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DISCUȚIA ÎN PERECHI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Revotul și votul pe roluri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361188" cy="3611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4884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230200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583180"/>
            <a:ext cx="361188" cy="3611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8318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63040" y="273634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017520"/>
            <a:ext cx="361188" cy="3611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1752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63040" y="317068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451860"/>
            <a:ext cx="361188" cy="3611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5186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63040" y="3605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55448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REVOTUL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361188" cy="36118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14884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86600" y="230200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583180"/>
            <a:ext cx="361188" cy="36118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58318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86600" y="273634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017520"/>
            <a:ext cx="361188" cy="36118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01752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86600" y="317068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3451860"/>
            <a:ext cx="361188" cy="36118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45186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86600" y="3605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206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 PE ROLURI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450592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87752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directorul medical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306824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3984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casa de asigurări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163056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019288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56448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sindicatul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875520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12680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consiliul județean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94360" y="5257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decizie ar trece? Cine plătește costul ei?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DECIZIE · CE SPUN COMPONENTELE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C: mai multe componente și toate cele patru funcții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Sacrifică serviciile și scade accesul; numai temporar și anunțat, pentru siguranță.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 pe termen scurt; nu schimbă cauzele plecărilor; fără termen, devine regula.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cele patru funcții; costul: timp, încredere și o informație pe care spitalul nu o are.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23944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cerere fără plan, arătată plătitorului și proprietarului, are puține șanse.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 urmează ideea de consolidare: componentele, îmbunătățite împreună.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PLĂTEȘTE, CINE DEȚINE, CINE DECIDE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clasificăm sistemele de sănătate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UNDE VIN BANII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3102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impozite generale, contribuții de asigurări sociale, plăți private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0020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DEȚINE FURNIZORII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112264"/>
            <a:ext cx="3102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statul, organizații fără scop lucrativ, firme private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0020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CUI I SE GARANTEAZĂ ÎNGRIJIREA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112264"/>
            <a:ext cx="3102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întregii populații, celor asigurați prin muncă sau celor care pot plăti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69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Literatura comparată distinge modelele Beveridge și Bismarck; fostele țări comuniste au urmat modelul sovietic, numit Semașko.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MODELUL BEVERIDGE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impozite, pentru toată populația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 în principal din impozite generale, reglementare puternică a statului, acoperire universală și îngrijire gratuită la locul în care se primește.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350520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ARHETIPUL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483864"/>
            <a:ext cx="310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serviciul național de sănătate al Regatului Unit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28160" y="2971800"/>
            <a:ext cx="350520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93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ACEEAȘI FAMILIE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9328" y="3483864"/>
            <a:ext cx="310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pildă, Italia și Canada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61960" y="2971800"/>
            <a:ext cx="350520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TENSIUNEA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3128" y="3483864"/>
            <a:ext cx="310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timpul de așteptare, care a favorizat piețe private paralele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49377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Dreptul la îngrijire nu depinde de un loc de muncă.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MODELUL BISMARCK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Asigurări sociale, cu mai multe case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Asigurări sociale de sănătate, cu contribuții împărțite între angajator și angajat, administrate de mai multe case de asigurări reglementate.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ARHETIPUL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48386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Germania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28160" y="297180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93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ȚINTA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9328" y="348386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acoperirea universală, ca la modelul Beveridge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61960" y="297180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CASELE GERMANE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3128" y="348386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rețea pluralistă și descentralizată, în concurență, cu o acoperire standardizată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MODELUL SEMAȘKO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Modelul sovietic, urmat de România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Modelul sovietic de organizare a sistemului de sănătate, urmat de România în perioada comunistă: sănătatea organizată de stat, furnizorii privați naționalizați.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53721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0998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ROMÂNIA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483864"/>
            <a:ext cx="4969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reorganizare printr-o lege a organizării de stat a sănătății; toți furnizorii privați, naționalizați în 1948–1949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95060" y="2971800"/>
            <a:ext cx="53721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6228" y="30998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ASTĂZI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96228" y="3483864"/>
            <a:ext cx="4969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elemente ale modelului se regăsesc în unele sisteme mixte, ca al Rusiei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SISTEMELE DEVIN HIBRIDE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Contează coerența, nu fidelitatea față de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Multe sisteme combină finanțarea solidară cu concurența reglementată între asigurători și furnizori. Fostele sisteme Semașko au trecut la asigurări sociale.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651760"/>
            <a:ext cx="5372100" cy="1645920"/>
          </a:xfrm>
          <a:prstGeom prst="roundRect">
            <a:avLst>
              <a:gd name="adj" fmla="val 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779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ÎNTR-UN SISTEM BEVERIDGE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3163824"/>
            <a:ext cx="49697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Spitalului A ajunge la autoritatea care deține și finanțează serviciile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95060" y="2651760"/>
            <a:ext cx="5372100" cy="1645920"/>
          </a:xfrm>
          <a:prstGeom prst="roundRect">
            <a:avLst>
              <a:gd name="adj" fmla="val 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6228" y="2779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ÎNTR-UN SISTEM BISMARCK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96228" y="3163824"/>
            <a:ext cx="49697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 are de-a face cu mai multe case de asigurări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45720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720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Clasificarea răspunde la o întrebare practică: cine poate rezolva problema?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ROMÂNIA: DE LA SEMAȘKO LA ASIGURĂRI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 sistemului românesc, în șase pași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130552"/>
            <a:ext cx="10515600" cy="36576"/>
          </a:xfrm>
          <a:prstGeom prst="rect">
            <a:avLst/>
          </a:prstGeom>
          <a:solidFill>
            <a:srgbClr val="6A6F85"/>
          </a:solidFill>
          <a:ln w="12700">
            <a:solidFill>
              <a:srgbClr val="6A6F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02536"/>
            <a:ext cx="292608" cy="29260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1933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casele de asigurări sociale și de boală, unificate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2606040" y="2002536"/>
            <a:ext cx="292608" cy="29260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1948–1949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46888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furnizorii privați, naționalizați; modelul Semașko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480560" y="2002536"/>
            <a:ext cx="292608" cy="29260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145/1997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4340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plătitorul, separat de furnizor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55080" y="2002536"/>
            <a:ext cx="292608" cy="29260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1999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 de asigurări devine funcțional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0" y="2002536"/>
            <a:ext cx="292608" cy="292608"/>
          </a:xfrm>
          <a:prstGeom prst="ellipse">
            <a:avLst/>
          </a:prstGeom>
          <a:solidFill>
            <a:srgbClr val="9B7EF7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OUG nr. 150/2002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9244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înlocuiește prima lege a asigurărilor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0104120" y="2002536"/>
            <a:ext cx="292608" cy="292608"/>
          </a:xfrm>
          <a:prstGeom prst="ellipse">
            <a:avLst/>
          </a:prstGeom>
          <a:solidFill>
            <a:srgbClr val="9B7EF7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95/2006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96696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republicată în 2015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ASTĂZI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niveluri, dar un sistem foarte centralizat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SINGURĂ CASĂ NAȚIONALĂ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06654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contribuțiile, puse în comun la nivel central; casele județene cumpără servicii de la furnizori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5060" y="155448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ALEGEREA PACIENTULUI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06654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își aleg liber furnizorul, la orice nivel de îngrijire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7856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MINISTERUL ȘI DIRECȚIILE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416966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autoritatea centrală și serviciile ei deconcentrate; institutul de sănătate publică dă îndrumare și indicatori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95060" y="365760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6228" y="37856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CALITATEA ȘI SPITALELE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6228" y="416966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autoritatea pentru calitate, din 2015; spitalele publice, ale ministerului sau ale autorităților locale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UN SISTEM HIBRID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model are România? Răspunsul nu are un cuvânt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89%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populație, acoperită de asigurările sociale în 2023: finanțarea principală este de tip Bismarck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773936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STRUCTURA DE FURNIZARE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19088" y="2157984"/>
            <a:ext cx="4946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păstrează urme ale modelului Semașko: un sistem centralizat și centrat pe spital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2519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519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corect descrie fiecare dimensiune în parte.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 RAPID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RECUNOAȘTEȚI MODELUL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sisteme anonimizate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987552"/>
          </a:xfrm>
          <a:prstGeom prst="roundRect">
            <a:avLst>
              <a:gd name="adj" fmla="val 8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836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00200"/>
            <a:ext cx="9829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sistem vest-european de astăzi, finanțat din impozite generale, pentru toată populația, gratuit la locul îngrijirii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697480"/>
            <a:ext cx="10972800" cy="987552"/>
          </a:xfrm>
          <a:prstGeom prst="roundRect">
            <a:avLst>
              <a:gd name="adj" fmla="val 8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9809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97480"/>
            <a:ext cx="9829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angajații și angajatorii împart contribuțiile, administrate de mai multe case de asigurări reglementate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10972800" cy="987552"/>
          </a:xfrm>
          <a:prstGeom prst="roundRect">
            <a:avLst>
              <a:gd name="adj" fmla="val 8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782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9829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asigurările sociale au înlocuit, la sfârșitul anilor nouăzeci, finanțarea de la buget; statul deține majoritatea spitalelor; plăți directe mari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fiecare: Beveridge · Bismarck · Semașko · hibrid post-comunist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 RAPID · RĂSPUNSURILE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a: Beveridge · b: Bismarck · c: hibrid post-comunist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13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1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9829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Beveridge: impozite generale, acoperire universală, gratuitate la locul îngrijirii. Nu e Semașko, model al perioadei comuniste.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501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50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834640"/>
            <a:ext cx="9829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Bismarck: contribuții împărțite între angajator și angajat, mai multe case de asigurări reglementate.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3388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388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9829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Hibrid post-comunist: finanțare devenită de tip Bismarck, structură cu urme ale sistemului de stat, ca în România.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TREILEA · CE S-A ÎNTÂMPLAT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 A, după șase luni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7210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MERS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49697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asistente de la chirurgie, mutate voluntar după o pregătire de două săptămâni; cazare de la consiliul județean; două angajări; turele neacoperite, de la unsprezece la două pe trimestru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95060" y="1600200"/>
            <a:ext cx="537210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RĂMAS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96228" y="2112264"/>
            <a:ext cx="49697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asistentă nouă a plecat după patru luni; pacienții fără medic de familie vin tot prin urgență; contractul nu a crescut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571500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57150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curs; deznodământul este plauzibil, nu real.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ȘI DEZNODĂMÂNTUL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are sala dreptate și unde nu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721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OBICEI, DREPTATE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49697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soluțiile bune ale actului al doilea combină mai multe componente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95060" y="1645920"/>
            <a:ext cx="53721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OBICEI, GREȘIT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57984"/>
            <a:ext cx="49697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decizie bună la nivelul spitalului nu rezolvă singură problema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374904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49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parte din cauze stau în sistem: lipsa medicilor de familie, finanțarea limitată, guvernanța fragmentată. Un comitet director nu le poate schimba.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PERFORMANȚA SISTEMULUI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și Uniunea Europeană, în 2024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1812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2980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 (27)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Speranța de viață la naștere (ani)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35240" y="20116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46920" y="20116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81,5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2608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Cheltuielile curente cu sănătatea (% din PIB)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35240" y="29260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646920" y="29260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10,2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94360" y="38404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4048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Plățile directe ale gospodăriilor (% din cheltuielile curente cu sănătatea)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35240" y="38404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22,0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46920" y="38404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15,1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94360" y="47548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Paturi de spital la 100 000 de locuitori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35240" y="4754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730,7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646920" y="47548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507,4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seturile demo_mlexpec, hlth_sha11_hf și hlth_rs_bds1; anul 2024.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CIFRELE SE CITESC ÎMPREUNĂ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Centrat pe spital și subfinanțat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multe paturi decât media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43400" y="16459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645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cheltuieli mult sub medie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92440" y="16459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645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 directe mari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88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parte importantă a costului cade pe pacient: plățile directe mari înseamnă protecție financiară slabă.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77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Observatorul European: aproape jumătate din finanțare merge la internări, pacienții ocolesc asistența primară, mortalitatea evitabilă e cea mai mare din UE.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OMS, 2007;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SISTEMULUI ROMÂNESC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Constatările, pe componentele cadrului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5544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centrat pe spital; asistența primară, ocolită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304288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042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200 de localități fără medic de familie, în 2024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054096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540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054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strategie și interoperabilitate; date de calitate abia din 2022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803904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80390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cheltuielile cele mai mici din UE; plăți directe de 21,4% în 2022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553712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537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GUVERNANȚĂ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55371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planificare insuficientă; reforme fragmentate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5394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Plățile directe: 21,4% în analiză (2022), 22,0% în tabel (2024); anii diferă.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OMS, 2007;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VOTUL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 DECIZIE · TRANSFERUL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criză, în alt sistem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 din impozite; spitalele aparțin unei autorități regionale care le și finanțează; trimitere obligatorie de la medicul de familie. Cine poate rezolva cel mai bine problema?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609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 spitalului, singur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264408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192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644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Autoritatea regională, care deține și finanțează spitalul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3922776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776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92277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casă de asigurări care negociază contractul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4581144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36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58114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Pacienții, prin alegerea altui spital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vot, fără revot.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 DECIZIE · TRANSFERUL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B: autoritatea care deține și finanțează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Supraestimează managerul: organizează unitatea, dar nu schimbă finanțarea.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Mută bani și oameni între spitale, planifică recrutarea, controlează rezultatele.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Descrie un sistem de tip Bismarck, nu sistemul din enunț.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23944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Trimiterea obligatorie de la medicul de familie limitează alegerea pacientului.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a judeca o decizie de management, întrebați: cine plătește, cine deține și cine decide?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RECAPITULARE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RECAPITULAREA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întrebări, în ordinea cursului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Funcțiile și rolurile managerului, sistemul și cele șase componente, rezultatele, modelele, drumul României și cifrele din tabel.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sau fals.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CHEIA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jocului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659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patru funcții ale cursului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de înlocuire ține de planificare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6596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gestionarul perturbărilor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96596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 e mai larg decât serviciile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96596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finanțarea, una dintre cele șase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58952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receptivitatea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58952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componentă schimbată le atinge pe celelalte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9516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58952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Bismarck: contribuții, nu impozite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21792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9516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58952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145/1997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21792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9516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58952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6,2% față de 10,2% din PIB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RĂMÂNE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două asistente absente la sistemul țării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134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13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4630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 dimineață, un șef de secție bun organizează și conduce; în săptămânile următoare, planifică și controlează.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1002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100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3172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Comitetul director poate combina oameni, bani, informație și servicii.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004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37870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787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Deasupra spitalului rămân lipsa medicilor de familie, finanțarea limitată, plățile directe mari și guvernanța fragmentată.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4738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47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06908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Clasificarea modelelor răspunde la o întrebare: cine poate rezolva problema?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0292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celor șase componente nu dă soluția; arată unde trebuie căutată.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 DIMINEAȚĂ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pe secția dumneavoastră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o problemă se repetă, căutați funcția care lipsește: de obicei planificarea sau controlul.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832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97180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Căutați apoi componenta sistemului care o produce.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7548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34340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propuneți o soluție, spuneți cum veți ști că a funcționat: un indicator simplu, urmărit lunar.</a:t>
            </a:r>
            <a:endParaRPr lang="en-US"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BILETUL DE IEȘIRE  · 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să plecați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te-am pierdut?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ai putea folosi mâine?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321040" y="2514600"/>
            <a:ext cx="3246120" cy="2468880"/>
          </a:xfrm>
          <a:prstGeom prst="roundRect">
            <a:avLst>
              <a:gd name="adj" fmla="val 3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răspunsuri scurte, pe telefon.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7 - Luni, 07:45: o secție fără asistente</dc:title>
  <dc:subject>PptxGenJS Presentation</dc:subject>
  <dc:creator>Conf. Univ. Dr. Adrian Pana</dc:creator>
  <cp:lastModifiedBy>Conf. Univ. Dr. Adrian Pana</cp:lastModifiedBy>
  <cp:revision>1</cp:revision>
  <dcterms:created xsi:type="dcterms:W3CDTF">2026-10-24T13:29:10Z</dcterms:created>
  <dcterms:modified xsi:type="dcterms:W3CDTF">2026-10-24T13:29:10Z</dcterms:modified>
  <cp:keywords>sursa_amprenta=bf93e23576706d0e; proiectie</cp:keywords>
</cp:coreProperties>
</file>