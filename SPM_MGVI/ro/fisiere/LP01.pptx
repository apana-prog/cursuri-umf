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01752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moare cel mai mult în România?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374904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977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de sănătate al județului (I)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Sursele de date și indicatorii de mortalitate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348740"/>
            <a:ext cx="89611" cy="432054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526987" y="1496873"/>
            <a:ext cx="89611" cy="417240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53174" y="1842516"/>
            <a:ext cx="89611" cy="38267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779362" y="1842516"/>
            <a:ext cx="89611" cy="38267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905549" y="1867205"/>
            <a:ext cx="89611" cy="380207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31736" y="1916582"/>
            <a:ext cx="89611" cy="37526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157923" y="1916582"/>
            <a:ext cx="89611" cy="37526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284110" y="2040026"/>
            <a:ext cx="89611" cy="36292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0298" y="2064715"/>
            <a:ext cx="89611" cy="360456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536485" y="2089404"/>
            <a:ext cx="89611" cy="357987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662672" y="2089404"/>
            <a:ext cx="89611" cy="357987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88859" y="2114093"/>
            <a:ext cx="89611" cy="355518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15046" y="2138782"/>
            <a:ext cx="89611" cy="35304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041234" y="2138782"/>
            <a:ext cx="89611" cy="353049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167421" y="2212848"/>
            <a:ext cx="89611" cy="345643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293608" y="2262226"/>
            <a:ext cx="89611" cy="34070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419795" y="2262226"/>
            <a:ext cx="89611" cy="340705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45982" y="2311603"/>
            <a:ext cx="89611" cy="335767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72170" y="2311603"/>
            <a:ext cx="89611" cy="335767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798357" y="2360981"/>
            <a:ext cx="89611" cy="3308299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24544" y="2435047"/>
            <a:ext cx="89611" cy="3234233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50731" y="2484425"/>
            <a:ext cx="89611" cy="318485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176918" y="2509114"/>
            <a:ext cx="89611" cy="3160166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303106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429293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555480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81667" y="2533802"/>
            <a:ext cx="89611" cy="313547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807854" y="2583180"/>
            <a:ext cx="89611" cy="308610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934042" y="2607869"/>
            <a:ext cx="89611" cy="3061411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060229" y="2607869"/>
            <a:ext cx="89611" cy="3061411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186416" y="2632558"/>
            <a:ext cx="89611" cy="303672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312603" y="2657246"/>
            <a:ext cx="89611" cy="301203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438790" y="2681935"/>
            <a:ext cx="89611" cy="298734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564978" y="2780690"/>
            <a:ext cx="89611" cy="288859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691165" y="2854757"/>
            <a:ext cx="89611" cy="2814523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17352" y="2928823"/>
            <a:ext cx="89611" cy="274045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43539" y="2928823"/>
            <a:ext cx="89611" cy="2740457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1069726" y="2953512"/>
            <a:ext cx="89611" cy="2715768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1195914" y="3002890"/>
            <a:ext cx="89611" cy="2666390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1322101" y="3027578"/>
            <a:ext cx="89611" cy="2641702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1448288" y="3299155"/>
            <a:ext cx="89611" cy="2370125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1574475" y="3866998"/>
            <a:ext cx="89611" cy="1802282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00800" y="57790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42 de județe, 2024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CLASAMENTUL UNUI COLEG REZIDENT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Teleormanul, primul; Ilfovul, ultimul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274570"/>
            <a:ext cx="196596" cy="344043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46404" y="2392528"/>
            <a:ext cx="196596" cy="332247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207008" y="2667762"/>
            <a:ext cx="196596" cy="304723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467612" y="2667762"/>
            <a:ext cx="196596" cy="304723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728216" y="2687422"/>
            <a:ext cx="196596" cy="302757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988820" y="2726741"/>
            <a:ext cx="196596" cy="298825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249424" y="2726741"/>
            <a:ext cx="196596" cy="298825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10028" y="2825039"/>
            <a:ext cx="196596" cy="288996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70632" y="2844698"/>
            <a:ext cx="196596" cy="287030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031236" y="2864358"/>
            <a:ext cx="196596" cy="285064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91840" y="2864358"/>
            <a:ext cx="196596" cy="285064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552444" y="2884018"/>
            <a:ext cx="196596" cy="283098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813048" y="2903677"/>
            <a:ext cx="196596" cy="281132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073652" y="2903677"/>
            <a:ext cx="196596" cy="281132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334256" y="2962656"/>
            <a:ext cx="196596" cy="2752344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94860" y="3001975"/>
            <a:ext cx="196596" cy="2713025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855464" y="3001975"/>
            <a:ext cx="196596" cy="2713025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116068" y="3041294"/>
            <a:ext cx="196596" cy="267370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76672" y="3041294"/>
            <a:ext cx="196596" cy="267370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637276" y="3080614"/>
            <a:ext cx="196596" cy="263438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97880" y="3139592"/>
            <a:ext cx="196596" cy="257540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58484" y="3178912"/>
            <a:ext cx="196596" cy="2536088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19088" y="3198571"/>
            <a:ext cx="196596" cy="251642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679692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940296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200900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461504" y="3218231"/>
            <a:ext cx="196596" cy="2496769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22108" y="3257550"/>
            <a:ext cx="196596" cy="245745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982712" y="3277210"/>
            <a:ext cx="196596" cy="243779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243316" y="3277210"/>
            <a:ext cx="196596" cy="2437790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503920" y="3296869"/>
            <a:ext cx="196596" cy="241813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764524" y="3316529"/>
            <a:ext cx="196596" cy="2398471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025128" y="3336188"/>
            <a:ext cx="196596" cy="237881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285732" y="3414827"/>
            <a:ext cx="196596" cy="2300173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546336" y="3473806"/>
            <a:ext cx="196596" cy="2241194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806940" y="3532784"/>
            <a:ext cx="196596" cy="218221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067544" y="3532784"/>
            <a:ext cx="196596" cy="218221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328148" y="3552444"/>
            <a:ext cx="196596" cy="2162556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88752" y="3591763"/>
            <a:ext cx="196596" cy="2123237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49356" y="3611423"/>
            <a:ext cx="196596" cy="2103577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1109960" y="3827678"/>
            <a:ext cx="196596" cy="1887322"/>
          </a:xfrm>
          <a:prstGeom prst="rect">
            <a:avLst/>
          </a:prstGeom>
          <a:solidFill>
            <a:srgbClr val="BDB9AF"/>
          </a:solidFill>
          <a:ln w="12700">
            <a:solidFill>
              <a:srgbClr val="BDB9A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1370564" y="4279849"/>
            <a:ext cx="196596" cy="1435151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40080" y="3198571"/>
            <a:ext cx="10945368" cy="0"/>
          </a:xfrm>
          <a:prstGeom prst="line">
            <a:avLst/>
          </a:prstGeom>
          <a:noFill/>
          <a:ln w="15875">
            <a:solidFill>
              <a:srgbClr val="11121A"/>
            </a:solidFill>
            <a:prstDash val="dash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528048" y="2851099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 12,8‰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40080" y="189052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17,5‰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893808" y="3895801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 7,3‰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577840" y="1600200"/>
            <a:ext cx="5989320" cy="914400"/>
          </a:xfrm>
          <a:prstGeom prst="roundRect">
            <a:avLst>
              <a:gd name="adj" fmla="val 9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806440" y="1600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„În Teleorman, riscul de deces este de două ori și jumătate mai mare decât în Ilfov.”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85800" y="58338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a mortalității: decese la 1 000 de locuitori, 2024. Cele 42 de județe, inclusiv municipiul București.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demo_r_gind3; valori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TOATĂ GRUPA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ÎNAINTEA ORICĂRUI CALCUL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care județ este cel mai mare riscul de deces?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21792" y="4251960"/>
            <a:ext cx="1280160" cy="27432"/>
          </a:xfrm>
          <a:prstGeom prst="rect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4480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Răspundeți numai pe baza clasamentului, ridicând mâna.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SURSELE DATELOR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se găsesc decesele și populația unui județ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691640"/>
            <a:ext cx="82296" cy="274320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Eurostat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demo_r_magec3: decesele pe grupe de vârstă de cinci ani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demo_r_pjangrp3: populația la 1 ianuarie, pe aceleași grupe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demo_r_gind3: rata brută publicată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Filtrați pe un județ (regiune NUTS 3).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49240" cy="2743200"/>
          </a:xfrm>
          <a:prstGeom prst="roundRect">
            <a:avLst>
              <a:gd name="adj" fmla="val 3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17920" y="1691640"/>
            <a:ext cx="82296" cy="274320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INS, baza TEMPO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POP206K: decedații cu reședința obișnuită în România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POP106A: populația rezidentă la 1 iulie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Citiți întâi fișa de metadate a matricei.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663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ecran: demonstrația. Voi nu descărcați nimic; fiecare echipă primește fișierul Excel al județului ei.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Surse: ec.europa.eu/eurostat/databrowser · statistici.insse.ro:8077/tempo-ins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ÎNAINTEA ORICĂREI COMPARAȚII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verificări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2880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Aceiași oameni sus și jos?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și populația pe aceeași bază: adresa din buletin sau locul unde omul locuiește de fapt.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0358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715768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definiție pe toată seria?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715768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Decesele: de la 2014, după locul unde omul locuiește. Populația: în Teleorman, cei de 90 de ani și peste scad de la 4 055 la 2 512 între 2021 și 2022, fără explicație.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922776"/>
            <a:ext cx="10972800" cy="1060704"/>
          </a:xfrm>
          <a:prstGeom prst="roundRect">
            <a:avLst>
              <a:gd name="adj" fmla="val 7759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2428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922776"/>
            <a:ext cx="3383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Ultimul an și marcajele lui?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3922776"/>
            <a:ext cx="64465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2024: populația marcată „e”, adică estimată; anii recenți se pot revizui. Notați data descărcării.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94360" y="5257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Autocontrolul: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5 495 ÷ 314 259 × 1 000 = 17,49, adică exact valoarea publicată pentru Teleorman.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ECHIPELE ȘI JUDEȚELE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Județul vostru, până la ultima lucrare practică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4813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9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4813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Alba, Buzău, Gorj, Neamț, Suceava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202996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029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Arad, Caraș-Severin, Harghita, Olt, Timiș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257860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5786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578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Argeș, Călărași, Hunedoara, Prahova, Tulcea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12724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12724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31272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Bacău, Cluj, Ialomița, Satu Mare, Vaslui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67588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6758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91640" y="36758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Bihor, Constanța, Iași, Sălaj, Vâlcea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2245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1520" y="42245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42245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Bistrița-Năsăud, Covasna, Maramureș, Sibiu, Vrancea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17920" y="14813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55080" y="14813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14813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Botoșani, Dâmbovița, Mehedinți, Brașov, Galați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17920" y="202996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202996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202996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Brăila, București, Dolj, Giurgiu, Mureș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17920" y="257860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55080" y="25786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257860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Cluj, Tulcea, Vâlcea, Botoșani, Timiș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17920" y="312724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55080" y="312724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315200" y="312724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București, Brăila, Iași, Covasna, Hunedoara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17920" y="367588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55080" y="367588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19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36758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Constanța, Dolj, Bistrița-Năsăud, Olt, Sibiu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4224528"/>
            <a:ext cx="5440680" cy="475488"/>
          </a:xfrm>
          <a:prstGeom prst="roundRect">
            <a:avLst>
              <a:gd name="adj" fmla="val 17308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422452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Grupa 20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0" y="422452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Brașov, Suceava, Călărași, Mehedinți, Harghita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94360" y="4892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Fișierul echipei: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LP01_&lt;Județ&gt;.xlsx, fără diacritice (de exemplu LP01_Bistrita-Nasaud.xlsx), pe e-mailul instituțional sau pe Teams. Teleorman și Ilfov rămân exemplul comun.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EXERCIȚIULUI COMUN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Teleorman, Ilfov și România, 2024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737360"/>
                <a:gridCol w="1188720"/>
                <a:gridCol w="1737360"/>
                <a:gridCol w="128016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România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 hMerge="1"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Grupa de vârstă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populația medie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populația medie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decese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populația medie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0–44 de ani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136 855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180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354 080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8 453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9 829 314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45–64 de ani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882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94 462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897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160 335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43 484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5 386 457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65–74 de ani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1 206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44 792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1 069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50 636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59 305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2 305 994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75 de ani și peste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3 274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38 150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2 163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28 913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133 333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1 533 599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Total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5 495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314 259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4 309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593 964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244 575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7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19 055 364</a:t>
                      </a:r>
                      <a:endParaRPr lang="en-US" sz="17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demo_r_magec3 și demo_r_pjangrp3; populația medie a anului (media populației de la 1 ianuarie 2024 și 1 ianuarie 2025), estimată.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CONT UMF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Exercițiul comun, în patru pași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7004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Ratele specifice pe vârstă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1129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52544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4897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standardizat și concluzia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321040" y="1783080"/>
            <a:ext cx="32461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246120" cy="32461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QR al formularului grupei voastre apare pe ecranul din sală.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/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coleg calculează, altul reface independent. Fiecare predă formularul înainte de a ieși din sală.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PATRU CALCULE, ÎN CUVINTE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termeni noi, patru formule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1691640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„câte decese au loc într-un an la fiecare mie de locuitori”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anului ÷ populația medie × 1 000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17920" y="1554480"/>
            <a:ext cx="82296" cy="169164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92240" y="166420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specifică pe vârstă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„rata calculată numai într-o grupă de vârstă”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grupei ÷ populația grupei × 1 000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4360" y="3429000"/>
            <a:ext cx="82296" cy="169164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„rata pe care ar avea-o județul dacă ar avea vârstele țării”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suma produselor: rata specifică × ponderea grupei în populația țării (0,5158, nu 51,58%)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4290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3429000"/>
            <a:ext cx="82296" cy="169164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3538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standardizat al mortalității (SMR)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„câte decese a avut județul față de câte ar fi avut cu ratele țării”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389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decesele observate ÷ decesele așteptate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Păstrați patru cifre semnificative; rotunjiți numai rezultatul final.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· PAȘII 1, 3 ȘI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aceleași vârste, distanța se strânge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5577840"/>
            <a:ext cx="630936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537460"/>
            <a:ext cx="777240" cy="30403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15341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17,5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691640" y="3267151"/>
            <a:ext cx="777240" cy="231068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08760" y="2883103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26080" y="4309567"/>
            <a:ext cx="777240" cy="126827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3925519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794760" y="3770986"/>
            <a:ext cx="777240" cy="180685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11880" y="338693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10,4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74320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0" y="3354019"/>
            <a:ext cx="777240" cy="2223821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0" y="2969971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97880" y="3354019"/>
            <a:ext cx="777240" cy="2223821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715000" y="2969971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12,8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46320" y="56692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22960" y="15544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15544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88920" y="155448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788920" y="15544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3B3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standardizată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0" y="1554480"/>
            <a:ext cx="4251960" cy="3931920"/>
          </a:xfrm>
          <a:prstGeom prst="roundRect">
            <a:avLst>
              <a:gd name="adj" fmla="val 2093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589520" y="17373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față de țară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4,7 la 0,5 decese la 1 000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față de Ilfov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la 2,4 ori la 1,3 ori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standardizat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1,027: cu aproximativ 3% mai multe decese decât la ratele țării; Ilfov 0,796: cu aproximativ 20% mai puține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raport se compară numai cu țara; rapoartele a două județe nu se compară între ele.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1 000 de locuitori, 2024; standardul: populația medie a României în 2024. Sursa: Eurostat, calculul din notele lucrării.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· PASUL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aceeași vârstă: ceva mai mare, nu de două ori și jumătate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0–44 de ani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834640" y="1691640"/>
            <a:ext cx="47097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973177" y="1691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0,9718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34640" y="2057400"/>
            <a:ext cx="41678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967758" y="2057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0,8600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45–64 de ani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34640" y="2606040"/>
            <a:ext cx="452501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78581" y="26060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9,337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971800"/>
            <a:ext cx="391243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317323" y="29718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8,073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65–74 de ani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34640" y="3520440"/>
            <a:ext cx="1304629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30709" y="35204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26,92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34640" y="3886200"/>
            <a:ext cx="1246474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72554" y="3886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25,72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4348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 de ani și peste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834640" y="4434840"/>
            <a:ext cx="4159112" cy="310896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085192" y="4434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85,82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834640" y="4800600"/>
            <a:ext cx="4213391" cy="310896"/>
          </a:xfrm>
          <a:prstGeom prst="rect">
            <a:avLst/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9471" y="4800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86,94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34640" y="5440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4640" y="5440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09160" y="54406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585A64"/>
          </a:solidFill>
          <a:ln w="12700">
            <a:solidFill>
              <a:srgbClr val="585A6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09160" y="54406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12480" y="1691640"/>
            <a:ext cx="3154680" cy="3566160"/>
          </a:xfrm>
          <a:prstGeom prst="roundRect">
            <a:avLst>
              <a:gd name="adj" fmla="val 260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41080" y="18745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Mai mari până la 75 de ani, ușor mai mici după.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Teleormanul are însă mai mulți vârstnici: 75 de ani și peste înseamnă 12,1% din populație, față de 8,0% în țară.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436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Decese la 1 000 de persoane din grupă, 2024. Sursa: Eurostat, demo_r_magec3 și demo_r_pjangrp3.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ECHIPELE, PRIN ROTAȚIE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ÎNSEAMNĂ PENTRU VOI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 de a crede un clasament după mortalitate, întrebați ce rată s-a folosit.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arată unde mor mai mulți oameni; rata standardizată, unde riscul de deces este mai mare la aceeași vârstă.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4389120"/>
            <a:ext cx="10972800" cy="1143000"/>
          </a:xfrm>
          <a:prstGeom prst="roundRect">
            <a:avLst>
              <a:gd name="adj" fmla="val 7200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38912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indicator ați pune pe prima pagină a profilului județului vostru? De ce?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ACASĂ, ÎN CEL MULT DOUĂ ZILE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Primul capitol al profilului județului vostru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72821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728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60020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foaia „Citiți-mă”: sursa, codurile seturilor și data extragerii.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386584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5146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38658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brută pe 2019–2024; pentru 2024, confruntată cu valoarea publicată de Eurostat.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" y="3172968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3009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17296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 2024: ratele specifice, rata standardizată, raportul standardizat și anii de viață pierduți înainte de 65 de ani.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3959352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08736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4087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959352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grafice; saltul populației dintre 2021 și 2022, marcat pe grafic.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" y="4745736"/>
            <a:ext cx="10972800" cy="676656"/>
          </a:xfrm>
          <a:prstGeom prst="roundRect">
            <a:avLst>
              <a:gd name="adj" fmla="val 12162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487375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68680" y="4873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745736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constatare: indicatorul, valoarea, anul, termenul de comparație și o limită a datelor.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Fiecare student, individual, în formularul de acasă. Foaia de calcul se păstrează pentru lucrările următoare.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pe pagina disciplinei, veți găsi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LP01 - Unde se moare cel mai mult în România?</dc:title>
  <dc:subject>PptxGenJS Presentation</dc:subject>
  <dc:creator>Conf. Univ. Dr. Adrian Pana</dc:creator>
  <cp:lastModifiedBy>Conf. Univ. Dr. Adrian Pana</cp:lastModifiedBy>
  <cp:revision>1</cp:revision>
  <dcterms:created xsi:type="dcterms:W3CDTF">2026-10-03T19:51:38Z</dcterms:created>
  <dcterms:modified xsi:type="dcterms:W3CDTF">2026-10-03T19:51:38Z</dcterms:modified>
  <cp:keywords>sursa_amprenta=b0af482ace50516d; proiectie</cp:keywords>
</cp:coreProperties>
</file>