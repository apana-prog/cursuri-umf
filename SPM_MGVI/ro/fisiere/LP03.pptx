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 brută arată câți ani pierde, în medie, un locuitor, dar nu ține seama de vârsta populației. Numărul absolut arată volumul poverii și câte servicii trebuie plătite. Pentru cele două județe, corecția pentru vârstă o face pasul al patrulea al exercițiului, prin raportul dintre anii pierduți prin deces calculați și cei așteptați.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DALY reprezintă pierderea echivalentului unui an de sănătate deplină. Pentru o boală, DALY este suma a doi termeni: anii de viață pierduți prin deces prematur și anii de viață sănătoasă pierduți prin dizabilitate.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Ordinea de la coada listei este fragilă: pe locul 10, pierderea auzului (176 000) o depășește cu puțin pe cardiomiopatie (175 000), iar în 2000 bronhopneumopatia obstructivă cronică și cancerul pulmonar aveau, rotunjit, același număr de DALY (252 000).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Fiecare valoare GBD este o estimare dintr-un model și are un interval de incertitudine. Din suprapunerea a două intervale nu se poate concluda nici că diferența este reală, nici că valorile sunt 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Lista depinde și de sex. În 2023, la bărbați, după cardiopatia ischemică și accidentul vascular cerebral urmează ciroza și cancerul pulmonar; la femei urmează lombalgia, cardiopatia hipertensivă și boala Alzheimer.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Dacă Teleormanul ar avea ratele de mortalitate pe vârste ale țării, YLL ale lui ar fi 98 695, față de 100 692 calculați pe grupele de cinci ani; pentru Ilfov, 115 589 față de 92 164.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40080" y="777240"/>
            <a:ext cx="356616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40080" y="777240"/>
            <a:ext cx="356616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LUCRAREA PRACTICĂ 3</a:t>
            </a:r>
            <a:endParaRPr lang="en-US" sz="1300" dirty="0"/>
          </a:p>
        </p:txBody>
      </p:sp>
      <p:sp>
        <p:nvSpPr>
          <p:cNvPr id="4" name="Text 2"/>
          <p:cNvSpPr/>
          <p:nvPr/>
        </p:nvSpPr>
        <p:spPr>
          <a:xfrm>
            <a:off x="640080" y="1417320"/>
            <a:ext cx="5394960" cy="228600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Câți ani de viață sănătoasă pierde un județ?</a:t>
            </a:r>
            <a:endParaRPr lang="en-US" sz="3800" dirty="0"/>
          </a:p>
        </p:txBody>
      </p:sp>
      <p:sp>
        <p:nvSpPr>
          <p:cNvPr id="5" name="Shape 3"/>
          <p:cNvSpPr/>
          <p:nvPr/>
        </p:nvSpPr>
        <p:spPr>
          <a:xfrm>
            <a:off x="667512" y="3886200"/>
            <a:ext cx="1280160" cy="27432"/>
          </a:xfrm>
          <a:prstGeom prst="rect">
            <a:avLst/>
          </a:prstGeom>
          <a:solidFill>
            <a:srgbClr val="FF4757"/>
          </a:solidFill>
          <a:ln/>
        </p:spPr>
        <p:txBody>
          <a:bodyPr/>
          <a:p/>
        </p:txBody>
      </p:sp>
      <p:sp>
        <p:nvSpPr>
          <p:cNvPr id="6" name="Text 4"/>
          <p:cNvSpPr/>
          <p:nvPr/>
        </p:nvSpPr>
        <p:spPr>
          <a:xfrm>
            <a:off x="640080" y="4114800"/>
            <a:ext cx="5303520" cy="82296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Profilul de sănătate al județului (III)</a:t>
            </a:r>
            <a:endParaRPr lang="en-US" sz="1600" dirty="0"/>
          </a:p>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Povara bolii și DALY</a:t>
            </a:r>
            <a:endParaRPr lang="en-US" sz="1600" dirty="0"/>
          </a:p>
        </p:txBody>
      </p:sp>
      <p:sp>
        <p:nvSpPr>
          <p:cNvPr id="7" name="Shape 5"/>
          <p:cNvSpPr/>
          <p:nvPr/>
        </p:nvSpPr>
        <p:spPr>
          <a:xfrm>
            <a:off x="6675120" y="868680"/>
            <a:ext cx="4846320" cy="347472"/>
          </a:xfrm>
          <a:prstGeom prst="rect">
            <a:avLst/>
          </a:prstGeom>
          <a:solidFill>
            <a:srgbClr val="FF4757"/>
          </a:solidFill>
          <a:ln w="12700">
            <a:solidFill>
              <a:srgbClr val="FF4757"/>
            </a:solidFill>
            <a:prstDash val="solid"/>
          </a:ln>
        </p:spPr>
        <p:txBody>
          <a:bodyPr/>
          <a:p/>
        </p:txBody>
      </p:sp>
      <p:sp>
        <p:nvSpPr>
          <p:cNvPr id="8" name="Shape 6"/>
          <p:cNvSpPr/>
          <p:nvPr/>
        </p:nvSpPr>
        <p:spPr>
          <a:xfrm>
            <a:off x="6675120" y="1325880"/>
            <a:ext cx="3713223" cy="347472"/>
          </a:xfrm>
          <a:prstGeom prst="rect">
            <a:avLst/>
          </a:prstGeom>
          <a:solidFill>
            <a:srgbClr val="272A38"/>
          </a:solidFill>
          <a:ln w="12700">
            <a:solidFill>
              <a:srgbClr val="272A38"/>
            </a:solidFill>
            <a:prstDash val="solid"/>
          </a:ln>
        </p:spPr>
        <p:txBody>
          <a:bodyPr/>
          <a:p/>
        </p:txBody>
      </p:sp>
      <p:sp>
        <p:nvSpPr>
          <p:cNvPr id="9" name="Shape 7"/>
          <p:cNvSpPr/>
          <p:nvPr/>
        </p:nvSpPr>
        <p:spPr>
          <a:xfrm>
            <a:off x="6675120" y="1783080"/>
            <a:ext cx="1883590" cy="347472"/>
          </a:xfrm>
          <a:prstGeom prst="rect">
            <a:avLst/>
          </a:prstGeom>
          <a:solidFill>
            <a:srgbClr val="27D3BE"/>
          </a:solidFill>
          <a:ln w="12700">
            <a:solidFill>
              <a:srgbClr val="27D3BE"/>
            </a:solidFill>
            <a:prstDash val="solid"/>
          </a:ln>
        </p:spPr>
        <p:txBody>
          <a:bodyPr/>
          <a:p/>
        </p:txBody>
      </p:sp>
      <p:sp>
        <p:nvSpPr>
          <p:cNvPr id="10" name="Shape 8"/>
          <p:cNvSpPr/>
          <p:nvPr/>
        </p:nvSpPr>
        <p:spPr>
          <a:xfrm>
            <a:off x="6675120" y="2240280"/>
            <a:ext cx="1437218" cy="347472"/>
          </a:xfrm>
          <a:prstGeom prst="rect">
            <a:avLst/>
          </a:prstGeom>
          <a:solidFill>
            <a:srgbClr val="272A38"/>
          </a:solidFill>
          <a:ln w="12700">
            <a:solidFill>
              <a:srgbClr val="272A38"/>
            </a:solidFill>
            <a:prstDash val="solid"/>
          </a:ln>
        </p:spPr>
        <p:txBody>
          <a:bodyPr/>
          <a:p/>
        </p:txBody>
      </p:sp>
      <p:sp>
        <p:nvSpPr>
          <p:cNvPr id="11" name="Shape 9"/>
          <p:cNvSpPr/>
          <p:nvPr/>
        </p:nvSpPr>
        <p:spPr>
          <a:xfrm>
            <a:off x="6675120" y="2697480"/>
            <a:ext cx="1270442" cy="347472"/>
          </a:xfrm>
          <a:prstGeom prst="rect">
            <a:avLst/>
          </a:prstGeom>
          <a:solidFill>
            <a:srgbClr val="272A38"/>
          </a:solidFill>
          <a:ln w="12700">
            <a:solidFill>
              <a:srgbClr val="272A38"/>
            </a:solidFill>
            <a:prstDash val="solid"/>
          </a:ln>
        </p:spPr>
        <p:txBody>
          <a:bodyPr/>
          <a:p/>
        </p:txBody>
      </p:sp>
      <p:sp>
        <p:nvSpPr>
          <p:cNvPr id="12" name="Shape 10"/>
          <p:cNvSpPr/>
          <p:nvPr/>
        </p:nvSpPr>
        <p:spPr>
          <a:xfrm>
            <a:off x="6675120" y="3154680"/>
            <a:ext cx="1093856" cy="347472"/>
          </a:xfrm>
          <a:prstGeom prst="rect">
            <a:avLst/>
          </a:prstGeom>
          <a:solidFill>
            <a:srgbClr val="272A38"/>
          </a:solidFill>
          <a:ln w="12700">
            <a:solidFill>
              <a:srgbClr val="272A38"/>
            </a:solidFill>
            <a:prstDash val="solid"/>
          </a:ln>
        </p:spPr>
        <p:txBody>
          <a:bodyPr/>
          <a:p/>
        </p:txBody>
      </p:sp>
      <p:sp>
        <p:nvSpPr>
          <p:cNvPr id="13" name="Shape 11"/>
          <p:cNvSpPr/>
          <p:nvPr/>
        </p:nvSpPr>
        <p:spPr>
          <a:xfrm>
            <a:off x="6675120" y="3611880"/>
            <a:ext cx="1034993" cy="347472"/>
          </a:xfrm>
          <a:prstGeom prst="rect">
            <a:avLst/>
          </a:prstGeom>
          <a:solidFill>
            <a:srgbClr val="272A38"/>
          </a:solidFill>
          <a:ln w="12700">
            <a:solidFill>
              <a:srgbClr val="272A38"/>
            </a:solidFill>
            <a:prstDash val="solid"/>
          </a:ln>
        </p:spPr>
        <p:txBody>
          <a:bodyPr/>
          <a:p/>
        </p:txBody>
      </p:sp>
      <p:sp>
        <p:nvSpPr>
          <p:cNvPr id="14" name="Shape 12"/>
          <p:cNvSpPr/>
          <p:nvPr/>
        </p:nvSpPr>
        <p:spPr>
          <a:xfrm>
            <a:off x="6675120" y="4069080"/>
            <a:ext cx="976131" cy="347472"/>
          </a:xfrm>
          <a:prstGeom prst="rect">
            <a:avLst/>
          </a:prstGeom>
          <a:solidFill>
            <a:srgbClr val="272A38"/>
          </a:solidFill>
          <a:ln w="12700">
            <a:solidFill>
              <a:srgbClr val="272A38"/>
            </a:solidFill>
            <a:prstDash val="solid"/>
          </a:ln>
        </p:spPr>
        <p:txBody>
          <a:bodyPr/>
          <a:p/>
        </p:txBody>
      </p:sp>
      <p:sp>
        <p:nvSpPr>
          <p:cNvPr id="15" name="Shape 13"/>
          <p:cNvSpPr/>
          <p:nvPr/>
        </p:nvSpPr>
        <p:spPr>
          <a:xfrm>
            <a:off x="6675120" y="4526280"/>
            <a:ext cx="922174" cy="347472"/>
          </a:xfrm>
          <a:prstGeom prst="rect">
            <a:avLst/>
          </a:prstGeom>
          <a:solidFill>
            <a:srgbClr val="272A38"/>
          </a:solidFill>
          <a:ln w="12700">
            <a:solidFill>
              <a:srgbClr val="272A38"/>
            </a:solidFill>
            <a:prstDash val="solid"/>
          </a:ln>
        </p:spPr>
        <p:txBody>
          <a:bodyPr/>
          <a:p/>
        </p:txBody>
      </p:sp>
      <p:sp>
        <p:nvSpPr>
          <p:cNvPr id="16" name="Shape 14"/>
          <p:cNvSpPr/>
          <p:nvPr/>
        </p:nvSpPr>
        <p:spPr>
          <a:xfrm>
            <a:off x="6675120" y="4983480"/>
            <a:ext cx="863312" cy="347472"/>
          </a:xfrm>
          <a:prstGeom prst="rect">
            <a:avLst/>
          </a:prstGeom>
          <a:solidFill>
            <a:srgbClr val="272A38"/>
          </a:solidFill>
          <a:ln w="12700">
            <a:solidFill>
              <a:srgbClr val="272A38"/>
            </a:solidFill>
            <a:prstDash val="solid"/>
          </a:ln>
        </p:spPr>
        <p:txBody>
          <a:bodyPr/>
          <a:p/>
        </p:txBody>
      </p:sp>
      <p:sp>
        <p:nvSpPr>
          <p:cNvPr id="17" name="Text 15"/>
          <p:cNvSpPr/>
          <p:nvPr/>
        </p:nvSpPr>
        <p:spPr>
          <a:xfrm>
            <a:off x="6675120" y="5577840"/>
            <a:ext cx="4846320" cy="274320"/>
          </a:xfrm>
          <a:prstGeom prst="rect">
            <a:avLst/>
          </a:prstGeom>
          <a:noFill/>
          <a:ln/>
        </p:spPr>
        <p:txBody>
          <a:bodyPr wrap="square" lIns="0" tIns="0" rIns="0" bIns="0" rtlCol="0" anchor="t"/>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România, primele 10 cauze de DALY, 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CAZUL</a:t>
            </a:r>
            <a:endParaRPr lang="en-US" sz="1300" dirty="0"/>
          </a:p>
        </p:txBody>
      </p:sp>
      <p:sp>
        <p:nvSpPr>
          <p:cNvPr id="3" name="Shape 1"/>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4" name="Text 2"/>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PENTRU TOATĂ GRUPA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Două județe, două cifre, o singură sumă de bani</a:t>
            </a:r>
            <a:endParaRPr lang="en-US" sz="3000" dirty="0"/>
          </a:p>
        </p:txBody>
      </p:sp>
      <p:sp>
        <p:nvSpPr>
          <p:cNvPr id="6" name="Shape 4"/>
          <p:cNvSpPr/>
          <p:nvPr/>
        </p:nvSpPr>
        <p:spPr>
          <a:xfrm>
            <a:off x="594360" y="1600200"/>
            <a:ext cx="5349240" cy="2606040"/>
          </a:xfrm>
          <a:prstGeom prst="roundRect">
            <a:avLst>
              <a:gd name="adj" fmla="val 3158"/>
            </a:avLst>
          </a:prstGeom>
          <a:solidFill>
            <a:srgbClr val="ECEAE4"/>
          </a:solidFill>
          <a:ln w="12700">
            <a:solidFill>
              <a:srgbClr val="ECEAE4"/>
            </a:solidFill>
            <a:prstDash val="solid"/>
          </a:ln>
        </p:spPr>
        <p:txBody>
          <a:bodyPr/>
          <a:p/>
        </p:txBody>
      </p:sp>
      <p:sp>
        <p:nvSpPr>
          <p:cNvPr id="7" name="Shape 5"/>
          <p:cNvSpPr/>
          <p:nvPr/>
        </p:nvSpPr>
        <p:spPr>
          <a:xfrm>
            <a:off x="594360" y="1600200"/>
            <a:ext cx="82296" cy="2606040"/>
          </a:xfrm>
          <a:prstGeom prst="rect">
            <a:avLst/>
          </a:prstGeom>
          <a:solidFill>
            <a:srgbClr val="B02532"/>
          </a:solidFill>
          <a:ln w="12700">
            <a:solidFill>
              <a:srgbClr val="B02532"/>
            </a:solidFill>
            <a:prstDash val="solid"/>
          </a:ln>
        </p:spPr>
        <p:txBody>
          <a:bodyPr/>
          <a:p/>
        </p:txBody>
      </p:sp>
      <p:sp>
        <p:nvSpPr>
          <p:cNvPr id="8" name="Text 6"/>
          <p:cNvSpPr/>
          <p:nvPr/>
        </p:nvSpPr>
        <p:spPr>
          <a:xfrm>
            <a:off x="914400" y="1719072"/>
            <a:ext cx="4572000" cy="41148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Teleorman</a:t>
            </a:r>
            <a:endParaRPr lang="en-US" sz="2200" dirty="0"/>
          </a:p>
        </p:txBody>
      </p:sp>
      <p:sp>
        <p:nvSpPr>
          <p:cNvPr id="9" name="Text 7"/>
          <p:cNvSpPr/>
          <p:nvPr/>
        </p:nvSpPr>
        <p:spPr>
          <a:xfrm>
            <a:off x="914400" y="2148840"/>
            <a:ext cx="4754880" cy="1097280"/>
          </a:xfrm>
          <a:prstGeom prst="rect">
            <a:avLst/>
          </a:prstGeom>
          <a:noFill/>
          <a:ln/>
        </p:spPr>
        <p:txBody>
          <a:bodyPr wrap="square" lIns="0" tIns="0" rIns="0" bIns="0" rtlCol="0" anchor="ctr"/>
          <a:lstStyle/>
          <a:p>
            <a:pPr indent="0" marL="0">
              <a:buNone/>
            </a:pPr>
            <a:r>
              <a:rPr lang="en-US" sz="6600" b="1" dirty="0">
                <a:solidFill>
                  <a:srgbClr val="B02532"/>
                </a:solidFill>
                <a:latin typeface="Palatino Linotype" pitchFamily="34" charset="0"/>
                <a:ea typeface="Palatino Linotype" pitchFamily="34" charset="-122"/>
                <a:cs typeface="Palatino Linotype" pitchFamily="34" charset="-120"/>
              </a:rPr>
              <a:t>473,5</a:t>
            </a:r>
            <a:endParaRPr lang="en-US" sz="6600" dirty="0"/>
          </a:p>
        </p:txBody>
      </p:sp>
      <p:sp>
        <p:nvSpPr>
          <p:cNvPr id="10" name="Text 8"/>
          <p:cNvSpPr/>
          <p:nvPr/>
        </p:nvSpPr>
        <p:spPr>
          <a:xfrm>
            <a:off x="914400" y="3310128"/>
            <a:ext cx="4846320" cy="822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ani de viață sănătoasă pierduți la 1 000 de locuitori, 2023</a:t>
            </a:r>
            <a:endParaRPr lang="en-US" sz="1500" dirty="0"/>
          </a:p>
        </p:txBody>
      </p:sp>
      <p:sp>
        <p:nvSpPr>
          <p:cNvPr id="11" name="Shape 9"/>
          <p:cNvSpPr/>
          <p:nvPr/>
        </p:nvSpPr>
        <p:spPr>
          <a:xfrm>
            <a:off x="6217920" y="1600200"/>
            <a:ext cx="5349240" cy="2606040"/>
          </a:xfrm>
          <a:prstGeom prst="roundRect">
            <a:avLst>
              <a:gd name="adj" fmla="val 3158"/>
            </a:avLst>
          </a:prstGeom>
          <a:solidFill>
            <a:srgbClr val="ECEAE4"/>
          </a:solidFill>
          <a:ln w="12700">
            <a:solidFill>
              <a:srgbClr val="ECEAE4"/>
            </a:solidFill>
            <a:prstDash val="solid"/>
          </a:ln>
        </p:spPr>
        <p:txBody>
          <a:bodyPr/>
          <a:p/>
        </p:txBody>
      </p:sp>
      <p:sp>
        <p:nvSpPr>
          <p:cNvPr id="12" name="Shape 10"/>
          <p:cNvSpPr/>
          <p:nvPr/>
        </p:nvSpPr>
        <p:spPr>
          <a:xfrm>
            <a:off x="6217920" y="1600200"/>
            <a:ext cx="82296" cy="2606040"/>
          </a:xfrm>
          <a:prstGeom prst="rect">
            <a:avLst/>
          </a:prstGeom>
          <a:solidFill>
            <a:srgbClr val="0E7C6B"/>
          </a:solidFill>
          <a:ln w="12700">
            <a:solidFill>
              <a:srgbClr val="0E7C6B"/>
            </a:solidFill>
            <a:prstDash val="solid"/>
          </a:ln>
        </p:spPr>
        <p:txBody>
          <a:bodyPr/>
          <a:p/>
        </p:txBody>
      </p:sp>
      <p:sp>
        <p:nvSpPr>
          <p:cNvPr id="13" name="Text 11"/>
          <p:cNvSpPr/>
          <p:nvPr/>
        </p:nvSpPr>
        <p:spPr>
          <a:xfrm>
            <a:off x="6537960" y="1719072"/>
            <a:ext cx="4572000" cy="411480"/>
          </a:xfrm>
          <a:prstGeom prst="rect">
            <a:avLst/>
          </a:prstGeom>
          <a:noFill/>
          <a:ln/>
        </p:spPr>
        <p:txBody>
          <a:bodyPr wrap="square" lIns="0" tIns="0" rIns="0" bIns="0" rtlCol="0" anchor="t"/>
          <a:lstStyle/>
          <a:p>
            <a:pPr indent="0" marL="0">
              <a:buNone/>
            </a:pPr>
            <a:r>
              <a:rPr lang="en-US" sz="2200" b="1" dirty="0">
                <a:solidFill>
                  <a:srgbClr val="0E7C6B"/>
                </a:solidFill>
                <a:latin typeface="Palatino Linotype" pitchFamily="34" charset="0"/>
                <a:ea typeface="Palatino Linotype" pitchFamily="34" charset="-122"/>
                <a:cs typeface="Palatino Linotype" pitchFamily="34" charset="-120"/>
              </a:rPr>
              <a:t>Ilfov</a:t>
            </a:r>
            <a:endParaRPr lang="en-US" sz="2200" dirty="0"/>
          </a:p>
        </p:txBody>
      </p:sp>
      <p:sp>
        <p:nvSpPr>
          <p:cNvPr id="14" name="Text 12"/>
          <p:cNvSpPr/>
          <p:nvPr/>
        </p:nvSpPr>
        <p:spPr>
          <a:xfrm>
            <a:off x="6537960" y="2148840"/>
            <a:ext cx="4754880" cy="1097280"/>
          </a:xfrm>
          <a:prstGeom prst="rect">
            <a:avLst/>
          </a:prstGeom>
          <a:noFill/>
          <a:ln/>
        </p:spPr>
        <p:txBody>
          <a:bodyPr wrap="square" lIns="0" tIns="0" rIns="0" bIns="0" rtlCol="0" anchor="ctr"/>
          <a:lstStyle/>
          <a:p>
            <a:pPr indent="0" marL="0">
              <a:buNone/>
            </a:pPr>
            <a:r>
              <a:rPr lang="en-US" sz="6600" b="1" dirty="0">
                <a:solidFill>
                  <a:srgbClr val="0E7C6B"/>
                </a:solidFill>
                <a:latin typeface="Palatino Linotype" pitchFamily="34" charset="0"/>
                <a:ea typeface="Palatino Linotype" pitchFamily="34" charset="-122"/>
                <a:cs typeface="Palatino Linotype" pitchFamily="34" charset="-120"/>
              </a:rPr>
              <a:t>287,0</a:t>
            </a:r>
            <a:endParaRPr lang="en-US" sz="6600" dirty="0"/>
          </a:p>
        </p:txBody>
      </p:sp>
      <p:sp>
        <p:nvSpPr>
          <p:cNvPr id="15" name="Text 13"/>
          <p:cNvSpPr/>
          <p:nvPr/>
        </p:nvSpPr>
        <p:spPr>
          <a:xfrm>
            <a:off x="6537960" y="3310128"/>
            <a:ext cx="4846320" cy="822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ani de viață sănătoasă pierduți la 1 000 de locuitori, 2023</a:t>
            </a:r>
            <a:endParaRPr lang="en-US" sz="1500" dirty="0"/>
          </a:p>
        </p:txBody>
      </p:sp>
      <p:sp>
        <p:nvSpPr>
          <p:cNvPr id="16" name="Text 14"/>
          <p:cNvSpPr/>
          <p:nvPr/>
        </p:nvSpPr>
        <p:spPr>
          <a:xfrm>
            <a:off x="594360" y="4343400"/>
            <a:ext cx="10972800" cy="320040"/>
          </a:xfrm>
          <a:prstGeom prst="rect">
            <a:avLst/>
          </a:prstGeom>
          <a:noFill/>
          <a:ln/>
        </p:spPr>
        <p:txBody>
          <a:bodyPr wrap="square" lIns="0" tIns="0" rIns="0" bIns="0" rtlCol="0" anchor="t"/>
          <a:lstStyle/>
          <a:p>
            <a:pPr indent="0" marL="0">
              <a:buNone/>
            </a:pPr>
            <a:r>
              <a:rPr lang="en-US" sz="1400" b="1" dirty="0">
                <a:solidFill>
                  <a:srgbClr val="8A6100"/>
                </a:solidFill>
                <a:latin typeface="Palatino Linotype" pitchFamily="34" charset="0"/>
                <a:ea typeface="Palatino Linotype" pitchFamily="34" charset="-122"/>
                <a:cs typeface="Palatino Linotype" pitchFamily="34" charset="-120"/>
              </a:rPr>
              <a:t>Estimări proprii, calculate din ratele GBD ale țării; rate brute.</a:t>
            </a:r>
            <a:endParaRPr lang="en-US" sz="1400" dirty="0"/>
          </a:p>
        </p:txBody>
      </p:sp>
      <p:sp>
        <p:nvSpPr>
          <p:cNvPr id="17" name="Shape 15"/>
          <p:cNvSpPr/>
          <p:nvPr/>
        </p:nvSpPr>
        <p:spPr>
          <a:xfrm>
            <a:off x="594360" y="4846320"/>
            <a:ext cx="10972800" cy="1280160"/>
          </a:xfrm>
          <a:prstGeom prst="roundRect">
            <a:avLst>
              <a:gd name="adj" fmla="val 6429"/>
            </a:avLst>
          </a:prstGeom>
          <a:solidFill>
            <a:srgbClr val="1D1F2B"/>
          </a:solidFill>
          <a:ln w="12700">
            <a:solidFill>
              <a:srgbClr val="1D1F2B"/>
            </a:solidFill>
            <a:prstDash val="solid"/>
          </a:ln>
        </p:spPr>
        <p:txBody>
          <a:bodyPr/>
          <a:p/>
        </p:txBody>
      </p:sp>
      <p:sp>
        <p:nvSpPr>
          <p:cNvPr id="18" name="Text 16"/>
          <p:cNvSpPr/>
          <p:nvPr/>
        </p:nvSpPr>
        <p:spPr>
          <a:xfrm>
            <a:off x="868680" y="4846320"/>
            <a:ext cx="10424160" cy="1280160"/>
          </a:xfrm>
          <a:prstGeom prst="rect">
            <a:avLst/>
          </a:prstGeom>
          <a:noFill/>
          <a:ln/>
        </p:spPr>
        <p:txBody>
          <a:bodyPr wrap="square" lIns="0" tIns="0" rIns="0" bIns="0" rtlCol="0" anchor="ctr"/>
          <a:lstStyle/>
          <a:p>
            <a:pPr indent="0" marL="0">
              <a:buNone/>
            </a:pPr>
            <a:r>
              <a:rPr lang="en-US" sz="2400" b="1" dirty="0">
                <a:solidFill>
                  <a:srgbClr val="FFFFFF"/>
                </a:solidFill>
                <a:latin typeface="Palatino Linotype" pitchFamily="34" charset="0"/>
                <a:ea typeface="Palatino Linotype" pitchFamily="34" charset="-122"/>
                <a:cs typeface="Palatino Linotype" pitchFamily="34" charset="-120"/>
              </a:rPr>
              <a:t>Unde merg banii și ce ați vrea să mai știți înainte de a decide?</a:t>
            </a:r>
            <a:endParaRPr lang="en-US" sz="24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Eurostat (decese și populație) și GBD 2023, IHME; metoda LP03. GBD nu publică cifre pentru județele României.</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DOUĂ CIFRE, TREI MĂSURI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măsoară fiecare</a:t>
            </a:r>
            <a:endParaRPr lang="en-US" sz="3000" dirty="0"/>
          </a:p>
        </p:txBody>
      </p:sp>
      <p:sp>
        <p:nvSpPr>
          <p:cNvPr id="4" name="Shape 2"/>
          <p:cNvSpPr/>
          <p:nvPr/>
        </p:nvSpPr>
        <p:spPr>
          <a:xfrm>
            <a:off x="594360" y="1554480"/>
            <a:ext cx="3474720" cy="3063240"/>
          </a:xfrm>
          <a:prstGeom prst="roundRect">
            <a:avLst>
              <a:gd name="adj" fmla="val 2687"/>
            </a:avLst>
          </a:prstGeom>
          <a:solidFill>
            <a:srgbClr val="ECEAE4"/>
          </a:solidFill>
          <a:ln w="12700">
            <a:solidFill>
              <a:srgbClr val="ECEAE4"/>
            </a:solidFill>
            <a:prstDash val="solid"/>
          </a:ln>
        </p:spPr>
        <p:txBody>
          <a:bodyPr/>
          <a:p/>
        </p:txBody>
      </p:sp>
      <p:sp>
        <p:nvSpPr>
          <p:cNvPr id="5" name="Shape 3"/>
          <p:cNvSpPr/>
          <p:nvPr/>
        </p:nvSpPr>
        <p:spPr>
          <a:xfrm>
            <a:off x="594360" y="1554480"/>
            <a:ext cx="3474720" cy="82296"/>
          </a:xfrm>
          <a:prstGeom prst="rect">
            <a:avLst/>
          </a:prstGeom>
          <a:solidFill>
            <a:srgbClr val="B02532"/>
          </a:solidFill>
          <a:ln w="12700">
            <a:solidFill>
              <a:srgbClr val="B02532"/>
            </a:solidFill>
            <a:prstDash val="solid"/>
          </a:ln>
        </p:spPr>
        <p:txBody>
          <a:bodyPr/>
          <a:p/>
        </p:txBody>
      </p:sp>
      <p:sp>
        <p:nvSpPr>
          <p:cNvPr id="6" name="Text 4"/>
          <p:cNvSpPr/>
          <p:nvPr/>
        </p:nvSpPr>
        <p:spPr>
          <a:xfrm>
            <a:off x="868680" y="1783080"/>
            <a:ext cx="3017520" cy="73152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Rata brută</a:t>
            </a:r>
            <a:endParaRPr lang="en-US" sz="2100" dirty="0"/>
          </a:p>
        </p:txBody>
      </p:sp>
      <p:sp>
        <p:nvSpPr>
          <p:cNvPr id="7" name="Text 5"/>
          <p:cNvSpPr/>
          <p:nvPr/>
        </p:nvSpPr>
        <p:spPr>
          <a:xfrm>
            <a:off x="868680" y="2560320"/>
            <a:ext cx="2971800" cy="2011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Ani pierduți la 1 000 de locuitori. Nu ține seama de vârsta populației. România, la fel: 396,4.</a:t>
            </a:r>
            <a:endParaRPr lang="en-US" sz="1500" dirty="0"/>
          </a:p>
        </p:txBody>
      </p:sp>
      <p:sp>
        <p:nvSpPr>
          <p:cNvPr id="8" name="Shape 6"/>
          <p:cNvSpPr/>
          <p:nvPr/>
        </p:nvSpPr>
        <p:spPr>
          <a:xfrm>
            <a:off x="4343400" y="1554480"/>
            <a:ext cx="3474720" cy="3063240"/>
          </a:xfrm>
          <a:prstGeom prst="roundRect">
            <a:avLst>
              <a:gd name="adj" fmla="val 2687"/>
            </a:avLst>
          </a:prstGeom>
          <a:solidFill>
            <a:srgbClr val="ECEAE4"/>
          </a:solidFill>
          <a:ln w="12700">
            <a:solidFill>
              <a:srgbClr val="ECEAE4"/>
            </a:solidFill>
            <a:prstDash val="solid"/>
          </a:ln>
        </p:spPr>
        <p:txBody>
          <a:bodyPr/>
          <a:p/>
        </p:txBody>
      </p:sp>
      <p:sp>
        <p:nvSpPr>
          <p:cNvPr id="9" name="Shape 7"/>
          <p:cNvSpPr/>
          <p:nvPr/>
        </p:nvSpPr>
        <p:spPr>
          <a:xfrm>
            <a:off x="4343400" y="1554480"/>
            <a:ext cx="3474720" cy="82296"/>
          </a:xfrm>
          <a:prstGeom prst="rect">
            <a:avLst/>
          </a:prstGeom>
          <a:solidFill>
            <a:srgbClr val="4A2D8C"/>
          </a:solidFill>
          <a:ln w="12700">
            <a:solidFill>
              <a:srgbClr val="4A2D8C"/>
            </a:solidFill>
            <a:prstDash val="solid"/>
          </a:ln>
        </p:spPr>
        <p:txBody>
          <a:bodyPr/>
          <a:p/>
        </p:txBody>
      </p:sp>
      <p:sp>
        <p:nvSpPr>
          <p:cNvPr id="10" name="Text 8"/>
          <p:cNvSpPr/>
          <p:nvPr/>
        </p:nvSpPr>
        <p:spPr>
          <a:xfrm>
            <a:off x="4617720" y="1783080"/>
            <a:ext cx="3017520" cy="731520"/>
          </a:xfrm>
          <a:prstGeom prst="rect">
            <a:avLst/>
          </a:prstGeom>
          <a:noFill/>
          <a:ln/>
        </p:spPr>
        <p:txBody>
          <a:bodyPr wrap="square" lIns="0" tIns="0" rIns="0" bIns="0" rtlCol="0" anchor="t"/>
          <a:lstStyle/>
          <a:p>
            <a:pPr indent="0" marL="0">
              <a:buNone/>
            </a:pPr>
            <a:r>
              <a:rPr lang="en-US" sz="2100" b="1" dirty="0">
                <a:solidFill>
                  <a:srgbClr val="4A2D8C"/>
                </a:solidFill>
                <a:latin typeface="Palatino Linotype" pitchFamily="34" charset="0"/>
                <a:ea typeface="Palatino Linotype" pitchFamily="34" charset="-122"/>
                <a:cs typeface="Palatino Linotype" pitchFamily="34" charset="-120"/>
              </a:rPr>
              <a:t>Numărul absolut</a:t>
            </a:r>
            <a:endParaRPr lang="en-US" sz="2100" dirty="0"/>
          </a:p>
        </p:txBody>
      </p:sp>
      <p:sp>
        <p:nvSpPr>
          <p:cNvPr id="11" name="Text 9"/>
          <p:cNvSpPr/>
          <p:nvPr/>
        </p:nvSpPr>
        <p:spPr>
          <a:xfrm>
            <a:off x="4617720" y="2560320"/>
            <a:ext cx="2971800" cy="2011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Volumul poverii. Ilfovul, cu o populație aproape dublă, pierde mai mulți ani în total.</a:t>
            </a:r>
            <a:endParaRPr lang="en-US" sz="1500" dirty="0"/>
          </a:p>
        </p:txBody>
      </p:sp>
      <p:sp>
        <p:nvSpPr>
          <p:cNvPr id="12" name="Shape 10"/>
          <p:cNvSpPr/>
          <p:nvPr/>
        </p:nvSpPr>
        <p:spPr>
          <a:xfrm>
            <a:off x="8092440" y="1554480"/>
            <a:ext cx="3474720" cy="3063240"/>
          </a:xfrm>
          <a:prstGeom prst="roundRect">
            <a:avLst>
              <a:gd name="adj" fmla="val 2687"/>
            </a:avLst>
          </a:prstGeom>
          <a:solidFill>
            <a:srgbClr val="ECEAE4"/>
          </a:solidFill>
          <a:ln w="12700">
            <a:solidFill>
              <a:srgbClr val="ECEAE4"/>
            </a:solidFill>
            <a:prstDash val="solid"/>
          </a:ln>
        </p:spPr>
        <p:txBody>
          <a:bodyPr/>
          <a:p/>
        </p:txBody>
      </p:sp>
      <p:sp>
        <p:nvSpPr>
          <p:cNvPr id="13" name="Shape 11"/>
          <p:cNvSpPr/>
          <p:nvPr/>
        </p:nvSpPr>
        <p:spPr>
          <a:xfrm>
            <a:off x="8092440" y="1554480"/>
            <a:ext cx="3474720" cy="82296"/>
          </a:xfrm>
          <a:prstGeom prst="rect">
            <a:avLst/>
          </a:prstGeom>
          <a:solidFill>
            <a:srgbClr val="0E7C6B"/>
          </a:solidFill>
          <a:ln w="12700">
            <a:solidFill>
              <a:srgbClr val="0E7C6B"/>
            </a:solidFill>
            <a:prstDash val="solid"/>
          </a:ln>
        </p:spPr>
        <p:txBody>
          <a:bodyPr/>
          <a:p/>
        </p:txBody>
      </p:sp>
      <p:sp>
        <p:nvSpPr>
          <p:cNvPr id="14" name="Text 12"/>
          <p:cNvSpPr/>
          <p:nvPr/>
        </p:nvSpPr>
        <p:spPr>
          <a:xfrm>
            <a:off x="8366760" y="1783080"/>
            <a:ext cx="3017520" cy="73152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Rata standardizată pe vârstă</a:t>
            </a:r>
            <a:endParaRPr lang="en-US" sz="2100" dirty="0"/>
          </a:p>
        </p:txBody>
      </p:sp>
      <p:sp>
        <p:nvSpPr>
          <p:cNvPr id="15" name="Text 13"/>
          <p:cNvSpPr/>
          <p:nvPr/>
        </p:nvSpPr>
        <p:spPr>
          <a:xfrm>
            <a:off x="8366760" y="2560320"/>
            <a:ext cx="2971800" cy="2011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Elimină efectul vârstei; pe ea se compară teritoriile.</a:t>
            </a:r>
            <a:endParaRPr lang="en-US" sz="1500" dirty="0"/>
          </a:p>
        </p:txBody>
      </p:sp>
      <p:sp>
        <p:nvSpPr>
          <p:cNvPr id="16" name="Shape 14"/>
          <p:cNvSpPr/>
          <p:nvPr/>
        </p:nvSpPr>
        <p:spPr>
          <a:xfrm>
            <a:off x="594360" y="4846320"/>
            <a:ext cx="10972800" cy="1234440"/>
          </a:xfrm>
          <a:prstGeom prst="roundRect">
            <a:avLst>
              <a:gd name="adj" fmla="val 6667"/>
            </a:avLst>
          </a:prstGeom>
          <a:solidFill>
            <a:srgbClr val="1D1F2B"/>
          </a:solidFill>
          <a:ln w="12700">
            <a:solidFill>
              <a:srgbClr val="1D1F2B"/>
            </a:solidFill>
            <a:prstDash val="solid"/>
          </a:ln>
        </p:spPr>
        <p:txBody>
          <a:bodyPr/>
          <a:p/>
        </p:txBody>
      </p:sp>
      <p:sp>
        <p:nvSpPr>
          <p:cNvPr id="17" name="Text 15"/>
          <p:cNvSpPr/>
          <p:nvPr/>
        </p:nvSpPr>
        <p:spPr>
          <a:xfrm>
            <a:off x="868680" y="4846320"/>
            <a:ext cx="10424160" cy="1234440"/>
          </a:xfrm>
          <a:prstGeom prst="rect">
            <a:avLst/>
          </a:prstGeom>
          <a:noFill/>
          <a:ln/>
        </p:spPr>
        <p:txBody>
          <a:bodyPr wrap="square" lIns="0" tIns="0" rIns="0" bIns="0" rtlCol="0" anchor="ctr"/>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Rata brută ≠ rata standardizată. </a:t>
            </a:r>
            <a:pPr indent="0" marL="0">
              <a:buNone/>
            </a:pPr>
            <a:r>
              <a:rPr lang="en-US" sz="1900" dirty="0">
                <a:solidFill>
                  <a:srgbClr val="FFFFFF"/>
                </a:solidFill>
                <a:latin typeface="Palatino Linotype" pitchFamily="34" charset="0"/>
                <a:ea typeface="Palatino Linotype" pitchFamily="34" charset="-122"/>
                <a:cs typeface="Palatino Linotype" pitchFamily="34" charset="-120"/>
              </a:rPr>
              <a:t>Corecția pentru vârstă: raportul dintre anii pierduți prin deces calculați și cei așteptați (pasul 4).</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ANII DE VIAȚĂ AJUSTAȚI PENTRU DIZABILITATE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DALY = YLL + YLD</a:t>
            </a:r>
            <a:endParaRPr lang="en-US" sz="3600" dirty="0"/>
          </a:p>
        </p:txBody>
      </p:sp>
      <p:sp>
        <p:nvSpPr>
          <p:cNvPr id="4" name="Shape 2"/>
          <p:cNvSpPr/>
          <p:nvPr/>
        </p:nvSpPr>
        <p:spPr>
          <a:xfrm>
            <a:off x="594360" y="1600200"/>
            <a:ext cx="5349240" cy="3017520"/>
          </a:xfrm>
          <a:prstGeom prst="roundRect">
            <a:avLst>
              <a:gd name="adj" fmla="val 2727"/>
            </a:avLst>
          </a:prstGeom>
          <a:solidFill>
            <a:srgbClr val="1D1F2B"/>
          </a:solidFill>
          <a:ln w="12700">
            <a:solidFill>
              <a:srgbClr val="1D1F2B"/>
            </a:solidFill>
            <a:prstDash val="solid"/>
          </a:ln>
        </p:spPr>
        <p:txBody>
          <a:bodyPr/>
          <a:p/>
        </p:txBody>
      </p:sp>
      <p:sp>
        <p:nvSpPr>
          <p:cNvPr id="5" name="Shape 3"/>
          <p:cNvSpPr/>
          <p:nvPr/>
        </p:nvSpPr>
        <p:spPr>
          <a:xfrm>
            <a:off x="594360" y="1600200"/>
            <a:ext cx="5349240" cy="82296"/>
          </a:xfrm>
          <a:prstGeom prst="rect">
            <a:avLst/>
          </a:prstGeom>
          <a:solidFill>
            <a:srgbClr val="FF4757"/>
          </a:solidFill>
          <a:ln w="12700">
            <a:solidFill>
              <a:srgbClr val="FF4757"/>
            </a:solidFill>
            <a:prstDash val="solid"/>
          </a:ln>
        </p:spPr>
        <p:txBody>
          <a:bodyPr/>
          <a:p/>
        </p:txBody>
      </p:sp>
      <p:sp>
        <p:nvSpPr>
          <p:cNvPr id="6" name="Text 4"/>
          <p:cNvSpPr/>
          <p:nvPr/>
        </p:nvSpPr>
        <p:spPr>
          <a:xfrm>
            <a:off x="914400" y="1828800"/>
            <a:ext cx="4572000" cy="822960"/>
          </a:xfrm>
          <a:prstGeom prst="rect">
            <a:avLst/>
          </a:prstGeom>
          <a:noFill/>
          <a:ln/>
        </p:spPr>
        <p:txBody>
          <a:bodyPr wrap="square" lIns="0" tIns="0" rIns="0" bIns="0" rtlCol="0" anchor="t"/>
          <a:lstStyle/>
          <a:p>
            <a:pPr indent="0" marL="0">
              <a:buNone/>
            </a:pPr>
            <a:r>
              <a:rPr lang="en-US" sz="4400" b="1" dirty="0">
                <a:solidFill>
                  <a:srgbClr val="FF4757"/>
                </a:solidFill>
                <a:latin typeface="Palatino Linotype" pitchFamily="34" charset="0"/>
                <a:ea typeface="Palatino Linotype" pitchFamily="34" charset="-122"/>
                <a:cs typeface="Palatino Linotype" pitchFamily="34" charset="-120"/>
              </a:rPr>
              <a:t>YLL</a:t>
            </a:r>
            <a:endParaRPr lang="en-US" sz="4400" dirty="0"/>
          </a:p>
        </p:txBody>
      </p:sp>
      <p:sp>
        <p:nvSpPr>
          <p:cNvPr id="7" name="Text 5"/>
          <p:cNvSpPr/>
          <p:nvPr/>
        </p:nvSpPr>
        <p:spPr>
          <a:xfrm>
            <a:off x="914400" y="2743200"/>
            <a:ext cx="4754880" cy="17830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Anii pierduți prin deces prematur. Fiecare deces se înmulțește cu speranța de viață prezisă la vârsta decesului, pornind de la o speranță de viață teoretică „cea mai bună”, globală, aceeași pentru ambele sexe.</a:t>
            </a:r>
            <a:endParaRPr lang="en-US" sz="1600" dirty="0"/>
          </a:p>
        </p:txBody>
      </p:sp>
      <p:sp>
        <p:nvSpPr>
          <p:cNvPr id="8" name="Shape 6"/>
          <p:cNvSpPr/>
          <p:nvPr/>
        </p:nvSpPr>
        <p:spPr>
          <a:xfrm>
            <a:off x="6217920" y="1600200"/>
            <a:ext cx="5349240" cy="3017520"/>
          </a:xfrm>
          <a:prstGeom prst="roundRect">
            <a:avLst>
              <a:gd name="adj" fmla="val 2727"/>
            </a:avLst>
          </a:prstGeom>
          <a:solidFill>
            <a:srgbClr val="1D1F2B"/>
          </a:solidFill>
          <a:ln w="12700">
            <a:solidFill>
              <a:srgbClr val="1D1F2B"/>
            </a:solidFill>
            <a:prstDash val="solid"/>
          </a:ln>
        </p:spPr>
        <p:txBody>
          <a:bodyPr/>
          <a:p/>
        </p:txBody>
      </p:sp>
      <p:sp>
        <p:nvSpPr>
          <p:cNvPr id="9" name="Shape 7"/>
          <p:cNvSpPr/>
          <p:nvPr/>
        </p:nvSpPr>
        <p:spPr>
          <a:xfrm>
            <a:off x="6217920" y="1600200"/>
            <a:ext cx="5349240" cy="82296"/>
          </a:xfrm>
          <a:prstGeom prst="rect">
            <a:avLst/>
          </a:prstGeom>
          <a:solidFill>
            <a:srgbClr val="27D3BE"/>
          </a:solidFill>
          <a:ln w="12700">
            <a:solidFill>
              <a:srgbClr val="27D3BE"/>
            </a:solidFill>
            <a:prstDash val="solid"/>
          </a:ln>
        </p:spPr>
        <p:txBody>
          <a:bodyPr/>
          <a:p/>
        </p:txBody>
      </p:sp>
      <p:sp>
        <p:nvSpPr>
          <p:cNvPr id="10" name="Text 8"/>
          <p:cNvSpPr/>
          <p:nvPr/>
        </p:nvSpPr>
        <p:spPr>
          <a:xfrm>
            <a:off x="6537960" y="1828800"/>
            <a:ext cx="4572000" cy="822960"/>
          </a:xfrm>
          <a:prstGeom prst="rect">
            <a:avLst/>
          </a:prstGeom>
          <a:noFill/>
          <a:ln/>
        </p:spPr>
        <p:txBody>
          <a:bodyPr wrap="square" lIns="0" tIns="0" rIns="0" bIns="0" rtlCol="0" anchor="t"/>
          <a:lstStyle/>
          <a:p>
            <a:pPr indent="0" marL="0">
              <a:buNone/>
            </a:pPr>
            <a:r>
              <a:rPr lang="en-US" sz="4400" b="1" dirty="0">
                <a:solidFill>
                  <a:srgbClr val="27D3BE"/>
                </a:solidFill>
                <a:latin typeface="Palatino Linotype" pitchFamily="34" charset="0"/>
                <a:ea typeface="Palatino Linotype" pitchFamily="34" charset="-122"/>
                <a:cs typeface="Palatino Linotype" pitchFamily="34" charset="-120"/>
              </a:rPr>
              <a:t>YLD</a:t>
            </a:r>
            <a:endParaRPr lang="en-US" sz="4400" dirty="0"/>
          </a:p>
        </p:txBody>
      </p:sp>
      <p:sp>
        <p:nvSpPr>
          <p:cNvPr id="11" name="Text 9"/>
          <p:cNvSpPr/>
          <p:nvPr/>
        </p:nvSpPr>
        <p:spPr>
          <a:xfrm>
            <a:off x="6537960" y="2743200"/>
            <a:ext cx="4754880" cy="17830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Anii trăiți cu boală, cântăriți după gravitatea ei. Prevalența fiecărei consecințe a bolii se înmulțește cu ponderea dizabilității ei.</a:t>
            </a:r>
            <a:endParaRPr lang="en-US" sz="1600" dirty="0"/>
          </a:p>
        </p:txBody>
      </p:sp>
      <p:sp>
        <p:nvSpPr>
          <p:cNvPr id="12" name="Shape 10"/>
          <p:cNvSpPr/>
          <p:nvPr/>
        </p:nvSpPr>
        <p:spPr>
          <a:xfrm>
            <a:off x="594360" y="4846320"/>
            <a:ext cx="10972800" cy="1234440"/>
          </a:xfrm>
          <a:prstGeom prst="roundRect">
            <a:avLst>
              <a:gd name="adj" fmla="val 6667"/>
            </a:avLst>
          </a:prstGeom>
          <a:solidFill>
            <a:srgbClr val="272A38"/>
          </a:solidFill>
          <a:ln w="12700">
            <a:solidFill>
              <a:srgbClr val="272A38"/>
            </a:solidFill>
            <a:prstDash val="solid"/>
          </a:ln>
        </p:spPr>
        <p:txBody>
          <a:bodyPr/>
          <a:p/>
        </p:txBody>
      </p:sp>
      <p:sp>
        <p:nvSpPr>
          <p:cNvPr id="13" name="Text 11"/>
          <p:cNvSpPr/>
          <p:nvPr/>
        </p:nvSpPr>
        <p:spPr>
          <a:xfrm>
            <a:off x="868680" y="4846320"/>
            <a:ext cx="10424160" cy="123444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Un DALY este un an de sănătate deplină pierdut. </a:t>
            </a:r>
            <a:pPr indent="0" marL="0">
              <a:buNone/>
            </a:pPr>
            <a:r>
              <a:rPr lang="en-US" sz="1900" dirty="0">
                <a:solidFill>
                  <a:srgbClr val="FFFFFF"/>
                </a:solidFill>
                <a:latin typeface="Palatino Linotype" pitchFamily="34" charset="0"/>
                <a:ea typeface="Palatino Linotype" pitchFamily="34" charset="-122"/>
                <a:cs typeface="Palatino Linotype" pitchFamily="34" charset="-120"/>
              </a:rPr>
              <a:t>Un deces la o vârstă tânără cântărește mai mult decât unul la o vârstă înaintată.</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 EXEMPLU CU DATE REALE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Vârstnicii unui județ, într-un singur an</a:t>
            </a:r>
            <a:endParaRPr lang="en-US" sz="3000" dirty="0"/>
          </a:p>
        </p:txBody>
      </p:sp>
      <p:sp>
        <p:nvSpPr>
          <p:cNvPr id="4" name="Text 2"/>
          <p:cNvSpPr/>
          <p:nvPr/>
        </p:nvSpPr>
        <p:spPr>
          <a:xfrm>
            <a:off x="594360" y="1417320"/>
            <a:ext cx="10972800" cy="7315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Teleorman, 70 de ani și peste, 2023: decese și populație reale (Eurostat); rezultatul, estimare proprie din ratele GBD ale țării.</a:t>
            </a:r>
            <a:endParaRPr lang="en-US" sz="1600" dirty="0"/>
          </a:p>
        </p:txBody>
      </p:sp>
      <p:sp>
        <p:nvSpPr>
          <p:cNvPr id="5" name="Shape 3"/>
          <p:cNvSpPr/>
          <p:nvPr/>
        </p:nvSpPr>
        <p:spPr>
          <a:xfrm>
            <a:off x="594360" y="237744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6" name="Text 4"/>
          <p:cNvSpPr/>
          <p:nvPr/>
        </p:nvSpPr>
        <p:spPr>
          <a:xfrm>
            <a:off x="868680" y="2377440"/>
            <a:ext cx="1737360" cy="1097280"/>
          </a:xfrm>
          <a:prstGeom prst="rect">
            <a:avLst/>
          </a:prstGeom>
          <a:noFill/>
          <a:ln/>
        </p:spPr>
        <p:txBody>
          <a:bodyPr wrap="square" lIns="0" tIns="0" rIns="0" bIns="0" rtlCol="0" anchor="ctr"/>
          <a:lstStyle/>
          <a:p>
            <a:pPr indent="0" marL="0">
              <a:buNone/>
            </a:pPr>
            <a:r>
              <a:rPr lang="en-US" sz="3000" b="1" dirty="0">
                <a:solidFill>
                  <a:srgbClr val="B02532"/>
                </a:solidFill>
                <a:latin typeface="Palatino Linotype" pitchFamily="34" charset="0"/>
                <a:ea typeface="Palatino Linotype" pitchFamily="34" charset="-122"/>
                <a:cs typeface="Palatino Linotype" pitchFamily="34" charset="-120"/>
              </a:rPr>
              <a:t>YLL</a:t>
            </a:r>
            <a:endParaRPr lang="en-US" sz="3000" dirty="0"/>
          </a:p>
        </p:txBody>
      </p:sp>
      <p:sp>
        <p:nvSpPr>
          <p:cNvPr id="7" name="Text 5"/>
          <p:cNvSpPr/>
          <p:nvPr/>
        </p:nvSpPr>
        <p:spPr>
          <a:xfrm>
            <a:off x="2651760" y="2377440"/>
            <a:ext cx="8686800" cy="1097280"/>
          </a:xfrm>
          <a:prstGeom prst="rect">
            <a:avLst/>
          </a:prstGeom>
          <a:noFill/>
          <a:ln/>
        </p:spPr>
        <p:txBody>
          <a:bodyPr wrap="square" lIns="0" tIns="0" rIns="0" bIns="0" rtlCol="0" anchor="ctr"/>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3 917 decese × 13,3 ani pierduți pentru un deces = 52 096,1</a:t>
            </a:r>
            <a:endParaRPr lang="en-US" sz="2000" dirty="0"/>
          </a:p>
          <a:p>
            <a:pPr indent="0" marL="0">
              <a:buNone/>
            </a:pPr>
            <a:r>
              <a:rPr lang="en-US" sz="1400" dirty="0">
                <a:solidFill>
                  <a:srgbClr val="585A64"/>
                </a:solidFill>
                <a:latin typeface="Palatino Linotype" pitchFamily="34" charset="0"/>
                <a:ea typeface="Palatino Linotype" pitchFamily="34" charset="-122"/>
                <a:cs typeface="Palatino Linotype" pitchFamily="34" charset="-120"/>
              </a:rPr>
              <a:t>decese × ani pierduți pentru un deces</a:t>
            </a:r>
            <a:endParaRPr lang="en-US" sz="2000" dirty="0"/>
          </a:p>
        </p:txBody>
      </p:sp>
      <p:sp>
        <p:nvSpPr>
          <p:cNvPr id="8" name="Shape 6"/>
          <p:cNvSpPr/>
          <p:nvPr/>
        </p:nvSpPr>
        <p:spPr>
          <a:xfrm>
            <a:off x="594360" y="3639312"/>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9" name="Text 7"/>
          <p:cNvSpPr/>
          <p:nvPr/>
        </p:nvSpPr>
        <p:spPr>
          <a:xfrm>
            <a:off x="868680" y="3639312"/>
            <a:ext cx="1737360" cy="1097280"/>
          </a:xfrm>
          <a:prstGeom prst="rect">
            <a:avLst/>
          </a:prstGeom>
          <a:noFill/>
          <a:ln/>
        </p:spPr>
        <p:txBody>
          <a:bodyPr wrap="square" lIns="0" tIns="0" rIns="0" bIns="0" rtlCol="0" anchor="ctr"/>
          <a:lstStyle/>
          <a:p>
            <a:pPr indent="0" marL="0">
              <a:buNone/>
            </a:pPr>
            <a:r>
              <a:rPr lang="en-US" sz="3000" b="1" dirty="0">
                <a:solidFill>
                  <a:srgbClr val="0E7C6B"/>
                </a:solidFill>
                <a:latin typeface="Palatino Linotype" pitchFamily="34" charset="0"/>
                <a:ea typeface="Palatino Linotype" pitchFamily="34" charset="-122"/>
                <a:cs typeface="Palatino Linotype" pitchFamily="34" charset="-120"/>
              </a:rPr>
              <a:t>YLD</a:t>
            </a:r>
            <a:endParaRPr lang="en-US" sz="3000" dirty="0"/>
          </a:p>
        </p:txBody>
      </p:sp>
      <p:sp>
        <p:nvSpPr>
          <p:cNvPr id="10" name="Text 8"/>
          <p:cNvSpPr/>
          <p:nvPr/>
        </p:nvSpPr>
        <p:spPr>
          <a:xfrm>
            <a:off x="2651760" y="3639312"/>
            <a:ext cx="8686800" cy="1097280"/>
          </a:xfrm>
          <a:prstGeom prst="rect">
            <a:avLst/>
          </a:prstGeom>
          <a:noFill/>
          <a:ln/>
        </p:spPr>
        <p:txBody>
          <a:bodyPr wrap="square" lIns="0" tIns="0" rIns="0" bIns="0" rtlCol="0" anchor="ctr"/>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59 730 de persoane × 281,7 ÷ 1 000 = 16 825,9</a:t>
            </a:r>
            <a:endParaRPr lang="en-US" sz="2000" dirty="0"/>
          </a:p>
          <a:p>
            <a:pPr indent="0" marL="0">
              <a:buNone/>
            </a:pPr>
            <a:r>
              <a:rPr lang="en-US" sz="1400" dirty="0">
                <a:solidFill>
                  <a:srgbClr val="585A64"/>
                </a:solidFill>
                <a:latin typeface="Palatino Linotype" pitchFamily="34" charset="0"/>
                <a:ea typeface="Palatino Linotype" pitchFamily="34" charset="-122"/>
                <a:cs typeface="Palatino Linotype" pitchFamily="34" charset="-120"/>
              </a:rPr>
              <a:t>populația × YLD la 1 000 ÷ 1 000</a:t>
            </a:r>
            <a:endParaRPr lang="en-US" sz="2000" dirty="0"/>
          </a:p>
        </p:txBody>
      </p:sp>
      <p:sp>
        <p:nvSpPr>
          <p:cNvPr id="11" name="Shape 9"/>
          <p:cNvSpPr/>
          <p:nvPr/>
        </p:nvSpPr>
        <p:spPr>
          <a:xfrm>
            <a:off x="594360" y="4901184"/>
            <a:ext cx="10972800" cy="1097280"/>
          </a:xfrm>
          <a:prstGeom prst="roundRect">
            <a:avLst>
              <a:gd name="adj" fmla="val 7500"/>
            </a:avLst>
          </a:prstGeom>
          <a:solidFill>
            <a:srgbClr val="1D1F2B"/>
          </a:solidFill>
          <a:ln w="12700">
            <a:solidFill>
              <a:srgbClr val="1D1F2B"/>
            </a:solidFill>
            <a:prstDash val="solid"/>
          </a:ln>
        </p:spPr>
        <p:txBody>
          <a:bodyPr/>
          <a:p/>
        </p:txBody>
      </p:sp>
      <p:sp>
        <p:nvSpPr>
          <p:cNvPr id="12" name="Text 10"/>
          <p:cNvSpPr/>
          <p:nvPr/>
        </p:nvSpPr>
        <p:spPr>
          <a:xfrm>
            <a:off x="868680" y="4901184"/>
            <a:ext cx="1737360" cy="1097280"/>
          </a:xfrm>
          <a:prstGeom prst="rect">
            <a:avLst/>
          </a:prstGeom>
          <a:noFill/>
          <a:ln/>
        </p:spPr>
        <p:txBody>
          <a:bodyPr wrap="square" lIns="0" tIns="0" rIns="0" bIns="0" rtlCol="0" anchor="ctr"/>
          <a:lstStyle/>
          <a:p>
            <a:pPr indent="0" marL="0">
              <a:buNone/>
            </a:pPr>
            <a:r>
              <a:rPr lang="en-US" sz="3000" b="1" dirty="0">
                <a:solidFill>
                  <a:srgbClr val="FFC24B"/>
                </a:solidFill>
                <a:latin typeface="Palatino Linotype" pitchFamily="34" charset="0"/>
                <a:ea typeface="Palatino Linotype" pitchFamily="34" charset="-122"/>
                <a:cs typeface="Palatino Linotype" pitchFamily="34" charset="-120"/>
              </a:rPr>
              <a:t>DALY</a:t>
            </a:r>
            <a:endParaRPr lang="en-US" sz="3000" dirty="0"/>
          </a:p>
        </p:txBody>
      </p:sp>
      <p:sp>
        <p:nvSpPr>
          <p:cNvPr id="13" name="Text 11"/>
          <p:cNvSpPr/>
          <p:nvPr/>
        </p:nvSpPr>
        <p:spPr>
          <a:xfrm>
            <a:off x="2651760" y="4901184"/>
            <a:ext cx="8686800" cy="109728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52 096,1 + 16 825,9 = 68 922,0 ani de viață sănătoasă pierduți</a:t>
            </a:r>
            <a:endParaRPr lang="en-US" sz="2000" dirty="0"/>
          </a:p>
          <a:p>
            <a:pPr indent="0" marL="0">
              <a:buNone/>
            </a:pPr>
            <a:r>
              <a:rPr lang="en-US" sz="1400" dirty="0">
                <a:solidFill>
                  <a:srgbClr val="959BB0"/>
                </a:solidFill>
                <a:latin typeface="Palatino Linotype" pitchFamily="34" charset="0"/>
                <a:ea typeface="Palatino Linotype" pitchFamily="34" charset="-122"/>
                <a:cs typeface="Palatino Linotype" pitchFamily="34" charset="-120"/>
              </a:rPr>
              <a:t>YLL + YLD</a:t>
            </a:r>
            <a:endParaRPr lang="en-US" sz="20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Surse: Eurostat; GBD 2023, IHME; metoda LP03.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 INSTRUMENT</a:t>
            </a:r>
            <a:endParaRPr lang="en-US" sz="1300" dirty="0"/>
          </a:p>
        </p:txBody>
      </p:sp>
      <p:sp>
        <p:nvSpPr>
          <p:cNvPr id="3" name="Shape 1"/>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4" name="Text 2"/>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DEMONSTRAȚIE · GBD COMPARE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România în GBD Compare</a:t>
            </a:r>
            <a:endParaRPr lang="en-US" sz="3200" dirty="0"/>
          </a:p>
        </p:txBody>
      </p:sp>
      <p:sp>
        <p:nvSpPr>
          <p:cNvPr id="6" name="Shape 4"/>
          <p:cNvSpPr/>
          <p:nvPr/>
        </p:nvSpPr>
        <p:spPr>
          <a:xfrm>
            <a:off x="594360" y="16002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764792"/>
            <a:ext cx="420624" cy="420624"/>
          </a:xfrm>
          <a:prstGeom prst="ellipse">
            <a:avLst/>
          </a:prstGeom>
          <a:solidFill>
            <a:srgbClr val="FFC24B"/>
          </a:solidFill>
          <a:ln/>
        </p:spPr>
        <p:txBody>
          <a:bodyPr/>
          <a:p/>
        </p:txBody>
      </p:sp>
      <p:sp>
        <p:nvSpPr>
          <p:cNvPr id="8" name="Text 6"/>
          <p:cNvSpPr/>
          <p:nvPr/>
        </p:nvSpPr>
        <p:spPr>
          <a:xfrm>
            <a:off x="914400" y="17647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600200"/>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Locația: România. Anul: 2023 sau 2000.</a:t>
            </a:r>
            <a:endParaRPr lang="en-US" sz="1700" dirty="0"/>
          </a:p>
        </p:txBody>
      </p:sp>
      <p:sp>
        <p:nvSpPr>
          <p:cNvPr id="10" name="Shape 8"/>
          <p:cNvSpPr/>
          <p:nvPr/>
        </p:nvSpPr>
        <p:spPr>
          <a:xfrm>
            <a:off x="594360" y="2478024"/>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642616"/>
            <a:ext cx="420624" cy="420624"/>
          </a:xfrm>
          <a:prstGeom prst="ellipse">
            <a:avLst/>
          </a:prstGeom>
          <a:solidFill>
            <a:srgbClr val="FFC24B"/>
          </a:solidFill>
          <a:ln/>
        </p:spPr>
        <p:txBody>
          <a:bodyPr/>
          <a:p/>
        </p:txBody>
      </p:sp>
      <p:sp>
        <p:nvSpPr>
          <p:cNvPr id="12" name="Text 10"/>
          <p:cNvSpPr/>
          <p:nvPr/>
        </p:nvSpPr>
        <p:spPr>
          <a:xfrm>
            <a:off x="914400" y="26426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478024"/>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Măsura: DALY. Unitatea: număr, procent din total sau rată la 100 000 de locuitori.</a:t>
            </a:r>
            <a:endParaRPr lang="en-US" sz="1700" dirty="0"/>
          </a:p>
        </p:txBody>
      </p:sp>
      <p:sp>
        <p:nvSpPr>
          <p:cNvPr id="14" name="Shape 12"/>
          <p:cNvSpPr/>
          <p:nvPr/>
        </p:nvSpPr>
        <p:spPr>
          <a:xfrm>
            <a:off x="594360" y="3355848"/>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520440"/>
            <a:ext cx="420624" cy="420624"/>
          </a:xfrm>
          <a:prstGeom prst="ellipse">
            <a:avLst/>
          </a:prstGeom>
          <a:solidFill>
            <a:srgbClr val="FFC24B"/>
          </a:solidFill>
          <a:ln/>
        </p:spPr>
        <p:txBody>
          <a:bodyPr/>
          <a:p/>
        </p:txBody>
      </p:sp>
      <p:sp>
        <p:nvSpPr>
          <p:cNvPr id="16" name="Text 14"/>
          <p:cNvSpPr/>
          <p:nvPr/>
        </p:nvSpPr>
        <p:spPr>
          <a:xfrm>
            <a:off x="914400" y="35204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355848"/>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Vârsta și sexul: toate vârstele și ambele sexe, apoi pe rând grupe de vârstă și fiecare sex.</a:t>
            </a:r>
            <a:endParaRPr lang="en-US" sz="1700" dirty="0"/>
          </a:p>
        </p:txBody>
      </p:sp>
      <p:sp>
        <p:nvSpPr>
          <p:cNvPr id="18" name="Shape 16"/>
          <p:cNvSpPr/>
          <p:nvPr/>
        </p:nvSpPr>
        <p:spPr>
          <a:xfrm>
            <a:off x="594360" y="4233672"/>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398264"/>
            <a:ext cx="420624" cy="420624"/>
          </a:xfrm>
          <a:prstGeom prst="ellipse">
            <a:avLst/>
          </a:prstGeom>
          <a:solidFill>
            <a:srgbClr val="FFC24B"/>
          </a:solidFill>
          <a:ln/>
        </p:spPr>
        <p:txBody>
          <a:bodyPr/>
          <a:p/>
        </p:txBody>
      </p:sp>
      <p:sp>
        <p:nvSpPr>
          <p:cNvPr id="20" name="Text 18"/>
          <p:cNvSpPr/>
          <p:nvPr/>
        </p:nvSpPr>
        <p:spPr>
          <a:xfrm>
            <a:off x="914400" y="43982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233672"/>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Trei vizualizări: diagrama cu dreptunghiuri, diagrama cu bare, evoluția în timp.</a:t>
            </a:r>
            <a:endParaRPr lang="en-US" sz="1700" dirty="0"/>
          </a:p>
        </p:txBody>
      </p:sp>
      <p:sp>
        <p:nvSpPr>
          <p:cNvPr id="22" name="Shape 20"/>
          <p:cNvSpPr/>
          <p:nvPr/>
        </p:nvSpPr>
        <p:spPr>
          <a:xfrm>
            <a:off x="594360" y="5111496"/>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23" name="Shape 21"/>
          <p:cNvSpPr/>
          <p:nvPr/>
        </p:nvSpPr>
        <p:spPr>
          <a:xfrm>
            <a:off x="914400" y="5276088"/>
            <a:ext cx="420624" cy="420624"/>
          </a:xfrm>
          <a:prstGeom prst="ellipse">
            <a:avLst/>
          </a:prstGeom>
          <a:solidFill>
            <a:srgbClr val="FFC24B"/>
          </a:solidFill>
          <a:ln/>
        </p:spPr>
        <p:txBody>
          <a:bodyPr/>
          <a:p/>
        </p:txBody>
      </p:sp>
      <p:sp>
        <p:nvSpPr>
          <p:cNvPr id="24" name="Text 22"/>
          <p:cNvSpPr/>
          <p:nvPr/>
        </p:nvSpPr>
        <p:spPr>
          <a:xfrm>
            <a:off x="914400" y="5276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5" name="Text 23"/>
          <p:cNvSpPr/>
          <p:nvPr/>
        </p:nvSpPr>
        <p:spPr>
          <a:xfrm>
            <a:off x="1600200" y="5111496"/>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Exportul: datele afișate se descarcă în format CSV și se deschid în Excel.</a:t>
            </a:r>
            <a:endParaRPr lang="en-US" sz="1700" dirty="0"/>
          </a:p>
        </p:txBody>
      </p:sp>
      <p:sp>
        <p:nvSpPr>
          <p:cNvPr id="26" name="Text 2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Fără cont IHME, aceeași demonstrație se face pe tabelele din notele lucrării.</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ROMÂNIA · TOATE VÂRSTELE · AMBELE SEXE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Primele 10 cauze de DALY: 2000 și 2023</a:t>
            </a:r>
            <a:endParaRPr lang="en-US" sz="3000" dirty="0"/>
          </a:p>
        </p:txBody>
      </p:sp>
      <p:sp>
        <p:nvSpPr>
          <p:cNvPr id="4" name="Text 2"/>
          <p:cNvSpPr/>
          <p:nvPr/>
        </p:nvSpPr>
        <p:spPr>
          <a:xfrm>
            <a:off x="594360" y="1371600"/>
            <a:ext cx="3611880" cy="320040"/>
          </a:xfrm>
          <a:prstGeom prst="rect">
            <a:avLst/>
          </a:prstGeom>
          <a:noFill/>
          <a:ln/>
        </p:spPr>
        <p:txBody>
          <a:bodyPr wrap="square" lIns="0" tIns="0" rIns="0" bIns="0" rtlCol="0" anchor="t"/>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2000</a:t>
            </a:r>
            <a:endParaRPr lang="en-US" sz="1600" dirty="0"/>
          </a:p>
        </p:txBody>
      </p:sp>
      <p:sp>
        <p:nvSpPr>
          <p:cNvPr id="5" name="Text 3"/>
          <p:cNvSpPr/>
          <p:nvPr/>
        </p:nvSpPr>
        <p:spPr>
          <a:xfrm>
            <a:off x="7955280" y="1371600"/>
            <a:ext cx="1828800" cy="320040"/>
          </a:xfrm>
          <a:prstGeom prst="rect">
            <a:avLst/>
          </a:prstGeom>
          <a:noFill/>
          <a:ln/>
        </p:spPr>
        <p:txBody>
          <a:bodyPr wrap="square" lIns="0" tIns="0" rIns="0" bIns="0" rtlCol="0" anchor="t"/>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2023</a:t>
            </a:r>
            <a:endParaRPr lang="en-US" sz="1600" dirty="0"/>
          </a:p>
        </p:txBody>
      </p:sp>
      <p:sp>
        <p:nvSpPr>
          <p:cNvPr id="6" name="Text 4"/>
          <p:cNvSpPr/>
          <p:nvPr/>
        </p:nvSpPr>
        <p:spPr>
          <a:xfrm>
            <a:off x="7315200" y="1371600"/>
            <a:ext cx="4251960" cy="320040"/>
          </a:xfrm>
          <a:prstGeom prst="rect">
            <a:avLst/>
          </a:prstGeom>
          <a:noFill/>
          <a:ln/>
        </p:spPr>
        <p:txBody>
          <a:bodyPr wrap="square" lIns="0" tIns="0" rIns="0" bIns="0" rtlCol="0" anchor="t"/>
          <a:lstStyle/>
          <a:p>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 au ieșit   </a:t>
            </a:r>
            <a:pPr algn="r" indent="0" marL="0">
              <a:buNone/>
            </a:pPr>
            <a:r>
              <a:rPr lang="en-US" sz="1300" b="1" dirty="0">
                <a:solidFill>
                  <a:srgbClr val="0E7C6B"/>
                </a:solidFill>
                <a:latin typeface="Palatino Linotype" pitchFamily="34" charset="0"/>
                <a:ea typeface="Palatino Linotype" pitchFamily="34" charset="-122"/>
                <a:cs typeface="Palatino Linotype" pitchFamily="34" charset="-120"/>
              </a:rPr>
              <a:t>■ au intrat</a:t>
            </a:r>
            <a:endParaRPr lang="en-US" sz="1300" dirty="0"/>
          </a:p>
        </p:txBody>
      </p:sp>
      <p:sp>
        <p:nvSpPr>
          <p:cNvPr id="7" name="Text 5"/>
          <p:cNvSpPr/>
          <p:nvPr/>
        </p:nvSpPr>
        <p:spPr>
          <a:xfrm>
            <a:off x="594360" y="1801368"/>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Cardiopatia ischemică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1</a:t>
            </a:r>
            <a:endParaRPr lang="en-US" sz="1300" dirty="0"/>
          </a:p>
        </p:txBody>
      </p:sp>
      <p:sp>
        <p:nvSpPr>
          <p:cNvPr id="8" name="Text 6"/>
          <p:cNvSpPr/>
          <p:nvPr/>
        </p:nvSpPr>
        <p:spPr>
          <a:xfrm>
            <a:off x="7955280" y="1801368"/>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1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Cardiopatia ischemică</a:t>
            </a:r>
            <a:endParaRPr lang="en-US" sz="1300" dirty="0"/>
          </a:p>
        </p:txBody>
      </p:sp>
      <p:sp>
        <p:nvSpPr>
          <p:cNvPr id="9" name="Shape 7"/>
          <p:cNvSpPr/>
          <p:nvPr/>
        </p:nvSpPr>
        <p:spPr>
          <a:xfrm>
            <a:off x="4206240" y="1984248"/>
            <a:ext cx="3657600" cy="0"/>
          </a:xfrm>
          <a:prstGeom prst="line">
            <a:avLst/>
          </a:prstGeom>
          <a:noFill/>
          <a:ln w="19050">
            <a:solidFill>
              <a:srgbClr val="A6A39B"/>
            </a:solidFill>
            <a:prstDash val="solid"/>
          </a:ln>
        </p:spPr>
        <p:txBody>
          <a:bodyPr/>
          <a:p/>
        </p:txBody>
      </p:sp>
      <p:sp>
        <p:nvSpPr>
          <p:cNvPr id="10" name="Text 8"/>
          <p:cNvSpPr/>
          <p:nvPr/>
        </p:nvSpPr>
        <p:spPr>
          <a:xfrm>
            <a:off x="594360" y="2203704"/>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Accidentul vascular cerebral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2</a:t>
            </a:r>
            <a:endParaRPr lang="en-US" sz="1300" dirty="0"/>
          </a:p>
        </p:txBody>
      </p:sp>
      <p:sp>
        <p:nvSpPr>
          <p:cNvPr id="11" name="Text 9"/>
          <p:cNvSpPr/>
          <p:nvPr/>
        </p:nvSpPr>
        <p:spPr>
          <a:xfrm>
            <a:off x="7955280" y="2203704"/>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2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Accidentul vascular cerebral</a:t>
            </a:r>
            <a:endParaRPr lang="en-US" sz="1300" dirty="0"/>
          </a:p>
        </p:txBody>
      </p:sp>
      <p:sp>
        <p:nvSpPr>
          <p:cNvPr id="12" name="Shape 10"/>
          <p:cNvSpPr/>
          <p:nvPr/>
        </p:nvSpPr>
        <p:spPr>
          <a:xfrm>
            <a:off x="4206240" y="2386584"/>
            <a:ext cx="3657600" cy="0"/>
          </a:xfrm>
          <a:prstGeom prst="line">
            <a:avLst/>
          </a:prstGeom>
          <a:noFill/>
          <a:ln w="19050">
            <a:solidFill>
              <a:srgbClr val="A6A39B"/>
            </a:solidFill>
            <a:prstDash val="solid"/>
          </a:ln>
        </p:spPr>
        <p:txBody>
          <a:bodyPr/>
          <a:p/>
        </p:txBody>
      </p:sp>
      <p:sp>
        <p:nvSpPr>
          <p:cNvPr id="13" name="Text 11"/>
          <p:cNvSpPr/>
          <p:nvPr/>
        </p:nvSpPr>
        <p:spPr>
          <a:xfrm>
            <a:off x="594360" y="2606040"/>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Lombalgia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3</a:t>
            </a:r>
            <a:endParaRPr lang="en-US" sz="1300" dirty="0"/>
          </a:p>
        </p:txBody>
      </p:sp>
      <p:sp>
        <p:nvSpPr>
          <p:cNvPr id="14" name="Text 12"/>
          <p:cNvSpPr/>
          <p:nvPr/>
        </p:nvSpPr>
        <p:spPr>
          <a:xfrm>
            <a:off x="7955280" y="2606040"/>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3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Lombalgia</a:t>
            </a:r>
            <a:endParaRPr lang="en-US" sz="1300" dirty="0"/>
          </a:p>
        </p:txBody>
      </p:sp>
      <p:sp>
        <p:nvSpPr>
          <p:cNvPr id="15" name="Shape 13"/>
          <p:cNvSpPr/>
          <p:nvPr/>
        </p:nvSpPr>
        <p:spPr>
          <a:xfrm>
            <a:off x="4206240" y="2788920"/>
            <a:ext cx="3657600" cy="0"/>
          </a:xfrm>
          <a:prstGeom prst="line">
            <a:avLst/>
          </a:prstGeom>
          <a:noFill/>
          <a:ln w="19050">
            <a:solidFill>
              <a:srgbClr val="A6A39B"/>
            </a:solidFill>
            <a:prstDash val="solid"/>
          </a:ln>
        </p:spPr>
        <p:txBody>
          <a:bodyPr/>
          <a:p/>
        </p:txBody>
      </p:sp>
      <p:sp>
        <p:nvSpPr>
          <p:cNvPr id="16" name="Text 14"/>
          <p:cNvSpPr/>
          <p:nvPr/>
        </p:nvSpPr>
        <p:spPr>
          <a:xfrm>
            <a:off x="594360" y="3008376"/>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Ciroza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4</a:t>
            </a:r>
            <a:endParaRPr lang="en-US" sz="1300" dirty="0"/>
          </a:p>
        </p:txBody>
      </p:sp>
      <p:sp>
        <p:nvSpPr>
          <p:cNvPr id="17" name="Text 15"/>
          <p:cNvSpPr/>
          <p:nvPr/>
        </p:nvSpPr>
        <p:spPr>
          <a:xfrm>
            <a:off x="7955280" y="3008376"/>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4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Ciroza</a:t>
            </a:r>
            <a:endParaRPr lang="en-US" sz="1300" dirty="0"/>
          </a:p>
        </p:txBody>
      </p:sp>
      <p:sp>
        <p:nvSpPr>
          <p:cNvPr id="18" name="Shape 16"/>
          <p:cNvSpPr/>
          <p:nvPr/>
        </p:nvSpPr>
        <p:spPr>
          <a:xfrm>
            <a:off x="4206240" y="3191256"/>
            <a:ext cx="3657600" cy="0"/>
          </a:xfrm>
          <a:prstGeom prst="line">
            <a:avLst/>
          </a:prstGeom>
          <a:noFill/>
          <a:ln w="19050">
            <a:solidFill>
              <a:srgbClr val="A6A39B"/>
            </a:solidFill>
            <a:prstDash val="solid"/>
          </a:ln>
        </p:spPr>
        <p:txBody>
          <a:bodyPr/>
          <a:p/>
        </p:txBody>
      </p:sp>
      <p:sp>
        <p:nvSpPr>
          <p:cNvPr id="19" name="Text 17"/>
          <p:cNvSpPr/>
          <p:nvPr/>
        </p:nvSpPr>
        <p:spPr>
          <a:xfrm>
            <a:off x="594360" y="4215384"/>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Cancerul pulmonar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7</a:t>
            </a:r>
            <a:endParaRPr lang="en-US" sz="1300" dirty="0"/>
          </a:p>
        </p:txBody>
      </p:sp>
      <p:sp>
        <p:nvSpPr>
          <p:cNvPr id="20" name="Text 18"/>
          <p:cNvSpPr/>
          <p:nvPr/>
        </p:nvSpPr>
        <p:spPr>
          <a:xfrm>
            <a:off x="7955280" y="3410712"/>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5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Cancerul pulmonar</a:t>
            </a:r>
            <a:endParaRPr lang="en-US" sz="1300" dirty="0"/>
          </a:p>
        </p:txBody>
      </p:sp>
      <p:sp>
        <p:nvSpPr>
          <p:cNvPr id="21" name="Shape 19"/>
          <p:cNvSpPr/>
          <p:nvPr/>
        </p:nvSpPr>
        <p:spPr>
          <a:xfrm flipV="1">
            <a:off x="4206240" y="3593592"/>
            <a:ext cx="3657600" cy="804672"/>
          </a:xfrm>
          <a:prstGeom prst="line">
            <a:avLst/>
          </a:prstGeom>
          <a:noFill/>
          <a:ln w="19050">
            <a:solidFill>
              <a:srgbClr val="A6A39B"/>
            </a:solidFill>
            <a:prstDash val="solid"/>
          </a:ln>
        </p:spPr>
        <p:txBody>
          <a:bodyPr/>
          <a:p/>
        </p:txBody>
      </p:sp>
      <p:sp>
        <p:nvSpPr>
          <p:cNvPr id="22" name="Text 20"/>
          <p:cNvSpPr/>
          <p:nvPr/>
        </p:nvSpPr>
        <p:spPr>
          <a:xfrm>
            <a:off x="594360" y="4617720"/>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Căderile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8</a:t>
            </a:r>
            <a:endParaRPr lang="en-US" sz="1300" dirty="0"/>
          </a:p>
        </p:txBody>
      </p:sp>
      <p:sp>
        <p:nvSpPr>
          <p:cNvPr id="23" name="Text 21"/>
          <p:cNvSpPr/>
          <p:nvPr/>
        </p:nvSpPr>
        <p:spPr>
          <a:xfrm>
            <a:off x="7955280" y="3813048"/>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6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Căderile</a:t>
            </a:r>
            <a:endParaRPr lang="en-US" sz="1300" dirty="0"/>
          </a:p>
        </p:txBody>
      </p:sp>
      <p:sp>
        <p:nvSpPr>
          <p:cNvPr id="24" name="Shape 22"/>
          <p:cNvSpPr/>
          <p:nvPr/>
        </p:nvSpPr>
        <p:spPr>
          <a:xfrm flipV="1">
            <a:off x="4206240" y="3995928"/>
            <a:ext cx="3657600" cy="804672"/>
          </a:xfrm>
          <a:prstGeom prst="line">
            <a:avLst/>
          </a:prstGeom>
          <a:noFill/>
          <a:ln w="19050">
            <a:solidFill>
              <a:srgbClr val="A6A39B"/>
            </a:solidFill>
            <a:prstDash val="solid"/>
          </a:ln>
        </p:spPr>
        <p:txBody>
          <a:bodyPr/>
          <a:p/>
        </p:txBody>
      </p:sp>
      <p:sp>
        <p:nvSpPr>
          <p:cNvPr id="25" name="Text 23"/>
          <p:cNvSpPr/>
          <p:nvPr/>
        </p:nvSpPr>
        <p:spPr>
          <a:xfrm>
            <a:off x="7955280" y="4215384"/>
            <a:ext cx="3611880" cy="365760"/>
          </a:xfrm>
          <a:prstGeom prst="rect">
            <a:avLst/>
          </a:prstGeom>
          <a:noFill/>
          <a:ln/>
        </p:spPr>
        <p:txBody>
          <a:bodyPr wrap="square" lIns="0" tIns="0" rIns="0" bIns="0" rtlCol="0" anchor="ctr"/>
          <a:lstStyle/>
          <a:p>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7  </a:t>
            </a:r>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Cardiopatia hipertensivă</a:t>
            </a:r>
            <a:endParaRPr lang="en-US" sz="1300" dirty="0"/>
          </a:p>
        </p:txBody>
      </p:sp>
      <p:sp>
        <p:nvSpPr>
          <p:cNvPr id="26" name="Shape 24"/>
          <p:cNvSpPr/>
          <p:nvPr/>
        </p:nvSpPr>
        <p:spPr>
          <a:xfrm>
            <a:off x="7223760" y="4398264"/>
            <a:ext cx="640080" cy="0"/>
          </a:xfrm>
          <a:prstGeom prst="line">
            <a:avLst/>
          </a:prstGeom>
          <a:noFill/>
          <a:ln w="31750">
            <a:solidFill>
              <a:srgbClr val="27D3BE"/>
            </a:solidFill>
            <a:prstDash val="solid"/>
          </a:ln>
        </p:spPr>
        <p:txBody>
          <a:bodyPr/>
          <a:p/>
        </p:txBody>
      </p:sp>
      <p:sp>
        <p:nvSpPr>
          <p:cNvPr id="27" name="Text 25"/>
          <p:cNvSpPr/>
          <p:nvPr/>
        </p:nvSpPr>
        <p:spPr>
          <a:xfrm>
            <a:off x="594360" y="3410712"/>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Infecțiile respiratorii inferioare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5</a:t>
            </a:r>
            <a:endParaRPr lang="en-US" sz="1300" dirty="0"/>
          </a:p>
        </p:txBody>
      </p:sp>
      <p:sp>
        <p:nvSpPr>
          <p:cNvPr id="28" name="Text 26"/>
          <p:cNvSpPr/>
          <p:nvPr/>
        </p:nvSpPr>
        <p:spPr>
          <a:xfrm>
            <a:off x="7955280" y="4617720"/>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8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Infecțiile respiratorii inferioare</a:t>
            </a:r>
            <a:endParaRPr lang="en-US" sz="1300" dirty="0"/>
          </a:p>
        </p:txBody>
      </p:sp>
      <p:sp>
        <p:nvSpPr>
          <p:cNvPr id="29" name="Shape 27"/>
          <p:cNvSpPr/>
          <p:nvPr/>
        </p:nvSpPr>
        <p:spPr>
          <a:xfrm>
            <a:off x="4206240" y="3593592"/>
            <a:ext cx="3657600" cy="1207008"/>
          </a:xfrm>
          <a:prstGeom prst="line">
            <a:avLst/>
          </a:prstGeom>
          <a:noFill/>
          <a:ln w="19050">
            <a:solidFill>
              <a:srgbClr val="A6A39B"/>
            </a:solidFill>
            <a:prstDash val="solid"/>
          </a:ln>
        </p:spPr>
        <p:txBody>
          <a:bodyPr/>
          <a:p/>
        </p:txBody>
      </p:sp>
      <p:sp>
        <p:nvSpPr>
          <p:cNvPr id="30" name="Text 28"/>
          <p:cNvSpPr/>
          <p:nvPr/>
        </p:nvSpPr>
        <p:spPr>
          <a:xfrm>
            <a:off x="594360" y="3813048"/>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Bronhopneumopatia obstructivă cronică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6</a:t>
            </a:r>
            <a:endParaRPr lang="en-US" sz="1300" dirty="0"/>
          </a:p>
        </p:txBody>
      </p:sp>
      <p:sp>
        <p:nvSpPr>
          <p:cNvPr id="31" name="Text 29"/>
          <p:cNvSpPr/>
          <p:nvPr/>
        </p:nvSpPr>
        <p:spPr>
          <a:xfrm>
            <a:off x="7955280" y="5020056"/>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9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Bronhopneumopatia obstructivă cronică</a:t>
            </a:r>
            <a:endParaRPr lang="en-US" sz="1300" dirty="0"/>
          </a:p>
        </p:txBody>
      </p:sp>
      <p:sp>
        <p:nvSpPr>
          <p:cNvPr id="32" name="Shape 30"/>
          <p:cNvSpPr/>
          <p:nvPr/>
        </p:nvSpPr>
        <p:spPr>
          <a:xfrm>
            <a:off x="4206240" y="3995928"/>
            <a:ext cx="3657600" cy="1207008"/>
          </a:xfrm>
          <a:prstGeom prst="line">
            <a:avLst/>
          </a:prstGeom>
          <a:noFill/>
          <a:ln w="19050">
            <a:solidFill>
              <a:srgbClr val="A6A39B"/>
            </a:solidFill>
            <a:prstDash val="solid"/>
          </a:ln>
        </p:spPr>
        <p:txBody>
          <a:bodyPr/>
          <a:p/>
        </p:txBody>
      </p:sp>
      <p:sp>
        <p:nvSpPr>
          <p:cNvPr id="33" name="Text 31"/>
          <p:cNvSpPr/>
          <p:nvPr/>
        </p:nvSpPr>
        <p:spPr>
          <a:xfrm>
            <a:off x="7955280" y="5422392"/>
            <a:ext cx="3611880" cy="365760"/>
          </a:xfrm>
          <a:prstGeom prst="rect">
            <a:avLst/>
          </a:prstGeom>
          <a:noFill/>
          <a:ln/>
        </p:spPr>
        <p:txBody>
          <a:bodyPr wrap="square" lIns="0" tIns="0" rIns="0" bIns="0" rtlCol="0" anchor="ctr"/>
          <a:lstStyle/>
          <a:p>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10  </a:t>
            </a:r>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Pierderea auzului</a:t>
            </a:r>
            <a:endParaRPr lang="en-US" sz="1300" dirty="0"/>
          </a:p>
        </p:txBody>
      </p:sp>
      <p:sp>
        <p:nvSpPr>
          <p:cNvPr id="34" name="Shape 32"/>
          <p:cNvSpPr/>
          <p:nvPr/>
        </p:nvSpPr>
        <p:spPr>
          <a:xfrm>
            <a:off x="7223760" y="5605272"/>
            <a:ext cx="640080" cy="0"/>
          </a:xfrm>
          <a:prstGeom prst="line">
            <a:avLst/>
          </a:prstGeom>
          <a:noFill/>
          <a:ln w="31750">
            <a:solidFill>
              <a:srgbClr val="27D3BE"/>
            </a:solidFill>
            <a:prstDash val="solid"/>
          </a:ln>
        </p:spPr>
        <p:txBody>
          <a:bodyPr/>
          <a:p/>
        </p:txBody>
      </p:sp>
      <p:sp>
        <p:nvSpPr>
          <p:cNvPr id="35" name="Text 33"/>
          <p:cNvSpPr/>
          <p:nvPr/>
        </p:nvSpPr>
        <p:spPr>
          <a:xfrm>
            <a:off x="594360" y="5020056"/>
            <a:ext cx="3611880" cy="365760"/>
          </a:xfrm>
          <a:prstGeom prst="rect">
            <a:avLst/>
          </a:prstGeom>
          <a:noFill/>
          <a:ln/>
        </p:spPr>
        <p:txBody>
          <a:bodyPr wrap="square" lIns="0" tIns="0" rIns="0" bIns="0" rtlCol="0" anchor="ctr"/>
          <a:lstStyle/>
          <a:p>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Afecțiunile neonatale  </a:t>
            </a:r>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9</a:t>
            </a:r>
            <a:endParaRPr lang="en-US" sz="1300" dirty="0"/>
          </a:p>
        </p:txBody>
      </p:sp>
      <p:sp>
        <p:nvSpPr>
          <p:cNvPr id="36" name="Shape 34"/>
          <p:cNvSpPr/>
          <p:nvPr/>
        </p:nvSpPr>
        <p:spPr>
          <a:xfrm>
            <a:off x="4206240" y="5202936"/>
            <a:ext cx="640080" cy="0"/>
          </a:xfrm>
          <a:prstGeom prst="line">
            <a:avLst/>
          </a:prstGeom>
          <a:noFill/>
          <a:ln w="31750">
            <a:solidFill>
              <a:srgbClr val="FF4757"/>
            </a:solidFill>
            <a:prstDash val="solid"/>
          </a:ln>
        </p:spPr>
        <p:txBody>
          <a:bodyPr/>
          <a:p/>
        </p:txBody>
      </p:sp>
      <p:sp>
        <p:nvSpPr>
          <p:cNvPr id="37" name="Text 35"/>
          <p:cNvSpPr/>
          <p:nvPr/>
        </p:nvSpPr>
        <p:spPr>
          <a:xfrm>
            <a:off x="594360" y="5422392"/>
            <a:ext cx="3611880" cy="365760"/>
          </a:xfrm>
          <a:prstGeom prst="rect">
            <a:avLst/>
          </a:prstGeom>
          <a:noFill/>
          <a:ln/>
        </p:spPr>
        <p:txBody>
          <a:bodyPr wrap="square" lIns="0" tIns="0" rIns="0" bIns="0" rtlCol="0" anchor="ctr"/>
          <a:lstStyle/>
          <a:p>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Traumatismele rutiere  </a:t>
            </a:r>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10</a:t>
            </a:r>
            <a:endParaRPr lang="en-US" sz="1300" dirty="0"/>
          </a:p>
        </p:txBody>
      </p:sp>
      <p:sp>
        <p:nvSpPr>
          <p:cNvPr id="38" name="Shape 36"/>
          <p:cNvSpPr/>
          <p:nvPr/>
        </p:nvSpPr>
        <p:spPr>
          <a:xfrm>
            <a:off x="4206240" y="5605272"/>
            <a:ext cx="640080" cy="0"/>
          </a:xfrm>
          <a:prstGeom prst="line">
            <a:avLst/>
          </a:prstGeom>
          <a:noFill/>
          <a:ln w="31750">
            <a:solidFill>
              <a:srgbClr val="FF4757"/>
            </a:solidFill>
            <a:prstDash val="solid"/>
          </a:ln>
        </p:spPr>
        <p:txBody>
          <a:bodyPr/>
          <a:p/>
        </p:txBody>
      </p:sp>
      <p:sp>
        <p:nvSpPr>
          <p:cNvPr id="39" name="Text 37"/>
          <p:cNvSpPr/>
          <p:nvPr/>
        </p:nvSpPr>
        <p:spPr>
          <a:xfrm>
            <a:off x="594360" y="5870448"/>
            <a:ext cx="10972800" cy="45720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Locul 10 este fragil: pierderea auzului (176 000) o depășește cu puțin pe cardiomiopatie (175 000).</a:t>
            </a:r>
            <a:endParaRPr lang="en-US" sz="14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DALY absolute, trei cifre semnificative. Sursa: GBD 2023, IHME, 17.10.2026.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CIFRE ABSOLUTE ȘI RATE STANDARDIZATE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Aceeași cauză, două povești</a:t>
            </a:r>
            <a:endParaRPr lang="en-US" sz="3000" dirty="0"/>
          </a:p>
        </p:txBody>
      </p:sp>
      <p:sp>
        <p:nvSpPr>
          <p:cNvPr id="4" name="Shape 2"/>
          <p:cNvSpPr/>
          <p:nvPr/>
        </p:nvSpPr>
        <p:spPr>
          <a:xfrm>
            <a:off x="594360" y="1554480"/>
            <a:ext cx="5349240" cy="3794760"/>
          </a:xfrm>
          <a:prstGeom prst="roundRect">
            <a:avLst>
              <a:gd name="adj" fmla="val 2169"/>
            </a:avLst>
          </a:prstGeom>
          <a:solidFill>
            <a:srgbClr val="ECEAE4"/>
          </a:solidFill>
          <a:ln w="12700">
            <a:solidFill>
              <a:srgbClr val="ECEAE4"/>
            </a:solidFill>
            <a:prstDash val="solid"/>
          </a:ln>
        </p:spPr>
        <p:txBody>
          <a:bodyPr/>
          <a:p/>
        </p:txBody>
      </p:sp>
      <p:sp>
        <p:nvSpPr>
          <p:cNvPr id="5" name="Text 3"/>
          <p:cNvSpPr/>
          <p:nvPr/>
        </p:nvSpPr>
        <p:spPr>
          <a:xfrm>
            <a:off x="868680" y="1664208"/>
            <a:ext cx="4846320" cy="41148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Pierderea auzului</a:t>
            </a:r>
            <a:endParaRPr lang="en-US" sz="2100" dirty="0"/>
          </a:p>
        </p:txBody>
      </p:sp>
      <p:sp>
        <p:nvSpPr>
          <p:cNvPr id="6" name="Shape 4"/>
          <p:cNvSpPr/>
          <p:nvPr/>
        </p:nvSpPr>
        <p:spPr>
          <a:xfrm>
            <a:off x="1097280" y="2712027"/>
            <a:ext cx="822960" cy="1631373"/>
          </a:xfrm>
          <a:prstGeom prst="rect">
            <a:avLst/>
          </a:prstGeom>
          <a:solidFill>
            <a:srgbClr val="B9B6AE"/>
          </a:solidFill>
          <a:ln w="12700">
            <a:solidFill>
              <a:srgbClr val="B9B6AE"/>
            </a:solidFill>
            <a:prstDash val="solid"/>
          </a:ln>
        </p:spPr>
        <p:txBody>
          <a:bodyPr/>
          <a:p/>
        </p:txBody>
      </p:sp>
      <p:sp>
        <p:nvSpPr>
          <p:cNvPr id="7" name="Text 5"/>
          <p:cNvSpPr/>
          <p:nvPr/>
        </p:nvSpPr>
        <p:spPr>
          <a:xfrm>
            <a:off x="777240" y="2346267"/>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157 000</a:t>
            </a:r>
            <a:endParaRPr lang="en-US" sz="1500" dirty="0"/>
          </a:p>
        </p:txBody>
      </p:sp>
      <p:sp>
        <p:nvSpPr>
          <p:cNvPr id="8" name="Text 6"/>
          <p:cNvSpPr/>
          <p:nvPr/>
        </p:nvSpPr>
        <p:spPr>
          <a:xfrm>
            <a:off x="91440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9" name="Shape 7"/>
          <p:cNvSpPr/>
          <p:nvPr/>
        </p:nvSpPr>
        <p:spPr>
          <a:xfrm>
            <a:off x="2103120" y="2514600"/>
            <a:ext cx="822960" cy="1828800"/>
          </a:xfrm>
          <a:prstGeom prst="rect">
            <a:avLst/>
          </a:prstGeom>
          <a:solidFill>
            <a:srgbClr val="0E7C6B"/>
          </a:solidFill>
          <a:ln w="12700">
            <a:solidFill>
              <a:srgbClr val="0E7C6B"/>
            </a:solidFill>
            <a:prstDash val="solid"/>
          </a:ln>
        </p:spPr>
        <p:txBody>
          <a:bodyPr/>
          <a:p/>
        </p:txBody>
      </p:sp>
      <p:sp>
        <p:nvSpPr>
          <p:cNvPr id="10" name="Text 8"/>
          <p:cNvSpPr/>
          <p:nvPr/>
        </p:nvSpPr>
        <p:spPr>
          <a:xfrm>
            <a:off x="178308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176 000</a:t>
            </a:r>
            <a:endParaRPr lang="en-US" sz="1500" dirty="0"/>
          </a:p>
        </p:txBody>
      </p:sp>
      <p:sp>
        <p:nvSpPr>
          <p:cNvPr id="11" name="Text 9"/>
          <p:cNvSpPr/>
          <p:nvPr/>
        </p:nvSpPr>
        <p:spPr>
          <a:xfrm>
            <a:off x="192024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12" name="Text 10"/>
          <p:cNvSpPr/>
          <p:nvPr/>
        </p:nvSpPr>
        <p:spPr>
          <a:xfrm>
            <a:off x="73152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DALY, număr</a:t>
            </a:r>
            <a:endParaRPr lang="en-US" sz="1300" dirty="0"/>
          </a:p>
        </p:txBody>
      </p:sp>
      <p:sp>
        <p:nvSpPr>
          <p:cNvPr id="13" name="Shape 11"/>
          <p:cNvSpPr/>
          <p:nvPr/>
        </p:nvSpPr>
        <p:spPr>
          <a:xfrm>
            <a:off x="3520440" y="2514600"/>
            <a:ext cx="822960" cy="1828800"/>
          </a:xfrm>
          <a:prstGeom prst="rect">
            <a:avLst/>
          </a:prstGeom>
          <a:solidFill>
            <a:srgbClr val="B9B6AE"/>
          </a:solidFill>
          <a:ln w="12700">
            <a:solidFill>
              <a:srgbClr val="B9B6AE"/>
            </a:solidFill>
            <a:prstDash val="solid"/>
          </a:ln>
        </p:spPr>
        <p:txBody>
          <a:bodyPr/>
          <a:p/>
        </p:txBody>
      </p:sp>
      <p:sp>
        <p:nvSpPr>
          <p:cNvPr id="14" name="Text 12"/>
          <p:cNvSpPr/>
          <p:nvPr/>
        </p:nvSpPr>
        <p:spPr>
          <a:xfrm>
            <a:off x="320040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551,0</a:t>
            </a:r>
            <a:endParaRPr lang="en-US" sz="1500" dirty="0"/>
          </a:p>
        </p:txBody>
      </p:sp>
      <p:sp>
        <p:nvSpPr>
          <p:cNvPr id="15" name="Text 13"/>
          <p:cNvSpPr/>
          <p:nvPr/>
        </p:nvSpPr>
        <p:spPr>
          <a:xfrm>
            <a:off x="333756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16" name="Shape 14"/>
          <p:cNvSpPr/>
          <p:nvPr/>
        </p:nvSpPr>
        <p:spPr>
          <a:xfrm>
            <a:off x="4526280" y="2514600"/>
            <a:ext cx="822960" cy="1828800"/>
          </a:xfrm>
          <a:prstGeom prst="rect">
            <a:avLst/>
          </a:prstGeom>
          <a:solidFill>
            <a:srgbClr val="0E7C6B"/>
          </a:solidFill>
          <a:ln w="12700">
            <a:solidFill>
              <a:srgbClr val="0E7C6B"/>
            </a:solidFill>
            <a:prstDash val="solid"/>
          </a:ln>
        </p:spPr>
        <p:txBody>
          <a:bodyPr/>
          <a:p/>
        </p:txBody>
      </p:sp>
      <p:sp>
        <p:nvSpPr>
          <p:cNvPr id="17" name="Text 15"/>
          <p:cNvSpPr/>
          <p:nvPr/>
        </p:nvSpPr>
        <p:spPr>
          <a:xfrm>
            <a:off x="420624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551,0</a:t>
            </a:r>
            <a:endParaRPr lang="en-US" sz="1500" dirty="0"/>
          </a:p>
        </p:txBody>
      </p:sp>
      <p:sp>
        <p:nvSpPr>
          <p:cNvPr id="18" name="Text 16"/>
          <p:cNvSpPr/>
          <p:nvPr/>
        </p:nvSpPr>
        <p:spPr>
          <a:xfrm>
            <a:off x="434340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19" name="Text 17"/>
          <p:cNvSpPr/>
          <p:nvPr/>
        </p:nvSpPr>
        <p:spPr>
          <a:xfrm>
            <a:off x="315468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Rata standardizată la 100 000</a:t>
            </a:r>
            <a:endParaRPr lang="en-US" sz="1300" dirty="0"/>
          </a:p>
        </p:txBody>
      </p:sp>
      <p:sp>
        <p:nvSpPr>
          <p:cNvPr id="20" name="Shape 18"/>
          <p:cNvSpPr/>
          <p:nvPr/>
        </p:nvSpPr>
        <p:spPr>
          <a:xfrm>
            <a:off x="6217920" y="1554480"/>
            <a:ext cx="5349240" cy="3794760"/>
          </a:xfrm>
          <a:prstGeom prst="roundRect">
            <a:avLst>
              <a:gd name="adj" fmla="val 2169"/>
            </a:avLst>
          </a:prstGeom>
          <a:solidFill>
            <a:srgbClr val="ECEAE4"/>
          </a:solidFill>
          <a:ln w="12700">
            <a:solidFill>
              <a:srgbClr val="ECEAE4"/>
            </a:solidFill>
            <a:prstDash val="solid"/>
          </a:ln>
        </p:spPr>
        <p:txBody>
          <a:bodyPr/>
          <a:p/>
        </p:txBody>
      </p:sp>
      <p:sp>
        <p:nvSpPr>
          <p:cNvPr id="21" name="Text 19"/>
          <p:cNvSpPr/>
          <p:nvPr/>
        </p:nvSpPr>
        <p:spPr>
          <a:xfrm>
            <a:off x="6492240" y="1664208"/>
            <a:ext cx="4846320" cy="41148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Cancerul pulmonar</a:t>
            </a:r>
            <a:endParaRPr lang="en-US" sz="2100" dirty="0"/>
          </a:p>
        </p:txBody>
      </p:sp>
      <p:sp>
        <p:nvSpPr>
          <p:cNvPr id="22" name="Shape 20"/>
          <p:cNvSpPr/>
          <p:nvPr/>
        </p:nvSpPr>
        <p:spPr>
          <a:xfrm>
            <a:off x="6720840" y="2564027"/>
            <a:ext cx="822960" cy="1779373"/>
          </a:xfrm>
          <a:prstGeom prst="rect">
            <a:avLst/>
          </a:prstGeom>
          <a:solidFill>
            <a:srgbClr val="B9B6AE"/>
          </a:solidFill>
          <a:ln w="12700">
            <a:solidFill>
              <a:srgbClr val="B9B6AE"/>
            </a:solidFill>
            <a:prstDash val="solid"/>
          </a:ln>
        </p:spPr>
        <p:txBody>
          <a:bodyPr/>
          <a:p/>
        </p:txBody>
      </p:sp>
      <p:sp>
        <p:nvSpPr>
          <p:cNvPr id="23" name="Text 21"/>
          <p:cNvSpPr/>
          <p:nvPr/>
        </p:nvSpPr>
        <p:spPr>
          <a:xfrm>
            <a:off x="6400800" y="2198267"/>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252 000</a:t>
            </a:r>
            <a:endParaRPr lang="en-US" sz="1500" dirty="0"/>
          </a:p>
        </p:txBody>
      </p:sp>
      <p:sp>
        <p:nvSpPr>
          <p:cNvPr id="24" name="Text 22"/>
          <p:cNvSpPr/>
          <p:nvPr/>
        </p:nvSpPr>
        <p:spPr>
          <a:xfrm>
            <a:off x="653796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25" name="Shape 23"/>
          <p:cNvSpPr/>
          <p:nvPr/>
        </p:nvSpPr>
        <p:spPr>
          <a:xfrm>
            <a:off x="7726680" y="2514600"/>
            <a:ext cx="822960" cy="1828800"/>
          </a:xfrm>
          <a:prstGeom prst="rect">
            <a:avLst/>
          </a:prstGeom>
          <a:solidFill>
            <a:srgbClr val="B02532"/>
          </a:solidFill>
          <a:ln w="12700">
            <a:solidFill>
              <a:srgbClr val="B02532"/>
            </a:solidFill>
            <a:prstDash val="solid"/>
          </a:ln>
        </p:spPr>
        <p:txBody>
          <a:bodyPr/>
          <a:p/>
        </p:txBody>
      </p:sp>
      <p:sp>
        <p:nvSpPr>
          <p:cNvPr id="26" name="Text 24"/>
          <p:cNvSpPr/>
          <p:nvPr/>
        </p:nvSpPr>
        <p:spPr>
          <a:xfrm>
            <a:off x="740664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259 000</a:t>
            </a:r>
            <a:endParaRPr lang="en-US" sz="1500" dirty="0"/>
          </a:p>
        </p:txBody>
      </p:sp>
      <p:sp>
        <p:nvSpPr>
          <p:cNvPr id="27" name="Text 25"/>
          <p:cNvSpPr/>
          <p:nvPr/>
        </p:nvSpPr>
        <p:spPr>
          <a:xfrm>
            <a:off x="754380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28" name="Text 26"/>
          <p:cNvSpPr/>
          <p:nvPr/>
        </p:nvSpPr>
        <p:spPr>
          <a:xfrm>
            <a:off x="635508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DALY, număr</a:t>
            </a:r>
            <a:endParaRPr lang="en-US" sz="1300" dirty="0"/>
          </a:p>
        </p:txBody>
      </p:sp>
      <p:sp>
        <p:nvSpPr>
          <p:cNvPr id="29" name="Shape 27"/>
          <p:cNvSpPr/>
          <p:nvPr/>
        </p:nvSpPr>
        <p:spPr>
          <a:xfrm>
            <a:off x="9144000" y="2514600"/>
            <a:ext cx="822960" cy="1828800"/>
          </a:xfrm>
          <a:prstGeom prst="rect">
            <a:avLst/>
          </a:prstGeom>
          <a:solidFill>
            <a:srgbClr val="B9B6AE"/>
          </a:solidFill>
          <a:ln w="12700">
            <a:solidFill>
              <a:srgbClr val="B9B6AE"/>
            </a:solidFill>
            <a:prstDash val="solid"/>
          </a:ln>
        </p:spPr>
        <p:txBody>
          <a:bodyPr/>
          <a:p/>
        </p:txBody>
      </p:sp>
      <p:sp>
        <p:nvSpPr>
          <p:cNvPr id="30" name="Text 28"/>
          <p:cNvSpPr/>
          <p:nvPr/>
        </p:nvSpPr>
        <p:spPr>
          <a:xfrm>
            <a:off x="882396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825,4</a:t>
            </a:r>
            <a:endParaRPr lang="en-US" sz="1500" dirty="0"/>
          </a:p>
        </p:txBody>
      </p:sp>
      <p:sp>
        <p:nvSpPr>
          <p:cNvPr id="31" name="Text 29"/>
          <p:cNvSpPr/>
          <p:nvPr/>
        </p:nvSpPr>
        <p:spPr>
          <a:xfrm>
            <a:off x="896112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32" name="Shape 30"/>
          <p:cNvSpPr/>
          <p:nvPr/>
        </p:nvSpPr>
        <p:spPr>
          <a:xfrm>
            <a:off x="10149840" y="2688529"/>
            <a:ext cx="822960" cy="1654871"/>
          </a:xfrm>
          <a:prstGeom prst="rect">
            <a:avLst/>
          </a:prstGeom>
          <a:solidFill>
            <a:srgbClr val="B02532"/>
          </a:solidFill>
          <a:ln w="12700">
            <a:solidFill>
              <a:srgbClr val="B02532"/>
            </a:solidFill>
            <a:prstDash val="solid"/>
          </a:ln>
        </p:spPr>
        <p:txBody>
          <a:bodyPr/>
          <a:p/>
        </p:txBody>
      </p:sp>
      <p:sp>
        <p:nvSpPr>
          <p:cNvPr id="33" name="Text 31"/>
          <p:cNvSpPr/>
          <p:nvPr/>
        </p:nvSpPr>
        <p:spPr>
          <a:xfrm>
            <a:off x="9829800" y="2322769"/>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746,9</a:t>
            </a:r>
            <a:endParaRPr lang="en-US" sz="1500" dirty="0"/>
          </a:p>
        </p:txBody>
      </p:sp>
      <p:sp>
        <p:nvSpPr>
          <p:cNvPr id="34" name="Text 32"/>
          <p:cNvSpPr/>
          <p:nvPr/>
        </p:nvSpPr>
        <p:spPr>
          <a:xfrm>
            <a:off x="996696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35" name="Text 33"/>
          <p:cNvSpPr/>
          <p:nvPr/>
        </p:nvSpPr>
        <p:spPr>
          <a:xfrm>
            <a:off x="877824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Rata standardizată la 100 000</a:t>
            </a:r>
            <a:endParaRPr lang="en-US" sz="1300" dirty="0"/>
          </a:p>
        </p:txBody>
      </p:sp>
      <p:sp>
        <p:nvSpPr>
          <p:cNvPr id="36" name="Text 34"/>
          <p:cNvSpPr/>
          <p:nvPr/>
        </p:nvSpPr>
        <p:spPr>
          <a:xfrm>
            <a:off x="594360" y="5532120"/>
            <a:ext cx="10972800" cy="54864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Rata standardizată elimină efectul vârstei; de aceea comparațiile în timp și între țări se fac pe ea.</a:t>
            </a:r>
            <a:endParaRPr lang="en-US" sz="1700" dirty="0"/>
          </a:p>
        </p:txBody>
      </p:sp>
      <p:sp>
        <p:nvSpPr>
          <p:cNvPr id="37" name="Text 35"/>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România, ambele sexe, toate vârstele. Sursa: GBD 2023, IHME, interogat la 17.10.2026.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DALY STANDARDIZATE PE VÂRSTĂ, LA 100 000 DE LOCUITORI, 2023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Patru teritorii, cu intervalele de incertitudine</a:t>
            </a:r>
            <a:endParaRPr lang="en-US" sz="3000" dirty="0"/>
          </a:p>
        </p:txBody>
      </p:sp>
      <p:sp>
        <p:nvSpPr>
          <p:cNvPr id="4" name="Shape 2"/>
          <p:cNvSpPr/>
          <p:nvPr/>
        </p:nvSpPr>
        <p:spPr>
          <a:xfrm>
            <a:off x="594360" y="1554480"/>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5" name="Text 3"/>
          <p:cNvSpPr/>
          <p:nvPr/>
        </p:nvSpPr>
        <p:spPr>
          <a:xfrm>
            <a:off x="822960" y="1554480"/>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România  </a:t>
            </a:r>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26 531,7</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6" name="Shape 4"/>
          <p:cNvSpPr/>
          <p:nvPr/>
        </p:nvSpPr>
        <p:spPr>
          <a:xfrm>
            <a:off x="6417833" y="1737360"/>
            <a:ext cx="1903165" cy="164592"/>
          </a:xfrm>
          <a:prstGeom prst="rect">
            <a:avLst/>
          </a:prstGeom>
          <a:solidFill>
            <a:srgbClr val="B02532"/>
          </a:solidFill>
          <a:ln w="12700">
            <a:solidFill>
              <a:srgbClr val="B02532"/>
            </a:solidFill>
            <a:prstDash val="solid"/>
          </a:ln>
        </p:spPr>
        <p:txBody>
          <a:bodyPr/>
          <a:p/>
        </p:txBody>
      </p:sp>
      <p:sp>
        <p:nvSpPr>
          <p:cNvPr id="7" name="Shape 5"/>
          <p:cNvSpPr/>
          <p:nvPr/>
        </p:nvSpPr>
        <p:spPr>
          <a:xfrm>
            <a:off x="7107400" y="1682496"/>
            <a:ext cx="274320" cy="274320"/>
          </a:xfrm>
          <a:prstGeom prst="ellipse">
            <a:avLst/>
          </a:prstGeom>
          <a:solidFill>
            <a:srgbClr val="11121A"/>
          </a:solidFill>
          <a:ln w="12700">
            <a:solidFill>
              <a:srgbClr val="F6F5F2"/>
            </a:solidFill>
            <a:prstDash val="solid"/>
          </a:ln>
        </p:spPr>
        <p:txBody>
          <a:bodyPr/>
          <a:p/>
        </p:txBody>
      </p:sp>
      <p:sp>
        <p:nvSpPr>
          <p:cNvPr id="8" name="Text 6"/>
          <p:cNvSpPr/>
          <p:nvPr/>
        </p:nvSpPr>
        <p:spPr>
          <a:xfrm>
            <a:off x="6417833" y="1984248"/>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24 013,9–29 810,0</a:t>
            </a:r>
            <a:endParaRPr lang="en-US" sz="1300" dirty="0"/>
          </a:p>
        </p:txBody>
      </p:sp>
      <p:sp>
        <p:nvSpPr>
          <p:cNvPr id="9" name="Shape 7"/>
          <p:cNvSpPr/>
          <p:nvPr/>
        </p:nvSpPr>
        <p:spPr>
          <a:xfrm>
            <a:off x="594360" y="2441448"/>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10" name="Text 8"/>
          <p:cNvSpPr/>
          <p:nvPr/>
        </p:nvSpPr>
        <p:spPr>
          <a:xfrm>
            <a:off x="822960" y="2441448"/>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Germania  </a:t>
            </a:r>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21 185,4</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11" name="Shape 9"/>
          <p:cNvSpPr/>
          <p:nvPr/>
        </p:nvSpPr>
        <p:spPr>
          <a:xfrm>
            <a:off x="4614684" y="2624328"/>
            <a:ext cx="1934392" cy="164592"/>
          </a:xfrm>
          <a:prstGeom prst="rect">
            <a:avLst/>
          </a:prstGeom>
          <a:solidFill>
            <a:srgbClr val="4A2D8C"/>
          </a:solidFill>
          <a:ln w="12700">
            <a:solidFill>
              <a:srgbClr val="4A2D8C"/>
            </a:solidFill>
            <a:prstDash val="solid"/>
          </a:ln>
        </p:spPr>
        <p:txBody>
          <a:bodyPr/>
          <a:p/>
        </p:txBody>
      </p:sp>
      <p:sp>
        <p:nvSpPr>
          <p:cNvPr id="12" name="Shape 10"/>
          <p:cNvSpPr/>
          <p:nvPr/>
        </p:nvSpPr>
        <p:spPr>
          <a:xfrm>
            <a:off x="5351928" y="2569464"/>
            <a:ext cx="274320" cy="274320"/>
          </a:xfrm>
          <a:prstGeom prst="ellipse">
            <a:avLst/>
          </a:prstGeom>
          <a:solidFill>
            <a:srgbClr val="11121A"/>
          </a:solidFill>
          <a:ln w="12700">
            <a:solidFill>
              <a:srgbClr val="F6F5F2"/>
            </a:solidFill>
            <a:prstDash val="solid"/>
          </a:ln>
        </p:spPr>
        <p:txBody>
          <a:bodyPr/>
          <a:p/>
        </p:txBody>
      </p:sp>
      <p:sp>
        <p:nvSpPr>
          <p:cNvPr id="13" name="Text 11"/>
          <p:cNvSpPr/>
          <p:nvPr/>
        </p:nvSpPr>
        <p:spPr>
          <a:xfrm>
            <a:off x="4614684" y="2871216"/>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18 522,4–24 413,6</a:t>
            </a:r>
            <a:endParaRPr lang="en-US" sz="1300" dirty="0"/>
          </a:p>
        </p:txBody>
      </p:sp>
      <p:sp>
        <p:nvSpPr>
          <p:cNvPr id="14" name="Shape 12"/>
          <p:cNvSpPr/>
          <p:nvPr/>
        </p:nvSpPr>
        <p:spPr>
          <a:xfrm>
            <a:off x="594360" y="3328416"/>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15" name="Text 13"/>
          <p:cNvSpPr/>
          <p:nvPr/>
        </p:nvSpPr>
        <p:spPr>
          <a:xfrm>
            <a:off x="822960" y="3328416"/>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Uniunea Europeană  </a:t>
            </a:r>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21 110,4</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16" name="Shape 14"/>
          <p:cNvSpPr/>
          <p:nvPr/>
        </p:nvSpPr>
        <p:spPr>
          <a:xfrm>
            <a:off x="4578631" y="3511296"/>
            <a:ext cx="1960922" cy="164592"/>
          </a:xfrm>
          <a:prstGeom prst="rect">
            <a:avLst/>
          </a:prstGeom>
          <a:solidFill>
            <a:srgbClr val="0E7C6B"/>
          </a:solidFill>
          <a:ln w="12700">
            <a:solidFill>
              <a:srgbClr val="0E7C6B"/>
            </a:solidFill>
            <a:prstDash val="solid"/>
          </a:ln>
        </p:spPr>
        <p:txBody>
          <a:bodyPr/>
          <a:p/>
        </p:txBody>
      </p:sp>
      <p:sp>
        <p:nvSpPr>
          <p:cNvPr id="17" name="Shape 15"/>
          <p:cNvSpPr/>
          <p:nvPr/>
        </p:nvSpPr>
        <p:spPr>
          <a:xfrm>
            <a:off x="5327301" y="3456432"/>
            <a:ext cx="274320" cy="274320"/>
          </a:xfrm>
          <a:prstGeom prst="ellipse">
            <a:avLst/>
          </a:prstGeom>
          <a:solidFill>
            <a:srgbClr val="11121A"/>
          </a:solidFill>
          <a:ln w="12700">
            <a:solidFill>
              <a:srgbClr val="F6F5F2"/>
            </a:solidFill>
            <a:prstDash val="solid"/>
          </a:ln>
        </p:spPr>
        <p:txBody>
          <a:bodyPr/>
          <a:p/>
        </p:txBody>
      </p:sp>
      <p:sp>
        <p:nvSpPr>
          <p:cNvPr id="18" name="Text 16"/>
          <p:cNvSpPr/>
          <p:nvPr/>
        </p:nvSpPr>
        <p:spPr>
          <a:xfrm>
            <a:off x="4578631" y="3758184"/>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18 412,6–24 384,6</a:t>
            </a:r>
            <a:endParaRPr lang="en-US" sz="1300" dirty="0"/>
          </a:p>
        </p:txBody>
      </p:sp>
      <p:sp>
        <p:nvSpPr>
          <p:cNvPr id="19" name="Shape 17"/>
          <p:cNvSpPr/>
          <p:nvPr/>
        </p:nvSpPr>
        <p:spPr>
          <a:xfrm>
            <a:off x="594360" y="4215384"/>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20" name="Text 18"/>
          <p:cNvSpPr/>
          <p:nvPr/>
        </p:nvSpPr>
        <p:spPr>
          <a:xfrm>
            <a:off x="822960" y="4215384"/>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Lumea  </a:t>
            </a:r>
            <a:pPr indent="0" marL="0">
              <a:buNone/>
            </a:pPr>
            <a:r>
              <a:rPr lang="en-US" sz="1900" b="1" dirty="0">
                <a:solidFill>
                  <a:srgbClr val="6C6F7E"/>
                </a:solidFill>
                <a:latin typeface="Palatino Linotype" pitchFamily="34" charset="0"/>
                <a:ea typeface="Palatino Linotype" pitchFamily="34" charset="-122"/>
                <a:cs typeface="Palatino Linotype" pitchFamily="34" charset="-120"/>
              </a:rPr>
              <a:t>34 326,6</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21" name="Shape 19"/>
          <p:cNvSpPr/>
          <p:nvPr/>
        </p:nvSpPr>
        <p:spPr>
          <a:xfrm>
            <a:off x="8905762" y="4398264"/>
            <a:ext cx="2004462" cy="164592"/>
          </a:xfrm>
          <a:prstGeom prst="rect">
            <a:avLst/>
          </a:prstGeom>
          <a:solidFill>
            <a:srgbClr val="6C6F7E"/>
          </a:solidFill>
          <a:ln w="12700">
            <a:solidFill>
              <a:srgbClr val="6C6F7E"/>
            </a:solidFill>
            <a:prstDash val="solid"/>
          </a:ln>
        </p:spPr>
        <p:txBody>
          <a:bodyPr/>
          <a:p/>
        </p:txBody>
      </p:sp>
      <p:sp>
        <p:nvSpPr>
          <p:cNvPr id="22" name="Shape 20"/>
          <p:cNvSpPr/>
          <p:nvPr/>
        </p:nvSpPr>
        <p:spPr>
          <a:xfrm>
            <a:off x="9666876" y="4343400"/>
            <a:ext cx="274320" cy="274320"/>
          </a:xfrm>
          <a:prstGeom prst="ellipse">
            <a:avLst/>
          </a:prstGeom>
          <a:solidFill>
            <a:srgbClr val="11121A"/>
          </a:solidFill>
          <a:ln w="12700">
            <a:solidFill>
              <a:srgbClr val="F6F5F2"/>
            </a:solidFill>
            <a:prstDash val="solid"/>
          </a:ln>
        </p:spPr>
        <p:txBody>
          <a:bodyPr/>
          <a:p/>
        </p:txBody>
      </p:sp>
      <p:sp>
        <p:nvSpPr>
          <p:cNvPr id="23" name="Text 21"/>
          <p:cNvSpPr/>
          <p:nvPr/>
        </p:nvSpPr>
        <p:spPr>
          <a:xfrm>
            <a:off x="8905762" y="4645152"/>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31 590,9–37 695,5</a:t>
            </a:r>
            <a:endParaRPr lang="en-US" sz="1300" dirty="0"/>
          </a:p>
        </p:txBody>
      </p:sp>
      <p:sp>
        <p:nvSpPr>
          <p:cNvPr id="24" name="Shape 22"/>
          <p:cNvSpPr/>
          <p:nvPr/>
        </p:nvSpPr>
        <p:spPr>
          <a:xfrm>
            <a:off x="594360" y="5212080"/>
            <a:ext cx="10972800" cy="868680"/>
          </a:xfrm>
          <a:prstGeom prst="roundRect">
            <a:avLst>
              <a:gd name="adj" fmla="val 9474"/>
            </a:avLst>
          </a:prstGeom>
          <a:solidFill>
            <a:srgbClr val="1D1F2B"/>
          </a:solidFill>
          <a:ln w="12700">
            <a:solidFill>
              <a:srgbClr val="1D1F2B"/>
            </a:solidFill>
            <a:prstDash val="solid"/>
          </a:ln>
        </p:spPr>
        <p:txBody>
          <a:bodyPr/>
          <a:p/>
        </p:txBody>
      </p:sp>
      <p:sp>
        <p:nvSpPr>
          <p:cNvPr id="25" name="Text 23"/>
          <p:cNvSpPr/>
          <p:nvPr/>
        </p:nvSpPr>
        <p:spPr>
          <a:xfrm>
            <a:off x="868680" y="5212080"/>
            <a:ext cx="10424160" cy="86868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Din suprapunerea a două intervale nu se poate concluda nici că diferența este reală, nici că valorile sunt egale.</a:t>
            </a:r>
            <a:endParaRPr lang="en-US" sz="1800" dirty="0"/>
          </a:p>
        </p:txBody>
      </p:sp>
      <p:sp>
        <p:nvSpPr>
          <p:cNvPr id="26" name="Text 2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Bara: intervalul de incertitudine; punctul: estimarea centrală. Sursa: GBD 2023, IHME, 17.10.2026.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ROMÂNIA · 2023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Lista cauzelor depinde de vârstă</a:t>
            </a:r>
            <a:endParaRPr lang="en-US" sz="3000" dirty="0"/>
          </a:p>
        </p:txBody>
      </p:sp>
      <p:sp>
        <p:nvSpPr>
          <p:cNvPr id="4" name="Text 2"/>
          <p:cNvSpPr/>
          <p:nvPr/>
        </p:nvSpPr>
        <p:spPr>
          <a:xfrm>
            <a:off x="594360" y="1371600"/>
            <a:ext cx="10972800" cy="32004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 ani pierduți prin deces (YLL)   </a:t>
            </a:r>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 ani trăiți cu dizabilitate (YLD)</a:t>
            </a:r>
            <a:endParaRPr lang="en-US" sz="1400" dirty="0"/>
          </a:p>
        </p:txBody>
      </p:sp>
      <p:sp>
        <p:nvSpPr>
          <p:cNvPr id="5" name="Shape 3"/>
          <p:cNvSpPr/>
          <p:nvPr/>
        </p:nvSpPr>
        <p:spPr>
          <a:xfrm>
            <a:off x="594360" y="1828800"/>
            <a:ext cx="5349240" cy="3108960"/>
          </a:xfrm>
          <a:prstGeom prst="roundRect">
            <a:avLst>
              <a:gd name="adj" fmla="val 2647"/>
            </a:avLst>
          </a:prstGeom>
          <a:solidFill>
            <a:srgbClr val="ECEAE4"/>
          </a:solidFill>
          <a:ln w="12700">
            <a:solidFill>
              <a:srgbClr val="ECEAE4"/>
            </a:solidFill>
            <a:prstDash val="solid"/>
          </a:ln>
        </p:spPr>
        <p:txBody>
          <a:bodyPr/>
          <a:p/>
        </p:txBody>
      </p:sp>
      <p:sp>
        <p:nvSpPr>
          <p:cNvPr id="6" name="Text 4"/>
          <p:cNvSpPr/>
          <p:nvPr/>
        </p:nvSpPr>
        <p:spPr>
          <a:xfrm>
            <a:off x="868680" y="1938528"/>
            <a:ext cx="4846320" cy="411480"/>
          </a:xfrm>
          <a:prstGeom prst="rect">
            <a:avLst/>
          </a:prstGeom>
          <a:noFill/>
          <a:ln/>
        </p:spPr>
        <p:txBody>
          <a:bodyPr wrap="square" lIns="0" tIns="0" rIns="0" bIns="0" rtlCol="0" anchor="t"/>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La 15–49 de ani</a:t>
            </a:r>
            <a:endParaRPr lang="en-US" sz="2100" dirty="0"/>
          </a:p>
        </p:txBody>
      </p:sp>
      <p:sp>
        <p:nvSpPr>
          <p:cNvPr id="7" name="Shape 5"/>
          <p:cNvSpPr/>
          <p:nvPr/>
        </p:nvSpPr>
        <p:spPr>
          <a:xfrm>
            <a:off x="868680" y="2514600"/>
            <a:ext cx="2107580" cy="640080"/>
          </a:xfrm>
          <a:prstGeom prst="rect">
            <a:avLst/>
          </a:prstGeom>
          <a:solidFill>
            <a:srgbClr val="FF4757"/>
          </a:solidFill>
          <a:ln w="12700">
            <a:solidFill>
              <a:srgbClr val="FF4757"/>
            </a:solidFill>
            <a:prstDash val="solid"/>
          </a:ln>
        </p:spPr>
        <p:txBody>
          <a:bodyPr/>
          <a:p/>
        </p:txBody>
      </p:sp>
      <p:sp>
        <p:nvSpPr>
          <p:cNvPr id="8" name="Shape 6"/>
          <p:cNvSpPr/>
          <p:nvPr/>
        </p:nvSpPr>
        <p:spPr>
          <a:xfrm>
            <a:off x="2976260" y="2514600"/>
            <a:ext cx="2693020" cy="640080"/>
          </a:xfrm>
          <a:prstGeom prst="rect">
            <a:avLst/>
          </a:prstGeom>
          <a:solidFill>
            <a:srgbClr val="07564B"/>
          </a:solidFill>
          <a:ln w="12700">
            <a:solidFill>
              <a:srgbClr val="07564B"/>
            </a:solidFill>
            <a:prstDash val="solid"/>
          </a:ln>
        </p:spPr>
        <p:txBody>
          <a:bodyPr/>
          <a:p/>
        </p:txBody>
      </p:sp>
      <p:sp>
        <p:nvSpPr>
          <p:cNvPr id="9" name="Text 7"/>
          <p:cNvSpPr/>
          <p:nvPr/>
        </p:nvSpPr>
        <p:spPr>
          <a:xfrm>
            <a:off x="868680" y="2514600"/>
            <a:ext cx="2107580" cy="640080"/>
          </a:xfrm>
          <a:prstGeom prst="rect">
            <a:avLst/>
          </a:prstGeom>
          <a:noFill/>
          <a:ln/>
        </p:spPr>
        <p:txBody>
          <a:bodyPr wrap="square" lIns="0" tIns="0" rIns="0" bIns="0" rtlCol="0" anchor="ctr"/>
          <a:lstStyle/>
          <a:p>
            <a:pPr algn="ctr" indent="0" marL="0">
              <a:buNone/>
            </a:pPr>
            <a:r>
              <a:rPr lang="en-US" sz="1500" b="1" dirty="0">
                <a:solidFill>
                  <a:srgbClr val="2E060B"/>
                </a:solidFill>
                <a:latin typeface="Palatino Linotype" pitchFamily="34" charset="0"/>
                <a:ea typeface="Palatino Linotype" pitchFamily="34" charset="-122"/>
                <a:cs typeface="Palatino Linotype" pitchFamily="34" charset="-120"/>
              </a:rPr>
              <a:t>684 000</a:t>
            </a:r>
            <a:endParaRPr lang="en-US" sz="1500" dirty="0"/>
          </a:p>
        </p:txBody>
      </p:sp>
      <p:sp>
        <p:nvSpPr>
          <p:cNvPr id="10" name="Text 8"/>
          <p:cNvSpPr/>
          <p:nvPr/>
        </p:nvSpPr>
        <p:spPr>
          <a:xfrm>
            <a:off x="2976260" y="2514600"/>
            <a:ext cx="269302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874 000</a:t>
            </a:r>
            <a:endParaRPr lang="en-US" sz="1500" dirty="0"/>
          </a:p>
        </p:txBody>
      </p:sp>
      <p:sp>
        <p:nvSpPr>
          <p:cNvPr id="11" name="Text 9"/>
          <p:cNvSpPr/>
          <p:nvPr/>
        </p:nvSpPr>
        <p:spPr>
          <a:xfrm>
            <a:off x="868680" y="3429000"/>
            <a:ext cx="48463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1. Lombalgia · 8,7%</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2. Cardiopatia ischemică · 4,5%</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3. Căderile · 4,4%</a:t>
            </a:r>
            <a:endParaRPr lang="en-US" sz="1600" dirty="0"/>
          </a:p>
        </p:txBody>
      </p:sp>
      <p:sp>
        <p:nvSpPr>
          <p:cNvPr id="12" name="Shape 10"/>
          <p:cNvSpPr/>
          <p:nvPr/>
        </p:nvSpPr>
        <p:spPr>
          <a:xfrm>
            <a:off x="6217920" y="1828800"/>
            <a:ext cx="5349240" cy="3108960"/>
          </a:xfrm>
          <a:prstGeom prst="roundRect">
            <a:avLst>
              <a:gd name="adj" fmla="val 2647"/>
            </a:avLst>
          </a:prstGeom>
          <a:solidFill>
            <a:srgbClr val="ECEAE4"/>
          </a:solidFill>
          <a:ln w="12700">
            <a:solidFill>
              <a:srgbClr val="ECEAE4"/>
            </a:solidFill>
            <a:prstDash val="solid"/>
          </a:ln>
        </p:spPr>
        <p:txBody>
          <a:bodyPr/>
          <a:p/>
        </p:txBody>
      </p:sp>
      <p:sp>
        <p:nvSpPr>
          <p:cNvPr id="13" name="Text 11"/>
          <p:cNvSpPr/>
          <p:nvPr/>
        </p:nvSpPr>
        <p:spPr>
          <a:xfrm>
            <a:off x="6492240" y="1938528"/>
            <a:ext cx="4846320" cy="411480"/>
          </a:xfrm>
          <a:prstGeom prst="rect">
            <a:avLst/>
          </a:prstGeom>
          <a:noFill/>
          <a:ln/>
        </p:spPr>
        <p:txBody>
          <a:bodyPr wrap="square" lIns="0" tIns="0" rIns="0" bIns="0" rtlCol="0" anchor="t"/>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La 70 de ani și peste</a:t>
            </a:r>
            <a:endParaRPr lang="en-US" sz="2100" dirty="0"/>
          </a:p>
        </p:txBody>
      </p:sp>
      <p:sp>
        <p:nvSpPr>
          <p:cNvPr id="14" name="Shape 12"/>
          <p:cNvSpPr/>
          <p:nvPr/>
        </p:nvSpPr>
        <p:spPr>
          <a:xfrm>
            <a:off x="6492240" y="2514600"/>
            <a:ext cx="3606626" cy="640080"/>
          </a:xfrm>
          <a:prstGeom prst="rect">
            <a:avLst/>
          </a:prstGeom>
          <a:solidFill>
            <a:srgbClr val="FF4757"/>
          </a:solidFill>
          <a:ln w="12700">
            <a:solidFill>
              <a:srgbClr val="FF4757"/>
            </a:solidFill>
            <a:prstDash val="solid"/>
          </a:ln>
        </p:spPr>
        <p:txBody>
          <a:bodyPr/>
          <a:p/>
        </p:txBody>
      </p:sp>
      <p:sp>
        <p:nvSpPr>
          <p:cNvPr id="15" name="Shape 13"/>
          <p:cNvSpPr/>
          <p:nvPr/>
        </p:nvSpPr>
        <p:spPr>
          <a:xfrm>
            <a:off x="10098866" y="2514600"/>
            <a:ext cx="1193974" cy="640080"/>
          </a:xfrm>
          <a:prstGeom prst="rect">
            <a:avLst/>
          </a:prstGeom>
          <a:solidFill>
            <a:srgbClr val="07564B"/>
          </a:solidFill>
          <a:ln w="12700">
            <a:solidFill>
              <a:srgbClr val="07564B"/>
            </a:solidFill>
            <a:prstDash val="solid"/>
          </a:ln>
        </p:spPr>
        <p:txBody>
          <a:bodyPr/>
          <a:p/>
        </p:txBody>
      </p:sp>
      <p:sp>
        <p:nvSpPr>
          <p:cNvPr id="16" name="Text 14"/>
          <p:cNvSpPr/>
          <p:nvPr/>
        </p:nvSpPr>
        <p:spPr>
          <a:xfrm>
            <a:off x="6492240" y="2514600"/>
            <a:ext cx="3606626" cy="640080"/>
          </a:xfrm>
          <a:prstGeom prst="rect">
            <a:avLst/>
          </a:prstGeom>
          <a:noFill/>
          <a:ln/>
        </p:spPr>
        <p:txBody>
          <a:bodyPr wrap="square" lIns="0" tIns="0" rIns="0" bIns="0" rtlCol="0" anchor="ctr"/>
          <a:lstStyle/>
          <a:p>
            <a:pPr algn="ctr" indent="0" marL="0">
              <a:buNone/>
            </a:pPr>
            <a:r>
              <a:rPr lang="en-US" sz="1500" b="1" dirty="0">
                <a:solidFill>
                  <a:srgbClr val="2E060B"/>
                </a:solidFill>
                <a:latin typeface="Palatino Linotype" pitchFamily="34" charset="0"/>
                <a:ea typeface="Palatino Linotype" pitchFamily="34" charset="-122"/>
                <a:cs typeface="Palatino Linotype" pitchFamily="34" charset="-120"/>
              </a:rPr>
              <a:t>2 190 000</a:t>
            </a:r>
            <a:endParaRPr lang="en-US" sz="1500" dirty="0"/>
          </a:p>
        </p:txBody>
      </p:sp>
      <p:sp>
        <p:nvSpPr>
          <p:cNvPr id="17" name="Text 15"/>
          <p:cNvSpPr/>
          <p:nvPr/>
        </p:nvSpPr>
        <p:spPr>
          <a:xfrm>
            <a:off x="10098866" y="2514600"/>
            <a:ext cx="1193974"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725 000</a:t>
            </a:r>
            <a:endParaRPr lang="en-US" sz="1500" dirty="0"/>
          </a:p>
        </p:txBody>
      </p:sp>
      <p:sp>
        <p:nvSpPr>
          <p:cNvPr id="18" name="Text 16"/>
          <p:cNvSpPr/>
          <p:nvPr/>
        </p:nvSpPr>
        <p:spPr>
          <a:xfrm>
            <a:off x="6492240" y="3429000"/>
            <a:ext cx="48463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1. Cardiopatia ischemică · 19,6%</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2. Accidentul vascular cerebral · 17,1%</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3. Cardiopatia hipertensivă · 5,2%</a:t>
            </a:r>
            <a:endParaRPr lang="en-US" sz="1600" dirty="0"/>
          </a:p>
        </p:txBody>
      </p:sp>
      <p:sp>
        <p:nvSpPr>
          <p:cNvPr id="19" name="Shape 17"/>
          <p:cNvSpPr/>
          <p:nvPr/>
        </p:nvSpPr>
        <p:spPr>
          <a:xfrm>
            <a:off x="594360" y="5166360"/>
            <a:ext cx="10972800" cy="914400"/>
          </a:xfrm>
          <a:prstGeom prst="roundRect">
            <a:avLst>
              <a:gd name="adj" fmla="val 9000"/>
            </a:avLst>
          </a:prstGeom>
          <a:solidFill>
            <a:srgbClr val="1D1F2B"/>
          </a:solidFill>
          <a:ln w="12700">
            <a:solidFill>
              <a:srgbClr val="1D1F2B"/>
            </a:solidFill>
            <a:prstDash val="solid"/>
          </a:ln>
        </p:spPr>
        <p:txBody>
          <a:bodyPr/>
          <a:p/>
        </p:txBody>
      </p:sp>
      <p:sp>
        <p:nvSpPr>
          <p:cNvPr id="20" name="Text 18"/>
          <p:cNvSpPr/>
          <p:nvPr/>
        </p:nvSpPr>
        <p:spPr>
          <a:xfrm>
            <a:off x="868680" y="5166360"/>
            <a:ext cx="10424160" cy="91440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La tineri, povara vine mai ales din boli cu care se trăiește, la vârstnici din boli care ucid.</a:t>
            </a:r>
            <a:endParaRPr lang="en-US" sz="19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DALY absolute; procentul: ponderea cauzei în grupă. Sursa: GBD 2023, IHME, 17.10.2026.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POVARA BOLII ÎNTR-UN JUDEȚ</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Patru pași, din două serii</a:t>
            </a:r>
            <a:endParaRPr lang="en-US" sz="3200" dirty="0"/>
          </a:p>
        </p:txBody>
      </p:sp>
      <p:sp>
        <p:nvSpPr>
          <p:cNvPr id="4" name="Text 2"/>
          <p:cNvSpPr/>
          <p:nvPr/>
        </p:nvSpPr>
        <p:spPr>
          <a:xfrm>
            <a:off x="594360" y="1371600"/>
            <a:ext cx="10972800" cy="3657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GBD nu publică județele României. Metoda folosește decesele și populația județului pe vârste.</a:t>
            </a:r>
            <a:endParaRPr lang="en-US" sz="1600" dirty="0"/>
          </a:p>
        </p:txBody>
      </p:sp>
      <p:sp>
        <p:nvSpPr>
          <p:cNvPr id="5" name="Shape 3"/>
          <p:cNvSpPr/>
          <p:nvPr/>
        </p:nvSpPr>
        <p:spPr>
          <a:xfrm>
            <a:off x="594360" y="1920240"/>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6" name="Shape 4"/>
          <p:cNvSpPr/>
          <p:nvPr/>
        </p:nvSpPr>
        <p:spPr>
          <a:xfrm>
            <a:off x="914400" y="2112264"/>
            <a:ext cx="420624" cy="420624"/>
          </a:xfrm>
          <a:prstGeom prst="ellipse">
            <a:avLst/>
          </a:prstGeom>
          <a:solidFill>
            <a:srgbClr val="FFC24B"/>
          </a:solidFill>
          <a:ln/>
        </p:spPr>
        <p:txBody>
          <a:bodyPr/>
          <a:p/>
        </p:txBody>
      </p:sp>
      <p:sp>
        <p:nvSpPr>
          <p:cNvPr id="7" name="Text 5"/>
          <p:cNvSpPr/>
          <p:nvPr/>
        </p:nvSpPr>
        <p:spPr>
          <a:xfrm>
            <a:off x="914400" y="21122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1920240"/>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YLL: decesele grupei × anii pierduți pentru un deces.</a:t>
            </a:r>
            <a:endParaRPr lang="en-US" sz="1900" dirty="0"/>
          </a:p>
        </p:txBody>
      </p:sp>
      <p:sp>
        <p:nvSpPr>
          <p:cNvPr id="9" name="Shape 7"/>
          <p:cNvSpPr/>
          <p:nvPr/>
        </p:nvSpPr>
        <p:spPr>
          <a:xfrm>
            <a:off x="594360" y="2862072"/>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10" name="Shape 8"/>
          <p:cNvSpPr/>
          <p:nvPr/>
        </p:nvSpPr>
        <p:spPr>
          <a:xfrm>
            <a:off x="914400" y="3054096"/>
            <a:ext cx="420624" cy="420624"/>
          </a:xfrm>
          <a:prstGeom prst="ellipse">
            <a:avLst/>
          </a:prstGeom>
          <a:solidFill>
            <a:srgbClr val="FFC24B"/>
          </a:solidFill>
          <a:ln/>
        </p:spPr>
        <p:txBody>
          <a:bodyPr/>
          <a:p/>
        </p:txBody>
      </p:sp>
      <p:sp>
        <p:nvSpPr>
          <p:cNvPr id="11" name="Text 9"/>
          <p:cNvSpPr/>
          <p:nvPr/>
        </p:nvSpPr>
        <p:spPr>
          <a:xfrm>
            <a:off x="914400" y="30540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2862072"/>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YLD: populația medie a grupei × YLD la 1 000 de locuitori ÷ 1 000.</a:t>
            </a:r>
            <a:endParaRPr lang="en-US" sz="1900" dirty="0"/>
          </a:p>
        </p:txBody>
      </p:sp>
      <p:sp>
        <p:nvSpPr>
          <p:cNvPr id="13" name="Shape 11"/>
          <p:cNvSpPr/>
          <p:nvPr/>
        </p:nvSpPr>
        <p:spPr>
          <a:xfrm>
            <a:off x="594360" y="3803904"/>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14" name="Shape 12"/>
          <p:cNvSpPr/>
          <p:nvPr/>
        </p:nvSpPr>
        <p:spPr>
          <a:xfrm>
            <a:off x="914400" y="3995928"/>
            <a:ext cx="420624" cy="420624"/>
          </a:xfrm>
          <a:prstGeom prst="ellipse">
            <a:avLst/>
          </a:prstGeom>
          <a:solidFill>
            <a:srgbClr val="FFC24B"/>
          </a:solidFill>
          <a:ln/>
        </p:spPr>
        <p:txBody>
          <a:bodyPr/>
          <a:p/>
        </p:txBody>
      </p:sp>
      <p:sp>
        <p:nvSpPr>
          <p:cNvPr id="15" name="Text 13"/>
          <p:cNvSpPr/>
          <p:nvPr/>
        </p:nvSpPr>
        <p:spPr>
          <a:xfrm>
            <a:off x="914400" y="3995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600200" y="3803904"/>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DALY ale județului: suma YLL și YLD pe toate grupele.</a:t>
            </a:r>
            <a:endParaRPr lang="en-US" sz="1900" dirty="0"/>
          </a:p>
        </p:txBody>
      </p:sp>
      <p:sp>
        <p:nvSpPr>
          <p:cNvPr id="17" name="Shape 15"/>
          <p:cNvSpPr/>
          <p:nvPr/>
        </p:nvSpPr>
        <p:spPr>
          <a:xfrm>
            <a:off x="594360" y="4745736"/>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18" name="Shape 16"/>
          <p:cNvSpPr/>
          <p:nvPr/>
        </p:nvSpPr>
        <p:spPr>
          <a:xfrm>
            <a:off x="914400" y="4937760"/>
            <a:ext cx="420624" cy="420624"/>
          </a:xfrm>
          <a:prstGeom prst="ellipse">
            <a:avLst/>
          </a:prstGeom>
          <a:solidFill>
            <a:srgbClr val="FFC24B"/>
          </a:solidFill>
          <a:ln/>
        </p:spPr>
        <p:txBody>
          <a:bodyPr/>
          <a:p/>
        </p:txBody>
      </p:sp>
      <p:sp>
        <p:nvSpPr>
          <p:cNvPr id="19" name="Text 17"/>
          <p:cNvSpPr/>
          <p:nvPr/>
        </p:nvSpPr>
        <p:spPr>
          <a:xfrm>
            <a:off x="914400" y="49377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1600200" y="4745736"/>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DALY ÷ populația medie totală × 1 000.</a:t>
            </a:r>
            <a:endParaRPr lang="en-US" sz="19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Anul 2023 pentru ambele serii. Populația medie: media dintre 1 ianuarie 2023 și 1 ianuarie 2024.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MICROSOFT FORMS · CONT UMF</a:t>
            </a:r>
            <a:endParaRPr lang="en-US" sz="1300" dirty="0"/>
          </a:p>
        </p:txBody>
      </p:sp>
      <p:sp>
        <p:nvSpPr>
          <p:cNvPr id="4" name="Text 2"/>
          <p:cNvSpPr/>
          <p:nvPr/>
        </p:nvSpPr>
        <p:spPr>
          <a:xfrm>
            <a:off x="594360" y="347472"/>
            <a:ext cx="68580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 ECHIPĂ</a:t>
            </a:r>
            <a:endParaRPr lang="en-US" sz="1300" dirty="0"/>
          </a:p>
        </p:txBody>
      </p:sp>
      <p:sp>
        <p:nvSpPr>
          <p:cNvPr id="5" name="Text 3"/>
          <p:cNvSpPr/>
          <p:nvPr/>
        </p:nvSpPr>
        <p:spPr>
          <a:xfrm>
            <a:off x="594360" y="777240"/>
            <a:ext cx="7498080" cy="8229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Exercițiul comun, în patru pași</a:t>
            </a:r>
            <a:endParaRPr lang="en-US" sz="3200" dirty="0"/>
          </a:p>
        </p:txBody>
      </p:sp>
      <p:sp>
        <p:nvSpPr>
          <p:cNvPr id="6" name="Shape 4"/>
          <p:cNvSpPr/>
          <p:nvPr/>
        </p:nvSpPr>
        <p:spPr>
          <a:xfrm>
            <a:off x="594360" y="1828800"/>
            <a:ext cx="7223760" cy="694944"/>
          </a:xfrm>
          <a:prstGeom prst="roundRect">
            <a:avLst>
              <a:gd name="adj" fmla="val 11842"/>
            </a:avLst>
          </a:prstGeom>
          <a:solidFill>
            <a:srgbClr val="1D1F2B"/>
          </a:solidFill>
          <a:ln w="12700">
            <a:solidFill>
              <a:srgbClr val="1D1F2B"/>
            </a:solidFill>
            <a:prstDash val="solid"/>
          </a:ln>
        </p:spPr>
        <p:txBody>
          <a:bodyPr/>
          <a:p/>
        </p:txBody>
      </p:sp>
      <p:sp>
        <p:nvSpPr>
          <p:cNvPr id="7" name="Shape 5"/>
          <p:cNvSpPr/>
          <p:nvPr/>
        </p:nvSpPr>
        <p:spPr>
          <a:xfrm>
            <a:off x="914400" y="1965960"/>
            <a:ext cx="420624" cy="420624"/>
          </a:xfrm>
          <a:prstGeom prst="ellipse">
            <a:avLst/>
          </a:prstGeom>
          <a:solidFill>
            <a:srgbClr val="FFC24B"/>
          </a:solidFill>
          <a:ln/>
        </p:spPr>
        <p:txBody>
          <a:bodyPr/>
          <a:p/>
        </p:txBody>
      </p:sp>
      <p:sp>
        <p:nvSpPr>
          <p:cNvPr id="8" name="Text 6"/>
          <p:cNvSpPr/>
          <p:nvPr/>
        </p:nvSpPr>
        <p:spPr>
          <a:xfrm>
            <a:off x="914400" y="19659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828800"/>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Cauzele în timp</a:t>
            </a:r>
            <a:endParaRPr lang="en-US" sz="1900" dirty="0"/>
          </a:p>
        </p:txBody>
      </p:sp>
      <p:sp>
        <p:nvSpPr>
          <p:cNvPr id="10" name="Shape 8"/>
          <p:cNvSpPr/>
          <p:nvPr/>
        </p:nvSpPr>
        <p:spPr>
          <a:xfrm>
            <a:off x="594360" y="2670048"/>
            <a:ext cx="7223760" cy="694944"/>
          </a:xfrm>
          <a:prstGeom prst="roundRect">
            <a:avLst>
              <a:gd name="adj" fmla="val 11842"/>
            </a:avLst>
          </a:prstGeom>
          <a:solidFill>
            <a:srgbClr val="1D1F2B"/>
          </a:solidFill>
          <a:ln w="12700">
            <a:solidFill>
              <a:srgbClr val="1D1F2B"/>
            </a:solidFill>
            <a:prstDash val="solid"/>
          </a:ln>
        </p:spPr>
        <p:txBody>
          <a:bodyPr/>
          <a:p/>
        </p:txBody>
      </p:sp>
      <p:sp>
        <p:nvSpPr>
          <p:cNvPr id="11" name="Shape 9"/>
          <p:cNvSpPr/>
          <p:nvPr/>
        </p:nvSpPr>
        <p:spPr>
          <a:xfrm>
            <a:off x="914400" y="2807208"/>
            <a:ext cx="420624" cy="420624"/>
          </a:xfrm>
          <a:prstGeom prst="ellipse">
            <a:avLst/>
          </a:prstGeom>
          <a:solidFill>
            <a:srgbClr val="FFC24B"/>
          </a:solidFill>
          <a:ln/>
        </p:spPr>
        <p:txBody>
          <a:bodyPr/>
          <a:p/>
        </p:txBody>
      </p:sp>
      <p:sp>
        <p:nvSpPr>
          <p:cNvPr id="12" name="Text 10"/>
          <p:cNvSpPr/>
          <p:nvPr/>
        </p:nvSpPr>
        <p:spPr>
          <a:xfrm>
            <a:off x="914400" y="28072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670048"/>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Comparația cu Europa</a:t>
            </a:r>
            <a:endParaRPr lang="en-US" sz="1900" dirty="0"/>
          </a:p>
        </p:txBody>
      </p:sp>
      <p:sp>
        <p:nvSpPr>
          <p:cNvPr id="14" name="Shape 12"/>
          <p:cNvSpPr/>
          <p:nvPr/>
        </p:nvSpPr>
        <p:spPr>
          <a:xfrm>
            <a:off x="594360" y="3511296"/>
            <a:ext cx="7223760" cy="694944"/>
          </a:xfrm>
          <a:prstGeom prst="roundRect">
            <a:avLst>
              <a:gd name="adj" fmla="val 11842"/>
            </a:avLst>
          </a:prstGeom>
          <a:solidFill>
            <a:srgbClr val="1D1F2B"/>
          </a:solidFill>
          <a:ln w="12700">
            <a:solidFill>
              <a:srgbClr val="1D1F2B"/>
            </a:solidFill>
            <a:prstDash val="solid"/>
          </a:ln>
        </p:spPr>
        <p:txBody>
          <a:bodyPr/>
          <a:p/>
        </p:txBody>
      </p:sp>
      <p:sp>
        <p:nvSpPr>
          <p:cNvPr id="15" name="Shape 13"/>
          <p:cNvSpPr/>
          <p:nvPr/>
        </p:nvSpPr>
        <p:spPr>
          <a:xfrm>
            <a:off x="914400" y="3648456"/>
            <a:ext cx="420624" cy="420624"/>
          </a:xfrm>
          <a:prstGeom prst="ellipse">
            <a:avLst/>
          </a:prstGeom>
          <a:solidFill>
            <a:srgbClr val="FFC24B"/>
          </a:solidFill>
          <a:ln/>
        </p:spPr>
        <p:txBody>
          <a:bodyPr/>
          <a:p/>
        </p:txBody>
      </p:sp>
      <p:sp>
        <p:nvSpPr>
          <p:cNvPr id="16" name="Text 14"/>
          <p:cNvSpPr/>
          <p:nvPr/>
        </p:nvSpPr>
        <p:spPr>
          <a:xfrm>
            <a:off x="914400" y="36484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511296"/>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Povara bolii în Teleorman și în Ilfov</a:t>
            </a:r>
            <a:endParaRPr lang="en-US" sz="1900" dirty="0"/>
          </a:p>
        </p:txBody>
      </p:sp>
      <p:sp>
        <p:nvSpPr>
          <p:cNvPr id="18" name="Shape 16"/>
          <p:cNvSpPr/>
          <p:nvPr/>
        </p:nvSpPr>
        <p:spPr>
          <a:xfrm>
            <a:off x="594360" y="4352544"/>
            <a:ext cx="7223760" cy="694944"/>
          </a:xfrm>
          <a:prstGeom prst="roundRect">
            <a:avLst>
              <a:gd name="adj" fmla="val 11842"/>
            </a:avLst>
          </a:prstGeom>
          <a:solidFill>
            <a:srgbClr val="1D1F2B"/>
          </a:solidFill>
          <a:ln w="12700">
            <a:solidFill>
              <a:srgbClr val="1D1F2B"/>
            </a:solidFill>
            <a:prstDash val="solid"/>
          </a:ln>
        </p:spPr>
        <p:txBody>
          <a:bodyPr/>
          <a:p/>
        </p:txBody>
      </p:sp>
      <p:sp>
        <p:nvSpPr>
          <p:cNvPr id="19" name="Shape 17"/>
          <p:cNvSpPr/>
          <p:nvPr/>
        </p:nvSpPr>
        <p:spPr>
          <a:xfrm>
            <a:off x="914400" y="4489704"/>
            <a:ext cx="420624" cy="420624"/>
          </a:xfrm>
          <a:prstGeom prst="ellipse">
            <a:avLst/>
          </a:prstGeom>
          <a:solidFill>
            <a:srgbClr val="FFC24B"/>
          </a:solidFill>
          <a:ln/>
        </p:spPr>
        <p:txBody>
          <a:bodyPr/>
          <a:p/>
        </p:txBody>
      </p:sp>
      <p:sp>
        <p:nvSpPr>
          <p:cNvPr id="20" name="Text 18"/>
          <p:cNvSpPr/>
          <p:nvPr/>
        </p:nvSpPr>
        <p:spPr>
          <a:xfrm>
            <a:off x="914400" y="44897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352544"/>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Interpretarea</a:t>
            </a:r>
            <a:endParaRPr lang="en-US" sz="1900" dirty="0"/>
          </a:p>
        </p:txBody>
      </p:sp>
      <p:sp>
        <p:nvSpPr>
          <p:cNvPr id="22" name="Shape 20"/>
          <p:cNvSpPr/>
          <p:nvPr/>
        </p:nvSpPr>
        <p:spPr>
          <a:xfrm>
            <a:off x="8321040" y="1783080"/>
            <a:ext cx="3246120" cy="3246120"/>
          </a:xfrm>
          <a:prstGeom prst="roundRect">
            <a:avLst>
              <a:gd name="adj" fmla="val 2535"/>
            </a:avLst>
          </a:prstGeom>
          <a:solidFill>
            <a:srgbClr val="FFFFFF"/>
          </a:solidFill>
          <a:ln w="12700">
            <a:solidFill>
              <a:srgbClr val="FFFFFF"/>
            </a:solidFill>
            <a:prstDash val="solid"/>
          </a:ln>
        </p:spPr>
        <p:txBody>
          <a:bodyPr/>
          <a:p/>
        </p:txBody>
      </p:sp>
      <p:sp>
        <p:nvSpPr>
          <p:cNvPr id="23" name="Text 21"/>
          <p:cNvSpPr/>
          <p:nvPr/>
        </p:nvSpPr>
        <p:spPr>
          <a:xfrm>
            <a:off x="8321040" y="1783080"/>
            <a:ext cx="3246120" cy="324612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Codul QR al formularului grupei voastre apare pe ecranul din sală.</a:t>
            </a:r>
            <a:endParaRPr lang="en-US" sz="1400" dirty="0"/>
          </a:p>
        </p:txBody>
      </p:sp>
      <p:sp>
        <p:nvSpPr>
          <p:cNvPr id="24" name="Text 22"/>
          <p:cNvSpPr/>
          <p:nvPr/>
        </p:nvSpPr>
        <p:spPr>
          <a:xfrm>
            <a:off x="8321040" y="5120640"/>
            <a:ext cx="3246120" cy="365760"/>
          </a:xfrm>
          <a:prstGeom prst="rect">
            <a:avLst/>
          </a:prstGeom>
          <a:noFill/>
          <a:ln/>
        </p:spPr>
        <p:txBody>
          <a:bodyPr wrap="square" lIns="0" tIns="0" rIns="0" bIns="0" rtlCol="0" anchor="t"/>
          <a:lstStyle/>
          <a:p>
            <a:pPr algn="ctr" indent="0" marL="0">
              <a:buNone/>
            </a:pPr>
            <a:r>
              <a:rPr lang="en-US" sz="1500" dirty="0">
                <a:solidFill>
                  <a:srgbClr val="959BB0"/>
                </a:solidFill>
                <a:latin typeface="Palatino Linotype" pitchFamily="34" charset="0"/>
                <a:ea typeface="Palatino Linotype" pitchFamily="34" charset="-122"/>
                <a:cs typeface="Palatino Linotype" pitchFamily="34" charset="-120"/>
              </a:rPr>
              <a:t/>
            </a:r>
            <a:endParaRPr lang="en-US" sz="1500" dirty="0"/>
          </a:p>
        </p:txBody>
      </p:sp>
      <p:sp>
        <p:nvSpPr>
          <p:cNvPr id="25" name="Text 23"/>
          <p:cNvSpPr/>
          <p:nvPr/>
        </p:nvSpPr>
        <p:spPr>
          <a:xfrm>
            <a:off x="594360" y="5349240"/>
            <a:ext cx="749808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Un coleg calculează, altul reface independent. Răspundeți pe telefon, la codul afișat.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DATELE PASULUI 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Teleorman și Ilfov, 2023</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1600200"/>
          <a:ext cx="10972800" cy="914400"/>
        </p:xfrm>
        <a:graphic>
          <a:graphicData uri="http://schemas.openxmlformats.org/drawingml/2006/table">
            <a:tbl>
              <a:tblPr/>
              <a:tblGrid>
                <a:gridCol w="2377440"/>
                <a:gridCol w="1737360"/>
                <a:gridCol w="2834640"/>
                <a:gridCol w="1737360"/>
                <a:gridCol w="2286000"/>
              </a:tblGrid>
              <a:tr h="713232">
                <a:tc>
                  <a:txBody>
                    <a:bodyPr/>
                    <a:lstStyle/>
                    <a:p>
                      <a:pPr algn="l" indent="0" marL="0">
                        <a:buNone/>
                      </a:pPr>
                      <a:r>
                        <a:rPr lang="en-US" sz="1500" b="1" dirty="0">
                          <a:solidFill>
                            <a:srgbClr val="FFFFFF"/>
                          </a:solidFill>
                          <a:latin typeface="Palatino Linotype" pitchFamily="34" charset="0"/>
                          <a:ea typeface="Palatino Linotype" pitchFamily="34" charset="-122"/>
                          <a:cs typeface="Palatino Linotype" pitchFamily="34" charset="-120"/>
                        </a:rPr>
                        <a:t>Grupa de vârstă</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11121A"/>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Teleorman: decese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B02532"/>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Teleorman: populația medie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B02532"/>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Ilfov: decese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0E7C6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Ilfov: populația medie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0E7C6B"/>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0–14 ani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17</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41 821</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103 936,5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15–49 de ani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226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122 416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294</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294 901</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50–69 de ani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1 244</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92 795,5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1 286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126 620,5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70 de ani și peste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3 917</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59 730</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2 826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48 790</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Total</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5 404</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316 762,5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4 432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574 248</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bl>
          </a:graphicData>
        </a:graphic>
      </p:graphicFrame>
      <p:sp>
        <p:nvSpPr>
          <p:cNvPr id="5" name="Text 2"/>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Populația medie a anului 2023: media dintre 1 ianuarie 2023 și 1 ianuarie 2024. Sursa: Eurostat, demo_r_magec3 și demo_r_pjangrp3.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PARAMETRII DIN GBD 2023, PENTRU ROMÂNIA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se înmulțește cu ce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1600200"/>
          <a:ext cx="6309360" cy="914400"/>
        </p:xfrm>
        <a:graphic>
          <a:graphicData uri="http://schemas.openxmlformats.org/drawingml/2006/table">
            <a:tbl>
              <a:tblPr/>
              <a:tblGrid>
                <a:gridCol w="2194560"/>
                <a:gridCol w="2103120"/>
                <a:gridCol w="2011680"/>
              </a:tblGrid>
              <a:tr h="713232">
                <a:tc>
                  <a:txBody>
                    <a:bodyPr/>
                    <a:lstStyle/>
                    <a:p>
                      <a:pPr algn="l" indent="0" marL="0">
                        <a:buNone/>
                      </a:pPr>
                      <a:r>
                        <a:rPr lang="en-US" sz="1500" b="1" dirty="0">
                          <a:solidFill>
                            <a:srgbClr val="FFFFFF"/>
                          </a:solidFill>
                          <a:latin typeface="Palatino Linotype" pitchFamily="34" charset="0"/>
                          <a:ea typeface="Palatino Linotype" pitchFamily="34" charset="-122"/>
                          <a:cs typeface="Palatino Linotype" pitchFamily="34" charset="-120"/>
                        </a:rPr>
                        <a:t>Grupa de vârstă</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11121A"/>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Ani pierduți pentru un deces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B02532"/>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YLD la 1 000 de locuitori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0E7C6B"/>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0–14 ani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87,2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44,8</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15–49 de ani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49,2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103,6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50–69 de ani</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29,2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189,5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70 de ani și peste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13,3</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281,7</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bl>
          </a:graphicData>
        </a:graphic>
      </p:graphicFrame>
      <p:sp>
        <p:nvSpPr>
          <p:cNvPr id="5" name="Shape 2"/>
          <p:cNvSpPr/>
          <p:nvPr/>
        </p:nvSpPr>
        <p:spPr>
          <a:xfrm>
            <a:off x="7223760" y="1600200"/>
            <a:ext cx="4343400" cy="4160520"/>
          </a:xfrm>
          <a:prstGeom prst="roundRect">
            <a:avLst>
              <a:gd name="adj" fmla="val 1978"/>
            </a:avLst>
          </a:prstGeom>
          <a:solidFill>
            <a:srgbClr val="1D1F2B"/>
          </a:solidFill>
          <a:ln w="12700">
            <a:solidFill>
              <a:srgbClr val="1D1F2B"/>
            </a:solidFill>
            <a:prstDash val="solid"/>
          </a:ln>
        </p:spPr>
        <p:txBody>
          <a:bodyPr/>
          <a:p/>
        </p:txBody>
      </p:sp>
      <p:sp>
        <p:nvSpPr>
          <p:cNvPr id="6" name="Text 3"/>
          <p:cNvSpPr/>
          <p:nvPr/>
        </p:nvSpPr>
        <p:spPr>
          <a:xfrm>
            <a:off x="7498080" y="1737360"/>
            <a:ext cx="3840480" cy="411480"/>
          </a:xfrm>
          <a:prstGeom prst="rect">
            <a:avLst/>
          </a:prstGeom>
          <a:noFill/>
          <a:ln/>
        </p:spPr>
        <p:txBody>
          <a:bodyPr wrap="square" lIns="0" tIns="0" rIns="0" bIns="0" rtlCol="0" anchor="t"/>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Controlul metodei pe țară</a:t>
            </a:r>
            <a:endParaRPr lang="en-US" sz="1900" dirty="0"/>
          </a:p>
        </p:txBody>
      </p:sp>
      <p:sp>
        <p:nvSpPr>
          <p:cNvPr id="7" name="Text 4"/>
          <p:cNvSpPr/>
          <p:nvPr/>
        </p:nvSpPr>
        <p:spPr>
          <a:xfrm>
            <a:off x="7498080" y="2286000"/>
            <a:ext cx="3840480" cy="329184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Pe România: 7 556 558 DALY în 2023, adică 396,4 la 1 000 de locuitori. GBD publică 7 680 000; diferența vine din datele de intrare.</a:t>
            </a:r>
            <a:endParaRPr lang="en-US" sz="1600" dirty="0"/>
          </a:p>
        </p:txBody>
      </p:sp>
      <p:sp>
        <p:nvSpPr>
          <p:cNvPr id="8" name="Text 5"/>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România, toate cauzele, ambele sexe. Sursa: GBD 2023, IHME, 17.10.2026.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PASUL 4 · INTERPRETAREA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YLL așteptați și YLL calculați</a:t>
            </a:r>
            <a:endParaRPr lang="en-US" sz="3000" dirty="0"/>
          </a:p>
        </p:txBody>
      </p:sp>
      <p:sp>
        <p:nvSpPr>
          <p:cNvPr id="4" name="Shape 2"/>
          <p:cNvSpPr/>
          <p:nvPr/>
        </p:nvSpPr>
        <p:spPr>
          <a:xfrm>
            <a:off x="822960" y="2778375"/>
            <a:ext cx="1188720" cy="2342265"/>
          </a:xfrm>
          <a:prstGeom prst="rect">
            <a:avLst/>
          </a:prstGeom>
          <a:solidFill>
            <a:srgbClr val="B9B6AE"/>
          </a:solidFill>
          <a:ln w="12700">
            <a:solidFill>
              <a:srgbClr val="B9B6AE"/>
            </a:solidFill>
            <a:prstDash val="solid"/>
          </a:ln>
        </p:spPr>
        <p:txBody>
          <a:bodyPr/>
          <a:p/>
        </p:txBody>
      </p:sp>
      <p:sp>
        <p:nvSpPr>
          <p:cNvPr id="5" name="Text 3"/>
          <p:cNvSpPr/>
          <p:nvPr/>
        </p:nvSpPr>
        <p:spPr>
          <a:xfrm>
            <a:off x="640080" y="2412615"/>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98 695</a:t>
            </a:r>
            <a:endParaRPr lang="en-US" sz="1600" dirty="0"/>
          </a:p>
        </p:txBody>
      </p:sp>
      <p:sp>
        <p:nvSpPr>
          <p:cNvPr id="6" name="Text 4"/>
          <p:cNvSpPr/>
          <p:nvPr/>
        </p:nvSpPr>
        <p:spPr>
          <a:xfrm>
            <a:off x="64008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așteptați</a:t>
            </a:r>
            <a:endParaRPr lang="en-US" sz="1400" dirty="0"/>
          </a:p>
        </p:txBody>
      </p:sp>
      <p:sp>
        <p:nvSpPr>
          <p:cNvPr id="7" name="Shape 5"/>
          <p:cNvSpPr/>
          <p:nvPr/>
        </p:nvSpPr>
        <p:spPr>
          <a:xfrm>
            <a:off x="2194560" y="2730981"/>
            <a:ext cx="1188720" cy="2389659"/>
          </a:xfrm>
          <a:prstGeom prst="rect">
            <a:avLst/>
          </a:prstGeom>
          <a:solidFill>
            <a:srgbClr val="B02532"/>
          </a:solidFill>
          <a:ln w="12700">
            <a:solidFill>
              <a:srgbClr val="B02532"/>
            </a:solidFill>
            <a:prstDash val="solid"/>
          </a:ln>
        </p:spPr>
        <p:txBody>
          <a:bodyPr/>
          <a:p/>
        </p:txBody>
      </p:sp>
      <p:sp>
        <p:nvSpPr>
          <p:cNvPr id="8" name="Text 6"/>
          <p:cNvSpPr/>
          <p:nvPr/>
        </p:nvSpPr>
        <p:spPr>
          <a:xfrm>
            <a:off x="2011680" y="2365221"/>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100 692</a:t>
            </a:r>
            <a:endParaRPr lang="en-US" sz="1600" dirty="0"/>
          </a:p>
        </p:txBody>
      </p:sp>
      <p:sp>
        <p:nvSpPr>
          <p:cNvPr id="9" name="Text 7"/>
          <p:cNvSpPr/>
          <p:nvPr/>
        </p:nvSpPr>
        <p:spPr>
          <a:xfrm>
            <a:off x="201168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calculați</a:t>
            </a:r>
            <a:endParaRPr lang="en-US" sz="1400" dirty="0"/>
          </a:p>
        </p:txBody>
      </p:sp>
      <p:sp>
        <p:nvSpPr>
          <p:cNvPr id="10" name="Text 8"/>
          <p:cNvSpPr/>
          <p:nvPr/>
        </p:nvSpPr>
        <p:spPr>
          <a:xfrm>
            <a:off x="822960" y="5504688"/>
            <a:ext cx="2560320" cy="36576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Teleorman</a:t>
            </a:r>
            <a:endParaRPr lang="en-US" sz="1900" dirty="0"/>
          </a:p>
        </p:txBody>
      </p:sp>
      <p:sp>
        <p:nvSpPr>
          <p:cNvPr id="11" name="Shape 9"/>
          <p:cNvSpPr/>
          <p:nvPr/>
        </p:nvSpPr>
        <p:spPr>
          <a:xfrm>
            <a:off x="3840480" y="2377440"/>
            <a:ext cx="1188720" cy="2743200"/>
          </a:xfrm>
          <a:prstGeom prst="rect">
            <a:avLst/>
          </a:prstGeom>
          <a:solidFill>
            <a:srgbClr val="B9B6AE"/>
          </a:solidFill>
          <a:ln w="12700">
            <a:solidFill>
              <a:srgbClr val="B9B6AE"/>
            </a:solidFill>
            <a:prstDash val="solid"/>
          </a:ln>
        </p:spPr>
        <p:txBody>
          <a:bodyPr/>
          <a:p/>
        </p:txBody>
      </p:sp>
      <p:sp>
        <p:nvSpPr>
          <p:cNvPr id="12" name="Text 10"/>
          <p:cNvSpPr/>
          <p:nvPr/>
        </p:nvSpPr>
        <p:spPr>
          <a:xfrm>
            <a:off x="3657600" y="2011680"/>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115 589</a:t>
            </a:r>
            <a:endParaRPr lang="en-US" sz="1600" dirty="0"/>
          </a:p>
        </p:txBody>
      </p:sp>
      <p:sp>
        <p:nvSpPr>
          <p:cNvPr id="13" name="Text 11"/>
          <p:cNvSpPr/>
          <p:nvPr/>
        </p:nvSpPr>
        <p:spPr>
          <a:xfrm>
            <a:off x="365760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așteptați</a:t>
            </a:r>
            <a:endParaRPr lang="en-US" sz="1400" dirty="0"/>
          </a:p>
        </p:txBody>
      </p:sp>
      <p:sp>
        <p:nvSpPr>
          <p:cNvPr id="14" name="Shape 12"/>
          <p:cNvSpPr/>
          <p:nvPr/>
        </p:nvSpPr>
        <p:spPr>
          <a:xfrm>
            <a:off x="5212080" y="2933371"/>
            <a:ext cx="1188720" cy="2187269"/>
          </a:xfrm>
          <a:prstGeom prst="rect">
            <a:avLst/>
          </a:prstGeom>
          <a:solidFill>
            <a:srgbClr val="0E7C6B"/>
          </a:solidFill>
          <a:ln w="12700">
            <a:solidFill>
              <a:srgbClr val="0E7C6B"/>
            </a:solidFill>
            <a:prstDash val="solid"/>
          </a:ln>
        </p:spPr>
        <p:txBody>
          <a:bodyPr/>
          <a:p/>
        </p:txBody>
      </p:sp>
      <p:sp>
        <p:nvSpPr>
          <p:cNvPr id="15" name="Text 13"/>
          <p:cNvSpPr/>
          <p:nvPr/>
        </p:nvSpPr>
        <p:spPr>
          <a:xfrm>
            <a:off x="5029200" y="2567611"/>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92 164</a:t>
            </a:r>
            <a:endParaRPr lang="en-US" sz="1600" dirty="0"/>
          </a:p>
        </p:txBody>
      </p:sp>
      <p:sp>
        <p:nvSpPr>
          <p:cNvPr id="16" name="Text 14"/>
          <p:cNvSpPr/>
          <p:nvPr/>
        </p:nvSpPr>
        <p:spPr>
          <a:xfrm>
            <a:off x="502920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calculați</a:t>
            </a:r>
            <a:endParaRPr lang="en-US" sz="1400" dirty="0"/>
          </a:p>
        </p:txBody>
      </p:sp>
      <p:sp>
        <p:nvSpPr>
          <p:cNvPr id="17" name="Text 15"/>
          <p:cNvSpPr/>
          <p:nvPr/>
        </p:nvSpPr>
        <p:spPr>
          <a:xfrm>
            <a:off x="3840480" y="5504688"/>
            <a:ext cx="2560320" cy="36576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Ilfov</a:t>
            </a:r>
            <a:endParaRPr lang="en-US" sz="1900" dirty="0"/>
          </a:p>
        </p:txBody>
      </p:sp>
      <p:sp>
        <p:nvSpPr>
          <p:cNvPr id="18" name="Text 16"/>
          <p:cNvSpPr/>
          <p:nvPr/>
        </p:nvSpPr>
        <p:spPr>
          <a:xfrm>
            <a:off x="594360" y="5943600"/>
            <a:ext cx="6400800" cy="411480"/>
          </a:xfrm>
          <a:prstGeom prst="rect">
            <a:avLst/>
          </a:prstGeom>
          <a:noFill/>
          <a:ln/>
        </p:spPr>
        <p:txBody>
          <a:bodyPr wrap="square" lIns="0" tIns="0" rIns="0" bIns="0" rtlCol="0" anchor="t"/>
          <a:lstStyle/>
          <a:p>
            <a:pPr indent="0" marL="0">
              <a:buNone/>
            </a:pPr>
            <a:r>
              <a:rPr lang="en-US" sz="1300" dirty="0">
                <a:solidFill>
                  <a:srgbClr val="585A64"/>
                </a:solidFill>
                <a:latin typeface="Palatino Linotype" pitchFamily="34" charset="0"/>
                <a:ea typeface="Palatino Linotype" pitchFamily="34" charset="-122"/>
                <a:cs typeface="Palatino Linotype" pitchFamily="34" charset="-120"/>
              </a:rPr>
              <a:t>Așteptați: cu ratele de mortalitate pe vârste ale țării. Calculați: pe grupele de cinci ani.</a:t>
            </a:r>
            <a:endParaRPr lang="en-US" sz="1300" dirty="0"/>
          </a:p>
        </p:txBody>
      </p:sp>
      <p:sp>
        <p:nvSpPr>
          <p:cNvPr id="19" name="Shape 17"/>
          <p:cNvSpPr/>
          <p:nvPr/>
        </p:nvSpPr>
        <p:spPr>
          <a:xfrm>
            <a:off x="7223760" y="1600200"/>
            <a:ext cx="4343400" cy="4434840"/>
          </a:xfrm>
          <a:prstGeom prst="roundRect">
            <a:avLst>
              <a:gd name="adj" fmla="val 1895"/>
            </a:avLst>
          </a:prstGeom>
          <a:solidFill>
            <a:srgbClr val="1D1F2B"/>
          </a:solidFill>
          <a:ln w="12700">
            <a:solidFill>
              <a:srgbClr val="1D1F2B"/>
            </a:solidFill>
            <a:prstDash val="solid"/>
          </a:ln>
        </p:spPr>
        <p:txBody>
          <a:bodyPr/>
          <a:p/>
        </p:txBody>
      </p:sp>
      <p:sp>
        <p:nvSpPr>
          <p:cNvPr id="20" name="Text 18"/>
          <p:cNvSpPr/>
          <p:nvPr/>
        </p:nvSpPr>
        <p:spPr>
          <a:xfrm>
            <a:off x="7498080" y="1737360"/>
            <a:ext cx="3840480" cy="365760"/>
          </a:xfrm>
          <a:prstGeom prst="rect">
            <a:avLst/>
          </a:prstGeom>
          <a:noFill/>
          <a:ln/>
        </p:spPr>
        <p:txBody>
          <a:bodyPr wrap="square" lIns="0" tIns="0" rIns="0" bIns="0" rtlCol="0" anchor="t"/>
          <a:lstStyle/>
          <a:p>
            <a:pPr indent="0" marL="0">
              <a:buNone/>
            </a:pPr>
            <a:r>
              <a:rPr lang="en-US" sz="1500" b="1" dirty="0">
                <a:solidFill>
                  <a:srgbClr val="27D3BE"/>
                </a:solidFill>
                <a:latin typeface="Palatino Linotype" pitchFamily="34" charset="0"/>
                <a:ea typeface="Palatino Linotype" pitchFamily="34" charset="-122"/>
                <a:cs typeface="Palatino Linotype" pitchFamily="34" charset="-120"/>
              </a:rPr>
              <a:t>Rate brute la 1 000 de locuitori</a:t>
            </a:r>
            <a:endParaRPr lang="en-US" sz="1500" dirty="0"/>
          </a:p>
        </p:txBody>
      </p:sp>
      <p:sp>
        <p:nvSpPr>
          <p:cNvPr id="21" name="Text 19"/>
          <p:cNvSpPr/>
          <p:nvPr/>
        </p:nvSpPr>
        <p:spPr>
          <a:xfrm>
            <a:off x="7498080" y="2148840"/>
            <a:ext cx="3840480" cy="64008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Teleorman 473,5 · Ilfov 287,0 · țara 396,4</a:t>
            </a:r>
            <a:endParaRPr lang="en-US" sz="1700" dirty="0"/>
          </a:p>
        </p:txBody>
      </p:sp>
      <p:sp>
        <p:nvSpPr>
          <p:cNvPr id="22" name="Text 20"/>
          <p:cNvSpPr/>
          <p:nvPr/>
        </p:nvSpPr>
        <p:spPr>
          <a:xfrm>
            <a:off x="7498080" y="2788920"/>
            <a:ext cx="3840480" cy="502920"/>
          </a:xfrm>
          <a:prstGeom prst="rect">
            <a:avLst/>
          </a:prstGeom>
          <a:noFill/>
          <a:ln/>
        </p:spPr>
        <p:txBody>
          <a:bodyPr wrap="square" lIns="0" tIns="0" rIns="0" bIns="0" rtlCol="0" anchor="t"/>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Estimări proprii, calculate din ratele GBD ale țării.</a:t>
            </a:r>
            <a:endParaRPr lang="en-US" sz="1300" dirty="0"/>
          </a:p>
        </p:txBody>
      </p:sp>
      <p:sp>
        <p:nvSpPr>
          <p:cNvPr id="23" name="Text 21"/>
          <p:cNvSpPr/>
          <p:nvPr/>
        </p:nvSpPr>
        <p:spPr>
          <a:xfrm>
            <a:off x="7498080" y="3429000"/>
            <a:ext cx="3840480" cy="2468880"/>
          </a:xfrm>
          <a:prstGeom prst="rect">
            <a:avLst/>
          </a:prstGeom>
          <a:noFill/>
          <a:ln/>
        </p:spPr>
        <p:txBody>
          <a:bodyPr wrap="square" lIns="0" tIns="0" rIns="0" bIns="0" rtlCol="0" anchor="t"/>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Ce explică cel mai bine povara mai mare a Teleormanului? Unde ar merge banii pentru prevenție și de ce?</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092440" y="292608"/>
            <a:ext cx="34747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 ECHIPĂ · EXCEL</a:t>
            </a:r>
            <a:endParaRPr lang="en-US" sz="1300" dirty="0"/>
          </a:p>
        </p:txBody>
      </p:sp>
      <p:sp>
        <p:nvSpPr>
          <p:cNvPr id="4" name="Text 2"/>
          <p:cNvSpPr/>
          <p:nvPr/>
        </p:nvSpPr>
        <p:spPr>
          <a:xfrm>
            <a:off x="594360" y="347472"/>
            <a:ext cx="68580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POVARA BOLII ÎN JUDEȚUL VOSTRU</a:t>
            </a:r>
            <a:endParaRPr lang="en-US" sz="1300" dirty="0"/>
          </a:p>
        </p:txBody>
      </p:sp>
      <p:sp>
        <p:nvSpPr>
          <p:cNvPr id="5" name="Text 3"/>
          <p:cNvSpPr/>
          <p:nvPr/>
        </p:nvSpPr>
        <p:spPr>
          <a:xfrm>
            <a:off x="594360" y="777240"/>
            <a:ext cx="7498080" cy="8229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Același drum, cu fișierul echipei</a:t>
            </a:r>
            <a:endParaRPr lang="en-US" sz="3200" dirty="0"/>
          </a:p>
        </p:txBody>
      </p:sp>
      <p:sp>
        <p:nvSpPr>
          <p:cNvPr id="6" name="Shape 4"/>
          <p:cNvSpPr/>
          <p:nvPr/>
        </p:nvSpPr>
        <p:spPr>
          <a:xfrm>
            <a:off x="594360" y="18288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93392"/>
            <a:ext cx="420624" cy="420624"/>
          </a:xfrm>
          <a:prstGeom prst="ellipse">
            <a:avLst/>
          </a:prstGeom>
          <a:solidFill>
            <a:srgbClr val="FFC24B"/>
          </a:solidFill>
          <a:ln/>
        </p:spPr>
        <p:txBody>
          <a:bodyPr/>
          <a:p/>
        </p:txBody>
      </p:sp>
      <p:sp>
        <p:nvSpPr>
          <p:cNvPr id="8" name="Text 6"/>
          <p:cNvSpPr/>
          <p:nvPr/>
        </p:nvSpPr>
        <p:spPr>
          <a:xfrm>
            <a:off x="914400" y="19933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828800"/>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Foile „Decese” și „Populatie”: anul 2023, grupe de cinci ani.</a:t>
            </a:r>
            <a:endParaRPr lang="en-US" sz="1900" dirty="0"/>
          </a:p>
        </p:txBody>
      </p:sp>
      <p:sp>
        <p:nvSpPr>
          <p:cNvPr id="10" name="Shape 8"/>
          <p:cNvSpPr/>
          <p:nvPr/>
        </p:nvSpPr>
        <p:spPr>
          <a:xfrm>
            <a:off x="594360" y="2724912"/>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89504"/>
            <a:ext cx="420624" cy="420624"/>
          </a:xfrm>
          <a:prstGeom prst="ellipse">
            <a:avLst/>
          </a:prstGeom>
          <a:solidFill>
            <a:srgbClr val="FFC24B"/>
          </a:solidFill>
          <a:ln/>
        </p:spPr>
        <p:txBody>
          <a:bodyPr/>
          <a:p/>
        </p:txBody>
      </p:sp>
      <p:sp>
        <p:nvSpPr>
          <p:cNvPr id="12" name="Text 10"/>
          <p:cNvSpPr/>
          <p:nvPr/>
        </p:nvSpPr>
        <p:spPr>
          <a:xfrm>
            <a:off x="914400" y="28895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724912"/>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YLL, YLD și DALY, cu parametrii pe grupe de cinci ani.</a:t>
            </a:r>
            <a:endParaRPr lang="en-US" sz="1900" dirty="0"/>
          </a:p>
        </p:txBody>
      </p:sp>
      <p:sp>
        <p:nvSpPr>
          <p:cNvPr id="14" name="Shape 12"/>
          <p:cNvSpPr/>
          <p:nvPr/>
        </p:nvSpPr>
        <p:spPr>
          <a:xfrm>
            <a:off x="594360" y="3621024"/>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85616"/>
            <a:ext cx="420624" cy="420624"/>
          </a:xfrm>
          <a:prstGeom prst="ellipse">
            <a:avLst/>
          </a:prstGeom>
          <a:solidFill>
            <a:srgbClr val="FFC24B"/>
          </a:solidFill>
          <a:ln/>
        </p:spPr>
        <p:txBody>
          <a:bodyPr/>
          <a:p/>
        </p:txBody>
      </p:sp>
      <p:sp>
        <p:nvSpPr>
          <p:cNvPr id="16" name="Text 14"/>
          <p:cNvSpPr/>
          <p:nvPr/>
        </p:nvSpPr>
        <p:spPr>
          <a:xfrm>
            <a:off x="914400" y="37856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621024"/>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DALY la 1 000 de locuitori și ponderea YLL în DALY.</a:t>
            </a:r>
            <a:endParaRPr lang="en-US" sz="1900" dirty="0"/>
          </a:p>
        </p:txBody>
      </p:sp>
      <p:sp>
        <p:nvSpPr>
          <p:cNvPr id="18" name="Shape 16"/>
          <p:cNvSpPr/>
          <p:nvPr/>
        </p:nvSpPr>
        <p:spPr>
          <a:xfrm>
            <a:off x="594360" y="4517136"/>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81728"/>
            <a:ext cx="420624" cy="420624"/>
          </a:xfrm>
          <a:prstGeom prst="ellipse">
            <a:avLst/>
          </a:prstGeom>
          <a:solidFill>
            <a:srgbClr val="FFC24B"/>
          </a:solidFill>
          <a:ln/>
        </p:spPr>
        <p:txBody>
          <a:bodyPr/>
          <a:p/>
        </p:txBody>
      </p:sp>
      <p:sp>
        <p:nvSpPr>
          <p:cNvPr id="20" name="Text 18"/>
          <p:cNvSpPr/>
          <p:nvPr/>
        </p:nvSpPr>
        <p:spPr>
          <a:xfrm>
            <a:off x="914400" y="4681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517136"/>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Controlul metodei: aplicați foaia mai întâi Teleormanului și comparați cu valoarea din pagina de lucru.</a:t>
            </a:r>
            <a:endParaRPr lang="en-US" sz="1900" dirty="0"/>
          </a:p>
        </p:txBody>
      </p:sp>
      <p:sp>
        <p:nvSpPr>
          <p:cNvPr id="22" name="Text 20"/>
          <p:cNvSpPr/>
          <p:nvPr/>
        </p:nvSpPr>
        <p:spPr>
          <a:xfrm>
            <a:off x="594360" y="5577840"/>
            <a:ext cx="10972800" cy="45720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Cifra județului este o estimare proprie, calculată din ratele GBD ale țării.</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 ECHIPĂ · VOT</a:t>
            </a:r>
            <a:endParaRPr lang="en-US" sz="1300" dirty="0"/>
          </a:p>
        </p:txBody>
      </p:sp>
      <p:sp>
        <p:nvSpPr>
          <p:cNvPr id="4" name="Text 2"/>
          <p:cNvSpPr/>
          <p:nvPr/>
        </p:nvSpPr>
        <p:spPr>
          <a:xfrm>
            <a:off x="594360" y="347472"/>
            <a:ext cx="68580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SCHIȚA INFOGRAFICULUI</a:t>
            </a:r>
            <a:endParaRPr lang="en-US" sz="1300" dirty="0"/>
          </a:p>
        </p:txBody>
      </p:sp>
      <p:sp>
        <p:nvSpPr>
          <p:cNvPr id="5" name="Text 3"/>
          <p:cNvSpPr/>
          <p:nvPr/>
        </p:nvSpPr>
        <p:spPr>
          <a:xfrm>
            <a:off x="594360" y="731520"/>
            <a:ext cx="7315200" cy="7315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O pagină, cinci elemente</a:t>
            </a:r>
            <a:endParaRPr lang="en-US" sz="3000" dirty="0"/>
          </a:p>
        </p:txBody>
      </p:sp>
      <p:sp>
        <p:nvSpPr>
          <p:cNvPr id="6" name="Shape 4"/>
          <p:cNvSpPr/>
          <p:nvPr/>
        </p:nvSpPr>
        <p:spPr>
          <a:xfrm>
            <a:off x="594360" y="1600200"/>
            <a:ext cx="5486400" cy="4480560"/>
          </a:xfrm>
          <a:prstGeom prst="roundRect">
            <a:avLst>
              <a:gd name="adj" fmla="val 1837"/>
            </a:avLst>
          </a:prstGeom>
          <a:solidFill>
            <a:srgbClr val="FFFFFF"/>
          </a:solidFill>
          <a:ln w="19050">
            <a:solidFill>
              <a:srgbClr val="C9C6BE"/>
            </a:solidFill>
            <a:prstDash val="solid"/>
          </a:ln>
        </p:spPr>
        <p:txBody>
          <a:bodyPr/>
          <a:p/>
        </p:txBody>
      </p:sp>
      <p:sp>
        <p:nvSpPr>
          <p:cNvPr id="7" name="Shape 5"/>
          <p:cNvSpPr/>
          <p:nvPr/>
        </p:nvSpPr>
        <p:spPr>
          <a:xfrm>
            <a:off x="594360" y="1600200"/>
            <a:ext cx="5486400" cy="548640"/>
          </a:xfrm>
          <a:prstGeom prst="rect">
            <a:avLst/>
          </a:prstGeom>
          <a:solidFill>
            <a:srgbClr val="11121A"/>
          </a:solidFill>
          <a:ln w="12700">
            <a:solidFill>
              <a:srgbClr val="11121A"/>
            </a:solidFill>
            <a:prstDash val="solid"/>
          </a:ln>
        </p:spPr>
        <p:txBody>
          <a:bodyPr/>
          <a:p/>
        </p:txBody>
      </p:sp>
      <p:sp>
        <p:nvSpPr>
          <p:cNvPr id="8" name="Text 6"/>
          <p:cNvSpPr/>
          <p:nvPr/>
        </p:nvSpPr>
        <p:spPr>
          <a:xfrm>
            <a:off x="822960" y="1600200"/>
            <a:ext cx="5029200" cy="54864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Povara bolii în județul ..., 2023</a:t>
            </a:r>
            <a:endParaRPr lang="en-US" sz="1700" dirty="0"/>
          </a:p>
        </p:txBody>
      </p:sp>
      <p:sp>
        <p:nvSpPr>
          <p:cNvPr id="9" name="Text 7"/>
          <p:cNvSpPr/>
          <p:nvPr/>
        </p:nvSpPr>
        <p:spPr>
          <a:xfrm>
            <a:off x="822960" y="2286000"/>
            <a:ext cx="5029200" cy="640080"/>
          </a:xfrm>
          <a:prstGeom prst="rect">
            <a:avLst/>
          </a:prstGeom>
          <a:noFill/>
          <a:ln/>
        </p:spPr>
        <p:txBody>
          <a:bodyPr wrap="square" lIns="0" tIns="0" rIns="0" bIns="0" rtlCol="0" anchor="ctr"/>
          <a:lstStyle/>
          <a:p>
            <a:pPr indent="0" marL="0">
              <a:buNone/>
            </a:pPr>
            <a:r>
              <a:rPr lang="en-US" sz="3000" b="1" dirty="0">
                <a:solidFill>
                  <a:srgbClr val="B02532"/>
                </a:solidFill>
                <a:latin typeface="Palatino Linotype" pitchFamily="34" charset="0"/>
                <a:ea typeface="Palatino Linotype" pitchFamily="34" charset="-122"/>
                <a:cs typeface="Palatino Linotype" pitchFamily="34" charset="-120"/>
              </a:rPr>
              <a:t>[cifra județului]</a:t>
            </a:r>
            <a:endParaRPr lang="en-US" sz="3000" dirty="0"/>
          </a:p>
        </p:txBody>
      </p:sp>
      <p:sp>
        <p:nvSpPr>
          <p:cNvPr id="10" name="Text 8"/>
          <p:cNvSpPr/>
          <p:nvPr/>
        </p:nvSpPr>
        <p:spPr>
          <a:xfrm>
            <a:off x="822960" y="2926080"/>
            <a:ext cx="5029200" cy="320040"/>
          </a:xfrm>
          <a:prstGeom prst="rect">
            <a:avLst/>
          </a:prstGeom>
          <a:noFill/>
          <a:ln/>
        </p:spPr>
        <p:txBody>
          <a:bodyPr wrap="square" lIns="0" tIns="0" rIns="0" bIns="0" rtlCol="0" anchor="t"/>
          <a:lstStyle/>
          <a:p>
            <a:pPr indent="0" marL="0">
              <a:buNone/>
            </a:pPr>
            <a:r>
              <a:rPr lang="en-US" sz="1300" b="1" dirty="0">
                <a:solidFill>
                  <a:srgbClr val="8A6100"/>
                </a:solidFill>
                <a:latin typeface="Palatino Linotype" pitchFamily="34" charset="0"/>
                <a:ea typeface="Palatino Linotype" pitchFamily="34" charset="-122"/>
                <a:cs typeface="Palatino Linotype" pitchFamily="34" charset="-120"/>
              </a:rPr>
              <a:t>estimare proprie, calculată din ratele GBD ale țării</a:t>
            </a:r>
            <a:endParaRPr lang="en-US" sz="1300" dirty="0"/>
          </a:p>
        </p:txBody>
      </p:sp>
      <p:sp>
        <p:nvSpPr>
          <p:cNvPr id="11" name="Shape 9"/>
          <p:cNvSpPr/>
          <p:nvPr/>
        </p:nvSpPr>
        <p:spPr>
          <a:xfrm>
            <a:off x="822960" y="3383280"/>
            <a:ext cx="5029200" cy="13716"/>
          </a:xfrm>
          <a:prstGeom prst="rect">
            <a:avLst/>
          </a:prstGeom>
          <a:solidFill>
            <a:srgbClr val="C9C6BE"/>
          </a:solidFill>
          <a:ln w="12700">
            <a:solidFill>
              <a:srgbClr val="C9C6BE"/>
            </a:solidFill>
            <a:prstDash val="solid"/>
          </a:ln>
        </p:spPr>
        <p:txBody>
          <a:bodyPr/>
          <a:p/>
        </p:txBody>
      </p:sp>
      <p:sp>
        <p:nvSpPr>
          <p:cNvPr id="12" name="Text 10"/>
          <p:cNvSpPr/>
          <p:nvPr/>
        </p:nvSpPr>
        <p:spPr>
          <a:xfrm>
            <a:off x="822960" y="3474720"/>
            <a:ext cx="5029200" cy="41148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Comparația cu țara și cu Uniunea Europeană</a:t>
            </a:r>
            <a:endParaRPr lang="en-US" sz="1400" dirty="0"/>
          </a:p>
        </p:txBody>
      </p:sp>
      <p:sp>
        <p:nvSpPr>
          <p:cNvPr id="13" name="Shape 11"/>
          <p:cNvSpPr/>
          <p:nvPr/>
        </p:nvSpPr>
        <p:spPr>
          <a:xfrm>
            <a:off x="822960" y="3977640"/>
            <a:ext cx="5029200" cy="13716"/>
          </a:xfrm>
          <a:prstGeom prst="rect">
            <a:avLst/>
          </a:prstGeom>
          <a:solidFill>
            <a:srgbClr val="C9C6BE"/>
          </a:solidFill>
          <a:ln w="12700">
            <a:solidFill>
              <a:srgbClr val="C9C6BE"/>
            </a:solidFill>
            <a:prstDash val="solid"/>
          </a:ln>
        </p:spPr>
        <p:txBody>
          <a:bodyPr/>
          <a:p/>
        </p:txBody>
      </p:sp>
      <p:sp>
        <p:nvSpPr>
          <p:cNvPr id="14" name="Text 12"/>
          <p:cNvSpPr/>
          <p:nvPr/>
        </p:nvSpPr>
        <p:spPr>
          <a:xfrm>
            <a:off x="822960" y="4069080"/>
            <a:ext cx="5029200" cy="41148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Primele cinci cauze ale României: date naționale</a:t>
            </a:r>
            <a:endParaRPr lang="en-US" sz="1400" dirty="0"/>
          </a:p>
        </p:txBody>
      </p:sp>
      <p:sp>
        <p:nvSpPr>
          <p:cNvPr id="15" name="Shape 13"/>
          <p:cNvSpPr/>
          <p:nvPr/>
        </p:nvSpPr>
        <p:spPr>
          <a:xfrm>
            <a:off x="822960" y="4572000"/>
            <a:ext cx="5029200" cy="13716"/>
          </a:xfrm>
          <a:prstGeom prst="rect">
            <a:avLst/>
          </a:prstGeom>
          <a:solidFill>
            <a:srgbClr val="C9C6BE"/>
          </a:solidFill>
          <a:ln w="12700">
            <a:solidFill>
              <a:srgbClr val="C9C6BE"/>
            </a:solidFill>
            <a:prstDash val="solid"/>
          </a:ln>
        </p:spPr>
        <p:txBody>
          <a:bodyPr/>
          <a:p/>
        </p:txBody>
      </p:sp>
      <p:sp>
        <p:nvSpPr>
          <p:cNvPr id="16" name="Text 14"/>
          <p:cNvSpPr/>
          <p:nvPr/>
        </p:nvSpPr>
        <p:spPr>
          <a:xfrm>
            <a:off x="822960" y="4663440"/>
            <a:ext cx="5029200" cy="411480"/>
          </a:xfrm>
          <a:prstGeom prst="rect">
            <a:avLst/>
          </a:prstGeom>
          <a:noFill/>
          <a:ln/>
        </p:spPr>
        <p:txBody>
          <a:bodyPr wrap="square" lIns="0" tIns="0" rIns="0" bIns="0" rtlCol="0" anchor="ctr"/>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Surse: GBD 2023, IHME; Eurostat</a:t>
            </a:r>
            <a:endParaRPr lang="en-US" sz="1300" dirty="0"/>
          </a:p>
        </p:txBody>
      </p:sp>
      <p:sp>
        <p:nvSpPr>
          <p:cNvPr id="17" name="Shape 15"/>
          <p:cNvSpPr/>
          <p:nvPr/>
        </p:nvSpPr>
        <p:spPr>
          <a:xfrm>
            <a:off x="6400800" y="1600200"/>
            <a:ext cx="5166360" cy="804672"/>
          </a:xfrm>
          <a:prstGeom prst="roundRect">
            <a:avLst>
              <a:gd name="adj" fmla="val 10227"/>
            </a:avLst>
          </a:prstGeom>
          <a:solidFill>
            <a:srgbClr val="ECEAE4"/>
          </a:solidFill>
          <a:ln w="12700">
            <a:solidFill>
              <a:srgbClr val="ECEAE4"/>
            </a:solidFill>
            <a:prstDash val="solid"/>
          </a:ln>
        </p:spPr>
        <p:txBody>
          <a:bodyPr/>
          <a:p/>
        </p:txBody>
      </p:sp>
      <p:sp>
        <p:nvSpPr>
          <p:cNvPr id="18" name="Text 16"/>
          <p:cNvSpPr/>
          <p:nvPr/>
        </p:nvSpPr>
        <p:spPr>
          <a:xfrm>
            <a:off x="6629400" y="1600200"/>
            <a:ext cx="640080" cy="804672"/>
          </a:xfrm>
          <a:prstGeom prst="rect">
            <a:avLst/>
          </a:prstGeom>
          <a:noFill/>
          <a:ln/>
        </p:spPr>
        <p:txBody>
          <a:bodyPr wrap="square" lIns="0" tIns="0" rIns="0" bIns="0" rtlCol="0" anchor="ctr"/>
          <a:lstStyle/>
          <a:p>
            <a:pPr indent="0" marL="0">
              <a:buNone/>
            </a:pPr>
            <a:r>
              <a:rPr lang="en-US" sz="3400" b="1" dirty="0">
                <a:solidFill>
                  <a:srgbClr val="B02532"/>
                </a:solidFill>
                <a:latin typeface="Palatino Linotype" pitchFamily="34" charset="0"/>
                <a:ea typeface="Palatino Linotype" pitchFamily="34" charset="-122"/>
                <a:cs typeface="Palatino Linotype" pitchFamily="34" charset="-120"/>
              </a:rPr>
              <a:t>4</a:t>
            </a:r>
            <a:endParaRPr lang="en-US" sz="3400" dirty="0"/>
          </a:p>
        </p:txBody>
      </p:sp>
      <p:sp>
        <p:nvSpPr>
          <p:cNvPr id="19" name="Text 17"/>
          <p:cNvSpPr/>
          <p:nvPr/>
        </p:nvSpPr>
        <p:spPr>
          <a:xfrm>
            <a:off x="7360920" y="1600200"/>
            <a:ext cx="4114800" cy="80467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corectitudinea datelor, inclusiv marcarea cifrei județului</a:t>
            </a:r>
            <a:endParaRPr lang="en-US" sz="1600" dirty="0"/>
          </a:p>
        </p:txBody>
      </p:sp>
      <p:sp>
        <p:nvSpPr>
          <p:cNvPr id="20" name="Shape 18"/>
          <p:cNvSpPr/>
          <p:nvPr/>
        </p:nvSpPr>
        <p:spPr>
          <a:xfrm>
            <a:off x="6400800" y="2514600"/>
            <a:ext cx="5166360" cy="804672"/>
          </a:xfrm>
          <a:prstGeom prst="roundRect">
            <a:avLst>
              <a:gd name="adj" fmla="val 10227"/>
            </a:avLst>
          </a:prstGeom>
          <a:solidFill>
            <a:srgbClr val="ECEAE4"/>
          </a:solidFill>
          <a:ln w="12700">
            <a:solidFill>
              <a:srgbClr val="ECEAE4"/>
            </a:solidFill>
            <a:prstDash val="solid"/>
          </a:ln>
        </p:spPr>
        <p:txBody>
          <a:bodyPr/>
          <a:p/>
        </p:txBody>
      </p:sp>
      <p:sp>
        <p:nvSpPr>
          <p:cNvPr id="21" name="Text 19"/>
          <p:cNvSpPr/>
          <p:nvPr/>
        </p:nvSpPr>
        <p:spPr>
          <a:xfrm>
            <a:off x="6629400" y="2514600"/>
            <a:ext cx="640080" cy="804672"/>
          </a:xfrm>
          <a:prstGeom prst="rect">
            <a:avLst/>
          </a:prstGeom>
          <a:noFill/>
          <a:ln/>
        </p:spPr>
        <p:txBody>
          <a:bodyPr wrap="square" lIns="0" tIns="0" rIns="0" bIns="0" rtlCol="0" anchor="ctr"/>
          <a:lstStyle/>
          <a:p>
            <a:pPr indent="0" marL="0">
              <a:buNone/>
            </a:pPr>
            <a:r>
              <a:rPr lang="en-US" sz="3400" b="1" dirty="0">
                <a:solidFill>
                  <a:srgbClr val="0E7C6B"/>
                </a:solidFill>
                <a:latin typeface="Palatino Linotype" pitchFamily="34" charset="0"/>
                <a:ea typeface="Palatino Linotype" pitchFamily="34" charset="-122"/>
                <a:cs typeface="Palatino Linotype" pitchFamily="34" charset="-120"/>
              </a:rPr>
              <a:t>4</a:t>
            </a:r>
            <a:endParaRPr lang="en-US" sz="3400" dirty="0"/>
          </a:p>
        </p:txBody>
      </p:sp>
      <p:sp>
        <p:nvSpPr>
          <p:cNvPr id="22" name="Text 20"/>
          <p:cNvSpPr/>
          <p:nvPr/>
        </p:nvSpPr>
        <p:spPr>
          <a:xfrm>
            <a:off x="7360920" y="2514600"/>
            <a:ext cx="4114800" cy="80467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claritatea vizuală</a:t>
            </a:r>
            <a:endParaRPr lang="en-US" sz="1600" dirty="0"/>
          </a:p>
        </p:txBody>
      </p:sp>
      <p:sp>
        <p:nvSpPr>
          <p:cNvPr id="23" name="Shape 21"/>
          <p:cNvSpPr/>
          <p:nvPr/>
        </p:nvSpPr>
        <p:spPr>
          <a:xfrm>
            <a:off x="6400800" y="3429000"/>
            <a:ext cx="5166360" cy="804672"/>
          </a:xfrm>
          <a:prstGeom prst="roundRect">
            <a:avLst>
              <a:gd name="adj" fmla="val 10227"/>
            </a:avLst>
          </a:prstGeom>
          <a:solidFill>
            <a:srgbClr val="ECEAE4"/>
          </a:solidFill>
          <a:ln w="12700">
            <a:solidFill>
              <a:srgbClr val="ECEAE4"/>
            </a:solidFill>
            <a:prstDash val="solid"/>
          </a:ln>
        </p:spPr>
        <p:txBody>
          <a:bodyPr/>
          <a:p/>
        </p:txBody>
      </p:sp>
      <p:sp>
        <p:nvSpPr>
          <p:cNvPr id="24" name="Text 22"/>
          <p:cNvSpPr/>
          <p:nvPr/>
        </p:nvSpPr>
        <p:spPr>
          <a:xfrm>
            <a:off x="6629400" y="3429000"/>
            <a:ext cx="640080" cy="804672"/>
          </a:xfrm>
          <a:prstGeom prst="rect">
            <a:avLst/>
          </a:prstGeom>
          <a:noFill/>
          <a:ln/>
        </p:spPr>
        <p:txBody>
          <a:bodyPr wrap="square" lIns="0" tIns="0" rIns="0" bIns="0" rtlCol="0" anchor="ctr"/>
          <a:lstStyle/>
          <a:p>
            <a:pPr indent="0" marL="0">
              <a:buNone/>
            </a:pPr>
            <a:r>
              <a:rPr lang="en-US" sz="3400" b="1" dirty="0">
                <a:solidFill>
                  <a:srgbClr val="4A2D8C"/>
                </a:solidFill>
                <a:latin typeface="Palatino Linotype" pitchFamily="34" charset="0"/>
                <a:ea typeface="Palatino Linotype" pitchFamily="34" charset="-122"/>
                <a:cs typeface="Palatino Linotype" pitchFamily="34" charset="-120"/>
              </a:rPr>
              <a:t>2</a:t>
            </a:r>
            <a:endParaRPr lang="en-US" sz="3400" dirty="0"/>
          </a:p>
        </p:txBody>
      </p:sp>
      <p:sp>
        <p:nvSpPr>
          <p:cNvPr id="25" name="Text 23"/>
          <p:cNvSpPr/>
          <p:nvPr/>
        </p:nvSpPr>
        <p:spPr>
          <a:xfrm>
            <a:off x="7360920" y="3429000"/>
            <a:ext cx="4114800" cy="80467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sursele citate</a:t>
            </a:r>
            <a:endParaRPr lang="en-US" sz="1600" dirty="0"/>
          </a:p>
        </p:txBody>
      </p:sp>
      <p:sp>
        <p:nvSpPr>
          <p:cNvPr id="26" name="Shape 24"/>
          <p:cNvSpPr/>
          <p:nvPr/>
        </p:nvSpPr>
        <p:spPr>
          <a:xfrm>
            <a:off x="6400800" y="4434840"/>
            <a:ext cx="5166360" cy="1645920"/>
          </a:xfrm>
          <a:prstGeom prst="roundRect">
            <a:avLst>
              <a:gd name="adj" fmla="val 5000"/>
            </a:avLst>
          </a:prstGeom>
          <a:solidFill>
            <a:srgbClr val="1D1F2B"/>
          </a:solidFill>
          <a:ln w="12700">
            <a:solidFill>
              <a:srgbClr val="1D1F2B"/>
            </a:solidFill>
            <a:prstDash val="solid"/>
          </a:ln>
        </p:spPr>
        <p:txBody>
          <a:bodyPr/>
          <a:p/>
        </p:txBody>
      </p:sp>
      <p:sp>
        <p:nvSpPr>
          <p:cNvPr id="27" name="Text 25"/>
          <p:cNvSpPr/>
          <p:nvPr/>
        </p:nvSpPr>
        <p:spPr>
          <a:xfrm>
            <a:off x="6629400" y="4434840"/>
            <a:ext cx="4709160" cy="164592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Două sau trei echipe își arată schița. Grupa votează, prin ridicarea mâinii, schița care se înțelege cel mai repede.</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ACASĂ, ÎN CEL MULT DOUĂ ZILE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Povara bolii în județul vostru</a:t>
            </a:r>
            <a:endParaRPr lang="en-US" sz="3000" dirty="0"/>
          </a:p>
        </p:txBody>
      </p:sp>
      <p:sp>
        <p:nvSpPr>
          <p:cNvPr id="4" name="Shape 2"/>
          <p:cNvSpPr/>
          <p:nvPr/>
        </p:nvSpPr>
        <p:spPr>
          <a:xfrm>
            <a:off x="594360" y="1554480"/>
            <a:ext cx="10972800" cy="868680"/>
          </a:xfrm>
          <a:prstGeom prst="roundRect">
            <a:avLst>
              <a:gd name="adj" fmla="val 9474"/>
            </a:avLst>
          </a:prstGeom>
          <a:solidFill>
            <a:srgbClr val="1D1F2B"/>
          </a:solidFill>
          <a:ln w="12700">
            <a:solidFill>
              <a:srgbClr val="1D1F2B"/>
            </a:solidFill>
            <a:prstDash val="solid"/>
          </a:ln>
        </p:spPr>
        <p:txBody>
          <a:bodyPr/>
          <a:p/>
        </p:txBody>
      </p:sp>
      <p:sp>
        <p:nvSpPr>
          <p:cNvPr id="5" name="Text 3"/>
          <p:cNvSpPr/>
          <p:nvPr/>
        </p:nvSpPr>
        <p:spPr>
          <a:xfrm>
            <a:off x="868680" y="1554480"/>
            <a:ext cx="10424160" cy="86868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Sinteză, prin rotație: </a:t>
            </a:r>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 cifră ați pune pe prima pagină și ce prioritate decurge din ea?</a:t>
            </a:r>
            <a:endParaRPr lang="en-US" sz="1800" dirty="0"/>
          </a:p>
        </p:txBody>
      </p:sp>
      <p:sp>
        <p:nvSpPr>
          <p:cNvPr id="6" name="Shape 4"/>
          <p:cNvSpPr/>
          <p:nvPr/>
        </p:nvSpPr>
        <p:spPr>
          <a:xfrm>
            <a:off x="594360" y="2606040"/>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7" name="Shape 5"/>
          <p:cNvSpPr/>
          <p:nvPr/>
        </p:nvSpPr>
        <p:spPr>
          <a:xfrm>
            <a:off x="868680" y="2715768"/>
            <a:ext cx="420624" cy="420624"/>
          </a:xfrm>
          <a:prstGeom prst="ellipse">
            <a:avLst/>
          </a:prstGeom>
          <a:solidFill>
            <a:srgbClr val="FF4757"/>
          </a:solidFill>
          <a:ln/>
        </p:spPr>
        <p:txBody>
          <a:bodyPr/>
          <a:p/>
        </p:txBody>
      </p:sp>
      <p:sp>
        <p:nvSpPr>
          <p:cNvPr id="8" name="Text 6"/>
          <p:cNvSpPr/>
          <p:nvPr/>
        </p:nvSpPr>
        <p:spPr>
          <a:xfrm>
            <a:off x="868680" y="271576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08760" y="260604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YLL, YLD și DALY ale județului, pe grupele de cinci ani, pentru 2023.</a:t>
            </a:r>
            <a:endParaRPr lang="en-US" sz="1600" dirty="0"/>
          </a:p>
        </p:txBody>
      </p:sp>
      <p:sp>
        <p:nvSpPr>
          <p:cNvPr id="10" name="Shape 8"/>
          <p:cNvSpPr/>
          <p:nvPr/>
        </p:nvSpPr>
        <p:spPr>
          <a:xfrm>
            <a:off x="594360" y="3337560"/>
            <a:ext cx="10972800" cy="640080"/>
          </a:xfrm>
          <a:prstGeom prst="roundRect">
            <a:avLst>
              <a:gd name="adj" fmla="val 12857"/>
            </a:avLst>
          </a:prstGeom>
          <a:solidFill>
            <a:srgbClr val="F9F8F5"/>
          </a:solidFill>
          <a:ln w="12700">
            <a:solidFill>
              <a:srgbClr val="F9F8F5"/>
            </a:solidFill>
            <a:prstDash val="solid"/>
          </a:ln>
        </p:spPr>
        <p:txBody>
          <a:bodyPr/>
          <a:p/>
        </p:txBody>
      </p:sp>
      <p:sp>
        <p:nvSpPr>
          <p:cNvPr id="11" name="Shape 9"/>
          <p:cNvSpPr/>
          <p:nvPr/>
        </p:nvSpPr>
        <p:spPr>
          <a:xfrm>
            <a:off x="868680" y="3447288"/>
            <a:ext cx="420624" cy="420624"/>
          </a:xfrm>
          <a:prstGeom prst="ellipse">
            <a:avLst/>
          </a:prstGeom>
          <a:solidFill>
            <a:srgbClr val="FF4757"/>
          </a:solidFill>
          <a:ln/>
        </p:spPr>
        <p:txBody>
          <a:bodyPr/>
          <a:p/>
        </p:txBody>
      </p:sp>
      <p:sp>
        <p:nvSpPr>
          <p:cNvPr id="12" name="Text 10"/>
          <p:cNvSpPr/>
          <p:nvPr/>
        </p:nvSpPr>
        <p:spPr>
          <a:xfrm>
            <a:off x="868680" y="344728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333756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DALY la 1 000 de locuitori și ponderea YLL, comparate cu Teleorman (473,2), Ilfov (287,8) și țara (397,0).</a:t>
            </a:r>
            <a:endParaRPr lang="en-US" sz="1600" dirty="0"/>
          </a:p>
        </p:txBody>
      </p:sp>
      <p:sp>
        <p:nvSpPr>
          <p:cNvPr id="14" name="Shape 12"/>
          <p:cNvSpPr/>
          <p:nvPr/>
        </p:nvSpPr>
        <p:spPr>
          <a:xfrm>
            <a:off x="594360" y="4069080"/>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15" name="Shape 13"/>
          <p:cNvSpPr/>
          <p:nvPr/>
        </p:nvSpPr>
        <p:spPr>
          <a:xfrm>
            <a:off x="868680" y="4178808"/>
            <a:ext cx="420624" cy="420624"/>
          </a:xfrm>
          <a:prstGeom prst="ellipse">
            <a:avLst/>
          </a:prstGeom>
          <a:solidFill>
            <a:srgbClr val="FF4757"/>
          </a:solidFill>
          <a:ln/>
        </p:spPr>
        <p:txBody>
          <a:bodyPr/>
          <a:p/>
        </p:txBody>
      </p:sp>
      <p:sp>
        <p:nvSpPr>
          <p:cNvPr id="16" name="Text 14"/>
          <p:cNvSpPr/>
          <p:nvPr/>
        </p:nvSpPr>
        <p:spPr>
          <a:xfrm>
            <a:off x="868680" y="417880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508760" y="406908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Infograficul, PDF sau PNG: cifra județului marcată ca estimare proprie, primele cinci cauze ca naționale.</a:t>
            </a:r>
            <a:endParaRPr lang="en-US" sz="1600" dirty="0"/>
          </a:p>
        </p:txBody>
      </p:sp>
      <p:sp>
        <p:nvSpPr>
          <p:cNvPr id="18" name="Shape 16"/>
          <p:cNvSpPr/>
          <p:nvPr/>
        </p:nvSpPr>
        <p:spPr>
          <a:xfrm>
            <a:off x="594360" y="4800600"/>
            <a:ext cx="10972800" cy="640080"/>
          </a:xfrm>
          <a:prstGeom prst="roundRect">
            <a:avLst>
              <a:gd name="adj" fmla="val 12857"/>
            </a:avLst>
          </a:prstGeom>
          <a:solidFill>
            <a:srgbClr val="F9F8F5"/>
          </a:solidFill>
          <a:ln w="12700">
            <a:solidFill>
              <a:srgbClr val="F9F8F5"/>
            </a:solidFill>
            <a:prstDash val="solid"/>
          </a:ln>
        </p:spPr>
        <p:txBody>
          <a:bodyPr/>
          <a:p/>
        </p:txBody>
      </p:sp>
      <p:sp>
        <p:nvSpPr>
          <p:cNvPr id="19" name="Shape 17"/>
          <p:cNvSpPr/>
          <p:nvPr/>
        </p:nvSpPr>
        <p:spPr>
          <a:xfrm>
            <a:off x="868680" y="4910328"/>
            <a:ext cx="420624" cy="420624"/>
          </a:xfrm>
          <a:prstGeom prst="ellipse">
            <a:avLst/>
          </a:prstGeom>
          <a:solidFill>
            <a:srgbClr val="FF4757"/>
          </a:solidFill>
          <a:ln/>
        </p:spPr>
        <p:txBody>
          <a:bodyPr/>
          <a:p/>
        </p:txBody>
      </p:sp>
      <p:sp>
        <p:nvSpPr>
          <p:cNvPr id="20" name="Text 18"/>
          <p:cNvSpPr/>
          <p:nvPr/>
        </p:nvSpPr>
        <p:spPr>
          <a:xfrm>
            <a:off x="868680" y="491032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508760" y="480060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Prioritatea de sănătate publică, în două propoziții.</a:t>
            </a:r>
            <a:endParaRPr lang="en-US" sz="1600" dirty="0"/>
          </a:p>
        </p:txBody>
      </p:sp>
      <p:sp>
        <p:nvSpPr>
          <p:cNvPr id="22" name="Text 20"/>
          <p:cNvSpPr/>
          <p:nvPr/>
        </p:nvSpPr>
        <p:spPr>
          <a:xfrm>
            <a:off x="594360" y="5623560"/>
            <a:ext cx="10972800" cy="457200"/>
          </a:xfrm>
          <a:prstGeom prst="rect">
            <a:avLst/>
          </a:prstGeom>
          <a:noFill/>
          <a:ln/>
        </p:spPr>
        <p:txBody>
          <a:bodyPr wrap="square" lIns="0" tIns="0" rIns="0" bIns="0" rtlCol="0" anchor="t"/>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Individual, în formularul de acasă. Valorile județelor: estimări proprii, calculate din ratele GBD ale țării.</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final</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 azi?</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5" name="Text 13"/>
          <p:cNvSpPr/>
          <p:nvPr/>
        </p:nvSpPr>
        <p:spPr>
          <a:xfrm>
            <a:off x="8549640" y="2514600"/>
            <a:ext cx="3017520" cy="246888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16" name="Text 14"/>
          <p:cNvSpPr/>
          <p:nvPr/>
        </p:nvSpPr>
        <p:spPr>
          <a:xfrm>
            <a:off x="594360" y="5349240"/>
            <a:ext cx="1097280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Răspundeți pe telefon, la codul afișat. La ședința următoare, pe pagina disciplinei, veți găsi două modificări făcute pe baza răspunsurilor.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LP03 - Câți ani de viață sănătoasă pierde un județ?</dc:title>
  <dc:subject>PptxGenJS Presentation</dc:subject>
  <dc:creator>Conf. Univ. Dr. Adrian Pana</dc:creator>
  <cp:lastModifiedBy>Conf. Univ. Dr. Adrian Pana</cp:lastModifiedBy>
  <cp:revision>1</cp:revision>
  <dcterms:created xsi:type="dcterms:W3CDTF">2026-10-17T11:02:36Z</dcterms:created>
  <dcterms:modified xsi:type="dcterms:W3CDTF">2026-10-17T11:02:36Z</dcterms:modified>
  <cp:keywords>sursa_amprenta=9d7fa19359ac20d7; proiectie</cp:keywords>
</cp:coreProperties>
</file>