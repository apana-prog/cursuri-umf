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603504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CURSUL 5  ·  SĂNĂTATE PUBLICĂ ȘI MANAGEMENT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„Doctore, am cancer?”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Screeningul populațional. Criteriile Wilson–Jungner. Evaluarea testelor diagnostice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67512" y="42519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scrisoare cu un rezultat pozitiv și două întrebări: cât de probabil este ca omul să fie bolnav și când merită ca un stat să testeze oameni fără simptome?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Medicină, anul VI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 CONSTRUIT PENTRU DISCUȚIE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Vasile, 58 de ani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852160" cy="3108960"/>
          </a:xfrm>
          <a:prstGeom prst="roundRect">
            <a:avLst>
              <a:gd name="adj" fmla="val 264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are niciun simptom. A primit acasă un test pentru sânge ocult în scaun, oferit tuturor oamenilor de vârsta lui din județ. Testul a ieșit pozitiv.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0" y="1801368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995160" y="2189988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testului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2761488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2871216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95160" y="3259836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specificitatea testului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3831336"/>
            <a:ext cx="484632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3941064"/>
            <a:ext cx="42976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din 100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95160" y="4329684"/>
            <a:ext cx="4297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boala căutată, în grupul testat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50292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„Doctore, am cancer?”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ipotetice; cazul nu descrie un pacient real.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PRIMA IMPRESIE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FĂRĂ CALCUL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probabil este ca domnul Vasile să fie bolnav?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025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sigur: peste nouă din zece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67919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7919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Probabil: mai mult de jumătate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" y="348386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118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83864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Posibil: între o zecime și jumătate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" y="428853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1655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28853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Puțin probabil: sub o zecime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după prima impresie; revenim la vot după calcul. 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Depinde de trei lucruri care nu țin de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Cât de frecventă este boala în grupul testat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calculează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întâmplă după un rezultat pozitiv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organizează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173736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202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Dacă depistarea precoce schimbă soarta bolnavului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demonstrează numai prin studii care măsoară mortalitatea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screeningul o idee bună pentru domnul Vasile și pentru județul lui?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5.1 · CE ESTE SCREENINGUL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Identificarea prezumtivă a unei boli nerecunoscute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Teste, examinări sau proceduri aplicate rapid separă persoanele aparent sănătoase care probabil au o boală de cele care probabil nu o au.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1951 · 1968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americană, preluată de Wilson și Jungner pentru OMS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3246120"/>
            <a:ext cx="5349240" cy="1463040"/>
          </a:xfrm>
          <a:prstGeom prst="roundRect">
            <a:avLst>
              <a:gd name="adj" fmla="val 562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este un diagnostic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794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are un rezultat pozitiv este trimis la medic, pentru confirmare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983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domnului Vasile nu spune „aveți cancer”, ci „aveți nevoie de o investigație”.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Wilson și Jungner, OMS, 1968;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 SITUAȚII DIFERITE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sau diagnostic?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04872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 fără simptome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populație în care boala este rară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pozitiv cere confirmare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34924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2404872"/>
            <a:ext cx="137160" cy="13716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om cu simptome: sânge în scaun, un nodul, o tuse care nu trece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137160" cy="13716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probabilitatea bolii este deja crescută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6177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6177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numai cancere: OMS dă ca exemple screeningul nou-născutului în Germania (boli congenitale) și în Regatul Unit (auzul).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ORGANIZARE, NU CALITATEA TESTULUI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organizat și screeningul oportunist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04872"/>
            <a:ext cx="137160" cy="137160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eligibilă, definită după beneficii și riscuri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37160" cy="137160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invitare și reinvitare la intervale regulate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137160" cy="137160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 și tratament după protocoale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379976"/>
            <a:ext cx="137160" cy="137160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187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asigurarea calității, cu indicatori validați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2404872"/>
            <a:ext cx="137160" cy="137160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oferit când pacientul vine din alt motiv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3063240"/>
            <a:ext cx="137160" cy="137160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cerere sau în afara grupului eligibil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37960" y="3721608"/>
            <a:ext cx="137160" cy="137160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 mai puțin eficace: o risipă de resurse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oportunist ajung la test mai ales cei care merg oricum la medic.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ghidul screeningului cancerului, 2022.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 · DOUĂ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situații: screening sau diagnostic?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013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femeie de cincizeci de ani, fără simptome, invitată la mamografie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42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bărbat cu scădere în greutate, căruia i se face colonoscopie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328416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838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328416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nou-născut căruia i se recoltează sânge din călcâi, în maternitate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4169664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251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169664"/>
            <a:ext cx="9829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pacientă internată pentru altă boală: test de sânge ocult cerut „dacă tot e aici”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a patra situație: organizat sau oportunist?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screeninguri și un diagnostic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Mamografia la invitație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0" y="164592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(organizat, dacă invitația vine din registru)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651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6517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Colonoscopia pentru scădere în greutate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26517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diagnostic: pacientul are simptome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Sângele din călcâi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36576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neonatal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8920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663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„dacă tot e aici”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46634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 oportunist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5.2 · WILSON ȘI JUNGNER, 1968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Zece principii, în trei familii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383280" cy="4434840"/>
          </a:xfrm>
          <a:prstGeom prst="roundRect">
            <a:avLst>
              <a:gd name="adj" fmla="val 243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58568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problemă importantă de sănătate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3026664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91693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fază latentă sau precoce, recognoscibilă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685032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istoria naturală cunoscută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206240" y="1600200"/>
            <a:ext cx="3383280" cy="4434840"/>
          </a:xfrm>
          <a:prstGeom prst="roundRect">
            <a:avLst>
              <a:gd name="adj" fmla="val 243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2258568"/>
            <a:ext cx="457200" cy="457200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14884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test sau o examinare potrivită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389120" y="3026664"/>
            <a:ext cx="457200" cy="457200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291693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test acceptabil pentru populație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818120" y="1600200"/>
            <a:ext cx="3749040" cy="4434840"/>
          </a:xfrm>
          <a:prstGeom prst="roundRect">
            <a:avLst>
              <a:gd name="adj" fmla="val 219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01000" y="2258568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0" y="2148840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tratament acceptat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001000" y="3026664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0" y="2916936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mijloace de diagnostic și tratament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001000" y="3794760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0" y="3685032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politică convenită: pe cine tratăm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8001000" y="4562856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95360" y="4453128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cost echilibrat economic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001000" y="5330952"/>
            <a:ext cx="457200" cy="45720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95360" y="5221224"/>
            <a:ext cx="2834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proces continuu, nu un proiect unic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Wilson și Jungner, 1968 (ordinea originală), în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PRACTICĂ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principii care se înțeleg greșit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 acceptat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tratamentul precoce trebuie să dea un rezultat mai bun decât cel aplicat după simptome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 acceptabil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oamenii îl fac efectiv; un test refuzat nu reduce mortalitatea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840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cine tratăm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stabilit înainte de program, inclusiv pentru leziunile mici, cu evoluție incertă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 continuu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invitarea repetată a acelorași oameni și urmărirea pozitivilor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S-A ADĂUGAT DUPĂ 1968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revizuire sistematică din 2018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29718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seturi de principii de screening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556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367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7720" y="2395728"/>
            <a:ext cx="29718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 unice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5564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66760" y="2395728"/>
            <a:ext cx="297180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 consolidate, în trei domenii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33756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375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Wilson și Jungner: șapte din zece principii priveau boala sau testul și numai trei programul și sistemul.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46634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formulate ulterior: aproape jumătate privesc programul și sistemul.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Dobrow și colab., CMAJ, 2018.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CONSOLIDATE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cer în plus, între altele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89280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populație-țintă definită, identificabilă și accesibilă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9443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697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 interpretabile, cu praguri convenite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7490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99592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conduită convenită după un test pozitiv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80060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" y="504748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800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infrastructură și coordonare cu restul sistemului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189280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1645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acceptabilitate clinică, socială și etică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217920" y="269748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294436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2944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697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beneficiile și riscurile estimate, inclusiv supradiagnosticul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217920" y="374904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088" y="399592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37490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evaluare economică a programului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0" y="4800600"/>
            <a:ext cx="534924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5047488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4800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obiective, monitorizare, raportarea calității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Dobrow și colab., 2018, tabelul 2.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TREI CUVINTE ALE FIȘEI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Cost-eficacitate, echitate, consimțământ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Cost-eficacitatea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evaluarea economică din principiile consolidate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67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Consimțământul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56760" y="26060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autonomia: o decizie informată și neconstrânsă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1828800"/>
          </a:xfrm>
          <a:prstGeom prst="roundRect">
            <a:avLst>
              <a:gd name="adj" fmla="val 4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05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Echitatea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90560" y="2606040"/>
            <a:ext cx="304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înseamnă resurse alocate proporțional cu nevoia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657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etice OMS: autonomia, a nu face rău, a face bine, dreptatea și echitatea, prudența.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461772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177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cu statut socioeconomic ridicat și risc mic participă mai mult decât cei defavorizați, cu risc mai mare: inegalitățile pot crește.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fișa disciplinei; Dobrow și colab., 2018;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APLICATE · COL UTERIN, 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 este o problemă importantă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33 față de 12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670048"/>
            <a:ext cx="480060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 noi la 100 000 de femei, România față de UE (2022)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 față de 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800600" cy="883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100 000, România față de UE (2021)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886200"/>
            <a:ext cx="10972800" cy="1463040"/>
          </a:xfrm>
          <a:prstGeom prst="roundRect">
            <a:avLst>
              <a:gd name="adj" fmla="val 562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8862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cel mai frecvent cancer la femeile din România. Între 2011 și 2021, mortalitatea a scăzut cu 25% (UE: 16%), dar a rămas de trei ori mai mare.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OCDE/CE, Profil de țară privind cancerul: România 2025, doi:10.1787/a90c2c0d-ro.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PRINCIPIILE APLICATE · COL UTERIN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Există o fază precoce și un test potrivit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Scopul screeningului: reducerea incidenței, prin depistarea și tratarea leziunilor precursoare.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48716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CIN2+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65192" y="248716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viral (HPV)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65592" y="248716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Citologia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1042416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12724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65192" y="312724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89,9%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65592" y="312724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62,5%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68680" y="3749040"/>
            <a:ext cx="1042416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76732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Specificitatea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65192" y="376732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89,9%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65592" y="3767328"/>
            <a:ext cx="30540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96,6%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" y="470916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709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viral găsește mai multe leziuni; citologia dă mai puține alarme false.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2022; revizuirea Cochrane, 2017.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COLEGUL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 UTERIN, ROMÂNIA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principiu este cel mai puțin îndeplinit?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 nu este o problemă importantă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15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877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există un test potrivit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39242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92424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 nu este acceptabil pentru populație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19709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32511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25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9709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Depistarea nu este un proces continuu, cu invitare sistematică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Votați, apoi două minute cu colegul: ce singură schimbare ați face prima? 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 continuu și invitarea sistematică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482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8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OCDE 2025: nu există o practică sistematică; testele sunt oferite mai ales oportunist, cu urmărire redusă a pozitivilor.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4198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din 2024: test viral primar, apoi triaj citologic, pentru toate femeile eligibile de 25–65 de ani, la cinci ani.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3891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914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91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38912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Acceptabilitatea se discută: 39% dintre femei făcuseră un test în ultimii trei ani (2019).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OCDE/CE, Profil de țară privind cancerul: România 2025, doi:10.1787/a90c2c0d-ro.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 · TREI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APLICAȚI PRINCIPIILE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pancreatic, la toți adulții fără simptome?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288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8288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8288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4389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trebui să știți ca să decideți? Ce lipsește?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CRITERIU NEÎNDEPLINIT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Recomandarea este împotriva screeningului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BOALA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rară în populația generală: valoare predictivă pozitivă mică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81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67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TESTUL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6760" y="260604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acuratețea testelor propuse este incertă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61960" y="1645920"/>
            <a:ext cx="3505200" cy="2286000"/>
          </a:xfrm>
          <a:prstGeom prst="roundRect">
            <a:avLst>
              <a:gd name="adj" fmla="val 36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0560" y="17830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SISTEMUL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90560" y="260604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prognosticul rămâne prost chiar la tratamentul precoce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2062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există dovezi că screeningul reduce mortalitatea. Excepție: persoanele cu risc familial sau genetic înalt.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Grupul operativ american pentru servicii preventive (USPSTF), JAMA, 2019.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5.3 · CÂT DE BUN ESTE TESTUL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căsuțe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2514600"/>
          </a:xfrm>
          <a:prstGeom prst="roundRect">
            <a:avLst>
              <a:gd name="adj" fmla="val 327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0992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testului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39312" y="1709928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3952" y="1709928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Sănătoși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08592" y="170992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258568"/>
            <a:ext cx="10515600" cy="13716"/>
          </a:xfrm>
          <a:prstGeom prst="rect">
            <a:avLst/>
          </a:prstGeom>
          <a:solidFill>
            <a:srgbClr val="4B5068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7685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Pozitiv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39312" y="2276856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a: adevărat pozitivi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3952" y="2276856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b: fals pozitivi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08592" y="2276856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+ 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2825496"/>
            <a:ext cx="10515600" cy="13716"/>
          </a:xfrm>
          <a:prstGeom prst="rect">
            <a:avLst/>
          </a:prstGeom>
          <a:solidFill>
            <a:srgbClr val="4B5068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43784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Negativ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2843784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c: fals negativi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3952" y="2843784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d: adevărat negativi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08592" y="2843784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 + 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3392424"/>
            <a:ext cx="10515600" cy="13716"/>
          </a:xfrm>
          <a:prstGeom prst="rect">
            <a:avLst/>
          </a:prstGeom>
          <a:solidFill>
            <a:srgbClr val="4B5068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410712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Total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39312" y="3410712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+ 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73952" y="3410712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 + 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8592" y="3410712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4343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coloane: cum se comportă testul. Interesează pe cel care alege testul.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43434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3434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rânduri: ce înseamnă un rezultat. Interesează pacientul cu foaia în mână.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Starea reală se stabilește prin testul de referință, de exemplu colonoscopia cu biopsie.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PROPRIETĂȚILE TESTULUI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și specificitatea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 = a / (a + c)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toți bolnavii, câți sunt găsiți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fals negativ: un om liniștit pe nedrept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 = d / (b + d)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toți sănătoșii, câți sunt lăsați în pace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fals pozitiv: anxietate și o investigație invazivă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Pragul coborât: mai mulți bolnavi găsiți, mai multe alarme false; pragul ridicat, invers.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Mnemotehnicele („sensibil și negativ exclude, specific și pozitiv confirmă”): cu prudență, valorile nu sunt fixe.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2020; Trevethan, 2017.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REZULTATUL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Valorile predictive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VPP = a / (a + b)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cei cu test pozitiv, câți sunt bolnavi: întrebarea domnului Vasile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VPN = d / (c + d)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92240" y="2560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cei cu test negativ, câți sunt sănătoși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976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Spre deosebire de sensibilitate și specificitate, valorile predictive depind de prevalența bolii în populația testată.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EXEMPLUL LUCRAT · 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10 000 de oameni testați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 și sănătoși: 1% din 10 000 înseamnă 100 de bolnavi și 9 900 de sănătoși.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2644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64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Bolnavii: testul găsește 90%, adică 90 de adevărat pozitivi; 10 bolnavi sunt ratați.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416052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4988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98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4160520"/>
            <a:ext cx="982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Sănătoșii: 95% au test negativ, adică 9 405; ceilalți 495 au test pozitiv.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90%, specificitatea 95%, prevalența 1%.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VOTUL ȘI CALCULUL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puțin de unu din șase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840480" cy="3017520"/>
          </a:xfrm>
          <a:prstGeom prst="roundRect">
            <a:avLst>
              <a:gd name="adj" fmla="val 27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68680" y="3172968"/>
            <a:ext cx="3291840" cy="138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predictivă pozitivă: 90 / 585 = 0,154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690372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892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164592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 pozitive: 90 + 495 = 585; numai 90 aparțin unor bolnavi.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663440" y="2670048"/>
            <a:ext cx="690372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9169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2670048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100 de scrisori „pozitiv”, aproximativ 15 sunt ale unor bolnavi și 85 nu.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663440" y="3694176"/>
            <a:ext cx="6903720" cy="914400"/>
          </a:xfrm>
          <a:prstGeom prst="roundRect">
            <a:avLst>
              <a:gd name="adj" fmla="val 9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9410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3694176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predictivă negativă: 9 405 / 9 415 = 99,9%.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94360" y="489204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92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„Probabil nu aveți cancer, dar aveți nevoie de o colonoscopie ca să aflăm.” Răspunsul la vot: „posibil”.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PERECHI · ȘASE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test, alt grup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Pacienți trimiși la gastroenterolog pentru simptome: boala este prezentă la o persoană din cinci.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54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92608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Construiți tabelul de contingență pentru zece mii de oameni.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70332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313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valoarea predictivă pozitivă.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48056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085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48056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Comparați rezultatul cu exemplul lucrat.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hârtie sau cu calculatorul telefonului.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5.4 · PREVALENȚA SCHIMBĂ TOT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test, trei populații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2697480"/>
          </a:xfrm>
          <a:prstGeom prst="roundRect">
            <a:avLst>
              <a:gd name="adj" fmla="val 305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09928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30552" y="1709928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19272" y="1709928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pozitivi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36592" y="1709928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 pozitivi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16752" y="1709928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Fals negativi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96912" y="1709928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Adevărat negativi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59952" y="1709928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31552" y="1709928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313432"/>
            <a:ext cx="1069848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331720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30552" y="2331720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19272" y="2331720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36592" y="2331720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495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16752" y="2331720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96912" y="233172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9 405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59952" y="233172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15,4%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31552" y="233172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99,9%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" y="2935224"/>
            <a:ext cx="1069848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953512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130552" y="2953512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19272" y="2953512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36592" y="2953512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16752" y="2953512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96912" y="2953512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9 025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759952" y="2953512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48,6%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31552" y="2953512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99,4%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31520" y="3557016"/>
            <a:ext cx="10698480" cy="13716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575304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130552" y="3575304"/>
            <a:ext cx="10424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2 000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19272" y="3575304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1 800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736592" y="3575304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16752" y="3575304"/>
            <a:ext cx="1133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96912" y="3575304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7 600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759952" y="3575304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81,8%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31552" y="3575304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97,4%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94360" y="45262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45262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 trimis pentru simptome: VPP = 1 800 / (1 800 + 400) = 81,8%.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ipotetice: sensibilitatea 90%, specificitatea 95%, 10 000 de oameni testați.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SPUNE TABELUL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Valoarea predictivă pozitivă urmează prevalența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și specificitatea: aceleași pe toate rândurile.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prevalența cea mai mică la cea mai mare, VPP crește de peste cinci ori; VPN scade puțin.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boala este rară, fiecare bolnav găsit vine cu mai mult de cinci alarme false.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7548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aceea programele aleg grupa de vârstă; un test „pentru toți, ca să fim siguri” poate face mai mult rău.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SCREENINGUL ÎN DOUĂ ETAPE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test filtrează, al doilea confirmă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Toți cei invitați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81528" y="2121408"/>
            <a:ext cx="329184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6916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691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1: test ieftin, foarte sensibil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16168" y="2121408"/>
            <a:ext cx="329184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6916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9C4A0A"/>
          </a:solidFill>
          <a:ln w="12700">
            <a:solidFill>
              <a:srgbClr val="9C4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Pozitivii: boala, mult mai frecventă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50808" y="2121408"/>
            <a:ext cx="329184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169164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6916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Etapa 2: test foarte specific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32004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004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Sânge ocult în scaun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212080" y="3493008"/>
            <a:ext cx="457200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3200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colonoscopie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2976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97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Test viral HPV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212080" y="4590288"/>
            <a:ext cx="457200" cy="329184"/>
          </a:xfrm>
          <a:prstGeom prst="rightArrow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297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citologie: strategia românească din 2024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2020; Cochrane, 2017; OCDE/CE, 2025.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TEST „APROAPE PERFECT”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boală prezentă la un om din zece mii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și specificitatea testului: nouăzeci și nouă la sută. Din o sută de rezultate pozitive, câte aparțin unor bolnavi?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10972800" cy="475488"/>
          </a:xfrm>
          <a:prstGeom prst="roundRect">
            <a:avLst>
              <a:gd name="adj" fmla="val 17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toate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10972800" cy="475488"/>
          </a:xfrm>
          <a:prstGeom prst="roundRect">
            <a:avLst>
              <a:gd name="adj" fmla="val 17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112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8386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jur de jumătate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087368"/>
            <a:ext cx="10972800" cy="475488"/>
          </a:xfrm>
          <a:prstGeom prst="roundRect">
            <a:avLst>
              <a:gd name="adj" fmla="val 17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14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jur de zece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94360" y="4690872"/>
            <a:ext cx="10972800" cy="475488"/>
          </a:xfrm>
          <a:prstGeom prst="roundRect">
            <a:avLst>
              <a:gd name="adj" fmla="val 1730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7183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18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469087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 sau mai puține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Unul sau mai puține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un milion de oameni: o sută de bolnavi, dintre care nouăzeci și nouă găsiți.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Alarmele false: aproape zece mii.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o sută de rezultate pozitive, aproximativ unul este al unui bolnav.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test „foarte precis”, oferit tuturor pentru o boală rară, produce mai ales alarme false.</a:t>
            </a:r>
            <a:endParaRPr lang="en-US" sz="1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5.5 · CÂȚI TREBUIE INVITAȚI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necesar pentru screening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NNS = 1 / (mortalitatea fără screening − mortalitatea cu screening)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Inversul diferenței absolute de mortalitate prin boala căutată, ca numărul necesar de tratat.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36118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75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cei testați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133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necesar pentru screening, în sens strict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361188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675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toți cei invitați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4133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numărul necesar de invitat: așa se judecă un program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5166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Are sens numai împreună cu perioada și cu rezultatul măsurat.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Liu și colab., BMC Medicine; Rembold, 1998.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deces prevenit nu este un caz găsit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BENEFICIUL · ZECE ANI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04872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 prin boală 0,8% dintre neinvitați și 0,6% dintre invitați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0,8% − 0,6% = 0,2%, adică 0,002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721608"/>
            <a:ext cx="137160" cy="137160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/ 0,002 = 500 de invitați pentru un deces prevenit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DEPISTAREA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2404872"/>
            <a:ext cx="137160" cy="13716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prevalența 1%, sensibilitatea 90%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37960" y="3063240"/>
            <a:ext cx="137160" cy="13716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8712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/ (0,01 × 0,9): aproximativ 111 testați pentru un caz găsit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37960" y="3721608"/>
            <a:ext cx="137160" cy="137160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5295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spune cât costă un caz, nu dacă omul a fost ajutat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EXEMPLU PUBLICAT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Mamografia în Regatul Unit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1 000 de femei de 50–70 de ani, invitate la mamografie la trei ani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58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297180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vieți salvate de la cancerul mamar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58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3035808"/>
            <a:ext cx="297180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 diagnosticate cu un cancer care nu le-ar fi făcut rău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21488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25856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≈ 250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66760" y="3035808"/>
            <a:ext cx="297180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 invitate pentru o viață salvată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Belgia, la doi ani: 3 vieți salvate și 3 supradiagnosticate (50–59 de ani); 4 și 4 (60–69 de ani).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489204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8920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Supradiagnosticul e greu de cuantificat; cifrele nu se transferă automat la România.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COLEGUL DE BANCĂ · TREI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DISCUTAȚI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Este acceptabil?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Aproximativ două sute cincizeci de femei invitate la mamografie, la trei ani, pe tot intervalul de vârstă al programului, pentru o viață salvată; pentru fiecare viață salvată, mai mult de trei femei primesc un diagnostic de cancer de care nu ar fi suferit.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343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ar trebui să decidă: statul, medicul sau fiecare femeie?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5.6 · TREI ILUZII · PRIMA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Eroarea de avans al diagnosticului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Diagnostic la simptome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931920" y="2212848"/>
            <a:ext cx="7223760" cy="14630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10928" y="2148840"/>
            <a:ext cx="1444752" cy="274320"/>
          </a:xfrm>
          <a:prstGeom prst="rect">
            <a:avLst/>
          </a:prstGeom>
          <a:solidFill>
            <a:srgbClr val="B02532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82912" y="2157984"/>
            <a:ext cx="256032" cy="256032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8" name="Text 6"/>
          <p:cNvSpPr/>
          <p:nvPr/>
        </p:nvSpPr>
        <p:spPr>
          <a:xfrm>
            <a:off x="9345168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10928" y="246888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ani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Depistat prin screening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31920" y="3401568"/>
            <a:ext cx="7223760" cy="146304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21424" y="3337560"/>
            <a:ext cx="4334256" cy="274320"/>
          </a:xfrm>
          <a:prstGeom prst="rect">
            <a:avLst/>
          </a:prstGeom>
          <a:solidFill>
            <a:srgbClr val="0E7C6B"/>
          </a:solidFill>
          <a:ln w="12700">
            <a:solidFill>
              <a:srgbClr val="C9C6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93408" y="3346704"/>
            <a:ext cx="256032" cy="256032"/>
          </a:xfrm>
          <a:prstGeom prst="ellipse">
            <a:avLst/>
          </a:prstGeom>
          <a:solidFill>
            <a:srgbClr val="11121A"/>
          </a:solidFill>
          <a:ln/>
        </p:spPr>
      </p:sp>
      <p:sp>
        <p:nvSpPr>
          <p:cNvPr id="14" name="Text 12"/>
          <p:cNvSpPr/>
          <p:nvPr/>
        </p:nvSpPr>
        <p:spPr>
          <a:xfrm>
            <a:off x="6455664" y="2880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21424" y="3657600"/>
            <a:ext cx="4334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ani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 · debutul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332720" y="4160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 · decesul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5087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supraviețuirea după diagnostic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vârstă la deces: al doilea a trăit numai mai mult timp știind că este bolnav. Supraviețuirea nu măsoară succesul unui program.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Valori ipotetice. Mecanismul: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ILUZII · A DOUA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Eroarea de durată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Tumora care crește lent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rămâne mult timp în faza în care poate fi găsită prin screening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4924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Tumora agresivă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trece repede prin această fază și apare adesea cu simptome între două runde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2976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2976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Cazurile depistate prin screening au aproape întotdeauna rezultate mai bune; asta nu înseamnă o mortalitate mai mică în populație.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ILUZII · A TREIA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Supradiagnosticul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afecțiune care nu i-ar fi făcut omului niciun rău în timpul vieții.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514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multe afecțiuni nu progresează sau progresează prea lent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514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riscul de a muri din altă cauză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3774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2514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360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tehnologiile de mare rezoluție găsesc forme mai mici, adesea benigne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206240"/>
            <a:ext cx="10972800" cy="1600200"/>
          </a:xfrm>
          <a:prstGeom prst="roundRect">
            <a:avLst>
              <a:gd name="adj" fmla="val 5143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0624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vede la nivelul pacientului: oricui i se găsește cancerul i se oferă tratament. De aici, supratratamentul, de exemplu în cancerul de prostată.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2020 și 2022.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SUPRADIAGNOSTICUL, ÎN DATE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Cancerul tiroidian în Italia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upArrow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1691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Cazurile depistate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120640" y="169164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crescut considerabil, odată cu screeningul oportunist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63240"/>
            <a:ext cx="640080" cy="640080"/>
          </a:xfrm>
          <a:prstGeom prst="rightArrow">
            <a:avLst/>
          </a:prstGeom>
          <a:solidFill>
            <a:srgbClr val="27D3BE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880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Mortalitatea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120640" y="28803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s-a schimbat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Explicația cea mai probabilă: supradiagnosticul. Exemplul este ilustrat de ghidul OMS pentru programele de screening.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Ghidul OMS pentru screeningul cancerului: screeningul tiroidian și scanările întregului corp trebuie descurajate activ.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2020 și 2022.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+ UN MINUT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AȚI CREDE ACEST TITLU?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titlu construit pentru discuție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„Supraviețuirea la cinci ani a pacientelor cu cancer mamar a crescut spectaculos de când a pornit screeningul.”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1272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Da, dovedește că screeningul salvează vieți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739896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8039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03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3989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Nu, nu dovedește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416552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4805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4165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se poate spune fără alte date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Apoi: ce cifră ați cere ca să decideți? 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RĂSPUNSUL: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Titlul nu dovedește beneficiul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Supraviețuirea mai lungă se explică și prin avans, prin durată și prin supradiagnostic.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88036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Cifra de cerut: mortalitatea prin cancer mamar în populația invitată, față de o populație neinvitată.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65760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„Nu se poate spune fără alte date” este acceptabil dacă numiți mortalitatea.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Dovada vine din studii care compară mortalitatea, de preferință randomizate.</a:t>
            </a:r>
            <a:endParaRPr lang="en-US" sz="1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5.7 · SCREENINGUL ÎN ROMÂNIA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Participarea este mică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5564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2990088"/>
            <a:ext cx="29718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50–69 de ani, mamografie în ultimii doi ani (2019): cea mai mică proporție din 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5564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4% · 17%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990088"/>
            <a:ext cx="29718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mamografie de screening declarată: educație redusă, față de educație superioară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75564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2990088"/>
            <a:ext cx="29718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25–69 de ani, test pentru col uterin în ultimii trei ani (2019)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 națională de sănătate 2023–2030 tratează screeningul ca prioritate, dar lipsește o practică sistematică.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OCDE/CE, Profil de țară privind cancerul: România 2025, doi:10.1787/a90c2c0d-ro.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piloți la un program național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864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program național: cancerul de col uterin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70048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7004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2018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743200" y="2670048"/>
            <a:ext cx="864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reorganizarea; test viral pilotat în patru regiuni, la 200 000 de femei de 25–64 de ani; pilotul mamar: 60 000 de femei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739896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39896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2021–2023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743200" y="3739896"/>
            <a:ext cx="864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pilotul colorectal: 200 000 de persoane de 50–74 de ani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809744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9744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743200" y="4809744"/>
            <a:ext cx="8641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strategia: test viral, apoi citologie, 25–65 de ani, la cinci ani; metodologii, finanțare CNAS, registre, indicatori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OCDE/CE, Profil de țară privind cancerul: România 2025, doi:10.1787/a90c2c0d-ro.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INVITAREA ȘI REINVITAREA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medicul de familie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8366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Invitația pornește dintr-un registru actualizat al populației eligibile; medicul poate verifica dacă pacienții lui eligibili au fost invitați.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8950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651760"/>
            <a:ext cx="9829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Recomandarea lui contează pentru decizia pacientului.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0972800" cy="896112"/>
          </a:xfrm>
          <a:prstGeom prst="roundRect">
            <a:avLst>
              <a:gd name="adj" fmla="val 918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895344"/>
            <a:ext cx="420624" cy="420624"/>
          </a:xfrm>
          <a:prstGeom prst="ellipse">
            <a:avLst/>
          </a:prstGeom>
          <a:solidFill>
            <a:srgbClr val="27D3B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657600"/>
            <a:ext cx="9829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cu un rezultat pozitiv se urmărește până la diagnostic.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Invitațiile individuale sunt mai eficace decât campaniile publice; ajută și reamintirile prin poștă și telefon.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2020 și 2022.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RECOMANDAREA OMS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abordare în pași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8549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 uterin, mamar și colorectal: programe organizate, de calitate, legate de tratament prompt, capabile să ofere screening la cel puțin 70% din populație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10972800" cy="1097280"/>
          </a:xfrm>
          <a:prstGeom prst="roundRect">
            <a:avLst>
              <a:gd name="adj" fmla="val 75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ABIA APOI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34640" y="2880360"/>
            <a:ext cx="8549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alte cancere, evaluate după principiile Wilson–Jungner sau similare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Dovezi insuficiente: plămân, prostată, ovar, tiroidă, stomac, ficat, piele, cavitatea orală.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48463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Col uterin: OMS recomandă începutul la 30 de ani; România, la 25. Sursele citite nu explică diferența.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OMS Europa, 2022; OCDE/CE, 2025.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5.8 · DECIZIA INFORMATĂ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trebuie să afle omul înainte de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45920"/>
            <a:ext cx="9829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boală caută testul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5694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432304"/>
            <a:ext cx="9829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un rezultat pozitiv: o probabilitate, nu un diagnostic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3218688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3558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218688"/>
            <a:ext cx="9829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urmează după un rezultat pozitiv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4005072"/>
            <a:ext cx="1097280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1422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05072"/>
            <a:ext cx="9829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beneficiul și riscul, în oameni din o mie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4892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5D8E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Riscurile privesc tot traseul, de exemplu perforația intestinului după o colonoscopie. Mai mulți oameni sunt expuși riscurilor decât pot beneficia.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OMS Europa, 2020.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SPUNE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Frecvențe naturale, nu procente relative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694944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91440" cy="219456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„Din 1 000 de femei ca dumneavoastră, invitate la trei ani, 4 vor avea viața salvată, iar 13 vor primi un diagnostic de cancer care nu le-ar fi făcut rău.”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0" y="1645920"/>
            <a:ext cx="3794760" cy="2194560"/>
          </a:xfrm>
          <a:prstGeom prst="roundRect">
            <a:avLst>
              <a:gd name="adj" fmla="val 37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1645920"/>
            <a:ext cx="91440" cy="219456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6459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„Screeningul reduce mortalitatea cu o cincime.” Din cât?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11480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148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domnul Vasile: „Testul a găsit ceva care trebuie lămurit. Majoritatea oamenilor cu acest rezultat nu au cancer; colonoscopia v-o programez acum.”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JOC DE ROL + MENTIMETER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DOI VOLUNTARI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Medicul și domnul Vasile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2194560"/>
          </a:xfrm>
          <a:prstGeom prst="roundRect">
            <a:avLst>
              <a:gd name="adj" fmla="val 37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 mult trei minute. Domnul Vasile vine cu rezultatul pozitiv și este convins că are cancer. Medicul îi explică ce înseamnă rezultatul și ce urmează, fără procente.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votați: a fost clară explicația? Ce ați fi adăugat?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4846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292608"/>
            <a:ext cx="333756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29260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KAHOOT · ZECE MINUTE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RECAPITULARE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Douăsprezece întrebări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10972800" cy="2377440"/>
          </a:xfrm>
          <a:prstGeom prst="roundRect">
            <a:avLst>
              <a:gd name="adj" fmla="val 346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ordinea cursului: definiția, screening sau diagnostic, principiile, România, cancerul pancreatic, valoarea predictivă pozitivă la trei prevalențe, testul în două etape, numărul necesar pentru screening, supradiagnosticul și un titlu de presă.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436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jocului apare pe ecran.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CHEIA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Răspunsurile jocului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confirmat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3225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2128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2212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oportunist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2962656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72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9626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2962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economică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712464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221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7124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83080" y="37124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procesul continuu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4462272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572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4622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783080" y="4462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criteriu neîndeplinit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94360" y="521208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321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321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5212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783080" y="52120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VPP 15,4%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146304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15727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1463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06640" y="14630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VPP 48,6%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2212848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32257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22128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406640" y="221284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VPP 81,8%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2962656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07238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29626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406640" y="2962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întâi testul sensibil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217920" y="3712464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38221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1" name="Text 49"/>
          <p:cNvSpPr/>
          <p:nvPr/>
        </p:nvSpPr>
        <p:spPr>
          <a:xfrm>
            <a:off x="635508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903720" y="371246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406640" y="37124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deces prevenit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217920" y="4462272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45720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03720" y="446227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7406640" y="4462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ar fi făcut rău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17920" y="5212080"/>
            <a:ext cx="5349240" cy="640080"/>
          </a:xfrm>
          <a:prstGeom prst="roundRect">
            <a:avLst>
              <a:gd name="adj" fmla="val 1285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5321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1" name="Text 59"/>
          <p:cNvSpPr/>
          <p:nvPr/>
        </p:nvSpPr>
        <p:spPr>
          <a:xfrm>
            <a:off x="6355080" y="5321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903720" y="5212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406640" y="52120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supraviețuirea nu dovedește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REȚINUT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rămâne din cursul de azi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9105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Screeningul separă pe cei probabil bolnavi de cei probabil sănătoși; un pozitiv cere confirmare.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591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31136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program este un traseu, de la invitație la raportarea rezultatelor.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99923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2724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2999232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Sensibilitatea și specificitatea descriu testul; valorile predictive, rezultatul.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76732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89534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767328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cât boala e mai rară, cu atât mai multe rezultate pozitive sunt false.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53542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66344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35424"/>
            <a:ext cx="9829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Supraviețuirea nu dovedește că screeningul salvează vieți; mortalitatea, da.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53949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3949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Domnul Vasile: cel mai probabil, un fals pozitiv. Programul e bun dacă îl duce repede la colonoscopie.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MÂINE, CA MEDICI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luni dimineață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60020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un rezultat pozitiv de screening: spuneți întâi probabilitatea, în oameni din o sută, apoi ce urmează.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0632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un test cerut „ca să fie sigur”: cât de frecventă este boala la oamenii ca el și câte alarme false va produce?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4360" y="4526280"/>
            <a:ext cx="10972800" cy="1325880"/>
          </a:xfrm>
          <a:prstGeom prst="roundRect">
            <a:avLst>
              <a:gd name="adj" fmla="val 620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98348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52628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auziți că un program „a crescut supraviețuirea”: ce s-a întâmplat cu mortalitatea?</a:t>
            </a:r>
            <a:endParaRPr lang="en-US" sz="1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2514600"/>
            <a:ext cx="3246120" cy="2468880"/>
          </a:xfrm>
          <a:prstGeom prst="roundRect">
            <a:avLst>
              <a:gd name="adj" fmla="val 333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5146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pe telefon, la codul afișat.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Începutul cursului următor: două modificări, făcute pe baza răspunsurilor dumneavoastră.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Cursul 5 - Screeningul populațional</dc:title>
  <dc:subject>PptxGenJS Presentation</dc:subject>
  <dc:creator>Conf. Univ. Dr. Adrian Pana</dc:creator>
  <cp:lastModifiedBy>Conf. Univ. Dr. Adrian Pana</cp:lastModifiedBy>
  <cp:revision>1</cp:revision>
  <dcterms:created xsi:type="dcterms:W3CDTF">2026-10-17T08:07:19Z</dcterms:created>
  <dcterms:modified xsi:type="dcterms:W3CDTF">2026-10-17T08:07:19Z</dcterms:modified>
  <cp:keywords>sursa_amprenta=0287ee9b51922698; proiectie</cp:keywords>
</cp:coreProperties>
</file>