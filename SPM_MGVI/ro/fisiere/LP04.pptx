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Conținutul minim și autorul certificatului de deces sunt stabilite de lege într-o singură frază: certificatul, în care se consemnează cauza decesului și data decesului, se întocmește și se semnează de către medicul care a făcut constatarea.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Medicul de familie din actul 1 nu a încălcat legea, care cere doar consemnarea cauzei; a completat formularul așa cum îl completează mulți colegi, în condițiile în care l-a completat.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LUCRAREA PRACTICĂ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scrie medicul pe certificat, luni la 07:40?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67512" y="3886200"/>
            <a:ext cx="1280160" cy="27432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148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Documentele medicale: de la formular la statisticile de sănătate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Certificatele constatatoare ale nașterii și decesului, concediul medical, declararea bolilor transmisibile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822960"/>
            <a:ext cx="4846320" cy="5120640"/>
          </a:xfrm>
          <a:prstGeom prst="roundRect">
            <a:avLst>
              <a:gd name="adj" fmla="val 169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8660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0" y="1901952"/>
            <a:ext cx="3657600" cy="0"/>
          </a:xfrm>
          <a:prstGeom prst="line">
            <a:avLst/>
          </a:prstGeom>
          <a:noFill/>
          <a:ln w="15875">
            <a:solidFill>
              <a:srgbClr val="4A4E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48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cauza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86600" y="2267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0" y="2615184"/>
            <a:ext cx="3657600" cy="0"/>
          </a:xfrm>
          <a:prstGeom prst="line">
            <a:avLst/>
          </a:prstGeom>
          <a:noFill/>
          <a:ln w="15875">
            <a:solidFill>
              <a:srgbClr val="4A4E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660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48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cauza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86600" y="29809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89520" y="3328416"/>
            <a:ext cx="3657600" cy="0"/>
          </a:xfrm>
          <a:prstGeom prst="line">
            <a:avLst/>
          </a:prstGeom>
          <a:noFill/>
          <a:ln w="15875">
            <a:solidFill>
              <a:srgbClr val="4A4E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3374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48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cauza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36941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9520" y="4041648"/>
            <a:ext cx="3657600" cy="0"/>
          </a:xfrm>
          <a:prstGeom prst="line">
            <a:avLst/>
          </a:prstGeom>
          <a:noFill/>
          <a:ln w="15875">
            <a:solidFill>
              <a:srgbClr val="4A4E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4526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 II-a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86600" y="5349240"/>
            <a:ext cx="4160520" cy="0"/>
          </a:xfrm>
          <a:prstGeom prst="line">
            <a:avLst/>
          </a:prstGeom>
          <a:noFill/>
          <a:ln w="15875">
            <a:solidFill>
              <a:srgbClr val="4A4E6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1 · SITUAȚIA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778240" y="310896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0" y="3108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deces la domiciliu, luni dimineață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3291840" cy="361188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Luni, 07:40</a:t>
            </a:r>
            <a:endParaRPr lang="en-US" sz="26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comuna C, Județul B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 de 78 de ani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069080" y="1554480"/>
            <a:ext cx="749808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746504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55448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 cu o oră înainte, în prezența fiicei. Fără semne de violență.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069080" y="2468880"/>
            <a:ext cx="749808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660904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246888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Diabet zaharat de tip 2, boală cronică de rinichi, cardiopatie ischemică cu infarct vechi.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069080" y="3383280"/>
            <a:ext cx="749808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3575304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3575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38328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Acum două săptămâni: dispnee la efort, edeme; medicul notase insuficiență cardiacă.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069080" y="4297680"/>
            <a:ext cx="7498080" cy="804672"/>
          </a:xfrm>
          <a:prstGeom prst="roundRect">
            <a:avLst>
              <a:gd name="adj" fmla="val 102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4489704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429768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ultimele zile respira numai în șezut. Familia cere certificatul.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594360" y="539496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3949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pentru curs; detaliile sunt plauzibile, nu reale.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1 · VOT INDIVIDUAL, FĂRĂ DISCUȚIE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scrie medicul în partea I a certificatului?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189280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„Stop cardiorespirator”, singur.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92040" y="1783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201168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189280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„insuficiență cardiacă”, pe primul rând.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42900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65760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53872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Refuz certificatul și cer autopsia.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892040" y="342900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365760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852160" y="353872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a) insuficiență cardiacă, din cauza b) cardiopatiei ischemice cronice; partea a II-a: diabet, boală renală.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189720" y="1783080"/>
            <a:ext cx="2377440" cy="30632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78308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1 · REVOT, DUPĂ DISCUȚIA ÎN PERECHI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REVOT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Convingeți-l pe cel care a votat altfel. Apoi votați din nou.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10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Votul individual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[distribuția din Mentimeter]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10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Revotul, după discuție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[distribuția din Mentimeter]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4526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 stop cardiorespirator  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  numai insuficiența cardiacă  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  autopsia  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  lanțul complet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NR. 119/1996 · ACTELE DE STARE CIVILĂ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scrie certificatul și în cât timp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347472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care a făcut constatarea. Consemnează cauza decesului și data decesului.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600200"/>
            <a:ext cx="3474720" cy="82296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cât timp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246888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Declararea decesului: în 3 zile de la încetarea din viață.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160020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600200"/>
            <a:ext cx="347472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Excepția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66760" y="246888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Sinucidere, accident, alte cauze violente, cadavru găsit: starea civilă cere și dovada sesizării poliției sau a parchetului.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93776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93776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Certificatul este documentul medical pe care starea civilă îl transformă în act de deces.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nr. 119/1996 cu privire la actele de stare civilă, forma consolidată.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REGULILE OMS · CIM-10, VOLUMUL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I: un lanț. Partea a II-a: ce a contribuit.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676656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Cauza terminală: boala scrisă prima, pe primul rând.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624328"/>
            <a:ext cx="676656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243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62432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cauza ...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648456"/>
            <a:ext cx="676656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648456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648456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Punctul de plecare: pe ultimul rând folosit. Din el se construiește cauza inițială.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754880"/>
            <a:ext cx="6766560" cy="914400"/>
          </a:xfrm>
          <a:prstGeom prst="roundRect">
            <a:avLst>
              <a:gd name="adj" fmla="val 9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7548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 II-a: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stări care au contribuit, fără să fie verigi ale lanțului.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35240" y="1600200"/>
            <a:ext cx="3931920" cy="4069080"/>
          </a:xfrm>
          <a:prstGeom prst="roundRect">
            <a:avLst>
              <a:gd name="adj" fmla="val 209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1828800"/>
            <a:ext cx="3429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citește de sus în jos, cu „din cauza”.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Lângă fiecare boală: intervalul aproximativ de la debut până la deces, nu de la diagnostic.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Organizația Mondială a Sănătății, CIM-10, volumul 2, manualul de instrucțiuni.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EXEMPLUL · VALORI IPOTETICE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Certificatul pacientului, completat corect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94944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Rândul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Boala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Intervalul de la debut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 a)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Insuficiență cardiacă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câteva săptămâni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 b)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Cardiopatie ischemică cronică, cu infarct miocardic vechi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ani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II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Diabet zaharat de tip 2; boală cronică de rinichi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75488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475488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Alt medic, cu alte date clinice, ar putea argumenta alt lanț; ce nu se poate argumenta este un certificat fără boală.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CAPCANA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„Stop cardiorespirator” nu este o cauză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4206240" cy="2926080"/>
          </a:xfrm>
          <a:prstGeom prst="roundRect">
            <a:avLst>
              <a:gd name="adj" fmla="val 28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I46.9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 R99</a:t>
            </a:r>
            <a:endParaRPr lang="en-US" sz="4400" dirty="0"/>
          </a:p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cauze neprecizate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120640" y="1691640"/>
            <a:ext cx="6446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Orice deces se termină cu oprirea inimii și a respirației: sintagma descrie felul morții, nu boala.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„Not to be used for underlying-cause mortality coding.”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altă cauză raportată, decesul ajunge la R99.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484632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8463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Certificatul răspunde la întrebarea: ce boală a pornit lanțul care a dus la moarte?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OMS, CIM-10, volumul 2: stopul cardiac nespecificat nu se folosește pentru codificarea cauzei inițiale.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1 · CUM SE DECID VARIANTELE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variante, patru urmări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6537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Cauză neprecizată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26280" y="1600200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Sintagma singură trimite decesul la R99.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679192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44368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67919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Incomplet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2679192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Cauza terminală fără punctul de plecare: cardiopatia ischemică lipsește.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758184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2336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758184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Nesprijinit de fapte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3758184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Decesul nu intră în excepțiile legii; certificatul îl semnează medicul care a constatat decesul.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4837176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102352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02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837176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26280" y="4837176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Lanțul complet, cu diabetul și boala renală în partea a II-a: cel cerut de regulile OMS.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DEMONSTRAȚIE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FORMULARELE REALE, ÎN SALĂ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Formularele tipizate românești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00200"/>
            <a:ext cx="82296" cy="1143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Certificatul medical constatator al decesului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00200"/>
            <a:ext cx="82296" cy="11430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6002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Certificatul medical constatator al nașterii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292608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26080"/>
            <a:ext cx="82296" cy="114300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260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unică de raportare a bolii transmisibile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926080"/>
            <a:ext cx="82296" cy="114300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9260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Certificatul de concediu medical, după rubricile din instrucțiunile ordinului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389120"/>
            <a:ext cx="10972800" cy="1691640"/>
          </a:xfrm>
          <a:prstGeom prst="roundRect">
            <a:avLst>
              <a:gd name="adj" fmla="val 486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38912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fiecare formular: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îl completează, ce rubrici sunt medicale, unde merge fiecare exemplar și ce indicator statistic alimentează.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DOILEA DOCUMENT AL DIMINEȚII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Certificatul de concediu medical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Fiica, cu o pneumonie acută. Formular cu regim special, care constituie ordin de plată.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Tipul.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Inițial sau în continuare: „în continuare” prelungește un concediu neîntrerupt, pentru aceeași afecțiune.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031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Luna.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depășește luna în curs; zilele din luna următoare, pe un certificat nou, în continuare.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3703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033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Diagnosticul.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Codul după CIM-10, cu forma clinică: acut, subacut sau cronic.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17920" y="3703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7033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Indemnizația.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Codul ei, în cifre și litere, după specificațiile de pe versoul certificatului.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Ordinul MS/CNAS nr. 1192/745/2020, anexa nr. 2; 3 exemplare.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OUG NR. 158/2005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plătește și cât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Zilele 1–5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267712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angajatorul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92240" y="2267712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Fondul național unic de asigurări sociale de sănătate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10896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00400"/>
            <a:ext cx="29260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" y="3798418"/>
            <a:ext cx="292608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până la 7 zile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43400" y="310896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200400"/>
            <a:ext cx="29260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17720" y="3798418"/>
            <a:ext cx="292608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8–14 zile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3108960"/>
            <a:ext cx="347472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3200400"/>
            <a:ext cx="29260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366760" y="3798418"/>
            <a:ext cx="292608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peste 15 zile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4572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Procentul, pe fiecare episod de boală obișnuită (Legea nr. 141/2025). Unele boli au procent fix: 75% sau 100%.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5212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Stagiul minim: 6 luni în ultimele 12. Cel mult 183 de zile într-un an; de la a 91-a zi, cu aprobarea medicului expert al asigurărilor sociale.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DE LUCRU 4 · INDIVIDUAL, ÎN FORMS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PAȘII 1 ȘI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Certificatul de deces și concediul fiicei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786384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031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645920"/>
            <a:ext cx="6720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Rescrieți partea medicală a certificatului cu „stop cardiorespirator”: lanțul, intervalele, cauza terminală, punctul de plecare.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786384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7033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246120"/>
            <a:ext cx="6720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Pneumonie acută, boală obișnuită: 5 zile, apoi încă 2, neîntrerupt, în aceeași lună. Tipul certificatului, plătitorul, procentul.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732520" y="1645920"/>
            <a:ext cx="2834640" cy="301752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16459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[QR FORMULAR]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32520" y="4709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[linkul scurt]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937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Rubricile formularului românesc: în spațiul rezervat, de pe formularele arătate în sală.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2 · COMPLICAȚIA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778240" y="310896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0" y="3108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luni mai târziu, la direcția de sănătate publică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12,0%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68680" y="2836469"/>
            <a:ext cx="480060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Județul B: 600 din 5 000 de decese au cauză inițială neprecizată.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916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5,0%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92240" y="2836469"/>
            <a:ext cx="480060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Județul vecin, cu o structură pe vârste asemănătoare: 250 din 5 000.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20624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062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Eșantionul de certificate: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primul rând, „stop cardiorespirator”; dedesubt, nimic. Certificatul din actul 1 este unul dintre ele.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ipotetice, construite pentru curs.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FORMULAR LA STATISTICĂ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Drumul cauzei de deces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251460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rubrica medicală a certificatului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210312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47288" y="16002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1600200"/>
            <a:ext cx="2514600" cy="82296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783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Starea civilă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30168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de deces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61888" y="210312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00216" y="16002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1600200"/>
            <a:ext cx="2514600" cy="82296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1783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Buletinul statistic de deces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83096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transmis electronic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14816" y="210312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53144" y="16002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53144" y="1600200"/>
            <a:ext cx="251460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1783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336024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mortalitatea pe cauze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3611880"/>
            <a:ext cx="10972800" cy="2468880"/>
          </a:xfrm>
          <a:prstGeom prst="roundRect">
            <a:avLst>
              <a:gd name="adj" fmla="val 333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9476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Proporția mare a simptomelor și semnelor „indicates a need to check or estimate the quality of the tabulated data”.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deces trecut la cauze neprecizate lipsește din rândul bolii care l-a produs: mortalitatea cardiovasculară a județului apare mai mică decât este.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Legea nr. 119/1996 (buletinele statistice, INS); OMS, CIM-10, volumul 2.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CONFERINȚA M&amp;M · CRONOLOGIA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Decizii și condiții, nu vinovați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3291840"/>
                <a:gridCol w="310896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Momentul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Cine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Ce a văzut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Ce a decis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Luni, 07:40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medicul de familie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deces acasă, fiica de față, fără violență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constată decesul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La eliberarea certificatului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medicul de familie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familia așteaptă; fișa e la cabinet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„stop cardiorespirator”; restul gol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În termenul de 3 zile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fiica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certificatul semnat și parafat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declară decesul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Săptămânile următoare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starea civilă, codificarea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o sintagmă neacceptată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buletin la INS; cauză neprecizată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Trei luni mai târziu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analista DSP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12,0% față de 5,0%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caută tiparul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ipotetice; momente și roluri plauzibile, nu reale.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CONFERINȚA M&amp;M · DIAGRAMA CAUZELOR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NOR DE CUVINTE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a ajuns pe certificat „stop cardiorespirator”?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7863840" cy="0"/>
          </a:xfrm>
          <a:prstGeom prst="line">
            <a:avLst/>
          </a:prstGeom>
          <a:noFill/>
          <a:ln w="38100">
            <a:solidFill>
              <a:srgbClr val="1112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32520" y="2926080"/>
            <a:ext cx="2834640" cy="1371600"/>
          </a:xfrm>
          <a:prstGeom prst="roundRect">
            <a:avLst>
              <a:gd name="adj" fmla="val 6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9260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 fără boală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80160" y="1783080"/>
            <a:ext cx="1188720" cy="1828800"/>
          </a:xfrm>
          <a:prstGeom prst="line">
            <a:avLst/>
          </a:prstGeom>
          <a:noFill/>
          <a:ln w="25400">
            <a:solidFill>
              <a:srgbClr val="B025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63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Oameni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1783080"/>
            <a:ext cx="1188720" cy="1828800"/>
          </a:xfrm>
          <a:prstGeom prst="line">
            <a:avLst/>
          </a:prstGeom>
          <a:noFill/>
          <a:ln w="25400">
            <a:solidFill>
              <a:srgbClr val="B025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4630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463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Proceduri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783080"/>
            <a:ext cx="1188720" cy="1828800"/>
          </a:xfrm>
          <a:prstGeom prst="line">
            <a:avLst/>
          </a:prstGeom>
          <a:noFill/>
          <a:ln w="25400">
            <a:solidFill>
              <a:srgbClr val="B025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14630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463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Echipamente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flipV="1">
            <a:off x="1280160" y="3611880"/>
            <a:ext cx="1188720" cy="1783080"/>
          </a:xfrm>
          <a:prstGeom prst="line">
            <a:avLst/>
          </a:prstGeom>
          <a:noFill/>
          <a:ln w="25400">
            <a:solidFill>
              <a:srgbClr val="0E7C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4406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440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Mediu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 flipV="1">
            <a:off x="3840480" y="3611880"/>
            <a:ext cx="1188720" cy="1783080"/>
          </a:xfrm>
          <a:prstGeom prst="line">
            <a:avLst/>
          </a:prstGeom>
          <a:noFill/>
          <a:ln w="25400">
            <a:solidFill>
              <a:srgbClr val="0E7C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54406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5440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 flipV="1">
            <a:off x="6400800" y="3611880"/>
            <a:ext cx="1188720" cy="1783080"/>
          </a:xfrm>
          <a:prstGeom prst="line">
            <a:avLst/>
          </a:prstGeom>
          <a:noFill/>
          <a:ln w="25400">
            <a:solidFill>
              <a:srgbClr val="0E7C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54406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5440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Comunicare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89720" y="4617720"/>
            <a:ext cx="237744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9720" y="461772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DE CE · VOT PAS CU PAS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singură cauză: medicul a scris „stop cardiorespirator”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832104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60020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313432"/>
            <a:ext cx="832104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048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04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313432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026664"/>
            <a:ext cx="832104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1181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026664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3739896"/>
            <a:ext cx="832104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8313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739896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94360" y="4453128"/>
            <a:ext cx="832104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5445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453128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189720" y="1600200"/>
            <a:ext cx="2377440" cy="292608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160020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DIAGRAMA COMPLETATĂ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Cauze pe toate cele șase ramuri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Oameni: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formarea în certificare e scurtă; puțini au văzut un certificat corectat.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Proceduri: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nimeni nu verifică, înainte de înregistrare, dacă partea medicală are o boală.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306324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6324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Echipamente: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formularul nu are un exemplu de lanț; fișa pacientului nu e la domiciliu.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17920" y="306324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06324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Mediu: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acasă, dimineața, cu familia de față și termenul legal în curs.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457200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57200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Organizare: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certificatele cu cauză neprecizată nu se întorc la semnatar.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17920" y="457200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57200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Comunicare: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niciun canal între cei care codifică și cei care certifică.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DE CE · PÂNĂ LA SISTEM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circuit care lipsește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642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5544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notat ultimul eveniment observat.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94360" y="2304288"/>
            <a:ext cx="109728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4140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3042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înțeles rubrica drept „ce s-a întâmplat în momentul morții”.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94360" y="3054096"/>
            <a:ext cx="109728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1638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05409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a primit niciodată un certificat înapoi, cu o întrebare.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3803904"/>
            <a:ext cx="109728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9136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38039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 codificare și certificare nu există un circuit de întoarcere.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94360" y="4553712"/>
            <a:ext cx="109728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6634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45537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Circuitul a fost gândit pentru înregistrare, nu pentru calitatea cauzei.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9436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final nu este o persoană, ci un circuit care lipsește.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2 · VOT INDIVIDUAL, FĂRĂ DISCUȚIE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măsură propune direcția de sănătate publică?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189280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adresă către medici: „completați cu mai multă atenție”.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92040" y="1783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201168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189280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listă derulantă de diagnostice în certificatul electronic.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42900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65760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53872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certificat cu cauză neprecizată se întoarce la semnatar, cu o întrebare scrisă; raport trimestrial pe unități.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892040" y="342900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365760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852160" y="353872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Amenzi pentru certificatele incomplete.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189720" y="1783080"/>
            <a:ext cx="2377440" cy="30632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78308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2 · REVOT, DUPĂ DISCUȚIA ÎN PERECHI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REVOT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Convingeți-l pe cel care a votat altfel. Apoi votați din nou.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10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Votul individual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[distribuția din Mentimeter]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10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Revotul, după discuție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[distribuția din Mentimeter]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4526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 adresa  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  lista derulantă  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  întoarcerea la semnatar  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  amenzile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5257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2 · CUM SE DECID VARIANTELE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 de sistem: circuitul de întoarcere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6537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schimbă nimic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26280" y="1600200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Condițiile din diagramă rămân aceleași.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2679192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44368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67919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Interzisă de OMS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2679192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„Automated systems must not include lists or other prompts to guide the certifier.”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94360" y="3758184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2336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758184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 de sistem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3758184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Certificatul se întoarce la semnatar, cu o întrebare scrisă; unitățile primesc trimestrial proporția lor.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94360" y="4837176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10235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02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837176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temei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26280" y="4837176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au temei în actele citate și contrazic cultura fără vină.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ȘTIM DACĂ A FUNCȚIONAT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Indicatorul: proporția cauzelor neprecizate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12,0% → 5,0%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693822"/>
            <a:ext cx="4800600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ținta Județului B: nivelul județului vecin (caz construit)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002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Calculată trimestrial, pe județ și pe unitate.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3931920"/>
            <a:ext cx="10972800" cy="2148840"/>
          </a:xfrm>
          <a:prstGeom prst="roundRect">
            <a:avLst>
              <a:gd name="adj" fmla="val 383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931920"/>
            <a:ext cx="10424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Capcana: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 scade și dacă „stop cardiorespirator” e înlocuit cu alte formulări vagi. De aceea se urmărește, alături de el, eșantionul de certificate verificate manual.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TREILEA FORMULAR · HG NR. 657/2022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Declarați la suspiciune, nu la confirmare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unică de raportare: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direcția de sănătate publică, în cel mult 5 zile de la depistare.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Boala marcată „(T)”: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imediat, telefonic; apoi fișa, tot în cel mult 5 zile.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301752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175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Sancțiunile: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avertisment scris; în termen de un an, 500–1 000 de lei; apoi 2 500–5 000 de lei.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17920" y="301752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0175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Registrul: </a:t>
            </a:r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RUBT, administrat de INSP; datele personale sunt confidențiale.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4572000"/>
            <a:ext cx="10972800" cy="1508760"/>
          </a:xfrm>
          <a:prstGeom prst="roundRect">
            <a:avLst>
              <a:gd name="adj" fmla="val 545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57200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3, în formular: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nepotul, un copil, caz suspect pentru o boală marcată „(T)”.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3 · TRANSFERUL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778240" y="310896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0" y="3108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naștere la limita viabilității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23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68680" y="255117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săptămâni de sarcină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480 g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617720" y="255117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naștere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60020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~40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366760" y="255117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minute cu bătăi cardiace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657600"/>
            <a:ext cx="1097280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5760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Maternitatea Spitalului A, Județul B. Copilul moare, în ciuda îngrijirilor. </a:t>
            </a:r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colegă propune: „născut mort, pentru că oricum nu era viabil și are sub 500 de grame”.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pentru curs, inclusiv replica colegei; detaliile sunt plauzibile, nu reale.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3 · VOT INDIVIDUAL, FĂRĂ DISCUȚIE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se înregistrează nașterea?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189280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Născut mort: certificatul nașterii și actul de naștere.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92040" y="1783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201168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189280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Născut viu: certificatul nașterii și certificatul decesului.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42900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65760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53872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Avort, fără înregistrare la starea civilă.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892040" y="342900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3657600"/>
            <a:ext cx="512064" cy="51206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852160" y="3538728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Născut viu, numai cu actul de naștere, fără actul de deces.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189720" y="1783080"/>
            <a:ext cx="2377440" cy="30632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78308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DEFINIȚIA OMS ȘI LEGEA STĂRII CIVILE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Semnele de viață decid, nu greutatea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„irrespective of the duration of the pregnancy, which, after such separation, breathes or shows any other evidence of life”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971800"/>
            <a:ext cx="3474720" cy="8229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Născut viu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Declarare în 30 de zile; dacă moare în acest termen, în 24 de ore de la deces.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297180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971800"/>
            <a:ext cx="3474720" cy="8229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Născut mort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7720" y="36576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Declarare în 3 zile. Se întocmește numai actul de naștere.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297180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2971800"/>
            <a:ext cx="3474720" cy="82296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Certificatul nașterii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66760" y="36576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Formular-tip: număr de înregistrare, dată certă, semnătura medicului.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OMS, CIM-10, volumul 2; Legea nr. 119/1996; HG nr. 255/2024.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3 · CUM SE DECID VARIANTELE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Copilul este născut viu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6537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Greșit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26280" y="1600200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„Născut mort” se aplică numai copilului fără niciun semn de viață.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2679192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4436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679192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2679192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Certificatul nașterii, apoi certificatul decesului; actul de naștere înaintea celui de deces.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94360" y="3758184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2336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758184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Contrazice definiția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3758184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Bătăile inimii sunt un semn de viață, indiferent de durata sarcinii.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94360" y="4837176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10235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02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837176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Contrazice legea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26280" y="4837176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Copilul născut viu care moare are și act de deces.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Pragurile de 500 de grame și 22 de săptămâni delimitează perioada perinatală, nu decizia „viu sau mort”.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INDICATORII · LA 1 000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tip de deces, numitori diferiți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Mortalitatea infantilă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15544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sub 1 an ÷ născuți vii × 1 000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6974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97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Mortalitatea perinatală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06240" y="26974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(decese fetale + decese neonatale precoce) ÷ (născuți vii + născuți morți) × 1 000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93192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319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Neonatală: </a:t>
            </a:r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primele 28 de zile complete; neonatală precoce: primele 7 zile.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7920" y="393192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9319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Postneonatală: </a:t>
            </a:r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mortalitatea infantilă minus cea neonatală.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502920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029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Perioada perinatală: </a:t>
            </a:r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22 de săptămâni complete (de obicei 500 g) la 7 zile după naștere.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502920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5029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Ordinea criteriilor: </a:t>
            </a:r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greutatea, vârsta gestațională, lungimea vertex–călcâi.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DE LUCRU 4 · PASUL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ACELAȘI FORMULAR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Indicatorii Județului B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554480" cy="173736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născuți vii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1600200"/>
            <a:ext cx="1554480" cy="173736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3172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născuți morți, perioada perinatală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77640" y="1600200"/>
            <a:ext cx="1554480" cy="173736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02336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sub un 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1600200"/>
            <a:ext cx="1554480" cy="173736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71500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primele 28 de zile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60920" y="1600200"/>
            <a:ext cx="1554480" cy="173736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1691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406640" y="2377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primele 7 zile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566160"/>
            <a:ext cx="8092440" cy="1920240"/>
          </a:xfrm>
          <a:prstGeom prst="roundRect">
            <a:avLst>
              <a:gd name="adj" fmla="val 428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566160"/>
            <a:ext cx="7589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Calculați, cu o zecimală, cele cinci rate. Refaceți calculul cu doi născuți vii trecuți „născuți morți”. Care indicator nu se schimbă și de ce?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915400" y="1600200"/>
            <a:ext cx="2651760" cy="33832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15400" y="1600200"/>
            <a:ext cx="2651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[QR FORMULAR]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5623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ipotetice, construite pentru curs.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 URMA DACĂ EROAREA SE REPETĂ · CAZ CONSTRUIT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 născuți vii trecuți „născuți morți”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6675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828800"/>
                <a:gridCol w="182880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La 1 000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Corect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Cu eroarea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Născuți vii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4 000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3 998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Infantilă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7,0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6,5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Neonatală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4,0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3,5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Neonatală precoce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2,5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2,0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Perinatală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5,5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5,5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508760"/>
            <a:ext cx="4023360" cy="3621024"/>
          </a:xfrm>
          <a:prstGeom prst="roundRect">
            <a:avLst>
              <a:gd name="adj" fmla="val 22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69164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Infantila scade pe hârtie cu o jumătate de deces la 1 000; niciun copil nu a trăit mai mult.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Perinatala rămâne aceeași: ambele erori rămân în numărătorul ei.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5349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2024: infantilă 6,6 la 1 000 de născuți vii; UE: 3,5.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Județul B: valori ipotetice. România și UE: Eurostat.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 LUNI DIMINEAȚĂ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gesturi, trei formulare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470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5544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primul certificat de deces: boala care a pornit lanțul, pe ultimul rând folosit al părții I; niciodată „stop cardiorespirator” singur.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94360" y="26974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900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6974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primul copil născut cu semne de viață, oricât de mic: certificatul nașterii și, dacă moare, certificatul decesului.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94360" y="38404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1330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8404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primul caz suspect dintr-o boală care se declară: nu așteptați laboratorul.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94360" y="51206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formular completat azi va fi, într-o zi, o cifră într-un tabel pe care altcineva îl folosește pentru a decide unde merg banii și oamenii.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5146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 La ședința următoare, pe pagina disciplinei, veți găsi două modificări făcute pe baza răspunsurilor.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LP04 - Ce scrie medicul pe certificat, luni la 07:40?</dc:title>
  <dc:subject>PptxGenJS Presentation</dc:subject>
  <dc:creator>Conf. Univ. Dr. Adrian Pana</dc:creator>
  <cp:lastModifiedBy>Conf. Univ. Dr. Adrian Pana</cp:lastModifiedBy>
  <cp:revision>1</cp:revision>
  <dcterms:created xsi:type="dcterms:W3CDTF">2026-10-24T13:22:50Z</dcterms:created>
  <dcterms:modified xsi:type="dcterms:W3CDTF">2026-10-24T13:22:50Z</dcterms:modified>
  <cp:keywords>sursa_amprenta=707f7adb4c589b78; proiectie</cp:keywords>
</cp:coreProperties>
</file>