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640080" y="777240"/>
            <a:ext cx="6035040" cy="329184"/>
          </a:xfrm>
          <a:prstGeom prst="roundRect">
            <a:avLst>
              <a:gd name="adj" fmla="val 50000"/>
            </a:avLst>
          </a:prstGeom>
          <a:solidFill>
            <a:srgbClr val="FF4757"/>
          </a:solidFill>
          <a:ln w="12700">
            <a:solidFill>
              <a:srgbClr val="FF4757"/>
            </a:solidFill>
            <a:prstDash val="solid"/>
          </a:ln>
        </p:spPr>
      </p:sp>
      <p:sp>
        <p:nvSpPr>
          <p:cNvPr id="3" name="Text 1"/>
          <p:cNvSpPr/>
          <p:nvPr/>
        </p:nvSpPr>
        <p:spPr>
          <a:xfrm>
            <a:off x="640080" y="777240"/>
            <a:ext cx="6035040" cy="329184"/>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CURSUL 3  ·  SĂNĂTATE PUBLICĂ ȘI MANAGEMENT</a:t>
            </a:r>
            <a:endParaRPr lang="en-US" sz="1300" dirty="0"/>
          </a:p>
        </p:txBody>
      </p:sp>
      <p:sp>
        <p:nvSpPr>
          <p:cNvPr id="4" name="Text 2"/>
          <p:cNvSpPr/>
          <p:nvPr/>
        </p:nvSpPr>
        <p:spPr>
          <a:xfrm>
            <a:off x="640080" y="1463040"/>
            <a:ext cx="10789920" cy="1737360"/>
          </a:xfrm>
          <a:prstGeom prst="rect">
            <a:avLst/>
          </a:prstGeom>
          <a:noFill/>
          <a:ln/>
        </p:spPr>
        <p:txBody>
          <a:bodyPr wrap="square" lIns="0" tIns="0" rIns="0" bIns="0" rtlCol="0" anchor="t"/>
          <a:lstStyle/>
          <a:p>
            <a:pPr indent="0" marL="0">
              <a:buNone/>
            </a:pPr>
            <a:r>
              <a:rPr lang="en-US" sz="4600" b="1" dirty="0">
                <a:solidFill>
                  <a:srgbClr val="FFFFFF"/>
                </a:solidFill>
                <a:latin typeface="Palatino Linotype" pitchFamily="34" charset="0"/>
                <a:ea typeface="Palatino Linotype" pitchFamily="34" charset="-122"/>
                <a:cs typeface="Palatino Linotype" pitchFamily="34" charset="-120"/>
              </a:rPr>
              <a:t>Unde au dispărut patru milioane de oameni?</a:t>
            </a:r>
            <a:endParaRPr lang="en-US" sz="4600" dirty="0"/>
          </a:p>
        </p:txBody>
      </p:sp>
      <p:sp>
        <p:nvSpPr>
          <p:cNvPr id="5" name="Text 3"/>
          <p:cNvSpPr/>
          <p:nvPr/>
        </p:nvSpPr>
        <p:spPr>
          <a:xfrm>
            <a:off x="640080" y="3383280"/>
            <a:ext cx="10424160" cy="1005840"/>
          </a:xfrm>
          <a:prstGeom prst="rect">
            <a:avLst/>
          </a:prstGeom>
          <a:noFill/>
          <a:ln/>
        </p:spPr>
        <p:txBody>
          <a:bodyPr wrap="square" lIns="0" tIns="0" rIns="0" bIns="0" rtlCol="0" anchor="t"/>
          <a:lstStyle/>
          <a:p>
            <a:pPr indent="0" marL="0">
              <a:buNone/>
            </a:pPr>
            <a:r>
              <a:rPr lang="en-US" sz="2400" b="1" dirty="0">
                <a:solidFill>
                  <a:srgbClr val="27D3BE"/>
                </a:solidFill>
                <a:latin typeface="Palatino Linotype" pitchFamily="34" charset="0"/>
                <a:ea typeface="Palatino Linotype" pitchFamily="34" charset="-122"/>
                <a:cs typeface="Palatino Linotype" pitchFamily="34" charset="-120"/>
              </a:rPr>
              <a:t>Tranziția demografică și epidemiologică. Profilul demografic al României. Sănătatea mamei și copilului</a:t>
            </a:r>
            <a:endParaRPr lang="en-US" sz="2400" dirty="0"/>
          </a:p>
        </p:txBody>
      </p:sp>
      <p:sp>
        <p:nvSpPr>
          <p:cNvPr id="6" name="Shape 4"/>
          <p:cNvSpPr/>
          <p:nvPr/>
        </p:nvSpPr>
        <p:spPr>
          <a:xfrm>
            <a:off x="667512" y="4617720"/>
            <a:ext cx="1280160" cy="27432"/>
          </a:xfrm>
          <a:prstGeom prst="rect">
            <a:avLst/>
          </a:prstGeom>
          <a:solidFill>
            <a:srgbClr val="FF4757"/>
          </a:solidFill>
          <a:ln w="12700">
            <a:solidFill>
              <a:srgbClr val="FF4757"/>
            </a:solidFill>
            <a:prstDash val="solid"/>
          </a:ln>
        </p:spPr>
      </p:sp>
      <p:sp>
        <p:nvSpPr>
          <p:cNvPr id="7" name="Text 5"/>
          <p:cNvSpPr/>
          <p:nvPr/>
        </p:nvSpPr>
        <p:spPr>
          <a:xfrm>
            <a:off x="640080" y="4800600"/>
            <a:ext cx="10515600" cy="731520"/>
          </a:xfrm>
          <a:prstGeom prst="rect">
            <a:avLst/>
          </a:prstGeom>
          <a:noFill/>
          <a:ln/>
        </p:spPr>
        <p:txBody>
          <a:bodyPr wrap="square" lIns="0" tIns="0" rIns="0" bIns="0" rtlCol="0" anchor="t"/>
          <a:lstStyle/>
          <a:p>
            <a:pPr indent="0" marL="0">
              <a:buNone/>
            </a:pPr>
            <a:r>
              <a:rPr lang="en-US" sz="1600" dirty="0">
                <a:solidFill>
                  <a:srgbClr val="959BB0"/>
                </a:solidFill>
                <a:latin typeface="Palatino Linotype" pitchFamily="34" charset="0"/>
                <a:ea typeface="Palatino Linotype" pitchFamily="34" charset="-122"/>
                <a:cs typeface="Palatino Linotype" pitchFamily="34" charset="-120"/>
              </a:rPr>
              <a:t>Trei întrebări: cum se schimbă nașterile și decesele, cum se schimbă bolile, ce înseamnă aceste schimbări pentru mame și copii</a:t>
            </a:r>
            <a:endParaRPr lang="en-US" sz="1600" dirty="0"/>
          </a:p>
        </p:txBody>
      </p:sp>
      <p:sp>
        <p:nvSpPr>
          <p:cNvPr id="8" name="Text 6"/>
          <p:cNvSpPr/>
          <p:nvPr/>
        </p:nvSpPr>
        <p:spPr>
          <a:xfrm>
            <a:off x="640080" y="5669280"/>
            <a:ext cx="10515600" cy="365760"/>
          </a:xfrm>
          <a:prstGeom prst="rect">
            <a:avLst/>
          </a:prstGeom>
          <a:noFill/>
          <a:ln/>
        </p:spPr>
        <p:txBody>
          <a:bodyPr wrap="square" lIns="0" tIns="0" rIns="0" bIns="0" rtlCol="0" anchor="t"/>
          <a:lstStyle/>
          <a:p>
            <a:pPr indent="0" marL="0">
              <a:buNone/>
            </a:pPr>
            <a:r>
              <a:rPr lang="en-US" sz="1300" dirty="0">
                <a:solidFill>
                  <a:srgbClr val="959BB0"/>
                </a:solidFill>
                <a:latin typeface="Palatino Linotype" pitchFamily="34" charset="0"/>
                <a:ea typeface="Palatino Linotype" pitchFamily="34" charset="-122"/>
                <a:cs typeface="Palatino Linotype" pitchFamily="34" charset="-120"/>
              </a:rPr>
              <a:t>UMF Cluj-Napoca · Medicină, anul VI</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229600" y="292608"/>
            <a:ext cx="3337560" cy="420624"/>
          </a:xfrm>
          <a:prstGeom prst="roundRect">
            <a:avLst>
              <a:gd name="adj" fmla="val 50000"/>
            </a:avLst>
          </a:prstGeom>
          <a:solidFill>
            <a:srgbClr val="FFC24B"/>
          </a:solidFill>
          <a:ln w="12700">
            <a:solidFill>
              <a:srgbClr val="FFC24B"/>
            </a:solidFill>
            <a:prstDash val="solid"/>
          </a:ln>
        </p:spPr>
      </p:sp>
      <p:sp>
        <p:nvSpPr>
          <p:cNvPr id="3" name="Text 1"/>
          <p:cNvSpPr/>
          <p:nvPr/>
        </p:nvSpPr>
        <p:spPr>
          <a:xfrm>
            <a:off x="8229600" y="292608"/>
            <a:ext cx="333756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a:t>
            </a:r>
            <a:endParaRPr lang="en-US" sz="1300" dirty="0"/>
          </a:p>
        </p:txBody>
      </p:sp>
      <p:sp>
        <p:nvSpPr>
          <p:cNvPr id="4" name="Text 2"/>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ÎNAINTE DE ORICE CIFRĂ</a:t>
            </a:r>
            <a:endParaRPr lang="en-US" sz="1300" dirty="0"/>
          </a:p>
        </p:txBody>
      </p:sp>
      <p:sp>
        <p:nvSpPr>
          <p:cNvPr id="5" name="Text 3"/>
          <p:cNvSpPr/>
          <p:nvPr/>
        </p:nvSpPr>
        <p:spPr>
          <a:xfrm>
            <a:off x="594360" y="713232"/>
            <a:ext cx="10972800" cy="100584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Câți locuitori are România?</a:t>
            </a:r>
            <a:endParaRPr lang="en-US" sz="3400" dirty="0"/>
          </a:p>
        </p:txBody>
      </p:sp>
      <p:sp>
        <p:nvSpPr>
          <p:cNvPr id="6" name="Shape 4"/>
          <p:cNvSpPr/>
          <p:nvPr/>
        </p:nvSpPr>
        <p:spPr>
          <a:xfrm>
            <a:off x="594360" y="2011680"/>
            <a:ext cx="3520440" cy="2743200"/>
          </a:xfrm>
          <a:prstGeom prst="roundRect">
            <a:avLst>
              <a:gd name="adj" fmla="val 3000"/>
            </a:avLst>
          </a:prstGeom>
          <a:solidFill>
            <a:srgbClr val="1D1F2B"/>
          </a:solidFill>
          <a:ln w="12700">
            <a:solidFill>
              <a:srgbClr val="1D1F2B"/>
            </a:solidFill>
            <a:prstDash val="solid"/>
          </a:ln>
        </p:spPr>
      </p:sp>
      <p:sp>
        <p:nvSpPr>
          <p:cNvPr id="7" name="Text 5"/>
          <p:cNvSpPr/>
          <p:nvPr/>
        </p:nvSpPr>
        <p:spPr>
          <a:xfrm>
            <a:off x="914400" y="2240280"/>
            <a:ext cx="2926080" cy="822960"/>
          </a:xfrm>
          <a:prstGeom prst="rect">
            <a:avLst/>
          </a:prstGeom>
          <a:noFill/>
          <a:ln/>
        </p:spPr>
        <p:txBody>
          <a:bodyPr wrap="square" lIns="0" tIns="0" rIns="0" bIns="0" rtlCol="0" anchor="t"/>
          <a:lstStyle/>
          <a:p>
            <a:pPr indent="0" marL="0">
              <a:buNone/>
            </a:pPr>
            <a:r>
              <a:rPr lang="en-US" sz="4000" b="1" dirty="0">
                <a:solidFill>
                  <a:srgbClr val="FF4757"/>
                </a:solidFill>
                <a:latin typeface="Palatino Linotype" pitchFamily="34" charset="0"/>
                <a:ea typeface="Palatino Linotype" pitchFamily="34" charset="-122"/>
                <a:cs typeface="Palatino Linotype" pitchFamily="34" charset="-120"/>
              </a:rPr>
              <a:t>1990</a:t>
            </a:r>
            <a:endParaRPr lang="en-US" sz="4000" dirty="0"/>
          </a:p>
        </p:txBody>
      </p:sp>
      <p:sp>
        <p:nvSpPr>
          <p:cNvPr id="8" name="Text 6"/>
          <p:cNvSpPr/>
          <p:nvPr/>
        </p:nvSpPr>
        <p:spPr>
          <a:xfrm>
            <a:off x="914400" y="3200400"/>
            <a:ext cx="2926080" cy="1097280"/>
          </a:xfrm>
          <a:prstGeom prst="rect">
            <a:avLst/>
          </a:prstGeom>
          <a:noFill/>
          <a:ln/>
        </p:spPr>
        <p:txBody>
          <a:bodyPr wrap="square" lIns="0" tIns="0" rIns="0" bIns="0" rtlCol="0" anchor="t"/>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Câți locuitori avea România în 1990?</a:t>
            </a:r>
            <a:endParaRPr lang="en-US" sz="1900" dirty="0"/>
          </a:p>
        </p:txBody>
      </p:sp>
      <p:sp>
        <p:nvSpPr>
          <p:cNvPr id="9" name="Text 7"/>
          <p:cNvSpPr/>
          <p:nvPr/>
        </p:nvSpPr>
        <p:spPr>
          <a:xfrm>
            <a:off x="914400" y="4297680"/>
            <a:ext cx="2926080" cy="320040"/>
          </a:xfrm>
          <a:prstGeom prst="rect">
            <a:avLst/>
          </a:prstGeom>
          <a:noFill/>
          <a:ln/>
        </p:spPr>
        <p:txBody>
          <a:bodyPr wrap="square" lIns="0" tIns="0" rIns="0" bIns="0" rtlCol="0" anchor="t"/>
          <a:lstStyle/>
          <a:p>
            <a:pPr indent="0" marL="0">
              <a:buNone/>
            </a:pPr>
            <a:r>
              <a:rPr lang="en-US" sz="1300" i="1" dirty="0">
                <a:solidFill>
                  <a:srgbClr val="959BB0"/>
                </a:solidFill>
                <a:latin typeface="Palatino Linotype" pitchFamily="34" charset="0"/>
                <a:ea typeface="Palatino Linotype" pitchFamily="34" charset="-122"/>
                <a:cs typeface="Palatino Linotype" pitchFamily="34" charset="-120"/>
              </a:rPr>
              <a:t>în milioane</a:t>
            </a:r>
            <a:endParaRPr lang="en-US" sz="1300" dirty="0"/>
          </a:p>
        </p:txBody>
      </p:sp>
      <p:sp>
        <p:nvSpPr>
          <p:cNvPr id="10" name="Shape 8"/>
          <p:cNvSpPr/>
          <p:nvPr/>
        </p:nvSpPr>
        <p:spPr>
          <a:xfrm>
            <a:off x="4389120" y="2011680"/>
            <a:ext cx="3520440" cy="2743200"/>
          </a:xfrm>
          <a:prstGeom prst="roundRect">
            <a:avLst>
              <a:gd name="adj" fmla="val 3000"/>
            </a:avLst>
          </a:prstGeom>
          <a:solidFill>
            <a:srgbClr val="1D1F2B"/>
          </a:solidFill>
          <a:ln w="12700">
            <a:solidFill>
              <a:srgbClr val="1D1F2B"/>
            </a:solidFill>
            <a:prstDash val="solid"/>
          </a:ln>
        </p:spPr>
      </p:sp>
      <p:sp>
        <p:nvSpPr>
          <p:cNvPr id="11" name="Text 9"/>
          <p:cNvSpPr/>
          <p:nvPr/>
        </p:nvSpPr>
        <p:spPr>
          <a:xfrm>
            <a:off x="4709160" y="2240280"/>
            <a:ext cx="2926080" cy="822960"/>
          </a:xfrm>
          <a:prstGeom prst="rect">
            <a:avLst/>
          </a:prstGeom>
          <a:noFill/>
          <a:ln/>
        </p:spPr>
        <p:txBody>
          <a:bodyPr wrap="square" lIns="0" tIns="0" rIns="0" bIns="0" rtlCol="0" anchor="t"/>
          <a:lstStyle/>
          <a:p>
            <a:pPr indent="0" marL="0">
              <a:buNone/>
            </a:pPr>
            <a:r>
              <a:rPr lang="en-US" sz="4000" b="1" dirty="0">
                <a:solidFill>
                  <a:srgbClr val="27D3BE"/>
                </a:solidFill>
                <a:latin typeface="Palatino Linotype" pitchFamily="34" charset="0"/>
                <a:ea typeface="Palatino Linotype" pitchFamily="34" charset="-122"/>
                <a:cs typeface="Palatino Linotype" pitchFamily="34" charset="-120"/>
              </a:rPr>
              <a:t>ASTĂZI</a:t>
            </a:r>
            <a:endParaRPr lang="en-US" sz="4000" dirty="0"/>
          </a:p>
        </p:txBody>
      </p:sp>
      <p:sp>
        <p:nvSpPr>
          <p:cNvPr id="12" name="Text 10"/>
          <p:cNvSpPr/>
          <p:nvPr/>
        </p:nvSpPr>
        <p:spPr>
          <a:xfrm>
            <a:off x="4709160" y="3200400"/>
            <a:ext cx="2926080" cy="1097280"/>
          </a:xfrm>
          <a:prstGeom prst="rect">
            <a:avLst/>
          </a:prstGeom>
          <a:noFill/>
          <a:ln/>
        </p:spPr>
        <p:txBody>
          <a:bodyPr wrap="square" lIns="0" tIns="0" rIns="0" bIns="0" rtlCol="0" anchor="t"/>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Câți locuitori are România astăzi?</a:t>
            </a:r>
            <a:endParaRPr lang="en-US" sz="1900" dirty="0"/>
          </a:p>
        </p:txBody>
      </p:sp>
      <p:sp>
        <p:nvSpPr>
          <p:cNvPr id="13" name="Text 11"/>
          <p:cNvSpPr/>
          <p:nvPr/>
        </p:nvSpPr>
        <p:spPr>
          <a:xfrm>
            <a:off x="4709160" y="4297680"/>
            <a:ext cx="2926080" cy="320040"/>
          </a:xfrm>
          <a:prstGeom prst="rect">
            <a:avLst/>
          </a:prstGeom>
          <a:noFill/>
          <a:ln/>
        </p:spPr>
        <p:txBody>
          <a:bodyPr wrap="square" lIns="0" tIns="0" rIns="0" bIns="0" rtlCol="0" anchor="t"/>
          <a:lstStyle/>
          <a:p>
            <a:pPr indent="0" marL="0">
              <a:buNone/>
            </a:pPr>
            <a:r>
              <a:rPr lang="en-US" sz="1300" i="1" dirty="0">
                <a:solidFill>
                  <a:srgbClr val="959BB0"/>
                </a:solidFill>
                <a:latin typeface="Palatino Linotype" pitchFamily="34" charset="0"/>
                <a:ea typeface="Palatino Linotype" pitchFamily="34" charset="-122"/>
                <a:cs typeface="Palatino Linotype" pitchFamily="34" charset="-120"/>
              </a:rPr>
              <a:t>în milioane</a:t>
            </a:r>
            <a:endParaRPr lang="en-US" sz="1300" dirty="0"/>
          </a:p>
        </p:txBody>
      </p:sp>
      <p:sp>
        <p:nvSpPr>
          <p:cNvPr id="14" name="Shape 12"/>
          <p:cNvSpPr/>
          <p:nvPr/>
        </p:nvSpPr>
        <p:spPr>
          <a:xfrm>
            <a:off x="8183880" y="2011680"/>
            <a:ext cx="3520440" cy="2743200"/>
          </a:xfrm>
          <a:prstGeom prst="roundRect">
            <a:avLst>
              <a:gd name="adj" fmla="val 3000"/>
            </a:avLst>
          </a:prstGeom>
          <a:solidFill>
            <a:srgbClr val="1D1F2B"/>
          </a:solidFill>
          <a:ln w="12700">
            <a:solidFill>
              <a:srgbClr val="1D1F2B"/>
            </a:solidFill>
            <a:prstDash val="solid"/>
          </a:ln>
        </p:spPr>
      </p:sp>
      <p:sp>
        <p:nvSpPr>
          <p:cNvPr id="15" name="Text 13"/>
          <p:cNvSpPr/>
          <p:nvPr/>
        </p:nvSpPr>
        <p:spPr>
          <a:xfrm>
            <a:off x="8503920" y="2240280"/>
            <a:ext cx="2926080" cy="822960"/>
          </a:xfrm>
          <a:prstGeom prst="rect">
            <a:avLst/>
          </a:prstGeom>
          <a:noFill/>
          <a:ln/>
        </p:spPr>
        <p:txBody>
          <a:bodyPr wrap="square" lIns="0" tIns="0" rIns="0" bIns="0" rtlCol="0" anchor="t"/>
          <a:lstStyle/>
          <a:p>
            <a:pPr indent="0" marL="0">
              <a:buNone/>
            </a:pPr>
            <a:r>
              <a:rPr lang="en-US" sz="4000" b="1" dirty="0">
                <a:solidFill>
                  <a:srgbClr val="FFC24B"/>
                </a:solidFill>
                <a:latin typeface="Palatino Linotype" pitchFamily="34" charset="0"/>
                <a:ea typeface="Palatino Linotype" pitchFamily="34" charset="-122"/>
                <a:cs typeface="Palatino Linotype" pitchFamily="34" charset="-120"/>
              </a:rPr>
              <a:t>2050</a:t>
            </a:r>
            <a:endParaRPr lang="en-US" sz="4000" dirty="0"/>
          </a:p>
        </p:txBody>
      </p:sp>
      <p:sp>
        <p:nvSpPr>
          <p:cNvPr id="16" name="Text 14"/>
          <p:cNvSpPr/>
          <p:nvPr/>
        </p:nvSpPr>
        <p:spPr>
          <a:xfrm>
            <a:off x="8503920" y="3200400"/>
            <a:ext cx="2926080" cy="1097280"/>
          </a:xfrm>
          <a:prstGeom prst="rect">
            <a:avLst/>
          </a:prstGeom>
          <a:noFill/>
          <a:ln/>
        </p:spPr>
        <p:txBody>
          <a:bodyPr wrap="square" lIns="0" tIns="0" rIns="0" bIns="0" rtlCol="0" anchor="t"/>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Câți va avea la mijlocul secolului?</a:t>
            </a:r>
            <a:endParaRPr lang="en-US" sz="1900" dirty="0"/>
          </a:p>
        </p:txBody>
      </p:sp>
      <p:sp>
        <p:nvSpPr>
          <p:cNvPr id="17" name="Text 15"/>
          <p:cNvSpPr/>
          <p:nvPr/>
        </p:nvSpPr>
        <p:spPr>
          <a:xfrm>
            <a:off x="8503920" y="4297680"/>
            <a:ext cx="2926080" cy="320040"/>
          </a:xfrm>
          <a:prstGeom prst="rect">
            <a:avLst/>
          </a:prstGeom>
          <a:noFill/>
          <a:ln/>
        </p:spPr>
        <p:txBody>
          <a:bodyPr wrap="square" lIns="0" tIns="0" rIns="0" bIns="0" rtlCol="0" anchor="t"/>
          <a:lstStyle/>
          <a:p>
            <a:pPr indent="0" marL="0">
              <a:buNone/>
            </a:pPr>
            <a:r>
              <a:rPr lang="en-US" sz="1300" i="1" dirty="0">
                <a:solidFill>
                  <a:srgbClr val="959BB0"/>
                </a:solidFill>
                <a:latin typeface="Palatino Linotype" pitchFamily="34" charset="0"/>
                <a:ea typeface="Palatino Linotype" pitchFamily="34" charset="-122"/>
                <a:cs typeface="Palatino Linotype" pitchFamily="34" charset="-120"/>
              </a:rPr>
              <a:t>în milioane</a:t>
            </a:r>
            <a:endParaRPr lang="en-US" sz="1300" dirty="0"/>
          </a:p>
        </p:txBody>
      </p:sp>
      <p:sp>
        <p:nvSpPr>
          <p:cNvPr id="18" name="Text 16"/>
          <p:cNvSpPr/>
          <p:nvPr/>
        </p:nvSpPr>
        <p:spPr>
          <a:xfrm>
            <a:off x="594360" y="5212080"/>
            <a:ext cx="10972800" cy="548640"/>
          </a:xfrm>
          <a:prstGeom prst="rect">
            <a:avLst/>
          </a:prstGeom>
          <a:noFill/>
          <a:ln/>
        </p:spPr>
        <p:txBody>
          <a:bodyPr wrap="square" lIns="0" tIns="0" rIns="0" bIns="0" rtlCol="0" anchor="t"/>
          <a:lstStyle/>
          <a:p>
            <a:pPr indent="0" marL="0">
              <a:buNone/>
            </a:pPr>
            <a:r>
              <a:rPr lang="en-US" sz="2000" b="1" dirty="0">
                <a:solidFill>
                  <a:srgbClr val="FFC24B"/>
                </a:solidFill>
                <a:latin typeface="Palatino Linotype" pitchFamily="34" charset="0"/>
                <a:ea typeface="Palatino Linotype" pitchFamily="34" charset="-122"/>
                <a:cs typeface="Palatino Linotype" pitchFamily="34" charset="-120"/>
              </a:rPr>
              <a:t>Estimați, fără să căutați. Răspundeți pe telefon, la codul afișat.</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ÎNTREBAREA DIN TITLU</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Răspunsul: două cauze care se adună</a:t>
            </a:r>
            <a:endParaRPr lang="en-US" sz="3400" dirty="0"/>
          </a:p>
        </p:txBody>
      </p:sp>
      <p:sp>
        <p:nvSpPr>
          <p:cNvPr id="4" name="Shape 2"/>
          <p:cNvSpPr/>
          <p:nvPr/>
        </p:nvSpPr>
        <p:spPr>
          <a:xfrm>
            <a:off x="594360" y="1783080"/>
            <a:ext cx="5303520" cy="1783080"/>
          </a:xfrm>
          <a:prstGeom prst="roundRect">
            <a:avLst>
              <a:gd name="adj" fmla="val 4615"/>
            </a:avLst>
          </a:prstGeom>
          <a:solidFill>
            <a:srgbClr val="1D1F2B"/>
          </a:solidFill>
          <a:ln w="12700">
            <a:solidFill>
              <a:srgbClr val="1D1F2B"/>
            </a:solidFill>
            <a:prstDash val="solid"/>
          </a:ln>
        </p:spPr>
      </p:sp>
      <p:sp>
        <p:nvSpPr>
          <p:cNvPr id="5" name="Text 3"/>
          <p:cNvSpPr/>
          <p:nvPr/>
        </p:nvSpPr>
        <p:spPr>
          <a:xfrm>
            <a:off x="960120" y="1920240"/>
            <a:ext cx="4572000" cy="365760"/>
          </a:xfrm>
          <a:prstGeom prst="rect">
            <a:avLst/>
          </a:prstGeom>
          <a:noFill/>
          <a:ln/>
        </p:spPr>
        <p:txBody>
          <a:bodyPr wrap="square" lIns="0" tIns="0" rIns="0" bIns="0" rtlCol="0" anchor="t"/>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1 IANUARIE 1990</a:t>
            </a:r>
            <a:endParaRPr lang="en-US" sz="1300" dirty="0"/>
          </a:p>
        </p:txBody>
      </p:sp>
      <p:sp>
        <p:nvSpPr>
          <p:cNvPr id="6" name="Text 4"/>
          <p:cNvSpPr/>
          <p:nvPr/>
        </p:nvSpPr>
        <p:spPr>
          <a:xfrm>
            <a:off x="960120" y="2331720"/>
            <a:ext cx="4572000" cy="1097280"/>
          </a:xfrm>
          <a:prstGeom prst="rect">
            <a:avLst/>
          </a:prstGeom>
          <a:noFill/>
          <a:ln/>
        </p:spPr>
        <p:txBody>
          <a:bodyPr wrap="square" lIns="0" tIns="0" rIns="0" bIns="0" rtlCol="0" anchor="ctr"/>
          <a:lstStyle/>
          <a:p>
            <a:pPr indent="0" marL="0">
              <a:buNone/>
            </a:pPr>
            <a:r>
              <a:rPr lang="en-US" sz="5400" b="1" dirty="0">
                <a:solidFill>
                  <a:srgbClr val="FFFFFF"/>
                </a:solidFill>
                <a:latin typeface="Palatino Linotype" pitchFamily="34" charset="0"/>
                <a:ea typeface="Palatino Linotype" pitchFamily="34" charset="-122"/>
                <a:cs typeface="Palatino Linotype" pitchFamily="34" charset="-120"/>
              </a:rPr>
              <a:t>23 211 395</a:t>
            </a:r>
            <a:endParaRPr lang="en-US" sz="5400" dirty="0"/>
          </a:p>
        </p:txBody>
      </p:sp>
      <p:sp>
        <p:nvSpPr>
          <p:cNvPr id="7" name="Shape 5"/>
          <p:cNvSpPr/>
          <p:nvPr/>
        </p:nvSpPr>
        <p:spPr>
          <a:xfrm>
            <a:off x="6263640" y="1783080"/>
            <a:ext cx="5303520" cy="1783080"/>
          </a:xfrm>
          <a:prstGeom prst="roundRect">
            <a:avLst>
              <a:gd name="adj" fmla="val 4615"/>
            </a:avLst>
          </a:prstGeom>
          <a:solidFill>
            <a:srgbClr val="1D1F2B"/>
          </a:solidFill>
          <a:ln w="12700">
            <a:solidFill>
              <a:srgbClr val="1D1F2B"/>
            </a:solidFill>
            <a:prstDash val="solid"/>
          </a:ln>
        </p:spPr>
      </p:sp>
      <p:sp>
        <p:nvSpPr>
          <p:cNvPr id="8" name="Text 6"/>
          <p:cNvSpPr/>
          <p:nvPr/>
        </p:nvSpPr>
        <p:spPr>
          <a:xfrm>
            <a:off x="6629400" y="1920240"/>
            <a:ext cx="4572000" cy="365760"/>
          </a:xfrm>
          <a:prstGeom prst="rect">
            <a:avLst/>
          </a:prstGeom>
          <a:noFill/>
          <a:ln/>
        </p:spPr>
        <p:txBody>
          <a:bodyPr wrap="square" lIns="0" tIns="0" rIns="0" bIns="0" rtlCol="0" anchor="t"/>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1 IANUARIE 2026 (ESTIMARE)</a:t>
            </a:r>
            <a:endParaRPr lang="en-US" sz="1300" dirty="0"/>
          </a:p>
        </p:txBody>
      </p:sp>
      <p:sp>
        <p:nvSpPr>
          <p:cNvPr id="9" name="Text 7"/>
          <p:cNvSpPr/>
          <p:nvPr/>
        </p:nvSpPr>
        <p:spPr>
          <a:xfrm>
            <a:off x="6629400" y="2331720"/>
            <a:ext cx="4572000" cy="1097280"/>
          </a:xfrm>
          <a:prstGeom prst="rect">
            <a:avLst/>
          </a:prstGeom>
          <a:noFill/>
          <a:ln/>
        </p:spPr>
        <p:txBody>
          <a:bodyPr wrap="square" lIns="0" tIns="0" rIns="0" bIns="0" rtlCol="0" anchor="ctr"/>
          <a:lstStyle/>
          <a:p>
            <a:pPr indent="0" marL="0">
              <a:buNone/>
            </a:pPr>
            <a:r>
              <a:rPr lang="en-US" sz="5400" b="1" dirty="0">
                <a:solidFill>
                  <a:srgbClr val="FFFFFF"/>
                </a:solidFill>
                <a:latin typeface="Palatino Linotype" pitchFamily="34" charset="0"/>
                <a:ea typeface="Palatino Linotype" pitchFamily="34" charset="-122"/>
                <a:cs typeface="Palatino Linotype" pitchFamily="34" charset="-120"/>
              </a:rPr>
              <a:t>19 041 322</a:t>
            </a:r>
            <a:endParaRPr lang="en-US" sz="5400" dirty="0"/>
          </a:p>
        </p:txBody>
      </p:sp>
      <p:sp>
        <p:nvSpPr>
          <p:cNvPr id="10" name="Shape 8"/>
          <p:cNvSpPr/>
          <p:nvPr/>
        </p:nvSpPr>
        <p:spPr>
          <a:xfrm>
            <a:off x="5760720" y="2514600"/>
            <a:ext cx="457200" cy="329184"/>
          </a:xfrm>
          <a:prstGeom prst="rightArrow">
            <a:avLst/>
          </a:prstGeom>
          <a:solidFill>
            <a:srgbClr val="FFC24B"/>
          </a:solidFill>
          <a:ln w="12700">
            <a:solidFill>
              <a:srgbClr val="FFC24B"/>
            </a:solidFill>
            <a:prstDash val="solid"/>
          </a:ln>
        </p:spPr>
      </p:sp>
      <p:sp>
        <p:nvSpPr>
          <p:cNvPr id="11" name="Text 9"/>
          <p:cNvSpPr/>
          <p:nvPr/>
        </p:nvSpPr>
        <p:spPr>
          <a:xfrm>
            <a:off x="594360" y="3749040"/>
            <a:ext cx="10972800" cy="548640"/>
          </a:xfrm>
          <a:prstGeom prst="rect">
            <a:avLst/>
          </a:prstGeom>
          <a:noFill/>
          <a:ln/>
        </p:spPr>
        <p:txBody>
          <a:bodyPr wrap="square" lIns="0" tIns="0" rIns="0" bIns="0" rtlCol="0" anchor="t"/>
          <a:lstStyle/>
          <a:p>
            <a:pPr indent="0" marL="0">
              <a:buNone/>
            </a:pPr>
            <a:r>
              <a:rPr lang="en-US" sz="2400" b="1" dirty="0">
                <a:solidFill>
                  <a:srgbClr val="FFC24B"/>
                </a:solidFill>
                <a:latin typeface="Palatino Linotype" pitchFamily="34" charset="0"/>
                <a:ea typeface="Palatino Linotype" pitchFamily="34" charset="-122"/>
                <a:cs typeface="Palatino Linotype" pitchFamily="34" charset="-120"/>
              </a:rPr>
              <a:t>Diferența: 4 170 073 de persoane, aproximativ 4,2 milioane</a:t>
            </a:r>
            <a:endParaRPr lang="en-US" sz="2400" dirty="0"/>
          </a:p>
        </p:txBody>
      </p:sp>
      <p:sp>
        <p:nvSpPr>
          <p:cNvPr id="12" name="Shape 10"/>
          <p:cNvSpPr/>
          <p:nvPr/>
        </p:nvSpPr>
        <p:spPr>
          <a:xfrm>
            <a:off x="594360" y="4480560"/>
            <a:ext cx="5349240" cy="1463040"/>
          </a:xfrm>
          <a:prstGeom prst="roundRect">
            <a:avLst>
              <a:gd name="adj" fmla="val 5625"/>
            </a:avLst>
          </a:prstGeom>
          <a:solidFill>
            <a:srgbClr val="272A38"/>
          </a:solidFill>
          <a:ln w="12700">
            <a:solidFill>
              <a:srgbClr val="272A38"/>
            </a:solidFill>
            <a:prstDash val="solid"/>
          </a:ln>
        </p:spPr>
      </p:sp>
      <p:sp>
        <p:nvSpPr>
          <p:cNvPr id="13" name="Shape 11"/>
          <p:cNvSpPr/>
          <p:nvPr/>
        </p:nvSpPr>
        <p:spPr>
          <a:xfrm>
            <a:off x="868680" y="4800600"/>
            <a:ext cx="420624" cy="420624"/>
          </a:xfrm>
          <a:prstGeom prst="ellipse">
            <a:avLst/>
          </a:prstGeom>
          <a:solidFill>
            <a:srgbClr val="FF4757"/>
          </a:solidFill>
          <a:ln/>
        </p:spPr>
      </p:sp>
      <p:sp>
        <p:nvSpPr>
          <p:cNvPr id="14" name="Text 12"/>
          <p:cNvSpPr/>
          <p:nvPr/>
        </p:nvSpPr>
        <p:spPr>
          <a:xfrm>
            <a:off x="868680" y="480060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15" name="Text 13"/>
          <p:cNvSpPr/>
          <p:nvPr/>
        </p:nvSpPr>
        <p:spPr>
          <a:xfrm>
            <a:off x="1508760" y="4572000"/>
            <a:ext cx="4206240" cy="411480"/>
          </a:xfrm>
          <a:prstGeom prst="rect">
            <a:avLst/>
          </a:prstGeom>
          <a:noFill/>
          <a:ln/>
        </p:spPr>
        <p:txBody>
          <a:bodyPr wrap="square" lIns="0" tIns="0" rIns="0" bIns="0" rtlCol="0" anchor="t"/>
          <a:lstStyle/>
          <a:p>
            <a:pPr indent="0" marL="0">
              <a:buNone/>
            </a:pPr>
            <a:r>
              <a:rPr lang="en-US" sz="1800" b="1" dirty="0">
                <a:solidFill>
                  <a:srgbClr val="FF4757"/>
                </a:solidFill>
                <a:latin typeface="Palatino Linotype" pitchFamily="34" charset="0"/>
                <a:ea typeface="Palatino Linotype" pitchFamily="34" charset="-122"/>
                <a:cs typeface="Palatino Linotype" pitchFamily="34" charset="-120"/>
              </a:rPr>
              <a:t>Sporul natural</a:t>
            </a:r>
            <a:endParaRPr lang="en-US" sz="1800" dirty="0"/>
          </a:p>
        </p:txBody>
      </p:sp>
      <p:sp>
        <p:nvSpPr>
          <p:cNvPr id="16" name="Text 14"/>
          <p:cNvSpPr/>
          <p:nvPr/>
        </p:nvSpPr>
        <p:spPr>
          <a:xfrm>
            <a:off x="1508760" y="4983480"/>
            <a:ext cx="4206240" cy="868680"/>
          </a:xfrm>
          <a:prstGeom prst="rect">
            <a:avLst/>
          </a:prstGeom>
          <a:noFill/>
          <a:ln/>
        </p:spPr>
        <p:txBody>
          <a:bodyPr wrap="square" lIns="0" tIns="0" rIns="0" bIns="0" rtlCol="0" anchor="t"/>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Din 1992, mor mai mulți oameni decât se nasc.</a:t>
            </a:r>
            <a:endParaRPr lang="en-US" sz="1800" dirty="0"/>
          </a:p>
        </p:txBody>
      </p:sp>
      <p:sp>
        <p:nvSpPr>
          <p:cNvPr id="17" name="Shape 15"/>
          <p:cNvSpPr/>
          <p:nvPr/>
        </p:nvSpPr>
        <p:spPr>
          <a:xfrm>
            <a:off x="6217920" y="4480560"/>
            <a:ext cx="5349240" cy="1463040"/>
          </a:xfrm>
          <a:prstGeom prst="roundRect">
            <a:avLst>
              <a:gd name="adj" fmla="val 5625"/>
            </a:avLst>
          </a:prstGeom>
          <a:solidFill>
            <a:srgbClr val="272A38"/>
          </a:solidFill>
          <a:ln w="12700">
            <a:solidFill>
              <a:srgbClr val="272A38"/>
            </a:solidFill>
            <a:prstDash val="solid"/>
          </a:ln>
        </p:spPr>
      </p:sp>
      <p:sp>
        <p:nvSpPr>
          <p:cNvPr id="18" name="Shape 16"/>
          <p:cNvSpPr/>
          <p:nvPr/>
        </p:nvSpPr>
        <p:spPr>
          <a:xfrm>
            <a:off x="6492240" y="4800600"/>
            <a:ext cx="420624" cy="420624"/>
          </a:xfrm>
          <a:prstGeom prst="ellipse">
            <a:avLst/>
          </a:prstGeom>
          <a:solidFill>
            <a:srgbClr val="27D3BE"/>
          </a:solidFill>
          <a:ln/>
        </p:spPr>
      </p:sp>
      <p:sp>
        <p:nvSpPr>
          <p:cNvPr id="19" name="Text 17"/>
          <p:cNvSpPr/>
          <p:nvPr/>
        </p:nvSpPr>
        <p:spPr>
          <a:xfrm>
            <a:off x="6492240" y="480060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20" name="Text 18"/>
          <p:cNvSpPr/>
          <p:nvPr/>
        </p:nvSpPr>
        <p:spPr>
          <a:xfrm>
            <a:off x="7132320" y="4572000"/>
            <a:ext cx="4206240" cy="411480"/>
          </a:xfrm>
          <a:prstGeom prst="rect">
            <a:avLst/>
          </a:prstGeom>
          <a:noFill/>
          <a:ln/>
        </p:spPr>
        <p:txBody>
          <a:bodyPr wrap="square" lIns="0" tIns="0" rIns="0" bIns="0" rtlCol="0" anchor="t"/>
          <a:lstStyle/>
          <a:p>
            <a:pPr indent="0" marL="0">
              <a:buNone/>
            </a:pPr>
            <a:r>
              <a:rPr lang="en-US" sz="1800" b="1" dirty="0">
                <a:solidFill>
                  <a:srgbClr val="27D3BE"/>
                </a:solidFill>
                <a:latin typeface="Palatino Linotype" pitchFamily="34" charset="0"/>
                <a:ea typeface="Palatino Linotype" pitchFamily="34" charset="-122"/>
                <a:cs typeface="Palatino Linotype" pitchFamily="34" charset="-120"/>
              </a:rPr>
              <a:t>Migrația</a:t>
            </a:r>
            <a:endParaRPr lang="en-US" sz="1800" dirty="0"/>
          </a:p>
        </p:txBody>
      </p:sp>
      <p:sp>
        <p:nvSpPr>
          <p:cNvPr id="21" name="Text 19"/>
          <p:cNvSpPr/>
          <p:nvPr/>
        </p:nvSpPr>
        <p:spPr>
          <a:xfrm>
            <a:off x="7132320" y="4983480"/>
            <a:ext cx="4206240" cy="868680"/>
          </a:xfrm>
          <a:prstGeom prst="rect">
            <a:avLst/>
          </a:prstGeom>
          <a:noFill/>
          <a:ln/>
        </p:spPr>
        <p:txBody>
          <a:bodyPr wrap="square" lIns="0" tIns="0" rIns="0" bIns="0" rtlCol="0" anchor="t"/>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Timp de trei decenii, au plecat mai mulți decât au venit.</a:t>
            </a:r>
            <a:endParaRPr lang="en-US" sz="1800" dirty="0"/>
          </a:p>
        </p:txBody>
      </p:sp>
      <p:sp>
        <p:nvSpPr>
          <p:cNvPr id="22" name="Text 20"/>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Sursa: Eurostat, populația la 1 ianuarie.</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229600" y="292608"/>
            <a:ext cx="3337560" cy="420624"/>
          </a:xfrm>
          <a:prstGeom prst="roundRect">
            <a:avLst>
              <a:gd name="adj" fmla="val 50000"/>
            </a:avLst>
          </a:prstGeom>
          <a:solidFill>
            <a:srgbClr val="FFC24B"/>
          </a:solidFill>
          <a:ln w="12700">
            <a:solidFill>
              <a:srgbClr val="FFC24B"/>
            </a:solidFill>
            <a:prstDash val="solid"/>
          </a:ln>
        </p:spPr>
      </p:sp>
      <p:sp>
        <p:nvSpPr>
          <p:cNvPr id="3" name="Text 1"/>
          <p:cNvSpPr/>
          <p:nvPr/>
        </p:nvSpPr>
        <p:spPr>
          <a:xfrm>
            <a:off x="8229600" y="292608"/>
            <a:ext cx="333756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PERECHI · 3 MINUTE</a:t>
            </a:r>
            <a:endParaRPr lang="en-US" sz="1300" dirty="0"/>
          </a:p>
        </p:txBody>
      </p:sp>
      <p:sp>
        <p:nvSpPr>
          <p:cNvPr id="4" name="Text 2"/>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ÎNAINTE DE ORICE CONCEPT, UN CAZ</a:t>
            </a:r>
            <a:endParaRPr lang="en-US" sz="1300" dirty="0"/>
          </a:p>
        </p:txBody>
      </p:sp>
      <p:sp>
        <p:nvSpPr>
          <p:cNvPr id="5" name="Text 3"/>
          <p:cNvSpPr/>
          <p:nvPr/>
        </p:nvSpPr>
        <p:spPr>
          <a:xfrm>
            <a:off x="594360" y="713232"/>
            <a:ext cx="7589520" cy="100584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Ce se schimbă pe lista dumneavoastră de pacienți?</a:t>
            </a:r>
            <a:endParaRPr lang="en-US" sz="3200" dirty="0"/>
          </a:p>
        </p:txBody>
      </p:sp>
      <p:sp>
        <p:nvSpPr>
          <p:cNvPr id="6" name="Shape 4"/>
          <p:cNvSpPr/>
          <p:nvPr/>
        </p:nvSpPr>
        <p:spPr>
          <a:xfrm>
            <a:off x="594360" y="1920240"/>
            <a:ext cx="10972800" cy="1828800"/>
          </a:xfrm>
          <a:prstGeom prst="roundRect">
            <a:avLst>
              <a:gd name="adj" fmla="val 4500"/>
            </a:avLst>
          </a:prstGeom>
          <a:solidFill>
            <a:srgbClr val="1D1F2B"/>
          </a:solidFill>
          <a:ln w="12700">
            <a:solidFill>
              <a:srgbClr val="1D1F2B"/>
            </a:solidFill>
            <a:prstDash val="solid"/>
          </a:ln>
        </p:spPr>
      </p:sp>
      <p:sp>
        <p:nvSpPr>
          <p:cNvPr id="7" name="Text 5"/>
          <p:cNvSpPr/>
          <p:nvPr/>
        </p:nvSpPr>
        <p:spPr>
          <a:xfrm>
            <a:off x="914400" y="1920240"/>
            <a:ext cx="10332720" cy="1828800"/>
          </a:xfrm>
          <a:prstGeom prst="rect">
            <a:avLst/>
          </a:prstGeom>
          <a:noFill/>
          <a:ln/>
        </p:spPr>
        <p:txBody>
          <a:bodyPr wrap="square" lIns="0" tIns="0" rIns="0" bIns="0" rtlCol="0" anchor="ctr"/>
          <a:lstStyle/>
          <a:p>
            <a:pPr indent="0" marL="0">
              <a:buNone/>
            </a:pPr>
            <a:r>
              <a:rPr lang="en-US" sz="2200" dirty="0">
                <a:solidFill>
                  <a:srgbClr val="FFFFFF"/>
                </a:solidFill>
                <a:latin typeface="Palatino Linotype" pitchFamily="34" charset="0"/>
                <a:ea typeface="Palatino Linotype" pitchFamily="34" charset="-122"/>
                <a:cs typeface="Palatino Linotype" pitchFamily="34" charset="-120"/>
              </a:rPr>
              <a:t>Sunteți medic de familie într-o comună în care, de zece ani, se nasc tot mai puțini copii, iar o parte din tineri lucrează în străinătate.</a:t>
            </a:r>
            <a:endParaRPr lang="en-US" sz="2200" dirty="0"/>
          </a:p>
        </p:txBody>
      </p:sp>
      <p:sp>
        <p:nvSpPr>
          <p:cNvPr id="8" name="Shape 6"/>
          <p:cNvSpPr/>
          <p:nvPr/>
        </p:nvSpPr>
        <p:spPr>
          <a:xfrm>
            <a:off x="594360" y="4023360"/>
            <a:ext cx="10972800" cy="1463040"/>
          </a:xfrm>
          <a:prstGeom prst="roundRect">
            <a:avLst>
              <a:gd name="adj" fmla="val 5625"/>
            </a:avLst>
          </a:prstGeom>
          <a:solidFill>
            <a:srgbClr val="272A38"/>
          </a:solidFill>
          <a:ln w="12700">
            <a:solidFill>
              <a:srgbClr val="272A38"/>
            </a:solidFill>
            <a:prstDash val="solid"/>
          </a:ln>
        </p:spPr>
      </p:sp>
      <p:sp>
        <p:nvSpPr>
          <p:cNvPr id="9" name="Text 7"/>
          <p:cNvSpPr/>
          <p:nvPr/>
        </p:nvSpPr>
        <p:spPr>
          <a:xfrm>
            <a:off x="914400" y="4023360"/>
            <a:ext cx="10332720" cy="1463040"/>
          </a:xfrm>
          <a:prstGeom prst="rect">
            <a:avLst/>
          </a:prstGeom>
          <a:noFill/>
          <a:ln/>
        </p:spPr>
        <p:txBody>
          <a:bodyPr wrap="square" lIns="0" tIns="0" rIns="0" bIns="0" rtlCol="0" anchor="ctr"/>
          <a:lstStyle/>
          <a:p>
            <a:pPr indent="0" marL="0">
              <a:buNone/>
            </a:pPr>
            <a:r>
              <a:rPr lang="en-US" sz="2200" b="1" dirty="0">
                <a:solidFill>
                  <a:srgbClr val="27D3BE"/>
                </a:solidFill>
                <a:latin typeface="Palatino Linotype" pitchFamily="34" charset="0"/>
                <a:ea typeface="Palatino Linotype" pitchFamily="34" charset="-122"/>
                <a:cs typeface="Palatino Linotype" pitchFamily="34" charset="-120"/>
              </a:rPr>
              <a:t>Notați trei schimbări pe care le așteptați peste zece ani și o măsură pe care o puteți lua de acum.</a:t>
            </a:r>
            <a:endParaRPr lang="en-US" sz="2200" dirty="0"/>
          </a:p>
        </p:txBody>
      </p:sp>
      <p:sp>
        <p:nvSpPr>
          <p:cNvPr id="10" name="Text 8"/>
          <p:cNvSpPr/>
          <p:nvPr/>
        </p:nvSpPr>
        <p:spPr>
          <a:xfrm>
            <a:off x="594360" y="5577840"/>
            <a:ext cx="10972800" cy="548640"/>
          </a:xfrm>
          <a:prstGeom prst="rect">
            <a:avLst/>
          </a:prstGeom>
          <a:noFill/>
          <a:ln/>
        </p:spPr>
        <p:txBody>
          <a:bodyPr wrap="square" lIns="0" tIns="0" rIns="0" bIns="0" rtlCol="0" anchor="t"/>
          <a:lstStyle/>
          <a:p>
            <a:pPr indent="0" marL="0">
              <a:buNone/>
            </a:pPr>
            <a:r>
              <a:rPr lang="en-US" sz="1500" dirty="0">
                <a:solidFill>
                  <a:srgbClr val="959BB0"/>
                </a:solidFill>
                <a:latin typeface="Palatino Linotype" pitchFamily="34" charset="0"/>
                <a:ea typeface="Palatino Linotype" pitchFamily="34" charset="-122"/>
                <a:cs typeface="Palatino Linotype" pitchFamily="34" charset="-120"/>
              </a:rPr>
              <a:t>Trei minute în perechi, apoi două răspunsuri în sală. Lista se păstrează: conceptele care urmează explică de ce se schimbă pacienții.</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TERMEN NOU 1</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Tranziția demografică: patru etape</a:t>
            </a:r>
            <a:endParaRPr lang="en-US" sz="3200" dirty="0"/>
          </a:p>
        </p:txBody>
      </p:sp>
      <p:sp>
        <p:nvSpPr>
          <p:cNvPr id="4" name="Text 2"/>
          <p:cNvSpPr/>
          <p:nvPr/>
        </p:nvSpPr>
        <p:spPr>
          <a:xfrm>
            <a:off x="594360" y="1600200"/>
            <a:ext cx="10972800" cy="502920"/>
          </a:xfrm>
          <a:prstGeom prst="rect">
            <a:avLst/>
          </a:prstGeom>
          <a:noFill/>
          <a:ln/>
        </p:spPr>
        <p:txBody>
          <a:bodyPr wrap="square" lIns="0" tIns="0" rIns="0" bIns="0" rtlCol="0" anchor="t"/>
          <a:lstStyle/>
          <a:p>
            <a:pPr indent="0" marL="0">
              <a:buNone/>
            </a:pPr>
            <a:r>
              <a:rPr lang="en-US" sz="1900" b="1" dirty="0">
                <a:solidFill>
                  <a:srgbClr val="11121A"/>
                </a:solidFill>
                <a:latin typeface="Palatino Linotype" pitchFamily="34" charset="0"/>
                <a:ea typeface="Palatino Linotype" pitchFamily="34" charset="-122"/>
                <a:cs typeface="Palatino Linotype" pitchFamily="34" charset="-120"/>
              </a:rPr>
              <a:t>Trecerea de la mulți născuți și mulți morți la puțini născuți și puțini morți.</a:t>
            </a:r>
            <a:endParaRPr lang="en-US" sz="1900" dirty="0"/>
          </a:p>
        </p:txBody>
      </p:sp>
      <p:sp>
        <p:nvSpPr>
          <p:cNvPr id="5" name="Shape 3"/>
          <p:cNvSpPr/>
          <p:nvPr/>
        </p:nvSpPr>
        <p:spPr>
          <a:xfrm>
            <a:off x="594360" y="2286000"/>
            <a:ext cx="2651760" cy="3657600"/>
          </a:xfrm>
          <a:prstGeom prst="roundRect">
            <a:avLst>
              <a:gd name="adj" fmla="val 3103"/>
            </a:avLst>
          </a:prstGeom>
          <a:solidFill>
            <a:srgbClr val="ECEAE4"/>
          </a:solidFill>
          <a:ln w="12700">
            <a:solidFill>
              <a:srgbClr val="ECEAE4"/>
            </a:solidFill>
            <a:prstDash val="solid"/>
          </a:ln>
        </p:spPr>
      </p:sp>
      <p:sp>
        <p:nvSpPr>
          <p:cNvPr id="6" name="Shape 4"/>
          <p:cNvSpPr/>
          <p:nvPr/>
        </p:nvSpPr>
        <p:spPr>
          <a:xfrm>
            <a:off x="822960" y="2423160"/>
            <a:ext cx="420624" cy="420624"/>
          </a:xfrm>
          <a:prstGeom prst="ellipse">
            <a:avLst/>
          </a:prstGeom>
          <a:solidFill>
            <a:srgbClr val="FFC24B"/>
          </a:solidFill>
          <a:ln/>
        </p:spPr>
      </p:sp>
      <p:sp>
        <p:nvSpPr>
          <p:cNvPr id="7" name="Text 5"/>
          <p:cNvSpPr/>
          <p:nvPr/>
        </p:nvSpPr>
        <p:spPr>
          <a:xfrm>
            <a:off x="822960" y="242316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8" name="Shape 6"/>
          <p:cNvSpPr/>
          <p:nvPr/>
        </p:nvSpPr>
        <p:spPr>
          <a:xfrm>
            <a:off x="1463040" y="2194560"/>
            <a:ext cx="457200" cy="1645920"/>
          </a:xfrm>
          <a:prstGeom prst="rect">
            <a:avLst/>
          </a:prstGeom>
          <a:solidFill>
            <a:srgbClr val="FF4757"/>
          </a:solidFill>
          <a:ln w="12700">
            <a:solidFill>
              <a:srgbClr val="FF4757"/>
            </a:solidFill>
            <a:prstDash val="solid"/>
          </a:ln>
        </p:spPr>
      </p:sp>
      <p:sp>
        <p:nvSpPr>
          <p:cNvPr id="9" name="Shape 7"/>
          <p:cNvSpPr/>
          <p:nvPr/>
        </p:nvSpPr>
        <p:spPr>
          <a:xfrm>
            <a:off x="2103120" y="2194560"/>
            <a:ext cx="457200" cy="1645920"/>
          </a:xfrm>
          <a:prstGeom prst="rect">
            <a:avLst/>
          </a:prstGeom>
          <a:solidFill>
            <a:srgbClr val="11121A"/>
          </a:solidFill>
          <a:ln w="12700">
            <a:solidFill>
              <a:srgbClr val="11121A"/>
            </a:solidFill>
            <a:prstDash val="solid"/>
          </a:ln>
        </p:spPr>
      </p:sp>
      <p:sp>
        <p:nvSpPr>
          <p:cNvPr id="10" name="Shape 8"/>
          <p:cNvSpPr/>
          <p:nvPr/>
        </p:nvSpPr>
        <p:spPr>
          <a:xfrm>
            <a:off x="1325880" y="3840480"/>
            <a:ext cx="1371600" cy="18288"/>
          </a:xfrm>
          <a:prstGeom prst="rect">
            <a:avLst/>
          </a:prstGeom>
          <a:solidFill>
            <a:srgbClr val="6A6F85"/>
          </a:solidFill>
          <a:ln w="12700">
            <a:solidFill>
              <a:srgbClr val="6A6F85"/>
            </a:solidFill>
            <a:prstDash val="solid"/>
          </a:ln>
        </p:spPr>
      </p:sp>
      <p:sp>
        <p:nvSpPr>
          <p:cNvPr id="11" name="Text 9"/>
          <p:cNvSpPr/>
          <p:nvPr/>
        </p:nvSpPr>
        <p:spPr>
          <a:xfrm>
            <a:off x="822960" y="4023360"/>
            <a:ext cx="2194560" cy="457200"/>
          </a:xfrm>
          <a:prstGeom prst="rect">
            <a:avLst/>
          </a:prstGeom>
          <a:noFill/>
          <a:ln/>
        </p:spPr>
        <p:txBody>
          <a:bodyPr wrap="square" lIns="0" tIns="0" rIns="0" bIns="0" rtlCol="0" anchor="t"/>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ambele ridicate</a:t>
            </a:r>
            <a:endParaRPr lang="en-US" sz="1500" dirty="0"/>
          </a:p>
        </p:txBody>
      </p:sp>
      <p:sp>
        <p:nvSpPr>
          <p:cNvPr id="12" name="Text 10"/>
          <p:cNvSpPr/>
          <p:nvPr/>
        </p:nvSpPr>
        <p:spPr>
          <a:xfrm>
            <a:off x="822960" y="4526280"/>
            <a:ext cx="2194560" cy="1325880"/>
          </a:xfrm>
          <a:prstGeom prst="rect">
            <a:avLst/>
          </a:prstGeom>
          <a:noFill/>
          <a:ln/>
        </p:spPr>
        <p:txBody>
          <a:bodyPr wrap="square" lIns="0" tIns="0" rIns="0" bIns="0" rtlCol="0" anchor="t"/>
          <a:lstStyle/>
          <a:p>
            <a:pPr indent="0" marL="0">
              <a:buNone/>
            </a:pPr>
            <a:r>
              <a:rPr lang="en-US" sz="1400" dirty="0">
                <a:solidFill>
                  <a:srgbClr val="585A64"/>
                </a:solidFill>
                <a:latin typeface="Palatino Linotype" pitchFamily="34" charset="0"/>
                <a:ea typeface="Palatino Linotype" pitchFamily="34" charset="-122"/>
                <a:cs typeface="Palatino Linotype" pitchFamily="34" charset="-120"/>
              </a:rPr>
              <a:t>mortalitatea fluctuează cu epidemiile și foametea</a:t>
            </a:r>
            <a:endParaRPr lang="en-US" sz="1400" dirty="0"/>
          </a:p>
        </p:txBody>
      </p:sp>
      <p:sp>
        <p:nvSpPr>
          <p:cNvPr id="13" name="Shape 11"/>
          <p:cNvSpPr/>
          <p:nvPr/>
        </p:nvSpPr>
        <p:spPr>
          <a:xfrm>
            <a:off x="3383280" y="2286000"/>
            <a:ext cx="2651760" cy="3657600"/>
          </a:xfrm>
          <a:prstGeom prst="roundRect">
            <a:avLst>
              <a:gd name="adj" fmla="val 3103"/>
            </a:avLst>
          </a:prstGeom>
          <a:solidFill>
            <a:srgbClr val="ECEAE4"/>
          </a:solidFill>
          <a:ln w="12700">
            <a:solidFill>
              <a:srgbClr val="ECEAE4"/>
            </a:solidFill>
            <a:prstDash val="solid"/>
          </a:ln>
        </p:spPr>
      </p:sp>
      <p:sp>
        <p:nvSpPr>
          <p:cNvPr id="14" name="Shape 12"/>
          <p:cNvSpPr/>
          <p:nvPr/>
        </p:nvSpPr>
        <p:spPr>
          <a:xfrm>
            <a:off x="3611880" y="2423160"/>
            <a:ext cx="420624" cy="420624"/>
          </a:xfrm>
          <a:prstGeom prst="ellipse">
            <a:avLst/>
          </a:prstGeom>
          <a:solidFill>
            <a:srgbClr val="FFC24B"/>
          </a:solidFill>
          <a:ln/>
        </p:spPr>
      </p:sp>
      <p:sp>
        <p:nvSpPr>
          <p:cNvPr id="15" name="Text 13"/>
          <p:cNvSpPr/>
          <p:nvPr/>
        </p:nvSpPr>
        <p:spPr>
          <a:xfrm>
            <a:off x="3611880" y="242316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6" name="Shape 14"/>
          <p:cNvSpPr/>
          <p:nvPr/>
        </p:nvSpPr>
        <p:spPr>
          <a:xfrm>
            <a:off x="4251960" y="2194560"/>
            <a:ext cx="457200" cy="1645920"/>
          </a:xfrm>
          <a:prstGeom prst="rect">
            <a:avLst/>
          </a:prstGeom>
          <a:solidFill>
            <a:srgbClr val="FF4757"/>
          </a:solidFill>
          <a:ln w="12700">
            <a:solidFill>
              <a:srgbClr val="FF4757"/>
            </a:solidFill>
            <a:prstDash val="solid"/>
          </a:ln>
        </p:spPr>
      </p:sp>
      <p:sp>
        <p:nvSpPr>
          <p:cNvPr id="17" name="Shape 15"/>
          <p:cNvSpPr/>
          <p:nvPr/>
        </p:nvSpPr>
        <p:spPr>
          <a:xfrm>
            <a:off x="4892040" y="2926080"/>
            <a:ext cx="457200" cy="914400"/>
          </a:xfrm>
          <a:prstGeom prst="rect">
            <a:avLst/>
          </a:prstGeom>
          <a:solidFill>
            <a:srgbClr val="11121A"/>
          </a:solidFill>
          <a:ln w="12700">
            <a:solidFill>
              <a:srgbClr val="11121A"/>
            </a:solidFill>
            <a:prstDash val="solid"/>
          </a:ln>
        </p:spPr>
      </p:sp>
      <p:sp>
        <p:nvSpPr>
          <p:cNvPr id="18" name="Shape 16"/>
          <p:cNvSpPr/>
          <p:nvPr/>
        </p:nvSpPr>
        <p:spPr>
          <a:xfrm>
            <a:off x="4114800" y="3840480"/>
            <a:ext cx="1371600" cy="18288"/>
          </a:xfrm>
          <a:prstGeom prst="rect">
            <a:avLst/>
          </a:prstGeom>
          <a:solidFill>
            <a:srgbClr val="6A6F85"/>
          </a:solidFill>
          <a:ln w="12700">
            <a:solidFill>
              <a:srgbClr val="6A6F85"/>
            </a:solidFill>
            <a:prstDash val="solid"/>
          </a:ln>
        </p:spPr>
      </p:sp>
      <p:sp>
        <p:nvSpPr>
          <p:cNvPr id="19" name="Text 17"/>
          <p:cNvSpPr/>
          <p:nvPr/>
        </p:nvSpPr>
        <p:spPr>
          <a:xfrm>
            <a:off x="3611880" y="4023360"/>
            <a:ext cx="2194560" cy="457200"/>
          </a:xfrm>
          <a:prstGeom prst="rect">
            <a:avLst/>
          </a:prstGeom>
          <a:noFill/>
          <a:ln/>
        </p:spPr>
        <p:txBody>
          <a:bodyPr wrap="square" lIns="0" tIns="0" rIns="0" bIns="0" rtlCol="0" anchor="t"/>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mortalitatea scade</a:t>
            </a:r>
            <a:endParaRPr lang="en-US" sz="1500" dirty="0"/>
          </a:p>
        </p:txBody>
      </p:sp>
      <p:sp>
        <p:nvSpPr>
          <p:cNvPr id="20" name="Text 18"/>
          <p:cNvSpPr/>
          <p:nvPr/>
        </p:nvSpPr>
        <p:spPr>
          <a:xfrm>
            <a:off x="3611880" y="4526280"/>
            <a:ext cx="2194560" cy="1325880"/>
          </a:xfrm>
          <a:prstGeom prst="rect">
            <a:avLst/>
          </a:prstGeom>
          <a:noFill/>
          <a:ln/>
        </p:spPr>
        <p:txBody>
          <a:bodyPr wrap="square" lIns="0" tIns="0" rIns="0" bIns="0" rtlCol="0" anchor="t"/>
          <a:lstStyle/>
          <a:p>
            <a:pPr indent="0" marL="0">
              <a:buNone/>
            </a:pPr>
            <a:r>
              <a:rPr lang="en-US" sz="1400" dirty="0">
                <a:solidFill>
                  <a:srgbClr val="585A64"/>
                </a:solidFill>
                <a:latin typeface="Palatino Linotype" pitchFamily="34" charset="0"/>
                <a:ea typeface="Palatino Linotype" pitchFamily="34" charset="-122"/>
                <a:cs typeface="Palatino Linotype" pitchFamily="34" charset="-120"/>
              </a:rPr>
              <a:t>decalajul se lărgește, populația crește repede</a:t>
            </a:r>
            <a:endParaRPr lang="en-US" sz="1400" dirty="0"/>
          </a:p>
        </p:txBody>
      </p:sp>
      <p:sp>
        <p:nvSpPr>
          <p:cNvPr id="21" name="Shape 19"/>
          <p:cNvSpPr/>
          <p:nvPr/>
        </p:nvSpPr>
        <p:spPr>
          <a:xfrm>
            <a:off x="6172200" y="2286000"/>
            <a:ext cx="2651760" cy="3657600"/>
          </a:xfrm>
          <a:prstGeom prst="roundRect">
            <a:avLst>
              <a:gd name="adj" fmla="val 3103"/>
            </a:avLst>
          </a:prstGeom>
          <a:solidFill>
            <a:srgbClr val="ECEAE4"/>
          </a:solidFill>
          <a:ln w="12700">
            <a:solidFill>
              <a:srgbClr val="ECEAE4"/>
            </a:solidFill>
            <a:prstDash val="solid"/>
          </a:ln>
        </p:spPr>
      </p:sp>
      <p:sp>
        <p:nvSpPr>
          <p:cNvPr id="22" name="Shape 20"/>
          <p:cNvSpPr/>
          <p:nvPr/>
        </p:nvSpPr>
        <p:spPr>
          <a:xfrm>
            <a:off x="6400800" y="2423160"/>
            <a:ext cx="420624" cy="420624"/>
          </a:xfrm>
          <a:prstGeom prst="ellipse">
            <a:avLst/>
          </a:prstGeom>
          <a:solidFill>
            <a:srgbClr val="FFC24B"/>
          </a:solidFill>
          <a:ln/>
        </p:spPr>
      </p:sp>
      <p:sp>
        <p:nvSpPr>
          <p:cNvPr id="23" name="Text 21"/>
          <p:cNvSpPr/>
          <p:nvPr/>
        </p:nvSpPr>
        <p:spPr>
          <a:xfrm>
            <a:off x="6400800" y="242316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24" name="Shape 22"/>
          <p:cNvSpPr/>
          <p:nvPr/>
        </p:nvSpPr>
        <p:spPr>
          <a:xfrm>
            <a:off x="7040880" y="2743200"/>
            <a:ext cx="457200" cy="1097280"/>
          </a:xfrm>
          <a:prstGeom prst="rect">
            <a:avLst/>
          </a:prstGeom>
          <a:solidFill>
            <a:srgbClr val="FF4757"/>
          </a:solidFill>
          <a:ln w="12700">
            <a:solidFill>
              <a:srgbClr val="FF4757"/>
            </a:solidFill>
            <a:prstDash val="solid"/>
          </a:ln>
        </p:spPr>
      </p:sp>
      <p:sp>
        <p:nvSpPr>
          <p:cNvPr id="25" name="Shape 23"/>
          <p:cNvSpPr/>
          <p:nvPr/>
        </p:nvSpPr>
        <p:spPr>
          <a:xfrm>
            <a:off x="7680960" y="3291840"/>
            <a:ext cx="457200" cy="548640"/>
          </a:xfrm>
          <a:prstGeom prst="rect">
            <a:avLst/>
          </a:prstGeom>
          <a:solidFill>
            <a:srgbClr val="11121A"/>
          </a:solidFill>
          <a:ln w="12700">
            <a:solidFill>
              <a:srgbClr val="11121A"/>
            </a:solidFill>
            <a:prstDash val="solid"/>
          </a:ln>
        </p:spPr>
      </p:sp>
      <p:sp>
        <p:nvSpPr>
          <p:cNvPr id="26" name="Shape 24"/>
          <p:cNvSpPr/>
          <p:nvPr/>
        </p:nvSpPr>
        <p:spPr>
          <a:xfrm>
            <a:off x="6903720" y="3840480"/>
            <a:ext cx="1371600" cy="18288"/>
          </a:xfrm>
          <a:prstGeom prst="rect">
            <a:avLst/>
          </a:prstGeom>
          <a:solidFill>
            <a:srgbClr val="6A6F85"/>
          </a:solidFill>
          <a:ln w="12700">
            <a:solidFill>
              <a:srgbClr val="6A6F85"/>
            </a:solidFill>
            <a:prstDash val="solid"/>
          </a:ln>
        </p:spPr>
      </p:sp>
      <p:sp>
        <p:nvSpPr>
          <p:cNvPr id="27" name="Text 25"/>
          <p:cNvSpPr/>
          <p:nvPr/>
        </p:nvSpPr>
        <p:spPr>
          <a:xfrm>
            <a:off x="6400800" y="4023360"/>
            <a:ext cx="2194560" cy="457200"/>
          </a:xfrm>
          <a:prstGeom prst="rect">
            <a:avLst/>
          </a:prstGeom>
          <a:noFill/>
          <a:ln/>
        </p:spPr>
        <p:txBody>
          <a:bodyPr wrap="square" lIns="0" tIns="0" rIns="0" bIns="0" rtlCol="0" anchor="t"/>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natalitatea scade</a:t>
            </a:r>
            <a:endParaRPr lang="en-US" sz="1500" dirty="0"/>
          </a:p>
        </p:txBody>
      </p:sp>
      <p:sp>
        <p:nvSpPr>
          <p:cNvPr id="28" name="Text 26"/>
          <p:cNvSpPr/>
          <p:nvPr/>
        </p:nvSpPr>
        <p:spPr>
          <a:xfrm>
            <a:off x="6400800" y="4526280"/>
            <a:ext cx="2194560" cy="1325880"/>
          </a:xfrm>
          <a:prstGeom prst="rect">
            <a:avLst/>
          </a:prstGeom>
          <a:noFill/>
          <a:ln/>
        </p:spPr>
        <p:txBody>
          <a:bodyPr wrap="square" lIns="0" tIns="0" rIns="0" bIns="0" rtlCol="0" anchor="t"/>
          <a:lstStyle/>
          <a:p>
            <a:pPr indent="0" marL="0">
              <a:buNone/>
            </a:pPr>
            <a:r>
              <a:rPr lang="en-US" sz="1400" dirty="0">
                <a:solidFill>
                  <a:srgbClr val="585A64"/>
                </a:solidFill>
                <a:latin typeface="Palatino Linotype" pitchFamily="34" charset="0"/>
                <a:ea typeface="Palatino Linotype" pitchFamily="34" charset="-122"/>
                <a:cs typeface="Palatino Linotype" pitchFamily="34" charset="-120"/>
              </a:rPr>
              <a:t>decalajul se îngustează</a:t>
            </a:r>
            <a:endParaRPr lang="en-US" sz="1400" dirty="0"/>
          </a:p>
        </p:txBody>
      </p:sp>
      <p:sp>
        <p:nvSpPr>
          <p:cNvPr id="29" name="Shape 27"/>
          <p:cNvSpPr/>
          <p:nvPr/>
        </p:nvSpPr>
        <p:spPr>
          <a:xfrm>
            <a:off x="8961120" y="2286000"/>
            <a:ext cx="2651760" cy="3657600"/>
          </a:xfrm>
          <a:prstGeom prst="roundRect">
            <a:avLst>
              <a:gd name="adj" fmla="val 3103"/>
            </a:avLst>
          </a:prstGeom>
          <a:solidFill>
            <a:srgbClr val="ECEAE4"/>
          </a:solidFill>
          <a:ln w="12700">
            <a:solidFill>
              <a:srgbClr val="ECEAE4"/>
            </a:solidFill>
            <a:prstDash val="solid"/>
          </a:ln>
        </p:spPr>
      </p:sp>
      <p:sp>
        <p:nvSpPr>
          <p:cNvPr id="30" name="Shape 28"/>
          <p:cNvSpPr/>
          <p:nvPr/>
        </p:nvSpPr>
        <p:spPr>
          <a:xfrm>
            <a:off x="9189720" y="2423160"/>
            <a:ext cx="420624" cy="420624"/>
          </a:xfrm>
          <a:prstGeom prst="ellipse">
            <a:avLst/>
          </a:prstGeom>
          <a:solidFill>
            <a:srgbClr val="FFC24B"/>
          </a:solidFill>
          <a:ln/>
        </p:spPr>
      </p:sp>
      <p:sp>
        <p:nvSpPr>
          <p:cNvPr id="31" name="Text 29"/>
          <p:cNvSpPr/>
          <p:nvPr/>
        </p:nvSpPr>
        <p:spPr>
          <a:xfrm>
            <a:off x="9189720" y="242316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4</a:t>
            </a:r>
            <a:endParaRPr lang="en-US" sz="1400" dirty="0"/>
          </a:p>
        </p:txBody>
      </p:sp>
      <p:sp>
        <p:nvSpPr>
          <p:cNvPr id="32" name="Shape 30"/>
          <p:cNvSpPr/>
          <p:nvPr/>
        </p:nvSpPr>
        <p:spPr>
          <a:xfrm>
            <a:off x="9829800" y="3291840"/>
            <a:ext cx="457200" cy="548640"/>
          </a:xfrm>
          <a:prstGeom prst="rect">
            <a:avLst/>
          </a:prstGeom>
          <a:solidFill>
            <a:srgbClr val="FF4757"/>
          </a:solidFill>
          <a:ln w="12700">
            <a:solidFill>
              <a:srgbClr val="FF4757"/>
            </a:solidFill>
            <a:prstDash val="solid"/>
          </a:ln>
        </p:spPr>
      </p:sp>
      <p:sp>
        <p:nvSpPr>
          <p:cNvPr id="33" name="Shape 31"/>
          <p:cNvSpPr/>
          <p:nvPr/>
        </p:nvSpPr>
        <p:spPr>
          <a:xfrm>
            <a:off x="10469880" y="3291840"/>
            <a:ext cx="457200" cy="548640"/>
          </a:xfrm>
          <a:prstGeom prst="rect">
            <a:avLst/>
          </a:prstGeom>
          <a:solidFill>
            <a:srgbClr val="11121A"/>
          </a:solidFill>
          <a:ln w="12700">
            <a:solidFill>
              <a:srgbClr val="11121A"/>
            </a:solidFill>
            <a:prstDash val="solid"/>
          </a:ln>
        </p:spPr>
      </p:sp>
      <p:sp>
        <p:nvSpPr>
          <p:cNvPr id="34" name="Shape 32"/>
          <p:cNvSpPr/>
          <p:nvPr/>
        </p:nvSpPr>
        <p:spPr>
          <a:xfrm>
            <a:off x="9692640" y="3840480"/>
            <a:ext cx="1371600" cy="18288"/>
          </a:xfrm>
          <a:prstGeom prst="rect">
            <a:avLst/>
          </a:prstGeom>
          <a:solidFill>
            <a:srgbClr val="6A6F85"/>
          </a:solidFill>
          <a:ln w="12700">
            <a:solidFill>
              <a:srgbClr val="6A6F85"/>
            </a:solidFill>
            <a:prstDash val="solid"/>
          </a:ln>
        </p:spPr>
      </p:sp>
      <p:sp>
        <p:nvSpPr>
          <p:cNvPr id="35" name="Text 33"/>
          <p:cNvSpPr/>
          <p:nvPr/>
        </p:nvSpPr>
        <p:spPr>
          <a:xfrm>
            <a:off x="9189720" y="4023360"/>
            <a:ext cx="2194560" cy="457200"/>
          </a:xfrm>
          <a:prstGeom prst="rect">
            <a:avLst/>
          </a:prstGeom>
          <a:noFill/>
          <a:ln/>
        </p:spPr>
        <p:txBody>
          <a:bodyPr wrap="square" lIns="0" tIns="0" rIns="0" bIns="0" rtlCol="0" anchor="t"/>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ambele scăzute</a:t>
            </a:r>
            <a:endParaRPr lang="en-US" sz="1500" dirty="0"/>
          </a:p>
        </p:txBody>
      </p:sp>
      <p:sp>
        <p:nvSpPr>
          <p:cNvPr id="36" name="Text 34"/>
          <p:cNvSpPr/>
          <p:nvPr/>
        </p:nvSpPr>
        <p:spPr>
          <a:xfrm>
            <a:off x="9189720" y="4526280"/>
            <a:ext cx="2194560" cy="1325880"/>
          </a:xfrm>
          <a:prstGeom prst="rect">
            <a:avLst/>
          </a:prstGeom>
          <a:noFill/>
          <a:ln/>
        </p:spPr>
        <p:txBody>
          <a:bodyPr wrap="square" lIns="0" tIns="0" rIns="0" bIns="0" rtlCol="0" anchor="t"/>
          <a:lstStyle/>
          <a:p>
            <a:pPr indent="0" marL="0">
              <a:buNone/>
            </a:pPr>
            <a:r>
              <a:rPr lang="en-US" sz="1400" dirty="0">
                <a:solidFill>
                  <a:srgbClr val="585A64"/>
                </a:solidFill>
                <a:latin typeface="Palatino Linotype" pitchFamily="34" charset="0"/>
                <a:ea typeface="Palatino Linotype" pitchFamily="34" charset="-122"/>
                <a:cs typeface="Palatino Linotype" pitchFamily="34" charset="-120"/>
              </a:rPr>
              <a:t>populație mai îmbătrânită, aproximativ staționară, fertilitate la nivelul de înlocuire</a:t>
            </a:r>
            <a:endParaRPr lang="en-US" sz="1400" dirty="0"/>
          </a:p>
        </p:txBody>
      </p:sp>
      <p:sp>
        <p:nvSpPr>
          <p:cNvPr id="37" name="Text 35"/>
          <p:cNvSpPr/>
          <p:nvPr/>
        </p:nvSpPr>
        <p:spPr>
          <a:xfrm>
            <a:off x="594360" y="6080760"/>
            <a:ext cx="10972800" cy="274320"/>
          </a:xfrm>
          <a:prstGeom prst="rect">
            <a:avLst/>
          </a:prstGeom>
          <a:noFill/>
          <a:ln/>
        </p:spPr>
        <p:txBody>
          <a:bodyPr wrap="square" lIns="0" tIns="0" rIns="0" bIns="0" rtlCol="0" anchor="t"/>
          <a:lstStyle/>
          <a:p>
            <a:pPr indent="0" marL="0">
              <a:buNone/>
            </a:pPr>
            <a:r>
              <a:rPr lang="en-US" sz="1100" i="1" dirty="0">
                <a:solidFill>
                  <a:srgbClr val="585A64"/>
                </a:solidFill>
                <a:latin typeface="Palatino Linotype" pitchFamily="34" charset="0"/>
                <a:ea typeface="Palatino Linotype" pitchFamily="34" charset="-122"/>
                <a:cs typeface="Palatino Linotype" pitchFamily="34" charset="-120"/>
              </a:rPr>
              <a:t>Schemă, fără valori. Coral: natalitatea. Negru: mortalitatea. După Omran și Lesthaeghe; ce urmează după etapa a patra nu face parte din modelul clasic.</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TERMEN NOU 2</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600" b="1" dirty="0">
                <a:solidFill>
                  <a:srgbClr val="FFFFFF"/>
                </a:solidFill>
                <a:latin typeface="Palatino Linotype" pitchFamily="34" charset="0"/>
                <a:ea typeface="Palatino Linotype" pitchFamily="34" charset="-122"/>
                <a:cs typeface="Palatino Linotype" pitchFamily="34" charset="-120"/>
              </a:rPr>
              <a:t>Sporul natural</a:t>
            </a:r>
            <a:endParaRPr lang="en-US" sz="3600" dirty="0"/>
          </a:p>
        </p:txBody>
      </p:sp>
      <p:sp>
        <p:nvSpPr>
          <p:cNvPr id="4" name="Shape 2"/>
          <p:cNvSpPr/>
          <p:nvPr/>
        </p:nvSpPr>
        <p:spPr>
          <a:xfrm>
            <a:off x="594360" y="1828800"/>
            <a:ext cx="3291840" cy="1005840"/>
          </a:xfrm>
          <a:prstGeom prst="roundRect">
            <a:avLst>
              <a:gd name="adj" fmla="val 8182"/>
            </a:avLst>
          </a:prstGeom>
          <a:solidFill>
            <a:srgbClr val="FF4757"/>
          </a:solidFill>
          <a:ln w="12700">
            <a:solidFill>
              <a:srgbClr val="FF4757"/>
            </a:solidFill>
            <a:prstDash val="solid"/>
          </a:ln>
        </p:spPr>
      </p:sp>
      <p:sp>
        <p:nvSpPr>
          <p:cNvPr id="5" name="Text 3"/>
          <p:cNvSpPr/>
          <p:nvPr/>
        </p:nvSpPr>
        <p:spPr>
          <a:xfrm>
            <a:off x="731520" y="1828800"/>
            <a:ext cx="3017520" cy="1005840"/>
          </a:xfrm>
          <a:prstGeom prst="rect">
            <a:avLst/>
          </a:prstGeom>
          <a:noFill/>
          <a:ln/>
        </p:spPr>
        <p:txBody>
          <a:bodyPr wrap="square" lIns="0" tIns="0" rIns="0" bIns="0" rtlCol="0" anchor="ctr"/>
          <a:lstStyle/>
          <a:p>
            <a:pPr algn="ctr" indent="0" marL="0">
              <a:buNone/>
            </a:pPr>
            <a:r>
              <a:rPr lang="en-US" sz="2400" b="1" dirty="0">
                <a:solidFill>
                  <a:srgbClr val="2E060B"/>
                </a:solidFill>
                <a:latin typeface="Palatino Linotype" pitchFamily="34" charset="0"/>
                <a:ea typeface="Palatino Linotype" pitchFamily="34" charset="-122"/>
                <a:cs typeface="Palatino Linotype" pitchFamily="34" charset="-120"/>
              </a:rPr>
              <a:t>născuți vii</a:t>
            </a:r>
            <a:endParaRPr lang="en-US" sz="2400" dirty="0"/>
          </a:p>
        </p:txBody>
      </p:sp>
      <p:sp>
        <p:nvSpPr>
          <p:cNvPr id="6" name="Text 4"/>
          <p:cNvSpPr/>
          <p:nvPr/>
        </p:nvSpPr>
        <p:spPr>
          <a:xfrm>
            <a:off x="3931920" y="1828800"/>
            <a:ext cx="548640" cy="1005840"/>
          </a:xfrm>
          <a:prstGeom prst="rect">
            <a:avLst/>
          </a:prstGeom>
          <a:noFill/>
          <a:ln/>
        </p:spPr>
        <p:txBody>
          <a:bodyPr wrap="square" lIns="0" tIns="0" rIns="0" bIns="0" rtlCol="0" anchor="ctr"/>
          <a:lstStyle/>
          <a:p>
            <a:pPr algn="ctr" indent="0" marL="0">
              <a:buNone/>
            </a:pPr>
            <a:r>
              <a:rPr lang="en-US" sz="4000" b="1" dirty="0">
                <a:solidFill>
                  <a:srgbClr val="FFFFFF"/>
                </a:solidFill>
                <a:latin typeface="Palatino Linotype" pitchFamily="34" charset="0"/>
                <a:ea typeface="Palatino Linotype" pitchFamily="34" charset="-122"/>
                <a:cs typeface="Palatino Linotype" pitchFamily="34" charset="-120"/>
              </a:rPr>
              <a:t>−</a:t>
            </a:r>
            <a:endParaRPr lang="en-US" sz="4000" dirty="0"/>
          </a:p>
        </p:txBody>
      </p:sp>
      <p:sp>
        <p:nvSpPr>
          <p:cNvPr id="7" name="Shape 5"/>
          <p:cNvSpPr/>
          <p:nvPr/>
        </p:nvSpPr>
        <p:spPr>
          <a:xfrm>
            <a:off x="4526280" y="1828800"/>
            <a:ext cx="3291840" cy="1005840"/>
          </a:xfrm>
          <a:prstGeom prst="roundRect">
            <a:avLst>
              <a:gd name="adj" fmla="val 8182"/>
            </a:avLst>
          </a:prstGeom>
          <a:solidFill>
            <a:srgbClr val="272A38"/>
          </a:solidFill>
          <a:ln w="12700">
            <a:solidFill>
              <a:srgbClr val="272A38"/>
            </a:solidFill>
            <a:prstDash val="solid"/>
          </a:ln>
        </p:spPr>
      </p:sp>
      <p:sp>
        <p:nvSpPr>
          <p:cNvPr id="8" name="Text 6"/>
          <p:cNvSpPr/>
          <p:nvPr/>
        </p:nvSpPr>
        <p:spPr>
          <a:xfrm>
            <a:off x="4663440" y="1828800"/>
            <a:ext cx="3017520" cy="1005840"/>
          </a:xfrm>
          <a:prstGeom prst="rect">
            <a:avLst/>
          </a:prstGeom>
          <a:noFill/>
          <a:ln/>
        </p:spPr>
        <p:txBody>
          <a:bodyPr wrap="square" lIns="0" tIns="0" rIns="0" bIns="0" rtlCol="0" anchor="ctr"/>
          <a:lstStyle/>
          <a:p>
            <a:pPr algn="ctr" indent="0" marL="0">
              <a:buNone/>
            </a:pPr>
            <a:r>
              <a:rPr lang="en-US" sz="2400" b="1" dirty="0">
                <a:solidFill>
                  <a:srgbClr val="FFFFFF"/>
                </a:solidFill>
                <a:latin typeface="Palatino Linotype" pitchFamily="34" charset="0"/>
                <a:ea typeface="Palatino Linotype" pitchFamily="34" charset="-122"/>
                <a:cs typeface="Palatino Linotype" pitchFamily="34" charset="-120"/>
              </a:rPr>
              <a:t>decedați</a:t>
            </a:r>
            <a:endParaRPr lang="en-US" sz="2400" dirty="0"/>
          </a:p>
        </p:txBody>
      </p:sp>
      <p:sp>
        <p:nvSpPr>
          <p:cNvPr id="9" name="Text 7"/>
          <p:cNvSpPr/>
          <p:nvPr/>
        </p:nvSpPr>
        <p:spPr>
          <a:xfrm>
            <a:off x="7863840" y="1828800"/>
            <a:ext cx="548640" cy="1005840"/>
          </a:xfrm>
          <a:prstGeom prst="rect">
            <a:avLst/>
          </a:prstGeom>
          <a:noFill/>
          <a:ln/>
        </p:spPr>
        <p:txBody>
          <a:bodyPr wrap="square" lIns="0" tIns="0" rIns="0" bIns="0" rtlCol="0" anchor="ctr"/>
          <a:lstStyle/>
          <a:p>
            <a:pPr algn="ctr" indent="0" marL="0">
              <a:buNone/>
            </a:pPr>
            <a:r>
              <a:rPr lang="en-US" sz="4000" b="1" dirty="0">
                <a:solidFill>
                  <a:srgbClr val="FFFFFF"/>
                </a:solidFill>
                <a:latin typeface="Palatino Linotype" pitchFamily="34" charset="0"/>
                <a:ea typeface="Palatino Linotype" pitchFamily="34" charset="-122"/>
                <a:cs typeface="Palatino Linotype" pitchFamily="34" charset="-120"/>
              </a:rPr>
              <a:t>=</a:t>
            </a:r>
            <a:endParaRPr lang="en-US" sz="4000" dirty="0"/>
          </a:p>
        </p:txBody>
      </p:sp>
      <p:sp>
        <p:nvSpPr>
          <p:cNvPr id="10" name="Shape 8"/>
          <p:cNvSpPr/>
          <p:nvPr/>
        </p:nvSpPr>
        <p:spPr>
          <a:xfrm>
            <a:off x="8458200" y="1828800"/>
            <a:ext cx="3108960" cy="1005840"/>
          </a:xfrm>
          <a:prstGeom prst="roundRect">
            <a:avLst>
              <a:gd name="adj" fmla="val 8182"/>
            </a:avLst>
          </a:prstGeom>
          <a:solidFill>
            <a:srgbClr val="27D3BE"/>
          </a:solidFill>
          <a:ln w="12700">
            <a:solidFill>
              <a:srgbClr val="27D3BE"/>
            </a:solidFill>
            <a:prstDash val="solid"/>
          </a:ln>
        </p:spPr>
      </p:sp>
      <p:sp>
        <p:nvSpPr>
          <p:cNvPr id="11" name="Text 9"/>
          <p:cNvSpPr/>
          <p:nvPr/>
        </p:nvSpPr>
        <p:spPr>
          <a:xfrm>
            <a:off x="8595360" y="1828800"/>
            <a:ext cx="2834640" cy="1005840"/>
          </a:xfrm>
          <a:prstGeom prst="rect">
            <a:avLst/>
          </a:prstGeom>
          <a:noFill/>
          <a:ln/>
        </p:spPr>
        <p:txBody>
          <a:bodyPr wrap="square" lIns="0" tIns="0" rIns="0" bIns="0" rtlCol="0" anchor="ctr"/>
          <a:lstStyle/>
          <a:p>
            <a:pPr algn="ctr" indent="0" marL="0">
              <a:buNone/>
            </a:pPr>
            <a:r>
              <a:rPr lang="en-US" sz="2400" b="1" dirty="0">
                <a:solidFill>
                  <a:srgbClr val="073B34"/>
                </a:solidFill>
                <a:latin typeface="Palatino Linotype" pitchFamily="34" charset="0"/>
                <a:ea typeface="Palatino Linotype" pitchFamily="34" charset="-122"/>
                <a:cs typeface="Palatino Linotype" pitchFamily="34" charset="-120"/>
              </a:rPr>
              <a:t>spor natural</a:t>
            </a:r>
            <a:endParaRPr lang="en-US" sz="2400" dirty="0"/>
          </a:p>
        </p:txBody>
      </p:sp>
      <p:sp>
        <p:nvSpPr>
          <p:cNvPr id="12" name="Text 10"/>
          <p:cNvSpPr/>
          <p:nvPr/>
        </p:nvSpPr>
        <p:spPr>
          <a:xfrm>
            <a:off x="594360" y="3108960"/>
            <a:ext cx="10972800" cy="457200"/>
          </a:xfrm>
          <a:prstGeom prst="rect">
            <a:avLst/>
          </a:prstGeom>
          <a:noFill/>
          <a:ln/>
        </p:spPr>
        <p:txBody>
          <a:bodyPr wrap="square" lIns="0" tIns="0" rIns="0" bIns="0" rtlCol="0" anchor="t"/>
          <a:lstStyle/>
          <a:p>
            <a:pPr indent="0" marL="0">
              <a:buNone/>
            </a:pPr>
            <a:r>
              <a:rPr lang="en-US" sz="2000" b="1" dirty="0">
                <a:solidFill>
                  <a:srgbClr val="FFC24B"/>
                </a:solidFill>
                <a:latin typeface="Palatino Linotype" pitchFamily="34" charset="0"/>
                <a:ea typeface="Palatino Linotype" pitchFamily="34" charset="-122"/>
                <a:cs typeface="Palatino Linotype" pitchFamily="34" charset="-120"/>
              </a:rPr>
              <a:t>Diferența dintre câți se nasc și câți mor într-un an.</a:t>
            </a:r>
            <a:endParaRPr lang="en-US" sz="2000" dirty="0"/>
          </a:p>
        </p:txBody>
      </p:sp>
      <p:sp>
        <p:nvSpPr>
          <p:cNvPr id="13" name="Shape 11"/>
          <p:cNvSpPr/>
          <p:nvPr/>
        </p:nvSpPr>
        <p:spPr>
          <a:xfrm>
            <a:off x="594360" y="3840480"/>
            <a:ext cx="5349240" cy="2103120"/>
          </a:xfrm>
          <a:prstGeom prst="roundRect">
            <a:avLst>
              <a:gd name="adj" fmla="val 3913"/>
            </a:avLst>
          </a:prstGeom>
          <a:solidFill>
            <a:srgbClr val="1D1F2B"/>
          </a:solidFill>
          <a:ln w="12700">
            <a:solidFill>
              <a:srgbClr val="1D1F2B"/>
            </a:solidFill>
            <a:prstDash val="solid"/>
          </a:ln>
        </p:spPr>
      </p:sp>
      <p:sp>
        <p:nvSpPr>
          <p:cNvPr id="14" name="Text 12"/>
          <p:cNvSpPr/>
          <p:nvPr/>
        </p:nvSpPr>
        <p:spPr>
          <a:xfrm>
            <a:off x="868680" y="3931920"/>
            <a:ext cx="4846320" cy="1920240"/>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Pozitiv: populația crește prin ea însăși. Negativ: populația scade, dacă migrația nu compensează.</a:t>
            </a:r>
            <a:endParaRPr lang="en-US" sz="1800" dirty="0"/>
          </a:p>
        </p:txBody>
      </p:sp>
      <p:sp>
        <p:nvSpPr>
          <p:cNvPr id="15" name="Shape 13"/>
          <p:cNvSpPr/>
          <p:nvPr/>
        </p:nvSpPr>
        <p:spPr>
          <a:xfrm>
            <a:off x="6217920" y="3840480"/>
            <a:ext cx="5349240" cy="2103120"/>
          </a:xfrm>
          <a:prstGeom prst="roundRect">
            <a:avLst>
              <a:gd name="adj" fmla="val 3913"/>
            </a:avLst>
          </a:prstGeom>
          <a:solidFill>
            <a:srgbClr val="1D1F2B"/>
          </a:solidFill>
          <a:ln w="12700">
            <a:solidFill>
              <a:srgbClr val="1D1F2B"/>
            </a:solidFill>
            <a:prstDash val="solid"/>
          </a:ln>
        </p:spPr>
      </p:sp>
      <p:sp>
        <p:nvSpPr>
          <p:cNvPr id="16" name="Text 14"/>
          <p:cNvSpPr/>
          <p:nvPr/>
        </p:nvSpPr>
        <p:spPr>
          <a:xfrm>
            <a:off x="6492240" y="3931920"/>
            <a:ext cx="4846320" cy="1920240"/>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Sporul total = sporul natural + soldul migrației (cei sosiți minus cei plecați). Natalitatea și mortalitatea brute: născuți și decese la o mie de locuitori.</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CÂȚI COPII ARE, ÎN MEDIE, O FEMEIE</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Rata totală de fertilitate a României, 1990–2024</a:t>
            </a:r>
            <a:endParaRPr lang="en-US" sz="3200" dirty="0"/>
          </a:p>
        </p:txBody>
      </p:sp>
      <p:sp>
        <p:nvSpPr>
          <p:cNvPr id="4" name="Shape 2"/>
          <p:cNvSpPr/>
          <p:nvPr/>
        </p:nvSpPr>
        <p:spPr>
          <a:xfrm>
            <a:off x="802634" y="2824249"/>
            <a:ext cx="160830" cy="2662151"/>
          </a:xfrm>
          <a:prstGeom prst="rect">
            <a:avLst/>
          </a:prstGeom>
          <a:solidFill>
            <a:srgbClr val="FF4757"/>
          </a:solidFill>
          <a:ln w="12700">
            <a:solidFill>
              <a:srgbClr val="FF4757"/>
            </a:solidFill>
            <a:prstDash val="solid"/>
          </a:ln>
        </p:spPr>
      </p:sp>
      <p:sp>
        <p:nvSpPr>
          <p:cNvPr id="5" name="Shape 3"/>
          <p:cNvSpPr/>
          <p:nvPr/>
        </p:nvSpPr>
        <p:spPr>
          <a:xfrm>
            <a:off x="1014252" y="3173384"/>
            <a:ext cx="160830" cy="2313016"/>
          </a:xfrm>
          <a:prstGeom prst="rect">
            <a:avLst/>
          </a:prstGeom>
          <a:solidFill>
            <a:srgbClr val="4B5068"/>
          </a:solidFill>
          <a:ln w="12700">
            <a:solidFill>
              <a:srgbClr val="4B5068"/>
            </a:solidFill>
            <a:prstDash val="solid"/>
          </a:ln>
        </p:spPr>
      </p:sp>
      <p:sp>
        <p:nvSpPr>
          <p:cNvPr id="6" name="Shape 4"/>
          <p:cNvSpPr/>
          <p:nvPr/>
        </p:nvSpPr>
        <p:spPr>
          <a:xfrm>
            <a:off x="1225871" y="3289762"/>
            <a:ext cx="160830" cy="2196638"/>
          </a:xfrm>
          <a:prstGeom prst="rect">
            <a:avLst/>
          </a:prstGeom>
          <a:solidFill>
            <a:srgbClr val="4B5068"/>
          </a:solidFill>
          <a:ln w="12700">
            <a:solidFill>
              <a:srgbClr val="4B5068"/>
            </a:solidFill>
            <a:prstDash val="solid"/>
          </a:ln>
        </p:spPr>
      </p:sp>
      <p:sp>
        <p:nvSpPr>
          <p:cNvPr id="7" name="Shape 5"/>
          <p:cNvSpPr/>
          <p:nvPr/>
        </p:nvSpPr>
        <p:spPr>
          <a:xfrm>
            <a:off x="1437489" y="3406140"/>
            <a:ext cx="160830" cy="2080260"/>
          </a:xfrm>
          <a:prstGeom prst="rect">
            <a:avLst/>
          </a:prstGeom>
          <a:solidFill>
            <a:srgbClr val="4B5068"/>
          </a:solidFill>
          <a:ln w="12700">
            <a:solidFill>
              <a:srgbClr val="4B5068"/>
            </a:solidFill>
            <a:prstDash val="solid"/>
          </a:ln>
        </p:spPr>
      </p:sp>
      <p:sp>
        <p:nvSpPr>
          <p:cNvPr id="8" name="Shape 6"/>
          <p:cNvSpPr/>
          <p:nvPr/>
        </p:nvSpPr>
        <p:spPr>
          <a:xfrm>
            <a:off x="1649107" y="3449782"/>
            <a:ext cx="160830" cy="2036618"/>
          </a:xfrm>
          <a:prstGeom prst="rect">
            <a:avLst/>
          </a:prstGeom>
          <a:solidFill>
            <a:srgbClr val="4B5068"/>
          </a:solidFill>
          <a:ln w="12700">
            <a:solidFill>
              <a:srgbClr val="4B5068"/>
            </a:solidFill>
            <a:prstDash val="solid"/>
          </a:ln>
        </p:spPr>
      </p:sp>
      <p:sp>
        <p:nvSpPr>
          <p:cNvPr id="9" name="Shape 7"/>
          <p:cNvSpPr/>
          <p:nvPr/>
        </p:nvSpPr>
        <p:spPr>
          <a:xfrm>
            <a:off x="1860726" y="3551613"/>
            <a:ext cx="160830" cy="1934787"/>
          </a:xfrm>
          <a:prstGeom prst="rect">
            <a:avLst/>
          </a:prstGeom>
          <a:solidFill>
            <a:srgbClr val="4B5068"/>
          </a:solidFill>
          <a:ln w="12700">
            <a:solidFill>
              <a:srgbClr val="4B5068"/>
            </a:solidFill>
            <a:prstDash val="solid"/>
          </a:ln>
        </p:spPr>
      </p:sp>
      <p:sp>
        <p:nvSpPr>
          <p:cNvPr id="10" name="Shape 8"/>
          <p:cNvSpPr/>
          <p:nvPr/>
        </p:nvSpPr>
        <p:spPr>
          <a:xfrm>
            <a:off x="2072344" y="3595255"/>
            <a:ext cx="160830" cy="1891145"/>
          </a:xfrm>
          <a:prstGeom prst="rect">
            <a:avLst/>
          </a:prstGeom>
          <a:solidFill>
            <a:srgbClr val="4B5068"/>
          </a:solidFill>
          <a:ln w="12700">
            <a:solidFill>
              <a:srgbClr val="4B5068"/>
            </a:solidFill>
            <a:prstDash val="solid"/>
          </a:ln>
        </p:spPr>
      </p:sp>
      <p:sp>
        <p:nvSpPr>
          <p:cNvPr id="11" name="Shape 9"/>
          <p:cNvSpPr/>
          <p:nvPr/>
        </p:nvSpPr>
        <p:spPr>
          <a:xfrm>
            <a:off x="2283962" y="3566160"/>
            <a:ext cx="160830" cy="1920240"/>
          </a:xfrm>
          <a:prstGeom prst="rect">
            <a:avLst/>
          </a:prstGeom>
          <a:solidFill>
            <a:srgbClr val="4B5068"/>
          </a:solidFill>
          <a:ln w="12700">
            <a:solidFill>
              <a:srgbClr val="4B5068"/>
            </a:solidFill>
            <a:prstDash val="solid"/>
          </a:ln>
        </p:spPr>
      </p:sp>
      <p:sp>
        <p:nvSpPr>
          <p:cNvPr id="12" name="Shape 10"/>
          <p:cNvSpPr/>
          <p:nvPr/>
        </p:nvSpPr>
        <p:spPr>
          <a:xfrm>
            <a:off x="2495580" y="3566160"/>
            <a:ext cx="160830" cy="1920240"/>
          </a:xfrm>
          <a:prstGeom prst="rect">
            <a:avLst/>
          </a:prstGeom>
          <a:solidFill>
            <a:srgbClr val="4B5068"/>
          </a:solidFill>
          <a:ln w="12700">
            <a:solidFill>
              <a:srgbClr val="4B5068"/>
            </a:solidFill>
            <a:prstDash val="solid"/>
          </a:ln>
        </p:spPr>
      </p:sp>
      <p:sp>
        <p:nvSpPr>
          <p:cNvPr id="13" name="Shape 11"/>
          <p:cNvSpPr/>
          <p:nvPr/>
        </p:nvSpPr>
        <p:spPr>
          <a:xfrm>
            <a:off x="2707199" y="3595255"/>
            <a:ext cx="160830" cy="1891145"/>
          </a:xfrm>
          <a:prstGeom prst="rect">
            <a:avLst/>
          </a:prstGeom>
          <a:solidFill>
            <a:srgbClr val="4B5068"/>
          </a:solidFill>
          <a:ln w="12700">
            <a:solidFill>
              <a:srgbClr val="4B5068"/>
            </a:solidFill>
            <a:prstDash val="solid"/>
          </a:ln>
        </p:spPr>
      </p:sp>
      <p:sp>
        <p:nvSpPr>
          <p:cNvPr id="14" name="Shape 12"/>
          <p:cNvSpPr/>
          <p:nvPr/>
        </p:nvSpPr>
        <p:spPr>
          <a:xfrm>
            <a:off x="2918817" y="3580707"/>
            <a:ext cx="160830" cy="1905693"/>
          </a:xfrm>
          <a:prstGeom prst="rect">
            <a:avLst/>
          </a:prstGeom>
          <a:solidFill>
            <a:srgbClr val="4B5068"/>
          </a:solidFill>
          <a:ln w="12700">
            <a:solidFill>
              <a:srgbClr val="4B5068"/>
            </a:solidFill>
            <a:prstDash val="solid"/>
          </a:ln>
        </p:spPr>
      </p:sp>
      <p:sp>
        <p:nvSpPr>
          <p:cNvPr id="15" name="Shape 13"/>
          <p:cNvSpPr/>
          <p:nvPr/>
        </p:nvSpPr>
        <p:spPr>
          <a:xfrm>
            <a:off x="3130435" y="3638896"/>
            <a:ext cx="160830" cy="1847504"/>
          </a:xfrm>
          <a:prstGeom prst="rect">
            <a:avLst/>
          </a:prstGeom>
          <a:solidFill>
            <a:srgbClr val="4B5068"/>
          </a:solidFill>
          <a:ln w="12700">
            <a:solidFill>
              <a:srgbClr val="4B5068"/>
            </a:solidFill>
            <a:prstDash val="solid"/>
          </a:ln>
        </p:spPr>
      </p:sp>
      <p:sp>
        <p:nvSpPr>
          <p:cNvPr id="16" name="Shape 14"/>
          <p:cNvSpPr/>
          <p:nvPr/>
        </p:nvSpPr>
        <p:spPr>
          <a:xfrm>
            <a:off x="3342054" y="3638896"/>
            <a:ext cx="160830" cy="1847504"/>
          </a:xfrm>
          <a:prstGeom prst="rect">
            <a:avLst/>
          </a:prstGeom>
          <a:solidFill>
            <a:srgbClr val="FF4757"/>
          </a:solidFill>
          <a:ln w="12700">
            <a:solidFill>
              <a:srgbClr val="FF4757"/>
            </a:solidFill>
            <a:prstDash val="solid"/>
          </a:ln>
        </p:spPr>
      </p:sp>
      <p:sp>
        <p:nvSpPr>
          <p:cNvPr id="17" name="Shape 15"/>
          <p:cNvSpPr/>
          <p:nvPr/>
        </p:nvSpPr>
        <p:spPr>
          <a:xfrm>
            <a:off x="3553672" y="3595255"/>
            <a:ext cx="160830" cy="1891145"/>
          </a:xfrm>
          <a:prstGeom prst="rect">
            <a:avLst/>
          </a:prstGeom>
          <a:solidFill>
            <a:srgbClr val="4B5068"/>
          </a:solidFill>
          <a:ln w="12700">
            <a:solidFill>
              <a:srgbClr val="4B5068"/>
            </a:solidFill>
            <a:prstDash val="solid"/>
          </a:ln>
        </p:spPr>
      </p:sp>
      <p:sp>
        <p:nvSpPr>
          <p:cNvPr id="18" name="Shape 16"/>
          <p:cNvSpPr/>
          <p:nvPr/>
        </p:nvSpPr>
        <p:spPr>
          <a:xfrm>
            <a:off x="3765290" y="3551613"/>
            <a:ext cx="160830" cy="1934787"/>
          </a:xfrm>
          <a:prstGeom prst="rect">
            <a:avLst/>
          </a:prstGeom>
          <a:solidFill>
            <a:srgbClr val="4B5068"/>
          </a:solidFill>
          <a:ln w="12700">
            <a:solidFill>
              <a:srgbClr val="4B5068"/>
            </a:solidFill>
            <a:prstDash val="solid"/>
          </a:ln>
        </p:spPr>
      </p:sp>
      <p:sp>
        <p:nvSpPr>
          <p:cNvPr id="19" name="Shape 17"/>
          <p:cNvSpPr/>
          <p:nvPr/>
        </p:nvSpPr>
        <p:spPr>
          <a:xfrm>
            <a:off x="3976908" y="3449782"/>
            <a:ext cx="160830" cy="2036618"/>
          </a:xfrm>
          <a:prstGeom prst="rect">
            <a:avLst/>
          </a:prstGeom>
          <a:solidFill>
            <a:srgbClr val="4B5068"/>
          </a:solidFill>
          <a:ln w="12700">
            <a:solidFill>
              <a:srgbClr val="4B5068"/>
            </a:solidFill>
            <a:prstDash val="solid"/>
          </a:ln>
        </p:spPr>
      </p:sp>
      <p:sp>
        <p:nvSpPr>
          <p:cNvPr id="20" name="Shape 18"/>
          <p:cNvSpPr/>
          <p:nvPr/>
        </p:nvSpPr>
        <p:spPr>
          <a:xfrm>
            <a:off x="4188527" y="3420687"/>
            <a:ext cx="160830" cy="2065713"/>
          </a:xfrm>
          <a:prstGeom prst="rect">
            <a:avLst/>
          </a:prstGeom>
          <a:solidFill>
            <a:srgbClr val="4B5068"/>
          </a:solidFill>
          <a:ln w="12700">
            <a:solidFill>
              <a:srgbClr val="4B5068"/>
            </a:solidFill>
            <a:prstDash val="solid"/>
          </a:ln>
        </p:spPr>
      </p:sp>
      <p:sp>
        <p:nvSpPr>
          <p:cNvPr id="21" name="Shape 19"/>
          <p:cNvSpPr/>
          <p:nvPr/>
        </p:nvSpPr>
        <p:spPr>
          <a:xfrm>
            <a:off x="4400145" y="3377045"/>
            <a:ext cx="160830" cy="2109355"/>
          </a:xfrm>
          <a:prstGeom prst="rect">
            <a:avLst/>
          </a:prstGeom>
          <a:solidFill>
            <a:srgbClr val="4B5068"/>
          </a:solidFill>
          <a:ln w="12700">
            <a:solidFill>
              <a:srgbClr val="4B5068"/>
            </a:solidFill>
            <a:prstDash val="solid"/>
          </a:ln>
        </p:spPr>
      </p:sp>
      <p:sp>
        <p:nvSpPr>
          <p:cNvPr id="22" name="Shape 20"/>
          <p:cNvSpPr/>
          <p:nvPr/>
        </p:nvSpPr>
        <p:spPr>
          <a:xfrm>
            <a:off x="4611763" y="3158836"/>
            <a:ext cx="160830" cy="2327564"/>
          </a:xfrm>
          <a:prstGeom prst="rect">
            <a:avLst/>
          </a:prstGeom>
          <a:solidFill>
            <a:srgbClr val="4B5068"/>
          </a:solidFill>
          <a:ln w="12700">
            <a:solidFill>
              <a:srgbClr val="4B5068"/>
            </a:solidFill>
            <a:prstDash val="solid"/>
          </a:ln>
        </p:spPr>
      </p:sp>
      <p:sp>
        <p:nvSpPr>
          <p:cNvPr id="23" name="Shape 21"/>
          <p:cNvSpPr/>
          <p:nvPr/>
        </p:nvSpPr>
        <p:spPr>
          <a:xfrm>
            <a:off x="4823382" y="3071553"/>
            <a:ext cx="160830" cy="2414847"/>
          </a:xfrm>
          <a:prstGeom prst="rect">
            <a:avLst/>
          </a:prstGeom>
          <a:solidFill>
            <a:srgbClr val="4B5068"/>
          </a:solidFill>
          <a:ln w="12700">
            <a:solidFill>
              <a:srgbClr val="4B5068"/>
            </a:solidFill>
            <a:prstDash val="solid"/>
          </a:ln>
        </p:spPr>
      </p:sp>
      <p:sp>
        <p:nvSpPr>
          <p:cNvPr id="24" name="Shape 22"/>
          <p:cNvSpPr/>
          <p:nvPr/>
        </p:nvSpPr>
        <p:spPr>
          <a:xfrm>
            <a:off x="5035000" y="3173384"/>
            <a:ext cx="160830" cy="2313016"/>
          </a:xfrm>
          <a:prstGeom prst="rect">
            <a:avLst/>
          </a:prstGeom>
          <a:solidFill>
            <a:srgbClr val="4B5068"/>
          </a:solidFill>
          <a:ln w="12700">
            <a:solidFill>
              <a:srgbClr val="4B5068"/>
            </a:solidFill>
            <a:prstDash val="solid"/>
          </a:ln>
        </p:spPr>
      </p:sp>
      <p:sp>
        <p:nvSpPr>
          <p:cNvPr id="25" name="Shape 23"/>
          <p:cNvSpPr/>
          <p:nvPr/>
        </p:nvSpPr>
        <p:spPr>
          <a:xfrm>
            <a:off x="5246618" y="3347951"/>
            <a:ext cx="160830" cy="2138449"/>
          </a:xfrm>
          <a:prstGeom prst="rect">
            <a:avLst/>
          </a:prstGeom>
          <a:solidFill>
            <a:srgbClr val="4B5068"/>
          </a:solidFill>
          <a:ln w="12700">
            <a:solidFill>
              <a:srgbClr val="4B5068"/>
            </a:solidFill>
            <a:prstDash val="solid"/>
          </a:ln>
        </p:spPr>
      </p:sp>
      <p:sp>
        <p:nvSpPr>
          <p:cNvPr id="26" name="Shape 24"/>
          <p:cNvSpPr/>
          <p:nvPr/>
        </p:nvSpPr>
        <p:spPr>
          <a:xfrm>
            <a:off x="5458236" y="3275215"/>
            <a:ext cx="160830" cy="2211185"/>
          </a:xfrm>
          <a:prstGeom prst="rect">
            <a:avLst/>
          </a:prstGeom>
          <a:solidFill>
            <a:srgbClr val="4B5068"/>
          </a:solidFill>
          <a:ln w="12700">
            <a:solidFill>
              <a:srgbClr val="4B5068"/>
            </a:solidFill>
            <a:prstDash val="solid"/>
          </a:ln>
        </p:spPr>
      </p:sp>
      <p:sp>
        <p:nvSpPr>
          <p:cNvPr id="27" name="Shape 25"/>
          <p:cNvSpPr/>
          <p:nvPr/>
        </p:nvSpPr>
        <p:spPr>
          <a:xfrm>
            <a:off x="5669855" y="3362498"/>
            <a:ext cx="160830" cy="2123902"/>
          </a:xfrm>
          <a:prstGeom prst="rect">
            <a:avLst/>
          </a:prstGeom>
          <a:solidFill>
            <a:srgbClr val="4B5068"/>
          </a:solidFill>
          <a:ln w="12700">
            <a:solidFill>
              <a:srgbClr val="4B5068"/>
            </a:solidFill>
            <a:prstDash val="solid"/>
          </a:ln>
        </p:spPr>
      </p:sp>
      <p:sp>
        <p:nvSpPr>
          <p:cNvPr id="28" name="Shape 26"/>
          <p:cNvSpPr/>
          <p:nvPr/>
        </p:nvSpPr>
        <p:spPr>
          <a:xfrm>
            <a:off x="5881473" y="3217025"/>
            <a:ext cx="160830" cy="2269375"/>
          </a:xfrm>
          <a:prstGeom prst="rect">
            <a:avLst/>
          </a:prstGeom>
          <a:solidFill>
            <a:srgbClr val="4B5068"/>
          </a:solidFill>
          <a:ln w="12700">
            <a:solidFill>
              <a:srgbClr val="4B5068"/>
            </a:solidFill>
            <a:prstDash val="solid"/>
          </a:ln>
        </p:spPr>
      </p:sp>
      <p:sp>
        <p:nvSpPr>
          <p:cNvPr id="29" name="Shape 27"/>
          <p:cNvSpPr/>
          <p:nvPr/>
        </p:nvSpPr>
        <p:spPr>
          <a:xfrm>
            <a:off x="6093091" y="3129742"/>
            <a:ext cx="160830" cy="2356658"/>
          </a:xfrm>
          <a:prstGeom prst="rect">
            <a:avLst/>
          </a:prstGeom>
          <a:solidFill>
            <a:srgbClr val="4B5068"/>
          </a:solidFill>
          <a:ln w="12700">
            <a:solidFill>
              <a:srgbClr val="4B5068"/>
            </a:solidFill>
            <a:prstDash val="solid"/>
          </a:ln>
        </p:spPr>
      </p:sp>
      <p:sp>
        <p:nvSpPr>
          <p:cNvPr id="30" name="Shape 28"/>
          <p:cNvSpPr/>
          <p:nvPr/>
        </p:nvSpPr>
        <p:spPr>
          <a:xfrm>
            <a:off x="6304710" y="3027911"/>
            <a:ext cx="160830" cy="2458489"/>
          </a:xfrm>
          <a:prstGeom prst="rect">
            <a:avLst/>
          </a:prstGeom>
          <a:solidFill>
            <a:srgbClr val="4B5068"/>
          </a:solidFill>
          <a:ln w="12700">
            <a:solidFill>
              <a:srgbClr val="4B5068"/>
            </a:solidFill>
            <a:prstDash val="solid"/>
          </a:ln>
        </p:spPr>
      </p:sp>
      <p:sp>
        <p:nvSpPr>
          <p:cNvPr id="31" name="Shape 29"/>
          <p:cNvSpPr/>
          <p:nvPr/>
        </p:nvSpPr>
        <p:spPr>
          <a:xfrm>
            <a:off x="6516328" y="2896985"/>
            <a:ext cx="160830" cy="2589415"/>
          </a:xfrm>
          <a:prstGeom prst="rect">
            <a:avLst/>
          </a:prstGeom>
          <a:solidFill>
            <a:srgbClr val="4B5068"/>
          </a:solidFill>
          <a:ln w="12700">
            <a:solidFill>
              <a:srgbClr val="4B5068"/>
            </a:solidFill>
            <a:prstDash val="solid"/>
          </a:ln>
        </p:spPr>
      </p:sp>
      <p:sp>
        <p:nvSpPr>
          <p:cNvPr id="32" name="Shape 30"/>
          <p:cNvSpPr/>
          <p:nvPr/>
        </p:nvSpPr>
        <p:spPr>
          <a:xfrm>
            <a:off x="6727946" y="2926080"/>
            <a:ext cx="160830" cy="2560320"/>
          </a:xfrm>
          <a:prstGeom prst="rect">
            <a:avLst/>
          </a:prstGeom>
          <a:solidFill>
            <a:srgbClr val="4B5068"/>
          </a:solidFill>
          <a:ln w="12700">
            <a:solidFill>
              <a:srgbClr val="4B5068"/>
            </a:solidFill>
            <a:prstDash val="solid"/>
          </a:ln>
        </p:spPr>
      </p:sp>
      <p:sp>
        <p:nvSpPr>
          <p:cNvPr id="33" name="Shape 31"/>
          <p:cNvSpPr/>
          <p:nvPr/>
        </p:nvSpPr>
        <p:spPr>
          <a:xfrm>
            <a:off x="6939564" y="2911533"/>
            <a:ext cx="160830" cy="2574867"/>
          </a:xfrm>
          <a:prstGeom prst="rect">
            <a:avLst/>
          </a:prstGeom>
          <a:solidFill>
            <a:srgbClr val="4B5068"/>
          </a:solidFill>
          <a:ln w="12700">
            <a:solidFill>
              <a:srgbClr val="4B5068"/>
            </a:solidFill>
            <a:prstDash val="solid"/>
          </a:ln>
        </p:spPr>
      </p:sp>
      <p:sp>
        <p:nvSpPr>
          <p:cNvPr id="34" name="Shape 32"/>
          <p:cNvSpPr/>
          <p:nvPr/>
        </p:nvSpPr>
        <p:spPr>
          <a:xfrm>
            <a:off x="7151183" y="2867891"/>
            <a:ext cx="160830" cy="2618509"/>
          </a:xfrm>
          <a:prstGeom prst="rect">
            <a:avLst/>
          </a:prstGeom>
          <a:solidFill>
            <a:srgbClr val="4B5068"/>
          </a:solidFill>
          <a:ln w="12700">
            <a:solidFill>
              <a:srgbClr val="4B5068"/>
            </a:solidFill>
            <a:prstDash val="solid"/>
          </a:ln>
        </p:spPr>
      </p:sp>
      <p:sp>
        <p:nvSpPr>
          <p:cNvPr id="35" name="Shape 33"/>
          <p:cNvSpPr/>
          <p:nvPr/>
        </p:nvSpPr>
        <p:spPr>
          <a:xfrm>
            <a:off x="7362801" y="2853344"/>
            <a:ext cx="160830" cy="2633056"/>
          </a:xfrm>
          <a:prstGeom prst="rect">
            <a:avLst/>
          </a:prstGeom>
          <a:solidFill>
            <a:srgbClr val="4B5068"/>
          </a:solidFill>
          <a:ln w="12700">
            <a:solidFill>
              <a:srgbClr val="4B5068"/>
            </a:solidFill>
            <a:prstDash val="solid"/>
          </a:ln>
        </p:spPr>
      </p:sp>
      <p:sp>
        <p:nvSpPr>
          <p:cNvPr id="36" name="Shape 34"/>
          <p:cNvSpPr/>
          <p:nvPr/>
        </p:nvSpPr>
        <p:spPr>
          <a:xfrm>
            <a:off x="7574419" y="2940627"/>
            <a:ext cx="160830" cy="2545773"/>
          </a:xfrm>
          <a:prstGeom prst="rect">
            <a:avLst/>
          </a:prstGeom>
          <a:solidFill>
            <a:srgbClr val="FF4757"/>
          </a:solidFill>
          <a:ln w="12700">
            <a:solidFill>
              <a:srgbClr val="FF4757"/>
            </a:solidFill>
            <a:prstDash val="solid"/>
          </a:ln>
        </p:spPr>
      </p:sp>
      <p:sp>
        <p:nvSpPr>
          <p:cNvPr id="37" name="Shape 35"/>
          <p:cNvSpPr/>
          <p:nvPr/>
        </p:nvSpPr>
        <p:spPr>
          <a:xfrm>
            <a:off x="7786038" y="3246120"/>
            <a:ext cx="160830" cy="2240280"/>
          </a:xfrm>
          <a:prstGeom prst="rect">
            <a:avLst/>
          </a:prstGeom>
          <a:solidFill>
            <a:srgbClr val="4B5068"/>
          </a:solidFill>
          <a:ln w="12700">
            <a:solidFill>
              <a:srgbClr val="4B5068"/>
            </a:solidFill>
            <a:prstDash val="solid"/>
          </a:ln>
        </p:spPr>
      </p:sp>
      <p:sp>
        <p:nvSpPr>
          <p:cNvPr id="38" name="Shape 36"/>
          <p:cNvSpPr/>
          <p:nvPr/>
        </p:nvSpPr>
        <p:spPr>
          <a:xfrm>
            <a:off x="7997656" y="3464329"/>
            <a:ext cx="160830" cy="2022071"/>
          </a:xfrm>
          <a:prstGeom prst="rect">
            <a:avLst/>
          </a:prstGeom>
          <a:solidFill>
            <a:srgbClr val="FF4757"/>
          </a:solidFill>
          <a:ln w="12700">
            <a:solidFill>
              <a:srgbClr val="FF4757"/>
            </a:solidFill>
            <a:prstDash val="solid"/>
          </a:ln>
        </p:spPr>
      </p:sp>
      <p:sp>
        <p:nvSpPr>
          <p:cNvPr id="39" name="Shape 37"/>
          <p:cNvSpPr/>
          <p:nvPr/>
        </p:nvSpPr>
        <p:spPr>
          <a:xfrm>
            <a:off x="685800" y="5486400"/>
            <a:ext cx="7589520" cy="22860"/>
          </a:xfrm>
          <a:prstGeom prst="rect">
            <a:avLst/>
          </a:prstGeom>
          <a:solidFill>
            <a:srgbClr val="6A6F85"/>
          </a:solidFill>
          <a:ln w="12700">
            <a:solidFill>
              <a:srgbClr val="6A6F85"/>
            </a:solidFill>
            <a:prstDash val="solid"/>
          </a:ln>
        </p:spPr>
      </p:sp>
      <p:sp>
        <p:nvSpPr>
          <p:cNvPr id="40" name="Shape 38"/>
          <p:cNvSpPr/>
          <p:nvPr/>
        </p:nvSpPr>
        <p:spPr>
          <a:xfrm>
            <a:off x="777240" y="3537065"/>
            <a:ext cx="7406640" cy="27432"/>
          </a:xfrm>
          <a:prstGeom prst="rect">
            <a:avLst/>
          </a:prstGeom>
          <a:solidFill>
            <a:srgbClr val="27D3BE"/>
          </a:solidFill>
          <a:ln w="12700">
            <a:solidFill>
              <a:srgbClr val="27D3BE"/>
            </a:solidFill>
            <a:prstDash val="solid"/>
          </a:ln>
        </p:spPr>
      </p:sp>
      <p:sp>
        <p:nvSpPr>
          <p:cNvPr id="41" name="Text 39"/>
          <p:cNvSpPr/>
          <p:nvPr/>
        </p:nvSpPr>
        <p:spPr>
          <a:xfrm>
            <a:off x="3703320" y="3207881"/>
            <a:ext cx="2194560" cy="292608"/>
          </a:xfrm>
          <a:prstGeom prst="rect">
            <a:avLst/>
          </a:prstGeom>
          <a:noFill/>
          <a:ln/>
        </p:spPr>
        <p:txBody>
          <a:bodyPr wrap="square" lIns="0" tIns="0" rIns="0" bIns="0" rtlCol="0" anchor="t"/>
          <a:lstStyle/>
          <a:p>
            <a:pPr indent="0" marL="0">
              <a:buNone/>
            </a:pPr>
            <a:r>
              <a:rPr lang="en-US" sz="1300" b="1" dirty="0">
                <a:solidFill>
                  <a:srgbClr val="27D3BE"/>
                </a:solidFill>
                <a:latin typeface="Palatino Linotype" pitchFamily="34" charset="0"/>
                <a:ea typeface="Palatino Linotype" pitchFamily="34" charset="-122"/>
                <a:cs typeface="Palatino Linotype" pitchFamily="34" charset="-120"/>
              </a:rPr>
              <a:t>UE, 2024: 1,34</a:t>
            </a:r>
            <a:endParaRPr lang="en-US" sz="1300" dirty="0"/>
          </a:p>
        </p:txBody>
      </p:sp>
      <p:sp>
        <p:nvSpPr>
          <p:cNvPr id="42" name="Shape 40"/>
          <p:cNvSpPr/>
          <p:nvPr/>
        </p:nvSpPr>
        <p:spPr>
          <a:xfrm>
            <a:off x="777240" y="2431473"/>
            <a:ext cx="7406640" cy="18288"/>
          </a:xfrm>
          <a:prstGeom prst="rect">
            <a:avLst/>
          </a:prstGeom>
          <a:solidFill>
            <a:srgbClr val="FFC24B"/>
          </a:solidFill>
          <a:ln w="12700">
            <a:solidFill>
              <a:srgbClr val="FFC24B"/>
            </a:solidFill>
            <a:prstDash val="solid"/>
          </a:ln>
        </p:spPr>
      </p:sp>
      <p:sp>
        <p:nvSpPr>
          <p:cNvPr id="43" name="Text 41"/>
          <p:cNvSpPr/>
          <p:nvPr/>
        </p:nvSpPr>
        <p:spPr>
          <a:xfrm>
            <a:off x="2788920" y="2120577"/>
            <a:ext cx="4206240" cy="274320"/>
          </a:xfrm>
          <a:prstGeom prst="rect">
            <a:avLst/>
          </a:prstGeom>
          <a:noFill/>
          <a:ln/>
        </p:spPr>
        <p:txBody>
          <a:bodyPr wrap="square" lIns="0" tIns="0" rIns="0" bIns="0" rtlCol="0" anchor="t"/>
          <a:lstStyle/>
          <a:p>
            <a:pPr indent="0" marL="0">
              <a:buNone/>
            </a:pPr>
            <a:r>
              <a:rPr lang="en-US" sz="1300" dirty="0">
                <a:solidFill>
                  <a:srgbClr val="FFC24B"/>
                </a:solidFill>
                <a:latin typeface="Palatino Linotype" pitchFamily="34" charset="0"/>
                <a:ea typeface="Palatino Linotype" pitchFamily="34" charset="-122"/>
                <a:cs typeface="Palatino Linotype" pitchFamily="34" charset="-120"/>
              </a:rPr>
              <a:t>înlocuirea generațiilor: puțin peste 2</a:t>
            </a:r>
            <a:endParaRPr lang="en-US" sz="1300" dirty="0"/>
          </a:p>
        </p:txBody>
      </p:sp>
      <p:sp>
        <p:nvSpPr>
          <p:cNvPr id="44" name="Text 42"/>
          <p:cNvSpPr/>
          <p:nvPr/>
        </p:nvSpPr>
        <p:spPr>
          <a:xfrm>
            <a:off x="517289" y="2476777"/>
            <a:ext cx="731520" cy="310896"/>
          </a:xfrm>
          <a:prstGeom prst="rect">
            <a:avLst/>
          </a:prstGeom>
          <a:noFill/>
          <a:ln/>
        </p:spPr>
        <p:txBody>
          <a:bodyPr wrap="square" lIns="0" tIns="0" rIns="0" bIns="0" rtlCol="0" anchor="t"/>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1,83</a:t>
            </a:r>
            <a:endParaRPr lang="en-US" sz="1500" dirty="0"/>
          </a:p>
        </p:txBody>
      </p:sp>
      <p:sp>
        <p:nvSpPr>
          <p:cNvPr id="45" name="Text 43"/>
          <p:cNvSpPr/>
          <p:nvPr/>
        </p:nvSpPr>
        <p:spPr>
          <a:xfrm>
            <a:off x="517289" y="5541264"/>
            <a:ext cx="731520" cy="274320"/>
          </a:xfrm>
          <a:prstGeom prst="rect">
            <a:avLst/>
          </a:prstGeom>
          <a:noFill/>
          <a:ln/>
        </p:spPr>
        <p:txBody>
          <a:bodyPr wrap="square" lIns="0" tIns="0" rIns="0" bIns="0" rtlCol="0" anchor="t"/>
          <a:lstStyle/>
          <a:p>
            <a:pPr algn="ctr" indent="0" marL="0">
              <a:buNone/>
            </a:pPr>
            <a:r>
              <a:rPr lang="en-US" sz="1200" dirty="0">
                <a:solidFill>
                  <a:srgbClr val="D5D8E2"/>
                </a:solidFill>
                <a:latin typeface="Palatino Linotype" pitchFamily="34" charset="0"/>
                <a:ea typeface="Palatino Linotype" pitchFamily="34" charset="-122"/>
                <a:cs typeface="Palatino Linotype" pitchFamily="34" charset="-120"/>
              </a:rPr>
              <a:t>1990</a:t>
            </a:r>
            <a:endParaRPr lang="en-US" sz="1200" dirty="0"/>
          </a:p>
        </p:txBody>
      </p:sp>
      <p:sp>
        <p:nvSpPr>
          <p:cNvPr id="46" name="Text 44"/>
          <p:cNvSpPr/>
          <p:nvPr/>
        </p:nvSpPr>
        <p:spPr>
          <a:xfrm>
            <a:off x="3056709" y="3291424"/>
            <a:ext cx="731520" cy="310896"/>
          </a:xfrm>
          <a:prstGeom prst="rect">
            <a:avLst/>
          </a:prstGeom>
          <a:noFill/>
          <a:ln/>
        </p:spPr>
        <p:txBody>
          <a:bodyPr wrap="square" lIns="0" tIns="0" rIns="0" bIns="0" rtlCol="0" anchor="t"/>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1,27</a:t>
            </a:r>
            <a:endParaRPr lang="en-US" sz="1500" dirty="0"/>
          </a:p>
        </p:txBody>
      </p:sp>
      <p:sp>
        <p:nvSpPr>
          <p:cNvPr id="47" name="Text 45"/>
          <p:cNvSpPr/>
          <p:nvPr/>
        </p:nvSpPr>
        <p:spPr>
          <a:xfrm>
            <a:off x="3056709" y="5541264"/>
            <a:ext cx="731520" cy="274320"/>
          </a:xfrm>
          <a:prstGeom prst="rect">
            <a:avLst/>
          </a:prstGeom>
          <a:noFill/>
          <a:ln/>
        </p:spPr>
        <p:txBody>
          <a:bodyPr wrap="square" lIns="0" tIns="0" rIns="0" bIns="0" rtlCol="0" anchor="t"/>
          <a:lstStyle/>
          <a:p>
            <a:pPr algn="ctr" indent="0" marL="0">
              <a:buNone/>
            </a:pPr>
            <a:r>
              <a:rPr lang="en-US" sz="1200" dirty="0">
                <a:solidFill>
                  <a:srgbClr val="D5D8E2"/>
                </a:solidFill>
                <a:latin typeface="Palatino Linotype" pitchFamily="34" charset="0"/>
                <a:ea typeface="Palatino Linotype" pitchFamily="34" charset="-122"/>
                <a:cs typeface="Palatino Linotype" pitchFamily="34" charset="-120"/>
              </a:rPr>
              <a:t>2002</a:t>
            </a:r>
            <a:endParaRPr lang="en-US" sz="1200" dirty="0"/>
          </a:p>
        </p:txBody>
      </p:sp>
      <p:sp>
        <p:nvSpPr>
          <p:cNvPr id="48" name="Text 46"/>
          <p:cNvSpPr/>
          <p:nvPr/>
        </p:nvSpPr>
        <p:spPr>
          <a:xfrm>
            <a:off x="6648994" y="2593155"/>
            <a:ext cx="731520" cy="310896"/>
          </a:xfrm>
          <a:prstGeom prst="rect">
            <a:avLst/>
          </a:prstGeom>
          <a:noFill/>
          <a:ln/>
        </p:spPr>
        <p:txBody>
          <a:bodyPr wrap="square" lIns="0" tIns="0" rIns="0" bIns="0" rtlCol="0" anchor="t"/>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1,75</a:t>
            </a:r>
            <a:endParaRPr lang="en-US" sz="1500" dirty="0"/>
          </a:p>
        </p:txBody>
      </p:sp>
      <p:sp>
        <p:nvSpPr>
          <p:cNvPr id="49" name="Text 47"/>
          <p:cNvSpPr/>
          <p:nvPr/>
        </p:nvSpPr>
        <p:spPr>
          <a:xfrm>
            <a:off x="6648994" y="5541264"/>
            <a:ext cx="731520" cy="274320"/>
          </a:xfrm>
          <a:prstGeom prst="rect">
            <a:avLst/>
          </a:prstGeom>
          <a:noFill/>
          <a:ln/>
        </p:spPr>
        <p:txBody>
          <a:bodyPr wrap="square" lIns="0" tIns="0" rIns="0" bIns="0" rtlCol="0" anchor="t"/>
          <a:lstStyle/>
          <a:p>
            <a:pPr algn="ctr" indent="0" marL="0">
              <a:buNone/>
            </a:pPr>
            <a:r>
              <a:rPr lang="en-US" sz="1200" dirty="0">
                <a:solidFill>
                  <a:srgbClr val="D5D8E2"/>
                </a:solidFill>
                <a:latin typeface="Palatino Linotype" pitchFamily="34" charset="0"/>
                <a:ea typeface="Palatino Linotype" pitchFamily="34" charset="-122"/>
                <a:cs typeface="Palatino Linotype" pitchFamily="34" charset="-120"/>
              </a:rPr>
              <a:t>2022</a:t>
            </a:r>
            <a:endParaRPr lang="en-US" sz="1200" dirty="0"/>
          </a:p>
        </p:txBody>
      </p:sp>
      <p:sp>
        <p:nvSpPr>
          <p:cNvPr id="50" name="Text 48"/>
          <p:cNvSpPr/>
          <p:nvPr/>
        </p:nvSpPr>
        <p:spPr>
          <a:xfrm>
            <a:off x="7620871" y="3116857"/>
            <a:ext cx="731520" cy="310896"/>
          </a:xfrm>
          <a:prstGeom prst="rect">
            <a:avLst/>
          </a:prstGeom>
          <a:noFill/>
          <a:ln/>
        </p:spPr>
        <p:txBody>
          <a:bodyPr wrap="square" lIns="0" tIns="0" rIns="0" bIns="0" rtlCol="0" anchor="t"/>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1,39</a:t>
            </a:r>
            <a:endParaRPr lang="en-US" sz="1500" dirty="0"/>
          </a:p>
        </p:txBody>
      </p:sp>
      <p:sp>
        <p:nvSpPr>
          <p:cNvPr id="51" name="Text 49"/>
          <p:cNvSpPr/>
          <p:nvPr/>
        </p:nvSpPr>
        <p:spPr>
          <a:xfrm>
            <a:off x="7620871" y="5541264"/>
            <a:ext cx="731520" cy="274320"/>
          </a:xfrm>
          <a:prstGeom prst="rect">
            <a:avLst/>
          </a:prstGeom>
          <a:noFill/>
          <a:ln/>
        </p:spPr>
        <p:txBody>
          <a:bodyPr wrap="square" lIns="0" tIns="0" rIns="0" bIns="0" rtlCol="0" anchor="t"/>
          <a:lstStyle/>
          <a:p>
            <a:pPr algn="ctr" indent="0" marL="0">
              <a:buNone/>
            </a:pPr>
            <a:r>
              <a:rPr lang="en-US" sz="1200" dirty="0">
                <a:solidFill>
                  <a:srgbClr val="D5D8E2"/>
                </a:solidFill>
                <a:latin typeface="Palatino Linotype" pitchFamily="34" charset="0"/>
                <a:ea typeface="Palatino Linotype" pitchFamily="34" charset="-122"/>
                <a:cs typeface="Palatino Linotype" pitchFamily="34" charset="-120"/>
              </a:rPr>
              <a:t>2024</a:t>
            </a:r>
            <a:endParaRPr lang="en-US" sz="1200" dirty="0"/>
          </a:p>
        </p:txBody>
      </p:sp>
      <p:sp>
        <p:nvSpPr>
          <p:cNvPr id="52" name="Shape 50"/>
          <p:cNvSpPr/>
          <p:nvPr/>
        </p:nvSpPr>
        <p:spPr>
          <a:xfrm>
            <a:off x="8503920" y="1783080"/>
            <a:ext cx="3063240" cy="4297680"/>
          </a:xfrm>
          <a:prstGeom prst="roundRect">
            <a:avLst>
              <a:gd name="adj" fmla="val 2687"/>
            </a:avLst>
          </a:prstGeom>
          <a:solidFill>
            <a:srgbClr val="1D1F2B"/>
          </a:solidFill>
          <a:ln w="12700">
            <a:solidFill>
              <a:srgbClr val="1D1F2B"/>
            </a:solidFill>
            <a:prstDash val="solid"/>
          </a:ln>
        </p:spPr>
      </p:sp>
      <p:sp>
        <p:nvSpPr>
          <p:cNvPr id="53" name="Text 51"/>
          <p:cNvSpPr/>
          <p:nvPr/>
        </p:nvSpPr>
        <p:spPr>
          <a:xfrm>
            <a:off x="8732520" y="1920240"/>
            <a:ext cx="2651760" cy="2286000"/>
          </a:xfrm>
          <a:prstGeom prst="rect">
            <a:avLst/>
          </a:prstGeom>
          <a:noFill/>
          <a:ln/>
        </p:spPr>
        <p:txBody>
          <a:bodyPr wrap="square" lIns="0" tIns="0" rIns="0" bIns="0" rtlCol="0" anchor="t"/>
          <a:lstStyle/>
          <a:p>
            <a:pPr indent="0" marL="0">
              <a:buNone/>
            </a:pPr>
            <a:r>
              <a:rPr lang="en-US" sz="1400" dirty="0">
                <a:solidFill>
                  <a:srgbClr val="FFFFFF"/>
                </a:solidFill>
                <a:latin typeface="Palatino Linotype" pitchFamily="34" charset="0"/>
                <a:ea typeface="Palatino Linotype" pitchFamily="34" charset="-122"/>
                <a:cs typeface="Palatino Linotype" pitchFamily="34" charset="-120"/>
              </a:rPr>
              <a:t>Rata totală de fertilitate: numărul mediu de copii pe care i-ar avea o femeie, dacă ar avea fertilitatea unui an la fiecare vârstă.</a:t>
            </a:r>
            <a:endParaRPr lang="en-US" sz="1400" dirty="0"/>
          </a:p>
        </p:txBody>
      </p:sp>
      <p:sp>
        <p:nvSpPr>
          <p:cNvPr id="54" name="Text 52"/>
          <p:cNvSpPr/>
          <p:nvPr/>
        </p:nvSpPr>
        <p:spPr>
          <a:xfrm>
            <a:off x="8732520" y="4160520"/>
            <a:ext cx="2651760" cy="1828800"/>
          </a:xfrm>
          <a:prstGeom prst="rect">
            <a:avLst/>
          </a:prstGeom>
          <a:noFill/>
          <a:ln/>
        </p:spPr>
        <p:txBody>
          <a:bodyPr wrap="square" lIns="0" tIns="0" rIns="0" bIns="0" rtlCol="0" anchor="t"/>
          <a:lstStyle/>
          <a:p>
            <a:pPr indent="0" marL="0">
              <a:buNone/>
            </a:pPr>
            <a:r>
              <a:rPr lang="en-US" sz="1400" b="1" dirty="0">
                <a:solidFill>
                  <a:srgbClr val="FFC24B"/>
                </a:solidFill>
                <a:latin typeface="Palatino Linotype" pitchFamily="34" charset="0"/>
                <a:ea typeface="Palatino Linotype" pitchFamily="34" charset="-122"/>
                <a:cs typeface="Palatino Linotype" pitchFamily="34" charset="-120"/>
              </a:rPr>
              <a:t>În 2024, România (1,39) nu are o fertilitate mai mică decât media europeană (1,34). Problema vine din combinația cu emigrarea și cu mortalitatea.</a:t>
            </a:r>
            <a:endParaRPr lang="en-US" sz="1400" dirty="0"/>
          </a:p>
        </p:txBody>
      </p:sp>
      <p:sp>
        <p:nvSpPr>
          <p:cNvPr id="55" name="Text 53"/>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Sursa: Eurostat, rata totală de fertilitate; valorile ultimilor trei ani sunt estimări.</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LIMITELE MODELULUI</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Modelul nu este o lege</a:t>
            </a:r>
            <a:endParaRPr lang="en-US" sz="3200" dirty="0"/>
          </a:p>
        </p:txBody>
      </p:sp>
      <p:sp>
        <p:nvSpPr>
          <p:cNvPr id="4" name="Shape 2"/>
          <p:cNvSpPr/>
          <p:nvPr/>
        </p:nvSpPr>
        <p:spPr>
          <a:xfrm>
            <a:off x="594360" y="1783080"/>
            <a:ext cx="5349240" cy="4206240"/>
          </a:xfrm>
          <a:prstGeom prst="roundRect">
            <a:avLst>
              <a:gd name="adj" fmla="val 1957"/>
            </a:avLst>
          </a:prstGeom>
          <a:solidFill>
            <a:srgbClr val="ECEAE4"/>
          </a:solidFill>
          <a:ln w="12700">
            <a:solidFill>
              <a:srgbClr val="ECEAE4"/>
            </a:solidFill>
            <a:prstDash val="solid"/>
          </a:ln>
        </p:spPr>
      </p:sp>
      <p:sp>
        <p:nvSpPr>
          <p:cNvPr id="5" name="Text 3"/>
          <p:cNvSpPr/>
          <p:nvPr/>
        </p:nvSpPr>
        <p:spPr>
          <a:xfrm>
            <a:off x="868680" y="1920240"/>
            <a:ext cx="4846320" cy="365760"/>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TREI VARIANTE, DUPĂ OMRAN</a:t>
            </a:r>
            <a:endParaRPr lang="en-US" sz="1300" dirty="0"/>
          </a:p>
        </p:txBody>
      </p:sp>
      <p:sp>
        <p:nvSpPr>
          <p:cNvPr id="6" name="Text 4"/>
          <p:cNvSpPr/>
          <p:nvPr/>
        </p:nvSpPr>
        <p:spPr>
          <a:xfrm>
            <a:off x="868680" y="2377440"/>
            <a:ext cx="4846320" cy="173736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clasică: în aproximativ două secole</a:t>
            </a:r>
            <a:endParaRPr lang="en-US" sz="1700" dirty="0"/>
          </a:p>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accelerată: Japonia</a:t>
            </a:r>
            <a:endParaRPr lang="en-US" sz="1700" dirty="0"/>
          </a:p>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întârziată: mortalitatea a scăzut abia în secolul trecut</a:t>
            </a:r>
            <a:endParaRPr lang="en-US" sz="1700" dirty="0"/>
          </a:p>
        </p:txBody>
      </p:sp>
      <p:sp>
        <p:nvSpPr>
          <p:cNvPr id="7" name="Text 5"/>
          <p:cNvSpPr/>
          <p:nvPr/>
        </p:nvSpPr>
        <p:spPr>
          <a:xfrm>
            <a:off x="868680" y="4206240"/>
            <a:ext cx="4846320" cy="1554480"/>
          </a:xfrm>
          <a:prstGeom prst="rect">
            <a:avLst/>
          </a:prstGeom>
          <a:noFill/>
          <a:ln/>
        </p:spPr>
        <p:txBody>
          <a:bodyPr wrap="square" lIns="0" tIns="0" rIns="0" bIns="0" rtlCol="0" anchor="t"/>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Modelul nu spune cât durează etapele, nu garantează că natalitatea scade și nu include migrația.</a:t>
            </a:r>
            <a:endParaRPr lang="en-US" sz="1700" dirty="0"/>
          </a:p>
        </p:txBody>
      </p:sp>
      <p:sp>
        <p:nvSpPr>
          <p:cNvPr id="8" name="Shape 6"/>
          <p:cNvSpPr/>
          <p:nvPr/>
        </p:nvSpPr>
        <p:spPr>
          <a:xfrm>
            <a:off x="6217920" y="1783080"/>
            <a:ext cx="5349240" cy="4206240"/>
          </a:xfrm>
          <a:prstGeom prst="roundRect">
            <a:avLst>
              <a:gd name="adj" fmla="val 1957"/>
            </a:avLst>
          </a:prstGeom>
          <a:solidFill>
            <a:srgbClr val="11121A"/>
          </a:solidFill>
          <a:ln w="12700">
            <a:solidFill>
              <a:srgbClr val="11121A"/>
            </a:solidFill>
            <a:prstDash val="solid"/>
          </a:ln>
        </p:spPr>
      </p:sp>
      <p:sp>
        <p:nvSpPr>
          <p:cNvPr id="9" name="Text 7"/>
          <p:cNvSpPr/>
          <p:nvPr/>
        </p:nvSpPr>
        <p:spPr>
          <a:xfrm>
            <a:off x="6492240" y="1920240"/>
            <a:ext cx="4846320" cy="365760"/>
          </a:xfrm>
          <a:prstGeom prst="rect">
            <a:avLst/>
          </a:prstGeom>
          <a:noFill/>
          <a:ln/>
        </p:spPr>
        <p:txBody>
          <a:bodyPr wrap="square" lIns="0" tIns="0" rIns="0" bIns="0" rtlCol="0" anchor="t"/>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A DOUA TRANZIȚIE · LESTHAEGHE ȘI VAN DE KAA</a:t>
            </a:r>
            <a:endParaRPr lang="en-US" sz="1300" dirty="0"/>
          </a:p>
        </p:txBody>
      </p:sp>
      <p:sp>
        <p:nvSpPr>
          <p:cNvPr id="10" name="Text 8"/>
          <p:cNvSpPr/>
          <p:nvPr/>
        </p:nvSpPr>
        <p:spPr>
          <a:xfrm>
            <a:off x="6492240" y="2377440"/>
            <a:ext cx="4846320" cy="1188720"/>
          </a:xfrm>
          <a:prstGeom prst="rect">
            <a:avLst/>
          </a:prstGeom>
          <a:noFill/>
          <a:ln/>
        </p:spPr>
        <p:txBody>
          <a:bodyPr wrap="square" lIns="0" tIns="0" rIns="0" bIns="0" rtlCol="0" anchor="t"/>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Fertilitatea rămâne sub nivelul de înlocuire, căsătoria se amână, se schimbă valorile.</a:t>
            </a:r>
            <a:endParaRPr lang="en-US" sz="1700" dirty="0"/>
          </a:p>
        </p:txBody>
      </p:sp>
      <p:sp>
        <p:nvSpPr>
          <p:cNvPr id="11" name="Text 9"/>
          <p:cNvSpPr/>
          <p:nvPr/>
        </p:nvSpPr>
        <p:spPr>
          <a:xfrm>
            <a:off x="6492240" y="3657600"/>
            <a:ext cx="4846320" cy="548640"/>
          </a:xfrm>
          <a:prstGeom prst="rect">
            <a:avLst/>
          </a:prstGeom>
          <a:noFill/>
          <a:ln/>
        </p:spPr>
        <p:txBody>
          <a:bodyPr wrap="square" lIns="0" tIns="0" rIns="0" bIns="0" rtlCol="0" anchor="t"/>
          <a:lstStyle/>
          <a:p>
            <a:pPr indent="0" marL="0">
              <a:buNone/>
            </a:pPr>
            <a:r>
              <a:rPr lang="en-US" sz="2800" b="1" dirty="0">
                <a:solidFill>
                  <a:srgbClr val="27D3BE"/>
                </a:solidFill>
                <a:latin typeface="Palatino Linotype" pitchFamily="34" charset="0"/>
                <a:ea typeface="Palatino Linotype" pitchFamily="34" charset="-122"/>
                <a:cs typeface="Palatino Linotype" pitchFamily="34" charset="-120"/>
              </a:rPr>
              <a:t>23,6 → 27,2 ani</a:t>
            </a:r>
            <a:endParaRPr lang="en-US" sz="2800" dirty="0"/>
          </a:p>
        </p:txBody>
      </p:sp>
      <p:sp>
        <p:nvSpPr>
          <p:cNvPr id="12" name="Text 10"/>
          <p:cNvSpPr/>
          <p:nvPr/>
        </p:nvSpPr>
        <p:spPr>
          <a:xfrm>
            <a:off x="6492240" y="4206240"/>
            <a:ext cx="4846320" cy="548640"/>
          </a:xfrm>
          <a:prstGeom prst="rect">
            <a:avLst/>
          </a:prstGeom>
          <a:noFill/>
          <a:ln/>
        </p:spPr>
        <p:txBody>
          <a:bodyPr wrap="square" lIns="0" tIns="0" rIns="0" bIns="0" rtlCol="0" anchor="t"/>
          <a:lstStyle/>
          <a:p>
            <a:pPr indent="0" marL="0">
              <a:buNone/>
            </a:pPr>
            <a:r>
              <a:rPr lang="en-US" sz="1400" dirty="0">
                <a:solidFill>
                  <a:srgbClr val="D5D8E2"/>
                </a:solidFill>
                <a:latin typeface="Palatino Linotype" pitchFamily="34" charset="0"/>
                <a:ea typeface="Palatino Linotype" pitchFamily="34" charset="-122"/>
                <a:cs typeface="Palatino Linotype" pitchFamily="34" charset="-120"/>
              </a:rPr>
              <a:t>vârsta medie la prima naștere, 2000 → 2024 (UE 2024: 29,9)</a:t>
            </a:r>
            <a:endParaRPr lang="en-US" sz="1400" dirty="0"/>
          </a:p>
        </p:txBody>
      </p:sp>
      <p:sp>
        <p:nvSpPr>
          <p:cNvPr id="13" name="Text 11"/>
          <p:cNvSpPr/>
          <p:nvPr/>
        </p:nvSpPr>
        <p:spPr>
          <a:xfrm>
            <a:off x="6492240" y="4846320"/>
            <a:ext cx="4846320" cy="548640"/>
          </a:xfrm>
          <a:prstGeom prst="rect">
            <a:avLst/>
          </a:prstGeom>
          <a:noFill/>
          <a:ln/>
        </p:spPr>
        <p:txBody>
          <a:bodyPr wrap="square" lIns="0" tIns="0" rIns="0" bIns="0" rtlCol="0" anchor="t"/>
          <a:lstStyle/>
          <a:p>
            <a:pPr indent="0" marL="0">
              <a:buNone/>
            </a:pPr>
            <a:r>
              <a:rPr lang="en-US" sz="2800" b="1" dirty="0">
                <a:solidFill>
                  <a:srgbClr val="27D3BE"/>
                </a:solidFill>
                <a:latin typeface="Palatino Linotype" pitchFamily="34" charset="0"/>
                <a:ea typeface="Palatino Linotype" pitchFamily="34" charset="-122"/>
                <a:cs typeface="Palatino Linotype" pitchFamily="34" charset="-120"/>
              </a:rPr>
              <a:t>32,1%</a:t>
            </a:r>
            <a:endParaRPr lang="en-US" sz="2800" dirty="0"/>
          </a:p>
        </p:txBody>
      </p:sp>
      <p:sp>
        <p:nvSpPr>
          <p:cNvPr id="14" name="Text 12"/>
          <p:cNvSpPr/>
          <p:nvPr/>
        </p:nvSpPr>
        <p:spPr>
          <a:xfrm>
            <a:off x="6492240" y="5394960"/>
            <a:ext cx="4846320" cy="548640"/>
          </a:xfrm>
          <a:prstGeom prst="rect">
            <a:avLst/>
          </a:prstGeom>
          <a:noFill/>
          <a:ln/>
        </p:spPr>
        <p:txBody>
          <a:bodyPr wrap="square" lIns="0" tIns="0" rIns="0" bIns="0" rtlCol="0" anchor="t"/>
          <a:lstStyle/>
          <a:p>
            <a:pPr indent="0" marL="0">
              <a:buNone/>
            </a:pPr>
            <a:r>
              <a:rPr lang="en-US" sz="1400" dirty="0">
                <a:solidFill>
                  <a:srgbClr val="D5D8E2"/>
                </a:solidFill>
                <a:latin typeface="Palatino Linotype" pitchFamily="34" charset="0"/>
                <a:ea typeface="Palatino Linotype" pitchFamily="34" charset="-122"/>
                <a:cs typeface="Palatino Linotype" pitchFamily="34" charset="-120"/>
              </a:rPr>
              <a:t>nașteri în afara căsătoriei, 2024 (UE: 41,1%)</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229600" y="292608"/>
            <a:ext cx="3337560" cy="420624"/>
          </a:xfrm>
          <a:prstGeom prst="roundRect">
            <a:avLst>
              <a:gd name="adj" fmla="val 50000"/>
            </a:avLst>
          </a:prstGeom>
          <a:solidFill>
            <a:srgbClr val="FFC24B"/>
          </a:solidFill>
          <a:ln w="12700">
            <a:solidFill>
              <a:srgbClr val="FFC24B"/>
            </a:solidFill>
            <a:prstDash val="solid"/>
          </a:ln>
        </p:spPr>
      </p:sp>
      <p:sp>
        <p:nvSpPr>
          <p:cNvPr id="3" name="Text 1"/>
          <p:cNvSpPr/>
          <p:nvPr/>
        </p:nvSpPr>
        <p:spPr>
          <a:xfrm>
            <a:off x="8229600" y="292608"/>
            <a:ext cx="333756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a:t>
            </a:r>
            <a:endParaRPr lang="en-US" sz="1300" dirty="0"/>
          </a:p>
        </p:txBody>
      </p:sp>
      <p:sp>
        <p:nvSpPr>
          <p:cNvPr id="4" name="Text 2"/>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VOT PE TELEFON</a:t>
            </a:r>
            <a:endParaRPr lang="en-US" sz="1300" dirty="0"/>
          </a:p>
        </p:txBody>
      </p:sp>
      <p:sp>
        <p:nvSpPr>
          <p:cNvPr id="5" name="Text 3"/>
          <p:cNvSpPr/>
          <p:nvPr/>
        </p:nvSpPr>
        <p:spPr>
          <a:xfrm>
            <a:off x="594360" y="713232"/>
            <a:ext cx="7498080" cy="100584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Din ce an mor în România mai mulți oameni decât se nasc?</a:t>
            </a:r>
            <a:endParaRPr lang="en-US" sz="3000" dirty="0"/>
          </a:p>
        </p:txBody>
      </p:sp>
      <p:sp>
        <p:nvSpPr>
          <p:cNvPr id="6" name="Shape 4"/>
          <p:cNvSpPr/>
          <p:nvPr/>
        </p:nvSpPr>
        <p:spPr>
          <a:xfrm>
            <a:off x="594360" y="2103120"/>
            <a:ext cx="5349240" cy="1097280"/>
          </a:xfrm>
          <a:prstGeom prst="roundRect">
            <a:avLst>
              <a:gd name="adj" fmla="val 7500"/>
            </a:avLst>
          </a:prstGeom>
          <a:solidFill>
            <a:srgbClr val="1D1F2B"/>
          </a:solidFill>
          <a:ln w="12700">
            <a:solidFill>
              <a:srgbClr val="1D1F2B"/>
            </a:solidFill>
            <a:prstDash val="solid"/>
          </a:ln>
        </p:spPr>
      </p:sp>
      <p:sp>
        <p:nvSpPr>
          <p:cNvPr id="7" name="Text 5"/>
          <p:cNvSpPr/>
          <p:nvPr/>
        </p:nvSpPr>
        <p:spPr>
          <a:xfrm>
            <a:off x="731520" y="2103120"/>
            <a:ext cx="5074920" cy="1097280"/>
          </a:xfrm>
          <a:prstGeom prst="rect">
            <a:avLst/>
          </a:prstGeom>
          <a:noFill/>
          <a:ln/>
        </p:spPr>
        <p:txBody>
          <a:bodyPr wrap="square" lIns="0" tIns="0" rIns="0" bIns="0" rtlCol="0" anchor="ctr"/>
          <a:lstStyle/>
          <a:p>
            <a:pPr algn="ctr" indent="0" marL="0">
              <a:buNone/>
            </a:pPr>
            <a:r>
              <a:rPr lang="en-US" sz="2800" b="1" dirty="0">
                <a:solidFill>
                  <a:srgbClr val="FFFFFF"/>
                </a:solidFill>
                <a:latin typeface="Palatino Linotype" pitchFamily="34" charset="0"/>
                <a:ea typeface="Palatino Linotype" pitchFamily="34" charset="-122"/>
                <a:cs typeface="Palatino Linotype" pitchFamily="34" charset="-120"/>
              </a:rPr>
              <a:t>A  ·  1967</a:t>
            </a:r>
            <a:endParaRPr lang="en-US" sz="2800" dirty="0"/>
          </a:p>
        </p:txBody>
      </p:sp>
      <p:sp>
        <p:nvSpPr>
          <p:cNvPr id="8" name="Shape 6"/>
          <p:cNvSpPr/>
          <p:nvPr/>
        </p:nvSpPr>
        <p:spPr>
          <a:xfrm>
            <a:off x="6217920" y="2103120"/>
            <a:ext cx="5349240" cy="1097280"/>
          </a:xfrm>
          <a:prstGeom prst="roundRect">
            <a:avLst>
              <a:gd name="adj" fmla="val 7500"/>
            </a:avLst>
          </a:prstGeom>
          <a:solidFill>
            <a:srgbClr val="1D1F2B"/>
          </a:solidFill>
          <a:ln w="12700">
            <a:solidFill>
              <a:srgbClr val="1D1F2B"/>
            </a:solidFill>
            <a:prstDash val="solid"/>
          </a:ln>
        </p:spPr>
      </p:sp>
      <p:sp>
        <p:nvSpPr>
          <p:cNvPr id="9" name="Text 7"/>
          <p:cNvSpPr/>
          <p:nvPr/>
        </p:nvSpPr>
        <p:spPr>
          <a:xfrm>
            <a:off x="6355080" y="2103120"/>
            <a:ext cx="5074920" cy="1097280"/>
          </a:xfrm>
          <a:prstGeom prst="rect">
            <a:avLst/>
          </a:prstGeom>
          <a:noFill/>
          <a:ln/>
        </p:spPr>
        <p:txBody>
          <a:bodyPr wrap="square" lIns="0" tIns="0" rIns="0" bIns="0" rtlCol="0" anchor="ctr"/>
          <a:lstStyle/>
          <a:p>
            <a:pPr algn="ctr" indent="0" marL="0">
              <a:buNone/>
            </a:pPr>
            <a:r>
              <a:rPr lang="en-US" sz="2800" b="1" dirty="0">
                <a:solidFill>
                  <a:srgbClr val="FFFFFF"/>
                </a:solidFill>
                <a:latin typeface="Palatino Linotype" pitchFamily="34" charset="0"/>
                <a:ea typeface="Palatino Linotype" pitchFamily="34" charset="-122"/>
                <a:cs typeface="Palatino Linotype" pitchFamily="34" charset="-120"/>
              </a:rPr>
              <a:t>B  ·  1990</a:t>
            </a:r>
            <a:endParaRPr lang="en-US" sz="2800" dirty="0"/>
          </a:p>
        </p:txBody>
      </p:sp>
      <p:sp>
        <p:nvSpPr>
          <p:cNvPr id="10" name="Shape 8"/>
          <p:cNvSpPr/>
          <p:nvPr/>
        </p:nvSpPr>
        <p:spPr>
          <a:xfrm>
            <a:off x="594360" y="3474720"/>
            <a:ext cx="5349240" cy="1097280"/>
          </a:xfrm>
          <a:prstGeom prst="roundRect">
            <a:avLst>
              <a:gd name="adj" fmla="val 7500"/>
            </a:avLst>
          </a:prstGeom>
          <a:solidFill>
            <a:srgbClr val="1D1F2B"/>
          </a:solidFill>
          <a:ln w="12700">
            <a:solidFill>
              <a:srgbClr val="1D1F2B"/>
            </a:solidFill>
            <a:prstDash val="solid"/>
          </a:ln>
        </p:spPr>
      </p:sp>
      <p:sp>
        <p:nvSpPr>
          <p:cNvPr id="11" name="Text 9"/>
          <p:cNvSpPr/>
          <p:nvPr/>
        </p:nvSpPr>
        <p:spPr>
          <a:xfrm>
            <a:off x="731520" y="3474720"/>
            <a:ext cx="5074920" cy="1097280"/>
          </a:xfrm>
          <a:prstGeom prst="rect">
            <a:avLst/>
          </a:prstGeom>
          <a:noFill/>
          <a:ln/>
        </p:spPr>
        <p:txBody>
          <a:bodyPr wrap="square" lIns="0" tIns="0" rIns="0" bIns="0" rtlCol="0" anchor="ctr"/>
          <a:lstStyle/>
          <a:p>
            <a:pPr algn="ctr" indent="0" marL="0">
              <a:buNone/>
            </a:pPr>
            <a:r>
              <a:rPr lang="en-US" sz="2800" b="1" dirty="0">
                <a:solidFill>
                  <a:srgbClr val="FFFFFF"/>
                </a:solidFill>
                <a:latin typeface="Palatino Linotype" pitchFamily="34" charset="0"/>
                <a:ea typeface="Palatino Linotype" pitchFamily="34" charset="-122"/>
                <a:cs typeface="Palatino Linotype" pitchFamily="34" charset="-120"/>
              </a:rPr>
              <a:t>C  ·  1992</a:t>
            </a:r>
            <a:endParaRPr lang="en-US" sz="2800" dirty="0"/>
          </a:p>
        </p:txBody>
      </p:sp>
      <p:sp>
        <p:nvSpPr>
          <p:cNvPr id="12" name="Shape 10"/>
          <p:cNvSpPr/>
          <p:nvPr/>
        </p:nvSpPr>
        <p:spPr>
          <a:xfrm>
            <a:off x="6217920" y="3474720"/>
            <a:ext cx="5349240" cy="1097280"/>
          </a:xfrm>
          <a:prstGeom prst="roundRect">
            <a:avLst>
              <a:gd name="adj" fmla="val 7500"/>
            </a:avLst>
          </a:prstGeom>
          <a:solidFill>
            <a:srgbClr val="1D1F2B"/>
          </a:solidFill>
          <a:ln w="12700">
            <a:solidFill>
              <a:srgbClr val="1D1F2B"/>
            </a:solidFill>
            <a:prstDash val="solid"/>
          </a:ln>
        </p:spPr>
      </p:sp>
      <p:sp>
        <p:nvSpPr>
          <p:cNvPr id="13" name="Text 11"/>
          <p:cNvSpPr/>
          <p:nvPr/>
        </p:nvSpPr>
        <p:spPr>
          <a:xfrm>
            <a:off x="6355080" y="3474720"/>
            <a:ext cx="5074920" cy="1097280"/>
          </a:xfrm>
          <a:prstGeom prst="rect">
            <a:avLst/>
          </a:prstGeom>
          <a:noFill/>
          <a:ln/>
        </p:spPr>
        <p:txBody>
          <a:bodyPr wrap="square" lIns="0" tIns="0" rIns="0" bIns="0" rtlCol="0" anchor="ctr"/>
          <a:lstStyle/>
          <a:p>
            <a:pPr algn="ctr" indent="0" marL="0">
              <a:buNone/>
            </a:pPr>
            <a:r>
              <a:rPr lang="en-US" sz="2800" b="1" dirty="0">
                <a:solidFill>
                  <a:srgbClr val="FFFFFF"/>
                </a:solidFill>
                <a:latin typeface="Palatino Linotype" pitchFamily="34" charset="0"/>
                <a:ea typeface="Palatino Linotype" pitchFamily="34" charset="-122"/>
                <a:cs typeface="Palatino Linotype" pitchFamily="34" charset="-120"/>
              </a:rPr>
              <a:t>D  ·  2021</a:t>
            </a:r>
            <a:endParaRPr lang="en-US" sz="2800" dirty="0"/>
          </a:p>
        </p:txBody>
      </p:sp>
      <p:sp>
        <p:nvSpPr>
          <p:cNvPr id="14" name="Text 12"/>
          <p:cNvSpPr/>
          <p:nvPr/>
        </p:nvSpPr>
        <p:spPr>
          <a:xfrm>
            <a:off x="594360" y="5029200"/>
            <a:ext cx="10972800" cy="548640"/>
          </a:xfrm>
          <a:prstGeom prst="rect">
            <a:avLst/>
          </a:prstGeom>
          <a:noFill/>
          <a:ln/>
        </p:spPr>
        <p:txBody>
          <a:bodyPr wrap="square" lIns="0" tIns="0" rIns="0" bIns="0" rtlCol="0" anchor="t"/>
          <a:lstStyle/>
          <a:p>
            <a:pPr indent="0" marL="0">
              <a:buNone/>
            </a:pPr>
            <a:r>
              <a:rPr lang="en-US" sz="2000" b="1" dirty="0">
                <a:solidFill>
                  <a:srgbClr val="FFC24B"/>
                </a:solidFill>
                <a:latin typeface="Palatino Linotype" pitchFamily="34" charset="0"/>
                <a:ea typeface="Palatino Linotype" pitchFamily="34" charset="-122"/>
                <a:cs typeface="Palatino Linotype" pitchFamily="34" charset="-120"/>
              </a:rPr>
              <a:t>Seria Eurostat. O singură variantă. Răspundeți pe telefon, la codul afișat.</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RĂSPUNSUL · C</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Din 1992, mor mai mulți oameni decât se nasc</a:t>
            </a:r>
            <a:endParaRPr lang="en-US" sz="3200" dirty="0"/>
          </a:p>
        </p:txBody>
      </p:sp>
      <p:sp>
        <p:nvSpPr>
          <p:cNvPr id="4" name="Shape 2"/>
          <p:cNvSpPr/>
          <p:nvPr/>
        </p:nvSpPr>
        <p:spPr>
          <a:xfrm>
            <a:off x="594360" y="1920240"/>
            <a:ext cx="10972800" cy="1828800"/>
          </a:xfrm>
          <a:prstGeom prst="roundRect">
            <a:avLst>
              <a:gd name="adj" fmla="val 4500"/>
            </a:avLst>
          </a:prstGeom>
          <a:solidFill>
            <a:srgbClr val="11121A"/>
          </a:solidFill>
          <a:ln w="12700">
            <a:solidFill>
              <a:srgbClr val="11121A"/>
            </a:solidFill>
            <a:prstDash val="solid"/>
          </a:ln>
        </p:spPr>
      </p:sp>
      <p:sp>
        <p:nvSpPr>
          <p:cNvPr id="5" name="Text 3"/>
          <p:cNvSpPr/>
          <p:nvPr/>
        </p:nvSpPr>
        <p:spPr>
          <a:xfrm>
            <a:off x="914400" y="1920240"/>
            <a:ext cx="10332720" cy="1828800"/>
          </a:xfrm>
          <a:prstGeom prst="rect">
            <a:avLst/>
          </a:prstGeom>
          <a:noFill/>
          <a:ln/>
        </p:spPr>
        <p:txBody>
          <a:bodyPr wrap="square" lIns="0" tIns="0" rIns="0" bIns="0" rtlCol="0" anchor="ctr"/>
          <a:lstStyle/>
          <a:p>
            <a:pPr indent="0" marL="0">
              <a:buNone/>
            </a:pPr>
            <a:r>
              <a:rPr lang="en-US" sz="2800" b="1" dirty="0">
                <a:solidFill>
                  <a:srgbClr val="FFFFFF"/>
                </a:solidFill>
                <a:latin typeface="Palatino Linotype" pitchFamily="34" charset="0"/>
                <a:ea typeface="Palatino Linotype" pitchFamily="34" charset="-122"/>
                <a:cs typeface="Palatino Linotype" pitchFamily="34" charset="-120"/>
              </a:rPr>
              <a:t>C · 1992. În seria Eurostat, numărul deceselor depășește numărul nașterilor.</a:t>
            </a:r>
            <a:endParaRPr lang="en-US" sz="2800" dirty="0"/>
          </a:p>
        </p:txBody>
      </p:sp>
      <p:sp>
        <p:nvSpPr>
          <p:cNvPr id="6" name="Shape 4"/>
          <p:cNvSpPr/>
          <p:nvPr/>
        </p:nvSpPr>
        <p:spPr>
          <a:xfrm>
            <a:off x="594360" y="4023360"/>
            <a:ext cx="10972800" cy="2011680"/>
          </a:xfrm>
          <a:prstGeom prst="roundRect">
            <a:avLst>
              <a:gd name="adj" fmla="val 4091"/>
            </a:avLst>
          </a:prstGeom>
          <a:solidFill>
            <a:srgbClr val="ECEAE4"/>
          </a:solidFill>
          <a:ln w="12700">
            <a:solidFill>
              <a:srgbClr val="ECEAE4"/>
            </a:solidFill>
            <a:prstDash val="solid"/>
          </a:ln>
        </p:spPr>
      </p:sp>
      <p:sp>
        <p:nvSpPr>
          <p:cNvPr id="7" name="Text 5"/>
          <p:cNvSpPr/>
          <p:nvPr/>
        </p:nvSpPr>
        <p:spPr>
          <a:xfrm>
            <a:off x="914400" y="4023360"/>
            <a:ext cx="10332720" cy="2011680"/>
          </a:xfrm>
          <a:prstGeom prst="rect">
            <a:avLst/>
          </a:prstGeom>
          <a:noFill/>
          <a:ln/>
        </p:spPr>
        <p:txBody>
          <a:bodyPr wrap="square" lIns="0" tIns="0" rIns="0" bIns="0" rtlCol="0" anchor="ctr"/>
          <a:lstStyle/>
          <a:p>
            <a:pPr indent="0" marL="0">
              <a:buNone/>
            </a:pPr>
            <a:r>
              <a:rPr lang="en-US" sz="2100" dirty="0">
                <a:solidFill>
                  <a:srgbClr val="11121A"/>
                </a:solidFill>
                <a:latin typeface="Palatino Linotype" pitchFamily="34" charset="0"/>
                <a:ea typeface="Palatino Linotype" pitchFamily="34" charset="-122"/>
                <a:cs typeface="Palatino Linotype" pitchFamily="34" charset="-120"/>
              </a:rPr>
              <a:t>Modelul clasic se oprește la o populație aproximativ staționară; România a trecut de acest punct. Pentru discuție: ce s-ar întâmpla cu populația dacă emigrarea s-ar opri, dar fertilitatea ar rămâne aceeași?</a:t>
            </a:r>
            <a:endParaRPr lang="en-US" sz="2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TRANZIȚIA EPIDEMIOLOGICĂ · OMRAN, 1971</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Omran: trei stadii ale tranziției epidemiologice</a:t>
            </a:r>
            <a:endParaRPr lang="en-US" sz="3200" dirty="0"/>
          </a:p>
        </p:txBody>
      </p:sp>
      <p:sp>
        <p:nvSpPr>
          <p:cNvPr id="4" name="Shape 2"/>
          <p:cNvSpPr/>
          <p:nvPr/>
        </p:nvSpPr>
        <p:spPr>
          <a:xfrm>
            <a:off x="594360" y="1828800"/>
            <a:ext cx="3520440" cy="2743200"/>
          </a:xfrm>
          <a:prstGeom prst="roundRect">
            <a:avLst>
              <a:gd name="adj" fmla="val 3000"/>
            </a:avLst>
          </a:prstGeom>
          <a:solidFill>
            <a:srgbClr val="ECEAE4"/>
          </a:solidFill>
          <a:ln w="12700">
            <a:solidFill>
              <a:srgbClr val="ECEAE4"/>
            </a:solidFill>
            <a:prstDash val="solid"/>
          </a:ln>
        </p:spPr>
      </p:sp>
      <p:sp>
        <p:nvSpPr>
          <p:cNvPr id="5" name="Shape 3"/>
          <p:cNvSpPr/>
          <p:nvPr/>
        </p:nvSpPr>
        <p:spPr>
          <a:xfrm>
            <a:off x="594360" y="1828800"/>
            <a:ext cx="3520440" cy="109728"/>
          </a:xfrm>
          <a:prstGeom prst="rect">
            <a:avLst/>
          </a:prstGeom>
          <a:solidFill>
            <a:srgbClr val="FF4757"/>
          </a:solidFill>
          <a:ln w="12700">
            <a:solidFill>
              <a:srgbClr val="FF4757"/>
            </a:solidFill>
            <a:prstDash val="solid"/>
          </a:ln>
        </p:spPr>
      </p:sp>
      <p:sp>
        <p:nvSpPr>
          <p:cNvPr id="6" name="Shape 4"/>
          <p:cNvSpPr/>
          <p:nvPr/>
        </p:nvSpPr>
        <p:spPr>
          <a:xfrm>
            <a:off x="868680" y="2194560"/>
            <a:ext cx="420624" cy="420624"/>
          </a:xfrm>
          <a:prstGeom prst="ellipse">
            <a:avLst/>
          </a:prstGeom>
          <a:solidFill>
            <a:srgbClr val="FF4757"/>
          </a:solidFill>
          <a:ln/>
        </p:spPr>
      </p:sp>
      <p:sp>
        <p:nvSpPr>
          <p:cNvPr id="7" name="Text 5"/>
          <p:cNvSpPr/>
          <p:nvPr/>
        </p:nvSpPr>
        <p:spPr>
          <a:xfrm>
            <a:off x="868680" y="219456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8" name="Text 6"/>
          <p:cNvSpPr/>
          <p:nvPr/>
        </p:nvSpPr>
        <p:spPr>
          <a:xfrm>
            <a:off x="868680" y="2743200"/>
            <a:ext cx="3017520" cy="914400"/>
          </a:xfrm>
          <a:prstGeom prst="rect">
            <a:avLst/>
          </a:prstGeom>
          <a:noFill/>
          <a:ln/>
        </p:spPr>
        <p:txBody>
          <a:bodyPr wrap="square" lIns="0" tIns="0" rIns="0" bIns="0" rtlCol="0" anchor="t"/>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Epoca epidemiilor și a foametei</a:t>
            </a:r>
            <a:endParaRPr lang="en-US" sz="1700" dirty="0"/>
          </a:p>
        </p:txBody>
      </p:sp>
      <p:sp>
        <p:nvSpPr>
          <p:cNvPr id="9" name="Text 7"/>
          <p:cNvSpPr/>
          <p:nvPr/>
        </p:nvSpPr>
        <p:spPr>
          <a:xfrm>
            <a:off x="868680" y="3657600"/>
            <a:ext cx="3017520" cy="822960"/>
          </a:xfrm>
          <a:prstGeom prst="rect">
            <a:avLst/>
          </a:prstGeom>
          <a:noFill/>
          <a:ln/>
        </p:spPr>
        <p:txBody>
          <a:bodyPr wrap="square" lIns="0" tIns="0" rIns="0" bIns="0" rtlCol="0" anchor="t"/>
          <a:lstStyle/>
          <a:p>
            <a:pPr indent="0" marL="0">
              <a:buNone/>
            </a:pPr>
            <a:r>
              <a:rPr lang="en-US" sz="1500" dirty="0">
                <a:solidFill>
                  <a:srgbClr val="585A64"/>
                </a:solidFill>
                <a:latin typeface="Palatino Linotype" pitchFamily="34" charset="0"/>
                <a:ea typeface="Palatino Linotype" pitchFamily="34" charset="-122"/>
                <a:cs typeface="Palatino Linotype" pitchFamily="34" charset="-120"/>
              </a:rPr>
              <a:t>mortalitate mare și fluctuantă, viață scurtă</a:t>
            </a:r>
            <a:endParaRPr lang="en-US" sz="1500" dirty="0"/>
          </a:p>
        </p:txBody>
      </p:sp>
      <p:sp>
        <p:nvSpPr>
          <p:cNvPr id="10" name="Shape 8"/>
          <p:cNvSpPr/>
          <p:nvPr/>
        </p:nvSpPr>
        <p:spPr>
          <a:xfrm>
            <a:off x="4389120" y="1828800"/>
            <a:ext cx="3520440" cy="2743200"/>
          </a:xfrm>
          <a:prstGeom prst="roundRect">
            <a:avLst>
              <a:gd name="adj" fmla="val 3000"/>
            </a:avLst>
          </a:prstGeom>
          <a:solidFill>
            <a:srgbClr val="ECEAE4"/>
          </a:solidFill>
          <a:ln w="12700">
            <a:solidFill>
              <a:srgbClr val="ECEAE4"/>
            </a:solidFill>
            <a:prstDash val="solid"/>
          </a:ln>
        </p:spPr>
      </p:sp>
      <p:sp>
        <p:nvSpPr>
          <p:cNvPr id="11" name="Shape 9"/>
          <p:cNvSpPr/>
          <p:nvPr/>
        </p:nvSpPr>
        <p:spPr>
          <a:xfrm>
            <a:off x="4389120" y="1828800"/>
            <a:ext cx="3520440" cy="109728"/>
          </a:xfrm>
          <a:prstGeom prst="rect">
            <a:avLst/>
          </a:prstGeom>
          <a:solidFill>
            <a:srgbClr val="FFC24B"/>
          </a:solidFill>
          <a:ln w="12700">
            <a:solidFill>
              <a:srgbClr val="FFC24B"/>
            </a:solidFill>
            <a:prstDash val="solid"/>
          </a:ln>
        </p:spPr>
      </p:sp>
      <p:sp>
        <p:nvSpPr>
          <p:cNvPr id="12" name="Shape 10"/>
          <p:cNvSpPr/>
          <p:nvPr/>
        </p:nvSpPr>
        <p:spPr>
          <a:xfrm>
            <a:off x="4663440" y="2194560"/>
            <a:ext cx="420624" cy="420624"/>
          </a:xfrm>
          <a:prstGeom prst="ellipse">
            <a:avLst/>
          </a:prstGeom>
          <a:solidFill>
            <a:srgbClr val="FFC24B"/>
          </a:solidFill>
          <a:ln/>
        </p:spPr>
      </p:sp>
      <p:sp>
        <p:nvSpPr>
          <p:cNvPr id="13" name="Text 11"/>
          <p:cNvSpPr/>
          <p:nvPr/>
        </p:nvSpPr>
        <p:spPr>
          <a:xfrm>
            <a:off x="4663440" y="219456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4" name="Text 12"/>
          <p:cNvSpPr/>
          <p:nvPr/>
        </p:nvSpPr>
        <p:spPr>
          <a:xfrm>
            <a:off x="4663440" y="2743200"/>
            <a:ext cx="3017520" cy="914400"/>
          </a:xfrm>
          <a:prstGeom prst="rect">
            <a:avLst/>
          </a:prstGeom>
          <a:noFill/>
          <a:ln/>
        </p:spPr>
        <p:txBody>
          <a:bodyPr wrap="square" lIns="0" tIns="0" rIns="0" bIns="0" rtlCol="0" anchor="t"/>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Epoca pandemiilor în retragere</a:t>
            </a:r>
            <a:endParaRPr lang="en-US" sz="1700" dirty="0"/>
          </a:p>
        </p:txBody>
      </p:sp>
      <p:sp>
        <p:nvSpPr>
          <p:cNvPr id="15" name="Text 13"/>
          <p:cNvSpPr/>
          <p:nvPr/>
        </p:nvSpPr>
        <p:spPr>
          <a:xfrm>
            <a:off x="4663440" y="3657600"/>
            <a:ext cx="3017520" cy="822960"/>
          </a:xfrm>
          <a:prstGeom prst="rect">
            <a:avLst/>
          </a:prstGeom>
          <a:noFill/>
          <a:ln/>
        </p:spPr>
        <p:txBody>
          <a:bodyPr wrap="square" lIns="0" tIns="0" rIns="0" bIns="0" rtlCol="0" anchor="t"/>
          <a:lstStyle/>
          <a:p>
            <a:pPr indent="0" marL="0">
              <a:buNone/>
            </a:pPr>
            <a:r>
              <a:rPr lang="en-US" sz="1500" dirty="0">
                <a:solidFill>
                  <a:srgbClr val="585A64"/>
                </a:solidFill>
                <a:latin typeface="Palatino Linotype" pitchFamily="34" charset="0"/>
                <a:ea typeface="Palatino Linotype" pitchFamily="34" charset="-122"/>
                <a:cs typeface="Palatino Linotype" pitchFamily="34" charset="-120"/>
              </a:rPr>
              <a:t>vârfurile epidemice se răresc, mortalitatea scade</a:t>
            </a:r>
            <a:endParaRPr lang="en-US" sz="1500" dirty="0"/>
          </a:p>
        </p:txBody>
      </p:sp>
      <p:sp>
        <p:nvSpPr>
          <p:cNvPr id="16" name="Shape 14"/>
          <p:cNvSpPr/>
          <p:nvPr/>
        </p:nvSpPr>
        <p:spPr>
          <a:xfrm>
            <a:off x="8183880" y="1828800"/>
            <a:ext cx="3520440" cy="2743200"/>
          </a:xfrm>
          <a:prstGeom prst="roundRect">
            <a:avLst>
              <a:gd name="adj" fmla="val 3000"/>
            </a:avLst>
          </a:prstGeom>
          <a:solidFill>
            <a:srgbClr val="ECEAE4"/>
          </a:solidFill>
          <a:ln w="12700">
            <a:solidFill>
              <a:srgbClr val="ECEAE4"/>
            </a:solidFill>
            <a:prstDash val="solid"/>
          </a:ln>
        </p:spPr>
      </p:sp>
      <p:sp>
        <p:nvSpPr>
          <p:cNvPr id="17" name="Shape 15"/>
          <p:cNvSpPr/>
          <p:nvPr/>
        </p:nvSpPr>
        <p:spPr>
          <a:xfrm>
            <a:off x="8183880" y="1828800"/>
            <a:ext cx="3520440" cy="109728"/>
          </a:xfrm>
          <a:prstGeom prst="rect">
            <a:avLst/>
          </a:prstGeom>
          <a:solidFill>
            <a:srgbClr val="27D3BE"/>
          </a:solidFill>
          <a:ln w="12700">
            <a:solidFill>
              <a:srgbClr val="27D3BE"/>
            </a:solidFill>
            <a:prstDash val="solid"/>
          </a:ln>
        </p:spPr>
      </p:sp>
      <p:sp>
        <p:nvSpPr>
          <p:cNvPr id="18" name="Shape 16"/>
          <p:cNvSpPr/>
          <p:nvPr/>
        </p:nvSpPr>
        <p:spPr>
          <a:xfrm>
            <a:off x="8458200" y="2194560"/>
            <a:ext cx="420624" cy="420624"/>
          </a:xfrm>
          <a:prstGeom prst="ellipse">
            <a:avLst/>
          </a:prstGeom>
          <a:solidFill>
            <a:srgbClr val="27D3BE"/>
          </a:solidFill>
          <a:ln/>
        </p:spPr>
      </p:sp>
      <p:sp>
        <p:nvSpPr>
          <p:cNvPr id="19" name="Text 17"/>
          <p:cNvSpPr/>
          <p:nvPr/>
        </p:nvSpPr>
        <p:spPr>
          <a:xfrm>
            <a:off x="8458200" y="219456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20" name="Text 18"/>
          <p:cNvSpPr/>
          <p:nvPr/>
        </p:nvSpPr>
        <p:spPr>
          <a:xfrm>
            <a:off x="8458200" y="2743200"/>
            <a:ext cx="3017520" cy="914400"/>
          </a:xfrm>
          <a:prstGeom prst="rect">
            <a:avLst/>
          </a:prstGeom>
          <a:noFill/>
          <a:ln/>
        </p:spPr>
        <p:txBody>
          <a:bodyPr wrap="square" lIns="0" tIns="0" rIns="0" bIns="0" rtlCol="0" anchor="t"/>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Epoca bolilor degenerative și a celor produse de om</a:t>
            </a:r>
            <a:endParaRPr lang="en-US" sz="1700" dirty="0"/>
          </a:p>
        </p:txBody>
      </p:sp>
      <p:sp>
        <p:nvSpPr>
          <p:cNvPr id="21" name="Text 19"/>
          <p:cNvSpPr/>
          <p:nvPr/>
        </p:nvSpPr>
        <p:spPr>
          <a:xfrm>
            <a:off x="8458200" y="3657600"/>
            <a:ext cx="3017520" cy="822960"/>
          </a:xfrm>
          <a:prstGeom prst="rect">
            <a:avLst/>
          </a:prstGeom>
          <a:noFill/>
          <a:ln/>
        </p:spPr>
        <p:txBody>
          <a:bodyPr wrap="square" lIns="0" tIns="0" rIns="0" bIns="0" rtlCol="0" anchor="t"/>
          <a:lstStyle/>
          <a:p>
            <a:pPr indent="0" marL="0">
              <a:buNone/>
            </a:pPr>
            <a:r>
              <a:rPr lang="en-US" sz="1500" dirty="0">
                <a:solidFill>
                  <a:srgbClr val="585A64"/>
                </a:solidFill>
                <a:latin typeface="Palatino Linotype" pitchFamily="34" charset="0"/>
                <a:ea typeface="Palatino Linotype" pitchFamily="34" charset="-122"/>
                <a:cs typeface="Palatino Linotype" pitchFamily="34" charset="-120"/>
              </a:rPr>
              <a:t>bolile cronice devin principalele cauze de deces</a:t>
            </a:r>
            <a:endParaRPr lang="en-US" sz="1500" dirty="0"/>
          </a:p>
        </p:txBody>
      </p:sp>
      <p:sp>
        <p:nvSpPr>
          <p:cNvPr id="22" name="Shape 20"/>
          <p:cNvSpPr/>
          <p:nvPr/>
        </p:nvSpPr>
        <p:spPr>
          <a:xfrm>
            <a:off x="594360" y="4846320"/>
            <a:ext cx="10972800" cy="1188720"/>
          </a:xfrm>
          <a:prstGeom prst="roundRect">
            <a:avLst>
              <a:gd name="adj" fmla="val 6923"/>
            </a:avLst>
          </a:prstGeom>
          <a:solidFill>
            <a:srgbClr val="11121A"/>
          </a:solidFill>
          <a:ln w="12700">
            <a:solidFill>
              <a:srgbClr val="11121A"/>
            </a:solidFill>
            <a:prstDash val="solid"/>
          </a:ln>
        </p:spPr>
      </p:sp>
      <p:sp>
        <p:nvSpPr>
          <p:cNvPr id="23" name="Text 21"/>
          <p:cNvSpPr/>
          <p:nvPr/>
        </p:nvSpPr>
        <p:spPr>
          <a:xfrm>
            <a:off x="914400" y="4846320"/>
            <a:ext cx="10332720" cy="1188720"/>
          </a:xfrm>
          <a:prstGeom prst="rect">
            <a:avLst/>
          </a:prstGeom>
          <a:noFill/>
          <a:ln/>
        </p:spPr>
        <p:txBody>
          <a:bodyPr wrap="square" lIns="0" tIns="0" rIns="0" bIns="0" rtlCol="0" anchor="ctr"/>
          <a:lstStyle/>
          <a:p>
            <a:pPr indent="0" marL="0">
              <a:buNone/>
            </a:pPr>
            <a:r>
              <a:rPr lang="en-US" sz="1700" b="1" dirty="0">
                <a:solidFill>
                  <a:srgbClr val="FFFFFF"/>
                </a:solidFill>
                <a:latin typeface="Palatino Linotype" pitchFamily="34" charset="0"/>
                <a:ea typeface="Palatino Linotype" pitchFamily="34" charset="-122"/>
                <a:cs typeface="Palatino Linotype" pitchFamily="34" charset="-120"/>
              </a:rPr>
              <a:t>Cele mai mari câștiguri: copiii și femeile tinere, cei mai vulnerabili la infecții și la riscurile sarcinii.</a:t>
            </a:r>
            <a:endParaRPr lang="en-US" sz="1700" dirty="0"/>
          </a:p>
          <a:p>
            <a:pPr indent="0" marL="0">
              <a:buNone/>
            </a:pPr>
            <a:r>
              <a:rPr lang="en-US" sz="1700" b="1" dirty="0">
                <a:solidFill>
                  <a:srgbClr val="FFFFFF"/>
                </a:solidFill>
                <a:latin typeface="Palatino Linotype" pitchFamily="34" charset="0"/>
                <a:ea typeface="Palatino Linotype" pitchFamily="34" charset="-122"/>
                <a:cs typeface="Palatino Linotype" pitchFamily="34" charset="-120"/>
              </a:rPr>
              <a:t>Tranziția epidemiologică merge împreună cu cea demografică și interacționează cu factorii demografici, economici și sociali.</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DUPĂ OMRAN</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Bolile cronice apar la vârste tot mai înaintate</a:t>
            </a:r>
            <a:endParaRPr lang="en-US" sz="3200" dirty="0"/>
          </a:p>
        </p:txBody>
      </p:sp>
      <p:sp>
        <p:nvSpPr>
          <p:cNvPr id="4" name="Shape 2"/>
          <p:cNvSpPr/>
          <p:nvPr/>
        </p:nvSpPr>
        <p:spPr>
          <a:xfrm>
            <a:off x="594360" y="1828800"/>
            <a:ext cx="5486400" cy="4114800"/>
          </a:xfrm>
          <a:prstGeom prst="roundRect">
            <a:avLst>
              <a:gd name="adj" fmla="val 2000"/>
            </a:avLst>
          </a:prstGeom>
          <a:solidFill>
            <a:srgbClr val="1D1F2B"/>
          </a:solidFill>
          <a:ln w="12700">
            <a:solidFill>
              <a:srgbClr val="1D1F2B"/>
            </a:solidFill>
            <a:prstDash val="solid"/>
          </a:ln>
        </p:spPr>
      </p:sp>
      <p:sp>
        <p:nvSpPr>
          <p:cNvPr id="5" name="Text 3"/>
          <p:cNvSpPr/>
          <p:nvPr/>
        </p:nvSpPr>
        <p:spPr>
          <a:xfrm>
            <a:off x="868680" y="1965960"/>
            <a:ext cx="4937760" cy="365760"/>
          </a:xfrm>
          <a:prstGeom prst="rect">
            <a:avLst/>
          </a:prstGeom>
          <a:noFill/>
          <a:ln/>
        </p:spPr>
        <p:txBody>
          <a:bodyPr wrap="square" lIns="0" tIns="0" rIns="0" bIns="0" rtlCol="0" anchor="t"/>
          <a:lstStyle/>
          <a:p>
            <a:pPr indent="0" marL="0">
              <a:buNone/>
            </a:pPr>
            <a:r>
              <a:rPr lang="en-US" sz="1200" b="1" spc="100" kern="0" dirty="0">
                <a:solidFill>
                  <a:srgbClr val="FFC24B"/>
                </a:solidFill>
                <a:latin typeface="Palatino Linotype" pitchFamily="34" charset="0"/>
                <a:ea typeface="Palatino Linotype" pitchFamily="34" charset="-122"/>
                <a:cs typeface="Palatino Linotype" pitchFamily="34" charset="-120"/>
              </a:rPr>
              <a:t>AL PATRULEA STADIU · OLSHANSKY ȘI AULT, 1986</a:t>
            </a:r>
            <a:endParaRPr lang="en-US" sz="1200" dirty="0"/>
          </a:p>
        </p:txBody>
      </p:sp>
      <p:sp>
        <p:nvSpPr>
          <p:cNvPr id="6" name="Text 4"/>
          <p:cNvSpPr/>
          <p:nvPr/>
        </p:nvSpPr>
        <p:spPr>
          <a:xfrm>
            <a:off x="868680" y="2468880"/>
            <a:ext cx="4937760" cy="3291840"/>
          </a:xfrm>
          <a:prstGeom prst="rect">
            <a:avLst/>
          </a:prstGeom>
          <a:noFill/>
          <a:ln/>
        </p:spPr>
        <p:txBody>
          <a:bodyPr wrap="square" lIns="0" tIns="0" rIns="0" bIns="0" rtlCol="0" anchor="t"/>
          <a:lstStyle/>
          <a:p>
            <a:pPr indent="0" marL="0">
              <a:buNone/>
            </a:pPr>
            <a:r>
              <a:rPr lang="en-US" sz="2100" dirty="0">
                <a:solidFill>
                  <a:srgbClr val="FFFFFF"/>
                </a:solidFill>
                <a:latin typeface="Palatino Linotype" pitchFamily="34" charset="0"/>
                <a:ea typeface="Palatino Linotype" pitchFamily="34" charset="-122"/>
                <a:cs typeface="Palatino Linotype" pitchFamily="34" charset="-120"/>
              </a:rPr>
              <a:t>Bolile degenerative nu dispar, dar ucid la vârste tot mai înaintate. Speranța de viață continuă să crească, deși cauzele de deces sunt aceleași.</a:t>
            </a:r>
            <a:endParaRPr lang="en-US" sz="2100" dirty="0"/>
          </a:p>
        </p:txBody>
      </p:sp>
      <p:sp>
        <p:nvSpPr>
          <p:cNvPr id="7" name="Shape 5"/>
          <p:cNvSpPr/>
          <p:nvPr/>
        </p:nvSpPr>
        <p:spPr>
          <a:xfrm>
            <a:off x="6355080" y="1828800"/>
            <a:ext cx="5212080" cy="4114800"/>
          </a:xfrm>
          <a:prstGeom prst="roundRect">
            <a:avLst>
              <a:gd name="adj" fmla="val 2000"/>
            </a:avLst>
          </a:prstGeom>
          <a:solidFill>
            <a:srgbClr val="272A38"/>
          </a:solidFill>
          <a:ln w="12700">
            <a:solidFill>
              <a:srgbClr val="272A38"/>
            </a:solidFill>
            <a:prstDash val="solid"/>
          </a:ln>
        </p:spPr>
      </p:sp>
      <p:sp>
        <p:nvSpPr>
          <p:cNvPr id="8" name="Text 6"/>
          <p:cNvSpPr/>
          <p:nvPr/>
        </p:nvSpPr>
        <p:spPr>
          <a:xfrm>
            <a:off x="6629400" y="1965960"/>
            <a:ext cx="4663440" cy="365760"/>
          </a:xfrm>
          <a:prstGeom prst="rect">
            <a:avLst/>
          </a:prstGeom>
          <a:noFill/>
          <a:ln/>
        </p:spPr>
        <p:txBody>
          <a:bodyPr wrap="square" lIns="0" tIns="0" rIns="0" bIns="0" rtlCol="0" anchor="t"/>
          <a:lstStyle/>
          <a:p>
            <a:pPr indent="0" marL="0">
              <a:buNone/>
            </a:pPr>
            <a:r>
              <a:rPr lang="en-US" sz="1200" b="1" spc="200" kern="0" dirty="0">
                <a:solidFill>
                  <a:srgbClr val="27D3BE"/>
                </a:solidFill>
                <a:latin typeface="Palatino Linotype" pitchFamily="34" charset="0"/>
                <a:ea typeface="Palatino Linotype" pitchFamily="34" charset="-122"/>
                <a:cs typeface="Palatino Linotype" pitchFamily="34" charset="-120"/>
              </a:rPr>
              <a:t>SINTEZA DIN 2014 · SANTOSA ȘI COLAB.</a:t>
            </a:r>
            <a:endParaRPr lang="en-US" sz="1200" dirty="0"/>
          </a:p>
        </p:txBody>
      </p:sp>
      <p:sp>
        <p:nvSpPr>
          <p:cNvPr id="9" name="Text 7"/>
          <p:cNvSpPr/>
          <p:nvPr/>
        </p:nvSpPr>
        <p:spPr>
          <a:xfrm>
            <a:off x="6629400" y="2468880"/>
            <a:ext cx="4663440" cy="2468880"/>
          </a:xfrm>
          <a:prstGeom prst="rect">
            <a:avLst/>
          </a:prstGeom>
          <a:noFill/>
          <a:ln/>
        </p:spPr>
        <p:txBody>
          <a:bodyPr wrap="square" lIns="0" tIns="0" rIns="0" bIns="0" rtlCol="0" anchor="t"/>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Omran însuși a recunoscut ulterior unul și, posibil, două stadii noi. În al patrulea, speranța de viață continuă să crească. Al cincilea, cu boli noi și reapariția unor boli vechi, fusese descris deja de alți autori.</a:t>
            </a:r>
            <a:endParaRPr lang="en-US" sz="1700" dirty="0"/>
          </a:p>
        </p:txBody>
      </p:sp>
      <p:sp>
        <p:nvSpPr>
          <p:cNvPr id="10" name="Text 8"/>
          <p:cNvSpPr/>
          <p:nvPr/>
        </p:nvSpPr>
        <p:spPr>
          <a:xfrm>
            <a:off x="6629400" y="5029200"/>
            <a:ext cx="4663440" cy="731520"/>
          </a:xfrm>
          <a:prstGeom prst="rect">
            <a:avLst/>
          </a:prstGeom>
          <a:noFill/>
          <a:ln/>
        </p:spPr>
        <p:txBody>
          <a:bodyPr wrap="square" lIns="0" tIns="0" rIns="0" bIns="0" rtlCol="0" anchor="t"/>
          <a:lstStyle/>
          <a:p>
            <a:pPr indent="0" marL="0">
              <a:buNone/>
            </a:pPr>
            <a:r>
              <a:rPr lang="en-US" sz="1600" b="1" dirty="0">
                <a:solidFill>
                  <a:srgbClr val="FFC24B"/>
                </a:solidFill>
                <a:latin typeface="Palatino Linotype" pitchFamily="34" charset="0"/>
                <a:ea typeface="Palatino Linotype" pitchFamily="34" charset="-122"/>
                <a:cs typeface="Palatino Linotype" pitchFamily="34" charset="-120"/>
              </a:rPr>
              <a:t>Aceste extensii nu sunt dezvoltate în curs.</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229600" y="292608"/>
            <a:ext cx="3337560" cy="420624"/>
          </a:xfrm>
          <a:prstGeom prst="roundRect">
            <a:avLst>
              <a:gd name="adj" fmla="val 50000"/>
            </a:avLst>
          </a:prstGeom>
          <a:solidFill>
            <a:srgbClr val="FFC24B"/>
          </a:solidFill>
          <a:ln w="12700">
            <a:solidFill>
              <a:srgbClr val="FFC24B"/>
            </a:solidFill>
            <a:prstDash val="solid"/>
          </a:ln>
        </p:spPr>
      </p:sp>
      <p:sp>
        <p:nvSpPr>
          <p:cNvPr id="3" name="Text 1"/>
          <p:cNvSpPr/>
          <p:nvPr/>
        </p:nvSpPr>
        <p:spPr>
          <a:xfrm>
            <a:off x="8229600" y="292608"/>
            <a:ext cx="333756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a:t>
            </a:r>
            <a:endParaRPr lang="en-US" sz="1300" dirty="0"/>
          </a:p>
        </p:txBody>
      </p:sp>
      <p:sp>
        <p:nvSpPr>
          <p:cNvPr id="4" name="Text 2"/>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VOT PE TELEFON</a:t>
            </a:r>
            <a:endParaRPr lang="en-US" sz="1300" dirty="0"/>
          </a:p>
        </p:txBody>
      </p:sp>
      <p:sp>
        <p:nvSpPr>
          <p:cNvPr id="5" name="Text 3"/>
          <p:cNvSpPr/>
          <p:nvPr/>
        </p:nvSpPr>
        <p:spPr>
          <a:xfrm>
            <a:off x="594360" y="713232"/>
            <a:ext cx="7589520" cy="1005840"/>
          </a:xfrm>
          <a:prstGeom prst="rect">
            <a:avLst/>
          </a:prstGeom>
          <a:noFill/>
          <a:ln/>
        </p:spPr>
        <p:txBody>
          <a:bodyPr wrap="square" lIns="0" tIns="0" rIns="0" bIns="0" rtlCol="0" anchor="t"/>
          <a:lstStyle/>
          <a:p>
            <a:pPr indent="0" marL="0">
              <a:buNone/>
            </a:pPr>
            <a:r>
              <a:rPr lang="en-US" sz="2800" b="1" dirty="0">
                <a:solidFill>
                  <a:srgbClr val="FFFFFF"/>
                </a:solidFill>
                <a:latin typeface="Palatino Linotype" pitchFamily="34" charset="0"/>
                <a:ea typeface="Palatino Linotype" pitchFamily="34" charset="-122"/>
                <a:cs typeface="Palatino Linotype" pitchFamily="34" charset="-120"/>
              </a:rPr>
              <a:t>Ce descrie cel mai bine al patrulea stadiu al tranziției epidemiologice?</a:t>
            </a:r>
            <a:endParaRPr lang="en-US" sz="2800" dirty="0"/>
          </a:p>
        </p:txBody>
      </p:sp>
      <p:sp>
        <p:nvSpPr>
          <p:cNvPr id="6" name="Shape 4"/>
          <p:cNvSpPr/>
          <p:nvPr/>
        </p:nvSpPr>
        <p:spPr>
          <a:xfrm>
            <a:off x="594360" y="2103120"/>
            <a:ext cx="5349240" cy="1234440"/>
          </a:xfrm>
          <a:prstGeom prst="roundRect">
            <a:avLst>
              <a:gd name="adj" fmla="val 6667"/>
            </a:avLst>
          </a:prstGeom>
          <a:solidFill>
            <a:srgbClr val="1D1F2B"/>
          </a:solidFill>
          <a:ln w="12700">
            <a:solidFill>
              <a:srgbClr val="1D1F2B"/>
            </a:solidFill>
            <a:prstDash val="solid"/>
          </a:ln>
        </p:spPr>
      </p:sp>
      <p:sp>
        <p:nvSpPr>
          <p:cNvPr id="7" name="Text 5"/>
          <p:cNvSpPr/>
          <p:nvPr/>
        </p:nvSpPr>
        <p:spPr>
          <a:xfrm>
            <a:off x="731520" y="2103120"/>
            <a:ext cx="5074920" cy="1234440"/>
          </a:xfrm>
          <a:prstGeom prst="rect">
            <a:avLst/>
          </a:prstGeom>
          <a:noFill/>
          <a:ln/>
        </p:spPr>
        <p:txBody>
          <a:bodyPr wrap="square" lIns="0" tIns="0" rIns="0" bIns="0" rtlCol="0" anchor="ctr"/>
          <a:lstStyle/>
          <a:p>
            <a:pPr algn="ctr" indent="0" marL="0">
              <a:buNone/>
            </a:pPr>
            <a:r>
              <a:rPr lang="en-US" sz="1800" b="1" dirty="0">
                <a:solidFill>
                  <a:srgbClr val="FFFFFF"/>
                </a:solidFill>
                <a:latin typeface="Palatino Linotype" pitchFamily="34" charset="0"/>
                <a:ea typeface="Palatino Linotype" pitchFamily="34" charset="-122"/>
                <a:cs typeface="Palatino Linotype" pitchFamily="34" charset="-120"/>
              </a:rPr>
              <a:t>A  ·  Bolile infecțioase dispar complet</a:t>
            </a:r>
            <a:endParaRPr lang="en-US" sz="1800" dirty="0"/>
          </a:p>
        </p:txBody>
      </p:sp>
      <p:sp>
        <p:nvSpPr>
          <p:cNvPr id="8" name="Shape 6"/>
          <p:cNvSpPr/>
          <p:nvPr/>
        </p:nvSpPr>
        <p:spPr>
          <a:xfrm>
            <a:off x="6217920" y="2103120"/>
            <a:ext cx="5349240" cy="1234440"/>
          </a:xfrm>
          <a:prstGeom prst="roundRect">
            <a:avLst>
              <a:gd name="adj" fmla="val 6667"/>
            </a:avLst>
          </a:prstGeom>
          <a:solidFill>
            <a:srgbClr val="1D1F2B"/>
          </a:solidFill>
          <a:ln w="12700">
            <a:solidFill>
              <a:srgbClr val="1D1F2B"/>
            </a:solidFill>
            <a:prstDash val="solid"/>
          </a:ln>
        </p:spPr>
      </p:sp>
      <p:sp>
        <p:nvSpPr>
          <p:cNvPr id="9" name="Text 7"/>
          <p:cNvSpPr/>
          <p:nvPr/>
        </p:nvSpPr>
        <p:spPr>
          <a:xfrm>
            <a:off x="6355080" y="2103120"/>
            <a:ext cx="5074920" cy="1234440"/>
          </a:xfrm>
          <a:prstGeom prst="rect">
            <a:avLst/>
          </a:prstGeom>
          <a:noFill/>
          <a:ln/>
        </p:spPr>
        <p:txBody>
          <a:bodyPr wrap="square" lIns="0" tIns="0" rIns="0" bIns="0" rtlCol="0" anchor="ctr"/>
          <a:lstStyle/>
          <a:p>
            <a:pPr algn="ctr" indent="0" marL="0">
              <a:buNone/>
            </a:pPr>
            <a:r>
              <a:rPr lang="en-US" sz="1800" b="1" dirty="0">
                <a:solidFill>
                  <a:srgbClr val="FFFFFF"/>
                </a:solidFill>
                <a:latin typeface="Palatino Linotype" pitchFamily="34" charset="0"/>
                <a:ea typeface="Palatino Linotype" pitchFamily="34" charset="-122"/>
                <a:cs typeface="Palatino Linotype" pitchFamily="34" charset="-120"/>
              </a:rPr>
              <a:t>B  ·  Bolile degenerative apar și ucid la vârste tot mai înaintate</a:t>
            </a:r>
            <a:endParaRPr lang="en-US" sz="1800" dirty="0"/>
          </a:p>
        </p:txBody>
      </p:sp>
      <p:sp>
        <p:nvSpPr>
          <p:cNvPr id="10" name="Shape 8"/>
          <p:cNvSpPr/>
          <p:nvPr/>
        </p:nvSpPr>
        <p:spPr>
          <a:xfrm>
            <a:off x="594360" y="3566160"/>
            <a:ext cx="5349240" cy="1234440"/>
          </a:xfrm>
          <a:prstGeom prst="roundRect">
            <a:avLst>
              <a:gd name="adj" fmla="val 6667"/>
            </a:avLst>
          </a:prstGeom>
          <a:solidFill>
            <a:srgbClr val="1D1F2B"/>
          </a:solidFill>
          <a:ln w="12700">
            <a:solidFill>
              <a:srgbClr val="1D1F2B"/>
            </a:solidFill>
            <a:prstDash val="solid"/>
          </a:ln>
        </p:spPr>
      </p:sp>
      <p:sp>
        <p:nvSpPr>
          <p:cNvPr id="11" name="Text 9"/>
          <p:cNvSpPr/>
          <p:nvPr/>
        </p:nvSpPr>
        <p:spPr>
          <a:xfrm>
            <a:off x="731520" y="3566160"/>
            <a:ext cx="5074920" cy="1234440"/>
          </a:xfrm>
          <a:prstGeom prst="rect">
            <a:avLst/>
          </a:prstGeom>
          <a:noFill/>
          <a:ln/>
        </p:spPr>
        <p:txBody>
          <a:bodyPr wrap="square" lIns="0" tIns="0" rIns="0" bIns="0" rtlCol="0" anchor="ctr"/>
          <a:lstStyle/>
          <a:p>
            <a:pPr algn="ctr" indent="0" marL="0">
              <a:buNone/>
            </a:pPr>
            <a:r>
              <a:rPr lang="en-US" sz="1800" b="1" dirty="0">
                <a:solidFill>
                  <a:srgbClr val="FFFFFF"/>
                </a:solidFill>
                <a:latin typeface="Palatino Linotype" pitchFamily="34" charset="0"/>
                <a:ea typeface="Palatino Linotype" pitchFamily="34" charset="-122"/>
                <a:cs typeface="Palatino Linotype" pitchFamily="34" charset="-120"/>
              </a:rPr>
              <a:t>C  ·  Mortalitatea crește din nou</a:t>
            </a:r>
            <a:endParaRPr lang="en-US" sz="1800" dirty="0"/>
          </a:p>
        </p:txBody>
      </p:sp>
      <p:sp>
        <p:nvSpPr>
          <p:cNvPr id="12" name="Shape 10"/>
          <p:cNvSpPr/>
          <p:nvPr/>
        </p:nvSpPr>
        <p:spPr>
          <a:xfrm>
            <a:off x="6217920" y="3566160"/>
            <a:ext cx="5349240" cy="1234440"/>
          </a:xfrm>
          <a:prstGeom prst="roundRect">
            <a:avLst>
              <a:gd name="adj" fmla="val 6667"/>
            </a:avLst>
          </a:prstGeom>
          <a:solidFill>
            <a:srgbClr val="1D1F2B"/>
          </a:solidFill>
          <a:ln w="12700">
            <a:solidFill>
              <a:srgbClr val="1D1F2B"/>
            </a:solidFill>
            <a:prstDash val="solid"/>
          </a:ln>
        </p:spPr>
      </p:sp>
      <p:sp>
        <p:nvSpPr>
          <p:cNvPr id="13" name="Text 11"/>
          <p:cNvSpPr/>
          <p:nvPr/>
        </p:nvSpPr>
        <p:spPr>
          <a:xfrm>
            <a:off x="6355080" y="3566160"/>
            <a:ext cx="5074920" cy="1234440"/>
          </a:xfrm>
          <a:prstGeom prst="rect">
            <a:avLst/>
          </a:prstGeom>
          <a:noFill/>
          <a:ln/>
        </p:spPr>
        <p:txBody>
          <a:bodyPr wrap="square" lIns="0" tIns="0" rIns="0" bIns="0" rtlCol="0" anchor="ctr"/>
          <a:lstStyle/>
          <a:p>
            <a:pPr algn="ctr" indent="0" marL="0">
              <a:buNone/>
            </a:pPr>
            <a:r>
              <a:rPr lang="en-US" sz="1800" b="1" dirty="0">
                <a:solidFill>
                  <a:srgbClr val="FFFFFF"/>
                </a:solidFill>
                <a:latin typeface="Palatino Linotype" pitchFamily="34" charset="0"/>
                <a:ea typeface="Palatino Linotype" pitchFamily="34" charset="-122"/>
                <a:cs typeface="Palatino Linotype" pitchFamily="34" charset="-120"/>
              </a:rPr>
              <a:t>D  ·  Natalitatea scade sub mortalitate</a:t>
            </a:r>
            <a:endParaRPr lang="en-US" sz="1800" dirty="0"/>
          </a:p>
        </p:txBody>
      </p:sp>
      <p:sp>
        <p:nvSpPr>
          <p:cNvPr id="14" name="Text 12"/>
          <p:cNvSpPr/>
          <p:nvPr/>
        </p:nvSpPr>
        <p:spPr>
          <a:xfrm>
            <a:off x="594360" y="5212080"/>
            <a:ext cx="10972800" cy="548640"/>
          </a:xfrm>
          <a:prstGeom prst="rect">
            <a:avLst/>
          </a:prstGeom>
          <a:noFill/>
          <a:ln/>
        </p:spPr>
        <p:txBody>
          <a:bodyPr wrap="square" lIns="0" tIns="0" rIns="0" bIns="0" rtlCol="0" anchor="t"/>
          <a:lstStyle/>
          <a:p>
            <a:pPr indent="0" marL="0">
              <a:buNone/>
            </a:pPr>
            <a:r>
              <a:rPr lang="en-US" sz="2000" b="1" dirty="0">
                <a:solidFill>
                  <a:srgbClr val="FFC24B"/>
                </a:solidFill>
                <a:latin typeface="Palatino Linotype" pitchFamily="34" charset="0"/>
                <a:ea typeface="Palatino Linotype" pitchFamily="34" charset="-122"/>
                <a:cs typeface="Palatino Linotype" pitchFamily="34" charset="-120"/>
              </a:rPr>
              <a:t>O singură variantă. Răspundeți pe telefon, la codul afișat.</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RĂSPUNSUL</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Bolile degenerative ucid la vârste tot mai înaintate</a:t>
            </a:r>
            <a:endParaRPr lang="en-US" sz="3000" dirty="0"/>
          </a:p>
        </p:txBody>
      </p:sp>
      <p:sp>
        <p:nvSpPr>
          <p:cNvPr id="4" name="Shape 2"/>
          <p:cNvSpPr/>
          <p:nvPr/>
        </p:nvSpPr>
        <p:spPr>
          <a:xfrm>
            <a:off x="594360" y="1920240"/>
            <a:ext cx="10972800" cy="1828800"/>
          </a:xfrm>
          <a:prstGeom prst="roundRect">
            <a:avLst>
              <a:gd name="adj" fmla="val 4500"/>
            </a:avLst>
          </a:prstGeom>
          <a:solidFill>
            <a:srgbClr val="11121A"/>
          </a:solidFill>
          <a:ln w="12700">
            <a:solidFill>
              <a:srgbClr val="11121A"/>
            </a:solidFill>
            <a:prstDash val="solid"/>
          </a:ln>
        </p:spPr>
      </p:sp>
      <p:sp>
        <p:nvSpPr>
          <p:cNvPr id="5" name="Text 3"/>
          <p:cNvSpPr/>
          <p:nvPr/>
        </p:nvSpPr>
        <p:spPr>
          <a:xfrm>
            <a:off x="914400" y="1920240"/>
            <a:ext cx="10332720" cy="1828800"/>
          </a:xfrm>
          <a:prstGeom prst="rect">
            <a:avLst/>
          </a:prstGeom>
          <a:noFill/>
          <a:ln/>
        </p:spPr>
        <p:txBody>
          <a:bodyPr wrap="square" lIns="0" tIns="0" rIns="0" bIns="0" rtlCol="0" anchor="ctr"/>
          <a:lstStyle/>
          <a:p>
            <a:pPr indent="0" marL="0">
              <a:buNone/>
            </a:pPr>
            <a:r>
              <a:rPr lang="en-US" sz="2800" b="1" dirty="0">
                <a:solidFill>
                  <a:srgbClr val="FFFFFF"/>
                </a:solidFill>
                <a:latin typeface="Palatino Linotype" pitchFamily="34" charset="0"/>
                <a:ea typeface="Palatino Linotype" pitchFamily="34" charset="-122"/>
                <a:cs typeface="Palatino Linotype" pitchFamily="34" charset="-120"/>
              </a:rPr>
              <a:t>B · Bolile degenerative apar și ucid la vârste tot mai înaintate.</a:t>
            </a:r>
            <a:endParaRPr lang="en-US" sz="2800" dirty="0"/>
          </a:p>
        </p:txBody>
      </p:sp>
      <p:sp>
        <p:nvSpPr>
          <p:cNvPr id="6" name="Shape 4"/>
          <p:cNvSpPr/>
          <p:nvPr/>
        </p:nvSpPr>
        <p:spPr>
          <a:xfrm>
            <a:off x="594360" y="4114800"/>
            <a:ext cx="10972800" cy="1554480"/>
          </a:xfrm>
          <a:prstGeom prst="roundRect">
            <a:avLst>
              <a:gd name="adj" fmla="val 5294"/>
            </a:avLst>
          </a:prstGeom>
          <a:solidFill>
            <a:srgbClr val="ECEAE4"/>
          </a:solidFill>
          <a:ln w="12700">
            <a:solidFill>
              <a:srgbClr val="ECEAE4"/>
            </a:solidFill>
            <a:prstDash val="solid"/>
          </a:ln>
        </p:spPr>
      </p:sp>
      <p:sp>
        <p:nvSpPr>
          <p:cNvPr id="7" name="Text 5"/>
          <p:cNvSpPr/>
          <p:nvPr/>
        </p:nvSpPr>
        <p:spPr>
          <a:xfrm>
            <a:off x="914400" y="4114800"/>
            <a:ext cx="10332720" cy="1554480"/>
          </a:xfrm>
          <a:prstGeom prst="rect">
            <a:avLst/>
          </a:prstGeom>
          <a:noFill/>
          <a:ln/>
        </p:spPr>
        <p:txBody>
          <a:bodyPr wrap="square" lIns="0" tIns="0" rIns="0" bIns="0" rtlCol="0" anchor="ctr"/>
          <a:lstStyle/>
          <a:p>
            <a:pPr indent="0" marL="0">
              <a:buNone/>
            </a:pPr>
            <a:r>
              <a:rPr lang="en-US" sz="2200" dirty="0">
                <a:solidFill>
                  <a:srgbClr val="11121A"/>
                </a:solidFill>
                <a:latin typeface="Palatino Linotype" pitchFamily="34" charset="0"/>
                <a:ea typeface="Palatino Linotype" pitchFamily="34" charset="-122"/>
                <a:cs typeface="Palatino Linotype" pitchFamily="34" charset="-120"/>
              </a:rPr>
              <a:t>Varianta D descrie o populație care scade, nu un stadiu al tranziției epidemiologice.</a:t>
            </a:r>
            <a:endParaRPr lang="en-US" sz="2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ROMÂNIA ÎN STADIUL BOLILOR CRONICE</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Boli circulatorii: peste jumătate din decese</a:t>
            </a:r>
            <a:endParaRPr lang="en-US" sz="3200" dirty="0"/>
          </a:p>
        </p:txBody>
      </p:sp>
      <p:sp>
        <p:nvSpPr>
          <p:cNvPr id="4" name="Shape 2"/>
          <p:cNvSpPr/>
          <p:nvPr/>
        </p:nvSpPr>
        <p:spPr>
          <a:xfrm>
            <a:off x="594360" y="1828800"/>
            <a:ext cx="5349240" cy="4114800"/>
          </a:xfrm>
          <a:prstGeom prst="roundRect">
            <a:avLst>
              <a:gd name="adj" fmla="val 2000"/>
            </a:avLst>
          </a:prstGeom>
          <a:solidFill>
            <a:srgbClr val="11121A"/>
          </a:solidFill>
          <a:ln w="12700">
            <a:solidFill>
              <a:srgbClr val="11121A"/>
            </a:solidFill>
            <a:prstDash val="solid"/>
          </a:ln>
        </p:spPr>
      </p:sp>
      <p:sp>
        <p:nvSpPr>
          <p:cNvPr id="5" name="Text 3"/>
          <p:cNvSpPr/>
          <p:nvPr/>
        </p:nvSpPr>
        <p:spPr>
          <a:xfrm>
            <a:off x="868680" y="2011680"/>
            <a:ext cx="4846320" cy="1463040"/>
          </a:xfrm>
          <a:prstGeom prst="rect">
            <a:avLst/>
          </a:prstGeom>
          <a:noFill/>
          <a:ln/>
        </p:spPr>
        <p:txBody>
          <a:bodyPr wrap="square" lIns="0" tIns="0" rIns="0" bIns="0" rtlCol="0" anchor="ctr"/>
          <a:lstStyle/>
          <a:p>
            <a:pPr indent="0" marL="0">
              <a:buNone/>
            </a:pPr>
            <a:r>
              <a:rPr lang="en-US" sz="8000" b="1" dirty="0">
                <a:solidFill>
                  <a:srgbClr val="FF4757"/>
                </a:solidFill>
                <a:latin typeface="Palatino Linotype" pitchFamily="34" charset="0"/>
                <a:ea typeface="Palatino Linotype" pitchFamily="34" charset="-122"/>
                <a:cs typeface="Palatino Linotype" pitchFamily="34" charset="-120"/>
              </a:rPr>
              <a:t>54,0%</a:t>
            </a:r>
            <a:endParaRPr lang="en-US" sz="8000" dirty="0"/>
          </a:p>
        </p:txBody>
      </p:sp>
      <p:sp>
        <p:nvSpPr>
          <p:cNvPr id="6" name="Text 4"/>
          <p:cNvSpPr/>
          <p:nvPr/>
        </p:nvSpPr>
        <p:spPr>
          <a:xfrm>
            <a:off x="868680" y="3566160"/>
            <a:ext cx="4846320" cy="1005840"/>
          </a:xfrm>
          <a:prstGeom prst="rect">
            <a:avLst/>
          </a:prstGeom>
          <a:noFill/>
          <a:ln/>
        </p:spPr>
        <p:txBody>
          <a:bodyPr wrap="square" lIns="0" tIns="0" rIns="0" bIns="0" rtlCol="0" anchor="t"/>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din cele 244 061 de decese din 2023 au fost prin boli ale sistemului circulator.</a:t>
            </a:r>
            <a:endParaRPr lang="en-US" sz="1800" dirty="0"/>
          </a:p>
        </p:txBody>
      </p:sp>
      <p:sp>
        <p:nvSpPr>
          <p:cNvPr id="7" name="Text 5"/>
          <p:cNvSpPr/>
          <p:nvPr/>
        </p:nvSpPr>
        <p:spPr>
          <a:xfrm>
            <a:off x="868680" y="4663440"/>
            <a:ext cx="4846320" cy="1097280"/>
          </a:xfrm>
          <a:prstGeom prst="rect">
            <a:avLst/>
          </a:prstGeom>
          <a:noFill/>
          <a:ln/>
        </p:spPr>
        <p:txBody>
          <a:bodyPr wrap="square" lIns="0" tIns="0" rIns="0" bIns="0" rtlCol="0" anchor="t"/>
          <a:lstStyle/>
          <a:p>
            <a:pPr indent="0" marL="0">
              <a:buNone/>
            </a:pPr>
            <a:r>
              <a:rPr lang="en-US" sz="1500" dirty="0">
                <a:solidFill>
                  <a:srgbClr val="959BB0"/>
                </a:solidFill>
                <a:latin typeface="Palatino Linotype" pitchFamily="34" charset="0"/>
                <a:ea typeface="Palatino Linotype" pitchFamily="34" charset="-122"/>
                <a:cs typeface="Palatino Linotype" pitchFamily="34" charset="-120"/>
              </a:rPr>
              <a:t>Primele locuri în povara bolii (DALY): cardiopatia ischemică și accidentul vascular cerebral.</a:t>
            </a:r>
            <a:endParaRPr lang="en-US" sz="1500" dirty="0"/>
          </a:p>
        </p:txBody>
      </p:sp>
      <p:sp>
        <p:nvSpPr>
          <p:cNvPr id="8" name="Shape 6"/>
          <p:cNvSpPr/>
          <p:nvPr/>
        </p:nvSpPr>
        <p:spPr>
          <a:xfrm>
            <a:off x="6217920" y="1828800"/>
            <a:ext cx="5349240" cy="4114800"/>
          </a:xfrm>
          <a:prstGeom prst="roundRect">
            <a:avLst>
              <a:gd name="adj" fmla="val 2000"/>
            </a:avLst>
          </a:prstGeom>
          <a:solidFill>
            <a:srgbClr val="ECEAE4"/>
          </a:solidFill>
          <a:ln w="12700">
            <a:solidFill>
              <a:srgbClr val="ECEAE4"/>
            </a:solidFill>
            <a:prstDash val="solid"/>
          </a:ln>
        </p:spPr>
      </p:sp>
      <p:sp>
        <p:nvSpPr>
          <p:cNvPr id="9" name="Text 7"/>
          <p:cNvSpPr/>
          <p:nvPr/>
        </p:nvSpPr>
        <p:spPr>
          <a:xfrm>
            <a:off x="6492240" y="2011680"/>
            <a:ext cx="4846320" cy="1463040"/>
          </a:xfrm>
          <a:prstGeom prst="rect">
            <a:avLst/>
          </a:prstGeom>
          <a:noFill/>
          <a:ln/>
        </p:spPr>
        <p:txBody>
          <a:bodyPr wrap="square" lIns="0" tIns="0" rIns="0" bIns="0" rtlCol="0" anchor="ctr"/>
          <a:lstStyle/>
          <a:p>
            <a:pPr indent="0" marL="0">
              <a:buNone/>
            </a:pPr>
            <a:r>
              <a:rPr lang="en-US" sz="8000" b="1" dirty="0">
                <a:solidFill>
                  <a:srgbClr val="0E7C6B"/>
                </a:solidFill>
                <a:latin typeface="Palatino Linotype" pitchFamily="34" charset="0"/>
                <a:ea typeface="Palatino Linotype" pitchFamily="34" charset="-122"/>
                <a:cs typeface="Palatino Linotype" pitchFamily="34" charset="-120"/>
              </a:rPr>
              <a:t>21,5%</a:t>
            </a:r>
            <a:endParaRPr lang="en-US" sz="8000" dirty="0"/>
          </a:p>
        </p:txBody>
      </p:sp>
      <p:sp>
        <p:nvSpPr>
          <p:cNvPr id="10" name="Text 8"/>
          <p:cNvSpPr/>
          <p:nvPr/>
        </p:nvSpPr>
        <p:spPr>
          <a:xfrm>
            <a:off x="6492240" y="3566160"/>
            <a:ext cx="4846320" cy="146304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probabilitatea ca un adult de 30 de ani să moară înainte de 70 de ani din cancer, boli cardiovasculare, diabet sau boli respiratorii cronice (2021).</a:t>
            </a:r>
            <a:endParaRPr lang="en-US" sz="1700" dirty="0"/>
          </a:p>
        </p:txBody>
      </p:sp>
      <p:sp>
        <p:nvSpPr>
          <p:cNvPr id="11" name="Text 9"/>
          <p:cNvSpPr/>
          <p:nvPr/>
        </p:nvSpPr>
        <p:spPr>
          <a:xfrm>
            <a:off x="6492240" y="5120640"/>
            <a:ext cx="4846320" cy="731520"/>
          </a:xfrm>
          <a:prstGeom prst="rect">
            <a:avLst/>
          </a:prstGeom>
          <a:noFill/>
          <a:ln/>
        </p:spPr>
        <p:txBody>
          <a:bodyPr wrap="square" lIns="0" tIns="0" rIns="0" bIns="0" rtlCol="0" anchor="t"/>
          <a:lstStyle/>
          <a:p>
            <a:pPr indent="0" marL="0">
              <a:buNone/>
            </a:pPr>
            <a:r>
              <a:rPr lang="en-US" sz="1600" b="1" dirty="0">
                <a:solidFill>
                  <a:srgbClr val="B02532"/>
                </a:solidFill>
                <a:latin typeface="Palatino Linotype" pitchFamily="34" charset="0"/>
                <a:ea typeface="Palatino Linotype" pitchFamily="34" charset="-122"/>
                <a:cs typeface="Palatino Linotype" pitchFamily="34" charset="-120"/>
              </a:rPr>
              <a:t>Continuăm la cursul 4.</a:t>
            </a:r>
            <a:endParaRPr lang="en-US" sz="1600" dirty="0"/>
          </a:p>
        </p:txBody>
      </p:sp>
      <p:sp>
        <p:nvSpPr>
          <p:cNvPr id="12" name="Text 10"/>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Surse: Eurostat, 2023; OMS, 2021 (ODD 3.4.1); GBD.</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ROMÂNIA ÎN TREI ACTE · ACTUL ÎNTÂI</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1967: nașterile aproape se dublează într-un an</a:t>
            </a:r>
            <a:endParaRPr lang="en-US" sz="3200" dirty="0"/>
          </a:p>
        </p:txBody>
      </p:sp>
      <p:sp>
        <p:nvSpPr>
          <p:cNvPr id="4" name="Shape 2"/>
          <p:cNvSpPr/>
          <p:nvPr/>
        </p:nvSpPr>
        <p:spPr>
          <a:xfrm>
            <a:off x="698934" y="3426159"/>
            <a:ext cx="83183" cy="2243121"/>
          </a:xfrm>
          <a:prstGeom prst="rect">
            <a:avLst/>
          </a:prstGeom>
          <a:solidFill>
            <a:srgbClr val="4B5068"/>
          </a:solidFill>
          <a:ln w="12700">
            <a:solidFill>
              <a:srgbClr val="4B5068"/>
            </a:solidFill>
            <a:prstDash val="solid"/>
          </a:ln>
        </p:spPr>
      </p:sp>
      <p:sp>
        <p:nvSpPr>
          <p:cNvPr id="5" name="Shape 3"/>
          <p:cNvSpPr/>
          <p:nvPr/>
        </p:nvSpPr>
        <p:spPr>
          <a:xfrm>
            <a:off x="808385" y="3600531"/>
            <a:ext cx="83183" cy="2068749"/>
          </a:xfrm>
          <a:prstGeom prst="rect">
            <a:avLst/>
          </a:prstGeom>
          <a:solidFill>
            <a:srgbClr val="4B5068"/>
          </a:solidFill>
          <a:ln w="12700">
            <a:solidFill>
              <a:srgbClr val="4B5068"/>
            </a:solidFill>
            <a:prstDash val="solid"/>
          </a:ln>
        </p:spPr>
      </p:sp>
      <p:sp>
        <p:nvSpPr>
          <p:cNvPr id="6" name="Shape 4"/>
          <p:cNvSpPr/>
          <p:nvPr/>
        </p:nvSpPr>
        <p:spPr>
          <a:xfrm>
            <a:off x="917836" y="3746196"/>
            <a:ext cx="83183" cy="1923084"/>
          </a:xfrm>
          <a:prstGeom prst="rect">
            <a:avLst/>
          </a:prstGeom>
          <a:solidFill>
            <a:srgbClr val="4B5068"/>
          </a:solidFill>
          <a:ln w="12700">
            <a:solidFill>
              <a:srgbClr val="4B5068"/>
            </a:solidFill>
            <a:prstDash val="solid"/>
          </a:ln>
        </p:spPr>
      </p:sp>
      <p:sp>
        <p:nvSpPr>
          <p:cNvPr id="7" name="Shape 5"/>
          <p:cNvSpPr/>
          <p:nvPr/>
        </p:nvSpPr>
        <p:spPr>
          <a:xfrm>
            <a:off x="1027287" y="3791404"/>
            <a:ext cx="83183" cy="1877876"/>
          </a:xfrm>
          <a:prstGeom prst="rect">
            <a:avLst/>
          </a:prstGeom>
          <a:solidFill>
            <a:srgbClr val="4B5068"/>
          </a:solidFill>
          <a:ln w="12700">
            <a:solidFill>
              <a:srgbClr val="4B5068"/>
            </a:solidFill>
            <a:prstDash val="solid"/>
          </a:ln>
        </p:spPr>
      </p:sp>
      <p:sp>
        <p:nvSpPr>
          <p:cNvPr id="8" name="Shape 6"/>
          <p:cNvSpPr/>
          <p:nvPr/>
        </p:nvSpPr>
        <p:spPr>
          <a:xfrm>
            <a:off x="1136738" y="3839184"/>
            <a:ext cx="83183" cy="1830096"/>
          </a:xfrm>
          <a:prstGeom prst="rect">
            <a:avLst/>
          </a:prstGeom>
          <a:solidFill>
            <a:srgbClr val="4B5068"/>
          </a:solidFill>
          <a:ln w="12700">
            <a:solidFill>
              <a:srgbClr val="4B5068"/>
            </a:solidFill>
            <a:prstDash val="solid"/>
          </a:ln>
        </p:spPr>
      </p:sp>
      <p:sp>
        <p:nvSpPr>
          <p:cNvPr id="9" name="Shape 7"/>
          <p:cNvSpPr/>
          <p:nvPr/>
        </p:nvSpPr>
        <p:spPr>
          <a:xfrm>
            <a:off x="1246189" y="3896631"/>
            <a:ext cx="83183" cy="1772649"/>
          </a:xfrm>
          <a:prstGeom prst="rect">
            <a:avLst/>
          </a:prstGeom>
          <a:solidFill>
            <a:srgbClr val="4B5068"/>
          </a:solidFill>
          <a:ln w="12700">
            <a:solidFill>
              <a:srgbClr val="4B5068"/>
            </a:solidFill>
            <a:prstDash val="solid"/>
          </a:ln>
        </p:spPr>
      </p:sp>
      <p:sp>
        <p:nvSpPr>
          <p:cNvPr id="10" name="Shape 8"/>
          <p:cNvSpPr/>
          <p:nvPr/>
        </p:nvSpPr>
        <p:spPr>
          <a:xfrm>
            <a:off x="1355640" y="3926459"/>
            <a:ext cx="83183" cy="1742821"/>
          </a:xfrm>
          <a:prstGeom prst="rect">
            <a:avLst/>
          </a:prstGeom>
          <a:solidFill>
            <a:srgbClr val="FFC24B"/>
          </a:solidFill>
          <a:ln w="12700">
            <a:solidFill>
              <a:srgbClr val="FFC24B"/>
            </a:solidFill>
            <a:prstDash val="solid"/>
          </a:ln>
        </p:spPr>
      </p:sp>
      <p:sp>
        <p:nvSpPr>
          <p:cNvPr id="11" name="Shape 9"/>
          <p:cNvSpPr/>
          <p:nvPr/>
        </p:nvSpPr>
        <p:spPr>
          <a:xfrm>
            <a:off x="1465090" y="2308403"/>
            <a:ext cx="83183" cy="3360877"/>
          </a:xfrm>
          <a:prstGeom prst="rect">
            <a:avLst/>
          </a:prstGeom>
          <a:solidFill>
            <a:srgbClr val="FF4757"/>
          </a:solidFill>
          <a:ln w="12700">
            <a:solidFill>
              <a:srgbClr val="FF4757"/>
            </a:solidFill>
            <a:prstDash val="solid"/>
          </a:ln>
        </p:spPr>
      </p:sp>
      <p:sp>
        <p:nvSpPr>
          <p:cNvPr id="12" name="Shape 10"/>
          <p:cNvSpPr/>
          <p:nvPr/>
        </p:nvSpPr>
        <p:spPr>
          <a:xfrm>
            <a:off x="1574541" y="2319057"/>
            <a:ext cx="83183" cy="3350223"/>
          </a:xfrm>
          <a:prstGeom prst="rect">
            <a:avLst/>
          </a:prstGeom>
          <a:solidFill>
            <a:srgbClr val="4B5068"/>
          </a:solidFill>
          <a:ln w="12700">
            <a:solidFill>
              <a:srgbClr val="4B5068"/>
            </a:solidFill>
            <a:prstDash val="solid"/>
          </a:ln>
        </p:spPr>
      </p:sp>
      <p:sp>
        <p:nvSpPr>
          <p:cNvPr id="13" name="Shape 11"/>
          <p:cNvSpPr/>
          <p:nvPr/>
        </p:nvSpPr>
        <p:spPr>
          <a:xfrm>
            <a:off x="1683992" y="2703228"/>
            <a:ext cx="83183" cy="2966052"/>
          </a:xfrm>
          <a:prstGeom prst="rect">
            <a:avLst/>
          </a:prstGeom>
          <a:solidFill>
            <a:srgbClr val="4B5068"/>
          </a:solidFill>
          <a:ln w="12700">
            <a:solidFill>
              <a:srgbClr val="4B5068"/>
            </a:solidFill>
            <a:prstDash val="solid"/>
          </a:ln>
        </p:spPr>
      </p:sp>
      <p:sp>
        <p:nvSpPr>
          <p:cNvPr id="14" name="Shape 12"/>
          <p:cNvSpPr/>
          <p:nvPr/>
        </p:nvSpPr>
        <p:spPr>
          <a:xfrm>
            <a:off x="1793443" y="2949866"/>
            <a:ext cx="83183" cy="2719414"/>
          </a:xfrm>
          <a:prstGeom prst="rect">
            <a:avLst/>
          </a:prstGeom>
          <a:solidFill>
            <a:srgbClr val="4B5068"/>
          </a:solidFill>
          <a:ln w="12700">
            <a:solidFill>
              <a:srgbClr val="4B5068"/>
            </a:solidFill>
            <a:prstDash val="solid"/>
          </a:ln>
        </p:spPr>
      </p:sp>
      <p:sp>
        <p:nvSpPr>
          <p:cNvPr id="15" name="Shape 13"/>
          <p:cNvSpPr/>
          <p:nvPr/>
        </p:nvSpPr>
        <p:spPr>
          <a:xfrm>
            <a:off x="1902894" y="3121093"/>
            <a:ext cx="83183" cy="2548187"/>
          </a:xfrm>
          <a:prstGeom prst="rect">
            <a:avLst/>
          </a:prstGeom>
          <a:solidFill>
            <a:srgbClr val="4B5068"/>
          </a:solidFill>
          <a:ln w="12700">
            <a:solidFill>
              <a:srgbClr val="4B5068"/>
            </a:solidFill>
            <a:prstDash val="solid"/>
          </a:ln>
        </p:spPr>
      </p:sp>
      <p:sp>
        <p:nvSpPr>
          <p:cNvPr id="16" name="Shape 14"/>
          <p:cNvSpPr/>
          <p:nvPr/>
        </p:nvSpPr>
        <p:spPr>
          <a:xfrm>
            <a:off x="2012345" y="3191098"/>
            <a:ext cx="83183" cy="2478182"/>
          </a:xfrm>
          <a:prstGeom prst="rect">
            <a:avLst/>
          </a:prstGeom>
          <a:solidFill>
            <a:srgbClr val="4B5068"/>
          </a:solidFill>
          <a:ln w="12700">
            <a:solidFill>
              <a:srgbClr val="4B5068"/>
            </a:solidFill>
            <a:prstDash val="solid"/>
          </a:ln>
        </p:spPr>
      </p:sp>
      <p:sp>
        <p:nvSpPr>
          <p:cNvPr id="17" name="Shape 15"/>
          <p:cNvSpPr/>
          <p:nvPr/>
        </p:nvSpPr>
        <p:spPr>
          <a:xfrm>
            <a:off x="2121796" y="3257690"/>
            <a:ext cx="83183" cy="2411590"/>
          </a:xfrm>
          <a:prstGeom prst="rect">
            <a:avLst/>
          </a:prstGeom>
          <a:solidFill>
            <a:srgbClr val="4B5068"/>
          </a:solidFill>
          <a:ln w="12700">
            <a:solidFill>
              <a:srgbClr val="4B5068"/>
            </a:solidFill>
            <a:prstDash val="solid"/>
          </a:ln>
        </p:spPr>
      </p:sp>
      <p:sp>
        <p:nvSpPr>
          <p:cNvPr id="18" name="Shape 16"/>
          <p:cNvSpPr/>
          <p:nvPr/>
        </p:nvSpPr>
        <p:spPr>
          <a:xfrm>
            <a:off x="2231247" y="2945422"/>
            <a:ext cx="83183" cy="2723858"/>
          </a:xfrm>
          <a:prstGeom prst="rect">
            <a:avLst/>
          </a:prstGeom>
          <a:solidFill>
            <a:srgbClr val="4B5068"/>
          </a:solidFill>
          <a:ln w="12700">
            <a:solidFill>
              <a:srgbClr val="4B5068"/>
            </a:solidFill>
            <a:prstDash val="solid"/>
          </a:ln>
        </p:spPr>
      </p:sp>
      <p:sp>
        <p:nvSpPr>
          <p:cNvPr id="19" name="Shape 17"/>
          <p:cNvSpPr/>
          <p:nvPr/>
        </p:nvSpPr>
        <p:spPr>
          <a:xfrm>
            <a:off x="2340698" y="3006218"/>
            <a:ext cx="83183" cy="2663062"/>
          </a:xfrm>
          <a:prstGeom prst="rect">
            <a:avLst/>
          </a:prstGeom>
          <a:solidFill>
            <a:srgbClr val="4B5068"/>
          </a:solidFill>
          <a:ln w="12700">
            <a:solidFill>
              <a:srgbClr val="4B5068"/>
            </a:solidFill>
            <a:prstDash val="solid"/>
          </a:ln>
        </p:spPr>
      </p:sp>
      <p:sp>
        <p:nvSpPr>
          <p:cNvPr id="20" name="Shape 18"/>
          <p:cNvSpPr/>
          <p:nvPr/>
        </p:nvSpPr>
        <p:spPr>
          <a:xfrm>
            <a:off x="2450149" y="3011516"/>
            <a:ext cx="83183" cy="2657764"/>
          </a:xfrm>
          <a:prstGeom prst="rect">
            <a:avLst/>
          </a:prstGeom>
          <a:solidFill>
            <a:srgbClr val="4B5068"/>
          </a:solidFill>
          <a:ln w="12700">
            <a:solidFill>
              <a:srgbClr val="4B5068"/>
            </a:solidFill>
            <a:prstDash val="solid"/>
          </a:ln>
        </p:spPr>
      </p:sp>
      <p:sp>
        <p:nvSpPr>
          <p:cNvPr id="21" name="Shape 19"/>
          <p:cNvSpPr/>
          <p:nvPr/>
        </p:nvSpPr>
        <p:spPr>
          <a:xfrm>
            <a:off x="2559600" y="2969455"/>
            <a:ext cx="83183" cy="2699825"/>
          </a:xfrm>
          <a:prstGeom prst="rect">
            <a:avLst/>
          </a:prstGeom>
          <a:solidFill>
            <a:srgbClr val="4B5068"/>
          </a:solidFill>
          <a:ln w="12700">
            <a:solidFill>
              <a:srgbClr val="4B5068"/>
            </a:solidFill>
            <a:prstDash val="solid"/>
          </a:ln>
        </p:spPr>
      </p:sp>
      <p:sp>
        <p:nvSpPr>
          <p:cNvPr id="22" name="Shape 20"/>
          <p:cNvSpPr/>
          <p:nvPr/>
        </p:nvSpPr>
        <p:spPr>
          <a:xfrm>
            <a:off x="2669050" y="3016324"/>
            <a:ext cx="83183" cy="2652956"/>
          </a:xfrm>
          <a:prstGeom prst="rect">
            <a:avLst/>
          </a:prstGeom>
          <a:solidFill>
            <a:srgbClr val="4B5068"/>
          </a:solidFill>
          <a:ln w="12700">
            <a:solidFill>
              <a:srgbClr val="4B5068"/>
            </a:solidFill>
            <a:prstDash val="solid"/>
          </a:ln>
        </p:spPr>
      </p:sp>
      <p:sp>
        <p:nvSpPr>
          <p:cNvPr id="23" name="Shape 21"/>
          <p:cNvSpPr/>
          <p:nvPr/>
        </p:nvSpPr>
        <p:spPr>
          <a:xfrm>
            <a:off x="2778501" y="3054501"/>
            <a:ext cx="83183" cy="2614779"/>
          </a:xfrm>
          <a:prstGeom prst="rect">
            <a:avLst/>
          </a:prstGeom>
          <a:solidFill>
            <a:srgbClr val="4B5068"/>
          </a:solidFill>
          <a:ln w="12700">
            <a:solidFill>
              <a:srgbClr val="4B5068"/>
            </a:solidFill>
            <a:prstDash val="solid"/>
          </a:ln>
        </p:spPr>
      </p:sp>
      <p:sp>
        <p:nvSpPr>
          <p:cNvPr id="24" name="Shape 22"/>
          <p:cNvSpPr/>
          <p:nvPr/>
        </p:nvSpPr>
        <p:spPr>
          <a:xfrm>
            <a:off x="2887952" y="3129002"/>
            <a:ext cx="83183" cy="2540278"/>
          </a:xfrm>
          <a:prstGeom prst="rect">
            <a:avLst/>
          </a:prstGeom>
          <a:solidFill>
            <a:srgbClr val="4B5068"/>
          </a:solidFill>
          <a:ln w="12700">
            <a:solidFill>
              <a:srgbClr val="4B5068"/>
            </a:solidFill>
            <a:prstDash val="solid"/>
          </a:ln>
        </p:spPr>
      </p:sp>
      <p:sp>
        <p:nvSpPr>
          <p:cNvPr id="25" name="Shape 23"/>
          <p:cNvSpPr/>
          <p:nvPr/>
        </p:nvSpPr>
        <p:spPr>
          <a:xfrm>
            <a:off x="2997403" y="3242374"/>
            <a:ext cx="83183" cy="2426906"/>
          </a:xfrm>
          <a:prstGeom prst="rect">
            <a:avLst/>
          </a:prstGeom>
          <a:solidFill>
            <a:srgbClr val="4B5068"/>
          </a:solidFill>
          <a:ln w="12700">
            <a:solidFill>
              <a:srgbClr val="4B5068"/>
            </a:solidFill>
            <a:prstDash val="solid"/>
          </a:ln>
        </p:spPr>
      </p:sp>
      <p:sp>
        <p:nvSpPr>
          <p:cNvPr id="26" name="Shape 24"/>
          <p:cNvSpPr/>
          <p:nvPr/>
        </p:nvSpPr>
        <p:spPr>
          <a:xfrm>
            <a:off x="3106854" y="3476289"/>
            <a:ext cx="83183" cy="2192991"/>
          </a:xfrm>
          <a:prstGeom prst="rect">
            <a:avLst/>
          </a:prstGeom>
          <a:solidFill>
            <a:srgbClr val="4B5068"/>
          </a:solidFill>
          <a:ln w="12700">
            <a:solidFill>
              <a:srgbClr val="4B5068"/>
            </a:solidFill>
            <a:prstDash val="solid"/>
          </a:ln>
        </p:spPr>
      </p:sp>
      <p:sp>
        <p:nvSpPr>
          <p:cNvPr id="27" name="Shape 25"/>
          <p:cNvSpPr/>
          <p:nvPr/>
        </p:nvSpPr>
        <p:spPr>
          <a:xfrm>
            <a:off x="3216305" y="3621935"/>
            <a:ext cx="83183" cy="2047345"/>
          </a:xfrm>
          <a:prstGeom prst="rect">
            <a:avLst/>
          </a:prstGeom>
          <a:solidFill>
            <a:srgbClr val="4B5068"/>
          </a:solidFill>
          <a:ln w="12700">
            <a:solidFill>
              <a:srgbClr val="4B5068"/>
            </a:solidFill>
            <a:prstDash val="solid"/>
          </a:ln>
        </p:spPr>
      </p:sp>
      <p:sp>
        <p:nvSpPr>
          <p:cNvPr id="28" name="Shape 26"/>
          <p:cNvSpPr/>
          <p:nvPr/>
        </p:nvSpPr>
        <p:spPr>
          <a:xfrm>
            <a:off x="3325756" y="3435711"/>
            <a:ext cx="83183" cy="2233569"/>
          </a:xfrm>
          <a:prstGeom prst="rect">
            <a:avLst/>
          </a:prstGeom>
          <a:solidFill>
            <a:srgbClr val="4B5068"/>
          </a:solidFill>
          <a:ln w="12700">
            <a:solidFill>
              <a:srgbClr val="4B5068"/>
            </a:solidFill>
            <a:prstDash val="solid"/>
          </a:ln>
        </p:spPr>
      </p:sp>
      <p:sp>
        <p:nvSpPr>
          <p:cNvPr id="29" name="Shape 27"/>
          <p:cNvSpPr/>
          <p:nvPr/>
        </p:nvSpPr>
        <p:spPr>
          <a:xfrm>
            <a:off x="3435207" y="3384409"/>
            <a:ext cx="83183" cy="2284871"/>
          </a:xfrm>
          <a:prstGeom prst="rect">
            <a:avLst/>
          </a:prstGeom>
          <a:solidFill>
            <a:srgbClr val="4B5068"/>
          </a:solidFill>
          <a:ln w="12700">
            <a:solidFill>
              <a:srgbClr val="4B5068"/>
            </a:solidFill>
            <a:prstDash val="solid"/>
          </a:ln>
        </p:spPr>
      </p:sp>
      <p:sp>
        <p:nvSpPr>
          <p:cNvPr id="30" name="Shape 28"/>
          <p:cNvSpPr/>
          <p:nvPr/>
        </p:nvSpPr>
        <p:spPr>
          <a:xfrm>
            <a:off x="3544658" y="3269152"/>
            <a:ext cx="83183" cy="2400128"/>
          </a:xfrm>
          <a:prstGeom prst="rect">
            <a:avLst/>
          </a:prstGeom>
          <a:solidFill>
            <a:srgbClr val="4B5068"/>
          </a:solidFill>
          <a:ln w="12700">
            <a:solidFill>
              <a:srgbClr val="4B5068"/>
            </a:solidFill>
            <a:prstDash val="solid"/>
          </a:ln>
        </p:spPr>
      </p:sp>
      <p:sp>
        <p:nvSpPr>
          <p:cNvPr id="31" name="Shape 29"/>
          <p:cNvSpPr/>
          <p:nvPr/>
        </p:nvSpPr>
        <p:spPr>
          <a:xfrm>
            <a:off x="3654109" y="3229014"/>
            <a:ext cx="83183" cy="2440266"/>
          </a:xfrm>
          <a:prstGeom prst="rect">
            <a:avLst/>
          </a:prstGeom>
          <a:solidFill>
            <a:srgbClr val="4B5068"/>
          </a:solidFill>
          <a:ln w="12700">
            <a:solidFill>
              <a:srgbClr val="4B5068"/>
            </a:solidFill>
            <a:prstDash val="solid"/>
          </a:ln>
        </p:spPr>
      </p:sp>
      <p:sp>
        <p:nvSpPr>
          <p:cNvPr id="32" name="Shape 30"/>
          <p:cNvSpPr/>
          <p:nvPr/>
        </p:nvSpPr>
        <p:spPr>
          <a:xfrm>
            <a:off x="3763560" y="3249112"/>
            <a:ext cx="83183" cy="2420168"/>
          </a:xfrm>
          <a:prstGeom prst="rect">
            <a:avLst/>
          </a:prstGeom>
          <a:solidFill>
            <a:srgbClr val="4B5068"/>
          </a:solidFill>
          <a:ln w="12700">
            <a:solidFill>
              <a:srgbClr val="4B5068"/>
            </a:solidFill>
            <a:prstDash val="solid"/>
          </a:ln>
        </p:spPr>
      </p:sp>
      <p:sp>
        <p:nvSpPr>
          <p:cNvPr id="33" name="Shape 31"/>
          <p:cNvSpPr/>
          <p:nvPr/>
        </p:nvSpPr>
        <p:spPr>
          <a:xfrm>
            <a:off x="3873010" y="3315971"/>
            <a:ext cx="83183" cy="2353309"/>
          </a:xfrm>
          <a:prstGeom prst="rect">
            <a:avLst/>
          </a:prstGeom>
          <a:solidFill>
            <a:srgbClr val="27D3BE"/>
          </a:solidFill>
          <a:ln w="12700">
            <a:solidFill>
              <a:srgbClr val="27D3BE"/>
            </a:solidFill>
            <a:prstDash val="solid"/>
          </a:ln>
        </p:spPr>
      </p:sp>
      <p:sp>
        <p:nvSpPr>
          <p:cNvPr id="34" name="Shape 32"/>
          <p:cNvSpPr/>
          <p:nvPr/>
        </p:nvSpPr>
        <p:spPr>
          <a:xfrm>
            <a:off x="3982461" y="3664933"/>
            <a:ext cx="83183" cy="2004347"/>
          </a:xfrm>
          <a:prstGeom prst="rect">
            <a:avLst/>
          </a:prstGeom>
          <a:solidFill>
            <a:srgbClr val="27D3BE"/>
          </a:solidFill>
          <a:ln w="12700">
            <a:solidFill>
              <a:srgbClr val="27D3BE"/>
            </a:solidFill>
            <a:prstDash val="solid"/>
          </a:ln>
        </p:spPr>
      </p:sp>
      <p:sp>
        <p:nvSpPr>
          <p:cNvPr id="35" name="Shape 33"/>
          <p:cNvSpPr/>
          <p:nvPr/>
        </p:nvSpPr>
        <p:spPr>
          <a:xfrm>
            <a:off x="4091912" y="3916289"/>
            <a:ext cx="83183" cy="1752991"/>
          </a:xfrm>
          <a:prstGeom prst="rect">
            <a:avLst/>
          </a:prstGeom>
          <a:solidFill>
            <a:srgbClr val="4B5068"/>
          </a:solidFill>
          <a:ln w="12700">
            <a:solidFill>
              <a:srgbClr val="4B5068"/>
            </a:solidFill>
            <a:prstDash val="solid"/>
          </a:ln>
        </p:spPr>
      </p:sp>
      <p:sp>
        <p:nvSpPr>
          <p:cNvPr id="36" name="Shape 34"/>
          <p:cNvSpPr/>
          <p:nvPr/>
        </p:nvSpPr>
        <p:spPr>
          <a:xfrm>
            <a:off x="4201363" y="4011060"/>
            <a:ext cx="83183" cy="1658220"/>
          </a:xfrm>
          <a:prstGeom prst="rect">
            <a:avLst/>
          </a:prstGeom>
          <a:solidFill>
            <a:srgbClr val="4B5068"/>
          </a:solidFill>
          <a:ln w="12700">
            <a:solidFill>
              <a:srgbClr val="4B5068"/>
            </a:solidFill>
            <a:prstDash val="solid"/>
          </a:ln>
        </p:spPr>
      </p:sp>
      <p:sp>
        <p:nvSpPr>
          <p:cNvPr id="37" name="Shape 35"/>
          <p:cNvSpPr/>
          <p:nvPr/>
        </p:nvSpPr>
        <p:spPr>
          <a:xfrm>
            <a:off x="4310814" y="4077282"/>
            <a:ext cx="83183" cy="1591998"/>
          </a:xfrm>
          <a:prstGeom prst="rect">
            <a:avLst/>
          </a:prstGeom>
          <a:solidFill>
            <a:srgbClr val="4B5068"/>
          </a:solidFill>
          <a:ln w="12700">
            <a:solidFill>
              <a:srgbClr val="4B5068"/>
            </a:solidFill>
            <a:prstDash val="solid"/>
          </a:ln>
        </p:spPr>
      </p:sp>
      <p:sp>
        <p:nvSpPr>
          <p:cNvPr id="38" name="Shape 36"/>
          <p:cNvSpPr/>
          <p:nvPr/>
        </p:nvSpPr>
        <p:spPr>
          <a:xfrm>
            <a:off x="4420265" y="4098030"/>
            <a:ext cx="83183" cy="1571250"/>
          </a:xfrm>
          <a:prstGeom prst="rect">
            <a:avLst/>
          </a:prstGeom>
          <a:solidFill>
            <a:srgbClr val="4B5068"/>
          </a:solidFill>
          <a:ln w="12700">
            <a:solidFill>
              <a:srgbClr val="4B5068"/>
            </a:solidFill>
            <a:prstDash val="solid"/>
          </a:ln>
        </p:spPr>
      </p:sp>
      <p:sp>
        <p:nvSpPr>
          <p:cNvPr id="39" name="Shape 37"/>
          <p:cNvSpPr/>
          <p:nvPr/>
        </p:nvSpPr>
        <p:spPr>
          <a:xfrm>
            <a:off x="4529716" y="4162323"/>
            <a:ext cx="83183" cy="1506957"/>
          </a:xfrm>
          <a:prstGeom prst="rect">
            <a:avLst/>
          </a:prstGeom>
          <a:solidFill>
            <a:srgbClr val="4B5068"/>
          </a:solidFill>
          <a:ln w="12700">
            <a:solidFill>
              <a:srgbClr val="4B5068"/>
            </a:solidFill>
            <a:prstDash val="solid"/>
          </a:ln>
        </p:spPr>
      </p:sp>
      <p:sp>
        <p:nvSpPr>
          <p:cNvPr id="40" name="Shape 38"/>
          <p:cNvSpPr/>
          <p:nvPr/>
        </p:nvSpPr>
        <p:spPr>
          <a:xfrm>
            <a:off x="4639167" y="4196023"/>
            <a:ext cx="83183" cy="1473257"/>
          </a:xfrm>
          <a:prstGeom prst="rect">
            <a:avLst/>
          </a:prstGeom>
          <a:solidFill>
            <a:srgbClr val="4B5068"/>
          </a:solidFill>
          <a:ln w="12700">
            <a:solidFill>
              <a:srgbClr val="4B5068"/>
            </a:solidFill>
            <a:prstDash val="solid"/>
          </a:ln>
        </p:spPr>
      </p:sp>
      <p:sp>
        <p:nvSpPr>
          <p:cNvPr id="41" name="Shape 39"/>
          <p:cNvSpPr/>
          <p:nvPr/>
        </p:nvSpPr>
        <p:spPr>
          <a:xfrm>
            <a:off x="4748618" y="4160724"/>
            <a:ext cx="83183" cy="1508556"/>
          </a:xfrm>
          <a:prstGeom prst="rect">
            <a:avLst/>
          </a:prstGeom>
          <a:solidFill>
            <a:srgbClr val="4B5068"/>
          </a:solidFill>
          <a:ln w="12700">
            <a:solidFill>
              <a:srgbClr val="4B5068"/>
            </a:solidFill>
            <a:prstDash val="solid"/>
          </a:ln>
        </p:spPr>
      </p:sp>
      <p:sp>
        <p:nvSpPr>
          <p:cNvPr id="42" name="Shape 40"/>
          <p:cNvSpPr/>
          <p:nvPr/>
        </p:nvSpPr>
        <p:spPr>
          <a:xfrm>
            <a:off x="4858069" y="4158139"/>
            <a:ext cx="83183" cy="1511141"/>
          </a:xfrm>
          <a:prstGeom prst="rect">
            <a:avLst/>
          </a:prstGeom>
          <a:solidFill>
            <a:srgbClr val="4B5068"/>
          </a:solidFill>
          <a:ln w="12700">
            <a:solidFill>
              <a:srgbClr val="4B5068"/>
            </a:solidFill>
            <a:prstDash val="solid"/>
          </a:ln>
        </p:spPr>
      </p:sp>
      <p:sp>
        <p:nvSpPr>
          <p:cNvPr id="43" name="Shape 41"/>
          <p:cNvSpPr/>
          <p:nvPr/>
        </p:nvSpPr>
        <p:spPr>
          <a:xfrm>
            <a:off x="4967520" y="4175314"/>
            <a:ext cx="83183" cy="1493966"/>
          </a:xfrm>
          <a:prstGeom prst="rect">
            <a:avLst/>
          </a:prstGeom>
          <a:solidFill>
            <a:srgbClr val="4B5068"/>
          </a:solidFill>
          <a:ln w="12700">
            <a:solidFill>
              <a:srgbClr val="4B5068"/>
            </a:solidFill>
            <a:prstDash val="solid"/>
          </a:ln>
        </p:spPr>
      </p:sp>
      <p:sp>
        <p:nvSpPr>
          <p:cNvPr id="44" name="Shape 42"/>
          <p:cNvSpPr/>
          <p:nvPr/>
        </p:nvSpPr>
        <p:spPr>
          <a:xfrm>
            <a:off x="5076970" y="4175817"/>
            <a:ext cx="83183" cy="1493463"/>
          </a:xfrm>
          <a:prstGeom prst="rect">
            <a:avLst/>
          </a:prstGeom>
          <a:solidFill>
            <a:srgbClr val="4B5068"/>
          </a:solidFill>
          <a:ln w="12700">
            <a:solidFill>
              <a:srgbClr val="4B5068"/>
            </a:solidFill>
            <a:prstDash val="solid"/>
          </a:ln>
        </p:spPr>
      </p:sp>
      <p:sp>
        <p:nvSpPr>
          <p:cNvPr id="45" name="Shape 43"/>
          <p:cNvSpPr/>
          <p:nvPr/>
        </p:nvSpPr>
        <p:spPr>
          <a:xfrm>
            <a:off x="5186421" y="4265945"/>
            <a:ext cx="83183" cy="1403335"/>
          </a:xfrm>
          <a:prstGeom prst="rect">
            <a:avLst/>
          </a:prstGeom>
          <a:solidFill>
            <a:srgbClr val="4B5068"/>
          </a:solidFill>
          <a:ln w="12700">
            <a:solidFill>
              <a:srgbClr val="4B5068"/>
            </a:solidFill>
            <a:prstDash val="solid"/>
          </a:ln>
        </p:spPr>
      </p:sp>
      <p:sp>
        <p:nvSpPr>
          <p:cNvPr id="46" name="Shape 44"/>
          <p:cNvSpPr/>
          <p:nvPr/>
        </p:nvSpPr>
        <p:spPr>
          <a:xfrm>
            <a:off x="5295872" y="4328601"/>
            <a:ext cx="83183" cy="1340679"/>
          </a:xfrm>
          <a:prstGeom prst="rect">
            <a:avLst/>
          </a:prstGeom>
          <a:solidFill>
            <a:srgbClr val="4B5068"/>
          </a:solidFill>
          <a:ln w="12700">
            <a:solidFill>
              <a:srgbClr val="4B5068"/>
            </a:solidFill>
            <a:prstDash val="solid"/>
          </a:ln>
        </p:spPr>
      </p:sp>
      <p:sp>
        <p:nvSpPr>
          <p:cNvPr id="47" name="Shape 45"/>
          <p:cNvSpPr/>
          <p:nvPr/>
        </p:nvSpPr>
        <p:spPr>
          <a:xfrm>
            <a:off x="5405323" y="4316311"/>
            <a:ext cx="83183" cy="1352969"/>
          </a:xfrm>
          <a:prstGeom prst="rect">
            <a:avLst/>
          </a:prstGeom>
          <a:solidFill>
            <a:srgbClr val="4B5068"/>
          </a:solidFill>
          <a:ln w="12700">
            <a:solidFill>
              <a:srgbClr val="4B5068"/>
            </a:solidFill>
            <a:prstDash val="solid"/>
          </a:ln>
        </p:spPr>
      </p:sp>
      <p:sp>
        <p:nvSpPr>
          <p:cNvPr id="48" name="Shape 46"/>
          <p:cNvSpPr/>
          <p:nvPr/>
        </p:nvSpPr>
        <p:spPr>
          <a:xfrm>
            <a:off x="5514774" y="4292099"/>
            <a:ext cx="83183" cy="1377181"/>
          </a:xfrm>
          <a:prstGeom prst="rect">
            <a:avLst/>
          </a:prstGeom>
          <a:solidFill>
            <a:srgbClr val="4B5068"/>
          </a:solidFill>
          <a:ln w="12700">
            <a:solidFill>
              <a:srgbClr val="4B5068"/>
            </a:solidFill>
            <a:prstDash val="solid"/>
          </a:ln>
        </p:spPr>
      </p:sp>
      <p:sp>
        <p:nvSpPr>
          <p:cNvPr id="49" name="Shape 47"/>
          <p:cNvSpPr/>
          <p:nvPr/>
        </p:nvSpPr>
        <p:spPr>
          <a:xfrm>
            <a:off x="5624225" y="4261793"/>
            <a:ext cx="83183" cy="1407487"/>
          </a:xfrm>
          <a:prstGeom prst="rect">
            <a:avLst/>
          </a:prstGeom>
          <a:solidFill>
            <a:srgbClr val="4B5068"/>
          </a:solidFill>
          <a:ln w="12700">
            <a:solidFill>
              <a:srgbClr val="4B5068"/>
            </a:solidFill>
            <a:prstDash val="solid"/>
          </a:ln>
        </p:spPr>
      </p:sp>
      <p:sp>
        <p:nvSpPr>
          <p:cNvPr id="50" name="Shape 48"/>
          <p:cNvSpPr/>
          <p:nvPr/>
        </p:nvSpPr>
        <p:spPr>
          <a:xfrm>
            <a:off x="5733676" y="4271581"/>
            <a:ext cx="83183" cy="1397699"/>
          </a:xfrm>
          <a:prstGeom prst="rect">
            <a:avLst/>
          </a:prstGeom>
          <a:solidFill>
            <a:srgbClr val="4B5068"/>
          </a:solidFill>
          <a:ln w="12700">
            <a:solidFill>
              <a:srgbClr val="4B5068"/>
            </a:solidFill>
            <a:prstDash val="solid"/>
          </a:ln>
        </p:spPr>
      </p:sp>
      <p:sp>
        <p:nvSpPr>
          <p:cNvPr id="51" name="Shape 49"/>
          <p:cNvSpPr/>
          <p:nvPr/>
        </p:nvSpPr>
        <p:spPr>
          <a:xfrm>
            <a:off x="5843127" y="4301861"/>
            <a:ext cx="83183" cy="1367419"/>
          </a:xfrm>
          <a:prstGeom prst="rect">
            <a:avLst/>
          </a:prstGeom>
          <a:solidFill>
            <a:srgbClr val="4B5068"/>
          </a:solidFill>
          <a:ln w="12700">
            <a:solidFill>
              <a:srgbClr val="4B5068"/>
            </a:solidFill>
            <a:prstDash val="solid"/>
          </a:ln>
        </p:spPr>
      </p:sp>
      <p:sp>
        <p:nvSpPr>
          <p:cNvPr id="52" name="Shape 50"/>
          <p:cNvSpPr/>
          <p:nvPr/>
        </p:nvSpPr>
        <p:spPr>
          <a:xfrm>
            <a:off x="5952578" y="4256189"/>
            <a:ext cx="83183" cy="1413091"/>
          </a:xfrm>
          <a:prstGeom prst="rect">
            <a:avLst/>
          </a:prstGeom>
          <a:solidFill>
            <a:srgbClr val="4B5068"/>
          </a:solidFill>
          <a:ln w="12700">
            <a:solidFill>
              <a:srgbClr val="4B5068"/>
            </a:solidFill>
            <a:prstDash val="solid"/>
          </a:ln>
        </p:spPr>
      </p:sp>
      <p:sp>
        <p:nvSpPr>
          <p:cNvPr id="53" name="Shape 51"/>
          <p:cNvSpPr/>
          <p:nvPr/>
        </p:nvSpPr>
        <p:spPr>
          <a:xfrm>
            <a:off x="6062029" y="4253081"/>
            <a:ext cx="83183" cy="1416199"/>
          </a:xfrm>
          <a:prstGeom prst="rect">
            <a:avLst/>
          </a:prstGeom>
          <a:solidFill>
            <a:srgbClr val="4B5068"/>
          </a:solidFill>
          <a:ln w="12700">
            <a:solidFill>
              <a:srgbClr val="4B5068"/>
            </a:solidFill>
            <a:prstDash val="solid"/>
          </a:ln>
        </p:spPr>
      </p:sp>
      <p:sp>
        <p:nvSpPr>
          <p:cNvPr id="54" name="Shape 52"/>
          <p:cNvSpPr/>
          <p:nvPr/>
        </p:nvSpPr>
        <p:spPr>
          <a:xfrm>
            <a:off x="6171480" y="4317966"/>
            <a:ext cx="83183" cy="1351314"/>
          </a:xfrm>
          <a:prstGeom prst="rect">
            <a:avLst/>
          </a:prstGeom>
          <a:solidFill>
            <a:srgbClr val="4B5068"/>
          </a:solidFill>
          <a:ln w="12700">
            <a:solidFill>
              <a:srgbClr val="4B5068"/>
            </a:solidFill>
            <a:prstDash val="solid"/>
          </a:ln>
        </p:spPr>
      </p:sp>
      <p:sp>
        <p:nvSpPr>
          <p:cNvPr id="55" name="Shape 53"/>
          <p:cNvSpPr/>
          <p:nvPr/>
        </p:nvSpPr>
        <p:spPr>
          <a:xfrm>
            <a:off x="6280930" y="4419583"/>
            <a:ext cx="83183" cy="1249697"/>
          </a:xfrm>
          <a:prstGeom prst="rect">
            <a:avLst/>
          </a:prstGeom>
          <a:solidFill>
            <a:srgbClr val="4B5068"/>
          </a:solidFill>
          <a:ln w="12700">
            <a:solidFill>
              <a:srgbClr val="4B5068"/>
            </a:solidFill>
            <a:prstDash val="solid"/>
          </a:ln>
        </p:spPr>
      </p:sp>
      <p:sp>
        <p:nvSpPr>
          <p:cNvPr id="56" name="Shape 54"/>
          <p:cNvSpPr/>
          <p:nvPr/>
        </p:nvSpPr>
        <p:spPr>
          <a:xfrm>
            <a:off x="6390381" y="4388621"/>
            <a:ext cx="83183" cy="1280659"/>
          </a:xfrm>
          <a:prstGeom prst="rect">
            <a:avLst/>
          </a:prstGeom>
          <a:solidFill>
            <a:srgbClr val="4B5068"/>
          </a:solidFill>
          <a:ln w="12700">
            <a:solidFill>
              <a:srgbClr val="4B5068"/>
            </a:solidFill>
            <a:prstDash val="solid"/>
          </a:ln>
        </p:spPr>
      </p:sp>
      <p:sp>
        <p:nvSpPr>
          <p:cNvPr id="57" name="Shape 55"/>
          <p:cNvSpPr/>
          <p:nvPr/>
        </p:nvSpPr>
        <p:spPr>
          <a:xfrm>
            <a:off x="6499832" y="4468255"/>
            <a:ext cx="83183" cy="1201025"/>
          </a:xfrm>
          <a:prstGeom prst="rect">
            <a:avLst/>
          </a:prstGeom>
          <a:solidFill>
            <a:srgbClr val="4B5068"/>
          </a:solidFill>
          <a:ln w="12700">
            <a:solidFill>
              <a:srgbClr val="4B5068"/>
            </a:solidFill>
            <a:prstDash val="solid"/>
          </a:ln>
        </p:spPr>
      </p:sp>
      <p:sp>
        <p:nvSpPr>
          <p:cNvPr id="58" name="Shape 56"/>
          <p:cNvSpPr/>
          <p:nvPr/>
        </p:nvSpPr>
        <p:spPr>
          <a:xfrm>
            <a:off x="6609283" y="4403675"/>
            <a:ext cx="83183" cy="1265605"/>
          </a:xfrm>
          <a:prstGeom prst="rect">
            <a:avLst/>
          </a:prstGeom>
          <a:solidFill>
            <a:srgbClr val="4B5068"/>
          </a:solidFill>
          <a:ln w="12700">
            <a:solidFill>
              <a:srgbClr val="4B5068"/>
            </a:solidFill>
            <a:prstDash val="solid"/>
          </a:ln>
        </p:spPr>
      </p:sp>
      <p:sp>
        <p:nvSpPr>
          <p:cNvPr id="59" name="Shape 57"/>
          <p:cNvSpPr/>
          <p:nvPr/>
        </p:nvSpPr>
        <p:spPr>
          <a:xfrm>
            <a:off x="6718734" y="4382947"/>
            <a:ext cx="83183" cy="1286333"/>
          </a:xfrm>
          <a:prstGeom prst="rect">
            <a:avLst/>
          </a:prstGeom>
          <a:solidFill>
            <a:srgbClr val="4B5068"/>
          </a:solidFill>
          <a:ln w="12700">
            <a:solidFill>
              <a:srgbClr val="4B5068"/>
            </a:solidFill>
            <a:prstDash val="solid"/>
          </a:ln>
        </p:spPr>
      </p:sp>
      <p:sp>
        <p:nvSpPr>
          <p:cNvPr id="60" name="Shape 58"/>
          <p:cNvSpPr/>
          <p:nvPr/>
        </p:nvSpPr>
        <p:spPr>
          <a:xfrm>
            <a:off x="6828185" y="4358888"/>
            <a:ext cx="83183" cy="1310392"/>
          </a:xfrm>
          <a:prstGeom prst="rect">
            <a:avLst/>
          </a:prstGeom>
          <a:solidFill>
            <a:srgbClr val="4B5068"/>
          </a:solidFill>
          <a:ln w="12700">
            <a:solidFill>
              <a:srgbClr val="4B5068"/>
            </a:solidFill>
            <a:prstDash val="solid"/>
          </a:ln>
        </p:spPr>
      </p:sp>
      <p:sp>
        <p:nvSpPr>
          <p:cNvPr id="61" name="Shape 59"/>
          <p:cNvSpPr/>
          <p:nvPr/>
        </p:nvSpPr>
        <p:spPr>
          <a:xfrm>
            <a:off x="6937636" y="4328213"/>
            <a:ext cx="83183" cy="1341067"/>
          </a:xfrm>
          <a:prstGeom prst="rect">
            <a:avLst/>
          </a:prstGeom>
          <a:solidFill>
            <a:srgbClr val="4B5068"/>
          </a:solidFill>
          <a:ln w="12700">
            <a:solidFill>
              <a:srgbClr val="4B5068"/>
            </a:solidFill>
            <a:prstDash val="solid"/>
          </a:ln>
        </p:spPr>
      </p:sp>
      <p:sp>
        <p:nvSpPr>
          <p:cNvPr id="62" name="Shape 60"/>
          <p:cNvSpPr/>
          <p:nvPr/>
        </p:nvSpPr>
        <p:spPr>
          <a:xfrm>
            <a:off x="7047087" y="4378177"/>
            <a:ext cx="83183" cy="1291103"/>
          </a:xfrm>
          <a:prstGeom prst="rect">
            <a:avLst/>
          </a:prstGeom>
          <a:solidFill>
            <a:srgbClr val="4B5068"/>
          </a:solidFill>
          <a:ln w="12700">
            <a:solidFill>
              <a:srgbClr val="4B5068"/>
            </a:solidFill>
            <a:prstDash val="solid"/>
          </a:ln>
        </p:spPr>
      </p:sp>
      <p:sp>
        <p:nvSpPr>
          <p:cNvPr id="63" name="Shape 61"/>
          <p:cNvSpPr/>
          <p:nvPr/>
        </p:nvSpPr>
        <p:spPr>
          <a:xfrm>
            <a:off x="7156538" y="4397435"/>
            <a:ext cx="83183" cy="1271845"/>
          </a:xfrm>
          <a:prstGeom prst="rect">
            <a:avLst/>
          </a:prstGeom>
          <a:solidFill>
            <a:srgbClr val="4B5068"/>
          </a:solidFill>
          <a:ln w="12700">
            <a:solidFill>
              <a:srgbClr val="4B5068"/>
            </a:solidFill>
            <a:prstDash val="solid"/>
          </a:ln>
        </p:spPr>
      </p:sp>
      <p:sp>
        <p:nvSpPr>
          <p:cNvPr id="64" name="Shape 62"/>
          <p:cNvSpPr/>
          <p:nvPr/>
        </p:nvSpPr>
        <p:spPr>
          <a:xfrm>
            <a:off x="7265989" y="4406465"/>
            <a:ext cx="83183" cy="1262815"/>
          </a:xfrm>
          <a:prstGeom prst="rect">
            <a:avLst/>
          </a:prstGeom>
          <a:solidFill>
            <a:srgbClr val="4B5068"/>
          </a:solidFill>
          <a:ln w="12700">
            <a:solidFill>
              <a:srgbClr val="4B5068"/>
            </a:solidFill>
            <a:prstDash val="solid"/>
          </a:ln>
        </p:spPr>
      </p:sp>
      <p:sp>
        <p:nvSpPr>
          <p:cNvPr id="65" name="Shape 63"/>
          <p:cNvSpPr/>
          <p:nvPr/>
        </p:nvSpPr>
        <p:spPr>
          <a:xfrm>
            <a:off x="7375440" y="4439012"/>
            <a:ext cx="83183" cy="1230268"/>
          </a:xfrm>
          <a:prstGeom prst="rect">
            <a:avLst/>
          </a:prstGeom>
          <a:solidFill>
            <a:srgbClr val="4B5068"/>
          </a:solidFill>
          <a:ln w="12700">
            <a:solidFill>
              <a:srgbClr val="4B5068"/>
            </a:solidFill>
            <a:prstDash val="solid"/>
          </a:ln>
        </p:spPr>
      </p:sp>
      <p:sp>
        <p:nvSpPr>
          <p:cNvPr id="66" name="Shape 64"/>
          <p:cNvSpPr/>
          <p:nvPr/>
        </p:nvSpPr>
        <p:spPr>
          <a:xfrm>
            <a:off x="7484890" y="4504610"/>
            <a:ext cx="83183" cy="1164670"/>
          </a:xfrm>
          <a:prstGeom prst="rect">
            <a:avLst/>
          </a:prstGeom>
          <a:solidFill>
            <a:srgbClr val="4B5068"/>
          </a:solidFill>
          <a:ln w="12700">
            <a:solidFill>
              <a:srgbClr val="4B5068"/>
            </a:solidFill>
            <a:prstDash val="solid"/>
          </a:ln>
        </p:spPr>
      </p:sp>
      <p:sp>
        <p:nvSpPr>
          <p:cNvPr id="67" name="Shape 65"/>
          <p:cNvSpPr/>
          <p:nvPr/>
        </p:nvSpPr>
        <p:spPr>
          <a:xfrm>
            <a:off x="7594341" y="4649880"/>
            <a:ext cx="83183" cy="1019400"/>
          </a:xfrm>
          <a:prstGeom prst="rect">
            <a:avLst/>
          </a:prstGeom>
          <a:solidFill>
            <a:srgbClr val="4B5068"/>
          </a:solidFill>
          <a:ln w="12700">
            <a:solidFill>
              <a:srgbClr val="4B5068"/>
            </a:solidFill>
            <a:prstDash val="solid"/>
          </a:ln>
        </p:spPr>
      </p:sp>
      <p:sp>
        <p:nvSpPr>
          <p:cNvPr id="68" name="Shape 66"/>
          <p:cNvSpPr/>
          <p:nvPr/>
        </p:nvSpPr>
        <p:spPr>
          <a:xfrm>
            <a:off x="7703792" y="4754579"/>
            <a:ext cx="83183" cy="914701"/>
          </a:xfrm>
          <a:prstGeom prst="rect">
            <a:avLst/>
          </a:prstGeom>
          <a:solidFill>
            <a:srgbClr val="27D3BE"/>
          </a:solidFill>
          <a:ln w="12700">
            <a:solidFill>
              <a:srgbClr val="27D3BE"/>
            </a:solidFill>
            <a:prstDash val="solid"/>
          </a:ln>
        </p:spPr>
      </p:sp>
      <p:sp>
        <p:nvSpPr>
          <p:cNvPr id="69" name="Shape 67"/>
          <p:cNvSpPr/>
          <p:nvPr/>
        </p:nvSpPr>
        <p:spPr>
          <a:xfrm>
            <a:off x="7813243" y="4814433"/>
            <a:ext cx="83183" cy="854847"/>
          </a:xfrm>
          <a:prstGeom prst="rect">
            <a:avLst/>
          </a:prstGeom>
          <a:solidFill>
            <a:srgbClr val="4B5068"/>
          </a:solidFill>
          <a:ln w="12700">
            <a:solidFill>
              <a:srgbClr val="4B5068"/>
            </a:solidFill>
            <a:prstDash val="solid"/>
          </a:ln>
        </p:spPr>
      </p:sp>
      <p:sp>
        <p:nvSpPr>
          <p:cNvPr id="70" name="Shape 68"/>
          <p:cNvSpPr/>
          <p:nvPr/>
        </p:nvSpPr>
        <p:spPr>
          <a:xfrm>
            <a:off x="594360" y="5669280"/>
            <a:ext cx="7406640" cy="22860"/>
          </a:xfrm>
          <a:prstGeom prst="rect">
            <a:avLst/>
          </a:prstGeom>
          <a:solidFill>
            <a:srgbClr val="6A6F85"/>
          </a:solidFill>
          <a:ln w="12700">
            <a:solidFill>
              <a:srgbClr val="6A6F85"/>
            </a:solidFill>
            <a:prstDash val="solid"/>
          </a:ln>
        </p:spPr>
      </p:sp>
      <p:sp>
        <p:nvSpPr>
          <p:cNvPr id="71" name="Text 69"/>
          <p:cNvSpPr/>
          <p:nvPr/>
        </p:nvSpPr>
        <p:spPr>
          <a:xfrm>
            <a:off x="866602" y="1942643"/>
            <a:ext cx="1280160" cy="310896"/>
          </a:xfrm>
          <a:prstGeom prst="rect">
            <a:avLst/>
          </a:prstGeom>
          <a:noFill/>
          <a:ln/>
        </p:spPr>
        <p:txBody>
          <a:bodyPr wrap="square" lIns="0" tIns="0" rIns="0" bIns="0" rtlCol="0" anchor="t"/>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527 764</a:t>
            </a:r>
            <a:endParaRPr lang="en-US" sz="1500" dirty="0"/>
          </a:p>
        </p:txBody>
      </p:sp>
      <p:sp>
        <p:nvSpPr>
          <p:cNvPr id="72" name="Text 70"/>
          <p:cNvSpPr/>
          <p:nvPr/>
        </p:nvSpPr>
        <p:spPr>
          <a:xfrm>
            <a:off x="1031471" y="5724144"/>
            <a:ext cx="731520" cy="274320"/>
          </a:xfrm>
          <a:prstGeom prst="rect">
            <a:avLst/>
          </a:prstGeom>
          <a:noFill/>
          <a:ln/>
        </p:spPr>
        <p:txBody>
          <a:bodyPr wrap="square" lIns="0" tIns="0" rIns="0" bIns="0" rtlCol="0" anchor="t"/>
          <a:lstStyle/>
          <a:p>
            <a:pPr algn="ctr" indent="0" marL="0">
              <a:buNone/>
            </a:pPr>
            <a:r>
              <a:rPr lang="en-US" sz="1200" dirty="0">
                <a:solidFill>
                  <a:srgbClr val="D5D8E2"/>
                </a:solidFill>
                <a:latin typeface="Palatino Linotype" pitchFamily="34" charset="0"/>
                <a:ea typeface="Palatino Linotype" pitchFamily="34" charset="-122"/>
                <a:cs typeface="Palatino Linotype" pitchFamily="34" charset="-120"/>
              </a:rPr>
              <a:t>1966</a:t>
            </a:r>
            <a:endParaRPr lang="en-US" sz="1200" dirty="0"/>
          </a:p>
        </p:txBody>
      </p:sp>
      <p:sp>
        <p:nvSpPr>
          <p:cNvPr id="73" name="Text 71"/>
          <p:cNvSpPr/>
          <p:nvPr/>
        </p:nvSpPr>
        <p:spPr>
          <a:xfrm>
            <a:off x="3548842" y="5724144"/>
            <a:ext cx="731520" cy="274320"/>
          </a:xfrm>
          <a:prstGeom prst="rect">
            <a:avLst/>
          </a:prstGeom>
          <a:noFill/>
          <a:ln/>
        </p:spPr>
        <p:txBody>
          <a:bodyPr wrap="square" lIns="0" tIns="0" rIns="0" bIns="0" rtlCol="0" anchor="t"/>
          <a:lstStyle/>
          <a:p>
            <a:pPr algn="ctr" indent="0" marL="0">
              <a:buNone/>
            </a:pPr>
            <a:r>
              <a:rPr lang="en-US" sz="1200" dirty="0">
                <a:solidFill>
                  <a:srgbClr val="D5D8E2"/>
                </a:solidFill>
                <a:latin typeface="Palatino Linotype" pitchFamily="34" charset="0"/>
                <a:ea typeface="Palatino Linotype" pitchFamily="34" charset="-122"/>
                <a:cs typeface="Palatino Linotype" pitchFamily="34" charset="-120"/>
              </a:rPr>
              <a:t>1989</a:t>
            </a:r>
            <a:endParaRPr lang="en-US" sz="1200" dirty="0"/>
          </a:p>
        </p:txBody>
      </p:sp>
      <p:sp>
        <p:nvSpPr>
          <p:cNvPr id="74" name="Text 72"/>
          <p:cNvSpPr/>
          <p:nvPr/>
        </p:nvSpPr>
        <p:spPr>
          <a:xfrm>
            <a:off x="7379624" y="5724144"/>
            <a:ext cx="731520" cy="274320"/>
          </a:xfrm>
          <a:prstGeom prst="rect">
            <a:avLst/>
          </a:prstGeom>
          <a:noFill/>
          <a:ln/>
        </p:spPr>
        <p:txBody>
          <a:bodyPr wrap="square" lIns="0" tIns="0" rIns="0" bIns="0" rtlCol="0" anchor="t"/>
          <a:lstStyle/>
          <a:p>
            <a:pPr algn="ctr" indent="0" marL="0">
              <a:buNone/>
            </a:pPr>
            <a:r>
              <a:rPr lang="en-US" sz="1200" dirty="0">
                <a:solidFill>
                  <a:srgbClr val="D5D8E2"/>
                </a:solidFill>
                <a:latin typeface="Palatino Linotype" pitchFamily="34" charset="0"/>
                <a:ea typeface="Palatino Linotype" pitchFamily="34" charset="-122"/>
                <a:cs typeface="Palatino Linotype" pitchFamily="34" charset="-120"/>
              </a:rPr>
              <a:t>2024</a:t>
            </a:r>
            <a:endParaRPr lang="en-US" sz="1200" dirty="0"/>
          </a:p>
        </p:txBody>
      </p:sp>
      <p:sp>
        <p:nvSpPr>
          <p:cNvPr id="75" name="Text 73"/>
          <p:cNvSpPr/>
          <p:nvPr/>
        </p:nvSpPr>
        <p:spPr>
          <a:xfrm>
            <a:off x="685800" y="1783080"/>
            <a:ext cx="4572000" cy="274320"/>
          </a:xfrm>
          <a:prstGeom prst="rect">
            <a:avLst/>
          </a:prstGeom>
          <a:noFill/>
          <a:ln/>
        </p:spPr>
        <p:txBody>
          <a:bodyPr wrap="square" lIns="0" tIns="0" rIns="0" bIns="0" rtlCol="0" anchor="t"/>
          <a:lstStyle/>
          <a:p>
            <a:pPr indent="0" marL="0">
              <a:buNone/>
            </a:pPr>
            <a:r>
              <a:rPr lang="en-US" sz="1200" i="1" dirty="0">
                <a:solidFill>
                  <a:srgbClr val="959BB0"/>
                </a:solidFill>
                <a:latin typeface="Palatino Linotype" pitchFamily="34" charset="0"/>
                <a:ea typeface="Palatino Linotype" pitchFamily="34" charset="-122"/>
                <a:cs typeface="Palatino Linotype" pitchFamily="34" charset="-120"/>
              </a:rPr>
              <a:t>Născuți vii pe an, România</a:t>
            </a:r>
            <a:endParaRPr lang="en-US" sz="1200" dirty="0"/>
          </a:p>
        </p:txBody>
      </p:sp>
      <p:sp>
        <p:nvSpPr>
          <p:cNvPr id="76" name="Shape 74"/>
          <p:cNvSpPr/>
          <p:nvPr/>
        </p:nvSpPr>
        <p:spPr>
          <a:xfrm>
            <a:off x="8183880" y="1783080"/>
            <a:ext cx="3383280" cy="1234440"/>
          </a:xfrm>
          <a:prstGeom prst="roundRect">
            <a:avLst>
              <a:gd name="adj" fmla="val 6667"/>
            </a:avLst>
          </a:prstGeom>
          <a:solidFill>
            <a:srgbClr val="1D1F2B"/>
          </a:solidFill>
          <a:ln w="12700">
            <a:solidFill>
              <a:srgbClr val="1D1F2B"/>
            </a:solidFill>
            <a:prstDash val="solid"/>
          </a:ln>
        </p:spPr>
      </p:sp>
      <p:sp>
        <p:nvSpPr>
          <p:cNvPr id="77" name="Text 75"/>
          <p:cNvSpPr/>
          <p:nvPr/>
        </p:nvSpPr>
        <p:spPr>
          <a:xfrm>
            <a:off x="8412480" y="1828800"/>
            <a:ext cx="1097280" cy="365760"/>
          </a:xfrm>
          <a:prstGeom prst="rect">
            <a:avLst/>
          </a:prstGeom>
          <a:noFill/>
          <a:ln/>
        </p:spPr>
        <p:txBody>
          <a:bodyPr wrap="square" lIns="0" tIns="0" rIns="0" bIns="0" rtlCol="0" anchor="t"/>
          <a:lstStyle/>
          <a:p>
            <a:pPr indent="0" marL="0">
              <a:buNone/>
            </a:pPr>
            <a:r>
              <a:rPr lang="en-US" sz="1400" b="1" dirty="0">
                <a:solidFill>
                  <a:srgbClr val="FFC24B"/>
                </a:solidFill>
                <a:latin typeface="Palatino Linotype" pitchFamily="34" charset="0"/>
                <a:ea typeface="Palatino Linotype" pitchFamily="34" charset="-122"/>
                <a:cs typeface="Palatino Linotype" pitchFamily="34" charset="-120"/>
              </a:rPr>
              <a:t>1966</a:t>
            </a:r>
            <a:endParaRPr lang="en-US" sz="1400" dirty="0"/>
          </a:p>
        </p:txBody>
      </p:sp>
      <p:sp>
        <p:nvSpPr>
          <p:cNvPr id="78" name="Text 76"/>
          <p:cNvSpPr/>
          <p:nvPr/>
        </p:nvSpPr>
        <p:spPr>
          <a:xfrm>
            <a:off x="8412480" y="2194560"/>
            <a:ext cx="3017520" cy="64008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273 678</a:t>
            </a:r>
            <a:endParaRPr lang="en-US" sz="3200" dirty="0"/>
          </a:p>
        </p:txBody>
      </p:sp>
      <p:sp>
        <p:nvSpPr>
          <p:cNvPr id="79" name="Shape 77"/>
          <p:cNvSpPr/>
          <p:nvPr/>
        </p:nvSpPr>
        <p:spPr>
          <a:xfrm>
            <a:off x="8183880" y="3154680"/>
            <a:ext cx="3383280" cy="1234440"/>
          </a:xfrm>
          <a:prstGeom prst="roundRect">
            <a:avLst>
              <a:gd name="adj" fmla="val 6667"/>
            </a:avLst>
          </a:prstGeom>
          <a:solidFill>
            <a:srgbClr val="1D1F2B"/>
          </a:solidFill>
          <a:ln w="12700">
            <a:solidFill>
              <a:srgbClr val="1D1F2B"/>
            </a:solidFill>
            <a:prstDash val="solid"/>
          </a:ln>
        </p:spPr>
      </p:sp>
      <p:sp>
        <p:nvSpPr>
          <p:cNvPr id="80" name="Text 78"/>
          <p:cNvSpPr/>
          <p:nvPr/>
        </p:nvSpPr>
        <p:spPr>
          <a:xfrm>
            <a:off x="8412480" y="3200400"/>
            <a:ext cx="1097280" cy="365760"/>
          </a:xfrm>
          <a:prstGeom prst="rect">
            <a:avLst/>
          </a:prstGeom>
          <a:noFill/>
          <a:ln/>
        </p:spPr>
        <p:txBody>
          <a:bodyPr wrap="square" lIns="0" tIns="0" rIns="0" bIns="0" rtlCol="0" anchor="t"/>
          <a:lstStyle/>
          <a:p>
            <a:pPr indent="0" marL="0">
              <a:buNone/>
            </a:pPr>
            <a:r>
              <a:rPr lang="en-US" sz="1400" b="1" dirty="0">
                <a:solidFill>
                  <a:srgbClr val="FF4757"/>
                </a:solidFill>
                <a:latin typeface="Palatino Linotype" pitchFamily="34" charset="0"/>
                <a:ea typeface="Palatino Linotype" pitchFamily="34" charset="-122"/>
                <a:cs typeface="Palatino Linotype" pitchFamily="34" charset="-120"/>
              </a:rPr>
              <a:t>1967</a:t>
            </a:r>
            <a:endParaRPr lang="en-US" sz="1400" dirty="0"/>
          </a:p>
        </p:txBody>
      </p:sp>
      <p:sp>
        <p:nvSpPr>
          <p:cNvPr id="81" name="Text 79"/>
          <p:cNvSpPr/>
          <p:nvPr/>
        </p:nvSpPr>
        <p:spPr>
          <a:xfrm>
            <a:off x="8412480" y="3566160"/>
            <a:ext cx="3017520" cy="64008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527 764</a:t>
            </a:r>
            <a:endParaRPr lang="en-US" sz="3200" dirty="0"/>
          </a:p>
        </p:txBody>
      </p:sp>
      <p:sp>
        <p:nvSpPr>
          <p:cNvPr id="82" name="Text 80"/>
          <p:cNvSpPr/>
          <p:nvPr/>
        </p:nvSpPr>
        <p:spPr>
          <a:xfrm>
            <a:off x="8183880" y="4572000"/>
            <a:ext cx="3383280" cy="1280160"/>
          </a:xfrm>
          <a:prstGeom prst="rect">
            <a:avLst/>
          </a:prstGeom>
          <a:noFill/>
          <a:ln/>
        </p:spPr>
        <p:txBody>
          <a:bodyPr wrap="square" lIns="0" tIns="0" rIns="0" bIns="0" rtlCol="0" anchor="t"/>
          <a:lstStyle/>
          <a:p>
            <a:pPr indent="0" marL="0">
              <a:buNone/>
            </a:pPr>
            <a:r>
              <a:rPr lang="en-US" sz="1500" b="1" dirty="0">
                <a:solidFill>
                  <a:srgbClr val="FFC24B"/>
                </a:solidFill>
                <a:latin typeface="Palatino Linotype" pitchFamily="34" charset="0"/>
                <a:ea typeface="Palatino Linotype" pitchFamily="34" charset="-122"/>
                <a:cs typeface="Palatino Linotype" pitchFamily="34" charset="-120"/>
              </a:rPr>
              <a:t>de 1,93 ori mai multe nașteri. Rata brută a natalității: 14,2 → 27,0 la o mie de locuitori.</a:t>
            </a:r>
            <a:endParaRPr lang="en-US" sz="1500" dirty="0"/>
          </a:p>
        </p:txBody>
      </p:sp>
      <p:sp>
        <p:nvSpPr>
          <p:cNvPr id="83" name="Text 81"/>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Sursa: Eurostat, născuți vii (demo_gind). Sunt descrise numai datele; cauzele saltului nu sunt afirmate.</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CAZ CONSTRUIT PENTRU DISCUȚIE</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O noapte de iarnă, la sfârșitul anilor ’80</a:t>
            </a:r>
            <a:endParaRPr lang="en-US" sz="3200" dirty="0"/>
          </a:p>
        </p:txBody>
      </p:sp>
      <p:sp>
        <p:nvSpPr>
          <p:cNvPr id="4" name="Shape 2"/>
          <p:cNvSpPr/>
          <p:nvPr/>
        </p:nvSpPr>
        <p:spPr>
          <a:xfrm>
            <a:off x="594360" y="1783080"/>
            <a:ext cx="6492240" cy="4160520"/>
          </a:xfrm>
          <a:prstGeom prst="roundRect">
            <a:avLst>
              <a:gd name="adj" fmla="val 1978"/>
            </a:avLst>
          </a:prstGeom>
          <a:solidFill>
            <a:srgbClr val="FFFFFF"/>
          </a:solidFill>
          <a:ln w="12700">
            <a:solidFill>
              <a:srgbClr val="FFFFFF"/>
            </a:solidFill>
            <a:prstDash val="solid"/>
          </a:ln>
        </p:spPr>
      </p:sp>
      <p:sp>
        <p:nvSpPr>
          <p:cNvPr id="5" name="Shape 3"/>
          <p:cNvSpPr/>
          <p:nvPr/>
        </p:nvSpPr>
        <p:spPr>
          <a:xfrm>
            <a:off x="594360" y="1783080"/>
            <a:ext cx="91440" cy="4160520"/>
          </a:xfrm>
          <a:prstGeom prst="rect">
            <a:avLst/>
          </a:prstGeom>
          <a:solidFill>
            <a:srgbClr val="FF4757"/>
          </a:solidFill>
          <a:ln w="12700">
            <a:solidFill>
              <a:srgbClr val="FF4757"/>
            </a:solidFill>
            <a:prstDash val="solid"/>
          </a:ln>
        </p:spPr>
      </p:sp>
      <p:sp>
        <p:nvSpPr>
          <p:cNvPr id="6" name="Text 4"/>
          <p:cNvSpPr/>
          <p:nvPr/>
        </p:nvSpPr>
        <p:spPr>
          <a:xfrm>
            <a:off x="960120" y="1920240"/>
            <a:ext cx="5760720" cy="320040"/>
          </a:xfrm>
          <a:prstGeom prst="rect">
            <a:avLst/>
          </a:prstGeom>
          <a:noFill/>
          <a:ln/>
        </p:spPr>
        <p:txBody>
          <a:bodyPr wrap="square" lIns="0" tIns="0" rIns="0" bIns="0" rtlCol="0" anchor="t"/>
          <a:lstStyle/>
          <a:p>
            <a:pPr indent="0" marL="0">
              <a:buNone/>
            </a:pPr>
            <a:r>
              <a:rPr lang="en-US" sz="1200" b="1" spc="200" kern="0" dirty="0">
                <a:solidFill>
                  <a:srgbClr val="B02532"/>
                </a:solidFill>
                <a:latin typeface="Palatino Linotype" pitchFamily="34" charset="0"/>
                <a:ea typeface="Palatino Linotype" pitchFamily="34" charset="-122"/>
                <a:cs typeface="Palatino Linotype" pitchFamily="34" charset="-120"/>
              </a:rPr>
              <a:t>GARDA</a:t>
            </a:r>
            <a:endParaRPr lang="en-US" sz="1200" dirty="0"/>
          </a:p>
        </p:txBody>
      </p:sp>
      <p:sp>
        <p:nvSpPr>
          <p:cNvPr id="7" name="Text 5"/>
          <p:cNvSpPr/>
          <p:nvPr/>
        </p:nvSpPr>
        <p:spPr>
          <a:xfrm>
            <a:off x="960120" y="2331720"/>
            <a:ext cx="5852160" cy="2651760"/>
          </a:xfrm>
          <a:prstGeom prst="rect">
            <a:avLst/>
          </a:prstGeom>
          <a:noFill/>
          <a:ln/>
        </p:spPr>
        <p:txBody>
          <a:bodyPr wrap="square" lIns="0" tIns="0" rIns="0" bIns="0" rtlCol="0" anchor="t"/>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O femeie de treizeci și cinci de ani, mamă a patru copii, ajunge la spitalul județean cu febră, dureri abdominale și sângerare, după o intervenție făcută acasă. Medicul de gardă recunoaște o complicație pe care o vede aproape în fiecare săptămână.</a:t>
            </a:r>
            <a:endParaRPr lang="en-US" sz="1900" dirty="0"/>
          </a:p>
        </p:txBody>
      </p:sp>
      <p:sp>
        <p:nvSpPr>
          <p:cNvPr id="8" name="Shape 6"/>
          <p:cNvSpPr/>
          <p:nvPr/>
        </p:nvSpPr>
        <p:spPr>
          <a:xfrm>
            <a:off x="7360920" y="1783080"/>
            <a:ext cx="4206240" cy="4160520"/>
          </a:xfrm>
          <a:prstGeom prst="roundRect">
            <a:avLst>
              <a:gd name="adj" fmla="val 1978"/>
            </a:avLst>
          </a:prstGeom>
          <a:solidFill>
            <a:srgbClr val="11121A"/>
          </a:solidFill>
          <a:ln w="12700">
            <a:solidFill>
              <a:srgbClr val="11121A"/>
            </a:solidFill>
            <a:prstDash val="solid"/>
          </a:ln>
        </p:spPr>
      </p:sp>
      <p:sp>
        <p:nvSpPr>
          <p:cNvPr id="9" name="Text 7"/>
          <p:cNvSpPr/>
          <p:nvPr/>
        </p:nvSpPr>
        <p:spPr>
          <a:xfrm>
            <a:off x="7635240" y="1920240"/>
            <a:ext cx="3657600" cy="320040"/>
          </a:xfrm>
          <a:prstGeom prst="rect">
            <a:avLst/>
          </a:prstGeom>
          <a:noFill/>
          <a:ln/>
        </p:spPr>
        <p:txBody>
          <a:bodyPr wrap="square" lIns="0" tIns="0" rIns="0" bIns="0" rtlCol="0" anchor="t"/>
          <a:lstStyle/>
          <a:p>
            <a:pPr indent="0" marL="0">
              <a:buNone/>
            </a:pPr>
            <a:r>
              <a:rPr lang="en-US" sz="1200" b="1" spc="200" kern="0" dirty="0">
                <a:solidFill>
                  <a:srgbClr val="FFC24B"/>
                </a:solidFill>
                <a:latin typeface="Palatino Linotype" pitchFamily="34" charset="0"/>
                <a:ea typeface="Palatino Linotype" pitchFamily="34" charset="-122"/>
                <a:cs typeface="Palatino Linotype" pitchFamily="34" charset="-120"/>
              </a:rPr>
              <a:t>MORTALITATEA MATERNĂ · ROMÂNIA, 1990</a:t>
            </a:r>
            <a:endParaRPr lang="en-US" sz="1200" dirty="0"/>
          </a:p>
        </p:txBody>
      </p:sp>
      <p:sp>
        <p:nvSpPr>
          <p:cNvPr id="10" name="Text 8"/>
          <p:cNvSpPr/>
          <p:nvPr/>
        </p:nvSpPr>
        <p:spPr>
          <a:xfrm>
            <a:off x="7635240" y="2377440"/>
            <a:ext cx="3657600" cy="731520"/>
          </a:xfrm>
          <a:prstGeom prst="rect">
            <a:avLst/>
          </a:prstGeom>
          <a:noFill/>
          <a:ln/>
        </p:spPr>
        <p:txBody>
          <a:bodyPr wrap="square" lIns="0" tIns="0" rIns="0" bIns="0" rtlCol="0" anchor="t"/>
          <a:lstStyle/>
          <a:p>
            <a:pPr indent="0" marL="0">
              <a:buNone/>
            </a:pPr>
            <a:r>
              <a:rPr lang="en-US" sz="4400" b="1" dirty="0">
                <a:solidFill>
                  <a:srgbClr val="FF4757"/>
                </a:solidFill>
                <a:latin typeface="Palatino Linotype" pitchFamily="34" charset="0"/>
                <a:ea typeface="Palatino Linotype" pitchFamily="34" charset="-122"/>
                <a:cs typeface="Palatino Linotype" pitchFamily="34" charset="-120"/>
              </a:rPr>
              <a:t>118</a:t>
            </a:r>
            <a:endParaRPr lang="en-US" sz="4400" dirty="0"/>
          </a:p>
        </p:txBody>
      </p:sp>
      <p:sp>
        <p:nvSpPr>
          <p:cNvPr id="11" name="Text 9"/>
          <p:cNvSpPr/>
          <p:nvPr/>
        </p:nvSpPr>
        <p:spPr>
          <a:xfrm>
            <a:off x="7635240" y="3200400"/>
            <a:ext cx="3657600" cy="1280160"/>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decese materne la 100 000 de născuți vii, estimarea Organizației Mondiale a Sănătății pentru 1990.</a:t>
            </a:r>
            <a:endParaRPr lang="en-US" sz="1600" dirty="0"/>
          </a:p>
        </p:txBody>
      </p:sp>
      <p:sp>
        <p:nvSpPr>
          <p:cNvPr id="12" name="Text 10"/>
          <p:cNvSpPr/>
          <p:nvPr/>
        </p:nvSpPr>
        <p:spPr>
          <a:xfrm>
            <a:off x="7635240" y="4526280"/>
            <a:ext cx="3657600" cy="914400"/>
          </a:xfrm>
          <a:prstGeom prst="rect">
            <a:avLst/>
          </a:prstGeom>
          <a:noFill/>
          <a:ln/>
        </p:spPr>
        <p:txBody>
          <a:bodyPr wrap="square" lIns="0" tIns="0" rIns="0" bIns="0" rtlCol="0" anchor="t"/>
          <a:lstStyle/>
          <a:p>
            <a:pPr indent="0" marL="0">
              <a:buNone/>
            </a:pPr>
            <a:r>
              <a:rPr lang="en-US" sz="1600" b="1" dirty="0">
                <a:solidFill>
                  <a:srgbClr val="FFC24B"/>
                </a:solidFill>
                <a:latin typeface="Palatino Linotype" pitchFamily="34" charset="0"/>
                <a:ea typeface="Palatino Linotype" pitchFamily="34" charset="-122"/>
                <a:cs typeface="Palatino Linotype" pitchFamily="34" charset="-120"/>
              </a:rPr>
              <a:t>Cazul ilustrează, la nivelul unei gărzi, ce înseamnă acest nivel.</a:t>
            </a:r>
            <a:endParaRPr lang="en-US" sz="1600" dirty="0"/>
          </a:p>
        </p:txBody>
      </p:sp>
      <p:sp>
        <p:nvSpPr>
          <p:cNvPr id="13" name="Text 11"/>
          <p:cNvSpPr/>
          <p:nvPr/>
        </p:nvSpPr>
        <p:spPr>
          <a:xfrm>
            <a:off x="7635240" y="5440680"/>
            <a:ext cx="3657600" cy="457200"/>
          </a:xfrm>
          <a:prstGeom prst="rect">
            <a:avLst/>
          </a:prstGeom>
          <a:noFill/>
          <a:ln/>
        </p:spPr>
        <p:txBody>
          <a:bodyPr wrap="square" lIns="0" tIns="0" rIns="0" bIns="0" rtlCol="0" anchor="t"/>
          <a:lstStyle/>
          <a:p>
            <a:pPr indent="0" marL="0">
              <a:buNone/>
            </a:pPr>
            <a:r>
              <a:rPr lang="en-US" sz="1100" i="1" dirty="0">
                <a:solidFill>
                  <a:srgbClr val="959BB0"/>
                </a:solidFill>
                <a:latin typeface="Palatino Linotype" pitchFamily="34" charset="0"/>
                <a:ea typeface="Palatino Linotype" pitchFamily="34" charset="-122"/>
                <a:cs typeface="Palatino Linotype" pitchFamily="34" charset="-120"/>
              </a:rPr>
              <a:t>Sursa: OMS, serie estimată. Cazul este construit pentru discuție.</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ACTUL AL DOILEA · DUPĂ CĂDEREA REGIMULUI</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Natalitatea scade, apoi mortalitatea o depășește</a:t>
            </a:r>
            <a:endParaRPr lang="en-US" sz="3200" dirty="0"/>
          </a:p>
        </p:txBody>
      </p:sp>
      <p:sp>
        <p:nvSpPr>
          <p:cNvPr id="4" name="Shape 2"/>
          <p:cNvSpPr/>
          <p:nvPr/>
        </p:nvSpPr>
        <p:spPr>
          <a:xfrm>
            <a:off x="822960" y="2743200"/>
            <a:ext cx="10515600" cy="36576"/>
          </a:xfrm>
          <a:prstGeom prst="rect">
            <a:avLst/>
          </a:prstGeom>
          <a:solidFill>
            <a:srgbClr val="6A6F85"/>
          </a:solidFill>
          <a:ln w="12700">
            <a:solidFill>
              <a:srgbClr val="6A6F85"/>
            </a:solidFill>
            <a:prstDash val="solid"/>
          </a:ln>
        </p:spPr>
      </p:sp>
      <p:sp>
        <p:nvSpPr>
          <p:cNvPr id="5" name="Shape 3"/>
          <p:cNvSpPr/>
          <p:nvPr/>
        </p:nvSpPr>
        <p:spPr>
          <a:xfrm>
            <a:off x="1691640" y="2606040"/>
            <a:ext cx="310896" cy="310896"/>
          </a:xfrm>
          <a:prstGeom prst="ellipse">
            <a:avLst/>
          </a:prstGeom>
          <a:solidFill>
            <a:srgbClr val="FF4757"/>
          </a:solidFill>
          <a:ln/>
        </p:spPr>
      </p:sp>
      <p:sp>
        <p:nvSpPr>
          <p:cNvPr id="6" name="Text 4"/>
          <p:cNvSpPr/>
          <p:nvPr/>
        </p:nvSpPr>
        <p:spPr>
          <a:xfrm>
            <a:off x="594360" y="1920240"/>
            <a:ext cx="2560320" cy="548640"/>
          </a:xfrm>
          <a:prstGeom prst="rect">
            <a:avLst/>
          </a:prstGeom>
          <a:noFill/>
          <a:ln/>
        </p:spPr>
        <p:txBody>
          <a:bodyPr wrap="square" lIns="0" tIns="0" rIns="0" bIns="0" rtlCol="0" anchor="t"/>
          <a:lstStyle/>
          <a:p>
            <a:pPr algn="ctr" indent="0" marL="0">
              <a:buNone/>
            </a:pPr>
            <a:r>
              <a:rPr lang="en-US" sz="3000" b="1" dirty="0">
                <a:solidFill>
                  <a:srgbClr val="FF4757"/>
                </a:solidFill>
                <a:latin typeface="Palatino Linotype" pitchFamily="34" charset="0"/>
                <a:ea typeface="Palatino Linotype" pitchFamily="34" charset="-122"/>
                <a:cs typeface="Palatino Linotype" pitchFamily="34" charset="-120"/>
              </a:rPr>
              <a:t>1989</a:t>
            </a:r>
            <a:endParaRPr lang="en-US" sz="3000" dirty="0"/>
          </a:p>
        </p:txBody>
      </p:sp>
      <p:sp>
        <p:nvSpPr>
          <p:cNvPr id="7" name="Shape 5"/>
          <p:cNvSpPr/>
          <p:nvPr/>
        </p:nvSpPr>
        <p:spPr>
          <a:xfrm>
            <a:off x="594360" y="3200400"/>
            <a:ext cx="2560320" cy="2286000"/>
          </a:xfrm>
          <a:prstGeom prst="roundRect">
            <a:avLst>
              <a:gd name="adj" fmla="val 3600"/>
            </a:avLst>
          </a:prstGeom>
          <a:solidFill>
            <a:srgbClr val="1D1F2B"/>
          </a:solidFill>
          <a:ln w="12700">
            <a:solidFill>
              <a:srgbClr val="1D1F2B"/>
            </a:solidFill>
            <a:prstDash val="solid"/>
          </a:ln>
        </p:spPr>
      </p:sp>
      <p:sp>
        <p:nvSpPr>
          <p:cNvPr id="8" name="Text 6"/>
          <p:cNvSpPr/>
          <p:nvPr/>
        </p:nvSpPr>
        <p:spPr>
          <a:xfrm>
            <a:off x="777240" y="3291840"/>
            <a:ext cx="2194560" cy="365760"/>
          </a:xfrm>
          <a:prstGeom prst="rect">
            <a:avLst/>
          </a:prstGeom>
          <a:noFill/>
          <a:ln/>
        </p:spPr>
        <p:txBody>
          <a:bodyPr wrap="square" lIns="0" tIns="0" rIns="0" bIns="0" rtlCol="0" anchor="t"/>
          <a:lstStyle/>
          <a:p>
            <a:pPr indent="0" marL="0">
              <a:buNone/>
            </a:pPr>
            <a:r>
              <a:rPr lang="en-US" sz="1400" b="1" dirty="0">
                <a:solidFill>
                  <a:srgbClr val="959BB0"/>
                </a:solidFill>
                <a:latin typeface="Palatino Linotype" pitchFamily="34" charset="0"/>
                <a:ea typeface="Palatino Linotype" pitchFamily="34" charset="-122"/>
                <a:cs typeface="Palatino Linotype" pitchFamily="34" charset="-120"/>
              </a:rPr>
              <a:t>Născuți vii</a:t>
            </a:r>
            <a:endParaRPr lang="en-US" sz="1400" dirty="0"/>
          </a:p>
        </p:txBody>
      </p:sp>
      <p:sp>
        <p:nvSpPr>
          <p:cNvPr id="9" name="Text 7"/>
          <p:cNvSpPr/>
          <p:nvPr/>
        </p:nvSpPr>
        <p:spPr>
          <a:xfrm>
            <a:off x="777240" y="3703320"/>
            <a:ext cx="2194560" cy="1645920"/>
          </a:xfrm>
          <a:prstGeom prst="rect">
            <a:avLst/>
          </a:prstGeom>
          <a:noFill/>
          <a:ln/>
        </p:spPr>
        <p:txBody>
          <a:bodyPr wrap="square" lIns="0" tIns="0" rIns="0" bIns="0" rtlCol="0" anchor="t"/>
          <a:lstStyle/>
          <a:p>
            <a:pPr indent="0" marL="0">
              <a:buNone/>
            </a:pPr>
            <a:r>
              <a:rPr lang="en-US" sz="2800" b="1" dirty="0">
                <a:solidFill>
                  <a:srgbClr val="FFFFFF"/>
                </a:solidFill>
                <a:latin typeface="Palatino Linotype" pitchFamily="34" charset="0"/>
                <a:ea typeface="Palatino Linotype" pitchFamily="34" charset="-122"/>
                <a:cs typeface="Palatino Linotype" pitchFamily="34" charset="-120"/>
              </a:rPr>
              <a:t>369 544</a:t>
            </a:r>
            <a:endParaRPr lang="en-US" sz="2800" dirty="0"/>
          </a:p>
        </p:txBody>
      </p:sp>
      <p:sp>
        <p:nvSpPr>
          <p:cNvPr id="10" name="Shape 8"/>
          <p:cNvSpPr/>
          <p:nvPr/>
        </p:nvSpPr>
        <p:spPr>
          <a:xfrm>
            <a:off x="4526280" y="2606040"/>
            <a:ext cx="310896" cy="310896"/>
          </a:xfrm>
          <a:prstGeom prst="ellipse">
            <a:avLst/>
          </a:prstGeom>
          <a:solidFill>
            <a:srgbClr val="FF4757"/>
          </a:solidFill>
          <a:ln/>
        </p:spPr>
      </p:sp>
      <p:sp>
        <p:nvSpPr>
          <p:cNvPr id="11" name="Text 9"/>
          <p:cNvSpPr/>
          <p:nvPr/>
        </p:nvSpPr>
        <p:spPr>
          <a:xfrm>
            <a:off x="3429000" y="1920240"/>
            <a:ext cx="2560320" cy="548640"/>
          </a:xfrm>
          <a:prstGeom prst="rect">
            <a:avLst/>
          </a:prstGeom>
          <a:noFill/>
          <a:ln/>
        </p:spPr>
        <p:txBody>
          <a:bodyPr wrap="square" lIns="0" tIns="0" rIns="0" bIns="0" rtlCol="0" anchor="t"/>
          <a:lstStyle/>
          <a:p>
            <a:pPr algn="ctr" indent="0" marL="0">
              <a:buNone/>
            </a:pPr>
            <a:r>
              <a:rPr lang="en-US" sz="3000" b="1" dirty="0">
                <a:solidFill>
                  <a:srgbClr val="FF4757"/>
                </a:solidFill>
                <a:latin typeface="Palatino Linotype" pitchFamily="34" charset="0"/>
                <a:ea typeface="Palatino Linotype" pitchFamily="34" charset="-122"/>
                <a:cs typeface="Palatino Linotype" pitchFamily="34" charset="-120"/>
              </a:rPr>
              <a:t>1990</a:t>
            </a:r>
            <a:endParaRPr lang="en-US" sz="3000" dirty="0"/>
          </a:p>
        </p:txBody>
      </p:sp>
      <p:sp>
        <p:nvSpPr>
          <p:cNvPr id="12" name="Shape 10"/>
          <p:cNvSpPr/>
          <p:nvPr/>
        </p:nvSpPr>
        <p:spPr>
          <a:xfrm>
            <a:off x="3429000" y="3200400"/>
            <a:ext cx="2560320" cy="2286000"/>
          </a:xfrm>
          <a:prstGeom prst="roundRect">
            <a:avLst>
              <a:gd name="adj" fmla="val 3600"/>
            </a:avLst>
          </a:prstGeom>
          <a:solidFill>
            <a:srgbClr val="1D1F2B"/>
          </a:solidFill>
          <a:ln w="12700">
            <a:solidFill>
              <a:srgbClr val="1D1F2B"/>
            </a:solidFill>
            <a:prstDash val="solid"/>
          </a:ln>
        </p:spPr>
      </p:sp>
      <p:sp>
        <p:nvSpPr>
          <p:cNvPr id="13" name="Text 11"/>
          <p:cNvSpPr/>
          <p:nvPr/>
        </p:nvSpPr>
        <p:spPr>
          <a:xfrm>
            <a:off x="3611880" y="3291840"/>
            <a:ext cx="2194560" cy="365760"/>
          </a:xfrm>
          <a:prstGeom prst="rect">
            <a:avLst/>
          </a:prstGeom>
          <a:noFill/>
          <a:ln/>
        </p:spPr>
        <p:txBody>
          <a:bodyPr wrap="square" lIns="0" tIns="0" rIns="0" bIns="0" rtlCol="0" anchor="t"/>
          <a:lstStyle/>
          <a:p>
            <a:pPr indent="0" marL="0">
              <a:buNone/>
            </a:pPr>
            <a:r>
              <a:rPr lang="en-US" sz="1400" b="1" dirty="0">
                <a:solidFill>
                  <a:srgbClr val="959BB0"/>
                </a:solidFill>
                <a:latin typeface="Palatino Linotype" pitchFamily="34" charset="0"/>
                <a:ea typeface="Palatino Linotype" pitchFamily="34" charset="-122"/>
                <a:cs typeface="Palatino Linotype" pitchFamily="34" charset="-120"/>
              </a:rPr>
              <a:t>Născuți vii</a:t>
            </a:r>
            <a:endParaRPr lang="en-US" sz="1400" dirty="0"/>
          </a:p>
        </p:txBody>
      </p:sp>
      <p:sp>
        <p:nvSpPr>
          <p:cNvPr id="14" name="Text 12"/>
          <p:cNvSpPr/>
          <p:nvPr/>
        </p:nvSpPr>
        <p:spPr>
          <a:xfrm>
            <a:off x="3611880" y="3703320"/>
            <a:ext cx="2194560" cy="1645920"/>
          </a:xfrm>
          <a:prstGeom prst="rect">
            <a:avLst/>
          </a:prstGeom>
          <a:noFill/>
          <a:ln/>
        </p:spPr>
        <p:txBody>
          <a:bodyPr wrap="square" lIns="0" tIns="0" rIns="0" bIns="0" rtlCol="0" anchor="t"/>
          <a:lstStyle/>
          <a:p>
            <a:pPr indent="0" marL="0">
              <a:buNone/>
            </a:pPr>
            <a:r>
              <a:rPr lang="en-US" sz="2800" b="1" dirty="0">
                <a:solidFill>
                  <a:srgbClr val="FFFFFF"/>
                </a:solidFill>
                <a:latin typeface="Palatino Linotype" pitchFamily="34" charset="0"/>
                <a:ea typeface="Palatino Linotype" pitchFamily="34" charset="-122"/>
                <a:cs typeface="Palatino Linotype" pitchFamily="34" charset="-120"/>
              </a:rPr>
              <a:t>314 746</a:t>
            </a:r>
            <a:endParaRPr lang="en-US" sz="2800" dirty="0"/>
          </a:p>
        </p:txBody>
      </p:sp>
      <p:sp>
        <p:nvSpPr>
          <p:cNvPr id="15" name="Shape 13"/>
          <p:cNvSpPr/>
          <p:nvPr/>
        </p:nvSpPr>
        <p:spPr>
          <a:xfrm>
            <a:off x="7360920" y="2606040"/>
            <a:ext cx="310896" cy="310896"/>
          </a:xfrm>
          <a:prstGeom prst="ellipse">
            <a:avLst/>
          </a:prstGeom>
          <a:solidFill>
            <a:srgbClr val="27D3BE"/>
          </a:solidFill>
          <a:ln/>
        </p:spPr>
      </p:sp>
      <p:sp>
        <p:nvSpPr>
          <p:cNvPr id="16" name="Text 14"/>
          <p:cNvSpPr/>
          <p:nvPr/>
        </p:nvSpPr>
        <p:spPr>
          <a:xfrm>
            <a:off x="6263640" y="1920240"/>
            <a:ext cx="2560320" cy="548640"/>
          </a:xfrm>
          <a:prstGeom prst="rect">
            <a:avLst/>
          </a:prstGeom>
          <a:noFill/>
          <a:ln/>
        </p:spPr>
        <p:txBody>
          <a:bodyPr wrap="square" lIns="0" tIns="0" rIns="0" bIns="0" rtlCol="0" anchor="t"/>
          <a:lstStyle/>
          <a:p>
            <a:pPr algn="ctr" indent="0" marL="0">
              <a:buNone/>
            </a:pPr>
            <a:r>
              <a:rPr lang="en-US" sz="3000" b="1" dirty="0">
                <a:solidFill>
                  <a:srgbClr val="27D3BE"/>
                </a:solidFill>
                <a:latin typeface="Palatino Linotype" pitchFamily="34" charset="0"/>
                <a:ea typeface="Palatino Linotype" pitchFamily="34" charset="-122"/>
                <a:cs typeface="Palatino Linotype" pitchFamily="34" charset="-120"/>
              </a:rPr>
              <a:t>1991</a:t>
            </a:r>
            <a:endParaRPr lang="en-US" sz="3000" dirty="0"/>
          </a:p>
        </p:txBody>
      </p:sp>
      <p:sp>
        <p:nvSpPr>
          <p:cNvPr id="17" name="Shape 15"/>
          <p:cNvSpPr/>
          <p:nvPr/>
        </p:nvSpPr>
        <p:spPr>
          <a:xfrm>
            <a:off x="6263640" y="3200400"/>
            <a:ext cx="2560320" cy="2286000"/>
          </a:xfrm>
          <a:prstGeom prst="roundRect">
            <a:avLst>
              <a:gd name="adj" fmla="val 3600"/>
            </a:avLst>
          </a:prstGeom>
          <a:solidFill>
            <a:srgbClr val="1D1F2B"/>
          </a:solidFill>
          <a:ln w="12700">
            <a:solidFill>
              <a:srgbClr val="1D1F2B"/>
            </a:solidFill>
            <a:prstDash val="solid"/>
          </a:ln>
        </p:spPr>
      </p:sp>
      <p:sp>
        <p:nvSpPr>
          <p:cNvPr id="18" name="Text 16"/>
          <p:cNvSpPr/>
          <p:nvPr/>
        </p:nvSpPr>
        <p:spPr>
          <a:xfrm>
            <a:off x="6446520" y="3291840"/>
            <a:ext cx="2194560" cy="365760"/>
          </a:xfrm>
          <a:prstGeom prst="rect">
            <a:avLst/>
          </a:prstGeom>
          <a:noFill/>
          <a:ln/>
        </p:spPr>
        <p:txBody>
          <a:bodyPr wrap="square" lIns="0" tIns="0" rIns="0" bIns="0" rtlCol="0" anchor="t"/>
          <a:lstStyle/>
          <a:p>
            <a:pPr indent="0" marL="0">
              <a:buNone/>
            </a:pPr>
            <a:r>
              <a:rPr lang="en-US" sz="1400" b="1" dirty="0">
                <a:solidFill>
                  <a:srgbClr val="959BB0"/>
                </a:solidFill>
                <a:latin typeface="Palatino Linotype" pitchFamily="34" charset="0"/>
                <a:ea typeface="Palatino Linotype" pitchFamily="34" charset="-122"/>
                <a:cs typeface="Palatino Linotype" pitchFamily="34" charset="-120"/>
              </a:rPr>
              <a:t>Migrația netă, cu ajustarea statistică</a:t>
            </a:r>
            <a:endParaRPr lang="en-US" sz="1400" dirty="0"/>
          </a:p>
        </p:txBody>
      </p:sp>
      <p:sp>
        <p:nvSpPr>
          <p:cNvPr id="19" name="Text 17"/>
          <p:cNvSpPr/>
          <p:nvPr/>
        </p:nvSpPr>
        <p:spPr>
          <a:xfrm>
            <a:off x="6446520" y="3703320"/>
            <a:ext cx="2194560" cy="1645920"/>
          </a:xfrm>
          <a:prstGeom prst="rect">
            <a:avLst/>
          </a:prstGeom>
          <a:noFill/>
          <a:ln/>
        </p:spPr>
        <p:txBody>
          <a:bodyPr wrap="square" lIns="0" tIns="0" rIns="0" bIns="0" rtlCol="0" anchor="t"/>
          <a:lstStyle/>
          <a:p>
            <a:pPr indent="0" marL="0">
              <a:buNone/>
            </a:pPr>
            <a:r>
              <a:rPr lang="en-US" sz="1800" b="1" dirty="0">
                <a:solidFill>
                  <a:srgbClr val="FFFFFF"/>
                </a:solidFill>
                <a:latin typeface="Palatino Linotype" pitchFamily="34" charset="0"/>
                <a:ea typeface="Palatino Linotype" pitchFamily="34" charset="-122"/>
                <a:cs typeface="Palatino Linotype" pitchFamily="34" charset="-120"/>
              </a:rPr>
              <a:t>405 754 de persoane în minus</a:t>
            </a:r>
            <a:endParaRPr lang="en-US" sz="1800" dirty="0"/>
          </a:p>
        </p:txBody>
      </p:sp>
      <p:sp>
        <p:nvSpPr>
          <p:cNvPr id="20" name="Shape 18"/>
          <p:cNvSpPr/>
          <p:nvPr/>
        </p:nvSpPr>
        <p:spPr>
          <a:xfrm>
            <a:off x="10195560" y="2606040"/>
            <a:ext cx="310896" cy="310896"/>
          </a:xfrm>
          <a:prstGeom prst="ellipse">
            <a:avLst/>
          </a:prstGeom>
          <a:solidFill>
            <a:srgbClr val="FFC24B"/>
          </a:solidFill>
          <a:ln/>
        </p:spPr>
      </p:sp>
      <p:sp>
        <p:nvSpPr>
          <p:cNvPr id="21" name="Text 19"/>
          <p:cNvSpPr/>
          <p:nvPr/>
        </p:nvSpPr>
        <p:spPr>
          <a:xfrm>
            <a:off x="9098280" y="1920240"/>
            <a:ext cx="2560320" cy="548640"/>
          </a:xfrm>
          <a:prstGeom prst="rect">
            <a:avLst/>
          </a:prstGeom>
          <a:noFill/>
          <a:ln/>
        </p:spPr>
        <p:txBody>
          <a:bodyPr wrap="square" lIns="0" tIns="0" rIns="0" bIns="0" rtlCol="0" anchor="t"/>
          <a:lstStyle/>
          <a:p>
            <a:pPr algn="ctr" indent="0" marL="0">
              <a:buNone/>
            </a:pPr>
            <a:r>
              <a:rPr lang="en-US" sz="3000" b="1" dirty="0">
                <a:solidFill>
                  <a:srgbClr val="FFC24B"/>
                </a:solidFill>
                <a:latin typeface="Palatino Linotype" pitchFamily="34" charset="0"/>
                <a:ea typeface="Palatino Linotype" pitchFamily="34" charset="-122"/>
                <a:cs typeface="Palatino Linotype" pitchFamily="34" charset="-120"/>
              </a:rPr>
              <a:t>1992</a:t>
            </a:r>
            <a:endParaRPr lang="en-US" sz="3000" dirty="0"/>
          </a:p>
        </p:txBody>
      </p:sp>
      <p:sp>
        <p:nvSpPr>
          <p:cNvPr id="22" name="Shape 20"/>
          <p:cNvSpPr/>
          <p:nvPr/>
        </p:nvSpPr>
        <p:spPr>
          <a:xfrm>
            <a:off x="9098280" y="3200400"/>
            <a:ext cx="2560320" cy="2286000"/>
          </a:xfrm>
          <a:prstGeom prst="roundRect">
            <a:avLst>
              <a:gd name="adj" fmla="val 3600"/>
            </a:avLst>
          </a:prstGeom>
          <a:solidFill>
            <a:srgbClr val="1D1F2B"/>
          </a:solidFill>
          <a:ln w="12700">
            <a:solidFill>
              <a:srgbClr val="1D1F2B"/>
            </a:solidFill>
            <a:prstDash val="solid"/>
          </a:ln>
        </p:spPr>
      </p:sp>
      <p:sp>
        <p:nvSpPr>
          <p:cNvPr id="23" name="Text 21"/>
          <p:cNvSpPr/>
          <p:nvPr/>
        </p:nvSpPr>
        <p:spPr>
          <a:xfrm>
            <a:off x="9281160" y="3291840"/>
            <a:ext cx="2194560" cy="365760"/>
          </a:xfrm>
          <a:prstGeom prst="rect">
            <a:avLst/>
          </a:prstGeom>
          <a:noFill/>
          <a:ln/>
        </p:spPr>
        <p:txBody>
          <a:bodyPr wrap="square" lIns="0" tIns="0" rIns="0" bIns="0" rtlCol="0" anchor="t"/>
          <a:lstStyle/>
          <a:p>
            <a:pPr indent="0" marL="0">
              <a:buNone/>
            </a:pPr>
            <a:r>
              <a:rPr lang="en-US" sz="1400" b="1" dirty="0">
                <a:solidFill>
                  <a:srgbClr val="959BB0"/>
                </a:solidFill>
                <a:latin typeface="Palatino Linotype" pitchFamily="34" charset="0"/>
                <a:ea typeface="Palatino Linotype" pitchFamily="34" charset="-122"/>
                <a:cs typeface="Palatino Linotype" pitchFamily="34" charset="-120"/>
              </a:rPr>
              <a:t>Decese &gt; nașteri</a:t>
            </a:r>
            <a:endParaRPr lang="en-US" sz="1400" dirty="0"/>
          </a:p>
        </p:txBody>
      </p:sp>
      <p:sp>
        <p:nvSpPr>
          <p:cNvPr id="24" name="Text 22"/>
          <p:cNvSpPr/>
          <p:nvPr/>
        </p:nvSpPr>
        <p:spPr>
          <a:xfrm>
            <a:off x="9281160" y="3703320"/>
            <a:ext cx="2194560" cy="1645920"/>
          </a:xfrm>
          <a:prstGeom prst="rect">
            <a:avLst/>
          </a:prstGeom>
          <a:noFill/>
          <a:ln/>
        </p:spPr>
        <p:txBody>
          <a:bodyPr wrap="square" lIns="0" tIns="0" rIns="0" bIns="0" rtlCol="0" anchor="t"/>
          <a:lstStyle/>
          <a:p>
            <a:pPr indent="0" marL="0">
              <a:buNone/>
            </a:pPr>
            <a:r>
              <a:rPr lang="en-US" sz="1800" b="1" dirty="0">
                <a:solidFill>
                  <a:srgbClr val="FFFFFF"/>
                </a:solidFill>
                <a:latin typeface="Palatino Linotype" pitchFamily="34" charset="0"/>
                <a:ea typeface="Palatino Linotype" pitchFamily="34" charset="-122"/>
                <a:cs typeface="Palatino Linotype" pitchFamily="34" charset="-120"/>
              </a:rPr>
              <a:t>pentru prima dată în seria Eurostat</a:t>
            </a:r>
            <a:endParaRPr lang="en-US" sz="1800" dirty="0"/>
          </a:p>
        </p:txBody>
      </p:sp>
      <p:sp>
        <p:nvSpPr>
          <p:cNvPr id="25" name="Text 23"/>
          <p:cNvSpPr/>
          <p:nvPr/>
        </p:nvSpPr>
        <p:spPr>
          <a:xfrm>
            <a:off x="594360" y="5669280"/>
            <a:ext cx="10972800" cy="502920"/>
          </a:xfrm>
          <a:prstGeom prst="rect">
            <a:avLst/>
          </a:prstGeom>
          <a:noFill/>
          <a:ln/>
        </p:spPr>
        <p:txBody>
          <a:bodyPr wrap="square" lIns="0" tIns="0" rIns="0" bIns="0" rtlCol="0" anchor="t"/>
          <a:lstStyle/>
          <a:p>
            <a:pPr indent="0" marL="0">
              <a:buNone/>
            </a:pPr>
            <a:r>
              <a:rPr lang="en-US" sz="1700" dirty="0">
                <a:solidFill>
                  <a:srgbClr val="FFC24B"/>
                </a:solidFill>
                <a:latin typeface="Palatino Linotype" pitchFamily="34" charset="0"/>
                <a:ea typeface="Palatino Linotype" pitchFamily="34" charset="-122"/>
                <a:cs typeface="Palatino Linotype" pitchFamily="34" charset="-120"/>
              </a:rPr>
              <a:t>Fertilitatea a coborât la 1,27 copii pe femeie în 2002.</a:t>
            </a:r>
            <a:endParaRPr lang="en-US" sz="1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ACTUL AL TREILEA · EUROPA ȘI EMIGRAREA</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400" b="1" dirty="0">
                <a:solidFill>
                  <a:srgbClr val="11121A"/>
                </a:solidFill>
                <a:latin typeface="Palatino Linotype" pitchFamily="34" charset="0"/>
                <a:ea typeface="Palatino Linotype" pitchFamily="34" charset="-122"/>
                <a:cs typeface="Palatino Linotype" pitchFamily="34" charset="-120"/>
              </a:rPr>
              <a:t>Bilanțul anului 2024</a:t>
            </a:r>
            <a:endParaRPr lang="en-US" sz="3400" dirty="0"/>
          </a:p>
        </p:txBody>
      </p:sp>
      <p:sp>
        <p:nvSpPr>
          <p:cNvPr id="4" name="Text 2"/>
          <p:cNvSpPr/>
          <p:nvPr/>
        </p:nvSpPr>
        <p:spPr>
          <a:xfrm>
            <a:off x="594360" y="1920240"/>
            <a:ext cx="2834640" cy="45720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Născuți vii</a:t>
            </a:r>
            <a:endParaRPr lang="en-US" sz="1600" dirty="0"/>
          </a:p>
        </p:txBody>
      </p:sp>
      <p:sp>
        <p:nvSpPr>
          <p:cNvPr id="5" name="Shape 3"/>
          <p:cNvSpPr/>
          <p:nvPr/>
        </p:nvSpPr>
        <p:spPr>
          <a:xfrm>
            <a:off x="3520440" y="1984248"/>
            <a:ext cx="1733710" cy="329184"/>
          </a:xfrm>
          <a:prstGeom prst="roundRect">
            <a:avLst>
              <a:gd name="adj" fmla="val 13889"/>
            </a:avLst>
          </a:prstGeom>
          <a:solidFill>
            <a:srgbClr val="FF4757"/>
          </a:solidFill>
          <a:ln w="12700">
            <a:solidFill>
              <a:srgbClr val="FF4757"/>
            </a:solidFill>
            <a:prstDash val="solid"/>
          </a:ln>
        </p:spPr>
      </p:sp>
      <p:sp>
        <p:nvSpPr>
          <p:cNvPr id="6" name="Text 4"/>
          <p:cNvSpPr/>
          <p:nvPr/>
        </p:nvSpPr>
        <p:spPr>
          <a:xfrm>
            <a:off x="5345590" y="1920240"/>
            <a:ext cx="2377440" cy="457200"/>
          </a:xfrm>
          <a:prstGeom prst="rect">
            <a:avLst/>
          </a:prstGeom>
          <a:noFill/>
          <a:ln/>
        </p:spPr>
        <p:txBody>
          <a:bodyPr wrap="square" lIns="0" tIns="0" rIns="0" bIns="0" rtlCol="0" anchor="ctr"/>
          <a:lstStyle/>
          <a:p>
            <a:pPr indent="0" marL="0">
              <a:buNone/>
            </a:pPr>
            <a:r>
              <a:rPr lang="en-US" sz="1600" b="1" dirty="0">
                <a:solidFill>
                  <a:srgbClr val="11121A"/>
                </a:solidFill>
                <a:latin typeface="Palatino Linotype" pitchFamily="34" charset="0"/>
                <a:ea typeface="Palatino Linotype" pitchFamily="34" charset="-122"/>
                <a:cs typeface="Palatino Linotype" pitchFamily="34" charset="-120"/>
              </a:rPr>
              <a:t>143 637</a:t>
            </a:r>
            <a:endParaRPr lang="en-US" sz="1600" dirty="0"/>
          </a:p>
        </p:txBody>
      </p:sp>
      <p:sp>
        <p:nvSpPr>
          <p:cNvPr id="7" name="Text 5"/>
          <p:cNvSpPr/>
          <p:nvPr/>
        </p:nvSpPr>
        <p:spPr>
          <a:xfrm>
            <a:off x="594360" y="2697480"/>
            <a:ext cx="2834640" cy="45720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Decedați</a:t>
            </a:r>
            <a:endParaRPr lang="en-US" sz="1600" dirty="0"/>
          </a:p>
        </p:txBody>
      </p:sp>
      <p:sp>
        <p:nvSpPr>
          <p:cNvPr id="8" name="Shape 6"/>
          <p:cNvSpPr/>
          <p:nvPr/>
        </p:nvSpPr>
        <p:spPr>
          <a:xfrm>
            <a:off x="3520440" y="2761488"/>
            <a:ext cx="2952040" cy="329184"/>
          </a:xfrm>
          <a:prstGeom prst="roundRect">
            <a:avLst>
              <a:gd name="adj" fmla="val 13889"/>
            </a:avLst>
          </a:prstGeom>
          <a:solidFill>
            <a:srgbClr val="11121A"/>
          </a:solidFill>
          <a:ln w="12700">
            <a:solidFill>
              <a:srgbClr val="11121A"/>
            </a:solidFill>
            <a:prstDash val="solid"/>
          </a:ln>
        </p:spPr>
      </p:sp>
      <p:sp>
        <p:nvSpPr>
          <p:cNvPr id="9" name="Text 7"/>
          <p:cNvSpPr/>
          <p:nvPr/>
        </p:nvSpPr>
        <p:spPr>
          <a:xfrm>
            <a:off x="6563920" y="2697480"/>
            <a:ext cx="2377440" cy="457200"/>
          </a:xfrm>
          <a:prstGeom prst="rect">
            <a:avLst/>
          </a:prstGeom>
          <a:noFill/>
          <a:ln/>
        </p:spPr>
        <p:txBody>
          <a:bodyPr wrap="square" lIns="0" tIns="0" rIns="0" bIns="0" rtlCol="0" anchor="ctr"/>
          <a:lstStyle/>
          <a:p>
            <a:pPr indent="0" marL="0">
              <a:buNone/>
            </a:pPr>
            <a:r>
              <a:rPr lang="en-US" sz="1600" b="1" dirty="0">
                <a:solidFill>
                  <a:srgbClr val="11121A"/>
                </a:solidFill>
                <a:latin typeface="Palatino Linotype" pitchFamily="34" charset="0"/>
                <a:ea typeface="Palatino Linotype" pitchFamily="34" charset="-122"/>
                <a:cs typeface="Palatino Linotype" pitchFamily="34" charset="-120"/>
              </a:rPr>
              <a:t>244 575</a:t>
            </a:r>
            <a:endParaRPr lang="en-US" sz="1600" dirty="0"/>
          </a:p>
        </p:txBody>
      </p:sp>
      <p:sp>
        <p:nvSpPr>
          <p:cNvPr id="10" name="Text 8"/>
          <p:cNvSpPr/>
          <p:nvPr/>
        </p:nvSpPr>
        <p:spPr>
          <a:xfrm>
            <a:off x="594360" y="3474720"/>
            <a:ext cx="2834640" cy="45720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Sold migratoriu</a:t>
            </a:r>
            <a:endParaRPr lang="en-US" sz="1600" dirty="0"/>
          </a:p>
        </p:txBody>
      </p:sp>
      <p:sp>
        <p:nvSpPr>
          <p:cNvPr id="11" name="Shape 9"/>
          <p:cNvSpPr/>
          <p:nvPr/>
        </p:nvSpPr>
        <p:spPr>
          <a:xfrm>
            <a:off x="3520440" y="3538728"/>
            <a:ext cx="923518" cy="329184"/>
          </a:xfrm>
          <a:prstGeom prst="roundRect">
            <a:avLst>
              <a:gd name="adj" fmla="val 13889"/>
            </a:avLst>
          </a:prstGeom>
          <a:solidFill>
            <a:srgbClr val="27D3BE"/>
          </a:solidFill>
          <a:ln w="12700">
            <a:solidFill>
              <a:srgbClr val="27D3BE"/>
            </a:solidFill>
            <a:prstDash val="solid"/>
          </a:ln>
        </p:spPr>
      </p:sp>
      <p:sp>
        <p:nvSpPr>
          <p:cNvPr id="12" name="Text 10"/>
          <p:cNvSpPr/>
          <p:nvPr/>
        </p:nvSpPr>
        <p:spPr>
          <a:xfrm>
            <a:off x="4535398" y="3474720"/>
            <a:ext cx="2377440" cy="457200"/>
          </a:xfrm>
          <a:prstGeom prst="rect">
            <a:avLst/>
          </a:prstGeom>
          <a:noFill/>
          <a:ln/>
        </p:spPr>
        <p:txBody>
          <a:bodyPr wrap="square" lIns="0" tIns="0" rIns="0" bIns="0" rtlCol="0" anchor="ctr"/>
          <a:lstStyle/>
          <a:p>
            <a:pPr indent="0" marL="0">
              <a:buNone/>
            </a:pPr>
            <a:r>
              <a:rPr lang="en-US" sz="1600" b="1" dirty="0">
                <a:solidFill>
                  <a:srgbClr val="11121A"/>
                </a:solidFill>
                <a:latin typeface="Palatino Linotype" pitchFamily="34" charset="0"/>
                <a:ea typeface="Palatino Linotype" pitchFamily="34" charset="-122"/>
                <a:cs typeface="Palatino Linotype" pitchFamily="34" charset="-120"/>
              </a:rPr>
              <a:t>+76 513</a:t>
            </a:r>
            <a:endParaRPr lang="en-US" sz="1600" dirty="0"/>
          </a:p>
        </p:txBody>
      </p:sp>
      <p:sp>
        <p:nvSpPr>
          <p:cNvPr id="13" name="Shape 11"/>
          <p:cNvSpPr/>
          <p:nvPr/>
        </p:nvSpPr>
        <p:spPr>
          <a:xfrm>
            <a:off x="594360" y="4343400"/>
            <a:ext cx="6858000" cy="1600200"/>
          </a:xfrm>
          <a:prstGeom prst="roundRect">
            <a:avLst>
              <a:gd name="adj" fmla="val 5143"/>
            </a:avLst>
          </a:prstGeom>
          <a:solidFill>
            <a:srgbClr val="11121A"/>
          </a:solidFill>
          <a:ln w="12700">
            <a:solidFill>
              <a:srgbClr val="11121A"/>
            </a:solidFill>
            <a:prstDash val="solid"/>
          </a:ln>
        </p:spPr>
      </p:sp>
      <p:sp>
        <p:nvSpPr>
          <p:cNvPr id="14" name="Text 12"/>
          <p:cNvSpPr/>
          <p:nvPr/>
        </p:nvSpPr>
        <p:spPr>
          <a:xfrm>
            <a:off x="868680" y="4434840"/>
            <a:ext cx="3657600" cy="365760"/>
          </a:xfrm>
          <a:prstGeom prst="rect">
            <a:avLst/>
          </a:prstGeom>
          <a:noFill/>
          <a:ln/>
        </p:spPr>
        <p:txBody>
          <a:bodyPr wrap="square" lIns="0" tIns="0" rIns="0" bIns="0" rtlCol="0" anchor="t"/>
          <a:lstStyle/>
          <a:p>
            <a:pPr indent="0" marL="0">
              <a:buNone/>
            </a:pPr>
            <a:r>
              <a:rPr lang="en-US" sz="1400" b="1" dirty="0">
                <a:solidFill>
                  <a:srgbClr val="FFC24B"/>
                </a:solidFill>
                <a:latin typeface="Palatino Linotype" pitchFamily="34" charset="0"/>
                <a:ea typeface="Palatino Linotype" pitchFamily="34" charset="-122"/>
                <a:cs typeface="Palatino Linotype" pitchFamily="34" charset="-120"/>
              </a:rPr>
              <a:t>Spor natural, 2024</a:t>
            </a:r>
            <a:endParaRPr lang="en-US" sz="1400" dirty="0"/>
          </a:p>
        </p:txBody>
      </p:sp>
      <p:sp>
        <p:nvSpPr>
          <p:cNvPr id="15" name="Text 13"/>
          <p:cNvSpPr/>
          <p:nvPr/>
        </p:nvSpPr>
        <p:spPr>
          <a:xfrm>
            <a:off x="868680" y="4800600"/>
            <a:ext cx="4114800" cy="822960"/>
          </a:xfrm>
          <a:prstGeom prst="rect">
            <a:avLst/>
          </a:prstGeom>
          <a:noFill/>
          <a:ln/>
        </p:spPr>
        <p:txBody>
          <a:bodyPr wrap="square" lIns="0" tIns="0" rIns="0" bIns="0" rtlCol="0" anchor="t"/>
          <a:lstStyle/>
          <a:p>
            <a:pPr indent="0" marL="0">
              <a:buNone/>
            </a:pPr>
            <a:r>
              <a:rPr lang="en-US" sz="4400" b="1" dirty="0">
                <a:solidFill>
                  <a:srgbClr val="FF4757"/>
                </a:solidFill>
                <a:latin typeface="Palatino Linotype" pitchFamily="34" charset="0"/>
                <a:ea typeface="Palatino Linotype" pitchFamily="34" charset="-122"/>
                <a:cs typeface="Palatino Linotype" pitchFamily="34" charset="-120"/>
              </a:rPr>
              <a:t>minus 100 938</a:t>
            </a:r>
            <a:endParaRPr lang="en-US" sz="4400" dirty="0"/>
          </a:p>
        </p:txBody>
      </p:sp>
      <p:sp>
        <p:nvSpPr>
          <p:cNvPr id="16" name="Text 14"/>
          <p:cNvSpPr/>
          <p:nvPr/>
        </p:nvSpPr>
        <p:spPr>
          <a:xfrm>
            <a:off x="4617720" y="4800600"/>
            <a:ext cx="2743200" cy="822960"/>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rata: minus 5,3 la o mie (UE: minus 2,8)</a:t>
            </a:r>
            <a:endParaRPr lang="en-US" sz="1500" dirty="0"/>
          </a:p>
        </p:txBody>
      </p:sp>
      <p:sp>
        <p:nvSpPr>
          <p:cNvPr id="17" name="Shape 15"/>
          <p:cNvSpPr/>
          <p:nvPr/>
        </p:nvSpPr>
        <p:spPr>
          <a:xfrm>
            <a:off x="7726680" y="1783080"/>
            <a:ext cx="3840480" cy="4160520"/>
          </a:xfrm>
          <a:prstGeom prst="roundRect">
            <a:avLst>
              <a:gd name="adj" fmla="val 2143"/>
            </a:avLst>
          </a:prstGeom>
          <a:solidFill>
            <a:srgbClr val="ECEAE4"/>
          </a:solidFill>
          <a:ln w="12700">
            <a:solidFill>
              <a:srgbClr val="ECEAE4"/>
            </a:solidFill>
            <a:prstDash val="solid"/>
          </a:ln>
        </p:spPr>
      </p:sp>
      <p:sp>
        <p:nvSpPr>
          <p:cNvPr id="18" name="Text 16"/>
          <p:cNvSpPr/>
          <p:nvPr/>
        </p:nvSpPr>
        <p:spPr>
          <a:xfrm>
            <a:off x="8001000" y="1920240"/>
            <a:ext cx="3291840" cy="914400"/>
          </a:xfrm>
          <a:prstGeom prst="rect">
            <a:avLst/>
          </a:prstGeom>
          <a:noFill/>
          <a:ln/>
        </p:spPr>
        <p:txBody>
          <a:bodyPr wrap="square" lIns="0" tIns="0" rIns="0" bIns="0" rtlCol="0" anchor="t"/>
          <a:lstStyle/>
          <a:p>
            <a:pPr indent="0" marL="0">
              <a:buNone/>
            </a:pPr>
            <a:r>
              <a:rPr lang="en-US" sz="5200" b="1" dirty="0">
                <a:solidFill>
                  <a:srgbClr val="B02532"/>
                </a:solidFill>
                <a:latin typeface="Palatino Linotype" pitchFamily="34" charset="0"/>
                <a:ea typeface="Palatino Linotype" pitchFamily="34" charset="-122"/>
                <a:cs typeface="Palatino Linotype" pitchFamily="34" charset="-120"/>
              </a:rPr>
              <a:t>27,2%</a:t>
            </a:r>
            <a:endParaRPr lang="en-US" sz="5200" dirty="0"/>
          </a:p>
        </p:txBody>
      </p:sp>
      <p:sp>
        <p:nvSpPr>
          <p:cNvPr id="19" name="Text 17"/>
          <p:cNvSpPr/>
          <p:nvPr/>
        </p:nvSpPr>
        <p:spPr>
          <a:xfrm>
            <a:off x="8001000" y="2834640"/>
            <a:ext cx="3291840" cy="73152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nașterile din 2024, față de cele din 1967</a:t>
            </a:r>
            <a:endParaRPr lang="en-US" sz="1500" dirty="0"/>
          </a:p>
        </p:txBody>
      </p:sp>
      <p:sp>
        <p:nvSpPr>
          <p:cNvPr id="20" name="Text 18"/>
          <p:cNvSpPr/>
          <p:nvPr/>
        </p:nvSpPr>
        <p:spPr>
          <a:xfrm>
            <a:off x="8001000" y="3749040"/>
            <a:ext cx="3291840" cy="2103120"/>
          </a:xfrm>
          <a:prstGeom prst="rect">
            <a:avLst/>
          </a:prstGeom>
          <a:noFill/>
          <a:ln/>
        </p:spPr>
        <p:txBody>
          <a:bodyPr wrap="square" lIns="0" tIns="0" rIns="0" bIns="0" rtlCol="0" anchor="t"/>
          <a:lstStyle/>
          <a:p>
            <a:pPr indent="0" marL="0">
              <a:buNone/>
            </a:pPr>
            <a:r>
              <a:rPr lang="en-US" sz="1400" dirty="0">
                <a:solidFill>
                  <a:srgbClr val="585A64"/>
                </a:solidFill>
                <a:latin typeface="Palatino Linotype" pitchFamily="34" charset="0"/>
                <a:ea typeface="Palatino Linotype" pitchFamily="34" charset="-122"/>
                <a:cs typeface="Palatino Linotype" pitchFamily="34" charset="-120"/>
              </a:rPr>
              <a:t>În 2025: 134 238 de nașteri (provizoriu). Soldul include o ajustare statistică și nu spune cine sosește: români care se întorc, străini, corecții ale registrelor.</a:t>
            </a:r>
            <a:endParaRPr lang="en-US" sz="1400" dirty="0"/>
          </a:p>
        </p:txBody>
      </p:sp>
      <p:sp>
        <p:nvSpPr>
          <p:cNvPr id="21" name="Text 19"/>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Eurostat, bilanțul demografic (demo_gind).</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LEGĂTURA CU SĂNĂTATEA</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Speranța de viață la naștere, 2024</a:t>
            </a:r>
            <a:endParaRPr lang="en-US" sz="3400" dirty="0"/>
          </a:p>
        </p:txBody>
      </p:sp>
      <p:sp>
        <p:nvSpPr>
          <p:cNvPr id="4" name="Text 2"/>
          <p:cNvSpPr/>
          <p:nvPr/>
        </p:nvSpPr>
        <p:spPr>
          <a:xfrm>
            <a:off x="594360" y="1920240"/>
            <a:ext cx="2743200" cy="45720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România</a:t>
            </a:r>
            <a:endParaRPr lang="en-US" sz="1700" dirty="0"/>
          </a:p>
        </p:txBody>
      </p:sp>
      <p:sp>
        <p:nvSpPr>
          <p:cNvPr id="5" name="Shape 3"/>
          <p:cNvSpPr/>
          <p:nvPr/>
        </p:nvSpPr>
        <p:spPr>
          <a:xfrm>
            <a:off x="3429000" y="1984248"/>
            <a:ext cx="4197096" cy="329184"/>
          </a:xfrm>
          <a:prstGeom prst="roundRect">
            <a:avLst>
              <a:gd name="adj" fmla="val 13889"/>
            </a:avLst>
          </a:prstGeom>
          <a:solidFill>
            <a:srgbClr val="FF4757"/>
          </a:solidFill>
          <a:ln w="12700">
            <a:solidFill>
              <a:srgbClr val="FF4757"/>
            </a:solidFill>
            <a:prstDash val="solid"/>
          </a:ln>
        </p:spPr>
      </p:sp>
      <p:sp>
        <p:nvSpPr>
          <p:cNvPr id="6" name="Text 4"/>
          <p:cNvSpPr/>
          <p:nvPr/>
        </p:nvSpPr>
        <p:spPr>
          <a:xfrm>
            <a:off x="7717536" y="1920240"/>
            <a:ext cx="2377440" cy="457200"/>
          </a:xfrm>
          <a:prstGeom prst="rect">
            <a:avLst/>
          </a:prstGeom>
          <a:noFill/>
          <a:ln/>
        </p:spPr>
        <p:txBody>
          <a:bodyPr wrap="square" lIns="0" tIns="0" rIns="0" bIns="0" rtlCol="0" anchor="ctr"/>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76,5 ani</a:t>
            </a:r>
            <a:endParaRPr lang="en-US" sz="1600" dirty="0"/>
          </a:p>
        </p:txBody>
      </p:sp>
      <p:sp>
        <p:nvSpPr>
          <p:cNvPr id="7" name="Text 5"/>
          <p:cNvSpPr/>
          <p:nvPr/>
        </p:nvSpPr>
        <p:spPr>
          <a:xfrm>
            <a:off x="594360" y="2651760"/>
            <a:ext cx="2743200" cy="45720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Uniunea Europeană</a:t>
            </a:r>
            <a:endParaRPr lang="en-US" sz="1700" dirty="0"/>
          </a:p>
        </p:txBody>
      </p:sp>
      <p:sp>
        <p:nvSpPr>
          <p:cNvPr id="8" name="Shape 6"/>
          <p:cNvSpPr/>
          <p:nvPr/>
        </p:nvSpPr>
        <p:spPr>
          <a:xfrm>
            <a:off x="3429000" y="2715768"/>
            <a:ext cx="4471416" cy="329184"/>
          </a:xfrm>
          <a:prstGeom prst="roundRect">
            <a:avLst>
              <a:gd name="adj" fmla="val 13889"/>
            </a:avLst>
          </a:prstGeom>
          <a:solidFill>
            <a:srgbClr val="27D3BE"/>
          </a:solidFill>
          <a:ln w="12700">
            <a:solidFill>
              <a:srgbClr val="27D3BE"/>
            </a:solidFill>
            <a:prstDash val="solid"/>
          </a:ln>
        </p:spPr>
      </p:sp>
      <p:sp>
        <p:nvSpPr>
          <p:cNvPr id="9" name="Text 7"/>
          <p:cNvSpPr/>
          <p:nvPr/>
        </p:nvSpPr>
        <p:spPr>
          <a:xfrm>
            <a:off x="7991856" y="2651760"/>
            <a:ext cx="2377440" cy="457200"/>
          </a:xfrm>
          <a:prstGeom prst="rect">
            <a:avLst/>
          </a:prstGeom>
          <a:noFill/>
          <a:ln/>
        </p:spPr>
        <p:txBody>
          <a:bodyPr wrap="square" lIns="0" tIns="0" rIns="0" bIns="0" rtlCol="0" anchor="ctr"/>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81,5 ani</a:t>
            </a:r>
            <a:endParaRPr lang="en-US" sz="1600" dirty="0"/>
          </a:p>
        </p:txBody>
      </p:sp>
      <p:sp>
        <p:nvSpPr>
          <p:cNvPr id="10" name="Text 8"/>
          <p:cNvSpPr/>
          <p:nvPr/>
        </p:nvSpPr>
        <p:spPr>
          <a:xfrm>
            <a:off x="594360" y="3383280"/>
            <a:ext cx="2743200" cy="45720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Bărbați, România</a:t>
            </a:r>
            <a:endParaRPr lang="en-US" sz="1700" dirty="0"/>
          </a:p>
        </p:txBody>
      </p:sp>
      <p:sp>
        <p:nvSpPr>
          <p:cNvPr id="11" name="Shape 9"/>
          <p:cNvSpPr/>
          <p:nvPr/>
        </p:nvSpPr>
        <p:spPr>
          <a:xfrm>
            <a:off x="3429000" y="3447288"/>
            <a:ext cx="3994099" cy="329184"/>
          </a:xfrm>
          <a:prstGeom prst="roundRect">
            <a:avLst>
              <a:gd name="adj" fmla="val 13889"/>
            </a:avLst>
          </a:prstGeom>
          <a:solidFill>
            <a:srgbClr val="4B5068"/>
          </a:solidFill>
          <a:ln w="12700">
            <a:solidFill>
              <a:srgbClr val="4B5068"/>
            </a:solidFill>
            <a:prstDash val="solid"/>
          </a:ln>
        </p:spPr>
      </p:sp>
      <p:sp>
        <p:nvSpPr>
          <p:cNvPr id="12" name="Text 10"/>
          <p:cNvSpPr/>
          <p:nvPr/>
        </p:nvSpPr>
        <p:spPr>
          <a:xfrm>
            <a:off x="7514539" y="3383280"/>
            <a:ext cx="2377440" cy="457200"/>
          </a:xfrm>
          <a:prstGeom prst="rect">
            <a:avLst/>
          </a:prstGeom>
          <a:noFill/>
          <a:ln/>
        </p:spPr>
        <p:txBody>
          <a:bodyPr wrap="square" lIns="0" tIns="0" rIns="0" bIns="0" rtlCol="0" anchor="ctr"/>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72,8 ani</a:t>
            </a:r>
            <a:endParaRPr lang="en-US" sz="1600" dirty="0"/>
          </a:p>
        </p:txBody>
      </p:sp>
      <p:sp>
        <p:nvSpPr>
          <p:cNvPr id="13" name="Text 11"/>
          <p:cNvSpPr/>
          <p:nvPr/>
        </p:nvSpPr>
        <p:spPr>
          <a:xfrm>
            <a:off x="594360" y="4114800"/>
            <a:ext cx="2743200" cy="45720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Femei, România</a:t>
            </a:r>
            <a:endParaRPr lang="en-US" sz="1700" dirty="0"/>
          </a:p>
        </p:txBody>
      </p:sp>
      <p:sp>
        <p:nvSpPr>
          <p:cNvPr id="14" name="Shape 12"/>
          <p:cNvSpPr/>
          <p:nvPr/>
        </p:nvSpPr>
        <p:spPr>
          <a:xfrm>
            <a:off x="3429000" y="4178808"/>
            <a:ext cx="4405579" cy="329184"/>
          </a:xfrm>
          <a:prstGeom prst="roundRect">
            <a:avLst>
              <a:gd name="adj" fmla="val 13889"/>
            </a:avLst>
          </a:prstGeom>
          <a:solidFill>
            <a:srgbClr val="4B5068"/>
          </a:solidFill>
          <a:ln w="12700">
            <a:solidFill>
              <a:srgbClr val="4B5068"/>
            </a:solidFill>
            <a:prstDash val="solid"/>
          </a:ln>
        </p:spPr>
      </p:sp>
      <p:sp>
        <p:nvSpPr>
          <p:cNvPr id="15" name="Text 13"/>
          <p:cNvSpPr/>
          <p:nvPr/>
        </p:nvSpPr>
        <p:spPr>
          <a:xfrm>
            <a:off x="7926019" y="4114800"/>
            <a:ext cx="2377440" cy="457200"/>
          </a:xfrm>
          <a:prstGeom prst="rect">
            <a:avLst/>
          </a:prstGeom>
          <a:noFill/>
          <a:ln/>
        </p:spPr>
        <p:txBody>
          <a:bodyPr wrap="square" lIns="0" tIns="0" rIns="0" bIns="0" rtlCol="0" anchor="ctr"/>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80,3 ani</a:t>
            </a:r>
            <a:endParaRPr lang="en-US" sz="1600" dirty="0"/>
          </a:p>
        </p:txBody>
      </p:sp>
      <p:sp>
        <p:nvSpPr>
          <p:cNvPr id="16" name="Shape 14"/>
          <p:cNvSpPr/>
          <p:nvPr/>
        </p:nvSpPr>
        <p:spPr>
          <a:xfrm>
            <a:off x="594360" y="4983480"/>
            <a:ext cx="10972800" cy="1051560"/>
          </a:xfrm>
          <a:prstGeom prst="roundRect">
            <a:avLst>
              <a:gd name="adj" fmla="val 7826"/>
            </a:avLst>
          </a:prstGeom>
          <a:solidFill>
            <a:srgbClr val="1D1F2B"/>
          </a:solidFill>
          <a:ln w="12700">
            <a:solidFill>
              <a:srgbClr val="1D1F2B"/>
            </a:solidFill>
            <a:prstDash val="solid"/>
          </a:ln>
        </p:spPr>
      </p:sp>
      <p:sp>
        <p:nvSpPr>
          <p:cNvPr id="17" name="Text 15"/>
          <p:cNvSpPr/>
          <p:nvPr/>
        </p:nvSpPr>
        <p:spPr>
          <a:xfrm>
            <a:off x="868680" y="4983480"/>
            <a:ext cx="10424160" cy="105156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Diferența de aproape opt ani dintre bărbați și femei ține, în mare parte, de decesele premature ale bărbaților; cauzele lor se discută la cursul 4.</a:t>
            </a:r>
            <a:endParaRPr lang="en-US" sz="1700" dirty="0"/>
          </a:p>
        </p:txBody>
      </p:sp>
      <p:sp>
        <p:nvSpPr>
          <p:cNvPr id="18" name="Text 16"/>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Sursa: Eurostat, speranța de viață la naștere, 2024.</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CITIM UN GRAFIC, FĂRĂ CALCULE</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Trei tipuri de piramidă a vârstelor</a:t>
            </a:r>
            <a:endParaRPr lang="en-US" sz="3200" dirty="0"/>
          </a:p>
        </p:txBody>
      </p:sp>
      <p:sp>
        <p:nvSpPr>
          <p:cNvPr id="4" name="Shape 2"/>
          <p:cNvSpPr/>
          <p:nvPr/>
        </p:nvSpPr>
        <p:spPr>
          <a:xfrm>
            <a:off x="594360" y="1783080"/>
            <a:ext cx="3520440" cy="4206240"/>
          </a:xfrm>
          <a:prstGeom prst="roundRect">
            <a:avLst>
              <a:gd name="adj" fmla="val 2338"/>
            </a:avLst>
          </a:prstGeom>
          <a:solidFill>
            <a:srgbClr val="ECEAE4"/>
          </a:solidFill>
          <a:ln w="12700">
            <a:solidFill>
              <a:srgbClr val="ECEAE4"/>
            </a:solidFill>
            <a:prstDash val="solid"/>
          </a:ln>
        </p:spPr>
      </p:sp>
      <p:sp>
        <p:nvSpPr>
          <p:cNvPr id="5" name="Shape 3"/>
          <p:cNvSpPr/>
          <p:nvPr/>
        </p:nvSpPr>
        <p:spPr>
          <a:xfrm>
            <a:off x="1017727" y="3657600"/>
            <a:ext cx="2673706" cy="237744"/>
          </a:xfrm>
          <a:prstGeom prst="rect">
            <a:avLst/>
          </a:prstGeom>
          <a:solidFill>
            <a:srgbClr val="0E7C6B"/>
          </a:solidFill>
          <a:ln w="12700">
            <a:solidFill>
              <a:srgbClr val="FF4757"/>
            </a:solidFill>
            <a:prstDash val="solid"/>
          </a:ln>
        </p:spPr>
      </p:sp>
      <p:sp>
        <p:nvSpPr>
          <p:cNvPr id="6" name="Shape 4"/>
          <p:cNvSpPr/>
          <p:nvPr/>
        </p:nvSpPr>
        <p:spPr>
          <a:xfrm>
            <a:off x="1173175" y="3383280"/>
            <a:ext cx="2362810" cy="237744"/>
          </a:xfrm>
          <a:prstGeom prst="rect">
            <a:avLst/>
          </a:prstGeom>
          <a:solidFill>
            <a:srgbClr val="0E7C6B"/>
          </a:solidFill>
          <a:ln w="12700">
            <a:solidFill>
              <a:srgbClr val="FF4757"/>
            </a:solidFill>
            <a:prstDash val="solid"/>
          </a:ln>
        </p:spPr>
      </p:sp>
      <p:sp>
        <p:nvSpPr>
          <p:cNvPr id="7" name="Shape 5"/>
          <p:cNvSpPr/>
          <p:nvPr/>
        </p:nvSpPr>
        <p:spPr>
          <a:xfrm>
            <a:off x="1328623" y="3108960"/>
            <a:ext cx="2051914" cy="237744"/>
          </a:xfrm>
          <a:prstGeom prst="rect">
            <a:avLst/>
          </a:prstGeom>
          <a:solidFill>
            <a:srgbClr val="0E7C6B"/>
          </a:solidFill>
          <a:ln w="12700">
            <a:solidFill>
              <a:srgbClr val="FF4757"/>
            </a:solidFill>
            <a:prstDash val="solid"/>
          </a:ln>
        </p:spPr>
      </p:sp>
      <p:sp>
        <p:nvSpPr>
          <p:cNvPr id="8" name="Shape 6"/>
          <p:cNvSpPr/>
          <p:nvPr/>
        </p:nvSpPr>
        <p:spPr>
          <a:xfrm>
            <a:off x="1515161" y="2834640"/>
            <a:ext cx="1678838" cy="237744"/>
          </a:xfrm>
          <a:prstGeom prst="rect">
            <a:avLst/>
          </a:prstGeom>
          <a:solidFill>
            <a:srgbClr val="0E7C6B"/>
          </a:solidFill>
          <a:ln w="12700">
            <a:solidFill>
              <a:srgbClr val="FF4757"/>
            </a:solidFill>
            <a:prstDash val="solid"/>
          </a:ln>
        </p:spPr>
      </p:sp>
      <p:sp>
        <p:nvSpPr>
          <p:cNvPr id="9" name="Shape 7"/>
          <p:cNvSpPr/>
          <p:nvPr/>
        </p:nvSpPr>
        <p:spPr>
          <a:xfrm>
            <a:off x="1701698" y="2560320"/>
            <a:ext cx="1305763" cy="237744"/>
          </a:xfrm>
          <a:prstGeom prst="rect">
            <a:avLst/>
          </a:prstGeom>
          <a:solidFill>
            <a:srgbClr val="0E7C6B"/>
          </a:solidFill>
          <a:ln w="12700">
            <a:solidFill>
              <a:srgbClr val="FF4757"/>
            </a:solidFill>
            <a:prstDash val="solid"/>
          </a:ln>
        </p:spPr>
      </p:sp>
      <p:sp>
        <p:nvSpPr>
          <p:cNvPr id="10" name="Shape 8"/>
          <p:cNvSpPr/>
          <p:nvPr/>
        </p:nvSpPr>
        <p:spPr>
          <a:xfrm>
            <a:off x="1888236" y="2286000"/>
            <a:ext cx="932688" cy="237744"/>
          </a:xfrm>
          <a:prstGeom prst="rect">
            <a:avLst/>
          </a:prstGeom>
          <a:solidFill>
            <a:srgbClr val="0E7C6B"/>
          </a:solidFill>
          <a:ln w="12700">
            <a:solidFill>
              <a:srgbClr val="FF4757"/>
            </a:solidFill>
            <a:prstDash val="solid"/>
          </a:ln>
        </p:spPr>
      </p:sp>
      <p:sp>
        <p:nvSpPr>
          <p:cNvPr id="11" name="Shape 9"/>
          <p:cNvSpPr/>
          <p:nvPr/>
        </p:nvSpPr>
        <p:spPr>
          <a:xfrm>
            <a:off x="2074774" y="2011680"/>
            <a:ext cx="559613" cy="237744"/>
          </a:xfrm>
          <a:prstGeom prst="rect">
            <a:avLst/>
          </a:prstGeom>
          <a:solidFill>
            <a:srgbClr val="0E7C6B"/>
          </a:solidFill>
          <a:ln w="12700">
            <a:solidFill>
              <a:srgbClr val="FF4757"/>
            </a:solidFill>
            <a:prstDash val="solid"/>
          </a:ln>
        </p:spPr>
      </p:sp>
      <p:sp>
        <p:nvSpPr>
          <p:cNvPr id="12" name="Text 10"/>
          <p:cNvSpPr/>
          <p:nvPr/>
        </p:nvSpPr>
        <p:spPr>
          <a:xfrm>
            <a:off x="822960" y="3931920"/>
            <a:ext cx="3063240" cy="411480"/>
          </a:xfrm>
          <a:prstGeom prst="rect">
            <a:avLst/>
          </a:prstGeom>
          <a:noFill/>
          <a:ln/>
        </p:spPr>
        <p:txBody>
          <a:bodyPr wrap="square" lIns="0" tIns="0" rIns="0" bIns="0" rtlCol="0" anchor="t"/>
          <a:lstStyle/>
          <a:p>
            <a:pPr indent="0" marL="0">
              <a:buNone/>
            </a:pPr>
            <a:r>
              <a:rPr lang="en-US" sz="1900" b="1" dirty="0">
                <a:solidFill>
                  <a:srgbClr val="11121A"/>
                </a:solidFill>
                <a:latin typeface="Palatino Linotype" pitchFamily="34" charset="0"/>
                <a:ea typeface="Palatino Linotype" pitchFamily="34" charset="-122"/>
                <a:cs typeface="Palatino Linotype" pitchFamily="34" charset="-120"/>
              </a:rPr>
              <a:t>Expansivă (progresivă)</a:t>
            </a:r>
            <a:endParaRPr lang="en-US" sz="1900" dirty="0"/>
          </a:p>
        </p:txBody>
      </p:sp>
      <p:sp>
        <p:nvSpPr>
          <p:cNvPr id="13" name="Text 11"/>
          <p:cNvSpPr/>
          <p:nvPr/>
        </p:nvSpPr>
        <p:spPr>
          <a:xfrm>
            <a:off x="822960" y="4389120"/>
            <a:ext cx="3063240" cy="1554480"/>
          </a:xfrm>
          <a:prstGeom prst="rect">
            <a:avLst/>
          </a:prstGeom>
          <a:noFill/>
          <a:ln/>
        </p:spPr>
        <p:txBody>
          <a:bodyPr wrap="square" lIns="0" tIns="0" rIns="0" bIns="0" rtlCol="0" anchor="t"/>
          <a:lstStyle/>
          <a:p>
            <a:pPr indent="0" marL="0">
              <a:buNone/>
            </a:pPr>
            <a:r>
              <a:rPr lang="en-US" sz="1400" dirty="0">
                <a:solidFill>
                  <a:srgbClr val="585A64"/>
                </a:solidFill>
                <a:latin typeface="Palatino Linotype" pitchFamily="34" charset="0"/>
                <a:ea typeface="Palatino Linotype" pitchFamily="34" charset="-122"/>
                <a:cs typeface="Palatino Linotype" pitchFamily="34" charset="-120"/>
              </a:rPr>
              <a:t>baza cea mai largă, se îngustează regulat spre vârf: fiecare generație care se naște este mai mare decât cea dinainte</a:t>
            </a:r>
            <a:endParaRPr lang="en-US" sz="1400" dirty="0"/>
          </a:p>
        </p:txBody>
      </p:sp>
      <p:sp>
        <p:nvSpPr>
          <p:cNvPr id="14" name="Shape 12"/>
          <p:cNvSpPr/>
          <p:nvPr/>
        </p:nvSpPr>
        <p:spPr>
          <a:xfrm>
            <a:off x="4389120" y="1783080"/>
            <a:ext cx="3520440" cy="4206240"/>
          </a:xfrm>
          <a:prstGeom prst="roundRect">
            <a:avLst>
              <a:gd name="adj" fmla="val 2338"/>
            </a:avLst>
          </a:prstGeom>
          <a:solidFill>
            <a:srgbClr val="ECEAE4"/>
          </a:solidFill>
          <a:ln w="12700">
            <a:solidFill>
              <a:srgbClr val="ECEAE4"/>
            </a:solidFill>
            <a:prstDash val="solid"/>
          </a:ln>
        </p:spPr>
      </p:sp>
      <p:sp>
        <p:nvSpPr>
          <p:cNvPr id="15" name="Shape 13"/>
          <p:cNvSpPr/>
          <p:nvPr/>
        </p:nvSpPr>
        <p:spPr>
          <a:xfrm>
            <a:off x="5154473" y="3657600"/>
            <a:ext cx="1989734" cy="237744"/>
          </a:xfrm>
          <a:prstGeom prst="rect">
            <a:avLst/>
          </a:prstGeom>
          <a:solidFill>
            <a:srgbClr val="0E7C6B"/>
          </a:solidFill>
          <a:ln w="12700">
            <a:solidFill>
              <a:srgbClr val="FF4757"/>
            </a:solidFill>
            <a:prstDash val="solid"/>
          </a:ln>
        </p:spPr>
      </p:sp>
      <p:sp>
        <p:nvSpPr>
          <p:cNvPr id="16" name="Shape 14"/>
          <p:cNvSpPr/>
          <p:nvPr/>
        </p:nvSpPr>
        <p:spPr>
          <a:xfrm>
            <a:off x="5154473" y="3383280"/>
            <a:ext cx="1989734" cy="237744"/>
          </a:xfrm>
          <a:prstGeom prst="rect">
            <a:avLst/>
          </a:prstGeom>
          <a:solidFill>
            <a:srgbClr val="0E7C6B"/>
          </a:solidFill>
          <a:ln w="12700">
            <a:solidFill>
              <a:srgbClr val="FF4757"/>
            </a:solidFill>
            <a:prstDash val="solid"/>
          </a:ln>
        </p:spPr>
      </p:sp>
      <p:sp>
        <p:nvSpPr>
          <p:cNvPr id="17" name="Shape 15"/>
          <p:cNvSpPr/>
          <p:nvPr/>
        </p:nvSpPr>
        <p:spPr>
          <a:xfrm>
            <a:off x="5154473" y="3108960"/>
            <a:ext cx="1989734" cy="237744"/>
          </a:xfrm>
          <a:prstGeom prst="rect">
            <a:avLst/>
          </a:prstGeom>
          <a:solidFill>
            <a:srgbClr val="0E7C6B"/>
          </a:solidFill>
          <a:ln w="12700">
            <a:solidFill>
              <a:srgbClr val="FF4757"/>
            </a:solidFill>
            <a:prstDash val="solid"/>
          </a:ln>
        </p:spPr>
      </p:sp>
      <p:sp>
        <p:nvSpPr>
          <p:cNvPr id="18" name="Shape 16"/>
          <p:cNvSpPr/>
          <p:nvPr/>
        </p:nvSpPr>
        <p:spPr>
          <a:xfrm>
            <a:off x="5170018" y="2834640"/>
            <a:ext cx="1958645" cy="237744"/>
          </a:xfrm>
          <a:prstGeom prst="rect">
            <a:avLst/>
          </a:prstGeom>
          <a:solidFill>
            <a:srgbClr val="0E7C6B"/>
          </a:solidFill>
          <a:ln w="12700">
            <a:solidFill>
              <a:srgbClr val="FF4757"/>
            </a:solidFill>
            <a:prstDash val="solid"/>
          </a:ln>
        </p:spPr>
      </p:sp>
      <p:sp>
        <p:nvSpPr>
          <p:cNvPr id="19" name="Shape 17"/>
          <p:cNvSpPr/>
          <p:nvPr/>
        </p:nvSpPr>
        <p:spPr>
          <a:xfrm>
            <a:off x="5216652" y="2560320"/>
            <a:ext cx="1865376" cy="237744"/>
          </a:xfrm>
          <a:prstGeom prst="rect">
            <a:avLst/>
          </a:prstGeom>
          <a:solidFill>
            <a:srgbClr val="0E7C6B"/>
          </a:solidFill>
          <a:ln w="12700">
            <a:solidFill>
              <a:srgbClr val="FF4757"/>
            </a:solidFill>
            <a:prstDash val="solid"/>
          </a:ln>
        </p:spPr>
      </p:sp>
      <p:sp>
        <p:nvSpPr>
          <p:cNvPr id="20" name="Shape 18"/>
          <p:cNvSpPr/>
          <p:nvPr/>
        </p:nvSpPr>
        <p:spPr>
          <a:xfrm>
            <a:off x="5372100" y="2286000"/>
            <a:ext cx="1554480" cy="237744"/>
          </a:xfrm>
          <a:prstGeom prst="rect">
            <a:avLst/>
          </a:prstGeom>
          <a:solidFill>
            <a:srgbClr val="0E7C6B"/>
          </a:solidFill>
          <a:ln w="12700">
            <a:solidFill>
              <a:srgbClr val="FF4757"/>
            </a:solidFill>
            <a:prstDash val="solid"/>
          </a:ln>
        </p:spPr>
      </p:sp>
      <p:sp>
        <p:nvSpPr>
          <p:cNvPr id="21" name="Shape 19"/>
          <p:cNvSpPr/>
          <p:nvPr/>
        </p:nvSpPr>
        <p:spPr>
          <a:xfrm>
            <a:off x="5745175" y="2011680"/>
            <a:ext cx="808330" cy="237744"/>
          </a:xfrm>
          <a:prstGeom prst="rect">
            <a:avLst/>
          </a:prstGeom>
          <a:solidFill>
            <a:srgbClr val="0E7C6B"/>
          </a:solidFill>
          <a:ln w="12700">
            <a:solidFill>
              <a:srgbClr val="FF4757"/>
            </a:solidFill>
            <a:prstDash val="solid"/>
          </a:ln>
        </p:spPr>
      </p:sp>
      <p:sp>
        <p:nvSpPr>
          <p:cNvPr id="22" name="Text 20"/>
          <p:cNvSpPr/>
          <p:nvPr/>
        </p:nvSpPr>
        <p:spPr>
          <a:xfrm>
            <a:off x="4617720" y="3931920"/>
            <a:ext cx="3063240" cy="411480"/>
          </a:xfrm>
          <a:prstGeom prst="rect">
            <a:avLst/>
          </a:prstGeom>
          <a:noFill/>
          <a:ln/>
        </p:spPr>
        <p:txBody>
          <a:bodyPr wrap="square" lIns="0" tIns="0" rIns="0" bIns="0" rtlCol="0" anchor="t"/>
          <a:lstStyle/>
          <a:p>
            <a:pPr indent="0" marL="0">
              <a:buNone/>
            </a:pPr>
            <a:r>
              <a:rPr lang="en-US" sz="1900" b="1" dirty="0">
                <a:solidFill>
                  <a:srgbClr val="11121A"/>
                </a:solidFill>
                <a:latin typeface="Palatino Linotype" pitchFamily="34" charset="0"/>
                <a:ea typeface="Palatino Linotype" pitchFamily="34" charset="-122"/>
                <a:cs typeface="Palatino Linotype" pitchFamily="34" charset="-120"/>
              </a:rPr>
              <a:t>Staționară</a:t>
            </a:r>
            <a:endParaRPr lang="en-US" sz="1900" dirty="0"/>
          </a:p>
        </p:txBody>
      </p:sp>
      <p:sp>
        <p:nvSpPr>
          <p:cNvPr id="23" name="Text 21"/>
          <p:cNvSpPr/>
          <p:nvPr/>
        </p:nvSpPr>
        <p:spPr>
          <a:xfrm>
            <a:off x="4617720" y="4389120"/>
            <a:ext cx="3063240" cy="1554480"/>
          </a:xfrm>
          <a:prstGeom prst="rect">
            <a:avLst/>
          </a:prstGeom>
          <a:noFill/>
          <a:ln/>
        </p:spPr>
        <p:txBody>
          <a:bodyPr wrap="square" lIns="0" tIns="0" rIns="0" bIns="0" rtlCol="0" anchor="t"/>
          <a:lstStyle/>
          <a:p>
            <a:pPr indent="0" marL="0">
              <a:buNone/>
            </a:pPr>
            <a:r>
              <a:rPr lang="en-US" sz="1400" dirty="0">
                <a:solidFill>
                  <a:srgbClr val="585A64"/>
                </a:solidFill>
                <a:latin typeface="Palatino Linotype" pitchFamily="34" charset="0"/>
                <a:ea typeface="Palatino Linotype" pitchFamily="34" charset="-122"/>
                <a:cs typeface="Palatino Linotype" pitchFamily="34" charset="-120"/>
              </a:rPr>
              <a:t>bare aproape egale până la vârstele înaintate: nașterile au rămas aproximativ aceleași de la o generație la alta</a:t>
            </a:r>
            <a:endParaRPr lang="en-US" sz="1400" dirty="0"/>
          </a:p>
        </p:txBody>
      </p:sp>
      <p:sp>
        <p:nvSpPr>
          <p:cNvPr id="24" name="Shape 22"/>
          <p:cNvSpPr/>
          <p:nvPr/>
        </p:nvSpPr>
        <p:spPr>
          <a:xfrm>
            <a:off x="8183880" y="1783080"/>
            <a:ext cx="3520440" cy="4206240"/>
          </a:xfrm>
          <a:prstGeom prst="roundRect">
            <a:avLst>
              <a:gd name="adj" fmla="val 2338"/>
            </a:avLst>
          </a:prstGeom>
          <a:solidFill>
            <a:srgbClr val="ECEAE4"/>
          </a:solidFill>
          <a:ln w="12700">
            <a:solidFill>
              <a:srgbClr val="ECEAE4"/>
            </a:solidFill>
            <a:prstDash val="solid"/>
          </a:ln>
        </p:spPr>
      </p:sp>
      <p:sp>
        <p:nvSpPr>
          <p:cNvPr id="25" name="Shape 23"/>
          <p:cNvSpPr/>
          <p:nvPr/>
        </p:nvSpPr>
        <p:spPr>
          <a:xfrm>
            <a:off x="9415577" y="3657600"/>
            <a:ext cx="1057046" cy="237744"/>
          </a:xfrm>
          <a:prstGeom prst="rect">
            <a:avLst/>
          </a:prstGeom>
          <a:solidFill>
            <a:srgbClr val="FF4757"/>
          </a:solidFill>
          <a:ln w="12700">
            <a:solidFill>
              <a:srgbClr val="FF4757"/>
            </a:solidFill>
            <a:prstDash val="solid"/>
          </a:ln>
        </p:spPr>
      </p:sp>
      <p:sp>
        <p:nvSpPr>
          <p:cNvPr id="26" name="Shape 24"/>
          <p:cNvSpPr/>
          <p:nvPr/>
        </p:nvSpPr>
        <p:spPr>
          <a:xfrm>
            <a:off x="9260129" y="3383280"/>
            <a:ext cx="1367942" cy="237744"/>
          </a:xfrm>
          <a:prstGeom prst="rect">
            <a:avLst/>
          </a:prstGeom>
          <a:solidFill>
            <a:srgbClr val="FF4757"/>
          </a:solidFill>
          <a:ln w="12700">
            <a:solidFill>
              <a:srgbClr val="FF4757"/>
            </a:solidFill>
            <a:prstDash val="solid"/>
          </a:ln>
        </p:spPr>
      </p:sp>
      <p:sp>
        <p:nvSpPr>
          <p:cNvPr id="27" name="Shape 25"/>
          <p:cNvSpPr/>
          <p:nvPr/>
        </p:nvSpPr>
        <p:spPr>
          <a:xfrm>
            <a:off x="9073591" y="3108960"/>
            <a:ext cx="1741018" cy="237744"/>
          </a:xfrm>
          <a:prstGeom prst="rect">
            <a:avLst/>
          </a:prstGeom>
          <a:solidFill>
            <a:srgbClr val="FF4757"/>
          </a:solidFill>
          <a:ln w="12700">
            <a:solidFill>
              <a:srgbClr val="FF4757"/>
            </a:solidFill>
            <a:prstDash val="solid"/>
          </a:ln>
        </p:spPr>
      </p:sp>
      <p:sp>
        <p:nvSpPr>
          <p:cNvPr id="28" name="Shape 26"/>
          <p:cNvSpPr/>
          <p:nvPr/>
        </p:nvSpPr>
        <p:spPr>
          <a:xfrm>
            <a:off x="8949233" y="2834640"/>
            <a:ext cx="1989734" cy="237744"/>
          </a:xfrm>
          <a:prstGeom prst="rect">
            <a:avLst/>
          </a:prstGeom>
          <a:solidFill>
            <a:srgbClr val="FF4757"/>
          </a:solidFill>
          <a:ln w="12700">
            <a:solidFill>
              <a:srgbClr val="FF4757"/>
            </a:solidFill>
            <a:prstDash val="solid"/>
          </a:ln>
        </p:spPr>
      </p:sp>
      <p:sp>
        <p:nvSpPr>
          <p:cNvPr id="29" name="Shape 27"/>
          <p:cNvSpPr/>
          <p:nvPr/>
        </p:nvSpPr>
        <p:spPr>
          <a:xfrm>
            <a:off x="9042502" y="2560320"/>
            <a:ext cx="1803197" cy="237744"/>
          </a:xfrm>
          <a:prstGeom prst="rect">
            <a:avLst/>
          </a:prstGeom>
          <a:solidFill>
            <a:srgbClr val="FF4757"/>
          </a:solidFill>
          <a:ln w="12700">
            <a:solidFill>
              <a:srgbClr val="FF4757"/>
            </a:solidFill>
            <a:prstDash val="solid"/>
          </a:ln>
        </p:spPr>
      </p:sp>
      <p:sp>
        <p:nvSpPr>
          <p:cNvPr id="30" name="Shape 28"/>
          <p:cNvSpPr/>
          <p:nvPr/>
        </p:nvSpPr>
        <p:spPr>
          <a:xfrm>
            <a:off x="9291218" y="2286000"/>
            <a:ext cx="1305763" cy="237744"/>
          </a:xfrm>
          <a:prstGeom prst="rect">
            <a:avLst/>
          </a:prstGeom>
          <a:solidFill>
            <a:srgbClr val="FF4757"/>
          </a:solidFill>
          <a:ln w="12700">
            <a:solidFill>
              <a:srgbClr val="FF4757"/>
            </a:solidFill>
            <a:prstDash val="solid"/>
          </a:ln>
        </p:spPr>
      </p:sp>
      <p:sp>
        <p:nvSpPr>
          <p:cNvPr id="31" name="Shape 29"/>
          <p:cNvSpPr/>
          <p:nvPr/>
        </p:nvSpPr>
        <p:spPr>
          <a:xfrm>
            <a:off x="9602114" y="2011680"/>
            <a:ext cx="683971" cy="237744"/>
          </a:xfrm>
          <a:prstGeom prst="rect">
            <a:avLst/>
          </a:prstGeom>
          <a:solidFill>
            <a:srgbClr val="FF4757"/>
          </a:solidFill>
          <a:ln w="12700">
            <a:solidFill>
              <a:srgbClr val="FF4757"/>
            </a:solidFill>
            <a:prstDash val="solid"/>
          </a:ln>
        </p:spPr>
      </p:sp>
      <p:sp>
        <p:nvSpPr>
          <p:cNvPr id="32" name="Text 30"/>
          <p:cNvSpPr/>
          <p:nvPr/>
        </p:nvSpPr>
        <p:spPr>
          <a:xfrm>
            <a:off x="8412480" y="3931920"/>
            <a:ext cx="3063240" cy="411480"/>
          </a:xfrm>
          <a:prstGeom prst="rect">
            <a:avLst/>
          </a:prstGeom>
          <a:noFill/>
          <a:ln/>
        </p:spPr>
        <p:txBody>
          <a:bodyPr wrap="square" lIns="0" tIns="0" rIns="0" bIns="0" rtlCol="0" anchor="t"/>
          <a:lstStyle/>
          <a:p>
            <a:pPr indent="0" marL="0">
              <a:buNone/>
            </a:pPr>
            <a:r>
              <a:rPr lang="en-US" sz="1900" b="1" dirty="0">
                <a:solidFill>
                  <a:srgbClr val="11121A"/>
                </a:solidFill>
                <a:latin typeface="Palatino Linotype" pitchFamily="34" charset="0"/>
                <a:ea typeface="Palatino Linotype" pitchFamily="34" charset="-122"/>
                <a:cs typeface="Palatino Linotype" pitchFamily="34" charset="-120"/>
              </a:rPr>
              <a:t>Constrictivă (regresivă)</a:t>
            </a:r>
            <a:endParaRPr lang="en-US" sz="1900" dirty="0"/>
          </a:p>
        </p:txBody>
      </p:sp>
      <p:sp>
        <p:nvSpPr>
          <p:cNvPr id="33" name="Text 31"/>
          <p:cNvSpPr/>
          <p:nvPr/>
        </p:nvSpPr>
        <p:spPr>
          <a:xfrm>
            <a:off x="8412480" y="4389120"/>
            <a:ext cx="3063240" cy="1554480"/>
          </a:xfrm>
          <a:prstGeom prst="rect">
            <a:avLst/>
          </a:prstGeom>
          <a:noFill/>
          <a:ln/>
        </p:spPr>
        <p:txBody>
          <a:bodyPr wrap="square" lIns="0" tIns="0" rIns="0" bIns="0" rtlCol="0" anchor="t"/>
          <a:lstStyle/>
          <a:p>
            <a:pPr indent="0" marL="0">
              <a:buNone/>
            </a:pPr>
            <a:r>
              <a:rPr lang="en-US" sz="1400" dirty="0">
                <a:solidFill>
                  <a:srgbClr val="585A64"/>
                </a:solidFill>
                <a:latin typeface="Palatino Linotype" pitchFamily="34" charset="0"/>
                <a:ea typeface="Palatino Linotype" pitchFamily="34" charset="-122"/>
                <a:cs typeface="Palatino Linotype" pitchFamily="34" charset="-120"/>
              </a:rPr>
              <a:t>baza mai îngustă decât mijlocul: copiii născuți în ultimii ani sunt mai puțini decât generația părinților lor</a:t>
            </a:r>
            <a:endParaRPr lang="en-US" sz="1400" dirty="0"/>
          </a:p>
        </p:txBody>
      </p:sp>
      <p:sp>
        <p:nvSpPr>
          <p:cNvPr id="34" name="Text 32"/>
          <p:cNvSpPr/>
          <p:nvPr/>
        </p:nvSpPr>
        <p:spPr>
          <a:xfrm>
            <a:off x="594360" y="6126480"/>
            <a:ext cx="10972800" cy="274320"/>
          </a:xfrm>
          <a:prstGeom prst="rect">
            <a:avLst/>
          </a:prstGeom>
          <a:noFill/>
          <a:ln/>
        </p:spPr>
        <p:txBody>
          <a:bodyPr wrap="square" lIns="0" tIns="0" rIns="0" bIns="0" rtlCol="0" anchor="t"/>
          <a:lstStyle/>
          <a:p>
            <a:pPr indent="0" marL="0">
              <a:buNone/>
            </a:pPr>
            <a:r>
              <a:rPr lang="en-US" sz="1100" i="1" dirty="0">
                <a:solidFill>
                  <a:srgbClr val="585A64"/>
                </a:solidFill>
                <a:latin typeface="Palatino Linotype" pitchFamily="34" charset="0"/>
                <a:ea typeface="Palatino Linotype" pitchFamily="34" charset="-122"/>
                <a:cs typeface="Palatino Linotype" pitchFamily="34" charset="-120"/>
              </a:rPr>
              <a:t>Scheme, fără valori; tipurile din fișa disciplinei și din lucrarea practică 2, unde se construiește piramida pe datele unui județ.</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229600" y="292608"/>
            <a:ext cx="3337560" cy="420624"/>
          </a:xfrm>
          <a:prstGeom prst="roundRect">
            <a:avLst>
              <a:gd name="adj" fmla="val 50000"/>
            </a:avLst>
          </a:prstGeom>
          <a:solidFill>
            <a:srgbClr val="FFC24B"/>
          </a:solidFill>
          <a:ln w="12700">
            <a:solidFill>
              <a:srgbClr val="FFC24B"/>
            </a:solidFill>
            <a:prstDash val="solid"/>
          </a:ln>
        </p:spPr>
      </p:sp>
      <p:sp>
        <p:nvSpPr>
          <p:cNvPr id="3" name="Text 1"/>
          <p:cNvSpPr/>
          <p:nvPr/>
        </p:nvSpPr>
        <p:spPr>
          <a:xfrm>
            <a:off x="8229600" y="292608"/>
            <a:ext cx="333756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a:t>
            </a:r>
            <a:endParaRPr lang="en-US" sz="1300" dirty="0"/>
          </a:p>
        </p:txBody>
      </p:sp>
      <p:sp>
        <p:nvSpPr>
          <p:cNvPr id="4" name="Text 2"/>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VOT PE TELEFON</a:t>
            </a:r>
            <a:endParaRPr lang="en-US" sz="1300" dirty="0"/>
          </a:p>
        </p:txBody>
      </p:sp>
      <p:sp>
        <p:nvSpPr>
          <p:cNvPr id="5" name="Text 3"/>
          <p:cNvSpPr/>
          <p:nvPr/>
        </p:nvSpPr>
        <p:spPr>
          <a:xfrm>
            <a:off x="594360" y="713232"/>
            <a:ext cx="7589520" cy="100584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Care dintre aceste trei piramide este a României de astăzi?</a:t>
            </a:r>
            <a:endParaRPr lang="en-US" sz="3000" dirty="0"/>
          </a:p>
        </p:txBody>
      </p:sp>
      <p:sp>
        <p:nvSpPr>
          <p:cNvPr id="6" name="Shape 4"/>
          <p:cNvSpPr/>
          <p:nvPr/>
        </p:nvSpPr>
        <p:spPr>
          <a:xfrm>
            <a:off x="594360" y="1783080"/>
            <a:ext cx="3520440" cy="4206240"/>
          </a:xfrm>
          <a:prstGeom prst="roundRect">
            <a:avLst>
              <a:gd name="adj" fmla="val 2338"/>
            </a:avLst>
          </a:prstGeom>
          <a:solidFill>
            <a:srgbClr val="1D1F2B"/>
          </a:solidFill>
          <a:ln w="12700">
            <a:solidFill>
              <a:srgbClr val="1D1F2B"/>
            </a:solidFill>
            <a:prstDash val="solid"/>
          </a:ln>
        </p:spPr>
      </p:sp>
      <p:sp>
        <p:nvSpPr>
          <p:cNvPr id="7" name="Shape 5"/>
          <p:cNvSpPr/>
          <p:nvPr/>
        </p:nvSpPr>
        <p:spPr>
          <a:xfrm>
            <a:off x="822960" y="1920240"/>
            <a:ext cx="420624" cy="420624"/>
          </a:xfrm>
          <a:prstGeom prst="ellipse">
            <a:avLst/>
          </a:prstGeom>
          <a:solidFill>
            <a:srgbClr val="FFC24B"/>
          </a:solidFill>
          <a:ln/>
        </p:spPr>
      </p:sp>
      <p:sp>
        <p:nvSpPr>
          <p:cNvPr id="8" name="Text 6"/>
          <p:cNvSpPr/>
          <p:nvPr/>
        </p:nvSpPr>
        <p:spPr>
          <a:xfrm>
            <a:off x="822960" y="192024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9" name="Shape 7"/>
          <p:cNvSpPr/>
          <p:nvPr/>
        </p:nvSpPr>
        <p:spPr>
          <a:xfrm>
            <a:off x="1051560" y="5598414"/>
            <a:ext cx="1459515" cy="144272"/>
          </a:xfrm>
          <a:prstGeom prst="rect">
            <a:avLst/>
          </a:prstGeom>
          <a:solidFill>
            <a:srgbClr val="27D3BE"/>
          </a:solidFill>
          <a:ln w="12700">
            <a:solidFill>
              <a:srgbClr val="27D3BE"/>
            </a:solidFill>
            <a:prstDash val="solid"/>
          </a:ln>
        </p:spPr>
      </p:sp>
      <p:sp>
        <p:nvSpPr>
          <p:cNvPr id="10" name="Shape 8"/>
          <p:cNvSpPr/>
          <p:nvPr/>
        </p:nvSpPr>
        <p:spPr>
          <a:xfrm>
            <a:off x="1051560" y="5418074"/>
            <a:ext cx="1466294" cy="144272"/>
          </a:xfrm>
          <a:prstGeom prst="rect">
            <a:avLst/>
          </a:prstGeom>
          <a:solidFill>
            <a:srgbClr val="27D3BE"/>
          </a:solidFill>
          <a:ln w="12700">
            <a:solidFill>
              <a:srgbClr val="27D3BE"/>
            </a:solidFill>
            <a:prstDash val="solid"/>
          </a:ln>
        </p:spPr>
      </p:sp>
      <p:sp>
        <p:nvSpPr>
          <p:cNvPr id="11" name="Shape 9"/>
          <p:cNvSpPr/>
          <p:nvPr/>
        </p:nvSpPr>
        <p:spPr>
          <a:xfrm>
            <a:off x="1051560" y="5237734"/>
            <a:ext cx="1523271" cy="144272"/>
          </a:xfrm>
          <a:prstGeom prst="rect">
            <a:avLst/>
          </a:prstGeom>
          <a:solidFill>
            <a:srgbClr val="27D3BE"/>
          </a:solidFill>
          <a:ln w="12700">
            <a:solidFill>
              <a:srgbClr val="27D3BE"/>
            </a:solidFill>
            <a:prstDash val="solid"/>
          </a:ln>
        </p:spPr>
      </p:sp>
      <p:sp>
        <p:nvSpPr>
          <p:cNvPr id="12" name="Shape 10"/>
          <p:cNvSpPr/>
          <p:nvPr/>
        </p:nvSpPr>
        <p:spPr>
          <a:xfrm>
            <a:off x="1051560" y="5057394"/>
            <a:ext cx="1566357" cy="144272"/>
          </a:xfrm>
          <a:prstGeom prst="rect">
            <a:avLst/>
          </a:prstGeom>
          <a:solidFill>
            <a:srgbClr val="27D3BE"/>
          </a:solidFill>
          <a:ln w="12700">
            <a:solidFill>
              <a:srgbClr val="27D3BE"/>
            </a:solidFill>
            <a:prstDash val="solid"/>
          </a:ln>
        </p:spPr>
      </p:sp>
      <p:sp>
        <p:nvSpPr>
          <p:cNvPr id="13" name="Shape 11"/>
          <p:cNvSpPr/>
          <p:nvPr/>
        </p:nvSpPr>
        <p:spPr>
          <a:xfrm>
            <a:off x="1051560" y="4877054"/>
            <a:ext cx="1924463" cy="144272"/>
          </a:xfrm>
          <a:prstGeom prst="rect">
            <a:avLst/>
          </a:prstGeom>
          <a:solidFill>
            <a:srgbClr val="27D3BE"/>
          </a:solidFill>
          <a:ln w="12700">
            <a:solidFill>
              <a:srgbClr val="27D3BE"/>
            </a:solidFill>
            <a:prstDash val="solid"/>
          </a:ln>
        </p:spPr>
      </p:sp>
      <p:sp>
        <p:nvSpPr>
          <p:cNvPr id="14" name="Shape 12"/>
          <p:cNvSpPr/>
          <p:nvPr/>
        </p:nvSpPr>
        <p:spPr>
          <a:xfrm>
            <a:off x="1051560" y="4696714"/>
            <a:ext cx="1823295" cy="144272"/>
          </a:xfrm>
          <a:prstGeom prst="rect">
            <a:avLst/>
          </a:prstGeom>
          <a:solidFill>
            <a:srgbClr val="27D3BE"/>
          </a:solidFill>
          <a:ln w="12700">
            <a:solidFill>
              <a:srgbClr val="27D3BE"/>
            </a:solidFill>
            <a:prstDash val="solid"/>
          </a:ln>
        </p:spPr>
      </p:sp>
      <p:sp>
        <p:nvSpPr>
          <p:cNvPr id="15" name="Shape 13"/>
          <p:cNvSpPr/>
          <p:nvPr/>
        </p:nvSpPr>
        <p:spPr>
          <a:xfrm>
            <a:off x="1051560" y="4516374"/>
            <a:ext cx="2128962" cy="144272"/>
          </a:xfrm>
          <a:prstGeom prst="rect">
            <a:avLst/>
          </a:prstGeom>
          <a:solidFill>
            <a:srgbClr val="27D3BE"/>
          </a:solidFill>
          <a:ln w="12700">
            <a:solidFill>
              <a:srgbClr val="27D3BE"/>
            </a:solidFill>
            <a:prstDash val="solid"/>
          </a:ln>
        </p:spPr>
      </p:sp>
      <p:sp>
        <p:nvSpPr>
          <p:cNvPr id="16" name="Shape 14"/>
          <p:cNvSpPr/>
          <p:nvPr/>
        </p:nvSpPr>
        <p:spPr>
          <a:xfrm>
            <a:off x="1051560" y="4336034"/>
            <a:ext cx="2141592" cy="144272"/>
          </a:xfrm>
          <a:prstGeom prst="rect">
            <a:avLst/>
          </a:prstGeom>
          <a:solidFill>
            <a:srgbClr val="27D3BE"/>
          </a:solidFill>
          <a:ln w="12700">
            <a:solidFill>
              <a:srgbClr val="27D3BE"/>
            </a:solidFill>
            <a:prstDash val="solid"/>
          </a:ln>
        </p:spPr>
      </p:sp>
      <p:sp>
        <p:nvSpPr>
          <p:cNvPr id="17" name="Shape 15"/>
          <p:cNvSpPr/>
          <p:nvPr/>
        </p:nvSpPr>
        <p:spPr>
          <a:xfrm>
            <a:off x="1051560" y="4155694"/>
            <a:ext cx="2416401" cy="144272"/>
          </a:xfrm>
          <a:prstGeom prst="rect">
            <a:avLst/>
          </a:prstGeom>
          <a:solidFill>
            <a:srgbClr val="27D3BE"/>
          </a:solidFill>
          <a:ln w="12700">
            <a:solidFill>
              <a:srgbClr val="27D3BE"/>
            </a:solidFill>
            <a:prstDash val="solid"/>
          </a:ln>
        </p:spPr>
      </p:sp>
      <p:sp>
        <p:nvSpPr>
          <p:cNvPr id="18" name="Shape 16"/>
          <p:cNvSpPr/>
          <p:nvPr/>
        </p:nvSpPr>
        <p:spPr>
          <a:xfrm>
            <a:off x="1051560" y="3975354"/>
            <a:ext cx="1528700" cy="144272"/>
          </a:xfrm>
          <a:prstGeom prst="rect">
            <a:avLst/>
          </a:prstGeom>
          <a:solidFill>
            <a:srgbClr val="27D3BE"/>
          </a:solidFill>
          <a:ln w="12700">
            <a:solidFill>
              <a:srgbClr val="27D3BE"/>
            </a:solidFill>
            <a:prstDash val="solid"/>
          </a:ln>
        </p:spPr>
      </p:sp>
      <p:sp>
        <p:nvSpPr>
          <p:cNvPr id="19" name="Shape 17"/>
          <p:cNvSpPr/>
          <p:nvPr/>
        </p:nvSpPr>
        <p:spPr>
          <a:xfrm>
            <a:off x="1051560" y="3795014"/>
            <a:ext cx="1898042" cy="144272"/>
          </a:xfrm>
          <a:prstGeom prst="rect">
            <a:avLst/>
          </a:prstGeom>
          <a:solidFill>
            <a:srgbClr val="27D3BE"/>
          </a:solidFill>
          <a:ln w="12700">
            <a:solidFill>
              <a:srgbClr val="27D3BE"/>
            </a:solidFill>
            <a:prstDash val="solid"/>
          </a:ln>
        </p:spPr>
      </p:sp>
      <p:sp>
        <p:nvSpPr>
          <p:cNvPr id="20" name="Shape 18"/>
          <p:cNvSpPr/>
          <p:nvPr/>
        </p:nvSpPr>
        <p:spPr>
          <a:xfrm>
            <a:off x="1051560" y="3614674"/>
            <a:ext cx="2022406" cy="144272"/>
          </a:xfrm>
          <a:prstGeom prst="rect">
            <a:avLst/>
          </a:prstGeom>
          <a:solidFill>
            <a:srgbClr val="27D3BE"/>
          </a:solidFill>
          <a:ln w="12700">
            <a:solidFill>
              <a:srgbClr val="27D3BE"/>
            </a:solidFill>
            <a:prstDash val="solid"/>
          </a:ln>
        </p:spPr>
      </p:sp>
      <p:sp>
        <p:nvSpPr>
          <p:cNvPr id="21" name="Shape 19"/>
          <p:cNvSpPr/>
          <p:nvPr/>
        </p:nvSpPr>
        <p:spPr>
          <a:xfrm>
            <a:off x="1051560" y="3434334"/>
            <a:ext cx="1719443" cy="144272"/>
          </a:xfrm>
          <a:prstGeom prst="rect">
            <a:avLst/>
          </a:prstGeom>
          <a:solidFill>
            <a:srgbClr val="27D3BE"/>
          </a:solidFill>
          <a:ln w="12700">
            <a:solidFill>
              <a:srgbClr val="27D3BE"/>
            </a:solidFill>
            <a:prstDash val="solid"/>
          </a:ln>
        </p:spPr>
      </p:sp>
      <p:sp>
        <p:nvSpPr>
          <p:cNvPr id="22" name="Shape 20"/>
          <p:cNvSpPr/>
          <p:nvPr/>
        </p:nvSpPr>
        <p:spPr>
          <a:xfrm>
            <a:off x="1051560" y="3253994"/>
            <a:ext cx="1247373" cy="144272"/>
          </a:xfrm>
          <a:prstGeom prst="rect">
            <a:avLst/>
          </a:prstGeom>
          <a:solidFill>
            <a:srgbClr val="27D3BE"/>
          </a:solidFill>
          <a:ln w="12700">
            <a:solidFill>
              <a:srgbClr val="27D3BE"/>
            </a:solidFill>
            <a:prstDash val="solid"/>
          </a:ln>
        </p:spPr>
      </p:sp>
      <p:sp>
        <p:nvSpPr>
          <p:cNvPr id="23" name="Shape 21"/>
          <p:cNvSpPr/>
          <p:nvPr/>
        </p:nvSpPr>
        <p:spPr>
          <a:xfrm>
            <a:off x="1051560" y="3073654"/>
            <a:ext cx="1269139" cy="144272"/>
          </a:xfrm>
          <a:prstGeom prst="rect">
            <a:avLst/>
          </a:prstGeom>
          <a:solidFill>
            <a:srgbClr val="27D3BE"/>
          </a:solidFill>
          <a:ln w="12700">
            <a:solidFill>
              <a:srgbClr val="27D3BE"/>
            </a:solidFill>
            <a:prstDash val="solid"/>
          </a:ln>
        </p:spPr>
      </p:sp>
      <p:sp>
        <p:nvSpPr>
          <p:cNvPr id="24" name="Shape 22"/>
          <p:cNvSpPr/>
          <p:nvPr/>
        </p:nvSpPr>
        <p:spPr>
          <a:xfrm>
            <a:off x="1051560" y="2893314"/>
            <a:ext cx="1021982" cy="144272"/>
          </a:xfrm>
          <a:prstGeom prst="rect">
            <a:avLst/>
          </a:prstGeom>
          <a:solidFill>
            <a:srgbClr val="27D3BE"/>
          </a:solidFill>
          <a:ln w="12700">
            <a:solidFill>
              <a:srgbClr val="27D3BE"/>
            </a:solidFill>
            <a:prstDash val="solid"/>
          </a:ln>
        </p:spPr>
      </p:sp>
      <p:sp>
        <p:nvSpPr>
          <p:cNvPr id="25" name="Shape 23"/>
          <p:cNvSpPr/>
          <p:nvPr/>
        </p:nvSpPr>
        <p:spPr>
          <a:xfrm>
            <a:off x="1051560" y="2712974"/>
            <a:ext cx="644297" cy="144272"/>
          </a:xfrm>
          <a:prstGeom prst="rect">
            <a:avLst/>
          </a:prstGeom>
          <a:solidFill>
            <a:srgbClr val="27D3BE"/>
          </a:solidFill>
          <a:ln w="12700">
            <a:solidFill>
              <a:srgbClr val="27D3BE"/>
            </a:solidFill>
            <a:prstDash val="solid"/>
          </a:ln>
        </p:spPr>
      </p:sp>
      <p:sp>
        <p:nvSpPr>
          <p:cNvPr id="26" name="Shape 24"/>
          <p:cNvSpPr/>
          <p:nvPr/>
        </p:nvSpPr>
        <p:spPr>
          <a:xfrm>
            <a:off x="1051560" y="2532634"/>
            <a:ext cx="361529" cy="144272"/>
          </a:xfrm>
          <a:prstGeom prst="rect">
            <a:avLst/>
          </a:prstGeom>
          <a:solidFill>
            <a:srgbClr val="27D3BE"/>
          </a:solidFill>
          <a:ln w="12700">
            <a:solidFill>
              <a:srgbClr val="27D3BE"/>
            </a:solidFill>
            <a:prstDash val="solid"/>
          </a:ln>
        </p:spPr>
      </p:sp>
      <p:sp>
        <p:nvSpPr>
          <p:cNvPr id="27" name="Shape 25"/>
          <p:cNvSpPr/>
          <p:nvPr/>
        </p:nvSpPr>
        <p:spPr>
          <a:xfrm>
            <a:off x="1024128" y="2514600"/>
            <a:ext cx="22860" cy="3246120"/>
          </a:xfrm>
          <a:prstGeom prst="rect">
            <a:avLst/>
          </a:prstGeom>
          <a:solidFill>
            <a:srgbClr val="6A6F85"/>
          </a:solidFill>
          <a:ln w="12700">
            <a:solidFill>
              <a:srgbClr val="6A6F85"/>
            </a:solidFill>
            <a:prstDash val="solid"/>
          </a:ln>
        </p:spPr>
      </p:sp>
      <p:sp>
        <p:nvSpPr>
          <p:cNvPr id="28" name="Shape 26"/>
          <p:cNvSpPr/>
          <p:nvPr/>
        </p:nvSpPr>
        <p:spPr>
          <a:xfrm>
            <a:off x="4389120" y="1783080"/>
            <a:ext cx="3520440" cy="4206240"/>
          </a:xfrm>
          <a:prstGeom prst="roundRect">
            <a:avLst>
              <a:gd name="adj" fmla="val 2338"/>
            </a:avLst>
          </a:prstGeom>
          <a:solidFill>
            <a:srgbClr val="1D1F2B"/>
          </a:solidFill>
          <a:ln w="12700">
            <a:solidFill>
              <a:srgbClr val="1D1F2B"/>
            </a:solidFill>
            <a:prstDash val="solid"/>
          </a:ln>
        </p:spPr>
      </p:sp>
      <p:sp>
        <p:nvSpPr>
          <p:cNvPr id="29" name="Shape 27"/>
          <p:cNvSpPr/>
          <p:nvPr/>
        </p:nvSpPr>
        <p:spPr>
          <a:xfrm>
            <a:off x="4617720" y="1920240"/>
            <a:ext cx="420624" cy="420624"/>
          </a:xfrm>
          <a:prstGeom prst="ellipse">
            <a:avLst/>
          </a:prstGeom>
          <a:solidFill>
            <a:srgbClr val="FFC24B"/>
          </a:solidFill>
          <a:ln/>
        </p:spPr>
      </p:sp>
      <p:sp>
        <p:nvSpPr>
          <p:cNvPr id="30" name="Text 28"/>
          <p:cNvSpPr/>
          <p:nvPr/>
        </p:nvSpPr>
        <p:spPr>
          <a:xfrm>
            <a:off x="4617720" y="192024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31" name="Shape 29"/>
          <p:cNvSpPr/>
          <p:nvPr/>
        </p:nvSpPr>
        <p:spPr>
          <a:xfrm>
            <a:off x="4846320" y="5598414"/>
            <a:ext cx="2513743" cy="144272"/>
          </a:xfrm>
          <a:prstGeom prst="rect">
            <a:avLst/>
          </a:prstGeom>
          <a:solidFill>
            <a:srgbClr val="27D3BE"/>
          </a:solidFill>
          <a:ln w="12700">
            <a:solidFill>
              <a:srgbClr val="27D3BE"/>
            </a:solidFill>
            <a:prstDash val="solid"/>
          </a:ln>
        </p:spPr>
      </p:sp>
      <p:sp>
        <p:nvSpPr>
          <p:cNvPr id="32" name="Shape 30"/>
          <p:cNvSpPr/>
          <p:nvPr/>
        </p:nvSpPr>
        <p:spPr>
          <a:xfrm>
            <a:off x="4846320" y="5418074"/>
            <a:ext cx="2387209" cy="144272"/>
          </a:xfrm>
          <a:prstGeom prst="rect">
            <a:avLst/>
          </a:prstGeom>
          <a:solidFill>
            <a:srgbClr val="27D3BE"/>
          </a:solidFill>
          <a:ln w="12700">
            <a:solidFill>
              <a:srgbClr val="27D3BE"/>
            </a:solidFill>
            <a:prstDash val="solid"/>
          </a:ln>
        </p:spPr>
      </p:sp>
      <p:sp>
        <p:nvSpPr>
          <p:cNvPr id="33" name="Shape 31"/>
          <p:cNvSpPr/>
          <p:nvPr/>
        </p:nvSpPr>
        <p:spPr>
          <a:xfrm>
            <a:off x="4846320" y="5237734"/>
            <a:ext cx="2743200" cy="144272"/>
          </a:xfrm>
          <a:prstGeom prst="rect">
            <a:avLst/>
          </a:prstGeom>
          <a:solidFill>
            <a:srgbClr val="27D3BE"/>
          </a:solidFill>
          <a:ln w="12700">
            <a:solidFill>
              <a:srgbClr val="27D3BE"/>
            </a:solidFill>
            <a:prstDash val="solid"/>
          </a:ln>
        </p:spPr>
      </p:sp>
      <p:sp>
        <p:nvSpPr>
          <p:cNvPr id="34" name="Shape 32"/>
          <p:cNvSpPr/>
          <p:nvPr/>
        </p:nvSpPr>
        <p:spPr>
          <a:xfrm>
            <a:off x="4846320" y="5057394"/>
            <a:ext cx="2629094" cy="144272"/>
          </a:xfrm>
          <a:prstGeom prst="rect">
            <a:avLst/>
          </a:prstGeom>
          <a:solidFill>
            <a:srgbClr val="27D3BE"/>
          </a:solidFill>
          <a:ln w="12700">
            <a:solidFill>
              <a:srgbClr val="27D3BE"/>
            </a:solidFill>
            <a:prstDash val="solid"/>
          </a:ln>
        </p:spPr>
      </p:sp>
      <p:sp>
        <p:nvSpPr>
          <p:cNvPr id="35" name="Shape 33"/>
          <p:cNvSpPr/>
          <p:nvPr/>
        </p:nvSpPr>
        <p:spPr>
          <a:xfrm>
            <a:off x="4846320" y="4877054"/>
            <a:ext cx="2648314" cy="144272"/>
          </a:xfrm>
          <a:prstGeom prst="rect">
            <a:avLst/>
          </a:prstGeom>
          <a:solidFill>
            <a:srgbClr val="27D3BE"/>
          </a:solidFill>
          <a:ln w="12700">
            <a:solidFill>
              <a:srgbClr val="27D3BE"/>
            </a:solidFill>
            <a:prstDash val="solid"/>
          </a:ln>
        </p:spPr>
      </p:sp>
      <p:sp>
        <p:nvSpPr>
          <p:cNvPr id="36" name="Shape 34"/>
          <p:cNvSpPr/>
          <p:nvPr/>
        </p:nvSpPr>
        <p:spPr>
          <a:xfrm>
            <a:off x="4846320" y="4696714"/>
            <a:ext cx="1979093" cy="144272"/>
          </a:xfrm>
          <a:prstGeom prst="rect">
            <a:avLst/>
          </a:prstGeom>
          <a:solidFill>
            <a:srgbClr val="27D3BE"/>
          </a:solidFill>
          <a:ln w="12700">
            <a:solidFill>
              <a:srgbClr val="27D3BE"/>
            </a:solidFill>
            <a:prstDash val="solid"/>
          </a:ln>
        </p:spPr>
      </p:sp>
      <p:sp>
        <p:nvSpPr>
          <p:cNvPr id="37" name="Shape 35"/>
          <p:cNvSpPr/>
          <p:nvPr/>
        </p:nvSpPr>
        <p:spPr>
          <a:xfrm>
            <a:off x="4846320" y="4516374"/>
            <a:ext cx="2424884" cy="144272"/>
          </a:xfrm>
          <a:prstGeom prst="rect">
            <a:avLst/>
          </a:prstGeom>
          <a:solidFill>
            <a:srgbClr val="27D3BE"/>
          </a:solidFill>
          <a:ln w="12700">
            <a:solidFill>
              <a:srgbClr val="27D3BE"/>
            </a:solidFill>
            <a:prstDash val="solid"/>
          </a:ln>
        </p:spPr>
      </p:sp>
      <p:sp>
        <p:nvSpPr>
          <p:cNvPr id="38" name="Shape 36"/>
          <p:cNvSpPr/>
          <p:nvPr/>
        </p:nvSpPr>
        <p:spPr>
          <a:xfrm>
            <a:off x="4846320" y="4336034"/>
            <a:ext cx="2371138" cy="144272"/>
          </a:xfrm>
          <a:prstGeom prst="rect">
            <a:avLst/>
          </a:prstGeom>
          <a:solidFill>
            <a:srgbClr val="27D3BE"/>
          </a:solidFill>
          <a:ln w="12700">
            <a:solidFill>
              <a:srgbClr val="27D3BE"/>
            </a:solidFill>
            <a:prstDash val="solid"/>
          </a:ln>
        </p:spPr>
      </p:sp>
      <p:sp>
        <p:nvSpPr>
          <p:cNvPr id="39" name="Shape 37"/>
          <p:cNvSpPr/>
          <p:nvPr/>
        </p:nvSpPr>
        <p:spPr>
          <a:xfrm>
            <a:off x="4846320" y="4155694"/>
            <a:ext cx="1911314" cy="144272"/>
          </a:xfrm>
          <a:prstGeom prst="rect">
            <a:avLst/>
          </a:prstGeom>
          <a:solidFill>
            <a:srgbClr val="27D3BE"/>
          </a:solidFill>
          <a:ln w="12700">
            <a:solidFill>
              <a:srgbClr val="27D3BE"/>
            </a:solidFill>
            <a:prstDash val="solid"/>
          </a:ln>
        </p:spPr>
      </p:sp>
      <p:sp>
        <p:nvSpPr>
          <p:cNvPr id="40" name="Shape 38"/>
          <p:cNvSpPr/>
          <p:nvPr/>
        </p:nvSpPr>
        <p:spPr>
          <a:xfrm>
            <a:off x="4846320" y="3975354"/>
            <a:ext cx="1719553" cy="144272"/>
          </a:xfrm>
          <a:prstGeom prst="rect">
            <a:avLst/>
          </a:prstGeom>
          <a:solidFill>
            <a:srgbClr val="27D3BE"/>
          </a:solidFill>
          <a:ln w="12700">
            <a:solidFill>
              <a:srgbClr val="27D3BE"/>
            </a:solidFill>
            <a:prstDash val="solid"/>
          </a:ln>
        </p:spPr>
      </p:sp>
      <p:sp>
        <p:nvSpPr>
          <p:cNvPr id="41" name="Shape 39"/>
          <p:cNvSpPr/>
          <p:nvPr/>
        </p:nvSpPr>
        <p:spPr>
          <a:xfrm>
            <a:off x="4846320" y="3795014"/>
            <a:ext cx="2001267" cy="144272"/>
          </a:xfrm>
          <a:prstGeom prst="rect">
            <a:avLst/>
          </a:prstGeom>
          <a:solidFill>
            <a:srgbClr val="27D3BE"/>
          </a:solidFill>
          <a:ln w="12700">
            <a:solidFill>
              <a:srgbClr val="27D3BE"/>
            </a:solidFill>
            <a:prstDash val="solid"/>
          </a:ln>
        </p:spPr>
      </p:sp>
      <p:sp>
        <p:nvSpPr>
          <p:cNvPr id="42" name="Shape 40"/>
          <p:cNvSpPr/>
          <p:nvPr/>
        </p:nvSpPr>
        <p:spPr>
          <a:xfrm>
            <a:off x="4846320" y="3614674"/>
            <a:ext cx="1893883" cy="144272"/>
          </a:xfrm>
          <a:prstGeom prst="rect">
            <a:avLst/>
          </a:prstGeom>
          <a:solidFill>
            <a:srgbClr val="27D3BE"/>
          </a:solidFill>
          <a:ln w="12700">
            <a:solidFill>
              <a:srgbClr val="27D3BE"/>
            </a:solidFill>
            <a:prstDash val="solid"/>
          </a:ln>
        </p:spPr>
      </p:sp>
      <p:sp>
        <p:nvSpPr>
          <p:cNvPr id="43" name="Shape 41"/>
          <p:cNvSpPr/>
          <p:nvPr/>
        </p:nvSpPr>
        <p:spPr>
          <a:xfrm>
            <a:off x="4846320" y="3434334"/>
            <a:ext cx="1680401" cy="144272"/>
          </a:xfrm>
          <a:prstGeom prst="rect">
            <a:avLst/>
          </a:prstGeom>
          <a:solidFill>
            <a:srgbClr val="27D3BE"/>
          </a:solidFill>
          <a:ln w="12700">
            <a:solidFill>
              <a:srgbClr val="27D3BE"/>
            </a:solidFill>
            <a:prstDash val="solid"/>
          </a:ln>
        </p:spPr>
      </p:sp>
      <p:sp>
        <p:nvSpPr>
          <p:cNvPr id="44" name="Shape 42"/>
          <p:cNvSpPr/>
          <p:nvPr/>
        </p:nvSpPr>
        <p:spPr>
          <a:xfrm>
            <a:off x="4846320" y="3253994"/>
            <a:ext cx="1338901" cy="144272"/>
          </a:xfrm>
          <a:prstGeom prst="rect">
            <a:avLst/>
          </a:prstGeom>
          <a:solidFill>
            <a:srgbClr val="27D3BE"/>
          </a:solidFill>
          <a:ln w="12700">
            <a:solidFill>
              <a:srgbClr val="27D3BE"/>
            </a:solidFill>
            <a:prstDash val="solid"/>
          </a:ln>
        </p:spPr>
      </p:sp>
      <p:sp>
        <p:nvSpPr>
          <p:cNvPr id="45" name="Shape 43"/>
          <p:cNvSpPr/>
          <p:nvPr/>
        </p:nvSpPr>
        <p:spPr>
          <a:xfrm>
            <a:off x="4846320" y="3073654"/>
            <a:ext cx="659720" cy="144272"/>
          </a:xfrm>
          <a:prstGeom prst="rect">
            <a:avLst/>
          </a:prstGeom>
          <a:solidFill>
            <a:srgbClr val="27D3BE"/>
          </a:solidFill>
          <a:ln w="12700">
            <a:solidFill>
              <a:srgbClr val="27D3BE"/>
            </a:solidFill>
            <a:prstDash val="solid"/>
          </a:ln>
        </p:spPr>
      </p:sp>
      <p:sp>
        <p:nvSpPr>
          <p:cNvPr id="46" name="Shape 44"/>
          <p:cNvSpPr/>
          <p:nvPr/>
        </p:nvSpPr>
        <p:spPr>
          <a:xfrm>
            <a:off x="4846320" y="2893314"/>
            <a:ext cx="752492" cy="144272"/>
          </a:xfrm>
          <a:prstGeom prst="rect">
            <a:avLst/>
          </a:prstGeom>
          <a:solidFill>
            <a:srgbClr val="27D3BE"/>
          </a:solidFill>
          <a:ln w="12700">
            <a:solidFill>
              <a:srgbClr val="27D3BE"/>
            </a:solidFill>
            <a:prstDash val="solid"/>
          </a:ln>
        </p:spPr>
      </p:sp>
      <p:sp>
        <p:nvSpPr>
          <p:cNvPr id="47" name="Shape 45"/>
          <p:cNvSpPr/>
          <p:nvPr/>
        </p:nvSpPr>
        <p:spPr>
          <a:xfrm>
            <a:off x="4846320" y="2712974"/>
            <a:ext cx="386393" cy="144272"/>
          </a:xfrm>
          <a:prstGeom prst="rect">
            <a:avLst/>
          </a:prstGeom>
          <a:solidFill>
            <a:srgbClr val="27D3BE"/>
          </a:solidFill>
          <a:ln w="12700">
            <a:solidFill>
              <a:srgbClr val="27D3BE"/>
            </a:solidFill>
            <a:prstDash val="solid"/>
          </a:ln>
        </p:spPr>
      </p:sp>
      <p:sp>
        <p:nvSpPr>
          <p:cNvPr id="48" name="Shape 46"/>
          <p:cNvSpPr/>
          <p:nvPr/>
        </p:nvSpPr>
        <p:spPr>
          <a:xfrm>
            <a:off x="4846320" y="2532634"/>
            <a:ext cx="170002" cy="144272"/>
          </a:xfrm>
          <a:prstGeom prst="rect">
            <a:avLst/>
          </a:prstGeom>
          <a:solidFill>
            <a:srgbClr val="27D3BE"/>
          </a:solidFill>
          <a:ln w="12700">
            <a:solidFill>
              <a:srgbClr val="27D3BE"/>
            </a:solidFill>
            <a:prstDash val="solid"/>
          </a:ln>
        </p:spPr>
      </p:sp>
      <p:sp>
        <p:nvSpPr>
          <p:cNvPr id="49" name="Shape 47"/>
          <p:cNvSpPr/>
          <p:nvPr/>
        </p:nvSpPr>
        <p:spPr>
          <a:xfrm>
            <a:off x="4818888" y="2514600"/>
            <a:ext cx="22860" cy="3246120"/>
          </a:xfrm>
          <a:prstGeom prst="rect">
            <a:avLst/>
          </a:prstGeom>
          <a:solidFill>
            <a:srgbClr val="6A6F85"/>
          </a:solidFill>
          <a:ln w="12700">
            <a:solidFill>
              <a:srgbClr val="6A6F85"/>
            </a:solidFill>
            <a:prstDash val="solid"/>
          </a:ln>
        </p:spPr>
      </p:sp>
      <p:sp>
        <p:nvSpPr>
          <p:cNvPr id="50" name="Shape 48"/>
          <p:cNvSpPr/>
          <p:nvPr/>
        </p:nvSpPr>
        <p:spPr>
          <a:xfrm>
            <a:off x="8183880" y="1783080"/>
            <a:ext cx="3520440" cy="4206240"/>
          </a:xfrm>
          <a:prstGeom prst="roundRect">
            <a:avLst>
              <a:gd name="adj" fmla="val 2338"/>
            </a:avLst>
          </a:prstGeom>
          <a:solidFill>
            <a:srgbClr val="1D1F2B"/>
          </a:solidFill>
          <a:ln w="12700">
            <a:solidFill>
              <a:srgbClr val="1D1F2B"/>
            </a:solidFill>
            <a:prstDash val="solid"/>
          </a:ln>
        </p:spPr>
      </p:sp>
      <p:sp>
        <p:nvSpPr>
          <p:cNvPr id="51" name="Shape 49"/>
          <p:cNvSpPr/>
          <p:nvPr/>
        </p:nvSpPr>
        <p:spPr>
          <a:xfrm>
            <a:off x="8412480" y="1920240"/>
            <a:ext cx="420624" cy="420624"/>
          </a:xfrm>
          <a:prstGeom prst="ellipse">
            <a:avLst/>
          </a:prstGeom>
          <a:solidFill>
            <a:srgbClr val="FFC24B"/>
          </a:solidFill>
          <a:ln/>
        </p:spPr>
      </p:sp>
      <p:sp>
        <p:nvSpPr>
          <p:cNvPr id="52" name="Text 50"/>
          <p:cNvSpPr/>
          <p:nvPr/>
        </p:nvSpPr>
        <p:spPr>
          <a:xfrm>
            <a:off x="8412480" y="192024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53" name="Shape 51"/>
          <p:cNvSpPr/>
          <p:nvPr/>
        </p:nvSpPr>
        <p:spPr>
          <a:xfrm>
            <a:off x="8641080" y="5598414"/>
            <a:ext cx="1196475" cy="144272"/>
          </a:xfrm>
          <a:prstGeom prst="rect">
            <a:avLst/>
          </a:prstGeom>
          <a:solidFill>
            <a:srgbClr val="27D3BE"/>
          </a:solidFill>
          <a:ln w="12700">
            <a:solidFill>
              <a:srgbClr val="27D3BE"/>
            </a:solidFill>
            <a:prstDash val="solid"/>
          </a:ln>
        </p:spPr>
      </p:sp>
      <p:sp>
        <p:nvSpPr>
          <p:cNvPr id="54" name="Shape 52"/>
          <p:cNvSpPr/>
          <p:nvPr/>
        </p:nvSpPr>
        <p:spPr>
          <a:xfrm>
            <a:off x="8641080" y="5418074"/>
            <a:ext cx="1441176" cy="144272"/>
          </a:xfrm>
          <a:prstGeom prst="rect">
            <a:avLst/>
          </a:prstGeom>
          <a:solidFill>
            <a:srgbClr val="27D3BE"/>
          </a:solidFill>
          <a:ln w="12700">
            <a:solidFill>
              <a:srgbClr val="27D3BE"/>
            </a:solidFill>
            <a:prstDash val="solid"/>
          </a:ln>
        </p:spPr>
      </p:sp>
      <p:sp>
        <p:nvSpPr>
          <p:cNvPr id="55" name="Shape 53"/>
          <p:cNvSpPr/>
          <p:nvPr/>
        </p:nvSpPr>
        <p:spPr>
          <a:xfrm>
            <a:off x="8641080" y="5237734"/>
            <a:ext cx="1443574" cy="144272"/>
          </a:xfrm>
          <a:prstGeom prst="rect">
            <a:avLst/>
          </a:prstGeom>
          <a:solidFill>
            <a:srgbClr val="27D3BE"/>
          </a:solidFill>
          <a:ln w="12700">
            <a:solidFill>
              <a:srgbClr val="27D3BE"/>
            </a:solidFill>
            <a:prstDash val="solid"/>
          </a:ln>
        </p:spPr>
      </p:sp>
      <p:sp>
        <p:nvSpPr>
          <p:cNvPr id="56" name="Shape 54"/>
          <p:cNvSpPr/>
          <p:nvPr/>
        </p:nvSpPr>
        <p:spPr>
          <a:xfrm>
            <a:off x="8641080" y="5057394"/>
            <a:ext cx="1531088" cy="144272"/>
          </a:xfrm>
          <a:prstGeom prst="rect">
            <a:avLst/>
          </a:prstGeom>
          <a:solidFill>
            <a:srgbClr val="27D3BE"/>
          </a:solidFill>
          <a:ln w="12700">
            <a:solidFill>
              <a:srgbClr val="27D3BE"/>
            </a:solidFill>
            <a:prstDash val="solid"/>
          </a:ln>
        </p:spPr>
      </p:sp>
      <p:sp>
        <p:nvSpPr>
          <p:cNvPr id="57" name="Shape 55"/>
          <p:cNvSpPr/>
          <p:nvPr/>
        </p:nvSpPr>
        <p:spPr>
          <a:xfrm>
            <a:off x="8641080" y="4877054"/>
            <a:ext cx="1411375" cy="144272"/>
          </a:xfrm>
          <a:prstGeom prst="rect">
            <a:avLst/>
          </a:prstGeom>
          <a:solidFill>
            <a:srgbClr val="27D3BE"/>
          </a:solidFill>
          <a:ln w="12700">
            <a:solidFill>
              <a:srgbClr val="27D3BE"/>
            </a:solidFill>
            <a:prstDash val="solid"/>
          </a:ln>
        </p:spPr>
      </p:sp>
      <p:sp>
        <p:nvSpPr>
          <p:cNvPr id="58" name="Shape 56"/>
          <p:cNvSpPr/>
          <p:nvPr/>
        </p:nvSpPr>
        <p:spPr>
          <a:xfrm>
            <a:off x="8641080" y="4696714"/>
            <a:ext cx="1376677" cy="144272"/>
          </a:xfrm>
          <a:prstGeom prst="rect">
            <a:avLst/>
          </a:prstGeom>
          <a:solidFill>
            <a:srgbClr val="27D3BE"/>
          </a:solidFill>
          <a:ln w="12700">
            <a:solidFill>
              <a:srgbClr val="27D3BE"/>
            </a:solidFill>
            <a:prstDash val="solid"/>
          </a:ln>
        </p:spPr>
      </p:sp>
      <p:sp>
        <p:nvSpPr>
          <p:cNvPr id="59" name="Shape 57"/>
          <p:cNvSpPr/>
          <p:nvPr/>
        </p:nvSpPr>
        <p:spPr>
          <a:xfrm>
            <a:off x="8641080" y="4516374"/>
            <a:ext cx="1486289" cy="144272"/>
          </a:xfrm>
          <a:prstGeom prst="rect">
            <a:avLst/>
          </a:prstGeom>
          <a:solidFill>
            <a:srgbClr val="27D3BE"/>
          </a:solidFill>
          <a:ln w="12700">
            <a:solidFill>
              <a:srgbClr val="27D3BE"/>
            </a:solidFill>
            <a:prstDash val="solid"/>
          </a:ln>
        </p:spPr>
      </p:sp>
      <p:sp>
        <p:nvSpPr>
          <p:cNvPr id="60" name="Shape 58"/>
          <p:cNvSpPr/>
          <p:nvPr/>
        </p:nvSpPr>
        <p:spPr>
          <a:xfrm>
            <a:off x="8641080" y="4336034"/>
            <a:ext cx="1883961" cy="144272"/>
          </a:xfrm>
          <a:prstGeom prst="rect">
            <a:avLst/>
          </a:prstGeom>
          <a:solidFill>
            <a:srgbClr val="27D3BE"/>
          </a:solidFill>
          <a:ln w="12700">
            <a:solidFill>
              <a:srgbClr val="27D3BE"/>
            </a:solidFill>
            <a:prstDash val="solid"/>
          </a:ln>
        </p:spPr>
      </p:sp>
      <p:sp>
        <p:nvSpPr>
          <p:cNvPr id="61" name="Shape 59"/>
          <p:cNvSpPr/>
          <p:nvPr/>
        </p:nvSpPr>
        <p:spPr>
          <a:xfrm>
            <a:off x="8641080" y="4155694"/>
            <a:ext cx="1805306" cy="144272"/>
          </a:xfrm>
          <a:prstGeom prst="rect">
            <a:avLst/>
          </a:prstGeom>
          <a:solidFill>
            <a:srgbClr val="27D3BE"/>
          </a:solidFill>
          <a:ln w="12700">
            <a:solidFill>
              <a:srgbClr val="27D3BE"/>
            </a:solidFill>
            <a:prstDash val="solid"/>
          </a:ln>
        </p:spPr>
      </p:sp>
      <p:sp>
        <p:nvSpPr>
          <p:cNvPr id="62" name="Shape 60"/>
          <p:cNvSpPr/>
          <p:nvPr/>
        </p:nvSpPr>
        <p:spPr>
          <a:xfrm>
            <a:off x="8641080" y="3975354"/>
            <a:ext cx="2078984" cy="144272"/>
          </a:xfrm>
          <a:prstGeom prst="rect">
            <a:avLst/>
          </a:prstGeom>
          <a:solidFill>
            <a:srgbClr val="27D3BE"/>
          </a:solidFill>
          <a:ln w="12700">
            <a:solidFill>
              <a:srgbClr val="27D3BE"/>
            </a:solidFill>
            <a:prstDash val="solid"/>
          </a:ln>
        </p:spPr>
      </p:sp>
      <p:sp>
        <p:nvSpPr>
          <p:cNvPr id="63" name="Shape 61"/>
          <p:cNvSpPr/>
          <p:nvPr/>
        </p:nvSpPr>
        <p:spPr>
          <a:xfrm>
            <a:off x="8641080" y="3795014"/>
            <a:ext cx="2001836" cy="144272"/>
          </a:xfrm>
          <a:prstGeom prst="rect">
            <a:avLst/>
          </a:prstGeom>
          <a:solidFill>
            <a:srgbClr val="27D3BE"/>
          </a:solidFill>
          <a:ln w="12700">
            <a:solidFill>
              <a:srgbClr val="27D3BE"/>
            </a:solidFill>
            <a:prstDash val="solid"/>
          </a:ln>
        </p:spPr>
      </p:sp>
      <p:sp>
        <p:nvSpPr>
          <p:cNvPr id="64" name="Shape 62"/>
          <p:cNvSpPr/>
          <p:nvPr/>
        </p:nvSpPr>
        <p:spPr>
          <a:xfrm>
            <a:off x="8641080" y="3614674"/>
            <a:ext cx="1984100" cy="144272"/>
          </a:xfrm>
          <a:prstGeom prst="rect">
            <a:avLst/>
          </a:prstGeom>
          <a:solidFill>
            <a:srgbClr val="27D3BE"/>
          </a:solidFill>
          <a:ln w="12700">
            <a:solidFill>
              <a:srgbClr val="27D3BE"/>
            </a:solidFill>
            <a:prstDash val="solid"/>
          </a:ln>
        </p:spPr>
      </p:sp>
      <p:sp>
        <p:nvSpPr>
          <p:cNvPr id="65" name="Shape 63"/>
          <p:cNvSpPr/>
          <p:nvPr/>
        </p:nvSpPr>
        <p:spPr>
          <a:xfrm>
            <a:off x="8641080" y="3434334"/>
            <a:ext cx="1425925" cy="144272"/>
          </a:xfrm>
          <a:prstGeom prst="rect">
            <a:avLst/>
          </a:prstGeom>
          <a:solidFill>
            <a:srgbClr val="27D3BE"/>
          </a:solidFill>
          <a:ln w="12700">
            <a:solidFill>
              <a:srgbClr val="27D3BE"/>
            </a:solidFill>
            <a:prstDash val="solid"/>
          </a:ln>
        </p:spPr>
      </p:sp>
      <p:sp>
        <p:nvSpPr>
          <p:cNvPr id="66" name="Shape 64"/>
          <p:cNvSpPr/>
          <p:nvPr/>
        </p:nvSpPr>
        <p:spPr>
          <a:xfrm>
            <a:off x="8641080" y="3253994"/>
            <a:ext cx="1708226" cy="144272"/>
          </a:xfrm>
          <a:prstGeom prst="rect">
            <a:avLst/>
          </a:prstGeom>
          <a:solidFill>
            <a:srgbClr val="27D3BE"/>
          </a:solidFill>
          <a:ln w="12700">
            <a:solidFill>
              <a:srgbClr val="27D3BE"/>
            </a:solidFill>
            <a:prstDash val="solid"/>
          </a:ln>
        </p:spPr>
      </p:sp>
      <p:sp>
        <p:nvSpPr>
          <p:cNvPr id="67" name="Shape 65"/>
          <p:cNvSpPr/>
          <p:nvPr/>
        </p:nvSpPr>
        <p:spPr>
          <a:xfrm>
            <a:off x="8641080" y="3073654"/>
            <a:ext cx="1474460" cy="144272"/>
          </a:xfrm>
          <a:prstGeom prst="rect">
            <a:avLst/>
          </a:prstGeom>
          <a:solidFill>
            <a:srgbClr val="27D3BE"/>
          </a:solidFill>
          <a:ln w="12700">
            <a:solidFill>
              <a:srgbClr val="27D3BE"/>
            </a:solidFill>
            <a:prstDash val="solid"/>
          </a:ln>
        </p:spPr>
      </p:sp>
      <p:sp>
        <p:nvSpPr>
          <p:cNvPr id="68" name="Shape 66"/>
          <p:cNvSpPr/>
          <p:nvPr/>
        </p:nvSpPr>
        <p:spPr>
          <a:xfrm>
            <a:off x="8641080" y="2893314"/>
            <a:ext cx="997186" cy="144272"/>
          </a:xfrm>
          <a:prstGeom prst="rect">
            <a:avLst/>
          </a:prstGeom>
          <a:solidFill>
            <a:srgbClr val="27D3BE"/>
          </a:solidFill>
          <a:ln w="12700">
            <a:solidFill>
              <a:srgbClr val="27D3BE"/>
            </a:solidFill>
            <a:prstDash val="solid"/>
          </a:ln>
        </p:spPr>
      </p:sp>
      <p:sp>
        <p:nvSpPr>
          <p:cNvPr id="69" name="Shape 67"/>
          <p:cNvSpPr/>
          <p:nvPr/>
        </p:nvSpPr>
        <p:spPr>
          <a:xfrm>
            <a:off x="8641080" y="2712974"/>
            <a:ext cx="612232" cy="144272"/>
          </a:xfrm>
          <a:prstGeom prst="rect">
            <a:avLst/>
          </a:prstGeom>
          <a:solidFill>
            <a:srgbClr val="27D3BE"/>
          </a:solidFill>
          <a:ln w="12700">
            <a:solidFill>
              <a:srgbClr val="27D3BE"/>
            </a:solidFill>
            <a:prstDash val="solid"/>
          </a:ln>
        </p:spPr>
      </p:sp>
      <p:sp>
        <p:nvSpPr>
          <p:cNvPr id="70" name="Shape 68"/>
          <p:cNvSpPr/>
          <p:nvPr/>
        </p:nvSpPr>
        <p:spPr>
          <a:xfrm>
            <a:off x="8641080" y="2532634"/>
            <a:ext cx="567430" cy="144272"/>
          </a:xfrm>
          <a:prstGeom prst="rect">
            <a:avLst/>
          </a:prstGeom>
          <a:solidFill>
            <a:srgbClr val="27D3BE"/>
          </a:solidFill>
          <a:ln w="12700">
            <a:solidFill>
              <a:srgbClr val="27D3BE"/>
            </a:solidFill>
            <a:prstDash val="solid"/>
          </a:ln>
        </p:spPr>
      </p:sp>
      <p:sp>
        <p:nvSpPr>
          <p:cNvPr id="71" name="Shape 69"/>
          <p:cNvSpPr/>
          <p:nvPr/>
        </p:nvSpPr>
        <p:spPr>
          <a:xfrm>
            <a:off x="8613648" y="2514600"/>
            <a:ext cx="22860" cy="3246120"/>
          </a:xfrm>
          <a:prstGeom prst="rect">
            <a:avLst/>
          </a:prstGeom>
          <a:solidFill>
            <a:srgbClr val="6A6F85"/>
          </a:solidFill>
          <a:ln w="12700">
            <a:solidFill>
              <a:srgbClr val="6A6F85"/>
            </a:solidFill>
            <a:prstDash val="solid"/>
          </a:ln>
        </p:spPr>
      </p:sp>
      <p:sp>
        <p:nvSpPr>
          <p:cNvPr id="72" name="Text 70"/>
          <p:cNvSpPr/>
          <p:nvPr/>
        </p:nvSpPr>
        <p:spPr>
          <a:xfrm>
            <a:off x="594360" y="6080760"/>
            <a:ext cx="10972800" cy="365760"/>
          </a:xfrm>
          <a:prstGeom prst="rect">
            <a:avLst/>
          </a:prstGeom>
          <a:noFill/>
          <a:ln/>
        </p:spPr>
        <p:txBody>
          <a:bodyPr wrap="square" lIns="0" tIns="0" rIns="0" bIns="0" rtlCol="0" anchor="t"/>
          <a:lstStyle/>
          <a:p>
            <a:pPr indent="0" marL="0">
              <a:buNone/>
            </a:pPr>
            <a:r>
              <a:rPr lang="en-US" sz="1400" b="1" dirty="0">
                <a:solidFill>
                  <a:srgbClr val="FFC24B"/>
                </a:solidFill>
                <a:latin typeface="Palatino Linotype" pitchFamily="34" charset="0"/>
                <a:ea typeface="Palatino Linotype" pitchFamily="34" charset="-122"/>
                <a:cs typeface="Palatino Linotype" pitchFamily="34" charset="-120"/>
              </a:rPr>
              <a:t>Ambele sexe împreună; vârsta crește de jos în sus. Răspundeți pe telefon, la codul afișat.</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RĂSPUNSUL · C</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Piramida de astăzi: constrictivă, cu neregularități</a:t>
            </a:r>
            <a:endParaRPr lang="en-US" sz="3000" dirty="0"/>
          </a:p>
        </p:txBody>
      </p:sp>
      <p:sp>
        <p:nvSpPr>
          <p:cNvPr id="4" name="Shape 2"/>
          <p:cNvSpPr/>
          <p:nvPr/>
        </p:nvSpPr>
        <p:spPr>
          <a:xfrm>
            <a:off x="594360" y="1783080"/>
            <a:ext cx="5120640" cy="4297680"/>
          </a:xfrm>
          <a:prstGeom prst="roundRect">
            <a:avLst>
              <a:gd name="adj" fmla="val 1915"/>
            </a:avLst>
          </a:prstGeom>
          <a:solidFill>
            <a:srgbClr val="11121A"/>
          </a:solidFill>
          <a:ln w="12700">
            <a:solidFill>
              <a:srgbClr val="11121A"/>
            </a:solidFill>
            <a:prstDash val="solid"/>
          </a:ln>
        </p:spPr>
      </p:sp>
      <p:sp>
        <p:nvSpPr>
          <p:cNvPr id="5" name="Shape 3"/>
          <p:cNvSpPr/>
          <p:nvPr/>
        </p:nvSpPr>
        <p:spPr>
          <a:xfrm>
            <a:off x="1280160" y="5660136"/>
            <a:ext cx="1714947" cy="170688"/>
          </a:xfrm>
          <a:prstGeom prst="rect">
            <a:avLst/>
          </a:prstGeom>
          <a:solidFill>
            <a:srgbClr val="27D3BE"/>
          </a:solidFill>
          <a:ln w="12700">
            <a:solidFill>
              <a:srgbClr val="27D3BE"/>
            </a:solidFill>
            <a:prstDash val="solid"/>
          </a:ln>
        </p:spPr>
      </p:sp>
      <p:sp>
        <p:nvSpPr>
          <p:cNvPr id="6" name="Shape 4"/>
          <p:cNvSpPr/>
          <p:nvPr/>
        </p:nvSpPr>
        <p:spPr>
          <a:xfrm>
            <a:off x="1280160" y="5446776"/>
            <a:ext cx="2065686" cy="170688"/>
          </a:xfrm>
          <a:prstGeom prst="rect">
            <a:avLst/>
          </a:prstGeom>
          <a:solidFill>
            <a:srgbClr val="27D3BE"/>
          </a:solidFill>
          <a:ln w="12700">
            <a:solidFill>
              <a:srgbClr val="27D3BE"/>
            </a:solidFill>
            <a:prstDash val="solid"/>
          </a:ln>
        </p:spPr>
      </p:sp>
      <p:sp>
        <p:nvSpPr>
          <p:cNvPr id="7" name="Shape 5"/>
          <p:cNvSpPr/>
          <p:nvPr/>
        </p:nvSpPr>
        <p:spPr>
          <a:xfrm>
            <a:off x="1280160" y="5233416"/>
            <a:ext cx="2069123" cy="170688"/>
          </a:xfrm>
          <a:prstGeom prst="rect">
            <a:avLst/>
          </a:prstGeom>
          <a:solidFill>
            <a:srgbClr val="27D3BE"/>
          </a:solidFill>
          <a:ln w="12700">
            <a:solidFill>
              <a:srgbClr val="27D3BE"/>
            </a:solidFill>
            <a:prstDash val="solid"/>
          </a:ln>
        </p:spPr>
      </p:sp>
      <p:sp>
        <p:nvSpPr>
          <p:cNvPr id="8" name="Shape 6"/>
          <p:cNvSpPr/>
          <p:nvPr/>
        </p:nvSpPr>
        <p:spPr>
          <a:xfrm>
            <a:off x="1280160" y="5020056"/>
            <a:ext cx="2194560" cy="170688"/>
          </a:xfrm>
          <a:prstGeom prst="rect">
            <a:avLst/>
          </a:prstGeom>
          <a:solidFill>
            <a:srgbClr val="27D3BE"/>
          </a:solidFill>
          <a:ln w="12700">
            <a:solidFill>
              <a:srgbClr val="27D3BE"/>
            </a:solidFill>
            <a:prstDash val="solid"/>
          </a:ln>
        </p:spPr>
      </p:sp>
      <p:sp>
        <p:nvSpPr>
          <p:cNvPr id="9" name="Shape 7"/>
          <p:cNvSpPr/>
          <p:nvPr/>
        </p:nvSpPr>
        <p:spPr>
          <a:xfrm>
            <a:off x="1280160" y="4806696"/>
            <a:ext cx="2022971" cy="170688"/>
          </a:xfrm>
          <a:prstGeom prst="rect">
            <a:avLst/>
          </a:prstGeom>
          <a:solidFill>
            <a:srgbClr val="27D3BE"/>
          </a:solidFill>
          <a:ln w="12700">
            <a:solidFill>
              <a:srgbClr val="27D3BE"/>
            </a:solidFill>
            <a:prstDash val="solid"/>
          </a:ln>
        </p:spPr>
      </p:sp>
      <p:sp>
        <p:nvSpPr>
          <p:cNvPr id="10" name="Shape 8"/>
          <p:cNvSpPr/>
          <p:nvPr/>
        </p:nvSpPr>
        <p:spPr>
          <a:xfrm>
            <a:off x="1280160" y="4593336"/>
            <a:ext cx="1973237" cy="170688"/>
          </a:xfrm>
          <a:prstGeom prst="rect">
            <a:avLst/>
          </a:prstGeom>
          <a:solidFill>
            <a:srgbClr val="27D3BE"/>
          </a:solidFill>
          <a:ln w="12700">
            <a:solidFill>
              <a:srgbClr val="27D3BE"/>
            </a:solidFill>
            <a:prstDash val="solid"/>
          </a:ln>
        </p:spPr>
      </p:sp>
      <p:sp>
        <p:nvSpPr>
          <p:cNvPr id="11" name="Shape 9"/>
          <p:cNvSpPr/>
          <p:nvPr/>
        </p:nvSpPr>
        <p:spPr>
          <a:xfrm>
            <a:off x="1280160" y="4379976"/>
            <a:ext cx="2130348" cy="170688"/>
          </a:xfrm>
          <a:prstGeom prst="rect">
            <a:avLst/>
          </a:prstGeom>
          <a:solidFill>
            <a:srgbClr val="27D3BE"/>
          </a:solidFill>
          <a:ln w="12700">
            <a:solidFill>
              <a:srgbClr val="27D3BE"/>
            </a:solidFill>
            <a:prstDash val="solid"/>
          </a:ln>
        </p:spPr>
      </p:sp>
      <p:sp>
        <p:nvSpPr>
          <p:cNvPr id="12" name="Shape 10"/>
          <p:cNvSpPr/>
          <p:nvPr/>
        </p:nvSpPr>
        <p:spPr>
          <a:xfrm>
            <a:off x="1280160" y="4166616"/>
            <a:ext cx="2700345" cy="170688"/>
          </a:xfrm>
          <a:prstGeom prst="rect">
            <a:avLst/>
          </a:prstGeom>
          <a:solidFill>
            <a:srgbClr val="27D3BE"/>
          </a:solidFill>
          <a:ln w="12700">
            <a:solidFill>
              <a:srgbClr val="27D3BE"/>
            </a:solidFill>
            <a:prstDash val="solid"/>
          </a:ln>
        </p:spPr>
      </p:sp>
      <p:sp>
        <p:nvSpPr>
          <p:cNvPr id="13" name="Shape 11"/>
          <p:cNvSpPr/>
          <p:nvPr/>
        </p:nvSpPr>
        <p:spPr>
          <a:xfrm>
            <a:off x="1280160" y="3953256"/>
            <a:ext cx="2587605" cy="170688"/>
          </a:xfrm>
          <a:prstGeom prst="rect">
            <a:avLst/>
          </a:prstGeom>
          <a:solidFill>
            <a:srgbClr val="27D3BE"/>
          </a:solidFill>
          <a:ln w="12700">
            <a:solidFill>
              <a:srgbClr val="27D3BE"/>
            </a:solidFill>
            <a:prstDash val="solid"/>
          </a:ln>
        </p:spPr>
      </p:sp>
      <p:sp>
        <p:nvSpPr>
          <p:cNvPr id="14" name="Shape 12"/>
          <p:cNvSpPr/>
          <p:nvPr/>
        </p:nvSpPr>
        <p:spPr>
          <a:xfrm>
            <a:off x="1280160" y="3739896"/>
            <a:ext cx="2979877" cy="170688"/>
          </a:xfrm>
          <a:prstGeom prst="rect">
            <a:avLst/>
          </a:prstGeom>
          <a:solidFill>
            <a:srgbClr val="27D3BE"/>
          </a:solidFill>
          <a:ln w="12700">
            <a:solidFill>
              <a:srgbClr val="27D3BE"/>
            </a:solidFill>
            <a:prstDash val="solid"/>
          </a:ln>
        </p:spPr>
      </p:sp>
      <p:sp>
        <p:nvSpPr>
          <p:cNvPr id="15" name="Shape 13"/>
          <p:cNvSpPr/>
          <p:nvPr/>
        </p:nvSpPr>
        <p:spPr>
          <a:xfrm>
            <a:off x="1280160" y="3526536"/>
            <a:ext cx="2869298" cy="170688"/>
          </a:xfrm>
          <a:prstGeom prst="rect">
            <a:avLst/>
          </a:prstGeom>
          <a:solidFill>
            <a:srgbClr val="27D3BE"/>
          </a:solidFill>
          <a:ln w="12700">
            <a:solidFill>
              <a:srgbClr val="27D3BE"/>
            </a:solidFill>
            <a:prstDash val="solid"/>
          </a:ln>
        </p:spPr>
      </p:sp>
      <p:sp>
        <p:nvSpPr>
          <p:cNvPr id="16" name="Shape 14"/>
          <p:cNvSpPr/>
          <p:nvPr/>
        </p:nvSpPr>
        <p:spPr>
          <a:xfrm>
            <a:off x="1280160" y="3313176"/>
            <a:ext cx="2843876" cy="170688"/>
          </a:xfrm>
          <a:prstGeom prst="rect">
            <a:avLst/>
          </a:prstGeom>
          <a:solidFill>
            <a:srgbClr val="FF4757"/>
          </a:solidFill>
          <a:ln w="12700">
            <a:solidFill>
              <a:srgbClr val="FF4757"/>
            </a:solidFill>
            <a:prstDash val="solid"/>
          </a:ln>
        </p:spPr>
      </p:sp>
      <p:sp>
        <p:nvSpPr>
          <p:cNvPr id="17" name="Shape 15"/>
          <p:cNvSpPr/>
          <p:nvPr/>
        </p:nvSpPr>
        <p:spPr>
          <a:xfrm>
            <a:off x="1280160" y="3099816"/>
            <a:ext cx="2043826" cy="170688"/>
          </a:xfrm>
          <a:prstGeom prst="rect">
            <a:avLst/>
          </a:prstGeom>
          <a:solidFill>
            <a:srgbClr val="27D3BE"/>
          </a:solidFill>
          <a:ln w="12700">
            <a:solidFill>
              <a:srgbClr val="27D3BE"/>
            </a:solidFill>
            <a:prstDash val="solid"/>
          </a:ln>
        </p:spPr>
      </p:sp>
      <p:sp>
        <p:nvSpPr>
          <p:cNvPr id="18" name="Shape 16"/>
          <p:cNvSpPr/>
          <p:nvPr/>
        </p:nvSpPr>
        <p:spPr>
          <a:xfrm>
            <a:off x="1280160" y="2886456"/>
            <a:ext cx="2448458" cy="170688"/>
          </a:xfrm>
          <a:prstGeom prst="rect">
            <a:avLst/>
          </a:prstGeom>
          <a:solidFill>
            <a:srgbClr val="27D3BE"/>
          </a:solidFill>
          <a:ln w="12700">
            <a:solidFill>
              <a:srgbClr val="27D3BE"/>
            </a:solidFill>
            <a:prstDash val="solid"/>
          </a:ln>
        </p:spPr>
      </p:sp>
      <p:sp>
        <p:nvSpPr>
          <p:cNvPr id="19" name="Shape 17"/>
          <p:cNvSpPr/>
          <p:nvPr/>
        </p:nvSpPr>
        <p:spPr>
          <a:xfrm>
            <a:off x="1280160" y="2673096"/>
            <a:ext cx="2113393" cy="170688"/>
          </a:xfrm>
          <a:prstGeom prst="rect">
            <a:avLst/>
          </a:prstGeom>
          <a:solidFill>
            <a:srgbClr val="27D3BE"/>
          </a:solidFill>
          <a:ln w="12700">
            <a:solidFill>
              <a:srgbClr val="27D3BE"/>
            </a:solidFill>
            <a:prstDash val="solid"/>
          </a:ln>
        </p:spPr>
      </p:sp>
      <p:sp>
        <p:nvSpPr>
          <p:cNvPr id="20" name="Shape 18"/>
          <p:cNvSpPr/>
          <p:nvPr/>
        </p:nvSpPr>
        <p:spPr>
          <a:xfrm>
            <a:off x="1280160" y="2459736"/>
            <a:ext cx="1429301" cy="170688"/>
          </a:xfrm>
          <a:prstGeom prst="rect">
            <a:avLst/>
          </a:prstGeom>
          <a:solidFill>
            <a:srgbClr val="27D3BE"/>
          </a:solidFill>
          <a:ln w="12700">
            <a:solidFill>
              <a:srgbClr val="27D3BE"/>
            </a:solidFill>
            <a:prstDash val="solid"/>
          </a:ln>
        </p:spPr>
      </p:sp>
      <p:sp>
        <p:nvSpPr>
          <p:cNvPr id="21" name="Shape 19"/>
          <p:cNvSpPr/>
          <p:nvPr/>
        </p:nvSpPr>
        <p:spPr>
          <a:xfrm>
            <a:off x="1280160" y="2246376"/>
            <a:ext cx="877533" cy="170688"/>
          </a:xfrm>
          <a:prstGeom prst="rect">
            <a:avLst/>
          </a:prstGeom>
          <a:solidFill>
            <a:srgbClr val="27D3BE"/>
          </a:solidFill>
          <a:ln w="12700">
            <a:solidFill>
              <a:srgbClr val="27D3BE"/>
            </a:solidFill>
            <a:prstDash val="solid"/>
          </a:ln>
        </p:spPr>
      </p:sp>
      <p:sp>
        <p:nvSpPr>
          <p:cNvPr id="22" name="Shape 20"/>
          <p:cNvSpPr/>
          <p:nvPr/>
        </p:nvSpPr>
        <p:spPr>
          <a:xfrm>
            <a:off x="1280160" y="2033016"/>
            <a:ext cx="813317" cy="170688"/>
          </a:xfrm>
          <a:prstGeom prst="rect">
            <a:avLst/>
          </a:prstGeom>
          <a:solidFill>
            <a:srgbClr val="27D3BE"/>
          </a:solidFill>
          <a:ln w="12700">
            <a:solidFill>
              <a:srgbClr val="27D3BE"/>
            </a:solidFill>
            <a:prstDash val="solid"/>
          </a:ln>
        </p:spPr>
      </p:sp>
      <p:sp>
        <p:nvSpPr>
          <p:cNvPr id="23" name="Shape 21"/>
          <p:cNvSpPr/>
          <p:nvPr/>
        </p:nvSpPr>
        <p:spPr>
          <a:xfrm>
            <a:off x="1252728" y="2011680"/>
            <a:ext cx="22860" cy="3840480"/>
          </a:xfrm>
          <a:prstGeom prst="rect">
            <a:avLst/>
          </a:prstGeom>
          <a:solidFill>
            <a:srgbClr val="6A6F85"/>
          </a:solidFill>
          <a:ln w="12700">
            <a:solidFill>
              <a:srgbClr val="6A6F85"/>
            </a:solidFill>
            <a:prstDash val="solid"/>
          </a:ln>
        </p:spPr>
      </p:sp>
      <p:sp>
        <p:nvSpPr>
          <p:cNvPr id="24" name="Text 22"/>
          <p:cNvSpPr/>
          <p:nvPr/>
        </p:nvSpPr>
        <p:spPr>
          <a:xfrm>
            <a:off x="777240" y="5620512"/>
            <a:ext cx="457200" cy="228600"/>
          </a:xfrm>
          <a:prstGeom prst="rect">
            <a:avLst/>
          </a:prstGeom>
          <a:noFill/>
          <a:ln/>
        </p:spPr>
        <p:txBody>
          <a:bodyPr wrap="square" lIns="0" tIns="0" rIns="0" bIns="0" rtlCol="0" anchor="t"/>
          <a:lstStyle/>
          <a:p>
            <a:pPr algn="r" indent="0" marL="0">
              <a:buNone/>
            </a:pPr>
            <a:r>
              <a:rPr lang="en-US" sz="1100" dirty="0">
                <a:solidFill>
                  <a:srgbClr val="959BB0"/>
                </a:solidFill>
                <a:latin typeface="Palatino Linotype" pitchFamily="34" charset="0"/>
                <a:ea typeface="Palatino Linotype" pitchFamily="34" charset="-122"/>
                <a:cs typeface="Palatino Linotype" pitchFamily="34" charset="-120"/>
              </a:rPr>
              <a:t>0</a:t>
            </a:r>
            <a:endParaRPr lang="en-US" sz="1100" dirty="0"/>
          </a:p>
        </p:txBody>
      </p:sp>
      <p:sp>
        <p:nvSpPr>
          <p:cNvPr id="25" name="Text 23"/>
          <p:cNvSpPr/>
          <p:nvPr/>
        </p:nvSpPr>
        <p:spPr>
          <a:xfrm>
            <a:off x="777240" y="4767072"/>
            <a:ext cx="457200" cy="228600"/>
          </a:xfrm>
          <a:prstGeom prst="rect">
            <a:avLst/>
          </a:prstGeom>
          <a:noFill/>
          <a:ln/>
        </p:spPr>
        <p:txBody>
          <a:bodyPr wrap="square" lIns="0" tIns="0" rIns="0" bIns="0" rtlCol="0" anchor="t"/>
          <a:lstStyle/>
          <a:p>
            <a:pPr algn="r" indent="0" marL="0">
              <a:buNone/>
            </a:pPr>
            <a:r>
              <a:rPr lang="en-US" sz="1100" dirty="0">
                <a:solidFill>
                  <a:srgbClr val="959BB0"/>
                </a:solidFill>
                <a:latin typeface="Palatino Linotype" pitchFamily="34" charset="0"/>
                <a:ea typeface="Palatino Linotype" pitchFamily="34" charset="-122"/>
                <a:cs typeface="Palatino Linotype" pitchFamily="34" charset="-120"/>
              </a:rPr>
              <a:t>20</a:t>
            </a:r>
            <a:endParaRPr lang="en-US" sz="1100" dirty="0"/>
          </a:p>
        </p:txBody>
      </p:sp>
      <p:sp>
        <p:nvSpPr>
          <p:cNvPr id="26" name="Text 24"/>
          <p:cNvSpPr/>
          <p:nvPr/>
        </p:nvSpPr>
        <p:spPr>
          <a:xfrm>
            <a:off x="777240" y="2846832"/>
            <a:ext cx="457200" cy="228600"/>
          </a:xfrm>
          <a:prstGeom prst="rect">
            <a:avLst/>
          </a:prstGeom>
          <a:noFill/>
          <a:ln/>
        </p:spPr>
        <p:txBody>
          <a:bodyPr wrap="square" lIns="0" tIns="0" rIns="0" bIns="0" rtlCol="0" anchor="t"/>
          <a:lstStyle/>
          <a:p>
            <a:pPr algn="r" indent="0" marL="0">
              <a:buNone/>
            </a:pPr>
            <a:r>
              <a:rPr lang="en-US" sz="1100" dirty="0">
                <a:solidFill>
                  <a:srgbClr val="959BB0"/>
                </a:solidFill>
                <a:latin typeface="Palatino Linotype" pitchFamily="34" charset="0"/>
                <a:ea typeface="Palatino Linotype" pitchFamily="34" charset="-122"/>
                <a:cs typeface="Palatino Linotype" pitchFamily="34" charset="-120"/>
              </a:rPr>
              <a:t>65</a:t>
            </a:r>
            <a:endParaRPr lang="en-US" sz="1100" dirty="0"/>
          </a:p>
        </p:txBody>
      </p:sp>
      <p:sp>
        <p:nvSpPr>
          <p:cNvPr id="27" name="Text 25"/>
          <p:cNvSpPr/>
          <p:nvPr/>
        </p:nvSpPr>
        <p:spPr>
          <a:xfrm>
            <a:off x="777240" y="2206752"/>
            <a:ext cx="457200" cy="228600"/>
          </a:xfrm>
          <a:prstGeom prst="rect">
            <a:avLst/>
          </a:prstGeom>
          <a:noFill/>
          <a:ln/>
        </p:spPr>
        <p:txBody>
          <a:bodyPr wrap="square" lIns="0" tIns="0" rIns="0" bIns="0" rtlCol="0" anchor="t"/>
          <a:lstStyle/>
          <a:p>
            <a:pPr algn="r" indent="0" marL="0">
              <a:buNone/>
            </a:pPr>
            <a:r>
              <a:rPr lang="en-US" sz="1100" dirty="0">
                <a:solidFill>
                  <a:srgbClr val="959BB0"/>
                </a:solidFill>
                <a:latin typeface="Palatino Linotype" pitchFamily="34" charset="0"/>
                <a:ea typeface="Palatino Linotype" pitchFamily="34" charset="-122"/>
                <a:cs typeface="Palatino Linotype" pitchFamily="34" charset="-120"/>
              </a:rPr>
              <a:t>80</a:t>
            </a:r>
            <a:endParaRPr lang="en-US" sz="1100" dirty="0"/>
          </a:p>
        </p:txBody>
      </p:sp>
      <p:sp>
        <p:nvSpPr>
          <p:cNvPr id="28" name="Shape 26"/>
          <p:cNvSpPr/>
          <p:nvPr/>
        </p:nvSpPr>
        <p:spPr>
          <a:xfrm>
            <a:off x="5989320" y="1783080"/>
            <a:ext cx="5577840" cy="1965960"/>
          </a:xfrm>
          <a:prstGeom prst="roundRect">
            <a:avLst>
              <a:gd name="adj" fmla="val 4186"/>
            </a:avLst>
          </a:prstGeom>
          <a:solidFill>
            <a:srgbClr val="ECEAE4"/>
          </a:solidFill>
          <a:ln w="12700">
            <a:solidFill>
              <a:srgbClr val="ECEAE4"/>
            </a:solidFill>
            <a:prstDash val="solid"/>
          </a:ln>
        </p:spPr>
      </p:sp>
      <p:sp>
        <p:nvSpPr>
          <p:cNvPr id="29" name="Shape 27"/>
          <p:cNvSpPr/>
          <p:nvPr/>
        </p:nvSpPr>
        <p:spPr>
          <a:xfrm>
            <a:off x="5989320" y="1783080"/>
            <a:ext cx="91440" cy="1965960"/>
          </a:xfrm>
          <a:prstGeom prst="rect">
            <a:avLst/>
          </a:prstGeom>
          <a:solidFill>
            <a:srgbClr val="FF4757"/>
          </a:solidFill>
          <a:ln w="12700">
            <a:solidFill>
              <a:srgbClr val="FF4757"/>
            </a:solidFill>
            <a:prstDash val="solid"/>
          </a:ln>
        </p:spPr>
      </p:sp>
      <p:sp>
        <p:nvSpPr>
          <p:cNvPr id="30" name="Text 28"/>
          <p:cNvSpPr/>
          <p:nvPr/>
        </p:nvSpPr>
        <p:spPr>
          <a:xfrm>
            <a:off x="6355080" y="1783080"/>
            <a:ext cx="5029200" cy="1965960"/>
          </a:xfrm>
          <a:prstGeom prst="rect">
            <a:avLst/>
          </a:prstGeom>
          <a:noFill/>
          <a:ln/>
        </p:spPr>
        <p:txBody>
          <a:bodyPr wrap="square" lIns="0" tIns="0" rIns="0" bIns="0" rtlCol="0" anchor="ctr"/>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Umflătura: generațiile născute după 1967, acum la vârste de peste cincizeci de ani.</a:t>
            </a:r>
            <a:endParaRPr lang="en-US" sz="1900" dirty="0"/>
          </a:p>
        </p:txBody>
      </p:sp>
      <p:sp>
        <p:nvSpPr>
          <p:cNvPr id="31" name="Shape 29"/>
          <p:cNvSpPr/>
          <p:nvPr/>
        </p:nvSpPr>
        <p:spPr>
          <a:xfrm>
            <a:off x="5989320" y="3931920"/>
            <a:ext cx="5577840" cy="2148840"/>
          </a:xfrm>
          <a:prstGeom prst="roundRect">
            <a:avLst>
              <a:gd name="adj" fmla="val 3830"/>
            </a:avLst>
          </a:prstGeom>
          <a:solidFill>
            <a:srgbClr val="ECEAE4"/>
          </a:solidFill>
          <a:ln w="12700">
            <a:solidFill>
              <a:srgbClr val="ECEAE4"/>
            </a:solidFill>
            <a:prstDash val="solid"/>
          </a:ln>
        </p:spPr>
      </p:sp>
      <p:sp>
        <p:nvSpPr>
          <p:cNvPr id="32" name="Shape 30"/>
          <p:cNvSpPr/>
          <p:nvPr/>
        </p:nvSpPr>
        <p:spPr>
          <a:xfrm>
            <a:off x="5989320" y="3931920"/>
            <a:ext cx="91440" cy="2148840"/>
          </a:xfrm>
          <a:prstGeom prst="rect">
            <a:avLst/>
          </a:prstGeom>
          <a:solidFill>
            <a:srgbClr val="0E7C6B"/>
          </a:solidFill>
          <a:ln w="12700">
            <a:solidFill>
              <a:srgbClr val="0E7C6B"/>
            </a:solidFill>
            <a:prstDash val="solid"/>
          </a:ln>
        </p:spPr>
      </p:sp>
      <p:sp>
        <p:nvSpPr>
          <p:cNvPr id="33" name="Text 31"/>
          <p:cNvSpPr/>
          <p:nvPr/>
        </p:nvSpPr>
        <p:spPr>
          <a:xfrm>
            <a:off x="6355080" y="3931920"/>
            <a:ext cx="5029200" cy="2148840"/>
          </a:xfrm>
          <a:prstGeom prst="rect">
            <a:avLst/>
          </a:prstGeom>
          <a:noFill/>
          <a:ln/>
        </p:spPr>
        <p:txBody>
          <a:bodyPr wrap="square" lIns="0" tIns="0" rIns="0" bIns="0" rtlCol="0" anchor="ctr"/>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Baza îngustă: generațiile născute după 1990 sunt mult mai mici. Anunță, cu decenii înainte, pensionările și nevoia de îngrijiri.</a:t>
            </a:r>
            <a:endParaRPr lang="en-US" sz="1900" dirty="0"/>
          </a:p>
        </p:txBody>
      </p:sp>
      <p:sp>
        <p:nvSpPr>
          <p:cNvPr id="34" name="Text 32"/>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Eurostat, populația pe grupe de vârstă la 1 ianuarie 2025 (ambele sexe).</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ÎMBĂTRÂNIREA POPULAȚIEI · 2025</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România față de Uniunea Europeană</a:t>
            </a:r>
            <a:endParaRPr lang="en-US" sz="3400" dirty="0"/>
          </a:p>
        </p:txBody>
      </p:sp>
      <p:sp>
        <p:nvSpPr>
          <p:cNvPr id="4" name="Shape 2"/>
          <p:cNvSpPr/>
          <p:nvPr/>
        </p:nvSpPr>
        <p:spPr>
          <a:xfrm>
            <a:off x="594360" y="1783080"/>
            <a:ext cx="7223760" cy="4251960"/>
          </a:xfrm>
          <a:prstGeom prst="roundRect">
            <a:avLst>
              <a:gd name="adj" fmla="val 1935"/>
            </a:avLst>
          </a:prstGeom>
          <a:solidFill>
            <a:srgbClr val="1D1F2B"/>
          </a:solidFill>
          <a:ln w="12700">
            <a:solidFill>
              <a:srgbClr val="1D1F2B"/>
            </a:solidFill>
            <a:prstDash val="solid"/>
          </a:ln>
        </p:spPr>
      </p:sp>
      <p:sp>
        <p:nvSpPr>
          <p:cNvPr id="5" name="Text 3"/>
          <p:cNvSpPr/>
          <p:nvPr/>
        </p:nvSpPr>
        <p:spPr>
          <a:xfrm>
            <a:off x="4572000" y="1874520"/>
            <a:ext cx="1554480" cy="365760"/>
          </a:xfrm>
          <a:prstGeom prst="rect">
            <a:avLst/>
          </a:prstGeom>
          <a:noFill/>
          <a:ln/>
        </p:spPr>
        <p:txBody>
          <a:bodyPr wrap="square" lIns="0" tIns="0" rIns="0" bIns="0" rtlCol="0" anchor="t"/>
          <a:lstStyle/>
          <a:p>
            <a:pPr algn="ctr" indent="0" marL="0">
              <a:buNone/>
            </a:pPr>
            <a:r>
              <a:rPr lang="en-US" sz="1400" b="1" dirty="0">
                <a:solidFill>
                  <a:srgbClr val="FF4757"/>
                </a:solidFill>
                <a:latin typeface="Palatino Linotype" pitchFamily="34" charset="0"/>
                <a:ea typeface="Palatino Linotype" pitchFamily="34" charset="-122"/>
                <a:cs typeface="Palatino Linotype" pitchFamily="34" charset="-120"/>
              </a:rPr>
              <a:t>România</a:t>
            </a:r>
            <a:endParaRPr lang="en-US" sz="1400" dirty="0"/>
          </a:p>
        </p:txBody>
      </p:sp>
      <p:sp>
        <p:nvSpPr>
          <p:cNvPr id="6" name="Text 4"/>
          <p:cNvSpPr/>
          <p:nvPr/>
        </p:nvSpPr>
        <p:spPr>
          <a:xfrm>
            <a:off x="6217920" y="1874520"/>
            <a:ext cx="1371600" cy="365760"/>
          </a:xfrm>
          <a:prstGeom prst="rect">
            <a:avLst/>
          </a:prstGeom>
          <a:noFill/>
          <a:ln/>
        </p:spPr>
        <p:txBody>
          <a:bodyPr wrap="square" lIns="0" tIns="0" rIns="0" bIns="0" rtlCol="0" anchor="t"/>
          <a:lstStyle/>
          <a:p>
            <a:pPr algn="ctr" indent="0" marL="0">
              <a:buNone/>
            </a:pPr>
            <a:r>
              <a:rPr lang="en-US" sz="1400" b="1" dirty="0">
                <a:solidFill>
                  <a:srgbClr val="27D3BE"/>
                </a:solidFill>
                <a:latin typeface="Palatino Linotype" pitchFamily="34" charset="0"/>
                <a:ea typeface="Palatino Linotype" pitchFamily="34" charset="-122"/>
                <a:cs typeface="Palatino Linotype" pitchFamily="34" charset="-120"/>
              </a:rPr>
              <a:t>UE</a:t>
            </a:r>
            <a:endParaRPr lang="en-US" sz="1400" dirty="0"/>
          </a:p>
        </p:txBody>
      </p:sp>
      <p:sp>
        <p:nvSpPr>
          <p:cNvPr id="7" name="Shape 5"/>
          <p:cNvSpPr/>
          <p:nvPr/>
        </p:nvSpPr>
        <p:spPr>
          <a:xfrm>
            <a:off x="822960" y="2286000"/>
            <a:ext cx="6766560" cy="18288"/>
          </a:xfrm>
          <a:prstGeom prst="rect">
            <a:avLst/>
          </a:prstGeom>
          <a:solidFill>
            <a:srgbClr val="4B5068"/>
          </a:solidFill>
          <a:ln w="12700">
            <a:solidFill>
              <a:srgbClr val="4B5068"/>
            </a:solidFill>
            <a:prstDash val="solid"/>
          </a:ln>
        </p:spPr>
      </p:sp>
      <p:sp>
        <p:nvSpPr>
          <p:cNvPr id="8" name="Text 6"/>
          <p:cNvSpPr/>
          <p:nvPr/>
        </p:nvSpPr>
        <p:spPr>
          <a:xfrm>
            <a:off x="822960" y="2331720"/>
            <a:ext cx="3657600" cy="777240"/>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Persoane de 65 de ani și peste</a:t>
            </a:r>
            <a:endParaRPr lang="en-US" sz="1500" dirty="0"/>
          </a:p>
        </p:txBody>
      </p:sp>
      <p:sp>
        <p:nvSpPr>
          <p:cNvPr id="9" name="Text 7"/>
          <p:cNvSpPr/>
          <p:nvPr/>
        </p:nvSpPr>
        <p:spPr>
          <a:xfrm>
            <a:off x="4572000" y="2331720"/>
            <a:ext cx="1554480" cy="777240"/>
          </a:xfrm>
          <a:prstGeom prst="rect">
            <a:avLst/>
          </a:prstGeom>
          <a:noFill/>
          <a:ln/>
        </p:spPr>
        <p:txBody>
          <a:bodyPr wrap="square" lIns="0" tIns="0" rIns="0" bIns="0" rtlCol="0" anchor="ctr"/>
          <a:lstStyle/>
          <a:p>
            <a:pPr algn="ctr" indent="0" marL="0">
              <a:buNone/>
            </a:pPr>
            <a:r>
              <a:rPr lang="en-US" sz="2200" b="1" dirty="0">
                <a:solidFill>
                  <a:srgbClr val="FFFFFF"/>
                </a:solidFill>
                <a:latin typeface="Palatino Linotype" pitchFamily="34" charset="0"/>
                <a:ea typeface="Palatino Linotype" pitchFamily="34" charset="-122"/>
                <a:cs typeface="Palatino Linotype" pitchFamily="34" charset="-120"/>
              </a:rPr>
              <a:t>20,3%</a:t>
            </a:r>
            <a:endParaRPr lang="en-US" sz="2200" dirty="0"/>
          </a:p>
        </p:txBody>
      </p:sp>
      <p:sp>
        <p:nvSpPr>
          <p:cNvPr id="10" name="Text 8"/>
          <p:cNvSpPr/>
          <p:nvPr/>
        </p:nvSpPr>
        <p:spPr>
          <a:xfrm>
            <a:off x="6217920" y="2331720"/>
            <a:ext cx="1371600" cy="777240"/>
          </a:xfrm>
          <a:prstGeom prst="rect">
            <a:avLst/>
          </a:prstGeom>
          <a:noFill/>
          <a:ln/>
        </p:spPr>
        <p:txBody>
          <a:bodyPr wrap="square" lIns="0" tIns="0" rIns="0" bIns="0" rtlCol="0" anchor="ctr"/>
          <a:lstStyle/>
          <a:p>
            <a:pPr algn="ctr" indent="0" marL="0">
              <a:buNone/>
            </a:pPr>
            <a:r>
              <a:rPr lang="en-US" sz="2200" b="1" dirty="0">
                <a:solidFill>
                  <a:srgbClr val="FFFFFF"/>
                </a:solidFill>
                <a:latin typeface="Palatino Linotype" pitchFamily="34" charset="0"/>
                <a:ea typeface="Palatino Linotype" pitchFamily="34" charset="-122"/>
                <a:cs typeface="Palatino Linotype" pitchFamily="34" charset="-120"/>
              </a:rPr>
              <a:t>22,0%</a:t>
            </a:r>
            <a:endParaRPr lang="en-US" sz="2200" dirty="0"/>
          </a:p>
        </p:txBody>
      </p:sp>
      <p:sp>
        <p:nvSpPr>
          <p:cNvPr id="11" name="Shape 9"/>
          <p:cNvSpPr/>
          <p:nvPr/>
        </p:nvSpPr>
        <p:spPr>
          <a:xfrm>
            <a:off x="822960" y="3191256"/>
            <a:ext cx="6766560" cy="18288"/>
          </a:xfrm>
          <a:prstGeom prst="rect">
            <a:avLst/>
          </a:prstGeom>
          <a:solidFill>
            <a:srgbClr val="4B5068"/>
          </a:solidFill>
          <a:ln w="12700">
            <a:solidFill>
              <a:srgbClr val="4B5068"/>
            </a:solidFill>
            <a:prstDash val="solid"/>
          </a:ln>
        </p:spPr>
      </p:sp>
      <p:sp>
        <p:nvSpPr>
          <p:cNvPr id="12" name="Text 10"/>
          <p:cNvSpPr/>
          <p:nvPr/>
        </p:nvSpPr>
        <p:spPr>
          <a:xfrm>
            <a:off x="822960" y="3236976"/>
            <a:ext cx="3657600" cy="777240"/>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Persoane de 80 de ani și peste</a:t>
            </a:r>
            <a:endParaRPr lang="en-US" sz="1500" dirty="0"/>
          </a:p>
        </p:txBody>
      </p:sp>
      <p:sp>
        <p:nvSpPr>
          <p:cNvPr id="13" name="Text 11"/>
          <p:cNvSpPr/>
          <p:nvPr/>
        </p:nvSpPr>
        <p:spPr>
          <a:xfrm>
            <a:off x="4572000" y="3236976"/>
            <a:ext cx="1554480" cy="777240"/>
          </a:xfrm>
          <a:prstGeom prst="rect">
            <a:avLst/>
          </a:prstGeom>
          <a:noFill/>
          <a:ln/>
        </p:spPr>
        <p:txBody>
          <a:bodyPr wrap="square" lIns="0" tIns="0" rIns="0" bIns="0" rtlCol="0" anchor="ctr"/>
          <a:lstStyle/>
          <a:p>
            <a:pPr algn="ctr" indent="0" marL="0">
              <a:buNone/>
            </a:pPr>
            <a:r>
              <a:rPr lang="en-US" sz="2200" b="1" dirty="0">
                <a:solidFill>
                  <a:srgbClr val="FFFFFF"/>
                </a:solidFill>
                <a:latin typeface="Palatino Linotype" pitchFamily="34" charset="0"/>
                <a:ea typeface="Palatino Linotype" pitchFamily="34" charset="-122"/>
                <a:cs typeface="Palatino Linotype" pitchFamily="34" charset="-120"/>
              </a:rPr>
              <a:t>4,5%</a:t>
            </a:r>
            <a:endParaRPr lang="en-US" sz="2200" dirty="0"/>
          </a:p>
        </p:txBody>
      </p:sp>
      <p:sp>
        <p:nvSpPr>
          <p:cNvPr id="14" name="Text 12"/>
          <p:cNvSpPr/>
          <p:nvPr/>
        </p:nvSpPr>
        <p:spPr>
          <a:xfrm>
            <a:off x="6217920" y="3236976"/>
            <a:ext cx="1371600" cy="777240"/>
          </a:xfrm>
          <a:prstGeom prst="rect">
            <a:avLst/>
          </a:prstGeom>
          <a:noFill/>
          <a:ln/>
        </p:spPr>
        <p:txBody>
          <a:bodyPr wrap="square" lIns="0" tIns="0" rIns="0" bIns="0" rtlCol="0" anchor="ctr"/>
          <a:lstStyle/>
          <a:p>
            <a:pPr algn="ctr" indent="0" marL="0">
              <a:buNone/>
            </a:pPr>
            <a:r>
              <a:rPr lang="en-US" sz="2200" b="1" dirty="0">
                <a:solidFill>
                  <a:srgbClr val="FFFFFF"/>
                </a:solidFill>
                <a:latin typeface="Palatino Linotype" pitchFamily="34" charset="0"/>
                <a:ea typeface="Palatino Linotype" pitchFamily="34" charset="-122"/>
                <a:cs typeface="Palatino Linotype" pitchFamily="34" charset="-120"/>
              </a:rPr>
              <a:t>6,2%</a:t>
            </a:r>
            <a:endParaRPr lang="en-US" sz="2200" dirty="0"/>
          </a:p>
        </p:txBody>
      </p:sp>
      <p:sp>
        <p:nvSpPr>
          <p:cNvPr id="15" name="Shape 13"/>
          <p:cNvSpPr/>
          <p:nvPr/>
        </p:nvSpPr>
        <p:spPr>
          <a:xfrm>
            <a:off x="822960" y="4096512"/>
            <a:ext cx="6766560" cy="18288"/>
          </a:xfrm>
          <a:prstGeom prst="rect">
            <a:avLst/>
          </a:prstGeom>
          <a:solidFill>
            <a:srgbClr val="4B5068"/>
          </a:solidFill>
          <a:ln w="12700">
            <a:solidFill>
              <a:srgbClr val="4B5068"/>
            </a:solidFill>
            <a:prstDash val="solid"/>
          </a:ln>
        </p:spPr>
      </p:sp>
      <p:sp>
        <p:nvSpPr>
          <p:cNvPr id="16" name="Text 14"/>
          <p:cNvSpPr/>
          <p:nvPr/>
        </p:nvSpPr>
        <p:spPr>
          <a:xfrm>
            <a:off x="822960" y="4142232"/>
            <a:ext cx="3657600" cy="777240"/>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Vârsta mediană</a:t>
            </a:r>
            <a:endParaRPr lang="en-US" sz="1500" dirty="0"/>
          </a:p>
        </p:txBody>
      </p:sp>
      <p:sp>
        <p:nvSpPr>
          <p:cNvPr id="17" name="Text 15"/>
          <p:cNvSpPr/>
          <p:nvPr/>
        </p:nvSpPr>
        <p:spPr>
          <a:xfrm>
            <a:off x="4572000" y="4142232"/>
            <a:ext cx="1554480" cy="777240"/>
          </a:xfrm>
          <a:prstGeom prst="rect">
            <a:avLst/>
          </a:prstGeom>
          <a:noFill/>
          <a:ln/>
        </p:spPr>
        <p:txBody>
          <a:bodyPr wrap="square" lIns="0" tIns="0" rIns="0" bIns="0" rtlCol="0" anchor="ctr"/>
          <a:lstStyle/>
          <a:p>
            <a:pPr algn="ctr" indent="0" marL="0">
              <a:buNone/>
            </a:pPr>
            <a:r>
              <a:rPr lang="en-US" sz="2200" b="1" dirty="0">
                <a:solidFill>
                  <a:srgbClr val="FFFFFF"/>
                </a:solidFill>
                <a:latin typeface="Palatino Linotype" pitchFamily="34" charset="0"/>
                <a:ea typeface="Palatino Linotype" pitchFamily="34" charset="-122"/>
                <a:cs typeface="Palatino Linotype" pitchFamily="34" charset="-120"/>
              </a:rPr>
              <a:t>44,1 ani</a:t>
            </a:r>
            <a:endParaRPr lang="en-US" sz="2200" dirty="0"/>
          </a:p>
        </p:txBody>
      </p:sp>
      <p:sp>
        <p:nvSpPr>
          <p:cNvPr id="18" name="Text 16"/>
          <p:cNvSpPr/>
          <p:nvPr/>
        </p:nvSpPr>
        <p:spPr>
          <a:xfrm>
            <a:off x="6217920" y="4142232"/>
            <a:ext cx="1371600" cy="777240"/>
          </a:xfrm>
          <a:prstGeom prst="rect">
            <a:avLst/>
          </a:prstGeom>
          <a:noFill/>
          <a:ln/>
        </p:spPr>
        <p:txBody>
          <a:bodyPr wrap="square" lIns="0" tIns="0" rIns="0" bIns="0" rtlCol="0" anchor="ctr"/>
          <a:lstStyle/>
          <a:p>
            <a:pPr algn="ctr" indent="0" marL="0">
              <a:buNone/>
            </a:pPr>
            <a:r>
              <a:rPr lang="en-US" sz="2200" b="1" dirty="0">
                <a:solidFill>
                  <a:srgbClr val="FFFFFF"/>
                </a:solidFill>
                <a:latin typeface="Palatino Linotype" pitchFamily="34" charset="0"/>
                <a:ea typeface="Palatino Linotype" pitchFamily="34" charset="-122"/>
                <a:cs typeface="Palatino Linotype" pitchFamily="34" charset="-120"/>
              </a:rPr>
              <a:t>44,9 ani</a:t>
            </a:r>
            <a:endParaRPr lang="en-US" sz="2200" dirty="0"/>
          </a:p>
        </p:txBody>
      </p:sp>
      <p:sp>
        <p:nvSpPr>
          <p:cNvPr id="19" name="Shape 17"/>
          <p:cNvSpPr/>
          <p:nvPr/>
        </p:nvSpPr>
        <p:spPr>
          <a:xfrm>
            <a:off x="822960" y="5001768"/>
            <a:ext cx="6766560" cy="18288"/>
          </a:xfrm>
          <a:prstGeom prst="rect">
            <a:avLst/>
          </a:prstGeom>
          <a:solidFill>
            <a:srgbClr val="4B5068"/>
          </a:solidFill>
          <a:ln w="12700">
            <a:solidFill>
              <a:srgbClr val="4B5068"/>
            </a:solidFill>
            <a:prstDash val="solid"/>
          </a:ln>
        </p:spPr>
      </p:sp>
      <p:sp>
        <p:nvSpPr>
          <p:cNvPr id="20" name="Text 18"/>
          <p:cNvSpPr/>
          <p:nvPr/>
        </p:nvSpPr>
        <p:spPr>
          <a:xfrm>
            <a:off x="822960" y="5047488"/>
            <a:ext cx="3657600" cy="777240"/>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Raportul de dependență al vârstnicilor</a:t>
            </a:r>
            <a:endParaRPr lang="en-US" sz="1500" dirty="0"/>
          </a:p>
        </p:txBody>
      </p:sp>
      <p:sp>
        <p:nvSpPr>
          <p:cNvPr id="21" name="Text 19"/>
          <p:cNvSpPr/>
          <p:nvPr/>
        </p:nvSpPr>
        <p:spPr>
          <a:xfrm>
            <a:off x="4572000" y="5047488"/>
            <a:ext cx="1554480" cy="777240"/>
          </a:xfrm>
          <a:prstGeom prst="rect">
            <a:avLst/>
          </a:prstGeom>
          <a:noFill/>
          <a:ln/>
        </p:spPr>
        <p:txBody>
          <a:bodyPr wrap="square" lIns="0" tIns="0" rIns="0" bIns="0" rtlCol="0" anchor="ctr"/>
          <a:lstStyle/>
          <a:p>
            <a:pPr algn="ctr" indent="0" marL="0">
              <a:buNone/>
            </a:pPr>
            <a:r>
              <a:rPr lang="en-US" sz="2200" b="1" dirty="0">
                <a:solidFill>
                  <a:srgbClr val="FFFFFF"/>
                </a:solidFill>
                <a:latin typeface="Palatino Linotype" pitchFamily="34" charset="0"/>
                <a:ea typeface="Palatino Linotype" pitchFamily="34" charset="-122"/>
                <a:cs typeface="Palatino Linotype" pitchFamily="34" charset="-120"/>
              </a:rPr>
              <a:t>31,6</a:t>
            </a:r>
            <a:endParaRPr lang="en-US" sz="2200" dirty="0"/>
          </a:p>
        </p:txBody>
      </p:sp>
      <p:sp>
        <p:nvSpPr>
          <p:cNvPr id="22" name="Text 20"/>
          <p:cNvSpPr/>
          <p:nvPr/>
        </p:nvSpPr>
        <p:spPr>
          <a:xfrm>
            <a:off x="6217920" y="5047488"/>
            <a:ext cx="1371600" cy="777240"/>
          </a:xfrm>
          <a:prstGeom prst="rect">
            <a:avLst/>
          </a:prstGeom>
          <a:noFill/>
          <a:ln/>
        </p:spPr>
        <p:txBody>
          <a:bodyPr wrap="square" lIns="0" tIns="0" rIns="0" bIns="0" rtlCol="0" anchor="ctr"/>
          <a:lstStyle/>
          <a:p>
            <a:pPr algn="ctr" indent="0" marL="0">
              <a:buNone/>
            </a:pPr>
            <a:r>
              <a:rPr lang="en-US" sz="2200" b="1" dirty="0">
                <a:solidFill>
                  <a:srgbClr val="FFFFFF"/>
                </a:solidFill>
                <a:latin typeface="Palatino Linotype" pitchFamily="34" charset="0"/>
                <a:ea typeface="Palatino Linotype" pitchFamily="34" charset="-122"/>
                <a:cs typeface="Palatino Linotype" pitchFamily="34" charset="-120"/>
              </a:rPr>
              <a:t>34,5</a:t>
            </a:r>
            <a:endParaRPr lang="en-US" sz="2200" dirty="0"/>
          </a:p>
        </p:txBody>
      </p:sp>
      <p:sp>
        <p:nvSpPr>
          <p:cNvPr id="23" name="Shape 21"/>
          <p:cNvSpPr/>
          <p:nvPr/>
        </p:nvSpPr>
        <p:spPr>
          <a:xfrm>
            <a:off x="8092440" y="1783080"/>
            <a:ext cx="3474720" cy="4251960"/>
          </a:xfrm>
          <a:prstGeom prst="roundRect">
            <a:avLst>
              <a:gd name="adj" fmla="val 2368"/>
            </a:avLst>
          </a:prstGeom>
          <a:solidFill>
            <a:srgbClr val="272A38"/>
          </a:solidFill>
          <a:ln w="12700">
            <a:solidFill>
              <a:srgbClr val="272A38"/>
            </a:solidFill>
            <a:prstDash val="solid"/>
          </a:ln>
        </p:spPr>
      </p:sp>
      <p:sp>
        <p:nvSpPr>
          <p:cNvPr id="24" name="Text 22"/>
          <p:cNvSpPr/>
          <p:nvPr/>
        </p:nvSpPr>
        <p:spPr>
          <a:xfrm>
            <a:off x="8321040" y="1920240"/>
            <a:ext cx="3017520" cy="1463040"/>
          </a:xfrm>
          <a:prstGeom prst="rect">
            <a:avLst/>
          </a:prstGeom>
          <a:noFill/>
          <a:ln/>
        </p:spPr>
        <p:txBody>
          <a:bodyPr wrap="square" lIns="0" tIns="0" rIns="0" bIns="0" rtlCol="0" anchor="t"/>
          <a:lstStyle/>
          <a:p>
            <a:pPr indent="0" marL="0">
              <a:buNone/>
            </a:pPr>
            <a:r>
              <a:rPr lang="en-US" sz="1700" b="1" dirty="0">
                <a:solidFill>
                  <a:srgbClr val="FFC24B"/>
                </a:solidFill>
                <a:latin typeface="Palatino Linotype" pitchFamily="34" charset="0"/>
                <a:ea typeface="Palatino Linotype" pitchFamily="34" charset="-122"/>
                <a:cs typeface="Palatino Linotype" pitchFamily="34" charset="-120"/>
              </a:rPr>
              <a:t>Nu mai îmbătrânită decât media europeană, dar îmbătrânește repede.</a:t>
            </a:r>
            <a:endParaRPr lang="en-US" sz="1700" dirty="0"/>
          </a:p>
        </p:txBody>
      </p:sp>
      <p:sp>
        <p:nvSpPr>
          <p:cNvPr id="25" name="Text 23"/>
          <p:cNvSpPr/>
          <p:nvPr/>
        </p:nvSpPr>
        <p:spPr>
          <a:xfrm>
            <a:off x="8321040" y="3474720"/>
            <a:ext cx="3017520" cy="2377440"/>
          </a:xfrm>
          <a:prstGeom prst="rect">
            <a:avLst/>
          </a:prstGeom>
          <a:noFill/>
          <a:ln/>
        </p:spPr>
        <p:txBody>
          <a:bodyPr wrap="square" lIns="0" tIns="0" rIns="0" bIns="0" rtlCol="0" anchor="t"/>
          <a:lstStyle/>
          <a:p>
            <a:pPr indent="0" marL="0">
              <a:buNone/>
            </a:pPr>
            <a:r>
              <a:rPr lang="en-US" sz="1400" dirty="0">
                <a:solidFill>
                  <a:srgbClr val="D5D8E2"/>
                </a:solidFill>
                <a:latin typeface="Palatino Linotype" pitchFamily="34" charset="0"/>
                <a:ea typeface="Palatino Linotype" pitchFamily="34" charset="-122"/>
                <a:cs typeface="Palatino Linotype" pitchFamily="34" charset="-120"/>
              </a:rPr>
              <a:t>Persoanele de 65 de ani și peste erau 10,3% în 1990. Raportul de dependență al vârstnicilor: 15,6 în 1990, 31,6 în 2025.</a:t>
            </a:r>
            <a:endParaRPr lang="en-US" sz="1400" dirty="0"/>
          </a:p>
        </p:txBody>
      </p:sp>
      <p:sp>
        <p:nvSpPr>
          <p:cNvPr id="26" name="Text 24"/>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Sursa: Eurostat (demo_pjanind). Raportul de dependență al vârstnicilor (numit și rata de dependență): persoane de 65+ la o sută de persoane de 15–64 de ani.</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CÂȚI BUNICI LA O SUTĂ DE COPII?</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400" b="1" dirty="0">
                <a:solidFill>
                  <a:srgbClr val="11121A"/>
                </a:solidFill>
                <a:latin typeface="Palatino Linotype" pitchFamily="34" charset="0"/>
                <a:ea typeface="Palatino Linotype" pitchFamily="34" charset="-122"/>
                <a:cs typeface="Palatino Linotype" pitchFamily="34" charset="-120"/>
              </a:rPr>
              <a:t>Indicele de îmbătrânire: 131,3</a:t>
            </a:r>
            <a:endParaRPr lang="en-US" sz="3400" dirty="0"/>
          </a:p>
        </p:txBody>
      </p:sp>
      <p:sp>
        <p:nvSpPr>
          <p:cNvPr id="4" name="Shape 2"/>
          <p:cNvSpPr/>
          <p:nvPr/>
        </p:nvSpPr>
        <p:spPr>
          <a:xfrm>
            <a:off x="594360" y="1783080"/>
            <a:ext cx="4206240" cy="4251960"/>
          </a:xfrm>
          <a:prstGeom prst="roundRect">
            <a:avLst>
              <a:gd name="adj" fmla="val 1957"/>
            </a:avLst>
          </a:prstGeom>
          <a:solidFill>
            <a:srgbClr val="11121A"/>
          </a:solidFill>
          <a:ln w="12700">
            <a:solidFill>
              <a:srgbClr val="11121A"/>
            </a:solidFill>
            <a:prstDash val="solid"/>
          </a:ln>
        </p:spPr>
      </p:sp>
      <p:sp>
        <p:nvSpPr>
          <p:cNvPr id="5" name="Text 3"/>
          <p:cNvSpPr/>
          <p:nvPr/>
        </p:nvSpPr>
        <p:spPr>
          <a:xfrm>
            <a:off x="822960" y="2011680"/>
            <a:ext cx="3749040" cy="1371600"/>
          </a:xfrm>
          <a:prstGeom prst="rect">
            <a:avLst/>
          </a:prstGeom>
          <a:noFill/>
          <a:ln/>
        </p:spPr>
        <p:txBody>
          <a:bodyPr wrap="square" lIns="0" tIns="0" rIns="0" bIns="0" rtlCol="0" anchor="ctr"/>
          <a:lstStyle/>
          <a:p>
            <a:pPr indent="0" marL="0">
              <a:buNone/>
            </a:pPr>
            <a:r>
              <a:rPr lang="en-US" sz="7600" b="1" dirty="0">
                <a:solidFill>
                  <a:srgbClr val="FF4757"/>
                </a:solidFill>
                <a:latin typeface="Palatino Linotype" pitchFamily="34" charset="0"/>
                <a:ea typeface="Palatino Linotype" pitchFamily="34" charset="-122"/>
                <a:cs typeface="Palatino Linotype" pitchFamily="34" charset="-120"/>
              </a:rPr>
              <a:t>131,3</a:t>
            </a:r>
            <a:endParaRPr lang="en-US" sz="7600" dirty="0"/>
          </a:p>
        </p:txBody>
      </p:sp>
      <p:sp>
        <p:nvSpPr>
          <p:cNvPr id="6" name="Text 4"/>
          <p:cNvSpPr/>
          <p:nvPr/>
        </p:nvSpPr>
        <p:spPr>
          <a:xfrm>
            <a:off x="822960" y="3474720"/>
            <a:ext cx="3749040" cy="2286000"/>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la fiecare sută de copii sub 15 ani, aproximativ o sută treizeci și unu de persoane de 65 de ani și peste (1 ianuarie 2025)</a:t>
            </a:r>
            <a:endParaRPr lang="en-US" sz="1600" dirty="0"/>
          </a:p>
        </p:txBody>
      </p:sp>
      <p:sp>
        <p:nvSpPr>
          <p:cNvPr id="7" name="Shape 5"/>
          <p:cNvSpPr/>
          <p:nvPr/>
        </p:nvSpPr>
        <p:spPr>
          <a:xfrm>
            <a:off x="5074920" y="1783080"/>
            <a:ext cx="6492240" cy="960120"/>
          </a:xfrm>
          <a:prstGeom prst="roundRect">
            <a:avLst>
              <a:gd name="adj" fmla="val 8571"/>
            </a:avLst>
          </a:prstGeom>
          <a:solidFill>
            <a:srgbClr val="ECEAE4"/>
          </a:solidFill>
          <a:ln w="12700">
            <a:solidFill>
              <a:srgbClr val="ECEAE4"/>
            </a:solidFill>
            <a:prstDash val="solid"/>
          </a:ln>
        </p:spPr>
      </p:sp>
      <p:sp>
        <p:nvSpPr>
          <p:cNvPr id="8" name="Shape 6"/>
          <p:cNvSpPr/>
          <p:nvPr/>
        </p:nvSpPr>
        <p:spPr>
          <a:xfrm>
            <a:off x="5303520" y="2057400"/>
            <a:ext cx="420624" cy="420624"/>
          </a:xfrm>
          <a:prstGeom prst="ellipse">
            <a:avLst/>
          </a:prstGeom>
          <a:solidFill>
            <a:srgbClr val="FFC24B"/>
          </a:solidFill>
          <a:ln/>
        </p:spPr>
      </p:sp>
      <p:sp>
        <p:nvSpPr>
          <p:cNvPr id="9" name="Text 7"/>
          <p:cNvSpPr/>
          <p:nvPr/>
        </p:nvSpPr>
        <p:spPr>
          <a:xfrm>
            <a:off x="5303520" y="205740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10" name="Text 8"/>
          <p:cNvSpPr/>
          <p:nvPr/>
        </p:nvSpPr>
        <p:spPr>
          <a:xfrm>
            <a:off x="5943600" y="1783080"/>
            <a:ext cx="5486400" cy="960120"/>
          </a:xfrm>
          <a:prstGeom prst="rect">
            <a:avLst/>
          </a:prstGeom>
          <a:noFill/>
          <a:ln/>
        </p:spPr>
        <p:txBody>
          <a:bodyPr wrap="square" lIns="0" tIns="0" rIns="0" bIns="0" rtlCol="0" anchor="ctr"/>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Adunăm persoanele de 65 de ani și peste.</a:t>
            </a:r>
            <a:endParaRPr lang="en-US" sz="1800" dirty="0"/>
          </a:p>
        </p:txBody>
      </p:sp>
      <p:sp>
        <p:nvSpPr>
          <p:cNvPr id="11" name="Shape 9"/>
          <p:cNvSpPr/>
          <p:nvPr/>
        </p:nvSpPr>
        <p:spPr>
          <a:xfrm>
            <a:off x="5074920" y="2880360"/>
            <a:ext cx="6492240" cy="960120"/>
          </a:xfrm>
          <a:prstGeom prst="roundRect">
            <a:avLst>
              <a:gd name="adj" fmla="val 8571"/>
            </a:avLst>
          </a:prstGeom>
          <a:solidFill>
            <a:srgbClr val="ECEAE4"/>
          </a:solidFill>
          <a:ln w="12700">
            <a:solidFill>
              <a:srgbClr val="ECEAE4"/>
            </a:solidFill>
            <a:prstDash val="solid"/>
          </a:ln>
        </p:spPr>
      </p:sp>
      <p:sp>
        <p:nvSpPr>
          <p:cNvPr id="12" name="Shape 10"/>
          <p:cNvSpPr/>
          <p:nvPr/>
        </p:nvSpPr>
        <p:spPr>
          <a:xfrm>
            <a:off x="5303520" y="3154680"/>
            <a:ext cx="420624" cy="420624"/>
          </a:xfrm>
          <a:prstGeom prst="ellipse">
            <a:avLst/>
          </a:prstGeom>
          <a:solidFill>
            <a:srgbClr val="FFC24B"/>
          </a:solidFill>
          <a:ln/>
        </p:spPr>
      </p:sp>
      <p:sp>
        <p:nvSpPr>
          <p:cNvPr id="13" name="Text 11"/>
          <p:cNvSpPr/>
          <p:nvPr/>
        </p:nvSpPr>
        <p:spPr>
          <a:xfrm>
            <a:off x="5303520" y="315468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4" name="Text 12"/>
          <p:cNvSpPr/>
          <p:nvPr/>
        </p:nvSpPr>
        <p:spPr>
          <a:xfrm>
            <a:off x="5943600" y="2880360"/>
            <a:ext cx="5486400" cy="960120"/>
          </a:xfrm>
          <a:prstGeom prst="rect">
            <a:avLst/>
          </a:prstGeom>
          <a:noFill/>
          <a:ln/>
        </p:spPr>
        <p:txBody>
          <a:bodyPr wrap="square" lIns="0" tIns="0" rIns="0" bIns="0" rtlCol="0" anchor="ctr"/>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Adunăm copiii de 0–14 ani.</a:t>
            </a:r>
            <a:endParaRPr lang="en-US" sz="1800" dirty="0"/>
          </a:p>
        </p:txBody>
      </p:sp>
      <p:sp>
        <p:nvSpPr>
          <p:cNvPr id="15" name="Shape 13"/>
          <p:cNvSpPr/>
          <p:nvPr/>
        </p:nvSpPr>
        <p:spPr>
          <a:xfrm>
            <a:off x="5074920" y="3977640"/>
            <a:ext cx="6492240" cy="960120"/>
          </a:xfrm>
          <a:prstGeom prst="roundRect">
            <a:avLst>
              <a:gd name="adj" fmla="val 8571"/>
            </a:avLst>
          </a:prstGeom>
          <a:solidFill>
            <a:srgbClr val="ECEAE4"/>
          </a:solidFill>
          <a:ln w="12700">
            <a:solidFill>
              <a:srgbClr val="ECEAE4"/>
            </a:solidFill>
            <a:prstDash val="solid"/>
          </a:ln>
        </p:spPr>
      </p:sp>
      <p:sp>
        <p:nvSpPr>
          <p:cNvPr id="16" name="Shape 14"/>
          <p:cNvSpPr/>
          <p:nvPr/>
        </p:nvSpPr>
        <p:spPr>
          <a:xfrm>
            <a:off x="5303520" y="4251960"/>
            <a:ext cx="420624" cy="420624"/>
          </a:xfrm>
          <a:prstGeom prst="ellipse">
            <a:avLst/>
          </a:prstGeom>
          <a:solidFill>
            <a:srgbClr val="FFC24B"/>
          </a:solidFill>
          <a:ln/>
        </p:spPr>
      </p:sp>
      <p:sp>
        <p:nvSpPr>
          <p:cNvPr id="17" name="Text 15"/>
          <p:cNvSpPr/>
          <p:nvPr/>
        </p:nvSpPr>
        <p:spPr>
          <a:xfrm>
            <a:off x="5303520" y="425196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8" name="Text 16"/>
          <p:cNvSpPr/>
          <p:nvPr/>
        </p:nvSpPr>
        <p:spPr>
          <a:xfrm>
            <a:off x="5943600" y="3977640"/>
            <a:ext cx="5486400" cy="960120"/>
          </a:xfrm>
          <a:prstGeom prst="rect">
            <a:avLst/>
          </a:prstGeom>
          <a:noFill/>
          <a:ln/>
        </p:spPr>
        <p:txBody>
          <a:bodyPr wrap="square" lIns="0" tIns="0" rIns="0" bIns="0" rtlCol="0" anchor="ctr"/>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Împărțim prima sumă la a doua și înmulțim cu o sută.</a:t>
            </a:r>
            <a:endParaRPr lang="en-US" sz="1800" dirty="0"/>
          </a:p>
        </p:txBody>
      </p:sp>
      <p:sp>
        <p:nvSpPr>
          <p:cNvPr id="19" name="Shape 17"/>
          <p:cNvSpPr/>
          <p:nvPr/>
        </p:nvSpPr>
        <p:spPr>
          <a:xfrm>
            <a:off x="5074920" y="5120640"/>
            <a:ext cx="6492240" cy="914400"/>
          </a:xfrm>
          <a:prstGeom prst="roundRect">
            <a:avLst>
              <a:gd name="adj" fmla="val 9000"/>
            </a:avLst>
          </a:prstGeom>
          <a:solidFill>
            <a:srgbClr val="F9F8F5"/>
          </a:solidFill>
          <a:ln w="12700">
            <a:solidFill>
              <a:srgbClr val="F9F8F5"/>
            </a:solidFill>
            <a:prstDash val="solid"/>
          </a:ln>
        </p:spPr>
      </p:sp>
      <p:sp>
        <p:nvSpPr>
          <p:cNvPr id="20" name="Text 18"/>
          <p:cNvSpPr/>
          <p:nvPr/>
        </p:nvSpPr>
        <p:spPr>
          <a:xfrm>
            <a:off x="5303520" y="5120640"/>
            <a:ext cx="6035040" cy="914400"/>
          </a:xfrm>
          <a:prstGeom prst="rect">
            <a:avLst/>
          </a:prstGeom>
          <a:noFill/>
          <a:ln/>
        </p:spPr>
        <p:txBody>
          <a:bodyPr wrap="square" lIns="0" tIns="0" rIns="0" bIns="0" rtlCol="0" anchor="ctr"/>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Peste o sută: vârstnicii sunt mai numeroși decât copiii. Indicele nu spune nimic despre sănătatea lor.</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CONSECINȚE PENTRU SERVICIILE DE SĂNĂTATE</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Mai mulți vârstnici, mai puține persoane active</a:t>
            </a:r>
            <a:endParaRPr lang="en-US" sz="3200" dirty="0"/>
          </a:p>
        </p:txBody>
      </p:sp>
      <p:sp>
        <p:nvSpPr>
          <p:cNvPr id="4" name="Shape 2"/>
          <p:cNvSpPr/>
          <p:nvPr/>
        </p:nvSpPr>
        <p:spPr>
          <a:xfrm>
            <a:off x="594360" y="1783080"/>
            <a:ext cx="3520440" cy="3383280"/>
          </a:xfrm>
          <a:prstGeom prst="roundRect">
            <a:avLst>
              <a:gd name="adj" fmla="val 2432"/>
            </a:avLst>
          </a:prstGeom>
          <a:solidFill>
            <a:srgbClr val="1D1F2B"/>
          </a:solidFill>
          <a:ln w="12700">
            <a:solidFill>
              <a:srgbClr val="1D1F2B"/>
            </a:solidFill>
            <a:prstDash val="solid"/>
          </a:ln>
        </p:spPr>
      </p:sp>
      <p:sp>
        <p:nvSpPr>
          <p:cNvPr id="5" name="Shape 3"/>
          <p:cNvSpPr/>
          <p:nvPr/>
        </p:nvSpPr>
        <p:spPr>
          <a:xfrm>
            <a:off x="594360" y="1783080"/>
            <a:ext cx="3520440" cy="91440"/>
          </a:xfrm>
          <a:prstGeom prst="rect">
            <a:avLst/>
          </a:prstGeom>
          <a:solidFill>
            <a:srgbClr val="FF4757"/>
          </a:solidFill>
          <a:ln w="12700">
            <a:solidFill>
              <a:srgbClr val="FF4757"/>
            </a:solidFill>
            <a:prstDash val="solid"/>
          </a:ln>
        </p:spPr>
      </p:sp>
      <p:sp>
        <p:nvSpPr>
          <p:cNvPr id="6" name="Text 4"/>
          <p:cNvSpPr/>
          <p:nvPr/>
        </p:nvSpPr>
        <p:spPr>
          <a:xfrm>
            <a:off x="868680" y="2057400"/>
            <a:ext cx="3017520" cy="457200"/>
          </a:xfrm>
          <a:prstGeom prst="rect">
            <a:avLst/>
          </a:prstGeom>
          <a:noFill/>
          <a:ln/>
        </p:spPr>
        <p:txBody>
          <a:bodyPr wrap="square" lIns="0" tIns="0" rIns="0" bIns="0" rtlCol="0" anchor="t"/>
          <a:lstStyle/>
          <a:p>
            <a:pPr indent="0" marL="0">
              <a:buNone/>
            </a:pPr>
            <a:r>
              <a:rPr lang="en-US" sz="2200" b="1" dirty="0">
                <a:solidFill>
                  <a:srgbClr val="FF4757"/>
                </a:solidFill>
                <a:latin typeface="Palatino Linotype" pitchFamily="34" charset="0"/>
                <a:ea typeface="Palatino Linotype" pitchFamily="34" charset="-122"/>
                <a:cs typeface="Palatino Linotype" pitchFamily="34" charset="-120"/>
              </a:rPr>
              <a:t>Pacienții</a:t>
            </a:r>
            <a:endParaRPr lang="en-US" sz="2200" dirty="0"/>
          </a:p>
        </p:txBody>
      </p:sp>
      <p:sp>
        <p:nvSpPr>
          <p:cNvPr id="7" name="Text 5"/>
          <p:cNvSpPr/>
          <p:nvPr/>
        </p:nvSpPr>
        <p:spPr>
          <a:xfrm>
            <a:off x="868680" y="2651760"/>
            <a:ext cx="3017520" cy="2377440"/>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mai multe boli în același timp, mai multe medicamente, îngrijire de lungă durată</a:t>
            </a:r>
            <a:endParaRPr lang="en-US" sz="1600" dirty="0"/>
          </a:p>
        </p:txBody>
      </p:sp>
      <p:sp>
        <p:nvSpPr>
          <p:cNvPr id="8" name="Shape 6"/>
          <p:cNvSpPr/>
          <p:nvPr/>
        </p:nvSpPr>
        <p:spPr>
          <a:xfrm>
            <a:off x="4389120" y="1783080"/>
            <a:ext cx="3520440" cy="3383280"/>
          </a:xfrm>
          <a:prstGeom prst="roundRect">
            <a:avLst>
              <a:gd name="adj" fmla="val 2432"/>
            </a:avLst>
          </a:prstGeom>
          <a:solidFill>
            <a:srgbClr val="1D1F2B"/>
          </a:solidFill>
          <a:ln w="12700">
            <a:solidFill>
              <a:srgbClr val="1D1F2B"/>
            </a:solidFill>
            <a:prstDash val="solid"/>
          </a:ln>
        </p:spPr>
      </p:sp>
      <p:sp>
        <p:nvSpPr>
          <p:cNvPr id="9" name="Shape 7"/>
          <p:cNvSpPr/>
          <p:nvPr/>
        </p:nvSpPr>
        <p:spPr>
          <a:xfrm>
            <a:off x="4389120" y="1783080"/>
            <a:ext cx="3520440" cy="91440"/>
          </a:xfrm>
          <a:prstGeom prst="rect">
            <a:avLst/>
          </a:prstGeom>
          <a:solidFill>
            <a:srgbClr val="FFC24B"/>
          </a:solidFill>
          <a:ln w="12700">
            <a:solidFill>
              <a:srgbClr val="FFC24B"/>
            </a:solidFill>
            <a:prstDash val="solid"/>
          </a:ln>
        </p:spPr>
      </p:sp>
      <p:sp>
        <p:nvSpPr>
          <p:cNvPr id="10" name="Text 8"/>
          <p:cNvSpPr/>
          <p:nvPr/>
        </p:nvSpPr>
        <p:spPr>
          <a:xfrm>
            <a:off x="4663440" y="2057400"/>
            <a:ext cx="3017520" cy="457200"/>
          </a:xfrm>
          <a:prstGeom prst="rect">
            <a:avLst/>
          </a:prstGeom>
          <a:noFill/>
          <a:ln/>
        </p:spPr>
        <p:txBody>
          <a:bodyPr wrap="square" lIns="0" tIns="0" rIns="0" bIns="0" rtlCol="0" anchor="t"/>
          <a:lstStyle/>
          <a:p>
            <a:pPr indent="0" marL="0">
              <a:buNone/>
            </a:pPr>
            <a:r>
              <a:rPr lang="en-US" sz="2200" b="1" dirty="0">
                <a:solidFill>
                  <a:srgbClr val="FFC24B"/>
                </a:solidFill>
                <a:latin typeface="Palatino Linotype" pitchFamily="34" charset="0"/>
                <a:ea typeface="Palatino Linotype" pitchFamily="34" charset="-122"/>
                <a:cs typeface="Palatino Linotype" pitchFamily="34" charset="-120"/>
              </a:rPr>
              <a:t>Finanțarea</a:t>
            </a:r>
            <a:endParaRPr lang="en-US" sz="2200" dirty="0"/>
          </a:p>
        </p:txBody>
      </p:sp>
      <p:sp>
        <p:nvSpPr>
          <p:cNvPr id="11" name="Text 9"/>
          <p:cNvSpPr/>
          <p:nvPr/>
        </p:nvSpPr>
        <p:spPr>
          <a:xfrm>
            <a:off x="4663440" y="2651760"/>
            <a:ext cx="3017520" cy="2377440"/>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mai puține persoane active contribuie; o parte dintre îngrijitorii informali lucrează în străinătate</a:t>
            </a:r>
            <a:endParaRPr lang="en-US" sz="1600" dirty="0"/>
          </a:p>
        </p:txBody>
      </p:sp>
      <p:sp>
        <p:nvSpPr>
          <p:cNvPr id="12" name="Shape 10"/>
          <p:cNvSpPr/>
          <p:nvPr/>
        </p:nvSpPr>
        <p:spPr>
          <a:xfrm>
            <a:off x="8183880" y="1783080"/>
            <a:ext cx="3520440" cy="3383280"/>
          </a:xfrm>
          <a:prstGeom prst="roundRect">
            <a:avLst>
              <a:gd name="adj" fmla="val 2432"/>
            </a:avLst>
          </a:prstGeom>
          <a:solidFill>
            <a:srgbClr val="1D1F2B"/>
          </a:solidFill>
          <a:ln w="12700">
            <a:solidFill>
              <a:srgbClr val="1D1F2B"/>
            </a:solidFill>
            <a:prstDash val="solid"/>
          </a:ln>
        </p:spPr>
      </p:sp>
      <p:sp>
        <p:nvSpPr>
          <p:cNvPr id="13" name="Shape 11"/>
          <p:cNvSpPr/>
          <p:nvPr/>
        </p:nvSpPr>
        <p:spPr>
          <a:xfrm>
            <a:off x="8183880" y="1783080"/>
            <a:ext cx="3520440" cy="91440"/>
          </a:xfrm>
          <a:prstGeom prst="rect">
            <a:avLst/>
          </a:prstGeom>
          <a:solidFill>
            <a:srgbClr val="27D3BE"/>
          </a:solidFill>
          <a:ln w="12700">
            <a:solidFill>
              <a:srgbClr val="27D3BE"/>
            </a:solidFill>
            <a:prstDash val="solid"/>
          </a:ln>
        </p:spPr>
      </p:sp>
      <p:sp>
        <p:nvSpPr>
          <p:cNvPr id="14" name="Text 12"/>
          <p:cNvSpPr/>
          <p:nvPr/>
        </p:nvSpPr>
        <p:spPr>
          <a:xfrm>
            <a:off x="8458200" y="2057400"/>
            <a:ext cx="3017520" cy="457200"/>
          </a:xfrm>
          <a:prstGeom prst="rect">
            <a:avLst/>
          </a:prstGeom>
          <a:noFill/>
          <a:ln/>
        </p:spPr>
        <p:txBody>
          <a:bodyPr wrap="square" lIns="0" tIns="0" rIns="0" bIns="0" rtlCol="0" anchor="t"/>
          <a:lstStyle/>
          <a:p>
            <a:pPr indent="0" marL="0">
              <a:buNone/>
            </a:pPr>
            <a:r>
              <a:rPr lang="en-US" sz="2200" b="1" dirty="0">
                <a:solidFill>
                  <a:srgbClr val="27D3BE"/>
                </a:solidFill>
                <a:latin typeface="Palatino Linotype" pitchFamily="34" charset="0"/>
                <a:ea typeface="Palatino Linotype" pitchFamily="34" charset="-122"/>
                <a:cs typeface="Palatino Linotype" pitchFamily="34" charset="-120"/>
              </a:rPr>
              <a:t>Specialitățile</a:t>
            </a:r>
            <a:endParaRPr lang="en-US" sz="2200" dirty="0"/>
          </a:p>
        </p:txBody>
      </p:sp>
      <p:sp>
        <p:nvSpPr>
          <p:cNvPr id="15" name="Text 13"/>
          <p:cNvSpPr/>
          <p:nvPr/>
        </p:nvSpPr>
        <p:spPr>
          <a:xfrm>
            <a:off x="8458200" y="2651760"/>
            <a:ext cx="3017520" cy="2377440"/>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mai multă medicină de familie, geriatrie, îngrijiri paliative, recuperare; pediatria și obstetrica, cu mai puțini pacienți, dar cu exigențe mai mari</a:t>
            </a:r>
            <a:endParaRPr lang="en-US" sz="1600" dirty="0"/>
          </a:p>
        </p:txBody>
      </p:sp>
      <p:sp>
        <p:nvSpPr>
          <p:cNvPr id="16" name="Shape 14"/>
          <p:cNvSpPr/>
          <p:nvPr/>
        </p:nvSpPr>
        <p:spPr>
          <a:xfrm>
            <a:off x="594360" y="5394960"/>
            <a:ext cx="10972800" cy="777240"/>
          </a:xfrm>
          <a:prstGeom prst="roundRect">
            <a:avLst>
              <a:gd name="adj" fmla="val 10588"/>
            </a:avLst>
          </a:prstGeom>
          <a:solidFill>
            <a:srgbClr val="272A38"/>
          </a:solidFill>
          <a:ln w="12700">
            <a:solidFill>
              <a:srgbClr val="272A38"/>
            </a:solidFill>
            <a:prstDash val="solid"/>
          </a:ln>
        </p:spPr>
      </p:sp>
      <p:sp>
        <p:nvSpPr>
          <p:cNvPr id="17" name="Text 15"/>
          <p:cNvSpPr/>
          <p:nvPr/>
        </p:nvSpPr>
        <p:spPr>
          <a:xfrm>
            <a:off x="868680" y="5394960"/>
            <a:ext cx="10424160" cy="777240"/>
          </a:xfrm>
          <a:prstGeom prst="rect">
            <a:avLst/>
          </a:prstGeom>
          <a:noFill/>
          <a:ln/>
        </p:spPr>
        <p:txBody>
          <a:bodyPr wrap="square" lIns="0" tIns="0" rIns="0" bIns="0" rtlCol="0" anchor="ctr"/>
          <a:lstStyle/>
          <a:p>
            <a:pPr indent="0" marL="0">
              <a:buNone/>
            </a:pPr>
            <a:r>
              <a:rPr lang="en-US" sz="1500" i="1" dirty="0">
                <a:solidFill>
                  <a:srgbClr val="D5D8E2"/>
                </a:solidFill>
                <a:latin typeface="Palatino Linotype" pitchFamily="34" charset="0"/>
                <a:ea typeface="Palatino Linotype" pitchFamily="34" charset="-122"/>
                <a:cs typeface="Palatino Linotype" pitchFamily="34" charset="-120"/>
              </a:rPr>
              <a:t>Imaginea „4-2-1” (patru bunici, doi părinți, un copil) este o ilustrare, nu o cifră măsurată pentru România.</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229600" y="292608"/>
            <a:ext cx="3337560" cy="420624"/>
          </a:xfrm>
          <a:prstGeom prst="roundRect">
            <a:avLst>
              <a:gd name="adj" fmla="val 50000"/>
            </a:avLst>
          </a:prstGeom>
          <a:solidFill>
            <a:srgbClr val="FFC24B"/>
          </a:solidFill>
          <a:ln w="12700">
            <a:solidFill>
              <a:srgbClr val="FFC24B"/>
            </a:solidFill>
            <a:prstDash val="solid"/>
          </a:ln>
        </p:spPr>
      </p:sp>
      <p:sp>
        <p:nvSpPr>
          <p:cNvPr id="3" name="Text 1"/>
          <p:cNvSpPr/>
          <p:nvPr/>
        </p:nvSpPr>
        <p:spPr>
          <a:xfrm>
            <a:off x="8229600" y="292608"/>
            <a:ext cx="333756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a:t>
            </a:r>
            <a:endParaRPr lang="en-US" sz="1300" dirty="0"/>
          </a:p>
        </p:txBody>
      </p:sp>
      <p:sp>
        <p:nvSpPr>
          <p:cNvPr id="4" name="Text 2"/>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NOR DE CUVINTE</a:t>
            </a:r>
            <a:endParaRPr lang="en-US" sz="1300" dirty="0"/>
          </a:p>
        </p:txBody>
      </p:sp>
      <p:sp>
        <p:nvSpPr>
          <p:cNvPr id="5" name="Text 3"/>
          <p:cNvSpPr/>
          <p:nvPr/>
        </p:nvSpPr>
        <p:spPr>
          <a:xfrm>
            <a:off x="594360" y="713232"/>
            <a:ext cx="7589520" cy="100584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Ce înseamnă îmbătrânirea populației pentru specialitatea dumneavoastră?</a:t>
            </a:r>
            <a:endParaRPr lang="en-US" sz="3000" dirty="0"/>
          </a:p>
        </p:txBody>
      </p:sp>
      <p:sp>
        <p:nvSpPr>
          <p:cNvPr id="6" name="Shape 4"/>
          <p:cNvSpPr/>
          <p:nvPr/>
        </p:nvSpPr>
        <p:spPr>
          <a:xfrm>
            <a:off x="594360" y="2103120"/>
            <a:ext cx="10972800" cy="2468880"/>
          </a:xfrm>
          <a:prstGeom prst="roundRect">
            <a:avLst>
              <a:gd name="adj" fmla="val 3333"/>
            </a:avLst>
          </a:prstGeom>
          <a:solidFill>
            <a:srgbClr val="1D1F2B"/>
          </a:solidFill>
          <a:ln w="12700">
            <a:solidFill>
              <a:srgbClr val="1D1F2B"/>
            </a:solidFill>
            <a:prstDash val="solid"/>
          </a:ln>
        </p:spPr>
      </p:sp>
      <p:sp>
        <p:nvSpPr>
          <p:cNvPr id="7" name="Text 5"/>
          <p:cNvSpPr/>
          <p:nvPr/>
        </p:nvSpPr>
        <p:spPr>
          <a:xfrm>
            <a:off x="914400" y="2103120"/>
            <a:ext cx="10332720" cy="2468880"/>
          </a:xfrm>
          <a:prstGeom prst="rect">
            <a:avLst/>
          </a:prstGeom>
          <a:noFill/>
          <a:ln/>
        </p:spPr>
        <p:txBody>
          <a:bodyPr wrap="square" lIns="0" tIns="0" rIns="0" bIns="0" rtlCol="0" anchor="ctr"/>
          <a:lstStyle/>
          <a:p>
            <a:pPr algn="ctr" indent="0" marL="0">
              <a:buNone/>
            </a:pPr>
            <a:r>
              <a:rPr lang="en-US" sz="3000" b="1" dirty="0">
                <a:solidFill>
                  <a:srgbClr val="FFFFFF"/>
                </a:solidFill>
                <a:latin typeface="Palatino Linotype" pitchFamily="34" charset="0"/>
                <a:ea typeface="Palatino Linotype" pitchFamily="34" charset="-122"/>
                <a:cs typeface="Palatino Linotype" pitchFamily="34" charset="-120"/>
              </a:rPr>
              <a:t>Un cuvânt sau o expresie scurtă.</a:t>
            </a:r>
            <a:endParaRPr lang="en-US" sz="3000" dirty="0"/>
          </a:p>
        </p:txBody>
      </p:sp>
      <p:sp>
        <p:nvSpPr>
          <p:cNvPr id="8" name="Text 6"/>
          <p:cNvSpPr/>
          <p:nvPr/>
        </p:nvSpPr>
        <p:spPr>
          <a:xfrm>
            <a:off x="594360" y="4937760"/>
            <a:ext cx="10972800" cy="548640"/>
          </a:xfrm>
          <a:prstGeom prst="rect">
            <a:avLst/>
          </a:prstGeom>
          <a:noFill/>
          <a:ln/>
        </p:spPr>
        <p:txBody>
          <a:bodyPr wrap="square" lIns="0" tIns="0" rIns="0" bIns="0" rtlCol="0" anchor="t"/>
          <a:lstStyle/>
          <a:p>
            <a:pPr indent="0" marL="0">
              <a:buNone/>
            </a:pPr>
            <a:r>
              <a:rPr lang="en-US" sz="2000" b="1" dirty="0">
                <a:solidFill>
                  <a:srgbClr val="FFC24B"/>
                </a:solidFill>
                <a:latin typeface="Palatino Linotype" pitchFamily="34" charset="0"/>
                <a:ea typeface="Palatino Linotype" pitchFamily="34" charset="-122"/>
                <a:cs typeface="Palatino Linotype" pitchFamily="34" charset="-120"/>
              </a:rPr>
              <a:t>Răspundeți pe telefon, la codul afișat. Cel mult două trimiteri.</a:t>
            </a:r>
            <a:endParaRPr lang="en-US" sz="2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MIGRAȚIA ȘI SĂNĂTATEA</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Trei căi prin care plecarea ajunge în cabinet</a:t>
            </a:r>
            <a:endParaRPr lang="en-US" sz="3200" dirty="0"/>
          </a:p>
        </p:txBody>
      </p:sp>
      <p:sp>
        <p:nvSpPr>
          <p:cNvPr id="4" name="Shape 2"/>
          <p:cNvSpPr/>
          <p:nvPr/>
        </p:nvSpPr>
        <p:spPr>
          <a:xfrm>
            <a:off x="594360" y="1783080"/>
            <a:ext cx="3520440" cy="2926080"/>
          </a:xfrm>
          <a:prstGeom prst="roundRect">
            <a:avLst>
              <a:gd name="adj" fmla="val 2813"/>
            </a:avLst>
          </a:prstGeom>
          <a:solidFill>
            <a:srgbClr val="ECEAE4"/>
          </a:solidFill>
          <a:ln w="12700">
            <a:solidFill>
              <a:srgbClr val="ECEAE4"/>
            </a:solidFill>
            <a:prstDash val="solid"/>
          </a:ln>
        </p:spPr>
      </p:sp>
      <p:sp>
        <p:nvSpPr>
          <p:cNvPr id="5" name="Shape 3"/>
          <p:cNvSpPr/>
          <p:nvPr/>
        </p:nvSpPr>
        <p:spPr>
          <a:xfrm>
            <a:off x="868680" y="1965960"/>
            <a:ext cx="420624" cy="420624"/>
          </a:xfrm>
          <a:prstGeom prst="ellipse">
            <a:avLst/>
          </a:prstGeom>
          <a:solidFill>
            <a:srgbClr val="FF4757"/>
          </a:solidFill>
          <a:ln/>
        </p:spPr>
      </p:sp>
      <p:sp>
        <p:nvSpPr>
          <p:cNvPr id="6" name="Text 4"/>
          <p:cNvSpPr/>
          <p:nvPr/>
        </p:nvSpPr>
        <p:spPr>
          <a:xfrm>
            <a:off x="868680" y="196596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868680" y="2560320"/>
            <a:ext cx="3017520" cy="457200"/>
          </a:xfrm>
          <a:prstGeom prst="rect">
            <a:avLst/>
          </a:prstGeom>
          <a:noFill/>
          <a:ln/>
        </p:spPr>
        <p:txBody>
          <a:bodyPr wrap="square" lIns="0" tIns="0" rIns="0" bIns="0" rtlCol="0" anchor="t"/>
          <a:lstStyle/>
          <a:p>
            <a:pPr indent="0" marL="0">
              <a:buNone/>
            </a:pPr>
            <a:r>
              <a:rPr lang="en-US" sz="2100" b="1" dirty="0">
                <a:solidFill>
                  <a:srgbClr val="FF4757"/>
                </a:solidFill>
                <a:latin typeface="Palatino Linotype" pitchFamily="34" charset="0"/>
                <a:ea typeface="Palatino Linotype" pitchFamily="34" charset="-122"/>
                <a:cs typeface="Palatino Linotype" pitchFamily="34" charset="-120"/>
              </a:rPr>
              <a:t>Demografică</a:t>
            </a:r>
            <a:endParaRPr lang="en-US" sz="2100" dirty="0"/>
          </a:p>
        </p:txBody>
      </p:sp>
      <p:sp>
        <p:nvSpPr>
          <p:cNvPr id="8" name="Text 6"/>
          <p:cNvSpPr/>
          <p:nvPr/>
        </p:nvSpPr>
        <p:spPr>
          <a:xfrm>
            <a:off x="868680" y="3108960"/>
            <a:ext cx="3017520" cy="146304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pleacă adulții tineri: nașterile viitoare scad, îmbătrânirea se accelerează</a:t>
            </a:r>
            <a:endParaRPr lang="en-US" sz="1600" dirty="0"/>
          </a:p>
        </p:txBody>
      </p:sp>
      <p:sp>
        <p:nvSpPr>
          <p:cNvPr id="9" name="Shape 7"/>
          <p:cNvSpPr/>
          <p:nvPr/>
        </p:nvSpPr>
        <p:spPr>
          <a:xfrm>
            <a:off x="4389120" y="1783080"/>
            <a:ext cx="3520440" cy="2926080"/>
          </a:xfrm>
          <a:prstGeom prst="roundRect">
            <a:avLst>
              <a:gd name="adj" fmla="val 2813"/>
            </a:avLst>
          </a:prstGeom>
          <a:solidFill>
            <a:srgbClr val="ECEAE4"/>
          </a:solidFill>
          <a:ln w="12700">
            <a:solidFill>
              <a:srgbClr val="ECEAE4"/>
            </a:solidFill>
            <a:prstDash val="solid"/>
          </a:ln>
        </p:spPr>
      </p:sp>
      <p:sp>
        <p:nvSpPr>
          <p:cNvPr id="10" name="Shape 8"/>
          <p:cNvSpPr/>
          <p:nvPr/>
        </p:nvSpPr>
        <p:spPr>
          <a:xfrm>
            <a:off x="4663440" y="1965960"/>
            <a:ext cx="420624" cy="420624"/>
          </a:xfrm>
          <a:prstGeom prst="ellipse">
            <a:avLst/>
          </a:prstGeom>
          <a:solidFill>
            <a:srgbClr val="0E7C6B"/>
          </a:solidFill>
          <a:ln/>
        </p:spPr>
      </p:sp>
      <p:sp>
        <p:nvSpPr>
          <p:cNvPr id="11" name="Text 9"/>
          <p:cNvSpPr/>
          <p:nvPr/>
        </p:nvSpPr>
        <p:spPr>
          <a:xfrm>
            <a:off x="4663440" y="196596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2</a:t>
            </a:r>
            <a:endParaRPr lang="en-US" sz="1400" dirty="0"/>
          </a:p>
        </p:txBody>
      </p:sp>
      <p:sp>
        <p:nvSpPr>
          <p:cNvPr id="12" name="Text 10"/>
          <p:cNvSpPr/>
          <p:nvPr/>
        </p:nvSpPr>
        <p:spPr>
          <a:xfrm>
            <a:off x="4663440" y="2560320"/>
            <a:ext cx="3017520" cy="457200"/>
          </a:xfrm>
          <a:prstGeom prst="rect">
            <a:avLst/>
          </a:prstGeom>
          <a:noFill/>
          <a:ln/>
        </p:spPr>
        <p:txBody>
          <a:bodyPr wrap="square" lIns="0" tIns="0" rIns="0" bIns="0" rtlCol="0" anchor="t"/>
          <a:lstStyle/>
          <a:p>
            <a:pPr indent="0" marL="0">
              <a:buNone/>
            </a:pPr>
            <a:r>
              <a:rPr lang="en-US" sz="2100" b="1" dirty="0">
                <a:solidFill>
                  <a:srgbClr val="0E7C6B"/>
                </a:solidFill>
                <a:latin typeface="Palatino Linotype" pitchFamily="34" charset="0"/>
                <a:ea typeface="Palatino Linotype" pitchFamily="34" charset="-122"/>
                <a:cs typeface="Palatino Linotype" pitchFamily="34" charset="-120"/>
              </a:rPr>
              <a:t>Familială</a:t>
            </a:r>
            <a:endParaRPr lang="en-US" sz="2100" dirty="0"/>
          </a:p>
        </p:txBody>
      </p:sp>
      <p:sp>
        <p:nvSpPr>
          <p:cNvPr id="13" name="Text 11"/>
          <p:cNvSpPr/>
          <p:nvPr/>
        </p:nvSpPr>
        <p:spPr>
          <a:xfrm>
            <a:off x="4663440" y="3108960"/>
            <a:ext cx="3017520" cy="146304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copiii rămași cu bunicii și vârstnicii rămași singuri au nevoi de îngrijire</a:t>
            </a:r>
            <a:endParaRPr lang="en-US" sz="1600" dirty="0"/>
          </a:p>
        </p:txBody>
      </p:sp>
      <p:sp>
        <p:nvSpPr>
          <p:cNvPr id="14" name="Shape 12"/>
          <p:cNvSpPr/>
          <p:nvPr/>
        </p:nvSpPr>
        <p:spPr>
          <a:xfrm>
            <a:off x="8183880" y="1783080"/>
            <a:ext cx="3520440" cy="2926080"/>
          </a:xfrm>
          <a:prstGeom prst="roundRect">
            <a:avLst>
              <a:gd name="adj" fmla="val 2813"/>
            </a:avLst>
          </a:prstGeom>
          <a:solidFill>
            <a:srgbClr val="ECEAE4"/>
          </a:solidFill>
          <a:ln w="12700">
            <a:solidFill>
              <a:srgbClr val="ECEAE4"/>
            </a:solidFill>
            <a:prstDash val="solid"/>
          </a:ln>
        </p:spPr>
      </p:sp>
      <p:sp>
        <p:nvSpPr>
          <p:cNvPr id="15" name="Shape 13"/>
          <p:cNvSpPr/>
          <p:nvPr/>
        </p:nvSpPr>
        <p:spPr>
          <a:xfrm>
            <a:off x="8458200" y="1965960"/>
            <a:ext cx="420624" cy="420624"/>
          </a:xfrm>
          <a:prstGeom prst="ellipse">
            <a:avLst/>
          </a:prstGeom>
          <a:solidFill>
            <a:srgbClr val="8A6100"/>
          </a:solidFill>
          <a:ln/>
        </p:spPr>
      </p:sp>
      <p:sp>
        <p:nvSpPr>
          <p:cNvPr id="16" name="Text 14"/>
          <p:cNvSpPr/>
          <p:nvPr/>
        </p:nvSpPr>
        <p:spPr>
          <a:xfrm>
            <a:off x="8458200" y="196596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3</a:t>
            </a:r>
            <a:endParaRPr lang="en-US" sz="1400" dirty="0"/>
          </a:p>
        </p:txBody>
      </p:sp>
      <p:sp>
        <p:nvSpPr>
          <p:cNvPr id="17" name="Text 15"/>
          <p:cNvSpPr/>
          <p:nvPr/>
        </p:nvSpPr>
        <p:spPr>
          <a:xfrm>
            <a:off x="8458200" y="2560320"/>
            <a:ext cx="3017520" cy="457200"/>
          </a:xfrm>
          <a:prstGeom prst="rect">
            <a:avLst/>
          </a:prstGeom>
          <a:noFill/>
          <a:ln/>
        </p:spPr>
        <p:txBody>
          <a:bodyPr wrap="square" lIns="0" tIns="0" rIns="0" bIns="0" rtlCol="0" anchor="t"/>
          <a:lstStyle/>
          <a:p>
            <a:pPr indent="0" marL="0">
              <a:buNone/>
            </a:pPr>
            <a:r>
              <a:rPr lang="en-US" sz="2100" b="1" dirty="0">
                <a:solidFill>
                  <a:srgbClr val="8A6100"/>
                </a:solidFill>
                <a:latin typeface="Palatino Linotype" pitchFamily="34" charset="0"/>
                <a:ea typeface="Palatino Linotype" pitchFamily="34" charset="-122"/>
                <a:cs typeface="Palatino Linotype" pitchFamily="34" charset="-120"/>
              </a:rPr>
              <a:t>Profesională</a:t>
            </a:r>
            <a:endParaRPr lang="en-US" sz="2100" dirty="0"/>
          </a:p>
        </p:txBody>
      </p:sp>
      <p:sp>
        <p:nvSpPr>
          <p:cNvPr id="18" name="Text 16"/>
          <p:cNvSpPr/>
          <p:nvPr/>
        </p:nvSpPr>
        <p:spPr>
          <a:xfrm>
            <a:off x="8458200" y="3108960"/>
            <a:ext cx="3017520" cy="146304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medici și asistenți formați în România lucrează în alte state; cei rămași sunt inegal distribuiți</a:t>
            </a:r>
            <a:endParaRPr lang="en-US" sz="1600" dirty="0"/>
          </a:p>
        </p:txBody>
      </p:sp>
      <p:sp>
        <p:nvSpPr>
          <p:cNvPr id="19" name="Shape 17"/>
          <p:cNvSpPr/>
          <p:nvPr/>
        </p:nvSpPr>
        <p:spPr>
          <a:xfrm>
            <a:off x="594360" y="4937760"/>
            <a:ext cx="10972800" cy="1143000"/>
          </a:xfrm>
          <a:prstGeom prst="roundRect">
            <a:avLst>
              <a:gd name="adj" fmla="val 7200"/>
            </a:avLst>
          </a:prstGeom>
          <a:solidFill>
            <a:srgbClr val="11121A"/>
          </a:solidFill>
          <a:ln w="12700">
            <a:solidFill>
              <a:srgbClr val="11121A"/>
            </a:solidFill>
            <a:prstDash val="solid"/>
          </a:ln>
        </p:spPr>
      </p:sp>
      <p:sp>
        <p:nvSpPr>
          <p:cNvPr id="20" name="Text 18"/>
          <p:cNvSpPr/>
          <p:nvPr/>
        </p:nvSpPr>
        <p:spPr>
          <a:xfrm>
            <a:off x="868680" y="4937760"/>
            <a:ext cx="10424160" cy="1143000"/>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Ce nu știm: statisticile europene nu publică soldul migrației pe profesii, iar estimările despre medicii plecați nu au putut fi confruntate cu o sursă publicată.</a:t>
            </a:r>
            <a:endParaRPr lang="en-US" sz="1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UN SCENARIU DE TIP „CE-AR FI DACĂ”</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Populația României, scenariul de bază</a:t>
            </a:r>
            <a:endParaRPr lang="en-US" sz="3000" dirty="0"/>
          </a:p>
        </p:txBody>
      </p:sp>
      <p:sp>
        <p:nvSpPr>
          <p:cNvPr id="4" name="Shape 2"/>
          <p:cNvSpPr/>
          <p:nvPr/>
        </p:nvSpPr>
        <p:spPr>
          <a:xfrm>
            <a:off x="868680" y="2609138"/>
            <a:ext cx="868680" cy="2785822"/>
          </a:xfrm>
          <a:prstGeom prst="rect">
            <a:avLst/>
          </a:prstGeom>
          <a:solidFill>
            <a:srgbClr val="4B5068"/>
          </a:solidFill>
          <a:ln w="12700">
            <a:solidFill>
              <a:srgbClr val="4B5068"/>
            </a:solidFill>
            <a:prstDash val="solid"/>
          </a:ln>
        </p:spPr>
      </p:sp>
      <p:sp>
        <p:nvSpPr>
          <p:cNvPr id="5" name="Text 3"/>
          <p:cNvSpPr/>
          <p:nvPr/>
        </p:nvSpPr>
        <p:spPr>
          <a:xfrm>
            <a:off x="594360" y="2243378"/>
            <a:ext cx="1417320" cy="310896"/>
          </a:xfrm>
          <a:prstGeom prst="rect">
            <a:avLst/>
          </a:prstGeom>
          <a:noFill/>
          <a:ln/>
        </p:spPr>
        <p:txBody>
          <a:bodyPr wrap="square" lIns="0" tIns="0" rIns="0" bIns="0" rtlCol="0" anchor="t"/>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19 041 322</a:t>
            </a:r>
            <a:endParaRPr lang="en-US" sz="1400" dirty="0"/>
          </a:p>
        </p:txBody>
      </p:sp>
      <p:sp>
        <p:nvSpPr>
          <p:cNvPr id="6" name="Text 4"/>
          <p:cNvSpPr/>
          <p:nvPr/>
        </p:nvSpPr>
        <p:spPr>
          <a:xfrm>
            <a:off x="685800" y="5468112"/>
            <a:ext cx="1234440" cy="548640"/>
          </a:xfrm>
          <a:prstGeom prst="rect">
            <a:avLst/>
          </a:prstGeom>
          <a:noFill/>
          <a:ln/>
        </p:spPr>
        <p:txBody>
          <a:bodyPr wrap="square" lIns="0" tIns="0" rIns="0" bIns="0" rtlCol="0" anchor="t"/>
          <a:lstStyle/>
          <a:p>
            <a:pPr algn="ctr" indent="0" marL="0">
              <a:buNone/>
            </a:pPr>
            <a:r>
              <a:rPr lang="en-US" sz="1300" dirty="0">
                <a:solidFill>
                  <a:srgbClr val="D5D8E2"/>
                </a:solidFill>
                <a:latin typeface="Palatino Linotype" pitchFamily="34" charset="0"/>
                <a:ea typeface="Palatino Linotype" pitchFamily="34" charset="-122"/>
                <a:cs typeface="Palatino Linotype" pitchFamily="34" charset="-120"/>
              </a:rPr>
              <a:t>2026</a:t>
            </a:r>
            <a:endParaRPr lang="en-US" sz="1300" dirty="0"/>
          </a:p>
          <a:p>
            <a:pPr algn="ctr" indent="0" marL="0">
              <a:buNone/>
            </a:pPr>
            <a:r>
              <a:rPr lang="en-US" sz="1300" dirty="0">
                <a:solidFill>
                  <a:srgbClr val="D5D8E2"/>
                </a:solidFill>
                <a:latin typeface="Palatino Linotype" pitchFamily="34" charset="0"/>
                <a:ea typeface="Palatino Linotype" pitchFamily="34" charset="-122"/>
                <a:cs typeface="Palatino Linotype" pitchFamily="34" charset="-120"/>
              </a:rPr>
              <a:t>estimare</a:t>
            </a:r>
            <a:endParaRPr lang="en-US" sz="1300" dirty="0"/>
          </a:p>
        </p:txBody>
      </p:sp>
      <p:sp>
        <p:nvSpPr>
          <p:cNvPr id="7" name="Shape 5"/>
          <p:cNvSpPr/>
          <p:nvPr/>
        </p:nvSpPr>
        <p:spPr>
          <a:xfrm>
            <a:off x="2057400" y="2658088"/>
            <a:ext cx="868680" cy="2736872"/>
          </a:xfrm>
          <a:prstGeom prst="rect">
            <a:avLst/>
          </a:prstGeom>
          <a:solidFill>
            <a:srgbClr val="27D3BE"/>
          </a:solidFill>
          <a:ln w="12700">
            <a:solidFill>
              <a:srgbClr val="27D3BE"/>
            </a:solidFill>
            <a:prstDash val="solid"/>
          </a:ln>
        </p:spPr>
      </p:sp>
      <p:sp>
        <p:nvSpPr>
          <p:cNvPr id="8" name="Text 6"/>
          <p:cNvSpPr/>
          <p:nvPr/>
        </p:nvSpPr>
        <p:spPr>
          <a:xfrm>
            <a:off x="1783080" y="2292328"/>
            <a:ext cx="1417320" cy="310896"/>
          </a:xfrm>
          <a:prstGeom prst="rect">
            <a:avLst/>
          </a:prstGeom>
          <a:noFill/>
          <a:ln/>
        </p:spPr>
        <p:txBody>
          <a:bodyPr wrap="square" lIns="0" tIns="0" rIns="0" bIns="0" rtlCol="0" anchor="t"/>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18 706 751</a:t>
            </a:r>
            <a:endParaRPr lang="en-US" sz="1400" dirty="0"/>
          </a:p>
        </p:txBody>
      </p:sp>
      <p:sp>
        <p:nvSpPr>
          <p:cNvPr id="9" name="Text 7"/>
          <p:cNvSpPr/>
          <p:nvPr/>
        </p:nvSpPr>
        <p:spPr>
          <a:xfrm>
            <a:off x="1874520" y="5468112"/>
            <a:ext cx="1234440" cy="548640"/>
          </a:xfrm>
          <a:prstGeom prst="rect">
            <a:avLst/>
          </a:prstGeom>
          <a:noFill/>
          <a:ln/>
        </p:spPr>
        <p:txBody>
          <a:bodyPr wrap="square" lIns="0" tIns="0" rIns="0" bIns="0" rtlCol="0" anchor="t"/>
          <a:lstStyle/>
          <a:p>
            <a:pPr algn="ctr" indent="0" marL="0">
              <a:buNone/>
            </a:pPr>
            <a:r>
              <a:rPr lang="en-US" sz="1300" dirty="0">
                <a:solidFill>
                  <a:srgbClr val="D5D8E2"/>
                </a:solidFill>
                <a:latin typeface="Palatino Linotype" pitchFamily="34" charset="0"/>
                <a:ea typeface="Palatino Linotype" pitchFamily="34" charset="-122"/>
                <a:cs typeface="Palatino Linotype" pitchFamily="34" charset="-120"/>
              </a:rPr>
              <a:t>2030</a:t>
            </a:r>
            <a:endParaRPr lang="en-US" sz="1300" dirty="0"/>
          </a:p>
        </p:txBody>
      </p:sp>
      <p:sp>
        <p:nvSpPr>
          <p:cNvPr id="10" name="Shape 8"/>
          <p:cNvSpPr/>
          <p:nvPr/>
        </p:nvSpPr>
        <p:spPr>
          <a:xfrm>
            <a:off x="3246120" y="2776653"/>
            <a:ext cx="868680" cy="2618307"/>
          </a:xfrm>
          <a:prstGeom prst="rect">
            <a:avLst/>
          </a:prstGeom>
          <a:solidFill>
            <a:srgbClr val="27D3BE"/>
          </a:solidFill>
          <a:ln w="12700">
            <a:solidFill>
              <a:srgbClr val="27D3BE"/>
            </a:solidFill>
            <a:prstDash val="solid"/>
          </a:ln>
        </p:spPr>
      </p:sp>
      <p:sp>
        <p:nvSpPr>
          <p:cNvPr id="11" name="Text 9"/>
          <p:cNvSpPr/>
          <p:nvPr/>
        </p:nvSpPr>
        <p:spPr>
          <a:xfrm>
            <a:off x="2971800" y="2410893"/>
            <a:ext cx="1417320" cy="310896"/>
          </a:xfrm>
          <a:prstGeom prst="rect">
            <a:avLst/>
          </a:prstGeom>
          <a:noFill/>
          <a:ln/>
        </p:spPr>
        <p:txBody>
          <a:bodyPr wrap="square" lIns="0" tIns="0" rIns="0" bIns="0" rtlCol="0" anchor="t"/>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17 896 346</a:t>
            </a:r>
            <a:endParaRPr lang="en-US" sz="1400" dirty="0"/>
          </a:p>
        </p:txBody>
      </p:sp>
      <p:sp>
        <p:nvSpPr>
          <p:cNvPr id="12" name="Text 10"/>
          <p:cNvSpPr/>
          <p:nvPr/>
        </p:nvSpPr>
        <p:spPr>
          <a:xfrm>
            <a:off x="3063240" y="5468112"/>
            <a:ext cx="1234440" cy="548640"/>
          </a:xfrm>
          <a:prstGeom prst="rect">
            <a:avLst/>
          </a:prstGeom>
          <a:noFill/>
          <a:ln/>
        </p:spPr>
        <p:txBody>
          <a:bodyPr wrap="square" lIns="0" tIns="0" rIns="0" bIns="0" rtlCol="0" anchor="t"/>
          <a:lstStyle/>
          <a:p>
            <a:pPr algn="ctr" indent="0" marL="0">
              <a:buNone/>
            </a:pPr>
            <a:r>
              <a:rPr lang="en-US" sz="1300" dirty="0">
                <a:solidFill>
                  <a:srgbClr val="D5D8E2"/>
                </a:solidFill>
                <a:latin typeface="Palatino Linotype" pitchFamily="34" charset="0"/>
                <a:ea typeface="Palatino Linotype" pitchFamily="34" charset="-122"/>
                <a:cs typeface="Palatino Linotype" pitchFamily="34" charset="-120"/>
              </a:rPr>
              <a:t>2040</a:t>
            </a:r>
            <a:endParaRPr lang="en-US" sz="1300" dirty="0"/>
          </a:p>
        </p:txBody>
      </p:sp>
      <p:sp>
        <p:nvSpPr>
          <p:cNvPr id="13" name="Shape 11"/>
          <p:cNvSpPr/>
          <p:nvPr/>
        </p:nvSpPr>
        <p:spPr>
          <a:xfrm>
            <a:off x="4434840" y="2886088"/>
            <a:ext cx="868680" cy="2508872"/>
          </a:xfrm>
          <a:prstGeom prst="rect">
            <a:avLst/>
          </a:prstGeom>
          <a:solidFill>
            <a:srgbClr val="FF4757"/>
          </a:solidFill>
          <a:ln w="12700">
            <a:solidFill>
              <a:srgbClr val="FF4757"/>
            </a:solidFill>
            <a:prstDash val="solid"/>
          </a:ln>
        </p:spPr>
      </p:sp>
      <p:sp>
        <p:nvSpPr>
          <p:cNvPr id="14" name="Text 12"/>
          <p:cNvSpPr/>
          <p:nvPr/>
        </p:nvSpPr>
        <p:spPr>
          <a:xfrm>
            <a:off x="4160520" y="2520328"/>
            <a:ext cx="1417320" cy="310896"/>
          </a:xfrm>
          <a:prstGeom prst="rect">
            <a:avLst/>
          </a:prstGeom>
          <a:noFill/>
          <a:ln/>
        </p:spPr>
        <p:txBody>
          <a:bodyPr wrap="square" lIns="0" tIns="0" rIns="0" bIns="0" rtlCol="0" anchor="t"/>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17 148 348</a:t>
            </a:r>
            <a:endParaRPr lang="en-US" sz="1400" dirty="0"/>
          </a:p>
        </p:txBody>
      </p:sp>
      <p:sp>
        <p:nvSpPr>
          <p:cNvPr id="15" name="Text 13"/>
          <p:cNvSpPr/>
          <p:nvPr/>
        </p:nvSpPr>
        <p:spPr>
          <a:xfrm>
            <a:off x="4251960" y="5468112"/>
            <a:ext cx="1234440" cy="548640"/>
          </a:xfrm>
          <a:prstGeom prst="rect">
            <a:avLst/>
          </a:prstGeom>
          <a:noFill/>
          <a:ln/>
        </p:spPr>
        <p:txBody>
          <a:bodyPr wrap="square" lIns="0" tIns="0" rIns="0" bIns="0" rtlCol="0" anchor="t"/>
          <a:lstStyle/>
          <a:p>
            <a:pPr algn="ctr" indent="0" marL="0">
              <a:buNone/>
            </a:pPr>
            <a:r>
              <a:rPr lang="en-US" sz="1300" dirty="0">
                <a:solidFill>
                  <a:srgbClr val="D5D8E2"/>
                </a:solidFill>
                <a:latin typeface="Palatino Linotype" pitchFamily="34" charset="0"/>
                <a:ea typeface="Palatino Linotype" pitchFamily="34" charset="-122"/>
                <a:cs typeface="Palatino Linotype" pitchFamily="34" charset="-120"/>
              </a:rPr>
              <a:t>2050</a:t>
            </a:r>
            <a:endParaRPr lang="en-US" sz="1300" dirty="0"/>
          </a:p>
        </p:txBody>
      </p:sp>
      <p:sp>
        <p:nvSpPr>
          <p:cNvPr id="16" name="Shape 14"/>
          <p:cNvSpPr/>
          <p:nvPr/>
        </p:nvSpPr>
        <p:spPr>
          <a:xfrm>
            <a:off x="5623560" y="3005300"/>
            <a:ext cx="868680" cy="2389660"/>
          </a:xfrm>
          <a:prstGeom prst="rect">
            <a:avLst/>
          </a:prstGeom>
          <a:solidFill>
            <a:srgbClr val="27D3BE"/>
          </a:solidFill>
          <a:ln w="12700">
            <a:solidFill>
              <a:srgbClr val="27D3BE"/>
            </a:solidFill>
            <a:prstDash val="solid"/>
          </a:ln>
        </p:spPr>
      </p:sp>
      <p:sp>
        <p:nvSpPr>
          <p:cNvPr id="17" name="Text 15"/>
          <p:cNvSpPr/>
          <p:nvPr/>
        </p:nvSpPr>
        <p:spPr>
          <a:xfrm>
            <a:off x="5349240" y="2639540"/>
            <a:ext cx="1417320" cy="310896"/>
          </a:xfrm>
          <a:prstGeom prst="rect">
            <a:avLst/>
          </a:prstGeom>
          <a:noFill/>
          <a:ln/>
        </p:spPr>
        <p:txBody>
          <a:bodyPr wrap="square" lIns="0" tIns="0" rIns="0" bIns="0" rtlCol="0" anchor="t"/>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16 333 523</a:t>
            </a:r>
            <a:endParaRPr lang="en-US" sz="1400" dirty="0"/>
          </a:p>
        </p:txBody>
      </p:sp>
      <p:sp>
        <p:nvSpPr>
          <p:cNvPr id="18" name="Text 16"/>
          <p:cNvSpPr/>
          <p:nvPr/>
        </p:nvSpPr>
        <p:spPr>
          <a:xfrm>
            <a:off x="5440680" y="5468112"/>
            <a:ext cx="1234440" cy="548640"/>
          </a:xfrm>
          <a:prstGeom prst="rect">
            <a:avLst/>
          </a:prstGeom>
          <a:noFill/>
          <a:ln/>
        </p:spPr>
        <p:txBody>
          <a:bodyPr wrap="square" lIns="0" tIns="0" rIns="0" bIns="0" rtlCol="0" anchor="t"/>
          <a:lstStyle/>
          <a:p>
            <a:pPr algn="ctr" indent="0" marL="0">
              <a:buNone/>
            </a:pPr>
            <a:r>
              <a:rPr lang="en-US" sz="1300" dirty="0">
                <a:solidFill>
                  <a:srgbClr val="D5D8E2"/>
                </a:solidFill>
                <a:latin typeface="Palatino Linotype" pitchFamily="34" charset="0"/>
                <a:ea typeface="Palatino Linotype" pitchFamily="34" charset="-122"/>
                <a:cs typeface="Palatino Linotype" pitchFamily="34" charset="-120"/>
              </a:rPr>
              <a:t>2060</a:t>
            </a:r>
            <a:endParaRPr lang="en-US" sz="1300" dirty="0"/>
          </a:p>
        </p:txBody>
      </p:sp>
      <p:sp>
        <p:nvSpPr>
          <p:cNvPr id="19" name="Shape 17"/>
          <p:cNvSpPr/>
          <p:nvPr/>
        </p:nvSpPr>
        <p:spPr>
          <a:xfrm>
            <a:off x="6812280" y="3287074"/>
            <a:ext cx="868680" cy="2107886"/>
          </a:xfrm>
          <a:prstGeom prst="rect">
            <a:avLst/>
          </a:prstGeom>
          <a:solidFill>
            <a:srgbClr val="27D3BE"/>
          </a:solidFill>
          <a:ln w="12700">
            <a:solidFill>
              <a:srgbClr val="27D3BE"/>
            </a:solidFill>
            <a:prstDash val="solid"/>
          </a:ln>
        </p:spPr>
      </p:sp>
      <p:sp>
        <p:nvSpPr>
          <p:cNvPr id="20" name="Text 18"/>
          <p:cNvSpPr/>
          <p:nvPr/>
        </p:nvSpPr>
        <p:spPr>
          <a:xfrm>
            <a:off x="6537960" y="2921314"/>
            <a:ext cx="1417320" cy="310896"/>
          </a:xfrm>
          <a:prstGeom prst="rect">
            <a:avLst/>
          </a:prstGeom>
          <a:noFill/>
          <a:ln/>
        </p:spPr>
        <p:txBody>
          <a:bodyPr wrap="square" lIns="0" tIns="0" rIns="0" bIns="0" rtlCol="0" anchor="t"/>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14 407 573</a:t>
            </a:r>
            <a:endParaRPr lang="en-US" sz="1400" dirty="0"/>
          </a:p>
        </p:txBody>
      </p:sp>
      <p:sp>
        <p:nvSpPr>
          <p:cNvPr id="21" name="Text 19"/>
          <p:cNvSpPr/>
          <p:nvPr/>
        </p:nvSpPr>
        <p:spPr>
          <a:xfrm>
            <a:off x="6629400" y="5468112"/>
            <a:ext cx="1234440" cy="548640"/>
          </a:xfrm>
          <a:prstGeom prst="rect">
            <a:avLst/>
          </a:prstGeom>
          <a:noFill/>
          <a:ln/>
        </p:spPr>
        <p:txBody>
          <a:bodyPr wrap="square" lIns="0" tIns="0" rIns="0" bIns="0" rtlCol="0" anchor="t"/>
          <a:lstStyle/>
          <a:p>
            <a:pPr algn="ctr" indent="0" marL="0">
              <a:buNone/>
            </a:pPr>
            <a:r>
              <a:rPr lang="en-US" sz="1300" dirty="0">
                <a:solidFill>
                  <a:srgbClr val="D5D8E2"/>
                </a:solidFill>
                <a:latin typeface="Palatino Linotype" pitchFamily="34" charset="0"/>
                <a:ea typeface="Palatino Linotype" pitchFamily="34" charset="-122"/>
                <a:cs typeface="Palatino Linotype" pitchFamily="34" charset="-120"/>
              </a:rPr>
              <a:t>2100</a:t>
            </a:r>
            <a:endParaRPr lang="en-US" sz="1300" dirty="0"/>
          </a:p>
        </p:txBody>
      </p:sp>
      <p:sp>
        <p:nvSpPr>
          <p:cNvPr id="22" name="Shape 20"/>
          <p:cNvSpPr/>
          <p:nvPr/>
        </p:nvSpPr>
        <p:spPr>
          <a:xfrm>
            <a:off x="685800" y="5394960"/>
            <a:ext cx="7178040" cy="22860"/>
          </a:xfrm>
          <a:prstGeom prst="rect">
            <a:avLst/>
          </a:prstGeom>
          <a:solidFill>
            <a:srgbClr val="6A6F85"/>
          </a:solidFill>
          <a:ln w="12700">
            <a:solidFill>
              <a:srgbClr val="6A6F85"/>
            </a:solidFill>
            <a:prstDash val="solid"/>
          </a:ln>
        </p:spPr>
      </p:sp>
      <p:sp>
        <p:nvSpPr>
          <p:cNvPr id="23" name="Shape 21"/>
          <p:cNvSpPr/>
          <p:nvPr/>
        </p:nvSpPr>
        <p:spPr>
          <a:xfrm>
            <a:off x="8092440" y="1783080"/>
            <a:ext cx="3474720" cy="4251960"/>
          </a:xfrm>
          <a:prstGeom prst="roundRect">
            <a:avLst>
              <a:gd name="adj" fmla="val 2368"/>
            </a:avLst>
          </a:prstGeom>
          <a:solidFill>
            <a:srgbClr val="1D1F2B"/>
          </a:solidFill>
          <a:ln w="12700">
            <a:solidFill>
              <a:srgbClr val="1D1F2B"/>
            </a:solidFill>
            <a:prstDash val="solid"/>
          </a:ln>
        </p:spPr>
      </p:sp>
      <p:sp>
        <p:nvSpPr>
          <p:cNvPr id="24" name="Text 22"/>
          <p:cNvSpPr/>
          <p:nvPr/>
        </p:nvSpPr>
        <p:spPr>
          <a:xfrm>
            <a:off x="8321040" y="1920240"/>
            <a:ext cx="3017520" cy="1737360"/>
          </a:xfrm>
          <a:prstGeom prst="rect">
            <a:avLst/>
          </a:prstGeom>
          <a:noFill/>
          <a:ln/>
        </p:spPr>
        <p:txBody>
          <a:bodyPr wrap="square" lIns="0" tIns="0" rIns="0" bIns="0" rtlCol="0" anchor="t"/>
          <a:lstStyle/>
          <a:p>
            <a:pPr indent="0" marL="0">
              <a:buNone/>
            </a:pPr>
            <a:r>
              <a:rPr lang="en-US" sz="1400" b="1" dirty="0">
                <a:solidFill>
                  <a:srgbClr val="FFC24B"/>
                </a:solidFill>
                <a:latin typeface="Palatino Linotype" pitchFamily="34" charset="0"/>
                <a:ea typeface="Palatino Linotype" pitchFamily="34" charset="-122"/>
                <a:cs typeface="Palatino Linotype" pitchFamily="34" charset="-120"/>
              </a:rPr>
              <a:t>În 2050: scădere de 10,0% față de 2025; persoane de 65+: 27,4%; raportul de dependență al vârstnicilor: 46,4.</a:t>
            </a:r>
            <a:endParaRPr lang="en-US" sz="1400" dirty="0"/>
          </a:p>
        </p:txBody>
      </p:sp>
      <p:sp>
        <p:nvSpPr>
          <p:cNvPr id="25" name="Text 23"/>
          <p:cNvSpPr/>
          <p:nvPr/>
        </p:nvSpPr>
        <p:spPr>
          <a:xfrm>
            <a:off x="8321040" y="3749040"/>
            <a:ext cx="3017520" cy="2194560"/>
          </a:xfrm>
          <a:prstGeom prst="rect">
            <a:avLst/>
          </a:prstGeom>
          <a:noFill/>
          <a:ln/>
        </p:spPr>
        <p:txBody>
          <a:bodyPr wrap="square" lIns="0" tIns="0" rIns="0" bIns="0" rtlCol="0" anchor="t"/>
          <a:lstStyle/>
          <a:p>
            <a:pPr indent="0" marL="0">
              <a:buNone/>
            </a:pPr>
            <a:r>
              <a:rPr lang="en-US" sz="1300" dirty="0">
                <a:solidFill>
                  <a:srgbClr val="FFFFFF"/>
                </a:solidFill>
                <a:latin typeface="Palatino Linotype" pitchFamily="34" charset="0"/>
                <a:ea typeface="Palatino Linotype" pitchFamily="34" charset="-122"/>
                <a:cs typeface="Palatino Linotype" pitchFamily="34" charset="-120"/>
              </a:rPr>
              <a:t>O proiecție nu este o prognoză: arată ce s-ar întâmpla dacă ipotezele s-ar adeveri. Testele de sensibilitate schimbă câte o ipoteză (migrație nulă, fertilitate mai mică). Migrația: ipoteză de urmărit.</a:t>
            </a:r>
            <a:endParaRPr lang="en-US" sz="1300" dirty="0"/>
          </a:p>
        </p:txBody>
      </p:sp>
      <p:sp>
        <p:nvSpPr>
          <p:cNvPr id="26" name="Text 24"/>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Sursa: Eurostat, EUROPOP2025.</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229600" y="292608"/>
            <a:ext cx="3337560" cy="420624"/>
          </a:xfrm>
          <a:prstGeom prst="roundRect">
            <a:avLst>
              <a:gd name="adj" fmla="val 50000"/>
            </a:avLst>
          </a:prstGeom>
          <a:solidFill>
            <a:srgbClr val="FFC24B"/>
          </a:solidFill>
          <a:ln w="12700">
            <a:solidFill>
              <a:srgbClr val="FFC24B"/>
            </a:solidFill>
            <a:prstDash val="solid"/>
          </a:ln>
        </p:spPr>
      </p:sp>
      <p:sp>
        <p:nvSpPr>
          <p:cNvPr id="3" name="Text 1"/>
          <p:cNvSpPr/>
          <p:nvPr/>
        </p:nvSpPr>
        <p:spPr>
          <a:xfrm>
            <a:off x="8229600" y="292608"/>
            <a:ext cx="333756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a:t>
            </a:r>
            <a:endParaRPr lang="en-US" sz="1300" dirty="0"/>
          </a:p>
        </p:txBody>
      </p:sp>
      <p:sp>
        <p:nvSpPr>
          <p:cNvPr id="4" name="Text 2"/>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REVENIM LA ESTIMAREA DIN PRIMELE MINUTE</a:t>
            </a:r>
            <a:endParaRPr lang="en-US" sz="1300" dirty="0"/>
          </a:p>
        </p:txBody>
      </p:sp>
      <p:sp>
        <p:nvSpPr>
          <p:cNvPr id="5" name="Text 3"/>
          <p:cNvSpPr/>
          <p:nvPr/>
        </p:nvSpPr>
        <p:spPr>
          <a:xfrm>
            <a:off x="594360" y="713232"/>
            <a:ext cx="7589520" cy="100584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Ce a estimat sala pentru 2050?</a:t>
            </a:r>
            <a:endParaRPr lang="en-US" sz="3400" dirty="0"/>
          </a:p>
        </p:txBody>
      </p:sp>
      <p:sp>
        <p:nvSpPr>
          <p:cNvPr id="6" name="Shape 4"/>
          <p:cNvSpPr/>
          <p:nvPr/>
        </p:nvSpPr>
        <p:spPr>
          <a:xfrm>
            <a:off x="594360" y="1920240"/>
            <a:ext cx="5349240" cy="3108960"/>
          </a:xfrm>
          <a:prstGeom prst="roundRect">
            <a:avLst>
              <a:gd name="adj" fmla="val 2647"/>
            </a:avLst>
          </a:prstGeom>
          <a:solidFill>
            <a:srgbClr val="1D1F2B"/>
          </a:solidFill>
          <a:ln w="12700">
            <a:solidFill>
              <a:srgbClr val="1D1F2B"/>
            </a:solidFill>
            <a:prstDash val="solid"/>
          </a:ln>
        </p:spPr>
      </p:sp>
      <p:sp>
        <p:nvSpPr>
          <p:cNvPr id="7" name="Text 5"/>
          <p:cNvSpPr/>
          <p:nvPr/>
        </p:nvSpPr>
        <p:spPr>
          <a:xfrm>
            <a:off x="868680" y="2057400"/>
            <a:ext cx="4754880" cy="365760"/>
          </a:xfrm>
          <a:prstGeom prst="rect">
            <a:avLst/>
          </a:prstGeom>
          <a:noFill/>
          <a:ln/>
        </p:spPr>
        <p:txBody>
          <a:bodyPr wrap="square" lIns="0" tIns="0" rIns="0" bIns="0" rtlCol="0" anchor="t"/>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ESTIMAREA SĂLII</a:t>
            </a:r>
            <a:endParaRPr lang="en-US" sz="1300" dirty="0"/>
          </a:p>
        </p:txBody>
      </p:sp>
      <p:sp>
        <p:nvSpPr>
          <p:cNvPr id="8" name="Text 6"/>
          <p:cNvSpPr/>
          <p:nvPr/>
        </p:nvSpPr>
        <p:spPr>
          <a:xfrm>
            <a:off x="868680" y="2560320"/>
            <a:ext cx="4754880" cy="2194560"/>
          </a:xfrm>
          <a:prstGeom prst="rect">
            <a:avLst/>
          </a:prstGeom>
          <a:noFill/>
          <a:ln/>
        </p:spPr>
        <p:txBody>
          <a:bodyPr wrap="square" lIns="0" tIns="0" rIns="0" bIns="0" rtlCol="0" anchor="t"/>
          <a:lstStyle/>
          <a:p>
            <a:pPr indent="0" marL="0">
              <a:buNone/>
            </a:pPr>
            <a:r>
              <a:rPr lang="en-US" sz="2400" i="1" dirty="0">
                <a:solidFill>
                  <a:srgbClr val="959BB0"/>
                </a:solidFill>
                <a:latin typeface="Palatino Linotype" pitchFamily="34" charset="0"/>
                <a:ea typeface="Palatino Linotype" pitchFamily="34" charset="-122"/>
                <a:cs typeface="Palatino Linotype" pitchFamily="34" charset="-120"/>
              </a:rPr>
              <a:t>Rezultatele de la începutul cursului</a:t>
            </a:r>
            <a:endParaRPr lang="en-US" sz="2400" dirty="0"/>
          </a:p>
        </p:txBody>
      </p:sp>
      <p:sp>
        <p:nvSpPr>
          <p:cNvPr id="9" name="Shape 7"/>
          <p:cNvSpPr/>
          <p:nvPr/>
        </p:nvSpPr>
        <p:spPr>
          <a:xfrm>
            <a:off x="6217920" y="1920240"/>
            <a:ext cx="5349240" cy="3108960"/>
          </a:xfrm>
          <a:prstGeom prst="roundRect">
            <a:avLst>
              <a:gd name="adj" fmla="val 2647"/>
            </a:avLst>
          </a:prstGeom>
          <a:solidFill>
            <a:srgbClr val="272A38"/>
          </a:solidFill>
          <a:ln w="12700">
            <a:solidFill>
              <a:srgbClr val="272A38"/>
            </a:solidFill>
            <a:prstDash val="solid"/>
          </a:ln>
        </p:spPr>
      </p:sp>
      <p:sp>
        <p:nvSpPr>
          <p:cNvPr id="10" name="Text 8"/>
          <p:cNvSpPr/>
          <p:nvPr/>
        </p:nvSpPr>
        <p:spPr>
          <a:xfrm>
            <a:off x="6492240" y="2057400"/>
            <a:ext cx="4754880" cy="365760"/>
          </a:xfrm>
          <a:prstGeom prst="rect">
            <a:avLst/>
          </a:prstGeom>
          <a:noFill/>
          <a:ln/>
        </p:spPr>
        <p:txBody>
          <a:bodyPr wrap="square" lIns="0" tIns="0" rIns="0" bIns="0" rtlCol="0" anchor="t"/>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SCENARIUL DE BAZĂ, 2050</a:t>
            </a:r>
            <a:endParaRPr lang="en-US" sz="1300" dirty="0"/>
          </a:p>
        </p:txBody>
      </p:sp>
      <p:sp>
        <p:nvSpPr>
          <p:cNvPr id="11" name="Text 9"/>
          <p:cNvSpPr/>
          <p:nvPr/>
        </p:nvSpPr>
        <p:spPr>
          <a:xfrm>
            <a:off x="6492240" y="2560320"/>
            <a:ext cx="4754880" cy="1097280"/>
          </a:xfrm>
          <a:prstGeom prst="rect">
            <a:avLst/>
          </a:prstGeom>
          <a:noFill/>
          <a:ln/>
        </p:spPr>
        <p:txBody>
          <a:bodyPr wrap="square" lIns="0" tIns="0" rIns="0" bIns="0" rtlCol="0" anchor="ctr"/>
          <a:lstStyle/>
          <a:p>
            <a:pPr indent="0" marL="0">
              <a:buNone/>
            </a:pPr>
            <a:r>
              <a:rPr lang="en-US" sz="5200" b="1" dirty="0">
                <a:solidFill>
                  <a:srgbClr val="FFFFFF"/>
                </a:solidFill>
                <a:latin typeface="Palatino Linotype" pitchFamily="34" charset="0"/>
                <a:ea typeface="Palatino Linotype" pitchFamily="34" charset="-122"/>
                <a:cs typeface="Palatino Linotype" pitchFamily="34" charset="-120"/>
              </a:rPr>
              <a:t>17 148 348</a:t>
            </a:r>
            <a:endParaRPr lang="en-US" sz="5200" dirty="0"/>
          </a:p>
        </p:txBody>
      </p:sp>
      <p:sp>
        <p:nvSpPr>
          <p:cNvPr id="12" name="Text 10"/>
          <p:cNvSpPr/>
          <p:nvPr/>
        </p:nvSpPr>
        <p:spPr>
          <a:xfrm>
            <a:off x="6492240" y="3749040"/>
            <a:ext cx="4754880" cy="457200"/>
          </a:xfrm>
          <a:prstGeom prst="rect">
            <a:avLst/>
          </a:prstGeom>
          <a:noFill/>
          <a:ln/>
        </p:spPr>
        <p:txBody>
          <a:bodyPr wrap="square" lIns="0" tIns="0" rIns="0" bIns="0" rtlCol="0" anchor="t"/>
          <a:lstStyle/>
          <a:p>
            <a:pPr indent="0" marL="0">
              <a:buNone/>
            </a:pPr>
            <a:r>
              <a:rPr lang="en-US" sz="1700" dirty="0">
                <a:solidFill>
                  <a:srgbClr val="D5D8E2"/>
                </a:solidFill>
                <a:latin typeface="Palatino Linotype" pitchFamily="34" charset="0"/>
                <a:ea typeface="Palatino Linotype" pitchFamily="34" charset="-122"/>
                <a:cs typeface="Palatino Linotype" pitchFamily="34" charset="-120"/>
              </a:rPr>
              <a:t>locuitori (EUROPOP2025)</a:t>
            </a:r>
            <a:endParaRPr lang="en-US" sz="1700" dirty="0"/>
          </a:p>
        </p:txBody>
      </p:sp>
      <p:sp>
        <p:nvSpPr>
          <p:cNvPr id="13" name="Text 11"/>
          <p:cNvSpPr/>
          <p:nvPr/>
        </p:nvSpPr>
        <p:spPr>
          <a:xfrm>
            <a:off x="594360" y="5303520"/>
            <a:ext cx="10972800" cy="731520"/>
          </a:xfrm>
          <a:prstGeom prst="rect">
            <a:avLst/>
          </a:prstGeom>
          <a:noFill/>
          <a:ln/>
        </p:spPr>
        <p:txBody>
          <a:bodyPr wrap="square" lIns="0" tIns="0" rIns="0" bIns="0" rtlCol="0" anchor="t"/>
          <a:lstStyle/>
          <a:p>
            <a:pPr indent="0" marL="0">
              <a:buNone/>
            </a:pPr>
            <a:r>
              <a:rPr lang="en-US" sz="2100" b="1" dirty="0">
                <a:solidFill>
                  <a:srgbClr val="FFC24B"/>
                </a:solidFill>
                <a:latin typeface="Palatino Linotype" pitchFamily="34" charset="0"/>
                <a:ea typeface="Palatino Linotype" pitchFamily="34" charset="-122"/>
                <a:cs typeface="Palatino Linotype" pitchFamily="34" charset="-120"/>
              </a:rPr>
              <a:t>Ce ipoteză ar trebui schimbată ca populația să nu mai scadă? Cât de realist este?</a:t>
            </a:r>
            <a:endParaRPr lang="en-US" sz="2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TERMEN NOU 3</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600" b="1" dirty="0">
                <a:solidFill>
                  <a:srgbClr val="11121A"/>
                </a:solidFill>
                <a:latin typeface="Palatino Linotype" pitchFamily="34" charset="0"/>
                <a:ea typeface="Palatino Linotype" pitchFamily="34" charset="-122"/>
                <a:cs typeface="Palatino Linotype" pitchFamily="34" charset="-120"/>
              </a:rPr>
              <a:t>Mortalitatea infantilă</a:t>
            </a:r>
            <a:endParaRPr lang="en-US" sz="3600" dirty="0"/>
          </a:p>
        </p:txBody>
      </p:sp>
      <p:sp>
        <p:nvSpPr>
          <p:cNvPr id="4" name="Text 2"/>
          <p:cNvSpPr/>
          <p:nvPr/>
        </p:nvSpPr>
        <p:spPr>
          <a:xfrm>
            <a:off x="594360" y="1554480"/>
            <a:ext cx="10972800" cy="502920"/>
          </a:xfrm>
          <a:prstGeom prst="rect">
            <a:avLst/>
          </a:prstGeom>
          <a:noFill/>
          <a:ln/>
        </p:spPr>
        <p:txBody>
          <a:bodyPr wrap="square" lIns="0" tIns="0" rIns="0" bIns="0" rtlCol="0" anchor="t"/>
          <a:lstStyle/>
          <a:p>
            <a:pPr indent="0" marL="0">
              <a:buNone/>
            </a:pPr>
            <a:r>
              <a:rPr lang="en-US" sz="2000" b="1" dirty="0">
                <a:solidFill>
                  <a:srgbClr val="11121A"/>
                </a:solidFill>
                <a:latin typeface="Palatino Linotype" pitchFamily="34" charset="0"/>
                <a:ea typeface="Palatino Linotype" pitchFamily="34" charset="-122"/>
                <a:cs typeface="Palatino Linotype" pitchFamily="34" charset="-120"/>
              </a:rPr>
              <a:t>Câți copii dintr-o mie născuți vii mor înainte de a împlini un an.</a:t>
            </a:r>
            <a:endParaRPr lang="en-US" sz="2000" dirty="0"/>
          </a:p>
        </p:txBody>
      </p:sp>
      <p:sp>
        <p:nvSpPr>
          <p:cNvPr id="5" name="Shape 3"/>
          <p:cNvSpPr/>
          <p:nvPr/>
        </p:nvSpPr>
        <p:spPr>
          <a:xfrm>
            <a:off x="594360" y="2331720"/>
            <a:ext cx="2743200" cy="685800"/>
          </a:xfrm>
          <a:prstGeom prst="roundRect">
            <a:avLst>
              <a:gd name="adj" fmla="val 10667"/>
            </a:avLst>
          </a:prstGeom>
          <a:solidFill>
            <a:srgbClr val="FF4757"/>
          </a:solidFill>
          <a:ln w="12700">
            <a:solidFill>
              <a:srgbClr val="FF4757"/>
            </a:solidFill>
            <a:prstDash val="solid"/>
          </a:ln>
        </p:spPr>
      </p:sp>
      <p:sp>
        <p:nvSpPr>
          <p:cNvPr id="6" name="Text 4"/>
          <p:cNvSpPr/>
          <p:nvPr/>
        </p:nvSpPr>
        <p:spPr>
          <a:xfrm>
            <a:off x="594360" y="2331720"/>
            <a:ext cx="2743200" cy="685800"/>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neonatală · primele 28 de zile</a:t>
            </a:r>
            <a:endParaRPr lang="en-US" sz="1400" dirty="0"/>
          </a:p>
        </p:txBody>
      </p:sp>
      <p:sp>
        <p:nvSpPr>
          <p:cNvPr id="7" name="Shape 5"/>
          <p:cNvSpPr/>
          <p:nvPr/>
        </p:nvSpPr>
        <p:spPr>
          <a:xfrm>
            <a:off x="3337560" y="2331720"/>
            <a:ext cx="8229600" cy="685800"/>
          </a:xfrm>
          <a:prstGeom prst="roundRect">
            <a:avLst>
              <a:gd name="adj" fmla="val 10667"/>
            </a:avLst>
          </a:prstGeom>
          <a:solidFill>
            <a:srgbClr val="0E7C6B"/>
          </a:solidFill>
          <a:ln w="12700">
            <a:solidFill>
              <a:srgbClr val="0E7C6B"/>
            </a:solidFill>
            <a:prstDash val="solid"/>
          </a:ln>
        </p:spPr>
      </p:sp>
      <p:sp>
        <p:nvSpPr>
          <p:cNvPr id="8" name="Text 6"/>
          <p:cNvSpPr/>
          <p:nvPr/>
        </p:nvSpPr>
        <p:spPr>
          <a:xfrm>
            <a:off x="3337560" y="2331720"/>
            <a:ext cx="8229600" cy="68580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postneonatală · de la 28 de zile la un an</a:t>
            </a:r>
            <a:endParaRPr lang="en-US" sz="1400" dirty="0"/>
          </a:p>
        </p:txBody>
      </p:sp>
      <p:sp>
        <p:nvSpPr>
          <p:cNvPr id="9" name="Text 7"/>
          <p:cNvSpPr/>
          <p:nvPr/>
        </p:nvSpPr>
        <p:spPr>
          <a:xfrm>
            <a:off x="594360" y="3063240"/>
            <a:ext cx="1371600" cy="274320"/>
          </a:xfrm>
          <a:prstGeom prst="rect">
            <a:avLst/>
          </a:prstGeom>
          <a:noFill/>
          <a:ln/>
        </p:spPr>
        <p:txBody>
          <a:bodyPr wrap="square" lIns="0" tIns="0" rIns="0" bIns="0" rtlCol="0" anchor="t"/>
          <a:lstStyle/>
          <a:p>
            <a:pPr indent="0" marL="0">
              <a:buNone/>
            </a:pPr>
            <a:r>
              <a:rPr lang="en-US" sz="1200" dirty="0">
                <a:solidFill>
                  <a:srgbClr val="585A64"/>
                </a:solidFill>
                <a:latin typeface="Palatino Linotype" pitchFamily="34" charset="0"/>
                <a:ea typeface="Palatino Linotype" pitchFamily="34" charset="-122"/>
                <a:cs typeface="Palatino Linotype" pitchFamily="34" charset="-120"/>
              </a:rPr>
              <a:t>naștere</a:t>
            </a:r>
            <a:endParaRPr lang="en-US" sz="1200" dirty="0"/>
          </a:p>
        </p:txBody>
      </p:sp>
      <p:sp>
        <p:nvSpPr>
          <p:cNvPr id="10" name="Text 8"/>
          <p:cNvSpPr/>
          <p:nvPr/>
        </p:nvSpPr>
        <p:spPr>
          <a:xfrm>
            <a:off x="10195560" y="3063240"/>
            <a:ext cx="1371600" cy="274320"/>
          </a:xfrm>
          <a:prstGeom prst="rect">
            <a:avLst/>
          </a:prstGeom>
          <a:noFill/>
          <a:ln/>
        </p:spPr>
        <p:txBody>
          <a:bodyPr wrap="square" lIns="0" tIns="0" rIns="0" bIns="0" rtlCol="0" anchor="t"/>
          <a:lstStyle/>
          <a:p>
            <a:pPr algn="r" indent="0" marL="0">
              <a:buNone/>
            </a:pPr>
            <a:r>
              <a:rPr lang="en-US" sz="1200" dirty="0">
                <a:solidFill>
                  <a:srgbClr val="585A64"/>
                </a:solidFill>
                <a:latin typeface="Palatino Linotype" pitchFamily="34" charset="0"/>
                <a:ea typeface="Palatino Linotype" pitchFamily="34" charset="-122"/>
                <a:cs typeface="Palatino Linotype" pitchFamily="34" charset="-120"/>
              </a:rPr>
              <a:t>un an</a:t>
            </a:r>
            <a:endParaRPr lang="en-US" sz="1200" dirty="0"/>
          </a:p>
        </p:txBody>
      </p:sp>
      <p:sp>
        <p:nvSpPr>
          <p:cNvPr id="11" name="Shape 9"/>
          <p:cNvSpPr/>
          <p:nvPr/>
        </p:nvSpPr>
        <p:spPr>
          <a:xfrm>
            <a:off x="594360" y="3566160"/>
            <a:ext cx="5349240" cy="2468880"/>
          </a:xfrm>
          <a:prstGeom prst="roundRect">
            <a:avLst>
              <a:gd name="adj" fmla="val 3333"/>
            </a:avLst>
          </a:prstGeom>
          <a:solidFill>
            <a:srgbClr val="ECEAE4"/>
          </a:solidFill>
          <a:ln w="12700">
            <a:solidFill>
              <a:srgbClr val="ECEAE4"/>
            </a:solidFill>
            <a:prstDash val="solid"/>
          </a:ln>
        </p:spPr>
      </p:sp>
      <p:sp>
        <p:nvSpPr>
          <p:cNvPr id="12" name="Text 10"/>
          <p:cNvSpPr/>
          <p:nvPr/>
        </p:nvSpPr>
        <p:spPr>
          <a:xfrm>
            <a:off x="868680" y="3566160"/>
            <a:ext cx="4846320" cy="246888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Cauzele deceselor neonatale, după OMS (la nivel mondial): nașterea prematură, complicațiile nașterii (asfixia și traumatismul la naștere), infecțiile neonatale, anomaliile congenitale.</a:t>
            </a:r>
            <a:endParaRPr lang="en-US" sz="1600" dirty="0"/>
          </a:p>
        </p:txBody>
      </p:sp>
      <p:sp>
        <p:nvSpPr>
          <p:cNvPr id="13" name="Shape 11"/>
          <p:cNvSpPr/>
          <p:nvPr/>
        </p:nvSpPr>
        <p:spPr>
          <a:xfrm>
            <a:off x="6217920" y="3566160"/>
            <a:ext cx="5349240" cy="2468880"/>
          </a:xfrm>
          <a:prstGeom prst="roundRect">
            <a:avLst>
              <a:gd name="adj" fmla="val 3333"/>
            </a:avLst>
          </a:prstGeom>
          <a:solidFill>
            <a:srgbClr val="ECEAE4"/>
          </a:solidFill>
          <a:ln w="12700">
            <a:solidFill>
              <a:srgbClr val="ECEAE4"/>
            </a:solidFill>
            <a:prstDash val="solid"/>
          </a:ln>
        </p:spPr>
      </p:sp>
      <p:sp>
        <p:nvSpPr>
          <p:cNvPr id="14" name="Text 12"/>
          <p:cNvSpPr/>
          <p:nvPr/>
        </p:nvSpPr>
        <p:spPr>
          <a:xfrm>
            <a:off x="6492240" y="3566160"/>
            <a:ext cx="4846320" cy="246888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Cauzele deceselor postneonatale: nu există, în aceste note, o sursă care să le dea. Repartiția deceselor infantile pe cauze, pentru România, nu a fost extrasă dintr-o sursă oficială.</a:t>
            </a:r>
            <a:endParaRPr lang="en-US" sz="1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229600" y="292608"/>
            <a:ext cx="3337560" cy="420624"/>
          </a:xfrm>
          <a:prstGeom prst="roundRect">
            <a:avLst>
              <a:gd name="adj" fmla="val 50000"/>
            </a:avLst>
          </a:prstGeom>
          <a:solidFill>
            <a:srgbClr val="FFC24B"/>
          </a:solidFill>
          <a:ln w="12700">
            <a:solidFill>
              <a:srgbClr val="FFC24B"/>
            </a:solidFill>
            <a:prstDash val="solid"/>
          </a:ln>
        </p:spPr>
      </p:sp>
      <p:sp>
        <p:nvSpPr>
          <p:cNvPr id="3" name="Text 1"/>
          <p:cNvSpPr/>
          <p:nvPr/>
        </p:nvSpPr>
        <p:spPr>
          <a:xfrm>
            <a:off x="8229600" y="292608"/>
            <a:ext cx="333756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a:t>
            </a:r>
            <a:endParaRPr lang="en-US" sz="1300" dirty="0"/>
          </a:p>
        </p:txBody>
      </p:sp>
      <p:sp>
        <p:nvSpPr>
          <p:cNvPr id="4" name="Text 2"/>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VOT PE TELEFON</a:t>
            </a:r>
            <a:endParaRPr lang="en-US" sz="1300" dirty="0"/>
          </a:p>
        </p:txBody>
      </p:sp>
      <p:sp>
        <p:nvSpPr>
          <p:cNvPr id="5" name="Text 3"/>
          <p:cNvSpPr/>
          <p:nvPr/>
        </p:nvSpPr>
        <p:spPr>
          <a:xfrm>
            <a:off x="594360" y="713232"/>
            <a:ext cx="7589520" cy="1005840"/>
          </a:xfrm>
          <a:prstGeom prst="rect">
            <a:avLst/>
          </a:prstGeom>
          <a:noFill/>
          <a:ln/>
        </p:spPr>
        <p:txBody>
          <a:bodyPr wrap="square" lIns="0" tIns="0" rIns="0" bIns="0" rtlCol="0" anchor="t"/>
          <a:lstStyle/>
          <a:p>
            <a:pPr indent="0" marL="0">
              <a:buNone/>
            </a:pPr>
            <a:r>
              <a:rPr lang="en-US" sz="2800" b="1" dirty="0">
                <a:solidFill>
                  <a:srgbClr val="FFFFFF"/>
                </a:solidFill>
                <a:latin typeface="Palatino Linotype" pitchFamily="34" charset="0"/>
                <a:ea typeface="Palatino Linotype" pitchFamily="34" charset="-122"/>
                <a:cs typeface="Palatino Linotype" pitchFamily="34" charset="-120"/>
              </a:rPr>
              <a:t>Ce parte dintre decesele neonatale au loc, după OMS, în prima săptămână de viață?</a:t>
            </a:r>
            <a:endParaRPr lang="en-US" sz="2800" dirty="0"/>
          </a:p>
        </p:txBody>
      </p:sp>
      <p:sp>
        <p:nvSpPr>
          <p:cNvPr id="6" name="Shape 4"/>
          <p:cNvSpPr/>
          <p:nvPr/>
        </p:nvSpPr>
        <p:spPr>
          <a:xfrm>
            <a:off x="594360" y="2286000"/>
            <a:ext cx="5349240" cy="1097280"/>
          </a:xfrm>
          <a:prstGeom prst="roundRect">
            <a:avLst>
              <a:gd name="adj" fmla="val 7500"/>
            </a:avLst>
          </a:prstGeom>
          <a:solidFill>
            <a:srgbClr val="1D1F2B"/>
          </a:solidFill>
          <a:ln w="12700">
            <a:solidFill>
              <a:srgbClr val="1D1F2B"/>
            </a:solidFill>
            <a:prstDash val="solid"/>
          </a:ln>
        </p:spPr>
      </p:sp>
      <p:sp>
        <p:nvSpPr>
          <p:cNvPr id="7" name="Text 5"/>
          <p:cNvSpPr/>
          <p:nvPr/>
        </p:nvSpPr>
        <p:spPr>
          <a:xfrm>
            <a:off x="731520" y="2286000"/>
            <a:ext cx="5074920" cy="1097280"/>
          </a:xfrm>
          <a:prstGeom prst="rect">
            <a:avLst/>
          </a:prstGeom>
          <a:noFill/>
          <a:ln/>
        </p:spPr>
        <p:txBody>
          <a:bodyPr wrap="square" lIns="0" tIns="0" rIns="0" bIns="0" rtlCol="0" anchor="ctr"/>
          <a:lstStyle/>
          <a:p>
            <a:pPr algn="ctr" indent="0" marL="0">
              <a:buNone/>
            </a:pPr>
            <a:r>
              <a:rPr lang="en-US" sz="2200" b="1" dirty="0">
                <a:solidFill>
                  <a:srgbClr val="FFFFFF"/>
                </a:solidFill>
                <a:latin typeface="Palatino Linotype" pitchFamily="34" charset="0"/>
                <a:ea typeface="Palatino Linotype" pitchFamily="34" charset="-122"/>
                <a:cs typeface="Palatino Linotype" pitchFamily="34" charset="-120"/>
              </a:rPr>
              <a:t>A  ·  aproximativ un sfert</a:t>
            </a:r>
            <a:endParaRPr lang="en-US" sz="2200" dirty="0"/>
          </a:p>
        </p:txBody>
      </p:sp>
      <p:sp>
        <p:nvSpPr>
          <p:cNvPr id="8" name="Shape 6"/>
          <p:cNvSpPr/>
          <p:nvPr/>
        </p:nvSpPr>
        <p:spPr>
          <a:xfrm>
            <a:off x="6217920" y="2286000"/>
            <a:ext cx="5349240" cy="1097280"/>
          </a:xfrm>
          <a:prstGeom prst="roundRect">
            <a:avLst>
              <a:gd name="adj" fmla="val 7500"/>
            </a:avLst>
          </a:prstGeom>
          <a:solidFill>
            <a:srgbClr val="1D1F2B"/>
          </a:solidFill>
          <a:ln w="12700">
            <a:solidFill>
              <a:srgbClr val="1D1F2B"/>
            </a:solidFill>
            <a:prstDash val="solid"/>
          </a:ln>
        </p:spPr>
      </p:sp>
      <p:sp>
        <p:nvSpPr>
          <p:cNvPr id="9" name="Text 7"/>
          <p:cNvSpPr/>
          <p:nvPr/>
        </p:nvSpPr>
        <p:spPr>
          <a:xfrm>
            <a:off x="6355080" y="2286000"/>
            <a:ext cx="5074920" cy="1097280"/>
          </a:xfrm>
          <a:prstGeom prst="rect">
            <a:avLst/>
          </a:prstGeom>
          <a:noFill/>
          <a:ln/>
        </p:spPr>
        <p:txBody>
          <a:bodyPr wrap="square" lIns="0" tIns="0" rIns="0" bIns="0" rtlCol="0" anchor="ctr"/>
          <a:lstStyle/>
          <a:p>
            <a:pPr algn="ctr" indent="0" marL="0">
              <a:buNone/>
            </a:pPr>
            <a:r>
              <a:rPr lang="en-US" sz="2200" b="1" dirty="0">
                <a:solidFill>
                  <a:srgbClr val="FFFFFF"/>
                </a:solidFill>
                <a:latin typeface="Palatino Linotype" pitchFamily="34" charset="0"/>
                <a:ea typeface="Palatino Linotype" pitchFamily="34" charset="-122"/>
                <a:cs typeface="Palatino Linotype" pitchFamily="34" charset="-120"/>
              </a:rPr>
              <a:t>B  ·  aproximativ jumătate</a:t>
            </a:r>
            <a:endParaRPr lang="en-US" sz="2200" dirty="0"/>
          </a:p>
        </p:txBody>
      </p:sp>
      <p:sp>
        <p:nvSpPr>
          <p:cNvPr id="10" name="Shape 8"/>
          <p:cNvSpPr/>
          <p:nvPr/>
        </p:nvSpPr>
        <p:spPr>
          <a:xfrm>
            <a:off x="594360" y="3657600"/>
            <a:ext cx="5349240" cy="1097280"/>
          </a:xfrm>
          <a:prstGeom prst="roundRect">
            <a:avLst>
              <a:gd name="adj" fmla="val 7500"/>
            </a:avLst>
          </a:prstGeom>
          <a:solidFill>
            <a:srgbClr val="1D1F2B"/>
          </a:solidFill>
          <a:ln w="12700">
            <a:solidFill>
              <a:srgbClr val="1D1F2B"/>
            </a:solidFill>
            <a:prstDash val="solid"/>
          </a:ln>
        </p:spPr>
      </p:sp>
      <p:sp>
        <p:nvSpPr>
          <p:cNvPr id="11" name="Text 9"/>
          <p:cNvSpPr/>
          <p:nvPr/>
        </p:nvSpPr>
        <p:spPr>
          <a:xfrm>
            <a:off x="731520" y="3657600"/>
            <a:ext cx="5074920" cy="1097280"/>
          </a:xfrm>
          <a:prstGeom prst="rect">
            <a:avLst/>
          </a:prstGeom>
          <a:noFill/>
          <a:ln/>
        </p:spPr>
        <p:txBody>
          <a:bodyPr wrap="square" lIns="0" tIns="0" rIns="0" bIns="0" rtlCol="0" anchor="ctr"/>
          <a:lstStyle/>
          <a:p>
            <a:pPr algn="ctr" indent="0" marL="0">
              <a:buNone/>
            </a:pPr>
            <a:r>
              <a:rPr lang="en-US" sz="2200" b="1" dirty="0">
                <a:solidFill>
                  <a:srgbClr val="FFFFFF"/>
                </a:solidFill>
                <a:latin typeface="Palatino Linotype" pitchFamily="34" charset="0"/>
                <a:ea typeface="Palatino Linotype" pitchFamily="34" charset="-122"/>
                <a:cs typeface="Palatino Linotype" pitchFamily="34" charset="-120"/>
              </a:rPr>
              <a:t>C  ·  aproximativ trei sferturi</a:t>
            </a:r>
            <a:endParaRPr lang="en-US" sz="2200" dirty="0"/>
          </a:p>
        </p:txBody>
      </p:sp>
      <p:sp>
        <p:nvSpPr>
          <p:cNvPr id="12" name="Shape 10"/>
          <p:cNvSpPr/>
          <p:nvPr/>
        </p:nvSpPr>
        <p:spPr>
          <a:xfrm>
            <a:off x="6217920" y="3657600"/>
            <a:ext cx="5349240" cy="1097280"/>
          </a:xfrm>
          <a:prstGeom prst="roundRect">
            <a:avLst>
              <a:gd name="adj" fmla="val 7500"/>
            </a:avLst>
          </a:prstGeom>
          <a:solidFill>
            <a:srgbClr val="1D1F2B"/>
          </a:solidFill>
          <a:ln w="12700">
            <a:solidFill>
              <a:srgbClr val="1D1F2B"/>
            </a:solidFill>
            <a:prstDash val="solid"/>
          </a:ln>
        </p:spPr>
      </p:sp>
      <p:sp>
        <p:nvSpPr>
          <p:cNvPr id="13" name="Text 11"/>
          <p:cNvSpPr/>
          <p:nvPr/>
        </p:nvSpPr>
        <p:spPr>
          <a:xfrm>
            <a:off x="6355080" y="3657600"/>
            <a:ext cx="5074920" cy="1097280"/>
          </a:xfrm>
          <a:prstGeom prst="rect">
            <a:avLst/>
          </a:prstGeom>
          <a:noFill/>
          <a:ln/>
        </p:spPr>
        <p:txBody>
          <a:bodyPr wrap="square" lIns="0" tIns="0" rIns="0" bIns="0" rtlCol="0" anchor="ctr"/>
          <a:lstStyle/>
          <a:p>
            <a:pPr algn="ctr" indent="0" marL="0">
              <a:buNone/>
            </a:pPr>
            <a:r>
              <a:rPr lang="en-US" sz="2200" b="1" dirty="0">
                <a:solidFill>
                  <a:srgbClr val="FFFFFF"/>
                </a:solidFill>
                <a:latin typeface="Palatino Linotype" pitchFamily="34" charset="0"/>
                <a:ea typeface="Palatino Linotype" pitchFamily="34" charset="-122"/>
                <a:cs typeface="Palatino Linotype" pitchFamily="34" charset="-120"/>
              </a:rPr>
              <a:t>D  ·  aproape toate</a:t>
            </a:r>
            <a:endParaRPr lang="en-US" sz="2200" dirty="0"/>
          </a:p>
        </p:txBody>
      </p:sp>
      <p:sp>
        <p:nvSpPr>
          <p:cNvPr id="14" name="Text 12"/>
          <p:cNvSpPr/>
          <p:nvPr/>
        </p:nvSpPr>
        <p:spPr>
          <a:xfrm>
            <a:off x="594360" y="5212080"/>
            <a:ext cx="10972800" cy="548640"/>
          </a:xfrm>
          <a:prstGeom prst="rect">
            <a:avLst/>
          </a:prstGeom>
          <a:noFill/>
          <a:ln/>
        </p:spPr>
        <p:txBody>
          <a:bodyPr wrap="square" lIns="0" tIns="0" rIns="0" bIns="0" rtlCol="0" anchor="t"/>
          <a:lstStyle/>
          <a:p>
            <a:pPr indent="0" marL="0">
              <a:buNone/>
            </a:pPr>
            <a:r>
              <a:rPr lang="en-US" sz="2000" b="1" dirty="0">
                <a:solidFill>
                  <a:srgbClr val="FFC24B"/>
                </a:solidFill>
                <a:latin typeface="Palatino Linotype" pitchFamily="34" charset="0"/>
                <a:ea typeface="Palatino Linotype" pitchFamily="34" charset="-122"/>
                <a:cs typeface="Palatino Linotype" pitchFamily="34" charset="-120"/>
              </a:rPr>
              <a:t>O singură variantă. Răspundeți pe telefon, la codul afișat.</a:t>
            </a:r>
            <a:endParaRPr lang="en-US" sz="2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ROMÂNIA ȘI UNIUNEA EUROPEANĂ · 2024</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Mortalitatea infantilă: de 1,9 ori media europeană</a:t>
            </a:r>
            <a:endParaRPr lang="en-US" sz="3000" dirty="0"/>
          </a:p>
        </p:txBody>
      </p:sp>
      <p:sp>
        <p:nvSpPr>
          <p:cNvPr id="4" name="Text 2"/>
          <p:cNvSpPr/>
          <p:nvPr/>
        </p:nvSpPr>
        <p:spPr>
          <a:xfrm>
            <a:off x="594360" y="1828800"/>
            <a:ext cx="1645920" cy="457200"/>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România</a:t>
            </a:r>
            <a:endParaRPr lang="en-US" sz="1800" dirty="0"/>
          </a:p>
        </p:txBody>
      </p:sp>
      <p:sp>
        <p:nvSpPr>
          <p:cNvPr id="5" name="Shape 3"/>
          <p:cNvSpPr/>
          <p:nvPr/>
        </p:nvSpPr>
        <p:spPr>
          <a:xfrm>
            <a:off x="2331720" y="1892808"/>
            <a:ext cx="3922776" cy="329184"/>
          </a:xfrm>
          <a:prstGeom prst="roundRect">
            <a:avLst>
              <a:gd name="adj" fmla="val 13889"/>
            </a:avLst>
          </a:prstGeom>
          <a:solidFill>
            <a:srgbClr val="FF4757"/>
          </a:solidFill>
          <a:ln w="12700">
            <a:solidFill>
              <a:srgbClr val="FF4757"/>
            </a:solidFill>
            <a:prstDash val="solid"/>
          </a:ln>
        </p:spPr>
      </p:sp>
      <p:sp>
        <p:nvSpPr>
          <p:cNvPr id="6" name="Text 4"/>
          <p:cNvSpPr/>
          <p:nvPr/>
        </p:nvSpPr>
        <p:spPr>
          <a:xfrm>
            <a:off x="6345936" y="1828800"/>
            <a:ext cx="2377440" cy="457200"/>
          </a:xfrm>
          <a:prstGeom prst="rect">
            <a:avLst/>
          </a:prstGeom>
          <a:noFill/>
          <a:ln/>
        </p:spPr>
        <p:txBody>
          <a:bodyPr wrap="square" lIns="0" tIns="0" rIns="0" bIns="0" rtlCol="0" anchor="ctr"/>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6,6</a:t>
            </a:r>
            <a:endParaRPr lang="en-US" sz="1600" dirty="0"/>
          </a:p>
        </p:txBody>
      </p:sp>
      <p:sp>
        <p:nvSpPr>
          <p:cNvPr id="7" name="Text 5"/>
          <p:cNvSpPr/>
          <p:nvPr/>
        </p:nvSpPr>
        <p:spPr>
          <a:xfrm>
            <a:off x="594360" y="2423160"/>
            <a:ext cx="1645920" cy="457200"/>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Uniunea Europeană</a:t>
            </a:r>
            <a:endParaRPr lang="en-US" sz="1800" dirty="0"/>
          </a:p>
        </p:txBody>
      </p:sp>
      <p:sp>
        <p:nvSpPr>
          <p:cNvPr id="8" name="Shape 6"/>
          <p:cNvSpPr/>
          <p:nvPr/>
        </p:nvSpPr>
        <p:spPr>
          <a:xfrm>
            <a:off x="2331720" y="2487168"/>
            <a:ext cx="2080260" cy="329184"/>
          </a:xfrm>
          <a:prstGeom prst="roundRect">
            <a:avLst>
              <a:gd name="adj" fmla="val 13889"/>
            </a:avLst>
          </a:prstGeom>
          <a:solidFill>
            <a:srgbClr val="27D3BE"/>
          </a:solidFill>
          <a:ln w="12700">
            <a:solidFill>
              <a:srgbClr val="27D3BE"/>
            </a:solidFill>
            <a:prstDash val="solid"/>
          </a:ln>
        </p:spPr>
      </p:sp>
      <p:sp>
        <p:nvSpPr>
          <p:cNvPr id="9" name="Text 7"/>
          <p:cNvSpPr/>
          <p:nvPr/>
        </p:nvSpPr>
        <p:spPr>
          <a:xfrm>
            <a:off x="4503420" y="2423160"/>
            <a:ext cx="2377440" cy="457200"/>
          </a:xfrm>
          <a:prstGeom prst="rect">
            <a:avLst/>
          </a:prstGeom>
          <a:noFill/>
          <a:ln/>
        </p:spPr>
        <p:txBody>
          <a:bodyPr wrap="square" lIns="0" tIns="0" rIns="0" bIns="0" rtlCol="0" anchor="ctr"/>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3,5</a:t>
            </a:r>
            <a:endParaRPr lang="en-US" sz="1600" dirty="0"/>
          </a:p>
        </p:txBody>
      </p:sp>
      <p:sp>
        <p:nvSpPr>
          <p:cNvPr id="10" name="Text 8"/>
          <p:cNvSpPr/>
          <p:nvPr/>
        </p:nvSpPr>
        <p:spPr>
          <a:xfrm>
            <a:off x="594360" y="3246120"/>
            <a:ext cx="7315200" cy="320040"/>
          </a:xfrm>
          <a:prstGeom prst="rect">
            <a:avLst/>
          </a:prstGeom>
          <a:noFill/>
          <a:ln/>
        </p:spPr>
        <p:txBody>
          <a:bodyPr wrap="square" lIns="0" tIns="0" rIns="0" bIns="0" rtlCol="0" anchor="t"/>
          <a:lstStyle/>
          <a:p>
            <a:pPr indent="0" marL="0">
              <a:buNone/>
            </a:pPr>
            <a:r>
              <a:rPr lang="en-US" sz="1200" b="1" spc="200" kern="0" dirty="0">
                <a:solidFill>
                  <a:srgbClr val="FFC24B"/>
                </a:solidFill>
                <a:latin typeface="Palatino Linotype" pitchFamily="34" charset="0"/>
                <a:ea typeface="Palatino Linotype" pitchFamily="34" charset="-122"/>
                <a:cs typeface="Palatino Linotype" pitchFamily="34" charset="-120"/>
              </a:rPr>
              <a:t>DIN CELE 6,6 ALE ROMÂNIEI</a:t>
            </a:r>
            <a:endParaRPr lang="en-US" sz="1200" dirty="0"/>
          </a:p>
        </p:txBody>
      </p:sp>
      <p:sp>
        <p:nvSpPr>
          <p:cNvPr id="11" name="Shape 9"/>
          <p:cNvSpPr/>
          <p:nvPr/>
        </p:nvSpPr>
        <p:spPr>
          <a:xfrm>
            <a:off x="594360" y="3657600"/>
            <a:ext cx="4049684" cy="731520"/>
          </a:xfrm>
          <a:prstGeom prst="rect">
            <a:avLst/>
          </a:prstGeom>
          <a:solidFill>
            <a:srgbClr val="FF4757"/>
          </a:solidFill>
          <a:ln w="12700">
            <a:solidFill>
              <a:srgbClr val="FF4757"/>
            </a:solidFill>
            <a:prstDash val="solid"/>
          </a:ln>
        </p:spPr>
      </p:sp>
      <p:sp>
        <p:nvSpPr>
          <p:cNvPr id="12" name="Text 10"/>
          <p:cNvSpPr/>
          <p:nvPr/>
        </p:nvSpPr>
        <p:spPr>
          <a:xfrm>
            <a:off x="594360" y="3657600"/>
            <a:ext cx="4049684" cy="731520"/>
          </a:xfrm>
          <a:prstGeom prst="rect">
            <a:avLst/>
          </a:prstGeom>
          <a:noFill/>
          <a:ln/>
        </p:spPr>
        <p:txBody>
          <a:bodyPr wrap="square" lIns="0" tIns="0" rIns="0" bIns="0" rtlCol="0" anchor="ctr"/>
          <a:lstStyle/>
          <a:p>
            <a:pPr algn="ctr" indent="0" marL="0">
              <a:buNone/>
            </a:pPr>
            <a:r>
              <a:rPr lang="en-US" sz="1700" b="1" dirty="0">
                <a:solidFill>
                  <a:srgbClr val="2E060B"/>
                </a:solidFill>
                <a:latin typeface="Palatino Linotype" pitchFamily="34" charset="0"/>
                <a:ea typeface="Palatino Linotype" pitchFamily="34" charset="-122"/>
                <a:cs typeface="Palatino Linotype" pitchFamily="34" charset="-120"/>
              </a:rPr>
              <a:t>neonatală 3,7</a:t>
            </a:r>
            <a:endParaRPr lang="en-US" sz="1700" dirty="0"/>
          </a:p>
        </p:txBody>
      </p:sp>
      <p:sp>
        <p:nvSpPr>
          <p:cNvPr id="13" name="Shape 11"/>
          <p:cNvSpPr/>
          <p:nvPr/>
        </p:nvSpPr>
        <p:spPr>
          <a:xfrm>
            <a:off x="4644044" y="3657600"/>
            <a:ext cx="3174076" cy="731520"/>
          </a:xfrm>
          <a:prstGeom prst="rect">
            <a:avLst/>
          </a:prstGeom>
          <a:solidFill>
            <a:srgbClr val="27D3BE"/>
          </a:solidFill>
          <a:ln w="12700">
            <a:solidFill>
              <a:srgbClr val="27D3BE"/>
            </a:solidFill>
            <a:prstDash val="solid"/>
          </a:ln>
        </p:spPr>
      </p:sp>
      <p:sp>
        <p:nvSpPr>
          <p:cNvPr id="14" name="Text 12"/>
          <p:cNvSpPr/>
          <p:nvPr/>
        </p:nvSpPr>
        <p:spPr>
          <a:xfrm>
            <a:off x="4644044" y="3657600"/>
            <a:ext cx="3174076" cy="731520"/>
          </a:xfrm>
          <a:prstGeom prst="rect">
            <a:avLst/>
          </a:prstGeom>
          <a:noFill/>
          <a:ln/>
        </p:spPr>
        <p:txBody>
          <a:bodyPr wrap="square" lIns="0" tIns="0" rIns="0" bIns="0" rtlCol="0" anchor="ctr"/>
          <a:lstStyle/>
          <a:p>
            <a:pPr algn="ctr" indent="0" marL="0">
              <a:buNone/>
            </a:pPr>
            <a:r>
              <a:rPr lang="en-US" sz="1700" b="1" dirty="0">
                <a:solidFill>
                  <a:srgbClr val="073B34"/>
                </a:solidFill>
                <a:latin typeface="Palatino Linotype" pitchFamily="34" charset="0"/>
                <a:ea typeface="Palatino Linotype" pitchFamily="34" charset="-122"/>
                <a:cs typeface="Palatino Linotype" pitchFamily="34" charset="-120"/>
              </a:rPr>
              <a:t>postneonatală 2,9</a:t>
            </a:r>
            <a:endParaRPr lang="en-US" sz="1700" dirty="0"/>
          </a:p>
        </p:txBody>
      </p:sp>
      <p:sp>
        <p:nvSpPr>
          <p:cNvPr id="15" name="Text 13"/>
          <p:cNvSpPr/>
          <p:nvPr/>
        </p:nvSpPr>
        <p:spPr>
          <a:xfrm>
            <a:off x="594360" y="4617720"/>
            <a:ext cx="7589520" cy="1280160"/>
          </a:xfrm>
          <a:prstGeom prst="rect">
            <a:avLst/>
          </a:prstGeom>
          <a:noFill/>
          <a:ln/>
        </p:spPr>
        <p:txBody>
          <a:bodyPr wrap="square" lIns="0" tIns="0" rIns="0" bIns="0" rtlCol="0" anchor="t"/>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Componenta postneonatală este aproape jumătate din total. Ce o explică? Cifrele nu spun: ar fi nevoie de repartiția deceselor pe cauze și pe locul în care au avut loc.</a:t>
            </a:r>
            <a:endParaRPr lang="en-US" sz="1700" dirty="0"/>
          </a:p>
        </p:txBody>
      </p:sp>
      <p:sp>
        <p:nvSpPr>
          <p:cNvPr id="16" name="Shape 14"/>
          <p:cNvSpPr/>
          <p:nvPr/>
        </p:nvSpPr>
        <p:spPr>
          <a:xfrm>
            <a:off x="8503920" y="1783080"/>
            <a:ext cx="3063240" cy="4251960"/>
          </a:xfrm>
          <a:prstGeom prst="roundRect">
            <a:avLst>
              <a:gd name="adj" fmla="val 2687"/>
            </a:avLst>
          </a:prstGeom>
          <a:solidFill>
            <a:srgbClr val="1D1F2B"/>
          </a:solidFill>
          <a:ln w="12700">
            <a:solidFill>
              <a:srgbClr val="1D1F2B"/>
            </a:solidFill>
            <a:prstDash val="solid"/>
          </a:ln>
        </p:spPr>
      </p:sp>
      <p:sp>
        <p:nvSpPr>
          <p:cNvPr id="17" name="Text 15"/>
          <p:cNvSpPr/>
          <p:nvPr/>
        </p:nvSpPr>
        <p:spPr>
          <a:xfrm>
            <a:off x="8732520" y="1920240"/>
            <a:ext cx="2651760" cy="1463040"/>
          </a:xfrm>
          <a:prstGeom prst="rect">
            <a:avLst/>
          </a:prstGeom>
          <a:noFill/>
          <a:ln/>
        </p:spPr>
        <p:txBody>
          <a:bodyPr wrap="square" lIns="0" tIns="0" rIns="0" bIns="0" rtlCol="0" anchor="t"/>
          <a:lstStyle/>
          <a:p>
            <a:pPr indent="0" marL="0">
              <a:buNone/>
            </a:pPr>
            <a:r>
              <a:rPr lang="en-US" sz="1600" b="1" dirty="0">
                <a:solidFill>
                  <a:srgbClr val="FFC24B"/>
                </a:solidFill>
                <a:latin typeface="Palatino Linotype" pitchFamily="34" charset="0"/>
                <a:ea typeface="Palatino Linotype" pitchFamily="34" charset="-122"/>
                <a:cs typeface="Palatino Linotype" pitchFamily="34" charset="-120"/>
              </a:rPr>
              <a:t>În 2000: 18,6. Scădere de 64,5% până în 2024.</a:t>
            </a:r>
            <a:endParaRPr lang="en-US" sz="1600" dirty="0"/>
          </a:p>
        </p:txBody>
      </p:sp>
      <p:sp>
        <p:nvSpPr>
          <p:cNvPr id="18" name="Text 16"/>
          <p:cNvSpPr/>
          <p:nvPr/>
        </p:nvSpPr>
        <p:spPr>
          <a:xfrm>
            <a:off x="8732520" y="3291840"/>
            <a:ext cx="2651760" cy="2651760"/>
          </a:xfrm>
          <a:prstGeom prst="rect">
            <a:avLst/>
          </a:prstGeom>
          <a:noFill/>
          <a:ln/>
        </p:spPr>
        <p:txBody>
          <a:bodyPr wrap="square" lIns="0" tIns="0" rIns="0" bIns="0" rtlCol="0" anchor="t"/>
          <a:lstStyle/>
          <a:p>
            <a:pPr indent="0" marL="0">
              <a:buNone/>
            </a:pPr>
            <a:r>
              <a:rPr lang="en-US" sz="1300" dirty="0">
                <a:solidFill>
                  <a:srgbClr val="D5D8E2"/>
                </a:solidFill>
                <a:latin typeface="Palatino Linotype" pitchFamily="34" charset="0"/>
                <a:ea typeface="Palatino Linotype" pitchFamily="34" charset="-122"/>
                <a:cs typeface="Palatino Linotype" pitchFamily="34" charset="-120"/>
              </a:rPr>
              <a:t>Estimarea UN IGME (UNICEF, OMS) pentru 2024: 6,0, cu interval de incertitudine 5,7–6,3. Altă definiție (probabilitate de deces) și altă metodă (model statistic): cele două valori nu se folosesc împreună în aceeași comparație.</a:t>
            </a:r>
            <a:endParaRPr lang="en-US" sz="1300" dirty="0"/>
          </a:p>
        </p:txBody>
      </p:sp>
      <p:sp>
        <p:nvSpPr>
          <p:cNvPr id="19" name="Text 17"/>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Sursa: Eurostat, mortalitatea infantilă la o mie de născuți vii (demo_minfind); UN IGME.</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SUB CINCI ANI · MAMA</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Copilul și mama: două scăderi mari</a:t>
            </a:r>
            <a:endParaRPr lang="en-US" sz="3200" dirty="0"/>
          </a:p>
        </p:txBody>
      </p:sp>
      <p:sp>
        <p:nvSpPr>
          <p:cNvPr id="4" name="Shape 2"/>
          <p:cNvSpPr/>
          <p:nvPr/>
        </p:nvSpPr>
        <p:spPr>
          <a:xfrm>
            <a:off x="594360" y="1783080"/>
            <a:ext cx="4754880" cy="4251960"/>
          </a:xfrm>
          <a:prstGeom prst="roundRect">
            <a:avLst>
              <a:gd name="adj" fmla="val 1935"/>
            </a:avLst>
          </a:prstGeom>
          <a:solidFill>
            <a:srgbClr val="11121A"/>
          </a:solidFill>
          <a:ln w="12700">
            <a:solidFill>
              <a:srgbClr val="11121A"/>
            </a:solidFill>
            <a:prstDash val="solid"/>
          </a:ln>
        </p:spPr>
      </p:sp>
      <p:sp>
        <p:nvSpPr>
          <p:cNvPr id="5" name="Text 3"/>
          <p:cNvSpPr/>
          <p:nvPr/>
        </p:nvSpPr>
        <p:spPr>
          <a:xfrm>
            <a:off x="868680" y="1920240"/>
            <a:ext cx="4206240" cy="365760"/>
          </a:xfrm>
          <a:prstGeom prst="rect">
            <a:avLst/>
          </a:prstGeom>
          <a:noFill/>
          <a:ln/>
        </p:spPr>
        <p:txBody>
          <a:bodyPr wrap="square" lIns="0" tIns="0" rIns="0" bIns="0" rtlCol="0" anchor="t"/>
          <a:lstStyle/>
          <a:p>
            <a:pPr indent="0" marL="0">
              <a:buNone/>
            </a:pPr>
            <a:r>
              <a:rPr lang="en-US" sz="1400" b="1" dirty="0">
                <a:solidFill>
                  <a:srgbClr val="FFC24B"/>
                </a:solidFill>
                <a:latin typeface="Palatino Linotype" pitchFamily="34" charset="0"/>
                <a:ea typeface="Palatino Linotype" pitchFamily="34" charset="-122"/>
                <a:cs typeface="Palatino Linotype" pitchFamily="34" charset="-120"/>
              </a:rPr>
              <a:t>Sub cinci ani</a:t>
            </a:r>
            <a:endParaRPr lang="en-US" sz="1400" dirty="0"/>
          </a:p>
        </p:txBody>
      </p:sp>
      <p:sp>
        <p:nvSpPr>
          <p:cNvPr id="6" name="Text 4"/>
          <p:cNvSpPr/>
          <p:nvPr/>
        </p:nvSpPr>
        <p:spPr>
          <a:xfrm>
            <a:off x="868680" y="2286000"/>
            <a:ext cx="4206240" cy="1371600"/>
          </a:xfrm>
          <a:prstGeom prst="rect">
            <a:avLst/>
          </a:prstGeom>
          <a:noFill/>
          <a:ln/>
        </p:spPr>
        <p:txBody>
          <a:bodyPr wrap="square" lIns="0" tIns="0" rIns="0" bIns="0" rtlCol="0" anchor="ctr"/>
          <a:lstStyle/>
          <a:p>
            <a:pPr indent="0" marL="0">
              <a:buNone/>
            </a:pPr>
            <a:r>
              <a:rPr lang="en-US" sz="8000" b="1" dirty="0">
                <a:solidFill>
                  <a:srgbClr val="FFFFFF"/>
                </a:solidFill>
                <a:latin typeface="Palatino Linotype" pitchFamily="34" charset="0"/>
                <a:ea typeface="Palatino Linotype" pitchFamily="34" charset="-122"/>
                <a:cs typeface="Palatino Linotype" pitchFamily="34" charset="-120"/>
              </a:rPr>
              <a:t>7,3</a:t>
            </a:r>
            <a:endParaRPr lang="en-US" sz="8000" dirty="0"/>
          </a:p>
        </p:txBody>
      </p:sp>
      <p:sp>
        <p:nvSpPr>
          <p:cNvPr id="7" name="Text 5"/>
          <p:cNvSpPr/>
          <p:nvPr/>
        </p:nvSpPr>
        <p:spPr>
          <a:xfrm>
            <a:off x="868680" y="3749040"/>
            <a:ext cx="4206240" cy="1097280"/>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la o mie de născuți vii, 2024 (estimare internațională), față de 30,9 în 1990</a:t>
            </a:r>
            <a:endParaRPr lang="en-US" sz="1600" dirty="0"/>
          </a:p>
        </p:txBody>
      </p:sp>
      <p:sp>
        <p:nvSpPr>
          <p:cNvPr id="8" name="Shape 6"/>
          <p:cNvSpPr/>
          <p:nvPr/>
        </p:nvSpPr>
        <p:spPr>
          <a:xfrm>
            <a:off x="5623560" y="1783080"/>
            <a:ext cx="5943600" cy="4251960"/>
          </a:xfrm>
          <a:prstGeom prst="roundRect">
            <a:avLst>
              <a:gd name="adj" fmla="val 1935"/>
            </a:avLst>
          </a:prstGeom>
          <a:solidFill>
            <a:srgbClr val="ECEAE4"/>
          </a:solidFill>
          <a:ln w="12700">
            <a:solidFill>
              <a:srgbClr val="ECEAE4"/>
            </a:solidFill>
            <a:prstDash val="solid"/>
          </a:ln>
        </p:spPr>
      </p:sp>
      <p:sp>
        <p:nvSpPr>
          <p:cNvPr id="9" name="Text 7"/>
          <p:cNvSpPr/>
          <p:nvPr/>
        </p:nvSpPr>
        <p:spPr>
          <a:xfrm>
            <a:off x="5852160" y="1874520"/>
            <a:ext cx="5486400" cy="914400"/>
          </a:xfrm>
          <a:prstGeom prst="rect">
            <a:avLst/>
          </a:prstGeom>
          <a:noFill/>
          <a:ln/>
        </p:spPr>
        <p:txBody>
          <a:bodyPr wrap="square" lIns="0" tIns="0" rIns="0" bIns="0" rtlCol="0" anchor="t"/>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Decesul matern: în timpul sarcinii sau în 42 de zile de la terminarea ei, din cauze legate de sarcină sau agravate de ea.</a:t>
            </a:r>
            <a:endParaRPr lang="en-US" sz="1400" dirty="0"/>
          </a:p>
        </p:txBody>
      </p:sp>
      <p:sp>
        <p:nvSpPr>
          <p:cNvPr id="10" name="Shape 8"/>
          <p:cNvSpPr/>
          <p:nvPr/>
        </p:nvSpPr>
        <p:spPr>
          <a:xfrm>
            <a:off x="6675120" y="3337560"/>
            <a:ext cx="1005840" cy="1920240"/>
          </a:xfrm>
          <a:prstGeom prst="rect">
            <a:avLst/>
          </a:prstGeom>
          <a:solidFill>
            <a:srgbClr val="FF4757"/>
          </a:solidFill>
          <a:ln w="12700">
            <a:solidFill>
              <a:srgbClr val="FF4757"/>
            </a:solidFill>
            <a:prstDash val="solid"/>
          </a:ln>
        </p:spPr>
      </p:sp>
      <p:sp>
        <p:nvSpPr>
          <p:cNvPr id="11" name="Text 9"/>
          <p:cNvSpPr/>
          <p:nvPr/>
        </p:nvSpPr>
        <p:spPr>
          <a:xfrm>
            <a:off x="6400800" y="2880360"/>
            <a:ext cx="1554480" cy="384048"/>
          </a:xfrm>
          <a:prstGeom prst="rect">
            <a:avLst/>
          </a:prstGeom>
          <a:noFill/>
          <a:ln/>
        </p:spPr>
        <p:txBody>
          <a:bodyPr wrap="square" lIns="0" tIns="0" rIns="0" bIns="0" rtlCol="0" anchor="b"/>
          <a:lstStyle/>
          <a:p>
            <a:pPr algn="ctr" indent="0" marL="0">
              <a:buNone/>
            </a:pPr>
            <a:r>
              <a:rPr lang="en-US" sz="2000" b="1" dirty="0">
                <a:solidFill>
                  <a:srgbClr val="11121A"/>
                </a:solidFill>
                <a:latin typeface="Palatino Linotype" pitchFamily="34" charset="0"/>
                <a:ea typeface="Palatino Linotype" pitchFamily="34" charset="-122"/>
                <a:cs typeface="Palatino Linotype" pitchFamily="34" charset="-120"/>
              </a:rPr>
              <a:t>118</a:t>
            </a:r>
            <a:endParaRPr lang="en-US" sz="2000" dirty="0"/>
          </a:p>
        </p:txBody>
      </p:sp>
      <p:sp>
        <p:nvSpPr>
          <p:cNvPr id="12" name="Text 10"/>
          <p:cNvSpPr/>
          <p:nvPr/>
        </p:nvSpPr>
        <p:spPr>
          <a:xfrm>
            <a:off x="6400800" y="5330952"/>
            <a:ext cx="1554480" cy="365760"/>
          </a:xfrm>
          <a:prstGeom prst="rect">
            <a:avLst/>
          </a:prstGeom>
          <a:noFill/>
          <a:ln/>
        </p:spPr>
        <p:txBody>
          <a:bodyPr wrap="square" lIns="0" tIns="0" rIns="0" bIns="0" rtlCol="0" anchor="t"/>
          <a:lstStyle/>
          <a:p>
            <a:pPr algn="ctr" indent="0" marL="0">
              <a:buNone/>
            </a:pPr>
            <a:r>
              <a:rPr lang="en-US" sz="1400" dirty="0">
                <a:solidFill>
                  <a:srgbClr val="11121A"/>
                </a:solidFill>
                <a:latin typeface="Palatino Linotype" pitchFamily="34" charset="0"/>
                <a:ea typeface="Palatino Linotype" pitchFamily="34" charset="-122"/>
                <a:cs typeface="Palatino Linotype" pitchFamily="34" charset="-120"/>
              </a:rPr>
              <a:t>1990</a:t>
            </a:r>
            <a:endParaRPr lang="en-US" sz="1400" dirty="0"/>
          </a:p>
        </p:txBody>
      </p:sp>
      <p:sp>
        <p:nvSpPr>
          <p:cNvPr id="13" name="Shape 11"/>
          <p:cNvSpPr/>
          <p:nvPr/>
        </p:nvSpPr>
        <p:spPr>
          <a:xfrm>
            <a:off x="8321040" y="4525505"/>
            <a:ext cx="1005840" cy="732295"/>
          </a:xfrm>
          <a:prstGeom prst="rect">
            <a:avLst/>
          </a:prstGeom>
          <a:solidFill>
            <a:srgbClr val="FFC24B"/>
          </a:solidFill>
          <a:ln w="12700">
            <a:solidFill>
              <a:srgbClr val="FFC24B"/>
            </a:solidFill>
            <a:prstDash val="solid"/>
          </a:ln>
        </p:spPr>
      </p:sp>
      <p:sp>
        <p:nvSpPr>
          <p:cNvPr id="14" name="Text 12"/>
          <p:cNvSpPr/>
          <p:nvPr/>
        </p:nvSpPr>
        <p:spPr>
          <a:xfrm>
            <a:off x="8046720" y="4068305"/>
            <a:ext cx="1554480" cy="384048"/>
          </a:xfrm>
          <a:prstGeom prst="rect">
            <a:avLst/>
          </a:prstGeom>
          <a:noFill/>
          <a:ln/>
        </p:spPr>
        <p:txBody>
          <a:bodyPr wrap="square" lIns="0" tIns="0" rIns="0" bIns="0" rtlCol="0" anchor="b"/>
          <a:lstStyle/>
          <a:p>
            <a:pPr algn="ctr" indent="0" marL="0">
              <a:buNone/>
            </a:pPr>
            <a:r>
              <a:rPr lang="en-US" sz="2000" b="1" dirty="0">
                <a:solidFill>
                  <a:srgbClr val="11121A"/>
                </a:solidFill>
                <a:latin typeface="Palatino Linotype" pitchFamily="34" charset="0"/>
                <a:ea typeface="Palatino Linotype" pitchFamily="34" charset="-122"/>
                <a:cs typeface="Palatino Linotype" pitchFamily="34" charset="-120"/>
              </a:rPr>
              <a:t>45</a:t>
            </a:r>
            <a:endParaRPr lang="en-US" sz="2000" dirty="0"/>
          </a:p>
        </p:txBody>
      </p:sp>
      <p:sp>
        <p:nvSpPr>
          <p:cNvPr id="15" name="Text 13"/>
          <p:cNvSpPr/>
          <p:nvPr/>
        </p:nvSpPr>
        <p:spPr>
          <a:xfrm>
            <a:off x="8046720" y="5330952"/>
            <a:ext cx="1554480" cy="365760"/>
          </a:xfrm>
          <a:prstGeom prst="rect">
            <a:avLst/>
          </a:prstGeom>
          <a:noFill/>
          <a:ln/>
        </p:spPr>
        <p:txBody>
          <a:bodyPr wrap="square" lIns="0" tIns="0" rIns="0" bIns="0" rtlCol="0" anchor="t"/>
          <a:lstStyle/>
          <a:p>
            <a:pPr algn="ctr" indent="0" marL="0">
              <a:buNone/>
            </a:pPr>
            <a:r>
              <a:rPr lang="en-US" sz="1400" dirty="0">
                <a:solidFill>
                  <a:srgbClr val="11121A"/>
                </a:solidFill>
                <a:latin typeface="Palatino Linotype" pitchFamily="34" charset="0"/>
                <a:ea typeface="Palatino Linotype" pitchFamily="34" charset="-122"/>
                <a:cs typeface="Palatino Linotype" pitchFamily="34" charset="-120"/>
              </a:rPr>
              <a:t>2000</a:t>
            </a:r>
            <a:endParaRPr lang="en-US" sz="1400" dirty="0"/>
          </a:p>
        </p:txBody>
      </p:sp>
      <p:sp>
        <p:nvSpPr>
          <p:cNvPr id="16" name="Shape 14"/>
          <p:cNvSpPr/>
          <p:nvPr/>
        </p:nvSpPr>
        <p:spPr>
          <a:xfrm>
            <a:off x="9966960" y="5062521"/>
            <a:ext cx="1005840" cy="195279"/>
          </a:xfrm>
          <a:prstGeom prst="rect">
            <a:avLst/>
          </a:prstGeom>
          <a:solidFill>
            <a:srgbClr val="0E7C6B"/>
          </a:solidFill>
          <a:ln w="12700">
            <a:solidFill>
              <a:srgbClr val="0E7C6B"/>
            </a:solidFill>
            <a:prstDash val="solid"/>
          </a:ln>
        </p:spPr>
      </p:sp>
      <p:sp>
        <p:nvSpPr>
          <p:cNvPr id="17" name="Text 15"/>
          <p:cNvSpPr/>
          <p:nvPr/>
        </p:nvSpPr>
        <p:spPr>
          <a:xfrm>
            <a:off x="9692640" y="4605321"/>
            <a:ext cx="1554480" cy="384048"/>
          </a:xfrm>
          <a:prstGeom prst="rect">
            <a:avLst/>
          </a:prstGeom>
          <a:noFill/>
          <a:ln/>
        </p:spPr>
        <p:txBody>
          <a:bodyPr wrap="square" lIns="0" tIns="0" rIns="0" bIns="0" rtlCol="0" anchor="b"/>
          <a:lstStyle/>
          <a:p>
            <a:pPr algn="ctr" indent="0" marL="0">
              <a:buNone/>
            </a:pPr>
            <a:r>
              <a:rPr lang="en-US" sz="2000" b="1" dirty="0">
                <a:solidFill>
                  <a:srgbClr val="11121A"/>
                </a:solidFill>
                <a:latin typeface="Palatino Linotype" pitchFamily="34" charset="0"/>
                <a:ea typeface="Palatino Linotype" pitchFamily="34" charset="-122"/>
                <a:cs typeface="Palatino Linotype" pitchFamily="34" charset="-120"/>
              </a:rPr>
              <a:t>12</a:t>
            </a:r>
            <a:endParaRPr lang="en-US" sz="2000" dirty="0"/>
          </a:p>
        </p:txBody>
      </p:sp>
      <p:sp>
        <p:nvSpPr>
          <p:cNvPr id="18" name="Text 16"/>
          <p:cNvSpPr/>
          <p:nvPr/>
        </p:nvSpPr>
        <p:spPr>
          <a:xfrm>
            <a:off x="9692640" y="5330952"/>
            <a:ext cx="1554480" cy="365760"/>
          </a:xfrm>
          <a:prstGeom prst="rect">
            <a:avLst/>
          </a:prstGeom>
          <a:noFill/>
          <a:ln/>
        </p:spPr>
        <p:txBody>
          <a:bodyPr wrap="square" lIns="0" tIns="0" rIns="0" bIns="0" rtlCol="0" anchor="t"/>
          <a:lstStyle/>
          <a:p>
            <a:pPr algn="ctr" indent="0" marL="0">
              <a:buNone/>
            </a:pPr>
            <a:r>
              <a:rPr lang="en-US" sz="1400" dirty="0">
                <a:solidFill>
                  <a:srgbClr val="11121A"/>
                </a:solidFill>
                <a:latin typeface="Palatino Linotype" pitchFamily="34" charset="0"/>
                <a:ea typeface="Palatino Linotype" pitchFamily="34" charset="-122"/>
                <a:cs typeface="Palatino Linotype" pitchFamily="34" charset="-120"/>
              </a:rPr>
              <a:t>2023</a:t>
            </a:r>
            <a:endParaRPr lang="en-US" sz="1400" dirty="0"/>
          </a:p>
        </p:txBody>
      </p:sp>
      <p:sp>
        <p:nvSpPr>
          <p:cNvPr id="19" name="Shape 17"/>
          <p:cNvSpPr/>
          <p:nvPr/>
        </p:nvSpPr>
        <p:spPr>
          <a:xfrm>
            <a:off x="6492240" y="5257800"/>
            <a:ext cx="4663440" cy="22860"/>
          </a:xfrm>
          <a:prstGeom prst="rect">
            <a:avLst/>
          </a:prstGeom>
          <a:solidFill>
            <a:srgbClr val="C9C6BE"/>
          </a:solidFill>
          <a:ln w="12700">
            <a:solidFill>
              <a:srgbClr val="C9C6BE"/>
            </a:solidFill>
            <a:prstDash val="solid"/>
          </a:ln>
        </p:spPr>
      </p:sp>
      <p:sp>
        <p:nvSpPr>
          <p:cNvPr id="20" name="Text 18"/>
          <p:cNvSpPr/>
          <p:nvPr/>
        </p:nvSpPr>
        <p:spPr>
          <a:xfrm>
            <a:off x="5852160" y="5486400"/>
            <a:ext cx="5486400" cy="274320"/>
          </a:xfrm>
          <a:prstGeom prst="rect">
            <a:avLst/>
          </a:prstGeom>
          <a:noFill/>
          <a:ln/>
        </p:spPr>
        <p:txBody>
          <a:bodyPr wrap="square" lIns="0" tIns="0" rIns="0" bIns="0" rtlCol="0" anchor="t"/>
          <a:lstStyle/>
          <a:p>
            <a:pPr indent="0" marL="0">
              <a:buNone/>
            </a:pPr>
            <a:r>
              <a:rPr lang="en-US" sz="1200" i="1" dirty="0">
                <a:solidFill>
                  <a:srgbClr val="585A64"/>
                </a:solidFill>
                <a:latin typeface="Palatino Linotype" pitchFamily="34" charset="0"/>
                <a:ea typeface="Palatino Linotype" pitchFamily="34" charset="-122"/>
                <a:cs typeface="Palatino Linotype" pitchFamily="34" charset="-120"/>
              </a:rPr>
              <a:t>decese materne la 100 000 de născuți vii</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AVORTUL · RAPORTUL LA NĂSCUȚII VII</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Avortul: 458,3 în 2013, 206,8 în 2024</a:t>
            </a:r>
            <a:endParaRPr lang="en-US" sz="3200" dirty="0"/>
          </a:p>
        </p:txBody>
      </p:sp>
      <p:sp>
        <p:nvSpPr>
          <p:cNvPr id="4" name="Text 2"/>
          <p:cNvSpPr/>
          <p:nvPr/>
        </p:nvSpPr>
        <p:spPr>
          <a:xfrm>
            <a:off x="594360" y="1828800"/>
            <a:ext cx="914400" cy="45720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2013</a:t>
            </a:r>
            <a:endParaRPr lang="en-US" sz="1700" dirty="0"/>
          </a:p>
        </p:txBody>
      </p:sp>
      <p:sp>
        <p:nvSpPr>
          <p:cNvPr id="5" name="Shape 3"/>
          <p:cNvSpPr/>
          <p:nvPr/>
        </p:nvSpPr>
        <p:spPr>
          <a:xfrm>
            <a:off x="1600200" y="1892808"/>
            <a:ext cx="3855440" cy="329184"/>
          </a:xfrm>
          <a:prstGeom prst="roundRect">
            <a:avLst>
              <a:gd name="adj" fmla="val 13889"/>
            </a:avLst>
          </a:prstGeom>
          <a:solidFill>
            <a:srgbClr val="4B5068"/>
          </a:solidFill>
          <a:ln w="12700">
            <a:solidFill>
              <a:srgbClr val="4B5068"/>
            </a:solidFill>
            <a:prstDash val="solid"/>
          </a:ln>
        </p:spPr>
      </p:sp>
      <p:sp>
        <p:nvSpPr>
          <p:cNvPr id="6" name="Text 4"/>
          <p:cNvSpPr/>
          <p:nvPr/>
        </p:nvSpPr>
        <p:spPr>
          <a:xfrm>
            <a:off x="5547080" y="1828800"/>
            <a:ext cx="2377440" cy="457200"/>
          </a:xfrm>
          <a:prstGeom prst="rect">
            <a:avLst/>
          </a:prstGeom>
          <a:noFill/>
          <a:ln/>
        </p:spPr>
        <p:txBody>
          <a:bodyPr wrap="square" lIns="0" tIns="0" rIns="0" bIns="0" rtlCol="0" anchor="ctr"/>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458,3</a:t>
            </a:r>
            <a:endParaRPr lang="en-US" sz="1600" dirty="0"/>
          </a:p>
        </p:txBody>
      </p:sp>
      <p:sp>
        <p:nvSpPr>
          <p:cNvPr id="7" name="Text 5"/>
          <p:cNvSpPr/>
          <p:nvPr/>
        </p:nvSpPr>
        <p:spPr>
          <a:xfrm>
            <a:off x="594360" y="2423160"/>
            <a:ext cx="914400" cy="45720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2021</a:t>
            </a:r>
            <a:endParaRPr lang="en-US" sz="1700" dirty="0"/>
          </a:p>
        </p:txBody>
      </p:sp>
      <p:sp>
        <p:nvSpPr>
          <p:cNvPr id="8" name="Shape 6"/>
          <p:cNvSpPr/>
          <p:nvPr/>
        </p:nvSpPr>
        <p:spPr>
          <a:xfrm>
            <a:off x="1600200" y="2487168"/>
            <a:ext cx="1274491" cy="329184"/>
          </a:xfrm>
          <a:prstGeom prst="roundRect">
            <a:avLst>
              <a:gd name="adj" fmla="val 13889"/>
            </a:avLst>
          </a:prstGeom>
          <a:solidFill>
            <a:srgbClr val="4B5068"/>
          </a:solidFill>
          <a:ln w="12700">
            <a:solidFill>
              <a:srgbClr val="4B5068"/>
            </a:solidFill>
            <a:prstDash val="solid"/>
          </a:ln>
        </p:spPr>
      </p:sp>
      <p:sp>
        <p:nvSpPr>
          <p:cNvPr id="9" name="Text 7"/>
          <p:cNvSpPr/>
          <p:nvPr/>
        </p:nvSpPr>
        <p:spPr>
          <a:xfrm>
            <a:off x="2966131" y="2423160"/>
            <a:ext cx="2377440" cy="457200"/>
          </a:xfrm>
          <a:prstGeom prst="rect">
            <a:avLst/>
          </a:prstGeom>
          <a:noFill/>
          <a:ln/>
        </p:spPr>
        <p:txBody>
          <a:bodyPr wrap="square" lIns="0" tIns="0" rIns="0" bIns="0" rtlCol="0" anchor="ctr"/>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151,5</a:t>
            </a:r>
            <a:endParaRPr lang="en-US" sz="1600" dirty="0"/>
          </a:p>
        </p:txBody>
      </p:sp>
      <p:sp>
        <p:nvSpPr>
          <p:cNvPr id="10" name="Text 8"/>
          <p:cNvSpPr/>
          <p:nvPr/>
        </p:nvSpPr>
        <p:spPr>
          <a:xfrm>
            <a:off x="594360" y="3017520"/>
            <a:ext cx="914400" cy="45720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2024</a:t>
            </a:r>
            <a:endParaRPr lang="en-US" sz="1700" dirty="0"/>
          </a:p>
        </p:txBody>
      </p:sp>
      <p:sp>
        <p:nvSpPr>
          <p:cNvPr id="11" name="Shape 9"/>
          <p:cNvSpPr/>
          <p:nvPr/>
        </p:nvSpPr>
        <p:spPr>
          <a:xfrm>
            <a:off x="1600200" y="3081528"/>
            <a:ext cx="1739701" cy="329184"/>
          </a:xfrm>
          <a:prstGeom prst="roundRect">
            <a:avLst>
              <a:gd name="adj" fmla="val 13889"/>
            </a:avLst>
          </a:prstGeom>
          <a:solidFill>
            <a:srgbClr val="FF4757"/>
          </a:solidFill>
          <a:ln w="12700">
            <a:solidFill>
              <a:srgbClr val="FF4757"/>
            </a:solidFill>
            <a:prstDash val="solid"/>
          </a:ln>
        </p:spPr>
      </p:sp>
      <p:sp>
        <p:nvSpPr>
          <p:cNvPr id="12" name="Text 10"/>
          <p:cNvSpPr/>
          <p:nvPr/>
        </p:nvSpPr>
        <p:spPr>
          <a:xfrm>
            <a:off x="3431341" y="3017520"/>
            <a:ext cx="2377440" cy="457200"/>
          </a:xfrm>
          <a:prstGeom prst="rect">
            <a:avLst/>
          </a:prstGeom>
          <a:noFill/>
          <a:ln/>
        </p:spPr>
        <p:txBody>
          <a:bodyPr wrap="square" lIns="0" tIns="0" rIns="0" bIns="0" rtlCol="0" anchor="ctr"/>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206,8</a:t>
            </a:r>
            <a:endParaRPr lang="en-US" sz="1600" dirty="0"/>
          </a:p>
        </p:txBody>
      </p:sp>
      <p:sp>
        <p:nvSpPr>
          <p:cNvPr id="13" name="Text 11"/>
          <p:cNvSpPr/>
          <p:nvPr/>
        </p:nvSpPr>
        <p:spPr>
          <a:xfrm>
            <a:off x="594360" y="3703320"/>
            <a:ext cx="6400800" cy="274320"/>
          </a:xfrm>
          <a:prstGeom prst="rect">
            <a:avLst/>
          </a:prstGeom>
          <a:noFill/>
          <a:ln/>
        </p:spPr>
        <p:txBody>
          <a:bodyPr wrap="square" lIns="0" tIns="0" rIns="0" bIns="0" rtlCol="0" anchor="t"/>
          <a:lstStyle/>
          <a:p>
            <a:pPr indent="0" marL="0">
              <a:buNone/>
            </a:pPr>
            <a:r>
              <a:rPr lang="en-US" sz="1200" i="1" dirty="0">
                <a:solidFill>
                  <a:srgbClr val="959BB0"/>
                </a:solidFill>
                <a:latin typeface="Palatino Linotype" pitchFamily="34" charset="0"/>
                <a:ea typeface="Palatino Linotype" pitchFamily="34" charset="-122"/>
                <a:cs typeface="Palatino Linotype" pitchFamily="34" charset="-120"/>
              </a:rPr>
              <a:t>avorturi la o mie de născuți vii</a:t>
            </a:r>
            <a:endParaRPr lang="en-US" sz="1200" dirty="0"/>
          </a:p>
        </p:txBody>
      </p:sp>
      <p:sp>
        <p:nvSpPr>
          <p:cNvPr id="14" name="Shape 12"/>
          <p:cNvSpPr/>
          <p:nvPr/>
        </p:nvSpPr>
        <p:spPr>
          <a:xfrm>
            <a:off x="594360" y="4206240"/>
            <a:ext cx="6766560" cy="1828800"/>
          </a:xfrm>
          <a:prstGeom prst="roundRect">
            <a:avLst>
              <a:gd name="adj" fmla="val 4500"/>
            </a:avLst>
          </a:prstGeom>
          <a:solidFill>
            <a:srgbClr val="1D1F2B"/>
          </a:solidFill>
          <a:ln w="12700">
            <a:solidFill>
              <a:srgbClr val="1D1F2B"/>
            </a:solidFill>
            <a:prstDash val="solid"/>
          </a:ln>
        </p:spPr>
      </p:sp>
      <p:sp>
        <p:nvSpPr>
          <p:cNvPr id="15" name="Text 13"/>
          <p:cNvSpPr/>
          <p:nvPr/>
        </p:nvSpPr>
        <p:spPr>
          <a:xfrm>
            <a:off x="868680" y="4206240"/>
            <a:ext cx="6217920" cy="1828800"/>
          </a:xfrm>
          <a:prstGeom prst="rect">
            <a:avLst/>
          </a:prstGeom>
          <a:noFill/>
          <a:ln/>
        </p:spPr>
        <p:txBody>
          <a:bodyPr wrap="square" lIns="0" tIns="0" rIns="0" bIns="0" rtlCol="0" anchor="ctr"/>
          <a:lstStyle/>
          <a:p>
            <a:pPr indent="0" marL="0">
              <a:buNone/>
            </a:pPr>
            <a:r>
              <a:rPr lang="en-US" sz="1900" b="1" dirty="0">
                <a:solidFill>
                  <a:srgbClr val="FFC24B"/>
                </a:solidFill>
                <a:latin typeface="Palatino Linotype" pitchFamily="34" charset="0"/>
                <a:ea typeface="Palatino Linotype" pitchFamily="34" charset="-122"/>
                <a:cs typeface="Palatino Linotype" pitchFamily="34" charset="-120"/>
              </a:rPr>
              <a:t>Rata avortului, 2024: 5,6 la o mie de femei de 10–54 de ani.</a:t>
            </a:r>
            <a:endParaRPr lang="en-US" sz="1900" dirty="0"/>
          </a:p>
        </p:txBody>
      </p:sp>
      <p:sp>
        <p:nvSpPr>
          <p:cNvPr id="16" name="Shape 14"/>
          <p:cNvSpPr/>
          <p:nvPr/>
        </p:nvSpPr>
        <p:spPr>
          <a:xfrm>
            <a:off x="7635240" y="1783080"/>
            <a:ext cx="3931920" cy="4251960"/>
          </a:xfrm>
          <a:prstGeom prst="roundRect">
            <a:avLst>
              <a:gd name="adj" fmla="val 2093"/>
            </a:avLst>
          </a:prstGeom>
          <a:solidFill>
            <a:srgbClr val="272A38"/>
          </a:solidFill>
          <a:ln w="12700">
            <a:solidFill>
              <a:srgbClr val="272A38"/>
            </a:solidFill>
            <a:prstDash val="solid"/>
          </a:ln>
        </p:spPr>
      </p:sp>
      <p:sp>
        <p:nvSpPr>
          <p:cNvPr id="17" name="Text 15"/>
          <p:cNvSpPr/>
          <p:nvPr/>
        </p:nvSpPr>
        <p:spPr>
          <a:xfrm>
            <a:off x="7863840" y="1920240"/>
            <a:ext cx="3474720" cy="3931920"/>
          </a:xfrm>
          <a:prstGeom prst="rect">
            <a:avLst/>
          </a:prstGeom>
          <a:noFill/>
          <a:ln/>
        </p:spPr>
        <p:txBody>
          <a:bodyPr wrap="square" lIns="0" tIns="0" rIns="0" bIns="0" rtlCol="0" anchor="t"/>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Cifrele nu spun singure de ce raportul a scăzut și apoi a crescut din nou. Tendința se citește cu prudență.</a:t>
            </a:r>
            <a:endParaRPr lang="en-US" sz="1800" dirty="0"/>
          </a:p>
        </p:txBody>
      </p:sp>
      <p:sp>
        <p:nvSpPr>
          <p:cNvPr id="18" name="Text 16"/>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Sursa: Eurostat, indicatorii avortului (demo_fabortind).</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229600" y="292608"/>
            <a:ext cx="3337560" cy="420624"/>
          </a:xfrm>
          <a:prstGeom prst="roundRect">
            <a:avLst>
              <a:gd name="adj" fmla="val 50000"/>
            </a:avLst>
          </a:prstGeom>
          <a:solidFill>
            <a:srgbClr val="FFC24B"/>
          </a:solidFill>
          <a:ln w="12700">
            <a:solidFill>
              <a:srgbClr val="FFC24B"/>
            </a:solidFill>
            <a:prstDash val="solid"/>
          </a:ln>
        </p:spPr>
      </p:sp>
      <p:sp>
        <p:nvSpPr>
          <p:cNvPr id="3" name="Text 1"/>
          <p:cNvSpPr/>
          <p:nvPr/>
        </p:nvSpPr>
        <p:spPr>
          <a:xfrm>
            <a:off x="8229600" y="292608"/>
            <a:ext cx="333756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a:t>
            </a:r>
            <a:endParaRPr lang="en-US" sz="1300" dirty="0"/>
          </a:p>
        </p:txBody>
      </p:sp>
      <p:sp>
        <p:nvSpPr>
          <p:cNvPr id="4" name="Text 2"/>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VOT PE TELEFON</a:t>
            </a:r>
            <a:endParaRPr lang="en-US" sz="1300" dirty="0"/>
          </a:p>
        </p:txBody>
      </p:sp>
      <p:sp>
        <p:nvSpPr>
          <p:cNvPr id="5" name="Text 3"/>
          <p:cNvSpPr/>
          <p:nvPr/>
        </p:nvSpPr>
        <p:spPr>
          <a:xfrm>
            <a:off x="594360" y="713232"/>
            <a:ext cx="7589520" cy="100584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Ce pondere din nașteri au mame sub 20 de ani, în 2024?</a:t>
            </a:r>
            <a:endParaRPr lang="en-US" sz="3200" dirty="0"/>
          </a:p>
        </p:txBody>
      </p:sp>
      <p:sp>
        <p:nvSpPr>
          <p:cNvPr id="6" name="Shape 4"/>
          <p:cNvSpPr/>
          <p:nvPr/>
        </p:nvSpPr>
        <p:spPr>
          <a:xfrm>
            <a:off x="594360" y="2103120"/>
            <a:ext cx="5349240" cy="1097280"/>
          </a:xfrm>
          <a:prstGeom prst="roundRect">
            <a:avLst>
              <a:gd name="adj" fmla="val 7500"/>
            </a:avLst>
          </a:prstGeom>
          <a:solidFill>
            <a:srgbClr val="1D1F2B"/>
          </a:solidFill>
          <a:ln w="12700">
            <a:solidFill>
              <a:srgbClr val="1D1F2B"/>
            </a:solidFill>
            <a:prstDash val="solid"/>
          </a:ln>
        </p:spPr>
      </p:sp>
      <p:sp>
        <p:nvSpPr>
          <p:cNvPr id="7" name="Text 5"/>
          <p:cNvSpPr/>
          <p:nvPr/>
        </p:nvSpPr>
        <p:spPr>
          <a:xfrm>
            <a:off x="731520" y="2103120"/>
            <a:ext cx="5074920" cy="1097280"/>
          </a:xfrm>
          <a:prstGeom prst="rect">
            <a:avLst/>
          </a:prstGeom>
          <a:noFill/>
          <a:ln/>
        </p:spPr>
        <p:txBody>
          <a:bodyPr wrap="square" lIns="0" tIns="0" rIns="0" bIns="0" rtlCol="0" anchor="ctr"/>
          <a:lstStyle/>
          <a:p>
            <a:pPr algn="ctr" indent="0" marL="0">
              <a:buNone/>
            </a:pPr>
            <a:r>
              <a:rPr lang="en-US" sz="2400" b="1" dirty="0">
                <a:solidFill>
                  <a:srgbClr val="FFFFFF"/>
                </a:solidFill>
                <a:latin typeface="Palatino Linotype" pitchFamily="34" charset="0"/>
                <a:ea typeface="Palatino Linotype" pitchFamily="34" charset="-122"/>
                <a:cs typeface="Palatino Linotype" pitchFamily="34" charset="-120"/>
              </a:rPr>
              <a:t>A  ·  aproximativ 2%</a:t>
            </a:r>
            <a:endParaRPr lang="en-US" sz="2400" dirty="0"/>
          </a:p>
        </p:txBody>
      </p:sp>
      <p:sp>
        <p:nvSpPr>
          <p:cNvPr id="8" name="Shape 6"/>
          <p:cNvSpPr/>
          <p:nvPr/>
        </p:nvSpPr>
        <p:spPr>
          <a:xfrm>
            <a:off x="6217920" y="2103120"/>
            <a:ext cx="5349240" cy="1097280"/>
          </a:xfrm>
          <a:prstGeom prst="roundRect">
            <a:avLst>
              <a:gd name="adj" fmla="val 7500"/>
            </a:avLst>
          </a:prstGeom>
          <a:solidFill>
            <a:srgbClr val="1D1F2B"/>
          </a:solidFill>
          <a:ln w="12700">
            <a:solidFill>
              <a:srgbClr val="1D1F2B"/>
            </a:solidFill>
            <a:prstDash val="solid"/>
          </a:ln>
        </p:spPr>
      </p:sp>
      <p:sp>
        <p:nvSpPr>
          <p:cNvPr id="9" name="Text 7"/>
          <p:cNvSpPr/>
          <p:nvPr/>
        </p:nvSpPr>
        <p:spPr>
          <a:xfrm>
            <a:off x="6355080" y="2103120"/>
            <a:ext cx="5074920" cy="1097280"/>
          </a:xfrm>
          <a:prstGeom prst="rect">
            <a:avLst/>
          </a:prstGeom>
          <a:noFill/>
          <a:ln/>
        </p:spPr>
        <p:txBody>
          <a:bodyPr wrap="square" lIns="0" tIns="0" rIns="0" bIns="0" rtlCol="0" anchor="ctr"/>
          <a:lstStyle/>
          <a:p>
            <a:pPr algn="ctr" indent="0" marL="0">
              <a:buNone/>
            </a:pPr>
            <a:r>
              <a:rPr lang="en-US" sz="2400" b="1" dirty="0">
                <a:solidFill>
                  <a:srgbClr val="FFFFFF"/>
                </a:solidFill>
                <a:latin typeface="Palatino Linotype" pitchFamily="34" charset="0"/>
                <a:ea typeface="Palatino Linotype" pitchFamily="34" charset="-122"/>
                <a:cs typeface="Palatino Linotype" pitchFamily="34" charset="-120"/>
              </a:rPr>
              <a:t>B  ·  aproximativ 5%</a:t>
            </a:r>
            <a:endParaRPr lang="en-US" sz="2400" dirty="0"/>
          </a:p>
        </p:txBody>
      </p:sp>
      <p:sp>
        <p:nvSpPr>
          <p:cNvPr id="10" name="Shape 8"/>
          <p:cNvSpPr/>
          <p:nvPr/>
        </p:nvSpPr>
        <p:spPr>
          <a:xfrm>
            <a:off x="594360" y="3474720"/>
            <a:ext cx="5349240" cy="1097280"/>
          </a:xfrm>
          <a:prstGeom prst="roundRect">
            <a:avLst>
              <a:gd name="adj" fmla="val 7500"/>
            </a:avLst>
          </a:prstGeom>
          <a:solidFill>
            <a:srgbClr val="1D1F2B"/>
          </a:solidFill>
          <a:ln w="12700">
            <a:solidFill>
              <a:srgbClr val="1D1F2B"/>
            </a:solidFill>
            <a:prstDash val="solid"/>
          </a:ln>
        </p:spPr>
      </p:sp>
      <p:sp>
        <p:nvSpPr>
          <p:cNvPr id="11" name="Text 9"/>
          <p:cNvSpPr/>
          <p:nvPr/>
        </p:nvSpPr>
        <p:spPr>
          <a:xfrm>
            <a:off x="731520" y="3474720"/>
            <a:ext cx="5074920" cy="1097280"/>
          </a:xfrm>
          <a:prstGeom prst="rect">
            <a:avLst/>
          </a:prstGeom>
          <a:noFill/>
          <a:ln/>
        </p:spPr>
        <p:txBody>
          <a:bodyPr wrap="square" lIns="0" tIns="0" rIns="0" bIns="0" rtlCol="0" anchor="ctr"/>
          <a:lstStyle/>
          <a:p>
            <a:pPr algn="ctr" indent="0" marL="0">
              <a:buNone/>
            </a:pPr>
            <a:r>
              <a:rPr lang="en-US" sz="2400" b="1" dirty="0">
                <a:solidFill>
                  <a:srgbClr val="FFFFFF"/>
                </a:solidFill>
                <a:latin typeface="Palatino Linotype" pitchFamily="34" charset="0"/>
                <a:ea typeface="Palatino Linotype" pitchFamily="34" charset="-122"/>
                <a:cs typeface="Palatino Linotype" pitchFamily="34" charset="-120"/>
              </a:rPr>
              <a:t>C  ·  aproximativ 10%</a:t>
            </a:r>
            <a:endParaRPr lang="en-US" sz="2400" dirty="0"/>
          </a:p>
        </p:txBody>
      </p:sp>
      <p:sp>
        <p:nvSpPr>
          <p:cNvPr id="12" name="Shape 10"/>
          <p:cNvSpPr/>
          <p:nvPr/>
        </p:nvSpPr>
        <p:spPr>
          <a:xfrm>
            <a:off x="6217920" y="3474720"/>
            <a:ext cx="5349240" cy="1097280"/>
          </a:xfrm>
          <a:prstGeom prst="roundRect">
            <a:avLst>
              <a:gd name="adj" fmla="val 7500"/>
            </a:avLst>
          </a:prstGeom>
          <a:solidFill>
            <a:srgbClr val="1D1F2B"/>
          </a:solidFill>
          <a:ln w="12700">
            <a:solidFill>
              <a:srgbClr val="1D1F2B"/>
            </a:solidFill>
            <a:prstDash val="solid"/>
          </a:ln>
        </p:spPr>
      </p:sp>
      <p:sp>
        <p:nvSpPr>
          <p:cNvPr id="13" name="Text 11"/>
          <p:cNvSpPr/>
          <p:nvPr/>
        </p:nvSpPr>
        <p:spPr>
          <a:xfrm>
            <a:off x="6355080" y="3474720"/>
            <a:ext cx="5074920" cy="1097280"/>
          </a:xfrm>
          <a:prstGeom prst="rect">
            <a:avLst/>
          </a:prstGeom>
          <a:noFill/>
          <a:ln/>
        </p:spPr>
        <p:txBody>
          <a:bodyPr wrap="square" lIns="0" tIns="0" rIns="0" bIns="0" rtlCol="0" anchor="ctr"/>
          <a:lstStyle/>
          <a:p>
            <a:pPr algn="ctr" indent="0" marL="0">
              <a:buNone/>
            </a:pPr>
            <a:r>
              <a:rPr lang="en-US" sz="2400" b="1" dirty="0">
                <a:solidFill>
                  <a:srgbClr val="FFFFFF"/>
                </a:solidFill>
                <a:latin typeface="Palatino Linotype" pitchFamily="34" charset="0"/>
                <a:ea typeface="Palatino Linotype" pitchFamily="34" charset="-122"/>
                <a:cs typeface="Palatino Linotype" pitchFamily="34" charset="-120"/>
              </a:rPr>
              <a:t>D  ·  aproximativ 20%</a:t>
            </a:r>
            <a:endParaRPr lang="en-US" sz="2400" dirty="0"/>
          </a:p>
        </p:txBody>
      </p:sp>
      <p:sp>
        <p:nvSpPr>
          <p:cNvPr id="14" name="Text 12"/>
          <p:cNvSpPr/>
          <p:nvPr/>
        </p:nvSpPr>
        <p:spPr>
          <a:xfrm>
            <a:off x="594360" y="5029200"/>
            <a:ext cx="10972800" cy="548640"/>
          </a:xfrm>
          <a:prstGeom prst="rect">
            <a:avLst/>
          </a:prstGeom>
          <a:noFill/>
          <a:ln/>
        </p:spPr>
        <p:txBody>
          <a:bodyPr wrap="square" lIns="0" tIns="0" rIns="0" bIns="0" rtlCol="0" anchor="t"/>
          <a:lstStyle/>
          <a:p>
            <a:pPr indent="0" marL="0">
              <a:buNone/>
            </a:pPr>
            <a:r>
              <a:rPr lang="en-US" sz="2000" b="1" dirty="0">
                <a:solidFill>
                  <a:srgbClr val="FFC24B"/>
                </a:solidFill>
                <a:latin typeface="Palatino Linotype" pitchFamily="34" charset="0"/>
                <a:ea typeface="Palatino Linotype" pitchFamily="34" charset="-122"/>
                <a:cs typeface="Palatino Linotype" pitchFamily="34" charset="-120"/>
              </a:rPr>
              <a:t>O singură variantă. Răspundeți pe telefon, la codul afișat.</a:t>
            </a:r>
            <a:endParaRPr lang="en-US" sz="2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RĂSPUNSUL · C</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Aproximativ 10%: de peste patru ori media europeană</a:t>
            </a:r>
            <a:endParaRPr lang="en-US" sz="3200" dirty="0"/>
          </a:p>
        </p:txBody>
      </p:sp>
      <p:sp>
        <p:nvSpPr>
          <p:cNvPr id="4" name="Shape 2"/>
          <p:cNvSpPr/>
          <p:nvPr/>
        </p:nvSpPr>
        <p:spPr>
          <a:xfrm>
            <a:off x="594360" y="1783080"/>
            <a:ext cx="5349240" cy="2834640"/>
          </a:xfrm>
          <a:prstGeom prst="roundRect">
            <a:avLst>
              <a:gd name="adj" fmla="val 2903"/>
            </a:avLst>
          </a:prstGeom>
          <a:solidFill>
            <a:srgbClr val="11121A"/>
          </a:solidFill>
          <a:ln w="12700">
            <a:solidFill>
              <a:srgbClr val="11121A"/>
            </a:solidFill>
            <a:prstDash val="solid"/>
          </a:ln>
        </p:spPr>
      </p:sp>
      <p:sp>
        <p:nvSpPr>
          <p:cNvPr id="5" name="Text 3"/>
          <p:cNvSpPr/>
          <p:nvPr/>
        </p:nvSpPr>
        <p:spPr>
          <a:xfrm>
            <a:off x="868680" y="1874520"/>
            <a:ext cx="4846320" cy="1554480"/>
          </a:xfrm>
          <a:prstGeom prst="rect">
            <a:avLst/>
          </a:prstGeom>
          <a:noFill/>
          <a:ln/>
        </p:spPr>
        <p:txBody>
          <a:bodyPr wrap="square" lIns="0" tIns="0" rIns="0" bIns="0" rtlCol="0" anchor="ctr"/>
          <a:lstStyle/>
          <a:p>
            <a:pPr indent="0" marL="0">
              <a:buNone/>
            </a:pPr>
            <a:r>
              <a:rPr lang="en-US" sz="8800" b="1" dirty="0">
                <a:solidFill>
                  <a:srgbClr val="FF4757"/>
                </a:solidFill>
                <a:latin typeface="Palatino Linotype" pitchFamily="34" charset="0"/>
                <a:ea typeface="Palatino Linotype" pitchFamily="34" charset="-122"/>
                <a:cs typeface="Palatino Linotype" pitchFamily="34" charset="-120"/>
              </a:rPr>
              <a:t>9,5%</a:t>
            </a:r>
            <a:endParaRPr lang="en-US" sz="8800" dirty="0"/>
          </a:p>
        </p:txBody>
      </p:sp>
      <p:sp>
        <p:nvSpPr>
          <p:cNvPr id="6" name="Text 4"/>
          <p:cNvSpPr/>
          <p:nvPr/>
        </p:nvSpPr>
        <p:spPr>
          <a:xfrm>
            <a:off x="868680" y="3474720"/>
            <a:ext cx="4846320" cy="457200"/>
          </a:xfrm>
          <a:prstGeom prst="rect">
            <a:avLst/>
          </a:prstGeom>
          <a:noFill/>
          <a:ln/>
        </p:spPr>
        <p:txBody>
          <a:bodyPr wrap="square" lIns="0" tIns="0" rIns="0" bIns="0" rtlCol="0" anchor="t"/>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România, 2024</a:t>
            </a:r>
            <a:endParaRPr lang="en-US" sz="1800" dirty="0"/>
          </a:p>
        </p:txBody>
      </p:sp>
      <p:sp>
        <p:nvSpPr>
          <p:cNvPr id="7" name="Shape 5"/>
          <p:cNvSpPr/>
          <p:nvPr/>
        </p:nvSpPr>
        <p:spPr>
          <a:xfrm>
            <a:off x="6217920" y="1783080"/>
            <a:ext cx="5349240" cy="2834640"/>
          </a:xfrm>
          <a:prstGeom prst="roundRect">
            <a:avLst>
              <a:gd name="adj" fmla="val 2903"/>
            </a:avLst>
          </a:prstGeom>
          <a:solidFill>
            <a:srgbClr val="ECEAE4"/>
          </a:solidFill>
          <a:ln w="12700">
            <a:solidFill>
              <a:srgbClr val="ECEAE4"/>
            </a:solidFill>
            <a:prstDash val="solid"/>
          </a:ln>
        </p:spPr>
      </p:sp>
      <p:sp>
        <p:nvSpPr>
          <p:cNvPr id="8" name="Text 6"/>
          <p:cNvSpPr/>
          <p:nvPr/>
        </p:nvSpPr>
        <p:spPr>
          <a:xfrm>
            <a:off x="6492240" y="1874520"/>
            <a:ext cx="4846320" cy="1554480"/>
          </a:xfrm>
          <a:prstGeom prst="rect">
            <a:avLst/>
          </a:prstGeom>
          <a:noFill/>
          <a:ln/>
        </p:spPr>
        <p:txBody>
          <a:bodyPr wrap="square" lIns="0" tIns="0" rIns="0" bIns="0" rtlCol="0" anchor="ctr"/>
          <a:lstStyle/>
          <a:p>
            <a:pPr indent="0" marL="0">
              <a:buNone/>
            </a:pPr>
            <a:r>
              <a:rPr lang="en-US" sz="8800" b="1" dirty="0">
                <a:solidFill>
                  <a:srgbClr val="0E7C6B"/>
                </a:solidFill>
                <a:latin typeface="Palatino Linotype" pitchFamily="34" charset="0"/>
                <a:ea typeface="Palatino Linotype" pitchFamily="34" charset="-122"/>
                <a:cs typeface="Palatino Linotype" pitchFamily="34" charset="-120"/>
              </a:rPr>
              <a:t>2,1%</a:t>
            </a:r>
            <a:endParaRPr lang="en-US" sz="8800" dirty="0"/>
          </a:p>
        </p:txBody>
      </p:sp>
      <p:sp>
        <p:nvSpPr>
          <p:cNvPr id="9" name="Text 7"/>
          <p:cNvSpPr/>
          <p:nvPr/>
        </p:nvSpPr>
        <p:spPr>
          <a:xfrm>
            <a:off x="6492240" y="3474720"/>
            <a:ext cx="4846320" cy="45720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Uniunea Europeană, 2024</a:t>
            </a:r>
            <a:endParaRPr lang="en-US" sz="1800" dirty="0"/>
          </a:p>
        </p:txBody>
      </p:sp>
      <p:sp>
        <p:nvSpPr>
          <p:cNvPr id="10" name="Text 8"/>
          <p:cNvSpPr/>
          <p:nvPr/>
        </p:nvSpPr>
        <p:spPr>
          <a:xfrm>
            <a:off x="594360" y="4846320"/>
            <a:ext cx="10972800" cy="64008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13 619 de nașteri din mame sub 20 de ani, din 143 637: 601 la 10–14 ani și 13 018 la 15–19 ani.</a:t>
            </a:r>
            <a:endParaRPr lang="en-US" sz="1800" dirty="0"/>
          </a:p>
        </p:txBody>
      </p:sp>
      <p:sp>
        <p:nvSpPr>
          <p:cNvPr id="11" name="Text 9"/>
          <p:cNvSpPr/>
          <p:nvPr/>
        </p:nvSpPr>
        <p:spPr>
          <a:xfrm>
            <a:off x="594360" y="5577840"/>
            <a:ext cx="10972800" cy="457200"/>
          </a:xfrm>
          <a:prstGeom prst="rect">
            <a:avLst/>
          </a:prstGeom>
          <a:noFill/>
          <a:ln/>
        </p:spPr>
        <p:txBody>
          <a:bodyPr wrap="square" lIns="0" tIns="0" rIns="0" bIns="0" rtlCol="0" anchor="t"/>
          <a:lstStyle/>
          <a:p>
            <a:pPr indent="0" marL="0">
              <a:buNone/>
            </a:pPr>
            <a:r>
              <a:rPr lang="en-US" sz="1400" i="1" dirty="0">
                <a:solidFill>
                  <a:srgbClr val="585A64"/>
                </a:solidFill>
                <a:latin typeface="Palatino Linotype" pitchFamily="34" charset="0"/>
                <a:ea typeface="Palatino Linotype" pitchFamily="34" charset="-122"/>
                <a:cs typeface="Palatino Linotype" pitchFamily="34" charset="-120"/>
              </a:rPr>
              <a:t>Rata la o mie de femei de 15–19 ani nu a fost găsită pentru România în baza OMS.</a:t>
            </a:r>
            <a:endParaRPr lang="en-US"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DE LA NAȘTERE LA CABINET</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Vaccinarea a scăzut sub nivelul de dinainte de pandemie</a:t>
            </a:r>
            <a:endParaRPr lang="en-US" sz="3000" dirty="0"/>
          </a:p>
        </p:txBody>
      </p:sp>
      <p:sp>
        <p:nvSpPr>
          <p:cNvPr id="4" name="Text 2"/>
          <p:cNvSpPr/>
          <p:nvPr/>
        </p:nvSpPr>
        <p:spPr>
          <a:xfrm>
            <a:off x="594360" y="1783080"/>
            <a:ext cx="2743200" cy="457200"/>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DTP3, 2019</a:t>
            </a:r>
            <a:endParaRPr lang="en-US" sz="1500" dirty="0"/>
          </a:p>
        </p:txBody>
      </p:sp>
      <p:sp>
        <p:nvSpPr>
          <p:cNvPr id="5" name="Shape 3"/>
          <p:cNvSpPr/>
          <p:nvPr/>
        </p:nvSpPr>
        <p:spPr>
          <a:xfrm>
            <a:off x="3429000" y="1847088"/>
            <a:ext cx="2735885" cy="329184"/>
          </a:xfrm>
          <a:prstGeom prst="roundRect">
            <a:avLst>
              <a:gd name="adj" fmla="val 13889"/>
            </a:avLst>
          </a:prstGeom>
          <a:solidFill>
            <a:srgbClr val="4B5068"/>
          </a:solidFill>
          <a:ln w="12700">
            <a:solidFill>
              <a:srgbClr val="4B5068"/>
            </a:solidFill>
            <a:prstDash val="solid"/>
          </a:ln>
        </p:spPr>
      </p:sp>
      <p:sp>
        <p:nvSpPr>
          <p:cNvPr id="6" name="Text 4"/>
          <p:cNvSpPr/>
          <p:nvPr/>
        </p:nvSpPr>
        <p:spPr>
          <a:xfrm>
            <a:off x="6256325" y="1783080"/>
            <a:ext cx="2377440" cy="457200"/>
          </a:xfrm>
          <a:prstGeom prst="rect">
            <a:avLst/>
          </a:prstGeom>
          <a:noFill/>
          <a:ln/>
        </p:spPr>
        <p:txBody>
          <a:bodyPr wrap="square" lIns="0" tIns="0" rIns="0" bIns="0" rtlCol="0" anchor="ctr"/>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88%</a:t>
            </a:r>
            <a:endParaRPr lang="en-US" sz="1600" dirty="0"/>
          </a:p>
        </p:txBody>
      </p:sp>
      <p:sp>
        <p:nvSpPr>
          <p:cNvPr id="7" name="Text 5"/>
          <p:cNvSpPr/>
          <p:nvPr/>
        </p:nvSpPr>
        <p:spPr>
          <a:xfrm>
            <a:off x="594360" y="2313432"/>
            <a:ext cx="2743200" cy="457200"/>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DTP3, 2025</a:t>
            </a:r>
            <a:endParaRPr lang="en-US" sz="1500" dirty="0"/>
          </a:p>
        </p:txBody>
      </p:sp>
      <p:sp>
        <p:nvSpPr>
          <p:cNvPr id="8" name="Shape 6"/>
          <p:cNvSpPr/>
          <p:nvPr/>
        </p:nvSpPr>
        <p:spPr>
          <a:xfrm>
            <a:off x="3429000" y="2377440"/>
            <a:ext cx="2051914" cy="329184"/>
          </a:xfrm>
          <a:prstGeom prst="roundRect">
            <a:avLst>
              <a:gd name="adj" fmla="val 13889"/>
            </a:avLst>
          </a:prstGeom>
          <a:solidFill>
            <a:srgbClr val="FF4757"/>
          </a:solidFill>
          <a:ln w="12700">
            <a:solidFill>
              <a:srgbClr val="FF4757"/>
            </a:solidFill>
            <a:prstDash val="solid"/>
          </a:ln>
        </p:spPr>
      </p:sp>
      <p:sp>
        <p:nvSpPr>
          <p:cNvPr id="9" name="Text 7"/>
          <p:cNvSpPr/>
          <p:nvPr/>
        </p:nvSpPr>
        <p:spPr>
          <a:xfrm>
            <a:off x="5572354" y="2313432"/>
            <a:ext cx="2377440" cy="457200"/>
          </a:xfrm>
          <a:prstGeom prst="rect">
            <a:avLst/>
          </a:prstGeom>
          <a:noFill/>
          <a:ln/>
        </p:spPr>
        <p:txBody>
          <a:bodyPr wrap="square" lIns="0" tIns="0" rIns="0" bIns="0" rtlCol="0" anchor="ctr"/>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66%</a:t>
            </a:r>
            <a:endParaRPr lang="en-US" sz="1600" dirty="0"/>
          </a:p>
        </p:txBody>
      </p:sp>
      <p:sp>
        <p:nvSpPr>
          <p:cNvPr id="10" name="Text 8"/>
          <p:cNvSpPr/>
          <p:nvPr/>
        </p:nvSpPr>
        <p:spPr>
          <a:xfrm>
            <a:off x="594360" y="2843784"/>
            <a:ext cx="2743200" cy="457200"/>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Rujeolic 1, 2019</a:t>
            </a:r>
            <a:endParaRPr lang="en-US" sz="1500" dirty="0"/>
          </a:p>
        </p:txBody>
      </p:sp>
      <p:sp>
        <p:nvSpPr>
          <p:cNvPr id="11" name="Shape 9"/>
          <p:cNvSpPr/>
          <p:nvPr/>
        </p:nvSpPr>
        <p:spPr>
          <a:xfrm>
            <a:off x="3429000" y="2907792"/>
            <a:ext cx="2798064" cy="329184"/>
          </a:xfrm>
          <a:prstGeom prst="roundRect">
            <a:avLst>
              <a:gd name="adj" fmla="val 13889"/>
            </a:avLst>
          </a:prstGeom>
          <a:solidFill>
            <a:srgbClr val="4B5068"/>
          </a:solidFill>
          <a:ln w="12700">
            <a:solidFill>
              <a:srgbClr val="4B5068"/>
            </a:solidFill>
            <a:prstDash val="solid"/>
          </a:ln>
        </p:spPr>
      </p:sp>
      <p:sp>
        <p:nvSpPr>
          <p:cNvPr id="12" name="Text 10"/>
          <p:cNvSpPr/>
          <p:nvPr/>
        </p:nvSpPr>
        <p:spPr>
          <a:xfrm>
            <a:off x="6318504" y="2843784"/>
            <a:ext cx="2377440" cy="457200"/>
          </a:xfrm>
          <a:prstGeom prst="rect">
            <a:avLst/>
          </a:prstGeom>
          <a:noFill/>
          <a:ln/>
        </p:spPr>
        <p:txBody>
          <a:bodyPr wrap="square" lIns="0" tIns="0" rIns="0" bIns="0" rtlCol="0" anchor="ctr"/>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90%</a:t>
            </a:r>
            <a:endParaRPr lang="en-US" sz="1600" dirty="0"/>
          </a:p>
        </p:txBody>
      </p:sp>
      <p:sp>
        <p:nvSpPr>
          <p:cNvPr id="13" name="Text 11"/>
          <p:cNvSpPr/>
          <p:nvPr/>
        </p:nvSpPr>
        <p:spPr>
          <a:xfrm>
            <a:off x="594360" y="3374136"/>
            <a:ext cx="2743200" cy="457200"/>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Rujeolic 1, 2025</a:t>
            </a:r>
            <a:endParaRPr lang="en-US" sz="1500" dirty="0"/>
          </a:p>
        </p:txBody>
      </p:sp>
      <p:sp>
        <p:nvSpPr>
          <p:cNvPr id="14" name="Shape 12"/>
          <p:cNvSpPr/>
          <p:nvPr/>
        </p:nvSpPr>
        <p:spPr>
          <a:xfrm>
            <a:off x="3429000" y="3438144"/>
            <a:ext cx="2051914" cy="329184"/>
          </a:xfrm>
          <a:prstGeom prst="roundRect">
            <a:avLst>
              <a:gd name="adj" fmla="val 13889"/>
            </a:avLst>
          </a:prstGeom>
          <a:solidFill>
            <a:srgbClr val="FF4757"/>
          </a:solidFill>
          <a:ln w="12700">
            <a:solidFill>
              <a:srgbClr val="FF4757"/>
            </a:solidFill>
            <a:prstDash val="solid"/>
          </a:ln>
        </p:spPr>
      </p:sp>
      <p:sp>
        <p:nvSpPr>
          <p:cNvPr id="15" name="Text 13"/>
          <p:cNvSpPr/>
          <p:nvPr/>
        </p:nvSpPr>
        <p:spPr>
          <a:xfrm>
            <a:off x="5572354" y="3374136"/>
            <a:ext cx="2377440" cy="457200"/>
          </a:xfrm>
          <a:prstGeom prst="rect">
            <a:avLst/>
          </a:prstGeom>
          <a:noFill/>
          <a:ln/>
        </p:spPr>
        <p:txBody>
          <a:bodyPr wrap="square" lIns="0" tIns="0" rIns="0" bIns="0" rtlCol="0" anchor="ctr"/>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66%</a:t>
            </a:r>
            <a:endParaRPr lang="en-US" sz="1600" dirty="0"/>
          </a:p>
        </p:txBody>
      </p:sp>
      <p:sp>
        <p:nvSpPr>
          <p:cNvPr id="16" name="Text 14"/>
          <p:cNvSpPr/>
          <p:nvPr/>
        </p:nvSpPr>
        <p:spPr>
          <a:xfrm>
            <a:off x="594360" y="3904488"/>
            <a:ext cx="2743200" cy="457200"/>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Rujeolic 2, 2025</a:t>
            </a:r>
            <a:endParaRPr lang="en-US" sz="1500" dirty="0"/>
          </a:p>
        </p:txBody>
      </p:sp>
      <p:sp>
        <p:nvSpPr>
          <p:cNvPr id="17" name="Shape 15"/>
          <p:cNvSpPr/>
          <p:nvPr/>
        </p:nvSpPr>
        <p:spPr>
          <a:xfrm>
            <a:off x="3429000" y="3968496"/>
            <a:ext cx="2114093" cy="329184"/>
          </a:xfrm>
          <a:prstGeom prst="roundRect">
            <a:avLst>
              <a:gd name="adj" fmla="val 13889"/>
            </a:avLst>
          </a:prstGeom>
          <a:solidFill>
            <a:srgbClr val="FF4757"/>
          </a:solidFill>
          <a:ln w="12700">
            <a:solidFill>
              <a:srgbClr val="FF4757"/>
            </a:solidFill>
            <a:prstDash val="solid"/>
          </a:ln>
        </p:spPr>
      </p:sp>
      <p:sp>
        <p:nvSpPr>
          <p:cNvPr id="18" name="Text 16"/>
          <p:cNvSpPr/>
          <p:nvPr/>
        </p:nvSpPr>
        <p:spPr>
          <a:xfrm>
            <a:off x="5634533" y="3904488"/>
            <a:ext cx="2377440" cy="457200"/>
          </a:xfrm>
          <a:prstGeom prst="rect">
            <a:avLst/>
          </a:prstGeom>
          <a:noFill/>
          <a:ln/>
        </p:spPr>
        <p:txBody>
          <a:bodyPr wrap="square" lIns="0" tIns="0" rIns="0" bIns="0" rtlCol="0" anchor="ctr"/>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68%</a:t>
            </a:r>
            <a:endParaRPr lang="en-US" sz="1600" dirty="0"/>
          </a:p>
        </p:txBody>
      </p:sp>
      <p:sp>
        <p:nvSpPr>
          <p:cNvPr id="19" name="Text 17"/>
          <p:cNvSpPr/>
          <p:nvPr/>
        </p:nvSpPr>
        <p:spPr>
          <a:xfrm>
            <a:off x="594360" y="4526280"/>
            <a:ext cx="6766560" cy="1463040"/>
          </a:xfrm>
          <a:prstGeom prst="rect">
            <a:avLst/>
          </a:prstGeom>
          <a:noFill/>
          <a:ln/>
        </p:spPr>
        <p:txBody>
          <a:bodyPr wrap="square" lIns="0" tIns="0" rIns="0" bIns="0" rtlCol="0" anchor="t"/>
          <a:lstStyle/>
          <a:p>
            <a:pPr indent="0" marL="0">
              <a:buNone/>
            </a:pPr>
            <a:r>
              <a:rPr lang="en-US" sz="1800" b="1" dirty="0">
                <a:solidFill>
                  <a:srgbClr val="FFC24B"/>
                </a:solidFill>
                <a:latin typeface="Palatino Linotype" pitchFamily="34" charset="0"/>
                <a:ea typeface="Palatino Linotype" pitchFamily="34" charset="-122"/>
                <a:cs typeface="Palatino Linotype" pitchFamily="34" charset="-120"/>
              </a:rPr>
              <a:t>România este departe de nivelul pe care îl avea înainte de pandemie.</a:t>
            </a:r>
            <a:endParaRPr lang="en-US" sz="1800" dirty="0"/>
          </a:p>
        </p:txBody>
      </p:sp>
      <p:sp>
        <p:nvSpPr>
          <p:cNvPr id="20" name="Shape 18"/>
          <p:cNvSpPr/>
          <p:nvPr/>
        </p:nvSpPr>
        <p:spPr>
          <a:xfrm>
            <a:off x="7635240" y="1783080"/>
            <a:ext cx="3931920" cy="2011680"/>
          </a:xfrm>
          <a:prstGeom prst="roundRect">
            <a:avLst>
              <a:gd name="adj" fmla="val 4091"/>
            </a:avLst>
          </a:prstGeom>
          <a:solidFill>
            <a:srgbClr val="1D1F2B"/>
          </a:solidFill>
          <a:ln w="12700">
            <a:solidFill>
              <a:srgbClr val="1D1F2B"/>
            </a:solidFill>
            <a:prstDash val="solid"/>
          </a:ln>
        </p:spPr>
      </p:sp>
      <p:sp>
        <p:nvSpPr>
          <p:cNvPr id="21" name="Text 19"/>
          <p:cNvSpPr/>
          <p:nvPr/>
        </p:nvSpPr>
        <p:spPr>
          <a:xfrm>
            <a:off x="7863840" y="1783080"/>
            <a:ext cx="3474720" cy="2011680"/>
          </a:xfrm>
          <a:prstGeom prst="rect">
            <a:avLst/>
          </a:prstGeom>
          <a:noFill/>
          <a:ln/>
        </p:spPr>
        <p:txBody>
          <a:bodyPr wrap="square" lIns="0" tIns="0" rIns="0" bIns="0" rtlCol="0" anchor="ctr"/>
          <a:lstStyle/>
          <a:p>
            <a:pPr indent="0" marL="0">
              <a:buNone/>
            </a:pPr>
            <a:r>
              <a:rPr lang="en-US" sz="1300" dirty="0">
                <a:solidFill>
                  <a:srgbClr val="FFFFFF"/>
                </a:solidFill>
                <a:latin typeface="Palatino Linotype" pitchFamily="34" charset="0"/>
                <a:ea typeface="Palatino Linotype" pitchFamily="34" charset="-122"/>
                <a:cs typeface="Palatino Linotype" pitchFamily="34" charset="-120"/>
              </a:rPr>
              <a:t>Prematuritatea (OMS): naștere înainte de 37 de săptămâni complete. La nivel mondial, complicațiile ei sunt principala cauză de deces sub 5 ani; trei sferturi dintre aceste decese ar putea fi prevenite.</a:t>
            </a:r>
            <a:endParaRPr lang="en-US" sz="1300" dirty="0"/>
          </a:p>
        </p:txBody>
      </p:sp>
      <p:sp>
        <p:nvSpPr>
          <p:cNvPr id="22" name="Shape 20"/>
          <p:cNvSpPr/>
          <p:nvPr/>
        </p:nvSpPr>
        <p:spPr>
          <a:xfrm>
            <a:off x="7635240" y="3977640"/>
            <a:ext cx="3931920" cy="2011680"/>
          </a:xfrm>
          <a:prstGeom prst="roundRect">
            <a:avLst>
              <a:gd name="adj" fmla="val 4091"/>
            </a:avLst>
          </a:prstGeom>
          <a:solidFill>
            <a:srgbClr val="272A38"/>
          </a:solidFill>
          <a:ln w="12700">
            <a:solidFill>
              <a:srgbClr val="272A38"/>
            </a:solidFill>
            <a:prstDash val="solid"/>
          </a:ln>
        </p:spPr>
      </p:sp>
      <p:sp>
        <p:nvSpPr>
          <p:cNvPr id="23" name="Text 21"/>
          <p:cNvSpPr/>
          <p:nvPr/>
        </p:nvSpPr>
        <p:spPr>
          <a:xfrm>
            <a:off x="7863840" y="3977640"/>
            <a:ext cx="3474720" cy="2011680"/>
          </a:xfrm>
          <a:prstGeom prst="rect">
            <a:avLst/>
          </a:prstGeom>
          <a:noFill/>
          <a:ln/>
        </p:spPr>
        <p:txBody>
          <a:bodyPr wrap="square" lIns="0" tIns="0" rIns="0" bIns="0" rtlCol="0" anchor="ctr"/>
          <a:lstStyle/>
          <a:p>
            <a:pPr indent="0" marL="0">
              <a:buNone/>
            </a:pPr>
            <a:r>
              <a:rPr lang="en-US" sz="1400" dirty="0">
                <a:solidFill>
                  <a:srgbClr val="FFFFFF"/>
                </a:solidFill>
                <a:latin typeface="Palatino Linotype" pitchFamily="34" charset="0"/>
                <a:ea typeface="Palatino Linotype" pitchFamily="34" charset="-122"/>
                <a:cs typeface="Palatino Linotype" pitchFamily="34" charset="-120"/>
              </a:rPr>
              <a:t>Primele 1 000 de zile, de la concepție la doi ani: efectele lor pe termen lung nu sunt dezvoltate aici. Legătura cu bolile cronice ale adultului: cursul 4.</a:t>
            </a:r>
            <a:endParaRPr lang="en-US" sz="1400" dirty="0"/>
          </a:p>
        </p:txBody>
      </p:sp>
      <p:sp>
        <p:nvSpPr>
          <p:cNvPr id="24" name="Text 22"/>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Sursa: OMS și UNICEF.</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229600" y="292608"/>
            <a:ext cx="3337560" cy="420624"/>
          </a:xfrm>
          <a:prstGeom prst="roundRect">
            <a:avLst>
              <a:gd name="adj" fmla="val 50000"/>
            </a:avLst>
          </a:prstGeom>
          <a:solidFill>
            <a:srgbClr val="FFC24B"/>
          </a:solidFill>
          <a:ln w="12700">
            <a:solidFill>
              <a:srgbClr val="FFC24B"/>
            </a:solidFill>
            <a:prstDash val="solid"/>
          </a:ln>
        </p:spPr>
      </p:sp>
      <p:sp>
        <p:nvSpPr>
          <p:cNvPr id="3" name="Text 1"/>
          <p:cNvSpPr/>
          <p:nvPr/>
        </p:nvSpPr>
        <p:spPr>
          <a:xfrm>
            <a:off x="8229600" y="292608"/>
            <a:ext cx="333756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PERECHI · 3 MINUTE</a:t>
            </a:r>
            <a:endParaRPr lang="en-US" sz="1300" dirty="0"/>
          </a:p>
        </p:txBody>
      </p:sp>
      <p:sp>
        <p:nvSpPr>
          <p:cNvPr id="4" name="Text 2"/>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DE LA INDICATOR LA INTERVENȚIE</a:t>
            </a:r>
            <a:endParaRPr lang="en-US" sz="1300" dirty="0"/>
          </a:p>
        </p:txBody>
      </p:sp>
      <p:sp>
        <p:nvSpPr>
          <p:cNvPr id="5" name="Text 3"/>
          <p:cNvSpPr/>
          <p:nvPr/>
        </p:nvSpPr>
        <p:spPr>
          <a:xfrm>
            <a:off x="594360" y="713232"/>
            <a:ext cx="7589520" cy="100584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Un indicator, o intervenție de cabinet și una de sistem</a:t>
            </a:r>
            <a:endParaRPr lang="en-US" sz="3200" dirty="0"/>
          </a:p>
        </p:txBody>
      </p:sp>
      <p:sp>
        <p:nvSpPr>
          <p:cNvPr id="6" name="Text 4"/>
          <p:cNvSpPr/>
          <p:nvPr/>
        </p:nvSpPr>
        <p:spPr>
          <a:xfrm>
            <a:off x="594360" y="1828800"/>
            <a:ext cx="10972800" cy="457200"/>
          </a:xfrm>
          <a:prstGeom prst="rect">
            <a:avLst/>
          </a:prstGeom>
          <a:noFill/>
          <a:ln/>
        </p:spPr>
        <p:txBody>
          <a:bodyPr wrap="square" lIns="0" tIns="0" rIns="0" bIns="0" rtlCol="0" anchor="t"/>
          <a:lstStyle/>
          <a:p>
            <a:pPr indent="0" marL="0">
              <a:buNone/>
            </a:pPr>
            <a:r>
              <a:rPr lang="en-US" sz="2000" dirty="0">
                <a:solidFill>
                  <a:srgbClr val="959BB0"/>
                </a:solidFill>
                <a:latin typeface="Palatino Linotype" pitchFamily="34" charset="0"/>
                <a:ea typeface="Palatino Linotype" pitchFamily="34" charset="-122"/>
                <a:cs typeface="Palatino Linotype" pitchFamily="34" charset="-120"/>
              </a:rPr>
              <a:t>Alegeți unul:</a:t>
            </a:r>
            <a:endParaRPr lang="en-US" sz="2000" dirty="0"/>
          </a:p>
        </p:txBody>
      </p:sp>
      <p:sp>
        <p:nvSpPr>
          <p:cNvPr id="7" name="Shape 5"/>
          <p:cNvSpPr/>
          <p:nvPr/>
        </p:nvSpPr>
        <p:spPr>
          <a:xfrm>
            <a:off x="594360" y="2377440"/>
            <a:ext cx="3520440" cy="914400"/>
          </a:xfrm>
          <a:prstGeom prst="roundRect">
            <a:avLst>
              <a:gd name="adj" fmla="val 9000"/>
            </a:avLst>
          </a:prstGeom>
          <a:solidFill>
            <a:srgbClr val="1D1F2B"/>
          </a:solidFill>
          <a:ln w="12700">
            <a:solidFill>
              <a:srgbClr val="1D1F2B"/>
            </a:solidFill>
            <a:prstDash val="solid"/>
          </a:ln>
        </p:spPr>
      </p:sp>
      <p:sp>
        <p:nvSpPr>
          <p:cNvPr id="8" name="Text 6"/>
          <p:cNvSpPr/>
          <p:nvPr/>
        </p:nvSpPr>
        <p:spPr>
          <a:xfrm>
            <a:off x="731520" y="2377440"/>
            <a:ext cx="3246120" cy="914400"/>
          </a:xfrm>
          <a:prstGeom prst="rect">
            <a:avLst/>
          </a:prstGeom>
          <a:noFill/>
          <a:ln/>
        </p:spPr>
        <p:txBody>
          <a:bodyPr wrap="square" lIns="0" tIns="0" rIns="0" bIns="0" rtlCol="0" anchor="ctr"/>
          <a:lstStyle/>
          <a:p>
            <a:pPr algn="ctr" indent="0" marL="0">
              <a:buNone/>
            </a:pPr>
            <a:r>
              <a:rPr lang="en-US" sz="1900" b="1" dirty="0">
                <a:solidFill>
                  <a:srgbClr val="FFFFFF"/>
                </a:solidFill>
                <a:latin typeface="Palatino Linotype" pitchFamily="34" charset="0"/>
                <a:ea typeface="Palatino Linotype" pitchFamily="34" charset="-122"/>
                <a:cs typeface="Palatino Linotype" pitchFamily="34" charset="-120"/>
              </a:rPr>
              <a:t>mortalitatea postneonatală</a:t>
            </a:r>
            <a:endParaRPr lang="en-US" sz="1900" dirty="0"/>
          </a:p>
        </p:txBody>
      </p:sp>
      <p:sp>
        <p:nvSpPr>
          <p:cNvPr id="9" name="Shape 7"/>
          <p:cNvSpPr/>
          <p:nvPr/>
        </p:nvSpPr>
        <p:spPr>
          <a:xfrm>
            <a:off x="4389120" y="2377440"/>
            <a:ext cx="3520440" cy="914400"/>
          </a:xfrm>
          <a:prstGeom prst="roundRect">
            <a:avLst>
              <a:gd name="adj" fmla="val 9000"/>
            </a:avLst>
          </a:prstGeom>
          <a:solidFill>
            <a:srgbClr val="1D1F2B"/>
          </a:solidFill>
          <a:ln w="12700">
            <a:solidFill>
              <a:srgbClr val="1D1F2B"/>
            </a:solidFill>
            <a:prstDash val="solid"/>
          </a:ln>
        </p:spPr>
      </p:sp>
      <p:sp>
        <p:nvSpPr>
          <p:cNvPr id="10" name="Text 8"/>
          <p:cNvSpPr/>
          <p:nvPr/>
        </p:nvSpPr>
        <p:spPr>
          <a:xfrm>
            <a:off x="4526280" y="2377440"/>
            <a:ext cx="3246120" cy="914400"/>
          </a:xfrm>
          <a:prstGeom prst="rect">
            <a:avLst/>
          </a:prstGeom>
          <a:noFill/>
          <a:ln/>
        </p:spPr>
        <p:txBody>
          <a:bodyPr wrap="square" lIns="0" tIns="0" rIns="0" bIns="0" rtlCol="0" anchor="ctr"/>
          <a:lstStyle/>
          <a:p>
            <a:pPr algn="ctr" indent="0" marL="0">
              <a:buNone/>
            </a:pPr>
            <a:r>
              <a:rPr lang="en-US" sz="1900" b="1" dirty="0">
                <a:solidFill>
                  <a:srgbClr val="FFFFFF"/>
                </a:solidFill>
                <a:latin typeface="Palatino Linotype" pitchFamily="34" charset="0"/>
                <a:ea typeface="Palatino Linotype" pitchFamily="34" charset="-122"/>
                <a:cs typeface="Palatino Linotype" pitchFamily="34" charset="-120"/>
              </a:rPr>
              <a:t>nașterile la adolescente</a:t>
            </a:r>
            <a:endParaRPr lang="en-US" sz="1900" dirty="0"/>
          </a:p>
        </p:txBody>
      </p:sp>
      <p:sp>
        <p:nvSpPr>
          <p:cNvPr id="11" name="Shape 9"/>
          <p:cNvSpPr/>
          <p:nvPr/>
        </p:nvSpPr>
        <p:spPr>
          <a:xfrm>
            <a:off x="8183880" y="2377440"/>
            <a:ext cx="3520440" cy="914400"/>
          </a:xfrm>
          <a:prstGeom prst="roundRect">
            <a:avLst>
              <a:gd name="adj" fmla="val 9000"/>
            </a:avLst>
          </a:prstGeom>
          <a:solidFill>
            <a:srgbClr val="1D1F2B"/>
          </a:solidFill>
          <a:ln w="12700">
            <a:solidFill>
              <a:srgbClr val="1D1F2B"/>
            </a:solidFill>
            <a:prstDash val="solid"/>
          </a:ln>
        </p:spPr>
      </p:sp>
      <p:sp>
        <p:nvSpPr>
          <p:cNvPr id="12" name="Text 10"/>
          <p:cNvSpPr/>
          <p:nvPr/>
        </p:nvSpPr>
        <p:spPr>
          <a:xfrm>
            <a:off x="8321040" y="2377440"/>
            <a:ext cx="3246120" cy="914400"/>
          </a:xfrm>
          <a:prstGeom prst="rect">
            <a:avLst/>
          </a:prstGeom>
          <a:noFill/>
          <a:ln/>
        </p:spPr>
        <p:txBody>
          <a:bodyPr wrap="square" lIns="0" tIns="0" rIns="0" bIns="0" rtlCol="0" anchor="ctr"/>
          <a:lstStyle/>
          <a:p>
            <a:pPr algn="ctr" indent="0" marL="0">
              <a:buNone/>
            </a:pPr>
            <a:r>
              <a:rPr lang="en-US" sz="1900" b="1" dirty="0">
                <a:solidFill>
                  <a:srgbClr val="FFFFFF"/>
                </a:solidFill>
                <a:latin typeface="Palatino Linotype" pitchFamily="34" charset="0"/>
                <a:ea typeface="Palatino Linotype" pitchFamily="34" charset="-122"/>
                <a:cs typeface="Palatino Linotype" pitchFamily="34" charset="-120"/>
              </a:rPr>
              <a:t>acoperirea vaccinală</a:t>
            </a:r>
            <a:endParaRPr lang="en-US" sz="1900" dirty="0"/>
          </a:p>
        </p:txBody>
      </p:sp>
      <p:sp>
        <p:nvSpPr>
          <p:cNvPr id="13" name="Shape 11"/>
          <p:cNvSpPr/>
          <p:nvPr/>
        </p:nvSpPr>
        <p:spPr>
          <a:xfrm>
            <a:off x="594360" y="3657600"/>
            <a:ext cx="5349240" cy="1737360"/>
          </a:xfrm>
          <a:prstGeom prst="roundRect">
            <a:avLst>
              <a:gd name="adj" fmla="val 4737"/>
            </a:avLst>
          </a:prstGeom>
          <a:solidFill>
            <a:srgbClr val="272A38"/>
          </a:solidFill>
          <a:ln w="12700">
            <a:solidFill>
              <a:srgbClr val="272A38"/>
            </a:solidFill>
            <a:prstDash val="solid"/>
          </a:ln>
        </p:spPr>
      </p:sp>
      <p:sp>
        <p:nvSpPr>
          <p:cNvPr id="14" name="Text 12"/>
          <p:cNvSpPr/>
          <p:nvPr/>
        </p:nvSpPr>
        <p:spPr>
          <a:xfrm>
            <a:off x="868680" y="3657600"/>
            <a:ext cx="4846320" cy="1737360"/>
          </a:xfrm>
          <a:prstGeom prst="rect">
            <a:avLst/>
          </a:prstGeom>
          <a:noFill/>
          <a:ln/>
        </p:spPr>
        <p:txBody>
          <a:bodyPr wrap="square" lIns="0" tIns="0" rIns="0" bIns="0" rtlCol="0" anchor="ctr"/>
          <a:lstStyle/>
          <a:p>
            <a:pPr indent="0" marL="0">
              <a:buNone/>
            </a:pPr>
            <a:r>
              <a:rPr lang="en-US" sz="1900" b="1" dirty="0">
                <a:solidFill>
                  <a:srgbClr val="27D3BE"/>
                </a:solidFill>
                <a:latin typeface="Palatino Linotype" pitchFamily="34" charset="0"/>
                <a:ea typeface="Palatino Linotype" pitchFamily="34" charset="-122"/>
                <a:cs typeface="Palatino Linotype" pitchFamily="34" charset="-120"/>
              </a:rPr>
              <a:t>O intervenție pe care un medic de familie o poate face în cabinetul lui.</a:t>
            </a:r>
            <a:endParaRPr lang="en-US" sz="1900" dirty="0"/>
          </a:p>
        </p:txBody>
      </p:sp>
      <p:sp>
        <p:nvSpPr>
          <p:cNvPr id="15" name="Shape 13"/>
          <p:cNvSpPr/>
          <p:nvPr/>
        </p:nvSpPr>
        <p:spPr>
          <a:xfrm>
            <a:off x="6217920" y="3657600"/>
            <a:ext cx="5349240" cy="1737360"/>
          </a:xfrm>
          <a:prstGeom prst="roundRect">
            <a:avLst>
              <a:gd name="adj" fmla="val 4737"/>
            </a:avLst>
          </a:prstGeom>
          <a:solidFill>
            <a:srgbClr val="272A38"/>
          </a:solidFill>
          <a:ln w="12700">
            <a:solidFill>
              <a:srgbClr val="272A38"/>
            </a:solidFill>
            <a:prstDash val="solid"/>
          </a:ln>
        </p:spPr>
      </p:sp>
      <p:sp>
        <p:nvSpPr>
          <p:cNvPr id="16" name="Text 14"/>
          <p:cNvSpPr/>
          <p:nvPr/>
        </p:nvSpPr>
        <p:spPr>
          <a:xfrm>
            <a:off x="6492240" y="3657600"/>
            <a:ext cx="4846320" cy="1737360"/>
          </a:xfrm>
          <a:prstGeom prst="rect">
            <a:avLst/>
          </a:prstGeom>
          <a:noFill/>
          <a:ln/>
        </p:spPr>
        <p:txBody>
          <a:bodyPr wrap="square" lIns="0" tIns="0" rIns="0" bIns="0" rtlCol="0" anchor="ctr"/>
          <a:lstStyle/>
          <a:p>
            <a:pPr indent="0" marL="0">
              <a:buNone/>
            </a:pPr>
            <a:r>
              <a:rPr lang="en-US" sz="1900" b="1" dirty="0">
                <a:solidFill>
                  <a:srgbClr val="FFC24B"/>
                </a:solidFill>
                <a:latin typeface="Palatino Linotype" pitchFamily="34" charset="0"/>
                <a:ea typeface="Palatino Linotype" pitchFamily="34" charset="-122"/>
                <a:cs typeface="Palatino Linotype" pitchFamily="34" charset="-120"/>
              </a:rPr>
              <a:t>O intervenție care depinde de sistemul de sănătate.</a:t>
            </a:r>
            <a:endParaRPr lang="en-US" sz="1900" dirty="0"/>
          </a:p>
        </p:txBody>
      </p:sp>
      <p:sp>
        <p:nvSpPr>
          <p:cNvPr id="17" name="Text 15"/>
          <p:cNvSpPr/>
          <p:nvPr/>
        </p:nvSpPr>
        <p:spPr>
          <a:xfrm>
            <a:off x="594360" y="5623560"/>
            <a:ext cx="10972800" cy="457200"/>
          </a:xfrm>
          <a:prstGeom prst="rect">
            <a:avLst/>
          </a:prstGeom>
          <a:noFill/>
          <a:ln/>
        </p:spPr>
        <p:txBody>
          <a:bodyPr wrap="square" lIns="0" tIns="0" rIns="0" bIns="0" rtlCol="0" anchor="t"/>
          <a:lstStyle/>
          <a:p>
            <a:pPr indent="0" marL="0">
              <a:buNone/>
            </a:pPr>
            <a:r>
              <a:rPr lang="en-US" sz="1700" dirty="0">
                <a:solidFill>
                  <a:srgbClr val="959BB0"/>
                </a:solidFill>
                <a:latin typeface="Palatino Linotype" pitchFamily="34" charset="0"/>
                <a:ea typeface="Palatino Linotype" pitchFamily="34" charset="-122"/>
                <a:cs typeface="Palatino Linotype" pitchFamily="34" charset="-120"/>
              </a:rPr>
              <a:t>Trei minute în perechi, apoi două perechi prezintă propunerile.</a:t>
            </a:r>
            <a:endParaRPr lang="en-US" sz="17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229600" y="292608"/>
            <a:ext cx="3337560" cy="420624"/>
          </a:xfrm>
          <a:prstGeom prst="roundRect">
            <a:avLst>
              <a:gd name="adj" fmla="val 50000"/>
            </a:avLst>
          </a:prstGeom>
          <a:solidFill>
            <a:srgbClr val="FFC24B"/>
          </a:solidFill>
          <a:ln w="12700">
            <a:solidFill>
              <a:srgbClr val="FFC24B"/>
            </a:solidFill>
            <a:prstDash val="solid"/>
          </a:ln>
        </p:spPr>
      </p:sp>
      <p:sp>
        <p:nvSpPr>
          <p:cNvPr id="3" name="Text 1"/>
          <p:cNvSpPr/>
          <p:nvPr/>
        </p:nvSpPr>
        <p:spPr>
          <a:xfrm>
            <a:off x="8229600" y="292608"/>
            <a:ext cx="333756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KAHOOT</a:t>
            </a:r>
            <a:endParaRPr lang="en-US" sz="1300" dirty="0"/>
          </a:p>
        </p:txBody>
      </p:sp>
      <p:sp>
        <p:nvSpPr>
          <p:cNvPr id="4" name="Text 2"/>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RECAPITULARE</a:t>
            </a:r>
            <a:endParaRPr lang="en-US" sz="1300" dirty="0"/>
          </a:p>
        </p:txBody>
      </p:sp>
      <p:sp>
        <p:nvSpPr>
          <p:cNvPr id="5" name="Text 3"/>
          <p:cNvSpPr/>
          <p:nvPr/>
        </p:nvSpPr>
        <p:spPr>
          <a:xfrm>
            <a:off x="594360" y="713232"/>
            <a:ext cx="7589520" cy="100584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Adevărat sau fals? Zece afirmații</a:t>
            </a:r>
            <a:endParaRPr lang="en-US" sz="3400" dirty="0"/>
          </a:p>
        </p:txBody>
      </p:sp>
      <p:sp>
        <p:nvSpPr>
          <p:cNvPr id="6" name="Shape 4"/>
          <p:cNvSpPr/>
          <p:nvPr/>
        </p:nvSpPr>
        <p:spPr>
          <a:xfrm>
            <a:off x="594360" y="2011680"/>
            <a:ext cx="5349240" cy="2011680"/>
          </a:xfrm>
          <a:prstGeom prst="roundRect">
            <a:avLst>
              <a:gd name="adj" fmla="val 4091"/>
            </a:avLst>
          </a:prstGeom>
          <a:solidFill>
            <a:srgbClr val="27D3BE"/>
          </a:solidFill>
          <a:ln w="12700">
            <a:solidFill>
              <a:srgbClr val="27D3BE"/>
            </a:solidFill>
            <a:prstDash val="solid"/>
          </a:ln>
        </p:spPr>
      </p:sp>
      <p:sp>
        <p:nvSpPr>
          <p:cNvPr id="7" name="Text 5"/>
          <p:cNvSpPr/>
          <p:nvPr/>
        </p:nvSpPr>
        <p:spPr>
          <a:xfrm>
            <a:off x="731520" y="2011680"/>
            <a:ext cx="5074920" cy="2011680"/>
          </a:xfrm>
          <a:prstGeom prst="rect">
            <a:avLst/>
          </a:prstGeom>
          <a:noFill/>
          <a:ln/>
        </p:spPr>
        <p:txBody>
          <a:bodyPr wrap="square" lIns="0" tIns="0" rIns="0" bIns="0" rtlCol="0" anchor="ctr"/>
          <a:lstStyle/>
          <a:p>
            <a:pPr algn="ctr" indent="0" marL="0">
              <a:buNone/>
            </a:pPr>
            <a:r>
              <a:rPr lang="en-US" sz="4000" b="1" dirty="0">
                <a:solidFill>
                  <a:srgbClr val="073B34"/>
                </a:solidFill>
                <a:latin typeface="Palatino Linotype" pitchFamily="34" charset="0"/>
                <a:ea typeface="Palatino Linotype" pitchFamily="34" charset="-122"/>
                <a:cs typeface="Palatino Linotype" pitchFamily="34" charset="-120"/>
              </a:rPr>
              <a:t>ADEVĂRAT</a:t>
            </a:r>
            <a:endParaRPr lang="en-US" sz="4000" dirty="0"/>
          </a:p>
        </p:txBody>
      </p:sp>
      <p:sp>
        <p:nvSpPr>
          <p:cNvPr id="8" name="Shape 6"/>
          <p:cNvSpPr/>
          <p:nvPr/>
        </p:nvSpPr>
        <p:spPr>
          <a:xfrm>
            <a:off x="6217920" y="2011680"/>
            <a:ext cx="5349240" cy="2011680"/>
          </a:xfrm>
          <a:prstGeom prst="roundRect">
            <a:avLst>
              <a:gd name="adj" fmla="val 4091"/>
            </a:avLst>
          </a:prstGeom>
          <a:solidFill>
            <a:srgbClr val="FF4757"/>
          </a:solidFill>
          <a:ln w="12700">
            <a:solidFill>
              <a:srgbClr val="FF4757"/>
            </a:solidFill>
            <a:prstDash val="solid"/>
          </a:ln>
        </p:spPr>
      </p:sp>
      <p:sp>
        <p:nvSpPr>
          <p:cNvPr id="9" name="Text 7"/>
          <p:cNvSpPr/>
          <p:nvPr/>
        </p:nvSpPr>
        <p:spPr>
          <a:xfrm>
            <a:off x="6355080" y="2011680"/>
            <a:ext cx="5074920" cy="2011680"/>
          </a:xfrm>
          <a:prstGeom prst="rect">
            <a:avLst/>
          </a:prstGeom>
          <a:noFill/>
          <a:ln/>
        </p:spPr>
        <p:txBody>
          <a:bodyPr wrap="square" lIns="0" tIns="0" rIns="0" bIns="0" rtlCol="0" anchor="ctr"/>
          <a:lstStyle/>
          <a:p>
            <a:pPr algn="ctr" indent="0" marL="0">
              <a:buNone/>
            </a:pPr>
            <a:r>
              <a:rPr lang="en-US" sz="4000" b="1" dirty="0">
                <a:solidFill>
                  <a:srgbClr val="2E060B"/>
                </a:solidFill>
                <a:latin typeface="Palatino Linotype" pitchFamily="34" charset="0"/>
                <a:ea typeface="Palatino Linotype" pitchFamily="34" charset="-122"/>
                <a:cs typeface="Palatino Linotype" pitchFamily="34" charset="-120"/>
              </a:rPr>
              <a:t>FALS</a:t>
            </a:r>
            <a:endParaRPr lang="en-US" sz="4000" dirty="0"/>
          </a:p>
        </p:txBody>
      </p:sp>
      <p:sp>
        <p:nvSpPr>
          <p:cNvPr id="10" name="Text 8"/>
          <p:cNvSpPr/>
          <p:nvPr/>
        </p:nvSpPr>
        <p:spPr>
          <a:xfrm>
            <a:off x="594360" y="4389120"/>
            <a:ext cx="10972800" cy="548640"/>
          </a:xfrm>
          <a:prstGeom prst="rect">
            <a:avLst/>
          </a:prstGeom>
          <a:noFill/>
          <a:ln/>
        </p:spPr>
        <p:txBody>
          <a:bodyPr wrap="square" lIns="0" tIns="0" rIns="0" bIns="0" rtlCol="0" anchor="t"/>
          <a:lstStyle/>
          <a:p>
            <a:pPr indent="0" marL="0">
              <a:buNone/>
            </a:pPr>
            <a:r>
              <a:rPr lang="en-US" sz="2000" b="1" dirty="0">
                <a:solidFill>
                  <a:srgbClr val="FFC24B"/>
                </a:solidFill>
                <a:latin typeface="Palatino Linotype" pitchFamily="34" charset="0"/>
                <a:ea typeface="Palatino Linotype" pitchFamily="34" charset="-122"/>
                <a:cs typeface="Palatino Linotype" pitchFamily="34" charset="-120"/>
              </a:rPr>
              <a:t>Pe telefon, la codul afișat. Douăzeci de secunde pentru fiecare afirmație.</a:t>
            </a:r>
            <a:endParaRPr lang="en-US" sz="2000" dirty="0"/>
          </a:p>
        </p:txBody>
      </p:sp>
      <p:sp>
        <p:nvSpPr>
          <p:cNvPr id="11" name="Text 9"/>
          <p:cNvSpPr/>
          <p:nvPr/>
        </p:nvSpPr>
        <p:spPr>
          <a:xfrm>
            <a:off x="594360" y="5029200"/>
            <a:ext cx="10972800" cy="457200"/>
          </a:xfrm>
          <a:prstGeom prst="rect">
            <a:avLst/>
          </a:prstGeom>
          <a:noFill/>
          <a:ln/>
        </p:spPr>
        <p:txBody>
          <a:bodyPr wrap="square" lIns="0" tIns="0" rIns="0" bIns="0" rtlCol="0" anchor="t"/>
          <a:lstStyle/>
          <a:p>
            <a:pPr indent="0" marL="0">
              <a:buNone/>
            </a:pPr>
            <a:r>
              <a:rPr lang="en-US" sz="1700" dirty="0">
                <a:solidFill>
                  <a:srgbClr val="959BB0"/>
                </a:solidFill>
                <a:latin typeface="Palatino Linotype" pitchFamily="34" charset="0"/>
                <a:ea typeface="Palatino Linotype" pitchFamily="34" charset="-122"/>
                <a:cs typeface="Palatino Linotype" pitchFamily="34" charset="-120"/>
              </a:rPr>
              <a:t>Afirmațiile se referă la tot cursul de azi.</a:t>
            </a:r>
            <a:endParaRPr lang="en-US" sz="17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CHEIA JOCULUI</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Adevărat sau fals: răspunsurile</a:t>
            </a:r>
            <a:endParaRPr lang="en-US" sz="3200" dirty="0"/>
          </a:p>
        </p:txBody>
      </p:sp>
      <p:sp>
        <p:nvSpPr>
          <p:cNvPr id="4" name="Shape 2"/>
          <p:cNvSpPr/>
          <p:nvPr/>
        </p:nvSpPr>
        <p:spPr>
          <a:xfrm>
            <a:off x="594360" y="1783080"/>
            <a:ext cx="5349240" cy="731520"/>
          </a:xfrm>
          <a:prstGeom prst="roundRect">
            <a:avLst>
              <a:gd name="adj" fmla="val 11250"/>
            </a:avLst>
          </a:prstGeom>
          <a:solidFill>
            <a:srgbClr val="ECEAE4"/>
          </a:solidFill>
          <a:ln w="12700">
            <a:solidFill>
              <a:srgbClr val="ECEAE4"/>
            </a:solidFill>
            <a:prstDash val="solid"/>
          </a:ln>
        </p:spPr>
      </p:sp>
      <p:sp>
        <p:nvSpPr>
          <p:cNvPr id="5" name="Shape 3"/>
          <p:cNvSpPr/>
          <p:nvPr/>
        </p:nvSpPr>
        <p:spPr>
          <a:xfrm>
            <a:off x="777240" y="1938528"/>
            <a:ext cx="420624" cy="420624"/>
          </a:xfrm>
          <a:prstGeom prst="ellipse">
            <a:avLst/>
          </a:prstGeom>
          <a:solidFill>
            <a:srgbClr val="FFC24B"/>
          </a:solidFill>
          <a:ln/>
        </p:spPr>
      </p:sp>
      <p:sp>
        <p:nvSpPr>
          <p:cNvPr id="6" name="Text 4"/>
          <p:cNvSpPr/>
          <p:nvPr/>
        </p:nvSpPr>
        <p:spPr>
          <a:xfrm>
            <a:off x="777240" y="19385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371600" y="1783080"/>
            <a:ext cx="548640" cy="731520"/>
          </a:xfrm>
          <a:prstGeom prst="rect">
            <a:avLst/>
          </a:prstGeom>
          <a:noFill/>
          <a:ln/>
        </p:spPr>
        <p:txBody>
          <a:bodyPr wrap="square" lIns="0" tIns="0" rIns="0" bIns="0" rtlCol="0" anchor="ctr"/>
          <a:lstStyle/>
          <a:p>
            <a:pPr indent="0" marL="0">
              <a:buNone/>
            </a:pPr>
            <a:r>
              <a:rPr lang="en-US" sz="2400" b="1" dirty="0">
                <a:solidFill>
                  <a:srgbClr val="0E7C6B"/>
                </a:solidFill>
                <a:latin typeface="Palatino Linotype" pitchFamily="34" charset="0"/>
                <a:ea typeface="Palatino Linotype" pitchFamily="34" charset="-122"/>
                <a:cs typeface="Palatino Linotype" pitchFamily="34" charset="-120"/>
              </a:rPr>
              <a:t>A</a:t>
            </a:r>
            <a:endParaRPr lang="en-US" sz="2400" dirty="0"/>
          </a:p>
        </p:txBody>
      </p:sp>
      <p:sp>
        <p:nvSpPr>
          <p:cNvPr id="8" name="Text 6"/>
          <p:cNvSpPr/>
          <p:nvPr/>
        </p:nvSpPr>
        <p:spPr>
          <a:xfrm>
            <a:off x="1965960" y="1783080"/>
            <a:ext cx="3840480" cy="731520"/>
          </a:xfrm>
          <a:prstGeom prst="rect">
            <a:avLst/>
          </a:prstGeom>
          <a:noFill/>
          <a:ln/>
        </p:spPr>
        <p:txBody>
          <a:bodyPr wrap="square" lIns="0" tIns="0" rIns="0" bIns="0" rtlCol="0" anchor="ct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mortalitatea scade prima</a:t>
            </a:r>
            <a:endParaRPr lang="en-US" sz="1400" dirty="0"/>
          </a:p>
        </p:txBody>
      </p:sp>
      <p:sp>
        <p:nvSpPr>
          <p:cNvPr id="9" name="Shape 7"/>
          <p:cNvSpPr/>
          <p:nvPr/>
        </p:nvSpPr>
        <p:spPr>
          <a:xfrm>
            <a:off x="594360" y="2633472"/>
            <a:ext cx="5349240" cy="731520"/>
          </a:xfrm>
          <a:prstGeom prst="roundRect">
            <a:avLst>
              <a:gd name="adj" fmla="val 11250"/>
            </a:avLst>
          </a:prstGeom>
          <a:solidFill>
            <a:srgbClr val="ECEAE4"/>
          </a:solidFill>
          <a:ln w="12700">
            <a:solidFill>
              <a:srgbClr val="ECEAE4"/>
            </a:solidFill>
            <a:prstDash val="solid"/>
          </a:ln>
        </p:spPr>
      </p:sp>
      <p:sp>
        <p:nvSpPr>
          <p:cNvPr id="10" name="Shape 8"/>
          <p:cNvSpPr/>
          <p:nvPr/>
        </p:nvSpPr>
        <p:spPr>
          <a:xfrm>
            <a:off x="777240" y="2788920"/>
            <a:ext cx="420624" cy="420624"/>
          </a:xfrm>
          <a:prstGeom prst="ellipse">
            <a:avLst/>
          </a:prstGeom>
          <a:solidFill>
            <a:srgbClr val="FFC24B"/>
          </a:solidFill>
          <a:ln/>
        </p:spPr>
      </p:sp>
      <p:sp>
        <p:nvSpPr>
          <p:cNvPr id="11" name="Text 9"/>
          <p:cNvSpPr/>
          <p:nvPr/>
        </p:nvSpPr>
        <p:spPr>
          <a:xfrm>
            <a:off x="777240" y="278892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2" name="Text 10"/>
          <p:cNvSpPr/>
          <p:nvPr/>
        </p:nvSpPr>
        <p:spPr>
          <a:xfrm>
            <a:off x="1371600" y="2633472"/>
            <a:ext cx="548640" cy="731520"/>
          </a:xfrm>
          <a:prstGeom prst="rect">
            <a:avLst/>
          </a:prstGeom>
          <a:noFill/>
          <a:ln/>
        </p:spPr>
        <p:txBody>
          <a:bodyPr wrap="square" lIns="0" tIns="0" rIns="0" bIns="0" rtlCol="0" anchor="ctr"/>
          <a:lstStyle/>
          <a:p>
            <a:pPr indent="0" marL="0">
              <a:buNone/>
            </a:pPr>
            <a:r>
              <a:rPr lang="en-US" sz="2400" b="1" dirty="0">
                <a:solidFill>
                  <a:srgbClr val="B02532"/>
                </a:solidFill>
                <a:latin typeface="Palatino Linotype" pitchFamily="34" charset="0"/>
                <a:ea typeface="Palatino Linotype" pitchFamily="34" charset="-122"/>
                <a:cs typeface="Palatino Linotype" pitchFamily="34" charset="-120"/>
              </a:rPr>
              <a:t>F</a:t>
            </a:r>
            <a:endParaRPr lang="en-US" sz="2400" dirty="0"/>
          </a:p>
        </p:txBody>
      </p:sp>
      <p:sp>
        <p:nvSpPr>
          <p:cNvPr id="13" name="Text 11"/>
          <p:cNvSpPr/>
          <p:nvPr/>
        </p:nvSpPr>
        <p:spPr>
          <a:xfrm>
            <a:off x="1965960" y="2633472"/>
            <a:ext cx="3840480" cy="731520"/>
          </a:xfrm>
          <a:prstGeom prst="rect">
            <a:avLst/>
          </a:prstGeom>
          <a:noFill/>
          <a:ln/>
        </p:spPr>
        <p:txBody>
          <a:bodyPr wrap="square" lIns="0" tIns="0" rIns="0" bIns="0" rtlCol="0" anchor="ct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depinde de structura pe vârste</a:t>
            </a:r>
            <a:endParaRPr lang="en-US" sz="1400" dirty="0"/>
          </a:p>
        </p:txBody>
      </p:sp>
      <p:sp>
        <p:nvSpPr>
          <p:cNvPr id="14" name="Shape 12"/>
          <p:cNvSpPr/>
          <p:nvPr/>
        </p:nvSpPr>
        <p:spPr>
          <a:xfrm>
            <a:off x="594360" y="3483864"/>
            <a:ext cx="5349240" cy="731520"/>
          </a:xfrm>
          <a:prstGeom prst="roundRect">
            <a:avLst>
              <a:gd name="adj" fmla="val 11250"/>
            </a:avLst>
          </a:prstGeom>
          <a:solidFill>
            <a:srgbClr val="ECEAE4"/>
          </a:solidFill>
          <a:ln w="12700">
            <a:solidFill>
              <a:srgbClr val="ECEAE4"/>
            </a:solidFill>
            <a:prstDash val="solid"/>
          </a:ln>
        </p:spPr>
      </p:sp>
      <p:sp>
        <p:nvSpPr>
          <p:cNvPr id="15" name="Shape 13"/>
          <p:cNvSpPr/>
          <p:nvPr/>
        </p:nvSpPr>
        <p:spPr>
          <a:xfrm>
            <a:off x="777240" y="3639312"/>
            <a:ext cx="420624" cy="420624"/>
          </a:xfrm>
          <a:prstGeom prst="ellipse">
            <a:avLst/>
          </a:prstGeom>
          <a:solidFill>
            <a:srgbClr val="FFC24B"/>
          </a:solidFill>
          <a:ln/>
        </p:spPr>
      </p:sp>
      <p:sp>
        <p:nvSpPr>
          <p:cNvPr id="16" name="Text 14"/>
          <p:cNvSpPr/>
          <p:nvPr/>
        </p:nvSpPr>
        <p:spPr>
          <a:xfrm>
            <a:off x="777240" y="363931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7" name="Text 15"/>
          <p:cNvSpPr/>
          <p:nvPr/>
        </p:nvSpPr>
        <p:spPr>
          <a:xfrm>
            <a:off x="1371600" y="3483864"/>
            <a:ext cx="548640" cy="731520"/>
          </a:xfrm>
          <a:prstGeom prst="rect">
            <a:avLst/>
          </a:prstGeom>
          <a:noFill/>
          <a:ln/>
        </p:spPr>
        <p:txBody>
          <a:bodyPr wrap="square" lIns="0" tIns="0" rIns="0" bIns="0" rtlCol="0" anchor="ctr"/>
          <a:lstStyle/>
          <a:p>
            <a:pPr indent="0" marL="0">
              <a:buNone/>
            </a:pPr>
            <a:r>
              <a:rPr lang="en-US" sz="2400" b="1" dirty="0">
                <a:solidFill>
                  <a:srgbClr val="0E7C6B"/>
                </a:solidFill>
                <a:latin typeface="Palatino Linotype" pitchFamily="34" charset="0"/>
                <a:ea typeface="Palatino Linotype" pitchFamily="34" charset="-122"/>
                <a:cs typeface="Palatino Linotype" pitchFamily="34" charset="-120"/>
              </a:rPr>
              <a:t>A</a:t>
            </a:r>
            <a:endParaRPr lang="en-US" sz="2400" dirty="0"/>
          </a:p>
        </p:txBody>
      </p:sp>
      <p:sp>
        <p:nvSpPr>
          <p:cNvPr id="18" name="Text 16"/>
          <p:cNvSpPr/>
          <p:nvPr/>
        </p:nvSpPr>
        <p:spPr>
          <a:xfrm>
            <a:off x="1965960" y="3483864"/>
            <a:ext cx="3840480" cy="731520"/>
          </a:xfrm>
          <a:prstGeom prst="rect">
            <a:avLst/>
          </a:prstGeom>
          <a:noFill/>
          <a:ln/>
        </p:spPr>
        <p:txBody>
          <a:bodyPr wrap="square" lIns="0" tIns="0" rIns="0" bIns="0" rtlCol="0" anchor="ct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mortalitatea brută: 12,8 față de 10,7</a:t>
            </a:r>
            <a:endParaRPr lang="en-US" sz="1400" dirty="0"/>
          </a:p>
        </p:txBody>
      </p:sp>
      <p:sp>
        <p:nvSpPr>
          <p:cNvPr id="19" name="Shape 17"/>
          <p:cNvSpPr/>
          <p:nvPr/>
        </p:nvSpPr>
        <p:spPr>
          <a:xfrm>
            <a:off x="594360" y="4334256"/>
            <a:ext cx="5349240" cy="731520"/>
          </a:xfrm>
          <a:prstGeom prst="roundRect">
            <a:avLst>
              <a:gd name="adj" fmla="val 11250"/>
            </a:avLst>
          </a:prstGeom>
          <a:solidFill>
            <a:srgbClr val="ECEAE4"/>
          </a:solidFill>
          <a:ln w="12700">
            <a:solidFill>
              <a:srgbClr val="ECEAE4"/>
            </a:solidFill>
            <a:prstDash val="solid"/>
          </a:ln>
        </p:spPr>
      </p:sp>
      <p:sp>
        <p:nvSpPr>
          <p:cNvPr id="20" name="Shape 18"/>
          <p:cNvSpPr/>
          <p:nvPr/>
        </p:nvSpPr>
        <p:spPr>
          <a:xfrm>
            <a:off x="777240" y="4489704"/>
            <a:ext cx="420624" cy="420624"/>
          </a:xfrm>
          <a:prstGeom prst="ellipse">
            <a:avLst/>
          </a:prstGeom>
          <a:solidFill>
            <a:srgbClr val="FFC24B"/>
          </a:solidFill>
          <a:ln/>
        </p:spPr>
      </p:sp>
      <p:sp>
        <p:nvSpPr>
          <p:cNvPr id="21" name="Text 19"/>
          <p:cNvSpPr/>
          <p:nvPr/>
        </p:nvSpPr>
        <p:spPr>
          <a:xfrm>
            <a:off x="777240" y="448970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4</a:t>
            </a:r>
            <a:endParaRPr lang="en-US" sz="1400" dirty="0"/>
          </a:p>
        </p:txBody>
      </p:sp>
      <p:sp>
        <p:nvSpPr>
          <p:cNvPr id="22" name="Text 20"/>
          <p:cNvSpPr/>
          <p:nvPr/>
        </p:nvSpPr>
        <p:spPr>
          <a:xfrm>
            <a:off x="1371600" y="4334256"/>
            <a:ext cx="548640" cy="731520"/>
          </a:xfrm>
          <a:prstGeom prst="rect">
            <a:avLst/>
          </a:prstGeom>
          <a:noFill/>
          <a:ln/>
        </p:spPr>
        <p:txBody>
          <a:bodyPr wrap="square" lIns="0" tIns="0" rIns="0" bIns="0" rtlCol="0" anchor="ctr"/>
          <a:lstStyle/>
          <a:p>
            <a:pPr indent="0" marL="0">
              <a:buNone/>
            </a:pPr>
            <a:r>
              <a:rPr lang="en-US" sz="2400" b="1" dirty="0">
                <a:solidFill>
                  <a:srgbClr val="0E7C6B"/>
                </a:solidFill>
                <a:latin typeface="Palatino Linotype" pitchFamily="34" charset="0"/>
                <a:ea typeface="Palatino Linotype" pitchFamily="34" charset="-122"/>
                <a:cs typeface="Palatino Linotype" pitchFamily="34" charset="-120"/>
              </a:rPr>
              <a:t>A</a:t>
            </a:r>
            <a:endParaRPr lang="en-US" sz="2400" dirty="0"/>
          </a:p>
        </p:txBody>
      </p:sp>
      <p:sp>
        <p:nvSpPr>
          <p:cNvPr id="23" name="Text 21"/>
          <p:cNvSpPr/>
          <p:nvPr/>
        </p:nvSpPr>
        <p:spPr>
          <a:xfrm>
            <a:off x="1965960" y="4334256"/>
            <a:ext cx="3840480" cy="731520"/>
          </a:xfrm>
          <a:prstGeom prst="rect">
            <a:avLst/>
          </a:prstGeom>
          <a:noFill/>
          <a:ln/>
        </p:spPr>
        <p:txBody>
          <a:bodyPr wrap="square" lIns="0" tIns="0" rIns="0" bIns="0" rtlCol="0" anchor="ct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copiii și femeile tinere</a:t>
            </a:r>
            <a:endParaRPr lang="en-US" sz="1400" dirty="0"/>
          </a:p>
        </p:txBody>
      </p:sp>
      <p:sp>
        <p:nvSpPr>
          <p:cNvPr id="24" name="Shape 22"/>
          <p:cNvSpPr/>
          <p:nvPr/>
        </p:nvSpPr>
        <p:spPr>
          <a:xfrm>
            <a:off x="594360" y="5184648"/>
            <a:ext cx="5349240" cy="731520"/>
          </a:xfrm>
          <a:prstGeom prst="roundRect">
            <a:avLst>
              <a:gd name="adj" fmla="val 11250"/>
            </a:avLst>
          </a:prstGeom>
          <a:solidFill>
            <a:srgbClr val="ECEAE4"/>
          </a:solidFill>
          <a:ln w="12700">
            <a:solidFill>
              <a:srgbClr val="ECEAE4"/>
            </a:solidFill>
            <a:prstDash val="solid"/>
          </a:ln>
        </p:spPr>
      </p:sp>
      <p:sp>
        <p:nvSpPr>
          <p:cNvPr id="25" name="Shape 23"/>
          <p:cNvSpPr/>
          <p:nvPr/>
        </p:nvSpPr>
        <p:spPr>
          <a:xfrm>
            <a:off x="777240" y="5340096"/>
            <a:ext cx="420624" cy="420624"/>
          </a:xfrm>
          <a:prstGeom prst="ellipse">
            <a:avLst/>
          </a:prstGeom>
          <a:solidFill>
            <a:srgbClr val="FFC24B"/>
          </a:solidFill>
          <a:ln/>
        </p:spPr>
      </p:sp>
      <p:sp>
        <p:nvSpPr>
          <p:cNvPr id="26" name="Text 24"/>
          <p:cNvSpPr/>
          <p:nvPr/>
        </p:nvSpPr>
        <p:spPr>
          <a:xfrm>
            <a:off x="777240" y="5340096"/>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5</a:t>
            </a:r>
            <a:endParaRPr lang="en-US" sz="1400" dirty="0"/>
          </a:p>
        </p:txBody>
      </p:sp>
      <p:sp>
        <p:nvSpPr>
          <p:cNvPr id="27" name="Text 25"/>
          <p:cNvSpPr/>
          <p:nvPr/>
        </p:nvSpPr>
        <p:spPr>
          <a:xfrm>
            <a:off x="1371600" y="5184648"/>
            <a:ext cx="548640" cy="731520"/>
          </a:xfrm>
          <a:prstGeom prst="rect">
            <a:avLst/>
          </a:prstGeom>
          <a:noFill/>
          <a:ln/>
        </p:spPr>
        <p:txBody>
          <a:bodyPr wrap="square" lIns="0" tIns="0" rIns="0" bIns="0" rtlCol="0" anchor="ctr"/>
          <a:lstStyle/>
          <a:p>
            <a:pPr indent="0" marL="0">
              <a:buNone/>
            </a:pPr>
            <a:r>
              <a:rPr lang="en-US" sz="2400" b="1" dirty="0">
                <a:solidFill>
                  <a:srgbClr val="0E7C6B"/>
                </a:solidFill>
                <a:latin typeface="Palatino Linotype" pitchFamily="34" charset="0"/>
                <a:ea typeface="Palatino Linotype" pitchFamily="34" charset="-122"/>
                <a:cs typeface="Palatino Linotype" pitchFamily="34" charset="-120"/>
              </a:rPr>
              <a:t>A</a:t>
            </a:r>
            <a:endParaRPr lang="en-US" sz="2400" dirty="0"/>
          </a:p>
        </p:txBody>
      </p:sp>
      <p:sp>
        <p:nvSpPr>
          <p:cNvPr id="28" name="Text 26"/>
          <p:cNvSpPr/>
          <p:nvPr/>
        </p:nvSpPr>
        <p:spPr>
          <a:xfrm>
            <a:off x="1965960" y="5184648"/>
            <a:ext cx="3840480" cy="731520"/>
          </a:xfrm>
          <a:prstGeom prst="rect">
            <a:avLst/>
          </a:prstGeom>
          <a:noFill/>
          <a:ln/>
        </p:spPr>
        <p:txBody>
          <a:bodyPr wrap="square" lIns="0" tIns="0" rIns="0" bIns="0" rtlCol="0" anchor="ct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de 1,93 ori mai multe</a:t>
            </a:r>
            <a:endParaRPr lang="en-US" sz="1400" dirty="0"/>
          </a:p>
        </p:txBody>
      </p:sp>
      <p:sp>
        <p:nvSpPr>
          <p:cNvPr id="29" name="Shape 27"/>
          <p:cNvSpPr/>
          <p:nvPr/>
        </p:nvSpPr>
        <p:spPr>
          <a:xfrm>
            <a:off x="6217920" y="1783080"/>
            <a:ext cx="5349240" cy="731520"/>
          </a:xfrm>
          <a:prstGeom prst="roundRect">
            <a:avLst>
              <a:gd name="adj" fmla="val 11250"/>
            </a:avLst>
          </a:prstGeom>
          <a:solidFill>
            <a:srgbClr val="ECEAE4"/>
          </a:solidFill>
          <a:ln w="12700">
            <a:solidFill>
              <a:srgbClr val="ECEAE4"/>
            </a:solidFill>
            <a:prstDash val="solid"/>
          </a:ln>
        </p:spPr>
      </p:sp>
      <p:sp>
        <p:nvSpPr>
          <p:cNvPr id="30" name="Shape 28"/>
          <p:cNvSpPr/>
          <p:nvPr/>
        </p:nvSpPr>
        <p:spPr>
          <a:xfrm>
            <a:off x="6400800" y="1938528"/>
            <a:ext cx="420624" cy="420624"/>
          </a:xfrm>
          <a:prstGeom prst="ellipse">
            <a:avLst/>
          </a:prstGeom>
          <a:solidFill>
            <a:srgbClr val="FFC24B"/>
          </a:solidFill>
          <a:ln/>
        </p:spPr>
      </p:sp>
      <p:sp>
        <p:nvSpPr>
          <p:cNvPr id="31" name="Text 29"/>
          <p:cNvSpPr/>
          <p:nvPr/>
        </p:nvSpPr>
        <p:spPr>
          <a:xfrm>
            <a:off x="6400800" y="19385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6</a:t>
            </a:r>
            <a:endParaRPr lang="en-US" sz="1400" dirty="0"/>
          </a:p>
        </p:txBody>
      </p:sp>
      <p:sp>
        <p:nvSpPr>
          <p:cNvPr id="32" name="Text 30"/>
          <p:cNvSpPr/>
          <p:nvPr/>
        </p:nvSpPr>
        <p:spPr>
          <a:xfrm>
            <a:off x="6995160" y="1783080"/>
            <a:ext cx="548640" cy="731520"/>
          </a:xfrm>
          <a:prstGeom prst="rect">
            <a:avLst/>
          </a:prstGeom>
          <a:noFill/>
          <a:ln/>
        </p:spPr>
        <p:txBody>
          <a:bodyPr wrap="square" lIns="0" tIns="0" rIns="0" bIns="0" rtlCol="0" anchor="ctr"/>
          <a:lstStyle/>
          <a:p>
            <a:pPr indent="0" marL="0">
              <a:buNone/>
            </a:pPr>
            <a:r>
              <a:rPr lang="en-US" sz="2400" b="1" dirty="0">
                <a:solidFill>
                  <a:srgbClr val="B02532"/>
                </a:solidFill>
                <a:latin typeface="Palatino Linotype" pitchFamily="34" charset="0"/>
                <a:ea typeface="Palatino Linotype" pitchFamily="34" charset="-122"/>
                <a:cs typeface="Palatino Linotype" pitchFamily="34" charset="-120"/>
              </a:rPr>
              <a:t>F</a:t>
            </a:r>
            <a:endParaRPr lang="en-US" sz="2400" dirty="0"/>
          </a:p>
        </p:txBody>
      </p:sp>
      <p:sp>
        <p:nvSpPr>
          <p:cNvPr id="33" name="Text 31"/>
          <p:cNvSpPr/>
          <p:nvPr/>
        </p:nvSpPr>
        <p:spPr>
          <a:xfrm>
            <a:off x="7589520" y="1783080"/>
            <a:ext cx="3840480" cy="731520"/>
          </a:xfrm>
          <a:prstGeom prst="rect">
            <a:avLst/>
          </a:prstGeom>
          <a:noFill/>
          <a:ln/>
        </p:spPr>
        <p:txBody>
          <a:bodyPr wrap="square" lIns="0" tIns="0" rIns="0" bIns="0" rtlCol="0" anchor="ct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20,3% față de 22,0%</a:t>
            </a:r>
            <a:endParaRPr lang="en-US" sz="1400" dirty="0"/>
          </a:p>
        </p:txBody>
      </p:sp>
      <p:sp>
        <p:nvSpPr>
          <p:cNvPr id="34" name="Shape 32"/>
          <p:cNvSpPr/>
          <p:nvPr/>
        </p:nvSpPr>
        <p:spPr>
          <a:xfrm>
            <a:off x="6217920" y="2633472"/>
            <a:ext cx="5349240" cy="731520"/>
          </a:xfrm>
          <a:prstGeom prst="roundRect">
            <a:avLst>
              <a:gd name="adj" fmla="val 11250"/>
            </a:avLst>
          </a:prstGeom>
          <a:solidFill>
            <a:srgbClr val="ECEAE4"/>
          </a:solidFill>
          <a:ln w="12700">
            <a:solidFill>
              <a:srgbClr val="ECEAE4"/>
            </a:solidFill>
            <a:prstDash val="solid"/>
          </a:ln>
        </p:spPr>
      </p:sp>
      <p:sp>
        <p:nvSpPr>
          <p:cNvPr id="35" name="Shape 33"/>
          <p:cNvSpPr/>
          <p:nvPr/>
        </p:nvSpPr>
        <p:spPr>
          <a:xfrm>
            <a:off x="6400800" y="2788920"/>
            <a:ext cx="420624" cy="420624"/>
          </a:xfrm>
          <a:prstGeom prst="ellipse">
            <a:avLst/>
          </a:prstGeom>
          <a:solidFill>
            <a:srgbClr val="FFC24B"/>
          </a:solidFill>
          <a:ln/>
        </p:spPr>
      </p:sp>
      <p:sp>
        <p:nvSpPr>
          <p:cNvPr id="36" name="Text 34"/>
          <p:cNvSpPr/>
          <p:nvPr/>
        </p:nvSpPr>
        <p:spPr>
          <a:xfrm>
            <a:off x="6400800" y="278892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7</a:t>
            </a:r>
            <a:endParaRPr lang="en-US" sz="1400" dirty="0"/>
          </a:p>
        </p:txBody>
      </p:sp>
      <p:sp>
        <p:nvSpPr>
          <p:cNvPr id="37" name="Text 35"/>
          <p:cNvSpPr/>
          <p:nvPr/>
        </p:nvSpPr>
        <p:spPr>
          <a:xfrm>
            <a:off x="6995160" y="2633472"/>
            <a:ext cx="548640" cy="731520"/>
          </a:xfrm>
          <a:prstGeom prst="rect">
            <a:avLst/>
          </a:prstGeom>
          <a:noFill/>
          <a:ln/>
        </p:spPr>
        <p:txBody>
          <a:bodyPr wrap="square" lIns="0" tIns="0" rIns="0" bIns="0" rtlCol="0" anchor="ctr"/>
          <a:lstStyle/>
          <a:p>
            <a:pPr indent="0" marL="0">
              <a:buNone/>
            </a:pPr>
            <a:r>
              <a:rPr lang="en-US" sz="2400" b="1" dirty="0">
                <a:solidFill>
                  <a:srgbClr val="B02532"/>
                </a:solidFill>
                <a:latin typeface="Palatino Linotype" pitchFamily="34" charset="0"/>
                <a:ea typeface="Palatino Linotype" pitchFamily="34" charset="-122"/>
                <a:cs typeface="Palatino Linotype" pitchFamily="34" charset="-120"/>
              </a:rPr>
              <a:t>F</a:t>
            </a:r>
            <a:endParaRPr lang="en-US" sz="2400" dirty="0"/>
          </a:p>
        </p:txBody>
      </p:sp>
      <p:sp>
        <p:nvSpPr>
          <p:cNvPr id="38" name="Text 36"/>
          <p:cNvSpPr/>
          <p:nvPr/>
        </p:nvSpPr>
        <p:spPr>
          <a:xfrm>
            <a:off x="7589520" y="2633472"/>
            <a:ext cx="3840480" cy="731520"/>
          </a:xfrm>
          <a:prstGeom prst="rect">
            <a:avLst/>
          </a:prstGeom>
          <a:noFill/>
          <a:ln/>
        </p:spPr>
        <p:txBody>
          <a:bodyPr wrap="square" lIns="0" tIns="0" rIns="0" bIns="0" rtlCol="0" anchor="ct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arată ce ar urma dacă ipotezele s-ar adeveri</a:t>
            </a:r>
            <a:endParaRPr lang="en-US" sz="1400" dirty="0"/>
          </a:p>
        </p:txBody>
      </p:sp>
      <p:sp>
        <p:nvSpPr>
          <p:cNvPr id="39" name="Shape 37"/>
          <p:cNvSpPr/>
          <p:nvPr/>
        </p:nvSpPr>
        <p:spPr>
          <a:xfrm>
            <a:off x="6217920" y="3483864"/>
            <a:ext cx="5349240" cy="731520"/>
          </a:xfrm>
          <a:prstGeom prst="roundRect">
            <a:avLst>
              <a:gd name="adj" fmla="val 11250"/>
            </a:avLst>
          </a:prstGeom>
          <a:solidFill>
            <a:srgbClr val="ECEAE4"/>
          </a:solidFill>
          <a:ln w="12700">
            <a:solidFill>
              <a:srgbClr val="ECEAE4"/>
            </a:solidFill>
            <a:prstDash val="solid"/>
          </a:ln>
        </p:spPr>
      </p:sp>
      <p:sp>
        <p:nvSpPr>
          <p:cNvPr id="40" name="Shape 38"/>
          <p:cNvSpPr/>
          <p:nvPr/>
        </p:nvSpPr>
        <p:spPr>
          <a:xfrm>
            <a:off x="6400800" y="3639312"/>
            <a:ext cx="420624" cy="420624"/>
          </a:xfrm>
          <a:prstGeom prst="ellipse">
            <a:avLst/>
          </a:prstGeom>
          <a:solidFill>
            <a:srgbClr val="FFC24B"/>
          </a:solidFill>
          <a:ln/>
        </p:spPr>
      </p:sp>
      <p:sp>
        <p:nvSpPr>
          <p:cNvPr id="41" name="Text 39"/>
          <p:cNvSpPr/>
          <p:nvPr/>
        </p:nvSpPr>
        <p:spPr>
          <a:xfrm>
            <a:off x="6400800" y="363931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8</a:t>
            </a:r>
            <a:endParaRPr lang="en-US" sz="1400" dirty="0"/>
          </a:p>
        </p:txBody>
      </p:sp>
      <p:sp>
        <p:nvSpPr>
          <p:cNvPr id="42" name="Text 40"/>
          <p:cNvSpPr/>
          <p:nvPr/>
        </p:nvSpPr>
        <p:spPr>
          <a:xfrm>
            <a:off x="6995160" y="3483864"/>
            <a:ext cx="548640" cy="731520"/>
          </a:xfrm>
          <a:prstGeom prst="rect">
            <a:avLst/>
          </a:prstGeom>
          <a:noFill/>
          <a:ln/>
        </p:spPr>
        <p:txBody>
          <a:bodyPr wrap="square" lIns="0" tIns="0" rIns="0" bIns="0" rtlCol="0" anchor="ctr"/>
          <a:lstStyle/>
          <a:p>
            <a:pPr indent="0" marL="0">
              <a:buNone/>
            </a:pPr>
            <a:r>
              <a:rPr lang="en-US" sz="2400" b="1" dirty="0">
                <a:solidFill>
                  <a:srgbClr val="0E7C6B"/>
                </a:solidFill>
                <a:latin typeface="Palatino Linotype" pitchFamily="34" charset="0"/>
                <a:ea typeface="Palatino Linotype" pitchFamily="34" charset="-122"/>
                <a:cs typeface="Palatino Linotype" pitchFamily="34" charset="-120"/>
              </a:rPr>
              <a:t>A</a:t>
            </a:r>
            <a:endParaRPr lang="en-US" sz="2400" dirty="0"/>
          </a:p>
        </p:txBody>
      </p:sp>
      <p:sp>
        <p:nvSpPr>
          <p:cNvPr id="43" name="Text 41"/>
          <p:cNvSpPr/>
          <p:nvPr/>
        </p:nvSpPr>
        <p:spPr>
          <a:xfrm>
            <a:off x="7589520" y="3483864"/>
            <a:ext cx="3840480" cy="731520"/>
          </a:xfrm>
          <a:prstGeom prst="rect">
            <a:avLst/>
          </a:prstGeom>
          <a:noFill/>
          <a:ln/>
        </p:spPr>
        <p:txBody>
          <a:bodyPr wrap="square" lIns="0" tIns="0" rIns="0" bIns="0" rtlCol="0" anchor="ct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de la 28 de zile la un an</a:t>
            </a:r>
            <a:endParaRPr lang="en-US" sz="1400" dirty="0"/>
          </a:p>
        </p:txBody>
      </p:sp>
      <p:sp>
        <p:nvSpPr>
          <p:cNvPr id="44" name="Shape 42"/>
          <p:cNvSpPr/>
          <p:nvPr/>
        </p:nvSpPr>
        <p:spPr>
          <a:xfrm>
            <a:off x="6217920" y="4334256"/>
            <a:ext cx="5349240" cy="731520"/>
          </a:xfrm>
          <a:prstGeom prst="roundRect">
            <a:avLst>
              <a:gd name="adj" fmla="val 11250"/>
            </a:avLst>
          </a:prstGeom>
          <a:solidFill>
            <a:srgbClr val="ECEAE4"/>
          </a:solidFill>
          <a:ln w="12700">
            <a:solidFill>
              <a:srgbClr val="ECEAE4"/>
            </a:solidFill>
            <a:prstDash val="solid"/>
          </a:ln>
        </p:spPr>
      </p:sp>
      <p:sp>
        <p:nvSpPr>
          <p:cNvPr id="45" name="Shape 43"/>
          <p:cNvSpPr/>
          <p:nvPr/>
        </p:nvSpPr>
        <p:spPr>
          <a:xfrm>
            <a:off x="6400800" y="4489704"/>
            <a:ext cx="420624" cy="420624"/>
          </a:xfrm>
          <a:prstGeom prst="ellipse">
            <a:avLst/>
          </a:prstGeom>
          <a:solidFill>
            <a:srgbClr val="FFC24B"/>
          </a:solidFill>
          <a:ln/>
        </p:spPr>
      </p:sp>
      <p:sp>
        <p:nvSpPr>
          <p:cNvPr id="46" name="Text 44"/>
          <p:cNvSpPr/>
          <p:nvPr/>
        </p:nvSpPr>
        <p:spPr>
          <a:xfrm>
            <a:off x="6400800" y="448970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9</a:t>
            </a:r>
            <a:endParaRPr lang="en-US" sz="1400" dirty="0"/>
          </a:p>
        </p:txBody>
      </p:sp>
      <p:sp>
        <p:nvSpPr>
          <p:cNvPr id="47" name="Text 45"/>
          <p:cNvSpPr/>
          <p:nvPr/>
        </p:nvSpPr>
        <p:spPr>
          <a:xfrm>
            <a:off x="6995160" y="4334256"/>
            <a:ext cx="548640" cy="731520"/>
          </a:xfrm>
          <a:prstGeom prst="rect">
            <a:avLst/>
          </a:prstGeom>
          <a:noFill/>
          <a:ln/>
        </p:spPr>
        <p:txBody>
          <a:bodyPr wrap="square" lIns="0" tIns="0" rIns="0" bIns="0" rtlCol="0" anchor="ctr"/>
          <a:lstStyle/>
          <a:p>
            <a:pPr indent="0" marL="0">
              <a:buNone/>
            </a:pPr>
            <a:r>
              <a:rPr lang="en-US" sz="2400" b="1" dirty="0">
                <a:solidFill>
                  <a:srgbClr val="B02532"/>
                </a:solidFill>
                <a:latin typeface="Palatino Linotype" pitchFamily="34" charset="0"/>
                <a:ea typeface="Palatino Linotype" pitchFamily="34" charset="-122"/>
                <a:cs typeface="Palatino Linotype" pitchFamily="34" charset="-120"/>
              </a:rPr>
              <a:t>F</a:t>
            </a:r>
            <a:endParaRPr lang="en-US" sz="2400" dirty="0"/>
          </a:p>
        </p:txBody>
      </p:sp>
      <p:sp>
        <p:nvSpPr>
          <p:cNvPr id="48" name="Text 46"/>
          <p:cNvSpPr/>
          <p:nvPr/>
        </p:nvSpPr>
        <p:spPr>
          <a:xfrm>
            <a:off x="7589520" y="4334256"/>
            <a:ext cx="3840480" cy="731520"/>
          </a:xfrm>
          <a:prstGeom prst="rect">
            <a:avLst/>
          </a:prstGeom>
          <a:noFill/>
          <a:ln/>
        </p:spPr>
        <p:txBody>
          <a:bodyPr wrap="square" lIns="0" tIns="0" rIns="0" bIns="0" rtlCol="0" anchor="ct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cauzele accidentale sunt excluse</a:t>
            </a:r>
            <a:endParaRPr lang="en-US" sz="1400" dirty="0"/>
          </a:p>
        </p:txBody>
      </p:sp>
      <p:sp>
        <p:nvSpPr>
          <p:cNvPr id="49" name="Shape 47"/>
          <p:cNvSpPr/>
          <p:nvPr/>
        </p:nvSpPr>
        <p:spPr>
          <a:xfrm>
            <a:off x="6217920" y="5184648"/>
            <a:ext cx="5349240" cy="731520"/>
          </a:xfrm>
          <a:prstGeom prst="roundRect">
            <a:avLst>
              <a:gd name="adj" fmla="val 11250"/>
            </a:avLst>
          </a:prstGeom>
          <a:solidFill>
            <a:srgbClr val="ECEAE4"/>
          </a:solidFill>
          <a:ln w="12700">
            <a:solidFill>
              <a:srgbClr val="ECEAE4"/>
            </a:solidFill>
            <a:prstDash val="solid"/>
          </a:ln>
        </p:spPr>
      </p:sp>
      <p:sp>
        <p:nvSpPr>
          <p:cNvPr id="50" name="Shape 48"/>
          <p:cNvSpPr/>
          <p:nvPr/>
        </p:nvSpPr>
        <p:spPr>
          <a:xfrm>
            <a:off x="6400800" y="5340096"/>
            <a:ext cx="420624" cy="420624"/>
          </a:xfrm>
          <a:prstGeom prst="ellipse">
            <a:avLst/>
          </a:prstGeom>
          <a:solidFill>
            <a:srgbClr val="FFC24B"/>
          </a:solidFill>
          <a:ln/>
        </p:spPr>
      </p:sp>
      <p:sp>
        <p:nvSpPr>
          <p:cNvPr id="51" name="Text 49"/>
          <p:cNvSpPr/>
          <p:nvPr/>
        </p:nvSpPr>
        <p:spPr>
          <a:xfrm>
            <a:off x="6400800" y="5340096"/>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10</a:t>
            </a:r>
            <a:endParaRPr lang="en-US" sz="1400" dirty="0"/>
          </a:p>
        </p:txBody>
      </p:sp>
      <p:sp>
        <p:nvSpPr>
          <p:cNvPr id="52" name="Text 50"/>
          <p:cNvSpPr/>
          <p:nvPr/>
        </p:nvSpPr>
        <p:spPr>
          <a:xfrm>
            <a:off x="6995160" y="5184648"/>
            <a:ext cx="548640" cy="731520"/>
          </a:xfrm>
          <a:prstGeom prst="rect">
            <a:avLst/>
          </a:prstGeom>
          <a:noFill/>
          <a:ln/>
        </p:spPr>
        <p:txBody>
          <a:bodyPr wrap="square" lIns="0" tIns="0" rIns="0" bIns="0" rtlCol="0" anchor="ctr"/>
          <a:lstStyle/>
          <a:p>
            <a:pPr indent="0" marL="0">
              <a:buNone/>
            </a:pPr>
            <a:r>
              <a:rPr lang="en-US" sz="2400" b="1" dirty="0">
                <a:solidFill>
                  <a:srgbClr val="B02532"/>
                </a:solidFill>
                <a:latin typeface="Palatino Linotype" pitchFamily="34" charset="0"/>
                <a:ea typeface="Palatino Linotype" pitchFamily="34" charset="-122"/>
                <a:cs typeface="Palatino Linotype" pitchFamily="34" charset="-120"/>
              </a:rPr>
              <a:t>F</a:t>
            </a:r>
            <a:endParaRPr lang="en-US" sz="2400" dirty="0"/>
          </a:p>
        </p:txBody>
      </p:sp>
      <p:sp>
        <p:nvSpPr>
          <p:cNvPr id="53" name="Text 51"/>
          <p:cNvSpPr/>
          <p:nvPr/>
        </p:nvSpPr>
        <p:spPr>
          <a:xfrm>
            <a:off x="7589520" y="5184648"/>
            <a:ext cx="3840480" cy="731520"/>
          </a:xfrm>
          <a:prstGeom prst="rect">
            <a:avLst/>
          </a:prstGeom>
          <a:noFill/>
          <a:ln/>
        </p:spPr>
        <p:txBody>
          <a:bodyPr wrap="square" lIns="0" tIns="0" rIns="0" bIns="0" rtlCol="0" anchor="ct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DTP3: 66% față de 88%</a:t>
            </a:r>
            <a:endParaRPr lang="en-US" sz="1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ÎN UN SINGUR LOC</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România și Uniunea Europeană, pe scurt</a:t>
            </a:r>
            <a:endParaRPr lang="en-US" sz="3200" dirty="0"/>
          </a:p>
        </p:txBody>
      </p:sp>
      <p:sp>
        <p:nvSpPr>
          <p:cNvPr id="4" name="Shape 2"/>
          <p:cNvSpPr/>
          <p:nvPr/>
        </p:nvSpPr>
        <p:spPr>
          <a:xfrm>
            <a:off x="594360" y="1783080"/>
            <a:ext cx="10972800" cy="3657600"/>
          </a:xfrm>
          <a:prstGeom prst="roundRect">
            <a:avLst>
              <a:gd name="adj" fmla="val 2250"/>
            </a:avLst>
          </a:prstGeom>
          <a:solidFill>
            <a:srgbClr val="1D1F2B"/>
          </a:solidFill>
          <a:ln w="12700">
            <a:solidFill>
              <a:srgbClr val="1D1F2B"/>
            </a:solidFill>
            <a:prstDash val="solid"/>
          </a:ln>
        </p:spPr>
      </p:sp>
      <p:sp>
        <p:nvSpPr>
          <p:cNvPr id="5" name="Text 3"/>
          <p:cNvSpPr/>
          <p:nvPr/>
        </p:nvSpPr>
        <p:spPr>
          <a:xfrm>
            <a:off x="7680960" y="1828800"/>
            <a:ext cx="1737360" cy="320040"/>
          </a:xfrm>
          <a:prstGeom prst="rect">
            <a:avLst/>
          </a:prstGeom>
          <a:noFill/>
          <a:ln/>
        </p:spPr>
        <p:txBody>
          <a:bodyPr wrap="square" lIns="0" tIns="0" rIns="0" bIns="0" rtlCol="0" anchor="t"/>
          <a:lstStyle/>
          <a:p>
            <a:pPr algn="ctr" indent="0" marL="0">
              <a:buNone/>
            </a:pPr>
            <a:r>
              <a:rPr lang="en-US" sz="1300" b="1" dirty="0">
                <a:solidFill>
                  <a:srgbClr val="FF4757"/>
                </a:solidFill>
                <a:latin typeface="Palatino Linotype" pitchFamily="34" charset="0"/>
                <a:ea typeface="Palatino Linotype" pitchFamily="34" charset="-122"/>
                <a:cs typeface="Palatino Linotype" pitchFamily="34" charset="-120"/>
              </a:rPr>
              <a:t>România</a:t>
            </a:r>
            <a:endParaRPr lang="en-US" sz="1300" dirty="0"/>
          </a:p>
        </p:txBody>
      </p:sp>
      <p:sp>
        <p:nvSpPr>
          <p:cNvPr id="6" name="Text 4"/>
          <p:cNvSpPr/>
          <p:nvPr/>
        </p:nvSpPr>
        <p:spPr>
          <a:xfrm>
            <a:off x="9601200" y="1828800"/>
            <a:ext cx="1737360" cy="320040"/>
          </a:xfrm>
          <a:prstGeom prst="rect">
            <a:avLst/>
          </a:prstGeom>
          <a:noFill/>
          <a:ln/>
        </p:spPr>
        <p:txBody>
          <a:bodyPr wrap="square" lIns="0" tIns="0" rIns="0" bIns="0" rtlCol="0" anchor="t"/>
          <a:lstStyle/>
          <a:p>
            <a:pPr algn="ctr" indent="0" marL="0">
              <a:buNone/>
            </a:pPr>
            <a:r>
              <a:rPr lang="en-US" sz="1300" b="1" dirty="0">
                <a:solidFill>
                  <a:srgbClr val="27D3BE"/>
                </a:solidFill>
                <a:latin typeface="Palatino Linotype" pitchFamily="34" charset="0"/>
                <a:ea typeface="Palatino Linotype" pitchFamily="34" charset="-122"/>
                <a:cs typeface="Palatino Linotype" pitchFamily="34" charset="-120"/>
              </a:rPr>
              <a:t>UE</a:t>
            </a:r>
            <a:endParaRPr lang="en-US" sz="1300" dirty="0"/>
          </a:p>
        </p:txBody>
      </p:sp>
      <p:sp>
        <p:nvSpPr>
          <p:cNvPr id="7" name="Shape 5"/>
          <p:cNvSpPr/>
          <p:nvPr/>
        </p:nvSpPr>
        <p:spPr>
          <a:xfrm>
            <a:off x="822960" y="2194560"/>
            <a:ext cx="10515600" cy="13716"/>
          </a:xfrm>
          <a:prstGeom prst="rect">
            <a:avLst/>
          </a:prstGeom>
          <a:solidFill>
            <a:srgbClr val="4B5068"/>
          </a:solidFill>
          <a:ln w="12700">
            <a:solidFill>
              <a:srgbClr val="4B5068"/>
            </a:solidFill>
            <a:prstDash val="solid"/>
          </a:ln>
        </p:spPr>
      </p:sp>
      <p:sp>
        <p:nvSpPr>
          <p:cNvPr id="8" name="Text 6"/>
          <p:cNvSpPr/>
          <p:nvPr/>
        </p:nvSpPr>
        <p:spPr>
          <a:xfrm>
            <a:off x="822960" y="2212848"/>
            <a:ext cx="6675120" cy="365760"/>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Rata totală de fertilitate, 2024</a:t>
            </a:r>
            <a:endParaRPr lang="en-US" sz="1500" dirty="0"/>
          </a:p>
        </p:txBody>
      </p:sp>
      <p:sp>
        <p:nvSpPr>
          <p:cNvPr id="9" name="Text 7"/>
          <p:cNvSpPr/>
          <p:nvPr/>
        </p:nvSpPr>
        <p:spPr>
          <a:xfrm>
            <a:off x="7680960" y="2212848"/>
            <a:ext cx="1737360" cy="365760"/>
          </a:xfrm>
          <a:prstGeom prst="rect">
            <a:avLst/>
          </a:prstGeom>
          <a:noFill/>
          <a:ln/>
        </p:spPr>
        <p:txBody>
          <a:bodyPr wrap="square" lIns="0" tIns="0" rIns="0" bIns="0" rtlCol="0" anchor="ctr"/>
          <a:lstStyle/>
          <a:p>
            <a:pPr algn="ctr" indent="0" marL="0">
              <a:buNone/>
            </a:pPr>
            <a:r>
              <a:rPr lang="en-US" sz="1700" b="1" dirty="0">
                <a:solidFill>
                  <a:srgbClr val="FFFFFF"/>
                </a:solidFill>
                <a:latin typeface="Palatino Linotype" pitchFamily="34" charset="0"/>
                <a:ea typeface="Palatino Linotype" pitchFamily="34" charset="-122"/>
                <a:cs typeface="Palatino Linotype" pitchFamily="34" charset="-120"/>
              </a:rPr>
              <a:t>1,39</a:t>
            </a:r>
            <a:endParaRPr lang="en-US" sz="1700" dirty="0"/>
          </a:p>
        </p:txBody>
      </p:sp>
      <p:sp>
        <p:nvSpPr>
          <p:cNvPr id="10" name="Text 8"/>
          <p:cNvSpPr/>
          <p:nvPr/>
        </p:nvSpPr>
        <p:spPr>
          <a:xfrm>
            <a:off x="9601200" y="2212848"/>
            <a:ext cx="1737360" cy="365760"/>
          </a:xfrm>
          <a:prstGeom prst="rect">
            <a:avLst/>
          </a:prstGeom>
          <a:noFill/>
          <a:ln/>
        </p:spPr>
        <p:txBody>
          <a:bodyPr wrap="square" lIns="0" tIns="0" rIns="0" bIns="0" rtlCol="0" anchor="ctr"/>
          <a:lstStyle/>
          <a:p>
            <a:pPr algn="ctr" indent="0" marL="0">
              <a:buNone/>
            </a:pPr>
            <a:r>
              <a:rPr lang="en-US" sz="1700" b="1" dirty="0">
                <a:solidFill>
                  <a:srgbClr val="FFFFFF"/>
                </a:solidFill>
                <a:latin typeface="Palatino Linotype" pitchFamily="34" charset="0"/>
                <a:ea typeface="Palatino Linotype" pitchFamily="34" charset="-122"/>
                <a:cs typeface="Palatino Linotype" pitchFamily="34" charset="-120"/>
              </a:rPr>
              <a:t>1,34</a:t>
            </a:r>
            <a:endParaRPr lang="en-US" sz="1700" dirty="0"/>
          </a:p>
        </p:txBody>
      </p:sp>
      <p:sp>
        <p:nvSpPr>
          <p:cNvPr id="11" name="Shape 9"/>
          <p:cNvSpPr/>
          <p:nvPr/>
        </p:nvSpPr>
        <p:spPr>
          <a:xfrm>
            <a:off x="822960" y="2596896"/>
            <a:ext cx="10515600" cy="13716"/>
          </a:xfrm>
          <a:prstGeom prst="rect">
            <a:avLst/>
          </a:prstGeom>
          <a:solidFill>
            <a:srgbClr val="4B5068"/>
          </a:solidFill>
          <a:ln w="12700">
            <a:solidFill>
              <a:srgbClr val="4B5068"/>
            </a:solidFill>
            <a:prstDash val="solid"/>
          </a:ln>
        </p:spPr>
      </p:sp>
      <p:sp>
        <p:nvSpPr>
          <p:cNvPr id="12" name="Text 10"/>
          <p:cNvSpPr/>
          <p:nvPr/>
        </p:nvSpPr>
        <p:spPr>
          <a:xfrm>
            <a:off x="822960" y="2615184"/>
            <a:ext cx="6675120" cy="365760"/>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Natalitatea brută, 2024</a:t>
            </a:r>
            <a:endParaRPr lang="en-US" sz="1500" dirty="0"/>
          </a:p>
        </p:txBody>
      </p:sp>
      <p:sp>
        <p:nvSpPr>
          <p:cNvPr id="13" name="Text 11"/>
          <p:cNvSpPr/>
          <p:nvPr/>
        </p:nvSpPr>
        <p:spPr>
          <a:xfrm>
            <a:off x="7680960" y="2615184"/>
            <a:ext cx="1737360" cy="365760"/>
          </a:xfrm>
          <a:prstGeom prst="rect">
            <a:avLst/>
          </a:prstGeom>
          <a:noFill/>
          <a:ln/>
        </p:spPr>
        <p:txBody>
          <a:bodyPr wrap="square" lIns="0" tIns="0" rIns="0" bIns="0" rtlCol="0" anchor="ctr"/>
          <a:lstStyle/>
          <a:p>
            <a:pPr algn="ctr" indent="0" marL="0">
              <a:buNone/>
            </a:pPr>
            <a:r>
              <a:rPr lang="en-US" sz="1700" b="1" dirty="0">
                <a:solidFill>
                  <a:srgbClr val="FFFFFF"/>
                </a:solidFill>
                <a:latin typeface="Palatino Linotype" pitchFamily="34" charset="0"/>
                <a:ea typeface="Palatino Linotype" pitchFamily="34" charset="-122"/>
                <a:cs typeface="Palatino Linotype" pitchFamily="34" charset="-120"/>
              </a:rPr>
              <a:t>7,5</a:t>
            </a:r>
            <a:endParaRPr lang="en-US" sz="1700" dirty="0"/>
          </a:p>
        </p:txBody>
      </p:sp>
      <p:sp>
        <p:nvSpPr>
          <p:cNvPr id="14" name="Text 12"/>
          <p:cNvSpPr/>
          <p:nvPr/>
        </p:nvSpPr>
        <p:spPr>
          <a:xfrm>
            <a:off x="9601200" y="2615184"/>
            <a:ext cx="1737360" cy="365760"/>
          </a:xfrm>
          <a:prstGeom prst="rect">
            <a:avLst/>
          </a:prstGeom>
          <a:noFill/>
          <a:ln/>
        </p:spPr>
        <p:txBody>
          <a:bodyPr wrap="square" lIns="0" tIns="0" rIns="0" bIns="0" rtlCol="0" anchor="ctr"/>
          <a:lstStyle/>
          <a:p>
            <a:pPr algn="ctr" indent="0" marL="0">
              <a:buNone/>
            </a:pPr>
            <a:r>
              <a:rPr lang="en-US" sz="1700" b="1" dirty="0">
                <a:solidFill>
                  <a:srgbClr val="FFFFFF"/>
                </a:solidFill>
                <a:latin typeface="Palatino Linotype" pitchFamily="34" charset="0"/>
                <a:ea typeface="Palatino Linotype" pitchFamily="34" charset="-122"/>
                <a:cs typeface="Palatino Linotype" pitchFamily="34" charset="-120"/>
              </a:rPr>
              <a:t>7,9</a:t>
            </a:r>
            <a:endParaRPr lang="en-US" sz="1700" dirty="0"/>
          </a:p>
        </p:txBody>
      </p:sp>
      <p:sp>
        <p:nvSpPr>
          <p:cNvPr id="15" name="Shape 13"/>
          <p:cNvSpPr/>
          <p:nvPr/>
        </p:nvSpPr>
        <p:spPr>
          <a:xfrm>
            <a:off x="822960" y="2999232"/>
            <a:ext cx="10515600" cy="13716"/>
          </a:xfrm>
          <a:prstGeom prst="rect">
            <a:avLst/>
          </a:prstGeom>
          <a:solidFill>
            <a:srgbClr val="4B5068"/>
          </a:solidFill>
          <a:ln w="12700">
            <a:solidFill>
              <a:srgbClr val="4B5068"/>
            </a:solidFill>
            <a:prstDash val="solid"/>
          </a:ln>
        </p:spPr>
      </p:sp>
      <p:sp>
        <p:nvSpPr>
          <p:cNvPr id="16" name="Text 14"/>
          <p:cNvSpPr/>
          <p:nvPr/>
        </p:nvSpPr>
        <p:spPr>
          <a:xfrm>
            <a:off x="822960" y="3017520"/>
            <a:ext cx="6675120" cy="365760"/>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Mortalitatea brută, 2024</a:t>
            </a:r>
            <a:endParaRPr lang="en-US" sz="1500" dirty="0"/>
          </a:p>
        </p:txBody>
      </p:sp>
      <p:sp>
        <p:nvSpPr>
          <p:cNvPr id="17" name="Text 15"/>
          <p:cNvSpPr/>
          <p:nvPr/>
        </p:nvSpPr>
        <p:spPr>
          <a:xfrm>
            <a:off x="7680960" y="3017520"/>
            <a:ext cx="1737360" cy="365760"/>
          </a:xfrm>
          <a:prstGeom prst="rect">
            <a:avLst/>
          </a:prstGeom>
          <a:noFill/>
          <a:ln/>
        </p:spPr>
        <p:txBody>
          <a:bodyPr wrap="square" lIns="0" tIns="0" rIns="0" bIns="0" rtlCol="0" anchor="ctr"/>
          <a:lstStyle/>
          <a:p>
            <a:pPr algn="ctr" indent="0" marL="0">
              <a:buNone/>
            </a:pPr>
            <a:r>
              <a:rPr lang="en-US" sz="1700" b="1" dirty="0">
                <a:solidFill>
                  <a:srgbClr val="FFFFFF"/>
                </a:solidFill>
                <a:latin typeface="Palatino Linotype" pitchFamily="34" charset="0"/>
                <a:ea typeface="Palatino Linotype" pitchFamily="34" charset="-122"/>
                <a:cs typeface="Palatino Linotype" pitchFamily="34" charset="-120"/>
              </a:rPr>
              <a:t>12,8</a:t>
            </a:r>
            <a:endParaRPr lang="en-US" sz="1700" dirty="0"/>
          </a:p>
        </p:txBody>
      </p:sp>
      <p:sp>
        <p:nvSpPr>
          <p:cNvPr id="18" name="Text 16"/>
          <p:cNvSpPr/>
          <p:nvPr/>
        </p:nvSpPr>
        <p:spPr>
          <a:xfrm>
            <a:off x="9601200" y="3017520"/>
            <a:ext cx="1737360" cy="365760"/>
          </a:xfrm>
          <a:prstGeom prst="rect">
            <a:avLst/>
          </a:prstGeom>
          <a:noFill/>
          <a:ln/>
        </p:spPr>
        <p:txBody>
          <a:bodyPr wrap="square" lIns="0" tIns="0" rIns="0" bIns="0" rtlCol="0" anchor="ctr"/>
          <a:lstStyle/>
          <a:p>
            <a:pPr algn="ctr" indent="0" marL="0">
              <a:buNone/>
            </a:pPr>
            <a:r>
              <a:rPr lang="en-US" sz="1700" b="1" dirty="0">
                <a:solidFill>
                  <a:srgbClr val="FFFFFF"/>
                </a:solidFill>
                <a:latin typeface="Palatino Linotype" pitchFamily="34" charset="0"/>
                <a:ea typeface="Palatino Linotype" pitchFamily="34" charset="-122"/>
                <a:cs typeface="Palatino Linotype" pitchFamily="34" charset="-120"/>
              </a:rPr>
              <a:t>10,7</a:t>
            </a:r>
            <a:endParaRPr lang="en-US" sz="1700" dirty="0"/>
          </a:p>
        </p:txBody>
      </p:sp>
      <p:sp>
        <p:nvSpPr>
          <p:cNvPr id="19" name="Shape 17"/>
          <p:cNvSpPr/>
          <p:nvPr/>
        </p:nvSpPr>
        <p:spPr>
          <a:xfrm>
            <a:off x="822960" y="3401568"/>
            <a:ext cx="10515600" cy="13716"/>
          </a:xfrm>
          <a:prstGeom prst="rect">
            <a:avLst/>
          </a:prstGeom>
          <a:solidFill>
            <a:srgbClr val="4B5068"/>
          </a:solidFill>
          <a:ln w="12700">
            <a:solidFill>
              <a:srgbClr val="4B5068"/>
            </a:solidFill>
            <a:prstDash val="solid"/>
          </a:ln>
        </p:spPr>
      </p:sp>
      <p:sp>
        <p:nvSpPr>
          <p:cNvPr id="20" name="Text 18"/>
          <p:cNvSpPr/>
          <p:nvPr/>
        </p:nvSpPr>
        <p:spPr>
          <a:xfrm>
            <a:off x="822960" y="3419856"/>
            <a:ext cx="6675120" cy="365760"/>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Persoane de 65+ (%), 2025</a:t>
            </a:r>
            <a:endParaRPr lang="en-US" sz="1500" dirty="0"/>
          </a:p>
        </p:txBody>
      </p:sp>
      <p:sp>
        <p:nvSpPr>
          <p:cNvPr id="21" name="Text 19"/>
          <p:cNvSpPr/>
          <p:nvPr/>
        </p:nvSpPr>
        <p:spPr>
          <a:xfrm>
            <a:off x="7680960" y="3419856"/>
            <a:ext cx="1737360" cy="365760"/>
          </a:xfrm>
          <a:prstGeom prst="rect">
            <a:avLst/>
          </a:prstGeom>
          <a:noFill/>
          <a:ln/>
        </p:spPr>
        <p:txBody>
          <a:bodyPr wrap="square" lIns="0" tIns="0" rIns="0" bIns="0" rtlCol="0" anchor="ctr"/>
          <a:lstStyle/>
          <a:p>
            <a:pPr algn="ctr" indent="0" marL="0">
              <a:buNone/>
            </a:pPr>
            <a:r>
              <a:rPr lang="en-US" sz="1700" b="1" dirty="0">
                <a:solidFill>
                  <a:srgbClr val="FFFFFF"/>
                </a:solidFill>
                <a:latin typeface="Palatino Linotype" pitchFamily="34" charset="0"/>
                <a:ea typeface="Palatino Linotype" pitchFamily="34" charset="-122"/>
                <a:cs typeface="Palatino Linotype" pitchFamily="34" charset="-120"/>
              </a:rPr>
              <a:t>20,3</a:t>
            </a:r>
            <a:endParaRPr lang="en-US" sz="1700" dirty="0"/>
          </a:p>
        </p:txBody>
      </p:sp>
      <p:sp>
        <p:nvSpPr>
          <p:cNvPr id="22" name="Text 20"/>
          <p:cNvSpPr/>
          <p:nvPr/>
        </p:nvSpPr>
        <p:spPr>
          <a:xfrm>
            <a:off x="9601200" y="3419856"/>
            <a:ext cx="1737360" cy="365760"/>
          </a:xfrm>
          <a:prstGeom prst="rect">
            <a:avLst/>
          </a:prstGeom>
          <a:noFill/>
          <a:ln/>
        </p:spPr>
        <p:txBody>
          <a:bodyPr wrap="square" lIns="0" tIns="0" rIns="0" bIns="0" rtlCol="0" anchor="ctr"/>
          <a:lstStyle/>
          <a:p>
            <a:pPr algn="ctr" indent="0" marL="0">
              <a:buNone/>
            </a:pPr>
            <a:r>
              <a:rPr lang="en-US" sz="1700" b="1" dirty="0">
                <a:solidFill>
                  <a:srgbClr val="FFFFFF"/>
                </a:solidFill>
                <a:latin typeface="Palatino Linotype" pitchFamily="34" charset="0"/>
                <a:ea typeface="Palatino Linotype" pitchFamily="34" charset="-122"/>
                <a:cs typeface="Palatino Linotype" pitchFamily="34" charset="-120"/>
              </a:rPr>
              <a:t>22,0</a:t>
            </a:r>
            <a:endParaRPr lang="en-US" sz="1700" dirty="0"/>
          </a:p>
        </p:txBody>
      </p:sp>
      <p:sp>
        <p:nvSpPr>
          <p:cNvPr id="23" name="Shape 21"/>
          <p:cNvSpPr/>
          <p:nvPr/>
        </p:nvSpPr>
        <p:spPr>
          <a:xfrm>
            <a:off x="822960" y="3803904"/>
            <a:ext cx="10515600" cy="13716"/>
          </a:xfrm>
          <a:prstGeom prst="rect">
            <a:avLst/>
          </a:prstGeom>
          <a:solidFill>
            <a:srgbClr val="4B5068"/>
          </a:solidFill>
          <a:ln w="12700">
            <a:solidFill>
              <a:srgbClr val="4B5068"/>
            </a:solidFill>
            <a:prstDash val="solid"/>
          </a:ln>
        </p:spPr>
      </p:sp>
      <p:sp>
        <p:nvSpPr>
          <p:cNvPr id="24" name="Text 22"/>
          <p:cNvSpPr/>
          <p:nvPr/>
        </p:nvSpPr>
        <p:spPr>
          <a:xfrm>
            <a:off x="822960" y="3822192"/>
            <a:ext cx="6675120" cy="365760"/>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Raportul de dependență al vârstnicilor, 2025</a:t>
            </a:r>
            <a:endParaRPr lang="en-US" sz="1500" dirty="0"/>
          </a:p>
        </p:txBody>
      </p:sp>
      <p:sp>
        <p:nvSpPr>
          <p:cNvPr id="25" name="Text 23"/>
          <p:cNvSpPr/>
          <p:nvPr/>
        </p:nvSpPr>
        <p:spPr>
          <a:xfrm>
            <a:off x="7680960" y="3822192"/>
            <a:ext cx="1737360" cy="365760"/>
          </a:xfrm>
          <a:prstGeom prst="rect">
            <a:avLst/>
          </a:prstGeom>
          <a:noFill/>
          <a:ln/>
        </p:spPr>
        <p:txBody>
          <a:bodyPr wrap="square" lIns="0" tIns="0" rIns="0" bIns="0" rtlCol="0" anchor="ctr"/>
          <a:lstStyle/>
          <a:p>
            <a:pPr algn="ctr" indent="0" marL="0">
              <a:buNone/>
            </a:pPr>
            <a:r>
              <a:rPr lang="en-US" sz="1700" b="1" dirty="0">
                <a:solidFill>
                  <a:srgbClr val="FFFFFF"/>
                </a:solidFill>
                <a:latin typeface="Palatino Linotype" pitchFamily="34" charset="0"/>
                <a:ea typeface="Palatino Linotype" pitchFamily="34" charset="-122"/>
                <a:cs typeface="Palatino Linotype" pitchFamily="34" charset="-120"/>
              </a:rPr>
              <a:t>31,6</a:t>
            </a:r>
            <a:endParaRPr lang="en-US" sz="1700" dirty="0"/>
          </a:p>
        </p:txBody>
      </p:sp>
      <p:sp>
        <p:nvSpPr>
          <p:cNvPr id="26" name="Text 24"/>
          <p:cNvSpPr/>
          <p:nvPr/>
        </p:nvSpPr>
        <p:spPr>
          <a:xfrm>
            <a:off x="9601200" y="3822192"/>
            <a:ext cx="1737360" cy="365760"/>
          </a:xfrm>
          <a:prstGeom prst="rect">
            <a:avLst/>
          </a:prstGeom>
          <a:noFill/>
          <a:ln/>
        </p:spPr>
        <p:txBody>
          <a:bodyPr wrap="square" lIns="0" tIns="0" rIns="0" bIns="0" rtlCol="0" anchor="ctr"/>
          <a:lstStyle/>
          <a:p>
            <a:pPr algn="ctr" indent="0" marL="0">
              <a:buNone/>
            </a:pPr>
            <a:r>
              <a:rPr lang="en-US" sz="1700" b="1" dirty="0">
                <a:solidFill>
                  <a:srgbClr val="FFFFFF"/>
                </a:solidFill>
                <a:latin typeface="Palatino Linotype" pitchFamily="34" charset="0"/>
                <a:ea typeface="Palatino Linotype" pitchFamily="34" charset="-122"/>
                <a:cs typeface="Palatino Linotype" pitchFamily="34" charset="-120"/>
              </a:rPr>
              <a:t>34,5</a:t>
            </a:r>
            <a:endParaRPr lang="en-US" sz="1700" dirty="0"/>
          </a:p>
        </p:txBody>
      </p:sp>
      <p:sp>
        <p:nvSpPr>
          <p:cNvPr id="27" name="Shape 25"/>
          <p:cNvSpPr/>
          <p:nvPr/>
        </p:nvSpPr>
        <p:spPr>
          <a:xfrm>
            <a:off x="822960" y="4206240"/>
            <a:ext cx="10515600" cy="13716"/>
          </a:xfrm>
          <a:prstGeom prst="rect">
            <a:avLst/>
          </a:prstGeom>
          <a:solidFill>
            <a:srgbClr val="4B5068"/>
          </a:solidFill>
          <a:ln w="12700">
            <a:solidFill>
              <a:srgbClr val="4B5068"/>
            </a:solidFill>
            <a:prstDash val="solid"/>
          </a:ln>
        </p:spPr>
      </p:sp>
      <p:sp>
        <p:nvSpPr>
          <p:cNvPr id="28" name="Text 26"/>
          <p:cNvSpPr/>
          <p:nvPr/>
        </p:nvSpPr>
        <p:spPr>
          <a:xfrm>
            <a:off x="822960" y="4224528"/>
            <a:ext cx="6675120" cy="365760"/>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Speranța de viață (ani), 2024</a:t>
            </a:r>
            <a:endParaRPr lang="en-US" sz="1500" dirty="0"/>
          </a:p>
        </p:txBody>
      </p:sp>
      <p:sp>
        <p:nvSpPr>
          <p:cNvPr id="29" name="Text 27"/>
          <p:cNvSpPr/>
          <p:nvPr/>
        </p:nvSpPr>
        <p:spPr>
          <a:xfrm>
            <a:off x="7680960" y="4224528"/>
            <a:ext cx="1737360" cy="365760"/>
          </a:xfrm>
          <a:prstGeom prst="rect">
            <a:avLst/>
          </a:prstGeom>
          <a:noFill/>
          <a:ln/>
        </p:spPr>
        <p:txBody>
          <a:bodyPr wrap="square" lIns="0" tIns="0" rIns="0" bIns="0" rtlCol="0" anchor="ctr"/>
          <a:lstStyle/>
          <a:p>
            <a:pPr algn="ctr" indent="0" marL="0">
              <a:buNone/>
            </a:pPr>
            <a:r>
              <a:rPr lang="en-US" sz="1700" b="1" dirty="0">
                <a:solidFill>
                  <a:srgbClr val="FFFFFF"/>
                </a:solidFill>
                <a:latin typeface="Palatino Linotype" pitchFamily="34" charset="0"/>
                <a:ea typeface="Palatino Linotype" pitchFamily="34" charset="-122"/>
                <a:cs typeface="Palatino Linotype" pitchFamily="34" charset="-120"/>
              </a:rPr>
              <a:t>76,5</a:t>
            </a:r>
            <a:endParaRPr lang="en-US" sz="1700" dirty="0"/>
          </a:p>
        </p:txBody>
      </p:sp>
      <p:sp>
        <p:nvSpPr>
          <p:cNvPr id="30" name="Text 28"/>
          <p:cNvSpPr/>
          <p:nvPr/>
        </p:nvSpPr>
        <p:spPr>
          <a:xfrm>
            <a:off x="9601200" y="4224528"/>
            <a:ext cx="1737360" cy="365760"/>
          </a:xfrm>
          <a:prstGeom prst="rect">
            <a:avLst/>
          </a:prstGeom>
          <a:noFill/>
          <a:ln/>
        </p:spPr>
        <p:txBody>
          <a:bodyPr wrap="square" lIns="0" tIns="0" rIns="0" bIns="0" rtlCol="0" anchor="ctr"/>
          <a:lstStyle/>
          <a:p>
            <a:pPr algn="ctr" indent="0" marL="0">
              <a:buNone/>
            </a:pPr>
            <a:r>
              <a:rPr lang="en-US" sz="1700" b="1" dirty="0">
                <a:solidFill>
                  <a:srgbClr val="FFFFFF"/>
                </a:solidFill>
                <a:latin typeface="Palatino Linotype" pitchFamily="34" charset="0"/>
                <a:ea typeface="Palatino Linotype" pitchFamily="34" charset="-122"/>
                <a:cs typeface="Palatino Linotype" pitchFamily="34" charset="-120"/>
              </a:rPr>
              <a:t>81,5</a:t>
            </a:r>
            <a:endParaRPr lang="en-US" sz="1700" dirty="0"/>
          </a:p>
        </p:txBody>
      </p:sp>
      <p:sp>
        <p:nvSpPr>
          <p:cNvPr id="31" name="Shape 29"/>
          <p:cNvSpPr/>
          <p:nvPr/>
        </p:nvSpPr>
        <p:spPr>
          <a:xfrm>
            <a:off x="822960" y="4608576"/>
            <a:ext cx="10515600" cy="13716"/>
          </a:xfrm>
          <a:prstGeom prst="rect">
            <a:avLst/>
          </a:prstGeom>
          <a:solidFill>
            <a:srgbClr val="4B5068"/>
          </a:solidFill>
          <a:ln w="12700">
            <a:solidFill>
              <a:srgbClr val="4B5068"/>
            </a:solidFill>
            <a:prstDash val="solid"/>
          </a:ln>
        </p:spPr>
      </p:sp>
      <p:sp>
        <p:nvSpPr>
          <p:cNvPr id="32" name="Text 30"/>
          <p:cNvSpPr/>
          <p:nvPr/>
        </p:nvSpPr>
        <p:spPr>
          <a:xfrm>
            <a:off x="822960" y="4626864"/>
            <a:ext cx="6675120" cy="365760"/>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Mortalitatea infantilă, 2024</a:t>
            </a:r>
            <a:endParaRPr lang="en-US" sz="1500" dirty="0"/>
          </a:p>
        </p:txBody>
      </p:sp>
      <p:sp>
        <p:nvSpPr>
          <p:cNvPr id="33" name="Text 31"/>
          <p:cNvSpPr/>
          <p:nvPr/>
        </p:nvSpPr>
        <p:spPr>
          <a:xfrm>
            <a:off x="7680960" y="4626864"/>
            <a:ext cx="1737360" cy="365760"/>
          </a:xfrm>
          <a:prstGeom prst="rect">
            <a:avLst/>
          </a:prstGeom>
          <a:noFill/>
          <a:ln/>
        </p:spPr>
        <p:txBody>
          <a:bodyPr wrap="square" lIns="0" tIns="0" rIns="0" bIns="0" rtlCol="0" anchor="ctr"/>
          <a:lstStyle/>
          <a:p>
            <a:pPr algn="ctr" indent="0" marL="0">
              <a:buNone/>
            </a:pPr>
            <a:r>
              <a:rPr lang="en-US" sz="1700" b="1" dirty="0">
                <a:solidFill>
                  <a:srgbClr val="FFFFFF"/>
                </a:solidFill>
                <a:latin typeface="Palatino Linotype" pitchFamily="34" charset="0"/>
                <a:ea typeface="Palatino Linotype" pitchFamily="34" charset="-122"/>
                <a:cs typeface="Palatino Linotype" pitchFamily="34" charset="-120"/>
              </a:rPr>
              <a:t>6,6</a:t>
            </a:r>
            <a:endParaRPr lang="en-US" sz="1700" dirty="0"/>
          </a:p>
        </p:txBody>
      </p:sp>
      <p:sp>
        <p:nvSpPr>
          <p:cNvPr id="34" name="Text 32"/>
          <p:cNvSpPr/>
          <p:nvPr/>
        </p:nvSpPr>
        <p:spPr>
          <a:xfrm>
            <a:off x="9601200" y="4626864"/>
            <a:ext cx="1737360" cy="365760"/>
          </a:xfrm>
          <a:prstGeom prst="rect">
            <a:avLst/>
          </a:prstGeom>
          <a:noFill/>
          <a:ln/>
        </p:spPr>
        <p:txBody>
          <a:bodyPr wrap="square" lIns="0" tIns="0" rIns="0" bIns="0" rtlCol="0" anchor="ctr"/>
          <a:lstStyle/>
          <a:p>
            <a:pPr algn="ctr" indent="0" marL="0">
              <a:buNone/>
            </a:pPr>
            <a:r>
              <a:rPr lang="en-US" sz="1700" b="1" dirty="0">
                <a:solidFill>
                  <a:srgbClr val="FFFFFF"/>
                </a:solidFill>
                <a:latin typeface="Palatino Linotype" pitchFamily="34" charset="0"/>
                <a:ea typeface="Palatino Linotype" pitchFamily="34" charset="-122"/>
                <a:cs typeface="Palatino Linotype" pitchFamily="34" charset="-120"/>
              </a:rPr>
              <a:t>3,5</a:t>
            </a:r>
            <a:endParaRPr lang="en-US" sz="1700" dirty="0"/>
          </a:p>
        </p:txBody>
      </p:sp>
      <p:sp>
        <p:nvSpPr>
          <p:cNvPr id="35" name="Shape 33"/>
          <p:cNvSpPr/>
          <p:nvPr/>
        </p:nvSpPr>
        <p:spPr>
          <a:xfrm>
            <a:off x="822960" y="5010912"/>
            <a:ext cx="10515600" cy="13716"/>
          </a:xfrm>
          <a:prstGeom prst="rect">
            <a:avLst/>
          </a:prstGeom>
          <a:solidFill>
            <a:srgbClr val="4B5068"/>
          </a:solidFill>
          <a:ln w="12700">
            <a:solidFill>
              <a:srgbClr val="4B5068"/>
            </a:solidFill>
            <a:prstDash val="solid"/>
          </a:ln>
        </p:spPr>
      </p:sp>
      <p:sp>
        <p:nvSpPr>
          <p:cNvPr id="36" name="Text 34"/>
          <p:cNvSpPr/>
          <p:nvPr/>
        </p:nvSpPr>
        <p:spPr>
          <a:xfrm>
            <a:off x="822960" y="5029200"/>
            <a:ext cx="6675120" cy="365760"/>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Mame sub 20 de ani (%), 2024</a:t>
            </a:r>
            <a:endParaRPr lang="en-US" sz="1500" dirty="0"/>
          </a:p>
        </p:txBody>
      </p:sp>
      <p:sp>
        <p:nvSpPr>
          <p:cNvPr id="37" name="Text 35"/>
          <p:cNvSpPr/>
          <p:nvPr/>
        </p:nvSpPr>
        <p:spPr>
          <a:xfrm>
            <a:off x="7680960" y="5029200"/>
            <a:ext cx="1737360" cy="365760"/>
          </a:xfrm>
          <a:prstGeom prst="rect">
            <a:avLst/>
          </a:prstGeom>
          <a:noFill/>
          <a:ln/>
        </p:spPr>
        <p:txBody>
          <a:bodyPr wrap="square" lIns="0" tIns="0" rIns="0" bIns="0" rtlCol="0" anchor="ctr"/>
          <a:lstStyle/>
          <a:p>
            <a:pPr algn="ctr" indent="0" marL="0">
              <a:buNone/>
            </a:pPr>
            <a:r>
              <a:rPr lang="en-US" sz="1700" b="1" dirty="0">
                <a:solidFill>
                  <a:srgbClr val="FFFFFF"/>
                </a:solidFill>
                <a:latin typeface="Palatino Linotype" pitchFamily="34" charset="0"/>
                <a:ea typeface="Palatino Linotype" pitchFamily="34" charset="-122"/>
                <a:cs typeface="Palatino Linotype" pitchFamily="34" charset="-120"/>
              </a:rPr>
              <a:t>9,5</a:t>
            </a:r>
            <a:endParaRPr lang="en-US" sz="1700" dirty="0"/>
          </a:p>
        </p:txBody>
      </p:sp>
      <p:sp>
        <p:nvSpPr>
          <p:cNvPr id="38" name="Text 36"/>
          <p:cNvSpPr/>
          <p:nvPr/>
        </p:nvSpPr>
        <p:spPr>
          <a:xfrm>
            <a:off x="9601200" y="5029200"/>
            <a:ext cx="1737360" cy="365760"/>
          </a:xfrm>
          <a:prstGeom prst="rect">
            <a:avLst/>
          </a:prstGeom>
          <a:noFill/>
          <a:ln/>
        </p:spPr>
        <p:txBody>
          <a:bodyPr wrap="square" lIns="0" tIns="0" rIns="0" bIns="0" rtlCol="0" anchor="ctr"/>
          <a:lstStyle/>
          <a:p>
            <a:pPr algn="ctr" indent="0" marL="0">
              <a:buNone/>
            </a:pPr>
            <a:r>
              <a:rPr lang="en-US" sz="1700" b="1" dirty="0">
                <a:solidFill>
                  <a:srgbClr val="FFFFFF"/>
                </a:solidFill>
                <a:latin typeface="Palatino Linotype" pitchFamily="34" charset="0"/>
                <a:ea typeface="Palatino Linotype" pitchFamily="34" charset="-122"/>
                <a:cs typeface="Palatino Linotype" pitchFamily="34" charset="-120"/>
              </a:rPr>
              <a:t>2,1</a:t>
            </a:r>
            <a:endParaRPr lang="en-US" sz="1700" dirty="0"/>
          </a:p>
        </p:txBody>
      </p:sp>
      <p:sp>
        <p:nvSpPr>
          <p:cNvPr id="39" name="Text 37"/>
          <p:cNvSpPr/>
          <p:nvPr/>
        </p:nvSpPr>
        <p:spPr>
          <a:xfrm>
            <a:off x="594360" y="5669280"/>
            <a:ext cx="10972800" cy="457200"/>
          </a:xfrm>
          <a:prstGeom prst="rect">
            <a:avLst/>
          </a:prstGeom>
          <a:noFill/>
          <a:ln/>
        </p:spPr>
        <p:txBody>
          <a:bodyPr wrap="square" lIns="0" tIns="0" rIns="0" bIns="0" rtlCol="0" anchor="t"/>
          <a:lstStyle/>
          <a:p>
            <a:pPr indent="0" marL="0">
              <a:buNone/>
            </a:pPr>
            <a:r>
              <a:rPr lang="en-US" sz="1800" b="1" dirty="0">
                <a:solidFill>
                  <a:srgbClr val="FFC24B"/>
                </a:solidFill>
                <a:latin typeface="Palatino Linotype" pitchFamily="34" charset="0"/>
                <a:ea typeface="Palatino Linotype" pitchFamily="34" charset="-122"/>
                <a:cs typeface="Palatino Linotype" pitchFamily="34" charset="-120"/>
              </a:rPr>
              <a:t>Punte spre cursul 2: povara bolii (DALY) confirmă stadiul bolilor cronice.</a:t>
            </a:r>
            <a:endParaRPr lang="en-US" sz="1800" dirty="0"/>
          </a:p>
        </p:txBody>
      </p:sp>
      <p:sp>
        <p:nvSpPr>
          <p:cNvPr id="40" name="Text 38"/>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Sursa: Eurostat.</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DE MÂINE, CA MEDICI</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Ce faceți diferit, de mâine</a:t>
            </a:r>
            <a:endParaRPr lang="en-US" sz="3400" dirty="0"/>
          </a:p>
        </p:txBody>
      </p:sp>
      <p:sp>
        <p:nvSpPr>
          <p:cNvPr id="4" name="Shape 2"/>
          <p:cNvSpPr/>
          <p:nvPr/>
        </p:nvSpPr>
        <p:spPr>
          <a:xfrm>
            <a:off x="594360" y="1783080"/>
            <a:ext cx="5349240" cy="2011680"/>
          </a:xfrm>
          <a:prstGeom prst="roundRect">
            <a:avLst>
              <a:gd name="adj" fmla="val 4091"/>
            </a:avLst>
          </a:prstGeom>
          <a:solidFill>
            <a:srgbClr val="1D1F2B"/>
          </a:solidFill>
          <a:ln w="12700">
            <a:solidFill>
              <a:srgbClr val="1D1F2B"/>
            </a:solidFill>
            <a:prstDash val="solid"/>
          </a:ln>
        </p:spPr>
      </p:sp>
      <p:sp>
        <p:nvSpPr>
          <p:cNvPr id="5" name="Shape 3"/>
          <p:cNvSpPr/>
          <p:nvPr/>
        </p:nvSpPr>
        <p:spPr>
          <a:xfrm>
            <a:off x="822960" y="2011680"/>
            <a:ext cx="420624" cy="420624"/>
          </a:xfrm>
          <a:prstGeom prst="ellipse">
            <a:avLst/>
          </a:prstGeom>
          <a:solidFill>
            <a:srgbClr val="FFC24B"/>
          </a:solidFill>
          <a:ln/>
        </p:spPr>
      </p:sp>
      <p:sp>
        <p:nvSpPr>
          <p:cNvPr id="6" name="Text 4"/>
          <p:cNvSpPr/>
          <p:nvPr/>
        </p:nvSpPr>
        <p:spPr>
          <a:xfrm>
            <a:off x="822960" y="201168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508760" y="1783080"/>
            <a:ext cx="4297680" cy="201168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Citiți orice cifră demografică cu anul, sursa și, pentru proiecții, scenariul.</a:t>
            </a:r>
            <a:endParaRPr lang="en-US" sz="1700" dirty="0"/>
          </a:p>
        </p:txBody>
      </p:sp>
      <p:sp>
        <p:nvSpPr>
          <p:cNvPr id="8" name="Shape 6"/>
          <p:cNvSpPr/>
          <p:nvPr/>
        </p:nvSpPr>
        <p:spPr>
          <a:xfrm>
            <a:off x="6217920" y="1783080"/>
            <a:ext cx="5349240" cy="2011680"/>
          </a:xfrm>
          <a:prstGeom prst="roundRect">
            <a:avLst>
              <a:gd name="adj" fmla="val 4091"/>
            </a:avLst>
          </a:prstGeom>
          <a:solidFill>
            <a:srgbClr val="1D1F2B"/>
          </a:solidFill>
          <a:ln w="12700">
            <a:solidFill>
              <a:srgbClr val="1D1F2B"/>
            </a:solidFill>
            <a:prstDash val="solid"/>
          </a:ln>
        </p:spPr>
      </p:sp>
      <p:sp>
        <p:nvSpPr>
          <p:cNvPr id="9" name="Shape 7"/>
          <p:cNvSpPr/>
          <p:nvPr/>
        </p:nvSpPr>
        <p:spPr>
          <a:xfrm>
            <a:off x="6446520" y="2011680"/>
            <a:ext cx="420624" cy="420624"/>
          </a:xfrm>
          <a:prstGeom prst="ellipse">
            <a:avLst/>
          </a:prstGeom>
          <a:solidFill>
            <a:srgbClr val="FFC24B"/>
          </a:solidFill>
          <a:ln/>
        </p:spPr>
      </p:sp>
      <p:sp>
        <p:nvSpPr>
          <p:cNvPr id="10" name="Text 8"/>
          <p:cNvSpPr/>
          <p:nvPr/>
        </p:nvSpPr>
        <p:spPr>
          <a:xfrm>
            <a:off x="6446520" y="201168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7132320" y="1783080"/>
            <a:ext cx="4297680" cy="201168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La o mortalitate infantilă mare, întrebați care componentă este mare și ce date pe cauze există; abia apoi, unde trebuie îmbunătățită îngrijirea.</a:t>
            </a:r>
            <a:endParaRPr lang="en-US" sz="1700" dirty="0"/>
          </a:p>
        </p:txBody>
      </p:sp>
      <p:sp>
        <p:nvSpPr>
          <p:cNvPr id="12" name="Shape 10"/>
          <p:cNvSpPr/>
          <p:nvPr/>
        </p:nvSpPr>
        <p:spPr>
          <a:xfrm>
            <a:off x="594360" y="3977640"/>
            <a:ext cx="5349240" cy="2011680"/>
          </a:xfrm>
          <a:prstGeom prst="roundRect">
            <a:avLst>
              <a:gd name="adj" fmla="val 4091"/>
            </a:avLst>
          </a:prstGeom>
          <a:solidFill>
            <a:srgbClr val="1D1F2B"/>
          </a:solidFill>
          <a:ln w="12700">
            <a:solidFill>
              <a:srgbClr val="1D1F2B"/>
            </a:solidFill>
            <a:prstDash val="solid"/>
          </a:ln>
        </p:spPr>
      </p:sp>
      <p:sp>
        <p:nvSpPr>
          <p:cNvPr id="13" name="Shape 11"/>
          <p:cNvSpPr/>
          <p:nvPr/>
        </p:nvSpPr>
        <p:spPr>
          <a:xfrm>
            <a:off x="822960" y="4206240"/>
            <a:ext cx="420624" cy="420624"/>
          </a:xfrm>
          <a:prstGeom prst="ellipse">
            <a:avLst/>
          </a:prstGeom>
          <a:solidFill>
            <a:srgbClr val="FFC24B"/>
          </a:solidFill>
          <a:ln/>
        </p:spPr>
      </p:sp>
      <p:sp>
        <p:nvSpPr>
          <p:cNvPr id="14" name="Text 12"/>
          <p:cNvSpPr/>
          <p:nvPr/>
        </p:nvSpPr>
        <p:spPr>
          <a:xfrm>
            <a:off x="822960" y="420624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5" name="Text 13"/>
          <p:cNvSpPr/>
          <p:nvPr/>
        </p:nvSpPr>
        <p:spPr>
          <a:xfrm>
            <a:off x="1508760" y="3977640"/>
            <a:ext cx="4297680" cy="201168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La fiecare copil, verificați carnetul de vaccinări; la o adolescentă însărcinată, gândiți-vă la riscurile ei medicale, la contracepție, la școală și la siguranța ei.</a:t>
            </a:r>
            <a:endParaRPr lang="en-US" sz="1700" dirty="0"/>
          </a:p>
        </p:txBody>
      </p:sp>
      <p:sp>
        <p:nvSpPr>
          <p:cNvPr id="16" name="Shape 14"/>
          <p:cNvSpPr/>
          <p:nvPr/>
        </p:nvSpPr>
        <p:spPr>
          <a:xfrm>
            <a:off x="6217920" y="3977640"/>
            <a:ext cx="5349240" cy="2011680"/>
          </a:xfrm>
          <a:prstGeom prst="roundRect">
            <a:avLst>
              <a:gd name="adj" fmla="val 4091"/>
            </a:avLst>
          </a:prstGeom>
          <a:solidFill>
            <a:srgbClr val="1D1F2B"/>
          </a:solidFill>
          <a:ln w="12700">
            <a:solidFill>
              <a:srgbClr val="1D1F2B"/>
            </a:solidFill>
            <a:prstDash val="solid"/>
          </a:ln>
        </p:spPr>
      </p:sp>
      <p:sp>
        <p:nvSpPr>
          <p:cNvPr id="17" name="Shape 15"/>
          <p:cNvSpPr/>
          <p:nvPr/>
        </p:nvSpPr>
        <p:spPr>
          <a:xfrm>
            <a:off x="6446520" y="4206240"/>
            <a:ext cx="420624" cy="420624"/>
          </a:xfrm>
          <a:prstGeom prst="ellipse">
            <a:avLst/>
          </a:prstGeom>
          <a:solidFill>
            <a:srgbClr val="FFC24B"/>
          </a:solidFill>
          <a:ln/>
        </p:spPr>
      </p:sp>
      <p:sp>
        <p:nvSpPr>
          <p:cNvPr id="18" name="Text 16"/>
          <p:cNvSpPr/>
          <p:nvPr/>
        </p:nvSpPr>
        <p:spPr>
          <a:xfrm>
            <a:off x="6446520" y="420624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4</a:t>
            </a:r>
            <a:endParaRPr lang="en-US" sz="1400" dirty="0"/>
          </a:p>
        </p:txBody>
      </p:sp>
      <p:sp>
        <p:nvSpPr>
          <p:cNvPr id="19" name="Text 17"/>
          <p:cNvSpPr/>
          <p:nvPr/>
        </p:nvSpPr>
        <p:spPr>
          <a:xfrm>
            <a:off x="7132320" y="3977640"/>
            <a:ext cx="4297680" cy="201168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Pacienții dumneavoastră vor fi, peste douăzeci de ani, mai bătrâni, mai puțini și cu mai multe boli în același timp.</a:t>
            </a:r>
            <a:endParaRPr lang="en-US" sz="17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DE REȚINUT</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Cinci idei din cursul de azi</a:t>
            </a:r>
            <a:endParaRPr lang="en-US" sz="3200" dirty="0"/>
          </a:p>
        </p:txBody>
      </p:sp>
      <p:sp>
        <p:nvSpPr>
          <p:cNvPr id="4" name="Shape 2"/>
          <p:cNvSpPr/>
          <p:nvPr/>
        </p:nvSpPr>
        <p:spPr>
          <a:xfrm>
            <a:off x="594360" y="1554480"/>
            <a:ext cx="10972800" cy="658368"/>
          </a:xfrm>
          <a:prstGeom prst="roundRect">
            <a:avLst>
              <a:gd name="adj" fmla="val 12500"/>
            </a:avLst>
          </a:prstGeom>
          <a:solidFill>
            <a:srgbClr val="ECEAE4"/>
          </a:solidFill>
          <a:ln w="12700">
            <a:solidFill>
              <a:srgbClr val="ECEAE4"/>
            </a:solidFill>
            <a:prstDash val="solid"/>
          </a:ln>
        </p:spPr>
      </p:sp>
      <p:sp>
        <p:nvSpPr>
          <p:cNvPr id="5" name="Shape 3"/>
          <p:cNvSpPr/>
          <p:nvPr/>
        </p:nvSpPr>
        <p:spPr>
          <a:xfrm>
            <a:off x="868680" y="1673352"/>
            <a:ext cx="420624" cy="420624"/>
          </a:xfrm>
          <a:prstGeom prst="ellipse">
            <a:avLst/>
          </a:prstGeom>
          <a:solidFill>
            <a:srgbClr val="FF4757"/>
          </a:solidFill>
          <a:ln/>
        </p:spPr>
      </p:sp>
      <p:sp>
        <p:nvSpPr>
          <p:cNvPr id="6" name="Text 4"/>
          <p:cNvSpPr/>
          <p:nvPr/>
        </p:nvSpPr>
        <p:spPr>
          <a:xfrm>
            <a:off x="868680" y="1673352"/>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508760" y="1554480"/>
            <a:ext cx="9829800" cy="658368"/>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Tranziția demografică: de la natalitate și mortalitate ridicate la scăzute.</a:t>
            </a:r>
            <a:endParaRPr lang="en-US" sz="1500" dirty="0"/>
          </a:p>
        </p:txBody>
      </p:sp>
      <p:sp>
        <p:nvSpPr>
          <p:cNvPr id="8" name="Shape 6"/>
          <p:cNvSpPr/>
          <p:nvPr/>
        </p:nvSpPr>
        <p:spPr>
          <a:xfrm>
            <a:off x="594360" y="2304288"/>
            <a:ext cx="10972800" cy="658368"/>
          </a:xfrm>
          <a:prstGeom prst="roundRect">
            <a:avLst>
              <a:gd name="adj" fmla="val 12500"/>
            </a:avLst>
          </a:prstGeom>
          <a:solidFill>
            <a:srgbClr val="ECEAE4"/>
          </a:solidFill>
          <a:ln w="12700">
            <a:solidFill>
              <a:srgbClr val="ECEAE4"/>
            </a:solidFill>
            <a:prstDash val="solid"/>
          </a:ln>
        </p:spPr>
      </p:sp>
      <p:sp>
        <p:nvSpPr>
          <p:cNvPr id="9" name="Shape 7"/>
          <p:cNvSpPr/>
          <p:nvPr/>
        </p:nvSpPr>
        <p:spPr>
          <a:xfrm>
            <a:off x="868680" y="2423160"/>
            <a:ext cx="420624" cy="420624"/>
          </a:xfrm>
          <a:prstGeom prst="ellipse">
            <a:avLst/>
          </a:prstGeom>
          <a:solidFill>
            <a:srgbClr val="FF4757"/>
          </a:solidFill>
          <a:ln/>
        </p:spPr>
      </p:sp>
      <p:sp>
        <p:nvSpPr>
          <p:cNvPr id="10" name="Text 8"/>
          <p:cNvSpPr/>
          <p:nvPr/>
        </p:nvSpPr>
        <p:spPr>
          <a:xfrm>
            <a:off x="868680" y="2423160"/>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1508760" y="2304288"/>
            <a:ext cx="9829800" cy="658368"/>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Tranziția epidemiologică: de la infecții la boli cronice, la vârste înaintate.</a:t>
            </a:r>
            <a:endParaRPr lang="en-US" sz="1500" dirty="0"/>
          </a:p>
        </p:txBody>
      </p:sp>
      <p:sp>
        <p:nvSpPr>
          <p:cNvPr id="12" name="Shape 10"/>
          <p:cNvSpPr/>
          <p:nvPr/>
        </p:nvSpPr>
        <p:spPr>
          <a:xfrm>
            <a:off x="594360" y="3054096"/>
            <a:ext cx="10972800" cy="658368"/>
          </a:xfrm>
          <a:prstGeom prst="roundRect">
            <a:avLst>
              <a:gd name="adj" fmla="val 12500"/>
            </a:avLst>
          </a:prstGeom>
          <a:solidFill>
            <a:srgbClr val="ECEAE4"/>
          </a:solidFill>
          <a:ln w="12700">
            <a:solidFill>
              <a:srgbClr val="ECEAE4"/>
            </a:solidFill>
            <a:prstDash val="solid"/>
          </a:ln>
        </p:spPr>
      </p:sp>
      <p:sp>
        <p:nvSpPr>
          <p:cNvPr id="13" name="Shape 11"/>
          <p:cNvSpPr/>
          <p:nvPr/>
        </p:nvSpPr>
        <p:spPr>
          <a:xfrm>
            <a:off x="868680" y="3172968"/>
            <a:ext cx="420624" cy="420624"/>
          </a:xfrm>
          <a:prstGeom prst="ellipse">
            <a:avLst/>
          </a:prstGeom>
          <a:solidFill>
            <a:srgbClr val="FF4757"/>
          </a:solidFill>
          <a:ln/>
        </p:spPr>
      </p:sp>
      <p:sp>
        <p:nvSpPr>
          <p:cNvPr id="14" name="Text 12"/>
          <p:cNvSpPr/>
          <p:nvPr/>
        </p:nvSpPr>
        <p:spPr>
          <a:xfrm>
            <a:off x="868680" y="3172968"/>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3</a:t>
            </a:r>
            <a:endParaRPr lang="en-US" sz="1400" dirty="0"/>
          </a:p>
        </p:txBody>
      </p:sp>
      <p:sp>
        <p:nvSpPr>
          <p:cNvPr id="15" name="Text 13"/>
          <p:cNvSpPr/>
          <p:nvPr/>
        </p:nvSpPr>
        <p:spPr>
          <a:xfrm>
            <a:off x="1508760" y="3054096"/>
            <a:ext cx="9829800" cy="658368"/>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România pierde populație: mai multe decese decât nașteri, plus emigrarea.</a:t>
            </a:r>
            <a:endParaRPr lang="en-US" sz="1500" dirty="0"/>
          </a:p>
        </p:txBody>
      </p:sp>
      <p:sp>
        <p:nvSpPr>
          <p:cNvPr id="16" name="Shape 14"/>
          <p:cNvSpPr/>
          <p:nvPr/>
        </p:nvSpPr>
        <p:spPr>
          <a:xfrm>
            <a:off x="594360" y="3803904"/>
            <a:ext cx="10972800" cy="658368"/>
          </a:xfrm>
          <a:prstGeom prst="roundRect">
            <a:avLst>
              <a:gd name="adj" fmla="val 12500"/>
            </a:avLst>
          </a:prstGeom>
          <a:solidFill>
            <a:srgbClr val="ECEAE4"/>
          </a:solidFill>
          <a:ln w="12700">
            <a:solidFill>
              <a:srgbClr val="ECEAE4"/>
            </a:solidFill>
            <a:prstDash val="solid"/>
          </a:ln>
        </p:spPr>
      </p:sp>
      <p:sp>
        <p:nvSpPr>
          <p:cNvPr id="17" name="Shape 15"/>
          <p:cNvSpPr/>
          <p:nvPr/>
        </p:nvSpPr>
        <p:spPr>
          <a:xfrm>
            <a:off x="868680" y="3922776"/>
            <a:ext cx="420624" cy="420624"/>
          </a:xfrm>
          <a:prstGeom prst="ellipse">
            <a:avLst/>
          </a:prstGeom>
          <a:solidFill>
            <a:srgbClr val="FF4757"/>
          </a:solidFill>
          <a:ln/>
        </p:spPr>
      </p:sp>
      <p:sp>
        <p:nvSpPr>
          <p:cNvPr id="18" name="Text 16"/>
          <p:cNvSpPr/>
          <p:nvPr/>
        </p:nvSpPr>
        <p:spPr>
          <a:xfrm>
            <a:off x="868680" y="3922776"/>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4</a:t>
            </a:r>
            <a:endParaRPr lang="en-US" sz="1400" dirty="0"/>
          </a:p>
        </p:txBody>
      </p:sp>
      <p:sp>
        <p:nvSpPr>
          <p:cNvPr id="19" name="Text 17"/>
          <p:cNvSpPr/>
          <p:nvPr/>
        </p:nvSpPr>
        <p:spPr>
          <a:xfrm>
            <a:off x="1508760" y="3803904"/>
            <a:ext cx="9829800" cy="658368"/>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Îmbătrânirea: mai multe boli cronice, mai puține persoane de vârstă activă.</a:t>
            </a:r>
            <a:endParaRPr lang="en-US" sz="1500" dirty="0"/>
          </a:p>
        </p:txBody>
      </p:sp>
      <p:sp>
        <p:nvSpPr>
          <p:cNvPr id="20" name="Shape 18"/>
          <p:cNvSpPr/>
          <p:nvPr/>
        </p:nvSpPr>
        <p:spPr>
          <a:xfrm>
            <a:off x="594360" y="4553712"/>
            <a:ext cx="10972800" cy="658368"/>
          </a:xfrm>
          <a:prstGeom prst="roundRect">
            <a:avLst>
              <a:gd name="adj" fmla="val 12500"/>
            </a:avLst>
          </a:prstGeom>
          <a:solidFill>
            <a:srgbClr val="ECEAE4"/>
          </a:solidFill>
          <a:ln w="12700">
            <a:solidFill>
              <a:srgbClr val="ECEAE4"/>
            </a:solidFill>
            <a:prstDash val="solid"/>
          </a:ln>
        </p:spPr>
      </p:sp>
      <p:sp>
        <p:nvSpPr>
          <p:cNvPr id="21" name="Shape 19"/>
          <p:cNvSpPr/>
          <p:nvPr/>
        </p:nvSpPr>
        <p:spPr>
          <a:xfrm>
            <a:off x="868680" y="4672584"/>
            <a:ext cx="420624" cy="420624"/>
          </a:xfrm>
          <a:prstGeom prst="ellipse">
            <a:avLst/>
          </a:prstGeom>
          <a:solidFill>
            <a:srgbClr val="FF4757"/>
          </a:solidFill>
          <a:ln/>
        </p:spPr>
      </p:sp>
      <p:sp>
        <p:nvSpPr>
          <p:cNvPr id="22" name="Text 20"/>
          <p:cNvSpPr/>
          <p:nvPr/>
        </p:nvSpPr>
        <p:spPr>
          <a:xfrm>
            <a:off x="868680" y="4672584"/>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5</a:t>
            </a:r>
            <a:endParaRPr lang="en-US" sz="1400" dirty="0"/>
          </a:p>
        </p:txBody>
      </p:sp>
      <p:sp>
        <p:nvSpPr>
          <p:cNvPr id="23" name="Text 21"/>
          <p:cNvSpPr/>
          <p:nvPr/>
        </p:nvSpPr>
        <p:spPr>
          <a:xfrm>
            <a:off x="1508760" y="4553712"/>
            <a:ext cx="9829800" cy="658368"/>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Mortalitatea infantilă și cea maternă au scăzut mult; cea infantilă rămâne de aproape două ori peste media UE.</a:t>
            </a:r>
            <a:endParaRPr lang="en-US" sz="1500" dirty="0"/>
          </a:p>
        </p:txBody>
      </p:sp>
      <p:sp>
        <p:nvSpPr>
          <p:cNvPr id="24" name="Shape 22"/>
          <p:cNvSpPr/>
          <p:nvPr/>
        </p:nvSpPr>
        <p:spPr>
          <a:xfrm>
            <a:off x="594360" y="5440680"/>
            <a:ext cx="10972800" cy="868680"/>
          </a:xfrm>
          <a:prstGeom prst="roundRect">
            <a:avLst>
              <a:gd name="adj" fmla="val 9474"/>
            </a:avLst>
          </a:prstGeom>
          <a:solidFill>
            <a:srgbClr val="11121A"/>
          </a:solidFill>
          <a:ln w="12700">
            <a:solidFill>
              <a:srgbClr val="11121A"/>
            </a:solidFill>
            <a:prstDash val="solid"/>
          </a:ln>
        </p:spPr>
      </p:sp>
      <p:sp>
        <p:nvSpPr>
          <p:cNvPr id="25" name="Text 23"/>
          <p:cNvSpPr/>
          <p:nvPr/>
        </p:nvSpPr>
        <p:spPr>
          <a:xfrm>
            <a:off x="868680" y="5440680"/>
            <a:ext cx="10424160" cy="868680"/>
          </a:xfrm>
          <a:prstGeom prst="rect">
            <a:avLst/>
          </a:prstGeom>
          <a:noFill/>
          <a:ln/>
        </p:spPr>
        <p:txBody>
          <a:bodyPr wrap="square" lIns="0" tIns="0" rIns="0" bIns="0" rtlCol="0" anchor="ctr"/>
          <a:lstStyle/>
          <a:p>
            <a:pPr indent="0" marL="0">
              <a:buNone/>
            </a:pPr>
            <a:r>
              <a:rPr lang="en-US" sz="1700" b="1" dirty="0">
                <a:solidFill>
                  <a:srgbClr val="FFFFFF"/>
                </a:solidFill>
                <a:latin typeface="Palatino Linotype" pitchFamily="34" charset="0"/>
                <a:ea typeface="Palatino Linotype" pitchFamily="34" charset="-122"/>
                <a:cs typeface="Palatino Linotype" pitchFamily="34" charset="-120"/>
              </a:rPr>
              <a:t>Răspunsul la titlu: o populație mai mică și mai bătrână are nevoie de alt sistem de sănătate.</a:t>
            </a:r>
            <a:endParaRPr lang="en-US" sz="17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685800" y="822960"/>
            <a:ext cx="3840480" cy="329184"/>
          </a:xfrm>
          <a:prstGeom prst="roundRect">
            <a:avLst>
              <a:gd name="adj" fmla="val 50000"/>
            </a:avLst>
          </a:prstGeom>
          <a:solidFill>
            <a:srgbClr val="FF4757"/>
          </a:solidFill>
          <a:ln w="12700">
            <a:solidFill>
              <a:srgbClr val="FF4757"/>
            </a:solidFill>
            <a:prstDash val="solid"/>
          </a:ln>
        </p:spPr>
      </p:sp>
      <p:sp>
        <p:nvSpPr>
          <p:cNvPr id="3" name="Text 1"/>
          <p:cNvSpPr/>
          <p:nvPr/>
        </p:nvSpPr>
        <p:spPr>
          <a:xfrm>
            <a:off x="685800" y="822960"/>
            <a:ext cx="3840480" cy="329184"/>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ULTIMELE CINCI MINUTE · ANONIM</a:t>
            </a:r>
            <a:endParaRPr lang="en-US" sz="1300" dirty="0"/>
          </a:p>
        </p:txBody>
      </p:sp>
      <p:sp>
        <p:nvSpPr>
          <p:cNvPr id="4" name="Text 2"/>
          <p:cNvSpPr/>
          <p:nvPr/>
        </p:nvSpPr>
        <p:spPr>
          <a:xfrm>
            <a:off x="685800" y="1371600"/>
            <a:ext cx="10058400" cy="822960"/>
          </a:xfrm>
          <a:prstGeom prst="rect">
            <a:avLst/>
          </a:prstGeom>
          <a:noFill/>
          <a:ln/>
        </p:spPr>
        <p:txBody>
          <a:bodyPr wrap="square" lIns="0" tIns="0" rIns="0" bIns="0" rtlCol="0" anchor="t"/>
          <a:lstStyle/>
          <a:p>
            <a:pPr indent="0" marL="0">
              <a:buNone/>
            </a:pPr>
            <a:r>
              <a:rPr lang="en-US" sz="4000" b="1" dirty="0">
                <a:solidFill>
                  <a:srgbClr val="FFFFFF"/>
                </a:solidFill>
                <a:latin typeface="Palatino Linotype" pitchFamily="34" charset="0"/>
                <a:ea typeface="Palatino Linotype" pitchFamily="34" charset="-122"/>
                <a:cs typeface="Palatino Linotype" pitchFamily="34" charset="-120"/>
              </a:rPr>
              <a:t>Trei întrebări pentru final</a:t>
            </a:r>
            <a:endParaRPr lang="en-US" sz="4000" dirty="0"/>
          </a:p>
        </p:txBody>
      </p:sp>
      <p:sp>
        <p:nvSpPr>
          <p:cNvPr id="5" name="Shape 3"/>
          <p:cNvSpPr/>
          <p:nvPr/>
        </p:nvSpPr>
        <p:spPr>
          <a:xfrm>
            <a:off x="914400" y="2670048"/>
            <a:ext cx="420624" cy="420624"/>
          </a:xfrm>
          <a:prstGeom prst="ellipse">
            <a:avLst/>
          </a:prstGeom>
          <a:solidFill>
            <a:srgbClr val="FFC24B"/>
          </a:solidFill>
          <a:ln/>
        </p:spPr>
      </p:sp>
      <p:sp>
        <p:nvSpPr>
          <p:cNvPr id="6" name="Text 4"/>
          <p:cNvSpPr/>
          <p:nvPr/>
        </p:nvSpPr>
        <p:spPr>
          <a:xfrm>
            <a:off x="914400" y="26700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600200" y="2514600"/>
            <a:ext cx="6309360" cy="73152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Ce a fost util azi?</a:t>
            </a:r>
            <a:endParaRPr lang="en-US" sz="2000" dirty="0"/>
          </a:p>
        </p:txBody>
      </p:sp>
      <p:sp>
        <p:nvSpPr>
          <p:cNvPr id="8" name="Shape 6"/>
          <p:cNvSpPr/>
          <p:nvPr/>
        </p:nvSpPr>
        <p:spPr>
          <a:xfrm>
            <a:off x="914400" y="3538728"/>
            <a:ext cx="420624" cy="420624"/>
          </a:xfrm>
          <a:prstGeom prst="ellipse">
            <a:avLst/>
          </a:prstGeom>
          <a:solidFill>
            <a:srgbClr val="FFC24B"/>
          </a:solidFill>
          <a:ln/>
        </p:spPr>
      </p:sp>
      <p:sp>
        <p:nvSpPr>
          <p:cNvPr id="9" name="Text 7"/>
          <p:cNvSpPr/>
          <p:nvPr/>
        </p:nvSpPr>
        <p:spPr>
          <a:xfrm>
            <a:off x="914400" y="35387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0" name="Text 8"/>
          <p:cNvSpPr/>
          <p:nvPr/>
        </p:nvSpPr>
        <p:spPr>
          <a:xfrm>
            <a:off x="1600200" y="3383280"/>
            <a:ext cx="6309360" cy="73152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Unde v-am pierdut?</a:t>
            </a:r>
            <a:endParaRPr lang="en-US" sz="2000" dirty="0"/>
          </a:p>
        </p:txBody>
      </p:sp>
      <p:sp>
        <p:nvSpPr>
          <p:cNvPr id="11" name="Shape 9"/>
          <p:cNvSpPr/>
          <p:nvPr/>
        </p:nvSpPr>
        <p:spPr>
          <a:xfrm>
            <a:off x="914400" y="4407408"/>
            <a:ext cx="420624" cy="420624"/>
          </a:xfrm>
          <a:prstGeom prst="ellipse">
            <a:avLst/>
          </a:prstGeom>
          <a:solidFill>
            <a:srgbClr val="FFC24B"/>
          </a:solidFill>
          <a:ln/>
        </p:spPr>
      </p:sp>
      <p:sp>
        <p:nvSpPr>
          <p:cNvPr id="12" name="Text 10"/>
          <p:cNvSpPr/>
          <p:nvPr/>
        </p:nvSpPr>
        <p:spPr>
          <a:xfrm>
            <a:off x="914400" y="440740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3" name="Text 11"/>
          <p:cNvSpPr/>
          <p:nvPr/>
        </p:nvSpPr>
        <p:spPr>
          <a:xfrm>
            <a:off x="1600200" y="4251960"/>
            <a:ext cx="6309360" cy="73152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Ce ați putea folosi mâine?</a:t>
            </a:r>
            <a:endParaRPr lang="en-US" sz="2000" dirty="0"/>
          </a:p>
        </p:txBody>
      </p:sp>
      <p:sp>
        <p:nvSpPr>
          <p:cNvPr id="14" name="Shape 12"/>
          <p:cNvSpPr/>
          <p:nvPr/>
        </p:nvSpPr>
        <p:spPr>
          <a:xfrm>
            <a:off x="8321040" y="2514600"/>
            <a:ext cx="3246120" cy="2468880"/>
          </a:xfrm>
          <a:prstGeom prst="roundRect">
            <a:avLst>
              <a:gd name="adj" fmla="val 3333"/>
            </a:avLst>
          </a:prstGeom>
          <a:solidFill>
            <a:srgbClr val="1D1F2B"/>
          </a:solidFill>
          <a:ln w="12700">
            <a:solidFill>
              <a:srgbClr val="1D1F2B"/>
            </a:solidFill>
            <a:prstDash val="solid"/>
          </a:ln>
        </p:spPr>
      </p:sp>
      <p:sp>
        <p:nvSpPr>
          <p:cNvPr id="15" name="Text 13"/>
          <p:cNvSpPr/>
          <p:nvPr/>
        </p:nvSpPr>
        <p:spPr>
          <a:xfrm>
            <a:off x="8549640" y="2514600"/>
            <a:ext cx="2788920" cy="2468880"/>
          </a:xfrm>
          <a:prstGeom prst="rect">
            <a:avLst/>
          </a:prstGeom>
          <a:noFill/>
          <a:ln/>
        </p:spPr>
        <p:txBody>
          <a:bodyPr wrap="square" lIns="0" tIns="0" rIns="0" bIns="0" rtlCol="0" anchor="ctr"/>
          <a:lstStyle/>
          <a:p>
            <a:pPr algn="ctr" indent="0" marL="0">
              <a:buNone/>
            </a:pPr>
            <a:r>
              <a:rPr lang="en-US" sz="1900" b="1" dirty="0">
                <a:solidFill>
                  <a:srgbClr val="FFC24B"/>
                </a:solidFill>
                <a:latin typeface="Palatino Linotype" pitchFamily="34" charset="0"/>
                <a:ea typeface="Palatino Linotype" pitchFamily="34" charset="-122"/>
                <a:cs typeface="Palatino Linotype" pitchFamily="34" charset="-120"/>
              </a:rPr>
              <a:t>Răspundeți pe telefon, la codul afișat.</a:t>
            </a:r>
            <a:endParaRPr lang="en-US" sz="1900" dirty="0"/>
          </a:p>
        </p:txBody>
      </p:sp>
      <p:sp>
        <p:nvSpPr>
          <p:cNvPr id="16" name="Text 14"/>
          <p:cNvSpPr/>
          <p:nvPr/>
        </p:nvSpPr>
        <p:spPr>
          <a:xfrm>
            <a:off x="594360" y="5349240"/>
            <a:ext cx="10972800" cy="548640"/>
          </a:xfrm>
          <a:prstGeom prst="rect">
            <a:avLst/>
          </a:prstGeom>
          <a:noFill/>
          <a:ln/>
        </p:spPr>
        <p:txBody>
          <a:bodyPr wrap="square" lIns="0" tIns="0" rIns="0" bIns="0" rtlCol="0" anchor="t"/>
          <a:lstStyle/>
          <a:p>
            <a:pPr indent="0" marL="0">
              <a:buNone/>
            </a:pPr>
            <a:r>
              <a:rPr lang="en-US" sz="1700" b="1" dirty="0">
                <a:solidFill>
                  <a:srgbClr val="27D3BE"/>
                </a:solidFill>
                <a:latin typeface="Palatino Linotype" pitchFamily="34" charset="0"/>
                <a:ea typeface="Palatino Linotype" pitchFamily="34" charset="-122"/>
                <a:cs typeface="Palatino Linotype" pitchFamily="34" charset="-120"/>
              </a:rPr>
              <a:t>Începutul cursului următor: două modificări, făcute pe baza răspunsurilor dumneavoastră.</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Cursul 3 - Unde au dispărut patru milioane de oameni?</dc:title>
  <dc:subject>PptxGenJS Presentation</dc:subject>
  <dc:creator>Conf. Univ. Dr. Adrian Pana</dc:creator>
  <cp:lastModifiedBy>Conf. Univ. Dr. Adrian Pana</cp:lastModifiedBy>
  <cp:revision>1</cp:revision>
  <dcterms:created xsi:type="dcterms:W3CDTF">2026-10-11T09:22:57Z</dcterms:created>
  <dcterms:modified xsi:type="dcterms:W3CDTF">2026-10-11T09:22:57Z</dcterms:modified>
  <cp:keywords>sursa_amprenta=3b4e3b73f5a54346; proiectie</cp:keywords>
</cp:coreProperties>
</file>